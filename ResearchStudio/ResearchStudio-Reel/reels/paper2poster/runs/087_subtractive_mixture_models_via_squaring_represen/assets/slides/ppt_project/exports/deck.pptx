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571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697706"/>
            <a:ext cx="10118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ICLR 2024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3336" y="901065"/>
            <a:ext cx="635178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Subtractive Mixture 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8670" y="1452562"/>
            <a:ext cx="624056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via Squaring: Representation &amp;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004" y="1870710"/>
            <a:ext cx="42764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Loconte, Sladek, Mengel, Trapp, Solin, Gillis, Vergari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4766" y="2096452"/>
            <a:ext cx="37785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D99"/>
                </a:solidFill>
                <a:latin typeface="+mn-lt"/>
                <a:ea typeface="+mn-ea"/>
                <a:cs typeface="+mn-cs"/>
              </a:rPr>
              <a:t>Univ. of Edinburgh · Aalto · CNRS-CRIL · Univ. de Mons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2457450"/>
            <a:ext cx="5391150" cy="2133600"/>
            <a:chOff x="571500" y="2457450"/>
            <a:chExt cx="5391150" cy="2133600"/>
          </a:xfrm>
        </p:grpSpPr>
        <p:sp>
          <p:nvSpPr>
            <p:cNvPr id="9" name="Rectangle 9"/>
            <p:cNvSpPr/>
            <p:nvPr/>
          </p:nvSpPr>
          <p:spPr>
            <a:xfrm>
              <a:off x="571500" y="2457450"/>
              <a:ext cx="5391150" cy="21336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457450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580" y="2676525"/>
              <a:ext cx="17178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Additive mixture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2945606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blend simple parts by adding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2500" y="424815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952500" y="3609975"/>
              <a:ext cx="4629150" cy="638175"/>
            </a:xfrm>
            <a:custGeom>
              <a:avLst/>
              <a:gdLst/>
              <a:ahLst/>
              <a:cxnLst/>
              <a:rect l="l" t="t" r="r" b="b"/>
              <a:pathLst>
                <a:path w="4629150" h="638175">
                  <a:moveTo>
                    <a:pt x="0" y="638175"/>
                  </a:moveTo>
                  <a:lnTo>
                    <a:pt x="0" y="613410"/>
                  </a:lnTo>
                  <a:lnTo>
                    <a:pt x="77152" y="599122"/>
                  </a:lnTo>
                  <a:lnTo>
                    <a:pt x="154305" y="580072"/>
                  </a:lnTo>
                  <a:lnTo>
                    <a:pt x="231457" y="554355"/>
                  </a:lnTo>
                  <a:lnTo>
                    <a:pt x="308610" y="521970"/>
                  </a:lnTo>
                  <a:lnTo>
                    <a:pt x="385762" y="481012"/>
                  </a:lnTo>
                  <a:lnTo>
                    <a:pt x="462915" y="433388"/>
                  </a:lnTo>
                  <a:lnTo>
                    <a:pt x="540067" y="380047"/>
                  </a:lnTo>
                  <a:lnTo>
                    <a:pt x="617220" y="324803"/>
                  </a:lnTo>
                  <a:lnTo>
                    <a:pt x="694372" y="268605"/>
                  </a:lnTo>
                  <a:lnTo>
                    <a:pt x="771525" y="218122"/>
                  </a:lnTo>
                  <a:lnTo>
                    <a:pt x="848678" y="176212"/>
                  </a:lnTo>
                  <a:lnTo>
                    <a:pt x="925830" y="145733"/>
                  </a:lnTo>
                  <a:lnTo>
                    <a:pt x="1002983" y="129540"/>
                  </a:lnTo>
                  <a:lnTo>
                    <a:pt x="1080135" y="127635"/>
                  </a:lnTo>
                  <a:lnTo>
                    <a:pt x="1157288" y="140017"/>
                  </a:lnTo>
                  <a:lnTo>
                    <a:pt x="1234440" y="161925"/>
                  </a:lnTo>
                  <a:lnTo>
                    <a:pt x="1311592" y="189547"/>
                  </a:lnTo>
                  <a:lnTo>
                    <a:pt x="1388745" y="217170"/>
                  </a:lnTo>
                  <a:lnTo>
                    <a:pt x="1465898" y="240983"/>
                  </a:lnTo>
                  <a:lnTo>
                    <a:pt x="1543050" y="255270"/>
                  </a:lnTo>
                  <a:lnTo>
                    <a:pt x="1620203" y="257175"/>
                  </a:lnTo>
                  <a:lnTo>
                    <a:pt x="1697355" y="245745"/>
                  </a:lnTo>
                  <a:lnTo>
                    <a:pt x="1774508" y="221933"/>
                  </a:lnTo>
                  <a:lnTo>
                    <a:pt x="1851660" y="186690"/>
                  </a:lnTo>
                  <a:lnTo>
                    <a:pt x="1928812" y="144780"/>
                  </a:lnTo>
                  <a:lnTo>
                    <a:pt x="2005965" y="100965"/>
                  </a:lnTo>
                  <a:lnTo>
                    <a:pt x="2083118" y="60008"/>
                  </a:lnTo>
                  <a:lnTo>
                    <a:pt x="2160270" y="26670"/>
                  </a:lnTo>
                  <a:lnTo>
                    <a:pt x="2237422" y="5715"/>
                  </a:lnTo>
                  <a:lnTo>
                    <a:pt x="2314575" y="0"/>
                  </a:lnTo>
                  <a:lnTo>
                    <a:pt x="2391728" y="9525"/>
                  </a:lnTo>
                  <a:lnTo>
                    <a:pt x="2468880" y="34290"/>
                  </a:lnTo>
                  <a:lnTo>
                    <a:pt x="2546032" y="71438"/>
                  </a:lnTo>
                  <a:lnTo>
                    <a:pt x="2623185" y="118110"/>
                  </a:lnTo>
                  <a:lnTo>
                    <a:pt x="2700338" y="168592"/>
                  </a:lnTo>
                  <a:lnTo>
                    <a:pt x="2777490" y="218122"/>
                  </a:lnTo>
                  <a:lnTo>
                    <a:pt x="2854642" y="260985"/>
                  </a:lnTo>
                  <a:lnTo>
                    <a:pt x="2931795" y="293370"/>
                  </a:lnTo>
                  <a:lnTo>
                    <a:pt x="3008948" y="311467"/>
                  </a:lnTo>
                  <a:lnTo>
                    <a:pt x="3086100" y="314325"/>
                  </a:lnTo>
                  <a:lnTo>
                    <a:pt x="3163252" y="301942"/>
                  </a:lnTo>
                  <a:lnTo>
                    <a:pt x="3240405" y="278130"/>
                  </a:lnTo>
                  <a:lnTo>
                    <a:pt x="3317558" y="246697"/>
                  </a:lnTo>
                  <a:lnTo>
                    <a:pt x="3394710" y="215265"/>
                  </a:lnTo>
                  <a:lnTo>
                    <a:pt x="3471862" y="188595"/>
                  </a:lnTo>
                  <a:lnTo>
                    <a:pt x="3549015" y="174308"/>
                  </a:lnTo>
                  <a:lnTo>
                    <a:pt x="3626168" y="174308"/>
                  </a:lnTo>
                  <a:lnTo>
                    <a:pt x="3703320" y="192405"/>
                  </a:lnTo>
                  <a:lnTo>
                    <a:pt x="3780472" y="226695"/>
                  </a:lnTo>
                  <a:lnTo>
                    <a:pt x="3857625" y="273367"/>
                  </a:lnTo>
                  <a:lnTo>
                    <a:pt x="3934778" y="328612"/>
                  </a:lnTo>
                  <a:lnTo>
                    <a:pt x="4011930" y="385762"/>
                  </a:lnTo>
                  <a:lnTo>
                    <a:pt x="4089082" y="441008"/>
                  </a:lnTo>
                  <a:lnTo>
                    <a:pt x="4166235" y="491490"/>
                  </a:lnTo>
                  <a:lnTo>
                    <a:pt x="4243388" y="532447"/>
                  </a:lnTo>
                  <a:lnTo>
                    <a:pt x="4320540" y="565785"/>
                  </a:lnTo>
                  <a:lnTo>
                    <a:pt x="4397692" y="590550"/>
                  </a:lnTo>
                  <a:lnTo>
                    <a:pt x="4474845" y="608647"/>
                  </a:lnTo>
                  <a:lnTo>
                    <a:pt x="4551998" y="620078"/>
                  </a:lnTo>
                  <a:lnTo>
                    <a:pt x="4629150" y="627697"/>
                  </a:lnTo>
                  <a:lnTo>
                    <a:pt x="4629150" y="638175"/>
                  </a:lnTo>
                  <a:close/>
                </a:path>
              </a:pathLst>
            </a:cu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952500" y="3609975"/>
              <a:ext cx="4629150" cy="627697"/>
            </a:xfrm>
            <a:custGeom>
              <a:avLst/>
              <a:gdLst/>
              <a:ahLst/>
              <a:cxnLst/>
              <a:rect l="l" t="t" r="r" b="b"/>
              <a:pathLst>
                <a:path w="4629150" h="627697">
                  <a:moveTo>
                    <a:pt x="0" y="613410"/>
                  </a:moveTo>
                  <a:lnTo>
                    <a:pt x="77152" y="599122"/>
                  </a:lnTo>
                  <a:lnTo>
                    <a:pt x="154305" y="580072"/>
                  </a:lnTo>
                  <a:lnTo>
                    <a:pt x="231457" y="554355"/>
                  </a:lnTo>
                  <a:lnTo>
                    <a:pt x="308610" y="521970"/>
                  </a:lnTo>
                  <a:lnTo>
                    <a:pt x="385762" y="481012"/>
                  </a:lnTo>
                  <a:lnTo>
                    <a:pt x="462915" y="433388"/>
                  </a:lnTo>
                  <a:lnTo>
                    <a:pt x="540067" y="380047"/>
                  </a:lnTo>
                  <a:lnTo>
                    <a:pt x="617220" y="324803"/>
                  </a:lnTo>
                  <a:lnTo>
                    <a:pt x="694372" y="268605"/>
                  </a:lnTo>
                  <a:lnTo>
                    <a:pt x="771525" y="218122"/>
                  </a:lnTo>
                  <a:lnTo>
                    <a:pt x="848678" y="176212"/>
                  </a:lnTo>
                  <a:lnTo>
                    <a:pt x="925830" y="145733"/>
                  </a:lnTo>
                  <a:lnTo>
                    <a:pt x="1002983" y="129540"/>
                  </a:lnTo>
                  <a:lnTo>
                    <a:pt x="1080135" y="127635"/>
                  </a:lnTo>
                  <a:lnTo>
                    <a:pt x="1157288" y="140017"/>
                  </a:lnTo>
                  <a:lnTo>
                    <a:pt x="1234440" y="161925"/>
                  </a:lnTo>
                  <a:lnTo>
                    <a:pt x="1311592" y="189547"/>
                  </a:lnTo>
                  <a:lnTo>
                    <a:pt x="1388745" y="217170"/>
                  </a:lnTo>
                  <a:lnTo>
                    <a:pt x="1465898" y="240983"/>
                  </a:lnTo>
                  <a:lnTo>
                    <a:pt x="1543050" y="255270"/>
                  </a:lnTo>
                  <a:lnTo>
                    <a:pt x="1620203" y="257175"/>
                  </a:lnTo>
                  <a:lnTo>
                    <a:pt x="1697355" y="245745"/>
                  </a:lnTo>
                  <a:lnTo>
                    <a:pt x="1774508" y="221933"/>
                  </a:lnTo>
                  <a:lnTo>
                    <a:pt x="1851660" y="186690"/>
                  </a:lnTo>
                  <a:lnTo>
                    <a:pt x="1928812" y="144780"/>
                  </a:lnTo>
                  <a:lnTo>
                    <a:pt x="2005965" y="100965"/>
                  </a:lnTo>
                  <a:lnTo>
                    <a:pt x="2083118" y="60008"/>
                  </a:lnTo>
                  <a:lnTo>
                    <a:pt x="2160270" y="26670"/>
                  </a:lnTo>
                  <a:lnTo>
                    <a:pt x="2237422" y="5715"/>
                  </a:lnTo>
                  <a:lnTo>
                    <a:pt x="2314575" y="0"/>
                  </a:lnTo>
                  <a:lnTo>
                    <a:pt x="2391728" y="9525"/>
                  </a:lnTo>
                  <a:lnTo>
                    <a:pt x="2468880" y="34290"/>
                  </a:lnTo>
                  <a:lnTo>
                    <a:pt x="2546032" y="71438"/>
                  </a:lnTo>
                  <a:lnTo>
                    <a:pt x="2623185" y="118110"/>
                  </a:lnTo>
                  <a:lnTo>
                    <a:pt x="2700338" y="168592"/>
                  </a:lnTo>
                  <a:lnTo>
                    <a:pt x="2777490" y="218122"/>
                  </a:lnTo>
                  <a:lnTo>
                    <a:pt x="2854642" y="260985"/>
                  </a:lnTo>
                  <a:lnTo>
                    <a:pt x="2931795" y="293370"/>
                  </a:lnTo>
                  <a:lnTo>
                    <a:pt x="3008948" y="311467"/>
                  </a:lnTo>
                  <a:lnTo>
                    <a:pt x="3086100" y="314325"/>
                  </a:lnTo>
                  <a:lnTo>
                    <a:pt x="3163252" y="301942"/>
                  </a:lnTo>
                  <a:lnTo>
                    <a:pt x="3240405" y="278130"/>
                  </a:lnTo>
                  <a:lnTo>
                    <a:pt x="3317558" y="246697"/>
                  </a:lnTo>
                  <a:lnTo>
                    <a:pt x="3394710" y="215265"/>
                  </a:lnTo>
                  <a:lnTo>
                    <a:pt x="3471862" y="188595"/>
                  </a:lnTo>
                  <a:lnTo>
                    <a:pt x="3549015" y="174308"/>
                  </a:lnTo>
                  <a:lnTo>
                    <a:pt x="3626168" y="174308"/>
                  </a:lnTo>
                  <a:lnTo>
                    <a:pt x="3703320" y="192405"/>
                  </a:lnTo>
                  <a:lnTo>
                    <a:pt x="3780472" y="226695"/>
                  </a:lnTo>
                  <a:lnTo>
                    <a:pt x="3857625" y="273367"/>
                  </a:lnTo>
                  <a:lnTo>
                    <a:pt x="3934778" y="328612"/>
                  </a:lnTo>
                  <a:lnTo>
                    <a:pt x="4011930" y="385762"/>
                  </a:lnTo>
                  <a:lnTo>
                    <a:pt x="4089082" y="441008"/>
                  </a:lnTo>
                  <a:lnTo>
                    <a:pt x="4166235" y="491490"/>
                  </a:lnTo>
                  <a:lnTo>
                    <a:pt x="4243388" y="532447"/>
                  </a:lnTo>
                  <a:lnTo>
                    <a:pt x="4320540" y="565785"/>
                  </a:lnTo>
                  <a:lnTo>
                    <a:pt x="4397692" y="590550"/>
                  </a:lnTo>
                  <a:lnTo>
                    <a:pt x="4474845" y="608647"/>
                  </a:lnTo>
                  <a:lnTo>
                    <a:pt x="4551998" y="620078"/>
                  </a:lnTo>
                  <a:lnTo>
                    <a:pt x="4629150" y="627697"/>
                  </a:lnTo>
                </a:path>
              </a:pathLst>
            </a:custGeom>
            <a:noFill/>
            <a:ln w="24765" cap="rnd">
              <a:solidFill>
                <a:schemeClr val="accent2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2485" y="4317206"/>
              <a:ext cx="1391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Σ wᵢ cᵢ(x), wᵢ ≥ 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2457450"/>
            <a:ext cx="5391150" cy="2133600"/>
            <a:chOff x="6229350" y="2457450"/>
            <a:chExt cx="5391150" cy="2133600"/>
          </a:xfrm>
        </p:grpSpPr>
        <p:sp>
          <p:nvSpPr>
            <p:cNvPr id="18" name="Rectangle 18"/>
            <p:cNvSpPr/>
            <p:nvPr/>
          </p:nvSpPr>
          <p:spPr>
            <a:xfrm>
              <a:off x="6229350" y="2457450"/>
              <a:ext cx="5391150" cy="21336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29350" y="2457450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88430" y="2676525"/>
              <a:ext cx="212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Subtractive mixture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90335" y="294560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cancel mass to carve a hole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10350" y="424815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610350" y="3558540"/>
              <a:ext cx="4629150" cy="689610"/>
            </a:xfrm>
            <a:custGeom>
              <a:avLst/>
              <a:gdLst/>
              <a:ahLst/>
              <a:cxnLst/>
              <a:rect l="l" t="t" r="r" b="b"/>
              <a:pathLst>
                <a:path w="4629150" h="689610">
                  <a:moveTo>
                    <a:pt x="0" y="689610"/>
                  </a:moveTo>
                  <a:lnTo>
                    <a:pt x="0" y="533400"/>
                  </a:lnTo>
                  <a:lnTo>
                    <a:pt x="77153" y="512445"/>
                  </a:lnTo>
                  <a:lnTo>
                    <a:pt x="154305" y="490538"/>
                  </a:lnTo>
                  <a:lnTo>
                    <a:pt x="231457" y="466725"/>
                  </a:lnTo>
                  <a:lnTo>
                    <a:pt x="308610" y="441007"/>
                  </a:lnTo>
                  <a:lnTo>
                    <a:pt x="385762" y="414338"/>
                  </a:lnTo>
                  <a:lnTo>
                    <a:pt x="462915" y="384810"/>
                  </a:lnTo>
                  <a:lnTo>
                    <a:pt x="540068" y="354330"/>
                  </a:lnTo>
                  <a:lnTo>
                    <a:pt x="617220" y="320992"/>
                  </a:lnTo>
                  <a:lnTo>
                    <a:pt x="694372" y="287655"/>
                  </a:lnTo>
                  <a:lnTo>
                    <a:pt x="771525" y="252412"/>
                  </a:lnTo>
                  <a:lnTo>
                    <a:pt x="848678" y="216217"/>
                  </a:lnTo>
                  <a:lnTo>
                    <a:pt x="925830" y="180022"/>
                  </a:lnTo>
                  <a:lnTo>
                    <a:pt x="1002982" y="143827"/>
                  </a:lnTo>
                  <a:lnTo>
                    <a:pt x="1080135" y="107632"/>
                  </a:lnTo>
                  <a:lnTo>
                    <a:pt x="1157288" y="74295"/>
                  </a:lnTo>
                  <a:lnTo>
                    <a:pt x="1234440" y="44767"/>
                  </a:lnTo>
                  <a:lnTo>
                    <a:pt x="1311593" y="20955"/>
                  </a:lnTo>
                  <a:lnTo>
                    <a:pt x="1388745" y="4762"/>
                  </a:lnTo>
                  <a:lnTo>
                    <a:pt x="1465897" y="0"/>
                  </a:lnTo>
                  <a:lnTo>
                    <a:pt x="1543050" y="9525"/>
                  </a:lnTo>
                  <a:lnTo>
                    <a:pt x="1620203" y="34290"/>
                  </a:lnTo>
                  <a:lnTo>
                    <a:pt x="1697355" y="77152"/>
                  </a:lnTo>
                  <a:lnTo>
                    <a:pt x="1774507" y="137160"/>
                  </a:lnTo>
                  <a:lnTo>
                    <a:pt x="1851660" y="211455"/>
                  </a:lnTo>
                  <a:lnTo>
                    <a:pt x="1928812" y="295275"/>
                  </a:lnTo>
                  <a:lnTo>
                    <a:pt x="2005965" y="381000"/>
                  </a:lnTo>
                  <a:lnTo>
                    <a:pt x="2083118" y="461962"/>
                  </a:lnTo>
                  <a:lnTo>
                    <a:pt x="2160270" y="526732"/>
                  </a:lnTo>
                  <a:lnTo>
                    <a:pt x="2237422" y="569595"/>
                  </a:lnTo>
                  <a:lnTo>
                    <a:pt x="2314575" y="584835"/>
                  </a:lnTo>
                  <a:lnTo>
                    <a:pt x="2391728" y="569595"/>
                  </a:lnTo>
                  <a:lnTo>
                    <a:pt x="2468880" y="526732"/>
                  </a:lnTo>
                  <a:lnTo>
                    <a:pt x="2546032" y="461962"/>
                  </a:lnTo>
                  <a:lnTo>
                    <a:pt x="2623185" y="381000"/>
                  </a:lnTo>
                  <a:lnTo>
                    <a:pt x="2700338" y="295275"/>
                  </a:lnTo>
                  <a:lnTo>
                    <a:pt x="2777490" y="211455"/>
                  </a:lnTo>
                  <a:lnTo>
                    <a:pt x="2854643" y="137160"/>
                  </a:lnTo>
                  <a:lnTo>
                    <a:pt x="2931795" y="77152"/>
                  </a:lnTo>
                  <a:lnTo>
                    <a:pt x="3008948" y="34290"/>
                  </a:lnTo>
                  <a:lnTo>
                    <a:pt x="3086100" y="9525"/>
                  </a:lnTo>
                  <a:lnTo>
                    <a:pt x="3163252" y="0"/>
                  </a:lnTo>
                  <a:lnTo>
                    <a:pt x="3240405" y="4762"/>
                  </a:lnTo>
                  <a:lnTo>
                    <a:pt x="3317557" y="20955"/>
                  </a:lnTo>
                  <a:lnTo>
                    <a:pt x="3394710" y="44767"/>
                  </a:lnTo>
                  <a:lnTo>
                    <a:pt x="3471862" y="74295"/>
                  </a:lnTo>
                  <a:lnTo>
                    <a:pt x="3549015" y="107632"/>
                  </a:lnTo>
                  <a:lnTo>
                    <a:pt x="3626168" y="143827"/>
                  </a:lnTo>
                  <a:lnTo>
                    <a:pt x="3703320" y="180022"/>
                  </a:lnTo>
                  <a:lnTo>
                    <a:pt x="3780473" y="216217"/>
                  </a:lnTo>
                  <a:lnTo>
                    <a:pt x="3857625" y="252412"/>
                  </a:lnTo>
                  <a:lnTo>
                    <a:pt x="3934777" y="287655"/>
                  </a:lnTo>
                  <a:lnTo>
                    <a:pt x="4011930" y="320992"/>
                  </a:lnTo>
                  <a:lnTo>
                    <a:pt x="4089082" y="354330"/>
                  </a:lnTo>
                  <a:lnTo>
                    <a:pt x="4166235" y="384810"/>
                  </a:lnTo>
                  <a:lnTo>
                    <a:pt x="4243388" y="414338"/>
                  </a:lnTo>
                  <a:lnTo>
                    <a:pt x="4320540" y="441007"/>
                  </a:lnTo>
                  <a:lnTo>
                    <a:pt x="4397692" y="466725"/>
                  </a:lnTo>
                  <a:lnTo>
                    <a:pt x="4474845" y="490538"/>
                  </a:lnTo>
                  <a:lnTo>
                    <a:pt x="4551998" y="512445"/>
                  </a:lnTo>
                  <a:lnTo>
                    <a:pt x="4629150" y="533400"/>
                  </a:lnTo>
                  <a:lnTo>
                    <a:pt x="4629150" y="689610"/>
                  </a:lnTo>
                  <a:close/>
                </a:path>
              </a:pathLst>
            </a:custGeom>
            <a:solidFill>
              <a:schemeClr val="accent3">
                <a:alpha val="16000"/>
              </a:schemeClr>
            </a:solidFill>
            <a:ln>
              <a:noFill/>
            </a:ln>
          </p:spPr>
        </p:sp>
        <p:sp>
          <p:nvSpPr>
            <p:cNvPr id="24" name="Polyline 24"/>
            <p:cNvSpPr/>
            <p:nvPr/>
          </p:nvSpPr>
          <p:spPr>
            <a:xfrm>
              <a:off x="6610350" y="3558540"/>
              <a:ext cx="4629150" cy="584835"/>
            </a:xfrm>
            <a:custGeom>
              <a:avLst/>
              <a:gdLst/>
              <a:ahLst/>
              <a:cxnLst/>
              <a:rect l="l" t="t" r="r" b="b"/>
              <a:pathLst>
                <a:path w="4629150" h="584835">
                  <a:moveTo>
                    <a:pt x="0" y="533400"/>
                  </a:moveTo>
                  <a:lnTo>
                    <a:pt x="77153" y="512445"/>
                  </a:lnTo>
                  <a:lnTo>
                    <a:pt x="154305" y="490538"/>
                  </a:lnTo>
                  <a:lnTo>
                    <a:pt x="231457" y="466725"/>
                  </a:lnTo>
                  <a:lnTo>
                    <a:pt x="308610" y="441007"/>
                  </a:lnTo>
                  <a:lnTo>
                    <a:pt x="385762" y="414338"/>
                  </a:lnTo>
                  <a:lnTo>
                    <a:pt x="462915" y="384810"/>
                  </a:lnTo>
                  <a:lnTo>
                    <a:pt x="540068" y="354330"/>
                  </a:lnTo>
                  <a:lnTo>
                    <a:pt x="617220" y="320992"/>
                  </a:lnTo>
                  <a:lnTo>
                    <a:pt x="694372" y="287655"/>
                  </a:lnTo>
                  <a:lnTo>
                    <a:pt x="771525" y="252412"/>
                  </a:lnTo>
                  <a:lnTo>
                    <a:pt x="848678" y="216217"/>
                  </a:lnTo>
                  <a:lnTo>
                    <a:pt x="925830" y="180022"/>
                  </a:lnTo>
                  <a:lnTo>
                    <a:pt x="1002982" y="143827"/>
                  </a:lnTo>
                  <a:lnTo>
                    <a:pt x="1080135" y="107632"/>
                  </a:lnTo>
                  <a:lnTo>
                    <a:pt x="1157288" y="74295"/>
                  </a:lnTo>
                  <a:lnTo>
                    <a:pt x="1234440" y="44767"/>
                  </a:lnTo>
                  <a:lnTo>
                    <a:pt x="1311593" y="20955"/>
                  </a:lnTo>
                  <a:lnTo>
                    <a:pt x="1388745" y="4762"/>
                  </a:lnTo>
                  <a:lnTo>
                    <a:pt x="1465897" y="0"/>
                  </a:lnTo>
                  <a:lnTo>
                    <a:pt x="1543050" y="9525"/>
                  </a:lnTo>
                  <a:lnTo>
                    <a:pt x="1620203" y="34290"/>
                  </a:lnTo>
                  <a:lnTo>
                    <a:pt x="1697355" y="77152"/>
                  </a:lnTo>
                  <a:lnTo>
                    <a:pt x="1774507" y="137160"/>
                  </a:lnTo>
                  <a:lnTo>
                    <a:pt x="1851660" y="211455"/>
                  </a:lnTo>
                  <a:lnTo>
                    <a:pt x="1928812" y="295275"/>
                  </a:lnTo>
                  <a:lnTo>
                    <a:pt x="2005965" y="381000"/>
                  </a:lnTo>
                  <a:lnTo>
                    <a:pt x="2083118" y="461962"/>
                  </a:lnTo>
                  <a:lnTo>
                    <a:pt x="2160270" y="526732"/>
                  </a:lnTo>
                  <a:lnTo>
                    <a:pt x="2237422" y="569595"/>
                  </a:lnTo>
                  <a:lnTo>
                    <a:pt x="2314575" y="584835"/>
                  </a:lnTo>
                  <a:lnTo>
                    <a:pt x="2391728" y="569595"/>
                  </a:lnTo>
                  <a:lnTo>
                    <a:pt x="2468880" y="526732"/>
                  </a:lnTo>
                  <a:lnTo>
                    <a:pt x="2546032" y="461962"/>
                  </a:lnTo>
                  <a:lnTo>
                    <a:pt x="2623185" y="381000"/>
                  </a:lnTo>
                  <a:lnTo>
                    <a:pt x="2700338" y="295275"/>
                  </a:lnTo>
                  <a:lnTo>
                    <a:pt x="2777490" y="211455"/>
                  </a:lnTo>
                  <a:lnTo>
                    <a:pt x="2854643" y="137160"/>
                  </a:lnTo>
                  <a:lnTo>
                    <a:pt x="2931795" y="77152"/>
                  </a:lnTo>
                  <a:lnTo>
                    <a:pt x="3008948" y="34290"/>
                  </a:lnTo>
                  <a:lnTo>
                    <a:pt x="3086100" y="9525"/>
                  </a:lnTo>
                  <a:lnTo>
                    <a:pt x="3163252" y="0"/>
                  </a:lnTo>
                  <a:lnTo>
                    <a:pt x="3240405" y="4762"/>
                  </a:lnTo>
                  <a:lnTo>
                    <a:pt x="3317557" y="20955"/>
                  </a:lnTo>
                  <a:lnTo>
                    <a:pt x="3394710" y="44767"/>
                  </a:lnTo>
                  <a:lnTo>
                    <a:pt x="3471862" y="74295"/>
                  </a:lnTo>
                  <a:lnTo>
                    <a:pt x="3549015" y="107632"/>
                  </a:lnTo>
                  <a:lnTo>
                    <a:pt x="3626168" y="143827"/>
                  </a:lnTo>
                  <a:lnTo>
                    <a:pt x="3703320" y="180022"/>
                  </a:lnTo>
                  <a:lnTo>
                    <a:pt x="3780473" y="216217"/>
                  </a:lnTo>
                  <a:lnTo>
                    <a:pt x="3857625" y="252412"/>
                  </a:lnTo>
                  <a:lnTo>
                    <a:pt x="3934777" y="287655"/>
                  </a:lnTo>
                  <a:lnTo>
                    <a:pt x="4011930" y="320992"/>
                  </a:lnTo>
                  <a:lnTo>
                    <a:pt x="4089082" y="354330"/>
                  </a:lnTo>
                  <a:lnTo>
                    <a:pt x="4166235" y="384810"/>
                  </a:lnTo>
                  <a:lnTo>
                    <a:pt x="4243388" y="414338"/>
                  </a:lnTo>
                  <a:lnTo>
                    <a:pt x="4320540" y="441007"/>
                  </a:lnTo>
                  <a:lnTo>
                    <a:pt x="4397692" y="466725"/>
                  </a:lnTo>
                  <a:lnTo>
                    <a:pt x="4474845" y="490538"/>
                  </a:lnTo>
                  <a:lnTo>
                    <a:pt x="4551998" y="512445"/>
                  </a:lnTo>
                  <a:lnTo>
                    <a:pt x="4629150" y="533400"/>
                  </a:lnTo>
                </a:path>
              </a:pathLst>
            </a:custGeom>
            <a:noFill/>
            <a:ln w="24765" cap="rnd">
              <a:solidFill>
                <a:schemeClr val="accent3"/>
              </a:solidFill>
              <a:round/>
            </a:ln>
          </p:spPr>
        </p:sp>
        <p:sp>
          <p:nvSpPr>
            <p:cNvPr id="25" name="Line 25"/>
            <p:cNvSpPr/>
            <p:nvPr/>
          </p:nvSpPr>
          <p:spPr>
            <a:xfrm>
              <a:off x="8924925" y="3333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15240">
              <a:solidFill>
                <a:schemeClr val="accent6"/>
              </a:solidFill>
              <a:prstDash val="dash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91343" y="3171349"/>
              <a:ext cx="2671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0335" y="4317206"/>
              <a:ext cx="2401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allow wᵢ &lt; 0 → fewer components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781550"/>
            <a:ext cx="5391150" cy="1428750"/>
            <a:chOff x="571500" y="4781550"/>
            <a:chExt cx="5391150" cy="1428750"/>
          </a:xfrm>
        </p:grpSpPr>
        <p:sp>
          <p:nvSpPr>
            <p:cNvPr id="29" name="Rectangle 29"/>
            <p:cNvSpPr/>
            <p:nvPr/>
          </p:nvSpPr>
          <p:spPr>
            <a:xfrm>
              <a:off x="571500" y="4781550"/>
              <a:ext cx="539115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4781550"/>
              <a:ext cx="47625" cy="1428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35868"/>
              <a:ext cx="763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idea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532" y="5344716"/>
              <a:ext cx="308765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 deep subtractive mixtures by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532" y="5573316"/>
              <a:ext cx="246463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squaring a signed tensorized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532" y="5801916"/>
              <a:ext cx="183858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probabilistic circuit.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29350" y="4781550"/>
            <a:ext cx="5391150" cy="1428750"/>
            <a:chOff x="6229350" y="4781550"/>
            <a:chExt cx="5391150" cy="1428750"/>
          </a:xfrm>
        </p:grpSpPr>
        <p:sp>
          <p:nvSpPr>
            <p:cNvPr id="36" name="Rectangle 36"/>
            <p:cNvSpPr/>
            <p:nvPr/>
          </p:nvSpPr>
          <p:spPr>
            <a:xfrm>
              <a:off x="6229350" y="4781550"/>
              <a:ext cx="539115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29350" y="4781550"/>
              <a:ext cx="47625" cy="142875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89192" y="5035868"/>
              <a:ext cx="1422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9382" y="5344716"/>
              <a:ext cx="300814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Squaring keeps a valid density with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9382" y="5573316"/>
              <a:ext cx="338166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negative parameters — and is provably,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9382" y="5801916"/>
              <a:ext cx="248226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exponentially more compact.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chemeClr val="accent4">
                <a:alpha val="70000"/>
              </a:schemeClr>
            </a:solidFill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566738" y="6646545"/>
            <a:ext cx="23995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D99"/>
                </a:solidFill>
                <a:latin typeface="+mn-lt"/>
                <a:ea typeface="+mn-ea"/>
                <a:cs typeface="+mn-cs"/>
              </a:rPr>
              <a:t>Subtractive Mixture Models via Squaring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09858" y="66465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B7D99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sp>
        <p:nvSpPr>
          <p:cNvPr id="46" name="cue_s01_c1_mixture_models_usually_blend_simple" title="cue_s01_c1_mixture_models_usually_blend_simple" descr="cue_s01_c1_mixture_models_usually_blend_simple Mixture models usually blend simple distributions by adding them."/>
          <p:cNvSpPr/>
          <p:nvPr/>
        </p:nvSpPr>
        <p:spPr>
          <a:xfrm>
            <a:off x="571804" y="2457221"/>
            <a:ext cx="5391302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1_c2_but_what_mixture_could_also" title="cue_s01_c2_but_what_mixture_could_also" descr="cue_s01_c2_but_what_mixture_could_also But what if a mixture could also subtract probability mass?"/>
          <p:cNvSpPr/>
          <p:nvPr/>
        </p:nvSpPr>
        <p:spPr>
          <a:xfrm>
            <a:off x="6228892" y="2457221"/>
            <a:ext cx="5391302" cy="21335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1_c3_published_iclr_2024_shows_how" title="cue_s01_c3_published_iclr_2024_shows_how" descr="cue_s01_c3_published_iclr_2024_shows_how Published at ICLR 2024, this paper shows how to learn deep subtractive mixtures by squaring them."/>
          <p:cNvSpPr/>
          <p:nvPr/>
        </p:nvSpPr>
        <p:spPr>
          <a:xfrm>
            <a:off x="571804" y="4781397"/>
            <a:ext cx="5391302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1_c4_squaring_keeps_valid_distribution_wh" title="cue_s01_c4_squaring_keeps_valid_distribution_wh" descr="cue_s01_c4_squaring_keeps_valid_distribution_wh Squaring keeps the model a valid distribution while allowing negative parameters, and the authors prove these squared non-monotonic circuits can be exponentially more compact than ordinary additive mixtures, then confirm the gain on real-world density estimati"/>
          <p:cNvSpPr/>
          <p:nvPr/>
        </p:nvSpPr>
        <p:spPr>
          <a:xfrm>
            <a:off x="6228892" y="4781397"/>
            <a:ext cx="5391302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769770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Additive mixtures are wasteful on holey densities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914525"/>
              <a:ext cx="23225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Convex, additive blend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258616"/>
              <a:ext cx="275212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Classical mixtures build complex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532" y="2496741"/>
              <a:ext cx="221773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densities by adding simple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532" y="2734866"/>
              <a:ext cx="311713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components — a convex combination.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532" y="2972991"/>
              <a:ext cx="314930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Simple, but often wildly inefficient.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29350" y="1619250"/>
            <a:ext cx="5391150" cy="2362200"/>
            <a:chOff x="6229350" y="1619250"/>
            <a:chExt cx="5391150" cy="2362200"/>
          </a:xfrm>
        </p:grpSpPr>
        <p:sp>
          <p:nvSpPr>
            <p:cNvPr id="14" name="Rectangle 14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8430" y="1914525"/>
              <a:ext cx="2927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Holes cost many components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89382" y="2258616"/>
              <a:ext cx="305272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 carve a gap, an additive mixture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9382" y="2496741"/>
              <a:ext cx="320531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must stack up many bumps around it.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515100" y="356235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3335">
              <a:solidFill>
                <a:schemeClr val="accent4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515100" y="2988945"/>
              <a:ext cx="4819650" cy="573405"/>
            </a:xfrm>
            <a:custGeom>
              <a:avLst/>
              <a:gdLst/>
              <a:ahLst/>
              <a:cxnLst/>
              <a:rect l="l" t="t" r="r" b="b"/>
              <a:pathLst>
                <a:path w="4819650" h="573405">
                  <a:moveTo>
                    <a:pt x="0" y="573405"/>
                  </a:moveTo>
                  <a:lnTo>
                    <a:pt x="0" y="375285"/>
                  </a:lnTo>
                  <a:lnTo>
                    <a:pt x="80010" y="356235"/>
                  </a:lnTo>
                  <a:lnTo>
                    <a:pt x="160972" y="336233"/>
                  </a:lnTo>
                  <a:lnTo>
                    <a:pt x="240982" y="315277"/>
                  </a:lnTo>
                  <a:lnTo>
                    <a:pt x="320993" y="292417"/>
                  </a:lnTo>
                  <a:lnTo>
                    <a:pt x="401955" y="269558"/>
                  </a:lnTo>
                  <a:lnTo>
                    <a:pt x="481965" y="245745"/>
                  </a:lnTo>
                  <a:lnTo>
                    <a:pt x="561975" y="221933"/>
                  </a:lnTo>
                  <a:lnTo>
                    <a:pt x="642938" y="196215"/>
                  </a:lnTo>
                  <a:lnTo>
                    <a:pt x="722947" y="170497"/>
                  </a:lnTo>
                  <a:lnTo>
                    <a:pt x="802957" y="144780"/>
                  </a:lnTo>
                  <a:lnTo>
                    <a:pt x="883920" y="119062"/>
                  </a:lnTo>
                  <a:lnTo>
                    <a:pt x="963930" y="93345"/>
                  </a:lnTo>
                  <a:lnTo>
                    <a:pt x="1043940" y="68580"/>
                  </a:lnTo>
                  <a:lnTo>
                    <a:pt x="1124903" y="46672"/>
                  </a:lnTo>
                  <a:lnTo>
                    <a:pt x="1204912" y="26670"/>
                  </a:lnTo>
                  <a:lnTo>
                    <a:pt x="1284922" y="11430"/>
                  </a:lnTo>
                  <a:lnTo>
                    <a:pt x="1365885" y="1905"/>
                  </a:lnTo>
                  <a:lnTo>
                    <a:pt x="1445895" y="0"/>
                  </a:lnTo>
                  <a:lnTo>
                    <a:pt x="1525905" y="7620"/>
                  </a:lnTo>
                  <a:lnTo>
                    <a:pt x="1606868" y="26670"/>
                  </a:lnTo>
                  <a:lnTo>
                    <a:pt x="1686878" y="59055"/>
                  </a:lnTo>
                  <a:lnTo>
                    <a:pt x="1766888" y="103822"/>
                  </a:lnTo>
                  <a:lnTo>
                    <a:pt x="1847850" y="160972"/>
                  </a:lnTo>
                  <a:lnTo>
                    <a:pt x="1927860" y="226695"/>
                  </a:lnTo>
                  <a:lnTo>
                    <a:pt x="2007870" y="299085"/>
                  </a:lnTo>
                  <a:lnTo>
                    <a:pt x="2088832" y="369570"/>
                  </a:lnTo>
                  <a:lnTo>
                    <a:pt x="2168843" y="434340"/>
                  </a:lnTo>
                  <a:lnTo>
                    <a:pt x="2248852" y="486727"/>
                  </a:lnTo>
                  <a:lnTo>
                    <a:pt x="2329815" y="520065"/>
                  </a:lnTo>
                  <a:lnTo>
                    <a:pt x="2409825" y="531495"/>
                  </a:lnTo>
                  <a:lnTo>
                    <a:pt x="2489835" y="520065"/>
                  </a:lnTo>
                  <a:lnTo>
                    <a:pt x="2570798" y="486727"/>
                  </a:lnTo>
                  <a:lnTo>
                    <a:pt x="2650807" y="434340"/>
                  </a:lnTo>
                  <a:lnTo>
                    <a:pt x="2730818" y="369570"/>
                  </a:lnTo>
                  <a:lnTo>
                    <a:pt x="2811780" y="299085"/>
                  </a:lnTo>
                  <a:lnTo>
                    <a:pt x="2891790" y="226695"/>
                  </a:lnTo>
                  <a:lnTo>
                    <a:pt x="2971800" y="160972"/>
                  </a:lnTo>
                  <a:lnTo>
                    <a:pt x="3052762" y="103822"/>
                  </a:lnTo>
                  <a:lnTo>
                    <a:pt x="3132772" y="59055"/>
                  </a:lnTo>
                  <a:lnTo>
                    <a:pt x="3212782" y="26670"/>
                  </a:lnTo>
                  <a:lnTo>
                    <a:pt x="3293745" y="7620"/>
                  </a:lnTo>
                  <a:lnTo>
                    <a:pt x="3373755" y="0"/>
                  </a:lnTo>
                  <a:lnTo>
                    <a:pt x="3453765" y="1905"/>
                  </a:lnTo>
                  <a:lnTo>
                    <a:pt x="3534727" y="11430"/>
                  </a:lnTo>
                  <a:lnTo>
                    <a:pt x="3614738" y="26670"/>
                  </a:lnTo>
                  <a:lnTo>
                    <a:pt x="3694748" y="46672"/>
                  </a:lnTo>
                  <a:lnTo>
                    <a:pt x="3775710" y="68580"/>
                  </a:lnTo>
                  <a:lnTo>
                    <a:pt x="3855720" y="93345"/>
                  </a:lnTo>
                  <a:lnTo>
                    <a:pt x="3935730" y="119062"/>
                  </a:lnTo>
                  <a:lnTo>
                    <a:pt x="4016693" y="144780"/>
                  </a:lnTo>
                  <a:lnTo>
                    <a:pt x="4096702" y="170497"/>
                  </a:lnTo>
                  <a:lnTo>
                    <a:pt x="4176712" y="196215"/>
                  </a:lnTo>
                  <a:lnTo>
                    <a:pt x="4257675" y="221933"/>
                  </a:lnTo>
                  <a:lnTo>
                    <a:pt x="4337685" y="245745"/>
                  </a:lnTo>
                  <a:lnTo>
                    <a:pt x="4417695" y="269558"/>
                  </a:lnTo>
                  <a:lnTo>
                    <a:pt x="4498658" y="292417"/>
                  </a:lnTo>
                  <a:lnTo>
                    <a:pt x="4578668" y="315277"/>
                  </a:lnTo>
                  <a:lnTo>
                    <a:pt x="4658677" y="336233"/>
                  </a:lnTo>
                  <a:lnTo>
                    <a:pt x="4739640" y="356235"/>
                  </a:lnTo>
                  <a:lnTo>
                    <a:pt x="4819650" y="375285"/>
                  </a:lnTo>
                  <a:lnTo>
                    <a:pt x="4819650" y="573405"/>
                  </a:ln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6515100" y="2988945"/>
              <a:ext cx="4819650" cy="531495"/>
            </a:xfrm>
            <a:custGeom>
              <a:avLst/>
              <a:gdLst/>
              <a:ahLst/>
              <a:cxnLst/>
              <a:rect l="l" t="t" r="r" b="b"/>
              <a:pathLst>
                <a:path w="4819650" h="531495">
                  <a:moveTo>
                    <a:pt x="0" y="375285"/>
                  </a:moveTo>
                  <a:lnTo>
                    <a:pt x="80010" y="356235"/>
                  </a:lnTo>
                  <a:lnTo>
                    <a:pt x="160972" y="336233"/>
                  </a:lnTo>
                  <a:lnTo>
                    <a:pt x="240982" y="315277"/>
                  </a:lnTo>
                  <a:lnTo>
                    <a:pt x="320993" y="292417"/>
                  </a:lnTo>
                  <a:lnTo>
                    <a:pt x="401955" y="269558"/>
                  </a:lnTo>
                  <a:lnTo>
                    <a:pt x="481965" y="245745"/>
                  </a:lnTo>
                  <a:lnTo>
                    <a:pt x="561975" y="221933"/>
                  </a:lnTo>
                  <a:lnTo>
                    <a:pt x="642938" y="196215"/>
                  </a:lnTo>
                  <a:lnTo>
                    <a:pt x="722947" y="170497"/>
                  </a:lnTo>
                  <a:lnTo>
                    <a:pt x="802957" y="144780"/>
                  </a:lnTo>
                  <a:lnTo>
                    <a:pt x="883920" y="119062"/>
                  </a:lnTo>
                  <a:lnTo>
                    <a:pt x="963930" y="93345"/>
                  </a:lnTo>
                  <a:lnTo>
                    <a:pt x="1043940" y="68580"/>
                  </a:lnTo>
                  <a:lnTo>
                    <a:pt x="1124903" y="46672"/>
                  </a:lnTo>
                  <a:lnTo>
                    <a:pt x="1204912" y="26670"/>
                  </a:lnTo>
                  <a:lnTo>
                    <a:pt x="1284922" y="11430"/>
                  </a:lnTo>
                  <a:lnTo>
                    <a:pt x="1365885" y="1905"/>
                  </a:lnTo>
                  <a:lnTo>
                    <a:pt x="1445895" y="0"/>
                  </a:lnTo>
                  <a:lnTo>
                    <a:pt x="1525905" y="7620"/>
                  </a:lnTo>
                  <a:lnTo>
                    <a:pt x="1606868" y="26670"/>
                  </a:lnTo>
                  <a:lnTo>
                    <a:pt x="1686878" y="59055"/>
                  </a:lnTo>
                  <a:lnTo>
                    <a:pt x="1766888" y="103822"/>
                  </a:lnTo>
                  <a:lnTo>
                    <a:pt x="1847850" y="160972"/>
                  </a:lnTo>
                  <a:lnTo>
                    <a:pt x="1927860" y="226695"/>
                  </a:lnTo>
                  <a:lnTo>
                    <a:pt x="2007870" y="299085"/>
                  </a:lnTo>
                  <a:lnTo>
                    <a:pt x="2088832" y="369570"/>
                  </a:lnTo>
                  <a:lnTo>
                    <a:pt x="2168843" y="434340"/>
                  </a:lnTo>
                  <a:lnTo>
                    <a:pt x="2248852" y="486727"/>
                  </a:lnTo>
                  <a:lnTo>
                    <a:pt x="2329815" y="520065"/>
                  </a:lnTo>
                  <a:lnTo>
                    <a:pt x="2409825" y="531495"/>
                  </a:lnTo>
                  <a:lnTo>
                    <a:pt x="2489835" y="520065"/>
                  </a:lnTo>
                  <a:lnTo>
                    <a:pt x="2570798" y="486727"/>
                  </a:lnTo>
                  <a:lnTo>
                    <a:pt x="2650807" y="434340"/>
                  </a:lnTo>
                  <a:lnTo>
                    <a:pt x="2730818" y="369570"/>
                  </a:lnTo>
                  <a:lnTo>
                    <a:pt x="2811780" y="299085"/>
                  </a:lnTo>
                  <a:lnTo>
                    <a:pt x="2891790" y="226695"/>
                  </a:lnTo>
                  <a:lnTo>
                    <a:pt x="2971800" y="160972"/>
                  </a:lnTo>
                  <a:lnTo>
                    <a:pt x="3052762" y="103822"/>
                  </a:lnTo>
                  <a:lnTo>
                    <a:pt x="3132772" y="59055"/>
                  </a:lnTo>
                  <a:lnTo>
                    <a:pt x="3212782" y="26670"/>
                  </a:lnTo>
                  <a:lnTo>
                    <a:pt x="3293745" y="7620"/>
                  </a:lnTo>
                  <a:lnTo>
                    <a:pt x="3373755" y="0"/>
                  </a:lnTo>
                  <a:lnTo>
                    <a:pt x="3453765" y="1905"/>
                  </a:lnTo>
                  <a:lnTo>
                    <a:pt x="3534727" y="11430"/>
                  </a:lnTo>
                  <a:lnTo>
                    <a:pt x="3614738" y="26670"/>
                  </a:lnTo>
                  <a:lnTo>
                    <a:pt x="3694748" y="46672"/>
                  </a:lnTo>
                  <a:lnTo>
                    <a:pt x="3775710" y="68580"/>
                  </a:lnTo>
                  <a:lnTo>
                    <a:pt x="3855720" y="93345"/>
                  </a:lnTo>
                  <a:lnTo>
                    <a:pt x="3935730" y="119062"/>
                  </a:lnTo>
                  <a:lnTo>
                    <a:pt x="4016693" y="144780"/>
                  </a:lnTo>
                  <a:lnTo>
                    <a:pt x="4096702" y="170497"/>
                  </a:lnTo>
                  <a:lnTo>
                    <a:pt x="4176712" y="196215"/>
                  </a:lnTo>
                  <a:lnTo>
                    <a:pt x="4257675" y="221933"/>
                  </a:lnTo>
                  <a:lnTo>
                    <a:pt x="4337685" y="245745"/>
                  </a:lnTo>
                  <a:lnTo>
                    <a:pt x="4417695" y="269558"/>
                  </a:lnTo>
                  <a:lnTo>
                    <a:pt x="4498658" y="292417"/>
                  </a:lnTo>
                  <a:lnTo>
                    <a:pt x="4578668" y="315277"/>
                  </a:lnTo>
                  <a:lnTo>
                    <a:pt x="4658677" y="336233"/>
                  </a:lnTo>
                  <a:lnTo>
                    <a:pt x="4739640" y="356235"/>
                  </a:lnTo>
                  <a:lnTo>
                    <a:pt x="4819650" y="375285"/>
                  </a:lnTo>
                </a:path>
              </a:pathLst>
            </a:custGeom>
            <a:noFill/>
            <a:ln w="22860" cap="rnd">
              <a:solidFill>
                <a:schemeClr val="accent3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10147" y="3723799"/>
              <a:ext cx="15864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target density has a gap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4" name="Rectangle 24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4467225"/>
              <a:ext cx="2672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natural fix: subtract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532" y="4811316"/>
              <a:ext cx="267344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Let some components subtract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532" y="5049441"/>
              <a:ext cx="275561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probability mass instead of only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532" y="5287566"/>
              <a:ext cx="241172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adding it — cancel where the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532" y="5525691"/>
              <a:ext cx="191793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density should be low.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32" name="Rectangle 32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88430" y="4467225"/>
              <a:ext cx="1018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catch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382" y="4811316"/>
              <a:ext cx="295533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Subtraction can push the function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382" y="5049441"/>
              <a:ext cx="251753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below zero — no longer a valid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9382" y="5287566"/>
              <a:ext cx="248226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distribution — and learning it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9382" y="5525691"/>
              <a:ext cx="210310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becomes genuinely hard.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515100" y="58674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3335">
              <a:solidFill>
                <a:schemeClr val="accent4"/>
              </a:solidFill>
              <a:custDash>
                <a:ds d="357143" sp="285714"/>
              </a:custDash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49038" y="580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Polyline 41"/>
            <p:cNvSpPr/>
            <p:nvPr/>
          </p:nvSpPr>
          <p:spPr>
            <a:xfrm>
              <a:off x="6515100" y="5580698"/>
              <a:ext cx="4819650" cy="722947"/>
            </a:xfrm>
            <a:custGeom>
              <a:avLst/>
              <a:gdLst/>
              <a:ahLst/>
              <a:cxnLst/>
              <a:rect l="l" t="t" r="r" b="b"/>
              <a:pathLst>
                <a:path w="4819650" h="722947">
                  <a:moveTo>
                    <a:pt x="0" y="282893"/>
                  </a:moveTo>
                  <a:lnTo>
                    <a:pt x="80010" y="280035"/>
                  </a:lnTo>
                  <a:lnTo>
                    <a:pt x="160972" y="278130"/>
                  </a:lnTo>
                  <a:lnTo>
                    <a:pt x="240982" y="273368"/>
                  </a:lnTo>
                  <a:lnTo>
                    <a:pt x="320993" y="268605"/>
                  </a:lnTo>
                  <a:lnTo>
                    <a:pt x="401955" y="261938"/>
                  </a:lnTo>
                  <a:lnTo>
                    <a:pt x="481965" y="253365"/>
                  </a:lnTo>
                  <a:lnTo>
                    <a:pt x="561975" y="241935"/>
                  </a:lnTo>
                  <a:lnTo>
                    <a:pt x="642938" y="229553"/>
                  </a:lnTo>
                  <a:lnTo>
                    <a:pt x="722947" y="213360"/>
                  </a:lnTo>
                  <a:lnTo>
                    <a:pt x="802957" y="195262"/>
                  </a:lnTo>
                  <a:lnTo>
                    <a:pt x="883920" y="175260"/>
                  </a:lnTo>
                  <a:lnTo>
                    <a:pt x="963930" y="152400"/>
                  </a:lnTo>
                  <a:lnTo>
                    <a:pt x="1043940" y="128588"/>
                  </a:lnTo>
                  <a:lnTo>
                    <a:pt x="1124903" y="103822"/>
                  </a:lnTo>
                  <a:lnTo>
                    <a:pt x="1204912" y="80010"/>
                  </a:lnTo>
                  <a:lnTo>
                    <a:pt x="1284922" y="57150"/>
                  </a:lnTo>
                  <a:lnTo>
                    <a:pt x="1365885" y="36195"/>
                  </a:lnTo>
                  <a:lnTo>
                    <a:pt x="1445895" y="19050"/>
                  </a:lnTo>
                  <a:lnTo>
                    <a:pt x="1525905" y="6668"/>
                  </a:lnTo>
                  <a:lnTo>
                    <a:pt x="1606868" y="0"/>
                  </a:lnTo>
                  <a:lnTo>
                    <a:pt x="1686878" y="0"/>
                  </a:lnTo>
                  <a:lnTo>
                    <a:pt x="1766888" y="5715"/>
                  </a:lnTo>
                  <a:lnTo>
                    <a:pt x="1847850" y="18097"/>
                  </a:lnTo>
                  <a:lnTo>
                    <a:pt x="1927860" y="37147"/>
                  </a:lnTo>
                  <a:lnTo>
                    <a:pt x="2007870" y="61912"/>
                  </a:lnTo>
                  <a:lnTo>
                    <a:pt x="2088832" y="93345"/>
                  </a:lnTo>
                  <a:lnTo>
                    <a:pt x="2168843" y="129540"/>
                  </a:lnTo>
                  <a:lnTo>
                    <a:pt x="2248852" y="170497"/>
                  </a:lnTo>
                  <a:lnTo>
                    <a:pt x="2329815" y="214312"/>
                  </a:lnTo>
                  <a:lnTo>
                    <a:pt x="2409825" y="261938"/>
                  </a:lnTo>
                  <a:lnTo>
                    <a:pt x="2489835" y="311468"/>
                  </a:lnTo>
                  <a:lnTo>
                    <a:pt x="2570798" y="362903"/>
                  </a:lnTo>
                  <a:lnTo>
                    <a:pt x="2650807" y="415290"/>
                  </a:lnTo>
                  <a:lnTo>
                    <a:pt x="2730818" y="466725"/>
                  </a:lnTo>
                  <a:lnTo>
                    <a:pt x="2811780" y="516255"/>
                  </a:lnTo>
                  <a:lnTo>
                    <a:pt x="2891790" y="563880"/>
                  </a:lnTo>
                  <a:lnTo>
                    <a:pt x="2971800" y="607695"/>
                  </a:lnTo>
                  <a:lnTo>
                    <a:pt x="3052762" y="645795"/>
                  </a:lnTo>
                  <a:lnTo>
                    <a:pt x="3132772" y="677228"/>
                  </a:lnTo>
                  <a:lnTo>
                    <a:pt x="3212782" y="701040"/>
                  </a:lnTo>
                  <a:lnTo>
                    <a:pt x="3293745" y="716280"/>
                  </a:lnTo>
                  <a:lnTo>
                    <a:pt x="3373755" y="722947"/>
                  </a:lnTo>
                  <a:lnTo>
                    <a:pt x="3453765" y="720090"/>
                  </a:lnTo>
                  <a:lnTo>
                    <a:pt x="3534727" y="708660"/>
                  </a:lnTo>
                  <a:lnTo>
                    <a:pt x="3614738" y="688658"/>
                  </a:lnTo>
                  <a:lnTo>
                    <a:pt x="3694748" y="662940"/>
                  </a:lnTo>
                  <a:lnTo>
                    <a:pt x="3775710" y="632460"/>
                  </a:lnTo>
                  <a:lnTo>
                    <a:pt x="3855720" y="597218"/>
                  </a:lnTo>
                  <a:lnTo>
                    <a:pt x="3935730" y="561022"/>
                  </a:lnTo>
                  <a:lnTo>
                    <a:pt x="4016693" y="523875"/>
                  </a:lnTo>
                  <a:lnTo>
                    <a:pt x="4096702" y="487680"/>
                  </a:lnTo>
                  <a:lnTo>
                    <a:pt x="4176712" y="454343"/>
                  </a:lnTo>
                  <a:lnTo>
                    <a:pt x="4257675" y="423862"/>
                  </a:lnTo>
                  <a:lnTo>
                    <a:pt x="4337685" y="396240"/>
                  </a:lnTo>
                  <a:lnTo>
                    <a:pt x="4417695" y="373380"/>
                  </a:lnTo>
                  <a:lnTo>
                    <a:pt x="4498658" y="353378"/>
                  </a:lnTo>
                  <a:lnTo>
                    <a:pt x="4578668" y="337185"/>
                  </a:lnTo>
                  <a:lnTo>
                    <a:pt x="4658677" y="323850"/>
                  </a:lnTo>
                  <a:lnTo>
                    <a:pt x="4739640" y="313372"/>
                  </a:lnTo>
                  <a:lnTo>
                    <a:pt x="4819650" y="305753"/>
                  </a:lnTo>
                </a:path>
              </a:pathLst>
            </a:custGeom>
            <a:noFill/>
            <a:ln w="22860" cap="rnd">
              <a:solidFill>
                <a:schemeClr val="accent6"/>
              </a:solidFill>
              <a:round/>
            </a:ln>
          </p:spPr>
        </p:sp>
      </p:grpSp>
      <p:sp>
        <p:nvSpPr>
          <p:cNvPr id="43" name="cue_s02_c1_traditional_mixture_models_build_com" title="cue_s02_c1_traditional_mixture_models_build_com" descr="cue_s02_c1_traditional_mixture_models_build_com Traditional mixture models build complex distributions by blending simple ones additively. That works, but it can be wildly inefficient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2_c2_target_distribution_gaps_holes_its" title="cue_s02_c2_target_distribution_gaps_holes_its" descr="cue_s02_c2_target_distribution_gaps_holes_its If the target distribution has gaps or holes in its domain, an additive mixture must stack up many components just to carve those holes out."/>
          <p:cNvSpPr/>
          <p:nvPr/>
        </p:nvSpPr>
        <p:spPr>
          <a:xfrm>
            <a:off x="6228892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2_c3_natural_fix_let_some_components" title="cue_s02_c3_natural_fix_let_some_components" descr="cue_s02_c3_natural_fix_let_some_components The natural fix is to let some components subtract probability mass instead of only adding it.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2_c4_catch_once_you_allow_subtraction" title="cue_s02_c4_catch_once_you_allow_subtraction" descr="cue_s02_c4_catch_once_you_allow_subtraction The catch: once you allow subtraction, the model can dip below zero and stop being a valid distribution, and learning it becomes genuinely hard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A78BFA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89705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Subtraction pays off — but non-negativity is the obstacle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914525"/>
              <a:ext cx="2195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Subtraction pays off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258616"/>
              <a:ext cx="269112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mixture that can cancel mass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532" y="2496741"/>
              <a:ext cx="257926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captures complex shapes with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532" y="2734866"/>
              <a:ext cx="252635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far fewer components than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532" y="2972991"/>
              <a:ext cx="173276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purely additive one.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29350" y="1619250"/>
            <a:ext cx="5391150" cy="2362200"/>
            <a:chOff x="6229350" y="1619250"/>
            <a:chExt cx="5391150" cy="2362200"/>
          </a:xfrm>
        </p:grpSpPr>
        <p:sp>
          <p:nvSpPr>
            <p:cNvPr id="14" name="Rectangle 14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8430" y="1914525"/>
              <a:ext cx="13152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obstacle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89382" y="2258616"/>
              <a:ext cx="291135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hard part is guaranteeing the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9382" y="2496741"/>
              <a:ext cx="212074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resulting function stays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9382" y="2734866"/>
              <a:ext cx="294078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non-negative everywhere — a valid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9382" y="2972991"/>
              <a:ext cx="173276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probability density.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2" name="Rectangle 22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0580" y="4467225"/>
              <a:ext cx="2185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Energy-based detour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1532" y="4811316"/>
              <a:ext cx="254111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Energy-based models enforce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532" y="5049441"/>
              <a:ext cx="300250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non-negativity by exponentiation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532" y="5287566"/>
              <a:ext cx="233236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but then lose the ability to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532" y="5525691"/>
              <a:ext cx="268507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normalize the model tractably.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30" name="Rectangle 30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88430" y="4429125"/>
              <a:ext cx="26086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Reinvented in many fields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573" y="4777264"/>
              <a:ext cx="3292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Several communities each rediscovered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573" y="5005864"/>
              <a:ext cx="2881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squaring trick — with no shared,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573" y="5234464"/>
              <a:ext cx="364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tractable framework tying them together.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96050" y="5734050"/>
              <a:ext cx="158115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12382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38925" y="5915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2856" y="5920026"/>
              <a:ext cx="120658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 processing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91500" y="5734050"/>
              <a:ext cx="158115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12382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334375" y="59150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48306" y="5920026"/>
              <a:ext cx="107134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Kernel methods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886950" y="5734050"/>
              <a:ext cx="158115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12382">
              <a:solidFill>
                <a:srgbClr val="A78BF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029825" y="5915025"/>
              <a:ext cx="133350" cy="13335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243756" y="5920026"/>
              <a:ext cx="11064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Quantum / Born</a:t>
              </a:r>
            </a:p>
          </p:txBody>
        </p:sp>
      </p:grpSp>
      <p:sp>
        <p:nvSpPr>
          <p:cNvPr id="46" name="cue_s03_c1_why_revisit_now_because_subtraction" title="cue_s03_c1_why_revisit_now_because_subtraction" descr="cue_s03_c1_why_revisit_now_because_subtraction So why revisit this now? Because subtraction pays off: a mixture that can cancel mass captures complex shapes with far fewer components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3_c2_problem_guaranteeing_result_stays_no" title="cue_s03_c2_problem_guaranteeing_result_stays_no" descr="cue_s03_c2_problem_guaranteeing_result_stays_no The problem is guaranteeing the result stays non-negative."/>
          <p:cNvSpPr/>
          <p:nvPr/>
        </p:nvSpPr>
        <p:spPr>
          <a:xfrm>
            <a:off x="6228892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3_c3_energy_based_models_enforce_non_nega" title="cue_s03_c3_energy_based_models_enforce_non_nega" descr="cue_s03_c3_energy_based_models_enforce_non_nega Energy-based models enforce non-negativity by exponentiation, but then lose tractable normalization.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3_c4_meanwhile_several_separate_communiti" title="cue_s03_c4_meanwhile_several_separate_communiti" descr="cue_s03_c4_meanwhile_several_separate_communiti Meanwhile several separate communities, from signal processing to kernel methods to quantum mechanics, each rediscovered a squaring trick to enforce non-negativity, but without a common, tractable framework tying them together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294261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Four contributions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90575" y="1857375"/>
              <a:ext cx="323850" cy="32385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165" y="19307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630" y="1914525"/>
              <a:ext cx="1983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General framework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532" y="2258616"/>
              <a:ext cx="303464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Represent subtractive mixtures by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532" y="2496741"/>
              <a:ext cx="242054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squaring, in the language of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532" y="2734866"/>
              <a:ext cx="281733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tensorized probabilistic circuits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532" y="2972991"/>
              <a:ext cx="82222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(NPC²s).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29350" y="1619250"/>
            <a:ext cx="5391150" cy="2362200"/>
            <a:chOff x="6229350" y="1619250"/>
            <a:chExt cx="5391150" cy="2362200"/>
          </a:xfrm>
        </p:grpSpPr>
        <p:sp>
          <p:nvSpPr>
            <p:cNvPr id="16" name="Rectangle 16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448425" y="1857375"/>
              <a:ext cx="323850" cy="323850"/>
            </a:xfrm>
            <a:prstGeom prst="ellipse">
              <a:avLst/>
            </a:prstGeom>
            <a:solidFill>
              <a:srgbClr val="A78BFA">
                <a:alpha val="16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51015" y="19307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88480" y="1914525"/>
              <a:ext cx="1548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unifying view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9382" y="2258616"/>
              <a:ext cx="274368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Squared non-monotonic circuits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9382" y="2496741"/>
              <a:ext cx="279088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generalize √-of-density models,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9382" y="2734866"/>
              <a:ext cx="274760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PSD kernel models, and quantum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382" y="2972991"/>
              <a:ext cx="132449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Born machines.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90575" y="4410075"/>
              <a:ext cx="323850" cy="323850"/>
            </a:xfrm>
            <a:prstGeom prst="ellipse">
              <a:avLst/>
            </a:prstGeom>
            <a:solidFill>
              <a:schemeClr val="accent6">
                <a:alpha val="16000"/>
              </a:scheme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3165" y="44834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30630" y="4467225"/>
              <a:ext cx="23750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Exponential separation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532" y="4811316"/>
              <a:ext cx="297280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function a single squared circuit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532" y="5049441"/>
              <a:ext cx="214719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encodes compactly needs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532" y="5287566"/>
              <a:ext cx="265861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exponentially more units in any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532" y="5525691"/>
              <a:ext cx="161814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monotonic circuit.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36" name="Rectangle 36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448425" y="4410075"/>
              <a:ext cx="323850" cy="32385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1015" y="44834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8480" y="4467225"/>
              <a:ext cx="2544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Broad empirical evidence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9382" y="4811316"/>
              <a:ext cx="300833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Validated on continuous, discrete,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382" y="5049441"/>
              <a:ext cx="227918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UCI multivariate data, and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9382" y="5287566"/>
              <a:ext cx="241172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language-model distillation.</a:t>
              </a:r>
            </a:p>
          </p:txBody>
        </p:sp>
      </p:grpSp>
      <p:sp>
        <p:nvSpPr>
          <p:cNvPr id="45" name="cue_s04_c1_work_makes_four_contributions_first" title="cue_s04_c1_work_makes_four_contributions_first" descr="cue_s04_c1_work_makes_four_contributions_first This work makes four contributions. First, a general framework for representing subtractive mixtures by squaring, expressed in the language of tensorized probabilistic circuits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4_c2_second_shows_these_squared_non_monot" title="cue_s04_c2_second_shows_these_squared_non_monot" descr="cue_s04_c2_second_shows_these_squared_non_monot Second, it shows these squared non-monotonic circuits generalize several apparently different models with negative parameters, including square-root-of-density models, positive semi-definite kernel models, and Born machines from quantum physics."/>
          <p:cNvSpPr/>
          <p:nvPr/>
        </p:nvSpPr>
        <p:spPr>
          <a:xfrm>
            <a:off x="6228892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4_c3_third_proves_exponential_lower_bound" title="cue_s04_c3_third_proves_exponential_lower_bound" descr="cue_s04_c3_third_proves_exponential_lower_bound Third, it proves an exponential lower bound: functions a single squared circuit encodes compactly need exponentially more units in any monotonic circuit.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4_c4_fourth_backs_experiments_real_world" title="cue_s04_c4_fourth_backs_experiments_real_world" descr="cue_s04_c4_fourth_backs_experiments_real_world And fourth, it backs this with experiments on real-world data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84304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Square a signed mixture — then go deep, layer by layer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876425"/>
              <a:ext cx="2481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Square a signed mixture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914" y="2228612"/>
              <a:ext cx="251339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Unconstrained real weights let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914" y="2447687"/>
              <a:ext cx="277524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components be negative; squaring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914" y="2666762"/>
              <a:ext cx="292548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forces the output non-negative for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914" y="2885837"/>
              <a:ext cx="106422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any weights.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390900"/>
              <a:ext cx="485775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123" y="3519964"/>
              <a:ext cx="2896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c²(x) = (Σ wᵢ cᵢ(x))² ≥ 0 , wᵢ ∈ 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29350" y="1619250"/>
            <a:ext cx="5391150" cy="2362200"/>
            <a:chOff x="6229350" y="1619250"/>
            <a:chExt cx="5391150" cy="2362200"/>
          </a:xfrm>
        </p:grpSpPr>
        <p:sp>
          <p:nvSpPr>
            <p:cNvPr id="16" name="Rectangle 16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88430" y="1876425"/>
              <a:ext cx="1898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Expand the square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9764" y="2228612"/>
              <a:ext cx="276212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K-component mixture becomes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9764" y="2447687"/>
              <a:ext cx="265839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sum over all pairs — a product of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9764" y="2666762"/>
              <a:ext cx="273085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experts whose normalizer Z has 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9764" y="2885837"/>
              <a:ext cx="253319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 form for many families.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96050" y="3390900"/>
              <a:ext cx="485775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41973" y="3519964"/>
              <a:ext cx="2383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Σᵢ Σⱼ wᵢ wⱼ cᵢ(x) cⱼ(x) / Z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580" y="4429125"/>
              <a:ext cx="2789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deep: square each layer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914" y="4781312"/>
              <a:ext cx="270556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Recursively square a tensorized,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914" y="5000387"/>
              <a:ext cx="272516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structured-decomposable circuit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914" y="5219462"/>
              <a:ext cx="122280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layer by layer.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" y="5924550"/>
              <a:ext cx="990600" cy="419100"/>
            </a:xfrm>
            <a:prstGeom prst="roundRect">
              <a:avLst>
                <a:gd name="adj" fmla="val 20455"/>
              </a:avLst>
            </a:prstGeom>
            <a:solidFill>
              <a:schemeClr val="accent5"/>
            </a:solidFill>
            <a:ln w="1333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99793" y="607790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input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885950" y="61341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6B7D99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2047875" y="609600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D9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14550" y="5924550"/>
              <a:ext cx="990600" cy="419100"/>
            </a:xfrm>
            <a:prstGeom prst="roundRect">
              <a:avLst>
                <a:gd name="adj" fmla="val 20455"/>
              </a:avLst>
            </a:prstGeom>
            <a:solidFill>
              <a:schemeClr val="accent5"/>
            </a:solidFill>
            <a:ln w="1333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78178" y="607790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⊗ prod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105150" y="61341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6B7D99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3267075" y="609600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D9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333750" y="5924550"/>
              <a:ext cx="990600" cy="419100"/>
            </a:xfrm>
            <a:prstGeom prst="roundRect">
              <a:avLst>
                <a:gd name="adj" fmla="val 20455"/>
              </a:avLst>
            </a:prstGeom>
            <a:solidFill>
              <a:schemeClr val="accent5"/>
            </a:solidFill>
            <a:ln w="1333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20516" y="6077902"/>
              <a:ext cx="417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Σ sum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324350" y="61341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6B7D99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4486275" y="6096000"/>
              <a:ext cx="66675" cy="76200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66675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D9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52950" y="5924550"/>
              <a:ext cx="990600" cy="419100"/>
            </a:xfrm>
            <a:prstGeom prst="roundRect">
              <a:avLst>
                <a:gd name="adj" fmla="val 20455"/>
              </a:avLst>
            </a:prstGeom>
            <a:solidFill>
              <a:schemeClr val="accent5"/>
            </a:solidFill>
            <a:ln w="13335">
              <a:solidFill>
                <a:srgbClr val="A78BF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35130" y="6077902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( · )²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47" name="Rectangle 47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8430" y="4429125"/>
              <a:ext cx="1505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Still tractable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9764" y="4781312"/>
              <a:ext cx="298933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Each squared layer holds a quadratic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89764" y="5000387"/>
              <a:ext cx="284201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number of units but still outputs 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9764" y="5219462"/>
              <a:ext cx="273351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vector — so the model trains with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9764" y="5438537"/>
              <a:ext cx="292280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gradient descent, computing Z once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9764" y="5657612"/>
              <a:ext cx="88894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 batch.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90526" y="6169104"/>
              <a:ext cx="271455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K units → O(K²) units , vector output</a:t>
              </a:r>
            </a:p>
          </p:txBody>
        </p:sp>
      </p:grpSp>
      <p:sp>
        <p:nvSpPr>
          <p:cNvPr id="57" name="cue_s05_c1_core_idea_take_mixture_unconstrained" title="cue_s05_c1_core_idea_take_mixture_unconstrained" descr="cue_s05_c1_core_idea_take_mixture_unconstrained Here is the core idea. Take a mixture with unconstrained real weights, so components can have negative coefficients, and simply square the whole thing. Squaring forces the output to be non-negative no matter what the weights are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5_c2_expanding_square_turns_k_component_m" title="cue_s05_c2_expanding_square_turns_k_component_m" descr="cue_s05_c2_expanding_square_turns_k_component_m Expanding the square turns a K-component mixture into a sum over all pairs of components, a product-of-experts form whose partition function can still be computed in closed form for many families."/>
          <p:cNvSpPr/>
          <p:nvPr/>
        </p:nvSpPr>
        <p:spPr>
          <a:xfrm>
            <a:off x="6228892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e_s05_c3_deep_authors_square_tensorized_struc" title="cue_s05_c3_deep_authors_square_tensorized_struc" descr="cue_s05_c3_deep_authors_square_tensorized_struc To go deep, the authors square a tensorized structured-decomposable circuit layer by layer.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5_c4_squared_layer_holds_quadratic_number" title="cue_s05_c4_squared_layer_holds_quadratic_number" descr="cue_s05_c4_squared_layer_holds_quadratic_number Each squared layer holds a quadratic number of units but still outputs a vector, so the whole model trains efficiently with gradient descent, computing the normalizer just once per batch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50424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Three regimes, strong baselines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914525"/>
              <a:ext cx="259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evaluation regimes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258616"/>
              <a:ext cx="274980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Synthetic 2D densities, real UCI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532" y="2496741"/>
              <a:ext cx="196202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multivariate data, and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532" y="2734866"/>
              <a:ext cx="294078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language-model distillation — from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532" y="2972991"/>
              <a:ext cx="3055410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visible to the high-dimensional.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29350" y="1619250"/>
            <a:ext cx="5391150" cy="2371439"/>
            <a:chOff x="6229350" y="1619250"/>
            <a:chExt cx="5391150" cy="2371439"/>
          </a:xfrm>
        </p:grpSpPr>
        <p:sp>
          <p:nvSpPr>
            <p:cNvPr id="14" name="Rectangle 14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8430" y="1876425"/>
              <a:ext cx="250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2D synthetic densities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89764" y="2228612"/>
              <a:ext cx="271434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Continuous &amp; discrete — rings and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9764" y="2447687"/>
              <a:ext cx="260831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other holey shapes you can see.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72300" y="2933700"/>
              <a:ext cx="800100" cy="800100"/>
            </a:xfrm>
            <a:prstGeom prst="ellipse">
              <a:avLst/>
            </a:prstGeom>
            <a:solidFill>
              <a:srgbClr val="A78BFA">
                <a:alpha val="13000"/>
              </a:srgbClr>
            </a:solidFill>
            <a:ln w="13335">
              <a:solidFill>
                <a:srgbClr val="A78BF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181850" y="3143250"/>
              <a:ext cx="381000" cy="381000"/>
            </a:xfrm>
            <a:prstGeom prst="ellipse">
              <a:avLst/>
            </a:prstGeom>
            <a:solidFill>
              <a:schemeClr val="lt2"/>
            </a:solidFill>
            <a:ln w="11430">
              <a:solidFill>
                <a:srgbClr val="A78BF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686800" y="2933700"/>
              <a:ext cx="800100" cy="800100"/>
            </a:xfrm>
            <a:prstGeom prst="ellipse">
              <a:avLst/>
            </a:prstGeom>
            <a:solidFill>
              <a:srgbClr val="A78BFA">
                <a:alpha val="13000"/>
              </a:srgbClr>
            </a:solidFill>
            <a:ln w="13335">
              <a:solidFill>
                <a:srgbClr val="A78B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896350" y="3143250"/>
              <a:ext cx="381000" cy="381000"/>
            </a:xfrm>
            <a:prstGeom prst="ellipse">
              <a:avLst/>
            </a:prstGeom>
            <a:solidFill>
              <a:schemeClr val="lt2"/>
            </a:solidFill>
            <a:ln w="11430">
              <a:solidFill>
                <a:srgbClr val="A78B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401300" y="2933700"/>
              <a:ext cx="800100" cy="800100"/>
            </a:xfrm>
            <a:prstGeom prst="ellipse">
              <a:avLst/>
            </a:prstGeom>
            <a:solidFill>
              <a:srgbClr val="A78BFA">
                <a:alpha val="13000"/>
              </a:srgbClr>
            </a:solidFill>
            <a:ln w="13335">
              <a:solidFill>
                <a:srgbClr val="A78B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0610850" y="3143250"/>
              <a:ext cx="381000" cy="381000"/>
            </a:xfrm>
            <a:prstGeom prst="ellipse">
              <a:avLst/>
            </a:prstGeom>
            <a:solidFill>
              <a:schemeClr val="lt2"/>
            </a:solidFill>
            <a:ln w="11430">
              <a:solidFill>
                <a:srgbClr val="A78BF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82681" y="3799999"/>
              <a:ext cx="1408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ring densities (holes)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7" name="Rectangle 27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4429125"/>
              <a:ext cx="19953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Five UCI datasets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" y="4933950"/>
              <a:ext cx="156210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77380" y="5107781"/>
              <a:ext cx="483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Power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514600" y="4933950"/>
              <a:ext cx="156210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56862" y="5107781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91000" y="4933950"/>
              <a:ext cx="156210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43159" y="5107781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Hepmass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8200" y="5562600"/>
              <a:ext cx="156210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36197" y="5736431"/>
              <a:ext cx="766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MiniBooNE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514600" y="5562600"/>
              <a:ext cx="1562100" cy="4953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67932" y="5736431"/>
              <a:ext cx="65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BSDS300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41" name="Rectangle 41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88430" y="4429125"/>
              <a:ext cx="3068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GPT2 distillation + baselines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9764" y="4781312"/>
              <a:ext cx="303113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Approximate sentences sampled from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764" y="5000387"/>
              <a:ext cx="138170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GPT2. Baselines: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96050" y="5448300"/>
              <a:ext cx="746760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8790" y="5543074"/>
              <a:ext cx="561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Gaussian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38060" y="5448300"/>
              <a:ext cx="667703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1808" y="5543074"/>
              <a:ext cx="500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RealNVP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01012" y="5448300"/>
              <a:ext cx="430530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44050" y="5543074"/>
              <a:ext cx="3444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MADE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26792" y="5448300"/>
              <a:ext cx="351473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68635" y="5543074"/>
              <a:ext cx="267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MAF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73515" y="5448300"/>
              <a:ext cx="351473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29297" y="5543074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NSF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20238" y="5448300"/>
              <a:ext cx="1062990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24792" y="5543074"/>
              <a:ext cx="8538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Monotonic PC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678478" y="5448300"/>
              <a:ext cx="430530" cy="304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735455" y="5543074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TTDE</a:t>
              </a:r>
            </a:p>
          </p:txBody>
        </p:sp>
      </p:grpSp>
      <p:sp>
        <p:nvSpPr>
          <p:cNvPr id="61" name="cue_s06_c1_experiments_cover_three_regimes" title="cue_s06_c1_experiments_cover_three_regimes" descr="cue_s06_c1_experiments_cover_three_regimes The experiments cover three regimes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ue_s06_c2_first_two_dimensional_synthetic_dens" title="cue_s06_c2_first_two_dimensional_synthetic_dens" descr="cue_s06_c2_first_two_dimensional_synthetic_dens First, two-dimensional synthetic densities, both continuous and discrete, where you can literally see how well each model captures rings and other holey shapes."/>
          <p:cNvSpPr/>
          <p:nvPr/>
        </p:nvSpPr>
        <p:spPr>
          <a:xfrm>
            <a:off x="6228892" y="1619173"/>
            <a:ext cx="5391302" cy="237149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ue_s06_c3_second_five_standard_uci_datasets" title="cue_s06_c3_second_five_standard_uci_datasets" descr="cue_s06_c3_second_five_standard_uci_datasets Second, five standard UCI datasets: Power, Gas, Hepmass, MiniBooNE, and BSDS300. And third, distilling sentences sampled from the GPT2 language model.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ue_s06_c4_baselines_span_full_covariance_gauss" title="cue_s06_c4_baselines_span_full_covariance_gauss" descr="cue_s06_c4_baselines_span_full_covariance_gauss Baselines span full-covariance Gaussians, normalizing flows like RealNVP, MADE, MAF and NSF, monotonic probabilistic circuits, and tensor-train density estimators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86205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Same size, higher likelihood — negatives carve the holes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619250"/>
            <a:ext cx="3552825" cy="4762500"/>
            <a:chOff x="571500" y="1619250"/>
            <a:chExt cx="3552825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3552825" cy="4762500"/>
            </a:xfrm>
            <a:prstGeom prst="roundRect">
              <a:avLst>
                <a:gd name="adj" fmla="val 4290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4762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2861" y="1865471"/>
              <a:ext cx="15456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NPC² beats MPC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4766" y="213455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 parity of model size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2533650"/>
              <a:ext cx="2667000" cy="28575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253365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2857500"/>
                  </a:moveTo>
                  <a:lnTo>
                    <a:pt x="2667000" y="0"/>
                  </a:lnTo>
                </a:path>
              </a:pathLst>
            </a:custGeom>
            <a:noFill/>
            <a:ln w="15240">
              <a:solidFill>
                <a:srgbClr val="6B7D99"/>
              </a:solidFill>
              <a:custDash>
                <a:ds d="312500" sp="25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92818" y="5225891"/>
              <a:ext cx="3885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MPC 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238" y="2596991"/>
              <a:ext cx="4294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NPC² LL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809750" y="3762375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129790" y="3333750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476500" y="3105150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769870" y="2876550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343150" y="3505200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983230" y="2762250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023110" y="3619500"/>
              <a:ext cx="114300" cy="1143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338" y="6051947"/>
              <a:ext cx="206017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points above diagonal → NPC² wins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14825" y="1619250"/>
            <a:ext cx="3552825" cy="4762500"/>
            <a:chOff x="4314825" y="1619250"/>
            <a:chExt cx="3552825" cy="4762500"/>
          </a:xfrm>
        </p:grpSpPr>
        <p:sp>
          <p:nvSpPr>
            <p:cNvPr id="23" name="Rectangle 23"/>
            <p:cNvSpPr/>
            <p:nvPr/>
          </p:nvSpPr>
          <p:spPr>
            <a:xfrm>
              <a:off x="4314825" y="1619250"/>
              <a:ext cx="3552825" cy="4762500"/>
            </a:xfrm>
            <a:prstGeom prst="roundRect">
              <a:avLst>
                <a:gd name="adj" fmla="val 4290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14825" y="1619250"/>
              <a:ext cx="47625" cy="476250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36186" y="1865471"/>
              <a:ext cx="8046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2D rings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38091" y="2134552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negatives carve the hole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25322" y="2542699"/>
              <a:ext cx="1331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MPC² (no negatives)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76888" y="2819400"/>
              <a:ext cx="1028700" cy="1028700"/>
            </a:xfrm>
            <a:prstGeom prst="ellipse">
              <a:avLst/>
            </a:prstGeom>
            <a:solidFill>
              <a:schemeClr val="accent3">
                <a:alpha val="18000"/>
              </a:schemeClr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843588" y="3086100"/>
              <a:ext cx="495300" cy="495300"/>
            </a:xfrm>
            <a:prstGeom prst="ellipse">
              <a:avLst/>
            </a:prstGeom>
            <a:solidFill>
              <a:schemeClr val="accent3">
                <a:alpha val="14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26030" y="3903345"/>
              <a:ext cx="7304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hole filled in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31037" y="4371499"/>
              <a:ext cx="1120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NPC² (negatives)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76888" y="4648200"/>
              <a:ext cx="1028700" cy="10287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5240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843588" y="4914900"/>
              <a:ext cx="495300" cy="495300"/>
            </a:xfrm>
            <a:prstGeom prst="ellipse">
              <a:avLst/>
            </a:prstGeom>
            <a:solidFill>
              <a:schemeClr val="lt2"/>
            </a:solidFill>
            <a:ln w="13335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80999" y="6051947"/>
              <a:ext cx="142047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clean ring: hole carved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58150" y="1619250"/>
            <a:ext cx="3552825" cy="4762500"/>
            <a:chOff x="8058150" y="1619250"/>
            <a:chExt cx="3552825" cy="4762500"/>
          </a:xfrm>
        </p:grpSpPr>
        <p:sp>
          <p:nvSpPr>
            <p:cNvPr id="36" name="Rectangle 36"/>
            <p:cNvSpPr/>
            <p:nvPr/>
          </p:nvSpPr>
          <p:spPr>
            <a:xfrm>
              <a:off x="8058150" y="1619250"/>
              <a:ext cx="3552825" cy="4762500"/>
            </a:xfrm>
            <a:prstGeom prst="roundRect">
              <a:avLst>
                <a:gd name="adj" fmla="val 4290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58150" y="1619250"/>
              <a:ext cx="47625" cy="4762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9511" y="1865471"/>
              <a:ext cx="16079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GPT2 distillation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416" y="2134552"/>
              <a:ext cx="1753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scaling toward GPT2's LL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53450" y="2571750"/>
              <a:ext cx="2724150" cy="2762250"/>
            </a:xfrm>
            <a:prstGeom prst="roundRect">
              <a:avLst>
                <a:gd name="adj" fmla="val 349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553450" y="295275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15240">
              <a:solidFill>
                <a:schemeClr val="accent6"/>
              </a:solidFill>
              <a:custDash>
                <a:ds d="375000" sp="250000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75608" y="2798445"/>
              <a:ext cx="649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GPT2 ≈ −52</a:t>
              </a:r>
            </a:p>
          </p:txBody>
        </p:sp>
        <p:sp>
          <p:nvSpPr>
            <p:cNvPr id="43" name="Polyline 43"/>
            <p:cNvSpPr/>
            <p:nvPr/>
          </p:nvSpPr>
          <p:spPr>
            <a:xfrm>
              <a:off x="8648700" y="3086100"/>
              <a:ext cx="2552700" cy="1962150"/>
            </a:xfrm>
            <a:custGeom>
              <a:avLst/>
              <a:gdLst/>
              <a:ahLst/>
              <a:cxnLst/>
              <a:rect l="l" t="t" r="r" b="b"/>
              <a:pathLst>
                <a:path w="2552700" h="1962150">
                  <a:moveTo>
                    <a:pt x="0" y="1962150"/>
                  </a:moveTo>
                  <a:lnTo>
                    <a:pt x="666750" y="1390650"/>
                  </a:lnTo>
                  <a:lnTo>
                    <a:pt x="1428750" y="819150"/>
                  </a:lnTo>
                  <a:lnTo>
                    <a:pt x="2095500" y="438150"/>
                  </a:lnTo>
                  <a:lnTo>
                    <a:pt x="25527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4" name="Ellipse 44"/>
            <p:cNvSpPr/>
            <p:nvPr/>
          </p:nvSpPr>
          <p:spPr>
            <a:xfrm>
              <a:off x="11153775" y="30384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19947" y="484774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NPC²</a:t>
              </a:r>
            </a:p>
          </p:txBody>
        </p:sp>
        <p:sp>
          <p:nvSpPr>
            <p:cNvPr id="46" name="Polyline 46"/>
            <p:cNvSpPr/>
            <p:nvPr/>
          </p:nvSpPr>
          <p:spPr>
            <a:xfrm>
              <a:off x="8648700" y="4514850"/>
              <a:ext cx="2552700" cy="590550"/>
            </a:xfrm>
            <a:custGeom>
              <a:avLst/>
              <a:gdLst/>
              <a:ahLst/>
              <a:cxnLst/>
              <a:rect l="l" t="t" r="r" b="b"/>
              <a:pathLst>
                <a:path w="2552700" h="590550">
                  <a:moveTo>
                    <a:pt x="0" y="590550"/>
                  </a:moveTo>
                  <a:lnTo>
                    <a:pt x="762000" y="247650"/>
                  </a:lnTo>
                  <a:lnTo>
                    <a:pt x="1619250" y="76200"/>
                  </a:lnTo>
                  <a:lnTo>
                    <a:pt x="2381250" y="19050"/>
                  </a:lnTo>
                  <a:lnTo>
                    <a:pt x="2552700" y="0"/>
                  </a:lnTo>
                </a:path>
              </a:pathLst>
            </a:custGeom>
            <a:noFill/>
            <a:ln w="24765" cap="rnd">
              <a:solidFill>
                <a:schemeClr val="accent3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887572" y="4314349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MPC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24888" y="5446395"/>
              <a:ext cx="5896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larger K →</a:t>
              </a:r>
            </a:p>
          </p:txBody>
        </p:sp>
      </p:grpSp>
      <p:sp>
        <p:nvSpPr>
          <p:cNvPr id="50" name="cue_s07_c1_headline_finding_consistent_same_siz" title="cue_s07_c1_headline_finding_consistent_same_siz" descr="cue_s07_c1_headline_finding_consistent_same_siz The headline finding is consistent: at the same model size, squared non-monotonic circuits reach higher log-likelihoods than monotonic circuits across the density-estimation tasks."/>
          <p:cNvSpPr/>
          <p:nvPr/>
        </p:nvSpPr>
        <p:spPr>
          <a:xfrm>
            <a:off x="571804" y="1619173"/>
            <a:ext cx="3552748" cy="4762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7_c2_two_dimensional_ring_distributions_p" title="cue_s07_c2_two_dimensional_ring_distributions_p" descr="cue_s07_c2_two_dimensional_ring_distributions_p On the two-dimensional ring distributions, plain squaring already helps, but it is the negative parameters that let the model actually carve out the holes in the density."/>
          <p:cNvSpPr/>
          <p:nvPr/>
        </p:nvSpPr>
        <p:spPr>
          <a:xfrm>
            <a:off x="4314748" y="1619173"/>
            <a:ext cx="3552748" cy="4762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7_c3_gpt2_distillation_task_squared_circu" title="cue_s07_c3_gpt2_distillation_task_squared_circu" descr="cue_s07_c3_gpt2_distillation_task_squared_circu And on the GPT2 distillation task, the squared circuits scale better and get closer to GPT2's own likelihood, approximating the intractable model more faithfully than monotonic circuits do."/>
          <p:cNvSpPr/>
          <p:nvPr/>
        </p:nvSpPr>
        <p:spPr>
          <a:xfrm>
            <a:off x="8057692" y="1619173"/>
            <a:ext cx="3552748" cy="4762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A78BFA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445323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Isolating what actually helps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914525"/>
              <a:ext cx="30856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Subtraction vs squaring alone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258616"/>
              <a:ext cx="306998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Compare against squared monotonic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532" y="2496741"/>
              <a:ext cx="334886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circuits (MPC²): they square but keep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532" y="2734866"/>
              <a:ext cx="284378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all parameters non-negative — so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532" y="2972991"/>
              <a:ext cx="249990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only subtraction is removed.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29350" y="1619250"/>
            <a:ext cx="5391150" cy="2362200"/>
            <a:chOff x="6229350" y="1619250"/>
            <a:chExt cx="5391150" cy="2362200"/>
          </a:xfrm>
        </p:grpSpPr>
        <p:sp>
          <p:nvSpPr>
            <p:cNvPr id="14" name="Rectangle 14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8430" y="1876425"/>
              <a:ext cx="2778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Negatives do the real work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0335" y="2183606"/>
              <a:ext cx="1876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NPC² still wins over MPC²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743700" y="3619500"/>
              <a:ext cx="4438650" cy="9525"/>
            </a:xfrm>
            <a:custGeom>
              <a:avLst/>
              <a:gdLst/>
              <a:ahLst/>
              <a:cxnLst/>
              <a:rect l="l" t="t" r="r" b="b"/>
              <a:pathLst>
                <a:path w="4438650" h="9525">
                  <a:moveTo>
                    <a:pt x="0" y="0"/>
                  </a:moveTo>
                  <a:lnTo>
                    <a:pt x="4438650" y="0"/>
                  </a:lnTo>
                </a:path>
              </a:pathLst>
            </a:custGeom>
            <a:noFill/>
            <a:ln w="1333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96100" y="2952750"/>
              <a:ext cx="857250" cy="666750"/>
            </a:xfrm>
            <a:prstGeom prst="roundRect">
              <a:avLst>
                <a:gd name="adj" fmla="val 8571"/>
              </a:avLst>
            </a:prstGeom>
            <a:solidFill>
              <a:schemeClr val="accent3">
                <a:alpha val="85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52498" y="2771299"/>
              <a:ext cx="3444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MPC²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32257" y="3712845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squaring only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86850" y="2495550"/>
              <a:ext cx="857250" cy="1123950"/>
            </a:xfrm>
            <a:prstGeom prst="roundRect">
              <a:avLst>
                <a:gd name="adj" fmla="val 6667"/>
              </a:avLst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57187" y="2314099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NPC²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74499" y="37128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+ negatives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30805" y="2398395"/>
              <a:ext cx="5563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higher LL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7" name="Rectangle 27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4467225"/>
              <a:ext cx="2556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Structure &amp; input layers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532" y="4811316"/>
              <a:ext cx="310513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Binary-tree region graphs generally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532" y="5049441"/>
              <a:ext cx="301132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beat linear-tree ones; splines help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532" y="5287566"/>
              <a:ext cx="321412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most on continuous data, embeddings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532" y="5525691"/>
              <a:ext cx="152996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discrete data.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35" name="Rectangle 35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88430" y="4467225"/>
              <a:ext cx="2397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Where the gap narrows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9382" y="4811316"/>
              <a:ext cx="319409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some discrete image-mass tasks,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9382" y="5049441"/>
              <a:ext cx="323176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where inputs are already expressive,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9382" y="5287566"/>
              <a:ext cx="255280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advantage of subtraction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9382" y="5525691"/>
              <a:ext cx="82455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narrows.</a:t>
              </a:r>
            </a:p>
          </p:txBody>
        </p:sp>
      </p:grpSp>
      <p:sp>
        <p:nvSpPr>
          <p:cNvPr id="43" name="cue_s08_c1_confirm_gains_come_subtraction_not" title="cue_s08_c1_confirm_gains_come_subtraction_not" descr="cue_s08_c1_confirm_gains_come_subtraction_not To confirm the gains come from subtraction and not just squaring, the authors compare against squared monotonic circuits, which square but keep all parameters non-negative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8_c2_squared_non_monotonic_circuits_still" title="cue_s08_c2_squared_non_monotonic_circuits_still" descr="cue_s08_c2_squared_non_monotonic_circuits_still The squared non-monotonic circuits still win, so the negative parameters are doing the real work."/>
          <p:cNvSpPr/>
          <p:nvPr/>
        </p:nvSpPr>
        <p:spPr>
          <a:xfrm>
            <a:off x="6228892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8_c3_two_other_patterns_emerge_binary_tre" title="cue_s08_c3_two_other_patterns_emerge_binary_tre" descr="cue_s08_c3_two_other_patterns_emerge_binary_tre Two other patterns emerge: binary-tree region graphs generally beat linear-tree ones, and the input layer matters, with splines helping most on continuous data and embeddings on discrete data.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8_c4_some_discrete_image_mass_tasks_advan" title="cue_s08_c4_some_discrete_image_mass_tasks_advan" descr="cue_s08_c4_some_discrete_image_mass_tasks_advan On some discrete image-mass tasks the advantage narrows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518632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The compactness gap, in numbers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619250"/>
            <a:ext cx="5391150" cy="2362200"/>
            <a:chOff x="571500" y="1619250"/>
            <a:chExt cx="5391150" cy="23622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895475"/>
              <a:ext cx="3097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few numbers make the point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914" y="2285762"/>
              <a:ext cx="339014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 levers of the result: a combinatorial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914" y="2523887"/>
              <a:ext cx="283367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blow-up in expressiveness at fixed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914" y="2762012"/>
              <a:ext cx="286705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 cost, and best-in-class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914" y="3000137"/>
              <a:ext cx="333445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test likelihoods among tractable models.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29350" y="1619250"/>
            <a:ext cx="5391150" cy="2362200"/>
            <a:chOff x="6229350" y="1619250"/>
            <a:chExt cx="5391150" cy="2362200"/>
          </a:xfrm>
        </p:grpSpPr>
        <p:sp>
          <p:nvSpPr>
            <p:cNvPr id="14" name="Rectangle 14"/>
            <p:cNvSpPr/>
            <p:nvPr/>
          </p:nvSpPr>
          <p:spPr>
            <a:xfrm>
              <a:off x="6229350" y="16192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29350" y="16192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8430" y="1895475"/>
              <a:ext cx="2863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Compactness from squaring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7000" y="2325052"/>
              <a:ext cx="37078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8030" y="2600325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components 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8562" y="2373630"/>
              <a:ext cx="167646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~ K²⁄2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9954" y="3013710"/>
              <a:ext cx="3167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pairwise components reusing the same 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9954" y="324231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parameters — an exponential gap over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9954" y="3470910"/>
              <a:ext cx="1571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monotonic circuits.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171950"/>
            <a:ext cx="5391150" cy="2362200"/>
            <a:chOff x="571500" y="4171950"/>
            <a:chExt cx="5391150" cy="2362200"/>
          </a:xfrm>
        </p:grpSpPr>
        <p:sp>
          <p:nvSpPr>
            <p:cNvPr id="24" name="Rectangle 24"/>
            <p:cNvSpPr/>
            <p:nvPr/>
          </p:nvSpPr>
          <p:spPr>
            <a:xfrm>
              <a:off x="57150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961" y="4437221"/>
              <a:ext cx="35437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test log-likelihood (tractable)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" y="4914900"/>
              <a:ext cx="1143000" cy="11430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07951" y="5095399"/>
              <a:ext cx="403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Power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0681" y="54635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0.62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95500" y="4914900"/>
              <a:ext cx="1143000" cy="11430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51153" y="5095399"/>
              <a:ext cx="231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08012" y="546354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10.98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52800" y="4914900"/>
              <a:ext cx="1143000" cy="11430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50033" y="5095399"/>
              <a:ext cx="548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Hepmass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95344" y="54635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−20.41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10100" y="4914900"/>
              <a:ext cx="1143000" cy="11430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62199" y="5095399"/>
              <a:ext cx="638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MiniBooNE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52644" y="54635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−26.68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247" y="6238399"/>
              <a:ext cx="3580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D99"/>
                  </a:solidFill>
                  <a:latin typeface="+mn-lt"/>
                  <a:ea typeface="+mn-ea"/>
                  <a:cs typeface="+mn-cs"/>
                </a:rPr>
                <a:t>NPC² — best among tractable models on several UCI sets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29350" y="4171950"/>
            <a:ext cx="5391150" cy="2362200"/>
            <a:chOff x="6229350" y="4171950"/>
            <a:chExt cx="5391150" cy="2362200"/>
          </a:xfrm>
        </p:grpSpPr>
        <p:sp>
          <p:nvSpPr>
            <p:cNvPr id="41" name="Rectangle 41"/>
            <p:cNvSpPr/>
            <p:nvPr/>
          </p:nvSpPr>
          <p:spPr>
            <a:xfrm>
              <a:off x="6229350" y="4171950"/>
              <a:ext cx="539115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29350" y="4171950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88430" y="4429125"/>
              <a:ext cx="2305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GPT2-sampled data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9764" y="4781312"/>
              <a:ext cx="256363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NPC² climbs toward GPT2's own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764" y="5009912"/>
              <a:ext cx="316965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likelihood while monotonic PCs plateau.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553200" y="56007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  <a:custDash>
                <a:ds d="400000" sp="266667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08958" y="5446395"/>
              <a:ext cx="649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GPT2 ≈ −52</a:t>
              </a:r>
            </a:p>
          </p:txBody>
        </p:sp>
        <p:sp>
          <p:nvSpPr>
            <p:cNvPr id="48" name="Polyline 48"/>
            <p:cNvSpPr/>
            <p:nvPr/>
          </p:nvSpPr>
          <p:spPr>
            <a:xfrm>
              <a:off x="6553200" y="5600700"/>
              <a:ext cx="4800600" cy="666750"/>
            </a:xfrm>
            <a:custGeom>
              <a:avLst/>
              <a:gdLst/>
              <a:ahLst/>
              <a:cxnLst/>
              <a:rect l="l" t="t" r="r" b="b"/>
              <a:pathLst>
                <a:path w="4800600" h="666750">
                  <a:moveTo>
                    <a:pt x="0" y="666750"/>
                  </a:moveTo>
                  <a:lnTo>
                    <a:pt x="1143000" y="381000"/>
                  </a:lnTo>
                  <a:lnTo>
                    <a:pt x="2381250" y="133350"/>
                  </a:lnTo>
                  <a:lnTo>
                    <a:pt x="3619500" y="0"/>
                  </a:lnTo>
                  <a:lnTo>
                    <a:pt x="4800600" y="7620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9" name="Polyline 49"/>
            <p:cNvSpPr/>
            <p:nvPr/>
          </p:nvSpPr>
          <p:spPr>
            <a:xfrm>
              <a:off x="6553200" y="5905500"/>
              <a:ext cx="4800600" cy="323850"/>
            </a:xfrm>
            <a:custGeom>
              <a:avLst/>
              <a:gdLst/>
              <a:ahLst/>
              <a:cxnLst/>
              <a:rect l="l" t="t" r="r" b="b"/>
              <a:pathLst>
                <a:path w="4800600" h="323850">
                  <a:moveTo>
                    <a:pt x="0" y="323850"/>
                  </a:moveTo>
                  <a:lnTo>
                    <a:pt x="1333500" y="95250"/>
                  </a:lnTo>
                  <a:lnTo>
                    <a:pt x="2857500" y="19050"/>
                  </a:lnTo>
                  <a:lnTo>
                    <a:pt x="4800600" y="0"/>
                  </a:lnTo>
                </a:path>
              </a:pathLst>
            </a:custGeom>
            <a:noFill/>
            <a:ln w="22860" cap="rnd">
              <a:solidFill>
                <a:schemeClr val="accent3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4638" y="573214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NPC²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0366" y="5884545"/>
              <a:ext cx="258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MPC</a:t>
              </a:r>
            </a:p>
          </p:txBody>
        </p:sp>
      </p:grpSp>
      <p:sp>
        <p:nvSpPr>
          <p:cNvPr id="53" name="cue_s09_c1_few_numbers_make_point" title="cue_s09_c1_few_numbers_make_point" descr="cue_s09_c1_few_numbers_make_point A few numbers make the point."/>
          <p:cNvSpPr/>
          <p:nvPr/>
        </p:nvSpPr>
        <p:spPr>
          <a:xfrm>
            <a:off x="571804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9_c2_squaring_mixture_components_encodes" title="cue_s09_c2_squaring_mixture_components_encodes" descr="cue_s09_c2_squaring_mixture_components_encodes Squaring a mixture with K components encodes on the order of K-squared-over-two pairwise components while reusing the same K parameters, which is where the compactness comes from, and the paper proves this gap over monotonic circuits is exponential."/>
          <p:cNvSpPr/>
          <p:nvPr/>
        </p:nvSpPr>
        <p:spPr>
          <a:xfrm>
            <a:off x="6228892" y="1619173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9_c3_empirically_squared_non_monotonic_ci" title="cue_s09_c3_empirically_squared_non_monotonic_ci" descr="cue_s09_c3_empirically_squared_non_monotonic_ci Empirically, the squared non-monotonic circuits post the best test log-likelihoods among tractable models on several UCI datasets, for example zero point six two on Power, about eleven on Gas, minus twenty point four on Hepmass, and minus twenty-six point seve"/>
          <p:cNvSpPr/>
          <p:nvPr/>
        </p:nvSpPr>
        <p:spPr>
          <a:xfrm>
            <a:off x="571804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9_c4_language_they_climb_toward_gpt2" title="cue_s09_c4_language_they_climb_toward_gpt2" descr="cue_s09_c4_language_they_climb_toward_gpt2 On the language data they climb toward GPT2's own likelihood of around minus fifty-two, while monotonic circuits flatten out."/>
          <p:cNvSpPr/>
          <p:nvPr/>
        </p:nvSpPr>
        <p:spPr>
          <a:xfrm>
            <a:off x="6228892" y="4171721"/>
            <a:ext cx="5391302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571500" y="495300"/>
            <a:ext cx="57150" cy="381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285" y="54530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0570" y="728662"/>
            <a:ext cx="71732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Squaring makes subtraction a first-class tool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71500" y="1428750"/>
            <a:ext cx="5391150" cy="571500"/>
            <a:chOff x="571500" y="1428750"/>
            <a:chExt cx="5391150" cy="5715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39115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 w="12382">
              <a:solidFill>
                <a:schemeClr val="accent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19150" y="1619250"/>
              <a:ext cx="190500" cy="1905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5761" y="1627346"/>
              <a:ext cx="2228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takeaway is simple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2266950"/>
            <a:ext cx="11049000" cy="1714500"/>
            <a:chOff x="571500" y="2266950"/>
            <a:chExt cx="110490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266950"/>
              <a:ext cx="11049000" cy="171450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266950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6206" y="2567940"/>
              <a:ext cx="49624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Valid, tractable, exponentially compact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111" y="3027521"/>
              <a:ext cx="82978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Squaring turns subtractive mixtures into valid, tractable probabilistic models that need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8111" y="3332321"/>
              <a:ext cx="85020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exponentially fewer components than additive mixtures to reach the same expressiveness.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191000"/>
            <a:ext cx="11049000" cy="1676400"/>
            <a:chOff x="571500" y="4191000"/>
            <a:chExt cx="11049000" cy="1676400"/>
          </a:xfrm>
        </p:grpSpPr>
        <p:sp>
          <p:nvSpPr>
            <p:cNvPr id="16" name="Rectangle 16"/>
            <p:cNvSpPr/>
            <p:nvPr/>
          </p:nvSpPr>
          <p:spPr>
            <a:xfrm>
              <a:off x="571500" y="4191000"/>
              <a:ext cx="11049000" cy="16764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419100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968" y="4489132"/>
              <a:ext cx="33605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A78BFA"/>
                  </a:solidFill>
                  <a:latin typeface="+mn-lt"/>
                  <a:ea typeface="+mn-ea"/>
                  <a:cs typeface="+mn-cs"/>
                </a:rPr>
                <a:t>One framework, many models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8492" y="4864418"/>
              <a:ext cx="6516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Unifies √-of-density models · PSD kernel models · quantum Born machines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5350" y="5238750"/>
              <a:ext cx="25527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12382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057275" y="53816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89685" y="5384006"/>
              <a:ext cx="1016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√-of-density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52850" y="5238750"/>
              <a:ext cx="25527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12382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914775" y="5381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47185" y="5384006"/>
              <a:ext cx="904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PSD kernels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10350" y="5238750"/>
              <a:ext cx="25527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12382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772275" y="53816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4685" y="5384006"/>
              <a:ext cx="1100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Born machines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chemeClr val="accent4">
                <a:alpha val="70000"/>
              </a:schemeClr>
            </a:solidFill>
          </a:ln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566738" y="6646545"/>
            <a:ext cx="23995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D99"/>
                </a:solidFill>
                <a:latin typeface="+mn-lt"/>
                <a:ea typeface="+mn-ea"/>
                <a:cs typeface="+mn-cs"/>
              </a:rPr>
              <a:t>Subtractive Mixture Models via Squaring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09858" y="66465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B7D99"/>
                </a:solidFill>
                <a:latin typeface="+mn-lt"/>
                <a:ea typeface="+mn-ea"/>
                <a:cs typeface="+mn-cs"/>
              </a:rPr>
              <a:t>10 / 10</a:t>
            </a:r>
          </a:p>
        </p:txBody>
      </p:sp>
      <p:sp>
        <p:nvSpPr>
          <p:cNvPr id="33" name="cue_s10_c1_takeaway_simple" title="cue_s10_c1_takeaway_simple" descr="cue_s10_c1_takeaway_simple The takeaway is simple."/>
          <p:cNvSpPr/>
          <p:nvPr/>
        </p:nvSpPr>
        <p:spPr>
          <a:xfrm>
            <a:off x="571804" y="1428521"/>
            <a:ext cx="5391302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10_c2_squaring_turns_subtractive_mixtures" title="cue_s10_c2_squaring_turns_subtractive_mixtures" descr="cue_s10_c2_squaring_turns_subtractive_mixtures Squaring turns subtractive mixtures into valid, tractable probabilistic models that need exponentially fewer components than additive mixtures for the same expressiveness."/>
          <p:cNvSpPr/>
          <p:nvPr/>
        </p:nvSpPr>
        <p:spPr>
          <a:xfrm>
            <a:off x="571804" y="2267254"/>
            <a:ext cx="11048390" cy="17145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10_c3_along_way_one_framework_unifies" title="cue_s10_c3_along_way_one_framework_unifies" descr="cue_s10_c3_along_way_one_framework_unifies Along the way, this one framework unifies square-root-of-density models, positive semi-definite kernel models, and quantum Born machines under a single property-driven view of circuits, making subtraction a practical, first-class tool for compact and expressiv"/>
          <p:cNvSpPr/>
          <p:nvPr/>
        </p:nvSpPr>
        <p:spPr>
          <a:xfrm>
            <a:off x="571804" y="4190923"/>
            <a:ext cx="1104839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F1F5FB"/>
      </a:dk1>
      <a:lt1>
        <a:srgbClr val="0E1729"/>
      </a:lt1>
      <a:dk2>
        <a:srgbClr val="9FB0C8"/>
      </a:dk2>
      <a:lt2>
        <a:srgbClr val="16223A"/>
      </a:lt2>
      <a:accent1>
        <a:srgbClr val="38BDF8"/>
      </a:accent1>
      <a:accent2>
        <a:srgbClr val="34D399"/>
      </a:accent2>
      <a:accent3>
        <a:srgbClr val="FB7185"/>
      </a:accent3>
      <a:accent4>
        <a:srgbClr val="2A3C5C"/>
      </a:accent4>
      <a:accent5>
        <a:srgbClr val="1B2B47"/>
      </a:accent5>
      <a:accent6>
        <a:srgbClr val="FBBF24"/>
      </a:accent6>
      <a:hlink>
        <a:srgbClr val="34D399"/>
      </a:hlink>
      <a:folHlink>
        <a:srgbClr val="FB7185"/>
      </a:folHlink>
    </a:clrScheme>
    <a:fontScheme name="Free Design">
      <a:majorFont>
        <a:latin typeface="Segoe UI Semibold"/>
        <a:ea typeface="Microsoft YaHei"/>
        <a:cs typeface="Segoe UI Semi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2026-07-15T18:53:10Z</dcterms:created>
  <dcterms:modified xsi:type="dcterms:W3CDTF">2026-07-15T18:53:10Z</dcterms:modified>
  <cp:category/>
  <cp:contentStatus/>
</cp:coreProperties>
</file>
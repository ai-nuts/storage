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64547"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ICLR 2024</a:t>
            </a:r>
          </a:p>
        </p:txBody>
      </p:sp>
      <p:sp>
        <p:nvSpPr>
          <p:cNvPr id="3" name="TextBox 3"/>
          <p:cNvSpPr txBox="1"/>
          <p:nvPr/>
        </p:nvSpPr>
        <p:spPr>
          <a:xfrm>
            <a:off x="7961697" y="572452"/>
            <a:ext cx="362603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Friedrich Miescher Institute · University of Basel</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4360" y="1181100"/>
            <a:ext cx="6980407"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Improving Equilibrium Propagation</a:t>
            </a:r>
          </a:p>
        </p:txBody>
      </p:sp>
      <p:sp>
        <p:nvSpPr>
          <p:cNvPr id="6" name="TextBox 6"/>
          <p:cNvSpPr txBox="1"/>
          <p:nvPr/>
        </p:nvSpPr>
        <p:spPr>
          <a:xfrm>
            <a:off x="594360" y="1638300"/>
            <a:ext cx="5338401"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without Weight Symmetry</a:t>
            </a:r>
          </a:p>
        </p:txBody>
      </p:sp>
      <p:sp>
        <p:nvSpPr>
          <p:cNvPr id="7" name="TextBox 7"/>
          <p:cNvSpPr txBox="1"/>
          <p:nvPr/>
        </p:nvSpPr>
        <p:spPr>
          <a:xfrm>
            <a:off x="599694" y="2113598"/>
            <a:ext cx="4061597" cy="381381"/>
          </a:xfrm>
          <a:prstGeom prst="rect">
            <a:avLst/>
          </a:prstGeom>
          <a:noFill/>
          <a:ln>
            <a:noFill/>
          </a:ln>
        </p:spPr>
        <p:txBody>
          <a:bodyPr wrap="none" lIns="0" tIns="0" rIns="0" bIns="0" anchor="t" anchorCtr="0">
            <a:spAutoFit/>
          </a:bodyPr>
          <a:lstStyle/>
          <a:p>
            <a:pPr algn="l"/>
            <a:r>
              <a:rPr lang="en-US" sz="1950" b="1" dirty="0">
                <a:solidFill>
                  <a:srgbClr val="34D3C0"/>
                </a:solidFill>
                <a:latin typeface="+mn-lt"/>
                <a:ea typeface="+mn-ea"/>
                <a:cs typeface="+mn-cs"/>
              </a:rPr>
              <a:t>through Jacobian Homeostasis</a:t>
            </a:r>
          </a:p>
        </p:txBody>
      </p:sp>
      <p:sp>
        <p:nvSpPr>
          <p:cNvPr id="8" name="TextBox 8"/>
          <p:cNvSpPr txBox="1"/>
          <p:nvPr/>
        </p:nvSpPr>
        <p:spPr>
          <a:xfrm>
            <a:off x="603504" y="2575560"/>
            <a:ext cx="683758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Axel Laborieux · Friedemann Zenke — Friedrich Miescher Institute &amp; University of Basel</a:t>
            </a:r>
          </a:p>
        </p:txBody>
      </p:sp>
      <p:grpSp>
        <p:nvGrpSpPr>
          <p:cNvPr id="14" name="Group 14"/>
          <p:cNvGrpSpPr/>
          <p:nvPr/>
        </p:nvGrpSpPr>
        <p:grpSpPr>
          <a:xfrm>
            <a:off x="609600" y="3009900"/>
            <a:ext cx="5334000" cy="1123950"/>
            <a:chOff x="609600" y="3009900"/>
            <a:chExt cx="5334000" cy="1123950"/>
          </a:xfrm>
        </p:grpSpPr>
        <p:sp>
          <p:nvSpPr>
            <p:cNvPr id="9" name="Rectangle 9"/>
            <p:cNvSpPr/>
            <p:nvPr/>
          </p:nvSpPr>
          <p:spPr>
            <a:xfrm>
              <a:off x="609600" y="3009900"/>
              <a:ext cx="5334000" cy="1123950"/>
            </a:xfrm>
            <a:prstGeom prst="roundRect">
              <a:avLst>
                <a:gd name="adj" fmla="val 11864"/>
              </a:avLst>
            </a:prstGeom>
            <a:solidFill>
              <a:schemeClr val="accent5"/>
            </a:solidFill>
            <a:ln w="14288">
              <a:solidFill>
                <a:srgbClr val="26455F"/>
              </a:solidFill>
            </a:ln>
          </p:spPr>
        </p:sp>
        <p:sp>
          <p:nvSpPr>
            <p:cNvPr id="10" name="Rectangle 10"/>
            <p:cNvSpPr/>
            <p:nvPr/>
          </p:nvSpPr>
          <p:spPr>
            <a:xfrm>
              <a:off x="609600" y="3009900"/>
              <a:ext cx="57150" cy="1123950"/>
            </a:xfrm>
            <a:prstGeom prst="roundRect">
              <a:avLst>
                <a:gd name="adj" fmla="val 50000"/>
              </a:avLst>
            </a:prstGeom>
            <a:solidFill>
              <a:schemeClr val="accent2"/>
            </a:solidFill>
            <a:ln>
              <a:noFill/>
            </a:ln>
          </p:spPr>
        </p:sp>
        <p:sp>
          <p:nvSpPr>
            <p:cNvPr id="11" name="TextBox 11"/>
            <p:cNvSpPr txBox="1"/>
            <p:nvPr/>
          </p:nvSpPr>
          <p:spPr>
            <a:xfrm>
              <a:off x="869442" y="3207068"/>
              <a:ext cx="267532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Equilibrium propagation (EP)</a:t>
              </a:r>
            </a:p>
          </p:txBody>
        </p:sp>
        <p:sp>
          <p:nvSpPr>
            <p:cNvPr id="12" name="TextBox 12"/>
            <p:cNvSpPr txBox="1"/>
            <p:nvPr/>
          </p:nvSpPr>
          <p:spPr>
            <a:xfrm>
              <a:off x="870966" y="3487102"/>
              <a:ext cx="47368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 energy-based, backprop-free way to train networks on brains or</a:t>
              </a:r>
            </a:p>
          </p:txBody>
        </p:sp>
        <p:sp>
          <p:nvSpPr>
            <p:cNvPr id="13" name="TextBox 13"/>
            <p:cNvSpPr txBox="1"/>
            <p:nvPr/>
          </p:nvSpPr>
          <p:spPr>
            <a:xfrm>
              <a:off x="870966" y="3687128"/>
              <a:ext cx="35303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neuromorphic chips using only relaxation dynamics.</a:t>
              </a:r>
            </a:p>
          </p:txBody>
        </p:sp>
      </p:grpSp>
      <p:grpSp>
        <p:nvGrpSpPr>
          <p:cNvPr id="20" name="Group 20"/>
          <p:cNvGrpSpPr/>
          <p:nvPr/>
        </p:nvGrpSpPr>
        <p:grpSpPr>
          <a:xfrm>
            <a:off x="6248400" y="3009900"/>
            <a:ext cx="5334000" cy="1123950"/>
            <a:chOff x="6248400" y="3009900"/>
            <a:chExt cx="5334000" cy="1123950"/>
          </a:xfrm>
        </p:grpSpPr>
        <p:sp>
          <p:nvSpPr>
            <p:cNvPr id="15" name="Rectangle 15"/>
            <p:cNvSpPr/>
            <p:nvPr/>
          </p:nvSpPr>
          <p:spPr>
            <a:xfrm>
              <a:off x="6248400" y="3009900"/>
              <a:ext cx="5334000" cy="1123950"/>
            </a:xfrm>
            <a:prstGeom prst="roundRect">
              <a:avLst>
                <a:gd name="adj" fmla="val 11864"/>
              </a:avLst>
            </a:prstGeom>
            <a:solidFill>
              <a:schemeClr val="accent5"/>
            </a:solidFill>
            <a:ln w="14288">
              <a:solidFill>
                <a:srgbClr val="26455F"/>
              </a:solidFill>
            </a:ln>
          </p:spPr>
        </p:sp>
        <p:sp>
          <p:nvSpPr>
            <p:cNvPr id="16" name="Rectangle 16"/>
            <p:cNvSpPr/>
            <p:nvPr/>
          </p:nvSpPr>
          <p:spPr>
            <a:xfrm>
              <a:off x="6248400" y="3009900"/>
              <a:ext cx="57150" cy="1123950"/>
            </a:xfrm>
            <a:prstGeom prst="roundRect">
              <a:avLst>
                <a:gd name="adj" fmla="val 50000"/>
              </a:avLst>
            </a:prstGeom>
            <a:solidFill>
              <a:srgbClr val="F2C14E"/>
            </a:solidFill>
            <a:ln>
              <a:noFill/>
            </a:ln>
          </p:spPr>
        </p:sp>
        <p:sp>
          <p:nvSpPr>
            <p:cNvPr id="17" name="TextBox 17"/>
            <p:cNvSpPr txBox="1"/>
            <p:nvPr/>
          </p:nvSpPr>
          <p:spPr>
            <a:xfrm>
              <a:off x="6508242" y="3207068"/>
              <a:ext cx="206161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Two classical demands</a:t>
              </a:r>
            </a:p>
          </p:txBody>
        </p:sp>
        <p:sp>
          <p:nvSpPr>
            <p:cNvPr id="18" name="TextBox 18"/>
            <p:cNvSpPr txBox="1"/>
            <p:nvPr/>
          </p:nvSpPr>
          <p:spPr>
            <a:xfrm>
              <a:off x="6509766" y="3487102"/>
              <a:ext cx="45428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EP needs perfectly symmetric weights and an infinitesimally small</a:t>
              </a:r>
            </a:p>
          </p:txBody>
        </p:sp>
        <p:sp>
          <p:nvSpPr>
            <p:cNvPr id="19" name="TextBox 19"/>
            <p:cNvSpPr txBox="1"/>
            <p:nvPr/>
          </p:nvSpPr>
          <p:spPr>
            <a:xfrm>
              <a:off x="6509766" y="3687128"/>
              <a:ext cx="32688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nudge, both hard for real physical substrates.</a:t>
              </a:r>
            </a:p>
          </p:txBody>
        </p:sp>
      </p:grpSp>
      <p:grpSp>
        <p:nvGrpSpPr>
          <p:cNvPr id="26" name="Group 26"/>
          <p:cNvGrpSpPr/>
          <p:nvPr/>
        </p:nvGrpSpPr>
        <p:grpSpPr>
          <a:xfrm>
            <a:off x="609600" y="4343400"/>
            <a:ext cx="5334000" cy="1123950"/>
            <a:chOff x="609600" y="4343400"/>
            <a:chExt cx="5334000" cy="1123950"/>
          </a:xfrm>
        </p:grpSpPr>
        <p:sp>
          <p:nvSpPr>
            <p:cNvPr id="21" name="Rectangle 21"/>
            <p:cNvSpPr/>
            <p:nvPr/>
          </p:nvSpPr>
          <p:spPr>
            <a:xfrm>
              <a:off x="609600" y="4343400"/>
              <a:ext cx="5334000" cy="1123950"/>
            </a:xfrm>
            <a:prstGeom prst="roundRect">
              <a:avLst>
                <a:gd name="adj" fmla="val 11864"/>
              </a:avLst>
            </a:prstGeom>
            <a:solidFill>
              <a:schemeClr val="accent5"/>
            </a:solidFill>
            <a:ln w="14288">
              <a:solidFill>
                <a:srgbClr val="26455F"/>
              </a:solidFill>
            </a:ln>
          </p:spPr>
        </p:sp>
        <p:sp>
          <p:nvSpPr>
            <p:cNvPr id="22" name="Rectangle 22"/>
            <p:cNvSpPr/>
            <p:nvPr/>
          </p:nvSpPr>
          <p:spPr>
            <a:xfrm>
              <a:off x="609600" y="4343400"/>
              <a:ext cx="57150" cy="1123950"/>
            </a:xfrm>
            <a:prstGeom prst="roundRect">
              <a:avLst>
                <a:gd name="adj" fmla="val 50000"/>
              </a:avLst>
            </a:prstGeom>
            <a:solidFill>
              <a:srgbClr val="34D3C0"/>
            </a:solidFill>
            <a:ln>
              <a:noFill/>
            </a:ln>
          </p:spPr>
        </p:sp>
        <p:sp>
          <p:nvSpPr>
            <p:cNvPr id="23" name="TextBox 23"/>
            <p:cNvSpPr txBox="1"/>
            <p:nvPr/>
          </p:nvSpPr>
          <p:spPr>
            <a:xfrm>
              <a:off x="869442" y="4540568"/>
              <a:ext cx="180423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Remove both biases</a:t>
              </a:r>
            </a:p>
          </p:txBody>
        </p:sp>
        <p:sp>
          <p:nvSpPr>
            <p:cNvPr id="24" name="TextBox 24"/>
            <p:cNvSpPr txBox="1"/>
            <p:nvPr/>
          </p:nvSpPr>
          <p:spPr>
            <a:xfrm>
              <a:off x="870966" y="4820602"/>
              <a:ext cx="47646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Cauchy integral erases finite-nudge bias exactly; a homeostatic loss</a:t>
              </a:r>
            </a:p>
          </p:txBody>
        </p:sp>
        <p:sp>
          <p:nvSpPr>
            <p:cNvPr id="25" name="TextBox 25"/>
            <p:cNvSpPr txBox="1"/>
            <p:nvPr/>
          </p:nvSpPr>
          <p:spPr>
            <a:xfrm>
              <a:off x="870966" y="5020628"/>
              <a:ext cx="32667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tames weight-asymmetry bias on the Jacobian.</a:t>
              </a:r>
            </a:p>
          </p:txBody>
        </p:sp>
      </p:grpSp>
      <p:grpSp>
        <p:nvGrpSpPr>
          <p:cNvPr id="32" name="Group 32"/>
          <p:cNvGrpSpPr/>
          <p:nvPr/>
        </p:nvGrpSpPr>
        <p:grpSpPr>
          <a:xfrm>
            <a:off x="6248400" y="4343400"/>
            <a:ext cx="5334000" cy="1123950"/>
            <a:chOff x="6248400" y="4343400"/>
            <a:chExt cx="5334000" cy="1123950"/>
          </a:xfrm>
        </p:grpSpPr>
        <p:sp>
          <p:nvSpPr>
            <p:cNvPr id="27" name="Rectangle 27"/>
            <p:cNvSpPr/>
            <p:nvPr/>
          </p:nvSpPr>
          <p:spPr>
            <a:xfrm>
              <a:off x="6248400" y="4343400"/>
              <a:ext cx="5334000" cy="1123950"/>
            </a:xfrm>
            <a:prstGeom prst="roundRect">
              <a:avLst>
                <a:gd name="adj" fmla="val 11864"/>
              </a:avLst>
            </a:prstGeom>
            <a:solidFill>
              <a:schemeClr val="accent5"/>
            </a:solidFill>
            <a:ln w="14288">
              <a:solidFill>
                <a:srgbClr val="26455F"/>
              </a:solidFill>
            </a:ln>
          </p:spPr>
        </p:sp>
        <p:sp>
          <p:nvSpPr>
            <p:cNvPr id="28" name="Rectangle 28"/>
            <p:cNvSpPr/>
            <p:nvPr/>
          </p:nvSpPr>
          <p:spPr>
            <a:xfrm>
              <a:off x="6248400" y="4343400"/>
              <a:ext cx="57150" cy="1123950"/>
            </a:xfrm>
            <a:prstGeom prst="roundRect">
              <a:avLst>
                <a:gd name="adj" fmla="val 50000"/>
              </a:avLst>
            </a:prstGeom>
            <a:solidFill>
              <a:srgbClr val="48C78E"/>
            </a:solidFill>
            <a:ln>
              <a:noFill/>
            </a:ln>
          </p:spPr>
        </p:sp>
        <p:sp>
          <p:nvSpPr>
            <p:cNvPr id="29" name="TextBox 29"/>
            <p:cNvSpPr txBox="1"/>
            <p:nvPr/>
          </p:nvSpPr>
          <p:spPr>
            <a:xfrm>
              <a:off x="6508242" y="4540568"/>
              <a:ext cx="102184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payoff</a:t>
              </a:r>
            </a:p>
          </p:txBody>
        </p:sp>
        <p:sp>
          <p:nvSpPr>
            <p:cNvPr id="30" name="TextBox 30"/>
            <p:cNvSpPr txBox="1"/>
            <p:nvPr/>
          </p:nvSpPr>
          <p:spPr>
            <a:xfrm>
              <a:off x="6509766" y="4820602"/>
              <a:ext cx="45890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 the first time, asymmetric EP trains on ImageNet 32x32, with</a:t>
              </a:r>
            </a:p>
          </p:txBody>
        </p:sp>
        <p:sp>
          <p:nvSpPr>
            <p:cNvPr id="31" name="TextBox 31"/>
            <p:cNvSpPr txBox="1"/>
            <p:nvPr/>
          </p:nvSpPr>
          <p:spPr>
            <a:xfrm>
              <a:off x="6509766" y="5020628"/>
              <a:ext cx="309918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only a small gap to the ideal symmetric case.</a:t>
              </a:r>
            </a:p>
          </p:txBody>
        </p:sp>
      </p:grpSp>
      <p:sp>
        <p:nvSpPr>
          <p:cNvPr id="33" name="Line 33"/>
          <p:cNvSpPr/>
          <p:nvPr/>
        </p:nvSpPr>
        <p:spPr>
          <a:xfrm>
            <a:off x="609600" y="5867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4" name="TextBox 34"/>
          <p:cNvSpPr txBox="1"/>
          <p:nvPr/>
        </p:nvSpPr>
        <p:spPr>
          <a:xfrm>
            <a:off x="604266" y="60779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arXiv:2309.02214</a:t>
            </a:r>
          </a:p>
        </p:txBody>
      </p:sp>
      <p:sp>
        <p:nvSpPr>
          <p:cNvPr id="35" name="TextBox 35"/>
          <p:cNvSpPr txBox="1"/>
          <p:nvPr/>
        </p:nvSpPr>
        <p:spPr>
          <a:xfrm>
            <a:off x="2852166" y="6077902"/>
            <a:ext cx="503554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Functional symmetry, not weight symmetry, is what EP really needs.</a:t>
            </a:r>
          </a:p>
        </p:txBody>
      </p:sp>
      <p:sp>
        <p:nvSpPr>
          <p:cNvPr id="36" name="cue_s01_c1_equilibrium_propagation_promising_en" title="cue_s01_c1_equilibrium_propagation_promising_en" descr="cue_s01_c1_equilibrium_propagation_promising_en Equilibrium propagation is a promising energy-based alternative to backpropagation for training neural networks on brains or neuromorphic hardware, but it classically demands two things physical substrates cannot easily deliver: perfectly symmetric weights and"/>
          <p:cNvSpPr/>
          <p:nvPr/>
        </p:nvSpPr>
        <p:spPr>
          <a:xfrm>
            <a:off x="609600" y="3009976"/>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2_iclr_2024_friedrich_miescher_institu" title="cue_s01_c2_iclr_2024_friedrich_miescher_institu" descr="cue_s01_c2_iclr_2024_friedrich_miescher_institu This ICLR 2024 paper from the Friedrich Miescher Institute and the University of Basel, by Axel Laborieux and Friedemann Zenke, cleanly separates the two resulting sources of gradient bias and shows how to remove them."/>
          <p:cNvSpPr/>
          <p:nvPr/>
        </p:nvSpPr>
        <p:spPr>
          <a:xfrm>
            <a:off x="6248399" y="3009976"/>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3_finite_nudge_bias_eliminated_exactly" title="cue_s01_c3_finite_nudge_bias_eliminated_exactly" descr="cue_s01_c3_finite_nudge_bias_eliminated_exactly Finite-nudge bias is eliminated exactly with a Cauchy integral, while weight-asymmetry bias is tamed by a new homeostatic loss that penalizes asymmetry of the Jacobian rather than the weights."/>
          <p:cNvSpPr/>
          <p:nvPr/>
        </p:nvSpPr>
        <p:spPr>
          <a:xfrm>
            <a:off x="609600" y="43431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4_payoff_first_time_equilibrium_propag" title="cue_s01_c4_payoff_first_time_equilibrium_propag" descr="cue_s01_c4_payoff_first_time_equilibrium_propag The payoff: for the first time, equilibrium propagation trains asymmetric networks on ImageNet 32 by 32 with only a small gap to the ideal symmetric case."/>
          <p:cNvSpPr/>
          <p:nvPr/>
        </p:nvSpPr>
        <p:spPr>
          <a:xfrm>
            <a:off x="6248399" y="43431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82795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strict demands EP cannot escape</a:t>
            </a:r>
          </a:p>
        </p:txBody>
      </p:sp>
      <p:grpSp>
        <p:nvGrpSpPr>
          <p:cNvPr id="27" name="Group 27"/>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28455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What makes EP appealing</a:t>
              </a:r>
            </a:p>
          </p:txBody>
        </p:sp>
        <p:sp>
          <p:nvSpPr>
            <p:cNvPr id="8" name="TextBox 8"/>
            <p:cNvSpPr txBox="1"/>
            <p:nvPr/>
          </p:nvSpPr>
          <p:spPr>
            <a:xfrm>
              <a:off x="870585" y="2164556"/>
              <a:ext cx="27352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EP computes gradients using only the</a:t>
              </a:r>
            </a:p>
          </p:txBody>
        </p:sp>
        <p:sp>
          <p:nvSpPr>
            <p:cNvPr id="9" name="TextBox 9"/>
            <p:cNvSpPr txBox="1"/>
            <p:nvPr/>
          </p:nvSpPr>
          <p:spPr>
            <a:xfrm>
              <a:off x="870585" y="2393156"/>
              <a:ext cx="32756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network's own relaxation dynamics, with no</a:t>
              </a:r>
            </a:p>
          </p:txBody>
        </p:sp>
        <p:sp>
          <p:nvSpPr>
            <p:cNvPr id="10" name="TextBox 10"/>
            <p:cNvSpPr txBox="1"/>
            <p:nvPr/>
          </p:nvSpPr>
          <p:spPr>
            <a:xfrm>
              <a:off x="870585" y="2621756"/>
              <a:ext cx="18734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separate backward pass.</a:t>
              </a:r>
            </a:p>
          </p:txBody>
        </p:sp>
        <p:sp>
          <p:nvSpPr>
            <p:cNvPr id="11" name="Rectangle 11"/>
            <p:cNvSpPr/>
            <p:nvPr/>
          </p:nvSpPr>
          <p:spPr>
            <a:xfrm>
              <a:off x="876300" y="3295650"/>
              <a:ext cx="1371600" cy="1143000"/>
            </a:xfrm>
            <a:prstGeom prst="roundRect">
              <a:avLst>
                <a:gd name="adj" fmla="val 8333"/>
              </a:avLst>
            </a:prstGeom>
            <a:solidFill>
              <a:schemeClr val="accent6"/>
            </a:solidFill>
            <a:ln w="14288">
              <a:solidFill>
                <a:srgbClr val="26455F"/>
              </a:solidFill>
            </a:ln>
          </p:spPr>
        </p:sp>
        <p:sp>
          <p:nvSpPr>
            <p:cNvPr id="12" name="TextBox 12"/>
            <p:cNvSpPr txBox="1"/>
            <p:nvPr/>
          </p:nvSpPr>
          <p:spPr>
            <a:xfrm>
              <a:off x="1223396" y="3065145"/>
              <a:ext cx="677408" cy="176212"/>
            </a:xfrm>
            <a:prstGeom prst="rect">
              <a:avLst/>
            </a:prstGeom>
            <a:noFill/>
            <a:ln>
              <a:noFill/>
            </a:ln>
          </p:spPr>
          <p:txBody>
            <a:bodyPr wrap="none" lIns="0" tIns="0" rIns="0" bIns="0" anchor="t" anchorCtr="0">
              <a:spAutoFit/>
            </a:bodyPr>
            <a:lstStyle/>
            <a:p>
              <a:pPr algn="ctr"/>
              <a:r>
                <a:rPr lang="en-US" sz="900" b="1" dirty="0">
                  <a:solidFill>
                    <a:srgbClr val="6E869C"/>
                  </a:solidFill>
                  <a:latin typeface="+mn-lt"/>
                  <a:ea typeface="+mn-ea"/>
                  <a:cs typeface="+mn-cs"/>
                </a:rPr>
                <a:t>free phase</a:t>
              </a:r>
            </a:p>
          </p:txBody>
        </p:sp>
        <p:sp>
          <p:nvSpPr>
            <p:cNvPr id="13" name="Ellipse 13"/>
            <p:cNvSpPr/>
            <p:nvPr/>
          </p:nvSpPr>
          <p:spPr>
            <a:xfrm>
              <a:off x="1133475" y="3781425"/>
              <a:ext cx="171450" cy="171450"/>
            </a:xfrm>
            <a:prstGeom prst="ellipse">
              <a:avLst/>
            </a:prstGeom>
            <a:solidFill>
              <a:schemeClr val="accent2"/>
            </a:solidFill>
            <a:ln>
              <a:noFill/>
            </a:ln>
          </p:spPr>
        </p:sp>
        <p:sp>
          <p:nvSpPr>
            <p:cNvPr id="14" name="Ellipse 14"/>
            <p:cNvSpPr/>
            <p:nvPr/>
          </p:nvSpPr>
          <p:spPr>
            <a:xfrm>
              <a:off x="1476375" y="3609975"/>
              <a:ext cx="171450" cy="171450"/>
            </a:xfrm>
            <a:prstGeom prst="ellipse">
              <a:avLst/>
            </a:prstGeom>
            <a:solidFill>
              <a:schemeClr val="accent2"/>
            </a:solidFill>
            <a:ln>
              <a:noFill/>
            </a:ln>
          </p:spPr>
        </p:sp>
        <p:sp>
          <p:nvSpPr>
            <p:cNvPr id="15" name="Ellipse 15"/>
            <p:cNvSpPr/>
            <p:nvPr/>
          </p:nvSpPr>
          <p:spPr>
            <a:xfrm>
              <a:off x="1819275" y="3857625"/>
              <a:ext cx="171450" cy="171450"/>
            </a:xfrm>
            <a:prstGeom prst="ellipse">
              <a:avLst/>
            </a:prstGeom>
            <a:solidFill>
              <a:schemeClr val="accent2"/>
            </a:solidFill>
            <a:ln>
              <a:noFill/>
            </a:ln>
          </p:spPr>
        </p:sp>
        <p:sp>
          <p:nvSpPr>
            <p:cNvPr id="16" name="Line 16"/>
            <p:cNvSpPr/>
            <p:nvPr/>
          </p:nvSpPr>
          <p:spPr>
            <a:xfrm>
              <a:off x="1219200" y="3695700"/>
              <a:ext cx="342900" cy="171450"/>
            </a:xfrm>
            <a:custGeom>
              <a:avLst/>
              <a:gdLst/>
              <a:ahLst/>
              <a:cxnLst/>
              <a:rect l="l" t="t" r="r" b="b"/>
              <a:pathLst>
                <a:path w="342900" h="171450">
                  <a:moveTo>
                    <a:pt x="0" y="171450"/>
                  </a:moveTo>
                  <a:lnTo>
                    <a:pt x="342900" y="0"/>
                  </a:lnTo>
                </a:path>
              </a:pathLst>
            </a:custGeom>
            <a:noFill/>
            <a:ln w="19050" cap="rnd">
              <a:solidFill>
                <a:srgbClr val="26455F"/>
              </a:solidFill>
            </a:ln>
          </p:spPr>
        </p:sp>
        <p:sp>
          <p:nvSpPr>
            <p:cNvPr id="17" name="Line 17"/>
            <p:cNvSpPr/>
            <p:nvPr/>
          </p:nvSpPr>
          <p:spPr>
            <a:xfrm>
              <a:off x="1562100" y="3695700"/>
              <a:ext cx="342900" cy="247650"/>
            </a:xfrm>
            <a:custGeom>
              <a:avLst/>
              <a:gdLst/>
              <a:ahLst/>
              <a:cxnLst/>
              <a:rect l="l" t="t" r="r" b="b"/>
              <a:pathLst>
                <a:path w="342900" h="247650">
                  <a:moveTo>
                    <a:pt x="0" y="0"/>
                  </a:moveTo>
                  <a:lnTo>
                    <a:pt x="342900" y="247650"/>
                  </a:lnTo>
                </a:path>
              </a:pathLst>
            </a:custGeom>
            <a:noFill/>
            <a:ln w="19050" cap="rnd">
              <a:solidFill>
                <a:srgbClr val="26455F"/>
              </a:solidFill>
            </a:ln>
          </p:spPr>
        </p:sp>
        <p:sp>
          <p:nvSpPr>
            <p:cNvPr id="18" name="TextBox 18"/>
            <p:cNvSpPr txBox="1"/>
            <p:nvPr/>
          </p:nvSpPr>
          <p:spPr>
            <a:xfrm>
              <a:off x="2395538" y="3636645"/>
              <a:ext cx="359369" cy="176212"/>
            </a:xfrm>
            <a:prstGeom prst="rect">
              <a:avLst/>
            </a:prstGeom>
            <a:noFill/>
            <a:ln>
              <a:noFill/>
            </a:ln>
          </p:spPr>
          <p:txBody>
            <a:bodyPr wrap="none" lIns="0" tIns="0" rIns="0" bIns="0" anchor="t" anchorCtr="0">
              <a:spAutoFit/>
            </a:bodyPr>
            <a:lstStyle/>
            <a:p>
              <a:pPr algn="l"/>
              <a:r>
                <a:rPr lang="en-US" sz="900" b="1" dirty="0">
                  <a:solidFill>
                    <a:srgbClr val="F2C14E"/>
                  </a:solidFill>
                  <a:latin typeface="+mn-lt"/>
                  <a:ea typeface="+mn-ea"/>
                  <a:cs typeface="+mn-cs"/>
                </a:rPr>
                <a:t>nudge</a:t>
              </a:r>
            </a:p>
          </p:txBody>
        </p:sp>
        <p:sp>
          <p:nvSpPr>
            <p:cNvPr id="19" name="Line 19"/>
            <p:cNvSpPr/>
            <p:nvPr/>
          </p:nvSpPr>
          <p:spPr>
            <a:xfrm>
              <a:off x="2324100" y="3848100"/>
              <a:ext cx="533400" cy="9525"/>
            </a:xfrm>
            <a:custGeom>
              <a:avLst/>
              <a:gdLst/>
              <a:ahLst/>
              <a:cxnLst/>
              <a:rect l="l" t="t" r="r" b="b"/>
              <a:pathLst>
                <a:path w="533400" h="9525">
                  <a:moveTo>
                    <a:pt x="0" y="0"/>
                  </a:moveTo>
                  <a:lnTo>
                    <a:pt x="533400" y="0"/>
                  </a:lnTo>
                </a:path>
              </a:pathLst>
            </a:custGeom>
            <a:noFill/>
            <a:ln w="19050" cap="rnd">
              <a:solidFill>
                <a:srgbClr val="F2C14E"/>
              </a:solidFill>
              <a:prstDash val="dash"/>
            </a:ln>
          </p:spPr>
        </p:sp>
        <p:sp>
          <p:nvSpPr>
            <p:cNvPr id="20" name="TextBox 20"/>
            <p:cNvSpPr txBox="1"/>
            <p:nvPr/>
          </p:nvSpPr>
          <p:spPr>
            <a:xfrm>
              <a:off x="2850642" y="3759518"/>
              <a:ext cx="223622" cy="264033"/>
            </a:xfrm>
            <a:prstGeom prst="rect">
              <a:avLst/>
            </a:prstGeom>
            <a:noFill/>
            <a:ln>
              <a:noFill/>
            </a:ln>
          </p:spPr>
          <p:txBody>
            <a:bodyPr wrap="none" lIns="0" tIns="0" rIns="0" bIns="0" anchor="t" anchorCtr="0">
              <a:spAutoFit/>
            </a:bodyPr>
            <a:lstStyle/>
            <a:p>
              <a:pPr algn="l"/>
              <a:r>
                <a:rPr lang="en-US" sz="1350" b="1" dirty="0">
                  <a:solidFill>
                    <a:srgbClr val="F2C14E"/>
                  </a:solidFill>
                  <a:latin typeface="+mn-lt"/>
                  <a:ea typeface="+mn-ea"/>
                  <a:cs typeface="+mn-cs"/>
                </a:rPr>
                <a:t>-&gt;</a:t>
              </a:r>
            </a:p>
          </p:txBody>
        </p:sp>
        <p:sp>
          <p:nvSpPr>
            <p:cNvPr id="21" name="Rectangle 21"/>
            <p:cNvSpPr/>
            <p:nvPr/>
          </p:nvSpPr>
          <p:spPr>
            <a:xfrm>
              <a:off x="3009900" y="3295650"/>
              <a:ext cx="1143000" cy="1143000"/>
            </a:xfrm>
            <a:prstGeom prst="roundRect">
              <a:avLst>
                <a:gd name="adj" fmla="val 8333"/>
              </a:avLst>
            </a:prstGeom>
            <a:solidFill>
              <a:schemeClr val="accent6"/>
            </a:solidFill>
            <a:ln w="14288">
              <a:solidFill>
                <a:srgbClr val="26455F"/>
              </a:solidFill>
            </a:ln>
          </p:spPr>
        </p:sp>
        <p:sp>
          <p:nvSpPr>
            <p:cNvPr id="22" name="TextBox 22"/>
            <p:cNvSpPr txBox="1"/>
            <p:nvPr/>
          </p:nvSpPr>
          <p:spPr>
            <a:xfrm>
              <a:off x="3366731" y="3065145"/>
              <a:ext cx="429337" cy="176212"/>
            </a:xfrm>
            <a:prstGeom prst="rect">
              <a:avLst/>
            </a:prstGeom>
            <a:noFill/>
            <a:ln>
              <a:noFill/>
            </a:ln>
          </p:spPr>
          <p:txBody>
            <a:bodyPr wrap="none" lIns="0" tIns="0" rIns="0" bIns="0" anchor="t" anchorCtr="0">
              <a:spAutoFit/>
            </a:bodyPr>
            <a:lstStyle/>
            <a:p>
              <a:pPr algn="ctr"/>
              <a:r>
                <a:rPr lang="en-US" sz="900" b="1" dirty="0">
                  <a:solidFill>
                    <a:srgbClr val="6E869C"/>
                  </a:solidFill>
                  <a:latin typeface="+mn-lt"/>
                  <a:ea typeface="+mn-ea"/>
                  <a:cs typeface="+mn-cs"/>
                </a:rPr>
                <a:t>nudged</a:t>
              </a:r>
            </a:p>
          </p:txBody>
        </p:sp>
        <p:sp>
          <p:nvSpPr>
            <p:cNvPr id="23" name="Ellipse 23"/>
            <p:cNvSpPr/>
            <p:nvPr/>
          </p:nvSpPr>
          <p:spPr>
            <a:xfrm>
              <a:off x="3267075" y="3781425"/>
              <a:ext cx="171450" cy="171450"/>
            </a:xfrm>
            <a:prstGeom prst="ellipse">
              <a:avLst/>
            </a:prstGeom>
            <a:solidFill>
              <a:srgbClr val="34D3C0"/>
            </a:solidFill>
            <a:ln>
              <a:noFill/>
            </a:ln>
          </p:spPr>
        </p:sp>
        <p:sp>
          <p:nvSpPr>
            <p:cNvPr id="24" name="Ellipse 24"/>
            <p:cNvSpPr/>
            <p:nvPr/>
          </p:nvSpPr>
          <p:spPr>
            <a:xfrm>
              <a:off x="3609975" y="3648075"/>
              <a:ext cx="171450" cy="171450"/>
            </a:xfrm>
            <a:prstGeom prst="ellipse">
              <a:avLst/>
            </a:prstGeom>
            <a:solidFill>
              <a:srgbClr val="34D3C0"/>
            </a:solidFill>
            <a:ln>
              <a:noFill/>
            </a:ln>
          </p:spPr>
        </p:sp>
        <p:sp>
          <p:nvSpPr>
            <p:cNvPr id="25" name="Ellipse 25"/>
            <p:cNvSpPr/>
            <p:nvPr/>
          </p:nvSpPr>
          <p:spPr>
            <a:xfrm>
              <a:off x="3838575" y="3857625"/>
              <a:ext cx="171450" cy="171450"/>
            </a:xfrm>
            <a:prstGeom prst="ellipse">
              <a:avLst/>
            </a:prstGeom>
            <a:solidFill>
              <a:srgbClr val="34D3C0"/>
            </a:solidFill>
            <a:ln>
              <a:noFill/>
            </a:ln>
          </p:spPr>
        </p:sp>
        <p:sp>
          <p:nvSpPr>
            <p:cNvPr id="26" name="TextBox 26"/>
            <p:cNvSpPr txBox="1"/>
            <p:nvPr/>
          </p:nvSpPr>
          <p:spPr>
            <a:xfrm>
              <a:off x="871156" y="4672251"/>
              <a:ext cx="3191935"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Gradient read off from how the state moves.</a:t>
              </a:r>
            </a:p>
          </p:txBody>
        </p:sp>
      </p:grpSp>
      <p:grpSp>
        <p:nvGrpSpPr>
          <p:cNvPr id="36" name="Group 36"/>
          <p:cNvGrpSpPr/>
          <p:nvPr/>
        </p:nvGrpSpPr>
        <p:grpSpPr>
          <a:xfrm>
            <a:off x="4762500" y="1504950"/>
            <a:ext cx="6819900" cy="1143000"/>
            <a:chOff x="4762500" y="1504950"/>
            <a:chExt cx="6819900" cy="1143000"/>
          </a:xfrm>
        </p:grpSpPr>
        <p:sp>
          <p:nvSpPr>
            <p:cNvPr id="28" name="Rectangle 28"/>
            <p:cNvSpPr/>
            <p:nvPr/>
          </p:nvSpPr>
          <p:spPr>
            <a:xfrm>
              <a:off x="4762500" y="1504950"/>
              <a:ext cx="6819900" cy="1143000"/>
            </a:xfrm>
            <a:prstGeom prst="roundRect">
              <a:avLst>
                <a:gd name="adj" fmla="val 11667"/>
              </a:avLst>
            </a:prstGeom>
            <a:solidFill>
              <a:schemeClr val="accent5"/>
            </a:solidFill>
            <a:ln w="14288">
              <a:solidFill>
                <a:srgbClr val="26455F"/>
              </a:solidFill>
            </a:ln>
          </p:spPr>
        </p:sp>
        <p:sp>
          <p:nvSpPr>
            <p:cNvPr id="29" name="TextBox 29"/>
            <p:cNvSpPr txBox="1"/>
            <p:nvPr/>
          </p:nvSpPr>
          <p:spPr>
            <a:xfrm>
              <a:off x="5022723" y="1729264"/>
              <a:ext cx="2199028"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Two strict requirements</a:t>
              </a:r>
            </a:p>
          </p:txBody>
        </p:sp>
        <p:sp>
          <p:nvSpPr>
            <p:cNvPr id="30" name="Rectangle 30"/>
            <p:cNvSpPr/>
            <p:nvPr/>
          </p:nvSpPr>
          <p:spPr>
            <a:xfrm>
              <a:off x="5029200" y="2038350"/>
              <a:ext cx="3048000" cy="457200"/>
            </a:xfrm>
            <a:prstGeom prst="roundRect">
              <a:avLst>
                <a:gd name="adj" fmla="val 16667"/>
              </a:avLst>
            </a:prstGeom>
            <a:solidFill>
              <a:schemeClr val="accent6"/>
            </a:solidFill>
            <a:ln w="14288">
              <a:solidFill>
                <a:srgbClr val="26455F"/>
              </a:solidFill>
            </a:ln>
          </p:spPr>
        </p:sp>
        <p:sp>
          <p:nvSpPr>
            <p:cNvPr id="31" name="Ellipse 31"/>
            <p:cNvSpPr/>
            <p:nvPr/>
          </p:nvSpPr>
          <p:spPr>
            <a:xfrm>
              <a:off x="5200650" y="2209800"/>
              <a:ext cx="114300" cy="114300"/>
            </a:xfrm>
            <a:prstGeom prst="ellipse">
              <a:avLst/>
            </a:prstGeom>
            <a:solidFill>
              <a:srgbClr val="F2685C"/>
            </a:solidFill>
            <a:ln>
              <a:noFill/>
            </a:ln>
          </p:spPr>
        </p:sp>
        <p:sp>
          <p:nvSpPr>
            <p:cNvPr id="32" name="TextBox 32"/>
            <p:cNvSpPr txBox="1"/>
            <p:nvPr/>
          </p:nvSpPr>
          <p:spPr>
            <a:xfrm>
              <a:off x="5423726" y="2197179"/>
              <a:ext cx="220383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Perfectly symmetric weights</a:t>
              </a:r>
            </a:p>
          </p:txBody>
        </p:sp>
        <p:sp>
          <p:nvSpPr>
            <p:cNvPr id="33" name="Rectangle 33"/>
            <p:cNvSpPr/>
            <p:nvPr/>
          </p:nvSpPr>
          <p:spPr>
            <a:xfrm>
              <a:off x="8267700" y="2038350"/>
              <a:ext cx="3048000" cy="457200"/>
            </a:xfrm>
            <a:prstGeom prst="roundRect">
              <a:avLst>
                <a:gd name="adj" fmla="val 16667"/>
              </a:avLst>
            </a:prstGeom>
            <a:solidFill>
              <a:schemeClr val="accent6"/>
            </a:solidFill>
            <a:ln w="14288">
              <a:solidFill>
                <a:srgbClr val="26455F"/>
              </a:solidFill>
            </a:ln>
          </p:spPr>
        </p:sp>
        <p:sp>
          <p:nvSpPr>
            <p:cNvPr id="34" name="Ellipse 34"/>
            <p:cNvSpPr/>
            <p:nvPr/>
          </p:nvSpPr>
          <p:spPr>
            <a:xfrm>
              <a:off x="8439150" y="2209800"/>
              <a:ext cx="114300" cy="114300"/>
            </a:xfrm>
            <a:prstGeom prst="ellipse">
              <a:avLst/>
            </a:prstGeom>
            <a:solidFill>
              <a:srgbClr val="F2685C"/>
            </a:solidFill>
            <a:ln>
              <a:noFill/>
            </a:ln>
          </p:spPr>
        </p:sp>
        <p:sp>
          <p:nvSpPr>
            <p:cNvPr id="35" name="TextBox 35"/>
            <p:cNvSpPr txBox="1"/>
            <p:nvPr/>
          </p:nvSpPr>
          <p:spPr>
            <a:xfrm>
              <a:off x="8662226" y="2197179"/>
              <a:ext cx="197992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Infinitesimally small nudge</a:t>
              </a:r>
            </a:p>
          </p:txBody>
        </p:sp>
      </p:grpSp>
      <p:grpSp>
        <p:nvGrpSpPr>
          <p:cNvPr id="42" name="Group 42"/>
          <p:cNvGrpSpPr/>
          <p:nvPr/>
        </p:nvGrpSpPr>
        <p:grpSpPr>
          <a:xfrm>
            <a:off x="4762500" y="2762250"/>
            <a:ext cx="6819900" cy="933497"/>
            <a:chOff x="4762500" y="2762250"/>
            <a:chExt cx="6819900" cy="933497"/>
          </a:xfrm>
        </p:grpSpPr>
        <p:sp>
          <p:nvSpPr>
            <p:cNvPr id="37" name="Rectangle 37"/>
            <p:cNvSpPr/>
            <p:nvPr/>
          </p:nvSpPr>
          <p:spPr>
            <a:xfrm>
              <a:off x="4762500" y="2762250"/>
              <a:ext cx="6819900" cy="914400"/>
            </a:xfrm>
            <a:prstGeom prst="roundRect">
              <a:avLst>
                <a:gd name="adj" fmla="val 14583"/>
              </a:avLst>
            </a:prstGeom>
            <a:solidFill>
              <a:schemeClr val="accent5"/>
            </a:solidFill>
            <a:ln w="14288">
              <a:solidFill>
                <a:srgbClr val="26455F"/>
              </a:solidFill>
            </a:ln>
          </p:spPr>
        </p:sp>
        <p:sp>
          <p:nvSpPr>
            <p:cNvPr id="38" name="Rectangle 38"/>
            <p:cNvSpPr/>
            <p:nvPr/>
          </p:nvSpPr>
          <p:spPr>
            <a:xfrm>
              <a:off x="4762500" y="2762250"/>
              <a:ext cx="57150" cy="914400"/>
            </a:xfrm>
            <a:prstGeom prst="roundRect">
              <a:avLst>
                <a:gd name="adj" fmla="val 50000"/>
              </a:avLst>
            </a:prstGeom>
            <a:solidFill>
              <a:srgbClr val="F2C14E"/>
            </a:solidFill>
            <a:ln>
              <a:noFill/>
            </a:ln>
          </p:spPr>
        </p:sp>
        <p:sp>
          <p:nvSpPr>
            <p:cNvPr id="39" name="TextBox 39"/>
            <p:cNvSpPr txBox="1"/>
            <p:nvPr/>
          </p:nvSpPr>
          <p:spPr>
            <a:xfrm>
              <a:off x="5023104" y="2994660"/>
              <a:ext cx="3020347"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Both are very hard on real hardware</a:t>
              </a:r>
            </a:p>
          </p:txBody>
        </p:sp>
        <p:sp>
          <p:nvSpPr>
            <p:cNvPr id="40" name="TextBox 40"/>
            <p:cNvSpPr txBox="1"/>
            <p:nvPr/>
          </p:nvSpPr>
          <p:spPr>
            <a:xfrm>
              <a:off x="5023676" y="3273504"/>
              <a:ext cx="47626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Physical and neuromorphic substrates cannot deliver exact weight</a:t>
              </a:r>
            </a:p>
          </p:txBody>
        </p:sp>
        <p:sp>
          <p:nvSpPr>
            <p:cNvPr id="41" name="TextBox 41"/>
            <p:cNvSpPr txBox="1"/>
            <p:nvPr/>
          </p:nvSpPr>
          <p:spPr>
            <a:xfrm>
              <a:off x="5023676" y="3483054"/>
              <a:ext cx="35180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transposes or vanishingly small teaching signals.</a:t>
              </a:r>
            </a:p>
          </p:txBody>
        </p:sp>
      </p:grpSp>
      <p:grpSp>
        <p:nvGrpSpPr>
          <p:cNvPr id="49" name="Group 49"/>
          <p:cNvGrpSpPr/>
          <p:nvPr/>
        </p:nvGrpSpPr>
        <p:grpSpPr>
          <a:xfrm>
            <a:off x="4762500" y="3790950"/>
            <a:ext cx="6819900" cy="1451134"/>
            <a:chOff x="4762500" y="3790950"/>
            <a:chExt cx="6819900" cy="1451134"/>
          </a:xfrm>
        </p:grpSpPr>
        <p:sp>
          <p:nvSpPr>
            <p:cNvPr id="43" name="Rectangle 43"/>
            <p:cNvSpPr/>
            <p:nvPr/>
          </p:nvSpPr>
          <p:spPr>
            <a:xfrm>
              <a:off x="4762500" y="3790950"/>
              <a:ext cx="6819900" cy="1447800"/>
            </a:xfrm>
            <a:prstGeom prst="roundRect">
              <a:avLst>
                <a:gd name="adj" fmla="val 9211"/>
              </a:avLst>
            </a:prstGeom>
            <a:solidFill>
              <a:srgbClr val="2A1720"/>
            </a:solidFill>
            <a:ln w="14288">
              <a:solidFill>
                <a:srgbClr val="F2685C"/>
              </a:solidFill>
            </a:ln>
          </p:spPr>
        </p:sp>
        <p:sp>
          <p:nvSpPr>
            <p:cNvPr id="44" name="Rectangle 44"/>
            <p:cNvSpPr/>
            <p:nvPr/>
          </p:nvSpPr>
          <p:spPr>
            <a:xfrm>
              <a:off x="4762500" y="3790950"/>
              <a:ext cx="57150" cy="1447800"/>
            </a:xfrm>
            <a:prstGeom prst="roundRect">
              <a:avLst>
                <a:gd name="adj" fmla="val 50000"/>
              </a:avLst>
            </a:prstGeom>
            <a:solidFill>
              <a:srgbClr val="F2685C"/>
            </a:solidFill>
            <a:ln>
              <a:noFill/>
            </a:ln>
          </p:spPr>
        </p:sp>
        <p:sp>
          <p:nvSpPr>
            <p:cNvPr id="45" name="TextBox 45"/>
            <p:cNvSpPr txBox="1"/>
            <p:nvPr/>
          </p:nvSpPr>
          <p:spPr>
            <a:xfrm>
              <a:off x="5023104" y="4042410"/>
              <a:ext cx="1476439"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The open question</a:t>
              </a:r>
            </a:p>
          </p:txBody>
        </p:sp>
        <p:sp>
          <p:nvSpPr>
            <p:cNvPr id="46" name="TextBox 46"/>
            <p:cNvSpPr txBox="1"/>
            <p:nvPr/>
          </p:nvSpPr>
          <p:spPr>
            <a:xfrm>
              <a:off x="5023676" y="4340304"/>
              <a:ext cx="516400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Does weight asymmetry actually harm learning? It had never been pinned</a:t>
              </a:r>
            </a:p>
          </p:txBody>
        </p:sp>
        <p:sp>
          <p:nvSpPr>
            <p:cNvPr id="47" name="TextBox 47"/>
            <p:cNvSpPr txBox="1"/>
            <p:nvPr/>
          </p:nvSpPr>
          <p:spPr>
            <a:xfrm>
              <a:off x="5023676" y="4549854"/>
              <a:ext cx="537424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down, because its effect is tangled up with the error from a finite nudge.</a:t>
              </a:r>
            </a:p>
          </p:txBody>
        </p:sp>
        <p:sp>
          <p:nvSpPr>
            <p:cNvPr id="48" name="TextBox 48"/>
            <p:cNvSpPr txBox="1"/>
            <p:nvPr/>
          </p:nvSpPr>
          <p:spPr>
            <a:xfrm>
              <a:off x="5023485" y="5022056"/>
              <a:ext cx="2987717" cy="220028"/>
            </a:xfrm>
            <a:prstGeom prst="rect">
              <a:avLst/>
            </a:prstGeom>
            <a:noFill/>
            <a:ln>
              <a:noFill/>
            </a:ln>
          </p:spPr>
          <p:txBody>
            <a:bodyPr wrap="none" lIns="0" tIns="0" rIns="0" bIns="0" anchor="t" anchorCtr="0">
              <a:spAutoFit/>
            </a:bodyPr>
            <a:lstStyle/>
            <a:p>
              <a:pPr algn="l"/>
              <a:r>
                <a:rPr lang="en-US" sz="1120" b="1" dirty="0">
                  <a:solidFill>
                    <a:srgbClr val="F2685C"/>
                  </a:solidFill>
                  <a:latin typeface="Consolas"/>
                  <a:ea typeface="Consolas"/>
                  <a:cs typeface="Consolas"/>
                </a:rPr>
                <a:t>asymmetry bias + finite-nudge bias = ?</a:t>
              </a:r>
            </a:p>
          </p:txBody>
        </p:sp>
      </p:grpSp>
      <p:sp>
        <p:nvSpPr>
          <p:cNvPr id="50" name="cue_s02_c1_equilibrium_propagation_appealing_wa" title="cue_s02_c1_equilibrium_propagation_appealing_wa" descr="cue_s02_c1_equilibrium_propagation_appealing_wa Equilibrium propagation, or EP, is an appealing way to train neural networks directly on physical substrates like brains or analog chips, because it computes gradients using only the network's own relaxation dynamics."/>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2_but_comes_two_strict_requirements" title="cue_s02_c2_but_comes_two_strict_requirements" descr="cue_s02_c2_but_comes_two_strict_requirements But it comes with two strict requirements: the weights must be perfectly symmetric, and the nudge that pushes the network toward its target must be infinitesimally small."/>
          <p:cNvSpPr/>
          <p:nvPr/>
        </p:nvSpPr>
        <p:spPr>
          <a:xfrm>
            <a:off x="4762195" y="1504645"/>
            <a:ext cx="6820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3_both_very_hard_satisfy_real" title="cue_s02_c3_both_very_hard_satisfy_real" descr="cue_s02_c3_both_very_hard_satisfy_real Both are very hard to satisfy in real physical hardware."/>
          <p:cNvSpPr/>
          <p:nvPr/>
        </p:nvSpPr>
        <p:spPr>
          <a:xfrm>
            <a:off x="4762195" y="2762402"/>
            <a:ext cx="6820204"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4_crucially_whether_weight_asymmetry_a" title="cue_s02_c4_crucially_whether_weight_asymmetry_a" descr="cue_s02_c4_crucially_whether_weight_asymmetry_a And crucially, whether weight asymmetry actually harms learning had never been pinned down, because in practice its effect gets tangled up with the error introduced by using a finite nudge."/>
          <p:cNvSpPr/>
          <p:nvPr/>
        </p:nvSpPr>
        <p:spPr>
          <a:xfrm>
            <a:off x="4762195" y="3791102"/>
            <a:ext cx="6820204" cy="1451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0441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train on physical substrates at all</a:t>
            </a:r>
          </a:p>
        </p:txBody>
      </p:sp>
      <p:grpSp>
        <p:nvGrpSpPr>
          <p:cNvPr id="24" name="Group 24"/>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34D3C0"/>
            </a:solidFill>
            <a:ln>
              <a:noFill/>
            </a:ln>
          </p:spPr>
        </p:sp>
        <p:sp>
          <p:nvSpPr>
            <p:cNvPr id="7" name="TextBox 7"/>
            <p:cNvSpPr txBox="1"/>
            <p:nvPr/>
          </p:nvSpPr>
          <p:spPr>
            <a:xfrm>
              <a:off x="869442" y="1740218"/>
              <a:ext cx="2272146"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It comes down to energy</a:t>
              </a:r>
            </a:p>
          </p:txBody>
        </p:sp>
        <p:sp>
          <p:nvSpPr>
            <p:cNvPr id="8" name="TextBox 8"/>
            <p:cNvSpPr txBox="1"/>
            <p:nvPr/>
          </p:nvSpPr>
          <p:spPr>
            <a:xfrm>
              <a:off x="870776" y="2073354"/>
              <a:ext cx="370620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Brains and neuromorphic chips could train networks</a:t>
              </a:r>
            </a:p>
          </p:txBody>
        </p:sp>
        <p:sp>
          <p:nvSpPr>
            <p:cNvPr id="9" name="TextBox 9"/>
            <p:cNvSpPr txBox="1"/>
            <p:nvPr/>
          </p:nvSpPr>
          <p:spPr>
            <a:xfrm>
              <a:off x="870776" y="2282904"/>
              <a:ext cx="339330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at a tiny fraction of digital hardware's energy</a:t>
              </a:r>
            </a:p>
          </p:txBody>
        </p:sp>
        <p:sp>
          <p:nvSpPr>
            <p:cNvPr id="10" name="TextBox 10"/>
            <p:cNvSpPr txBox="1"/>
            <p:nvPr/>
          </p:nvSpPr>
          <p:spPr>
            <a:xfrm>
              <a:off x="870776" y="2492454"/>
              <a:ext cx="4145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cost.</a:t>
              </a:r>
            </a:p>
          </p:txBody>
        </p:sp>
        <p:sp>
          <p:nvSpPr>
            <p:cNvPr id="11" name="TextBox 11"/>
            <p:cNvSpPr txBox="1"/>
            <p:nvPr/>
          </p:nvSpPr>
          <p:spPr>
            <a:xfrm>
              <a:off x="871347" y="2942749"/>
              <a:ext cx="2604617"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Relative training energy (illustrative)</a:t>
              </a:r>
            </a:p>
          </p:txBody>
        </p:sp>
        <p:sp>
          <p:nvSpPr>
            <p:cNvPr id="12" name="Rectangle 12"/>
            <p:cNvSpPr/>
            <p:nvPr/>
          </p:nvSpPr>
          <p:spPr>
            <a:xfrm>
              <a:off x="2857500" y="3219450"/>
              <a:ext cx="2667000" cy="285750"/>
            </a:xfrm>
            <a:prstGeom prst="roundRect">
              <a:avLst>
                <a:gd name="adj" fmla="val 20000"/>
              </a:avLst>
            </a:prstGeom>
            <a:solidFill>
              <a:srgbClr val="0E2334"/>
            </a:solidFill>
            <a:ln w="9525">
              <a:solidFill>
                <a:srgbClr val="26455F"/>
              </a:solidFill>
            </a:ln>
          </p:spPr>
        </p:sp>
        <p:sp>
          <p:nvSpPr>
            <p:cNvPr id="13" name="Rectangle 13"/>
            <p:cNvSpPr/>
            <p:nvPr/>
          </p:nvSpPr>
          <p:spPr>
            <a:xfrm>
              <a:off x="2857500" y="3219450"/>
              <a:ext cx="2667000" cy="285750"/>
            </a:xfrm>
            <a:prstGeom prst="roundRect">
              <a:avLst>
                <a:gd name="adj" fmla="val 20000"/>
              </a:avLst>
            </a:prstGeom>
            <a:solidFill>
              <a:srgbClr val="F2C14E"/>
            </a:solidFill>
            <a:ln>
              <a:noFill/>
            </a:ln>
          </p:spPr>
        </p:sp>
        <p:sp>
          <p:nvSpPr>
            <p:cNvPr id="14" name="TextBox 14"/>
            <p:cNvSpPr txBox="1"/>
            <p:nvPr/>
          </p:nvSpPr>
          <p:spPr>
            <a:xfrm>
              <a:off x="1449201" y="3311843"/>
              <a:ext cx="129933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Digital / backprop</a:t>
              </a:r>
            </a:p>
          </p:txBody>
        </p:sp>
        <p:sp>
          <p:nvSpPr>
            <p:cNvPr id="15" name="TextBox 15"/>
            <p:cNvSpPr txBox="1"/>
            <p:nvPr/>
          </p:nvSpPr>
          <p:spPr>
            <a:xfrm>
              <a:off x="5614416" y="3311843"/>
              <a:ext cx="300084"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high</a:t>
              </a:r>
            </a:p>
          </p:txBody>
        </p:sp>
        <p:sp>
          <p:nvSpPr>
            <p:cNvPr id="16" name="Rectangle 16"/>
            <p:cNvSpPr/>
            <p:nvPr/>
          </p:nvSpPr>
          <p:spPr>
            <a:xfrm>
              <a:off x="2857500" y="3657600"/>
              <a:ext cx="2667000" cy="285750"/>
            </a:xfrm>
            <a:prstGeom prst="roundRect">
              <a:avLst>
                <a:gd name="adj" fmla="val 20000"/>
              </a:avLst>
            </a:prstGeom>
            <a:solidFill>
              <a:srgbClr val="0E2334"/>
            </a:solidFill>
            <a:ln w="9525">
              <a:solidFill>
                <a:srgbClr val="26455F"/>
              </a:solidFill>
            </a:ln>
          </p:spPr>
        </p:sp>
        <p:sp>
          <p:nvSpPr>
            <p:cNvPr id="17" name="Rectangle 17"/>
            <p:cNvSpPr/>
            <p:nvPr/>
          </p:nvSpPr>
          <p:spPr>
            <a:xfrm>
              <a:off x="2857500" y="3657600"/>
              <a:ext cx="152400" cy="285750"/>
            </a:xfrm>
            <a:prstGeom prst="roundRect">
              <a:avLst>
                <a:gd name="adj" fmla="val 37500"/>
              </a:avLst>
            </a:prstGeom>
            <a:solidFill>
              <a:srgbClr val="34D3C0"/>
            </a:solidFill>
            <a:ln>
              <a:noFill/>
            </a:ln>
          </p:spPr>
        </p:sp>
        <p:sp>
          <p:nvSpPr>
            <p:cNvPr id="18" name="TextBox 18"/>
            <p:cNvSpPr txBox="1"/>
            <p:nvPr/>
          </p:nvSpPr>
          <p:spPr>
            <a:xfrm>
              <a:off x="1375315" y="3749993"/>
              <a:ext cx="137321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Physical substrate</a:t>
              </a:r>
            </a:p>
          </p:txBody>
        </p:sp>
        <p:sp>
          <p:nvSpPr>
            <p:cNvPr id="19" name="TextBox 19"/>
            <p:cNvSpPr txBox="1"/>
            <p:nvPr/>
          </p:nvSpPr>
          <p:spPr>
            <a:xfrm>
              <a:off x="3099816" y="3749993"/>
              <a:ext cx="300084"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tiny</a:t>
              </a:r>
            </a:p>
          </p:txBody>
        </p:sp>
        <p:sp>
          <p:nvSpPr>
            <p:cNvPr id="20" name="Rectangle 20"/>
            <p:cNvSpPr/>
            <p:nvPr/>
          </p:nvSpPr>
          <p:spPr>
            <a:xfrm>
              <a:off x="876300" y="4191000"/>
              <a:ext cx="4800600" cy="857250"/>
            </a:xfrm>
            <a:prstGeom prst="roundRect">
              <a:avLst>
                <a:gd name="adj" fmla="val 11111"/>
              </a:avLst>
            </a:prstGeom>
            <a:solidFill>
              <a:schemeClr val="accent6"/>
            </a:solidFill>
            <a:ln w="14288">
              <a:solidFill>
                <a:srgbClr val="26455F"/>
              </a:solidFill>
            </a:ln>
          </p:spPr>
        </p:sp>
        <p:sp>
          <p:nvSpPr>
            <p:cNvPr id="21" name="TextBox 21"/>
            <p:cNvSpPr txBox="1"/>
            <p:nvPr/>
          </p:nvSpPr>
          <p:spPr>
            <a:xfrm>
              <a:off x="1061656" y="4367451"/>
              <a:ext cx="650084"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The prize</a:t>
              </a:r>
            </a:p>
          </p:txBody>
        </p:sp>
        <p:sp>
          <p:nvSpPr>
            <p:cNvPr id="22" name="TextBox 22"/>
            <p:cNvSpPr txBox="1"/>
            <p:nvPr/>
          </p:nvSpPr>
          <p:spPr>
            <a:xfrm>
              <a:off x="1061656" y="4596051"/>
              <a:ext cx="38828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biologically plausible, low-energy route to training large</a:t>
              </a:r>
            </a:p>
          </p:txBody>
        </p:sp>
        <p:sp>
          <p:nvSpPr>
            <p:cNvPr id="23" name="TextBox 23"/>
            <p:cNvSpPr txBox="1"/>
            <p:nvPr/>
          </p:nvSpPr>
          <p:spPr>
            <a:xfrm>
              <a:off x="1061656" y="4786551"/>
              <a:ext cx="71051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networks.</a:t>
              </a:r>
            </a:p>
          </p:txBody>
        </p:sp>
      </p:grpSp>
      <p:grpSp>
        <p:nvGrpSpPr>
          <p:cNvPr id="31" name="Group 31"/>
          <p:cNvGrpSpPr/>
          <p:nvPr/>
        </p:nvGrpSpPr>
        <p:grpSpPr>
          <a:xfrm>
            <a:off x="6172200" y="1504950"/>
            <a:ext cx="5410200" cy="1162097"/>
            <a:chOff x="6172200" y="1504950"/>
            <a:chExt cx="5410200" cy="1162097"/>
          </a:xfrm>
        </p:grpSpPr>
        <p:sp>
          <p:nvSpPr>
            <p:cNvPr id="25" name="Rectangle 25"/>
            <p:cNvSpPr/>
            <p:nvPr/>
          </p:nvSpPr>
          <p:spPr>
            <a:xfrm>
              <a:off x="6172200" y="1504950"/>
              <a:ext cx="5410200" cy="1104900"/>
            </a:xfrm>
            <a:prstGeom prst="roundRect">
              <a:avLst>
                <a:gd name="adj" fmla="val 12069"/>
              </a:avLst>
            </a:prstGeom>
            <a:solidFill>
              <a:schemeClr val="accent5"/>
            </a:solidFill>
            <a:ln w="14288">
              <a:solidFill>
                <a:srgbClr val="26455F"/>
              </a:solidFill>
            </a:ln>
          </p:spPr>
        </p:sp>
        <p:sp>
          <p:nvSpPr>
            <p:cNvPr id="26" name="Rectangle 26"/>
            <p:cNvSpPr/>
            <p:nvPr/>
          </p:nvSpPr>
          <p:spPr>
            <a:xfrm>
              <a:off x="6172200" y="1504950"/>
              <a:ext cx="57150" cy="1104900"/>
            </a:xfrm>
            <a:prstGeom prst="roundRect">
              <a:avLst>
                <a:gd name="adj" fmla="val 50000"/>
              </a:avLst>
            </a:prstGeom>
            <a:solidFill>
              <a:srgbClr val="F2685C"/>
            </a:solidFill>
            <a:ln>
              <a:noFill/>
            </a:ln>
          </p:spPr>
        </p:sp>
        <p:sp>
          <p:nvSpPr>
            <p:cNvPr id="27" name="TextBox 27"/>
            <p:cNvSpPr txBox="1"/>
            <p:nvPr/>
          </p:nvSpPr>
          <p:spPr>
            <a:xfrm>
              <a:off x="6432804" y="1737360"/>
              <a:ext cx="2858220"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Backprop is biologically implausible</a:t>
              </a:r>
            </a:p>
          </p:txBody>
        </p:sp>
        <p:sp>
          <p:nvSpPr>
            <p:cNvPr id="28" name="TextBox 28"/>
            <p:cNvSpPr txBox="1"/>
            <p:nvPr/>
          </p:nvSpPr>
          <p:spPr>
            <a:xfrm>
              <a:off x="6433376" y="2035254"/>
              <a:ext cx="396320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It needs a separate linear backward pass and the exact</a:t>
              </a:r>
            </a:p>
          </p:txBody>
        </p:sp>
        <p:sp>
          <p:nvSpPr>
            <p:cNvPr id="29" name="TextBox 29"/>
            <p:cNvSpPr txBox="1"/>
            <p:nvPr/>
          </p:nvSpPr>
          <p:spPr>
            <a:xfrm>
              <a:off x="6433376" y="2244804"/>
              <a:ext cx="373080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transpose of every weight matrix, neither of which</a:t>
              </a:r>
            </a:p>
          </p:txBody>
        </p:sp>
        <p:sp>
          <p:nvSpPr>
            <p:cNvPr id="30" name="TextBox 30"/>
            <p:cNvSpPr txBox="1"/>
            <p:nvPr/>
          </p:nvSpPr>
          <p:spPr>
            <a:xfrm>
              <a:off x="6433376" y="2454354"/>
              <a:ext cx="147107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substrates provide.</a:t>
              </a:r>
            </a:p>
          </p:txBody>
        </p:sp>
      </p:grpSp>
      <p:grpSp>
        <p:nvGrpSpPr>
          <p:cNvPr id="37" name="Group 37"/>
          <p:cNvGrpSpPr/>
          <p:nvPr/>
        </p:nvGrpSpPr>
        <p:grpSpPr>
          <a:xfrm>
            <a:off x="6172200" y="2724150"/>
            <a:ext cx="5410200" cy="1028700"/>
            <a:chOff x="6172200" y="2724150"/>
            <a:chExt cx="5410200" cy="1028700"/>
          </a:xfrm>
        </p:grpSpPr>
        <p:sp>
          <p:nvSpPr>
            <p:cNvPr id="32" name="Rectangle 32"/>
            <p:cNvSpPr/>
            <p:nvPr/>
          </p:nvSpPr>
          <p:spPr>
            <a:xfrm>
              <a:off x="6172200" y="2724150"/>
              <a:ext cx="5410200" cy="1028700"/>
            </a:xfrm>
            <a:prstGeom prst="roundRect">
              <a:avLst>
                <a:gd name="adj" fmla="val 12963"/>
              </a:avLst>
            </a:prstGeom>
            <a:solidFill>
              <a:schemeClr val="accent5"/>
            </a:solidFill>
            <a:ln w="14288">
              <a:solidFill>
                <a:srgbClr val="26455F"/>
              </a:solidFill>
            </a:ln>
          </p:spPr>
        </p:sp>
        <p:sp>
          <p:nvSpPr>
            <p:cNvPr id="33" name="Rectangle 33"/>
            <p:cNvSpPr/>
            <p:nvPr/>
          </p:nvSpPr>
          <p:spPr>
            <a:xfrm>
              <a:off x="6172200" y="2724150"/>
              <a:ext cx="57150" cy="1028700"/>
            </a:xfrm>
            <a:prstGeom prst="roundRect">
              <a:avLst>
                <a:gd name="adj" fmla="val 50000"/>
              </a:avLst>
            </a:prstGeom>
            <a:solidFill>
              <a:schemeClr val="accent2"/>
            </a:solidFill>
            <a:ln>
              <a:noFill/>
            </a:ln>
          </p:spPr>
        </p:sp>
        <p:sp>
          <p:nvSpPr>
            <p:cNvPr id="34" name="TextBox 34"/>
            <p:cNvSpPr txBox="1"/>
            <p:nvPr/>
          </p:nvSpPr>
          <p:spPr>
            <a:xfrm>
              <a:off x="6432804" y="2956560"/>
              <a:ext cx="1439218"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EP sidesteps this</a:t>
              </a:r>
            </a:p>
          </p:txBody>
        </p:sp>
        <p:sp>
          <p:nvSpPr>
            <p:cNvPr id="35" name="TextBox 35"/>
            <p:cNvSpPr txBox="1"/>
            <p:nvPr/>
          </p:nvSpPr>
          <p:spPr>
            <a:xfrm>
              <a:off x="6433376" y="3254454"/>
              <a:ext cx="383854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But its own weight-symmetry assumption is nearly as</a:t>
              </a:r>
            </a:p>
          </p:txBody>
        </p:sp>
        <p:sp>
          <p:nvSpPr>
            <p:cNvPr id="36" name="TextBox 36"/>
            <p:cNvSpPr txBox="1"/>
            <p:nvPr/>
          </p:nvSpPr>
          <p:spPr>
            <a:xfrm>
              <a:off x="6433376" y="3464004"/>
              <a:ext cx="263762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demanding as backprop's transpose.</a:t>
              </a:r>
            </a:p>
          </p:txBody>
        </p:sp>
      </p:grpSp>
      <p:grpSp>
        <p:nvGrpSpPr>
          <p:cNvPr id="44" name="Group 44"/>
          <p:cNvGrpSpPr/>
          <p:nvPr/>
        </p:nvGrpSpPr>
        <p:grpSpPr>
          <a:xfrm>
            <a:off x="6172200" y="3867150"/>
            <a:ext cx="5410200" cy="1371600"/>
            <a:chOff x="6172200" y="3867150"/>
            <a:chExt cx="5410200" cy="1371600"/>
          </a:xfrm>
        </p:grpSpPr>
        <p:sp>
          <p:nvSpPr>
            <p:cNvPr id="38" name="Rectangle 38"/>
            <p:cNvSpPr/>
            <p:nvPr/>
          </p:nvSpPr>
          <p:spPr>
            <a:xfrm>
              <a:off x="6172200" y="3867150"/>
              <a:ext cx="5410200" cy="1371600"/>
            </a:xfrm>
            <a:prstGeom prst="roundRect">
              <a:avLst>
                <a:gd name="adj" fmla="val 9722"/>
              </a:avLst>
            </a:prstGeom>
            <a:solidFill>
              <a:srgbClr val="2A2417"/>
            </a:solidFill>
            <a:ln w="14288">
              <a:solidFill>
                <a:srgbClr val="F2C14E"/>
              </a:solidFill>
            </a:ln>
          </p:spPr>
        </p:sp>
        <p:sp>
          <p:nvSpPr>
            <p:cNvPr id="39" name="Rectangle 39"/>
            <p:cNvSpPr/>
            <p:nvPr/>
          </p:nvSpPr>
          <p:spPr>
            <a:xfrm>
              <a:off x="6172200" y="3867150"/>
              <a:ext cx="57150" cy="1371600"/>
            </a:xfrm>
            <a:prstGeom prst="roundRect">
              <a:avLst>
                <a:gd name="adj" fmla="val 50000"/>
              </a:avLst>
            </a:prstGeom>
            <a:solidFill>
              <a:srgbClr val="F2C14E"/>
            </a:solidFill>
            <a:ln>
              <a:noFill/>
            </a:ln>
          </p:spPr>
        </p:sp>
        <p:sp>
          <p:nvSpPr>
            <p:cNvPr id="40" name="TextBox 40"/>
            <p:cNvSpPr txBox="1"/>
            <p:nvPr/>
          </p:nvSpPr>
          <p:spPr>
            <a:xfrm>
              <a:off x="6432804" y="4099560"/>
              <a:ext cx="1188099"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A warning sign</a:t>
              </a:r>
            </a:p>
          </p:txBody>
        </p:sp>
        <p:sp>
          <p:nvSpPr>
            <p:cNvPr id="41" name="TextBox 41"/>
            <p:cNvSpPr txBox="1"/>
            <p:nvPr/>
          </p:nvSpPr>
          <p:spPr>
            <a:xfrm>
              <a:off x="6433376" y="4397454"/>
              <a:ext cx="438059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Asymmetric EP had only ever worked on toy tasks like MNIST,</a:t>
              </a:r>
            </a:p>
          </p:txBody>
        </p:sp>
        <p:sp>
          <p:nvSpPr>
            <p:cNvPr id="42" name="TextBox 42"/>
            <p:cNvSpPr txBox="1"/>
            <p:nvPr/>
          </p:nvSpPr>
          <p:spPr>
            <a:xfrm>
              <a:off x="6433376" y="4607004"/>
              <a:ext cx="232712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and outright failed on CIFAR-10.</a:t>
              </a:r>
            </a:p>
          </p:txBody>
        </p:sp>
        <p:sp>
          <p:nvSpPr>
            <p:cNvPr id="43" name="TextBox 43"/>
            <p:cNvSpPr txBox="1"/>
            <p:nvPr/>
          </p:nvSpPr>
          <p:spPr>
            <a:xfrm>
              <a:off x="6433376" y="4988004"/>
              <a:ext cx="2506371" cy="212693"/>
            </a:xfrm>
            <a:prstGeom prst="rect">
              <a:avLst/>
            </a:prstGeom>
            <a:noFill/>
            <a:ln>
              <a:noFill/>
            </a:ln>
          </p:spPr>
          <p:txBody>
            <a:bodyPr wrap="none" lIns="0" tIns="0" rIns="0" bIns="0" anchor="t" anchorCtr="0">
              <a:spAutoFit/>
            </a:bodyPr>
            <a:lstStyle/>
            <a:p>
              <a:pPr algn="l"/>
              <a:r>
                <a:rPr lang="en-US" sz="1090" b="1" dirty="0">
                  <a:solidFill>
                    <a:srgbClr val="F2C14E"/>
                  </a:solidFill>
                  <a:latin typeface="Consolas"/>
                  <a:ea typeface="Consolas"/>
                  <a:cs typeface="Consolas"/>
                </a:rPr>
                <a:t>MNIST ok · CIFAR-10 fails (why?)</a:t>
              </a:r>
            </a:p>
          </p:txBody>
        </p:sp>
      </p:grpSp>
      <p:sp>
        <p:nvSpPr>
          <p:cNvPr id="45" name="cue_s03_c1_reason_matters_energy_physical_neura" title="cue_s03_c1_reason_matters_energy_physical_neura" descr="cue_s03_c1_reason_matters_energy_physical_neura The reason this matters is energy. Physical neural systems, whether biological brains or neuromorphic chips, could train networks at a tiny fraction of the energy cost of digital hardware."/>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2_but_backpropagation_workhorse_deep_l" title="cue_s03_c2_but_backpropagation_workhorse_deep_l" descr="cue_s03_c2_but_backpropagation_workhorse_deep_l But backpropagation, the workhorse of deep learning, needs a separate linear backward pass and the exact transpose of every weight matrix, neither of which physical substrates provide naturally."/>
          <p:cNvSpPr/>
          <p:nvPr/>
        </p:nvSpPr>
        <p:spPr>
          <a:xfrm>
            <a:off x="6171590" y="1504645"/>
            <a:ext cx="5409590" cy="116243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3_sidesteps_yet_its_own_symmetry" title="cue_s03_c3_sidesteps_yet_its_own_symmetry" descr="cue_s03_c3_sidesteps_yet_its_own_symmetry EP sidesteps this, yet its own symmetry assumption is nearly as demanding."/>
          <p:cNvSpPr/>
          <p:nvPr/>
        </p:nvSpPr>
        <p:spPr>
          <a:xfrm>
            <a:off x="6171590" y="2723997"/>
            <a:ext cx="5409590"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4_warning_sign_asymmetric_version_had" title="cue_s03_c4_warning_sign_asymmetric_version_had" descr="cue_s03_c4_warning_sign_asymmetric_version_had And there was a warning sign: the asymmetric version of EP had only ever worked on toy tasks like MNIST and outright failed on CIFAR-10. Nobody had explained why."/>
          <p:cNvSpPr/>
          <p:nvPr/>
        </p:nvSpPr>
        <p:spPr>
          <a:xfrm>
            <a:off x="6171590" y="3867226"/>
            <a:ext cx="5409590" cy="1371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294261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contributions</a:t>
            </a:r>
          </a:p>
        </p:txBody>
      </p:sp>
      <p:grpSp>
        <p:nvGrpSpPr>
          <p:cNvPr id="16" name="Group 16"/>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93552" y="221170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9" name="TextBox 9"/>
            <p:cNvSpPr txBox="1"/>
            <p:nvPr/>
          </p:nvSpPr>
          <p:spPr>
            <a:xfrm>
              <a:off x="831532" y="2849166"/>
              <a:ext cx="159364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Separate the two</a:t>
              </a:r>
            </a:p>
          </p:txBody>
        </p:sp>
        <p:sp>
          <p:nvSpPr>
            <p:cNvPr id="10" name="TextBox 10"/>
            <p:cNvSpPr txBox="1"/>
            <p:nvPr/>
          </p:nvSpPr>
          <p:spPr>
            <a:xfrm>
              <a:off x="831532" y="3096816"/>
              <a:ext cx="57810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biases</a:t>
              </a:r>
            </a:p>
          </p:txBody>
        </p:sp>
        <p:sp>
          <p:nvSpPr>
            <p:cNvPr id="11" name="TextBox 11"/>
            <p:cNvSpPr txBox="1"/>
            <p:nvPr/>
          </p:nvSpPr>
          <p:spPr>
            <a:xfrm>
              <a:off x="832866" y="3468052"/>
              <a:ext cx="13220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Analytically isolate</a:t>
              </a:r>
            </a:p>
          </p:txBody>
        </p:sp>
        <p:sp>
          <p:nvSpPr>
            <p:cNvPr id="12" name="TextBox 12"/>
            <p:cNvSpPr txBox="1"/>
            <p:nvPr/>
          </p:nvSpPr>
          <p:spPr>
            <a:xfrm>
              <a:off x="832866" y="3677602"/>
              <a:ext cx="189320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generalized EP's two error</a:t>
              </a:r>
            </a:p>
          </p:txBody>
        </p:sp>
        <p:sp>
          <p:nvSpPr>
            <p:cNvPr id="13" name="TextBox 13"/>
            <p:cNvSpPr txBox="1"/>
            <p:nvPr/>
          </p:nvSpPr>
          <p:spPr>
            <a:xfrm>
              <a:off x="832866" y="3887152"/>
              <a:ext cx="213093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sources: the finite nudge, and</a:t>
              </a:r>
            </a:p>
          </p:txBody>
        </p:sp>
        <p:sp>
          <p:nvSpPr>
            <p:cNvPr id="14" name="TextBox 14"/>
            <p:cNvSpPr txBox="1"/>
            <p:nvPr/>
          </p:nvSpPr>
          <p:spPr>
            <a:xfrm>
              <a:off x="832866" y="4096702"/>
              <a:ext cx="22864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asymmetry of the network's</a:t>
              </a:r>
            </a:p>
          </p:txBody>
        </p:sp>
        <p:sp>
          <p:nvSpPr>
            <p:cNvPr id="15" name="TextBox 15"/>
            <p:cNvSpPr txBox="1"/>
            <p:nvPr/>
          </p:nvSpPr>
          <p:spPr>
            <a:xfrm>
              <a:off x="832866" y="4306252"/>
              <a:ext cx="6797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Jacobian.</a:t>
              </a:r>
            </a:p>
          </p:txBody>
        </p:sp>
      </p:grpSp>
      <p:grpSp>
        <p:nvGrpSpPr>
          <p:cNvPr id="28" name="Group 28"/>
          <p:cNvGrpSpPr/>
          <p:nvPr/>
        </p:nvGrpSpPr>
        <p:grpSpPr>
          <a:xfrm>
            <a:off x="3429000" y="1714500"/>
            <a:ext cx="2590800" cy="3543300"/>
            <a:chOff x="3429000" y="1714500"/>
            <a:chExt cx="2590800" cy="3543300"/>
          </a:xfrm>
        </p:grpSpPr>
        <p:sp>
          <p:nvSpPr>
            <p:cNvPr id="17" name="Rectangle 17"/>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8" name="Rectangle 18"/>
            <p:cNvSpPr/>
            <p:nvPr/>
          </p:nvSpPr>
          <p:spPr>
            <a:xfrm>
              <a:off x="3429000" y="1714500"/>
              <a:ext cx="2590800" cy="57150"/>
            </a:xfrm>
            <a:prstGeom prst="roundRect">
              <a:avLst>
                <a:gd name="adj" fmla="val 50000"/>
              </a:avLst>
            </a:prstGeom>
            <a:solidFill>
              <a:srgbClr val="34D3C0"/>
            </a:solidFill>
            <a:ln>
              <a:noFill/>
            </a:ln>
          </p:spPr>
        </p:sp>
        <p:sp>
          <p:nvSpPr>
            <p:cNvPr id="19" name="Ellipse 19"/>
            <p:cNvSpPr/>
            <p:nvPr/>
          </p:nvSpPr>
          <p:spPr>
            <a:xfrm>
              <a:off x="3657600" y="2095500"/>
              <a:ext cx="495300" cy="495300"/>
            </a:xfrm>
            <a:prstGeom prst="ellipse">
              <a:avLst/>
            </a:prstGeom>
            <a:noFill/>
            <a:ln w="23812">
              <a:solidFill>
                <a:srgbClr val="34D3C0"/>
              </a:solidFill>
            </a:ln>
          </p:spPr>
        </p:sp>
        <p:sp>
          <p:nvSpPr>
            <p:cNvPr id="20" name="TextBox 20"/>
            <p:cNvSpPr txBox="1"/>
            <p:nvPr/>
          </p:nvSpPr>
          <p:spPr>
            <a:xfrm>
              <a:off x="3812952" y="221170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21" name="TextBox 21"/>
            <p:cNvSpPr txBox="1"/>
            <p:nvPr/>
          </p:nvSpPr>
          <p:spPr>
            <a:xfrm>
              <a:off x="3650932" y="2849166"/>
              <a:ext cx="145776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Holomorphic EP,</a:t>
              </a:r>
            </a:p>
          </p:txBody>
        </p:sp>
        <p:sp>
          <p:nvSpPr>
            <p:cNvPr id="22" name="TextBox 22"/>
            <p:cNvSpPr txBox="1"/>
            <p:nvPr/>
          </p:nvSpPr>
          <p:spPr>
            <a:xfrm>
              <a:off x="3650932" y="3096816"/>
              <a:ext cx="105954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asymmetric</a:t>
              </a:r>
            </a:p>
          </p:txBody>
        </p:sp>
        <p:sp>
          <p:nvSpPr>
            <p:cNvPr id="23" name="TextBox 23"/>
            <p:cNvSpPr txBox="1"/>
            <p:nvPr/>
          </p:nvSpPr>
          <p:spPr>
            <a:xfrm>
              <a:off x="3652266" y="3468052"/>
              <a:ext cx="17419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Extend holomorphic EP to</a:t>
              </a:r>
            </a:p>
          </p:txBody>
        </p:sp>
        <p:sp>
          <p:nvSpPr>
            <p:cNvPr id="24" name="TextBox 24"/>
            <p:cNvSpPr txBox="1"/>
            <p:nvPr/>
          </p:nvSpPr>
          <p:spPr>
            <a:xfrm>
              <a:off x="3652266" y="3677602"/>
              <a:ext cx="8870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asymmetric,</a:t>
              </a:r>
            </a:p>
          </p:txBody>
        </p:sp>
        <p:sp>
          <p:nvSpPr>
            <p:cNvPr id="25" name="TextBox 25"/>
            <p:cNvSpPr txBox="1"/>
            <p:nvPr/>
          </p:nvSpPr>
          <p:spPr>
            <a:xfrm>
              <a:off x="3652266" y="3887152"/>
              <a:ext cx="16079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complex-differentiable</a:t>
              </a:r>
            </a:p>
          </p:txBody>
        </p:sp>
        <p:sp>
          <p:nvSpPr>
            <p:cNvPr id="26" name="TextBox 26"/>
            <p:cNvSpPr txBox="1"/>
            <p:nvPr/>
          </p:nvSpPr>
          <p:spPr>
            <a:xfrm>
              <a:off x="3652266" y="4096702"/>
              <a:ext cx="21521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systems, recovering the exact</a:t>
              </a:r>
            </a:p>
          </p:txBody>
        </p:sp>
        <p:sp>
          <p:nvSpPr>
            <p:cNvPr id="27" name="TextBox 27"/>
            <p:cNvSpPr txBox="1"/>
            <p:nvPr/>
          </p:nvSpPr>
          <p:spPr>
            <a:xfrm>
              <a:off x="3652266" y="4306252"/>
              <a:ext cx="22793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error without weight symmetry.</a:t>
              </a:r>
            </a:p>
          </p:txBody>
        </p:sp>
      </p:grpSp>
      <p:grpSp>
        <p:nvGrpSpPr>
          <p:cNvPr id="39" name="Group 39"/>
          <p:cNvGrpSpPr/>
          <p:nvPr/>
        </p:nvGrpSpPr>
        <p:grpSpPr>
          <a:xfrm>
            <a:off x="6248400" y="1714500"/>
            <a:ext cx="2590800" cy="3543300"/>
            <a:chOff x="6248400" y="1714500"/>
            <a:chExt cx="2590800" cy="3543300"/>
          </a:xfrm>
        </p:grpSpPr>
        <p:sp>
          <p:nvSpPr>
            <p:cNvPr id="29" name="Rectangle 29"/>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30" name="Rectangle 30"/>
            <p:cNvSpPr/>
            <p:nvPr/>
          </p:nvSpPr>
          <p:spPr>
            <a:xfrm>
              <a:off x="6248400" y="1714500"/>
              <a:ext cx="2590800" cy="57150"/>
            </a:xfrm>
            <a:prstGeom prst="roundRect">
              <a:avLst>
                <a:gd name="adj" fmla="val 50000"/>
              </a:avLst>
            </a:prstGeom>
            <a:solidFill>
              <a:srgbClr val="F2C14E"/>
            </a:solidFill>
            <a:ln>
              <a:noFill/>
            </a:ln>
          </p:spPr>
        </p:sp>
        <p:sp>
          <p:nvSpPr>
            <p:cNvPr id="31" name="Ellipse 31"/>
            <p:cNvSpPr/>
            <p:nvPr/>
          </p:nvSpPr>
          <p:spPr>
            <a:xfrm>
              <a:off x="6477000" y="2095500"/>
              <a:ext cx="495300" cy="495300"/>
            </a:xfrm>
            <a:prstGeom prst="ellipse">
              <a:avLst/>
            </a:prstGeom>
            <a:noFill/>
            <a:ln w="23812">
              <a:solidFill>
                <a:srgbClr val="F2C14E"/>
              </a:solidFill>
            </a:ln>
          </p:spPr>
        </p:sp>
        <p:sp>
          <p:nvSpPr>
            <p:cNvPr id="32" name="TextBox 32"/>
            <p:cNvSpPr txBox="1"/>
            <p:nvPr/>
          </p:nvSpPr>
          <p:spPr>
            <a:xfrm>
              <a:off x="6632352" y="221170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33" name="TextBox 33"/>
            <p:cNvSpPr txBox="1"/>
            <p:nvPr/>
          </p:nvSpPr>
          <p:spPr>
            <a:xfrm>
              <a:off x="6470332" y="2849166"/>
              <a:ext cx="1287731"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 homeostatic</a:t>
              </a:r>
            </a:p>
          </p:txBody>
        </p:sp>
        <p:sp>
          <p:nvSpPr>
            <p:cNvPr id="34" name="TextBox 34"/>
            <p:cNvSpPr txBox="1"/>
            <p:nvPr/>
          </p:nvSpPr>
          <p:spPr>
            <a:xfrm>
              <a:off x="6470332" y="3096816"/>
              <a:ext cx="37441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loss</a:t>
              </a:r>
            </a:p>
          </p:txBody>
        </p:sp>
        <p:sp>
          <p:nvSpPr>
            <p:cNvPr id="35" name="TextBox 35"/>
            <p:cNvSpPr txBox="1"/>
            <p:nvPr/>
          </p:nvSpPr>
          <p:spPr>
            <a:xfrm>
              <a:off x="6471666" y="3468052"/>
              <a:ext cx="20578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Introduce a loss that reduces</a:t>
              </a:r>
            </a:p>
          </p:txBody>
        </p:sp>
        <p:sp>
          <p:nvSpPr>
            <p:cNvPr id="36" name="TextBox 36"/>
            <p:cNvSpPr txBox="1"/>
            <p:nvPr/>
          </p:nvSpPr>
          <p:spPr>
            <a:xfrm>
              <a:off x="6471666" y="3677602"/>
              <a:ext cx="21499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asymmetry of the Jacobian</a:t>
              </a:r>
            </a:p>
          </p:txBody>
        </p:sp>
        <p:sp>
          <p:nvSpPr>
            <p:cNvPr id="37" name="TextBox 37"/>
            <p:cNvSpPr txBox="1"/>
            <p:nvPr/>
          </p:nvSpPr>
          <p:spPr>
            <a:xfrm>
              <a:off x="6471666" y="3887152"/>
              <a:ext cx="20531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directly, rather than forcing</a:t>
              </a:r>
            </a:p>
          </p:txBody>
        </p:sp>
        <p:sp>
          <p:nvSpPr>
            <p:cNvPr id="38" name="TextBox 38"/>
            <p:cNvSpPr txBox="1"/>
            <p:nvPr/>
          </p:nvSpPr>
          <p:spPr>
            <a:xfrm>
              <a:off x="6471666" y="4096702"/>
              <a:ext cx="20602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weights to be symmetric.</a:t>
              </a:r>
            </a:p>
          </p:txBody>
        </p:sp>
      </p:grpSp>
      <p:grpSp>
        <p:nvGrpSpPr>
          <p:cNvPr id="50" name="Group 50"/>
          <p:cNvGrpSpPr/>
          <p:nvPr/>
        </p:nvGrpSpPr>
        <p:grpSpPr>
          <a:xfrm>
            <a:off x="9067800" y="1714500"/>
            <a:ext cx="2590800" cy="3543300"/>
            <a:chOff x="9067800" y="1714500"/>
            <a:chExt cx="2590800" cy="3543300"/>
          </a:xfrm>
        </p:grpSpPr>
        <p:sp>
          <p:nvSpPr>
            <p:cNvPr id="40" name="Rectangle 40"/>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41" name="Rectangle 41"/>
            <p:cNvSpPr/>
            <p:nvPr/>
          </p:nvSpPr>
          <p:spPr>
            <a:xfrm>
              <a:off x="9067800" y="1714500"/>
              <a:ext cx="2590800" cy="57150"/>
            </a:xfrm>
            <a:prstGeom prst="roundRect">
              <a:avLst>
                <a:gd name="adj" fmla="val 50000"/>
              </a:avLst>
            </a:prstGeom>
            <a:solidFill>
              <a:srgbClr val="48C78E"/>
            </a:solidFill>
            <a:ln>
              <a:noFill/>
            </a:ln>
          </p:spPr>
        </p:sp>
        <p:sp>
          <p:nvSpPr>
            <p:cNvPr id="42" name="Ellipse 42"/>
            <p:cNvSpPr/>
            <p:nvPr/>
          </p:nvSpPr>
          <p:spPr>
            <a:xfrm>
              <a:off x="9296400" y="2095500"/>
              <a:ext cx="495300" cy="495300"/>
            </a:xfrm>
            <a:prstGeom prst="ellipse">
              <a:avLst/>
            </a:prstGeom>
            <a:noFill/>
            <a:ln w="23812">
              <a:solidFill>
                <a:srgbClr val="48C78E"/>
              </a:solidFill>
            </a:ln>
          </p:spPr>
        </p:sp>
        <p:sp>
          <p:nvSpPr>
            <p:cNvPr id="43" name="TextBox 43"/>
            <p:cNvSpPr txBox="1"/>
            <p:nvPr/>
          </p:nvSpPr>
          <p:spPr>
            <a:xfrm>
              <a:off x="9451752" y="221170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4</a:t>
              </a:r>
            </a:p>
          </p:txBody>
        </p:sp>
        <p:sp>
          <p:nvSpPr>
            <p:cNvPr id="44" name="TextBox 44"/>
            <p:cNvSpPr txBox="1"/>
            <p:nvPr/>
          </p:nvSpPr>
          <p:spPr>
            <a:xfrm>
              <a:off x="9289732" y="2849166"/>
              <a:ext cx="161446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Scale to ImageNet</a:t>
              </a:r>
            </a:p>
          </p:txBody>
        </p:sp>
        <p:sp>
          <p:nvSpPr>
            <p:cNvPr id="45" name="TextBox 45"/>
            <p:cNvSpPr txBox="1"/>
            <p:nvPr/>
          </p:nvSpPr>
          <p:spPr>
            <a:xfrm>
              <a:off x="9289732" y="3096816"/>
              <a:ext cx="52255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32x32</a:t>
              </a:r>
            </a:p>
          </p:txBody>
        </p:sp>
        <p:sp>
          <p:nvSpPr>
            <p:cNvPr id="46" name="TextBox 46"/>
            <p:cNvSpPr txBox="1"/>
            <p:nvPr/>
          </p:nvSpPr>
          <p:spPr>
            <a:xfrm>
              <a:off x="9291066" y="3468052"/>
              <a:ext cx="19763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Show that with this loss, EP</a:t>
              </a:r>
            </a:p>
          </p:txBody>
        </p:sp>
        <p:sp>
          <p:nvSpPr>
            <p:cNvPr id="47" name="TextBox 47"/>
            <p:cNvSpPr txBox="1"/>
            <p:nvPr/>
          </p:nvSpPr>
          <p:spPr>
            <a:xfrm>
              <a:off x="9291066" y="3677602"/>
              <a:ext cx="19047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finally scales all the way up</a:t>
              </a:r>
            </a:p>
          </p:txBody>
        </p:sp>
        <p:sp>
          <p:nvSpPr>
            <p:cNvPr id="48" name="TextBox 48"/>
            <p:cNvSpPr txBox="1"/>
            <p:nvPr/>
          </p:nvSpPr>
          <p:spPr>
            <a:xfrm>
              <a:off x="9291066" y="3887152"/>
              <a:ext cx="16279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ImageNet at 32 by 32</a:t>
              </a:r>
            </a:p>
          </p:txBody>
        </p:sp>
        <p:sp>
          <p:nvSpPr>
            <p:cNvPr id="49" name="TextBox 49"/>
            <p:cNvSpPr txBox="1"/>
            <p:nvPr/>
          </p:nvSpPr>
          <p:spPr>
            <a:xfrm>
              <a:off x="9291066" y="4096702"/>
              <a:ext cx="7951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resolution.</a:t>
              </a:r>
            </a:p>
          </p:txBody>
        </p:sp>
      </p:grpSp>
      <p:sp>
        <p:nvSpPr>
          <p:cNvPr id="51" name="TextBox 51"/>
          <p:cNvSpPr txBox="1"/>
          <p:nvPr/>
        </p:nvSpPr>
        <p:spPr>
          <a:xfrm>
            <a:off x="603694" y="5437108"/>
            <a:ext cx="450221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Two biases, cleanly separated — then each one removed.</a:t>
            </a:r>
          </a:p>
        </p:txBody>
      </p:sp>
      <p:sp>
        <p:nvSpPr>
          <p:cNvPr id="52" name="cue_s04_c1_makes_four_contributions_first_analy" title="cue_s04_c1_makes_four_contributions_first_analy" descr="cue_s04_c1_makes_four_contributions_first_analy This paper makes four contributions. First, it analytically separates the two sources of bias in generalized EP: the finite nudge and the asymmetry of the network's Jacobian."/>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2_second_extends_holomorphic_asymmetri" title="cue_s04_c2_second_extends_holomorphic_asymmetri" descr="cue_s04_c2_second_extends_holomorphic_asymmetri Second, it extends holomorphic EP to asymmetric, complex-differentiable systems, so the exact error can be recovered even without weight symmetry."/>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3_third_most_practically_introduces_ne" title="cue_s04_c3_third_most_practically_introduces_ne" descr="cue_s04_c3_third_most_practically_introduces_ne Third, and most practically, it introduces a new homeostatic loss that reduces the asymmetry of the Jacobian directly, rather than forcing the weights themselves to be symmetric."/>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4_c4_fourth_demonstrates_loss_finally_sca" title="cue_s04_c4_fourth_demonstrates_loss_finally_sca" descr="cue_s04_c4_fourth_demonstrates_loss_finally_sca And fourth, it demonstrates that with this loss, EP finally scales all the way up to ImageNet at thirty-two by thirty-two resolution."/>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31491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Erase one bias exactly, shrink the other</a:t>
            </a:r>
          </a:p>
        </p:txBody>
      </p:sp>
      <p:grpSp>
        <p:nvGrpSpPr>
          <p:cNvPr id="13" name="Group 13"/>
          <p:cNvGrpSpPr/>
          <p:nvPr/>
        </p:nvGrpSpPr>
        <p:grpSpPr>
          <a:xfrm>
            <a:off x="609600" y="1504950"/>
            <a:ext cx="5410200" cy="1905000"/>
            <a:chOff x="609600" y="1504950"/>
            <a:chExt cx="5410200" cy="1905000"/>
          </a:xfrm>
        </p:grpSpPr>
        <p:sp>
          <p:nvSpPr>
            <p:cNvPr id="5" name="Rectangle 5"/>
            <p:cNvSpPr/>
            <p:nvPr/>
          </p:nvSpPr>
          <p:spPr>
            <a:xfrm>
              <a:off x="609600" y="1504950"/>
              <a:ext cx="5410200" cy="1905000"/>
            </a:xfrm>
            <a:prstGeom prst="roundRect">
              <a:avLst>
                <a:gd name="adj" fmla="val 7000"/>
              </a:avLst>
            </a:prstGeom>
            <a:solidFill>
              <a:schemeClr val="accent5"/>
            </a:solidFill>
            <a:ln w="14288">
              <a:solidFill>
                <a:srgbClr val="26455F"/>
              </a:solidFill>
            </a:ln>
          </p:spPr>
        </p:sp>
        <p:sp>
          <p:nvSpPr>
            <p:cNvPr id="6" name="Rectangle 6"/>
            <p:cNvSpPr/>
            <p:nvPr/>
          </p:nvSpPr>
          <p:spPr>
            <a:xfrm>
              <a:off x="609600" y="1504950"/>
              <a:ext cx="57150" cy="1905000"/>
            </a:xfrm>
            <a:prstGeom prst="roundRect">
              <a:avLst>
                <a:gd name="adj" fmla="val 50000"/>
              </a:avLst>
            </a:prstGeom>
            <a:solidFill>
              <a:schemeClr val="accent2"/>
            </a:solidFill>
            <a:ln>
              <a:noFill/>
            </a:ln>
          </p:spPr>
        </p:sp>
        <p:sp>
          <p:nvSpPr>
            <p:cNvPr id="7" name="TextBox 7"/>
            <p:cNvSpPr txBox="1"/>
            <p:nvPr/>
          </p:nvSpPr>
          <p:spPr>
            <a:xfrm>
              <a:off x="870014" y="1733312"/>
              <a:ext cx="173675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Bias 1 · finite nudge</a:t>
              </a:r>
            </a:p>
          </p:txBody>
        </p:sp>
        <p:sp>
          <p:nvSpPr>
            <p:cNvPr id="8" name="TextBox 8"/>
            <p:cNvSpPr txBox="1"/>
            <p:nvPr/>
          </p:nvSpPr>
          <p:spPr>
            <a:xfrm>
              <a:off x="870966" y="2039302"/>
              <a:ext cx="39023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Drive the network with an oscillating teaching signal and</a:t>
              </a:r>
            </a:p>
          </p:txBody>
        </p:sp>
        <p:sp>
          <p:nvSpPr>
            <p:cNvPr id="9" name="TextBox 9"/>
            <p:cNvSpPr txBox="1"/>
            <p:nvPr/>
          </p:nvSpPr>
          <p:spPr>
            <a:xfrm>
              <a:off x="870966" y="2239328"/>
              <a:ext cx="39804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use a Cauchy integral to recover the exact error vector,</a:t>
              </a:r>
            </a:p>
          </p:txBody>
        </p:sp>
        <p:sp>
          <p:nvSpPr>
            <p:cNvPr id="10" name="TextBox 10"/>
            <p:cNvSpPr txBox="1"/>
            <p:nvPr/>
          </p:nvSpPr>
          <p:spPr>
            <a:xfrm>
              <a:off x="870966" y="2439352"/>
              <a:ext cx="36482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 any nudge size and even an asymmetric Jacobian.</a:t>
              </a:r>
            </a:p>
          </p:txBody>
        </p:sp>
        <p:sp>
          <p:nvSpPr>
            <p:cNvPr id="11" name="Rectangle 11"/>
            <p:cNvSpPr/>
            <p:nvPr/>
          </p:nvSpPr>
          <p:spPr>
            <a:xfrm>
              <a:off x="876300" y="2990850"/>
              <a:ext cx="4876800" cy="419100"/>
            </a:xfrm>
            <a:prstGeom prst="roundRect">
              <a:avLst>
                <a:gd name="adj" fmla="val 18182"/>
              </a:avLst>
            </a:prstGeom>
            <a:solidFill>
              <a:schemeClr val="accent6"/>
            </a:solidFill>
            <a:ln w="14288">
              <a:solidFill>
                <a:srgbClr val="26455F"/>
              </a:solidFill>
            </a:ln>
          </p:spPr>
        </p:sp>
        <p:sp>
          <p:nvSpPr>
            <p:cNvPr id="12" name="TextBox 12"/>
            <p:cNvSpPr txBox="1"/>
            <p:nvPr/>
          </p:nvSpPr>
          <p:spPr>
            <a:xfrm>
              <a:off x="1892083" y="3136106"/>
              <a:ext cx="2845235"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du*/db = (1/2 pi i) oint u*_b / b^2 db</a:t>
              </a:r>
            </a:p>
          </p:txBody>
        </p:sp>
      </p:grpSp>
      <p:grpSp>
        <p:nvGrpSpPr>
          <p:cNvPr id="22" name="Group 22"/>
          <p:cNvGrpSpPr/>
          <p:nvPr/>
        </p:nvGrpSpPr>
        <p:grpSpPr>
          <a:xfrm>
            <a:off x="609600" y="3562350"/>
            <a:ext cx="5410200" cy="1676400"/>
            <a:chOff x="609600" y="3562350"/>
            <a:chExt cx="5410200" cy="1676400"/>
          </a:xfrm>
        </p:grpSpPr>
        <p:sp>
          <p:nvSpPr>
            <p:cNvPr id="14" name="Rectangle 14"/>
            <p:cNvSpPr/>
            <p:nvPr/>
          </p:nvSpPr>
          <p:spPr>
            <a:xfrm>
              <a:off x="609600" y="3562350"/>
              <a:ext cx="5410200" cy="1676400"/>
            </a:xfrm>
            <a:prstGeom prst="roundRect">
              <a:avLst>
                <a:gd name="adj" fmla="val 7955"/>
              </a:avLst>
            </a:prstGeom>
            <a:solidFill>
              <a:srgbClr val="0F2E2B"/>
            </a:solidFill>
            <a:ln w="14288">
              <a:solidFill>
                <a:srgbClr val="34D3C0"/>
              </a:solidFill>
            </a:ln>
          </p:spPr>
        </p:sp>
        <p:sp>
          <p:nvSpPr>
            <p:cNvPr id="15" name="Rectangle 15"/>
            <p:cNvSpPr/>
            <p:nvPr/>
          </p:nvSpPr>
          <p:spPr>
            <a:xfrm>
              <a:off x="609600" y="3562350"/>
              <a:ext cx="57150" cy="1676400"/>
            </a:xfrm>
            <a:prstGeom prst="roundRect">
              <a:avLst>
                <a:gd name="adj" fmla="val 50000"/>
              </a:avLst>
            </a:prstGeom>
            <a:solidFill>
              <a:srgbClr val="34D3C0"/>
            </a:solidFill>
            <a:ln>
              <a:noFill/>
            </a:ln>
          </p:spPr>
        </p:sp>
        <p:sp>
          <p:nvSpPr>
            <p:cNvPr id="16" name="TextBox 16"/>
            <p:cNvSpPr txBox="1"/>
            <p:nvPr/>
          </p:nvSpPr>
          <p:spPr>
            <a:xfrm>
              <a:off x="870204" y="3794760"/>
              <a:ext cx="203587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Estimate it continuously</a:t>
              </a:r>
            </a:p>
          </p:txBody>
        </p:sp>
        <p:sp>
          <p:nvSpPr>
            <p:cNvPr id="17" name="TextBox 17"/>
            <p:cNvSpPr txBox="1"/>
            <p:nvPr/>
          </p:nvSpPr>
          <p:spPr>
            <a:xfrm>
              <a:off x="870966" y="4096702"/>
              <a:ext cx="35419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integral can be estimated over many oscillation</a:t>
              </a:r>
            </a:p>
          </p:txBody>
        </p:sp>
        <p:sp>
          <p:nvSpPr>
            <p:cNvPr id="18" name="TextBox 18"/>
            <p:cNvSpPr txBox="1"/>
            <p:nvPr/>
          </p:nvSpPr>
          <p:spPr>
            <a:xfrm>
              <a:off x="870966" y="4296728"/>
              <a:ext cx="38836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cycles, removing the need for separate free and nudged</a:t>
              </a:r>
            </a:p>
          </p:txBody>
        </p:sp>
        <p:sp>
          <p:nvSpPr>
            <p:cNvPr id="19" name="TextBox 19"/>
            <p:cNvSpPr txBox="1"/>
            <p:nvPr/>
          </p:nvSpPr>
          <p:spPr>
            <a:xfrm>
              <a:off x="870966" y="449675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phases.</a:t>
              </a:r>
            </a:p>
          </p:txBody>
        </p:sp>
        <p:sp>
          <p:nvSpPr>
            <p:cNvPr id="20" name="Rectangle 20"/>
            <p:cNvSpPr/>
            <p:nvPr/>
          </p:nvSpPr>
          <p:spPr>
            <a:xfrm>
              <a:off x="876300" y="4781550"/>
              <a:ext cx="4876800" cy="419100"/>
            </a:xfrm>
            <a:prstGeom prst="roundRect">
              <a:avLst>
                <a:gd name="adj" fmla="val 18182"/>
              </a:avLst>
            </a:prstGeom>
            <a:solidFill>
              <a:schemeClr val="accent6"/>
            </a:solidFill>
            <a:ln w="14288">
              <a:solidFill>
                <a:srgbClr val="26455F"/>
              </a:solidFill>
            </a:ln>
          </p:spPr>
        </p:sp>
        <p:sp>
          <p:nvSpPr>
            <p:cNvPr id="21" name="TextBox 21"/>
            <p:cNvSpPr txBox="1"/>
            <p:nvPr/>
          </p:nvSpPr>
          <p:spPr>
            <a:xfrm>
              <a:off x="1583159" y="4938951"/>
              <a:ext cx="3463082"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 (1/T|b|) integral_0^T u*_b(t) e^(-2 pi i t/T) dt</a:t>
              </a:r>
            </a:p>
          </p:txBody>
        </p:sp>
      </p:grpSp>
      <p:grpSp>
        <p:nvGrpSpPr>
          <p:cNvPr id="31" name="Group 31"/>
          <p:cNvGrpSpPr/>
          <p:nvPr/>
        </p:nvGrpSpPr>
        <p:grpSpPr>
          <a:xfrm>
            <a:off x="6248400" y="1504950"/>
            <a:ext cx="5334000" cy="1905000"/>
            <a:chOff x="6248400" y="1504950"/>
            <a:chExt cx="5334000" cy="1905000"/>
          </a:xfrm>
        </p:grpSpPr>
        <p:sp>
          <p:nvSpPr>
            <p:cNvPr id="23" name="Rectangle 23"/>
            <p:cNvSpPr/>
            <p:nvPr/>
          </p:nvSpPr>
          <p:spPr>
            <a:xfrm>
              <a:off x="6248400" y="1504950"/>
              <a:ext cx="5334000" cy="1905000"/>
            </a:xfrm>
            <a:prstGeom prst="roundRect">
              <a:avLst>
                <a:gd name="adj" fmla="val 7000"/>
              </a:avLst>
            </a:prstGeom>
            <a:solidFill>
              <a:schemeClr val="accent5"/>
            </a:solidFill>
            <a:ln w="14288">
              <a:solidFill>
                <a:srgbClr val="26455F"/>
              </a:solidFill>
            </a:ln>
          </p:spPr>
        </p:sp>
        <p:sp>
          <p:nvSpPr>
            <p:cNvPr id="24" name="Rectangle 24"/>
            <p:cNvSpPr/>
            <p:nvPr/>
          </p:nvSpPr>
          <p:spPr>
            <a:xfrm>
              <a:off x="6248400" y="1504950"/>
              <a:ext cx="57150" cy="1905000"/>
            </a:xfrm>
            <a:prstGeom prst="roundRect">
              <a:avLst>
                <a:gd name="adj" fmla="val 50000"/>
              </a:avLst>
            </a:prstGeom>
            <a:solidFill>
              <a:srgbClr val="F2C14E"/>
            </a:solidFill>
            <a:ln>
              <a:noFill/>
            </a:ln>
          </p:spPr>
        </p:sp>
        <p:sp>
          <p:nvSpPr>
            <p:cNvPr id="25" name="TextBox 25"/>
            <p:cNvSpPr txBox="1"/>
            <p:nvPr/>
          </p:nvSpPr>
          <p:spPr>
            <a:xfrm>
              <a:off x="6508814" y="1733312"/>
              <a:ext cx="2435600"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Bias 2 · Jacobian asymmetry</a:t>
              </a:r>
            </a:p>
          </p:txBody>
        </p:sp>
        <p:sp>
          <p:nvSpPr>
            <p:cNvPr id="26" name="TextBox 26"/>
            <p:cNvSpPr txBox="1"/>
            <p:nvPr/>
          </p:nvSpPr>
          <p:spPr>
            <a:xfrm>
              <a:off x="6509766" y="2039302"/>
              <a:ext cx="38230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This bias grows with the skew-symmetric part A of the</a:t>
              </a:r>
            </a:p>
          </p:txBody>
        </p:sp>
        <p:sp>
          <p:nvSpPr>
            <p:cNvPr id="27" name="TextBox 27"/>
            <p:cNvSpPr txBox="1"/>
            <p:nvPr/>
          </p:nvSpPr>
          <p:spPr>
            <a:xfrm>
              <a:off x="6509766" y="2239328"/>
              <a:ext cx="358896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Jacobian. A homeostatic loss penalizes exactly that</a:t>
              </a:r>
            </a:p>
          </p:txBody>
        </p:sp>
        <p:sp>
          <p:nvSpPr>
            <p:cNvPr id="28" name="TextBox 28"/>
            <p:cNvSpPr txBox="1"/>
            <p:nvPr/>
          </p:nvSpPr>
          <p:spPr>
            <a:xfrm>
              <a:off x="6509766" y="2439352"/>
              <a:ext cx="34503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part, estimated with the Hutchinson trace trick.</a:t>
              </a:r>
            </a:p>
          </p:txBody>
        </p:sp>
        <p:sp>
          <p:nvSpPr>
            <p:cNvPr id="29" name="Rectangle 29"/>
            <p:cNvSpPr/>
            <p:nvPr/>
          </p:nvSpPr>
          <p:spPr>
            <a:xfrm>
              <a:off x="6515100" y="2990850"/>
              <a:ext cx="4800600" cy="419100"/>
            </a:xfrm>
            <a:prstGeom prst="roundRect">
              <a:avLst>
                <a:gd name="adj" fmla="val 18182"/>
              </a:avLst>
            </a:prstGeom>
            <a:solidFill>
              <a:schemeClr val="accent6"/>
            </a:solidFill>
            <a:ln w="14288">
              <a:solidFill>
                <a:srgbClr val="26455F"/>
              </a:solidFill>
            </a:ln>
          </p:spPr>
        </p:sp>
        <p:sp>
          <p:nvSpPr>
            <p:cNvPr id="30" name="TextBox 30"/>
            <p:cNvSpPr txBox="1"/>
            <p:nvPr/>
          </p:nvSpPr>
          <p:spPr>
            <a:xfrm>
              <a:off x="7554947" y="3136106"/>
              <a:ext cx="2720905"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L_homeo = E[ ||J e||^2 - e^T J^2 e ]</a:t>
              </a:r>
            </a:p>
          </p:txBody>
        </p:sp>
      </p:grpSp>
      <p:grpSp>
        <p:nvGrpSpPr>
          <p:cNvPr id="40" name="Group 40"/>
          <p:cNvGrpSpPr/>
          <p:nvPr/>
        </p:nvGrpSpPr>
        <p:grpSpPr>
          <a:xfrm>
            <a:off x="6248400" y="3562350"/>
            <a:ext cx="5334000" cy="1676400"/>
            <a:chOff x="6248400" y="3562350"/>
            <a:chExt cx="5334000" cy="1676400"/>
          </a:xfrm>
        </p:grpSpPr>
        <p:sp>
          <p:nvSpPr>
            <p:cNvPr id="32" name="Rectangle 32"/>
            <p:cNvSpPr/>
            <p:nvPr/>
          </p:nvSpPr>
          <p:spPr>
            <a:xfrm>
              <a:off x="6248400" y="3562350"/>
              <a:ext cx="5334000" cy="1676400"/>
            </a:xfrm>
            <a:prstGeom prst="roundRect">
              <a:avLst>
                <a:gd name="adj" fmla="val 7955"/>
              </a:avLst>
            </a:prstGeom>
            <a:solidFill>
              <a:schemeClr val="accent5"/>
            </a:solidFill>
            <a:ln w="14288">
              <a:solidFill>
                <a:srgbClr val="26455F"/>
              </a:solidFill>
            </a:ln>
          </p:spPr>
        </p:sp>
        <p:sp>
          <p:nvSpPr>
            <p:cNvPr id="33" name="Rectangle 33"/>
            <p:cNvSpPr/>
            <p:nvPr/>
          </p:nvSpPr>
          <p:spPr>
            <a:xfrm>
              <a:off x="6248400" y="3562350"/>
              <a:ext cx="57150" cy="1676400"/>
            </a:xfrm>
            <a:prstGeom prst="roundRect">
              <a:avLst>
                <a:gd name="adj" fmla="val 50000"/>
              </a:avLst>
            </a:prstGeom>
            <a:solidFill>
              <a:srgbClr val="48C78E"/>
            </a:solidFill>
            <a:ln>
              <a:noFill/>
            </a:ln>
          </p:spPr>
        </p:sp>
        <p:sp>
          <p:nvSpPr>
            <p:cNvPr id="34" name="TextBox 34"/>
            <p:cNvSpPr txBox="1"/>
            <p:nvPr/>
          </p:nvSpPr>
          <p:spPr>
            <a:xfrm>
              <a:off x="6509004" y="3794760"/>
              <a:ext cx="2825098"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Key insight · functional symmetry</a:t>
              </a:r>
            </a:p>
          </p:txBody>
        </p:sp>
        <p:sp>
          <p:nvSpPr>
            <p:cNvPr id="35" name="TextBox 35"/>
            <p:cNvSpPr txBox="1"/>
            <p:nvPr/>
          </p:nvSpPr>
          <p:spPr>
            <a:xfrm>
              <a:off x="6509766" y="4096702"/>
              <a:ext cx="38011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loss improves functional symmetry of the Jacobian</a:t>
              </a:r>
            </a:p>
          </p:txBody>
        </p:sp>
        <p:sp>
          <p:nvSpPr>
            <p:cNvPr id="36" name="TextBox 36"/>
            <p:cNvSpPr txBox="1"/>
            <p:nvPr/>
          </p:nvSpPr>
          <p:spPr>
            <a:xfrm>
              <a:off x="6509766" y="4296728"/>
              <a:ext cx="35161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without ever forcing the weights themselves to be</a:t>
              </a:r>
            </a:p>
          </p:txBody>
        </p:sp>
        <p:sp>
          <p:nvSpPr>
            <p:cNvPr id="37" name="TextBox 37"/>
            <p:cNvSpPr txBox="1"/>
            <p:nvPr/>
          </p:nvSpPr>
          <p:spPr>
            <a:xfrm>
              <a:off x="6509766" y="4496752"/>
              <a:ext cx="8093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symmetric.</a:t>
              </a:r>
            </a:p>
          </p:txBody>
        </p:sp>
        <p:sp>
          <p:nvSpPr>
            <p:cNvPr id="38" name="Rectangle 38"/>
            <p:cNvSpPr/>
            <p:nvPr/>
          </p:nvSpPr>
          <p:spPr>
            <a:xfrm>
              <a:off x="6515100" y="4781550"/>
              <a:ext cx="4800600" cy="419100"/>
            </a:xfrm>
            <a:prstGeom prst="roundRect">
              <a:avLst>
                <a:gd name="adj" fmla="val 18182"/>
              </a:avLst>
            </a:prstGeom>
            <a:solidFill>
              <a:schemeClr val="accent6"/>
            </a:solidFill>
            <a:ln w="14288">
              <a:solidFill>
                <a:srgbClr val="26455F"/>
              </a:solidFill>
            </a:ln>
          </p:spPr>
        </p:sp>
        <p:sp>
          <p:nvSpPr>
            <p:cNvPr id="39" name="TextBox 39"/>
            <p:cNvSpPr txBox="1"/>
            <p:nvPr/>
          </p:nvSpPr>
          <p:spPr>
            <a:xfrm>
              <a:off x="7572321" y="4934902"/>
              <a:ext cx="2686157"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d_b u* = delta - 2 S^-1 A delta + o(.)</a:t>
              </a:r>
            </a:p>
          </p:txBody>
        </p:sp>
      </p:grpSp>
      <p:sp>
        <p:nvSpPr>
          <p:cNvPr id="41" name="cue_s05_c1_method_two_parts_kill_finite_nudge" title="cue_s05_c1_method_two_parts_kill_finite_nudge" descr="cue_s05_c1_method_two_parts_kill_finite_nudge The method has two parts. To kill the finite-nudge bias, the authors build on holomorphic EP: they drive the network with an oscillating teaching signal and use a Cauchy integral from complex analysis to recover the exact error vector, no matter how large the"/>
          <p:cNvSpPr/>
          <p:nvPr/>
        </p:nvSpPr>
        <p:spPr>
          <a:xfrm>
            <a:off x="609600" y="1504645"/>
            <a:ext cx="540959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2_better_still_estimated_continuously" title="cue_s05_c2_better_still_estimated_continuously" descr="cue_s05_c2_better_still_estimated_continuously Better still, this can be estimated continuously over many oscillation cycles, removing the need for separate free and nudged phases."/>
          <p:cNvSpPr/>
          <p:nvPr/>
        </p:nvSpPr>
        <p:spPr>
          <a:xfrm>
            <a:off x="609600" y="3562045"/>
            <a:ext cx="5696102"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3_tackle_second_bias_they_show" title="cue_s05_c3_tackle_second_bias_they_show" descr="cue_s05_c3_tackle_second_bias_they_show To tackle the second bias, they show it grows with the skew-symmetric part of the Jacobian, and introduce a homeostatic loss that penalizes exactly that part, estimated efficiently with the Hutchinson trace trick."/>
          <p:cNvSpPr/>
          <p:nvPr/>
        </p:nvSpPr>
        <p:spPr>
          <a:xfrm>
            <a:off x="6248399" y="1504645"/>
            <a:ext cx="53340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4_key_insight_improves_functional_symm" title="cue_s05_c4_key_insight_improves_functional_symm" descr="cue_s05_c4_key_insight_improves_functional_symm The key insight is that this improves functional symmetry of the Jacobian without ever forcing the weights to be symmetric."/>
          <p:cNvSpPr/>
          <p:nvPr/>
        </p:nvSpPr>
        <p:spPr>
          <a:xfrm>
            <a:off x="6248399" y="35620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2644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datasets of rising difficulty</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204" y="1708785"/>
              <a:ext cx="1014383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Experiments span four datasets of increasing difficulty, from bias-isolation MLPs up to large-scale image classification.</a:t>
              </a:r>
            </a:p>
          </p:txBody>
        </p:sp>
      </p:grpSp>
      <p:grpSp>
        <p:nvGrpSpPr>
          <p:cNvPr id="17" name="Group 17"/>
          <p:cNvGrpSpPr/>
          <p:nvPr/>
        </p:nvGrpSpPr>
        <p:grpSpPr>
          <a:xfrm>
            <a:off x="609600" y="2286000"/>
            <a:ext cx="5334000" cy="1428750"/>
            <a:chOff x="609600" y="2286000"/>
            <a:chExt cx="5334000" cy="1428750"/>
          </a:xfrm>
        </p:grpSpPr>
        <p:sp>
          <p:nvSpPr>
            <p:cNvPr id="9" name="Rectangle 9"/>
            <p:cNvSpPr/>
            <p:nvPr/>
          </p:nvSpPr>
          <p:spPr>
            <a:xfrm>
              <a:off x="609600" y="2286000"/>
              <a:ext cx="5334000" cy="1428750"/>
            </a:xfrm>
            <a:prstGeom prst="roundRect">
              <a:avLst>
                <a:gd name="adj" fmla="val 9333"/>
              </a:avLst>
            </a:prstGeom>
            <a:solidFill>
              <a:schemeClr val="accent5"/>
            </a:solidFill>
            <a:ln w="14288">
              <a:solidFill>
                <a:srgbClr val="26455F"/>
              </a:solidFill>
            </a:ln>
          </p:spPr>
        </p:sp>
        <p:sp>
          <p:nvSpPr>
            <p:cNvPr id="10" name="Rectangle 10"/>
            <p:cNvSpPr/>
            <p:nvPr/>
          </p:nvSpPr>
          <p:spPr>
            <a:xfrm>
              <a:off x="609600" y="2286000"/>
              <a:ext cx="57150" cy="1428750"/>
            </a:xfrm>
            <a:prstGeom prst="roundRect">
              <a:avLst>
                <a:gd name="adj" fmla="val 50000"/>
              </a:avLst>
            </a:prstGeom>
            <a:solidFill>
              <a:schemeClr val="accent2"/>
            </a:solidFill>
            <a:ln>
              <a:noFill/>
            </a:ln>
          </p:spPr>
        </p:sp>
        <p:sp>
          <p:nvSpPr>
            <p:cNvPr id="11" name="TextBox 11"/>
            <p:cNvSpPr txBox="1"/>
            <p:nvPr/>
          </p:nvSpPr>
          <p:spPr>
            <a:xfrm>
              <a:off x="869061" y="2532221"/>
              <a:ext cx="2666558"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Fashion MNIST · small MLPs</a:t>
              </a:r>
            </a:p>
          </p:txBody>
        </p:sp>
        <p:sp>
          <p:nvSpPr>
            <p:cNvPr id="12" name="TextBox 12"/>
            <p:cNvSpPr txBox="1"/>
            <p:nvPr/>
          </p:nvSpPr>
          <p:spPr>
            <a:xfrm>
              <a:off x="870776" y="2892504"/>
              <a:ext cx="37941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Small multilayer networks used to cleanly isolate and</a:t>
              </a:r>
            </a:p>
          </p:txBody>
        </p:sp>
        <p:sp>
          <p:nvSpPr>
            <p:cNvPr id="13" name="TextBox 13"/>
            <p:cNvSpPr txBox="1"/>
            <p:nvPr/>
          </p:nvSpPr>
          <p:spPr>
            <a:xfrm>
              <a:off x="870776" y="3102054"/>
              <a:ext cx="211670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measure each source of bias.</a:t>
              </a:r>
            </a:p>
          </p:txBody>
        </p:sp>
        <p:sp>
          <p:nvSpPr>
            <p:cNvPr id="14" name="Rectangle 14"/>
            <p:cNvSpPr/>
            <p:nvPr/>
          </p:nvSpPr>
          <p:spPr>
            <a:xfrm>
              <a:off x="876300" y="3333750"/>
              <a:ext cx="4457700" cy="285750"/>
            </a:xfrm>
            <a:prstGeom prst="roundRect">
              <a:avLst>
                <a:gd name="adj" fmla="val 26667"/>
              </a:avLst>
            </a:prstGeom>
            <a:solidFill>
              <a:schemeClr val="accent6"/>
            </a:solidFill>
            <a:ln w="14288">
              <a:solidFill>
                <a:srgbClr val="26455F"/>
              </a:solidFill>
            </a:ln>
          </p:spPr>
        </p:sp>
        <p:sp>
          <p:nvSpPr>
            <p:cNvPr id="15" name="Ellipse 15"/>
            <p:cNvSpPr/>
            <p:nvPr/>
          </p:nvSpPr>
          <p:spPr>
            <a:xfrm>
              <a:off x="1000125" y="3429000"/>
              <a:ext cx="95250" cy="95250"/>
            </a:xfrm>
            <a:prstGeom prst="ellipse">
              <a:avLst/>
            </a:prstGeom>
            <a:solidFill>
              <a:schemeClr val="accent2"/>
            </a:solidFill>
            <a:ln>
              <a:noFill/>
            </a:ln>
          </p:spPr>
        </p:sp>
        <p:sp>
          <p:nvSpPr>
            <p:cNvPr id="16" name="TextBox 16"/>
            <p:cNvSpPr txBox="1"/>
            <p:nvPr/>
          </p:nvSpPr>
          <p:spPr>
            <a:xfrm>
              <a:off x="1194626" y="3416379"/>
              <a:ext cx="383732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Purpose: separate finite-nudge vs asymmetry bias</a:t>
              </a:r>
            </a:p>
          </p:txBody>
        </p:sp>
      </p:grpSp>
      <p:grpSp>
        <p:nvGrpSpPr>
          <p:cNvPr id="26" name="Group 26"/>
          <p:cNvGrpSpPr/>
          <p:nvPr/>
        </p:nvGrpSpPr>
        <p:grpSpPr>
          <a:xfrm>
            <a:off x="6248400" y="2286000"/>
            <a:ext cx="5334000" cy="1428750"/>
            <a:chOff x="6248400" y="2286000"/>
            <a:chExt cx="5334000" cy="1428750"/>
          </a:xfrm>
        </p:grpSpPr>
        <p:sp>
          <p:nvSpPr>
            <p:cNvPr id="18" name="Rectangle 18"/>
            <p:cNvSpPr/>
            <p:nvPr/>
          </p:nvSpPr>
          <p:spPr>
            <a:xfrm>
              <a:off x="6248400" y="2286000"/>
              <a:ext cx="5334000" cy="1428750"/>
            </a:xfrm>
            <a:prstGeom prst="roundRect">
              <a:avLst>
                <a:gd name="adj" fmla="val 9333"/>
              </a:avLst>
            </a:prstGeom>
            <a:solidFill>
              <a:schemeClr val="accent5"/>
            </a:solidFill>
            <a:ln w="14288">
              <a:solidFill>
                <a:srgbClr val="26455F"/>
              </a:solidFill>
            </a:ln>
          </p:spPr>
        </p:sp>
        <p:sp>
          <p:nvSpPr>
            <p:cNvPr id="19" name="Rectangle 19"/>
            <p:cNvSpPr/>
            <p:nvPr/>
          </p:nvSpPr>
          <p:spPr>
            <a:xfrm>
              <a:off x="6248400" y="2286000"/>
              <a:ext cx="57150" cy="1428750"/>
            </a:xfrm>
            <a:prstGeom prst="roundRect">
              <a:avLst>
                <a:gd name="adj" fmla="val 50000"/>
              </a:avLst>
            </a:prstGeom>
            <a:solidFill>
              <a:srgbClr val="34D3C0"/>
            </a:solidFill>
            <a:ln>
              <a:noFill/>
            </a:ln>
          </p:spPr>
        </p:sp>
        <p:sp>
          <p:nvSpPr>
            <p:cNvPr id="20" name="TextBox 20"/>
            <p:cNvSpPr txBox="1"/>
            <p:nvPr/>
          </p:nvSpPr>
          <p:spPr>
            <a:xfrm>
              <a:off x="6508623" y="2548414"/>
              <a:ext cx="3800671"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Recurrent conv net · asymmetric feedback</a:t>
              </a:r>
            </a:p>
          </p:txBody>
        </p:sp>
        <p:sp>
          <p:nvSpPr>
            <p:cNvPr id="21" name="TextBox 21"/>
            <p:cNvSpPr txBox="1"/>
            <p:nvPr/>
          </p:nvSpPr>
          <p:spPr>
            <a:xfrm>
              <a:off x="6509576" y="2892504"/>
              <a:ext cx="369161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Genuinely asymmetric feedback weights, trained on</a:t>
              </a:r>
            </a:p>
          </p:txBody>
        </p:sp>
        <p:sp>
          <p:nvSpPr>
            <p:cNvPr id="22" name="TextBox 22"/>
            <p:cNvSpPr txBox="1"/>
            <p:nvPr/>
          </p:nvSpPr>
          <p:spPr>
            <a:xfrm>
              <a:off x="6509576" y="3102054"/>
              <a:ext cx="240284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progressively harder image sets.</a:t>
              </a:r>
            </a:p>
          </p:txBody>
        </p:sp>
        <p:sp>
          <p:nvSpPr>
            <p:cNvPr id="23" name="Rectangle 23"/>
            <p:cNvSpPr/>
            <p:nvPr/>
          </p:nvSpPr>
          <p:spPr>
            <a:xfrm>
              <a:off x="6515100" y="3333750"/>
              <a:ext cx="4457700" cy="285750"/>
            </a:xfrm>
            <a:prstGeom prst="roundRect">
              <a:avLst>
                <a:gd name="adj" fmla="val 26667"/>
              </a:avLst>
            </a:prstGeom>
            <a:solidFill>
              <a:schemeClr val="accent6"/>
            </a:solidFill>
            <a:ln w="14288">
              <a:solidFill>
                <a:srgbClr val="26455F"/>
              </a:solidFill>
            </a:ln>
          </p:spPr>
        </p:sp>
        <p:sp>
          <p:nvSpPr>
            <p:cNvPr id="24" name="Ellipse 24"/>
            <p:cNvSpPr/>
            <p:nvPr/>
          </p:nvSpPr>
          <p:spPr>
            <a:xfrm>
              <a:off x="6638925" y="3429000"/>
              <a:ext cx="95250" cy="95250"/>
            </a:xfrm>
            <a:prstGeom prst="ellipse">
              <a:avLst/>
            </a:prstGeom>
            <a:solidFill>
              <a:srgbClr val="34D3C0"/>
            </a:solidFill>
            <a:ln>
              <a:noFill/>
            </a:ln>
          </p:spPr>
        </p:sp>
        <p:sp>
          <p:nvSpPr>
            <p:cNvPr id="25" name="TextBox 25"/>
            <p:cNvSpPr txBox="1"/>
            <p:nvPr/>
          </p:nvSpPr>
          <p:spPr>
            <a:xfrm>
              <a:off x="6833426" y="3416379"/>
              <a:ext cx="297127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CIFAR-10 · CIFAR-100 · ImageNet 32x32</a:t>
              </a:r>
            </a:p>
          </p:txBody>
        </p:sp>
      </p:grpSp>
      <p:grpSp>
        <p:nvGrpSpPr>
          <p:cNvPr id="32" name="Group 32"/>
          <p:cNvGrpSpPr/>
          <p:nvPr/>
        </p:nvGrpSpPr>
        <p:grpSpPr>
          <a:xfrm>
            <a:off x="609600" y="3905250"/>
            <a:ext cx="10972800" cy="1333500"/>
            <a:chOff x="609600" y="3905250"/>
            <a:chExt cx="10972800" cy="1333500"/>
          </a:xfrm>
        </p:grpSpPr>
        <p:sp>
          <p:nvSpPr>
            <p:cNvPr id="27" name="Rectangle 27"/>
            <p:cNvSpPr/>
            <p:nvPr/>
          </p:nvSpPr>
          <p:spPr>
            <a:xfrm>
              <a:off x="609600" y="3905250"/>
              <a:ext cx="10972800" cy="1333500"/>
            </a:xfrm>
            <a:prstGeom prst="roundRect">
              <a:avLst>
                <a:gd name="adj" fmla="val 10000"/>
              </a:avLst>
            </a:prstGeom>
            <a:solidFill>
              <a:srgbClr val="2A2417"/>
            </a:solidFill>
            <a:ln w="14288">
              <a:solidFill>
                <a:srgbClr val="F2C14E"/>
              </a:solidFill>
            </a:ln>
          </p:spPr>
        </p:sp>
        <p:sp>
          <p:nvSpPr>
            <p:cNvPr id="28" name="Rectangle 28"/>
            <p:cNvSpPr/>
            <p:nvPr/>
          </p:nvSpPr>
          <p:spPr>
            <a:xfrm>
              <a:off x="609600" y="3905250"/>
              <a:ext cx="57150" cy="1333500"/>
            </a:xfrm>
            <a:prstGeom prst="roundRect">
              <a:avLst>
                <a:gd name="adj" fmla="val 50000"/>
              </a:avLst>
            </a:prstGeom>
            <a:solidFill>
              <a:srgbClr val="F2C14E"/>
            </a:solidFill>
            <a:ln>
              <a:noFill/>
            </a:ln>
          </p:spPr>
        </p:sp>
        <p:sp>
          <p:nvSpPr>
            <p:cNvPr id="29" name="TextBox 29"/>
            <p:cNvSpPr txBox="1"/>
            <p:nvPr/>
          </p:nvSpPr>
          <p:spPr>
            <a:xfrm>
              <a:off x="869823" y="4129564"/>
              <a:ext cx="3471850"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Beyond reciprocal networks (Appendix)</a:t>
              </a:r>
            </a:p>
          </p:txBody>
        </p:sp>
        <p:sp>
          <p:nvSpPr>
            <p:cNvPr id="30" name="TextBox 30"/>
            <p:cNvSpPr txBox="1"/>
            <p:nvPr/>
          </p:nvSpPr>
          <p:spPr>
            <a:xfrm>
              <a:off x="870776" y="4454604"/>
              <a:ext cx="790295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The same homeostatic loss also helps predictive coding networks, which have no reciprocal connections at all,</a:t>
              </a:r>
            </a:p>
          </p:txBody>
        </p:sp>
        <p:sp>
          <p:nvSpPr>
            <p:cNvPr id="31" name="TextBox 31"/>
            <p:cNvSpPr txBox="1"/>
            <p:nvPr/>
          </p:nvSpPr>
          <p:spPr>
            <a:xfrm>
              <a:off x="870776" y="4673679"/>
              <a:ext cx="498539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confirming it targets functional symmetry rather than tied weights.</a:t>
              </a:r>
            </a:p>
          </p:txBody>
        </p:sp>
      </p:grpSp>
      <p:sp>
        <p:nvSpPr>
          <p:cNvPr id="33" name="cue_s06_c1_experiments_span_four_datasets_incre" title="cue_s06_c1_experiments_span_four_datasets_incre" descr="cue_s06_c1_experiments_span_four_datasets_incre The experiments span four datasets of increasing difficulty."/>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6_c2_fashion_mnist_small_multilayer_netwo" title="cue_s06_c2_fashion_mnist_small_multilayer_netwo" descr="cue_s06_c2_fashion_mnist_small_multilayer_netwo On Fashion MNIST, small multilayer networks are used to cleanly isolate and measure each source of bias."/>
          <p:cNvSpPr/>
          <p:nvPr/>
        </p:nvSpPr>
        <p:spPr>
          <a:xfrm>
            <a:off x="609600"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3_recurrent_convolutional_architecture" title="cue_s06_c3_recurrent_convolutional_architecture" descr="cue_s06_c3_recurrent_convolutional_architecture Then a recurrent convolutional architecture with genuinely asymmetric feedback weights is trained on CIFAR-10, CIFAR-100, and finally ImageNet at thirty-two by thirty-two, which is where the homeostatic loss really earns its keep."/>
          <p:cNvSpPr/>
          <p:nvPr/>
        </p:nvSpPr>
        <p:spPr>
          <a:xfrm>
            <a:off x="6248399"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6_c4_authors_also_confirm_appendix_same" title="cue_s06_c4_authors_also_confirm_appendix_same" descr="cue_s06_c4_authors_also_confirm_appendix_same The authors also confirm in the appendix that the same loss helps predictive coding networks, which have no reciprocal connections at all."/>
          <p:cNvSpPr/>
          <p:nvPr/>
        </p:nvSpPr>
        <p:spPr>
          <a:xfrm>
            <a:off x="609600" y="3904945"/>
            <a:ext cx="109728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540787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homeostatic loss unlocks scale</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8000"/>
              </a:avLst>
            </a:prstGeom>
            <a:solidFill>
              <a:schemeClr val="accent5"/>
            </a:solidFill>
            <a:ln w="14288">
              <a:solidFill>
                <a:srgbClr val="26455F"/>
              </a:solidFill>
            </a:ln>
          </p:spPr>
        </p:sp>
        <p:sp>
          <p:nvSpPr>
            <p:cNvPr id="6" name="Rectangle 6"/>
            <p:cNvSpPr/>
            <p:nvPr/>
          </p:nvSpPr>
          <p:spPr>
            <a:xfrm>
              <a:off x="609600" y="1428750"/>
              <a:ext cx="57150" cy="476250"/>
            </a:xfrm>
            <a:prstGeom prst="roundRect">
              <a:avLst>
                <a:gd name="adj" fmla="val 50000"/>
              </a:avLst>
            </a:prstGeom>
            <a:solidFill>
              <a:srgbClr val="48C78E"/>
            </a:solidFill>
            <a:ln>
              <a:noFill/>
            </a:ln>
          </p:spPr>
        </p:sp>
        <p:sp>
          <p:nvSpPr>
            <p:cNvPr id="7" name="TextBox 7"/>
            <p:cNvSpPr txBox="1"/>
            <p:nvPr/>
          </p:nvSpPr>
          <p:spPr>
            <a:xfrm>
              <a:off x="870014" y="1599962"/>
              <a:ext cx="7630062"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On CIFAR-10, asymmetric EP without the homeostatic loss reaches only 60.4% accuracy.</a:t>
              </a:r>
            </a:p>
          </p:txBody>
        </p:sp>
      </p:grpSp>
      <p:grpSp>
        <p:nvGrpSpPr>
          <p:cNvPr id="26" name="Group 26"/>
          <p:cNvGrpSpPr/>
          <p:nvPr/>
        </p:nvGrpSpPr>
        <p:grpSpPr>
          <a:xfrm>
            <a:off x="609600" y="2038350"/>
            <a:ext cx="5334000" cy="2514600"/>
            <a:chOff x="609600" y="2038350"/>
            <a:chExt cx="5334000" cy="2514600"/>
          </a:xfrm>
        </p:grpSpPr>
        <p:sp>
          <p:nvSpPr>
            <p:cNvPr id="9" name="Rectangle 9"/>
            <p:cNvSpPr/>
            <p:nvPr/>
          </p:nvSpPr>
          <p:spPr>
            <a:xfrm>
              <a:off x="609600" y="2038350"/>
              <a:ext cx="5334000" cy="2514600"/>
            </a:xfrm>
            <a:prstGeom prst="roundRect">
              <a:avLst>
                <a:gd name="adj" fmla="val 5303"/>
              </a:avLst>
            </a:prstGeom>
            <a:solidFill>
              <a:schemeClr val="accent5"/>
            </a:solidFill>
            <a:ln w="14288">
              <a:solidFill>
                <a:srgbClr val="26455F"/>
              </a:solidFill>
            </a:ln>
          </p:spPr>
        </p:sp>
        <p:sp>
          <p:nvSpPr>
            <p:cNvPr id="10" name="Rectangle 10"/>
            <p:cNvSpPr/>
            <p:nvPr/>
          </p:nvSpPr>
          <p:spPr>
            <a:xfrm>
              <a:off x="609600" y="2038350"/>
              <a:ext cx="57150" cy="2514600"/>
            </a:xfrm>
            <a:prstGeom prst="roundRect">
              <a:avLst>
                <a:gd name="adj" fmla="val 50000"/>
              </a:avLst>
            </a:prstGeom>
            <a:solidFill>
              <a:srgbClr val="34D3C0"/>
            </a:solidFill>
            <a:ln>
              <a:noFill/>
            </a:ln>
          </p:spPr>
        </p:sp>
        <p:sp>
          <p:nvSpPr>
            <p:cNvPr id="11" name="TextBox 11"/>
            <p:cNvSpPr txBox="1"/>
            <p:nvPr/>
          </p:nvSpPr>
          <p:spPr>
            <a:xfrm>
              <a:off x="870204" y="2251710"/>
              <a:ext cx="306309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CIFAR-10 accuracy · higher is better</a:t>
              </a:r>
            </a:p>
          </p:txBody>
        </p:sp>
        <p:sp>
          <p:nvSpPr>
            <p:cNvPr id="12" name="Rectangle 12"/>
            <p:cNvSpPr/>
            <p:nvPr/>
          </p:nvSpPr>
          <p:spPr>
            <a:xfrm>
              <a:off x="2857500" y="2647950"/>
              <a:ext cx="2381250" cy="285750"/>
            </a:xfrm>
            <a:prstGeom prst="roundRect">
              <a:avLst>
                <a:gd name="adj" fmla="val 20000"/>
              </a:avLst>
            </a:prstGeom>
            <a:solidFill>
              <a:srgbClr val="0E2334"/>
            </a:solidFill>
            <a:ln w="9525">
              <a:solidFill>
                <a:srgbClr val="26455F"/>
              </a:solidFill>
            </a:ln>
          </p:spPr>
        </p:sp>
        <p:sp>
          <p:nvSpPr>
            <p:cNvPr id="13" name="Rectangle 13"/>
            <p:cNvSpPr/>
            <p:nvPr/>
          </p:nvSpPr>
          <p:spPr>
            <a:xfrm>
              <a:off x="2857500" y="2647950"/>
              <a:ext cx="1590675" cy="285750"/>
            </a:xfrm>
            <a:prstGeom prst="roundRect">
              <a:avLst>
                <a:gd name="adj" fmla="val 20000"/>
              </a:avLst>
            </a:prstGeom>
            <a:solidFill>
              <a:srgbClr val="F2685C"/>
            </a:solidFill>
            <a:ln>
              <a:noFill/>
            </a:ln>
          </p:spPr>
        </p:sp>
        <p:sp>
          <p:nvSpPr>
            <p:cNvPr id="14" name="TextBox 14"/>
            <p:cNvSpPr txBox="1"/>
            <p:nvPr/>
          </p:nvSpPr>
          <p:spPr>
            <a:xfrm>
              <a:off x="1791068" y="2740343"/>
              <a:ext cx="95746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EP, no homeo</a:t>
              </a:r>
            </a:p>
          </p:txBody>
        </p:sp>
        <p:sp>
          <p:nvSpPr>
            <p:cNvPr id="15" name="TextBox 15"/>
            <p:cNvSpPr txBox="1"/>
            <p:nvPr/>
          </p:nvSpPr>
          <p:spPr>
            <a:xfrm>
              <a:off x="4538091" y="2740343"/>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60.4%</a:t>
              </a:r>
            </a:p>
          </p:txBody>
        </p:sp>
        <p:sp>
          <p:nvSpPr>
            <p:cNvPr id="16" name="Rectangle 16"/>
            <p:cNvSpPr/>
            <p:nvPr/>
          </p:nvSpPr>
          <p:spPr>
            <a:xfrm>
              <a:off x="2857500" y="3105150"/>
              <a:ext cx="2381250" cy="285750"/>
            </a:xfrm>
            <a:prstGeom prst="roundRect">
              <a:avLst>
                <a:gd name="adj" fmla="val 20000"/>
              </a:avLst>
            </a:prstGeom>
            <a:solidFill>
              <a:srgbClr val="0E2334"/>
            </a:solidFill>
            <a:ln w="9525">
              <a:solidFill>
                <a:srgbClr val="26455F"/>
              </a:solidFill>
            </a:ln>
          </p:spPr>
        </p:sp>
        <p:sp>
          <p:nvSpPr>
            <p:cNvPr id="17" name="Rectangle 17"/>
            <p:cNvSpPr/>
            <p:nvPr/>
          </p:nvSpPr>
          <p:spPr>
            <a:xfrm>
              <a:off x="2857500" y="3105150"/>
              <a:ext cx="2228850" cy="285750"/>
            </a:xfrm>
            <a:prstGeom prst="roundRect">
              <a:avLst>
                <a:gd name="adj" fmla="val 20000"/>
              </a:avLst>
            </a:prstGeom>
            <a:solidFill>
              <a:srgbClr val="48C78E"/>
            </a:solidFill>
            <a:ln>
              <a:noFill/>
            </a:ln>
          </p:spPr>
        </p:sp>
        <p:sp>
          <p:nvSpPr>
            <p:cNvPr id="18" name="TextBox 18"/>
            <p:cNvSpPr txBox="1"/>
            <p:nvPr/>
          </p:nvSpPr>
          <p:spPr>
            <a:xfrm>
              <a:off x="1953608" y="3197543"/>
              <a:ext cx="79492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EP + homeo</a:t>
              </a:r>
            </a:p>
          </p:txBody>
        </p:sp>
        <p:sp>
          <p:nvSpPr>
            <p:cNvPr id="19" name="TextBox 19"/>
            <p:cNvSpPr txBox="1"/>
            <p:nvPr/>
          </p:nvSpPr>
          <p:spPr>
            <a:xfrm>
              <a:off x="5176266" y="3197543"/>
              <a:ext cx="44850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84.3%</a:t>
              </a:r>
            </a:p>
          </p:txBody>
        </p:sp>
        <p:sp>
          <p:nvSpPr>
            <p:cNvPr id="20" name="Rectangle 20"/>
            <p:cNvSpPr/>
            <p:nvPr/>
          </p:nvSpPr>
          <p:spPr>
            <a:xfrm>
              <a:off x="2857500" y="3562350"/>
              <a:ext cx="2381250" cy="285750"/>
            </a:xfrm>
            <a:prstGeom prst="roundRect">
              <a:avLst>
                <a:gd name="adj" fmla="val 20000"/>
              </a:avLst>
            </a:prstGeom>
            <a:solidFill>
              <a:srgbClr val="0E2334"/>
            </a:solidFill>
            <a:ln w="9525">
              <a:solidFill>
                <a:srgbClr val="26455F"/>
              </a:solidFill>
            </a:ln>
          </p:spPr>
        </p:sp>
        <p:sp>
          <p:nvSpPr>
            <p:cNvPr id="21" name="Rectangle 21"/>
            <p:cNvSpPr/>
            <p:nvPr/>
          </p:nvSpPr>
          <p:spPr>
            <a:xfrm>
              <a:off x="2857500" y="3562350"/>
              <a:ext cx="2343150" cy="285750"/>
            </a:xfrm>
            <a:prstGeom prst="roundRect">
              <a:avLst>
                <a:gd name="adj" fmla="val 20000"/>
              </a:avLst>
            </a:prstGeom>
            <a:solidFill>
              <a:schemeClr val="accent2"/>
            </a:solidFill>
            <a:ln>
              <a:noFill/>
            </a:ln>
          </p:spPr>
        </p:sp>
        <p:sp>
          <p:nvSpPr>
            <p:cNvPr id="22" name="TextBox 22"/>
            <p:cNvSpPr txBox="1"/>
            <p:nvPr/>
          </p:nvSpPr>
          <p:spPr>
            <a:xfrm>
              <a:off x="1976171" y="3654743"/>
              <a:ext cx="77236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Symmetric</a:t>
              </a:r>
            </a:p>
          </p:txBody>
        </p:sp>
        <p:sp>
          <p:nvSpPr>
            <p:cNvPr id="23" name="TextBox 23"/>
            <p:cNvSpPr txBox="1"/>
            <p:nvPr/>
          </p:nvSpPr>
          <p:spPr>
            <a:xfrm>
              <a:off x="5290566" y="3654743"/>
              <a:ext cx="448503"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88.6%</a:t>
              </a:r>
            </a:p>
          </p:txBody>
        </p:sp>
        <p:sp>
          <p:nvSpPr>
            <p:cNvPr id="24" name="Rectangle 24"/>
            <p:cNvSpPr/>
            <p:nvPr/>
          </p:nvSpPr>
          <p:spPr>
            <a:xfrm>
              <a:off x="876300" y="3981450"/>
              <a:ext cx="4800600" cy="419100"/>
            </a:xfrm>
            <a:prstGeom prst="roundRect">
              <a:avLst>
                <a:gd name="adj" fmla="val 22727"/>
              </a:avLst>
            </a:prstGeom>
            <a:solidFill>
              <a:srgbClr val="0F2E2B"/>
            </a:solidFill>
            <a:ln w="14288">
              <a:solidFill>
                <a:srgbClr val="34D3C0"/>
              </a:solidFill>
            </a:ln>
          </p:spPr>
        </p:sp>
        <p:sp>
          <p:nvSpPr>
            <p:cNvPr id="25" name="TextBox 25"/>
            <p:cNvSpPr txBox="1"/>
            <p:nvPr/>
          </p:nvSpPr>
          <p:spPr>
            <a:xfrm>
              <a:off x="1061085" y="4126706"/>
              <a:ext cx="3779282"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mn-lt"/>
                  <a:ea typeface="+mn-ea"/>
                  <a:cs typeface="+mn-cs"/>
                </a:rPr>
                <a:t>+23.9 points · only a 4.3-point gap to symmetric</a:t>
              </a:r>
            </a:p>
          </p:txBody>
        </p:sp>
      </p:grpSp>
      <p:grpSp>
        <p:nvGrpSpPr>
          <p:cNvPr id="39" name="Group 39"/>
          <p:cNvGrpSpPr/>
          <p:nvPr/>
        </p:nvGrpSpPr>
        <p:grpSpPr>
          <a:xfrm>
            <a:off x="6248400" y="2038350"/>
            <a:ext cx="5334000" cy="2514600"/>
            <a:chOff x="6248400" y="2038350"/>
            <a:chExt cx="5334000" cy="2514600"/>
          </a:xfrm>
        </p:grpSpPr>
        <p:sp>
          <p:nvSpPr>
            <p:cNvPr id="27" name="Rectangle 27"/>
            <p:cNvSpPr/>
            <p:nvPr/>
          </p:nvSpPr>
          <p:spPr>
            <a:xfrm>
              <a:off x="6248400" y="2038350"/>
              <a:ext cx="5334000" cy="2514600"/>
            </a:xfrm>
            <a:prstGeom prst="roundRect">
              <a:avLst>
                <a:gd name="adj" fmla="val 5303"/>
              </a:avLst>
            </a:prstGeom>
            <a:solidFill>
              <a:schemeClr val="accent5"/>
            </a:solidFill>
            <a:ln w="14288">
              <a:solidFill>
                <a:srgbClr val="26455F"/>
              </a:solidFill>
            </a:ln>
          </p:spPr>
        </p:sp>
        <p:sp>
          <p:nvSpPr>
            <p:cNvPr id="28" name="Rectangle 28"/>
            <p:cNvSpPr/>
            <p:nvPr/>
          </p:nvSpPr>
          <p:spPr>
            <a:xfrm>
              <a:off x="6248400" y="2038350"/>
              <a:ext cx="57150" cy="2514600"/>
            </a:xfrm>
            <a:prstGeom prst="roundRect">
              <a:avLst>
                <a:gd name="adj" fmla="val 50000"/>
              </a:avLst>
            </a:prstGeom>
            <a:solidFill>
              <a:srgbClr val="F2C14E"/>
            </a:solidFill>
            <a:ln>
              <a:noFill/>
            </a:ln>
          </p:spPr>
        </p:sp>
        <p:sp>
          <p:nvSpPr>
            <p:cNvPr id="29" name="TextBox 29"/>
            <p:cNvSpPr txBox="1"/>
            <p:nvPr/>
          </p:nvSpPr>
          <p:spPr>
            <a:xfrm>
              <a:off x="6509004" y="2251710"/>
              <a:ext cx="3143291"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ImageNet 32x32 · first EP result ever</a:t>
              </a:r>
            </a:p>
          </p:txBody>
        </p:sp>
        <p:sp>
          <p:nvSpPr>
            <p:cNvPr id="30" name="Rectangle 30"/>
            <p:cNvSpPr/>
            <p:nvPr/>
          </p:nvSpPr>
          <p:spPr>
            <a:xfrm>
              <a:off x="6515100" y="2590800"/>
              <a:ext cx="2381250" cy="990600"/>
            </a:xfrm>
            <a:prstGeom prst="roundRect">
              <a:avLst>
                <a:gd name="adj" fmla="val 11538"/>
              </a:avLst>
            </a:prstGeom>
            <a:solidFill>
              <a:schemeClr val="accent6"/>
            </a:solidFill>
            <a:ln w="14288">
              <a:solidFill>
                <a:srgbClr val="26455F"/>
              </a:solidFill>
            </a:ln>
          </p:spPr>
        </p:sp>
        <p:sp>
          <p:nvSpPr>
            <p:cNvPr id="31" name="TextBox 31"/>
            <p:cNvSpPr txBox="1"/>
            <p:nvPr/>
          </p:nvSpPr>
          <p:spPr>
            <a:xfrm>
              <a:off x="7225186" y="2881312"/>
              <a:ext cx="96107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31.4%</a:t>
              </a:r>
            </a:p>
          </p:txBody>
        </p:sp>
        <p:sp>
          <p:nvSpPr>
            <p:cNvPr id="32" name="TextBox 32"/>
            <p:cNvSpPr txBox="1"/>
            <p:nvPr/>
          </p:nvSpPr>
          <p:spPr>
            <a:xfrm>
              <a:off x="7203475" y="3270647"/>
              <a:ext cx="100450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Top-1 accuracy</a:t>
              </a:r>
            </a:p>
          </p:txBody>
        </p:sp>
        <p:sp>
          <p:nvSpPr>
            <p:cNvPr id="33" name="Rectangle 33"/>
            <p:cNvSpPr/>
            <p:nvPr/>
          </p:nvSpPr>
          <p:spPr>
            <a:xfrm>
              <a:off x="9163050" y="2590800"/>
              <a:ext cx="2381250" cy="990600"/>
            </a:xfrm>
            <a:prstGeom prst="roundRect">
              <a:avLst>
                <a:gd name="adj" fmla="val 11538"/>
              </a:avLst>
            </a:prstGeom>
            <a:solidFill>
              <a:schemeClr val="accent6"/>
            </a:solidFill>
            <a:ln w="14288">
              <a:solidFill>
                <a:srgbClr val="26455F"/>
              </a:solidFill>
            </a:ln>
          </p:spPr>
        </p:sp>
        <p:sp>
          <p:nvSpPr>
            <p:cNvPr id="34" name="TextBox 34"/>
            <p:cNvSpPr txBox="1"/>
            <p:nvPr/>
          </p:nvSpPr>
          <p:spPr>
            <a:xfrm>
              <a:off x="9873136" y="2881312"/>
              <a:ext cx="96107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55.2%</a:t>
              </a:r>
            </a:p>
          </p:txBody>
        </p:sp>
        <p:sp>
          <p:nvSpPr>
            <p:cNvPr id="35" name="TextBox 35"/>
            <p:cNvSpPr txBox="1"/>
            <p:nvPr/>
          </p:nvSpPr>
          <p:spPr>
            <a:xfrm>
              <a:off x="9851425" y="3270647"/>
              <a:ext cx="100450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Top-5 accuracy</a:t>
              </a:r>
            </a:p>
          </p:txBody>
        </p:sp>
        <p:sp>
          <p:nvSpPr>
            <p:cNvPr id="36" name="Rectangle 36"/>
            <p:cNvSpPr/>
            <p:nvPr/>
          </p:nvSpPr>
          <p:spPr>
            <a:xfrm>
              <a:off x="6515100" y="3752850"/>
              <a:ext cx="5029200" cy="647700"/>
            </a:xfrm>
            <a:prstGeom prst="roundRect">
              <a:avLst>
                <a:gd name="adj" fmla="val 14706"/>
              </a:avLst>
            </a:prstGeom>
            <a:solidFill>
              <a:schemeClr val="accent6"/>
            </a:solidFill>
            <a:ln w="14288">
              <a:solidFill>
                <a:srgbClr val="26455F"/>
              </a:solidFill>
            </a:ln>
          </p:spPr>
        </p:sp>
        <p:sp>
          <p:nvSpPr>
            <p:cNvPr id="37" name="TextBox 37"/>
            <p:cNvSpPr txBox="1"/>
            <p:nvPr/>
          </p:nvSpPr>
          <p:spPr>
            <a:xfrm>
              <a:off x="6700456" y="3910251"/>
              <a:ext cx="41639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first time this family of methods trains at all at ImageNet</a:t>
              </a:r>
            </a:p>
          </p:txBody>
        </p:sp>
        <p:sp>
          <p:nvSpPr>
            <p:cNvPr id="38" name="TextBox 38"/>
            <p:cNvSpPr txBox="1"/>
            <p:nvPr/>
          </p:nvSpPr>
          <p:spPr>
            <a:xfrm>
              <a:off x="6700456" y="4100751"/>
              <a:ext cx="42498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scale.</a:t>
              </a:r>
            </a:p>
          </p:txBody>
        </p:sp>
      </p:grpSp>
      <p:grpSp>
        <p:nvGrpSpPr>
          <p:cNvPr id="52" name="Group 52"/>
          <p:cNvGrpSpPr/>
          <p:nvPr/>
        </p:nvGrpSpPr>
        <p:grpSpPr>
          <a:xfrm>
            <a:off x="609600" y="4686300"/>
            <a:ext cx="10972800" cy="1123997"/>
            <a:chOff x="609600" y="4686300"/>
            <a:chExt cx="10972800" cy="1123997"/>
          </a:xfrm>
        </p:grpSpPr>
        <p:sp>
          <p:nvSpPr>
            <p:cNvPr id="40" name="Rectangle 40"/>
            <p:cNvSpPr/>
            <p:nvPr/>
          </p:nvSpPr>
          <p:spPr>
            <a:xfrm>
              <a:off x="609600" y="4686300"/>
              <a:ext cx="10972800" cy="1104900"/>
            </a:xfrm>
            <a:prstGeom prst="roundRect">
              <a:avLst>
                <a:gd name="adj" fmla="val 12069"/>
              </a:avLst>
            </a:prstGeom>
            <a:solidFill>
              <a:schemeClr val="accent5"/>
            </a:solidFill>
            <a:ln w="14288">
              <a:solidFill>
                <a:srgbClr val="26455F"/>
              </a:solidFill>
            </a:ln>
          </p:spPr>
        </p:sp>
        <p:sp>
          <p:nvSpPr>
            <p:cNvPr id="41" name="Rectangle 41"/>
            <p:cNvSpPr/>
            <p:nvPr/>
          </p:nvSpPr>
          <p:spPr>
            <a:xfrm>
              <a:off x="609600" y="4686300"/>
              <a:ext cx="57150" cy="1104900"/>
            </a:xfrm>
            <a:prstGeom prst="roundRect">
              <a:avLst>
                <a:gd name="adj" fmla="val 50000"/>
              </a:avLst>
            </a:prstGeom>
            <a:solidFill>
              <a:schemeClr val="accent2"/>
            </a:solidFill>
            <a:ln>
              <a:noFill/>
            </a:ln>
          </p:spPr>
        </p:sp>
        <p:sp>
          <p:nvSpPr>
            <p:cNvPr id="42" name="TextBox 42"/>
            <p:cNvSpPr txBox="1"/>
            <p:nvPr/>
          </p:nvSpPr>
          <p:spPr>
            <a:xfrm>
              <a:off x="870204" y="4880610"/>
              <a:ext cx="166269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Throughout training</a:t>
              </a:r>
            </a:p>
          </p:txBody>
        </p:sp>
        <p:sp>
          <p:nvSpPr>
            <p:cNvPr id="43" name="Rectangle 43"/>
            <p:cNvSpPr/>
            <p:nvPr/>
          </p:nvSpPr>
          <p:spPr>
            <a:xfrm>
              <a:off x="5334000" y="4819650"/>
              <a:ext cx="3429000" cy="838200"/>
            </a:xfrm>
            <a:prstGeom prst="roundRect">
              <a:avLst>
                <a:gd name="adj" fmla="val 9091"/>
              </a:avLst>
            </a:prstGeom>
            <a:solidFill>
              <a:srgbClr val="0E2334"/>
            </a:solidFill>
            <a:ln w="14288">
              <a:solidFill>
                <a:srgbClr val="26455F"/>
              </a:solidFill>
            </a:ln>
          </p:spPr>
        </p:sp>
        <p:sp>
          <p:nvSpPr>
            <p:cNvPr id="44" name="Polyline 44"/>
            <p:cNvSpPr/>
            <p:nvPr/>
          </p:nvSpPr>
          <p:spPr>
            <a:xfrm>
              <a:off x="5334000" y="5048250"/>
              <a:ext cx="3429000" cy="495300"/>
            </a:xfrm>
            <a:custGeom>
              <a:avLst/>
              <a:gdLst/>
              <a:ahLst/>
              <a:cxnLst/>
              <a:rect l="l" t="t" r="r" b="b"/>
              <a:pathLst>
                <a:path w="3429000" h="495300">
                  <a:moveTo>
                    <a:pt x="0" y="495300"/>
                  </a:moveTo>
                  <a:lnTo>
                    <a:pt x="114300" y="447675"/>
                  </a:lnTo>
                  <a:lnTo>
                    <a:pt x="228600" y="400050"/>
                  </a:lnTo>
                  <a:lnTo>
                    <a:pt x="342900" y="361950"/>
                  </a:lnTo>
                  <a:lnTo>
                    <a:pt x="457200" y="323850"/>
                  </a:lnTo>
                  <a:lnTo>
                    <a:pt x="571500" y="295275"/>
                  </a:lnTo>
                  <a:lnTo>
                    <a:pt x="685800" y="266700"/>
                  </a:lnTo>
                  <a:lnTo>
                    <a:pt x="800100" y="238125"/>
                  </a:lnTo>
                  <a:lnTo>
                    <a:pt x="914400" y="209550"/>
                  </a:lnTo>
                  <a:lnTo>
                    <a:pt x="1028700" y="190500"/>
                  </a:lnTo>
                  <a:lnTo>
                    <a:pt x="1143000" y="171450"/>
                  </a:lnTo>
                  <a:lnTo>
                    <a:pt x="1257300" y="152400"/>
                  </a:lnTo>
                  <a:lnTo>
                    <a:pt x="1371600" y="133350"/>
                  </a:lnTo>
                  <a:lnTo>
                    <a:pt x="1485900" y="114300"/>
                  </a:lnTo>
                  <a:lnTo>
                    <a:pt x="1600200" y="104775"/>
                  </a:lnTo>
                  <a:lnTo>
                    <a:pt x="1714500" y="95250"/>
                  </a:lnTo>
                  <a:lnTo>
                    <a:pt x="1828800" y="85725"/>
                  </a:lnTo>
                  <a:lnTo>
                    <a:pt x="1943100" y="76200"/>
                  </a:lnTo>
                  <a:lnTo>
                    <a:pt x="2057400" y="66675"/>
                  </a:lnTo>
                  <a:lnTo>
                    <a:pt x="2171700" y="57150"/>
                  </a:lnTo>
                  <a:lnTo>
                    <a:pt x="2286000" y="47625"/>
                  </a:lnTo>
                  <a:lnTo>
                    <a:pt x="2400300" y="38100"/>
                  </a:lnTo>
                  <a:lnTo>
                    <a:pt x="2514600" y="38100"/>
                  </a:lnTo>
                  <a:lnTo>
                    <a:pt x="2628900" y="28575"/>
                  </a:lnTo>
                  <a:lnTo>
                    <a:pt x="2743200" y="28575"/>
                  </a:lnTo>
                  <a:lnTo>
                    <a:pt x="2857500" y="19050"/>
                  </a:lnTo>
                  <a:lnTo>
                    <a:pt x="2971800" y="19050"/>
                  </a:lnTo>
                  <a:lnTo>
                    <a:pt x="3086100" y="9525"/>
                  </a:lnTo>
                  <a:lnTo>
                    <a:pt x="3200400" y="9525"/>
                  </a:lnTo>
                  <a:lnTo>
                    <a:pt x="3314700" y="9525"/>
                  </a:lnTo>
                  <a:lnTo>
                    <a:pt x="3429000" y="0"/>
                  </a:lnTo>
                </a:path>
              </a:pathLst>
            </a:custGeom>
            <a:noFill/>
            <a:ln w="23812">
              <a:solidFill>
                <a:srgbClr val="34D3C0"/>
              </a:solidFill>
            </a:ln>
          </p:spPr>
        </p:sp>
        <p:sp>
          <p:nvSpPr>
            <p:cNvPr id="45" name="Polyline 45"/>
            <p:cNvSpPr/>
            <p:nvPr/>
          </p:nvSpPr>
          <p:spPr>
            <a:xfrm>
              <a:off x="5334000" y="5029200"/>
              <a:ext cx="3429000" cy="400050"/>
            </a:xfrm>
            <a:custGeom>
              <a:avLst/>
              <a:gdLst/>
              <a:ahLst/>
              <a:cxnLst/>
              <a:rect l="l" t="t" r="r" b="b"/>
              <a:pathLst>
                <a:path w="3429000" h="400050">
                  <a:moveTo>
                    <a:pt x="0" y="400050"/>
                  </a:moveTo>
                  <a:lnTo>
                    <a:pt x="114300" y="361950"/>
                  </a:lnTo>
                  <a:lnTo>
                    <a:pt x="228600" y="323850"/>
                  </a:lnTo>
                  <a:lnTo>
                    <a:pt x="342900" y="285750"/>
                  </a:lnTo>
                  <a:lnTo>
                    <a:pt x="457200" y="257175"/>
                  </a:lnTo>
                  <a:lnTo>
                    <a:pt x="571500" y="238125"/>
                  </a:lnTo>
                  <a:lnTo>
                    <a:pt x="685800" y="209550"/>
                  </a:lnTo>
                  <a:lnTo>
                    <a:pt x="800100" y="190500"/>
                  </a:lnTo>
                  <a:lnTo>
                    <a:pt x="914400" y="171450"/>
                  </a:lnTo>
                  <a:lnTo>
                    <a:pt x="1028700" y="152400"/>
                  </a:lnTo>
                  <a:lnTo>
                    <a:pt x="1143000" y="133350"/>
                  </a:lnTo>
                  <a:lnTo>
                    <a:pt x="1257300" y="123825"/>
                  </a:lnTo>
                  <a:lnTo>
                    <a:pt x="1371600" y="104775"/>
                  </a:lnTo>
                  <a:lnTo>
                    <a:pt x="1485900" y="95250"/>
                  </a:lnTo>
                  <a:lnTo>
                    <a:pt x="1600200" y="85725"/>
                  </a:lnTo>
                  <a:lnTo>
                    <a:pt x="1714500" y="76200"/>
                  </a:lnTo>
                  <a:lnTo>
                    <a:pt x="1828800" y="66675"/>
                  </a:lnTo>
                  <a:lnTo>
                    <a:pt x="1943100" y="57150"/>
                  </a:lnTo>
                  <a:lnTo>
                    <a:pt x="2057400" y="47625"/>
                  </a:lnTo>
                  <a:lnTo>
                    <a:pt x="2171700" y="38100"/>
                  </a:lnTo>
                  <a:lnTo>
                    <a:pt x="2286000" y="38100"/>
                  </a:lnTo>
                  <a:lnTo>
                    <a:pt x="2400300" y="28575"/>
                  </a:lnTo>
                  <a:lnTo>
                    <a:pt x="2514600" y="28575"/>
                  </a:lnTo>
                  <a:lnTo>
                    <a:pt x="2628900" y="19050"/>
                  </a:lnTo>
                  <a:lnTo>
                    <a:pt x="2743200" y="19050"/>
                  </a:lnTo>
                  <a:lnTo>
                    <a:pt x="2857500" y="9525"/>
                  </a:lnTo>
                  <a:lnTo>
                    <a:pt x="2971800" y="9525"/>
                  </a:lnTo>
                  <a:lnTo>
                    <a:pt x="3086100" y="9525"/>
                  </a:lnTo>
                  <a:lnTo>
                    <a:pt x="3200400" y="9525"/>
                  </a:lnTo>
                  <a:lnTo>
                    <a:pt x="3314700" y="0"/>
                  </a:lnTo>
                  <a:lnTo>
                    <a:pt x="3429000" y="0"/>
                  </a:lnTo>
                </a:path>
              </a:pathLst>
            </a:custGeom>
            <a:noFill/>
            <a:ln w="23812">
              <a:solidFill>
                <a:schemeClr val="accent2"/>
              </a:solidFill>
            </a:ln>
          </p:spPr>
        </p:sp>
        <p:sp>
          <p:nvSpPr>
            <p:cNvPr id="46" name="TextBox 46"/>
            <p:cNvSpPr txBox="1"/>
            <p:nvPr/>
          </p:nvSpPr>
          <p:spPr>
            <a:xfrm>
              <a:off x="7553612" y="4897993"/>
              <a:ext cx="1137950" cy="169069"/>
            </a:xfrm>
            <a:prstGeom prst="rect">
              <a:avLst/>
            </a:prstGeom>
            <a:noFill/>
            <a:ln>
              <a:noFill/>
            </a:ln>
          </p:spPr>
          <p:txBody>
            <a:bodyPr wrap="none" lIns="0" tIns="0" rIns="0" bIns="0" anchor="t" anchorCtr="0">
              <a:spAutoFit/>
            </a:bodyPr>
            <a:lstStyle/>
            <a:p>
              <a:pPr algn="r"/>
              <a:r>
                <a:rPr lang="en-US" sz="860" b="1" dirty="0">
                  <a:solidFill>
                    <a:srgbClr val="34D3C0"/>
                  </a:solidFill>
                  <a:latin typeface="+mn-lt"/>
                  <a:ea typeface="+mn-ea"/>
                  <a:cs typeface="+mn-cs"/>
                </a:rPr>
                <a:t>Jacobian symmetry</a:t>
              </a:r>
            </a:p>
          </p:txBody>
        </p:sp>
        <p:sp>
          <p:nvSpPr>
            <p:cNvPr id="47" name="TextBox 47"/>
            <p:cNvSpPr txBox="1"/>
            <p:nvPr/>
          </p:nvSpPr>
          <p:spPr>
            <a:xfrm>
              <a:off x="7746011" y="5050393"/>
              <a:ext cx="945551" cy="169069"/>
            </a:xfrm>
            <a:prstGeom prst="rect">
              <a:avLst/>
            </a:prstGeom>
            <a:noFill/>
            <a:ln>
              <a:noFill/>
            </a:ln>
          </p:spPr>
          <p:txBody>
            <a:bodyPr wrap="none" lIns="0" tIns="0" rIns="0" bIns="0" anchor="t" anchorCtr="0">
              <a:spAutoFit/>
            </a:bodyPr>
            <a:lstStyle/>
            <a:p>
              <a:pPr algn="r"/>
              <a:r>
                <a:rPr lang="en-US" sz="860" b="1" dirty="0">
                  <a:solidFill>
                    <a:schemeClr val="accent2"/>
                  </a:solidFill>
                  <a:latin typeface="+mn-lt"/>
                  <a:ea typeface="+mn-ea"/>
                  <a:cs typeface="+mn-cs"/>
                </a:rPr>
                <a:t>error alignment</a:t>
              </a:r>
            </a:p>
          </p:txBody>
        </p:sp>
        <p:sp>
          <p:nvSpPr>
            <p:cNvPr id="48" name="TextBox 48"/>
            <p:cNvSpPr txBox="1"/>
            <p:nvPr/>
          </p:nvSpPr>
          <p:spPr>
            <a:xfrm>
              <a:off x="5424488" y="5511641"/>
              <a:ext cx="623836"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training -&gt;</a:t>
              </a:r>
            </a:p>
          </p:txBody>
        </p:sp>
        <p:sp>
          <p:nvSpPr>
            <p:cNvPr id="49" name="TextBox 49"/>
            <p:cNvSpPr txBox="1"/>
            <p:nvPr/>
          </p:nvSpPr>
          <p:spPr>
            <a:xfrm>
              <a:off x="870776" y="5178504"/>
              <a:ext cx="372566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homeostatic loss steadily raises the Jacobian's</a:t>
              </a:r>
            </a:p>
          </p:txBody>
        </p:sp>
        <p:sp>
          <p:nvSpPr>
            <p:cNvPr id="50" name="TextBox 50"/>
            <p:cNvSpPr txBox="1"/>
            <p:nvPr/>
          </p:nvSpPr>
          <p:spPr>
            <a:xfrm>
              <a:off x="870776" y="5388054"/>
              <a:ext cx="41297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symmetry and tightens the alignment between EP's error</a:t>
              </a:r>
            </a:p>
          </p:txBody>
        </p:sp>
        <p:sp>
          <p:nvSpPr>
            <p:cNvPr id="51" name="TextBox 51"/>
            <p:cNvSpPr txBox="1"/>
            <p:nvPr/>
          </p:nvSpPr>
          <p:spPr>
            <a:xfrm>
              <a:off x="870776" y="5597604"/>
              <a:ext cx="192595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signals and true backprop.</a:t>
              </a:r>
            </a:p>
          </p:txBody>
        </p:sp>
      </p:grpSp>
      <p:sp>
        <p:nvSpPr>
          <p:cNvPr id="53" name="TextBox 53"/>
          <p:cNvSpPr txBox="1"/>
          <p:nvPr/>
        </p:nvSpPr>
        <p:spPr>
          <a:xfrm>
            <a:off x="604266" y="6058852"/>
            <a:ext cx="570771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Approximate weight symmetry is enough — functional symmetry does the work.</a:t>
            </a:r>
          </a:p>
        </p:txBody>
      </p:sp>
      <p:sp>
        <p:nvSpPr>
          <p:cNvPr id="54" name="cue_s07_c1_headline_result_striking_cifar_10_as" title="cue_s07_c1_headline_result_striking_cifar_10_as" descr="cue_s07_c1_headline_result_striking_cifar_10_as The headline result is striking. On CIFAR-10, the asymmetric network trained with EP but without the homeostatic loss reaches only sixty point four percent accuracy."/>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add_homeostatic_loss_accuracy_jumps" title="cue_s07_c2_add_homeostatic_loss_accuracy_jumps" descr="cue_s07_c2_add_homeostatic_loss_accuracy_jumps Add the homeostatic loss, and accuracy jumps to eighty-four point three percent, just four point three points shy of the fully symmetric architecture, and all with only approximate weight symmetry."/>
          <p:cNvSpPr/>
          <p:nvPr/>
        </p:nvSpPr>
        <p:spPr>
          <a:xfrm>
            <a:off x="609600"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even_more_importantly_first_time" title="cue_s07_c3_even_more_importantly_first_time" descr="cue_s07_c3_even_more_importantly_first_time Even more importantly, this is the first time this family of methods trains at all on ImageNet thirty-two by thirty-two, reaching thirty-one point four percent Top-1 and fifty-five point two percent Top-5."/>
          <p:cNvSpPr/>
          <p:nvPr/>
        </p:nvSpPr>
        <p:spPr>
          <a:xfrm>
            <a:off x="6248399"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throughout_homeostatic_loss_steadily" title="cue_s07_c4_throughout_homeostatic_loss_steadily" descr="cue_s07_c4_throughout_homeostatic_loss_steadily Throughout training, the homeostatic loss steadily raises the Jacobian's symmetry and tightens the alignment between EP's error signals and true backprop."/>
          <p:cNvSpPr/>
          <p:nvPr/>
        </p:nvSpPr>
        <p:spPr>
          <a:xfrm>
            <a:off x="609600" y="4686071"/>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48525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Each bias, measured on its own</a:t>
            </a:r>
          </a:p>
        </p:txBody>
      </p:sp>
      <p:grpSp>
        <p:nvGrpSpPr>
          <p:cNvPr id="10" name="Group 10"/>
          <p:cNvGrpSpPr/>
          <p:nvPr/>
        </p:nvGrpSpPr>
        <p:grpSpPr>
          <a:xfrm>
            <a:off x="609600" y="1504950"/>
            <a:ext cx="5334000" cy="1047750"/>
            <a:chOff x="609600" y="1504950"/>
            <a:chExt cx="5334000" cy="1047750"/>
          </a:xfrm>
        </p:grpSpPr>
        <p:sp>
          <p:nvSpPr>
            <p:cNvPr id="5" name="Rectangle 5"/>
            <p:cNvSpPr/>
            <p:nvPr/>
          </p:nvSpPr>
          <p:spPr>
            <a:xfrm>
              <a:off x="609600" y="1504950"/>
              <a:ext cx="5334000" cy="1047750"/>
            </a:xfrm>
            <a:prstGeom prst="roundRect">
              <a:avLst>
                <a:gd name="adj" fmla="val 12727"/>
              </a:avLst>
            </a:prstGeom>
            <a:solidFill>
              <a:schemeClr val="accent5"/>
            </a:solidFill>
            <a:ln w="14288">
              <a:solidFill>
                <a:srgbClr val="26455F"/>
              </a:solidFill>
            </a:ln>
          </p:spPr>
        </p:sp>
        <p:sp>
          <p:nvSpPr>
            <p:cNvPr id="6" name="Rectangle 6"/>
            <p:cNvSpPr/>
            <p:nvPr/>
          </p:nvSpPr>
          <p:spPr>
            <a:xfrm>
              <a:off x="609600" y="1504950"/>
              <a:ext cx="57150" cy="1047750"/>
            </a:xfrm>
            <a:prstGeom prst="roundRect">
              <a:avLst>
                <a:gd name="adj" fmla="val 50000"/>
              </a:avLst>
            </a:prstGeom>
            <a:solidFill>
              <a:schemeClr val="accent2"/>
            </a:solidFill>
            <a:ln>
              <a:noFill/>
            </a:ln>
          </p:spPr>
        </p:sp>
        <p:sp>
          <p:nvSpPr>
            <p:cNvPr id="7" name="TextBox 7"/>
            <p:cNvSpPr txBox="1"/>
            <p:nvPr/>
          </p:nvSpPr>
          <p:spPr>
            <a:xfrm>
              <a:off x="870014" y="1733312"/>
              <a:ext cx="227017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Isolating finite-nudge bias</a:t>
              </a:r>
            </a:p>
          </p:txBody>
        </p:sp>
        <p:sp>
          <p:nvSpPr>
            <p:cNvPr id="8" name="TextBox 8"/>
            <p:cNvSpPr txBox="1"/>
            <p:nvPr/>
          </p:nvSpPr>
          <p:spPr>
            <a:xfrm>
              <a:off x="870776" y="2035254"/>
              <a:ext cx="39419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 Fashion MNIST with a large nudge, classic one-sided</a:t>
              </a:r>
            </a:p>
          </p:txBody>
        </p:sp>
        <p:sp>
          <p:nvSpPr>
            <p:cNvPr id="9" name="TextBox 9"/>
            <p:cNvSpPr txBox="1"/>
            <p:nvPr/>
          </p:nvSpPr>
          <p:spPr>
            <a:xfrm>
              <a:off x="870776" y="2244804"/>
              <a:ext cx="34006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EP falls apart while the Cauchy estimate holds.</a:t>
              </a:r>
            </a:p>
          </p:txBody>
        </p:sp>
      </p:grpSp>
      <p:grpSp>
        <p:nvGrpSpPr>
          <p:cNvPr id="28" name="Group 28"/>
          <p:cNvGrpSpPr/>
          <p:nvPr/>
        </p:nvGrpSpPr>
        <p:grpSpPr>
          <a:xfrm>
            <a:off x="609600" y="2705100"/>
            <a:ext cx="5334000" cy="2533650"/>
            <a:chOff x="609600" y="2705100"/>
            <a:chExt cx="5334000" cy="2533650"/>
          </a:xfrm>
        </p:grpSpPr>
        <p:sp>
          <p:nvSpPr>
            <p:cNvPr id="11" name="Rectangle 11"/>
            <p:cNvSpPr/>
            <p:nvPr/>
          </p:nvSpPr>
          <p:spPr>
            <a:xfrm>
              <a:off x="609600" y="2705100"/>
              <a:ext cx="5334000" cy="2533650"/>
            </a:xfrm>
            <a:prstGeom prst="roundRect">
              <a:avLst>
                <a:gd name="adj" fmla="val 5263"/>
              </a:avLst>
            </a:prstGeom>
            <a:solidFill>
              <a:schemeClr val="accent5"/>
            </a:solidFill>
            <a:ln w="14288">
              <a:solidFill>
                <a:srgbClr val="26455F"/>
              </a:solidFill>
            </a:ln>
          </p:spPr>
        </p:sp>
        <p:sp>
          <p:nvSpPr>
            <p:cNvPr id="12" name="Rectangle 12"/>
            <p:cNvSpPr/>
            <p:nvPr/>
          </p:nvSpPr>
          <p:spPr>
            <a:xfrm>
              <a:off x="609600" y="2705100"/>
              <a:ext cx="57150" cy="2533650"/>
            </a:xfrm>
            <a:prstGeom prst="roundRect">
              <a:avLst>
                <a:gd name="adj" fmla="val 50000"/>
              </a:avLst>
            </a:prstGeom>
            <a:solidFill>
              <a:srgbClr val="34D3C0"/>
            </a:solidFill>
            <a:ln>
              <a:noFill/>
            </a:ln>
          </p:spPr>
        </p:sp>
        <p:sp>
          <p:nvSpPr>
            <p:cNvPr id="13" name="TextBox 13"/>
            <p:cNvSpPr txBox="1"/>
            <p:nvPr/>
          </p:nvSpPr>
          <p:spPr>
            <a:xfrm>
              <a:off x="870776" y="2930604"/>
              <a:ext cx="453773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Fashion MNIST error at large nudge |b|=0.5 · lower is better</a:t>
              </a:r>
            </a:p>
          </p:txBody>
        </p:sp>
        <p:sp>
          <p:nvSpPr>
            <p:cNvPr id="14" name="Rectangle 14"/>
            <p:cNvSpPr/>
            <p:nvPr/>
          </p:nvSpPr>
          <p:spPr>
            <a:xfrm>
              <a:off x="3143250" y="3295650"/>
              <a:ext cx="1905000" cy="285750"/>
            </a:xfrm>
            <a:prstGeom prst="roundRect">
              <a:avLst>
                <a:gd name="adj" fmla="val 20000"/>
              </a:avLst>
            </a:prstGeom>
            <a:solidFill>
              <a:srgbClr val="0E2334"/>
            </a:solidFill>
            <a:ln w="9525">
              <a:solidFill>
                <a:srgbClr val="26455F"/>
              </a:solidFill>
            </a:ln>
          </p:spPr>
        </p:sp>
        <p:sp>
          <p:nvSpPr>
            <p:cNvPr id="15" name="Rectangle 15"/>
            <p:cNvSpPr/>
            <p:nvPr/>
          </p:nvSpPr>
          <p:spPr>
            <a:xfrm>
              <a:off x="3143250" y="3295650"/>
              <a:ext cx="1828800" cy="285750"/>
            </a:xfrm>
            <a:prstGeom prst="roundRect">
              <a:avLst>
                <a:gd name="adj" fmla="val 20000"/>
              </a:avLst>
            </a:prstGeom>
            <a:solidFill>
              <a:srgbClr val="F2685C"/>
            </a:solidFill>
            <a:ln>
              <a:noFill/>
            </a:ln>
          </p:spPr>
        </p:sp>
        <p:sp>
          <p:nvSpPr>
            <p:cNvPr id="16" name="TextBox 16"/>
            <p:cNvSpPr txBox="1"/>
            <p:nvPr/>
          </p:nvSpPr>
          <p:spPr>
            <a:xfrm>
              <a:off x="2108014" y="3388043"/>
              <a:ext cx="92627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one-sided EP</a:t>
              </a:r>
            </a:p>
          </p:txBody>
        </p:sp>
        <p:sp>
          <p:nvSpPr>
            <p:cNvPr id="17" name="TextBox 17"/>
            <p:cNvSpPr txBox="1"/>
            <p:nvPr/>
          </p:nvSpPr>
          <p:spPr>
            <a:xfrm>
              <a:off x="5061966" y="3388043"/>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38.4%</a:t>
              </a:r>
            </a:p>
          </p:txBody>
        </p:sp>
        <p:sp>
          <p:nvSpPr>
            <p:cNvPr id="18" name="Rectangle 18"/>
            <p:cNvSpPr/>
            <p:nvPr/>
          </p:nvSpPr>
          <p:spPr>
            <a:xfrm>
              <a:off x="3143250" y="3752850"/>
              <a:ext cx="1905000" cy="285750"/>
            </a:xfrm>
            <a:prstGeom prst="roundRect">
              <a:avLst>
                <a:gd name="adj" fmla="val 20000"/>
              </a:avLst>
            </a:prstGeom>
            <a:solidFill>
              <a:srgbClr val="0E2334"/>
            </a:solidFill>
            <a:ln w="9525">
              <a:solidFill>
                <a:srgbClr val="26455F"/>
              </a:solidFill>
            </a:ln>
          </p:spPr>
        </p:sp>
        <p:sp>
          <p:nvSpPr>
            <p:cNvPr id="19" name="Rectangle 19"/>
            <p:cNvSpPr/>
            <p:nvPr/>
          </p:nvSpPr>
          <p:spPr>
            <a:xfrm>
              <a:off x="3143250" y="3752850"/>
              <a:ext cx="676275" cy="285750"/>
            </a:xfrm>
            <a:prstGeom prst="roundRect">
              <a:avLst>
                <a:gd name="adj" fmla="val 20000"/>
              </a:avLst>
            </a:prstGeom>
            <a:solidFill>
              <a:srgbClr val="34D3C0"/>
            </a:solidFill>
            <a:ln>
              <a:noFill/>
            </a:ln>
          </p:spPr>
        </p:sp>
        <p:sp>
          <p:nvSpPr>
            <p:cNvPr id="20" name="TextBox 20"/>
            <p:cNvSpPr txBox="1"/>
            <p:nvPr/>
          </p:nvSpPr>
          <p:spPr>
            <a:xfrm>
              <a:off x="2148867" y="3845243"/>
              <a:ext cx="88541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Cauchy, N=6</a:t>
              </a:r>
            </a:p>
          </p:txBody>
        </p:sp>
        <p:sp>
          <p:nvSpPr>
            <p:cNvPr id="21" name="TextBox 21"/>
            <p:cNvSpPr txBox="1"/>
            <p:nvPr/>
          </p:nvSpPr>
          <p:spPr>
            <a:xfrm>
              <a:off x="3909441" y="3845243"/>
              <a:ext cx="448503"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14.3%</a:t>
              </a:r>
            </a:p>
          </p:txBody>
        </p:sp>
        <p:sp>
          <p:nvSpPr>
            <p:cNvPr id="22" name="Rectangle 22"/>
            <p:cNvSpPr/>
            <p:nvPr/>
          </p:nvSpPr>
          <p:spPr>
            <a:xfrm>
              <a:off x="3143250" y="4210050"/>
              <a:ext cx="1905000" cy="285750"/>
            </a:xfrm>
            <a:prstGeom prst="roundRect">
              <a:avLst>
                <a:gd name="adj" fmla="val 20000"/>
              </a:avLst>
            </a:prstGeom>
            <a:solidFill>
              <a:srgbClr val="0E2334"/>
            </a:solidFill>
            <a:ln w="9525">
              <a:solidFill>
                <a:srgbClr val="26455F"/>
              </a:solidFill>
            </a:ln>
          </p:spPr>
        </p:sp>
        <p:sp>
          <p:nvSpPr>
            <p:cNvPr id="23" name="Rectangle 23"/>
            <p:cNvSpPr/>
            <p:nvPr/>
          </p:nvSpPr>
          <p:spPr>
            <a:xfrm>
              <a:off x="3143250" y="4210050"/>
              <a:ext cx="695325" cy="285750"/>
            </a:xfrm>
            <a:prstGeom prst="roundRect">
              <a:avLst>
                <a:gd name="adj" fmla="val 20000"/>
              </a:avLst>
            </a:prstGeom>
            <a:solidFill>
              <a:schemeClr val="accent2"/>
            </a:solidFill>
            <a:ln>
              <a:noFill/>
            </a:ln>
          </p:spPr>
        </p:sp>
        <p:sp>
          <p:nvSpPr>
            <p:cNvPr id="24" name="TextBox 24"/>
            <p:cNvSpPr txBox="1"/>
            <p:nvPr/>
          </p:nvSpPr>
          <p:spPr>
            <a:xfrm>
              <a:off x="1910477" y="4302442"/>
              <a:ext cx="112380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true derivative</a:t>
              </a:r>
            </a:p>
          </p:txBody>
        </p:sp>
        <p:sp>
          <p:nvSpPr>
            <p:cNvPr id="25" name="TextBox 25"/>
            <p:cNvSpPr txBox="1"/>
            <p:nvPr/>
          </p:nvSpPr>
          <p:spPr>
            <a:xfrm>
              <a:off x="3928491" y="4302442"/>
              <a:ext cx="448503"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14.7%</a:t>
              </a:r>
            </a:p>
          </p:txBody>
        </p:sp>
        <p:sp>
          <p:nvSpPr>
            <p:cNvPr id="26" name="Rectangle 26"/>
            <p:cNvSpPr/>
            <p:nvPr/>
          </p:nvSpPr>
          <p:spPr>
            <a:xfrm>
              <a:off x="876300" y="4667250"/>
              <a:ext cx="4800600" cy="419100"/>
            </a:xfrm>
            <a:prstGeom prst="roundRect">
              <a:avLst>
                <a:gd name="adj" fmla="val 22727"/>
              </a:avLst>
            </a:prstGeom>
            <a:solidFill>
              <a:srgbClr val="0F2E2B"/>
            </a:solidFill>
            <a:ln w="14288">
              <a:solidFill>
                <a:srgbClr val="34D3C0"/>
              </a:solidFill>
            </a:ln>
          </p:spPr>
        </p:sp>
        <p:sp>
          <p:nvSpPr>
            <p:cNvPr id="27" name="TextBox 27"/>
            <p:cNvSpPr txBox="1"/>
            <p:nvPr/>
          </p:nvSpPr>
          <p:spPr>
            <a:xfrm>
              <a:off x="1061466" y="4820602"/>
              <a:ext cx="4557522"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N=6 estimate matches the true derivative: nudge bias removed</a:t>
              </a:r>
            </a:p>
          </p:txBody>
        </p:sp>
      </p:grpSp>
      <p:grpSp>
        <p:nvGrpSpPr>
          <p:cNvPr id="36" name="Group 36"/>
          <p:cNvGrpSpPr/>
          <p:nvPr/>
        </p:nvGrpSpPr>
        <p:grpSpPr>
          <a:xfrm>
            <a:off x="6248400" y="1504950"/>
            <a:ext cx="5334000" cy="1714500"/>
            <a:chOff x="6248400" y="1504950"/>
            <a:chExt cx="5334000" cy="1714500"/>
          </a:xfrm>
        </p:grpSpPr>
        <p:sp>
          <p:nvSpPr>
            <p:cNvPr id="29" name="Rectangle 29"/>
            <p:cNvSpPr/>
            <p:nvPr/>
          </p:nvSpPr>
          <p:spPr>
            <a:xfrm>
              <a:off x="6248400" y="1504950"/>
              <a:ext cx="5334000" cy="1714500"/>
            </a:xfrm>
            <a:prstGeom prst="roundRect">
              <a:avLst>
                <a:gd name="adj" fmla="val 7778"/>
              </a:avLst>
            </a:prstGeom>
            <a:solidFill>
              <a:schemeClr val="accent5"/>
            </a:solidFill>
            <a:ln w="14288">
              <a:solidFill>
                <a:srgbClr val="26455F"/>
              </a:solidFill>
            </a:ln>
          </p:spPr>
        </p:sp>
        <p:sp>
          <p:nvSpPr>
            <p:cNvPr id="30" name="Rectangle 30"/>
            <p:cNvSpPr/>
            <p:nvPr/>
          </p:nvSpPr>
          <p:spPr>
            <a:xfrm>
              <a:off x="6248400" y="1504950"/>
              <a:ext cx="57150" cy="1714500"/>
            </a:xfrm>
            <a:prstGeom prst="roundRect">
              <a:avLst>
                <a:gd name="adj" fmla="val 50000"/>
              </a:avLst>
            </a:prstGeom>
            <a:solidFill>
              <a:srgbClr val="F2C14E"/>
            </a:solidFill>
            <a:ln>
              <a:noFill/>
            </a:ln>
          </p:spPr>
        </p:sp>
        <p:sp>
          <p:nvSpPr>
            <p:cNvPr id="31" name="TextBox 31"/>
            <p:cNvSpPr txBox="1"/>
            <p:nvPr/>
          </p:nvSpPr>
          <p:spPr>
            <a:xfrm>
              <a:off x="6508814" y="1733312"/>
              <a:ext cx="2103715"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Quantifying the residual</a:t>
              </a:r>
            </a:p>
          </p:txBody>
        </p:sp>
        <p:sp>
          <p:nvSpPr>
            <p:cNvPr id="32" name="TextBox 32"/>
            <p:cNvSpPr txBox="1"/>
            <p:nvPr/>
          </p:nvSpPr>
          <p:spPr>
            <a:xfrm>
              <a:off x="6509576" y="2035254"/>
              <a:ext cx="41539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Dropping from the exact derivative to a coarse two-point</a:t>
              </a:r>
            </a:p>
          </p:txBody>
        </p:sp>
        <p:sp>
          <p:nvSpPr>
            <p:cNvPr id="33" name="TextBox 33"/>
            <p:cNvSpPr txBox="1"/>
            <p:nvPr/>
          </p:nvSpPr>
          <p:spPr>
            <a:xfrm>
              <a:off x="6509576" y="2244804"/>
              <a:ext cx="358491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(N=2) estimate costs about 3 points on CIFAR-10.</a:t>
              </a:r>
            </a:p>
          </p:txBody>
        </p:sp>
        <p:sp>
          <p:nvSpPr>
            <p:cNvPr id="34" name="Rectangle 34"/>
            <p:cNvSpPr/>
            <p:nvPr/>
          </p:nvSpPr>
          <p:spPr>
            <a:xfrm>
              <a:off x="6515100" y="2762250"/>
              <a:ext cx="4800600" cy="323850"/>
            </a:xfrm>
            <a:prstGeom prst="roundRect">
              <a:avLst>
                <a:gd name="adj" fmla="val 23529"/>
              </a:avLst>
            </a:prstGeom>
            <a:solidFill>
              <a:schemeClr val="accent6"/>
            </a:solidFill>
            <a:ln w="14288">
              <a:solidFill>
                <a:srgbClr val="26455F"/>
              </a:solidFill>
            </a:ln>
          </p:spPr>
        </p:sp>
        <p:sp>
          <p:nvSpPr>
            <p:cNvPr id="35" name="TextBox 35"/>
            <p:cNvSpPr txBox="1"/>
            <p:nvPr/>
          </p:nvSpPr>
          <p:spPr>
            <a:xfrm>
              <a:off x="7430343" y="2854404"/>
              <a:ext cx="2970115" cy="212693"/>
            </a:xfrm>
            <a:prstGeom prst="rect">
              <a:avLst/>
            </a:prstGeom>
            <a:noFill/>
            <a:ln>
              <a:noFill/>
            </a:ln>
          </p:spPr>
          <p:txBody>
            <a:bodyPr wrap="none" lIns="0" tIns="0" rIns="0" bIns="0" anchor="t" anchorCtr="0">
              <a:spAutoFit/>
            </a:bodyPr>
            <a:lstStyle/>
            <a:p>
              <a:pPr algn="ctr"/>
              <a:r>
                <a:rPr lang="en-US" sz="1090" b="1" dirty="0">
                  <a:solidFill>
                    <a:srgbClr val="F2C14E"/>
                  </a:solidFill>
                  <a:latin typeface="Consolas"/>
                  <a:ea typeface="Consolas"/>
                  <a:cs typeface="Consolas"/>
                </a:rPr>
                <a:t>N=2 vs exact = about -3 pts (CIFAR-10)</a:t>
              </a:r>
            </a:p>
          </p:txBody>
        </p:sp>
      </p:grpSp>
      <p:grpSp>
        <p:nvGrpSpPr>
          <p:cNvPr id="46" name="Group 46"/>
          <p:cNvGrpSpPr/>
          <p:nvPr/>
        </p:nvGrpSpPr>
        <p:grpSpPr>
          <a:xfrm>
            <a:off x="6248400" y="3371850"/>
            <a:ext cx="5334000" cy="1866900"/>
            <a:chOff x="6248400" y="3371850"/>
            <a:chExt cx="5334000" cy="1866900"/>
          </a:xfrm>
        </p:grpSpPr>
        <p:sp>
          <p:nvSpPr>
            <p:cNvPr id="37" name="Rectangle 37"/>
            <p:cNvSpPr/>
            <p:nvPr/>
          </p:nvSpPr>
          <p:spPr>
            <a:xfrm>
              <a:off x="6248400" y="3371850"/>
              <a:ext cx="5334000" cy="1866900"/>
            </a:xfrm>
            <a:prstGeom prst="roundRect">
              <a:avLst>
                <a:gd name="adj" fmla="val 7143"/>
              </a:avLst>
            </a:prstGeom>
            <a:solidFill>
              <a:srgbClr val="0F2E2B"/>
            </a:solidFill>
            <a:ln w="14288">
              <a:solidFill>
                <a:srgbClr val="48C78E"/>
              </a:solidFill>
            </a:ln>
          </p:spPr>
        </p:sp>
        <p:sp>
          <p:nvSpPr>
            <p:cNvPr id="38" name="Rectangle 38"/>
            <p:cNvSpPr/>
            <p:nvPr/>
          </p:nvSpPr>
          <p:spPr>
            <a:xfrm>
              <a:off x="6248400" y="3371850"/>
              <a:ext cx="57150" cy="1866900"/>
            </a:xfrm>
            <a:prstGeom prst="roundRect">
              <a:avLst>
                <a:gd name="adj" fmla="val 50000"/>
              </a:avLst>
            </a:prstGeom>
            <a:solidFill>
              <a:srgbClr val="48C78E"/>
            </a:solidFill>
            <a:ln>
              <a:noFill/>
            </a:ln>
          </p:spPr>
        </p:sp>
        <p:sp>
          <p:nvSpPr>
            <p:cNvPr id="39" name="TextBox 39"/>
            <p:cNvSpPr txBox="1"/>
            <p:nvPr/>
          </p:nvSpPr>
          <p:spPr>
            <a:xfrm>
              <a:off x="6508814" y="3600212"/>
              <a:ext cx="2945806"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Functional, not weight, symmetry</a:t>
              </a:r>
            </a:p>
          </p:txBody>
        </p:sp>
        <p:sp>
          <p:nvSpPr>
            <p:cNvPr id="40" name="TextBox 40"/>
            <p:cNvSpPr txBox="1"/>
            <p:nvPr/>
          </p:nvSpPr>
          <p:spPr>
            <a:xfrm>
              <a:off x="6509576" y="3921204"/>
              <a:ext cx="411725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An architecture whose output feeds straight back to the</a:t>
              </a:r>
            </a:p>
          </p:txBody>
        </p:sp>
        <p:sp>
          <p:nvSpPr>
            <p:cNvPr id="41" name="TextBox 41"/>
            <p:cNvSpPr txBox="1"/>
            <p:nvPr/>
          </p:nvSpPr>
          <p:spPr>
            <a:xfrm>
              <a:off x="6509576" y="4130754"/>
              <a:ext cx="384085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first layer, with no reciprocal connections, benefits</a:t>
              </a:r>
            </a:p>
          </p:txBody>
        </p:sp>
        <p:sp>
          <p:nvSpPr>
            <p:cNvPr id="42" name="TextBox 42"/>
            <p:cNvSpPr txBox="1"/>
            <p:nvPr/>
          </p:nvSpPr>
          <p:spPr>
            <a:xfrm>
              <a:off x="6509576" y="4340304"/>
              <a:ext cx="97950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just as much.</a:t>
              </a:r>
            </a:p>
          </p:txBody>
        </p:sp>
        <p:sp>
          <p:nvSpPr>
            <p:cNvPr id="43" name="Rectangle 43"/>
            <p:cNvSpPr/>
            <p:nvPr/>
          </p:nvSpPr>
          <p:spPr>
            <a:xfrm>
              <a:off x="6515100" y="4705350"/>
              <a:ext cx="4800600" cy="323850"/>
            </a:xfrm>
            <a:prstGeom prst="roundRect">
              <a:avLst>
                <a:gd name="adj" fmla="val 23529"/>
              </a:avLst>
            </a:prstGeom>
            <a:solidFill>
              <a:schemeClr val="accent6"/>
            </a:solidFill>
            <a:ln w="14288">
              <a:solidFill>
                <a:srgbClr val="26455F"/>
              </a:solidFill>
            </a:ln>
          </p:spPr>
        </p:sp>
        <p:sp>
          <p:nvSpPr>
            <p:cNvPr id="44" name="Ellipse 44"/>
            <p:cNvSpPr/>
            <p:nvPr/>
          </p:nvSpPr>
          <p:spPr>
            <a:xfrm>
              <a:off x="6638925" y="4819650"/>
              <a:ext cx="95250" cy="95250"/>
            </a:xfrm>
            <a:prstGeom prst="ellipse">
              <a:avLst/>
            </a:prstGeom>
            <a:solidFill>
              <a:srgbClr val="48C78E"/>
            </a:solidFill>
            <a:ln>
              <a:noFill/>
            </a:ln>
          </p:spPr>
        </p:sp>
        <p:sp>
          <p:nvSpPr>
            <p:cNvPr id="45" name="TextBox 45"/>
            <p:cNvSpPr txBox="1"/>
            <p:nvPr/>
          </p:nvSpPr>
          <p:spPr>
            <a:xfrm>
              <a:off x="6833426" y="4807029"/>
              <a:ext cx="357516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Confirms the loss targets functional symmetry</a:t>
              </a:r>
            </a:p>
          </p:txBody>
        </p:sp>
      </p:grpSp>
      <p:sp>
        <p:nvSpPr>
          <p:cNvPr id="47" name="cue_s08_c1_ablations_cleanly_separate_two_biase" title="cue_s08_c1_ablations_cleanly_separate_two_biase" descr="cue_s08_c1_ablations_cleanly_separate_two_biase The ablations cleanly separate the two biases. On Fashion MNIST, when the nudge is made large, classic one-sided EP falls apart, its error ballooning to thirty-eight point four percent."/>
          <p:cNvSpPr/>
          <p:nvPr/>
        </p:nvSpPr>
        <p:spPr>
          <a:xfrm>
            <a:off x="609600" y="1504645"/>
            <a:ext cx="5334000"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holomorphic_cauchy_integral_estimate" title="cue_s08_c2_holomorphic_cauchy_integral_estimate" descr="cue_s08_c2_holomorphic_cauchy_integral_estimate The holomorphic Cauchy-integral estimate with six points instead stays at fourteen point three percent, essentially matching the true derivative at fourteen point seven percent, proof that finite-nudge bias is fully removed."/>
          <p:cNvSpPr/>
          <p:nvPr/>
        </p:nvSpPr>
        <p:spPr>
          <a:xfrm>
            <a:off x="609600" y="2704795"/>
            <a:ext cx="533400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separately_dropping_exact_derivative" title="cue_s08_c3_separately_dropping_exact_derivative" descr="cue_s08_c3_separately_dropping_exact_derivative Separately, dropping from the exact derivative to a coarse two-point estimate costs about three points on CIFAR-10, quantifying the residual nudge bias."/>
          <p:cNvSpPr/>
          <p:nvPr/>
        </p:nvSpPr>
        <p:spPr>
          <a:xfrm>
            <a:off x="6248399" y="15046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4_architecture_whose_output_feeds_stra" title="cue_s08_c4_architecture_whose_output_feeds_stra" descr="cue_s08_c4_architecture_whose_output_feeds_stra And an architecture whose output feeds straight back to the first layer, with no reciprocal connections, benefits just as much, confirming the loss targets functional symmetry rather than weight symmetry."/>
          <p:cNvSpPr/>
          <p:nvPr/>
        </p:nvSpPr>
        <p:spPr>
          <a:xfrm>
            <a:off x="6248399" y="3372078"/>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21" name="Group 21"/>
          <p:cNvGrpSpPr/>
          <p:nvPr/>
        </p:nvGrpSpPr>
        <p:grpSpPr>
          <a:xfrm>
            <a:off x="609600" y="1600200"/>
            <a:ext cx="10972800" cy="1396603"/>
            <a:chOff x="609600" y="1600200"/>
            <a:chExt cx="10972800" cy="1396603"/>
          </a:xfrm>
        </p:grpSpPr>
        <p:sp>
          <p:nvSpPr>
            <p:cNvPr id="5" name="Rectangle 5"/>
            <p:cNvSpPr/>
            <p:nvPr/>
          </p:nvSpPr>
          <p:spPr>
            <a:xfrm>
              <a:off x="609600" y="1600200"/>
              <a:ext cx="10972800" cy="1390650"/>
            </a:xfrm>
            <a:prstGeom prst="roundRect">
              <a:avLst>
                <a:gd name="adj" fmla="val 9589"/>
              </a:avLst>
            </a:prstGeom>
            <a:solidFill>
              <a:schemeClr val="accent5"/>
            </a:solidFill>
            <a:ln w="14288">
              <a:solidFill>
                <a:srgbClr val="26455F"/>
              </a:solidFill>
            </a:ln>
          </p:spPr>
        </p:sp>
        <p:sp>
          <p:nvSpPr>
            <p:cNvPr id="6" name="Rectangle 6"/>
            <p:cNvSpPr/>
            <p:nvPr/>
          </p:nvSpPr>
          <p:spPr>
            <a:xfrm>
              <a:off x="609600" y="1600200"/>
              <a:ext cx="57150" cy="1390650"/>
            </a:xfrm>
            <a:prstGeom prst="roundRect">
              <a:avLst>
                <a:gd name="adj" fmla="val 50000"/>
              </a:avLst>
            </a:prstGeom>
            <a:solidFill>
              <a:srgbClr val="48C78E"/>
            </a:solidFill>
            <a:ln>
              <a:noFill/>
            </a:ln>
          </p:spPr>
        </p:sp>
        <p:sp>
          <p:nvSpPr>
            <p:cNvPr id="7" name="TextBox 7"/>
            <p:cNvSpPr txBox="1"/>
            <p:nvPr/>
          </p:nvSpPr>
          <p:spPr>
            <a:xfrm>
              <a:off x="870014" y="1828562"/>
              <a:ext cx="4032329"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CIFAR-10 · the homeostatic loss earns its keep</a:t>
              </a:r>
            </a:p>
          </p:txBody>
        </p:sp>
        <p:sp>
          <p:nvSpPr>
            <p:cNvPr id="8" name="Rectangle 8"/>
            <p:cNvSpPr/>
            <p:nvPr/>
          </p:nvSpPr>
          <p:spPr>
            <a:xfrm>
              <a:off x="876300" y="2133600"/>
              <a:ext cx="2000250" cy="723900"/>
            </a:xfrm>
            <a:prstGeom prst="roundRect">
              <a:avLst>
                <a:gd name="adj" fmla="val 15789"/>
              </a:avLst>
            </a:prstGeom>
            <a:solidFill>
              <a:schemeClr val="accent6"/>
            </a:solidFill>
            <a:ln w="14288">
              <a:solidFill>
                <a:srgbClr val="26455F"/>
              </a:solidFill>
            </a:ln>
          </p:spPr>
        </p:sp>
        <p:sp>
          <p:nvSpPr>
            <p:cNvPr id="9" name="TextBox 9"/>
            <p:cNvSpPr txBox="1"/>
            <p:nvPr/>
          </p:nvSpPr>
          <p:spPr>
            <a:xfrm>
              <a:off x="1395886" y="2424112"/>
              <a:ext cx="961077" cy="440055"/>
            </a:xfrm>
            <a:prstGeom prst="rect">
              <a:avLst/>
            </a:prstGeom>
            <a:noFill/>
            <a:ln>
              <a:noFill/>
            </a:ln>
          </p:spPr>
          <p:txBody>
            <a:bodyPr wrap="none" lIns="0" tIns="0" rIns="0" bIns="0" anchor="t" anchorCtr="0">
              <a:spAutoFit/>
            </a:bodyPr>
            <a:lstStyle/>
            <a:p>
              <a:pPr algn="ctr"/>
              <a:r>
                <a:rPr lang="en-US" sz="2250" b="1" dirty="0">
                  <a:solidFill>
                    <a:srgbClr val="F2685C"/>
                  </a:solidFill>
                  <a:latin typeface="+mn-lt"/>
                  <a:ea typeface="+mn-ea"/>
                  <a:cs typeface="+mn-cs"/>
                </a:rPr>
                <a:t>60.4%</a:t>
              </a:r>
            </a:p>
          </p:txBody>
        </p:sp>
        <p:sp>
          <p:nvSpPr>
            <p:cNvPr id="10" name="TextBox 10"/>
            <p:cNvSpPr txBox="1"/>
            <p:nvPr/>
          </p:nvSpPr>
          <p:spPr>
            <a:xfrm>
              <a:off x="1447858" y="2813447"/>
              <a:ext cx="85713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EP, no homeo</a:t>
              </a:r>
            </a:p>
          </p:txBody>
        </p:sp>
        <p:sp>
          <p:nvSpPr>
            <p:cNvPr id="11" name="TextBox 11"/>
            <p:cNvSpPr txBox="1"/>
            <p:nvPr/>
          </p:nvSpPr>
          <p:spPr>
            <a:xfrm>
              <a:off x="2880698" y="2328862"/>
              <a:ext cx="372704" cy="440055"/>
            </a:xfrm>
            <a:prstGeom prst="rect">
              <a:avLst/>
            </a:prstGeom>
            <a:noFill/>
            <a:ln>
              <a:noFill/>
            </a:ln>
          </p:spPr>
          <p:txBody>
            <a:bodyPr wrap="none" lIns="0" tIns="0" rIns="0" bIns="0" anchor="t" anchorCtr="0">
              <a:spAutoFit/>
            </a:bodyPr>
            <a:lstStyle/>
            <a:p>
              <a:pPr algn="ctr"/>
              <a:r>
                <a:rPr lang="en-US" sz="2250" b="1" dirty="0">
                  <a:solidFill>
                    <a:schemeClr val="dk2"/>
                  </a:solidFill>
                  <a:latin typeface="+mn-lt"/>
                  <a:ea typeface="+mn-ea"/>
                  <a:cs typeface="+mn-cs"/>
                </a:rPr>
                <a:t>-&gt;</a:t>
              </a:r>
            </a:p>
          </p:txBody>
        </p:sp>
        <p:sp>
          <p:nvSpPr>
            <p:cNvPr id="12" name="Rectangle 12"/>
            <p:cNvSpPr/>
            <p:nvPr/>
          </p:nvSpPr>
          <p:spPr>
            <a:xfrm>
              <a:off x="3352800" y="2133600"/>
              <a:ext cx="2000250" cy="723900"/>
            </a:xfrm>
            <a:prstGeom prst="roundRect">
              <a:avLst>
                <a:gd name="adj" fmla="val 15789"/>
              </a:avLst>
            </a:prstGeom>
            <a:solidFill>
              <a:schemeClr val="accent6"/>
            </a:solidFill>
            <a:ln w="14288">
              <a:solidFill>
                <a:srgbClr val="26455F"/>
              </a:solidFill>
            </a:ln>
          </p:spPr>
        </p:sp>
        <p:sp>
          <p:nvSpPr>
            <p:cNvPr id="13" name="TextBox 13"/>
            <p:cNvSpPr txBox="1"/>
            <p:nvPr/>
          </p:nvSpPr>
          <p:spPr>
            <a:xfrm>
              <a:off x="3872386" y="2424112"/>
              <a:ext cx="961077"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84.3%</a:t>
              </a:r>
            </a:p>
          </p:txBody>
        </p:sp>
        <p:sp>
          <p:nvSpPr>
            <p:cNvPr id="14" name="TextBox 14"/>
            <p:cNvSpPr txBox="1"/>
            <p:nvPr/>
          </p:nvSpPr>
          <p:spPr>
            <a:xfrm>
              <a:off x="3997114" y="2813447"/>
              <a:ext cx="7116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EP + homeo</a:t>
              </a:r>
            </a:p>
          </p:txBody>
        </p:sp>
        <p:sp>
          <p:nvSpPr>
            <p:cNvPr id="15" name="Rectangle 15"/>
            <p:cNvSpPr/>
            <p:nvPr/>
          </p:nvSpPr>
          <p:spPr>
            <a:xfrm>
              <a:off x="5715000" y="2133600"/>
              <a:ext cx="2190750" cy="723900"/>
            </a:xfrm>
            <a:prstGeom prst="roundRect">
              <a:avLst>
                <a:gd name="adj" fmla="val 15789"/>
              </a:avLst>
            </a:prstGeom>
            <a:solidFill>
              <a:schemeClr val="accent6"/>
            </a:solidFill>
            <a:ln w="14288">
              <a:solidFill>
                <a:srgbClr val="26455F"/>
              </a:solidFill>
            </a:ln>
          </p:spPr>
        </p:sp>
        <p:sp>
          <p:nvSpPr>
            <p:cNvPr id="16" name="TextBox 16"/>
            <p:cNvSpPr txBox="1"/>
            <p:nvPr/>
          </p:nvSpPr>
          <p:spPr>
            <a:xfrm>
              <a:off x="6226473" y="2424112"/>
              <a:ext cx="1167803"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4.3 pts</a:t>
              </a:r>
            </a:p>
          </p:txBody>
        </p:sp>
        <p:sp>
          <p:nvSpPr>
            <p:cNvPr id="17" name="TextBox 17"/>
            <p:cNvSpPr txBox="1"/>
            <p:nvPr/>
          </p:nvSpPr>
          <p:spPr>
            <a:xfrm>
              <a:off x="6244237" y="2813447"/>
              <a:ext cx="113227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gap to symmetric</a:t>
              </a:r>
            </a:p>
          </p:txBody>
        </p:sp>
        <p:sp>
          <p:nvSpPr>
            <p:cNvPr id="18" name="Rectangle 18"/>
            <p:cNvSpPr/>
            <p:nvPr/>
          </p:nvSpPr>
          <p:spPr>
            <a:xfrm>
              <a:off x="8115300" y="2133600"/>
              <a:ext cx="3467100" cy="723900"/>
            </a:xfrm>
            <a:prstGeom prst="roundRect">
              <a:avLst>
                <a:gd name="adj" fmla="val 15789"/>
              </a:avLst>
            </a:prstGeom>
            <a:solidFill>
              <a:schemeClr val="accent6"/>
            </a:solidFill>
            <a:ln w="14288">
              <a:solidFill>
                <a:srgbClr val="26455F"/>
              </a:solidFill>
            </a:ln>
          </p:spPr>
        </p:sp>
        <p:sp>
          <p:nvSpPr>
            <p:cNvPr id="19" name="TextBox 19"/>
            <p:cNvSpPr txBox="1"/>
            <p:nvPr/>
          </p:nvSpPr>
          <p:spPr>
            <a:xfrm>
              <a:off x="8300466" y="2286952"/>
              <a:ext cx="28148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23.9-point jump from only approximate</a:t>
              </a:r>
            </a:p>
          </p:txBody>
        </p:sp>
        <p:sp>
          <p:nvSpPr>
            <p:cNvPr id="20" name="TextBox 20"/>
            <p:cNvSpPr txBox="1"/>
            <p:nvPr/>
          </p:nvSpPr>
          <p:spPr>
            <a:xfrm>
              <a:off x="8300466" y="2477452"/>
              <a:ext cx="12686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 symmetry.</a:t>
              </a:r>
            </a:p>
          </p:txBody>
        </p:sp>
      </p:grpSp>
      <p:grpSp>
        <p:nvGrpSpPr>
          <p:cNvPr id="32" name="Group 32"/>
          <p:cNvGrpSpPr/>
          <p:nvPr/>
        </p:nvGrpSpPr>
        <p:grpSpPr>
          <a:xfrm>
            <a:off x="609600" y="3143250"/>
            <a:ext cx="5334000" cy="2095500"/>
            <a:chOff x="609600" y="3143250"/>
            <a:chExt cx="5334000" cy="2095500"/>
          </a:xfrm>
        </p:grpSpPr>
        <p:sp>
          <p:nvSpPr>
            <p:cNvPr id="22" name="Rectangle 22"/>
            <p:cNvSpPr/>
            <p:nvPr/>
          </p:nvSpPr>
          <p:spPr>
            <a:xfrm>
              <a:off x="609600" y="3143250"/>
              <a:ext cx="5334000" cy="2095500"/>
            </a:xfrm>
            <a:prstGeom prst="roundRect">
              <a:avLst>
                <a:gd name="adj" fmla="val 6364"/>
              </a:avLst>
            </a:prstGeom>
            <a:solidFill>
              <a:srgbClr val="2A2417"/>
            </a:solidFill>
            <a:ln w="14288">
              <a:solidFill>
                <a:srgbClr val="F2C14E"/>
              </a:solidFill>
            </a:ln>
          </p:spPr>
        </p:sp>
        <p:sp>
          <p:nvSpPr>
            <p:cNvPr id="23" name="Rectangle 23"/>
            <p:cNvSpPr/>
            <p:nvPr/>
          </p:nvSpPr>
          <p:spPr>
            <a:xfrm>
              <a:off x="609600" y="3143250"/>
              <a:ext cx="57150" cy="2095500"/>
            </a:xfrm>
            <a:prstGeom prst="roundRect">
              <a:avLst>
                <a:gd name="adj" fmla="val 50000"/>
              </a:avLst>
            </a:prstGeom>
            <a:solidFill>
              <a:srgbClr val="F2C14E"/>
            </a:solidFill>
            <a:ln>
              <a:noFill/>
            </a:ln>
          </p:spPr>
        </p:sp>
        <p:sp>
          <p:nvSpPr>
            <p:cNvPr id="24" name="TextBox 24"/>
            <p:cNvSpPr txBox="1"/>
            <p:nvPr/>
          </p:nvSpPr>
          <p:spPr>
            <a:xfrm>
              <a:off x="870014" y="3371612"/>
              <a:ext cx="2901235"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ImageNet 32x32 · first of its kind</a:t>
              </a:r>
            </a:p>
          </p:txBody>
        </p:sp>
        <p:sp>
          <p:nvSpPr>
            <p:cNvPr id="25" name="Rectangle 25"/>
            <p:cNvSpPr/>
            <p:nvPr/>
          </p:nvSpPr>
          <p:spPr>
            <a:xfrm>
              <a:off x="876300" y="3695700"/>
              <a:ext cx="2381250" cy="990600"/>
            </a:xfrm>
            <a:prstGeom prst="roundRect">
              <a:avLst>
                <a:gd name="adj" fmla="val 11538"/>
              </a:avLst>
            </a:prstGeom>
            <a:solidFill>
              <a:schemeClr val="accent6"/>
            </a:solidFill>
            <a:ln w="14288">
              <a:solidFill>
                <a:srgbClr val="26455F"/>
              </a:solidFill>
            </a:ln>
          </p:spPr>
        </p:sp>
        <p:sp>
          <p:nvSpPr>
            <p:cNvPr id="26" name="TextBox 26"/>
            <p:cNvSpPr txBox="1"/>
            <p:nvPr/>
          </p:nvSpPr>
          <p:spPr>
            <a:xfrm>
              <a:off x="1586386" y="3986212"/>
              <a:ext cx="96107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31.4%</a:t>
              </a:r>
            </a:p>
          </p:txBody>
        </p:sp>
        <p:sp>
          <p:nvSpPr>
            <p:cNvPr id="27" name="TextBox 27"/>
            <p:cNvSpPr txBox="1"/>
            <p:nvPr/>
          </p:nvSpPr>
          <p:spPr>
            <a:xfrm>
              <a:off x="1876019" y="4375547"/>
              <a:ext cx="38181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Top-1</a:t>
              </a:r>
            </a:p>
          </p:txBody>
        </p:sp>
        <p:sp>
          <p:nvSpPr>
            <p:cNvPr id="28" name="Rectangle 28"/>
            <p:cNvSpPr/>
            <p:nvPr/>
          </p:nvSpPr>
          <p:spPr>
            <a:xfrm>
              <a:off x="3524250" y="3695700"/>
              <a:ext cx="2381250" cy="990600"/>
            </a:xfrm>
            <a:prstGeom prst="roundRect">
              <a:avLst>
                <a:gd name="adj" fmla="val 11538"/>
              </a:avLst>
            </a:prstGeom>
            <a:solidFill>
              <a:schemeClr val="accent6"/>
            </a:solidFill>
            <a:ln w="14288">
              <a:solidFill>
                <a:srgbClr val="26455F"/>
              </a:solidFill>
            </a:ln>
          </p:spPr>
        </p:sp>
        <p:sp>
          <p:nvSpPr>
            <p:cNvPr id="29" name="TextBox 29"/>
            <p:cNvSpPr txBox="1"/>
            <p:nvPr/>
          </p:nvSpPr>
          <p:spPr>
            <a:xfrm>
              <a:off x="4234336" y="3986212"/>
              <a:ext cx="96107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55.2%</a:t>
              </a:r>
            </a:p>
          </p:txBody>
        </p:sp>
        <p:sp>
          <p:nvSpPr>
            <p:cNvPr id="30" name="TextBox 30"/>
            <p:cNvSpPr txBox="1"/>
            <p:nvPr/>
          </p:nvSpPr>
          <p:spPr>
            <a:xfrm>
              <a:off x="4523969" y="4375547"/>
              <a:ext cx="38181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Top-5</a:t>
              </a:r>
            </a:p>
          </p:txBody>
        </p:sp>
        <p:sp>
          <p:nvSpPr>
            <p:cNvPr id="31" name="TextBox 31"/>
            <p:cNvSpPr txBox="1"/>
            <p:nvPr/>
          </p:nvSpPr>
          <p:spPr>
            <a:xfrm>
              <a:off x="870966" y="4953952"/>
              <a:ext cx="397821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The first equilibrium-propagation result at this scale.</a:t>
              </a:r>
            </a:p>
          </p:txBody>
        </p:sp>
      </p:grpSp>
      <p:grpSp>
        <p:nvGrpSpPr>
          <p:cNvPr id="44" name="Group 44"/>
          <p:cNvGrpSpPr/>
          <p:nvPr/>
        </p:nvGrpSpPr>
        <p:grpSpPr>
          <a:xfrm>
            <a:off x="6248400" y="3143250"/>
            <a:ext cx="5334000" cy="2095500"/>
            <a:chOff x="6248400" y="3143250"/>
            <a:chExt cx="5334000" cy="2095500"/>
          </a:xfrm>
        </p:grpSpPr>
        <p:sp>
          <p:nvSpPr>
            <p:cNvPr id="33" name="Rectangle 33"/>
            <p:cNvSpPr/>
            <p:nvPr/>
          </p:nvSpPr>
          <p:spPr>
            <a:xfrm>
              <a:off x="6248400" y="3143250"/>
              <a:ext cx="5334000" cy="2095500"/>
            </a:xfrm>
            <a:prstGeom prst="roundRect">
              <a:avLst>
                <a:gd name="adj" fmla="val 6364"/>
              </a:avLst>
            </a:prstGeom>
            <a:solidFill>
              <a:schemeClr val="accent5"/>
            </a:solidFill>
            <a:ln w="14288">
              <a:solidFill>
                <a:srgbClr val="26455F"/>
              </a:solidFill>
            </a:ln>
          </p:spPr>
        </p:sp>
        <p:sp>
          <p:nvSpPr>
            <p:cNvPr id="34" name="Rectangle 34"/>
            <p:cNvSpPr/>
            <p:nvPr/>
          </p:nvSpPr>
          <p:spPr>
            <a:xfrm>
              <a:off x="6248400" y="3143250"/>
              <a:ext cx="57150" cy="2095500"/>
            </a:xfrm>
            <a:prstGeom prst="roundRect">
              <a:avLst>
                <a:gd name="adj" fmla="val 50000"/>
              </a:avLst>
            </a:prstGeom>
            <a:solidFill>
              <a:srgbClr val="34D3C0"/>
            </a:solidFill>
            <a:ln>
              <a:noFill/>
            </a:ln>
          </p:spPr>
        </p:sp>
        <p:sp>
          <p:nvSpPr>
            <p:cNvPr id="35" name="TextBox 35"/>
            <p:cNvSpPr txBox="1"/>
            <p:nvPr/>
          </p:nvSpPr>
          <p:spPr>
            <a:xfrm>
              <a:off x="6508814" y="3371612"/>
              <a:ext cx="3027357"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Fashion MNIST · large nudge |b|=0.5</a:t>
              </a:r>
            </a:p>
          </p:txBody>
        </p:sp>
        <p:sp>
          <p:nvSpPr>
            <p:cNvPr id="36" name="Rectangle 36"/>
            <p:cNvSpPr/>
            <p:nvPr/>
          </p:nvSpPr>
          <p:spPr>
            <a:xfrm>
              <a:off x="6515100" y="3695700"/>
              <a:ext cx="2381250" cy="990600"/>
            </a:xfrm>
            <a:prstGeom prst="roundRect">
              <a:avLst>
                <a:gd name="adj" fmla="val 11538"/>
              </a:avLst>
            </a:prstGeom>
            <a:solidFill>
              <a:schemeClr val="accent6"/>
            </a:solidFill>
            <a:ln w="14288">
              <a:solidFill>
                <a:srgbClr val="26455F"/>
              </a:solidFill>
            </a:ln>
          </p:spPr>
        </p:sp>
        <p:sp>
          <p:nvSpPr>
            <p:cNvPr id="37" name="TextBox 37"/>
            <p:cNvSpPr txBox="1"/>
            <p:nvPr/>
          </p:nvSpPr>
          <p:spPr>
            <a:xfrm>
              <a:off x="7225186" y="3986212"/>
              <a:ext cx="961077" cy="440055"/>
            </a:xfrm>
            <a:prstGeom prst="rect">
              <a:avLst/>
            </a:prstGeom>
            <a:noFill/>
            <a:ln>
              <a:noFill/>
            </a:ln>
          </p:spPr>
          <p:txBody>
            <a:bodyPr wrap="none" lIns="0" tIns="0" rIns="0" bIns="0" anchor="t" anchorCtr="0">
              <a:spAutoFit/>
            </a:bodyPr>
            <a:lstStyle/>
            <a:p>
              <a:pPr algn="ctr"/>
              <a:r>
                <a:rPr lang="en-US" sz="2250" b="1" dirty="0">
                  <a:solidFill>
                    <a:srgbClr val="F2685C"/>
                  </a:solidFill>
                  <a:latin typeface="+mn-lt"/>
                  <a:ea typeface="+mn-ea"/>
                  <a:cs typeface="+mn-cs"/>
                </a:rPr>
                <a:t>38.4%</a:t>
              </a:r>
            </a:p>
          </p:txBody>
        </p:sp>
        <p:sp>
          <p:nvSpPr>
            <p:cNvPr id="38" name="TextBox 38"/>
            <p:cNvSpPr txBox="1"/>
            <p:nvPr/>
          </p:nvSpPr>
          <p:spPr>
            <a:xfrm>
              <a:off x="7178579" y="4375547"/>
              <a:ext cx="105429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classic EP error</a:t>
              </a:r>
            </a:p>
          </p:txBody>
        </p:sp>
        <p:sp>
          <p:nvSpPr>
            <p:cNvPr id="39" name="TextBox 39"/>
            <p:cNvSpPr txBox="1"/>
            <p:nvPr/>
          </p:nvSpPr>
          <p:spPr>
            <a:xfrm>
              <a:off x="8824298" y="3967162"/>
              <a:ext cx="372704" cy="440055"/>
            </a:xfrm>
            <a:prstGeom prst="rect">
              <a:avLst/>
            </a:prstGeom>
            <a:noFill/>
            <a:ln>
              <a:noFill/>
            </a:ln>
          </p:spPr>
          <p:txBody>
            <a:bodyPr wrap="none" lIns="0" tIns="0" rIns="0" bIns="0" anchor="t" anchorCtr="0">
              <a:spAutoFit/>
            </a:bodyPr>
            <a:lstStyle/>
            <a:p>
              <a:pPr algn="ctr"/>
              <a:r>
                <a:rPr lang="en-US" sz="2250" b="1" dirty="0">
                  <a:solidFill>
                    <a:schemeClr val="dk2"/>
                  </a:solidFill>
                  <a:latin typeface="+mn-lt"/>
                  <a:ea typeface="+mn-ea"/>
                  <a:cs typeface="+mn-cs"/>
                </a:rPr>
                <a:t>-&gt;</a:t>
              </a:r>
            </a:p>
          </p:txBody>
        </p:sp>
        <p:sp>
          <p:nvSpPr>
            <p:cNvPr id="40" name="Rectangle 40"/>
            <p:cNvSpPr/>
            <p:nvPr/>
          </p:nvSpPr>
          <p:spPr>
            <a:xfrm>
              <a:off x="9201150" y="3695700"/>
              <a:ext cx="2381250" cy="990600"/>
            </a:xfrm>
            <a:prstGeom prst="roundRect">
              <a:avLst>
                <a:gd name="adj" fmla="val 11538"/>
              </a:avLst>
            </a:prstGeom>
            <a:solidFill>
              <a:schemeClr val="accent6"/>
            </a:solidFill>
            <a:ln w="14288">
              <a:solidFill>
                <a:srgbClr val="26455F"/>
              </a:solidFill>
            </a:ln>
          </p:spPr>
        </p:sp>
        <p:sp>
          <p:nvSpPr>
            <p:cNvPr id="41" name="TextBox 41"/>
            <p:cNvSpPr txBox="1"/>
            <p:nvPr/>
          </p:nvSpPr>
          <p:spPr>
            <a:xfrm>
              <a:off x="9911236" y="3986212"/>
              <a:ext cx="961077"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14.3%</a:t>
              </a:r>
            </a:p>
          </p:txBody>
        </p:sp>
        <p:sp>
          <p:nvSpPr>
            <p:cNvPr id="42" name="TextBox 42"/>
            <p:cNvSpPr txBox="1"/>
            <p:nvPr/>
          </p:nvSpPr>
          <p:spPr>
            <a:xfrm>
              <a:off x="9895394" y="4375547"/>
              <a:ext cx="99276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exact estimate</a:t>
              </a:r>
            </a:p>
          </p:txBody>
        </p:sp>
        <p:sp>
          <p:nvSpPr>
            <p:cNvPr id="43" name="TextBox 43"/>
            <p:cNvSpPr txBox="1"/>
            <p:nvPr/>
          </p:nvSpPr>
          <p:spPr>
            <a:xfrm>
              <a:off x="6509766" y="4953952"/>
              <a:ext cx="370930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The Cauchy estimate cuts error by more than half.</a:t>
              </a:r>
            </a:p>
          </p:txBody>
        </p:sp>
      </p:grpSp>
      <p:sp>
        <p:nvSpPr>
          <p:cNvPr id="45" name="cue_s09_c1_put_numbers_one_place_cifar_10" title="cue_s09_c1_put_numbers_one_place_cifar_10" descr="cue_s09_c1_put_numbers_one_place_cifar_10 To put the numbers in one place: on CIFAR-10, the homeostatic loss lifts asymmetric EP from sixty point four to eighty-four point three percent accuracy, closing the gap to the symmetric network to just four point three points."/>
          <p:cNvSpPr/>
          <p:nvPr/>
        </p:nvSpPr>
        <p:spPr>
          <a:xfrm>
            <a:off x="609600" y="1599971"/>
            <a:ext cx="10972800" cy="139628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2_imagenet_thirty_two_thirty_two_reach" title="cue_s09_c2_imagenet_thirty_two_thirty_two_reach" descr="cue_s09_c2_imagenet_thirty_two_thirty_two_reach On ImageNet thirty-two by thirty-two, EP reaches thirty-one point four percent Top-1 and fifty-five point two percent Top-5, the first result of its kind."/>
          <p:cNvSpPr/>
          <p:nvPr/>
        </p:nvSpPr>
        <p:spPr>
          <a:xfrm>
            <a:off x="609600" y="3143021"/>
            <a:ext cx="5334000"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3_fashion_mnist_large_nudge_exact" title="cue_s09_c3_fashion_mnist_large_nudge_exact" descr="cue_s09_c3_fashion_mnist_large_nudge_exact And on Fashion MNIST, using a large nudge, the exact holomorphic estimate cuts error from thirty-eight point four percent down to fourteen point three percent."/>
          <p:cNvSpPr/>
          <p:nvPr/>
        </p:nvSpPr>
        <p:spPr>
          <a:xfrm>
            <a:off x="6248399" y="3143021"/>
            <a:ext cx="5334000"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6262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EP does not need symmetric weights</a:t>
            </a:r>
          </a:p>
        </p:txBody>
      </p:sp>
      <p:grpSp>
        <p:nvGrpSpPr>
          <p:cNvPr id="11" name="Group 11"/>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251009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Drop the hard assumption</a:t>
              </a:r>
            </a:p>
          </p:txBody>
        </p:sp>
        <p:sp>
          <p:nvSpPr>
            <p:cNvPr id="9" name="TextBox 9"/>
            <p:cNvSpPr txBox="1"/>
            <p:nvPr/>
          </p:nvSpPr>
          <p:spPr>
            <a:xfrm>
              <a:off x="1422844" y="2293858"/>
              <a:ext cx="645055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Equilibrium propagation does not actually need perfectly symmetric weights to learn</a:t>
              </a:r>
            </a:p>
          </p:txBody>
        </p:sp>
        <p:sp>
          <p:nvSpPr>
            <p:cNvPr id="10" name="TextBox 10"/>
            <p:cNvSpPr txBox="1"/>
            <p:nvPr/>
          </p:nvSpPr>
          <p:spPr>
            <a:xfrm>
              <a:off x="1422844" y="2522458"/>
              <a:ext cx="39440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well.</a:t>
              </a:r>
            </a:p>
          </p:txBody>
        </p:sp>
      </p:grpSp>
      <p:grpSp>
        <p:nvGrpSpPr>
          <p:cNvPr id="18" name="Group 18"/>
          <p:cNvGrpSpPr/>
          <p:nvPr/>
        </p:nvGrpSpPr>
        <p:grpSpPr>
          <a:xfrm>
            <a:off x="609600" y="2933700"/>
            <a:ext cx="10972800" cy="1104900"/>
            <a:chOff x="609600" y="2933700"/>
            <a:chExt cx="10972800" cy="1104900"/>
          </a:xfrm>
        </p:grpSpPr>
        <p:sp>
          <p:nvSpPr>
            <p:cNvPr id="12" name="Rectangle 12"/>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3" name="Rectangle 13"/>
            <p:cNvSpPr/>
            <p:nvPr/>
          </p:nvSpPr>
          <p:spPr>
            <a:xfrm>
              <a:off x="609600" y="2933700"/>
              <a:ext cx="57150" cy="1104900"/>
            </a:xfrm>
            <a:prstGeom prst="roundRect">
              <a:avLst>
                <a:gd name="adj" fmla="val 50000"/>
              </a:avLst>
            </a:prstGeom>
            <a:solidFill>
              <a:srgbClr val="34D3C0"/>
            </a:solidFill>
            <a:ln>
              <a:noFill/>
            </a:ln>
          </p:spPr>
        </p:sp>
        <p:sp>
          <p:nvSpPr>
            <p:cNvPr id="14" name="Ellipse 14"/>
            <p:cNvSpPr/>
            <p:nvPr/>
          </p:nvSpPr>
          <p:spPr>
            <a:xfrm>
              <a:off x="971550" y="3390900"/>
              <a:ext cx="190500" cy="190500"/>
            </a:xfrm>
            <a:prstGeom prst="ellipse">
              <a:avLst/>
            </a:prstGeom>
            <a:solidFill>
              <a:srgbClr val="34D3C0"/>
            </a:solidFill>
            <a:ln>
              <a:noFill/>
            </a:ln>
          </p:spPr>
        </p:sp>
        <p:sp>
          <p:nvSpPr>
            <p:cNvPr id="15" name="TextBox 15"/>
            <p:cNvSpPr txBox="1"/>
            <p:nvPr/>
          </p:nvSpPr>
          <p:spPr>
            <a:xfrm>
              <a:off x="1421511" y="3218021"/>
              <a:ext cx="217938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Two fixes, one payoff</a:t>
              </a:r>
            </a:p>
          </p:txBody>
        </p:sp>
        <p:sp>
          <p:nvSpPr>
            <p:cNvPr id="16" name="TextBox 16"/>
            <p:cNvSpPr txBox="1"/>
            <p:nvPr/>
          </p:nvSpPr>
          <p:spPr>
            <a:xfrm>
              <a:off x="1422844" y="3551158"/>
              <a:ext cx="642469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 Cauchy integral removes finite-nudge bias exactly; a homeostatic loss encourages</a:t>
              </a:r>
            </a:p>
          </p:txBody>
        </p:sp>
        <p:sp>
          <p:nvSpPr>
            <p:cNvPr id="17" name="TextBox 17"/>
            <p:cNvSpPr txBox="1"/>
            <p:nvPr/>
          </p:nvSpPr>
          <p:spPr>
            <a:xfrm>
              <a:off x="1422844" y="3779758"/>
              <a:ext cx="630532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functional Jacobian symmetry, so asymmetric nets scale to ImageNet-level tasks.</a:t>
              </a:r>
            </a:p>
          </p:txBody>
        </p:sp>
      </p:grpSp>
      <p:grpSp>
        <p:nvGrpSpPr>
          <p:cNvPr id="25" name="Group 25"/>
          <p:cNvGrpSpPr/>
          <p:nvPr/>
        </p:nvGrpSpPr>
        <p:grpSpPr>
          <a:xfrm>
            <a:off x="609600" y="4191000"/>
            <a:ext cx="10972800" cy="1104900"/>
            <a:chOff x="609600" y="4191000"/>
            <a:chExt cx="10972800" cy="1104900"/>
          </a:xfrm>
        </p:grpSpPr>
        <p:sp>
          <p:nvSpPr>
            <p:cNvPr id="19" name="Rectangle 19"/>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0" name="Rectangle 20"/>
            <p:cNvSpPr/>
            <p:nvPr/>
          </p:nvSpPr>
          <p:spPr>
            <a:xfrm>
              <a:off x="609600" y="4191000"/>
              <a:ext cx="57150" cy="1104900"/>
            </a:xfrm>
            <a:prstGeom prst="roundRect">
              <a:avLst>
                <a:gd name="adj" fmla="val 50000"/>
              </a:avLst>
            </a:prstGeom>
            <a:solidFill>
              <a:srgbClr val="48C78E"/>
            </a:solidFill>
            <a:ln>
              <a:noFill/>
            </a:ln>
          </p:spPr>
        </p:sp>
        <p:sp>
          <p:nvSpPr>
            <p:cNvPr id="21" name="Ellipse 21"/>
            <p:cNvSpPr/>
            <p:nvPr/>
          </p:nvSpPr>
          <p:spPr>
            <a:xfrm>
              <a:off x="971550" y="4648200"/>
              <a:ext cx="190500" cy="190500"/>
            </a:xfrm>
            <a:prstGeom prst="ellipse">
              <a:avLst/>
            </a:prstGeom>
            <a:solidFill>
              <a:srgbClr val="48C78E"/>
            </a:solidFill>
            <a:ln>
              <a:noFill/>
            </a:ln>
          </p:spPr>
        </p:sp>
        <p:sp>
          <p:nvSpPr>
            <p:cNvPr id="22" name="TextBox 22"/>
            <p:cNvSpPr txBox="1"/>
            <p:nvPr/>
          </p:nvSpPr>
          <p:spPr>
            <a:xfrm>
              <a:off x="1421511" y="4475321"/>
              <a:ext cx="266972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biologically plausible path</a:t>
              </a:r>
            </a:p>
          </p:txBody>
        </p:sp>
        <p:sp>
          <p:nvSpPr>
            <p:cNvPr id="23" name="TextBox 23"/>
            <p:cNvSpPr txBox="1"/>
            <p:nvPr/>
          </p:nvSpPr>
          <p:spPr>
            <a:xfrm>
              <a:off x="1422844" y="4808458"/>
              <a:ext cx="684118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Functional symmetry is weaker and more achievable than weight symmetry, hinting brains</a:t>
              </a:r>
            </a:p>
          </p:txBody>
        </p:sp>
        <p:sp>
          <p:nvSpPr>
            <p:cNvPr id="24" name="TextBox 24"/>
            <p:cNvSpPr txBox="1"/>
            <p:nvPr/>
          </p:nvSpPr>
          <p:spPr>
            <a:xfrm>
              <a:off x="1422844" y="5037058"/>
              <a:ext cx="356443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might rely on similar homeostatic mechanisms.</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TextBox 27"/>
          <p:cNvSpPr txBox="1"/>
          <p:nvPr/>
        </p:nvSpPr>
        <p:spPr>
          <a:xfrm>
            <a:off x="603694" y="5894308"/>
            <a:ext cx="725477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Improving Equilibrium Propagation without Weight Symmetry through Jacobian Homeostasis</a:t>
            </a:r>
          </a:p>
        </p:txBody>
      </p:sp>
      <p:sp>
        <p:nvSpPr>
          <p:cNvPr id="28" name="TextBox 28"/>
          <p:cNvSpPr txBox="1"/>
          <p:nvPr/>
        </p:nvSpPr>
        <p:spPr>
          <a:xfrm>
            <a:off x="604456" y="6177201"/>
            <a:ext cx="348113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ICLR 2024 · Laborieux &amp; Zenke · arXiv:2309.02214</a:t>
            </a:r>
          </a:p>
        </p:txBody>
      </p:sp>
      <p:sp>
        <p:nvSpPr>
          <p:cNvPr id="29" name="cue_s10_c1_takeaway_equilibrium_propagation_doe" title="cue_s10_c1_takeaway_equilibrium_propagation_doe" descr="cue_s10_c1_takeaway_equilibrium_propagation_doe The takeaway is that equilibrium propagation does not actually need perfectly symmetric weights."/>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removing_finite_nudge_bias_exactly_c" title="cue_s10_c2_removing_finite_nudge_bias_exactly_c" descr="cue_s10_c2_removing_finite_nudge_bias_exactly_c By removing finite-nudge bias exactly with a Cauchy integral, and by encouraging functional symmetry of the Jacobian with a homeostatic loss instead of the weights, asymmetric networks can finally scale to ImageNet-level tasks with only a small gap to the idea"/>
          <p:cNvSpPr/>
          <p:nvPr/>
        </p:nvSpPr>
        <p:spPr>
          <a:xfrm>
            <a:off x="609600" y="2933852"/>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because_functional_symmetry_weaker_m" title="cue_s10_c3_because_functional_symmetry_weaker_m" descr="cue_s10_c3_because_functional_symmetry_weaker_m Because functional symmetry is a weaker, more achievable condition than weight symmetry, this opens a biologically plausible path to training real physical neural substrates, and hints that brains might rely on similar homeostatic mechanisms."/>
          <p:cNvSpPr/>
          <p:nvPr/>
        </p:nvSpPr>
        <p:spPr>
          <a:xfrm>
            <a:off x="609600" y="4190923"/>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2026-07-16T04:15:43Z</dcterms:created>
  <dcterms:modified xsi:type="dcterms:W3CDTF">2026-07-16T04:15:43Z</dcterms:modified>
  <cp:category/>
  <cp:contentStatus/>
</cp:coreProperties>
</file>
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7940de277227f4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809149"/>
            <a:ext cx="18932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HANYANG UNIVERSITY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26795"/>
            <a:ext cx="27531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75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NeurIPS 2023 · Datasets &amp; Benchmarks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90550" y="1445895"/>
            <a:ext cx="4859845" cy="2297144"/>
            <a:chOff x="590550" y="1445895"/>
            <a:chExt cx="4859845" cy="2297144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445895"/>
              <a:ext cx="347864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EAF1FF"/>
                  </a:solidFill>
                  <a:latin typeface="+mj-lt"/>
                  <a:ea typeface="+mj-ea"/>
                  <a:cs typeface="+mj-cs"/>
                </a:rPr>
                <a:t>SiT Dataset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2107882"/>
              <a:ext cx="48491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Socially Interactive Pedestrian Trajectory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2374582"/>
              <a:ext cx="32219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for Social Navigation Robots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2724150"/>
              <a:ext cx="857250" cy="47625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3885" y="3021806"/>
              <a:ext cx="46453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Trajectories recorded by a robot moving through real crowds 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885" y="3231356"/>
              <a:ext cx="4172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perceiving and predicting the people around it, up close.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4647" y="3552349"/>
              <a:ext cx="30941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E82A6"/>
                  </a:solidFill>
                  <a:latin typeface="+mn-lt"/>
                  <a:ea typeface="+mn-ea"/>
                  <a:cs typeface="+mn-cs"/>
                </a:rPr>
                <a:t>Bae, Kim, Yun, Kang, Choi, Kim, Lee, Choi, Choi</a:t>
              </a:r>
            </a:p>
          </p:txBody>
        </p:sp>
      </p:grpSp>
      <p:sp>
        <p:nvSpPr>
          <p:cNvPr id="15" name="Rectangle 15"/>
          <p:cNvSpPr/>
          <p:nvPr/>
        </p:nvSpPr>
        <p:spPr>
          <a:xfrm>
            <a:off x="609600" y="4114800"/>
            <a:ext cx="20193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6" name="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91000"/>
            <a:ext cx="1866900" cy="1866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852738" y="4665345"/>
            <a:ext cx="1213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150" dirty="0">
                <a:solidFill>
                  <a:srgbClr val="9DB0D0"/>
                </a:solidFill>
                <a:latin typeface="+mn-lt"/>
                <a:ea typeface="+mn-ea"/>
                <a:cs typeface="+mn-cs"/>
              </a:rPr>
              <a:t>SCAN FOR CODE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52547" y="4904899"/>
            <a:ext cx="27445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github.com/SPALaboratory/SiT-Dataset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5411152"/>
            <a:ext cx="20230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i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Dataset · dev-kit · baselines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52166" y="5620702"/>
            <a:ext cx="12333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i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released publicly.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438900" y="1428750"/>
            <a:ext cx="5143500" cy="1428750"/>
            <a:chOff x="6438900" y="1428750"/>
            <a:chExt cx="51435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438900" y="14287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38900" y="1581150"/>
              <a:ext cx="47625" cy="112395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81597" y="1666399"/>
              <a:ext cx="889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WHAT IT IS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80454" y="1927860"/>
              <a:ext cx="3871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The SiT dataset — Socially Interactive Pedestrian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80454" y="2156460"/>
              <a:ext cx="3450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Trajectory — captures genuine human-robot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80454" y="2385060"/>
              <a:ext cx="32753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interaction as a robot navigates crowds.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38900" y="3028950"/>
            <a:ext cx="5143500" cy="1428750"/>
            <a:chOff x="6438900" y="3028950"/>
            <a:chExt cx="5143500" cy="1428750"/>
          </a:xfrm>
        </p:grpSpPr>
        <p:sp>
          <p:nvSpPr>
            <p:cNvPr id="28" name="Rectangle 28"/>
            <p:cNvSpPr/>
            <p:nvPr/>
          </p:nvSpPr>
          <p:spPr>
            <a:xfrm>
              <a:off x="6438900" y="30289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38900" y="3181350"/>
              <a:ext cx="47625" cy="11239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81597" y="3266599"/>
              <a:ext cx="1188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WHY IT IS NEW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80454" y="3528060"/>
              <a:ext cx="39107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Unlike fixed rooftop cameras or cars on separate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80454" y="3756660"/>
              <a:ext cx="35128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roads, SiT was recorded by a mobile robot in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80454" y="3985260"/>
              <a:ext cx="34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densely populated indoor and outdoor Seoul.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38900" y="4629150"/>
            <a:ext cx="5143500" cy="1428750"/>
            <a:chOff x="6438900" y="4629150"/>
            <a:chExt cx="5143500" cy="1428750"/>
          </a:xfrm>
        </p:grpSpPr>
        <p:sp>
          <p:nvSpPr>
            <p:cNvPr id="35" name="Rectangle 35"/>
            <p:cNvSpPr/>
            <p:nvPr/>
          </p:nvSpPr>
          <p:spPr>
            <a:xfrm>
              <a:off x="6438900" y="46291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38900" y="4781550"/>
              <a:ext cx="47625" cy="112395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81597" y="4866799"/>
              <a:ext cx="1195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WHAT IT SHIPS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80454" y="5128260"/>
              <a:ext cx="4155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Synchronized LiDAR, camera, IMU and RTK, 2D and 3D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80454" y="5356860"/>
              <a:ext cx="408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annotations, semantic maps, and a benchmark from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80454" y="5585460"/>
              <a:ext cx="30088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detection to end-to-end forecasting.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2374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THE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772199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Training Data That Never Sees the Robot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01 / 10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428750"/>
            <a:ext cx="11852853" cy="571500"/>
            <a:chOff x="609600" y="1428750"/>
            <a:chExt cx="11852853" cy="5715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10972800" cy="571500"/>
            </a:xfrm>
            <a:prstGeom prst="roundRect">
              <a:avLst>
                <a:gd name="adj" fmla="val 23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26670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392" y="1625918"/>
              <a:ext cx="11612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To move safely among people, a robot must perceive nearby pedestrians as individual 3D entities — and predict where they go next.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2114550"/>
            <a:ext cx="10972800" cy="457200"/>
            <a:chOff x="609600" y="2114550"/>
            <a:chExt cx="10972800" cy="457200"/>
          </a:xfrm>
        </p:grpSpPr>
        <p:sp>
          <p:nvSpPr>
            <p:cNvPr id="13" name="Rectangle 13"/>
            <p:cNvSpPr/>
            <p:nvPr/>
          </p:nvSpPr>
          <p:spPr>
            <a:xfrm>
              <a:off x="609600" y="2114550"/>
              <a:ext cx="10972800" cy="457200"/>
            </a:xfrm>
            <a:prstGeom prst="roundRect">
              <a:avLst>
                <a:gd name="adj" fmla="val 29167"/>
              </a:avLst>
            </a:prstGeom>
            <a:solidFill>
              <a:srgbClr val="5A2130"/>
            </a:solidFill>
            <a:ln w="9525">
              <a:solidFill>
                <a:srgbClr val="F8717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773" y="2262664"/>
              <a:ext cx="84958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The problem: the datasets used to train these models don't reflect the robot's real situation.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2743200"/>
            <a:ext cx="5334000" cy="2305050"/>
            <a:chOff x="609600" y="2743200"/>
            <a:chExt cx="5334000" cy="2305050"/>
          </a:xfrm>
        </p:grpSpPr>
        <p:sp>
          <p:nvSpPr>
            <p:cNvPr id="16" name="Rectangle 16"/>
            <p:cNvSpPr/>
            <p:nvPr/>
          </p:nvSpPr>
          <p:spPr>
            <a:xfrm>
              <a:off x="609600" y="2743200"/>
              <a:ext cx="5334000" cy="2305050"/>
            </a:xfrm>
            <a:prstGeom prst="roundRect">
              <a:avLst>
                <a:gd name="adj" fmla="val 578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2895600"/>
              <a:ext cx="47625" cy="200025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9823" y="2948464"/>
              <a:ext cx="2099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Fixed top-view cameras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966" y="3220402"/>
              <a:ext cx="1147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ETH · UCY · SDD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52500" y="3581400"/>
              <a:ext cx="76200" cy="762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8616" y="3544252"/>
              <a:ext cx="24749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Mounted high on rooftops or drones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52500" y="3905250"/>
              <a:ext cx="76200" cy="762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18616" y="3868102"/>
              <a:ext cx="2644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A bird's-eye view of a plaza or street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52500" y="4229100"/>
              <a:ext cx="76200" cy="762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18616" y="4191952"/>
              <a:ext cx="2368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The device never enters the scene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52500" y="4552950"/>
              <a:ext cx="76200" cy="762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8616" y="4515802"/>
              <a:ext cx="2983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So they never see human-robot interaction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34100" y="2743200"/>
            <a:ext cx="5448300" cy="2305050"/>
            <a:chOff x="6134100" y="2743200"/>
            <a:chExt cx="5448300" cy="2305050"/>
          </a:xfrm>
        </p:grpSpPr>
        <p:sp>
          <p:nvSpPr>
            <p:cNvPr id="29" name="Rectangle 29"/>
            <p:cNvSpPr/>
            <p:nvPr/>
          </p:nvSpPr>
          <p:spPr>
            <a:xfrm>
              <a:off x="6134100" y="2743200"/>
              <a:ext cx="5448300" cy="2305050"/>
            </a:xfrm>
            <a:prstGeom prst="roundRect">
              <a:avLst>
                <a:gd name="adj" fmla="val 578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34100" y="2895600"/>
              <a:ext cx="47625" cy="200025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94323" y="2948464"/>
              <a:ext cx="22080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Autonomous-driving data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95466" y="3220402"/>
              <a:ext cx="2224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nuScenes · Waymo · Argoverse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77000" y="3581400"/>
              <a:ext cx="76200" cy="76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43116" y="3544252"/>
              <a:ext cx="2856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Rich multi-sensor data from a moving car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77000" y="3905250"/>
              <a:ext cx="76200" cy="76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43116" y="3868102"/>
              <a:ext cx="3033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But car and pedestrians use separate roads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77000" y="4229100"/>
              <a:ext cx="76200" cy="76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3116" y="4191952"/>
              <a:ext cx="2481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They rarely come into close contact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77000" y="4552950"/>
              <a:ext cx="76200" cy="76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43116" y="4515802"/>
              <a:ext cx="2983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Neither setting matches a robot in a crowd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1175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648282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Interaction Only Appears Up Close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9600" y="1428750"/>
            <a:ext cx="5334000" cy="1809750"/>
            <a:chOff x="609600" y="1428750"/>
            <a:chExt cx="5334000" cy="18097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53340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15049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204" y="1642110"/>
              <a:ext cx="1535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Interaction is real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204" y="1927860"/>
              <a:ext cx="3846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Human-robot interaction studies show a robot's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204" y="2156460"/>
              <a:ext cx="3840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motion changes how nearby people walk — and the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204" y="2385060"/>
              <a:ext cx="3808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effect is strongest when robot and pedestrians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204" y="261366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share the same space, up close.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34100" y="1428750"/>
            <a:ext cx="5448300" cy="1809750"/>
            <a:chOff x="6134100" y="1428750"/>
            <a:chExt cx="5448300" cy="1809750"/>
          </a:xfrm>
        </p:grpSpPr>
        <p:sp>
          <p:nvSpPr>
            <p:cNvPr id="17" name="Rectangle 17"/>
            <p:cNvSpPr/>
            <p:nvPr/>
          </p:nvSpPr>
          <p:spPr>
            <a:xfrm>
              <a:off x="6134100" y="1428750"/>
              <a:ext cx="5448300" cy="1809750"/>
            </a:xfrm>
            <a:prstGeom prst="roundRect">
              <a:avLst>
                <a:gd name="adj" fmla="val 7368"/>
              </a:avLst>
            </a:prstGeom>
            <a:solidFill>
              <a:srgbClr val="2A4A8A"/>
            </a:solidFill>
            <a:ln w="9525">
              <a:solidFill>
                <a:srgbClr val="4F8CF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95847" y="1666399"/>
              <a:ext cx="11959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WHAT WE NEED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94323" y="1919764"/>
              <a:ext cx="42169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To study and model that behavior, we need data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4323" y="2157889"/>
              <a:ext cx="4120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collected while a robot actually moves through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4323" y="2396014"/>
              <a:ext cx="4310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crowds — not from a camera bolted to a building.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467100"/>
            <a:ext cx="7353300" cy="1428750"/>
            <a:chOff x="609600" y="3467100"/>
            <a:chExt cx="7353300" cy="1428750"/>
          </a:xfrm>
        </p:grpSpPr>
        <p:sp>
          <p:nvSpPr>
            <p:cNvPr id="23" name="Rectangle 23"/>
            <p:cNvSpPr/>
            <p:nvPr/>
          </p:nvSpPr>
          <p:spPr>
            <a:xfrm>
              <a:off x="609600" y="3467100"/>
              <a:ext cx="73533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619500"/>
              <a:ext cx="47625" cy="1123950"/>
            </a:xfrm>
            <a:prstGeom prst="roundRect">
              <a:avLst>
                <a:gd name="adj" fmla="val 4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0204" y="3680460"/>
              <a:ext cx="4394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Prior robot datasets came close — but each had a gap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" y="4050506"/>
              <a:ext cx="668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STCrowd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1347" y="4295299"/>
              <a:ext cx="2184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Sensors kept at a fixed position 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1347" y="450484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scenes barely varied.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305300" y="40767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09135" y="4050506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JRDB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09897" y="4295299"/>
              <a:ext cx="26527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Not organized into trajectories; sensors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09897" y="4504849"/>
              <a:ext cx="2826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not fully time-synchronized → limits fusion.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53400" y="3467100"/>
            <a:ext cx="3429000" cy="1428750"/>
            <a:chOff x="8153400" y="3467100"/>
            <a:chExt cx="3429000" cy="1428750"/>
          </a:xfrm>
        </p:grpSpPr>
        <p:sp>
          <p:nvSpPr>
            <p:cNvPr id="34" name="Rectangle 34"/>
            <p:cNvSpPr/>
            <p:nvPr/>
          </p:nvSpPr>
          <p:spPr>
            <a:xfrm>
              <a:off x="8153400" y="3467100"/>
              <a:ext cx="3429000" cy="1428750"/>
            </a:xfrm>
            <a:prstGeom prst="roundRect">
              <a:avLst>
                <a:gd name="adj" fmla="val 9333"/>
              </a:avLst>
            </a:prstGeom>
            <a:solidFill>
              <a:srgbClr val="14532D"/>
            </a:solidFill>
            <a:ln w="9525">
              <a:solidFill>
                <a:srgbClr val="34D39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69046" y="3572828"/>
              <a:ext cx="6352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SiT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523" y="4053364"/>
              <a:ext cx="2292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is designed specifically to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523" y="4281964"/>
              <a:ext cx="1378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fill these gaps.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4258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CONTRIBUTIONS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336757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What SiT Delivers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9600" y="1428750"/>
            <a:ext cx="5257800" cy="1695450"/>
            <a:chOff x="609600" y="1428750"/>
            <a:chExt cx="5257800" cy="16954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0110" y="16573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F8CFF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6380" y="1743075"/>
              <a:ext cx="24813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Real crowd trajectories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524000" y="201930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18285" y="2183606"/>
              <a:ext cx="35217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Large-scale real-world pedestrian trajectories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8285" y="2393156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gathered as a robot navigated crowded indoor and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8285" y="2602706"/>
              <a:ext cx="3833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outdoor scenes — interiors, campuses, crosswalks,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8285" y="2812256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walkways.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134100" y="1428750"/>
            <a:ext cx="5257800" cy="1695450"/>
            <a:chOff x="6134100" y="1428750"/>
            <a:chExt cx="5257800" cy="1695450"/>
          </a:xfrm>
        </p:grpSpPr>
        <p:sp>
          <p:nvSpPr>
            <p:cNvPr id="19" name="Rectangle 19"/>
            <p:cNvSpPr/>
            <p:nvPr/>
          </p:nvSpPr>
          <p:spPr>
            <a:xfrm>
              <a:off x="6134100" y="142875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34100" y="158115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4610" y="16573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40880" y="1743075"/>
              <a:ext cx="2438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Rich prediction context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048500" y="201930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42785" y="2183606"/>
              <a:ext cx="3649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Enables prediction with rich context: appearance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42785" y="2393156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features, the robot's own ego-motion, and semantic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42785" y="2602706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map data around each pedestrian.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352800"/>
            <a:ext cx="5257800" cy="1695450"/>
            <a:chOff x="609600" y="3352800"/>
            <a:chExt cx="5257800" cy="1695450"/>
          </a:xfrm>
        </p:grpSpPr>
        <p:sp>
          <p:nvSpPr>
            <p:cNvPr id="28" name="Rectangle 28"/>
            <p:cNvSpPr/>
            <p:nvPr/>
          </p:nvSpPr>
          <p:spPr>
            <a:xfrm>
              <a:off x="609600" y="335280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350520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0110" y="35814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A78BFA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6380" y="3667125"/>
              <a:ext cx="2354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Synchronized + mapped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524000" y="394335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18285" y="4107656"/>
              <a:ext cx="3785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Precise time synchronization across all sensors via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8285" y="431720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centralized triggering makes fusion practical, plus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8285" y="4526756"/>
              <a:ext cx="3833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multi-layered semantic maps for indoor and outdoor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18285" y="47363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scenes.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134100" y="3352800"/>
            <a:ext cx="5257800" cy="1695450"/>
            <a:chOff x="6134100" y="3352800"/>
            <a:chExt cx="5257800" cy="1695450"/>
          </a:xfrm>
        </p:grpSpPr>
        <p:sp>
          <p:nvSpPr>
            <p:cNvPr id="38" name="Rectangle 38"/>
            <p:cNvSpPr/>
            <p:nvPr/>
          </p:nvSpPr>
          <p:spPr>
            <a:xfrm>
              <a:off x="6134100" y="3352800"/>
              <a:ext cx="5257800" cy="169545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34100" y="3505200"/>
              <a:ext cx="47625" cy="139065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04610" y="35814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40880" y="3667125"/>
              <a:ext cx="1887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Unified benchmark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048500" y="394335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42785" y="4107656"/>
              <a:ext cx="34880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 curated benchmark spanning 3D detection, 3D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42785" y="4317206"/>
              <a:ext cx="3690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multi-object tracking, trajectory prediction, and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42785" y="4526756"/>
              <a:ext cx="3313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end-to-end motion forecasting — all released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2785" y="47363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publicly.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65083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DATA COLLECTION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639040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A Sensor-Rich Robot in the Crowd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09600" y="1428750"/>
            <a:ext cx="6858000" cy="1600200"/>
            <a:chOff x="609600" y="1428750"/>
            <a:chExt cx="6858000" cy="16002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6858000" cy="16002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154" y="1623060"/>
              <a:ext cx="5466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Clearpath Husky UGV — remotely operated through downtown Seoul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2038350"/>
              <a:ext cx="1428750" cy="7620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9525">
              <a:solidFill>
                <a:srgbClr val="4F8C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27706" y="2165032"/>
              <a:ext cx="287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4F8CFF"/>
                  </a:solidFill>
                  <a:latin typeface="+mj-lt"/>
                  <a:ea typeface="+mj-ea"/>
                  <a:cs typeface="+mj-cs"/>
                </a:rPr>
                <a:t>2×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36186" y="2444591"/>
              <a:ext cx="4708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Velodyne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50627" y="2587466"/>
              <a:ext cx="641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16-ch LiDAR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457450" y="2038350"/>
              <a:ext cx="1428750" cy="7620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9525">
              <a:solidFill>
                <a:srgbClr val="34D39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27906" y="2165032"/>
              <a:ext cx="287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5×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56847" y="2444591"/>
              <a:ext cx="829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Basler cameras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10409" y="2587466"/>
              <a:ext cx="522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360° view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038350"/>
              <a:ext cx="1428750" cy="7620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9525">
              <a:solidFill>
                <a:srgbClr val="A78BF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8106" y="2165032"/>
              <a:ext cx="287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A78BFA"/>
                  </a:solidFill>
                  <a:latin typeface="+mj-lt"/>
                  <a:ea typeface="+mj-ea"/>
                  <a:cs typeface="+mj-cs"/>
                </a:rPr>
                <a:t>2×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73953" y="2444591"/>
              <a:ext cx="1961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IMU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657850" y="2038350"/>
              <a:ext cx="1428750" cy="7620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9525">
              <a:solidFill>
                <a:srgbClr val="FBBF2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16972" y="2165032"/>
              <a:ext cx="5105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RTK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74933" y="2444591"/>
              <a:ext cx="5945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positioning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3162300"/>
            <a:ext cx="6858000" cy="1428750"/>
            <a:chOff x="609600" y="3162300"/>
            <a:chExt cx="6858000" cy="1428750"/>
          </a:xfrm>
        </p:grpSpPr>
        <p:sp>
          <p:nvSpPr>
            <p:cNvPr id="26" name="Rectangle 26"/>
            <p:cNvSpPr/>
            <p:nvPr/>
          </p:nvSpPr>
          <p:spPr>
            <a:xfrm>
              <a:off x="609600" y="3162300"/>
              <a:ext cx="6858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3314700"/>
              <a:ext cx="47625" cy="112395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1154" y="3356610"/>
              <a:ext cx="2409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Precise time synchronization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57250" y="3657600"/>
              <a:ext cx="1333500" cy="457200"/>
            </a:xfrm>
            <a:prstGeom prst="roundRect">
              <a:avLst>
                <a:gd name="adj" fmla="val 16667"/>
              </a:avLst>
            </a:prstGeom>
            <a:solidFill>
              <a:srgbClr val="14532D"/>
            </a:solidFill>
            <a:ln w="9525">
              <a:solidFill>
                <a:srgbClr val="34D39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34376" y="3838099"/>
              <a:ext cx="979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PPS generator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2190750" y="38862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 cap="rnd">
              <a:solidFill>
                <a:srgbClr val="34D399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857500" y="3733800"/>
              <a:ext cx="11430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243051" y="3828574"/>
              <a:ext cx="371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LiDAR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190750" y="38862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 cap="rnd">
              <a:solidFill>
                <a:srgbClr val="34D39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86250" y="3733800"/>
              <a:ext cx="11430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72286" y="3828574"/>
              <a:ext cx="5709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cameras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2190750" y="38862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 cap="rnd">
              <a:solidFill>
                <a:srgbClr val="34D399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715000" y="3733800"/>
              <a:ext cx="11430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64455" y="3828574"/>
              <a:ext cx="2440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IMU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2297" y="4352449"/>
              <a:ext cx="6028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 pulse-per-second trigger aligns every sensor in time, making camera–LiDAR fusion reliable.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58100" y="1428750"/>
            <a:ext cx="3924300" cy="1600200"/>
            <a:chOff x="7658100" y="1428750"/>
            <a:chExt cx="3924300" cy="1600200"/>
          </a:xfrm>
        </p:grpSpPr>
        <p:sp>
          <p:nvSpPr>
            <p:cNvPr id="42" name="Rectangle 42"/>
            <p:cNvSpPr/>
            <p:nvPr/>
          </p:nvSpPr>
          <p:spPr>
            <a:xfrm>
              <a:off x="7658100" y="1428750"/>
              <a:ext cx="3924300" cy="16002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58100" y="1581150"/>
              <a:ext cx="47625" cy="12954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80604" y="1642110"/>
              <a:ext cx="1459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Robot ego-motion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80985" y="1916906"/>
              <a:ext cx="20678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Pose from RTK outdoors and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80985" y="2126456"/>
              <a:ext cx="2185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LiDAR-inertial SLAM indoors 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0985" y="2336006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needed to compensate ego-motion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80985" y="2545556"/>
              <a:ext cx="2461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when forming trajectories and to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80985" y="2755106"/>
              <a:ext cx="1134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align the maps.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58100" y="3162300"/>
            <a:ext cx="3924300" cy="1428750"/>
            <a:chOff x="7658100" y="3162300"/>
            <a:chExt cx="3924300" cy="1428750"/>
          </a:xfrm>
        </p:grpSpPr>
        <p:sp>
          <p:nvSpPr>
            <p:cNvPr id="51" name="Rectangle 51"/>
            <p:cNvSpPr/>
            <p:nvPr/>
          </p:nvSpPr>
          <p:spPr>
            <a:xfrm>
              <a:off x="7658100" y="3162300"/>
              <a:ext cx="39243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58100" y="3314700"/>
              <a:ext cx="47625" cy="112395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80604" y="3356610"/>
              <a:ext cx="1604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Maps &amp; annotations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81366" y="363950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12-layer semantic maps from point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81366" y="3839528"/>
              <a:ext cx="2389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clouds. 3D cuboids labeled at 5 Hz,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81366" y="4039552"/>
              <a:ext cx="21844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interpolated to 10 Hz; 2D boxes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81366" y="4239578"/>
              <a:ext cx="2386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share IDs. Faces &amp; plates blurred.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20715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DATASET &amp; BENCHMARK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599357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Sixty Scenes, Four Benchmarks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9600" y="1428750"/>
            <a:ext cx="5334000" cy="1600200"/>
            <a:chOff x="609600" y="1428750"/>
            <a:chExt cx="5334000" cy="16002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5334000" cy="16002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154" y="1623060"/>
              <a:ext cx="1145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Dataset scale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7646" y="1972628"/>
              <a:ext cx="444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4F8CFF"/>
                  </a:solidFill>
                  <a:latin typeface="+mj-lt"/>
                  <a:ea typeface="+mj-ea"/>
                  <a:cs typeface="+mj-cs"/>
                </a:rPr>
                <a:t>60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5647" y="2352199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scenes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77846" y="1972628"/>
              <a:ext cx="7889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60K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85847" y="2352199"/>
              <a:ext cx="460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images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78046" y="1972628"/>
              <a:ext cx="7889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A78BFA"/>
                  </a:solidFill>
                  <a:latin typeface="+mj-lt"/>
                  <a:ea typeface="+mj-ea"/>
                  <a:cs typeface="+mj-cs"/>
                </a:rPr>
                <a:t>12K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6047" y="2352199"/>
              <a:ext cx="8202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point clouds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535" y="2697956"/>
              <a:ext cx="3564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≈ 470K 2D annotations · ≈ 320K 3D annotations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34100" y="1428750"/>
            <a:ext cx="5448300" cy="1600200"/>
            <a:chOff x="6134100" y="1428750"/>
            <a:chExt cx="5448300" cy="1600200"/>
          </a:xfrm>
        </p:grpSpPr>
        <p:sp>
          <p:nvSpPr>
            <p:cNvPr id="19" name="Rectangle 19"/>
            <p:cNvSpPr/>
            <p:nvPr/>
          </p:nvSpPr>
          <p:spPr>
            <a:xfrm>
              <a:off x="6134100" y="1428750"/>
              <a:ext cx="5448300" cy="16002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34100" y="1581150"/>
              <a:ext cx="47625" cy="129540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94704" y="1623060"/>
              <a:ext cx="11961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Clip structure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87846" y="1934528"/>
              <a:ext cx="76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20 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32904" y="2080260"/>
              <a:ext cx="2240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of sequential data at 10 Hz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5085" y="2469356"/>
              <a:ext cx="3735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→ 9 s of trajectory, represented as pose vectors.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95466" y="2744152"/>
              <a:ext cx="395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6E82A6"/>
                  </a:solidFill>
                  <a:latin typeface="+mn-lt"/>
                  <a:ea typeface="+mn-ea"/>
                  <a:cs typeface="+mn-cs"/>
                </a:rPr>
                <a:t>On top of this data, the paper defines four benchmarks.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219450"/>
            <a:ext cx="5334000" cy="1828800"/>
            <a:chOff x="609600" y="3219450"/>
            <a:chExt cx="5334000" cy="1828800"/>
          </a:xfrm>
        </p:grpSpPr>
        <p:sp>
          <p:nvSpPr>
            <p:cNvPr id="27" name="Rectangle 27"/>
            <p:cNvSpPr/>
            <p:nvPr/>
          </p:nvSpPr>
          <p:spPr>
            <a:xfrm>
              <a:off x="609600" y="3219450"/>
              <a:ext cx="5334000" cy="1828800"/>
            </a:xfrm>
            <a:prstGeom prst="roundRect">
              <a:avLst>
                <a:gd name="adj" fmla="val 729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371850"/>
              <a:ext cx="47625" cy="152400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0204" y="3432810"/>
              <a:ext cx="1925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Perception benchmarks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585" y="3783806"/>
              <a:ext cx="2130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1 · 3D pedestrian detection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2797" y="4009549"/>
              <a:ext cx="28168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AP on center distance @ 0.25 / 0.5 / 1 / 2 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0585" y="4374356"/>
              <a:ext cx="21705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2 · 3D multi-object tracking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2797" y="4600099"/>
              <a:ext cx="32671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Standard MOT metrics (sAMOTA, AMOTA, MOTA…)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34100" y="3219450"/>
            <a:ext cx="5448300" cy="1828800"/>
            <a:chOff x="6134100" y="3219450"/>
            <a:chExt cx="5448300" cy="1828800"/>
          </a:xfrm>
        </p:grpSpPr>
        <p:sp>
          <p:nvSpPr>
            <p:cNvPr id="35" name="Rectangle 35"/>
            <p:cNvSpPr/>
            <p:nvPr/>
          </p:nvSpPr>
          <p:spPr>
            <a:xfrm>
              <a:off x="6134100" y="3219450"/>
              <a:ext cx="5448300" cy="1828800"/>
            </a:xfrm>
            <a:prstGeom prst="roundRect">
              <a:avLst>
                <a:gd name="adj" fmla="val 729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134100" y="3371850"/>
              <a:ext cx="47625" cy="15240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94704" y="3432810"/>
              <a:ext cx="2019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Forecasting benchmarks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95085" y="3783806"/>
              <a:ext cx="1956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3 · Trajectory prediction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67297" y="4009549"/>
              <a:ext cx="3211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2 s of past → 7 s ahead, ADE / FDE over best-of-K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5085" y="4374356"/>
              <a:ext cx="1159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4 · End-to-end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7297" y="4600099"/>
              <a:ext cx="33390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Raw sensors → future bounding boxes &amp; trajectories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0663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830778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It Captures the Interaction — and Maps Help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428750"/>
            <a:ext cx="10972800" cy="552450"/>
            <a:chOff x="609600" y="1428750"/>
            <a:chExt cx="10972800" cy="5524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10972800" cy="552450"/>
            </a:xfrm>
            <a:prstGeom prst="roundRect">
              <a:avLst>
                <a:gd name="adj" fmla="val 2413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2476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392" y="1625918"/>
              <a:ext cx="9087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The data analysis confirms SiT captures exactly the close human-robot interaction it set out to.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2190750"/>
            <a:ext cx="5334000" cy="2857500"/>
            <a:chOff x="609600" y="2190750"/>
            <a:chExt cx="5334000" cy="2857500"/>
          </a:xfrm>
        </p:grpSpPr>
        <p:sp>
          <p:nvSpPr>
            <p:cNvPr id="13" name="Rectangle 13"/>
            <p:cNvSpPr/>
            <p:nvPr/>
          </p:nvSpPr>
          <p:spPr>
            <a:xfrm>
              <a:off x="609600" y="2190750"/>
              <a:ext cx="53340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1535" y="2393156"/>
              <a:ext cx="33889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Where pedestrians appear (relative to ego)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162050" y="3067050"/>
              <a:ext cx="1485900" cy="14859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876425" y="3781425"/>
              <a:ext cx="57150" cy="5715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081106" y="3700431"/>
              <a:ext cx="66675" cy="66675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925848" y="3469364"/>
              <a:ext cx="66675" cy="66675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712305" y="3642946"/>
              <a:ext cx="66675" cy="66675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522590" y="3903714"/>
              <a:ext cx="66675" cy="66675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829089" y="4018111"/>
              <a:ext cx="66675" cy="66675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127772" y="3991564"/>
              <a:ext cx="66675" cy="66675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054578" y="3744410"/>
              <a:ext cx="66675" cy="66675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593631" y="3727638"/>
              <a:ext cx="66675" cy="66675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10445" y="4684395"/>
              <a:ext cx="15891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SiT — close, all directions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733800" y="3067050"/>
              <a:ext cx="1485900" cy="14859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448175" y="3781425"/>
              <a:ext cx="57150" cy="5715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089284" y="3603602"/>
              <a:ext cx="66675" cy="66675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106650" y="4018061"/>
              <a:ext cx="66675" cy="66675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036835" y="3560674"/>
              <a:ext cx="66675" cy="66675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116542" y="3895353"/>
              <a:ext cx="66675" cy="66675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028743" y="3673453"/>
              <a:ext cx="66675" cy="66675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109523" y="3718385"/>
              <a:ext cx="66675" cy="66675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76488" y="4692491"/>
              <a:ext cx="20005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Waymo / nuScenes — off to the side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134100" y="2190750"/>
            <a:ext cx="5448300" cy="1352550"/>
            <a:chOff x="6134100" y="2190750"/>
            <a:chExt cx="5448300" cy="1352550"/>
          </a:xfrm>
        </p:grpSpPr>
        <p:sp>
          <p:nvSpPr>
            <p:cNvPr id="36" name="Rectangle 36"/>
            <p:cNvSpPr/>
            <p:nvPr/>
          </p:nvSpPr>
          <p:spPr>
            <a:xfrm>
              <a:off x="6134100" y="2190750"/>
              <a:ext cx="5448300" cy="1352550"/>
            </a:xfrm>
            <a:prstGeom prst="roundRect">
              <a:avLst>
                <a:gd name="adj" fmla="val 9859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34100" y="2343150"/>
              <a:ext cx="47625" cy="104775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95085" y="2412206"/>
              <a:ext cx="2898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Space-sharing + within-2 m instances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00800" y="2857500"/>
              <a:ext cx="3619500" cy="228600"/>
            </a:xfrm>
            <a:prstGeom prst="roundRect">
              <a:avLst>
                <a:gd name="adj" fmla="val 20833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10147" y="2914174"/>
              <a:ext cx="211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62012"/>
                  </a:solidFill>
                  <a:latin typeface="+mn-lt"/>
                  <a:ea typeface="+mn-ea"/>
                  <a:cs typeface="+mn-cs"/>
                </a:rPr>
                <a:t>SiT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29647" y="2914174"/>
              <a:ext cx="612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far more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00800" y="3181350"/>
              <a:ext cx="651510" cy="228600"/>
            </a:xfrm>
            <a:prstGeom prst="roundRect">
              <a:avLst>
                <a:gd name="adj" fmla="val 20833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61848" y="3246120"/>
              <a:ext cx="19068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nuScenes / Waymo / Argoverse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134100" y="3695700"/>
            <a:ext cx="5448300" cy="1352550"/>
            <a:chOff x="6134100" y="3695700"/>
            <a:chExt cx="5448300" cy="1352550"/>
          </a:xfrm>
        </p:grpSpPr>
        <p:sp>
          <p:nvSpPr>
            <p:cNvPr id="45" name="Rectangle 45"/>
            <p:cNvSpPr/>
            <p:nvPr/>
          </p:nvSpPr>
          <p:spPr>
            <a:xfrm>
              <a:off x="6134100" y="3695700"/>
              <a:ext cx="5448300" cy="1352550"/>
            </a:xfrm>
            <a:prstGeom prst="roundRect">
              <a:avLst>
                <a:gd name="adj" fmla="val 9859"/>
              </a:avLst>
            </a:prstGeom>
            <a:solidFill>
              <a:srgbClr val="14532D"/>
            </a:solidFill>
            <a:ln w="9525">
              <a:solidFill>
                <a:srgbClr val="34D39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95085" y="3917156"/>
              <a:ext cx="26207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Semantic map improves prediction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85560" y="41910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0.52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57085" y="4393406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ADE₂₀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00060" y="41910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0.93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71585" y="4393406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FDE₂₀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95847" y="4714399"/>
              <a:ext cx="41792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Best model NSP-SFM with the map — clearly better than without.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8706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ABLATION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532959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The Map Helps — Fusion Wins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428750"/>
            <a:ext cx="10972800" cy="533400"/>
            <a:chOff x="609600" y="1428750"/>
            <a:chExt cx="10972800" cy="5334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10972800" cy="533400"/>
            </a:xfrm>
            <a:prstGeom prst="roundRect">
              <a:avLst>
                <a:gd name="adj" fmla="val 25000"/>
              </a:avLst>
            </a:prstGeom>
            <a:solidFill>
              <a:srgbClr val="2A4A8A"/>
            </a:solidFill>
            <a:ln w="9525">
              <a:solidFill>
                <a:srgbClr val="4F8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392" y="1625918"/>
              <a:ext cx="9179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The most informative comparison: turning the semantic map on and off for trajectory prediction.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2190750"/>
            <a:ext cx="5334000" cy="2857500"/>
            <a:chOff x="609600" y="2190750"/>
            <a:chExt cx="5334000" cy="2857500"/>
          </a:xfrm>
        </p:grpSpPr>
        <p:sp>
          <p:nvSpPr>
            <p:cNvPr id="12" name="Rectangle 12"/>
            <p:cNvSpPr/>
            <p:nvPr/>
          </p:nvSpPr>
          <p:spPr>
            <a:xfrm>
              <a:off x="609600" y="2190750"/>
              <a:ext cx="53340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343150"/>
              <a:ext cx="47625" cy="25527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204" y="2404110"/>
              <a:ext cx="2349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Y-Net · with vs without map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966" y="2801302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ADE₂₀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76300" y="3048000"/>
              <a:ext cx="1200150" cy="190500"/>
            </a:xfrm>
            <a:prstGeom prst="roundRect">
              <a:avLst>
                <a:gd name="adj" fmla="val 2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66747" y="30951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0.84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95788" y="3111341"/>
              <a:ext cx="3862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E82A6"/>
                  </a:solidFill>
                  <a:latin typeface="+mn-lt"/>
                  <a:ea typeface="+mn-ea"/>
                  <a:cs typeface="+mn-cs"/>
                </a:rPr>
                <a:t>no map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76300" y="3295650"/>
              <a:ext cx="971550" cy="190500"/>
            </a:xfrm>
            <a:prstGeom prst="roundRect">
              <a:avLst>
                <a:gd name="adj" fmla="val 2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38147" y="334279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0.68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5788" y="3358991"/>
              <a:ext cx="3224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+ map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0966" y="3620452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FDE₂₀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76300" y="3867150"/>
              <a:ext cx="2686050" cy="190500"/>
            </a:xfrm>
            <a:prstGeom prst="roundRect">
              <a:avLst>
                <a:gd name="adj" fmla="val 2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52647" y="391429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1.88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5788" y="3930491"/>
              <a:ext cx="3862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E82A6"/>
                  </a:solidFill>
                  <a:latin typeface="+mn-lt"/>
                  <a:ea typeface="+mn-ea"/>
                  <a:cs typeface="+mn-cs"/>
                </a:rPr>
                <a:t>no map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6300" y="4114800"/>
              <a:ext cx="2214562" cy="190500"/>
            </a:xfrm>
            <a:prstGeom prst="roundRect">
              <a:avLst>
                <a:gd name="adj" fmla="val 2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81160" y="41619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1.55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5788" y="4178141"/>
              <a:ext cx="3224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+ map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1347" y="4657249"/>
              <a:ext cx="2303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i="1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Adding the map lowers both errors.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34100" y="2190750"/>
            <a:ext cx="5448300" cy="1352550"/>
            <a:chOff x="6134100" y="2190750"/>
            <a:chExt cx="5448300" cy="1352550"/>
          </a:xfrm>
        </p:grpSpPr>
        <p:sp>
          <p:nvSpPr>
            <p:cNvPr id="31" name="Rectangle 31"/>
            <p:cNvSpPr/>
            <p:nvPr/>
          </p:nvSpPr>
          <p:spPr>
            <a:xfrm>
              <a:off x="6134100" y="2190750"/>
              <a:ext cx="5448300" cy="1352550"/>
            </a:xfrm>
            <a:prstGeom prst="roundRect">
              <a:avLst>
                <a:gd name="adj" fmla="val 9859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34100" y="2343150"/>
              <a:ext cx="47625" cy="104775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94704" y="2404110"/>
              <a:ext cx="2595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NSP-SFM · with vs without map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93942" y="2768918"/>
              <a:ext cx="1747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ADE₂₀ 0.63 → 0.52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3942" y="3054668"/>
              <a:ext cx="1747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FDE₂₀ 1.09 → 0.93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36380" y="2752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36380" y="30384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67647" y="2952274"/>
              <a:ext cx="15821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map helps in both cases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134100" y="3695700"/>
            <a:ext cx="5448300" cy="1352550"/>
            <a:chOff x="6134100" y="3695700"/>
            <a:chExt cx="5448300" cy="1352550"/>
          </a:xfrm>
        </p:grpSpPr>
        <p:sp>
          <p:nvSpPr>
            <p:cNvPr id="40" name="Rectangle 40"/>
            <p:cNvSpPr/>
            <p:nvPr/>
          </p:nvSpPr>
          <p:spPr>
            <a:xfrm>
              <a:off x="6134100" y="3695700"/>
              <a:ext cx="5448300" cy="1352550"/>
            </a:xfrm>
            <a:prstGeom prst="roundRect">
              <a:avLst>
                <a:gd name="adj" fmla="val 9859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34100" y="3848100"/>
              <a:ext cx="47625" cy="1047750"/>
            </a:xfrm>
            <a:prstGeom prst="roundRect">
              <a:avLst>
                <a:gd name="adj" fmla="val 4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94704" y="3909060"/>
              <a:ext cx="15268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Detection findings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7000" y="4229100"/>
              <a:ext cx="76200" cy="76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43116" y="4191952"/>
              <a:ext cx="3434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Camera + LiDAR fusion beats single-sensor models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77000" y="4476750"/>
              <a:ext cx="76200" cy="76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43116" y="4439602"/>
              <a:ext cx="2686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Voxel backbones beat pillar-based ones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77000" y="4724400"/>
              <a:ext cx="76200" cy="76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43116" y="4687252"/>
              <a:ext cx="3553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TransFusion (voxel) gives the best detection score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15090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BY THE NUMBERS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542850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Numbers Worth Remembering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428750"/>
            <a:ext cx="10972800" cy="514350"/>
            <a:chOff x="609600" y="1428750"/>
            <a:chExt cx="10972800" cy="5143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10972800" cy="514350"/>
            </a:xfrm>
            <a:prstGeom prst="roundRect">
              <a:avLst>
                <a:gd name="adj" fmla="val 25926"/>
              </a:avLst>
            </a:prstGeom>
            <a:solidFill>
              <a:srgbClr val="2A4A8A"/>
            </a:solidFill>
            <a:ln w="9525">
              <a:solidFill>
                <a:srgbClr val="4F8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392" y="1616392"/>
              <a:ext cx="7084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F"/>
                  </a:solidFill>
                  <a:latin typeface="+mn-lt"/>
                  <a:ea typeface="+mn-ea"/>
                  <a:cs typeface="+mn-cs"/>
                </a:rPr>
                <a:t>A few numbers worth remembering from the SiT dataset and its benchmark.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228850"/>
            <a:ext cx="3467100" cy="2762250"/>
            <a:chOff x="609600" y="2228850"/>
            <a:chExt cx="3467100" cy="2762250"/>
          </a:xfrm>
        </p:grpSpPr>
        <p:sp>
          <p:nvSpPr>
            <p:cNvPr id="12" name="Rectangle 12"/>
            <p:cNvSpPr/>
            <p:nvPr/>
          </p:nvSpPr>
          <p:spPr>
            <a:xfrm>
              <a:off x="609600" y="2228850"/>
              <a:ext cx="3467100" cy="2762250"/>
            </a:xfrm>
            <a:prstGeom prst="roundRect">
              <a:avLst>
                <a:gd name="adj" fmla="val 482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228850"/>
              <a:ext cx="3467100" cy="57150"/>
            </a:xfrm>
            <a:prstGeom prst="roundRect">
              <a:avLst>
                <a:gd name="adj" fmla="val 5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68161" y="3110865"/>
              <a:ext cx="23499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4F8CFF"/>
                  </a:solidFill>
                  <a:latin typeface="+mj-lt"/>
                  <a:ea typeface="+mj-ea"/>
                  <a:cs typeface="+mj-cs"/>
                </a:rPr>
                <a:t>60 scenes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85850" y="37528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9635" y="3974306"/>
              <a:ext cx="2699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about 60K images and 12K point cloud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9635" y="4193381"/>
              <a:ext cx="2662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frames, with ≈470K 2D and ≈320K 3D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9635" y="4412456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annotations.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62450" y="2228850"/>
            <a:ext cx="3467100" cy="2762250"/>
            <a:chOff x="4362450" y="2228850"/>
            <a:chExt cx="3467100" cy="2762250"/>
          </a:xfrm>
        </p:grpSpPr>
        <p:sp>
          <p:nvSpPr>
            <p:cNvPr id="20" name="Rectangle 20"/>
            <p:cNvSpPr/>
            <p:nvPr/>
          </p:nvSpPr>
          <p:spPr>
            <a:xfrm>
              <a:off x="4362450" y="2228850"/>
              <a:ext cx="3467100" cy="2762250"/>
            </a:xfrm>
            <a:prstGeom prst="roundRect">
              <a:avLst>
                <a:gd name="adj" fmla="val 482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62450" y="2228850"/>
              <a:ext cx="3467100" cy="5715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11545" y="3110865"/>
              <a:ext cx="27689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A78BFA"/>
                  </a:solidFill>
                  <a:latin typeface="+mj-lt"/>
                  <a:ea typeface="+mj-ea"/>
                  <a:cs typeface="+mj-cs"/>
                </a:rPr>
                <a:t>0.52 / 0.93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838700" y="37528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42485" y="3974306"/>
              <a:ext cx="264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best trajectory prediction with the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2485" y="4193381"/>
              <a:ext cx="23267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semantic map: ADE₂₀ and FDE₂₀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2485" y="4412456"/>
              <a:ext cx="919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(NSP-SFM).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15300" y="2228850"/>
            <a:ext cx="3467100" cy="2762250"/>
            <a:chOff x="8115300" y="2228850"/>
            <a:chExt cx="3467100" cy="2762250"/>
          </a:xfrm>
        </p:grpSpPr>
        <p:sp>
          <p:nvSpPr>
            <p:cNvPr id="28" name="Rectangle 28"/>
            <p:cNvSpPr/>
            <p:nvPr/>
          </p:nvSpPr>
          <p:spPr>
            <a:xfrm>
              <a:off x="8115300" y="2228850"/>
              <a:ext cx="3467100" cy="2762250"/>
            </a:xfrm>
            <a:prstGeom prst="roundRect">
              <a:avLst>
                <a:gd name="adj" fmla="val 482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15300" y="2228850"/>
              <a:ext cx="3467100" cy="57150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64395" y="3110865"/>
              <a:ext cx="27689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34D399"/>
                  </a:solidFill>
                  <a:latin typeface="+mj-lt"/>
                  <a:ea typeface="+mj-ea"/>
                  <a:cs typeface="+mj-cs"/>
                </a:rPr>
                <a:t>0.53 · 0.61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591550" y="37528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 cap="rnd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95335" y="3974306"/>
              <a:ext cx="2862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best camera+LiDAR detection mAP, and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95335" y="4193381"/>
              <a:ext cx="2873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CenterPoint tracking sAMOTA — leading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95335" y="4412456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the benchmark.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4F8CFF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4647" y="485299"/>
            <a:ext cx="9072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225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715328"/>
            <a:ext cx="741088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Data From the Crowd, Not the Rooftop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11620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 cap="rnd">
            <a:solidFill>
              <a:schemeClr val="accent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0306" y="493395"/>
            <a:ext cx="5568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b="1" spc="15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428750"/>
            <a:ext cx="7810500" cy="1066800"/>
            <a:chOff x="609600" y="1428750"/>
            <a:chExt cx="7810500" cy="10668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78105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4F8C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9061" y="1655921"/>
              <a:ext cx="2228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4F8CFF"/>
                  </a:solidFill>
                  <a:latin typeface="+mn-lt"/>
                  <a:ea typeface="+mn-ea"/>
                  <a:cs typeface="+mn-cs"/>
                </a:rPr>
                <a:t>The takeaway is simple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585" y="1974056"/>
              <a:ext cx="541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Social navigation needs data that shows the robot up close in the crowd 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585" y="2183606"/>
              <a:ext cx="2484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not a camera bolted to a building.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628900"/>
            <a:ext cx="7810500" cy="1184434"/>
            <a:chOff x="609600" y="2628900"/>
            <a:chExt cx="7810500" cy="1184434"/>
          </a:xfrm>
        </p:grpSpPr>
        <p:sp>
          <p:nvSpPr>
            <p:cNvPr id="15" name="Rectangle 15"/>
            <p:cNvSpPr/>
            <p:nvPr/>
          </p:nvSpPr>
          <p:spPr>
            <a:xfrm>
              <a:off x="609600" y="2628900"/>
              <a:ext cx="78105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278130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9061" y="2856071"/>
              <a:ext cx="25506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What such data must have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585" y="3174206"/>
              <a:ext cx="52408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To build robots that move safely and gracefully among people, you need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585" y="3383756"/>
              <a:ext cx="5273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close-crowd trajectories, sensors aligned in time, and the surrounding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585" y="3593306"/>
              <a:ext cx="18810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scene captured as a map.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3829050"/>
            <a:ext cx="7810500" cy="1184434"/>
            <a:chOff x="609600" y="3829050"/>
            <a:chExt cx="7810500" cy="1184434"/>
          </a:xfrm>
        </p:grpSpPr>
        <p:sp>
          <p:nvSpPr>
            <p:cNvPr id="22" name="Rectangle 22"/>
            <p:cNvSpPr/>
            <p:nvPr/>
          </p:nvSpPr>
          <p:spPr>
            <a:xfrm>
              <a:off x="609600" y="3829050"/>
              <a:ext cx="78105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981450"/>
              <a:ext cx="47625" cy="762000"/>
            </a:xfrm>
            <a:prstGeom prst="roundRect">
              <a:avLst>
                <a:gd name="adj" fmla="val 4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9061" y="4056221"/>
              <a:ext cx="2736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SiT is the first to deliver it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585" y="4374356"/>
              <a:ext cx="5328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SiT is the first dataset to combine all three, with a benchmark spanning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585" y="4583906"/>
              <a:ext cx="5469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detection, tracking, prediction, and end-to-end forecasting — all publicly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585" y="479345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D0"/>
                  </a:solidFill>
                  <a:latin typeface="+mn-lt"/>
                  <a:ea typeface="+mn-ea"/>
                  <a:cs typeface="+mn-cs"/>
                </a:rPr>
                <a:t>released.</a:t>
              </a:r>
            </a:p>
          </p:txBody>
        </p:sp>
      </p:grpSp>
      <p:sp>
        <p:nvSpPr>
          <p:cNvPr id="29" name="Rectangle 29"/>
          <p:cNvSpPr/>
          <p:nvPr/>
        </p:nvSpPr>
        <p:spPr>
          <a:xfrm>
            <a:off x="8648700" y="1428750"/>
            <a:ext cx="2933700" cy="3581400"/>
          </a:xfrm>
          <a:prstGeom prst="roundRect">
            <a:avLst>
              <a:gd name="adj" fmla="val 4545"/>
            </a:avLst>
          </a:prstGeom>
          <a:solidFill>
            <a:schemeClr val="accent6"/>
          </a:solidFill>
          <a:ln w="9525">
            <a:solidFill>
              <a:schemeClr val="accent4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797918" y="1591628"/>
            <a:ext cx="63526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EAF1FF"/>
                </a:solidFill>
                <a:latin typeface="+mj-lt"/>
                <a:ea typeface="+mj-ea"/>
                <a:cs typeface="+mj-cs"/>
              </a:rPr>
              <a:t>SiT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67069" y="2001202"/>
            <a:ext cx="12969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DB0D0"/>
                </a:solidFill>
                <a:latin typeface="+mn-lt"/>
                <a:ea typeface="+mn-ea"/>
                <a:cs typeface="+mn-cs"/>
              </a:rPr>
              <a:t>robot in the crowd</a:t>
            </a:r>
          </a:p>
        </p:txBody>
      </p:sp>
      <p:sp>
        <p:nvSpPr>
          <p:cNvPr id="32" name="Line 32"/>
          <p:cNvSpPr/>
          <p:nvPr/>
        </p:nvSpPr>
        <p:spPr>
          <a:xfrm>
            <a:off x="9124950" y="232410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119616" y="2648902"/>
            <a:ext cx="5004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scenes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6291" y="2640806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b="1" dirty="0">
                <a:solidFill>
                  <a:srgbClr val="4F8CFF"/>
                </a:solidFill>
                <a:latin typeface="+mn-lt"/>
                <a:ea typeface="+mn-ea"/>
                <a:cs typeface="+mn-cs"/>
              </a:rPr>
              <a:t>60</a:t>
            </a:r>
          </a:p>
        </p:txBody>
      </p:sp>
      <p:sp>
        <p:nvSpPr>
          <p:cNvPr id="35" name="Line 35"/>
          <p:cNvSpPr/>
          <p:nvPr/>
        </p:nvSpPr>
        <p:spPr>
          <a:xfrm>
            <a:off x="9124950" y="291465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119616" y="3163252"/>
            <a:ext cx="5820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sensors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35924" y="3155156"/>
            <a:ext cx="117594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LiDAR+cam+RTK</a:t>
            </a:r>
          </a:p>
        </p:txBody>
      </p:sp>
      <p:sp>
        <p:nvSpPr>
          <p:cNvPr id="38" name="Line 38"/>
          <p:cNvSpPr/>
          <p:nvPr/>
        </p:nvSpPr>
        <p:spPr>
          <a:xfrm>
            <a:off x="9124950" y="342900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119616" y="3677602"/>
            <a:ext cx="366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maps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95942" y="3669506"/>
            <a:ext cx="7159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b="1" dirty="0">
                <a:solidFill>
                  <a:srgbClr val="A78BFA"/>
                </a:solidFill>
                <a:latin typeface="+mn-lt"/>
                <a:ea typeface="+mn-ea"/>
                <a:cs typeface="+mn-cs"/>
              </a:rPr>
              <a:t>12 layers</a:t>
            </a:r>
          </a:p>
        </p:txBody>
      </p:sp>
      <p:sp>
        <p:nvSpPr>
          <p:cNvPr id="41" name="Line 41"/>
          <p:cNvSpPr/>
          <p:nvPr/>
        </p:nvSpPr>
        <p:spPr>
          <a:xfrm>
            <a:off x="9124950" y="394335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119616" y="4191952"/>
            <a:ext cx="7750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benchmark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530508" y="4183856"/>
            <a:ext cx="5813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b="1" dirty="0">
                <a:solidFill>
                  <a:srgbClr val="FBBF24"/>
                </a:solidFill>
                <a:latin typeface="+mn-lt"/>
                <a:ea typeface="+mn-ea"/>
                <a:cs typeface="+mn-cs"/>
              </a:rPr>
              <a:t>4 tasks</a:t>
            </a:r>
          </a:p>
        </p:txBody>
      </p:sp>
      <p:sp>
        <p:nvSpPr>
          <p:cNvPr id="44" name="Line 44"/>
          <p:cNvSpPr/>
          <p:nvPr/>
        </p:nvSpPr>
        <p:spPr>
          <a:xfrm>
            <a:off x="9124950" y="4457700"/>
            <a:ext cx="1981200" cy="9525"/>
          </a:xfrm>
          <a:custGeom>
            <a:avLst/>
            <a:gdLst/>
            <a:ahLst/>
            <a:cxnLst/>
            <a:rect l="l" t="t" r="r" b="b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/>
          <a:ln w="9525" cap="rnd">
            <a:solidFill>
              <a:schemeClr val="accent4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021174" y="4825841"/>
            <a:ext cx="21887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6E82A6"/>
                </a:solidFill>
                <a:latin typeface="+mn-lt"/>
                <a:ea typeface="+mn-ea"/>
                <a:cs typeface="+mn-cs"/>
              </a:rPr>
              <a:t>github.com/SPALaboratory/SiT-Dataset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000000"/>
      </a:dk1>
      <a:lt1>
        <a:srgbClr val="0B1220"/>
      </a:lt1>
      <a:dk2>
        <a:srgbClr val="1F497D"/>
      </a:dk2>
      <a:lt2>
        <a:srgbClr val="0B1220"/>
      </a:lt2>
      <a:accent1>
        <a:srgbClr val="4F81BD"/>
      </a:accent1>
      <a:accent2>
        <a:srgbClr val="C0504D"/>
      </a:accent2>
      <a:accent3>
        <a:srgbClr val="9BBB59"/>
      </a:accent3>
      <a:accent4>
        <a:srgbClr val="2A3B5C"/>
      </a:accent4>
      <a:accent5>
        <a:srgbClr val="152238"/>
      </a:accent5>
      <a:accent6>
        <a:srgbClr val="1B2B47"/>
      </a:accent6>
      <a:hlink>
        <a:srgbClr val="0000FF"/>
      </a:hlink>
      <a:folHlink>
        <a:srgbClr val="800080"/>
      </a:folHlink>
    </a:clrScheme>
    <a:fontScheme name="Free Design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2026-07-16T06:54:19Z</dcterms:created>
  <dcterms:modified xsi:type="dcterms:W3CDTF">2026-07-16T06:54:19Z</dcterms:modified>
  <cp:category/>
  <cp:contentStatus/>
</cp:coreProperties>
</file>
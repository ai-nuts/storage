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bcb542b866498b5f.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7999080e8d1ec93f.png"/><Relationship Id="rId3" Type="http://schemas.openxmlformats.org/officeDocument/2006/relationships/image" Target="../media/image_70df2b4abe690efd.png"/><Relationship Id="rId4" Type="http://schemas.openxmlformats.org/officeDocument/2006/relationships/image" Target="../media/image_5a3c36383f0c15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ec0c6c91e3bfb7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85800" y="914400"/>
            <a:ext cx="38100" cy="4476750"/>
          </a:xfrm>
          <a:prstGeom prst="rect">
            <a:avLst/>
          </a:prstGeom>
          <a:solidFill>
            <a:schemeClr val="accent1"/>
          </a:solidFill>
          <a:ln>
            <a:noFill/>
          </a:ln>
        </p:spPr>
        <p:txBody>
          <a:bodyPr/>
          <a:p/>
        </p:txBody>
      </p:sp>
      <p:sp>
        <p:nvSpPr>
          <p:cNvPr id="3" name="TextBox 3"/>
          <p:cNvSpPr txBox="1"/>
          <p:nvPr/>
        </p:nvSpPr>
        <p:spPr>
          <a:xfrm>
            <a:off x="946404" y="937260"/>
            <a:ext cx="3800498"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PAPER EXPLAINER · arXiv:2210.00641</a:t>
            </a:r>
          </a:p>
        </p:txBody>
      </p:sp>
      <p:sp>
        <p:nvSpPr>
          <p:cNvPr id="4" name="TextBox 4"/>
          <p:cNvSpPr txBox="1"/>
          <p:nvPr/>
        </p:nvSpPr>
        <p:spPr>
          <a:xfrm>
            <a:off x="914400" y="1455420"/>
            <a:ext cx="4512019"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n-lt"/>
                <a:ea typeface="+mn-ea"/>
                <a:cs typeface="+mn-cs"/>
              </a:rPr>
              <a:t>DARTFormer</a:t>
            </a:r>
          </a:p>
        </p:txBody>
      </p:sp>
      <p:sp>
        <p:nvSpPr>
          <p:cNvPr id="5" name="TextBox 5"/>
          <p:cNvSpPr txBox="1"/>
          <p:nvPr/>
        </p:nvSpPr>
        <p:spPr>
          <a:xfrm>
            <a:off x="941070" y="2290762"/>
            <a:ext cx="537559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Finding the Best Type of Attention</a:t>
            </a:r>
          </a:p>
        </p:txBody>
      </p:sp>
      <p:sp>
        <p:nvSpPr>
          <p:cNvPr id="6" name="TextBox 6"/>
          <p:cNvSpPr txBox="1"/>
          <p:nvPr/>
        </p:nvSpPr>
        <p:spPr>
          <a:xfrm>
            <a:off x="941832" y="2840355"/>
            <a:ext cx="6830187"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Search for the best attention, and test whether</a:t>
            </a:r>
          </a:p>
        </p:txBody>
      </p:sp>
      <p:sp>
        <p:nvSpPr>
          <p:cNvPr id="7" name="TextBox 7"/>
          <p:cNvSpPr txBox="1"/>
          <p:nvPr/>
        </p:nvSpPr>
        <p:spPr>
          <a:xfrm>
            <a:off x="941832" y="3164205"/>
            <a:ext cx="4177055" cy="410718"/>
          </a:xfrm>
          <a:prstGeom prst="rect">
            <a:avLst/>
          </a:prstGeom>
          <a:noFill/>
          <a:ln>
            <a:noFill/>
          </a:ln>
        </p:spPr>
        <p:txBody>
          <a:bodyPr wrap="none" lIns="0" tIns="0" rIns="0" bIns="0" anchor="t" anchorCtr="0">
            <a:spAutoFit/>
          </a:bodyPr>
          <a:lstStyle/>
          <a:p>
            <a:pPr algn="l"/>
            <a:r>
              <a:rPr lang="en-US" sz="2100" dirty="0">
                <a:solidFill>
                  <a:schemeClr val="dk2"/>
                </a:solidFill>
                <a:latin typeface="+mn-lt"/>
                <a:ea typeface="+mn-ea"/>
                <a:cs typeface="+mn-cs"/>
              </a:rPr>
              <a:t>mixing several is even better.</a:t>
            </a:r>
          </a:p>
        </p:txBody>
      </p:sp>
      <p:sp>
        <p:nvSpPr>
          <p:cNvPr id="8" name="TextBox 8"/>
          <p:cNvSpPr txBox="1"/>
          <p:nvPr/>
        </p:nvSpPr>
        <p:spPr>
          <a:xfrm>
            <a:off x="945642" y="5569268"/>
            <a:ext cx="665237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Jason Ross Brown¹ · Yiren Zhao²¹ · Ilia Shumailov³ · Robert D. Mullins¹</a:t>
            </a:r>
          </a:p>
        </p:txBody>
      </p:sp>
      <p:sp>
        <p:nvSpPr>
          <p:cNvPr id="9" name="TextBox 9"/>
          <p:cNvSpPr txBox="1"/>
          <p:nvPr/>
        </p:nvSpPr>
        <p:spPr>
          <a:xfrm>
            <a:off x="946785" y="5860256"/>
            <a:ext cx="534614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¹University of Cambridge ²Imperial College London ³University of Oxford</a:t>
            </a:r>
          </a:p>
        </p:txBody>
      </p:sp>
      <p:sp>
        <p:nvSpPr>
          <p:cNvPr id="10" name="TextBox 10"/>
          <p:cNvSpPr txBox="1"/>
          <p:nvPr/>
        </p:nvSpPr>
        <p:spPr>
          <a:xfrm>
            <a:off x="6699504" y="1737360"/>
            <a:ext cx="1805269"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INSIDE THIS PAPER</a:t>
            </a:r>
          </a:p>
        </p:txBody>
      </p:sp>
      <p:sp>
        <p:nvSpPr>
          <p:cNvPr id="11" name="Rectangle 11"/>
          <p:cNvSpPr/>
          <p:nvPr/>
        </p:nvSpPr>
        <p:spPr>
          <a:xfrm>
            <a:off x="6705600" y="1981200"/>
            <a:ext cx="419100" cy="38100"/>
          </a:xfrm>
          <a:prstGeom prst="rect">
            <a:avLst/>
          </a:prstGeom>
          <a:solidFill>
            <a:schemeClr val="accent1"/>
          </a:solidFill>
          <a:ln>
            <a:noFill/>
          </a:ln>
        </p:spPr>
        <p:txBody>
          <a:bodyPr/>
          <a:p/>
        </p:txBody>
      </p:sp>
      <p:grpSp>
        <p:nvGrpSpPr>
          <p:cNvPr id="17" name="Group 17"/>
          <p:cNvGrpSpPr/>
          <p:nvPr/>
        </p:nvGrpSpPr>
        <p:grpSpPr>
          <a:xfrm>
            <a:off x="6705600" y="2190750"/>
            <a:ext cx="2549976" cy="1600200"/>
            <a:chOff x="6705600" y="2190750"/>
            <a:chExt cx="2549976" cy="1600200"/>
          </a:xfrm>
        </p:grpSpPr>
        <p:sp>
          <p:nvSpPr>
            <p:cNvPr id="12" name="Rectangle 12"/>
            <p:cNvSpPr/>
            <p:nvPr/>
          </p:nvSpPr>
          <p:spPr>
            <a:xfrm>
              <a:off x="6705600" y="2190750"/>
              <a:ext cx="2324100" cy="1600200"/>
            </a:xfrm>
            <a:prstGeom prst="roundRect">
              <a:avLst>
                <a:gd name="adj" fmla="val 8333"/>
              </a:avLst>
            </a:prstGeom>
            <a:solidFill>
              <a:schemeClr val="lt2"/>
            </a:solidFill>
            <a:ln w="9525">
              <a:solidFill>
                <a:schemeClr val="accent4"/>
              </a:solidFill>
            </a:ln>
          </p:spPr>
        </p:sp>
        <p:sp>
          <p:nvSpPr>
            <p:cNvPr id="13" name="TextBox 13"/>
            <p:cNvSpPr txBox="1"/>
            <p:nvPr/>
          </p:nvSpPr>
          <p:spPr>
            <a:xfrm>
              <a:off x="6869430" y="2371725"/>
              <a:ext cx="24846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01</a:t>
              </a:r>
            </a:p>
          </p:txBody>
        </p:sp>
        <p:sp>
          <p:nvSpPr>
            <p:cNvPr id="14" name="TextBox 14"/>
            <p:cNvSpPr txBox="1"/>
            <p:nvPr/>
          </p:nvSpPr>
          <p:spPr>
            <a:xfrm>
              <a:off x="6870192" y="2711768"/>
              <a:ext cx="177368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question: which</a:t>
              </a:r>
            </a:p>
          </p:txBody>
        </p:sp>
        <p:sp>
          <p:nvSpPr>
            <p:cNvPr id="15" name="TextBox 15"/>
            <p:cNvSpPr txBox="1"/>
            <p:nvPr/>
          </p:nvSpPr>
          <p:spPr>
            <a:xfrm>
              <a:off x="6870192" y="2940368"/>
              <a:ext cx="238538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attention for a long-range</a:t>
              </a:r>
            </a:p>
          </p:txBody>
        </p:sp>
        <p:sp>
          <p:nvSpPr>
            <p:cNvPr id="16" name="TextBox 16"/>
            <p:cNvSpPr txBox="1"/>
            <p:nvPr/>
          </p:nvSpPr>
          <p:spPr>
            <a:xfrm>
              <a:off x="6870192" y="3168968"/>
              <a:ext cx="213726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task? Could mixing help?</a:t>
              </a:r>
            </a:p>
          </p:txBody>
        </p:sp>
      </p:grpSp>
      <p:grpSp>
        <p:nvGrpSpPr>
          <p:cNvPr id="23" name="Group 23"/>
          <p:cNvGrpSpPr/>
          <p:nvPr/>
        </p:nvGrpSpPr>
        <p:grpSpPr>
          <a:xfrm>
            <a:off x="9144000" y="2190750"/>
            <a:ext cx="2324100" cy="1600200"/>
            <a:chOff x="9144000" y="2190750"/>
            <a:chExt cx="2324100" cy="1600200"/>
          </a:xfrm>
        </p:grpSpPr>
        <p:sp>
          <p:nvSpPr>
            <p:cNvPr id="18" name="Rectangle 18"/>
            <p:cNvSpPr/>
            <p:nvPr/>
          </p:nvSpPr>
          <p:spPr>
            <a:xfrm>
              <a:off x="9144000" y="2190750"/>
              <a:ext cx="2324100" cy="1600200"/>
            </a:xfrm>
            <a:prstGeom prst="roundRect">
              <a:avLst>
                <a:gd name="adj" fmla="val 8333"/>
              </a:avLst>
            </a:prstGeom>
            <a:solidFill>
              <a:schemeClr val="lt2"/>
            </a:solidFill>
            <a:ln w="9525">
              <a:solidFill>
                <a:schemeClr val="accent4"/>
              </a:solidFill>
            </a:ln>
          </p:spPr>
        </p:sp>
        <p:sp>
          <p:nvSpPr>
            <p:cNvPr id="19" name="TextBox 19"/>
            <p:cNvSpPr txBox="1"/>
            <p:nvPr/>
          </p:nvSpPr>
          <p:spPr>
            <a:xfrm>
              <a:off x="9307830" y="2371725"/>
              <a:ext cx="24846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02</a:t>
              </a:r>
            </a:p>
          </p:txBody>
        </p:sp>
        <p:sp>
          <p:nvSpPr>
            <p:cNvPr id="20" name="TextBox 20"/>
            <p:cNvSpPr txBox="1"/>
            <p:nvPr/>
          </p:nvSpPr>
          <p:spPr>
            <a:xfrm>
              <a:off x="9308592" y="2711768"/>
              <a:ext cx="12377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DARTFormer =</a:t>
              </a:r>
            </a:p>
          </p:txBody>
        </p:sp>
        <p:sp>
          <p:nvSpPr>
            <p:cNvPr id="21" name="TextBox 21"/>
            <p:cNvSpPr txBox="1"/>
            <p:nvPr/>
          </p:nvSpPr>
          <p:spPr>
            <a:xfrm>
              <a:off x="9308592" y="2940368"/>
              <a:ext cx="174828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differentiable NAS,</a:t>
              </a:r>
            </a:p>
          </p:txBody>
        </p:sp>
        <p:sp>
          <p:nvSpPr>
            <p:cNvPr id="22" name="TextBox 22"/>
            <p:cNvSpPr txBox="1"/>
            <p:nvPr/>
          </p:nvSpPr>
          <p:spPr>
            <a:xfrm>
              <a:off x="9308592" y="3168968"/>
              <a:ext cx="188560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applied to attention.</a:t>
              </a:r>
            </a:p>
          </p:txBody>
        </p:sp>
      </p:grpSp>
      <p:grpSp>
        <p:nvGrpSpPr>
          <p:cNvPr id="30" name="Group 30"/>
          <p:cNvGrpSpPr/>
          <p:nvPr/>
        </p:nvGrpSpPr>
        <p:grpSpPr>
          <a:xfrm>
            <a:off x="6705600" y="4000500"/>
            <a:ext cx="2377326" cy="1600200"/>
            <a:chOff x="6705600" y="4000500"/>
            <a:chExt cx="2377326" cy="1600200"/>
          </a:xfrm>
        </p:grpSpPr>
        <p:sp>
          <p:nvSpPr>
            <p:cNvPr id="24" name="Rectangle 24"/>
            <p:cNvSpPr/>
            <p:nvPr/>
          </p:nvSpPr>
          <p:spPr>
            <a:xfrm>
              <a:off x="6705600" y="4000500"/>
              <a:ext cx="2324100" cy="1600200"/>
            </a:xfrm>
            <a:prstGeom prst="roundRect">
              <a:avLst>
                <a:gd name="adj" fmla="val 8333"/>
              </a:avLst>
            </a:prstGeom>
            <a:solidFill>
              <a:schemeClr val="lt2"/>
            </a:solidFill>
            <a:ln w="9525">
              <a:solidFill>
                <a:schemeClr val="accent4"/>
              </a:solidFill>
            </a:ln>
          </p:spPr>
        </p:sp>
        <p:sp>
          <p:nvSpPr>
            <p:cNvPr id="25" name="TextBox 25"/>
            <p:cNvSpPr txBox="1"/>
            <p:nvPr/>
          </p:nvSpPr>
          <p:spPr>
            <a:xfrm>
              <a:off x="6869430" y="4181475"/>
              <a:ext cx="24846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03</a:t>
              </a:r>
            </a:p>
          </p:txBody>
        </p:sp>
        <p:sp>
          <p:nvSpPr>
            <p:cNvPr id="26" name="TextBox 26"/>
            <p:cNvSpPr txBox="1"/>
            <p:nvPr/>
          </p:nvSpPr>
          <p:spPr>
            <a:xfrm>
              <a:off x="6870192" y="4483418"/>
              <a:ext cx="215548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 supernetwork of many</a:t>
              </a:r>
            </a:p>
          </p:txBody>
        </p:sp>
        <p:sp>
          <p:nvSpPr>
            <p:cNvPr id="27" name="TextBox 27"/>
            <p:cNvSpPr txBox="1"/>
            <p:nvPr/>
          </p:nvSpPr>
          <p:spPr>
            <a:xfrm>
              <a:off x="6870192" y="4712018"/>
              <a:ext cx="204008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efficient attentions in</a:t>
              </a:r>
            </a:p>
          </p:txBody>
        </p:sp>
        <p:sp>
          <p:nvSpPr>
            <p:cNvPr id="28" name="TextBox 28"/>
            <p:cNvSpPr txBox="1"/>
            <p:nvPr/>
          </p:nvSpPr>
          <p:spPr>
            <a:xfrm>
              <a:off x="6870192" y="4940618"/>
              <a:ext cx="168569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parallel, ranked by</a:t>
              </a:r>
            </a:p>
          </p:txBody>
        </p:sp>
        <p:sp>
          <p:nvSpPr>
            <p:cNvPr id="29" name="TextBox 29"/>
            <p:cNvSpPr txBox="1"/>
            <p:nvPr/>
          </p:nvSpPr>
          <p:spPr>
            <a:xfrm>
              <a:off x="6870192" y="5169218"/>
              <a:ext cx="221273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masked-validation-drop.</a:t>
              </a:r>
            </a:p>
          </p:txBody>
        </p:sp>
      </p:grpSp>
      <p:grpSp>
        <p:nvGrpSpPr>
          <p:cNvPr id="37" name="Group 37"/>
          <p:cNvGrpSpPr/>
          <p:nvPr/>
        </p:nvGrpSpPr>
        <p:grpSpPr>
          <a:xfrm>
            <a:off x="9144000" y="4000500"/>
            <a:ext cx="2324100" cy="1600200"/>
            <a:chOff x="9144000" y="4000500"/>
            <a:chExt cx="2324100" cy="1600200"/>
          </a:xfrm>
        </p:grpSpPr>
        <p:sp>
          <p:nvSpPr>
            <p:cNvPr id="31" name="Rectangle 31"/>
            <p:cNvSpPr/>
            <p:nvPr/>
          </p:nvSpPr>
          <p:spPr>
            <a:xfrm>
              <a:off x="9144000" y="4000500"/>
              <a:ext cx="2324100" cy="1600200"/>
            </a:xfrm>
            <a:prstGeom prst="roundRect">
              <a:avLst>
                <a:gd name="adj" fmla="val 8333"/>
              </a:avLst>
            </a:prstGeom>
            <a:solidFill>
              <a:schemeClr val="lt2"/>
            </a:solidFill>
            <a:ln w="9525">
              <a:solidFill>
                <a:schemeClr val="accent4"/>
              </a:solidFill>
            </a:ln>
          </p:spPr>
        </p:sp>
        <p:sp>
          <p:nvSpPr>
            <p:cNvPr id="32" name="TextBox 32"/>
            <p:cNvSpPr txBox="1"/>
            <p:nvPr/>
          </p:nvSpPr>
          <p:spPr>
            <a:xfrm>
              <a:off x="9307830" y="4181475"/>
              <a:ext cx="24846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04</a:t>
              </a:r>
            </a:p>
          </p:txBody>
        </p:sp>
        <p:sp>
          <p:nvSpPr>
            <p:cNvPr id="33" name="TextBox 33"/>
            <p:cNvSpPr txBox="1"/>
            <p:nvPr/>
          </p:nvSpPr>
          <p:spPr>
            <a:xfrm>
              <a:off x="9308592" y="4483418"/>
              <a:ext cx="184591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Finds the best single</a:t>
              </a:r>
            </a:p>
          </p:txBody>
        </p:sp>
        <p:sp>
          <p:nvSpPr>
            <p:cNvPr id="34" name="TextBox 34"/>
            <p:cNvSpPr txBox="1"/>
            <p:nvPr/>
          </p:nvSpPr>
          <p:spPr>
            <a:xfrm>
              <a:off x="9308592" y="4712018"/>
              <a:ext cx="212186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attention; mixing beats</a:t>
              </a:r>
            </a:p>
          </p:txBody>
        </p:sp>
        <p:sp>
          <p:nvSpPr>
            <p:cNvPr id="35" name="TextBox 35"/>
            <p:cNvSpPr txBox="1"/>
            <p:nvPr/>
          </p:nvSpPr>
          <p:spPr>
            <a:xfrm>
              <a:off x="9308592" y="4940618"/>
              <a:ext cx="17220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average, never</a:t>
              </a:r>
            </a:p>
          </p:txBody>
        </p:sp>
        <p:sp>
          <p:nvSpPr>
            <p:cNvPr id="36" name="TextBox 36"/>
            <p:cNvSpPr txBox="1"/>
            <p:nvPr/>
          </p:nvSpPr>
          <p:spPr>
            <a:xfrm>
              <a:off x="9308592" y="5169218"/>
              <a:ext cx="86788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best.</a:t>
              </a:r>
            </a:p>
          </p:txBody>
        </p:sp>
      </p:grpSp>
      <p:sp>
        <p:nvSpPr>
          <p:cNvPr id="38" name="cue_s01_c1_how_you_pick_right_attention" title="cue_s01_c1_how_you_pick_right_attention" descr="cue_s01_c1_how_you_pick_right_attention How do you pick the right attention mechanism for a long-range Transformer task, and could mixing several types work even better?"/>
          <p:cNvSpPr/>
          <p:nvPr/>
        </p:nvSpPr>
        <p:spPr>
          <a:xfrm>
            <a:off x="6705600" y="2190445"/>
            <a:ext cx="2323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2_dartformer_adapts_differentiable_neu" title="cue_s01_c2_dartformer_adapts_differentiable_neu" descr="cue_s01_c2_dartformer_adapts_differentiable_neu This paper, DARTFormer, adapts differentiable neural architecture search to answer both questions."/>
          <p:cNvSpPr/>
          <p:nvPr/>
        </p:nvSpPr>
        <p:spPr>
          <a:xfrm>
            <a:off x="9144000" y="2190445"/>
            <a:ext cx="2323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1_c3_authors_build_supernetwork_contains" title="cue_s01_c3_authors_build_supernetwork_contains" descr="cue_s01_c3_authors_build_supernetwork_contains The authors build a supernetwork that contains many efficient attention types in parallel, then use a masked validation accuracy drop metric to rank them."/>
          <p:cNvSpPr/>
          <p:nvPr/>
        </p:nvSpPr>
        <p:spPr>
          <a:xfrm>
            <a:off x="6705600" y="4000271"/>
            <a:ext cx="237744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1_c4_their_search_reliably_finds_best" title="cue_s01_c4_their_search_reliably_finds_best" descr="cue_s01_c4_their_search_reliably_finds_best Their search reliably finds the best single attention for a task, but a surprising second result emerges: heterogeneous Transformers that combine several attention types beat the average homogeneous model, yet never beat the single best one."/>
          <p:cNvSpPr/>
          <p:nvPr/>
        </p:nvSpPr>
        <p:spPr>
          <a:xfrm>
            <a:off x="9144000" y="4000271"/>
            <a:ext cx="2323795"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708660"/>
            <a:ext cx="1411834"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02 · PROBLEM</a:t>
            </a:r>
          </a:p>
        </p:txBody>
      </p:sp>
      <p:sp>
        <p:nvSpPr>
          <p:cNvPr id="3" name="Rectangle 3"/>
          <p:cNvSpPr/>
          <p:nvPr/>
        </p:nvSpPr>
        <p:spPr>
          <a:xfrm>
            <a:off x="685800" y="952500"/>
            <a:ext cx="419100" cy="38100"/>
          </a:xfrm>
          <a:prstGeom prst="rect">
            <a:avLst/>
          </a:prstGeom>
          <a:solidFill>
            <a:schemeClr val="accent1"/>
          </a:solidFill>
          <a:ln>
            <a:noFill/>
          </a:ln>
        </p:spPr>
        <p:txBody>
          <a:bodyPr/>
          <a:p/>
        </p:txBody>
      </p:sp>
      <p:sp>
        <p:nvSpPr>
          <p:cNvPr id="4" name="TextBox 4"/>
          <p:cNvSpPr txBox="1"/>
          <p:nvPr/>
        </p:nvSpPr>
        <p:spPr>
          <a:xfrm>
            <a:off x="669036" y="1129665"/>
            <a:ext cx="10496980"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No single efficient attention wins everywhere</a:t>
            </a:r>
          </a:p>
        </p:txBody>
      </p:sp>
      <p:grpSp>
        <p:nvGrpSpPr>
          <p:cNvPr id="9" name="Group 9"/>
          <p:cNvGrpSpPr/>
          <p:nvPr/>
        </p:nvGrpSpPr>
        <p:grpSpPr>
          <a:xfrm>
            <a:off x="685800" y="2095500"/>
            <a:ext cx="3429000" cy="3733800"/>
            <a:chOff x="685800" y="2095500"/>
            <a:chExt cx="3429000" cy="3733800"/>
          </a:xfrm>
        </p:grpSpPr>
        <p:sp>
          <p:nvSpPr>
            <p:cNvPr id="5" name="Rectangle 5"/>
            <p:cNvSpPr/>
            <p:nvPr/>
          </p:nvSpPr>
          <p:spPr>
            <a:xfrm>
              <a:off x="685800" y="2095500"/>
              <a:ext cx="3429000" cy="3733800"/>
            </a:xfrm>
            <a:prstGeom prst="roundRect">
              <a:avLst>
                <a:gd name="adj" fmla="val 3889"/>
              </a:avLst>
            </a:prstGeom>
            <a:solidFill>
              <a:schemeClr val="lt2"/>
            </a:solidFill>
            <a:ln w="9525">
              <a:solidFill>
                <a:schemeClr val="accent4"/>
              </a:solidFill>
            </a:ln>
          </p:spPr>
        </p:sp>
        <p:sp>
          <p:nvSpPr>
            <p:cNvPr id="6" name="TextBox 6"/>
            <p:cNvSpPr txBox="1"/>
            <p:nvPr/>
          </p:nvSpPr>
          <p:spPr>
            <a:xfrm>
              <a:off x="971550" y="2131695"/>
              <a:ext cx="1710369" cy="762000"/>
            </a:xfrm>
            <a:prstGeom prst="rect">
              <a:avLst/>
            </a:prstGeom>
            <a:noFill/>
            <a:ln>
              <a:noFill/>
            </a:ln>
          </p:spPr>
          <p:txBody>
            <a:bodyPr wrap="none" lIns="0" tIns="0" rIns="0" bIns="0" anchor="t" anchorCtr="0">
              <a:spAutoFit/>
            </a:bodyPr>
            <a:lstStyle/>
            <a:p>
              <a:pPr algn="l"/>
              <a:r>
                <a:rPr lang="en-US" sz="3900" b="1" dirty="0">
                  <a:solidFill>
                    <a:schemeClr val="accent1"/>
                  </a:solidFill>
                  <a:latin typeface="+mn-lt"/>
                  <a:ea typeface="+mn-ea"/>
                  <a:cs typeface="+mn-cs"/>
                </a:rPr>
                <a:t>O(n²)</a:t>
              </a:r>
            </a:p>
          </p:txBody>
        </p:sp>
        <p:sp>
          <p:nvSpPr>
            <p:cNvPr id="7" name="TextBox 7"/>
            <p:cNvSpPr txBox="1"/>
            <p:nvPr/>
          </p:nvSpPr>
          <p:spPr>
            <a:xfrm>
              <a:off x="981456" y="2948940"/>
              <a:ext cx="2418588" cy="923544"/>
            </a:xfrm>
            <a:prstGeom prst="rect">
              <a:avLst/>
            </a:prstGeom>
            <a:noFill/>
            <a:ln>
              <a:noFill/>
            </a:ln>
          </p:spPr>
          <p:txBody>
            <a:bodyPr wrap="square" lIns="0" tIns="0" rIns="0" bIns="0" anchor="t" anchorCtr="0"/>
            <a:lstStyle/>
            <a:p>
              <a:pPr algn="l">
                <a:lnSpc>
                  <a:spcPts val="2250"/>
                </a:lnSpc>
              </a:pPr>
              <a:r>
                <a:rPr lang="en-US" sz="1800" b="1" dirty="0">
                  <a:solidFill>
                    <a:schemeClr val="dk1"/>
                  </a:solidFill>
                  <a:latin typeface="+mn-lt"/>
                  <a:ea typeface="+mn-ea"/>
                  <a:cs typeface="+mn-cs"/>
                </a:rPr>
                <a:t>Quadratic cost → a family of efficient variants</a:t>
              </a:r>
            </a:p>
          </p:txBody>
        </p:sp>
        <p:sp>
          <p:nvSpPr>
            <p:cNvPr id="8" name="TextBox 8"/>
            <p:cNvSpPr txBox="1"/>
            <p:nvPr/>
          </p:nvSpPr>
          <p:spPr>
            <a:xfrm>
              <a:off x="983361" y="4151471"/>
              <a:ext cx="2845816" cy="1564576"/>
            </a:xfrm>
            <a:prstGeom prst="rect">
              <a:avLst/>
            </a:prstGeom>
            <a:noFill/>
            <a:ln>
              <a:noFill/>
            </a:ln>
          </p:spPr>
          <p:txBody>
            <a:bodyPr wrap="square" lIns="0" tIns="0" rIns="0" bIns="0" anchor="t" anchorCtr="0"/>
            <a:lstStyle/>
            <a:p>
              <a:pPr algn="l">
                <a:lnSpc>
                  <a:spcPts val="2025"/>
                </a:lnSpc>
              </a:pPr>
              <a:r>
                <a:rPr lang="en-US" sz="1420" dirty="0">
                  <a:solidFill>
                    <a:schemeClr val="dk2"/>
                  </a:solidFill>
                  <a:latin typeface="+mn-lt"/>
                  <a:ea typeface="+mn-ea"/>
                  <a:cs typeface="+mn-cs"/>
                </a:rPr>
                <a:t>Dot-product attention scales O(n²) with sequence length, so many efficient alternatives appeared: Longformer, Bigbird, Performer, Reformer, Synthesizer, …</a:t>
              </a:r>
            </a:p>
          </p:txBody>
        </p:sp>
      </p:grpSp>
      <p:grpSp>
        <p:nvGrpSpPr>
          <p:cNvPr id="14" name="Group 14"/>
          <p:cNvGrpSpPr/>
          <p:nvPr/>
        </p:nvGrpSpPr>
        <p:grpSpPr>
          <a:xfrm>
            <a:off x="4381500" y="2095500"/>
            <a:ext cx="3429000" cy="3733800"/>
            <a:chOff x="4381500" y="2095500"/>
            <a:chExt cx="3429000" cy="3733800"/>
          </a:xfrm>
        </p:grpSpPr>
        <p:sp>
          <p:nvSpPr>
            <p:cNvPr id="10" name="Rectangle 10"/>
            <p:cNvSpPr/>
            <p:nvPr/>
          </p:nvSpPr>
          <p:spPr>
            <a:xfrm>
              <a:off x="4381500" y="2095500"/>
              <a:ext cx="3429000" cy="3733800"/>
            </a:xfrm>
            <a:prstGeom prst="roundRect">
              <a:avLst>
                <a:gd name="adj" fmla="val 3889"/>
              </a:avLst>
            </a:prstGeom>
            <a:solidFill>
              <a:schemeClr val="lt2"/>
            </a:solidFill>
            <a:ln w="9525">
              <a:solidFill>
                <a:schemeClr val="accent4"/>
              </a:solidFill>
            </a:ln>
          </p:spPr>
        </p:sp>
        <p:sp>
          <p:nvSpPr>
            <p:cNvPr id="11" name="TextBox 11"/>
            <p:cNvSpPr txBox="1"/>
            <p:nvPr/>
          </p:nvSpPr>
          <p:spPr>
            <a:xfrm>
              <a:off x="4671060" y="2266950"/>
              <a:ext cx="454533"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a:t>
              </a:r>
            </a:p>
          </p:txBody>
        </p:sp>
        <p:sp>
          <p:nvSpPr>
            <p:cNvPr id="12" name="TextBox 12"/>
            <p:cNvSpPr txBox="1"/>
            <p:nvPr/>
          </p:nvSpPr>
          <p:spPr>
            <a:xfrm>
              <a:off x="4677156" y="2948940"/>
              <a:ext cx="1890522" cy="637794"/>
            </a:xfrm>
            <a:prstGeom prst="rect">
              <a:avLst/>
            </a:prstGeom>
            <a:noFill/>
            <a:ln>
              <a:noFill/>
            </a:ln>
          </p:spPr>
          <p:txBody>
            <a:bodyPr wrap="square" lIns="0" tIns="0" rIns="0" bIns="0" anchor="t" anchorCtr="0"/>
            <a:lstStyle/>
            <a:p>
              <a:pPr algn="l">
                <a:lnSpc>
                  <a:spcPts val="2250"/>
                </a:lnSpc>
              </a:pPr>
              <a:r>
                <a:rPr lang="en-US" sz="1800" b="1" dirty="0">
                  <a:solidFill>
                    <a:schemeClr val="dk1"/>
                  </a:solidFill>
                  <a:latin typeface="+mn-lt"/>
                  <a:ea typeface="+mn-ea"/>
                  <a:cs typeface="+mn-cs"/>
                </a:rPr>
                <a:t>But none is best everywhere</a:t>
              </a:r>
            </a:p>
          </p:txBody>
        </p:sp>
        <p:sp>
          <p:nvSpPr>
            <p:cNvPr id="13" name="TextBox 13"/>
            <p:cNvSpPr txBox="1"/>
            <p:nvPr/>
          </p:nvSpPr>
          <p:spPr>
            <a:xfrm>
              <a:off x="4679061" y="3808571"/>
              <a:ext cx="2746629" cy="1307402"/>
            </a:xfrm>
            <a:prstGeom prst="rect">
              <a:avLst/>
            </a:prstGeom>
            <a:noFill/>
            <a:ln>
              <a:noFill/>
            </a:ln>
          </p:spPr>
          <p:txBody>
            <a:bodyPr wrap="square" lIns="0" tIns="0" rIns="0" bIns="0" anchor="t" anchorCtr="0"/>
            <a:lstStyle/>
            <a:p>
              <a:pPr algn="l">
                <a:lnSpc>
                  <a:spcPts val="2025"/>
                </a:lnSpc>
              </a:pPr>
              <a:r>
                <a:rPr lang="en-US" sz="1420" dirty="0">
                  <a:solidFill>
                    <a:schemeClr val="dk2"/>
                  </a:solidFill>
                  <a:latin typeface="+mn-lt"/>
                  <a:ea typeface="+mn-ea"/>
                  <a:cs typeface="+mn-cs"/>
                </a:rPr>
                <a:t>Long Range Arena benchmarking showed the best attention depends heavily on the task when training from scratch (no pretraining).</a:t>
              </a:r>
            </a:p>
          </p:txBody>
        </p:sp>
      </p:grpSp>
      <p:grpSp>
        <p:nvGrpSpPr>
          <p:cNvPr id="20" name="Group 20"/>
          <p:cNvGrpSpPr/>
          <p:nvPr/>
        </p:nvGrpSpPr>
        <p:grpSpPr>
          <a:xfrm>
            <a:off x="8077200" y="2095500"/>
            <a:ext cx="3429000" cy="3733800"/>
            <a:chOff x="8077200" y="2095500"/>
            <a:chExt cx="3429000" cy="3733800"/>
          </a:xfrm>
        </p:grpSpPr>
        <p:sp>
          <p:nvSpPr>
            <p:cNvPr id="15" name="Rectangle 15"/>
            <p:cNvSpPr/>
            <p:nvPr/>
          </p:nvSpPr>
          <p:spPr>
            <a:xfrm>
              <a:off x="8077200" y="2095500"/>
              <a:ext cx="3429000" cy="3733800"/>
            </a:xfrm>
            <a:prstGeom prst="roundRect">
              <a:avLst>
                <a:gd name="adj" fmla="val 3889"/>
              </a:avLst>
            </a:prstGeom>
            <a:solidFill>
              <a:schemeClr val="accent1"/>
            </a:solidFill>
            <a:ln w="9525">
              <a:solidFill>
                <a:schemeClr val="accent1"/>
              </a:solidFill>
            </a:ln>
          </p:spPr>
        </p:sp>
        <p:sp>
          <p:nvSpPr>
            <p:cNvPr id="16" name="Rectangle 16"/>
            <p:cNvSpPr/>
            <p:nvPr/>
          </p:nvSpPr>
          <p:spPr>
            <a:xfrm>
              <a:off x="8077200" y="2095500"/>
              <a:ext cx="76200" cy="3733800"/>
            </a:xfrm>
            <a:prstGeom prst="rect">
              <a:avLst/>
            </a:prstGeom>
            <a:solidFill>
              <a:schemeClr val="dk1">
                <a:alpha val="25000"/>
              </a:schemeClr>
            </a:solidFill>
            <a:ln>
              <a:noFill/>
            </a:ln>
          </p:spPr>
        </p:sp>
        <p:sp>
          <p:nvSpPr>
            <p:cNvPr id="17" name="TextBox 17"/>
            <p:cNvSpPr txBox="1"/>
            <p:nvPr/>
          </p:nvSpPr>
          <p:spPr>
            <a:xfrm>
              <a:off x="8404860" y="2266950"/>
              <a:ext cx="263709"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a:t>
              </a:r>
            </a:p>
          </p:txBody>
        </p:sp>
        <p:sp>
          <p:nvSpPr>
            <p:cNvPr id="18" name="TextBox 18"/>
            <p:cNvSpPr txBox="1"/>
            <p:nvPr/>
          </p:nvSpPr>
          <p:spPr>
            <a:xfrm>
              <a:off x="8410956" y="2948940"/>
              <a:ext cx="1506474" cy="637794"/>
            </a:xfrm>
            <a:prstGeom prst="rect">
              <a:avLst/>
            </a:prstGeom>
            <a:noFill/>
            <a:ln>
              <a:noFill/>
            </a:ln>
          </p:spPr>
          <p:txBody>
            <a:bodyPr wrap="square" lIns="0" tIns="0" rIns="0" bIns="0" anchor="t" anchorCtr="0"/>
            <a:lstStyle/>
            <a:p>
              <a:pPr algn="l">
                <a:lnSpc>
                  <a:spcPts val="2250"/>
                </a:lnSpc>
              </a:pPr>
              <a:r>
                <a:rPr lang="en-US" sz="1800" b="1" dirty="0">
                  <a:solidFill>
                    <a:srgbClr val="FFFFFF"/>
                  </a:solidFill>
                  <a:latin typeface="+mn-lt"/>
                  <a:ea typeface="+mn-ea"/>
                  <a:cs typeface="+mn-cs"/>
                </a:rPr>
                <a:t>The awkward question</a:t>
              </a:r>
            </a:p>
          </p:txBody>
        </p:sp>
        <p:sp>
          <p:nvSpPr>
            <p:cNvPr id="19" name="TextBox 19"/>
            <p:cNvSpPr txBox="1"/>
            <p:nvPr/>
          </p:nvSpPr>
          <p:spPr>
            <a:xfrm>
              <a:off x="8412861" y="3808571"/>
              <a:ext cx="2764663" cy="1050226"/>
            </a:xfrm>
            <a:prstGeom prst="rect">
              <a:avLst/>
            </a:prstGeom>
            <a:noFill/>
            <a:ln>
              <a:noFill/>
            </a:ln>
          </p:spPr>
          <p:txBody>
            <a:bodyPr wrap="square" lIns="0" tIns="0" rIns="0" bIns="0" anchor="t" anchorCtr="0"/>
            <a:lstStyle/>
            <a:p>
              <a:pPr algn="l">
                <a:lnSpc>
                  <a:spcPts val="2025"/>
                </a:lnSpc>
              </a:pPr>
              <a:r>
                <a:rPr lang="en-US" sz="1420" dirty="0">
                  <a:solidFill>
                    <a:srgbClr val="FFFFFF">
                      <a:alphaMod val="92000"/>
                    </a:srgbClr>
                  </a:solidFill>
                  <a:latin typeface="+mn-lt"/>
                  <a:ea typeface="+mn-ea"/>
                  <a:cs typeface="+mn-cs"/>
                </a:rPr>
                <a:t>How do you efficiently discover the right attention for a given long-range task — without simply training them all?</a:t>
              </a:r>
            </a:p>
          </p:txBody>
        </p:sp>
      </p:grpSp>
      <p:sp>
        <p:nvSpPr>
          <p:cNvPr id="21" name="cue_s02_c1_transformer_original_dot_product_att" title="cue_s02_c1_transformer_original_dot_product_att" descr="cue_s02_c1_transformer_original_dot_product_att The Transformer's original dot-product attention scales quadratically with sequence length, so a large family of efficient alternatives has appeared, from Longformer and Bigbird to Performer, Reformer, and Synthesizer."/>
          <p:cNvSpPr/>
          <p:nvPr/>
        </p:nvSpPr>
        <p:spPr>
          <a:xfrm>
            <a:off x="686409" y="2095804"/>
            <a:ext cx="342839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ue_s02_c2_catch_single_one_wins_everywhere" title="cue_s02_c2_catch_single_one_wins_everywhere" descr="cue_s02_c2_catch_single_one_wins_everywhere The catch is that no single one wins everywhere: earlier long-range benchmarking showed that the best attention depends heavily on the task when there is no pretraining."/>
          <p:cNvSpPr/>
          <p:nvPr/>
        </p:nvSpPr>
        <p:spPr>
          <a:xfrm>
            <a:off x="4381804" y="2095804"/>
            <a:ext cx="342839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ue_s02_c3_leaves_practitioners_awkward_questio" title="cue_s02_c3_leaves_practitioners_awkward_questio" descr="cue_s02_c3_leaves_practitioners_awkward_questio That leaves practitioners with an awkward question, namely how to efficiently discover which attention is right for a given long-range task without simply training all of them."/>
          <p:cNvSpPr/>
          <p:nvPr/>
        </p:nvSpPr>
        <p:spPr>
          <a:xfrm>
            <a:off x="8077200" y="2095804"/>
            <a:ext cx="342839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746760"/>
            <a:ext cx="1717792"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03 · MOTIVATION</a:t>
            </a:r>
          </a:p>
        </p:txBody>
      </p:sp>
      <p:sp>
        <p:nvSpPr>
          <p:cNvPr id="3" name="Rectangle 3"/>
          <p:cNvSpPr/>
          <p:nvPr/>
        </p:nvSpPr>
        <p:spPr>
          <a:xfrm>
            <a:off x="685800" y="990600"/>
            <a:ext cx="419100" cy="38100"/>
          </a:xfrm>
          <a:prstGeom prst="rect">
            <a:avLst/>
          </a:prstGeom>
          <a:solidFill>
            <a:schemeClr val="accent1"/>
          </a:solidFill>
          <a:ln>
            <a:noFill/>
          </a:ln>
        </p:spPr>
        <p:txBody>
          <a:bodyPr/>
          <a:p/>
        </p:txBody>
      </p:sp>
      <p:sp>
        <p:nvSpPr>
          <p:cNvPr id="4" name="TextBox 4"/>
          <p:cNvSpPr txBox="1"/>
          <p:nvPr/>
        </p:nvSpPr>
        <p:spPr>
          <a:xfrm>
            <a:off x="669036" y="1205865"/>
            <a:ext cx="9471672"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Could a mixture of attentions be optimal?</a:t>
            </a:r>
          </a:p>
        </p:txBody>
      </p:sp>
      <p:grpSp>
        <p:nvGrpSpPr>
          <p:cNvPr id="9" name="Group 9"/>
          <p:cNvGrpSpPr/>
          <p:nvPr/>
        </p:nvGrpSpPr>
        <p:grpSpPr>
          <a:xfrm>
            <a:off x="685800" y="2438400"/>
            <a:ext cx="3628644" cy="3390900"/>
            <a:chOff x="685800" y="2438400"/>
            <a:chExt cx="3628644" cy="3390900"/>
          </a:xfrm>
        </p:grpSpPr>
        <p:sp>
          <p:nvSpPr>
            <p:cNvPr id="5" name="Rectangle 5"/>
            <p:cNvSpPr/>
            <p:nvPr/>
          </p:nvSpPr>
          <p:spPr>
            <a:xfrm>
              <a:off x="685800" y="2438400"/>
              <a:ext cx="3352800" cy="3390900"/>
            </a:xfrm>
            <a:prstGeom prst="roundRect">
              <a:avLst>
                <a:gd name="adj" fmla="val 3977"/>
              </a:avLst>
            </a:prstGeom>
            <a:solidFill>
              <a:schemeClr val="lt2"/>
            </a:solidFill>
            <a:ln w="9525">
              <a:solidFill>
                <a:schemeClr val="accent4"/>
              </a:solidFill>
            </a:ln>
          </p:spPr>
        </p:sp>
        <p:sp>
          <p:nvSpPr>
            <p:cNvPr id="6" name="TextBox 6"/>
            <p:cNvSpPr txBox="1"/>
            <p:nvPr/>
          </p:nvSpPr>
          <p:spPr>
            <a:xfrm>
              <a:off x="983742" y="2826068"/>
              <a:ext cx="233719" cy="264033"/>
            </a:xfrm>
            <a:prstGeom prst="rect">
              <a:avLst/>
            </a:prstGeom>
            <a:noFill/>
            <a:ln>
              <a:noFill/>
            </a:ln>
          </p:spPr>
          <p:txBody>
            <a:bodyPr wrap="none" lIns="0" tIns="0" rIns="0" bIns="0" anchor="t" anchorCtr="0">
              <a:spAutoFit/>
            </a:bodyPr>
            <a:lstStyle/>
            <a:p>
              <a:pPr algn="l"/>
              <a:r>
                <a:rPr lang="en-US" sz="1350" b="1" spc="75" dirty="0">
                  <a:solidFill>
                    <a:schemeClr val="dk2"/>
                  </a:solidFill>
                  <a:latin typeface="+mn-lt"/>
                  <a:ea typeface="+mn-ea"/>
                  <a:cs typeface="+mn-cs"/>
                </a:rPr>
                <a:t>01</a:t>
              </a:r>
            </a:p>
          </p:txBody>
        </p:sp>
        <p:sp>
          <p:nvSpPr>
            <p:cNvPr id="7" name="TextBox 7"/>
            <p:cNvSpPr txBox="1"/>
            <p:nvPr/>
          </p:nvSpPr>
          <p:spPr>
            <a:xfrm>
              <a:off x="979170" y="3109912"/>
              <a:ext cx="251293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Heads specialize</a:t>
              </a:r>
            </a:p>
          </p:txBody>
        </p:sp>
        <p:sp>
          <p:nvSpPr>
            <p:cNvPr id="8" name="TextBox 8"/>
            <p:cNvSpPr txBox="1"/>
            <p:nvPr/>
          </p:nvSpPr>
          <p:spPr>
            <a:xfrm>
              <a:off x="981456" y="3653790"/>
              <a:ext cx="3332988" cy="197129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A long-standing intuition: each attention head learns a different kind of relationship</a:t>
              </a:r>
            </a:p>
            <a:p>
              <a:pPr algn="l">
                <a:lnSpc>
                  <a:spcPts val="2550"/>
                </a:lnSpc>
              </a:pPr>
              <a:r>
                <a:rPr lang="en-US" sz="1800" dirty="0">
                  <a:solidFill>
                    <a:schemeClr val="dk1"/>
                  </a:solidFill>
                  <a:latin typeface="+mn-lt"/>
                  <a:ea typeface="+mn-ea"/>
                  <a:cs typeface="+mn-cs"/>
                </a:rPr>
                <a:t>— much as convolutional kernels learn different features.</a:t>
              </a:r>
            </a:p>
          </p:txBody>
        </p:sp>
      </p:grpSp>
      <p:grpSp>
        <p:nvGrpSpPr>
          <p:cNvPr id="14" name="Group 14"/>
          <p:cNvGrpSpPr/>
          <p:nvPr/>
        </p:nvGrpSpPr>
        <p:grpSpPr>
          <a:xfrm>
            <a:off x="4419600" y="2438400"/>
            <a:ext cx="3731514" cy="3390900"/>
            <a:chOff x="4419600" y="2438400"/>
            <a:chExt cx="3731514" cy="3390900"/>
          </a:xfrm>
        </p:grpSpPr>
        <p:sp>
          <p:nvSpPr>
            <p:cNvPr id="10" name="Rectangle 10"/>
            <p:cNvSpPr/>
            <p:nvPr/>
          </p:nvSpPr>
          <p:spPr>
            <a:xfrm>
              <a:off x="4419600" y="2438400"/>
              <a:ext cx="3352800" cy="3390900"/>
            </a:xfrm>
            <a:prstGeom prst="roundRect">
              <a:avLst>
                <a:gd name="adj" fmla="val 3977"/>
              </a:avLst>
            </a:prstGeom>
            <a:solidFill>
              <a:schemeClr val="lt2"/>
            </a:solidFill>
            <a:ln w="9525">
              <a:solidFill>
                <a:schemeClr val="accent4"/>
              </a:solidFill>
            </a:ln>
          </p:spPr>
        </p:sp>
        <p:sp>
          <p:nvSpPr>
            <p:cNvPr id="11" name="TextBox 11"/>
            <p:cNvSpPr txBox="1"/>
            <p:nvPr/>
          </p:nvSpPr>
          <p:spPr>
            <a:xfrm>
              <a:off x="4717542" y="2826068"/>
              <a:ext cx="233719" cy="264033"/>
            </a:xfrm>
            <a:prstGeom prst="rect">
              <a:avLst/>
            </a:prstGeom>
            <a:noFill/>
            <a:ln>
              <a:noFill/>
            </a:ln>
          </p:spPr>
          <p:txBody>
            <a:bodyPr wrap="none" lIns="0" tIns="0" rIns="0" bIns="0" anchor="t" anchorCtr="0">
              <a:spAutoFit/>
            </a:bodyPr>
            <a:lstStyle/>
            <a:p>
              <a:pPr algn="l"/>
              <a:r>
                <a:rPr lang="en-US" sz="1350" b="1" spc="75" dirty="0">
                  <a:solidFill>
                    <a:schemeClr val="dk2"/>
                  </a:solidFill>
                  <a:latin typeface="+mn-lt"/>
                  <a:ea typeface="+mn-ea"/>
                  <a:cs typeface="+mn-cs"/>
                </a:rPr>
                <a:t>02</a:t>
              </a:r>
            </a:p>
          </p:txBody>
        </p:sp>
        <p:sp>
          <p:nvSpPr>
            <p:cNvPr id="12" name="TextBox 12"/>
            <p:cNvSpPr txBox="1"/>
            <p:nvPr/>
          </p:nvSpPr>
          <p:spPr>
            <a:xfrm>
              <a:off x="4712970" y="3109912"/>
              <a:ext cx="241780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Mixing is richer</a:t>
              </a:r>
            </a:p>
          </p:txBody>
        </p:sp>
        <p:sp>
          <p:nvSpPr>
            <p:cNvPr id="13" name="TextBox 13"/>
            <p:cNvSpPr txBox="1"/>
            <p:nvPr/>
          </p:nvSpPr>
          <p:spPr>
            <a:xfrm>
              <a:off x="4715256" y="3653790"/>
              <a:ext cx="3435858" cy="164744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If that holds, a Transformer mixing several attention types could learn a richer set of relations and outperform any single-attention model.</a:t>
              </a:r>
            </a:p>
          </p:txBody>
        </p:sp>
      </p:grpSp>
      <p:grpSp>
        <p:nvGrpSpPr>
          <p:cNvPr id="20" name="Group 20"/>
          <p:cNvGrpSpPr/>
          <p:nvPr/>
        </p:nvGrpSpPr>
        <p:grpSpPr>
          <a:xfrm>
            <a:off x="8153400" y="2438400"/>
            <a:ext cx="3754374" cy="3390900"/>
            <a:chOff x="8153400" y="2438400"/>
            <a:chExt cx="3754374" cy="3390900"/>
          </a:xfrm>
        </p:grpSpPr>
        <p:sp>
          <p:nvSpPr>
            <p:cNvPr id="15" name="Rectangle 15"/>
            <p:cNvSpPr/>
            <p:nvPr/>
          </p:nvSpPr>
          <p:spPr>
            <a:xfrm>
              <a:off x="8153400" y="2438400"/>
              <a:ext cx="3352800" cy="3390900"/>
            </a:xfrm>
            <a:prstGeom prst="roundRect">
              <a:avLst>
                <a:gd name="adj" fmla="val 3977"/>
              </a:avLst>
            </a:prstGeom>
            <a:solidFill>
              <a:schemeClr val="lt2"/>
            </a:solidFill>
            <a:ln w="19050">
              <a:solidFill>
                <a:schemeClr val="accent1"/>
              </a:solidFill>
            </a:ln>
          </p:spPr>
        </p:sp>
        <p:sp>
          <p:nvSpPr>
            <p:cNvPr id="16" name="Rectangle 16"/>
            <p:cNvSpPr/>
            <p:nvPr/>
          </p:nvSpPr>
          <p:spPr>
            <a:xfrm>
              <a:off x="8153400" y="2438400"/>
              <a:ext cx="57150" cy="3390900"/>
            </a:xfrm>
            <a:prstGeom prst="roundRect">
              <a:avLst>
                <a:gd name="adj" fmla="val 50000"/>
              </a:avLst>
            </a:prstGeom>
            <a:solidFill>
              <a:schemeClr val="accent1"/>
            </a:solidFill>
            <a:ln>
              <a:noFill/>
            </a:ln>
          </p:spPr>
        </p:sp>
        <p:sp>
          <p:nvSpPr>
            <p:cNvPr id="17" name="TextBox 17"/>
            <p:cNvSpPr txBox="1"/>
            <p:nvPr/>
          </p:nvSpPr>
          <p:spPr>
            <a:xfrm>
              <a:off x="8451342" y="2826068"/>
              <a:ext cx="233719" cy="264033"/>
            </a:xfrm>
            <a:prstGeom prst="rect">
              <a:avLst/>
            </a:prstGeom>
            <a:noFill/>
            <a:ln>
              <a:noFill/>
            </a:ln>
          </p:spPr>
          <p:txBody>
            <a:bodyPr wrap="none" lIns="0" tIns="0" rIns="0" bIns="0" anchor="t" anchorCtr="0">
              <a:spAutoFit/>
            </a:bodyPr>
            <a:lstStyle/>
            <a:p>
              <a:pPr algn="l"/>
              <a:r>
                <a:rPr lang="en-US" sz="1350" b="1" spc="75" dirty="0">
                  <a:solidFill>
                    <a:schemeClr val="accent1"/>
                  </a:solidFill>
                  <a:latin typeface="+mn-lt"/>
                  <a:ea typeface="+mn-ea"/>
                  <a:cs typeface="+mn-cs"/>
                </a:rPr>
                <a:t>03</a:t>
              </a:r>
            </a:p>
          </p:txBody>
        </p:sp>
        <p:sp>
          <p:nvSpPr>
            <p:cNvPr id="18" name="TextBox 18"/>
            <p:cNvSpPr txBox="1"/>
            <p:nvPr/>
          </p:nvSpPr>
          <p:spPr>
            <a:xfrm>
              <a:off x="8446770" y="3109912"/>
              <a:ext cx="3038343"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The direct question</a:t>
              </a:r>
            </a:p>
          </p:txBody>
        </p:sp>
        <p:sp>
          <p:nvSpPr>
            <p:cNvPr id="19" name="TextBox 19"/>
            <p:cNvSpPr txBox="1"/>
            <p:nvPr/>
          </p:nvSpPr>
          <p:spPr>
            <a:xfrm>
              <a:off x="8449056" y="3653790"/>
              <a:ext cx="3458718" cy="1971294"/>
            </a:xfrm>
            <a:prstGeom prst="rect">
              <a:avLst/>
            </a:prstGeom>
            <a:noFill/>
            <a:ln>
              <a:noFill/>
            </a:ln>
          </p:spPr>
          <p:txBody>
            <a:bodyPr wrap="square" lIns="0" tIns="0" rIns="0" bIns="0" anchor="t" anchorCtr="0"/>
            <a:lstStyle/>
            <a:p>
              <a:pPr algn="l">
                <a:lnSpc>
                  <a:spcPts val="2550"/>
                </a:lnSpc>
              </a:pPr>
              <a:r>
                <a:rPr lang="en-US" sz="1800" dirty="0">
                  <a:solidFill>
                    <a:schemeClr val="dk1"/>
                  </a:solidFill>
                  <a:latin typeface="+mn-lt"/>
                  <a:ea typeface="+mn-ea"/>
                  <a:cs typeface="+mn-cs"/>
                </a:rPr>
                <a:t>This paper takes that intuition seriously and asks directly: is the optimal attention for a task actually a mixture — rather than assuming the answer?</a:t>
              </a:r>
            </a:p>
          </p:txBody>
        </p:sp>
      </p:grpSp>
      <p:sp>
        <p:nvSpPr>
          <p:cNvPr id="21" name="cue_s03_c1_long_standing_intuition_attention_he" title="cue_s03_c1_long_standing_intuition_attention_he" descr="cue_s03_c1_long_standing_intuition_attention_he There is a long-standing intuition that each attention head can specialize, learning a different kind of relationship, much as convolutional kernels learn different features."/>
          <p:cNvSpPr/>
          <p:nvPr/>
        </p:nvSpPr>
        <p:spPr>
          <a:xfrm>
            <a:off x="686409" y="2438704"/>
            <a:ext cx="3628339"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ue_s03_c2_true_transformer_mixing_several_atte" title="cue_s03_c2_true_transformer_mixing_several_atte" descr="cue_s03_c2_true_transformer_mixing_several_atte If that is true, then a Transformer mixing several attention types could learn a richer set of relationships and outperform any single-attention model."/>
          <p:cNvSpPr/>
          <p:nvPr/>
        </p:nvSpPr>
        <p:spPr>
          <a:xfrm>
            <a:off x="4419600" y="2438704"/>
            <a:ext cx="3731971"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ue_s03_c3_takes_intuition_seriously_asks_direc" title="cue_s03_c3_takes_intuition_seriously_asks_direc" descr="cue_s03_c3_takes_intuition_seriously_asks_direc This paper takes that intuition seriously and asks directly whether the optimal attention for a task is actually a mixture of different attentions, rather than assuming the answer."/>
          <p:cNvSpPr/>
          <p:nvPr/>
        </p:nvSpPr>
        <p:spPr>
          <a:xfrm>
            <a:off x="8152790" y="2438704"/>
            <a:ext cx="3753916"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70560"/>
            <a:ext cx="2041672"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04 · CONTRIBUTIONS</a:t>
            </a:r>
          </a:p>
        </p:txBody>
      </p:sp>
      <p:sp>
        <p:nvSpPr>
          <p:cNvPr id="3" name="Rectangle 3"/>
          <p:cNvSpPr/>
          <p:nvPr/>
        </p:nvSpPr>
        <p:spPr>
          <a:xfrm>
            <a:off x="685800" y="914400"/>
            <a:ext cx="419100" cy="38100"/>
          </a:xfrm>
          <a:prstGeom prst="rect">
            <a:avLst/>
          </a:prstGeom>
          <a:solidFill>
            <a:schemeClr val="accent1"/>
          </a:solidFill>
          <a:ln>
            <a:noFill/>
          </a:ln>
        </p:spPr>
        <p:txBody>
          <a:bodyPr/>
          <a:p/>
        </p:txBody>
      </p:sp>
      <p:sp>
        <p:nvSpPr>
          <p:cNvPr id="4" name="TextBox 4"/>
          <p:cNvSpPr txBox="1"/>
          <p:nvPr/>
        </p:nvSpPr>
        <p:spPr>
          <a:xfrm>
            <a:off x="669036" y="1034415"/>
            <a:ext cx="4572402"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Three contributions</a:t>
            </a:r>
          </a:p>
        </p:txBody>
      </p:sp>
      <p:grpSp>
        <p:nvGrpSpPr>
          <p:cNvPr id="9" name="Group 9"/>
          <p:cNvGrpSpPr/>
          <p:nvPr/>
        </p:nvGrpSpPr>
        <p:grpSpPr>
          <a:xfrm>
            <a:off x="685800" y="1790700"/>
            <a:ext cx="7620000" cy="1050607"/>
            <a:chOff x="685800" y="1790700"/>
            <a:chExt cx="7620000" cy="1050607"/>
          </a:xfrm>
        </p:grpSpPr>
        <p:sp>
          <p:nvSpPr>
            <p:cNvPr id="5" name="Rectangle 5"/>
            <p:cNvSpPr/>
            <p:nvPr/>
          </p:nvSpPr>
          <p:spPr>
            <a:xfrm>
              <a:off x="685800" y="1790700"/>
              <a:ext cx="7620000" cy="819150"/>
            </a:xfrm>
            <a:prstGeom prst="roundRect">
              <a:avLst>
                <a:gd name="adj" fmla="val 16279"/>
              </a:avLst>
            </a:prstGeom>
            <a:solidFill>
              <a:schemeClr val="lt2"/>
            </a:solidFill>
            <a:ln w="9525">
              <a:solidFill>
                <a:schemeClr val="accent4"/>
              </a:solidFill>
            </a:ln>
          </p:spPr>
        </p:sp>
        <p:sp>
          <p:nvSpPr>
            <p:cNvPr id="6" name="TextBox 6"/>
            <p:cNvSpPr txBox="1"/>
            <p:nvPr/>
          </p:nvSpPr>
          <p:spPr>
            <a:xfrm>
              <a:off x="1047750" y="1936432"/>
              <a:ext cx="399605" cy="904875"/>
            </a:xfrm>
            <a:prstGeom prst="rect">
              <a:avLst/>
            </a:prstGeom>
            <a:noFill/>
            <a:ln>
              <a:noFill/>
            </a:ln>
          </p:spPr>
          <p:txBody>
            <a:bodyPr wrap="none" lIns="0" tIns="0" rIns="0" bIns="0" anchor="t" anchorCtr="0">
              <a:spAutoFit/>
            </a:bodyPr>
            <a:lstStyle/>
            <a:p>
              <a:pPr algn="l"/>
              <a:r>
                <a:rPr lang="en-US" sz="4650" b="1" dirty="0">
                  <a:solidFill>
                    <a:schemeClr val="accent1"/>
                  </a:solidFill>
                  <a:latin typeface="+mn-lt"/>
                  <a:ea typeface="+mn-ea"/>
                  <a:cs typeface="+mn-cs"/>
                </a:rPr>
                <a:t>3</a:t>
              </a:r>
            </a:p>
          </p:txBody>
        </p:sp>
        <p:sp>
          <p:nvSpPr>
            <p:cNvPr id="7" name="TextBox 7"/>
            <p:cNvSpPr txBox="1"/>
            <p:nvPr/>
          </p:nvSpPr>
          <p:spPr>
            <a:xfrm>
              <a:off x="1667256" y="1977390"/>
              <a:ext cx="171025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contributions</a:t>
              </a:r>
            </a:p>
          </p:txBody>
        </p:sp>
        <p:sp>
          <p:nvSpPr>
            <p:cNvPr id="8" name="TextBox 8"/>
            <p:cNvSpPr txBox="1"/>
            <p:nvPr/>
          </p:nvSpPr>
          <p:spPr>
            <a:xfrm>
              <a:off x="1669542" y="2273618"/>
              <a:ext cx="333689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This paper makes three, in sequence.</a:t>
              </a:r>
            </a:p>
          </p:txBody>
        </p:sp>
      </p:grpSp>
      <p:grpSp>
        <p:nvGrpSpPr>
          <p:cNvPr id="15" name="Group 15"/>
          <p:cNvGrpSpPr/>
          <p:nvPr/>
        </p:nvGrpSpPr>
        <p:grpSpPr>
          <a:xfrm>
            <a:off x="685800" y="2724150"/>
            <a:ext cx="7620000" cy="956501"/>
            <a:chOff x="685800" y="2724150"/>
            <a:chExt cx="7620000" cy="956501"/>
          </a:xfrm>
        </p:grpSpPr>
        <p:sp>
          <p:nvSpPr>
            <p:cNvPr id="10" name="Rectangle 10"/>
            <p:cNvSpPr/>
            <p:nvPr/>
          </p:nvSpPr>
          <p:spPr>
            <a:xfrm>
              <a:off x="685800" y="2724150"/>
              <a:ext cx="7620000" cy="895350"/>
            </a:xfrm>
            <a:prstGeom prst="roundRect">
              <a:avLst>
                <a:gd name="adj" fmla="val 14894"/>
              </a:avLst>
            </a:prstGeom>
            <a:solidFill>
              <a:schemeClr val="lt2"/>
            </a:solidFill>
            <a:ln w="9525">
              <a:solidFill>
                <a:schemeClr val="accent4"/>
              </a:solidFill>
            </a:ln>
          </p:spPr>
        </p:sp>
        <p:sp>
          <p:nvSpPr>
            <p:cNvPr id="11" name="TextBox 11"/>
            <p:cNvSpPr txBox="1"/>
            <p:nvPr/>
          </p:nvSpPr>
          <p:spPr>
            <a:xfrm>
              <a:off x="941832" y="2878455"/>
              <a:ext cx="184596"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①</a:t>
              </a:r>
            </a:p>
          </p:txBody>
        </p:sp>
        <p:sp>
          <p:nvSpPr>
            <p:cNvPr id="12" name="TextBox 12"/>
            <p:cNvSpPr txBox="1"/>
            <p:nvPr/>
          </p:nvSpPr>
          <p:spPr>
            <a:xfrm>
              <a:off x="1324356" y="2872740"/>
              <a:ext cx="446028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DARTFormer — a DARTS-style search</a:t>
              </a:r>
            </a:p>
          </p:txBody>
        </p:sp>
        <p:sp>
          <p:nvSpPr>
            <p:cNvPr id="13" name="TextBox 13"/>
            <p:cNvSpPr txBox="1"/>
            <p:nvPr/>
          </p:nvSpPr>
          <p:spPr>
            <a:xfrm>
              <a:off x="1326642" y="3207068"/>
              <a:ext cx="512608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Differentiable architecture search that efficiently finds</a:t>
              </a:r>
            </a:p>
          </p:txBody>
        </p:sp>
        <p:sp>
          <p:nvSpPr>
            <p:cNvPr id="14" name="TextBox 14"/>
            <p:cNvSpPr txBox="1"/>
            <p:nvPr/>
          </p:nvSpPr>
          <p:spPr>
            <a:xfrm>
              <a:off x="1326642" y="3416618"/>
              <a:ext cx="27397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best attention for a task.</a:t>
              </a:r>
            </a:p>
          </p:txBody>
        </p:sp>
      </p:grpSp>
      <p:grpSp>
        <p:nvGrpSpPr>
          <p:cNvPr id="22" name="Group 22"/>
          <p:cNvGrpSpPr/>
          <p:nvPr/>
        </p:nvGrpSpPr>
        <p:grpSpPr>
          <a:xfrm>
            <a:off x="685800" y="3733800"/>
            <a:ext cx="7620000" cy="1166051"/>
            <a:chOff x="685800" y="3733800"/>
            <a:chExt cx="7620000" cy="1166051"/>
          </a:xfrm>
        </p:grpSpPr>
        <p:sp>
          <p:nvSpPr>
            <p:cNvPr id="16" name="Rectangle 16"/>
            <p:cNvSpPr/>
            <p:nvPr/>
          </p:nvSpPr>
          <p:spPr>
            <a:xfrm>
              <a:off x="685800" y="3733800"/>
              <a:ext cx="7620000" cy="1123950"/>
            </a:xfrm>
            <a:prstGeom prst="roundRect">
              <a:avLst>
                <a:gd name="adj" fmla="val 11864"/>
              </a:avLst>
            </a:prstGeom>
            <a:solidFill>
              <a:schemeClr val="lt2"/>
            </a:solidFill>
            <a:ln w="9525">
              <a:solidFill>
                <a:schemeClr val="accent4"/>
              </a:solidFill>
            </a:ln>
          </p:spPr>
        </p:sp>
        <p:sp>
          <p:nvSpPr>
            <p:cNvPr id="17" name="TextBox 17"/>
            <p:cNvSpPr txBox="1"/>
            <p:nvPr/>
          </p:nvSpPr>
          <p:spPr>
            <a:xfrm>
              <a:off x="941832" y="3888105"/>
              <a:ext cx="184596"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②</a:t>
              </a:r>
            </a:p>
          </p:txBody>
        </p:sp>
        <p:sp>
          <p:nvSpPr>
            <p:cNvPr id="18" name="TextBox 18"/>
            <p:cNvSpPr txBox="1"/>
            <p:nvPr/>
          </p:nvSpPr>
          <p:spPr>
            <a:xfrm>
              <a:off x="1324356" y="3882390"/>
              <a:ext cx="536539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Extends it to heterogeneous Transformers</a:t>
              </a:r>
            </a:p>
          </p:txBody>
        </p:sp>
        <p:sp>
          <p:nvSpPr>
            <p:cNvPr id="19" name="TextBox 19"/>
            <p:cNvSpPr txBox="1"/>
            <p:nvPr/>
          </p:nvSpPr>
          <p:spPr>
            <a:xfrm>
              <a:off x="1326642" y="4216718"/>
              <a:ext cx="524469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Build &amp; search multi-attention models that combine several</a:t>
              </a:r>
            </a:p>
          </p:txBody>
        </p:sp>
        <p:sp>
          <p:nvSpPr>
            <p:cNvPr id="20" name="TextBox 20"/>
            <p:cNvSpPr txBox="1"/>
            <p:nvPr/>
          </p:nvSpPr>
          <p:spPr>
            <a:xfrm>
              <a:off x="1326642" y="4426268"/>
              <a:ext cx="549964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attention types — via NAS Prune (expensive iterative pruning)</a:t>
              </a:r>
            </a:p>
          </p:txBody>
        </p:sp>
        <p:sp>
          <p:nvSpPr>
            <p:cNvPr id="21" name="TextBox 21"/>
            <p:cNvSpPr txBox="1"/>
            <p:nvPr/>
          </p:nvSpPr>
          <p:spPr>
            <a:xfrm>
              <a:off x="1326642" y="4635818"/>
              <a:ext cx="345800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NAS One-shot (cheap single pass).</a:t>
              </a:r>
            </a:p>
          </p:txBody>
        </p:sp>
      </p:grpSp>
      <p:grpSp>
        <p:nvGrpSpPr>
          <p:cNvPr id="30" name="Group 30"/>
          <p:cNvGrpSpPr/>
          <p:nvPr/>
        </p:nvGrpSpPr>
        <p:grpSpPr>
          <a:xfrm>
            <a:off x="685800" y="4972050"/>
            <a:ext cx="7620000" cy="1166051"/>
            <a:chOff x="685800" y="4972050"/>
            <a:chExt cx="7620000" cy="1166051"/>
          </a:xfrm>
        </p:grpSpPr>
        <p:sp>
          <p:nvSpPr>
            <p:cNvPr id="23" name="Rectangle 23"/>
            <p:cNvSpPr/>
            <p:nvPr/>
          </p:nvSpPr>
          <p:spPr>
            <a:xfrm>
              <a:off x="685800" y="4972050"/>
              <a:ext cx="7620000" cy="1123950"/>
            </a:xfrm>
            <a:prstGeom prst="roundRect">
              <a:avLst>
                <a:gd name="adj" fmla="val 11864"/>
              </a:avLst>
            </a:prstGeom>
            <a:solidFill>
              <a:schemeClr val="lt2"/>
            </a:solidFill>
            <a:ln w="14288">
              <a:solidFill>
                <a:schemeClr val="accent2"/>
              </a:solidFill>
            </a:ln>
          </p:spPr>
        </p:sp>
        <p:sp>
          <p:nvSpPr>
            <p:cNvPr id="24" name="Rectangle 24"/>
            <p:cNvSpPr/>
            <p:nvPr/>
          </p:nvSpPr>
          <p:spPr>
            <a:xfrm>
              <a:off x="685800" y="4972050"/>
              <a:ext cx="57150" cy="1123950"/>
            </a:xfrm>
            <a:prstGeom prst="roundRect">
              <a:avLst>
                <a:gd name="adj" fmla="val 50000"/>
              </a:avLst>
            </a:prstGeom>
            <a:solidFill>
              <a:schemeClr val="accent2"/>
            </a:solidFill>
            <a:ln>
              <a:noFill/>
            </a:ln>
          </p:spPr>
        </p:sp>
        <p:sp>
          <p:nvSpPr>
            <p:cNvPr id="25" name="TextBox 25"/>
            <p:cNvSpPr txBox="1"/>
            <p:nvPr/>
          </p:nvSpPr>
          <p:spPr>
            <a:xfrm>
              <a:off x="941832" y="5126355"/>
              <a:ext cx="184596"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③</a:t>
              </a:r>
            </a:p>
          </p:txBody>
        </p:sp>
        <p:sp>
          <p:nvSpPr>
            <p:cNvPr id="26" name="TextBox 26"/>
            <p:cNvSpPr txBox="1"/>
            <p:nvPr/>
          </p:nvSpPr>
          <p:spPr>
            <a:xfrm>
              <a:off x="1324356" y="5120640"/>
              <a:ext cx="4593956"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Most importantly — a negative result</a:t>
              </a:r>
            </a:p>
          </p:txBody>
        </p:sp>
        <p:sp>
          <p:nvSpPr>
            <p:cNvPr id="27" name="TextBox 27"/>
            <p:cNvSpPr txBox="1"/>
            <p:nvPr/>
          </p:nvSpPr>
          <p:spPr>
            <a:xfrm>
              <a:off x="1326642" y="5454968"/>
              <a:ext cx="54592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Empirically, these heterogeneous Transformers CANNOT beat</a:t>
              </a:r>
            </a:p>
          </p:txBody>
        </p:sp>
        <p:sp>
          <p:nvSpPr>
            <p:cNvPr id="28" name="TextBox 28"/>
            <p:cNvSpPr txBox="1"/>
            <p:nvPr/>
          </p:nvSpPr>
          <p:spPr>
            <a:xfrm>
              <a:off x="1326642" y="5664518"/>
              <a:ext cx="51456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best homogeneous Transformer on the long-range NLP</a:t>
              </a:r>
            </a:p>
          </p:txBody>
        </p:sp>
        <p:sp>
          <p:nvSpPr>
            <p:cNvPr id="29" name="TextBox 29"/>
            <p:cNvSpPr txBox="1"/>
            <p:nvPr/>
          </p:nvSpPr>
          <p:spPr>
            <a:xfrm>
              <a:off x="1326642" y="5874068"/>
              <a:ext cx="132222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tasks studied.</a:t>
              </a:r>
            </a:p>
          </p:txBody>
        </p:sp>
      </p:grpSp>
      <p:grpSp>
        <p:nvGrpSpPr>
          <p:cNvPr id="33" name="Group 33"/>
          <p:cNvGrpSpPr/>
          <p:nvPr/>
        </p:nvGrpSpPr>
        <p:grpSpPr>
          <a:xfrm>
            <a:off x="8804910" y="1790700"/>
            <a:ext cx="3153085" cy="4327684"/>
            <a:chOff x="8804910" y="1790700"/>
            <a:chExt cx="3153085" cy="4327684"/>
          </a:xfrm>
        </p:grpSpPr>
        <p:pic>
          <p:nvPicPr>
            <p:cNvPr id="31" name="Image 31"/>
            <p:cNvPicPr>
              <a:picLocks noChangeAspect="1"/>
            </p:cNvPicPr>
            <p:nvPr/>
          </p:nvPicPr>
          <p:blipFill>
            <a:blip r:embed="rId2"/>
            <a:stretch>
              <a:fillRect/>
            </a:stretch>
          </p:blipFill>
          <p:spPr>
            <a:xfrm>
              <a:off x="8810625" y="1790700"/>
              <a:ext cx="2381250" cy="4029075"/>
            </a:xfrm>
            <a:prstGeom prst="rect">
              <a:avLst/>
            </a:prstGeom>
          </p:spPr>
        </p:pic>
        <p:sp>
          <p:nvSpPr>
            <p:cNvPr id="32" name="TextBox 32"/>
            <p:cNvSpPr txBox="1"/>
            <p:nvPr/>
          </p:nvSpPr>
          <p:spPr>
            <a:xfrm>
              <a:off x="8804910" y="5898356"/>
              <a:ext cx="315308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Fig. 4 — multi-head attention search space</a:t>
              </a:r>
            </a:p>
          </p:txBody>
        </p:sp>
      </p:grpSp>
      <p:sp>
        <p:nvSpPr>
          <p:cNvPr id="34" name="cue_s04_c1_makes_three_contributions" title="cue_s04_c1_makes_three_contributions" descr="cue_s04_c1_makes_three_contributions The paper makes three contributions."/>
          <p:cNvSpPr/>
          <p:nvPr/>
        </p:nvSpPr>
        <p:spPr>
          <a:xfrm>
            <a:off x="686409" y="1790623"/>
            <a:ext cx="7620000"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2_first_proposes_dartformer_differenti" title="cue_s04_c2_first_proposes_dartformer_differenti" descr="cue_s04_c2_first_proposes_dartformer_differenti First, it proposes DARTFormer, a differentiable-architecture-search-style method that efficiently finds the best attention for a task."/>
          <p:cNvSpPr/>
          <p:nvPr/>
        </p:nvSpPr>
        <p:spPr>
          <a:xfrm>
            <a:off x="686409" y="2723997"/>
            <a:ext cx="7620000" cy="895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3_second_extends_framework_build_searc" title="cue_s04_c3_second_extends_framework_build_searc" descr="cue_s04_c3_second_extends_framework_build_searc Second, it extends that framework to build and search for heterogeneous Transformers that combine multiple attention types, using two procedures: an expensive iterative pruning method they call NAS Prune, and a cheap single-pass method called NAS One-shot."/>
          <p:cNvSpPr/>
          <p:nvPr/>
        </p:nvSpPr>
        <p:spPr>
          <a:xfrm>
            <a:off x="686409" y="3733495"/>
            <a:ext cx="7620000" cy="116586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4_third_most_importantly_shows_empiric" title="cue_s04_c4_third_most_importantly_shows_empiric" descr="cue_s04_c4_third_most_importantly_shows_empiric Third, and most importantly, it shows empirically that these heterogeneous Transformers cannot outperform the best homogeneous Transformer on the long-range NLP tasks studied."/>
          <p:cNvSpPr/>
          <p:nvPr/>
        </p:nvSpPr>
        <p:spPr>
          <a:xfrm>
            <a:off x="686409" y="4972050"/>
            <a:ext cx="7620000" cy="116586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556260"/>
            <a:ext cx="1291925"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05 · METHOD</a:t>
            </a:r>
          </a:p>
        </p:txBody>
      </p:sp>
      <p:sp>
        <p:nvSpPr>
          <p:cNvPr id="3" name="Rectangle 3"/>
          <p:cNvSpPr/>
          <p:nvPr/>
        </p:nvSpPr>
        <p:spPr>
          <a:xfrm>
            <a:off x="685800" y="781050"/>
            <a:ext cx="419100" cy="38100"/>
          </a:xfrm>
          <a:prstGeom prst="rect">
            <a:avLst/>
          </a:prstGeom>
          <a:solidFill>
            <a:schemeClr val="accent1"/>
          </a:solidFill>
          <a:ln>
            <a:noFill/>
          </a:ln>
        </p:spPr>
        <p:txBody>
          <a:bodyPr/>
          <a:p/>
        </p:txBody>
      </p:sp>
      <p:sp>
        <p:nvSpPr>
          <p:cNvPr id="4" name="TextBox 4"/>
          <p:cNvSpPr txBox="1"/>
          <p:nvPr/>
        </p:nvSpPr>
        <p:spPr>
          <a:xfrm>
            <a:off x="669036" y="786765"/>
            <a:ext cx="914555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 xml:space="preserve">Supernetwork + </a:t>
            </a:r>
            <a:r>
              <a:rPr lang="en-US" sz="3300" b="1" dirty="0">
                <a:solidFill>
                  <a:schemeClr val="accent1"/>
                </a:solidFill>
                <a:latin typeface="+mn-lt"/>
                <a:ea typeface="+mn-ea"/>
                <a:cs typeface="+mn-cs"/>
              </a:rPr>
              <a:t>masked-validation-drop</a:t>
            </a:r>
          </a:p>
        </p:txBody>
      </p:sp>
      <p:grpSp>
        <p:nvGrpSpPr>
          <p:cNvPr id="8" name="Group 8"/>
          <p:cNvGrpSpPr/>
          <p:nvPr/>
        </p:nvGrpSpPr>
        <p:grpSpPr>
          <a:xfrm>
            <a:off x="2421290" y="1257300"/>
            <a:ext cx="7349420" cy="3362706"/>
            <a:chOff x="2421290" y="1257300"/>
            <a:chExt cx="7349420" cy="3362706"/>
          </a:xfrm>
        </p:grpSpPr>
        <p:sp>
          <p:nvSpPr>
            <p:cNvPr id="5" name="Rectangle 5"/>
            <p:cNvSpPr/>
            <p:nvPr/>
          </p:nvSpPr>
          <p:spPr>
            <a:xfrm>
              <a:off x="2571750" y="1257300"/>
              <a:ext cx="7048500" cy="3067050"/>
            </a:xfrm>
            <a:prstGeom prst="roundRect">
              <a:avLst>
                <a:gd name="adj" fmla="val 4348"/>
              </a:avLst>
            </a:prstGeom>
            <a:solidFill>
              <a:schemeClr val="lt1"/>
            </a:solidFill>
            <a:ln w="9525">
              <a:solidFill>
                <a:schemeClr val="accent4"/>
              </a:solidFill>
            </a:ln>
          </p:spPr>
        </p:sp>
        <p:pic>
          <p:nvPicPr>
            <p:cNvPr id="6" name="Image 6"/>
            <p:cNvPicPr>
              <a:picLocks noChangeAspect="1"/>
            </p:cNvPicPr>
            <p:nvPr/>
          </p:nvPicPr>
          <p:blipFill>
            <a:blip r:embed="rId2"/>
            <a:stretch>
              <a:fillRect/>
            </a:stretch>
          </p:blipFill>
          <p:spPr>
            <a:xfrm>
              <a:off x="2762250" y="1323975"/>
              <a:ext cx="6667500" cy="2933700"/>
            </a:xfrm>
            <a:prstGeom prst="rect">
              <a:avLst/>
            </a:prstGeom>
          </p:spPr>
        </p:pic>
        <p:sp>
          <p:nvSpPr>
            <p:cNvPr id="7" name="TextBox 7"/>
            <p:cNvSpPr txBox="1"/>
            <p:nvPr/>
          </p:nvSpPr>
          <p:spPr>
            <a:xfrm>
              <a:off x="2421290" y="4385310"/>
              <a:ext cx="7349420"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Single-layer supernetwork: one candidate block per efficient attention, in parallel (Fig. 1).</a:t>
              </a:r>
            </a:p>
          </p:txBody>
        </p:sp>
      </p:grpSp>
      <p:grpSp>
        <p:nvGrpSpPr>
          <p:cNvPr id="13" name="Group 13"/>
          <p:cNvGrpSpPr/>
          <p:nvPr/>
        </p:nvGrpSpPr>
        <p:grpSpPr>
          <a:xfrm>
            <a:off x="685800" y="4667250"/>
            <a:ext cx="3448050" cy="1619250"/>
            <a:chOff x="685800" y="4667250"/>
            <a:chExt cx="3448050" cy="1619250"/>
          </a:xfrm>
        </p:grpSpPr>
        <p:sp>
          <p:nvSpPr>
            <p:cNvPr id="9" name="Rectangle 9"/>
            <p:cNvSpPr/>
            <p:nvPr/>
          </p:nvSpPr>
          <p:spPr>
            <a:xfrm>
              <a:off x="685800" y="4667250"/>
              <a:ext cx="3448050" cy="1619250"/>
            </a:xfrm>
            <a:prstGeom prst="roundRect">
              <a:avLst>
                <a:gd name="adj" fmla="val 8235"/>
              </a:avLst>
            </a:prstGeom>
            <a:solidFill>
              <a:schemeClr val="lt2"/>
            </a:solidFill>
            <a:ln w="9525">
              <a:solidFill>
                <a:schemeClr val="accent4"/>
              </a:solidFill>
            </a:ln>
          </p:spPr>
        </p:sp>
        <p:sp>
          <p:nvSpPr>
            <p:cNvPr id="10" name="TextBox 10"/>
            <p:cNvSpPr txBox="1"/>
            <p:nvPr/>
          </p:nvSpPr>
          <p:spPr>
            <a:xfrm>
              <a:off x="888873" y="4796314"/>
              <a:ext cx="157481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Fixed-α averaging</a:t>
              </a:r>
            </a:p>
          </p:txBody>
        </p:sp>
        <p:pic>
          <p:nvPicPr>
            <p:cNvPr id="11" name="Image 11"/>
            <p:cNvPicPr>
              <a:picLocks noChangeAspect="1"/>
            </p:cNvPicPr>
            <p:nvPr/>
          </p:nvPicPr>
          <p:blipFill>
            <a:blip r:embed="rId3"/>
            <a:stretch>
              <a:fillRect/>
            </a:stretch>
          </p:blipFill>
          <p:spPr>
            <a:xfrm>
              <a:off x="898614" y="5010150"/>
              <a:ext cx="945972" cy="514350"/>
            </a:xfrm>
            <a:prstGeom prst="rect">
              <a:avLst/>
            </a:prstGeom>
          </p:spPr>
        </p:pic>
        <p:sp>
          <p:nvSpPr>
            <p:cNvPr id="12" name="TextBox 12"/>
            <p:cNvSpPr txBox="1"/>
            <p:nvPr/>
          </p:nvSpPr>
          <p:spPr>
            <a:xfrm>
              <a:off x="890206" y="5605701"/>
              <a:ext cx="2633408" cy="655225"/>
            </a:xfrm>
            <a:prstGeom prst="rect">
              <a:avLst/>
            </a:prstGeom>
            <a:noFill/>
            <a:ln>
              <a:noFill/>
            </a:ln>
          </p:spPr>
          <p:txBody>
            <a:bodyPr wrap="square" lIns="0" tIns="0" rIns="0" bIns="0" anchor="t" anchorCtr="0"/>
            <a:lstStyle/>
            <a:p>
              <a:pPr algn="l">
                <a:lnSpc>
                  <a:spcPts val="1200"/>
                </a:lnSpc>
              </a:pPr>
              <a:r>
                <a:rPr lang="en-US" sz="1010" dirty="0">
                  <a:solidFill>
                    <a:schemeClr val="dk1"/>
                  </a:solidFill>
                  <a:latin typeface="+mn-lt"/>
                  <a:ea typeface="+mn-ea"/>
                  <a:cs typeface="+mn-cs"/>
                </a:rPr>
                <a:t>Simply AVERAGE candidate outputs, no learned softmax edge weights, no bi-level optimization → supernetwork trains straight to convergence.</a:t>
              </a:r>
            </a:p>
          </p:txBody>
        </p:sp>
      </p:grpSp>
      <p:grpSp>
        <p:nvGrpSpPr>
          <p:cNvPr id="18" name="Group 18"/>
          <p:cNvGrpSpPr/>
          <p:nvPr/>
        </p:nvGrpSpPr>
        <p:grpSpPr>
          <a:xfrm>
            <a:off x="4362450" y="4667250"/>
            <a:ext cx="3448050" cy="1619250"/>
            <a:chOff x="4362450" y="4667250"/>
            <a:chExt cx="3448050" cy="1619250"/>
          </a:xfrm>
        </p:grpSpPr>
        <p:sp>
          <p:nvSpPr>
            <p:cNvPr id="14" name="Rectangle 14"/>
            <p:cNvSpPr/>
            <p:nvPr/>
          </p:nvSpPr>
          <p:spPr>
            <a:xfrm>
              <a:off x="4362450" y="4667250"/>
              <a:ext cx="3448050" cy="1619250"/>
            </a:xfrm>
            <a:prstGeom prst="roundRect">
              <a:avLst>
                <a:gd name="adj" fmla="val 8235"/>
              </a:avLst>
            </a:prstGeom>
            <a:solidFill>
              <a:schemeClr val="lt2"/>
            </a:solidFill>
            <a:ln w="9525">
              <a:solidFill>
                <a:schemeClr val="accent4"/>
              </a:solidFill>
            </a:ln>
          </p:spPr>
        </p:sp>
        <p:sp>
          <p:nvSpPr>
            <p:cNvPr id="15" name="TextBox 15"/>
            <p:cNvSpPr txBox="1"/>
            <p:nvPr/>
          </p:nvSpPr>
          <p:spPr>
            <a:xfrm>
              <a:off x="4565523" y="4796314"/>
              <a:ext cx="170194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Masked-drop score</a:t>
              </a:r>
            </a:p>
          </p:txBody>
        </p:sp>
        <p:pic>
          <p:nvPicPr>
            <p:cNvPr id="16" name="Image 16"/>
            <p:cNvPicPr>
              <a:picLocks noChangeAspect="1"/>
            </p:cNvPicPr>
            <p:nvPr/>
          </p:nvPicPr>
          <p:blipFill>
            <a:blip r:embed="rId4"/>
            <a:stretch>
              <a:fillRect/>
            </a:stretch>
          </p:blipFill>
          <p:spPr>
            <a:xfrm>
              <a:off x="4572000" y="5029200"/>
              <a:ext cx="3028950" cy="447675"/>
            </a:xfrm>
            <a:prstGeom prst="rect">
              <a:avLst/>
            </a:prstGeom>
          </p:spPr>
        </p:pic>
        <p:sp>
          <p:nvSpPr>
            <p:cNvPr id="17" name="TextBox 17"/>
            <p:cNvSpPr txBox="1"/>
            <p:nvPr/>
          </p:nvSpPr>
          <p:spPr>
            <a:xfrm>
              <a:off x="4566856" y="5605701"/>
              <a:ext cx="2633408" cy="655225"/>
            </a:xfrm>
            <a:prstGeom prst="rect">
              <a:avLst/>
            </a:prstGeom>
            <a:noFill/>
            <a:ln>
              <a:noFill/>
            </a:ln>
          </p:spPr>
          <p:txBody>
            <a:bodyPr wrap="square" lIns="0" tIns="0" rIns="0" bIns="0" anchor="t" anchorCtr="0"/>
            <a:lstStyle/>
            <a:p>
              <a:pPr algn="l">
                <a:lnSpc>
                  <a:spcPts val="1200"/>
                </a:lnSpc>
              </a:pPr>
              <a:r>
                <a:rPr lang="en-US" sz="1010" dirty="0">
                  <a:solidFill>
                    <a:schemeClr val="dk1"/>
                  </a:solidFill>
                  <a:latin typeface="+mn-lt"/>
                  <a:ea typeface="+mn-ea"/>
                  <a:cs typeface="+mn-cs"/>
                </a:rPr>
                <a:t>Score = masked validation-accuracy drop: mask a block, measure how far val- accuracy falls; the biggest drop = the best attention.</a:t>
              </a:r>
            </a:p>
          </p:txBody>
        </p:sp>
      </p:grpSp>
      <p:grpSp>
        <p:nvGrpSpPr>
          <p:cNvPr id="22" name="Group 22"/>
          <p:cNvGrpSpPr/>
          <p:nvPr/>
        </p:nvGrpSpPr>
        <p:grpSpPr>
          <a:xfrm>
            <a:off x="8039100" y="4667250"/>
            <a:ext cx="3448050" cy="1619250"/>
            <a:chOff x="8039100" y="4667250"/>
            <a:chExt cx="3448050" cy="1619250"/>
          </a:xfrm>
        </p:grpSpPr>
        <p:sp>
          <p:nvSpPr>
            <p:cNvPr id="19" name="Rectangle 19"/>
            <p:cNvSpPr/>
            <p:nvPr/>
          </p:nvSpPr>
          <p:spPr>
            <a:xfrm>
              <a:off x="8039100" y="4667250"/>
              <a:ext cx="3448050" cy="1619250"/>
            </a:xfrm>
            <a:prstGeom prst="roundRect">
              <a:avLst>
                <a:gd name="adj" fmla="val 8235"/>
              </a:avLst>
            </a:prstGeom>
            <a:solidFill>
              <a:schemeClr val="lt2"/>
            </a:solidFill>
            <a:ln w="9525">
              <a:solidFill>
                <a:schemeClr val="accent4"/>
              </a:solidFill>
            </a:ln>
          </p:spPr>
        </p:sp>
        <p:sp>
          <p:nvSpPr>
            <p:cNvPr id="20" name="TextBox 20"/>
            <p:cNvSpPr txBox="1"/>
            <p:nvPr/>
          </p:nvSpPr>
          <p:spPr>
            <a:xfrm>
              <a:off x="8242173" y="4796314"/>
              <a:ext cx="132131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Build the model</a:t>
              </a:r>
            </a:p>
          </p:txBody>
        </p:sp>
        <p:sp>
          <p:nvSpPr>
            <p:cNvPr id="21" name="TextBox 21"/>
            <p:cNvSpPr txBox="1"/>
            <p:nvPr/>
          </p:nvSpPr>
          <p:spPr>
            <a:xfrm>
              <a:off x="8243506" y="5148501"/>
              <a:ext cx="2601341" cy="874300"/>
            </a:xfrm>
            <a:prstGeom prst="rect">
              <a:avLst/>
            </a:prstGeom>
            <a:noFill/>
            <a:ln>
              <a:noFill/>
            </a:ln>
          </p:spPr>
          <p:txBody>
            <a:bodyPr wrap="square" lIns="0" tIns="0" rIns="0" bIns="0" anchor="t" anchorCtr="0"/>
            <a:lstStyle/>
            <a:p>
              <a:pPr algn="l">
                <a:lnSpc>
                  <a:spcPts val="1275"/>
                </a:lnSpc>
              </a:pPr>
              <a:r>
                <a:rPr lang="en-US" sz="1010" b="1" dirty="0">
                  <a:solidFill>
                    <a:schemeClr val="accent3"/>
                  </a:solidFill>
                  <a:latin typeface="+mn-lt"/>
                  <a:ea typeface="+mn-ea"/>
                  <a:cs typeface="+mn-cs"/>
                </a:rPr>
                <a:t>Homogeneous →</a:t>
              </a:r>
              <a:r>
                <a:rPr lang="en-US" sz="1010" dirty="0">
                  <a:solidFill>
                    <a:schemeClr val="dk1"/>
                  </a:solidFill>
                  <a:latin typeface="+mn-lt"/>
                  <a:ea typeface="+mn-ea"/>
                  <a:cs typeface="+mn-cs"/>
                </a:rPr>
                <a:t xml:space="preserve"> take the top-scoring block.</a:t>
              </a:r>
            </a:p>
            <a:p>
              <a:pPr algn="l">
                <a:lnSpc>
                  <a:spcPts val="1275"/>
                </a:lnSpc>
                <a:spcBef>
                  <a:spcPts val="225"/>
                </a:spcBef>
              </a:pPr>
              <a:r>
                <a:rPr lang="en-US" sz="1010" b="1" dirty="0">
                  <a:solidFill>
                    <a:schemeClr val="accent1"/>
                  </a:solidFill>
                  <a:latin typeface="+mn-lt"/>
                  <a:ea typeface="+mn-ea"/>
                  <a:cs typeface="+mn-cs"/>
                </a:rPr>
                <a:t>Heterogeneous →</a:t>
              </a:r>
              <a:r>
                <a:rPr lang="en-US" sz="1010" dirty="0">
                  <a:solidFill>
                    <a:schemeClr val="dk1"/>
                  </a:solidFill>
                  <a:latin typeface="+mn-lt"/>
                  <a:ea typeface="+mn-ea"/>
                  <a:cs typeface="+mn-cs"/>
                </a:rPr>
                <a:t xml:space="preserve"> prune worst-first with fine-tuning, or take the top-4 and stack into a full Transformer.</a:t>
              </a:r>
            </a:p>
          </p:txBody>
        </p:sp>
      </p:grpSp>
      <p:sp>
        <p:nvSpPr>
          <p:cNvPr id="23" name="cue_s05_c1_dartformer_builds_single_layer_super" title="cue_s05_c1_dartformer_builds_single_layer_super" descr="cue_s05_c1_dartformer_builds_single_layer_super DARTFormer builds a single-layer supernetwork that holds one candidate block for every efficient attention type in parallel."/>
          <p:cNvSpPr/>
          <p:nvPr/>
        </p:nvSpPr>
        <p:spPr>
          <a:xfrm>
            <a:off x="2421331" y="1257071"/>
            <a:ext cx="7349337" cy="336247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ue_s05_c2_borrowing_fixed_alpha_trick_differen" title="cue_s05_c2_borrowing_fixed_alpha_trick_differen" descr="cue_s05_c2_borrowing_fixed_alpha_trick_differen Borrowing the fixed-alpha trick from differentiable architecture search, it does not learn softmax edge weights and skips bi-level optimization; instead it simply averages the candidate block outputs, which lets the supernetwork train all the way to convergenc"/>
          <p:cNvSpPr/>
          <p:nvPr/>
        </p:nvSpPr>
        <p:spPr>
          <a:xfrm>
            <a:off x="686409" y="4667554"/>
            <a:ext cx="3447897"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ue_s05_c3_rank_attentions_masked_validation_ac" title="cue_s05_c3_rank_attentions_masked_validation_ac" descr="cue_s05_c3_rank_attentions_masked_validation_ac To rank the attentions, it uses a masked validation accuracy drop metric: mask out one block, measure how far validation accuracy falls, and the block whose removal hurts the most is judged the best."/>
          <p:cNvSpPr/>
          <p:nvPr/>
        </p:nvSpPr>
        <p:spPr>
          <a:xfrm>
            <a:off x="4362297" y="4667554"/>
            <a:ext cx="3447897"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05_c4_homogeneous_models_top_scoring_block" title="cue_s05_c4_homogeneous_models_top_scoring_block" descr="cue_s05_c4_homogeneous_models_top_scoring_block For homogeneous models the top-scoring block is chosen; for heterogeneous ones, blocks are either pruned worst-first with fine-tuning, or the top four are taken directly and stacked into a full Transformer."/>
          <p:cNvSpPr/>
          <p:nvPr/>
        </p:nvSpPr>
        <p:spPr>
          <a:xfrm>
            <a:off x="8039404" y="4667554"/>
            <a:ext cx="3447897"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51510"/>
            <a:ext cx="2644628"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06 · DATA &amp; SEARCH SPACE</a:t>
            </a:r>
          </a:p>
        </p:txBody>
      </p:sp>
      <p:sp>
        <p:nvSpPr>
          <p:cNvPr id="3" name="Rectangle 3"/>
          <p:cNvSpPr/>
          <p:nvPr/>
        </p:nvSpPr>
        <p:spPr>
          <a:xfrm>
            <a:off x="685800" y="895350"/>
            <a:ext cx="419100" cy="38100"/>
          </a:xfrm>
          <a:prstGeom prst="rect">
            <a:avLst/>
          </a:prstGeom>
          <a:solidFill>
            <a:schemeClr val="accent1"/>
          </a:solidFill>
          <a:ln>
            <a:noFill/>
          </a:ln>
        </p:spPr>
        <p:txBody>
          <a:bodyPr/>
          <a:p/>
        </p:txBody>
      </p:sp>
      <p:sp>
        <p:nvSpPr>
          <p:cNvPr id="4" name="TextBox 4"/>
          <p:cNvSpPr txBox="1"/>
          <p:nvPr/>
        </p:nvSpPr>
        <p:spPr>
          <a:xfrm>
            <a:off x="669036" y="977265"/>
            <a:ext cx="10078517"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 xml:space="preserve">Three </a:t>
            </a:r>
            <a:r>
              <a:rPr lang="en-US" sz="3300" b="1" dirty="0">
                <a:solidFill>
                  <a:schemeClr val="accent1"/>
                </a:solidFill>
                <a:latin typeface="+mn-lt"/>
                <a:ea typeface="+mn-ea"/>
                <a:cs typeface="+mn-cs"/>
              </a:rPr>
              <a:t>LRA tasks</a:t>
            </a:r>
            <a:r>
              <a:rPr lang="en-US" sz="3300" b="1" dirty="0">
                <a:solidFill>
                  <a:schemeClr val="dk1"/>
                </a:solidFill>
                <a:latin typeface="+mn-lt"/>
                <a:ea typeface="+mn-ea"/>
                <a:cs typeface="+mn-cs"/>
              </a:rPr>
              <a:t xml:space="preserve"> · nine candidate attentions</a:t>
            </a:r>
          </a:p>
        </p:txBody>
      </p:sp>
      <p:grpSp>
        <p:nvGrpSpPr>
          <p:cNvPr id="9" name="Group 9"/>
          <p:cNvGrpSpPr/>
          <p:nvPr/>
        </p:nvGrpSpPr>
        <p:grpSpPr>
          <a:xfrm>
            <a:off x="685800" y="1543050"/>
            <a:ext cx="10820400" cy="748284"/>
            <a:chOff x="685800" y="1543050"/>
            <a:chExt cx="10820400" cy="748284"/>
          </a:xfrm>
        </p:grpSpPr>
        <p:sp>
          <p:nvSpPr>
            <p:cNvPr id="5" name="Rectangle 5"/>
            <p:cNvSpPr/>
            <p:nvPr/>
          </p:nvSpPr>
          <p:spPr>
            <a:xfrm>
              <a:off x="685800" y="1543050"/>
              <a:ext cx="10820400" cy="742950"/>
            </a:xfrm>
            <a:prstGeom prst="roundRect">
              <a:avLst>
                <a:gd name="adj" fmla="val 17949"/>
              </a:avLst>
            </a:prstGeom>
            <a:solidFill>
              <a:schemeClr val="lt2"/>
            </a:solidFill>
            <a:ln w="9525">
              <a:solidFill>
                <a:schemeClr val="accent4"/>
              </a:solidFill>
            </a:ln>
          </p:spPr>
        </p:sp>
        <p:sp>
          <p:nvSpPr>
            <p:cNvPr id="6" name="Rectangle 6"/>
            <p:cNvSpPr/>
            <p:nvPr/>
          </p:nvSpPr>
          <p:spPr>
            <a:xfrm>
              <a:off x="685800" y="1543050"/>
              <a:ext cx="57150" cy="742950"/>
            </a:xfrm>
            <a:prstGeom prst="roundRect">
              <a:avLst>
                <a:gd name="adj" fmla="val 50000"/>
              </a:avLst>
            </a:prstGeom>
            <a:solidFill>
              <a:schemeClr val="accent1"/>
            </a:solidFill>
            <a:ln>
              <a:noFill/>
            </a:ln>
          </p:spPr>
        </p:sp>
        <p:sp>
          <p:nvSpPr>
            <p:cNvPr id="7" name="TextBox 7"/>
            <p:cNvSpPr txBox="1"/>
            <p:nvPr/>
          </p:nvSpPr>
          <p:spPr>
            <a:xfrm>
              <a:off x="981456" y="1672590"/>
              <a:ext cx="958102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 xml:space="preserve">All experiments use </a:t>
              </a:r>
              <a:r>
                <a:rPr lang="en-US" sz="1800" b="1" dirty="0">
                  <a:solidFill>
                    <a:schemeClr val="dk1"/>
                  </a:solidFill>
                  <a:latin typeface="+mn-lt"/>
                  <a:ea typeface="+mn-ea"/>
                  <a:cs typeface="+mn-cs"/>
                </a:rPr>
                <a:t>three tasks from the Long Range Arena (LRA)</a:t>
              </a:r>
              <a:r>
                <a:rPr lang="en-US" sz="1800" dirty="0">
                  <a:solidFill>
                    <a:schemeClr val="dk1"/>
                  </a:solidFill>
                  <a:latin typeface="+mn-lt"/>
                  <a:ea typeface="+mn-ea"/>
                  <a:cs typeface="+mn-cs"/>
                </a:rPr>
                <a:t xml:space="preserve"> benchmark —</a:t>
              </a:r>
            </a:p>
          </p:txBody>
        </p:sp>
        <p:sp>
          <p:nvSpPr>
            <p:cNvPr id="8" name="TextBox 8"/>
            <p:cNvSpPr txBox="1"/>
            <p:nvPr/>
          </p:nvSpPr>
          <p:spPr>
            <a:xfrm>
              <a:off x="981456" y="1939290"/>
              <a:ext cx="497365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chosen to stress long-sequence modeling.</a:t>
              </a:r>
            </a:p>
          </p:txBody>
        </p:sp>
      </p:grpSp>
      <p:grpSp>
        <p:nvGrpSpPr>
          <p:cNvPr id="28" name="Group 28"/>
          <p:cNvGrpSpPr/>
          <p:nvPr/>
        </p:nvGrpSpPr>
        <p:grpSpPr>
          <a:xfrm>
            <a:off x="685800" y="2495550"/>
            <a:ext cx="10820400" cy="1229868"/>
            <a:chOff x="685800" y="2495550"/>
            <a:chExt cx="10820400" cy="1229868"/>
          </a:xfrm>
        </p:grpSpPr>
        <p:sp>
          <p:nvSpPr>
            <p:cNvPr id="10" name="Rectangle 10"/>
            <p:cNvSpPr/>
            <p:nvPr/>
          </p:nvSpPr>
          <p:spPr>
            <a:xfrm>
              <a:off x="685800" y="2495550"/>
              <a:ext cx="3429000" cy="1123950"/>
            </a:xfrm>
            <a:prstGeom prst="roundRect">
              <a:avLst>
                <a:gd name="adj" fmla="val 11864"/>
              </a:avLst>
            </a:prstGeom>
            <a:solidFill>
              <a:schemeClr val="lt2"/>
            </a:solidFill>
            <a:ln w="9525">
              <a:solidFill>
                <a:schemeClr val="accent4"/>
              </a:solidFill>
            </a:ln>
          </p:spPr>
        </p:sp>
        <p:sp>
          <p:nvSpPr>
            <p:cNvPr id="11" name="TextBox 11"/>
            <p:cNvSpPr txBox="1"/>
            <p:nvPr/>
          </p:nvSpPr>
          <p:spPr>
            <a:xfrm>
              <a:off x="905256" y="2644140"/>
              <a:ext cx="58853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IMDb</a:t>
              </a:r>
            </a:p>
          </p:txBody>
        </p:sp>
        <p:sp>
          <p:nvSpPr>
            <p:cNvPr id="12" name="TextBox 12"/>
            <p:cNvSpPr txBox="1"/>
            <p:nvPr/>
          </p:nvSpPr>
          <p:spPr>
            <a:xfrm>
              <a:off x="908304" y="2937510"/>
              <a:ext cx="136108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byte-level binary</a:t>
              </a:r>
            </a:p>
          </p:txBody>
        </p:sp>
        <p:sp>
          <p:nvSpPr>
            <p:cNvPr id="13" name="TextBox 13"/>
            <p:cNvSpPr txBox="1"/>
            <p:nvPr/>
          </p:nvSpPr>
          <p:spPr>
            <a:xfrm>
              <a:off x="908304" y="3128010"/>
              <a:ext cx="149839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text classification</a:t>
              </a:r>
            </a:p>
          </p:txBody>
        </p:sp>
        <p:sp>
          <p:nvSpPr>
            <p:cNvPr id="14" name="TextBox 14"/>
            <p:cNvSpPr txBox="1"/>
            <p:nvPr/>
          </p:nvSpPr>
          <p:spPr>
            <a:xfrm>
              <a:off x="3308162" y="3021330"/>
              <a:ext cx="596326" cy="704088"/>
            </a:xfrm>
            <a:prstGeom prst="rect">
              <a:avLst/>
            </a:prstGeom>
            <a:noFill/>
            <a:ln>
              <a:noFill/>
            </a:ln>
          </p:spPr>
          <p:txBody>
            <a:bodyPr wrap="none" lIns="0" tIns="0" rIns="0" bIns="0" anchor="t" anchorCtr="0">
              <a:spAutoFit/>
            </a:bodyPr>
            <a:lstStyle/>
            <a:p>
              <a:pPr algn="r"/>
              <a:r>
                <a:rPr lang="en-US" sz="3600" b="1" dirty="0">
                  <a:solidFill>
                    <a:schemeClr val="accent1"/>
                  </a:solidFill>
                  <a:latin typeface="+mn-lt"/>
                  <a:ea typeface="+mn-ea"/>
                  <a:cs typeface="+mn-cs"/>
                </a:rPr>
                <a:t>1k</a:t>
              </a:r>
            </a:p>
          </p:txBody>
        </p:sp>
        <p:sp>
          <p:nvSpPr>
            <p:cNvPr id="15" name="TextBox 15"/>
            <p:cNvSpPr txBox="1"/>
            <p:nvPr/>
          </p:nvSpPr>
          <p:spPr>
            <a:xfrm>
              <a:off x="3382929" y="2945606"/>
              <a:ext cx="508986" cy="220028"/>
            </a:xfrm>
            <a:prstGeom prst="rect">
              <a:avLst/>
            </a:prstGeom>
            <a:noFill/>
            <a:ln>
              <a:noFill/>
            </a:ln>
          </p:spPr>
          <p:txBody>
            <a:bodyPr wrap="none" lIns="0" tIns="0" rIns="0" bIns="0" anchor="t" anchorCtr="0">
              <a:spAutoFit/>
            </a:bodyPr>
            <a:lstStyle/>
            <a:p>
              <a:pPr algn="r"/>
              <a:r>
                <a:rPr lang="en-US" sz="1120" dirty="0">
                  <a:solidFill>
                    <a:schemeClr val="dk2"/>
                  </a:solidFill>
                  <a:latin typeface="+mn-lt"/>
                  <a:ea typeface="+mn-ea"/>
                  <a:cs typeface="+mn-cs"/>
                </a:rPr>
                <a:t>tokens</a:t>
              </a:r>
            </a:p>
          </p:txBody>
        </p:sp>
        <p:sp>
          <p:nvSpPr>
            <p:cNvPr id="16" name="Rectangle 16"/>
            <p:cNvSpPr/>
            <p:nvPr/>
          </p:nvSpPr>
          <p:spPr>
            <a:xfrm>
              <a:off x="4381500" y="2495550"/>
              <a:ext cx="3429000" cy="1123950"/>
            </a:xfrm>
            <a:prstGeom prst="roundRect">
              <a:avLst>
                <a:gd name="adj" fmla="val 11864"/>
              </a:avLst>
            </a:prstGeom>
            <a:solidFill>
              <a:schemeClr val="lt2"/>
            </a:solidFill>
            <a:ln w="9525">
              <a:solidFill>
                <a:schemeClr val="accent4"/>
              </a:solidFill>
            </a:ln>
          </p:spPr>
        </p:sp>
        <p:sp>
          <p:nvSpPr>
            <p:cNvPr id="17" name="TextBox 17"/>
            <p:cNvSpPr txBox="1"/>
            <p:nvPr/>
          </p:nvSpPr>
          <p:spPr>
            <a:xfrm>
              <a:off x="4600956" y="2644140"/>
              <a:ext cx="100076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ListOps</a:t>
              </a:r>
            </a:p>
          </p:txBody>
        </p:sp>
        <p:sp>
          <p:nvSpPr>
            <p:cNvPr id="18" name="TextBox 18"/>
            <p:cNvSpPr txBox="1"/>
            <p:nvPr/>
          </p:nvSpPr>
          <p:spPr>
            <a:xfrm>
              <a:off x="4604004" y="2937510"/>
              <a:ext cx="57759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10-way</a:t>
              </a:r>
            </a:p>
          </p:txBody>
        </p:sp>
        <p:sp>
          <p:nvSpPr>
            <p:cNvPr id="19" name="TextBox 19"/>
            <p:cNvSpPr txBox="1"/>
            <p:nvPr/>
          </p:nvSpPr>
          <p:spPr>
            <a:xfrm>
              <a:off x="4604004" y="3128010"/>
              <a:ext cx="109453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classification</a:t>
              </a:r>
            </a:p>
          </p:txBody>
        </p:sp>
        <p:sp>
          <p:nvSpPr>
            <p:cNvPr id="20" name="TextBox 20"/>
            <p:cNvSpPr txBox="1"/>
            <p:nvPr/>
          </p:nvSpPr>
          <p:spPr>
            <a:xfrm>
              <a:off x="7003862" y="3021330"/>
              <a:ext cx="596326" cy="704088"/>
            </a:xfrm>
            <a:prstGeom prst="rect">
              <a:avLst/>
            </a:prstGeom>
            <a:noFill/>
            <a:ln>
              <a:noFill/>
            </a:ln>
          </p:spPr>
          <p:txBody>
            <a:bodyPr wrap="none" lIns="0" tIns="0" rIns="0" bIns="0" anchor="t" anchorCtr="0">
              <a:spAutoFit/>
            </a:bodyPr>
            <a:lstStyle/>
            <a:p>
              <a:pPr algn="r"/>
              <a:r>
                <a:rPr lang="en-US" sz="3600" b="1" dirty="0">
                  <a:solidFill>
                    <a:schemeClr val="accent1"/>
                  </a:solidFill>
                  <a:latin typeface="+mn-lt"/>
                  <a:ea typeface="+mn-ea"/>
                  <a:cs typeface="+mn-cs"/>
                </a:rPr>
                <a:t>2k</a:t>
              </a:r>
            </a:p>
          </p:txBody>
        </p:sp>
        <p:sp>
          <p:nvSpPr>
            <p:cNvPr id="21" name="TextBox 21"/>
            <p:cNvSpPr txBox="1"/>
            <p:nvPr/>
          </p:nvSpPr>
          <p:spPr>
            <a:xfrm>
              <a:off x="7078629" y="2945606"/>
              <a:ext cx="508986" cy="220028"/>
            </a:xfrm>
            <a:prstGeom prst="rect">
              <a:avLst/>
            </a:prstGeom>
            <a:noFill/>
            <a:ln>
              <a:noFill/>
            </a:ln>
          </p:spPr>
          <p:txBody>
            <a:bodyPr wrap="none" lIns="0" tIns="0" rIns="0" bIns="0" anchor="t" anchorCtr="0">
              <a:spAutoFit/>
            </a:bodyPr>
            <a:lstStyle/>
            <a:p>
              <a:pPr algn="r"/>
              <a:r>
                <a:rPr lang="en-US" sz="1120" dirty="0">
                  <a:solidFill>
                    <a:schemeClr val="dk2"/>
                  </a:solidFill>
                  <a:latin typeface="+mn-lt"/>
                  <a:ea typeface="+mn-ea"/>
                  <a:cs typeface="+mn-cs"/>
                </a:rPr>
                <a:t>tokens</a:t>
              </a:r>
            </a:p>
          </p:txBody>
        </p:sp>
        <p:sp>
          <p:nvSpPr>
            <p:cNvPr id="22" name="Rectangle 22"/>
            <p:cNvSpPr/>
            <p:nvPr/>
          </p:nvSpPr>
          <p:spPr>
            <a:xfrm>
              <a:off x="8077200" y="2495550"/>
              <a:ext cx="3429000" cy="1123950"/>
            </a:xfrm>
            <a:prstGeom prst="roundRect">
              <a:avLst>
                <a:gd name="adj" fmla="val 11864"/>
              </a:avLst>
            </a:prstGeom>
            <a:solidFill>
              <a:schemeClr val="lt2"/>
            </a:solidFill>
            <a:ln w="9525">
              <a:solidFill>
                <a:schemeClr val="accent4"/>
              </a:solidFill>
            </a:ln>
          </p:spPr>
        </p:sp>
        <p:sp>
          <p:nvSpPr>
            <p:cNvPr id="23" name="TextBox 23"/>
            <p:cNvSpPr txBox="1"/>
            <p:nvPr/>
          </p:nvSpPr>
          <p:spPr>
            <a:xfrm>
              <a:off x="8296656" y="2644140"/>
              <a:ext cx="238010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Document matching</a:t>
              </a:r>
            </a:p>
          </p:txBody>
        </p:sp>
        <p:sp>
          <p:nvSpPr>
            <p:cNvPr id="24" name="TextBox 24"/>
            <p:cNvSpPr txBox="1"/>
            <p:nvPr/>
          </p:nvSpPr>
          <p:spPr>
            <a:xfrm>
              <a:off x="8299704" y="2937510"/>
              <a:ext cx="81991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byte-level</a:t>
              </a:r>
            </a:p>
          </p:txBody>
        </p:sp>
        <p:sp>
          <p:nvSpPr>
            <p:cNvPr id="25" name="TextBox 25"/>
            <p:cNvSpPr txBox="1"/>
            <p:nvPr/>
          </p:nvSpPr>
          <p:spPr>
            <a:xfrm>
              <a:off x="8299704" y="3128010"/>
              <a:ext cx="1522628"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document retrieval</a:t>
              </a:r>
            </a:p>
          </p:txBody>
        </p:sp>
        <p:sp>
          <p:nvSpPr>
            <p:cNvPr id="26" name="TextBox 26"/>
            <p:cNvSpPr txBox="1"/>
            <p:nvPr/>
          </p:nvSpPr>
          <p:spPr>
            <a:xfrm>
              <a:off x="10699562" y="3021330"/>
              <a:ext cx="596326" cy="704088"/>
            </a:xfrm>
            <a:prstGeom prst="rect">
              <a:avLst/>
            </a:prstGeom>
            <a:noFill/>
            <a:ln>
              <a:noFill/>
            </a:ln>
          </p:spPr>
          <p:txBody>
            <a:bodyPr wrap="none" lIns="0" tIns="0" rIns="0" bIns="0" anchor="t" anchorCtr="0">
              <a:spAutoFit/>
            </a:bodyPr>
            <a:lstStyle/>
            <a:p>
              <a:pPr algn="r"/>
              <a:r>
                <a:rPr lang="en-US" sz="3600" b="1" dirty="0">
                  <a:solidFill>
                    <a:schemeClr val="accent1"/>
                  </a:solidFill>
                  <a:latin typeface="+mn-lt"/>
                  <a:ea typeface="+mn-ea"/>
                  <a:cs typeface="+mn-cs"/>
                </a:rPr>
                <a:t>4k</a:t>
              </a:r>
            </a:p>
          </p:txBody>
        </p:sp>
        <p:sp>
          <p:nvSpPr>
            <p:cNvPr id="27" name="TextBox 27"/>
            <p:cNvSpPr txBox="1"/>
            <p:nvPr/>
          </p:nvSpPr>
          <p:spPr>
            <a:xfrm>
              <a:off x="10774329" y="2945606"/>
              <a:ext cx="508986" cy="220028"/>
            </a:xfrm>
            <a:prstGeom prst="rect">
              <a:avLst/>
            </a:prstGeom>
            <a:noFill/>
            <a:ln>
              <a:noFill/>
            </a:ln>
          </p:spPr>
          <p:txBody>
            <a:bodyPr wrap="none" lIns="0" tIns="0" rIns="0" bIns="0" anchor="t" anchorCtr="0">
              <a:spAutoFit/>
            </a:bodyPr>
            <a:lstStyle/>
            <a:p>
              <a:pPr algn="r"/>
              <a:r>
                <a:rPr lang="en-US" sz="1120" dirty="0">
                  <a:solidFill>
                    <a:schemeClr val="dk2"/>
                  </a:solidFill>
                  <a:latin typeface="+mn-lt"/>
                  <a:ea typeface="+mn-ea"/>
                  <a:cs typeface="+mn-cs"/>
                </a:rPr>
                <a:t>tokens</a:t>
              </a:r>
            </a:p>
          </p:txBody>
        </p:sp>
      </p:grpSp>
      <p:grpSp>
        <p:nvGrpSpPr>
          <p:cNvPr id="50" name="Group 50"/>
          <p:cNvGrpSpPr/>
          <p:nvPr/>
        </p:nvGrpSpPr>
        <p:grpSpPr>
          <a:xfrm>
            <a:off x="685800" y="3829050"/>
            <a:ext cx="10820400" cy="2308384"/>
            <a:chOff x="685800" y="3829050"/>
            <a:chExt cx="10820400" cy="2308384"/>
          </a:xfrm>
        </p:grpSpPr>
        <p:sp>
          <p:nvSpPr>
            <p:cNvPr id="29" name="Rectangle 29"/>
            <p:cNvSpPr/>
            <p:nvPr/>
          </p:nvSpPr>
          <p:spPr>
            <a:xfrm>
              <a:off x="685800" y="3829050"/>
              <a:ext cx="10820400" cy="2305050"/>
            </a:xfrm>
            <a:prstGeom prst="roundRect">
              <a:avLst>
                <a:gd name="adj" fmla="val 5785"/>
              </a:avLst>
            </a:prstGeom>
            <a:solidFill>
              <a:schemeClr val="lt2"/>
            </a:solidFill>
            <a:ln w="9525">
              <a:solidFill>
                <a:schemeClr val="accent4"/>
              </a:solidFill>
            </a:ln>
          </p:spPr>
        </p:sp>
        <p:sp>
          <p:nvSpPr>
            <p:cNvPr id="30" name="TextBox 30"/>
            <p:cNvSpPr txBox="1"/>
            <p:nvPr/>
          </p:nvSpPr>
          <p:spPr>
            <a:xfrm>
              <a:off x="907542" y="4007168"/>
              <a:ext cx="4025844" cy="264033"/>
            </a:xfrm>
            <a:prstGeom prst="rect">
              <a:avLst/>
            </a:prstGeom>
            <a:noFill/>
            <a:ln>
              <a:noFill/>
            </a:ln>
          </p:spPr>
          <p:txBody>
            <a:bodyPr wrap="none" lIns="0" tIns="0" rIns="0" bIns="0" anchor="t" anchorCtr="0">
              <a:spAutoFit/>
            </a:bodyPr>
            <a:lstStyle/>
            <a:p>
              <a:pPr algn="l"/>
              <a:r>
                <a:rPr lang="en-US" sz="1350" b="1" spc="75" dirty="0">
                  <a:solidFill>
                    <a:schemeClr val="dk1"/>
                  </a:solidFill>
                  <a:latin typeface="+mn-lt"/>
                  <a:ea typeface="+mn-ea"/>
                  <a:cs typeface="+mn-cs"/>
                </a:rPr>
                <a:t>NINE CANDIDATE ATTENTION MECHANISMS</a:t>
              </a:r>
            </a:p>
          </p:txBody>
        </p:sp>
        <p:sp>
          <p:nvSpPr>
            <p:cNvPr id="31" name="Rectangle 31"/>
            <p:cNvSpPr/>
            <p:nvPr/>
          </p:nvSpPr>
          <p:spPr>
            <a:xfrm>
              <a:off x="914400" y="4305300"/>
              <a:ext cx="3352800" cy="457200"/>
            </a:xfrm>
            <a:prstGeom prst="roundRect">
              <a:avLst>
                <a:gd name="adj" fmla="val 20833"/>
              </a:avLst>
            </a:prstGeom>
            <a:solidFill>
              <a:schemeClr val="lt1"/>
            </a:solidFill>
            <a:ln w="9525">
              <a:solidFill>
                <a:schemeClr val="accent4"/>
              </a:solidFill>
            </a:ln>
          </p:spPr>
        </p:sp>
        <p:sp>
          <p:nvSpPr>
            <p:cNvPr id="32" name="TextBox 32"/>
            <p:cNvSpPr txBox="1"/>
            <p:nvPr/>
          </p:nvSpPr>
          <p:spPr>
            <a:xfrm>
              <a:off x="1097280" y="4429125"/>
              <a:ext cx="6971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Bigbird</a:t>
              </a:r>
            </a:p>
          </p:txBody>
        </p:sp>
        <p:sp>
          <p:nvSpPr>
            <p:cNvPr id="33" name="Rectangle 33"/>
            <p:cNvSpPr/>
            <p:nvPr/>
          </p:nvSpPr>
          <p:spPr>
            <a:xfrm>
              <a:off x="4419600" y="4305300"/>
              <a:ext cx="3352800" cy="457200"/>
            </a:xfrm>
            <a:prstGeom prst="roundRect">
              <a:avLst>
                <a:gd name="adj" fmla="val 20833"/>
              </a:avLst>
            </a:prstGeom>
            <a:solidFill>
              <a:schemeClr val="lt1"/>
            </a:solidFill>
            <a:ln w="9525">
              <a:solidFill>
                <a:schemeClr val="accent4"/>
              </a:solidFill>
            </a:ln>
          </p:spPr>
        </p:sp>
        <p:sp>
          <p:nvSpPr>
            <p:cNvPr id="34" name="TextBox 34"/>
            <p:cNvSpPr txBox="1"/>
            <p:nvPr/>
          </p:nvSpPr>
          <p:spPr>
            <a:xfrm>
              <a:off x="4602480" y="4429125"/>
              <a:ext cx="196667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Linear Transformer</a:t>
              </a:r>
            </a:p>
          </p:txBody>
        </p:sp>
        <p:sp>
          <p:nvSpPr>
            <p:cNvPr id="35" name="Rectangle 35"/>
            <p:cNvSpPr/>
            <p:nvPr/>
          </p:nvSpPr>
          <p:spPr>
            <a:xfrm>
              <a:off x="7924800" y="4305300"/>
              <a:ext cx="3352800" cy="457200"/>
            </a:xfrm>
            <a:prstGeom prst="roundRect">
              <a:avLst>
                <a:gd name="adj" fmla="val 20833"/>
              </a:avLst>
            </a:prstGeom>
            <a:solidFill>
              <a:schemeClr val="lt1"/>
            </a:solidFill>
            <a:ln w="9525">
              <a:solidFill>
                <a:schemeClr val="accent4"/>
              </a:solidFill>
            </a:ln>
          </p:spPr>
        </p:sp>
        <p:sp>
          <p:nvSpPr>
            <p:cNvPr id="36" name="TextBox 36"/>
            <p:cNvSpPr txBox="1"/>
            <p:nvPr/>
          </p:nvSpPr>
          <p:spPr>
            <a:xfrm>
              <a:off x="8107680" y="4429125"/>
              <a:ext cx="10109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Linformer</a:t>
              </a:r>
            </a:p>
          </p:txBody>
        </p:sp>
        <p:sp>
          <p:nvSpPr>
            <p:cNvPr id="37" name="Rectangle 37"/>
            <p:cNvSpPr/>
            <p:nvPr/>
          </p:nvSpPr>
          <p:spPr>
            <a:xfrm>
              <a:off x="914400" y="4857750"/>
              <a:ext cx="3352800" cy="457200"/>
            </a:xfrm>
            <a:prstGeom prst="roundRect">
              <a:avLst>
                <a:gd name="adj" fmla="val 20833"/>
              </a:avLst>
            </a:prstGeom>
            <a:solidFill>
              <a:schemeClr val="lt1"/>
            </a:solidFill>
            <a:ln w="9525">
              <a:solidFill>
                <a:schemeClr val="accent4"/>
              </a:solidFill>
            </a:ln>
          </p:spPr>
        </p:sp>
        <p:sp>
          <p:nvSpPr>
            <p:cNvPr id="38" name="TextBox 38"/>
            <p:cNvSpPr txBox="1"/>
            <p:nvPr/>
          </p:nvSpPr>
          <p:spPr>
            <a:xfrm>
              <a:off x="1097280" y="4981575"/>
              <a:ext cx="52578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Local</a:t>
              </a:r>
            </a:p>
          </p:txBody>
        </p:sp>
        <p:sp>
          <p:nvSpPr>
            <p:cNvPr id="39" name="Rectangle 39"/>
            <p:cNvSpPr/>
            <p:nvPr/>
          </p:nvSpPr>
          <p:spPr>
            <a:xfrm>
              <a:off x="4419600" y="4857750"/>
              <a:ext cx="3352800" cy="457200"/>
            </a:xfrm>
            <a:prstGeom prst="roundRect">
              <a:avLst>
                <a:gd name="adj" fmla="val 20833"/>
              </a:avLst>
            </a:prstGeom>
            <a:solidFill>
              <a:schemeClr val="lt1"/>
            </a:solidFill>
            <a:ln w="9525">
              <a:solidFill>
                <a:schemeClr val="accent4"/>
              </a:solidFill>
            </a:ln>
          </p:spPr>
        </p:sp>
        <p:sp>
          <p:nvSpPr>
            <p:cNvPr id="40" name="TextBox 40"/>
            <p:cNvSpPr txBox="1"/>
            <p:nvPr/>
          </p:nvSpPr>
          <p:spPr>
            <a:xfrm>
              <a:off x="4602480" y="4981575"/>
              <a:ext cx="11727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Longformer</a:t>
              </a:r>
            </a:p>
          </p:txBody>
        </p:sp>
        <p:sp>
          <p:nvSpPr>
            <p:cNvPr id="41" name="Rectangle 41"/>
            <p:cNvSpPr/>
            <p:nvPr/>
          </p:nvSpPr>
          <p:spPr>
            <a:xfrm>
              <a:off x="7924800" y="4857750"/>
              <a:ext cx="3352800" cy="457200"/>
            </a:xfrm>
            <a:prstGeom prst="roundRect">
              <a:avLst>
                <a:gd name="adj" fmla="val 20833"/>
              </a:avLst>
            </a:prstGeom>
            <a:solidFill>
              <a:schemeClr val="lt1"/>
            </a:solidFill>
            <a:ln w="9525">
              <a:solidFill>
                <a:schemeClr val="accent4"/>
              </a:solidFill>
            </a:ln>
          </p:spPr>
        </p:sp>
        <p:sp>
          <p:nvSpPr>
            <p:cNvPr id="42" name="TextBox 42"/>
            <p:cNvSpPr txBox="1"/>
            <p:nvPr/>
          </p:nvSpPr>
          <p:spPr>
            <a:xfrm>
              <a:off x="8107680" y="4981575"/>
              <a:ext cx="106172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Performer</a:t>
              </a:r>
            </a:p>
          </p:txBody>
        </p:sp>
        <p:sp>
          <p:nvSpPr>
            <p:cNvPr id="43" name="Rectangle 43"/>
            <p:cNvSpPr/>
            <p:nvPr/>
          </p:nvSpPr>
          <p:spPr>
            <a:xfrm>
              <a:off x="914400" y="5410200"/>
              <a:ext cx="3352800" cy="457200"/>
            </a:xfrm>
            <a:prstGeom prst="roundRect">
              <a:avLst>
                <a:gd name="adj" fmla="val 20833"/>
              </a:avLst>
            </a:prstGeom>
            <a:solidFill>
              <a:schemeClr val="lt1"/>
            </a:solidFill>
            <a:ln w="9525">
              <a:solidFill>
                <a:schemeClr val="accent4"/>
              </a:solidFill>
            </a:ln>
          </p:spPr>
        </p:sp>
        <p:sp>
          <p:nvSpPr>
            <p:cNvPr id="44" name="TextBox 44"/>
            <p:cNvSpPr txBox="1"/>
            <p:nvPr/>
          </p:nvSpPr>
          <p:spPr>
            <a:xfrm>
              <a:off x="1097280" y="5534025"/>
              <a:ext cx="95069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Reformer</a:t>
              </a:r>
            </a:p>
          </p:txBody>
        </p:sp>
        <p:sp>
          <p:nvSpPr>
            <p:cNvPr id="45" name="Rectangle 45"/>
            <p:cNvSpPr/>
            <p:nvPr/>
          </p:nvSpPr>
          <p:spPr>
            <a:xfrm>
              <a:off x="4419600" y="5410200"/>
              <a:ext cx="3352800" cy="457200"/>
            </a:xfrm>
            <a:prstGeom prst="roundRect">
              <a:avLst>
                <a:gd name="adj" fmla="val 20833"/>
              </a:avLst>
            </a:prstGeom>
            <a:solidFill>
              <a:schemeClr val="lt1"/>
            </a:solidFill>
            <a:ln w="9525">
              <a:solidFill>
                <a:schemeClr val="accent4"/>
              </a:solidFill>
            </a:ln>
          </p:spPr>
        </p:sp>
        <p:sp>
          <p:nvSpPr>
            <p:cNvPr id="46" name="TextBox 46"/>
            <p:cNvSpPr txBox="1"/>
            <p:nvPr/>
          </p:nvSpPr>
          <p:spPr>
            <a:xfrm>
              <a:off x="4602480" y="5534025"/>
              <a:ext cx="201749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Sparse Transformer</a:t>
              </a:r>
            </a:p>
          </p:txBody>
        </p:sp>
        <p:sp>
          <p:nvSpPr>
            <p:cNvPr id="47" name="Rectangle 47"/>
            <p:cNvSpPr/>
            <p:nvPr/>
          </p:nvSpPr>
          <p:spPr>
            <a:xfrm>
              <a:off x="7924800" y="5410200"/>
              <a:ext cx="3352800" cy="457200"/>
            </a:xfrm>
            <a:prstGeom prst="roundRect">
              <a:avLst>
                <a:gd name="adj" fmla="val 20833"/>
              </a:avLst>
            </a:prstGeom>
            <a:solidFill>
              <a:schemeClr val="lt1"/>
            </a:solidFill>
            <a:ln w="9525">
              <a:solidFill>
                <a:schemeClr val="accent4"/>
              </a:solidFill>
            </a:ln>
          </p:spPr>
        </p:sp>
        <p:sp>
          <p:nvSpPr>
            <p:cNvPr id="48" name="TextBox 48"/>
            <p:cNvSpPr txBox="1"/>
            <p:nvPr/>
          </p:nvSpPr>
          <p:spPr>
            <a:xfrm>
              <a:off x="8107680" y="5534025"/>
              <a:ext cx="119246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Synthesizer</a:t>
              </a:r>
            </a:p>
          </p:txBody>
        </p:sp>
        <p:sp>
          <p:nvSpPr>
            <p:cNvPr id="49" name="TextBox 49"/>
            <p:cNvSpPr txBox="1"/>
            <p:nvPr/>
          </p:nvSpPr>
          <p:spPr>
            <a:xfrm>
              <a:off x="908685" y="5917406"/>
              <a:ext cx="40792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Hyperparameters largely follow the original LRA setup.</a:t>
              </a:r>
            </a:p>
          </p:txBody>
        </p:sp>
      </p:grpSp>
      <p:sp>
        <p:nvSpPr>
          <p:cNvPr id="51" name="cue_s06_c1_all_experiments_run_three_tasks" title="cue_s06_c1_all_experiments_run_three_tasks" descr="cue_s06_c1_all_experiments_run_three_tasks All experiments run on three tasks drawn from the Long Range Arena benchmark, chosen to stress long-sequence modeling."/>
          <p:cNvSpPr/>
          <p:nvPr/>
        </p:nvSpPr>
        <p:spPr>
          <a:xfrm>
            <a:off x="686409" y="1543050"/>
            <a:ext cx="10820400" cy="7482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2_these_byte_level_binary_text_classif" title="cue_s06_c2_these_byte_level_binary_text_classif" descr="cue_s06_c2_these_byte_level_binary_text_classif These are byte-level binary text classification on IMDb with sequences of one thousand tokens, ListOps ten-way classification with two-thousand-token sequences, and byte-level document matching with four-thousand-token sequences."/>
          <p:cNvSpPr/>
          <p:nvPr/>
        </p:nvSpPr>
        <p:spPr>
          <a:xfrm>
            <a:off x="686409" y="2495626"/>
            <a:ext cx="10820400" cy="122963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3_search_considers_nine_candidate_atte" title="cue_s06_c3_search_considers_nine_candidate_atte" descr="cue_s06_c3_search_considers_nine_candidate_atte The search considers nine candidate attention mechanisms, including Bigbird, Linear Transformer, Linformer, Local attention, Longformer, Performer, Reformer, Sparse Transformer, and Synthesizer, with hyperparameters largely matching the original Long Range Are"/>
          <p:cNvSpPr/>
          <p:nvPr/>
        </p:nvSpPr>
        <p:spPr>
          <a:xfrm>
            <a:off x="686409" y="3828821"/>
            <a:ext cx="10820400" cy="23049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32460"/>
            <a:ext cx="1655064"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07 · KEY RESULT</a:t>
            </a:r>
          </a:p>
        </p:txBody>
      </p:sp>
      <p:sp>
        <p:nvSpPr>
          <p:cNvPr id="3" name="Rectangle 3"/>
          <p:cNvSpPr/>
          <p:nvPr/>
        </p:nvSpPr>
        <p:spPr>
          <a:xfrm>
            <a:off x="685800" y="876300"/>
            <a:ext cx="419100" cy="38100"/>
          </a:xfrm>
          <a:prstGeom prst="rect">
            <a:avLst/>
          </a:prstGeom>
          <a:solidFill>
            <a:schemeClr val="accent1"/>
          </a:solidFill>
          <a:ln>
            <a:noFill/>
          </a:ln>
        </p:spPr>
        <p:txBody>
          <a:bodyPr/>
          <a:p/>
        </p:txBody>
      </p:sp>
      <p:sp>
        <p:nvSpPr>
          <p:cNvPr id="4" name="TextBox 4"/>
          <p:cNvSpPr txBox="1"/>
          <p:nvPr/>
        </p:nvSpPr>
        <p:spPr>
          <a:xfrm>
            <a:off x="669036" y="977265"/>
            <a:ext cx="7304062"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 xml:space="preserve">Beat the </a:t>
            </a:r>
            <a:r>
              <a:rPr lang="en-US" sz="3300" b="1" dirty="0">
                <a:solidFill>
                  <a:schemeClr val="accent1"/>
                </a:solidFill>
                <a:latin typeface="+mn-lt"/>
                <a:ea typeface="+mn-ea"/>
                <a:cs typeface="+mn-cs"/>
              </a:rPr>
              <a:t>average</a:t>
            </a:r>
            <a:r>
              <a:rPr lang="en-US" sz="3300" b="1" dirty="0">
                <a:solidFill>
                  <a:schemeClr val="dk1"/>
                </a:solidFill>
                <a:latin typeface="+mn-lt"/>
                <a:ea typeface="+mn-ea"/>
                <a:cs typeface="+mn-cs"/>
              </a:rPr>
              <a:t xml:space="preserve"> — not the </a:t>
            </a:r>
            <a:r>
              <a:rPr lang="en-US" sz="3300" b="1" dirty="0">
                <a:solidFill>
                  <a:schemeClr val="accent2"/>
                </a:solidFill>
                <a:latin typeface="+mn-lt"/>
                <a:ea typeface="+mn-ea"/>
                <a:cs typeface="+mn-cs"/>
              </a:rPr>
              <a:t>best</a:t>
            </a:r>
          </a:p>
        </p:txBody>
      </p:sp>
      <p:grpSp>
        <p:nvGrpSpPr>
          <p:cNvPr id="9" name="Group 9"/>
          <p:cNvGrpSpPr/>
          <p:nvPr/>
        </p:nvGrpSpPr>
        <p:grpSpPr>
          <a:xfrm>
            <a:off x="7734300" y="571500"/>
            <a:ext cx="3771900" cy="876300"/>
            <a:chOff x="7734300" y="571500"/>
            <a:chExt cx="3771900" cy="876300"/>
          </a:xfrm>
        </p:grpSpPr>
        <p:sp>
          <p:nvSpPr>
            <p:cNvPr id="5" name="Rectangle 5"/>
            <p:cNvSpPr/>
            <p:nvPr/>
          </p:nvSpPr>
          <p:spPr>
            <a:xfrm>
              <a:off x="7734300" y="571500"/>
              <a:ext cx="3771900" cy="876300"/>
            </a:xfrm>
            <a:prstGeom prst="roundRect">
              <a:avLst>
                <a:gd name="adj" fmla="val 15217"/>
              </a:avLst>
            </a:prstGeom>
            <a:solidFill>
              <a:schemeClr val="lt2"/>
            </a:solidFill>
            <a:ln w="9525">
              <a:solidFill>
                <a:schemeClr val="accent4"/>
              </a:solidFill>
            </a:ln>
          </p:spPr>
        </p:sp>
        <p:sp>
          <p:nvSpPr>
            <p:cNvPr id="6" name="Rectangle 6"/>
            <p:cNvSpPr/>
            <p:nvPr/>
          </p:nvSpPr>
          <p:spPr>
            <a:xfrm>
              <a:off x="7734300" y="571500"/>
              <a:ext cx="57150" cy="876300"/>
            </a:xfrm>
            <a:prstGeom prst="roundRect">
              <a:avLst>
                <a:gd name="adj" fmla="val 50000"/>
              </a:avLst>
            </a:prstGeom>
            <a:solidFill>
              <a:schemeClr val="accent1"/>
            </a:solidFill>
            <a:ln>
              <a:noFill/>
            </a:ln>
          </p:spPr>
        </p:sp>
        <p:sp>
          <p:nvSpPr>
            <p:cNvPr id="7" name="TextBox 7"/>
            <p:cNvSpPr txBox="1"/>
            <p:nvPr/>
          </p:nvSpPr>
          <p:spPr>
            <a:xfrm>
              <a:off x="7991856" y="739140"/>
              <a:ext cx="244299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The headline finding</a:t>
              </a:r>
            </a:p>
          </p:txBody>
        </p:sp>
        <p:sp>
          <p:nvSpPr>
            <p:cNvPr id="8" name="TextBox 8"/>
            <p:cNvSpPr txBox="1"/>
            <p:nvPr/>
          </p:nvSpPr>
          <p:spPr>
            <a:xfrm>
              <a:off x="7991856" y="1024890"/>
              <a:ext cx="171025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splits in two.</a:t>
              </a:r>
            </a:p>
          </p:txBody>
        </p:sp>
      </p:grpSp>
      <p:grpSp>
        <p:nvGrpSpPr>
          <p:cNvPr id="19" name="Group 19"/>
          <p:cNvGrpSpPr/>
          <p:nvPr/>
        </p:nvGrpSpPr>
        <p:grpSpPr>
          <a:xfrm>
            <a:off x="685800" y="1752600"/>
            <a:ext cx="5219700" cy="2933700"/>
            <a:chOff x="685800" y="1752600"/>
            <a:chExt cx="5219700" cy="2933700"/>
          </a:xfrm>
        </p:grpSpPr>
        <p:sp>
          <p:nvSpPr>
            <p:cNvPr id="10" name="Rectangle 10"/>
            <p:cNvSpPr/>
            <p:nvPr/>
          </p:nvSpPr>
          <p:spPr>
            <a:xfrm>
              <a:off x="685800" y="1752600"/>
              <a:ext cx="5219700" cy="2933700"/>
            </a:xfrm>
            <a:prstGeom prst="roundRect">
              <a:avLst>
                <a:gd name="adj" fmla="val 4545"/>
              </a:avLst>
            </a:prstGeom>
            <a:solidFill>
              <a:schemeClr val="lt2"/>
            </a:solidFill>
            <a:ln w="9525">
              <a:solidFill>
                <a:schemeClr val="accent4"/>
              </a:solidFill>
            </a:ln>
          </p:spPr>
        </p:sp>
        <p:sp>
          <p:nvSpPr>
            <p:cNvPr id="11" name="Rectangle 11"/>
            <p:cNvSpPr/>
            <p:nvPr/>
          </p:nvSpPr>
          <p:spPr>
            <a:xfrm>
              <a:off x="685800" y="1752600"/>
              <a:ext cx="76200" cy="2933700"/>
            </a:xfrm>
            <a:prstGeom prst="roundRect">
              <a:avLst>
                <a:gd name="adj" fmla="val 50000"/>
              </a:avLst>
            </a:prstGeom>
            <a:solidFill>
              <a:schemeClr val="accent3"/>
            </a:solidFill>
            <a:ln>
              <a:noFill/>
            </a:ln>
          </p:spPr>
        </p:sp>
        <p:sp>
          <p:nvSpPr>
            <p:cNvPr id="12" name="TextBox 12"/>
            <p:cNvSpPr txBox="1"/>
            <p:nvPr/>
          </p:nvSpPr>
          <p:spPr>
            <a:xfrm>
              <a:off x="979932" y="2002155"/>
              <a:ext cx="4647604"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 Homogeneous selection works</a:t>
              </a:r>
            </a:p>
          </p:txBody>
        </p:sp>
        <p:sp>
          <p:nvSpPr>
            <p:cNvPr id="13" name="TextBox 13"/>
            <p:cNvSpPr txBox="1"/>
            <p:nvPr/>
          </p:nvSpPr>
          <p:spPr>
            <a:xfrm>
              <a:off x="982599" y="2535079"/>
              <a:ext cx="4723665"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The masked-validation-drop search correctly</a:t>
              </a:r>
            </a:p>
          </p:txBody>
        </p:sp>
        <p:sp>
          <p:nvSpPr>
            <p:cNvPr id="14" name="TextBox 14"/>
            <p:cNvSpPr txBox="1"/>
            <p:nvPr/>
          </p:nvSpPr>
          <p:spPr>
            <a:xfrm>
              <a:off x="982599" y="2811304"/>
              <a:ext cx="3982850"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identifies the best attention for text</a:t>
              </a:r>
            </a:p>
          </p:txBody>
        </p:sp>
        <p:sp>
          <p:nvSpPr>
            <p:cNvPr id="15" name="TextBox 15"/>
            <p:cNvSpPr txBox="1"/>
            <p:nvPr/>
          </p:nvSpPr>
          <p:spPr>
            <a:xfrm>
              <a:off x="982599" y="3087529"/>
              <a:ext cx="4737669"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classification and ListOps — Reformer stands</a:t>
              </a:r>
            </a:p>
          </p:txBody>
        </p:sp>
        <p:sp>
          <p:nvSpPr>
            <p:cNvPr id="16" name="TextBox 16"/>
            <p:cNvSpPr txBox="1"/>
            <p:nvPr/>
          </p:nvSpPr>
          <p:spPr>
            <a:xfrm>
              <a:off x="982599" y="3363754"/>
              <a:ext cx="3961580"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out with a drop ≈ 12 while every other</a:t>
              </a:r>
            </a:p>
          </p:txBody>
        </p:sp>
        <p:sp>
          <p:nvSpPr>
            <p:cNvPr id="17" name="TextBox 17"/>
            <p:cNvSpPr txBox="1"/>
            <p:nvPr/>
          </p:nvSpPr>
          <p:spPr>
            <a:xfrm>
              <a:off x="982599" y="3639979"/>
              <a:ext cx="2951256"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attention scores below 0.5.</a:t>
              </a:r>
            </a:p>
          </p:txBody>
        </p:sp>
        <p:sp>
          <p:nvSpPr>
            <p:cNvPr id="18" name="TextBox 18"/>
            <p:cNvSpPr txBox="1"/>
            <p:nvPr/>
          </p:nvSpPr>
          <p:spPr>
            <a:xfrm>
              <a:off x="983742" y="4159568"/>
              <a:ext cx="3191353"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Reformer drop ≈ 12 · others &lt; 0.5</a:t>
              </a:r>
            </a:p>
          </p:txBody>
        </p:sp>
      </p:grpSp>
      <p:grpSp>
        <p:nvGrpSpPr>
          <p:cNvPr id="28" name="Group 28"/>
          <p:cNvGrpSpPr/>
          <p:nvPr/>
        </p:nvGrpSpPr>
        <p:grpSpPr>
          <a:xfrm>
            <a:off x="6286500" y="1752600"/>
            <a:ext cx="5219700" cy="2933700"/>
            <a:chOff x="6286500" y="1752600"/>
            <a:chExt cx="5219700" cy="2933700"/>
          </a:xfrm>
        </p:grpSpPr>
        <p:sp>
          <p:nvSpPr>
            <p:cNvPr id="20" name="Rectangle 20"/>
            <p:cNvSpPr/>
            <p:nvPr/>
          </p:nvSpPr>
          <p:spPr>
            <a:xfrm>
              <a:off x="6286500" y="1752600"/>
              <a:ext cx="5219700" cy="2933700"/>
            </a:xfrm>
            <a:prstGeom prst="roundRect">
              <a:avLst>
                <a:gd name="adj" fmla="val 4545"/>
              </a:avLst>
            </a:prstGeom>
            <a:solidFill>
              <a:schemeClr val="lt2"/>
            </a:solidFill>
            <a:ln w="9525">
              <a:solidFill>
                <a:schemeClr val="accent4"/>
              </a:solidFill>
            </a:ln>
          </p:spPr>
        </p:sp>
        <p:sp>
          <p:nvSpPr>
            <p:cNvPr id="21" name="Rectangle 21"/>
            <p:cNvSpPr/>
            <p:nvPr/>
          </p:nvSpPr>
          <p:spPr>
            <a:xfrm>
              <a:off x="6286500" y="1752600"/>
              <a:ext cx="76200" cy="2933700"/>
            </a:xfrm>
            <a:prstGeom prst="roundRect">
              <a:avLst>
                <a:gd name="adj" fmla="val 50000"/>
              </a:avLst>
            </a:prstGeom>
            <a:solidFill>
              <a:schemeClr val="accent2"/>
            </a:solidFill>
            <a:ln>
              <a:noFill/>
            </a:ln>
          </p:spPr>
        </p:sp>
        <p:sp>
          <p:nvSpPr>
            <p:cNvPr id="22" name="TextBox 22"/>
            <p:cNvSpPr txBox="1"/>
            <p:nvPr/>
          </p:nvSpPr>
          <p:spPr>
            <a:xfrm>
              <a:off x="6580632" y="2002155"/>
              <a:ext cx="3178941"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 Mixtures never win</a:t>
              </a:r>
            </a:p>
          </p:txBody>
        </p:sp>
        <p:sp>
          <p:nvSpPr>
            <p:cNvPr id="23" name="TextBox 23"/>
            <p:cNvSpPr txBox="1"/>
            <p:nvPr/>
          </p:nvSpPr>
          <p:spPr>
            <a:xfrm>
              <a:off x="6583299" y="2535079"/>
              <a:ext cx="4404700"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When the authors assemble heterogeneous</a:t>
              </a:r>
            </a:p>
          </p:txBody>
        </p:sp>
        <p:sp>
          <p:nvSpPr>
            <p:cNvPr id="24" name="TextBox 24"/>
            <p:cNvSpPr txBox="1"/>
            <p:nvPr/>
          </p:nvSpPr>
          <p:spPr>
            <a:xfrm>
              <a:off x="6583299" y="2811304"/>
              <a:ext cx="4298178"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Transformers that mix several attention</a:t>
              </a:r>
            </a:p>
          </p:txBody>
        </p:sp>
        <p:sp>
          <p:nvSpPr>
            <p:cNvPr id="25" name="TextBox 25"/>
            <p:cNvSpPr txBox="1"/>
            <p:nvPr/>
          </p:nvSpPr>
          <p:spPr>
            <a:xfrm>
              <a:off x="6583299" y="3087529"/>
              <a:ext cx="4620948"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types, none beats the best single-attention</a:t>
              </a:r>
            </a:p>
          </p:txBody>
        </p:sp>
        <p:sp>
          <p:nvSpPr>
            <p:cNvPr id="26" name="TextBox 26"/>
            <p:cNvSpPr txBox="1"/>
            <p:nvPr/>
          </p:nvSpPr>
          <p:spPr>
            <a:xfrm>
              <a:off x="6583299" y="3363754"/>
              <a:ext cx="3429831"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model on any of the three tasks.</a:t>
              </a:r>
            </a:p>
          </p:txBody>
        </p:sp>
        <p:sp>
          <p:nvSpPr>
            <p:cNvPr id="27" name="TextBox 27"/>
            <p:cNvSpPr txBox="1"/>
            <p:nvPr/>
          </p:nvSpPr>
          <p:spPr>
            <a:xfrm>
              <a:off x="6584442" y="4159568"/>
              <a:ext cx="291423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0 of 3 tasks improved by mixing</a:t>
              </a:r>
            </a:p>
          </p:txBody>
        </p:sp>
      </p:grpSp>
      <p:grpSp>
        <p:nvGrpSpPr>
          <p:cNvPr id="32" name="Group 32"/>
          <p:cNvGrpSpPr/>
          <p:nvPr/>
        </p:nvGrpSpPr>
        <p:grpSpPr>
          <a:xfrm>
            <a:off x="685800" y="4914900"/>
            <a:ext cx="10820400" cy="1143000"/>
            <a:chOff x="685800" y="4914900"/>
            <a:chExt cx="10820400" cy="1143000"/>
          </a:xfrm>
        </p:grpSpPr>
        <p:sp>
          <p:nvSpPr>
            <p:cNvPr id="29" name="Rectangle 29"/>
            <p:cNvSpPr/>
            <p:nvPr/>
          </p:nvSpPr>
          <p:spPr>
            <a:xfrm>
              <a:off x="685800" y="4914900"/>
              <a:ext cx="10820400" cy="1143000"/>
            </a:xfrm>
            <a:prstGeom prst="roundRect">
              <a:avLst>
                <a:gd name="adj" fmla="val 11667"/>
              </a:avLst>
            </a:prstGeom>
            <a:solidFill>
              <a:schemeClr val="lt2"/>
            </a:solidFill>
            <a:ln w="9525">
              <a:solidFill>
                <a:schemeClr val="accent4"/>
              </a:solidFill>
            </a:ln>
          </p:spPr>
        </p:sp>
        <p:sp>
          <p:nvSpPr>
            <p:cNvPr id="30" name="TextBox 30"/>
            <p:cNvSpPr txBox="1"/>
            <p:nvPr/>
          </p:nvSpPr>
          <p:spPr>
            <a:xfrm>
              <a:off x="2253304" y="5164455"/>
              <a:ext cx="7685392"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n-lt"/>
                  <a:ea typeface="+mn-ea"/>
                  <a:cs typeface="+mn-cs"/>
                </a:rPr>
                <a:t xml:space="preserve">Mixing attention helps you beat the </a:t>
              </a:r>
              <a:r>
                <a:rPr lang="en-US" sz="2100" b="1" dirty="0">
                  <a:solidFill>
                    <a:schemeClr val="accent1"/>
                  </a:solidFill>
                  <a:latin typeface="+mn-lt"/>
                  <a:ea typeface="+mn-ea"/>
                  <a:cs typeface="+mn-cs"/>
                </a:rPr>
                <a:t>AVERAGE</a:t>
              </a:r>
              <a:r>
                <a:rPr lang="en-US" sz="2100" b="1" dirty="0">
                  <a:solidFill>
                    <a:schemeClr val="dk1"/>
                  </a:solidFill>
                  <a:latin typeface="+mn-lt"/>
                  <a:ea typeface="+mn-ea"/>
                  <a:cs typeface="+mn-cs"/>
                </a:rPr>
                <a:t xml:space="preserve"> choice —</a:t>
              </a:r>
            </a:p>
          </p:txBody>
        </p:sp>
        <p:sp>
          <p:nvSpPr>
            <p:cNvPr id="31" name="TextBox 31"/>
            <p:cNvSpPr txBox="1"/>
            <p:nvPr/>
          </p:nvSpPr>
          <p:spPr>
            <a:xfrm>
              <a:off x="4497359" y="5526405"/>
              <a:ext cx="3197283"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n-lt"/>
                  <a:ea typeface="+mn-ea"/>
                  <a:cs typeface="+mn-cs"/>
                </a:rPr>
                <a:t xml:space="preserve">but not the </a:t>
              </a:r>
              <a:r>
                <a:rPr lang="en-US" sz="2100" b="1" dirty="0">
                  <a:solidFill>
                    <a:schemeClr val="accent2"/>
                  </a:solidFill>
                  <a:latin typeface="+mn-lt"/>
                  <a:ea typeface="+mn-ea"/>
                  <a:cs typeface="+mn-cs"/>
                </a:rPr>
                <a:t>BEST</a:t>
              </a:r>
              <a:r>
                <a:rPr lang="en-US" sz="2100" b="1" dirty="0">
                  <a:solidFill>
                    <a:schemeClr val="dk1"/>
                  </a:solidFill>
                  <a:latin typeface="+mn-lt"/>
                  <a:ea typeface="+mn-ea"/>
                  <a:cs typeface="+mn-cs"/>
                </a:rPr>
                <a:t xml:space="preserve"> one.</a:t>
              </a:r>
            </a:p>
          </p:txBody>
        </p:sp>
      </p:grpSp>
      <p:sp>
        <p:nvSpPr>
          <p:cNvPr id="33" name="cue_s07_c1_headline_finding_splits_two" title="cue_s07_c1_headline_finding_splits_two" descr="cue_s07_c1_headline_finding_splits_two The headline finding splits in two."/>
          <p:cNvSpPr/>
          <p:nvPr/>
        </p:nvSpPr>
        <p:spPr>
          <a:xfrm>
            <a:off x="7734604" y="571271"/>
            <a:ext cx="3772204"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7_c2_positive_side_masked_validation_drop" title="cue_s07_c2_positive_side_masked_validation_drop" descr="cue_s07_c2_positive_side_masked_validation_drop On the positive side, the masked-validation-drop search is genuinely effective at homogeneous selection: it correctly identifies the best attention for text classification and for ListOps, where Reformer stands out with a drop score of nearly twelve while ever"/>
          <p:cNvSpPr/>
          <p:nvPr/>
        </p:nvSpPr>
        <p:spPr>
          <a:xfrm>
            <a:off x="686409" y="1752904"/>
            <a:ext cx="5219395" cy="29338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7_c3_negative_side_when_authors_assemble" title="cue_s07_c3_negative_side_when_authors_assemble" descr="cue_s07_c3_negative_side_when_authors_assemble On the negative side, when the authors assemble heterogeneous Transformers that mix several attention types, none of them beats the best single-attention model on any of the three tasks."/>
          <p:cNvSpPr/>
          <p:nvPr/>
        </p:nvSpPr>
        <p:spPr>
          <a:xfrm>
            <a:off x="6286195" y="1752904"/>
            <a:ext cx="5219395" cy="29338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7_c4_mixing_attention_helps_you_beat" title="cue_s07_c4_mixing_attention_helps_you_beat" descr="cue_s07_c4_mixing_attention_helps_you_beat Mixing attention helps you beat the average choice, but not the best one."/>
          <p:cNvSpPr/>
          <p:nvPr/>
        </p:nvSpPr>
        <p:spPr>
          <a:xfrm>
            <a:off x="686409" y="4915128"/>
            <a:ext cx="108204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575310"/>
            <a:ext cx="1451092"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08 · ABLATION</a:t>
            </a:r>
          </a:p>
        </p:txBody>
      </p:sp>
      <p:sp>
        <p:nvSpPr>
          <p:cNvPr id="3" name="Rectangle 3"/>
          <p:cNvSpPr/>
          <p:nvPr/>
        </p:nvSpPr>
        <p:spPr>
          <a:xfrm>
            <a:off x="685800" y="819150"/>
            <a:ext cx="419100" cy="38100"/>
          </a:xfrm>
          <a:prstGeom prst="rect">
            <a:avLst/>
          </a:prstGeom>
          <a:solidFill>
            <a:schemeClr val="accent1"/>
          </a:solidFill>
          <a:ln>
            <a:noFill/>
          </a:ln>
        </p:spPr>
        <p:txBody>
          <a:bodyPr/>
          <a:p/>
        </p:txBody>
      </p:sp>
      <p:sp>
        <p:nvSpPr>
          <p:cNvPr id="4" name="TextBox 4"/>
          <p:cNvSpPr txBox="1"/>
          <p:nvPr/>
        </p:nvSpPr>
        <p:spPr>
          <a:xfrm>
            <a:off x="669036" y="920115"/>
            <a:ext cx="7302746"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 xml:space="preserve">The cheap search is </a:t>
            </a:r>
            <a:r>
              <a:rPr lang="en-US" sz="3300" b="1" dirty="0">
                <a:solidFill>
                  <a:schemeClr val="accent1"/>
                </a:solidFill>
                <a:latin typeface="+mn-lt"/>
                <a:ea typeface="+mn-ea"/>
                <a:cs typeface="+mn-cs"/>
              </a:rPr>
              <a:t>good enough</a:t>
            </a:r>
          </a:p>
        </p:txBody>
      </p:sp>
      <p:grpSp>
        <p:nvGrpSpPr>
          <p:cNvPr id="8" name="Group 8"/>
          <p:cNvGrpSpPr/>
          <p:nvPr/>
        </p:nvGrpSpPr>
        <p:grpSpPr>
          <a:xfrm>
            <a:off x="685800" y="1695450"/>
            <a:ext cx="5678404" cy="1047750"/>
            <a:chOff x="685800" y="1695450"/>
            <a:chExt cx="5678404" cy="1047750"/>
          </a:xfrm>
        </p:grpSpPr>
        <p:sp>
          <p:nvSpPr>
            <p:cNvPr id="5" name="Rectangle 5"/>
            <p:cNvSpPr/>
            <p:nvPr/>
          </p:nvSpPr>
          <p:spPr>
            <a:xfrm>
              <a:off x="685800" y="1695450"/>
              <a:ext cx="5143500" cy="1047750"/>
            </a:xfrm>
            <a:prstGeom prst="roundRect">
              <a:avLst>
                <a:gd name="adj" fmla="val 12727"/>
              </a:avLst>
            </a:prstGeom>
            <a:solidFill>
              <a:schemeClr val="lt2"/>
            </a:solidFill>
            <a:ln w="9525">
              <a:solidFill>
                <a:schemeClr val="accent4"/>
              </a:solidFill>
            </a:ln>
          </p:spPr>
        </p:sp>
        <p:sp>
          <p:nvSpPr>
            <p:cNvPr id="6" name="TextBox 6"/>
            <p:cNvSpPr txBox="1"/>
            <p:nvPr/>
          </p:nvSpPr>
          <p:spPr>
            <a:xfrm>
              <a:off x="905256" y="1920240"/>
              <a:ext cx="545894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 practical takeaway comes from comparing</a:t>
              </a:r>
            </a:p>
          </p:txBody>
        </p:sp>
        <p:sp>
          <p:nvSpPr>
            <p:cNvPr id="7" name="TextBox 7"/>
            <p:cNvSpPr txBox="1"/>
            <p:nvPr/>
          </p:nvSpPr>
          <p:spPr>
            <a:xfrm>
              <a:off x="905256" y="2225040"/>
              <a:ext cx="541224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the two heterogeneous search procedures.</a:t>
              </a:r>
            </a:p>
          </p:txBody>
        </p:sp>
      </p:grpSp>
      <p:grpSp>
        <p:nvGrpSpPr>
          <p:cNvPr id="16" name="Group 16"/>
          <p:cNvGrpSpPr/>
          <p:nvPr/>
        </p:nvGrpSpPr>
        <p:grpSpPr>
          <a:xfrm>
            <a:off x="685800" y="2895600"/>
            <a:ext cx="5235372" cy="1878139"/>
            <a:chOff x="685800" y="2895600"/>
            <a:chExt cx="5235372" cy="1878139"/>
          </a:xfrm>
        </p:grpSpPr>
        <p:sp>
          <p:nvSpPr>
            <p:cNvPr id="9" name="Rectangle 9"/>
            <p:cNvSpPr/>
            <p:nvPr/>
          </p:nvSpPr>
          <p:spPr>
            <a:xfrm>
              <a:off x="685800" y="2895600"/>
              <a:ext cx="5143500" cy="1866900"/>
            </a:xfrm>
            <a:prstGeom prst="roundRect">
              <a:avLst>
                <a:gd name="adj" fmla="val 7143"/>
              </a:avLst>
            </a:prstGeom>
            <a:solidFill>
              <a:schemeClr val="lt2"/>
            </a:solidFill>
            <a:ln w="9525">
              <a:solidFill>
                <a:schemeClr val="accent4"/>
              </a:solidFill>
            </a:ln>
          </p:spPr>
        </p:sp>
        <p:sp>
          <p:nvSpPr>
            <p:cNvPr id="10" name="TextBox 10"/>
            <p:cNvSpPr txBox="1"/>
            <p:nvPr/>
          </p:nvSpPr>
          <p:spPr>
            <a:xfrm>
              <a:off x="906780" y="3095625"/>
              <a:ext cx="2434742"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NAS PRUNE (EXPENSIVE)</a:t>
              </a:r>
            </a:p>
          </p:txBody>
        </p:sp>
        <p:sp>
          <p:nvSpPr>
            <p:cNvPr id="11" name="TextBox 11"/>
            <p:cNvSpPr txBox="1"/>
            <p:nvPr/>
          </p:nvSpPr>
          <p:spPr>
            <a:xfrm>
              <a:off x="906018" y="3384232"/>
              <a:ext cx="486665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Repeatedly remove the worst block and fine-</a:t>
              </a:r>
            </a:p>
          </p:txBody>
        </p:sp>
        <p:sp>
          <p:nvSpPr>
            <p:cNvPr id="12" name="TextBox 12"/>
            <p:cNvSpPr txBox="1"/>
            <p:nvPr/>
          </p:nvSpPr>
          <p:spPr>
            <a:xfrm>
              <a:off x="906018" y="3650932"/>
              <a:ext cx="501515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tune. It offers NO consistent advantage over</a:t>
              </a:r>
            </a:p>
          </p:txBody>
        </p:sp>
        <p:sp>
          <p:nvSpPr>
            <p:cNvPr id="13" name="TextBox 13"/>
            <p:cNvSpPr txBox="1"/>
            <p:nvPr/>
          </p:nvSpPr>
          <p:spPr>
            <a:xfrm>
              <a:off x="906018" y="3917632"/>
              <a:ext cx="459235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NAS One-shot, the cheap single-pass top-</a:t>
              </a:r>
            </a:p>
          </p:txBody>
        </p:sp>
        <p:sp>
          <p:nvSpPr>
            <p:cNvPr id="14" name="TextBox 14"/>
            <p:cNvSpPr txBox="1"/>
            <p:nvPr/>
          </p:nvSpPr>
          <p:spPr>
            <a:xfrm>
              <a:off x="906018" y="4184332"/>
              <a:ext cx="481462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scoring selection, when good attentions are</a:t>
              </a:r>
            </a:p>
          </p:txBody>
        </p:sp>
        <p:sp>
          <p:nvSpPr>
            <p:cNvPr id="15" name="TextBox 15"/>
            <p:cNvSpPr txBox="1"/>
            <p:nvPr/>
          </p:nvSpPr>
          <p:spPr>
            <a:xfrm>
              <a:off x="906018" y="4451032"/>
              <a:ext cx="230463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correctly identified.</a:t>
              </a:r>
            </a:p>
          </p:txBody>
        </p:sp>
      </p:grpSp>
      <p:grpSp>
        <p:nvGrpSpPr>
          <p:cNvPr id="22" name="Group 22"/>
          <p:cNvGrpSpPr/>
          <p:nvPr/>
        </p:nvGrpSpPr>
        <p:grpSpPr>
          <a:xfrm>
            <a:off x="685800" y="4914900"/>
            <a:ext cx="5143500" cy="1409700"/>
            <a:chOff x="685800" y="4914900"/>
            <a:chExt cx="5143500" cy="1409700"/>
          </a:xfrm>
        </p:grpSpPr>
        <p:sp>
          <p:nvSpPr>
            <p:cNvPr id="17" name="Rectangle 17"/>
            <p:cNvSpPr/>
            <p:nvPr/>
          </p:nvSpPr>
          <p:spPr>
            <a:xfrm>
              <a:off x="685800" y="4914900"/>
              <a:ext cx="5143500" cy="1409700"/>
            </a:xfrm>
            <a:prstGeom prst="roundRect">
              <a:avLst>
                <a:gd name="adj" fmla="val 9459"/>
              </a:avLst>
            </a:prstGeom>
            <a:solidFill>
              <a:schemeClr val="lt2"/>
            </a:solidFill>
            <a:ln w="9525">
              <a:solidFill>
                <a:schemeClr val="accent4"/>
              </a:solidFill>
            </a:ln>
          </p:spPr>
        </p:sp>
        <p:sp>
          <p:nvSpPr>
            <p:cNvPr id="18" name="TextBox 18"/>
            <p:cNvSpPr txBox="1"/>
            <p:nvPr/>
          </p:nvSpPr>
          <p:spPr>
            <a:xfrm>
              <a:off x="906018" y="5098732"/>
              <a:ext cx="4499781"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Tilting the mixture toward the strongest</a:t>
              </a:r>
            </a:p>
          </p:txBody>
        </p:sp>
        <p:sp>
          <p:nvSpPr>
            <p:cNvPr id="19" name="TextBox 19"/>
            <p:cNvSpPr txBox="1"/>
            <p:nvPr/>
          </p:nvSpPr>
          <p:spPr>
            <a:xfrm>
              <a:off x="906018" y="5365432"/>
              <a:ext cx="4803515"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attentions, or giving them more heads, also</a:t>
              </a:r>
            </a:p>
          </p:txBody>
        </p:sp>
        <p:sp>
          <p:nvSpPr>
            <p:cNvPr id="20" name="TextBox 20"/>
            <p:cNvSpPr txBox="1"/>
            <p:nvPr/>
          </p:nvSpPr>
          <p:spPr>
            <a:xfrm>
              <a:off x="906018" y="5632132"/>
              <a:ext cx="472577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failed to give consistent gains, reinforcing</a:t>
              </a:r>
            </a:p>
          </p:txBody>
        </p:sp>
        <p:sp>
          <p:nvSpPr>
            <p:cNvPr id="21" name="TextBox 21"/>
            <p:cNvSpPr txBox="1"/>
            <p:nvPr/>
          </p:nvSpPr>
          <p:spPr>
            <a:xfrm>
              <a:off x="906018" y="5898832"/>
              <a:ext cx="425709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that the cheap method is </a:t>
              </a:r>
              <a:r>
                <a:rPr lang="en-US" sz="1650" b="1" dirty="0">
                  <a:solidFill>
                    <a:schemeClr val="accent3"/>
                  </a:solidFill>
                  <a:latin typeface="+mn-lt"/>
                  <a:ea typeface="+mn-ea"/>
                  <a:cs typeface="+mn-cs"/>
                </a:rPr>
                <a:t>good enough</a:t>
              </a:r>
              <a:r>
                <a:rPr lang="en-US" sz="1650" dirty="0">
                  <a:solidFill>
                    <a:schemeClr val="dk1"/>
                  </a:solidFill>
                  <a:latin typeface="+mn-lt"/>
                  <a:ea typeface="+mn-ea"/>
                  <a:cs typeface="+mn-cs"/>
                </a:rPr>
                <a:t>.</a:t>
              </a:r>
            </a:p>
          </p:txBody>
        </p:sp>
      </p:grpSp>
      <p:grpSp>
        <p:nvGrpSpPr>
          <p:cNvPr id="27" name="Group 27"/>
          <p:cNvGrpSpPr/>
          <p:nvPr/>
        </p:nvGrpSpPr>
        <p:grpSpPr>
          <a:xfrm>
            <a:off x="6248400" y="1695450"/>
            <a:ext cx="5257800" cy="4629150"/>
            <a:chOff x="6248400" y="1695450"/>
            <a:chExt cx="5257800" cy="4629150"/>
          </a:xfrm>
        </p:grpSpPr>
        <p:sp>
          <p:nvSpPr>
            <p:cNvPr id="23" name="Rectangle 23"/>
            <p:cNvSpPr/>
            <p:nvPr/>
          </p:nvSpPr>
          <p:spPr>
            <a:xfrm>
              <a:off x="6248400" y="1695450"/>
              <a:ext cx="5257800" cy="4629150"/>
            </a:xfrm>
            <a:prstGeom prst="roundRect">
              <a:avLst>
                <a:gd name="adj" fmla="val 2881"/>
              </a:avLst>
            </a:prstGeom>
            <a:solidFill>
              <a:schemeClr val="lt1"/>
            </a:solidFill>
            <a:ln w="9525">
              <a:solidFill>
                <a:schemeClr val="accent4"/>
              </a:solidFill>
            </a:ln>
          </p:spPr>
        </p:sp>
        <p:pic>
          <p:nvPicPr>
            <p:cNvPr id="24" name="Image 24"/>
            <p:cNvPicPr>
              <a:picLocks noChangeAspect="1"/>
            </p:cNvPicPr>
            <p:nvPr/>
          </p:nvPicPr>
          <p:blipFill>
            <a:blip r:embed="rId2"/>
            <a:stretch>
              <a:fillRect/>
            </a:stretch>
          </p:blipFill>
          <p:spPr>
            <a:xfrm>
              <a:off x="6400800" y="1885950"/>
              <a:ext cx="4953000" cy="3695700"/>
            </a:xfrm>
            <a:prstGeom prst="rect">
              <a:avLst/>
            </a:prstGeom>
          </p:spPr>
        </p:pic>
        <p:sp>
          <p:nvSpPr>
            <p:cNvPr id="25" name="TextBox 25"/>
            <p:cNvSpPr txBox="1"/>
            <p:nvPr/>
          </p:nvSpPr>
          <p:spPr>
            <a:xfrm>
              <a:off x="6894348" y="5740718"/>
              <a:ext cx="3965904"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Fig. 3 — NAS Prune removes the worst block,</a:t>
              </a:r>
            </a:p>
          </p:txBody>
        </p:sp>
        <p:sp>
          <p:nvSpPr>
            <p:cNvPr id="26" name="TextBox 26"/>
            <p:cNvSpPr txBox="1"/>
            <p:nvPr/>
          </p:nvSpPr>
          <p:spPr>
            <a:xfrm>
              <a:off x="8275253" y="5969318"/>
              <a:ext cx="1204093"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worst-first.</a:t>
              </a:r>
            </a:p>
          </p:txBody>
        </p:sp>
      </p:grpSp>
      <p:sp>
        <p:nvSpPr>
          <p:cNvPr id="28" name="cue_s08_c1_useful_practical_takeaway_comes_comp" title="cue_s08_c1_useful_practical_takeaway_comes_comp" descr="cue_s08_c1_useful_practical_takeaway_comes_comp A useful practical takeaway comes from comparing the two heterogeneous search procedures."/>
          <p:cNvSpPr/>
          <p:nvPr/>
        </p:nvSpPr>
        <p:spPr>
          <a:xfrm>
            <a:off x="686409" y="1695297"/>
            <a:ext cx="5143804"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ue_s08_c2_expensive_nas_prune_method_which" title="cue_s08_c2_expensive_nas_prune_method_which" descr="cue_s08_c2_expensive_nas_prune_method_which The expensive NAS Prune method, which repeatedly removes the worst block and fine-tunes, offers no consistent advantage over the far cheaper NAS One-shot method that just takes the top-scoring attentions in a single pass, at least when good attentions are corr"/>
          <p:cNvSpPr/>
          <p:nvPr/>
        </p:nvSpPr>
        <p:spPr>
          <a:xfrm>
            <a:off x="686409" y="2895447"/>
            <a:ext cx="5235244" cy="187840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08_c3_attempts_tilt_mixture_toward_stronge" title="cue_s08_c3_attempts_tilt_mixture_toward_stronge" descr="cue_s08_c3_attempts_tilt_mixture_toward_stronge Attempts to tilt the mixture toward the strongest attentions or give them more heads also failed to produce consistent gains, reinforcing that the cheap method is good enough."/>
          <p:cNvSpPr/>
          <p:nvPr/>
        </p:nvSpPr>
        <p:spPr>
          <a:xfrm>
            <a:off x="686409" y="4915128"/>
            <a:ext cx="5143804"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70560"/>
            <a:ext cx="2365553"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09 · HEADLINE NUMBERS</a:t>
            </a:r>
          </a:p>
        </p:txBody>
      </p:sp>
      <p:sp>
        <p:nvSpPr>
          <p:cNvPr id="3" name="Rectangle 3"/>
          <p:cNvSpPr/>
          <p:nvPr/>
        </p:nvSpPr>
        <p:spPr>
          <a:xfrm>
            <a:off x="685800" y="914400"/>
            <a:ext cx="419100" cy="38100"/>
          </a:xfrm>
          <a:prstGeom prst="rect">
            <a:avLst/>
          </a:prstGeom>
          <a:solidFill>
            <a:schemeClr val="accent1"/>
          </a:solidFill>
          <a:ln>
            <a:noFill/>
          </a:ln>
        </p:spPr>
        <p:txBody>
          <a:bodyPr/>
          <a:p/>
        </p:txBody>
      </p:sp>
      <p:sp>
        <p:nvSpPr>
          <p:cNvPr id="4" name="TextBox 4"/>
          <p:cNvSpPr txBox="1"/>
          <p:nvPr/>
        </p:nvSpPr>
        <p:spPr>
          <a:xfrm>
            <a:off x="669036" y="1034415"/>
            <a:ext cx="5879259"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 xml:space="preserve">The pattern is </a:t>
            </a:r>
            <a:r>
              <a:rPr lang="en-US" sz="3300" b="1" dirty="0">
                <a:solidFill>
                  <a:schemeClr val="accent1"/>
                </a:solidFill>
                <a:latin typeface="+mn-lt"/>
                <a:ea typeface="+mn-ea"/>
                <a:cs typeface="+mn-cs"/>
              </a:rPr>
              <a:t>consistent</a:t>
            </a:r>
          </a:p>
        </p:txBody>
      </p:sp>
      <p:grpSp>
        <p:nvGrpSpPr>
          <p:cNvPr id="10" name="Group 10"/>
          <p:cNvGrpSpPr/>
          <p:nvPr/>
        </p:nvGrpSpPr>
        <p:grpSpPr>
          <a:xfrm>
            <a:off x="685800" y="1790700"/>
            <a:ext cx="3823508" cy="2705100"/>
            <a:chOff x="685800" y="1790700"/>
            <a:chExt cx="3823508" cy="2705100"/>
          </a:xfrm>
        </p:grpSpPr>
        <p:sp>
          <p:nvSpPr>
            <p:cNvPr id="5" name="Rectangle 5"/>
            <p:cNvSpPr/>
            <p:nvPr/>
          </p:nvSpPr>
          <p:spPr>
            <a:xfrm>
              <a:off x="685800" y="1790700"/>
              <a:ext cx="3429000" cy="2705100"/>
            </a:xfrm>
            <a:prstGeom prst="roundRect">
              <a:avLst>
                <a:gd name="adj" fmla="val 4930"/>
              </a:avLst>
            </a:prstGeom>
            <a:solidFill>
              <a:schemeClr val="lt2"/>
            </a:solidFill>
            <a:ln w="9525">
              <a:solidFill>
                <a:schemeClr val="accent4"/>
              </a:solidFill>
            </a:ln>
          </p:spPr>
        </p:sp>
        <p:sp>
          <p:nvSpPr>
            <p:cNvPr id="6" name="TextBox 6"/>
            <p:cNvSpPr txBox="1"/>
            <p:nvPr/>
          </p:nvSpPr>
          <p:spPr>
            <a:xfrm>
              <a:off x="943356" y="1977390"/>
              <a:ext cx="321505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ListOps — selection signal</a:t>
              </a:r>
            </a:p>
          </p:txBody>
        </p:sp>
        <p:sp>
          <p:nvSpPr>
            <p:cNvPr id="7" name="TextBox 7"/>
            <p:cNvSpPr txBox="1"/>
            <p:nvPr/>
          </p:nvSpPr>
          <p:spPr>
            <a:xfrm>
              <a:off x="933450" y="2423160"/>
              <a:ext cx="2836850" cy="1390650"/>
            </a:xfrm>
            <a:prstGeom prst="rect">
              <a:avLst/>
            </a:prstGeom>
            <a:noFill/>
            <a:ln>
              <a:noFill/>
            </a:ln>
          </p:spPr>
          <p:txBody>
            <a:bodyPr wrap="none" lIns="0" tIns="0" rIns="0" bIns="0" anchor="t" anchorCtr="0">
              <a:spAutoFit/>
            </a:bodyPr>
            <a:lstStyle/>
            <a:p>
              <a:pPr algn="l"/>
              <a:r>
                <a:rPr lang="en-US" sz="7200" b="1" dirty="0">
                  <a:solidFill>
                    <a:schemeClr val="accent1"/>
                  </a:solidFill>
                  <a:latin typeface="+mn-lt"/>
                  <a:ea typeface="+mn-ea"/>
                  <a:cs typeface="+mn-cs"/>
                </a:rPr>
                <a:t>11.85</a:t>
              </a:r>
            </a:p>
          </p:txBody>
        </p:sp>
        <p:sp>
          <p:nvSpPr>
            <p:cNvPr id="8" name="TextBox 8"/>
            <p:cNvSpPr txBox="1"/>
            <p:nvPr/>
          </p:nvSpPr>
          <p:spPr>
            <a:xfrm>
              <a:off x="945642" y="3435668"/>
              <a:ext cx="356366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Reformer masked-validation-drop score</a:t>
              </a:r>
            </a:p>
          </p:txBody>
        </p:sp>
        <p:sp>
          <p:nvSpPr>
            <p:cNvPr id="9" name="TextBox 9"/>
            <p:cNvSpPr txBox="1"/>
            <p:nvPr/>
          </p:nvSpPr>
          <p:spPr>
            <a:xfrm>
              <a:off x="945642" y="3911918"/>
              <a:ext cx="3065526" cy="511683"/>
            </a:xfrm>
            <a:prstGeom prst="rect">
              <a:avLst/>
            </a:prstGeom>
            <a:noFill/>
            <a:ln>
              <a:noFill/>
            </a:ln>
          </p:spPr>
          <p:txBody>
            <a:bodyPr wrap="square" lIns="0" tIns="0" rIns="0" bIns="0" anchor="t" anchorCtr="0"/>
            <a:lstStyle/>
            <a:p>
              <a:pPr algn="l">
                <a:lnSpc>
                  <a:spcPts val="1950"/>
                </a:lnSpc>
              </a:pPr>
              <a:r>
                <a:rPr lang="en-US" sz="1350" dirty="0">
                  <a:solidFill>
                    <a:schemeClr val="dk1"/>
                  </a:solidFill>
                  <a:latin typeface="+mn-lt"/>
                  <a:ea typeface="+mn-ea"/>
                  <a:cs typeface="+mn-cs"/>
                </a:rPr>
                <a:t>vs &lt; 0.5 for every other attention — a strikingly clean signal.</a:t>
              </a:r>
            </a:p>
          </p:txBody>
        </p:sp>
      </p:grpSp>
      <p:grpSp>
        <p:nvGrpSpPr>
          <p:cNvPr id="16" name="Group 16"/>
          <p:cNvGrpSpPr/>
          <p:nvPr/>
        </p:nvGrpSpPr>
        <p:grpSpPr>
          <a:xfrm>
            <a:off x="4381500" y="1790700"/>
            <a:ext cx="3513963" cy="2705100"/>
            <a:chOff x="4381500" y="1790700"/>
            <a:chExt cx="3513963" cy="2705100"/>
          </a:xfrm>
        </p:grpSpPr>
        <p:sp>
          <p:nvSpPr>
            <p:cNvPr id="11" name="Rectangle 11"/>
            <p:cNvSpPr/>
            <p:nvPr/>
          </p:nvSpPr>
          <p:spPr>
            <a:xfrm>
              <a:off x="4381500" y="1790700"/>
              <a:ext cx="3429000" cy="2705100"/>
            </a:xfrm>
            <a:prstGeom prst="roundRect">
              <a:avLst>
                <a:gd name="adj" fmla="val 4930"/>
              </a:avLst>
            </a:prstGeom>
            <a:solidFill>
              <a:schemeClr val="lt2"/>
            </a:solidFill>
            <a:ln w="9525">
              <a:solidFill>
                <a:schemeClr val="accent4"/>
              </a:solidFill>
            </a:ln>
          </p:spPr>
        </p:sp>
        <p:sp>
          <p:nvSpPr>
            <p:cNvPr id="12" name="TextBox 12"/>
            <p:cNvSpPr txBox="1"/>
            <p:nvPr/>
          </p:nvSpPr>
          <p:spPr>
            <a:xfrm>
              <a:off x="4639056" y="1977390"/>
              <a:ext cx="301781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Document matching (4k)</a:t>
              </a:r>
            </a:p>
          </p:txBody>
        </p:sp>
        <p:sp>
          <p:nvSpPr>
            <p:cNvPr id="13" name="TextBox 13"/>
            <p:cNvSpPr txBox="1"/>
            <p:nvPr/>
          </p:nvSpPr>
          <p:spPr>
            <a:xfrm>
              <a:off x="4629150" y="2423160"/>
              <a:ext cx="3040395" cy="1390650"/>
            </a:xfrm>
            <a:prstGeom prst="rect">
              <a:avLst/>
            </a:prstGeom>
            <a:noFill/>
            <a:ln>
              <a:noFill/>
            </a:ln>
          </p:spPr>
          <p:txBody>
            <a:bodyPr wrap="none" lIns="0" tIns="0" rIns="0" bIns="0" anchor="t" anchorCtr="0">
              <a:spAutoFit/>
            </a:bodyPr>
            <a:lstStyle/>
            <a:p>
              <a:pPr algn="l"/>
              <a:r>
                <a:rPr lang="en-US" sz="7200" b="1" dirty="0">
                  <a:solidFill>
                    <a:schemeClr val="accent1"/>
                  </a:solidFill>
                  <a:latin typeface="+mn-lt"/>
                  <a:ea typeface="+mn-ea"/>
                  <a:cs typeface="+mn-cs"/>
                </a:rPr>
                <a:t>71.1%</a:t>
              </a:r>
            </a:p>
          </p:txBody>
        </p:sp>
        <p:sp>
          <p:nvSpPr>
            <p:cNvPr id="14" name="TextBox 14"/>
            <p:cNvSpPr txBox="1"/>
            <p:nvPr/>
          </p:nvSpPr>
          <p:spPr>
            <a:xfrm>
              <a:off x="4641342" y="3435668"/>
              <a:ext cx="287319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Synthesizer — best homogeneous</a:t>
              </a:r>
            </a:p>
          </p:txBody>
        </p:sp>
        <p:sp>
          <p:nvSpPr>
            <p:cNvPr id="15" name="TextBox 15"/>
            <p:cNvSpPr txBox="1"/>
            <p:nvPr/>
          </p:nvSpPr>
          <p:spPr>
            <a:xfrm>
              <a:off x="4641342" y="3911918"/>
              <a:ext cx="3254121" cy="511683"/>
            </a:xfrm>
            <a:prstGeom prst="rect">
              <a:avLst/>
            </a:prstGeom>
            <a:noFill/>
            <a:ln>
              <a:noFill/>
            </a:ln>
          </p:spPr>
          <p:txBody>
            <a:bodyPr wrap="square" lIns="0" tIns="0" rIns="0" bIns="0" anchor="t" anchorCtr="0"/>
            <a:lstStyle/>
            <a:p>
              <a:pPr algn="l">
                <a:lnSpc>
                  <a:spcPts val="1950"/>
                </a:lnSpc>
              </a:pPr>
              <a:r>
                <a:rPr lang="en-US" sz="1350" dirty="0">
                  <a:solidFill>
                    <a:schemeClr val="dk2"/>
                  </a:solidFill>
                  <a:latin typeface="+mn-lt"/>
                  <a:ea typeface="+mn-ea"/>
                  <a:cs typeface="+mn-cs"/>
                </a:rPr>
                <a:t>NAS Prune 67.0% · NAS One-shot 64.7% (heterogeneous trails)</a:t>
              </a:r>
            </a:p>
          </p:txBody>
        </p:sp>
      </p:grpSp>
      <p:grpSp>
        <p:nvGrpSpPr>
          <p:cNvPr id="22" name="Group 22"/>
          <p:cNvGrpSpPr/>
          <p:nvPr/>
        </p:nvGrpSpPr>
        <p:grpSpPr>
          <a:xfrm>
            <a:off x="8077200" y="1790700"/>
            <a:ext cx="3513963" cy="2705100"/>
            <a:chOff x="8077200" y="1790700"/>
            <a:chExt cx="3513963" cy="2705100"/>
          </a:xfrm>
        </p:grpSpPr>
        <p:sp>
          <p:nvSpPr>
            <p:cNvPr id="17" name="Rectangle 17"/>
            <p:cNvSpPr/>
            <p:nvPr/>
          </p:nvSpPr>
          <p:spPr>
            <a:xfrm>
              <a:off x="8077200" y="1790700"/>
              <a:ext cx="3429000" cy="2705100"/>
            </a:xfrm>
            <a:prstGeom prst="roundRect">
              <a:avLst>
                <a:gd name="adj" fmla="val 4930"/>
              </a:avLst>
            </a:prstGeom>
            <a:solidFill>
              <a:schemeClr val="lt2"/>
            </a:solidFill>
            <a:ln w="9525">
              <a:solidFill>
                <a:schemeClr val="accent4"/>
              </a:solidFill>
            </a:ln>
          </p:spPr>
        </p:sp>
        <p:sp>
          <p:nvSpPr>
            <p:cNvPr id="18" name="TextBox 18"/>
            <p:cNvSpPr txBox="1"/>
            <p:nvPr/>
          </p:nvSpPr>
          <p:spPr>
            <a:xfrm>
              <a:off x="8334756" y="1977390"/>
              <a:ext cx="300400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Text classification (1k)</a:t>
              </a:r>
            </a:p>
          </p:txBody>
        </p:sp>
        <p:sp>
          <p:nvSpPr>
            <p:cNvPr id="19" name="TextBox 19"/>
            <p:cNvSpPr txBox="1"/>
            <p:nvPr/>
          </p:nvSpPr>
          <p:spPr>
            <a:xfrm>
              <a:off x="8324850" y="2423160"/>
              <a:ext cx="3040395" cy="1390650"/>
            </a:xfrm>
            <a:prstGeom prst="rect">
              <a:avLst/>
            </a:prstGeom>
            <a:noFill/>
            <a:ln>
              <a:noFill/>
            </a:ln>
          </p:spPr>
          <p:txBody>
            <a:bodyPr wrap="none" lIns="0" tIns="0" rIns="0" bIns="0" anchor="t" anchorCtr="0">
              <a:spAutoFit/>
            </a:bodyPr>
            <a:lstStyle/>
            <a:p>
              <a:pPr algn="l"/>
              <a:r>
                <a:rPr lang="en-US" sz="7200" b="1" dirty="0">
                  <a:solidFill>
                    <a:schemeClr val="accent1"/>
                  </a:solidFill>
                  <a:latin typeface="+mn-lt"/>
                  <a:ea typeface="+mn-ea"/>
                  <a:cs typeface="+mn-cs"/>
                </a:rPr>
                <a:t>64.5%</a:t>
              </a:r>
            </a:p>
          </p:txBody>
        </p:sp>
        <p:sp>
          <p:nvSpPr>
            <p:cNvPr id="20" name="TextBox 20"/>
            <p:cNvSpPr txBox="1"/>
            <p:nvPr/>
          </p:nvSpPr>
          <p:spPr>
            <a:xfrm>
              <a:off x="8337042" y="3435668"/>
              <a:ext cx="27553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Performer — best homogeneous</a:t>
              </a:r>
            </a:p>
          </p:txBody>
        </p:sp>
        <p:sp>
          <p:nvSpPr>
            <p:cNvPr id="21" name="TextBox 21"/>
            <p:cNvSpPr txBox="1"/>
            <p:nvPr/>
          </p:nvSpPr>
          <p:spPr>
            <a:xfrm>
              <a:off x="8337042" y="3911918"/>
              <a:ext cx="3254121" cy="511683"/>
            </a:xfrm>
            <a:prstGeom prst="rect">
              <a:avLst/>
            </a:prstGeom>
            <a:noFill/>
            <a:ln>
              <a:noFill/>
            </a:ln>
          </p:spPr>
          <p:txBody>
            <a:bodyPr wrap="square" lIns="0" tIns="0" rIns="0" bIns="0" anchor="t" anchorCtr="0"/>
            <a:lstStyle/>
            <a:p>
              <a:pPr algn="l">
                <a:lnSpc>
                  <a:spcPts val="1950"/>
                </a:lnSpc>
              </a:pPr>
              <a:r>
                <a:rPr lang="en-US" sz="1350" dirty="0">
                  <a:solidFill>
                    <a:schemeClr val="dk2"/>
                  </a:solidFill>
                  <a:latin typeface="+mn-lt"/>
                  <a:ea typeface="+mn-ea"/>
                  <a:cs typeface="+mn-cs"/>
                </a:rPr>
                <a:t>NAS Prune 63.9% · NAS One-shot 64.4% (never ahead)</a:t>
              </a:r>
            </a:p>
          </p:txBody>
        </p:sp>
      </p:grpSp>
      <p:grpSp>
        <p:nvGrpSpPr>
          <p:cNvPr id="27" name="Group 27"/>
          <p:cNvGrpSpPr/>
          <p:nvPr/>
        </p:nvGrpSpPr>
        <p:grpSpPr>
          <a:xfrm>
            <a:off x="685800" y="4762500"/>
            <a:ext cx="10820400" cy="990600"/>
            <a:chOff x="685800" y="4762500"/>
            <a:chExt cx="10820400" cy="990600"/>
          </a:xfrm>
        </p:grpSpPr>
        <p:sp>
          <p:nvSpPr>
            <p:cNvPr id="23" name="Rectangle 23"/>
            <p:cNvSpPr/>
            <p:nvPr/>
          </p:nvSpPr>
          <p:spPr>
            <a:xfrm>
              <a:off x="685800" y="4762500"/>
              <a:ext cx="10820400" cy="990600"/>
            </a:xfrm>
            <a:prstGeom prst="roundRect">
              <a:avLst>
                <a:gd name="adj" fmla="val 13462"/>
              </a:avLst>
            </a:prstGeom>
            <a:solidFill>
              <a:schemeClr val="lt2"/>
            </a:solidFill>
            <a:ln w="9525">
              <a:solidFill>
                <a:schemeClr val="accent4"/>
              </a:solidFill>
            </a:ln>
          </p:spPr>
        </p:sp>
        <p:sp>
          <p:nvSpPr>
            <p:cNvPr id="24" name="Rectangle 24"/>
            <p:cNvSpPr/>
            <p:nvPr/>
          </p:nvSpPr>
          <p:spPr>
            <a:xfrm>
              <a:off x="685800" y="4762500"/>
              <a:ext cx="57150" cy="990600"/>
            </a:xfrm>
            <a:prstGeom prst="roundRect">
              <a:avLst>
                <a:gd name="adj" fmla="val 50000"/>
              </a:avLst>
            </a:prstGeom>
            <a:solidFill>
              <a:schemeClr val="accent1"/>
            </a:solidFill>
            <a:ln>
              <a:noFill/>
            </a:ln>
          </p:spPr>
        </p:sp>
        <p:sp>
          <p:nvSpPr>
            <p:cNvPr id="25" name="TextBox 25"/>
            <p:cNvSpPr txBox="1"/>
            <p:nvPr/>
          </p:nvSpPr>
          <p:spPr>
            <a:xfrm>
              <a:off x="1056894" y="4990148"/>
              <a:ext cx="9718334"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Across 9 attention mechanisms and 3 tasks — the pattern is consistent:</a:t>
              </a:r>
            </a:p>
          </p:txBody>
        </p:sp>
        <p:sp>
          <p:nvSpPr>
            <p:cNvPr id="26" name="TextBox 26"/>
            <p:cNvSpPr txBox="1"/>
            <p:nvPr/>
          </p:nvSpPr>
          <p:spPr>
            <a:xfrm>
              <a:off x="1056894" y="5333048"/>
              <a:ext cx="414054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 xml:space="preserve">heterogeneous is </a:t>
              </a:r>
              <a:r>
                <a:rPr lang="en-US" sz="1950" b="1" dirty="0">
                  <a:solidFill>
                    <a:schemeClr val="accent2"/>
                  </a:solidFill>
                  <a:latin typeface="+mn-lt"/>
                  <a:ea typeface="+mn-ea"/>
                  <a:cs typeface="+mn-cs"/>
                </a:rPr>
                <a:t>never ahead</a:t>
              </a:r>
              <a:r>
                <a:rPr lang="en-US" sz="1950" b="1" dirty="0">
                  <a:solidFill>
                    <a:schemeClr val="dk1"/>
                  </a:solidFill>
                  <a:latin typeface="+mn-lt"/>
                  <a:ea typeface="+mn-ea"/>
                  <a:cs typeface="+mn-cs"/>
                </a:rPr>
                <a:t>.</a:t>
              </a:r>
            </a:p>
          </p:txBody>
        </p:sp>
      </p:grpSp>
      <p:sp>
        <p:nvSpPr>
          <p:cNvPr id="28" name="cue_s09_c1_put_concrete_numbers_listops_reforme" title="cue_s09_c1_put_concrete_numbers_listops_reforme" descr="cue_s09_c1_put_concrete_numbers_listops_reforme To put concrete numbers on it: on ListOps, Reformer earns a masked-validation-drop score of eleven point eight five, dwarfing every other attention's score of under half a point, a strikingly clean selection signal."/>
          <p:cNvSpPr/>
          <p:nvPr/>
        </p:nvSpPr>
        <p:spPr>
          <a:xfrm>
            <a:off x="686409" y="1790623"/>
            <a:ext cx="3823411"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ue_s09_c2_document_matching_best_homogeneous_s" title="cue_s09_c2_document_matching_best_homogeneous_s" descr="cue_s09_c2_document_matching_best_homogeneous_s On document matching, the best homogeneous model, Synthesizer, reaches seventy-one point one percent, while the heterogeneous NAS Prune and NAS One-shot models trail at sixty-seven and sixty-four point seven percent."/>
          <p:cNvSpPr/>
          <p:nvPr/>
        </p:nvSpPr>
        <p:spPr>
          <a:xfrm>
            <a:off x="4381804" y="1790623"/>
            <a:ext cx="3513734"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09_c3_text_classification_best_homogeneous" title="cue_s09_c3_text_classification_best_homogeneous" descr="cue_s09_c3_text_classification_best_homogeneous On text classification the best homogeneous Performer hits sixty-four point five percent, and again neither heterogeneous variant edges ahead."/>
          <p:cNvSpPr/>
          <p:nvPr/>
        </p:nvSpPr>
        <p:spPr>
          <a:xfrm>
            <a:off x="8077200" y="1790623"/>
            <a:ext cx="3513734" cy="27047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09_c4_across_nine_attention_mechanisms_thr" title="cue_s09_c4_across_nine_attention_mechanisms_thr" descr="cue_s09_c4_across_nine_attention_mechanisms_thr Across nine attention mechanisms and three tasks, the pattern is consistent."/>
          <p:cNvSpPr/>
          <p:nvPr/>
        </p:nvSpPr>
        <p:spPr>
          <a:xfrm>
            <a:off x="686409" y="4762195"/>
            <a:ext cx="1082040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79704" y="670560"/>
            <a:ext cx="1495897"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10 · TAKEAWAY</a:t>
            </a:r>
          </a:p>
        </p:txBody>
      </p:sp>
      <p:sp>
        <p:nvSpPr>
          <p:cNvPr id="3" name="Rectangle 3"/>
          <p:cNvSpPr/>
          <p:nvPr/>
        </p:nvSpPr>
        <p:spPr>
          <a:xfrm>
            <a:off x="685800" y="933450"/>
            <a:ext cx="419100" cy="38100"/>
          </a:xfrm>
          <a:prstGeom prst="rect">
            <a:avLst/>
          </a:prstGeom>
          <a:solidFill>
            <a:schemeClr val="accent1"/>
          </a:solidFill>
          <a:ln>
            <a:noFill/>
          </a:ln>
        </p:spPr>
        <p:txBody>
          <a:bodyPr/>
          <a:p/>
        </p:txBody>
      </p:sp>
      <p:sp>
        <p:nvSpPr>
          <p:cNvPr id="4" name="TextBox 4"/>
          <p:cNvSpPr txBox="1"/>
          <p:nvPr/>
        </p:nvSpPr>
        <p:spPr>
          <a:xfrm>
            <a:off x="669036" y="1015365"/>
            <a:ext cx="914555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 cheap recipe — and a cautionary lesson</a:t>
            </a:r>
          </a:p>
        </p:txBody>
      </p:sp>
      <p:grpSp>
        <p:nvGrpSpPr>
          <p:cNvPr id="10" name="Group 10"/>
          <p:cNvGrpSpPr/>
          <p:nvPr/>
        </p:nvGrpSpPr>
        <p:grpSpPr>
          <a:xfrm>
            <a:off x="685800" y="1676400"/>
            <a:ext cx="5334000" cy="4343400"/>
            <a:chOff x="685800" y="1676400"/>
            <a:chExt cx="5334000" cy="4343400"/>
          </a:xfrm>
        </p:grpSpPr>
        <p:sp>
          <p:nvSpPr>
            <p:cNvPr id="5" name="Rectangle 5"/>
            <p:cNvSpPr/>
            <p:nvPr/>
          </p:nvSpPr>
          <p:spPr>
            <a:xfrm>
              <a:off x="685800" y="1676400"/>
              <a:ext cx="5334000" cy="4343400"/>
            </a:xfrm>
            <a:prstGeom prst="roundRect">
              <a:avLst>
                <a:gd name="adj" fmla="val 3070"/>
              </a:avLst>
            </a:prstGeom>
            <a:solidFill>
              <a:schemeClr val="lt2"/>
            </a:solidFill>
            <a:ln w="9525">
              <a:solidFill>
                <a:schemeClr val="accent4"/>
              </a:solidFill>
            </a:ln>
          </p:spPr>
        </p:sp>
        <p:sp>
          <p:nvSpPr>
            <p:cNvPr id="6" name="TextBox 6"/>
            <p:cNvSpPr txBox="1"/>
            <p:nvPr/>
          </p:nvSpPr>
          <p:spPr>
            <a:xfrm>
              <a:off x="979170" y="1871662"/>
              <a:ext cx="1623060"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The recipe</a:t>
              </a:r>
            </a:p>
          </p:txBody>
        </p:sp>
        <p:sp>
          <p:nvSpPr>
            <p:cNvPr id="7" name="TextBox 7"/>
            <p:cNvSpPr txBox="1"/>
            <p:nvPr/>
          </p:nvSpPr>
          <p:spPr>
            <a:xfrm>
              <a:off x="982218" y="2393632"/>
              <a:ext cx="4354449" cy="1541907"/>
            </a:xfrm>
            <a:prstGeom prst="rect">
              <a:avLst/>
            </a:prstGeom>
            <a:noFill/>
            <a:ln>
              <a:noFill/>
            </a:ln>
          </p:spPr>
          <p:txBody>
            <a:bodyPr wrap="square" lIns="0" tIns="0" rIns="0" bIns="0" anchor="t" anchorCtr="0"/>
            <a:lstStyle/>
            <a:p>
              <a:pPr algn="l">
                <a:lnSpc>
                  <a:spcPts val="2400"/>
                </a:lnSpc>
              </a:pPr>
              <a:r>
                <a:rPr lang="en-US" sz="1650" dirty="0">
                  <a:solidFill>
                    <a:schemeClr val="dk1"/>
                  </a:solidFill>
                  <a:latin typeface="+mn-lt"/>
                  <a:ea typeface="+mn-ea"/>
                  <a:cs typeface="+mn-cs"/>
                </a:rPr>
                <a:t>For a given task it's often unclear which attention will do best. DARTFormer offers a cheap, reliable recipe: train a single- layer mixed-attention Transformer and rank by masked validation accuracy drop.</a:t>
              </a:r>
            </a:p>
          </p:txBody>
        </p:sp>
        <p:sp>
          <p:nvSpPr>
            <p:cNvPr id="8" name="Rectangle 8"/>
            <p:cNvSpPr/>
            <p:nvPr/>
          </p:nvSpPr>
          <p:spPr>
            <a:xfrm>
              <a:off x="990600" y="4476750"/>
              <a:ext cx="4038600" cy="9525"/>
            </a:xfrm>
            <a:prstGeom prst="rect">
              <a:avLst/>
            </a:prstGeom>
            <a:solidFill>
              <a:schemeClr val="accent4"/>
            </a:solidFill>
            <a:ln>
              <a:noFill/>
            </a:ln>
          </p:spPr>
        </p:sp>
        <p:sp>
          <p:nvSpPr>
            <p:cNvPr id="9" name="TextBox 9"/>
            <p:cNvSpPr txBox="1"/>
            <p:nvPr/>
          </p:nvSpPr>
          <p:spPr>
            <a:xfrm>
              <a:off x="982218" y="4717732"/>
              <a:ext cx="4065270" cy="627507"/>
            </a:xfrm>
            <a:prstGeom prst="rect">
              <a:avLst/>
            </a:prstGeom>
            <a:noFill/>
            <a:ln>
              <a:noFill/>
            </a:ln>
          </p:spPr>
          <p:txBody>
            <a:bodyPr wrap="square" lIns="0" tIns="0" rIns="0" bIns="0" anchor="t" anchorCtr="0"/>
            <a:lstStyle/>
            <a:p>
              <a:pPr algn="l">
                <a:lnSpc>
                  <a:spcPts val="2400"/>
                </a:lnSpc>
              </a:pPr>
              <a:r>
                <a:rPr lang="en-US" sz="1650" b="1" dirty="0">
                  <a:solidFill>
                    <a:schemeClr val="accent2"/>
                  </a:solidFill>
                  <a:latin typeface="+mn-lt"/>
                  <a:ea typeface="+mn-ea"/>
                  <a:cs typeface="+mn-cs"/>
                </a:rPr>
                <a:t>⚠ Very low drop scores warn the pick may be unreliable.</a:t>
              </a:r>
            </a:p>
          </p:txBody>
        </p:sp>
      </p:grpSp>
      <p:grpSp>
        <p:nvGrpSpPr>
          <p:cNvPr id="14" name="Group 14"/>
          <p:cNvGrpSpPr/>
          <p:nvPr/>
        </p:nvGrpSpPr>
        <p:grpSpPr>
          <a:xfrm>
            <a:off x="6248400" y="1676400"/>
            <a:ext cx="5257800" cy="1409700"/>
            <a:chOff x="6248400" y="1676400"/>
            <a:chExt cx="5257800" cy="1409700"/>
          </a:xfrm>
        </p:grpSpPr>
        <p:sp>
          <p:nvSpPr>
            <p:cNvPr id="11" name="Rectangle 11"/>
            <p:cNvSpPr/>
            <p:nvPr/>
          </p:nvSpPr>
          <p:spPr>
            <a:xfrm>
              <a:off x="6248400" y="1676400"/>
              <a:ext cx="5257800" cy="1409700"/>
            </a:xfrm>
            <a:prstGeom prst="roundRect">
              <a:avLst>
                <a:gd name="adj" fmla="val 9459"/>
              </a:avLst>
            </a:prstGeom>
            <a:solidFill>
              <a:schemeClr val="lt2"/>
            </a:solidFill>
            <a:ln w="9525">
              <a:solidFill>
                <a:schemeClr val="accent4"/>
              </a:solidFill>
            </a:ln>
          </p:spPr>
        </p:sp>
        <p:sp>
          <p:nvSpPr>
            <p:cNvPr id="12" name="TextBox 12"/>
            <p:cNvSpPr txBox="1"/>
            <p:nvPr/>
          </p:nvSpPr>
          <p:spPr>
            <a:xfrm>
              <a:off x="6547104" y="1985010"/>
              <a:ext cx="1975531" cy="234696"/>
            </a:xfrm>
            <a:prstGeom prst="rect">
              <a:avLst/>
            </a:prstGeom>
            <a:noFill/>
            <a:ln>
              <a:noFill/>
            </a:ln>
          </p:spPr>
          <p:txBody>
            <a:bodyPr wrap="none" lIns="0" tIns="0" rIns="0" bIns="0" anchor="t" anchorCtr="0">
              <a:spAutoFit/>
            </a:bodyPr>
            <a:lstStyle/>
            <a:p>
              <a:pPr algn="l"/>
              <a:r>
                <a:rPr lang="en-US" sz="1200" b="1" spc="150" dirty="0">
                  <a:solidFill>
                    <a:schemeClr val="dk2"/>
                  </a:solidFill>
                  <a:latin typeface="+mn-lt"/>
                  <a:ea typeface="+mn-ea"/>
                  <a:cs typeface="+mn-cs"/>
                </a:rPr>
                <a:t>THE DEEPER LESSON</a:t>
              </a:r>
            </a:p>
          </p:txBody>
        </p:sp>
        <p:sp>
          <p:nvSpPr>
            <p:cNvPr id="13" name="TextBox 13"/>
            <p:cNvSpPr txBox="1"/>
            <p:nvPr/>
          </p:nvSpPr>
          <p:spPr>
            <a:xfrm>
              <a:off x="6543294" y="2323148"/>
              <a:ext cx="4219337" cy="705231"/>
            </a:xfrm>
            <a:prstGeom prst="rect">
              <a:avLst/>
            </a:prstGeom>
            <a:noFill/>
            <a:ln>
              <a:noFill/>
            </a:ln>
          </p:spPr>
          <p:txBody>
            <a:bodyPr wrap="square" lIns="0" tIns="0" rIns="0" bIns="0" anchor="t" anchorCtr="0"/>
            <a:lstStyle/>
            <a:p>
              <a:pPr algn="l">
                <a:lnSpc>
                  <a:spcPts val="2550"/>
                </a:lnSpc>
              </a:pPr>
              <a:r>
                <a:rPr lang="en-US" sz="1950" b="1" dirty="0">
                  <a:solidFill>
                    <a:schemeClr val="dk1"/>
                  </a:solidFill>
                  <a:latin typeface="+mn-lt"/>
                  <a:ea typeface="+mn-ea"/>
                  <a:cs typeface="+mn-cs"/>
                </a:rPr>
                <a:t>The deeper lesson is a cautionary one for the field.</a:t>
              </a:r>
            </a:p>
          </p:txBody>
        </p:sp>
      </p:grpSp>
      <p:grpSp>
        <p:nvGrpSpPr>
          <p:cNvPr id="19" name="Group 19"/>
          <p:cNvGrpSpPr/>
          <p:nvPr/>
        </p:nvGrpSpPr>
        <p:grpSpPr>
          <a:xfrm>
            <a:off x="6248400" y="3276600"/>
            <a:ext cx="5257800" cy="2743200"/>
            <a:chOff x="6248400" y="3276600"/>
            <a:chExt cx="5257800" cy="2743200"/>
          </a:xfrm>
        </p:grpSpPr>
        <p:sp>
          <p:nvSpPr>
            <p:cNvPr id="15" name="Rectangle 15"/>
            <p:cNvSpPr/>
            <p:nvPr/>
          </p:nvSpPr>
          <p:spPr>
            <a:xfrm>
              <a:off x="6248400" y="3276600"/>
              <a:ext cx="5257800" cy="2743200"/>
            </a:xfrm>
            <a:prstGeom prst="roundRect">
              <a:avLst>
                <a:gd name="adj" fmla="val 4861"/>
              </a:avLst>
            </a:prstGeom>
            <a:solidFill>
              <a:schemeClr val="lt2"/>
            </a:solidFill>
            <a:ln w="14288">
              <a:solidFill>
                <a:schemeClr val="accent1"/>
              </a:solidFill>
            </a:ln>
          </p:spPr>
        </p:sp>
        <p:sp>
          <p:nvSpPr>
            <p:cNvPr id="16" name="TextBox 16"/>
            <p:cNvSpPr txBox="1"/>
            <p:nvPr/>
          </p:nvSpPr>
          <p:spPr>
            <a:xfrm>
              <a:off x="6547104" y="3585210"/>
              <a:ext cx="117543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FINDING</a:t>
              </a:r>
            </a:p>
          </p:txBody>
        </p:sp>
        <p:sp>
          <p:nvSpPr>
            <p:cNvPr id="17" name="TextBox 17"/>
            <p:cNvSpPr txBox="1"/>
            <p:nvPr/>
          </p:nvSpPr>
          <p:spPr>
            <a:xfrm>
              <a:off x="6544056" y="3939540"/>
              <a:ext cx="4314825" cy="980694"/>
            </a:xfrm>
            <a:prstGeom prst="rect">
              <a:avLst/>
            </a:prstGeom>
            <a:noFill/>
            <a:ln>
              <a:noFill/>
            </a:ln>
          </p:spPr>
          <p:txBody>
            <a:bodyPr wrap="square" lIns="0" tIns="0" rIns="0" bIns="0" anchor="t" anchorCtr="0"/>
            <a:lstStyle/>
            <a:p>
              <a:pPr algn="l">
                <a:lnSpc>
                  <a:spcPts val="2475"/>
                </a:lnSpc>
              </a:pPr>
              <a:r>
                <a:rPr lang="en-US" sz="1800" b="1" dirty="0">
                  <a:solidFill>
                    <a:schemeClr val="dk1"/>
                  </a:solidFill>
                  <a:latin typeface="+mn-lt"/>
                  <a:ea typeface="+mn-ea"/>
                  <a:cs typeface="+mn-cs"/>
                </a:rPr>
                <a:t xml:space="preserve">Combining diverse attention mechanisms beats the </a:t>
              </a:r>
              <a:r>
                <a:rPr lang="en-US" sz="1800" b="1" dirty="0">
                  <a:solidFill>
                    <a:schemeClr val="accent1"/>
                  </a:solidFill>
                  <a:latin typeface="+mn-lt"/>
                  <a:ea typeface="+mn-ea"/>
                  <a:cs typeface="+mn-cs"/>
                </a:rPr>
                <a:t>AVERAGE</a:t>
              </a:r>
              <a:r>
                <a:rPr lang="en-US" sz="1800" b="1" dirty="0">
                  <a:solidFill>
                    <a:schemeClr val="dk1"/>
                  </a:solidFill>
                  <a:latin typeface="+mn-lt"/>
                  <a:ea typeface="+mn-ea"/>
                  <a:cs typeface="+mn-cs"/>
                </a:rPr>
                <a:t xml:space="preserve"> single choice — but </a:t>
              </a:r>
              <a:r>
                <a:rPr lang="en-US" sz="1800" b="1" dirty="0">
                  <a:solidFill>
                    <a:schemeClr val="accent2"/>
                  </a:solidFill>
                  <a:latin typeface="+mn-lt"/>
                  <a:ea typeface="+mn-ea"/>
                  <a:cs typeface="+mn-cs"/>
                </a:rPr>
                <a:t>never the BEST one.</a:t>
              </a:r>
            </a:p>
          </p:txBody>
        </p:sp>
        <p:sp>
          <p:nvSpPr>
            <p:cNvPr id="18" name="TextBox 18"/>
            <p:cNvSpPr txBox="1"/>
            <p:nvPr/>
          </p:nvSpPr>
          <p:spPr>
            <a:xfrm>
              <a:off x="6545580" y="5153025"/>
              <a:ext cx="4615815" cy="560070"/>
            </a:xfrm>
            <a:prstGeom prst="rect">
              <a:avLst/>
            </a:prstGeom>
            <a:noFill/>
            <a:ln>
              <a:noFill/>
            </a:ln>
          </p:spPr>
          <p:txBody>
            <a:bodyPr wrap="square" lIns="0" tIns="0" rIns="0" bIns="0" anchor="t" anchorCtr="0"/>
            <a:lstStyle/>
            <a:p>
              <a:pPr algn="l">
                <a:lnSpc>
                  <a:spcPts val="2100"/>
                </a:lnSpc>
              </a:pPr>
              <a:r>
                <a:rPr lang="en-US" sz="1500" dirty="0">
                  <a:solidFill>
                    <a:schemeClr val="dk2"/>
                  </a:solidFill>
                  <a:latin typeface="+mn-lt"/>
                  <a:ea typeface="+mn-ea"/>
                  <a:cs typeface="+mn-cs"/>
                </a:rPr>
                <a:t>The different attentions don't simply add complementary biases the way intuition assumes.</a:t>
              </a:r>
            </a:p>
          </p:txBody>
        </p:sp>
      </p:grpSp>
      <p:sp>
        <p:nvSpPr>
          <p:cNvPr id="20" name="TextBox 20"/>
          <p:cNvSpPr txBox="1"/>
          <p:nvPr/>
        </p:nvSpPr>
        <p:spPr>
          <a:xfrm>
            <a:off x="680085" y="6146006"/>
            <a:ext cx="789055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DARTFormer · arXiv:2210.00641 · University of Cambridge · Imperial College London · University of Oxford</a:t>
            </a:r>
          </a:p>
        </p:txBody>
      </p:sp>
      <p:sp>
        <p:nvSpPr>
          <p:cNvPr id="21" name="cue_s10_c1_given_task_often_unclear_which" title="cue_s10_c1_given_task_often_unclear_which" descr="cue_s10_c1_given_task_often_unclear_which For a given task it is often unclear which attention will do best, and DARTFormer offers a cheap, reliable recipe: train a single-layer mixed-attention Transformer and use masked validation accuracy drop to pick the winner, keeping in mind that very low drop s"/>
          <p:cNvSpPr/>
          <p:nvPr/>
        </p:nvSpPr>
        <p:spPr>
          <a:xfrm>
            <a:off x="686409" y="1676095"/>
            <a:ext cx="5334000" cy="4343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ue_s10_c2_deeper_lesson_cautionary_one_field" title="cue_s10_c2_deeper_lesson_cautionary_one_field" descr="cue_s10_c2_deeper_lesson_cautionary_one_field The deeper lesson is a cautionary one for the field."/>
          <p:cNvSpPr/>
          <p:nvPr/>
        </p:nvSpPr>
        <p:spPr>
          <a:xfrm>
            <a:off x="6248399" y="1676095"/>
            <a:ext cx="5258409"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ue_s10_c3_combining_diverse_attention_mechanis" title="cue_s10_c3_combining_diverse_attention_mechanis" descr="cue_s10_c3_combining_diverse_attention_mechanis Combining diverse attention mechanisms does beat the average single choice, but it never beats the best single choice, which suggests the different attentions do not simply add complementary biases the way common intuition assumes."/>
          <p:cNvSpPr/>
          <p:nvPr/>
        </p:nvSpPr>
        <p:spPr>
          <a:xfrm>
            <a:off x="6248399" y="3276752"/>
            <a:ext cx="5258409" cy="27432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14171F"/>
      </a:dk1>
      <a:lt1>
        <a:srgbClr val="FFFFFF"/>
      </a:lt1>
      <a:dk2>
        <a:srgbClr val="6E7178"/>
      </a:dk2>
      <a:lt2>
        <a:srgbClr val="F5F4F1"/>
      </a:lt2>
      <a:accent1>
        <a:srgbClr val="2440D9"/>
      </a:accent1>
      <a:accent2>
        <a:srgbClr val="D8402A"/>
      </a:accent2>
      <a:accent3>
        <a:srgbClr val="12805C"/>
      </a:accent3>
      <a:accent4>
        <a:srgbClr val="DBDBD6"/>
      </a:accent4>
      <a:accent5>
        <a:srgbClr val="4BACC6"/>
      </a:accent5>
      <a:accent6>
        <a:srgbClr val="F79646"/>
      </a:accent6>
      <a:hlink>
        <a:srgbClr val="D8402A"/>
      </a:hlink>
      <a:folHlink>
        <a:srgbClr val="12805C"/>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2026-07-14T23:10:34Z</dcterms:created>
  <dcterms:modified xsi:type="dcterms:W3CDTF">2026-07-14T23:10:34Z</dcterms:modified>
  <cp:category/>
  <cp:contentStatus/>
</cp:coreProperties>
</file>
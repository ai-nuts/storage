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1206400" cy="307238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1887" y="651887"/>
            <a:ext cx="49902625" cy="4203442"/>
          </a:xfrm>
          <a:prstGeom prst="roundRect">
            <a:avLst>
              <a:gd name="adj" fmla="val 3383"/>
            </a:avLst>
          </a:prstGeom>
          <a:solidFill>
            <a:srgbClr val="F4E6EF"/>
          </a:solidFill>
          <a:ln>
            <a:noFill/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1887" y="5376783"/>
            <a:ext cx="10804961" cy="7552471"/>
          </a:xfrm>
          <a:prstGeom prst="roundRect">
            <a:avLst>
              <a:gd name="adj" fmla="val 1098"/>
            </a:avLst>
          </a:prstGeom>
          <a:solidFill>
            <a:srgbClr val="FFFFFF"/>
          </a:solidFill>
          <a:ln w="8890">
            <a:solidFill>
              <a:srgbClr val="E2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883568" y="5376783"/>
            <a:ext cx="27439124" cy="12964259"/>
          </a:xfrm>
          <a:prstGeom prst="roundRect">
            <a:avLst>
              <a:gd name="adj" fmla="val 640"/>
            </a:avLst>
          </a:prstGeom>
          <a:solidFill>
            <a:srgbClr val="FFFFFF"/>
          </a:solidFill>
          <a:ln w="8890">
            <a:solidFill>
              <a:srgbClr val="E2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9749412" y="5376783"/>
            <a:ext cx="10804962" cy="8465641"/>
          </a:xfrm>
          <a:prstGeom prst="roundRect">
            <a:avLst>
              <a:gd name="adj" fmla="val 980"/>
            </a:avLst>
          </a:prstGeom>
          <a:solidFill>
            <a:srgbClr val="FFFFFF"/>
          </a:solidFill>
          <a:ln w="8890">
            <a:solidFill>
              <a:srgbClr val="E2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1887" y="13261101"/>
            <a:ext cx="10804961" cy="16810851"/>
          </a:xfrm>
          <a:prstGeom prst="roundRect">
            <a:avLst>
              <a:gd name="adj" fmla="val 767"/>
            </a:avLst>
          </a:prstGeom>
          <a:solidFill>
            <a:srgbClr val="FFFFFF"/>
          </a:solidFill>
          <a:ln w="8890">
            <a:solidFill>
              <a:srgbClr val="E2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9749412" y="14174271"/>
            <a:ext cx="10804962" cy="10243780"/>
          </a:xfrm>
          <a:prstGeom prst="roundRect">
            <a:avLst>
              <a:gd name="adj" fmla="val 809"/>
            </a:avLst>
          </a:prstGeom>
          <a:solidFill>
            <a:srgbClr val="F6ECF1"/>
          </a:solidFill>
          <a:ln w="8890">
            <a:solidFill>
              <a:srgbClr val="E2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9749412" y="14174271"/>
            <a:ext cx="53340" cy="10243780"/>
          </a:xfrm>
          <a:prstGeom prst="rect">
            <a:avLst/>
          </a:prstGeom>
          <a:solidFill>
            <a:srgbClr val="7D28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9749412" y="24749898"/>
            <a:ext cx="10804962" cy="5322054"/>
          </a:xfrm>
          <a:prstGeom prst="roundRect">
            <a:avLst>
              <a:gd name="adj" fmla="val 1559"/>
            </a:avLst>
          </a:prstGeom>
          <a:solidFill>
            <a:srgbClr val="FFFFFF"/>
          </a:solidFill>
          <a:ln w="8890">
            <a:solidFill>
              <a:srgbClr val="E2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university-of-wisconsin-mad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48954" y="1388979"/>
            <a:ext cx="2721451" cy="2729118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039991" y="5764887"/>
            <a:ext cx="3442791" cy="924560"/>
          </a:xfrm>
          <a:prstGeom prst="roundRect">
            <a:avLst>
              <a:gd name="adj" fmla="val 10256"/>
            </a:avLst>
          </a:prstGeom>
          <a:solidFill>
            <a:srgbClr val="7D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2271672" y="5764887"/>
            <a:ext cx="3125391" cy="924560"/>
          </a:xfrm>
          <a:prstGeom prst="roundRect">
            <a:avLst>
              <a:gd name="adj" fmla="val 10256"/>
            </a:avLst>
          </a:prstGeom>
          <a:solidFill>
            <a:srgbClr val="7D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0137516" y="5764887"/>
            <a:ext cx="6841827" cy="924560"/>
          </a:xfrm>
          <a:prstGeom prst="roundRect">
            <a:avLst>
              <a:gd name="adj" fmla="val 10256"/>
            </a:avLst>
          </a:prstGeom>
          <a:solidFill>
            <a:srgbClr val="7D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0137516" y="7009487"/>
            <a:ext cx="10028754" cy="6447750"/>
          </a:xfrm>
          <a:prstGeom prst="roundRect">
            <a:avLst>
              <a:gd name="adj" fmla="val 1103"/>
            </a:avLst>
          </a:prstGeom>
          <a:gradFill rotWithShape="1" flip="none">
            <a:gsLst>
              <a:gs pos="0">
                <a:srgbClr val="EFE5EC"/>
              </a:gs>
              <a:gs pos="100000">
                <a:srgbClr val="F7F2F5"/>
              </a:gs>
            </a:gsLst>
            <a:lin ang="5400000" scaled="0"/>
          </a:gradFill>
          <a:ln w="8890">
            <a:solidFill>
              <a:srgbClr val="DEC9D7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39991" y="11060132"/>
            <a:ext cx="10028753" cy="14810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39991" y="11060132"/>
            <a:ext cx="124460" cy="1481018"/>
          </a:xfrm>
          <a:prstGeom prst="rect">
            <a:avLst/>
          </a:prstGeom>
          <a:solidFill>
            <a:srgbClr val="7D28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39991" y="13649205"/>
            <a:ext cx="4153019" cy="924560"/>
          </a:xfrm>
          <a:prstGeom prst="roundRect">
            <a:avLst>
              <a:gd name="adj" fmla="val 10256"/>
            </a:avLst>
          </a:prstGeom>
          <a:solidFill>
            <a:srgbClr val="7D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0181966" y="14562375"/>
            <a:ext cx="3905349" cy="924560"/>
          </a:xfrm>
          <a:prstGeom prst="roundRect">
            <a:avLst>
              <a:gd name="adj" fmla="val 10256"/>
            </a:avLst>
          </a:prstGeom>
          <a:solidFill>
            <a:srgbClr val="7D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1883568" y="18672889"/>
            <a:ext cx="13553639" cy="11399063"/>
          </a:xfrm>
          <a:prstGeom prst="roundRect">
            <a:avLst>
              <a:gd name="adj" fmla="val 727"/>
            </a:avLst>
          </a:prstGeom>
          <a:solidFill>
            <a:srgbClr val="FFFFFF"/>
          </a:solidFill>
          <a:ln w="8890">
            <a:solidFill>
              <a:srgbClr val="E2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5769054" y="18672889"/>
            <a:ext cx="13553638" cy="11399063"/>
          </a:xfrm>
          <a:prstGeom prst="roundRect">
            <a:avLst>
              <a:gd name="adj" fmla="val 727"/>
            </a:avLst>
          </a:prstGeom>
          <a:solidFill>
            <a:srgbClr val="FFFFFF"/>
          </a:solidFill>
          <a:ln w="8890">
            <a:solidFill>
              <a:srgbClr val="E2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0181966" y="19848730"/>
            <a:ext cx="9984304" cy="4184829"/>
          </a:xfrm>
          <a:prstGeom prst="roundRect">
            <a:avLst>
              <a:gd name="adj" fmla="val 4361"/>
            </a:avLst>
          </a:prstGeom>
          <a:solidFill>
            <a:srgbClr val="F5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0181966" y="19848730"/>
            <a:ext cx="124460" cy="4184829"/>
          </a:xfrm>
          <a:prstGeom prst="rect">
            <a:avLst/>
          </a:prstGeom>
          <a:solidFill>
            <a:srgbClr val="AE262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4187" y="7231737"/>
            <a:ext cx="4196218" cy="605075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4187" y="7231737"/>
            <a:ext cx="11557" cy="6050756"/>
          </a:xfrm>
          <a:prstGeom prst="rect">
            <a:avLst/>
          </a:prstGeom>
          <a:solidFill>
            <a:srgbClr val="DEC9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2271672" y="10049728"/>
            <a:ext cx="26662916" cy="1015127"/>
          </a:xfrm>
          <a:prstGeom prst="roundRect">
            <a:avLst>
              <a:gd name="adj" fmla="val 22195"/>
            </a:avLst>
          </a:prstGeom>
          <a:solidFill>
            <a:srgbClr val="F7F2F5"/>
          </a:solidFill>
          <a:ln w="8890">
            <a:solidFill>
              <a:srgbClr val="D5B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2271672" y="19060993"/>
            <a:ext cx="7633315" cy="924560"/>
          </a:xfrm>
          <a:prstGeom prst="roundRect">
            <a:avLst>
              <a:gd name="adj" fmla="val 10256"/>
            </a:avLst>
          </a:prstGeom>
          <a:solidFill>
            <a:srgbClr val="7D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6157158" y="19060993"/>
            <a:ext cx="4668639" cy="924560"/>
          </a:xfrm>
          <a:prstGeom prst="roundRect">
            <a:avLst>
              <a:gd name="adj" fmla="val 10256"/>
            </a:avLst>
          </a:prstGeom>
          <a:solidFill>
            <a:srgbClr val="7D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0671472" y="20005139"/>
            <a:ext cx="2152074" cy="638691"/>
          </a:xfrm>
          <a:prstGeom prst="roundRect">
            <a:avLst>
              <a:gd name="adj" fmla="val 14290"/>
            </a:avLst>
          </a:prstGeom>
          <a:solidFill>
            <a:srgbClr val="AE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874" b="1">
                <a:solidFill>
                  <a:srgbClr val="FFFFFF"/>
                </a:solidFill>
                <a:latin typeface="Arial"/>
              </a:rPr>
              <a:t>SO WHAT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48047" y="22316817"/>
            <a:ext cx="10012502" cy="5531663"/>
          </a:xfrm>
          <a:prstGeom prst="roundRect">
            <a:avLst>
              <a:gd name="adj" fmla="val 642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figur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130" y="22316817"/>
            <a:ext cx="10012336" cy="5531663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26157158" y="25077995"/>
            <a:ext cx="12777430" cy="1942187"/>
          </a:xfrm>
          <a:prstGeom prst="roundRect">
            <a:avLst>
              <a:gd name="adj" fmla="val 50000"/>
            </a:avLst>
          </a:prstGeom>
          <a:solidFill>
            <a:srgbClr val="F4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6157158" y="27301190"/>
            <a:ext cx="12777430" cy="223958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6157158" y="27301190"/>
            <a:ext cx="12777430" cy="11557"/>
          </a:xfrm>
          <a:prstGeom prst="rect">
            <a:avLst/>
          </a:prstGeom>
          <a:solidFill>
            <a:srgbClr val="D2B4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2271672" y="28628439"/>
            <a:ext cx="12777430" cy="89636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2271672" y="28628439"/>
            <a:ext cx="12777430" cy="11557"/>
          </a:xfrm>
          <a:prstGeom prst="rect">
            <a:avLst/>
          </a:prstGeom>
          <a:solidFill>
            <a:srgbClr val="D2B4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3059410" y="11466294"/>
            <a:ext cx="25087302" cy="5866844"/>
          </a:xfrm>
          <a:prstGeom prst="roundRect">
            <a:avLst>
              <a:gd name="adj" fmla="val 606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figur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59625" y="11466294"/>
            <a:ext cx="25086871" cy="5866844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12271672" y="22078731"/>
            <a:ext cx="3369032" cy="819825"/>
          </a:xfrm>
          <a:prstGeom prst="roundRect">
            <a:avLst>
              <a:gd name="adj" fmla="val 50000"/>
            </a:avLst>
          </a:prstGeom>
          <a:solidFill>
            <a:srgbClr val="F2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7D2860"/>
                </a:solidFill>
                <a:latin typeface="Arial"/>
              </a:rPr>
              <a:t>Capitalization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5797113" y="22078731"/>
            <a:ext cx="1645344" cy="819825"/>
          </a:xfrm>
          <a:prstGeom prst="roundRect">
            <a:avLst>
              <a:gd name="adj" fmla="val 50000"/>
            </a:avLst>
          </a:prstGeom>
          <a:solidFill>
            <a:srgbClr val="F2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7D2860"/>
                </a:solidFill>
                <a:latin typeface="Arial"/>
              </a:rPr>
              <a:t>Swap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7598866" y="22078731"/>
            <a:ext cx="5290661" cy="819825"/>
          </a:xfrm>
          <a:prstGeom prst="roundRect">
            <a:avLst>
              <a:gd name="adj" fmla="val 50000"/>
            </a:avLst>
          </a:prstGeom>
          <a:solidFill>
            <a:srgbClr val="F2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7D2860"/>
                </a:solidFill>
                <a:latin typeface="Arial"/>
              </a:rPr>
              <a:t>Phrase Recombination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2271672" y="23054964"/>
            <a:ext cx="3912711" cy="819825"/>
          </a:xfrm>
          <a:prstGeom prst="roundRect">
            <a:avLst>
              <a:gd name="adj" fmla="val 50000"/>
            </a:avLst>
          </a:prstGeom>
          <a:solidFill>
            <a:srgbClr val="F2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7D2860"/>
                </a:solidFill>
                <a:latin typeface="Arial"/>
              </a:rPr>
              <a:t>Passive→Active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6340792" y="23054964"/>
            <a:ext cx="2424747" cy="819825"/>
          </a:xfrm>
          <a:prstGeom prst="roundRect">
            <a:avLst>
              <a:gd name="adj" fmla="val 50000"/>
            </a:avLst>
          </a:prstGeom>
          <a:solidFill>
            <a:srgbClr val="F7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AE2622"/>
                </a:solidFill>
                <a:latin typeface="Arial"/>
              </a:rPr>
              <a:t>Two Sum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8921948" y="23054964"/>
            <a:ext cx="2211248" cy="819825"/>
          </a:xfrm>
          <a:prstGeom prst="roundRect">
            <a:avLst>
              <a:gd name="adj" fmla="val 50000"/>
            </a:avLst>
          </a:prstGeom>
          <a:solidFill>
            <a:srgbClr val="F7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AE2622"/>
                </a:solidFill>
                <a:latin typeface="Arial"/>
              </a:rPr>
              <a:t>Modular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1289605" y="23054964"/>
            <a:ext cx="2408912" cy="819825"/>
          </a:xfrm>
          <a:prstGeom prst="roundRect">
            <a:avLst>
              <a:gd name="adj" fmla="val 50000"/>
            </a:avLst>
          </a:prstGeom>
          <a:solidFill>
            <a:srgbClr val="F7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AE2622"/>
                </a:solidFill>
                <a:latin typeface="Arial"/>
              </a:rPr>
              <a:t>Plus One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2271672" y="24031197"/>
            <a:ext cx="2557403" cy="819825"/>
          </a:xfrm>
          <a:prstGeom prst="roundRect">
            <a:avLst>
              <a:gd name="adj" fmla="val 50000"/>
            </a:avLst>
          </a:prstGeom>
          <a:solidFill>
            <a:srgbClr val="EAE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555555"/>
                </a:solidFill>
                <a:latin typeface="Arial"/>
              </a:rPr>
              <a:t>separable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4985484" y="24031197"/>
            <a:ext cx="4157464" cy="819825"/>
          </a:xfrm>
          <a:prstGeom prst="roundRect">
            <a:avLst>
              <a:gd name="adj" fmla="val 50000"/>
            </a:avLst>
          </a:prstGeom>
          <a:solidFill>
            <a:srgbClr val="EAE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555555"/>
                </a:solidFill>
                <a:latin typeface="Arial"/>
              </a:rPr>
              <a:t>compose-by-step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2271672" y="24851022"/>
            <a:ext cx="5869900" cy="3609479"/>
          </a:xfrm>
          <a:prstGeom prst="roundRect">
            <a:avLst>
              <a:gd name="adj" fmla="val 5779"/>
            </a:avLst>
          </a:prstGeom>
          <a:solidFill>
            <a:srgbClr val="F7F2F5"/>
          </a:solidFill>
          <a:ln w="8890">
            <a:solidFill>
              <a:srgbClr val="7D2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19179063" y="24851022"/>
            <a:ext cx="5870039" cy="3609479"/>
          </a:xfrm>
          <a:prstGeom prst="roundRect">
            <a:avLst>
              <a:gd name="adj" fmla="val 5779"/>
            </a:avLst>
          </a:prstGeom>
          <a:solidFill>
            <a:srgbClr val="FAFAFA"/>
          </a:solidFill>
          <a:ln w="8890">
            <a:solidFill>
              <a:srgbClr val="D9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6157158" y="21012070"/>
            <a:ext cx="12777430" cy="945118"/>
          </a:xfrm>
          <a:prstGeom prst="rect">
            <a:avLst/>
          </a:prstGeom>
          <a:solidFill>
            <a:srgbClr val="F2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41773832" y="25920045"/>
            <a:ext cx="3081774" cy="308177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8890">
            <a:solidFill>
              <a:srgbClr val="F0F0F0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pap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892365" y="26038578"/>
            <a:ext cx="2844708" cy="2844708"/>
          </a:xfrm>
          <a:prstGeom prst="rect">
            <a:avLst/>
          </a:prstGeom>
        </p:spPr>
      </p:pic>
      <p:sp>
        <p:nvSpPr>
          <p:cNvPr id="52" name="Rounded Rectangle 51"/>
          <p:cNvSpPr/>
          <p:nvPr/>
        </p:nvSpPr>
        <p:spPr>
          <a:xfrm>
            <a:off x="45448180" y="25920045"/>
            <a:ext cx="3081774" cy="308177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8890">
            <a:solidFill>
              <a:srgbClr val="F0F0F0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cod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566713" y="26038578"/>
            <a:ext cx="2844708" cy="2844708"/>
          </a:xfrm>
          <a:prstGeom prst="rect">
            <a:avLst/>
          </a:prstGeom>
        </p:spPr>
      </p:pic>
      <p:sp>
        <p:nvSpPr>
          <p:cNvPr id="54" name="Rounded Rectangle 53"/>
          <p:cNvSpPr/>
          <p:nvPr/>
        </p:nvSpPr>
        <p:spPr>
          <a:xfrm>
            <a:off x="42669638" y="29144059"/>
            <a:ext cx="1290022" cy="541595"/>
          </a:xfrm>
          <a:prstGeom prst="roundRect">
            <a:avLst>
              <a:gd name="adj" fmla="val 50000"/>
            </a:avLst>
          </a:prstGeom>
          <a:solidFill>
            <a:srgbClr val="F4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426" b="1">
                <a:solidFill>
                  <a:srgbClr val="7D2860"/>
                </a:solidFill>
                <a:latin typeface="Arial"/>
              </a:rPr>
              <a:t>Paper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6390103" y="29144059"/>
            <a:ext cx="1197789" cy="541595"/>
          </a:xfrm>
          <a:prstGeom prst="roundRect">
            <a:avLst>
              <a:gd name="adj" fmla="val 50000"/>
            </a:avLst>
          </a:prstGeom>
          <a:solidFill>
            <a:srgbClr val="F4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426" b="1">
                <a:solidFill>
                  <a:srgbClr val="7D2860"/>
                </a:solidFill>
                <a:latin typeface="Arial"/>
              </a:rPr>
              <a:t>Code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6157158" y="20305593"/>
            <a:ext cx="6820158" cy="706477"/>
          </a:xfrm>
          <a:prstGeom prst="rect">
            <a:avLst/>
          </a:prstGeom>
          <a:solidFill>
            <a:srgbClr val="F7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6157158" y="21003180"/>
            <a:ext cx="6820158" cy="11557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2977316" y="20305593"/>
            <a:ext cx="2398633" cy="706477"/>
          </a:xfrm>
          <a:prstGeom prst="rect">
            <a:avLst/>
          </a:prstGeom>
          <a:solidFill>
            <a:srgbClr val="F7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2977316" y="21003180"/>
            <a:ext cx="2398633" cy="11557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5375949" y="20305593"/>
            <a:ext cx="3558639" cy="706477"/>
          </a:xfrm>
          <a:prstGeom prst="rect">
            <a:avLst/>
          </a:prstGeom>
          <a:solidFill>
            <a:srgbClr val="F7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5375949" y="21003180"/>
            <a:ext cx="3558639" cy="11557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26157158" y="21012070"/>
            <a:ext cx="6820158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26157158" y="21948298"/>
            <a:ext cx="6820158" cy="11557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32977316" y="21012070"/>
            <a:ext cx="2398633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32977316" y="21948298"/>
            <a:ext cx="2398633" cy="11557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35375949" y="21012070"/>
            <a:ext cx="3558639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35375949" y="21948298"/>
            <a:ext cx="3558639" cy="11557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26157158" y="21957188"/>
            <a:ext cx="6820158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6157158" y="22893416"/>
            <a:ext cx="6820158" cy="11557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32977316" y="21957188"/>
            <a:ext cx="2398633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32977316" y="22893416"/>
            <a:ext cx="2398633" cy="11557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35375949" y="21957188"/>
            <a:ext cx="3558639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35375949" y="22893416"/>
            <a:ext cx="3558639" cy="11557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26157158" y="22902306"/>
            <a:ext cx="6820158" cy="9451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26157158" y="23838535"/>
            <a:ext cx="6820158" cy="11557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32977316" y="22902306"/>
            <a:ext cx="2398633" cy="9451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32977316" y="23838535"/>
            <a:ext cx="2398633" cy="11557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35375949" y="22902306"/>
            <a:ext cx="3558639" cy="9451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35375949" y="23838535"/>
            <a:ext cx="3558639" cy="11557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26157158" y="23847425"/>
            <a:ext cx="6820158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26157158" y="24783653"/>
            <a:ext cx="6820158" cy="11557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32977316" y="23847425"/>
            <a:ext cx="2398633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32977316" y="24783653"/>
            <a:ext cx="2398633" cy="11557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35375949" y="23847425"/>
            <a:ext cx="3558639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35375949" y="24783653"/>
            <a:ext cx="3558639" cy="11557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220847" y="983734"/>
            <a:ext cx="12104012" cy="40707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5973" b="1" spc="59">
                <a:solidFill>
                  <a:srgbClr val="7D2860"/>
                </a:solidFill>
                <a:latin typeface="Arial"/>
              </a:rPr>
              <a:t>COLM 2024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3446402" y="983734"/>
            <a:ext cx="24740176" cy="25188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976"/>
              </a:lnSpc>
              <a:spcBef>
                <a:spcPts val="0"/>
              </a:spcBef>
              <a:spcAft>
                <a:spcPts val="0"/>
              </a:spcAft>
            </a:pPr>
            <a:r>
              <a:rPr sz="7251" b="1" spc="-78">
                <a:solidFill>
                  <a:srgbClr val="7D2860"/>
                </a:solidFill>
                <a:latin typeface="Arial"/>
              </a:rPr>
              <a:t>Do LLMs Have Compositional Ability? Limitations</a:t>
            </a:r>
          </a:p>
          <a:p>
            <a:pPr algn="ctr">
              <a:lnSpc>
                <a:spcPts val="7976"/>
              </a:lnSpc>
              <a:spcBef>
                <a:spcPts val="0"/>
              </a:spcBef>
              <a:spcAft>
                <a:spcPts val="0"/>
              </a:spcAft>
            </a:pPr>
            <a:r>
              <a:rPr sz="7251" b="1" spc="-78">
                <a:solidFill>
                  <a:srgbClr val="7D2860"/>
                </a:solidFill>
                <a:latin typeface="Arial"/>
              </a:rPr>
              <a:t>and Scalability of In-Context Composition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3446402" y="3373060"/>
            <a:ext cx="24740176" cy="708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853"/>
              </a:lnSpc>
              <a:spcBef>
                <a:spcPts val="0"/>
              </a:spcBef>
              <a:spcAft>
                <a:spcPts val="0"/>
              </a:spcAft>
            </a:pPr>
            <a:r>
              <a:rPr sz="3733" b="0">
                <a:solidFill>
                  <a:srgbClr val="1B2331"/>
                </a:solidFill>
                <a:latin typeface="Arial"/>
              </a:rPr>
              <a:t>Zhuoyan Xu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1</a:t>
            </a:r>
            <a:r>
              <a:rPr sz="3733" b="0">
                <a:solidFill>
                  <a:srgbClr val="1B2331"/>
                </a:solidFill>
                <a:latin typeface="Arial"/>
              </a:rPr>
              <a:t>, Zhenmei Shi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1</a:t>
            </a:r>
            <a:r>
              <a:rPr sz="3733" b="0">
                <a:solidFill>
                  <a:srgbClr val="1B2331"/>
                </a:solidFill>
                <a:latin typeface="Arial"/>
              </a:rPr>
              <a:t>, Yingyu Liang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3446402" y="4042310"/>
            <a:ext cx="24740176" cy="5533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789"/>
              </a:lnSpc>
              <a:spcBef>
                <a:spcPts val="0"/>
              </a:spcBef>
              <a:spcAft>
                <a:spcPts val="0"/>
              </a:spcAft>
            </a:pPr>
            <a:r>
              <a:rPr sz="2268" b="0" spc="52" baseline="30000">
                <a:solidFill>
                  <a:srgbClr val="55617A"/>
                </a:solidFill>
                <a:latin typeface="Arial"/>
              </a:rPr>
              <a:t>1</a:t>
            </a:r>
            <a:r>
              <a:rPr sz="2613" b="0" spc="52">
                <a:solidFill>
                  <a:srgbClr val="55617A"/>
                </a:solidFill>
                <a:latin typeface="Arial"/>
              </a:rPr>
              <a:t> University of Wisconsin-Madison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39991" y="5764887"/>
            <a:ext cx="3546074" cy="1063244"/>
          </a:xfrm>
          <a:prstGeom prst="rect">
            <a:avLst/>
          </a:prstGeom>
          <a:noFill/>
        </p:spPr>
        <p:txBody>
          <a:bodyPr wrap="square" lIns="298704" rIns="298704" tIns="71120" bIns="7112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Problem 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2271672" y="5764887"/>
            <a:ext cx="3219152" cy="1063244"/>
          </a:xfrm>
          <a:prstGeom prst="rect">
            <a:avLst/>
          </a:prstGeom>
          <a:noFill/>
        </p:spPr>
        <p:txBody>
          <a:bodyPr wrap="none" lIns="298704" rIns="298704" tIns="71120" bIns="7112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Method 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0137516" y="5764887"/>
            <a:ext cx="7047081" cy="1063244"/>
          </a:xfrm>
          <a:prstGeom prst="rect">
            <a:avLst/>
          </a:prstGeom>
          <a:noFill/>
        </p:spPr>
        <p:txBody>
          <a:bodyPr wrap="square" lIns="298704" rIns="298704" tIns="71120" bIns="7112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Headline Numbers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39991" y="7013932"/>
            <a:ext cx="10329615" cy="43481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Can an LLM that has learned two simple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tasks from in-context examples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automatically solve their </a:t>
            </a:r>
            <a:r>
              <a:rPr sz="4106" b="1">
                <a:solidFill>
                  <a:srgbClr val="111111"/>
                </a:solidFill>
                <a:latin typeface="Arial"/>
              </a:rPr>
              <a:t>composition</a:t>
            </a:r>
            <a:r>
              <a:rPr sz="4106" b="0">
                <a:solidFill>
                  <a:srgbClr val="1C1C1C"/>
                </a:solidFill>
                <a:latin typeface="Arial"/>
              </a:rPr>
              <a:t> —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an unseen composite task —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without ever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seeing a composite example?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39991" y="11060132"/>
            <a:ext cx="10329615" cy="1703170"/>
          </a:xfrm>
          <a:prstGeom prst="rect">
            <a:avLst/>
          </a:prstGeom>
          <a:noFill/>
        </p:spPr>
        <p:txBody>
          <a:bodyPr wrap="none" lIns="365082" rIns="365082" tIns="62585" bIns="62585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Trivial for humans — yet largely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untested, and often broken, for LLMs.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39991" y="13649205"/>
            <a:ext cx="4277609" cy="1063244"/>
          </a:xfrm>
          <a:prstGeom prst="rect">
            <a:avLst/>
          </a:prstGeom>
          <a:noFill/>
        </p:spPr>
        <p:txBody>
          <a:bodyPr wrap="square" lIns="298704" rIns="298704" tIns="71120" bIns="7112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Motivation 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0181966" y="14562375"/>
            <a:ext cx="4022509" cy="1063244"/>
          </a:xfrm>
          <a:prstGeom prst="rect">
            <a:avLst/>
          </a:prstGeom>
          <a:noFill/>
        </p:spPr>
        <p:txBody>
          <a:bodyPr wrap="square" lIns="298704" rIns="298704" tIns="71120" bIns="7112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Takeaway 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0181966" y="15806975"/>
            <a:ext cx="10283833" cy="43481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LLMs compose two skills only when the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sub-tasks act on </a:t>
            </a:r>
            <a:r>
              <a:rPr sz="4106" b="1">
                <a:solidFill>
                  <a:srgbClr val="111111"/>
                </a:solidFill>
                <a:latin typeface="Arial"/>
              </a:rPr>
              <a:t>separate parts</a:t>
            </a:r>
            <a:r>
              <a:rPr sz="4106" b="0">
                <a:solidFill>
                  <a:srgbClr val="1C1C1C"/>
                </a:solidFill>
                <a:latin typeface="Arial"/>
              </a:rPr>
              <a:t> of the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input; for tasks needing chained multi-step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reasoning they fail, and scaling does not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rescue them.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2271672" y="10049728"/>
            <a:ext cx="27089636" cy="1167396"/>
          </a:xfrm>
          <a:prstGeom prst="rect">
            <a:avLst/>
          </a:prstGeom>
          <a:noFill/>
        </p:spPr>
        <p:txBody>
          <a:bodyPr wrap="square" lIns="394289" rIns="394289" tIns="67592" bIns="67592">
            <a:spAutoFit/>
          </a:bodyPr>
          <a:lstStyle/>
          <a:p>
            <a:pPr algn="ctr">
              <a:lnSpc>
                <a:spcPts val="6431"/>
              </a:lnSpc>
              <a:spcBef>
                <a:spcPts val="0"/>
              </a:spcBef>
              <a:spcAft>
                <a:spcPts val="0"/>
              </a:spcAft>
            </a:pPr>
            <a:r>
              <a:rPr sz="4435" b="0">
                <a:solidFill>
                  <a:srgbClr val="1C1C1C"/>
                </a:solidFill>
                <a:latin typeface="Cambria Math"/>
              </a:rPr>
              <a:t>                                                                         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39972" y="15267602"/>
            <a:ext cx="10329635" cy="34785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LLMs ace individual in-context tasks, but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real reasoning demands </a:t>
            </a:r>
            <a:r>
              <a:rPr sz="4106" b="1">
                <a:solidFill>
                  <a:srgbClr val="111111"/>
                </a:solidFill>
                <a:latin typeface="Arial"/>
              </a:rPr>
              <a:t>fusing skills</a:t>
            </a:r>
            <a:r>
              <a:rPr sz="4106" b="0">
                <a:solidFill>
                  <a:srgbClr val="1C1C1C"/>
                </a:solidFill>
                <a:latin typeface="Arial"/>
              </a:rPr>
              <a:t> —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and whether ICL integrates or fails to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compose them is unknown.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039972" y="18474947"/>
            <a:ext cx="10329635" cy="34785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Even </a:t>
            </a:r>
            <a:r>
              <a:rPr sz="4106" b="1">
                <a:solidFill>
                  <a:srgbClr val="111111"/>
                </a:solidFill>
                <a:latin typeface="Arial"/>
              </a:rPr>
              <a:t>GPT-4</a:t>
            </a:r>
            <a:r>
              <a:rPr sz="4106" b="0">
                <a:solidFill>
                  <a:srgbClr val="1C1C1C"/>
                </a:solidFill>
                <a:latin typeface="Arial"/>
              </a:rPr>
              <a:t> and </a:t>
            </a:r>
            <a:r>
              <a:rPr sz="4106" b="1">
                <a:solidFill>
                  <a:srgbClr val="111111"/>
                </a:solidFill>
                <a:latin typeface="Arial"/>
              </a:rPr>
              <a:t>Claude 3</a:t>
            </a:r>
            <a:r>
              <a:rPr sz="4106" b="0">
                <a:solidFill>
                  <a:srgbClr val="1C1C1C"/>
                </a:solidFill>
                <a:latin typeface="Arial"/>
              </a:rPr>
              <a:t> solve each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rule yet fail their composite, and prior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work offers no theory for when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composition succeeds.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2271672" y="19060993"/>
            <a:ext cx="7862314" cy="1063244"/>
          </a:xfrm>
          <a:prstGeom prst="rect">
            <a:avLst/>
          </a:prstGeom>
          <a:noFill/>
        </p:spPr>
        <p:txBody>
          <a:bodyPr wrap="square" lIns="298704" rIns="298704" tIns="71120" bIns="7112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Dataset / Benchmark 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6157158" y="19060993"/>
            <a:ext cx="4808698" cy="1063244"/>
          </a:xfrm>
          <a:prstGeom prst="rect">
            <a:avLst/>
          </a:prstGeom>
          <a:noFill/>
        </p:spPr>
        <p:txBody>
          <a:bodyPr wrap="square" lIns="298704" rIns="298704" tIns="71120" bIns="7112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Key Results 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2271672" y="20305593"/>
            <a:ext cx="13160752" cy="17392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A custom test suite of </a:t>
            </a:r>
            <a:r>
              <a:rPr sz="4106" b="1">
                <a:solidFill>
                  <a:srgbClr val="111111"/>
                </a:solidFill>
                <a:latin typeface="Arial"/>
              </a:rPr>
              <a:t>composite tasks</a:t>
            </a:r>
            <a:r>
              <a:rPr sz="4106" b="0">
                <a:solidFill>
                  <a:srgbClr val="1C1C1C"/>
                </a:solidFill>
                <a:latin typeface="Arial"/>
              </a:rPr>
              <a:t>, each built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from two simple building blocks: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0671472" y="20852328"/>
            <a:ext cx="9403644" cy="34785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Whether extra compute helps a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composite task is predictable from its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structure: separable tasks scale,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entangled multi-step tasks do not.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26157158" y="25077995"/>
            <a:ext cx="13160752" cy="2233515"/>
          </a:xfrm>
          <a:prstGeom prst="rect">
            <a:avLst/>
          </a:prstGeom>
          <a:noFill/>
        </p:spPr>
        <p:txBody>
          <a:bodyPr wrap="none" lIns="485560" rIns="485560" tIns="281113" bIns="281113">
            <a:spAutoFit/>
          </a:bodyPr>
          <a:lstStyle/>
          <a:p>
            <a:pPr algn="ctr">
              <a:lnSpc>
                <a:spcPts val="5433"/>
              </a:lnSpc>
              <a:spcBef>
                <a:spcPts val="0"/>
              </a:spcBef>
              <a:spcAft>
                <a:spcPts val="0"/>
              </a:spcAft>
            </a:pPr>
            <a:r>
              <a:rPr sz="4024" b="1">
                <a:solidFill>
                  <a:srgbClr val="7D2860"/>
                </a:solidFill>
                <a:latin typeface="Arial"/>
              </a:rPr>
              <a:t>~90% on simple tasks → ~20% on the composite</a:t>
            </a:r>
          </a:p>
          <a:p>
            <a:pPr algn="ctr">
              <a:lnSpc>
                <a:spcPts val="5433"/>
              </a:lnSpc>
              <a:spcBef>
                <a:spcPts val="0"/>
              </a:spcBef>
              <a:spcAft>
                <a:spcPts val="0"/>
              </a:spcAft>
            </a:pPr>
            <a:r>
              <a:rPr sz="4024" b="1">
                <a:solidFill>
                  <a:srgbClr val="7D2860"/>
                </a:solidFill>
                <a:latin typeface="Arial"/>
              </a:rPr>
              <a:t>— no gain from scale.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0137516" y="25138002"/>
            <a:ext cx="3503582" cy="681301"/>
          </a:xfrm>
          <a:prstGeom prst="rect">
            <a:avLst/>
          </a:prstGeom>
          <a:noFill/>
        </p:spPr>
        <p:txBody>
          <a:bodyPr wrap="square" lIns="199136" rIns="199136" tIns="47413" bIns="47413">
            <a:spAutoFit/>
          </a:bodyPr>
          <a:lstStyle/>
          <a:p>
            <a:pPr algn="ctr">
              <a:lnSpc>
                <a:spcPts val="3920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7D2860"/>
                </a:solidFill>
                <a:latin typeface="Arial"/>
              </a:rPr>
              <a:t>Scan to Read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6157158" y="27301190"/>
            <a:ext cx="13160752" cy="2575522"/>
          </a:xfrm>
          <a:prstGeom prst="rect">
            <a:avLst/>
          </a:prstGeom>
          <a:noFill/>
        </p:spPr>
        <p:txBody>
          <a:bodyPr wrap="square" lIns="0" rIns="0" tIns="215920" bIns="0">
            <a:spAutoFit/>
          </a:bodyPr>
          <a:lstStyle/>
          <a:p>
            <a:pPr algn="l">
              <a:lnSpc>
                <a:spcPts val="5289"/>
              </a:lnSpc>
              <a:spcBef>
                <a:spcPts val="0"/>
              </a:spcBef>
              <a:spcAft>
                <a:spcPts val="0"/>
              </a:spcAft>
            </a:pPr>
            <a:r>
              <a:rPr sz="2946" b="1" spc="176">
                <a:solidFill>
                  <a:srgbClr val="111111"/>
                </a:solidFill>
                <a:latin typeface="Arial"/>
              </a:rPr>
              <a:t>SO WHAT → </a:t>
            </a:r>
            <a:r>
              <a:rPr sz="3778" b="0" i="1">
                <a:solidFill>
                  <a:srgbClr val="1C1C1C"/>
                </a:solidFill>
                <a:latin typeface="Arial"/>
              </a:rPr>
              <a:t>Composite in-context demos recover accuracy — the models have the power, they just fail to compose it from simple-task demos alone.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448514" y="27998082"/>
            <a:ext cx="9487771" cy="19178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GPT-4 solves the two simple tasks (left) but fails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their composite (right): correct answer </a:t>
            </a:r>
            <a:r>
              <a:rPr sz="3367" b="1" i="1">
                <a:solidFill>
                  <a:srgbClr val="111111"/>
                </a:solidFill>
                <a:latin typeface="Arial"/>
              </a:rPr>
              <a:t>SPORTS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1" i="1">
                <a:solidFill>
                  <a:srgbClr val="111111"/>
                </a:solidFill>
                <a:latin typeface="Arial"/>
              </a:rPr>
              <a:t>PIE</a:t>
            </a:r>
            <a:r>
              <a:rPr sz="3367" b="0" i="1">
                <a:solidFill>
                  <a:srgbClr val="555555"/>
                </a:solidFill>
                <a:latin typeface="Arial"/>
              </a:rPr>
              <a:t>, not </a:t>
            </a:r>
            <a:r>
              <a:rPr sz="3367" b="0" i="1">
                <a:solidFill>
                  <a:srgbClr val="555555"/>
                </a:solidFill>
                <a:latin typeface="Arial"/>
              </a:rPr>
              <a:t>sports * pie *</a:t>
            </a:r>
            <a:r>
              <a:rPr sz="3367" b="0" i="1">
                <a:solidFill>
                  <a:srgbClr val="555555"/>
                </a:solidFill>
                <a:latin typeface="Arial"/>
              </a:rPr>
              <a:t>.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2271672" y="28628439"/>
            <a:ext cx="13160752" cy="1030816"/>
          </a:xfrm>
          <a:prstGeom prst="rect">
            <a:avLst/>
          </a:prstGeom>
          <a:noFill/>
        </p:spPr>
        <p:txBody>
          <a:bodyPr wrap="square" lIns="0" rIns="0" tIns="215920" bIns="0">
            <a:spAutoFit/>
          </a:bodyPr>
          <a:lstStyle/>
          <a:p>
            <a:pPr algn="l">
              <a:lnSpc>
                <a:spcPts val="5289"/>
              </a:lnSpc>
              <a:spcBef>
                <a:spcPts val="0"/>
              </a:spcBef>
              <a:spcAft>
                <a:spcPts val="0"/>
              </a:spcAft>
            </a:pPr>
            <a:r>
              <a:rPr sz="2946" b="1" spc="176">
                <a:solidFill>
                  <a:srgbClr val="111111"/>
                </a:solidFill>
                <a:latin typeface="Arial"/>
              </a:rPr>
              <a:t>SO WHAT → </a:t>
            </a:r>
            <a:r>
              <a:rPr sz="3778" b="0" i="1">
                <a:solidFill>
                  <a:srgbClr val="1C1C1C"/>
                </a:solidFill>
                <a:latin typeface="Arial"/>
              </a:rPr>
              <a:t>Metrics: exact-match &amp; WER.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2271654" y="7009487"/>
            <a:ext cx="27089654" cy="15594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338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Standard ICL (</a:t>
            </a:r>
            <a:r>
              <a:rPr sz="4106" b="1">
                <a:solidFill>
                  <a:srgbClr val="111111"/>
                </a:solidFill>
                <a:latin typeface="Arial"/>
              </a:rPr>
              <a:t>K=10</a:t>
            </a:r>
            <a:r>
              <a:rPr sz="4106" b="0">
                <a:solidFill>
                  <a:srgbClr val="1C1C1C"/>
                </a:solidFill>
                <a:latin typeface="Arial"/>
              </a:rPr>
              <a:t> demos + test input); four settings — </a:t>
            </a:r>
            <a:r>
              <a:rPr sz="4106" b="1">
                <a:solidFill>
                  <a:srgbClr val="111111"/>
                </a:solidFill>
                <a:latin typeface="Arial"/>
              </a:rPr>
              <a:t>simple</a:t>
            </a:r>
            <a:r>
              <a:rPr sz="4106" b="0">
                <a:solidFill>
                  <a:srgbClr val="1C1C1C"/>
                </a:solidFill>
                <a:latin typeface="Arial"/>
              </a:rPr>
              <a:t>, </a:t>
            </a:r>
            <a:r>
              <a:rPr sz="4106" b="1">
                <a:solidFill>
                  <a:srgbClr val="111111"/>
                </a:solidFill>
                <a:latin typeface="Arial"/>
              </a:rPr>
              <a:t>composite</a:t>
            </a:r>
            <a:r>
              <a:rPr sz="4106" b="0">
                <a:solidFill>
                  <a:srgbClr val="1C1C1C"/>
                </a:solidFill>
                <a:latin typeface="Arial"/>
              </a:rPr>
              <a:t> (simple demos → composite test),</a:t>
            </a:r>
          </a:p>
          <a:p>
            <a:pPr algn="l" marL="573701" indent="0">
              <a:lnSpc>
                <a:spcPts val="53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and </a:t>
            </a:r>
            <a:r>
              <a:rPr sz="4106" b="1">
                <a:solidFill>
                  <a:srgbClr val="111111"/>
                </a:solidFill>
                <a:latin typeface="Arial"/>
              </a:rPr>
              <a:t>composite in-context</a:t>
            </a:r>
            <a:r>
              <a:rPr sz="4106" b="0">
                <a:solidFill>
                  <a:srgbClr val="1C1C1C"/>
                </a:solidFill>
                <a:latin typeface="Arial"/>
              </a:rPr>
              <a:t>, the gold-standard upper bound.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0383380" y="7231737"/>
            <a:ext cx="4910137" cy="46619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0640"/>
              </a:lnSpc>
              <a:spcBef>
                <a:spcPts val="0"/>
              </a:spcBef>
              <a:spcAft>
                <a:spcPts val="0"/>
              </a:spcAft>
            </a:pPr>
            <a:r>
              <a:rPr sz="11200" b="1" spc="-224">
                <a:solidFill>
                  <a:srgbClr val="7D2860"/>
                </a:solidFill>
                <a:latin typeface="Arial"/>
              </a:rPr>
              <a:t>~90%</a:t>
            </a:r>
          </a:p>
          <a:p>
            <a:pPr algn="l">
              <a:lnSpc>
                <a:spcPts val="10640"/>
              </a:lnSpc>
              <a:spcBef>
                <a:spcPts val="0"/>
              </a:spcBef>
              <a:spcAft>
                <a:spcPts val="0"/>
              </a:spcAft>
            </a:pPr>
            <a:r>
              <a:rPr sz="11200" b="1" spc="-224">
                <a:solidFill>
                  <a:srgbClr val="7D2860"/>
                </a:solidFill>
                <a:latin typeface="Arial"/>
              </a:rPr>
              <a:t>→</a:t>
            </a:r>
          </a:p>
          <a:p>
            <a:pPr algn="l">
              <a:lnSpc>
                <a:spcPts val="10640"/>
              </a:lnSpc>
              <a:spcBef>
                <a:spcPts val="0"/>
              </a:spcBef>
              <a:spcAft>
                <a:spcPts val="0"/>
              </a:spcAft>
            </a:pPr>
            <a:r>
              <a:rPr sz="11200" b="1" spc="-224">
                <a:solidFill>
                  <a:srgbClr val="7D2860"/>
                </a:solidFill>
                <a:latin typeface="Arial"/>
              </a:rPr>
              <a:t>~20%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2271654" y="8459251"/>
            <a:ext cx="27089654" cy="15594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338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Theory: a one-layer linear self-attention model composes iff the two simple tasks have </a:t>
            </a:r>
            <a:r>
              <a:rPr sz="4106" b="1">
                <a:solidFill>
                  <a:srgbClr val="111111"/>
                </a:solidFill>
                <a:latin typeface="Arial"/>
              </a:rPr>
              <a:t>confined support</a:t>
            </a:r>
            <a:r>
              <a:rPr sz="4106" b="0">
                <a:solidFill>
                  <a:srgbClr val="1C1C1C"/>
                </a:solidFill>
                <a:latin typeface="Arial"/>
              </a:rPr>
              <a:t> —</a:t>
            </a:r>
          </a:p>
          <a:p>
            <a:pPr algn="l" marL="573701" indent="0">
              <a:lnSpc>
                <a:spcPts val="53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separate embedding subspaces.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0383380" y="11309191"/>
            <a:ext cx="4910137" cy="17990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Simple → compose-</a:t>
            </a:r>
          </a:p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by-step accuracy</a:t>
            </a:r>
          </a:p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(Llama)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0383380" y="12873553"/>
            <a:ext cx="4910137" cy="470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22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1">
                <a:solidFill>
                  <a:srgbClr val="555555"/>
                </a:solidFill>
                <a:latin typeface="Arial"/>
              </a:rPr>
              <a:t>no gain from scaling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4949507" y="17482740"/>
            <a:ext cx="21733688" cy="6392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Accuracy vs scale: simple tasks near-perfect; composite (red) collapses; composite in-context (orange) recovers.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8271867" y="24851022"/>
            <a:ext cx="800209" cy="869636"/>
          </a:xfrm>
          <a:prstGeom prst="rect">
            <a:avLst/>
          </a:prstGeom>
          <a:noFill/>
        </p:spPr>
        <p:txBody>
          <a:bodyPr wrap="none" lIns="26077" rIns="26077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7D2860"/>
                </a:solidFill>
                <a:latin typeface="Arial"/>
              </a:rPr>
              <a:t>vs.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202441" y="7231737"/>
            <a:ext cx="1617015" cy="12539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0.74–</a:t>
            </a:r>
          </a:p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70B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47954882" y="7365087"/>
            <a:ext cx="2024488" cy="9814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model scale</a:t>
            </a:r>
          </a:p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range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6202441" y="9335472"/>
            <a:ext cx="306749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4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6682779" y="9468822"/>
            <a:ext cx="2340967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model families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46202441" y="11439346"/>
            <a:ext cx="1335733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K=10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47681792" y="11572696"/>
            <a:ext cx="2305771" cy="9814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in-context</a:t>
            </a:r>
          </a:p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examples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2515175" y="25068410"/>
            <a:ext cx="5544381" cy="6522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466"/>
              </a:lnSpc>
              <a:spcBef>
                <a:spcPts val="0"/>
              </a:spcBef>
              <a:spcAft>
                <a:spcPts val="0"/>
              </a:spcAft>
            </a:pPr>
            <a:r>
              <a:rPr sz="3080" b="1" spc="154">
                <a:solidFill>
                  <a:srgbClr val="555555"/>
                </a:solidFill>
                <a:latin typeface="Arial"/>
              </a:rPr>
              <a:t>SEPARABLE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9422566" y="25068410"/>
            <a:ext cx="5544525" cy="6522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466"/>
              </a:lnSpc>
              <a:spcBef>
                <a:spcPts val="0"/>
              </a:spcBef>
              <a:spcAft>
                <a:spcPts val="0"/>
              </a:spcAft>
            </a:pPr>
            <a:r>
              <a:rPr sz="3080" b="1" spc="154">
                <a:solidFill>
                  <a:srgbClr val="555555"/>
                </a:solidFill>
                <a:latin typeface="Arial"/>
              </a:rPr>
              <a:t>COMPOSE-BY-STEP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2515175" y="25713769"/>
            <a:ext cx="5544381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Distinct input parts —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compose well, improve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with scale.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9422566" y="25713769"/>
            <a:ext cx="5544525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Shared, chained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reasoning — fail;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scaling does not help.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26157158" y="20305593"/>
            <a:ext cx="7024762" cy="812448"/>
          </a:xfrm>
          <a:prstGeom prst="rect">
            <a:avLst/>
          </a:prstGeom>
          <a:noFill/>
        </p:spPr>
        <p:txBody>
          <a:bodyPr wrap="squar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COMPOSITE TASK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32977316" y="20305593"/>
            <a:ext cx="2470591" cy="812448"/>
          </a:xfrm>
          <a:prstGeom prst="rect">
            <a:avLst/>
          </a:prstGeom>
          <a:noFill/>
        </p:spPr>
        <p:txBody>
          <a:bodyPr wrap="non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SIMPLE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35375949" y="20305593"/>
            <a:ext cx="3665398" cy="812448"/>
          </a:xfrm>
          <a:prstGeom prst="rect">
            <a:avLst/>
          </a:prstGeom>
          <a:noFill/>
        </p:spPr>
        <p:txBody>
          <a:bodyPr wrap="squar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COMPOSITE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26157158" y="21012070"/>
            <a:ext cx="7024762" cy="1086885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(A)+(F) separable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32977316" y="21012070"/>
            <a:ext cx="2470591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~90%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5375949" y="21012070"/>
            <a:ext cx="3665398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~90%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26157158" y="21957188"/>
            <a:ext cx="7024762" cy="1086885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Cap. &amp; Swap (step)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32977316" y="21957188"/>
            <a:ext cx="2470591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~90%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35375949" y="21957188"/>
            <a:ext cx="3665398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~20%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6157158" y="22902306"/>
            <a:ext cx="7024762" cy="1086886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(A)+(C) @ large scale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2977316" y="22902306"/>
            <a:ext cx="2470591" cy="1086886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~90%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35375949" y="22902306"/>
            <a:ext cx="3665398" cy="1086886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44%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6157158" y="23847425"/>
            <a:ext cx="7024762" cy="1086885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(B)+(D) @ large scale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32977316" y="23847425"/>
            <a:ext cx="2470591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~90%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35375949" y="23847425"/>
            <a:ext cx="3665398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66%</a:t>
            </a:r>
          </a:p>
        </p:txBody>
      </p:sp>
      <p:pic>
        <p:nvPicPr>
          <p:cNvPr id="142" name="Picture 141" descr="eq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494505" y="10135016"/>
            <a:ext cx="10217250" cy="800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
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6349682" cy="5710575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254531"/>
            <a:ext cx="16349682" cy="16646803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254531"/>
            <a:ext cx="16349821" cy="13691295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296953"/>
            <a:ext cx="16349682" cy="873275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20277673"/>
            <a:ext cx="16349821" cy="3626703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21361558"/>
            <a:ext cx="16349682" cy="8710394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28289" y="23233181"/>
            <a:ext cx="16349682" cy="6838771"/>
          </a:xfrm>
          <a:prstGeom prst="roundRect">
            <a:avLst>
              <a:gd name="adj" fmla="val 1733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04691" y="24236223"/>
            <a:ext cx="16349821" cy="5835729"/>
          </a:xfrm>
          <a:prstGeom prst="roundRect">
            <a:avLst>
              <a:gd name="adj" fmla="val 2031"/>
            </a:avLst>
          </a:prstGeom>
          <a:solidFill>
            <a:srgbClr val="F7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24236223"/>
            <a:ext cx="16349821" cy="3556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18952" y="24236223"/>
            <a:ext cx="35560" cy="5835729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30036392"/>
            <a:ext cx="16349821" cy="3556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4236223"/>
            <a:ext cx="53340" cy="5835729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5450" y="3958140"/>
            <a:ext cx="5048131" cy="1466836"/>
          </a:xfrm>
          <a:prstGeom prst="rect">
            <a:avLst/>
          </a:prstGeom>
        </p:spPr>
      </p:pic>
      <p:pic>
        <p:nvPicPr>
          <p:cNvPr id="16" name="Picture 15" descr="ad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555" y="3958156"/>
            <a:ext cx="1063049" cy="1466804"/>
          </a:xfrm>
          <a:prstGeom prst="rect">
            <a:avLst/>
          </a:prstGeom>
        </p:spPr>
      </p:pic>
      <p:pic>
        <p:nvPicPr>
          <p:cNvPr id="17" name="Picture 16" descr="iit-kharagp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0578" y="3958133"/>
            <a:ext cx="7357170" cy="1466850"/>
          </a:xfrm>
          <a:prstGeom prst="rect">
            <a:avLst/>
          </a:prstGeom>
        </p:spPr>
      </p:pic>
      <p:pic>
        <p:nvPicPr>
          <p:cNvPr id="18" name="Picture 17" descr="iit-roork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4722" y="3958136"/>
            <a:ext cx="7216874" cy="146684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404189" y="5919767"/>
            <a:ext cx="2844939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12830" y="5919767"/>
            <a:ext cx="258046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46444" y="5919767"/>
            <a:ext cx="3866316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661" y="10085010"/>
            <a:ext cx="15520134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6661" y="10085010"/>
            <a:ext cx="124460" cy="148101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08388" y="11962189"/>
            <a:ext cx="343654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843063" y="13655456"/>
            <a:ext cx="15520134" cy="1470740"/>
          </a:xfrm>
          <a:prstGeom prst="roundRect">
            <a:avLst>
              <a:gd name="adj" fmla="val 15319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6661" y="18992651"/>
            <a:ext cx="15520134" cy="1647984"/>
          </a:xfrm>
          <a:prstGeom prst="roundRect">
            <a:avLst>
              <a:gd name="adj" fmla="val 1265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541122" y="19942909"/>
            <a:ext cx="5676960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619465" y="20787320"/>
            <a:ext cx="15520273" cy="2702282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58485" y="21026794"/>
            <a:ext cx="6336347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275686" y="22898417"/>
            <a:ext cx="4654749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773359" y="23901459"/>
            <a:ext cx="3230265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6661" y="25315108"/>
            <a:ext cx="15520134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6661" y="25315108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37245" y="27310357"/>
            <a:ext cx="15502493" cy="2346821"/>
          </a:xfrm>
          <a:prstGeom prst="roundRect">
            <a:avLst>
              <a:gd name="adj" fmla="val 8889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843063" y="28009195"/>
            <a:ext cx="15520134" cy="1647983"/>
          </a:xfrm>
          <a:prstGeom prst="roundRect">
            <a:avLst>
              <a:gd name="adj" fmla="val 1265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6661" y="28034892"/>
            <a:ext cx="15520134" cy="1647984"/>
          </a:xfrm>
          <a:prstGeom prst="roundRect">
            <a:avLst>
              <a:gd name="adj" fmla="val 1265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619465" y="11104304"/>
            <a:ext cx="15520273" cy="7028795"/>
          </a:xfrm>
          <a:prstGeom prst="roundRect">
            <a:avLst>
              <a:gd name="adj" fmla="val 50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9511" y="11104304"/>
            <a:ext cx="15520182" cy="7028795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066661" y="15359558"/>
            <a:ext cx="7241321" cy="3609479"/>
          </a:xfrm>
          <a:prstGeom prst="roundRect">
            <a:avLst>
              <a:gd name="adj" fmla="val 577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45473" y="15359558"/>
            <a:ext cx="7241322" cy="3609479"/>
          </a:xfrm>
          <a:prstGeom prst="roundRect">
            <a:avLst>
              <a:gd name="adj" fmla="val 5779"/>
            </a:avLst>
          </a:prstGeom>
          <a:solidFill>
            <a:srgbClr val="F8F2F3"/>
          </a:solidFill>
          <a:ln w="889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7873067" y="15680987"/>
            <a:ext cx="15459988" cy="4970205"/>
          </a:xfrm>
          <a:prstGeom prst="roundRect">
            <a:avLst>
              <a:gd name="adj" fmla="val 71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igur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73218" y="15680987"/>
            <a:ext cx="15459686" cy="4970205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4822824" y="21009570"/>
            <a:ext cx="5071050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22824" y="21009570"/>
            <a:ext cx="11557" cy="2305288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6661" y="24447916"/>
            <a:ext cx="2010390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WikiTQ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33459" y="24447916"/>
            <a:ext cx="2154158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FeTaQA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44026" y="24447916"/>
            <a:ext cx="2306121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WikiSQL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6556" y="24447916"/>
            <a:ext cx="786640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556166" y="25471516"/>
            <a:ext cx="2098318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METRICS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619465" y="9360892"/>
            <a:ext cx="15520273" cy="945118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619465" y="6764178"/>
            <a:ext cx="10673695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619465" y="7461765"/>
            <a:ext cx="1067369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293160" y="6764178"/>
            <a:ext cx="2411830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293160" y="7461765"/>
            <a:ext cx="2411830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704990" y="6764178"/>
            <a:ext cx="2434748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704990" y="7461765"/>
            <a:ext cx="2434748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619465" y="7470655"/>
            <a:ext cx="1067369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619465" y="8406884"/>
            <a:ext cx="1067369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293160" y="7470655"/>
            <a:ext cx="2411830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293160" y="8406884"/>
            <a:ext cx="2411830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704990" y="7470655"/>
            <a:ext cx="243474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704990" y="8406884"/>
            <a:ext cx="2434748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619465" y="8415774"/>
            <a:ext cx="1067369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619465" y="9352002"/>
            <a:ext cx="1067369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293160" y="8415774"/>
            <a:ext cx="241183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293160" y="9352002"/>
            <a:ext cx="2411830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7704990" y="8415774"/>
            <a:ext cx="243474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04990" y="9352002"/>
            <a:ext cx="2434748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619465" y="9360892"/>
            <a:ext cx="1067369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619465" y="10297120"/>
            <a:ext cx="1067369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293160" y="9360892"/>
            <a:ext cx="241183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293160" y="10297120"/>
            <a:ext cx="2411830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7704990" y="9360892"/>
            <a:ext cx="243474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704990" y="10297120"/>
            <a:ext cx="2434748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8F2437"/>
                </a:solidFill>
                <a:latin typeface="Arial"/>
              </a:rPr>
              <a:t>CABINET: Content Relevance-Based Noise Reduction for Table Question Answering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Sohan Patnaik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4106" b="0">
                <a:solidFill>
                  <a:srgbClr val="1B2331"/>
                </a:solidFill>
                <a:latin typeface="Arial"/>
              </a:rPr>
              <a:t>, Heril Changwal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1,3</a:t>
            </a:r>
            <a:r>
              <a:rPr sz="4106" b="0">
                <a:solidFill>
                  <a:srgbClr val="1B2331"/>
                </a:solidFill>
                <a:latin typeface="Arial"/>
              </a:rPr>
              <a:t>, Milan Aggarwal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Sumit Bhatia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Yaman Kumar Singla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Balaji Krishnamurthy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MDSR Lab, Adobe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IIT Kharagpur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IIT Roorkee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04189" y="5919767"/>
            <a:ext cx="293028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312830" y="5919767"/>
            <a:ext cx="2657874" cy="851745"/>
          </a:xfrm>
          <a:prstGeom prst="rect">
            <a:avLst/>
          </a:prstGeom>
          <a:noFill/>
        </p:spPr>
        <p:txBody>
          <a:bodyPr wrap="non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446444" y="5919767"/>
            <a:ext cx="3982305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6661" y="6764178"/>
            <a:ext cx="1594685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 table question answering, only a handful of cells hold the answer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to a given question; the rest act as </a:t>
            </a:r>
            <a:r>
              <a:rPr sz="4106" b="1">
                <a:solidFill>
                  <a:srgbClr val="111111"/>
                </a:solidFill>
                <a:latin typeface="Arial"/>
              </a:rPr>
              <a:t>noise</a:t>
            </a:r>
            <a:r>
              <a:rPr sz="4106" b="0">
                <a:solidFill>
                  <a:srgbClr val="1C1C1C"/>
                </a:solidFill>
                <a:latin typeface="Arial"/>
              </a:rPr>
              <a:t>. LLMs are highly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susceptible to this irrelevant content and give sub-optimal answers,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the problem </a:t>
            </a:r>
            <a:r>
              <a:rPr sz="4106" b="1">
                <a:solidFill>
                  <a:srgbClr val="111111"/>
                </a:solidFill>
                <a:latin typeface="Arial"/>
              </a:rPr>
              <a:t>worsens as tables grow larger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6661" y="10085010"/>
            <a:ext cx="15946854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Most of a table is irrelevant to any one question, yet the LLM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reads all of it, and gets distracted.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8388" y="11962189"/>
            <a:ext cx="35396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6661" y="12806600"/>
            <a:ext cx="1594685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natural fix is to shrink the table first, but hard decomposition is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unforgiving: pick the wrong sub-table and useful cells are lost for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good.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483393" y="14670444"/>
            <a:ext cx="1054651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fused weight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 softly scales each token — nothing is deleted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6661" y="18992651"/>
            <a:ext cx="1594685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Soft weighting de-emphasises noise while keeping every cell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available.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541122" y="19942909"/>
            <a:ext cx="5847268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58485" y="21026794"/>
            <a:ext cx="65264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Dataset / Benchmark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6661" y="21871205"/>
            <a:ext cx="1594685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Evaluated on three challenging table-QA benchmarks; WikiTQ is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among the most complex, requiring compositional multi-step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reasoning over tables.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275686" y="22898417"/>
            <a:ext cx="4794391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773359" y="23901459"/>
            <a:ext cx="3327172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637245" y="24745870"/>
            <a:ext cx="15929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Softly weighting table content by learned relevance, instead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hard-decomposing the table, lets an LLM focus on the cells that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matter while keeping full access to the data.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637245" y="27310357"/>
            <a:ext cx="1592921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Don't cut the table down — weight it. Soft relevance sets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new state of the art on three table-QA benchmarks with a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compact 560M model.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43063" y="28009195"/>
            <a:ext cx="15946854" cy="1895180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The unsupervised scorer is the primary driver, and the weakly-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supervised parsing-statement module is a complementary aid.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6661" y="28034892"/>
            <a:ext cx="1594685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The ~300 released parsing statements bootstrap the weakly-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supervised cell highlighter.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843045" y="6764178"/>
            <a:ext cx="1594687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Linearize &amp; embed</a:t>
            </a:r>
            <a:r>
              <a:rPr sz="4106" b="0">
                <a:solidFill>
                  <a:srgbClr val="1C1C1C"/>
                </a:solidFill>
                <a:latin typeface="Arial"/>
              </a:rPr>
              <a:t> the table together with the question through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QA LLM's shared embedding.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843045" y="8459112"/>
            <a:ext cx="159468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Unsupervised Relevance Scorer</a:t>
            </a:r>
            <a:r>
              <a:rPr sz="4106" b="0">
                <a:solidFill>
                  <a:srgbClr val="1C1C1C"/>
                </a:solidFill>
                <a:latin typeface="Arial"/>
              </a:rPr>
              <a:t> (transformer encoder,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variational inference with clustering + separation + sparsification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losses) scores every table token.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843045" y="10910252"/>
            <a:ext cx="159468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Parsing-statement module</a:t>
            </a:r>
            <a:r>
              <a:rPr sz="4106" b="0">
                <a:solidFill>
                  <a:srgbClr val="1C1C1C"/>
                </a:solidFill>
                <a:latin typeface="Arial"/>
              </a:rPr>
              <a:t> (Flan-T5-XL, ~300 annotations)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highlights relevant cells; the two scores are fused and multiply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token embeddings before decoding.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38276" y="15359558"/>
            <a:ext cx="800210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8F2437"/>
                </a:solidFill>
                <a:latin typeface="Arial"/>
              </a:rPr>
              <a:t>vs.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240237" y="18282701"/>
            <a:ext cx="1470531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Performance drop under table perturbations: CABINET (green) is far more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robust to noise than OmniTab (red).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491477" y="20800794"/>
            <a:ext cx="14649862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CABINET architecture: the unsupervised relevance score and the parsing-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statement cell score are fused (steps 6–7) to weigh the table content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passed to the QA LLM.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843045" y="23742828"/>
            <a:ext cx="159468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URS losses work only together:</a:t>
            </a:r>
            <a:r>
              <a:rPr sz="4106" b="0">
                <a:solidFill>
                  <a:srgbClr val="1C1C1C"/>
                </a:solidFill>
                <a:latin typeface="Arial"/>
              </a:rPr>
              <a:t> clustering + centroid-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separation + sparsification lift WikiTQ 60.8 → 65.6; any subset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barely helps.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843045" y="26193968"/>
            <a:ext cx="15946872" cy="18370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Fuse both signals:</a:t>
            </a:r>
            <a:r>
              <a:rPr sz="4106" b="0">
                <a:solidFill>
                  <a:srgbClr val="1C1C1C"/>
                </a:solidFill>
                <a:latin typeface="Arial"/>
              </a:rPr>
              <a:t> λ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uns</a:t>
            </a:r>
            <a:r>
              <a:rPr sz="4106" b="0">
                <a:solidFill>
                  <a:srgbClr val="1C1C1C"/>
                </a:solidFill>
                <a:latin typeface="Arial"/>
              </a:rPr>
              <a:t>=0.7, λ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cell</a:t>
            </a:r>
            <a:r>
              <a:rPr sz="4106" b="0">
                <a:solidFill>
                  <a:srgbClr val="1C1C1C"/>
                </a:solidFill>
                <a:latin typeface="Arial"/>
              </a:rPr>
              <a:t>=0.3 gives 69.1; the cell-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based signal alone collapses to 37.6.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56166" y="26318706"/>
            <a:ext cx="1509230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WikiTQ &amp; WikiSQL scored by exact-match accuracy; FeTaQA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Sacre-BLEU for long, free-form answers.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10163" y="15576946"/>
            <a:ext cx="6956946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DATER: HARD DECOMPOSE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88976" y="15576946"/>
            <a:ext cx="6956945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CABINET: SOFT WEIGHT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10163" y="16222305"/>
            <a:ext cx="695694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Extracts a sub-table; a wrong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pick discards useful cells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locks in the error.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88976" y="16222305"/>
            <a:ext cx="695694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Weighs relevant cells higher,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removes nothing, keeps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whole table.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865329" y="21009570"/>
            <a:ext cx="9665326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69.1%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865329" y="22384464"/>
            <a:ext cx="9665326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WikiTQ accuracy · new SoTA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865329" y="22905918"/>
            <a:ext cx="9665326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+6.4% over OmniTab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619465" y="6764178"/>
            <a:ext cx="10993905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 (WIKITQ)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293160" y="6764178"/>
            <a:ext cx="2484184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ACC.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704990" y="6764178"/>
            <a:ext cx="2507790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Δ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619465" y="7470655"/>
            <a:ext cx="10993905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OmniTab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293160" y="7470655"/>
            <a:ext cx="2484184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62.7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704990" y="7470655"/>
            <a:ext cx="2507790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−6.4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619465" y="8415774"/>
            <a:ext cx="1099390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DATER (GPT-3, in-context)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293160" y="8415774"/>
            <a:ext cx="24841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65.9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704990" y="8415774"/>
            <a:ext cx="250779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−3.2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619465" y="9360892"/>
            <a:ext cx="1099390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CABINET (Ours)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293160" y="9360892"/>
            <a:ext cx="24841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69.1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704990" y="9360892"/>
            <a:ext cx="250779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301078" y="21009570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40.5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523036" y="21142920"/>
            <a:ext cx="346066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FeTaQA Sacre-BLEU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301078" y="21864816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89.5%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002263" y="21998166"/>
            <a:ext cx="297835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WikiSQL accuracy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301078" y="22720200"/>
            <a:ext cx="138237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560M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825713" y="22853550"/>
            <a:ext cx="295189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model parameters</a:t>
            </a:r>
          </a:p>
        </p:txBody>
      </p:sp>
      <p:pic>
        <p:nvPicPr>
          <p:cNvPr id="130" name="Picture 129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36672" y="13740745"/>
            <a:ext cx="13332777" cy="800100"/>
          </a:xfrm>
          <a:prstGeom prst="rect">
            <a:avLst/>
          </a:prstGeom>
        </p:spPr>
      </p:pic>
      <p:pic>
        <p:nvPicPr>
          <p:cNvPr id="131" name="Picture 130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69412" y="14608214"/>
            <a:ext cx="3639344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
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802405"/>
          </a:xfrm>
          <a:prstGeom prst="roundRect">
            <a:avLst>
              <a:gd name="adj" fmla="val 2961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15581" y="1844119"/>
            <a:ext cx="4571404" cy="24178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69205" y="1844119"/>
            <a:ext cx="17780" cy="2417802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887" y="5975746"/>
            <a:ext cx="10804961" cy="8908197"/>
          </a:xfrm>
          <a:prstGeom prst="roundRect">
            <a:avLst>
              <a:gd name="adj" fmla="val 798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3568" y="5975746"/>
            <a:ext cx="27439124" cy="13535164"/>
          </a:xfrm>
          <a:prstGeom prst="roundRect">
            <a:avLst>
              <a:gd name="adj" fmla="val 52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5975746"/>
            <a:ext cx="10804962" cy="8617883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14925476"/>
            <a:ext cx="10804962" cy="6335375"/>
          </a:xfrm>
          <a:prstGeom prst="roundRect">
            <a:avLst>
              <a:gd name="adj" fmla="val 1122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5215790"/>
            <a:ext cx="10804961" cy="14856162"/>
          </a:xfrm>
          <a:prstGeom prst="roundRect">
            <a:avLst>
              <a:gd name="adj" fmla="val 658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21592698"/>
            <a:ext cx="10804962" cy="8479254"/>
          </a:xfrm>
          <a:prstGeom prst="roundRect">
            <a:avLst>
              <a:gd name="adj" fmla="val 838"/>
            </a:avLst>
          </a:prstGeom>
          <a:solidFill>
            <a:srgbClr val="E9F2F3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21592698"/>
            <a:ext cx="53340" cy="8479254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91" y="6363850"/>
            <a:ext cx="1002875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9991" y="6363850"/>
            <a:ext cx="10028753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991" y="7371754"/>
            <a:ext cx="10028753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271672" y="6363850"/>
            <a:ext cx="26662916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271672" y="6363850"/>
            <a:ext cx="26662916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71672" y="7371754"/>
            <a:ext cx="26662916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37516" y="6363850"/>
            <a:ext cx="1002875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137516" y="6363850"/>
            <a:ext cx="10028754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37516" y="7371754"/>
            <a:ext cx="10028754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271672" y="7946409"/>
            <a:ext cx="26662916" cy="1477685"/>
          </a:xfrm>
          <a:prstGeom prst="roundRect">
            <a:avLst>
              <a:gd name="adj" fmla="val 15247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1004014"/>
            <a:ext cx="10028753" cy="35150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1004014"/>
            <a:ext cx="124460" cy="3515022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37516" y="11265296"/>
            <a:ext cx="10028754" cy="29841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37516" y="11265296"/>
            <a:ext cx="10028754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137516" y="15313580"/>
            <a:ext cx="1002875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37516" y="15313580"/>
            <a:ext cx="10028754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37516" y="16321484"/>
            <a:ext cx="10028754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9991" y="15603894"/>
            <a:ext cx="1002875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9991" y="15603894"/>
            <a:ext cx="10028753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16611798"/>
            <a:ext cx="10028753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137516" y="16701392"/>
            <a:ext cx="10028754" cy="4154131"/>
          </a:xfrm>
          <a:prstGeom prst="roundRect">
            <a:avLst>
              <a:gd name="adj" fmla="val 1712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883568" y="19842757"/>
            <a:ext cx="8945285" cy="10229195"/>
          </a:xfrm>
          <a:prstGeom prst="roundRect">
            <a:avLst>
              <a:gd name="adj" fmla="val 79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160700" y="19842757"/>
            <a:ext cx="18161992" cy="10229195"/>
          </a:xfrm>
          <a:prstGeom prst="roundRect">
            <a:avLst>
              <a:gd name="adj" fmla="val 69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181966" y="21980802"/>
            <a:ext cx="998430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181966" y="21980802"/>
            <a:ext cx="9984304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181966" y="22988706"/>
            <a:ext cx="9984304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181966" y="27377171"/>
            <a:ext cx="9984304" cy="2346821"/>
          </a:xfrm>
          <a:prstGeom prst="roundRect">
            <a:avLst>
              <a:gd name="adj" fmla="val 8889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39991" y="27519272"/>
            <a:ext cx="10028753" cy="2325985"/>
          </a:xfrm>
          <a:prstGeom prst="roundRect">
            <a:avLst>
              <a:gd name="adj" fmla="val 896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tanford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2774" y="1437551"/>
            <a:ext cx="2205414" cy="462259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45600143" y="2113180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6823" y="2219860"/>
            <a:ext cx="1801614" cy="1801614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7875844" y="2113180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2524" y="2219860"/>
            <a:ext cx="1801614" cy="1801614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45724187" y="16923642"/>
            <a:ext cx="4196218" cy="375713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4187" y="16923642"/>
            <a:ext cx="11557" cy="3757137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2271672" y="20230861"/>
            <a:ext cx="8169077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271672" y="20230861"/>
            <a:ext cx="8169077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271672" y="21238765"/>
            <a:ext cx="8169077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548804" y="20230861"/>
            <a:ext cx="1738578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1548804" y="20230861"/>
            <a:ext cx="17385784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1548804" y="21238765"/>
            <a:ext cx="17385784" cy="2667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548804" y="25335805"/>
            <a:ext cx="17385784" cy="1942187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548804" y="27559000"/>
            <a:ext cx="17385784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548804" y="27559000"/>
            <a:ext cx="17385784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2271672" y="28074481"/>
            <a:ext cx="8169077" cy="1942187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2938283" y="13028156"/>
            <a:ext cx="25329694" cy="5827672"/>
          </a:xfrm>
          <a:prstGeom prst="roundRect">
            <a:avLst>
              <a:gd name="adj" fmla="val 61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283" y="13028159"/>
            <a:ext cx="25329694" cy="5827666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2271672" y="21846202"/>
            <a:ext cx="8169077" cy="4667945"/>
          </a:xfrm>
          <a:prstGeom prst="roundRect">
            <a:avLst>
              <a:gd name="adj" fmla="val 76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1759" y="21846202"/>
            <a:ext cx="8168903" cy="4667945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40137516" y="7912377"/>
            <a:ext cx="1905099" cy="89191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137516" y="8795404"/>
            <a:ext cx="19050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042615" y="7912377"/>
            <a:ext cx="4038283" cy="89191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42615" y="8795404"/>
            <a:ext cx="403828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080898" y="7912377"/>
            <a:ext cx="4085372" cy="89191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080898" y="8795404"/>
            <a:ext cx="40853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137516" y="8804294"/>
            <a:ext cx="1905099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0137516" y="9614257"/>
            <a:ext cx="19050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042615" y="8804294"/>
            <a:ext cx="4038283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42615" y="9614257"/>
            <a:ext cx="403828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080898" y="8804294"/>
            <a:ext cx="4085372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080898" y="9614257"/>
            <a:ext cx="40853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137516" y="9623147"/>
            <a:ext cx="190509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137516" y="10433109"/>
            <a:ext cx="19050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042615" y="9623147"/>
            <a:ext cx="4038283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042615" y="10433109"/>
            <a:ext cx="403828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6080898" y="9623147"/>
            <a:ext cx="408537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6080898" y="10433109"/>
            <a:ext cx="40853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0137516" y="10441999"/>
            <a:ext cx="190509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137516" y="11251961"/>
            <a:ext cx="19050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042615" y="10441999"/>
            <a:ext cx="4038283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2042615" y="11251961"/>
            <a:ext cx="403828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6080898" y="10441999"/>
            <a:ext cx="408537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080898" y="11251961"/>
            <a:ext cx="40853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1548804" y="21779388"/>
            <a:ext cx="5660430" cy="814408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1548804" y="22584906"/>
            <a:ext cx="56604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209234" y="21779388"/>
            <a:ext cx="5632787" cy="814408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209234" y="22584906"/>
            <a:ext cx="563278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2842021" y="21779388"/>
            <a:ext cx="6092567" cy="814408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842021" y="22584906"/>
            <a:ext cx="609256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1548804" y="22593796"/>
            <a:ext cx="566043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1548804" y="23403758"/>
            <a:ext cx="56604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209234" y="22593796"/>
            <a:ext cx="563278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7209234" y="23403758"/>
            <a:ext cx="563278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2842021" y="22593796"/>
            <a:ext cx="609256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2842021" y="23403758"/>
            <a:ext cx="609256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1548804" y="23412648"/>
            <a:ext cx="5660430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1548804" y="24222610"/>
            <a:ext cx="56604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7209234" y="23412648"/>
            <a:ext cx="5632787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7209234" y="24222610"/>
            <a:ext cx="563278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2842021" y="23412648"/>
            <a:ext cx="6092567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2842021" y="24222610"/>
            <a:ext cx="609256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1548804" y="24231500"/>
            <a:ext cx="5660430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1548804" y="25041463"/>
            <a:ext cx="56604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7209234" y="24231500"/>
            <a:ext cx="5632787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7209234" y="25041463"/>
            <a:ext cx="563278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842021" y="24231500"/>
            <a:ext cx="6092567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2842021" y="25041463"/>
            <a:ext cx="609256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55945" y="1031101"/>
            <a:ext cx="39001958" cy="2809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17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0F6070"/>
                </a:solidFill>
                <a:latin typeface="Arial"/>
              </a:rPr>
              <a:t>Matrix Compression via Randomized Low Rank and Low Precision</a:t>
            </a:r>
          </a:p>
          <a:p>
            <a:pPr algn="ctr">
              <a:lnSpc>
                <a:spcPts val="9617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0F6070"/>
                </a:solidFill>
                <a:latin typeface="Arial"/>
              </a:rPr>
              <a:t>Factorization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55945" y="3746440"/>
            <a:ext cx="39001958" cy="869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Rajarshi Saha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 Varun Srivastava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 Mert Pilanci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55945" y="4559458"/>
            <a:ext cx="39001958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547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Stanford University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15581" y="1844119"/>
            <a:ext cx="4104203" cy="1199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213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0F6070"/>
                </a:solidFill>
                <a:latin typeface="Arial"/>
              </a:rPr>
              <a:t>NeurIPS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44358" y="2965370"/>
            <a:ext cx="136678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 spc="328">
                <a:solidFill>
                  <a:srgbClr val="1B2331"/>
                </a:solidFill>
                <a:latin typeface="Arial"/>
              </a:rPr>
              <a:t>2023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569348" y="3849508"/>
            <a:ext cx="1521300" cy="4742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247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403">
                <a:solidFill>
                  <a:srgbClr val="1B2331"/>
                </a:solidFill>
                <a:latin typeface="Arial"/>
              </a:rPr>
              <a:t>POSTER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39991" y="6363850"/>
            <a:ext cx="10329615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271672" y="6363850"/>
            <a:ext cx="27089636" cy="1189760"/>
          </a:xfrm>
          <a:prstGeom prst="rect">
            <a:avLst/>
          </a:prstGeom>
          <a:noFill/>
        </p:spPr>
        <p:txBody>
          <a:bodyPr wrap="non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137516" y="6363850"/>
            <a:ext cx="10329616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Ablation Study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39991" y="7718464"/>
            <a:ext cx="1032961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Modern matrices can hold </a:t>
            </a:r>
            <a:r>
              <a:rPr sz="4106" b="1">
                <a:solidFill>
                  <a:srgbClr val="111111"/>
                </a:solidFill>
                <a:latin typeface="Arial"/>
              </a:rPr>
              <a:t>billions of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entries</a:t>
            </a:r>
            <a:r>
              <a:rPr sz="4106" b="0">
                <a:solidFill>
                  <a:srgbClr val="1C1C1C"/>
                </a:solidFill>
                <a:latin typeface="Arial"/>
              </a:rPr>
              <a:t>, so storing and processing them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strains memory and compute — yet they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are frequently </a:t>
            </a:r>
            <a:r>
              <a:rPr sz="4106" b="1">
                <a:solidFill>
                  <a:srgbClr val="111111"/>
                </a:solidFill>
                <a:latin typeface="Arial"/>
              </a:rPr>
              <a:t>approximately low rank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119417" y="8961397"/>
            <a:ext cx="674161" cy="357822"/>
          </a:xfrm>
          <a:prstGeom prst="rect">
            <a:avLst/>
          </a:prstGeom>
          <a:noFill/>
        </p:spPr>
        <p:txBody>
          <a:bodyPr wrap="non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error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                     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9991" y="11004014"/>
            <a:ext cx="10329615" cy="4042275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Low-rank approximation or low-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precision quantization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alone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each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leaves compression on the table —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two structures are rarely exploited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jointly, with error guarantees.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137516" y="11265296"/>
            <a:ext cx="10329616" cy="3431741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Sweeping B</a:t>
            </a:r>
            <a:r>
              <a:rPr sz="5289" b="0" i="1" baseline="-25000">
                <a:solidFill>
                  <a:srgbClr val="1C1C1C"/>
                </a:solidFill>
                <a:latin typeface="Arial"/>
              </a:rPr>
              <a:t>nq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at fixed compression: LPLR's edge is largest at aggressive budgets; naïve quant. only catches up at 4 bits.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137516" y="15313580"/>
            <a:ext cx="10329616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39991" y="15603894"/>
            <a:ext cx="10329615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181966" y="21980802"/>
            <a:ext cx="10283833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181966" y="23335416"/>
            <a:ext cx="10283833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By jointly exploiting low rank and low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precision, LPLR compresses matrices to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~1 bit per entry</a:t>
            </a:r>
            <a:r>
              <a:rPr sz="4106" b="0">
                <a:solidFill>
                  <a:srgbClr val="1C1C1C"/>
                </a:solidFill>
                <a:latin typeface="Arial"/>
              </a:rPr>
              <a:t> with provable error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bounds, matching or beating standard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compression at a fraction of an SVD's cost.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181966" y="27377171"/>
            <a:ext cx="10283833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Sketch → project → quantize: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extreme compression with error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guarantees.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39991" y="27519272"/>
            <a:ext cx="10329615" cy="2674882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Low rank and low precision are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complementary — jointly exploited, they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compound.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183827" y="4298731"/>
            <a:ext cx="873034" cy="425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504951" y="4298731"/>
            <a:ext cx="779463" cy="425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B2331"/>
                </a:solidFill>
                <a:latin typeface="Arial"/>
              </a:rPr>
              <a:t>Code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39972" y="16958508"/>
            <a:ext cx="1032963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low-rank matrix factorizes into a tall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and a wide factor with far fewer entries;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storing those in </a:t>
            </a:r>
            <a:r>
              <a:rPr sz="4106" b="1">
                <a:solidFill>
                  <a:srgbClr val="111111"/>
                </a:solidFill>
                <a:latin typeface="Arial"/>
              </a:rPr>
              <a:t>low precision</a:t>
            </a:r>
            <a:r>
              <a:rPr sz="4106" b="0">
                <a:solidFill>
                  <a:srgbClr val="1C1C1C"/>
                </a:solidFill>
                <a:latin typeface="Arial"/>
              </a:rPr>
              <a:t> multiplies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savings.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39972" y="20165853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Done crudely at low bit budgets this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degrades fast, and the exact </a:t>
            </a:r>
            <a:r>
              <a:rPr sz="4106" b="1">
                <a:solidFill>
                  <a:srgbClr val="111111"/>
                </a:solidFill>
                <a:latin typeface="Arial"/>
              </a:rPr>
              <a:t>SVD route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costs O(nd²)</a:t>
            </a:r>
            <a:r>
              <a:rPr sz="4106" b="0">
                <a:solidFill>
                  <a:srgbClr val="1C1C1C"/>
                </a:solidFill>
                <a:latin typeface="Arial"/>
              </a:rPr>
              <a:t> — prohibitive at scale.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271672" y="20230861"/>
            <a:ext cx="8414149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Results · LLaMa-7b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548804" y="20230861"/>
            <a:ext cx="1781250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39972" y="22616993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Needed: a fast,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randomized</a:t>
            </a:r>
            <a:r>
              <a:rPr sz="4106" b="0">
                <a:solidFill>
                  <a:srgbClr val="1C1C1C"/>
                </a:solidFill>
                <a:latin typeface="Arial"/>
              </a:rPr>
              <a:t> way to get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low-rank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and</a:t>
            </a:r>
            <a:r>
              <a:rPr sz="4106" b="0">
                <a:solidFill>
                  <a:srgbClr val="1C1C1C"/>
                </a:solidFill>
                <a:latin typeface="Arial"/>
              </a:rPr>
              <a:t> low-precision factors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together, with small, analyzable error.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39972" y="25068133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Payoff: compression to </a:t>
            </a:r>
            <a:r>
              <a:rPr sz="4106" b="1">
                <a:solidFill>
                  <a:srgbClr val="111111"/>
                </a:solidFill>
                <a:latin typeface="Arial"/>
              </a:rPr>
              <a:t>~1 bit per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coordinate</a:t>
            </a:r>
            <a:r>
              <a:rPr sz="4106" b="0">
                <a:solidFill>
                  <a:srgbClr val="1C1C1C"/>
                </a:solidFill>
                <a:latin typeface="Arial"/>
              </a:rPr>
              <a:t> whose error provably tracks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best rank-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</a:t>
            </a:r>
            <a:r>
              <a:rPr sz="4106" b="0">
                <a:solidFill>
                  <a:srgbClr val="1C1C1C"/>
                </a:solidFill>
                <a:latin typeface="Arial"/>
              </a:rPr>
              <a:t> approximation.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1548804" y="25335805"/>
            <a:ext cx="17812504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LPLR matches unquantized accuracy at ~1 bit/coord, exactly where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naïve quant. collapses.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1548804" y="27559000"/>
            <a:ext cx="17812504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Low rank + low precision keeps the task accuracy that plain quantization destroys — on CIFAR-100 at a single bit, LPLR holds 79% where naïve quant. falls to ~1%.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271672" y="28074481"/>
            <a:ext cx="8414149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Lower error, far less variance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than naïve quant.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271654" y="9652039"/>
            <a:ext cx="27089654" cy="8265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Sketch.</a:t>
            </a:r>
            <a:r>
              <a:rPr sz="4106" b="0">
                <a:solidFill>
                  <a:srgbClr val="1C1C1C"/>
                </a:solidFill>
                <a:latin typeface="Arial"/>
              </a:rPr>
              <a:t> Multiply A by a Gaussian matrix S to approximate its column space, then quantize the basis: </a:t>
            </a:r>
            <a:r>
              <a:rPr sz="4353" b="1">
                <a:solidFill>
                  <a:srgbClr val="111111"/>
                </a:solidFill>
                <a:latin typeface="Arial"/>
              </a:rPr>
              <a:t>L = Q(AS)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271654" y="10464502"/>
            <a:ext cx="27089654" cy="8265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Project.</a:t>
            </a:r>
            <a:r>
              <a:rPr sz="4106" b="0">
                <a:solidFill>
                  <a:srgbClr val="1C1C1C"/>
                </a:solidFill>
                <a:latin typeface="Arial"/>
              </a:rPr>
              <a:t> Solve the least-squares fit of A onto that basis for W⋆, then quantize: </a:t>
            </a:r>
            <a:r>
              <a:rPr sz="4353" b="1">
                <a:solidFill>
                  <a:srgbClr val="111111"/>
                </a:solidFill>
                <a:latin typeface="Arial"/>
              </a:rPr>
              <a:t>R = Q′(W⋆)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271654" y="11276965"/>
            <a:ext cx="27089654" cy="1606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Equalization.</a:t>
            </a:r>
            <a:r>
              <a:rPr sz="4106" b="0">
                <a:solidFill>
                  <a:srgbClr val="1C1C1C"/>
                </a:solidFill>
                <a:latin typeface="Arial"/>
              </a:rPr>
              <a:t> Gaussian JL embeddings keep the quantization error </a:t>
            </a:r>
            <a:r>
              <a:rPr sz="4353" b="1">
                <a:solidFill>
                  <a:srgbClr val="111111"/>
                </a:solidFill>
                <a:latin typeface="Arial"/>
              </a:rPr>
              <a:t>O(1)</a:t>
            </a:r>
            <a:r>
              <a:rPr sz="4106" b="0">
                <a:solidFill>
                  <a:srgbClr val="1C1C1C"/>
                </a:solidFill>
                <a:latin typeface="Arial"/>
              </a:rPr>
              <a:t>, not O(d) — so LPLR holds up even at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1-bit</a:t>
            </a:r>
            <a:r>
              <a:rPr sz="4106" b="0">
                <a:solidFill>
                  <a:srgbClr val="1C1C1C"/>
                </a:solidFill>
                <a:latin typeface="Arial"/>
              </a:rPr>
              <a:t> precision.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0383380" y="16923642"/>
            <a:ext cx="4910137" cy="1553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~1 bit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0383380" y="18298537"/>
            <a:ext cx="4910137" cy="1799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per matrix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coordinate, task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performance kept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6375796" y="19005430"/>
            <a:ext cx="18881249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Shepp-Logan at ~2 bits/pixel: LPLR / LSVD (ours) preserve detail lost by naïve quant. and DSVD.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383380" y="19862899"/>
            <a:ext cx="4910137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11% accuracy for naïve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quant. on CIFAR-10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598380" y="26663749"/>
            <a:ext cx="7740987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LLaMa-7b per-layer relative Frobenius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error, ordered by layer.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0137516" y="7912377"/>
            <a:ext cx="1962251" cy="1025704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B</a:t>
            </a:r>
            <a:r>
              <a:rPr sz="5346" b="1" baseline="-25000">
                <a:solidFill>
                  <a:srgbClr val="0F6070"/>
                </a:solidFill>
                <a:latin typeface="Arial"/>
              </a:rPr>
              <a:t>nq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2042615" y="7912377"/>
            <a:ext cx="4159431" cy="1025704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LPLR Acc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6080898" y="7912377"/>
            <a:ext cx="4207933" cy="1025704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Naïve Acc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137516" y="8804294"/>
            <a:ext cx="1962251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1 bit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42615" y="8804294"/>
            <a:ext cx="4159431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79%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6080898" y="8804294"/>
            <a:ext cx="4207933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~1%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0137516" y="9623147"/>
            <a:ext cx="1962251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2 bit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2042615" y="9623147"/>
            <a:ext cx="415943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80%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080898" y="9623147"/>
            <a:ext cx="420793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1.7%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0137516" y="10441999"/>
            <a:ext cx="1962251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4 bit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2042615" y="10441999"/>
            <a:ext cx="415943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79%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080898" y="10441999"/>
            <a:ext cx="420793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75%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202441" y="16923642"/>
            <a:ext cx="1107101" cy="6269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92%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7459820" y="17056992"/>
            <a:ext cx="253440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CIFAR-10 acc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@ 1-bit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6202441" y="18262838"/>
            <a:ext cx="110710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79%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7459820" y="18396188"/>
            <a:ext cx="253440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CIFAR-100 acc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@ 1-bit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202441" y="19602172"/>
            <a:ext cx="137722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0.537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7722075" y="19735522"/>
            <a:ext cx="2264279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LLaMa Frob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err (LSVD)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1548804" y="21779388"/>
            <a:ext cx="5830242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Method · 1-bit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7209234" y="21779388"/>
            <a:ext cx="5801770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CIFAR-10 Acc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2842021" y="21779388"/>
            <a:ext cx="6275344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CIFAR-100 Acc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1548804" y="22593796"/>
            <a:ext cx="583024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Naïve quant.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7209234" y="22593796"/>
            <a:ext cx="580177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11%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2842021" y="22593796"/>
            <a:ext cx="627534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~1%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1548804" y="23412648"/>
            <a:ext cx="583024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LPLR (ours)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7209234" y="23412648"/>
            <a:ext cx="580177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92%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2842021" y="23412648"/>
            <a:ext cx="627534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79%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1548804" y="24231500"/>
            <a:ext cx="5830242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Unquantized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7209234" y="24231500"/>
            <a:ext cx="5801770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91%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2842021" y="24231500"/>
            <a:ext cx="627534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76%</a:t>
            </a:r>
          </a:p>
        </p:txBody>
      </p:sp>
      <p:pic>
        <p:nvPicPr>
          <p:cNvPr id="177" name="Picture 176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29667" y="8031698"/>
            <a:ext cx="18746787" cy="800100"/>
          </a:xfrm>
          <a:prstGeom prst="rect">
            <a:avLst/>
          </a:prstGeom>
        </p:spPr>
      </p:pic>
      <p:pic>
        <p:nvPicPr>
          <p:cNvPr id="178" name="Picture 177" descr="e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73943" y="8899167"/>
            <a:ext cx="4312900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
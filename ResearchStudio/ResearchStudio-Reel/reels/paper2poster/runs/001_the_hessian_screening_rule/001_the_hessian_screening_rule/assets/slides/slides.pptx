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8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grpSp>
        <p:nvGrpSpPr>
          <p:cNvPr id="8" name="Group 8"/>
          <p:cNvGrpSpPr/>
          <p:nvPr/>
        </p:nvGrpSpPr>
        <p:grpSpPr>
          <a:xfrm>
            <a:off x="666750" y="869156"/>
            <a:ext cx="8260067" cy="1675733"/>
            <a:chOff x="666750" y="869156"/>
            <a:chExt cx="8260067" cy="1675733"/>
          </a:xfrm>
        </p:grpSpPr>
        <p:sp>
          <p:nvSpPr>
            <p:cNvPr id="3" name="Rectangle 3"/>
            <p:cNvSpPr/>
            <p:nvPr/>
          </p:nvSpPr>
          <p:spPr>
            <a:xfrm>
              <a:off x="685800" y="876300"/>
              <a:ext cx="57150" cy="285750"/>
            </a:xfrm>
            <a:prstGeom prst="roundRect">
              <a:avLst>
                <a:gd name="adj" fmla="val 41667"/>
              </a:avLst>
            </a:prstGeom>
            <a:solidFill>
              <a:schemeClr val="accent2"/>
            </a:solidFill>
            <a:ln>
              <a:noFill/>
            </a:ln>
          </p:spPr>
        </p:sp>
        <p:sp>
          <p:nvSpPr>
            <p:cNvPr id="4" name="TextBox 4"/>
            <p:cNvSpPr txBox="1"/>
            <p:nvPr/>
          </p:nvSpPr>
          <p:spPr>
            <a:xfrm>
              <a:off x="870585" y="869156"/>
              <a:ext cx="5018619"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LASSO · REGULARIZATION PATH · SCREENING RULES</a:t>
              </a:r>
            </a:p>
          </p:txBody>
        </p:sp>
        <p:sp>
          <p:nvSpPr>
            <p:cNvPr id="5" name="TextBox 5"/>
            <p:cNvSpPr txBox="1"/>
            <p:nvPr/>
          </p:nvSpPr>
          <p:spPr>
            <a:xfrm>
              <a:off x="870204" y="1146810"/>
              <a:ext cx="438295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NeurIPS 2022 · a faster way to fit the whole lasso path</a:t>
              </a:r>
            </a:p>
          </p:txBody>
        </p:sp>
        <p:sp>
          <p:nvSpPr>
            <p:cNvPr id="6" name="TextBox 6"/>
            <p:cNvSpPr txBox="1"/>
            <p:nvPr/>
          </p:nvSpPr>
          <p:spPr>
            <a:xfrm>
              <a:off x="666750" y="1514475"/>
              <a:ext cx="8260067"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The Hessian Screening Rule</a:t>
              </a:r>
            </a:p>
          </p:txBody>
        </p:sp>
        <p:sp>
          <p:nvSpPr>
            <p:cNvPr id="7" name="TextBox 7"/>
            <p:cNvSpPr txBox="1"/>
            <p:nvPr/>
          </p:nvSpPr>
          <p:spPr>
            <a:xfrm>
              <a:off x="677418" y="2222182"/>
              <a:ext cx="6943427"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Second-order screening and warm starts for sparse regression</a:t>
              </a:r>
            </a:p>
          </p:txBody>
        </p:sp>
      </p:grpSp>
      <p:grpSp>
        <p:nvGrpSpPr>
          <p:cNvPr id="14" name="Group 14"/>
          <p:cNvGrpSpPr/>
          <p:nvPr/>
        </p:nvGrpSpPr>
        <p:grpSpPr>
          <a:xfrm>
            <a:off x="685800" y="2857500"/>
            <a:ext cx="5334000" cy="1123950"/>
            <a:chOff x="685800" y="2857500"/>
            <a:chExt cx="5334000" cy="1123950"/>
          </a:xfrm>
        </p:grpSpPr>
        <p:sp>
          <p:nvSpPr>
            <p:cNvPr id="9" name="Rectangle 9"/>
            <p:cNvSpPr/>
            <p:nvPr/>
          </p:nvSpPr>
          <p:spPr>
            <a:xfrm>
              <a:off x="685800" y="2857500"/>
              <a:ext cx="5334000" cy="1123950"/>
            </a:xfrm>
            <a:prstGeom prst="roundRect">
              <a:avLst>
                <a:gd name="adj" fmla="val 13559"/>
              </a:avLst>
            </a:prstGeom>
            <a:solidFill>
              <a:schemeClr val="accent5"/>
            </a:solidFill>
            <a:ln w="11430">
              <a:solidFill>
                <a:schemeClr val="accent4"/>
              </a:solidFill>
            </a:ln>
          </p:spPr>
        </p:sp>
        <p:sp>
          <p:nvSpPr>
            <p:cNvPr id="10" name="Rectangle 10"/>
            <p:cNvSpPr/>
            <p:nvPr/>
          </p:nvSpPr>
          <p:spPr>
            <a:xfrm>
              <a:off x="876300" y="3086100"/>
              <a:ext cx="57150" cy="666750"/>
            </a:xfrm>
            <a:prstGeom prst="roundRect">
              <a:avLst>
                <a:gd name="adj" fmla="val 41667"/>
              </a:avLst>
            </a:prstGeom>
            <a:solidFill>
              <a:srgbClr val="37DCC0"/>
            </a:solidFill>
            <a:ln>
              <a:noFill/>
            </a:ln>
          </p:spPr>
        </p:sp>
        <p:sp>
          <p:nvSpPr>
            <p:cNvPr id="11" name="TextBox 11"/>
            <p:cNvSpPr txBox="1"/>
            <p:nvPr/>
          </p:nvSpPr>
          <p:spPr>
            <a:xfrm>
              <a:off x="1059942" y="3073718"/>
              <a:ext cx="2500809" cy="264033"/>
            </a:xfrm>
            <a:prstGeom prst="rect">
              <a:avLst/>
            </a:prstGeom>
            <a:noFill/>
            <a:ln>
              <a:noFill/>
            </a:ln>
          </p:spPr>
          <p:txBody>
            <a:bodyPr wrap="none" lIns="0" tIns="0" rIns="0" bIns="0" anchor="t" anchorCtr="0">
              <a:spAutoFit/>
            </a:bodyPr>
            <a:lstStyle/>
            <a:p>
              <a:pPr algn="l"/>
              <a:r>
                <a:rPr lang="en-US" sz="1350" b="1" dirty="0">
                  <a:solidFill>
                    <a:srgbClr val="37DCC0"/>
                  </a:solidFill>
                  <a:latin typeface="+mn-lt"/>
                  <a:ea typeface="+mn-ea"/>
                  <a:cs typeface="+mn-cs"/>
                </a:rPr>
                <a:t>What a screening rule does</a:t>
              </a:r>
            </a:p>
          </p:txBody>
        </p:sp>
        <p:sp>
          <p:nvSpPr>
            <p:cNvPr id="12" name="TextBox 12"/>
            <p:cNvSpPr txBox="1"/>
            <p:nvPr/>
          </p:nvSpPr>
          <p:spPr>
            <a:xfrm>
              <a:off x="1061085" y="3383756"/>
              <a:ext cx="32806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Discards predictors before the model is fit,</a:t>
              </a:r>
            </a:p>
          </p:txBody>
        </p:sp>
        <p:sp>
          <p:nvSpPr>
            <p:cNvPr id="13" name="TextBox 13"/>
            <p:cNvSpPr txBox="1"/>
            <p:nvPr/>
          </p:nvSpPr>
          <p:spPr>
            <a:xfrm>
              <a:off x="1061085" y="3593306"/>
              <a:ext cx="37732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shrinking each subproblem the solver has to touch.</a:t>
              </a:r>
            </a:p>
          </p:txBody>
        </p:sp>
      </p:grpSp>
      <p:grpSp>
        <p:nvGrpSpPr>
          <p:cNvPr id="21" name="Group 21"/>
          <p:cNvGrpSpPr/>
          <p:nvPr/>
        </p:nvGrpSpPr>
        <p:grpSpPr>
          <a:xfrm>
            <a:off x="6286500" y="2857500"/>
            <a:ext cx="5219700" cy="1123950"/>
            <a:chOff x="6286500" y="2857500"/>
            <a:chExt cx="5219700" cy="1123950"/>
          </a:xfrm>
        </p:grpSpPr>
        <p:sp>
          <p:nvSpPr>
            <p:cNvPr id="15" name="Rectangle 15"/>
            <p:cNvSpPr/>
            <p:nvPr/>
          </p:nvSpPr>
          <p:spPr>
            <a:xfrm>
              <a:off x="6286500" y="2857500"/>
              <a:ext cx="5219700" cy="1123950"/>
            </a:xfrm>
            <a:prstGeom prst="roundRect">
              <a:avLst>
                <a:gd name="adj" fmla="val 13559"/>
              </a:avLst>
            </a:prstGeom>
            <a:solidFill>
              <a:schemeClr val="accent6"/>
            </a:solidFill>
            <a:ln w="13335">
              <a:solidFill>
                <a:schemeClr val="accent2"/>
              </a:solidFill>
            </a:ln>
          </p:spPr>
        </p:sp>
        <p:sp>
          <p:nvSpPr>
            <p:cNvPr id="16" name="TextBox 16"/>
            <p:cNvSpPr txBox="1"/>
            <p:nvPr/>
          </p:nvSpPr>
          <p:spPr>
            <a:xfrm>
              <a:off x="6510338" y="3118247"/>
              <a:ext cx="2939164" cy="183356"/>
            </a:xfrm>
            <a:prstGeom prst="rect">
              <a:avLst/>
            </a:prstGeom>
            <a:noFill/>
            <a:ln>
              <a:noFill/>
            </a:ln>
          </p:spPr>
          <p:txBody>
            <a:bodyPr wrap="none" lIns="0" tIns="0" rIns="0" bIns="0" anchor="t" anchorCtr="0">
              <a:spAutoFit/>
            </a:bodyPr>
            <a:lstStyle/>
            <a:p>
              <a:pPr algn="l"/>
              <a:r>
                <a:rPr lang="en-US" sz="940" b="1" spc="112" dirty="0">
                  <a:solidFill>
                    <a:schemeClr val="accent2"/>
                  </a:solidFill>
                  <a:latin typeface="+mn-lt"/>
                  <a:ea typeface="+mn-ea"/>
                  <a:cs typeface="+mn-cs"/>
                </a:rPr>
                <a:t>SECOND-ORDER HESSIAN INFORMATION</a:t>
              </a:r>
            </a:p>
          </p:txBody>
        </p:sp>
        <p:sp>
          <p:nvSpPr>
            <p:cNvPr id="17" name="TextBox 17"/>
            <p:cNvSpPr txBox="1"/>
            <p:nvPr/>
          </p:nvSpPr>
          <p:spPr>
            <a:xfrm>
              <a:off x="6508242" y="3397568"/>
              <a:ext cx="2032905" cy="264033"/>
            </a:xfrm>
            <a:prstGeom prst="rect">
              <a:avLst/>
            </a:prstGeom>
            <a:noFill/>
            <a:ln>
              <a:noFill/>
            </a:ln>
          </p:spPr>
          <p:txBody>
            <a:bodyPr wrap="none" lIns="0" tIns="0" rIns="0" bIns="0" anchor="t" anchorCtr="0">
              <a:spAutoFit/>
            </a:bodyPr>
            <a:lstStyle/>
            <a:p>
              <a:pPr algn="l"/>
              <a:r>
                <a:rPr lang="en-US" sz="1350" b="1" dirty="0">
                  <a:solidFill>
                    <a:srgbClr val="57D9A3"/>
                  </a:solidFill>
                  <a:latin typeface="+mn-lt"/>
                  <a:ea typeface="+mn-ea"/>
                  <a:cs typeface="+mn-cs"/>
                </a:rPr>
                <a:t>Far tighter screening</a:t>
              </a:r>
            </a:p>
          </p:txBody>
        </p:sp>
        <p:sp>
          <p:nvSpPr>
            <p:cNvPr id="18" name="TextBox 18"/>
            <p:cNvSpPr txBox="1"/>
            <p:nvPr/>
          </p:nvSpPr>
          <p:spPr>
            <a:xfrm>
              <a:off x="6509004" y="3661410"/>
              <a:ext cx="292119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 much more accurate warm starts</a:t>
              </a:r>
            </a:p>
          </p:txBody>
        </p:sp>
        <p:sp>
          <p:nvSpPr>
            <p:cNvPr id="19" name="TextBox 19"/>
            <p:cNvSpPr txBox="1"/>
            <p:nvPr/>
          </p:nvSpPr>
          <p:spPr>
            <a:xfrm>
              <a:off x="10580027" y="3438049"/>
              <a:ext cx="702526" cy="190690"/>
            </a:xfrm>
            <a:prstGeom prst="rect">
              <a:avLst/>
            </a:prstGeom>
            <a:noFill/>
            <a:ln>
              <a:noFill/>
            </a:ln>
          </p:spPr>
          <p:txBody>
            <a:bodyPr wrap="none" lIns="0" tIns="0" rIns="0" bIns="0" anchor="t" anchorCtr="0">
              <a:spAutoFit/>
            </a:bodyPr>
            <a:lstStyle/>
            <a:p>
              <a:pPr algn="r"/>
              <a:r>
                <a:rPr lang="en-US" sz="980" dirty="0">
                  <a:solidFill>
                    <a:schemeClr val="dk2"/>
                  </a:solidFill>
                  <a:latin typeface="+mn-lt"/>
                  <a:ea typeface="+mn-ea"/>
                  <a:cs typeface="+mn-cs"/>
                </a:rPr>
                <a:t>even under</a:t>
              </a:r>
            </a:p>
          </p:txBody>
        </p:sp>
        <p:sp>
          <p:nvSpPr>
            <p:cNvPr id="20" name="TextBox 20"/>
            <p:cNvSpPr txBox="1"/>
            <p:nvPr/>
          </p:nvSpPr>
          <p:spPr>
            <a:xfrm>
              <a:off x="10114601" y="3620452"/>
              <a:ext cx="1168333" cy="205359"/>
            </a:xfrm>
            <a:prstGeom prst="rect">
              <a:avLst/>
            </a:prstGeom>
            <a:noFill/>
            <a:ln>
              <a:noFill/>
            </a:ln>
          </p:spPr>
          <p:txBody>
            <a:bodyPr wrap="none" lIns="0" tIns="0" rIns="0" bIns="0" anchor="t" anchorCtr="0">
              <a:spAutoFit/>
            </a:bodyPr>
            <a:lstStyle/>
            <a:p>
              <a:pPr algn="r"/>
              <a:r>
                <a:rPr lang="en-US" sz="1050" b="1" dirty="0">
                  <a:solidFill>
                    <a:srgbClr val="F7B84B"/>
                  </a:solidFill>
                  <a:latin typeface="+mn-lt"/>
                  <a:ea typeface="+mn-ea"/>
                  <a:cs typeface="+mn-cs"/>
                </a:rPr>
                <a:t>high correlation</a:t>
              </a:r>
            </a:p>
          </p:txBody>
        </p:sp>
      </p:grpSp>
      <p:grpSp>
        <p:nvGrpSpPr>
          <p:cNvPr id="27" name="Group 27"/>
          <p:cNvGrpSpPr/>
          <p:nvPr/>
        </p:nvGrpSpPr>
        <p:grpSpPr>
          <a:xfrm>
            <a:off x="685800" y="4191000"/>
            <a:ext cx="10820400" cy="914400"/>
            <a:chOff x="685800" y="4191000"/>
            <a:chExt cx="10820400" cy="914400"/>
          </a:xfrm>
        </p:grpSpPr>
        <p:sp>
          <p:nvSpPr>
            <p:cNvPr id="22" name="Rectangle 22"/>
            <p:cNvSpPr/>
            <p:nvPr/>
          </p:nvSpPr>
          <p:spPr>
            <a:xfrm>
              <a:off x="685800" y="4191000"/>
              <a:ext cx="10820400" cy="914400"/>
            </a:xfrm>
            <a:prstGeom prst="roundRect">
              <a:avLst>
                <a:gd name="adj" fmla="val 16667"/>
              </a:avLst>
            </a:prstGeom>
            <a:solidFill>
              <a:schemeClr val="accent5"/>
            </a:solidFill>
            <a:ln w="11430">
              <a:solidFill>
                <a:schemeClr val="accent4"/>
              </a:solidFill>
            </a:ln>
          </p:spPr>
        </p:sp>
        <p:sp>
          <p:nvSpPr>
            <p:cNvPr id="23" name="Rectangle 23"/>
            <p:cNvSpPr/>
            <p:nvPr/>
          </p:nvSpPr>
          <p:spPr>
            <a:xfrm>
              <a:off x="876300" y="4400550"/>
              <a:ext cx="57150" cy="495300"/>
            </a:xfrm>
            <a:prstGeom prst="roundRect">
              <a:avLst>
                <a:gd name="adj" fmla="val 41667"/>
              </a:avLst>
            </a:prstGeom>
            <a:solidFill>
              <a:srgbClr val="F7B84B"/>
            </a:solidFill>
            <a:ln>
              <a:noFill/>
            </a:ln>
          </p:spPr>
        </p:sp>
        <p:sp>
          <p:nvSpPr>
            <p:cNvPr id="24" name="TextBox 24"/>
            <p:cNvSpPr txBox="1"/>
            <p:nvPr/>
          </p:nvSpPr>
          <p:spPr>
            <a:xfrm>
              <a:off x="1055370" y="4386262"/>
              <a:ext cx="1257214" cy="440055"/>
            </a:xfrm>
            <a:prstGeom prst="rect">
              <a:avLst/>
            </a:prstGeom>
            <a:noFill/>
            <a:ln>
              <a:noFill/>
            </a:ln>
          </p:spPr>
          <p:txBody>
            <a:bodyPr wrap="none" lIns="0" tIns="0" rIns="0" bIns="0" anchor="t" anchorCtr="0">
              <a:spAutoFit/>
            </a:bodyPr>
            <a:lstStyle/>
            <a:p>
              <a:pPr algn="l"/>
              <a:r>
                <a:rPr lang="en-US" sz="2250" b="1" dirty="0">
                  <a:gradFill>
                    <a:gsLst>
                      <a:gs pos="0">
                        <a:srgbClr val="F7B84B"/>
                      </a:gs>
                      <a:gs pos="100000">
                        <a:srgbClr val="E8892E"/>
                      </a:gs>
                    </a:gsLst>
                    <a:lin ang="2700000" scaled="1"/>
                  </a:gradFill>
                  <a:latin typeface="+mn-lt"/>
                  <a:ea typeface="+mn-ea"/>
                  <a:cs typeface="+mn-cs"/>
                </a:rPr>
                <a:t>Fastest</a:t>
              </a:r>
            </a:p>
          </p:txBody>
        </p:sp>
        <p:sp>
          <p:nvSpPr>
            <p:cNvPr id="25" name="TextBox 25"/>
            <p:cNvSpPr txBox="1"/>
            <p:nvPr/>
          </p:nvSpPr>
          <p:spPr>
            <a:xfrm>
              <a:off x="2374392" y="4483418"/>
              <a:ext cx="533770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across nearly every simulated and real benchmark tested</a:t>
              </a:r>
            </a:p>
          </p:txBody>
        </p:sp>
        <p:sp>
          <p:nvSpPr>
            <p:cNvPr id="26" name="TextBox 26"/>
            <p:cNvSpPr txBox="1"/>
            <p:nvPr/>
          </p:nvSpPr>
          <p:spPr>
            <a:xfrm>
              <a:off x="1061276" y="4797504"/>
              <a:ext cx="356939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lasso and l1-regularized logistic regression paths</a:t>
              </a:r>
            </a:p>
          </p:txBody>
        </p:sp>
      </p:grpSp>
      <p:sp>
        <p:nvSpPr>
          <p:cNvPr id="28" name="Line 28"/>
          <p:cNvSpPr/>
          <p:nvPr/>
        </p:nvSpPr>
        <p:spPr>
          <a:xfrm>
            <a:off x="685800" y="5391150"/>
            <a:ext cx="10820400" cy="9525"/>
          </a:xfrm>
          <a:custGeom>
            <a:avLst/>
            <a:gdLst/>
            <a:ahLst/>
            <a:cxnLst/>
            <a:rect l="l" t="t" r="r" b="b"/>
            <a:pathLst>
              <a:path w="10820400" h="9525">
                <a:moveTo>
                  <a:pt x="0" y="0"/>
                </a:moveTo>
                <a:lnTo>
                  <a:pt x="10820400" y="0"/>
                </a:lnTo>
              </a:path>
            </a:pathLst>
          </a:custGeom>
          <a:noFill/>
          <a:ln w="11430">
            <a:solidFill>
              <a:schemeClr val="accent4"/>
            </a:solidFill>
          </a:ln>
        </p:spPr>
        <p:txBody>
          <a:bodyPr/>
          <a:p/>
        </p:txBody>
      </p:sp>
      <p:sp>
        <p:nvSpPr>
          <p:cNvPr id="29" name="TextBox 29"/>
          <p:cNvSpPr txBox="1"/>
          <p:nvPr/>
        </p:nvSpPr>
        <p:spPr>
          <a:xfrm>
            <a:off x="677799" y="5564029"/>
            <a:ext cx="313963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Johan Larsson · Jonas Wallin</a:t>
            </a:r>
          </a:p>
        </p:txBody>
      </p:sp>
      <p:sp>
        <p:nvSpPr>
          <p:cNvPr id="30" name="TextBox 30"/>
          <p:cNvSpPr txBox="1"/>
          <p:nvPr/>
        </p:nvSpPr>
        <p:spPr>
          <a:xfrm>
            <a:off x="680085" y="5860256"/>
            <a:ext cx="31596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Department of Statistics, Lund University</a:t>
            </a:r>
          </a:p>
        </p:txBody>
      </p:sp>
      <p:sp>
        <p:nvSpPr>
          <p:cNvPr id="31" name="TextBox 31"/>
          <p:cNvSpPr txBox="1"/>
          <p:nvPr/>
        </p:nvSpPr>
        <p:spPr>
          <a:xfrm>
            <a:off x="10395013" y="5620702"/>
            <a:ext cx="1116521" cy="205359"/>
          </a:xfrm>
          <a:prstGeom prst="rect">
            <a:avLst/>
          </a:prstGeom>
          <a:noFill/>
          <a:ln>
            <a:noFill/>
          </a:ln>
        </p:spPr>
        <p:txBody>
          <a:bodyPr wrap="none" lIns="0" tIns="0" rIns="0" bIns="0" anchor="t" anchorCtr="0">
            <a:spAutoFit/>
          </a:bodyPr>
          <a:lstStyle/>
          <a:p>
            <a:pPr algn="r"/>
            <a:r>
              <a:rPr lang="en-US" sz="1050" b="1" spc="112" dirty="0">
                <a:solidFill>
                  <a:schemeClr val="accent2"/>
                </a:solidFill>
                <a:latin typeface="+mn-lt"/>
                <a:ea typeface="+mn-ea"/>
                <a:cs typeface="+mn-cs"/>
              </a:rPr>
              <a:t>NeurIPS 2022</a:t>
            </a:r>
          </a:p>
        </p:txBody>
      </p:sp>
      <p:sp>
        <p:nvSpPr>
          <p:cNvPr id="32" name="TextBox 32"/>
          <p:cNvSpPr txBox="1"/>
          <p:nvPr/>
        </p:nvSpPr>
        <p:spPr>
          <a:xfrm>
            <a:off x="7764840" y="5872401"/>
            <a:ext cx="3746503" cy="198025"/>
          </a:xfrm>
          <a:prstGeom prst="rect">
            <a:avLst/>
          </a:prstGeom>
          <a:noFill/>
          <a:ln>
            <a:noFill/>
          </a:ln>
        </p:spPr>
        <p:txBody>
          <a:bodyPr wrap="none" lIns="0" tIns="0" rIns="0" bIns="0" anchor="t" anchorCtr="0">
            <a:spAutoFit/>
          </a:bodyPr>
          <a:lstStyle/>
          <a:p>
            <a:pPr algn="r"/>
            <a:r>
              <a:rPr lang="en-US" sz="1010" dirty="0">
                <a:solidFill>
                  <a:srgbClr val="6E85AC"/>
                </a:solidFill>
                <a:latin typeface="Consolas"/>
                <a:ea typeface="Consolas"/>
                <a:cs typeface="Consolas"/>
              </a:rPr>
              <a:t>arXiv:2104.13026 · github.com/jolars/HessianScreening</a:t>
            </a:r>
          </a:p>
        </p:txBody>
      </p:sp>
      <p:sp>
        <p:nvSpPr>
          <p:cNvPr id="33" name="cue_s01_c1_work_presented_neurips_2022_johan" title="cue_s01_c1_work_presented_neurips_2022_johan" descr="cue_s01_c1_work_presented_neurips_2022_johan This work, presented at NeurIPS 2022 by Johan Larsson and Jonas Wallin of Lund University, introduces the Hessian Screening Rule, a new way to speed up fitting the lasso regularization path."/>
          <p:cNvSpPr/>
          <p:nvPr/>
        </p:nvSpPr>
        <p:spPr>
          <a:xfrm>
            <a:off x="666902" y="868908"/>
            <a:ext cx="8260080" cy="16754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1_c2_screening_rules_discard_predictors_b" title="cue_s01_c2_screening_rules_discard_predictors_b" descr="cue_s01_c2_screening_rules_discard_predictors_b Screening rules discard predictors before a model is fit, shrinking the problem."/>
          <p:cNvSpPr/>
          <p:nvPr/>
        </p:nvSpPr>
        <p:spPr>
          <a:xfrm>
            <a:off x="686409" y="2857728"/>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1_c3_authors_show_second_order_hessian_in" title="cue_s01_c3_authors_show_second_order_hessian_in" descr="cue_s01_c3_authors_show_second_order_hessian_in The authors show that using second-order Hessian information yields both far tighter screening and much more accurate warm starts, especially when predictors are highly correlated, where existing rules struggle most."/>
          <p:cNvSpPr/>
          <p:nvPr/>
        </p:nvSpPr>
        <p:spPr>
          <a:xfrm>
            <a:off x="6286195" y="2857728"/>
            <a:ext cx="5219395"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1_c4_result_method_fastest_across_nearly" title="cue_s01_c4_result_method_fastest_across_nearly" descr="cue_s01_c4_result_method_fastest_across_nearly The result is a method that is the fastest across nearly every simulated and real benchmark they tested."/>
          <p:cNvSpPr/>
          <p:nvPr/>
        </p:nvSpPr>
        <p:spPr>
          <a:xfrm>
            <a:off x="686409" y="4190923"/>
            <a:ext cx="108204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1437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PROBLEM</a:t>
            </a:r>
          </a:p>
        </p:txBody>
      </p:sp>
      <p:sp>
        <p:nvSpPr>
          <p:cNvPr id="5" name="TextBox 5"/>
          <p:cNvSpPr txBox="1"/>
          <p:nvPr/>
        </p:nvSpPr>
        <p:spPr>
          <a:xfrm>
            <a:off x="518922" y="797242"/>
            <a:ext cx="6789431"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Fitting the lasso path is expensive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02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800100"/>
            <a:chOff x="533400" y="1524000"/>
            <a:chExt cx="11125200" cy="800100"/>
          </a:xfrm>
        </p:grpSpPr>
        <p:sp>
          <p:nvSpPr>
            <p:cNvPr id="8" name="Rectangle 8"/>
            <p:cNvSpPr/>
            <p:nvPr/>
          </p:nvSpPr>
          <p:spPr>
            <a:xfrm>
              <a:off x="533400" y="1524000"/>
              <a:ext cx="11125200" cy="800100"/>
            </a:xfrm>
            <a:prstGeom prst="roundRect">
              <a:avLst>
                <a:gd name="adj" fmla="val 16667"/>
              </a:avLst>
            </a:prstGeom>
            <a:solidFill>
              <a:schemeClr val="accent5"/>
            </a:solidFill>
            <a:ln w="11430">
              <a:solidFill>
                <a:schemeClr val="accent4"/>
              </a:solidFill>
            </a:ln>
          </p:spPr>
        </p:sp>
        <p:sp>
          <p:nvSpPr>
            <p:cNvPr id="9" name="Rectangle 9"/>
            <p:cNvSpPr/>
            <p:nvPr/>
          </p:nvSpPr>
          <p:spPr>
            <a:xfrm>
              <a:off x="723900" y="1714500"/>
              <a:ext cx="47625" cy="419100"/>
            </a:xfrm>
            <a:prstGeom prst="roundRect">
              <a:avLst>
                <a:gd name="adj" fmla="val 50000"/>
              </a:avLst>
            </a:prstGeom>
            <a:solidFill>
              <a:schemeClr val="accent2"/>
            </a:solidFill>
            <a:ln>
              <a:noFill/>
            </a:ln>
          </p:spPr>
        </p:sp>
        <p:sp>
          <p:nvSpPr>
            <p:cNvPr id="10" name="TextBox 10"/>
            <p:cNvSpPr txBox="1"/>
            <p:nvPr/>
          </p:nvSpPr>
          <p:spPr>
            <a:xfrm>
              <a:off x="906780" y="1724025"/>
              <a:ext cx="665862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lasso is a workhorse for high-dimensional sparse regression</a:t>
              </a:r>
            </a:p>
          </p:txBody>
        </p:sp>
        <p:sp>
          <p:nvSpPr>
            <p:cNvPr id="11" name="TextBox 11"/>
            <p:cNvSpPr txBox="1"/>
            <p:nvPr/>
          </p:nvSpPr>
          <p:spPr>
            <a:xfrm>
              <a:off x="908685" y="2012156"/>
              <a:ext cx="37506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but actually fitting it is computationally expensive</a:t>
              </a:r>
            </a:p>
          </p:txBody>
        </p:sp>
      </p:grpSp>
      <p:grpSp>
        <p:nvGrpSpPr>
          <p:cNvPr id="23" name="Group 23"/>
          <p:cNvGrpSpPr/>
          <p:nvPr/>
        </p:nvGrpSpPr>
        <p:grpSpPr>
          <a:xfrm>
            <a:off x="533400" y="2514600"/>
            <a:ext cx="3556000" cy="2914650"/>
            <a:chOff x="533400" y="2514600"/>
            <a:chExt cx="3556000" cy="2914650"/>
          </a:xfrm>
        </p:grpSpPr>
        <p:sp>
          <p:nvSpPr>
            <p:cNvPr id="13" name="Rectangle 13"/>
            <p:cNvSpPr/>
            <p:nvPr/>
          </p:nvSpPr>
          <p:spPr>
            <a:xfrm>
              <a:off x="533400" y="2514600"/>
              <a:ext cx="3556000" cy="2914650"/>
            </a:xfrm>
            <a:prstGeom prst="roundRect">
              <a:avLst>
                <a:gd name="adj" fmla="val 4575"/>
              </a:avLst>
            </a:prstGeom>
            <a:solidFill>
              <a:schemeClr val="accent5"/>
            </a:solidFill>
            <a:ln w="11430">
              <a:solidFill>
                <a:schemeClr val="accent4"/>
              </a:solidFill>
            </a:ln>
          </p:spPr>
        </p:sp>
        <p:sp>
          <p:nvSpPr>
            <p:cNvPr id="14" name="Rectangle 14"/>
            <p:cNvSpPr/>
            <p:nvPr/>
          </p:nvSpPr>
          <p:spPr>
            <a:xfrm>
              <a:off x="742950" y="2762250"/>
              <a:ext cx="47625" cy="285750"/>
            </a:xfrm>
            <a:prstGeom prst="roundRect">
              <a:avLst>
                <a:gd name="adj" fmla="val 50000"/>
              </a:avLst>
            </a:prstGeom>
            <a:solidFill>
              <a:srgbClr val="F2708A"/>
            </a:solidFill>
            <a:ln>
              <a:noFill/>
            </a:ln>
          </p:spPr>
        </p:sp>
        <p:sp>
          <p:nvSpPr>
            <p:cNvPr id="15" name="TextBox 15"/>
            <p:cNvSpPr txBox="1"/>
            <p:nvPr/>
          </p:nvSpPr>
          <p:spPr>
            <a:xfrm>
              <a:off x="736092" y="3149918"/>
              <a:ext cx="212860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penalty is unknown</a:t>
              </a:r>
            </a:p>
          </p:txBody>
        </p:sp>
        <p:sp>
          <p:nvSpPr>
            <p:cNvPr id="16" name="TextBox 16"/>
            <p:cNvSpPr txBox="1"/>
            <p:nvPr/>
          </p:nvSpPr>
          <p:spPr>
            <a:xfrm>
              <a:off x="737235" y="3479006"/>
              <a:ext cx="25720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best penalty strength is never</a:t>
              </a:r>
            </a:p>
          </p:txBody>
        </p:sp>
        <p:sp>
          <p:nvSpPr>
            <p:cNvPr id="17" name="TextBox 17"/>
            <p:cNvSpPr txBox="1"/>
            <p:nvPr/>
          </p:nvSpPr>
          <p:spPr>
            <a:xfrm>
              <a:off x="737235" y="3679031"/>
              <a:ext cx="231074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known in advance, so you fit an</a:t>
              </a:r>
            </a:p>
          </p:txBody>
        </p:sp>
        <p:sp>
          <p:nvSpPr>
            <p:cNvPr id="18" name="TextBox 18"/>
            <p:cNvSpPr txBox="1"/>
            <p:nvPr/>
          </p:nvSpPr>
          <p:spPr>
            <a:xfrm>
              <a:off x="737235" y="3879056"/>
              <a:ext cx="247659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entire path of models and tune by</a:t>
              </a:r>
            </a:p>
          </p:txBody>
        </p:sp>
        <p:sp>
          <p:nvSpPr>
            <p:cNvPr id="19" name="TextBox 19"/>
            <p:cNvSpPr txBox="1"/>
            <p:nvPr/>
          </p:nvSpPr>
          <p:spPr>
            <a:xfrm>
              <a:off x="737235" y="4079081"/>
              <a:ext cx="1308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cross-validation.</a:t>
              </a:r>
            </a:p>
          </p:txBody>
        </p:sp>
        <p:sp>
          <p:nvSpPr>
            <p:cNvPr id="20" name="Rectangle 20"/>
            <p:cNvSpPr/>
            <p:nvPr/>
          </p:nvSpPr>
          <p:spPr>
            <a:xfrm>
              <a:off x="742950" y="4552950"/>
              <a:ext cx="3136900" cy="647700"/>
            </a:xfrm>
            <a:prstGeom prst="roundRect">
              <a:avLst>
                <a:gd name="adj" fmla="val 17647"/>
              </a:avLst>
            </a:prstGeom>
            <a:solidFill>
              <a:srgbClr val="301B27"/>
            </a:solidFill>
            <a:ln w="11430">
              <a:solidFill>
                <a:srgbClr val="F2708A"/>
              </a:solidFill>
            </a:ln>
          </p:spPr>
        </p:sp>
        <p:sp>
          <p:nvSpPr>
            <p:cNvPr id="21" name="TextBox 21"/>
            <p:cNvSpPr txBox="1"/>
            <p:nvPr/>
          </p:nvSpPr>
          <p:spPr>
            <a:xfrm>
              <a:off x="888873" y="4739164"/>
              <a:ext cx="1831293" cy="249364"/>
            </a:xfrm>
            <a:prstGeom prst="rect">
              <a:avLst/>
            </a:prstGeom>
            <a:noFill/>
            <a:ln>
              <a:noFill/>
            </a:ln>
          </p:spPr>
          <p:txBody>
            <a:bodyPr wrap="none" lIns="0" tIns="0" rIns="0" bIns="0" anchor="t" anchorCtr="0">
              <a:spAutoFit/>
            </a:bodyPr>
            <a:lstStyle/>
            <a:p>
              <a:pPr algn="l"/>
              <a:r>
                <a:rPr lang="en-US" sz="1280" b="1" dirty="0">
                  <a:solidFill>
                    <a:srgbClr val="F2708A"/>
                  </a:solidFill>
                  <a:latin typeface="+mn-lt"/>
                  <a:ea typeface="+mn-ea"/>
                  <a:cs typeface="+mn-cs"/>
                </a:rPr>
                <a:t>refit again and again</a:t>
              </a:r>
            </a:p>
          </p:txBody>
        </p:sp>
        <p:sp>
          <p:nvSpPr>
            <p:cNvPr id="22" name="TextBox 22"/>
            <p:cNvSpPr txBox="1"/>
            <p:nvPr/>
          </p:nvSpPr>
          <p:spPr>
            <a:xfrm>
              <a:off x="890588" y="4985147"/>
              <a:ext cx="1878128"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many penalty values x CV folds</a:t>
              </a:r>
            </a:p>
          </p:txBody>
        </p:sp>
      </p:grpSp>
      <p:grpSp>
        <p:nvGrpSpPr>
          <p:cNvPr id="33" name="Group 33"/>
          <p:cNvGrpSpPr/>
          <p:nvPr/>
        </p:nvGrpSpPr>
        <p:grpSpPr>
          <a:xfrm>
            <a:off x="4318000" y="2514600"/>
            <a:ext cx="3556000" cy="2914650"/>
            <a:chOff x="4318000" y="2514600"/>
            <a:chExt cx="3556000" cy="2914650"/>
          </a:xfrm>
        </p:grpSpPr>
        <p:sp>
          <p:nvSpPr>
            <p:cNvPr id="24" name="Rectangle 24"/>
            <p:cNvSpPr/>
            <p:nvPr/>
          </p:nvSpPr>
          <p:spPr>
            <a:xfrm>
              <a:off x="4318000" y="2514600"/>
              <a:ext cx="3556000" cy="2914650"/>
            </a:xfrm>
            <a:prstGeom prst="roundRect">
              <a:avLst>
                <a:gd name="adj" fmla="val 4575"/>
              </a:avLst>
            </a:prstGeom>
            <a:solidFill>
              <a:schemeClr val="accent5"/>
            </a:solidFill>
            <a:ln w="11430">
              <a:solidFill>
                <a:schemeClr val="accent4"/>
              </a:solidFill>
            </a:ln>
          </p:spPr>
        </p:sp>
        <p:sp>
          <p:nvSpPr>
            <p:cNvPr id="25" name="Rectangle 25"/>
            <p:cNvSpPr/>
            <p:nvPr/>
          </p:nvSpPr>
          <p:spPr>
            <a:xfrm>
              <a:off x="4527550" y="2762250"/>
              <a:ext cx="47625" cy="285750"/>
            </a:xfrm>
            <a:prstGeom prst="roundRect">
              <a:avLst>
                <a:gd name="adj" fmla="val 50000"/>
              </a:avLst>
            </a:prstGeom>
            <a:solidFill>
              <a:srgbClr val="37DCC0"/>
            </a:solidFill>
            <a:ln>
              <a:noFill/>
            </a:ln>
          </p:spPr>
        </p:sp>
        <p:sp>
          <p:nvSpPr>
            <p:cNvPr id="26" name="TextBox 26"/>
            <p:cNvSpPr txBox="1"/>
            <p:nvPr/>
          </p:nvSpPr>
          <p:spPr>
            <a:xfrm>
              <a:off x="4520692" y="3149918"/>
              <a:ext cx="188009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Screening rules help</a:t>
              </a:r>
            </a:p>
          </p:txBody>
        </p:sp>
        <p:sp>
          <p:nvSpPr>
            <p:cNvPr id="27" name="TextBox 27"/>
            <p:cNvSpPr txBox="1"/>
            <p:nvPr/>
          </p:nvSpPr>
          <p:spPr>
            <a:xfrm>
              <a:off x="4521835" y="3479006"/>
              <a:ext cx="26096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They discard predictors before the</a:t>
              </a:r>
            </a:p>
          </p:txBody>
        </p:sp>
        <p:sp>
          <p:nvSpPr>
            <p:cNvPr id="28" name="TextBox 28"/>
            <p:cNvSpPr txBox="1"/>
            <p:nvPr/>
          </p:nvSpPr>
          <p:spPr>
            <a:xfrm>
              <a:off x="4521835" y="3679031"/>
              <a:ext cx="240120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solver even runs, shrinking each</a:t>
              </a:r>
            </a:p>
          </p:txBody>
        </p:sp>
        <p:sp>
          <p:nvSpPr>
            <p:cNvPr id="29" name="TextBox 29"/>
            <p:cNvSpPr txBox="1"/>
            <p:nvPr/>
          </p:nvSpPr>
          <p:spPr>
            <a:xfrm>
              <a:off x="4521835" y="3879056"/>
              <a:ext cx="201673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subproblem it has to solve.</a:t>
              </a:r>
            </a:p>
          </p:txBody>
        </p:sp>
        <p:sp>
          <p:nvSpPr>
            <p:cNvPr id="30" name="Rectangle 30"/>
            <p:cNvSpPr/>
            <p:nvPr/>
          </p:nvSpPr>
          <p:spPr>
            <a:xfrm>
              <a:off x="4527550" y="4552950"/>
              <a:ext cx="3136900" cy="647700"/>
            </a:xfrm>
            <a:prstGeom prst="roundRect">
              <a:avLst>
                <a:gd name="adj" fmla="val 17647"/>
              </a:avLst>
            </a:prstGeom>
            <a:solidFill>
              <a:srgbClr val="12312B"/>
            </a:solidFill>
            <a:ln w="11430">
              <a:solidFill>
                <a:srgbClr val="37DCC0"/>
              </a:solidFill>
            </a:ln>
          </p:spPr>
        </p:sp>
        <p:sp>
          <p:nvSpPr>
            <p:cNvPr id="31" name="TextBox 31"/>
            <p:cNvSpPr txBox="1"/>
            <p:nvPr/>
          </p:nvSpPr>
          <p:spPr>
            <a:xfrm>
              <a:off x="4673473" y="4739164"/>
              <a:ext cx="1550853" cy="249364"/>
            </a:xfrm>
            <a:prstGeom prst="rect">
              <a:avLst/>
            </a:prstGeom>
            <a:noFill/>
            <a:ln>
              <a:noFill/>
            </a:ln>
          </p:spPr>
          <p:txBody>
            <a:bodyPr wrap="none" lIns="0" tIns="0" rIns="0" bIns="0" anchor="t" anchorCtr="0">
              <a:spAutoFit/>
            </a:bodyPr>
            <a:lstStyle/>
            <a:p>
              <a:pPr algn="l"/>
              <a:r>
                <a:rPr lang="en-US" sz="1280" b="1" dirty="0">
                  <a:solidFill>
                    <a:srgbClr val="37DCC0"/>
                  </a:solidFill>
                  <a:latin typeface="+mn-lt"/>
                  <a:ea typeface="+mn-ea"/>
                  <a:cs typeface="+mn-cs"/>
                </a:rPr>
                <a:t>fewer predictors</a:t>
              </a:r>
            </a:p>
          </p:txBody>
        </p:sp>
        <p:sp>
          <p:nvSpPr>
            <p:cNvPr id="32" name="TextBox 32"/>
            <p:cNvSpPr txBox="1"/>
            <p:nvPr/>
          </p:nvSpPr>
          <p:spPr>
            <a:xfrm>
              <a:off x="4675188" y="4985147"/>
              <a:ext cx="1578656"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smaller problem per solve</a:t>
              </a:r>
            </a:p>
          </p:txBody>
        </p:sp>
      </p:grpSp>
      <p:grpSp>
        <p:nvGrpSpPr>
          <p:cNvPr id="44" name="Group 44"/>
          <p:cNvGrpSpPr/>
          <p:nvPr/>
        </p:nvGrpSpPr>
        <p:grpSpPr>
          <a:xfrm>
            <a:off x="8102600" y="2514600"/>
            <a:ext cx="3556000" cy="2914650"/>
            <a:chOff x="8102600" y="2514600"/>
            <a:chExt cx="3556000" cy="2914650"/>
          </a:xfrm>
        </p:grpSpPr>
        <p:sp>
          <p:nvSpPr>
            <p:cNvPr id="34" name="Rectangle 34"/>
            <p:cNvSpPr/>
            <p:nvPr/>
          </p:nvSpPr>
          <p:spPr>
            <a:xfrm>
              <a:off x="8102600" y="2514600"/>
              <a:ext cx="3556000" cy="2914650"/>
            </a:xfrm>
            <a:prstGeom prst="roundRect">
              <a:avLst>
                <a:gd name="adj" fmla="val 4575"/>
              </a:avLst>
            </a:prstGeom>
            <a:solidFill>
              <a:schemeClr val="accent5"/>
            </a:solidFill>
            <a:ln w="11430">
              <a:solidFill>
                <a:schemeClr val="accent4"/>
              </a:solidFill>
            </a:ln>
          </p:spPr>
        </p:sp>
        <p:sp>
          <p:nvSpPr>
            <p:cNvPr id="35" name="Rectangle 35"/>
            <p:cNvSpPr/>
            <p:nvPr/>
          </p:nvSpPr>
          <p:spPr>
            <a:xfrm>
              <a:off x="8312150" y="2762250"/>
              <a:ext cx="47625" cy="285750"/>
            </a:xfrm>
            <a:prstGeom prst="roundRect">
              <a:avLst>
                <a:gd name="adj" fmla="val 50000"/>
              </a:avLst>
            </a:prstGeom>
            <a:solidFill>
              <a:srgbClr val="F7B84B"/>
            </a:solidFill>
            <a:ln>
              <a:noFill/>
            </a:ln>
          </p:spPr>
        </p:sp>
        <p:sp>
          <p:nvSpPr>
            <p:cNvPr id="36" name="TextBox 36"/>
            <p:cNvSpPr txBox="1"/>
            <p:nvPr/>
          </p:nvSpPr>
          <p:spPr>
            <a:xfrm>
              <a:off x="8305292" y="3149918"/>
              <a:ext cx="190955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But they break down</a:t>
              </a:r>
            </a:p>
          </p:txBody>
        </p:sp>
        <p:sp>
          <p:nvSpPr>
            <p:cNvPr id="37" name="TextBox 37"/>
            <p:cNvSpPr txBox="1"/>
            <p:nvPr/>
          </p:nvSpPr>
          <p:spPr>
            <a:xfrm>
              <a:off x="8306435" y="3479006"/>
              <a:ext cx="19387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widely used rules turn</a:t>
              </a:r>
            </a:p>
          </p:txBody>
        </p:sp>
        <p:sp>
          <p:nvSpPr>
            <p:cNvPr id="38" name="TextBox 38"/>
            <p:cNvSpPr txBox="1"/>
            <p:nvPr/>
          </p:nvSpPr>
          <p:spPr>
            <a:xfrm>
              <a:off x="8306435" y="3679031"/>
              <a:ext cx="21071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conservative and inefficient</a:t>
              </a:r>
            </a:p>
          </p:txBody>
        </p:sp>
        <p:sp>
          <p:nvSpPr>
            <p:cNvPr id="39" name="TextBox 39"/>
            <p:cNvSpPr txBox="1"/>
            <p:nvPr/>
          </p:nvSpPr>
          <p:spPr>
            <a:xfrm>
              <a:off x="8306435" y="3879056"/>
              <a:ext cx="20921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exactly when predictors are</a:t>
              </a:r>
            </a:p>
          </p:txBody>
        </p:sp>
        <p:sp>
          <p:nvSpPr>
            <p:cNvPr id="40" name="TextBox 40"/>
            <p:cNvSpPr txBox="1"/>
            <p:nvPr/>
          </p:nvSpPr>
          <p:spPr>
            <a:xfrm>
              <a:off x="8306435" y="4079081"/>
              <a:ext cx="15568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strongly correlated.</a:t>
              </a:r>
            </a:p>
          </p:txBody>
        </p:sp>
        <p:sp>
          <p:nvSpPr>
            <p:cNvPr id="41" name="Rectangle 41"/>
            <p:cNvSpPr/>
            <p:nvPr/>
          </p:nvSpPr>
          <p:spPr>
            <a:xfrm>
              <a:off x="8312150" y="4552950"/>
              <a:ext cx="3136900" cy="647700"/>
            </a:xfrm>
            <a:prstGeom prst="roundRect">
              <a:avLst>
                <a:gd name="adj" fmla="val 17647"/>
              </a:avLst>
            </a:prstGeom>
            <a:solidFill>
              <a:srgbClr val="332A18"/>
            </a:solidFill>
            <a:ln w="11430">
              <a:solidFill>
                <a:srgbClr val="F7B84B"/>
              </a:solidFill>
            </a:ln>
          </p:spPr>
        </p:sp>
        <p:sp>
          <p:nvSpPr>
            <p:cNvPr id="42" name="TextBox 42"/>
            <p:cNvSpPr txBox="1"/>
            <p:nvPr/>
          </p:nvSpPr>
          <p:spPr>
            <a:xfrm>
              <a:off x="8458073" y="4739164"/>
              <a:ext cx="1424202" cy="249364"/>
            </a:xfrm>
            <a:prstGeom prst="rect">
              <a:avLst/>
            </a:prstGeom>
            <a:noFill/>
            <a:ln>
              <a:noFill/>
            </a:ln>
          </p:spPr>
          <p:txBody>
            <a:bodyPr wrap="none" lIns="0" tIns="0" rIns="0" bIns="0" anchor="t" anchorCtr="0">
              <a:spAutoFit/>
            </a:bodyPr>
            <a:lstStyle/>
            <a:p>
              <a:pPr algn="l"/>
              <a:r>
                <a:rPr lang="en-US" sz="1280" b="1" dirty="0">
                  <a:solidFill>
                    <a:srgbClr val="F7B84B"/>
                  </a:solidFill>
                  <a:latin typeface="+mn-lt"/>
                  <a:ea typeface="+mn-ea"/>
                  <a:cs typeface="+mn-cs"/>
                </a:rPr>
                <a:t>high correlation</a:t>
              </a:r>
            </a:p>
          </p:txBody>
        </p:sp>
        <p:sp>
          <p:nvSpPr>
            <p:cNvPr id="43" name="TextBox 43"/>
            <p:cNvSpPr txBox="1"/>
            <p:nvPr/>
          </p:nvSpPr>
          <p:spPr>
            <a:xfrm>
              <a:off x="8459788" y="4989195"/>
              <a:ext cx="2257006"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the regime where speed matters most</a:t>
              </a:r>
            </a:p>
          </p:txBody>
        </p:sp>
      </p:grpSp>
      <p:sp>
        <p:nvSpPr>
          <p:cNvPr id="45" name="cue_s02_c1_sparse_regression_lasso_workhorse_hi" title="cue_s02_c1_sparse_regression_lasso_workhorse_hi" descr="cue_s02_c1_sparse_regression_lasso_workhorse_hi Sparse regression with the lasso is a workhorse for high-dimensional data, but fitting it is expensive."/>
          <p:cNvSpPr/>
          <p:nvPr/>
        </p:nvSpPr>
        <p:spPr>
          <a:xfrm>
            <a:off x="532790" y="1523847"/>
            <a:ext cx="11125200" cy="8003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2_best_penalty_strength_never_known" title="cue_s02_c2_best_penalty_strength_never_known" descr="cue_s02_c2_best_penalty_strength_never_known The best penalty strength is never known in advance, so practitioners fit an entire path of models across many penalty values and tune by cross-validation, refitting again and again."/>
          <p:cNvSpPr/>
          <p:nvPr/>
        </p:nvSpPr>
        <p:spPr>
          <a:xfrm>
            <a:off x="532790" y="2514828"/>
            <a:ext cx="3556406" cy="29146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3_screening_rules_help_discarding_pred" title="cue_s02_c3_screening_rules_help_discarding_pred" descr="cue_s02_c3_screening_rules_help_discarding_pred Screening rules help by discarding predictors before the solver even runs, shrinking each subproblem."/>
          <p:cNvSpPr/>
          <p:nvPr/>
        </p:nvSpPr>
        <p:spPr>
          <a:xfrm>
            <a:off x="4318406" y="2514828"/>
            <a:ext cx="3556406" cy="29146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2_c4_trouble_widely_used_rules_become" title="cue_s02_c4_trouble_widely_used_rules_become" descr="cue_s02_c4_trouble_widely_used_rules_become The trouble is that the widely used rules become conservative and inefficient precisely when predictors are strongly correlated, which is exactly the regime where speed matters most."/>
          <p:cNvSpPr/>
          <p:nvPr/>
        </p:nvSpPr>
        <p:spPr>
          <a:xfrm>
            <a:off x="8102803" y="2514828"/>
            <a:ext cx="3556406" cy="29146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36202"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MOTIVATION</a:t>
            </a:r>
          </a:p>
        </p:txBody>
      </p:sp>
      <p:sp>
        <p:nvSpPr>
          <p:cNvPr id="5" name="TextBox 5"/>
          <p:cNvSpPr txBox="1"/>
          <p:nvPr/>
        </p:nvSpPr>
        <p:spPr>
          <a:xfrm>
            <a:off x="518922" y="797242"/>
            <a:ext cx="8280569"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First-order estimates are the bottleneck</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03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21" name="Group 21"/>
          <p:cNvGrpSpPr/>
          <p:nvPr/>
        </p:nvGrpSpPr>
        <p:grpSpPr>
          <a:xfrm>
            <a:off x="533400" y="1524000"/>
            <a:ext cx="5867400" cy="1676400"/>
            <a:chOff x="533400" y="1524000"/>
            <a:chExt cx="5867400" cy="1676400"/>
          </a:xfrm>
        </p:grpSpPr>
        <p:sp>
          <p:nvSpPr>
            <p:cNvPr id="8" name="Rectangle 8"/>
            <p:cNvSpPr/>
            <p:nvPr/>
          </p:nvSpPr>
          <p:spPr>
            <a:xfrm>
              <a:off x="533400" y="1524000"/>
              <a:ext cx="5867400" cy="1676400"/>
            </a:xfrm>
            <a:prstGeom prst="roundRect">
              <a:avLst>
                <a:gd name="adj" fmla="val 7955"/>
              </a:avLst>
            </a:prstGeom>
            <a:solidFill>
              <a:schemeClr val="accent5"/>
            </a:solidFill>
            <a:ln w="11430">
              <a:solidFill>
                <a:schemeClr val="accent4"/>
              </a:solidFill>
            </a:ln>
          </p:spPr>
        </p:sp>
        <p:sp>
          <p:nvSpPr>
            <p:cNvPr id="9" name="Rectangle 9"/>
            <p:cNvSpPr/>
            <p:nvPr/>
          </p:nvSpPr>
          <p:spPr>
            <a:xfrm>
              <a:off x="723900" y="1733550"/>
              <a:ext cx="47625" cy="285750"/>
            </a:xfrm>
            <a:prstGeom prst="roundRect">
              <a:avLst>
                <a:gd name="adj" fmla="val 50000"/>
              </a:avLst>
            </a:prstGeom>
            <a:solidFill>
              <a:schemeClr val="accent2"/>
            </a:solidFill>
            <a:ln>
              <a:noFill/>
            </a:ln>
          </p:spPr>
        </p:sp>
        <p:sp>
          <p:nvSpPr>
            <p:cNvPr id="10" name="TextBox 10"/>
            <p:cNvSpPr txBox="1"/>
            <p:nvPr/>
          </p:nvSpPr>
          <p:spPr>
            <a:xfrm>
              <a:off x="907542" y="1759268"/>
              <a:ext cx="209001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unifying observation</a:t>
              </a:r>
            </a:p>
          </p:txBody>
        </p:sp>
        <p:sp>
          <p:nvSpPr>
            <p:cNvPr id="11" name="TextBox 11"/>
            <p:cNvSpPr txBox="1"/>
            <p:nvPr/>
          </p:nvSpPr>
          <p:spPr>
            <a:xfrm>
              <a:off x="908876" y="2073354"/>
              <a:ext cx="45281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popular strong rule and the working-set strategy are both</a:t>
              </a:r>
            </a:p>
          </p:txBody>
        </p:sp>
        <p:sp>
          <p:nvSpPr>
            <p:cNvPr id="12" name="TextBox 12"/>
            <p:cNvSpPr txBox="1"/>
            <p:nvPr/>
          </p:nvSpPr>
          <p:spPr>
            <a:xfrm>
              <a:off x="908876" y="2273379"/>
              <a:ext cx="43250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estimates of the correlation (the negative gradient) at the</a:t>
              </a:r>
            </a:p>
          </p:txBody>
        </p:sp>
        <p:sp>
          <p:nvSpPr>
            <p:cNvPr id="13" name="TextBox 13"/>
            <p:cNvSpPr txBox="1"/>
            <p:nvPr/>
          </p:nvSpPr>
          <p:spPr>
            <a:xfrm>
              <a:off x="908876" y="2473404"/>
              <a:ext cx="163981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next step of the path.</a:t>
              </a:r>
            </a:p>
          </p:txBody>
        </p:sp>
        <p:sp>
          <p:nvSpPr>
            <p:cNvPr id="14" name="Line 14"/>
            <p:cNvSpPr/>
            <p:nvPr/>
          </p:nvSpPr>
          <p:spPr>
            <a:xfrm>
              <a:off x="914400" y="2857500"/>
              <a:ext cx="4533900" cy="9525"/>
            </a:xfrm>
            <a:custGeom>
              <a:avLst/>
              <a:gdLst/>
              <a:ahLst/>
              <a:cxnLst/>
              <a:rect l="l" t="t" r="r" b="b"/>
              <a:pathLst>
                <a:path w="4533900" h="9525">
                  <a:moveTo>
                    <a:pt x="0" y="0"/>
                  </a:moveTo>
                  <a:lnTo>
                    <a:pt x="4533900" y="0"/>
                  </a:lnTo>
                </a:path>
              </a:pathLst>
            </a:custGeom>
            <a:noFill/>
            <a:ln w="13335">
              <a:solidFill>
                <a:srgbClr val="6E85AC"/>
              </a:solidFill>
            </a:ln>
          </p:spPr>
        </p:sp>
        <p:sp>
          <p:nvSpPr>
            <p:cNvPr id="15" name="Ellipse 15"/>
            <p:cNvSpPr/>
            <p:nvPr/>
          </p:nvSpPr>
          <p:spPr>
            <a:xfrm>
              <a:off x="876300" y="2819400"/>
              <a:ext cx="76200" cy="76200"/>
            </a:xfrm>
            <a:prstGeom prst="ellipse">
              <a:avLst/>
            </a:prstGeom>
            <a:solidFill>
              <a:schemeClr val="accent2"/>
            </a:solidFill>
            <a:ln>
              <a:noFill/>
            </a:ln>
          </p:spPr>
        </p:sp>
        <p:sp>
          <p:nvSpPr>
            <p:cNvPr id="16" name="TextBox 16"/>
            <p:cNvSpPr txBox="1"/>
            <p:nvPr/>
          </p:nvSpPr>
          <p:spPr>
            <a:xfrm>
              <a:off x="620645" y="2946797"/>
              <a:ext cx="58750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Consolas"/>
                  <a:ea typeface="Consolas"/>
                  <a:cs typeface="Consolas"/>
                </a:rPr>
                <a:t>lambda_k</a:t>
              </a:r>
            </a:p>
          </p:txBody>
        </p:sp>
        <p:sp>
          <p:nvSpPr>
            <p:cNvPr id="17" name="Ellipse 17"/>
            <p:cNvSpPr/>
            <p:nvPr/>
          </p:nvSpPr>
          <p:spPr>
            <a:xfrm>
              <a:off x="3687318" y="2819400"/>
              <a:ext cx="76200" cy="76200"/>
            </a:xfrm>
            <a:prstGeom prst="ellipse">
              <a:avLst/>
            </a:prstGeom>
            <a:solidFill>
              <a:srgbClr val="37DCC0"/>
            </a:solidFill>
            <a:ln>
              <a:noFill/>
            </a:ln>
          </p:spPr>
        </p:sp>
        <p:sp>
          <p:nvSpPr>
            <p:cNvPr id="18" name="TextBox 18"/>
            <p:cNvSpPr txBox="1"/>
            <p:nvPr/>
          </p:nvSpPr>
          <p:spPr>
            <a:xfrm>
              <a:off x="3358585" y="2946797"/>
              <a:ext cx="73366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Consolas"/>
                  <a:ea typeface="Consolas"/>
                  <a:cs typeface="Consolas"/>
                </a:rPr>
                <a:t>lambda_k+1</a:t>
              </a:r>
            </a:p>
          </p:txBody>
        </p:sp>
        <p:sp>
          <p:nvSpPr>
            <p:cNvPr id="19" name="Ellipse 19"/>
            <p:cNvSpPr/>
            <p:nvPr/>
          </p:nvSpPr>
          <p:spPr>
            <a:xfrm>
              <a:off x="5410200" y="2819400"/>
              <a:ext cx="76200" cy="76200"/>
            </a:xfrm>
            <a:prstGeom prst="ellipse">
              <a:avLst/>
            </a:prstGeom>
            <a:solidFill>
              <a:srgbClr val="6E85AC"/>
            </a:solidFill>
            <a:ln>
              <a:noFill/>
            </a:ln>
          </p:spPr>
        </p:sp>
        <p:sp>
          <p:nvSpPr>
            <p:cNvPr id="20" name="TextBox 20"/>
            <p:cNvSpPr txBox="1"/>
            <p:nvPr/>
          </p:nvSpPr>
          <p:spPr>
            <a:xfrm>
              <a:off x="2912835" y="2646045"/>
              <a:ext cx="1625167" cy="176212"/>
            </a:xfrm>
            <a:prstGeom prst="rect">
              <a:avLst/>
            </a:prstGeom>
            <a:noFill/>
            <a:ln>
              <a:noFill/>
            </a:ln>
          </p:spPr>
          <p:txBody>
            <a:bodyPr wrap="none" lIns="0" tIns="0" rIns="0" bIns="0" anchor="t" anchorCtr="0">
              <a:spAutoFit/>
            </a:bodyPr>
            <a:lstStyle/>
            <a:p>
              <a:pPr algn="ctr"/>
              <a:r>
                <a:rPr lang="en-US" sz="900" b="1" dirty="0">
                  <a:solidFill>
                    <a:srgbClr val="37DCC0"/>
                  </a:solidFill>
                  <a:latin typeface="+mn-lt"/>
                  <a:ea typeface="+mn-ea"/>
                  <a:cs typeface="+mn-cs"/>
                </a:rPr>
                <a:t>estimate correlation here</a:t>
              </a:r>
            </a:p>
          </p:txBody>
        </p:sp>
      </p:grpSp>
      <p:grpSp>
        <p:nvGrpSpPr>
          <p:cNvPr id="30" name="Group 30"/>
          <p:cNvGrpSpPr/>
          <p:nvPr/>
        </p:nvGrpSpPr>
        <p:grpSpPr>
          <a:xfrm>
            <a:off x="6629400" y="1524000"/>
            <a:ext cx="5029200" cy="1676400"/>
            <a:chOff x="6629400" y="1524000"/>
            <a:chExt cx="5029200" cy="1676400"/>
          </a:xfrm>
        </p:grpSpPr>
        <p:sp>
          <p:nvSpPr>
            <p:cNvPr id="22" name="Rectangle 22"/>
            <p:cNvSpPr/>
            <p:nvPr/>
          </p:nvSpPr>
          <p:spPr>
            <a:xfrm>
              <a:off x="6629400" y="1524000"/>
              <a:ext cx="5029200" cy="1676400"/>
            </a:xfrm>
            <a:prstGeom prst="roundRect">
              <a:avLst>
                <a:gd name="adj" fmla="val 7955"/>
              </a:avLst>
            </a:prstGeom>
            <a:solidFill>
              <a:schemeClr val="accent6"/>
            </a:solidFill>
            <a:ln w="12382">
              <a:solidFill>
                <a:srgbClr val="F7B84B"/>
              </a:solidFill>
            </a:ln>
          </p:spPr>
        </p:sp>
        <p:sp>
          <p:nvSpPr>
            <p:cNvPr id="23" name="Rectangle 23"/>
            <p:cNvSpPr/>
            <p:nvPr/>
          </p:nvSpPr>
          <p:spPr>
            <a:xfrm>
              <a:off x="6819900" y="1733550"/>
              <a:ext cx="47625" cy="285750"/>
            </a:xfrm>
            <a:prstGeom prst="roundRect">
              <a:avLst>
                <a:gd name="adj" fmla="val 50000"/>
              </a:avLst>
            </a:prstGeom>
            <a:solidFill>
              <a:srgbClr val="F7B84B"/>
            </a:solidFill>
            <a:ln>
              <a:noFill/>
            </a:ln>
          </p:spPr>
        </p:sp>
        <p:sp>
          <p:nvSpPr>
            <p:cNvPr id="24" name="TextBox 24"/>
            <p:cNvSpPr txBox="1"/>
            <p:nvPr/>
          </p:nvSpPr>
          <p:spPr>
            <a:xfrm>
              <a:off x="7003923" y="1767364"/>
              <a:ext cx="1774591" cy="249364"/>
            </a:xfrm>
            <a:prstGeom prst="rect">
              <a:avLst/>
            </a:prstGeom>
            <a:noFill/>
            <a:ln>
              <a:noFill/>
            </a:ln>
          </p:spPr>
          <p:txBody>
            <a:bodyPr wrap="none" lIns="0" tIns="0" rIns="0" bIns="0" anchor="t" anchorCtr="0">
              <a:spAutoFit/>
            </a:bodyPr>
            <a:lstStyle/>
            <a:p>
              <a:pPr algn="l"/>
              <a:r>
                <a:rPr lang="en-US" sz="1280" b="1" dirty="0">
                  <a:solidFill>
                    <a:srgbClr val="F7B84B"/>
                  </a:solidFill>
                  <a:latin typeface="+mn-lt"/>
                  <a:ea typeface="+mn-ea"/>
                  <a:cs typeface="+mn-cs"/>
                </a:rPr>
                <a:t>First-order = crude</a:t>
              </a:r>
            </a:p>
          </p:txBody>
        </p:sp>
        <p:sp>
          <p:nvSpPr>
            <p:cNvPr id="25" name="TextBox 25"/>
            <p:cNvSpPr txBox="1"/>
            <p:nvPr/>
          </p:nvSpPr>
          <p:spPr>
            <a:xfrm>
              <a:off x="6814376" y="2092404"/>
              <a:ext cx="28624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Leaning only on first-order information</a:t>
              </a:r>
            </a:p>
          </p:txBody>
        </p:sp>
        <p:sp>
          <p:nvSpPr>
            <p:cNvPr id="26" name="TextBox 26"/>
            <p:cNvSpPr txBox="1"/>
            <p:nvPr/>
          </p:nvSpPr>
          <p:spPr>
            <a:xfrm>
              <a:off x="6814376" y="2292429"/>
              <a:ext cx="292375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makes these estimates crude, especially</a:t>
              </a:r>
            </a:p>
          </p:txBody>
        </p:sp>
        <p:sp>
          <p:nvSpPr>
            <p:cNvPr id="27" name="TextBox 27"/>
            <p:cNvSpPr txBox="1"/>
            <p:nvPr/>
          </p:nvSpPr>
          <p:spPr>
            <a:xfrm>
              <a:off x="6814376" y="2492454"/>
              <a:ext cx="16838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under high correlation.</a:t>
              </a:r>
            </a:p>
          </p:txBody>
        </p:sp>
        <p:sp>
          <p:nvSpPr>
            <p:cNvPr id="28" name="Rectangle 28"/>
            <p:cNvSpPr/>
            <p:nvPr/>
          </p:nvSpPr>
          <p:spPr>
            <a:xfrm>
              <a:off x="6819900" y="2762250"/>
              <a:ext cx="4648200" cy="285750"/>
            </a:xfrm>
            <a:prstGeom prst="roundRect">
              <a:avLst>
                <a:gd name="adj" fmla="val 26667"/>
              </a:avLst>
            </a:prstGeom>
            <a:solidFill>
              <a:schemeClr val="lt2"/>
            </a:solidFill>
            <a:ln>
              <a:noFill/>
            </a:ln>
          </p:spPr>
        </p:sp>
        <p:sp>
          <p:nvSpPr>
            <p:cNvPr id="29" name="TextBox 29"/>
            <p:cNvSpPr txBox="1"/>
            <p:nvPr/>
          </p:nvSpPr>
          <p:spPr>
            <a:xfrm>
              <a:off x="6948106" y="2843451"/>
              <a:ext cx="223741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Consolas"/>
                  <a:ea typeface="Consolas"/>
                  <a:cs typeface="Consolas"/>
                </a:rPr>
                <a:t>one weak estimate -&gt; two costs</a:t>
              </a:r>
            </a:p>
          </p:txBody>
        </p:sp>
      </p:grpSp>
      <p:grpSp>
        <p:nvGrpSpPr>
          <p:cNvPr id="42" name="Group 42"/>
          <p:cNvGrpSpPr/>
          <p:nvPr/>
        </p:nvGrpSpPr>
        <p:grpSpPr>
          <a:xfrm>
            <a:off x="533400" y="3390900"/>
            <a:ext cx="11125200" cy="1181147"/>
            <a:chOff x="533400" y="3390900"/>
            <a:chExt cx="11125200" cy="1181147"/>
          </a:xfrm>
        </p:grpSpPr>
        <p:sp>
          <p:nvSpPr>
            <p:cNvPr id="31" name="Rectangle 31"/>
            <p:cNvSpPr/>
            <p:nvPr/>
          </p:nvSpPr>
          <p:spPr>
            <a:xfrm>
              <a:off x="533400" y="3390900"/>
              <a:ext cx="11125200" cy="1123950"/>
            </a:xfrm>
            <a:prstGeom prst="roundRect">
              <a:avLst>
                <a:gd name="adj" fmla="val 11864"/>
              </a:avLst>
            </a:prstGeom>
            <a:solidFill>
              <a:schemeClr val="accent5"/>
            </a:solidFill>
            <a:ln w="11430">
              <a:solidFill>
                <a:schemeClr val="accent4"/>
              </a:solidFill>
            </a:ln>
          </p:spPr>
        </p:sp>
        <p:sp>
          <p:nvSpPr>
            <p:cNvPr id="32" name="Rectangle 32"/>
            <p:cNvSpPr/>
            <p:nvPr/>
          </p:nvSpPr>
          <p:spPr>
            <a:xfrm>
              <a:off x="723900" y="3600450"/>
              <a:ext cx="47625" cy="285750"/>
            </a:xfrm>
            <a:prstGeom prst="roundRect">
              <a:avLst>
                <a:gd name="adj" fmla="val 50000"/>
              </a:avLst>
            </a:prstGeom>
            <a:solidFill>
              <a:srgbClr val="F2708A"/>
            </a:solidFill>
            <a:ln>
              <a:noFill/>
            </a:ln>
          </p:spPr>
        </p:sp>
        <p:sp>
          <p:nvSpPr>
            <p:cNvPr id="33" name="TextBox 33"/>
            <p:cNvSpPr txBox="1"/>
            <p:nvPr/>
          </p:nvSpPr>
          <p:spPr>
            <a:xfrm>
              <a:off x="907923" y="3653314"/>
              <a:ext cx="2832774" cy="249364"/>
            </a:xfrm>
            <a:prstGeom prst="rect">
              <a:avLst/>
            </a:prstGeom>
            <a:noFill/>
            <a:ln>
              <a:noFill/>
            </a:ln>
          </p:spPr>
          <p:txBody>
            <a:bodyPr wrap="none" lIns="0" tIns="0" rIns="0" bIns="0" anchor="t" anchorCtr="0">
              <a:spAutoFit/>
            </a:bodyPr>
            <a:lstStyle/>
            <a:p>
              <a:pPr algn="l"/>
              <a:r>
                <a:rPr lang="en-US" sz="1280" b="1" dirty="0">
                  <a:solidFill>
                    <a:srgbClr val="F2708A"/>
                  </a:solidFill>
                  <a:latin typeface="+mn-lt"/>
                  <a:ea typeface="+mn-ea"/>
                  <a:cs typeface="+mn-cs"/>
                </a:rPr>
                <a:t>Cost 1 · conservative screening</a:t>
              </a:r>
            </a:p>
          </p:txBody>
        </p:sp>
        <p:sp>
          <p:nvSpPr>
            <p:cNvPr id="34" name="TextBox 34"/>
            <p:cNvSpPr txBox="1"/>
            <p:nvPr/>
          </p:nvSpPr>
          <p:spPr>
            <a:xfrm>
              <a:off x="908876" y="3959304"/>
              <a:ext cx="28993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rule keeps far more predictors than</a:t>
              </a:r>
            </a:p>
          </p:txBody>
        </p:sp>
        <p:sp>
          <p:nvSpPr>
            <p:cNvPr id="35" name="TextBox 35"/>
            <p:cNvSpPr txBox="1"/>
            <p:nvPr/>
          </p:nvSpPr>
          <p:spPr>
            <a:xfrm>
              <a:off x="908876" y="4159329"/>
              <a:ext cx="31732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necessary, so each subproblem stays large.</a:t>
              </a:r>
            </a:p>
          </p:txBody>
        </p:sp>
        <p:sp>
          <p:nvSpPr>
            <p:cNvPr id="36" name="Line 36"/>
            <p:cNvSpPr/>
            <p:nvPr/>
          </p:nvSpPr>
          <p:spPr>
            <a:xfrm>
              <a:off x="6096000" y="3562350"/>
              <a:ext cx="9525" cy="781050"/>
            </a:xfrm>
            <a:custGeom>
              <a:avLst/>
              <a:gdLst/>
              <a:ahLst/>
              <a:cxnLst/>
              <a:rect l="l" t="t" r="r" b="b"/>
              <a:pathLst>
                <a:path w="9525" h="781050">
                  <a:moveTo>
                    <a:pt x="0" y="0"/>
                  </a:moveTo>
                  <a:lnTo>
                    <a:pt x="0" y="781050"/>
                  </a:lnTo>
                </a:path>
              </a:pathLst>
            </a:custGeom>
            <a:noFill/>
            <a:ln w="9525">
              <a:solidFill>
                <a:schemeClr val="accent4"/>
              </a:solidFill>
            </a:ln>
          </p:spPr>
        </p:sp>
        <p:sp>
          <p:nvSpPr>
            <p:cNvPr id="37" name="Rectangle 37"/>
            <p:cNvSpPr/>
            <p:nvPr/>
          </p:nvSpPr>
          <p:spPr>
            <a:xfrm>
              <a:off x="6324600" y="3600450"/>
              <a:ext cx="47625" cy="285750"/>
            </a:xfrm>
            <a:prstGeom prst="roundRect">
              <a:avLst>
                <a:gd name="adj" fmla="val 50000"/>
              </a:avLst>
            </a:prstGeom>
            <a:solidFill>
              <a:srgbClr val="F2708A"/>
            </a:solidFill>
            <a:ln>
              <a:noFill/>
            </a:ln>
          </p:spPr>
        </p:sp>
        <p:sp>
          <p:nvSpPr>
            <p:cNvPr id="38" name="TextBox 38"/>
            <p:cNvSpPr txBox="1"/>
            <p:nvPr/>
          </p:nvSpPr>
          <p:spPr>
            <a:xfrm>
              <a:off x="6508623" y="3653314"/>
              <a:ext cx="2905582" cy="249364"/>
            </a:xfrm>
            <a:prstGeom prst="rect">
              <a:avLst/>
            </a:prstGeom>
            <a:noFill/>
            <a:ln>
              <a:noFill/>
            </a:ln>
          </p:spPr>
          <p:txBody>
            <a:bodyPr wrap="none" lIns="0" tIns="0" rIns="0" bIns="0" anchor="t" anchorCtr="0">
              <a:spAutoFit/>
            </a:bodyPr>
            <a:lstStyle/>
            <a:p>
              <a:pPr algn="l"/>
              <a:r>
                <a:rPr lang="en-US" sz="1280" b="1" dirty="0">
                  <a:solidFill>
                    <a:srgbClr val="F2708A"/>
                  </a:solidFill>
                  <a:latin typeface="+mn-lt"/>
                  <a:ea typeface="+mn-ea"/>
                  <a:cs typeface="+mn-cs"/>
                </a:rPr>
                <a:t>Cost 2 · inaccurate warm starts</a:t>
              </a:r>
            </a:p>
          </p:txBody>
        </p:sp>
        <p:sp>
          <p:nvSpPr>
            <p:cNvPr id="39" name="TextBox 39"/>
            <p:cNvSpPr txBox="1"/>
            <p:nvPr/>
          </p:nvSpPr>
          <p:spPr>
            <a:xfrm>
              <a:off x="6509576" y="3959304"/>
              <a:ext cx="344965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starting point that seeds each solve is off,</a:t>
              </a:r>
            </a:p>
          </p:txBody>
        </p:sp>
        <p:sp>
          <p:nvSpPr>
            <p:cNvPr id="40" name="TextBox 40"/>
            <p:cNvSpPr txBox="1"/>
            <p:nvPr/>
          </p:nvSpPr>
          <p:spPr>
            <a:xfrm>
              <a:off x="6509576" y="4159329"/>
              <a:ext cx="292375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so the solver needs many more passes to</a:t>
              </a:r>
            </a:p>
          </p:txBody>
        </p:sp>
        <p:sp>
          <p:nvSpPr>
            <p:cNvPr id="41" name="TextBox 41"/>
            <p:cNvSpPr txBox="1"/>
            <p:nvPr/>
          </p:nvSpPr>
          <p:spPr>
            <a:xfrm>
              <a:off x="6509576" y="4359354"/>
              <a:ext cx="73739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converge.</a:t>
              </a:r>
            </a:p>
          </p:txBody>
        </p:sp>
      </p:grpSp>
      <p:grpSp>
        <p:nvGrpSpPr>
          <p:cNvPr id="47" name="Group 47"/>
          <p:cNvGrpSpPr/>
          <p:nvPr/>
        </p:nvGrpSpPr>
        <p:grpSpPr>
          <a:xfrm>
            <a:off x="533400" y="4705350"/>
            <a:ext cx="11125200" cy="666750"/>
            <a:chOff x="533400" y="4705350"/>
            <a:chExt cx="11125200" cy="666750"/>
          </a:xfrm>
        </p:grpSpPr>
        <p:sp>
          <p:nvSpPr>
            <p:cNvPr id="43" name="Rectangle 43"/>
            <p:cNvSpPr/>
            <p:nvPr/>
          </p:nvSpPr>
          <p:spPr>
            <a:xfrm>
              <a:off x="533400" y="4705350"/>
              <a:ext cx="11125200" cy="666750"/>
            </a:xfrm>
            <a:prstGeom prst="roundRect">
              <a:avLst>
                <a:gd name="adj" fmla="val 20000"/>
              </a:avLst>
            </a:prstGeom>
            <a:solidFill>
              <a:schemeClr val="accent6"/>
            </a:solidFill>
            <a:ln w="12382">
              <a:solidFill>
                <a:srgbClr val="37DCC0"/>
              </a:solidFill>
            </a:ln>
          </p:spPr>
        </p:sp>
        <p:sp>
          <p:nvSpPr>
            <p:cNvPr id="44" name="Rectangle 44"/>
            <p:cNvSpPr/>
            <p:nvPr/>
          </p:nvSpPr>
          <p:spPr>
            <a:xfrm>
              <a:off x="723900" y="4895850"/>
              <a:ext cx="47625" cy="285750"/>
            </a:xfrm>
            <a:prstGeom prst="roundRect">
              <a:avLst>
                <a:gd name="adj" fmla="val 50000"/>
              </a:avLst>
            </a:prstGeom>
            <a:solidFill>
              <a:srgbClr val="37DCC0"/>
            </a:solidFill>
            <a:ln>
              <a:noFill/>
            </a:ln>
          </p:spPr>
        </p:sp>
        <p:sp>
          <p:nvSpPr>
            <p:cNvPr id="45" name="TextBox 45"/>
            <p:cNvSpPr txBox="1"/>
            <p:nvPr/>
          </p:nvSpPr>
          <p:spPr>
            <a:xfrm>
              <a:off x="907161" y="4875371"/>
              <a:ext cx="351379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Both problems point to the same fix</a:t>
              </a:r>
            </a:p>
          </p:txBody>
        </p:sp>
        <p:sp>
          <p:nvSpPr>
            <p:cNvPr id="46" name="TextBox 46"/>
            <p:cNvSpPr txBox="1"/>
            <p:nvPr/>
          </p:nvSpPr>
          <p:spPr>
            <a:xfrm>
              <a:off x="908685" y="5136356"/>
              <a:ext cx="3641931" cy="220028"/>
            </a:xfrm>
            <a:prstGeom prst="rect">
              <a:avLst/>
            </a:prstGeom>
            <a:noFill/>
            <a:ln>
              <a:noFill/>
            </a:ln>
          </p:spPr>
          <p:txBody>
            <a:bodyPr wrap="none" lIns="0" tIns="0" rIns="0" bIns="0" anchor="t" anchorCtr="0">
              <a:spAutoFit/>
            </a:bodyPr>
            <a:lstStyle/>
            <a:p>
              <a:pPr algn="l"/>
              <a:r>
                <a:rPr lang="en-US" sz="1120" b="1" dirty="0">
                  <a:solidFill>
                    <a:srgbClr val="37DCC0"/>
                  </a:solidFill>
                  <a:latin typeface="+mn-lt"/>
                  <a:ea typeface="+mn-ea"/>
                  <a:cs typeface="+mn-cs"/>
                </a:rPr>
                <a:t>richer curvature information from the Hessian</a:t>
              </a:r>
            </a:p>
          </p:txBody>
        </p:sp>
      </p:grpSp>
      <p:sp>
        <p:nvSpPr>
          <p:cNvPr id="48" name="cue_s03_c1_authors_start_unifying_observation_p" title="cue_s03_c1_authors_start_unifying_observation_p" descr="cue_s03_c1_authors_start_unifying_observation_p The authors start from a unifying observation: the popular strong rule and the working-set strategy can both be expressed as estimates of the gradient, or correlation, at the next step of the path."/>
          <p:cNvSpPr/>
          <p:nvPr/>
        </p:nvSpPr>
        <p:spPr>
          <a:xfrm>
            <a:off x="532790" y="1523847"/>
            <a:ext cx="5868009"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2_when_they_lean_only_first_order" title="cue_s03_c2_when_they_lean_only_first_order" descr="cue_s03_c2_when_they_lean_only_first_order When they lean only on first-order information, these estimates are crude, especially under high correlation. That crudeness has two costs."/>
          <p:cNvSpPr/>
          <p:nvPr/>
        </p:nvSpPr>
        <p:spPr>
          <a:xfrm>
            <a:off x="6628790" y="1523847"/>
            <a:ext cx="50292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3_screening_becomes_conservative_keepi" title="cue_s03_c3_screening_becomes_conservative_keepi" descr="cue_s03_c3_screening_becomes_conservative_keepi Screening becomes conservative, keeping far more predictors than necessary, and the warm starts that seed each optimization are inaccurate, so the solver needs many more passes to converge."/>
          <p:cNvSpPr/>
          <p:nvPr/>
        </p:nvSpPr>
        <p:spPr>
          <a:xfrm>
            <a:off x="532790" y="3390595"/>
            <a:ext cx="111252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4_both_problems_point_same_fix" title="cue_s03_c4_both_problems_point_same_fix" descr="cue_s03_c4_both_problems_point_same_fix Both problems point to the same fix, richer curvature information from the Hessian."/>
          <p:cNvSpPr/>
          <p:nvPr/>
        </p:nvSpPr>
        <p:spPr>
          <a:xfrm>
            <a:off x="532790" y="4705273"/>
            <a:ext cx="111252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450757"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CONTRIBUTION</a:t>
            </a:r>
          </a:p>
        </p:txBody>
      </p:sp>
      <p:sp>
        <p:nvSpPr>
          <p:cNvPr id="5" name="TextBox 5"/>
          <p:cNvSpPr txBox="1"/>
          <p:nvPr/>
        </p:nvSpPr>
        <p:spPr>
          <a:xfrm>
            <a:off x="518922" y="797242"/>
            <a:ext cx="4810914"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One Hessian, used twice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04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628650"/>
            <a:chOff x="533400" y="1524000"/>
            <a:chExt cx="11125200" cy="628650"/>
          </a:xfrm>
        </p:grpSpPr>
        <p:sp>
          <p:nvSpPr>
            <p:cNvPr id="8" name="Rectangle 8"/>
            <p:cNvSpPr/>
            <p:nvPr/>
          </p:nvSpPr>
          <p:spPr>
            <a:xfrm>
              <a:off x="533400" y="1524000"/>
              <a:ext cx="11125200" cy="628650"/>
            </a:xfrm>
            <a:prstGeom prst="roundRect">
              <a:avLst>
                <a:gd name="adj" fmla="val 21212"/>
              </a:avLst>
            </a:prstGeom>
            <a:solidFill>
              <a:schemeClr val="accent6"/>
            </a:solidFill>
            <a:ln w="12382">
              <a:solidFill>
                <a:schemeClr val="accent2"/>
              </a:solidFill>
            </a:ln>
          </p:spPr>
        </p:sp>
        <p:sp>
          <p:nvSpPr>
            <p:cNvPr id="9" name="Rectangle 9"/>
            <p:cNvSpPr/>
            <p:nvPr/>
          </p:nvSpPr>
          <p:spPr>
            <a:xfrm>
              <a:off x="723900" y="1695450"/>
              <a:ext cx="47625" cy="285750"/>
            </a:xfrm>
            <a:prstGeom prst="roundRect">
              <a:avLst>
                <a:gd name="adj" fmla="val 50000"/>
              </a:avLst>
            </a:prstGeom>
            <a:solidFill>
              <a:schemeClr val="accent2"/>
            </a:solidFill>
            <a:ln>
              <a:noFill/>
            </a:ln>
          </p:spPr>
        </p:sp>
        <p:sp>
          <p:nvSpPr>
            <p:cNvPr id="10" name="TextBox 10"/>
            <p:cNvSpPr txBox="1"/>
            <p:nvPr/>
          </p:nvSpPr>
          <p:spPr>
            <a:xfrm>
              <a:off x="907542" y="1778318"/>
              <a:ext cx="834918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Hessian Screening Rule exploits second-order information in two complementary ways</a:t>
              </a:r>
            </a:p>
          </p:txBody>
        </p:sp>
      </p:grpSp>
      <p:grpSp>
        <p:nvGrpSpPr>
          <p:cNvPr id="20" name="Group 20"/>
          <p:cNvGrpSpPr/>
          <p:nvPr/>
        </p:nvGrpSpPr>
        <p:grpSpPr>
          <a:xfrm>
            <a:off x="533400" y="2343150"/>
            <a:ext cx="5448300" cy="1676400"/>
            <a:chOff x="533400" y="2343150"/>
            <a:chExt cx="5448300" cy="1676400"/>
          </a:xfrm>
        </p:grpSpPr>
        <p:sp>
          <p:nvSpPr>
            <p:cNvPr id="12" name="Rectangle 12"/>
            <p:cNvSpPr/>
            <p:nvPr/>
          </p:nvSpPr>
          <p:spPr>
            <a:xfrm>
              <a:off x="533400" y="2343150"/>
              <a:ext cx="5448300" cy="1676400"/>
            </a:xfrm>
            <a:prstGeom prst="roundRect">
              <a:avLst>
                <a:gd name="adj" fmla="val 7955"/>
              </a:avLst>
            </a:prstGeom>
            <a:solidFill>
              <a:schemeClr val="accent5"/>
            </a:solidFill>
            <a:ln w="11430">
              <a:solidFill>
                <a:schemeClr val="accent4"/>
              </a:solidFill>
            </a:ln>
          </p:spPr>
        </p:sp>
        <p:sp>
          <p:nvSpPr>
            <p:cNvPr id="13" name="TextBox 13"/>
            <p:cNvSpPr txBox="1"/>
            <p:nvPr/>
          </p:nvSpPr>
          <p:spPr>
            <a:xfrm>
              <a:off x="5479784" y="2520315"/>
              <a:ext cx="290080" cy="645414"/>
            </a:xfrm>
            <a:prstGeom prst="rect">
              <a:avLst/>
            </a:prstGeom>
            <a:noFill/>
            <a:ln>
              <a:noFill/>
            </a:ln>
          </p:spPr>
          <p:txBody>
            <a:bodyPr wrap="none" lIns="0" tIns="0" rIns="0" bIns="0" anchor="t" anchorCtr="0">
              <a:spAutoFit/>
            </a:bodyPr>
            <a:lstStyle/>
            <a:p>
              <a:pPr algn="r"/>
              <a:r>
                <a:rPr lang="en-US" sz="3300" b="1" dirty="0">
                  <a:solidFill>
                    <a:srgbClr val="57D9A3">
                      <a:alphaMod val="50000"/>
                    </a:srgbClr>
                  </a:solidFill>
                  <a:latin typeface="Consolas"/>
                  <a:ea typeface="Consolas"/>
                  <a:cs typeface="Consolas"/>
                </a:rPr>
                <a:t>1</a:t>
              </a:r>
            </a:p>
          </p:txBody>
        </p:sp>
        <p:sp>
          <p:nvSpPr>
            <p:cNvPr id="14" name="Rectangle 14"/>
            <p:cNvSpPr/>
            <p:nvPr/>
          </p:nvSpPr>
          <p:spPr>
            <a:xfrm>
              <a:off x="762000" y="2609850"/>
              <a:ext cx="47625" cy="323850"/>
            </a:xfrm>
            <a:prstGeom prst="roundRect">
              <a:avLst>
                <a:gd name="adj" fmla="val 50000"/>
              </a:avLst>
            </a:prstGeom>
            <a:solidFill>
              <a:srgbClr val="57D9A3"/>
            </a:solidFill>
            <a:ln>
              <a:noFill/>
            </a:ln>
          </p:spPr>
        </p:sp>
        <p:sp>
          <p:nvSpPr>
            <p:cNvPr id="15" name="TextBox 15"/>
            <p:cNvSpPr txBox="1"/>
            <p:nvPr/>
          </p:nvSpPr>
          <p:spPr>
            <a:xfrm>
              <a:off x="944880" y="2676525"/>
              <a:ext cx="293777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Sharper next-step estimate</a:t>
              </a:r>
            </a:p>
          </p:txBody>
        </p:sp>
        <p:sp>
          <p:nvSpPr>
            <p:cNvPr id="16" name="TextBox 16"/>
            <p:cNvSpPr txBox="1"/>
            <p:nvPr/>
          </p:nvSpPr>
          <p:spPr>
            <a:xfrm>
              <a:off x="946785" y="3040856"/>
              <a:ext cx="356491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Hessian gives a much better estimate of the</a:t>
              </a:r>
            </a:p>
          </p:txBody>
        </p:sp>
        <p:sp>
          <p:nvSpPr>
            <p:cNvPr id="17" name="TextBox 17"/>
            <p:cNvSpPr txBox="1"/>
            <p:nvPr/>
          </p:nvSpPr>
          <p:spPr>
            <a:xfrm>
              <a:off x="946785" y="3240881"/>
              <a:ext cx="32756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correlation at the next penalty value, which</a:t>
              </a:r>
            </a:p>
          </p:txBody>
        </p:sp>
        <p:sp>
          <p:nvSpPr>
            <p:cNvPr id="18" name="TextBox 18"/>
            <p:cNvSpPr txBox="1"/>
            <p:nvPr/>
          </p:nvSpPr>
          <p:spPr>
            <a:xfrm>
              <a:off x="946785" y="3440906"/>
              <a:ext cx="28610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translates into far tighter screening.</a:t>
              </a:r>
            </a:p>
          </p:txBody>
        </p:sp>
        <p:sp>
          <p:nvSpPr>
            <p:cNvPr id="19" name="TextBox 19"/>
            <p:cNvSpPr txBox="1"/>
            <p:nvPr/>
          </p:nvSpPr>
          <p:spPr>
            <a:xfrm>
              <a:off x="947166" y="3696652"/>
              <a:ext cx="2140474" cy="205359"/>
            </a:xfrm>
            <a:prstGeom prst="rect">
              <a:avLst/>
            </a:prstGeom>
            <a:noFill/>
            <a:ln>
              <a:noFill/>
            </a:ln>
          </p:spPr>
          <p:txBody>
            <a:bodyPr wrap="none" lIns="0" tIns="0" rIns="0" bIns="0" anchor="t" anchorCtr="0">
              <a:spAutoFit/>
            </a:bodyPr>
            <a:lstStyle/>
            <a:p>
              <a:pPr algn="l"/>
              <a:r>
                <a:rPr lang="en-US" sz="1050" b="1" dirty="0">
                  <a:solidFill>
                    <a:srgbClr val="57D9A3"/>
                  </a:solidFill>
                  <a:latin typeface="+mn-lt"/>
                  <a:ea typeface="+mn-ea"/>
                  <a:cs typeface="+mn-cs"/>
                </a:rPr>
                <a:t>-&gt; far fewer predictors kept</a:t>
              </a:r>
            </a:p>
          </p:txBody>
        </p:sp>
      </p:grpSp>
      <p:grpSp>
        <p:nvGrpSpPr>
          <p:cNvPr id="29" name="Group 29"/>
          <p:cNvGrpSpPr/>
          <p:nvPr/>
        </p:nvGrpSpPr>
        <p:grpSpPr>
          <a:xfrm>
            <a:off x="6210300" y="2343150"/>
            <a:ext cx="5448300" cy="1676400"/>
            <a:chOff x="6210300" y="2343150"/>
            <a:chExt cx="5448300" cy="1676400"/>
          </a:xfrm>
        </p:grpSpPr>
        <p:sp>
          <p:nvSpPr>
            <p:cNvPr id="21" name="Rectangle 21"/>
            <p:cNvSpPr/>
            <p:nvPr/>
          </p:nvSpPr>
          <p:spPr>
            <a:xfrm>
              <a:off x="6210300" y="2343150"/>
              <a:ext cx="5448300" cy="1676400"/>
            </a:xfrm>
            <a:prstGeom prst="roundRect">
              <a:avLst>
                <a:gd name="adj" fmla="val 7955"/>
              </a:avLst>
            </a:prstGeom>
            <a:solidFill>
              <a:schemeClr val="accent5"/>
            </a:solidFill>
            <a:ln w="11430">
              <a:solidFill>
                <a:schemeClr val="accent4"/>
              </a:solidFill>
            </a:ln>
          </p:spPr>
        </p:sp>
        <p:sp>
          <p:nvSpPr>
            <p:cNvPr id="22" name="TextBox 22"/>
            <p:cNvSpPr txBox="1"/>
            <p:nvPr/>
          </p:nvSpPr>
          <p:spPr>
            <a:xfrm>
              <a:off x="11156684" y="2520315"/>
              <a:ext cx="290080" cy="645414"/>
            </a:xfrm>
            <a:prstGeom prst="rect">
              <a:avLst/>
            </a:prstGeom>
            <a:noFill/>
            <a:ln>
              <a:noFill/>
            </a:ln>
          </p:spPr>
          <p:txBody>
            <a:bodyPr wrap="none" lIns="0" tIns="0" rIns="0" bIns="0" anchor="t" anchorCtr="0">
              <a:spAutoFit/>
            </a:bodyPr>
            <a:lstStyle/>
            <a:p>
              <a:pPr algn="r"/>
              <a:r>
                <a:rPr lang="en-US" sz="3300" b="1" dirty="0">
                  <a:solidFill>
                    <a:srgbClr val="37DCC0">
                      <a:alphaMod val="50000"/>
                    </a:srgbClr>
                  </a:solidFill>
                  <a:latin typeface="Consolas"/>
                  <a:ea typeface="Consolas"/>
                  <a:cs typeface="Consolas"/>
                </a:rPr>
                <a:t>2</a:t>
              </a:r>
            </a:p>
          </p:txBody>
        </p:sp>
        <p:sp>
          <p:nvSpPr>
            <p:cNvPr id="23" name="Rectangle 23"/>
            <p:cNvSpPr/>
            <p:nvPr/>
          </p:nvSpPr>
          <p:spPr>
            <a:xfrm>
              <a:off x="6438900" y="2609850"/>
              <a:ext cx="47625" cy="323850"/>
            </a:xfrm>
            <a:prstGeom prst="roundRect">
              <a:avLst>
                <a:gd name="adj" fmla="val 50000"/>
              </a:avLst>
            </a:prstGeom>
            <a:solidFill>
              <a:srgbClr val="37DCC0"/>
            </a:solidFill>
            <a:ln>
              <a:noFill/>
            </a:ln>
          </p:spPr>
        </p:sp>
        <p:sp>
          <p:nvSpPr>
            <p:cNvPr id="24" name="TextBox 24"/>
            <p:cNvSpPr txBox="1"/>
            <p:nvPr/>
          </p:nvSpPr>
          <p:spPr>
            <a:xfrm>
              <a:off x="6621780" y="2676525"/>
              <a:ext cx="245057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Near-exact warm start</a:t>
              </a:r>
            </a:p>
          </p:txBody>
        </p:sp>
        <p:sp>
          <p:nvSpPr>
            <p:cNvPr id="25" name="TextBox 25"/>
            <p:cNvSpPr txBox="1"/>
            <p:nvPr/>
          </p:nvSpPr>
          <p:spPr>
            <a:xfrm>
              <a:off x="6623685" y="3040856"/>
              <a:ext cx="376851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same Hessian and its inverse give a warm start</a:t>
              </a:r>
            </a:p>
          </p:txBody>
        </p:sp>
        <p:sp>
          <p:nvSpPr>
            <p:cNvPr id="26" name="TextBox 26"/>
            <p:cNvSpPr txBox="1"/>
            <p:nvPr/>
          </p:nvSpPr>
          <p:spPr>
            <a:xfrm>
              <a:off x="6623685" y="3240881"/>
              <a:ext cx="36903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is nearly exact whenever the active set does</a:t>
              </a:r>
            </a:p>
          </p:txBody>
        </p:sp>
        <p:sp>
          <p:nvSpPr>
            <p:cNvPr id="27" name="TextBox 27"/>
            <p:cNvSpPr txBox="1"/>
            <p:nvPr/>
          </p:nvSpPr>
          <p:spPr>
            <a:xfrm>
              <a:off x="6623685" y="3440906"/>
              <a:ext cx="8859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not change.</a:t>
              </a:r>
            </a:p>
          </p:txBody>
        </p:sp>
        <p:sp>
          <p:nvSpPr>
            <p:cNvPr id="28" name="TextBox 28"/>
            <p:cNvSpPr txBox="1"/>
            <p:nvPr/>
          </p:nvSpPr>
          <p:spPr>
            <a:xfrm>
              <a:off x="6624066" y="3696652"/>
              <a:ext cx="2437311" cy="205359"/>
            </a:xfrm>
            <a:prstGeom prst="rect">
              <a:avLst/>
            </a:prstGeom>
            <a:noFill/>
            <a:ln>
              <a:noFill/>
            </a:ln>
          </p:spPr>
          <p:txBody>
            <a:bodyPr wrap="none" lIns="0" tIns="0" rIns="0" bIns="0" anchor="t" anchorCtr="0">
              <a:spAutoFit/>
            </a:bodyPr>
            <a:lstStyle/>
            <a:p>
              <a:pPr algn="l"/>
              <a:r>
                <a:rPr lang="en-US" sz="1050" b="1" dirty="0">
                  <a:solidFill>
                    <a:srgbClr val="37DCC0"/>
                  </a:solidFill>
                  <a:latin typeface="+mn-lt"/>
                  <a:ea typeface="+mn-ea"/>
                  <a:cs typeface="+mn-cs"/>
                </a:rPr>
                <a:t>-&gt; solver passes cut dramatically</a:t>
              </a:r>
            </a:p>
          </p:txBody>
        </p:sp>
      </p:grpSp>
      <p:grpSp>
        <p:nvGrpSpPr>
          <p:cNvPr id="42" name="Group 42"/>
          <p:cNvGrpSpPr/>
          <p:nvPr/>
        </p:nvGrpSpPr>
        <p:grpSpPr>
          <a:xfrm>
            <a:off x="533400" y="4229100"/>
            <a:ext cx="11125200" cy="876300"/>
            <a:chOff x="533400" y="4229100"/>
            <a:chExt cx="11125200" cy="876300"/>
          </a:xfrm>
        </p:grpSpPr>
        <p:sp>
          <p:nvSpPr>
            <p:cNvPr id="30" name="Rectangle 30"/>
            <p:cNvSpPr/>
            <p:nvPr/>
          </p:nvSpPr>
          <p:spPr>
            <a:xfrm>
              <a:off x="533400" y="4229100"/>
              <a:ext cx="11125200" cy="876300"/>
            </a:xfrm>
            <a:prstGeom prst="roundRect">
              <a:avLst>
                <a:gd name="adj" fmla="val 15217"/>
              </a:avLst>
            </a:prstGeom>
            <a:solidFill>
              <a:schemeClr val="accent5"/>
            </a:solidFill>
            <a:ln w="11430">
              <a:solidFill>
                <a:schemeClr val="accent4"/>
              </a:solidFill>
            </a:ln>
          </p:spPr>
        </p:sp>
        <p:sp>
          <p:nvSpPr>
            <p:cNvPr id="31" name="Rectangle 31"/>
            <p:cNvSpPr/>
            <p:nvPr/>
          </p:nvSpPr>
          <p:spPr>
            <a:xfrm>
              <a:off x="723900" y="4438650"/>
              <a:ext cx="47625" cy="247650"/>
            </a:xfrm>
            <a:prstGeom prst="roundRect">
              <a:avLst>
                <a:gd name="adj" fmla="val 50000"/>
              </a:avLst>
            </a:prstGeom>
            <a:solidFill>
              <a:schemeClr val="accent2"/>
            </a:solidFill>
            <a:ln>
              <a:noFill/>
            </a:ln>
          </p:spPr>
        </p:sp>
        <p:sp>
          <p:nvSpPr>
            <p:cNvPr id="32" name="TextBox 32"/>
            <p:cNvSpPr txBox="1"/>
            <p:nvPr/>
          </p:nvSpPr>
          <p:spPr>
            <a:xfrm>
              <a:off x="889254" y="4480560"/>
              <a:ext cx="147609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Efficient updates</a:t>
              </a:r>
            </a:p>
          </p:txBody>
        </p:sp>
        <p:sp>
          <p:nvSpPr>
            <p:cNvPr id="33" name="TextBox 33"/>
            <p:cNvSpPr txBox="1"/>
            <p:nvPr/>
          </p:nvSpPr>
          <p:spPr>
            <a:xfrm>
              <a:off x="890588" y="4737497"/>
              <a:ext cx="239287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low-rank updates keep the Hessian and</a:t>
              </a:r>
            </a:p>
          </p:txBody>
        </p:sp>
        <p:sp>
          <p:nvSpPr>
            <p:cNvPr id="34" name="TextBox 34"/>
            <p:cNvSpPr txBox="1"/>
            <p:nvPr/>
          </p:nvSpPr>
          <p:spPr>
            <a:xfrm>
              <a:off x="890588" y="4899422"/>
              <a:ext cx="120535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its inverse current</a:t>
              </a:r>
            </a:p>
          </p:txBody>
        </p:sp>
        <p:sp>
          <p:nvSpPr>
            <p:cNvPr id="35" name="Rectangle 35"/>
            <p:cNvSpPr/>
            <p:nvPr/>
          </p:nvSpPr>
          <p:spPr>
            <a:xfrm>
              <a:off x="4432300" y="4438650"/>
              <a:ext cx="47625" cy="247650"/>
            </a:xfrm>
            <a:prstGeom prst="roundRect">
              <a:avLst>
                <a:gd name="adj" fmla="val 50000"/>
              </a:avLst>
            </a:prstGeom>
            <a:solidFill>
              <a:srgbClr val="57D9A3"/>
            </a:solidFill>
            <a:ln>
              <a:noFill/>
            </a:ln>
          </p:spPr>
        </p:sp>
        <p:sp>
          <p:nvSpPr>
            <p:cNvPr id="36" name="TextBox 36"/>
            <p:cNvSpPr txBox="1"/>
            <p:nvPr/>
          </p:nvSpPr>
          <p:spPr>
            <a:xfrm>
              <a:off x="4597654" y="4480560"/>
              <a:ext cx="119619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General losses</a:t>
              </a:r>
            </a:p>
          </p:txBody>
        </p:sp>
        <p:sp>
          <p:nvSpPr>
            <p:cNvPr id="37" name="TextBox 37"/>
            <p:cNvSpPr txBox="1"/>
            <p:nvPr/>
          </p:nvSpPr>
          <p:spPr>
            <a:xfrm>
              <a:off x="4598988" y="4737497"/>
              <a:ext cx="2287295"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extends to smooth convex losses like</a:t>
              </a:r>
            </a:p>
          </p:txBody>
        </p:sp>
        <p:sp>
          <p:nvSpPr>
            <p:cNvPr id="38" name="TextBox 38"/>
            <p:cNvSpPr txBox="1"/>
            <p:nvPr/>
          </p:nvSpPr>
          <p:spPr>
            <a:xfrm>
              <a:off x="4598988" y="4899422"/>
              <a:ext cx="1173719"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logistic regression</a:t>
              </a:r>
            </a:p>
          </p:txBody>
        </p:sp>
        <p:sp>
          <p:nvSpPr>
            <p:cNvPr id="39" name="Rectangle 39"/>
            <p:cNvSpPr/>
            <p:nvPr/>
          </p:nvSpPr>
          <p:spPr>
            <a:xfrm>
              <a:off x="8140700" y="4438650"/>
              <a:ext cx="47625" cy="247650"/>
            </a:xfrm>
            <a:prstGeom prst="roundRect">
              <a:avLst>
                <a:gd name="adj" fmla="val 50000"/>
              </a:avLst>
            </a:prstGeom>
            <a:solidFill>
              <a:srgbClr val="F7B84B"/>
            </a:solidFill>
            <a:ln>
              <a:noFill/>
            </a:ln>
          </p:spPr>
        </p:sp>
        <p:sp>
          <p:nvSpPr>
            <p:cNvPr id="40" name="TextBox 40"/>
            <p:cNvSpPr txBox="1"/>
            <p:nvPr/>
          </p:nvSpPr>
          <p:spPr>
            <a:xfrm>
              <a:off x="8306054" y="4480560"/>
              <a:ext cx="106744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Open C++ / R</a:t>
              </a:r>
            </a:p>
          </p:txBody>
        </p:sp>
        <p:sp>
          <p:nvSpPr>
            <p:cNvPr id="41" name="TextBox 41"/>
            <p:cNvSpPr txBox="1"/>
            <p:nvPr/>
          </p:nvSpPr>
          <p:spPr>
            <a:xfrm>
              <a:off x="8307388" y="4737497"/>
              <a:ext cx="1932976"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a full, released implementation</a:t>
              </a:r>
            </a:p>
          </p:txBody>
        </p:sp>
      </p:grpSp>
      <p:sp>
        <p:nvSpPr>
          <p:cNvPr id="43" name="cue_s04_c1_their_contribution_hessian_screening" title="cue_s04_c1_their_contribution_hessian_screening" descr="cue_s04_c1_their_contribution_hessian_screening Their contribution is the Hessian Screening Rule. It exploits second-order information in two complementary ways."/>
          <p:cNvSpPr/>
          <p:nvPr/>
        </p:nvSpPr>
        <p:spPr>
          <a:xfrm>
            <a:off x="532790" y="1523847"/>
            <a:ext cx="111252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2_first_hessian_gives_sharper_estimate" title="cue_s04_c2_first_hessian_gives_sharper_estimate" descr="cue_s04_c2_first_hessian_gives_sharper_estimate First, the Hessian gives a sharper estimate of the correlation at the next penalty value, which translates into far tighter screening."/>
          <p:cNvSpPr/>
          <p:nvPr/>
        </p:nvSpPr>
        <p:spPr>
          <a:xfrm>
            <a:off x="532790" y="2343378"/>
            <a:ext cx="5448604"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4_c3_second_same_hessian_its_inverse" title="cue_s04_c3_second_same_hessian_its_inverse" descr="cue_s04_c3_second_same_hessian_its_inverse Second, the same Hessian and its inverse yield a warm start that is nearly the exact solution whenever the active set does not change, cutting the number of solver passes dramatically."/>
          <p:cNvSpPr/>
          <p:nvPr/>
        </p:nvSpPr>
        <p:spPr>
          <a:xfrm>
            <a:off x="6210604" y="2343378"/>
            <a:ext cx="5448604"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4_authors_also_show_how_update" title="cue_s04_c4_authors_also_show_how_update" descr="cue_s04_c4_authors_also_show_how_update The authors also show how to update the Hessian and its inverse efficiently as the active set changes, extend the method to general smooth convex losses like logistic regression, and release a full C++ and R implementation."/>
          <p:cNvSpPr/>
          <p:nvPr/>
        </p:nvSpPr>
        <p:spPr>
          <a:xfrm>
            <a:off x="532790" y="4229328"/>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790365"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METHOD</a:t>
            </a:r>
          </a:p>
        </p:txBody>
      </p:sp>
      <p:sp>
        <p:nvSpPr>
          <p:cNvPr id="5" name="TextBox 5"/>
          <p:cNvSpPr txBox="1"/>
          <p:nvPr/>
        </p:nvSpPr>
        <p:spPr>
          <a:xfrm>
            <a:off x="518922" y="797242"/>
            <a:ext cx="7668179"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Linearity in lambda unlocks the Hessian</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05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1162050"/>
            <a:chOff x="533400" y="1524000"/>
            <a:chExt cx="11125200" cy="1162050"/>
          </a:xfrm>
        </p:grpSpPr>
        <p:sp>
          <p:nvSpPr>
            <p:cNvPr id="8" name="Rectangle 8"/>
            <p:cNvSpPr/>
            <p:nvPr/>
          </p:nvSpPr>
          <p:spPr>
            <a:xfrm>
              <a:off x="533400" y="1524000"/>
              <a:ext cx="11125200" cy="1162050"/>
            </a:xfrm>
            <a:prstGeom prst="roundRect">
              <a:avLst>
                <a:gd name="adj" fmla="val 11475"/>
              </a:avLst>
            </a:prstGeom>
            <a:solidFill>
              <a:schemeClr val="accent6"/>
            </a:solidFill>
            <a:ln w="12382">
              <a:solidFill>
                <a:schemeClr val="accent2"/>
              </a:solidFill>
            </a:ln>
          </p:spPr>
        </p:sp>
        <p:sp>
          <p:nvSpPr>
            <p:cNvPr id="9" name="TextBox 9"/>
            <p:cNvSpPr txBox="1"/>
            <p:nvPr/>
          </p:nvSpPr>
          <p:spPr>
            <a:xfrm>
              <a:off x="717994" y="1684258"/>
              <a:ext cx="7592522"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On any interval where the active set is fixed, the lasso solution is linear in the penalty lambda</a:t>
              </a:r>
            </a:p>
          </p:txBody>
        </p:sp>
        <p:sp>
          <p:nvSpPr>
            <p:cNvPr id="10" name="TextBox 10"/>
            <p:cNvSpPr txBox="1"/>
            <p:nvPr/>
          </p:nvSpPr>
          <p:spPr>
            <a:xfrm>
              <a:off x="718185" y="2088356"/>
              <a:ext cx="722259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beta(lambda) is piecewise-linear -&gt; the same slope drives both screening and the warm start</a:t>
              </a:r>
            </a:p>
          </p:txBody>
        </p:sp>
        <p:sp>
          <p:nvSpPr>
            <p:cNvPr id="11" name="TextBox 11"/>
            <p:cNvSpPr txBox="1"/>
            <p:nvPr/>
          </p:nvSpPr>
          <p:spPr>
            <a:xfrm>
              <a:off x="718756" y="2386251"/>
              <a:ext cx="349000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Consolas"/>
                  <a:ea typeface="Consolas"/>
                  <a:cs typeface="Consolas"/>
                </a:rPr>
                <a:t>active set A = { j : beta_j != 0 } fixed on the interval</a:t>
              </a:r>
            </a:p>
          </p:txBody>
        </p:sp>
      </p:grpSp>
      <p:grpSp>
        <p:nvGrpSpPr>
          <p:cNvPr id="21" name="Group 21"/>
          <p:cNvGrpSpPr/>
          <p:nvPr/>
        </p:nvGrpSpPr>
        <p:grpSpPr>
          <a:xfrm>
            <a:off x="533400" y="2876550"/>
            <a:ext cx="3568700" cy="2038350"/>
            <a:chOff x="533400" y="2876550"/>
            <a:chExt cx="3568700" cy="2038350"/>
          </a:xfrm>
        </p:grpSpPr>
        <p:sp>
          <p:nvSpPr>
            <p:cNvPr id="13" name="Rectangle 13"/>
            <p:cNvSpPr/>
            <p:nvPr/>
          </p:nvSpPr>
          <p:spPr>
            <a:xfrm>
              <a:off x="533400" y="2876550"/>
              <a:ext cx="3568700" cy="2038350"/>
            </a:xfrm>
            <a:prstGeom prst="roundRect">
              <a:avLst>
                <a:gd name="adj" fmla="val 6542"/>
              </a:avLst>
            </a:prstGeom>
            <a:solidFill>
              <a:schemeClr val="accent5"/>
            </a:solidFill>
            <a:ln w="11430">
              <a:solidFill>
                <a:schemeClr val="accent4"/>
              </a:solidFill>
            </a:ln>
          </p:spPr>
        </p:sp>
        <p:sp>
          <p:nvSpPr>
            <p:cNvPr id="14" name="TextBox 14"/>
            <p:cNvSpPr txBox="1"/>
            <p:nvPr/>
          </p:nvSpPr>
          <p:spPr>
            <a:xfrm>
              <a:off x="736473" y="3119914"/>
              <a:ext cx="2018879" cy="249364"/>
            </a:xfrm>
            <a:prstGeom prst="rect">
              <a:avLst/>
            </a:prstGeom>
            <a:noFill/>
            <a:ln>
              <a:noFill/>
            </a:ln>
          </p:spPr>
          <p:txBody>
            <a:bodyPr wrap="none" lIns="0" tIns="0" rIns="0" bIns="0" anchor="t" anchorCtr="0">
              <a:spAutoFit/>
            </a:bodyPr>
            <a:lstStyle/>
            <a:p>
              <a:pPr algn="l"/>
              <a:r>
                <a:rPr lang="en-US" sz="1280" b="1" dirty="0">
                  <a:solidFill>
                    <a:srgbClr val="57D9A3"/>
                  </a:solidFill>
                  <a:latin typeface="+mn-lt"/>
                  <a:ea typeface="+mn-ea"/>
                  <a:cs typeface="+mn-cs"/>
                </a:rPr>
                <a:t>1 Second-order screen</a:t>
              </a:r>
            </a:p>
          </p:txBody>
        </p:sp>
        <p:sp>
          <p:nvSpPr>
            <p:cNvPr id="15" name="TextBox 15"/>
            <p:cNvSpPr txBox="1"/>
            <p:nvPr/>
          </p:nvSpPr>
          <p:spPr>
            <a:xfrm>
              <a:off x="737616" y="3429952"/>
              <a:ext cx="26235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Write a second-order estimate of the</a:t>
              </a:r>
            </a:p>
          </p:txBody>
        </p:sp>
        <p:sp>
          <p:nvSpPr>
            <p:cNvPr id="16" name="TextBox 16"/>
            <p:cNvSpPr txBox="1"/>
            <p:nvPr/>
          </p:nvSpPr>
          <p:spPr>
            <a:xfrm>
              <a:off x="737616" y="3629978"/>
              <a:ext cx="220867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next-step correlation using the</a:t>
              </a:r>
            </a:p>
          </p:txBody>
        </p:sp>
        <p:sp>
          <p:nvSpPr>
            <p:cNvPr id="17" name="TextBox 17"/>
            <p:cNvSpPr txBox="1"/>
            <p:nvPr/>
          </p:nvSpPr>
          <p:spPr>
            <a:xfrm>
              <a:off x="737616" y="3830002"/>
              <a:ext cx="23335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Hessian of the active predictors.</a:t>
              </a:r>
            </a:p>
          </p:txBody>
        </p:sp>
        <p:sp>
          <p:nvSpPr>
            <p:cNvPr id="18" name="Rectangle 18"/>
            <p:cNvSpPr/>
            <p:nvPr/>
          </p:nvSpPr>
          <p:spPr>
            <a:xfrm>
              <a:off x="742950" y="4305300"/>
              <a:ext cx="3149600" cy="438150"/>
            </a:xfrm>
            <a:prstGeom prst="roundRect">
              <a:avLst>
                <a:gd name="adj" fmla="val 19565"/>
              </a:avLst>
            </a:prstGeom>
            <a:solidFill>
              <a:schemeClr val="lt2"/>
            </a:solidFill>
            <a:ln>
              <a:noFill/>
            </a:ln>
          </p:spPr>
        </p:sp>
        <p:sp>
          <p:nvSpPr>
            <p:cNvPr id="19" name="TextBox 19"/>
            <p:cNvSpPr txBox="1"/>
            <p:nvPr/>
          </p:nvSpPr>
          <p:spPr>
            <a:xfrm>
              <a:off x="871538" y="4413647"/>
              <a:ext cx="1393712" cy="183356"/>
            </a:xfrm>
            <a:prstGeom prst="rect">
              <a:avLst/>
            </a:prstGeom>
            <a:noFill/>
            <a:ln>
              <a:noFill/>
            </a:ln>
          </p:spPr>
          <p:txBody>
            <a:bodyPr wrap="none" lIns="0" tIns="0" rIns="0" bIns="0" anchor="t" anchorCtr="0">
              <a:spAutoFit/>
            </a:bodyPr>
            <a:lstStyle/>
            <a:p>
              <a:pPr algn="l"/>
              <a:r>
                <a:rPr lang="en-US" sz="940" b="1" dirty="0">
                  <a:solidFill>
                    <a:srgbClr val="37DCC0"/>
                  </a:solidFill>
                  <a:latin typeface="Consolas"/>
                  <a:ea typeface="Consolas"/>
                  <a:cs typeface="Consolas"/>
                </a:rPr>
                <a:t>c_H = c + dl · X^T X_A</a:t>
              </a:r>
            </a:p>
          </p:txBody>
        </p:sp>
        <p:sp>
          <p:nvSpPr>
            <p:cNvPr id="20" name="TextBox 20"/>
            <p:cNvSpPr txBox="1"/>
            <p:nvPr/>
          </p:nvSpPr>
          <p:spPr>
            <a:xfrm>
              <a:off x="871538" y="4585097"/>
              <a:ext cx="1714830" cy="183356"/>
            </a:xfrm>
            <a:prstGeom prst="rect">
              <a:avLst/>
            </a:prstGeom>
            <a:noFill/>
            <a:ln>
              <a:noFill/>
            </a:ln>
          </p:spPr>
          <p:txBody>
            <a:bodyPr wrap="none" lIns="0" tIns="0" rIns="0" bIns="0" anchor="t" anchorCtr="0">
              <a:spAutoFit/>
            </a:bodyPr>
            <a:lstStyle/>
            <a:p>
              <a:pPr algn="l"/>
              <a:r>
                <a:rPr lang="en-US" sz="940" b="1" dirty="0">
                  <a:solidFill>
                    <a:srgbClr val="37DCC0"/>
                  </a:solidFill>
                  <a:latin typeface="Consolas"/>
                  <a:ea typeface="Consolas"/>
                  <a:cs typeface="Consolas"/>
                </a:rPr>
                <a:t>(X_A^T X_A)^-1 sign(b_A)</a:t>
              </a:r>
            </a:p>
          </p:txBody>
        </p:sp>
      </p:grpSp>
      <p:grpSp>
        <p:nvGrpSpPr>
          <p:cNvPr id="31" name="Group 31"/>
          <p:cNvGrpSpPr/>
          <p:nvPr/>
        </p:nvGrpSpPr>
        <p:grpSpPr>
          <a:xfrm>
            <a:off x="4311650" y="2876550"/>
            <a:ext cx="3568700" cy="2038350"/>
            <a:chOff x="4311650" y="2876550"/>
            <a:chExt cx="3568700" cy="2038350"/>
          </a:xfrm>
        </p:grpSpPr>
        <p:sp>
          <p:nvSpPr>
            <p:cNvPr id="22" name="Rectangle 22"/>
            <p:cNvSpPr/>
            <p:nvPr/>
          </p:nvSpPr>
          <p:spPr>
            <a:xfrm>
              <a:off x="4311650" y="2876550"/>
              <a:ext cx="3568700" cy="2038350"/>
            </a:xfrm>
            <a:prstGeom prst="roundRect">
              <a:avLst>
                <a:gd name="adj" fmla="val 6542"/>
              </a:avLst>
            </a:prstGeom>
            <a:solidFill>
              <a:schemeClr val="accent5"/>
            </a:solidFill>
            <a:ln w="11430">
              <a:solidFill>
                <a:schemeClr val="accent4"/>
              </a:solidFill>
            </a:ln>
          </p:spPr>
        </p:sp>
        <p:sp>
          <p:nvSpPr>
            <p:cNvPr id="23" name="TextBox 23"/>
            <p:cNvSpPr txBox="1"/>
            <p:nvPr/>
          </p:nvSpPr>
          <p:spPr>
            <a:xfrm>
              <a:off x="4514723" y="3119914"/>
              <a:ext cx="133144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2 Keep it cheap</a:t>
              </a:r>
            </a:p>
          </p:txBody>
        </p:sp>
        <p:sp>
          <p:nvSpPr>
            <p:cNvPr id="24" name="TextBox 24"/>
            <p:cNvSpPr txBox="1"/>
            <p:nvPr/>
          </p:nvSpPr>
          <p:spPr>
            <a:xfrm>
              <a:off x="4515866" y="3429952"/>
              <a:ext cx="19798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Restrict the expensive inner</a:t>
              </a:r>
            </a:p>
          </p:txBody>
        </p:sp>
        <p:sp>
          <p:nvSpPr>
            <p:cNvPr id="25" name="TextBox 25"/>
            <p:cNvSpPr txBox="1"/>
            <p:nvPr/>
          </p:nvSpPr>
          <p:spPr>
            <a:xfrm>
              <a:off x="4515866" y="3629978"/>
              <a:ext cx="23217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products to the strong-rule set,</a:t>
              </a:r>
            </a:p>
          </p:txBody>
        </p:sp>
        <p:sp>
          <p:nvSpPr>
            <p:cNvPr id="26" name="TextBox 26"/>
            <p:cNvSpPr txBox="1"/>
            <p:nvPr/>
          </p:nvSpPr>
          <p:spPr>
            <a:xfrm>
              <a:off x="4515866" y="3830002"/>
              <a:ext cx="20885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plus a small unit-bound safety</a:t>
              </a:r>
            </a:p>
          </p:txBody>
        </p:sp>
        <p:sp>
          <p:nvSpPr>
            <p:cNvPr id="27" name="TextBox 27"/>
            <p:cNvSpPr txBox="1"/>
            <p:nvPr/>
          </p:nvSpPr>
          <p:spPr>
            <a:xfrm>
              <a:off x="4515866" y="4030028"/>
              <a:ext cx="225337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margin. The Hessian inverse also</a:t>
              </a:r>
            </a:p>
          </p:txBody>
        </p:sp>
        <p:sp>
          <p:nvSpPr>
            <p:cNvPr id="28" name="TextBox 28"/>
            <p:cNvSpPr txBox="1"/>
            <p:nvPr/>
          </p:nvSpPr>
          <p:spPr>
            <a:xfrm>
              <a:off x="4515866" y="4230052"/>
              <a:ext cx="15584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gives the warm start.</a:t>
              </a:r>
            </a:p>
          </p:txBody>
        </p:sp>
        <p:sp>
          <p:nvSpPr>
            <p:cNvPr id="29" name="Rectangle 29"/>
            <p:cNvSpPr/>
            <p:nvPr/>
          </p:nvSpPr>
          <p:spPr>
            <a:xfrm>
              <a:off x="4521200" y="4572000"/>
              <a:ext cx="3149600" cy="228600"/>
            </a:xfrm>
            <a:prstGeom prst="roundRect">
              <a:avLst>
                <a:gd name="adj" fmla="val 33333"/>
              </a:avLst>
            </a:prstGeom>
            <a:solidFill>
              <a:srgbClr val="14261F"/>
            </a:solidFill>
            <a:ln w="10478">
              <a:solidFill>
                <a:srgbClr val="57D9A3"/>
              </a:solidFill>
            </a:ln>
          </p:spPr>
        </p:sp>
        <p:sp>
          <p:nvSpPr>
            <p:cNvPr id="30" name="TextBox 30"/>
            <p:cNvSpPr txBox="1"/>
            <p:nvPr/>
          </p:nvSpPr>
          <p:spPr>
            <a:xfrm>
              <a:off x="4649788" y="4632722"/>
              <a:ext cx="2002574" cy="183356"/>
            </a:xfrm>
            <a:prstGeom prst="rect">
              <a:avLst/>
            </a:prstGeom>
            <a:noFill/>
            <a:ln>
              <a:noFill/>
            </a:ln>
          </p:spPr>
          <p:txBody>
            <a:bodyPr wrap="none" lIns="0" tIns="0" rIns="0" bIns="0" anchor="t" anchorCtr="0">
              <a:spAutoFit/>
            </a:bodyPr>
            <a:lstStyle/>
            <a:p>
              <a:pPr algn="l"/>
              <a:r>
                <a:rPr lang="en-US" sz="940" b="1" dirty="0">
                  <a:solidFill>
                    <a:srgbClr val="57D9A3"/>
                  </a:solidFill>
                  <a:latin typeface="Consolas"/>
                  <a:ea typeface="Consolas"/>
                  <a:cs typeface="Consolas"/>
                </a:rPr>
                <a:t>exact -&gt; often one solver pass</a:t>
              </a:r>
            </a:p>
          </p:txBody>
        </p:sp>
      </p:grpSp>
      <p:grpSp>
        <p:nvGrpSpPr>
          <p:cNvPr id="40" name="Group 40"/>
          <p:cNvGrpSpPr/>
          <p:nvPr/>
        </p:nvGrpSpPr>
        <p:grpSpPr>
          <a:xfrm>
            <a:off x="8089900" y="2876550"/>
            <a:ext cx="3568700" cy="2038350"/>
            <a:chOff x="8089900" y="2876550"/>
            <a:chExt cx="3568700" cy="2038350"/>
          </a:xfrm>
        </p:grpSpPr>
        <p:sp>
          <p:nvSpPr>
            <p:cNvPr id="32" name="Rectangle 32"/>
            <p:cNvSpPr/>
            <p:nvPr/>
          </p:nvSpPr>
          <p:spPr>
            <a:xfrm>
              <a:off x="8089900" y="2876550"/>
              <a:ext cx="3568700" cy="2038350"/>
            </a:xfrm>
            <a:prstGeom prst="roundRect">
              <a:avLst>
                <a:gd name="adj" fmla="val 6542"/>
              </a:avLst>
            </a:prstGeom>
            <a:solidFill>
              <a:schemeClr val="accent5"/>
            </a:solidFill>
            <a:ln w="11430">
              <a:solidFill>
                <a:schemeClr val="accent4"/>
              </a:solidFill>
            </a:ln>
          </p:spPr>
        </p:sp>
        <p:sp>
          <p:nvSpPr>
            <p:cNvPr id="33" name="TextBox 33"/>
            <p:cNvSpPr txBox="1"/>
            <p:nvPr/>
          </p:nvSpPr>
          <p:spPr>
            <a:xfrm>
              <a:off x="8292973" y="3119914"/>
              <a:ext cx="1322348" cy="249364"/>
            </a:xfrm>
            <a:prstGeom prst="rect">
              <a:avLst/>
            </a:prstGeom>
            <a:noFill/>
            <a:ln>
              <a:noFill/>
            </a:ln>
          </p:spPr>
          <p:txBody>
            <a:bodyPr wrap="none" lIns="0" tIns="0" rIns="0" bIns="0" anchor="t" anchorCtr="0">
              <a:spAutoFit/>
            </a:bodyPr>
            <a:lstStyle/>
            <a:p>
              <a:pPr algn="l"/>
              <a:r>
                <a:rPr lang="en-US" sz="1280" b="1" dirty="0">
                  <a:solidFill>
                    <a:srgbClr val="F7B84B"/>
                  </a:solidFill>
                  <a:latin typeface="+mn-lt"/>
                  <a:ea typeface="+mn-ea"/>
                  <a:cs typeface="+mn-cs"/>
                </a:rPr>
                <a:t>3 Stay current</a:t>
              </a:r>
            </a:p>
          </p:txBody>
        </p:sp>
        <p:sp>
          <p:nvSpPr>
            <p:cNvPr id="34" name="TextBox 34"/>
            <p:cNvSpPr txBox="1"/>
            <p:nvPr/>
          </p:nvSpPr>
          <p:spPr>
            <a:xfrm>
              <a:off x="8294116" y="3429952"/>
              <a:ext cx="25173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Efficient low-rank updates keep the</a:t>
              </a:r>
            </a:p>
          </p:txBody>
        </p:sp>
        <p:sp>
          <p:nvSpPr>
            <p:cNvPr id="35" name="TextBox 35"/>
            <p:cNvSpPr txBox="1"/>
            <p:nvPr/>
          </p:nvSpPr>
          <p:spPr>
            <a:xfrm>
              <a:off x="8294116" y="3629978"/>
              <a:ext cx="23758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Hessian and its inverse current as</a:t>
              </a:r>
            </a:p>
          </p:txBody>
        </p:sp>
        <p:sp>
          <p:nvSpPr>
            <p:cNvPr id="36" name="TextBox 36"/>
            <p:cNvSpPr txBox="1"/>
            <p:nvPr/>
          </p:nvSpPr>
          <p:spPr>
            <a:xfrm>
              <a:off x="8294116" y="3830002"/>
              <a:ext cx="19330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predictors enter and leave.</a:t>
              </a:r>
            </a:p>
          </p:txBody>
        </p:sp>
        <p:sp>
          <p:nvSpPr>
            <p:cNvPr id="37" name="Rectangle 37"/>
            <p:cNvSpPr/>
            <p:nvPr/>
          </p:nvSpPr>
          <p:spPr>
            <a:xfrm>
              <a:off x="8299450" y="4305300"/>
              <a:ext cx="3149600" cy="438150"/>
            </a:xfrm>
            <a:prstGeom prst="roundRect">
              <a:avLst>
                <a:gd name="adj" fmla="val 19565"/>
              </a:avLst>
            </a:prstGeom>
            <a:solidFill>
              <a:schemeClr val="lt2"/>
            </a:solidFill>
            <a:ln>
              <a:noFill/>
            </a:ln>
          </p:spPr>
        </p:sp>
        <p:sp>
          <p:nvSpPr>
            <p:cNvPr id="38" name="TextBox 38"/>
            <p:cNvSpPr txBox="1"/>
            <p:nvPr/>
          </p:nvSpPr>
          <p:spPr>
            <a:xfrm>
              <a:off x="8427847" y="4409599"/>
              <a:ext cx="1519817" cy="190690"/>
            </a:xfrm>
            <a:prstGeom prst="rect">
              <a:avLst/>
            </a:prstGeom>
            <a:noFill/>
            <a:ln>
              <a:noFill/>
            </a:ln>
          </p:spPr>
          <p:txBody>
            <a:bodyPr wrap="none" lIns="0" tIns="0" rIns="0" bIns="0" anchor="t" anchorCtr="0">
              <a:spAutoFit/>
            </a:bodyPr>
            <a:lstStyle/>
            <a:p>
              <a:pPr algn="l"/>
              <a:r>
                <a:rPr lang="en-US" sz="980" b="1" dirty="0">
                  <a:solidFill>
                    <a:srgbClr val="F7B84B"/>
                  </a:solidFill>
                  <a:latin typeface="+mn-lt"/>
                  <a:ea typeface="+mn-ea"/>
                  <a:cs typeface="+mn-cs"/>
                </a:rPr>
                <a:t>approximate homotopy</a:t>
              </a:r>
            </a:p>
          </p:txBody>
        </p:sp>
        <p:sp>
          <p:nvSpPr>
            <p:cNvPr id="39" name="TextBox 39"/>
            <p:cNvSpPr txBox="1"/>
            <p:nvPr/>
          </p:nvSpPr>
          <p:spPr>
            <a:xfrm>
              <a:off x="8428038" y="4589145"/>
              <a:ext cx="1960169" cy="176212"/>
            </a:xfrm>
            <a:prstGeom prst="rect">
              <a:avLst/>
            </a:prstGeom>
            <a:noFill/>
            <a:ln>
              <a:noFill/>
            </a:ln>
          </p:spPr>
          <p:txBody>
            <a:bodyPr wrap="none" lIns="0" tIns="0" rIns="0" bIns="0" anchor="t" anchorCtr="0">
              <a:spAutoFit/>
            </a:bodyPr>
            <a:lstStyle/>
            <a:p>
              <a:pPr algn="l"/>
              <a:r>
                <a:rPr lang="en-US" sz="900" dirty="0">
                  <a:solidFill>
                    <a:schemeClr val="dk2"/>
                  </a:solidFill>
                  <a:latin typeface="+mn-lt"/>
                  <a:ea typeface="+mn-ea"/>
                  <a:cs typeface="+mn-cs"/>
                </a:rPr>
                <a:t>adaptively places the lambda grid</a:t>
              </a:r>
            </a:p>
          </p:txBody>
        </p:sp>
      </p:grpSp>
      <p:sp>
        <p:nvSpPr>
          <p:cNvPr id="41" name="cue_s05_c1_method_rests_simple_fact_any" title="cue_s05_c1_method_rests_simple_fact_any" descr="cue_s05_c1_method_rests_simple_fact_any The method rests on a simple fact: on any interval where the active set of nonzero coefficients is unchanged, the lasso solution is a linear function of the penalty λ."/>
          <p:cNvSpPr/>
          <p:nvPr/>
        </p:nvSpPr>
        <p:spPr>
          <a:xfrm>
            <a:off x="532790" y="1523847"/>
            <a:ext cx="11125200" cy="11617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2_linearity_lets_authors_write_down" title="cue_s05_c2_linearity_lets_authors_write_down" descr="cue_s05_c2_linearity_lets_authors_write_down That linearity lets the authors write down a second-order estimate of the correlation at the next penalty value using the Hessian of the active predictors."/>
          <p:cNvSpPr/>
          <p:nvPr/>
        </p:nvSpPr>
        <p:spPr>
          <a:xfrm>
            <a:off x="532790" y="2876245"/>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3_keep_cheap_they_restrict_expensive" title="cue_s05_c3_keep_cheap_they_restrict_expensive" descr="cue_s05_c3_keep_cheap_they_restrict_expensive To keep it cheap, they restrict the expensive inner products to the strong-rule set and add a small fraction of the unit bound as a safety margin. The very same Hessian inverse provides the warm start, which is exact when the active set does not change, so the"/>
          <p:cNvSpPr/>
          <p:nvPr/>
        </p:nvSpPr>
        <p:spPr>
          <a:xfrm>
            <a:off x="4311091" y="2876245"/>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4_efficient_low_rank_updates_keep_hess" title="cue_s05_c4_efficient_low_rank_updates_keep_hess" descr="cue_s05_c4_efficient_low_rank_updates_keep_hess Efficient low-rank updates keep the Hessian and its inverse current as predictors enter and leave, and an approximate-homotopy scheme adaptively chooses the penalty grid."/>
          <p:cNvSpPr/>
          <p:nvPr/>
        </p:nvSpPr>
        <p:spPr>
          <a:xfrm>
            <a:off x="8089392" y="2876245"/>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52929"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BENCHMARKS</a:t>
            </a:r>
          </a:p>
        </p:txBody>
      </p:sp>
      <p:sp>
        <p:nvSpPr>
          <p:cNvPr id="5" name="TextBox 5"/>
          <p:cNvSpPr txBox="1"/>
          <p:nvPr/>
        </p:nvSpPr>
        <p:spPr>
          <a:xfrm>
            <a:off x="518922" y="797242"/>
            <a:ext cx="8582812"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Simulated sweeps and twelve real data sets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06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71500"/>
            <a:chOff x="533400" y="1524000"/>
            <a:chExt cx="11125200" cy="571500"/>
          </a:xfrm>
        </p:grpSpPr>
        <p:sp>
          <p:nvSpPr>
            <p:cNvPr id="8" name="Rectangle 8"/>
            <p:cNvSpPr/>
            <p:nvPr/>
          </p:nvSpPr>
          <p:spPr>
            <a:xfrm>
              <a:off x="533400" y="1524000"/>
              <a:ext cx="11125200" cy="571500"/>
            </a:xfrm>
            <a:prstGeom prst="roundRect">
              <a:avLst>
                <a:gd name="adj" fmla="val 23333"/>
              </a:avLst>
            </a:prstGeom>
            <a:solidFill>
              <a:schemeClr val="accent5"/>
            </a:solidFill>
            <a:ln w="11430">
              <a:solidFill>
                <a:schemeClr val="accent4"/>
              </a:solidFill>
            </a:ln>
          </p:spPr>
        </p:sp>
        <p:sp>
          <p:nvSpPr>
            <p:cNvPr id="9" name="Rectangle 9"/>
            <p:cNvSpPr/>
            <p:nvPr/>
          </p:nvSpPr>
          <p:spPr>
            <a:xfrm>
              <a:off x="723900" y="1676400"/>
              <a:ext cx="47625" cy="266700"/>
            </a:xfrm>
            <a:prstGeom prst="roundRect">
              <a:avLst>
                <a:gd name="adj" fmla="val 50000"/>
              </a:avLst>
            </a:prstGeom>
            <a:solidFill>
              <a:srgbClr val="37DCC0"/>
            </a:solidFill>
            <a:ln>
              <a:noFill/>
            </a:ln>
          </p:spPr>
        </p:sp>
        <p:sp>
          <p:nvSpPr>
            <p:cNvPr id="10" name="TextBox 10"/>
            <p:cNvSpPr txBox="1"/>
            <p:nvPr/>
          </p:nvSpPr>
          <p:spPr>
            <a:xfrm>
              <a:off x="907542" y="1740218"/>
              <a:ext cx="839688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evaluation covers both carefully controlled simulations and real high-dimensional data</a:t>
              </a:r>
            </a:p>
          </p:txBody>
        </p:sp>
      </p:grpSp>
      <p:grpSp>
        <p:nvGrpSpPr>
          <p:cNvPr id="24" name="Group 24"/>
          <p:cNvGrpSpPr/>
          <p:nvPr/>
        </p:nvGrpSpPr>
        <p:grpSpPr>
          <a:xfrm>
            <a:off x="533400" y="2286000"/>
            <a:ext cx="3556000" cy="2857500"/>
            <a:chOff x="533400" y="2286000"/>
            <a:chExt cx="3556000" cy="2857500"/>
          </a:xfrm>
        </p:grpSpPr>
        <p:sp>
          <p:nvSpPr>
            <p:cNvPr id="12" name="Rectangle 12"/>
            <p:cNvSpPr/>
            <p:nvPr/>
          </p:nvSpPr>
          <p:spPr>
            <a:xfrm>
              <a:off x="533400" y="2286000"/>
              <a:ext cx="3556000" cy="2857500"/>
            </a:xfrm>
            <a:prstGeom prst="roundRect">
              <a:avLst>
                <a:gd name="adj" fmla="val 4667"/>
              </a:avLst>
            </a:prstGeom>
            <a:solidFill>
              <a:schemeClr val="accent5"/>
            </a:solidFill>
            <a:ln w="11430">
              <a:solidFill>
                <a:schemeClr val="accent4"/>
              </a:solidFill>
            </a:ln>
          </p:spPr>
        </p:sp>
        <p:sp>
          <p:nvSpPr>
            <p:cNvPr id="13" name="Rectangle 13"/>
            <p:cNvSpPr/>
            <p:nvPr/>
          </p:nvSpPr>
          <p:spPr>
            <a:xfrm>
              <a:off x="742950" y="2533650"/>
              <a:ext cx="47625" cy="285750"/>
            </a:xfrm>
            <a:prstGeom prst="roundRect">
              <a:avLst>
                <a:gd name="adj" fmla="val 50000"/>
              </a:avLst>
            </a:prstGeom>
            <a:solidFill>
              <a:schemeClr val="accent2"/>
            </a:solidFill>
            <a:ln>
              <a:noFill/>
            </a:ln>
          </p:spPr>
        </p:sp>
        <p:sp>
          <p:nvSpPr>
            <p:cNvPr id="14" name="TextBox 14"/>
            <p:cNvSpPr txBox="1"/>
            <p:nvPr/>
          </p:nvSpPr>
          <p:spPr>
            <a:xfrm>
              <a:off x="735711" y="2875121"/>
              <a:ext cx="185317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Simulated Gaussian</a:t>
              </a:r>
            </a:p>
          </p:txBody>
        </p:sp>
        <p:sp>
          <p:nvSpPr>
            <p:cNvPr id="15" name="TextBox 15"/>
            <p:cNvSpPr txBox="1"/>
            <p:nvPr/>
          </p:nvSpPr>
          <p:spPr>
            <a:xfrm>
              <a:off x="737806" y="3148251"/>
              <a:ext cx="2287381"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two regimes, three correlations</a:t>
              </a:r>
            </a:p>
          </p:txBody>
        </p:sp>
        <p:sp>
          <p:nvSpPr>
            <p:cNvPr id="16" name="TextBox 16"/>
            <p:cNvSpPr txBox="1"/>
            <p:nvPr/>
          </p:nvSpPr>
          <p:spPr>
            <a:xfrm>
              <a:off x="738188" y="3511391"/>
              <a:ext cx="587901" cy="161925"/>
            </a:xfrm>
            <a:prstGeom prst="rect">
              <a:avLst/>
            </a:prstGeom>
            <a:noFill/>
            <a:ln>
              <a:noFill/>
            </a:ln>
          </p:spPr>
          <p:txBody>
            <a:bodyPr wrap="none" lIns="0" tIns="0" rIns="0" bIns="0" anchor="t" anchorCtr="0">
              <a:spAutoFit/>
            </a:bodyPr>
            <a:lstStyle/>
            <a:p>
              <a:pPr algn="l"/>
              <a:r>
                <a:rPr lang="en-US" sz="820" b="1" spc="75" dirty="0">
                  <a:solidFill>
                    <a:srgbClr val="6E85AC"/>
                  </a:solidFill>
                  <a:latin typeface="+mn-lt"/>
                  <a:ea typeface="+mn-ea"/>
                  <a:cs typeface="+mn-cs"/>
                </a:rPr>
                <a:t>LOW-DIM</a:t>
              </a:r>
            </a:p>
          </p:txBody>
        </p:sp>
        <p:sp>
          <p:nvSpPr>
            <p:cNvPr id="17" name="TextBox 17"/>
            <p:cNvSpPr txBox="1"/>
            <p:nvPr/>
          </p:nvSpPr>
          <p:spPr>
            <a:xfrm>
              <a:off x="737235" y="3659981"/>
              <a:ext cx="138083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n = 10,000 p = 100</a:t>
              </a:r>
            </a:p>
          </p:txBody>
        </p:sp>
        <p:sp>
          <p:nvSpPr>
            <p:cNvPr id="18" name="TextBox 18"/>
            <p:cNvSpPr txBox="1"/>
            <p:nvPr/>
          </p:nvSpPr>
          <p:spPr>
            <a:xfrm>
              <a:off x="738188" y="3911441"/>
              <a:ext cx="586322" cy="161925"/>
            </a:xfrm>
            <a:prstGeom prst="rect">
              <a:avLst/>
            </a:prstGeom>
            <a:noFill/>
            <a:ln>
              <a:noFill/>
            </a:ln>
          </p:spPr>
          <p:txBody>
            <a:bodyPr wrap="none" lIns="0" tIns="0" rIns="0" bIns="0" anchor="t" anchorCtr="0">
              <a:spAutoFit/>
            </a:bodyPr>
            <a:lstStyle/>
            <a:p>
              <a:pPr algn="l"/>
              <a:r>
                <a:rPr lang="en-US" sz="820" b="1" spc="75" dirty="0">
                  <a:solidFill>
                    <a:srgbClr val="6E85AC"/>
                  </a:solidFill>
                  <a:latin typeface="+mn-lt"/>
                  <a:ea typeface="+mn-ea"/>
                  <a:cs typeface="+mn-cs"/>
                </a:rPr>
                <a:t>HIGH-DIM</a:t>
              </a:r>
            </a:p>
          </p:txBody>
        </p:sp>
        <p:sp>
          <p:nvSpPr>
            <p:cNvPr id="19" name="TextBox 19"/>
            <p:cNvSpPr txBox="1"/>
            <p:nvPr/>
          </p:nvSpPr>
          <p:spPr>
            <a:xfrm>
              <a:off x="737235" y="4060031"/>
              <a:ext cx="138083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n = 400 p = 40,000</a:t>
              </a:r>
            </a:p>
          </p:txBody>
        </p:sp>
        <p:sp>
          <p:nvSpPr>
            <p:cNvPr id="20" name="TextBox 20"/>
            <p:cNvSpPr txBox="1"/>
            <p:nvPr/>
          </p:nvSpPr>
          <p:spPr>
            <a:xfrm>
              <a:off x="738188" y="4311491"/>
              <a:ext cx="875511" cy="161925"/>
            </a:xfrm>
            <a:prstGeom prst="rect">
              <a:avLst/>
            </a:prstGeom>
            <a:noFill/>
            <a:ln>
              <a:noFill/>
            </a:ln>
          </p:spPr>
          <p:txBody>
            <a:bodyPr wrap="none" lIns="0" tIns="0" rIns="0" bIns="0" anchor="t" anchorCtr="0">
              <a:spAutoFit/>
            </a:bodyPr>
            <a:lstStyle/>
            <a:p>
              <a:pPr algn="l"/>
              <a:r>
                <a:rPr lang="en-US" sz="820" b="1" spc="75" dirty="0">
                  <a:solidFill>
                    <a:srgbClr val="6E85AC"/>
                  </a:solidFill>
                  <a:latin typeface="+mn-lt"/>
                  <a:ea typeface="+mn-ea"/>
                  <a:cs typeface="+mn-cs"/>
                </a:rPr>
                <a:t>CORRELATION</a:t>
              </a:r>
            </a:p>
          </p:txBody>
        </p:sp>
        <p:sp>
          <p:nvSpPr>
            <p:cNvPr id="21" name="TextBox 21"/>
            <p:cNvSpPr txBox="1"/>
            <p:nvPr/>
          </p:nvSpPr>
          <p:spPr>
            <a:xfrm>
              <a:off x="737235" y="4460081"/>
              <a:ext cx="164997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rho in { 0, 0.4, 0.8 }</a:t>
              </a:r>
            </a:p>
          </p:txBody>
        </p:sp>
        <p:sp>
          <p:nvSpPr>
            <p:cNvPr id="22" name="TextBox 22"/>
            <p:cNvSpPr txBox="1"/>
            <p:nvPr/>
          </p:nvSpPr>
          <p:spPr>
            <a:xfrm>
              <a:off x="738188" y="4711541"/>
              <a:ext cx="545037" cy="161925"/>
            </a:xfrm>
            <a:prstGeom prst="rect">
              <a:avLst/>
            </a:prstGeom>
            <a:noFill/>
            <a:ln>
              <a:noFill/>
            </a:ln>
          </p:spPr>
          <p:txBody>
            <a:bodyPr wrap="none" lIns="0" tIns="0" rIns="0" bIns="0" anchor="t" anchorCtr="0">
              <a:spAutoFit/>
            </a:bodyPr>
            <a:lstStyle/>
            <a:p>
              <a:pPr algn="l"/>
              <a:r>
                <a:rPr lang="en-US" sz="820" b="1" spc="75" dirty="0">
                  <a:solidFill>
                    <a:srgbClr val="6E85AC"/>
                  </a:solidFill>
                  <a:latin typeface="+mn-lt"/>
                  <a:ea typeface="+mn-ea"/>
                  <a:cs typeface="+mn-cs"/>
                </a:rPr>
                <a:t>REPEATS</a:t>
              </a:r>
            </a:p>
          </p:txBody>
        </p:sp>
        <p:sp>
          <p:nvSpPr>
            <p:cNvPr id="23" name="TextBox 23"/>
            <p:cNvSpPr txBox="1"/>
            <p:nvPr/>
          </p:nvSpPr>
          <p:spPr>
            <a:xfrm>
              <a:off x="737235" y="4860131"/>
              <a:ext cx="1721212"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averaged over 20 runs</a:t>
              </a:r>
            </a:p>
          </p:txBody>
        </p:sp>
      </p:grpSp>
      <p:grpSp>
        <p:nvGrpSpPr>
          <p:cNvPr id="35" name="Group 35"/>
          <p:cNvGrpSpPr/>
          <p:nvPr/>
        </p:nvGrpSpPr>
        <p:grpSpPr>
          <a:xfrm>
            <a:off x="4318000" y="2286000"/>
            <a:ext cx="3556000" cy="2857500"/>
            <a:chOff x="4318000" y="2286000"/>
            <a:chExt cx="3556000" cy="2857500"/>
          </a:xfrm>
        </p:grpSpPr>
        <p:sp>
          <p:nvSpPr>
            <p:cNvPr id="25" name="Rectangle 25"/>
            <p:cNvSpPr/>
            <p:nvPr/>
          </p:nvSpPr>
          <p:spPr>
            <a:xfrm>
              <a:off x="4318000" y="2286000"/>
              <a:ext cx="3556000" cy="2857500"/>
            </a:xfrm>
            <a:prstGeom prst="roundRect">
              <a:avLst>
                <a:gd name="adj" fmla="val 4667"/>
              </a:avLst>
            </a:prstGeom>
            <a:solidFill>
              <a:schemeClr val="accent5"/>
            </a:solidFill>
            <a:ln w="11430">
              <a:solidFill>
                <a:schemeClr val="accent4"/>
              </a:solidFill>
            </a:ln>
          </p:spPr>
        </p:sp>
        <p:sp>
          <p:nvSpPr>
            <p:cNvPr id="26" name="Rectangle 26"/>
            <p:cNvSpPr/>
            <p:nvPr/>
          </p:nvSpPr>
          <p:spPr>
            <a:xfrm>
              <a:off x="4527550" y="2533650"/>
              <a:ext cx="47625" cy="285750"/>
            </a:xfrm>
            <a:prstGeom prst="roundRect">
              <a:avLst>
                <a:gd name="adj" fmla="val 50000"/>
              </a:avLst>
            </a:prstGeom>
            <a:solidFill>
              <a:srgbClr val="F7B84B"/>
            </a:solidFill>
            <a:ln>
              <a:noFill/>
            </a:ln>
          </p:spPr>
        </p:sp>
        <p:sp>
          <p:nvSpPr>
            <p:cNvPr id="27" name="TextBox 27"/>
            <p:cNvSpPr txBox="1"/>
            <p:nvPr/>
          </p:nvSpPr>
          <p:spPr>
            <a:xfrm>
              <a:off x="4520311" y="2875121"/>
              <a:ext cx="169047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12 real data sets</a:t>
              </a:r>
            </a:p>
          </p:txBody>
        </p:sp>
        <p:sp>
          <p:nvSpPr>
            <p:cNvPr id="28" name="TextBox 28"/>
            <p:cNvSpPr txBox="1"/>
            <p:nvPr/>
          </p:nvSpPr>
          <p:spPr>
            <a:xfrm>
              <a:off x="4522406" y="3148251"/>
              <a:ext cx="1295168" cy="198025"/>
            </a:xfrm>
            <a:prstGeom prst="rect">
              <a:avLst/>
            </a:prstGeom>
            <a:noFill/>
            <a:ln>
              <a:noFill/>
            </a:ln>
          </p:spPr>
          <p:txBody>
            <a:bodyPr wrap="none" lIns="0" tIns="0" rIns="0" bIns="0" anchor="t" anchorCtr="0">
              <a:spAutoFit/>
            </a:bodyPr>
            <a:lstStyle/>
            <a:p>
              <a:pPr algn="l"/>
              <a:r>
                <a:rPr lang="en-US" sz="1010" b="1" dirty="0">
                  <a:solidFill>
                    <a:srgbClr val="F7B84B"/>
                  </a:solidFill>
                  <a:latin typeface="+mn-lt"/>
                  <a:ea typeface="+mn-ea"/>
                  <a:cs typeface="+mn-cs"/>
                </a:rPr>
                <a:t>two problem types</a:t>
              </a:r>
            </a:p>
          </p:txBody>
        </p:sp>
        <p:sp>
          <p:nvSpPr>
            <p:cNvPr id="29" name="TextBox 29"/>
            <p:cNvSpPr txBox="1"/>
            <p:nvPr/>
          </p:nvSpPr>
          <p:spPr>
            <a:xfrm>
              <a:off x="4521835" y="3498056"/>
              <a:ext cx="128585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l1 least-squares</a:t>
              </a:r>
            </a:p>
          </p:txBody>
        </p:sp>
        <p:sp>
          <p:nvSpPr>
            <p:cNvPr id="30" name="TextBox 30"/>
            <p:cNvSpPr txBox="1"/>
            <p:nvPr/>
          </p:nvSpPr>
          <p:spPr>
            <a:xfrm>
              <a:off x="4522788" y="3727847"/>
              <a:ext cx="2540305"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bcTCGA · e2006 · scheetz · YearPredMSD</a:t>
              </a:r>
            </a:p>
          </p:txBody>
        </p:sp>
        <p:sp>
          <p:nvSpPr>
            <p:cNvPr id="31" name="TextBox 31"/>
            <p:cNvSpPr txBox="1"/>
            <p:nvPr/>
          </p:nvSpPr>
          <p:spPr>
            <a:xfrm>
              <a:off x="4521835" y="4050506"/>
              <a:ext cx="164997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l1 logistic regression</a:t>
              </a:r>
            </a:p>
          </p:txBody>
        </p:sp>
        <p:sp>
          <p:nvSpPr>
            <p:cNvPr id="32" name="TextBox 32"/>
            <p:cNvSpPr txBox="1"/>
            <p:nvPr/>
          </p:nvSpPr>
          <p:spPr>
            <a:xfrm>
              <a:off x="4522788" y="4280297"/>
              <a:ext cx="2451801"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colon-cancer · madelon · news20 · rcv1</a:t>
              </a:r>
            </a:p>
          </p:txBody>
        </p:sp>
        <p:sp>
          <p:nvSpPr>
            <p:cNvPr id="33" name="Rectangle 33"/>
            <p:cNvSpPr/>
            <p:nvPr/>
          </p:nvSpPr>
          <p:spPr>
            <a:xfrm>
              <a:off x="4527550" y="4572000"/>
              <a:ext cx="3136900" cy="400050"/>
            </a:xfrm>
            <a:prstGeom prst="roundRect">
              <a:avLst>
                <a:gd name="adj" fmla="val 23810"/>
              </a:avLst>
            </a:prstGeom>
            <a:solidFill>
              <a:srgbClr val="332A18"/>
            </a:solidFill>
            <a:ln w="10478">
              <a:solidFill>
                <a:srgbClr val="F7B84B"/>
              </a:solidFill>
            </a:ln>
          </p:spPr>
        </p:sp>
        <p:sp>
          <p:nvSpPr>
            <p:cNvPr id="34" name="TextBox 34"/>
            <p:cNvSpPr txBox="1"/>
            <p:nvPr/>
          </p:nvSpPr>
          <p:spPr>
            <a:xfrm>
              <a:off x="4655566" y="4715828"/>
              <a:ext cx="1865900" cy="205359"/>
            </a:xfrm>
            <a:prstGeom prst="rect">
              <a:avLst/>
            </a:prstGeom>
            <a:noFill/>
            <a:ln>
              <a:noFill/>
            </a:ln>
          </p:spPr>
          <p:txBody>
            <a:bodyPr wrap="none" lIns="0" tIns="0" rIns="0" bIns="0" anchor="t" anchorCtr="0">
              <a:spAutoFit/>
            </a:bodyPr>
            <a:lstStyle/>
            <a:p>
              <a:pPr algn="l"/>
              <a:r>
                <a:rPr lang="en-US" sz="1050" b="1" dirty="0">
                  <a:solidFill>
                    <a:srgbClr val="F7B84B"/>
                  </a:solidFill>
                  <a:latin typeface="+mn-lt"/>
                  <a:ea typeface="+mn-ea"/>
                  <a:cs typeface="+mn-cs"/>
                </a:rPr>
                <a:t>up to millions of features</a:t>
              </a:r>
            </a:p>
          </p:txBody>
        </p:sp>
      </p:grpSp>
      <p:grpSp>
        <p:nvGrpSpPr>
          <p:cNvPr id="49" name="Group 49"/>
          <p:cNvGrpSpPr/>
          <p:nvPr/>
        </p:nvGrpSpPr>
        <p:grpSpPr>
          <a:xfrm>
            <a:off x="8102600" y="2286000"/>
            <a:ext cx="3556000" cy="2857500"/>
            <a:chOff x="8102600" y="2286000"/>
            <a:chExt cx="3556000" cy="2857500"/>
          </a:xfrm>
        </p:grpSpPr>
        <p:sp>
          <p:nvSpPr>
            <p:cNvPr id="36" name="Rectangle 36"/>
            <p:cNvSpPr/>
            <p:nvPr/>
          </p:nvSpPr>
          <p:spPr>
            <a:xfrm>
              <a:off x="8102600" y="2286000"/>
              <a:ext cx="3556000" cy="2857500"/>
            </a:xfrm>
            <a:prstGeom prst="roundRect">
              <a:avLst>
                <a:gd name="adj" fmla="val 4667"/>
              </a:avLst>
            </a:prstGeom>
            <a:solidFill>
              <a:schemeClr val="accent5"/>
            </a:solidFill>
            <a:ln w="11430">
              <a:solidFill>
                <a:schemeClr val="accent4"/>
              </a:solidFill>
            </a:ln>
          </p:spPr>
        </p:sp>
        <p:sp>
          <p:nvSpPr>
            <p:cNvPr id="37" name="Rectangle 37"/>
            <p:cNvSpPr/>
            <p:nvPr/>
          </p:nvSpPr>
          <p:spPr>
            <a:xfrm>
              <a:off x="8312150" y="2533650"/>
              <a:ext cx="47625" cy="285750"/>
            </a:xfrm>
            <a:prstGeom prst="roundRect">
              <a:avLst>
                <a:gd name="adj" fmla="val 50000"/>
              </a:avLst>
            </a:prstGeom>
            <a:solidFill>
              <a:srgbClr val="F2708A"/>
            </a:solidFill>
            <a:ln>
              <a:noFill/>
            </a:ln>
          </p:spPr>
        </p:sp>
        <p:sp>
          <p:nvSpPr>
            <p:cNvPr id="38" name="TextBox 38"/>
            <p:cNvSpPr txBox="1"/>
            <p:nvPr/>
          </p:nvSpPr>
          <p:spPr>
            <a:xfrm>
              <a:off x="8304911" y="2875121"/>
              <a:ext cx="91329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Baselines</a:t>
              </a:r>
            </a:p>
          </p:txBody>
        </p:sp>
        <p:sp>
          <p:nvSpPr>
            <p:cNvPr id="39" name="TextBox 39"/>
            <p:cNvSpPr txBox="1"/>
            <p:nvPr/>
          </p:nvSpPr>
          <p:spPr>
            <a:xfrm>
              <a:off x="8307006" y="3148251"/>
              <a:ext cx="2337349" cy="198025"/>
            </a:xfrm>
            <a:prstGeom prst="rect">
              <a:avLst/>
            </a:prstGeom>
            <a:noFill/>
            <a:ln>
              <a:noFill/>
            </a:ln>
          </p:spPr>
          <p:txBody>
            <a:bodyPr wrap="none" lIns="0" tIns="0" rIns="0" bIns="0" anchor="t" anchorCtr="0">
              <a:spAutoFit/>
            </a:bodyPr>
            <a:lstStyle/>
            <a:p>
              <a:pPr algn="l"/>
              <a:r>
                <a:rPr lang="en-US" sz="1010" b="1" dirty="0">
                  <a:solidFill>
                    <a:srgbClr val="F2708A"/>
                  </a:solidFill>
                  <a:latin typeface="+mn-lt"/>
                  <a:ea typeface="+mn-ea"/>
                  <a:cs typeface="+mn-cs"/>
                </a:rPr>
                <a:t>strong state-of-the-art solvers</a:t>
              </a:r>
            </a:p>
          </p:txBody>
        </p:sp>
        <p:sp>
          <p:nvSpPr>
            <p:cNvPr id="40" name="Rectangle 40"/>
            <p:cNvSpPr/>
            <p:nvPr/>
          </p:nvSpPr>
          <p:spPr>
            <a:xfrm>
              <a:off x="8312150" y="3619500"/>
              <a:ext cx="3136900" cy="419100"/>
            </a:xfrm>
            <a:prstGeom prst="roundRect">
              <a:avLst>
                <a:gd name="adj" fmla="val 22727"/>
              </a:avLst>
            </a:prstGeom>
            <a:solidFill>
              <a:schemeClr val="accent6"/>
            </a:solidFill>
            <a:ln w="11430">
              <a:solidFill>
                <a:schemeClr val="accent4"/>
              </a:solidFill>
            </a:ln>
          </p:spPr>
        </p:sp>
        <p:sp>
          <p:nvSpPr>
            <p:cNvPr id="41" name="TextBox 41"/>
            <p:cNvSpPr txBox="1"/>
            <p:nvPr/>
          </p:nvSpPr>
          <p:spPr>
            <a:xfrm>
              <a:off x="8439785" y="3688556"/>
              <a:ext cx="966685"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Working-set</a:t>
              </a:r>
            </a:p>
          </p:txBody>
        </p:sp>
        <p:sp>
          <p:nvSpPr>
            <p:cNvPr id="42" name="TextBox 42"/>
            <p:cNvSpPr txBox="1"/>
            <p:nvPr/>
          </p:nvSpPr>
          <p:spPr>
            <a:xfrm>
              <a:off x="8440738" y="3888343"/>
              <a:ext cx="2151329" cy="169069"/>
            </a:xfrm>
            <a:prstGeom prst="rect">
              <a:avLst/>
            </a:prstGeom>
            <a:noFill/>
            <a:ln>
              <a:noFill/>
            </a:ln>
          </p:spPr>
          <p:txBody>
            <a:bodyPr wrap="none" lIns="0" tIns="0" rIns="0" bIns="0" anchor="t" anchorCtr="0">
              <a:spAutoFit/>
            </a:bodyPr>
            <a:lstStyle/>
            <a:p>
              <a:pPr algn="l"/>
              <a:r>
                <a:rPr lang="en-US" sz="860" dirty="0">
                  <a:solidFill>
                    <a:schemeClr val="dk2"/>
                  </a:solidFill>
                  <a:latin typeface="+mn-lt"/>
                  <a:ea typeface="+mn-ea"/>
                  <a:cs typeface="+mn-cs"/>
                </a:rPr>
                <a:t>the strong-rule working set strategy</a:t>
              </a:r>
            </a:p>
          </p:txBody>
        </p:sp>
        <p:sp>
          <p:nvSpPr>
            <p:cNvPr id="43" name="Rectangle 43"/>
            <p:cNvSpPr/>
            <p:nvPr/>
          </p:nvSpPr>
          <p:spPr>
            <a:xfrm>
              <a:off x="8312150" y="4133850"/>
              <a:ext cx="3136900" cy="419100"/>
            </a:xfrm>
            <a:prstGeom prst="roundRect">
              <a:avLst>
                <a:gd name="adj" fmla="val 22727"/>
              </a:avLst>
            </a:prstGeom>
            <a:solidFill>
              <a:schemeClr val="accent6"/>
            </a:solidFill>
            <a:ln w="11430">
              <a:solidFill>
                <a:schemeClr val="accent4"/>
              </a:solidFill>
            </a:ln>
          </p:spPr>
        </p:sp>
        <p:sp>
          <p:nvSpPr>
            <p:cNvPr id="44" name="TextBox 44"/>
            <p:cNvSpPr txBox="1"/>
            <p:nvPr/>
          </p:nvSpPr>
          <p:spPr>
            <a:xfrm>
              <a:off x="8439785" y="4202906"/>
              <a:ext cx="41169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Celer</a:t>
              </a:r>
            </a:p>
          </p:txBody>
        </p:sp>
        <p:sp>
          <p:nvSpPr>
            <p:cNvPr id="45" name="TextBox 45"/>
            <p:cNvSpPr txBox="1"/>
            <p:nvPr/>
          </p:nvSpPr>
          <p:spPr>
            <a:xfrm>
              <a:off x="8440738" y="4402693"/>
              <a:ext cx="1937149" cy="169069"/>
            </a:xfrm>
            <a:prstGeom prst="rect">
              <a:avLst/>
            </a:prstGeom>
            <a:noFill/>
            <a:ln>
              <a:noFill/>
            </a:ln>
          </p:spPr>
          <p:txBody>
            <a:bodyPr wrap="none" lIns="0" tIns="0" rIns="0" bIns="0" anchor="t" anchorCtr="0">
              <a:spAutoFit/>
            </a:bodyPr>
            <a:lstStyle/>
            <a:p>
              <a:pPr algn="l"/>
              <a:r>
                <a:rPr lang="en-US" sz="860" dirty="0">
                  <a:solidFill>
                    <a:schemeClr val="dk2"/>
                  </a:solidFill>
                  <a:latin typeface="+mn-lt"/>
                  <a:ea typeface="+mn-ea"/>
                  <a:cs typeface="+mn-cs"/>
                </a:rPr>
                <a:t>dual-extrapolation safe screening</a:t>
              </a:r>
            </a:p>
          </p:txBody>
        </p:sp>
        <p:sp>
          <p:nvSpPr>
            <p:cNvPr id="46" name="Rectangle 46"/>
            <p:cNvSpPr/>
            <p:nvPr/>
          </p:nvSpPr>
          <p:spPr>
            <a:xfrm>
              <a:off x="8312150" y="4648200"/>
              <a:ext cx="3136900" cy="419100"/>
            </a:xfrm>
            <a:prstGeom prst="roundRect">
              <a:avLst>
                <a:gd name="adj" fmla="val 22727"/>
              </a:avLst>
            </a:prstGeom>
            <a:solidFill>
              <a:schemeClr val="accent6"/>
            </a:solidFill>
            <a:ln w="11430">
              <a:solidFill>
                <a:schemeClr val="accent4"/>
              </a:solidFill>
            </a:ln>
          </p:spPr>
        </p:sp>
        <p:sp>
          <p:nvSpPr>
            <p:cNvPr id="47" name="TextBox 47"/>
            <p:cNvSpPr txBox="1"/>
            <p:nvPr/>
          </p:nvSpPr>
          <p:spPr>
            <a:xfrm>
              <a:off x="8439785" y="4717256"/>
              <a:ext cx="37166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Blitz</a:t>
              </a:r>
            </a:p>
          </p:txBody>
        </p:sp>
        <p:sp>
          <p:nvSpPr>
            <p:cNvPr id="48" name="TextBox 48"/>
            <p:cNvSpPr txBox="1"/>
            <p:nvPr/>
          </p:nvSpPr>
          <p:spPr>
            <a:xfrm>
              <a:off x="8440738" y="4917043"/>
              <a:ext cx="1694025" cy="169069"/>
            </a:xfrm>
            <a:prstGeom prst="rect">
              <a:avLst/>
            </a:prstGeom>
            <a:noFill/>
            <a:ln>
              <a:noFill/>
            </a:ln>
          </p:spPr>
          <p:txBody>
            <a:bodyPr wrap="none" lIns="0" tIns="0" rIns="0" bIns="0" anchor="t" anchorCtr="0">
              <a:spAutoFit/>
            </a:bodyPr>
            <a:lstStyle/>
            <a:p>
              <a:pPr algn="l"/>
              <a:r>
                <a:rPr lang="en-US" sz="860" dirty="0">
                  <a:solidFill>
                    <a:schemeClr val="dk2"/>
                  </a:solidFill>
                  <a:latin typeface="+mn-lt"/>
                  <a:ea typeface="+mn-ea"/>
                  <a:cs typeface="+mn-cs"/>
                </a:rPr>
                <a:t>working-set with safe bounds</a:t>
              </a:r>
            </a:p>
          </p:txBody>
        </p:sp>
      </p:grpSp>
      <p:sp>
        <p:nvSpPr>
          <p:cNvPr id="50" name="cue_s06_c1_experiments_cover_both_simulated_rea" title="cue_s06_c1_experiments_cover_both_simulated_rea" descr="cue_s06_c1_experiments_cover_both_simulated_rea The experiments cover both simulated and real data."/>
          <p:cNvSpPr/>
          <p:nvPr/>
        </p:nvSpPr>
        <p:spPr>
          <a:xfrm>
            <a:off x="532790" y="1523847"/>
            <a:ext cx="1112520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2_simulated_gaussian_designs_they_swee" title="cue_s06_c2_simulated_gaussian_designs_they_swee" descr="cue_s06_c2_simulated_gaussian_designs_they_swee On simulated Gaussian designs, they sweep a low-dimensional regime with ten thousand observations and a hundred predictors and a high-dimensional regime with four hundred observations and forty thousand predictors, each at three correlation levels, zero, point"/>
          <p:cNvSpPr/>
          <p:nvPr/>
        </p:nvSpPr>
        <p:spPr>
          <a:xfrm>
            <a:off x="532790" y="2285771"/>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3_they_test_twelve_real_sets" title="cue_s06_c3_they_test_twelve_real_sets" descr="cue_s06_c3_they_test_twelve_real_sets They then test twelve real data sets for both ℓ1-regularized least-squares and logistic regression, ranging from small gene-expression matrices up to problems with millions of features such as news20 and rcv1."/>
          <p:cNvSpPr/>
          <p:nvPr/>
        </p:nvSpPr>
        <p:spPr>
          <a:xfrm>
            <a:off x="4318406" y="2285771"/>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4_baselines_working_set_strategy_celer" title="cue_s06_c4_baselines_working_set_strategy_celer" descr="cue_s06_c4_baselines_working_set_strategy_celer Baselines are the working-set strategy, Celer, and Blitz."/>
          <p:cNvSpPr/>
          <p:nvPr/>
        </p:nvSpPr>
        <p:spPr>
          <a:xfrm>
            <a:off x="8102803" y="2285771"/>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77656"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KEY RESULT</a:t>
            </a:r>
          </a:p>
        </p:txBody>
      </p:sp>
      <p:sp>
        <p:nvSpPr>
          <p:cNvPr id="5" name="TextBox 5"/>
          <p:cNvSpPr txBox="1"/>
          <p:nvPr/>
        </p:nvSpPr>
        <p:spPr>
          <a:xfrm>
            <a:off x="518922" y="797242"/>
            <a:ext cx="7556291"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Fastest everywhere, by a wide margin</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07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723900"/>
            <a:chOff x="533400" y="1524000"/>
            <a:chExt cx="11125200" cy="723900"/>
          </a:xfrm>
        </p:grpSpPr>
        <p:sp>
          <p:nvSpPr>
            <p:cNvPr id="8" name="Rectangle 8"/>
            <p:cNvSpPr/>
            <p:nvPr/>
          </p:nvSpPr>
          <p:spPr>
            <a:xfrm>
              <a:off x="533400" y="1524000"/>
              <a:ext cx="11125200" cy="723900"/>
            </a:xfrm>
            <a:prstGeom prst="roundRect">
              <a:avLst>
                <a:gd name="adj" fmla="val 15789"/>
              </a:avLst>
            </a:prstGeom>
            <a:solidFill>
              <a:schemeClr val="accent6"/>
            </a:solidFill>
            <a:ln w="12382">
              <a:solidFill>
                <a:srgbClr val="57D9A3"/>
              </a:solidFill>
            </a:ln>
          </p:spPr>
        </p:sp>
        <p:sp>
          <p:nvSpPr>
            <p:cNvPr id="9" name="Rectangle 9"/>
            <p:cNvSpPr/>
            <p:nvPr/>
          </p:nvSpPr>
          <p:spPr>
            <a:xfrm>
              <a:off x="723900" y="1695450"/>
              <a:ext cx="47625" cy="381000"/>
            </a:xfrm>
            <a:prstGeom prst="roundRect">
              <a:avLst>
                <a:gd name="adj" fmla="val 50000"/>
              </a:avLst>
            </a:prstGeom>
            <a:solidFill>
              <a:srgbClr val="57D9A3"/>
            </a:solidFill>
            <a:ln>
              <a:noFill/>
            </a:ln>
          </p:spPr>
        </p:sp>
        <p:sp>
          <p:nvSpPr>
            <p:cNvPr id="10" name="TextBox 10"/>
            <p:cNvSpPr txBox="1"/>
            <p:nvPr/>
          </p:nvSpPr>
          <p:spPr>
            <a:xfrm>
              <a:off x="907542" y="1721168"/>
              <a:ext cx="711536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Across every simulated configuration, the Hessian rule takes the least time</a:t>
              </a:r>
            </a:p>
          </p:txBody>
        </p:sp>
        <p:sp>
          <p:nvSpPr>
            <p:cNvPr id="11" name="TextBox 11"/>
            <p:cNvSpPr txBox="1"/>
            <p:nvPr/>
          </p:nvSpPr>
          <p:spPr>
            <a:xfrm>
              <a:off x="909066" y="2001202"/>
              <a:ext cx="6548505" cy="205359"/>
            </a:xfrm>
            <a:prstGeom prst="rect">
              <a:avLst/>
            </a:prstGeom>
            <a:noFill/>
            <a:ln>
              <a:noFill/>
            </a:ln>
          </p:spPr>
          <p:txBody>
            <a:bodyPr wrap="none" lIns="0" tIns="0" rIns="0" bIns="0" anchor="t" anchorCtr="0">
              <a:spAutoFit/>
            </a:bodyPr>
            <a:lstStyle/>
            <a:p>
              <a:pPr algn="l"/>
              <a:r>
                <a:rPr lang="en-US" sz="1050" b="1" dirty="0">
                  <a:solidFill>
                    <a:srgbClr val="57D9A3"/>
                  </a:solidFill>
                  <a:latin typeface="+mn-lt"/>
                  <a:ea typeface="+mn-ea"/>
                  <a:cs typeface="+mn-cs"/>
                </a:rPr>
                <a:t>the advantage is largest exactly where rivals struggle: high-correlation, low-dimensional</a:t>
              </a:r>
            </a:p>
          </p:txBody>
        </p:sp>
      </p:grpSp>
      <p:grpSp>
        <p:nvGrpSpPr>
          <p:cNvPr id="35" name="Group 35"/>
          <p:cNvGrpSpPr/>
          <p:nvPr/>
        </p:nvGrpSpPr>
        <p:grpSpPr>
          <a:xfrm>
            <a:off x="533400" y="2438400"/>
            <a:ext cx="6667500" cy="2857500"/>
            <a:chOff x="533400" y="2438400"/>
            <a:chExt cx="6667500" cy="2857500"/>
          </a:xfrm>
        </p:grpSpPr>
        <p:sp>
          <p:nvSpPr>
            <p:cNvPr id="13" name="Rectangle 13"/>
            <p:cNvSpPr/>
            <p:nvPr/>
          </p:nvSpPr>
          <p:spPr>
            <a:xfrm>
              <a:off x="533400" y="2438400"/>
              <a:ext cx="6667500" cy="2857500"/>
            </a:xfrm>
            <a:prstGeom prst="roundRect">
              <a:avLst>
                <a:gd name="adj" fmla="val 4667"/>
              </a:avLst>
            </a:prstGeom>
            <a:solidFill>
              <a:schemeClr val="accent5"/>
            </a:solidFill>
            <a:ln w="11430">
              <a:solidFill>
                <a:schemeClr val="accent4"/>
              </a:solidFill>
            </a:ln>
          </p:spPr>
        </p:sp>
        <p:sp>
          <p:nvSpPr>
            <p:cNvPr id="14" name="TextBox 14"/>
            <p:cNvSpPr txBox="1"/>
            <p:nvPr/>
          </p:nvSpPr>
          <p:spPr>
            <a:xfrm>
              <a:off x="755523" y="2681764"/>
              <a:ext cx="488399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Full-path fit time · Hessian vs. working-set runner-up</a:t>
              </a:r>
            </a:p>
          </p:txBody>
        </p:sp>
        <p:sp>
          <p:nvSpPr>
            <p:cNvPr id="15" name="TextBox 15"/>
            <p:cNvSpPr txBox="1"/>
            <p:nvPr/>
          </p:nvSpPr>
          <p:spPr>
            <a:xfrm>
              <a:off x="5977656" y="2718197"/>
              <a:ext cx="999406" cy="183356"/>
            </a:xfrm>
            <a:prstGeom prst="rect">
              <a:avLst/>
            </a:prstGeom>
            <a:noFill/>
            <a:ln>
              <a:noFill/>
            </a:ln>
          </p:spPr>
          <p:txBody>
            <a:bodyPr wrap="none" lIns="0" tIns="0" rIns="0" bIns="0" anchor="t" anchorCtr="0">
              <a:spAutoFit/>
            </a:bodyPr>
            <a:lstStyle/>
            <a:p>
              <a:pPr algn="r"/>
              <a:r>
                <a:rPr lang="en-US" sz="940" b="1" dirty="0">
                  <a:solidFill>
                    <a:srgbClr val="6E85AC"/>
                  </a:solidFill>
                  <a:latin typeface="+mn-lt"/>
                  <a:ea typeface="+mn-ea"/>
                  <a:cs typeface="+mn-cs"/>
                </a:rPr>
                <a:t>lower is better</a:t>
              </a:r>
            </a:p>
          </p:txBody>
        </p:sp>
        <p:sp>
          <p:nvSpPr>
            <p:cNvPr id="16" name="TextBox 16"/>
            <p:cNvSpPr txBox="1"/>
            <p:nvPr/>
          </p:nvSpPr>
          <p:spPr>
            <a:xfrm>
              <a:off x="756476" y="3178254"/>
              <a:ext cx="142861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YearPredictionMSD</a:t>
              </a:r>
            </a:p>
          </p:txBody>
        </p:sp>
        <p:sp>
          <p:nvSpPr>
            <p:cNvPr id="17" name="Rectangle 17"/>
            <p:cNvSpPr/>
            <p:nvPr/>
          </p:nvSpPr>
          <p:spPr>
            <a:xfrm>
              <a:off x="2628900" y="3181350"/>
              <a:ext cx="3905250" cy="209550"/>
            </a:xfrm>
            <a:prstGeom prst="roundRect">
              <a:avLst>
                <a:gd name="adj" fmla="val 27273"/>
              </a:avLst>
            </a:prstGeom>
            <a:solidFill>
              <a:schemeClr val="lt2"/>
            </a:solidFill>
            <a:ln>
              <a:noFill/>
            </a:ln>
          </p:spPr>
        </p:sp>
        <p:sp>
          <p:nvSpPr>
            <p:cNvPr id="18" name="Rectangle 18"/>
            <p:cNvSpPr/>
            <p:nvPr/>
          </p:nvSpPr>
          <p:spPr>
            <a:xfrm>
              <a:off x="2628900" y="3181350"/>
              <a:ext cx="3905250" cy="209550"/>
            </a:xfrm>
            <a:prstGeom prst="roundRect">
              <a:avLst>
                <a:gd name="adj" fmla="val 27273"/>
              </a:avLst>
            </a:prstGeom>
            <a:solidFill>
              <a:srgbClr val="F2708A"/>
            </a:solidFill>
            <a:ln>
              <a:noFill/>
            </a:ln>
          </p:spPr>
        </p:sp>
        <p:sp>
          <p:nvSpPr>
            <p:cNvPr id="19" name="TextBox 19"/>
            <p:cNvSpPr txBox="1"/>
            <p:nvPr/>
          </p:nvSpPr>
          <p:spPr>
            <a:xfrm>
              <a:off x="6138725" y="3224451"/>
              <a:ext cx="324369" cy="198025"/>
            </a:xfrm>
            <a:prstGeom prst="rect">
              <a:avLst/>
            </a:prstGeom>
            <a:noFill/>
            <a:ln>
              <a:noFill/>
            </a:ln>
          </p:spPr>
          <p:txBody>
            <a:bodyPr wrap="none" lIns="0" tIns="0" rIns="0" bIns="0" anchor="t" anchorCtr="0">
              <a:spAutoFit/>
            </a:bodyPr>
            <a:lstStyle/>
            <a:p>
              <a:pPr algn="r"/>
              <a:r>
                <a:rPr lang="en-US" sz="1010" b="1" dirty="0">
                  <a:solidFill>
                    <a:srgbClr val="0B1220"/>
                  </a:solidFill>
                  <a:latin typeface="+mn-lt"/>
                  <a:ea typeface="+mn-ea"/>
                  <a:cs typeface="+mn-cs"/>
                </a:rPr>
                <a:t>541s</a:t>
              </a:r>
            </a:p>
          </p:txBody>
        </p:sp>
        <p:sp>
          <p:nvSpPr>
            <p:cNvPr id="20" name="TextBox 20"/>
            <p:cNvSpPr txBox="1"/>
            <p:nvPr/>
          </p:nvSpPr>
          <p:spPr>
            <a:xfrm>
              <a:off x="757238" y="3412093"/>
              <a:ext cx="738896" cy="169069"/>
            </a:xfrm>
            <a:prstGeom prst="rect">
              <a:avLst/>
            </a:prstGeom>
            <a:noFill/>
            <a:ln>
              <a:noFill/>
            </a:ln>
          </p:spPr>
          <p:txBody>
            <a:bodyPr wrap="none" lIns="0" tIns="0" rIns="0" bIns="0" anchor="t" anchorCtr="0">
              <a:spAutoFit/>
            </a:bodyPr>
            <a:lstStyle/>
            <a:p>
              <a:pPr algn="l"/>
              <a:r>
                <a:rPr lang="en-US" sz="860" b="1" dirty="0">
                  <a:solidFill>
                    <a:srgbClr val="F2708A"/>
                  </a:solidFill>
                  <a:latin typeface="+mn-lt"/>
                  <a:ea typeface="+mn-ea"/>
                  <a:cs typeface="+mn-cs"/>
                </a:rPr>
                <a:t>working-set</a:t>
              </a:r>
            </a:p>
          </p:txBody>
        </p:sp>
        <p:sp>
          <p:nvSpPr>
            <p:cNvPr id="21" name="Rectangle 21"/>
            <p:cNvSpPr/>
            <p:nvPr/>
          </p:nvSpPr>
          <p:spPr>
            <a:xfrm>
              <a:off x="2628900" y="3562350"/>
              <a:ext cx="3905250" cy="209550"/>
            </a:xfrm>
            <a:prstGeom prst="roundRect">
              <a:avLst>
                <a:gd name="adj" fmla="val 27273"/>
              </a:avLst>
            </a:prstGeom>
            <a:solidFill>
              <a:schemeClr val="lt2"/>
            </a:solidFill>
            <a:ln>
              <a:noFill/>
            </a:ln>
          </p:spPr>
        </p:sp>
        <p:sp>
          <p:nvSpPr>
            <p:cNvPr id="22" name="Rectangle 22"/>
            <p:cNvSpPr/>
            <p:nvPr/>
          </p:nvSpPr>
          <p:spPr>
            <a:xfrm>
              <a:off x="2628900" y="3562350"/>
              <a:ext cx="568824" cy="209550"/>
            </a:xfrm>
            <a:prstGeom prst="roundRect">
              <a:avLst>
                <a:gd name="adj" fmla="val 27273"/>
              </a:avLst>
            </a:prstGeom>
            <a:solidFill>
              <a:srgbClr val="57D9A3"/>
            </a:solidFill>
            <a:ln>
              <a:noFill/>
            </a:ln>
          </p:spPr>
        </p:sp>
        <p:sp>
          <p:nvSpPr>
            <p:cNvPr id="23" name="TextBox 23"/>
            <p:cNvSpPr txBox="1"/>
            <p:nvPr/>
          </p:nvSpPr>
          <p:spPr>
            <a:xfrm>
              <a:off x="3268780" y="3605451"/>
              <a:ext cx="402889" cy="198025"/>
            </a:xfrm>
            <a:prstGeom prst="rect">
              <a:avLst/>
            </a:prstGeom>
            <a:noFill/>
            <a:ln>
              <a:noFill/>
            </a:ln>
          </p:spPr>
          <p:txBody>
            <a:bodyPr wrap="none" lIns="0" tIns="0" rIns="0" bIns="0" anchor="t" anchorCtr="0">
              <a:spAutoFit/>
            </a:bodyPr>
            <a:lstStyle/>
            <a:p>
              <a:pPr algn="l"/>
              <a:r>
                <a:rPr lang="en-US" sz="1010" b="1" dirty="0">
                  <a:solidFill>
                    <a:srgbClr val="57D9A3"/>
                  </a:solidFill>
                  <a:latin typeface="+mn-lt"/>
                  <a:ea typeface="+mn-ea"/>
                  <a:cs typeface="+mn-cs"/>
                </a:rPr>
                <a:t>78.8s</a:t>
              </a:r>
            </a:p>
          </p:txBody>
        </p:sp>
        <p:sp>
          <p:nvSpPr>
            <p:cNvPr id="24" name="TextBox 24"/>
            <p:cNvSpPr txBox="1"/>
            <p:nvPr/>
          </p:nvSpPr>
          <p:spPr>
            <a:xfrm>
              <a:off x="757238" y="3793093"/>
              <a:ext cx="724321" cy="169069"/>
            </a:xfrm>
            <a:prstGeom prst="rect">
              <a:avLst/>
            </a:prstGeom>
            <a:noFill/>
            <a:ln>
              <a:noFill/>
            </a:ln>
          </p:spPr>
          <p:txBody>
            <a:bodyPr wrap="none" lIns="0" tIns="0" rIns="0" bIns="0" anchor="t" anchorCtr="0">
              <a:spAutoFit/>
            </a:bodyPr>
            <a:lstStyle/>
            <a:p>
              <a:pPr algn="l"/>
              <a:r>
                <a:rPr lang="en-US" sz="860" b="1" dirty="0">
                  <a:solidFill>
                    <a:srgbClr val="57D9A3"/>
                  </a:solidFill>
                  <a:latin typeface="+mn-lt"/>
                  <a:ea typeface="+mn-ea"/>
                  <a:cs typeface="+mn-cs"/>
                </a:rPr>
                <a:t>Hessian rule</a:t>
              </a:r>
            </a:p>
          </p:txBody>
        </p:sp>
        <p:sp>
          <p:nvSpPr>
            <p:cNvPr id="25" name="TextBox 25"/>
            <p:cNvSpPr txBox="1"/>
            <p:nvPr/>
          </p:nvSpPr>
          <p:spPr>
            <a:xfrm>
              <a:off x="756476" y="4226004"/>
              <a:ext cx="90467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e2006-tfidf</a:t>
              </a:r>
            </a:p>
          </p:txBody>
        </p:sp>
        <p:sp>
          <p:nvSpPr>
            <p:cNvPr id="26" name="Rectangle 26"/>
            <p:cNvSpPr/>
            <p:nvPr/>
          </p:nvSpPr>
          <p:spPr>
            <a:xfrm>
              <a:off x="2628900" y="4229100"/>
              <a:ext cx="3905250" cy="209550"/>
            </a:xfrm>
            <a:prstGeom prst="roundRect">
              <a:avLst>
                <a:gd name="adj" fmla="val 27273"/>
              </a:avLst>
            </a:prstGeom>
            <a:solidFill>
              <a:schemeClr val="lt2"/>
            </a:solidFill>
            <a:ln>
              <a:noFill/>
            </a:ln>
          </p:spPr>
        </p:sp>
        <p:sp>
          <p:nvSpPr>
            <p:cNvPr id="27" name="Rectangle 27"/>
            <p:cNvSpPr/>
            <p:nvPr/>
          </p:nvSpPr>
          <p:spPr>
            <a:xfrm>
              <a:off x="2628900" y="4229100"/>
              <a:ext cx="3905250" cy="209550"/>
            </a:xfrm>
            <a:prstGeom prst="roundRect">
              <a:avLst>
                <a:gd name="adj" fmla="val 27273"/>
              </a:avLst>
            </a:prstGeom>
            <a:solidFill>
              <a:srgbClr val="F2708A"/>
            </a:solidFill>
            <a:ln>
              <a:noFill/>
            </a:ln>
          </p:spPr>
        </p:sp>
        <p:sp>
          <p:nvSpPr>
            <p:cNvPr id="28" name="TextBox 28"/>
            <p:cNvSpPr txBox="1"/>
            <p:nvPr/>
          </p:nvSpPr>
          <p:spPr>
            <a:xfrm>
              <a:off x="6138725" y="4272201"/>
              <a:ext cx="324369" cy="198025"/>
            </a:xfrm>
            <a:prstGeom prst="rect">
              <a:avLst/>
            </a:prstGeom>
            <a:noFill/>
            <a:ln>
              <a:noFill/>
            </a:ln>
          </p:spPr>
          <p:txBody>
            <a:bodyPr wrap="none" lIns="0" tIns="0" rIns="0" bIns="0" anchor="t" anchorCtr="0">
              <a:spAutoFit/>
            </a:bodyPr>
            <a:lstStyle/>
            <a:p>
              <a:pPr algn="r"/>
              <a:r>
                <a:rPr lang="en-US" sz="1010" b="1" dirty="0">
                  <a:solidFill>
                    <a:srgbClr val="0B1220"/>
                  </a:solidFill>
                  <a:latin typeface="+mn-lt"/>
                  <a:ea typeface="+mn-ea"/>
                  <a:cs typeface="+mn-cs"/>
                </a:rPr>
                <a:t>143s</a:t>
              </a:r>
            </a:p>
          </p:txBody>
        </p:sp>
        <p:sp>
          <p:nvSpPr>
            <p:cNvPr id="29" name="TextBox 29"/>
            <p:cNvSpPr txBox="1"/>
            <p:nvPr/>
          </p:nvSpPr>
          <p:spPr>
            <a:xfrm>
              <a:off x="757238" y="4459843"/>
              <a:ext cx="738896" cy="169069"/>
            </a:xfrm>
            <a:prstGeom prst="rect">
              <a:avLst/>
            </a:prstGeom>
            <a:noFill/>
            <a:ln>
              <a:noFill/>
            </a:ln>
          </p:spPr>
          <p:txBody>
            <a:bodyPr wrap="none" lIns="0" tIns="0" rIns="0" bIns="0" anchor="t" anchorCtr="0">
              <a:spAutoFit/>
            </a:bodyPr>
            <a:lstStyle/>
            <a:p>
              <a:pPr algn="l"/>
              <a:r>
                <a:rPr lang="en-US" sz="860" b="1" dirty="0">
                  <a:solidFill>
                    <a:srgbClr val="F2708A"/>
                  </a:solidFill>
                  <a:latin typeface="+mn-lt"/>
                  <a:ea typeface="+mn-ea"/>
                  <a:cs typeface="+mn-cs"/>
                </a:rPr>
                <a:t>working-set</a:t>
              </a:r>
            </a:p>
          </p:txBody>
        </p:sp>
        <p:sp>
          <p:nvSpPr>
            <p:cNvPr id="30" name="Rectangle 30"/>
            <p:cNvSpPr/>
            <p:nvPr/>
          </p:nvSpPr>
          <p:spPr>
            <a:xfrm>
              <a:off x="2628900" y="4610100"/>
              <a:ext cx="3905250" cy="209550"/>
            </a:xfrm>
            <a:prstGeom prst="roundRect">
              <a:avLst>
                <a:gd name="adj" fmla="val 27273"/>
              </a:avLst>
            </a:prstGeom>
            <a:solidFill>
              <a:schemeClr val="lt2"/>
            </a:solidFill>
            <a:ln>
              <a:noFill/>
            </a:ln>
          </p:spPr>
        </p:sp>
        <p:sp>
          <p:nvSpPr>
            <p:cNvPr id="31" name="Rectangle 31"/>
            <p:cNvSpPr/>
            <p:nvPr/>
          </p:nvSpPr>
          <p:spPr>
            <a:xfrm>
              <a:off x="2628900" y="4610100"/>
              <a:ext cx="390525" cy="209550"/>
            </a:xfrm>
            <a:prstGeom prst="roundRect">
              <a:avLst>
                <a:gd name="adj" fmla="val 27273"/>
              </a:avLst>
            </a:prstGeom>
            <a:solidFill>
              <a:srgbClr val="57D9A3"/>
            </a:solidFill>
            <a:ln>
              <a:noFill/>
            </a:ln>
          </p:spPr>
        </p:sp>
        <p:sp>
          <p:nvSpPr>
            <p:cNvPr id="32" name="TextBox 32"/>
            <p:cNvSpPr txBox="1"/>
            <p:nvPr/>
          </p:nvSpPr>
          <p:spPr>
            <a:xfrm>
              <a:off x="3090482" y="4653201"/>
              <a:ext cx="402889" cy="198025"/>
            </a:xfrm>
            <a:prstGeom prst="rect">
              <a:avLst/>
            </a:prstGeom>
            <a:noFill/>
            <a:ln>
              <a:noFill/>
            </a:ln>
          </p:spPr>
          <p:txBody>
            <a:bodyPr wrap="none" lIns="0" tIns="0" rIns="0" bIns="0" anchor="t" anchorCtr="0">
              <a:spAutoFit/>
            </a:bodyPr>
            <a:lstStyle/>
            <a:p>
              <a:pPr algn="l"/>
              <a:r>
                <a:rPr lang="en-US" sz="1010" b="1" dirty="0">
                  <a:solidFill>
                    <a:srgbClr val="57D9A3"/>
                  </a:solidFill>
                  <a:latin typeface="+mn-lt"/>
                  <a:ea typeface="+mn-ea"/>
                  <a:cs typeface="+mn-cs"/>
                </a:rPr>
                <a:t>14.3s</a:t>
              </a:r>
            </a:p>
          </p:txBody>
        </p:sp>
        <p:sp>
          <p:nvSpPr>
            <p:cNvPr id="33" name="TextBox 33"/>
            <p:cNvSpPr txBox="1"/>
            <p:nvPr/>
          </p:nvSpPr>
          <p:spPr>
            <a:xfrm>
              <a:off x="757238" y="4840843"/>
              <a:ext cx="724321" cy="169069"/>
            </a:xfrm>
            <a:prstGeom prst="rect">
              <a:avLst/>
            </a:prstGeom>
            <a:noFill/>
            <a:ln>
              <a:noFill/>
            </a:ln>
          </p:spPr>
          <p:txBody>
            <a:bodyPr wrap="none" lIns="0" tIns="0" rIns="0" bIns="0" anchor="t" anchorCtr="0">
              <a:spAutoFit/>
            </a:bodyPr>
            <a:lstStyle/>
            <a:p>
              <a:pPr algn="l"/>
              <a:r>
                <a:rPr lang="en-US" sz="860" b="1" dirty="0">
                  <a:solidFill>
                    <a:srgbClr val="57D9A3"/>
                  </a:solidFill>
                  <a:latin typeface="+mn-lt"/>
                  <a:ea typeface="+mn-ea"/>
                  <a:cs typeface="+mn-cs"/>
                </a:rPr>
                <a:t>Hessian rule</a:t>
              </a:r>
            </a:p>
          </p:txBody>
        </p:sp>
        <p:sp>
          <p:nvSpPr>
            <p:cNvPr id="34" name="TextBox 34"/>
            <p:cNvSpPr txBox="1"/>
            <p:nvPr/>
          </p:nvSpPr>
          <p:spPr>
            <a:xfrm>
              <a:off x="756856" y="5034201"/>
              <a:ext cx="34706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roughly 7x to 10x faster than the next-best method</a:t>
              </a:r>
            </a:p>
          </p:txBody>
        </p:sp>
      </p:grpSp>
      <p:grpSp>
        <p:nvGrpSpPr>
          <p:cNvPr id="40" name="Group 40"/>
          <p:cNvGrpSpPr/>
          <p:nvPr/>
        </p:nvGrpSpPr>
        <p:grpSpPr>
          <a:xfrm>
            <a:off x="7429500" y="2438400"/>
            <a:ext cx="4229100" cy="1314450"/>
            <a:chOff x="7429500" y="2438400"/>
            <a:chExt cx="4229100" cy="1314450"/>
          </a:xfrm>
        </p:grpSpPr>
        <p:sp>
          <p:nvSpPr>
            <p:cNvPr id="36" name="Rectangle 36"/>
            <p:cNvSpPr/>
            <p:nvPr/>
          </p:nvSpPr>
          <p:spPr>
            <a:xfrm>
              <a:off x="7429500" y="2438400"/>
              <a:ext cx="4229100" cy="1314450"/>
            </a:xfrm>
            <a:prstGeom prst="roundRect">
              <a:avLst>
                <a:gd name="adj" fmla="val 10145"/>
              </a:avLst>
            </a:prstGeom>
            <a:solidFill>
              <a:schemeClr val="accent6"/>
            </a:solidFill>
            <a:ln w="13335">
              <a:solidFill>
                <a:schemeClr val="accent2"/>
              </a:solidFill>
            </a:ln>
          </p:spPr>
        </p:sp>
        <p:sp>
          <p:nvSpPr>
            <p:cNvPr id="37" name="TextBox 37"/>
            <p:cNvSpPr txBox="1"/>
            <p:nvPr/>
          </p:nvSpPr>
          <p:spPr>
            <a:xfrm>
              <a:off x="7653338" y="2722245"/>
              <a:ext cx="768731" cy="176212"/>
            </a:xfrm>
            <a:prstGeom prst="rect">
              <a:avLst/>
            </a:prstGeom>
            <a:noFill/>
            <a:ln>
              <a:noFill/>
            </a:ln>
          </p:spPr>
          <p:txBody>
            <a:bodyPr wrap="none" lIns="0" tIns="0" rIns="0" bIns="0" anchor="t" anchorCtr="0">
              <a:spAutoFit/>
            </a:bodyPr>
            <a:lstStyle/>
            <a:p>
              <a:pPr algn="l"/>
              <a:r>
                <a:rPr lang="en-US" sz="900" b="1" spc="112" dirty="0">
                  <a:solidFill>
                    <a:schemeClr val="accent2"/>
                  </a:solidFill>
                  <a:latin typeface="+mn-lt"/>
                  <a:ea typeface="+mn-ea"/>
                  <a:cs typeface="+mn-cs"/>
                </a:rPr>
                <a:t>REAL DATA</a:t>
              </a:r>
            </a:p>
          </p:txBody>
        </p:sp>
        <p:sp>
          <p:nvSpPr>
            <p:cNvPr id="38" name="TextBox 38"/>
            <p:cNvSpPr txBox="1"/>
            <p:nvPr/>
          </p:nvSpPr>
          <p:spPr>
            <a:xfrm>
              <a:off x="7640574" y="2980372"/>
              <a:ext cx="1668716" cy="674751"/>
            </a:xfrm>
            <a:prstGeom prst="rect">
              <a:avLst/>
            </a:prstGeom>
            <a:noFill/>
            <a:ln>
              <a:noFill/>
            </a:ln>
          </p:spPr>
          <p:txBody>
            <a:bodyPr wrap="none" lIns="0" tIns="0" rIns="0" bIns="0" anchor="t" anchorCtr="0">
              <a:spAutoFit/>
            </a:bodyPr>
            <a:lstStyle/>
            <a:p>
              <a:pPr algn="l"/>
              <a:r>
                <a:rPr lang="en-US" sz="3450" b="1" dirty="0">
                  <a:gradFill>
                    <a:gsLst>
                      <a:gs pos="0">
                        <a:srgbClr val="F7B84B"/>
                      </a:gs>
                      <a:gs pos="100000">
                        <a:srgbClr val="E8892E"/>
                      </a:gs>
                    </a:gsLst>
                    <a:lin ang="2700000" scaled="1"/>
                  </a:gradFill>
                  <a:latin typeface="+mn-lt"/>
                  <a:ea typeface="+mn-ea"/>
                  <a:cs typeface="+mn-cs"/>
                </a:rPr>
                <a:t>11 / 12</a:t>
              </a:r>
            </a:p>
          </p:txBody>
        </p:sp>
        <p:sp>
          <p:nvSpPr>
            <p:cNvPr id="39" name="TextBox 39"/>
            <p:cNvSpPr txBox="1"/>
            <p:nvPr/>
          </p:nvSpPr>
          <p:spPr>
            <a:xfrm>
              <a:off x="7652956" y="3491151"/>
              <a:ext cx="196820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wins on nearly all twelve sets</a:t>
              </a:r>
            </a:p>
          </p:txBody>
        </p:sp>
      </p:grpSp>
      <p:grpSp>
        <p:nvGrpSpPr>
          <p:cNvPr id="47" name="Group 47"/>
          <p:cNvGrpSpPr/>
          <p:nvPr/>
        </p:nvGrpSpPr>
        <p:grpSpPr>
          <a:xfrm>
            <a:off x="7429500" y="3943350"/>
            <a:ext cx="4229100" cy="1352550"/>
            <a:chOff x="7429500" y="3943350"/>
            <a:chExt cx="4229100" cy="1352550"/>
          </a:xfrm>
        </p:grpSpPr>
        <p:sp>
          <p:nvSpPr>
            <p:cNvPr id="41" name="Rectangle 41"/>
            <p:cNvSpPr/>
            <p:nvPr/>
          </p:nvSpPr>
          <p:spPr>
            <a:xfrm>
              <a:off x="7429500" y="3943350"/>
              <a:ext cx="4229100" cy="1352550"/>
            </a:xfrm>
            <a:prstGeom prst="roundRect">
              <a:avLst>
                <a:gd name="adj" fmla="val 9859"/>
              </a:avLst>
            </a:prstGeom>
            <a:solidFill>
              <a:schemeClr val="accent5"/>
            </a:solidFill>
            <a:ln w="11430">
              <a:solidFill>
                <a:schemeClr val="accent4"/>
              </a:solidFill>
            </a:ln>
          </p:spPr>
        </p:sp>
        <p:sp>
          <p:nvSpPr>
            <p:cNvPr id="42" name="Rectangle 42"/>
            <p:cNvSpPr/>
            <p:nvPr/>
          </p:nvSpPr>
          <p:spPr>
            <a:xfrm>
              <a:off x="7639050" y="4152900"/>
              <a:ext cx="47625" cy="285750"/>
            </a:xfrm>
            <a:prstGeom prst="roundRect">
              <a:avLst>
                <a:gd name="adj" fmla="val 50000"/>
              </a:avLst>
            </a:prstGeom>
            <a:solidFill>
              <a:srgbClr val="57D9A3"/>
            </a:solidFill>
            <a:ln>
              <a:noFill/>
            </a:ln>
          </p:spPr>
        </p:sp>
        <p:sp>
          <p:nvSpPr>
            <p:cNvPr id="43" name="TextBox 43"/>
            <p:cNvSpPr txBox="1"/>
            <p:nvPr/>
          </p:nvSpPr>
          <p:spPr>
            <a:xfrm>
              <a:off x="7823454" y="4213860"/>
              <a:ext cx="175901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Least-squares: 5 / 5</a:t>
              </a:r>
            </a:p>
          </p:txBody>
        </p:sp>
        <p:sp>
          <p:nvSpPr>
            <p:cNvPr id="44" name="TextBox 44"/>
            <p:cNvSpPr txBox="1"/>
            <p:nvPr/>
          </p:nvSpPr>
          <p:spPr>
            <a:xfrm>
              <a:off x="7633716" y="4515802"/>
              <a:ext cx="27294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Fastest on all five least-squares sets,</a:t>
              </a:r>
            </a:p>
          </p:txBody>
        </p:sp>
        <p:sp>
          <p:nvSpPr>
            <p:cNvPr id="45" name="TextBox 45"/>
            <p:cNvSpPr txBox="1"/>
            <p:nvPr/>
          </p:nvSpPr>
          <p:spPr>
            <a:xfrm>
              <a:off x="7633716" y="4715828"/>
              <a:ext cx="25125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in all but one it finishes in under</a:t>
              </a:r>
            </a:p>
          </p:txBody>
        </p:sp>
        <p:sp>
          <p:nvSpPr>
            <p:cNvPr id="46" name="TextBox 46"/>
            <p:cNvSpPr txBox="1"/>
            <p:nvPr/>
          </p:nvSpPr>
          <p:spPr>
            <a:xfrm>
              <a:off x="7633716" y="4915852"/>
              <a:ext cx="18835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half the runner-up's time.</a:t>
              </a:r>
            </a:p>
          </p:txBody>
        </p:sp>
      </p:grpSp>
      <p:sp>
        <p:nvSpPr>
          <p:cNvPr id="48" name="cue_s07_c1_results_decisive_across_every_simula" title="cue_s07_c1_results_decisive_across_every_simula" descr="cue_s07_c1_results_decisive_across_every_simula The results are decisive. Across every simulated configuration, the Hessian rule takes the least time, and its advantage is largest exactly where competitors struggle, the high-correlation, low-dimensional setting."/>
          <p:cNvSpPr/>
          <p:nvPr/>
        </p:nvSpPr>
        <p:spPr>
          <a:xfrm>
            <a:off x="532790" y="1523847"/>
            <a:ext cx="11125200"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2_real_wins_nearly_all_twelve" title="cue_s07_c2_real_wins_nearly_all_twelve" descr="cue_s07_c2_real_wins_nearly_all_twelve On real data it wins on nearly all twelve sets."/>
          <p:cNvSpPr/>
          <p:nvPr/>
        </p:nvSpPr>
        <p:spPr>
          <a:xfrm>
            <a:off x="7429804" y="2438704"/>
            <a:ext cx="4229404"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3_1_regularized_least_squares_fastest" title="cue_s07_c3_1_regularized_least_squares_fastest" descr="cue_s07_c3_1_regularized_least_squares_fastest For ℓ1-regularized least-squares it is fastest on all five, and in all but one case it finishes in under half the time of the next-best method, the working-set strategy."/>
          <p:cNvSpPr/>
          <p:nvPr/>
        </p:nvSpPr>
        <p:spPr>
          <a:xfrm>
            <a:off x="7429804" y="3943349"/>
            <a:ext cx="4229404"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4_yearpredictionmsd_fits_full_path_sev" title="cue_s07_c4_yearpredictionmsd_fits_full_path_sev" descr="cue_s07_c4_yearpredictionmsd_fits_full_path_sev On YearPredictionMSD it fits the full path in seventy-nine seconds against five hundred forty-one for the runner-up, and on e2006-tfidf in fourteen seconds against one hundred forty-three, speedups of roughly seven to ten times."/>
          <p:cNvSpPr/>
          <p:nvPr/>
        </p:nvSpPr>
        <p:spPr>
          <a:xfrm>
            <a:off x="532790" y="2438704"/>
            <a:ext cx="66678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6310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ABLATION</a:t>
            </a:r>
          </a:p>
        </p:txBody>
      </p:sp>
      <p:sp>
        <p:nvSpPr>
          <p:cNvPr id="5" name="TextBox 5"/>
          <p:cNvSpPr txBox="1"/>
          <p:nvPr/>
        </p:nvSpPr>
        <p:spPr>
          <a:xfrm>
            <a:off x="518922" y="797242"/>
            <a:ext cx="6186913"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Where the two gains come from</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08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4138"/>
              </a:avLst>
            </a:prstGeom>
            <a:solidFill>
              <a:schemeClr val="accent5"/>
            </a:solidFill>
            <a:ln w="11430">
              <a:solidFill>
                <a:schemeClr val="accent4"/>
              </a:solidFill>
            </a:ln>
          </p:spPr>
        </p:sp>
        <p:sp>
          <p:nvSpPr>
            <p:cNvPr id="9" name="Rectangle 9"/>
            <p:cNvSpPr/>
            <p:nvPr/>
          </p:nvSpPr>
          <p:spPr>
            <a:xfrm>
              <a:off x="723900" y="1676400"/>
              <a:ext cx="47625" cy="247650"/>
            </a:xfrm>
            <a:prstGeom prst="roundRect">
              <a:avLst>
                <a:gd name="adj" fmla="val 50000"/>
              </a:avLst>
            </a:prstGeom>
            <a:solidFill>
              <a:schemeClr val="accent2"/>
            </a:solidFill>
            <a:ln>
              <a:noFill/>
            </a:ln>
          </p:spPr>
        </p:sp>
        <p:sp>
          <p:nvSpPr>
            <p:cNvPr id="10" name="TextBox 10"/>
            <p:cNvSpPr txBox="1"/>
            <p:nvPr/>
          </p:nvSpPr>
          <p:spPr>
            <a:xfrm>
              <a:off x="907542" y="1730692"/>
              <a:ext cx="605974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Two component studies isolate the warm start and the screening</a:t>
              </a:r>
            </a:p>
          </p:txBody>
        </p:sp>
      </p:grpSp>
      <p:grpSp>
        <p:nvGrpSpPr>
          <p:cNvPr id="27" name="Group 27"/>
          <p:cNvGrpSpPr/>
          <p:nvPr/>
        </p:nvGrpSpPr>
        <p:grpSpPr>
          <a:xfrm>
            <a:off x="533400" y="2286000"/>
            <a:ext cx="5496274" cy="3048000"/>
            <a:chOff x="533400" y="2286000"/>
            <a:chExt cx="5496274" cy="3048000"/>
          </a:xfrm>
        </p:grpSpPr>
        <p:sp>
          <p:nvSpPr>
            <p:cNvPr id="12" name="Rectangle 12"/>
            <p:cNvSpPr/>
            <p:nvPr/>
          </p:nvSpPr>
          <p:spPr>
            <a:xfrm>
              <a:off x="533400" y="2286000"/>
              <a:ext cx="5448300" cy="3048000"/>
            </a:xfrm>
            <a:prstGeom prst="roundRect">
              <a:avLst>
                <a:gd name="adj" fmla="val 4375"/>
              </a:avLst>
            </a:prstGeom>
            <a:solidFill>
              <a:schemeClr val="accent5"/>
            </a:solidFill>
            <a:ln w="11430">
              <a:solidFill>
                <a:schemeClr val="accent4"/>
              </a:solidFill>
            </a:ln>
          </p:spPr>
        </p:sp>
        <p:sp>
          <p:nvSpPr>
            <p:cNvPr id="13" name="Rectangle 13"/>
            <p:cNvSpPr/>
            <p:nvPr/>
          </p:nvSpPr>
          <p:spPr>
            <a:xfrm>
              <a:off x="742950" y="2514600"/>
              <a:ext cx="47625" cy="266700"/>
            </a:xfrm>
            <a:prstGeom prst="roundRect">
              <a:avLst>
                <a:gd name="adj" fmla="val 50000"/>
              </a:avLst>
            </a:prstGeom>
            <a:solidFill>
              <a:srgbClr val="57D9A3"/>
            </a:solidFill>
            <a:ln>
              <a:noFill/>
            </a:ln>
          </p:spPr>
        </p:sp>
        <p:sp>
          <p:nvSpPr>
            <p:cNvPr id="14" name="TextBox 14"/>
            <p:cNvSpPr txBox="1"/>
            <p:nvPr/>
          </p:nvSpPr>
          <p:spPr>
            <a:xfrm>
              <a:off x="907542" y="2559368"/>
              <a:ext cx="217612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Warm start in isolation</a:t>
              </a:r>
            </a:p>
          </p:txBody>
        </p:sp>
        <p:sp>
          <p:nvSpPr>
            <p:cNvPr id="15" name="TextBox 15"/>
            <p:cNvSpPr txBox="1"/>
            <p:nvPr/>
          </p:nvSpPr>
          <p:spPr>
            <a:xfrm>
              <a:off x="738188" y="2889647"/>
              <a:ext cx="478925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coordinate-descent passes per path step · colon-cancer, YearPredictionMSD</a:t>
              </a:r>
            </a:p>
          </p:txBody>
        </p:sp>
        <p:sp>
          <p:nvSpPr>
            <p:cNvPr id="16" name="Line 16"/>
            <p:cNvSpPr/>
            <p:nvPr/>
          </p:nvSpPr>
          <p:spPr>
            <a:xfrm>
              <a:off x="1066800" y="3276600"/>
              <a:ext cx="9525" cy="1123950"/>
            </a:xfrm>
            <a:custGeom>
              <a:avLst/>
              <a:gdLst/>
              <a:ahLst/>
              <a:cxnLst/>
              <a:rect l="l" t="t" r="r" b="b"/>
              <a:pathLst>
                <a:path w="9525" h="1123950">
                  <a:moveTo>
                    <a:pt x="0" y="0"/>
                  </a:moveTo>
                  <a:lnTo>
                    <a:pt x="0" y="1123950"/>
                  </a:lnTo>
                </a:path>
              </a:pathLst>
            </a:custGeom>
            <a:noFill/>
            <a:ln w="11430">
              <a:solidFill>
                <a:srgbClr val="6E85AC"/>
              </a:solidFill>
            </a:ln>
          </p:spPr>
        </p:sp>
        <p:sp>
          <p:nvSpPr>
            <p:cNvPr id="17" name="Line 17"/>
            <p:cNvSpPr/>
            <p:nvPr/>
          </p:nvSpPr>
          <p:spPr>
            <a:xfrm>
              <a:off x="1066800" y="4400550"/>
              <a:ext cx="4629150" cy="9525"/>
            </a:xfrm>
            <a:custGeom>
              <a:avLst/>
              <a:gdLst/>
              <a:ahLst/>
              <a:cxnLst/>
              <a:rect l="l" t="t" r="r" b="b"/>
              <a:pathLst>
                <a:path w="4629150" h="9525">
                  <a:moveTo>
                    <a:pt x="0" y="0"/>
                  </a:moveTo>
                  <a:lnTo>
                    <a:pt x="4629150" y="0"/>
                  </a:lnTo>
                </a:path>
              </a:pathLst>
            </a:custGeom>
            <a:noFill/>
            <a:ln w="11430">
              <a:solidFill>
                <a:srgbClr val="6E85AC"/>
              </a:solidFill>
            </a:ln>
          </p:spPr>
        </p:sp>
        <p:sp>
          <p:nvSpPr>
            <p:cNvPr id="18" name="Rectangle 18"/>
            <p:cNvSpPr/>
            <p:nvPr/>
          </p:nvSpPr>
          <p:spPr>
            <a:xfrm>
              <a:off x="1390650" y="3371850"/>
              <a:ext cx="914400" cy="1028700"/>
            </a:xfrm>
            <a:prstGeom prst="roundRect">
              <a:avLst>
                <a:gd name="adj" fmla="val 6250"/>
              </a:avLst>
            </a:prstGeom>
            <a:solidFill>
              <a:srgbClr val="F2708A"/>
            </a:solidFill>
            <a:ln>
              <a:noFill/>
            </a:ln>
          </p:spPr>
        </p:sp>
        <p:sp>
          <p:nvSpPr>
            <p:cNvPr id="19" name="TextBox 19"/>
            <p:cNvSpPr txBox="1"/>
            <p:nvPr/>
          </p:nvSpPr>
          <p:spPr>
            <a:xfrm>
              <a:off x="1664414" y="3182302"/>
              <a:ext cx="366873" cy="205359"/>
            </a:xfrm>
            <a:prstGeom prst="rect">
              <a:avLst/>
            </a:prstGeom>
            <a:noFill/>
            <a:ln>
              <a:noFill/>
            </a:ln>
          </p:spPr>
          <p:txBody>
            <a:bodyPr wrap="none" lIns="0" tIns="0" rIns="0" bIns="0" anchor="t" anchorCtr="0">
              <a:spAutoFit/>
            </a:bodyPr>
            <a:lstStyle/>
            <a:p>
              <a:pPr algn="ctr"/>
              <a:r>
                <a:rPr lang="en-US" sz="1050" b="1" dirty="0">
                  <a:solidFill>
                    <a:srgbClr val="F2708A"/>
                  </a:solidFill>
                  <a:latin typeface="+mn-lt"/>
                  <a:ea typeface="+mn-ea"/>
                  <a:cs typeface="+mn-cs"/>
                </a:rPr>
                <a:t>many</a:t>
              </a:r>
            </a:p>
          </p:txBody>
        </p:sp>
        <p:sp>
          <p:nvSpPr>
            <p:cNvPr id="20" name="TextBox 20"/>
            <p:cNvSpPr txBox="1"/>
            <p:nvPr/>
          </p:nvSpPr>
          <p:spPr>
            <a:xfrm>
              <a:off x="1538144" y="4504849"/>
              <a:ext cx="619412"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standard</a:t>
              </a:r>
            </a:p>
          </p:txBody>
        </p:sp>
        <p:sp>
          <p:nvSpPr>
            <p:cNvPr id="21" name="TextBox 21"/>
            <p:cNvSpPr txBox="1"/>
            <p:nvPr/>
          </p:nvSpPr>
          <p:spPr>
            <a:xfrm>
              <a:off x="1451567" y="4676299"/>
              <a:ext cx="792566"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warm start</a:t>
              </a:r>
            </a:p>
          </p:txBody>
        </p:sp>
        <p:sp>
          <p:nvSpPr>
            <p:cNvPr id="22" name="Rectangle 22"/>
            <p:cNvSpPr/>
            <p:nvPr/>
          </p:nvSpPr>
          <p:spPr>
            <a:xfrm>
              <a:off x="3162300" y="4229100"/>
              <a:ext cx="914400" cy="171450"/>
            </a:xfrm>
            <a:prstGeom prst="roundRect">
              <a:avLst>
                <a:gd name="adj" fmla="val 27778"/>
              </a:avLst>
            </a:prstGeom>
            <a:solidFill>
              <a:srgbClr val="57D9A3"/>
            </a:solidFill>
            <a:ln>
              <a:noFill/>
            </a:ln>
          </p:spPr>
        </p:sp>
        <p:sp>
          <p:nvSpPr>
            <p:cNvPr id="23" name="TextBox 23"/>
            <p:cNvSpPr txBox="1"/>
            <p:nvPr/>
          </p:nvSpPr>
          <p:spPr>
            <a:xfrm>
              <a:off x="3324750" y="4039552"/>
              <a:ext cx="589500" cy="205359"/>
            </a:xfrm>
            <a:prstGeom prst="rect">
              <a:avLst/>
            </a:prstGeom>
            <a:noFill/>
            <a:ln>
              <a:noFill/>
            </a:ln>
          </p:spPr>
          <p:txBody>
            <a:bodyPr wrap="none" lIns="0" tIns="0" rIns="0" bIns="0" anchor="t" anchorCtr="0">
              <a:spAutoFit/>
            </a:bodyPr>
            <a:lstStyle/>
            <a:p>
              <a:pPr algn="ctr"/>
              <a:r>
                <a:rPr lang="en-US" sz="1050" b="1" dirty="0">
                  <a:solidFill>
                    <a:srgbClr val="57D9A3"/>
                  </a:solidFill>
                  <a:latin typeface="+mn-lt"/>
                  <a:ea typeface="+mn-ea"/>
                  <a:cs typeface="+mn-cs"/>
                </a:rPr>
                <a:t>≈ 1 pass</a:t>
              </a:r>
            </a:p>
          </p:txBody>
        </p:sp>
        <p:sp>
          <p:nvSpPr>
            <p:cNvPr id="24" name="TextBox 24"/>
            <p:cNvSpPr txBox="1"/>
            <p:nvPr/>
          </p:nvSpPr>
          <p:spPr>
            <a:xfrm>
              <a:off x="3363188" y="4504849"/>
              <a:ext cx="512625" cy="190690"/>
            </a:xfrm>
            <a:prstGeom prst="rect">
              <a:avLst/>
            </a:prstGeom>
            <a:noFill/>
            <a:ln>
              <a:noFill/>
            </a:ln>
          </p:spPr>
          <p:txBody>
            <a:bodyPr wrap="none" lIns="0" tIns="0" rIns="0" bIns="0" anchor="t" anchorCtr="0">
              <a:spAutoFit/>
            </a:bodyPr>
            <a:lstStyle/>
            <a:p>
              <a:pPr algn="ctr"/>
              <a:r>
                <a:rPr lang="en-US" sz="980" b="1" dirty="0">
                  <a:solidFill>
                    <a:srgbClr val="57D9A3"/>
                  </a:solidFill>
                  <a:latin typeface="+mn-lt"/>
                  <a:ea typeface="+mn-ea"/>
                  <a:cs typeface="+mn-cs"/>
                </a:rPr>
                <a:t>Hessian</a:t>
              </a:r>
            </a:p>
          </p:txBody>
        </p:sp>
        <p:sp>
          <p:nvSpPr>
            <p:cNvPr id="25" name="TextBox 25"/>
            <p:cNvSpPr txBox="1"/>
            <p:nvPr/>
          </p:nvSpPr>
          <p:spPr>
            <a:xfrm>
              <a:off x="3223217" y="4676299"/>
              <a:ext cx="792566" cy="190690"/>
            </a:xfrm>
            <a:prstGeom prst="rect">
              <a:avLst/>
            </a:prstGeom>
            <a:noFill/>
            <a:ln>
              <a:noFill/>
            </a:ln>
          </p:spPr>
          <p:txBody>
            <a:bodyPr wrap="none" lIns="0" tIns="0" rIns="0" bIns="0" anchor="t" anchorCtr="0">
              <a:spAutoFit/>
            </a:bodyPr>
            <a:lstStyle/>
            <a:p>
              <a:pPr algn="ctr"/>
              <a:r>
                <a:rPr lang="en-US" sz="980" b="1" dirty="0">
                  <a:solidFill>
                    <a:srgbClr val="57D9A3"/>
                  </a:solidFill>
                  <a:latin typeface="+mn-lt"/>
                  <a:ea typeface="+mn-ea"/>
                  <a:cs typeface="+mn-cs"/>
                </a:rPr>
                <a:t>warm start</a:t>
              </a:r>
            </a:p>
          </p:txBody>
        </p:sp>
        <p:sp>
          <p:nvSpPr>
            <p:cNvPr id="26" name="TextBox 26"/>
            <p:cNvSpPr txBox="1"/>
            <p:nvPr/>
          </p:nvSpPr>
          <p:spPr>
            <a:xfrm>
              <a:off x="737997" y="5076349"/>
              <a:ext cx="529167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Near-exact when the active set is stable, so each step often needs a single pass.</a:t>
              </a:r>
            </a:p>
          </p:txBody>
        </p:sp>
      </p:grpSp>
      <p:grpSp>
        <p:nvGrpSpPr>
          <p:cNvPr id="51" name="Group 51"/>
          <p:cNvGrpSpPr/>
          <p:nvPr/>
        </p:nvGrpSpPr>
        <p:grpSpPr>
          <a:xfrm>
            <a:off x="6210300" y="2286000"/>
            <a:ext cx="5448300" cy="3048000"/>
            <a:chOff x="6210300" y="2286000"/>
            <a:chExt cx="5448300" cy="3048000"/>
          </a:xfrm>
        </p:grpSpPr>
        <p:sp>
          <p:nvSpPr>
            <p:cNvPr id="28" name="Rectangle 28"/>
            <p:cNvSpPr/>
            <p:nvPr/>
          </p:nvSpPr>
          <p:spPr>
            <a:xfrm>
              <a:off x="6210300" y="2286000"/>
              <a:ext cx="5448300" cy="3048000"/>
            </a:xfrm>
            <a:prstGeom prst="roundRect">
              <a:avLst>
                <a:gd name="adj" fmla="val 4375"/>
              </a:avLst>
            </a:prstGeom>
            <a:solidFill>
              <a:schemeClr val="accent5"/>
            </a:solidFill>
            <a:ln w="11430">
              <a:solidFill>
                <a:schemeClr val="accent4"/>
              </a:solidFill>
            </a:ln>
          </p:spPr>
        </p:sp>
        <p:sp>
          <p:nvSpPr>
            <p:cNvPr id="29" name="Rectangle 29"/>
            <p:cNvSpPr/>
            <p:nvPr/>
          </p:nvSpPr>
          <p:spPr>
            <a:xfrm>
              <a:off x="6419850" y="2514600"/>
              <a:ext cx="47625" cy="266700"/>
            </a:xfrm>
            <a:prstGeom prst="roundRect">
              <a:avLst>
                <a:gd name="adj" fmla="val 50000"/>
              </a:avLst>
            </a:prstGeom>
            <a:solidFill>
              <a:srgbClr val="37DCC0"/>
            </a:solidFill>
            <a:ln>
              <a:noFill/>
            </a:ln>
          </p:spPr>
        </p:sp>
        <p:sp>
          <p:nvSpPr>
            <p:cNvPr id="30" name="TextBox 30"/>
            <p:cNvSpPr txBox="1"/>
            <p:nvPr/>
          </p:nvSpPr>
          <p:spPr>
            <a:xfrm>
              <a:off x="6584442" y="2559368"/>
              <a:ext cx="199433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Screening in isolation</a:t>
              </a:r>
            </a:p>
          </p:txBody>
        </p:sp>
        <p:sp>
          <p:nvSpPr>
            <p:cNvPr id="31" name="TextBox 31"/>
            <p:cNvSpPr txBox="1"/>
            <p:nvPr/>
          </p:nvSpPr>
          <p:spPr>
            <a:xfrm>
              <a:off x="6415088" y="2889647"/>
              <a:ext cx="2932664"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predictors retained vs. correlation (log scale)</a:t>
              </a:r>
            </a:p>
          </p:txBody>
        </p:sp>
        <p:sp>
          <p:nvSpPr>
            <p:cNvPr id="32" name="Line 32"/>
            <p:cNvSpPr/>
            <p:nvPr/>
          </p:nvSpPr>
          <p:spPr>
            <a:xfrm>
              <a:off x="6819900" y="3238500"/>
              <a:ext cx="9525" cy="1428750"/>
            </a:xfrm>
            <a:custGeom>
              <a:avLst/>
              <a:gdLst/>
              <a:ahLst/>
              <a:cxnLst/>
              <a:rect l="l" t="t" r="r" b="b"/>
              <a:pathLst>
                <a:path w="9525" h="1428750">
                  <a:moveTo>
                    <a:pt x="0" y="0"/>
                  </a:moveTo>
                  <a:lnTo>
                    <a:pt x="0" y="1428750"/>
                  </a:lnTo>
                </a:path>
              </a:pathLst>
            </a:custGeom>
            <a:noFill/>
            <a:ln w="11430">
              <a:solidFill>
                <a:srgbClr val="6E85AC"/>
              </a:solidFill>
            </a:ln>
          </p:spPr>
        </p:sp>
        <p:sp>
          <p:nvSpPr>
            <p:cNvPr id="33" name="Line 33"/>
            <p:cNvSpPr/>
            <p:nvPr/>
          </p:nvSpPr>
          <p:spPr>
            <a:xfrm>
              <a:off x="6819900" y="4667250"/>
              <a:ext cx="4457700" cy="9525"/>
            </a:xfrm>
            <a:custGeom>
              <a:avLst/>
              <a:gdLst/>
              <a:ahLst/>
              <a:cxnLst/>
              <a:rect l="l" t="t" r="r" b="b"/>
              <a:pathLst>
                <a:path w="4457700" h="9525">
                  <a:moveTo>
                    <a:pt x="0" y="0"/>
                  </a:moveTo>
                  <a:lnTo>
                    <a:pt x="4457700" y="0"/>
                  </a:lnTo>
                </a:path>
              </a:pathLst>
            </a:custGeom>
            <a:noFill/>
            <a:ln w="11430">
              <a:solidFill>
                <a:srgbClr val="6E85AC"/>
              </a:solidFill>
            </a:ln>
          </p:spPr>
        </p:sp>
        <p:sp>
          <p:nvSpPr>
            <p:cNvPr id="34" name="TextBox 34"/>
            <p:cNvSpPr txBox="1"/>
            <p:nvPr/>
          </p:nvSpPr>
          <p:spPr>
            <a:xfrm>
              <a:off x="6460759" y="3206591"/>
              <a:ext cx="287704" cy="161925"/>
            </a:xfrm>
            <a:prstGeom prst="rect">
              <a:avLst/>
            </a:prstGeom>
            <a:noFill/>
            <a:ln>
              <a:noFill/>
            </a:ln>
          </p:spPr>
          <p:txBody>
            <a:bodyPr wrap="none" lIns="0" tIns="0" rIns="0" bIns="0" anchor="t" anchorCtr="0">
              <a:spAutoFit/>
            </a:bodyPr>
            <a:lstStyle/>
            <a:p>
              <a:pPr algn="r"/>
              <a:r>
                <a:rPr lang="en-US" sz="820" b="1" dirty="0">
                  <a:solidFill>
                    <a:srgbClr val="6E85AC"/>
                  </a:solidFill>
                  <a:latin typeface="+mn-lt"/>
                  <a:ea typeface="+mn-ea"/>
                  <a:cs typeface="+mn-cs"/>
                </a:rPr>
                <a:t>many</a:t>
              </a:r>
            </a:p>
          </p:txBody>
        </p:sp>
        <p:sp>
          <p:nvSpPr>
            <p:cNvPr id="35" name="TextBox 35"/>
            <p:cNvSpPr txBox="1"/>
            <p:nvPr/>
          </p:nvSpPr>
          <p:spPr>
            <a:xfrm>
              <a:off x="6449168" y="4578191"/>
              <a:ext cx="299295" cy="161925"/>
            </a:xfrm>
            <a:prstGeom prst="rect">
              <a:avLst/>
            </a:prstGeom>
            <a:noFill/>
            <a:ln>
              <a:noFill/>
            </a:ln>
          </p:spPr>
          <p:txBody>
            <a:bodyPr wrap="none" lIns="0" tIns="0" rIns="0" bIns="0" anchor="t" anchorCtr="0">
              <a:spAutoFit/>
            </a:bodyPr>
            <a:lstStyle/>
            <a:p>
              <a:pPr algn="r"/>
              <a:r>
                <a:rPr lang="en-US" sz="820" b="1" dirty="0">
                  <a:solidFill>
                    <a:srgbClr val="6E85AC"/>
                  </a:solidFill>
                  <a:latin typeface="+mn-lt"/>
                  <a:ea typeface="+mn-ea"/>
                  <a:cs typeface="+mn-cs"/>
                </a:rPr>
                <a:t>floor</a:t>
              </a:r>
            </a:p>
          </p:txBody>
        </p:sp>
        <p:sp>
          <p:nvSpPr>
            <p:cNvPr id="36" name="TextBox 36"/>
            <p:cNvSpPr txBox="1"/>
            <p:nvPr/>
          </p:nvSpPr>
          <p:spPr>
            <a:xfrm>
              <a:off x="6781708" y="4745593"/>
              <a:ext cx="76384" cy="169069"/>
            </a:xfrm>
            <a:prstGeom prst="rect">
              <a:avLst/>
            </a:prstGeom>
            <a:noFill/>
            <a:ln>
              <a:noFill/>
            </a:ln>
          </p:spPr>
          <p:txBody>
            <a:bodyPr wrap="none" lIns="0" tIns="0" rIns="0" bIns="0" anchor="t" anchorCtr="0">
              <a:spAutoFit/>
            </a:bodyPr>
            <a:lstStyle/>
            <a:p>
              <a:pPr algn="ctr"/>
              <a:r>
                <a:rPr lang="en-US" sz="860" b="1" dirty="0">
                  <a:solidFill>
                    <a:srgbClr val="6E85AC"/>
                  </a:solidFill>
                  <a:latin typeface="+mn-lt"/>
                  <a:ea typeface="+mn-ea"/>
                  <a:cs typeface="+mn-cs"/>
                </a:rPr>
                <a:t>0</a:t>
              </a:r>
            </a:p>
          </p:txBody>
        </p:sp>
        <p:sp>
          <p:nvSpPr>
            <p:cNvPr id="37" name="TextBox 37"/>
            <p:cNvSpPr txBox="1"/>
            <p:nvPr/>
          </p:nvSpPr>
          <p:spPr>
            <a:xfrm>
              <a:off x="8943699" y="4745593"/>
              <a:ext cx="210102" cy="169069"/>
            </a:xfrm>
            <a:prstGeom prst="rect">
              <a:avLst/>
            </a:prstGeom>
            <a:noFill/>
            <a:ln>
              <a:noFill/>
            </a:ln>
          </p:spPr>
          <p:txBody>
            <a:bodyPr wrap="none" lIns="0" tIns="0" rIns="0" bIns="0" anchor="t" anchorCtr="0">
              <a:spAutoFit/>
            </a:bodyPr>
            <a:lstStyle/>
            <a:p>
              <a:pPr algn="ctr"/>
              <a:r>
                <a:rPr lang="en-US" sz="860" b="1" dirty="0">
                  <a:solidFill>
                    <a:srgbClr val="6E85AC"/>
                  </a:solidFill>
                  <a:latin typeface="+mn-lt"/>
                  <a:ea typeface="+mn-ea"/>
                  <a:cs typeface="+mn-cs"/>
                </a:rPr>
                <a:t>0.4</a:t>
              </a:r>
            </a:p>
          </p:txBody>
        </p:sp>
        <p:sp>
          <p:nvSpPr>
            <p:cNvPr id="38" name="TextBox 38"/>
            <p:cNvSpPr txBox="1"/>
            <p:nvPr/>
          </p:nvSpPr>
          <p:spPr>
            <a:xfrm>
              <a:off x="11172549" y="4745593"/>
              <a:ext cx="210102" cy="169069"/>
            </a:xfrm>
            <a:prstGeom prst="rect">
              <a:avLst/>
            </a:prstGeom>
            <a:noFill/>
            <a:ln>
              <a:noFill/>
            </a:ln>
          </p:spPr>
          <p:txBody>
            <a:bodyPr wrap="none" lIns="0" tIns="0" rIns="0" bIns="0" anchor="t" anchorCtr="0">
              <a:spAutoFit/>
            </a:bodyPr>
            <a:lstStyle/>
            <a:p>
              <a:pPr algn="ctr"/>
              <a:r>
                <a:rPr lang="en-US" sz="860" b="1" dirty="0">
                  <a:solidFill>
                    <a:srgbClr val="6E85AC"/>
                  </a:solidFill>
                  <a:latin typeface="+mn-lt"/>
                  <a:ea typeface="+mn-ea"/>
                  <a:cs typeface="+mn-cs"/>
                </a:rPr>
                <a:t>0.8</a:t>
              </a:r>
            </a:p>
          </p:txBody>
        </p:sp>
        <p:sp>
          <p:nvSpPr>
            <p:cNvPr id="39" name="TextBox 39"/>
            <p:cNvSpPr txBox="1"/>
            <p:nvPr/>
          </p:nvSpPr>
          <p:spPr>
            <a:xfrm>
              <a:off x="8566928" y="4932045"/>
              <a:ext cx="963644"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correlation rho</a:t>
              </a:r>
            </a:p>
          </p:txBody>
        </p:sp>
        <p:sp>
          <p:nvSpPr>
            <p:cNvPr id="40" name="Polyline 40"/>
            <p:cNvSpPr/>
            <p:nvPr/>
          </p:nvSpPr>
          <p:spPr>
            <a:xfrm>
              <a:off x="6819900" y="3381375"/>
              <a:ext cx="4457700" cy="685800"/>
            </a:xfrm>
            <a:custGeom>
              <a:avLst/>
              <a:gdLst/>
              <a:ahLst/>
              <a:cxnLst/>
              <a:rect l="l" t="t" r="r" b="b"/>
              <a:pathLst>
                <a:path w="4457700" h="685800">
                  <a:moveTo>
                    <a:pt x="0" y="685800"/>
                  </a:moveTo>
                  <a:lnTo>
                    <a:pt x="2228850" y="342900"/>
                  </a:lnTo>
                  <a:lnTo>
                    <a:pt x="4457700" y="0"/>
                  </a:lnTo>
                </a:path>
              </a:pathLst>
            </a:custGeom>
            <a:noFill/>
            <a:ln w="24765">
              <a:solidFill>
                <a:srgbClr val="F2708A"/>
              </a:solidFill>
            </a:ln>
          </p:spPr>
        </p:sp>
        <p:sp>
          <p:nvSpPr>
            <p:cNvPr id="41" name="Ellipse 41"/>
            <p:cNvSpPr/>
            <p:nvPr/>
          </p:nvSpPr>
          <p:spPr>
            <a:xfrm>
              <a:off x="6786562" y="4033838"/>
              <a:ext cx="66675" cy="66675"/>
            </a:xfrm>
            <a:prstGeom prst="ellipse">
              <a:avLst/>
            </a:prstGeom>
            <a:solidFill>
              <a:srgbClr val="F2708A"/>
            </a:solidFill>
            <a:ln>
              <a:noFill/>
            </a:ln>
          </p:spPr>
        </p:sp>
        <p:sp>
          <p:nvSpPr>
            <p:cNvPr id="42" name="Ellipse 42"/>
            <p:cNvSpPr/>
            <p:nvPr/>
          </p:nvSpPr>
          <p:spPr>
            <a:xfrm>
              <a:off x="9015412" y="3690938"/>
              <a:ext cx="66675" cy="66675"/>
            </a:xfrm>
            <a:prstGeom prst="ellipse">
              <a:avLst/>
            </a:prstGeom>
            <a:solidFill>
              <a:srgbClr val="F2708A"/>
            </a:solidFill>
            <a:ln>
              <a:noFill/>
            </a:ln>
          </p:spPr>
        </p:sp>
        <p:sp>
          <p:nvSpPr>
            <p:cNvPr id="43" name="Ellipse 43"/>
            <p:cNvSpPr/>
            <p:nvPr/>
          </p:nvSpPr>
          <p:spPr>
            <a:xfrm>
              <a:off x="11244262" y="3348038"/>
              <a:ext cx="66675" cy="66675"/>
            </a:xfrm>
            <a:prstGeom prst="ellipse">
              <a:avLst/>
            </a:prstGeom>
            <a:solidFill>
              <a:srgbClr val="F2708A"/>
            </a:solidFill>
            <a:ln>
              <a:noFill/>
            </a:ln>
          </p:spPr>
        </p:sp>
        <p:sp>
          <p:nvSpPr>
            <p:cNvPr id="44" name="TextBox 44"/>
            <p:cNvSpPr txBox="1"/>
            <p:nvPr/>
          </p:nvSpPr>
          <p:spPr>
            <a:xfrm>
              <a:off x="9969362" y="3212068"/>
              <a:ext cx="1274901" cy="169069"/>
            </a:xfrm>
            <a:prstGeom prst="rect">
              <a:avLst/>
            </a:prstGeom>
            <a:noFill/>
            <a:ln>
              <a:noFill/>
            </a:ln>
          </p:spPr>
          <p:txBody>
            <a:bodyPr wrap="none" lIns="0" tIns="0" rIns="0" bIns="0" anchor="t" anchorCtr="0">
              <a:spAutoFit/>
            </a:bodyPr>
            <a:lstStyle/>
            <a:p>
              <a:pPr algn="r"/>
              <a:r>
                <a:rPr lang="en-US" sz="860" b="1" dirty="0">
                  <a:solidFill>
                    <a:srgbClr val="F2708A"/>
                  </a:solidFill>
                  <a:latin typeface="+mn-lt"/>
                  <a:ea typeface="+mn-ea"/>
                  <a:cs typeface="+mn-cs"/>
                </a:rPr>
                <a:t>Celer, Blitz, Strong,</a:t>
              </a:r>
            </a:p>
          </p:txBody>
        </p:sp>
        <p:sp>
          <p:nvSpPr>
            <p:cNvPr id="45" name="TextBox 45"/>
            <p:cNvSpPr txBox="1"/>
            <p:nvPr/>
          </p:nvSpPr>
          <p:spPr>
            <a:xfrm>
              <a:off x="9920500" y="3364468"/>
              <a:ext cx="1323762" cy="169069"/>
            </a:xfrm>
            <a:prstGeom prst="rect">
              <a:avLst/>
            </a:prstGeom>
            <a:noFill/>
            <a:ln>
              <a:noFill/>
            </a:ln>
          </p:spPr>
          <p:txBody>
            <a:bodyPr wrap="none" lIns="0" tIns="0" rIns="0" bIns="0" anchor="t" anchorCtr="0">
              <a:spAutoFit/>
            </a:bodyPr>
            <a:lstStyle/>
            <a:p>
              <a:pPr algn="r"/>
              <a:r>
                <a:rPr lang="en-US" sz="860" b="1" dirty="0">
                  <a:solidFill>
                    <a:srgbClr val="F2708A"/>
                  </a:solidFill>
                  <a:latin typeface="+mn-lt"/>
                  <a:ea typeface="+mn-ea"/>
                  <a:cs typeface="+mn-cs"/>
                </a:rPr>
                <a:t>EDPP, Gap Safe, Sasvi</a:t>
              </a:r>
            </a:p>
          </p:txBody>
        </p:sp>
        <p:sp>
          <p:nvSpPr>
            <p:cNvPr id="46" name="Polyline 46"/>
            <p:cNvSpPr/>
            <p:nvPr/>
          </p:nvSpPr>
          <p:spPr>
            <a:xfrm>
              <a:off x="6819900" y="4452938"/>
              <a:ext cx="4457700" cy="71438"/>
            </a:xfrm>
            <a:custGeom>
              <a:avLst/>
              <a:gdLst/>
              <a:ahLst/>
              <a:cxnLst/>
              <a:rect l="l" t="t" r="r" b="b"/>
              <a:pathLst>
                <a:path w="4457700" h="71438">
                  <a:moveTo>
                    <a:pt x="0" y="71438"/>
                  </a:moveTo>
                  <a:lnTo>
                    <a:pt x="2228850" y="42862"/>
                  </a:lnTo>
                  <a:lnTo>
                    <a:pt x="4457700" y="0"/>
                  </a:lnTo>
                </a:path>
              </a:pathLst>
            </a:custGeom>
            <a:noFill/>
            <a:ln w="24765">
              <a:solidFill>
                <a:srgbClr val="57D9A3"/>
              </a:solidFill>
            </a:ln>
          </p:spPr>
        </p:sp>
        <p:sp>
          <p:nvSpPr>
            <p:cNvPr id="47" name="Ellipse 47"/>
            <p:cNvSpPr/>
            <p:nvPr/>
          </p:nvSpPr>
          <p:spPr>
            <a:xfrm>
              <a:off x="6786562" y="4491038"/>
              <a:ext cx="66675" cy="66675"/>
            </a:xfrm>
            <a:prstGeom prst="ellipse">
              <a:avLst/>
            </a:prstGeom>
            <a:solidFill>
              <a:srgbClr val="57D9A3"/>
            </a:solidFill>
            <a:ln>
              <a:noFill/>
            </a:ln>
          </p:spPr>
        </p:sp>
        <p:sp>
          <p:nvSpPr>
            <p:cNvPr id="48" name="Ellipse 48"/>
            <p:cNvSpPr/>
            <p:nvPr/>
          </p:nvSpPr>
          <p:spPr>
            <a:xfrm>
              <a:off x="9015412" y="4462462"/>
              <a:ext cx="66675" cy="66675"/>
            </a:xfrm>
            <a:prstGeom prst="ellipse">
              <a:avLst/>
            </a:prstGeom>
            <a:solidFill>
              <a:srgbClr val="57D9A3"/>
            </a:solidFill>
            <a:ln>
              <a:noFill/>
            </a:ln>
          </p:spPr>
        </p:sp>
        <p:sp>
          <p:nvSpPr>
            <p:cNvPr id="49" name="Ellipse 49"/>
            <p:cNvSpPr/>
            <p:nvPr/>
          </p:nvSpPr>
          <p:spPr>
            <a:xfrm>
              <a:off x="11244262" y="4419600"/>
              <a:ext cx="66675" cy="66675"/>
            </a:xfrm>
            <a:prstGeom prst="ellipse">
              <a:avLst/>
            </a:prstGeom>
            <a:solidFill>
              <a:srgbClr val="57D9A3"/>
            </a:solidFill>
            <a:ln>
              <a:noFill/>
            </a:ln>
          </p:spPr>
        </p:sp>
        <p:sp>
          <p:nvSpPr>
            <p:cNvPr id="50" name="TextBox 50"/>
            <p:cNvSpPr txBox="1"/>
            <p:nvPr/>
          </p:nvSpPr>
          <p:spPr>
            <a:xfrm>
              <a:off x="6891338" y="4583668"/>
              <a:ext cx="2414619" cy="169069"/>
            </a:xfrm>
            <a:prstGeom prst="rect">
              <a:avLst/>
            </a:prstGeom>
            <a:noFill/>
            <a:ln>
              <a:noFill/>
            </a:ln>
          </p:spPr>
          <p:txBody>
            <a:bodyPr wrap="none" lIns="0" tIns="0" rIns="0" bIns="0" anchor="t" anchorCtr="0">
              <a:spAutoFit/>
            </a:bodyPr>
            <a:lstStyle/>
            <a:p>
              <a:pPr algn="l"/>
              <a:r>
                <a:rPr lang="en-US" sz="860" b="1" dirty="0">
                  <a:solidFill>
                    <a:srgbClr val="57D9A3"/>
                  </a:solidFill>
                  <a:latin typeface="+mn-lt"/>
                  <a:ea typeface="+mn-ea"/>
                  <a:cs typeface="+mn-cs"/>
                </a:rPr>
                <a:t>Hessian rule (near the active-set floor)</a:t>
              </a:r>
            </a:p>
          </p:txBody>
        </p:sp>
      </p:grpSp>
      <p:sp>
        <p:nvSpPr>
          <p:cNvPr id="52" name="cue_s08_c1_two_component_studies_show_where" title="cue_s08_c1_two_component_studies_show_where" descr="cue_s08_c1_two_component_studies_show_where Two component studies show where the gains come from."/>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2_looking_warm_start_isolation_colon_c" title="cue_s08_c2_looking_warm_start_isolation_colon_c" descr="cue_s08_c2_looking_warm_start_isolation_colon_c Looking at the warm start in isolation, on colon-cancer and YearPredictionMSD the Hessian warm start collapses the number of coordinate-descent passes, frequently to a single pass per step, because when the active set does not change the warm start is essentia"/>
          <p:cNvSpPr/>
          <p:nvPr/>
        </p:nvSpPr>
        <p:spPr>
          <a:xfrm>
            <a:off x="532790" y="2285771"/>
            <a:ext cx="5496153"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8_c3_looking_screening_isolation_hessian" title="cue_s08_c3_looking_screening_isolation_hessian" descr="cue_s08_c3_looking_screening_isolation_hessian Looking at screening in isolation, the Hessian rule keeps the number of retained predictors close to the true active-set floor, while alternatives like Celer, Blitz, the strong rule, EDPP, Gap Safe, and Sasvi retain orders of magnitude more predictors, and the"/>
          <p:cNvSpPr/>
          <p:nvPr/>
        </p:nvSpPr>
        <p:spPr>
          <a:xfrm>
            <a:off x="6210604" y="2285771"/>
            <a:ext cx="5448604"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00492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TAKEAWAY</a:t>
            </a:r>
          </a:p>
        </p:txBody>
      </p:sp>
      <p:sp>
        <p:nvSpPr>
          <p:cNvPr id="5" name="TextBox 5"/>
          <p:cNvSpPr txBox="1"/>
          <p:nvPr/>
        </p:nvSpPr>
        <p:spPr>
          <a:xfrm>
            <a:off x="518922" y="797242"/>
            <a:ext cx="5702933"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One idea that pays off twice</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09 / 09</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714756"/>
            <a:chOff x="533400" y="1524000"/>
            <a:chExt cx="11125200" cy="714756"/>
          </a:xfrm>
        </p:grpSpPr>
        <p:sp>
          <p:nvSpPr>
            <p:cNvPr id="8" name="Rectangle 8"/>
            <p:cNvSpPr/>
            <p:nvPr/>
          </p:nvSpPr>
          <p:spPr>
            <a:xfrm>
              <a:off x="533400" y="1524000"/>
              <a:ext cx="11125200" cy="704850"/>
            </a:xfrm>
            <a:prstGeom prst="roundRect">
              <a:avLst>
                <a:gd name="adj" fmla="val 18919"/>
              </a:avLst>
            </a:prstGeom>
            <a:solidFill>
              <a:schemeClr val="accent6"/>
            </a:solidFill>
            <a:ln w="12382">
              <a:solidFill>
                <a:srgbClr val="37DCC0"/>
              </a:solidFill>
            </a:ln>
          </p:spPr>
        </p:sp>
        <p:sp>
          <p:nvSpPr>
            <p:cNvPr id="9" name="Rectangle 9"/>
            <p:cNvSpPr/>
            <p:nvPr/>
          </p:nvSpPr>
          <p:spPr>
            <a:xfrm>
              <a:off x="723900" y="1733550"/>
              <a:ext cx="47625" cy="304800"/>
            </a:xfrm>
            <a:prstGeom prst="roundRect">
              <a:avLst>
                <a:gd name="adj" fmla="val 50000"/>
              </a:avLst>
            </a:prstGeom>
            <a:solidFill>
              <a:srgbClr val="37DCC0"/>
            </a:solidFill>
            <a:ln>
              <a:noFill/>
            </a:ln>
          </p:spPr>
        </p:sp>
        <p:sp>
          <p:nvSpPr>
            <p:cNvPr id="10" name="TextBox 10"/>
            <p:cNvSpPr txBox="1"/>
            <p:nvPr/>
          </p:nvSpPr>
          <p:spPr>
            <a:xfrm>
              <a:off x="906399" y="1734979"/>
              <a:ext cx="622846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 single idea, reusing second-order Hessian information,</a:t>
              </a:r>
            </a:p>
          </p:txBody>
        </p:sp>
        <p:sp>
          <p:nvSpPr>
            <p:cNvPr id="11" name="TextBox 11"/>
            <p:cNvSpPr txBox="1"/>
            <p:nvPr/>
          </p:nvSpPr>
          <p:spPr>
            <a:xfrm>
              <a:off x="908304" y="2004060"/>
              <a:ext cx="1649037" cy="234696"/>
            </a:xfrm>
            <a:prstGeom prst="rect">
              <a:avLst/>
            </a:prstGeom>
            <a:noFill/>
            <a:ln>
              <a:noFill/>
            </a:ln>
          </p:spPr>
          <p:txBody>
            <a:bodyPr wrap="none" lIns="0" tIns="0" rIns="0" bIns="0" anchor="t" anchorCtr="0">
              <a:spAutoFit/>
            </a:bodyPr>
            <a:lstStyle/>
            <a:p>
              <a:pPr algn="l"/>
              <a:r>
                <a:rPr lang="en-US" sz="1200" b="1" dirty="0">
                  <a:solidFill>
                    <a:srgbClr val="37DCC0"/>
                  </a:solidFill>
                  <a:latin typeface="+mn-lt"/>
                  <a:ea typeface="+mn-ea"/>
                  <a:cs typeface="+mn-cs"/>
                </a:rPr>
                <a:t>pays off twice over</a:t>
              </a:r>
            </a:p>
          </p:txBody>
        </p:sp>
      </p:grpSp>
      <p:grpSp>
        <p:nvGrpSpPr>
          <p:cNvPr id="23" name="Group 23"/>
          <p:cNvGrpSpPr/>
          <p:nvPr/>
        </p:nvGrpSpPr>
        <p:grpSpPr>
          <a:xfrm>
            <a:off x="533400" y="2438400"/>
            <a:ext cx="11125200" cy="1333500"/>
            <a:chOff x="533400" y="2438400"/>
            <a:chExt cx="11125200" cy="1333500"/>
          </a:xfrm>
        </p:grpSpPr>
        <p:sp>
          <p:nvSpPr>
            <p:cNvPr id="13" name="Rectangle 13"/>
            <p:cNvSpPr/>
            <p:nvPr/>
          </p:nvSpPr>
          <p:spPr>
            <a:xfrm>
              <a:off x="533400" y="2438400"/>
              <a:ext cx="5448300" cy="1333500"/>
            </a:xfrm>
            <a:prstGeom prst="roundRect">
              <a:avLst>
                <a:gd name="adj" fmla="val 10000"/>
              </a:avLst>
            </a:prstGeom>
            <a:solidFill>
              <a:schemeClr val="accent5"/>
            </a:solidFill>
            <a:ln w="11430">
              <a:solidFill>
                <a:schemeClr val="accent4"/>
              </a:solidFill>
            </a:ln>
          </p:spPr>
        </p:sp>
        <p:sp>
          <p:nvSpPr>
            <p:cNvPr id="14" name="Rectangle 14"/>
            <p:cNvSpPr/>
            <p:nvPr/>
          </p:nvSpPr>
          <p:spPr>
            <a:xfrm>
              <a:off x="742950" y="2686050"/>
              <a:ext cx="47625" cy="285750"/>
            </a:xfrm>
            <a:prstGeom prst="roundRect">
              <a:avLst>
                <a:gd name="adj" fmla="val 50000"/>
              </a:avLst>
            </a:prstGeom>
            <a:solidFill>
              <a:srgbClr val="57D9A3"/>
            </a:solidFill>
            <a:ln>
              <a:noFill/>
            </a:ln>
          </p:spPr>
        </p:sp>
        <p:sp>
          <p:nvSpPr>
            <p:cNvPr id="15" name="TextBox 15"/>
            <p:cNvSpPr txBox="1"/>
            <p:nvPr/>
          </p:nvSpPr>
          <p:spPr>
            <a:xfrm>
              <a:off x="926211" y="2741771"/>
              <a:ext cx="174676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Tighter screening</a:t>
              </a:r>
            </a:p>
          </p:txBody>
        </p:sp>
        <p:sp>
          <p:nvSpPr>
            <p:cNvPr id="16" name="TextBox 16"/>
            <p:cNvSpPr txBox="1"/>
            <p:nvPr/>
          </p:nvSpPr>
          <p:spPr>
            <a:xfrm>
              <a:off x="927735" y="3078956"/>
              <a:ext cx="34340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solver sees far fewer predictors on every</a:t>
              </a:r>
            </a:p>
          </p:txBody>
        </p:sp>
        <p:sp>
          <p:nvSpPr>
            <p:cNvPr id="17" name="TextBox 17"/>
            <p:cNvSpPr txBox="1"/>
            <p:nvPr/>
          </p:nvSpPr>
          <p:spPr>
            <a:xfrm>
              <a:off x="927735" y="3278981"/>
              <a:ext cx="8331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subproblem</a:t>
              </a:r>
            </a:p>
          </p:txBody>
        </p:sp>
        <p:sp>
          <p:nvSpPr>
            <p:cNvPr id="18" name="Rectangle 18"/>
            <p:cNvSpPr/>
            <p:nvPr/>
          </p:nvSpPr>
          <p:spPr>
            <a:xfrm>
              <a:off x="6210300" y="2438400"/>
              <a:ext cx="5448300" cy="1333500"/>
            </a:xfrm>
            <a:prstGeom prst="roundRect">
              <a:avLst>
                <a:gd name="adj" fmla="val 10000"/>
              </a:avLst>
            </a:prstGeom>
            <a:solidFill>
              <a:schemeClr val="accent5"/>
            </a:solidFill>
            <a:ln w="11430">
              <a:solidFill>
                <a:schemeClr val="accent4"/>
              </a:solidFill>
            </a:ln>
          </p:spPr>
        </p:sp>
        <p:sp>
          <p:nvSpPr>
            <p:cNvPr id="19" name="Rectangle 19"/>
            <p:cNvSpPr/>
            <p:nvPr/>
          </p:nvSpPr>
          <p:spPr>
            <a:xfrm>
              <a:off x="6419850" y="2686050"/>
              <a:ext cx="47625" cy="285750"/>
            </a:xfrm>
            <a:prstGeom prst="roundRect">
              <a:avLst>
                <a:gd name="adj" fmla="val 50000"/>
              </a:avLst>
            </a:prstGeom>
            <a:solidFill>
              <a:srgbClr val="37DCC0"/>
            </a:solidFill>
            <a:ln>
              <a:noFill/>
            </a:ln>
          </p:spPr>
        </p:sp>
        <p:sp>
          <p:nvSpPr>
            <p:cNvPr id="20" name="TextBox 20"/>
            <p:cNvSpPr txBox="1"/>
            <p:nvPr/>
          </p:nvSpPr>
          <p:spPr>
            <a:xfrm>
              <a:off x="6603111" y="2741771"/>
              <a:ext cx="220918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Accurate warm starts</a:t>
              </a:r>
            </a:p>
          </p:txBody>
        </p:sp>
        <p:sp>
          <p:nvSpPr>
            <p:cNvPr id="21" name="TextBox 21"/>
            <p:cNvSpPr txBox="1"/>
            <p:nvPr/>
          </p:nvSpPr>
          <p:spPr>
            <a:xfrm>
              <a:off x="6604635" y="3078956"/>
              <a:ext cx="351693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so accurate that many path steps converge in a</a:t>
              </a:r>
            </a:p>
          </p:txBody>
        </p:sp>
        <p:sp>
          <p:nvSpPr>
            <p:cNvPr id="22" name="TextBox 22"/>
            <p:cNvSpPr txBox="1"/>
            <p:nvPr/>
          </p:nvSpPr>
          <p:spPr>
            <a:xfrm>
              <a:off x="6604635" y="3278981"/>
              <a:ext cx="810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single pass</a:t>
              </a:r>
            </a:p>
          </p:txBody>
        </p:sp>
      </p:grpSp>
      <p:grpSp>
        <p:nvGrpSpPr>
          <p:cNvPr id="29" name="Group 29"/>
          <p:cNvGrpSpPr/>
          <p:nvPr/>
        </p:nvGrpSpPr>
        <p:grpSpPr>
          <a:xfrm>
            <a:off x="533400" y="3981450"/>
            <a:ext cx="11125200" cy="1123950"/>
            <a:chOff x="533400" y="3981450"/>
            <a:chExt cx="11125200" cy="1123950"/>
          </a:xfrm>
        </p:grpSpPr>
        <p:sp>
          <p:nvSpPr>
            <p:cNvPr id="24" name="Rectangle 24"/>
            <p:cNvSpPr/>
            <p:nvPr/>
          </p:nvSpPr>
          <p:spPr>
            <a:xfrm>
              <a:off x="533400" y="3981450"/>
              <a:ext cx="11125200" cy="1123950"/>
            </a:xfrm>
            <a:prstGeom prst="roundRect">
              <a:avLst>
                <a:gd name="adj" fmla="val 11864"/>
              </a:avLst>
            </a:prstGeom>
            <a:solidFill>
              <a:schemeClr val="accent6"/>
            </a:solidFill>
            <a:ln w="12382">
              <a:solidFill>
                <a:schemeClr val="accent2"/>
              </a:solidFill>
            </a:ln>
          </p:spPr>
        </p:sp>
        <p:sp>
          <p:nvSpPr>
            <p:cNvPr id="25" name="Rectangle 25"/>
            <p:cNvSpPr/>
            <p:nvPr/>
          </p:nvSpPr>
          <p:spPr>
            <a:xfrm>
              <a:off x="723900" y="4191000"/>
              <a:ext cx="47625" cy="304800"/>
            </a:xfrm>
            <a:prstGeom prst="roundRect">
              <a:avLst>
                <a:gd name="adj" fmla="val 50000"/>
              </a:avLst>
            </a:prstGeom>
            <a:solidFill>
              <a:schemeClr val="accent2"/>
            </a:solidFill>
            <a:ln>
              <a:noFill/>
            </a:ln>
          </p:spPr>
        </p:sp>
        <p:sp>
          <p:nvSpPr>
            <p:cNvPr id="26" name="TextBox 26"/>
            <p:cNvSpPr txBox="1"/>
            <p:nvPr/>
          </p:nvSpPr>
          <p:spPr>
            <a:xfrm>
              <a:off x="907161" y="4246721"/>
              <a:ext cx="633368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fastest way to fit lasso and l1-logistic regularization paths</a:t>
              </a:r>
            </a:p>
          </p:txBody>
        </p:sp>
        <p:sp>
          <p:nvSpPr>
            <p:cNvPr id="27" name="TextBox 27"/>
            <p:cNvSpPr txBox="1"/>
            <p:nvPr/>
          </p:nvSpPr>
          <p:spPr>
            <a:xfrm>
              <a:off x="908685" y="4545806"/>
              <a:ext cx="64193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with the biggest edge in the high-correlation regime that has historically been hardest</a:t>
              </a:r>
            </a:p>
          </p:txBody>
        </p:sp>
        <p:sp>
          <p:nvSpPr>
            <p:cNvPr id="28" name="TextBox 28"/>
            <p:cNvSpPr txBox="1"/>
            <p:nvPr/>
          </p:nvSpPr>
          <p:spPr>
            <a:xfrm>
              <a:off x="908685" y="4755356"/>
              <a:ext cx="15191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for screening rules.</a:t>
              </a:r>
            </a:p>
          </p:txBody>
        </p:sp>
      </p:grpSp>
      <p:sp>
        <p:nvSpPr>
          <p:cNvPr id="30" name="Line 30"/>
          <p:cNvSpPr/>
          <p:nvPr/>
        </p:nvSpPr>
        <p:spPr>
          <a:xfrm>
            <a:off x="533400" y="53149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sp>
        <p:nvSpPr>
          <p:cNvPr id="31" name="TextBox 31"/>
          <p:cNvSpPr txBox="1"/>
          <p:nvPr/>
        </p:nvSpPr>
        <p:spPr>
          <a:xfrm>
            <a:off x="527685" y="5460206"/>
            <a:ext cx="209457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Open C++ / R implementation</a:t>
            </a:r>
          </a:p>
        </p:txBody>
      </p:sp>
      <p:sp>
        <p:nvSpPr>
          <p:cNvPr id="32" name="TextBox 32"/>
          <p:cNvSpPr txBox="1"/>
          <p:nvPr/>
        </p:nvSpPr>
        <p:spPr>
          <a:xfrm>
            <a:off x="7730429" y="5472351"/>
            <a:ext cx="3933314" cy="198025"/>
          </a:xfrm>
          <a:prstGeom prst="rect">
            <a:avLst/>
          </a:prstGeom>
          <a:noFill/>
          <a:ln>
            <a:noFill/>
          </a:ln>
        </p:spPr>
        <p:txBody>
          <a:bodyPr wrap="none" lIns="0" tIns="0" rIns="0" bIns="0" anchor="t" anchorCtr="0">
            <a:spAutoFit/>
          </a:bodyPr>
          <a:lstStyle/>
          <a:p>
            <a:pPr algn="r"/>
            <a:r>
              <a:rPr lang="en-US" sz="1010" b="1" dirty="0">
                <a:solidFill>
                  <a:schemeClr val="accent2"/>
                </a:solidFill>
                <a:latin typeface="Consolas"/>
                <a:ea typeface="Consolas"/>
                <a:cs typeface="Consolas"/>
              </a:rPr>
              <a:t>arXiv:2104.13026 · github.com/jolars/HessianScreening</a:t>
            </a:r>
          </a:p>
        </p:txBody>
      </p:sp>
      <p:sp>
        <p:nvSpPr>
          <p:cNvPr id="33" name="cue_s09_c1_takeaway_single_idea_reusing_second" title="cue_s09_c1_takeaway_single_idea_reusing_second" descr="cue_s09_c1_takeaway_single_idea_reusing_second The takeaway is that a single idea, reusing second-order Hessian information, pays off twice over."/>
          <p:cNvSpPr/>
          <p:nvPr/>
        </p:nvSpPr>
        <p:spPr>
          <a:xfrm>
            <a:off x="532790" y="1523847"/>
            <a:ext cx="11125200" cy="7146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2_tightens_screening_solver_sees_far" title="cue_s09_c2_tightens_screening_solver_sees_far" descr="cue_s09_c2_tightens_screening_solver_sees_far It tightens screening so the solver sees far fewer predictors, and it supplies warm starts so accurate that many path steps converge in one pass."/>
          <p:cNvSpPr/>
          <p:nvPr/>
        </p:nvSpPr>
        <p:spPr>
          <a:xfrm>
            <a:off x="532790" y="2438704"/>
            <a:ext cx="111252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9_c3_together_these_make_hessian_screenin" title="cue_s09_c3_together_these_make_hessian_screenin" descr="cue_s09_c3_together_these_make_hessian_screenin Together these make the Hessian Screening Rule the fastest method for fitting lasso and ℓ1-regularized logistic regression paths across the benchmarks tested, with the biggest edge in the high-correlation regime that has historically been the hardest for scree"/>
          <p:cNvSpPr/>
          <p:nvPr/>
        </p:nvSpPr>
        <p:spPr>
          <a:xfrm>
            <a:off x="532790" y="3981754"/>
            <a:ext cx="111252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1FB"/>
      </a:dk1>
      <a:lt1>
        <a:srgbClr val="0B1220"/>
      </a:lt1>
      <a:dk2>
        <a:srgbClr val="A6BADB"/>
      </a:dk2>
      <a:lt2>
        <a:srgbClr val="0E1A30"/>
      </a:lt2>
      <a:accent1>
        <a:srgbClr val="4F9DF7"/>
      </a:accent1>
      <a:accent2>
        <a:srgbClr val="4F9DF7"/>
      </a:accent2>
      <a:accent3>
        <a:srgbClr val="4F9DF7"/>
      </a:accent3>
      <a:accent4>
        <a:srgbClr val="2B4068"/>
      </a:accent4>
      <a:accent5>
        <a:srgbClr val="14223C"/>
      </a:accent5>
      <a:accent6>
        <a:srgbClr val="1A2B49"/>
      </a:accent6>
      <a:hlink>
        <a:srgbClr val="4F9DF7"/>
      </a:hlink>
      <a:folHlink>
        <a:srgbClr val="4F9DF7"/>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2026-07-15T22:00:02Z</dcterms:created>
  <dcterms:modified xsi:type="dcterms:W3CDTF">2026-07-15T22:00:02Z</dcterms:modified>
  <cp:category/>
  <cp:contentStatus/>
</cp:coreProperties>
</file>
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7af1ba2a62f2d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381000"/>
            <a:ext cx="57150" cy="590550"/>
          </a:xfrm>
          <a:prstGeom prst="roundRect">
            <a:avLst>
              <a:gd name="adj" fmla="val 50000"/>
            </a:avLst>
          </a:prstGeom>
          <a:solidFill>
            <a:schemeClr val="accent2"/>
          </a:solidFill>
          <a:ln>
            <a:noFill/>
          </a:ln>
        </p:spPr>
        <p:txBody>
          <a:bodyPr/>
          <a:p/>
        </p:txBody>
      </p:sp>
      <p:sp>
        <p:nvSpPr>
          <p:cNvPr id="4" name="TextBox 4"/>
          <p:cNvSpPr txBox="1"/>
          <p:nvPr/>
        </p:nvSpPr>
        <p:spPr>
          <a:xfrm>
            <a:off x="832485" y="469106"/>
            <a:ext cx="4030364" cy="220028"/>
          </a:xfrm>
          <a:prstGeom prst="rect">
            <a:avLst/>
          </a:prstGeom>
          <a:noFill/>
          <a:ln>
            <a:noFill/>
          </a:ln>
        </p:spPr>
        <p:txBody>
          <a:bodyPr wrap="none" lIns="0" tIns="0" rIns="0" bIns="0" anchor="t" anchorCtr="0">
            <a:spAutoFit/>
          </a:bodyPr>
          <a:lstStyle/>
          <a:p>
            <a:pPr algn="l"/>
            <a:r>
              <a:rPr lang="en-US" sz="1120" b="1" spc="75" dirty="0">
                <a:solidFill>
                  <a:schemeClr val="accent2"/>
                </a:solidFill>
                <a:latin typeface="+mn-lt"/>
                <a:ea typeface="+mn-ea"/>
                <a:cs typeface="+mn-cs"/>
              </a:rPr>
              <a:t>ICML 2022 · Neuro-Symbolic Language Modeling</a:t>
            </a:r>
          </a:p>
        </p:txBody>
      </p:sp>
      <p:sp>
        <p:nvSpPr>
          <p:cNvPr id="5" name="TextBox 5"/>
          <p:cNvSpPr txBox="1"/>
          <p:nvPr/>
        </p:nvSpPr>
        <p:spPr>
          <a:xfrm>
            <a:off x="821436" y="691515"/>
            <a:ext cx="7959261"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RetoMaton: Automaton-Augmented</a:t>
            </a:r>
          </a:p>
        </p:txBody>
      </p:sp>
      <p:sp>
        <p:nvSpPr>
          <p:cNvPr id="6" name="TextBox 6"/>
          <p:cNvSpPr txBox="1"/>
          <p:nvPr/>
        </p:nvSpPr>
        <p:spPr>
          <a:xfrm>
            <a:off x="821436" y="1129665"/>
            <a:ext cx="6911774"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Retrieval for Language Models</a:t>
            </a:r>
          </a:p>
        </p:txBody>
      </p:sp>
      <p:sp>
        <p:nvSpPr>
          <p:cNvPr id="7" name="TextBox 7"/>
          <p:cNvSpPr txBox="1"/>
          <p:nvPr/>
        </p:nvSpPr>
        <p:spPr>
          <a:xfrm>
            <a:off x="832485" y="1707356"/>
            <a:ext cx="5630799"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Uri Alon · Frank F. Xu · Junxian He · S. Sengupta · Dan Roth · Graham Neubig</a:t>
            </a:r>
          </a:p>
        </p:txBody>
      </p:sp>
      <p:sp>
        <p:nvSpPr>
          <p:cNvPr id="8" name="TextBox 8"/>
          <p:cNvSpPr txBox="1"/>
          <p:nvPr/>
        </p:nvSpPr>
        <p:spPr>
          <a:xfrm>
            <a:off x="832866" y="1925002"/>
            <a:ext cx="3778949"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Carnegie Mellon University · Amazon AWS · AWS AI Labs</a:t>
            </a:r>
          </a:p>
        </p:txBody>
      </p:sp>
      <p:sp>
        <p:nvSpPr>
          <p:cNvPr id="9" name="Rectangle 9"/>
          <p:cNvSpPr/>
          <p:nvPr/>
        </p:nvSpPr>
        <p:spPr>
          <a:xfrm>
            <a:off x="9620250" y="400050"/>
            <a:ext cx="1962150" cy="2133600"/>
          </a:xfrm>
          <a:prstGeom prst="roundRect">
            <a:avLst>
              <a:gd name="adj" fmla="val 5825"/>
            </a:avLst>
          </a:prstGeom>
          <a:solidFill>
            <a:schemeClr val="accent5"/>
          </a:solidFill>
          <a:ln w="13335">
            <a:solidFill>
              <a:srgbClr val="2C3D63"/>
            </a:solidFill>
          </a:ln>
        </p:spPr>
        <p:txBody>
          <a:bodyPr/>
          <a:p/>
        </p:txBody>
      </p:sp>
      <p:pic>
        <p:nvPicPr>
          <p:cNvPr id="10" name="Image 10"/>
          <p:cNvPicPr>
            <a:picLocks noChangeAspect="1"/>
          </p:cNvPicPr>
          <p:nvPr/>
        </p:nvPicPr>
        <p:blipFill>
          <a:blip r:embed="rId2"/>
          <a:stretch>
            <a:fillRect/>
          </a:stretch>
        </p:blipFill>
        <p:spPr>
          <a:xfrm>
            <a:off x="9734550" y="514350"/>
            <a:ext cx="1733550" cy="1733550"/>
          </a:xfrm>
          <a:prstGeom prst="rect">
            <a:avLst/>
          </a:prstGeom>
        </p:spPr>
      </p:pic>
      <p:sp>
        <p:nvSpPr>
          <p:cNvPr id="11" name="TextBox 11"/>
          <p:cNvSpPr txBox="1"/>
          <p:nvPr/>
        </p:nvSpPr>
        <p:spPr>
          <a:xfrm>
            <a:off x="9595528" y="2387441"/>
            <a:ext cx="2011594" cy="161925"/>
          </a:xfrm>
          <a:prstGeom prst="rect">
            <a:avLst/>
          </a:prstGeom>
          <a:noFill/>
          <a:ln>
            <a:noFill/>
          </a:ln>
        </p:spPr>
        <p:txBody>
          <a:bodyPr wrap="none" lIns="0" tIns="0" rIns="0" bIns="0" anchor="t" anchorCtr="0">
            <a:spAutoFit/>
          </a:bodyPr>
          <a:lstStyle/>
          <a:p>
            <a:pPr algn="ctr"/>
            <a:r>
              <a:rPr lang="en-US" sz="820" dirty="0">
                <a:solidFill>
                  <a:srgbClr val="9FB0CC"/>
                </a:solidFill>
                <a:latin typeface="+mn-lt"/>
                <a:ea typeface="+mn-ea"/>
                <a:cs typeface="+mn-cs"/>
              </a:rPr>
              <a:t>Code · github.com/neulab/retomaton</a:t>
            </a:r>
          </a:p>
        </p:txBody>
      </p:sp>
      <p:grpSp>
        <p:nvGrpSpPr>
          <p:cNvPr id="36" name="Group 36"/>
          <p:cNvGrpSpPr/>
          <p:nvPr/>
        </p:nvGrpSpPr>
        <p:grpSpPr>
          <a:xfrm>
            <a:off x="609600" y="2609850"/>
            <a:ext cx="2614612" cy="3257550"/>
            <a:chOff x="609600" y="2609850"/>
            <a:chExt cx="2614612" cy="3257550"/>
          </a:xfrm>
        </p:grpSpPr>
        <p:sp>
          <p:nvSpPr>
            <p:cNvPr id="12" name="Rectangle 12"/>
            <p:cNvSpPr/>
            <p:nvPr/>
          </p:nvSpPr>
          <p:spPr>
            <a:xfrm>
              <a:off x="609600" y="2609850"/>
              <a:ext cx="2614612" cy="3257550"/>
            </a:xfrm>
            <a:prstGeom prst="roundRect">
              <a:avLst>
                <a:gd name="adj" fmla="val 5100"/>
              </a:avLst>
            </a:prstGeom>
            <a:solidFill>
              <a:schemeClr val="accent5"/>
            </a:solidFill>
            <a:ln w="13335">
              <a:solidFill>
                <a:srgbClr val="2C3D63"/>
              </a:solidFill>
            </a:ln>
          </p:spPr>
        </p:sp>
        <p:sp>
          <p:nvSpPr>
            <p:cNvPr id="13" name="Rectangle 13"/>
            <p:cNvSpPr/>
            <p:nvPr/>
          </p:nvSpPr>
          <p:spPr>
            <a:xfrm>
              <a:off x="609600" y="2609850"/>
              <a:ext cx="2614612" cy="47625"/>
            </a:xfrm>
            <a:prstGeom prst="roundRect">
              <a:avLst>
                <a:gd name="adj" fmla="val 40000"/>
              </a:avLst>
            </a:prstGeom>
            <a:solidFill>
              <a:srgbClr val="2DD4BF"/>
            </a:solidFill>
            <a:ln>
              <a:noFill/>
            </a:ln>
          </p:spPr>
        </p:sp>
        <p:sp>
          <p:nvSpPr>
            <p:cNvPr id="14" name="Ellipse 14"/>
            <p:cNvSpPr/>
            <p:nvPr/>
          </p:nvSpPr>
          <p:spPr>
            <a:xfrm>
              <a:off x="752475" y="2886075"/>
              <a:ext cx="133350" cy="133350"/>
            </a:xfrm>
            <a:prstGeom prst="ellipse">
              <a:avLst/>
            </a:prstGeom>
            <a:solidFill>
              <a:srgbClr val="2DD4BF"/>
            </a:solidFill>
            <a:ln>
              <a:noFill/>
            </a:ln>
          </p:spPr>
        </p:sp>
        <p:sp>
          <p:nvSpPr>
            <p:cNvPr id="15" name="TextBox 15"/>
            <p:cNvSpPr txBox="1"/>
            <p:nvPr/>
          </p:nvSpPr>
          <p:spPr>
            <a:xfrm>
              <a:off x="983742" y="2864168"/>
              <a:ext cx="129097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Retrieval LMs</a:t>
              </a:r>
            </a:p>
          </p:txBody>
        </p:sp>
        <p:sp>
          <p:nvSpPr>
            <p:cNvPr id="16" name="TextBox 16"/>
            <p:cNvSpPr txBox="1"/>
            <p:nvPr/>
          </p:nvSpPr>
          <p:spPr>
            <a:xfrm>
              <a:off x="794956" y="3224451"/>
              <a:ext cx="1523783"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Sharpen predictions by</a:t>
              </a:r>
            </a:p>
          </p:txBody>
        </p:sp>
        <p:sp>
          <p:nvSpPr>
            <p:cNvPr id="17" name="TextBox 17"/>
            <p:cNvSpPr txBox="1"/>
            <p:nvPr/>
          </p:nvSpPr>
          <p:spPr>
            <a:xfrm>
              <a:off x="794956" y="3443526"/>
              <a:ext cx="1546705"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pulling examples from a</a:t>
              </a:r>
            </a:p>
          </p:txBody>
        </p:sp>
        <p:sp>
          <p:nvSpPr>
            <p:cNvPr id="18" name="TextBox 18"/>
            <p:cNvSpPr txBox="1"/>
            <p:nvPr/>
          </p:nvSpPr>
          <p:spPr>
            <a:xfrm>
              <a:off x="794956" y="3662601"/>
              <a:ext cx="1628285"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huge external datastore</a:t>
              </a:r>
            </a:p>
          </p:txBody>
        </p:sp>
        <p:sp>
          <p:nvSpPr>
            <p:cNvPr id="19" name="TextBox 19"/>
            <p:cNvSpPr txBox="1"/>
            <p:nvPr/>
          </p:nvSpPr>
          <p:spPr>
            <a:xfrm>
              <a:off x="794956" y="3881676"/>
              <a:ext cx="907664"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at test time.</a:t>
              </a:r>
            </a:p>
          </p:txBody>
        </p:sp>
        <p:sp>
          <p:nvSpPr>
            <p:cNvPr id="20" name="TextBox 20"/>
            <p:cNvSpPr txBox="1"/>
            <p:nvPr/>
          </p:nvSpPr>
          <p:spPr>
            <a:xfrm>
              <a:off x="795338" y="5594747"/>
              <a:ext cx="1258502" cy="183356"/>
            </a:xfrm>
            <a:prstGeom prst="rect">
              <a:avLst/>
            </a:prstGeom>
            <a:noFill/>
            <a:ln>
              <a:noFill/>
            </a:ln>
          </p:spPr>
          <p:txBody>
            <a:bodyPr wrap="none" lIns="0" tIns="0" rIns="0" bIns="0" anchor="t" anchorCtr="0">
              <a:spAutoFit/>
            </a:bodyPr>
            <a:lstStyle/>
            <a:p>
              <a:pPr algn="l"/>
              <a:r>
                <a:rPr lang="en-US" sz="940" b="1" dirty="0">
                  <a:solidFill>
                    <a:srgbClr val="2DD4BF"/>
                  </a:solidFill>
                  <a:latin typeface="+mn-lt"/>
                  <a:ea typeface="+mn-ea"/>
                  <a:cs typeface="+mn-cs"/>
                </a:rPr>
                <a:t>external datastore</a:t>
              </a:r>
            </a:p>
          </p:txBody>
        </p:sp>
        <p:sp>
          <p:nvSpPr>
            <p:cNvPr id="21" name="Rectangle 21"/>
            <p:cNvSpPr/>
            <p:nvPr/>
          </p:nvSpPr>
          <p:spPr>
            <a:xfrm>
              <a:off x="800100" y="4381500"/>
              <a:ext cx="2233612" cy="266700"/>
            </a:xfrm>
            <a:prstGeom prst="roundRect">
              <a:avLst>
                <a:gd name="adj" fmla="val 25000"/>
              </a:avLst>
            </a:prstGeom>
            <a:solidFill>
              <a:schemeClr val="accent6"/>
            </a:solidFill>
            <a:ln w="9525">
              <a:solidFill>
                <a:srgbClr val="2C3D63"/>
              </a:solidFill>
            </a:ln>
          </p:spPr>
        </p:sp>
        <p:sp>
          <p:nvSpPr>
            <p:cNvPr id="22" name="Rectangle 22"/>
            <p:cNvSpPr/>
            <p:nvPr/>
          </p:nvSpPr>
          <p:spPr>
            <a:xfrm>
              <a:off x="857250" y="4438650"/>
              <a:ext cx="495300" cy="152400"/>
            </a:xfrm>
            <a:prstGeom prst="roundRect">
              <a:avLst>
                <a:gd name="adj" fmla="val 31250"/>
              </a:avLst>
            </a:prstGeom>
            <a:noFill/>
            <a:ln w="12382">
              <a:solidFill>
                <a:srgbClr val="2DD4BF"/>
              </a:solidFill>
            </a:ln>
          </p:spPr>
        </p:sp>
        <p:sp>
          <p:nvSpPr>
            <p:cNvPr id="23" name="TextBox 23"/>
            <p:cNvSpPr txBox="1"/>
            <p:nvPr/>
          </p:nvSpPr>
          <p:spPr>
            <a:xfrm>
              <a:off x="1061853" y="4457224"/>
              <a:ext cx="86094"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a:t>
              </a:r>
            </a:p>
          </p:txBody>
        </p:sp>
        <p:sp>
          <p:nvSpPr>
            <p:cNvPr id="24" name="TextBox 24"/>
            <p:cNvSpPr txBox="1"/>
            <p:nvPr/>
          </p:nvSpPr>
          <p:spPr>
            <a:xfrm>
              <a:off x="1461516" y="4449128"/>
              <a:ext cx="20361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w1</a:t>
              </a:r>
            </a:p>
          </p:txBody>
        </p:sp>
        <p:sp>
          <p:nvSpPr>
            <p:cNvPr id="25" name="TextBox 25"/>
            <p:cNvSpPr txBox="1"/>
            <p:nvPr/>
          </p:nvSpPr>
          <p:spPr>
            <a:xfrm>
              <a:off x="2819221" y="4457224"/>
              <a:ext cx="86094"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a:t>
              </a:r>
            </a:p>
          </p:txBody>
        </p:sp>
        <p:sp>
          <p:nvSpPr>
            <p:cNvPr id="26" name="Rectangle 26"/>
            <p:cNvSpPr/>
            <p:nvPr/>
          </p:nvSpPr>
          <p:spPr>
            <a:xfrm>
              <a:off x="800100" y="4705350"/>
              <a:ext cx="2233612" cy="266700"/>
            </a:xfrm>
            <a:prstGeom prst="roundRect">
              <a:avLst>
                <a:gd name="adj" fmla="val 25000"/>
              </a:avLst>
            </a:prstGeom>
            <a:solidFill>
              <a:schemeClr val="accent6"/>
            </a:solidFill>
            <a:ln w="9525">
              <a:solidFill>
                <a:srgbClr val="2C3D63"/>
              </a:solidFill>
            </a:ln>
          </p:spPr>
        </p:sp>
        <p:sp>
          <p:nvSpPr>
            <p:cNvPr id="27" name="Rectangle 27"/>
            <p:cNvSpPr/>
            <p:nvPr/>
          </p:nvSpPr>
          <p:spPr>
            <a:xfrm>
              <a:off x="857250" y="4762500"/>
              <a:ext cx="495300" cy="152400"/>
            </a:xfrm>
            <a:prstGeom prst="roundRect">
              <a:avLst>
                <a:gd name="adj" fmla="val 31250"/>
              </a:avLst>
            </a:prstGeom>
            <a:noFill/>
            <a:ln w="12382">
              <a:solidFill>
                <a:srgbClr val="2DD4BF"/>
              </a:solidFill>
            </a:ln>
          </p:spPr>
        </p:sp>
        <p:sp>
          <p:nvSpPr>
            <p:cNvPr id="28" name="TextBox 28"/>
            <p:cNvSpPr txBox="1"/>
            <p:nvPr/>
          </p:nvSpPr>
          <p:spPr>
            <a:xfrm>
              <a:off x="1061853" y="4781074"/>
              <a:ext cx="86094"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a:t>
              </a:r>
            </a:p>
          </p:txBody>
        </p:sp>
        <p:sp>
          <p:nvSpPr>
            <p:cNvPr id="29" name="TextBox 29"/>
            <p:cNvSpPr txBox="1"/>
            <p:nvPr/>
          </p:nvSpPr>
          <p:spPr>
            <a:xfrm>
              <a:off x="1461516" y="4772978"/>
              <a:ext cx="20361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w2</a:t>
              </a:r>
            </a:p>
          </p:txBody>
        </p:sp>
        <p:sp>
          <p:nvSpPr>
            <p:cNvPr id="30" name="TextBox 30"/>
            <p:cNvSpPr txBox="1"/>
            <p:nvPr/>
          </p:nvSpPr>
          <p:spPr>
            <a:xfrm>
              <a:off x="2819221" y="4781074"/>
              <a:ext cx="86094"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a:t>
              </a:r>
            </a:p>
          </p:txBody>
        </p:sp>
        <p:sp>
          <p:nvSpPr>
            <p:cNvPr id="31" name="Rectangle 31"/>
            <p:cNvSpPr/>
            <p:nvPr/>
          </p:nvSpPr>
          <p:spPr>
            <a:xfrm>
              <a:off x="800100" y="5029200"/>
              <a:ext cx="2233612" cy="266700"/>
            </a:xfrm>
            <a:prstGeom prst="roundRect">
              <a:avLst>
                <a:gd name="adj" fmla="val 25000"/>
              </a:avLst>
            </a:prstGeom>
            <a:solidFill>
              <a:schemeClr val="accent6"/>
            </a:solidFill>
            <a:ln w="9525">
              <a:solidFill>
                <a:srgbClr val="2C3D63"/>
              </a:solidFill>
            </a:ln>
          </p:spPr>
        </p:sp>
        <p:sp>
          <p:nvSpPr>
            <p:cNvPr id="32" name="Rectangle 32"/>
            <p:cNvSpPr/>
            <p:nvPr/>
          </p:nvSpPr>
          <p:spPr>
            <a:xfrm>
              <a:off x="857250" y="5086350"/>
              <a:ext cx="495300" cy="152400"/>
            </a:xfrm>
            <a:prstGeom prst="roundRect">
              <a:avLst>
                <a:gd name="adj" fmla="val 31250"/>
              </a:avLst>
            </a:prstGeom>
            <a:noFill/>
            <a:ln w="12382">
              <a:solidFill>
                <a:srgbClr val="2DD4BF"/>
              </a:solidFill>
            </a:ln>
          </p:spPr>
        </p:sp>
        <p:sp>
          <p:nvSpPr>
            <p:cNvPr id="33" name="TextBox 33"/>
            <p:cNvSpPr txBox="1"/>
            <p:nvPr/>
          </p:nvSpPr>
          <p:spPr>
            <a:xfrm>
              <a:off x="1061853" y="5104924"/>
              <a:ext cx="86094"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a:t>
              </a:r>
            </a:p>
          </p:txBody>
        </p:sp>
        <p:sp>
          <p:nvSpPr>
            <p:cNvPr id="34" name="TextBox 34"/>
            <p:cNvSpPr txBox="1"/>
            <p:nvPr/>
          </p:nvSpPr>
          <p:spPr>
            <a:xfrm>
              <a:off x="1461516" y="5096828"/>
              <a:ext cx="20361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w3</a:t>
              </a:r>
            </a:p>
          </p:txBody>
        </p:sp>
        <p:sp>
          <p:nvSpPr>
            <p:cNvPr id="35" name="TextBox 35"/>
            <p:cNvSpPr txBox="1"/>
            <p:nvPr/>
          </p:nvSpPr>
          <p:spPr>
            <a:xfrm>
              <a:off x="2819221" y="5104924"/>
              <a:ext cx="86094"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a:t>
              </a:r>
            </a:p>
          </p:txBody>
        </p:sp>
      </p:grpSp>
      <p:grpSp>
        <p:nvGrpSpPr>
          <p:cNvPr id="56" name="Group 56"/>
          <p:cNvGrpSpPr/>
          <p:nvPr/>
        </p:nvGrpSpPr>
        <p:grpSpPr>
          <a:xfrm>
            <a:off x="3395662" y="2609850"/>
            <a:ext cx="2614612" cy="3257550"/>
            <a:chOff x="3395662" y="2609850"/>
            <a:chExt cx="2614612" cy="3257550"/>
          </a:xfrm>
        </p:grpSpPr>
        <p:sp>
          <p:nvSpPr>
            <p:cNvPr id="37" name="Rectangle 37"/>
            <p:cNvSpPr/>
            <p:nvPr/>
          </p:nvSpPr>
          <p:spPr>
            <a:xfrm>
              <a:off x="3395662" y="2609850"/>
              <a:ext cx="2614612" cy="3257550"/>
            </a:xfrm>
            <a:prstGeom prst="roundRect">
              <a:avLst>
                <a:gd name="adj" fmla="val 5100"/>
              </a:avLst>
            </a:prstGeom>
            <a:solidFill>
              <a:schemeClr val="accent5"/>
            </a:solidFill>
            <a:ln w="13335">
              <a:solidFill>
                <a:srgbClr val="2C3D63"/>
              </a:solidFill>
            </a:ln>
          </p:spPr>
        </p:sp>
        <p:sp>
          <p:nvSpPr>
            <p:cNvPr id="38" name="Rectangle 38"/>
            <p:cNvSpPr/>
            <p:nvPr/>
          </p:nvSpPr>
          <p:spPr>
            <a:xfrm>
              <a:off x="3395662" y="2609850"/>
              <a:ext cx="2614612" cy="47625"/>
            </a:xfrm>
            <a:prstGeom prst="roundRect">
              <a:avLst>
                <a:gd name="adj" fmla="val 40000"/>
              </a:avLst>
            </a:prstGeom>
            <a:solidFill>
              <a:schemeClr val="accent2"/>
            </a:solidFill>
            <a:ln>
              <a:noFill/>
            </a:ln>
          </p:spPr>
        </p:sp>
        <p:sp>
          <p:nvSpPr>
            <p:cNvPr id="39" name="Ellipse 39"/>
            <p:cNvSpPr/>
            <p:nvPr/>
          </p:nvSpPr>
          <p:spPr>
            <a:xfrm>
              <a:off x="3538538" y="2886075"/>
              <a:ext cx="133350" cy="133350"/>
            </a:xfrm>
            <a:prstGeom prst="ellipse">
              <a:avLst/>
            </a:prstGeom>
            <a:solidFill>
              <a:schemeClr val="accent2"/>
            </a:solidFill>
            <a:ln>
              <a:noFill/>
            </a:ln>
          </p:spPr>
        </p:sp>
        <p:sp>
          <p:nvSpPr>
            <p:cNvPr id="40" name="TextBox 40"/>
            <p:cNvSpPr txBox="1"/>
            <p:nvPr/>
          </p:nvSpPr>
          <p:spPr>
            <a:xfrm>
              <a:off x="3769804" y="2864168"/>
              <a:ext cx="100882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RetoMaton</a:t>
              </a:r>
            </a:p>
          </p:txBody>
        </p:sp>
        <p:sp>
          <p:nvSpPr>
            <p:cNvPr id="41" name="TextBox 41"/>
            <p:cNvSpPr txBox="1"/>
            <p:nvPr/>
          </p:nvSpPr>
          <p:spPr>
            <a:xfrm>
              <a:off x="3581019" y="3224451"/>
              <a:ext cx="1564480"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Builds a weighted finite</a:t>
              </a:r>
            </a:p>
          </p:txBody>
        </p:sp>
        <p:sp>
          <p:nvSpPr>
            <p:cNvPr id="42" name="TextBox 42"/>
            <p:cNvSpPr txBox="1"/>
            <p:nvPr/>
          </p:nvSpPr>
          <p:spPr>
            <a:xfrm>
              <a:off x="3581019" y="3443526"/>
              <a:ext cx="1621486"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automaton on top of the</a:t>
              </a:r>
            </a:p>
          </p:txBody>
        </p:sp>
        <p:sp>
          <p:nvSpPr>
            <p:cNvPr id="43" name="TextBox 43"/>
            <p:cNvSpPr txBox="1"/>
            <p:nvPr/>
          </p:nvSpPr>
          <p:spPr>
            <a:xfrm>
              <a:off x="3581019" y="3662601"/>
              <a:ext cx="1519512"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datastore, a retrieval</a:t>
              </a:r>
            </a:p>
          </p:txBody>
        </p:sp>
        <p:sp>
          <p:nvSpPr>
            <p:cNvPr id="44" name="TextBox 44"/>
            <p:cNvSpPr txBox="1"/>
            <p:nvPr/>
          </p:nvSpPr>
          <p:spPr>
            <a:xfrm>
              <a:off x="3581019" y="3881676"/>
              <a:ext cx="785294"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automaton.</a:t>
              </a:r>
            </a:p>
          </p:txBody>
        </p:sp>
        <p:sp>
          <p:nvSpPr>
            <p:cNvPr id="45" name="TextBox 45"/>
            <p:cNvSpPr txBox="1"/>
            <p:nvPr/>
          </p:nvSpPr>
          <p:spPr>
            <a:xfrm>
              <a:off x="3581400" y="5594747"/>
              <a:ext cx="1723547" cy="183356"/>
            </a:xfrm>
            <a:prstGeom prst="rect">
              <a:avLst/>
            </a:prstGeom>
            <a:noFill/>
            <a:ln>
              <a:noFill/>
            </a:ln>
          </p:spPr>
          <p:txBody>
            <a:bodyPr wrap="none" lIns="0" tIns="0" rIns="0" bIns="0" anchor="t" anchorCtr="0">
              <a:spAutoFit/>
            </a:bodyPr>
            <a:lstStyle/>
            <a:p>
              <a:pPr algn="l"/>
              <a:r>
                <a:rPr lang="en-US" sz="940" b="1" dirty="0">
                  <a:solidFill>
                    <a:schemeClr val="accent2"/>
                  </a:solidFill>
                  <a:latin typeface="+mn-lt"/>
                  <a:ea typeface="+mn-ea"/>
                  <a:cs typeface="+mn-cs"/>
                </a:rPr>
                <a:t>weighted finite automaton</a:t>
              </a:r>
            </a:p>
          </p:txBody>
        </p:sp>
        <p:sp>
          <p:nvSpPr>
            <p:cNvPr id="46" name="Ellipse 46"/>
            <p:cNvSpPr/>
            <p:nvPr/>
          </p:nvSpPr>
          <p:spPr>
            <a:xfrm>
              <a:off x="3738562" y="4762500"/>
              <a:ext cx="457200" cy="457200"/>
            </a:xfrm>
            <a:prstGeom prst="ellipse">
              <a:avLst/>
            </a:prstGeom>
            <a:solidFill>
              <a:schemeClr val="accent5"/>
            </a:solidFill>
            <a:ln w="22860">
              <a:solidFill>
                <a:srgbClr val="2DD4BF"/>
              </a:solidFill>
            </a:ln>
          </p:spPr>
        </p:sp>
        <p:sp>
          <p:nvSpPr>
            <p:cNvPr id="47" name="TextBox 47"/>
            <p:cNvSpPr txBox="1"/>
            <p:nvPr/>
          </p:nvSpPr>
          <p:spPr>
            <a:xfrm>
              <a:off x="3874375" y="4917281"/>
              <a:ext cx="185574"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q1</a:t>
              </a:r>
            </a:p>
          </p:txBody>
        </p:sp>
        <p:sp>
          <p:nvSpPr>
            <p:cNvPr id="48" name="Ellipse 48"/>
            <p:cNvSpPr/>
            <p:nvPr/>
          </p:nvSpPr>
          <p:spPr>
            <a:xfrm>
              <a:off x="4531995" y="4457700"/>
              <a:ext cx="457200" cy="457200"/>
            </a:xfrm>
            <a:prstGeom prst="ellipse">
              <a:avLst/>
            </a:prstGeom>
            <a:solidFill>
              <a:schemeClr val="accent5"/>
            </a:solidFill>
            <a:ln w="22860">
              <a:solidFill>
                <a:schemeClr val="accent2"/>
              </a:solidFill>
            </a:ln>
          </p:spPr>
        </p:sp>
        <p:sp>
          <p:nvSpPr>
            <p:cNvPr id="49" name="TextBox 49"/>
            <p:cNvSpPr txBox="1"/>
            <p:nvPr/>
          </p:nvSpPr>
          <p:spPr>
            <a:xfrm>
              <a:off x="4667808" y="4612481"/>
              <a:ext cx="185574"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q2</a:t>
              </a:r>
            </a:p>
          </p:txBody>
        </p:sp>
        <p:sp>
          <p:nvSpPr>
            <p:cNvPr id="50" name="Ellipse 50"/>
            <p:cNvSpPr/>
            <p:nvPr/>
          </p:nvSpPr>
          <p:spPr>
            <a:xfrm>
              <a:off x="5210175" y="4762500"/>
              <a:ext cx="457200" cy="457200"/>
            </a:xfrm>
            <a:prstGeom prst="ellipse">
              <a:avLst/>
            </a:prstGeom>
            <a:solidFill>
              <a:schemeClr val="accent5"/>
            </a:solidFill>
            <a:ln w="22860">
              <a:solidFill>
                <a:srgbClr val="F5B642"/>
              </a:solidFill>
            </a:ln>
          </p:spPr>
        </p:sp>
        <p:sp>
          <p:nvSpPr>
            <p:cNvPr id="51" name="TextBox 51"/>
            <p:cNvSpPr txBox="1"/>
            <p:nvPr/>
          </p:nvSpPr>
          <p:spPr>
            <a:xfrm>
              <a:off x="5345988" y="4917281"/>
              <a:ext cx="185574" cy="220028"/>
            </a:xfrm>
            <a:prstGeom prst="rect">
              <a:avLst/>
            </a:prstGeom>
            <a:noFill/>
            <a:ln>
              <a:noFill/>
            </a:ln>
          </p:spPr>
          <p:txBody>
            <a:bodyPr wrap="none" lIns="0" tIns="0" rIns="0" bIns="0" anchor="t" anchorCtr="0">
              <a:spAutoFit/>
            </a:bodyPr>
            <a:lstStyle/>
            <a:p>
              <a:pPr algn="ctr"/>
              <a:r>
                <a:rPr lang="en-US" sz="1120" b="1" dirty="0">
                  <a:solidFill>
                    <a:srgbClr val="F5B642"/>
                  </a:solidFill>
                  <a:latin typeface="+mn-lt"/>
                  <a:ea typeface="+mn-ea"/>
                  <a:cs typeface="+mn-cs"/>
                </a:rPr>
                <a:t>q3</a:t>
              </a:r>
            </a:p>
          </p:txBody>
        </p:sp>
        <p:sp>
          <p:nvSpPr>
            <p:cNvPr id="52" name="Line 52"/>
            <p:cNvSpPr/>
            <p:nvPr/>
          </p:nvSpPr>
          <p:spPr>
            <a:xfrm>
              <a:off x="4176712" y="4743450"/>
              <a:ext cx="393383" cy="190500"/>
            </a:xfrm>
            <a:custGeom>
              <a:avLst/>
              <a:gdLst/>
              <a:ahLst/>
              <a:cxnLst/>
              <a:rect l="l" t="t" r="r" b="b"/>
              <a:pathLst>
                <a:path w="393383" h="190500">
                  <a:moveTo>
                    <a:pt x="0" y="190500"/>
                  </a:moveTo>
                  <a:lnTo>
                    <a:pt x="393383" y="0"/>
                  </a:lnTo>
                </a:path>
              </a:pathLst>
            </a:custGeom>
            <a:noFill/>
            <a:ln w="19050" cap="rnd">
              <a:solidFill>
                <a:srgbClr val="F5B642"/>
              </a:solidFill>
            </a:ln>
          </p:spPr>
        </p:sp>
        <p:sp>
          <p:nvSpPr>
            <p:cNvPr id="53" name="Polyline 53"/>
            <p:cNvSpPr/>
            <p:nvPr/>
          </p:nvSpPr>
          <p:spPr>
            <a:xfrm>
              <a:off x="4484370" y="4740592"/>
              <a:ext cx="85725" cy="72390"/>
            </a:xfrm>
            <a:custGeom>
              <a:avLst/>
              <a:gdLst/>
              <a:ahLst/>
              <a:cxnLst/>
              <a:rect l="l" t="t" r="r" b="b"/>
              <a:pathLst>
                <a:path w="85725" h="72390">
                  <a:moveTo>
                    <a:pt x="34290" y="72390"/>
                  </a:moveTo>
                  <a:lnTo>
                    <a:pt x="85725" y="2858"/>
                  </a:lnTo>
                  <a:lnTo>
                    <a:pt x="0" y="0"/>
                  </a:lnTo>
                </a:path>
              </a:pathLst>
            </a:custGeom>
            <a:noFill/>
            <a:ln w="19050" cap="rnd">
              <a:solidFill>
                <a:srgbClr val="F5B642"/>
              </a:solidFill>
              <a:round/>
            </a:ln>
          </p:spPr>
        </p:sp>
        <p:sp>
          <p:nvSpPr>
            <p:cNvPr id="54" name="Line 54"/>
            <p:cNvSpPr/>
            <p:nvPr/>
          </p:nvSpPr>
          <p:spPr>
            <a:xfrm>
              <a:off x="4970145" y="4743450"/>
              <a:ext cx="259080" cy="190500"/>
            </a:xfrm>
            <a:custGeom>
              <a:avLst/>
              <a:gdLst/>
              <a:ahLst/>
              <a:cxnLst/>
              <a:rect l="l" t="t" r="r" b="b"/>
              <a:pathLst>
                <a:path w="259080" h="190500">
                  <a:moveTo>
                    <a:pt x="0" y="0"/>
                  </a:moveTo>
                  <a:lnTo>
                    <a:pt x="259080" y="190500"/>
                  </a:lnTo>
                </a:path>
              </a:pathLst>
            </a:custGeom>
            <a:noFill/>
            <a:ln w="19050" cap="rnd">
              <a:solidFill>
                <a:srgbClr val="F5B642"/>
              </a:solidFill>
            </a:ln>
          </p:spPr>
        </p:sp>
        <p:sp>
          <p:nvSpPr>
            <p:cNvPr id="55" name="Polyline 55"/>
            <p:cNvSpPr/>
            <p:nvPr/>
          </p:nvSpPr>
          <p:spPr>
            <a:xfrm>
              <a:off x="5144452" y="4856798"/>
              <a:ext cx="84772" cy="77153"/>
            </a:xfrm>
            <a:custGeom>
              <a:avLst/>
              <a:gdLst/>
              <a:ahLst/>
              <a:cxnLst/>
              <a:rect l="l" t="t" r="r" b="b"/>
              <a:pathLst>
                <a:path w="84772" h="77153">
                  <a:moveTo>
                    <a:pt x="0" y="64770"/>
                  </a:moveTo>
                  <a:lnTo>
                    <a:pt x="84772" y="77153"/>
                  </a:lnTo>
                  <a:lnTo>
                    <a:pt x="47625" y="0"/>
                  </a:lnTo>
                </a:path>
              </a:pathLst>
            </a:custGeom>
            <a:noFill/>
            <a:ln w="19050" cap="rnd">
              <a:solidFill>
                <a:srgbClr val="F5B642"/>
              </a:solidFill>
              <a:round/>
            </a:ln>
          </p:spPr>
        </p:sp>
      </p:grpSp>
      <p:grpSp>
        <p:nvGrpSpPr>
          <p:cNvPr id="78" name="Group 78"/>
          <p:cNvGrpSpPr/>
          <p:nvPr/>
        </p:nvGrpSpPr>
        <p:grpSpPr>
          <a:xfrm>
            <a:off x="6181725" y="2609850"/>
            <a:ext cx="2614612" cy="3257550"/>
            <a:chOff x="6181725" y="2609850"/>
            <a:chExt cx="2614612" cy="3257550"/>
          </a:xfrm>
        </p:grpSpPr>
        <p:sp>
          <p:nvSpPr>
            <p:cNvPr id="57" name="Rectangle 57"/>
            <p:cNvSpPr/>
            <p:nvPr/>
          </p:nvSpPr>
          <p:spPr>
            <a:xfrm>
              <a:off x="6181725" y="2609850"/>
              <a:ext cx="2614612" cy="3257550"/>
            </a:xfrm>
            <a:prstGeom prst="roundRect">
              <a:avLst>
                <a:gd name="adj" fmla="val 5100"/>
              </a:avLst>
            </a:prstGeom>
            <a:solidFill>
              <a:schemeClr val="accent5"/>
            </a:solidFill>
            <a:ln w="13335">
              <a:solidFill>
                <a:srgbClr val="2C3D63"/>
              </a:solidFill>
            </a:ln>
          </p:spPr>
        </p:sp>
        <p:sp>
          <p:nvSpPr>
            <p:cNvPr id="58" name="Rectangle 58"/>
            <p:cNvSpPr/>
            <p:nvPr/>
          </p:nvSpPr>
          <p:spPr>
            <a:xfrm>
              <a:off x="6181725" y="2609850"/>
              <a:ext cx="2614612" cy="47625"/>
            </a:xfrm>
            <a:prstGeom prst="roundRect">
              <a:avLst>
                <a:gd name="adj" fmla="val 40000"/>
              </a:avLst>
            </a:prstGeom>
            <a:solidFill>
              <a:srgbClr val="F5B642"/>
            </a:solidFill>
            <a:ln>
              <a:noFill/>
            </a:ln>
          </p:spPr>
        </p:sp>
        <p:sp>
          <p:nvSpPr>
            <p:cNvPr id="59" name="Ellipse 59"/>
            <p:cNvSpPr/>
            <p:nvPr/>
          </p:nvSpPr>
          <p:spPr>
            <a:xfrm>
              <a:off x="6324600" y="2886075"/>
              <a:ext cx="133350" cy="133350"/>
            </a:xfrm>
            <a:prstGeom prst="ellipse">
              <a:avLst/>
            </a:prstGeom>
            <a:solidFill>
              <a:srgbClr val="F5B642"/>
            </a:solidFill>
            <a:ln>
              <a:noFill/>
            </a:ln>
          </p:spPr>
        </p:sp>
        <p:sp>
          <p:nvSpPr>
            <p:cNvPr id="60" name="TextBox 60"/>
            <p:cNvSpPr txBox="1"/>
            <p:nvPr/>
          </p:nvSpPr>
          <p:spPr>
            <a:xfrm>
              <a:off x="6555867" y="2864168"/>
              <a:ext cx="166807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Pointers + States</a:t>
              </a:r>
            </a:p>
          </p:txBody>
        </p:sp>
        <p:sp>
          <p:nvSpPr>
            <p:cNvPr id="61" name="TextBox 61"/>
            <p:cNvSpPr txBox="1"/>
            <p:nvPr/>
          </p:nvSpPr>
          <p:spPr>
            <a:xfrm>
              <a:off x="6367082" y="3224451"/>
              <a:ext cx="1585141"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Saves pointers between</a:t>
              </a:r>
            </a:p>
          </p:txBody>
        </p:sp>
        <p:sp>
          <p:nvSpPr>
            <p:cNvPr id="62" name="TextBox 62"/>
            <p:cNvSpPr txBox="1"/>
            <p:nvPr/>
          </p:nvSpPr>
          <p:spPr>
            <a:xfrm>
              <a:off x="6367082" y="3443526"/>
              <a:ext cx="1594293"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consecutive entries and</a:t>
              </a:r>
            </a:p>
          </p:txBody>
        </p:sp>
        <p:sp>
          <p:nvSpPr>
            <p:cNvPr id="63" name="TextBox 63"/>
            <p:cNvSpPr txBox="1"/>
            <p:nvPr/>
          </p:nvSpPr>
          <p:spPr>
            <a:xfrm>
              <a:off x="6367082" y="3662601"/>
              <a:ext cx="1410739"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clusters entries into</a:t>
              </a:r>
            </a:p>
          </p:txBody>
        </p:sp>
        <p:sp>
          <p:nvSpPr>
            <p:cNvPr id="64" name="TextBox 64"/>
            <p:cNvSpPr txBox="1"/>
            <p:nvPr/>
          </p:nvSpPr>
          <p:spPr>
            <a:xfrm>
              <a:off x="6367082" y="3881676"/>
              <a:ext cx="1274773"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automaton states.</a:t>
              </a:r>
            </a:p>
          </p:txBody>
        </p:sp>
        <p:sp>
          <p:nvSpPr>
            <p:cNvPr id="65" name="TextBox 65"/>
            <p:cNvSpPr txBox="1"/>
            <p:nvPr/>
          </p:nvSpPr>
          <p:spPr>
            <a:xfrm>
              <a:off x="6367462" y="5594747"/>
              <a:ext cx="1265146" cy="183356"/>
            </a:xfrm>
            <a:prstGeom prst="rect">
              <a:avLst/>
            </a:prstGeom>
            <a:noFill/>
            <a:ln>
              <a:noFill/>
            </a:ln>
          </p:spPr>
          <p:txBody>
            <a:bodyPr wrap="none" lIns="0" tIns="0" rIns="0" bIns="0" anchor="t" anchorCtr="0">
              <a:spAutoFit/>
            </a:bodyPr>
            <a:lstStyle/>
            <a:p>
              <a:pPr algn="l"/>
              <a:r>
                <a:rPr lang="en-US" sz="940" b="1" dirty="0">
                  <a:solidFill>
                    <a:srgbClr val="F5B642"/>
                  </a:solidFill>
                  <a:latin typeface="+mn-lt"/>
                  <a:ea typeface="+mn-ea"/>
                  <a:cs typeface="+mn-cs"/>
                </a:rPr>
                <a:t>pointers · clusters</a:t>
              </a:r>
            </a:p>
          </p:txBody>
        </p:sp>
        <p:sp>
          <p:nvSpPr>
            <p:cNvPr id="66" name="Ellipse 66"/>
            <p:cNvSpPr/>
            <p:nvPr/>
          </p:nvSpPr>
          <p:spPr>
            <a:xfrm>
              <a:off x="6448425" y="4591050"/>
              <a:ext cx="190500" cy="190500"/>
            </a:xfrm>
            <a:prstGeom prst="ellipse">
              <a:avLst/>
            </a:prstGeom>
            <a:solidFill>
              <a:srgbClr val="2DD4BF"/>
            </a:solidFill>
            <a:ln w="14288">
              <a:solidFill>
                <a:srgbClr val="2DD4BF"/>
              </a:solidFill>
            </a:ln>
          </p:spPr>
        </p:sp>
        <p:sp>
          <p:nvSpPr>
            <p:cNvPr id="67" name="Line 67"/>
            <p:cNvSpPr/>
            <p:nvPr/>
          </p:nvSpPr>
          <p:spPr>
            <a:xfrm>
              <a:off x="6648450" y="4686300"/>
              <a:ext cx="342900" cy="9525"/>
            </a:xfrm>
            <a:custGeom>
              <a:avLst/>
              <a:gdLst/>
              <a:ahLst/>
              <a:cxnLst/>
              <a:rect l="l" t="t" r="r" b="b"/>
              <a:pathLst>
                <a:path w="342900" h="9525">
                  <a:moveTo>
                    <a:pt x="0" y="0"/>
                  </a:moveTo>
                  <a:lnTo>
                    <a:pt x="342900" y="0"/>
                  </a:lnTo>
                </a:path>
              </a:pathLst>
            </a:custGeom>
            <a:noFill/>
            <a:ln w="19050" cap="rnd">
              <a:solidFill>
                <a:srgbClr val="F5B642"/>
              </a:solidFill>
            </a:ln>
          </p:spPr>
        </p:sp>
        <p:sp>
          <p:nvSpPr>
            <p:cNvPr id="68" name="Polyline 68"/>
            <p:cNvSpPr/>
            <p:nvPr/>
          </p:nvSpPr>
          <p:spPr>
            <a:xfrm>
              <a:off x="6916102" y="4646295"/>
              <a:ext cx="75247" cy="80010"/>
            </a:xfrm>
            <a:custGeom>
              <a:avLst/>
              <a:gdLst/>
              <a:ahLst/>
              <a:cxnLst/>
              <a:rect l="l" t="t" r="r" b="b"/>
              <a:pathLst>
                <a:path w="75247" h="80010">
                  <a:moveTo>
                    <a:pt x="0" y="80010"/>
                  </a:moveTo>
                  <a:lnTo>
                    <a:pt x="75247" y="40005"/>
                  </a:lnTo>
                  <a:lnTo>
                    <a:pt x="0" y="0"/>
                  </a:lnTo>
                </a:path>
              </a:pathLst>
            </a:custGeom>
            <a:noFill/>
            <a:ln w="19050" cap="rnd">
              <a:solidFill>
                <a:srgbClr val="F5B642"/>
              </a:solidFill>
              <a:round/>
            </a:ln>
          </p:spPr>
        </p:sp>
        <p:sp>
          <p:nvSpPr>
            <p:cNvPr id="69" name="Ellipse 69"/>
            <p:cNvSpPr/>
            <p:nvPr/>
          </p:nvSpPr>
          <p:spPr>
            <a:xfrm>
              <a:off x="7000875" y="4591050"/>
              <a:ext cx="190500" cy="190500"/>
            </a:xfrm>
            <a:prstGeom prst="ellipse">
              <a:avLst/>
            </a:prstGeom>
            <a:solidFill>
              <a:schemeClr val="accent6"/>
            </a:solidFill>
            <a:ln w="14288">
              <a:solidFill>
                <a:srgbClr val="2DD4BF"/>
              </a:solidFill>
            </a:ln>
          </p:spPr>
        </p:sp>
        <p:sp>
          <p:nvSpPr>
            <p:cNvPr id="70" name="Line 70"/>
            <p:cNvSpPr/>
            <p:nvPr/>
          </p:nvSpPr>
          <p:spPr>
            <a:xfrm>
              <a:off x="7200900" y="4686300"/>
              <a:ext cx="342900" cy="9525"/>
            </a:xfrm>
            <a:custGeom>
              <a:avLst/>
              <a:gdLst/>
              <a:ahLst/>
              <a:cxnLst/>
              <a:rect l="l" t="t" r="r" b="b"/>
              <a:pathLst>
                <a:path w="342900" h="9525">
                  <a:moveTo>
                    <a:pt x="0" y="0"/>
                  </a:moveTo>
                  <a:lnTo>
                    <a:pt x="342900" y="0"/>
                  </a:lnTo>
                </a:path>
              </a:pathLst>
            </a:custGeom>
            <a:noFill/>
            <a:ln w="19050" cap="rnd">
              <a:solidFill>
                <a:srgbClr val="F5B642"/>
              </a:solidFill>
            </a:ln>
          </p:spPr>
        </p:sp>
        <p:sp>
          <p:nvSpPr>
            <p:cNvPr id="71" name="Polyline 71"/>
            <p:cNvSpPr/>
            <p:nvPr/>
          </p:nvSpPr>
          <p:spPr>
            <a:xfrm>
              <a:off x="7468552" y="4646295"/>
              <a:ext cx="75247" cy="80010"/>
            </a:xfrm>
            <a:custGeom>
              <a:avLst/>
              <a:gdLst/>
              <a:ahLst/>
              <a:cxnLst/>
              <a:rect l="l" t="t" r="r" b="b"/>
              <a:pathLst>
                <a:path w="75247" h="80010">
                  <a:moveTo>
                    <a:pt x="0" y="80010"/>
                  </a:moveTo>
                  <a:lnTo>
                    <a:pt x="75247" y="40005"/>
                  </a:lnTo>
                  <a:lnTo>
                    <a:pt x="0" y="0"/>
                  </a:lnTo>
                </a:path>
              </a:pathLst>
            </a:custGeom>
            <a:noFill/>
            <a:ln w="19050" cap="rnd">
              <a:solidFill>
                <a:srgbClr val="F5B642"/>
              </a:solidFill>
              <a:round/>
            </a:ln>
          </p:spPr>
        </p:sp>
        <p:sp>
          <p:nvSpPr>
            <p:cNvPr id="72" name="Ellipse 72"/>
            <p:cNvSpPr/>
            <p:nvPr/>
          </p:nvSpPr>
          <p:spPr>
            <a:xfrm>
              <a:off x="7553325" y="4591050"/>
              <a:ext cx="190500" cy="190500"/>
            </a:xfrm>
            <a:prstGeom prst="ellipse">
              <a:avLst/>
            </a:prstGeom>
            <a:solidFill>
              <a:schemeClr val="accent6"/>
            </a:solidFill>
            <a:ln w="14288">
              <a:solidFill>
                <a:srgbClr val="2DD4BF"/>
              </a:solidFill>
            </a:ln>
          </p:spPr>
        </p:sp>
        <p:sp>
          <p:nvSpPr>
            <p:cNvPr id="73" name="Line 73"/>
            <p:cNvSpPr/>
            <p:nvPr/>
          </p:nvSpPr>
          <p:spPr>
            <a:xfrm>
              <a:off x="7753350" y="4686300"/>
              <a:ext cx="342900" cy="9525"/>
            </a:xfrm>
            <a:custGeom>
              <a:avLst/>
              <a:gdLst/>
              <a:ahLst/>
              <a:cxnLst/>
              <a:rect l="l" t="t" r="r" b="b"/>
              <a:pathLst>
                <a:path w="342900" h="9525">
                  <a:moveTo>
                    <a:pt x="0" y="0"/>
                  </a:moveTo>
                  <a:lnTo>
                    <a:pt x="342900" y="0"/>
                  </a:lnTo>
                </a:path>
              </a:pathLst>
            </a:custGeom>
            <a:noFill/>
            <a:ln w="19050" cap="rnd">
              <a:solidFill>
                <a:srgbClr val="F5B642"/>
              </a:solidFill>
            </a:ln>
          </p:spPr>
        </p:sp>
        <p:sp>
          <p:nvSpPr>
            <p:cNvPr id="74" name="Polyline 74"/>
            <p:cNvSpPr/>
            <p:nvPr/>
          </p:nvSpPr>
          <p:spPr>
            <a:xfrm>
              <a:off x="8021002" y="4646295"/>
              <a:ext cx="75247" cy="80010"/>
            </a:xfrm>
            <a:custGeom>
              <a:avLst/>
              <a:gdLst/>
              <a:ahLst/>
              <a:cxnLst/>
              <a:rect l="l" t="t" r="r" b="b"/>
              <a:pathLst>
                <a:path w="75247" h="80010">
                  <a:moveTo>
                    <a:pt x="0" y="80010"/>
                  </a:moveTo>
                  <a:lnTo>
                    <a:pt x="75247" y="40005"/>
                  </a:lnTo>
                  <a:lnTo>
                    <a:pt x="0" y="0"/>
                  </a:lnTo>
                </a:path>
              </a:pathLst>
            </a:custGeom>
            <a:noFill/>
            <a:ln w="19050" cap="rnd">
              <a:solidFill>
                <a:srgbClr val="F5B642"/>
              </a:solidFill>
              <a:round/>
            </a:ln>
          </p:spPr>
        </p:sp>
        <p:sp>
          <p:nvSpPr>
            <p:cNvPr id="75" name="Ellipse 75"/>
            <p:cNvSpPr/>
            <p:nvPr/>
          </p:nvSpPr>
          <p:spPr>
            <a:xfrm>
              <a:off x="8105775" y="4591050"/>
              <a:ext cx="190500" cy="190500"/>
            </a:xfrm>
            <a:prstGeom prst="ellipse">
              <a:avLst/>
            </a:prstGeom>
            <a:solidFill>
              <a:schemeClr val="accent6"/>
            </a:solidFill>
            <a:ln w="14288">
              <a:solidFill>
                <a:srgbClr val="2DD4BF"/>
              </a:solidFill>
            </a:ln>
          </p:spPr>
        </p:sp>
        <p:sp>
          <p:nvSpPr>
            <p:cNvPr id="76" name="Ellipse 76"/>
            <p:cNvSpPr/>
            <p:nvPr/>
          </p:nvSpPr>
          <p:spPr>
            <a:xfrm>
              <a:off x="6822281" y="5010150"/>
              <a:ext cx="1333500" cy="381000"/>
            </a:xfrm>
            <a:prstGeom prst="ellipse">
              <a:avLst/>
            </a:prstGeom>
            <a:noFill/>
            <a:ln w="14288">
              <a:solidFill>
                <a:srgbClr val="F5B642"/>
              </a:solidFill>
              <a:prstDash val="dash"/>
            </a:ln>
          </p:spPr>
        </p:sp>
        <p:sp>
          <p:nvSpPr>
            <p:cNvPr id="77" name="TextBox 77"/>
            <p:cNvSpPr txBox="1"/>
            <p:nvPr/>
          </p:nvSpPr>
          <p:spPr>
            <a:xfrm>
              <a:off x="7199071" y="5151120"/>
              <a:ext cx="578968" cy="176212"/>
            </a:xfrm>
            <a:prstGeom prst="rect">
              <a:avLst/>
            </a:prstGeom>
            <a:noFill/>
            <a:ln>
              <a:noFill/>
            </a:ln>
          </p:spPr>
          <p:txBody>
            <a:bodyPr wrap="none" lIns="0" tIns="0" rIns="0" bIns="0" anchor="t" anchorCtr="0">
              <a:spAutoFit/>
            </a:bodyPr>
            <a:lstStyle/>
            <a:p>
              <a:pPr algn="ctr"/>
              <a:r>
                <a:rPr lang="en-US" sz="900" dirty="0">
                  <a:solidFill>
                    <a:srgbClr val="F5B642"/>
                  </a:solidFill>
                  <a:latin typeface="+mn-lt"/>
                  <a:ea typeface="+mn-ea"/>
                  <a:cs typeface="+mn-cs"/>
                </a:rPr>
                <a:t>one state</a:t>
              </a:r>
            </a:p>
          </p:txBody>
        </p:sp>
      </p:grpSp>
      <p:grpSp>
        <p:nvGrpSpPr>
          <p:cNvPr id="90" name="Group 90"/>
          <p:cNvGrpSpPr/>
          <p:nvPr/>
        </p:nvGrpSpPr>
        <p:grpSpPr>
          <a:xfrm>
            <a:off x="8967788" y="2609850"/>
            <a:ext cx="2614612" cy="3257550"/>
            <a:chOff x="8967788" y="2609850"/>
            <a:chExt cx="2614612" cy="3257550"/>
          </a:xfrm>
        </p:grpSpPr>
        <p:sp>
          <p:nvSpPr>
            <p:cNvPr id="79" name="Rectangle 79"/>
            <p:cNvSpPr/>
            <p:nvPr/>
          </p:nvSpPr>
          <p:spPr>
            <a:xfrm>
              <a:off x="8967788" y="2609850"/>
              <a:ext cx="2614612" cy="3257550"/>
            </a:xfrm>
            <a:prstGeom prst="roundRect">
              <a:avLst>
                <a:gd name="adj" fmla="val 5100"/>
              </a:avLst>
            </a:prstGeom>
            <a:solidFill>
              <a:schemeClr val="accent5"/>
            </a:solidFill>
            <a:ln w="13335">
              <a:solidFill>
                <a:srgbClr val="2C3D63"/>
              </a:solidFill>
            </a:ln>
          </p:spPr>
        </p:sp>
        <p:sp>
          <p:nvSpPr>
            <p:cNvPr id="80" name="Rectangle 80"/>
            <p:cNvSpPr/>
            <p:nvPr/>
          </p:nvSpPr>
          <p:spPr>
            <a:xfrm>
              <a:off x="8967788" y="2609850"/>
              <a:ext cx="2614612" cy="47625"/>
            </a:xfrm>
            <a:prstGeom prst="roundRect">
              <a:avLst>
                <a:gd name="adj" fmla="val 40000"/>
              </a:avLst>
            </a:prstGeom>
            <a:solidFill>
              <a:srgbClr val="34D399"/>
            </a:solidFill>
            <a:ln>
              <a:noFill/>
            </a:ln>
          </p:spPr>
        </p:sp>
        <p:sp>
          <p:nvSpPr>
            <p:cNvPr id="81" name="Ellipse 81"/>
            <p:cNvSpPr/>
            <p:nvPr/>
          </p:nvSpPr>
          <p:spPr>
            <a:xfrm>
              <a:off x="9110662" y="2886075"/>
              <a:ext cx="133350" cy="133350"/>
            </a:xfrm>
            <a:prstGeom prst="ellipse">
              <a:avLst/>
            </a:prstGeom>
            <a:solidFill>
              <a:srgbClr val="34D399"/>
            </a:solidFill>
            <a:ln>
              <a:noFill/>
            </a:ln>
          </p:spPr>
        </p:sp>
        <p:sp>
          <p:nvSpPr>
            <p:cNvPr id="82" name="TextBox 82"/>
            <p:cNvSpPr txBox="1"/>
            <p:nvPr/>
          </p:nvSpPr>
          <p:spPr>
            <a:xfrm>
              <a:off x="9341930" y="2864168"/>
              <a:ext cx="97983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Result</a:t>
              </a:r>
            </a:p>
          </p:txBody>
        </p:sp>
        <p:sp>
          <p:nvSpPr>
            <p:cNvPr id="83" name="TextBox 83"/>
            <p:cNvSpPr txBox="1"/>
            <p:nvPr/>
          </p:nvSpPr>
          <p:spPr>
            <a:xfrm>
              <a:off x="9153144" y="3224451"/>
              <a:ext cx="1091176"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Up to 83% fewer</a:t>
              </a:r>
            </a:p>
          </p:txBody>
        </p:sp>
        <p:sp>
          <p:nvSpPr>
            <p:cNvPr id="84" name="TextBox 84"/>
            <p:cNvSpPr txBox="1"/>
            <p:nvPr/>
          </p:nvSpPr>
          <p:spPr>
            <a:xfrm>
              <a:off x="9153144" y="3443526"/>
              <a:ext cx="1811839"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nearest-neighbor searches</a:t>
              </a:r>
            </a:p>
          </p:txBody>
        </p:sp>
        <p:sp>
          <p:nvSpPr>
            <p:cNvPr id="85" name="TextBox 85"/>
            <p:cNvSpPr txBox="1"/>
            <p:nvPr/>
          </p:nvSpPr>
          <p:spPr>
            <a:xfrm>
              <a:off x="9153144" y="3662601"/>
              <a:ext cx="1784646"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with no perplexity loss, or</a:t>
              </a:r>
            </a:p>
          </p:txBody>
        </p:sp>
        <p:sp>
          <p:nvSpPr>
            <p:cNvPr id="86" name="TextBox 86"/>
            <p:cNvSpPr txBox="1"/>
            <p:nvPr/>
          </p:nvSpPr>
          <p:spPr>
            <a:xfrm>
              <a:off x="9153144" y="3881676"/>
              <a:ext cx="1512714"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1.85 lower perplexity.</a:t>
              </a:r>
            </a:p>
          </p:txBody>
        </p:sp>
        <p:sp>
          <p:nvSpPr>
            <p:cNvPr id="87" name="TextBox 87"/>
            <p:cNvSpPr txBox="1"/>
            <p:nvPr/>
          </p:nvSpPr>
          <p:spPr>
            <a:xfrm>
              <a:off x="9153525" y="5594747"/>
              <a:ext cx="1311650" cy="183356"/>
            </a:xfrm>
            <a:prstGeom prst="rect">
              <a:avLst/>
            </a:prstGeom>
            <a:noFill/>
            <a:ln>
              <a:noFill/>
            </a:ln>
          </p:spPr>
          <p:txBody>
            <a:bodyPr wrap="none" lIns="0" tIns="0" rIns="0" bIns="0" anchor="t" anchorCtr="0">
              <a:spAutoFit/>
            </a:bodyPr>
            <a:lstStyle/>
            <a:p>
              <a:pPr algn="l"/>
              <a:r>
                <a:rPr lang="en-US" sz="940" b="1" dirty="0">
                  <a:solidFill>
                    <a:srgbClr val="34D399"/>
                  </a:solidFill>
                  <a:latin typeface="+mn-lt"/>
                  <a:ea typeface="+mn-ea"/>
                  <a:cs typeface="+mn-cs"/>
                </a:rPr>
                <a:t>83% fewer searches</a:t>
              </a:r>
            </a:p>
          </p:txBody>
        </p:sp>
        <p:sp>
          <p:nvSpPr>
            <p:cNvPr id="88" name="TextBox 88"/>
            <p:cNvSpPr txBox="1"/>
            <p:nvPr/>
          </p:nvSpPr>
          <p:spPr>
            <a:xfrm>
              <a:off x="9726984" y="4553902"/>
              <a:ext cx="1097172" cy="790575"/>
            </a:xfrm>
            <a:prstGeom prst="rect">
              <a:avLst/>
            </a:prstGeom>
            <a:noFill/>
            <a:ln>
              <a:noFill/>
            </a:ln>
          </p:spPr>
          <p:txBody>
            <a:bodyPr wrap="none" lIns="0" tIns="0" rIns="0" bIns="0" anchor="t" anchorCtr="0">
              <a:spAutoFit/>
            </a:bodyPr>
            <a:lstStyle/>
            <a:p>
              <a:pPr algn="ctr"/>
              <a:r>
                <a:rPr lang="en-US" sz="4050" b="1" dirty="0">
                  <a:solidFill>
                    <a:srgbClr val="34D399"/>
                  </a:solidFill>
                  <a:latin typeface="+mn-lt"/>
                  <a:ea typeface="+mn-ea"/>
                  <a:cs typeface="+mn-cs"/>
                </a:rPr>
                <a:t>83%</a:t>
              </a:r>
            </a:p>
          </p:txBody>
        </p:sp>
        <p:sp>
          <p:nvSpPr>
            <p:cNvPr id="89" name="TextBox 89"/>
            <p:cNvSpPr txBox="1"/>
            <p:nvPr/>
          </p:nvSpPr>
          <p:spPr>
            <a:xfrm>
              <a:off x="9765994" y="5171599"/>
              <a:ext cx="1019152" cy="190690"/>
            </a:xfrm>
            <a:prstGeom prst="rect">
              <a:avLst/>
            </a:prstGeom>
            <a:noFill/>
            <a:ln>
              <a:noFill/>
            </a:ln>
          </p:spPr>
          <p:txBody>
            <a:bodyPr wrap="none" lIns="0" tIns="0" rIns="0" bIns="0" anchor="t" anchorCtr="0">
              <a:spAutoFit/>
            </a:bodyPr>
            <a:lstStyle/>
            <a:p>
              <a:pPr algn="ctr"/>
              <a:r>
                <a:rPr lang="en-US" sz="980" dirty="0">
                  <a:solidFill>
                    <a:srgbClr val="9FB0CC"/>
                  </a:solidFill>
                  <a:latin typeface="+mn-lt"/>
                  <a:ea typeface="+mn-ea"/>
                  <a:cs typeface="+mn-cs"/>
                </a:rPr>
                <a:t>fewer searches</a:t>
              </a:r>
            </a:p>
          </p:txBody>
        </p:sp>
      </p:grpSp>
      <p:sp>
        <p:nvSpPr>
          <p:cNvPr id="91" name="TextBox 91"/>
          <p:cNvSpPr txBox="1"/>
          <p:nvPr/>
        </p:nvSpPr>
        <p:spPr>
          <a:xfrm>
            <a:off x="10530009" y="6513195"/>
            <a:ext cx="1057153"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arXiv:2201.12431</a:t>
            </a:r>
          </a:p>
        </p:txBody>
      </p:sp>
      <p:sp>
        <p:nvSpPr>
          <p:cNvPr id="92" name="cue_s01_c1_retrieval_based_language_models_shar" title="cue_s01_c1_retrieval_based_language_models_shar" descr="cue_s01_c1_retrieval_based_language_models_shar Retrieval-based language models sharpen their predictions by pulling examples from a huge external datastore at test time, but that nearest-neighbor search is slow and runs at almost every single token."/>
          <p:cNvSpPr/>
          <p:nvPr/>
        </p:nvSpPr>
        <p:spPr>
          <a:xfrm>
            <a:off x="609600" y="2610154"/>
            <a:ext cx="2615184" cy="32575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cue_s01_c2_introduces_retomaton_short_retrieval" title="cue_s01_c2_introduces_retomaton_short_retrieval" descr="cue_s01_c2_introduces_retomaton_short_retrieval This paper introduces RetoMaton, short for retrieval automaton, which builds a weighted finite automaton on top of the datastore."/>
          <p:cNvSpPr/>
          <p:nvPr/>
        </p:nvSpPr>
        <p:spPr>
          <a:xfrm>
            <a:off x="3395472" y="2610154"/>
            <a:ext cx="2615184" cy="32575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cue_s01_c3_saving_pointers_between_consecutive" title="cue_s01_c3_saving_pointers_between_consecutive" descr="cue_s01_c3_saving_pointers_between_consecutive By saving pointers between consecutive entries and clustering entries into states, RetoMaton lets the model follow cheap automaton transitions instead of searching from scratch."/>
          <p:cNvSpPr/>
          <p:nvPr/>
        </p:nvSpPr>
        <p:spPr>
          <a:xfrm>
            <a:off x="6181344" y="2610154"/>
            <a:ext cx="2615184" cy="32575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cue_s01_c4_result_eighty_three_percent_fewer_ne" title="cue_s01_c4_result_eighty_three_percent_fewer_ne" descr="cue_s01_c4_result_eighty_three_percent_fewer_ne The result: up to eighty-three percent fewer nearest-neighbor searches with no loss in perplexity, or up to one point eight five lower perplexity when the search budget is kept."/>
          <p:cNvSpPr/>
          <p:nvPr/>
        </p:nvSpPr>
        <p:spPr>
          <a:xfrm>
            <a:off x="8967216" y="2610154"/>
            <a:ext cx="2615184" cy="32575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F87171"/>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F87171"/>
                </a:solidFill>
                <a:latin typeface="+mn-lt"/>
                <a:ea typeface="+mn-ea"/>
                <a:cs typeface="+mn-cs"/>
              </a:rPr>
              <a:t>02</a:t>
            </a:r>
          </a:p>
        </p:txBody>
      </p:sp>
      <p:sp>
        <p:nvSpPr>
          <p:cNvPr id="5" name="TextBox 5"/>
          <p:cNvSpPr txBox="1"/>
          <p:nvPr/>
        </p:nvSpPr>
        <p:spPr>
          <a:xfrm>
            <a:off x="826770" y="519112"/>
            <a:ext cx="646867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Problem: Search Dominates Inference</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26" name="Group 26"/>
          <p:cNvGrpSpPr/>
          <p:nvPr/>
        </p:nvGrpSpPr>
        <p:grpSpPr>
          <a:xfrm>
            <a:off x="609600" y="1123950"/>
            <a:ext cx="5372100" cy="2857500"/>
            <a:chOff x="609600" y="1123950"/>
            <a:chExt cx="5372100" cy="2857500"/>
          </a:xfrm>
        </p:grpSpPr>
        <p:sp>
          <p:nvSpPr>
            <p:cNvPr id="7" name="Rectangle 7"/>
            <p:cNvSpPr/>
            <p:nvPr/>
          </p:nvSpPr>
          <p:spPr>
            <a:xfrm>
              <a:off x="609600" y="1123950"/>
              <a:ext cx="5372100" cy="2857500"/>
            </a:xfrm>
            <a:prstGeom prst="roundRect">
              <a:avLst>
                <a:gd name="adj" fmla="val 4667"/>
              </a:avLst>
            </a:prstGeom>
            <a:solidFill>
              <a:schemeClr val="accent5"/>
            </a:solidFill>
            <a:ln w="14288">
              <a:solidFill>
                <a:srgbClr val="2C3D63"/>
              </a:solidFill>
            </a:ln>
          </p:spPr>
        </p:sp>
        <p:sp>
          <p:nvSpPr>
            <p:cNvPr id="8" name="Rectangle 8"/>
            <p:cNvSpPr/>
            <p:nvPr/>
          </p:nvSpPr>
          <p:spPr>
            <a:xfrm>
              <a:off x="609600" y="1123950"/>
              <a:ext cx="57150" cy="2857500"/>
            </a:xfrm>
            <a:prstGeom prst="roundRect">
              <a:avLst>
                <a:gd name="adj" fmla="val 50000"/>
              </a:avLst>
            </a:prstGeom>
            <a:solidFill>
              <a:srgbClr val="2DD4BF"/>
            </a:solidFill>
            <a:ln>
              <a:noFill/>
            </a:ln>
          </p:spPr>
        </p:sp>
        <p:sp>
          <p:nvSpPr>
            <p:cNvPr id="9" name="TextBox 9"/>
            <p:cNvSpPr txBox="1"/>
            <p:nvPr/>
          </p:nvSpPr>
          <p:spPr>
            <a:xfrm>
              <a:off x="849630" y="1266825"/>
              <a:ext cx="2018728" cy="293370"/>
            </a:xfrm>
            <a:prstGeom prst="rect">
              <a:avLst/>
            </a:prstGeom>
            <a:noFill/>
            <a:ln>
              <a:noFill/>
            </a:ln>
          </p:spPr>
          <p:txBody>
            <a:bodyPr wrap="none" lIns="0" tIns="0" rIns="0" bIns="0" anchor="t" anchorCtr="0">
              <a:spAutoFit/>
            </a:bodyPr>
            <a:lstStyle/>
            <a:p>
              <a:pPr algn="l"/>
              <a:r>
                <a:rPr lang="en-US" sz="1500" b="1" dirty="0">
                  <a:solidFill>
                    <a:srgbClr val="2DD4BF"/>
                  </a:solidFill>
                  <a:latin typeface="+mn-lt"/>
                  <a:ea typeface="+mn-ea"/>
                  <a:cs typeface="+mn-cs"/>
                </a:rPr>
                <a:t>Retrieval-based LM</a:t>
              </a:r>
            </a:p>
          </p:txBody>
        </p:sp>
        <p:sp>
          <p:nvSpPr>
            <p:cNvPr id="10" name="TextBox 10"/>
            <p:cNvSpPr txBox="1"/>
            <p:nvPr/>
          </p:nvSpPr>
          <p:spPr>
            <a:xfrm>
              <a:off x="851535" y="1593056"/>
              <a:ext cx="3250626"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Fetches nearest-neighbor examples from an</a:t>
              </a:r>
            </a:p>
          </p:txBody>
        </p:sp>
        <p:sp>
          <p:nvSpPr>
            <p:cNvPr id="11" name="TextBox 11"/>
            <p:cNvSpPr txBox="1"/>
            <p:nvPr/>
          </p:nvSpPr>
          <p:spPr>
            <a:xfrm>
              <a:off x="851535" y="1802606"/>
              <a:ext cx="3268157"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external datastore and blends them into the</a:t>
              </a:r>
            </a:p>
          </p:txBody>
        </p:sp>
        <p:sp>
          <p:nvSpPr>
            <p:cNvPr id="12" name="TextBox 12"/>
            <p:cNvSpPr txBox="1"/>
            <p:nvPr/>
          </p:nvSpPr>
          <p:spPr>
            <a:xfrm>
              <a:off x="851535" y="2012156"/>
              <a:ext cx="3170328"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prediction. Better quality than a plain LM.</a:t>
              </a:r>
            </a:p>
          </p:txBody>
        </p:sp>
        <p:sp>
          <p:nvSpPr>
            <p:cNvPr id="13" name="Ellipse 13"/>
            <p:cNvSpPr/>
            <p:nvPr/>
          </p:nvSpPr>
          <p:spPr>
            <a:xfrm>
              <a:off x="1104900" y="2724150"/>
              <a:ext cx="647700" cy="647700"/>
            </a:xfrm>
            <a:prstGeom prst="ellipse">
              <a:avLst/>
            </a:prstGeom>
            <a:solidFill>
              <a:schemeClr val="accent5"/>
            </a:solidFill>
            <a:ln w="22860">
              <a:solidFill>
                <a:schemeClr val="accent2"/>
              </a:solidFill>
            </a:ln>
          </p:spPr>
        </p:sp>
        <p:sp>
          <p:nvSpPr>
            <p:cNvPr id="14" name="TextBox 14"/>
            <p:cNvSpPr txBox="1"/>
            <p:nvPr/>
          </p:nvSpPr>
          <p:spPr>
            <a:xfrm>
              <a:off x="1314307" y="2974181"/>
              <a:ext cx="228887"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LM</a:t>
              </a:r>
            </a:p>
          </p:txBody>
        </p:sp>
        <p:sp>
          <p:nvSpPr>
            <p:cNvPr id="15" name="Line 15"/>
            <p:cNvSpPr/>
            <p:nvPr/>
          </p:nvSpPr>
          <p:spPr>
            <a:xfrm>
              <a:off x="1790700" y="3048000"/>
              <a:ext cx="704850" cy="9525"/>
            </a:xfrm>
            <a:custGeom>
              <a:avLst/>
              <a:gdLst/>
              <a:ahLst/>
              <a:cxnLst/>
              <a:rect l="l" t="t" r="r" b="b"/>
              <a:pathLst>
                <a:path w="704850" h="9525">
                  <a:moveTo>
                    <a:pt x="0" y="0"/>
                  </a:moveTo>
                  <a:lnTo>
                    <a:pt x="704850" y="0"/>
                  </a:lnTo>
                </a:path>
              </a:pathLst>
            </a:custGeom>
            <a:noFill/>
            <a:ln w="22860" cap="rnd">
              <a:solidFill>
                <a:srgbClr val="9FB0CC"/>
              </a:solidFill>
            </a:ln>
          </p:spPr>
        </p:sp>
        <p:sp>
          <p:nvSpPr>
            <p:cNvPr id="16" name="Polyline 16"/>
            <p:cNvSpPr/>
            <p:nvPr/>
          </p:nvSpPr>
          <p:spPr>
            <a:xfrm>
              <a:off x="2420302" y="3007995"/>
              <a:ext cx="75248" cy="80010"/>
            </a:xfrm>
            <a:custGeom>
              <a:avLst/>
              <a:gdLst/>
              <a:ahLst/>
              <a:cxnLst/>
              <a:rect l="l" t="t" r="r" b="b"/>
              <a:pathLst>
                <a:path w="75248" h="80010">
                  <a:moveTo>
                    <a:pt x="0" y="80010"/>
                  </a:moveTo>
                  <a:lnTo>
                    <a:pt x="75248" y="40005"/>
                  </a:lnTo>
                  <a:lnTo>
                    <a:pt x="0" y="0"/>
                  </a:lnTo>
                </a:path>
              </a:pathLst>
            </a:custGeom>
            <a:noFill/>
            <a:ln w="22860" cap="rnd">
              <a:solidFill>
                <a:srgbClr val="9FB0CC"/>
              </a:solidFill>
              <a:round/>
            </a:ln>
          </p:spPr>
        </p:sp>
        <p:sp>
          <p:nvSpPr>
            <p:cNvPr id="17" name="Rectangle 17"/>
            <p:cNvSpPr/>
            <p:nvPr/>
          </p:nvSpPr>
          <p:spPr>
            <a:xfrm>
              <a:off x="2495550" y="2762250"/>
              <a:ext cx="1257300" cy="571500"/>
            </a:xfrm>
            <a:prstGeom prst="roundRect">
              <a:avLst>
                <a:gd name="adj" fmla="val 15000"/>
              </a:avLst>
            </a:prstGeom>
            <a:solidFill>
              <a:schemeClr val="accent6"/>
            </a:solidFill>
            <a:ln w="15240">
              <a:solidFill>
                <a:srgbClr val="2DD4BF"/>
              </a:solidFill>
            </a:ln>
          </p:spPr>
        </p:sp>
        <p:sp>
          <p:nvSpPr>
            <p:cNvPr id="18" name="TextBox 18"/>
            <p:cNvSpPr txBox="1"/>
            <p:nvPr/>
          </p:nvSpPr>
          <p:spPr>
            <a:xfrm>
              <a:off x="2724196" y="2888456"/>
              <a:ext cx="800009"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Datastore</a:t>
              </a:r>
            </a:p>
          </p:txBody>
        </p:sp>
        <p:sp>
          <p:nvSpPr>
            <p:cNvPr id="19" name="TextBox 19"/>
            <p:cNvSpPr txBox="1"/>
            <p:nvPr/>
          </p:nvSpPr>
          <p:spPr>
            <a:xfrm>
              <a:off x="2919527" y="3103245"/>
              <a:ext cx="409346"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search</a:t>
              </a:r>
            </a:p>
          </p:txBody>
        </p:sp>
        <p:sp>
          <p:nvSpPr>
            <p:cNvPr id="20" name="Line 20"/>
            <p:cNvSpPr/>
            <p:nvPr/>
          </p:nvSpPr>
          <p:spPr>
            <a:xfrm>
              <a:off x="3752850" y="3048000"/>
              <a:ext cx="723900" cy="9525"/>
            </a:xfrm>
            <a:custGeom>
              <a:avLst/>
              <a:gdLst/>
              <a:ahLst/>
              <a:cxnLst/>
              <a:rect l="l" t="t" r="r" b="b"/>
              <a:pathLst>
                <a:path w="723900" h="9525">
                  <a:moveTo>
                    <a:pt x="0" y="0"/>
                  </a:moveTo>
                  <a:lnTo>
                    <a:pt x="723900" y="0"/>
                  </a:lnTo>
                </a:path>
              </a:pathLst>
            </a:custGeom>
            <a:noFill/>
            <a:ln w="22860" cap="rnd">
              <a:solidFill>
                <a:srgbClr val="9FB0CC"/>
              </a:solidFill>
            </a:ln>
          </p:spPr>
        </p:sp>
        <p:sp>
          <p:nvSpPr>
            <p:cNvPr id="21" name="Polyline 21"/>
            <p:cNvSpPr/>
            <p:nvPr/>
          </p:nvSpPr>
          <p:spPr>
            <a:xfrm>
              <a:off x="4401502" y="3007995"/>
              <a:ext cx="75247" cy="80010"/>
            </a:xfrm>
            <a:custGeom>
              <a:avLst/>
              <a:gdLst/>
              <a:ahLst/>
              <a:cxnLst/>
              <a:rect l="l" t="t" r="r" b="b"/>
              <a:pathLst>
                <a:path w="75247" h="80010">
                  <a:moveTo>
                    <a:pt x="0" y="80010"/>
                  </a:moveTo>
                  <a:lnTo>
                    <a:pt x="75247" y="40005"/>
                  </a:lnTo>
                  <a:lnTo>
                    <a:pt x="0" y="0"/>
                  </a:lnTo>
                </a:path>
              </a:pathLst>
            </a:custGeom>
            <a:noFill/>
            <a:ln w="22860" cap="rnd">
              <a:solidFill>
                <a:srgbClr val="9FB0CC"/>
              </a:solidFill>
              <a:round/>
            </a:ln>
          </p:spPr>
        </p:sp>
        <p:sp>
          <p:nvSpPr>
            <p:cNvPr id="22" name="Rectangle 22"/>
            <p:cNvSpPr/>
            <p:nvPr/>
          </p:nvSpPr>
          <p:spPr>
            <a:xfrm>
              <a:off x="4476750" y="2762250"/>
              <a:ext cx="1257300" cy="571500"/>
            </a:xfrm>
            <a:prstGeom prst="roundRect">
              <a:avLst>
                <a:gd name="adj" fmla="val 15000"/>
              </a:avLst>
            </a:prstGeom>
            <a:solidFill>
              <a:schemeClr val="accent6"/>
            </a:solidFill>
            <a:ln w="13335">
              <a:solidFill>
                <a:srgbClr val="2C3D63"/>
              </a:solidFill>
            </a:ln>
          </p:spPr>
        </p:sp>
        <p:sp>
          <p:nvSpPr>
            <p:cNvPr id="23" name="TextBox 23"/>
            <p:cNvSpPr txBox="1"/>
            <p:nvPr/>
          </p:nvSpPr>
          <p:spPr>
            <a:xfrm>
              <a:off x="4814721" y="2888456"/>
              <a:ext cx="581357"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blended</a:t>
              </a:r>
            </a:p>
          </p:txBody>
        </p:sp>
        <p:sp>
          <p:nvSpPr>
            <p:cNvPr id="24" name="TextBox 24"/>
            <p:cNvSpPr txBox="1"/>
            <p:nvPr/>
          </p:nvSpPr>
          <p:spPr>
            <a:xfrm>
              <a:off x="4797742" y="3103245"/>
              <a:ext cx="615315"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prediction</a:t>
              </a:r>
            </a:p>
          </p:txBody>
        </p:sp>
        <p:sp>
          <p:nvSpPr>
            <p:cNvPr id="25" name="TextBox 25"/>
            <p:cNvSpPr txBox="1"/>
            <p:nvPr/>
          </p:nvSpPr>
          <p:spPr>
            <a:xfrm>
              <a:off x="852297" y="3628549"/>
              <a:ext cx="3662097"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Accuracy, domain-adaptability and provenance benefits.</a:t>
              </a:r>
            </a:p>
          </p:txBody>
        </p:sp>
      </p:grpSp>
      <p:grpSp>
        <p:nvGrpSpPr>
          <p:cNvPr id="39" name="Group 39"/>
          <p:cNvGrpSpPr/>
          <p:nvPr/>
        </p:nvGrpSpPr>
        <p:grpSpPr>
          <a:xfrm>
            <a:off x="6210300" y="1123950"/>
            <a:ext cx="5372100" cy="2857500"/>
            <a:chOff x="6210300" y="1123950"/>
            <a:chExt cx="5372100" cy="2857500"/>
          </a:xfrm>
        </p:grpSpPr>
        <p:sp>
          <p:nvSpPr>
            <p:cNvPr id="27" name="Rectangle 27"/>
            <p:cNvSpPr/>
            <p:nvPr/>
          </p:nvSpPr>
          <p:spPr>
            <a:xfrm>
              <a:off x="6210300" y="1123950"/>
              <a:ext cx="5372100" cy="2857500"/>
            </a:xfrm>
            <a:prstGeom prst="roundRect">
              <a:avLst>
                <a:gd name="adj" fmla="val 4667"/>
              </a:avLst>
            </a:prstGeom>
            <a:solidFill>
              <a:schemeClr val="accent5"/>
            </a:solidFill>
            <a:ln w="14288">
              <a:solidFill>
                <a:srgbClr val="2C3D63"/>
              </a:solidFill>
            </a:ln>
          </p:spPr>
        </p:sp>
        <p:sp>
          <p:nvSpPr>
            <p:cNvPr id="28" name="Rectangle 28"/>
            <p:cNvSpPr/>
            <p:nvPr/>
          </p:nvSpPr>
          <p:spPr>
            <a:xfrm>
              <a:off x="6210300" y="1123950"/>
              <a:ext cx="57150" cy="2857500"/>
            </a:xfrm>
            <a:prstGeom prst="roundRect">
              <a:avLst>
                <a:gd name="adj" fmla="val 50000"/>
              </a:avLst>
            </a:prstGeom>
            <a:solidFill>
              <a:srgbClr val="F87171"/>
            </a:solidFill>
            <a:ln>
              <a:noFill/>
            </a:ln>
          </p:spPr>
        </p:sp>
        <p:sp>
          <p:nvSpPr>
            <p:cNvPr id="29" name="TextBox 29"/>
            <p:cNvSpPr txBox="1"/>
            <p:nvPr/>
          </p:nvSpPr>
          <p:spPr>
            <a:xfrm>
              <a:off x="6450330" y="1266825"/>
              <a:ext cx="1792819"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The catch is cost</a:t>
              </a:r>
            </a:p>
          </p:txBody>
        </p:sp>
        <p:sp>
          <p:nvSpPr>
            <p:cNvPr id="30" name="TextBox 30"/>
            <p:cNvSpPr txBox="1"/>
            <p:nvPr/>
          </p:nvSpPr>
          <p:spPr>
            <a:xfrm>
              <a:off x="6452235" y="1593056"/>
              <a:ext cx="3454076"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That datastore search can fire at every single</a:t>
              </a:r>
            </a:p>
          </p:txBody>
        </p:sp>
        <p:sp>
          <p:nvSpPr>
            <p:cNvPr id="31" name="TextBox 31"/>
            <p:cNvSpPr txBox="1"/>
            <p:nvPr/>
          </p:nvSpPr>
          <p:spPr>
            <a:xfrm>
              <a:off x="6452235" y="1802606"/>
              <a:ext cx="3554628"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time step, and it is far slower than the model's</a:t>
              </a:r>
            </a:p>
          </p:txBody>
        </p:sp>
        <p:sp>
          <p:nvSpPr>
            <p:cNvPr id="32" name="TextBox 32"/>
            <p:cNvSpPr txBox="1"/>
            <p:nvPr/>
          </p:nvSpPr>
          <p:spPr>
            <a:xfrm>
              <a:off x="6452235" y="2012156"/>
              <a:ext cx="1406093"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own forward pass.</a:t>
              </a:r>
            </a:p>
          </p:txBody>
        </p:sp>
        <p:sp>
          <p:nvSpPr>
            <p:cNvPr id="33" name="TextBox 33"/>
            <p:cNvSpPr txBox="1"/>
            <p:nvPr/>
          </p:nvSpPr>
          <p:spPr>
            <a:xfrm>
              <a:off x="6452997" y="2428399"/>
              <a:ext cx="1518137"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Relative cost per token</a:t>
              </a:r>
            </a:p>
          </p:txBody>
        </p:sp>
        <p:sp>
          <p:nvSpPr>
            <p:cNvPr id="34" name="Rectangle 34"/>
            <p:cNvSpPr/>
            <p:nvPr/>
          </p:nvSpPr>
          <p:spPr>
            <a:xfrm>
              <a:off x="6457950" y="2667000"/>
              <a:ext cx="914400" cy="247650"/>
            </a:xfrm>
            <a:prstGeom prst="roundRect">
              <a:avLst>
                <a:gd name="adj" fmla="val 23077"/>
              </a:avLst>
            </a:prstGeom>
            <a:solidFill>
              <a:schemeClr val="accent2"/>
            </a:solidFill>
            <a:ln>
              <a:noFill/>
            </a:ln>
          </p:spPr>
        </p:sp>
        <p:sp>
          <p:nvSpPr>
            <p:cNvPr id="35" name="TextBox 35"/>
            <p:cNvSpPr txBox="1"/>
            <p:nvPr/>
          </p:nvSpPr>
          <p:spPr>
            <a:xfrm>
              <a:off x="7462838" y="2741295"/>
              <a:ext cx="1005562" cy="176212"/>
            </a:xfrm>
            <a:prstGeom prst="rect">
              <a:avLst/>
            </a:prstGeom>
            <a:noFill/>
            <a:ln>
              <a:noFill/>
            </a:ln>
          </p:spPr>
          <p:txBody>
            <a:bodyPr wrap="none" lIns="0" tIns="0" rIns="0" bIns="0" anchor="t" anchorCtr="0">
              <a:spAutoFit/>
            </a:bodyPr>
            <a:lstStyle/>
            <a:p>
              <a:pPr algn="l"/>
              <a:r>
                <a:rPr lang="en-US" sz="900" dirty="0">
                  <a:solidFill>
                    <a:schemeClr val="dk1"/>
                  </a:solidFill>
                  <a:latin typeface="+mn-lt"/>
                  <a:ea typeface="+mn-ea"/>
                  <a:cs typeface="+mn-cs"/>
                </a:rPr>
                <a:t>LM forward pass</a:t>
              </a:r>
            </a:p>
          </p:txBody>
        </p:sp>
        <p:sp>
          <p:nvSpPr>
            <p:cNvPr id="36" name="Rectangle 36"/>
            <p:cNvSpPr/>
            <p:nvPr/>
          </p:nvSpPr>
          <p:spPr>
            <a:xfrm>
              <a:off x="6457950" y="3009900"/>
              <a:ext cx="4857750" cy="247650"/>
            </a:xfrm>
            <a:prstGeom prst="roundRect">
              <a:avLst>
                <a:gd name="adj" fmla="val 23077"/>
              </a:avLst>
            </a:prstGeom>
            <a:solidFill>
              <a:srgbClr val="F87171"/>
            </a:solidFill>
            <a:ln>
              <a:noFill/>
            </a:ln>
          </p:spPr>
        </p:sp>
        <p:sp>
          <p:nvSpPr>
            <p:cNvPr id="37" name="TextBox 37"/>
            <p:cNvSpPr txBox="1"/>
            <p:nvPr/>
          </p:nvSpPr>
          <p:spPr>
            <a:xfrm>
              <a:off x="9852470" y="3084195"/>
              <a:ext cx="1353693" cy="176212"/>
            </a:xfrm>
            <a:prstGeom prst="rect">
              <a:avLst/>
            </a:prstGeom>
            <a:noFill/>
            <a:ln>
              <a:noFill/>
            </a:ln>
          </p:spPr>
          <p:txBody>
            <a:bodyPr wrap="none" lIns="0" tIns="0" rIns="0" bIns="0" anchor="t" anchorCtr="0">
              <a:spAutoFit/>
            </a:bodyPr>
            <a:lstStyle/>
            <a:p>
              <a:pPr algn="r"/>
              <a:r>
                <a:rPr lang="en-US" sz="900" b="1" dirty="0">
                  <a:solidFill>
                    <a:srgbClr val="0D1526"/>
                  </a:solidFill>
                  <a:latin typeface="+mn-lt"/>
                  <a:ea typeface="+mn-ea"/>
                  <a:cs typeface="+mn-cs"/>
                </a:rPr>
                <a:t>kNN datastore search</a:t>
              </a:r>
            </a:p>
          </p:txBody>
        </p:sp>
        <p:sp>
          <p:nvSpPr>
            <p:cNvPr id="38" name="TextBox 38"/>
            <p:cNvSpPr txBox="1"/>
            <p:nvPr/>
          </p:nvSpPr>
          <p:spPr>
            <a:xfrm>
              <a:off x="6452997" y="3552349"/>
              <a:ext cx="2679557"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Search runs as often as every time step.</a:t>
              </a:r>
            </a:p>
          </p:txBody>
        </p:sp>
      </p:grpSp>
      <p:grpSp>
        <p:nvGrpSpPr>
          <p:cNvPr id="46" name="Group 46"/>
          <p:cNvGrpSpPr/>
          <p:nvPr/>
        </p:nvGrpSpPr>
        <p:grpSpPr>
          <a:xfrm>
            <a:off x="609600" y="4152900"/>
            <a:ext cx="10972800" cy="1714500"/>
            <a:chOff x="609600" y="4152900"/>
            <a:chExt cx="10972800" cy="1714500"/>
          </a:xfrm>
        </p:grpSpPr>
        <p:sp>
          <p:nvSpPr>
            <p:cNvPr id="40" name="Rectangle 40"/>
            <p:cNvSpPr/>
            <p:nvPr/>
          </p:nvSpPr>
          <p:spPr>
            <a:xfrm>
              <a:off x="609600" y="4152900"/>
              <a:ext cx="10972800" cy="1714500"/>
            </a:xfrm>
            <a:prstGeom prst="roundRect">
              <a:avLst>
                <a:gd name="adj" fmla="val 7778"/>
              </a:avLst>
            </a:prstGeom>
            <a:solidFill>
              <a:schemeClr val="accent6"/>
            </a:solidFill>
            <a:ln w="15240">
              <a:solidFill>
                <a:srgbClr val="F87171"/>
              </a:solidFill>
            </a:ln>
          </p:spPr>
        </p:sp>
        <p:sp>
          <p:nvSpPr>
            <p:cNvPr id="41" name="Ellipse 41"/>
            <p:cNvSpPr/>
            <p:nvPr/>
          </p:nvSpPr>
          <p:spPr>
            <a:xfrm>
              <a:off x="971550" y="4762500"/>
              <a:ext cx="495300" cy="495300"/>
            </a:xfrm>
            <a:prstGeom prst="ellipse">
              <a:avLst/>
            </a:prstGeom>
            <a:noFill/>
            <a:ln w="24765">
              <a:solidFill>
                <a:srgbClr val="F87171"/>
              </a:solidFill>
            </a:ln>
          </p:spPr>
        </p:sp>
        <p:sp>
          <p:nvSpPr>
            <p:cNvPr id="42" name="TextBox 42"/>
            <p:cNvSpPr txBox="1"/>
            <p:nvPr/>
          </p:nvSpPr>
          <p:spPr>
            <a:xfrm>
              <a:off x="1156122" y="4846320"/>
              <a:ext cx="126157" cy="469392"/>
            </a:xfrm>
            <a:prstGeom prst="rect">
              <a:avLst/>
            </a:prstGeom>
            <a:noFill/>
            <a:ln>
              <a:noFill/>
            </a:ln>
          </p:spPr>
          <p:txBody>
            <a:bodyPr wrap="none" lIns="0" tIns="0" rIns="0" bIns="0" anchor="t" anchorCtr="0">
              <a:spAutoFit/>
            </a:bodyPr>
            <a:lstStyle/>
            <a:p>
              <a:pPr algn="ctr"/>
              <a:r>
                <a:rPr lang="en-US" sz="2400" b="1" dirty="0">
                  <a:solidFill>
                    <a:srgbClr val="F87171"/>
                  </a:solidFill>
                  <a:latin typeface="+mn-lt"/>
                  <a:ea typeface="+mn-ea"/>
                  <a:cs typeface="+mn-cs"/>
                </a:rPr>
                <a:t>!</a:t>
              </a:r>
            </a:p>
          </p:txBody>
        </p:sp>
        <p:sp>
          <p:nvSpPr>
            <p:cNvPr id="43" name="TextBox 43"/>
            <p:cNvSpPr txBox="1"/>
            <p:nvPr/>
          </p:nvSpPr>
          <p:spPr>
            <a:xfrm>
              <a:off x="1705356" y="4587240"/>
              <a:ext cx="6743377"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Frequent search is the single most critical bottleneck</a:t>
              </a:r>
            </a:p>
          </p:txBody>
        </p:sp>
        <p:sp>
          <p:nvSpPr>
            <p:cNvPr id="44" name="TextBox 44"/>
            <p:cNvSpPr txBox="1"/>
            <p:nvPr/>
          </p:nvSpPr>
          <p:spPr>
            <a:xfrm>
              <a:off x="1708785" y="5022056"/>
              <a:ext cx="6688232"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It is the dominant computational cost at inference, and it keeps these otherwise powerful</a:t>
              </a:r>
            </a:p>
          </p:txBody>
        </p:sp>
        <p:sp>
          <p:nvSpPr>
            <p:cNvPr id="45" name="TextBox 45"/>
            <p:cNvSpPr txBox="1"/>
            <p:nvPr/>
          </p:nvSpPr>
          <p:spPr>
            <a:xfrm>
              <a:off x="1708785" y="5250656"/>
              <a:ext cx="6263305"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retrieval LMs out of practical, deployable settings despite their accuracy benefits.</a:t>
              </a:r>
            </a:p>
          </p:txBody>
        </p:sp>
      </p:grpSp>
      <p:sp>
        <p:nvSpPr>
          <p:cNvPr id="47" name="TextBox 47"/>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48" name="cue_s02_c1_retrieval_based_language_models_impr" title="cue_s02_c1_retrieval_based_language_models_impr" descr="cue_s02_c1_retrieval_based_language_models_impr Retrieval-based language models improve on standard neural models by fetching nearest-neighbor examples from an external datastore and blending them into the prediction."/>
          <p:cNvSpPr/>
          <p:nvPr/>
        </p:nvSpPr>
        <p:spPr>
          <a:xfrm>
            <a:off x="609600" y="1124026"/>
            <a:ext cx="53717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catch_cost_datastore_search_fire" title="cue_s02_c2_catch_cost_datastore_search_fire" descr="cue_s02_c2_catch_cost_datastore_search_fire The catch is cost: that datastore search can fire at every single time step, and it is far slower than the model's own forward pass."/>
          <p:cNvSpPr/>
          <p:nvPr/>
        </p:nvSpPr>
        <p:spPr>
          <a:xfrm>
            <a:off x="6210604" y="1124026"/>
            <a:ext cx="53717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3_frequent_search_single_most_critical" title="cue_s02_c3_frequent_search_single_most_critical" descr="cue_s02_c3_frequent_search_single_most_critical This frequent search is the single most critical bottleneck that keeps these otherwise powerful models out of practical settings."/>
          <p:cNvSpPr/>
          <p:nvPr/>
        </p:nvSpPr>
        <p:spPr>
          <a:xfrm>
            <a:off x="609600" y="4153204"/>
            <a:ext cx="109728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F5B642"/>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F5B642"/>
                </a:solidFill>
                <a:latin typeface="+mn-lt"/>
                <a:ea typeface="+mn-ea"/>
                <a:cs typeface="+mn-cs"/>
              </a:rPr>
              <a:t>03</a:t>
            </a:r>
          </a:p>
        </p:txBody>
      </p:sp>
      <p:sp>
        <p:nvSpPr>
          <p:cNvPr id="5" name="TextBox 5"/>
          <p:cNvSpPr txBox="1"/>
          <p:nvPr/>
        </p:nvSpPr>
        <p:spPr>
          <a:xfrm>
            <a:off x="826770" y="519112"/>
            <a:ext cx="831994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Motivation: A Flat Datastore Throws Away Structure</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11" name="Group 11"/>
          <p:cNvGrpSpPr/>
          <p:nvPr/>
        </p:nvGrpSpPr>
        <p:grpSpPr>
          <a:xfrm>
            <a:off x="609600" y="1104900"/>
            <a:ext cx="10972800" cy="886206"/>
            <a:chOff x="609600" y="1104900"/>
            <a:chExt cx="10972800" cy="886206"/>
          </a:xfrm>
        </p:grpSpPr>
        <p:sp>
          <p:nvSpPr>
            <p:cNvPr id="7" name="Rectangle 7"/>
            <p:cNvSpPr/>
            <p:nvPr/>
          </p:nvSpPr>
          <p:spPr>
            <a:xfrm>
              <a:off x="609600" y="1104900"/>
              <a:ext cx="10972800" cy="819150"/>
            </a:xfrm>
            <a:prstGeom prst="roundRect">
              <a:avLst>
                <a:gd name="adj" fmla="val 16279"/>
              </a:avLst>
            </a:prstGeom>
            <a:solidFill>
              <a:schemeClr val="accent6"/>
            </a:solidFill>
            <a:ln w="14288">
              <a:solidFill>
                <a:srgbClr val="F5B642"/>
              </a:solidFill>
            </a:ln>
          </p:spPr>
        </p:sp>
        <p:sp>
          <p:nvSpPr>
            <p:cNvPr id="8" name="TextBox 8"/>
            <p:cNvSpPr txBox="1"/>
            <p:nvPr/>
          </p:nvSpPr>
          <p:spPr>
            <a:xfrm>
              <a:off x="851154" y="1280160"/>
              <a:ext cx="1332071" cy="234696"/>
            </a:xfrm>
            <a:prstGeom prst="rect">
              <a:avLst/>
            </a:prstGeom>
            <a:noFill/>
            <a:ln>
              <a:noFill/>
            </a:ln>
          </p:spPr>
          <p:txBody>
            <a:bodyPr wrap="none" lIns="0" tIns="0" rIns="0" bIns="0" anchor="t" anchorCtr="0">
              <a:spAutoFit/>
            </a:bodyPr>
            <a:lstStyle/>
            <a:p>
              <a:pPr algn="l"/>
              <a:r>
                <a:rPr lang="en-US" sz="1200" b="1" dirty="0">
                  <a:solidFill>
                    <a:srgbClr val="F5B642"/>
                  </a:solidFill>
                  <a:latin typeface="+mn-lt"/>
                  <a:ea typeface="+mn-ea"/>
                  <a:cs typeface="+mn-cs"/>
                </a:rPr>
                <a:t>Key observation</a:t>
              </a:r>
            </a:p>
          </p:txBody>
        </p:sp>
        <p:sp>
          <p:nvSpPr>
            <p:cNvPr id="9" name="TextBox 9"/>
            <p:cNvSpPr txBox="1"/>
            <p:nvPr/>
          </p:nvSpPr>
          <p:spPr>
            <a:xfrm>
              <a:off x="851154" y="1565910"/>
              <a:ext cx="802260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kNN-LM treats the datastore as a flat list and searches it token by token, ignoring that consecutive</a:t>
              </a:r>
            </a:p>
          </p:txBody>
        </p:sp>
        <p:sp>
          <p:nvSpPr>
            <p:cNvPr id="10" name="TextBox 10"/>
            <p:cNvSpPr txBox="1"/>
            <p:nvPr/>
          </p:nvSpPr>
          <p:spPr>
            <a:xfrm>
              <a:off x="851154" y="1756410"/>
              <a:ext cx="648202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retrieved entries are highly correlated in time and that nearby keys behave alike.</a:t>
              </a:r>
            </a:p>
          </p:txBody>
        </p:sp>
      </p:grpSp>
      <p:grpSp>
        <p:nvGrpSpPr>
          <p:cNvPr id="31" name="Group 31"/>
          <p:cNvGrpSpPr/>
          <p:nvPr/>
        </p:nvGrpSpPr>
        <p:grpSpPr>
          <a:xfrm>
            <a:off x="609600" y="2095500"/>
            <a:ext cx="5372100" cy="1828800"/>
            <a:chOff x="609600" y="2095500"/>
            <a:chExt cx="5372100" cy="1828800"/>
          </a:xfrm>
        </p:grpSpPr>
        <p:sp>
          <p:nvSpPr>
            <p:cNvPr id="12" name="Rectangle 12"/>
            <p:cNvSpPr/>
            <p:nvPr/>
          </p:nvSpPr>
          <p:spPr>
            <a:xfrm>
              <a:off x="609600" y="2095500"/>
              <a:ext cx="5372100" cy="1828800"/>
            </a:xfrm>
            <a:prstGeom prst="roundRect">
              <a:avLst>
                <a:gd name="adj" fmla="val 7292"/>
              </a:avLst>
            </a:prstGeom>
            <a:solidFill>
              <a:schemeClr val="accent5"/>
            </a:solidFill>
            <a:ln w="14288">
              <a:solidFill>
                <a:srgbClr val="2C3D63"/>
              </a:solidFill>
            </a:ln>
          </p:spPr>
        </p:sp>
        <p:sp>
          <p:nvSpPr>
            <p:cNvPr id="13" name="TextBox 13"/>
            <p:cNvSpPr txBox="1"/>
            <p:nvPr/>
          </p:nvSpPr>
          <p:spPr>
            <a:xfrm>
              <a:off x="850773" y="2262664"/>
              <a:ext cx="2172427" cy="249364"/>
            </a:xfrm>
            <a:prstGeom prst="rect">
              <a:avLst/>
            </a:prstGeom>
            <a:noFill/>
            <a:ln>
              <a:noFill/>
            </a:ln>
          </p:spPr>
          <p:txBody>
            <a:bodyPr wrap="none" lIns="0" tIns="0" rIns="0" bIns="0" anchor="t" anchorCtr="0">
              <a:spAutoFit/>
            </a:bodyPr>
            <a:lstStyle/>
            <a:p>
              <a:pPr algn="l"/>
              <a:r>
                <a:rPr lang="en-US" sz="1280" b="1" dirty="0">
                  <a:solidFill>
                    <a:srgbClr val="2DD4BF"/>
                  </a:solidFill>
                  <a:latin typeface="+mn-lt"/>
                  <a:ea typeface="+mn-ea"/>
                  <a:cs typeface="+mn-cs"/>
                </a:rPr>
                <a:t>1 · Temporal correlation</a:t>
              </a:r>
            </a:p>
          </p:txBody>
        </p:sp>
        <p:sp>
          <p:nvSpPr>
            <p:cNvPr id="14" name="TextBox 14"/>
            <p:cNvSpPr txBox="1"/>
            <p:nvPr/>
          </p:nvSpPr>
          <p:spPr>
            <a:xfrm>
              <a:off x="851726" y="2549604"/>
              <a:ext cx="3236964"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If a retrieved entry is useful now, the entry</a:t>
              </a:r>
            </a:p>
          </p:txBody>
        </p:sp>
        <p:sp>
          <p:nvSpPr>
            <p:cNvPr id="15" name="TextBox 15"/>
            <p:cNvSpPr txBox="1"/>
            <p:nvPr/>
          </p:nvSpPr>
          <p:spPr>
            <a:xfrm>
              <a:off x="851726" y="2749629"/>
              <a:ext cx="3004459"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that follows it in the original text is very</a:t>
              </a:r>
            </a:p>
          </p:txBody>
        </p:sp>
        <p:sp>
          <p:nvSpPr>
            <p:cNvPr id="16" name="TextBox 16"/>
            <p:cNvSpPr txBox="1"/>
            <p:nvPr/>
          </p:nvSpPr>
          <p:spPr>
            <a:xfrm>
              <a:off x="851726" y="2949654"/>
              <a:ext cx="1324334"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likely useful next.</a:t>
              </a:r>
            </a:p>
          </p:txBody>
        </p:sp>
        <p:sp>
          <p:nvSpPr>
            <p:cNvPr id="17" name="Ellipse 17"/>
            <p:cNvSpPr/>
            <p:nvPr/>
          </p:nvSpPr>
          <p:spPr>
            <a:xfrm>
              <a:off x="1019175" y="3457575"/>
              <a:ext cx="247650" cy="247650"/>
            </a:xfrm>
            <a:prstGeom prst="ellipse">
              <a:avLst/>
            </a:prstGeom>
            <a:solidFill>
              <a:srgbClr val="2DD4BF"/>
            </a:solidFill>
            <a:ln w="16192">
              <a:solidFill>
                <a:srgbClr val="2DD4BF"/>
              </a:solidFill>
            </a:ln>
          </p:spPr>
        </p:sp>
        <p:sp>
          <p:nvSpPr>
            <p:cNvPr id="18" name="TextBox 18"/>
            <p:cNvSpPr txBox="1"/>
            <p:nvPr/>
          </p:nvSpPr>
          <p:spPr>
            <a:xfrm>
              <a:off x="1071601" y="3531870"/>
              <a:ext cx="142799" cy="176212"/>
            </a:xfrm>
            <a:prstGeom prst="rect">
              <a:avLst/>
            </a:prstGeom>
            <a:noFill/>
            <a:ln>
              <a:noFill/>
            </a:ln>
          </p:spPr>
          <p:txBody>
            <a:bodyPr wrap="none" lIns="0" tIns="0" rIns="0" bIns="0" anchor="t" anchorCtr="0">
              <a:spAutoFit/>
            </a:bodyPr>
            <a:lstStyle/>
            <a:p>
              <a:pPr algn="ctr"/>
              <a:r>
                <a:rPr lang="en-US" sz="900" dirty="0">
                  <a:solidFill>
                    <a:srgbClr val="2DD4BF"/>
                  </a:solidFill>
                  <a:latin typeface="+mn-lt"/>
                  <a:ea typeface="+mn-ea"/>
                  <a:cs typeface="+mn-cs"/>
                </a:rPr>
                <a:t>e1</a:t>
              </a:r>
            </a:p>
          </p:txBody>
        </p:sp>
        <p:sp>
          <p:nvSpPr>
            <p:cNvPr id="19" name="Line 19"/>
            <p:cNvSpPr/>
            <p:nvPr/>
          </p:nvSpPr>
          <p:spPr>
            <a:xfrm>
              <a:off x="1285875" y="3581400"/>
              <a:ext cx="952500" cy="9525"/>
            </a:xfrm>
            <a:custGeom>
              <a:avLst/>
              <a:gdLst/>
              <a:ahLst/>
              <a:cxnLst/>
              <a:rect l="l" t="t" r="r" b="b"/>
              <a:pathLst>
                <a:path w="952500" h="9525">
                  <a:moveTo>
                    <a:pt x="0" y="0"/>
                  </a:moveTo>
                  <a:lnTo>
                    <a:pt x="952500" y="0"/>
                  </a:lnTo>
                </a:path>
              </a:pathLst>
            </a:custGeom>
            <a:noFill/>
            <a:ln w="20955" cap="rnd">
              <a:solidFill>
                <a:srgbClr val="F5B642"/>
              </a:solidFill>
            </a:ln>
          </p:spPr>
        </p:sp>
        <p:sp>
          <p:nvSpPr>
            <p:cNvPr id="20" name="Polyline 20"/>
            <p:cNvSpPr/>
            <p:nvPr/>
          </p:nvSpPr>
          <p:spPr>
            <a:xfrm>
              <a:off x="2163128" y="3541395"/>
              <a:ext cx="75248" cy="80010"/>
            </a:xfrm>
            <a:custGeom>
              <a:avLst/>
              <a:gdLst/>
              <a:ahLst/>
              <a:cxnLst/>
              <a:rect l="l" t="t" r="r" b="b"/>
              <a:pathLst>
                <a:path w="75248" h="80010">
                  <a:moveTo>
                    <a:pt x="0" y="80010"/>
                  </a:moveTo>
                  <a:lnTo>
                    <a:pt x="75248" y="40005"/>
                  </a:lnTo>
                  <a:lnTo>
                    <a:pt x="0" y="0"/>
                  </a:lnTo>
                </a:path>
              </a:pathLst>
            </a:custGeom>
            <a:noFill/>
            <a:ln w="20955" cap="rnd">
              <a:solidFill>
                <a:srgbClr val="F5B642"/>
              </a:solidFill>
              <a:round/>
            </a:ln>
          </p:spPr>
        </p:sp>
        <p:sp>
          <p:nvSpPr>
            <p:cNvPr id="21" name="Ellipse 21"/>
            <p:cNvSpPr/>
            <p:nvPr/>
          </p:nvSpPr>
          <p:spPr>
            <a:xfrm>
              <a:off x="2257425" y="3457575"/>
              <a:ext cx="247650" cy="247650"/>
            </a:xfrm>
            <a:prstGeom prst="ellipse">
              <a:avLst/>
            </a:prstGeom>
            <a:solidFill>
              <a:schemeClr val="accent6"/>
            </a:solidFill>
            <a:ln w="16192">
              <a:solidFill>
                <a:srgbClr val="2DD4BF"/>
              </a:solidFill>
            </a:ln>
          </p:spPr>
        </p:sp>
        <p:sp>
          <p:nvSpPr>
            <p:cNvPr id="22" name="TextBox 22"/>
            <p:cNvSpPr txBox="1"/>
            <p:nvPr/>
          </p:nvSpPr>
          <p:spPr>
            <a:xfrm>
              <a:off x="2309851" y="3531870"/>
              <a:ext cx="142799" cy="176212"/>
            </a:xfrm>
            <a:prstGeom prst="rect">
              <a:avLst/>
            </a:prstGeom>
            <a:noFill/>
            <a:ln>
              <a:noFill/>
            </a:ln>
          </p:spPr>
          <p:txBody>
            <a:bodyPr wrap="none" lIns="0" tIns="0" rIns="0" bIns="0" anchor="t" anchorCtr="0">
              <a:spAutoFit/>
            </a:bodyPr>
            <a:lstStyle/>
            <a:p>
              <a:pPr algn="ctr"/>
              <a:r>
                <a:rPr lang="en-US" sz="900" dirty="0">
                  <a:solidFill>
                    <a:srgbClr val="2DD4BF"/>
                  </a:solidFill>
                  <a:latin typeface="+mn-lt"/>
                  <a:ea typeface="+mn-ea"/>
                  <a:cs typeface="+mn-cs"/>
                </a:rPr>
                <a:t>e2</a:t>
              </a:r>
            </a:p>
          </p:txBody>
        </p:sp>
        <p:sp>
          <p:nvSpPr>
            <p:cNvPr id="23" name="Line 23"/>
            <p:cNvSpPr/>
            <p:nvPr/>
          </p:nvSpPr>
          <p:spPr>
            <a:xfrm>
              <a:off x="2524125" y="3581400"/>
              <a:ext cx="952500" cy="9525"/>
            </a:xfrm>
            <a:custGeom>
              <a:avLst/>
              <a:gdLst/>
              <a:ahLst/>
              <a:cxnLst/>
              <a:rect l="l" t="t" r="r" b="b"/>
              <a:pathLst>
                <a:path w="952500" h="9525">
                  <a:moveTo>
                    <a:pt x="0" y="0"/>
                  </a:moveTo>
                  <a:lnTo>
                    <a:pt x="952500" y="0"/>
                  </a:lnTo>
                </a:path>
              </a:pathLst>
            </a:custGeom>
            <a:noFill/>
            <a:ln w="20955" cap="rnd">
              <a:solidFill>
                <a:srgbClr val="F5B642"/>
              </a:solidFill>
            </a:ln>
          </p:spPr>
        </p:sp>
        <p:sp>
          <p:nvSpPr>
            <p:cNvPr id="24" name="Polyline 24"/>
            <p:cNvSpPr/>
            <p:nvPr/>
          </p:nvSpPr>
          <p:spPr>
            <a:xfrm>
              <a:off x="3401378" y="3541395"/>
              <a:ext cx="75247" cy="80010"/>
            </a:xfrm>
            <a:custGeom>
              <a:avLst/>
              <a:gdLst/>
              <a:ahLst/>
              <a:cxnLst/>
              <a:rect l="l" t="t" r="r" b="b"/>
              <a:pathLst>
                <a:path w="75247" h="80010">
                  <a:moveTo>
                    <a:pt x="0" y="80010"/>
                  </a:moveTo>
                  <a:lnTo>
                    <a:pt x="75247" y="40005"/>
                  </a:lnTo>
                  <a:lnTo>
                    <a:pt x="0" y="0"/>
                  </a:lnTo>
                </a:path>
              </a:pathLst>
            </a:custGeom>
            <a:noFill/>
            <a:ln w="20955" cap="rnd">
              <a:solidFill>
                <a:srgbClr val="F5B642"/>
              </a:solidFill>
              <a:round/>
            </a:ln>
          </p:spPr>
        </p:sp>
        <p:sp>
          <p:nvSpPr>
            <p:cNvPr id="25" name="Ellipse 25"/>
            <p:cNvSpPr/>
            <p:nvPr/>
          </p:nvSpPr>
          <p:spPr>
            <a:xfrm>
              <a:off x="3495675" y="3457575"/>
              <a:ext cx="247650" cy="247650"/>
            </a:xfrm>
            <a:prstGeom prst="ellipse">
              <a:avLst/>
            </a:prstGeom>
            <a:solidFill>
              <a:schemeClr val="accent6"/>
            </a:solidFill>
            <a:ln w="16192">
              <a:solidFill>
                <a:srgbClr val="2DD4BF"/>
              </a:solidFill>
            </a:ln>
          </p:spPr>
        </p:sp>
        <p:sp>
          <p:nvSpPr>
            <p:cNvPr id="26" name="TextBox 26"/>
            <p:cNvSpPr txBox="1"/>
            <p:nvPr/>
          </p:nvSpPr>
          <p:spPr>
            <a:xfrm>
              <a:off x="3548101" y="3531870"/>
              <a:ext cx="142799" cy="176212"/>
            </a:xfrm>
            <a:prstGeom prst="rect">
              <a:avLst/>
            </a:prstGeom>
            <a:noFill/>
            <a:ln>
              <a:noFill/>
            </a:ln>
          </p:spPr>
          <p:txBody>
            <a:bodyPr wrap="none" lIns="0" tIns="0" rIns="0" bIns="0" anchor="t" anchorCtr="0">
              <a:spAutoFit/>
            </a:bodyPr>
            <a:lstStyle/>
            <a:p>
              <a:pPr algn="ctr"/>
              <a:r>
                <a:rPr lang="en-US" sz="900" dirty="0">
                  <a:solidFill>
                    <a:srgbClr val="2DD4BF"/>
                  </a:solidFill>
                  <a:latin typeface="+mn-lt"/>
                  <a:ea typeface="+mn-ea"/>
                  <a:cs typeface="+mn-cs"/>
                </a:rPr>
                <a:t>e3</a:t>
              </a:r>
            </a:p>
          </p:txBody>
        </p:sp>
        <p:sp>
          <p:nvSpPr>
            <p:cNvPr id="27" name="Line 27"/>
            <p:cNvSpPr/>
            <p:nvPr/>
          </p:nvSpPr>
          <p:spPr>
            <a:xfrm>
              <a:off x="3762375" y="3581400"/>
              <a:ext cx="952500" cy="9525"/>
            </a:xfrm>
            <a:custGeom>
              <a:avLst/>
              <a:gdLst/>
              <a:ahLst/>
              <a:cxnLst/>
              <a:rect l="l" t="t" r="r" b="b"/>
              <a:pathLst>
                <a:path w="952500" h="9525">
                  <a:moveTo>
                    <a:pt x="0" y="0"/>
                  </a:moveTo>
                  <a:lnTo>
                    <a:pt x="952500" y="0"/>
                  </a:lnTo>
                </a:path>
              </a:pathLst>
            </a:custGeom>
            <a:noFill/>
            <a:ln w="20955" cap="rnd">
              <a:solidFill>
                <a:srgbClr val="F5B642"/>
              </a:solidFill>
            </a:ln>
          </p:spPr>
        </p:sp>
        <p:sp>
          <p:nvSpPr>
            <p:cNvPr id="28" name="Polyline 28"/>
            <p:cNvSpPr/>
            <p:nvPr/>
          </p:nvSpPr>
          <p:spPr>
            <a:xfrm>
              <a:off x="4639628" y="3541395"/>
              <a:ext cx="75247" cy="80010"/>
            </a:xfrm>
            <a:custGeom>
              <a:avLst/>
              <a:gdLst/>
              <a:ahLst/>
              <a:cxnLst/>
              <a:rect l="l" t="t" r="r" b="b"/>
              <a:pathLst>
                <a:path w="75247" h="80010">
                  <a:moveTo>
                    <a:pt x="0" y="80010"/>
                  </a:moveTo>
                  <a:lnTo>
                    <a:pt x="75247" y="40005"/>
                  </a:lnTo>
                  <a:lnTo>
                    <a:pt x="0" y="0"/>
                  </a:lnTo>
                </a:path>
              </a:pathLst>
            </a:custGeom>
            <a:noFill/>
            <a:ln w="20955" cap="rnd">
              <a:solidFill>
                <a:srgbClr val="F5B642"/>
              </a:solidFill>
              <a:round/>
            </a:ln>
          </p:spPr>
        </p:sp>
        <p:sp>
          <p:nvSpPr>
            <p:cNvPr id="29" name="Ellipse 29"/>
            <p:cNvSpPr/>
            <p:nvPr/>
          </p:nvSpPr>
          <p:spPr>
            <a:xfrm>
              <a:off x="4733925" y="3457575"/>
              <a:ext cx="247650" cy="247650"/>
            </a:xfrm>
            <a:prstGeom prst="ellipse">
              <a:avLst/>
            </a:prstGeom>
            <a:solidFill>
              <a:schemeClr val="accent6"/>
            </a:solidFill>
            <a:ln w="16192">
              <a:solidFill>
                <a:srgbClr val="2DD4BF"/>
              </a:solidFill>
            </a:ln>
          </p:spPr>
        </p:sp>
        <p:sp>
          <p:nvSpPr>
            <p:cNvPr id="30" name="TextBox 30"/>
            <p:cNvSpPr txBox="1"/>
            <p:nvPr/>
          </p:nvSpPr>
          <p:spPr>
            <a:xfrm>
              <a:off x="4786351" y="3531870"/>
              <a:ext cx="142799" cy="176212"/>
            </a:xfrm>
            <a:prstGeom prst="rect">
              <a:avLst/>
            </a:prstGeom>
            <a:noFill/>
            <a:ln>
              <a:noFill/>
            </a:ln>
          </p:spPr>
          <p:txBody>
            <a:bodyPr wrap="none" lIns="0" tIns="0" rIns="0" bIns="0" anchor="t" anchorCtr="0">
              <a:spAutoFit/>
            </a:bodyPr>
            <a:lstStyle/>
            <a:p>
              <a:pPr algn="ctr"/>
              <a:r>
                <a:rPr lang="en-US" sz="900" dirty="0">
                  <a:solidFill>
                    <a:srgbClr val="2DD4BF"/>
                  </a:solidFill>
                  <a:latin typeface="+mn-lt"/>
                  <a:ea typeface="+mn-ea"/>
                  <a:cs typeface="+mn-cs"/>
                </a:rPr>
                <a:t>e4</a:t>
              </a:r>
            </a:p>
          </p:txBody>
        </p:sp>
      </p:grpSp>
      <p:grpSp>
        <p:nvGrpSpPr>
          <p:cNvPr id="45" name="Group 45"/>
          <p:cNvGrpSpPr/>
          <p:nvPr/>
        </p:nvGrpSpPr>
        <p:grpSpPr>
          <a:xfrm>
            <a:off x="6210300" y="2095500"/>
            <a:ext cx="5372100" cy="1828800"/>
            <a:chOff x="6210300" y="2095500"/>
            <a:chExt cx="5372100" cy="1828800"/>
          </a:xfrm>
        </p:grpSpPr>
        <p:sp>
          <p:nvSpPr>
            <p:cNvPr id="32" name="Rectangle 32"/>
            <p:cNvSpPr/>
            <p:nvPr/>
          </p:nvSpPr>
          <p:spPr>
            <a:xfrm>
              <a:off x="6210300" y="2095500"/>
              <a:ext cx="5372100" cy="1828800"/>
            </a:xfrm>
            <a:prstGeom prst="roundRect">
              <a:avLst>
                <a:gd name="adj" fmla="val 7292"/>
              </a:avLst>
            </a:prstGeom>
            <a:solidFill>
              <a:schemeClr val="accent5"/>
            </a:solidFill>
            <a:ln w="14288">
              <a:solidFill>
                <a:srgbClr val="2C3D63"/>
              </a:solidFill>
            </a:ln>
          </p:spPr>
        </p:sp>
        <p:sp>
          <p:nvSpPr>
            <p:cNvPr id="33" name="TextBox 33"/>
            <p:cNvSpPr txBox="1"/>
            <p:nvPr/>
          </p:nvSpPr>
          <p:spPr>
            <a:xfrm>
              <a:off x="6451473" y="2262664"/>
              <a:ext cx="2037033"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2 · Key-vector locality</a:t>
              </a:r>
            </a:p>
          </p:txBody>
        </p:sp>
        <p:sp>
          <p:nvSpPr>
            <p:cNvPr id="34" name="TextBox 34"/>
            <p:cNvSpPr txBox="1"/>
            <p:nvPr/>
          </p:nvSpPr>
          <p:spPr>
            <a:xfrm>
              <a:off x="6452426" y="2549604"/>
              <a:ext cx="3185526"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Entries whose key vectors are close tend to</a:t>
              </a:r>
            </a:p>
          </p:txBody>
        </p:sp>
        <p:sp>
          <p:nvSpPr>
            <p:cNvPr id="35" name="TextBox 35"/>
            <p:cNvSpPr txBox="1"/>
            <p:nvPr/>
          </p:nvSpPr>
          <p:spPr>
            <a:xfrm>
              <a:off x="6452426" y="2749629"/>
              <a:ext cx="3092501"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be followed by the same token, so they can</a:t>
              </a:r>
            </a:p>
          </p:txBody>
        </p:sp>
        <p:sp>
          <p:nvSpPr>
            <p:cNvPr id="36" name="TextBox 36"/>
            <p:cNvSpPr txBox="1"/>
            <p:nvPr/>
          </p:nvSpPr>
          <p:spPr>
            <a:xfrm>
              <a:off x="6452426" y="2949654"/>
              <a:ext cx="2212086"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share their outgoing pointers.</a:t>
              </a:r>
            </a:p>
          </p:txBody>
        </p:sp>
        <p:sp>
          <p:nvSpPr>
            <p:cNvPr id="37" name="Ellipse 37"/>
            <p:cNvSpPr/>
            <p:nvPr/>
          </p:nvSpPr>
          <p:spPr>
            <a:xfrm>
              <a:off x="7600950" y="3505200"/>
              <a:ext cx="152400" cy="152400"/>
            </a:xfrm>
            <a:prstGeom prst="ellipse">
              <a:avLst/>
            </a:prstGeom>
            <a:solidFill>
              <a:schemeClr val="accent2"/>
            </a:solidFill>
            <a:ln w="14288">
              <a:solidFill>
                <a:schemeClr val="accent2"/>
              </a:solidFill>
            </a:ln>
          </p:spPr>
        </p:sp>
        <p:sp>
          <p:nvSpPr>
            <p:cNvPr id="38" name="Ellipse 38"/>
            <p:cNvSpPr/>
            <p:nvPr/>
          </p:nvSpPr>
          <p:spPr>
            <a:xfrm>
              <a:off x="7361872" y="3667125"/>
              <a:ext cx="152400" cy="152400"/>
            </a:xfrm>
            <a:prstGeom prst="ellipse">
              <a:avLst/>
            </a:prstGeom>
            <a:solidFill>
              <a:schemeClr val="accent2"/>
            </a:solidFill>
            <a:ln w="14288">
              <a:solidFill>
                <a:schemeClr val="accent2"/>
              </a:solidFill>
            </a:ln>
          </p:spPr>
        </p:sp>
        <p:sp>
          <p:nvSpPr>
            <p:cNvPr id="39" name="Ellipse 39"/>
            <p:cNvSpPr/>
            <p:nvPr/>
          </p:nvSpPr>
          <p:spPr>
            <a:xfrm>
              <a:off x="6904672" y="3400425"/>
              <a:ext cx="152400" cy="152400"/>
            </a:xfrm>
            <a:prstGeom prst="ellipse">
              <a:avLst/>
            </a:prstGeom>
            <a:solidFill>
              <a:schemeClr val="accent2"/>
            </a:solidFill>
            <a:ln w="14288">
              <a:solidFill>
                <a:schemeClr val="accent2"/>
              </a:solidFill>
            </a:ln>
          </p:spPr>
        </p:sp>
        <p:sp>
          <p:nvSpPr>
            <p:cNvPr id="40" name="Ellipse 40"/>
            <p:cNvSpPr/>
            <p:nvPr/>
          </p:nvSpPr>
          <p:spPr>
            <a:xfrm>
              <a:off x="6730365" y="3410902"/>
              <a:ext cx="152400" cy="152400"/>
            </a:xfrm>
            <a:prstGeom prst="ellipse">
              <a:avLst/>
            </a:prstGeom>
            <a:solidFill>
              <a:schemeClr val="accent2"/>
            </a:solidFill>
            <a:ln w="14288">
              <a:solidFill>
                <a:schemeClr val="accent2"/>
              </a:solidFill>
            </a:ln>
          </p:spPr>
        </p:sp>
        <p:sp>
          <p:nvSpPr>
            <p:cNvPr id="41" name="Ellipse 41"/>
            <p:cNvSpPr/>
            <p:nvPr/>
          </p:nvSpPr>
          <p:spPr>
            <a:xfrm>
              <a:off x="7028498" y="3670935"/>
              <a:ext cx="152400" cy="152400"/>
            </a:xfrm>
            <a:prstGeom prst="ellipse">
              <a:avLst/>
            </a:prstGeom>
            <a:solidFill>
              <a:schemeClr val="accent6"/>
            </a:solidFill>
            <a:ln w="14288">
              <a:solidFill>
                <a:schemeClr val="accent2"/>
              </a:solidFill>
            </a:ln>
          </p:spPr>
        </p:sp>
        <p:sp>
          <p:nvSpPr>
            <p:cNvPr id="42" name="Ellipse 42"/>
            <p:cNvSpPr/>
            <p:nvPr/>
          </p:nvSpPr>
          <p:spPr>
            <a:xfrm>
              <a:off x="7473315" y="3491865"/>
              <a:ext cx="152400" cy="152400"/>
            </a:xfrm>
            <a:prstGeom prst="ellipse">
              <a:avLst/>
            </a:prstGeom>
            <a:solidFill>
              <a:schemeClr val="accent6"/>
            </a:solidFill>
            <a:ln w="14288">
              <a:solidFill>
                <a:schemeClr val="accent2"/>
              </a:solidFill>
            </a:ln>
          </p:spPr>
        </p:sp>
        <p:sp>
          <p:nvSpPr>
            <p:cNvPr id="43" name="Ellipse 43"/>
            <p:cNvSpPr/>
            <p:nvPr/>
          </p:nvSpPr>
          <p:spPr>
            <a:xfrm>
              <a:off x="6629400" y="3314700"/>
              <a:ext cx="1409700" cy="495300"/>
            </a:xfrm>
            <a:prstGeom prst="ellipse">
              <a:avLst/>
            </a:prstGeom>
            <a:noFill/>
            <a:ln w="14288">
              <a:solidFill>
                <a:schemeClr val="accent2"/>
              </a:solidFill>
              <a:prstDash val="dash"/>
            </a:ln>
          </p:spPr>
        </p:sp>
        <p:sp>
          <p:nvSpPr>
            <p:cNvPr id="44" name="TextBox 44"/>
            <p:cNvSpPr txBox="1"/>
            <p:nvPr/>
          </p:nvSpPr>
          <p:spPr>
            <a:xfrm>
              <a:off x="9615297" y="3523774"/>
              <a:ext cx="1111172"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mn-lt"/>
                  <a:ea typeface="+mn-ea"/>
                  <a:cs typeface="+mn-cs"/>
                </a:rPr>
                <a:t>same next token</a:t>
              </a:r>
            </a:p>
          </p:txBody>
        </p:sp>
      </p:grpSp>
      <p:grpSp>
        <p:nvGrpSpPr>
          <p:cNvPr id="58" name="Group 58"/>
          <p:cNvGrpSpPr/>
          <p:nvPr/>
        </p:nvGrpSpPr>
        <p:grpSpPr>
          <a:xfrm>
            <a:off x="609600" y="4095750"/>
            <a:ext cx="10972800" cy="1771650"/>
            <a:chOff x="609600" y="4095750"/>
            <a:chExt cx="10972800" cy="1771650"/>
          </a:xfrm>
        </p:grpSpPr>
        <p:sp>
          <p:nvSpPr>
            <p:cNvPr id="46" name="Rectangle 46"/>
            <p:cNvSpPr/>
            <p:nvPr/>
          </p:nvSpPr>
          <p:spPr>
            <a:xfrm>
              <a:off x="609600" y="4095750"/>
              <a:ext cx="10972800" cy="1771650"/>
            </a:xfrm>
            <a:prstGeom prst="roundRect">
              <a:avLst>
                <a:gd name="adj" fmla="val 7527"/>
              </a:avLst>
            </a:prstGeom>
            <a:solidFill>
              <a:schemeClr val="accent5"/>
            </a:solidFill>
            <a:ln w="13335">
              <a:solidFill>
                <a:srgbClr val="F87171"/>
              </a:solidFill>
            </a:ln>
          </p:spPr>
        </p:sp>
        <p:sp>
          <p:nvSpPr>
            <p:cNvPr id="47" name="TextBox 47"/>
            <p:cNvSpPr txBox="1"/>
            <p:nvPr/>
          </p:nvSpPr>
          <p:spPr>
            <a:xfrm>
              <a:off x="850392" y="4254818"/>
              <a:ext cx="4063995" cy="264033"/>
            </a:xfrm>
            <a:prstGeom prst="rect">
              <a:avLst/>
            </a:prstGeom>
            <a:noFill/>
            <a:ln>
              <a:noFill/>
            </a:ln>
          </p:spPr>
          <p:txBody>
            <a:bodyPr wrap="none" lIns="0" tIns="0" rIns="0" bIns="0" anchor="t" anchorCtr="0">
              <a:spAutoFit/>
            </a:bodyPr>
            <a:lstStyle/>
            <a:p>
              <a:pPr algn="l"/>
              <a:r>
                <a:rPr lang="en-US" sz="1350" b="1" dirty="0">
                  <a:solidFill>
                    <a:srgbClr val="F87171"/>
                  </a:solidFill>
                  <a:latin typeface="+mn-lt"/>
                  <a:ea typeface="+mn-ea"/>
                  <a:cs typeface="+mn-cs"/>
                </a:rPr>
                <a:t>Prior work · Adaptive Retrieval (AdaptRet)</a:t>
              </a:r>
            </a:p>
          </p:txBody>
        </p:sp>
        <p:sp>
          <p:nvSpPr>
            <p:cNvPr id="48" name="TextBox 48"/>
            <p:cNvSpPr txBox="1"/>
            <p:nvPr/>
          </p:nvSpPr>
          <p:spPr>
            <a:xfrm>
              <a:off x="851344" y="4579858"/>
              <a:ext cx="7336178" cy="227362"/>
            </a:xfrm>
            <a:prstGeom prst="rect">
              <a:avLst/>
            </a:prstGeom>
            <a:noFill/>
            <a:ln>
              <a:noFill/>
            </a:ln>
          </p:spPr>
          <p:txBody>
            <a:bodyPr wrap="none" lIns="0" tIns="0" rIns="0" bIns="0" anchor="t" anchorCtr="0">
              <a:spAutoFit/>
            </a:bodyPr>
            <a:lstStyle/>
            <a:p>
              <a:pPr algn="l"/>
              <a:r>
                <a:rPr lang="en-US" sz="1160" dirty="0">
                  <a:solidFill>
                    <a:srgbClr val="9FB0CC"/>
                  </a:solidFill>
                  <a:latin typeface="+mn-lt"/>
                  <a:ea typeface="+mn-ea"/>
                  <a:cs typeface="+mn-cs"/>
                </a:rPr>
                <a:t>Trains an MLP to learn when to skip the search. But on a skip it backs off to the base LM alone,</a:t>
              </a:r>
            </a:p>
          </p:txBody>
        </p:sp>
        <p:sp>
          <p:nvSpPr>
            <p:cNvPr id="49" name="TextBox 49"/>
            <p:cNvSpPr txBox="1"/>
            <p:nvPr/>
          </p:nvSpPr>
          <p:spPr>
            <a:xfrm>
              <a:off x="851344" y="4798933"/>
              <a:ext cx="7749499" cy="227362"/>
            </a:xfrm>
            <a:prstGeom prst="rect">
              <a:avLst/>
            </a:prstGeom>
            <a:noFill/>
            <a:ln>
              <a:noFill/>
            </a:ln>
          </p:spPr>
          <p:txBody>
            <a:bodyPr wrap="none" lIns="0" tIns="0" rIns="0" bIns="0" anchor="t" anchorCtr="0">
              <a:spAutoFit/>
            </a:bodyPr>
            <a:lstStyle/>
            <a:p>
              <a:pPr algn="l"/>
              <a:r>
                <a:rPr lang="en-US" sz="1160" dirty="0">
                  <a:solidFill>
                    <a:srgbClr val="9FB0CC"/>
                  </a:solidFill>
                  <a:latin typeface="+mn-lt"/>
                  <a:ea typeface="+mn-ea"/>
                  <a:cs typeface="+mn-cs"/>
                </a:rPr>
                <a:t>discarding the retrieval distribution exactly where it helps most, in domains where the base is weak.</a:t>
              </a:r>
            </a:p>
          </p:txBody>
        </p:sp>
        <p:sp>
          <p:nvSpPr>
            <p:cNvPr id="50" name="Ellipse 50"/>
            <p:cNvSpPr/>
            <p:nvPr/>
          </p:nvSpPr>
          <p:spPr>
            <a:xfrm>
              <a:off x="1200150" y="5257800"/>
              <a:ext cx="457200" cy="457200"/>
            </a:xfrm>
            <a:prstGeom prst="ellipse">
              <a:avLst/>
            </a:prstGeom>
            <a:solidFill>
              <a:schemeClr val="accent5"/>
            </a:solidFill>
            <a:ln w="22860">
              <a:solidFill>
                <a:schemeClr val="accent2"/>
              </a:solidFill>
            </a:ln>
          </p:spPr>
        </p:sp>
        <p:sp>
          <p:nvSpPr>
            <p:cNvPr id="51" name="TextBox 51"/>
            <p:cNvSpPr txBox="1"/>
            <p:nvPr/>
          </p:nvSpPr>
          <p:spPr>
            <a:xfrm>
              <a:off x="1314307" y="5412581"/>
              <a:ext cx="228887"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LM</a:t>
              </a:r>
            </a:p>
          </p:txBody>
        </p:sp>
        <p:sp>
          <p:nvSpPr>
            <p:cNvPr id="52" name="Line 52"/>
            <p:cNvSpPr/>
            <p:nvPr/>
          </p:nvSpPr>
          <p:spPr>
            <a:xfrm>
              <a:off x="1657350" y="5486400"/>
              <a:ext cx="1200150" cy="9525"/>
            </a:xfrm>
            <a:custGeom>
              <a:avLst/>
              <a:gdLst/>
              <a:ahLst/>
              <a:cxnLst/>
              <a:rect l="l" t="t" r="r" b="b"/>
              <a:pathLst>
                <a:path w="1200150" h="9525">
                  <a:moveTo>
                    <a:pt x="0" y="0"/>
                  </a:moveTo>
                  <a:lnTo>
                    <a:pt x="1200150" y="0"/>
                  </a:lnTo>
                </a:path>
              </a:pathLst>
            </a:custGeom>
            <a:noFill/>
            <a:ln w="22860" cap="rnd">
              <a:solidFill>
                <a:srgbClr val="F87171"/>
              </a:solidFill>
              <a:custDash>
                <a:ds d="250000" sp="208333"/>
              </a:custDash>
            </a:ln>
          </p:spPr>
        </p:sp>
        <p:sp>
          <p:nvSpPr>
            <p:cNvPr id="53" name="Polyline 53"/>
            <p:cNvSpPr/>
            <p:nvPr/>
          </p:nvSpPr>
          <p:spPr>
            <a:xfrm>
              <a:off x="2782252" y="5446395"/>
              <a:ext cx="75247" cy="80010"/>
            </a:xfrm>
            <a:custGeom>
              <a:avLst/>
              <a:gdLst/>
              <a:ahLst/>
              <a:cxnLst/>
              <a:rect l="l" t="t" r="r" b="b"/>
              <a:pathLst>
                <a:path w="75247" h="80010">
                  <a:moveTo>
                    <a:pt x="0" y="80010"/>
                  </a:moveTo>
                  <a:lnTo>
                    <a:pt x="75247" y="40005"/>
                  </a:lnTo>
                  <a:lnTo>
                    <a:pt x="0" y="0"/>
                  </a:lnTo>
                </a:path>
              </a:pathLst>
            </a:custGeom>
            <a:noFill/>
            <a:ln w="22860" cap="rnd">
              <a:solidFill>
                <a:srgbClr val="F87171"/>
              </a:solidFill>
              <a:round/>
            </a:ln>
          </p:spPr>
        </p:sp>
        <p:sp>
          <p:nvSpPr>
            <p:cNvPr id="54" name="TextBox 54"/>
            <p:cNvSpPr txBox="1"/>
            <p:nvPr/>
          </p:nvSpPr>
          <p:spPr>
            <a:xfrm>
              <a:off x="1687563" y="5293995"/>
              <a:ext cx="1196873" cy="176212"/>
            </a:xfrm>
            <a:prstGeom prst="rect">
              <a:avLst/>
            </a:prstGeom>
            <a:noFill/>
            <a:ln>
              <a:noFill/>
            </a:ln>
          </p:spPr>
          <p:txBody>
            <a:bodyPr wrap="none" lIns="0" tIns="0" rIns="0" bIns="0" anchor="t" anchorCtr="0">
              <a:spAutoFit/>
            </a:bodyPr>
            <a:lstStyle/>
            <a:p>
              <a:pPr algn="ctr"/>
              <a:r>
                <a:rPr lang="en-US" sz="900" dirty="0">
                  <a:solidFill>
                    <a:srgbClr val="F87171"/>
                  </a:solidFill>
                  <a:latin typeface="+mn-lt"/>
                  <a:ea typeface="+mn-ea"/>
                  <a:cs typeface="+mn-cs"/>
                </a:rPr>
                <a:t>skip = lose retrieval</a:t>
              </a:r>
            </a:p>
          </p:txBody>
        </p:sp>
        <p:sp>
          <p:nvSpPr>
            <p:cNvPr id="55" name="Rectangle 55"/>
            <p:cNvSpPr/>
            <p:nvPr/>
          </p:nvSpPr>
          <p:spPr>
            <a:xfrm>
              <a:off x="3086100" y="5276850"/>
              <a:ext cx="1428750" cy="419100"/>
            </a:xfrm>
            <a:prstGeom prst="roundRect">
              <a:avLst>
                <a:gd name="adj" fmla="val 20455"/>
              </a:avLst>
            </a:prstGeom>
            <a:noFill/>
            <a:ln w="14288">
              <a:solidFill>
                <a:srgbClr val="F87171"/>
              </a:solidFill>
            </a:ln>
          </p:spPr>
        </p:sp>
        <p:sp>
          <p:nvSpPr>
            <p:cNvPr id="56" name="TextBox 56"/>
            <p:cNvSpPr txBox="1"/>
            <p:nvPr/>
          </p:nvSpPr>
          <p:spPr>
            <a:xfrm>
              <a:off x="3341092" y="5420678"/>
              <a:ext cx="918765" cy="205359"/>
            </a:xfrm>
            <a:prstGeom prst="rect">
              <a:avLst/>
            </a:prstGeom>
            <a:noFill/>
            <a:ln>
              <a:noFill/>
            </a:ln>
          </p:spPr>
          <p:txBody>
            <a:bodyPr wrap="none" lIns="0" tIns="0" rIns="0" bIns="0" anchor="t" anchorCtr="0">
              <a:spAutoFit/>
            </a:bodyPr>
            <a:lstStyle/>
            <a:p>
              <a:pPr algn="ctr"/>
              <a:r>
                <a:rPr lang="en-US" sz="1050" b="1" dirty="0">
                  <a:solidFill>
                    <a:srgbClr val="F87171"/>
                  </a:solidFill>
                  <a:latin typeface="+mn-lt"/>
                  <a:ea typeface="+mn-ea"/>
                  <a:cs typeface="+mn-cs"/>
                </a:rPr>
                <a:t>base LM only</a:t>
              </a:r>
            </a:p>
          </p:txBody>
        </p:sp>
        <p:sp>
          <p:nvSpPr>
            <p:cNvPr id="57" name="TextBox 57"/>
            <p:cNvSpPr txBox="1"/>
            <p:nvPr/>
          </p:nvSpPr>
          <p:spPr>
            <a:xfrm>
              <a:off x="4947666" y="5430202"/>
              <a:ext cx="5285024"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RetoMaton instead keeps the retrieval signal while still skipping the search.</a:t>
              </a:r>
            </a:p>
          </p:txBody>
        </p:sp>
      </p:grpSp>
      <p:sp>
        <p:nvSpPr>
          <p:cNvPr id="59" name="TextBox 59"/>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60" name="cue_s03_c1_key_observation_flat_datastore_throw" title="cue_s03_c1_key_observation_flat_datastore_throw" descr="cue_s03_c1_key_observation_flat_datastore_throw The key observation is that a flat datastore throws away structure."/>
          <p:cNvSpPr/>
          <p:nvPr/>
        </p:nvSpPr>
        <p:spPr>
          <a:xfrm>
            <a:off x="609600" y="1104823"/>
            <a:ext cx="10972800" cy="88605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3_c2_retrieved_entry_useful_now_entry" title="cue_s03_c2_retrieved_entry_useful_now_entry" descr="cue_s03_c2_retrieved_entry_useful_now_entry If a retrieved entry was useful now, the entry that follows it in the original text is very likely useful next."/>
          <p:cNvSpPr/>
          <p:nvPr/>
        </p:nvSpPr>
        <p:spPr>
          <a:xfrm>
            <a:off x="609600" y="2095804"/>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3_c3_entries_whose_key_vectors_close" title="cue_s03_c3_entries_whose_key_vectors_close" descr="cue_s03_c3_entries_whose_key_vectors_close And entries whose key vectors are close tend to be followed by the same token."/>
          <p:cNvSpPr/>
          <p:nvPr/>
        </p:nvSpPr>
        <p:spPr>
          <a:xfrm>
            <a:off x="6210604" y="2095804"/>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3_c4_existing_approaches_like_adaptive_re" title="cue_s03_c4_existing_approaches_like_adaptive_re" descr="cue_s03_c4_existing_approaches_like_adaptive_re Existing approaches like Adaptive Retrieval simply learn when to skip the search, but when they skip they fall back entirely on the base language model and discard the retrieval distribution, which hurts most in domains where the base model is weak."/>
          <p:cNvSpPr/>
          <p:nvPr/>
        </p:nvSpPr>
        <p:spPr>
          <a:xfrm>
            <a:off x="609600" y="4095597"/>
            <a:ext cx="10972800" cy="17714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chemeClr val="accent2"/>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04</a:t>
            </a:r>
          </a:p>
        </p:txBody>
      </p:sp>
      <p:sp>
        <p:nvSpPr>
          <p:cNvPr id="5" name="TextBox 5"/>
          <p:cNvSpPr txBox="1"/>
          <p:nvPr/>
        </p:nvSpPr>
        <p:spPr>
          <a:xfrm>
            <a:off x="826770" y="519112"/>
            <a:ext cx="735882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Contribution: Two Changes Build the Automaton</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26" name="Group 26"/>
          <p:cNvGrpSpPr/>
          <p:nvPr/>
        </p:nvGrpSpPr>
        <p:grpSpPr>
          <a:xfrm>
            <a:off x="609600" y="1104900"/>
            <a:ext cx="5372100" cy="1809750"/>
            <a:chOff x="609600" y="1104900"/>
            <a:chExt cx="5372100" cy="1809750"/>
          </a:xfrm>
        </p:grpSpPr>
        <p:sp>
          <p:nvSpPr>
            <p:cNvPr id="7" name="Rectangle 7"/>
            <p:cNvSpPr/>
            <p:nvPr/>
          </p:nvSpPr>
          <p:spPr>
            <a:xfrm>
              <a:off x="609600" y="1104900"/>
              <a:ext cx="5372100" cy="1809750"/>
            </a:xfrm>
            <a:prstGeom prst="roundRect">
              <a:avLst>
                <a:gd name="adj" fmla="val 7368"/>
              </a:avLst>
            </a:prstGeom>
            <a:solidFill>
              <a:schemeClr val="accent5"/>
            </a:solidFill>
            <a:ln w="14288">
              <a:solidFill>
                <a:srgbClr val="2C3D63"/>
              </a:solidFill>
            </a:ln>
          </p:spPr>
        </p:sp>
        <p:sp>
          <p:nvSpPr>
            <p:cNvPr id="8" name="Rectangle 8"/>
            <p:cNvSpPr/>
            <p:nvPr/>
          </p:nvSpPr>
          <p:spPr>
            <a:xfrm>
              <a:off x="609600" y="1104900"/>
              <a:ext cx="57150" cy="1809750"/>
            </a:xfrm>
            <a:prstGeom prst="roundRect">
              <a:avLst>
                <a:gd name="adj" fmla="val 50000"/>
              </a:avLst>
            </a:prstGeom>
            <a:solidFill>
              <a:srgbClr val="F5B642"/>
            </a:solidFill>
            <a:ln>
              <a:noFill/>
            </a:ln>
          </p:spPr>
        </p:sp>
        <p:sp>
          <p:nvSpPr>
            <p:cNvPr id="9" name="TextBox 9"/>
            <p:cNvSpPr txBox="1"/>
            <p:nvPr/>
          </p:nvSpPr>
          <p:spPr>
            <a:xfrm>
              <a:off x="907161" y="1255871"/>
              <a:ext cx="1926605" cy="278702"/>
            </a:xfrm>
            <a:prstGeom prst="rect">
              <a:avLst/>
            </a:prstGeom>
            <a:noFill/>
            <a:ln>
              <a:noFill/>
            </a:ln>
          </p:spPr>
          <p:txBody>
            <a:bodyPr wrap="none" lIns="0" tIns="0" rIns="0" bIns="0" anchor="t" anchorCtr="0">
              <a:spAutoFit/>
            </a:bodyPr>
            <a:lstStyle/>
            <a:p>
              <a:pPr algn="l"/>
              <a:r>
                <a:rPr lang="en-US" sz="1420" b="1" dirty="0">
                  <a:solidFill>
                    <a:srgbClr val="F5B642"/>
                  </a:solidFill>
                  <a:latin typeface="+mn-lt"/>
                  <a:ea typeface="+mn-ea"/>
                  <a:cs typeface="+mn-cs"/>
                </a:rPr>
                <a:t>Change 1 · Pointers</a:t>
              </a:r>
            </a:p>
          </p:txBody>
        </p:sp>
        <p:sp>
          <p:nvSpPr>
            <p:cNvPr id="10" name="TextBox 10"/>
            <p:cNvSpPr txBox="1"/>
            <p:nvPr/>
          </p:nvSpPr>
          <p:spPr>
            <a:xfrm>
              <a:off x="908685" y="1574006"/>
              <a:ext cx="3356334"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Save a pointer from every entry to the entry</a:t>
              </a:r>
            </a:p>
          </p:txBody>
        </p:sp>
        <p:sp>
          <p:nvSpPr>
            <p:cNvPr id="11" name="TextBox 11"/>
            <p:cNvSpPr txBox="1"/>
            <p:nvPr/>
          </p:nvSpPr>
          <p:spPr>
            <a:xfrm>
              <a:off x="908685" y="1783556"/>
              <a:ext cx="2732908"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that came right after it in the text.</a:t>
              </a:r>
            </a:p>
          </p:txBody>
        </p:sp>
        <p:sp>
          <p:nvSpPr>
            <p:cNvPr id="12" name="Rectangle 12"/>
            <p:cNvSpPr/>
            <p:nvPr/>
          </p:nvSpPr>
          <p:spPr>
            <a:xfrm>
              <a:off x="1047750" y="2286000"/>
              <a:ext cx="628650" cy="323850"/>
            </a:xfrm>
            <a:prstGeom prst="roundRect">
              <a:avLst>
                <a:gd name="adj" fmla="val 17647"/>
              </a:avLst>
            </a:prstGeom>
            <a:solidFill>
              <a:schemeClr val="accent6"/>
            </a:solidFill>
            <a:ln w="9525">
              <a:solidFill>
                <a:srgbClr val="2C3D63"/>
              </a:solidFill>
            </a:ln>
          </p:spPr>
        </p:sp>
        <p:sp>
          <p:nvSpPr>
            <p:cNvPr id="13" name="TextBox 13"/>
            <p:cNvSpPr txBox="1"/>
            <p:nvPr/>
          </p:nvSpPr>
          <p:spPr>
            <a:xfrm>
              <a:off x="1275111" y="2382202"/>
              <a:ext cx="173928" cy="205359"/>
            </a:xfrm>
            <a:prstGeom prst="rect">
              <a:avLst/>
            </a:prstGeom>
            <a:noFill/>
            <a:ln>
              <a:noFill/>
            </a:ln>
          </p:spPr>
          <p:txBody>
            <a:bodyPr wrap="none" lIns="0" tIns="0" rIns="0" bIns="0" anchor="t" anchorCtr="0">
              <a:spAutoFit/>
            </a:bodyPr>
            <a:lstStyle/>
            <a:p>
              <a:pPr algn="ctr"/>
              <a:r>
                <a:rPr lang="en-US" sz="1050" b="1" dirty="0">
                  <a:solidFill>
                    <a:srgbClr val="2DD4BF"/>
                  </a:solidFill>
                  <a:latin typeface="+mn-lt"/>
                  <a:ea typeface="+mn-ea"/>
                  <a:cs typeface="+mn-cs"/>
                </a:rPr>
                <a:t>e1</a:t>
              </a:r>
            </a:p>
          </p:txBody>
        </p:sp>
        <p:sp>
          <p:nvSpPr>
            <p:cNvPr id="14" name="Line 14"/>
            <p:cNvSpPr/>
            <p:nvPr/>
          </p:nvSpPr>
          <p:spPr>
            <a:xfrm>
              <a:off x="1695450" y="2447925"/>
              <a:ext cx="381000" cy="9525"/>
            </a:xfrm>
            <a:custGeom>
              <a:avLst/>
              <a:gdLst/>
              <a:ahLst/>
              <a:cxnLst/>
              <a:rect l="l" t="t" r="r" b="b"/>
              <a:pathLst>
                <a:path w="381000" h="9525">
                  <a:moveTo>
                    <a:pt x="0" y="0"/>
                  </a:moveTo>
                  <a:lnTo>
                    <a:pt x="381000" y="0"/>
                  </a:lnTo>
                </a:path>
              </a:pathLst>
            </a:custGeom>
            <a:noFill/>
            <a:ln w="22860" cap="rnd">
              <a:solidFill>
                <a:srgbClr val="F5B642"/>
              </a:solidFill>
            </a:ln>
          </p:spPr>
        </p:sp>
        <p:sp>
          <p:nvSpPr>
            <p:cNvPr id="15" name="Polyline 15"/>
            <p:cNvSpPr/>
            <p:nvPr/>
          </p:nvSpPr>
          <p:spPr>
            <a:xfrm>
              <a:off x="2001202" y="2407920"/>
              <a:ext cx="75248" cy="80010"/>
            </a:xfrm>
            <a:custGeom>
              <a:avLst/>
              <a:gdLst/>
              <a:ahLst/>
              <a:cxnLst/>
              <a:rect l="l" t="t" r="r" b="b"/>
              <a:pathLst>
                <a:path w="75248" h="80010">
                  <a:moveTo>
                    <a:pt x="0" y="80010"/>
                  </a:moveTo>
                  <a:lnTo>
                    <a:pt x="75248" y="40005"/>
                  </a:lnTo>
                  <a:lnTo>
                    <a:pt x="0" y="0"/>
                  </a:lnTo>
                </a:path>
              </a:pathLst>
            </a:custGeom>
            <a:noFill/>
            <a:ln w="22860" cap="rnd">
              <a:solidFill>
                <a:srgbClr val="F5B642"/>
              </a:solidFill>
              <a:round/>
            </a:ln>
          </p:spPr>
        </p:sp>
        <p:sp>
          <p:nvSpPr>
            <p:cNvPr id="16" name="Rectangle 16"/>
            <p:cNvSpPr/>
            <p:nvPr/>
          </p:nvSpPr>
          <p:spPr>
            <a:xfrm>
              <a:off x="2171700" y="2286000"/>
              <a:ext cx="628650" cy="323850"/>
            </a:xfrm>
            <a:prstGeom prst="roundRect">
              <a:avLst>
                <a:gd name="adj" fmla="val 17647"/>
              </a:avLst>
            </a:prstGeom>
            <a:solidFill>
              <a:schemeClr val="accent6"/>
            </a:solidFill>
            <a:ln w="9525">
              <a:solidFill>
                <a:srgbClr val="2C3D63"/>
              </a:solidFill>
            </a:ln>
          </p:spPr>
        </p:sp>
        <p:sp>
          <p:nvSpPr>
            <p:cNvPr id="17" name="TextBox 17"/>
            <p:cNvSpPr txBox="1"/>
            <p:nvPr/>
          </p:nvSpPr>
          <p:spPr>
            <a:xfrm>
              <a:off x="2399061" y="2382202"/>
              <a:ext cx="173928" cy="205359"/>
            </a:xfrm>
            <a:prstGeom prst="rect">
              <a:avLst/>
            </a:prstGeom>
            <a:noFill/>
            <a:ln>
              <a:noFill/>
            </a:ln>
          </p:spPr>
          <p:txBody>
            <a:bodyPr wrap="none" lIns="0" tIns="0" rIns="0" bIns="0" anchor="t" anchorCtr="0">
              <a:spAutoFit/>
            </a:bodyPr>
            <a:lstStyle/>
            <a:p>
              <a:pPr algn="ctr"/>
              <a:r>
                <a:rPr lang="en-US" sz="1050" b="1" dirty="0">
                  <a:solidFill>
                    <a:srgbClr val="2DD4BF"/>
                  </a:solidFill>
                  <a:latin typeface="+mn-lt"/>
                  <a:ea typeface="+mn-ea"/>
                  <a:cs typeface="+mn-cs"/>
                </a:rPr>
                <a:t>e2</a:t>
              </a:r>
            </a:p>
          </p:txBody>
        </p:sp>
        <p:sp>
          <p:nvSpPr>
            <p:cNvPr id="18" name="Line 18"/>
            <p:cNvSpPr/>
            <p:nvPr/>
          </p:nvSpPr>
          <p:spPr>
            <a:xfrm>
              <a:off x="2819400" y="2447925"/>
              <a:ext cx="381000" cy="9525"/>
            </a:xfrm>
            <a:custGeom>
              <a:avLst/>
              <a:gdLst/>
              <a:ahLst/>
              <a:cxnLst/>
              <a:rect l="l" t="t" r="r" b="b"/>
              <a:pathLst>
                <a:path w="381000" h="9525">
                  <a:moveTo>
                    <a:pt x="0" y="0"/>
                  </a:moveTo>
                  <a:lnTo>
                    <a:pt x="381000" y="0"/>
                  </a:lnTo>
                </a:path>
              </a:pathLst>
            </a:custGeom>
            <a:noFill/>
            <a:ln w="22860" cap="rnd">
              <a:solidFill>
                <a:srgbClr val="F5B642"/>
              </a:solidFill>
            </a:ln>
          </p:spPr>
        </p:sp>
        <p:sp>
          <p:nvSpPr>
            <p:cNvPr id="19" name="Polyline 19"/>
            <p:cNvSpPr/>
            <p:nvPr/>
          </p:nvSpPr>
          <p:spPr>
            <a:xfrm>
              <a:off x="3125152" y="2407920"/>
              <a:ext cx="75247" cy="80010"/>
            </a:xfrm>
            <a:custGeom>
              <a:avLst/>
              <a:gdLst/>
              <a:ahLst/>
              <a:cxnLst/>
              <a:rect l="l" t="t" r="r" b="b"/>
              <a:pathLst>
                <a:path w="75247" h="80010">
                  <a:moveTo>
                    <a:pt x="0" y="80010"/>
                  </a:moveTo>
                  <a:lnTo>
                    <a:pt x="75247" y="40005"/>
                  </a:lnTo>
                  <a:lnTo>
                    <a:pt x="0" y="0"/>
                  </a:lnTo>
                </a:path>
              </a:pathLst>
            </a:custGeom>
            <a:noFill/>
            <a:ln w="22860" cap="rnd">
              <a:solidFill>
                <a:srgbClr val="F5B642"/>
              </a:solidFill>
              <a:round/>
            </a:ln>
          </p:spPr>
        </p:sp>
        <p:sp>
          <p:nvSpPr>
            <p:cNvPr id="20" name="Rectangle 20"/>
            <p:cNvSpPr/>
            <p:nvPr/>
          </p:nvSpPr>
          <p:spPr>
            <a:xfrm>
              <a:off x="3295650" y="2286000"/>
              <a:ext cx="628650" cy="323850"/>
            </a:xfrm>
            <a:prstGeom prst="roundRect">
              <a:avLst>
                <a:gd name="adj" fmla="val 17647"/>
              </a:avLst>
            </a:prstGeom>
            <a:solidFill>
              <a:schemeClr val="accent6"/>
            </a:solidFill>
            <a:ln w="9525">
              <a:solidFill>
                <a:srgbClr val="2C3D63"/>
              </a:solidFill>
            </a:ln>
          </p:spPr>
        </p:sp>
        <p:sp>
          <p:nvSpPr>
            <p:cNvPr id="21" name="TextBox 21"/>
            <p:cNvSpPr txBox="1"/>
            <p:nvPr/>
          </p:nvSpPr>
          <p:spPr>
            <a:xfrm>
              <a:off x="3523011" y="2382202"/>
              <a:ext cx="173928" cy="205359"/>
            </a:xfrm>
            <a:prstGeom prst="rect">
              <a:avLst/>
            </a:prstGeom>
            <a:noFill/>
            <a:ln>
              <a:noFill/>
            </a:ln>
          </p:spPr>
          <p:txBody>
            <a:bodyPr wrap="none" lIns="0" tIns="0" rIns="0" bIns="0" anchor="t" anchorCtr="0">
              <a:spAutoFit/>
            </a:bodyPr>
            <a:lstStyle/>
            <a:p>
              <a:pPr algn="ctr"/>
              <a:r>
                <a:rPr lang="en-US" sz="1050" b="1" dirty="0">
                  <a:solidFill>
                    <a:srgbClr val="2DD4BF"/>
                  </a:solidFill>
                  <a:latin typeface="+mn-lt"/>
                  <a:ea typeface="+mn-ea"/>
                  <a:cs typeface="+mn-cs"/>
                </a:rPr>
                <a:t>e3</a:t>
              </a:r>
            </a:p>
          </p:txBody>
        </p:sp>
        <p:sp>
          <p:nvSpPr>
            <p:cNvPr id="22" name="Line 22"/>
            <p:cNvSpPr/>
            <p:nvPr/>
          </p:nvSpPr>
          <p:spPr>
            <a:xfrm>
              <a:off x="3943350" y="2447925"/>
              <a:ext cx="381000" cy="9525"/>
            </a:xfrm>
            <a:custGeom>
              <a:avLst/>
              <a:gdLst/>
              <a:ahLst/>
              <a:cxnLst/>
              <a:rect l="l" t="t" r="r" b="b"/>
              <a:pathLst>
                <a:path w="381000" h="9525">
                  <a:moveTo>
                    <a:pt x="0" y="0"/>
                  </a:moveTo>
                  <a:lnTo>
                    <a:pt x="381000" y="0"/>
                  </a:lnTo>
                </a:path>
              </a:pathLst>
            </a:custGeom>
            <a:noFill/>
            <a:ln w="22860" cap="rnd">
              <a:solidFill>
                <a:srgbClr val="F5B642"/>
              </a:solidFill>
            </a:ln>
          </p:spPr>
        </p:sp>
        <p:sp>
          <p:nvSpPr>
            <p:cNvPr id="23" name="Polyline 23"/>
            <p:cNvSpPr/>
            <p:nvPr/>
          </p:nvSpPr>
          <p:spPr>
            <a:xfrm>
              <a:off x="4249102" y="2407920"/>
              <a:ext cx="75247" cy="80010"/>
            </a:xfrm>
            <a:custGeom>
              <a:avLst/>
              <a:gdLst/>
              <a:ahLst/>
              <a:cxnLst/>
              <a:rect l="l" t="t" r="r" b="b"/>
              <a:pathLst>
                <a:path w="75247" h="80010">
                  <a:moveTo>
                    <a:pt x="0" y="80010"/>
                  </a:moveTo>
                  <a:lnTo>
                    <a:pt x="75247" y="40005"/>
                  </a:lnTo>
                  <a:lnTo>
                    <a:pt x="0" y="0"/>
                  </a:lnTo>
                </a:path>
              </a:pathLst>
            </a:custGeom>
            <a:noFill/>
            <a:ln w="22860" cap="rnd">
              <a:solidFill>
                <a:srgbClr val="F5B642"/>
              </a:solidFill>
              <a:round/>
            </a:ln>
          </p:spPr>
        </p:sp>
        <p:sp>
          <p:nvSpPr>
            <p:cNvPr id="24" name="Rectangle 24"/>
            <p:cNvSpPr/>
            <p:nvPr/>
          </p:nvSpPr>
          <p:spPr>
            <a:xfrm>
              <a:off x="4419600" y="2286000"/>
              <a:ext cx="628650" cy="323850"/>
            </a:xfrm>
            <a:prstGeom prst="roundRect">
              <a:avLst>
                <a:gd name="adj" fmla="val 17647"/>
              </a:avLst>
            </a:prstGeom>
            <a:solidFill>
              <a:schemeClr val="accent6"/>
            </a:solidFill>
            <a:ln w="9525">
              <a:solidFill>
                <a:srgbClr val="2C3D63"/>
              </a:solidFill>
            </a:ln>
          </p:spPr>
        </p:sp>
        <p:sp>
          <p:nvSpPr>
            <p:cNvPr id="25" name="TextBox 25"/>
            <p:cNvSpPr txBox="1"/>
            <p:nvPr/>
          </p:nvSpPr>
          <p:spPr>
            <a:xfrm>
              <a:off x="4646961" y="2382202"/>
              <a:ext cx="173928" cy="205359"/>
            </a:xfrm>
            <a:prstGeom prst="rect">
              <a:avLst/>
            </a:prstGeom>
            <a:noFill/>
            <a:ln>
              <a:noFill/>
            </a:ln>
          </p:spPr>
          <p:txBody>
            <a:bodyPr wrap="none" lIns="0" tIns="0" rIns="0" bIns="0" anchor="t" anchorCtr="0">
              <a:spAutoFit/>
            </a:bodyPr>
            <a:lstStyle/>
            <a:p>
              <a:pPr algn="ctr"/>
              <a:r>
                <a:rPr lang="en-US" sz="1050" b="1" dirty="0">
                  <a:solidFill>
                    <a:srgbClr val="2DD4BF"/>
                  </a:solidFill>
                  <a:latin typeface="+mn-lt"/>
                  <a:ea typeface="+mn-ea"/>
                  <a:cs typeface="+mn-cs"/>
                </a:rPr>
                <a:t>e4</a:t>
              </a:r>
            </a:p>
          </p:txBody>
        </p:sp>
      </p:grpSp>
      <p:grpSp>
        <p:nvGrpSpPr>
          <p:cNvPr id="40" name="Group 40"/>
          <p:cNvGrpSpPr/>
          <p:nvPr/>
        </p:nvGrpSpPr>
        <p:grpSpPr>
          <a:xfrm>
            <a:off x="6210300" y="1104900"/>
            <a:ext cx="5372100" cy="1809750"/>
            <a:chOff x="6210300" y="1104900"/>
            <a:chExt cx="5372100" cy="1809750"/>
          </a:xfrm>
        </p:grpSpPr>
        <p:sp>
          <p:nvSpPr>
            <p:cNvPr id="27" name="Rectangle 27"/>
            <p:cNvSpPr/>
            <p:nvPr/>
          </p:nvSpPr>
          <p:spPr>
            <a:xfrm>
              <a:off x="6210300" y="1104900"/>
              <a:ext cx="5372100" cy="1809750"/>
            </a:xfrm>
            <a:prstGeom prst="roundRect">
              <a:avLst>
                <a:gd name="adj" fmla="val 7368"/>
              </a:avLst>
            </a:prstGeom>
            <a:solidFill>
              <a:schemeClr val="accent5"/>
            </a:solidFill>
            <a:ln w="14288">
              <a:solidFill>
                <a:srgbClr val="2C3D63"/>
              </a:solidFill>
            </a:ln>
          </p:spPr>
        </p:sp>
        <p:sp>
          <p:nvSpPr>
            <p:cNvPr id="28" name="Rectangle 28"/>
            <p:cNvSpPr/>
            <p:nvPr/>
          </p:nvSpPr>
          <p:spPr>
            <a:xfrm>
              <a:off x="6210300" y="1104900"/>
              <a:ext cx="57150" cy="1809750"/>
            </a:xfrm>
            <a:prstGeom prst="roundRect">
              <a:avLst>
                <a:gd name="adj" fmla="val 50000"/>
              </a:avLst>
            </a:prstGeom>
            <a:solidFill>
              <a:schemeClr val="accent2"/>
            </a:solidFill>
            <a:ln>
              <a:noFill/>
            </a:ln>
          </p:spPr>
        </p:sp>
        <p:sp>
          <p:nvSpPr>
            <p:cNvPr id="29" name="TextBox 29"/>
            <p:cNvSpPr txBox="1"/>
            <p:nvPr/>
          </p:nvSpPr>
          <p:spPr>
            <a:xfrm>
              <a:off x="6507861" y="1255871"/>
              <a:ext cx="2096506"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Change 2 · Clustering</a:t>
              </a:r>
            </a:p>
          </p:txBody>
        </p:sp>
        <p:sp>
          <p:nvSpPr>
            <p:cNvPr id="30" name="TextBox 30"/>
            <p:cNvSpPr txBox="1"/>
            <p:nvPr/>
          </p:nvSpPr>
          <p:spPr>
            <a:xfrm>
              <a:off x="6509385" y="1574006"/>
              <a:ext cx="3318182"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Cluster entries with similar key vectors into</a:t>
              </a:r>
            </a:p>
          </p:txBody>
        </p:sp>
        <p:sp>
          <p:nvSpPr>
            <p:cNvPr id="31" name="TextBox 31"/>
            <p:cNvSpPr txBox="1"/>
            <p:nvPr/>
          </p:nvSpPr>
          <p:spPr>
            <a:xfrm>
              <a:off x="6509385" y="1783556"/>
              <a:ext cx="3441548"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states; states share their outgoing pointers.</a:t>
              </a:r>
            </a:p>
          </p:txBody>
        </p:sp>
        <p:sp>
          <p:nvSpPr>
            <p:cNvPr id="32" name="Ellipse 32"/>
            <p:cNvSpPr/>
            <p:nvPr/>
          </p:nvSpPr>
          <p:spPr>
            <a:xfrm>
              <a:off x="6886575" y="2295525"/>
              <a:ext cx="133350" cy="133350"/>
            </a:xfrm>
            <a:prstGeom prst="ellipse">
              <a:avLst/>
            </a:prstGeom>
            <a:solidFill>
              <a:schemeClr val="accent2"/>
            </a:solidFill>
            <a:ln>
              <a:noFill/>
            </a:ln>
          </p:spPr>
        </p:sp>
        <p:sp>
          <p:nvSpPr>
            <p:cNvPr id="33" name="Ellipse 33"/>
            <p:cNvSpPr/>
            <p:nvPr/>
          </p:nvSpPr>
          <p:spPr>
            <a:xfrm>
              <a:off x="7038975" y="2295525"/>
              <a:ext cx="133350" cy="133350"/>
            </a:xfrm>
            <a:prstGeom prst="ellipse">
              <a:avLst/>
            </a:prstGeom>
            <a:solidFill>
              <a:schemeClr val="accent2"/>
            </a:solidFill>
            <a:ln>
              <a:noFill/>
            </a:ln>
          </p:spPr>
        </p:sp>
        <p:sp>
          <p:nvSpPr>
            <p:cNvPr id="34" name="Ellipse 34"/>
            <p:cNvSpPr/>
            <p:nvPr/>
          </p:nvSpPr>
          <p:spPr>
            <a:xfrm>
              <a:off x="7191375" y="2295525"/>
              <a:ext cx="133350" cy="133350"/>
            </a:xfrm>
            <a:prstGeom prst="ellipse">
              <a:avLst/>
            </a:prstGeom>
            <a:solidFill>
              <a:schemeClr val="accent2"/>
            </a:solidFill>
            <a:ln>
              <a:noFill/>
            </a:ln>
          </p:spPr>
        </p:sp>
        <p:sp>
          <p:nvSpPr>
            <p:cNvPr id="35" name="Ellipse 35"/>
            <p:cNvSpPr/>
            <p:nvPr/>
          </p:nvSpPr>
          <p:spPr>
            <a:xfrm>
              <a:off x="6886575" y="2466975"/>
              <a:ext cx="133350" cy="133350"/>
            </a:xfrm>
            <a:prstGeom prst="ellipse">
              <a:avLst/>
            </a:prstGeom>
            <a:solidFill>
              <a:schemeClr val="accent2"/>
            </a:solidFill>
            <a:ln>
              <a:noFill/>
            </a:ln>
          </p:spPr>
        </p:sp>
        <p:sp>
          <p:nvSpPr>
            <p:cNvPr id="36" name="Ellipse 36"/>
            <p:cNvSpPr/>
            <p:nvPr/>
          </p:nvSpPr>
          <p:spPr>
            <a:xfrm>
              <a:off x="7038975" y="2466975"/>
              <a:ext cx="133350" cy="133350"/>
            </a:xfrm>
            <a:prstGeom prst="ellipse">
              <a:avLst/>
            </a:prstGeom>
            <a:solidFill>
              <a:schemeClr val="accent2"/>
            </a:solidFill>
            <a:ln>
              <a:noFill/>
            </a:ln>
          </p:spPr>
        </p:sp>
        <p:sp>
          <p:nvSpPr>
            <p:cNvPr id="37" name="Ellipse 37"/>
            <p:cNvSpPr/>
            <p:nvPr/>
          </p:nvSpPr>
          <p:spPr>
            <a:xfrm>
              <a:off x="7191375" y="2466975"/>
              <a:ext cx="133350" cy="133350"/>
            </a:xfrm>
            <a:prstGeom prst="ellipse">
              <a:avLst/>
            </a:prstGeom>
            <a:solidFill>
              <a:schemeClr val="accent2"/>
            </a:solidFill>
            <a:ln>
              <a:noFill/>
            </a:ln>
          </p:spPr>
        </p:sp>
        <p:sp>
          <p:nvSpPr>
            <p:cNvPr id="38" name="Ellipse 38"/>
            <p:cNvSpPr/>
            <p:nvPr/>
          </p:nvSpPr>
          <p:spPr>
            <a:xfrm>
              <a:off x="6743700" y="2200275"/>
              <a:ext cx="723900" cy="495300"/>
            </a:xfrm>
            <a:prstGeom prst="ellipse">
              <a:avLst/>
            </a:prstGeom>
            <a:noFill/>
            <a:ln w="16192">
              <a:solidFill>
                <a:schemeClr val="accent2"/>
              </a:solidFill>
            </a:ln>
          </p:spPr>
        </p:sp>
        <p:sp>
          <p:nvSpPr>
            <p:cNvPr id="39" name="TextBox 39"/>
            <p:cNvSpPr txBox="1"/>
            <p:nvPr/>
          </p:nvSpPr>
          <p:spPr>
            <a:xfrm>
              <a:off x="7671626" y="2378154"/>
              <a:ext cx="2131381"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 one state → shared pointers</a:t>
              </a:r>
            </a:p>
          </p:txBody>
        </p:sp>
      </p:grpSp>
      <p:grpSp>
        <p:nvGrpSpPr>
          <p:cNvPr id="60" name="Group 60"/>
          <p:cNvGrpSpPr/>
          <p:nvPr/>
        </p:nvGrpSpPr>
        <p:grpSpPr>
          <a:xfrm>
            <a:off x="609600" y="3086100"/>
            <a:ext cx="7277100" cy="2781300"/>
            <a:chOff x="609600" y="3086100"/>
            <a:chExt cx="7277100" cy="2781300"/>
          </a:xfrm>
        </p:grpSpPr>
        <p:sp>
          <p:nvSpPr>
            <p:cNvPr id="41" name="Rectangle 41"/>
            <p:cNvSpPr/>
            <p:nvPr/>
          </p:nvSpPr>
          <p:spPr>
            <a:xfrm>
              <a:off x="609600" y="3086100"/>
              <a:ext cx="7277100" cy="2781300"/>
            </a:xfrm>
            <a:prstGeom prst="roundRect">
              <a:avLst>
                <a:gd name="adj" fmla="val 4795"/>
              </a:avLst>
            </a:prstGeom>
            <a:solidFill>
              <a:schemeClr val="accent6"/>
            </a:solidFill>
            <a:ln w="15240">
              <a:solidFill>
                <a:schemeClr val="accent2"/>
              </a:solidFill>
            </a:ln>
          </p:spPr>
        </p:sp>
        <p:sp>
          <p:nvSpPr>
            <p:cNvPr id="42" name="TextBox 42"/>
            <p:cNvSpPr txBox="1"/>
            <p:nvPr/>
          </p:nvSpPr>
          <p:spPr>
            <a:xfrm>
              <a:off x="850011" y="3256121"/>
              <a:ext cx="3895196"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Together → a weighted finite automaton</a:t>
              </a:r>
            </a:p>
          </p:txBody>
        </p:sp>
        <p:sp>
          <p:nvSpPr>
            <p:cNvPr id="43" name="Ellipse 43"/>
            <p:cNvSpPr/>
            <p:nvPr/>
          </p:nvSpPr>
          <p:spPr>
            <a:xfrm>
              <a:off x="1543050" y="4114800"/>
              <a:ext cx="723900" cy="723900"/>
            </a:xfrm>
            <a:prstGeom prst="ellipse">
              <a:avLst/>
            </a:prstGeom>
            <a:solidFill>
              <a:schemeClr val="accent5"/>
            </a:solidFill>
            <a:ln w="22860">
              <a:solidFill>
                <a:srgbClr val="2DD4BF"/>
              </a:solidFill>
            </a:ln>
          </p:spPr>
        </p:sp>
        <p:sp>
          <p:nvSpPr>
            <p:cNvPr id="44" name="TextBox 44"/>
            <p:cNvSpPr txBox="1"/>
            <p:nvPr/>
          </p:nvSpPr>
          <p:spPr>
            <a:xfrm>
              <a:off x="1812213" y="4402931"/>
              <a:ext cx="185574"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q1</a:t>
              </a:r>
            </a:p>
          </p:txBody>
        </p:sp>
        <p:sp>
          <p:nvSpPr>
            <p:cNvPr id="45" name="Ellipse 45"/>
            <p:cNvSpPr/>
            <p:nvPr/>
          </p:nvSpPr>
          <p:spPr>
            <a:xfrm>
              <a:off x="3733800" y="3733800"/>
              <a:ext cx="723900" cy="723900"/>
            </a:xfrm>
            <a:prstGeom prst="ellipse">
              <a:avLst/>
            </a:prstGeom>
            <a:solidFill>
              <a:schemeClr val="accent5"/>
            </a:solidFill>
            <a:ln w="22860">
              <a:solidFill>
                <a:schemeClr val="accent2"/>
              </a:solidFill>
            </a:ln>
          </p:spPr>
        </p:sp>
        <p:sp>
          <p:nvSpPr>
            <p:cNvPr id="46" name="TextBox 46"/>
            <p:cNvSpPr txBox="1"/>
            <p:nvPr/>
          </p:nvSpPr>
          <p:spPr>
            <a:xfrm>
              <a:off x="4002963" y="4021931"/>
              <a:ext cx="185574"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q2</a:t>
              </a:r>
            </a:p>
          </p:txBody>
        </p:sp>
        <p:sp>
          <p:nvSpPr>
            <p:cNvPr id="47" name="Ellipse 47"/>
            <p:cNvSpPr/>
            <p:nvPr/>
          </p:nvSpPr>
          <p:spPr>
            <a:xfrm>
              <a:off x="3790950" y="4838700"/>
              <a:ext cx="609600" cy="609600"/>
            </a:xfrm>
            <a:prstGeom prst="ellipse">
              <a:avLst/>
            </a:prstGeom>
            <a:solidFill>
              <a:schemeClr val="accent5"/>
            </a:solidFill>
            <a:ln w="22860">
              <a:solidFill>
                <a:srgbClr val="F5B642"/>
              </a:solidFill>
            </a:ln>
          </p:spPr>
        </p:sp>
        <p:sp>
          <p:nvSpPr>
            <p:cNvPr id="48" name="TextBox 48"/>
            <p:cNvSpPr txBox="1"/>
            <p:nvPr/>
          </p:nvSpPr>
          <p:spPr>
            <a:xfrm>
              <a:off x="4002963" y="5069681"/>
              <a:ext cx="185574" cy="220028"/>
            </a:xfrm>
            <a:prstGeom prst="rect">
              <a:avLst/>
            </a:prstGeom>
            <a:noFill/>
            <a:ln>
              <a:noFill/>
            </a:ln>
          </p:spPr>
          <p:txBody>
            <a:bodyPr wrap="none" lIns="0" tIns="0" rIns="0" bIns="0" anchor="t" anchorCtr="0">
              <a:spAutoFit/>
            </a:bodyPr>
            <a:lstStyle/>
            <a:p>
              <a:pPr algn="ctr"/>
              <a:r>
                <a:rPr lang="en-US" sz="1120" b="1" dirty="0">
                  <a:solidFill>
                    <a:srgbClr val="F5B642"/>
                  </a:solidFill>
                  <a:latin typeface="+mn-lt"/>
                  <a:ea typeface="+mn-ea"/>
                  <a:cs typeface="+mn-cs"/>
                </a:rPr>
                <a:t>q3</a:t>
              </a:r>
            </a:p>
          </p:txBody>
        </p:sp>
        <p:sp>
          <p:nvSpPr>
            <p:cNvPr id="49" name="Ellipse 49"/>
            <p:cNvSpPr/>
            <p:nvPr/>
          </p:nvSpPr>
          <p:spPr>
            <a:xfrm>
              <a:off x="6115050" y="4114800"/>
              <a:ext cx="723900" cy="723900"/>
            </a:xfrm>
            <a:prstGeom prst="ellipse">
              <a:avLst/>
            </a:prstGeom>
            <a:solidFill>
              <a:schemeClr val="accent5"/>
            </a:solidFill>
            <a:ln w="22860">
              <a:solidFill>
                <a:srgbClr val="34D399"/>
              </a:solidFill>
            </a:ln>
          </p:spPr>
        </p:sp>
        <p:sp>
          <p:nvSpPr>
            <p:cNvPr id="50" name="TextBox 50"/>
            <p:cNvSpPr txBox="1"/>
            <p:nvPr/>
          </p:nvSpPr>
          <p:spPr>
            <a:xfrm>
              <a:off x="6384213" y="4402931"/>
              <a:ext cx="185574" cy="220028"/>
            </a:xfrm>
            <a:prstGeom prst="rect">
              <a:avLst/>
            </a:prstGeom>
            <a:noFill/>
            <a:ln>
              <a:noFill/>
            </a:ln>
          </p:spPr>
          <p:txBody>
            <a:bodyPr wrap="none" lIns="0" tIns="0" rIns="0" bIns="0" anchor="t" anchorCtr="0">
              <a:spAutoFit/>
            </a:bodyPr>
            <a:lstStyle/>
            <a:p>
              <a:pPr algn="ctr"/>
              <a:r>
                <a:rPr lang="en-US" sz="1120" b="1" dirty="0">
                  <a:solidFill>
                    <a:srgbClr val="34D399"/>
                  </a:solidFill>
                  <a:latin typeface="+mn-lt"/>
                  <a:ea typeface="+mn-ea"/>
                  <a:cs typeface="+mn-cs"/>
                </a:rPr>
                <a:t>q4</a:t>
              </a:r>
            </a:p>
          </p:txBody>
        </p:sp>
        <p:sp>
          <p:nvSpPr>
            <p:cNvPr id="51" name="Line 51"/>
            <p:cNvSpPr/>
            <p:nvPr/>
          </p:nvSpPr>
          <p:spPr>
            <a:xfrm>
              <a:off x="2266950" y="4171950"/>
              <a:ext cx="1466850" cy="228600"/>
            </a:xfrm>
            <a:custGeom>
              <a:avLst/>
              <a:gdLst/>
              <a:ahLst/>
              <a:cxnLst/>
              <a:rect l="l" t="t" r="r" b="b"/>
              <a:pathLst>
                <a:path w="1466850" h="228600">
                  <a:moveTo>
                    <a:pt x="0" y="228600"/>
                  </a:moveTo>
                  <a:lnTo>
                    <a:pt x="1466850" y="0"/>
                  </a:lnTo>
                </a:path>
              </a:pathLst>
            </a:custGeom>
            <a:noFill/>
            <a:ln w="24765" cap="rnd">
              <a:solidFill>
                <a:srgbClr val="F5B642"/>
              </a:solidFill>
            </a:ln>
          </p:spPr>
        </p:sp>
        <p:sp>
          <p:nvSpPr>
            <p:cNvPr id="52" name="Polyline 52"/>
            <p:cNvSpPr/>
            <p:nvPr/>
          </p:nvSpPr>
          <p:spPr>
            <a:xfrm>
              <a:off x="3652838" y="4143375"/>
              <a:ext cx="80962" cy="80010"/>
            </a:xfrm>
            <a:custGeom>
              <a:avLst/>
              <a:gdLst/>
              <a:ahLst/>
              <a:cxnLst/>
              <a:rect l="l" t="t" r="r" b="b"/>
              <a:pathLst>
                <a:path w="80962" h="80010">
                  <a:moveTo>
                    <a:pt x="12383" y="80010"/>
                  </a:moveTo>
                  <a:lnTo>
                    <a:pt x="80962" y="28575"/>
                  </a:lnTo>
                  <a:lnTo>
                    <a:pt x="0" y="0"/>
                  </a:lnTo>
                </a:path>
              </a:pathLst>
            </a:custGeom>
            <a:noFill/>
            <a:ln w="24765" cap="rnd">
              <a:solidFill>
                <a:srgbClr val="F5B642"/>
              </a:solidFill>
              <a:round/>
            </a:ln>
          </p:spPr>
        </p:sp>
        <p:sp>
          <p:nvSpPr>
            <p:cNvPr id="53" name="Line 53"/>
            <p:cNvSpPr/>
            <p:nvPr/>
          </p:nvSpPr>
          <p:spPr>
            <a:xfrm>
              <a:off x="2209800" y="4629150"/>
              <a:ext cx="1581150" cy="438150"/>
            </a:xfrm>
            <a:custGeom>
              <a:avLst/>
              <a:gdLst/>
              <a:ahLst/>
              <a:cxnLst/>
              <a:rect l="l" t="t" r="r" b="b"/>
              <a:pathLst>
                <a:path w="1581150" h="438150">
                  <a:moveTo>
                    <a:pt x="0" y="0"/>
                  </a:moveTo>
                  <a:lnTo>
                    <a:pt x="1581150" y="438150"/>
                  </a:lnTo>
                </a:path>
              </a:pathLst>
            </a:custGeom>
            <a:noFill/>
            <a:ln w="24765" cap="rnd">
              <a:solidFill>
                <a:srgbClr val="F5B642"/>
              </a:solidFill>
            </a:ln>
          </p:spPr>
        </p:sp>
        <p:sp>
          <p:nvSpPr>
            <p:cNvPr id="54" name="Polyline 54"/>
            <p:cNvSpPr/>
            <p:nvPr/>
          </p:nvSpPr>
          <p:spPr>
            <a:xfrm>
              <a:off x="3707130" y="5008245"/>
              <a:ext cx="83820" cy="77153"/>
            </a:xfrm>
            <a:custGeom>
              <a:avLst/>
              <a:gdLst/>
              <a:ahLst/>
              <a:cxnLst/>
              <a:rect l="l" t="t" r="r" b="b"/>
              <a:pathLst>
                <a:path w="83820" h="77153">
                  <a:moveTo>
                    <a:pt x="0" y="77153"/>
                  </a:moveTo>
                  <a:lnTo>
                    <a:pt x="83820" y="59055"/>
                  </a:lnTo>
                  <a:lnTo>
                    <a:pt x="21908" y="0"/>
                  </a:lnTo>
                </a:path>
              </a:pathLst>
            </a:custGeom>
            <a:noFill/>
            <a:ln w="24765" cap="rnd">
              <a:solidFill>
                <a:srgbClr val="F5B642"/>
              </a:solidFill>
              <a:round/>
            </a:ln>
          </p:spPr>
        </p:sp>
        <p:sp>
          <p:nvSpPr>
            <p:cNvPr id="55" name="Line 55"/>
            <p:cNvSpPr/>
            <p:nvPr/>
          </p:nvSpPr>
          <p:spPr>
            <a:xfrm>
              <a:off x="4457700" y="4152900"/>
              <a:ext cx="1657350" cy="247650"/>
            </a:xfrm>
            <a:custGeom>
              <a:avLst/>
              <a:gdLst/>
              <a:ahLst/>
              <a:cxnLst/>
              <a:rect l="l" t="t" r="r" b="b"/>
              <a:pathLst>
                <a:path w="1657350" h="247650">
                  <a:moveTo>
                    <a:pt x="0" y="0"/>
                  </a:moveTo>
                  <a:lnTo>
                    <a:pt x="1657350" y="247650"/>
                  </a:lnTo>
                </a:path>
              </a:pathLst>
            </a:custGeom>
            <a:noFill/>
            <a:ln w="24765" cap="rnd">
              <a:solidFill>
                <a:srgbClr val="F5B642"/>
              </a:solidFill>
            </a:ln>
          </p:spPr>
        </p:sp>
        <p:sp>
          <p:nvSpPr>
            <p:cNvPr id="56" name="Polyline 56"/>
            <p:cNvSpPr/>
            <p:nvPr/>
          </p:nvSpPr>
          <p:spPr>
            <a:xfrm>
              <a:off x="6034088" y="4349115"/>
              <a:ext cx="80962" cy="80010"/>
            </a:xfrm>
            <a:custGeom>
              <a:avLst/>
              <a:gdLst/>
              <a:ahLst/>
              <a:cxnLst/>
              <a:rect l="l" t="t" r="r" b="b"/>
              <a:pathLst>
                <a:path w="80962" h="80010">
                  <a:moveTo>
                    <a:pt x="0" y="80010"/>
                  </a:moveTo>
                  <a:lnTo>
                    <a:pt x="80962" y="51435"/>
                  </a:lnTo>
                  <a:lnTo>
                    <a:pt x="12382" y="0"/>
                  </a:lnTo>
                </a:path>
              </a:pathLst>
            </a:custGeom>
            <a:noFill/>
            <a:ln w="24765" cap="rnd">
              <a:solidFill>
                <a:srgbClr val="F5B642"/>
              </a:solidFill>
              <a:round/>
            </a:ln>
          </p:spPr>
        </p:sp>
        <p:sp>
          <p:nvSpPr>
            <p:cNvPr id="57" name="Line 57"/>
            <p:cNvSpPr/>
            <p:nvPr/>
          </p:nvSpPr>
          <p:spPr>
            <a:xfrm>
              <a:off x="4400550" y="4591050"/>
              <a:ext cx="1771650" cy="495300"/>
            </a:xfrm>
            <a:custGeom>
              <a:avLst/>
              <a:gdLst/>
              <a:ahLst/>
              <a:cxnLst/>
              <a:rect l="l" t="t" r="r" b="b"/>
              <a:pathLst>
                <a:path w="1771650" h="495300">
                  <a:moveTo>
                    <a:pt x="0" y="495300"/>
                  </a:moveTo>
                  <a:lnTo>
                    <a:pt x="1771650" y="0"/>
                  </a:lnTo>
                </a:path>
              </a:pathLst>
            </a:custGeom>
            <a:noFill/>
            <a:ln w="24765" cap="rnd">
              <a:solidFill>
                <a:srgbClr val="F5B642"/>
              </a:solidFill>
            </a:ln>
          </p:spPr>
        </p:sp>
        <p:sp>
          <p:nvSpPr>
            <p:cNvPr id="58" name="Polyline 58"/>
            <p:cNvSpPr/>
            <p:nvPr/>
          </p:nvSpPr>
          <p:spPr>
            <a:xfrm>
              <a:off x="6088380" y="4572952"/>
              <a:ext cx="83820" cy="77152"/>
            </a:xfrm>
            <a:custGeom>
              <a:avLst/>
              <a:gdLst/>
              <a:ahLst/>
              <a:cxnLst/>
              <a:rect l="l" t="t" r="r" b="b"/>
              <a:pathLst>
                <a:path w="83820" h="77152">
                  <a:moveTo>
                    <a:pt x="21907" y="77152"/>
                  </a:moveTo>
                  <a:lnTo>
                    <a:pt x="83820" y="18097"/>
                  </a:lnTo>
                  <a:lnTo>
                    <a:pt x="0" y="0"/>
                  </a:lnTo>
                </a:path>
              </a:pathLst>
            </a:custGeom>
            <a:noFill/>
            <a:ln w="24765" cap="rnd">
              <a:solidFill>
                <a:srgbClr val="F5B642"/>
              </a:solidFill>
              <a:round/>
            </a:ln>
          </p:spPr>
        </p:sp>
        <p:sp>
          <p:nvSpPr>
            <p:cNvPr id="59" name="TextBox 59"/>
            <p:cNvSpPr txBox="1"/>
            <p:nvPr/>
          </p:nvSpPr>
          <p:spPr>
            <a:xfrm>
              <a:off x="851916" y="5563552"/>
              <a:ext cx="6301251"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States are clusters · edges are shared pointers · traversed in parallel with LM inference.</a:t>
              </a:r>
            </a:p>
          </p:txBody>
        </p:sp>
      </p:grpSp>
      <p:grpSp>
        <p:nvGrpSpPr>
          <p:cNvPr id="77" name="Group 77"/>
          <p:cNvGrpSpPr/>
          <p:nvPr/>
        </p:nvGrpSpPr>
        <p:grpSpPr>
          <a:xfrm>
            <a:off x="8115300" y="3086100"/>
            <a:ext cx="3467100" cy="2781300"/>
            <a:chOff x="8115300" y="3086100"/>
            <a:chExt cx="3467100" cy="2781300"/>
          </a:xfrm>
        </p:grpSpPr>
        <p:sp>
          <p:nvSpPr>
            <p:cNvPr id="61" name="Rectangle 61"/>
            <p:cNvSpPr/>
            <p:nvPr/>
          </p:nvSpPr>
          <p:spPr>
            <a:xfrm>
              <a:off x="8115300" y="3086100"/>
              <a:ext cx="3467100" cy="2781300"/>
            </a:xfrm>
            <a:prstGeom prst="roundRect">
              <a:avLst>
                <a:gd name="adj" fmla="val 4795"/>
              </a:avLst>
            </a:prstGeom>
            <a:solidFill>
              <a:schemeClr val="accent5"/>
            </a:solidFill>
            <a:ln w="14288">
              <a:solidFill>
                <a:srgbClr val="34D399"/>
              </a:solidFill>
            </a:ln>
          </p:spPr>
        </p:sp>
        <p:sp>
          <p:nvSpPr>
            <p:cNvPr id="62" name="TextBox 62"/>
            <p:cNvSpPr txBox="1"/>
            <p:nvPr/>
          </p:nvSpPr>
          <p:spPr>
            <a:xfrm>
              <a:off x="8356092" y="3264218"/>
              <a:ext cx="1717703" cy="264033"/>
            </a:xfrm>
            <a:prstGeom prst="rect">
              <a:avLst/>
            </a:prstGeom>
            <a:noFill/>
            <a:ln>
              <a:noFill/>
            </a:ln>
          </p:spPr>
          <p:txBody>
            <a:bodyPr wrap="none" lIns="0" tIns="0" rIns="0" bIns="0" anchor="t" anchorCtr="0">
              <a:spAutoFit/>
            </a:bodyPr>
            <a:lstStyle/>
            <a:p>
              <a:pPr algn="l"/>
              <a:r>
                <a:rPr lang="en-US" sz="1350" b="1" dirty="0">
                  <a:solidFill>
                    <a:srgbClr val="34D399"/>
                  </a:solidFill>
                  <a:latin typeface="+mn-lt"/>
                  <a:ea typeface="+mn-ea"/>
                  <a:cs typeface="+mn-cs"/>
                </a:rPr>
                <a:t>Fully unsupervised</a:t>
              </a:r>
            </a:p>
          </p:txBody>
        </p:sp>
        <p:sp>
          <p:nvSpPr>
            <p:cNvPr id="63" name="Ellipse 63"/>
            <p:cNvSpPr/>
            <p:nvPr/>
          </p:nvSpPr>
          <p:spPr>
            <a:xfrm>
              <a:off x="8401050" y="3714750"/>
              <a:ext cx="76200" cy="76200"/>
            </a:xfrm>
            <a:prstGeom prst="ellipse">
              <a:avLst/>
            </a:prstGeom>
            <a:solidFill>
              <a:srgbClr val="34D399"/>
            </a:solidFill>
            <a:ln>
              <a:noFill/>
            </a:ln>
          </p:spPr>
        </p:sp>
        <p:sp>
          <p:nvSpPr>
            <p:cNvPr id="64" name="TextBox 64"/>
            <p:cNvSpPr txBox="1"/>
            <p:nvPr/>
          </p:nvSpPr>
          <p:spPr>
            <a:xfrm>
              <a:off x="8567166" y="3687128"/>
              <a:ext cx="1548895"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No extra training data</a:t>
              </a:r>
            </a:p>
          </p:txBody>
        </p:sp>
        <p:sp>
          <p:nvSpPr>
            <p:cNvPr id="65" name="Ellipse 65"/>
            <p:cNvSpPr/>
            <p:nvPr/>
          </p:nvSpPr>
          <p:spPr>
            <a:xfrm>
              <a:off x="8401050" y="4000500"/>
              <a:ext cx="76200" cy="76200"/>
            </a:xfrm>
            <a:prstGeom prst="ellipse">
              <a:avLst/>
            </a:prstGeom>
            <a:solidFill>
              <a:srgbClr val="34D399"/>
            </a:solidFill>
            <a:ln>
              <a:noFill/>
            </a:ln>
          </p:spPr>
        </p:sp>
        <p:sp>
          <p:nvSpPr>
            <p:cNvPr id="66" name="TextBox 66"/>
            <p:cNvSpPr txBox="1"/>
            <p:nvPr/>
          </p:nvSpPr>
          <p:spPr>
            <a:xfrm>
              <a:off x="8567166" y="3972878"/>
              <a:ext cx="1584105"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Built from the training</a:t>
              </a:r>
            </a:p>
          </p:txBody>
        </p:sp>
        <p:sp>
          <p:nvSpPr>
            <p:cNvPr id="67" name="Ellipse 67"/>
            <p:cNvSpPr/>
            <p:nvPr/>
          </p:nvSpPr>
          <p:spPr>
            <a:xfrm>
              <a:off x="8401050" y="4286250"/>
              <a:ext cx="76200" cy="76200"/>
            </a:xfrm>
            <a:prstGeom prst="ellipse">
              <a:avLst/>
            </a:prstGeom>
            <a:solidFill>
              <a:srgbClr val="34D399"/>
            </a:solidFill>
            <a:ln>
              <a:noFill/>
            </a:ln>
          </p:spPr>
        </p:sp>
        <p:sp>
          <p:nvSpPr>
            <p:cNvPr id="68" name="TextBox 68"/>
            <p:cNvSpPr txBox="1"/>
            <p:nvPr/>
          </p:nvSpPr>
          <p:spPr>
            <a:xfrm>
              <a:off x="8567166" y="4258628"/>
              <a:ext cx="1678610"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corpus, or a new domain</a:t>
              </a:r>
            </a:p>
          </p:txBody>
        </p:sp>
        <p:sp>
          <p:nvSpPr>
            <p:cNvPr id="69" name="Ellipse 69"/>
            <p:cNvSpPr/>
            <p:nvPr/>
          </p:nvSpPr>
          <p:spPr>
            <a:xfrm>
              <a:off x="8401050" y="4572000"/>
              <a:ext cx="76200" cy="76200"/>
            </a:xfrm>
            <a:prstGeom prst="ellipse">
              <a:avLst/>
            </a:prstGeom>
            <a:solidFill>
              <a:srgbClr val="34D399"/>
            </a:solidFill>
            <a:ln>
              <a:noFill/>
            </a:ln>
          </p:spPr>
        </p:sp>
        <p:sp>
          <p:nvSpPr>
            <p:cNvPr id="70" name="TextBox 70"/>
            <p:cNvSpPr txBox="1"/>
            <p:nvPr/>
          </p:nvSpPr>
          <p:spPr>
            <a:xfrm>
              <a:off x="8567166" y="4544378"/>
              <a:ext cx="1061220"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Model-agnostic</a:t>
              </a:r>
            </a:p>
          </p:txBody>
        </p:sp>
        <p:sp>
          <p:nvSpPr>
            <p:cNvPr id="71" name="Ellipse 71"/>
            <p:cNvSpPr/>
            <p:nvPr/>
          </p:nvSpPr>
          <p:spPr>
            <a:xfrm>
              <a:off x="8401050" y="4857750"/>
              <a:ext cx="76200" cy="76200"/>
            </a:xfrm>
            <a:prstGeom prst="ellipse">
              <a:avLst/>
            </a:prstGeom>
            <a:solidFill>
              <a:srgbClr val="34D399"/>
            </a:solidFill>
            <a:ln>
              <a:noFill/>
            </a:ln>
          </p:spPr>
        </p:sp>
        <p:sp>
          <p:nvSpPr>
            <p:cNvPr id="72" name="TextBox 72"/>
            <p:cNvSpPr txBox="1"/>
            <p:nvPr/>
          </p:nvSpPr>
          <p:spPr>
            <a:xfrm>
              <a:off x="8567166" y="4830128"/>
              <a:ext cx="1570161"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Approximates the next</a:t>
              </a:r>
            </a:p>
          </p:txBody>
        </p:sp>
        <p:sp>
          <p:nvSpPr>
            <p:cNvPr id="73" name="Ellipse 73"/>
            <p:cNvSpPr/>
            <p:nvPr/>
          </p:nvSpPr>
          <p:spPr>
            <a:xfrm>
              <a:off x="8401050" y="5143500"/>
              <a:ext cx="76200" cy="76200"/>
            </a:xfrm>
            <a:prstGeom prst="ellipse">
              <a:avLst/>
            </a:prstGeom>
            <a:solidFill>
              <a:srgbClr val="34D399"/>
            </a:solidFill>
            <a:ln>
              <a:noFill/>
            </a:ln>
          </p:spPr>
        </p:sp>
        <p:sp>
          <p:nvSpPr>
            <p:cNvPr id="74" name="TextBox 74"/>
            <p:cNvSpPr txBox="1"/>
            <p:nvPr/>
          </p:nvSpPr>
          <p:spPr>
            <a:xfrm>
              <a:off x="8567166" y="5115878"/>
              <a:ext cx="1841163"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nearest neighbors so most</a:t>
              </a:r>
            </a:p>
          </p:txBody>
        </p:sp>
        <p:sp>
          <p:nvSpPr>
            <p:cNvPr id="75" name="Ellipse 75"/>
            <p:cNvSpPr/>
            <p:nvPr/>
          </p:nvSpPr>
          <p:spPr>
            <a:xfrm>
              <a:off x="8401050" y="5429250"/>
              <a:ext cx="76200" cy="76200"/>
            </a:xfrm>
            <a:prstGeom prst="ellipse">
              <a:avLst/>
            </a:prstGeom>
            <a:solidFill>
              <a:srgbClr val="34D399"/>
            </a:solidFill>
            <a:ln>
              <a:noFill/>
            </a:ln>
          </p:spPr>
        </p:sp>
        <p:sp>
          <p:nvSpPr>
            <p:cNvPr id="76" name="TextBox 76"/>
            <p:cNvSpPr txBox="1"/>
            <p:nvPr/>
          </p:nvSpPr>
          <p:spPr>
            <a:xfrm>
              <a:off x="8567166" y="5401628"/>
              <a:ext cx="1459516"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searches are skipped</a:t>
              </a:r>
            </a:p>
          </p:txBody>
        </p:sp>
      </p:grpSp>
      <p:sp>
        <p:nvSpPr>
          <p:cNvPr id="78" name="TextBox 78"/>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79" name="cue_s04_c1_retomaton_makes_two_changes_datastor" title="cue_s04_c1_retomaton_makes_two_changes_datastor" descr="cue_s04_c1_retomaton_makes_two_changes_datastor RetoMaton makes two changes to the datastore. First, it saves a pointer from every entry to the entry that came right after it in the text."/>
          <p:cNvSpPr/>
          <p:nvPr/>
        </p:nvSpPr>
        <p:spPr>
          <a:xfrm>
            <a:off x="609600" y="1104823"/>
            <a:ext cx="5371795"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ue_s04_c2_second_clusters_entries_similar_key" title="cue_s04_c2_second_clusters_entries_similar_key" descr="cue_s04_c2_second_clusters_entries_similar_key Second, it clusters entries with similar key vectors into states, and those states share their outgoing pointers."/>
          <p:cNvSpPr/>
          <p:nvPr/>
        </p:nvSpPr>
        <p:spPr>
          <a:xfrm>
            <a:off x="6210604" y="1104823"/>
            <a:ext cx="5371795"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cue_s04_c3_together_these_turn_flat_datastore" title="cue_s04_c3_together_these_turn_flat_datastore" descr="cue_s04_c3_together_these_turn_flat_datastore Together these turn the flat datastore into a weighted finite automaton."/>
          <p:cNvSpPr/>
          <p:nvPr/>
        </p:nvSpPr>
        <p:spPr>
          <a:xfrm>
            <a:off x="609600" y="3086100"/>
            <a:ext cx="727740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cue_s04_c4_building_completely_unsupervised_req" title="cue_s04_c4_building_completely_unsupervised_req" descr="cue_s04_c4_building_completely_unsupervised_req Building it is completely unsupervised, requires no extra training data, and works whether the automaton is constructed from the model's own training corpus or from a brand-new domain."/>
          <p:cNvSpPr/>
          <p:nvPr/>
        </p:nvSpPr>
        <p:spPr>
          <a:xfrm>
            <a:off x="8114995" y="3086100"/>
            <a:ext cx="346740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chemeClr val="accent2"/>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05</a:t>
            </a:r>
          </a:p>
        </p:txBody>
      </p:sp>
      <p:sp>
        <p:nvSpPr>
          <p:cNvPr id="5" name="TextBox 5"/>
          <p:cNvSpPr txBox="1"/>
          <p:nvPr/>
        </p:nvSpPr>
        <p:spPr>
          <a:xfrm>
            <a:off x="826770" y="519112"/>
            <a:ext cx="786495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Method: Traverse the Automaton Alongside the LM</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25" name="Group 25"/>
          <p:cNvGrpSpPr/>
          <p:nvPr/>
        </p:nvGrpSpPr>
        <p:grpSpPr>
          <a:xfrm>
            <a:off x="609600" y="1104900"/>
            <a:ext cx="5372100" cy="2266950"/>
            <a:chOff x="609600" y="1104900"/>
            <a:chExt cx="5372100" cy="2266950"/>
          </a:xfrm>
        </p:grpSpPr>
        <p:sp>
          <p:nvSpPr>
            <p:cNvPr id="7" name="Rectangle 7"/>
            <p:cNvSpPr/>
            <p:nvPr/>
          </p:nvSpPr>
          <p:spPr>
            <a:xfrm>
              <a:off x="609600" y="1104900"/>
              <a:ext cx="5372100" cy="2266950"/>
            </a:xfrm>
            <a:prstGeom prst="roundRect">
              <a:avLst>
                <a:gd name="adj" fmla="val 5882"/>
              </a:avLst>
            </a:prstGeom>
            <a:solidFill>
              <a:schemeClr val="accent5"/>
            </a:solidFill>
            <a:ln w="14288">
              <a:solidFill>
                <a:srgbClr val="2C3D63"/>
              </a:solidFill>
            </a:ln>
          </p:spPr>
        </p:sp>
        <p:sp>
          <p:nvSpPr>
            <p:cNvPr id="8" name="TextBox 8"/>
            <p:cNvSpPr txBox="1"/>
            <p:nvPr/>
          </p:nvSpPr>
          <p:spPr>
            <a:xfrm>
              <a:off x="850392" y="1263968"/>
              <a:ext cx="2778925" cy="264033"/>
            </a:xfrm>
            <a:prstGeom prst="rect">
              <a:avLst/>
            </a:prstGeom>
            <a:noFill/>
            <a:ln>
              <a:noFill/>
            </a:ln>
          </p:spPr>
          <p:txBody>
            <a:bodyPr wrap="none" lIns="0" tIns="0" rIns="0" bIns="0" anchor="t" anchorCtr="0">
              <a:spAutoFit/>
            </a:bodyPr>
            <a:lstStyle/>
            <a:p>
              <a:pPr algn="l"/>
              <a:r>
                <a:rPr lang="en-US" sz="1350" b="1" dirty="0">
                  <a:solidFill>
                    <a:srgbClr val="2DD4BF"/>
                  </a:solidFill>
                  <a:latin typeface="+mn-lt"/>
                  <a:ea typeface="+mn-ea"/>
                  <a:cs typeface="+mn-cs"/>
                </a:rPr>
                <a:t>Entry = (key, value, pointer)</a:t>
              </a:r>
            </a:p>
          </p:txBody>
        </p:sp>
        <p:sp>
          <p:nvSpPr>
            <p:cNvPr id="9" name="Rectangle 9"/>
            <p:cNvSpPr/>
            <p:nvPr/>
          </p:nvSpPr>
          <p:spPr>
            <a:xfrm>
              <a:off x="857250" y="1600200"/>
              <a:ext cx="4267200" cy="323850"/>
            </a:xfrm>
            <a:prstGeom prst="roundRect">
              <a:avLst>
                <a:gd name="adj" fmla="val 20588"/>
              </a:avLst>
            </a:prstGeom>
            <a:solidFill>
              <a:schemeClr val="accent6"/>
            </a:solidFill>
            <a:ln w="9525">
              <a:solidFill>
                <a:srgbClr val="2C3D63"/>
              </a:solidFill>
            </a:ln>
          </p:spPr>
        </p:sp>
        <p:sp>
          <p:nvSpPr>
            <p:cNvPr id="10" name="Rectangle 10"/>
            <p:cNvSpPr/>
            <p:nvPr/>
          </p:nvSpPr>
          <p:spPr>
            <a:xfrm>
              <a:off x="914400" y="1657350"/>
              <a:ext cx="495300" cy="209550"/>
            </a:xfrm>
            <a:prstGeom prst="roundRect">
              <a:avLst>
                <a:gd name="adj" fmla="val 22727"/>
              </a:avLst>
            </a:prstGeom>
            <a:noFill/>
            <a:ln w="12382">
              <a:solidFill>
                <a:srgbClr val="2DD4BF"/>
              </a:solidFill>
            </a:ln>
          </p:spPr>
        </p:sp>
        <p:sp>
          <p:nvSpPr>
            <p:cNvPr id="11" name="TextBox 11"/>
            <p:cNvSpPr txBox="1"/>
            <p:nvPr/>
          </p:nvSpPr>
          <p:spPr>
            <a:xfrm>
              <a:off x="1080909" y="1704499"/>
              <a:ext cx="162282"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kᵢ</a:t>
              </a:r>
            </a:p>
          </p:txBody>
        </p:sp>
        <p:sp>
          <p:nvSpPr>
            <p:cNvPr id="12" name="TextBox 12"/>
            <p:cNvSpPr txBox="1"/>
            <p:nvPr/>
          </p:nvSpPr>
          <p:spPr>
            <a:xfrm>
              <a:off x="1518666" y="1696402"/>
              <a:ext cx="61918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value wᵢ</a:t>
              </a:r>
            </a:p>
          </p:txBody>
        </p:sp>
        <p:sp>
          <p:nvSpPr>
            <p:cNvPr id="13" name="TextBox 13"/>
            <p:cNvSpPr txBox="1"/>
            <p:nvPr/>
          </p:nvSpPr>
          <p:spPr>
            <a:xfrm>
              <a:off x="4182708" y="1704499"/>
              <a:ext cx="813345"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 successor</a:t>
              </a:r>
            </a:p>
          </p:txBody>
        </p:sp>
        <p:sp>
          <p:nvSpPr>
            <p:cNvPr id="14" name="Rectangle 14"/>
            <p:cNvSpPr/>
            <p:nvPr/>
          </p:nvSpPr>
          <p:spPr>
            <a:xfrm>
              <a:off x="857250" y="2000250"/>
              <a:ext cx="4267200" cy="323850"/>
            </a:xfrm>
            <a:prstGeom prst="roundRect">
              <a:avLst>
                <a:gd name="adj" fmla="val 20588"/>
              </a:avLst>
            </a:prstGeom>
            <a:solidFill>
              <a:schemeClr val="accent6"/>
            </a:solidFill>
            <a:ln w="9525">
              <a:solidFill>
                <a:srgbClr val="2C3D63"/>
              </a:solidFill>
            </a:ln>
          </p:spPr>
        </p:sp>
        <p:sp>
          <p:nvSpPr>
            <p:cNvPr id="15" name="Rectangle 15"/>
            <p:cNvSpPr/>
            <p:nvPr/>
          </p:nvSpPr>
          <p:spPr>
            <a:xfrm>
              <a:off x="914400" y="2057400"/>
              <a:ext cx="495300" cy="209550"/>
            </a:xfrm>
            <a:prstGeom prst="roundRect">
              <a:avLst>
                <a:gd name="adj" fmla="val 22727"/>
              </a:avLst>
            </a:prstGeom>
            <a:noFill/>
            <a:ln w="12382">
              <a:solidFill>
                <a:srgbClr val="2DD4BF"/>
              </a:solidFill>
            </a:ln>
          </p:spPr>
        </p:sp>
        <p:sp>
          <p:nvSpPr>
            <p:cNvPr id="16" name="TextBox 16"/>
            <p:cNvSpPr txBox="1"/>
            <p:nvPr/>
          </p:nvSpPr>
          <p:spPr>
            <a:xfrm>
              <a:off x="1080909" y="2104549"/>
              <a:ext cx="162282"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kⱼ</a:t>
              </a:r>
            </a:p>
          </p:txBody>
        </p:sp>
        <p:sp>
          <p:nvSpPr>
            <p:cNvPr id="17" name="TextBox 17"/>
            <p:cNvSpPr txBox="1"/>
            <p:nvPr/>
          </p:nvSpPr>
          <p:spPr>
            <a:xfrm>
              <a:off x="1518666" y="2096452"/>
              <a:ext cx="61918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value wⱼ</a:t>
              </a:r>
            </a:p>
          </p:txBody>
        </p:sp>
        <p:sp>
          <p:nvSpPr>
            <p:cNvPr id="18" name="TextBox 18"/>
            <p:cNvSpPr txBox="1"/>
            <p:nvPr/>
          </p:nvSpPr>
          <p:spPr>
            <a:xfrm>
              <a:off x="4182708" y="2104549"/>
              <a:ext cx="813345"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 successor</a:t>
              </a:r>
            </a:p>
          </p:txBody>
        </p:sp>
        <p:sp>
          <p:nvSpPr>
            <p:cNvPr id="19" name="Rectangle 19"/>
            <p:cNvSpPr/>
            <p:nvPr/>
          </p:nvSpPr>
          <p:spPr>
            <a:xfrm>
              <a:off x="857250" y="2400300"/>
              <a:ext cx="4267200" cy="323850"/>
            </a:xfrm>
            <a:prstGeom prst="roundRect">
              <a:avLst>
                <a:gd name="adj" fmla="val 20588"/>
              </a:avLst>
            </a:prstGeom>
            <a:solidFill>
              <a:schemeClr val="accent6"/>
            </a:solidFill>
            <a:ln w="9525">
              <a:solidFill>
                <a:srgbClr val="2C3D63"/>
              </a:solidFill>
            </a:ln>
          </p:spPr>
        </p:sp>
        <p:sp>
          <p:nvSpPr>
            <p:cNvPr id="20" name="Rectangle 20"/>
            <p:cNvSpPr/>
            <p:nvPr/>
          </p:nvSpPr>
          <p:spPr>
            <a:xfrm>
              <a:off x="914400" y="2457450"/>
              <a:ext cx="495300" cy="209550"/>
            </a:xfrm>
            <a:prstGeom prst="roundRect">
              <a:avLst>
                <a:gd name="adj" fmla="val 22727"/>
              </a:avLst>
            </a:prstGeom>
            <a:noFill/>
            <a:ln w="12382">
              <a:solidFill>
                <a:srgbClr val="2DD4BF"/>
              </a:solidFill>
            </a:ln>
          </p:spPr>
        </p:sp>
        <p:sp>
          <p:nvSpPr>
            <p:cNvPr id="21" name="TextBox 21"/>
            <p:cNvSpPr txBox="1"/>
            <p:nvPr/>
          </p:nvSpPr>
          <p:spPr>
            <a:xfrm>
              <a:off x="1080909" y="2504599"/>
              <a:ext cx="162282" cy="190690"/>
            </a:xfrm>
            <a:prstGeom prst="rect">
              <a:avLst/>
            </a:prstGeom>
            <a:noFill/>
            <a:ln>
              <a:noFill/>
            </a:ln>
          </p:spPr>
          <p:txBody>
            <a:bodyPr wrap="none" lIns="0" tIns="0" rIns="0" bIns="0" anchor="t" anchorCtr="0">
              <a:spAutoFit/>
            </a:bodyPr>
            <a:lstStyle/>
            <a:p>
              <a:pPr algn="ctr"/>
              <a:r>
                <a:rPr lang="en-US" sz="980" b="1" dirty="0">
                  <a:solidFill>
                    <a:srgbClr val="2DD4BF"/>
                  </a:solidFill>
                  <a:latin typeface="+mn-lt"/>
                  <a:ea typeface="+mn-ea"/>
                  <a:cs typeface="+mn-cs"/>
                </a:rPr>
                <a:t>kₗ</a:t>
              </a:r>
            </a:p>
          </p:txBody>
        </p:sp>
        <p:sp>
          <p:nvSpPr>
            <p:cNvPr id="22" name="TextBox 22"/>
            <p:cNvSpPr txBox="1"/>
            <p:nvPr/>
          </p:nvSpPr>
          <p:spPr>
            <a:xfrm>
              <a:off x="1518666" y="2496502"/>
              <a:ext cx="61918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value wₗ</a:t>
              </a:r>
            </a:p>
          </p:txBody>
        </p:sp>
        <p:sp>
          <p:nvSpPr>
            <p:cNvPr id="23" name="TextBox 23"/>
            <p:cNvSpPr txBox="1"/>
            <p:nvPr/>
          </p:nvSpPr>
          <p:spPr>
            <a:xfrm>
              <a:off x="4182708" y="2504599"/>
              <a:ext cx="813345"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 successor</a:t>
              </a:r>
            </a:p>
          </p:txBody>
        </p:sp>
        <p:sp>
          <p:nvSpPr>
            <p:cNvPr id="24" name="TextBox 24"/>
            <p:cNvSpPr txBox="1"/>
            <p:nvPr/>
          </p:nvSpPr>
          <p:spPr>
            <a:xfrm>
              <a:off x="852106" y="2919651"/>
              <a:ext cx="4318213"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The pointer references the entry that followed it in the corpus.</a:t>
              </a:r>
            </a:p>
          </p:txBody>
        </p:sp>
      </p:grpSp>
      <p:grpSp>
        <p:nvGrpSpPr>
          <p:cNvPr id="41" name="Group 41"/>
          <p:cNvGrpSpPr/>
          <p:nvPr/>
        </p:nvGrpSpPr>
        <p:grpSpPr>
          <a:xfrm>
            <a:off x="6210300" y="1104900"/>
            <a:ext cx="5372100" cy="2266950"/>
            <a:chOff x="6210300" y="1104900"/>
            <a:chExt cx="5372100" cy="2266950"/>
          </a:xfrm>
        </p:grpSpPr>
        <p:sp>
          <p:nvSpPr>
            <p:cNvPr id="26" name="Rectangle 26"/>
            <p:cNvSpPr/>
            <p:nvPr/>
          </p:nvSpPr>
          <p:spPr>
            <a:xfrm>
              <a:off x="6210300" y="1104900"/>
              <a:ext cx="5372100" cy="2266950"/>
            </a:xfrm>
            <a:prstGeom prst="roundRect">
              <a:avLst>
                <a:gd name="adj" fmla="val 5882"/>
              </a:avLst>
            </a:prstGeom>
            <a:solidFill>
              <a:schemeClr val="accent5"/>
            </a:solidFill>
            <a:ln w="14288">
              <a:solidFill>
                <a:srgbClr val="2C3D63"/>
              </a:solidFill>
            </a:ln>
          </p:spPr>
        </p:sp>
        <p:sp>
          <p:nvSpPr>
            <p:cNvPr id="27" name="TextBox 27"/>
            <p:cNvSpPr txBox="1"/>
            <p:nvPr/>
          </p:nvSpPr>
          <p:spPr>
            <a:xfrm>
              <a:off x="6451092" y="1263968"/>
              <a:ext cx="309242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Keep a small set of active states</a:t>
              </a:r>
            </a:p>
          </p:txBody>
        </p:sp>
        <p:sp>
          <p:nvSpPr>
            <p:cNvPr id="28" name="TextBox 28"/>
            <p:cNvSpPr txBox="1"/>
            <p:nvPr/>
          </p:nvSpPr>
          <p:spPr>
            <a:xfrm>
              <a:off x="6452426" y="1559004"/>
              <a:ext cx="3567080"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Close-key entries are clustered into a state; the</a:t>
              </a:r>
            </a:p>
          </p:txBody>
        </p:sp>
        <p:sp>
          <p:nvSpPr>
            <p:cNvPr id="29" name="TextBox 29"/>
            <p:cNvSpPr txBox="1"/>
            <p:nvPr/>
          </p:nvSpPr>
          <p:spPr>
            <a:xfrm>
              <a:off x="6452426" y="1759029"/>
              <a:ext cx="3099838"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state inherits all pointers of its members.</a:t>
              </a:r>
            </a:p>
          </p:txBody>
        </p:sp>
        <p:sp>
          <p:nvSpPr>
            <p:cNvPr id="30" name="Ellipse 30"/>
            <p:cNvSpPr/>
            <p:nvPr/>
          </p:nvSpPr>
          <p:spPr>
            <a:xfrm>
              <a:off x="6667500" y="2286000"/>
              <a:ext cx="571500" cy="571500"/>
            </a:xfrm>
            <a:prstGeom prst="ellipse">
              <a:avLst/>
            </a:prstGeom>
            <a:solidFill>
              <a:schemeClr val="accent5"/>
            </a:solidFill>
            <a:ln w="22860">
              <a:solidFill>
                <a:schemeClr val="accent2"/>
              </a:solidFill>
            </a:ln>
          </p:spPr>
        </p:sp>
        <p:sp>
          <p:nvSpPr>
            <p:cNvPr id="31" name="TextBox 31"/>
            <p:cNvSpPr txBox="1"/>
            <p:nvPr/>
          </p:nvSpPr>
          <p:spPr>
            <a:xfrm>
              <a:off x="6855534" y="2497931"/>
              <a:ext cx="195432"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S₁</a:t>
              </a:r>
            </a:p>
          </p:txBody>
        </p:sp>
        <p:sp>
          <p:nvSpPr>
            <p:cNvPr id="32" name="Ellipse 32"/>
            <p:cNvSpPr/>
            <p:nvPr/>
          </p:nvSpPr>
          <p:spPr>
            <a:xfrm>
              <a:off x="7810500" y="2286000"/>
              <a:ext cx="571500" cy="571500"/>
            </a:xfrm>
            <a:prstGeom prst="ellipse">
              <a:avLst/>
            </a:prstGeom>
            <a:solidFill>
              <a:schemeClr val="accent5"/>
            </a:solidFill>
            <a:ln w="22860">
              <a:solidFill>
                <a:srgbClr val="2DD4BF"/>
              </a:solidFill>
            </a:ln>
          </p:spPr>
        </p:sp>
        <p:sp>
          <p:nvSpPr>
            <p:cNvPr id="33" name="TextBox 33"/>
            <p:cNvSpPr txBox="1"/>
            <p:nvPr/>
          </p:nvSpPr>
          <p:spPr>
            <a:xfrm>
              <a:off x="7998534" y="2497931"/>
              <a:ext cx="195432"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S₂</a:t>
              </a:r>
            </a:p>
          </p:txBody>
        </p:sp>
        <p:sp>
          <p:nvSpPr>
            <p:cNvPr id="34" name="Ellipse 34"/>
            <p:cNvSpPr/>
            <p:nvPr/>
          </p:nvSpPr>
          <p:spPr>
            <a:xfrm>
              <a:off x="8953500" y="2286000"/>
              <a:ext cx="571500" cy="571500"/>
            </a:xfrm>
            <a:prstGeom prst="ellipse">
              <a:avLst/>
            </a:prstGeom>
            <a:solidFill>
              <a:schemeClr val="accent5"/>
            </a:solidFill>
            <a:ln w="22860">
              <a:solidFill>
                <a:srgbClr val="F5B642"/>
              </a:solidFill>
            </a:ln>
          </p:spPr>
        </p:sp>
        <p:sp>
          <p:nvSpPr>
            <p:cNvPr id="35" name="TextBox 35"/>
            <p:cNvSpPr txBox="1"/>
            <p:nvPr/>
          </p:nvSpPr>
          <p:spPr>
            <a:xfrm>
              <a:off x="9141534" y="2497931"/>
              <a:ext cx="195432" cy="220028"/>
            </a:xfrm>
            <a:prstGeom prst="rect">
              <a:avLst/>
            </a:prstGeom>
            <a:noFill/>
            <a:ln>
              <a:noFill/>
            </a:ln>
          </p:spPr>
          <p:txBody>
            <a:bodyPr wrap="none" lIns="0" tIns="0" rIns="0" bIns="0" anchor="t" anchorCtr="0">
              <a:spAutoFit/>
            </a:bodyPr>
            <a:lstStyle/>
            <a:p>
              <a:pPr algn="ctr"/>
              <a:r>
                <a:rPr lang="en-US" sz="1120" b="1" dirty="0">
                  <a:solidFill>
                    <a:srgbClr val="F5B642"/>
                  </a:solidFill>
                  <a:latin typeface="+mn-lt"/>
                  <a:ea typeface="+mn-ea"/>
                  <a:cs typeface="+mn-cs"/>
                </a:rPr>
                <a:t>S₃</a:t>
              </a:r>
            </a:p>
          </p:txBody>
        </p:sp>
        <p:sp>
          <p:nvSpPr>
            <p:cNvPr id="36" name="Line 36"/>
            <p:cNvSpPr/>
            <p:nvPr/>
          </p:nvSpPr>
          <p:spPr>
            <a:xfrm>
              <a:off x="7239000" y="2571750"/>
              <a:ext cx="571500" cy="9525"/>
            </a:xfrm>
            <a:custGeom>
              <a:avLst/>
              <a:gdLst/>
              <a:ahLst/>
              <a:cxnLst/>
              <a:rect l="l" t="t" r="r" b="b"/>
              <a:pathLst>
                <a:path w="571500" h="9525">
                  <a:moveTo>
                    <a:pt x="0" y="0"/>
                  </a:moveTo>
                  <a:lnTo>
                    <a:pt x="571500" y="0"/>
                  </a:lnTo>
                </a:path>
              </a:pathLst>
            </a:custGeom>
            <a:noFill/>
            <a:ln w="19050" cap="rnd">
              <a:solidFill>
                <a:srgbClr val="F5B642"/>
              </a:solidFill>
            </a:ln>
          </p:spPr>
        </p:sp>
        <p:sp>
          <p:nvSpPr>
            <p:cNvPr id="37" name="Polyline 37"/>
            <p:cNvSpPr/>
            <p:nvPr/>
          </p:nvSpPr>
          <p:spPr>
            <a:xfrm>
              <a:off x="7735252" y="2531745"/>
              <a:ext cx="75247" cy="80010"/>
            </a:xfrm>
            <a:custGeom>
              <a:avLst/>
              <a:gdLst/>
              <a:ahLst/>
              <a:cxnLst/>
              <a:rect l="l" t="t" r="r" b="b"/>
              <a:pathLst>
                <a:path w="75247" h="80010">
                  <a:moveTo>
                    <a:pt x="0" y="80010"/>
                  </a:moveTo>
                  <a:lnTo>
                    <a:pt x="75247" y="40005"/>
                  </a:lnTo>
                  <a:lnTo>
                    <a:pt x="0" y="0"/>
                  </a:lnTo>
                </a:path>
              </a:pathLst>
            </a:custGeom>
            <a:noFill/>
            <a:ln w="19050" cap="rnd">
              <a:solidFill>
                <a:srgbClr val="F5B642"/>
              </a:solidFill>
              <a:round/>
            </a:ln>
          </p:spPr>
        </p:sp>
        <p:sp>
          <p:nvSpPr>
            <p:cNvPr id="38" name="Line 38"/>
            <p:cNvSpPr/>
            <p:nvPr/>
          </p:nvSpPr>
          <p:spPr>
            <a:xfrm>
              <a:off x="8382000" y="2571750"/>
              <a:ext cx="571500" cy="9525"/>
            </a:xfrm>
            <a:custGeom>
              <a:avLst/>
              <a:gdLst/>
              <a:ahLst/>
              <a:cxnLst/>
              <a:rect l="l" t="t" r="r" b="b"/>
              <a:pathLst>
                <a:path w="571500" h="9525">
                  <a:moveTo>
                    <a:pt x="0" y="0"/>
                  </a:moveTo>
                  <a:lnTo>
                    <a:pt x="571500" y="0"/>
                  </a:lnTo>
                </a:path>
              </a:pathLst>
            </a:custGeom>
            <a:noFill/>
            <a:ln w="19050" cap="rnd">
              <a:solidFill>
                <a:srgbClr val="F5B642"/>
              </a:solidFill>
            </a:ln>
          </p:spPr>
        </p:sp>
        <p:sp>
          <p:nvSpPr>
            <p:cNvPr id="39" name="Polyline 39"/>
            <p:cNvSpPr/>
            <p:nvPr/>
          </p:nvSpPr>
          <p:spPr>
            <a:xfrm>
              <a:off x="8878252" y="2531745"/>
              <a:ext cx="75247" cy="80010"/>
            </a:xfrm>
            <a:custGeom>
              <a:avLst/>
              <a:gdLst/>
              <a:ahLst/>
              <a:cxnLst/>
              <a:rect l="l" t="t" r="r" b="b"/>
              <a:pathLst>
                <a:path w="75247" h="80010">
                  <a:moveTo>
                    <a:pt x="0" y="80010"/>
                  </a:moveTo>
                  <a:lnTo>
                    <a:pt x="75247" y="40005"/>
                  </a:lnTo>
                  <a:lnTo>
                    <a:pt x="0" y="0"/>
                  </a:lnTo>
                </a:path>
              </a:pathLst>
            </a:custGeom>
            <a:noFill/>
            <a:ln w="19050" cap="rnd">
              <a:solidFill>
                <a:srgbClr val="F5B642"/>
              </a:solidFill>
              <a:round/>
            </a:ln>
          </p:spPr>
        </p:sp>
        <p:sp>
          <p:nvSpPr>
            <p:cNvPr id="40" name="TextBox 40"/>
            <p:cNvSpPr txBox="1"/>
            <p:nvPr/>
          </p:nvSpPr>
          <p:spPr>
            <a:xfrm>
              <a:off x="6452806" y="3033951"/>
              <a:ext cx="5047998"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Traversed in parallel with LM inference, visiting a set of states each step.</a:t>
              </a:r>
            </a:p>
          </p:txBody>
        </p:sp>
      </p:grpSp>
      <p:grpSp>
        <p:nvGrpSpPr>
          <p:cNvPr id="54" name="Group 54"/>
          <p:cNvGrpSpPr/>
          <p:nvPr/>
        </p:nvGrpSpPr>
        <p:grpSpPr>
          <a:xfrm>
            <a:off x="609600" y="3543300"/>
            <a:ext cx="5372100" cy="2324100"/>
            <a:chOff x="609600" y="3543300"/>
            <a:chExt cx="5372100" cy="2324100"/>
          </a:xfrm>
        </p:grpSpPr>
        <p:sp>
          <p:nvSpPr>
            <p:cNvPr id="42" name="Rectangle 42"/>
            <p:cNvSpPr/>
            <p:nvPr/>
          </p:nvSpPr>
          <p:spPr>
            <a:xfrm>
              <a:off x="609600" y="3543300"/>
              <a:ext cx="5372100" cy="2324100"/>
            </a:xfrm>
            <a:prstGeom prst="roundRect">
              <a:avLst>
                <a:gd name="adj" fmla="val 5738"/>
              </a:avLst>
            </a:prstGeom>
            <a:solidFill>
              <a:schemeClr val="accent6"/>
            </a:solidFill>
            <a:ln w="14288">
              <a:solidFill>
                <a:srgbClr val="F5B642"/>
              </a:solidFill>
            </a:ln>
          </p:spPr>
        </p:sp>
        <p:sp>
          <p:nvSpPr>
            <p:cNvPr id="43" name="TextBox 43"/>
            <p:cNvSpPr txBox="1"/>
            <p:nvPr/>
          </p:nvSpPr>
          <p:spPr>
            <a:xfrm>
              <a:off x="850392" y="3702368"/>
              <a:ext cx="2949494" cy="264033"/>
            </a:xfrm>
            <a:prstGeom prst="rect">
              <a:avLst/>
            </a:prstGeom>
            <a:noFill/>
            <a:ln>
              <a:noFill/>
            </a:ln>
          </p:spPr>
          <p:txBody>
            <a:bodyPr wrap="none" lIns="0" tIns="0" rIns="0" bIns="0" anchor="t" anchorCtr="0">
              <a:spAutoFit/>
            </a:bodyPr>
            <a:lstStyle/>
            <a:p>
              <a:pPr algn="l"/>
              <a:r>
                <a:rPr lang="en-US" sz="1350" b="1" dirty="0">
                  <a:solidFill>
                    <a:srgbClr val="F5B642"/>
                  </a:solidFill>
                  <a:latin typeface="+mn-lt"/>
                  <a:ea typeface="+mn-ea"/>
                  <a:cs typeface="+mn-cs"/>
                </a:rPr>
                <a:t>Move forward = follow pointers</a:t>
              </a:r>
            </a:p>
          </p:txBody>
        </p:sp>
        <p:sp>
          <p:nvSpPr>
            <p:cNvPr id="44" name="TextBox 44"/>
            <p:cNvSpPr txBox="1"/>
            <p:nvPr/>
          </p:nvSpPr>
          <p:spPr>
            <a:xfrm>
              <a:off x="851726" y="4016454"/>
              <a:ext cx="3060604"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Follow the pointers of entries whose value</a:t>
              </a:r>
            </a:p>
          </p:txBody>
        </p:sp>
        <p:sp>
          <p:nvSpPr>
            <p:cNvPr id="45" name="TextBox 45"/>
            <p:cNvSpPr txBox="1"/>
            <p:nvPr/>
          </p:nvSpPr>
          <p:spPr>
            <a:xfrm>
              <a:off x="851726" y="4216479"/>
              <a:ext cx="3464345"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matches the generated token. Essentially free.</a:t>
              </a:r>
            </a:p>
          </p:txBody>
        </p:sp>
        <p:sp>
          <p:nvSpPr>
            <p:cNvPr id="46" name="Ellipse 46"/>
            <p:cNvSpPr/>
            <p:nvPr/>
          </p:nvSpPr>
          <p:spPr>
            <a:xfrm>
              <a:off x="1143000" y="4667250"/>
              <a:ext cx="571500" cy="571500"/>
            </a:xfrm>
            <a:prstGeom prst="ellipse">
              <a:avLst/>
            </a:prstGeom>
            <a:solidFill>
              <a:schemeClr val="accent5"/>
            </a:solidFill>
            <a:ln w="22860">
              <a:solidFill>
                <a:schemeClr val="accent2"/>
              </a:solidFill>
            </a:ln>
          </p:spPr>
        </p:sp>
        <p:sp>
          <p:nvSpPr>
            <p:cNvPr id="47" name="TextBox 47"/>
            <p:cNvSpPr txBox="1"/>
            <p:nvPr/>
          </p:nvSpPr>
          <p:spPr>
            <a:xfrm>
              <a:off x="1377035" y="4879181"/>
              <a:ext cx="103431"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S</a:t>
              </a:r>
            </a:p>
          </p:txBody>
        </p:sp>
        <p:sp>
          <p:nvSpPr>
            <p:cNvPr id="48" name="Line 48"/>
            <p:cNvSpPr/>
            <p:nvPr/>
          </p:nvSpPr>
          <p:spPr>
            <a:xfrm>
              <a:off x="1714500" y="4953000"/>
              <a:ext cx="1714500" cy="9525"/>
            </a:xfrm>
            <a:custGeom>
              <a:avLst/>
              <a:gdLst/>
              <a:ahLst/>
              <a:cxnLst/>
              <a:rect l="l" t="t" r="r" b="b"/>
              <a:pathLst>
                <a:path w="1714500" h="9525">
                  <a:moveTo>
                    <a:pt x="0" y="0"/>
                  </a:moveTo>
                  <a:lnTo>
                    <a:pt x="1714500" y="0"/>
                  </a:lnTo>
                </a:path>
              </a:pathLst>
            </a:custGeom>
            <a:noFill/>
            <a:ln w="28575" cap="rnd">
              <a:solidFill>
                <a:srgbClr val="34D399"/>
              </a:solidFill>
            </a:ln>
          </p:spPr>
        </p:sp>
        <p:sp>
          <p:nvSpPr>
            <p:cNvPr id="49" name="Polyline 49"/>
            <p:cNvSpPr/>
            <p:nvPr/>
          </p:nvSpPr>
          <p:spPr>
            <a:xfrm>
              <a:off x="3353752" y="4912995"/>
              <a:ext cx="75247" cy="80010"/>
            </a:xfrm>
            <a:custGeom>
              <a:avLst/>
              <a:gdLst/>
              <a:ahLst/>
              <a:cxnLst/>
              <a:rect l="l" t="t" r="r" b="b"/>
              <a:pathLst>
                <a:path w="75247" h="80010">
                  <a:moveTo>
                    <a:pt x="0" y="80010"/>
                  </a:moveTo>
                  <a:lnTo>
                    <a:pt x="75247" y="40005"/>
                  </a:lnTo>
                  <a:lnTo>
                    <a:pt x="0" y="0"/>
                  </a:lnTo>
                </a:path>
              </a:pathLst>
            </a:custGeom>
            <a:noFill/>
            <a:ln w="28575" cap="rnd">
              <a:solidFill>
                <a:srgbClr val="34D399"/>
              </a:solidFill>
              <a:round/>
            </a:ln>
          </p:spPr>
        </p:sp>
        <p:sp>
          <p:nvSpPr>
            <p:cNvPr id="50" name="TextBox 50"/>
            <p:cNvSpPr txBox="1"/>
            <p:nvPr/>
          </p:nvSpPr>
          <p:spPr>
            <a:xfrm>
              <a:off x="2072068" y="4733449"/>
              <a:ext cx="999363" cy="190690"/>
            </a:xfrm>
            <a:prstGeom prst="rect">
              <a:avLst/>
            </a:prstGeom>
            <a:noFill/>
            <a:ln>
              <a:noFill/>
            </a:ln>
          </p:spPr>
          <p:txBody>
            <a:bodyPr wrap="none" lIns="0" tIns="0" rIns="0" bIns="0" anchor="t" anchorCtr="0">
              <a:spAutoFit/>
            </a:bodyPr>
            <a:lstStyle/>
            <a:p>
              <a:pPr algn="ctr"/>
              <a:r>
                <a:rPr lang="en-US" sz="980" dirty="0">
                  <a:solidFill>
                    <a:srgbClr val="34D399"/>
                  </a:solidFill>
                  <a:latin typeface="+mn-lt"/>
                  <a:ea typeface="+mn-ea"/>
                  <a:cs typeface="+mn-cs"/>
                </a:rPr>
                <a:t>free transition</a:t>
              </a:r>
            </a:p>
          </p:txBody>
        </p:sp>
        <p:sp>
          <p:nvSpPr>
            <p:cNvPr id="51" name="Ellipse 51"/>
            <p:cNvSpPr/>
            <p:nvPr/>
          </p:nvSpPr>
          <p:spPr>
            <a:xfrm>
              <a:off x="3429000" y="4667250"/>
              <a:ext cx="571500" cy="571500"/>
            </a:xfrm>
            <a:prstGeom prst="ellipse">
              <a:avLst/>
            </a:prstGeom>
            <a:solidFill>
              <a:schemeClr val="accent5"/>
            </a:solidFill>
            <a:ln w="22860">
              <a:solidFill>
                <a:srgbClr val="2DD4BF"/>
              </a:solidFill>
            </a:ln>
          </p:spPr>
        </p:sp>
        <p:sp>
          <p:nvSpPr>
            <p:cNvPr id="52" name="TextBox 52"/>
            <p:cNvSpPr txBox="1"/>
            <p:nvPr/>
          </p:nvSpPr>
          <p:spPr>
            <a:xfrm>
              <a:off x="3617034" y="4879181"/>
              <a:ext cx="195432"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S′</a:t>
              </a:r>
            </a:p>
          </p:txBody>
        </p:sp>
        <p:sp>
          <p:nvSpPr>
            <p:cNvPr id="53" name="TextBox 53"/>
            <p:cNvSpPr txBox="1"/>
            <p:nvPr/>
          </p:nvSpPr>
          <p:spPr>
            <a:xfrm>
              <a:off x="852106" y="5472351"/>
              <a:ext cx="3216712"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No search needed while valid transitions remain.</a:t>
              </a:r>
            </a:p>
          </p:txBody>
        </p:sp>
      </p:grpSp>
      <p:grpSp>
        <p:nvGrpSpPr>
          <p:cNvPr id="65" name="Group 65"/>
          <p:cNvGrpSpPr/>
          <p:nvPr/>
        </p:nvGrpSpPr>
        <p:grpSpPr>
          <a:xfrm>
            <a:off x="6210300" y="3543300"/>
            <a:ext cx="5372100" cy="2324100"/>
            <a:chOff x="6210300" y="3543300"/>
            <a:chExt cx="5372100" cy="2324100"/>
          </a:xfrm>
        </p:grpSpPr>
        <p:sp>
          <p:nvSpPr>
            <p:cNvPr id="55" name="Rectangle 55"/>
            <p:cNvSpPr/>
            <p:nvPr/>
          </p:nvSpPr>
          <p:spPr>
            <a:xfrm>
              <a:off x="6210300" y="3543300"/>
              <a:ext cx="5372100" cy="2324100"/>
            </a:xfrm>
            <a:prstGeom prst="roundRect">
              <a:avLst>
                <a:gd name="adj" fmla="val 5738"/>
              </a:avLst>
            </a:prstGeom>
            <a:solidFill>
              <a:schemeClr val="accent5"/>
            </a:solidFill>
            <a:ln w="13335">
              <a:solidFill>
                <a:srgbClr val="F87171"/>
              </a:solidFill>
            </a:ln>
          </p:spPr>
        </p:sp>
        <p:sp>
          <p:nvSpPr>
            <p:cNvPr id="56" name="TextBox 56"/>
            <p:cNvSpPr txBox="1"/>
            <p:nvPr/>
          </p:nvSpPr>
          <p:spPr>
            <a:xfrm>
              <a:off x="6451092" y="3702368"/>
              <a:ext cx="3035297" cy="264033"/>
            </a:xfrm>
            <a:prstGeom prst="rect">
              <a:avLst/>
            </a:prstGeom>
            <a:noFill/>
            <a:ln>
              <a:noFill/>
            </a:ln>
          </p:spPr>
          <p:txBody>
            <a:bodyPr wrap="none" lIns="0" tIns="0" rIns="0" bIns="0" anchor="t" anchorCtr="0">
              <a:spAutoFit/>
            </a:bodyPr>
            <a:lstStyle/>
            <a:p>
              <a:pPr algn="l"/>
              <a:r>
                <a:rPr lang="en-US" sz="1350" b="1" dirty="0">
                  <a:solidFill>
                    <a:srgbClr val="F87171"/>
                  </a:solidFill>
                  <a:latin typeface="+mn-lt"/>
                  <a:ea typeface="+mn-ea"/>
                  <a:cs typeface="+mn-cs"/>
                </a:rPr>
                <a:t>Search only when transitions &lt; τ</a:t>
              </a:r>
            </a:p>
          </p:txBody>
        </p:sp>
        <p:sp>
          <p:nvSpPr>
            <p:cNvPr id="57" name="TextBox 57"/>
            <p:cNvSpPr txBox="1"/>
            <p:nvPr/>
          </p:nvSpPr>
          <p:spPr>
            <a:xfrm>
              <a:off x="6452426" y="4016454"/>
              <a:ext cx="3459617"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A full kNN search is triggered, and restarts the</a:t>
              </a:r>
            </a:p>
          </p:txBody>
        </p:sp>
        <p:sp>
          <p:nvSpPr>
            <p:cNvPr id="58" name="TextBox 58"/>
            <p:cNvSpPr txBox="1"/>
            <p:nvPr/>
          </p:nvSpPr>
          <p:spPr>
            <a:xfrm>
              <a:off x="6452426" y="4216479"/>
              <a:ext cx="3297931"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traversal, only when valid onward transitions</a:t>
              </a:r>
            </a:p>
          </p:txBody>
        </p:sp>
        <p:sp>
          <p:nvSpPr>
            <p:cNvPr id="59" name="TextBox 59"/>
            <p:cNvSpPr txBox="1"/>
            <p:nvPr/>
          </p:nvSpPr>
          <p:spPr>
            <a:xfrm>
              <a:off x="6452426" y="4416504"/>
              <a:ext cx="1713184"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drop below threshold τ.</a:t>
              </a:r>
            </a:p>
          </p:txBody>
        </p:sp>
        <p:sp>
          <p:nvSpPr>
            <p:cNvPr id="60" name="TextBox 60"/>
            <p:cNvSpPr txBox="1"/>
            <p:nvPr/>
          </p:nvSpPr>
          <p:spPr>
            <a:xfrm>
              <a:off x="6452616" y="4744402"/>
              <a:ext cx="3174569"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Transition weights are dynamic (hidden-state</a:t>
              </a:r>
            </a:p>
          </p:txBody>
        </p:sp>
        <p:sp>
          <p:nvSpPr>
            <p:cNvPr id="61" name="TextBox 61"/>
            <p:cNvSpPr txBox="1"/>
            <p:nvPr/>
          </p:nvSpPr>
          <p:spPr>
            <a:xfrm>
              <a:off x="6452616" y="4944428"/>
              <a:ext cx="3342580"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distances), interpolated with the base LM by λ:</a:t>
              </a:r>
            </a:p>
          </p:txBody>
        </p:sp>
        <p:sp>
          <p:nvSpPr>
            <p:cNvPr id="62" name="Rectangle 62"/>
            <p:cNvSpPr/>
            <p:nvPr/>
          </p:nvSpPr>
          <p:spPr>
            <a:xfrm>
              <a:off x="6457950" y="5219700"/>
              <a:ext cx="4857750" cy="323850"/>
            </a:xfrm>
            <a:prstGeom prst="roundRect">
              <a:avLst>
                <a:gd name="adj" fmla="val 23529"/>
              </a:avLst>
            </a:prstGeom>
            <a:solidFill>
              <a:schemeClr val="accent6"/>
            </a:solidFill>
            <a:ln w="9525">
              <a:solidFill>
                <a:srgbClr val="2C3D63"/>
              </a:solidFill>
            </a:ln>
          </p:spPr>
        </p:sp>
        <p:sp>
          <p:nvSpPr>
            <p:cNvPr id="63" name="TextBox 63"/>
            <p:cNvSpPr txBox="1"/>
            <p:nvPr/>
          </p:nvSpPr>
          <p:spPr>
            <a:xfrm>
              <a:off x="6547485" y="5307806"/>
              <a:ext cx="3507284"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p = λ · p_auto(w | c,S) + (1−λ) · p_LM(w | c)</a:t>
              </a:r>
            </a:p>
          </p:txBody>
        </p:sp>
        <p:sp>
          <p:nvSpPr>
            <p:cNvPr id="64" name="TextBox 64"/>
            <p:cNvSpPr txBox="1"/>
            <p:nvPr/>
          </p:nvSpPr>
          <p:spPr>
            <a:xfrm>
              <a:off x="6452997" y="5666899"/>
              <a:ext cx="3862192" cy="190690"/>
            </a:xfrm>
            <a:prstGeom prst="rect">
              <a:avLst/>
            </a:prstGeom>
            <a:noFill/>
            <a:ln>
              <a:noFill/>
            </a:ln>
          </p:spPr>
          <p:txBody>
            <a:bodyPr wrap="none" lIns="0" tIns="0" rIns="0" bIns="0" anchor="t" anchorCtr="0">
              <a:spAutoFit/>
            </a:bodyPr>
            <a:lstStyle/>
            <a:p>
              <a:pPr algn="l"/>
              <a:r>
                <a:rPr lang="en-US" sz="980" dirty="0">
                  <a:solidFill>
                    <a:srgbClr val="F5B642"/>
                  </a:solidFill>
                  <a:latin typeface="+mn-lt"/>
                  <a:ea typeface="+mn-ea"/>
                  <a:cs typeface="+mn-cs"/>
                </a:rPr>
                <a:t>τ trades accuracy (more searches) against speed (fewer).</a:t>
              </a:r>
            </a:p>
          </p:txBody>
        </p:sp>
      </p:grpSp>
      <p:sp>
        <p:nvSpPr>
          <p:cNvPr id="66" name="TextBox 66"/>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67" name="cue_s05_c1_retomaton_stores_datastore_entry_tri" title="cue_s05_c1_retomaton_stores_datastore_entry_tri" descr="cue_s05_c1_retomaton_stores_datastore_entry_tri RetoMaton stores each datastore entry as a triple of key, value, and pointer, where the pointer references the entry that followed it in the corpus."/>
          <p:cNvSpPr/>
          <p:nvPr/>
        </p:nvSpPr>
        <p:spPr>
          <a:xfrm>
            <a:off x="609600" y="1104823"/>
            <a:ext cx="5371795"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5_c2_entries_close_keys_clustered_states" title="cue_s05_c2_entries_close_keys_clustered_states" descr="cue_s05_c2_entries_close_keys_clustered_states Entries with close keys are clustered into states, and a state inherits all the pointers of its members. At test time the model keeps a small set of active states and traverses the automaton alongside the language model."/>
          <p:cNvSpPr/>
          <p:nvPr/>
        </p:nvSpPr>
        <p:spPr>
          <a:xfrm>
            <a:off x="6210604" y="1104823"/>
            <a:ext cx="5371795"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5_c3_move_forward_just_follows_pointers" title="cue_s05_c3_move_forward_just_follows_pointers" descr="cue_s05_c3_move_forward_just_follows_pointers To move forward it just follows the pointers of entries whose value matches the generated token, which is essentially free. A full nearest-neighbor search is only triggered when the number of valid onward transitions drops below a threshold tau."/>
          <p:cNvSpPr/>
          <p:nvPr/>
        </p:nvSpPr>
        <p:spPr>
          <a:xfrm>
            <a:off x="609600" y="3543528"/>
            <a:ext cx="53717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5_c4_automaton_transition_weights_compute" title="cue_s05_c4_automaton_transition_weights_compute" descr="cue_s05_c4_automaton_transition_weights_compute The automaton's transition weights are computed dynamically from the distance between the current hidden state and the entries in each state, and the resulting distribution is interpolated with the base language model."/>
          <p:cNvSpPr/>
          <p:nvPr/>
        </p:nvSpPr>
        <p:spPr>
          <a:xfrm>
            <a:off x="6210604" y="3543528"/>
            <a:ext cx="53717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2DD4BF"/>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2DD4BF"/>
                </a:solidFill>
                <a:latin typeface="+mn-lt"/>
                <a:ea typeface="+mn-ea"/>
                <a:cs typeface="+mn-cs"/>
              </a:rPr>
              <a:t>06</a:t>
            </a:r>
          </a:p>
        </p:txBody>
      </p:sp>
      <p:sp>
        <p:nvSpPr>
          <p:cNvPr id="5" name="TextBox 5"/>
          <p:cNvSpPr txBox="1"/>
          <p:nvPr/>
        </p:nvSpPr>
        <p:spPr>
          <a:xfrm>
            <a:off x="826770" y="519112"/>
            <a:ext cx="673967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Datasets: In-Domain and Domain Adaptation</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10" name="Group 10"/>
          <p:cNvGrpSpPr/>
          <p:nvPr/>
        </p:nvGrpSpPr>
        <p:grpSpPr>
          <a:xfrm>
            <a:off x="609600" y="1104900"/>
            <a:ext cx="10972800" cy="685800"/>
            <a:chOff x="609600" y="1104900"/>
            <a:chExt cx="10972800" cy="685800"/>
          </a:xfrm>
        </p:grpSpPr>
        <p:sp>
          <p:nvSpPr>
            <p:cNvPr id="7" name="Rectangle 7"/>
            <p:cNvSpPr/>
            <p:nvPr/>
          </p:nvSpPr>
          <p:spPr>
            <a:xfrm>
              <a:off x="609600" y="1104900"/>
              <a:ext cx="10972800" cy="685800"/>
            </a:xfrm>
            <a:prstGeom prst="roundRect">
              <a:avLst>
                <a:gd name="adj" fmla="val 16667"/>
              </a:avLst>
            </a:prstGeom>
            <a:solidFill>
              <a:schemeClr val="accent6"/>
            </a:solidFill>
            <a:ln w="13335">
              <a:solidFill>
                <a:srgbClr val="2DD4BF"/>
              </a:solidFill>
            </a:ln>
          </p:spPr>
        </p:sp>
        <p:sp>
          <p:nvSpPr>
            <p:cNvPr id="8" name="TextBox 8"/>
            <p:cNvSpPr txBox="1"/>
            <p:nvPr/>
          </p:nvSpPr>
          <p:spPr>
            <a:xfrm>
              <a:off x="851535" y="1288256"/>
              <a:ext cx="1013935" cy="220028"/>
            </a:xfrm>
            <a:prstGeom prst="rect">
              <a:avLst/>
            </a:prstGeom>
            <a:noFill/>
            <a:ln>
              <a:noFill/>
            </a:ln>
          </p:spPr>
          <p:txBody>
            <a:bodyPr wrap="none" lIns="0" tIns="0" rIns="0" bIns="0" anchor="t" anchorCtr="0">
              <a:spAutoFit/>
            </a:bodyPr>
            <a:lstStyle/>
            <a:p>
              <a:pPr algn="l"/>
              <a:r>
                <a:rPr lang="en-US" sz="1120" b="1" dirty="0">
                  <a:solidFill>
                    <a:srgbClr val="2DD4BF"/>
                  </a:solidFill>
                  <a:latin typeface="+mn-lt"/>
                  <a:ea typeface="+mn-ea"/>
                  <a:cs typeface="+mn-cs"/>
                </a:rPr>
                <a:t>Two settings</a:t>
              </a:r>
            </a:p>
          </p:txBody>
        </p:sp>
        <p:sp>
          <p:nvSpPr>
            <p:cNvPr id="9" name="TextBox 9"/>
            <p:cNvSpPr txBox="1"/>
            <p:nvPr/>
          </p:nvSpPr>
          <p:spPr>
            <a:xfrm>
              <a:off x="2184654" y="1280160"/>
              <a:ext cx="628817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in-domain language modeling, and cross-domain adaptation to a new law corpus.</a:t>
              </a:r>
            </a:p>
          </p:txBody>
        </p:sp>
      </p:grpSp>
      <p:grpSp>
        <p:nvGrpSpPr>
          <p:cNvPr id="23" name="Group 23"/>
          <p:cNvGrpSpPr/>
          <p:nvPr/>
        </p:nvGrpSpPr>
        <p:grpSpPr>
          <a:xfrm>
            <a:off x="609600" y="1943100"/>
            <a:ext cx="5372100" cy="2324100"/>
            <a:chOff x="609600" y="1943100"/>
            <a:chExt cx="5372100" cy="2324100"/>
          </a:xfrm>
        </p:grpSpPr>
        <p:sp>
          <p:nvSpPr>
            <p:cNvPr id="11" name="Rectangle 11"/>
            <p:cNvSpPr/>
            <p:nvPr/>
          </p:nvSpPr>
          <p:spPr>
            <a:xfrm>
              <a:off x="609600" y="1943100"/>
              <a:ext cx="5372100" cy="2324100"/>
            </a:xfrm>
            <a:prstGeom prst="roundRect">
              <a:avLst>
                <a:gd name="adj" fmla="val 5738"/>
              </a:avLst>
            </a:prstGeom>
            <a:solidFill>
              <a:schemeClr val="accent5"/>
            </a:solidFill>
            <a:ln w="14288">
              <a:solidFill>
                <a:srgbClr val="2C3D63"/>
              </a:solidFill>
            </a:ln>
          </p:spPr>
        </p:sp>
        <p:sp>
          <p:nvSpPr>
            <p:cNvPr id="12" name="Rectangle 12"/>
            <p:cNvSpPr/>
            <p:nvPr/>
          </p:nvSpPr>
          <p:spPr>
            <a:xfrm>
              <a:off x="609600" y="1943100"/>
              <a:ext cx="57150" cy="2324100"/>
            </a:xfrm>
            <a:prstGeom prst="roundRect">
              <a:avLst>
                <a:gd name="adj" fmla="val 50000"/>
              </a:avLst>
            </a:prstGeom>
            <a:solidFill>
              <a:schemeClr val="accent2"/>
            </a:solidFill>
            <a:ln>
              <a:noFill/>
            </a:ln>
          </p:spPr>
        </p:sp>
        <p:sp>
          <p:nvSpPr>
            <p:cNvPr id="13" name="TextBox 13"/>
            <p:cNvSpPr txBox="1"/>
            <p:nvPr/>
          </p:nvSpPr>
          <p:spPr>
            <a:xfrm>
              <a:off x="907161" y="2113121"/>
              <a:ext cx="2468947"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In-domain · WikiText-103</a:t>
              </a:r>
            </a:p>
          </p:txBody>
        </p:sp>
        <p:sp>
          <p:nvSpPr>
            <p:cNvPr id="14" name="TextBox 14"/>
            <p:cNvSpPr txBox="1"/>
            <p:nvPr/>
          </p:nvSpPr>
          <p:spPr>
            <a:xfrm>
              <a:off x="902970" y="2519362"/>
              <a:ext cx="829361" cy="440055"/>
            </a:xfrm>
            <a:prstGeom prst="rect">
              <a:avLst/>
            </a:prstGeom>
            <a:noFill/>
            <a:ln>
              <a:noFill/>
            </a:ln>
          </p:spPr>
          <p:txBody>
            <a:bodyPr wrap="none" lIns="0" tIns="0" rIns="0" bIns="0" anchor="t" anchorCtr="0">
              <a:spAutoFit/>
            </a:bodyPr>
            <a:lstStyle/>
            <a:p>
              <a:pPr algn="l"/>
              <a:r>
                <a:rPr lang="en-US" sz="2250" b="1" dirty="0">
                  <a:solidFill>
                    <a:srgbClr val="2DD4BF"/>
                  </a:solidFill>
                  <a:latin typeface="+mn-lt"/>
                  <a:ea typeface="+mn-ea"/>
                  <a:cs typeface="+mn-cs"/>
                </a:rPr>
                <a:t>103M</a:t>
              </a:r>
            </a:p>
          </p:txBody>
        </p:sp>
        <p:sp>
          <p:nvSpPr>
            <p:cNvPr id="15" name="TextBox 15"/>
            <p:cNvSpPr txBox="1"/>
            <p:nvPr/>
          </p:nvSpPr>
          <p:spPr>
            <a:xfrm>
              <a:off x="909447" y="2866549"/>
              <a:ext cx="999363"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training tokens</a:t>
              </a:r>
            </a:p>
          </p:txBody>
        </p:sp>
        <p:sp>
          <p:nvSpPr>
            <p:cNvPr id="16" name="TextBox 16"/>
            <p:cNvSpPr txBox="1"/>
            <p:nvPr/>
          </p:nvSpPr>
          <p:spPr>
            <a:xfrm>
              <a:off x="3303270" y="2519362"/>
              <a:ext cx="829361" cy="440055"/>
            </a:xfrm>
            <a:prstGeom prst="rect">
              <a:avLst/>
            </a:prstGeom>
            <a:noFill/>
            <a:ln>
              <a:noFill/>
            </a:ln>
          </p:spPr>
          <p:txBody>
            <a:bodyPr wrap="none" lIns="0" tIns="0" rIns="0" bIns="0" anchor="t" anchorCtr="0">
              <a:spAutoFit/>
            </a:bodyPr>
            <a:lstStyle/>
            <a:p>
              <a:pPr algn="l"/>
              <a:r>
                <a:rPr lang="en-US" sz="2250" b="1" dirty="0">
                  <a:solidFill>
                    <a:srgbClr val="2DD4BF"/>
                  </a:solidFill>
                  <a:latin typeface="+mn-lt"/>
                  <a:ea typeface="+mn-ea"/>
                  <a:cs typeface="+mn-cs"/>
                </a:rPr>
                <a:t>247M</a:t>
              </a:r>
            </a:p>
          </p:txBody>
        </p:sp>
        <p:sp>
          <p:nvSpPr>
            <p:cNvPr id="17" name="TextBox 17"/>
            <p:cNvSpPr txBox="1"/>
            <p:nvPr/>
          </p:nvSpPr>
          <p:spPr>
            <a:xfrm>
              <a:off x="3309747" y="2866549"/>
              <a:ext cx="949568"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param base LM</a:t>
              </a:r>
            </a:p>
          </p:txBody>
        </p:sp>
        <p:sp>
          <p:nvSpPr>
            <p:cNvPr id="18" name="TextBox 18"/>
            <p:cNvSpPr txBox="1"/>
            <p:nvPr/>
          </p:nvSpPr>
          <p:spPr>
            <a:xfrm>
              <a:off x="902970" y="3224212"/>
              <a:ext cx="829361" cy="440055"/>
            </a:xfrm>
            <a:prstGeom prst="rect">
              <a:avLst/>
            </a:prstGeom>
            <a:noFill/>
            <a:ln>
              <a:noFill/>
            </a:ln>
          </p:spPr>
          <p:txBody>
            <a:bodyPr wrap="none" lIns="0" tIns="0" rIns="0" bIns="0" anchor="t" anchorCtr="0">
              <a:spAutoFit/>
            </a:bodyPr>
            <a:lstStyle/>
            <a:p>
              <a:pPr algn="l"/>
              <a:r>
                <a:rPr lang="en-US" sz="2250" b="1" dirty="0">
                  <a:solidFill>
                    <a:srgbClr val="2DD4BF"/>
                  </a:solidFill>
                  <a:latin typeface="+mn-lt"/>
                  <a:ea typeface="+mn-ea"/>
                  <a:cs typeface="+mn-cs"/>
                </a:rPr>
                <a:t>103M</a:t>
              </a:r>
            </a:p>
          </p:txBody>
        </p:sp>
        <p:sp>
          <p:nvSpPr>
            <p:cNvPr id="19" name="TextBox 19"/>
            <p:cNvSpPr txBox="1"/>
            <p:nvPr/>
          </p:nvSpPr>
          <p:spPr>
            <a:xfrm>
              <a:off x="909447" y="3571399"/>
              <a:ext cx="1177465"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datastore entries</a:t>
              </a:r>
            </a:p>
          </p:txBody>
        </p:sp>
        <p:sp>
          <p:nvSpPr>
            <p:cNvPr id="20" name="TextBox 20"/>
            <p:cNvSpPr txBox="1"/>
            <p:nvPr/>
          </p:nvSpPr>
          <p:spPr>
            <a:xfrm>
              <a:off x="3303270" y="3224212"/>
              <a:ext cx="459715" cy="440055"/>
            </a:xfrm>
            <a:prstGeom prst="rect">
              <a:avLst/>
            </a:prstGeom>
            <a:noFill/>
            <a:ln>
              <a:noFill/>
            </a:ln>
          </p:spPr>
          <p:txBody>
            <a:bodyPr wrap="none" lIns="0" tIns="0" rIns="0" bIns="0" anchor="t" anchorCtr="0">
              <a:spAutoFit/>
            </a:bodyPr>
            <a:lstStyle/>
            <a:p>
              <a:pPr algn="l"/>
              <a:r>
                <a:rPr lang="en-US" sz="2250" b="1" dirty="0">
                  <a:solidFill>
                    <a:srgbClr val="2DD4BF"/>
                  </a:solidFill>
                  <a:latin typeface="+mn-lt"/>
                  <a:ea typeface="+mn-ea"/>
                  <a:cs typeface="+mn-cs"/>
                </a:rPr>
                <a:t>1M</a:t>
              </a:r>
            </a:p>
          </p:txBody>
        </p:sp>
        <p:sp>
          <p:nvSpPr>
            <p:cNvPr id="21" name="TextBox 21"/>
            <p:cNvSpPr txBox="1"/>
            <p:nvPr/>
          </p:nvSpPr>
          <p:spPr>
            <a:xfrm>
              <a:off x="3309747" y="3571399"/>
              <a:ext cx="1104905"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clustered states</a:t>
              </a:r>
            </a:p>
          </p:txBody>
        </p:sp>
        <p:sp>
          <p:nvSpPr>
            <p:cNvPr id="22" name="TextBox 22"/>
            <p:cNvSpPr txBox="1"/>
            <p:nvPr/>
          </p:nvSpPr>
          <p:spPr>
            <a:xfrm>
              <a:off x="909638" y="4070747"/>
              <a:ext cx="3911204" cy="183356"/>
            </a:xfrm>
            <a:prstGeom prst="rect">
              <a:avLst/>
            </a:prstGeom>
            <a:noFill/>
            <a:ln>
              <a:noFill/>
            </a:ln>
          </p:spPr>
          <p:txBody>
            <a:bodyPr wrap="none" lIns="0" tIns="0" rIns="0" bIns="0" anchor="t" anchorCtr="0">
              <a:spAutoFit/>
            </a:bodyPr>
            <a:lstStyle/>
            <a:p>
              <a:pPr algn="l"/>
              <a:r>
                <a:rPr lang="en-US" sz="940" dirty="0">
                  <a:solidFill>
                    <a:srgbClr val="9FB0CC"/>
                  </a:solidFill>
                  <a:latin typeface="+mn-lt"/>
                  <a:ea typeface="+mn-ea"/>
                  <a:cs typeface="+mn-cs"/>
                </a:rPr>
                <a:t>Wikipedia benchmark · 250K val/test tokens · avg cluster ≈ 100</a:t>
              </a:r>
            </a:p>
          </p:txBody>
        </p:sp>
      </p:grpSp>
      <p:grpSp>
        <p:nvGrpSpPr>
          <p:cNvPr id="36" name="Group 36"/>
          <p:cNvGrpSpPr/>
          <p:nvPr/>
        </p:nvGrpSpPr>
        <p:grpSpPr>
          <a:xfrm>
            <a:off x="6210300" y="1943100"/>
            <a:ext cx="5372100" cy="2324100"/>
            <a:chOff x="6210300" y="1943100"/>
            <a:chExt cx="5372100" cy="2324100"/>
          </a:xfrm>
        </p:grpSpPr>
        <p:sp>
          <p:nvSpPr>
            <p:cNvPr id="24" name="Rectangle 24"/>
            <p:cNvSpPr/>
            <p:nvPr/>
          </p:nvSpPr>
          <p:spPr>
            <a:xfrm>
              <a:off x="6210300" y="1943100"/>
              <a:ext cx="5372100" cy="2324100"/>
            </a:xfrm>
            <a:prstGeom prst="roundRect">
              <a:avLst>
                <a:gd name="adj" fmla="val 5738"/>
              </a:avLst>
            </a:prstGeom>
            <a:solidFill>
              <a:schemeClr val="accent5"/>
            </a:solidFill>
            <a:ln w="14288">
              <a:solidFill>
                <a:srgbClr val="2C3D63"/>
              </a:solidFill>
            </a:ln>
          </p:spPr>
        </p:sp>
        <p:sp>
          <p:nvSpPr>
            <p:cNvPr id="25" name="Rectangle 25"/>
            <p:cNvSpPr/>
            <p:nvPr/>
          </p:nvSpPr>
          <p:spPr>
            <a:xfrm>
              <a:off x="6210300" y="1943100"/>
              <a:ext cx="57150" cy="2324100"/>
            </a:xfrm>
            <a:prstGeom prst="roundRect">
              <a:avLst>
                <a:gd name="adj" fmla="val 50000"/>
              </a:avLst>
            </a:prstGeom>
            <a:solidFill>
              <a:srgbClr val="F5B642"/>
            </a:solidFill>
            <a:ln>
              <a:noFill/>
            </a:ln>
          </p:spPr>
        </p:sp>
        <p:sp>
          <p:nvSpPr>
            <p:cNvPr id="26" name="TextBox 26"/>
            <p:cNvSpPr txBox="1"/>
            <p:nvPr/>
          </p:nvSpPr>
          <p:spPr>
            <a:xfrm>
              <a:off x="6507861" y="2113121"/>
              <a:ext cx="2783824" cy="278702"/>
            </a:xfrm>
            <a:prstGeom prst="rect">
              <a:avLst/>
            </a:prstGeom>
            <a:noFill/>
            <a:ln>
              <a:noFill/>
            </a:ln>
          </p:spPr>
          <p:txBody>
            <a:bodyPr wrap="none" lIns="0" tIns="0" rIns="0" bIns="0" anchor="t" anchorCtr="0">
              <a:spAutoFit/>
            </a:bodyPr>
            <a:lstStyle/>
            <a:p>
              <a:pPr algn="l"/>
              <a:r>
                <a:rPr lang="en-US" sz="1420" b="1" dirty="0">
                  <a:solidFill>
                    <a:srgbClr val="F5B642"/>
                  </a:solidFill>
                  <a:latin typeface="+mn-lt"/>
                  <a:ea typeface="+mn-ea"/>
                  <a:cs typeface="+mn-cs"/>
                </a:rPr>
                <a:t>Domain adaptation · Law-MT</a:t>
              </a:r>
            </a:p>
          </p:txBody>
        </p:sp>
        <p:sp>
          <p:nvSpPr>
            <p:cNvPr id="27" name="TextBox 27"/>
            <p:cNvSpPr txBox="1"/>
            <p:nvPr/>
          </p:nvSpPr>
          <p:spPr>
            <a:xfrm>
              <a:off x="6503670" y="2519362"/>
              <a:ext cx="644538" cy="440055"/>
            </a:xfrm>
            <a:prstGeom prst="rect">
              <a:avLst/>
            </a:prstGeom>
            <a:noFill/>
            <a:ln>
              <a:noFill/>
            </a:ln>
          </p:spPr>
          <p:txBody>
            <a:bodyPr wrap="none" lIns="0" tIns="0" rIns="0" bIns="0" anchor="t" anchorCtr="0">
              <a:spAutoFit/>
            </a:bodyPr>
            <a:lstStyle/>
            <a:p>
              <a:pPr algn="l"/>
              <a:r>
                <a:rPr lang="en-US" sz="2250" b="1" dirty="0">
                  <a:solidFill>
                    <a:srgbClr val="F5B642"/>
                  </a:solidFill>
                  <a:latin typeface="+mn-lt"/>
                  <a:ea typeface="+mn-ea"/>
                  <a:cs typeface="+mn-cs"/>
                </a:rPr>
                <a:t>19M</a:t>
              </a:r>
            </a:p>
          </p:txBody>
        </p:sp>
        <p:sp>
          <p:nvSpPr>
            <p:cNvPr id="28" name="TextBox 28"/>
            <p:cNvSpPr txBox="1"/>
            <p:nvPr/>
          </p:nvSpPr>
          <p:spPr>
            <a:xfrm>
              <a:off x="6510147" y="2866549"/>
              <a:ext cx="1076547"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tokens (English)</a:t>
              </a:r>
            </a:p>
          </p:txBody>
        </p:sp>
        <p:sp>
          <p:nvSpPr>
            <p:cNvPr id="29" name="TextBox 29"/>
            <p:cNvSpPr txBox="1"/>
            <p:nvPr/>
          </p:nvSpPr>
          <p:spPr>
            <a:xfrm>
              <a:off x="8903970" y="2519362"/>
              <a:ext cx="829361" cy="440055"/>
            </a:xfrm>
            <a:prstGeom prst="rect">
              <a:avLst/>
            </a:prstGeom>
            <a:noFill/>
            <a:ln>
              <a:noFill/>
            </a:ln>
          </p:spPr>
          <p:txBody>
            <a:bodyPr wrap="none" lIns="0" tIns="0" rIns="0" bIns="0" anchor="t" anchorCtr="0">
              <a:spAutoFit/>
            </a:bodyPr>
            <a:lstStyle/>
            <a:p>
              <a:pPr algn="l"/>
              <a:r>
                <a:rPr lang="en-US" sz="2250" b="1" dirty="0">
                  <a:solidFill>
                    <a:srgbClr val="F5B642"/>
                  </a:solidFill>
                  <a:latin typeface="+mn-lt"/>
                  <a:ea typeface="+mn-ea"/>
                  <a:cs typeface="+mn-cs"/>
                </a:rPr>
                <a:t>656M</a:t>
              </a:r>
            </a:p>
          </p:txBody>
        </p:sp>
        <p:sp>
          <p:nvSpPr>
            <p:cNvPr id="30" name="TextBox 30"/>
            <p:cNvSpPr txBox="1"/>
            <p:nvPr/>
          </p:nvSpPr>
          <p:spPr>
            <a:xfrm>
              <a:off x="8910447" y="2866549"/>
              <a:ext cx="949568"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param base LM</a:t>
              </a:r>
            </a:p>
          </p:txBody>
        </p:sp>
        <p:sp>
          <p:nvSpPr>
            <p:cNvPr id="31" name="TextBox 31"/>
            <p:cNvSpPr txBox="1"/>
            <p:nvPr/>
          </p:nvSpPr>
          <p:spPr>
            <a:xfrm>
              <a:off x="6503670" y="3224212"/>
              <a:ext cx="762152" cy="440055"/>
            </a:xfrm>
            <a:prstGeom prst="rect">
              <a:avLst/>
            </a:prstGeom>
            <a:noFill/>
            <a:ln>
              <a:noFill/>
            </a:ln>
          </p:spPr>
          <p:txBody>
            <a:bodyPr wrap="none" lIns="0" tIns="0" rIns="0" bIns="0" anchor="t" anchorCtr="0">
              <a:spAutoFit/>
            </a:bodyPr>
            <a:lstStyle/>
            <a:p>
              <a:pPr algn="l"/>
              <a:r>
                <a:rPr lang="en-US" sz="2250" b="1" dirty="0">
                  <a:solidFill>
                    <a:srgbClr val="F5B642"/>
                  </a:solidFill>
                  <a:latin typeface="+mn-lt"/>
                  <a:ea typeface="+mn-ea"/>
                  <a:cs typeface="+mn-cs"/>
                </a:rPr>
                <a:t>200K</a:t>
              </a:r>
            </a:p>
          </p:txBody>
        </p:sp>
        <p:sp>
          <p:nvSpPr>
            <p:cNvPr id="32" name="TextBox 32"/>
            <p:cNvSpPr txBox="1"/>
            <p:nvPr/>
          </p:nvSpPr>
          <p:spPr>
            <a:xfrm>
              <a:off x="6510147" y="3571399"/>
              <a:ext cx="1104905"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clustered states</a:t>
              </a:r>
            </a:p>
          </p:txBody>
        </p:sp>
        <p:sp>
          <p:nvSpPr>
            <p:cNvPr id="33" name="TextBox 33"/>
            <p:cNvSpPr txBox="1"/>
            <p:nvPr/>
          </p:nvSpPr>
          <p:spPr>
            <a:xfrm>
              <a:off x="8903970" y="3224212"/>
              <a:ext cx="722547" cy="440055"/>
            </a:xfrm>
            <a:prstGeom prst="rect">
              <a:avLst/>
            </a:prstGeom>
            <a:noFill/>
            <a:ln>
              <a:noFill/>
            </a:ln>
          </p:spPr>
          <p:txBody>
            <a:bodyPr wrap="none" lIns="0" tIns="0" rIns="0" bIns="0" anchor="t" anchorCtr="0">
              <a:spAutoFit/>
            </a:bodyPr>
            <a:lstStyle/>
            <a:p>
              <a:pPr algn="l"/>
              <a:r>
                <a:rPr lang="en-US" sz="2250" b="1" dirty="0">
                  <a:solidFill>
                    <a:srgbClr val="F5B642"/>
                  </a:solidFill>
                  <a:latin typeface="+mn-lt"/>
                  <a:ea typeface="+mn-ea"/>
                  <a:cs typeface="+mn-cs"/>
                </a:rPr>
                <a:t>≈100</a:t>
              </a:r>
            </a:p>
          </p:txBody>
        </p:sp>
        <p:sp>
          <p:nvSpPr>
            <p:cNvPr id="34" name="TextBox 34"/>
            <p:cNvSpPr txBox="1"/>
            <p:nvPr/>
          </p:nvSpPr>
          <p:spPr>
            <a:xfrm>
              <a:off x="8910447" y="3571399"/>
              <a:ext cx="1038941"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avg cluster size</a:t>
              </a:r>
            </a:p>
          </p:txBody>
        </p:sp>
        <p:sp>
          <p:nvSpPr>
            <p:cNvPr id="35" name="TextBox 35"/>
            <p:cNvSpPr txBox="1"/>
            <p:nvPr/>
          </p:nvSpPr>
          <p:spPr>
            <a:xfrm>
              <a:off x="6510338" y="4070747"/>
              <a:ext cx="3797711" cy="183356"/>
            </a:xfrm>
            <a:prstGeom prst="rect">
              <a:avLst/>
            </a:prstGeom>
            <a:noFill/>
            <a:ln>
              <a:noFill/>
            </a:ln>
          </p:spPr>
          <p:txBody>
            <a:bodyPr wrap="none" lIns="0" tIns="0" rIns="0" bIns="0" anchor="t" anchorCtr="0">
              <a:spAutoFit/>
            </a:bodyPr>
            <a:lstStyle/>
            <a:p>
              <a:pPr algn="l"/>
              <a:r>
                <a:rPr lang="en-US" sz="940" dirty="0">
                  <a:solidFill>
                    <a:srgbClr val="9FB0CC"/>
                  </a:solidFill>
                  <a:latin typeface="+mn-lt"/>
                  <a:ea typeface="+mn-ea"/>
                  <a:cs typeface="+mn-cs"/>
                </a:rPr>
                <a:t>Law-domain corpus · automaton built for a brand-new domain</a:t>
              </a:r>
            </a:p>
          </p:txBody>
        </p:sp>
      </p:grpSp>
      <p:grpSp>
        <p:nvGrpSpPr>
          <p:cNvPr id="48" name="Group 48"/>
          <p:cNvGrpSpPr/>
          <p:nvPr/>
        </p:nvGrpSpPr>
        <p:grpSpPr>
          <a:xfrm>
            <a:off x="609600" y="4419600"/>
            <a:ext cx="10972800" cy="1447800"/>
            <a:chOff x="609600" y="4419600"/>
            <a:chExt cx="10972800" cy="1447800"/>
          </a:xfrm>
        </p:grpSpPr>
        <p:sp>
          <p:nvSpPr>
            <p:cNvPr id="37" name="Rectangle 37"/>
            <p:cNvSpPr/>
            <p:nvPr/>
          </p:nvSpPr>
          <p:spPr>
            <a:xfrm>
              <a:off x="609600" y="4419600"/>
              <a:ext cx="10972800" cy="1447800"/>
            </a:xfrm>
            <a:prstGeom prst="roundRect">
              <a:avLst>
                <a:gd name="adj" fmla="val 9211"/>
              </a:avLst>
            </a:prstGeom>
            <a:solidFill>
              <a:schemeClr val="accent5"/>
            </a:solidFill>
            <a:ln w="12382">
              <a:solidFill>
                <a:srgbClr val="2C3D63"/>
              </a:solidFill>
            </a:ln>
          </p:spPr>
        </p:sp>
        <p:sp>
          <p:nvSpPr>
            <p:cNvPr id="38" name="TextBox 38"/>
            <p:cNvSpPr txBox="1"/>
            <p:nvPr/>
          </p:nvSpPr>
          <p:spPr>
            <a:xfrm>
              <a:off x="850773" y="4624864"/>
              <a:ext cx="2759779" cy="249364"/>
            </a:xfrm>
            <a:prstGeom prst="rect">
              <a:avLst/>
            </a:prstGeom>
            <a:noFill/>
            <a:ln>
              <a:noFill/>
            </a:ln>
          </p:spPr>
          <p:txBody>
            <a:bodyPr wrap="none" lIns="0" tIns="0" rIns="0" bIns="0" anchor="t" anchorCtr="0">
              <a:spAutoFit/>
            </a:bodyPr>
            <a:lstStyle/>
            <a:p>
              <a:pPr algn="l"/>
              <a:r>
                <a:rPr lang="en-US" sz="1280" b="1" dirty="0">
                  <a:solidFill>
                    <a:srgbClr val="F87171"/>
                  </a:solidFill>
                  <a:latin typeface="+mn-lt"/>
                  <a:ea typeface="+mn-ea"/>
                  <a:cs typeface="+mn-cs"/>
                </a:rPr>
                <a:t>Baselines compared throughout</a:t>
              </a:r>
            </a:p>
          </p:txBody>
        </p:sp>
        <p:sp>
          <p:nvSpPr>
            <p:cNvPr id="39" name="Rectangle 39"/>
            <p:cNvSpPr/>
            <p:nvPr/>
          </p:nvSpPr>
          <p:spPr>
            <a:xfrm>
              <a:off x="857250" y="4972050"/>
              <a:ext cx="2857500" cy="628650"/>
            </a:xfrm>
            <a:prstGeom prst="roundRect">
              <a:avLst>
                <a:gd name="adj" fmla="val 15152"/>
              </a:avLst>
            </a:prstGeom>
            <a:solidFill>
              <a:schemeClr val="accent6"/>
            </a:solidFill>
            <a:ln w="14288">
              <a:solidFill>
                <a:srgbClr val="F87171"/>
              </a:solidFill>
            </a:ln>
          </p:spPr>
        </p:sp>
        <p:sp>
          <p:nvSpPr>
            <p:cNvPr id="40" name="TextBox 40"/>
            <p:cNvSpPr txBox="1"/>
            <p:nvPr/>
          </p:nvSpPr>
          <p:spPr>
            <a:xfrm>
              <a:off x="1040130" y="5095875"/>
              <a:ext cx="790937"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kNN-LM</a:t>
              </a:r>
            </a:p>
          </p:txBody>
        </p:sp>
        <p:sp>
          <p:nvSpPr>
            <p:cNvPr id="41" name="TextBox 41"/>
            <p:cNvSpPr txBox="1"/>
            <p:nvPr/>
          </p:nvSpPr>
          <p:spPr>
            <a:xfrm>
              <a:off x="1042797" y="5381149"/>
              <a:ext cx="1594553"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the original retrieval LM</a:t>
              </a:r>
            </a:p>
          </p:txBody>
        </p:sp>
        <p:sp>
          <p:nvSpPr>
            <p:cNvPr id="42" name="Rectangle 42"/>
            <p:cNvSpPr/>
            <p:nvPr/>
          </p:nvSpPr>
          <p:spPr>
            <a:xfrm>
              <a:off x="3905250" y="4972050"/>
              <a:ext cx="2857500" cy="628650"/>
            </a:xfrm>
            <a:prstGeom prst="roundRect">
              <a:avLst>
                <a:gd name="adj" fmla="val 15152"/>
              </a:avLst>
            </a:prstGeom>
            <a:solidFill>
              <a:schemeClr val="accent6"/>
            </a:solidFill>
            <a:ln w="14288">
              <a:solidFill>
                <a:srgbClr val="F87171"/>
              </a:solidFill>
            </a:ln>
          </p:spPr>
        </p:sp>
        <p:sp>
          <p:nvSpPr>
            <p:cNvPr id="43" name="TextBox 43"/>
            <p:cNvSpPr txBox="1"/>
            <p:nvPr/>
          </p:nvSpPr>
          <p:spPr>
            <a:xfrm>
              <a:off x="4088130" y="5095875"/>
              <a:ext cx="961358" cy="293370"/>
            </a:xfrm>
            <a:prstGeom prst="rect">
              <a:avLst/>
            </a:prstGeom>
            <a:noFill/>
            <a:ln>
              <a:noFill/>
            </a:ln>
          </p:spPr>
          <p:txBody>
            <a:bodyPr wrap="none" lIns="0" tIns="0" rIns="0" bIns="0" anchor="t" anchorCtr="0">
              <a:spAutoFit/>
            </a:bodyPr>
            <a:lstStyle/>
            <a:p>
              <a:pPr algn="l"/>
              <a:r>
                <a:rPr lang="en-US" sz="1500" b="1" dirty="0">
                  <a:solidFill>
                    <a:srgbClr val="F87171"/>
                  </a:solidFill>
                  <a:latin typeface="+mn-lt"/>
                  <a:ea typeface="+mn-ea"/>
                  <a:cs typeface="+mn-cs"/>
                </a:rPr>
                <a:t>AdaptRet</a:t>
              </a:r>
            </a:p>
          </p:txBody>
        </p:sp>
        <p:sp>
          <p:nvSpPr>
            <p:cNvPr id="44" name="TextBox 44"/>
            <p:cNvSpPr txBox="1"/>
            <p:nvPr/>
          </p:nvSpPr>
          <p:spPr>
            <a:xfrm>
              <a:off x="4090797" y="5381149"/>
              <a:ext cx="1932066"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Adaptive Retrieval (MLP skip)</a:t>
              </a:r>
            </a:p>
          </p:txBody>
        </p:sp>
        <p:sp>
          <p:nvSpPr>
            <p:cNvPr id="45" name="Rectangle 45"/>
            <p:cNvSpPr/>
            <p:nvPr/>
          </p:nvSpPr>
          <p:spPr>
            <a:xfrm>
              <a:off x="6953250" y="4972050"/>
              <a:ext cx="4629150" cy="628650"/>
            </a:xfrm>
            <a:prstGeom prst="roundRect">
              <a:avLst>
                <a:gd name="adj" fmla="val 15152"/>
              </a:avLst>
            </a:prstGeom>
            <a:solidFill>
              <a:schemeClr val="accent6"/>
            </a:solidFill>
            <a:ln w="14288">
              <a:solidFill>
                <a:srgbClr val="34D399"/>
              </a:solidFill>
            </a:ln>
          </p:spPr>
        </p:sp>
        <p:sp>
          <p:nvSpPr>
            <p:cNvPr id="46" name="TextBox 46"/>
            <p:cNvSpPr txBox="1"/>
            <p:nvPr/>
          </p:nvSpPr>
          <p:spPr>
            <a:xfrm>
              <a:off x="7136130" y="5095875"/>
              <a:ext cx="1120912" cy="293370"/>
            </a:xfrm>
            <a:prstGeom prst="rect">
              <a:avLst/>
            </a:prstGeom>
            <a:noFill/>
            <a:ln>
              <a:noFill/>
            </a:ln>
          </p:spPr>
          <p:txBody>
            <a:bodyPr wrap="none" lIns="0" tIns="0" rIns="0" bIns="0" anchor="t" anchorCtr="0">
              <a:spAutoFit/>
            </a:bodyPr>
            <a:lstStyle/>
            <a:p>
              <a:pPr algn="l"/>
              <a:r>
                <a:rPr lang="en-US" sz="1500" b="1" dirty="0">
                  <a:solidFill>
                    <a:srgbClr val="34D399"/>
                  </a:solidFill>
                  <a:latin typeface="+mn-lt"/>
                  <a:ea typeface="+mn-ea"/>
                  <a:cs typeface="+mn-cs"/>
                </a:rPr>
                <a:t>RetoMaton</a:t>
              </a:r>
            </a:p>
          </p:txBody>
        </p:sp>
        <p:sp>
          <p:nvSpPr>
            <p:cNvPr id="47" name="TextBox 47"/>
            <p:cNvSpPr txBox="1"/>
            <p:nvPr/>
          </p:nvSpPr>
          <p:spPr>
            <a:xfrm>
              <a:off x="7138797" y="5381149"/>
              <a:ext cx="3466409"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pointer + cluster automaton over the same datastore</a:t>
              </a:r>
            </a:p>
          </p:txBody>
        </p:sp>
      </p:grpSp>
      <p:sp>
        <p:nvSpPr>
          <p:cNvPr id="49" name="TextBox 49"/>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50" name="cue_s06_c1_method_evaluated_two_settings" title="cue_s06_c1_method_evaluated_two_settings" descr="cue_s06_c1_method_evaluated_two_settings The method is evaluated in two settings."/>
          <p:cNvSpPr/>
          <p:nvPr/>
        </p:nvSpPr>
        <p:spPr>
          <a:xfrm>
            <a:off x="609600" y="1104823"/>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2_standard_in_domain_language_modeling" title="cue_s06_c2_standard_in_domain_language_modeling" descr="cue_s06_c2_standard_in_domain_language_modeling For standard in-domain language modeling the authors use WikiText-103, a Wikipedia benchmark with one hundred and three million training tokens, and a two hundred forty seven million parameter Transformer as the base model, producing a datastore of one hundred"/>
          <p:cNvSpPr/>
          <p:nvPr/>
        </p:nvSpPr>
        <p:spPr>
          <a:xfrm>
            <a:off x="609600" y="1942871"/>
            <a:ext cx="53717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3_domain_adaptation_they_law_domain_co" title="cue_s06_c3_domain_adaptation_they_law_domain_co" descr="cue_s06_c3_domain_adaptation_they_law_domain_co For domain adaptation they use the law-domain corpus Law-MT with nineteen million tokens and a larger six hundred fifty six million parameter base model, clustered into two hundred thousand states."/>
          <p:cNvSpPr/>
          <p:nvPr/>
        </p:nvSpPr>
        <p:spPr>
          <a:xfrm>
            <a:off x="6210604" y="1942871"/>
            <a:ext cx="5371795"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6_c4_throughout_retomaton_compared_agains" title="cue_s06_c4_throughout_retomaton_compared_agains" descr="cue_s06_c4_throughout_retomaton_compared_agains Throughout, RetoMaton is compared against the original kNN-LM and against Adaptive Retrieval."/>
          <p:cNvSpPr/>
          <p:nvPr/>
        </p:nvSpPr>
        <p:spPr>
          <a:xfrm>
            <a:off x="609600" y="4419295"/>
            <a:ext cx="109728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34D399"/>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34D399"/>
                </a:solidFill>
                <a:latin typeface="+mn-lt"/>
                <a:ea typeface="+mn-ea"/>
                <a:cs typeface="+mn-cs"/>
              </a:rPr>
              <a:t>07</a:t>
            </a:r>
          </a:p>
        </p:txBody>
      </p:sp>
      <p:sp>
        <p:nvSpPr>
          <p:cNvPr id="5" name="TextBox 5"/>
          <p:cNvSpPr txBox="1"/>
          <p:nvPr/>
        </p:nvSpPr>
        <p:spPr>
          <a:xfrm>
            <a:off x="826770" y="519112"/>
            <a:ext cx="72765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Key Result: Fewer Searches, Lower Perplexity</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9" name="Group 9"/>
          <p:cNvGrpSpPr/>
          <p:nvPr/>
        </p:nvGrpSpPr>
        <p:grpSpPr>
          <a:xfrm>
            <a:off x="609600" y="1104900"/>
            <a:ext cx="10972800" cy="552450"/>
            <a:chOff x="609600" y="1104900"/>
            <a:chExt cx="10972800" cy="552450"/>
          </a:xfrm>
        </p:grpSpPr>
        <p:sp>
          <p:nvSpPr>
            <p:cNvPr id="7" name="Rectangle 7"/>
            <p:cNvSpPr/>
            <p:nvPr/>
          </p:nvSpPr>
          <p:spPr>
            <a:xfrm>
              <a:off x="609600" y="1104900"/>
              <a:ext cx="10972800" cy="552450"/>
            </a:xfrm>
            <a:prstGeom prst="roundRect">
              <a:avLst>
                <a:gd name="adj" fmla="val 20690"/>
              </a:avLst>
            </a:prstGeom>
            <a:solidFill>
              <a:schemeClr val="accent6"/>
            </a:solidFill>
            <a:ln w="13335">
              <a:solidFill>
                <a:srgbClr val="34D399"/>
              </a:solidFill>
            </a:ln>
          </p:spPr>
        </p:sp>
        <p:sp>
          <p:nvSpPr>
            <p:cNvPr id="8" name="TextBox 8"/>
            <p:cNvSpPr txBox="1"/>
            <p:nvPr/>
          </p:nvSpPr>
          <p:spPr>
            <a:xfrm>
              <a:off x="850773" y="1291114"/>
              <a:ext cx="82971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Results are strong in both regimes, matching or beating kNN-LM at a fraction of the search cost.</a:t>
              </a:r>
            </a:p>
          </p:txBody>
        </p:sp>
      </p:grpSp>
      <p:grpSp>
        <p:nvGrpSpPr>
          <p:cNvPr id="34" name="Group 34"/>
          <p:cNvGrpSpPr/>
          <p:nvPr/>
        </p:nvGrpSpPr>
        <p:grpSpPr>
          <a:xfrm>
            <a:off x="490658" y="1790700"/>
            <a:ext cx="5491042" cy="2724150"/>
            <a:chOff x="490658" y="1790700"/>
            <a:chExt cx="5491042" cy="2724150"/>
          </a:xfrm>
        </p:grpSpPr>
        <p:sp>
          <p:nvSpPr>
            <p:cNvPr id="10" name="Rectangle 10"/>
            <p:cNvSpPr/>
            <p:nvPr/>
          </p:nvSpPr>
          <p:spPr>
            <a:xfrm>
              <a:off x="609600" y="1790700"/>
              <a:ext cx="5372100" cy="2724150"/>
            </a:xfrm>
            <a:prstGeom prst="roundRect">
              <a:avLst>
                <a:gd name="adj" fmla="val 4895"/>
              </a:avLst>
            </a:prstGeom>
            <a:solidFill>
              <a:schemeClr val="accent5"/>
            </a:solidFill>
            <a:ln w="14288">
              <a:solidFill>
                <a:srgbClr val="2C3D63"/>
              </a:solidFill>
            </a:ln>
          </p:spPr>
        </p:sp>
        <p:sp>
          <p:nvSpPr>
            <p:cNvPr id="11" name="TextBox 11"/>
            <p:cNvSpPr txBox="1"/>
            <p:nvPr/>
          </p:nvSpPr>
          <p:spPr>
            <a:xfrm>
              <a:off x="812673" y="1957864"/>
              <a:ext cx="116893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WikiText-103</a:t>
              </a:r>
            </a:p>
          </p:txBody>
        </p:sp>
        <p:sp>
          <p:nvSpPr>
            <p:cNvPr id="12" name="Line 12"/>
            <p:cNvSpPr/>
            <p:nvPr/>
          </p:nvSpPr>
          <p:spPr>
            <a:xfrm>
              <a:off x="1162050" y="2324100"/>
              <a:ext cx="9525" cy="1600200"/>
            </a:xfrm>
            <a:custGeom>
              <a:avLst/>
              <a:gdLst/>
              <a:ahLst/>
              <a:cxnLst/>
              <a:rect l="l" t="t" r="r" b="b"/>
              <a:pathLst>
                <a:path w="9525" h="1600200">
                  <a:moveTo>
                    <a:pt x="0" y="0"/>
                  </a:moveTo>
                  <a:lnTo>
                    <a:pt x="0" y="1600200"/>
                  </a:lnTo>
                </a:path>
              </a:pathLst>
            </a:custGeom>
            <a:noFill/>
            <a:ln w="11430" cap="rnd">
              <a:solidFill>
                <a:srgbClr val="9FB0CC"/>
              </a:solidFill>
            </a:ln>
          </p:spPr>
        </p:sp>
        <p:sp>
          <p:nvSpPr>
            <p:cNvPr id="13" name="Line 13"/>
            <p:cNvSpPr/>
            <p:nvPr/>
          </p:nvSpPr>
          <p:spPr>
            <a:xfrm>
              <a:off x="1162050" y="3924300"/>
              <a:ext cx="4495800" cy="9525"/>
            </a:xfrm>
            <a:custGeom>
              <a:avLst/>
              <a:gdLst/>
              <a:ahLst/>
              <a:cxnLst/>
              <a:rect l="l" t="t" r="r" b="b"/>
              <a:pathLst>
                <a:path w="4495800" h="9525">
                  <a:moveTo>
                    <a:pt x="0" y="0"/>
                  </a:moveTo>
                  <a:lnTo>
                    <a:pt x="4495800" y="0"/>
                  </a:lnTo>
                </a:path>
              </a:pathLst>
            </a:custGeom>
            <a:noFill/>
            <a:ln w="11430" cap="rnd">
              <a:solidFill>
                <a:srgbClr val="9FB0CC"/>
              </a:solidFill>
            </a:ln>
          </p:spPr>
        </p:sp>
        <p:sp>
          <p:nvSpPr>
            <p:cNvPr id="14" name="TextBox 14"/>
            <p:cNvSpPr txBox="1"/>
            <p:nvPr/>
          </p:nvSpPr>
          <p:spPr>
            <a:xfrm>
              <a:off x="950976" y="3881438"/>
              <a:ext cx="120586" cy="147638"/>
            </a:xfrm>
            <a:prstGeom prst="rect">
              <a:avLst/>
            </a:prstGeom>
            <a:noFill/>
            <a:ln>
              <a:noFill/>
            </a:ln>
          </p:spPr>
          <p:txBody>
            <a:bodyPr wrap="none" lIns="0" tIns="0" rIns="0" bIns="0" anchor="t" anchorCtr="0">
              <a:spAutoFit/>
            </a:bodyPr>
            <a:lstStyle/>
            <a:p>
              <a:pPr algn="r"/>
              <a:r>
                <a:rPr lang="en-US" sz="750" dirty="0">
                  <a:solidFill>
                    <a:srgbClr val="9FB0CC"/>
                  </a:solidFill>
                  <a:latin typeface="+mn-lt"/>
                  <a:ea typeface="+mn-ea"/>
                  <a:cs typeface="+mn-cs"/>
                </a:rPr>
                <a:t>16</a:t>
              </a:r>
            </a:p>
          </p:txBody>
        </p:sp>
        <p:sp>
          <p:nvSpPr>
            <p:cNvPr id="15" name="TextBox 15"/>
            <p:cNvSpPr txBox="1"/>
            <p:nvPr/>
          </p:nvSpPr>
          <p:spPr>
            <a:xfrm>
              <a:off x="950976" y="2319338"/>
              <a:ext cx="120586" cy="147638"/>
            </a:xfrm>
            <a:prstGeom prst="rect">
              <a:avLst/>
            </a:prstGeom>
            <a:noFill/>
            <a:ln>
              <a:noFill/>
            </a:ln>
          </p:spPr>
          <p:txBody>
            <a:bodyPr wrap="none" lIns="0" tIns="0" rIns="0" bIns="0" anchor="t" anchorCtr="0">
              <a:spAutoFit/>
            </a:bodyPr>
            <a:lstStyle/>
            <a:p>
              <a:pPr algn="r"/>
              <a:r>
                <a:rPr lang="en-US" sz="750" dirty="0">
                  <a:solidFill>
                    <a:srgbClr val="9FB0CC"/>
                  </a:solidFill>
                  <a:latin typeface="+mn-lt"/>
                  <a:ea typeface="+mn-ea"/>
                  <a:cs typeface="+mn-cs"/>
                </a:rPr>
                <a:t>21</a:t>
              </a:r>
            </a:p>
          </p:txBody>
        </p:sp>
        <p:sp>
          <p:nvSpPr>
            <p:cNvPr id="16" name="TextBox 16"/>
            <p:cNvSpPr txBox="1"/>
            <p:nvPr/>
          </p:nvSpPr>
          <p:spPr>
            <a:xfrm>
              <a:off x="2364776" y="4307443"/>
              <a:ext cx="2090348" cy="169069"/>
            </a:xfrm>
            <a:prstGeom prst="rect">
              <a:avLst/>
            </a:prstGeom>
            <a:noFill/>
            <a:ln>
              <a:noFill/>
            </a:ln>
          </p:spPr>
          <p:txBody>
            <a:bodyPr wrap="none" lIns="0" tIns="0" rIns="0" bIns="0" anchor="t" anchorCtr="0">
              <a:spAutoFit/>
            </a:bodyPr>
            <a:lstStyle/>
            <a:p>
              <a:pPr algn="ctr"/>
              <a:r>
                <a:rPr lang="en-US" sz="860" dirty="0">
                  <a:solidFill>
                    <a:srgbClr val="9FB0CC"/>
                  </a:solidFill>
                  <a:latin typeface="+mn-lt"/>
                  <a:ea typeface="+mn-ea"/>
                  <a:cs typeface="+mn-cs"/>
                </a:rPr>
                <a:t>Fraction of Saved Searches (FoSS) →</a:t>
              </a:r>
            </a:p>
          </p:txBody>
        </p:sp>
        <p:sp>
          <p:nvSpPr>
            <p:cNvPr id="17" name="TextBox 17"/>
            <p:cNvSpPr txBox="1"/>
            <p:nvPr/>
          </p:nvSpPr>
          <p:spPr>
            <a:xfrm rot="-5400000">
              <a:off x="490658" y="3043238"/>
              <a:ext cx="564591" cy="161925"/>
            </a:xfrm>
            <a:prstGeom prst="rect">
              <a:avLst/>
            </a:prstGeom>
            <a:noFill/>
            <a:ln>
              <a:noFill/>
            </a:ln>
          </p:spPr>
          <p:txBody>
            <a:bodyPr wrap="none" lIns="0" tIns="0" rIns="0" bIns="0" anchor="t" anchorCtr="0">
              <a:spAutoFit/>
            </a:bodyPr>
            <a:lstStyle/>
            <a:p>
              <a:pPr algn="ctr"/>
              <a:r>
                <a:rPr lang="en-US" sz="820" dirty="0">
                  <a:solidFill>
                    <a:srgbClr val="9FB0CC"/>
                  </a:solidFill>
                  <a:latin typeface="+mn-lt"/>
                  <a:ea typeface="+mn-ea"/>
                  <a:cs typeface="+mn-cs"/>
                </a:rPr>
                <a:t>Perplexity</a:t>
              </a:r>
            </a:p>
          </p:txBody>
        </p:sp>
        <p:sp>
          <p:nvSpPr>
            <p:cNvPr id="18" name="Polyline 18"/>
            <p:cNvSpPr/>
            <p:nvPr/>
          </p:nvSpPr>
          <p:spPr>
            <a:xfrm>
              <a:off x="1162050" y="2484120"/>
              <a:ext cx="4046220" cy="1232535"/>
            </a:xfrm>
            <a:custGeom>
              <a:avLst/>
              <a:gdLst/>
              <a:ahLst/>
              <a:cxnLst/>
              <a:rect l="l" t="t" r="r" b="b"/>
              <a:pathLst>
                <a:path w="4046220" h="1232535">
                  <a:moveTo>
                    <a:pt x="0" y="1232535"/>
                  </a:moveTo>
                  <a:lnTo>
                    <a:pt x="1798320" y="1087755"/>
                  </a:lnTo>
                  <a:lnTo>
                    <a:pt x="3147060" y="736283"/>
                  </a:lnTo>
                  <a:lnTo>
                    <a:pt x="4046220" y="0"/>
                  </a:lnTo>
                </a:path>
              </a:pathLst>
            </a:custGeom>
            <a:noFill/>
            <a:ln w="26670">
              <a:solidFill>
                <a:srgbClr val="F87171"/>
              </a:solidFill>
              <a:round/>
            </a:ln>
          </p:spPr>
        </p:sp>
        <p:sp>
          <p:nvSpPr>
            <p:cNvPr id="19" name="Ellipse 19"/>
            <p:cNvSpPr/>
            <p:nvPr/>
          </p:nvSpPr>
          <p:spPr>
            <a:xfrm>
              <a:off x="1131570" y="3686175"/>
              <a:ext cx="60960" cy="60960"/>
            </a:xfrm>
            <a:prstGeom prst="ellipse">
              <a:avLst/>
            </a:prstGeom>
            <a:solidFill>
              <a:srgbClr val="F87171"/>
            </a:solidFill>
            <a:ln>
              <a:noFill/>
            </a:ln>
          </p:spPr>
        </p:sp>
        <p:sp>
          <p:nvSpPr>
            <p:cNvPr id="20" name="Ellipse 20"/>
            <p:cNvSpPr/>
            <p:nvPr/>
          </p:nvSpPr>
          <p:spPr>
            <a:xfrm>
              <a:off x="2929890" y="3541395"/>
              <a:ext cx="60960" cy="60960"/>
            </a:xfrm>
            <a:prstGeom prst="ellipse">
              <a:avLst/>
            </a:prstGeom>
            <a:solidFill>
              <a:srgbClr val="F87171"/>
            </a:solidFill>
            <a:ln>
              <a:noFill/>
            </a:ln>
          </p:spPr>
        </p:sp>
        <p:sp>
          <p:nvSpPr>
            <p:cNvPr id="21" name="Ellipse 21"/>
            <p:cNvSpPr/>
            <p:nvPr/>
          </p:nvSpPr>
          <p:spPr>
            <a:xfrm>
              <a:off x="4278630" y="3189923"/>
              <a:ext cx="60960" cy="60960"/>
            </a:xfrm>
            <a:prstGeom prst="ellipse">
              <a:avLst/>
            </a:prstGeom>
            <a:solidFill>
              <a:srgbClr val="F87171"/>
            </a:solidFill>
            <a:ln>
              <a:noFill/>
            </a:ln>
          </p:spPr>
        </p:sp>
        <p:sp>
          <p:nvSpPr>
            <p:cNvPr id="22" name="Ellipse 22"/>
            <p:cNvSpPr/>
            <p:nvPr/>
          </p:nvSpPr>
          <p:spPr>
            <a:xfrm>
              <a:off x="5177790" y="2453640"/>
              <a:ext cx="60960" cy="60960"/>
            </a:xfrm>
            <a:prstGeom prst="ellipse">
              <a:avLst/>
            </a:prstGeom>
            <a:solidFill>
              <a:srgbClr val="F87171"/>
            </a:solidFill>
            <a:ln>
              <a:noFill/>
            </a:ln>
          </p:spPr>
        </p:sp>
        <p:sp>
          <p:nvSpPr>
            <p:cNvPr id="23" name="Polyline 23"/>
            <p:cNvSpPr/>
            <p:nvPr/>
          </p:nvSpPr>
          <p:spPr>
            <a:xfrm>
              <a:off x="1162050" y="3540442"/>
              <a:ext cx="4046220" cy="358140"/>
            </a:xfrm>
            <a:custGeom>
              <a:avLst/>
              <a:gdLst/>
              <a:ahLst/>
              <a:cxnLst/>
              <a:rect l="l" t="t" r="r" b="b"/>
              <a:pathLst>
                <a:path w="4046220" h="358140">
                  <a:moveTo>
                    <a:pt x="0" y="358140"/>
                  </a:moveTo>
                  <a:lnTo>
                    <a:pt x="1798320" y="320040"/>
                  </a:lnTo>
                  <a:lnTo>
                    <a:pt x="3147060" y="191453"/>
                  </a:lnTo>
                  <a:lnTo>
                    <a:pt x="3641408" y="176212"/>
                  </a:lnTo>
                  <a:lnTo>
                    <a:pt x="4046220" y="0"/>
                  </a:lnTo>
                </a:path>
              </a:pathLst>
            </a:custGeom>
            <a:noFill/>
            <a:ln w="26670">
              <a:solidFill>
                <a:srgbClr val="34D399"/>
              </a:solidFill>
              <a:round/>
            </a:ln>
          </p:spPr>
        </p:sp>
        <p:sp>
          <p:nvSpPr>
            <p:cNvPr id="24" name="Ellipse 24"/>
            <p:cNvSpPr/>
            <p:nvPr/>
          </p:nvSpPr>
          <p:spPr>
            <a:xfrm>
              <a:off x="1131570" y="3868102"/>
              <a:ext cx="60960" cy="60960"/>
            </a:xfrm>
            <a:prstGeom prst="ellipse">
              <a:avLst/>
            </a:prstGeom>
            <a:solidFill>
              <a:srgbClr val="34D399"/>
            </a:solidFill>
            <a:ln>
              <a:noFill/>
            </a:ln>
          </p:spPr>
        </p:sp>
        <p:sp>
          <p:nvSpPr>
            <p:cNvPr id="25" name="Ellipse 25"/>
            <p:cNvSpPr/>
            <p:nvPr/>
          </p:nvSpPr>
          <p:spPr>
            <a:xfrm>
              <a:off x="2929890" y="3830002"/>
              <a:ext cx="60960" cy="60960"/>
            </a:xfrm>
            <a:prstGeom prst="ellipse">
              <a:avLst/>
            </a:prstGeom>
            <a:solidFill>
              <a:srgbClr val="34D399"/>
            </a:solidFill>
            <a:ln>
              <a:noFill/>
            </a:ln>
          </p:spPr>
        </p:sp>
        <p:sp>
          <p:nvSpPr>
            <p:cNvPr id="26" name="Ellipse 26"/>
            <p:cNvSpPr/>
            <p:nvPr/>
          </p:nvSpPr>
          <p:spPr>
            <a:xfrm>
              <a:off x="4278630" y="3701415"/>
              <a:ext cx="60960" cy="60960"/>
            </a:xfrm>
            <a:prstGeom prst="ellipse">
              <a:avLst/>
            </a:prstGeom>
            <a:solidFill>
              <a:srgbClr val="34D399"/>
            </a:solidFill>
            <a:ln>
              <a:noFill/>
            </a:ln>
          </p:spPr>
        </p:sp>
        <p:sp>
          <p:nvSpPr>
            <p:cNvPr id="27" name="Ellipse 27"/>
            <p:cNvSpPr/>
            <p:nvPr/>
          </p:nvSpPr>
          <p:spPr>
            <a:xfrm>
              <a:off x="4772978" y="3686175"/>
              <a:ext cx="60960" cy="60960"/>
            </a:xfrm>
            <a:prstGeom prst="ellipse">
              <a:avLst/>
            </a:prstGeom>
            <a:solidFill>
              <a:srgbClr val="34D399"/>
            </a:solidFill>
            <a:ln>
              <a:noFill/>
            </a:ln>
          </p:spPr>
        </p:sp>
        <p:sp>
          <p:nvSpPr>
            <p:cNvPr id="28" name="Ellipse 28"/>
            <p:cNvSpPr/>
            <p:nvPr/>
          </p:nvSpPr>
          <p:spPr>
            <a:xfrm>
              <a:off x="5177790" y="3509962"/>
              <a:ext cx="60960" cy="60960"/>
            </a:xfrm>
            <a:prstGeom prst="ellipse">
              <a:avLst/>
            </a:prstGeom>
            <a:solidFill>
              <a:srgbClr val="34D399"/>
            </a:solidFill>
            <a:ln>
              <a:noFill/>
            </a:ln>
          </p:spPr>
        </p:sp>
        <p:sp>
          <p:nvSpPr>
            <p:cNvPr id="29" name="Rectangle 29"/>
            <p:cNvSpPr/>
            <p:nvPr/>
          </p:nvSpPr>
          <p:spPr>
            <a:xfrm>
              <a:off x="4533900" y="2209800"/>
              <a:ext cx="133350" cy="38100"/>
            </a:xfrm>
            <a:prstGeom prst="roundRect">
              <a:avLst>
                <a:gd name="adj" fmla="val 50000"/>
              </a:avLst>
            </a:prstGeom>
            <a:solidFill>
              <a:srgbClr val="F87171"/>
            </a:solidFill>
            <a:ln>
              <a:noFill/>
            </a:ln>
          </p:spPr>
        </p:sp>
        <p:sp>
          <p:nvSpPr>
            <p:cNvPr id="30" name="TextBox 30"/>
            <p:cNvSpPr txBox="1"/>
            <p:nvPr/>
          </p:nvSpPr>
          <p:spPr>
            <a:xfrm>
              <a:off x="4700588" y="2168366"/>
              <a:ext cx="413380" cy="161925"/>
            </a:xfrm>
            <a:prstGeom prst="rect">
              <a:avLst/>
            </a:prstGeom>
            <a:noFill/>
            <a:ln>
              <a:noFill/>
            </a:ln>
          </p:spPr>
          <p:txBody>
            <a:bodyPr wrap="none" lIns="0" tIns="0" rIns="0" bIns="0" anchor="t" anchorCtr="0">
              <a:spAutoFit/>
            </a:bodyPr>
            <a:lstStyle/>
            <a:p>
              <a:pPr algn="l"/>
              <a:r>
                <a:rPr lang="en-US" sz="820" dirty="0">
                  <a:solidFill>
                    <a:srgbClr val="9FB0CC"/>
                  </a:solidFill>
                  <a:latin typeface="+mn-lt"/>
                  <a:ea typeface="+mn-ea"/>
                  <a:cs typeface="+mn-cs"/>
                </a:rPr>
                <a:t>kNN-LM</a:t>
              </a:r>
            </a:p>
          </p:txBody>
        </p:sp>
        <p:sp>
          <p:nvSpPr>
            <p:cNvPr id="31" name="Rectangle 31"/>
            <p:cNvSpPr/>
            <p:nvPr/>
          </p:nvSpPr>
          <p:spPr>
            <a:xfrm>
              <a:off x="4533900" y="2381250"/>
              <a:ext cx="133350" cy="38100"/>
            </a:xfrm>
            <a:prstGeom prst="roundRect">
              <a:avLst>
                <a:gd name="adj" fmla="val 50000"/>
              </a:avLst>
            </a:prstGeom>
            <a:solidFill>
              <a:srgbClr val="34D399"/>
            </a:solidFill>
            <a:ln>
              <a:noFill/>
            </a:ln>
          </p:spPr>
        </p:sp>
        <p:sp>
          <p:nvSpPr>
            <p:cNvPr id="32" name="TextBox 32"/>
            <p:cNvSpPr txBox="1"/>
            <p:nvPr/>
          </p:nvSpPr>
          <p:spPr>
            <a:xfrm>
              <a:off x="4700588" y="2339816"/>
              <a:ext cx="585176" cy="161925"/>
            </a:xfrm>
            <a:prstGeom prst="rect">
              <a:avLst/>
            </a:prstGeom>
            <a:noFill/>
            <a:ln>
              <a:noFill/>
            </a:ln>
          </p:spPr>
          <p:txBody>
            <a:bodyPr wrap="none" lIns="0" tIns="0" rIns="0" bIns="0" anchor="t" anchorCtr="0">
              <a:spAutoFit/>
            </a:bodyPr>
            <a:lstStyle/>
            <a:p>
              <a:pPr algn="l"/>
              <a:r>
                <a:rPr lang="en-US" sz="820" dirty="0">
                  <a:solidFill>
                    <a:srgbClr val="9FB0CC"/>
                  </a:solidFill>
                  <a:latin typeface="+mn-lt"/>
                  <a:ea typeface="+mn-ea"/>
                  <a:cs typeface="+mn-cs"/>
                </a:rPr>
                <a:t>RetoMaton</a:t>
              </a:r>
            </a:p>
          </p:txBody>
        </p:sp>
        <p:sp>
          <p:nvSpPr>
            <p:cNvPr id="33" name="TextBox 33"/>
            <p:cNvSpPr txBox="1"/>
            <p:nvPr/>
          </p:nvSpPr>
          <p:spPr>
            <a:xfrm>
              <a:off x="814388" y="4131945"/>
              <a:ext cx="2965563" cy="176212"/>
            </a:xfrm>
            <a:prstGeom prst="rect">
              <a:avLst/>
            </a:prstGeom>
            <a:noFill/>
            <a:ln>
              <a:noFill/>
            </a:ln>
          </p:spPr>
          <p:txBody>
            <a:bodyPr wrap="none" lIns="0" tIns="0" rIns="0" bIns="0" anchor="t" anchorCtr="0">
              <a:spAutoFit/>
            </a:bodyPr>
            <a:lstStyle/>
            <a:p>
              <a:pPr algn="l"/>
              <a:r>
                <a:rPr lang="en-US" sz="900" b="1" dirty="0">
                  <a:solidFill>
                    <a:srgbClr val="34D399"/>
                  </a:solidFill>
                  <a:latin typeface="+mn-lt"/>
                  <a:ea typeface="+mn-ea"/>
                  <a:cs typeface="+mn-cs"/>
                </a:rPr>
                <a:t>Matches kNN-LM while skipping 81% of searches</a:t>
              </a:r>
            </a:p>
          </p:txBody>
        </p:sp>
      </p:grpSp>
      <p:grpSp>
        <p:nvGrpSpPr>
          <p:cNvPr id="58" name="Group 58"/>
          <p:cNvGrpSpPr/>
          <p:nvPr/>
        </p:nvGrpSpPr>
        <p:grpSpPr>
          <a:xfrm>
            <a:off x="6091358" y="1790700"/>
            <a:ext cx="5491042" cy="2724150"/>
            <a:chOff x="6091358" y="1790700"/>
            <a:chExt cx="5491042" cy="2724150"/>
          </a:xfrm>
        </p:grpSpPr>
        <p:sp>
          <p:nvSpPr>
            <p:cNvPr id="35" name="Rectangle 35"/>
            <p:cNvSpPr/>
            <p:nvPr/>
          </p:nvSpPr>
          <p:spPr>
            <a:xfrm>
              <a:off x="6210300" y="1790700"/>
              <a:ext cx="5372100" cy="2724150"/>
            </a:xfrm>
            <a:prstGeom prst="roundRect">
              <a:avLst>
                <a:gd name="adj" fmla="val 4895"/>
              </a:avLst>
            </a:prstGeom>
            <a:solidFill>
              <a:schemeClr val="accent5"/>
            </a:solidFill>
            <a:ln w="14288">
              <a:solidFill>
                <a:srgbClr val="2C3D63"/>
              </a:solidFill>
            </a:ln>
          </p:spPr>
        </p:sp>
        <p:sp>
          <p:nvSpPr>
            <p:cNvPr id="36" name="TextBox 36"/>
            <p:cNvSpPr txBox="1"/>
            <p:nvPr/>
          </p:nvSpPr>
          <p:spPr>
            <a:xfrm>
              <a:off x="6413373" y="1957864"/>
              <a:ext cx="254820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Law-MT (domain adaptation)</a:t>
              </a:r>
            </a:p>
          </p:txBody>
        </p:sp>
        <p:sp>
          <p:nvSpPr>
            <p:cNvPr id="37" name="Line 37"/>
            <p:cNvSpPr/>
            <p:nvPr/>
          </p:nvSpPr>
          <p:spPr>
            <a:xfrm>
              <a:off x="6762750" y="2324100"/>
              <a:ext cx="9525" cy="1600200"/>
            </a:xfrm>
            <a:custGeom>
              <a:avLst/>
              <a:gdLst/>
              <a:ahLst/>
              <a:cxnLst/>
              <a:rect l="l" t="t" r="r" b="b"/>
              <a:pathLst>
                <a:path w="9525" h="1600200">
                  <a:moveTo>
                    <a:pt x="0" y="0"/>
                  </a:moveTo>
                  <a:lnTo>
                    <a:pt x="0" y="1600200"/>
                  </a:lnTo>
                </a:path>
              </a:pathLst>
            </a:custGeom>
            <a:noFill/>
            <a:ln w="11430" cap="rnd">
              <a:solidFill>
                <a:srgbClr val="9FB0CC"/>
              </a:solidFill>
            </a:ln>
          </p:spPr>
        </p:sp>
        <p:sp>
          <p:nvSpPr>
            <p:cNvPr id="38" name="Line 38"/>
            <p:cNvSpPr/>
            <p:nvPr/>
          </p:nvSpPr>
          <p:spPr>
            <a:xfrm>
              <a:off x="6762750" y="3924300"/>
              <a:ext cx="4495800" cy="9525"/>
            </a:xfrm>
            <a:custGeom>
              <a:avLst/>
              <a:gdLst/>
              <a:ahLst/>
              <a:cxnLst/>
              <a:rect l="l" t="t" r="r" b="b"/>
              <a:pathLst>
                <a:path w="4495800" h="9525">
                  <a:moveTo>
                    <a:pt x="0" y="0"/>
                  </a:moveTo>
                  <a:lnTo>
                    <a:pt x="4495800" y="0"/>
                  </a:lnTo>
                </a:path>
              </a:pathLst>
            </a:custGeom>
            <a:noFill/>
            <a:ln w="11430" cap="rnd">
              <a:solidFill>
                <a:srgbClr val="9FB0CC"/>
              </a:solidFill>
            </a:ln>
          </p:spPr>
        </p:sp>
        <p:sp>
          <p:nvSpPr>
            <p:cNvPr id="39" name="TextBox 39"/>
            <p:cNvSpPr txBox="1"/>
            <p:nvPr/>
          </p:nvSpPr>
          <p:spPr>
            <a:xfrm>
              <a:off x="6551676" y="3881438"/>
              <a:ext cx="120586" cy="147638"/>
            </a:xfrm>
            <a:prstGeom prst="rect">
              <a:avLst/>
            </a:prstGeom>
            <a:noFill/>
            <a:ln>
              <a:noFill/>
            </a:ln>
          </p:spPr>
          <p:txBody>
            <a:bodyPr wrap="none" lIns="0" tIns="0" rIns="0" bIns="0" anchor="t" anchorCtr="0">
              <a:spAutoFit/>
            </a:bodyPr>
            <a:lstStyle/>
            <a:p>
              <a:pPr algn="r"/>
              <a:r>
                <a:rPr lang="en-US" sz="750" dirty="0">
                  <a:solidFill>
                    <a:srgbClr val="9FB0CC"/>
                  </a:solidFill>
                  <a:latin typeface="+mn-lt"/>
                  <a:ea typeface="+mn-ea"/>
                  <a:cs typeface="+mn-cs"/>
                </a:rPr>
                <a:t>10</a:t>
              </a:r>
            </a:p>
          </p:txBody>
        </p:sp>
        <p:sp>
          <p:nvSpPr>
            <p:cNvPr id="40" name="TextBox 40"/>
            <p:cNvSpPr txBox="1"/>
            <p:nvPr/>
          </p:nvSpPr>
          <p:spPr>
            <a:xfrm>
              <a:off x="6551676" y="2319338"/>
              <a:ext cx="120586" cy="147638"/>
            </a:xfrm>
            <a:prstGeom prst="rect">
              <a:avLst/>
            </a:prstGeom>
            <a:noFill/>
            <a:ln>
              <a:noFill/>
            </a:ln>
          </p:spPr>
          <p:txBody>
            <a:bodyPr wrap="none" lIns="0" tIns="0" rIns="0" bIns="0" anchor="t" anchorCtr="0">
              <a:spAutoFit/>
            </a:bodyPr>
            <a:lstStyle/>
            <a:p>
              <a:pPr algn="r"/>
              <a:r>
                <a:rPr lang="en-US" sz="750" dirty="0">
                  <a:solidFill>
                    <a:srgbClr val="9FB0CC"/>
                  </a:solidFill>
                  <a:latin typeface="+mn-lt"/>
                  <a:ea typeface="+mn-ea"/>
                  <a:cs typeface="+mn-cs"/>
                </a:rPr>
                <a:t>27</a:t>
              </a:r>
            </a:p>
          </p:txBody>
        </p:sp>
        <p:sp>
          <p:nvSpPr>
            <p:cNvPr id="41" name="TextBox 41"/>
            <p:cNvSpPr txBox="1"/>
            <p:nvPr/>
          </p:nvSpPr>
          <p:spPr>
            <a:xfrm>
              <a:off x="7965476" y="4307443"/>
              <a:ext cx="2090348" cy="169069"/>
            </a:xfrm>
            <a:prstGeom prst="rect">
              <a:avLst/>
            </a:prstGeom>
            <a:noFill/>
            <a:ln>
              <a:noFill/>
            </a:ln>
          </p:spPr>
          <p:txBody>
            <a:bodyPr wrap="none" lIns="0" tIns="0" rIns="0" bIns="0" anchor="t" anchorCtr="0">
              <a:spAutoFit/>
            </a:bodyPr>
            <a:lstStyle/>
            <a:p>
              <a:pPr algn="ctr"/>
              <a:r>
                <a:rPr lang="en-US" sz="860" dirty="0">
                  <a:solidFill>
                    <a:srgbClr val="9FB0CC"/>
                  </a:solidFill>
                  <a:latin typeface="+mn-lt"/>
                  <a:ea typeface="+mn-ea"/>
                  <a:cs typeface="+mn-cs"/>
                </a:rPr>
                <a:t>Fraction of Saved Searches (FoSS) →</a:t>
              </a:r>
            </a:p>
          </p:txBody>
        </p:sp>
        <p:sp>
          <p:nvSpPr>
            <p:cNvPr id="42" name="TextBox 42"/>
            <p:cNvSpPr txBox="1"/>
            <p:nvPr/>
          </p:nvSpPr>
          <p:spPr>
            <a:xfrm rot="-5400000">
              <a:off x="6091358" y="3043238"/>
              <a:ext cx="564591" cy="161925"/>
            </a:xfrm>
            <a:prstGeom prst="rect">
              <a:avLst/>
            </a:prstGeom>
            <a:noFill/>
            <a:ln>
              <a:noFill/>
            </a:ln>
          </p:spPr>
          <p:txBody>
            <a:bodyPr wrap="none" lIns="0" tIns="0" rIns="0" bIns="0" anchor="t" anchorCtr="0">
              <a:spAutoFit/>
            </a:bodyPr>
            <a:lstStyle/>
            <a:p>
              <a:pPr algn="ctr"/>
              <a:r>
                <a:rPr lang="en-US" sz="820" dirty="0">
                  <a:solidFill>
                    <a:srgbClr val="9FB0CC"/>
                  </a:solidFill>
                  <a:latin typeface="+mn-lt"/>
                  <a:ea typeface="+mn-ea"/>
                  <a:cs typeface="+mn-cs"/>
                </a:rPr>
                <a:t>Perplexity</a:t>
              </a:r>
            </a:p>
          </p:txBody>
        </p:sp>
        <p:sp>
          <p:nvSpPr>
            <p:cNvPr id="43" name="Polyline 43"/>
            <p:cNvSpPr/>
            <p:nvPr/>
          </p:nvSpPr>
          <p:spPr>
            <a:xfrm>
              <a:off x="6762750" y="2418398"/>
              <a:ext cx="3596640" cy="1285875"/>
            </a:xfrm>
            <a:custGeom>
              <a:avLst/>
              <a:gdLst/>
              <a:ahLst/>
              <a:cxnLst/>
              <a:rect l="l" t="t" r="r" b="b"/>
              <a:pathLst>
                <a:path w="3596640" h="1285875">
                  <a:moveTo>
                    <a:pt x="0" y="1285875"/>
                  </a:moveTo>
                  <a:lnTo>
                    <a:pt x="1348740" y="1129665"/>
                  </a:lnTo>
                  <a:lnTo>
                    <a:pt x="2697480" y="705802"/>
                  </a:lnTo>
                  <a:lnTo>
                    <a:pt x="3596640" y="0"/>
                  </a:lnTo>
                </a:path>
              </a:pathLst>
            </a:custGeom>
            <a:noFill/>
            <a:ln w="26670">
              <a:solidFill>
                <a:srgbClr val="F87171"/>
              </a:solidFill>
              <a:round/>
            </a:ln>
          </p:spPr>
        </p:sp>
        <p:sp>
          <p:nvSpPr>
            <p:cNvPr id="44" name="Ellipse 44"/>
            <p:cNvSpPr/>
            <p:nvPr/>
          </p:nvSpPr>
          <p:spPr>
            <a:xfrm>
              <a:off x="6732270" y="3673792"/>
              <a:ext cx="60960" cy="60960"/>
            </a:xfrm>
            <a:prstGeom prst="ellipse">
              <a:avLst/>
            </a:prstGeom>
            <a:solidFill>
              <a:srgbClr val="F87171"/>
            </a:solidFill>
            <a:ln>
              <a:noFill/>
            </a:ln>
          </p:spPr>
        </p:sp>
        <p:sp>
          <p:nvSpPr>
            <p:cNvPr id="45" name="Ellipse 45"/>
            <p:cNvSpPr/>
            <p:nvPr/>
          </p:nvSpPr>
          <p:spPr>
            <a:xfrm>
              <a:off x="8081010" y="3517582"/>
              <a:ext cx="60960" cy="60960"/>
            </a:xfrm>
            <a:prstGeom prst="ellipse">
              <a:avLst/>
            </a:prstGeom>
            <a:solidFill>
              <a:srgbClr val="F87171"/>
            </a:solidFill>
            <a:ln>
              <a:noFill/>
            </a:ln>
          </p:spPr>
        </p:sp>
        <p:sp>
          <p:nvSpPr>
            <p:cNvPr id="46" name="Ellipse 46"/>
            <p:cNvSpPr/>
            <p:nvPr/>
          </p:nvSpPr>
          <p:spPr>
            <a:xfrm>
              <a:off x="9429750" y="3093720"/>
              <a:ext cx="60960" cy="60960"/>
            </a:xfrm>
            <a:prstGeom prst="ellipse">
              <a:avLst/>
            </a:prstGeom>
            <a:solidFill>
              <a:srgbClr val="F87171"/>
            </a:solidFill>
            <a:ln>
              <a:noFill/>
            </a:ln>
          </p:spPr>
        </p:sp>
        <p:sp>
          <p:nvSpPr>
            <p:cNvPr id="47" name="Ellipse 47"/>
            <p:cNvSpPr/>
            <p:nvPr/>
          </p:nvSpPr>
          <p:spPr>
            <a:xfrm>
              <a:off x="10328910" y="2387918"/>
              <a:ext cx="60960" cy="60960"/>
            </a:xfrm>
            <a:prstGeom prst="ellipse">
              <a:avLst/>
            </a:prstGeom>
            <a:solidFill>
              <a:srgbClr val="F87171"/>
            </a:solidFill>
            <a:ln>
              <a:noFill/>
            </a:ln>
          </p:spPr>
        </p:sp>
        <p:sp>
          <p:nvSpPr>
            <p:cNvPr id="48" name="Polyline 48"/>
            <p:cNvSpPr/>
            <p:nvPr/>
          </p:nvSpPr>
          <p:spPr>
            <a:xfrm>
              <a:off x="6762750" y="3623310"/>
              <a:ext cx="3596640" cy="255270"/>
            </a:xfrm>
            <a:custGeom>
              <a:avLst/>
              <a:gdLst/>
              <a:ahLst/>
              <a:cxnLst/>
              <a:rect l="l" t="t" r="r" b="b"/>
              <a:pathLst>
                <a:path w="3596640" h="255270">
                  <a:moveTo>
                    <a:pt x="0" y="255270"/>
                  </a:moveTo>
                  <a:lnTo>
                    <a:pt x="1348740" y="216218"/>
                  </a:lnTo>
                  <a:lnTo>
                    <a:pt x="2697480" y="131445"/>
                  </a:lnTo>
                  <a:lnTo>
                    <a:pt x="3596640" y="0"/>
                  </a:lnTo>
                </a:path>
              </a:pathLst>
            </a:custGeom>
            <a:noFill/>
            <a:ln w="26670">
              <a:solidFill>
                <a:srgbClr val="34D399"/>
              </a:solidFill>
              <a:round/>
            </a:ln>
          </p:spPr>
        </p:sp>
        <p:sp>
          <p:nvSpPr>
            <p:cNvPr id="49" name="Ellipse 49"/>
            <p:cNvSpPr/>
            <p:nvPr/>
          </p:nvSpPr>
          <p:spPr>
            <a:xfrm>
              <a:off x="6732270" y="3848100"/>
              <a:ext cx="60960" cy="60960"/>
            </a:xfrm>
            <a:prstGeom prst="ellipse">
              <a:avLst/>
            </a:prstGeom>
            <a:solidFill>
              <a:srgbClr val="34D399"/>
            </a:solidFill>
            <a:ln>
              <a:noFill/>
            </a:ln>
          </p:spPr>
        </p:sp>
        <p:sp>
          <p:nvSpPr>
            <p:cNvPr id="50" name="Ellipse 50"/>
            <p:cNvSpPr/>
            <p:nvPr/>
          </p:nvSpPr>
          <p:spPr>
            <a:xfrm>
              <a:off x="8081010" y="3809048"/>
              <a:ext cx="60960" cy="60960"/>
            </a:xfrm>
            <a:prstGeom prst="ellipse">
              <a:avLst/>
            </a:prstGeom>
            <a:solidFill>
              <a:srgbClr val="34D399"/>
            </a:solidFill>
            <a:ln>
              <a:noFill/>
            </a:ln>
          </p:spPr>
        </p:sp>
        <p:sp>
          <p:nvSpPr>
            <p:cNvPr id="51" name="Ellipse 51"/>
            <p:cNvSpPr/>
            <p:nvPr/>
          </p:nvSpPr>
          <p:spPr>
            <a:xfrm>
              <a:off x="9429750" y="3724275"/>
              <a:ext cx="60960" cy="60960"/>
            </a:xfrm>
            <a:prstGeom prst="ellipse">
              <a:avLst/>
            </a:prstGeom>
            <a:solidFill>
              <a:srgbClr val="34D399"/>
            </a:solidFill>
            <a:ln>
              <a:noFill/>
            </a:ln>
          </p:spPr>
        </p:sp>
        <p:sp>
          <p:nvSpPr>
            <p:cNvPr id="52" name="Ellipse 52"/>
            <p:cNvSpPr/>
            <p:nvPr/>
          </p:nvSpPr>
          <p:spPr>
            <a:xfrm>
              <a:off x="10328910" y="3592830"/>
              <a:ext cx="60960" cy="60960"/>
            </a:xfrm>
            <a:prstGeom prst="ellipse">
              <a:avLst/>
            </a:prstGeom>
            <a:solidFill>
              <a:srgbClr val="34D399"/>
            </a:solidFill>
            <a:ln>
              <a:noFill/>
            </a:ln>
          </p:spPr>
        </p:sp>
        <p:sp>
          <p:nvSpPr>
            <p:cNvPr id="53" name="Rectangle 53"/>
            <p:cNvSpPr/>
            <p:nvPr/>
          </p:nvSpPr>
          <p:spPr>
            <a:xfrm>
              <a:off x="10134600" y="2209800"/>
              <a:ext cx="133350" cy="38100"/>
            </a:xfrm>
            <a:prstGeom prst="roundRect">
              <a:avLst>
                <a:gd name="adj" fmla="val 50000"/>
              </a:avLst>
            </a:prstGeom>
            <a:solidFill>
              <a:srgbClr val="F87171"/>
            </a:solidFill>
            <a:ln>
              <a:noFill/>
            </a:ln>
          </p:spPr>
        </p:sp>
        <p:sp>
          <p:nvSpPr>
            <p:cNvPr id="54" name="TextBox 54"/>
            <p:cNvSpPr txBox="1"/>
            <p:nvPr/>
          </p:nvSpPr>
          <p:spPr>
            <a:xfrm>
              <a:off x="10301288" y="2168366"/>
              <a:ext cx="413380" cy="161925"/>
            </a:xfrm>
            <a:prstGeom prst="rect">
              <a:avLst/>
            </a:prstGeom>
            <a:noFill/>
            <a:ln>
              <a:noFill/>
            </a:ln>
          </p:spPr>
          <p:txBody>
            <a:bodyPr wrap="none" lIns="0" tIns="0" rIns="0" bIns="0" anchor="t" anchorCtr="0">
              <a:spAutoFit/>
            </a:bodyPr>
            <a:lstStyle/>
            <a:p>
              <a:pPr algn="l"/>
              <a:r>
                <a:rPr lang="en-US" sz="820" dirty="0">
                  <a:solidFill>
                    <a:srgbClr val="9FB0CC"/>
                  </a:solidFill>
                  <a:latin typeface="+mn-lt"/>
                  <a:ea typeface="+mn-ea"/>
                  <a:cs typeface="+mn-cs"/>
                </a:rPr>
                <a:t>kNN-LM</a:t>
              </a:r>
            </a:p>
          </p:txBody>
        </p:sp>
        <p:sp>
          <p:nvSpPr>
            <p:cNvPr id="55" name="Rectangle 55"/>
            <p:cNvSpPr/>
            <p:nvPr/>
          </p:nvSpPr>
          <p:spPr>
            <a:xfrm>
              <a:off x="10134600" y="2381250"/>
              <a:ext cx="133350" cy="38100"/>
            </a:xfrm>
            <a:prstGeom prst="roundRect">
              <a:avLst>
                <a:gd name="adj" fmla="val 50000"/>
              </a:avLst>
            </a:prstGeom>
            <a:solidFill>
              <a:srgbClr val="34D399"/>
            </a:solidFill>
            <a:ln>
              <a:noFill/>
            </a:ln>
          </p:spPr>
        </p:sp>
        <p:sp>
          <p:nvSpPr>
            <p:cNvPr id="56" name="TextBox 56"/>
            <p:cNvSpPr txBox="1"/>
            <p:nvPr/>
          </p:nvSpPr>
          <p:spPr>
            <a:xfrm>
              <a:off x="10301288" y="2339816"/>
              <a:ext cx="585176" cy="161925"/>
            </a:xfrm>
            <a:prstGeom prst="rect">
              <a:avLst/>
            </a:prstGeom>
            <a:noFill/>
            <a:ln>
              <a:noFill/>
            </a:ln>
          </p:spPr>
          <p:txBody>
            <a:bodyPr wrap="none" lIns="0" tIns="0" rIns="0" bIns="0" anchor="t" anchorCtr="0">
              <a:spAutoFit/>
            </a:bodyPr>
            <a:lstStyle/>
            <a:p>
              <a:pPr algn="l"/>
              <a:r>
                <a:rPr lang="en-US" sz="820" dirty="0">
                  <a:solidFill>
                    <a:srgbClr val="9FB0CC"/>
                  </a:solidFill>
                  <a:latin typeface="+mn-lt"/>
                  <a:ea typeface="+mn-ea"/>
                  <a:cs typeface="+mn-cs"/>
                </a:rPr>
                <a:t>RetoMaton</a:t>
              </a:r>
            </a:p>
          </p:txBody>
        </p:sp>
        <p:sp>
          <p:nvSpPr>
            <p:cNvPr id="57" name="TextBox 57"/>
            <p:cNvSpPr txBox="1"/>
            <p:nvPr/>
          </p:nvSpPr>
          <p:spPr>
            <a:xfrm>
              <a:off x="6415088" y="4131945"/>
              <a:ext cx="2892135" cy="176212"/>
            </a:xfrm>
            <a:prstGeom prst="rect">
              <a:avLst/>
            </a:prstGeom>
            <a:noFill/>
            <a:ln>
              <a:noFill/>
            </a:ln>
          </p:spPr>
          <p:txBody>
            <a:bodyPr wrap="none" lIns="0" tIns="0" rIns="0" bIns="0" anchor="t" anchorCtr="0">
              <a:spAutoFit/>
            </a:bodyPr>
            <a:lstStyle/>
            <a:p>
              <a:pPr algn="l"/>
              <a:r>
                <a:rPr lang="en-US" sz="900" b="1" dirty="0">
                  <a:solidFill>
                    <a:srgbClr val="34D399"/>
                  </a:solidFill>
                  <a:latin typeface="+mn-lt"/>
                  <a:ea typeface="+mn-ea"/>
                  <a:cs typeface="+mn-cs"/>
                </a:rPr>
                <a:t>12.34 → 10.49 at FoSS=0; degrades only gently</a:t>
              </a:r>
            </a:p>
          </p:txBody>
        </p:sp>
      </p:grpSp>
      <p:grpSp>
        <p:nvGrpSpPr>
          <p:cNvPr id="71" name="Group 71"/>
          <p:cNvGrpSpPr/>
          <p:nvPr/>
        </p:nvGrpSpPr>
        <p:grpSpPr>
          <a:xfrm>
            <a:off x="609600" y="4667250"/>
            <a:ext cx="10972800" cy="1200150"/>
            <a:chOff x="609600" y="4667250"/>
            <a:chExt cx="10972800" cy="1200150"/>
          </a:xfrm>
        </p:grpSpPr>
        <p:sp>
          <p:nvSpPr>
            <p:cNvPr id="59" name="Rectangle 59"/>
            <p:cNvSpPr/>
            <p:nvPr/>
          </p:nvSpPr>
          <p:spPr>
            <a:xfrm>
              <a:off x="609600" y="4667250"/>
              <a:ext cx="10972800" cy="1200150"/>
            </a:xfrm>
            <a:prstGeom prst="roundRect">
              <a:avLst>
                <a:gd name="adj" fmla="val 11111"/>
              </a:avLst>
            </a:prstGeom>
            <a:solidFill>
              <a:schemeClr val="accent5"/>
            </a:solidFill>
            <a:ln w="14288">
              <a:solidFill>
                <a:srgbClr val="34D399"/>
              </a:solidFill>
            </a:ln>
          </p:spPr>
        </p:sp>
        <p:sp>
          <p:nvSpPr>
            <p:cNvPr id="60" name="TextBox 60"/>
            <p:cNvSpPr txBox="1"/>
            <p:nvPr/>
          </p:nvSpPr>
          <p:spPr>
            <a:xfrm>
              <a:off x="850773" y="4834414"/>
              <a:ext cx="4931650" cy="249364"/>
            </a:xfrm>
            <a:prstGeom prst="rect">
              <a:avLst/>
            </a:prstGeom>
            <a:noFill/>
            <a:ln>
              <a:noFill/>
            </a:ln>
          </p:spPr>
          <p:txBody>
            <a:bodyPr wrap="none" lIns="0" tIns="0" rIns="0" bIns="0" anchor="t" anchorCtr="0">
              <a:spAutoFit/>
            </a:bodyPr>
            <a:lstStyle/>
            <a:p>
              <a:pPr algn="l"/>
              <a:r>
                <a:rPr lang="en-US" sz="1280" b="1" dirty="0">
                  <a:solidFill>
                    <a:srgbClr val="34D399"/>
                  </a:solidFill>
                  <a:latin typeface="+mn-lt"/>
                  <a:ea typeface="+mn-ea"/>
                  <a:cs typeface="+mn-cs"/>
                </a:rPr>
                <a:t>Overall: two ways to spend the automaton's advantage</a:t>
              </a:r>
            </a:p>
          </p:txBody>
        </p:sp>
        <p:sp>
          <p:nvSpPr>
            <p:cNvPr id="61" name="TextBox 61"/>
            <p:cNvSpPr txBox="1"/>
            <p:nvPr/>
          </p:nvSpPr>
          <p:spPr>
            <a:xfrm>
              <a:off x="1415796" y="5287328"/>
              <a:ext cx="1017132" cy="498729"/>
            </a:xfrm>
            <a:prstGeom prst="rect">
              <a:avLst/>
            </a:prstGeom>
            <a:noFill/>
            <a:ln>
              <a:noFill/>
            </a:ln>
          </p:spPr>
          <p:txBody>
            <a:bodyPr wrap="none" lIns="0" tIns="0" rIns="0" bIns="0" anchor="t" anchorCtr="0">
              <a:spAutoFit/>
            </a:bodyPr>
            <a:lstStyle/>
            <a:p>
              <a:pPr algn="l"/>
              <a:r>
                <a:rPr lang="en-US" sz="2550" b="1" dirty="0">
                  <a:solidFill>
                    <a:srgbClr val="34D399"/>
                  </a:solidFill>
                  <a:latin typeface="+mn-lt"/>
                  <a:ea typeface="+mn-ea"/>
                  <a:cs typeface="+mn-cs"/>
                </a:rPr>
                <a:t>−1.85</a:t>
              </a:r>
            </a:p>
          </p:txBody>
        </p:sp>
        <p:sp>
          <p:nvSpPr>
            <p:cNvPr id="62" name="TextBox 62"/>
            <p:cNvSpPr txBox="1"/>
            <p:nvPr/>
          </p:nvSpPr>
          <p:spPr>
            <a:xfrm>
              <a:off x="2566035" y="5326856"/>
              <a:ext cx="1217625"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lower perplexity</a:t>
              </a:r>
            </a:p>
          </p:txBody>
        </p:sp>
        <p:sp>
          <p:nvSpPr>
            <p:cNvPr id="63" name="TextBox 63"/>
            <p:cNvSpPr txBox="1"/>
            <p:nvPr/>
          </p:nvSpPr>
          <p:spPr>
            <a:xfrm>
              <a:off x="2566797" y="5552599"/>
              <a:ext cx="2015206"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when the search budget is kept</a:t>
              </a:r>
            </a:p>
          </p:txBody>
        </p:sp>
        <p:sp>
          <p:nvSpPr>
            <p:cNvPr id="64" name="Line 64"/>
            <p:cNvSpPr/>
            <p:nvPr/>
          </p:nvSpPr>
          <p:spPr>
            <a:xfrm>
              <a:off x="5334000" y="5143500"/>
              <a:ext cx="9525" cy="571500"/>
            </a:xfrm>
            <a:custGeom>
              <a:avLst/>
              <a:gdLst/>
              <a:ahLst/>
              <a:cxnLst/>
              <a:rect l="l" t="t" r="r" b="b"/>
              <a:pathLst>
                <a:path w="9525" h="571500">
                  <a:moveTo>
                    <a:pt x="0" y="0"/>
                  </a:moveTo>
                  <a:lnTo>
                    <a:pt x="0" y="571500"/>
                  </a:lnTo>
                </a:path>
              </a:pathLst>
            </a:custGeom>
            <a:noFill/>
            <a:ln w="13335" cap="rnd">
              <a:solidFill>
                <a:srgbClr val="2C3D63"/>
              </a:solidFill>
            </a:ln>
          </p:spPr>
        </p:sp>
        <p:sp>
          <p:nvSpPr>
            <p:cNvPr id="65" name="TextBox 65"/>
            <p:cNvSpPr txBox="1"/>
            <p:nvPr/>
          </p:nvSpPr>
          <p:spPr>
            <a:xfrm>
              <a:off x="6083046" y="5287328"/>
              <a:ext cx="692731" cy="498729"/>
            </a:xfrm>
            <a:prstGeom prst="rect">
              <a:avLst/>
            </a:prstGeom>
            <a:noFill/>
            <a:ln>
              <a:noFill/>
            </a:ln>
          </p:spPr>
          <p:txBody>
            <a:bodyPr wrap="none" lIns="0" tIns="0" rIns="0" bIns="0" anchor="t" anchorCtr="0">
              <a:spAutoFit/>
            </a:bodyPr>
            <a:lstStyle/>
            <a:p>
              <a:pPr algn="l"/>
              <a:r>
                <a:rPr lang="en-US" sz="2550" b="1" dirty="0">
                  <a:solidFill>
                    <a:srgbClr val="34D399"/>
                  </a:solidFill>
                  <a:latin typeface="+mn-lt"/>
                  <a:ea typeface="+mn-ea"/>
                  <a:cs typeface="+mn-cs"/>
                </a:rPr>
                <a:t>83%</a:t>
              </a:r>
            </a:p>
          </p:txBody>
        </p:sp>
        <p:sp>
          <p:nvSpPr>
            <p:cNvPr id="66" name="TextBox 66"/>
            <p:cNvSpPr txBox="1"/>
            <p:nvPr/>
          </p:nvSpPr>
          <p:spPr>
            <a:xfrm>
              <a:off x="6947535" y="5326856"/>
              <a:ext cx="113469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searches saved</a:t>
              </a:r>
            </a:p>
          </p:txBody>
        </p:sp>
        <p:sp>
          <p:nvSpPr>
            <p:cNvPr id="67" name="TextBox 67"/>
            <p:cNvSpPr txBox="1"/>
            <p:nvPr/>
          </p:nvSpPr>
          <p:spPr>
            <a:xfrm>
              <a:off x="6948297" y="5552599"/>
              <a:ext cx="1626019"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with no loss in perplexity</a:t>
              </a:r>
            </a:p>
          </p:txBody>
        </p:sp>
        <p:sp>
          <p:nvSpPr>
            <p:cNvPr id="68" name="Line 68"/>
            <p:cNvSpPr/>
            <p:nvPr/>
          </p:nvSpPr>
          <p:spPr>
            <a:xfrm>
              <a:off x="9315450" y="5143500"/>
              <a:ext cx="9525" cy="571500"/>
            </a:xfrm>
            <a:custGeom>
              <a:avLst/>
              <a:gdLst/>
              <a:ahLst/>
              <a:cxnLst/>
              <a:rect l="l" t="t" r="r" b="b"/>
              <a:pathLst>
                <a:path w="9525" h="571500">
                  <a:moveTo>
                    <a:pt x="0" y="0"/>
                  </a:moveTo>
                  <a:lnTo>
                    <a:pt x="0" y="571500"/>
                  </a:lnTo>
                </a:path>
              </a:pathLst>
            </a:custGeom>
            <a:noFill/>
            <a:ln w="13335" cap="rnd">
              <a:solidFill>
                <a:srgbClr val="2C3D63"/>
              </a:solidFill>
            </a:ln>
          </p:spPr>
        </p:sp>
        <p:sp>
          <p:nvSpPr>
            <p:cNvPr id="69" name="TextBox 69"/>
            <p:cNvSpPr txBox="1"/>
            <p:nvPr/>
          </p:nvSpPr>
          <p:spPr>
            <a:xfrm>
              <a:off x="9482138" y="5289947"/>
              <a:ext cx="1427610" cy="183356"/>
            </a:xfrm>
            <a:prstGeom prst="rect">
              <a:avLst/>
            </a:prstGeom>
            <a:noFill/>
            <a:ln>
              <a:noFill/>
            </a:ln>
          </p:spPr>
          <p:txBody>
            <a:bodyPr wrap="none" lIns="0" tIns="0" rIns="0" bIns="0" anchor="t" anchorCtr="0">
              <a:spAutoFit/>
            </a:bodyPr>
            <a:lstStyle/>
            <a:p>
              <a:pPr algn="l"/>
              <a:r>
                <a:rPr lang="en-US" sz="940" dirty="0">
                  <a:solidFill>
                    <a:srgbClr val="9FB0CC"/>
                  </a:solidFill>
                  <a:latin typeface="+mn-lt"/>
                  <a:ea typeface="+mn-ea"/>
                  <a:cs typeface="+mn-cs"/>
                </a:rPr>
                <a:t>WikiText 16.65 → 16.08</a:t>
              </a:r>
            </a:p>
          </p:txBody>
        </p:sp>
        <p:sp>
          <p:nvSpPr>
            <p:cNvPr id="70" name="TextBox 70"/>
            <p:cNvSpPr txBox="1"/>
            <p:nvPr/>
          </p:nvSpPr>
          <p:spPr>
            <a:xfrm>
              <a:off x="9482138" y="5537597"/>
              <a:ext cx="1532432" cy="183356"/>
            </a:xfrm>
            <a:prstGeom prst="rect">
              <a:avLst/>
            </a:prstGeom>
            <a:noFill/>
            <a:ln>
              <a:noFill/>
            </a:ln>
          </p:spPr>
          <p:txBody>
            <a:bodyPr wrap="none" lIns="0" tIns="0" rIns="0" bIns="0" anchor="t" anchorCtr="0">
              <a:spAutoFit/>
            </a:bodyPr>
            <a:lstStyle/>
            <a:p>
              <a:pPr algn="l"/>
              <a:r>
                <a:rPr lang="en-US" sz="940" dirty="0">
                  <a:solidFill>
                    <a:srgbClr val="9FB0CC"/>
                  </a:solidFill>
                  <a:latin typeface="+mn-lt"/>
                  <a:ea typeface="+mn-ea"/>
                  <a:cs typeface="+mn-cs"/>
                </a:rPr>
                <a:t>kNN-LM ppl rises sharply</a:t>
              </a:r>
            </a:p>
          </p:txBody>
        </p:sp>
      </p:grpSp>
      <p:sp>
        <p:nvSpPr>
          <p:cNvPr id="72" name="TextBox 72"/>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73" name="cue_s07_c1_results_strong_both_regimes" title="cue_s07_c1_results_strong_both_regimes" descr="cue_s07_c1_results_strong_both_regimes The results are strong in both regimes."/>
          <p:cNvSpPr/>
          <p:nvPr/>
        </p:nvSpPr>
        <p:spPr>
          <a:xfrm>
            <a:off x="609600" y="110482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7_c2_wikitext_103_retomaton_matches_perpl" title="cue_s07_c2_wikitext_103_retomaton_matches_perpl" descr="cue_s07_c2_wikitext_103_retomaton_matches_perpl On WikiText-103, RetoMaton matches the perplexity of kNN-LM while skipping eighty-one percent of the searches, and even when it performs a search at every step it still lowers perplexity, because the carried-over pointers reinforce the correct neighbors."/>
          <p:cNvSpPr/>
          <p:nvPr/>
        </p:nvSpPr>
        <p:spPr>
          <a:xfrm>
            <a:off x="490118" y="1790623"/>
            <a:ext cx="5491276"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7_c3_law_mt_domain_adaptation_task_gains" title="cue_s07_c3_law_mt_domain_adaptation_task_gains" descr="cue_s07_c3_law_mt_domain_adaptation_task_gains On the Law-MT domain-adaptation task the gains are larger and much more robust: perplexity drops from twelve point three four to ten point four nine, and as more searches are saved RetoMaton's perplexity climbs only very gently while plain kNN-LM's perplexity"/>
          <p:cNvSpPr/>
          <p:nvPr/>
        </p:nvSpPr>
        <p:spPr>
          <a:xfrm>
            <a:off x="6091123" y="1790623"/>
            <a:ext cx="5491276" cy="27239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7_c4_overall_automaton_either_cuts_perple" title="cue_s07_c4_overall_automaton_either_cuts_perple" descr="cue_s07_c4_overall_automaton_either_cuts_perple Overall the automaton either cuts perplexity by up to one point eight five, or saves up to eighty-three percent of the searches with no loss."/>
          <p:cNvSpPr/>
          <p:nvPr/>
        </p:nvSpPr>
        <p:spPr>
          <a:xfrm>
            <a:off x="609600" y="4667554"/>
            <a:ext cx="10972800" cy="1200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F5B642"/>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F5B642"/>
                </a:solidFill>
                <a:latin typeface="+mn-lt"/>
                <a:ea typeface="+mn-ea"/>
                <a:cs typeface="+mn-cs"/>
              </a:rPr>
              <a:t>08</a:t>
            </a:r>
          </a:p>
        </p:txBody>
      </p:sp>
      <p:sp>
        <p:nvSpPr>
          <p:cNvPr id="5" name="TextBox 5"/>
          <p:cNvSpPr txBox="1"/>
          <p:nvPr/>
        </p:nvSpPr>
        <p:spPr>
          <a:xfrm>
            <a:off x="826770" y="519112"/>
            <a:ext cx="519035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Ablation: Pointers vs. Clustering</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9" name="Group 9"/>
          <p:cNvGrpSpPr/>
          <p:nvPr/>
        </p:nvGrpSpPr>
        <p:grpSpPr>
          <a:xfrm>
            <a:off x="609600" y="1104900"/>
            <a:ext cx="10972800" cy="533400"/>
            <a:chOff x="609600" y="1104900"/>
            <a:chExt cx="10972800" cy="533400"/>
          </a:xfrm>
        </p:grpSpPr>
        <p:sp>
          <p:nvSpPr>
            <p:cNvPr id="7" name="Rectangle 7"/>
            <p:cNvSpPr/>
            <p:nvPr/>
          </p:nvSpPr>
          <p:spPr>
            <a:xfrm>
              <a:off x="609600" y="1104900"/>
              <a:ext cx="10972800" cy="533400"/>
            </a:xfrm>
            <a:prstGeom prst="roundRect">
              <a:avLst>
                <a:gd name="adj" fmla="val 21429"/>
              </a:avLst>
            </a:prstGeom>
            <a:solidFill>
              <a:schemeClr val="accent6"/>
            </a:solidFill>
            <a:ln w="12382">
              <a:solidFill>
                <a:srgbClr val="F5B642"/>
              </a:solidFill>
            </a:ln>
          </p:spPr>
        </p:sp>
        <p:sp>
          <p:nvSpPr>
            <p:cNvPr id="8" name="TextBox 8"/>
            <p:cNvSpPr txBox="1"/>
            <p:nvPr/>
          </p:nvSpPr>
          <p:spPr>
            <a:xfrm>
              <a:off x="851154" y="1299210"/>
              <a:ext cx="787969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ablation teases apart the two ingredients that make RetoMaton work: pointers and clustering.</a:t>
              </a:r>
            </a:p>
          </p:txBody>
        </p:sp>
      </p:grpSp>
      <p:grpSp>
        <p:nvGrpSpPr>
          <p:cNvPr id="20" name="Group 20"/>
          <p:cNvGrpSpPr/>
          <p:nvPr/>
        </p:nvGrpSpPr>
        <p:grpSpPr>
          <a:xfrm>
            <a:off x="609600" y="1771650"/>
            <a:ext cx="5372100" cy="2012823"/>
            <a:chOff x="609600" y="1771650"/>
            <a:chExt cx="5372100" cy="2012823"/>
          </a:xfrm>
        </p:grpSpPr>
        <p:sp>
          <p:nvSpPr>
            <p:cNvPr id="10" name="Rectangle 10"/>
            <p:cNvSpPr/>
            <p:nvPr/>
          </p:nvSpPr>
          <p:spPr>
            <a:xfrm>
              <a:off x="609600" y="1771650"/>
              <a:ext cx="5372100" cy="1981200"/>
            </a:xfrm>
            <a:prstGeom prst="roundRect">
              <a:avLst>
                <a:gd name="adj" fmla="val 6731"/>
              </a:avLst>
            </a:prstGeom>
            <a:solidFill>
              <a:schemeClr val="accent5"/>
            </a:solidFill>
            <a:ln w="14288">
              <a:solidFill>
                <a:srgbClr val="2C3D63"/>
              </a:solidFill>
            </a:ln>
          </p:spPr>
        </p:sp>
        <p:sp>
          <p:nvSpPr>
            <p:cNvPr id="11" name="Rectangle 11"/>
            <p:cNvSpPr/>
            <p:nvPr/>
          </p:nvSpPr>
          <p:spPr>
            <a:xfrm>
              <a:off x="609600" y="1771650"/>
              <a:ext cx="57150" cy="1981200"/>
            </a:xfrm>
            <a:prstGeom prst="roundRect">
              <a:avLst>
                <a:gd name="adj" fmla="val 50000"/>
              </a:avLst>
            </a:prstGeom>
            <a:solidFill>
              <a:srgbClr val="F5B642"/>
            </a:solidFill>
            <a:ln>
              <a:noFill/>
            </a:ln>
          </p:spPr>
        </p:sp>
        <p:sp>
          <p:nvSpPr>
            <p:cNvPr id="12" name="TextBox 12"/>
            <p:cNvSpPr txBox="1"/>
            <p:nvPr/>
          </p:nvSpPr>
          <p:spPr>
            <a:xfrm>
              <a:off x="907923" y="1957864"/>
              <a:ext cx="2687703" cy="249364"/>
            </a:xfrm>
            <a:prstGeom prst="rect">
              <a:avLst/>
            </a:prstGeom>
            <a:noFill/>
            <a:ln>
              <a:noFill/>
            </a:ln>
          </p:spPr>
          <p:txBody>
            <a:bodyPr wrap="none" lIns="0" tIns="0" rIns="0" bIns="0" anchor="t" anchorCtr="0">
              <a:spAutoFit/>
            </a:bodyPr>
            <a:lstStyle/>
            <a:p>
              <a:pPr algn="l"/>
              <a:r>
                <a:rPr lang="en-US" sz="1280" b="1" dirty="0">
                  <a:solidFill>
                    <a:srgbClr val="F5B642"/>
                  </a:solidFill>
                  <a:latin typeface="+mn-lt"/>
                  <a:ea typeface="+mn-ea"/>
                  <a:cs typeface="+mn-cs"/>
                </a:rPr>
                <a:t>Pointers alone (no clustering)</a:t>
              </a:r>
            </a:p>
          </p:txBody>
        </p:sp>
        <p:sp>
          <p:nvSpPr>
            <p:cNvPr id="13" name="TextBox 13"/>
            <p:cNvSpPr txBox="1"/>
            <p:nvPr/>
          </p:nvSpPr>
          <p:spPr>
            <a:xfrm>
              <a:off x="908876" y="2244804"/>
              <a:ext cx="2979906"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Already beats every baseline and matches</a:t>
              </a:r>
            </a:p>
          </p:txBody>
        </p:sp>
        <p:sp>
          <p:nvSpPr>
            <p:cNvPr id="14" name="TextBox 14"/>
            <p:cNvSpPr txBox="1"/>
            <p:nvPr/>
          </p:nvSpPr>
          <p:spPr>
            <a:xfrm>
              <a:off x="908876" y="2444829"/>
              <a:ext cx="2994769"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kNN-LM. Pointers drive most of the gain.</a:t>
              </a:r>
            </a:p>
          </p:txBody>
        </p:sp>
        <p:sp>
          <p:nvSpPr>
            <p:cNvPr id="15" name="TextBox 15"/>
            <p:cNvSpPr txBox="1"/>
            <p:nvPr/>
          </p:nvSpPr>
          <p:spPr>
            <a:xfrm>
              <a:off x="902208" y="2846070"/>
              <a:ext cx="957301" cy="469392"/>
            </a:xfrm>
            <a:prstGeom prst="rect">
              <a:avLst/>
            </a:prstGeom>
            <a:noFill/>
            <a:ln>
              <a:noFill/>
            </a:ln>
          </p:spPr>
          <p:txBody>
            <a:bodyPr wrap="none" lIns="0" tIns="0" rIns="0" bIns="0" anchor="t" anchorCtr="0">
              <a:spAutoFit/>
            </a:bodyPr>
            <a:lstStyle/>
            <a:p>
              <a:pPr algn="l"/>
              <a:r>
                <a:rPr lang="en-US" sz="2400" b="1" dirty="0">
                  <a:solidFill>
                    <a:srgbClr val="34D399"/>
                  </a:solidFill>
                  <a:latin typeface="+mn-lt"/>
                  <a:ea typeface="+mn-ea"/>
                  <a:cs typeface="+mn-cs"/>
                </a:rPr>
                <a:t>16.12</a:t>
              </a:r>
            </a:p>
          </p:txBody>
        </p:sp>
        <p:sp>
          <p:nvSpPr>
            <p:cNvPr id="16" name="TextBox 16"/>
            <p:cNvSpPr txBox="1"/>
            <p:nvPr/>
          </p:nvSpPr>
          <p:spPr>
            <a:xfrm>
              <a:off x="1994916" y="2915602"/>
              <a:ext cx="71742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perplexity</a:t>
              </a:r>
            </a:p>
          </p:txBody>
        </p:sp>
        <p:sp>
          <p:nvSpPr>
            <p:cNvPr id="17" name="TextBox 17"/>
            <p:cNvSpPr txBox="1"/>
            <p:nvPr/>
          </p:nvSpPr>
          <p:spPr>
            <a:xfrm>
              <a:off x="1995488" y="3122295"/>
              <a:ext cx="669836" cy="176212"/>
            </a:xfrm>
            <a:prstGeom prst="rect">
              <a:avLst/>
            </a:prstGeom>
            <a:noFill/>
            <a:ln>
              <a:noFill/>
            </a:ln>
          </p:spPr>
          <p:txBody>
            <a:bodyPr wrap="none" lIns="0" tIns="0" rIns="0" bIns="0" anchor="t" anchorCtr="0">
              <a:spAutoFit/>
            </a:bodyPr>
            <a:lstStyle/>
            <a:p>
              <a:pPr algn="l"/>
              <a:r>
                <a:rPr lang="en-US" sz="900" dirty="0">
                  <a:solidFill>
                    <a:srgbClr val="9FB0CC"/>
                  </a:solidFill>
                  <a:latin typeface="+mn-lt"/>
                  <a:ea typeface="+mn-ea"/>
                  <a:cs typeface="+mn-cs"/>
                </a:rPr>
                <a:t>at FoSS = 0</a:t>
              </a:r>
            </a:p>
          </p:txBody>
        </p:sp>
        <p:sp>
          <p:nvSpPr>
            <p:cNvPr id="18" name="TextBox 18"/>
            <p:cNvSpPr txBox="1"/>
            <p:nvPr/>
          </p:nvSpPr>
          <p:spPr>
            <a:xfrm>
              <a:off x="903732" y="3373755"/>
              <a:ext cx="733745" cy="410718"/>
            </a:xfrm>
            <a:prstGeom prst="rect">
              <a:avLst/>
            </a:prstGeom>
            <a:noFill/>
            <a:ln>
              <a:noFill/>
            </a:ln>
          </p:spPr>
          <p:txBody>
            <a:bodyPr wrap="none" lIns="0" tIns="0" rIns="0" bIns="0" anchor="t" anchorCtr="0">
              <a:spAutoFit/>
            </a:bodyPr>
            <a:lstStyle/>
            <a:p>
              <a:pPr algn="l"/>
              <a:r>
                <a:rPr lang="en-US" sz="2100" b="1" dirty="0">
                  <a:solidFill>
                    <a:srgbClr val="34D399"/>
                  </a:solidFill>
                  <a:latin typeface="+mn-lt"/>
                  <a:ea typeface="+mn-ea"/>
                  <a:cs typeface="+mn-cs"/>
                </a:rPr>
                <a:t>&gt;60%</a:t>
              </a:r>
            </a:p>
          </p:txBody>
        </p:sp>
        <p:sp>
          <p:nvSpPr>
            <p:cNvPr id="19" name="TextBox 19"/>
            <p:cNvSpPr txBox="1"/>
            <p:nvPr/>
          </p:nvSpPr>
          <p:spPr>
            <a:xfrm>
              <a:off x="1995297" y="3495199"/>
              <a:ext cx="2450567"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searches saved at matched perplexity</a:t>
              </a:r>
            </a:p>
          </p:txBody>
        </p:sp>
      </p:grpSp>
      <p:grpSp>
        <p:nvGrpSpPr>
          <p:cNvPr id="36" name="Group 36"/>
          <p:cNvGrpSpPr/>
          <p:nvPr/>
        </p:nvGrpSpPr>
        <p:grpSpPr>
          <a:xfrm>
            <a:off x="6210300" y="1771650"/>
            <a:ext cx="5372100" cy="2060257"/>
            <a:chOff x="6210300" y="1771650"/>
            <a:chExt cx="5372100" cy="2060257"/>
          </a:xfrm>
        </p:grpSpPr>
        <p:sp>
          <p:nvSpPr>
            <p:cNvPr id="21" name="Rectangle 21"/>
            <p:cNvSpPr/>
            <p:nvPr/>
          </p:nvSpPr>
          <p:spPr>
            <a:xfrm>
              <a:off x="6210300" y="1771650"/>
              <a:ext cx="5372100" cy="1981200"/>
            </a:xfrm>
            <a:prstGeom prst="roundRect">
              <a:avLst>
                <a:gd name="adj" fmla="val 6731"/>
              </a:avLst>
            </a:prstGeom>
            <a:solidFill>
              <a:schemeClr val="accent5"/>
            </a:solidFill>
            <a:ln w="14288">
              <a:solidFill>
                <a:srgbClr val="2C3D63"/>
              </a:solidFill>
            </a:ln>
          </p:spPr>
        </p:sp>
        <p:sp>
          <p:nvSpPr>
            <p:cNvPr id="22" name="Rectangle 22"/>
            <p:cNvSpPr/>
            <p:nvPr/>
          </p:nvSpPr>
          <p:spPr>
            <a:xfrm>
              <a:off x="6210300" y="1771650"/>
              <a:ext cx="57150" cy="1981200"/>
            </a:xfrm>
            <a:prstGeom prst="roundRect">
              <a:avLst>
                <a:gd name="adj" fmla="val 50000"/>
              </a:avLst>
            </a:prstGeom>
            <a:solidFill>
              <a:schemeClr val="accent2"/>
            </a:solidFill>
            <a:ln>
              <a:noFill/>
            </a:ln>
          </p:spPr>
        </p:sp>
        <p:sp>
          <p:nvSpPr>
            <p:cNvPr id="23" name="TextBox 23"/>
            <p:cNvSpPr txBox="1"/>
            <p:nvPr/>
          </p:nvSpPr>
          <p:spPr>
            <a:xfrm>
              <a:off x="6508623" y="1957864"/>
              <a:ext cx="26963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Clustering helps at high saving</a:t>
              </a:r>
            </a:p>
          </p:txBody>
        </p:sp>
        <p:sp>
          <p:nvSpPr>
            <p:cNvPr id="24" name="TextBox 24"/>
            <p:cNvSpPr txBox="1"/>
            <p:nvPr/>
          </p:nvSpPr>
          <p:spPr>
            <a:xfrm>
              <a:off x="6509576" y="2244804"/>
              <a:ext cx="3281356"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Contributes mainly from ≈70% saved searches</a:t>
              </a:r>
            </a:p>
          </p:txBody>
        </p:sp>
        <p:sp>
          <p:nvSpPr>
            <p:cNvPr id="25" name="TextBox 25"/>
            <p:cNvSpPr txBox="1"/>
            <p:nvPr/>
          </p:nvSpPr>
          <p:spPr>
            <a:xfrm>
              <a:off x="6509576" y="2444829"/>
              <a:ext cx="3092501"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onward, enabling longer search-free runs.</a:t>
              </a:r>
            </a:p>
          </p:txBody>
        </p:sp>
        <p:sp>
          <p:nvSpPr>
            <p:cNvPr id="26" name="Rectangle 26"/>
            <p:cNvSpPr/>
            <p:nvPr/>
          </p:nvSpPr>
          <p:spPr>
            <a:xfrm>
              <a:off x="6667500" y="3448050"/>
              <a:ext cx="533400" cy="171450"/>
            </a:xfrm>
            <a:prstGeom prst="roundRect">
              <a:avLst>
                <a:gd name="adj" fmla="val 27778"/>
              </a:avLst>
            </a:prstGeom>
            <a:solidFill>
              <a:schemeClr val="accent2"/>
            </a:solidFill>
            <a:ln>
              <a:noFill/>
            </a:ln>
          </p:spPr>
        </p:sp>
        <p:sp>
          <p:nvSpPr>
            <p:cNvPr id="27" name="TextBox 27"/>
            <p:cNvSpPr txBox="1"/>
            <p:nvPr/>
          </p:nvSpPr>
          <p:spPr>
            <a:xfrm>
              <a:off x="6829482" y="3655695"/>
              <a:ext cx="209436"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0.3</a:t>
              </a:r>
            </a:p>
          </p:txBody>
        </p:sp>
        <p:sp>
          <p:nvSpPr>
            <p:cNvPr id="28" name="Rectangle 28"/>
            <p:cNvSpPr/>
            <p:nvPr/>
          </p:nvSpPr>
          <p:spPr>
            <a:xfrm>
              <a:off x="7581900" y="3295650"/>
              <a:ext cx="533400" cy="323850"/>
            </a:xfrm>
            <a:prstGeom prst="roundRect">
              <a:avLst>
                <a:gd name="adj" fmla="val 14706"/>
              </a:avLst>
            </a:prstGeom>
            <a:solidFill>
              <a:schemeClr val="accent2"/>
            </a:solidFill>
            <a:ln>
              <a:noFill/>
            </a:ln>
          </p:spPr>
        </p:sp>
        <p:sp>
          <p:nvSpPr>
            <p:cNvPr id="29" name="TextBox 29"/>
            <p:cNvSpPr txBox="1"/>
            <p:nvPr/>
          </p:nvSpPr>
          <p:spPr>
            <a:xfrm>
              <a:off x="7743882" y="3655695"/>
              <a:ext cx="209436"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0.5</a:t>
              </a:r>
            </a:p>
          </p:txBody>
        </p:sp>
        <p:sp>
          <p:nvSpPr>
            <p:cNvPr id="30" name="Rectangle 30"/>
            <p:cNvSpPr/>
            <p:nvPr/>
          </p:nvSpPr>
          <p:spPr>
            <a:xfrm>
              <a:off x="8496300" y="3009900"/>
              <a:ext cx="533400" cy="609600"/>
            </a:xfrm>
            <a:prstGeom prst="roundRect">
              <a:avLst>
                <a:gd name="adj" fmla="val 8929"/>
              </a:avLst>
            </a:prstGeom>
            <a:solidFill>
              <a:schemeClr val="accent2"/>
            </a:solidFill>
            <a:ln>
              <a:noFill/>
            </a:ln>
          </p:spPr>
        </p:sp>
        <p:sp>
          <p:nvSpPr>
            <p:cNvPr id="31" name="TextBox 31"/>
            <p:cNvSpPr txBox="1"/>
            <p:nvPr/>
          </p:nvSpPr>
          <p:spPr>
            <a:xfrm>
              <a:off x="8658282" y="3655695"/>
              <a:ext cx="209436"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0.7</a:t>
              </a:r>
            </a:p>
          </p:txBody>
        </p:sp>
        <p:sp>
          <p:nvSpPr>
            <p:cNvPr id="32" name="Rectangle 32"/>
            <p:cNvSpPr/>
            <p:nvPr/>
          </p:nvSpPr>
          <p:spPr>
            <a:xfrm>
              <a:off x="9410700" y="2743200"/>
              <a:ext cx="533400" cy="876300"/>
            </a:xfrm>
            <a:prstGeom prst="roundRect">
              <a:avLst>
                <a:gd name="adj" fmla="val 8929"/>
              </a:avLst>
            </a:prstGeom>
            <a:solidFill>
              <a:schemeClr val="accent2"/>
            </a:solidFill>
            <a:ln>
              <a:noFill/>
            </a:ln>
          </p:spPr>
        </p:sp>
        <p:sp>
          <p:nvSpPr>
            <p:cNvPr id="33" name="TextBox 33"/>
            <p:cNvSpPr txBox="1"/>
            <p:nvPr/>
          </p:nvSpPr>
          <p:spPr>
            <a:xfrm>
              <a:off x="9572682" y="3655695"/>
              <a:ext cx="209436" cy="176212"/>
            </a:xfrm>
            <a:prstGeom prst="rect">
              <a:avLst/>
            </a:prstGeom>
            <a:noFill/>
            <a:ln>
              <a:noFill/>
            </a:ln>
          </p:spPr>
          <p:txBody>
            <a:bodyPr wrap="none" lIns="0" tIns="0" rIns="0" bIns="0" anchor="t" anchorCtr="0">
              <a:spAutoFit/>
            </a:bodyPr>
            <a:lstStyle/>
            <a:p>
              <a:pPr algn="ctr"/>
              <a:r>
                <a:rPr lang="en-US" sz="900" dirty="0">
                  <a:solidFill>
                    <a:srgbClr val="9FB0CC"/>
                  </a:solidFill>
                  <a:latin typeface="+mn-lt"/>
                  <a:ea typeface="+mn-ea"/>
                  <a:cs typeface="+mn-cs"/>
                </a:rPr>
                <a:t>0.9</a:t>
              </a:r>
            </a:p>
          </p:txBody>
        </p:sp>
        <p:sp>
          <p:nvSpPr>
            <p:cNvPr id="34" name="TextBox 34"/>
            <p:cNvSpPr txBox="1"/>
            <p:nvPr/>
          </p:nvSpPr>
          <p:spPr>
            <a:xfrm>
              <a:off x="10322319" y="2817495"/>
              <a:ext cx="445694" cy="176212"/>
            </a:xfrm>
            <a:prstGeom prst="rect">
              <a:avLst/>
            </a:prstGeom>
            <a:noFill/>
            <a:ln>
              <a:noFill/>
            </a:ln>
          </p:spPr>
          <p:txBody>
            <a:bodyPr wrap="none" lIns="0" tIns="0" rIns="0" bIns="0" anchor="t" anchorCtr="0">
              <a:spAutoFit/>
            </a:bodyPr>
            <a:lstStyle/>
            <a:p>
              <a:pPr algn="r"/>
              <a:r>
                <a:rPr lang="en-US" sz="900" dirty="0">
                  <a:solidFill>
                    <a:schemeClr val="accent2"/>
                  </a:solidFill>
                  <a:latin typeface="+mn-lt"/>
                  <a:ea typeface="+mn-ea"/>
                  <a:cs typeface="+mn-cs"/>
                </a:rPr>
                <a:t>cluster</a:t>
              </a:r>
            </a:p>
          </p:txBody>
        </p:sp>
        <p:sp>
          <p:nvSpPr>
            <p:cNvPr id="35" name="TextBox 35"/>
            <p:cNvSpPr txBox="1"/>
            <p:nvPr/>
          </p:nvSpPr>
          <p:spPr>
            <a:xfrm>
              <a:off x="10219334" y="2969895"/>
              <a:ext cx="548678" cy="176212"/>
            </a:xfrm>
            <a:prstGeom prst="rect">
              <a:avLst/>
            </a:prstGeom>
            <a:noFill/>
            <a:ln>
              <a:noFill/>
            </a:ln>
          </p:spPr>
          <p:txBody>
            <a:bodyPr wrap="none" lIns="0" tIns="0" rIns="0" bIns="0" anchor="t" anchorCtr="0">
              <a:spAutoFit/>
            </a:bodyPr>
            <a:lstStyle/>
            <a:p>
              <a:pPr algn="r"/>
              <a:r>
                <a:rPr lang="en-US" sz="900" dirty="0">
                  <a:solidFill>
                    <a:schemeClr val="accent2"/>
                  </a:solidFill>
                  <a:latin typeface="+mn-lt"/>
                  <a:ea typeface="+mn-ea"/>
                  <a:cs typeface="+mn-cs"/>
                </a:rPr>
                <a:t>benefit ↑</a:t>
              </a:r>
            </a:p>
          </p:txBody>
        </p:sp>
      </p:grpSp>
      <p:grpSp>
        <p:nvGrpSpPr>
          <p:cNvPr id="50" name="Group 50"/>
          <p:cNvGrpSpPr/>
          <p:nvPr/>
        </p:nvGrpSpPr>
        <p:grpSpPr>
          <a:xfrm>
            <a:off x="609600" y="3924300"/>
            <a:ext cx="10972800" cy="1943100"/>
            <a:chOff x="609600" y="3924300"/>
            <a:chExt cx="10972800" cy="1943100"/>
          </a:xfrm>
        </p:grpSpPr>
        <p:sp>
          <p:nvSpPr>
            <p:cNvPr id="37" name="Rectangle 37"/>
            <p:cNvSpPr/>
            <p:nvPr/>
          </p:nvSpPr>
          <p:spPr>
            <a:xfrm>
              <a:off x="609600" y="3924300"/>
              <a:ext cx="10972800" cy="1943100"/>
            </a:xfrm>
            <a:prstGeom prst="roundRect">
              <a:avLst>
                <a:gd name="adj" fmla="val 6863"/>
              </a:avLst>
            </a:prstGeom>
            <a:solidFill>
              <a:schemeClr val="accent5"/>
            </a:solidFill>
            <a:ln w="12382">
              <a:solidFill>
                <a:srgbClr val="2C3D63"/>
              </a:solidFill>
            </a:ln>
          </p:spPr>
        </p:sp>
        <p:sp>
          <p:nvSpPr>
            <p:cNvPr id="38" name="TextBox 38"/>
            <p:cNvSpPr txBox="1"/>
            <p:nvPr/>
          </p:nvSpPr>
          <p:spPr>
            <a:xfrm>
              <a:off x="850773" y="4110514"/>
              <a:ext cx="3388845"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Clustering granularity (WikiText-103)</a:t>
              </a:r>
            </a:p>
          </p:txBody>
        </p:sp>
        <p:sp>
          <p:nvSpPr>
            <p:cNvPr id="39" name="Rectangle 39"/>
            <p:cNvSpPr/>
            <p:nvPr/>
          </p:nvSpPr>
          <p:spPr>
            <a:xfrm>
              <a:off x="857250" y="4476750"/>
              <a:ext cx="3314700" cy="685800"/>
            </a:xfrm>
            <a:prstGeom prst="roundRect">
              <a:avLst>
                <a:gd name="adj" fmla="val 13889"/>
              </a:avLst>
            </a:prstGeom>
            <a:solidFill>
              <a:schemeClr val="accent6"/>
            </a:solidFill>
            <a:ln w="14288">
              <a:solidFill>
                <a:srgbClr val="F87171"/>
              </a:solidFill>
            </a:ln>
          </p:spPr>
        </p:sp>
        <p:sp>
          <p:nvSpPr>
            <p:cNvPr id="40" name="TextBox 40"/>
            <p:cNvSpPr txBox="1"/>
            <p:nvPr/>
          </p:nvSpPr>
          <p:spPr>
            <a:xfrm>
              <a:off x="1039368" y="4679632"/>
              <a:ext cx="95210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k = 100K</a:t>
              </a:r>
            </a:p>
          </p:txBody>
        </p:sp>
        <p:sp>
          <p:nvSpPr>
            <p:cNvPr id="41" name="TextBox 41"/>
            <p:cNvSpPr txBox="1"/>
            <p:nvPr/>
          </p:nvSpPr>
          <p:spPr>
            <a:xfrm>
              <a:off x="1042416" y="4973002"/>
              <a:ext cx="789865" cy="205359"/>
            </a:xfrm>
            <a:prstGeom prst="rect">
              <a:avLst/>
            </a:prstGeom>
            <a:noFill/>
            <a:ln>
              <a:noFill/>
            </a:ln>
          </p:spPr>
          <p:txBody>
            <a:bodyPr wrap="none" lIns="0" tIns="0" rIns="0" bIns="0" anchor="t" anchorCtr="0">
              <a:spAutoFit/>
            </a:bodyPr>
            <a:lstStyle/>
            <a:p>
              <a:pPr algn="l"/>
              <a:r>
                <a:rPr lang="en-US" sz="1050" b="1" dirty="0">
                  <a:solidFill>
                    <a:srgbClr val="F87171"/>
                  </a:solidFill>
                  <a:latin typeface="+mn-lt"/>
                  <a:ea typeface="+mn-ea"/>
                  <a:cs typeface="+mn-cs"/>
                </a:rPr>
                <a:t>too coarse</a:t>
              </a:r>
            </a:p>
          </p:txBody>
        </p:sp>
        <p:sp>
          <p:nvSpPr>
            <p:cNvPr id="42" name="Rectangle 42"/>
            <p:cNvSpPr/>
            <p:nvPr/>
          </p:nvSpPr>
          <p:spPr>
            <a:xfrm>
              <a:off x="4400550" y="4476750"/>
              <a:ext cx="3314700" cy="685800"/>
            </a:xfrm>
            <a:prstGeom prst="roundRect">
              <a:avLst>
                <a:gd name="adj" fmla="val 13889"/>
              </a:avLst>
            </a:prstGeom>
            <a:solidFill>
              <a:schemeClr val="accent6"/>
            </a:solidFill>
            <a:ln w="14288">
              <a:solidFill>
                <a:srgbClr val="34D399"/>
              </a:solidFill>
            </a:ln>
          </p:spPr>
        </p:sp>
        <p:sp>
          <p:nvSpPr>
            <p:cNvPr id="43" name="TextBox 43"/>
            <p:cNvSpPr txBox="1"/>
            <p:nvPr/>
          </p:nvSpPr>
          <p:spPr>
            <a:xfrm>
              <a:off x="4582668" y="4679632"/>
              <a:ext cx="95210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k = 500K</a:t>
              </a:r>
            </a:p>
          </p:txBody>
        </p:sp>
        <p:sp>
          <p:nvSpPr>
            <p:cNvPr id="44" name="TextBox 44"/>
            <p:cNvSpPr txBox="1"/>
            <p:nvPr/>
          </p:nvSpPr>
          <p:spPr>
            <a:xfrm>
              <a:off x="4585716" y="4973002"/>
              <a:ext cx="337189" cy="205359"/>
            </a:xfrm>
            <a:prstGeom prst="rect">
              <a:avLst/>
            </a:prstGeom>
            <a:noFill/>
            <a:ln>
              <a:noFill/>
            </a:ln>
          </p:spPr>
          <p:txBody>
            <a:bodyPr wrap="none" lIns="0" tIns="0" rIns="0" bIns="0" anchor="t" anchorCtr="0">
              <a:spAutoFit/>
            </a:bodyPr>
            <a:lstStyle/>
            <a:p>
              <a:pPr algn="l"/>
              <a:r>
                <a:rPr lang="en-US" sz="1050" b="1" dirty="0">
                  <a:solidFill>
                    <a:srgbClr val="34D399"/>
                  </a:solidFill>
                  <a:latin typeface="+mn-lt"/>
                  <a:ea typeface="+mn-ea"/>
                  <a:cs typeface="+mn-cs"/>
                </a:rPr>
                <a:t>good</a:t>
              </a:r>
            </a:p>
          </p:txBody>
        </p:sp>
        <p:sp>
          <p:nvSpPr>
            <p:cNvPr id="45" name="Rectangle 45"/>
            <p:cNvSpPr/>
            <p:nvPr/>
          </p:nvSpPr>
          <p:spPr>
            <a:xfrm>
              <a:off x="7943850" y="4476750"/>
              <a:ext cx="3314700" cy="685800"/>
            </a:xfrm>
            <a:prstGeom prst="roundRect">
              <a:avLst>
                <a:gd name="adj" fmla="val 13889"/>
              </a:avLst>
            </a:prstGeom>
            <a:solidFill>
              <a:schemeClr val="accent6"/>
            </a:solidFill>
            <a:ln w="14288">
              <a:solidFill>
                <a:srgbClr val="34D399"/>
              </a:solidFill>
            </a:ln>
          </p:spPr>
        </p:sp>
        <p:sp>
          <p:nvSpPr>
            <p:cNvPr id="46" name="TextBox 46"/>
            <p:cNvSpPr txBox="1"/>
            <p:nvPr/>
          </p:nvSpPr>
          <p:spPr>
            <a:xfrm>
              <a:off x="8125968" y="4679632"/>
              <a:ext cx="73625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k = 1M</a:t>
              </a:r>
            </a:p>
          </p:txBody>
        </p:sp>
        <p:sp>
          <p:nvSpPr>
            <p:cNvPr id="47" name="TextBox 47"/>
            <p:cNvSpPr txBox="1"/>
            <p:nvPr/>
          </p:nvSpPr>
          <p:spPr>
            <a:xfrm>
              <a:off x="8129016" y="4973002"/>
              <a:ext cx="1620069" cy="205359"/>
            </a:xfrm>
            <a:prstGeom prst="rect">
              <a:avLst/>
            </a:prstGeom>
            <a:noFill/>
            <a:ln>
              <a:noFill/>
            </a:ln>
          </p:spPr>
          <p:txBody>
            <a:bodyPr wrap="none" lIns="0" tIns="0" rIns="0" bIns="0" anchor="t" anchorCtr="0">
              <a:spAutoFit/>
            </a:bodyPr>
            <a:lstStyle/>
            <a:p>
              <a:pPr algn="l"/>
              <a:r>
                <a:rPr lang="en-US" sz="1050" b="1" dirty="0">
                  <a:solidFill>
                    <a:srgbClr val="34D399"/>
                  </a:solidFill>
                  <a:latin typeface="+mn-lt"/>
                  <a:ea typeface="+mn-ea"/>
                  <a:cs typeface="+mn-cs"/>
                </a:rPr>
                <a:t>good (similar to 500K)</a:t>
              </a:r>
            </a:p>
          </p:txBody>
        </p:sp>
        <p:sp>
          <p:nvSpPr>
            <p:cNvPr id="48" name="TextBox 48"/>
            <p:cNvSpPr txBox="1"/>
            <p:nvPr/>
          </p:nvSpPr>
          <p:spPr>
            <a:xfrm>
              <a:off x="851916" y="5449252"/>
              <a:ext cx="5002059"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The cheaper greedy merge wins at FoSS = 0 but degrades as FoSS grows.</a:t>
              </a:r>
            </a:p>
          </p:txBody>
        </p:sp>
        <p:sp>
          <p:nvSpPr>
            <p:cNvPr id="49" name="TextBox 49"/>
            <p:cNvSpPr txBox="1"/>
            <p:nvPr/>
          </p:nvSpPr>
          <p:spPr>
            <a:xfrm>
              <a:off x="7543475" y="5457349"/>
              <a:ext cx="3796228" cy="190690"/>
            </a:xfrm>
            <a:prstGeom prst="rect">
              <a:avLst/>
            </a:prstGeom>
            <a:noFill/>
            <a:ln>
              <a:noFill/>
            </a:ln>
          </p:spPr>
          <p:txBody>
            <a:bodyPr wrap="none" lIns="0" tIns="0" rIns="0" bIns="0" anchor="t" anchorCtr="0">
              <a:spAutoFit/>
            </a:bodyPr>
            <a:lstStyle/>
            <a:p>
              <a:pPr algn="r"/>
              <a:r>
                <a:rPr lang="en-US" sz="980" dirty="0">
                  <a:solidFill>
                    <a:srgbClr val="F5B642"/>
                  </a:solidFill>
                  <a:latin typeface="+mn-lt"/>
                  <a:ea typeface="+mn-ea"/>
                  <a:cs typeface="+mn-cs"/>
                </a:rPr>
                <a:t>98% of val tokens fall in n&gt;1 automaton-continued n-grams</a:t>
              </a:r>
            </a:p>
          </p:txBody>
        </p:sp>
      </p:grpSp>
      <p:sp>
        <p:nvSpPr>
          <p:cNvPr id="51" name="TextBox 51"/>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52" name="cue_s08_c1_ablation_teases_apart_two_ingredient" title="cue_s08_c1_ablation_teases_apart_two_ingredient" descr="cue_s08_c1_ablation_teases_apart_two_ingredient An ablation teases apart the two ingredients."/>
          <p:cNvSpPr/>
          <p:nvPr/>
        </p:nvSpPr>
        <p:spPr>
          <a:xfrm>
            <a:off x="609600" y="1104823"/>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2_pointers_alone_clustering_all_alread" title="cue_s08_c2_pointers_alone_clustering_all_alread" descr="cue_s08_c2_pointers_alone_clustering_all_alread Using pointers alone, with no clustering at all, already beats every baseline and matches kNN-LM while saving more than sixty percent of searches, so the pointers deliver most of the benefit when few searches are saved."/>
          <p:cNvSpPr/>
          <p:nvPr/>
        </p:nvSpPr>
        <p:spPr>
          <a:xfrm>
            <a:off x="609600" y="1771421"/>
            <a:ext cx="5371795" cy="2012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8_c3_clustering_contributes_mainly_high_s" title="cue_s08_c3_clustering_contributes_mainly_high_s" descr="cue_s08_c3_clustering_contributes_mainly_high_s Clustering contributes mainly at high saving rates, from about seventy percent onward, where it lets the model stay search-free over longer stretches of text."/>
          <p:cNvSpPr/>
          <p:nvPr/>
        </p:nvSpPr>
        <p:spPr>
          <a:xfrm>
            <a:off x="6210604" y="1771421"/>
            <a:ext cx="5371795" cy="206014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4_cluster_count_half_million_one" title="cue_s08_c4_cluster_count_half_million_one" descr="cue_s08_c4_cluster_count_half_million_one On cluster count, half a million and one million means perform similarly, while one hundred thousand is too coarse, and a cheaper greedy clustering wins at zero saved searches but fades as the saving fraction grows."/>
          <p:cNvSpPr/>
          <p:nvPr/>
        </p:nvSpPr>
        <p:spPr>
          <a:xfrm>
            <a:off x="609600" y="3924147"/>
            <a:ext cx="109728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rgbClr val="34D399"/>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rgbClr val="34D399"/>
                </a:solidFill>
                <a:latin typeface="+mn-lt"/>
                <a:ea typeface="+mn-ea"/>
                <a:cs typeface="+mn-cs"/>
              </a:rPr>
              <a:t>09</a:t>
            </a:r>
          </a:p>
        </p:txBody>
      </p:sp>
      <p:sp>
        <p:nvSpPr>
          <p:cNvPr id="5" name="TextBox 5"/>
          <p:cNvSpPr txBox="1"/>
          <p:nvPr/>
        </p:nvSpPr>
        <p:spPr>
          <a:xfrm>
            <a:off x="826770" y="519112"/>
            <a:ext cx="266649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Headline Numbers</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9" name="Group 9"/>
          <p:cNvGrpSpPr/>
          <p:nvPr/>
        </p:nvGrpSpPr>
        <p:grpSpPr>
          <a:xfrm>
            <a:off x="609600" y="1104900"/>
            <a:ext cx="10972800" cy="514350"/>
            <a:chOff x="609600" y="1104900"/>
            <a:chExt cx="10972800" cy="514350"/>
          </a:xfrm>
        </p:grpSpPr>
        <p:sp>
          <p:nvSpPr>
            <p:cNvPr id="7" name="Rectangle 7"/>
            <p:cNvSpPr/>
            <p:nvPr/>
          </p:nvSpPr>
          <p:spPr>
            <a:xfrm>
              <a:off x="609600" y="1104900"/>
              <a:ext cx="10972800" cy="514350"/>
            </a:xfrm>
            <a:prstGeom prst="roundRect">
              <a:avLst>
                <a:gd name="adj" fmla="val 22222"/>
              </a:avLst>
            </a:prstGeom>
            <a:solidFill>
              <a:schemeClr val="accent6"/>
            </a:solidFill>
            <a:ln w="12382">
              <a:solidFill>
                <a:srgbClr val="34D399"/>
              </a:solidFill>
            </a:ln>
          </p:spPr>
        </p:sp>
        <p:sp>
          <p:nvSpPr>
            <p:cNvPr id="8" name="TextBox 8"/>
            <p:cNvSpPr txBox="1"/>
            <p:nvPr/>
          </p:nvSpPr>
          <p:spPr>
            <a:xfrm>
              <a:off x="851154" y="1299210"/>
              <a:ext cx="786907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Simple to remember: two ways to spend the automaton's savings, and a big domain-adaptation win.</a:t>
              </a:r>
            </a:p>
          </p:txBody>
        </p:sp>
      </p:grpSp>
      <p:grpSp>
        <p:nvGrpSpPr>
          <p:cNvPr id="16" name="Group 16"/>
          <p:cNvGrpSpPr/>
          <p:nvPr/>
        </p:nvGrpSpPr>
        <p:grpSpPr>
          <a:xfrm>
            <a:off x="609600" y="1771650"/>
            <a:ext cx="5372100" cy="1866900"/>
            <a:chOff x="609600" y="1771650"/>
            <a:chExt cx="5372100" cy="1866900"/>
          </a:xfrm>
        </p:grpSpPr>
        <p:sp>
          <p:nvSpPr>
            <p:cNvPr id="10" name="Rectangle 10"/>
            <p:cNvSpPr/>
            <p:nvPr/>
          </p:nvSpPr>
          <p:spPr>
            <a:xfrm>
              <a:off x="609600" y="1771650"/>
              <a:ext cx="5372100" cy="1866900"/>
            </a:xfrm>
            <a:prstGeom prst="roundRect">
              <a:avLst>
                <a:gd name="adj" fmla="val 7143"/>
              </a:avLst>
            </a:prstGeom>
            <a:solidFill>
              <a:schemeClr val="accent5"/>
            </a:solidFill>
            <a:ln w="14288">
              <a:solidFill>
                <a:srgbClr val="34D399"/>
              </a:solidFill>
            </a:ln>
          </p:spPr>
        </p:sp>
        <p:sp>
          <p:nvSpPr>
            <p:cNvPr id="11" name="TextBox 11"/>
            <p:cNvSpPr txBox="1"/>
            <p:nvPr/>
          </p:nvSpPr>
          <p:spPr>
            <a:xfrm>
              <a:off x="851154" y="1965960"/>
              <a:ext cx="1128928" cy="234696"/>
            </a:xfrm>
            <a:prstGeom prst="rect">
              <a:avLst/>
            </a:prstGeom>
            <a:noFill/>
            <a:ln>
              <a:noFill/>
            </a:ln>
          </p:spPr>
          <p:txBody>
            <a:bodyPr wrap="none" lIns="0" tIns="0" rIns="0" bIns="0" anchor="t" anchorCtr="0">
              <a:spAutoFit/>
            </a:bodyPr>
            <a:lstStyle/>
            <a:p>
              <a:pPr algn="l"/>
              <a:r>
                <a:rPr lang="en-US" sz="1200" b="1" dirty="0">
                  <a:solidFill>
                    <a:srgbClr val="34D399"/>
                  </a:solidFill>
                  <a:latin typeface="+mn-lt"/>
                  <a:ea typeface="+mn-ea"/>
                  <a:cs typeface="+mn-cs"/>
                </a:rPr>
                <a:t>Save compute</a:t>
              </a:r>
            </a:p>
          </p:txBody>
        </p:sp>
        <p:sp>
          <p:nvSpPr>
            <p:cNvPr id="12" name="TextBox 12"/>
            <p:cNvSpPr txBox="1"/>
            <p:nvPr/>
          </p:nvSpPr>
          <p:spPr>
            <a:xfrm>
              <a:off x="838200" y="2339340"/>
              <a:ext cx="1293297" cy="933450"/>
            </a:xfrm>
            <a:prstGeom prst="rect">
              <a:avLst/>
            </a:prstGeom>
            <a:noFill/>
            <a:ln>
              <a:noFill/>
            </a:ln>
          </p:spPr>
          <p:txBody>
            <a:bodyPr wrap="none" lIns="0" tIns="0" rIns="0" bIns="0" anchor="t" anchorCtr="0">
              <a:spAutoFit/>
            </a:bodyPr>
            <a:lstStyle/>
            <a:p>
              <a:pPr algn="l"/>
              <a:r>
                <a:rPr lang="en-US" sz="4800" b="1" dirty="0">
                  <a:solidFill>
                    <a:srgbClr val="34D399"/>
                  </a:solidFill>
                  <a:latin typeface="+mn-lt"/>
                  <a:ea typeface="+mn-ea"/>
                  <a:cs typeface="+mn-cs"/>
                </a:rPr>
                <a:t>83%</a:t>
              </a:r>
            </a:p>
          </p:txBody>
        </p:sp>
        <p:sp>
          <p:nvSpPr>
            <p:cNvPr id="13" name="TextBox 13"/>
            <p:cNvSpPr txBox="1"/>
            <p:nvPr/>
          </p:nvSpPr>
          <p:spPr>
            <a:xfrm>
              <a:off x="2660904" y="2556510"/>
              <a:ext cx="191841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fewer nearest-neighbor</a:t>
              </a:r>
            </a:p>
          </p:txBody>
        </p:sp>
        <p:sp>
          <p:nvSpPr>
            <p:cNvPr id="14" name="TextBox 14"/>
            <p:cNvSpPr txBox="1"/>
            <p:nvPr/>
          </p:nvSpPr>
          <p:spPr>
            <a:xfrm>
              <a:off x="2660904" y="2804160"/>
              <a:ext cx="2257654"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searches, no perplexity loss</a:t>
              </a:r>
            </a:p>
          </p:txBody>
        </p:sp>
        <p:sp>
          <p:nvSpPr>
            <p:cNvPr id="15" name="TextBox 15"/>
            <p:cNvSpPr txBox="1"/>
            <p:nvPr/>
          </p:nvSpPr>
          <p:spPr>
            <a:xfrm>
              <a:off x="852106" y="3243501"/>
              <a:ext cx="3892122"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or lower perplexity by up to 1.85 when the budget is kept.</a:t>
              </a:r>
            </a:p>
          </p:txBody>
        </p:sp>
      </p:grpSp>
      <p:grpSp>
        <p:nvGrpSpPr>
          <p:cNvPr id="23" name="Group 23"/>
          <p:cNvGrpSpPr/>
          <p:nvPr/>
        </p:nvGrpSpPr>
        <p:grpSpPr>
          <a:xfrm>
            <a:off x="6210300" y="1771650"/>
            <a:ext cx="5372100" cy="1866900"/>
            <a:chOff x="6210300" y="1771650"/>
            <a:chExt cx="5372100" cy="1866900"/>
          </a:xfrm>
        </p:grpSpPr>
        <p:sp>
          <p:nvSpPr>
            <p:cNvPr id="17" name="Rectangle 17"/>
            <p:cNvSpPr/>
            <p:nvPr/>
          </p:nvSpPr>
          <p:spPr>
            <a:xfrm>
              <a:off x="6210300" y="1771650"/>
              <a:ext cx="5372100" cy="1866900"/>
            </a:xfrm>
            <a:prstGeom prst="roundRect">
              <a:avLst>
                <a:gd name="adj" fmla="val 7143"/>
              </a:avLst>
            </a:prstGeom>
            <a:solidFill>
              <a:schemeClr val="accent5"/>
            </a:solidFill>
            <a:ln w="14288">
              <a:solidFill>
                <a:schemeClr val="accent2"/>
              </a:solidFill>
            </a:ln>
          </p:spPr>
        </p:sp>
        <p:sp>
          <p:nvSpPr>
            <p:cNvPr id="18" name="TextBox 18"/>
            <p:cNvSpPr txBox="1"/>
            <p:nvPr/>
          </p:nvSpPr>
          <p:spPr>
            <a:xfrm>
              <a:off x="6451854" y="1965960"/>
              <a:ext cx="1095927"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WikiText-103</a:t>
              </a:r>
            </a:p>
          </p:txBody>
        </p:sp>
        <p:sp>
          <p:nvSpPr>
            <p:cNvPr id="19" name="TextBox 19"/>
            <p:cNvSpPr txBox="1"/>
            <p:nvPr/>
          </p:nvSpPr>
          <p:spPr>
            <a:xfrm>
              <a:off x="6438900" y="2339340"/>
              <a:ext cx="1293297" cy="933450"/>
            </a:xfrm>
            <a:prstGeom prst="rect">
              <a:avLst/>
            </a:prstGeom>
            <a:noFill/>
            <a:ln>
              <a:noFill/>
            </a:ln>
          </p:spPr>
          <p:txBody>
            <a:bodyPr wrap="none" lIns="0" tIns="0" rIns="0" bIns="0" anchor="t" anchorCtr="0">
              <a:spAutoFit/>
            </a:bodyPr>
            <a:lstStyle/>
            <a:p>
              <a:pPr algn="l"/>
              <a:r>
                <a:rPr lang="en-US" sz="4800" b="1" dirty="0">
                  <a:solidFill>
                    <a:schemeClr val="accent2"/>
                  </a:solidFill>
                  <a:latin typeface="+mn-lt"/>
                  <a:ea typeface="+mn-ea"/>
                  <a:cs typeface="+mn-cs"/>
                </a:rPr>
                <a:t>81%</a:t>
              </a:r>
            </a:p>
          </p:txBody>
        </p:sp>
        <p:sp>
          <p:nvSpPr>
            <p:cNvPr id="20" name="TextBox 20"/>
            <p:cNvSpPr txBox="1"/>
            <p:nvPr/>
          </p:nvSpPr>
          <p:spPr>
            <a:xfrm>
              <a:off x="8261604" y="2556510"/>
              <a:ext cx="157916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of searches skipped</a:t>
              </a:r>
            </a:p>
          </p:txBody>
        </p:sp>
        <p:sp>
          <p:nvSpPr>
            <p:cNvPr id="21" name="TextBox 21"/>
            <p:cNvSpPr txBox="1"/>
            <p:nvPr/>
          </p:nvSpPr>
          <p:spPr>
            <a:xfrm>
              <a:off x="8261604" y="2804160"/>
              <a:ext cx="179517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while matching kNN-LM</a:t>
              </a:r>
            </a:p>
          </p:txBody>
        </p:sp>
        <p:sp>
          <p:nvSpPr>
            <p:cNvPr id="22" name="TextBox 22"/>
            <p:cNvSpPr txBox="1"/>
            <p:nvPr/>
          </p:nvSpPr>
          <p:spPr>
            <a:xfrm>
              <a:off x="6452806" y="3243501"/>
              <a:ext cx="3803744"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pointers-only already saves &gt;60% at matched perplexity.</a:t>
              </a:r>
            </a:p>
          </p:txBody>
        </p:sp>
      </p:grpSp>
      <p:grpSp>
        <p:nvGrpSpPr>
          <p:cNvPr id="37" name="Group 37"/>
          <p:cNvGrpSpPr/>
          <p:nvPr/>
        </p:nvGrpSpPr>
        <p:grpSpPr>
          <a:xfrm>
            <a:off x="609600" y="3810000"/>
            <a:ext cx="10972800" cy="2057400"/>
            <a:chOff x="609600" y="3810000"/>
            <a:chExt cx="10972800" cy="2057400"/>
          </a:xfrm>
        </p:grpSpPr>
        <p:sp>
          <p:nvSpPr>
            <p:cNvPr id="24" name="Rectangle 24"/>
            <p:cNvSpPr/>
            <p:nvPr/>
          </p:nvSpPr>
          <p:spPr>
            <a:xfrm>
              <a:off x="609600" y="3810000"/>
              <a:ext cx="10972800" cy="2057400"/>
            </a:xfrm>
            <a:prstGeom prst="roundRect">
              <a:avLst>
                <a:gd name="adj" fmla="val 6481"/>
              </a:avLst>
            </a:prstGeom>
            <a:solidFill>
              <a:schemeClr val="accent6"/>
            </a:solidFill>
            <a:ln w="14288">
              <a:solidFill>
                <a:srgbClr val="F5B642"/>
              </a:solidFill>
            </a:ln>
          </p:spPr>
        </p:sp>
        <p:sp>
          <p:nvSpPr>
            <p:cNvPr id="25" name="TextBox 25"/>
            <p:cNvSpPr txBox="1"/>
            <p:nvPr/>
          </p:nvSpPr>
          <p:spPr>
            <a:xfrm>
              <a:off x="850392" y="4007168"/>
              <a:ext cx="2736752" cy="264033"/>
            </a:xfrm>
            <a:prstGeom prst="rect">
              <a:avLst/>
            </a:prstGeom>
            <a:noFill/>
            <a:ln>
              <a:noFill/>
            </a:ln>
          </p:spPr>
          <p:txBody>
            <a:bodyPr wrap="none" lIns="0" tIns="0" rIns="0" bIns="0" anchor="t" anchorCtr="0">
              <a:spAutoFit/>
            </a:bodyPr>
            <a:lstStyle/>
            <a:p>
              <a:pPr algn="l"/>
              <a:r>
                <a:rPr lang="en-US" sz="1350" b="1" dirty="0">
                  <a:solidFill>
                    <a:srgbClr val="F5B642"/>
                  </a:solidFill>
                  <a:latin typeface="+mn-lt"/>
                  <a:ea typeface="+mn-ea"/>
                  <a:cs typeface="+mn-cs"/>
                </a:rPr>
                <a:t>Fine-tuned Law-domain model</a:t>
              </a:r>
            </a:p>
          </p:txBody>
        </p:sp>
        <p:sp>
          <p:nvSpPr>
            <p:cNvPr id="26" name="TextBox 26"/>
            <p:cNvSpPr txBox="1"/>
            <p:nvPr/>
          </p:nvSpPr>
          <p:spPr>
            <a:xfrm>
              <a:off x="1600200" y="4570095"/>
              <a:ext cx="1250892" cy="762000"/>
            </a:xfrm>
            <a:prstGeom prst="rect">
              <a:avLst/>
            </a:prstGeom>
            <a:noFill/>
            <a:ln>
              <a:noFill/>
            </a:ln>
          </p:spPr>
          <p:txBody>
            <a:bodyPr wrap="none" lIns="0" tIns="0" rIns="0" bIns="0" anchor="t" anchorCtr="0">
              <a:spAutoFit/>
            </a:bodyPr>
            <a:lstStyle/>
            <a:p>
              <a:pPr algn="l"/>
              <a:r>
                <a:rPr lang="en-US" sz="3900" b="1" dirty="0">
                  <a:solidFill>
                    <a:srgbClr val="F87171"/>
                  </a:solidFill>
                  <a:latin typeface="+mn-lt"/>
                  <a:ea typeface="+mn-ea"/>
                  <a:cs typeface="+mn-cs"/>
                </a:rPr>
                <a:t>8.61</a:t>
              </a:r>
            </a:p>
          </p:txBody>
        </p:sp>
        <p:sp>
          <p:nvSpPr>
            <p:cNvPr id="27" name="TextBox 27"/>
            <p:cNvSpPr txBox="1"/>
            <p:nvPr/>
          </p:nvSpPr>
          <p:spPr>
            <a:xfrm>
              <a:off x="1614297" y="5152549"/>
              <a:ext cx="1218942"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base LM perplexity</a:t>
              </a:r>
            </a:p>
          </p:txBody>
        </p:sp>
        <p:sp>
          <p:nvSpPr>
            <p:cNvPr id="28" name="Line 28"/>
            <p:cNvSpPr/>
            <p:nvPr/>
          </p:nvSpPr>
          <p:spPr>
            <a:xfrm>
              <a:off x="2857500" y="4819650"/>
              <a:ext cx="1238250" cy="9525"/>
            </a:xfrm>
            <a:custGeom>
              <a:avLst/>
              <a:gdLst/>
              <a:ahLst/>
              <a:cxnLst/>
              <a:rect l="l" t="t" r="r" b="b"/>
              <a:pathLst>
                <a:path w="1238250" h="9525">
                  <a:moveTo>
                    <a:pt x="0" y="0"/>
                  </a:moveTo>
                  <a:lnTo>
                    <a:pt x="1238250" y="0"/>
                  </a:lnTo>
                </a:path>
              </a:pathLst>
            </a:custGeom>
            <a:noFill/>
            <a:ln w="32385" cap="rnd">
              <a:solidFill>
                <a:srgbClr val="34D399"/>
              </a:solidFill>
            </a:ln>
          </p:spPr>
        </p:sp>
        <p:sp>
          <p:nvSpPr>
            <p:cNvPr id="29" name="Polyline 29"/>
            <p:cNvSpPr/>
            <p:nvPr/>
          </p:nvSpPr>
          <p:spPr>
            <a:xfrm>
              <a:off x="4020502" y="4779645"/>
              <a:ext cx="75247" cy="80010"/>
            </a:xfrm>
            <a:custGeom>
              <a:avLst/>
              <a:gdLst/>
              <a:ahLst/>
              <a:cxnLst/>
              <a:rect l="l" t="t" r="r" b="b"/>
              <a:pathLst>
                <a:path w="75247" h="80010">
                  <a:moveTo>
                    <a:pt x="0" y="80010"/>
                  </a:moveTo>
                  <a:lnTo>
                    <a:pt x="75247" y="40005"/>
                  </a:lnTo>
                  <a:lnTo>
                    <a:pt x="0" y="0"/>
                  </a:lnTo>
                </a:path>
              </a:pathLst>
            </a:custGeom>
            <a:noFill/>
            <a:ln w="32385" cap="rnd">
              <a:solidFill>
                <a:srgbClr val="34D399"/>
              </a:solidFill>
              <a:round/>
            </a:ln>
          </p:spPr>
        </p:sp>
        <p:sp>
          <p:nvSpPr>
            <p:cNvPr id="30" name="TextBox 30"/>
            <p:cNvSpPr txBox="1"/>
            <p:nvPr/>
          </p:nvSpPr>
          <p:spPr>
            <a:xfrm>
              <a:off x="4457700" y="4570095"/>
              <a:ext cx="1250892" cy="762000"/>
            </a:xfrm>
            <a:prstGeom prst="rect">
              <a:avLst/>
            </a:prstGeom>
            <a:noFill/>
            <a:ln>
              <a:noFill/>
            </a:ln>
          </p:spPr>
          <p:txBody>
            <a:bodyPr wrap="none" lIns="0" tIns="0" rIns="0" bIns="0" anchor="t" anchorCtr="0">
              <a:spAutoFit/>
            </a:bodyPr>
            <a:lstStyle/>
            <a:p>
              <a:pPr algn="l"/>
              <a:r>
                <a:rPr lang="en-US" sz="3900" b="1" dirty="0">
                  <a:solidFill>
                    <a:srgbClr val="34D399"/>
                  </a:solidFill>
                  <a:latin typeface="+mn-lt"/>
                  <a:ea typeface="+mn-ea"/>
                  <a:cs typeface="+mn-cs"/>
                </a:rPr>
                <a:t>7.10</a:t>
              </a:r>
            </a:p>
          </p:txBody>
        </p:sp>
        <p:sp>
          <p:nvSpPr>
            <p:cNvPr id="31" name="TextBox 31"/>
            <p:cNvSpPr txBox="1"/>
            <p:nvPr/>
          </p:nvSpPr>
          <p:spPr>
            <a:xfrm>
              <a:off x="4471797" y="5152549"/>
              <a:ext cx="811428" cy="190690"/>
            </a:xfrm>
            <a:prstGeom prst="rect">
              <a:avLst/>
            </a:prstGeom>
            <a:noFill/>
            <a:ln>
              <a:noFill/>
            </a:ln>
          </p:spPr>
          <p:txBody>
            <a:bodyPr wrap="none" lIns="0" tIns="0" rIns="0" bIns="0" anchor="t" anchorCtr="0">
              <a:spAutoFit/>
            </a:bodyPr>
            <a:lstStyle/>
            <a:p>
              <a:pPr algn="l"/>
              <a:r>
                <a:rPr lang="en-US" sz="980" dirty="0">
                  <a:solidFill>
                    <a:srgbClr val="9FB0CC"/>
                  </a:solidFill>
                  <a:latin typeface="+mn-lt"/>
                  <a:ea typeface="+mn-ea"/>
                  <a:cs typeface="+mn-cs"/>
                </a:rPr>
                <a:t>+ RetoMaton</a:t>
              </a:r>
            </a:p>
          </p:txBody>
        </p:sp>
        <p:sp>
          <p:nvSpPr>
            <p:cNvPr id="32" name="Rectangle 32"/>
            <p:cNvSpPr/>
            <p:nvPr/>
          </p:nvSpPr>
          <p:spPr>
            <a:xfrm>
              <a:off x="6191250" y="4629150"/>
              <a:ext cx="3143250" cy="495300"/>
            </a:xfrm>
            <a:prstGeom prst="roundRect">
              <a:avLst>
                <a:gd name="adj" fmla="val 19231"/>
              </a:avLst>
            </a:prstGeom>
            <a:noFill/>
            <a:ln w="17145">
              <a:solidFill>
                <a:srgbClr val="34D399"/>
              </a:solidFill>
            </a:ln>
          </p:spPr>
        </p:sp>
        <p:sp>
          <p:nvSpPr>
            <p:cNvPr id="33" name="TextBox 33"/>
            <p:cNvSpPr txBox="1"/>
            <p:nvPr/>
          </p:nvSpPr>
          <p:spPr>
            <a:xfrm>
              <a:off x="6303199" y="4773454"/>
              <a:ext cx="2919352" cy="308039"/>
            </a:xfrm>
            <a:prstGeom prst="rect">
              <a:avLst/>
            </a:prstGeom>
            <a:noFill/>
            <a:ln>
              <a:noFill/>
            </a:ln>
          </p:spPr>
          <p:txBody>
            <a:bodyPr wrap="none" lIns="0" tIns="0" rIns="0" bIns="0" anchor="t" anchorCtr="0">
              <a:spAutoFit/>
            </a:bodyPr>
            <a:lstStyle/>
            <a:p>
              <a:pPr algn="ctr"/>
              <a:r>
                <a:rPr lang="en-US" sz="1580" b="1" dirty="0">
                  <a:solidFill>
                    <a:srgbClr val="34D399"/>
                  </a:solidFill>
                  <a:latin typeface="+mn-lt"/>
                  <a:ea typeface="+mn-ea"/>
                  <a:cs typeface="+mn-cs"/>
                </a:rPr>
                <a:t>−17.5% relative perplexity</a:t>
              </a:r>
            </a:p>
          </p:txBody>
        </p:sp>
        <p:sp>
          <p:nvSpPr>
            <p:cNvPr id="34" name="TextBox 34"/>
            <p:cNvSpPr txBox="1"/>
            <p:nvPr/>
          </p:nvSpPr>
          <p:spPr>
            <a:xfrm>
              <a:off x="6186106" y="5281851"/>
              <a:ext cx="4393164" cy="198025"/>
            </a:xfrm>
            <a:prstGeom prst="rect">
              <a:avLst/>
            </a:prstGeom>
            <a:noFill/>
            <a:ln>
              <a:noFill/>
            </a:ln>
          </p:spPr>
          <p:txBody>
            <a:bodyPr wrap="none" lIns="0" tIns="0" rIns="0" bIns="0" anchor="t" anchorCtr="0">
              <a:spAutoFit/>
            </a:bodyPr>
            <a:lstStyle/>
            <a:p>
              <a:pPr algn="l"/>
              <a:r>
                <a:rPr lang="en-US" sz="1010" dirty="0">
                  <a:solidFill>
                    <a:srgbClr val="9FB0CC"/>
                  </a:solidFill>
                  <a:latin typeface="+mn-lt"/>
                  <a:ea typeface="+mn-ea"/>
                  <a:cs typeface="+mn-cs"/>
                </a:rPr>
                <a:t>The automaton compounds with fine-tuning, not just base models.</a:t>
              </a:r>
            </a:p>
          </p:txBody>
        </p:sp>
        <p:sp>
          <p:nvSpPr>
            <p:cNvPr id="35" name="TextBox 35"/>
            <p:cNvSpPr txBox="1"/>
            <p:nvPr/>
          </p:nvSpPr>
          <p:spPr>
            <a:xfrm>
              <a:off x="8594640" y="4371499"/>
              <a:ext cx="1221063" cy="190690"/>
            </a:xfrm>
            <a:prstGeom prst="rect">
              <a:avLst/>
            </a:prstGeom>
            <a:noFill/>
            <a:ln>
              <a:noFill/>
            </a:ln>
          </p:spPr>
          <p:txBody>
            <a:bodyPr wrap="none" lIns="0" tIns="0" rIns="0" bIns="0" anchor="t" anchorCtr="0">
              <a:spAutoFit/>
            </a:bodyPr>
            <a:lstStyle/>
            <a:p>
              <a:pPr algn="r"/>
              <a:r>
                <a:rPr lang="en-US" sz="980" dirty="0">
                  <a:solidFill>
                    <a:srgbClr val="9FB0CC"/>
                  </a:solidFill>
                  <a:latin typeface="+mn-lt"/>
                  <a:ea typeface="+mn-ea"/>
                  <a:cs typeface="+mn-cs"/>
                </a:rPr>
                <a:t>Reduces perplexity</a:t>
              </a:r>
            </a:p>
          </p:txBody>
        </p:sp>
        <p:sp>
          <p:nvSpPr>
            <p:cNvPr id="36" name="TextBox 36"/>
            <p:cNvSpPr txBox="1"/>
            <p:nvPr/>
          </p:nvSpPr>
          <p:spPr>
            <a:xfrm>
              <a:off x="10443244" y="4371499"/>
              <a:ext cx="896459" cy="190690"/>
            </a:xfrm>
            <a:prstGeom prst="rect">
              <a:avLst/>
            </a:prstGeom>
            <a:noFill/>
            <a:ln>
              <a:noFill/>
            </a:ln>
          </p:spPr>
          <p:txBody>
            <a:bodyPr wrap="none" lIns="0" tIns="0" rIns="0" bIns="0" anchor="t" anchorCtr="0">
              <a:spAutoFit/>
            </a:bodyPr>
            <a:lstStyle/>
            <a:p>
              <a:pPr algn="r"/>
              <a:r>
                <a:rPr lang="en-US" sz="980" b="1" dirty="0">
                  <a:solidFill>
                    <a:srgbClr val="F5B642"/>
                  </a:solidFill>
                  <a:latin typeface="+mn-lt"/>
                  <a:ea typeface="+mn-ea"/>
                  <a:cs typeface="+mn-cs"/>
                </a:rPr>
                <a:t>by up to 1.85</a:t>
              </a:r>
            </a:p>
          </p:txBody>
        </p:sp>
      </p:grpSp>
      <p:sp>
        <p:nvSpPr>
          <p:cNvPr id="38" name="TextBox 38"/>
          <p:cNvSpPr txBox="1"/>
          <p:nvPr/>
        </p:nvSpPr>
        <p:spPr>
          <a:xfrm>
            <a:off x="10216298" y="6513195"/>
            <a:ext cx="1370864" cy="176212"/>
          </a:xfrm>
          <a:prstGeom prst="rect">
            <a:avLst/>
          </a:prstGeom>
          <a:noFill/>
          <a:ln>
            <a:noFill/>
          </a:ln>
        </p:spPr>
        <p:txBody>
          <a:bodyPr wrap="none" lIns="0" tIns="0" rIns="0" bIns="0" anchor="t" anchorCtr="0">
            <a:spAutoFit/>
          </a:bodyPr>
          <a:lstStyle/>
          <a:p>
            <a:pPr algn="r"/>
            <a:r>
              <a:rPr lang="en-US" sz="900" dirty="0">
                <a:solidFill>
                  <a:srgbClr val="9FB0CC"/>
                </a:solidFill>
                <a:latin typeface="+mn-lt"/>
                <a:ea typeface="+mn-ea"/>
                <a:cs typeface="+mn-cs"/>
              </a:rPr>
              <a:t>RetoMaton · ICML 2022</a:t>
            </a:r>
          </a:p>
        </p:txBody>
      </p:sp>
      <p:sp>
        <p:nvSpPr>
          <p:cNvPr id="39" name="cue_s09_c1_headline_numbers_simple_remember" title="cue_s09_c1_headline_numbers_simple_remember" descr="cue_s09_c1_headline_numbers_simple_remember The headline numbers are simple to remember."/>
          <p:cNvSpPr/>
          <p:nvPr/>
        </p:nvSpPr>
        <p:spPr>
          <a:xfrm>
            <a:off x="609600" y="1104823"/>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2_retomaton_saves_eighty_three_percent" title="cue_s09_c2_retomaton_saves_eighty_three_percent" descr="cue_s09_c2_retomaton_saves_eighty_three_percent RetoMaton saves up to eighty-three percent of nearest-neighbor searches with no loss in perplexity, or alternatively lowers perplexity by as much as one point eight five when the search budget is kept."/>
          <p:cNvSpPr/>
          <p:nvPr/>
        </p:nvSpPr>
        <p:spPr>
          <a:xfrm>
            <a:off x="609600" y="1771421"/>
            <a:ext cx="53717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3_wikitext_103_matches_knn_lm_while_sk" title="cue_s09_c3_wikitext_103_matches_knn_lm_while_sk" descr="cue_s09_c3_wikitext_103_matches_knn_lm_while_sk On WikiText-103 it matches kNN-LM while skipping eighty-one percent of searches."/>
          <p:cNvSpPr/>
          <p:nvPr/>
        </p:nvSpPr>
        <p:spPr>
          <a:xfrm>
            <a:off x="6210604" y="1771421"/>
            <a:ext cx="5371795"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9_c4_fine_tuned_law_domain_pushes_perplex" title="cue_s09_c4_fine_tuned_law_domain_pushes_perplex" descr="cue_s09_c4_fine_tuned_law_domain_pushes_perplex And on a fine-tuned law-domain model it pushes perplexity from eight point six one down to seven point one zero, a relative reduction of more than seventeen percent."/>
          <p:cNvSpPr/>
          <p:nvPr/>
        </p:nvSpPr>
        <p:spPr>
          <a:xfrm>
            <a:off x="609600" y="3810304"/>
            <a:ext cx="10972800"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noFill/>
          <a:ln>
            <a:noFill/>
          </a:ln>
        </p:spPr>
        <p:txBody>
          <a:bodyPr/>
          <a:p/>
        </p:txBody>
      </p:sp>
      <p:sp>
        <p:nvSpPr>
          <p:cNvPr id="3" name="Rectangle 3"/>
          <p:cNvSpPr/>
          <p:nvPr/>
        </p:nvSpPr>
        <p:spPr>
          <a:xfrm>
            <a:off x="609600" y="419100"/>
            <a:ext cx="57150" cy="323850"/>
          </a:xfrm>
          <a:prstGeom prst="roundRect">
            <a:avLst>
              <a:gd name="adj" fmla="val 50000"/>
            </a:avLst>
          </a:prstGeom>
          <a:solidFill>
            <a:schemeClr val="accent2"/>
          </a:solidFill>
          <a:ln>
            <a:noFill/>
          </a:ln>
        </p:spPr>
        <p:txBody>
          <a:bodyPr/>
          <a:p/>
        </p:txBody>
      </p:sp>
      <p:sp>
        <p:nvSpPr>
          <p:cNvPr id="4" name="TextBox 4"/>
          <p:cNvSpPr txBox="1"/>
          <p:nvPr/>
        </p:nvSpPr>
        <p:spPr>
          <a:xfrm>
            <a:off x="832485" y="450056"/>
            <a:ext cx="205767"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10</a:t>
            </a:r>
          </a:p>
        </p:txBody>
      </p:sp>
      <p:sp>
        <p:nvSpPr>
          <p:cNvPr id="5" name="TextBox 5"/>
          <p:cNvSpPr txBox="1"/>
          <p:nvPr/>
        </p:nvSpPr>
        <p:spPr>
          <a:xfrm>
            <a:off x="826770" y="519112"/>
            <a:ext cx="149619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Takeaway</a:t>
            </a:r>
          </a:p>
        </p:txBody>
      </p:sp>
      <p:sp>
        <p:nvSpPr>
          <p:cNvPr id="6" name="Line 6"/>
          <p:cNvSpPr/>
          <p:nvPr/>
        </p:nvSpPr>
        <p:spPr>
          <a:xfrm>
            <a:off x="609600" y="914400"/>
            <a:ext cx="10972800" cy="9525"/>
          </a:xfrm>
          <a:custGeom>
            <a:avLst/>
            <a:gdLst/>
            <a:ahLst/>
            <a:cxnLst/>
            <a:rect l="l" t="t" r="r" b="b"/>
            <a:pathLst>
              <a:path w="10972800" h="9525">
                <a:moveTo>
                  <a:pt x="0" y="0"/>
                </a:moveTo>
                <a:lnTo>
                  <a:pt x="10972800" y="0"/>
                </a:lnTo>
              </a:path>
            </a:pathLst>
          </a:custGeom>
          <a:noFill/>
          <a:ln w="11430" cap="rnd">
            <a:solidFill>
              <a:srgbClr val="2C3D63"/>
            </a:solidFill>
          </a:ln>
        </p:spPr>
        <p:txBody>
          <a:bodyPr/>
          <a:p/>
        </p:txBody>
      </p:sp>
      <p:grpSp>
        <p:nvGrpSpPr>
          <p:cNvPr id="11" name="Group 11"/>
          <p:cNvGrpSpPr/>
          <p:nvPr/>
        </p:nvGrpSpPr>
        <p:grpSpPr>
          <a:xfrm>
            <a:off x="609600" y="1143000"/>
            <a:ext cx="10972800" cy="1181100"/>
            <a:chOff x="609600" y="1143000"/>
            <a:chExt cx="10972800" cy="1181100"/>
          </a:xfrm>
        </p:grpSpPr>
        <p:sp>
          <p:nvSpPr>
            <p:cNvPr id="7" name="Rectangle 7"/>
            <p:cNvSpPr/>
            <p:nvPr/>
          </p:nvSpPr>
          <p:spPr>
            <a:xfrm>
              <a:off x="609600" y="1143000"/>
              <a:ext cx="10972800" cy="1181100"/>
            </a:xfrm>
            <a:prstGeom prst="roundRect">
              <a:avLst>
                <a:gd name="adj" fmla="val 12903"/>
              </a:avLst>
            </a:prstGeom>
            <a:solidFill>
              <a:schemeClr val="accent6"/>
            </a:solidFill>
            <a:ln w="15240">
              <a:solidFill>
                <a:schemeClr val="accent2"/>
              </a:solidFill>
            </a:ln>
          </p:spPr>
        </p:sp>
        <p:sp>
          <p:nvSpPr>
            <p:cNvPr id="8" name="TextBox 8"/>
            <p:cNvSpPr txBox="1"/>
            <p:nvPr/>
          </p:nvSpPr>
          <p:spPr>
            <a:xfrm>
              <a:off x="903732" y="1411605"/>
              <a:ext cx="792691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A retrieval datastore has structure worth exploiting.</a:t>
              </a:r>
            </a:p>
          </p:txBody>
        </p:sp>
        <p:sp>
          <p:nvSpPr>
            <p:cNvPr id="9" name="TextBox 9"/>
            <p:cNvSpPr txBox="1"/>
            <p:nvPr/>
          </p:nvSpPr>
          <p:spPr>
            <a:xfrm>
              <a:off x="908494" y="1855708"/>
              <a:ext cx="7395365" cy="227362"/>
            </a:xfrm>
            <a:prstGeom prst="rect">
              <a:avLst/>
            </a:prstGeom>
            <a:noFill/>
            <a:ln>
              <a:noFill/>
            </a:ln>
          </p:spPr>
          <p:txBody>
            <a:bodyPr wrap="none" lIns="0" tIns="0" rIns="0" bIns="0" anchor="t" anchorCtr="0">
              <a:spAutoFit/>
            </a:bodyPr>
            <a:lstStyle/>
            <a:p>
              <a:pPr algn="l"/>
              <a:r>
                <a:rPr lang="en-US" sz="1160" dirty="0">
                  <a:solidFill>
                    <a:srgbClr val="9FB0CC"/>
                  </a:solidFill>
                  <a:latin typeface="+mn-lt"/>
                  <a:ea typeface="+mn-ea"/>
                  <a:cs typeface="+mn-cs"/>
                </a:rPr>
                <a:t>Pointers link consecutive entries and clusters group similar ones, so the model carries retrieval</a:t>
              </a:r>
            </a:p>
          </p:txBody>
        </p:sp>
        <p:sp>
          <p:nvSpPr>
            <p:cNvPr id="10" name="TextBox 10"/>
            <p:cNvSpPr txBox="1"/>
            <p:nvPr/>
          </p:nvSpPr>
          <p:spPr>
            <a:xfrm>
              <a:off x="908494" y="2065258"/>
              <a:ext cx="5141641" cy="227362"/>
            </a:xfrm>
            <a:prstGeom prst="rect">
              <a:avLst/>
            </a:prstGeom>
            <a:noFill/>
            <a:ln>
              <a:noFill/>
            </a:ln>
          </p:spPr>
          <p:txBody>
            <a:bodyPr wrap="none" lIns="0" tIns="0" rIns="0" bIns="0" anchor="t" anchorCtr="0">
              <a:spAutoFit/>
            </a:bodyPr>
            <a:lstStyle/>
            <a:p>
              <a:pPr algn="l"/>
              <a:r>
                <a:rPr lang="en-US" sz="1160" dirty="0">
                  <a:solidFill>
                    <a:srgbClr val="9FB0CC"/>
                  </a:solidFill>
                  <a:latin typeface="+mn-lt"/>
                  <a:ea typeface="+mn-ea"/>
                  <a:cs typeface="+mn-cs"/>
                </a:rPr>
                <a:t>forward in time instead of searching from scratch at every token.</a:t>
              </a:r>
            </a:p>
          </p:txBody>
        </p:sp>
      </p:grpSp>
      <p:grpSp>
        <p:nvGrpSpPr>
          <p:cNvPr id="28" name="Group 28"/>
          <p:cNvGrpSpPr/>
          <p:nvPr/>
        </p:nvGrpSpPr>
        <p:grpSpPr>
          <a:xfrm>
            <a:off x="609600" y="2514600"/>
            <a:ext cx="5372100" cy="2209800"/>
            <a:chOff x="609600" y="2514600"/>
            <a:chExt cx="5372100" cy="2209800"/>
          </a:xfrm>
        </p:grpSpPr>
        <p:sp>
          <p:nvSpPr>
            <p:cNvPr id="12" name="Rectangle 12"/>
            <p:cNvSpPr/>
            <p:nvPr/>
          </p:nvSpPr>
          <p:spPr>
            <a:xfrm>
              <a:off x="609600" y="2514600"/>
              <a:ext cx="5372100" cy="2209800"/>
            </a:xfrm>
            <a:prstGeom prst="roundRect">
              <a:avLst>
                <a:gd name="adj" fmla="val 6034"/>
              </a:avLst>
            </a:prstGeom>
            <a:solidFill>
              <a:schemeClr val="accent5"/>
            </a:solidFill>
            <a:ln w="14288">
              <a:solidFill>
                <a:srgbClr val="2C3D63"/>
              </a:solidFill>
            </a:ln>
          </p:spPr>
        </p:sp>
        <p:sp>
          <p:nvSpPr>
            <p:cNvPr id="13" name="TextBox 13"/>
            <p:cNvSpPr txBox="1"/>
            <p:nvPr/>
          </p:nvSpPr>
          <p:spPr>
            <a:xfrm>
              <a:off x="850773" y="2700814"/>
              <a:ext cx="1294522" cy="249364"/>
            </a:xfrm>
            <a:prstGeom prst="rect">
              <a:avLst/>
            </a:prstGeom>
            <a:noFill/>
            <a:ln>
              <a:noFill/>
            </a:ln>
          </p:spPr>
          <p:txBody>
            <a:bodyPr wrap="none" lIns="0" tIns="0" rIns="0" bIns="0" anchor="t" anchorCtr="0">
              <a:spAutoFit/>
            </a:bodyPr>
            <a:lstStyle/>
            <a:p>
              <a:pPr algn="l"/>
              <a:r>
                <a:rPr lang="en-US" sz="1280" b="1" dirty="0">
                  <a:solidFill>
                    <a:srgbClr val="F5B642"/>
                  </a:solidFill>
                  <a:latin typeface="+mn-lt"/>
                  <a:ea typeface="+mn-ea"/>
                  <a:cs typeface="+mn-cs"/>
                </a:rPr>
                <a:t>The mechanism</a:t>
              </a:r>
            </a:p>
          </p:txBody>
        </p:sp>
        <p:sp>
          <p:nvSpPr>
            <p:cNvPr id="14" name="Ellipse 14"/>
            <p:cNvSpPr/>
            <p:nvPr/>
          </p:nvSpPr>
          <p:spPr>
            <a:xfrm>
              <a:off x="1143000" y="3333750"/>
              <a:ext cx="571500" cy="571500"/>
            </a:xfrm>
            <a:prstGeom prst="ellipse">
              <a:avLst/>
            </a:prstGeom>
            <a:solidFill>
              <a:schemeClr val="accent5"/>
            </a:solidFill>
            <a:ln w="22860">
              <a:solidFill>
                <a:srgbClr val="2DD4BF"/>
              </a:solidFill>
            </a:ln>
          </p:spPr>
        </p:sp>
        <p:sp>
          <p:nvSpPr>
            <p:cNvPr id="15" name="TextBox 15"/>
            <p:cNvSpPr txBox="1"/>
            <p:nvPr/>
          </p:nvSpPr>
          <p:spPr>
            <a:xfrm>
              <a:off x="1379499" y="3545681"/>
              <a:ext cx="98502" cy="220028"/>
            </a:xfrm>
            <a:prstGeom prst="rect">
              <a:avLst/>
            </a:prstGeom>
            <a:noFill/>
            <a:ln>
              <a:noFill/>
            </a:ln>
          </p:spPr>
          <p:txBody>
            <a:bodyPr wrap="none" lIns="0" tIns="0" rIns="0" bIns="0" anchor="t" anchorCtr="0">
              <a:spAutoFit/>
            </a:bodyPr>
            <a:lstStyle/>
            <a:p>
              <a:pPr algn="ctr"/>
              <a:r>
                <a:rPr lang="en-US" sz="1120" b="1" dirty="0">
                  <a:solidFill>
                    <a:srgbClr val="2DD4BF"/>
                  </a:solidFill>
                  <a:latin typeface="+mn-lt"/>
                  <a:ea typeface="+mn-ea"/>
                  <a:cs typeface="+mn-cs"/>
                </a:rPr>
                <a:t>q</a:t>
              </a:r>
            </a:p>
          </p:txBody>
        </p:sp>
        <p:sp>
          <p:nvSpPr>
            <p:cNvPr id="16" name="Line 16"/>
            <p:cNvSpPr/>
            <p:nvPr/>
          </p:nvSpPr>
          <p:spPr>
            <a:xfrm>
              <a:off x="1714500" y="3619500"/>
              <a:ext cx="1143000" cy="9525"/>
            </a:xfrm>
            <a:custGeom>
              <a:avLst/>
              <a:gdLst/>
              <a:ahLst/>
              <a:cxnLst/>
              <a:rect l="l" t="t" r="r" b="b"/>
              <a:pathLst>
                <a:path w="1143000" h="9525">
                  <a:moveTo>
                    <a:pt x="0" y="0"/>
                  </a:moveTo>
                  <a:lnTo>
                    <a:pt x="1143000" y="0"/>
                  </a:lnTo>
                </a:path>
              </a:pathLst>
            </a:custGeom>
            <a:noFill/>
            <a:ln w="24765" cap="rnd">
              <a:solidFill>
                <a:srgbClr val="F5B642"/>
              </a:solidFill>
            </a:ln>
          </p:spPr>
        </p:sp>
        <p:sp>
          <p:nvSpPr>
            <p:cNvPr id="17" name="Polyline 17"/>
            <p:cNvSpPr/>
            <p:nvPr/>
          </p:nvSpPr>
          <p:spPr>
            <a:xfrm>
              <a:off x="2782252" y="3579495"/>
              <a:ext cx="75247" cy="80010"/>
            </a:xfrm>
            <a:custGeom>
              <a:avLst/>
              <a:gdLst/>
              <a:ahLst/>
              <a:cxnLst/>
              <a:rect l="l" t="t" r="r" b="b"/>
              <a:pathLst>
                <a:path w="75247" h="80010">
                  <a:moveTo>
                    <a:pt x="0" y="80010"/>
                  </a:moveTo>
                  <a:lnTo>
                    <a:pt x="75247" y="40005"/>
                  </a:lnTo>
                  <a:lnTo>
                    <a:pt x="0" y="0"/>
                  </a:lnTo>
                </a:path>
              </a:pathLst>
            </a:custGeom>
            <a:noFill/>
            <a:ln w="24765" cap="rnd">
              <a:solidFill>
                <a:srgbClr val="F5B642"/>
              </a:solidFill>
              <a:round/>
            </a:ln>
          </p:spPr>
        </p:sp>
        <p:sp>
          <p:nvSpPr>
            <p:cNvPr id="18" name="TextBox 18"/>
            <p:cNvSpPr txBox="1"/>
            <p:nvPr/>
          </p:nvSpPr>
          <p:spPr>
            <a:xfrm>
              <a:off x="2063153" y="3408045"/>
              <a:ext cx="445694" cy="176212"/>
            </a:xfrm>
            <a:prstGeom prst="rect">
              <a:avLst/>
            </a:prstGeom>
            <a:noFill/>
            <a:ln>
              <a:noFill/>
            </a:ln>
          </p:spPr>
          <p:txBody>
            <a:bodyPr wrap="none" lIns="0" tIns="0" rIns="0" bIns="0" anchor="t" anchorCtr="0">
              <a:spAutoFit/>
            </a:bodyPr>
            <a:lstStyle/>
            <a:p>
              <a:pPr algn="ctr"/>
              <a:r>
                <a:rPr lang="en-US" sz="900" dirty="0">
                  <a:solidFill>
                    <a:srgbClr val="F5B642"/>
                  </a:solidFill>
                  <a:latin typeface="+mn-lt"/>
                  <a:ea typeface="+mn-ea"/>
                  <a:cs typeface="+mn-cs"/>
                </a:rPr>
                <a:t>pointer</a:t>
              </a:r>
            </a:p>
          </p:txBody>
        </p:sp>
        <p:sp>
          <p:nvSpPr>
            <p:cNvPr id="19" name="Ellipse 19"/>
            <p:cNvSpPr/>
            <p:nvPr/>
          </p:nvSpPr>
          <p:spPr>
            <a:xfrm>
              <a:off x="2857500" y="3333750"/>
              <a:ext cx="571500" cy="571500"/>
            </a:xfrm>
            <a:prstGeom prst="ellipse">
              <a:avLst/>
            </a:prstGeom>
            <a:solidFill>
              <a:schemeClr val="accent5"/>
            </a:solidFill>
            <a:ln w="22860">
              <a:solidFill>
                <a:schemeClr val="accent2"/>
              </a:solidFill>
            </a:ln>
          </p:spPr>
        </p:sp>
        <p:sp>
          <p:nvSpPr>
            <p:cNvPr id="20" name="TextBox 20"/>
            <p:cNvSpPr txBox="1"/>
            <p:nvPr/>
          </p:nvSpPr>
          <p:spPr>
            <a:xfrm>
              <a:off x="3050463" y="3545681"/>
              <a:ext cx="185574" cy="220028"/>
            </a:xfrm>
            <a:prstGeom prst="rect">
              <a:avLst/>
            </a:prstGeom>
            <a:noFill/>
            <a:ln>
              <a:noFill/>
            </a:ln>
          </p:spPr>
          <p:txBody>
            <a:bodyPr wrap="none" lIns="0" tIns="0" rIns="0" bIns="0" anchor="t" anchorCtr="0">
              <a:spAutoFit/>
            </a:bodyPr>
            <a:lstStyle/>
            <a:p>
              <a:pPr algn="ctr"/>
              <a:r>
                <a:rPr lang="en-US" sz="1120" b="1" dirty="0">
                  <a:solidFill>
                    <a:schemeClr val="accent2"/>
                  </a:solidFill>
                  <a:latin typeface="+mn-lt"/>
                  <a:ea typeface="+mn-ea"/>
                  <a:cs typeface="+mn-cs"/>
                </a:rPr>
                <a:t>q′</a:t>
              </a:r>
            </a:p>
          </p:txBody>
        </p:sp>
        <p:sp>
          <p:nvSpPr>
            <p:cNvPr id="21" name="Line 21"/>
            <p:cNvSpPr/>
            <p:nvPr/>
          </p:nvSpPr>
          <p:spPr>
            <a:xfrm>
              <a:off x="3429000" y="3619500"/>
              <a:ext cx="1143000" cy="9525"/>
            </a:xfrm>
            <a:custGeom>
              <a:avLst/>
              <a:gdLst/>
              <a:ahLst/>
              <a:cxnLst/>
              <a:rect l="l" t="t" r="r" b="b"/>
              <a:pathLst>
                <a:path w="1143000" h="9525">
                  <a:moveTo>
                    <a:pt x="0" y="0"/>
                  </a:moveTo>
                  <a:lnTo>
                    <a:pt x="1143000" y="0"/>
                  </a:lnTo>
                </a:path>
              </a:pathLst>
            </a:custGeom>
            <a:noFill/>
            <a:ln w="24765" cap="rnd">
              <a:solidFill>
                <a:srgbClr val="34D399"/>
              </a:solidFill>
            </a:ln>
          </p:spPr>
        </p:sp>
        <p:sp>
          <p:nvSpPr>
            <p:cNvPr id="22" name="Polyline 22"/>
            <p:cNvSpPr/>
            <p:nvPr/>
          </p:nvSpPr>
          <p:spPr>
            <a:xfrm>
              <a:off x="4496752" y="3579495"/>
              <a:ext cx="75247" cy="80010"/>
            </a:xfrm>
            <a:custGeom>
              <a:avLst/>
              <a:gdLst/>
              <a:ahLst/>
              <a:cxnLst/>
              <a:rect l="l" t="t" r="r" b="b"/>
              <a:pathLst>
                <a:path w="75247" h="80010">
                  <a:moveTo>
                    <a:pt x="0" y="80010"/>
                  </a:moveTo>
                  <a:lnTo>
                    <a:pt x="75247" y="40005"/>
                  </a:lnTo>
                  <a:lnTo>
                    <a:pt x="0" y="0"/>
                  </a:lnTo>
                </a:path>
              </a:pathLst>
            </a:custGeom>
            <a:noFill/>
            <a:ln w="24765" cap="rnd">
              <a:solidFill>
                <a:srgbClr val="34D399"/>
              </a:solidFill>
              <a:round/>
            </a:ln>
          </p:spPr>
        </p:sp>
        <p:sp>
          <p:nvSpPr>
            <p:cNvPr id="23" name="TextBox 23"/>
            <p:cNvSpPr txBox="1"/>
            <p:nvPr/>
          </p:nvSpPr>
          <p:spPr>
            <a:xfrm>
              <a:off x="3659524" y="3408045"/>
              <a:ext cx="681952" cy="176212"/>
            </a:xfrm>
            <a:prstGeom prst="rect">
              <a:avLst/>
            </a:prstGeom>
            <a:noFill/>
            <a:ln>
              <a:noFill/>
            </a:ln>
          </p:spPr>
          <p:txBody>
            <a:bodyPr wrap="none" lIns="0" tIns="0" rIns="0" bIns="0" anchor="t" anchorCtr="0">
              <a:spAutoFit/>
            </a:bodyPr>
            <a:lstStyle/>
            <a:p>
              <a:pPr algn="ctr"/>
              <a:r>
                <a:rPr lang="en-US" sz="900" dirty="0">
                  <a:solidFill>
                    <a:srgbClr val="34D399"/>
                  </a:solidFill>
                  <a:latin typeface="+mn-lt"/>
                  <a:ea typeface="+mn-ea"/>
                  <a:cs typeface="+mn-cs"/>
                </a:rPr>
                <a:t>skip search</a:t>
              </a:r>
            </a:p>
          </p:txBody>
        </p:sp>
        <p:sp>
          <p:nvSpPr>
            <p:cNvPr id="24" name="Ellipse 24"/>
            <p:cNvSpPr/>
            <p:nvPr/>
          </p:nvSpPr>
          <p:spPr>
            <a:xfrm>
              <a:off x="4572000" y="3333750"/>
              <a:ext cx="571500" cy="571500"/>
            </a:xfrm>
            <a:prstGeom prst="ellipse">
              <a:avLst/>
            </a:prstGeom>
            <a:solidFill>
              <a:schemeClr val="accent5"/>
            </a:solidFill>
            <a:ln w="22860">
              <a:solidFill>
                <a:srgbClr val="34D399"/>
              </a:solidFill>
            </a:ln>
          </p:spPr>
        </p:sp>
        <p:sp>
          <p:nvSpPr>
            <p:cNvPr id="25" name="TextBox 25"/>
            <p:cNvSpPr txBox="1"/>
            <p:nvPr/>
          </p:nvSpPr>
          <p:spPr>
            <a:xfrm>
              <a:off x="4764963" y="3545681"/>
              <a:ext cx="185574" cy="220028"/>
            </a:xfrm>
            <a:prstGeom prst="rect">
              <a:avLst/>
            </a:prstGeom>
            <a:noFill/>
            <a:ln>
              <a:noFill/>
            </a:ln>
          </p:spPr>
          <p:txBody>
            <a:bodyPr wrap="none" lIns="0" tIns="0" rIns="0" bIns="0" anchor="t" anchorCtr="0">
              <a:spAutoFit/>
            </a:bodyPr>
            <a:lstStyle/>
            <a:p>
              <a:pPr algn="ctr"/>
              <a:r>
                <a:rPr lang="en-US" sz="1120" b="1" dirty="0">
                  <a:solidFill>
                    <a:srgbClr val="34D399"/>
                  </a:solidFill>
                  <a:latin typeface="+mn-lt"/>
                  <a:ea typeface="+mn-ea"/>
                  <a:cs typeface="+mn-cs"/>
                </a:rPr>
                <a:t>q″</a:t>
              </a:r>
            </a:p>
          </p:txBody>
        </p:sp>
        <p:sp>
          <p:nvSpPr>
            <p:cNvPr id="26" name="TextBox 26"/>
            <p:cNvSpPr txBox="1"/>
            <p:nvPr/>
          </p:nvSpPr>
          <p:spPr>
            <a:xfrm>
              <a:off x="851916" y="4134802"/>
              <a:ext cx="4022694"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Link consecutive entries · group similar ones into states.</a:t>
              </a:r>
            </a:p>
          </p:txBody>
        </p:sp>
        <p:sp>
          <p:nvSpPr>
            <p:cNvPr id="27" name="TextBox 27"/>
            <p:cNvSpPr txBox="1"/>
            <p:nvPr/>
          </p:nvSpPr>
          <p:spPr>
            <a:xfrm>
              <a:off x="851916" y="4363402"/>
              <a:ext cx="3782411" cy="205359"/>
            </a:xfrm>
            <a:prstGeom prst="rect">
              <a:avLst/>
            </a:prstGeom>
            <a:noFill/>
            <a:ln>
              <a:noFill/>
            </a:ln>
          </p:spPr>
          <p:txBody>
            <a:bodyPr wrap="none" lIns="0" tIns="0" rIns="0" bIns="0" anchor="t" anchorCtr="0">
              <a:spAutoFit/>
            </a:bodyPr>
            <a:lstStyle/>
            <a:p>
              <a:pPr algn="l"/>
              <a:r>
                <a:rPr lang="en-US" sz="1050" dirty="0">
                  <a:solidFill>
                    <a:srgbClr val="9FB0CC"/>
                  </a:solidFill>
                  <a:latin typeface="+mn-lt"/>
                  <a:ea typeface="+mn-ea"/>
                  <a:cs typeface="+mn-cs"/>
                </a:rPr>
                <a:t>A full search fires only when transitions drop below τ.</a:t>
              </a:r>
            </a:p>
          </p:txBody>
        </p:sp>
      </p:grpSp>
      <p:grpSp>
        <p:nvGrpSpPr>
          <p:cNvPr id="41" name="Group 41"/>
          <p:cNvGrpSpPr/>
          <p:nvPr/>
        </p:nvGrpSpPr>
        <p:grpSpPr>
          <a:xfrm>
            <a:off x="6210300" y="2514600"/>
            <a:ext cx="5372100" cy="2209800"/>
            <a:chOff x="6210300" y="2514600"/>
            <a:chExt cx="5372100" cy="2209800"/>
          </a:xfrm>
        </p:grpSpPr>
        <p:sp>
          <p:nvSpPr>
            <p:cNvPr id="29" name="Rectangle 29"/>
            <p:cNvSpPr/>
            <p:nvPr/>
          </p:nvSpPr>
          <p:spPr>
            <a:xfrm>
              <a:off x="6210300" y="2514600"/>
              <a:ext cx="5372100" cy="2209800"/>
            </a:xfrm>
            <a:prstGeom prst="roundRect">
              <a:avLst>
                <a:gd name="adj" fmla="val 6034"/>
              </a:avLst>
            </a:prstGeom>
            <a:solidFill>
              <a:schemeClr val="accent5"/>
            </a:solidFill>
            <a:ln w="14288">
              <a:solidFill>
                <a:srgbClr val="2C3D63"/>
              </a:solidFill>
            </a:ln>
          </p:spPr>
        </p:sp>
        <p:sp>
          <p:nvSpPr>
            <p:cNvPr id="30" name="TextBox 30"/>
            <p:cNvSpPr txBox="1"/>
            <p:nvPr/>
          </p:nvSpPr>
          <p:spPr>
            <a:xfrm>
              <a:off x="6451473" y="2700814"/>
              <a:ext cx="1349057" cy="249364"/>
            </a:xfrm>
            <a:prstGeom prst="rect">
              <a:avLst/>
            </a:prstGeom>
            <a:noFill/>
            <a:ln>
              <a:noFill/>
            </a:ln>
          </p:spPr>
          <p:txBody>
            <a:bodyPr wrap="none" lIns="0" tIns="0" rIns="0" bIns="0" anchor="t" anchorCtr="0">
              <a:spAutoFit/>
            </a:bodyPr>
            <a:lstStyle/>
            <a:p>
              <a:pPr algn="l"/>
              <a:r>
                <a:rPr lang="en-US" sz="1280" b="1" dirty="0">
                  <a:solidFill>
                    <a:srgbClr val="34D399"/>
                  </a:solidFill>
                  <a:latin typeface="+mn-lt"/>
                  <a:ea typeface="+mn-ea"/>
                  <a:cs typeface="+mn-cs"/>
                </a:rPr>
                <a:t>Why it matters</a:t>
              </a:r>
            </a:p>
          </p:txBody>
        </p:sp>
        <p:sp>
          <p:nvSpPr>
            <p:cNvPr id="31" name="Ellipse 31"/>
            <p:cNvSpPr/>
            <p:nvPr/>
          </p:nvSpPr>
          <p:spPr>
            <a:xfrm>
              <a:off x="6496050" y="3105150"/>
              <a:ext cx="76200" cy="76200"/>
            </a:xfrm>
            <a:prstGeom prst="ellipse">
              <a:avLst/>
            </a:prstGeom>
            <a:solidFill>
              <a:srgbClr val="34D399"/>
            </a:solidFill>
            <a:ln>
              <a:noFill/>
            </a:ln>
          </p:spPr>
        </p:sp>
        <p:sp>
          <p:nvSpPr>
            <p:cNvPr id="32" name="TextBox 32"/>
            <p:cNvSpPr txBox="1"/>
            <p:nvPr/>
          </p:nvSpPr>
          <p:spPr>
            <a:xfrm>
              <a:off x="6661976" y="3073479"/>
              <a:ext cx="2958148"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Unsupervised, works with any base model</a:t>
              </a:r>
            </a:p>
          </p:txBody>
        </p:sp>
        <p:sp>
          <p:nvSpPr>
            <p:cNvPr id="33" name="Ellipse 33"/>
            <p:cNvSpPr/>
            <p:nvPr/>
          </p:nvSpPr>
          <p:spPr>
            <a:xfrm>
              <a:off x="6496050" y="3409950"/>
              <a:ext cx="76200" cy="76200"/>
            </a:xfrm>
            <a:prstGeom prst="ellipse">
              <a:avLst/>
            </a:prstGeom>
            <a:solidFill>
              <a:srgbClr val="34D399"/>
            </a:solidFill>
            <a:ln>
              <a:noFill/>
            </a:ln>
          </p:spPr>
        </p:sp>
        <p:sp>
          <p:nvSpPr>
            <p:cNvPr id="34" name="TextBox 34"/>
            <p:cNvSpPr txBox="1"/>
            <p:nvPr/>
          </p:nvSpPr>
          <p:spPr>
            <a:xfrm>
              <a:off x="6661976" y="3378279"/>
              <a:ext cx="1872033"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Transfers across domains</a:t>
              </a:r>
            </a:p>
          </p:txBody>
        </p:sp>
        <p:sp>
          <p:nvSpPr>
            <p:cNvPr id="35" name="Ellipse 35"/>
            <p:cNvSpPr/>
            <p:nvPr/>
          </p:nvSpPr>
          <p:spPr>
            <a:xfrm>
              <a:off x="6496050" y="3714750"/>
              <a:ext cx="76200" cy="76200"/>
            </a:xfrm>
            <a:prstGeom prst="ellipse">
              <a:avLst/>
            </a:prstGeom>
            <a:solidFill>
              <a:srgbClr val="34D399"/>
            </a:solidFill>
            <a:ln>
              <a:noFill/>
            </a:ln>
          </p:spPr>
        </p:sp>
        <p:sp>
          <p:nvSpPr>
            <p:cNvPr id="36" name="TextBox 36"/>
            <p:cNvSpPr txBox="1"/>
            <p:nvPr/>
          </p:nvSpPr>
          <p:spPr>
            <a:xfrm>
              <a:off x="6661976" y="3683079"/>
              <a:ext cx="3155999"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Unifies token, chunk and sequence retrieval</a:t>
              </a:r>
            </a:p>
          </p:txBody>
        </p:sp>
        <p:sp>
          <p:nvSpPr>
            <p:cNvPr id="37" name="Ellipse 37"/>
            <p:cNvSpPr/>
            <p:nvPr/>
          </p:nvSpPr>
          <p:spPr>
            <a:xfrm>
              <a:off x="6496050" y="4019550"/>
              <a:ext cx="76200" cy="76200"/>
            </a:xfrm>
            <a:prstGeom prst="ellipse">
              <a:avLst/>
            </a:prstGeom>
            <a:solidFill>
              <a:srgbClr val="34D399"/>
            </a:solidFill>
            <a:ln>
              <a:noFill/>
            </a:ln>
          </p:spPr>
        </p:sp>
        <p:sp>
          <p:nvSpPr>
            <p:cNvPr id="38" name="TextBox 38"/>
            <p:cNvSpPr txBox="1"/>
            <p:nvPr/>
          </p:nvSpPr>
          <p:spPr>
            <a:xfrm>
              <a:off x="6661976" y="3987879"/>
              <a:ext cx="2901870"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Cuts the dominant cost of retrieval LMs</a:t>
              </a:r>
            </a:p>
          </p:txBody>
        </p:sp>
        <p:sp>
          <p:nvSpPr>
            <p:cNvPr id="39" name="Ellipse 39"/>
            <p:cNvSpPr/>
            <p:nvPr/>
          </p:nvSpPr>
          <p:spPr>
            <a:xfrm>
              <a:off x="6496050" y="4324350"/>
              <a:ext cx="76200" cy="76200"/>
            </a:xfrm>
            <a:prstGeom prst="ellipse">
              <a:avLst/>
            </a:prstGeom>
            <a:solidFill>
              <a:srgbClr val="34D399"/>
            </a:solidFill>
            <a:ln>
              <a:noFill/>
            </a:ln>
          </p:spPr>
        </p:sp>
        <p:sp>
          <p:nvSpPr>
            <p:cNvPr id="40" name="TextBox 40"/>
            <p:cNvSpPr txBox="1"/>
            <p:nvPr/>
          </p:nvSpPr>
          <p:spPr>
            <a:xfrm>
              <a:off x="6661976" y="4292679"/>
              <a:ext cx="3209243" cy="212693"/>
            </a:xfrm>
            <a:prstGeom prst="rect">
              <a:avLst/>
            </a:prstGeom>
            <a:noFill/>
            <a:ln>
              <a:noFill/>
            </a:ln>
          </p:spPr>
          <p:txBody>
            <a:bodyPr wrap="none" lIns="0" tIns="0" rIns="0" bIns="0" anchor="t" anchorCtr="0">
              <a:spAutoFit/>
            </a:bodyPr>
            <a:lstStyle/>
            <a:p>
              <a:pPr algn="l"/>
              <a:r>
                <a:rPr lang="en-US" sz="1090" dirty="0">
                  <a:solidFill>
                    <a:srgbClr val="9FB0CC"/>
                  </a:solidFill>
                  <a:latin typeface="+mn-lt"/>
                  <a:ea typeface="+mn-ea"/>
                  <a:cs typeface="+mn-cs"/>
                </a:rPr>
                <a:t>Up to 83% fewer searches, or 1.85 lower ppl</a:t>
              </a:r>
            </a:p>
          </p:txBody>
        </p:sp>
      </p:grpSp>
      <p:sp>
        <p:nvSpPr>
          <p:cNvPr id="42" name="Rectangle 42"/>
          <p:cNvSpPr/>
          <p:nvPr/>
        </p:nvSpPr>
        <p:spPr>
          <a:xfrm>
            <a:off x="609600" y="4914900"/>
            <a:ext cx="10972800" cy="685800"/>
          </a:xfrm>
          <a:prstGeom prst="roundRect">
            <a:avLst>
              <a:gd name="adj" fmla="val 16667"/>
            </a:avLst>
          </a:prstGeom>
          <a:solidFill>
            <a:schemeClr val="accent5"/>
          </a:solidFill>
          <a:ln w="11430">
            <a:solidFill>
              <a:srgbClr val="2C3D63"/>
            </a:solidFill>
          </a:ln>
        </p:spPr>
        <p:txBody>
          <a:bodyPr/>
          <a:p/>
        </p:txBody>
      </p:sp>
      <p:sp>
        <p:nvSpPr>
          <p:cNvPr id="43" name="TextBox 43"/>
          <p:cNvSpPr txBox="1"/>
          <p:nvPr/>
        </p:nvSpPr>
        <p:spPr>
          <a:xfrm>
            <a:off x="851535" y="5212556"/>
            <a:ext cx="4636451" cy="220028"/>
          </a:xfrm>
          <a:prstGeom prst="rect">
            <a:avLst/>
          </a:prstGeom>
          <a:noFill/>
          <a:ln>
            <a:noFill/>
          </a:ln>
        </p:spPr>
        <p:txBody>
          <a:bodyPr wrap="none" lIns="0" tIns="0" rIns="0" bIns="0" anchor="t" anchorCtr="0">
            <a:spAutoFit/>
          </a:bodyPr>
          <a:lstStyle/>
          <a:p>
            <a:pPr algn="l"/>
            <a:r>
              <a:rPr lang="en-US" sz="1120" dirty="0">
                <a:solidFill>
                  <a:srgbClr val="9FB0CC"/>
                </a:solidFill>
                <a:latin typeface="+mn-lt"/>
                <a:ea typeface="+mn-ea"/>
                <a:cs typeface="+mn-cs"/>
              </a:rPr>
              <a:t>RetoMaton · Alon, Xu, He, Sengupta, Roth, Neubig · ICML 2022</a:t>
            </a:r>
          </a:p>
        </p:txBody>
      </p:sp>
      <p:sp>
        <p:nvSpPr>
          <p:cNvPr id="44" name="TextBox 44"/>
          <p:cNvSpPr txBox="1"/>
          <p:nvPr/>
        </p:nvSpPr>
        <p:spPr>
          <a:xfrm>
            <a:off x="9140242" y="5220652"/>
            <a:ext cx="2199842"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mn-lt"/>
                <a:ea typeface="+mn-ea"/>
                <a:cs typeface="+mn-cs"/>
              </a:rPr>
              <a:t>github.com/neulab/retomaton</a:t>
            </a:r>
          </a:p>
        </p:txBody>
      </p:sp>
      <p:sp>
        <p:nvSpPr>
          <p:cNvPr id="45" name="cue_s10_c1_lasting_idea_retrieval_datastore_str" title="cue_s10_c1_lasting_idea_retrieval_datastore_str" descr="cue_s10_c1_lasting_idea_retrieval_datastore_str The lasting idea is that a retrieval datastore has structure worth exploiting."/>
          <p:cNvSpPr/>
          <p:nvPr/>
        </p:nvSpPr>
        <p:spPr>
          <a:xfrm>
            <a:off x="609600" y="1143228"/>
            <a:ext cx="109728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2_linking_consecutive_entries_pointers" title="cue_s10_c2_linking_consecutive_entries_pointers" descr="cue_s10_c2_linking_consecutive_entries_pointers By linking consecutive entries with pointers and grouping similar ones into automaton states, RetoMaton lets a language model carry retrieval forward in time instead of searching from scratch at every token."/>
          <p:cNvSpPr/>
          <p:nvPr/>
        </p:nvSpPr>
        <p:spPr>
          <a:xfrm>
            <a:off x="609600" y="2514828"/>
            <a:ext cx="5371795"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3_unsupervised_works_any_base_transfer" title="cue_s10_c3_unsupervised_works_any_base_transfer" descr="cue_s10_c3_unsupervised_works_any_base_transfer It is unsupervised, works with any base model, transfers across domains, and unifies token, chunk, and sequence retrieval, all while cutting the dominant cost of retrieval-based language modeling."/>
          <p:cNvSpPr/>
          <p:nvPr/>
        </p:nvSpPr>
        <p:spPr>
          <a:xfrm>
            <a:off x="6210604" y="2514828"/>
            <a:ext cx="5371795"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9EEF8"/>
      </a:dk1>
      <a:lt1>
        <a:srgbClr val="0D1526"/>
      </a:lt1>
      <a:dk2>
        <a:srgbClr val="E9EEF8"/>
      </a:dk2>
      <a:lt2>
        <a:srgbClr val="0D1526"/>
      </a:lt2>
      <a:accent1>
        <a:srgbClr val="4DA3FF"/>
      </a:accent1>
      <a:accent2>
        <a:srgbClr val="4DA3FF"/>
      </a:accent2>
      <a:accent3>
        <a:srgbClr val="4DA3FF"/>
      </a:accent3>
      <a:accent4>
        <a:srgbClr val="8064A2"/>
      </a:accent4>
      <a:accent5>
        <a:srgbClr val="172038"/>
      </a:accent5>
      <a:accent6>
        <a:srgbClr val="1E2B4A"/>
      </a:accent6>
      <a:hlink>
        <a:srgbClr val="4DA3FF"/>
      </a:hlink>
      <a:folHlink>
        <a:srgbClr val="4DA3FF"/>
      </a:folHlink>
    </a:clrScheme>
    <a:fontScheme name="Free Design">
      <a:majorFont>
        <a:latin typeface="Inter"/>
        <a:ea typeface="Microsoft YaHei"/>
        <a:cs typeface="Inter"/>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Microsoft YaHei"/>
        <a:cs typeface="Inter"/>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2026-07-16T15:54:44Z</dcterms:created>
  <dcterms:modified xsi:type="dcterms:W3CDTF">2026-07-16T15:54:44Z</dcterms:modified>
  <cp:category/>
  <cp:contentStatus/>
</cp:coreProperties>
</file>
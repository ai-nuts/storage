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64547"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ICLR 2024</a:t>
            </a:r>
          </a:p>
        </p:txBody>
      </p:sp>
      <p:sp>
        <p:nvSpPr>
          <p:cNvPr id="3" name="TextBox 3"/>
          <p:cNvSpPr txBox="1"/>
          <p:nvPr/>
        </p:nvSpPr>
        <p:spPr>
          <a:xfrm>
            <a:off x="10034623" y="572452"/>
            <a:ext cx="155311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MSR Asia · NUS · IFIM</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6646" y="1153478"/>
            <a:ext cx="5935565"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n-lt"/>
                <a:ea typeface="+mn-ea"/>
                <a:cs typeface="+mn-cs"/>
              </a:rPr>
              <a:t>Inverse Approximation Theory for</a:t>
            </a:r>
          </a:p>
        </p:txBody>
      </p:sp>
      <p:sp>
        <p:nvSpPr>
          <p:cNvPr id="6" name="TextBox 6"/>
          <p:cNvSpPr txBox="1"/>
          <p:nvPr/>
        </p:nvSpPr>
        <p:spPr>
          <a:xfrm>
            <a:off x="596646" y="1553528"/>
            <a:ext cx="6541675"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Nonlinear Recurrent Neural Networks</a:t>
            </a:r>
          </a:p>
        </p:txBody>
      </p:sp>
      <p:sp>
        <p:nvSpPr>
          <p:cNvPr id="7" name="Rectangle 7"/>
          <p:cNvSpPr/>
          <p:nvPr/>
        </p:nvSpPr>
        <p:spPr>
          <a:xfrm>
            <a:off x="609600" y="2057400"/>
            <a:ext cx="2209800" cy="285750"/>
          </a:xfrm>
          <a:prstGeom prst="roundRect">
            <a:avLst>
              <a:gd name="adj" fmla="val 50000"/>
            </a:avLst>
          </a:prstGeom>
          <a:solidFill>
            <a:srgbClr val="0F2E2B"/>
          </a:solidFill>
          <a:ln w="14288">
            <a:solidFill>
              <a:srgbClr val="34D3C0"/>
            </a:solidFill>
          </a:ln>
        </p:spPr>
        <p:txBody>
          <a:bodyPr/>
          <a:p/>
        </p:txBody>
      </p:sp>
      <p:sp>
        <p:nvSpPr>
          <p:cNvPr id="8" name="TextBox 8"/>
          <p:cNvSpPr txBox="1"/>
          <p:nvPr/>
        </p:nvSpPr>
        <p:spPr>
          <a:xfrm>
            <a:off x="704807" y="2118360"/>
            <a:ext cx="2019387" cy="234696"/>
          </a:xfrm>
          <a:prstGeom prst="rect">
            <a:avLst/>
          </a:prstGeom>
          <a:noFill/>
          <a:ln>
            <a:noFill/>
          </a:ln>
        </p:spPr>
        <p:txBody>
          <a:bodyPr wrap="none" lIns="0" tIns="0" rIns="0" bIns="0" anchor="t" anchorCtr="0">
            <a:spAutoFit/>
          </a:bodyPr>
          <a:lstStyle/>
          <a:p>
            <a:pPr algn="ctr"/>
            <a:r>
              <a:rPr lang="en-US" sz="1200" b="1" dirty="0">
                <a:solidFill>
                  <a:srgbClr val="34D3C0"/>
                </a:solidFill>
                <a:latin typeface="+mn-lt"/>
                <a:ea typeface="+mn-ea"/>
                <a:cs typeface="+mn-cs"/>
              </a:rPr>
              <a:t>Bernstein-type theorem</a:t>
            </a:r>
          </a:p>
        </p:txBody>
      </p:sp>
      <p:sp>
        <p:nvSpPr>
          <p:cNvPr id="9" name="TextBox 9"/>
          <p:cNvSpPr txBox="1"/>
          <p:nvPr/>
        </p:nvSpPr>
        <p:spPr>
          <a:xfrm>
            <a:off x="2966085" y="2126456"/>
            <a:ext cx="5346582"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efficient stable approximation forces exponentially decaying memory</a:t>
            </a:r>
          </a:p>
        </p:txBody>
      </p:sp>
      <p:sp>
        <p:nvSpPr>
          <p:cNvPr id="10" name="TextBox 10"/>
          <p:cNvSpPr txBox="1"/>
          <p:nvPr/>
        </p:nvSpPr>
        <p:spPr>
          <a:xfrm>
            <a:off x="603885" y="2469356"/>
            <a:ext cx="2554616" cy="220028"/>
          </a:xfrm>
          <a:prstGeom prst="rect">
            <a:avLst/>
          </a:prstGeom>
          <a:noFill/>
          <a:ln>
            <a:noFill/>
          </a:ln>
        </p:spPr>
        <p:txBody>
          <a:bodyPr wrap="none" lIns="0" tIns="0" rIns="0" bIns="0" anchor="t" anchorCtr="0">
            <a:spAutoFit/>
          </a:bodyPr>
          <a:lstStyle/>
          <a:p>
            <a:pPr algn="l"/>
            <a:r>
              <a:rPr lang="en-US" sz="1120" dirty="0">
                <a:solidFill>
                  <a:srgbClr val="6E869C"/>
                </a:solidFill>
                <a:latin typeface="+mn-lt"/>
                <a:ea typeface="+mn-ea"/>
                <a:cs typeface="+mn-cs"/>
              </a:rPr>
              <a:t>Zhong Li · Shida Wang · Qianxiao Li</a:t>
            </a:r>
          </a:p>
        </p:txBody>
      </p:sp>
      <p:grpSp>
        <p:nvGrpSpPr>
          <p:cNvPr id="19" name="Group 19"/>
          <p:cNvGrpSpPr/>
          <p:nvPr/>
        </p:nvGrpSpPr>
        <p:grpSpPr>
          <a:xfrm>
            <a:off x="609600" y="2857500"/>
            <a:ext cx="2609850" cy="2152650"/>
            <a:chOff x="609600" y="2857500"/>
            <a:chExt cx="2609850" cy="2152650"/>
          </a:xfrm>
        </p:grpSpPr>
        <p:sp>
          <p:nvSpPr>
            <p:cNvPr id="11" name="Rectangle 11"/>
            <p:cNvSpPr/>
            <p:nvPr/>
          </p:nvSpPr>
          <p:spPr>
            <a:xfrm>
              <a:off x="609600" y="2857500"/>
              <a:ext cx="2609850" cy="2152650"/>
            </a:xfrm>
            <a:prstGeom prst="roundRect">
              <a:avLst>
                <a:gd name="adj" fmla="val 6195"/>
              </a:avLst>
            </a:prstGeom>
            <a:solidFill>
              <a:schemeClr val="accent5"/>
            </a:solidFill>
            <a:ln w="14288">
              <a:solidFill>
                <a:srgbClr val="26455F"/>
              </a:solidFill>
            </a:ln>
          </p:spPr>
        </p:sp>
        <p:sp>
          <p:nvSpPr>
            <p:cNvPr id="12" name="Rectangle 12"/>
            <p:cNvSpPr/>
            <p:nvPr/>
          </p:nvSpPr>
          <p:spPr>
            <a:xfrm>
              <a:off x="609600" y="2857500"/>
              <a:ext cx="2609850" cy="57150"/>
            </a:xfrm>
            <a:prstGeom prst="roundRect">
              <a:avLst>
                <a:gd name="adj" fmla="val 50000"/>
              </a:avLst>
            </a:prstGeom>
            <a:solidFill>
              <a:schemeClr val="accent2"/>
            </a:solidFill>
            <a:ln>
              <a:noFill/>
            </a:ln>
          </p:spPr>
        </p:sp>
        <p:sp>
          <p:nvSpPr>
            <p:cNvPr id="13" name="Ellipse 13"/>
            <p:cNvSpPr/>
            <p:nvPr/>
          </p:nvSpPr>
          <p:spPr>
            <a:xfrm>
              <a:off x="809625" y="3248025"/>
              <a:ext cx="133350" cy="133350"/>
            </a:xfrm>
            <a:prstGeom prst="ellipse">
              <a:avLst/>
            </a:prstGeom>
            <a:solidFill>
              <a:schemeClr val="accent2"/>
            </a:solidFill>
            <a:ln>
              <a:noFill/>
            </a:ln>
          </p:spPr>
        </p:sp>
        <p:sp>
          <p:nvSpPr>
            <p:cNvPr id="14" name="TextBox 14"/>
            <p:cNvSpPr txBox="1"/>
            <p:nvPr/>
          </p:nvSpPr>
          <p:spPr>
            <a:xfrm>
              <a:off x="1041844" y="3246358"/>
              <a:ext cx="195660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RNNs, but memory fades</a:t>
              </a:r>
            </a:p>
          </p:txBody>
        </p:sp>
        <p:sp>
          <p:nvSpPr>
            <p:cNvPr id="15" name="TextBox 15"/>
            <p:cNvSpPr txBox="1"/>
            <p:nvPr/>
          </p:nvSpPr>
          <p:spPr>
            <a:xfrm>
              <a:off x="814006" y="3643551"/>
              <a:ext cx="18844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workhorse for sequence</a:t>
              </a:r>
            </a:p>
          </p:txBody>
        </p:sp>
        <p:sp>
          <p:nvSpPr>
            <p:cNvPr id="16" name="TextBox 16"/>
            <p:cNvSpPr txBox="1"/>
            <p:nvPr/>
          </p:nvSpPr>
          <p:spPr>
            <a:xfrm>
              <a:off x="814006" y="3853101"/>
              <a:ext cx="163588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data, yet RNNs famously</a:t>
              </a:r>
            </a:p>
          </p:txBody>
        </p:sp>
        <p:sp>
          <p:nvSpPr>
            <p:cNvPr id="17" name="TextBox 17"/>
            <p:cNvSpPr txBox="1"/>
            <p:nvPr/>
          </p:nvSpPr>
          <p:spPr>
            <a:xfrm>
              <a:off x="814006" y="4062651"/>
              <a:ext cx="20701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struggle the moment the signal</a:t>
              </a:r>
            </a:p>
          </p:txBody>
        </p:sp>
        <p:sp>
          <p:nvSpPr>
            <p:cNvPr id="18" name="TextBox 18"/>
            <p:cNvSpPr txBox="1"/>
            <p:nvPr/>
          </p:nvSpPr>
          <p:spPr>
            <a:xfrm>
              <a:off x="814006" y="4272201"/>
              <a:ext cx="21857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carries long-term dependencies.</a:t>
              </a:r>
            </a:p>
          </p:txBody>
        </p:sp>
      </p:grpSp>
      <p:grpSp>
        <p:nvGrpSpPr>
          <p:cNvPr id="29" name="Group 29"/>
          <p:cNvGrpSpPr/>
          <p:nvPr/>
        </p:nvGrpSpPr>
        <p:grpSpPr>
          <a:xfrm>
            <a:off x="3390900" y="2857500"/>
            <a:ext cx="2609850" cy="2152650"/>
            <a:chOff x="3390900" y="2857500"/>
            <a:chExt cx="2609850" cy="2152650"/>
          </a:xfrm>
        </p:grpSpPr>
        <p:sp>
          <p:nvSpPr>
            <p:cNvPr id="20" name="Rectangle 20"/>
            <p:cNvSpPr/>
            <p:nvPr/>
          </p:nvSpPr>
          <p:spPr>
            <a:xfrm>
              <a:off x="3390900" y="2857500"/>
              <a:ext cx="2609850" cy="2152650"/>
            </a:xfrm>
            <a:prstGeom prst="roundRect">
              <a:avLst>
                <a:gd name="adj" fmla="val 6195"/>
              </a:avLst>
            </a:prstGeom>
            <a:solidFill>
              <a:schemeClr val="accent5"/>
            </a:solidFill>
            <a:ln w="14288">
              <a:solidFill>
                <a:srgbClr val="26455F"/>
              </a:solidFill>
            </a:ln>
          </p:spPr>
        </p:sp>
        <p:sp>
          <p:nvSpPr>
            <p:cNvPr id="21" name="Rectangle 21"/>
            <p:cNvSpPr/>
            <p:nvPr/>
          </p:nvSpPr>
          <p:spPr>
            <a:xfrm>
              <a:off x="3390900" y="2857500"/>
              <a:ext cx="2609850" cy="57150"/>
            </a:xfrm>
            <a:prstGeom prst="roundRect">
              <a:avLst>
                <a:gd name="adj" fmla="val 50000"/>
              </a:avLst>
            </a:prstGeom>
            <a:solidFill>
              <a:srgbClr val="F2C14E"/>
            </a:solidFill>
            <a:ln>
              <a:noFill/>
            </a:ln>
          </p:spPr>
        </p:sp>
        <p:sp>
          <p:nvSpPr>
            <p:cNvPr id="22" name="Ellipse 22"/>
            <p:cNvSpPr/>
            <p:nvPr/>
          </p:nvSpPr>
          <p:spPr>
            <a:xfrm>
              <a:off x="3590925" y="3248025"/>
              <a:ext cx="133350" cy="133350"/>
            </a:xfrm>
            <a:prstGeom prst="ellipse">
              <a:avLst/>
            </a:prstGeom>
            <a:solidFill>
              <a:srgbClr val="F2C14E"/>
            </a:solidFill>
            <a:ln>
              <a:noFill/>
            </a:ln>
          </p:spPr>
        </p:sp>
        <p:sp>
          <p:nvSpPr>
            <p:cNvPr id="23" name="TextBox 23"/>
            <p:cNvSpPr txBox="1"/>
            <p:nvPr/>
          </p:nvSpPr>
          <p:spPr>
            <a:xfrm>
              <a:off x="3823144" y="3246358"/>
              <a:ext cx="1550328"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An inverse theorem</a:t>
              </a:r>
            </a:p>
          </p:txBody>
        </p:sp>
        <p:sp>
          <p:nvSpPr>
            <p:cNvPr id="24" name="TextBox 24"/>
            <p:cNvSpPr txBox="1"/>
            <p:nvPr/>
          </p:nvSpPr>
          <p:spPr>
            <a:xfrm>
              <a:off x="3595306" y="3643551"/>
              <a:ext cx="167846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Bernstein-type result:</a:t>
              </a:r>
            </a:p>
          </p:txBody>
        </p:sp>
        <p:sp>
          <p:nvSpPr>
            <p:cNvPr id="25" name="TextBox 25"/>
            <p:cNvSpPr txBox="1"/>
            <p:nvPr/>
          </p:nvSpPr>
          <p:spPr>
            <a:xfrm>
              <a:off x="3595306" y="3853101"/>
              <a:ext cx="18257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whatever an RNN can stably</a:t>
              </a:r>
            </a:p>
          </p:txBody>
        </p:sp>
        <p:sp>
          <p:nvSpPr>
            <p:cNvPr id="26" name="TextBox 26"/>
            <p:cNvSpPr txBox="1"/>
            <p:nvPr/>
          </p:nvSpPr>
          <p:spPr>
            <a:xfrm>
              <a:off x="3595306" y="4062651"/>
              <a:ext cx="21925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approximate must have a memory</a:t>
              </a:r>
            </a:p>
          </p:txBody>
        </p:sp>
        <p:sp>
          <p:nvSpPr>
            <p:cNvPr id="27" name="TextBox 27"/>
            <p:cNvSpPr txBox="1"/>
            <p:nvPr/>
          </p:nvSpPr>
          <p:spPr>
            <a:xfrm>
              <a:off x="3595306" y="4272201"/>
              <a:ext cx="18662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that decays exponentially in</a:t>
              </a:r>
            </a:p>
          </p:txBody>
        </p:sp>
        <p:sp>
          <p:nvSpPr>
            <p:cNvPr id="28" name="TextBox 28"/>
            <p:cNvSpPr txBox="1"/>
            <p:nvPr/>
          </p:nvSpPr>
          <p:spPr>
            <a:xfrm>
              <a:off x="3595306" y="4481751"/>
              <a:ext cx="37739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time.</a:t>
              </a:r>
            </a:p>
          </p:txBody>
        </p:sp>
      </p:grpSp>
      <p:grpSp>
        <p:nvGrpSpPr>
          <p:cNvPr id="39" name="Group 39"/>
          <p:cNvGrpSpPr/>
          <p:nvPr/>
        </p:nvGrpSpPr>
        <p:grpSpPr>
          <a:xfrm>
            <a:off x="6172200" y="2857500"/>
            <a:ext cx="2609850" cy="2152650"/>
            <a:chOff x="6172200" y="2857500"/>
            <a:chExt cx="2609850" cy="2152650"/>
          </a:xfrm>
        </p:grpSpPr>
        <p:sp>
          <p:nvSpPr>
            <p:cNvPr id="30" name="Rectangle 30"/>
            <p:cNvSpPr/>
            <p:nvPr/>
          </p:nvSpPr>
          <p:spPr>
            <a:xfrm>
              <a:off x="6172200" y="2857500"/>
              <a:ext cx="2609850" cy="2152650"/>
            </a:xfrm>
            <a:prstGeom prst="roundRect">
              <a:avLst>
                <a:gd name="adj" fmla="val 6195"/>
              </a:avLst>
            </a:prstGeom>
            <a:solidFill>
              <a:schemeClr val="accent5"/>
            </a:solidFill>
            <a:ln w="14288">
              <a:solidFill>
                <a:srgbClr val="26455F"/>
              </a:solidFill>
            </a:ln>
          </p:spPr>
        </p:sp>
        <p:sp>
          <p:nvSpPr>
            <p:cNvPr id="31" name="Rectangle 31"/>
            <p:cNvSpPr/>
            <p:nvPr/>
          </p:nvSpPr>
          <p:spPr>
            <a:xfrm>
              <a:off x="6172200" y="2857500"/>
              <a:ext cx="2609850" cy="57150"/>
            </a:xfrm>
            <a:prstGeom prst="roundRect">
              <a:avLst>
                <a:gd name="adj" fmla="val 50000"/>
              </a:avLst>
            </a:prstGeom>
            <a:solidFill>
              <a:srgbClr val="34D3C0"/>
            </a:solidFill>
            <a:ln>
              <a:noFill/>
            </a:ln>
          </p:spPr>
        </p:sp>
        <p:sp>
          <p:nvSpPr>
            <p:cNvPr id="32" name="Ellipse 32"/>
            <p:cNvSpPr/>
            <p:nvPr/>
          </p:nvSpPr>
          <p:spPr>
            <a:xfrm>
              <a:off x="6372225" y="3248025"/>
              <a:ext cx="133350" cy="133350"/>
            </a:xfrm>
            <a:prstGeom prst="ellipse">
              <a:avLst/>
            </a:prstGeom>
            <a:solidFill>
              <a:srgbClr val="34D3C0"/>
            </a:solidFill>
            <a:ln>
              <a:noFill/>
            </a:ln>
          </p:spPr>
        </p:sp>
        <p:sp>
          <p:nvSpPr>
            <p:cNvPr id="33" name="TextBox 33"/>
            <p:cNvSpPr txBox="1"/>
            <p:nvPr/>
          </p:nvSpPr>
          <p:spPr>
            <a:xfrm>
              <a:off x="6604444" y="3246358"/>
              <a:ext cx="1697481"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Not just optimization</a:t>
              </a:r>
            </a:p>
          </p:txBody>
        </p:sp>
        <p:sp>
          <p:nvSpPr>
            <p:cNvPr id="34" name="TextBox 34"/>
            <p:cNvSpPr txBox="1"/>
            <p:nvPr/>
          </p:nvSpPr>
          <p:spPr>
            <a:xfrm>
              <a:off x="6376606" y="3643551"/>
              <a:ext cx="20542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 the failure is a fundamental</a:t>
              </a:r>
            </a:p>
          </p:txBody>
        </p:sp>
        <p:sp>
          <p:nvSpPr>
            <p:cNvPr id="35" name="TextBox 35"/>
            <p:cNvSpPr txBox="1"/>
            <p:nvPr/>
          </p:nvSpPr>
          <p:spPr>
            <a:xfrm>
              <a:off x="6376606" y="3853101"/>
              <a:ext cx="17977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limit of the RNN hypothesis</a:t>
              </a:r>
            </a:p>
          </p:txBody>
        </p:sp>
        <p:sp>
          <p:nvSpPr>
            <p:cNvPr id="36" name="TextBox 36"/>
            <p:cNvSpPr txBox="1"/>
            <p:nvPr/>
          </p:nvSpPr>
          <p:spPr>
            <a:xfrm>
              <a:off x="6376606" y="4062651"/>
              <a:ext cx="200899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space, extending the curse of</a:t>
              </a:r>
            </a:p>
          </p:txBody>
        </p:sp>
        <p:sp>
          <p:nvSpPr>
            <p:cNvPr id="37" name="TextBox 37"/>
            <p:cNvSpPr txBox="1"/>
            <p:nvPr/>
          </p:nvSpPr>
          <p:spPr>
            <a:xfrm>
              <a:off x="6376606" y="4272201"/>
              <a:ext cx="14923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memory from linear to</a:t>
              </a:r>
            </a:p>
          </p:txBody>
        </p:sp>
        <p:sp>
          <p:nvSpPr>
            <p:cNvPr id="38" name="TextBox 38"/>
            <p:cNvSpPr txBox="1"/>
            <p:nvPr/>
          </p:nvSpPr>
          <p:spPr>
            <a:xfrm>
              <a:off x="6376606" y="4481751"/>
              <a:ext cx="69011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nonlinear.</a:t>
              </a:r>
            </a:p>
          </p:txBody>
        </p:sp>
      </p:grpSp>
      <p:grpSp>
        <p:nvGrpSpPr>
          <p:cNvPr id="48" name="Group 48"/>
          <p:cNvGrpSpPr/>
          <p:nvPr/>
        </p:nvGrpSpPr>
        <p:grpSpPr>
          <a:xfrm>
            <a:off x="8953500" y="2857500"/>
            <a:ext cx="2609850" cy="2152650"/>
            <a:chOff x="8953500" y="2857500"/>
            <a:chExt cx="2609850" cy="2152650"/>
          </a:xfrm>
        </p:grpSpPr>
        <p:sp>
          <p:nvSpPr>
            <p:cNvPr id="40" name="Rectangle 40"/>
            <p:cNvSpPr/>
            <p:nvPr/>
          </p:nvSpPr>
          <p:spPr>
            <a:xfrm>
              <a:off x="8953500" y="2857500"/>
              <a:ext cx="2609850" cy="2152650"/>
            </a:xfrm>
            <a:prstGeom prst="roundRect">
              <a:avLst>
                <a:gd name="adj" fmla="val 6195"/>
              </a:avLst>
            </a:prstGeom>
            <a:solidFill>
              <a:schemeClr val="accent5"/>
            </a:solidFill>
            <a:ln w="14288">
              <a:solidFill>
                <a:srgbClr val="26455F"/>
              </a:solidFill>
            </a:ln>
          </p:spPr>
        </p:sp>
        <p:sp>
          <p:nvSpPr>
            <p:cNvPr id="41" name="Rectangle 41"/>
            <p:cNvSpPr/>
            <p:nvPr/>
          </p:nvSpPr>
          <p:spPr>
            <a:xfrm>
              <a:off x="8953500" y="2857500"/>
              <a:ext cx="2609850" cy="57150"/>
            </a:xfrm>
            <a:prstGeom prst="roundRect">
              <a:avLst>
                <a:gd name="adj" fmla="val 50000"/>
              </a:avLst>
            </a:prstGeom>
            <a:solidFill>
              <a:srgbClr val="48C78E"/>
            </a:solidFill>
            <a:ln>
              <a:noFill/>
            </a:ln>
          </p:spPr>
        </p:sp>
        <p:sp>
          <p:nvSpPr>
            <p:cNvPr id="42" name="Ellipse 42"/>
            <p:cNvSpPr/>
            <p:nvPr/>
          </p:nvSpPr>
          <p:spPr>
            <a:xfrm>
              <a:off x="9153525" y="3248025"/>
              <a:ext cx="133350" cy="133350"/>
            </a:xfrm>
            <a:prstGeom prst="ellipse">
              <a:avLst/>
            </a:prstGeom>
            <a:solidFill>
              <a:srgbClr val="48C78E"/>
            </a:solidFill>
            <a:ln>
              <a:noFill/>
            </a:ln>
          </p:spPr>
        </p:sp>
        <p:sp>
          <p:nvSpPr>
            <p:cNvPr id="43" name="TextBox 43"/>
            <p:cNvSpPr txBox="1"/>
            <p:nvPr/>
          </p:nvSpPr>
          <p:spPr>
            <a:xfrm>
              <a:off x="9385744" y="3246358"/>
              <a:ext cx="1344957"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 principled cure</a:t>
              </a:r>
            </a:p>
          </p:txBody>
        </p:sp>
        <p:sp>
          <p:nvSpPr>
            <p:cNvPr id="44" name="TextBox 44"/>
            <p:cNvSpPr txBox="1"/>
            <p:nvPr/>
          </p:nvSpPr>
          <p:spPr>
            <a:xfrm>
              <a:off x="9157906" y="3643551"/>
              <a:ext cx="208130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stable reparameterization of</a:t>
              </a:r>
            </a:p>
          </p:txBody>
        </p:sp>
        <p:sp>
          <p:nvSpPr>
            <p:cNvPr id="45" name="TextBox 45"/>
            <p:cNvSpPr txBox="1"/>
            <p:nvPr/>
          </p:nvSpPr>
          <p:spPr>
            <a:xfrm>
              <a:off x="9157906" y="3853101"/>
              <a:ext cx="216522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recurrent weights lets RNNs</a:t>
              </a:r>
            </a:p>
          </p:txBody>
        </p:sp>
        <p:sp>
          <p:nvSpPr>
            <p:cNvPr id="46" name="TextBox 46"/>
            <p:cNvSpPr txBox="1"/>
            <p:nvPr/>
          </p:nvSpPr>
          <p:spPr>
            <a:xfrm>
              <a:off x="9157906" y="4062651"/>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escape the limit, confirmed</a:t>
              </a:r>
            </a:p>
          </p:txBody>
        </p:sp>
        <p:sp>
          <p:nvSpPr>
            <p:cNvPr id="47" name="TextBox 47"/>
            <p:cNvSpPr txBox="1"/>
            <p:nvPr/>
          </p:nvSpPr>
          <p:spPr>
            <a:xfrm>
              <a:off x="9157906" y="4272201"/>
              <a:ext cx="19070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 numerical experiments.</a:t>
              </a:r>
            </a:p>
          </p:txBody>
        </p:sp>
      </p:grpSp>
      <p:sp>
        <p:nvSpPr>
          <p:cNvPr id="49" name="Line 49"/>
          <p:cNvSpPr/>
          <p:nvPr/>
        </p:nvSpPr>
        <p:spPr>
          <a:xfrm>
            <a:off x="609600" y="54292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0" name="TextBox 50"/>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arXiv:2305.19190</a:t>
            </a:r>
          </a:p>
        </p:txBody>
      </p:sp>
      <p:sp>
        <p:nvSpPr>
          <p:cNvPr id="51" name="TextBox 51"/>
          <p:cNvSpPr txBox="1"/>
          <p:nvPr/>
        </p:nvSpPr>
        <p:spPr>
          <a:xfrm>
            <a:off x="2852166" y="5658802"/>
            <a:ext cx="342970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Extends the curse of memory to nonlinear RNNs</a:t>
            </a:r>
          </a:p>
        </p:txBody>
      </p:sp>
      <p:sp>
        <p:nvSpPr>
          <p:cNvPr id="52" name="TextBox 52"/>
          <p:cNvSpPr txBox="1"/>
          <p:nvPr/>
        </p:nvSpPr>
        <p:spPr>
          <a:xfrm>
            <a:off x="8240469" y="5658802"/>
            <a:ext cx="3347265" cy="205359"/>
          </a:xfrm>
          <a:prstGeom prst="rect">
            <a:avLst/>
          </a:prstGeom>
          <a:noFill/>
          <a:ln>
            <a:noFill/>
          </a:ln>
        </p:spPr>
        <p:txBody>
          <a:bodyPr wrap="none" lIns="0" tIns="0" rIns="0" bIns="0" anchor="t" anchorCtr="0">
            <a:spAutoFit/>
          </a:bodyPr>
          <a:lstStyle/>
          <a:p>
            <a:pPr algn="r"/>
            <a:r>
              <a:rPr lang="en-US" sz="1050" b="1" dirty="0">
                <a:solidFill>
                  <a:srgbClr val="34D3C0"/>
                </a:solidFill>
                <a:latin typeface="+mn-lt"/>
                <a:ea typeface="+mn-ea"/>
                <a:cs typeface="+mn-cs"/>
              </a:rPr>
              <a:t>Stable reparameterization provably relaxes it</a:t>
            </a:r>
          </a:p>
        </p:txBody>
      </p:sp>
      <p:sp>
        <p:nvSpPr>
          <p:cNvPr id="53" name="cue_s01_c1_recurrent_neural_networks_workhorse" title="cue_s01_c1_recurrent_neural_networks_workhorse" descr="cue_s01_c1_recurrent_neural_networks_workhorse Recurrent neural networks are a workhorse for sequence data, yet they famously struggle when the data carries long-term dependencies. This paper asks why, from the rigorous viewpoint of approximation theory."/>
          <p:cNvSpPr/>
          <p:nvPr/>
        </p:nvSpPr>
        <p:spPr>
          <a:xfrm>
            <a:off x="60960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1_c2_authors_prove_inverse_bernstein_type" title="cue_s01_c2_authors_prove_inverse_bernstein_type" descr="cue_s01_c2_authors_prove_inverse_bernstein_type The authors prove an inverse, or Bernstein-type, theorem for nonlinear RNNs: any sequence relationship that can be stably approximated by an RNN must have a memory that decays exponentially in time."/>
          <p:cNvSpPr/>
          <p:nvPr/>
        </p:nvSpPr>
        <p:spPr>
          <a:xfrm>
            <a:off x="3390595"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3_other_words_difficulty_not_just" title="cue_s01_c3_other_words_difficulty_not_just" descr="cue_s01_c3_other_words_difficulty_not_just In other words, the difficulty is not just an optimization artifact, it is a fundamental limitation of the RNN hypothesis space, extending the known curse of memory from linear to nonlinear networks."/>
          <p:cNvSpPr/>
          <p:nvPr/>
        </p:nvSpPr>
        <p:spPr>
          <a:xfrm>
            <a:off x="6171590"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4_building_analysis_they_propose_princ" title="cue_s01_c4_building_analysis_they_propose_princ" descr="cue_s01_c4_building_analysis_they_propose_princ Building on this analysis, they propose a principled stable reparameterization that lets RNNs escape the limitation, and they confirm everything with numerical experiments."/>
          <p:cNvSpPr/>
          <p:nvPr/>
        </p:nvSpPr>
        <p:spPr>
          <a:xfrm>
            <a:off x="8953804" y="2857728"/>
            <a:ext cx="2610307"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514153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do RNNs fail on long memory?</a:t>
            </a:r>
          </a:p>
        </p:txBody>
      </p:sp>
      <p:grpSp>
        <p:nvGrpSpPr>
          <p:cNvPr id="22" name="Group 22"/>
          <p:cNvGrpSpPr/>
          <p:nvPr/>
        </p:nvGrpSpPr>
        <p:grpSpPr>
          <a:xfrm>
            <a:off x="609600" y="1447800"/>
            <a:ext cx="10972800" cy="1428750"/>
            <a:chOff x="609600" y="1447800"/>
            <a:chExt cx="10972800" cy="1428750"/>
          </a:xfrm>
        </p:grpSpPr>
        <p:sp>
          <p:nvSpPr>
            <p:cNvPr id="5" name="Rectangle 5"/>
            <p:cNvSpPr/>
            <p:nvPr/>
          </p:nvSpPr>
          <p:spPr>
            <a:xfrm>
              <a:off x="609600" y="144780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447800"/>
              <a:ext cx="57150" cy="1428750"/>
            </a:xfrm>
            <a:prstGeom prst="roundRect">
              <a:avLst>
                <a:gd name="adj" fmla="val 50000"/>
              </a:avLst>
            </a:prstGeom>
            <a:solidFill>
              <a:schemeClr val="accent2"/>
            </a:solidFill>
            <a:ln>
              <a:noFill/>
            </a:ln>
          </p:spPr>
        </p:sp>
        <p:sp>
          <p:nvSpPr>
            <p:cNvPr id="7" name="TextBox 7"/>
            <p:cNvSpPr txBox="1"/>
            <p:nvPr/>
          </p:nvSpPr>
          <p:spPr>
            <a:xfrm>
              <a:off x="870014" y="1657112"/>
              <a:ext cx="454373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RNNs: a basic model for sequential and temporal data</a:t>
              </a:r>
            </a:p>
          </p:txBody>
        </p:sp>
        <p:sp>
          <p:nvSpPr>
            <p:cNvPr id="8" name="TextBox 8"/>
            <p:cNvSpPr txBox="1"/>
            <p:nvPr/>
          </p:nvSpPr>
          <p:spPr>
            <a:xfrm>
              <a:off x="870585" y="1955006"/>
              <a:ext cx="7231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Recurrent networks are among the most fundamental architectures for learning from sequences,</a:t>
              </a:r>
            </a:p>
          </p:txBody>
        </p:sp>
        <p:sp>
          <p:nvSpPr>
            <p:cNvPr id="9" name="TextBox 9"/>
            <p:cNvSpPr txBox="1"/>
            <p:nvPr/>
          </p:nvSpPr>
          <p:spPr>
            <a:xfrm>
              <a:off x="870585" y="2183606"/>
              <a:ext cx="30570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spanning a wide range of everyday tasks.</a:t>
              </a:r>
            </a:p>
          </p:txBody>
        </p:sp>
        <p:sp>
          <p:nvSpPr>
            <p:cNvPr id="10" name="Rectangle 10"/>
            <p:cNvSpPr/>
            <p:nvPr/>
          </p:nvSpPr>
          <p:spPr>
            <a:xfrm>
              <a:off x="876300" y="2495550"/>
              <a:ext cx="2457450" cy="285750"/>
            </a:xfrm>
            <a:prstGeom prst="roundRect">
              <a:avLst>
                <a:gd name="adj" fmla="val 26667"/>
              </a:avLst>
            </a:prstGeom>
            <a:solidFill>
              <a:schemeClr val="accent6"/>
            </a:solidFill>
            <a:ln w="14288">
              <a:solidFill>
                <a:srgbClr val="26455F"/>
              </a:solidFill>
            </a:ln>
          </p:spPr>
        </p:sp>
        <p:sp>
          <p:nvSpPr>
            <p:cNvPr id="11" name="Ellipse 11"/>
            <p:cNvSpPr/>
            <p:nvPr/>
          </p:nvSpPr>
          <p:spPr>
            <a:xfrm>
              <a:off x="1000125" y="2590800"/>
              <a:ext cx="95250" cy="95250"/>
            </a:xfrm>
            <a:prstGeom prst="ellipse">
              <a:avLst/>
            </a:prstGeom>
            <a:solidFill>
              <a:srgbClr val="34D3C0"/>
            </a:solidFill>
            <a:ln>
              <a:noFill/>
            </a:ln>
          </p:spPr>
        </p:sp>
        <p:sp>
          <p:nvSpPr>
            <p:cNvPr id="12" name="TextBox 12"/>
            <p:cNvSpPr txBox="1"/>
            <p:nvPr/>
          </p:nvSpPr>
          <p:spPr>
            <a:xfrm>
              <a:off x="1195388" y="2584847"/>
              <a:ext cx="740310"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time series</a:t>
              </a:r>
            </a:p>
          </p:txBody>
        </p:sp>
        <p:sp>
          <p:nvSpPr>
            <p:cNvPr id="13" name="Rectangle 13"/>
            <p:cNvSpPr/>
            <p:nvPr/>
          </p:nvSpPr>
          <p:spPr>
            <a:xfrm>
              <a:off x="3448050" y="2495550"/>
              <a:ext cx="1809750" cy="285750"/>
            </a:xfrm>
            <a:prstGeom prst="roundRect">
              <a:avLst>
                <a:gd name="adj" fmla="val 26667"/>
              </a:avLst>
            </a:prstGeom>
            <a:solidFill>
              <a:schemeClr val="accent6"/>
            </a:solidFill>
            <a:ln w="14288">
              <a:solidFill>
                <a:srgbClr val="26455F"/>
              </a:solidFill>
            </a:ln>
          </p:spPr>
        </p:sp>
        <p:sp>
          <p:nvSpPr>
            <p:cNvPr id="14" name="Ellipse 14"/>
            <p:cNvSpPr/>
            <p:nvPr/>
          </p:nvSpPr>
          <p:spPr>
            <a:xfrm>
              <a:off x="3571875" y="2590800"/>
              <a:ext cx="95250" cy="95250"/>
            </a:xfrm>
            <a:prstGeom prst="ellipse">
              <a:avLst/>
            </a:prstGeom>
            <a:solidFill>
              <a:srgbClr val="34D3C0"/>
            </a:solidFill>
            <a:ln>
              <a:noFill/>
            </a:ln>
          </p:spPr>
        </p:sp>
        <p:sp>
          <p:nvSpPr>
            <p:cNvPr id="15" name="TextBox 15"/>
            <p:cNvSpPr txBox="1"/>
            <p:nvPr/>
          </p:nvSpPr>
          <p:spPr>
            <a:xfrm>
              <a:off x="3767138" y="2584847"/>
              <a:ext cx="447996"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speech</a:t>
              </a:r>
            </a:p>
          </p:txBody>
        </p:sp>
        <p:sp>
          <p:nvSpPr>
            <p:cNvPr id="16" name="Rectangle 16"/>
            <p:cNvSpPr/>
            <p:nvPr/>
          </p:nvSpPr>
          <p:spPr>
            <a:xfrm>
              <a:off x="5372100" y="2495550"/>
              <a:ext cx="1619250" cy="285750"/>
            </a:xfrm>
            <a:prstGeom prst="roundRect">
              <a:avLst>
                <a:gd name="adj" fmla="val 26667"/>
              </a:avLst>
            </a:prstGeom>
            <a:solidFill>
              <a:schemeClr val="accent6"/>
            </a:solidFill>
            <a:ln w="14288">
              <a:solidFill>
                <a:srgbClr val="26455F"/>
              </a:solidFill>
            </a:ln>
          </p:spPr>
        </p:sp>
        <p:sp>
          <p:nvSpPr>
            <p:cNvPr id="17" name="Ellipse 17"/>
            <p:cNvSpPr/>
            <p:nvPr/>
          </p:nvSpPr>
          <p:spPr>
            <a:xfrm>
              <a:off x="5495925" y="2590800"/>
              <a:ext cx="95250" cy="95250"/>
            </a:xfrm>
            <a:prstGeom prst="ellipse">
              <a:avLst/>
            </a:prstGeom>
            <a:solidFill>
              <a:srgbClr val="34D3C0"/>
            </a:solidFill>
            <a:ln>
              <a:noFill/>
            </a:ln>
          </p:spPr>
        </p:sp>
        <p:sp>
          <p:nvSpPr>
            <p:cNvPr id="18" name="TextBox 18"/>
            <p:cNvSpPr txBox="1"/>
            <p:nvPr/>
          </p:nvSpPr>
          <p:spPr>
            <a:xfrm>
              <a:off x="5691188" y="2584847"/>
              <a:ext cx="301839"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text</a:t>
              </a:r>
            </a:p>
          </p:txBody>
        </p:sp>
        <p:sp>
          <p:nvSpPr>
            <p:cNvPr id="19" name="Rectangle 19"/>
            <p:cNvSpPr/>
            <p:nvPr/>
          </p:nvSpPr>
          <p:spPr>
            <a:xfrm>
              <a:off x="7105650" y="2495550"/>
              <a:ext cx="2762250" cy="285750"/>
            </a:xfrm>
            <a:prstGeom prst="roundRect">
              <a:avLst>
                <a:gd name="adj" fmla="val 26667"/>
              </a:avLst>
            </a:prstGeom>
            <a:solidFill>
              <a:schemeClr val="accent6"/>
            </a:solidFill>
            <a:ln w="14288">
              <a:solidFill>
                <a:srgbClr val="26455F"/>
              </a:solidFill>
            </a:ln>
          </p:spPr>
        </p:sp>
        <p:sp>
          <p:nvSpPr>
            <p:cNvPr id="20" name="Ellipse 20"/>
            <p:cNvSpPr/>
            <p:nvPr/>
          </p:nvSpPr>
          <p:spPr>
            <a:xfrm>
              <a:off x="7229475" y="2590800"/>
              <a:ext cx="95250" cy="95250"/>
            </a:xfrm>
            <a:prstGeom prst="ellipse">
              <a:avLst/>
            </a:prstGeom>
            <a:solidFill>
              <a:srgbClr val="F2C14E"/>
            </a:solidFill>
            <a:ln>
              <a:noFill/>
            </a:ln>
          </p:spPr>
        </p:sp>
        <p:sp>
          <p:nvSpPr>
            <p:cNvPr id="21" name="TextBox 21"/>
            <p:cNvSpPr txBox="1"/>
            <p:nvPr/>
          </p:nvSpPr>
          <p:spPr>
            <a:xfrm>
              <a:off x="7424738" y="2584847"/>
              <a:ext cx="1218641"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sentiment analysis</a:t>
              </a:r>
            </a:p>
          </p:txBody>
        </p:sp>
      </p:grpSp>
      <p:grpSp>
        <p:nvGrpSpPr>
          <p:cNvPr id="34" name="Group 34"/>
          <p:cNvGrpSpPr/>
          <p:nvPr/>
        </p:nvGrpSpPr>
        <p:grpSpPr>
          <a:xfrm>
            <a:off x="609600" y="3048000"/>
            <a:ext cx="5334000" cy="2190750"/>
            <a:chOff x="609600" y="3048000"/>
            <a:chExt cx="5334000" cy="2190750"/>
          </a:xfrm>
        </p:grpSpPr>
        <p:sp>
          <p:nvSpPr>
            <p:cNvPr id="23" name="Rectangle 23"/>
            <p:cNvSpPr/>
            <p:nvPr/>
          </p:nvSpPr>
          <p:spPr>
            <a:xfrm>
              <a:off x="609600" y="3048000"/>
              <a:ext cx="5334000" cy="2190750"/>
            </a:xfrm>
            <a:prstGeom prst="roundRect">
              <a:avLst>
                <a:gd name="adj" fmla="val 6087"/>
              </a:avLst>
            </a:prstGeom>
            <a:solidFill>
              <a:schemeClr val="accent5"/>
            </a:solidFill>
            <a:ln w="14288">
              <a:solidFill>
                <a:srgbClr val="26455F"/>
              </a:solidFill>
            </a:ln>
          </p:spPr>
        </p:sp>
        <p:sp>
          <p:nvSpPr>
            <p:cNvPr id="24" name="Rectangle 24"/>
            <p:cNvSpPr/>
            <p:nvPr/>
          </p:nvSpPr>
          <p:spPr>
            <a:xfrm>
              <a:off x="609600" y="3048000"/>
              <a:ext cx="57150" cy="2190750"/>
            </a:xfrm>
            <a:prstGeom prst="roundRect">
              <a:avLst>
                <a:gd name="adj" fmla="val 50000"/>
              </a:avLst>
            </a:prstGeom>
            <a:solidFill>
              <a:srgbClr val="F2C14E"/>
            </a:solidFill>
            <a:ln>
              <a:noFill/>
            </a:ln>
          </p:spPr>
        </p:sp>
        <p:sp>
          <p:nvSpPr>
            <p:cNvPr id="25" name="TextBox 25"/>
            <p:cNvSpPr txBox="1"/>
            <p:nvPr/>
          </p:nvSpPr>
          <p:spPr>
            <a:xfrm>
              <a:off x="869823" y="3272314"/>
              <a:ext cx="2678405"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The long-standing observation</a:t>
              </a:r>
            </a:p>
          </p:txBody>
        </p:sp>
        <p:sp>
          <p:nvSpPr>
            <p:cNvPr id="26" name="TextBox 26"/>
            <p:cNvSpPr txBox="1"/>
            <p:nvPr/>
          </p:nvSpPr>
          <p:spPr>
            <a:xfrm>
              <a:off x="870776" y="3597354"/>
              <a:ext cx="41615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Empirically, RNNs falter whenever the data has long-term</a:t>
              </a:r>
            </a:p>
          </p:txBody>
        </p:sp>
        <p:sp>
          <p:nvSpPr>
            <p:cNvPr id="27" name="TextBox 27"/>
            <p:cNvSpPr txBox="1"/>
            <p:nvPr/>
          </p:nvSpPr>
          <p:spPr>
            <a:xfrm>
              <a:off x="870776" y="3816429"/>
              <a:ext cx="417100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dependencies: distant inputs stop influencing the output.</a:t>
              </a:r>
            </a:p>
          </p:txBody>
        </p:sp>
        <p:sp>
          <p:nvSpPr>
            <p:cNvPr id="28" name="Rectangle 28"/>
            <p:cNvSpPr/>
            <p:nvPr/>
          </p:nvSpPr>
          <p:spPr>
            <a:xfrm>
              <a:off x="876300" y="4476750"/>
              <a:ext cx="4800600" cy="304800"/>
            </a:xfrm>
            <a:prstGeom prst="roundRect">
              <a:avLst>
                <a:gd name="adj" fmla="val 25000"/>
              </a:avLst>
            </a:prstGeom>
            <a:solidFill>
              <a:schemeClr val="accent6"/>
            </a:solidFill>
            <a:ln w="14288">
              <a:solidFill>
                <a:srgbClr val="26455F"/>
              </a:solidFill>
            </a:ln>
          </p:spPr>
        </p:sp>
        <p:sp>
          <p:nvSpPr>
            <p:cNvPr id="29" name="Ellipse 29"/>
            <p:cNvSpPr/>
            <p:nvPr/>
          </p:nvSpPr>
          <p:spPr>
            <a:xfrm>
              <a:off x="1000125" y="4581525"/>
              <a:ext cx="95250" cy="95250"/>
            </a:xfrm>
            <a:prstGeom prst="ellipse">
              <a:avLst/>
            </a:prstGeom>
            <a:solidFill>
              <a:srgbClr val="48C78E"/>
            </a:solidFill>
            <a:ln>
              <a:noFill/>
            </a:ln>
          </p:spPr>
        </p:sp>
        <p:sp>
          <p:nvSpPr>
            <p:cNvPr id="30" name="TextBox 30"/>
            <p:cNvSpPr txBox="1"/>
            <p:nvPr/>
          </p:nvSpPr>
          <p:spPr>
            <a:xfrm>
              <a:off x="1195006" y="4567476"/>
              <a:ext cx="197329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short memory -&gt; learns fine</a:t>
              </a:r>
            </a:p>
          </p:txBody>
        </p:sp>
        <p:sp>
          <p:nvSpPr>
            <p:cNvPr id="31" name="Rectangle 31"/>
            <p:cNvSpPr/>
            <p:nvPr/>
          </p:nvSpPr>
          <p:spPr>
            <a:xfrm>
              <a:off x="876300" y="4857750"/>
              <a:ext cx="4800600" cy="304800"/>
            </a:xfrm>
            <a:prstGeom prst="roundRect">
              <a:avLst>
                <a:gd name="adj" fmla="val 25000"/>
              </a:avLst>
            </a:prstGeom>
            <a:solidFill>
              <a:schemeClr val="accent6"/>
            </a:solidFill>
            <a:ln w="14288">
              <a:solidFill>
                <a:srgbClr val="26455F"/>
              </a:solidFill>
            </a:ln>
          </p:spPr>
        </p:sp>
        <p:sp>
          <p:nvSpPr>
            <p:cNvPr id="32" name="Ellipse 32"/>
            <p:cNvSpPr/>
            <p:nvPr/>
          </p:nvSpPr>
          <p:spPr>
            <a:xfrm>
              <a:off x="1000125" y="4962525"/>
              <a:ext cx="95250" cy="95250"/>
            </a:xfrm>
            <a:prstGeom prst="ellipse">
              <a:avLst/>
            </a:prstGeom>
            <a:solidFill>
              <a:srgbClr val="F2685C"/>
            </a:solidFill>
            <a:ln>
              <a:noFill/>
            </a:ln>
          </p:spPr>
        </p:sp>
        <p:sp>
          <p:nvSpPr>
            <p:cNvPr id="33" name="TextBox 33"/>
            <p:cNvSpPr txBox="1"/>
            <p:nvPr/>
          </p:nvSpPr>
          <p:spPr>
            <a:xfrm>
              <a:off x="1195006" y="4948476"/>
              <a:ext cx="255863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long memory -&gt; training breaks down</a:t>
              </a:r>
            </a:p>
          </p:txBody>
        </p:sp>
      </p:grpSp>
      <p:grpSp>
        <p:nvGrpSpPr>
          <p:cNvPr id="46" name="Group 46"/>
          <p:cNvGrpSpPr/>
          <p:nvPr/>
        </p:nvGrpSpPr>
        <p:grpSpPr>
          <a:xfrm>
            <a:off x="6248400" y="3048000"/>
            <a:ext cx="5334000" cy="2190750"/>
            <a:chOff x="6248400" y="3048000"/>
            <a:chExt cx="5334000" cy="2190750"/>
          </a:xfrm>
        </p:grpSpPr>
        <p:sp>
          <p:nvSpPr>
            <p:cNvPr id="35" name="Rectangle 35"/>
            <p:cNvSpPr/>
            <p:nvPr/>
          </p:nvSpPr>
          <p:spPr>
            <a:xfrm>
              <a:off x="6248400" y="3048000"/>
              <a:ext cx="5334000" cy="2190750"/>
            </a:xfrm>
            <a:prstGeom prst="roundRect">
              <a:avLst>
                <a:gd name="adj" fmla="val 6087"/>
              </a:avLst>
            </a:prstGeom>
            <a:solidFill>
              <a:srgbClr val="2A1720"/>
            </a:solidFill>
            <a:ln w="14288">
              <a:solidFill>
                <a:srgbClr val="F2685C"/>
              </a:solidFill>
            </a:ln>
          </p:spPr>
        </p:sp>
        <p:sp>
          <p:nvSpPr>
            <p:cNvPr id="36" name="Rectangle 36"/>
            <p:cNvSpPr/>
            <p:nvPr/>
          </p:nvSpPr>
          <p:spPr>
            <a:xfrm>
              <a:off x="6248400" y="3048000"/>
              <a:ext cx="57150" cy="2190750"/>
            </a:xfrm>
            <a:prstGeom prst="roundRect">
              <a:avLst>
                <a:gd name="adj" fmla="val 50000"/>
              </a:avLst>
            </a:prstGeom>
            <a:solidFill>
              <a:srgbClr val="F2685C"/>
            </a:solidFill>
            <a:ln>
              <a:noFill/>
            </a:ln>
          </p:spPr>
        </p:sp>
        <p:sp>
          <p:nvSpPr>
            <p:cNvPr id="37" name="TextBox 37"/>
            <p:cNvSpPr txBox="1"/>
            <p:nvPr/>
          </p:nvSpPr>
          <p:spPr>
            <a:xfrm>
              <a:off x="6508814" y="3276362"/>
              <a:ext cx="1525628"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The open question</a:t>
              </a:r>
            </a:p>
          </p:txBody>
        </p:sp>
        <p:sp>
          <p:nvSpPr>
            <p:cNvPr id="38" name="TextBox 38"/>
            <p:cNvSpPr txBox="1"/>
            <p:nvPr/>
          </p:nvSpPr>
          <p:spPr>
            <a:xfrm>
              <a:off x="6509576" y="3597354"/>
              <a:ext cx="40217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Is this failure only about training dynamics, or a deeper</a:t>
              </a:r>
            </a:p>
          </p:txBody>
        </p:sp>
        <p:sp>
          <p:nvSpPr>
            <p:cNvPr id="39" name="TextBox 39"/>
            <p:cNvSpPr txBox="1"/>
            <p:nvPr/>
          </p:nvSpPr>
          <p:spPr>
            <a:xfrm>
              <a:off x="6509576" y="3816429"/>
              <a:ext cx="287283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limit on what RNNs can represent at all?</a:t>
              </a:r>
            </a:p>
          </p:txBody>
        </p:sp>
        <p:sp>
          <p:nvSpPr>
            <p:cNvPr id="40" name="Rectangle 40"/>
            <p:cNvSpPr/>
            <p:nvPr/>
          </p:nvSpPr>
          <p:spPr>
            <a:xfrm>
              <a:off x="6515100" y="4305300"/>
              <a:ext cx="4800600" cy="304800"/>
            </a:xfrm>
            <a:prstGeom prst="roundRect">
              <a:avLst>
                <a:gd name="adj" fmla="val 25000"/>
              </a:avLst>
            </a:prstGeom>
            <a:solidFill>
              <a:schemeClr val="accent6"/>
            </a:solidFill>
            <a:ln w="14288">
              <a:solidFill>
                <a:srgbClr val="26455F"/>
              </a:solidFill>
            </a:ln>
          </p:spPr>
        </p:sp>
        <p:sp>
          <p:nvSpPr>
            <p:cNvPr id="41" name="Ellipse 41"/>
            <p:cNvSpPr/>
            <p:nvPr/>
          </p:nvSpPr>
          <p:spPr>
            <a:xfrm>
              <a:off x="6638925" y="4410075"/>
              <a:ext cx="95250" cy="95250"/>
            </a:xfrm>
            <a:prstGeom prst="ellipse">
              <a:avLst/>
            </a:prstGeom>
            <a:solidFill>
              <a:srgbClr val="F2C14E"/>
            </a:solidFill>
            <a:ln>
              <a:noFill/>
            </a:ln>
          </p:spPr>
        </p:sp>
        <p:sp>
          <p:nvSpPr>
            <p:cNvPr id="42" name="TextBox 42"/>
            <p:cNvSpPr txBox="1"/>
            <p:nvPr/>
          </p:nvSpPr>
          <p:spPr>
            <a:xfrm>
              <a:off x="6833806" y="4396026"/>
              <a:ext cx="255863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just exploding / vanishing gradients?</a:t>
              </a:r>
            </a:p>
          </p:txBody>
        </p:sp>
        <p:sp>
          <p:nvSpPr>
            <p:cNvPr id="43" name="Rectangle 43"/>
            <p:cNvSpPr/>
            <p:nvPr/>
          </p:nvSpPr>
          <p:spPr>
            <a:xfrm>
              <a:off x="6515100" y="4686300"/>
              <a:ext cx="4800600" cy="304800"/>
            </a:xfrm>
            <a:prstGeom prst="roundRect">
              <a:avLst>
                <a:gd name="adj" fmla="val 25000"/>
              </a:avLst>
            </a:prstGeom>
            <a:solidFill>
              <a:schemeClr val="accent6"/>
            </a:solidFill>
            <a:ln w="14288">
              <a:solidFill>
                <a:srgbClr val="26455F"/>
              </a:solidFill>
            </a:ln>
          </p:spPr>
        </p:sp>
        <p:sp>
          <p:nvSpPr>
            <p:cNvPr id="44" name="Ellipse 44"/>
            <p:cNvSpPr/>
            <p:nvPr/>
          </p:nvSpPr>
          <p:spPr>
            <a:xfrm>
              <a:off x="6638925" y="4791075"/>
              <a:ext cx="95250" cy="95250"/>
            </a:xfrm>
            <a:prstGeom prst="ellipse">
              <a:avLst/>
            </a:prstGeom>
            <a:solidFill>
              <a:srgbClr val="F2685C"/>
            </a:solidFill>
            <a:ln>
              <a:noFill/>
            </a:ln>
          </p:spPr>
        </p:sp>
        <p:sp>
          <p:nvSpPr>
            <p:cNvPr id="45" name="TextBox 45"/>
            <p:cNvSpPr txBox="1"/>
            <p:nvPr/>
          </p:nvSpPr>
          <p:spPr>
            <a:xfrm>
              <a:off x="6833806" y="4777026"/>
              <a:ext cx="277991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or a structural limitation of the model?</a:t>
              </a:r>
            </a:p>
          </p:txBody>
        </p:sp>
      </p:grpSp>
      <p:grpSp>
        <p:nvGrpSpPr>
          <p:cNvPr id="48" name="Group 48"/>
          <p:cNvGrpSpPr/>
          <p:nvPr/>
        </p:nvGrpSpPr>
        <p:grpSpPr>
          <a:xfrm>
            <a:off x="604076" y="5540454"/>
            <a:ext cx="6025033" cy="212693"/>
            <a:chOff x="604076" y="5540454"/>
            <a:chExt cx="6025033" cy="212693"/>
          </a:xfrm>
        </p:grpSpPr>
        <p:sp>
          <p:nvSpPr>
            <p:cNvPr id="47" name="TextBox 47"/>
            <p:cNvSpPr txBox="1"/>
            <p:nvPr/>
          </p:nvSpPr>
          <p:spPr>
            <a:xfrm>
              <a:off x="604076" y="5540454"/>
              <a:ext cx="6025033"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Answering this needs an approximation-theoretic lens, not an optimization one.</a:t>
              </a:r>
            </a:p>
          </p:txBody>
        </p:sp>
      </p:grpSp>
      <p:sp>
        <p:nvSpPr>
          <p:cNvPr id="49" name="cue_s02_c1_recurrent_neural_networks_among_most" title="cue_s02_c1_recurrent_neural_networks_among_most" descr="cue_s02_c1_recurrent_neural_networks_among_most Recurrent neural networks are among the most basic models for learning from sequential and temporal data, with applications from time series and speech to text and sentiment."/>
          <p:cNvSpPr/>
          <p:nvPr/>
        </p:nvSpPr>
        <p:spPr>
          <a:xfrm>
            <a:off x="609600" y="1447723"/>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2_but_long_standing_empirical_observat" title="cue_s02_c2_but_long_standing_empirical_observat" descr="cue_s02_c2_but_long_standing_empirical_observat But a long-standing empirical observation is that they falter when the data has long-term dependencies."/>
          <p:cNvSpPr/>
          <p:nvPr/>
        </p:nvSpPr>
        <p:spPr>
          <a:xfrm>
            <a:off x="609600" y="3047695"/>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3_open_question_confronts_whether_fail" title="cue_s02_c3_open_question_confronts_whether_fail" descr="cue_s02_c3_open_question_confronts_whether_fail The open question this paper confronts is whether that failure is only about training dynamics, like exploding or vanishing gradients, or whether it reflects a deeper, structural limitation of what RNNs can represent at all."/>
          <p:cNvSpPr/>
          <p:nvPr/>
        </p:nvSpPr>
        <p:spPr>
          <a:xfrm>
            <a:off x="6248399" y="3047695"/>
            <a:ext cx="5334000"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4_answering_requires_approximation_the" title="cue_s02_c4_answering_requires_approximation_the" descr="cue_s02_c4_answering_requires_approximation_the Answering this requires an approximation-theoretic lens rather than an optimization one."/>
          <p:cNvSpPr/>
          <p:nvPr/>
        </p:nvSpPr>
        <p:spPr>
          <a:xfrm>
            <a:off x="603504" y="5540578"/>
            <a:ext cx="6025286" cy="21259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17124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directions of approximation theory</a:t>
            </a:r>
          </a:p>
        </p:txBody>
      </p:sp>
      <p:grpSp>
        <p:nvGrpSpPr>
          <p:cNvPr id="10" name="Group 10"/>
          <p:cNvGrpSpPr/>
          <p:nvPr/>
        </p:nvGrpSpPr>
        <p:grpSpPr>
          <a:xfrm>
            <a:off x="609600" y="1447800"/>
            <a:ext cx="10972800" cy="917734"/>
            <a:chOff x="609600" y="1447800"/>
            <a:chExt cx="10972800" cy="917734"/>
          </a:xfrm>
        </p:grpSpPr>
        <p:sp>
          <p:nvSpPr>
            <p:cNvPr id="5" name="Rectangle 5"/>
            <p:cNvSpPr/>
            <p:nvPr/>
          </p:nvSpPr>
          <p:spPr>
            <a:xfrm>
              <a:off x="609600" y="1447800"/>
              <a:ext cx="10972800" cy="876300"/>
            </a:xfrm>
            <a:prstGeom prst="roundRect">
              <a:avLst>
                <a:gd name="adj" fmla="val 15217"/>
              </a:avLst>
            </a:prstGeom>
            <a:solidFill>
              <a:schemeClr val="accent5"/>
            </a:solidFill>
            <a:ln w="14288">
              <a:solidFill>
                <a:srgbClr val="26455F"/>
              </a:solidFill>
            </a:ln>
          </p:spPr>
        </p:sp>
        <p:sp>
          <p:nvSpPr>
            <p:cNvPr id="6" name="Rectangle 6"/>
            <p:cNvSpPr/>
            <p:nvPr/>
          </p:nvSpPr>
          <p:spPr>
            <a:xfrm>
              <a:off x="609600" y="1447800"/>
              <a:ext cx="57150" cy="876300"/>
            </a:xfrm>
            <a:prstGeom prst="roundRect">
              <a:avLst>
                <a:gd name="adj" fmla="val 50000"/>
              </a:avLst>
            </a:prstGeom>
            <a:solidFill>
              <a:srgbClr val="34D3C0"/>
            </a:solidFill>
            <a:ln>
              <a:noFill/>
            </a:ln>
          </p:spPr>
        </p:sp>
        <p:sp>
          <p:nvSpPr>
            <p:cNvPr id="7" name="TextBox 7"/>
            <p:cNvSpPr txBox="1"/>
            <p:nvPr/>
          </p:nvSpPr>
          <p:spPr>
            <a:xfrm>
              <a:off x="870585" y="1650206"/>
              <a:ext cx="2970985"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Forward · Jackson-type theorems</a:t>
              </a:r>
            </a:p>
          </p:txBody>
        </p:sp>
        <p:sp>
          <p:nvSpPr>
            <p:cNvPr id="8" name="TextBox 8"/>
            <p:cNvSpPr txBox="1"/>
            <p:nvPr/>
          </p:nvSpPr>
          <p:spPr>
            <a:xfrm>
              <a:off x="870585" y="1916906"/>
              <a:ext cx="734956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Assume the target is regular, then bound how well the model can approximate it. They tell you what</a:t>
              </a:r>
            </a:p>
          </p:txBody>
        </p:sp>
        <p:sp>
          <p:nvSpPr>
            <p:cNvPr id="9" name="TextBox 9"/>
            <p:cNvSpPr txBox="1"/>
            <p:nvPr/>
          </p:nvSpPr>
          <p:spPr>
            <a:xfrm>
              <a:off x="870585" y="2145506"/>
              <a:ext cx="178365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 architecture CAN do.</a:t>
              </a:r>
            </a:p>
          </p:txBody>
        </p:sp>
      </p:grpSp>
      <p:grpSp>
        <p:nvGrpSpPr>
          <p:cNvPr id="20" name="Group 20"/>
          <p:cNvGrpSpPr/>
          <p:nvPr/>
        </p:nvGrpSpPr>
        <p:grpSpPr>
          <a:xfrm>
            <a:off x="609600" y="2495550"/>
            <a:ext cx="3505200" cy="1905000"/>
            <a:chOff x="609600" y="2495550"/>
            <a:chExt cx="3505200" cy="1905000"/>
          </a:xfrm>
        </p:grpSpPr>
        <p:sp>
          <p:nvSpPr>
            <p:cNvPr id="11" name="Rectangle 11"/>
            <p:cNvSpPr/>
            <p:nvPr/>
          </p:nvSpPr>
          <p:spPr>
            <a:xfrm>
              <a:off x="609600" y="2495550"/>
              <a:ext cx="3505200" cy="1905000"/>
            </a:xfrm>
            <a:prstGeom prst="roundRect">
              <a:avLst>
                <a:gd name="adj" fmla="val 7000"/>
              </a:avLst>
            </a:prstGeom>
            <a:solidFill>
              <a:srgbClr val="2A1720"/>
            </a:solidFill>
            <a:ln w="14288">
              <a:solidFill>
                <a:srgbClr val="F2685C"/>
              </a:solidFill>
            </a:ln>
          </p:spPr>
        </p:sp>
        <p:sp>
          <p:nvSpPr>
            <p:cNvPr id="12" name="Rectangle 12"/>
            <p:cNvSpPr/>
            <p:nvPr/>
          </p:nvSpPr>
          <p:spPr>
            <a:xfrm>
              <a:off x="609600" y="2495550"/>
              <a:ext cx="3505200" cy="57150"/>
            </a:xfrm>
            <a:prstGeom prst="roundRect">
              <a:avLst>
                <a:gd name="adj" fmla="val 50000"/>
              </a:avLst>
            </a:prstGeom>
            <a:solidFill>
              <a:srgbClr val="F2685C"/>
            </a:solidFill>
            <a:ln>
              <a:noFill/>
            </a:ln>
          </p:spPr>
        </p:sp>
        <p:sp>
          <p:nvSpPr>
            <p:cNvPr id="13" name="TextBox 13"/>
            <p:cNvSpPr txBox="1"/>
            <p:nvPr/>
          </p:nvSpPr>
          <p:spPr>
            <a:xfrm>
              <a:off x="870014" y="2762012"/>
              <a:ext cx="2163035"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Inverse · Bernstein-type</a:t>
              </a:r>
            </a:p>
          </p:txBody>
        </p:sp>
        <p:sp>
          <p:nvSpPr>
            <p:cNvPr id="14" name="TextBox 14"/>
            <p:cNvSpPr txBox="1"/>
            <p:nvPr/>
          </p:nvSpPr>
          <p:spPr>
            <a:xfrm>
              <a:off x="870776" y="3083004"/>
              <a:ext cx="292907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Run the other way: assume the target is</a:t>
              </a:r>
            </a:p>
          </p:txBody>
        </p:sp>
        <p:sp>
          <p:nvSpPr>
            <p:cNvPr id="15" name="TextBox 15"/>
            <p:cNvSpPr txBox="1"/>
            <p:nvPr/>
          </p:nvSpPr>
          <p:spPr>
            <a:xfrm>
              <a:off x="870776" y="3302079"/>
              <a:ext cx="27329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efficiently approximable, then deduce</a:t>
              </a:r>
            </a:p>
          </p:txBody>
        </p:sp>
        <p:sp>
          <p:nvSpPr>
            <p:cNvPr id="16" name="TextBox 16"/>
            <p:cNvSpPr txBox="1"/>
            <p:nvPr/>
          </p:nvSpPr>
          <p:spPr>
            <a:xfrm>
              <a:off x="870776" y="3521154"/>
              <a:ext cx="21736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what regularity it MUST have.</a:t>
              </a:r>
            </a:p>
          </p:txBody>
        </p:sp>
        <p:sp>
          <p:nvSpPr>
            <p:cNvPr id="17" name="Rectangle 17"/>
            <p:cNvSpPr/>
            <p:nvPr/>
          </p:nvSpPr>
          <p:spPr>
            <a:xfrm>
              <a:off x="876300" y="3829050"/>
              <a:ext cx="2971800" cy="304800"/>
            </a:xfrm>
            <a:prstGeom prst="roundRect">
              <a:avLst>
                <a:gd name="adj" fmla="val 25000"/>
              </a:avLst>
            </a:prstGeom>
            <a:solidFill>
              <a:schemeClr val="accent6"/>
            </a:solidFill>
            <a:ln w="14288">
              <a:solidFill>
                <a:srgbClr val="26455F"/>
              </a:solidFill>
            </a:ln>
          </p:spPr>
        </p:sp>
        <p:sp>
          <p:nvSpPr>
            <p:cNvPr id="18" name="Ellipse 18"/>
            <p:cNvSpPr/>
            <p:nvPr/>
          </p:nvSpPr>
          <p:spPr>
            <a:xfrm>
              <a:off x="1000125" y="3933825"/>
              <a:ext cx="95250" cy="95250"/>
            </a:xfrm>
            <a:prstGeom prst="ellipse">
              <a:avLst/>
            </a:prstGeom>
            <a:solidFill>
              <a:srgbClr val="F2685C"/>
            </a:solidFill>
            <a:ln>
              <a:noFill/>
            </a:ln>
          </p:spPr>
        </p:sp>
        <p:sp>
          <p:nvSpPr>
            <p:cNvPr id="19" name="TextBox 19"/>
            <p:cNvSpPr txBox="1"/>
            <p:nvPr/>
          </p:nvSpPr>
          <p:spPr>
            <a:xfrm>
              <a:off x="1195197" y="3923824"/>
              <a:ext cx="181071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approximable -&gt; regularity</a:t>
              </a:r>
            </a:p>
          </p:txBody>
        </p:sp>
      </p:grpSp>
      <p:grpSp>
        <p:nvGrpSpPr>
          <p:cNvPr id="30" name="Group 30"/>
          <p:cNvGrpSpPr/>
          <p:nvPr/>
        </p:nvGrpSpPr>
        <p:grpSpPr>
          <a:xfrm>
            <a:off x="4343400" y="2495550"/>
            <a:ext cx="3505200" cy="1905000"/>
            <a:chOff x="4343400" y="2495550"/>
            <a:chExt cx="3505200" cy="1905000"/>
          </a:xfrm>
        </p:grpSpPr>
        <p:sp>
          <p:nvSpPr>
            <p:cNvPr id="21" name="Rectangle 21"/>
            <p:cNvSpPr/>
            <p:nvPr/>
          </p:nvSpPr>
          <p:spPr>
            <a:xfrm>
              <a:off x="4343400" y="2495550"/>
              <a:ext cx="3505200" cy="1905000"/>
            </a:xfrm>
            <a:prstGeom prst="roundRect">
              <a:avLst>
                <a:gd name="adj" fmla="val 7000"/>
              </a:avLst>
            </a:prstGeom>
            <a:solidFill>
              <a:schemeClr val="accent5"/>
            </a:solidFill>
            <a:ln w="14288">
              <a:solidFill>
                <a:srgbClr val="26455F"/>
              </a:solidFill>
            </a:ln>
          </p:spPr>
        </p:sp>
        <p:sp>
          <p:nvSpPr>
            <p:cNvPr id="22" name="Rectangle 22"/>
            <p:cNvSpPr/>
            <p:nvPr/>
          </p:nvSpPr>
          <p:spPr>
            <a:xfrm>
              <a:off x="4343400" y="2495550"/>
              <a:ext cx="3505200" cy="57150"/>
            </a:xfrm>
            <a:prstGeom prst="roundRect">
              <a:avLst>
                <a:gd name="adj" fmla="val 50000"/>
              </a:avLst>
            </a:prstGeom>
            <a:solidFill>
              <a:srgbClr val="F2C14E"/>
            </a:solidFill>
            <a:ln>
              <a:noFill/>
            </a:ln>
          </p:spPr>
        </p:sp>
        <p:sp>
          <p:nvSpPr>
            <p:cNvPr id="23" name="TextBox 23"/>
            <p:cNvSpPr txBox="1"/>
            <p:nvPr/>
          </p:nvSpPr>
          <p:spPr>
            <a:xfrm>
              <a:off x="4603814" y="2762012"/>
              <a:ext cx="1665646"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Exposes hard limits</a:t>
              </a:r>
            </a:p>
          </p:txBody>
        </p:sp>
        <p:sp>
          <p:nvSpPr>
            <p:cNvPr id="24" name="TextBox 24"/>
            <p:cNvSpPr txBox="1"/>
            <p:nvPr/>
          </p:nvSpPr>
          <p:spPr>
            <a:xfrm>
              <a:off x="4604576" y="3083004"/>
              <a:ext cx="24517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Inverse theorems are the tool for</a:t>
              </a:r>
            </a:p>
          </p:txBody>
        </p:sp>
        <p:sp>
          <p:nvSpPr>
            <p:cNvPr id="25" name="TextBox 25"/>
            <p:cNvSpPr txBox="1"/>
            <p:nvPr/>
          </p:nvSpPr>
          <p:spPr>
            <a:xfrm>
              <a:off x="4604576" y="3302079"/>
              <a:ext cx="259831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fundamental limitations. Prior work</a:t>
              </a:r>
            </a:p>
          </p:txBody>
        </p:sp>
        <p:sp>
          <p:nvSpPr>
            <p:cNvPr id="26" name="TextBox 26"/>
            <p:cNvSpPr txBox="1"/>
            <p:nvPr/>
          </p:nvSpPr>
          <p:spPr>
            <a:xfrm>
              <a:off x="4604576" y="3521154"/>
              <a:ext cx="205286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proved one for LINEAR RNNs.</a:t>
              </a:r>
            </a:p>
          </p:txBody>
        </p:sp>
        <p:sp>
          <p:nvSpPr>
            <p:cNvPr id="27" name="Rectangle 27"/>
            <p:cNvSpPr/>
            <p:nvPr/>
          </p:nvSpPr>
          <p:spPr>
            <a:xfrm>
              <a:off x="4610100" y="3829050"/>
              <a:ext cx="2971800" cy="304800"/>
            </a:xfrm>
            <a:prstGeom prst="roundRect">
              <a:avLst>
                <a:gd name="adj" fmla="val 25000"/>
              </a:avLst>
            </a:prstGeom>
            <a:solidFill>
              <a:schemeClr val="accent6"/>
            </a:solidFill>
            <a:ln w="14288">
              <a:solidFill>
                <a:srgbClr val="26455F"/>
              </a:solidFill>
            </a:ln>
          </p:spPr>
        </p:sp>
        <p:sp>
          <p:nvSpPr>
            <p:cNvPr id="28" name="Ellipse 28"/>
            <p:cNvSpPr/>
            <p:nvPr/>
          </p:nvSpPr>
          <p:spPr>
            <a:xfrm>
              <a:off x="4733925" y="3933825"/>
              <a:ext cx="95250" cy="95250"/>
            </a:xfrm>
            <a:prstGeom prst="ellipse">
              <a:avLst/>
            </a:prstGeom>
            <a:solidFill>
              <a:srgbClr val="F2C14E"/>
            </a:solidFill>
            <a:ln>
              <a:noFill/>
            </a:ln>
          </p:spPr>
        </p:sp>
        <p:sp>
          <p:nvSpPr>
            <p:cNvPr id="29" name="TextBox 29"/>
            <p:cNvSpPr txBox="1"/>
            <p:nvPr/>
          </p:nvSpPr>
          <p:spPr>
            <a:xfrm>
              <a:off x="4928997" y="3923824"/>
              <a:ext cx="1873054"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linear: memory decays exp.</a:t>
              </a:r>
            </a:p>
          </p:txBody>
        </p:sp>
      </p:grpSp>
      <p:grpSp>
        <p:nvGrpSpPr>
          <p:cNvPr id="40" name="Group 40"/>
          <p:cNvGrpSpPr/>
          <p:nvPr/>
        </p:nvGrpSpPr>
        <p:grpSpPr>
          <a:xfrm>
            <a:off x="8077200" y="2495550"/>
            <a:ext cx="3505200" cy="1905000"/>
            <a:chOff x="8077200" y="2495550"/>
            <a:chExt cx="3505200" cy="1905000"/>
          </a:xfrm>
        </p:grpSpPr>
        <p:sp>
          <p:nvSpPr>
            <p:cNvPr id="31" name="Rectangle 31"/>
            <p:cNvSpPr/>
            <p:nvPr/>
          </p:nvSpPr>
          <p:spPr>
            <a:xfrm>
              <a:off x="8077200" y="2495550"/>
              <a:ext cx="3505200" cy="1905000"/>
            </a:xfrm>
            <a:prstGeom prst="roundRect">
              <a:avLst>
                <a:gd name="adj" fmla="val 7000"/>
              </a:avLst>
            </a:prstGeom>
            <a:solidFill>
              <a:srgbClr val="0F2E2B"/>
            </a:solidFill>
            <a:ln w="14288">
              <a:solidFill>
                <a:srgbClr val="34D3C0"/>
              </a:solidFill>
            </a:ln>
          </p:spPr>
        </p:sp>
        <p:sp>
          <p:nvSpPr>
            <p:cNvPr id="32" name="Rectangle 32"/>
            <p:cNvSpPr/>
            <p:nvPr/>
          </p:nvSpPr>
          <p:spPr>
            <a:xfrm>
              <a:off x="8077200" y="2495550"/>
              <a:ext cx="3505200" cy="57150"/>
            </a:xfrm>
            <a:prstGeom prst="roundRect">
              <a:avLst>
                <a:gd name="adj" fmla="val 50000"/>
              </a:avLst>
            </a:prstGeom>
            <a:solidFill>
              <a:srgbClr val="48C78E"/>
            </a:solidFill>
            <a:ln>
              <a:noFill/>
            </a:ln>
          </p:spPr>
        </p:sp>
        <p:sp>
          <p:nvSpPr>
            <p:cNvPr id="33" name="TextBox 33"/>
            <p:cNvSpPr txBox="1"/>
            <p:nvPr/>
          </p:nvSpPr>
          <p:spPr>
            <a:xfrm>
              <a:off x="8337614" y="2762012"/>
              <a:ext cx="186723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pressing question</a:t>
              </a:r>
            </a:p>
          </p:txBody>
        </p:sp>
        <p:sp>
          <p:nvSpPr>
            <p:cNvPr id="34" name="TextBox 34"/>
            <p:cNvSpPr txBox="1"/>
            <p:nvPr/>
          </p:nvSpPr>
          <p:spPr>
            <a:xfrm>
              <a:off x="8338376" y="3083004"/>
              <a:ext cx="291363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Nonlinearity greatly increases capacity.</a:t>
              </a:r>
            </a:p>
          </p:txBody>
        </p:sp>
        <p:sp>
          <p:nvSpPr>
            <p:cNvPr id="35" name="TextBox 35"/>
            <p:cNvSpPr txBox="1"/>
            <p:nvPr/>
          </p:nvSpPr>
          <p:spPr>
            <a:xfrm>
              <a:off x="8338376" y="3302079"/>
              <a:ext cx="252734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Would adding it BREAK this curse of</a:t>
              </a:r>
            </a:p>
          </p:txBody>
        </p:sp>
        <p:sp>
          <p:nvSpPr>
            <p:cNvPr id="36" name="TextBox 36"/>
            <p:cNvSpPr txBox="1"/>
            <p:nvPr/>
          </p:nvSpPr>
          <p:spPr>
            <a:xfrm>
              <a:off x="8338376" y="3521154"/>
              <a:ext cx="63467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memory?</a:t>
              </a:r>
            </a:p>
          </p:txBody>
        </p:sp>
        <p:sp>
          <p:nvSpPr>
            <p:cNvPr id="37" name="Rectangle 37"/>
            <p:cNvSpPr/>
            <p:nvPr/>
          </p:nvSpPr>
          <p:spPr>
            <a:xfrm>
              <a:off x="8343900" y="3829050"/>
              <a:ext cx="2971800" cy="304800"/>
            </a:xfrm>
            <a:prstGeom prst="roundRect">
              <a:avLst>
                <a:gd name="adj" fmla="val 25000"/>
              </a:avLst>
            </a:prstGeom>
            <a:solidFill>
              <a:schemeClr val="accent6"/>
            </a:solidFill>
            <a:ln w="14288">
              <a:solidFill>
                <a:srgbClr val="26455F"/>
              </a:solidFill>
            </a:ln>
          </p:spPr>
        </p:sp>
        <p:sp>
          <p:nvSpPr>
            <p:cNvPr id="38" name="Ellipse 38"/>
            <p:cNvSpPr/>
            <p:nvPr/>
          </p:nvSpPr>
          <p:spPr>
            <a:xfrm>
              <a:off x="8467725" y="3933825"/>
              <a:ext cx="95250" cy="95250"/>
            </a:xfrm>
            <a:prstGeom prst="ellipse">
              <a:avLst/>
            </a:prstGeom>
            <a:solidFill>
              <a:srgbClr val="48C78E"/>
            </a:solidFill>
            <a:ln>
              <a:noFill/>
            </a:ln>
          </p:spPr>
        </p:sp>
        <p:sp>
          <p:nvSpPr>
            <p:cNvPr id="39" name="TextBox 39"/>
            <p:cNvSpPr txBox="1"/>
            <p:nvPr/>
          </p:nvSpPr>
          <p:spPr>
            <a:xfrm>
              <a:off x="8662797" y="3923824"/>
              <a:ext cx="190075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does nonlinearity escape it?</a:t>
              </a:r>
            </a:p>
          </p:txBody>
        </p:sp>
      </p:grpSp>
      <p:sp>
        <p:nvSpPr>
          <p:cNvPr id="41" name="Rectangle 41"/>
          <p:cNvSpPr/>
          <p:nvPr/>
        </p:nvSpPr>
        <p:spPr>
          <a:xfrm>
            <a:off x="609600" y="4629150"/>
            <a:ext cx="10972800" cy="609600"/>
          </a:xfrm>
          <a:prstGeom prst="roundRect">
            <a:avLst>
              <a:gd name="adj" fmla="val 18750"/>
            </a:avLst>
          </a:prstGeom>
          <a:solidFill>
            <a:schemeClr val="accent6"/>
          </a:solidFill>
          <a:ln w="14288">
            <a:solidFill>
              <a:srgbClr val="26455F"/>
            </a:solidFill>
          </a:ln>
        </p:spPr>
        <p:txBody>
          <a:bodyPr/>
          <a:p/>
        </p:txBody>
      </p:sp>
      <p:sp>
        <p:nvSpPr>
          <p:cNvPr id="42" name="TextBox 42"/>
          <p:cNvSpPr txBox="1"/>
          <p:nvPr/>
        </p:nvSpPr>
        <p:spPr>
          <a:xfrm>
            <a:off x="870394" y="4865608"/>
            <a:ext cx="7388239"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This paper settles it: the curse of memory survives the jump from linear to nonlinear RNNs.</a:t>
            </a:r>
          </a:p>
        </p:txBody>
      </p:sp>
      <p:sp>
        <p:nvSpPr>
          <p:cNvPr id="43" name="cue_s03_c1_approximation_theory_offers_two_comp" title="cue_s03_c1_approximation_theory_offers_two_comp" descr="cue_s03_c1_approximation_theory_offers_two_comp Approximation theory offers two complementary kinds of statements. Forward, or Jackson-type, theorems tell you how well a model can approximate a sufficiently regular target."/>
          <p:cNvSpPr/>
          <p:nvPr/>
        </p:nvSpPr>
        <p:spPr>
          <a:xfrm>
            <a:off x="609600" y="1447723"/>
            <a:ext cx="10972800" cy="917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2_inverse_bernstein_type_theorems_run" title="cue_s03_c2_inverse_bernstein_type_theorems_run" descr="cue_s03_c2_inverse_bernstein_type_theorems_run Inverse, or Bernstein-type, theorems run the other direction: they assume a target can be efficiently approximated and then deduce what regularity the target must have."/>
          <p:cNvSpPr/>
          <p:nvPr/>
        </p:nvSpPr>
        <p:spPr>
          <a:xfrm>
            <a:off x="609600"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3_inverse_theorems_precisely_tool_expo" title="cue_s03_c3_inverse_theorems_precisely_tool_expo" descr="cue_s03_c3_inverse_theorems_precisely_tool_expo Inverse theorems are precisely the tool for exposing fundamental limitations of an architecture. Earlier work proved such a result for linear RNNs, showing that efficiently approximable linear targets must have exponentially decaying memory."/>
          <p:cNvSpPr/>
          <p:nvPr/>
        </p:nvSpPr>
        <p:spPr>
          <a:xfrm>
            <a:off x="4344009"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4_pressing_question_whether_adding_non" title="cue_s03_c4_pressing_question_whether_adding_non" descr="cue_s03_c4_pressing_question_whether_adding_non The pressing question was whether adding nonlinearity, which greatly increases model capacity, would break this so-called curse of memory. This paper was motivated to settle that."/>
          <p:cNvSpPr/>
          <p:nvPr/>
        </p:nvSpPr>
        <p:spPr>
          <a:xfrm>
            <a:off x="8077200" y="2495626"/>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28239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tools, one theorem, one cure</a:t>
            </a:r>
          </a:p>
        </p:txBody>
      </p:sp>
      <p:grpSp>
        <p:nvGrpSpPr>
          <p:cNvPr id="16" name="Group 16"/>
          <p:cNvGrpSpPr/>
          <p:nvPr/>
        </p:nvGrpSpPr>
        <p:grpSpPr>
          <a:xfrm>
            <a:off x="609600" y="1600200"/>
            <a:ext cx="2609850" cy="3619500"/>
            <a:chOff x="609600" y="1600200"/>
            <a:chExt cx="2609850" cy="3619500"/>
          </a:xfrm>
        </p:grpSpPr>
        <p:sp>
          <p:nvSpPr>
            <p:cNvPr id="5" name="Rectangle 5"/>
            <p:cNvSpPr/>
            <p:nvPr/>
          </p:nvSpPr>
          <p:spPr>
            <a:xfrm>
              <a:off x="609600" y="1600200"/>
              <a:ext cx="2609850" cy="3619500"/>
            </a:xfrm>
            <a:prstGeom prst="roundRect">
              <a:avLst>
                <a:gd name="adj" fmla="val 5109"/>
              </a:avLst>
            </a:prstGeom>
            <a:solidFill>
              <a:schemeClr val="accent5"/>
            </a:solidFill>
            <a:ln w="14288">
              <a:solidFill>
                <a:srgbClr val="26455F"/>
              </a:solidFill>
            </a:ln>
          </p:spPr>
        </p:sp>
        <p:sp>
          <p:nvSpPr>
            <p:cNvPr id="6" name="Rectangle 6"/>
            <p:cNvSpPr/>
            <p:nvPr/>
          </p:nvSpPr>
          <p:spPr>
            <a:xfrm>
              <a:off x="609600" y="1600200"/>
              <a:ext cx="2609850" cy="57150"/>
            </a:xfrm>
            <a:prstGeom prst="roundRect">
              <a:avLst>
                <a:gd name="adj" fmla="val 50000"/>
              </a:avLst>
            </a:prstGeom>
            <a:solidFill>
              <a:schemeClr val="accent2"/>
            </a:solidFill>
            <a:ln>
              <a:noFill/>
            </a:ln>
          </p:spPr>
        </p:sp>
        <p:sp>
          <p:nvSpPr>
            <p:cNvPr id="7" name="Ellipse 7"/>
            <p:cNvSpPr/>
            <p:nvPr/>
          </p:nvSpPr>
          <p:spPr>
            <a:xfrm>
              <a:off x="838200" y="2038350"/>
              <a:ext cx="495300" cy="495300"/>
            </a:xfrm>
            <a:prstGeom prst="ellipse">
              <a:avLst/>
            </a:prstGeom>
            <a:noFill/>
            <a:ln w="23812">
              <a:solidFill>
                <a:schemeClr val="accent2"/>
              </a:solidFill>
            </a:ln>
          </p:spPr>
        </p:sp>
        <p:sp>
          <p:nvSpPr>
            <p:cNvPr id="8" name="TextBox 8"/>
            <p:cNvSpPr txBox="1"/>
            <p:nvPr/>
          </p:nvSpPr>
          <p:spPr>
            <a:xfrm>
              <a:off x="993552" y="215455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50392" y="2807018"/>
              <a:ext cx="157521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Memory function</a:t>
              </a:r>
            </a:p>
          </p:txBody>
        </p:sp>
        <p:sp>
          <p:nvSpPr>
            <p:cNvPr id="10" name="TextBox 10"/>
            <p:cNvSpPr txBox="1"/>
            <p:nvPr/>
          </p:nvSpPr>
          <p:spPr>
            <a:xfrm>
              <a:off x="852106" y="3224451"/>
              <a:ext cx="19523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Extends the memory function</a:t>
              </a:r>
            </a:p>
          </p:txBody>
        </p:sp>
        <p:sp>
          <p:nvSpPr>
            <p:cNvPr id="11" name="TextBox 11"/>
            <p:cNvSpPr txBox="1"/>
            <p:nvPr/>
          </p:nvSpPr>
          <p:spPr>
            <a:xfrm>
              <a:off x="852106" y="3434001"/>
              <a:ext cx="14787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from linear to general</a:t>
              </a:r>
            </a:p>
          </p:txBody>
        </p:sp>
        <p:sp>
          <p:nvSpPr>
            <p:cNvPr id="12" name="TextBox 12"/>
            <p:cNvSpPr txBox="1"/>
            <p:nvPr/>
          </p:nvSpPr>
          <p:spPr>
            <a:xfrm>
              <a:off x="852106" y="3643551"/>
              <a:ext cx="13359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nonlinear functional</a:t>
              </a:r>
            </a:p>
          </p:txBody>
        </p:sp>
        <p:sp>
          <p:nvSpPr>
            <p:cNvPr id="13" name="TextBox 13"/>
            <p:cNvSpPr txBox="1"/>
            <p:nvPr/>
          </p:nvSpPr>
          <p:spPr>
            <a:xfrm>
              <a:off x="852106" y="3853101"/>
              <a:ext cx="16350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sequences, and it can be</a:t>
              </a:r>
            </a:p>
          </p:txBody>
        </p:sp>
        <p:sp>
          <p:nvSpPr>
            <p:cNvPr id="14" name="TextBox 14"/>
            <p:cNvSpPr txBox="1"/>
            <p:nvPr/>
          </p:nvSpPr>
          <p:spPr>
            <a:xfrm>
              <a:off x="852106" y="4062651"/>
              <a:ext cx="16690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numerically quantified by</a:t>
              </a:r>
            </a:p>
          </p:txBody>
        </p:sp>
        <p:sp>
          <p:nvSpPr>
            <p:cNvPr id="15" name="TextBox 15"/>
            <p:cNvSpPr txBox="1"/>
            <p:nvPr/>
          </p:nvSpPr>
          <p:spPr>
            <a:xfrm>
              <a:off x="852106" y="4272201"/>
              <a:ext cx="17030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querying a trained model.</a:t>
              </a:r>
            </a:p>
          </p:txBody>
        </p:sp>
      </p:grpSp>
      <p:grpSp>
        <p:nvGrpSpPr>
          <p:cNvPr id="28" name="Group 28"/>
          <p:cNvGrpSpPr/>
          <p:nvPr/>
        </p:nvGrpSpPr>
        <p:grpSpPr>
          <a:xfrm>
            <a:off x="3390900" y="1600200"/>
            <a:ext cx="2609850" cy="3619500"/>
            <a:chOff x="3390900" y="1600200"/>
            <a:chExt cx="2609850" cy="3619500"/>
          </a:xfrm>
        </p:grpSpPr>
        <p:sp>
          <p:nvSpPr>
            <p:cNvPr id="17" name="Rectangle 17"/>
            <p:cNvSpPr/>
            <p:nvPr/>
          </p:nvSpPr>
          <p:spPr>
            <a:xfrm>
              <a:off x="3390900" y="1600200"/>
              <a:ext cx="2609850" cy="3619500"/>
            </a:xfrm>
            <a:prstGeom prst="roundRect">
              <a:avLst>
                <a:gd name="adj" fmla="val 5109"/>
              </a:avLst>
            </a:prstGeom>
            <a:solidFill>
              <a:schemeClr val="accent5"/>
            </a:solidFill>
            <a:ln w="14288">
              <a:solidFill>
                <a:srgbClr val="26455F"/>
              </a:solidFill>
            </a:ln>
          </p:spPr>
        </p:sp>
        <p:sp>
          <p:nvSpPr>
            <p:cNvPr id="18" name="Rectangle 18"/>
            <p:cNvSpPr/>
            <p:nvPr/>
          </p:nvSpPr>
          <p:spPr>
            <a:xfrm>
              <a:off x="3390900" y="1600200"/>
              <a:ext cx="2609850" cy="57150"/>
            </a:xfrm>
            <a:prstGeom prst="roundRect">
              <a:avLst>
                <a:gd name="adj" fmla="val 50000"/>
              </a:avLst>
            </a:prstGeom>
            <a:solidFill>
              <a:srgbClr val="34D3C0"/>
            </a:solidFill>
            <a:ln>
              <a:noFill/>
            </a:ln>
          </p:spPr>
        </p:sp>
        <p:sp>
          <p:nvSpPr>
            <p:cNvPr id="19" name="Ellipse 19"/>
            <p:cNvSpPr/>
            <p:nvPr/>
          </p:nvSpPr>
          <p:spPr>
            <a:xfrm>
              <a:off x="3619500" y="2038350"/>
              <a:ext cx="495300" cy="495300"/>
            </a:xfrm>
            <a:prstGeom prst="ellipse">
              <a:avLst/>
            </a:prstGeom>
            <a:noFill/>
            <a:ln w="23812">
              <a:solidFill>
                <a:srgbClr val="34D3C0"/>
              </a:solidFill>
            </a:ln>
          </p:spPr>
        </p:sp>
        <p:sp>
          <p:nvSpPr>
            <p:cNvPr id="20" name="TextBox 20"/>
            <p:cNvSpPr txBox="1"/>
            <p:nvPr/>
          </p:nvSpPr>
          <p:spPr>
            <a:xfrm>
              <a:off x="3774852" y="215455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1" name="TextBox 21"/>
            <p:cNvSpPr txBox="1"/>
            <p:nvPr/>
          </p:nvSpPr>
          <p:spPr>
            <a:xfrm>
              <a:off x="3631692" y="2807018"/>
              <a:ext cx="196591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Stable approximation</a:t>
              </a:r>
            </a:p>
          </p:txBody>
        </p:sp>
        <p:sp>
          <p:nvSpPr>
            <p:cNvPr id="22" name="TextBox 22"/>
            <p:cNvSpPr txBox="1"/>
            <p:nvPr/>
          </p:nvSpPr>
          <p:spPr>
            <a:xfrm>
              <a:off x="3633406" y="3224451"/>
              <a:ext cx="20678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mild framework requiring the</a:t>
              </a:r>
            </a:p>
          </p:txBody>
        </p:sp>
        <p:sp>
          <p:nvSpPr>
            <p:cNvPr id="23" name="TextBox 23"/>
            <p:cNvSpPr txBox="1"/>
            <p:nvPr/>
          </p:nvSpPr>
          <p:spPr>
            <a:xfrm>
              <a:off x="3633406" y="3434001"/>
              <a:ext cx="15059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approximant to behave</a:t>
              </a:r>
            </a:p>
          </p:txBody>
        </p:sp>
        <p:sp>
          <p:nvSpPr>
            <p:cNvPr id="24" name="TextBox 24"/>
            <p:cNvSpPr txBox="1"/>
            <p:nvPr/>
          </p:nvSpPr>
          <p:spPr>
            <a:xfrm>
              <a:off x="3633406" y="3643551"/>
              <a:ext cx="162828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continuously under small</a:t>
              </a:r>
            </a:p>
          </p:txBody>
        </p:sp>
        <p:sp>
          <p:nvSpPr>
            <p:cNvPr id="25" name="TextBox 25"/>
            <p:cNvSpPr txBox="1"/>
            <p:nvPr/>
          </p:nvSpPr>
          <p:spPr>
            <a:xfrm>
              <a:off x="3633406" y="3853101"/>
              <a:ext cx="176425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parameter perturbations,</a:t>
              </a:r>
            </a:p>
          </p:txBody>
        </p:sp>
        <p:sp>
          <p:nvSpPr>
            <p:cNvPr id="26" name="TextBox 26"/>
            <p:cNvSpPr txBox="1"/>
            <p:nvPr/>
          </p:nvSpPr>
          <p:spPr>
            <a:xfrm>
              <a:off x="3633406" y="4062651"/>
              <a:ext cx="20361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exactly what gradient descent</a:t>
              </a:r>
            </a:p>
          </p:txBody>
        </p:sp>
        <p:sp>
          <p:nvSpPr>
            <p:cNvPr id="27" name="TextBox 27"/>
            <p:cNvSpPr txBox="1"/>
            <p:nvPr/>
          </p:nvSpPr>
          <p:spPr>
            <a:xfrm>
              <a:off x="3633406" y="4272201"/>
              <a:ext cx="4589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needs.</a:t>
              </a:r>
            </a:p>
          </p:txBody>
        </p:sp>
      </p:grpSp>
      <p:grpSp>
        <p:nvGrpSpPr>
          <p:cNvPr id="39" name="Group 39"/>
          <p:cNvGrpSpPr/>
          <p:nvPr/>
        </p:nvGrpSpPr>
        <p:grpSpPr>
          <a:xfrm>
            <a:off x="6172200" y="1600200"/>
            <a:ext cx="2609850" cy="3619500"/>
            <a:chOff x="6172200" y="1600200"/>
            <a:chExt cx="2609850" cy="3619500"/>
          </a:xfrm>
        </p:grpSpPr>
        <p:sp>
          <p:nvSpPr>
            <p:cNvPr id="29" name="Rectangle 29"/>
            <p:cNvSpPr/>
            <p:nvPr/>
          </p:nvSpPr>
          <p:spPr>
            <a:xfrm>
              <a:off x="6172200" y="1600200"/>
              <a:ext cx="2609850" cy="3619500"/>
            </a:xfrm>
            <a:prstGeom prst="roundRect">
              <a:avLst>
                <a:gd name="adj" fmla="val 5109"/>
              </a:avLst>
            </a:prstGeom>
            <a:solidFill>
              <a:schemeClr val="accent5"/>
            </a:solidFill>
            <a:ln w="14288">
              <a:solidFill>
                <a:srgbClr val="26455F"/>
              </a:solidFill>
            </a:ln>
          </p:spPr>
        </p:sp>
        <p:sp>
          <p:nvSpPr>
            <p:cNvPr id="30" name="Rectangle 30"/>
            <p:cNvSpPr/>
            <p:nvPr/>
          </p:nvSpPr>
          <p:spPr>
            <a:xfrm>
              <a:off x="6172200" y="1600200"/>
              <a:ext cx="2609850" cy="57150"/>
            </a:xfrm>
            <a:prstGeom prst="roundRect">
              <a:avLst>
                <a:gd name="adj" fmla="val 50000"/>
              </a:avLst>
            </a:prstGeom>
            <a:solidFill>
              <a:srgbClr val="F2C14E"/>
            </a:solidFill>
            <a:ln>
              <a:noFill/>
            </a:ln>
          </p:spPr>
        </p:sp>
        <p:sp>
          <p:nvSpPr>
            <p:cNvPr id="31" name="Ellipse 31"/>
            <p:cNvSpPr/>
            <p:nvPr/>
          </p:nvSpPr>
          <p:spPr>
            <a:xfrm>
              <a:off x="6400800" y="2038350"/>
              <a:ext cx="495300" cy="495300"/>
            </a:xfrm>
            <a:prstGeom prst="ellipse">
              <a:avLst/>
            </a:prstGeom>
            <a:noFill/>
            <a:ln w="23812">
              <a:solidFill>
                <a:srgbClr val="F2C14E"/>
              </a:solidFill>
            </a:ln>
          </p:spPr>
        </p:sp>
        <p:sp>
          <p:nvSpPr>
            <p:cNvPr id="32" name="TextBox 32"/>
            <p:cNvSpPr txBox="1"/>
            <p:nvPr/>
          </p:nvSpPr>
          <p:spPr>
            <a:xfrm>
              <a:off x="6556152" y="215455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3" name="TextBox 33"/>
            <p:cNvSpPr txBox="1"/>
            <p:nvPr/>
          </p:nvSpPr>
          <p:spPr>
            <a:xfrm>
              <a:off x="6412992" y="2807018"/>
              <a:ext cx="174678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Bernstein theorem</a:t>
              </a:r>
            </a:p>
          </p:txBody>
        </p:sp>
        <p:sp>
          <p:nvSpPr>
            <p:cNvPr id="34" name="TextBox 34"/>
            <p:cNvSpPr txBox="1"/>
            <p:nvPr/>
          </p:nvSpPr>
          <p:spPr>
            <a:xfrm>
              <a:off x="6414706" y="3224451"/>
              <a:ext cx="179602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Using both tools, the first</a:t>
              </a:r>
            </a:p>
          </p:txBody>
        </p:sp>
        <p:sp>
          <p:nvSpPr>
            <p:cNvPr id="35" name="TextBox 35"/>
            <p:cNvSpPr txBox="1"/>
            <p:nvPr/>
          </p:nvSpPr>
          <p:spPr>
            <a:xfrm>
              <a:off x="6414706" y="3434001"/>
              <a:ext cx="19997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Bernstein-type approximation</a:t>
              </a:r>
            </a:p>
          </p:txBody>
        </p:sp>
        <p:sp>
          <p:nvSpPr>
            <p:cNvPr id="36" name="TextBox 36"/>
            <p:cNvSpPr txBox="1"/>
            <p:nvPr/>
          </p:nvSpPr>
          <p:spPr>
            <a:xfrm>
              <a:off x="6414706" y="3643551"/>
              <a:ext cx="190047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theorem for nonlinear RNNs,</a:t>
              </a:r>
            </a:p>
          </p:txBody>
        </p:sp>
        <p:sp>
          <p:nvSpPr>
            <p:cNvPr id="37" name="TextBox 37"/>
            <p:cNvSpPr txBox="1"/>
            <p:nvPr/>
          </p:nvSpPr>
          <p:spPr>
            <a:xfrm>
              <a:off x="6414706" y="3853101"/>
              <a:ext cx="166907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believed to be new to the</a:t>
              </a:r>
            </a:p>
          </p:txBody>
        </p:sp>
        <p:sp>
          <p:nvSpPr>
            <p:cNvPr id="38" name="TextBox 38"/>
            <p:cNvSpPr txBox="1"/>
            <p:nvPr/>
          </p:nvSpPr>
          <p:spPr>
            <a:xfrm>
              <a:off x="6414706" y="4062651"/>
              <a:ext cx="7648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literature.</a:t>
              </a:r>
            </a:p>
          </p:txBody>
        </p:sp>
      </p:grpSp>
      <p:grpSp>
        <p:nvGrpSpPr>
          <p:cNvPr id="50" name="Group 50"/>
          <p:cNvGrpSpPr/>
          <p:nvPr/>
        </p:nvGrpSpPr>
        <p:grpSpPr>
          <a:xfrm>
            <a:off x="8953500" y="1600200"/>
            <a:ext cx="2609850" cy="3619500"/>
            <a:chOff x="8953500" y="1600200"/>
            <a:chExt cx="2609850" cy="3619500"/>
          </a:xfrm>
        </p:grpSpPr>
        <p:sp>
          <p:nvSpPr>
            <p:cNvPr id="40" name="Rectangle 40"/>
            <p:cNvSpPr/>
            <p:nvPr/>
          </p:nvSpPr>
          <p:spPr>
            <a:xfrm>
              <a:off x="8953500" y="1600200"/>
              <a:ext cx="2609850" cy="3619500"/>
            </a:xfrm>
            <a:prstGeom prst="roundRect">
              <a:avLst>
                <a:gd name="adj" fmla="val 5109"/>
              </a:avLst>
            </a:prstGeom>
            <a:solidFill>
              <a:schemeClr val="accent5"/>
            </a:solidFill>
            <a:ln w="14288">
              <a:solidFill>
                <a:srgbClr val="26455F"/>
              </a:solidFill>
            </a:ln>
          </p:spPr>
        </p:sp>
        <p:sp>
          <p:nvSpPr>
            <p:cNvPr id="41" name="Rectangle 41"/>
            <p:cNvSpPr/>
            <p:nvPr/>
          </p:nvSpPr>
          <p:spPr>
            <a:xfrm>
              <a:off x="8953500" y="1600200"/>
              <a:ext cx="2609850" cy="57150"/>
            </a:xfrm>
            <a:prstGeom prst="roundRect">
              <a:avLst>
                <a:gd name="adj" fmla="val 50000"/>
              </a:avLst>
            </a:prstGeom>
            <a:solidFill>
              <a:srgbClr val="48C78E"/>
            </a:solidFill>
            <a:ln>
              <a:noFill/>
            </a:ln>
          </p:spPr>
        </p:sp>
        <p:sp>
          <p:nvSpPr>
            <p:cNvPr id="42" name="Ellipse 42"/>
            <p:cNvSpPr/>
            <p:nvPr/>
          </p:nvSpPr>
          <p:spPr>
            <a:xfrm>
              <a:off x="9182100" y="2038350"/>
              <a:ext cx="495300" cy="495300"/>
            </a:xfrm>
            <a:prstGeom prst="ellipse">
              <a:avLst/>
            </a:prstGeom>
            <a:noFill/>
            <a:ln w="23812">
              <a:solidFill>
                <a:srgbClr val="48C78E"/>
              </a:solidFill>
            </a:ln>
          </p:spPr>
        </p:sp>
        <p:sp>
          <p:nvSpPr>
            <p:cNvPr id="43" name="TextBox 43"/>
            <p:cNvSpPr txBox="1"/>
            <p:nvPr/>
          </p:nvSpPr>
          <p:spPr>
            <a:xfrm>
              <a:off x="9337452" y="215455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a:t>
              </a:r>
            </a:p>
          </p:txBody>
        </p:sp>
        <p:sp>
          <p:nvSpPr>
            <p:cNvPr id="44" name="TextBox 44"/>
            <p:cNvSpPr txBox="1"/>
            <p:nvPr/>
          </p:nvSpPr>
          <p:spPr>
            <a:xfrm>
              <a:off x="9194292" y="2807018"/>
              <a:ext cx="14027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Principled cure</a:t>
              </a:r>
            </a:p>
          </p:txBody>
        </p:sp>
        <p:sp>
          <p:nvSpPr>
            <p:cNvPr id="45" name="TextBox 45"/>
            <p:cNvSpPr txBox="1"/>
            <p:nvPr/>
          </p:nvSpPr>
          <p:spPr>
            <a:xfrm>
              <a:off x="9196006" y="3224451"/>
              <a:ext cx="15927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On top of the theory, a</a:t>
              </a:r>
            </a:p>
          </p:txBody>
        </p:sp>
        <p:sp>
          <p:nvSpPr>
            <p:cNvPr id="46" name="TextBox 46"/>
            <p:cNvSpPr txBox="1"/>
            <p:nvPr/>
          </p:nvSpPr>
          <p:spPr>
            <a:xfrm>
              <a:off x="9196006" y="3434001"/>
              <a:ext cx="217215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reparameterization method that</a:t>
              </a:r>
            </a:p>
          </p:txBody>
        </p:sp>
        <p:sp>
          <p:nvSpPr>
            <p:cNvPr id="47" name="TextBox 47"/>
            <p:cNvSpPr txBox="1"/>
            <p:nvPr/>
          </p:nvSpPr>
          <p:spPr>
            <a:xfrm>
              <a:off x="9196006" y="3643551"/>
              <a:ext cx="17302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overcomes the limitation,</a:t>
              </a:r>
            </a:p>
          </p:txBody>
        </p:sp>
        <p:sp>
          <p:nvSpPr>
            <p:cNvPr id="48" name="TextBox 48"/>
            <p:cNvSpPr txBox="1"/>
            <p:nvPr/>
          </p:nvSpPr>
          <p:spPr>
            <a:xfrm>
              <a:off x="9196006" y="3853101"/>
              <a:ext cx="15399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confirmed by numerical</a:t>
              </a:r>
            </a:p>
          </p:txBody>
        </p:sp>
        <p:sp>
          <p:nvSpPr>
            <p:cNvPr id="49" name="TextBox 49"/>
            <p:cNvSpPr txBox="1"/>
            <p:nvPr/>
          </p:nvSpPr>
          <p:spPr>
            <a:xfrm>
              <a:off x="9196006" y="4062651"/>
              <a:ext cx="9008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experiments.</a:t>
              </a:r>
            </a:p>
          </p:txBody>
        </p:sp>
      </p:grpSp>
      <p:sp>
        <p:nvSpPr>
          <p:cNvPr id="51" name="TextBox 51"/>
          <p:cNvSpPr txBox="1"/>
          <p:nvPr/>
        </p:nvSpPr>
        <p:spPr>
          <a:xfrm>
            <a:off x="604076" y="5521404"/>
            <a:ext cx="7696869"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Memory + stability are the ingredients; the theorem is the result; the reparameterization is the fix.</a:t>
            </a:r>
          </a:p>
        </p:txBody>
      </p:sp>
      <p:sp>
        <p:nvSpPr>
          <p:cNvPr id="52" name="cue_s04_c1_makes_three_main_contributions_first" title="cue_s04_c1_makes_three_main_contributions_first" descr="cue_s04_c1_makes_three_main_contributions_first The paper makes three main contributions. First, it extends the concept of a memory function from the linear setting to general nonlinear functional sequences, and crucially this memory function can be numerically quantified by querying a trained model, not ju"/>
          <p:cNvSpPr/>
          <p:nvPr/>
        </p:nvSpPr>
        <p:spPr>
          <a:xfrm>
            <a:off x="609600" y="1599971"/>
            <a:ext cx="261030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2_second_introduces_framework_stable_a" title="cue_s04_c2_second_introduces_framework_stable_a" descr="cue_s04_c2_second_introduces_framework_stable_a Second, it introduces a framework of stable approximation, a mild requirement that the approximant behaves continuously under small parameter perturbations, which is exactly what gradient-based optimization needs."/>
          <p:cNvSpPr/>
          <p:nvPr/>
        </p:nvSpPr>
        <p:spPr>
          <a:xfrm>
            <a:off x="3390595" y="1599971"/>
            <a:ext cx="261030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3_third_these_two_ingredients_proves" title="cue_s04_c3_third_these_two_ingredients_proves" descr="cue_s04_c3_third_these_two_ingredients_proves Third, using these two ingredients it proves what the authors believe is the first Bernstein-type approximation theorem for nonlinear RNNs."/>
          <p:cNvSpPr/>
          <p:nvPr/>
        </p:nvSpPr>
        <p:spPr>
          <a:xfrm>
            <a:off x="6171590" y="1599971"/>
            <a:ext cx="261030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4_c4_top_theory_proposes_principled_repar" title="cue_s04_c4_top_theory_proposes_principled_repar" descr="cue_s04_c4_top_theory_proposes_principled_repar On top of the theory, it proposes a principled reparameterization method to overcome the identified limitation and confirms the whole story with experiments."/>
          <p:cNvSpPr/>
          <p:nvPr/>
        </p:nvSpPr>
        <p:spPr>
          <a:xfrm>
            <a:off x="8953804" y="1599971"/>
            <a:ext cx="261030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07664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a memory function to a stable fix</a:t>
            </a:r>
          </a:p>
        </p:txBody>
      </p:sp>
      <p:grpSp>
        <p:nvGrpSpPr>
          <p:cNvPr id="13" name="Group 13"/>
          <p:cNvGrpSpPr/>
          <p:nvPr/>
        </p:nvGrpSpPr>
        <p:grpSpPr>
          <a:xfrm>
            <a:off x="609600" y="1447800"/>
            <a:ext cx="5410200" cy="1885950"/>
            <a:chOff x="609600" y="1447800"/>
            <a:chExt cx="5410200" cy="1885950"/>
          </a:xfrm>
        </p:grpSpPr>
        <p:sp>
          <p:nvSpPr>
            <p:cNvPr id="5" name="Rectangle 5"/>
            <p:cNvSpPr/>
            <p:nvPr/>
          </p:nvSpPr>
          <p:spPr>
            <a:xfrm>
              <a:off x="609600" y="1447800"/>
              <a:ext cx="5410200" cy="1885950"/>
            </a:xfrm>
            <a:prstGeom prst="roundRect">
              <a:avLst>
                <a:gd name="adj" fmla="val 7071"/>
              </a:avLst>
            </a:prstGeom>
            <a:solidFill>
              <a:schemeClr val="accent5"/>
            </a:solidFill>
            <a:ln w="14288">
              <a:solidFill>
                <a:srgbClr val="26455F"/>
              </a:solidFill>
            </a:ln>
          </p:spPr>
        </p:sp>
        <p:sp>
          <p:nvSpPr>
            <p:cNvPr id="6" name="Rectangle 6"/>
            <p:cNvSpPr/>
            <p:nvPr/>
          </p:nvSpPr>
          <p:spPr>
            <a:xfrm>
              <a:off x="609600" y="1447800"/>
              <a:ext cx="57150" cy="1885950"/>
            </a:xfrm>
            <a:prstGeom prst="roundRect">
              <a:avLst>
                <a:gd name="adj" fmla="val 50000"/>
              </a:avLst>
            </a:prstGeom>
            <a:solidFill>
              <a:schemeClr val="accent2"/>
            </a:solidFill>
            <a:ln>
              <a:noFill/>
            </a:ln>
          </p:spPr>
        </p:sp>
        <p:sp>
          <p:nvSpPr>
            <p:cNvPr id="7" name="TextBox 7"/>
            <p:cNvSpPr txBox="1"/>
            <p:nvPr/>
          </p:nvSpPr>
          <p:spPr>
            <a:xfrm>
              <a:off x="870014" y="1676162"/>
              <a:ext cx="339298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1 · Memory function for nonlinear maps</a:t>
              </a:r>
            </a:p>
          </p:txBody>
        </p:sp>
        <p:sp>
          <p:nvSpPr>
            <p:cNvPr id="8" name="TextBox 8"/>
            <p:cNvSpPr txBox="1"/>
            <p:nvPr/>
          </p:nvSpPr>
          <p:spPr>
            <a:xfrm>
              <a:off x="870776" y="1978104"/>
              <a:ext cx="390219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Over Heaviside step inputs, measure how strongly the</a:t>
              </a:r>
            </a:p>
          </p:txBody>
        </p:sp>
        <p:sp>
          <p:nvSpPr>
            <p:cNvPr id="9" name="TextBox 9"/>
            <p:cNvSpPr txBox="1"/>
            <p:nvPr/>
          </p:nvSpPr>
          <p:spPr>
            <a:xfrm>
              <a:off x="870776" y="2187654"/>
              <a:ext cx="311451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output at time t still depends on the input.</a:t>
              </a:r>
            </a:p>
          </p:txBody>
        </p:sp>
        <p:sp>
          <p:nvSpPr>
            <p:cNvPr id="10" name="Rectangle 10"/>
            <p:cNvSpPr/>
            <p:nvPr/>
          </p:nvSpPr>
          <p:spPr>
            <a:xfrm>
              <a:off x="876300" y="2514600"/>
              <a:ext cx="4876800" cy="552450"/>
            </a:xfrm>
            <a:prstGeom prst="roundRect">
              <a:avLst>
                <a:gd name="adj" fmla="val 13793"/>
              </a:avLst>
            </a:prstGeom>
            <a:solidFill>
              <a:schemeClr val="accent6"/>
            </a:solidFill>
            <a:ln w="14288">
              <a:solidFill>
                <a:srgbClr val="26455F"/>
              </a:solidFill>
            </a:ln>
          </p:spPr>
        </p:sp>
        <p:sp>
          <p:nvSpPr>
            <p:cNvPr id="11" name="TextBox 11"/>
            <p:cNvSpPr txBox="1"/>
            <p:nvPr/>
          </p:nvSpPr>
          <p:spPr>
            <a:xfrm>
              <a:off x="2124986" y="2648902"/>
              <a:ext cx="2379428"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M(t) = | d y(t) / d (step input) |</a:t>
              </a:r>
            </a:p>
          </p:txBody>
        </p:sp>
        <p:sp>
          <p:nvSpPr>
            <p:cNvPr id="12" name="TextBox 12"/>
            <p:cNvSpPr txBox="1"/>
            <p:nvPr/>
          </p:nvSpPr>
          <p:spPr>
            <a:xfrm>
              <a:off x="1967951" y="2870597"/>
              <a:ext cx="26934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task-independent · numerically queryable</a:t>
              </a:r>
            </a:p>
          </p:txBody>
        </p:sp>
      </p:grpSp>
      <p:grpSp>
        <p:nvGrpSpPr>
          <p:cNvPr id="22" name="Group 22"/>
          <p:cNvGrpSpPr/>
          <p:nvPr/>
        </p:nvGrpSpPr>
        <p:grpSpPr>
          <a:xfrm>
            <a:off x="6172200" y="1447800"/>
            <a:ext cx="5410200" cy="1885950"/>
            <a:chOff x="6172200" y="1447800"/>
            <a:chExt cx="5410200" cy="1885950"/>
          </a:xfrm>
        </p:grpSpPr>
        <p:sp>
          <p:nvSpPr>
            <p:cNvPr id="14" name="Rectangle 14"/>
            <p:cNvSpPr/>
            <p:nvPr/>
          </p:nvSpPr>
          <p:spPr>
            <a:xfrm>
              <a:off x="6172200" y="1447800"/>
              <a:ext cx="5410200" cy="1885950"/>
            </a:xfrm>
            <a:prstGeom prst="roundRect">
              <a:avLst>
                <a:gd name="adj" fmla="val 7071"/>
              </a:avLst>
            </a:prstGeom>
            <a:solidFill>
              <a:schemeClr val="accent5"/>
            </a:solidFill>
            <a:ln w="14288">
              <a:solidFill>
                <a:srgbClr val="26455F"/>
              </a:solidFill>
            </a:ln>
          </p:spPr>
        </p:sp>
        <p:sp>
          <p:nvSpPr>
            <p:cNvPr id="15" name="Rectangle 15"/>
            <p:cNvSpPr/>
            <p:nvPr/>
          </p:nvSpPr>
          <p:spPr>
            <a:xfrm>
              <a:off x="6172200" y="1447800"/>
              <a:ext cx="57150" cy="1885950"/>
            </a:xfrm>
            <a:prstGeom prst="roundRect">
              <a:avLst>
                <a:gd name="adj" fmla="val 50000"/>
              </a:avLst>
            </a:prstGeom>
            <a:solidFill>
              <a:srgbClr val="34D3C0"/>
            </a:solidFill>
            <a:ln>
              <a:noFill/>
            </a:ln>
          </p:spPr>
        </p:sp>
        <p:sp>
          <p:nvSpPr>
            <p:cNvPr id="16" name="TextBox 16"/>
            <p:cNvSpPr txBox="1"/>
            <p:nvPr/>
          </p:nvSpPr>
          <p:spPr>
            <a:xfrm>
              <a:off x="6432614" y="1676162"/>
              <a:ext cx="2104562"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2 · Stable approximation</a:t>
              </a:r>
            </a:p>
          </p:txBody>
        </p:sp>
        <p:sp>
          <p:nvSpPr>
            <p:cNvPr id="17" name="TextBox 17"/>
            <p:cNvSpPr txBox="1"/>
            <p:nvPr/>
          </p:nvSpPr>
          <p:spPr>
            <a:xfrm>
              <a:off x="6433566" y="1982152"/>
              <a:ext cx="42491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Perturbation error at width m: the worst output error when</a:t>
              </a:r>
            </a:p>
          </p:txBody>
        </p:sp>
        <p:sp>
          <p:nvSpPr>
            <p:cNvPr id="18" name="TextBox 18"/>
            <p:cNvSpPr txBox="1"/>
            <p:nvPr/>
          </p:nvSpPr>
          <p:spPr>
            <a:xfrm>
              <a:off x="6433566" y="2191702"/>
              <a:ext cx="31415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parameters move inside a ball of radius beta.</a:t>
              </a:r>
            </a:p>
          </p:txBody>
        </p:sp>
        <p:sp>
          <p:nvSpPr>
            <p:cNvPr id="19" name="Rectangle 19"/>
            <p:cNvSpPr/>
            <p:nvPr/>
          </p:nvSpPr>
          <p:spPr>
            <a:xfrm>
              <a:off x="6438900" y="2571750"/>
              <a:ext cx="4876800" cy="552450"/>
            </a:xfrm>
            <a:prstGeom prst="roundRect">
              <a:avLst>
                <a:gd name="adj" fmla="val 13793"/>
              </a:avLst>
            </a:prstGeom>
            <a:solidFill>
              <a:schemeClr val="accent6"/>
            </a:solidFill>
            <a:ln w="14288">
              <a:solidFill>
                <a:srgbClr val="26455F"/>
              </a:solidFill>
            </a:ln>
          </p:spPr>
        </p:sp>
        <p:sp>
          <p:nvSpPr>
            <p:cNvPr id="20" name="TextBox 20"/>
            <p:cNvSpPr txBox="1"/>
            <p:nvPr/>
          </p:nvSpPr>
          <p:spPr>
            <a:xfrm>
              <a:off x="7060216" y="2695099"/>
              <a:ext cx="3634168"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E_m(beta) = max_{||dW|| &lt;= beta} || y - y_perturbed ||</a:t>
              </a:r>
            </a:p>
          </p:txBody>
        </p:sp>
        <p:sp>
          <p:nvSpPr>
            <p:cNvPr id="21" name="TextBox 21"/>
            <p:cNvSpPr txBox="1"/>
            <p:nvPr/>
          </p:nvSpPr>
          <p:spPr>
            <a:xfrm>
              <a:off x="7232410" y="2908697"/>
              <a:ext cx="328978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stable if E_m stays continuous up to some beta &gt; 0</a:t>
              </a:r>
            </a:p>
          </p:txBody>
        </p:sp>
      </p:grpSp>
      <p:grpSp>
        <p:nvGrpSpPr>
          <p:cNvPr id="34" name="Group 34"/>
          <p:cNvGrpSpPr/>
          <p:nvPr/>
        </p:nvGrpSpPr>
        <p:grpSpPr>
          <a:xfrm>
            <a:off x="609600" y="3448050"/>
            <a:ext cx="5410200" cy="1885950"/>
            <a:chOff x="609600" y="3448050"/>
            <a:chExt cx="5410200" cy="1885950"/>
          </a:xfrm>
        </p:grpSpPr>
        <p:sp>
          <p:nvSpPr>
            <p:cNvPr id="23" name="Rectangle 23"/>
            <p:cNvSpPr/>
            <p:nvPr/>
          </p:nvSpPr>
          <p:spPr>
            <a:xfrm>
              <a:off x="609600" y="3448050"/>
              <a:ext cx="5410200" cy="1885950"/>
            </a:xfrm>
            <a:prstGeom prst="roundRect">
              <a:avLst>
                <a:gd name="adj" fmla="val 7071"/>
              </a:avLst>
            </a:prstGeom>
            <a:solidFill>
              <a:srgbClr val="0F2E2B"/>
            </a:solidFill>
            <a:ln w="14288">
              <a:solidFill>
                <a:srgbClr val="34D3C0"/>
              </a:solidFill>
            </a:ln>
          </p:spPr>
        </p:sp>
        <p:sp>
          <p:nvSpPr>
            <p:cNvPr id="24" name="Rectangle 24"/>
            <p:cNvSpPr/>
            <p:nvPr/>
          </p:nvSpPr>
          <p:spPr>
            <a:xfrm>
              <a:off x="609600" y="3448050"/>
              <a:ext cx="57150" cy="1885950"/>
            </a:xfrm>
            <a:prstGeom prst="roundRect">
              <a:avLst>
                <a:gd name="adj" fmla="val 50000"/>
              </a:avLst>
            </a:prstGeom>
            <a:solidFill>
              <a:srgbClr val="48C78E"/>
            </a:solidFill>
            <a:ln>
              <a:noFill/>
            </a:ln>
          </p:spPr>
        </p:sp>
        <p:sp>
          <p:nvSpPr>
            <p:cNvPr id="25" name="TextBox 25"/>
            <p:cNvSpPr txBox="1"/>
            <p:nvPr/>
          </p:nvSpPr>
          <p:spPr>
            <a:xfrm>
              <a:off x="870014" y="3676412"/>
              <a:ext cx="205253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3 · The central theorem</a:t>
              </a:r>
            </a:p>
          </p:txBody>
        </p:sp>
        <p:sp>
          <p:nvSpPr>
            <p:cNvPr id="26" name="TextBox 26"/>
            <p:cNvSpPr txBox="1"/>
            <p:nvPr/>
          </p:nvSpPr>
          <p:spPr>
            <a:xfrm>
              <a:off x="870966" y="3982402"/>
              <a:ext cx="402938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If a target is stably approximated by RNNs with controlled</a:t>
              </a:r>
            </a:p>
          </p:txBody>
        </p:sp>
        <p:sp>
          <p:nvSpPr>
            <p:cNvPr id="27" name="TextBox 27"/>
            <p:cNvSpPr txBox="1"/>
            <p:nvPr/>
          </p:nvSpPr>
          <p:spPr>
            <a:xfrm>
              <a:off x="870966" y="4191952"/>
              <a:ext cx="328822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weights, its memory MUST decay exponentially.</a:t>
              </a:r>
            </a:p>
          </p:txBody>
        </p:sp>
        <p:sp>
          <p:nvSpPr>
            <p:cNvPr id="28" name="Rectangle 28"/>
            <p:cNvSpPr/>
            <p:nvPr/>
          </p:nvSpPr>
          <p:spPr>
            <a:xfrm>
              <a:off x="876300" y="4572000"/>
              <a:ext cx="4876800" cy="304800"/>
            </a:xfrm>
            <a:prstGeom prst="roundRect">
              <a:avLst>
                <a:gd name="adj" fmla="val 25000"/>
              </a:avLst>
            </a:prstGeom>
            <a:solidFill>
              <a:schemeClr val="accent6"/>
            </a:solidFill>
            <a:ln w="14288">
              <a:solidFill>
                <a:srgbClr val="26455F"/>
              </a:solidFill>
            </a:ln>
          </p:spPr>
        </p:sp>
        <p:sp>
          <p:nvSpPr>
            <p:cNvPr id="29" name="Ellipse 29"/>
            <p:cNvSpPr/>
            <p:nvPr/>
          </p:nvSpPr>
          <p:spPr>
            <a:xfrm>
              <a:off x="1000125" y="4676775"/>
              <a:ext cx="95250" cy="95250"/>
            </a:xfrm>
            <a:prstGeom prst="ellipse">
              <a:avLst/>
            </a:prstGeom>
            <a:solidFill>
              <a:srgbClr val="48C78E"/>
            </a:solidFill>
            <a:ln>
              <a:noFill/>
            </a:ln>
          </p:spPr>
        </p:sp>
        <p:sp>
          <p:nvSpPr>
            <p:cNvPr id="30" name="TextBox 30"/>
            <p:cNvSpPr txBox="1"/>
            <p:nvPr/>
          </p:nvSpPr>
          <p:spPr>
            <a:xfrm>
              <a:off x="1195197" y="4666774"/>
              <a:ext cx="282886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stability -&gt; hidden-state derivatives -&gt; 0</a:t>
              </a:r>
            </a:p>
          </p:txBody>
        </p:sp>
        <p:sp>
          <p:nvSpPr>
            <p:cNvPr id="31" name="Rectangle 31"/>
            <p:cNvSpPr/>
            <p:nvPr/>
          </p:nvSpPr>
          <p:spPr>
            <a:xfrm>
              <a:off x="876300" y="4933950"/>
              <a:ext cx="4876800" cy="304800"/>
            </a:xfrm>
            <a:prstGeom prst="roundRect">
              <a:avLst>
                <a:gd name="adj" fmla="val 25000"/>
              </a:avLst>
            </a:prstGeom>
            <a:solidFill>
              <a:schemeClr val="accent6"/>
            </a:solidFill>
            <a:ln w="14288">
              <a:solidFill>
                <a:srgbClr val="26455F"/>
              </a:solidFill>
            </a:ln>
          </p:spPr>
        </p:sp>
        <p:sp>
          <p:nvSpPr>
            <p:cNvPr id="32" name="Ellipse 32"/>
            <p:cNvSpPr/>
            <p:nvPr/>
          </p:nvSpPr>
          <p:spPr>
            <a:xfrm>
              <a:off x="1000125" y="5038725"/>
              <a:ext cx="95250" cy="95250"/>
            </a:xfrm>
            <a:prstGeom prst="ellipse">
              <a:avLst/>
            </a:prstGeom>
            <a:solidFill>
              <a:srgbClr val="34D3C0"/>
            </a:solidFill>
            <a:ln>
              <a:noFill/>
            </a:ln>
          </p:spPr>
        </p:sp>
        <p:sp>
          <p:nvSpPr>
            <p:cNvPr id="33" name="TextBox 33"/>
            <p:cNvSpPr txBox="1"/>
            <p:nvPr/>
          </p:nvSpPr>
          <p:spPr>
            <a:xfrm>
              <a:off x="1195197" y="5028724"/>
              <a:ext cx="2796560"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Hartman-Grobman bounds the eigenvalues</a:t>
              </a:r>
            </a:p>
          </p:txBody>
        </p:sp>
      </p:grpSp>
      <p:grpSp>
        <p:nvGrpSpPr>
          <p:cNvPr id="46" name="Group 46"/>
          <p:cNvGrpSpPr/>
          <p:nvPr/>
        </p:nvGrpSpPr>
        <p:grpSpPr>
          <a:xfrm>
            <a:off x="6172200" y="3448050"/>
            <a:ext cx="5410200" cy="1885950"/>
            <a:chOff x="6172200" y="3448050"/>
            <a:chExt cx="5410200" cy="1885950"/>
          </a:xfrm>
        </p:grpSpPr>
        <p:sp>
          <p:nvSpPr>
            <p:cNvPr id="35" name="Rectangle 35"/>
            <p:cNvSpPr/>
            <p:nvPr/>
          </p:nvSpPr>
          <p:spPr>
            <a:xfrm>
              <a:off x="6172200" y="3448050"/>
              <a:ext cx="5410200" cy="1885950"/>
            </a:xfrm>
            <a:prstGeom prst="roundRect">
              <a:avLst>
                <a:gd name="adj" fmla="val 7071"/>
              </a:avLst>
            </a:prstGeom>
            <a:solidFill>
              <a:schemeClr val="accent5"/>
            </a:solidFill>
            <a:ln w="14288">
              <a:solidFill>
                <a:srgbClr val="26455F"/>
              </a:solidFill>
            </a:ln>
          </p:spPr>
        </p:sp>
        <p:sp>
          <p:nvSpPr>
            <p:cNvPr id="36" name="Rectangle 36"/>
            <p:cNvSpPr/>
            <p:nvPr/>
          </p:nvSpPr>
          <p:spPr>
            <a:xfrm>
              <a:off x="6172200" y="3448050"/>
              <a:ext cx="57150" cy="1885950"/>
            </a:xfrm>
            <a:prstGeom prst="roundRect">
              <a:avLst>
                <a:gd name="adj" fmla="val 50000"/>
              </a:avLst>
            </a:prstGeom>
            <a:solidFill>
              <a:srgbClr val="F2C14E"/>
            </a:solidFill>
            <a:ln>
              <a:noFill/>
            </a:ln>
          </p:spPr>
        </p:sp>
        <p:sp>
          <p:nvSpPr>
            <p:cNvPr id="37" name="TextBox 37"/>
            <p:cNvSpPr txBox="1"/>
            <p:nvPr/>
          </p:nvSpPr>
          <p:spPr>
            <a:xfrm>
              <a:off x="6432614" y="3676412"/>
              <a:ext cx="258641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4 · Stable reparameterization</a:t>
              </a:r>
            </a:p>
          </p:txBody>
        </p:sp>
        <p:sp>
          <p:nvSpPr>
            <p:cNvPr id="38" name="TextBox 38"/>
            <p:cNvSpPr txBox="1"/>
            <p:nvPr/>
          </p:nvSpPr>
          <p:spPr>
            <a:xfrm>
              <a:off x="6433566" y="3982402"/>
              <a:ext cx="422769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Replace the recurrent weight with a map that always lands in</a:t>
              </a:r>
            </a:p>
          </p:txBody>
        </p:sp>
        <p:sp>
          <p:nvSpPr>
            <p:cNvPr id="39" name="TextBox 39"/>
            <p:cNvSpPr txBox="1"/>
            <p:nvPr/>
          </p:nvSpPr>
          <p:spPr>
            <a:xfrm>
              <a:off x="6433566" y="4191952"/>
              <a:ext cx="26256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stable, negative-real-part matrices.</a:t>
              </a:r>
            </a:p>
          </p:txBody>
        </p:sp>
        <p:sp>
          <p:nvSpPr>
            <p:cNvPr id="40" name="Rectangle 40"/>
            <p:cNvSpPr/>
            <p:nvPr/>
          </p:nvSpPr>
          <p:spPr>
            <a:xfrm>
              <a:off x="6438900" y="4572000"/>
              <a:ext cx="4876800" cy="304800"/>
            </a:xfrm>
            <a:prstGeom prst="roundRect">
              <a:avLst>
                <a:gd name="adj" fmla="val 25000"/>
              </a:avLst>
            </a:prstGeom>
            <a:solidFill>
              <a:schemeClr val="accent6"/>
            </a:solidFill>
            <a:ln w="14288">
              <a:solidFill>
                <a:srgbClr val="26455F"/>
              </a:solidFill>
            </a:ln>
          </p:spPr>
        </p:sp>
        <p:sp>
          <p:nvSpPr>
            <p:cNvPr id="41" name="Ellipse 41"/>
            <p:cNvSpPr/>
            <p:nvPr/>
          </p:nvSpPr>
          <p:spPr>
            <a:xfrm>
              <a:off x="6562725" y="4676775"/>
              <a:ext cx="95250" cy="95250"/>
            </a:xfrm>
            <a:prstGeom prst="ellipse">
              <a:avLst/>
            </a:prstGeom>
            <a:solidFill>
              <a:srgbClr val="F2C14E"/>
            </a:solidFill>
            <a:ln>
              <a:noFill/>
            </a:ln>
          </p:spPr>
        </p:sp>
        <p:sp>
          <p:nvSpPr>
            <p:cNvPr id="42" name="TextBox 42"/>
            <p:cNvSpPr txBox="1"/>
            <p:nvPr/>
          </p:nvSpPr>
          <p:spPr>
            <a:xfrm>
              <a:off x="6757797" y="4666774"/>
              <a:ext cx="2240229"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W = f(theta), Re(eig) &lt; 0 always</a:t>
              </a:r>
            </a:p>
          </p:txBody>
        </p:sp>
        <p:sp>
          <p:nvSpPr>
            <p:cNvPr id="43" name="Rectangle 43"/>
            <p:cNvSpPr/>
            <p:nvPr/>
          </p:nvSpPr>
          <p:spPr>
            <a:xfrm>
              <a:off x="6438900" y="4933950"/>
              <a:ext cx="4876800" cy="304800"/>
            </a:xfrm>
            <a:prstGeom prst="roundRect">
              <a:avLst>
                <a:gd name="adj" fmla="val 25000"/>
              </a:avLst>
            </a:prstGeom>
            <a:solidFill>
              <a:schemeClr val="accent6"/>
            </a:solidFill>
            <a:ln w="14288">
              <a:solidFill>
                <a:srgbClr val="26455F"/>
              </a:solidFill>
            </a:ln>
          </p:spPr>
        </p:sp>
        <p:sp>
          <p:nvSpPr>
            <p:cNvPr id="44" name="Ellipse 44"/>
            <p:cNvSpPr/>
            <p:nvPr/>
          </p:nvSpPr>
          <p:spPr>
            <a:xfrm>
              <a:off x="6562725" y="5038725"/>
              <a:ext cx="95250" cy="95250"/>
            </a:xfrm>
            <a:prstGeom prst="ellipse">
              <a:avLst/>
            </a:prstGeom>
            <a:solidFill>
              <a:srgbClr val="34D3C0"/>
            </a:solidFill>
            <a:ln>
              <a:noFill/>
            </a:ln>
          </p:spPr>
        </p:sp>
        <p:sp>
          <p:nvSpPr>
            <p:cNvPr id="45" name="TextBox 45"/>
            <p:cNvSpPr txBox="1"/>
            <p:nvPr/>
          </p:nvSpPr>
          <p:spPr>
            <a:xfrm>
              <a:off x="6757797" y="5028724"/>
              <a:ext cx="2697271"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exponential / softplus maps stay stable</a:t>
              </a:r>
            </a:p>
          </p:txBody>
        </p:sp>
      </p:grpSp>
      <p:sp>
        <p:nvSpPr>
          <p:cNvPr id="47" name="cue_s05_c1_method_three_pieces_first_memory" title="cue_s05_c1_method_three_pieces_first_memory" descr="cue_s05_c1_method_three_pieces_first_memory The method has three pieces. First, a memory function for nonlinear functionals: it measures, over Heaviside step inputs, how strongly the output at time t still depends on the input, giving a precise, task-independent, and numerically queryable notion of memo"/>
          <p:cNvSpPr/>
          <p:nvPr/>
        </p:nvSpPr>
        <p:spPr>
          <a:xfrm>
            <a:off x="60960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second_stability_framework_perturbat" title="cue_s05_c2_second_stability_framework_perturbat" descr="cue_s05_c2_second_stability_framework_perturbat Second, a stability framework: the perturbation error at hidden dimension m is the worst-case output error when parameters are perturbed within a ball of radius beta, and a target is beta-zero stably approximated if that error stays continuous up to some posit"/>
          <p:cNvSpPr/>
          <p:nvPr/>
        </p:nvSpPr>
        <p:spPr>
          <a:xfrm>
            <a:off x="6171590" y="1447723"/>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central_theorem_says_target_decaying" title="cue_s05_c3_central_theorem_says_target_decaying" descr="cue_s05_c3_central_theorem_says_target_decaying The central theorem then says: if a target with decaying memory is stably approximated by RNNs whose weight norms and perturbed memories stay uniformly controlled, then the target's memory must decay exponentially. The proof leverages stability to drive hidden"/>
          <p:cNvSpPr/>
          <p:nvPr/>
        </p:nvSpPr>
        <p:spPr>
          <a:xfrm>
            <a:off x="60960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finally_overcome_curse_they_substitu" title="cue_s05_c4_finally_overcome_curse_they_substitu" descr="cue_s05_c4_finally_overcome_curse_they_substitu Finally, to overcome this curse, they substitute the recurrent weight matrix with a continuous function that always maps into stable, negative-real-part matrices, such as an exponential or softplus map, so the network can push eigenvalues toward zero while rem"/>
          <p:cNvSpPr/>
          <p:nvPr/>
        </p:nvSpPr>
        <p:spPr>
          <a:xfrm>
            <a:off x="6171590" y="3448202"/>
            <a:ext cx="5409590" cy="18859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83768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Synthetic targets and two real tasks</a:t>
            </a:r>
          </a:p>
        </p:txBody>
      </p:sp>
      <p:grpSp>
        <p:nvGrpSpPr>
          <p:cNvPr id="10" name="Group 10"/>
          <p:cNvGrpSpPr/>
          <p:nvPr/>
        </p:nvGrpSpPr>
        <p:grpSpPr>
          <a:xfrm>
            <a:off x="609600" y="1447800"/>
            <a:ext cx="10972800" cy="917734"/>
            <a:chOff x="609600" y="1447800"/>
            <a:chExt cx="10972800" cy="917734"/>
          </a:xfrm>
        </p:grpSpPr>
        <p:sp>
          <p:nvSpPr>
            <p:cNvPr id="5" name="Rectangle 5"/>
            <p:cNvSpPr/>
            <p:nvPr/>
          </p:nvSpPr>
          <p:spPr>
            <a:xfrm>
              <a:off x="609600" y="1447800"/>
              <a:ext cx="10972800" cy="762000"/>
            </a:xfrm>
            <a:prstGeom prst="roundRect">
              <a:avLst>
                <a:gd name="adj" fmla="val 17500"/>
              </a:avLst>
            </a:prstGeom>
            <a:solidFill>
              <a:schemeClr val="accent5"/>
            </a:solidFill>
            <a:ln w="14288">
              <a:solidFill>
                <a:srgbClr val="26455F"/>
              </a:solidFill>
            </a:ln>
          </p:spPr>
        </p:sp>
        <p:sp>
          <p:nvSpPr>
            <p:cNvPr id="6" name="Rectangle 6"/>
            <p:cNvSpPr/>
            <p:nvPr/>
          </p:nvSpPr>
          <p:spPr>
            <a:xfrm>
              <a:off x="609600" y="1447800"/>
              <a:ext cx="57150" cy="762000"/>
            </a:xfrm>
            <a:prstGeom prst="roundRect">
              <a:avLst>
                <a:gd name="adj" fmla="val 50000"/>
              </a:avLst>
            </a:prstGeom>
            <a:solidFill>
              <a:srgbClr val="34D3C0"/>
            </a:solidFill>
            <a:ln>
              <a:noFill/>
            </a:ln>
          </p:spPr>
        </p:sp>
        <p:sp>
          <p:nvSpPr>
            <p:cNvPr id="7" name="TextBox 7"/>
            <p:cNvSpPr txBox="1"/>
            <p:nvPr/>
          </p:nvSpPr>
          <p:spPr>
            <a:xfrm>
              <a:off x="870585" y="1650206"/>
              <a:ext cx="3608927" cy="220028"/>
            </a:xfrm>
            <a:prstGeom prst="rect">
              <a:avLst/>
            </a:prstGeom>
            <a:noFill/>
            <a:ln>
              <a:noFill/>
            </a:ln>
          </p:spPr>
          <p:txBody>
            <a:bodyPr wrap="none" lIns="0" tIns="0" rIns="0" bIns="0" anchor="t" anchorCtr="0">
              <a:spAutoFit/>
            </a:bodyPr>
            <a:lstStyle/>
            <a:p>
              <a:pPr algn="l"/>
              <a:r>
                <a:rPr lang="en-US" sz="1120" b="1" spc="75" dirty="0">
                  <a:solidFill>
                    <a:srgbClr val="34D3C0"/>
                  </a:solidFill>
                  <a:latin typeface="+mn-lt"/>
                  <a:ea typeface="+mn-ea"/>
                  <a:cs typeface="+mn-cs"/>
                </a:rPr>
                <a:t>Experiments span synthetic and real data</a:t>
              </a:r>
            </a:p>
          </p:txBody>
        </p:sp>
        <p:sp>
          <p:nvSpPr>
            <p:cNvPr id="8" name="TextBox 8"/>
            <p:cNvSpPr txBox="1"/>
            <p:nvPr/>
          </p:nvSpPr>
          <p:spPr>
            <a:xfrm>
              <a:off x="870585" y="1916906"/>
              <a:ext cx="7487277"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Controlled synthetic targets probe the theory directly; real tasks test memory and the optimization</a:t>
              </a:r>
            </a:p>
          </p:txBody>
        </p:sp>
        <p:sp>
          <p:nvSpPr>
            <p:cNvPr id="9" name="TextBox 9"/>
            <p:cNvSpPr txBox="1"/>
            <p:nvPr/>
          </p:nvSpPr>
          <p:spPr>
            <a:xfrm>
              <a:off x="870585" y="2145506"/>
              <a:ext cx="1398554"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benefit of the fix.</a:t>
              </a:r>
            </a:p>
          </p:txBody>
        </p:sp>
      </p:grpSp>
      <p:grpSp>
        <p:nvGrpSpPr>
          <p:cNvPr id="24" name="Group 24"/>
          <p:cNvGrpSpPr/>
          <p:nvPr/>
        </p:nvGrpSpPr>
        <p:grpSpPr>
          <a:xfrm>
            <a:off x="609600" y="2400300"/>
            <a:ext cx="5334000" cy="1771650"/>
            <a:chOff x="609600" y="2400300"/>
            <a:chExt cx="5334000" cy="1771650"/>
          </a:xfrm>
        </p:grpSpPr>
        <p:sp>
          <p:nvSpPr>
            <p:cNvPr id="11" name="Rectangle 11"/>
            <p:cNvSpPr/>
            <p:nvPr/>
          </p:nvSpPr>
          <p:spPr>
            <a:xfrm>
              <a:off x="609600" y="2400300"/>
              <a:ext cx="5334000" cy="1771650"/>
            </a:xfrm>
            <a:prstGeom prst="roundRect">
              <a:avLst>
                <a:gd name="adj" fmla="val 7527"/>
              </a:avLst>
            </a:prstGeom>
            <a:solidFill>
              <a:schemeClr val="accent5"/>
            </a:solidFill>
            <a:ln w="14288">
              <a:solidFill>
                <a:srgbClr val="26455F"/>
              </a:solidFill>
            </a:ln>
          </p:spPr>
        </p:sp>
        <p:sp>
          <p:nvSpPr>
            <p:cNvPr id="12" name="Rectangle 12"/>
            <p:cNvSpPr/>
            <p:nvPr/>
          </p:nvSpPr>
          <p:spPr>
            <a:xfrm>
              <a:off x="609600" y="2400300"/>
              <a:ext cx="57150" cy="1771650"/>
            </a:xfrm>
            <a:prstGeom prst="roundRect">
              <a:avLst>
                <a:gd name="adj" fmla="val 50000"/>
              </a:avLst>
            </a:prstGeom>
            <a:solidFill>
              <a:schemeClr val="accent2"/>
            </a:solidFill>
            <a:ln>
              <a:noFill/>
            </a:ln>
          </p:spPr>
        </p:sp>
        <p:sp>
          <p:nvSpPr>
            <p:cNvPr id="13" name="TextBox 13"/>
            <p:cNvSpPr txBox="1"/>
            <p:nvPr/>
          </p:nvSpPr>
          <p:spPr>
            <a:xfrm>
              <a:off x="870014" y="2628662"/>
              <a:ext cx="249811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Synthetic functional targets</a:t>
              </a:r>
            </a:p>
          </p:txBody>
        </p:sp>
        <p:sp>
          <p:nvSpPr>
            <p:cNvPr id="14" name="Rectangle 14"/>
            <p:cNvSpPr/>
            <p:nvPr/>
          </p:nvSpPr>
          <p:spPr>
            <a:xfrm>
              <a:off x="876300" y="2933700"/>
              <a:ext cx="4800600" cy="304800"/>
            </a:xfrm>
            <a:prstGeom prst="roundRect">
              <a:avLst>
                <a:gd name="adj" fmla="val 25000"/>
              </a:avLst>
            </a:prstGeom>
            <a:solidFill>
              <a:schemeClr val="accent6"/>
            </a:solidFill>
            <a:ln w="14288">
              <a:solidFill>
                <a:srgbClr val="26455F"/>
              </a:solidFill>
            </a:ln>
          </p:spPr>
        </p:sp>
        <p:sp>
          <p:nvSpPr>
            <p:cNvPr id="15" name="Ellipse 15"/>
            <p:cNvSpPr/>
            <p:nvPr/>
          </p:nvSpPr>
          <p:spPr>
            <a:xfrm>
              <a:off x="1000125" y="3038475"/>
              <a:ext cx="95250" cy="95250"/>
            </a:xfrm>
            <a:prstGeom prst="ellipse">
              <a:avLst/>
            </a:prstGeom>
            <a:solidFill>
              <a:schemeClr val="accent2"/>
            </a:solidFill>
            <a:ln>
              <a:noFill/>
            </a:ln>
          </p:spPr>
        </p:sp>
        <p:sp>
          <p:nvSpPr>
            <p:cNvPr id="16" name="TextBox 16"/>
            <p:cNvSpPr txBox="1"/>
            <p:nvPr/>
          </p:nvSpPr>
          <p:spPr>
            <a:xfrm>
              <a:off x="1195006" y="3024426"/>
              <a:ext cx="180198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linear &amp; nonlinear targets</a:t>
              </a:r>
            </a:p>
          </p:txBody>
        </p:sp>
        <p:sp>
          <p:nvSpPr>
            <p:cNvPr id="17" name="Rectangle 17"/>
            <p:cNvSpPr/>
            <p:nvPr/>
          </p:nvSpPr>
          <p:spPr>
            <a:xfrm>
              <a:off x="876300" y="3314700"/>
              <a:ext cx="2343150" cy="304800"/>
            </a:xfrm>
            <a:prstGeom prst="roundRect">
              <a:avLst>
                <a:gd name="adj" fmla="val 25000"/>
              </a:avLst>
            </a:prstGeom>
            <a:solidFill>
              <a:schemeClr val="accent6"/>
            </a:solidFill>
            <a:ln w="14288">
              <a:solidFill>
                <a:srgbClr val="26455F"/>
              </a:solidFill>
            </a:ln>
          </p:spPr>
        </p:sp>
        <p:sp>
          <p:nvSpPr>
            <p:cNvPr id="18" name="Ellipse 18"/>
            <p:cNvSpPr/>
            <p:nvPr/>
          </p:nvSpPr>
          <p:spPr>
            <a:xfrm>
              <a:off x="1000125" y="3419475"/>
              <a:ext cx="95250" cy="95250"/>
            </a:xfrm>
            <a:prstGeom prst="ellipse">
              <a:avLst/>
            </a:prstGeom>
            <a:solidFill>
              <a:srgbClr val="48C78E"/>
            </a:solidFill>
            <a:ln>
              <a:noFill/>
            </a:ln>
          </p:spPr>
        </p:sp>
        <p:sp>
          <p:nvSpPr>
            <p:cNvPr id="19" name="TextBox 19"/>
            <p:cNvSpPr txBox="1"/>
            <p:nvPr/>
          </p:nvSpPr>
          <p:spPr>
            <a:xfrm>
              <a:off x="1195388" y="3413522"/>
              <a:ext cx="1238572"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exp. decay memory</a:t>
              </a:r>
            </a:p>
          </p:txBody>
        </p:sp>
        <p:sp>
          <p:nvSpPr>
            <p:cNvPr id="20" name="Rectangle 20"/>
            <p:cNvSpPr/>
            <p:nvPr/>
          </p:nvSpPr>
          <p:spPr>
            <a:xfrm>
              <a:off x="3333750" y="3314700"/>
              <a:ext cx="2343150" cy="304800"/>
            </a:xfrm>
            <a:prstGeom prst="roundRect">
              <a:avLst>
                <a:gd name="adj" fmla="val 25000"/>
              </a:avLst>
            </a:prstGeom>
            <a:solidFill>
              <a:schemeClr val="accent6"/>
            </a:solidFill>
            <a:ln w="14288">
              <a:solidFill>
                <a:srgbClr val="26455F"/>
              </a:solidFill>
            </a:ln>
          </p:spPr>
        </p:sp>
        <p:sp>
          <p:nvSpPr>
            <p:cNvPr id="21" name="Ellipse 21"/>
            <p:cNvSpPr/>
            <p:nvPr/>
          </p:nvSpPr>
          <p:spPr>
            <a:xfrm>
              <a:off x="3457575" y="3419475"/>
              <a:ext cx="95250" cy="95250"/>
            </a:xfrm>
            <a:prstGeom prst="ellipse">
              <a:avLst/>
            </a:prstGeom>
            <a:solidFill>
              <a:srgbClr val="F2685C"/>
            </a:solidFill>
            <a:ln>
              <a:noFill/>
            </a:ln>
          </p:spPr>
        </p:sp>
        <p:sp>
          <p:nvSpPr>
            <p:cNvPr id="22" name="TextBox 22"/>
            <p:cNvSpPr txBox="1"/>
            <p:nvPr/>
          </p:nvSpPr>
          <p:spPr>
            <a:xfrm>
              <a:off x="3652838" y="3413522"/>
              <a:ext cx="1278433" cy="183356"/>
            </a:xfrm>
            <a:prstGeom prst="rect">
              <a:avLst/>
            </a:prstGeom>
            <a:noFill/>
            <a:ln>
              <a:noFill/>
            </a:ln>
          </p:spPr>
          <p:txBody>
            <a:bodyPr wrap="none" lIns="0" tIns="0" rIns="0" bIns="0" anchor="t" anchorCtr="0">
              <a:spAutoFit/>
            </a:bodyPr>
            <a:lstStyle/>
            <a:p>
              <a:pPr algn="l"/>
              <a:r>
                <a:rPr lang="en-US" sz="940" b="1" dirty="0">
                  <a:solidFill>
                    <a:schemeClr val="dk1"/>
                  </a:solidFill>
                  <a:latin typeface="+mn-lt"/>
                  <a:ea typeface="+mn-ea"/>
                  <a:cs typeface="+mn-cs"/>
                </a:rPr>
                <a:t>poly. decay memory</a:t>
              </a:r>
            </a:p>
          </p:txBody>
        </p:sp>
        <p:sp>
          <p:nvSpPr>
            <p:cNvPr id="23" name="TextBox 23"/>
            <p:cNvSpPr txBox="1"/>
            <p:nvPr/>
          </p:nvSpPr>
          <p:spPr>
            <a:xfrm>
              <a:off x="871347" y="3933349"/>
              <a:ext cx="3561545"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Sweep the hidden dimension m from about 2 up to 64.</a:t>
              </a:r>
            </a:p>
          </p:txBody>
        </p:sp>
      </p:grpSp>
      <p:grpSp>
        <p:nvGrpSpPr>
          <p:cNvPr id="35" name="Group 35"/>
          <p:cNvGrpSpPr/>
          <p:nvPr/>
        </p:nvGrpSpPr>
        <p:grpSpPr>
          <a:xfrm>
            <a:off x="6248400" y="2400300"/>
            <a:ext cx="5334000" cy="1771650"/>
            <a:chOff x="6248400" y="2400300"/>
            <a:chExt cx="5334000" cy="1771650"/>
          </a:xfrm>
        </p:grpSpPr>
        <p:sp>
          <p:nvSpPr>
            <p:cNvPr id="25" name="Rectangle 25"/>
            <p:cNvSpPr/>
            <p:nvPr/>
          </p:nvSpPr>
          <p:spPr>
            <a:xfrm>
              <a:off x="6248400" y="2400300"/>
              <a:ext cx="5334000" cy="1771650"/>
            </a:xfrm>
            <a:prstGeom prst="roundRect">
              <a:avLst>
                <a:gd name="adj" fmla="val 7527"/>
              </a:avLst>
            </a:prstGeom>
            <a:solidFill>
              <a:schemeClr val="accent5"/>
            </a:solidFill>
            <a:ln w="14288">
              <a:solidFill>
                <a:srgbClr val="26455F"/>
              </a:solidFill>
            </a:ln>
          </p:spPr>
        </p:sp>
        <p:sp>
          <p:nvSpPr>
            <p:cNvPr id="26" name="Rectangle 26"/>
            <p:cNvSpPr/>
            <p:nvPr/>
          </p:nvSpPr>
          <p:spPr>
            <a:xfrm>
              <a:off x="6248400" y="2400300"/>
              <a:ext cx="57150" cy="1771650"/>
            </a:xfrm>
            <a:prstGeom prst="roundRect">
              <a:avLst>
                <a:gd name="adj" fmla="val 50000"/>
              </a:avLst>
            </a:prstGeom>
            <a:solidFill>
              <a:srgbClr val="F2C14E"/>
            </a:solidFill>
            <a:ln>
              <a:noFill/>
            </a:ln>
          </p:spPr>
        </p:sp>
        <p:sp>
          <p:nvSpPr>
            <p:cNvPr id="27" name="TextBox 27"/>
            <p:cNvSpPr txBox="1"/>
            <p:nvPr/>
          </p:nvSpPr>
          <p:spPr>
            <a:xfrm>
              <a:off x="6508814" y="2628662"/>
              <a:ext cx="249791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Randomly initialized teachers</a:t>
              </a:r>
            </a:p>
          </p:txBody>
        </p:sp>
        <p:sp>
          <p:nvSpPr>
            <p:cNvPr id="28" name="Rectangle 28"/>
            <p:cNvSpPr/>
            <p:nvPr/>
          </p:nvSpPr>
          <p:spPr>
            <a:xfrm>
              <a:off x="6515100" y="2933700"/>
              <a:ext cx="2343150" cy="990600"/>
            </a:xfrm>
            <a:prstGeom prst="roundRect">
              <a:avLst>
                <a:gd name="adj" fmla="val 11538"/>
              </a:avLst>
            </a:prstGeom>
            <a:solidFill>
              <a:schemeClr val="accent6"/>
            </a:solidFill>
            <a:ln w="14288">
              <a:solidFill>
                <a:srgbClr val="26455F"/>
              </a:solidFill>
            </a:ln>
          </p:spPr>
        </p:sp>
        <p:sp>
          <p:nvSpPr>
            <p:cNvPr id="29" name="TextBox 29"/>
            <p:cNvSpPr txBox="1"/>
            <p:nvPr/>
          </p:nvSpPr>
          <p:spPr>
            <a:xfrm>
              <a:off x="7376354" y="3173540"/>
              <a:ext cx="620642" cy="498729"/>
            </a:xfrm>
            <a:prstGeom prst="rect">
              <a:avLst/>
            </a:prstGeom>
            <a:noFill/>
            <a:ln>
              <a:noFill/>
            </a:ln>
          </p:spPr>
          <p:txBody>
            <a:bodyPr wrap="none" lIns="0" tIns="0" rIns="0" bIns="0" anchor="t" anchorCtr="0">
              <a:spAutoFit/>
            </a:bodyPr>
            <a:lstStyle/>
            <a:p>
              <a:pPr algn="ctr"/>
              <a:r>
                <a:rPr lang="en-US" sz="2550" b="1" dirty="0">
                  <a:solidFill>
                    <a:srgbClr val="F2C14E"/>
                  </a:solidFill>
                  <a:latin typeface="+mn-lt"/>
                  <a:ea typeface="+mn-ea"/>
                  <a:cs typeface="+mn-cs"/>
                </a:rPr>
                <a:t>256</a:t>
              </a:r>
            </a:p>
          </p:txBody>
        </p:sp>
        <p:sp>
          <p:nvSpPr>
            <p:cNvPr id="30" name="TextBox 30"/>
            <p:cNvSpPr txBox="1"/>
            <p:nvPr/>
          </p:nvSpPr>
          <p:spPr>
            <a:xfrm>
              <a:off x="7051438" y="3620929"/>
              <a:ext cx="1270474"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teacher hidden dim</a:t>
              </a:r>
            </a:p>
          </p:txBody>
        </p:sp>
        <p:sp>
          <p:nvSpPr>
            <p:cNvPr id="31" name="Rectangle 31"/>
            <p:cNvSpPr/>
            <p:nvPr/>
          </p:nvSpPr>
          <p:spPr>
            <a:xfrm>
              <a:off x="8972550" y="2933700"/>
              <a:ext cx="2343150" cy="990600"/>
            </a:xfrm>
            <a:prstGeom prst="roundRect">
              <a:avLst>
                <a:gd name="adj" fmla="val 11538"/>
              </a:avLst>
            </a:prstGeom>
            <a:solidFill>
              <a:schemeClr val="accent6"/>
            </a:solidFill>
            <a:ln w="14288">
              <a:solidFill>
                <a:srgbClr val="26455F"/>
              </a:solidFill>
            </a:ln>
          </p:spPr>
        </p:sp>
        <p:sp>
          <p:nvSpPr>
            <p:cNvPr id="32" name="TextBox 32"/>
            <p:cNvSpPr txBox="1"/>
            <p:nvPr/>
          </p:nvSpPr>
          <p:spPr>
            <a:xfrm>
              <a:off x="9686777" y="3270694"/>
              <a:ext cx="914696"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student</a:t>
              </a:r>
            </a:p>
          </p:txBody>
        </p:sp>
        <p:sp>
          <p:nvSpPr>
            <p:cNvPr id="33" name="TextBox 33"/>
            <p:cNvSpPr txBox="1"/>
            <p:nvPr/>
          </p:nvSpPr>
          <p:spPr>
            <a:xfrm>
              <a:off x="9464117" y="3620929"/>
              <a:ext cx="1360015"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RNN approximates it</a:t>
              </a:r>
            </a:p>
          </p:txBody>
        </p:sp>
        <p:sp>
          <p:nvSpPr>
            <p:cNvPr id="34" name="TextBox 34"/>
            <p:cNvSpPr txBox="1"/>
            <p:nvPr/>
          </p:nvSpPr>
          <p:spPr>
            <a:xfrm>
              <a:off x="6510147" y="3971449"/>
              <a:ext cx="2563256"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Filter teachers by the stability test.</a:t>
              </a:r>
            </a:p>
          </p:txBody>
        </p:sp>
      </p:grpSp>
      <p:grpSp>
        <p:nvGrpSpPr>
          <p:cNvPr id="45" name="Group 45"/>
          <p:cNvGrpSpPr/>
          <p:nvPr/>
        </p:nvGrpSpPr>
        <p:grpSpPr>
          <a:xfrm>
            <a:off x="609600" y="4362450"/>
            <a:ext cx="10972800" cy="876300"/>
            <a:chOff x="609600" y="4362450"/>
            <a:chExt cx="10972800" cy="876300"/>
          </a:xfrm>
        </p:grpSpPr>
        <p:sp>
          <p:nvSpPr>
            <p:cNvPr id="36" name="Rectangle 36"/>
            <p:cNvSpPr/>
            <p:nvPr/>
          </p:nvSpPr>
          <p:spPr>
            <a:xfrm>
              <a:off x="609600" y="4362450"/>
              <a:ext cx="10972800" cy="876300"/>
            </a:xfrm>
            <a:prstGeom prst="roundRect">
              <a:avLst>
                <a:gd name="adj" fmla="val 15217"/>
              </a:avLst>
            </a:prstGeom>
            <a:solidFill>
              <a:schemeClr val="accent5"/>
            </a:solidFill>
            <a:ln w="14288">
              <a:solidFill>
                <a:srgbClr val="26455F"/>
              </a:solidFill>
            </a:ln>
          </p:spPr>
        </p:sp>
        <p:sp>
          <p:nvSpPr>
            <p:cNvPr id="37" name="Rectangle 37"/>
            <p:cNvSpPr/>
            <p:nvPr/>
          </p:nvSpPr>
          <p:spPr>
            <a:xfrm>
              <a:off x="609600" y="4362450"/>
              <a:ext cx="57150" cy="876300"/>
            </a:xfrm>
            <a:prstGeom prst="roundRect">
              <a:avLst>
                <a:gd name="adj" fmla="val 50000"/>
              </a:avLst>
            </a:prstGeom>
            <a:solidFill>
              <a:srgbClr val="48C78E"/>
            </a:solidFill>
            <a:ln>
              <a:noFill/>
            </a:ln>
          </p:spPr>
        </p:sp>
        <p:sp>
          <p:nvSpPr>
            <p:cNvPr id="38" name="TextBox 38"/>
            <p:cNvSpPr txBox="1"/>
            <p:nvPr/>
          </p:nvSpPr>
          <p:spPr>
            <a:xfrm>
              <a:off x="870204" y="4556760"/>
              <a:ext cx="4877692"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Real data · query memory and test the reparameterization</a:t>
              </a:r>
            </a:p>
          </p:txBody>
        </p:sp>
        <p:sp>
          <p:nvSpPr>
            <p:cNvPr id="39" name="Rectangle 39"/>
            <p:cNvSpPr/>
            <p:nvPr/>
          </p:nvSpPr>
          <p:spPr>
            <a:xfrm>
              <a:off x="876300" y="4819650"/>
              <a:ext cx="4476750" cy="304800"/>
            </a:xfrm>
            <a:prstGeom prst="roundRect">
              <a:avLst>
                <a:gd name="adj" fmla="val 25000"/>
              </a:avLst>
            </a:prstGeom>
            <a:solidFill>
              <a:schemeClr val="accent6"/>
            </a:solidFill>
            <a:ln w="14288">
              <a:solidFill>
                <a:srgbClr val="26455F"/>
              </a:solidFill>
            </a:ln>
          </p:spPr>
        </p:sp>
        <p:sp>
          <p:nvSpPr>
            <p:cNvPr id="40" name="Ellipse 40"/>
            <p:cNvSpPr/>
            <p:nvPr/>
          </p:nvSpPr>
          <p:spPr>
            <a:xfrm>
              <a:off x="1000125" y="4924425"/>
              <a:ext cx="95250" cy="95250"/>
            </a:xfrm>
            <a:prstGeom prst="ellipse">
              <a:avLst/>
            </a:prstGeom>
            <a:solidFill>
              <a:srgbClr val="34D3C0"/>
            </a:solidFill>
            <a:ln>
              <a:noFill/>
            </a:ln>
          </p:spPr>
        </p:sp>
        <p:sp>
          <p:nvSpPr>
            <p:cNvPr id="41" name="TextBox 41"/>
            <p:cNvSpPr txBox="1"/>
            <p:nvPr/>
          </p:nvSpPr>
          <p:spPr>
            <a:xfrm>
              <a:off x="1195006" y="4910376"/>
              <a:ext cx="225595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LSTM memory on IMDB sentiment</a:t>
              </a:r>
            </a:p>
          </p:txBody>
        </p:sp>
        <p:sp>
          <p:nvSpPr>
            <p:cNvPr id="42" name="Rectangle 42"/>
            <p:cNvSpPr/>
            <p:nvPr/>
          </p:nvSpPr>
          <p:spPr>
            <a:xfrm>
              <a:off x="5486400" y="4819650"/>
              <a:ext cx="4476750" cy="304800"/>
            </a:xfrm>
            <a:prstGeom prst="roundRect">
              <a:avLst>
                <a:gd name="adj" fmla="val 25000"/>
              </a:avLst>
            </a:prstGeom>
            <a:solidFill>
              <a:schemeClr val="accent6"/>
            </a:solidFill>
            <a:ln w="14288">
              <a:solidFill>
                <a:srgbClr val="26455F"/>
              </a:solidFill>
            </a:ln>
          </p:spPr>
        </p:sp>
        <p:sp>
          <p:nvSpPr>
            <p:cNvPr id="43" name="Ellipse 43"/>
            <p:cNvSpPr/>
            <p:nvPr/>
          </p:nvSpPr>
          <p:spPr>
            <a:xfrm>
              <a:off x="5610225" y="4924425"/>
              <a:ext cx="95250" cy="95250"/>
            </a:xfrm>
            <a:prstGeom prst="ellipse">
              <a:avLst/>
            </a:prstGeom>
            <a:solidFill>
              <a:schemeClr val="accent2"/>
            </a:solidFill>
            <a:ln>
              <a:noFill/>
            </a:ln>
          </p:spPr>
        </p:sp>
        <p:sp>
          <p:nvSpPr>
            <p:cNvPr id="44" name="TextBox 44"/>
            <p:cNvSpPr txBox="1"/>
            <p:nvPr/>
          </p:nvSpPr>
          <p:spPr>
            <a:xfrm>
              <a:off x="5805106" y="4910376"/>
              <a:ext cx="258636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nonlinear RNN on MNIST classification</a:t>
              </a:r>
            </a:p>
          </p:txBody>
        </p:sp>
      </p:grpSp>
      <p:sp>
        <p:nvSpPr>
          <p:cNvPr id="46" name="cue_s06_c1_experiments_span_synthetic_real" title="cue_s06_c1_experiments_span_synthetic_real" descr="cue_s06_c1_experiments_span_synthetic_real The experiments span synthetic and real data."/>
          <p:cNvSpPr/>
          <p:nvPr/>
        </p:nvSpPr>
        <p:spPr>
          <a:xfrm>
            <a:off x="609600" y="1447723"/>
            <a:ext cx="10972800" cy="917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6_c2_synthetic_side_authors_build_linear" title="cue_s06_c2_synthetic_side_authors_build_linear" descr="cue_s06_c2_synthetic_side_authors_build_linear On the synthetic side, the authors build linear and nonlinear functional targets with either exponential or polynomial decaying memory and sweep the hidden dimension from about two up to sixty four to watch how the perturbation-stability radius behaves."/>
          <p:cNvSpPr/>
          <p:nvPr/>
        </p:nvSpPr>
        <p:spPr>
          <a:xfrm>
            <a:off x="609600" y="2400300"/>
            <a:ext cx="5334000" cy="1771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3_they_also_construct_randomly_initial" title="cue_s06_c3_they_also_construct_randomly_initial" descr="cue_s06_c3_they_also_construct_randomly_initial They also construct randomly initialized RNN teacher models with a large hidden dimension of two hundred fifty six and approximate them with student RNNs to test the stability filter."/>
          <p:cNvSpPr/>
          <p:nvPr/>
        </p:nvSpPr>
        <p:spPr>
          <a:xfrm>
            <a:off x="6248399" y="2400300"/>
            <a:ext cx="5334000" cy="1771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4_real_they_query_memory_function" title="cue_s06_c4_real_they_query_memory_function" descr="cue_s06_c4_real_they_query_memory_function On real data, they query the memory function of LSTM models on IMDB movie-review sentiment analysis, and they train nonlinear RNNs on MNIST image classification to test the optimization benefits of stable reparameterization."/>
          <p:cNvSpPr/>
          <p:nvPr/>
        </p:nvSpPr>
        <p:spPr>
          <a:xfrm>
            <a:off x="609600" y="4362373"/>
            <a:ext cx="109728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55463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Stable approximation forces exponential memory</a:t>
            </a:r>
          </a:p>
        </p:txBody>
      </p:sp>
      <p:grpSp>
        <p:nvGrpSpPr>
          <p:cNvPr id="13" name="Group 13"/>
          <p:cNvGrpSpPr/>
          <p:nvPr/>
        </p:nvGrpSpPr>
        <p:grpSpPr>
          <a:xfrm>
            <a:off x="609600" y="1447800"/>
            <a:ext cx="10972800" cy="923972"/>
            <a:chOff x="609600" y="1447800"/>
            <a:chExt cx="10972800" cy="923972"/>
          </a:xfrm>
        </p:grpSpPr>
        <p:sp>
          <p:nvSpPr>
            <p:cNvPr id="5" name="Rectangle 5"/>
            <p:cNvSpPr/>
            <p:nvPr/>
          </p:nvSpPr>
          <p:spPr>
            <a:xfrm>
              <a:off x="609600" y="144780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447800"/>
              <a:ext cx="57150" cy="914400"/>
            </a:xfrm>
            <a:prstGeom prst="roundRect">
              <a:avLst>
                <a:gd name="adj" fmla="val 50000"/>
              </a:avLst>
            </a:prstGeom>
            <a:solidFill>
              <a:srgbClr val="48C78E"/>
            </a:solidFill>
            <a:ln>
              <a:noFill/>
            </a:ln>
          </p:spPr>
        </p:sp>
        <p:sp>
          <p:nvSpPr>
            <p:cNvPr id="7" name="TextBox 7"/>
            <p:cNvSpPr txBox="1"/>
            <p:nvPr/>
          </p:nvSpPr>
          <p:spPr>
            <a:xfrm>
              <a:off x="870014" y="1638062"/>
              <a:ext cx="3471418"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headline · a clean inverse statement</a:t>
              </a:r>
            </a:p>
          </p:txBody>
        </p:sp>
        <p:sp>
          <p:nvSpPr>
            <p:cNvPr id="8" name="TextBox 8"/>
            <p:cNvSpPr txBox="1"/>
            <p:nvPr/>
          </p:nvSpPr>
          <p:spPr>
            <a:xfrm>
              <a:off x="870776" y="1940004"/>
              <a:ext cx="76979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If a nonlinear RNN can stably approximate a target sequence relationship, then that target's memory must</a:t>
              </a:r>
            </a:p>
          </p:txBody>
        </p:sp>
        <p:sp>
          <p:nvSpPr>
            <p:cNvPr id="9" name="TextBox 9"/>
            <p:cNvSpPr txBox="1"/>
            <p:nvPr/>
          </p:nvSpPr>
          <p:spPr>
            <a:xfrm>
              <a:off x="870776" y="2159079"/>
              <a:ext cx="14784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decay exponentially.</a:t>
              </a:r>
            </a:p>
          </p:txBody>
        </p:sp>
        <p:sp>
          <p:nvSpPr>
            <p:cNvPr id="10" name="Rectangle 10"/>
            <p:cNvSpPr/>
            <p:nvPr/>
          </p:nvSpPr>
          <p:spPr>
            <a:xfrm>
              <a:off x="8305800" y="1600200"/>
              <a:ext cx="3124200" cy="609600"/>
            </a:xfrm>
            <a:prstGeom prst="roundRect">
              <a:avLst>
                <a:gd name="adj" fmla="val 12500"/>
              </a:avLst>
            </a:prstGeom>
            <a:solidFill>
              <a:schemeClr val="accent6"/>
            </a:solidFill>
            <a:ln w="14288">
              <a:solidFill>
                <a:srgbClr val="26455F"/>
              </a:solidFill>
            </a:ln>
          </p:spPr>
        </p:sp>
        <p:sp>
          <p:nvSpPr>
            <p:cNvPr id="11" name="TextBox 11"/>
            <p:cNvSpPr txBox="1"/>
            <p:nvPr/>
          </p:nvSpPr>
          <p:spPr>
            <a:xfrm>
              <a:off x="9173918" y="1757601"/>
              <a:ext cx="1387965"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stably approximable</a:t>
              </a:r>
            </a:p>
          </p:txBody>
        </p:sp>
        <p:sp>
          <p:nvSpPr>
            <p:cNvPr id="12" name="TextBox 12"/>
            <p:cNvSpPr txBox="1"/>
            <p:nvPr/>
          </p:nvSpPr>
          <p:spPr>
            <a:xfrm>
              <a:off x="9141796" y="1948101"/>
              <a:ext cx="1452209" cy="198025"/>
            </a:xfrm>
            <a:prstGeom prst="rect">
              <a:avLst/>
            </a:prstGeom>
            <a:noFill/>
            <a:ln>
              <a:noFill/>
            </a:ln>
          </p:spPr>
          <p:txBody>
            <a:bodyPr wrap="none" lIns="0" tIns="0" rIns="0" bIns="0" anchor="t" anchorCtr="0">
              <a:spAutoFit/>
            </a:bodyPr>
            <a:lstStyle/>
            <a:p>
              <a:pPr algn="ctr"/>
              <a:r>
                <a:rPr lang="en-US" sz="1010" b="1" dirty="0">
                  <a:solidFill>
                    <a:srgbClr val="48C78E"/>
                  </a:solidFill>
                  <a:latin typeface="Consolas"/>
                  <a:ea typeface="Consolas"/>
                  <a:cs typeface="Consolas"/>
                </a:rPr>
                <a:t>=&gt; memory ~ exp(-t)</a:t>
              </a:r>
            </a:p>
          </p:txBody>
        </p:sp>
      </p:grpSp>
      <p:grpSp>
        <p:nvGrpSpPr>
          <p:cNvPr id="25" name="Group 25"/>
          <p:cNvGrpSpPr/>
          <p:nvPr/>
        </p:nvGrpSpPr>
        <p:grpSpPr>
          <a:xfrm>
            <a:off x="609600" y="2533650"/>
            <a:ext cx="5334000" cy="2705100"/>
            <a:chOff x="609600" y="2533650"/>
            <a:chExt cx="5334000" cy="2705100"/>
          </a:xfrm>
        </p:grpSpPr>
        <p:sp>
          <p:nvSpPr>
            <p:cNvPr id="14" name="Rectangle 14"/>
            <p:cNvSpPr/>
            <p:nvPr/>
          </p:nvSpPr>
          <p:spPr>
            <a:xfrm>
              <a:off x="609600" y="2533650"/>
              <a:ext cx="5334000" cy="2705100"/>
            </a:xfrm>
            <a:prstGeom prst="roundRect">
              <a:avLst>
                <a:gd name="adj" fmla="val 4930"/>
              </a:avLst>
            </a:prstGeom>
            <a:solidFill>
              <a:schemeClr val="accent5"/>
            </a:solidFill>
            <a:ln w="14288">
              <a:solidFill>
                <a:srgbClr val="26455F"/>
              </a:solidFill>
            </a:ln>
          </p:spPr>
        </p:sp>
        <p:sp>
          <p:nvSpPr>
            <p:cNvPr id="15" name="Rectangle 15"/>
            <p:cNvSpPr/>
            <p:nvPr/>
          </p:nvSpPr>
          <p:spPr>
            <a:xfrm>
              <a:off x="609600" y="2533650"/>
              <a:ext cx="57150" cy="2705100"/>
            </a:xfrm>
            <a:prstGeom prst="roundRect">
              <a:avLst>
                <a:gd name="adj" fmla="val 50000"/>
              </a:avLst>
            </a:prstGeom>
            <a:solidFill>
              <a:srgbClr val="34D3C0"/>
            </a:solidFill>
            <a:ln>
              <a:noFill/>
            </a:ln>
          </p:spPr>
        </p:sp>
        <p:sp>
          <p:nvSpPr>
            <p:cNvPr id="16" name="TextBox 16"/>
            <p:cNvSpPr txBox="1"/>
            <p:nvPr/>
          </p:nvSpPr>
          <p:spPr>
            <a:xfrm>
              <a:off x="870394" y="2770108"/>
              <a:ext cx="3312733"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An intrinsic limit, not a training artifact</a:t>
              </a:r>
            </a:p>
          </p:txBody>
        </p:sp>
        <p:sp>
          <p:nvSpPr>
            <p:cNvPr id="17" name="TextBox 17"/>
            <p:cNvSpPr txBox="1"/>
            <p:nvPr/>
          </p:nvSpPr>
          <p:spPr>
            <a:xfrm>
              <a:off x="870776" y="3083004"/>
              <a:ext cx="40805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extends the linear curse of memory to the nonlinear</a:t>
              </a:r>
            </a:p>
          </p:txBody>
        </p:sp>
        <p:sp>
          <p:nvSpPr>
            <p:cNvPr id="18" name="TextBox 18"/>
            <p:cNvSpPr txBox="1"/>
            <p:nvPr/>
          </p:nvSpPr>
          <p:spPr>
            <a:xfrm>
              <a:off x="870776" y="3302079"/>
              <a:ext cx="40756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regime, so the long-term-dependency failure lives in the</a:t>
              </a:r>
            </a:p>
          </p:txBody>
        </p:sp>
        <p:sp>
          <p:nvSpPr>
            <p:cNvPr id="19" name="TextBox 19"/>
            <p:cNvSpPr txBox="1"/>
            <p:nvPr/>
          </p:nvSpPr>
          <p:spPr>
            <a:xfrm>
              <a:off x="870776" y="3521154"/>
              <a:ext cx="206510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RNN hypothesis space itself.</a:t>
              </a:r>
            </a:p>
          </p:txBody>
        </p:sp>
        <p:sp>
          <p:nvSpPr>
            <p:cNvPr id="20" name="Rectangle 20"/>
            <p:cNvSpPr/>
            <p:nvPr/>
          </p:nvSpPr>
          <p:spPr>
            <a:xfrm>
              <a:off x="876300" y="4191000"/>
              <a:ext cx="4800600" cy="323850"/>
            </a:xfrm>
            <a:prstGeom prst="roundRect">
              <a:avLst>
                <a:gd name="adj" fmla="val 23529"/>
              </a:avLst>
            </a:prstGeom>
            <a:solidFill>
              <a:schemeClr val="accent6"/>
            </a:solidFill>
            <a:ln w="14288">
              <a:solidFill>
                <a:srgbClr val="26455F"/>
              </a:solidFill>
            </a:ln>
          </p:spPr>
        </p:sp>
        <p:sp>
          <p:nvSpPr>
            <p:cNvPr id="21" name="Ellipse 21"/>
            <p:cNvSpPr/>
            <p:nvPr/>
          </p:nvSpPr>
          <p:spPr>
            <a:xfrm>
              <a:off x="1000125" y="4305300"/>
              <a:ext cx="95250" cy="95250"/>
            </a:xfrm>
            <a:prstGeom prst="ellipse">
              <a:avLst/>
            </a:prstGeom>
            <a:solidFill>
              <a:srgbClr val="48C78E"/>
            </a:solidFill>
            <a:ln>
              <a:noFill/>
            </a:ln>
          </p:spPr>
        </p:sp>
        <p:sp>
          <p:nvSpPr>
            <p:cNvPr id="22" name="TextBox 22"/>
            <p:cNvSpPr txBox="1"/>
            <p:nvPr/>
          </p:nvSpPr>
          <p:spPr>
            <a:xfrm>
              <a:off x="1195006" y="4291251"/>
              <a:ext cx="290840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teacher filter: only survivors decay exp.</a:t>
              </a:r>
            </a:p>
          </p:txBody>
        </p:sp>
        <p:sp>
          <p:nvSpPr>
            <p:cNvPr id="23" name="TextBox 23"/>
            <p:cNvSpPr txBox="1"/>
            <p:nvPr/>
          </p:nvSpPr>
          <p:spPr>
            <a:xfrm>
              <a:off x="871156" y="4653201"/>
              <a:ext cx="448086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Keeping only teachers that are both approximable AND stable leaves</a:t>
              </a:r>
            </a:p>
          </p:txBody>
        </p:sp>
        <p:sp>
          <p:nvSpPr>
            <p:cNvPr id="24" name="TextBox 24"/>
            <p:cNvSpPr txBox="1"/>
            <p:nvPr/>
          </p:nvSpPr>
          <p:spPr>
            <a:xfrm>
              <a:off x="871156" y="4843701"/>
              <a:ext cx="255285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exactly the exponential-memory ones.</a:t>
              </a:r>
            </a:p>
          </p:txBody>
        </p:sp>
      </p:grpSp>
      <p:grpSp>
        <p:nvGrpSpPr>
          <p:cNvPr id="47" name="Group 47"/>
          <p:cNvGrpSpPr/>
          <p:nvPr/>
        </p:nvGrpSpPr>
        <p:grpSpPr>
          <a:xfrm>
            <a:off x="6248400" y="2533650"/>
            <a:ext cx="5334000" cy="2705100"/>
            <a:chOff x="6248400" y="2533650"/>
            <a:chExt cx="5334000" cy="2705100"/>
          </a:xfrm>
        </p:grpSpPr>
        <p:sp>
          <p:nvSpPr>
            <p:cNvPr id="26" name="Rectangle 26"/>
            <p:cNvSpPr/>
            <p:nvPr/>
          </p:nvSpPr>
          <p:spPr>
            <a:xfrm>
              <a:off x="6248400" y="2533650"/>
              <a:ext cx="5334000" cy="2705100"/>
            </a:xfrm>
            <a:prstGeom prst="roundRect">
              <a:avLst>
                <a:gd name="adj" fmla="val 4930"/>
              </a:avLst>
            </a:prstGeom>
            <a:solidFill>
              <a:schemeClr val="accent5"/>
            </a:solidFill>
            <a:ln w="14288">
              <a:solidFill>
                <a:srgbClr val="26455F"/>
              </a:solidFill>
            </a:ln>
          </p:spPr>
        </p:sp>
        <p:sp>
          <p:nvSpPr>
            <p:cNvPr id="27" name="Rectangle 27"/>
            <p:cNvSpPr/>
            <p:nvPr/>
          </p:nvSpPr>
          <p:spPr>
            <a:xfrm>
              <a:off x="6248400" y="2533650"/>
              <a:ext cx="57150" cy="2705100"/>
            </a:xfrm>
            <a:prstGeom prst="roundRect">
              <a:avLst>
                <a:gd name="adj" fmla="val 50000"/>
              </a:avLst>
            </a:prstGeom>
            <a:solidFill>
              <a:schemeClr val="accent2"/>
            </a:solidFill>
            <a:ln>
              <a:noFill/>
            </a:ln>
          </p:spPr>
        </p:sp>
        <p:sp>
          <p:nvSpPr>
            <p:cNvPr id="28" name="TextBox 28"/>
            <p:cNvSpPr txBox="1"/>
            <p:nvPr/>
          </p:nvSpPr>
          <p:spPr>
            <a:xfrm>
              <a:off x="6509194" y="2770108"/>
              <a:ext cx="3583704"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Poly-memory: curves intersect further left</a:t>
              </a:r>
            </a:p>
          </p:txBody>
        </p:sp>
        <p:sp>
          <p:nvSpPr>
            <p:cNvPr id="29" name="Rectangle 29"/>
            <p:cNvSpPr/>
            <p:nvPr/>
          </p:nvSpPr>
          <p:spPr>
            <a:xfrm>
              <a:off x="6667500" y="3105150"/>
              <a:ext cx="4629150" cy="1866900"/>
            </a:xfrm>
            <a:prstGeom prst="roundRect">
              <a:avLst>
                <a:gd name="adj" fmla="val 5102"/>
              </a:avLst>
            </a:prstGeom>
            <a:solidFill>
              <a:srgbClr val="0E2334"/>
            </a:solidFill>
            <a:ln w="14288">
              <a:solidFill>
                <a:srgbClr val="26455F"/>
              </a:solidFill>
            </a:ln>
          </p:spPr>
        </p:sp>
        <p:sp>
          <p:nvSpPr>
            <p:cNvPr id="30" name="Line 30"/>
            <p:cNvSpPr/>
            <p:nvPr/>
          </p:nvSpPr>
          <p:spPr>
            <a:xfrm>
              <a:off x="7105650" y="3238500"/>
              <a:ext cx="9525" cy="1371600"/>
            </a:xfrm>
            <a:custGeom>
              <a:avLst/>
              <a:gdLst/>
              <a:ahLst/>
              <a:cxnLst/>
              <a:rect l="l" t="t" r="r" b="b"/>
              <a:pathLst>
                <a:path w="9525" h="1371600">
                  <a:moveTo>
                    <a:pt x="0" y="0"/>
                  </a:moveTo>
                  <a:lnTo>
                    <a:pt x="0" y="1371600"/>
                  </a:lnTo>
                </a:path>
              </a:pathLst>
            </a:custGeom>
            <a:noFill/>
            <a:ln w="14288" cap="rnd">
              <a:solidFill>
                <a:srgbClr val="26455F"/>
              </a:solidFill>
            </a:ln>
          </p:spPr>
        </p:sp>
        <p:sp>
          <p:nvSpPr>
            <p:cNvPr id="31" name="Line 31"/>
            <p:cNvSpPr/>
            <p:nvPr/>
          </p:nvSpPr>
          <p:spPr>
            <a:xfrm>
              <a:off x="7105650" y="4610100"/>
              <a:ext cx="3943350" cy="9525"/>
            </a:xfrm>
            <a:custGeom>
              <a:avLst/>
              <a:gdLst/>
              <a:ahLst/>
              <a:cxnLst/>
              <a:rect l="l" t="t" r="r" b="b"/>
              <a:pathLst>
                <a:path w="3943350" h="9525">
                  <a:moveTo>
                    <a:pt x="0" y="0"/>
                  </a:moveTo>
                  <a:lnTo>
                    <a:pt x="3943350" y="0"/>
                  </a:lnTo>
                </a:path>
              </a:pathLst>
            </a:custGeom>
            <a:noFill/>
            <a:ln w="14288" cap="rnd">
              <a:solidFill>
                <a:srgbClr val="26455F"/>
              </a:solidFill>
            </a:ln>
          </p:spPr>
        </p:sp>
        <p:sp>
          <p:nvSpPr>
            <p:cNvPr id="32" name="TextBox 32"/>
            <p:cNvSpPr txBox="1"/>
            <p:nvPr/>
          </p:nvSpPr>
          <p:spPr>
            <a:xfrm>
              <a:off x="6785139" y="3225641"/>
              <a:ext cx="230023"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E_m</a:t>
              </a:r>
            </a:p>
          </p:txBody>
        </p:sp>
        <p:sp>
          <p:nvSpPr>
            <p:cNvPr id="33" name="TextBox 33"/>
            <p:cNvSpPr txBox="1"/>
            <p:nvPr/>
          </p:nvSpPr>
          <p:spPr>
            <a:xfrm>
              <a:off x="6941888" y="4559141"/>
              <a:ext cx="7327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0</a:t>
              </a:r>
            </a:p>
          </p:txBody>
        </p:sp>
        <p:sp>
          <p:nvSpPr>
            <p:cNvPr id="34" name="TextBox 34"/>
            <p:cNvSpPr txBox="1"/>
            <p:nvPr/>
          </p:nvSpPr>
          <p:spPr>
            <a:xfrm>
              <a:off x="7069013" y="4692491"/>
              <a:ext cx="73274"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0</a:t>
              </a:r>
            </a:p>
          </p:txBody>
        </p:sp>
        <p:sp>
          <p:nvSpPr>
            <p:cNvPr id="35" name="TextBox 35"/>
            <p:cNvSpPr txBox="1"/>
            <p:nvPr/>
          </p:nvSpPr>
          <p:spPr>
            <a:xfrm>
              <a:off x="10910519" y="4688443"/>
              <a:ext cx="276961"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beta</a:t>
              </a:r>
            </a:p>
          </p:txBody>
        </p:sp>
        <p:sp>
          <p:nvSpPr>
            <p:cNvPr id="36" name="TextBox 36"/>
            <p:cNvSpPr txBox="1"/>
            <p:nvPr/>
          </p:nvSpPr>
          <p:spPr>
            <a:xfrm>
              <a:off x="8235785" y="4840843"/>
              <a:ext cx="1492580"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perturbation radius beta</a:t>
              </a:r>
            </a:p>
          </p:txBody>
        </p:sp>
        <p:sp>
          <p:nvSpPr>
            <p:cNvPr id="37" name="Polyline 37"/>
            <p:cNvSpPr/>
            <p:nvPr/>
          </p:nvSpPr>
          <p:spPr>
            <a:xfrm>
              <a:off x="7105650" y="3483550"/>
              <a:ext cx="3943350" cy="1025791"/>
            </a:xfrm>
            <a:custGeom>
              <a:avLst/>
              <a:gdLst/>
              <a:ahLst/>
              <a:cxnLst/>
              <a:rect l="l" t="t" r="r" b="b"/>
              <a:pathLst>
                <a:path w="3943350" h="1025791">
                  <a:moveTo>
                    <a:pt x="0" y="1025791"/>
                  </a:moveTo>
                  <a:lnTo>
                    <a:pt x="39433" y="1025765"/>
                  </a:lnTo>
                  <a:lnTo>
                    <a:pt x="78867" y="1025734"/>
                  </a:lnTo>
                  <a:lnTo>
                    <a:pt x="118300" y="1025700"/>
                  </a:lnTo>
                  <a:lnTo>
                    <a:pt x="157734" y="1025660"/>
                  </a:lnTo>
                  <a:lnTo>
                    <a:pt x="197168" y="1025613"/>
                  </a:lnTo>
                  <a:lnTo>
                    <a:pt x="236601" y="1025560"/>
                  </a:lnTo>
                  <a:lnTo>
                    <a:pt x="276035" y="1025500"/>
                  </a:lnTo>
                  <a:lnTo>
                    <a:pt x="315468" y="1025429"/>
                  </a:lnTo>
                  <a:lnTo>
                    <a:pt x="354901" y="1025349"/>
                  </a:lnTo>
                  <a:lnTo>
                    <a:pt x="394335" y="1025256"/>
                  </a:lnTo>
                  <a:lnTo>
                    <a:pt x="433768" y="1025150"/>
                  </a:lnTo>
                  <a:lnTo>
                    <a:pt x="473202" y="1025027"/>
                  </a:lnTo>
                  <a:lnTo>
                    <a:pt x="512636" y="1024886"/>
                  </a:lnTo>
                  <a:lnTo>
                    <a:pt x="552069" y="1024724"/>
                  </a:lnTo>
                  <a:lnTo>
                    <a:pt x="591503" y="1024537"/>
                  </a:lnTo>
                  <a:lnTo>
                    <a:pt x="630936" y="1024323"/>
                  </a:lnTo>
                  <a:lnTo>
                    <a:pt x="670370" y="1024076"/>
                  </a:lnTo>
                  <a:lnTo>
                    <a:pt x="709803" y="1023793"/>
                  </a:lnTo>
                  <a:lnTo>
                    <a:pt x="749236" y="1023467"/>
                  </a:lnTo>
                  <a:lnTo>
                    <a:pt x="788670" y="1023093"/>
                  </a:lnTo>
                  <a:lnTo>
                    <a:pt x="828104" y="1022662"/>
                  </a:lnTo>
                  <a:lnTo>
                    <a:pt x="867537" y="1022168"/>
                  </a:lnTo>
                  <a:lnTo>
                    <a:pt x="906971" y="1021599"/>
                  </a:lnTo>
                  <a:lnTo>
                    <a:pt x="946404" y="1020946"/>
                  </a:lnTo>
                  <a:lnTo>
                    <a:pt x="985838" y="1020196"/>
                  </a:lnTo>
                  <a:lnTo>
                    <a:pt x="1025271" y="1019335"/>
                  </a:lnTo>
                  <a:lnTo>
                    <a:pt x="1064704" y="1018346"/>
                  </a:lnTo>
                  <a:lnTo>
                    <a:pt x="1104138" y="1017210"/>
                  </a:lnTo>
                  <a:lnTo>
                    <a:pt x="1143571" y="1015907"/>
                  </a:lnTo>
                  <a:lnTo>
                    <a:pt x="1183005" y="1014413"/>
                  </a:lnTo>
                  <a:lnTo>
                    <a:pt x="1222439" y="1012699"/>
                  </a:lnTo>
                  <a:lnTo>
                    <a:pt x="1261872" y="1010734"/>
                  </a:lnTo>
                  <a:lnTo>
                    <a:pt x="1301306" y="1008484"/>
                  </a:lnTo>
                  <a:lnTo>
                    <a:pt x="1340739" y="1005908"/>
                  </a:lnTo>
                  <a:lnTo>
                    <a:pt x="1380172" y="1002961"/>
                  </a:lnTo>
                  <a:lnTo>
                    <a:pt x="1419606" y="999593"/>
                  </a:lnTo>
                  <a:lnTo>
                    <a:pt x="1459040" y="995746"/>
                  </a:lnTo>
                  <a:lnTo>
                    <a:pt x="1498473" y="991357"/>
                  </a:lnTo>
                  <a:lnTo>
                    <a:pt x="1537907" y="986356"/>
                  </a:lnTo>
                  <a:lnTo>
                    <a:pt x="1577340" y="980665"/>
                  </a:lnTo>
                  <a:lnTo>
                    <a:pt x="1616774" y="974199"/>
                  </a:lnTo>
                  <a:lnTo>
                    <a:pt x="1656207" y="966866"/>
                  </a:lnTo>
                  <a:lnTo>
                    <a:pt x="1695640" y="958565"/>
                  </a:lnTo>
                  <a:lnTo>
                    <a:pt x="1735074" y="949191"/>
                  </a:lnTo>
                  <a:lnTo>
                    <a:pt x="1774507" y="938631"/>
                  </a:lnTo>
                  <a:lnTo>
                    <a:pt x="1813941" y="926769"/>
                  </a:lnTo>
                  <a:lnTo>
                    <a:pt x="1853374" y="913489"/>
                  </a:lnTo>
                  <a:lnTo>
                    <a:pt x="1892808" y="898673"/>
                  </a:lnTo>
                  <a:lnTo>
                    <a:pt x="1932242" y="882212"/>
                  </a:lnTo>
                  <a:lnTo>
                    <a:pt x="1971675" y="864003"/>
                  </a:lnTo>
                  <a:lnTo>
                    <a:pt x="2011108" y="843961"/>
                  </a:lnTo>
                  <a:lnTo>
                    <a:pt x="2050542" y="822021"/>
                  </a:lnTo>
                  <a:lnTo>
                    <a:pt x="2089976" y="798145"/>
                  </a:lnTo>
                  <a:lnTo>
                    <a:pt x="2129409" y="772332"/>
                  </a:lnTo>
                  <a:lnTo>
                    <a:pt x="2168843" y="744619"/>
                  </a:lnTo>
                  <a:lnTo>
                    <a:pt x="2208276" y="715088"/>
                  </a:lnTo>
                  <a:lnTo>
                    <a:pt x="2247710" y="683872"/>
                  </a:lnTo>
                  <a:lnTo>
                    <a:pt x="2287143" y="651154"/>
                  </a:lnTo>
                  <a:lnTo>
                    <a:pt x="2326576" y="617163"/>
                  </a:lnTo>
                  <a:lnTo>
                    <a:pt x="2366010" y="582174"/>
                  </a:lnTo>
                  <a:lnTo>
                    <a:pt x="2405443" y="546499"/>
                  </a:lnTo>
                  <a:lnTo>
                    <a:pt x="2444877" y="510473"/>
                  </a:lnTo>
                  <a:lnTo>
                    <a:pt x="2484310" y="474448"/>
                  </a:lnTo>
                  <a:lnTo>
                    <a:pt x="2523744" y="438772"/>
                  </a:lnTo>
                  <a:lnTo>
                    <a:pt x="2563178" y="403783"/>
                  </a:lnTo>
                  <a:lnTo>
                    <a:pt x="2602611" y="369793"/>
                  </a:lnTo>
                  <a:lnTo>
                    <a:pt x="2642044" y="337074"/>
                  </a:lnTo>
                  <a:lnTo>
                    <a:pt x="2681478" y="305858"/>
                  </a:lnTo>
                  <a:lnTo>
                    <a:pt x="2720911" y="276328"/>
                  </a:lnTo>
                  <a:lnTo>
                    <a:pt x="2760345" y="248614"/>
                  </a:lnTo>
                  <a:lnTo>
                    <a:pt x="2799779" y="222801"/>
                  </a:lnTo>
                  <a:lnTo>
                    <a:pt x="2839212" y="198926"/>
                  </a:lnTo>
                  <a:lnTo>
                    <a:pt x="2878646" y="176986"/>
                  </a:lnTo>
                  <a:lnTo>
                    <a:pt x="2918079" y="156943"/>
                  </a:lnTo>
                  <a:lnTo>
                    <a:pt x="2957512" y="138735"/>
                  </a:lnTo>
                  <a:lnTo>
                    <a:pt x="2996946" y="122273"/>
                  </a:lnTo>
                  <a:lnTo>
                    <a:pt x="3036379" y="107457"/>
                  </a:lnTo>
                  <a:lnTo>
                    <a:pt x="3075813" y="94177"/>
                  </a:lnTo>
                  <a:lnTo>
                    <a:pt x="3115246" y="82316"/>
                  </a:lnTo>
                  <a:lnTo>
                    <a:pt x="3154680" y="71756"/>
                  </a:lnTo>
                  <a:lnTo>
                    <a:pt x="3194114" y="62381"/>
                  </a:lnTo>
                  <a:lnTo>
                    <a:pt x="3233547" y="54081"/>
                  </a:lnTo>
                  <a:lnTo>
                    <a:pt x="3272980" y="46747"/>
                  </a:lnTo>
                  <a:lnTo>
                    <a:pt x="3312414" y="40282"/>
                  </a:lnTo>
                  <a:lnTo>
                    <a:pt x="3351848" y="34591"/>
                  </a:lnTo>
                  <a:lnTo>
                    <a:pt x="3391281" y="29590"/>
                  </a:lnTo>
                  <a:lnTo>
                    <a:pt x="3430715" y="25201"/>
                  </a:lnTo>
                  <a:lnTo>
                    <a:pt x="3470148" y="21354"/>
                  </a:lnTo>
                  <a:lnTo>
                    <a:pt x="3509582" y="17985"/>
                  </a:lnTo>
                  <a:lnTo>
                    <a:pt x="3549015" y="15038"/>
                  </a:lnTo>
                  <a:lnTo>
                    <a:pt x="3588448" y="12462"/>
                  </a:lnTo>
                  <a:lnTo>
                    <a:pt x="3627882" y="10212"/>
                  </a:lnTo>
                  <a:lnTo>
                    <a:pt x="3667316" y="8248"/>
                  </a:lnTo>
                  <a:lnTo>
                    <a:pt x="3706749" y="6534"/>
                  </a:lnTo>
                  <a:lnTo>
                    <a:pt x="3746182" y="5039"/>
                  </a:lnTo>
                  <a:lnTo>
                    <a:pt x="3785616" y="3736"/>
                  </a:lnTo>
                  <a:lnTo>
                    <a:pt x="3825049" y="2601"/>
                  </a:lnTo>
                  <a:lnTo>
                    <a:pt x="3864483" y="1612"/>
                  </a:lnTo>
                  <a:lnTo>
                    <a:pt x="3903917" y="750"/>
                  </a:lnTo>
                  <a:lnTo>
                    <a:pt x="3943350" y="0"/>
                  </a:lnTo>
                </a:path>
              </a:pathLst>
            </a:custGeom>
            <a:noFill/>
            <a:ln w="24765">
              <a:solidFill>
                <a:schemeClr val="accent2"/>
              </a:solidFill>
            </a:ln>
          </p:spPr>
        </p:sp>
        <p:sp>
          <p:nvSpPr>
            <p:cNvPr id="38" name="TextBox 38"/>
            <p:cNvSpPr txBox="1"/>
            <p:nvPr/>
          </p:nvSpPr>
          <p:spPr>
            <a:xfrm>
              <a:off x="9438550" y="3816191"/>
              <a:ext cx="223954" cy="161925"/>
            </a:xfrm>
            <a:prstGeom prst="rect">
              <a:avLst/>
            </a:prstGeom>
            <a:noFill/>
            <a:ln>
              <a:noFill/>
            </a:ln>
          </p:spPr>
          <p:txBody>
            <a:bodyPr wrap="none" lIns="0" tIns="0" rIns="0" bIns="0" anchor="t" anchorCtr="0">
              <a:spAutoFit/>
            </a:bodyPr>
            <a:lstStyle/>
            <a:p>
              <a:pPr algn="ctr"/>
              <a:r>
                <a:rPr lang="en-US" sz="820" b="1" dirty="0">
                  <a:solidFill>
                    <a:schemeClr val="accent2"/>
                  </a:solidFill>
                  <a:latin typeface="+mn-lt"/>
                  <a:ea typeface="+mn-ea"/>
                  <a:cs typeface="+mn-cs"/>
                </a:rPr>
                <a:t>m=8</a:t>
              </a:r>
            </a:p>
          </p:txBody>
        </p:sp>
        <p:sp>
          <p:nvSpPr>
            <p:cNvPr id="39" name="Polyline 39"/>
            <p:cNvSpPr/>
            <p:nvPr/>
          </p:nvSpPr>
          <p:spPr>
            <a:xfrm>
              <a:off x="7105650" y="3478762"/>
              <a:ext cx="3943350" cy="1026956"/>
            </a:xfrm>
            <a:custGeom>
              <a:avLst/>
              <a:gdLst/>
              <a:ahLst/>
              <a:cxnLst/>
              <a:rect l="l" t="t" r="r" b="b"/>
              <a:pathLst>
                <a:path w="3943350" h="1026956">
                  <a:moveTo>
                    <a:pt x="0" y="1026956"/>
                  </a:moveTo>
                  <a:lnTo>
                    <a:pt x="39433" y="1026387"/>
                  </a:lnTo>
                  <a:lnTo>
                    <a:pt x="78867" y="1025734"/>
                  </a:lnTo>
                  <a:lnTo>
                    <a:pt x="118300" y="1024984"/>
                  </a:lnTo>
                  <a:lnTo>
                    <a:pt x="157734" y="1024123"/>
                  </a:lnTo>
                  <a:lnTo>
                    <a:pt x="197168" y="1023134"/>
                  </a:lnTo>
                  <a:lnTo>
                    <a:pt x="236601" y="1021998"/>
                  </a:lnTo>
                  <a:lnTo>
                    <a:pt x="276035" y="1020695"/>
                  </a:lnTo>
                  <a:lnTo>
                    <a:pt x="315468" y="1019201"/>
                  </a:lnTo>
                  <a:lnTo>
                    <a:pt x="354901" y="1017487"/>
                  </a:lnTo>
                  <a:lnTo>
                    <a:pt x="394335" y="1015522"/>
                  </a:lnTo>
                  <a:lnTo>
                    <a:pt x="433768" y="1013272"/>
                  </a:lnTo>
                  <a:lnTo>
                    <a:pt x="473202" y="1010696"/>
                  </a:lnTo>
                  <a:lnTo>
                    <a:pt x="512636" y="1007749"/>
                  </a:lnTo>
                  <a:lnTo>
                    <a:pt x="552069" y="1004381"/>
                  </a:lnTo>
                  <a:lnTo>
                    <a:pt x="591503" y="1000534"/>
                  </a:lnTo>
                  <a:lnTo>
                    <a:pt x="630936" y="996145"/>
                  </a:lnTo>
                  <a:lnTo>
                    <a:pt x="670370" y="991144"/>
                  </a:lnTo>
                  <a:lnTo>
                    <a:pt x="709803" y="985453"/>
                  </a:lnTo>
                  <a:lnTo>
                    <a:pt x="749236" y="978987"/>
                  </a:lnTo>
                  <a:lnTo>
                    <a:pt x="788670" y="971654"/>
                  </a:lnTo>
                  <a:lnTo>
                    <a:pt x="828104" y="963353"/>
                  </a:lnTo>
                  <a:lnTo>
                    <a:pt x="867537" y="953979"/>
                  </a:lnTo>
                  <a:lnTo>
                    <a:pt x="906971" y="943419"/>
                  </a:lnTo>
                  <a:lnTo>
                    <a:pt x="946404" y="931557"/>
                  </a:lnTo>
                  <a:lnTo>
                    <a:pt x="985838" y="918277"/>
                  </a:lnTo>
                  <a:lnTo>
                    <a:pt x="1025271" y="903461"/>
                  </a:lnTo>
                  <a:lnTo>
                    <a:pt x="1064704" y="887000"/>
                  </a:lnTo>
                  <a:lnTo>
                    <a:pt x="1104138" y="868791"/>
                  </a:lnTo>
                  <a:lnTo>
                    <a:pt x="1143571" y="848749"/>
                  </a:lnTo>
                  <a:lnTo>
                    <a:pt x="1183005" y="826809"/>
                  </a:lnTo>
                  <a:lnTo>
                    <a:pt x="1222439" y="802933"/>
                  </a:lnTo>
                  <a:lnTo>
                    <a:pt x="1261872" y="777120"/>
                  </a:lnTo>
                  <a:lnTo>
                    <a:pt x="1301306" y="749407"/>
                  </a:lnTo>
                  <a:lnTo>
                    <a:pt x="1340739" y="719876"/>
                  </a:lnTo>
                  <a:lnTo>
                    <a:pt x="1380172" y="688660"/>
                  </a:lnTo>
                  <a:lnTo>
                    <a:pt x="1419606" y="655942"/>
                  </a:lnTo>
                  <a:lnTo>
                    <a:pt x="1459040" y="621951"/>
                  </a:lnTo>
                  <a:lnTo>
                    <a:pt x="1498473" y="586962"/>
                  </a:lnTo>
                  <a:lnTo>
                    <a:pt x="1537907" y="551287"/>
                  </a:lnTo>
                  <a:lnTo>
                    <a:pt x="1577340" y="515261"/>
                  </a:lnTo>
                  <a:lnTo>
                    <a:pt x="1616774" y="479236"/>
                  </a:lnTo>
                  <a:lnTo>
                    <a:pt x="1656207" y="443560"/>
                  </a:lnTo>
                  <a:lnTo>
                    <a:pt x="1695640" y="408571"/>
                  </a:lnTo>
                  <a:lnTo>
                    <a:pt x="1735074" y="374581"/>
                  </a:lnTo>
                  <a:lnTo>
                    <a:pt x="1774507" y="341862"/>
                  </a:lnTo>
                  <a:lnTo>
                    <a:pt x="1813941" y="310646"/>
                  </a:lnTo>
                  <a:lnTo>
                    <a:pt x="1853374" y="281116"/>
                  </a:lnTo>
                  <a:lnTo>
                    <a:pt x="1892808" y="253402"/>
                  </a:lnTo>
                  <a:lnTo>
                    <a:pt x="1932242" y="227589"/>
                  </a:lnTo>
                  <a:lnTo>
                    <a:pt x="1971675" y="203714"/>
                  </a:lnTo>
                  <a:lnTo>
                    <a:pt x="2011108" y="181774"/>
                  </a:lnTo>
                  <a:lnTo>
                    <a:pt x="2050542" y="161731"/>
                  </a:lnTo>
                  <a:lnTo>
                    <a:pt x="2089976" y="143523"/>
                  </a:lnTo>
                  <a:lnTo>
                    <a:pt x="2129409" y="127061"/>
                  </a:lnTo>
                  <a:lnTo>
                    <a:pt x="2168843" y="112246"/>
                  </a:lnTo>
                  <a:lnTo>
                    <a:pt x="2208276" y="98965"/>
                  </a:lnTo>
                  <a:lnTo>
                    <a:pt x="2247710" y="87104"/>
                  </a:lnTo>
                  <a:lnTo>
                    <a:pt x="2287143" y="76544"/>
                  </a:lnTo>
                  <a:lnTo>
                    <a:pt x="2326576" y="67169"/>
                  </a:lnTo>
                  <a:lnTo>
                    <a:pt x="2366010" y="58869"/>
                  </a:lnTo>
                  <a:lnTo>
                    <a:pt x="2405443" y="51535"/>
                  </a:lnTo>
                  <a:lnTo>
                    <a:pt x="2444877" y="45070"/>
                  </a:lnTo>
                  <a:lnTo>
                    <a:pt x="2484310" y="39379"/>
                  </a:lnTo>
                  <a:lnTo>
                    <a:pt x="2523744" y="34378"/>
                  </a:lnTo>
                  <a:lnTo>
                    <a:pt x="2563178" y="29989"/>
                  </a:lnTo>
                  <a:lnTo>
                    <a:pt x="2602611" y="26142"/>
                  </a:lnTo>
                  <a:lnTo>
                    <a:pt x="2642044" y="22773"/>
                  </a:lnTo>
                  <a:lnTo>
                    <a:pt x="2681478" y="19826"/>
                  </a:lnTo>
                  <a:lnTo>
                    <a:pt x="2720911" y="17250"/>
                  </a:lnTo>
                  <a:lnTo>
                    <a:pt x="2760345" y="15000"/>
                  </a:lnTo>
                  <a:lnTo>
                    <a:pt x="2799779" y="13036"/>
                  </a:lnTo>
                  <a:lnTo>
                    <a:pt x="2839212" y="11322"/>
                  </a:lnTo>
                  <a:lnTo>
                    <a:pt x="2878646" y="9827"/>
                  </a:lnTo>
                  <a:lnTo>
                    <a:pt x="2918079" y="8524"/>
                  </a:lnTo>
                  <a:lnTo>
                    <a:pt x="2957512" y="7389"/>
                  </a:lnTo>
                  <a:lnTo>
                    <a:pt x="2996946" y="6400"/>
                  </a:lnTo>
                  <a:lnTo>
                    <a:pt x="3036379" y="5538"/>
                  </a:lnTo>
                  <a:lnTo>
                    <a:pt x="3075813" y="4788"/>
                  </a:lnTo>
                  <a:lnTo>
                    <a:pt x="3115246" y="4135"/>
                  </a:lnTo>
                  <a:lnTo>
                    <a:pt x="3154680" y="3567"/>
                  </a:lnTo>
                  <a:lnTo>
                    <a:pt x="3194114" y="3072"/>
                  </a:lnTo>
                  <a:lnTo>
                    <a:pt x="3233547" y="2642"/>
                  </a:lnTo>
                  <a:lnTo>
                    <a:pt x="3272980" y="2267"/>
                  </a:lnTo>
                  <a:lnTo>
                    <a:pt x="3312414" y="1941"/>
                  </a:lnTo>
                  <a:lnTo>
                    <a:pt x="3351848" y="1658"/>
                  </a:lnTo>
                  <a:lnTo>
                    <a:pt x="3391281" y="1411"/>
                  </a:lnTo>
                  <a:lnTo>
                    <a:pt x="3430715" y="1197"/>
                  </a:lnTo>
                  <a:lnTo>
                    <a:pt x="3470148" y="1011"/>
                  </a:lnTo>
                  <a:lnTo>
                    <a:pt x="3509582" y="848"/>
                  </a:lnTo>
                  <a:lnTo>
                    <a:pt x="3549015" y="707"/>
                  </a:lnTo>
                  <a:lnTo>
                    <a:pt x="3588448" y="585"/>
                  </a:lnTo>
                  <a:lnTo>
                    <a:pt x="3627882" y="478"/>
                  </a:lnTo>
                  <a:lnTo>
                    <a:pt x="3667316" y="386"/>
                  </a:lnTo>
                  <a:lnTo>
                    <a:pt x="3706749" y="305"/>
                  </a:lnTo>
                  <a:lnTo>
                    <a:pt x="3746182" y="235"/>
                  </a:lnTo>
                  <a:lnTo>
                    <a:pt x="3785616" y="174"/>
                  </a:lnTo>
                  <a:lnTo>
                    <a:pt x="3825049" y="121"/>
                  </a:lnTo>
                  <a:lnTo>
                    <a:pt x="3864483" y="75"/>
                  </a:lnTo>
                  <a:lnTo>
                    <a:pt x="3903917" y="35"/>
                  </a:lnTo>
                  <a:lnTo>
                    <a:pt x="3943350" y="0"/>
                  </a:lnTo>
                </a:path>
              </a:pathLst>
            </a:custGeom>
            <a:noFill/>
            <a:ln w="24765">
              <a:solidFill>
                <a:srgbClr val="34D3C0"/>
              </a:solidFill>
            </a:ln>
          </p:spPr>
        </p:sp>
        <p:sp>
          <p:nvSpPr>
            <p:cNvPr id="40" name="TextBox 40"/>
            <p:cNvSpPr txBox="1"/>
            <p:nvPr/>
          </p:nvSpPr>
          <p:spPr>
            <a:xfrm>
              <a:off x="8539138" y="3816191"/>
              <a:ext cx="287704" cy="161925"/>
            </a:xfrm>
            <a:prstGeom prst="rect">
              <a:avLst/>
            </a:prstGeom>
            <a:noFill/>
            <a:ln>
              <a:noFill/>
            </a:ln>
          </p:spPr>
          <p:txBody>
            <a:bodyPr wrap="none" lIns="0" tIns="0" rIns="0" bIns="0" anchor="t" anchorCtr="0">
              <a:spAutoFit/>
            </a:bodyPr>
            <a:lstStyle/>
            <a:p>
              <a:pPr algn="ctr"/>
              <a:r>
                <a:rPr lang="en-US" sz="820" b="1" dirty="0">
                  <a:solidFill>
                    <a:srgbClr val="34D3C0"/>
                  </a:solidFill>
                  <a:latin typeface="+mn-lt"/>
                  <a:ea typeface="+mn-ea"/>
                  <a:cs typeface="+mn-cs"/>
                </a:rPr>
                <a:t>m=32</a:t>
              </a:r>
            </a:p>
          </p:txBody>
        </p:sp>
        <p:sp>
          <p:nvSpPr>
            <p:cNvPr id="41" name="Polyline 41"/>
            <p:cNvSpPr/>
            <p:nvPr/>
          </p:nvSpPr>
          <p:spPr>
            <a:xfrm>
              <a:off x="7105650" y="3478549"/>
              <a:ext cx="3943350" cy="985666"/>
            </a:xfrm>
            <a:custGeom>
              <a:avLst/>
              <a:gdLst/>
              <a:ahLst/>
              <a:cxnLst/>
              <a:rect l="l" t="t" r="r" b="b"/>
              <a:pathLst>
                <a:path w="3943350" h="985666">
                  <a:moveTo>
                    <a:pt x="0" y="985666"/>
                  </a:moveTo>
                  <a:lnTo>
                    <a:pt x="39433" y="979200"/>
                  </a:lnTo>
                  <a:lnTo>
                    <a:pt x="78867" y="971867"/>
                  </a:lnTo>
                  <a:lnTo>
                    <a:pt x="118300" y="963566"/>
                  </a:lnTo>
                  <a:lnTo>
                    <a:pt x="157734" y="954192"/>
                  </a:lnTo>
                  <a:lnTo>
                    <a:pt x="197168" y="943632"/>
                  </a:lnTo>
                  <a:lnTo>
                    <a:pt x="236601" y="931770"/>
                  </a:lnTo>
                  <a:lnTo>
                    <a:pt x="276035" y="918490"/>
                  </a:lnTo>
                  <a:lnTo>
                    <a:pt x="315468" y="903675"/>
                  </a:lnTo>
                  <a:lnTo>
                    <a:pt x="354901" y="887213"/>
                  </a:lnTo>
                  <a:lnTo>
                    <a:pt x="394335" y="869004"/>
                  </a:lnTo>
                  <a:lnTo>
                    <a:pt x="433768" y="848962"/>
                  </a:lnTo>
                  <a:lnTo>
                    <a:pt x="473202" y="827022"/>
                  </a:lnTo>
                  <a:lnTo>
                    <a:pt x="512636" y="803146"/>
                  </a:lnTo>
                  <a:lnTo>
                    <a:pt x="552069" y="777333"/>
                  </a:lnTo>
                  <a:lnTo>
                    <a:pt x="591503" y="749620"/>
                  </a:lnTo>
                  <a:lnTo>
                    <a:pt x="630936" y="720089"/>
                  </a:lnTo>
                  <a:lnTo>
                    <a:pt x="670370" y="688874"/>
                  </a:lnTo>
                  <a:lnTo>
                    <a:pt x="709803" y="656155"/>
                  </a:lnTo>
                  <a:lnTo>
                    <a:pt x="749236" y="622164"/>
                  </a:lnTo>
                  <a:lnTo>
                    <a:pt x="788670" y="587176"/>
                  </a:lnTo>
                  <a:lnTo>
                    <a:pt x="828104" y="551500"/>
                  </a:lnTo>
                  <a:lnTo>
                    <a:pt x="867537" y="515474"/>
                  </a:lnTo>
                  <a:lnTo>
                    <a:pt x="906971" y="479449"/>
                  </a:lnTo>
                  <a:lnTo>
                    <a:pt x="946404" y="443773"/>
                  </a:lnTo>
                  <a:lnTo>
                    <a:pt x="985838" y="408785"/>
                  </a:lnTo>
                  <a:lnTo>
                    <a:pt x="1025271" y="374794"/>
                  </a:lnTo>
                  <a:lnTo>
                    <a:pt x="1064704" y="342075"/>
                  </a:lnTo>
                  <a:lnTo>
                    <a:pt x="1104138" y="310859"/>
                  </a:lnTo>
                  <a:lnTo>
                    <a:pt x="1143571" y="281329"/>
                  </a:lnTo>
                  <a:lnTo>
                    <a:pt x="1183005" y="253616"/>
                  </a:lnTo>
                  <a:lnTo>
                    <a:pt x="1222439" y="227802"/>
                  </a:lnTo>
                  <a:lnTo>
                    <a:pt x="1261872" y="203927"/>
                  </a:lnTo>
                  <a:lnTo>
                    <a:pt x="1301306" y="181987"/>
                  </a:lnTo>
                  <a:lnTo>
                    <a:pt x="1340739" y="161945"/>
                  </a:lnTo>
                  <a:lnTo>
                    <a:pt x="1380172" y="143736"/>
                  </a:lnTo>
                  <a:lnTo>
                    <a:pt x="1419606" y="127274"/>
                  </a:lnTo>
                  <a:lnTo>
                    <a:pt x="1459040" y="112459"/>
                  </a:lnTo>
                  <a:lnTo>
                    <a:pt x="1498473" y="99178"/>
                  </a:lnTo>
                  <a:lnTo>
                    <a:pt x="1537907" y="87317"/>
                  </a:lnTo>
                  <a:lnTo>
                    <a:pt x="1577340" y="76757"/>
                  </a:lnTo>
                  <a:lnTo>
                    <a:pt x="1616774" y="67382"/>
                  </a:lnTo>
                  <a:lnTo>
                    <a:pt x="1656207" y="59082"/>
                  </a:lnTo>
                  <a:lnTo>
                    <a:pt x="1695640" y="51748"/>
                  </a:lnTo>
                  <a:lnTo>
                    <a:pt x="1735074" y="45283"/>
                  </a:lnTo>
                  <a:lnTo>
                    <a:pt x="1774507" y="39592"/>
                  </a:lnTo>
                  <a:lnTo>
                    <a:pt x="1813941" y="34591"/>
                  </a:lnTo>
                  <a:lnTo>
                    <a:pt x="1853374" y="30202"/>
                  </a:lnTo>
                  <a:lnTo>
                    <a:pt x="1892808" y="26355"/>
                  </a:lnTo>
                  <a:lnTo>
                    <a:pt x="1932242" y="22986"/>
                  </a:lnTo>
                  <a:lnTo>
                    <a:pt x="1971675" y="20039"/>
                  </a:lnTo>
                  <a:lnTo>
                    <a:pt x="2011108" y="17463"/>
                  </a:lnTo>
                  <a:lnTo>
                    <a:pt x="2050542" y="15213"/>
                  </a:lnTo>
                  <a:lnTo>
                    <a:pt x="2089976" y="13249"/>
                  </a:lnTo>
                  <a:lnTo>
                    <a:pt x="2129409" y="11535"/>
                  </a:lnTo>
                  <a:lnTo>
                    <a:pt x="2168843" y="10040"/>
                  </a:lnTo>
                  <a:lnTo>
                    <a:pt x="2208276" y="8737"/>
                  </a:lnTo>
                  <a:lnTo>
                    <a:pt x="2247710" y="7602"/>
                  </a:lnTo>
                  <a:lnTo>
                    <a:pt x="2287143" y="6613"/>
                  </a:lnTo>
                  <a:lnTo>
                    <a:pt x="2326576" y="5751"/>
                  </a:lnTo>
                  <a:lnTo>
                    <a:pt x="2366010" y="5001"/>
                  </a:lnTo>
                  <a:lnTo>
                    <a:pt x="2405443" y="4348"/>
                  </a:lnTo>
                  <a:lnTo>
                    <a:pt x="2444877" y="3780"/>
                  </a:lnTo>
                  <a:lnTo>
                    <a:pt x="2484310" y="3285"/>
                  </a:lnTo>
                  <a:lnTo>
                    <a:pt x="2523744" y="2855"/>
                  </a:lnTo>
                  <a:lnTo>
                    <a:pt x="2563178" y="2480"/>
                  </a:lnTo>
                  <a:lnTo>
                    <a:pt x="2602611" y="2154"/>
                  </a:lnTo>
                  <a:lnTo>
                    <a:pt x="2642044" y="1871"/>
                  </a:lnTo>
                  <a:lnTo>
                    <a:pt x="2681478" y="1625"/>
                  </a:lnTo>
                  <a:lnTo>
                    <a:pt x="2720911" y="1410"/>
                  </a:lnTo>
                  <a:lnTo>
                    <a:pt x="2760345" y="1224"/>
                  </a:lnTo>
                  <a:lnTo>
                    <a:pt x="2799779" y="1062"/>
                  </a:lnTo>
                  <a:lnTo>
                    <a:pt x="2839212" y="921"/>
                  </a:lnTo>
                  <a:lnTo>
                    <a:pt x="2878646" y="798"/>
                  </a:lnTo>
                  <a:lnTo>
                    <a:pt x="2918079" y="691"/>
                  </a:lnTo>
                  <a:lnTo>
                    <a:pt x="2957512" y="599"/>
                  </a:lnTo>
                  <a:lnTo>
                    <a:pt x="2996946" y="518"/>
                  </a:lnTo>
                  <a:lnTo>
                    <a:pt x="3036379" y="448"/>
                  </a:lnTo>
                  <a:lnTo>
                    <a:pt x="3075813" y="387"/>
                  </a:lnTo>
                  <a:lnTo>
                    <a:pt x="3115246" y="334"/>
                  </a:lnTo>
                  <a:lnTo>
                    <a:pt x="3154680" y="288"/>
                  </a:lnTo>
                  <a:lnTo>
                    <a:pt x="3194114" y="248"/>
                  </a:lnTo>
                  <a:lnTo>
                    <a:pt x="3233547" y="213"/>
                  </a:lnTo>
                  <a:lnTo>
                    <a:pt x="3272980" y="183"/>
                  </a:lnTo>
                  <a:lnTo>
                    <a:pt x="3312414" y="157"/>
                  </a:lnTo>
                  <a:lnTo>
                    <a:pt x="3351848" y="134"/>
                  </a:lnTo>
                  <a:lnTo>
                    <a:pt x="3391281" y="114"/>
                  </a:lnTo>
                  <a:lnTo>
                    <a:pt x="3430715" y="96"/>
                  </a:lnTo>
                  <a:lnTo>
                    <a:pt x="3470148" y="81"/>
                  </a:lnTo>
                  <a:lnTo>
                    <a:pt x="3509582" y="68"/>
                  </a:lnTo>
                  <a:lnTo>
                    <a:pt x="3549015" y="57"/>
                  </a:lnTo>
                  <a:lnTo>
                    <a:pt x="3588448" y="47"/>
                  </a:lnTo>
                  <a:lnTo>
                    <a:pt x="3627882" y="39"/>
                  </a:lnTo>
                  <a:lnTo>
                    <a:pt x="3667316" y="31"/>
                  </a:lnTo>
                  <a:lnTo>
                    <a:pt x="3706749" y="25"/>
                  </a:lnTo>
                  <a:lnTo>
                    <a:pt x="3746182" y="19"/>
                  </a:lnTo>
                  <a:lnTo>
                    <a:pt x="3785616" y="14"/>
                  </a:lnTo>
                  <a:lnTo>
                    <a:pt x="3825049" y="10"/>
                  </a:lnTo>
                  <a:lnTo>
                    <a:pt x="3864483" y="6"/>
                  </a:lnTo>
                  <a:lnTo>
                    <a:pt x="3903917" y="3"/>
                  </a:lnTo>
                  <a:lnTo>
                    <a:pt x="3943350" y="0"/>
                  </a:lnTo>
                </a:path>
              </a:pathLst>
            </a:custGeom>
            <a:noFill/>
            <a:ln w="24765">
              <a:solidFill>
                <a:srgbClr val="F2C14E"/>
              </a:solidFill>
            </a:ln>
          </p:spPr>
        </p:sp>
        <p:sp>
          <p:nvSpPr>
            <p:cNvPr id="42" name="TextBox 42"/>
            <p:cNvSpPr txBox="1"/>
            <p:nvPr/>
          </p:nvSpPr>
          <p:spPr>
            <a:xfrm>
              <a:off x="7797460" y="3816191"/>
              <a:ext cx="351453" cy="161925"/>
            </a:xfrm>
            <a:prstGeom prst="rect">
              <a:avLst/>
            </a:prstGeom>
            <a:noFill/>
            <a:ln>
              <a:noFill/>
            </a:ln>
          </p:spPr>
          <p:txBody>
            <a:bodyPr wrap="none" lIns="0" tIns="0" rIns="0" bIns="0" anchor="t" anchorCtr="0">
              <a:spAutoFit/>
            </a:bodyPr>
            <a:lstStyle/>
            <a:p>
              <a:pPr algn="ctr"/>
              <a:r>
                <a:rPr lang="en-US" sz="820" b="1" dirty="0">
                  <a:solidFill>
                    <a:srgbClr val="F2C14E"/>
                  </a:solidFill>
                  <a:latin typeface="+mn-lt"/>
                  <a:ea typeface="+mn-ea"/>
                  <a:cs typeface="+mn-cs"/>
                </a:rPr>
                <a:t>m=128</a:t>
              </a:r>
            </a:p>
          </p:txBody>
        </p:sp>
        <p:sp>
          <p:nvSpPr>
            <p:cNvPr id="43" name="Line 43"/>
            <p:cNvSpPr/>
            <p:nvPr/>
          </p:nvSpPr>
          <p:spPr>
            <a:xfrm>
              <a:off x="7973187" y="3238500"/>
              <a:ext cx="9525" cy="1371600"/>
            </a:xfrm>
            <a:custGeom>
              <a:avLst/>
              <a:gdLst/>
              <a:ahLst/>
              <a:cxnLst/>
              <a:rect l="l" t="t" r="r" b="b"/>
              <a:pathLst>
                <a:path w="9525" h="1371600">
                  <a:moveTo>
                    <a:pt x="0" y="0"/>
                  </a:moveTo>
                  <a:lnTo>
                    <a:pt x="0" y="1371600"/>
                  </a:lnTo>
                </a:path>
              </a:pathLst>
            </a:custGeom>
            <a:noFill/>
            <a:ln w="9525" cap="rnd">
              <a:solidFill>
                <a:srgbClr val="F2C14E"/>
              </a:solidFill>
              <a:custDash>
                <a:ds d="300000" sp="300000"/>
              </a:custDash>
            </a:ln>
          </p:spPr>
        </p:sp>
        <p:sp>
          <p:nvSpPr>
            <p:cNvPr id="44" name="Line 44"/>
            <p:cNvSpPr/>
            <p:nvPr/>
          </p:nvSpPr>
          <p:spPr>
            <a:xfrm>
              <a:off x="8682990" y="3238500"/>
              <a:ext cx="9525" cy="1371600"/>
            </a:xfrm>
            <a:custGeom>
              <a:avLst/>
              <a:gdLst/>
              <a:ahLst/>
              <a:cxnLst/>
              <a:rect l="l" t="t" r="r" b="b"/>
              <a:pathLst>
                <a:path w="9525" h="1371600">
                  <a:moveTo>
                    <a:pt x="0" y="0"/>
                  </a:moveTo>
                  <a:lnTo>
                    <a:pt x="0" y="1371600"/>
                  </a:lnTo>
                </a:path>
              </a:pathLst>
            </a:custGeom>
            <a:noFill/>
            <a:ln w="9525" cap="rnd">
              <a:solidFill>
                <a:srgbClr val="34D3C0"/>
              </a:solidFill>
              <a:custDash>
                <a:ds d="300000" sp="300000"/>
              </a:custDash>
            </a:ln>
          </p:spPr>
        </p:sp>
        <p:sp>
          <p:nvSpPr>
            <p:cNvPr id="45" name="Line 45"/>
            <p:cNvSpPr/>
            <p:nvPr/>
          </p:nvSpPr>
          <p:spPr>
            <a:xfrm>
              <a:off x="9550527" y="3238500"/>
              <a:ext cx="9525" cy="1371600"/>
            </a:xfrm>
            <a:custGeom>
              <a:avLst/>
              <a:gdLst/>
              <a:ahLst/>
              <a:cxnLst/>
              <a:rect l="l" t="t" r="r" b="b"/>
              <a:pathLst>
                <a:path w="9525" h="1371600">
                  <a:moveTo>
                    <a:pt x="0" y="0"/>
                  </a:moveTo>
                  <a:lnTo>
                    <a:pt x="0" y="1371600"/>
                  </a:lnTo>
                </a:path>
              </a:pathLst>
            </a:custGeom>
            <a:noFill/>
            <a:ln w="9525" cap="rnd">
              <a:solidFill>
                <a:schemeClr val="accent2"/>
              </a:solidFill>
              <a:custDash>
                <a:ds d="300000" sp="300000"/>
              </a:custDash>
            </a:ln>
          </p:spPr>
        </p:sp>
        <p:sp>
          <p:nvSpPr>
            <p:cNvPr id="46" name="TextBox 46"/>
            <p:cNvSpPr txBox="1"/>
            <p:nvPr/>
          </p:nvSpPr>
          <p:spPr>
            <a:xfrm>
              <a:off x="9525845" y="3263741"/>
              <a:ext cx="1527917" cy="161925"/>
            </a:xfrm>
            <a:prstGeom prst="rect">
              <a:avLst/>
            </a:prstGeom>
            <a:noFill/>
            <a:ln>
              <a:noFill/>
            </a:ln>
          </p:spPr>
          <p:txBody>
            <a:bodyPr wrap="none" lIns="0" tIns="0" rIns="0" bIns="0" anchor="t" anchorCtr="0">
              <a:spAutoFit/>
            </a:bodyPr>
            <a:lstStyle/>
            <a:p>
              <a:pPr algn="r"/>
              <a:r>
                <a:rPr lang="en-US" sz="820" b="1" dirty="0">
                  <a:solidFill>
                    <a:srgbClr val="F2685C"/>
                  </a:solidFill>
                  <a:latin typeface="+mn-lt"/>
                  <a:ea typeface="+mn-ea"/>
                  <a:cs typeface="+mn-cs"/>
                </a:rPr>
                <a:t>no stable beta &gt; 0 survives</a:t>
              </a:r>
            </a:p>
          </p:txBody>
        </p:sp>
      </p:grpSp>
      <p:grpSp>
        <p:nvGrpSpPr>
          <p:cNvPr id="49" name="Group 49"/>
          <p:cNvGrpSpPr/>
          <p:nvPr/>
        </p:nvGrpSpPr>
        <p:grpSpPr>
          <a:xfrm>
            <a:off x="6243256" y="5510451"/>
            <a:ext cx="5483695" cy="198025"/>
            <a:chOff x="6243256" y="5510451"/>
            <a:chExt cx="5483695" cy="198025"/>
          </a:xfrm>
        </p:grpSpPr>
        <p:sp>
          <p:nvSpPr>
            <p:cNvPr id="48" name="TextBox 48"/>
            <p:cNvSpPr txBox="1"/>
            <p:nvPr/>
          </p:nvSpPr>
          <p:spPr>
            <a:xfrm>
              <a:off x="6243256" y="5510451"/>
              <a:ext cx="548369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Slowly-decaying targets take ~1000 epochs to fit vs ~10 for exponential ones.</a:t>
              </a:r>
            </a:p>
          </p:txBody>
        </p:sp>
      </p:grpSp>
      <p:sp>
        <p:nvSpPr>
          <p:cNvPr id="50" name="cue_s07_c1_headline_theoretical_result_clean_in" title="cue_s07_c1_headline_theoretical_result_clean_in" descr="cue_s07_c1_headline_theoretical_result_clean_in The headline theoretical result is a clean inverse statement: if a nonlinear RNN can stably approximate a target sequence relationship, then that target's memory must decay exponentially."/>
          <p:cNvSpPr/>
          <p:nvPr/>
        </p:nvSpPr>
        <p:spPr>
          <a:xfrm>
            <a:off x="609600" y="1447723"/>
            <a:ext cx="10972800" cy="9237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extends_linear_curse_memory_nonlinea" title="cue_s07_c2_extends_linear_curse_memory_nonlinea" descr="cue_s07_c2_extends_linear_curse_memory_nonlinea This extends the linear curse of memory to the nonlinear regime and proves the failure on long-term dependencies is intrinsic to the RNN hypothesis space, not just a training artifact. The numerics back this up."/>
          <p:cNvSpPr/>
          <p:nvPr/>
        </p:nvSpPr>
        <p:spPr>
          <a:xfrm>
            <a:off x="609600" y="2533345"/>
            <a:ext cx="5334000"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polynomial_memory_targets_perturbati" title="cue_s07_c3_polynomial_memory_targets_perturbati" descr="cue_s07_c3_polynomial_memory_targets_perturbati For polynomial-memory targets, the perturbation-error curves for different hidden dimensions keep intersecting further and further left as the dimension grows, meaning no positive stability radius survives."/>
          <p:cNvSpPr/>
          <p:nvPr/>
        </p:nvSpPr>
        <p:spPr>
          <a:xfrm>
            <a:off x="6248399" y="2533345"/>
            <a:ext cx="5334000"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4_when_authors_filter_randomly_generat" title="cue_s07_c4_when_authors_filter_randomly_generat" descr="cue_s07_c4_when_authors_filter_randomly_generat And when the authors filter randomly generated teacher models to keep only those that are both approximable and stable, the only survivors are teachers whose memory decays exponentially. They also observe that slowly-decaying targets take on the order of a tho"/>
          <p:cNvSpPr/>
          <p:nvPr/>
        </p:nvSpPr>
        <p:spPr>
          <a:xfrm>
            <a:off x="6243523" y="5510403"/>
            <a:ext cx="5483961" cy="19819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45566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Only the parameterization changes</a:t>
            </a:r>
          </a:p>
        </p:txBody>
      </p:sp>
      <p:grpSp>
        <p:nvGrpSpPr>
          <p:cNvPr id="8" name="Group 8"/>
          <p:cNvGrpSpPr/>
          <p:nvPr/>
        </p:nvGrpSpPr>
        <p:grpSpPr>
          <a:xfrm>
            <a:off x="609600" y="1447800"/>
            <a:ext cx="10972800" cy="552450"/>
            <a:chOff x="609600" y="1447800"/>
            <a:chExt cx="10972800" cy="552450"/>
          </a:xfrm>
        </p:grpSpPr>
        <p:sp>
          <p:nvSpPr>
            <p:cNvPr id="5" name="Rectangle 5"/>
            <p:cNvSpPr/>
            <p:nvPr/>
          </p:nvSpPr>
          <p:spPr>
            <a:xfrm>
              <a:off x="609600" y="144780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447800"/>
              <a:ext cx="57150" cy="552450"/>
            </a:xfrm>
            <a:prstGeom prst="roundRect">
              <a:avLst>
                <a:gd name="adj" fmla="val 50000"/>
              </a:avLst>
            </a:prstGeom>
            <a:solidFill>
              <a:schemeClr val="accent2"/>
            </a:solidFill>
            <a:ln>
              <a:noFill/>
            </a:ln>
          </p:spPr>
        </p:sp>
        <p:sp>
          <p:nvSpPr>
            <p:cNvPr id="7" name="TextBox 7"/>
            <p:cNvSpPr txBox="1"/>
            <p:nvPr/>
          </p:nvSpPr>
          <p:spPr>
            <a:xfrm>
              <a:off x="870204" y="1661160"/>
              <a:ext cx="698626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Vary ONLY how the recurrent weight is parameterized; hold the initialization fixed.</a:t>
              </a:r>
            </a:p>
          </p:txBody>
        </p:sp>
      </p:grpSp>
      <p:grpSp>
        <p:nvGrpSpPr>
          <p:cNvPr id="19" name="Group 19"/>
          <p:cNvGrpSpPr/>
          <p:nvPr/>
        </p:nvGrpSpPr>
        <p:grpSpPr>
          <a:xfrm>
            <a:off x="609600" y="2190750"/>
            <a:ext cx="5334000" cy="1714500"/>
            <a:chOff x="609600" y="2190750"/>
            <a:chExt cx="5334000" cy="1714500"/>
          </a:xfrm>
        </p:grpSpPr>
        <p:sp>
          <p:nvSpPr>
            <p:cNvPr id="9" name="Rectangle 9"/>
            <p:cNvSpPr/>
            <p:nvPr/>
          </p:nvSpPr>
          <p:spPr>
            <a:xfrm>
              <a:off x="609600" y="2190750"/>
              <a:ext cx="5334000" cy="1714500"/>
            </a:xfrm>
            <a:prstGeom prst="roundRect">
              <a:avLst>
                <a:gd name="adj" fmla="val 7778"/>
              </a:avLst>
            </a:prstGeom>
            <a:solidFill>
              <a:schemeClr val="accent5"/>
            </a:solidFill>
            <a:ln w="14288">
              <a:solidFill>
                <a:srgbClr val="26455F"/>
              </a:solidFill>
            </a:ln>
          </p:spPr>
        </p:sp>
        <p:sp>
          <p:nvSpPr>
            <p:cNvPr id="10" name="Rectangle 10"/>
            <p:cNvSpPr/>
            <p:nvPr/>
          </p:nvSpPr>
          <p:spPr>
            <a:xfrm>
              <a:off x="609600" y="2190750"/>
              <a:ext cx="57150" cy="1714500"/>
            </a:xfrm>
            <a:prstGeom prst="roundRect">
              <a:avLst>
                <a:gd name="adj" fmla="val 50000"/>
              </a:avLst>
            </a:prstGeom>
            <a:solidFill>
              <a:srgbClr val="34D3C0"/>
            </a:solidFill>
            <a:ln>
              <a:noFill/>
            </a:ln>
          </p:spPr>
        </p:sp>
        <p:sp>
          <p:nvSpPr>
            <p:cNvPr id="11" name="TextBox 11"/>
            <p:cNvSpPr txBox="1"/>
            <p:nvPr/>
          </p:nvSpPr>
          <p:spPr>
            <a:xfrm>
              <a:off x="870014" y="2419112"/>
              <a:ext cx="2794349"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MNIST: stable maps train faster</a:t>
              </a:r>
            </a:p>
          </p:txBody>
        </p:sp>
        <p:sp>
          <p:nvSpPr>
            <p:cNvPr id="12" name="Rectangle 12"/>
            <p:cNvSpPr/>
            <p:nvPr/>
          </p:nvSpPr>
          <p:spPr>
            <a:xfrm>
              <a:off x="876300" y="2724150"/>
              <a:ext cx="4800600" cy="323850"/>
            </a:xfrm>
            <a:prstGeom prst="roundRect">
              <a:avLst>
                <a:gd name="adj" fmla="val 23529"/>
              </a:avLst>
            </a:prstGeom>
            <a:solidFill>
              <a:schemeClr val="accent6"/>
            </a:solidFill>
            <a:ln w="14288">
              <a:solidFill>
                <a:srgbClr val="26455F"/>
              </a:solidFill>
            </a:ln>
          </p:spPr>
        </p:sp>
        <p:sp>
          <p:nvSpPr>
            <p:cNvPr id="13" name="Ellipse 13"/>
            <p:cNvSpPr/>
            <p:nvPr/>
          </p:nvSpPr>
          <p:spPr>
            <a:xfrm>
              <a:off x="1000125" y="2838450"/>
              <a:ext cx="95250" cy="95250"/>
            </a:xfrm>
            <a:prstGeom prst="ellipse">
              <a:avLst/>
            </a:prstGeom>
            <a:solidFill>
              <a:srgbClr val="48C78E"/>
            </a:solidFill>
            <a:ln>
              <a:noFill/>
            </a:ln>
          </p:spPr>
        </p:sp>
        <p:sp>
          <p:nvSpPr>
            <p:cNvPr id="14" name="TextBox 14"/>
            <p:cNvSpPr txBox="1"/>
            <p:nvPr/>
          </p:nvSpPr>
          <p:spPr>
            <a:xfrm>
              <a:off x="1195006" y="2824401"/>
              <a:ext cx="291554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softplus / exponential / inverse -&gt; stable</a:t>
              </a:r>
            </a:p>
          </p:txBody>
        </p:sp>
        <p:sp>
          <p:nvSpPr>
            <p:cNvPr id="15" name="Rectangle 15"/>
            <p:cNvSpPr/>
            <p:nvPr/>
          </p:nvSpPr>
          <p:spPr>
            <a:xfrm>
              <a:off x="876300" y="3124200"/>
              <a:ext cx="4800600" cy="323850"/>
            </a:xfrm>
            <a:prstGeom prst="roundRect">
              <a:avLst>
                <a:gd name="adj" fmla="val 23529"/>
              </a:avLst>
            </a:prstGeom>
            <a:solidFill>
              <a:schemeClr val="accent6"/>
            </a:solidFill>
            <a:ln w="14288">
              <a:solidFill>
                <a:srgbClr val="26455F"/>
              </a:solidFill>
            </a:ln>
          </p:spPr>
        </p:sp>
        <p:sp>
          <p:nvSpPr>
            <p:cNvPr id="16" name="Ellipse 16"/>
            <p:cNvSpPr/>
            <p:nvPr/>
          </p:nvSpPr>
          <p:spPr>
            <a:xfrm>
              <a:off x="1000125" y="3238500"/>
              <a:ext cx="95250" cy="95250"/>
            </a:xfrm>
            <a:prstGeom prst="ellipse">
              <a:avLst/>
            </a:prstGeom>
            <a:solidFill>
              <a:srgbClr val="F2685C"/>
            </a:solidFill>
            <a:ln>
              <a:noFill/>
            </a:ln>
          </p:spPr>
        </p:sp>
        <p:sp>
          <p:nvSpPr>
            <p:cNvPr id="17" name="TextBox 17"/>
            <p:cNvSpPr txBox="1"/>
            <p:nvPr/>
          </p:nvSpPr>
          <p:spPr>
            <a:xfrm>
              <a:off x="1195006" y="3224451"/>
              <a:ext cx="2701398"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direct (weight used as-is) -&gt; unstable</a:t>
              </a:r>
            </a:p>
          </p:txBody>
        </p:sp>
        <p:sp>
          <p:nvSpPr>
            <p:cNvPr id="18" name="TextBox 18"/>
            <p:cNvSpPr txBox="1"/>
            <p:nvPr/>
          </p:nvSpPr>
          <p:spPr>
            <a:xfrm>
              <a:off x="871156" y="3624501"/>
              <a:ext cx="414094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All three stable maps beat the direct baseline on accuracy.</a:t>
              </a:r>
            </a:p>
          </p:txBody>
        </p:sp>
      </p:grpSp>
      <p:grpSp>
        <p:nvGrpSpPr>
          <p:cNvPr id="29" name="Group 29"/>
          <p:cNvGrpSpPr/>
          <p:nvPr/>
        </p:nvGrpSpPr>
        <p:grpSpPr>
          <a:xfrm>
            <a:off x="6248400" y="2190750"/>
            <a:ext cx="5334000" cy="1714500"/>
            <a:chOff x="6248400" y="2190750"/>
            <a:chExt cx="5334000" cy="1714500"/>
          </a:xfrm>
        </p:grpSpPr>
        <p:sp>
          <p:nvSpPr>
            <p:cNvPr id="20" name="Rectangle 20"/>
            <p:cNvSpPr/>
            <p:nvPr/>
          </p:nvSpPr>
          <p:spPr>
            <a:xfrm>
              <a:off x="6248400" y="2190750"/>
              <a:ext cx="5334000" cy="1714500"/>
            </a:xfrm>
            <a:prstGeom prst="roundRect">
              <a:avLst>
                <a:gd name="adj" fmla="val 7778"/>
              </a:avLst>
            </a:prstGeom>
            <a:solidFill>
              <a:schemeClr val="accent5"/>
            </a:solidFill>
            <a:ln w="14288">
              <a:solidFill>
                <a:srgbClr val="26455F"/>
              </a:solidFill>
            </a:ln>
          </p:spPr>
        </p:sp>
        <p:sp>
          <p:nvSpPr>
            <p:cNvPr id="21" name="Rectangle 21"/>
            <p:cNvSpPr/>
            <p:nvPr/>
          </p:nvSpPr>
          <p:spPr>
            <a:xfrm>
              <a:off x="6248400" y="2190750"/>
              <a:ext cx="57150" cy="1714500"/>
            </a:xfrm>
            <a:prstGeom prst="roundRect">
              <a:avLst>
                <a:gd name="adj" fmla="val 50000"/>
              </a:avLst>
            </a:prstGeom>
            <a:solidFill>
              <a:srgbClr val="F2C14E"/>
            </a:solidFill>
            <a:ln>
              <a:noFill/>
            </a:ln>
          </p:spPr>
        </p:sp>
        <p:sp>
          <p:nvSpPr>
            <p:cNvPr id="22" name="TextBox 22"/>
            <p:cNvSpPr txBox="1"/>
            <p:nvPr/>
          </p:nvSpPr>
          <p:spPr>
            <a:xfrm>
              <a:off x="6508814" y="2419112"/>
              <a:ext cx="1867236"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Capacity is unchanged</a:t>
              </a:r>
            </a:p>
          </p:txBody>
        </p:sp>
        <p:sp>
          <p:nvSpPr>
            <p:cNvPr id="23" name="TextBox 23"/>
            <p:cNvSpPr txBox="1"/>
            <p:nvPr/>
          </p:nvSpPr>
          <p:spPr>
            <a:xfrm>
              <a:off x="6509576" y="2740104"/>
              <a:ext cx="40291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Reparameterization does not alter the model's inherent</a:t>
              </a:r>
            </a:p>
          </p:txBody>
        </p:sp>
        <p:sp>
          <p:nvSpPr>
            <p:cNvPr id="24" name="TextBox 24"/>
            <p:cNvSpPr txBox="1"/>
            <p:nvPr/>
          </p:nvSpPr>
          <p:spPr>
            <a:xfrm>
              <a:off x="6509576" y="2959179"/>
              <a:ext cx="38115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capacity, so final accuracy across stable variants is</a:t>
              </a:r>
            </a:p>
          </p:txBody>
        </p:sp>
        <p:sp>
          <p:nvSpPr>
            <p:cNvPr id="25" name="TextBox 25"/>
            <p:cNvSpPr txBox="1"/>
            <p:nvPr/>
          </p:nvSpPr>
          <p:spPr>
            <a:xfrm>
              <a:off x="6509576" y="3178254"/>
              <a:ext cx="8914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comparable.</a:t>
              </a:r>
            </a:p>
          </p:txBody>
        </p:sp>
        <p:sp>
          <p:nvSpPr>
            <p:cNvPr id="26" name="Rectangle 26"/>
            <p:cNvSpPr/>
            <p:nvPr/>
          </p:nvSpPr>
          <p:spPr>
            <a:xfrm>
              <a:off x="6515100" y="3505200"/>
              <a:ext cx="4800600" cy="304800"/>
            </a:xfrm>
            <a:prstGeom prst="roundRect">
              <a:avLst>
                <a:gd name="adj" fmla="val 25000"/>
              </a:avLst>
            </a:prstGeom>
            <a:solidFill>
              <a:schemeClr val="accent6"/>
            </a:solidFill>
            <a:ln w="14288">
              <a:solidFill>
                <a:srgbClr val="26455F"/>
              </a:solidFill>
            </a:ln>
          </p:spPr>
        </p:sp>
        <p:sp>
          <p:nvSpPr>
            <p:cNvPr id="27" name="Ellipse 27"/>
            <p:cNvSpPr/>
            <p:nvPr/>
          </p:nvSpPr>
          <p:spPr>
            <a:xfrm>
              <a:off x="6638925" y="3609975"/>
              <a:ext cx="95250" cy="95250"/>
            </a:xfrm>
            <a:prstGeom prst="ellipse">
              <a:avLst/>
            </a:prstGeom>
            <a:solidFill>
              <a:srgbClr val="F2C14E"/>
            </a:solidFill>
            <a:ln>
              <a:noFill/>
            </a:ln>
          </p:spPr>
        </p:sp>
        <p:sp>
          <p:nvSpPr>
            <p:cNvPr id="28" name="TextBox 28"/>
            <p:cNvSpPr txBox="1"/>
            <p:nvPr/>
          </p:nvSpPr>
          <p:spPr>
            <a:xfrm>
              <a:off x="6833997" y="3599974"/>
              <a:ext cx="278472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isolates an OPTIMIZATION &amp; stability gain</a:t>
              </a:r>
            </a:p>
          </p:txBody>
        </p:sp>
      </p:grpSp>
      <p:grpSp>
        <p:nvGrpSpPr>
          <p:cNvPr id="40" name="Group 40"/>
          <p:cNvGrpSpPr/>
          <p:nvPr/>
        </p:nvGrpSpPr>
        <p:grpSpPr>
          <a:xfrm>
            <a:off x="609600" y="4095750"/>
            <a:ext cx="10972800" cy="1143000"/>
            <a:chOff x="609600" y="4095750"/>
            <a:chExt cx="10972800" cy="1143000"/>
          </a:xfrm>
        </p:grpSpPr>
        <p:sp>
          <p:nvSpPr>
            <p:cNvPr id="30" name="Rectangle 30"/>
            <p:cNvSpPr/>
            <p:nvPr/>
          </p:nvSpPr>
          <p:spPr>
            <a:xfrm>
              <a:off x="609600" y="4095750"/>
              <a:ext cx="10972800" cy="1143000"/>
            </a:xfrm>
            <a:prstGeom prst="roundRect">
              <a:avLst>
                <a:gd name="adj" fmla="val 11667"/>
              </a:avLst>
            </a:prstGeom>
            <a:solidFill>
              <a:schemeClr val="accent5"/>
            </a:solidFill>
            <a:ln w="14288">
              <a:solidFill>
                <a:srgbClr val="26455F"/>
              </a:solidFill>
            </a:ln>
          </p:spPr>
        </p:sp>
        <p:sp>
          <p:nvSpPr>
            <p:cNvPr id="31" name="Rectangle 31"/>
            <p:cNvSpPr/>
            <p:nvPr/>
          </p:nvSpPr>
          <p:spPr>
            <a:xfrm>
              <a:off x="609600" y="4095750"/>
              <a:ext cx="57150" cy="1143000"/>
            </a:xfrm>
            <a:prstGeom prst="roundRect">
              <a:avLst>
                <a:gd name="adj" fmla="val 50000"/>
              </a:avLst>
            </a:prstGeom>
            <a:solidFill>
              <a:srgbClr val="48C78E"/>
            </a:solidFill>
            <a:ln>
              <a:noFill/>
            </a:ln>
          </p:spPr>
        </p:sp>
        <p:sp>
          <p:nvSpPr>
            <p:cNvPr id="32" name="TextBox 32"/>
            <p:cNvSpPr txBox="1"/>
            <p:nvPr/>
          </p:nvSpPr>
          <p:spPr>
            <a:xfrm>
              <a:off x="870394" y="4275058"/>
              <a:ext cx="6231496"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Synthetic · reparameterization restores the continuous limiting-error curve</a:t>
              </a:r>
            </a:p>
          </p:txBody>
        </p:sp>
        <p:sp>
          <p:nvSpPr>
            <p:cNvPr id="33" name="Rectangle 33"/>
            <p:cNvSpPr/>
            <p:nvPr/>
          </p:nvSpPr>
          <p:spPr>
            <a:xfrm>
              <a:off x="876300" y="4629150"/>
              <a:ext cx="5143500" cy="323850"/>
            </a:xfrm>
            <a:prstGeom prst="roundRect">
              <a:avLst>
                <a:gd name="adj" fmla="val 23529"/>
              </a:avLst>
            </a:prstGeom>
            <a:solidFill>
              <a:schemeClr val="accent6"/>
            </a:solidFill>
            <a:ln w="14288">
              <a:solidFill>
                <a:srgbClr val="26455F"/>
              </a:solidFill>
            </a:ln>
          </p:spPr>
        </p:sp>
        <p:sp>
          <p:nvSpPr>
            <p:cNvPr id="34" name="Ellipse 34"/>
            <p:cNvSpPr/>
            <p:nvPr/>
          </p:nvSpPr>
          <p:spPr>
            <a:xfrm>
              <a:off x="1000125" y="4743450"/>
              <a:ext cx="95250" cy="95250"/>
            </a:xfrm>
            <a:prstGeom prst="ellipse">
              <a:avLst/>
            </a:prstGeom>
            <a:solidFill>
              <a:srgbClr val="F2685C"/>
            </a:solidFill>
            <a:ln>
              <a:noFill/>
            </a:ln>
          </p:spPr>
        </p:sp>
        <p:sp>
          <p:nvSpPr>
            <p:cNvPr id="35" name="TextBox 35"/>
            <p:cNvSpPr txBox="1"/>
            <p:nvPr/>
          </p:nvSpPr>
          <p:spPr>
            <a:xfrm>
              <a:off x="1195006" y="4729401"/>
              <a:ext cx="340216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linear RNN + poly-decay target -&gt; unstable curve</a:t>
              </a:r>
            </a:p>
          </p:txBody>
        </p:sp>
        <p:sp>
          <p:nvSpPr>
            <p:cNvPr id="36" name="Rectangle 36"/>
            <p:cNvSpPr/>
            <p:nvPr/>
          </p:nvSpPr>
          <p:spPr>
            <a:xfrm>
              <a:off x="6172200" y="4629150"/>
              <a:ext cx="5143500" cy="323850"/>
            </a:xfrm>
            <a:prstGeom prst="roundRect">
              <a:avLst>
                <a:gd name="adj" fmla="val 23529"/>
              </a:avLst>
            </a:prstGeom>
            <a:solidFill>
              <a:schemeClr val="accent6"/>
            </a:solidFill>
            <a:ln w="14288">
              <a:solidFill>
                <a:srgbClr val="26455F"/>
              </a:solidFill>
            </a:ln>
          </p:spPr>
        </p:sp>
        <p:sp>
          <p:nvSpPr>
            <p:cNvPr id="37" name="Ellipse 37"/>
            <p:cNvSpPr/>
            <p:nvPr/>
          </p:nvSpPr>
          <p:spPr>
            <a:xfrm>
              <a:off x="6296025" y="4743450"/>
              <a:ext cx="95250" cy="95250"/>
            </a:xfrm>
            <a:prstGeom prst="ellipse">
              <a:avLst/>
            </a:prstGeom>
            <a:solidFill>
              <a:srgbClr val="48C78E"/>
            </a:solidFill>
            <a:ln>
              <a:noFill/>
            </a:ln>
          </p:spPr>
        </p:sp>
        <p:sp>
          <p:nvSpPr>
            <p:cNvPr id="38" name="TextBox 38"/>
            <p:cNvSpPr txBox="1"/>
            <p:nvPr/>
          </p:nvSpPr>
          <p:spPr>
            <a:xfrm>
              <a:off x="6490906" y="4729401"/>
              <a:ext cx="357940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 exponential / softplus map -&gt; stability recovered</a:t>
              </a:r>
            </a:p>
          </p:txBody>
        </p:sp>
        <p:sp>
          <p:nvSpPr>
            <p:cNvPr id="39" name="TextBox 39"/>
            <p:cNvSpPr txBox="1"/>
            <p:nvPr/>
          </p:nvSpPr>
          <p:spPr>
            <a:xfrm>
              <a:off x="871347" y="5038249"/>
              <a:ext cx="5707845"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Confirms that the stability the theory predicts is exactly what the fix brings back.</a:t>
              </a:r>
            </a:p>
          </p:txBody>
        </p:sp>
      </p:grpSp>
      <p:sp>
        <p:nvSpPr>
          <p:cNvPr id="41" name="cue_s08_c1_key_ablation_varies_only_how" title="cue_s08_c1_key_ablation_varies_only_how" descr="cue_s08_c1_key_ablation_varies_only_how The key ablation varies only how the recurrent weight is parameterized, holding initialization fixed."/>
          <p:cNvSpPr/>
          <p:nvPr/>
        </p:nvSpPr>
        <p:spPr>
          <a:xfrm>
            <a:off x="609600" y="14477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8_c2_mnist_three_stable_reparameterizatio" title="cue_s08_c2_mnist_three_stable_reparameterizatio" descr="cue_s08_c2_mnist_three_stable_reparameterizatio On MNIST, the three stable reparameterizations, softplus, exponential, and inverse, all speed up optimization and reach higher test accuracy than the direct, unstable parameterization where the weight is used as-is."/>
          <p:cNvSpPr/>
          <p:nvPr/>
        </p:nvSpPr>
        <p:spPr>
          <a:xfrm>
            <a:off x="609600" y="21904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8_c3_importantly_since_reparameterization" title="cue_s08_c3_importantly_since_reparameterization" descr="cue_s08_c3_importantly_since_reparameterization Importantly, since reparameterization does not change the model's inherent capacity, the final performance across stable variants is comparable, isolating the effect as an optimization and stability benefit rather than a capacity change."/>
          <p:cNvSpPr/>
          <p:nvPr/>
        </p:nvSpPr>
        <p:spPr>
          <a:xfrm>
            <a:off x="6248399" y="21904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4_synthetic_side_applying_exponential" title="cue_s08_c4_synthetic_side_applying_exponential" descr="cue_s08_c4_synthetic_side_applying_exponential On the synthetic side, applying exponential and softplus reparameterizations to linear RNNs approximating polynomial-decay targets restores the expected continuous limiting error curve, confirming stability is recovered."/>
          <p:cNvSpPr/>
          <p:nvPr/>
        </p:nvSpPr>
        <p:spPr>
          <a:xfrm>
            <a:off x="609600" y="4095597"/>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4863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message in four numbers</a:t>
            </a:r>
          </a:p>
        </p:txBody>
      </p:sp>
      <p:grpSp>
        <p:nvGrpSpPr>
          <p:cNvPr id="14" name="Group 14"/>
          <p:cNvGrpSpPr/>
          <p:nvPr/>
        </p:nvGrpSpPr>
        <p:grpSpPr>
          <a:xfrm>
            <a:off x="609600" y="1447800"/>
            <a:ext cx="10972800" cy="704850"/>
            <a:chOff x="609600" y="1447800"/>
            <a:chExt cx="10972800" cy="704850"/>
          </a:xfrm>
        </p:grpSpPr>
        <p:sp>
          <p:nvSpPr>
            <p:cNvPr id="5" name="Rectangle 5"/>
            <p:cNvSpPr/>
            <p:nvPr/>
          </p:nvSpPr>
          <p:spPr>
            <a:xfrm>
              <a:off x="609600" y="1447800"/>
              <a:ext cx="10972800" cy="704850"/>
            </a:xfrm>
            <a:prstGeom prst="roundRect">
              <a:avLst>
                <a:gd name="adj" fmla="val 18919"/>
              </a:avLst>
            </a:prstGeom>
            <a:solidFill>
              <a:schemeClr val="accent5"/>
            </a:solidFill>
            <a:ln w="14288">
              <a:solidFill>
                <a:srgbClr val="26455F"/>
              </a:solidFill>
            </a:ln>
          </p:spPr>
        </p:sp>
        <p:sp>
          <p:nvSpPr>
            <p:cNvPr id="6" name="Rectangle 6"/>
            <p:cNvSpPr/>
            <p:nvPr/>
          </p:nvSpPr>
          <p:spPr>
            <a:xfrm>
              <a:off x="609600" y="1447800"/>
              <a:ext cx="57150" cy="704850"/>
            </a:xfrm>
            <a:prstGeom prst="roundRect">
              <a:avLst>
                <a:gd name="adj" fmla="val 50000"/>
              </a:avLst>
            </a:prstGeom>
            <a:solidFill>
              <a:schemeClr val="accent2"/>
            </a:solidFill>
            <a:ln>
              <a:noFill/>
            </a:ln>
          </p:spPr>
        </p:sp>
        <p:sp>
          <p:nvSpPr>
            <p:cNvPr id="7" name="TextBox 7"/>
            <p:cNvSpPr txBox="1"/>
            <p:nvPr/>
          </p:nvSpPr>
          <p:spPr>
            <a:xfrm>
              <a:off x="870394" y="1608058"/>
              <a:ext cx="6125197"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MNIST, 10 epochs, averaged over 3 runs · stable vs direct parameterization</a:t>
              </a:r>
            </a:p>
          </p:txBody>
        </p:sp>
        <p:sp>
          <p:nvSpPr>
            <p:cNvPr id="8" name="Rectangle 8"/>
            <p:cNvSpPr/>
            <p:nvPr/>
          </p:nvSpPr>
          <p:spPr>
            <a:xfrm>
              <a:off x="876300" y="1828800"/>
              <a:ext cx="4476750" cy="285750"/>
            </a:xfrm>
            <a:prstGeom prst="roundRect">
              <a:avLst>
                <a:gd name="adj" fmla="val 26667"/>
              </a:avLst>
            </a:prstGeom>
            <a:solidFill>
              <a:schemeClr val="accent6"/>
            </a:solidFill>
            <a:ln w="14288">
              <a:solidFill>
                <a:srgbClr val="26455F"/>
              </a:solidFill>
            </a:ln>
          </p:spPr>
        </p:sp>
        <p:sp>
          <p:nvSpPr>
            <p:cNvPr id="9" name="Ellipse 9"/>
            <p:cNvSpPr/>
            <p:nvPr/>
          </p:nvSpPr>
          <p:spPr>
            <a:xfrm>
              <a:off x="1000125" y="1924050"/>
              <a:ext cx="95250" cy="95250"/>
            </a:xfrm>
            <a:prstGeom prst="ellipse">
              <a:avLst/>
            </a:prstGeom>
            <a:solidFill>
              <a:srgbClr val="48C78E"/>
            </a:solidFill>
            <a:ln>
              <a:noFill/>
            </a:ln>
          </p:spPr>
        </p:sp>
        <p:sp>
          <p:nvSpPr>
            <p:cNvPr id="10" name="TextBox 10"/>
            <p:cNvSpPr txBox="1"/>
            <p:nvPr/>
          </p:nvSpPr>
          <p:spPr>
            <a:xfrm>
              <a:off x="1195006" y="1910001"/>
              <a:ext cx="281561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stable maps -&gt; faster + higher accuracy</a:t>
              </a:r>
            </a:p>
          </p:txBody>
        </p:sp>
        <p:sp>
          <p:nvSpPr>
            <p:cNvPr id="11" name="Rectangle 11"/>
            <p:cNvSpPr/>
            <p:nvPr/>
          </p:nvSpPr>
          <p:spPr>
            <a:xfrm>
              <a:off x="5486400" y="1828800"/>
              <a:ext cx="4476750" cy="285750"/>
            </a:xfrm>
            <a:prstGeom prst="roundRect">
              <a:avLst>
                <a:gd name="adj" fmla="val 26667"/>
              </a:avLst>
            </a:prstGeom>
            <a:solidFill>
              <a:schemeClr val="accent6"/>
            </a:solidFill>
            <a:ln w="14288">
              <a:solidFill>
                <a:srgbClr val="26455F"/>
              </a:solidFill>
            </a:ln>
          </p:spPr>
        </p:sp>
        <p:sp>
          <p:nvSpPr>
            <p:cNvPr id="12" name="Ellipse 12"/>
            <p:cNvSpPr/>
            <p:nvPr/>
          </p:nvSpPr>
          <p:spPr>
            <a:xfrm>
              <a:off x="5610225" y="1924050"/>
              <a:ext cx="95250" cy="95250"/>
            </a:xfrm>
            <a:prstGeom prst="ellipse">
              <a:avLst/>
            </a:prstGeom>
            <a:solidFill>
              <a:srgbClr val="F2685C"/>
            </a:solidFill>
            <a:ln>
              <a:noFill/>
            </a:ln>
          </p:spPr>
        </p:sp>
        <p:sp>
          <p:nvSpPr>
            <p:cNvPr id="13" name="TextBox 13"/>
            <p:cNvSpPr txBox="1"/>
            <p:nvPr/>
          </p:nvSpPr>
          <p:spPr>
            <a:xfrm>
              <a:off x="5805106" y="1910001"/>
              <a:ext cx="218744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direct map -&gt; unstable baseline</a:t>
              </a:r>
            </a:p>
          </p:txBody>
        </p:sp>
      </p:grpSp>
      <p:grpSp>
        <p:nvGrpSpPr>
          <p:cNvPr id="20" name="Group 20"/>
          <p:cNvGrpSpPr/>
          <p:nvPr/>
        </p:nvGrpSpPr>
        <p:grpSpPr>
          <a:xfrm>
            <a:off x="609600" y="2343150"/>
            <a:ext cx="3505200" cy="1905000"/>
            <a:chOff x="609600" y="2343150"/>
            <a:chExt cx="3505200" cy="1905000"/>
          </a:xfrm>
        </p:grpSpPr>
        <p:sp>
          <p:nvSpPr>
            <p:cNvPr id="15" name="Rectangle 15"/>
            <p:cNvSpPr/>
            <p:nvPr/>
          </p:nvSpPr>
          <p:spPr>
            <a:xfrm>
              <a:off x="609600" y="2343150"/>
              <a:ext cx="3505200" cy="1905000"/>
            </a:xfrm>
            <a:prstGeom prst="roundRect">
              <a:avLst>
                <a:gd name="adj" fmla="val 7000"/>
              </a:avLst>
            </a:prstGeom>
            <a:solidFill>
              <a:schemeClr val="accent5"/>
            </a:solidFill>
            <a:ln w="14288">
              <a:solidFill>
                <a:srgbClr val="26455F"/>
              </a:solidFill>
            </a:ln>
          </p:spPr>
        </p:sp>
        <p:sp>
          <p:nvSpPr>
            <p:cNvPr id="16" name="Rectangle 16"/>
            <p:cNvSpPr/>
            <p:nvPr/>
          </p:nvSpPr>
          <p:spPr>
            <a:xfrm>
              <a:off x="609600" y="2343150"/>
              <a:ext cx="3505200" cy="57150"/>
            </a:xfrm>
            <a:prstGeom prst="roundRect">
              <a:avLst>
                <a:gd name="adj" fmla="val 50000"/>
              </a:avLst>
            </a:prstGeom>
            <a:solidFill>
              <a:srgbClr val="48C78E"/>
            </a:solidFill>
            <a:ln>
              <a:noFill/>
            </a:ln>
          </p:spPr>
        </p:sp>
        <p:sp>
          <p:nvSpPr>
            <p:cNvPr id="17" name="TextBox 17"/>
            <p:cNvSpPr txBox="1"/>
            <p:nvPr/>
          </p:nvSpPr>
          <p:spPr>
            <a:xfrm>
              <a:off x="1567001" y="2917508"/>
              <a:ext cx="1590399" cy="616077"/>
            </a:xfrm>
            <a:prstGeom prst="rect">
              <a:avLst/>
            </a:prstGeom>
            <a:noFill/>
            <a:ln>
              <a:noFill/>
            </a:ln>
          </p:spPr>
          <p:txBody>
            <a:bodyPr wrap="none" lIns="0" tIns="0" rIns="0" bIns="0" anchor="t" anchorCtr="0">
              <a:spAutoFit/>
            </a:bodyPr>
            <a:lstStyle/>
            <a:p>
              <a:pPr algn="ctr"/>
              <a:r>
                <a:rPr lang="en-US" sz="3150" b="1" dirty="0">
                  <a:solidFill>
                    <a:srgbClr val="48C78E"/>
                  </a:solidFill>
                  <a:latin typeface="+mn-lt"/>
                  <a:ea typeface="+mn-ea"/>
                  <a:cs typeface="+mn-cs"/>
                </a:rPr>
                <a:t>71.36%</a:t>
              </a:r>
            </a:p>
          </p:txBody>
        </p:sp>
        <p:sp>
          <p:nvSpPr>
            <p:cNvPr id="18" name="TextBox 18"/>
            <p:cNvSpPr txBox="1"/>
            <p:nvPr/>
          </p:nvSpPr>
          <p:spPr>
            <a:xfrm>
              <a:off x="1152088" y="3495199"/>
              <a:ext cx="2420223"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softplus stable reparameterization</a:t>
              </a:r>
            </a:p>
          </p:txBody>
        </p:sp>
        <p:sp>
          <p:nvSpPr>
            <p:cNvPr id="19" name="TextBox 19"/>
            <p:cNvSpPr txBox="1"/>
            <p:nvPr/>
          </p:nvSpPr>
          <p:spPr>
            <a:xfrm>
              <a:off x="1486824" y="3761899"/>
              <a:ext cx="175075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best MNIST test accuracy</a:t>
              </a:r>
            </a:p>
          </p:txBody>
        </p:sp>
      </p:grpSp>
      <p:grpSp>
        <p:nvGrpSpPr>
          <p:cNvPr id="26" name="Group 26"/>
          <p:cNvGrpSpPr/>
          <p:nvPr/>
        </p:nvGrpSpPr>
        <p:grpSpPr>
          <a:xfrm>
            <a:off x="4343400" y="2343150"/>
            <a:ext cx="3505200" cy="1905000"/>
            <a:chOff x="4343400" y="2343150"/>
            <a:chExt cx="3505200" cy="1905000"/>
          </a:xfrm>
        </p:grpSpPr>
        <p:sp>
          <p:nvSpPr>
            <p:cNvPr id="21" name="Rectangle 21"/>
            <p:cNvSpPr/>
            <p:nvPr/>
          </p:nvSpPr>
          <p:spPr>
            <a:xfrm>
              <a:off x="4343400" y="2343150"/>
              <a:ext cx="3505200" cy="1905000"/>
            </a:xfrm>
            <a:prstGeom prst="roundRect">
              <a:avLst>
                <a:gd name="adj" fmla="val 7000"/>
              </a:avLst>
            </a:prstGeom>
            <a:solidFill>
              <a:schemeClr val="accent5"/>
            </a:solidFill>
            <a:ln w="14288">
              <a:solidFill>
                <a:srgbClr val="26455F"/>
              </a:solidFill>
            </a:ln>
          </p:spPr>
        </p:sp>
        <p:sp>
          <p:nvSpPr>
            <p:cNvPr id="22" name="Rectangle 22"/>
            <p:cNvSpPr/>
            <p:nvPr/>
          </p:nvSpPr>
          <p:spPr>
            <a:xfrm>
              <a:off x="4343400" y="2343150"/>
              <a:ext cx="3505200" cy="57150"/>
            </a:xfrm>
            <a:prstGeom prst="roundRect">
              <a:avLst>
                <a:gd name="adj" fmla="val 50000"/>
              </a:avLst>
            </a:prstGeom>
            <a:solidFill>
              <a:srgbClr val="F2685C"/>
            </a:solidFill>
            <a:ln>
              <a:noFill/>
            </a:ln>
          </p:spPr>
        </p:sp>
        <p:sp>
          <p:nvSpPr>
            <p:cNvPr id="23" name="TextBox 23"/>
            <p:cNvSpPr txBox="1"/>
            <p:nvPr/>
          </p:nvSpPr>
          <p:spPr>
            <a:xfrm>
              <a:off x="5300801" y="2917508"/>
              <a:ext cx="1590399" cy="616077"/>
            </a:xfrm>
            <a:prstGeom prst="rect">
              <a:avLst/>
            </a:prstGeom>
            <a:noFill/>
            <a:ln>
              <a:noFill/>
            </a:ln>
          </p:spPr>
          <p:txBody>
            <a:bodyPr wrap="none" lIns="0" tIns="0" rIns="0" bIns="0" anchor="t" anchorCtr="0">
              <a:spAutoFit/>
            </a:bodyPr>
            <a:lstStyle/>
            <a:p>
              <a:pPr algn="ctr"/>
              <a:r>
                <a:rPr lang="en-US" sz="3150" b="1" dirty="0">
                  <a:solidFill>
                    <a:srgbClr val="F2685C"/>
                  </a:solidFill>
                  <a:latin typeface="+mn-lt"/>
                  <a:ea typeface="+mn-ea"/>
                  <a:cs typeface="+mn-cs"/>
                </a:rPr>
                <a:t>68.47%</a:t>
              </a:r>
            </a:p>
          </p:txBody>
        </p:sp>
        <p:sp>
          <p:nvSpPr>
            <p:cNvPr id="24" name="TextBox 24"/>
            <p:cNvSpPr txBox="1"/>
            <p:nvPr/>
          </p:nvSpPr>
          <p:spPr>
            <a:xfrm>
              <a:off x="5242588" y="3495199"/>
              <a:ext cx="1706825"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direct, unstable baseline</a:t>
              </a:r>
            </a:p>
          </p:txBody>
        </p:sp>
        <p:sp>
          <p:nvSpPr>
            <p:cNvPr id="25" name="TextBox 25"/>
            <p:cNvSpPr txBox="1"/>
            <p:nvPr/>
          </p:nvSpPr>
          <p:spPr>
            <a:xfrm>
              <a:off x="5059043" y="3761899"/>
              <a:ext cx="207391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exp. &amp; inverse maps also &gt; 70%</a:t>
              </a:r>
            </a:p>
          </p:txBody>
        </p:sp>
      </p:grpSp>
      <p:grpSp>
        <p:nvGrpSpPr>
          <p:cNvPr id="32" name="Group 32"/>
          <p:cNvGrpSpPr/>
          <p:nvPr/>
        </p:nvGrpSpPr>
        <p:grpSpPr>
          <a:xfrm>
            <a:off x="8077200" y="2343150"/>
            <a:ext cx="3505200" cy="1905000"/>
            <a:chOff x="8077200" y="2343150"/>
            <a:chExt cx="3505200" cy="1905000"/>
          </a:xfrm>
        </p:grpSpPr>
        <p:sp>
          <p:nvSpPr>
            <p:cNvPr id="27" name="Rectangle 27"/>
            <p:cNvSpPr/>
            <p:nvPr/>
          </p:nvSpPr>
          <p:spPr>
            <a:xfrm>
              <a:off x="8077200" y="2343150"/>
              <a:ext cx="3505200" cy="1905000"/>
            </a:xfrm>
            <a:prstGeom prst="roundRect">
              <a:avLst>
                <a:gd name="adj" fmla="val 7000"/>
              </a:avLst>
            </a:prstGeom>
            <a:solidFill>
              <a:schemeClr val="accent5"/>
            </a:solidFill>
            <a:ln w="14288">
              <a:solidFill>
                <a:srgbClr val="26455F"/>
              </a:solidFill>
            </a:ln>
          </p:spPr>
        </p:sp>
        <p:sp>
          <p:nvSpPr>
            <p:cNvPr id="28" name="Rectangle 28"/>
            <p:cNvSpPr/>
            <p:nvPr/>
          </p:nvSpPr>
          <p:spPr>
            <a:xfrm>
              <a:off x="8077200" y="2343150"/>
              <a:ext cx="3505200" cy="57150"/>
            </a:xfrm>
            <a:prstGeom prst="roundRect">
              <a:avLst>
                <a:gd name="adj" fmla="val 50000"/>
              </a:avLst>
            </a:prstGeom>
            <a:solidFill>
              <a:srgbClr val="F2C14E"/>
            </a:solidFill>
            <a:ln>
              <a:noFill/>
            </a:ln>
          </p:spPr>
        </p:sp>
        <p:sp>
          <p:nvSpPr>
            <p:cNvPr id="29" name="TextBox 29"/>
            <p:cNvSpPr txBox="1"/>
            <p:nvPr/>
          </p:nvSpPr>
          <p:spPr>
            <a:xfrm>
              <a:off x="8915733" y="2982278"/>
              <a:ext cx="1828133" cy="498729"/>
            </a:xfrm>
            <a:prstGeom prst="rect">
              <a:avLst/>
            </a:prstGeom>
            <a:noFill/>
            <a:ln>
              <a:noFill/>
            </a:ln>
          </p:spPr>
          <p:txBody>
            <a:bodyPr wrap="none" lIns="0" tIns="0" rIns="0" bIns="0" anchor="t" anchorCtr="0">
              <a:spAutoFit/>
            </a:bodyPr>
            <a:lstStyle/>
            <a:p>
              <a:pPr algn="ctr"/>
              <a:r>
                <a:rPr lang="en-US" sz="2550" b="1" dirty="0">
                  <a:solidFill>
                    <a:srgbClr val="F2C14E"/>
                  </a:solidFill>
                  <a:latin typeface="+mn-lt"/>
                  <a:ea typeface="+mn-ea"/>
                  <a:cs typeface="+mn-cs"/>
                </a:rPr>
                <a:t>10 vs 1000</a:t>
              </a:r>
            </a:p>
          </p:txBody>
        </p:sp>
        <p:sp>
          <p:nvSpPr>
            <p:cNvPr id="30" name="TextBox 30"/>
            <p:cNvSpPr txBox="1"/>
            <p:nvPr/>
          </p:nvSpPr>
          <p:spPr>
            <a:xfrm>
              <a:off x="8640467" y="3495199"/>
              <a:ext cx="2378666"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epochs to fit exp. vs poly. memory</a:t>
              </a:r>
            </a:p>
          </p:txBody>
        </p:sp>
        <p:sp>
          <p:nvSpPr>
            <p:cNvPr id="31" name="TextBox 31"/>
            <p:cNvSpPr txBox="1"/>
            <p:nvPr/>
          </p:nvSpPr>
          <p:spPr>
            <a:xfrm>
              <a:off x="8446533" y="3761899"/>
              <a:ext cx="2766533" cy="190690"/>
            </a:xfrm>
            <a:prstGeom prst="rect">
              <a:avLst/>
            </a:prstGeom>
            <a:noFill/>
            <a:ln>
              <a:noFill/>
            </a:ln>
          </p:spPr>
          <p:txBody>
            <a:bodyPr wrap="none" lIns="0" tIns="0" rIns="0" bIns="0" anchor="t" anchorCtr="0">
              <a:spAutoFit/>
            </a:bodyPr>
            <a:lstStyle/>
            <a:p>
              <a:pPr algn="ctr"/>
              <a:r>
                <a:rPr lang="en-US" sz="980" b="1" dirty="0">
                  <a:solidFill>
                    <a:srgbClr val="6E869C"/>
                  </a:solidFill>
                  <a:latin typeface="+mn-lt"/>
                  <a:ea typeface="+mn-ea"/>
                  <a:cs typeface="+mn-cs"/>
                </a:rPr>
                <a:t>poly. targets still fail the stability test</a:t>
              </a:r>
            </a:p>
          </p:txBody>
        </p:sp>
      </p:grpSp>
      <p:sp>
        <p:nvSpPr>
          <p:cNvPr id="33" name="Rectangle 33"/>
          <p:cNvSpPr/>
          <p:nvPr/>
        </p:nvSpPr>
        <p:spPr>
          <a:xfrm>
            <a:off x="609600" y="4438650"/>
            <a:ext cx="10972800" cy="800100"/>
          </a:xfrm>
          <a:prstGeom prst="roundRect">
            <a:avLst>
              <a:gd name="adj" fmla="val 14286"/>
            </a:avLst>
          </a:prstGeom>
          <a:solidFill>
            <a:schemeClr val="accent6"/>
          </a:solidFill>
          <a:ln w="14288">
            <a:solidFill>
              <a:srgbClr val="26455F"/>
            </a:solidFill>
          </a:ln>
        </p:spPr>
        <p:txBody>
          <a:bodyPr/>
          <a:p/>
        </p:txBody>
      </p:sp>
      <p:sp>
        <p:nvSpPr>
          <p:cNvPr id="34" name="TextBox 34"/>
          <p:cNvSpPr txBox="1"/>
          <p:nvPr/>
        </p:nvSpPr>
        <p:spPr>
          <a:xfrm>
            <a:off x="870776" y="4645104"/>
            <a:ext cx="7719996" cy="212693"/>
          </a:xfrm>
          <a:prstGeom prst="rect">
            <a:avLst/>
          </a:prstGeom>
          <a:noFill/>
          <a:ln>
            <a:noFill/>
          </a:ln>
        </p:spPr>
        <p:txBody>
          <a:bodyPr wrap="none" lIns="0" tIns="0" rIns="0" bIns="0" anchor="t" anchorCtr="0">
            <a:spAutoFit/>
          </a:bodyPr>
          <a:lstStyle/>
          <a:p>
            <a:pPr algn="l"/>
            <a:r>
              <a:rPr lang="en-US" sz="1090" b="1" dirty="0">
                <a:solidFill>
                  <a:srgbClr val="48C78E"/>
                </a:solidFill>
                <a:latin typeface="+mn-lt"/>
                <a:ea typeface="+mn-ea"/>
                <a:cs typeface="+mn-cs"/>
              </a:rPr>
              <a:t>Stable reparameterization -&gt; nearly +3 points over the unstable baseline, and it converges far sooner</a:t>
            </a:r>
          </a:p>
        </p:txBody>
      </p:sp>
      <p:sp>
        <p:nvSpPr>
          <p:cNvPr id="35" name="TextBox 35"/>
          <p:cNvSpPr txBox="1"/>
          <p:nvPr/>
        </p:nvSpPr>
        <p:spPr>
          <a:xfrm>
            <a:off x="870776" y="4930854"/>
            <a:ext cx="7504210" cy="212693"/>
          </a:xfrm>
          <a:prstGeom prst="rect">
            <a:avLst/>
          </a:prstGeom>
          <a:noFill/>
          <a:ln>
            <a:noFill/>
          </a:ln>
        </p:spPr>
        <p:txBody>
          <a:bodyPr wrap="none" lIns="0" tIns="0" rIns="0" bIns="0" anchor="t" anchorCtr="0">
            <a:spAutoFit/>
          </a:bodyPr>
          <a:lstStyle/>
          <a:p>
            <a:pPr algn="l"/>
            <a:r>
              <a:rPr lang="en-US" sz="1090" b="1" dirty="0">
                <a:solidFill>
                  <a:schemeClr val="dk2"/>
                </a:solidFill>
                <a:latin typeface="+mn-lt"/>
                <a:ea typeface="+mn-ea"/>
                <a:cs typeface="+mn-cs"/>
              </a:rPr>
              <a:t>Teacher-filtering experiment uses hidden dimension 256; only exponential-memory teachers survive</a:t>
            </a:r>
          </a:p>
        </p:txBody>
      </p:sp>
      <p:sp>
        <p:nvSpPr>
          <p:cNvPr id="36" name="cue_s09_c1_few_numbers_capture_impact" title="cue_s09_c1_few_numbers_capture_impact" descr="cue_s09_c1_few_numbers_capture_impact A few numbers capture the impact."/>
          <p:cNvSpPr/>
          <p:nvPr/>
        </p:nvSpPr>
        <p:spPr>
          <a:xfrm>
            <a:off x="609600" y="1447723"/>
            <a:ext cx="10972800" cy="7050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2_mnist_trained_ten_epochs_averaged" title="cue_s09_c2_mnist_trained_ten_epochs_averaged" descr="cue_s09_c2_mnist_trained_ten_epochs_averaged On MNIST, trained for ten epochs and averaged over three runs, the softplus stable reparameterization reaches seventy one point three six percent test accuracy, compared with sixty eight point four seven percent for the direct, unstable baseline, an improvemen"/>
          <p:cNvSpPr/>
          <p:nvPr/>
        </p:nvSpPr>
        <p:spPr>
          <a:xfrm>
            <a:off x="609600"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3_exponential_inverse_stable_maps_also" title="cue_s09_c3_exponential_inverse_stable_maps_also" descr="cue_s09_c3_exponential_inverse_stable_maps_also The exponential and inverse stable maps also land above seventy percent, all beating the unstable version."/>
          <p:cNvSpPr/>
          <p:nvPr/>
        </p:nvSpPr>
        <p:spPr>
          <a:xfrm>
            <a:off x="4344009"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4_synthetic_side_exponential_memory_ta" title="cue_s09_c4_synthetic_side_exponential_memory_ta" descr="cue_s09_c4_synthetic_side_exponential_memory_ta On the synthetic side, exponential-memory targets are fit in roughly ten epochs, while polynomial-memory targets need on the order of a thousand epochs and still fail the stability test. The teacher-filtering experiment uses hidden dimension two hundred fifty"/>
          <p:cNvSpPr/>
          <p:nvPr/>
        </p:nvSpPr>
        <p:spPr>
          <a:xfrm>
            <a:off x="8077200" y="2343378"/>
            <a:ext cx="3505199"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37756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curse of memory, and its cure</a:t>
            </a:r>
          </a:p>
        </p:txBody>
      </p:sp>
      <p:grpSp>
        <p:nvGrpSpPr>
          <p:cNvPr id="12" name="Group 12"/>
          <p:cNvGrpSpPr/>
          <p:nvPr/>
        </p:nvGrpSpPr>
        <p:grpSpPr>
          <a:xfrm>
            <a:off x="609600" y="1600200"/>
            <a:ext cx="10972800" cy="1298734"/>
            <a:chOff x="609600" y="1600200"/>
            <a:chExt cx="10972800" cy="1298734"/>
          </a:xfrm>
        </p:grpSpPr>
        <p:sp>
          <p:nvSpPr>
            <p:cNvPr id="5" name="Rectangle 5"/>
            <p:cNvSpPr/>
            <p:nvPr/>
          </p:nvSpPr>
          <p:spPr>
            <a:xfrm>
              <a:off x="609600" y="1600200"/>
              <a:ext cx="10972800" cy="1123950"/>
            </a:xfrm>
            <a:prstGeom prst="roundRect">
              <a:avLst>
                <a:gd name="adj" fmla="val 11864"/>
              </a:avLst>
            </a:prstGeom>
            <a:solidFill>
              <a:schemeClr val="accent5"/>
            </a:solidFill>
            <a:ln w="14288">
              <a:solidFill>
                <a:srgbClr val="26455F"/>
              </a:solidFill>
            </a:ln>
          </p:spPr>
        </p:sp>
        <p:sp>
          <p:nvSpPr>
            <p:cNvPr id="6" name="Rectangle 6"/>
            <p:cNvSpPr/>
            <p:nvPr/>
          </p:nvSpPr>
          <p:spPr>
            <a:xfrm>
              <a:off x="609600" y="1600200"/>
              <a:ext cx="57150" cy="1123950"/>
            </a:xfrm>
            <a:prstGeom prst="roundRect">
              <a:avLst>
                <a:gd name="adj" fmla="val 50000"/>
              </a:avLst>
            </a:prstGeom>
            <a:solidFill>
              <a:schemeClr val="accent2"/>
            </a:solidFill>
            <a:ln>
              <a:noFill/>
            </a:ln>
          </p:spPr>
        </p:sp>
        <p:sp>
          <p:nvSpPr>
            <p:cNvPr id="7" name="Ellipse 7"/>
            <p:cNvSpPr/>
            <p:nvPr/>
          </p:nvSpPr>
          <p:spPr>
            <a:xfrm>
              <a:off x="971550" y="2066925"/>
              <a:ext cx="190500" cy="190500"/>
            </a:xfrm>
            <a:prstGeom prst="ellipse">
              <a:avLst/>
            </a:prstGeom>
            <a:solidFill>
              <a:schemeClr val="accent2"/>
            </a:solidFill>
            <a:ln>
              <a:noFill/>
            </a:ln>
          </p:spPr>
        </p:sp>
        <p:sp>
          <p:nvSpPr>
            <p:cNvPr id="8" name="TextBox 8"/>
            <p:cNvSpPr txBox="1"/>
            <p:nvPr/>
          </p:nvSpPr>
          <p:spPr>
            <a:xfrm>
              <a:off x="1421511" y="1903571"/>
              <a:ext cx="342307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limit baked into the architecture</a:t>
              </a:r>
            </a:p>
          </p:txBody>
        </p:sp>
        <p:sp>
          <p:nvSpPr>
            <p:cNvPr id="9" name="TextBox 9"/>
            <p:cNvSpPr txBox="1"/>
            <p:nvPr/>
          </p:nvSpPr>
          <p:spPr>
            <a:xfrm>
              <a:off x="1423035" y="2240756"/>
              <a:ext cx="671090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 matter how they are trained, plain nonlinear RNNs can only stably approximate sequence</a:t>
              </a:r>
            </a:p>
          </p:txBody>
        </p:sp>
        <p:sp>
          <p:nvSpPr>
            <p:cNvPr id="10" name="TextBox 10"/>
            <p:cNvSpPr txBox="1"/>
            <p:nvPr/>
          </p:nvSpPr>
          <p:spPr>
            <a:xfrm>
              <a:off x="1423035" y="2459831"/>
              <a:ext cx="66681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relationships whose memory fades exponentially, so the long-term-dependency struggle is</a:t>
              </a:r>
            </a:p>
          </p:txBody>
        </p:sp>
        <p:sp>
          <p:nvSpPr>
            <p:cNvPr id="11" name="TextBox 11"/>
            <p:cNvSpPr txBox="1"/>
            <p:nvPr/>
          </p:nvSpPr>
          <p:spPr>
            <a:xfrm>
              <a:off x="1423035" y="2678906"/>
              <a:ext cx="28233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intrinsic, not just an optimizer issue.</a:t>
              </a:r>
            </a:p>
          </p:txBody>
        </p:sp>
      </p:grpSp>
      <p:grpSp>
        <p:nvGrpSpPr>
          <p:cNvPr id="18" name="Group 18"/>
          <p:cNvGrpSpPr/>
          <p:nvPr/>
        </p:nvGrpSpPr>
        <p:grpSpPr>
          <a:xfrm>
            <a:off x="609600" y="2895600"/>
            <a:ext cx="10972800" cy="1123950"/>
            <a:chOff x="609600" y="2895600"/>
            <a:chExt cx="10972800" cy="1123950"/>
          </a:xfrm>
        </p:grpSpPr>
        <p:sp>
          <p:nvSpPr>
            <p:cNvPr id="13" name="Rectangle 13"/>
            <p:cNvSpPr/>
            <p:nvPr/>
          </p:nvSpPr>
          <p:spPr>
            <a:xfrm>
              <a:off x="609600" y="2895600"/>
              <a:ext cx="10972800" cy="1123950"/>
            </a:xfrm>
            <a:prstGeom prst="roundRect">
              <a:avLst>
                <a:gd name="adj" fmla="val 11864"/>
              </a:avLst>
            </a:prstGeom>
            <a:solidFill>
              <a:schemeClr val="accent5"/>
            </a:solidFill>
            <a:ln w="14288">
              <a:solidFill>
                <a:srgbClr val="26455F"/>
              </a:solidFill>
            </a:ln>
          </p:spPr>
        </p:sp>
        <p:sp>
          <p:nvSpPr>
            <p:cNvPr id="14" name="Rectangle 14"/>
            <p:cNvSpPr/>
            <p:nvPr/>
          </p:nvSpPr>
          <p:spPr>
            <a:xfrm>
              <a:off x="609600" y="2895600"/>
              <a:ext cx="57150" cy="1123950"/>
            </a:xfrm>
            <a:prstGeom prst="roundRect">
              <a:avLst>
                <a:gd name="adj" fmla="val 50000"/>
              </a:avLst>
            </a:prstGeom>
            <a:solidFill>
              <a:srgbClr val="34D3C0"/>
            </a:solidFill>
            <a:ln>
              <a:noFill/>
            </a:ln>
          </p:spPr>
        </p:sp>
        <p:sp>
          <p:nvSpPr>
            <p:cNvPr id="15" name="Ellipse 15"/>
            <p:cNvSpPr/>
            <p:nvPr/>
          </p:nvSpPr>
          <p:spPr>
            <a:xfrm>
              <a:off x="971550" y="3362325"/>
              <a:ext cx="190500" cy="190500"/>
            </a:xfrm>
            <a:prstGeom prst="ellipse">
              <a:avLst/>
            </a:prstGeom>
            <a:solidFill>
              <a:srgbClr val="34D3C0"/>
            </a:solidFill>
            <a:ln>
              <a:noFill/>
            </a:ln>
          </p:spPr>
        </p:sp>
        <p:sp>
          <p:nvSpPr>
            <p:cNvPr id="16" name="TextBox 16"/>
            <p:cNvSpPr txBox="1"/>
            <p:nvPr/>
          </p:nvSpPr>
          <p:spPr>
            <a:xfrm>
              <a:off x="1421511" y="3198971"/>
              <a:ext cx="3212591"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But the analysis points to a cure</a:t>
              </a:r>
            </a:p>
          </p:txBody>
        </p:sp>
        <p:sp>
          <p:nvSpPr>
            <p:cNvPr id="17" name="TextBox 17"/>
            <p:cNvSpPr txBox="1"/>
            <p:nvPr/>
          </p:nvSpPr>
          <p:spPr>
            <a:xfrm>
              <a:off x="1423035" y="3536156"/>
              <a:ext cx="58062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same stability argument that exposes the limit also shows how to relax it.</a:t>
              </a:r>
            </a:p>
          </p:txBody>
        </p:sp>
      </p:grpSp>
      <p:grpSp>
        <p:nvGrpSpPr>
          <p:cNvPr id="25" name="Group 25"/>
          <p:cNvGrpSpPr/>
          <p:nvPr/>
        </p:nvGrpSpPr>
        <p:grpSpPr>
          <a:xfrm>
            <a:off x="609600" y="4191000"/>
            <a:ext cx="10972800" cy="1123950"/>
            <a:chOff x="609600" y="4191000"/>
            <a:chExt cx="10972800" cy="1123950"/>
          </a:xfrm>
        </p:grpSpPr>
        <p:sp>
          <p:nvSpPr>
            <p:cNvPr id="19" name="Rectangle 19"/>
            <p:cNvSpPr/>
            <p:nvPr/>
          </p:nvSpPr>
          <p:spPr>
            <a:xfrm>
              <a:off x="609600" y="4191000"/>
              <a:ext cx="10972800" cy="1123950"/>
            </a:xfrm>
            <a:prstGeom prst="roundRect">
              <a:avLst>
                <a:gd name="adj" fmla="val 11864"/>
              </a:avLst>
            </a:prstGeom>
            <a:solidFill>
              <a:schemeClr val="accent5"/>
            </a:solidFill>
            <a:ln w="14288">
              <a:solidFill>
                <a:srgbClr val="26455F"/>
              </a:solidFill>
            </a:ln>
          </p:spPr>
        </p:sp>
        <p:sp>
          <p:nvSpPr>
            <p:cNvPr id="20" name="Rectangle 20"/>
            <p:cNvSpPr/>
            <p:nvPr/>
          </p:nvSpPr>
          <p:spPr>
            <a:xfrm>
              <a:off x="609600" y="4191000"/>
              <a:ext cx="57150" cy="1123950"/>
            </a:xfrm>
            <a:prstGeom prst="roundRect">
              <a:avLst>
                <a:gd name="adj" fmla="val 50000"/>
              </a:avLst>
            </a:prstGeom>
            <a:solidFill>
              <a:srgbClr val="48C78E"/>
            </a:solidFill>
            <a:ln>
              <a:noFill/>
            </a:ln>
          </p:spPr>
        </p:sp>
        <p:sp>
          <p:nvSpPr>
            <p:cNvPr id="21" name="Ellipse 21"/>
            <p:cNvSpPr/>
            <p:nvPr/>
          </p:nvSpPr>
          <p:spPr>
            <a:xfrm>
              <a:off x="971550" y="4657725"/>
              <a:ext cx="190500" cy="190500"/>
            </a:xfrm>
            <a:prstGeom prst="ellipse">
              <a:avLst/>
            </a:prstGeom>
            <a:solidFill>
              <a:srgbClr val="48C78E"/>
            </a:solidFill>
            <a:ln>
              <a:noFill/>
            </a:ln>
          </p:spPr>
        </p:sp>
        <p:sp>
          <p:nvSpPr>
            <p:cNvPr id="22" name="TextBox 22"/>
            <p:cNvSpPr txBox="1"/>
            <p:nvPr/>
          </p:nvSpPr>
          <p:spPr>
            <a:xfrm>
              <a:off x="1421511" y="4494371"/>
              <a:ext cx="382461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Reparameterize the recurrent weights</a:t>
              </a:r>
            </a:p>
          </p:txBody>
        </p:sp>
        <p:sp>
          <p:nvSpPr>
            <p:cNvPr id="23" name="TextBox 23"/>
            <p:cNvSpPr txBox="1"/>
            <p:nvPr/>
          </p:nvSpPr>
          <p:spPr>
            <a:xfrm>
              <a:off x="1423035" y="4831556"/>
              <a:ext cx="69973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a stable map like exponential or softplus, the network keeps eigenvalues near the edge of</a:t>
              </a:r>
            </a:p>
          </p:txBody>
        </p:sp>
        <p:sp>
          <p:nvSpPr>
            <p:cNvPr id="24" name="TextBox 24"/>
            <p:cNvSpPr txBox="1"/>
            <p:nvPr/>
          </p:nvSpPr>
          <p:spPr>
            <a:xfrm>
              <a:off x="1423035" y="5050631"/>
              <a:ext cx="695708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stability, provably relaxing the curse and, on MNIST, training faster and generalizing better.</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504" y="5890260"/>
            <a:ext cx="591067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Inverse Approximation Theory for Nonlinear Recurrent Neural Networks</a:t>
            </a:r>
          </a:p>
        </p:txBody>
      </p:sp>
      <p:sp>
        <p:nvSpPr>
          <p:cNvPr id="28" name="TextBox 28"/>
          <p:cNvSpPr txBox="1"/>
          <p:nvPr/>
        </p:nvSpPr>
        <p:spPr>
          <a:xfrm>
            <a:off x="604456" y="6177201"/>
            <a:ext cx="482962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ICLR 2024 · arXiv:2305.19190 · Microsoft Research Asia · NUS · IFIM</a:t>
            </a:r>
          </a:p>
        </p:txBody>
      </p:sp>
      <p:sp>
        <p:nvSpPr>
          <p:cNvPr id="29" name="cue_s10_c1_one_line_takeaway_matter_how_you" title="cue_s10_c1_one_line_takeaway_matter_how_you" descr="cue_s10_c1_one_line_takeaway_matter_how_you The one-line takeaway is this: no matter how you train them, plain nonlinear RNNs can only stably approximate sequence relationships whose memory fades exponentially, so their well-known struggle with long-term dependencies is baked into the architecture, not"/>
          <p:cNvSpPr/>
          <p:nvPr/>
        </p:nvSpPr>
        <p:spPr>
          <a:xfrm>
            <a:off x="609600" y="1599971"/>
            <a:ext cx="10972800" cy="129890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but_same_analysis_points_cure" title="cue_s10_c2_but_same_analysis_points_cure" descr="cue_s10_c2_but_same_analysis_points_cure But the same analysis points to the cure."/>
          <p:cNvSpPr/>
          <p:nvPr/>
        </p:nvSpPr>
        <p:spPr>
          <a:xfrm>
            <a:off x="609600" y="28954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reparameterizing_recurrent_weights_s" title="cue_s10_c3_reparameterizing_recurrent_weights_s" descr="cue_s10_c3_reparameterizing_recurrent_weights_s By reparameterizing the recurrent weights with a stable map like exponential or softplus, the network can keep eigenvalues near the edge of stability without losing it, provably relaxing the curse of memory and, on real tasks like MNIST, training faster and ge"/>
          <p:cNvSpPr/>
          <p:nvPr/>
        </p:nvSpPr>
        <p:spPr>
          <a:xfrm>
            <a:off x="609600" y="4190923"/>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2026-07-16T10:20:24Z</dcterms:created>
  <dcterms:modified xsi:type="dcterms:W3CDTF">2026-07-16T10:20:24Z</dcterms:modified>
  <cp:category/>
  <cp:contentStatus/>
</cp:coreProperties>
</file>
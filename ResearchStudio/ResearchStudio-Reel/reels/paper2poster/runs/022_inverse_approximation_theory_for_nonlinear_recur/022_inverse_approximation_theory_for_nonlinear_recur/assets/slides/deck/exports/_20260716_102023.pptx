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ree 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266" y="572452"/>
            <a:ext cx="9645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ICLR 2024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034623" y="572452"/>
            <a:ext cx="15531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MSR Asia · NUS · IFIM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8382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rnd">
            <a:solidFill>
              <a:srgbClr val="26455F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96646" y="1153478"/>
            <a:ext cx="5935565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Inverse Approximation Theory for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646" y="1553528"/>
            <a:ext cx="6541675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Nonlinear Recurrent Neural Networks</a:t>
            </a:r>
          </a:p>
        </p:txBody>
      </p:sp>
      <p:sp>
        <p:nvSpPr>
          <p:cNvPr id="7" name="Rectangle 7"/>
          <p:cNvSpPr/>
          <p:nvPr/>
        </p:nvSpPr>
        <p:spPr>
          <a:xfrm>
            <a:off x="609600" y="2057400"/>
            <a:ext cx="2209800" cy="285750"/>
          </a:xfrm>
          <a:prstGeom prst="roundRect">
            <a:avLst>
              <a:gd name="adj" fmla="val 50000"/>
            </a:avLst>
          </a:prstGeom>
          <a:solidFill>
            <a:srgbClr val="0F2E2B"/>
          </a:solidFill>
          <a:ln w="14288">
            <a:solidFill>
              <a:srgbClr val="34D3C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04807" y="2118360"/>
            <a:ext cx="20193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34D3C0"/>
                </a:solidFill>
                <a:latin typeface="+mn-lt"/>
                <a:ea typeface="+mn-ea"/>
                <a:cs typeface="+mn-cs"/>
              </a:rPr>
              <a:t>Bernstein-type theorem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66085" y="2126456"/>
            <a:ext cx="53465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efficient stable approximation forces exponentially decaying memory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3885" y="2469356"/>
            <a:ext cx="255461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E869C"/>
                </a:solidFill>
                <a:latin typeface="+mn-lt"/>
                <a:ea typeface="+mn-ea"/>
                <a:cs typeface="+mn-cs"/>
              </a:rPr>
              <a:t>Zhong Li · Shida Wang · Qianxiao Li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09600" y="2857500"/>
            <a:ext cx="2609850" cy="2152650"/>
            <a:chOff x="609600" y="2857500"/>
            <a:chExt cx="2609850" cy="2152650"/>
          </a:xfrm>
        </p:grpSpPr>
        <p:sp>
          <p:nvSpPr>
            <p:cNvPr id="11" name="Rectangle 11"/>
            <p:cNvSpPr/>
            <p:nvPr/>
          </p:nvSpPr>
          <p:spPr>
            <a:xfrm>
              <a:off x="609600" y="2857500"/>
              <a:ext cx="2609850" cy="2152650"/>
            </a:xfrm>
            <a:prstGeom prst="roundRect">
              <a:avLst>
                <a:gd name="adj" fmla="val 6195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2857500"/>
              <a:ext cx="260985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09625" y="32480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41844" y="3246358"/>
              <a:ext cx="195660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RNNs, but memory fades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006" y="3643551"/>
              <a:ext cx="188442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workhorse for sequence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4006" y="3853101"/>
              <a:ext cx="163588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data, yet RNNs famously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4006" y="4062651"/>
              <a:ext cx="20701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struggle the moment the signal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006" y="4272201"/>
              <a:ext cx="218574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carries long-term dependencies.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390900" y="2857500"/>
            <a:ext cx="2609850" cy="2152650"/>
            <a:chOff x="3390900" y="2857500"/>
            <a:chExt cx="2609850" cy="2152650"/>
          </a:xfrm>
        </p:grpSpPr>
        <p:sp>
          <p:nvSpPr>
            <p:cNvPr id="20" name="Rectangle 20"/>
            <p:cNvSpPr/>
            <p:nvPr/>
          </p:nvSpPr>
          <p:spPr>
            <a:xfrm>
              <a:off x="3390900" y="2857500"/>
              <a:ext cx="2609850" cy="2152650"/>
            </a:xfrm>
            <a:prstGeom prst="roundRect">
              <a:avLst>
                <a:gd name="adj" fmla="val 6195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90900" y="2857500"/>
              <a:ext cx="2609850" cy="571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3590925" y="3248025"/>
              <a:ext cx="133350" cy="13335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823144" y="3246358"/>
              <a:ext cx="155032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 inverse theorem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95306" y="3643551"/>
              <a:ext cx="167846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Bernstein-type result: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95306" y="3853101"/>
              <a:ext cx="182574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whatever an RNN can stably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95306" y="4062651"/>
              <a:ext cx="219254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approximate must have a memory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95306" y="4272201"/>
              <a:ext cx="186622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that decays exponentially in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95306" y="4481751"/>
              <a:ext cx="37739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time.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172200" y="2857500"/>
            <a:ext cx="2609850" cy="2152650"/>
            <a:chOff x="6172200" y="2857500"/>
            <a:chExt cx="2609850" cy="2152650"/>
          </a:xfrm>
        </p:grpSpPr>
        <p:sp>
          <p:nvSpPr>
            <p:cNvPr id="30" name="Rectangle 30"/>
            <p:cNvSpPr/>
            <p:nvPr/>
          </p:nvSpPr>
          <p:spPr>
            <a:xfrm>
              <a:off x="6172200" y="2857500"/>
              <a:ext cx="2609850" cy="2152650"/>
            </a:xfrm>
            <a:prstGeom prst="roundRect">
              <a:avLst>
                <a:gd name="adj" fmla="val 6195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172200" y="2857500"/>
              <a:ext cx="2609850" cy="571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372225" y="3248025"/>
              <a:ext cx="133350" cy="13335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04444" y="3246358"/>
              <a:ext cx="169748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Not just optimization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76606" y="3643551"/>
              <a:ext cx="205422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So the failure is a fundamental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76606" y="3853101"/>
              <a:ext cx="179774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limit of the RNN hypothesis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76606" y="4062651"/>
              <a:ext cx="200899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space, extending the curse of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76606" y="4272201"/>
              <a:ext cx="149231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memory from linear to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76606" y="4481751"/>
              <a:ext cx="69011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nonlinear.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953500" y="2857500"/>
            <a:ext cx="2609850" cy="2152650"/>
            <a:chOff x="8953500" y="2857500"/>
            <a:chExt cx="2609850" cy="2152650"/>
          </a:xfrm>
        </p:grpSpPr>
        <p:sp>
          <p:nvSpPr>
            <p:cNvPr id="40" name="Rectangle 40"/>
            <p:cNvSpPr/>
            <p:nvPr/>
          </p:nvSpPr>
          <p:spPr>
            <a:xfrm>
              <a:off x="8953500" y="2857500"/>
              <a:ext cx="2609850" cy="2152650"/>
            </a:xfrm>
            <a:prstGeom prst="roundRect">
              <a:avLst>
                <a:gd name="adj" fmla="val 6195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953500" y="2857500"/>
              <a:ext cx="2609850" cy="5715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9153525" y="3248025"/>
              <a:ext cx="133350" cy="13335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85744" y="3246358"/>
              <a:ext cx="134495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principled cure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57906" y="3643551"/>
              <a:ext cx="208130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stable reparameterization of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57906" y="3853101"/>
              <a:ext cx="216522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recurrent weights lets RNNs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57906" y="4062651"/>
              <a:ext cx="184583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escape the limit, confirmed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157906" y="4272201"/>
              <a:ext cx="190701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with numerical experiments.</a:t>
              </a:r>
            </a:p>
          </p:txBody>
        </p:sp>
      </p:grpSp>
      <p:sp>
        <p:nvSpPr>
          <p:cNvPr id="49" name="Line 49"/>
          <p:cNvSpPr/>
          <p:nvPr/>
        </p:nvSpPr>
        <p:spPr>
          <a:xfrm>
            <a:off x="609600" y="5429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rnd">
            <a:solidFill>
              <a:srgbClr val="26455F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604266" y="5658802"/>
            <a:ext cx="12940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arXiv:2305.19190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852166" y="5658802"/>
            <a:ext cx="34297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Extends the curse of memory to nonlinear RNNs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240469" y="5658802"/>
            <a:ext cx="33472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34D3C0"/>
                </a:solidFill>
                <a:latin typeface="+mn-lt"/>
                <a:ea typeface="+mn-ea"/>
                <a:cs typeface="+mn-cs"/>
              </a:rPr>
              <a:t>Stable reparameterization provably relaxes it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8827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514153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Why do RNNs fail on long memory?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09600" y="1447800"/>
            <a:ext cx="10972800" cy="1428750"/>
            <a:chOff x="609600" y="1447800"/>
            <a:chExt cx="10972800" cy="1428750"/>
          </a:xfrm>
        </p:grpSpPr>
        <p:sp>
          <p:nvSpPr>
            <p:cNvPr id="5" name="Rectangle 5"/>
            <p:cNvSpPr/>
            <p:nvPr/>
          </p:nvSpPr>
          <p:spPr>
            <a:xfrm>
              <a:off x="609600" y="1447800"/>
              <a:ext cx="109728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4780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657112"/>
              <a:ext cx="4543734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RNNs: a basic model for sequential and temporal data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585" y="1955006"/>
              <a:ext cx="72310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Recurrent networks are among the most fundamental architectures for learning from sequences,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585" y="2183606"/>
              <a:ext cx="3057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spanning a wide range of everyday tasks.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2495550"/>
              <a:ext cx="2457450" cy="285750"/>
            </a:xfrm>
            <a:prstGeom prst="roundRect">
              <a:avLst>
                <a:gd name="adj" fmla="val 26667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000125" y="2590800"/>
              <a:ext cx="95250" cy="9525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95388" y="2584847"/>
              <a:ext cx="7403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time series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448050" y="2495550"/>
              <a:ext cx="1809750" cy="285750"/>
            </a:xfrm>
            <a:prstGeom prst="roundRect">
              <a:avLst>
                <a:gd name="adj" fmla="val 26667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571875" y="2590800"/>
              <a:ext cx="95250" cy="9525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67138" y="2584847"/>
              <a:ext cx="44799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speech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72100" y="2495550"/>
              <a:ext cx="1619250" cy="285750"/>
            </a:xfrm>
            <a:prstGeom prst="roundRect">
              <a:avLst>
                <a:gd name="adj" fmla="val 26667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5495925" y="2590800"/>
              <a:ext cx="95250" cy="9525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91188" y="2584847"/>
              <a:ext cx="30183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text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105650" y="2495550"/>
              <a:ext cx="2762250" cy="285750"/>
            </a:xfrm>
            <a:prstGeom prst="roundRect">
              <a:avLst>
                <a:gd name="adj" fmla="val 26667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7229475" y="2590800"/>
              <a:ext cx="95250" cy="9525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24738" y="2584847"/>
              <a:ext cx="121864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sentiment analysis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3048000"/>
            <a:ext cx="5334000" cy="2190750"/>
            <a:chOff x="609600" y="3048000"/>
            <a:chExt cx="5334000" cy="2190750"/>
          </a:xfrm>
        </p:grpSpPr>
        <p:sp>
          <p:nvSpPr>
            <p:cNvPr id="23" name="Rectangle 23"/>
            <p:cNvSpPr/>
            <p:nvPr/>
          </p:nvSpPr>
          <p:spPr>
            <a:xfrm>
              <a:off x="609600" y="3048000"/>
              <a:ext cx="5334000" cy="2190750"/>
            </a:xfrm>
            <a:prstGeom prst="roundRect">
              <a:avLst>
                <a:gd name="adj" fmla="val 608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" y="3048000"/>
              <a:ext cx="57150" cy="21907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9823" y="3272314"/>
              <a:ext cx="26784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The long-standing observation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0776" y="3597354"/>
              <a:ext cx="4161560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Empirically, RNNs falter whenever the data has long-term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0776" y="3816429"/>
              <a:ext cx="417100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dependencies: distant inputs stop influencing the output.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76300" y="4476750"/>
              <a:ext cx="48006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000125" y="4581525"/>
              <a:ext cx="95250" cy="9525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95006" y="4567476"/>
              <a:ext cx="197329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short memory -&gt; learns fine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76300" y="4857750"/>
              <a:ext cx="48006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1000125" y="4962525"/>
              <a:ext cx="95250" cy="95250"/>
            </a:xfrm>
            <a:prstGeom prst="ellipse">
              <a:avLst/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95006" y="4948476"/>
              <a:ext cx="255863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long memory -&gt; training breaks down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48400" y="3048000"/>
            <a:ext cx="5334000" cy="2190750"/>
            <a:chOff x="6248400" y="3048000"/>
            <a:chExt cx="5334000" cy="2190750"/>
          </a:xfrm>
        </p:grpSpPr>
        <p:sp>
          <p:nvSpPr>
            <p:cNvPr id="35" name="Rectangle 35"/>
            <p:cNvSpPr/>
            <p:nvPr/>
          </p:nvSpPr>
          <p:spPr>
            <a:xfrm>
              <a:off x="6248400" y="3048000"/>
              <a:ext cx="5334000" cy="2190750"/>
            </a:xfrm>
            <a:prstGeom prst="roundRect">
              <a:avLst>
                <a:gd name="adj" fmla="val 6087"/>
              </a:avLst>
            </a:prstGeom>
            <a:solidFill>
              <a:srgbClr val="2A1720"/>
            </a:solidFill>
            <a:ln w="14288">
              <a:solidFill>
                <a:srgbClr val="F2685C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48400" y="3048000"/>
              <a:ext cx="57150" cy="2190750"/>
            </a:xfrm>
            <a:prstGeom prst="roundRect">
              <a:avLst>
                <a:gd name="adj" fmla="val 50000"/>
              </a:avLst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08814" y="3276362"/>
              <a:ext cx="1525628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The open question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09576" y="3597354"/>
              <a:ext cx="402176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Is this failure only about training dynamics, or a deeper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09576" y="3816429"/>
              <a:ext cx="2872830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limit on what RNNs can represent at all?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515100" y="4305300"/>
              <a:ext cx="48006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6638925" y="4410075"/>
              <a:ext cx="95250" cy="9525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33806" y="4396026"/>
              <a:ext cx="255863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just exploding / vanishing gradients?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515100" y="4686300"/>
              <a:ext cx="48006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6638925" y="4791075"/>
              <a:ext cx="95250" cy="95250"/>
            </a:xfrm>
            <a:prstGeom prst="ellipse">
              <a:avLst/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33806" y="4777026"/>
              <a:ext cx="277991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or a structural limitation of the model?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4076" y="5540454"/>
            <a:ext cx="6025033" cy="212693"/>
            <a:chOff x="604076" y="5540454"/>
            <a:chExt cx="6025033" cy="212693"/>
          </a:xfrm>
        </p:grpSpPr>
        <p:sp>
          <p:nvSpPr>
            <p:cNvPr id="47" name="TextBox 47"/>
            <p:cNvSpPr txBox="1"/>
            <p:nvPr/>
          </p:nvSpPr>
          <p:spPr>
            <a:xfrm>
              <a:off x="604076" y="5540454"/>
              <a:ext cx="6025033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Answering this needs an approximation-theoretic lens, not an optimization one.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118883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MOTIVATION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617124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Two directions of approximation theory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09600" y="1447800"/>
            <a:ext cx="10972800" cy="917734"/>
            <a:chOff x="609600" y="1447800"/>
            <a:chExt cx="10972800" cy="917734"/>
          </a:xfrm>
        </p:grpSpPr>
        <p:sp>
          <p:nvSpPr>
            <p:cNvPr id="5" name="Rectangle 5"/>
            <p:cNvSpPr/>
            <p:nvPr/>
          </p:nvSpPr>
          <p:spPr>
            <a:xfrm>
              <a:off x="609600" y="1447800"/>
              <a:ext cx="10972800" cy="876300"/>
            </a:xfrm>
            <a:prstGeom prst="roundRect">
              <a:avLst>
                <a:gd name="adj" fmla="val 1521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47800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585" y="1650206"/>
              <a:ext cx="2970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Forward · Jackson-type theorems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585" y="1916906"/>
              <a:ext cx="73495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Assume the target is regular, then bound how well the model can approximate it. They tell you what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585" y="2145506"/>
              <a:ext cx="17836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 architecture CAN do.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2495550"/>
            <a:ext cx="3505200" cy="1905000"/>
            <a:chOff x="609600" y="2495550"/>
            <a:chExt cx="3505200" cy="1905000"/>
          </a:xfrm>
        </p:grpSpPr>
        <p:sp>
          <p:nvSpPr>
            <p:cNvPr id="11" name="Rectangle 11"/>
            <p:cNvSpPr/>
            <p:nvPr/>
          </p:nvSpPr>
          <p:spPr>
            <a:xfrm>
              <a:off x="609600" y="2495550"/>
              <a:ext cx="3505200" cy="1905000"/>
            </a:xfrm>
            <a:prstGeom prst="roundRect">
              <a:avLst>
                <a:gd name="adj" fmla="val 7000"/>
              </a:avLst>
            </a:prstGeom>
            <a:solidFill>
              <a:srgbClr val="2A1720"/>
            </a:solidFill>
            <a:ln w="14288">
              <a:solidFill>
                <a:srgbClr val="F2685C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24955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70014" y="2762012"/>
              <a:ext cx="2163035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Inverse · Bernstein-type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0776" y="3083004"/>
              <a:ext cx="2929073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Run the other way: assume the target is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0776" y="3302079"/>
              <a:ext cx="2732998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efficiently approximable, then deduce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0776" y="3521154"/>
              <a:ext cx="2173602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what regularity it MUST have.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76300" y="3829050"/>
              <a:ext cx="29718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000125" y="3933825"/>
              <a:ext cx="95250" cy="95250"/>
            </a:xfrm>
            <a:prstGeom prst="ellipse">
              <a:avLst/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95197" y="3923824"/>
              <a:ext cx="18107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approximable -&gt; regularity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43400" y="2495550"/>
            <a:ext cx="3505200" cy="1905000"/>
            <a:chOff x="4343400" y="2495550"/>
            <a:chExt cx="3505200" cy="1905000"/>
          </a:xfrm>
        </p:grpSpPr>
        <p:sp>
          <p:nvSpPr>
            <p:cNvPr id="21" name="Rectangle 21"/>
            <p:cNvSpPr/>
            <p:nvPr/>
          </p:nvSpPr>
          <p:spPr>
            <a:xfrm>
              <a:off x="4343400" y="2495550"/>
              <a:ext cx="3505200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43400" y="24955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03814" y="2762012"/>
              <a:ext cx="1665646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Exposes hard limits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04576" y="3083004"/>
              <a:ext cx="2451787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Inverse theorems are the tool for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04576" y="3302079"/>
              <a:ext cx="2598315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fundamental limitations. Prior work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04576" y="3521154"/>
              <a:ext cx="2052866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proved one for LINEAR RNNs.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610100" y="3829050"/>
              <a:ext cx="29718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4733925" y="3933825"/>
              <a:ext cx="95250" cy="9525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928997" y="3923824"/>
              <a:ext cx="18730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linear: memory decays exp.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077200" y="2495550"/>
            <a:ext cx="3505200" cy="1905000"/>
            <a:chOff x="8077200" y="2495550"/>
            <a:chExt cx="3505200" cy="1905000"/>
          </a:xfrm>
        </p:grpSpPr>
        <p:sp>
          <p:nvSpPr>
            <p:cNvPr id="31" name="Rectangle 31"/>
            <p:cNvSpPr/>
            <p:nvPr/>
          </p:nvSpPr>
          <p:spPr>
            <a:xfrm>
              <a:off x="8077200" y="2495550"/>
              <a:ext cx="3505200" cy="1905000"/>
            </a:xfrm>
            <a:prstGeom prst="roundRect">
              <a:avLst>
                <a:gd name="adj" fmla="val 7000"/>
              </a:avLst>
            </a:prstGeom>
            <a:solidFill>
              <a:srgbClr val="0F2E2B"/>
            </a:solidFill>
            <a:ln w="14288">
              <a:solidFill>
                <a:srgbClr val="34D3C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077200" y="24955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337614" y="2762012"/>
              <a:ext cx="1867236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The pressing question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8376" y="3083004"/>
              <a:ext cx="2913638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Nonlinearity greatly increases capacity.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8376" y="3302079"/>
              <a:ext cx="2527348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Would adding it BREAK this curse of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8376" y="3521154"/>
              <a:ext cx="634676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memory?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43900" y="3829050"/>
              <a:ext cx="29718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467725" y="3933825"/>
              <a:ext cx="95250" cy="9525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662797" y="3923824"/>
              <a:ext cx="19007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does nonlinearity escape it?</a:t>
              </a:r>
            </a:p>
          </p:txBody>
        </p:sp>
      </p:grpSp>
      <p:sp>
        <p:nvSpPr>
          <p:cNvPr id="41" name="Rectangle 41"/>
          <p:cNvSpPr/>
          <p:nvPr/>
        </p:nvSpPr>
        <p:spPr>
          <a:xfrm>
            <a:off x="609600" y="4629150"/>
            <a:ext cx="10972800" cy="609600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4288">
            <a:solidFill>
              <a:srgbClr val="26455F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870394" y="4865608"/>
            <a:ext cx="7388239" cy="2273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6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This paper settles it: the curse of memory survives the jump from linear to nonlinear RNNs.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139286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CONTRIBUTION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528239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Two tools, one theorem, one cure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09600" y="1600200"/>
            <a:ext cx="2609850" cy="3619500"/>
            <a:chOff x="609600" y="1600200"/>
            <a:chExt cx="2609850" cy="3619500"/>
          </a:xfrm>
        </p:grpSpPr>
        <p:sp>
          <p:nvSpPr>
            <p:cNvPr id="5" name="Rectangle 5"/>
            <p:cNvSpPr/>
            <p:nvPr/>
          </p:nvSpPr>
          <p:spPr>
            <a:xfrm>
              <a:off x="609600" y="1600200"/>
              <a:ext cx="2609850" cy="3619500"/>
            </a:xfrm>
            <a:prstGeom prst="roundRect">
              <a:avLst>
                <a:gd name="adj" fmla="val 5109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600200"/>
              <a:ext cx="260985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38200" y="2038350"/>
              <a:ext cx="495300" cy="495300"/>
            </a:xfrm>
            <a:prstGeom prst="ellipse">
              <a:avLst/>
            </a:pr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3552" y="21545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50392" y="2807018"/>
              <a:ext cx="1575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Memory function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2106" y="3224451"/>
              <a:ext cx="19523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Extends the memory function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2106" y="3434001"/>
              <a:ext cx="147872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from linear to general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2106" y="3643551"/>
              <a:ext cx="133595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nonlinear functional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2106" y="3853101"/>
              <a:ext cx="163508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sequences, and it can be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2106" y="4062651"/>
              <a:ext cx="16690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numerically quantified by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2106" y="4272201"/>
              <a:ext cx="170306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querying a trained model.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390900" y="1600200"/>
            <a:ext cx="2609850" cy="3619500"/>
            <a:chOff x="3390900" y="1600200"/>
            <a:chExt cx="2609850" cy="3619500"/>
          </a:xfrm>
        </p:grpSpPr>
        <p:sp>
          <p:nvSpPr>
            <p:cNvPr id="17" name="Rectangle 17"/>
            <p:cNvSpPr/>
            <p:nvPr/>
          </p:nvSpPr>
          <p:spPr>
            <a:xfrm>
              <a:off x="3390900" y="1600200"/>
              <a:ext cx="2609850" cy="3619500"/>
            </a:xfrm>
            <a:prstGeom prst="roundRect">
              <a:avLst>
                <a:gd name="adj" fmla="val 5109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390900" y="1600200"/>
              <a:ext cx="2609850" cy="571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619500" y="2038350"/>
              <a:ext cx="495300" cy="495300"/>
            </a:xfrm>
            <a:prstGeom prst="ellipse">
              <a:avLst/>
            </a:prstGeom>
            <a:noFill/>
            <a:ln w="23812">
              <a:solidFill>
                <a:srgbClr val="34D3C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74852" y="21545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31692" y="2807018"/>
              <a:ext cx="19659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Stable approximation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33406" y="3224451"/>
              <a:ext cx="206784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mild framework requiring the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33406" y="3434001"/>
              <a:ext cx="150591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approximant to behave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33406" y="3643551"/>
              <a:ext cx="162828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continuously under small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33406" y="3853101"/>
              <a:ext cx="176425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parameter perturbations,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33406" y="4062651"/>
              <a:ext cx="203618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exactly what gradient descent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33406" y="4272201"/>
              <a:ext cx="4589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needs.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172200" y="1600200"/>
            <a:ext cx="2609850" cy="3619500"/>
            <a:chOff x="6172200" y="1600200"/>
            <a:chExt cx="2609850" cy="3619500"/>
          </a:xfrm>
        </p:grpSpPr>
        <p:sp>
          <p:nvSpPr>
            <p:cNvPr id="29" name="Rectangle 29"/>
            <p:cNvSpPr/>
            <p:nvPr/>
          </p:nvSpPr>
          <p:spPr>
            <a:xfrm>
              <a:off x="6172200" y="1600200"/>
              <a:ext cx="2609850" cy="3619500"/>
            </a:xfrm>
            <a:prstGeom prst="roundRect">
              <a:avLst>
                <a:gd name="adj" fmla="val 5109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172200" y="1600200"/>
              <a:ext cx="2609850" cy="571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400800" y="2038350"/>
              <a:ext cx="495300" cy="495300"/>
            </a:xfrm>
            <a:prstGeom prst="ellipse">
              <a:avLst/>
            </a:prstGeom>
            <a:noFill/>
            <a:ln w="23812">
              <a:solidFill>
                <a:srgbClr val="F2C14E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56152" y="21545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12992" y="2807018"/>
              <a:ext cx="1746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Bernstein theorem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14706" y="3224451"/>
              <a:ext cx="179602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Using both tools, the first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14706" y="3434001"/>
              <a:ext cx="199971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Bernstein-type approximation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14706" y="3643551"/>
              <a:ext cx="190047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theorem for nonlinear RNNs,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14706" y="3853101"/>
              <a:ext cx="16690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believed to be new to the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14706" y="4062651"/>
              <a:ext cx="76489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literature.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953500" y="1600200"/>
            <a:ext cx="2609850" cy="3619500"/>
            <a:chOff x="8953500" y="1600200"/>
            <a:chExt cx="2609850" cy="3619500"/>
          </a:xfrm>
        </p:grpSpPr>
        <p:sp>
          <p:nvSpPr>
            <p:cNvPr id="40" name="Rectangle 40"/>
            <p:cNvSpPr/>
            <p:nvPr/>
          </p:nvSpPr>
          <p:spPr>
            <a:xfrm>
              <a:off x="8953500" y="1600200"/>
              <a:ext cx="2609850" cy="3619500"/>
            </a:xfrm>
            <a:prstGeom prst="roundRect">
              <a:avLst>
                <a:gd name="adj" fmla="val 5109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953500" y="1600200"/>
              <a:ext cx="2609850" cy="5715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9182100" y="2038350"/>
              <a:ext cx="495300" cy="495300"/>
            </a:xfrm>
            <a:prstGeom prst="ellipse">
              <a:avLst/>
            </a:prstGeom>
            <a:noFill/>
            <a:ln w="23812">
              <a:solidFill>
                <a:srgbClr val="48C78E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37452" y="21545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94292" y="2807018"/>
              <a:ext cx="14027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Principled cure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96006" y="3224451"/>
              <a:ext cx="159274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 top of the theory, 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96006" y="3434001"/>
              <a:ext cx="217215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reparameterization method that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196006" y="3643551"/>
              <a:ext cx="173025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overcomes the limitation,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96006" y="3853101"/>
              <a:ext cx="153990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confirmed by numerical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96006" y="4062651"/>
              <a:ext cx="90086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experiments.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604076" y="5521404"/>
            <a:ext cx="7696869" cy="2126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9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Memory + stability are the ingredients; the theorem is the result; the reparameterization is the fix.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7640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METHOD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607664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From a memory function to a stable fix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09600" y="1447800"/>
            <a:ext cx="5410200" cy="1885950"/>
            <a:chOff x="609600" y="1447800"/>
            <a:chExt cx="5410200" cy="1885950"/>
          </a:xfrm>
        </p:grpSpPr>
        <p:sp>
          <p:nvSpPr>
            <p:cNvPr id="5" name="Rectangle 5"/>
            <p:cNvSpPr/>
            <p:nvPr/>
          </p:nvSpPr>
          <p:spPr>
            <a:xfrm>
              <a:off x="609600" y="1447800"/>
              <a:ext cx="5410200" cy="1885950"/>
            </a:xfrm>
            <a:prstGeom prst="roundRect">
              <a:avLst>
                <a:gd name="adj" fmla="val 7071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47800"/>
              <a:ext cx="57150" cy="18859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676162"/>
              <a:ext cx="3392987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 · Memory function for nonlinear maps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776" y="1978104"/>
              <a:ext cx="3902197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Over Heaviside step inputs, measure how strongly the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776" y="2187654"/>
              <a:ext cx="311451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output at time t still depends on the input.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2514600"/>
              <a:ext cx="4876800" cy="552450"/>
            </a:xfrm>
            <a:prstGeom prst="roundRect">
              <a:avLst>
                <a:gd name="adj" fmla="val 13793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124986" y="2648902"/>
              <a:ext cx="23794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M(t) = | d y(t) / d (step input) |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67951" y="2870597"/>
              <a:ext cx="269349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task-independent · numerically queryable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172200" y="1447800"/>
            <a:ext cx="5410200" cy="1885950"/>
            <a:chOff x="6172200" y="1447800"/>
            <a:chExt cx="5410200" cy="1885950"/>
          </a:xfrm>
        </p:grpSpPr>
        <p:sp>
          <p:nvSpPr>
            <p:cNvPr id="14" name="Rectangle 14"/>
            <p:cNvSpPr/>
            <p:nvPr/>
          </p:nvSpPr>
          <p:spPr>
            <a:xfrm>
              <a:off x="6172200" y="1447800"/>
              <a:ext cx="5410200" cy="1885950"/>
            </a:xfrm>
            <a:prstGeom prst="roundRect">
              <a:avLst>
                <a:gd name="adj" fmla="val 7071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172200" y="1447800"/>
              <a:ext cx="57150" cy="18859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32614" y="1676162"/>
              <a:ext cx="2104562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2 · Stable approximation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33566" y="1982152"/>
              <a:ext cx="42491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Perturbation error at width m: the worst output error when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33566" y="2191702"/>
              <a:ext cx="31415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parameters move inside a ball of radius beta.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438900" y="2571750"/>
              <a:ext cx="4876800" cy="552450"/>
            </a:xfrm>
            <a:prstGeom prst="roundRect">
              <a:avLst>
                <a:gd name="adj" fmla="val 13793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60216" y="2695099"/>
              <a:ext cx="36341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E_m(beta) = max_{||dW|| &lt;= beta} || y - y_perturbed ||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32410" y="2908697"/>
              <a:ext cx="328978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stable if E_m stays continuous up to some beta &gt; 0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3448050"/>
            <a:ext cx="5410200" cy="1885950"/>
            <a:chOff x="609600" y="3448050"/>
            <a:chExt cx="5410200" cy="1885950"/>
          </a:xfrm>
        </p:grpSpPr>
        <p:sp>
          <p:nvSpPr>
            <p:cNvPr id="23" name="Rectangle 23"/>
            <p:cNvSpPr/>
            <p:nvPr/>
          </p:nvSpPr>
          <p:spPr>
            <a:xfrm>
              <a:off x="609600" y="3448050"/>
              <a:ext cx="5410200" cy="1885950"/>
            </a:xfrm>
            <a:prstGeom prst="roundRect">
              <a:avLst>
                <a:gd name="adj" fmla="val 7071"/>
              </a:avLst>
            </a:prstGeom>
            <a:solidFill>
              <a:srgbClr val="0F2E2B"/>
            </a:solidFill>
            <a:ln w="14288">
              <a:solidFill>
                <a:srgbClr val="34D3C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" y="3448050"/>
              <a:ext cx="57150" cy="188595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0014" y="3676412"/>
              <a:ext cx="2052536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3 · The central theorem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0966" y="3982402"/>
              <a:ext cx="40293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If a target is stably approximated by RNNs with controlled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0966" y="4191952"/>
              <a:ext cx="32882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weights, its memory MUST decay exponentially.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76300" y="4572000"/>
              <a:ext cx="48768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000125" y="4676775"/>
              <a:ext cx="95250" cy="9525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95197" y="4666774"/>
              <a:ext cx="28288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stability -&gt; hidden-state derivatives -&gt; 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76300" y="4933950"/>
              <a:ext cx="48768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1000125" y="5038725"/>
              <a:ext cx="95250" cy="9525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95197" y="5028724"/>
              <a:ext cx="27965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Hartman-Grobman bounds the eigenvalues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172200" y="3448050"/>
            <a:ext cx="5410200" cy="1885950"/>
            <a:chOff x="6172200" y="3448050"/>
            <a:chExt cx="5410200" cy="1885950"/>
          </a:xfrm>
        </p:grpSpPr>
        <p:sp>
          <p:nvSpPr>
            <p:cNvPr id="35" name="Rectangle 35"/>
            <p:cNvSpPr/>
            <p:nvPr/>
          </p:nvSpPr>
          <p:spPr>
            <a:xfrm>
              <a:off x="6172200" y="3448050"/>
              <a:ext cx="5410200" cy="1885950"/>
            </a:xfrm>
            <a:prstGeom prst="roundRect">
              <a:avLst>
                <a:gd name="adj" fmla="val 7071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172200" y="3448050"/>
              <a:ext cx="57150" cy="18859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32614" y="3676412"/>
              <a:ext cx="2586411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4 · Stable reparameterization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33566" y="3982402"/>
              <a:ext cx="42276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Replace the recurrent weight with a map that always lands in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33566" y="4191952"/>
              <a:ext cx="26256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stable, negative-real-part matrices.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38900" y="4572000"/>
              <a:ext cx="48768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6562725" y="4676775"/>
              <a:ext cx="95250" cy="9525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57797" y="4666774"/>
              <a:ext cx="2240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 = f(theta), Re(eig) &lt; 0 always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38900" y="4933950"/>
              <a:ext cx="48768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6562725" y="5038725"/>
              <a:ext cx="95250" cy="9525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57797" y="5028724"/>
              <a:ext cx="26972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exponential / softplus maps stay stable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21906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DATASET / BENCHMARK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583768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Synthetic targets and two real tasks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09600" y="1447800"/>
            <a:ext cx="10972800" cy="917734"/>
            <a:chOff x="609600" y="1447800"/>
            <a:chExt cx="10972800" cy="917734"/>
          </a:xfrm>
        </p:grpSpPr>
        <p:sp>
          <p:nvSpPr>
            <p:cNvPr id="5" name="Rectangle 5"/>
            <p:cNvSpPr/>
            <p:nvPr/>
          </p:nvSpPr>
          <p:spPr>
            <a:xfrm>
              <a:off x="609600" y="1447800"/>
              <a:ext cx="10972800" cy="762000"/>
            </a:xfrm>
            <a:prstGeom prst="roundRect">
              <a:avLst>
                <a:gd name="adj" fmla="val 17500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4780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585" y="1650206"/>
              <a:ext cx="36089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Experiments span synthetic and real data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585" y="1916906"/>
              <a:ext cx="7487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Controlled synthetic targets probe the theory directly; real tasks test memory and the optimization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585" y="2145506"/>
              <a:ext cx="13985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benefit of the fix.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2400300"/>
            <a:ext cx="5334000" cy="1771650"/>
            <a:chOff x="609600" y="2400300"/>
            <a:chExt cx="5334000" cy="1771650"/>
          </a:xfrm>
        </p:grpSpPr>
        <p:sp>
          <p:nvSpPr>
            <p:cNvPr id="11" name="Rectangle 11"/>
            <p:cNvSpPr/>
            <p:nvPr/>
          </p:nvSpPr>
          <p:spPr>
            <a:xfrm>
              <a:off x="609600" y="2400300"/>
              <a:ext cx="5334000" cy="1771650"/>
            </a:xfrm>
            <a:prstGeom prst="roundRect">
              <a:avLst>
                <a:gd name="adj" fmla="val 752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2400300"/>
              <a:ext cx="57150" cy="1771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70014" y="2628662"/>
              <a:ext cx="2498117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Synthetic functional targets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76300" y="2933700"/>
              <a:ext cx="48006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00125" y="30384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95006" y="3024426"/>
              <a:ext cx="180198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linear &amp; nonlinear targets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76300" y="3314700"/>
              <a:ext cx="234315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000125" y="3419475"/>
              <a:ext cx="95250" cy="9525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95388" y="3413522"/>
              <a:ext cx="123857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exp. decay memory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333750" y="3314700"/>
              <a:ext cx="234315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3457575" y="3419475"/>
              <a:ext cx="95250" cy="95250"/>
            </a:xfrm>
            <a:prstGeom prst="ellipse">
              <a:avLst/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652838" y="3413522"/>
              <a:ext cx="127843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poly. decay memory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1347" y="3933349"/>
              <a:ext cx="35615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Sweep the hidden dimension m from about 2 up to 64.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48400" y="2400300"/>
            <a:ext cx="5334000" cy="1771650"/>
            <a:chOff x="6248400" y="2400300"/>
            <a:chExt cx="5334000" cy="1771650"/>
          </a:xfrm>
        </p:grpSpPr>
        <p:sp>
          <p:nvSpPr>
            <p:cNvPr id="25" name="Rectangle 25"/>
            <p:cNvSpPr/>
            <p:nvPr/>
          </p:nvSpPr>
          <p:spPr>
            <a:xfrm>
              <a:off x="6248400" y="2400300"/>
              <a:ext cx="5334000" cy="1771650"/>
            </a:xfrm>
            <a:prstGeom prst="roundRect">
              <a:avLst>
                <a:gd name="adj" fmla="val 752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48400" y="2400300"/>
              <a:ext cx="57150" cy="17716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08814" y="2628662"/>
              <a:ext cx="2497917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Randomly initialized teachers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515100" y="2933700"/>
              <a:ext cx="2343150" cy="990600"/>
            </a:xfrm>
            <a:prstGeom prst="roundRect">
              <a:avLst>
                <a:gd name="adj" fmla="val 11538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76354" y="3173540"/>
              <a:ext cx="6206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51438" y="3620929"/>
              <a:ext cx="12704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teacher hidden dim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972550" y="2933700"/>
              <a:ext cx="2343150" cy="990600"/>
            </a:xfrm>
            <a:prstGeom prst="roundRect">
              <a:avLst>
                <a:gd name="adj" fmla="val 11538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686777" y="3270694"/>
              <a:ext cx="9146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student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4117" y="3620929"/>
              <a:ext cx="13600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RNN approximates it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10147" y="3971449"/>
              <a:ext cx="25632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Filter teachers by the stability test.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9600" y="4362450"/>
            <a:ext cx="10972800" cy="876300"/>
            <a:chOff x="609600" y="4362450"/>
            <a:chExt cx="10972800" cy="876300"/>
          </a:xfrm>
        </p:grpSpPr>
        <p:sp>
          <p:nvSpPr>
            <p:cNvPr id="36" name="Rectangle 36"/>
            <p:cNvSpPr/>
            <p:nvPr/>
          </p:nvSpPr>
          <p:spPr>
            <a:xfrm>
              <a:off x="609600" y="4362450"/>
              <a:ext cx="10972800" cy="876300"/>
            </a:xfrm>
            <a:prstGeom prst="roundRect">
              <a:avLst>
                <a:gd name="adj" fmla="val 1521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9600" y="4362450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0204" y="4556760"/>
              <a:ext cx="48776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Real data · query memory and test the reparameterization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76300" y="4819650"/>
              <a:ext cx="447675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000125" y="4924425"/>
              <a:ext cx="95250" cy="9525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95006" y="4910376"/>
              <a:ext cx="225595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LSTM memory on IMDB sentiment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486400" y="4819650"/>
              <a:ext cx="447675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5610225" y="49244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805106" y="4910376"/>
              <a:ext cx="258636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nonlinear RNN on MNIST classification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11302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KEY 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755463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Stable approximation forces exponential memory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09600" y="1447800"/>
            <a:ext cx="10972800" cy="923972"/>
            <a:chOff x="609600" y="1447800"/>
            <a:chExt cx="10972800" cy="923972"/>
          </a:xfrm>
        </p:grpSpPr>
        <p:sp>
          <p:nvSpPr>
            <p:cNvPr id="5" name="Rectangle 5"/>
            <p:cNvSpPr/>
            <p:nvPr/>
          </p:nvSpPr>
          <p:spPr>
            <a:xfrm>
              <a:off x="609600" y="1447800"/>
              <a:ext cx="10972800" cy="914400"/>
            </a:xfrm>
            <a:prstGeom prst="roundRect">
              <a:avLst>
                <a:gd name="adj" fmla="val 1458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47800"/>
              <a:ext cx="57150" cy="91440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638062"/>
              <a:ext cx="3471418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The headline · a clean inverse statement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776" y="1940004"/>
              <a:ext cx="7697948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If a nonlinear RNN can stably approximate a target sequence relationship, then that target's memory must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776" y="2159079"/>
              <a:ext cx="1478407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decay exponentially.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305800" y="1600200"/>
              <a:ext cx="3124200" cy="609600"/>
            </a:xfrm>
            <a:prstGeom prst="roundRect">
              <a:avLst>
                <a:gd name="adj" fmla="val 125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173918" y="1757601"/>
              <a:ext cx="138796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stably approximable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141796" y="1948101"/>
              <a:ext cx="145220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b="1" dirty="0">
                  <a:solidFill>
                    <a:srgbClr val="48C78E"/>
                  </a:solidFill>
                  <a:latin typeface="Consolas"/>
                  <a:ea typeface="Consolas"/>
                  <a:cs typeface="Consolas"/>
                </a:rPr>
                <a:t>=&gt; memory ~ exp(-t)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2533650"/>
            <a:ext cx="5334000" cy="2705100"/>
            <a:chOff x="609600" y="2533650"/>
            <a:chExt cx="5334000" cy="2705100"/>
          </a:xfrm>
        </p:grpSpPr>
        <p:sp>
          <p:nvSpPr>
            <p:cNvPr id="14" name="Rectangle 14"/>
            <p:cNvSpPr/>
            <p:nvPr/>
          </p:nvSpPr>
          <p:spPr>
            <a:xfrm>
              <a:off x="609600" y="2533650"/>
              <a:ext cx="5334000" cy="2705100"/>
            </a:xfrm>
            <a:prstGeom prst="roundRect">
              <a:avLst>
                <a:gd name="adj" fmla="val 4930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" y="2533650"/>
              <a:ext cx="57150" cy="270510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0394" y="2770108"/>
              <a:ext cx="331273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An intrinsic limit, not a training artifact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0776" y="3083004"/>
              <a:ext cx="4080526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This extends the linear curse of memory to the nonlinear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0776" y="3302079"/>
              <a:ext cx="407563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regime, so the long-term-dependency failure lives in the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0776" y="3521154"/>
              <a:ext cx="2065108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RNN hypothesis space itself.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76300" y="4191000"/>
              <a:ext cx="4800600" cy="323850"/>
            </a:xfrm>
            <a:prstGeom prst="roundRect">
              <a:avLst>
                <a:gd name="adj" fmla="val 23529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000125" y="4305300"/>
              <a:ext cx="95250" cy="9525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95006" y="4291251"/>
              <a:ext cx="290840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teacher filter: only survivors decay exp.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1156" y="4653201"/>
              <a:ext cx="448086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Keeping only teachers that are both approximable AND stable leaves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1156" y="4843701"/>
              <a:ext cx="255285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exactly the exponential-memory ones.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248400" y="2533650"/>
            <a:ext cx="5334000" cy="2705100"/>
            <a:chOff x="6248400" y="2533650"/>
            <a:chExt cx="5334000" cy="2705100"/>
          </a:xfrm>
        </p:grpSpPr>
        <p:sp>
          <p:nvSpPr>
            <p:cNvPr id="26" name="Rectangle 26"/>
            <p:cNvSpPr/>
            <p:nvPr/>
          </p:nvSpPr>
          <p:spPr>
            <a:xfrm>
              <a:off x="6248400" y="2533650"/>
              <a:ext cx="5334000" cy="2705100"/>
            </a:xfrm>
            <a:prstGeom prst="roundRect">
              <a:avLst>
                <a:gd name="adj" fmla="val 4930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48400" y="2533650"/>
              <a:ext cx="57150" cy="2705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09194" y="2770108"/>
              <a:ext cx="3583704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Poly-memory: curves intersect further left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667500" y="3105150"/>
              <a:ext cx="4629150" cy="1866900"/>
            </a:xfrm>
            <a:prstGeom prst="roundRect">
              <a:avLst>
                <a:gd name="adj" fmla="val 5102"/>
              </a:avLst>
            </a:prstGeom>
            <a:solidFill>
              <a:srgbClr val="0E2334"/>
            </a:solidFill>
            <a:ln w="14288">
              <a:solidFill>
                <a:srgbClr val="26455F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7105650" y="3238500"/>
              <a:ext cx="9525" cy="1371600"/>
            </a:xfrm>
            <a:custGeom>
              <a:avLst/>
              <a:gdLst/>
              <a:ahLst/>
              <a:cxnLst/>
              <a:rect l="l" t="t" r="r" b="b"/>
              <a:pathLst>
                <a:path w="9525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/>
            <a:ln w="14288" cap="rnd">
              <a:solidFill>
                <a:srgbClr val="26455F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7105650" y="4610100"/>
              <a:ext cx="3943350" cy="9525"/>
            </a:xfrm>
            <a:custGeom>
              <a:avLst/>
              <a:gdLst/>
              <a:ahLst/>
              <a:cxnLst/>
              <a:rect l="l" t="t" r="r" b="b"/>
              <a:pathLst>
                <a:path w="3943350" h="9525">
                  <a:moveTo>
                    <a:pt x="0" y="0"/>
                  </a:moveTo>
                  <a:lnTo>
                    <a:pt x="3943350" y="0"/>
                  </a:lnTo>
                </a:path>
              </a:pathLst>
            </a:custGeom>
            <a:noFill/>
            <a:ln w="14288" cap="rnd">
              <a:solidFill>
                <a:srgbClr val="26455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85139" y="3225641"/>
              <a:ext cx="2300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E_m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41888" y="455914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69013" y="469249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910519" y="4688443"/>
              <a:ext cx="27696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beta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35785" y="4840843"/>
              <a:ext cx="149258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perturbation radius beta</a:t>
              </a:r>
            </a:p>
          </p:txBody>
        </p:sp>
        <p:sp>
          <p:nvSpPr>
            <p:cNvPr id="37" name="Polyline 37"/>
            <p:cNvSpPr/>
            <p:nvPr/>
          </p:nvSpPr>
          <p:spPr>
            <a:xfrm>
              <a:off x="7105650" y="3483550"/>
              <a:ext cx="3943350" cy="1025791"/>
            </a:xfrm>
            <a:custGeom>
              <a:avLst/>
              <a:gdLst/>
              <a:ahLst/>
              <a:cxnLst/>
              <a:rect l="l" t="t" r="r" b="b"/>
              <a:pathLst>
                <a:path w="3943350" h="1025791">
                  <a:moveTo>
                    <a:pt x="0" y="1025791"/>
                  </a:moveTo>
                  <a:lnTo>
                    <a:pt x="39433" y="1025765"/>
                  </a:lnTo>
                  <a:lnTo>
                    <a:pt x="78867" y="1025734"/>
                  </a:lnTo>
                  <a:lnTo>
                    <a:pt x="118300" y="1025700"/>
                  </a:lnTo>
                  <a:lnTo>
                    <a:pt x="157734" y="1025660"/>
                  </a:lnTo>
                  <a:lnTo>
                    <a:pt x="197168" y="1025613"/>
                  </a:lnTo>
                  <a:lnTo>
                    <a:pt x="236601" y="1025560"/>
                  </a:lnTo>
                  <a:lnTo>
                    <a:pt x="276035" y="1025500"/>
                  </a:lnTo>
                  <a:lnTo>
                    <a:pt x="315468" y="1025429"/>
                  </a:lnTo>
                  <a:lnTo>
                    <a:pt x="354901" y="1025349"/>
                  </a:lnTo>
                  <a:lnTo>
                    <a:pt x="394335" y="1025256"/>
                  </a:lnTo>
                  <a:lnTo>
                    <a:pt x="433768" y="1025150"/>
                  </a:lnTo>
                  <a:lnTo>
                    <a:pt x="473202" y="1025027"/>
                  </a:lnTo>
                  <a:lnTo>
                    <a:pt x="512636" y="1024886"/>
                  </a:lnTo>
                  <a:lnTo>
                    <a:pt x="552069" y="1024724"/>
                  </a:lnTo>
                  <a:lnTo>
                    <a:pt x="591503" y="1024537"/>
                  </a:lnTo>
                  <a:lnTo>
                    <a:pt x="630936" y="1024323"/>
                  </a:lnTo>
                  <a:lnTo>
                    <a:pt x="670370" y="1024076"/>
                  </a:lnTo>
                  <a:lnTo>
                    <a:pt x="709803" y="1023793"/>
                  </a:lnTo>
                  <a:lnTo>
                    <a:pt x="749236" y="1023467"/>
                  </a:lnTo>
                  <a:lnTo>
                    <a:pt x="788670" y="1023093"/>
                  </a:lnTo>
                  <a:lnTo>
                    <a:pt x="828104" y="1022662"/>
                  </a:lnTo>
                  <a:lnTo>
                    <a:pt x="867537" y="1022168"/>
                  </a:lnTo>
                  <a:lnTo>
                    <a:pt x="906971" y="1021599"/>
                  </a:lnTo>
                  <a:lnTo>
                    <a:pt x="946404" y="1020946"/>
                  </a:lnTo>
                  <a:lnTo>
                    <a:pt x="985838" y="1020196"/>
                  </a:lnTo>
                  <a:lnTo>
                    <a:pt x="1025271" y="1019335"/>
                  </a:lnTo>
                  <a:lnTo>
                    <a:pt x="1064704" y="1018346"/>
                  </a:lnTo>
                  <a:lnTo>
                    <a:pt x="1104138" y="1017210"/>
                  </a:lnTo>
                  <a:lnTo>
                    <a:pt x="1143571" y="1015907"/>
                  </a:lnTo>
                  <a:lnTo>
                    <a:pt x="1183005" y="1014413"/>
                  </a:lnTo>
                  <a:lnTo>
                    <a:pt x="1222439" y="1012699"/>
                  </a:lnTo>
                  <a:lnTo>
                    <a:pt x="1261872" y="1010734"/>
                  </a:lnTo>
                  <a:lnTo>
                    <a:pt x="1301306" y="1008484"/>
                  </a:lnTo>
                  <a:lnTo>
                    <a:pt x="1340739" y="1005908"/>
                  </a:lnTo>
                  <a:lnTo>
                    <a:pt x="1380172" y="1002961"/>
                  </a:lnTo>
                  <a:lnTo>
                    <a:pt x="1419606" y="999593"/>
                  </a:lnTo>
                  <a:lnTo>
                    <a:pt x="1459040" y="995746"/>
                  </a:lnTo>
                  <a:lnTo>
                    <a:pt x="1498473" y="991357"/>
                  </a:lnTo>
                  <a:lnTo>
                    <a:pt x="1537907" y="986356"/>
                  </a:lnTo>
                  <a:lnTo>
                    <a:pt x="1577340" y="980665"/>
                  </a:lnTo>
                  <a:lnTo>
                    <a:pt x="1616774" y="974199"/>
                  </a:lnTo>
                  <a:lnTo>
                    <a:pt x="1656207" y="966866"/>
                  </a:lnTo>
                  <a:lnTo>
                    <a:pt x="1695640" y="958565"/>
                  </a:lnTo>
                  <a:lnTo>
                    <a:pt x="1735074" y="949191"/>
                  </a:lnTo>
                  <a:lnTo>
                    <a:pt x="1774507" y="938631"/>
                  </a:lnTo>
                  <a:lnTo>
                    <a:pt x="1813941" y="926769"/>
                  </a:lnTo>
                  <a:lnTo>
                    <a:pt x="1853374" y="913489"/>
                  </a:lnTo>
                  <a:lnTo>
                    <a:pt x="1892808" y="898673"/>
                  </a:lnTo>
                  <a:lnTo>
                    <a:pt x="1932242" y="882212"/>
                  </a:lnTo>
                  <a:lnTo>
                    <a:pt x="1971675" y="864003"/>
                  </a:lnTo>
                  <a:lnTo>
                    <a:pt x="2011108" y="843961"/>
                  </a:lnTo>
                  <a:lnTo>
                    <a:pt x="2050542" y="822021"/>
                  </a:lnTo>
                  <a:lnTo>
                    <a:pt x="2089976" y="798145"/>
                  </a:lnTo>
                  <a:lnTo>
                    <a:pt x="2129409" y="772332"/>
                  </a:lnTo>
                  <a:lnTo>
                    <a:pt x="2168843" y="744619"/>
                  </a:lnTo>
                  <a:lnTo>
                    <a:pt x="2208276" y="715088"/>
                  </a:lnTo>
                  <a:lnTo>
                    <a:pt x="2247710" y="683872"/>
                  </a:lnTo>
                  <a:lnTo>
                    <a:pt x="2287143" y="651154"/>
                  </a:lnTo>
                  <a:lnTo>
                    <a:pt x="2326576" y="617163"/>
                  </a:lnTo>
                  <a:lnTo>
                    <a:pt x="2366010" y="582174"/>
                  </a:lnTo>
                  <a:lnTo>
                    <a:pt x="2405443" y="546499"/>
                  </a:lnTo>
                  <a:lnTo>
                    <a:pt x="2444877" y="510473"/>
                  </a:lnTo>
                  <a:lnTo>
                    <a:pt x="2484310" y="474448"/>
                  </a:lnTo>
                  <a:lnTo>
                    <a:pt x="2523744" y="438772"/>
                  </a:lnTo>
                  <a:lnTo>
                    <a:pt x="2563178" y="403783"/>
                  </a:lnTo>
                  <a:lnTo>
                    <a:pt x="2602611" y="369793"/>
                  </a:lnTo>
                  <a:lnTo>
                    <a:pt x="2642044" y="337074"/>
                  </a:lnTo>
                  <a:lnTo>
                    <a:pt x="2681478" y="305858"/>
                  </a:lnTo>
                  <a:lnTo>
                    <a:pt x="2720911" y="276328"/>
                  </a:lnTo>
                  <a:lnTo>
                    <a:pt x="2760345" y="248614"/>
                  </a:lnTo>
                  <a:lnTo>
                    <a:pt x="2799779" y="222801"/>
                  </a:lnTo>
                  <a:lnTo>
                    <a:pt x="2839212" y="198926"/>
                  </a:lnTo>
                  <a:lnTo>
                    <a:pt x="2878646" y="176986"/>
                  </a:lnTo>
                  <a:lnTo>
                    <a:pt x="2918079" y="156943"/>
                  </a:lnTo>
                  <a:lnTo>
                    <a:pt x="2957512" y="138735"/>
                  </a:lnTo>
                  <a:lnTo>
                    <a:pt x="2996946" y="122273"/>
                  </a:lnTo>
                  <a:lnTo>
                    <a:pt x="3036379" y="107457"/>
                  </a:lnTo>
                  <a:lnTo>
                    <a:pt x="3075813" y="94177"/>
                  </a:lnTo>
                  <a:lnTo>
                    <a:pt x="3115246" y="82316"/>
                  </a:lnTo>
                  <a:lnTo>
                    <a:pt x="3154680" y="71756"/>
                  </a:lnTo>
                  <a:lnTo>
                    <a:pt x="3194114" y="62381"/>
                  </a:lnTo>
                  <a:lnTo>
                    <a:pt x="3233547" y="54081"/>
                  </a:lnTo>
                  <a:lnTo>
                    <a:pt x="3272980" y="46747"/>
                  </a:lnTo>
                  <a:lnTo>
                    <a:pt x="3312414" y="40282"/>
                  </a:lnTo>
                  <a:lnTo>
                    <a:pt x="3351848" y="34591"/>
                  </a:lnTo>
                  <a:lnTo>
                    <a:pt x="3391281" y="29590"/>
                  </a:lnTo>
                  <a:lnTo>
                    <a:pt x="3430715" y="25201"/>
                  </a:lnTo>
                  <a:lnTo>
                    <a:pt x="3470148" y="21354"/>
                  </a:lnTo>
                  <a:lnTo>
                    <a:pt x="3509582" y="17985"/>
                  </a:lnTo>
                  <a:lnTo>
                    <a:pt x="3549015" y="15038"/>
                  </a:lnTo>
                  <a:lnTo>
                    <a:pt x="3588448" y="12462"/>
                  </a:lnTo>
                  <a:lnTo>
                    <a:pt x="3627882" y="10212"/>
                  </a:lnTo>
                  <a:lnTo>
                    <a:pt x="3667316" y="8248"/>
                  </a:lnTo>
                  <a:lnTo>
                    <a:pt x="3706749" y="6534"/>
                  </a:lnTo>
                  <a:lnTo>
                    <a:pt x="3746182" y="5039"/>
                  </a:lnTo>
                  <a:lnTo>
                    <a:pt x="3785616" y="3736"/>
                  </a:lnTo>
                  <a:lnTo>
                    <a:pt x="3825049" y="2601"/>
                  </a:lnTo>
                  <a:lnTo>
                    <a:pt x="3864483" y="1612"/>
                  </a:lnTo>
                  <a:lnTo>
                    <a:pt x="3903917" y="750"/>
                  </a:lnTo>
                  <a:lnTo>
                    <a:pt x="3943350" y="0"/>
                  </a:lnTo>
                </a:path>
              </a:pathLst>
            </a:custGeom>
            <a:noFill/>
            <a:ln w="24765">
              <a:solidFill>
                <a:schemeClr val="accent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38550" y="3816191"/>
              <a:ext cx="2239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m=8</a:t>
              </a:r>
            </a:p>
          </p:txBody>
        </p:sp>
        <p:sp>
          <p:nvSpPr>
            <p:cNvPr id="39" name="Polyline 39"/>
            <p:cNvSpPr/>
            <p:nvPr/>
          </p:nvSpPr>
          <p:spPr>
            <a:xfrm>
              <a:off x="7105650" y="3478762"/>
              <a:ext cx="3943350" cy="1026956"/>
            </a:xfrm>
            <a:custGeom>
              <a:avLst/>
              <a:gdLst/>
              <a:ahLst/>
              <a:cxnLst/>
              <a:rect l="l" t="t" r="r" b="b"/>
              <a:pathLst>
                <a:path w="3943350" h="1026956">
                  <a:moveTo>
                    <a:pt x="0" y="1026956"/>
                  </a:moveTo>
                  <a:lnTo>
                    <a:pt x="39433" y="1026387"/>
                  </a:lnTo>
                  <a:lnTo>
                    <a:pt x="78867" y="1025734"/>
                  </a:lnTo>
                  <a:lnTo>
                    <a:pt x="118300" y="1024984"/>
                  </a:lnTo>
                  <a:lnTo>
                    <a:pt x="157734" y="1024123"/>
                  </a:lnTo>
                  <a:lnTo>
                    <a:pt x="197168" y="1023134"/>
                  </a:lnTo>
                  <a:lnTo>
                    <a:pt x="236601" y="1021998"/>
                  </a:lnTo>
                  <a:lnTo>
                    <a:pt x="276035" y="1020695"/>
                  </a:lnTo>
                  <a:lnTo>
                    <a:pt x="315468" y="1019201"/>
                  </a:lnTo>
                  <a:lnTo>
                    <a:pt x="354901" y="1017487"/>
                  </a:lnTo>
                  <a:lnTo>
                    <a:pt x="394335" y="1015522"/>
                  </a:lnTo>
                  <a:lnTo>
                    <a:pt x="433768" y="1013272"/>
                  </a:lnTo>
                  <a:lnTo>
                    <a:pt x="473202" y="1010696"/>
                  </a:lnTo>
                  <a:lnTo>
                    <a:pt x="512636" y="1007749"/>
                  </a:lnTo>
                  <a:lnTo>
                    <a:pt x="552069" y="1004381"/>
                  </a:lnTo>
                  <a:lnTo>
                    <a:pt x="591503" y="1000534"/>
                  </a:lnTo>
                  <a:lnTo>
                    <a:pt x="630936" y="996145"/>
                  </a:lnTo>
                  <a:lnTo>
                    <a:pt x="670370" y="991144"/>
                  </a:lnTo>
                  <a:lnTo>
                    <a:pt x="709803" y="985453"/>
                  </a:lnTo>
                  <a:lnTo>
                    <a:pt x="749236" y="978987"/>
                  </a:lnTo>
                  <a:lnTo>
                    <a:pt x="788670" y="971654"/>
                  </a:lnTo>
                  <a:lnTo>
                    <a:pt x="828104" y="963353"/>
                  </a:lnTo>
                  <a:lnTo>
                    <a:pt x="867537" y="953979"/>
                  </a:lnTo>
                  <a:lnTo>
                    <a:pt x="906971" y="943419"/>
                  </a:lnTo>
                  <a:lnTo>
                    <a:pt x="946404" y="931557"/>
                  </a:lnTo>
                  <a:lnTo>
                    <a:pt x="985838" y="918277"/>
                  </a:lnTo>
                  <a:lnTo>
                    <a:pt x="1025271" y="903461"/>
                  </a:lnTo>
                  <a:lnTo>
                    <a:pt x="1064704" y="887000"/>
                  </a:lnTo>
                  <a:lnTo>
                    <a:pt x="1104138" y="868791"/>
                  </a:lnTo>
                  <a:lnTo>
                    <a:pt x="1143571" y="848749"/>
                  </a:lnTo>
                  <a:lnTo>
                    <a:pt x="1183005" y="826809"/>
                  </a:lnTo>
                  <a:lnTo>
                    <a:pt x="1222439" y="802933"/>
                  </a:lnTo>
                  <a:lnTo>
                    <a:pt x="1261872" y="777120"/>
                  </a:lnTo>
                  <a:lnTo>
                    <a:pt x="1301306" y="749407"/>
                  </a:lnTo>
                  <a:lnTo>
                    <a:pt x="1340739" y="719876"/>
                  </a:lnTo>
                  <a:lnTo>
                    <a:pt x="1380172" y="688660"/>
                  </a:lnTo>
                  <a:lnTo>
                    <a:pt x="1419606" y="655942"/>
                  </a:lnTo>
                  <a:lnTo>
                    <a:pt x="1459040" y="621951"/>
                  </a:lnTo>
                  <a:lnTo>
                    <a:pt x="1498473" y="586962"/>
                  </a:lnTo>
                  <a:lnTo>
                    <a:pt x="1537907" y="551287"/>
                  </a:lnTo>
                  <a:lnTo>
                    <a:pt x="1577340" y="515261"/>
                  </a:lnTo>
                  <a:lnTo>
                    <a:pt x="1616774" y="479236"/>
                  </a:lnTo>
                  <a:lnTo>
                    <a:pt x="1656207" y="443560"/>
                  </a:lnTo>
                  <a:lnTo>
                    <a:pt x="1695640" y="408571"/>
                  </a:lnTo>
                  <a:lnTo>
                    <a:pt x="1735074" y="374581"/>
                  </a:lnTo>
                  <a:lnTo>
                    <a:pt x="1774507" y="341862"/>
                  </a:lnTo>
                  <a:lnTo>
                    <a:pt x="1813941" y="310646"/>
                  </a:lnTo>
                  <a:lnTo>
                    <a:pt x="1853374" y="281116"/>
                  </a:lnTo>
                  <a:lnTo>
                    <a:pt x="1892808" y="253402"/>
                  </a:lnTo>
                  <a:lnTo>
                    <a:pt x="1932242" y="227589"/>
                  </a:lnTo>
                  <a:lnTo>
                    <a:pt x="1971675" y="203714"/>
                  </a:lnTo>
                  <a:lnTo>
                    <a:pt x="2011108" y="181774"/>
                  </a:lnTo>
                  <a:lnTo>
                    <a:pt x="2050542" y="161731"/>
                  </a:lnTo>
                  <a:lnTo>
                    <a:pt x="2089976" y="143523"/>
                  </a:lnTo>
                  <a:lnTo>
                    <a:pt x="2129409" y="127061"/>
                  </a:lnTo>
                  <a:lnTo>
                    <a:pt x="2168843" y="112246"/>
                  </a:lnTo>
                  <a:lnTo>
                    <a:pt x="2208276" y="98965"/>
                  </a:lnTo>
                  <a:lnTo>
                    <a:pt x="2247710" y="87104"/>
                  </a:lnTo>
                  <a:lnTo>
                    <a:pt x="2287143" y="76544"/>
                  </a:lnTo>
                  <a:lnTo>
                    <a:pt x="2326576" y="67169"/>
                  </a:lnTo>
                  <a:lnTo>
                    <a:pt x="2366010" y="58869"/>
                  </a:lnTo>
                  <a:lnTo>
                    <a:pt x="2405443" y="51535"/>
                  </a:lnTo>
                  <a:lnTo>
                    <a:pt x="2444877" y="45070"/>
                  </a:lnTo>
                  <a:lnTo>
                    <a:pt x="2484310" y="39379"/>
                  </a:lnTo>
                  <a:lnTo>
                    <a:pt x="2523744" y="34378"/>
                  </a:lnTo>
                  <a:lnTo>
                    <a:pt x="2563178" y="29989"/>
                  </a:lnTo>
                  <a:lnTo>
                    <a:pt x="2602611" y="26142"/>
                  </a:lnTo>
                  <a:lnTo>
                    <a:pt x="2642044" y="22773"/>
                  </a:lnTo>
                  <a:lnTo>
                    <a:pt x="2681478" y="19826"/>
                  </a:lnTo>
                  <a:lnTo>
                    <a:pt x="2720911" y="17250"/>
                  </a:lnTo>
                  <a:lnTo>
                    <a:pt x="2760345" y="15000"/>
                  </a:lnTo>
                  <a:lnTo>
                    <a:pt x="2799779" y="13036"/>
                  </a:lnTo>
                  <a:lnTo>
                    <a:pt x="2839212" y="11322"/>
                  </a:lnTo>
                  <a:lnTo>
                    <a:pt x="2878646" y="9827"/>
                  </a:lnTo>
                  <a:lnTo>
                    <a:pt x="2918079" y="8524"/>
                  </a:lnTo>
                  <a:lnTo>
                    <a:pt x="2957512" y="7389"/>
                  </a:lnTo>
                  <a:lnTo>
                    <a:pt x="2996946" y="6400"/>
                  </a:lnTo>
                  <a:lnTo>
                    <a:pt x="3036379" y="5538"/>
                  </a:lnTo>
                  <a:lnTo>
                    <a:pt x="3075813" y="4788"/>
                  </a:lnTo>
                  <a:lnTo>
                    <a:pt x="3115246" y="4135"/>
                  </a:lnTo>
                  <a:lnTo>
                    <a:pt x="3154680" y="3567"/>
                  </a:lnTo>
                  <a:lnTo>
                    <a:pt x="3194114" y="3072"/>
                  </a:lnTo>
                  <a:lnTo>
                    <a:pt x="3233547" y="2642"/>
                  </a:lnTo>
                  <a:lnTo>
                    <a:pt x="3272980" y="2267"/>
                  </a:lnTo>
                  <a:lnTo>
                    <a:pt x="3312414" y="1941"/>
                  </a:lnTo>
                  <a:lnTo>
                    <a:pt x="3351848" y="1658"/>
                  </a:lnTo>
                  <a:lnTo>
                    <a:pt x="3391281" y="1411"/>
                  </a:lnTo>
                  <a:lnTo>
                    <a:pt x="3430715" y="1197"/>
                  </a:lnTo>
                  <a:lnTo>
                    <a:pt x="3470148" y="1011"/>
                  </a:lnTo>
                  <a:lnTo>
                    <a:pt x="3509582" y="848"/>
                  </a:lnTo>
                  <a:lnTo>
                    <a:pt x="3549015" y="707"/>
                  </a:lnTo>
                  <a:lnTo>
                    <a:pt x="3588448" y="585"/>
                  </a:lnTo>
                  <a:lnTo>
                    <a:pt x="3627882" y="478"/>
                  </a:lnTo>
                  <a:lnTo>
                    <a:pt x="3667316" y="386"/>
                  </a:lnTo>
                  <a:lnTo>
                    <a:pt x="3706749" y="305"/>
                  </a:lnTo>
                  <a:lnTo>
                    <a:pt x="3746182" y="235"/>
                  </a:lnTo>
                  <a:lnTo>
                    <a:pt x="3785616" y="174"/>
                  </a:lnTo>
                  <a:lnTo>
                    <a:pt x="3825049" y="121"/>
                  </a:lnTo>
                  <a:lnTo>
                    <a:pt x="3864483" y="75"/>
                  </a:lnTo>
                  <a:lnTo>
                    <a:pt x="3903917" y="35"/>
                  </a:lnTo>
                  <a:lnTo>
                    <a:pt x="3943350" y="0"/>
                  </a:lnTo>
                </a:path>
              </a:pathLst>
            </a:custGeom>
            <a:noFill/>
            <a:ln w="24765">
              <a:solidFill>
                <a:srgbClr val="34D3C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539138" y="3816191"/>
              <a:ext cx="2877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m=32</a:t>
              </a:r>
            </a:p>
          </p:txBody>
        </p:sp>
        <p:sp>
          <p:nvSpPr>
            <p:cNvPr id="41" name="Polyline 41"/>
            <p:cNvSpPr/>
            <p:nvPr/>
          </p:nvSpPr>
          <p:spPr>
            <a:xfrm>
              <a:off x="7105650" y="3478549"/>
              <a:ext cx="3943350" cy="985666"/>
            </a:xfrm>
            <a:custGeom>
              <a:avLst/>
              <a:gdLst/>
              <a:ahLst/>
              <a:cxnLst/>
              <a:rect l="l" t="t" r="r" b="b"/>
              <a:pathLst>
                <a:path w="3943350" h="985666">
                  <a:moveTo>
                    <a:pt x="0" y="985666"/>
                  </a:moveTo>
                  <a:lnTo>
                    <a:pt x="39433" y="979200"/>
                  </a:lnTo>
                  <a:lnTo>
                    <a:pt x="78867" y="971867"/>
                  </a:lnTo>
                  <a:lnTo>
                    <a:pt x="118300" y="963566"/>
                  </a:lnTo>
                  <a:lnTo>
                    <a:pt x="157734" y="954192"/>
                  </a:lnTo>
                  <a:lnTo>
                    <a:pt x="197168" y="943632"/>
                  </a:lnTo>
                  <a:lnTo>
                    <a:pt x="236601" y="931770"/>
                  </a:lnTo>
                  <a:lnTo>
                    <a:pt x="276035" y="918490"/>
                  </a:lnTo>
                  <a:lnTo>
                    <a:pt x="315468" y="903675"/>
                  </a:lnTo>
                  <a:lnTo>
                    <a:pt x="354901" y="887213"/>
                  </a:lnTo>
                  <a:lnTo>
                    <a:pt x="394335" y="869004"/>
                  </a:lnTo>
                  <a:lnTo>
                    <a:pt x="433768" y="848962"/>
                  </a:lnTo>
                  <a:lnTo>
                    <a:pt x="473202" y="827022"/>
                  </a:lnTo>
                  <a:lnTo>
                    <a:pt x="512636" y="803146"/>
                  </a:lnTo>
                  <a:lnTo>
                    <a:pt x="552069" y="777333"/>
                  </a:lnTo>
                  <a:lnTo>
                    <a:pt x="591503" y="749620"/>
                  </a:lnTo>
                  <a:lnTo>
                    <a:pt x="630936" y="720089"/>
                  </a:lnTo>
                  <a:lnTo>
                    <a:pt x="670370" y="688874"/>
                  </a:lnTo>
                  <a:lnTo>
                    <a:pt x="709803" y="656155"/>
                  </a:lnTo>
                  <a:lnTo>
                    <a:pt x="749236" y="622164"/>
                  </a:lnTo>
                  <a:lnTo>
                    <a:pt x="788670" y="587176"/>
                  </a:lnTo>
                  <a:lnTo>
                    <a:pt x="828104" y="551500"/>
                  </a:lnTo>
                  <a:lnTo>
                    <a:pt x="867537" y="515474"/>
                  </a:lnTo>
                  <a:lnTo>
                    <a:pt x="906971" y="479449"/>
                  </a:lnTo>
                  <a:lnTo>
                    <a:pt x="946404" y="443773"/>
                  </a:lnTo>
                  <a:lnTo>
                    <a:pt x="985838" y="408785"/>
                  </a:lnTo>
                  <a:lnTo>
                    <a:pt x="1025271" y="374794"/>
                  </a:lnTo>
                  <a:lnTo>
                    <a:pt x="1064704" y="342075"/>
                  </a:lnTo>
                  <a:lnTo>
                    <a:pt x="1104138" y="310859"/>
                  </a:lnTo>
                  <a:lnTo>
                    <a:pt x="1143571" y="281329"/>
                  </a:lnTo>
                  <a:lnTo>
                    <a:pt x="1183005" y="253616"/>
                  </a:lnTo>
                  <a:lnTo>
                    <a:pt x="1222439" y="227802"/>
                  </a:lnTo>
                  <a:lnTo>
                    <a:pt x="1261872" y="203927"/>
                  </a:lnTo>
                  <a:lnTo>
                    <a:pt x="1301306" y="181987"/>
                  </a:lnTo>
                  <a:lnTo>
                    <a:pt x="1340739" y="161945"/>
                  </a:lnTo>
                  <a:lnTo>
                    <a:pt x="1380172" y="143736"/>
                  </a:lnTo>
                  <a:lnTo>
                    <a:pt x="1419606" y="127274"/>
                  </a:lnTo>
                  <a:lnTo>
                    <a:pt x="1459040" y="112459"/>
                  </a:lnTo>
                  <a:lnTo>
                    <a:pt x="1498473" y="99178"/>
                  </a:lnTo>
                  <a:lnTo>
                    <a:pt x="1537907" y="87317"/>
                  </a:lnTo>
                  <a:lnTo>
                    <a:pt x="1577340" y="76757"/>
                  </a:lnTo>
                  <a:lnTo>
                    <a:pt x="1616774" y="67382"/>
                  </a:lnTo>
                  <a:lnTo>
                    <a:pt x="1656207" y="59082"/>
                  </a:lnTo>
                  <a:lnTo>
                    <a:pt x="1695640" y="51748"/>
                  </a:lnTo>
                  <a:lnTo>
                    <a:pt x="1735074" y="45283"/>
                  </a:lnTo>
                  <a:lnTo>
                    <a:pt x="1774507" y="39592"/>
                  </a:lnTo>
                  <a:lnTo>
                    <a:pt x="1813941" y="34591"/>
                  </a:lnTo>
                  <a:lnTo>
                    <a:pt x="1853374" y="30202"/>
                  </a:lnTo>
                  <a:lnTo>
                    <a:pt x="1892808" y="26355"/>
                  </a:lnTo>
                  <a:lnTo>
                    <a:pt x="1932242" y="22986"/>
                  </a:lnTo>
                  <a:lnTo>
                    <a:pt x="1971675" y="20039"/>
                  </a:lnTo>
                  <a:lnTo>
                    <a:pt x="2011108" y="17463"/>
                  </a:lnTo>
                  <a:lnTo>
                    <a:pt x="2050542" y="15213"/>
                  </a:lnTo>
                  <a:lnTo>
                    <a:pt x="2089976" y="13249"/>
                  </a:lnTo>
                  <a:lnTo>
                    <a:pt x="2129409" y="11535"/>
                  </a:lnTo>
                  <a:lnTo>
                    <a:pt x="2168843" y="10040"/>
                  </a:lnTo>
                  <a:lnTo>
                    <a:pt x="2208276" y="8737"/>
                  </a:lnTo>
                  <a:lnTo>
                    <a:pt x="2247710" y="7602"/>
                  </a:lnTo>
                  <a:lnTo>
                    <a:pt x="2287143" y="6613"/>
                  </a:lnTo>
                  <a:lnTo>
                    <a:pt x="2326576" y="5751"/>
                  </a:lnTo>
                  <a:lnTo>
                    <a:pt x="2366010" y="5001"/>
                  </a:lnTo>
                  <a:lnTo>
                    <a:pt x="2405443" y="4348"/>
                  </a:lnTo>
                  <a:lnTo>
                    <a:pt x="2444877" y="3780"/>
                  </a:lnTo>
                  <a:lnTo>
                    <a:pt x="2484310" y="3285"/>
                  </a:lnTo>
                  <a:lnTo>
                    <a:pt x="2523744" y="2855"/>
                  </a:lnTo>
                  <a:lnTo>
                    <a:pt x="2563178" y="2480"/>
                  </a:lnTo>
                  <a:lnTo>
                    <a:pt x="2602611" y="2154"/>
                  </a:lnTo>
                  <a:lnTo>
                    <a:pt x="2642044" y="1871"/>
                  </a:lnTo>
                  <a:lnTo>
                    <a:pt x="2681478" y="1625"/>
                  </a:lnTo>
                  <a:lnTo>
                    <a:pt x="2720911" y="1410"/>
                  </a:lnTo>
                  <a:lnTo>
                    <a:pt x="2760345" y="1224"/>
                  </a:lnTo>
                  <a:lnTo>
                    <a:pt x="2799779" y="1062"/>
                  </a:lnTo>
                  <a:lnTo>
                    <a:pt x="2839212" y="921"/>
                  </a:lnTo>
                  <a:lnTo>
                    <a:pt x="2878646" y="798"/>
                  </a:lnTo>
                  <a:lnTo>
                    <a:pt x="2918079" y="691"/>
                  </a:lnTo>
                  <a:lnTo>
                    <a:pt x="2957512" y="599"/>
                  </a:lnTo>
                  <a:lnTo>
                    <a:pt x="2996946" y="518"/>
                  </a:lnTo>
                  <a:lnTo>
                    <a:pt x="3036379" y="448"/>
                  </a:lnTo>
                  <a:lnTo>
                    <a:pt x="3075813" y="387"/>
                  </a:lnTo>
                  <a:lnTo>
                    <a:pt x="3115246" y="334"/>
                  </a:lnTo>
                  <a:lnTo>
                    <a:pt x="3154680" y="288"/>
                  </a:lnTo>
                  <a:lnTo>
                    <a:pt x="3194114" y="248"/>
                  </a:lnTo>
                  <a:lnTo>
                    <a:pt x="3233547" y="213"/>
                  </a:lnTo>
                  <a:lnTo>
                    <a:pt x="3272980" y="183"/>
                  </a:lnTo>
                  <a:lnTo>
                    <a:pt x="3312414" y="157"/>
                  </a:lnTo>
                  <a:lnTo>
                    <a:pt x="3351848" y="134"/>
                  </a:lnTo>
                  <a:lnTo>
                    <a:pt x="3391281" y="114"/>
                  </a:lnTo>
                  <a:lnTo>
                    <a:pt x="3430715" y="96"/>
                  </a:lnTo>
                  <a:lnTo>
                    <a:pt x="3470148" y="81"/>
                  </a:lnTo>
                  <a:lnTo>
                    <a:pt x="3509582" y="68"/>
                  </a:lnTo>
                  <a:lnTo>
                    <a:pt x="3549015" y="57"/>
                  </a:lnTo>
                  <a:lnTo>
                    <a:pt x="3588448" y="47"/>
                  </a:lnTo>
                  <a:lnTo>
                    <a:pt x="3627882" y="39"/>
                  </a:lnTo>
                  <a:lnTo>
                    <a:pt x="3667316" y="31"/>
                  </a:lnTo>
                  <a:lnTo>
                    <a:pt x="3706749" y="25"/>
                  </a:lnTo>
                  <a:lnTo>
                    <a:pt x="3746182" y="19"/>
                  </a:lnTo>
                  <a:lnTo>
                    <a:pt x="3785616" y="14"/>
                  </a:lnTo>
                  <a:lnTo>
                    <a:pt x="3825049" y="10"/>
                  </a:lnTo>
                  <a:lnTo>
                    <a:pt x="3864483" y="6"/>
                  </a:lnTo>
                  <a:lnTo>
                    <a:pt x="3903917" y="3"/>
                  </a:lnTo>
                  <a:lnTo>
                    <a:pt x="3943350" y="0"/>
                  </a:lnTo>
                </a:path>
              </a:pathLst>
            </a:custGeom>
            <a:noFill/>
            <a:ln w="24765">
              <a:solidFill>
                <a:srgbClr val="F2C14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797460" y="3816191"/>
              <a:ext cx="35145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m=128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7973187" y="3238500"/>
              <a:ext cx="9525" cy="1371600"/>
            </a:xfrm>
            <a:custGeom>
              <a:avLst/>
              <a:gdLst/>
              <a:ahLst/>
              <a:cxnLst/>
              <a:rect l="l" t="t" r="r" b="b"/>
              <a:pathLst>
                <a:path w="9525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/>
            <a:ln w="9525" cap="rnd">
              <a:solidFill>
                <a:srgbClr val="F2C14E"/>
              </a:solidFill>
              <a:custDash>
                <a:ds d="300000" sp="300000"/>
              </a:custDash>
            </a:ln>
          </p:spPr>
        </p:sp>
        <p:sp>
          <p:nvSpPr>
            <p:cNvPr id="44" name="Line 44"/>
            <p:cNvSpPr/>
            <p:nvPr/>
          </p:nvSpPr>
          <p:spPr>
            <a:xfrm>
              <a:off x="8682990" y="3238500"/>
              <a:ext cx="9525" cy="1371600"/>
            </a:xfrm>
            <a:custGeom>
              <a:avLst/>
              <a:gdLst/>
              <a:ahLst/>
              <a:cxnLst/>
              <a:rect l="l" t="t" r="r" b="b"/>
              <a:pathLst>
                <a:path w="9525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/>
            <a:ln w="9525" cap="rnd">
              <a:solidFill>
                <a:srgbClr val="34D3C0"/>
              </a:solidFill>
              <a:custDash>
                <a:ds d="300000" sp="300000"/>
              </a:custDash>
            </a:ln>
          </p:spPr>
        </p:sp>
        <p:sp>
          <p:nvSpPr>
            <p:cNvPr id="45" name="Line 45"/>
            <p:cNvSpPr/>
            <p:nvPr/>
          </p:nvSpPr>
          <p:spPr>
            <a:xfrm>
              <a:off x="9550527" y="3238500"/>
              <a:ext cx="9525" cy="1371600"/>
            </a:xfrm>
            <a:custGeom>
              <a:avLst/>
              <a:gdLst/>
              <a:ahLst/>
              <a:cxnLst/>
              <a:rect l="l" t="t" r="r" b="b"/>
              <a:pathLst>
                <a:path w="9525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/>
            <a:ln w="9525" cap="rnd">
              <a:solidFill>
                <a:schemeClr val="accent2"/>
              </a:solidFill>
              <a:custDash>
                <a:ds d="300000" sp="300000"/>
              </a:custDash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525845" y="3263741"/>
              <a:ext cx="152791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no stable beta &gt; 0 survives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243256" y="5510451"/>
            <a:ext cx="5483695" cy="198025"/>
            <a:chOff x="6243256" y="5510451"/>
            <a:chExt cx="5483695" cy="198025"/>
          </a:xfrm>
        </p:grpSpPr>
        <p:sp>
          <p:nvSpPr>
            <p:cNvPr id="48" name="TextBox 48"/>
            <p:cNvSpPr txBox="1"/>
            <p:nvPr/>
          </p:nvSpPr>
          <p:spPr>
            <a:xfrm>
              <a:off x="6243256" y="5510451"/>
              <a:ext cx="548369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Slowly-decaying targets take ~1000 epochs to fit vs ~10 for exponential ones.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159689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ABLATION STUDY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545566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Only the parameterization changes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09600" y="1447800"/>
            <a:ext cx="10972800" cy="552450"/>
            <a:chOff x="609600" y="1447800"/>
            <a:chExt cx="10972800" cy="552450"/>
          </a:xfrm>
        </p:grpSpPr>
        <p:sp>
          <p:nvSpPr>
            <p:cNvPr id="5" name="Rectangle 5"/>
            <p:cNvSpPr/>
            <p:nvPr/>
          </p:nvSpPr>
          <p:spPr>
            <a:xfrm>
              <a:off x="609600" y="1447800"/>
              <a:ext cx="10972800" cy="552450"/>
            </a:xfrm>
            <a:prstGeom prst="roundRect">
              <a:avLst>
                <a:gd name="adj" fmla="val 24138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47800"/>
              <a:ext cx="57150" cy="5524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204" y="1661160"/>
              <a:ext cx="6986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Vary ONLY how the recurrent weight is parameterized; hold the initialization fixed.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2190750"/>
            <a:ext cx="5334000" cy="1714500"/>
            <a:chOff x="609600" y="2190750"/>
            <a:chExt cx="5334000" cy="1714500"/>
          </a:xfrm>
        </p:grpSpPr>
        <p:sp>
          <p:nvSpPr>
            <p:cNvPr id="9" name="Rectangle 9"/>
            <p:cNvSpPr/>
            <p:nvPr/>
          </p:nvSpPr>
          <p:spPr>
            <a:xfrm>
              <a:off x="609600" y="2190750"/>
              <a:ext cx="5334000" cy="1714500"/>
            </a:xfrm>
            <a:prstGeom prst="roundRect">
              <a:avLst>
                <a:gd name="adj" fmla="val 7778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2190750"/>
              <a:ext cx="57150" cy="171450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0014" y="2419112"/>
              <a:ext cx="2794349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MNIST: stable maps train faster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76300" y="2724150"/>
              <a:ext cx="4800600" cy="323850"/>
            </a:xfrm>
            <a:prstGeom prst="roundRect">
              <a:avLst>
                <a:gd name="adj" fmla="val 23529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000125" y="2838450"/>
              <a:ext cx="95250" cy="9525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95006" y="2824401"/>
              <a:ext cx="291554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softplus / exponential / inverse -&gt; stable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76300" y="3124200"/>
              <a:ext cx="4800600" cy="323850"/>
            </a:xfrm>
            <a:prstGeom prst="roundRect">
              <a:avLst>
                <a:gd name="adj" fmla="val 23529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00125" y="3238500"/>
              <a:ext cx="95250" cy="95250"/>
            </a:xfrm>
            <a:prstGeom prst="ellipse">
              <a:avLst/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95006" y="3224451"/>
              <a:ext cx="270139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direct (weight used as-is) -&gt; unstable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1156" y="3624501"/>
              <a:ext cx="414094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All three stable maps beat the direct baseline on accuracy.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48400" y="2190750"/>
            <a:ext cx="5334000" cy="1714500"/>
            <a:chOff x="6248400" y="2190750"/>
            <a:chExt cx="5334000" cy="1714500"/>
          </a:xfrm>
        </p:grpSpPr>
        <p:sp>
          <p:nvSpPr>
            <p:cNvPr id="20" name="Rectangle 20"/>
            <p:cNvSpPr/>
            <p:nvPr/>
          </p:nvSpPr>
          <p:spPr>
            <a:xfrm>
              <a:off x="6248400" y="2190750"/>
              <a:ext cx="5334000" cy="1714500"/>
            </a:xfrm>
            <a:prstGeom prst="roundRect">
              <a:avLst>
                <a:gd name="adj" fmla="val 7778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48400" y="2190750"/>
              <a:ext cx="57150" cy="171450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08814" y="2419112"/>
              <a:ext cx="1867236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Capacity is unchanged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09576" y="2740104"/>
              <a:ext cx="4029106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Reparameterization does not alter the model's inherent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09576" y="2959179"/>
              <a:ext cx="3811506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capacity, so final accuracy across stable variants is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09576" y="3178254"/>
              <a:ext cx="89146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comparable.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515100" y="3505200"/>
              <a:ext cx="48006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638925" y="3609975"/>
              <a:ext cx="95250" cy="9525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33997" y="3599974"/>
              <a:ext cx="27847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isolates an OPTIMIZATION &amp; stability gain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4095750"/>
            <a:ext cx="10972800" cy="1143000"/>
            <a:chOff x="609600" y="4095750"/>
            <a:chExt cx="10972800" cy="1143000"/>
          </a:xfrm>
        </p:grpSpPr>
        <p:sp>
          <p:nvSpPr>
            <p:cNvPr id="30" name="Rectangle 30"/>
            <p:cNvSpPr/>
            <p:nvPr/>
          </p:nvSpPr>
          <p:spPr>
            <a:xfrm>
              <a:off x="609600" y="4095750"/>
              <a:ext cx="10972800" cy="1143000"/>
            </a:xfrm>
            <a:prstGeom prst="roundRect">
              <a:avLst>
                <a:gd name="adj" fmla="val 1166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9600" y="409575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0394" y="4275058"/>
              <a:ext cx="623149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Synthetic · reparameterization restores the continuous limiting-error curve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76300" y="4629150"/>
              <a:ext cx="5143500" cy="323850"/>
            </a:xfrm>
            <a:prstGeom prst="roundRect">
              <a:avLst>
                <a:gd name="adj" fmla="val 23529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000125" y="4743450"/>
              <a:ext cx="95250" cy="95250"/>
            </a:xfrm>
            <a:prstGeom prst="ellipse">
              <a:avLst/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95006" y="4729401"/>
              <a:ext cx="340216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linear RNN + poly-decay target -&gt; unstable curve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172200" y="4629150"/>
              <a:ext cx="5143500" cy="323850"/>
            </a:xfrm>
            <a:prstGeom prst="roundRect">
              <a:avLst>
                <a:gd name="adj" fmla="val 23529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6296025" y="4743450"/>
              <a:ext cx="95250" cy="9525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90906" y="4729401"/>
              <a:ext cx="357940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exponential / softplus map -&gt; stability recovered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1347" y="5038249"/>
              <a:ext cx="57078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Confirms that the stability the theory predicts is exactly what the fix brings back.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183437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HEADLINE NUMBERS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448637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message in four numbers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09600" y="1447800"/>
            <a:ext cx="10972800" cy="704850"/>
            <a:chOff x="609600" y="1447800"/>
            <a:chExt cx="10972800" cy="704850"/>
          </a:xfrm>
        </p:grpSpPr>
        <p:sp>
          <p:nvSpPr>
            <p:cNvPr id="5" name="Rectangle 5"/>
            <p:cNvSpPr/>
            <p:nvPr/>
          </p:nvSpPr>
          <p:spPr>
            <a:xfrm>
              <a:off x="609600" y="1447800"/>
              <a:ext cx="10972800" cy="704850"/>
            </a:xfrm>
            <a:prstGeom prst="roundRect">
              <a:avLst>
                <a:gd name="adj" fmla="val 18919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47800"/>
              <a:ext cx="57150" cy="704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394" y="1608058"/>
              <a:ext cx="612519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MNIST, 10 epochs, averaged over 3 runs · stable vs direct parameterization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76300" y="1828800"/>
              <a:ext cx="4476750" cy="285750"/>
            </a:xfrm>
            <a:prstGeom prst="roundRect">
              <a:avLst>
                <a:gd name="adj" fmla="val 26667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000125" y="1924050"/>
              <a:ext cx="95250" cy="9525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5006" y="1910001"/>
              <a:ext cx="281561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stable maps -&gt; faster + higher accuracy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486400" y="1828800"/>
              <a:ext cx="4476750" cy="285750"/>
            </a:xfrm>
            <a:prstGeom prst="roundRect">
              <a:avLst>
                <a:gd name="adj" fmla="val 26667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5610225" y="1924050"/>
              <a:ext cx="95250" cy="95250"/>
            </a:xfrm>
            <a:prstGeom prst="ellipse">
              <a:avLst/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05106" y="1910001"/>
              <a:ext cx="218744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direct map -&gt; unstable baseline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2343150"/>
            <a:ext cx="3505200" cy="1905000"/>
            <a:chOff x="609600" y="2343150"/>
            <a:chExt cx="3505200" cy="1905000"/>
          </a:xfrm>
        </p:grpSpPr>
        <p:sp>
          <p:nvSpPr>
            <p:cNvPr id="15" name="Rectangle 15"/>
            <p:cNvSpPr/>
            <p:nvPr/>
          </p:nvSpPr>
          <p:spPr>
            <a:xfrm>
              <a:off x="609600" y="2343150"/>
              <a:ext cx="3505200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" y="23431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67001" y="2917508"/>
              <a:ext cx="15903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71.36%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2088" y="3495199"/>
              <a:ext cx="24202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softplus stable reparameterization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86824" y="3761899"/>
              <a:ext cx="17507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best MNIST test accuracy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343400" y="2343150"/>
            <a:ext cx="3505200" cy="1905000"/>
            <a:chOff x="4343400" y="2343150"/>
            <a:chExt cx="3505200" cy="1905000"/>
          </a:xfrm>
        </p:grpSpPr>
        <p:sp>
          <p:nvSpPr>
            <p:cNvPr id="21" name="Rectangle 21"/>
            <p:cNvSpPr/>
            <p:nvPr/>
          </p:nvSpPr>
          <p:spPr>
            <a:xfrm>
              <a:off x="4343400" y="2343150"/>
              <a:ext cx="3505200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43400" y="23431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300801" y="2917508"/>
              <a:ext cx="15903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68.47%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42588" y="3495199"/>
              <a:ext cx="17068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direct, unstable baseline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59043" y="3761899"/>
              <a:ext cx="20739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exp. &amp; inverse maps also &gt; 70%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077200" y="2343150"/>
            <a:ext cx="3505200" cy="1905000"/>
            <a:chOff x="8077200" y="2343150"/>
            <a:chExt cx="3505200" cy="1905000"/>
          </a:xfrm>
        </p:grpSpPr>
        <p:sp>
          <p:nvSpPr>
            <p:cNvPr id="27" name="Rectangle 27"/>
            <p:cNvSpPr/>
            <p:nvPr/>
          </p:nvSpPr>
          <p:spPr>
            <a:xfrm>
              <a:off x="8077200" y="2343150"/>
              <a:ext cx="3505200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077200" y="23431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915733" y="2982278"/>
              <a:ext cx="18281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10 vs 1000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40467" y="3495199"/>
              <a:ext cx="23786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epochs to fit exp. vs poly. memory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46533" y="3761899"/>
              <a:ext cx="27665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poly. targets still fail the stability test</a:t>
              </a:r>
            </a:p>
          </p:txBody>
        </p:sp>
      </p:grpSp>
      <p:sp>
        <p:nvSpPr>
          <p:cNvPr id="33" name="Rectangle 33"/>
          <p:cNvSpPr/>
          <p:nvPr/>
        </p:nvSpPr>
        <p:spPr>
          <a:xfrm>
            <a:off x="609600" y="4438650"/>
            <a:ext cx="10972800" cy="800100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 w="14288">
            <a:solidFill>
              <a:srgbClr val="26455F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70776" y="4645104"/>
            <a:ext cx="7719996" cy="2126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90" b="1" dirty="0">
                <a:solidFill>
                  <a:srgbClr val="48C78E"/>
                </a:solidFill>
                <a:latin typeface="+mn-lt"/>
                <a:ea typeface="+mn-ea"/>
                <a:cs typeface="+mn-cs"/>
              </a:rPr>
              <a:t>Stable reparameterization -&gt; nearly +3 points over the unstable baseline, and it converges far sooner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0776" y="4930854"/>
            <a:ext cx="7504210" cy="2126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9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Teacher-filtering experiment uses hidden dimension 256; only exponential-memory teachers survive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9680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TAKEAWAY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537756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curse of memory, and its cure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9600" y="1600200"/>
            <a:ext cx="10972800" cy="1298734"/>
            <a:chOff x="609600" y="1600200"/>
            <a:chExt cx="10972800" cy="1298734"/>
          </a:xfrm>
        </p:grpSpPr>
        <p:sp>
          <p:nvSpPr>
            <p:cNvPr id="5" name="Rectangle 5"/>
            <p:cNvSpPr/>
            <p:nvPr/>
          </p:nvSpPr>
          <p:spPr>
            <a:xfrm>
              <a:off x="609600" y="1600200"/>
              <a:ext cx="10972800" cy="1123950"/>
            </a:xfrm>
            <a:prstGeom prst="roundRect">
              <a:avLst>
                <a:gd name="adj" fmla="val 11864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600200"/>
              <a:ext cx="57150" cy="11239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71550" y="206692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21511" y="1903571"/>
              <a:ext cx="34230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limit baked into the architecture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3035" y="2240756"/>
              <a:ext cx="67109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 matter how they are trained, plain nonlinear RNNs can only stably approximate sequence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23035" y="2459831"/>
              <a:ext cx="66681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relationships whose memory fades exponentially, so the long-term-dependency struggle is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23035" y="2678906"/>
              <a:ext cx="28233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intrinsic, not just an optimizer issue.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2895600"/>
            <a:ext cx="10972800" cy="1123950"/>
            <a:chOff x="609600" y="2895600"/>
            <a:chExt cx="10972800" cy="1123950"/>
          </a:xfrm>
        </p:grpSpPr>
        <p:sp>
          <p:nvSpPr>
            <p:cNvPr id="13" name="Rectangle 13"/>
            <p:cNvSpPr/>
            <p:nvPr/>
          </p:nvSpPr>
          <p:spPr>
            <a:xfrm>
              <a:off x="609600" y="2895600"/>
              <a:ext cx="10972800" cy="1123950"/>
            </a:xfrm>
            <a:prstGeom prst="roundRect">
              <a:avLst>
                <a:gd name="adj" fmla="val 11864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9600" y="2895600"/>
              <a:ext cx="57150" cy="11239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71550" y="3362325"/>
              <a:ext cx="190500" cy="19050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21511" y="3198971"/>
              <a:ext cx="32125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But the analysis points to a cure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23035" y="3536156"/>
              <a:ext cx="5806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same stability argument that exposes the limit also shows how to relax it.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4191000"/>
            <a:ext cx="10972800" cy="1123950"/>
            <a:chOff x="609600" y="4191000"/>
            <a:chExt cx="10972800" cy="1123950"/>
          </a:xfrm>
        </p:grpSpPr>
        <p:sp>
          <p:nvSpPr>
            <p:cNvPr id="19" name="Rectangle 19"/>
            <p:cNvSpPr/>
            <p:nvPr/>
          </p:nvSpPr>
          <p:spPr>
            <a:xfrm>
              <a:off x="609600" y="4191000"/>
              <a:ext cx="10972800" cy="1123950"/>
            </a:xfrm>
            <a:prstGeom prst="roundRect">
              <a:avLst>
                <a:gd name="adj" fmla="val 11864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9600" y="4191000"/>
              <a:ext cx="57150" cy="112395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71550" y="4657725"/>
              <a:ext cx="190500" cy="19050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421511" y="4494371"/>
              <a:ext cx="3824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Reparameterize the recurrent weights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23035" y="4831556"/>
              <a:ext cx="69973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With a stable map like exponential or softplus, the network keeps eigenvalues near the edge of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23035" y="5050631"/>
              <a:ext cx="69570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stability, provably relaxing the curse and, on MNIST, training faster and generalizing better.</a:t>
              </a:r>
            </a:p>
          </p:txBody>
        </p:sp>
      </p:grpSp>
      <p:sp>
        <p:nvSpPr>
          <p:cNvPr id="26" name="Line 26"/>
          <p:cNvSpPr/>
          <p:nvPr/>
        </p:nvSpPr>
        <p:spPr>
          <a:xfrm>
            <a:off x="609600" y="5676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rnd">
            <a:solidFill>
              <a:srgbClr val="26455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03504" y="5890260"/>
            <a:ext cx="59106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Inverse Approximation Theory for Nonlinear Recurrent Neural Networks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4456" y="6177201"/>
            <a:ext cx="4829627" cy="198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1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ICLR 2024 · arXiv:2305.19190 · Microsoft Research Asia · NUS · IFIM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Free Design">
  <a:themeElements>
    <a:clrScheme name="Free Design">
      <a:dk1>
        <a:srgbClr val="EAF2FB"/>
      </a:dk1>
      <a:lt1>
        <a:srgbClr val="0B1B2B"/>
      </a:lt1>
      <a:dk2>
        <a:srgbClr val="9DB3C8"/>
      </a:dk2>
      <a:lt2>
        <a:srgbClr val="0B1B2B"/>
      </a:lt2>
      <a:accent1>
        <a:srgbClr val="4C9BE8"/>
      </a:accent1>
      <a:accent2>
        <a:srgbClr val="4C9BE8"/>
      </a:accent2>
      <a:accent3>
        <a:srgbClr val="4C9BE8"/>
      </a:accent3>
      <a:accent4>
        <a:srgbClr val="8064A2"/>
      </a:accent4>
      <a:accent5>
        <a:srgbClr val="12293D"/>
      </a:accent5>
      <a:accent6>
        <a:srgbClr val="16324A"/>
      </a:accent6>
      <a:hlink>
        <a:srgbClr val="4C9BE8"/>
      </a:hlink>
      <a:folHlink>
        <a:srgbClr val="4C9BE8"/>
      </a:folHlink>
    </a:clrScheme>
    <a:fontScheme name="Free 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2026-07-16T10:20:24Z</dcterms:created>
  <dcterms:modified xsi:type="dcterms:W3CDTF">2026-07-16T10:20:24Z</dcterms:modified>
  <cp:category/>
  <cp:contentStatus/>
</cp:coreProperties>
</file>
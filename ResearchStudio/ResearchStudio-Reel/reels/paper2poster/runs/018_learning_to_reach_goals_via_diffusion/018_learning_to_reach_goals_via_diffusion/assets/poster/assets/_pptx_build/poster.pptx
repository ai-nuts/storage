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179425"/>
          </a:xfrm>
          <a:prstGeom prst="roundRect">
            <a:avLst>
              <a:gd name="adj" fmla="val 5219"/>
            </a:avLst>
          </a:prstGeom>
          <a:solidFill>
            <a:srgbClr val="FFFFFF"/>
          </a:solidFill>
          <a:ln w="35560">
            <a:solidFill>
              <a:srgbClr val="0F607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988178" y="1127502"/>
            <a:ext cx="6189385" cy="2228195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887" y="4352766"/>
            <a:ext cx="16349682" cy="7429123"/>
          </a:xfrm>
          <a:prstGeom prst="roundRect">
            <a:avLst>
              <a:gd name="adj" fmla="val 2233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428289" y="4352766"/>
            <a:ext cx="16349682" cy="17547749"/>
          </a:xfrm>
          <a:prstGeom prst="roundRect">
            <a:avLst>
              <a:gd name="adj" fmla="val 1014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04691" y="4352766"/>
            <a:ext cx="16349821" cy="11148476"/>
          </a:xfrm>
          <a:prstGeom prst="roundRect">
            <a:avLst>
              <a:gd name="adj" fmla="val 1488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2113736"/>
            <a:ext cx="16349682" cy="17958216"/>
          </a:xfrm>
          <a:prstGeom prst="roundRect">
            <a:avLst>
              <a:gd name="adj" fmla="val 1014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15833090"/>
            <a:ext cx="16349821" cy="6051589"/>
          </a:xfrm>
          <a:prstGeom prst="roundRect">
            <a:avLst>
              <a:gd name="adj" fmla="val 2742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04691" y="22216526"/>
            <a:ext cx="16349821" cy="7855426"/>
          </a:xfrm>
          <a:prstGeom prst="roundRect">
            <a:avLst>
              <a:gd name="adj" fmla="val 2112"/>
            </a:avLst>
          </a:prstGeom>
          <a:solidFill>
            <a:srgbClr val="E9F2F3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04691" y="22216526"/>
            <a:ext cx="53340" cy="7855426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428289" y="22232362"/>
            <a:ext cx="16349682" cy="7839590"/>
          </a:xfrm>
          <a:prstGeom prst="roundRect">
            <a:avLst>
              <a:gd name="adj" fmla="val 2116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2658" y="1293368"/>
            <a:ext cx="5620425" cy="1896462"/>
          </a:xfrm>
          <a:prstGeom prst="rect">
            <a:avLst/>
          </a:prstGeom>
        </p:spPr>
      </p:pic>
      <p:pic>
        <p:nvPicPr>
          <p:cNvPr id="13" name="Picture 12" descr="mcgill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285" y="1490332"/>
            <a:ext cx="6300371" cy="1502396"/>
          </a:xfrm>
          <a:prstGeom prst="rect">
            <a:avLst/>
          </a:prstGeom>
        </p:spPr>
      </p:pic>
      <p:pic>
        <p:nvPicPr>
          <p:cNvPr id="14" name="Picture 13" descr="mila-quebec-ai-instit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630" y="1490342"/>
            <a:ext cx="4916865" cy="150237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60777" y="4361656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437179" y="4361656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213581" y="4361656"/>
            <a:ext cx="16332041" cy="1180425"/>
          </a:xfrm>
          <a:prstGeom prst="roundRect">
            <a:avLst>
              <a:gd name="adj" fmla="val 1405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592795" y="5942131"/>
            <a:ext cx="15573613" cy="990818"/>
          </a:xfrm>
          <a:prstGeom prst="roundRect">
            <a:avLst>
              <a:gd name="adj" fmla="val 21055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9991" y="9912766"/>
            <a:ext cx="15573474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9991" y="9912766"/>
            <a:ext cx="124460" cy="1481019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0777" y="12122626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7816393" y="12605881"/>
            <a:ext cx="15573474" cy="2822575"/>
          </a:xfrm>
          <a:prstGeom prst="roundRect">
            <a:avLst>
              <a:gd name="adj" fmla="val 7982"/>
            </a:avLst>
          </a:prstGeom>
          <a:solidFill>
            <a:srgbClr val="F1F5F6"/>
          </a:solidFill>
          <a:ln w="8890">
            <a:solidFill>
              <a:srgbClr val="B2C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213581" y="15841980"/>
            <a:ext cx="16332041" cy="1180425"/>
          </a:xfrm>
          <a:prstGeom prst="roundRect">
            <a:avLst>
              <a:gd name="adj" fmla="val 1405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592795" y="17342445"/>
            <a:ext cx="15573613" cy="4154130"/>
          </a:xfrm>
          <a:prstGeom prst="roundRect">
            <a:avLst>
              <a:gd name="adj" fmla="val 1712"/>
            </a:avLst>
          </a:prstGeom>
          <a:gradFill rotWithShape="1" flip="none">
            <a:gsLst>
              <a:gs pos="0">
                <a:srgbClr val="E2ECEE"/>
              </a:gs>
              <a:gs pos="100000">
                <a:srgbClr val="F1F5F6"/>
              </a:gs>
            </a:gsLst>
            <a:lin ang="5400000" scaled="0"/>
          </a:gradFill>
          <a:ln w="8890">
            <a:solidFill>
              <a:srgbClr val="C3D7DB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9991" y="18525370"/>
            <a:ext cx="15573474" cy="1647984"/>
          </a:xfrm>
          <a:prstGeom prst="roundRect">
            <a:avLst>
              <a:gd name="adj" fmla="val 12659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258031" y="22225416"/>
            <a:ext cx="16287591" cy="1180426"/>
          </a:xfrm>
          <a:prstGeom prst="roundRect">
            <a:avLst>
              <a:gd name="adj" fmla="val 1405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7437179" y="22241252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637245" y="26255225"/>
            <a:ext cx="15529163" cy="3428623"/>
          </a:xfrm>
          <a:prstGeom prst="roundRect">
            <a:avLst>
              <a:gd name="adj" fmla="val 532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637245" y="26255225"/>
            <a:ext cx="124460" cy="3428623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603491" y="7273686"/>
            <a:ext cx="15552222" cy="6559987"/>
          </a:xfrm>
          <a:prstGeom prst="roundRect">
            <a:avLst>
              <a:gd name="adj" fmla="val 144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ig_main_resul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03547" y="7273686"/>
            <a:ext cx="15552110" cy="6559987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8091705" y="15832812"/>
            <a:ext cx="15022711" cy="4400133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ig_metho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1847" y="15832812"/>
            <a:ext cx="15022427" cy="4400133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4800877" y="17564695"/>
            <a:ext cx="5119667" cy="37571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800877" y="17564695"/>
            <a:ext cx="11557" cy="3757136"/>
          </a:xfrm>
          <a:prstGeom prst="rect">
            <a:avLst/>
          </a:prstGeom>
          <a:solidFill>
            <a:srgbClr val="C3D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203205" y="20434081"/>
            <a:ext cx="15247045" cy="7970302"/>
          </a:xfrm>
          <a:prstGeom prst="roundRect">
            <a:avLst>
              <a:gd name="adj" fmla="val 118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g_concep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3257" y="20434081"/>
            <a:ext cx="15246942" cy="7970302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5126751" y="26411634"/>
            <a:ext cx="2152074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SO WHAT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816393" y="27887791"/>
            <a:ext cx="2925921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PointReach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898723" y="27887791"/>
            <a:ext cx="3097748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PointRooms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152879" y="27887791"/>
            <a:ext cx="2237086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Reacher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546373" y="27887791"/>
            <a:ext cx="3370421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SawyerReach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073203" y="27887791"/>
            <a:ext cx="3074134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SawyerDoor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7816393" y="28864024"/>
            <a:ext cx="3000236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FetchReach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973037" y="28864024"/>
            <a:ext cx="2753400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FetchPush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882846" y="28864024"/>
            <a:ext cx="2581572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FetchPick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620827" y="28864024"/>
            <a:ext cx="2728952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FetchSlide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9506187" y="28864024"/>
            <a:ext cx="2926199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HandReach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464460" y="1019294"/>
            <a:ext cx="24704060" cy="12594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0F6070"/>
                </a:solidFill>
                <a:latin typeface="Arial"/>
              </a:rPr>
              <a:t>Learning to Reach Goals via Diffusion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464460" y="2313483"/>
            <a:ext cx="24704060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C1C1C"/>
                </a:solidFill>
                <a:latin typeface="Arial"/>
              </a:rPr>
              <a:t>Vineet Jain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1,2</a:t>
            </a:r>
            <a:r>
              <a:rPr sz="3733" b="0">
                <a:solidFill>
                  <a:srgbClr val="1C1C1C"/>
                </a:solidFill>
                <a:latin typeface="Arial"/>
              </a:rPr>
              <a:t>  ·  Siamak Ravanbakhsh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1,2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464460" y="2982733"/>
            <a:ext cx="24704060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5555"/>
                </a:solidFill>
                <a:latin typeface="Arial"/>
              </a:rPr>
              <a:t>1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McGill University    </a:t>
            </a:r>
            <a:r>
              <a:rPr sz="3658" b="0" spc="52" baseline="30000">
                <a:solidFill>
                  <a:srgbClr val="555555"/>
                </a:solidFill>
                <a:latin typeface="Arial"/>
              </a:rPr>
              <a:t>2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Mila - Quebec AI Institute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0777" y="4361656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437179" y="4361656"/>
            <a:ext cx="16758622" cy="1357488"/>
          </a:xfrm>
          <a:prstGeom prst="rect">
            <a:avLst/>
          </a:prstGeom>
          <a:noFill/>
        </p:spPr>
        <p:txBody>
          <a:bodyPr wrap="non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213581" y="4361656"/>
            <a:ext cx="16758761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9991" y="5866566"/>
            <a:ext cx="16000194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Offline goal-conditioned RL must reach </a:t>
            </a:r>
            <a:r>
              <a:rPr sz="4106" b="1">
                <a:solidFill>
                  <a:srgbClr val="111111"/>
                </a:solidFill>
                <a:latin typeface="Arial"/>
              </a:rPr>
              <a:t>arbitrary goals</a:t>
            </a:r>
            <a:r>
              <a:rPr sz="4106" b="0">
                <a:solidFill>
                  <a:srgbClr val="1C1C1C"/>
                </a:solidFill>
                <a:latin typeface="Arial"/>
              </a:rPr>
              <a:t> from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fixed dataset under </a:t>
            </a:r>
            <a:r>
              <a:rPr sz="4106" b="1">
                <a:solidFill>
                  <a:srgbClr val="111111"/>
                </a:solidFill>
                <a:latin typeface="Arial"/>
              </a:rPr>
              <a:t>sparse binary rewards</a:t>
            </a:r>
            <a:r>
              <a:rPr sz="4106" b="0">
                <a:solidFill>
                  <a:srgbClr val="1C1C1C"/>
                </a:solidFill>
                <a:latin typeface="Arial"/>
              </a:rPr>
              <a:t>. Most methods lean 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learned </a:t>
            </a:r>
            <a:r>
              <a:rPr sz="4106" b="1">
                <a:solidFill>
                  <a:srgbClr val="111111"/>
                </a:solidFill>
                <a:latin typeface="Arial"/>
              </a:rPr>
              <a:t>value function</a:t>
            </a:r>
            <a:r>
              <a:rPr sz="4106" b="0">
                <a:solidFill>
                  <a:srgbClr val="1C1C1C"/>
                </a:solidFill>
                <a:latin typeface="Arial"/>
              </a:rPr>
              <a:t>, but here it is </a:t>
            </a:r>
            <a:r>
              <a:rPr sz="4106" b="1">
                <a:solidFill>
                  <a:srgbClr val="111111"/>
                </a:solidFill>
                <a:latin typeface="Arial"/>
              </a:rPr>
              <a:t>fragile</a:t>
            </a:r>
            <a:r>
              <a:rPr sz="4106" b="0">
                <a:solidFill>
                  <a:srgbClr val="1C1C1C"/>
                </a:solidFill>
                <a:latin typeface="Arial"/>
              </a:rPr>
              <a:t>: out-of-distribution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actions corrupt the estimates, and these errors compound over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time until the policy diverges.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592795" y="5942131"/>
            <a:ext cx="16000333" cy="1139440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Merlin-NP: best overall rank, ~10× faster.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9991" y="9912766"/>
            <a:ext cx="16000194" cy="17031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No reliable value function ⇒ offline goal-reaching stays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unstable.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0777" y="12122626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92272" y="14988123"/>
            <a:ext cx="13000367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Tinos"/>
              </a:rPr>
              <a:t>Goal-conditioned behavior cloning maximizes a lower bound on the goal log-likelihood, with no value function.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13581" y="15841980"/>
            <a:ext cx="16758761" cy="1357488"/>
          </a:xfrm>
          <a:prstGeom prst="rect">
            <a:avLst/>
          </a:prstGeom>
          <a:noFill/>
        </p:spPr>
        <p:txBody>
          <a:bodyPr wrap="square" lIns="379306" rIns="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9991" y="18525370"/>
            <a:ext cx="16000194" cy="1895181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0F6070"/>
                </a:solidFill>
                <a:latin typeface="Arial"/>
              </a:rPr>
              <a:t>Reversing a goal-departing walk sidesteps value estimation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0F6070"/>
                </a:solidFill>
                <a:latin typeface="Arial"/>
              </a:rPr>
              <a:t>entirely.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258031" y="22225416"/>
            <a:ext cx="16714311" cy="1357489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437179" y="22241252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Dataset / Benchmark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637245" y="23725882"/>
            <a:ext cx="15955883" cy="2608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Reframing goal-conditioned RL as </a:t>
            </a:r>
            <a:r>
              <a:rPr sz="4106" b="1">
                <a:solidFill>
                  <a:srgbClr val="111111"/>
                </a:solidFill>
                <a:latin typeface="Arial"/>
              </a:rPr>
              <a:t>reverse diffusion</a:t>
            </a:r>
            <a:r>
              <a:rPr sz="4106" b="0">
                <a:solidFill>
                  <a:srgbClr val="1C1C1C"/>
                </a:solidFill>
                <a:latin typeface="Arial"/>
              </a:rPr>
              <a:t> turns goal-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reaching into simple, </a:t>
            </a:r>
            <a:r>
              <a:rPr sz="4106" b="1">
                <a:solidFill>
                  <a:srgbClr val="111111"/>
                </a:solidFill>
                <a:latin typeface="Arial"/>
              </a:rPr>
              <a:t>value-free behavior cloning</a:t>
            </a:r>
            <a:r>
              <a:rPr sz="4106" b="0">
                <a:solidFill>
                  <a:srgbClr val="1C1C1C"/>
                </a:solidFill>
                <a:latin typeface="Arial"/>
              </a:rPr>
              <a:t> that matches or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beats state of the art, far more efficiently.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816375" y="5865038"/>
            <a:ext cx="1600021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Read an offline trajectory </a:t>
            </a:r>
            <a:r>
              <a:rPr sz="4106" b="1">
                <a:solidFill>
                  <a:srgbClr val="111111"/>
                </a:solidFill>
                <a:latin typeface="Arial"/>
              </a:rPr>
              <a:t>backwards</a:t>
            </a:r>
            <a:r>
              <a:rPr sz="4106" b="0">
                <a:solidFill>
                  <a:srgbClr val="1C1C1C"/>
                </a:solidFill>
                <a:latin typeface="Arial"/>
              </a:rPr>
              <a:t> from its goal; a forward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diffusion transform pushes states progressively </a:t>
            </a:r>
            <a:r>
              <a:rPr sz="4106" b="1">
                <a:solidFill>
                  <a:srgbClr val="111111"/>
                </a:solidFill>
                <a:latin typeface="Arial"/>
              </a:rPr>
              <a:t>away</a:t>
            </a:r>
            <a:r>
              <a:rPr sz="4106" b="0">
                <a:solidFill>
                  <a:srgbClr val="1C1C1C"/>
                </a:solidFill>
                <a:latin typeface="Arial"/>
              </a:rPr>
              <a:t> from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goal, like adding noise.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816375" y="8316178"/>
            <a:ext cx="16000212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Train a goal-conditioned policy to </a:t>
            </a:r>
            <a:r>
              <a:rPr sz="4106" b="1">
                <a:solidFill>
                  <a:srgbClr val="111111"/>
                </a:solidFill>
                <a:latin typeface="Arial"/>
              </a:rPr>
              <a:t>reverse</a:t>
            </a:r>
            <a:r>
              <a:rPr sz="4106" b="0">
                <a:solidFill>
                  <a:srgbClr val="1C1C1C"/>
                </a:solidFill>
                <a:latin typeface="Arial"/>
              </a:rPr>
              <a:t> the drift. At inference it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needs only a </a:t>
            </a:r>
            <a:r>
              <a:rPr sz="4106" b="1">
                <a:solidFill>
                  <a:srgbClr val="111111"/>
                </a:solidFill>
                <a:latin typeface="Arial"/>
              </a:rPr>
              <a:t>single denoising step</a:t>
            </a:r>
            <a:r>
              <a:rPr sz="4106" b="0">
                <a:solidFill>
                  <a:srgbClr val="1C1C1C"/>
                </a:solidFill>
                <a:latin typeface="Arial"/>
              </a:rPr>
              <a:t> per environment step.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816375" y="10011112"/>
            <a:ext cx="1600021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Three forward processes:</a:t>
            </a:r>
            <a:r>
              <a:rPr sz="4106" b="0">
                <a:solidFill>
                  <a:srgbClr val="1C1C1C"/>
                </a:solidFill>
                <a:latin typeface="Arial"/>
              </a:rPr>
              <a:t> a fixed rule (</a:t>
            </a:r>
            <a:r>
              <a:rPr sz="4106" b="1">
                <a:solidFill>
                  <a:srgbClr val="111111"/>
                </a:solidFill>
                <a:latin typeface="Arial"/>
              </a:rPr>
              <a:t>Merlin</a:t>
            </a:r>
            <a:r>
              <a:rPr sz="4106" b="0">
                <a:solidFill>
                  <a:srgbClr val="1C1C1C"/>
                </a:solidFill>
                <a:latin typeface="Arial"/>
              </a:rPr>
              <a:t>), a learned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parametric model (</a:t>
            </a:r>
            <a:r>
              <a:rPr sz="4106" b="1">
                <a:solidFill>
                  <a:srgbClr val="111111"/>
                </a:solidFill>
                <a:latin typeface="Arial"/>
              </a:rPr>
              <a:t>Merlin-P</a:t>
            </a:r>
            <a:r>
              <a:rPr sz="4106" b="0">
                <a:solidFill>
                  <a:srgbClr val="1C1C1C"/>
                </a:solidFill>
                <a:latin typeface="Arial"/>
              </a:rPr>
              <a:t>), and </a:t>
            </a:r>
            <a:r>
              <a:rPr sz="4106" b="1">
                <a:solidFill>
                  <a:srgbClr val="111111"/>
                </a:solidFill>
                <a:latin typeface="Arial"/>
              </a:rPr>
              <a:t>Merlin-NP</a:t>
            </a:r>
            <a:r>
              <a:rPr sz="4106" b="0">
                <a:solidFill>
                  <a:srgbClr val="1C1C1C"/>
                </a:solidFill>
                <a:latin typeface="Arial"/>
              </a:rPr>
              <a:t>, which stitches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nearest neighbors in a learned latent space.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9972" y="13623091"/>
            <a:ext cx="1600021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Diffusion models learn a target distribution </a:t>
            </a:r>
            <a:r>
              <a:rPr sz="4106" b="1">
                <a:solidFill>
                  <a:srgbClr val="111111"/>
                </a:solidFill>
                <a:latin typeface="Arial"/>
              </a:rPr>
              <a:t>without any value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function</a:t>
            </a:r>
            <a:r>
              <a:rPr sz="4106" b="0">
                <a:solidFill>
                  <a:srgbClr val="1C1C1C"/>
                </a:solidFill>
                <a:latin typeface="Arial"/>
              </a:rPr>
              <a:t>, by reversing a process that gradually turns clean data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into pure noise.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225513" y="13983275"/>
            <a:ext cx="14734759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Returns (left) and log inference time (right): Merlin variants (blue) beat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baselines while running ~10× faster.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9972" y="16074231"/>
            <a:ext cx="1600021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Cast goal states as that data distribution: build trajectories that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walk away</a:t>
            </a:r>
            <a:r>
              <a:rPr sz="4106" b="0">
                <a:solidFill>
                  <a:srgbClr val="1C1C1C"/>
                </a:solidFill>
                <a:latin typeface="Arial"/>
              </a:rPr>
              <a:t> from goals, then learn to </a:t>
            </a:r>
            <a:r>
              <a:rPr sz="4106" b="1">
                <a:solidFill>
                  <a:srgbClr val="111111"/>
                </a:solidFill>
                <a:latin typeface="Arial"/>
              </a:rPr>
              <a:t>reverse</a:t>
            </a:r>
            <a:r>
              <a:rPr sz="4106" b="0">
                <a:solidFill>
                  <a:srgbClr val="1C1C1C"/>
                </a:solidFill>
                <a:latin typeface="Arial"/>
              </a:rPr>
              <a:t> them, directly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analogous to learning the score.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692614" y="20382547"/>
            <a:ext cx="14235520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Forward (red) pushes states away from the goal (star); the learned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reverse policy (green) walks them back, shown on 2D navigation.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816375" y="23741717"/>
            <a:ext cx="1600021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Benchmark of Yang et al. (2021): </a:t>
            </a:r>
            <a:r>
              <a:rPr sz="4106" b="1">
                <a:solidFill>
                  <a:srgbClr val="111111"/>
                </a:solidFill>
                <a:latin typeface="Arial"/>
              </a:rPr>
              <a:t>10 control tasks</a:t>
            </a:r>
            <a:r>
              <a:rPr sz="4106" b="0">
                <a:solidFill>
                  <a:srgbClr val="1C1C1C"/>
                </a:solidFill>
                <a:latin typeface="Arial"/>
              </a:rPr>
              <a:t>, sparse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binary reward, trajectories capped at length </a:t>
            </a:r>
            <a:r>
              <a:rPr sz="4106" b="1">
                <a:solidFill>
                  <a:srgbClr val="111111"/>
                </a:solidFill>
                <a:latin typeface="Arial"/>
              </a:rPr>
              <a:t>T = 50</a:t>
            </a:r>
            <a:r>
              <a:rPr sz="4106" b="0">
                <a:solidFill>
                  <a:srgbClr val="1C1C1C"/>
                </a:solidFill>
                <a:latin typeface="Arial"/>
              </a:rPr>
              <a:t>, all averaged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over 10 seeds.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816375" y="26192857"/>
            <a:ext cx="16000212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Two regimes per task, </a:t>
            </a:r>
            <a:r>
              <a:rPr sz="4106" b="1">
                <a:solidFill>
                  <a:srgbClr val="111111"/>
                </a:solidFill>
                <a:latin typeface="Arial"/>
              </a:rPr>
              <a:t>expert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1">
                <a:solidFill>
                  <a:srgbClr val="111111"/>
                </a:solidFill>
                <a:latin typeface="Arial"/>
              </a:rPr>
              <a:t>random</a:t>
            </a:r>
            <a:r>
              <a:rPr sz="4106" b="0">
                <a:solidFill>
                  <a:srgbClr val="1C1C1C"/>
                </a:solidFill>
                <a:latin typeface="Arial"/>
              </a:rPr>
              <a:t>, in both </a:t>
            </a:r>
            <a:r>
              <a:rPr sz="4106" b="1">
                <a:solidFill>
                  <a:srgbClr val="111111"/>
                </a:solidFill>
                <a:latin typeface="Arial"/>
              </a:rPr>
              <a:t>state</a:t>
            </a:r>
            <a:r>
              <a:rPr sz="4106" b="0">
                <a:solidFill>
                  <a:srgbClr val="1C1C1C"/>
                </a:solidFill>
                <a:latin typeface="Arial"/>
              </a:rPr>
              <a:t>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pixel</a:t>
            </a:r>
            <a:r>
              <a:rPr sz="4106" b="0">
                <a:solidFill>
                  <a:srgbClr val="1C1C1C"/>
                </a:solidFill>
                <a:latin typeface="Arial"/>
              </a:rPr>
              <a:t> observation spaces.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126751" y="27258823"/>
            <a:ext cx="1510133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Diffusion </a:t>
            </a:r>
            <a:r>
              <a:rPr sz="4106" b="1">
                <a:solidFill>
                  <a:srgbClr val="111111"/>
                </a:solidFill>
                <a:latin typeface="Arial"/>
              </a:rPr>
              <a:t>in the state space</a:t>
            </a:r>
            <a:r>
              <a:rPr sz="4106" b="0">
                <a:solidFill>
                  <a:srgbClr val="1C1C1C"/>
                </a:solidFill>
                <a:latin typeface="Arial"/>
              </a:rPr>
              <a:t>, with one denoising step per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environment step, makes diffusion for RL both simple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scalable.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13143" y="28553985"/>
            <a:ext cx="14447985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Reverse diffusion policy: walk away from the goal, then learn to reverse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the walk and reach it from any start.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838659" y="17564695"/>
            <a:ext cx="9670191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0F6070"/>
                </a:solidFill>
                <a:latin typeface="Arial"/>
              </a:rPr>
              <a:t>~10×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838659" y="18939589"/>
            <a:ext cx="9670191" cy="1799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Faster end-to-end training &amp; inference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than other diffusion-based reinforcement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learning methods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838659" y="20503951"/>
            <a:ext cx="9670191" cy="940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Just one denoising step per environment step, versus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many for prior diffusion policies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79131" y="17564695"/>
            <a:ext cx="76386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1.7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203274" y="17698045"/>
            <a:ext cx="3562815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avg rank, state (of 10)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279131" y="18903890"/>
            <a:ext cx="107061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1.25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501089" y="19037240"/>
            <a:ext cx="3522038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avg rank, pixel (of 10)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279131" y="20243224"/>
            <a:ext cx="61349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057284" y="20376574"/>
            <a:ext cx="2666888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tasks · 10 seeds</a:t>
            </a:r>
          </a:p>
        </p:txBody>
      </p:sp>
      <p:pic>
        <p:nvPicPr>
          <p:cNvPr id="85" name="Picture 84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19499" y="13245544"/>
            <a:ext cx="14767262" cy="11348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
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unitab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unitab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445e49c22d92a58.png"/><Relationship Id="rId3" Type="http://schemas.openxmlformats.org/officeDocument/2006/relationships/image" Target="../media/image_d1e394e3eec25124.png"/><Relationship Id="rId4" Type="http://schemas.openxmlformats.org/officeDocument/2006/relationships/image" Target="../media/image_094c17dafa35d860.png"/><Relationship Id="rId5" Type="http://schemas.openxmlformats.org/officeDocument/2006/relationships/image" Target="../media/image_20821e04f7aeb785.png"/><Relationship Id="rId6" Type="http://schemas.openxmlformats.org/officeDocument/2006/relationships/image" Target="../media/image_6d82f11b135f23b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445e49c22d92a5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17ba62e645690a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33350" cy="6858000"/>
            <a:chOff x="0" y="0"/>
            <a:chExt cx="133350" cy="6858000"/>
          </a:xfrm>
        </p:grpSpPr>
        <p:sp>
          <p:nvSpPr>
            <p:cNvPr id="2" name="Rectangle 2"/>
            <p:cNvSpPr/>
            <p:nvPr/>
          </p:nvSpPr>
          <p:spPr>
            <a:xfrm>
              <a:off x="0" y="0"/>
              <a:ext cx="133350" cy="6858000"/>
            </a:xfrm>
            <a:prstGeom prst="rect">
              <a:avLst/>
            </a:prstGeom>
            <a:solidFill>
              <a:schemeClr val="accent2"/>
            </a:solidFill>
            <a:ln>
              <a:noFill/>
            </a:ln>
          </p:spPr>
        </p:sp>
      </p:grpSp>
      <p:grpSp>
        <p:nvGrpSpPr>
          <p:cNvPr id="6" name="Group 6"/>
          <p:cNvGrpSpPr/>
          <p:nvPr/>
        </p:nvGrpSpPr>
        <p:grpSpPr>
          <a:xfrm>
            <a:off x="757047" y="961549"/>
            <a:ext cx="4409409" cy="412908"/>
            <a:chOff x="757047" y="961549"/>
            <a:chExt cx="4409409" cy="412908"/>
          </a:xfrm>
        </p:grpSpPr>
        <p:sp>
          <p:nvSpPr>
            <p:cNvPr id="4" name="TextBox 4"/>
            <p:cNvSpPr txBox="1"/>
            <p:nvPr/>
          </p:nvSpPr>
          <p:spPr>
            <a:xfrm>
              <a:off x="757047" y="961549"/>
              <a:ext cx="1780709" cy="190690"/>
            </a:xfrm>
            <a:prstGeom prst="rect">
              <a:avLst/>
            </a:prstGeom>
            <a:noFill/>
            <a:ln>
              <a:noFill/>
            </a:ln>
          </p:spPr>
          <p:txBody>
            <a:bodyPr wrap="none" lIns="0" tIns="0" rIns="0" bIns="0" anchor="t" anchorCtr="0">
              <a:spAutoFit/>
            </a:bodyPr>
            <a:lstStyle/>
            <a:p>
              <a:pPr algn="l"/>
              <a:r>
                <a:rPr lang="en-US" sz="980" b="1" spc="225" dirty="0">
                  <a:solidFill>
                    <a:schemeClr val="accent2"/>
                  </a:solidFill>
                  <a:latin typeface="+mn-lt"/>
                  <a:ea typeface="+mn-ea"/>
                  <a:cs typeface="+mn-cs"/>
                </a:rPr>
                <a:t>PAPER · DEEP READ</a:t>
              </a:r>
            </a:p>
          </p:txBody>
        </p:sp>
        <p:sp>
          <p:nvSpPr>
            <p:cNvPr id="5" name="TextBox 5"/>
            <p:cNvSpPr txBox="1"/>
            <p:nvPr/>
          </p:nvSpPr>
          <p:spPr>
            <a:xfrm>
              <a:off x="757238" y="1198245"/>
              <a:ext cx="4409218" cy="176212"/>
            </a:xfrm>
            <a:prstGeom prst="rect">
              <a:avLst/>
            </a:prstGeom>
            <a:noFill/>
            <a:ln>
              <a:noFill/>
            </a:ln>
          </p:spPr>
          <p:txBody>
            <a:bodyPr wrap="none" lIns="0" tIns="0" rIns="0" bIns="0" anchor="t" anchorCtr="0">
              <a:spAutoFit/>
            </a:bodyPr>
            <a:lstStyle/>
            <a:p>
              <a:pPr algn="l"/>
              <a:r>
                <a:rPr lang="en-US" sz="900" spc="90" dirty="0">
                  <a:solidFill>
                    <a:schemeClr val="dk2"/>
                  </a:solidFill>
                  <a:latin typeface="+mn-lt"/>
                  <a:ea typeface="+mn-ea"/>
                  <a:cs typeface="+mn-cs"/>
                </a:rPr>
                <a:t>TABULAR FOUNDATION MODELS · ICLR 2024 · arXiv:2307.09249</a:t>
              </a:r>
            </a:p>
          </p:txBody>
        </p:sp>
      </p:grpSp>
      <p:grpSp>
        <p:nvGrpSpPr>
          <p:cNvPr id="9" name="Group 9"/>
          <p:cNvGrpSpPr/>
          <p:nvPr/>
        </p:nvGrpSpPr>
        <p:grpSpPr>
          <a:xfrm>
            <a:off x="744474" y="1532572"/>
            <a:ext cx="8442274" cy="1208151"/>
            <a:chOff x="744474" y="1532572"/>
            <a:chExt cx="8442274" cy="1208151"/>
          </a:xfrm>
        </p:grpSpPr>
        <p:sp>
          <p:nvSpPr>
            <p:cNvPr id="7" name="TextBox 7"/>
            <p:cNvSpPr txBox="1"/>
            <p:nvPr/>
          </p:nvSpPr>
          <p:spPr>
            <a:xfrm>
              <a:off x="744474" y="1532572"/>
              <a:ext cx="8442274"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j-lt"/>
                  <a:ea typeface="+mj-ea"/>
                  <a:cs typeface="+mj-cs"/>
                </a:rPr>
                <a:t>UniTabE: A Universal Pretraining</a:t>
              </a:r>
            </a:p>
          </p:txBody>
        </p:sp>
        <p:sp>
          <p:nvSpPr>
            <p:cNvPr id="8" name="TextBox 8"/>
            <p:cNvSpPr txBox="1"/>
            <p:nvPr/>
          </p:nvSpPr>
          <p:spPr>
            <a:xfrm>
              <a:off x="744474" y="2065972"/>
              <a:ext cx="7203898"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j-lt"/>
                  <a:ea typeface="+mj-ea"/>
                  <a:cs typeface="+mj-cs"/>
                </a:rPr>
                <a:t>Protocol for Tabular Models</a:t>
              </a:r>
            </a:p>
          </p:txBody>
        </p:sp>
      </p:grpSp>
      <p:grpSp>
        <p:nvGrpSpPr>
          <p:cNvPr id="13" name="Group 13"/>
          <p:cNvGrpSpPr/>
          <p:nvPr/>
        </p:nvGrpSpPr>
        <p:grpSpPr>
          <a:xfrm>
            <a:off x="753999" y="2781300"/>
            <a:ext cx="7353737" cy="766668"/>
            <a:chOff x="753999" y="2781300"/>
            <a:chExt cx="7353737" cy="766668"/>
          </a:xfrm>
        </p:grpSpPr>
        <p:sp>
          <p:nvSpPr>
            <p:cNvPr id="10" name="Line 10"/>
            <p:cNvSpPr/>
            <p:nvPr/>
          </p:nvSpPr>
          <p:spPr>
            <a:xfrm>
              <a:off x="781050" y="2781300"/>
              <a:ext cx="952500" cy="9525"/>
            </a:xfrm>
            <a:custGeom>
              <a:avLst/>
              <a:gdLst/>
              <a:ahLst/>
              <a:cxnLst/>
              <a:rect l="l" t="t" r="r" b="b"/>
              <a:pathLst>
                <a:path w="952500" h="9525">
                  <a:moveTo>
                    <a:pt x="0" y="0"/>
                  </a:moveTo>
                  <a:lnTo>
                    <a:pt x="952500" y="0"/>
                  </a:lnTo>
                </a:path>
              </a:pathLst>
            </a:custGeom>
            <a:noFill/>
            <a:ln w="19050">
              <a:solidFill>
                <a:schemeClr val="accent1"/>
              </a:solidFill>
            </a:ln>
          </p:spPr>
        </p:sp>
        <p:sp>
          <p:nvSpPr>
            <p:cNvPr id="11" name="TextBox 11"/>
            <p:cNvSpPr txBox="1"/>
            <p:nvPr/>
          </p:nvSpPr>
          <p:spPr>
            <a:xfrm>
              <a:off x="753999" y="2973229"/>
              <a:ext cx="5752178" cy="308039"/>
            </a:xfrm>
            <a:prstGeom prst="rect">
              <a:avLst/>
            </a:prstGeom>
            <a:noFill/>
            <a:ln>
              <a:noFill/>
            </a:ln>
          </p:spPr>
          <p:txBody>
            <a:bodyPr wrap="none" lIns="0" tIns="0" rIns="0" bIns="0" anchor="t" anchorCtr="0">
              <a:spAutoFit/>
            </a:bodyPr>
            <a:lstStyle/>
            <a:p>
              <a:pPr algn="l"/>
              <a:r>
                <a:rPr lang="en-US" sz="1580" i="1" dirty="0">
                  <a:solidFill>
                    <a:schemeClr val="dk1"/>
                  </a:solidFill>
                  <a:latin typeface="+mj-lt"/>
                  <a:ea typeface="+mj-ea"/>
                  <a:cs typeface="+mj-cs"/>
                </a:rPr>
                <a:t>Foundation models transformed language and vision,</a:t>
              </a:r>
            </a:p>
          </p:txBody>
        </p:sp>
        <p:sp>
          <p:nvSpPr>
            <p:cNvPr id="12" name="TextBox 12"/>
            <p:cNvSpPr txBox="1"/>
            <p:nvPr/>
          </p:nvSpPr>
          <p:spPr>
            <a:xfrm>
              <a:off x="753999" y="3239929"/>
              <a:ext cx="7353737" cy="308039"/>
            </a:xfrm>
            <a:prstGeom prst="rect">
              <a:avLst/>
            </a:prstGeom>
            <a:noFill/>
            <a:ln>
              <a:noFill/>
            </a:ln>
          </p:spPr>
          <p:txBody>
            <a:bodyPr wrap="none" lIns="0" tIns="0" rIns="0" bIns="0" anchor="t" anchorCtr="0">
              <a:spAutoFit/>
            </a:bodyPr>
            <a:lstStyle/>
            <a:p>
              <a:pPr algn="l"/>
              <a:r>
                <a:rPr lang="en-US" sz="1580" i="1" dirty="0">
                  <a:solidFill>
                    <a:schemeClr val="dk1"/>
                  </a:solidFill>
                  <a:latin typeface="+mj-lt"/>
                  <a:ea typeface="+mj-ea"/>
                  <a:cs typeface="+mj-cs"/>
                </a:rPr>
                <a:t>yet tabular data, the workhorse of data science, was left behind.</a:t>
              </a:r>
            </a:p>
          </p:txBody>
        </p:sp>
      </p:grpSp>
      <p:grpSp>
        <p:nvGrpSpPr>
          <p:cNvPr id="19" name="Group 19"/>
          <p:cNvGrpSpPr/>
          <p:nvPr/>
        </p:nvGrpSpPr>
        <p:grpSpPr>
          <a:xfrm>
            <a:off x="762000" y="3657600"/>
            <a:ext cx="7048500" cy="886206"/>
            <a:chOff x="762000" y="3657600"/>
            <a:chExt cx="7048500" cy="886206"/>
          </a:xfrm>
        </p:grpSpPr>
        <p:sp>
          <p:nvSpPr>
            <p:cNvPr id="14" name="Rectangle 14"/>
            <p:cNvSpPr/>
            <p:nvPr/>
          </p:nvSpPr>
          <p:spPr>
            <a:xfrm>
              <a:off x="762000" y="3657600"/>
              <a:ext cx="7048500" cy="876300"/>
            </a:xfrm>
            <a:prstGeom prst="roundRect">
              <a:avLst>
                <a:gd name="adj" fmla="val 10870"/>
              </a:avLst>
            </a:prstGeom>
            <a:solidFill>
              <a:schemeClr val="lt2"/>
            </a:solidFill>
            <a:ln w="9525">
              <a:solidFill>
                <a:schemeClr val="accent4"/>
              </a:solidFill>
            </a:ln>
          </p:spPr>
        </p:sp>
        <p:sp>
          <p:nvSpPr>
            <p:cNvPr id="15" name="Rectangle 15"/>
            <p:cNvSpPr/>
            <p:nvPr/>
          </p:nvSpPr>
          <p:spPr>
            <a:xfrm>
              <a:off x="762000" y="3657600"/>
              <a:ext cx="57150" cy="876300"/>
            </a:xfrm>
            <a:prstGeom prst="roundRect">
              <a:avLst>
                <a:gd name="adj" fmla="val 50000"/>
              </a:avLst>
            </a:prstGeom>
            <a:solidFill>
              <a:schemeClr val="accent2"/>
            </a:solidFill>
            <a:ln>
              <a:noFill/>
            </a:ln>
          </p:spPr>
        </p:sp>
        <p:sp>
          <p:nvSpPr>
            <p:cNvPr id="16" name="TextBox 16"/>
            <p:cNvSpPr txBox="1"/>
            <p:nvPr/>
          </p:nvSpPr>
          <p:spPr>
            <a:xfrm>
              <a:off x="985647" y="3838099"/>
              <a:ext cx="1486947"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GAP → UNITABE</a:t>
              </a:r>
            </a:p>
          </p:txBody>
        </p:sp>
        <p:sp>
          <p:nvSpPr>
            <p:cNvPr id="17" name="TextBox 17"/>
            <p:cNvSpPr txBox="1"/>
            <p:nvPr/>
          </p:nvSpPr>
          <p:spPr>
            <a:xfrm>
              <a:off x="984504" y="4080510"/>
              <a:ext cx="501775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Every table has a different schema, so models don't transfer.</a:t>
              </a:r>
            </a:p>
          </p:txBody>
        </p:sp>
        <p:sp>
          <p:nvSpPr>
            <p:cNvPr id="18" name="TextBox 18"/>
            <p:cNvSpPr txBox="1"/>
            <p:nvPr/>
          </p:nvSpPr>
          <p:spPr>
            <a:xfrm>
              <a:off x="984504" y="4309110"/>
              <a:ext cx="38250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UniTabE processes any table in one uniform way.</a:t>
              </a:r>
            </a:p>
          </p:txBody>
        </p:sp>
      </p:grpSp>
      <p:grpSp>
        <p:nvGrpSpPr>
          <p:cNvPr id="23" name="Group 23"/>
          <p:cNvGrpSpPr/>
          <p:nvPr/>
        </p:nvGrpSpPr>
        <p:grpSpPr>
          <a:xfrm>
            <a:off x="762000" y="4648200"/>
            <a:ext cx="7048500" cy="571500"/>
            <a:chOff x="762000" y="4648200"/>
            <a:chExt cx="7048500" cy="571500"/>
          </a:xfrm>
        </p:grpSpPr>
        <p:sp>
          <p:nvSpPr>
            <p:cNvPr id="20" name="Rectangle 20"/>
            <p:cNvSpPr/>
            <p:nvPr/>
          </p:nvSpPr>
          <p:spPr>
            <a:xfrm>
              <a:off x="762000" y="4648200"/>
              <a:ext cx="7048500" cy="571500"/>
            </a:xfrm>
            <a:prstGeom prst="roundRect">
              <a:avLst>
                <a:gd name="adj" fmla="val 16667"/>
              </a:avLst>
            </a:prstGeom>
            <a:solidFill>
              <a:schemeClr val="accent5"/>
            </a:solidFill>
            <a:ln w="9525">
              <a:solidFill>
                <a:schemeClr val="accent3"/>
              </a:solidFill>
            </a:ln>
          </p:spPr>
        </p:sp>
        <p:sp>
          <p:nvSpPr>
            <p:cNvPr id="21" name="TextBox 21"/>
            <p:cNvSpPr txBox="1"/>
            <p:nvPr/>
          </p:nvSpPr>
          <p:spPr>
            <a:xfrm>
              <a:off x="985838" y="4798695"/>
              <a:ext cx="316941"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HOW</a:t>
              </a:r>
            </a:p>
          </p:txBody>
        </p:sp>
        <p:sp>
          <p:nvSpPr>
            <p:cNvPr id="22" name="TextBox 22"/>
            <p:cNvSpPr txBox="1"/>
            <p:nvPr/>
          </p:nvSpPr>
          <p:spPr>
            <a:xfrm>
              <a:off x="984885" y="4983956"/>
              <a:ext cx="658580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TabUnit encodes each cell · Transformer refines the table · text prompts adapt to tasks</a:t>
              </a:r>
            </a:p>
          </p:txBody>
        </p:sp>
      </p:grpSp>
      <p:grpSp>
        <p:nvGrpSpPr>
          <p:cNvPr id="28" name="Group 28"/>
          <p:cNvGrpSpPr/>
          <p:nvPr/>
        </p:nvGrpSpPr>
        <p:grpSpPr>
          <a:xfrm>
            <a:off x="762000" y="5334000"/>
            <a:ext cx="7048500" cy="819150"/>
            <a:chOff x="762000" y="5334000"/>
            <a:chExt cx="7048500" cy="819150"/>
          </a:xfrm>
        </p:grpSpPr>
        <p:sp>
          <p:nvSpPr>
            <p:cNvPr id="24" name="Rectangle 24"/>
            <p:cNvSpPr/>
            <p:nvPr/>
          </p:nvSpPr>
          <p:spPr>
            <a:xfrm>
              <a:off x="762000" y="5334000"/>
              <a:ext cx="7048500" cy="819150"/>
            </a:xfrm>
            <a:prstGeom prst="roundRect">
              <a:avLst>
                <a:gd name="adj" fmla="val 11628"/>
              </a:avLst>
            </a:prstGeom>
            <a:solidFill>
              <a:srgbClr val="EEF6F3"/>
            </a:solidFill>
            <a:ln w="9525">
              <a:solidFill>
                <a:srgbClr val="2E9E5B"/>
              </a:solidFill>
            </a:ln>
          </p:spPr>
        </p:sp>
        <p:sp>
          <p:nvSpPr>
            <p:cNvPr id="25" name="Rectangle 25"/>
            <p:cNvSpPr/>
            <p:nvPr/>
          </p:nvSpPr>
          <p:spPr>
            <a:xfrm>
              <a:off x="762000" y="5334000"/>
              <a:ext cx="57150" cy="819150"/>
            </a:xfrm>
            <a:prstGeom prst="roundRect">
              <a:avLst>
                <a:gd name="adj" fmla="val 50000"/>
              </a:avLst>
            </a:prstGeom>
            <a:solidFill>
              <a:srgbClr val="2E9E5B"/>
            </a:solidFill>
            <a:ln>
              <a:noFill/>
            </a:ln>
          </p:spPr>
        </p:sp>
        <p:sp>
          <p:nvSpPr>
            <p:cNvPr id="26" name="TextBox 26"/>
            <p:cNvSpPr txBox="1"/>
            <p:nvPr/>
          </p:nvSpPr>
          <p:spPr>
            <a:xfrm>
              <a:off x="985647" y="5514499"/>
              <a:ext cx="139051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HEADLINE FINDING</a:t>
              </a:r>
            </a:p>
          </p:txBody>
        </p:sp>
        <p:sp>
          <p:nvSpPr>
            <p:cNvPr id="27" name="TextBox 27"/>
            <p:cNvSpPr txBox="1"/>
            <p:nvPr/>
          </p:nvSpPr>
          <p:spPr>
            <a:xfrm>
              <a:off x="984123" y="5767864"/>
              <a:ext cx="672849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Pretrained on </a:t>
              </a:r>
              <a:r>
                <a:rPr lang="en-US" sz="1280" b="1" dirty="0">
                  <a:solidFill>
                    <a:srgbClr val="2E9E5B"/>
                  </a:solidFill>
                  <a:latin typeface="+mn-lt"/>
                  <a:ea typeface="+mn-ea"/>
                  <a:cs typeface="+mn-cs"/>
                </a:rPr>
                <a:t>13B Kaggle samples</a:t>
              </a:r>
              <a:r>
                <a:rPr lang="en-US" sz="1280" dirty="0">
                  <a:solidFill>
                    <a:schemeClr val="dk1"/>
                  </a:solidFill>
                  <a:latin typeface="+mn-lt"/>
                  <a:ea typeface="+mn-ea"/>
                  <a:cs typeface="+mn-cs"/>
                </a:rPr>
                <a:t xml:space="preserve">, UniTabE </a:t>
              </a:r>
              <a:r>
                <a:rPr lang="en-US" sz="1280" b="1" dirty="0">
                  <a:solidFill>
                    <a:srgbClr val="2E9E5B"/>
                  </a:solidFill>
                  <a:latin typeface="+mn-lt"/>
                  <a:ea typeface="+mn-ea"/>
                  <a:cs typeface="+mn-cs"/>
                </a:rPr>
                <a:t>beats XGBoost</a:t>
              </a:r>
              <a:r>
                <a:rPr lang="en-US" sz="1280" dirty="0">
                  <a:solidFill>
                    <a:schemeClr val="dk1"/>
                  </a:solidFill>
                  <a:latin typeface="+mn-lt"/>
                  <a:ea typeface="+mn-ea"/>
                  <a:cs typeface="+mn-cs"/>
                </a:rPr>
                <a:t xml:space="preserve"> across benchmarks.</a:t>
              </a:r>
            </a:p>
          </p:txBody>
        </p:sp>
      </p:grpSp>
      <p:grpSp>
        <p:nvGrpSpPr>
          <p:cNvPr id="49" name="Group 49"/>
          <p:cNvGrpSpPr/>
          <p:nvPr/>
        </p:nvGrpSpPr>
        <p:grpSpPr>
          <a:xfrm>
            <a:off x="8153400" y="1428750"/>
            <a:ext cx="3467100" cy="4724400"/>
            <a:chOff x="8153400" y="1428750"/>
            <a:chExt cx="3467100" cy="4724400"/>
          </a:xfrm>
        </p:grpSpPr>
        <p:sp>
          <p:nvSpPr>
            <p:cNvPr id="29" name="Rectangle 29"/>
            <p:cNvSpPr/>
            <p:nvPr/>
          </p:nvSpPr>
          <p:spPr>
            <a:xfrm>
              <a:off x="8153400" y="1428750"/>
              <a:ext cx="3467100" cy="4724400"/>
            </a:xfrm>
            <a:prstGeom prst="roundRect">
              <a:avLst>
                <a:gd name="adj" fmla="val 3846"/>
              </a:avLst>
            </a:prstGeom>
            <a:solidFill>
              <a:schemeClr val="lt2"/>
            </a:solidFill>
            <a:ln w="9525">
              <a:solidFill>
                <a:schemeClr val="accent4"/>
              </a:solidFill>
            </a:ln>
          </p:spPr>
        </p:sp>
        <p:sp>
          <p:nvSpPr>
            <p:cNvPr id="30" name="TextBox 30"/>
            <p:cNvSpPr txBox="1"/>
            <p:nvPr/>
          </p:nvSpPr>
          <p:spPr>
            <a:xfrm>
              <a:off x="8377238" y="1655445"/>
              <a:ext cx="1943847" cy="176212"/>
            </a:xfrm>
            <a:prstGeom prst="rect">
              <a:avLst/>
            </a:prstGeom>
            <a:noFill/>
            <a:ln>
              <a:noFill/>
            </a:ln>
          </p:spPr>
          <p:txBody>
            <a:bodyPr wrap="none" lIns="0" tIns="0" rIns="0" bIns="0" anchor="t" anchorCtr="0">
              <a:spAutoFit/>
            </a:bodyPr>
            <a:lstStyle/>
            <a:p>
              <a:pPr algn="l"/>
              <a:r>
                <a:rPr lang="en-US" sz="900" b="1" spc="90" dirty="0">
                  <a:solidFill>
                    <a:schemeClr val="accent2"/>
                  </a:solidFill>
                  <a:latin typeface="+mn-lt"/>
                  <a:ea typeface="+mn-ea"/>
                  <a:cs typeface="+mn-cs"/>
                </a:rPr>
                <a:t>ARCHITECTURE AT A GLANCE</a:t>
              </a:r>
            </a:p>
          </p:txBody>
        </p:sp>
        <p:sp>
          <p:nvSpPr>
            <p:cNvPr id="31" name="Rectangle 31"/>
            <p:cNvSpPr/>
            <p:nvPr/>
          </p:nvSpPr>
          <p:spPr>
            <a:xfrm>
              <a:off x="8343900" y="1866900"/>
              <a:ext cx="3238500" cy="1009650"/>
            </a:xfrm>
            <a:prstGeom prst="roundRect">
              <a:avLst>
                <a:gd name="adj" fmla="val 7547"/>
              </a:avLst>
            </a:prstGeom>
            <a:solidFill>
              <a:schemeClr val="lt1"/>
            </a:solidFill>
            <a:ln w="9525">
              <a:solidFill>
                <a:schemeClr val="accent4"/>
              </a:solidFill>
            </a:ln>
          </p:spPr>
        </p:sp>
        <p:pic>
          <p:nvPicPr>
            <p:cNvPr id="32" name="Image 32"/>
            <p:cNvPicPr>
              <a:picLocks noChangeAspect="1"/>
            </p:cNvPicPr>
            <p:nvPr/>
          </p:nvPicPr>
          <p:blipFill>
            <a:blip r:embed="rId2"/>
            <a:stretch>
              <a:fillRect/>
            </a:stretch>
          </p:blipFill>
          <p:spPr>
            <a:xfrm>
              <a:off x="8382000" y="1905000"/>
              <a:ext cx="3162300" cy="923925"/>
            </a:xfrm>
            <a:prstGeom prst="rect">
              <a:avLst/>
            </a:prstGeom>
          </p:spPr>
        </p:pic>
        <p:sp>
          <p:nvSpPr>
            <p:cNvPr id="33" name="TextBox 33"/>
            <p:cNvSpPr txBox="1"/>
            <p:nvPr/>
          </p:nvSpPr>
          <p:spPr>
            <a:xfrm>
              <a:off x="8377238" y="2977991"/>
              <a:ext cx="259176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Cells → TabUnit → Transformer → shallow decoder</a:t>
              </a:r>
            </a:p>
          </p:txBody>
        </p:sp>
        <p:sp>
          <p:nvSpPr>
            <p:cNvPr id="34" name="Rectangle 34"/>
            <p:cNvSpPr/>
            <p:nvPr/>
          </p:nvSpPr>
          <p:spPr>
            <a:xfrm>
              <a:off x="8382000" y="3238500"/>
              <a:ext cx="3009900" cy="552450"/>
            </a:xfrm>
            <a:prstGeom prst="roundRect">
              <a:avLst>
                <a:gd name="adj" fmla="val 13793"/>
              </a:avLst>
            </a:prstGeom>
            <a:solidFill>
              <a:schemeClr val="lt1"/>
            </a:solidFill>
            <a:ln w="9525">
              <a:solidFill>
                <a:schemeClr val="accent4"/>
              </a:solidFill>
            </a:ln>
          </p:spPr>
        </p:sp>
        <p:sp>
          <p:nvSpPr>
            <p:cNvPr id="35" name="TextBox 35"/>
            <p:cNvSpPr txBox="1"/>
            <p:nvPr/>
          </p:nvSpPr>
          <p:spPr>
            <a:xfrm>
              <a:off x="8524494" y="3389948"/>
              <a:ext cx="60332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13B</a:t>
              </a:r>
            </a:p>
          </p:txBody>
        </p:sp>
        <p:sp>
          <p:nvSpPr>
            <p:cNvPr id="36" name="TextBox 36"/>
            <p:cNvSpPr txBox="1"/>
            <p:nvPr/>
          </p:nvSpPr>
          <p:spPr>
            <a:xfrm>
              <a:off x="9577197" y="3380899"/>
              <a:ext cx="1346662"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pretraining samples</a:t>
              </a:r>
            </a:p>
          </p:txBody>
        </p:sp>
        <p:sp>
          <p:nvSpPr>
            <p:cNvPr id="37" name="Rectangle 37"/>
            <p:cNvSpPr/>
            <p:nvPr/>
          </p:nvSpPr>
          <p:spPr>
            <a:xfrm>
              <a:off x="8382000" y="3867150"/>
              <a:ext cx="3009900" cy="552450"/>
            </a:xfrm>
            <a:prstGeom prst="roundRect">
              <a:avLst>
                <a:gd name="adj" fmla="val 13793"/>
              </a:avLst>
            </a:prstGeom>
            <a:solidFill>
              <a:schemeClr val="lt1"/>
            </a:solidFill>
            <a:ln w="9525">
              <a:solidFill>
                <a:schemeClr val="accent4"/>
              </a:solidFill>
            </a:ln>
          </p:spPr>
        </p:sp>
        <p:sp>
          <p:nvSpPr>
            <p:cNvPr id="38" name="TextBox 38"/>
            <p:cNvSpPr txBox="1"/>
            <p:nvPr/>
          </p:nvSpPr>
          <p:spPr>
            <a:xfrm>
              <a:off x="8524494" y="4018598"/>
              <a:ext cx="79782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283K</a:t>
              </a:r>
            </a:p>
          </p:txBody>
        </p:sp>
        <p:sp>
          <p:nvSpPr>
            <p:cNvPr id="39" name="TextBox 39"/>
            <p:cNvSpPr txBox="1"/>
            <p:nvPr/>
          </p:nvSpPr>
          <p:spPr>
            <a:xfrm>
              <a:off x="9577197" y="4009549"/>
              <a:ext cx="432404"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tables</a:t>
              </a:r>
            </a:p>
          </p:txBody>
        </p:sp>
        <p:sp>
          <p:nvSpPr>
            <p:cNvPr id="40" name="TextBox 40"/>
            <p:cNvSpPr txBox="1"/>
            <p:nvPr/>
          </p:nvSpPr>
          <p:spPr>
            <a:xfrm>
              <a:off x="9577388" y="4197191"/>
              <a:ext cx="644258"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303 domains</a:t>
              </a:r>
            </a:p>
          </p:txBody>
        </p:sp>
        <p:sp>
          <p:nvSpPr>
            <p:cNvPr id="41" name="Rectangle 41"/>
            <p:cNvSpPr/>
            <p:nvPr/>
          </p:nvSpPr>
          <p:spPr>
            <a:xfrm>
              <a:off x="8382000" y="4495800"/>
              <a:ext cx="3009900" cy="552450"/>
            </a:xfrm>
            <a:prstGeom prst="roundRect">
              <a:avLst>
                <a:gd name="adj" fmla="val 13793"/>
              </a:avLst>
            </a:prstGeom>
            <a:solidFill>
              <a:schemeClr val="lt1"/>
            </a:solidFill>
            <a:ln w="9525">
              <a:solidFill>
                <a:schemeClr val="accent4"/>
              </a:solidFill>
            </a:ln>
          </p:spPr>
        </p:sp>
        <p:sp>
          <p:nvSpPr>
            <p:cNvPr id="42" name="TextBox 42"/>
            <p:cNvSpPr txBox="1"/>
            <p:nvPr/>
          </p:nvSpPr>
          <p:spPr>
            <a:xfrm>
              <a:off x="8524494" y="4647248"/>
              <a:ext cx="660532"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0.83</a:t>
              </a:r>
            </a:p>
          </p:txBody>
        </p:sp>
        <p:sp>
          <p:nvSpPr>
            <p:cNvPr id="43" name="TextBox 43"/>
            <p:cNvSpPr txBox="1"/>
            <p:nvPr/>
          </p:nvSpPr>
          <p:spPr>
            <a:xfrm>
              <a:off x="9577197" y="4638199"/>
              <a:ext cx="522706"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avg AUC</a:t>
              </a:r>
            </a:p>
          </p:txBody>
        </p:sp>
        <p:sp>
          <p:nvSpPr>
            <p:cNvPr id="44" name="TextBox 44"/>
            <p:cNvSpPr txBox="1"/>
            <p:nvPr/>
          </p:nvSpPr>
          <p:spPr>
            <a:xfrm>
              <a:off x="9577388" y="4825841"/>
              <a:ext cx="732569"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7 benchmarks</a:t>
              </a:r>
            </a:p>
          </p:txBody>
        </p:sp>
        <p:pic>
          <p:nvPicPr>
            <p:cNvPr id="45" name="Image 45"/>
            <p:cNvPicPr>
              <a:picLocks noChangeAspect="1"/>
            </p:cNvPicPr>
            <p:nvPr/>
          </p:nvPicPr>
          <p:blipFill>
            <a:blip r:embed="rId3"/>
            <a:stretch>
              <a:fillRect/>
            </a:stretch>
          </p:blipFill>
          <p:spPr>
            <a:xfrm>
              <a:off x="8382000" y="5143500"/>
              <a:ext cx="609600" cy="609600"/>
            </a:xfrm>
            <a:prstGeom prst="rect">
              <a:avLst/>
            </a:prstGeom>
          </p:spPr>
        </p:pic>
        <p:sp>
          <p:nvSpPr>
            <p:cNvPr id="46" name="TextBox 46"/>
            <p:cNvSpPr txBox="1"/>
            <p:nvPr/>
          </p:nvSpPr>
          <p:spPr>
            <a:xfrm>
              <a:off x="9101138" y="5255895"/>
              <a:ext cx="1116010" cy="176212"/>
            </a:xfrm>
            <a:prstGeom prst="rect">
              <a:avLst/>
            </a:prstGeom>
            <a:noFill/>
            <a:ln>
              <a:noFill/>
            </a:ln>
          </p:spPr>
          <p:txBody>
            <a:bodyPr wrap="none" lIns="0" tIns="0" rIns="0" bIns="0" anchor="t" anchorCtr="0">
              <a:spAutoFit/>
            </a:bodyPr>
            <a:lstStyle/>
            <a:p>
              <a:pPr algn="l"/>
              <a:r>
                <a:rPr lang="en-US" sz="900" b="1" spc="75" dirty="0">
                  <a:solidFill>
                    <a:schemeClr val="accent1"/>
                  </a:solidFill>
                  <a:latin typeface="+mn-lt"/>
                  <a:ea typeface="+mn-ea"/>
                  <a:cs typeface="+mn-cs"/>
                </a:rPr>
                <a:t>READ THE PAPER</a:t>
              </a:r>
            </a:p>
          </p:txBody>
        </p:sp>
        <p:sp>
          <p:nvSpPr>
            <p:cNvPr id="47" name="TextBox 47"/>
            <p:cNvSpPr txBox="1"/>
            <p:nvPr/>
          </p:nvSpPr>
          <p:spPr>
            <a:xfrm>
              <a:off x="9101138" y="5454491"/>
              <a:ext cx="96403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arXiv:2307.09249</a:t>
              </a:r>
            </a:p>
          </p:txBody>
        </p:sp>
        <p:sp>
          <p:nvSpPr>
            <p:cNvPr id="48" name="TextBox 48"/>
            <p:cNvSpPr txBox="1"/>
            <p:nvPr/>
          </p:nvSpPr>
          <p:spPr>
            <a:xfrm>
              <a:off x="9101138" y="5625941"/>
              <a:ext cx="686706"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Scan to open</a:t>
              </a:r>
            </a:p>
          </p:txBody>
        </p:sp>
      </p:grpSp>
      <p:grpSp>
        <p:nvGrpSpPr>
          <p:cNvPr id="54" name="Group 54"/>
          <p:cNvGrpSpPr/>
          <p:nvPr/>
        </p:nvGrpSpPr>
        <p:grpSpPr>
          <a:xfrm>
            <a:off x="768970" y="6191250"/>
            <a:ext cx="4342359" cy="400050"/>
            <a:chOff x="768970" y="6191250"/>
            <a:chExt cx="4342359" cy="400050"/>
          </a:xfrm>
        </p:grpSpPr>
        <p:pic>
          <p:nvPicPr>
            <p:cNvPr id="50" name="Image 50"/>
            <p:cNvPicPr>
              <a:picLocks noChangeAspect="1"/>
            </p:cNvPicPr>
            <p:nvPr/>
          </p:nvPicPr>
          <p:blipFill>
            <a:blip r:embed="rId4"/>
            <a:stretch>
              <a:fillRect/>
            </a:stretch>
          </p:blipFill>
          <p:spPr>
            <a:xfrm>
              <a:off x="768970" y="6286500"/>
              <a:ext cx="1414811" cy="276225"/>
            </a:xfrm>
            <a:prstGeom prst="rect">
              <a:avLst/>
            </a:prstGeom>
          </p:spPr>
        </p:pic>
        <p:pic>
          <p:nvPicPr>
            <p:cNvPr id="51" name="Image 51"/>
            <p:cNvPicPr>
              <a:picLocks noChangeAspect="1"/>
            </p:cNvPicPr>
            <p:nvPr/>
          </p:nvPicPr>
          <p:blipFill>
            <a:blip r:embed="rId5"/>
            <a:stretch>
              <a:fillRect/>
            </a:stretch>
          </p:blipFill>
          <p:spPr>
            <a:xfrm>
              <a:off x="2381250" y="6191250"/>
              <a:ext cx="857250" cy="400050"/>
            </a:xfrm>
            <a:prstGeom prst="rect">
              <a:avLst/>
            </a:prstGeom>
          </p:spPr>
        </p:pic>
        <p:pic>
          <p:nvPicPr>
            <p:cNvPr id="52" name="Image 52"/>
            <p:cNvPicPr>
              <a:picLocks noChangeAspect="1"/>
            </p:cNvPicPr>
            <p:nvPr/>
          </p:nvPicPr>
          <p:blipFill>
            <a:blip r:embed="rId6"/>
            <a:stretch>
              <a:fillRect/>
            </a:stretch>
          </p:blipFill>
          <p:spPr>
            <a:xfrm>
              <a:off x="3429000" y="6229350"/>
              <a:ext cx="304800" cy="304800"/>
            </a:xfrm>
            <a:prstGeom prst="rect">
              <a:avLst/>
            </a:prstGeom>
          </p:spPr>
        </p:pic>
        <p:sp>
          <p:nvSpPr>
            <p:cNvPr id="53" name="TextBox 53"/>
            <p:cNvSpPr txBox="1"/>
            <p:nvPr/>
          </p:nvSpPr>
          <p:spPr>
            <a:xfrm>
              <a:off x="3824288" y="6349841"/>
              <a:ext cx="128704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HKU · BAAI · Creatify AI</a:t>
              </a:r>
            </a:p>
          </p:txBody>
        </p:sp>
      </p:grpSp>
      <p:sp>
        <p:nvSpPr>
          <p:cNvPr id="55" name="TextBox 5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01</a:t>
            </a:r>
          </a:p>
        </p:txBody>
      </p:sp>
      <p:sp>
        <p:nvSpPr>
          <p:cNvPr id="56" name="cue_s01_c1_foundation_models_transformed_langua" title="cue_s01_c1_foundation_models_transformed_langua" descr="cue_s01_c1_foundation_models_transformed_langua Foundation models have transformed language and vision, yet tabular data, the workhorse of data science, was left behind."/>
          <p:cNvSpPr/>
          <p:nvPr/>
        </p:nvSpPr>
        <p:spPr>
          <a:xfrm>
            <a:off x="753465" y="2781604"/>
            <a:ext cx="7354214" cy="7667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2_every_table_different_schema_trained" title="cue_s01_c2_every_table_different_schema_trained" descr="cue_s01_c2_every_table_different_schema_trained Every table has a different schema, so a model trained on one rarely transfers to another. This paper introduces UniTabE, a universal pretraining protocol that handles any table uniformly."/>
          <p:cNvSpPr/>
          <p:nvPr/>
        </p:nvSpPr>
        <p:spPr>
          <a:xfrm>
            <a:off x="762000" y="3657371"/>
            <a:ext cx="7048195" cy="88605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1_c3_encodes_cell_small_module_called" title="cue_s01_c3_encodes_cell_small_module_called" descr="cue_s01_c3_encodes_cell_small_module_called It encodes each cell with a small module called TabUnit, refines the table with a Transformer, and adapts through text prompts."/>
          <p:cNvSpPr/>
          <p:nvPr/>
        </p:nvSpPr>
        <p:spPr>
          <a:xfrm>
            <a:off x="762000" y="4648352"/>
            <a:ext cx="7048195"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1_c4_pretrained_thirteen_billion_kaggle_s" title="cue_s01_c4_pretrained_thirteen_billion_kaggle_s" descr="cue_s01_c4_pretrained_thirteen_billion_kaggle_s Pretrained on thirteen billion Kaggle samples, it beats XGBoost."/>
          <p:cNvSpPr/>
          <p:nvPr/>
        </p:nvSpPr>
        <p:spPr>
          <a:xfrm>
            <a:off x="762000" y="5334152"/>
            <a:ext cx="7048195"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467148" cy="656939"/>
            <a:chOff x="571500" y="533400"/>
            <a:chExt cx="746714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25150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problem: tables resist pretraining</a:t>
              </a:r>
            </a:p>
          </p:txBody>
        </p:sp>
        <p:sp>
          <p:nvSpPr>
            <p:cNvPr id="4" name="TextBox 4"/>
            <p:cNvSpPr txBox="1"/>
            <p:nvPr/>
          </p:nvSpPr>
          <p:spPr>
            <a:xfrm>
              <a:off x="795147" y="999649"/>
              <a:ext cx="342160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NO FOUNDATION MODEL FOR TABULAR DATA</a:t>
              </a:r>
            </a:p>
          </p:txBody>
        </p:sp>
      </p:grpSp>
      <p:grpSp>
        <p:nvGrpSpPr>
          <p:cNvPr id="13" name="Group 13"/>
          <p:cNvGrpSpPr/>
          <p:nvPr/>
        </p:nvGrpSpPr>
        <p:grpSpPr>
          <a:xfrm>
            <a:off x="571500" y="1447800"/>
            <a:ext cx="5429250" cy="2057400"/>
            <a:chOff x="571500" y="1447800"/>
            <a:chExt cx="5429250" cy="2057400"/>
          </a:xfrm>
        </p:grpSpPr>
        <p:sp>
          <p:nvSpPr>
            <p:cNvPr id="6" name="Rectangle 6"/>
            <p:cNvSpPr/>
            <p:nvPr/>
          </p:nvSpPr>
          <p:spPr>
            <a:xfrm>
              <a:off x="571500" y="1447800"/>
              <a:ext cx="5429250" cy="2057400"/>
            </a:xfrm>
            <a:prstGeom prst="roundRect">
              <a:avLst>
                <a:gd name="adj" fmla="val 5556"/>
              </a:avLst>
            </a:prstGeom>
            <a:solidFill>
              <a:schemeClr val="lt2"/>
            </a:solidFill>
            <a:ln w="9525">
              <a:solidFill>
                <a:schemeClr val="accent4"/>
              </a:solidFill>
            </a:ln>
          </p:spPr>
        </p:sp>
        <p:sp>
          <p:nvSpPr>
            <p:cNvPr id="7" name="Rectangle 7"/>
            <p:cNvSpPr/>
            <p:nvPr/>
          </p:nvSpPr>
          <p:spPr>
            <a:xfrm>
              <a:off x="571500" y="1447800"/>
              <a:ext cx="57150" cy="2057400"/>
            </a:xfrm>
            <a:prstGeom prst="roundRect">
              <a:avLst>
                <a:gd name="adj" fmla="val 50000"/>
              </a:avLst>
            </a:prstGeom>
            <a:solidFill>
              <a:schemeClr val="accent1"/>
            </a:solidFill>
            <a:ln>
              <a:noFill/>
            </a:ln>
          </p:spPr>
        </p:sp>
        <p:sp>
          <p:nvSpPr>
            <p:cNvPr id="8" name="TextBox 8"/>
            <p:cNvSpPr txBox="1"/>
            <p:nvPr/>
          </p:nvSpPr>
          <p:spPr>
            <a:xfrm>
              <a:off x="852297" y="1723549"/>
              <a:ext cx="181153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WHERE TABLES MATTER</a:t>
              </a:r>
            </a:p>
          </p:txBody>
        </p:sp>
        <p:sp>
          <p:nvSpPr>
            <p:cNvPr id="9" name="TextBox 9"/>
            <p:cNvSpPr txBox="1"/>
            <p:nvPr/>
          </p:nvSpPr>
          <p:spPr>
            <a:xfrm>
              <a:off x="847344" y="2018348"/>
              <a:ext cx="3609152"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Tables run the real world</a:t>
              </a:r>
            </a:p>
          </p:txBody>
        </p:sp>
        <p:sp>
          <p:nvSpPr>
            <p:cNvPr id="10" name="TextBox 10"/>
            <p:cNvSpPr txBox="1"/>
            <p:nvPr/>
          </p:nvSpPr>
          <p:spPr>
            <a:xfrm>
              <a:off x="850773" y="2491264"/>
              <a:ext cx="255169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Stock prediction, real-estate</a:t>
              </a:r>
            </a:p>
          </p:txBody>
        </p:sp>
        <p:sp>
          <p:nvSpPr>
            <p:cNvPr id="11" name="TextBox 11"/>
            <p:cNvSpPr txBox="1"/>
            <p:nvPr/>
          </p:nvSpPr>
          <p:spPr>
            <a:xfrm>
              <a:off x="850773" y="2738914"/>
              <a:ext cx="294228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forecasting, and credit scoring all</a:t>
              </a:r>
            </a:p>
          </p:txBody>
        </p:sp>
        <p:sp>
          <p:nvSpPr>
            <p:cNvPr id="12" name="TextBox 12"/>
            <p:cNvSpPr txBox="1"/>
            <p:nvPr/>
          </p:nvSpPr>
          <p:spPr>
            <a:xfrm>
              <a:off x="850773" y="2986564"/>
              <a:ext cx="275274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rest on rows-and-columns data.</a:t>
              </a:r>
            </a:p>
          </p:txBody>
        </p:sp>
      </p:grpSp>
      <p:grpSp>
        <p:nvGrpSpPr>
          <p:cNvPr id="21" name="Group 21"/>
          <p:cNvGrpSpPr/>
          <p:nvPr/>
        </p:nvGrpSpPr>
        <p:grpSpPr>
          <a:xfrm>
            <a:off x="6191250" y="1447800"/>
            <a:ext cx="5429250" cy="2057400"/>
            <a:chOff x="6191250" y="1447800"/>
            <a:chExt cx="5429250" cy="2057400"/>
          </a:xfrm>
        </p:grpSpPr>
        <p:sp>
          <p:nvSpPr>
            <p:cNvPr id="14" name="Rectangle 14"/>
            <p:cNvSpPr/>
            <p:nvPr/>
          </p:nvSpPr>
          <p:spPr>
            <a:xfrm>
              <a:off x="6191250" y="1447800"/>
              <a:ext cx="5429250" cy="2057400"/>
            </a:xfrm>
            <a:prstGeom prst="roundRect">
              <a:avLst>
                <a:gd name="adj" fmla="val 5556"/>
              </a:avLst>
            </a:prstGeom>
            <a:solidFill>
              <a:schemeClr val="lt2"/>
            </a:solidFill>
            <a:ln w="9525">
              <a:solidFill>
                <a:schemeClr val="accent4"/>
              </a:solidFill>
            </a:ln>
          </p:spPr>
        </p:sp>
        <p:sp>
          <p:nvSpPr>
            <p:cNvPr id="15" name="Rectangle 15"/>
            <p:cNvSpPr/>
            <p:nvPr/>
          </p:nvSpPr>
          <p:spPr>
            <a:xfrm>
              <a:off x="6191250" y="1447800"/>
              <a:ext cx="57150" cy="2057400"/>
            </a:xfrm>
            <a:prstGeom prst="roundRect">
              <a:avLst>
                <a:gd name="adj" fmla="val 50000"/>
              </a:avLst>
            </a:prstGeom>
            <a:solidFill>
              <a:schemeClr val="accent2"/>
            </a:solidFill>
            <a:ln>
              <a:noFill/>
            </a:ln>
          </p:spPr>
        </p:sp>
        <p:sp>
          <p:nvSpPr>
            <p:cNvPr id="16" name="TextBox 16"/>
            <p:cNvSpPr txBox="1"/>
            <p:nvPr/>
          </p:nvSpPr>
          <p:spPr>
            <a:xfrm>
              <a:off x="6472047" y="1723549"/>
              <a:ext cx="147962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MISSING PIECE</a:t>
              </a:r>
            </a:p>
          </p:txBody>
        </p:sp>
        <p:sp>
          <p:nvSpPr>
            <p:cNvPr id="17" name="TextBox 17"/>
            <p:cNvSpPr txBox="1"/>
            <p:nvPr/>
          </p:nvSpPr>
          <p:spPr>
            <a:xfrm>
              <a:off x="6467094" y="2018348"/>
              <a:ext cx="3434351"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No foundation model yet</a:t>
              </a:r>
            </a:p>
          </p:txBody>
        </p:sp>
        <p:sp>
          <p:nvSpPr>
            <p:cNvPr id="18" name="TextBox 18"/>
            <p:cNvSpPr txBox="1"/>
            <p:nvPr/>
          </p:nvSpPr>
          <p:spPr>
            <a:xfrm>
              <a:off x="6470523" y="2491264"/>
              <a:ext cx="264645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Unlike text and images, tabular</a:t>
              </a:r>
            </a:p>
          </p:txBody>
        </p:sp>
        <p:sp>
          <p:nvSpPr>
            <p:cNvPr id="19" name="TextBox 19"/>
            <p:cNvSpPr txBox="1"/>
            <p:nvPr/>
          </p:nvSpPr>
          <p:spPr>
            <a:xfrm>
              <a:off x="6470523" y="2738914"/>
              <a:ext cx="264935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data still has no widely adopted</a:t>
              </a:r>
            </a:p>
          </p:txBody>
        </p:sp>
        <p:sp>
          <p:nvSpPr>
            <p:cNvPr id="20" name="TextBox 20"/>
            <p:cNvSpPr txBox="1"/>
            <p:nvPr/>
          </p:nvSpPr>
          <p:spPr>
            <a:xfrm>
              <a:off x="6470523" y="2986564"/>
              <a:ext cx="248565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pretrained foundation model.</a:t>
              </a:r>
            </a:p>
          </p:txBody>
        </p:sp>
      </p:grpSp>
      <p:grpSp>
        <p:nvGrpSpPr>
          <p:cNvPr id="29" name="Group 29"/>
          <p:cNvGrpSpPr/>
          <p:nvPr/>
        </p:nvGrpSpPr>
        <p:grpSpPr>
          <a:xfrm>
            <a:off x="571500" y="3733800"/>
            <a:ext cx="5429250" cy="2057400"/>
            <a:chOff x="571500" y="3733800"/>
            <a:chExt cx="5429250" cy="2057400"/>
          </a:xfrm>
        </p:grpSpPr>
        <p:sp>
          <p:nvSpPr>
            <p:cNvPr id="22" name="Rectangle 22"/>
            <p:cNvSpPr/>
            <p:nvPr/>
          </p:nvSpPr>
          <p:spPr>
            <a:xfrm>
              <a:off x="571500" y="3733800"/>
              <a:ext cx="5429250" cy="2057400"/>
            </a:xfrm>
            <a:prstGeom prst="roundRect">
              <a:avLst>
                <a:gd name="adj" fmla="val 5556"/>
              </a:avLst>
            </a:prstGeom>
            <a:solidFill>
              <a:srgbClr val="FBEEEC"/>
            </a:solidFill>
            <a:ln w="9525">
              <a:solidFill>
                <a:srgbClr val="E7B6AE"/>
              </a:solidFill>
            </a:ln>
          </p:spPr>
        </p:sp>
        <p:sp>
          <p:nvSpPr>
            <p:cNvPr id="23" name="Rectangle 23"/>
            <p:cNvSpPr/>
            <p:nvPr/>
          </p:nvSpPr>
          <p:spPr>
            <a:xfrm>
              <a:off x="571500" y="3733800"/>
              <a:ext cx="57150" cy="2057400"/>
            </a:xfrm>
            <a:prstGeom prst="roundRect">
              <a:avLst>
                <a:gd name="adj" fmla="val 50000"/>
              </a:avLst>
            </a:prstGeom>
            <a:solidFill>
              <a:srgbClr val="C0392B"/>
            </a:solidFill>
            <a:ln>
              <a:noFill/>
            </a:ln>
          </p:spPr>
        </p:sp>
        <p:sp>
          <p:nvSpPr>
            <p:cNvPr id="24" name="TextBox 24"/>
            <p:cNvSpPr txBox="1"/>
            <p:nvPr/>
          </p:nvSpPr>
          <p:spPr>
            <a:xfrm>
              <a:off x="852297" y="4009549"/>
              <a:ext cx="1329381" cy="190690"/>
            </a:xfrm>
            <a:prstGeom prst="rect">
              <a:avLst/>
            </a:prstGeom>
            <a:noFill/>
            <a:ln>
              <a:noFill/>
            </a:ln>
          </p:spPr>
          <p:txBody>
            <a:bodyPr wrap="none" lIns="0" tIns="0" rIns="0" bIns="0" anchor="t" anchorCtr="0">
              <a:spAutoFit/>
            </a:bodyPr>
            <a:lstStyle/>
            <a:p>
              <a:pPr algn="l"/>
              <a:r>
                <a:rPr lang="en-US" sz="980" b="1" spc="112" dirty="0">
                  <a:solidFill>
                    <a:srgbClr val="C0392B"/>
                  </a:solidFill>
                  <a:latin typeface="+mn-lt"/>
                  <a:ea typeface="+mn-ea"/>
                  <a:cs typeface="+mn-cs"/>
                </a:rPr>
                <a:t>THE ROOT CAUSE</a:t>
              </a:r>
            </a:p>
          </p:txBody>
        </p:sp>
        <p:sp>
          <p:nvSpPr>
            <p:cNvPr id="25" name="TextBox 25"/>
            <p:cNvSpPr txBox="1"/>
            <p:nvPr/>
          </p:nvSpPr>
          <p:spPr>
            <a:xfrm>
              <a:off x="847344" y="4304348"/>
              <a:ext cx="4265753"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Endless, mismatched schemas</a:t>
              </a:r>
            </a:p>
          </p:txBody>
        </p:sp>
        <p:sp>
          <p:nvSpPr>
            <p:cNvPr id="26" name="TextBox 26"/>
            <p:cNvSpPr txBox="1"/>
            <p:nvPr/>
          </p:nvSpPr>
          <p:spPr>
            <a:xfrm>
              <a:off x="850773" y="4777264"/>
              <a:ext cx="314655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Different column names, data types,</a:t>
              </a:r>
            </a:p>
          </p:txBody>
        </p:sp>
        <p:sp>
          <p:nvSpPr>
            <p:cNvPr id="27" name="TextBox 27"/>
            <p:cNvSpPr txBox="1"/>
            <p:nvPr/>
          </p:nvSpPr>
          <p:spPr>
            <a:xfrm>
              <a:off x="850773" y="5024914"/>
              <a:ext cx="295951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and counts mean a model trained on</a:t>
              </a:r>
            </a:p>
          </p:txBody>
        </p:sp>
        <p:sp>
          <p:nvSpPr>
            <p:cNvPr id="28" name="TextBox 28"/>
            <p:cNvSpPr txBox="1"/>
            <p:nvPr/>
          </p:nvSpPr>
          <p:spPr>
            <a:xfrm>
              <a:off x="850773" y="5272564"/>
              <a:ext cx="321798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one table can't be reused on another.</a:t>
              </a:r>
            </a:p>
          </p:txBody>
        </p:sp>
      </p:grpSp>
      <p:grpSp>
        <p:nvGrpSpPr>
          <p:cNvPr id="37" name="Group 37"/>
          <p:cNvGrpSpPr/>
          <p:nvPr/>
        </p:nvGrpSpPr>
        <p:grpSpPr>
          <a:xfrm>
            <a:off x="6191250" y="3733800"/>
            <a:ext cx="5429250" cy="2057400"/>
            <a:chOff x="6191250" y="3733800"/>
            <a:chExt cx="5429250" cy="2057400"/>
          </a:xfrm>
        </p:grpSpPr>
        <p:sp>
          <p:nvSpPr>
            <p:cNvPr id="30" name="Rectangle 30"/>
            <p:cNvSpPr/>
            <p:nvPr/>
          </p:nvSpPr>
          <p:spPr>
            <a:xfrm>
              <a:off x="6191250" y="3733800"/>
              <a:ext cx="5429250" cy="2057400"/>
            </a:xfrm>
            <a:prstGeom prst="roundRect">
              <a:avLst>
                <a:gd name="adj" fmla="val 5556"/>
              </a:avLst>
            </a:prstGeom>
            <a:solidFill>
              <a:schemeClr val="lt2"/>
            </a:solidFill>
            <a:ln w="9525">
              <a:solidFill>
                <a:schemeClr val="accent4"/>
              </a:solidFill>
            </a:ln>
          </p:spPr>
        </p:sp>
        <p:sp>
          <p:nvSpPr>
            <p:cNvPr id="31" name="Rectangle 31"/>
            <p:cNvSpPr/>
            <p:nvPr/>
          </p:nvSpPr>
          <p:spPr>
            <a:xfrm>
              <a:off x="6191250" y="3733800"/>
              <a:ext cx="57150" cy="2057400"/>
            </a:xfrm>
            <a:prstGeom prst="roundRect">
              <a:avLst>
                <a:gd name="adj" fmla="val 50000"/>
              </a:avLst>
            </a:prstGeom>
            <a:solidFill>
              <a:srgbClr val="2E9E5B"/>
            </a:solidFill>
            <a:ln>
              <a:noFill/>
            </a:ln>
          </p:spPr>
        </p:sp>
        <p:sp>
          <p:nvSpPr>
            <p:cNvPr id="32" name="TextBox 32"/>
            <p:cNvSpPr txBox="1"/>
            <p:nvPr/>
          </p:nvSpPr>
          <p:spPr>
            <a:xfrm>
              <a:off x="6472047" y="4009549"/>
              <a:ext cx="192992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WHY WORKAROUNDS FAIL</a:t>
              </a:r>
            </a:p>
          </p:txBody>
        </p:sp>
        <p:sp>
          <p:nvSpPr>
            <p:cNvPr id="33" name="TextBox 33"/>
            <p:cNvSpPr txBox="1"/>
            <p:nvPr/>
          </p:nvSpPr>
          <p:spPr>
            <a:xfrm>
              <a:off x="6467094" y="4304348"/>
              <a:ext cx="353737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Two flawed workarounds</a:t>
              </a:r>
            </a:p>
          </p:txBody>
        </p:sp>
        <p:sp>
          <p:nvSpPr>
            <p:cNvPr id="34" name="TextBox 34"/>
            <p:cNvSpPr txBox="1"/>
            <p:nvPr/>
          </p:nvSpPr>
          <p:spPr>
            <a:xfrm>
              <a:off x="6470523" y="4777264"/>
              <a:ext cx="335331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Flatten to text → lose numeric meaning.</a:t>
              </a:r>
            </a:p>
          </p:txBody>
        </p:sp>
        <p:sp>
          <p:nvSpPr>
            <p:cNvPr id="35" name="TextBox 35"/>
            <p:cNvSpPr txBox="1"/>
            <p:nvPr/>
          </p:nvSpPr>
          <p:spPr>
            <a:xfrm>
              <a:off x="6470523" y="5024914"/>
              <a:ext cx="319856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Assume a fixed schema → no transfer.</a:t>
              </a:r>
            </a:p>
          </p:txBody>
        </p:sp>
        <p:sp>
          <p:nvSpPr>
            <p:cNvPr id="36" name="TextBox 36"/>
            <p:cNvSpPr txBox="1"/>
            <p:nvPr/>
          </p:nvSpPr>
          <p:spPr>
            <a:xfrm>
              <a:off x="6470523" y="5272564"/>
              <a:ext cx="268099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Both block knowledge transfer.</a:t>
              </a:r>
            </a:p>
          </p:txBody>
        </p:sp>
      </p:grpSp>
      <p:grpSp>
        <p:nvGrpSpPr>
          <p:cNvPr id="40" name="Group 40"/>
          <p:cNvGrpSpPr/>
          <p:nvPr/>
        </p:nvGrpSpPr>
        <p:grpSpPr>
          <a:xfrm>
            <a:off x="566738" y="6597491"/>
            <a:ext cx="11058524" cy="161925"/>
            <a:chOff x="566738" y="6597491"/>
            <a:chExt cx="11058524" cy="161925"/>
          </a:xfrm>
        </p:grpSpPr>
        <p:sp>
          <p:nvSpPr>
            <p:cNvPr id="38" name="TextBox 38"/>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39" name="TextBox 39"/>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02</a:t>
              </a:r>
            </a:p>
          </p:txBody>
        </p:sp>
      </p:grpSp>
      <p:sp>
        <p:nvSpPr>
          <p:cNvPr id="41" name="cue_s02_c1_tabular_underpins_applications_like" title="cue_s02_c1_tabular_underpins_applications_like" descr="cue_s02_c1_tabular_underpins_applications_like Tabular data underpins applications like stock prediction, real-estate forecasting, and credit scoring."/>
          <p:cNvSpPr/>
          <p:nvPr/>
        </p:nvSpPr>
        <p:spPr>
          <a:xfrm>
            <a:off x="571804"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2_yet_unlike_text_images_widely" title="cue_s02_c2_yet_unlike_text_images_widely" descr="cue_s02_c2_yet_unlike_text_images_widely Yet unlike text and images, it has no widely adopted foundation model."/>
          <p:cNvSpPr/>
          <p:nvPr/>
        </p:nvSpPr>
        <p:spPr>
          <a:xfrm>
            <a:off x="6191097"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3_reason_tables_come_endless_schemas" title="cue_s02_c3_reason_tables_come_endless_schemas" descr="cue_s02_c3_reason_tables_come_endless_schemas The reason: tables come in endless schemas, different column names, data types, and counts, so a model trained on one cannot be reused on another."/>
          <p:cNvSpPr/>
          <p:nvPr/>
        </p:nvSpPr>
        <p:spPr>
          <a:xfrm>
            <a:off x="571804"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4_existing_methods_either_flatten_tabl" title="cue_s02_c4_existing_methods_either_flatten_tabl" descr="cue_s02_c4_existing_methods_either_flatten_tabl Existing methods either flatten tables into text, losing numerical meaning, or assume train and test share a fixed structure. Both block knowledge transfer across tasks."/>
          <p:cNvSpPr/>
          <p:nvPr/>
        </p:nvSpPr>
        <p:spPr>
          <a:xfrm>
            <a:off x="6191097"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421050" cy="656939"/>
            <a:chOff x="571500" y="533400"/>
            <a:chExt cx="842105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20540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Can the pretraining recipe work for tables?</a:t>
              </a:r>
            </a:p>
          </p:txBody>
        </p:sp>
        <p:sp>
          <p:nvSpPr>
            <p:cNvPr id="4" name="TextBox 4"/>
            <p:cNvSpPr txBox="1"/>
            <p:nvPr/>
          </p:nvSpPr>
          <p:spPr>
            <a:xfrm>
              <a:off x="795147" y="999649"/>
              <a:ext cx="317751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LEARN ONCE, TRANSFER TO MANY TASKS</a:t>
              </a:r>
            </a:p>
          </p:txBody>
        </p:sp>
      </p:grpSp>
      <p:grpSp>
        <p:nvGrpSpPr>
          <p:cNvPr id="12" name="Group 12"/>
          <p:cNvGrpSpPr/>
          <p:nvPr/>
        </p:nvGrpSpPr>
        <p:grpSpPr>
          <a:xfrm>
            <a:off x="571500" y="1447800"/>
            <a:ext cx="5429250" cy="2057400"/>
            <a:chOff x="571500" y="1447800"/>
            <a:chExt cx="5429250" cy="2057400"/>
          </a:xfrm>
        </p:grpSpPr>
        <p:sp>
          <p:nvSpPr>
            <p:cNvPr id="6" name="Rectangle 6"/>
            <p:cNvSpPr/>
            <p:nvPr/>
          </p:nvSpPr>
          <p:spPr>
            <a:xfrm>
              <a:off x="571500" y="1447800"/>
              <a:ext cx="5429250" cy="2057400"/>
            </a:xfrm>
            <a:prstGeom prst="roundRect">
              <a:avLst>
                <a:gd name="adj" fmla="val 5556"/>
              </a:avLst>
            </a:prstGeom>
            <a:solidFill>
              <a:schemeClr val="accent1"/>
            </a:solidFill>
            <a:ln>
              <a:noFill/>
            </a:ln>
          </p:spPr>
        </p:sp>
        <p:sp>
          <p:nvSpPr>
            <p:cNvPr id="7" name="TextBox 7"/>
            <p:cNvSpPr txBox="1"/>
            <p:nvPr/>
          </p:nvSpPr>
          <p:spPr>
            <a:xfrm>
              <a:off x="852488" y="1731645"/>
              <a:ext cx="2208982"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PROMISE OF PRETRAINING</a:t>
              </a:r>
            </a:p>
          </p:txBody>
        </p:sp>
        <p:sp>
          <p:nvSpPr>
            <p:cNvPr id="8" name="TextBox 8"/>
            <p:cNvSpPr txBox="1"/>
            <p:nvPr/>
          </p:nvSpPr>
          <p:spPr>
            <a:xfrm>
              <a:off x="848106" y="2015490"/>
              <a:ext cx="376275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Learn once, transfer widely</a:t>
              </a:r>
            </a:p>
          </p:txBody>
        </p:sp>
        <p:sp>
          <p:nvSpPr>
            <p:cNvPr id="9" name="TextBox 9"/>
            <p:cNvSpPr txBox="1"/>
            <p:nvPr/>
          </p:nvSpPr>
          <p:spPr>
            <a:xfrm>
              <a:off x="851154" y="2480310"/>
              <a:ext cx="3167703" cy="234696"/>
            </a:xfrm>
            <a:prstGeom prst="rect">
              <a:avLst/>
            </a:prstGeom>
            <a:noFill/>
            <a:ln>
              <a:noFill/>
            </a:ln>
          </p:spPr>
          <p:txBody>
            <a:bodyPr wrap="none" lIns="0" tIns="0" rIns="0" bIns="0" anchor="t" anchorCtr="0">
              <a:spAutoFit/>
            </a:bodyPr>
            <a:lstStyle/>
            <a:p>
              <a:pPr algn="l"/>
              <a:r>
                <a:rPr lang="en-US" sz="1200" dirty="0">
                  <a:solidFill>
                    <a:srgbClr val="CBD5E1"/>
                  </a:solidFill>
                  <a:latin typeface="+mn-lt"/>
                  <a:ea typeface="+mn-ea"/>
                  <a:cs typeface="+mn-cs"/>
                </a:rPr>
                <a:t>A model absorbs general knowledge from</a:t>
              </a:r>
            </a:p>
          </p:txBody>
        </p:sp>
        <p:sp>
          <p:nvSpPr>
            <p:cNvPr id="10" name="TextBox 10"/>
            <p:cNvSpPr txBox="1"/>
            <p:nvPr/>
          </p:nvSpPr>
          <p:spPr>
            <a:xfrm>
              <a:off x="851154" y="2727960"/>
              <a:ext cx="3065374" cy="234696"/>
            </a:xfrm>
            <a:prstGeom prst="rect">
              <a:avLst/>
            </a:prstGeom>
            <a:noFill/>
            <a:ln>
              <a:noFill/>
            </a:ln>
          </p:spPr>
          <p:txBody>
            <a:bodyPr wrap="none" lIns="0" tIns="0" rIns="0" bIns="0" anchor="t" anchorCtr="0">
              <a:spAutoFit/>
            </a:bodyPr>
            <a:lstStyle/>
            <a:p>
              <a:pPr algn="l"/>
              <a:r>
                <a:rPr lang="en-US" sz="1200" dirty="0">
                  <a:solidFill>
                    <a:srgbClr val="CBD5E1"/>
                  </a:solidFill>
                  <a:latin typeface="+mn-lt"/>
                  <a:ea typeface="+mn-ea"/>
                  <a:cs typeface="+mn-cs"/>
                </a:rPr>
                <a:t>huge unlabeled data, then transfers it</a:t>
              </a:r>
            </a:p>
          </p:txBody>
        </p:sp>
        <p:sp>
          <p:nvSpPr>
            <p:cNvPr id="11" name="TextBox 11"/>
            <p:cNvSpPr txBox="1"/>
            <p:nvPr/>
          </p:nvSpPr>
          <p:spPr>
            <a:xfrm>
              <a:off x="851154" y="2975610"/>
              <a:ext cx="2839212" cy="234696"/>
            </a:xfrm>
            <a:prstGeom prst="rect">
              <a:avLst/>
            </a:prstGeom>
            <a:noFill/>
            <a:ln>
              <a:noFill/>
            </a:ln>
          </p:spPr>
          <p:txBody>
            <a:bodyPr wrap="none" lIns="0" tIns="0" rIns="0" bIns="0" anchor="t" anchorCtr="0">
              <a:spAutoFit/>
            </a:bodyPr>
            <a:lstStyle/>
            <a:p>
              <a:pPr algn="l"/>
              <a:r>
                <a:rPr lang="en-US" sz="1200" dirty="0">
                  <a:solidFill>
                    <a:srgbClr val="CBD5E1"/>
                  </a:solidFill>
                  <a:latin typeface="+mn-lt"/>
                  <a:ea typeface="+mn-ea"/>
                  <a:cs typeface="+mn-cs"/>
                </a:rPr>
                <a:t>cheaply to many downstream tasks.</a:t>
              </a:r>
            </a:p>
          </p:txBody>
        </p:sp>
      </p:grpSp>
      <p:grpSp>
        <p:nvGrpSpPr>
          <p:cNvPr id="20" name="Group 20"/>
          <p:cNvGrpSpPr/>
          <p:nvPr/>
        </p:nvGrpSpPr>
        <p:grpSpPr>
          <a:xfrm>
            <a:off x="6191250" y="1447800"/>
            <a:ext cx="5429250" cy="2057400"/>
            <a:chOff x="6191250" y="1447800"/>
            <a:chExt cx="5429250" cy="2057400"/>
          </a:xfrm>
        </p:grpSpPr>
        <p:sp>
          <p:nvSpPr>
            <p:cNvPr id="13" name="Rectangle 13"/>
            <p:cNvSpPr/>
            <p:nvPr/>
          </p:nvSpPr>
          <p:spPr>
            <a:xfrm>
              <a:off x="6191250" y="1447800"/>
              <a:ext cx="5429250" cy="2057400"/>
            </a:xfrm>
            <a:prstGeom prst="roundRect">
              <a:avLst>
                <a:gd name="adj" fmla="val 5556"/>
              </a:avLst>
            </a:prstGeom>
            <a:solidFill>
              <a:schemeClr val="accent5"/>
            </a:solidFill>
            <a:ln w="9525">
              <a:solidFill>
                <a:schemeClr val="accent3"/>
              </a:solidFill>
            </a:ln>
          </p:spPr>
        </p:sp>
        <p:sp>
          <p:nvSpPr>
            <p:cNvPr id="14" name="Rectangle 14"/>
            <p:cNvSpPr/>
            <p:nvPr/>
          </p:nvSpPr>
          <p:spPr>
            <a:xfrm>
              <a:off x="6191250" y="1447800"/>
              <a:ext cx="57150" cy="2057400"/>
            </a:xfrm>
            <a:prstGeom prst="roundRect">
              <a:avLst>
                <a:gd name="adj" fmla="val 50000"/>
              </a:avLst>
            </a:prstGeom>
            <a:solidFill>
              <a:schemeClr val="accent2"/>
            </a:solidFill>
            <a:ln>
              <a:noFill/>
            </a:ln>
          </p:spPr>
        </p:sp>
        <p:sp>
          <p:nvSpPr>
            <p:cNvPr id="15" name="TextBox 15"/>
            <p:cNvSpPr txBox="1"/>
            <p:nvPr/>
          </p:nvSpPr>
          <p:spPr>
            <a:xfrm>
              <a:off x="6472047" y="1723549"/>
              <a:ext cx="113651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QUESTION</a:t>
              </a:r>
            </a:p>
          </p:txBody>
        </p:sp>
        <p:sp>
          <p:nvSpPr>
            <p:cNvPr id="16" name="TextBox 16"/>
            <p:cNvSpPr txBox="1"/>
            <p:nvPr/>
          </p:nvSpPr>
          <p:spPr>
            <a:xfrm>
              <a:off x="6467094" y="2018348"/>
              <a:ext cx="3524612"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Does it work for tables?</a:t>
              </a:r>
            </a:p>
          </p:txBody>
        </p:sp>
        <p:sp>
          <p:nvSpPr>
            <p:cNvPr id="17" name="TextBox 17"/>
            <p:cNvSpPr txBox="1"/>
            <p:nvPr/>
          </p:nvSpPr>
          <p:spPr>
            <a:xfrm>
              <a:off x="6470523" y="2491264"/>
              <a:ext cx="295684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authors ask whether this same</a:t>
              </a:r>
            </a:p>
          </p:txBody>
        </p:sp>
        <p:sp>
          <p:nvSpPr>
            <p:cNvPr id="18" name="TextBox 18"/>
            <p:cNvSpPr txBox="1"/>
            <p:nvPr/>
          </p:nvSpPr>
          <p:spPr>
            <a:xfrm>
              <a:off x="6470523" y="2738914"/>
              <a:ext cx="296813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pretrain-then-transfer recipe can</a:t>
              </a:r>
            </a:p>
          </p:txBody>
        </p:sp>
        <p:sp>
          <p:nvSpPr>
            <p:cNvPr id="19" name="TextBox 19"/>
            <p:cNvSpPr txBox="1"/>
            <p:nvPr/>
          </p:nvSpPr>
          <p:spPr>
            <a:xfrm>
              <a:off x="6470523" y="2986564"/>
              <a:ext cx="283028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carry over to structured tables.</a:t>
              </a:r>
            </a:p>
          </p:txBody>
        </p:sp>
      </p:grpSp>
      <p:grpSp>
        <p:nvGrpSpPr>
          <p:cNvPr id="28" name="Group 28"/>
          <p:cNvGrpSpPr/>
          <p:nvPr/>
        </p:nvGrpSpPr>
        <p:grpSpPr>
          <a:xfrm>
            <a:off x="571500" y="3733800"/>
            <a:ext cx="5429250" cy="2057400"/>
            <a:chOff x="571500" y="3733800"/>
            <a:chExt cx="5429250" cy="2057400"/>
          </a:xfrm>
        </p:grpSpPr>
        <p:sp>
          <p:nvSpPr>
            <p:cNvPr id="21" name="Rectangle 21"/>
            <p:cNvSpPr/>
            <p:nvPr/>
          </p:nvSpPr>
          <p:spPr>
            <a:xfrm>
              <a:off x="571500" y="3733800"/>
              <a:ext cx="5429250" cy="2057400"/>
            </a:xfrm>
            <a:prstGeom prst="roundRect">
              <a:avLst>
                <a:gd name="adj" fmla="val 5556"/>
              </a:avLst>
            </a:prstGeom>
            <a:solidFill>
              <a:schemeClr val="lt2"/>
            </a:solidFill>
            <a:ln w="9525">
              <a:solidFill>
                <a:schemeClr val="accent4"/>
              </a:solidFill>
            </a:ln>
          </p:spPr>
        </p:sp>
        <p:sp>
          <p:nvSpPr>
            <p:cNvPr id="22" name="Rectangle 22"/>
            <p:cNvSpPr/>
            <p:nvPr/>
          </p:nvSpPr>
          <p:spPr>
            <a:xfrm>
              <a:off x="571500" y="3733800"/>
              <a:ext cx="57150" cy="2057400"/>
            </a:xfrm>
            <a:prstGeom prst="roundRect">
              <a:avLst>
                <a:gd name="adj" fmla="val 50000"/>
              </a:avLst>
            </a:prstGeom>
            <a:solidFill>
              <a:schemeClr val="accent1"/>
            </a:solidFill>
            <a:ln>
              <a:noFill/>
            </a:ln>
          </p:spPr>
        </p:sp>
        <p:sp>
          <p:nvSpPr>
            <p:cNvPr id="23" name="TextBox 23"/>
            <p:cNvSpPr txBox="1"/>
            <p:nvPr/>
          </p:nvSpPr>
          <p:spPr>
            <a:xfrm>
              <a:off x="852297" y="4009549"/>
              <a:ext cx="152353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THREE INGREDIENTS</a:t>
              </a:r>
            </a:p>
          </p:txBody>
        </p:sp>
        <p:sp>
          <p:nvSpPr>
            <p:cNvPr id="24" name="TextBox 24"/>
            <p:cNvSpPr txBox="1"/>
            <p:nvPr/>
          </p:nvSpPr>
          <p:spPr>
            <a:xfrm>
              <a:off x="847344" y="4304348"/>
              <a:ext cx="197941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What it takes</a:t>
              </a:r>
            </a:p>
          </p:txBody>
        </p:sp>
        <p:sp>
          <p:nvSpPr>
            <p:cNvPr id="25" name="TextBox 25"/>
            <p:cNvSpPr txBox="1"/>
            <p:nvPr/>
          </p:nvSpPr>
          <p:spPr>
            <a:xfrm>
              <a:off x="851154" y="4785360"/>
              <a:ext cx="274013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1 Represent any table, any schema</a:t>
              </a:r>
            </a:p>
          </p:txBody>
        </p:sp>
        <p:sp>
          <p:nvSpPr>
            <p:cNvPr id="26" name="TextBox 26"/>
            <p:cNvSpPr txBox="1"/>
            <p:nvPr/>
          </p:nvSpPr>
          <p:spPr>
            <a:xfrm>
              <a:off x="851154" y="5033010"/>
              <a:ext cx="276419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2 A framework for many objectives</a:t>
              </a:r>
            </a:p>
          </p:txBody>
        </p:sp>
        <p:sp>
          <p:nvSpPr>
            <p:cNvPr id="27" name="TextBox 27"/>
            <p:cNvSpPr txBox="1"/>
            <p:nvPr/>
          </p:nvSpPr>
          <p:spPr>
            <a:xfrm>
              <a:off x="851154" y="5280660"/>
              <a:ext cx="248941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3 Data large enough to pretrain</a:t>
              </a:r>
            </a:p>
          </p:txBody>
        </p:sp>
      </p:grpSp>
      <p:grpSp>
        <p:nvGrpSpPr>
          <p:cNvPr id="36" name="Group 36"/>
          <p:cNvGrpSpPr/>
          <p:nvPr/>
        </p:nvGrpSpPr>
        <p:grpSpPr>
          <a:xfrm>
            <a:off x="6191250" y="3733800"/>
            <a:ext cx="5429250" cy="2057400"/>
            <a:chOff x="6191250" y="3733800"/>
            <a:chExt cx="5429250" cy="2057400"/>
          </a:xfrm>
        </p:grpSpPr>
        <p:sp>
          <p:nvSpPr>
            <p:cNvPr id="29" name="Rectangle 29"/>
            <p:cNvSpPr/>
            <p:nvPr/>
          </p:nvSpPr>
          <p:spPr>
            <a:xfrm>
              <a:off x="6191250" y="3733800"/>
              <a:ext cx="5429250" cy="2057400"/>
            </a:xfrm>
            <a:prstGeom prst="roundRect">
              <a:avLst>
                <a:gd name="adj" fmla="val 5556"/>
              </a:avLst>
            </a:prstGeom>
            <a:solidFill>
              <a:schemeClr val="lt2"/>
            </a:solidFill>
            <a:ln w="9525">
              <a:solidFill>
                <a:schemeClr val="accent4"/>
              </a:solidFill>
            </a:ln>
          </p:spPr>
        </p:sp>
        <p:sp>
          <p:nvSpPr>
            <p:cNvPr id="30" name="Rectangle 30"/>
            <p:cNvSpPr/>
            <p:nvPr/>
          </p:nvSpPr>
          <p:spPr>
            <a:xfrm>
              <a:off x="6191250" y="3733800"/>
              <a:ext cx="57150" cy="2057400"/>
            </a:xfrm>
            <a:prstGeom prst="roundRect">
              <a:avLst>
                <a:gd name="adj" fmla="val 50000"/>
              </a:avLst>
            </a:prstGeom>
            <a:solidFill>
              <a:srgbClr val="2E9E5B"/>
            </a:solidFill>
            <a:ln>
              <a:noFill/>
            </a:ln>
          </p:spPr>
        </p:sp>
        <p:sp>
          <p:nvSpPr>
            <p:cNvPr id="31" name="TextBox 31"/>
            <p:cNvSpPr txBox="1"/>
            <p:nvPr/>
          </p:nvSpPr>
          <p:spPr>
            <a:xfrm>
              <a:off x="6472047" y="4009549"/>
              <a:ext cx="95097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PAYOFF</a:t>
              </a:r>
            </a:p>
          </p:txBody>
        </p:sp>
        <p:sp>
          <p:nvSpPr>
            <p:cNvPr id="32" name="TextBox 32"/>
            <p:cNvSpPr txBox="1"/>
            <p:nvPr/>
          </p:nvSpPr>
          <p:spPr>
            <a:xfrm>
              <a:off x="6467094" y="4304348"/>
              <a:ext cx="3308030"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One model, many tasks</a:t>
              </a:r>
            </a:p>
          </p:txBody>
        </p:sp>
        <p:sp>
          <p:nvSpPr>
            <p:cNvPr id="33" name="TextBox 33"/>
            <p:cNvSpPr txBox="1"/>
            <p:nvPr/>
          </p:nvSpPr>
          <p:spPr>
            <a:xfrm>
              <a:off x="6470523" y="4777264"/>
              <a:ext cx="337003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Classification · regression · imputation</a:t>
              </a:r>
            </a:p>
          </p:txBody>
        </p:sp>
        <p:sp>
          <p:nvSpPr>
            <p:cNvPr id="34" name="TextBox 34"/>
            <p:cNvSpPr txBox="1"/>
            <p:nvPr/>
          </p:nvSpPr>
          <p:spPr>
            <a:xfrm>
              <a:off x="6470523" y="5024914"/>
              <a:ext cx="320937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zero-shot · tables that gain columns,</a:t>
              </a:r>
            </a:p>
          </p:txBody>
        </p:sp>
        <p:sp>
          <p:nvSpPr>
            <p:cNvPr id="35" name="TextBox 35"/>
            <p:cNvSpPr txBox="1"/>
            <p:nvPr/>
          </p:nvSpPr>
          <p:spPr>
            <a:xfrm>
              <a:off x="6470523" y="5272564"/>
              <a:ext cx="278720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all without redesigning per task.</a:t>
              </a:r>
            </a:p>
          </p:txBody>
        </p:sp>
      </p:grpSp>
      <p:grpSp>
        <p:nvGrpSpPr>
          <p:cNvPr id="39" name="Group 39"/>
          <p:cNvGrpSpPr/>
          <p:nvPr/>
        </p:nvGrpSpPr>
        <p:grpSpPr>
          <a:xfrm>
            <a:off x="566738" y="6597491"/>
            <a:ext cx="11058524" cy="161925"/>
            <a:chOff x="566738" y="6597491"/>
            <a:chExt cx="11058524" cy="161925"/>
          </a:xfrm>
        </p:grpSpPr>
        <p:sp>
          <p:nvSpPr>
            <p:cNvPr id="37" name="TextBox 37"/>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38" name="TextBox 3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03</a:t>
              </a:r>
            </a:p>
          </p:txBody>
        </p:sp>
      </p:grpSp>
      <p:sp>
        <p:nvSpPr>
          <p:cNvPr id="40" name="cue_s03_c1_promise_pretraining_learns_general_k" title="cue_s03_c1_promise_pretraining_learns_general_k" descr="cue_s03_c1_promise_pretraining_learns_general_k The promise of pretraining is that a model learns general knowledge once from huge unlabeled data, then transfers it to many tasks."/>
          <p:cNvSpPr/>
          <p:nvPr/>
        </p:nvSpPr>
        <p:spPr>
          <a:xfrm>
            <a:off x="571804"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2_authors_ask_whether_recipe_work" title="cue_s03_c2_authors_ask_whether_recipe_work" descr="cue_s03_c2_authors_ask_whether_recipe_work The authors ask whether this recipe can work for tables."/>
          <p:cNvSpPr/>
          <p:nvPr/>
        </p:nvSpPr>
        <p:spPr>
          <a:xfrm>
            <a:off x="6191097"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3_three_ingredients_needed_way_represe" title="cue_s03_c3_three_ingredients_needed_way_represe" descr="cue_s03_c3_three_ingredients_needed_way_represe Three ingredients are needed: a way to represent any table regardless of schema, a training framework flexible enough for many objectives, and a data source large enough to pretrain at scale."/>
          <p:cNvSpPr/>
          <p:nvPr/>
        </p:nvSpPr>
        <p:spPr>
          <a:xfrm>
            <a:off x="571804"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4_together_one_tabular_could_handle" title="cue_s03_c4_together_one_tabular_could_handle" descr="cue_s03_c4_together_one_tabular_could_handle Together, one tabular model could handle classification, regression, missing-value imputation, zero-shot prediction, and tables that grow new columns, without redesigning per task."/>
          <p:cNvSpPr/>
          <p:nvPr/>
        </p:nvSpPr>
        <p:spPr>
          <a:xfrm>
            <a:off x="6191097"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284371" cy="656939"/>
            <a:chOff x="571500" y="533400"/>
            <a:chExt cx="8284371"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06872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Method: TabUnit + Transformer + prompts</a:t>
              </a:r>
            </a:p>
          </p:txBody>
        </p:sp>
        <p:sp>
          <p:nvSpPr>
            <p:cNvPr id="4" name="TextBox 4"/>
            <p:cNvSpPr txBox="1"/>
            <p:nvPr/>
          </p:nvSpPr>
          <p:spPr>
            <a:xfrm>
              <a:off x="795147" y="999649"/>
              <a:ext cx="455941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FIGURE 1 · STRUCTURE-FREE, CELL-LEVEL ARCHITECTURE</a:t>
              </a:r>
            </a:p>
          </p:txBody>
        </p:sp>
      </p:grpSp>
      <p:grpSp>
        <p:nvGrpSpPr>
          <p:cNvPr id="8" name="Group 8"/>
          <p:cNvGrpSpPr/>
          <p:nvPr/>
        </p:nvGrpSpPr>
        <p:grpSpPr>
          <a:xfrm>
            <a:off x="571500" y="1428750"/>
            <a:ext cx="11049000" cy="3257550"/>
            <a:chOff x="571500" y="1428750"/>
            <a:chExt cx="11049000" cy="3257550"/>
          </a:xfrm>
        </p:grpSpPr>
        <p:sp>
          <p:nvSpPr>
            <p:cNvPr id="6" name="Rectangle 6"/>
            <p:cNvSpPr/>
            <p:nvPr/>
          </p:nvSpPr>
          <p:spPr>
            <a:xfrm>
              <a:off x="571500" y="1428750"/>
              <a:ext cx="11049000" cy="3257550"/>
            </a:xfrm>
            <a:prstGeom prst="roundRect">
              <a:avLst>
                <a:gd name="adj" fmla="val 3509"/>
              </a:avLst>
            </a:prstGeom>
            <a:solidFill>
              <a:schemeClr val="lt2"/>
            </a:solidFill>
            <a:ln w="9525">
              <a:solidFill>
                <a:schemeClr val="accent4"/>
              </a:solidFill>
            </a:ln>
          </p:spPr>
        </p:sp>
        <p:pic>
          <p:nvPicPr>
            <p:cNvPr id="7" name="Image 7"/>
            <p:cNvPicPr>
              <a:picLocks noChangeAspect="1"/>
            </p:cNvPicPr>
            <p:nvPr/>
          </p:nvPicPr>
          <p:blipFill>
            <a:blip r:embed="rId2"/>
            <a:stretch>
              <a:fillRect/>
            </a:stretch>
          </p:blipFill>
          <p:spPr>
            <a:xfrm>
              <a:off x="765270" y="1504950"/>
              <a:ext cx="10661459" cy="3105150"/>
            </a:xfrm>
            <a:prstGeom prst="rect">
              <a:avLst/>
            </a:prstGeom>
          </p:spPr>
        </p:pic>
      </p:grpSp>
      <p:grpSp>
        <p:nvGrpSpPr>
          <p:cNvPr id="17" name="Group 17"/>
          <p:cNvGrpSpPr/>
          <p:nvPr/>
        </p:nvGrpSpPr>
        <p:grpSpPr>
          <a:xfrm>
            <a:off x="571500" y="4819650"/>
            <a:ext cx="2647950" cy="1504950"/>
            <a:chOff x="571500" y="4819650"/>
            <a:chExt cx="2647950" cy="1504950"/>
          </a:xfrm>
        </p:grpSpPr>
        <p:sp>
          <p:nvSpPr>
            <p:cNvPr id="9" name="Rectangle 9"/>
            <p:cNvSpPr/>
            <p:nvPr/>
          </p:nvSpPr>
          <p:spPr>
            <a:xfrm>
              <a:off x="571500" y="4819650"/>
              <a:ext cx="2647950" cy="1504950"/>
            </a:xfrm>
            <a:prstGeom prst="roundRect">
              <a:avLst>
                <a:gd name="adj" fmla="val 6329"/>
              </a:avLst>
            </a:prstGeom>
            <a:solidFill>
              <a:schemeClr val="lt1"/>
            </a:solidFill>
            <a:ln w="9525">
              <a:solidFill>
                <a:schemeClr val="accent4"/>
              </a:solidFill>
            </a:ln>
          </p:spPr>
        </p:sp>
        <p:sp>
          <p:nvSpPr>
            <p:cNvPr id="10" name="Rectangle 10"/>
            <p:cNvSpPr/>
            <p:nvPr/>
          </p:nvSpPr>
          <p:spPr>
            <a:xfrm>
              <a:off x="571500" y="4819650"/>
              <a:ext cx="2647950" cy="57150"/>
            </a:xfrm>
            <a:prstGeom prst="roundRect">
              <a:avLst>
                <a:gd name="adj" fmla="val 50000"/>
              </a:avLst>
            </a:prstGeom>
            <a:solidFill>
              <a:schemeClr val="accent1"/>
            </a:solidFill>
            <a:ln>
              <a:noFill/>
            </a:ln>
          </p:spPr>
        </p:sp>
        <p:sp>
          <p:nvSpPr>
            <p:cNvPr id="11" name="Ellipse 11"/>
            <p:cNvSpPr/>
            <p:nvPr/>
          </p:nvSpPr>
          <p:spPr>
            <a:xfrm>
              <a:off x="714375" y="5038725"/>
              <a:ext cx="285750" cy="285750"/>
            </a:xfrm>
            <a:prstGeom prst="ellipse">
              <a:avLst/>
            </a:prstGeom>
            <a:solidFill>
              <a:schemeClr val="accent1"/>
            </a:solidFill>
            <a:ln>
              <a:noFill/>
            </a:ln>
          </p:spPr>
        </p:sp>
        <p:sp>
          <p:nvSpPr>
            <p:cNvPr id="12" name="TextBox 12"/>
            <p:cNvSpPr txBox="1"/>
            <p:nvPr/>
          </p:nvSpPr>
          <p:spPr>
            <a:xfrm>
              <a:off x="804508" y="509968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3" name="TextBox 13"/>
            <p:cNvSpPr txBox="1"/>
            <p:nvPr/>
          </p:nvSpPr>
          <p:spPr>
            <a:xfrm>
              <a:off x="1098423" y="5091589"/>
              <a:ext cx="150047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TabUnit per cell</a:t>
              </a:r>
            </a:p>
          </p:txBody>
        </p:sp>
        <p:sp>
          <p:nvSpPr>
            <p:cNvPr id="14" name="TextBox 14"/>
            <p:cNvSpPr txBox="1"/>
            <p:nvPr/>
          </p:nvSpPr>
          <p:spPr>
            <a:xfrm>
              <a:off x="757238" y="5423297"/>
              <a:ext cx="1785484"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Each cell is a key-value pair:</a:t>
              </a:r>
            </a:p>
          </p:txBody>
        </p:sp>
        <p:sp>
          <p:nvSpPr>
            <p:cNvPr id="15" name="TextBox 15"/>
            <p:cNvSpPr txBox="1"/>
            <p:nvPr/>
          </p:nvSpPr>
          <p:spPr>
            <a:xfrm>
              <a:off x="757238" y="5632847"/>
              <a:ext cx="1471094"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column name is the key,</a:t>
              </a:r>
            </a:p>
          </p:txBody>
        </p:sp>
        <p:sp>
          <p:nvSpPr>
            <p:cNvPr id="16" name="TextBox 16"/>
            <p:cNvSpPr txBox="1"/>
            <p:nvPr/>
          </p:nvSpPr>
          <p:spPr>
            <a:xfrm>
              <a:off x="757238" y="5842397"/>
              <a:ext cx="1312916"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content is the value.</a:t>
              </a:r>
            </a:p>
          </p:txBody>
        </p:sp>
      </p:grpSp>
      <p:grpSp>
        <p:nvGrpSpPr>
          <p:cNvPr id="26" name="Group 26"/>
          <p:cNvGrpSpPr/>
          <p:nvPr/>
        </p:nvGrpSpPr>
        <p:grpSpPr>
          <a:xfrm>
            <a:off x="3343275" y="4819650"/>
            <a:ext cx="2647950" cy="1504950"/>
            <a:chOff x="3343275" y="4819650"/>
            <a:chExt cx="2647950" cy="1504950"/>
          </a:xfrm>
        </p:grpSpPr>
        <p:sp>
          <p:nvSpPr>
            <p:cNvPr id="18" name="Rectangle 18"/>
            <p:cNvSpPr/>
            <p:nvPr/>
          </p:nvSpPr>
          <p:spPr>
            <a:xfrm>
              <a:off x="3343275" y="4819650"/>
              <a:ext cx="2647950" cy="1504950"/>
            </a:xfrm>
            <a:prstGeom prst="roundRect">
              <a:avLst>
                <a:gd name="adj" fmla="val 6329"/>
              </a:avLst>
            </a:prstGeom>
            <a:solidFill>
              <a:schemeClr val="lt1"/>
            </a:solidFill>
            <a:ln w="9525">
              <a:solidFill>
                <a:schemeClr val="accent4"/>
              </a:solidFill>
            </a:ln>
          </p:spPr>
        </p:sp>
        <p:sp>
          <p:nvSpPr>
            <p:cNvPr id="19" name="Rectangle 19"/>
            <p:cNvSpPr/>
            <p:nvPr/>
          </p:nvSpPr>
          <p:spPr>
            <a:xfrm>
              <a:off x="3343275" y="4819650"/>
              <a:ext cx="2647950" cy="57150"/>
            </a:xfrm>
            <a:prstGeom prst="roundRect">
              <a:avLst>
                <a:gd name="adj" fmla="val 50000"/>
              </a:avLst>
            </a:prstGeom>
            <a:solidFill>
              <a:schemeClr val="accent2"/>
            </a:solidFill>
            <a:ln>
              <a:noFill/>
            </a:ln>
          </p:spPr>
        </p:sp>
        <p:sp>
          <p:nvSpPr>
            <p:cNvPr id="20" name="Ellipse 20"/>
            <p:cNvSpPr/>
            <p:nvPr/>
          </p:nvSpPr>
          <p:spPr>
            <a:xfrm>
              <a:off x="3486150" y="5038725"/>
              <a:ext cx="285750" cy="285750"/>
            </a:xfrm>
            <a:prstGeom prst="ellipse">
              <a:avLst/>
            </a:prstGeom>
            <a:solidFill>
              <a:schemeClr val="accent2"/>
            </a:solidFill>
            <a:ln>
              <a:noFill/>
            </a:ln>
          </p:spPr>
        </p:sp>
        <p:sp>
          <p:nvSpPr>
            <p:cNvPr id="21" name="TextBox 21"/>
            <p:cNvSpPr txBox="1"/>
            <p:nvPr/>
          </p:nvSpPr>
          <p:spPr>
            <a:xfrm>
              <a:off x="3576283" y="509968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2" name="TextBox 22"/>
            <p:cNvSpPr txBox="1"/>
            <p:nvPr/>
          </p:nvSpPr>
          <p:spPr>
            <a:xfrm>
              <a:off x="3870198" y="5091589"/>
              <a:ext cx="141396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Fuse data type</a:t>
              </a:r>
            </a:p>
          </p:txBody>
        </p:sp>
        <p:sp>
          <p:nvSpPr>
            <p:cNvPr id="23" name="TextBox 23"/>
            <p:cNvSpPr txBox="1"/>
            <p:nvPr/>
          </p:nvSpPr>
          <p:spPr>
            <a:xfrm>
              <a:off x="3529012" y="5423297"/>
              <a:ext cx="2058011"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Name is embedded + mean-pooled;</a:t>
              </a:r>
            </a:p>
          </p:txBody>
        </p:sp>
        <p:sp>
          <p:nvSpPr>
            <p:cNvPr id="24" name="TextBox 24"/>
            <p:cNvSpPr txBox="1"/>
            <p:nvPr/>
          </p:nvSpPr>
          <p:spPr>
            <a:xfrm>
              <a:off x="3529012" y="5632847"/>
              <a:ext cx="2059518"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a data-type gate marks numeric,</a:t>
              </a:r>
            </a:p>
          </p:txBody>
        </p:sp>
        <p:sp>
          <p:nvSpPr>
            <p:cNvPr id="25" name="TextBox 25"/>
            <p:cNvSpPr txBox="1"/>
            <p:nvPr/>
          </p:nvSpPr>
          <p:spPr>
            <a:xfrm>
              <a:off x="3529012" y="5842397"/>
              <a:ext cx="1452113"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categorical or textual.</a:t>
              </a:r>
            </a:p>
          </p:txBody>
        </p:sp>
      </p:grpSp>
      <p:grpSp>
        <p:nvGrpSpPr>
          <p:cNvPr id="35" name="Group 35"/>
          <p:cNvGrpSpPr/>
          <p:nvPr/>
        </p:nvGrpSpPr>
        <p:grpSpPr>
          <a:xfrm>
            <a:off x="6115050" y="4819650"/>
            <a:ext cx="2647950" cy="1504950"/>
            <a:chOff x="6115050" y="4819650"/>
            <a:chExt cx="2647950" cy="1504950"/>
          </a:xfrm>
        </p:grpSpPr>
        <p:sp>
          <p:nvSpPr>
            <p:cNvPr id="27" name="Rectangle 27"/>
            <p:cNvSpPr/>
            <p:nvPr/>
          </p:nvSpPr>
          <p:spPr>
            <a:xfrm>
              <a:off x="6115050" y="4819650"/>
              <a:ext cx="2647950" cy="1504950"/>
            </a:xfrm>
            <a:prstGeom prst="roundRect">
              <a:avLst>
                <a:gd name="adj" fmla="val 6329"/>
              </a:avLst>
            </a:prstGeom>
            <a:solidFill>
              <a:schemeClr val="lt1"/>
            </a:solidFill>
            <a:ln w="9525">
              <a:solidFill>
                <a:schemeClr val="accent4"/>
              </a:solidFill>
            </a:ln>
          </p:spPr>
        </p:sp>
        <p:sp>
          <p:nvSpPr>
            <p:cNvPr id="28" name="Rectangle 28"/>
            <p:cNvSpPr/>
            <p:nvPr/>
          </p:nvSpPr>
          <p:spPr>
            <a:xfrm>
              <a:off x="6115050" y="4819650"/>
              <a:ext cx="2647950" cy="57150"/>
            </a:xfrm>
            <a:prstGeom prst="roundRect">
              <a:avLst>
                <a:gd name="adj" fmla="val 50000"/>
              </a:avLst>
            </a:prstGeom>
            <a:solidFill>
              <a:srgbClr val="3B7DD8"/>
            </a:solidFill>
            <a:ln>
              <a:noFill/>
            </a:ln>
          </p:spPr>
        </p:sp>
        <p:sp>
          <p:nvSpPr>
            <p:cNvPr id="29" name="Ellipse 29"/>
            <p:cNvSpPr/>
            <p:nvPr/>
          </p:nvSpPr>
          <p:spPr>
            <a:xfrm>
              <a:off x="6257925" y="5038725"/>
              <a:ext cx="285750" cy="285750"/>
            </a:xfrm>
            <a:prstGeom prst="ellipse">
              <a:avLst/>
            </a:prstGeom>
            <a:solidFill>
              <a:srgbClr val="3B7DD8"/>
            </a:solidFill>
            <a:ln>
              <a:noFill/>
            </a:ln>
          </p:spPr>
        </p:sp>
        <p:sp>
          <p:nvSpPr>
            <p:cNvPr id="30" name="TextBox 30"/>
            <p:cNvSpPr txBox="1"/>
            <p:nvPr/>
          </p:nvSpPr>
          <p:spPr>
            <a:xfrm>
              <a:off x="6348058" y="509968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31" name="TextBox 31"/>
            <p:cNvSpPr txBox="1"/>
            <p:nvPr/>
          </p:nvSpPr>
          <p:spPr>
            <a:xfrm>
              <a:off x="6641973" y="5091589"/>
              <a:ext cx="1262663"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Link + encode</a:t>
              </a:r>
            </a:p>
          </p:txBody>
        </p:sp>
        <p:sp>
          <p:nvSpPr>
            <p:cNvPr id="32" name="TextBox 32"/>
            <p:cNvSpPr txBox="1"/>
            <p:nvPr/>
          </p:nvSpPr>
          <p:spPr>
            <a:xfrm>
              <a:off x="6300788" y="5423297"/>
              <a:ext cx="1848390"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A linking layer ties columns to</a:t>
              </a:r>
            </a:p>
          </p:txBody>
        </p:sp>
        <p:sp>
          <p:nvSpPr>
            <p:cNvPr id="33" name="TextBox 33"/>
            <p:cNvSpPr txBox="1"/>
            <p:nvPr/>
          </p:nvSpPr>
          <p:spPr>
            <a:xfrm>
              <a:off x="6300788" y="5632847"/>
              <a:ext cx="1622647"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values; all cells plus a CLS</a:t>
              </a:r>
            </a:p>
          </p:txBody>
        </p:sp>
        <p:sp>
          <p:nvSpPr>
            <p:cNvPr id="34" name="TextBox 34"/>
            <p:cNvSpPr txBox="1"/>
            <p:nvPr/>
          </p:nvSpPr>
          <p:spPr>
            <a:xfrm>
              <a:off x="6300788" y="5842397"/>
              <a:ext cx="2209481"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token pass a Transformer encoder.</a:t>
              </a:r>
            </a:p>
          </p:txBody>
        </p:sp>
      </p:grpSp>
      <p:grpSp>
        <p:nvGrpSpPr>
          <p:cNvPr id="44" name="Group 44"/>
          <p:cNvGrpSpPr/>
          <p:nvPr/>
        </p:nvGrpSpPr>
        <p:grpSpPr>
          <a:xfrm>
            <a:off x="8886825" y="4819650"/>
            <a:ext cx="2647950" cy="1504950"/>
            <a:chOff x="8886825" y="4819650"/>
            <a:chExt cx="2647950" cy="1504950"/>
          </a:xfrm>
        </p:grpSpPr>
        <p:sp>
          <p:nvSpPr>
            <p:cNvPr id="36" name="Rectangle 36"/>
            <p:cNvSpPr/>
            <p:nvPr/>
          </p:nvSpPr>
          <p:spPr>
            <a:xfrm>
              <a:off x="8886825" y="4819650"/>
              <a:ext cx="2647950" cy="1504950"/>
            </a:xfrm>
            <a:prstGeom prst="roundRect">
              <a:avLst>
                <a:gd name="adj" fmla="val 6329"/>
              </a:avLst>
            </a:prstGeom>
            <a:solidFill>
              <a:schemeClr val="lt1"/>
            </a:solidFill>
            <a:ln w="9525">
              <a:solidFill>
                <a:schemeClr val="accent4"/>
              </a:solidFill>
            </a:ln>
          </p:spPr>
        </p:sp>
        <p:sp>
          <p:nvSpPr>
            <p:cNvPr id="37" name="Rectangle 37"/>
            <p:cNvSpPr/>
            <p:nvPr/>
          </p:nvSpPr>
          <p:spPr>
            <a:xfrm>
              <a:off x="8886825" y="4819650"/>
              <a:ext cx="2647950" cy="57150"/>
            </a:xfrm>
            <a:prstGeom prst="roundRect">
              <a:avLst>
                <a:gd name="adj" fmla="val 50000"/>
              </a:avLst>
            </a:prstGeom>
            <a:solidFill>
              <a:srgbClr val="2E9E5B"/>
            </a:solidFill>
            <a:ln>
              <a:noFill/>
            </a:ln>
          </p:spPr>
        </p:sp>
        <p:sp>
          <p:nvSpPr>
            <p:cNvPr id="38" name="Ellipse 38"/>
            <p:cNvSpPr/>
            <p:nvPr/>
          </p:nvSpPr>
          <p:spPr>
            <a:xfrm>
              <a:off x="9029700" y="5038725"/>
              <a:ext cx="285750" cy="285750"/>
            </a:xfrm>
            <a:prstGeom prst="ellipse">
              <a:avLst/>
            </a:prstGeom>
            <a:solidFill>
              <a:srgbClr val="2E9E5B"/>
            </a:solidFill>
            <a:ln>
              <a:noFill/>
            </a:ln>
          </p:spPr>
        </p:sp>
        <p:sp>
          <p:nvSpPr>
            <p:cNvPr id="39" name="TextBox 39"/>
            <p:cNvSpPr txBox="1"/>
            <p:nvPr/>
          </p:nvSpPr>
          <p:spPr>
            <a:xfrm>
              <a:off x="9119833" y="509968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4</a:t>
              </a:r>
            </a:p>
          </p:txBody>
        </p:sp>
        <p:sp>
          <p:nvSpPr>
            <p:cNvPr id="40" name="TextBox 40"/>
            <p:cNvSpPr txBox="1"/>
            <p:nvPr/>
          </p:nvSpPr>
          <p:spPr>
            <a:xfrm>
              <a:off x="9413748" y="5091589"/>
              <a:ext cx="1507498"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Shallow decoder</a:t>
              </a:r>
            </a:p>
          </p:txBody>
        </p:sp>
        <p:sp>
          <p:nvSpPr>
            <p:cNvPr id="41" name="TextBox 41"/>
            <p:cNvSpPr txBox="1"/>
            <p:nvPr/>
          </p:nvSpPr>
          <p:spPr>
            <a:xfrm>
              <a:off x="9072562" y="5423297"/>
              <a:ext cx="1792175"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Weak LSTM decoder + prompt</a:t>
              </a:r>
            </a:p>
          </p:txBody>
        </p:sp>
        <p:sp>
          <p:nvSpPr>
            <p:cNvPr id="42" name="TextBox 42"/>
            <p:cNvSpPr txBox="1"/>
            <p:nvPr/>
          </p:nvSpPr>
          <p:spPr>
            <a:xfrm>
              <a:off x="9072562" y="5632847"/>
              <a:ext cx="2002574"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keeps knowledge in the encoder.</a:t>
              </a:r>
            </a:p>
          </p:txBody>
        </p:sp>
        <p:sp>
          <p:nvSpPr>
            <p:cNvPr id="43" name="TextBox 43"/>
            <p:cNvSpPr txBox="1"/>
            <p:nvPr/>
          </p:nvSpPr>
          <p:spPr>
            <a:xfrm>
              <a:off x="9072562" y="5842397"/>
              <a:ext cx="2076663"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Pretrain: masking + contrastive.</a:t>
              </a:r>
            </a:p>
          </p:txBody>
        </p:sp>
      </p:grpSp>
      <p:grpSp>
        <p:nvGrpSpPr>
          <p:cNvPr id="47" name="Group 47"/>
          <p:cNvGrpSpPr/>
          <p:nvPr/>
        </p:nvGrpSpPr>
        <p:grpSpPr>
          <a:xfrm>
            <a:off x="566738" y="6597491"/>
            <a:ext cx="11058524" cy="161925"/>
            <a:chOff x="566738" y="6597491"/>
            <a:chExt cx="11058524" cy="161925"/>
          </a:xfrm>
        </p:grpSpPr>
        <p:sp>
          <p:nvSpPr>
            <p:cNvPr id="45" name="TextBox 45"/>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46" name="TextBox 46"/>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04</a:t>
              </a:r>
            </a:p>
          </p:txBody>
        </p:sp>
      </p:grpSp>
      <p:sp>
        <p:nvSpPr>
          <p:cNvPr id="48" name="cue_s04_c1_unitabe_heart_module_called_tabunit" title="cue_s04_c1_unitabe_heart_module_called_tabunit" descr="cue_s04_c1_unitabe_heart_module_called_tabunit At UniTabE's heart is a module called TabUnit that handles one cell at a time. It treats each cell as a key-value pair: the column name is the key, the content the value."/>
          <p:cNvSpPr/>
          <p:nvPr/>
        </p:nvSpPr>
        <p:spPr>
          <a:xfrm>
            <a:off x="571804" y="4819802"/>
            <a:ext cx="2648102"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2_name_embedded_mean_pooled_data_type" title="cue_s04_c2_name_embedded_mean_pooled_data_type" descr="cue_s04_c2_name_embedded_mean_pooled_data_type The name is embedded and mean-pooled, and a data-type embedding, marking numerical, categorical, or textual, is fused in through a gate, so a salary column is handled whether its values are numbers or words."/>
          <p:cNvSpPr/>
          <p:nvPr/>
        </p:nvSpPr>
        <p:spPr>
          <a:xfrm>
            <a:off x="3343046" y="4819802"/>
            <a:ext cx="2648102"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3_linking_layer_injects_column_vector" title="cue_s04_c3_linking_layer_injects_column_vector" descr="cue_s04_c3_linking_layer_injects_column_vector A linking layer injects the column vector into each value token, so attention links values to their column. All cell vectors, plus a CLS token, pass through a Transformer encoder."/>
          <p:cNvSpPr/>
          <p:nvPr/>
        </p:nvSpPr>
        <p:spPr>
          <a:xfrm>
            <a:off x="6115507" y="4819802"/>
            <a:ext cx="2648102"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4_deliberately_shallow_lstm_decoder_gu" title="cue_s04_c4_deliberately_shallow_lstm_decoder_gu" descr="cue_s04_c4_deliberately_shallow_lstm_decoder_gu A deliberately shallow LSTM decoder, guided by a free-form prompt like fill in missing value salary, generates the answer token by token. Keeping the decoder weak forces most knowledge into the reusable encoder. Pretraining mixes multi-cell masking and contras"/>
          <p:cNvSpPr/>
          <p:nvPr/>
        </p:nvSpPr>
        <p:spPr>
          <a:xfrm>
            <a:off x="8886748" y="4819802"/>
            <a:ext cx="2648102"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549317" cy="656939"/>
            <a:chOff x="571500" y="533400"/>
            <a:chExt cx="854931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33367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 Kaggle-scale corpus, held-out benchmarks</a:t>
              </a:r>
            </a:p>
          </p:txBody>
        </p:sp>
        <p:sp>
          <p:nvSpPr>
            <p:cNvPr id="4" name="TextBox 4"/>
            <p:cNvSpPr txBox="1"/>
            <p:nvPr/>
          </p:nvSpPr>
          <p:spPr>
            <a:xfrm>
              <a:off x="795147" y="999649"/>
              <a:ext cx="372941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FIGURE 2 · DOMAIN &amp; DATA-TYPE DISTRIBUTION</a:t>
              </a:r>
            </a:p>
          </p:txBody>
        </p:sp>
      </p:grpSp>
      <p:grpSp>
        <p:nvGrpSpPr>
          <p:cNvPr id="11" name="Group 11"/>
          <p:cNvGrpSpPr/>
          <p:nvPr/>
        </p:nvGrpSpPr>
        <p:grpSpPr>
          <a:xfrm>
            <a:off x="571500" y="1447800"/>
            <a:ext cx="6858000" cy="4457700"/>
            <a:chOff x="571500" y="1447800"/>
            <a:chExt cx="6858000" cy="4457700"/>
          </a:xfrm>
        </p:grpSpPr>
        <p:sp>
          <p:nvSpPr>
            <p:cNvPr id="6" name="Rectangle 6"/>
            <p:cNvSpPr/>
            <p:nvPr/>
          </p:nvSpPr>
          <p:spPr>
            <a:xfrm>
              <a:off x="571500" y="1447800"/>
              <a:ext cx="6858000" cy="4457700"/>
            </a:xfrm>
            <a:prstGeom prst="roundRect">
              <a:avLst>
                <a:gd name="adj" fmla="val 2564"/>
              </a:avLst>
            </a:prstGeom>
            <a:solidFill>
              <a:schemeClr val="lt2"/>
            </a:solidFill>
            <a:ln w="9525">
              <a:solidFill>
                <a:schemeClr val="accent4"/>
              </a:solidFill>
            </a:ln>
          </p:spPr>
        </p:sp>
        <p:sp>
          <p:nvSpPr>
            <p:cNvPr id="7" name="TextBox 7"/>
            <p:cNvSpPr txBox="1"/>
            <p:nvPr/>
          </p:nvSpPr>
          <p:spPr>
            <a:xfrm>
              <a:off x="795338" y="1674495"/>
              <a:ext cx="3324179" cy="176212"/>
            </a:xfrm>
            <a:prstGeom prst="rect">
              <a:avLst/>
            </a:prstGeom>
            <a:noFill/>
            <a:ln>
              <a:noFill/>
            </a:ln>
          </p:spPr>
          <p:txBody>
            <a:bodyPr wrap="none" lIns="0" tIns="0" rIns="0" bIns="0" anchor="t" anchorCtr="0">
              <a:spAutoFit/>
            </a:bodyPr>
            <a:lstStyle/>
            <a:p>
              <a:pPr algn="l"/>
              <a:r>
                <a:rPr lang="en-US" sz="900" b="1" spc="90" dirty="0">
                  <a:solidFill>
                    <a:schemeClr val="accent2"/>
                  </a:solidFill>
                  <a:latin typeface="+mn-lt"/>
                  <a:ea typeface="+mn-ea"/>
                  <a:cs typeface="+mn-cs"/>
                </a:rPr>
                <a:t>DISTRIBUTION OF DOMAINS &amp; CELL DATA TYPES</a:t>
              </a:r>
            </a:p>
          </p:txBody>
        </p:sp>
        <p:pic>
          <p:nvPicPr>
            <p:cNvPr id="8" name="Image 8"/>
            <p:cNvPicPr>
              <a:picLocks noChangeAspect="1"/>
            </p:cNvPicPr>
            <p:nvPr/>
          </p:nvPicPr>
          <p:blipFill>
            <a:blip r:embed="rId2"/>
            <a:stretch>
              <a:fillRect/>
            </a:stretch>
          </p:blipFill>
          <p:spPr>
            <a:xfrm>
              <a:off x="728382" y="1905000"/>
              <a:ext cx="6544235" cy="2781300"/>
            </a:xfrm>
            <a:prstGeom prst="rect">
              <a:avLst/>
            </a:prstGeom>
          </p:spPr>
        </p:pic>
        <p:sp>
          <p:nvSpPr>
            <p:cNvPr id="9" name="TextBox 9"/>
            <p:cNvSpPr txBox="1"/>
            <p:nvPr/>
          </p:nvSpPr>
          <p:spPr>
            <a:xfrm>
              <a:off x="795147" y="4942999"/>
              <a:ext cx="360139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Left: tables per domain. Right: numeric / categorical /</a:t>
              </a:r>
            </a:p>
          </p:txBody>
        </p:sp>
        <p:sp>
          <p:nvSpPr>
            <p:cNvPr id="10" name="TextBox 10"/>
            <p:cNvSpPr txBox="1"/>
            <p:nvPr/>
          </p:nvSpPr>
          <p:spPr>
            <a:xfrm>
              <a:off x="795147" y="5152549"/>
              <a:ext cx="369068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textual cell proportions across train / dev / test splits.</a:t>
              </a:r>
            </a:p>
          </p:txBody>
        </p:sp>
      </p:grpSp>
      <p:grpSp>
        <p:nvGrpSpPr>
          <p:cNvPr id="18" name="Group 18"/>
          <p:cNvGrpSpPr/>
          <p:nvPr/>
        </p:nvGrpSpPr>
        <p:grpSpPr>
          <a:xfrm>
            <a:off x="7620000" y="1447800"/>
            <a:ext cx="4000500" cy="1409700"/>
            <a:chOff x="7620000" y="1447800"/>
            <a:chExt cx="4000500" cy="1409700"/>
          </a:xfrm>
        </p:grpSpPr>
        <p:sp>
          <p:nvSpPr>
            <p:cNvPr id="12" name="Rectangle 12"/>
            <p:cNvSpPr/>
            <p:nvPr/>
          </p:nvSpPr>
          <p:spPr>
            <a:xfrm>
              <a:off x="7620000" y="1447800"/>
              <a:ext cx="4000500" cy="1409700"/>
            </a:xfrm>
            <a:prstGeom prst="roundRect">
              <a:avLst>
                <a:gd name="adj" fmla="val 8108"/>
              </a:avLst>
            </a:prstGeom>
            <a:solidFill>
              <a:schemeClr val="lt2"/>
            </a:solidFill>
            <a:ln w="9525">
              <a:solidFill>
                <a:schemeClr val="accent4"/>
              </a:solidFill>
            </a:ln>
          </p:spPr>
        </p:sp>
        <p:sp>
          <p:nvSpPr>
            <p:cNvPr id="13" name="Rectangle 13"/>
            <p:cNvSpPr/>
            <p:nvPr/>
          </p:nvSpPr>
          <p:spPr>
            <a:xfrm>
              <a:off x="7620000" y="1447800"/>
              <a:ext cx="57150" cy="1409700"/>
            </a:xfrm>
            <a:prstGeom prst="roundRect">
              <a:avLst>
                <a:gd name="adj" fmla="val 50000"/>
              </a:avLst>
            </a:prstGeom>
            <a:solidFill>
              <a:schemeClr val="accent1"/>
            </a:solidFill>
            <a:ln>
              <a:noFill/>
            </a:ln>
          </p:spPr>
        </p:sp>
        <p:sp>
          <p:nvSpPr>
            <p:cNvPr id="14" name="TextBox 14"/>
            <p:cNvSpPr txBox="1"/>
            <p:nvPr/>
          </p:nvSpPr>
          <p:spPr>
            <a:xfrm>
              <a:off x="7900797" y="1723549"/>
              <a:ext cx="95097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CORPUS</a:t>
              </a:r>
            </a:p>
          </p:txBody>
        </p:sp>
        <p:sp>
          <p:nvSpPr>
            <p:cNvPr id="15" name="TextBox 15"/>
            <p:cNvSpPr txBox="1"/>
            <p:nvPr/>
          </p:nvSpPr>
          <p:spPr>
            <a:xfrm>
              <a:off x="7896987" y="2042636"/>
              <a:ext cx="2182703"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7 TB from Kaggle</a:t>
              </a:r>
            </a:p>
          </p:txBody>
        </p:sp>
        <p:sp>
          <p:nvSpPr>
            <p:cNvPr id="16" name="TextBox 16"/>
            <p:cNvSpPr txBox="1"/>
            <p:nvPr/>
          </p:nvSpPr>
          <p:spPr>
            <a:xfrm>
              <a:off x="7900035" y="2393156"/>
              <a:ext cx="189616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303 domains · 283K tables</a:t>
              </a:r>
            </a:p>
          </p:txBody>
        </p:sp>
        <p:sp>
          <p:nvSpPr>
            <p:cNvPr id="17" name="TextBox 17"/>
            <p:cNvSpPr txBox="1"/>
            <p:nvPr/>
          </p:nvSpPr>
          <p:spPr>
            <a:xfrm>
              <a:off x="7900035" y="2602706"/>
              <a:ext cx="177318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≈13B individual examples</a:t>
              </a:r>
            </a:p>
          </p:txBody>
        </p:sp>
      </p:grpSp>
      <p:grpSp>
        <p:nvGrpSpPr>
          <p:cNvPr id="25" name="Group 25"/>
          <p:cNvGrpSpPr/>
          <p:nvPr/>
        </p:nvGrpSpPr>
        <p:grpSpPr>
          <a:xfrm>
            <a:off x="7620000" y="2971800"/>
            <a:ext cx="4000500" cy="1409700"/>
            <a:chOff x="7620000" y="2971800"/>
            <a:chExt cx="4000500" cy="1409700"/>
          </a:xfrm>
        </p:grpSpPr>
        <p:sp>
          <p:nvSpPr>
            <p:cNvPr id="19" name="Rectangle 19"/>
            <p:cNvSpPr/>
            <p:nvPr/>
          </p:nvSpPr>
          <p:spPr>
            <a:xfrm>
              <a:off x="7620000" y="2971800"/>
              <a:ext cx="4000500" cy="1409700"/>
            </a:xfrm>
            <a:prstGeom prst="roundRect">
              <a:avLst>
                <a:gd name="adj" fmla="val 8108"/>
              </a:avLst>
            </a:prstGeom>
            <a:solidFill>
              <a:schemeClr val="lt2"/>
            </a:solidFill>
            <a:ln w="9525">
              <a:solidFill>
                <a:schemeClr val="accent4"/>
              </a:solidFill>
            </a:ln>
          </p:spPr>
        </p:sp>
        <p:sp>
          <p:nvSpPr>
            <p:cNvPr id="20" name="Rectangle 20"/>
            <p:cNvSpPr/>
            <p:nvPr/>
          </p:nvSpPr>
          <p:spPr>
            <a:xfrm>
              <a:off x="7620000" y="2971800"/>
              <a:ext cx="57150" cy="1409700"/>
            </a:xfrm>
            <a:prstGeom prst="roundRect">
              <a:avLst>
                <a:gd name="adj" fmla="val 50000"/>
              </a:avLst>
            </a:prstGeom>
            <a:solidFill>
              <a:srgbClr val="2E9E5B"/>
            </a:solidFill>
            <a:ln>
              <a:noFill/>
            </a:ln>
          </p:spPr>
        </p:sp>
        <p:sp>
          <p:nvSpPr>
            <p:cNvPr id="21" name="TextBox 21"/>
            <p:cNvSpPr txBox="1"/>
            <p:nvPr/>
          </p:nvSpPr>
          <p:spPr>
            <a:xfrm>
              <a:off x="7900797" y="3247549"/>
              <a:ext cx="1018132"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TABLE SHAPE</a:t>
              </a:r>
            </a:p>
          </p:txBody>
        </p:sp>
        <p:sp>
          <p:nvSpPr>
            <p:cNvPr id="22" name="TextBox 22"/>
            <p:cNvSpPr txBox="1"/>
            <p:nvPr/>
          </p:nvSpPr>
          <p:spPr>
            <a:xfrm>
              <a:off x="7896987" y="3566636"/>
              <a:ext cx="2547848"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≈29 numeric columns</a:t>
              </a:r>
            </a:p>
          </p:txBody>
        </p:sp>
        <p:sp>
          <p:nvSpPr>
            <p:cNvPr id="23" name="TextBox 23"/>
            <p:cNvSpPr txBox="1"/>
            <p:nvPr/>
          </p:nvSpPr>
          <p:spPr>
            <a:xfrm>
              <a:off x="7900035" y="3917156"/>
              <a:ext cx="172810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Plus ~8 textual columns</a:t>
              </a:r>
            </a:p>
          </p:txBody>
        </p:sp>
        <p:sp>
          <p:nvSpPr>
            <p:cNvPr id="24" name="TextBox 24"/>
            <p:cNvSpPr txBox="1"/>
            <p:nvPr/>
          </p:nvSpPr>
          <p:spPr>
            <a:xfrm>
              <a:off x="7900035" y="4126706"/>
              <a:ext cx="260243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Top: investing, finance, economics</a:t>
              </a:r>
            </a:p>
          </p:txBody>
        </p:sp>
      </p:grpSp>
      <p:grpSp>
        <p:nvGrpSpPr>
          <p:cNvPr id="32" name="Group 32"/>
          <p:cNvGrpSpPr/>
          <p:nvPr/>
        </p:nvGrpSpPr>
        <p:grpSpPr>
          <a:xfrm>
            <a:off x="7620000" y="4495800"/>
            <a:ext cx="4000500" cy="1409700"/>
            <a:chOff x="7620000" y="4495800"/>
            <a:chExt cx="4000500" cy="1409700"/>
          </a:xfrm>
        </p:grpSpPr>
        <p:sp>
          <p:nvSpPr>
            <p:cNvPr id="26" name="Rectangle 26"/>
            <p:cNvSpPr/>
            <p:nvPr/>
          </p:nvSpPr>
          <p:spPr>
            <a:xfrm>
              <a:off x="7620000" y="4495800"/>
              <a:ext cx="4000500" cy="1409700"/>
            </a:xfrm>
            <a:prstGeom prst="roundRect">
              <a:avLst>
                <a:gd name="adj" fmla="val 8108"/>
              </a:avLst>
            </a:prstGeom>
            <a:solidFill>
              <a:schemeClr val="lt2"/>
            </a:solidFill>
            <a:ln w="9525">
              <a:solidFill>
                <a:schemeClr val="accent4"/>
              </a:solidFill>
            </a:ln>
          </p:spPr>
        </p:sp>
        <p:sp>
          <p:nvSpPr>
            <p:cNvPr id="27" name="Rectangle 27"/>
            <p:cNvSpPr/>
            <p:nvPr/>
          </p:nvSpPr>
          <p:spPr>
            <a:xfrm>
              <a:off x="7620000" y="4495800"/>
              <a:ext cx="57150" cy="1409700"/>
            </a:xfrm>
            <a:prstGeom prst="roundRect">
              <a:avLst>
                <a:gd name="adj" fmla="val 50000"/>
              </a:avLst>
            </a:prstGeom>
            <a:solidFill>
              <a:srgbClr val="3B7DD8"/>
            </a:solidFill>
            <a:ln>
              <a:noFill/>
            </a:ln>
          </p:spPr>
        </p:sp>
        <p:sp>
          <p:nvSpPr>
            <p:cNvPr id="28" name="TextBox 28"/>
            <p:cNvSpPr txBox="1"/>
            <p:nvPr/>
          </p:nvSpPr>
          <p:spPr>
            <a:xfrm>
              <a:off x="7900797" y="4771549"/>
              <a:ext cx="95097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EVALUATION</a:t>
              </a:r>
            </a:p>
          </p:txBody>
        </p:sp>
        <p:sp>
          <p:nvSpPr>
            <p:cNvPr id="29" name="TextBox 29"/>
            <p:cNvSpPr txBox="1"/>
            <p:nvPr/>
          </p:nvSpPr>
          <p:spPr>
            <a:xfrm>
              <a:off x="7896987" y="5090636"/>
              <a:ext cx="2676290"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12 held-out + 7 public</a:t>
              </a:r>
            </a:p>
          </p:txBody>
        </p:sp>
        <p:sp>
          <p:nvSpPr>
            <p:cNvPr id="30" name="TextBox 30"/>
            <p:cNvSpPr txBox="1"/>
            <p:nvPr/>
          </p:nvSpPr>
          <p:spPr>
            <a:xfrm>
              <a:off x="7900035" y="5441156"/>
              <a:ext cx="224289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6 classification + 6 regression</a:t>
              </a:r>
            </a:p>
          </p:txBody>
        </p:sp>
        <p:sp>
          <p:nvSpPr>
            <p:cNvPr id="31" name="TextBox 31"/>
            <p:cNvSpPr txBox="1"/>
            <p:nvPr/>
          </p:nvSpPr>
          <p:spPr>
            <a:xfrm>
              <a:off x="7900035" y="5650706"/>
              <a:ext cx="219765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never seen, plus 7 public sets</a:t>
              </a:r>
            </a:p>
          </p:txBody>
        </p:sp>
      </p:grpSp>
      <p:grpSp>
        <p:nvGrpSpPr>
          <p:cNvPr id="35" name="Group 35"/>
          <p:cNvGrpSpPr/>
          <p:nvPr/>
        </p:nvGrpSpPr>
        <p:grpSpPr>
          <a:xfrm>
            <a:off x="566738" y="6597491"/>
            <a:ext cx="11058524" cy="161925"/>
            <a:chOff x="566738" y="6597491"/>
            <a:chExt cx="11058524" cy="161925"/>
          </a:xfrm>
        </p:grpSpPr>
        <p:sp>
          <p:nvSpPr>
            <p:cNvPr id="33" name="TextBox 33"/>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34" name="TextBox 34"/>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05</a:t>
              </a:r>
            </a:p>
          </p:txBody>
        </p:sp>
      </p:grpSp>
      <p:sp>
        <p:nvSpPr>
          <p:cNvPr id="36" name="cue_s05_c1_pretrain_scale_team_assembled_massiv" title="cue_s05_c1_pretrain_scale_team_assembled_massiv" descr="cue_s05_c1_pretrain_scale_team_assembled_massiv To pretrain at scale, the team assembled a massive tabular dataset from Kaggle: about seven terabytes spanning three hundred and three domains, two hundred eighty-three thousand tables, and roughly thirteen billion examples."/>
          <p:cNvSpPr/>
          <p:nvPr/>
        </p:nvSpPr>
        <p:spPr>
          <a:xfrm>
            <a:off x="7620000" y="1447723"/>
            <a:ext cx="4000195"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5_c2_average_table_about_twenty_nine_nume" title="cue_s05_c2_average_table_about_twenty_nine_nume" descr="cue_s05_c2_average_table_about_twenty_nine_nume On average each table has about twenty-nine numerical columns and eight textual ones, with investing, finance, and economics among the largest domains."/>
          <p:cNvSpPr/>
          <p:nvPr/>
        </p:nvSpPr>
        <p:spPr>
          <a:xfrm>
            <a:off x="7620000" y="2971571"/>
            <a:ext cx="4000195"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5_c3_evaluation_they_hold_out_twelve" title="cue_s05_c3_evaluation_they_hold_out_twelve" descr="cue_s05_c3_evaluation_they_hold_out_twelve For evaluation, they hold out twelve Kaggle tasks, six classification and six regression, never seen in pretraining, plus seven widely used public benchmarks to compare against established methods."/>
          <p:cNvSpPr/>
          <p:nvPr/>
        </p:nvSpPr>
        <p:spPr>
          <a:xfrm>
            <a:off x="7620000" y="4496104"/>
            <a:ext cx="4000195"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515063" cy="656939"/>
            <a:chOff x="571500" y="533400"/>
            <a:chExt cx="7515063"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29941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Key result: pretraining beats XGBoost</a:t>
              </a:r>
            </a:p>
          </p:txBody>
        </p:sp>
        <p:sp>
          <p:nvSpPr>
            <p:cNvPr id="4" name="TextBox 4"/>
            <p:cNvSpPr txBox="1"/>
            <p:nvPr/>
          </p:nvSpPr>
          <p:spPr>
            <a:xfrm>
              <a:off x="795147" y="999649"/>
              <a:ext cx="403937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AVERAGE AUC OVER 7 PUBLIC TABULAR BENCHMARKS</a:t>
              </a:r>
            </a:p>
          </p:txBody>
        </p:sp>
      </p:grpSp>
      <p:grpSp>
        <p:nvGrpSpPr>
          <p:cNvPr id="26" name="Group 26"/>
          <p:cNvGrpSpPr/>
          <p:nvPr/>
        </p:nvGrpSpPr>
        <p:grpSpPr>
          <a:xfrm>
            <a:off x="571500" y="1428750"/>
            <a:ext cx="5829300" cy="4476750"/>
            <a:chOff x="571500" y="1428750"/>
            <a:chExt cx="5829300" cy="4476750"/>
          </a:xfrm>
        </p:grpSpPr>
        <p:sp>
          <p:nvSpPr>
            <p:cNvPr id="6" name="Rectangle 6"/>
            <p:cNvSpPr/>
            <p:nvPr/>
          </p:nvSpPr>
          <p:spPr>
            <a:xfrm>
              <a:off x="571500" y="1428750"/>
              <a:ext cx="5829300" cy="4476750"/>
            </a:xfrm>
            <a:prstGeom prst="roundRect">
              <a:avLst>
                <a:gd name="adj" fmla="val 2553"/>
              </a:avLst>
            </a:prstGeom>
            <a:solidFill>
              <a:schemeClr val="lt2"/>
            </a:solidFill>
            <a:ln w="9525">
              <a:solidFill>
                <a:schemeClr val="accent4"/>
              </a:solidFill>
            </a:ln>
          </p:spPr>
        </p:sp>
        <p:sp>
          <p:nvSpPr>
            <p:cNvPr id="7" name="TextBox 7"/>
            <p:cNvSpPr txBox="1"/>
            <p:nvPr/>
          </p:nvSpPr>
          <p:spPr>
            <a:xfrm>
              <a:off x="852297" y="1704499"/>
              <a:ext cx="2305873"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AVERAGE AUC · 7 BENCHMARKS</a:t>
              </a:r>
            </a:p>
          </p:txBody>
        </p:sp>
        <p:sp>
          <p:nvSpPr>
            <p:cNvPr id="8" name="Line 8"/>
            <p:cNvSpPr/>
            <p:nvPr/>
          </p:nvSpPr>
          <p:spPr>
            <a:xfrm>
              <a:off x="1524000" y="5238750"/>
              <a:ext cx="4591050" cy="9525"/>
            </a:xfrm>
            <a:custGeom>
              <a:avLst/>
              <a:gdLst/>
              <a:ahLst/>
              <a:cxnLst/>
              <a:rect l="l" t="t" r="r" b="b"/>
              <a:pathLst>
                <a:path w="4591050" h="9525">
                  <a:moveTo>
                    <a:pt x="0" y="0"/>
                  </a:moveTo>
                  <a:lnTo>
                    <a:pt x="4591050" y="0"/>
                  </a:lnTo>
                </a:path>
              </a:pathLst>
            </a:custGeom>
            <a:noFill/>
            <a:ln w="9525">
              <a:solidFill>
                <a:schemeClr val="accent4"/>
              </a:solidFill>
            </a:ln>
          </p:spPr>
        </p:sp>
        <p:sp>
          <p:nvSpPr>
            <p:cNvPr id="9" name="TextBox 9"/>
            <p:cNvSpPr txBox="1"/>
            <p:nvPr/>
          </p:nvSpPr>
          <p:spPr>
            <a:xfrm>
              <a:off x="947738" y="5179695"/>
              <a:ext cx="276073" cy="176212"/>
            </a:xfrm>
            <a:prstGeom prst="rect">
              <a:avLst/>
            </a:prstGeom>
            <a:noFill/>
            <a:ln>
              <a:noFill/>
            </a:ln>
          </p:spPr>
          <p:txBody>
            <a:bodyPr wrap="none" lIns="0" tIns="0" rIns="0" bIns="0" anchor="t" anchorCtr="0">
              <a:spAutoFit/>
            </a:bodyPr>
            <a:lstStyle/>
            <a:p>
              <a:pPr algn="l"/>
              <a:r>
                <a:rPr lang="en-US" sz="900" dirty="0">
                  <a:solidFill>
                    <a:schemeClr val="accent6"/>
                  </a:solidFill>
                  <a:latin typeface="+mn-lt"/>
                  <a:ea typeface="+mn-ea"/>
                  <a:cs typeface="+mn-cs"/>
                </a:rPr>
                <a:t>0.70</a:t>
              </a:r>
            </a:p>
          </p:txBody>
        </p:sp>
        <p:sp>
          <p:nvSpPr>
            <p:cNvPr id="10" name="Line 10"/>
            <p:cNvSpPr/>
            <p:nvPr/>
          </p:nvSpPr>
          <p:spPr>
            <a:xfrm>
              <a:off x="1524000" y="4286250"/>
              <a:ext cx="4591050" cy="9525"/>
            </a:xfrm>
            <a:custGeom>
              <a:avLst/>
              <a:gdLst/>
              <a:ahLst/>
              <a:cxnLst/>
              <a:rect l="l" t="t" r="r" b="b"/>
              <a:pathLst>
                <a:path w="4591050" h="9525">
                  <a:moveTo>
                    <a:pt x="0" y="0"/>
                  </a:moveTo>
                  <a:lnTo>
                    <a:pt x="4591050" y="0"/>
                  </a:lnTo>
                </a:path>
              </a:pathLst>
            </a:custGeom>
            <a:noFill/>
            <a:ln w="9525">
              <a:solidFill>
                <a:schemeClr val="accent4"/>
              </a:solidFill>
            </a:ln>
          </p:spPr>
        </p:sp>
        <p:sp>
          <p:nvSpPr>
            <p:cNvPr id="11" name="TextBox 11"/>
            <p:cNvSpPr txBox="1"/>
            <p:nvPr/>
          </p:nvSpPr>
          <p:spPr>
            <a:xfrm>
              <a:off x="947738" y="4227195"/>
              <a:ext cx="276073" cy="176212"/>
            </a:xfrm>
            <a:prstGeom prst="rect">
              <a:avLst/>
            </a:prstGeom>
            <a:noFill/>
            <a:ln>
              <a:noFill/>
            </a:ln>
          </p:spPr>
          <p:txBody>
            <a:bodyPr wrap="none" lIns="0" tIns="0" rIns="0" bIns="0" anchor="t" anchorCtr="0">
              <a:spAutoFit/>
            </a:bodyPr>
            <a:lstStyle/>
            <a:p>
              <a:pPr algn="l"/>
              <a:r>
                <a:rPr lang="en-US" sz="900" dirty="0">
                  <a:solidFill>
                    <a:schemeClr val="accent6"/>
                  </a:solidFill>
                  <a:latin typeface="+mn-lt"/>
                  <a:ea typeface="+mn-ea"/>
                  <a:cs typeface="+mn-cs"/>
                </a:rPr>
                <a:t>0.75</a:t>
              </a:r>
            </a:p>
          </p:txBody>
        </p:sp>
        <p:sp>
          <p:nvSpPr>
            <p:cNvPr id="12" name="Line 12"/>
            <p:cNvSpPr/>
            <p:nvPr/>
          </p:nvSpPr>
          <p:spPr>
            <a:xfrm>
              <a:off x="1524000" y="3333750"/>
              <a:ext cx="4591050" cy="9525"/>
            </a:xfrm>
            <a:custGeom>
              <a:avLst/>
              <a:gdLst/>
              <a:ahLst/>
              <a:cxnLst/>
              <a:rect l="l" t="t" r="r" b="b"/>
              <a:pathLst>
                <a:path w="4591050" h="9525">
                  <a:moveTo>
                    <a:pt x="0" y="0"/>
                  </a:moveTo>
                  <a:lnTo>
                    <a:pt x="4591050" y="0"/>
                  </a:lnTo>
                </a:path>
              </a:pathLst>
            </a:custGeom>
            <a:noFill/>
            <a:ln w="9525">
              <a:solidFill>
                <a:schemeClr val="accent4"/>
              </a:solidFill>
            </a:ln>
          </p:spPr>
        </p:sp>
        <p:sp>
          <p:nvSpPr>
            <p:cNvPr id="13" name="TextBox 13"/>
            <p:cNvSpPr txBox="1"/>
            <p:nvPr/>
          </p:nvSpPr>
          <p:spPr>
            <a:xfrm>
              <a:off x="947738" y="3274695"/>
              <a:ext cx="276073" cy="176212"/>
            </a:xfrm>
            <a:prstGeom prst="rect">
              <a:avLst/>
            </a:prstGeom>
            <a:noFill/>
            <a:ln>
              <a:noFill/>
            </a:ln>
          </p:spPr>
          <p:txBody>
            <a:bodyPr wrap="none" lIns="0" tIns="0" rIns="0" bIns="0" anchor="t" anchorCtr="0">
              <a:spAutoFit/>
            </a:bodyPr>
            <a:lstStyle/>
            <a:p>
              <a:pPr algn="l"/>
              <a:r>
                <a:rPr lang="en-US" sz="900" dirty="0">
                  <a:solidFill>
                    <a:schemeClr val="accent6"/>
                  </a:solidFill>
                  <a:latin typeface="+mn-lt"/>
                  <a:ea typeface="+mn-ea"/>
                  <a:cs typeface="+mn-cs"/>
                </a:rPr>
                <a:t>0.80</a:t>
              </a:r>
            </a:p>
          </p:txBody>
        </p:sp>
        <p:sp>
          <p:nvSpPr>
            <p:cNvPr id="14" name="Line 14"/>
            <p:cNvSpPr/>
            <p:nvPr/>
          </p:nvSpPr>
          <p:spPr>
            <a:xfrm>
              <a:off x="1524000" y="2381250"/>
              <a:ext cx="4591050" cy="9525"/>
            </a:xfrm>
            <a:custGeom>
              <a:avLst/>
              <a:gdLst/>
              <a:ahLst/>
              <a:cxnLst/>
              <a:rect l="l" t="t" r="r" b="b"/>
              <a:pathLst>
                <a:path w="4591050" h="9525">
                  <a:moveTo>
                    <a:pt x="0" y="0"/>
                  </a:moveTo>
                  <a:lnTo>
                    <a:pt x="4591050" y="0"/>
                  </a:lnTo>
                </a:path>
              </a:pathLst>
            </a:custGeom>
            <a:noFill/>
            <a:ln w="9525">
              <a:solidFill>
                <a:schemeClr val="accent4"/>
              </a:solidFill>
            </a:ln>
          </p:spPr>
        </p:sp>
        <p:sp>
          <p:nvSpPr>
            <p:cNvPr id="15" name="TextBox 15"/>
            <p:cNvSpPr txBox="1"/>
            <p:nvPr/>
          </p:nvSpPr>
          <p:spPr>
            <a:xfrm>
              <a:off x="947738" y="2322195"/>
              <a:ext cx="276073" cy="176212"/>
            </a:xfrm>
            <a:prstGeom prst="rect">
              <a:avLst/>
            </a:prstGeom>
            <a:noFill/>
            <a:ln>
              <a:noFill/>
            </a:ln>
          </p:spPr>
          <p:txBody>
            <a:bodyPr wrap="none" lIns="0" tIns="0" rIns="0" bIns="0" anchor="t" anchorCtr="0">
              <a:spAutoFit/>
            </a:bodyPr>
            <a:lstStyle/>
            <a:p>
              <a:pPr algn="l"/>
              <a:r>
                <a:rPr lang="en-US" sz="900" dirty="0">
                  <a:solidFill>
                    <a:schemeClr val="accent6"/>
                  </a:solidFill>
                  <a:latin typeface="+mn-lt"/>
                  <a:ea typeface="+mn-ea"/>
                  <a:cs typeface="+mn-cs"/>
                </a:rPr>
                <a:t>0.85</a:t>
              </a:r>
            </a:p>
          </p:txBody>
        </p:sp>
        <p:sp>
          <p:nvSpPr>
            <p:cNvPr id="16" name="Rectangle 16"/>
            <p:cNvSpPr/>
            <p:nvPr/>
          </p:nvSpPr>
          <p:spPr>
            <a:xfrm>
              <a:off x="1714500" y="2762250"/>
              <a:ext cx="1047750" cy="2476500"/>
            </a:xfrm>
            <a:prstGeom prst="roundRect">
              <a:avLst>
                <a:gd name="adj" fmla="val 5455"/>
              </a:avLst>
            </a:prstGeom>
            <a:solidFill>
              <a:srgbClr val="2E9E5B"/>
            </a:solidFill>
            <a:ln>
              <a:noFill/>
            </a:ln>
          </p:spPr>
        </p:sp>
        <p:sp>
          <p:nvSpPr>
            <p:cNvPr id="17" name="TextBox 17"/>
            <p:cNvSpPr txBox="1"/>
            <p:nvPr/>
          </p:nvSpPr>
          <p:spPr>
            <a:xfrm>
              <a:off x="1984324" y="2486025"/>
              <a:ext cx="508102"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j-lt"/>
                  <a:ea typeface="+mj-ea"/>
                  <a:cs typeface="+mj-cs"/>
                </a:rPr>
                <a:t>0.83</a:t>
              </a:r>
            </a:p>
          </p:txBody>
        </p:sp>
        <p:sp>
          <p:nvSpPr>
            <p:cNvPr id="18" name="TextBox 18"/>
            <p:cNvSpPr txBox="1"/>
            <p:nvPr/>
          </p:nvSpPr>
          <p:spPr>
            <a:xfrm>
              <a:off x="1978030" y="5362099"/>
              <a:ext cx="520690"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UniTabE</a:t>
              </a:r>
            </a:p>
          </p:txBody>
        </p:sp>
        <p:sp>
          <p:nvSpPr>
            <p:cNvPr id="19" name="Rectangle 19"/>
            <p:cNvSpPr/>
            <p:nvPr/>
          </p:nvSpPr>
          <p:spPr>
            <a:xfrm>
              <a:off x="3333750" y="3143250"/>
              <a:ext cx="1047750" cy="2095500"/>
            </a:xfrm>
            <a:prstGeom prst="roundRect">
              <a:avLst>
                <a:gd name="adj" fmla="val 5455"/>
              </a:avLst>
            </a:prstGeom>
            <a:solidFill>
              <a:srgbClr val="3B7DD8"/>
            </a:solidFill>
            <a:ln>
              <a:noFill/>
            </a:ln>
          </p:spPr>
        </p:sp>
        <p:sp>
          <p:nvSpPr>
            <p:cNvPr id="20" name="TextBox 20"/>
            <p:cNvSpPr txBox="1"/>
            <p:nvPr/>
          </p:nvSpPr>
          <p:spPr>
            <a:xfrm>
              <a:off x="3603574" y="2867025"/>
              <a:ext cx="508102"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j-lt"/>
                  <a:ea typeface="+mj-ea"/>
                  <a:cs typeface="+mj-cs"/>
                </a:rPr>
                <a:t>0.81</a:t>
              </a:r>
            </a:p>
          </p:txBody>
        </p:sp>
        <p:sp>
          <p:nvSpPr>
            <p:cNvPr id="21" name="TextBox 21"/>
            <p:cNvSpPr txBox="1"/>
            <p:nvPr/>
          </p:nvSpPr>
          <p:spPr>
            <a:xfrm>
              <a:off x="3407304" y="5362099"/>
              <a:ext cx="90064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Best baseline</a:t>
              </a:r>
            </a:p>
          </p:txBody>
        </p:sp>
        <p:sp>
          <p:nvSpPr>
            <p:cNvPr id="22" name="Rectangle 22"/>
            <p:cNvSpPr/>
            <p:nvPr/>
          </p:nvSpPr>
          <p:spPr>
            <a:xfrm>
              <a:off x="4953000" y="3524250"/>
              <a:ext cx="1047750" cy="1714500"/>
            </a:xfrm>
            <a:prstGeom prst="roundRect">
              <a:avLst>
                <a:gd name="adj" fmla="val 5455"/>
              </a:avLst>
            </a:prstGeom>
            <a:solidFill>
              <a:srgbClr val="E08A1E"/>
            </a:solidFill>
            <a:ln>
              <a:noFill/>
            </a:ln>
          </p:spPr>
        </p:sp>
        <p:sp>
          <p:nvSpPr>
            <p:cNvPr id="23" name="TextBox 23"/>
            <p:cNvSpPr txBox="1"/>
            <p:nvPr/>
          </p:nvSpPr>
          <p:spPr>
            <a:xfrm>
              <a:off x="5222824" y="3248025"/>
              <a:ext cx="508102"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j-lt"/>
                  <a:ea typeface="+mj-ea"/>
                  <a:cs typeface="+mj-cs"/>
                </a:rPr>
                <a:t>0.79</a:t>
              </a:r>
            </a:p>
          </p:txBody>
        </p:sp>
        <p:sp>
          <p:nvSpPr>
            <p:cNvPr id="24" name="TextBox 24"/>
            <p:cNvSpPr txBox="1"/>
            <p:nvPr/>
          </p:nvSpPr>
          <p:spPr>
            <a:xfrm>
              <a:off x="5198795" y="5362099"/>
              <a:ext cx="55616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XGBoost</a:t>
              </a:r>
            </a:p>
          </p:txBody>
        </p:sp>
        <p:sp>
          <p:nvSpPr>
            <p:cNvPr id="25" name="TextBox 25"/>
            <p:cNvSpPr txBox="1"/>
            <p:nvPr/>
          </p:nvSpPr>
          <p:spPr>
            <a:xfrm>
              <a:off x="852297" y="5628799"/>
              <a:ext cx="430827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Beats Tapas, FT-Transformer and the industry-favorite XGBoost.</a:t>
              </a:r>
            </a:p>
          </p:txBody>
        </p:sp>
      </p:grpSp>
      <p:grpSp>
        <p:nvGrpSpPr>
          <p:cNvPr id="30" name="Group 30"/>
          <p:cNvGrpSpPr/>
          <p:nvPr/>
        </p:nvGrpSpPr>
        <p:grpSpPr>
          <a:xfrm>
            <a:off x="6629400" y="1428750"/>
            <a:ext cx="4991100" cy="786384"/>
            <a:chOff x="6629400" y="1428750"/>
            <a:chExt cx="4991100" cy="786384"/>
          </a:xfrm>
        </p:grpSpPr>
        <p:sp>
          <p:nvSpPr>
            <p:cNvPr id="27" name="Rectangle 27"/>
            <p:cNvSpPr/>
            <p:nvPr/>
          </p:nvSpPr>
          <p:spPr>
            <a:xfrm>
              <a:off x="6629400" y="1428750"/>
              <a:ext cx="4991100" cy="781050"/>
            </a:xfrm>
            <a:prstGeom prst="roundRect">
              <a:avLst>
                <a:gd name="adj" fmla="val 14634"/>
              </a:avLst>
            </a:prstGeom>
            <a:solidFill>
              <a:schemeClr val="accent1"/>
            </a:solidFill>
            <a:ln>
              <a:noFill/>
            </a:ln>
          </p:spPr>
        </p:sp>
        <p:sp>
          <p:nvSpPr>
            <p:cNvPr id="28" name="TextBox 28"/>
            <p:cNvSpPr txBox="1"/>
            <p:nvPr/>
          </p:nvSpPr>
          <p:spPr>
            <a:xfrm>
              <a:off x="6853238" y="1674495"/>
              <a:ext cx="914847"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VERDICT</a:t>
              </a:r>
            </a:p>
          </p:txBody>
        </p:sp>
        <p:sp>
          <p:nvSpPr>
            <p:cNvPr id="29" name="TextBox 29"/>
            <p:cNvSpPr txBox="1"/>
            <p:nvPr/>
          </p:nvSpPr>
          <p:spPr>
            <a:xfrm>
              <a:off x="6848856" y="1863090"/>
              <a:ext cx="2888247"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Pretraining pays off.</a:t>
              </a:r>
            </a:p>
          </p:txBody>
        </p:sp>
      </p:grpSp>
      <p:grpSp>
        <p:nvGrpSpPr>
          <p:cNvPr id="38" name="Group 38"/>
          <p:cNvGrpSpPr/>
          <p:nvPr/>
        </p:nvGrpSpPr>
        <p:grpSpPr>
          <a:xfrm>
            <a:off x="6629400" y="2362200"/>
            <a:ext cx="4991100" cy="1788128"/>
            <a:chOff x="6629400" y="2362200"/>
            <a:chExt cx="4991100" cy="1788128"/>
          </a:xfrm>
        </p:grpSpPr>
        <p:sp>
          <p:nvSpPr>
            <p:cNvPr id="31" name="Rectangle 31"/>
            <p:cNvSpPr/>
            <p:nvPr/>
          </p:nvSpPr>
          <p:spPr>
            <a:xfrm>
              <a:off x="6629400" y="2362200"/>
              <a:ext cx="4991100" cy="1695450"/>
            </a:xfrm>
            <a:prstGeom prst="roundRect">
              <a:avLst>
                <a:gd name="adj" fmla="val 6742"/>
              </a:avLst>
            </a:prstGeom>
            <a:solidFill>
              <a:schemeClr val="lt2"/>
            </a:solidFill>
            <a:ln w="9525">
              <a:solidFill>
                <a:schemeClr val="accent4"/>
              </a:solidFill>
            </a:ln>
          </p:spPr>
        </p:sp>
        <p:sp>
          <p:nvSpPr>
            <p:cNvPr id="32" name="Rectangle 32"/>
            <p:cNvSpPr/>
            <p:nvPr/>
          </p:nvSpPr>
          <p:spPr>
            <a:xfrm>
              <a:off x="6629400" y="2362200"/>
              <a:ext cx="57150" cy="1695450"/>
            </a:xfrm>
            <a:prstGeom prst="roundRect">
              <a:avLst>
                <a:gd name="adj" fmla="val 50000"/>
              </a:avLst>
            </a:prstGeom>
            <a:solidFill>
              <a:srgbClr val="2E9E5B"/>
            </a:solidFill>
            <a:ln>
              <a:noFill/>
            </a:ln>
          </p:spPr>
        </p:sp>
        <p:sp>
          <p:nvSpPr>
            <p:cNvPr id="33" name="TextBox 33"/>
            <p:cNvSpPr txBox="1"/>
            <p:nvPr/>
          </p:nvSpPr>
          <p:spPr>
            <a:xfrm>
              <a:off x="6910197" y="2637949"/>
              <a:ext cx="222783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12 HELD-OUT KAGGLE TASKS</a:t>
              </a:r>
            </a:p>
          </p:txBody>
        </p:sp>
        <p:sp>
          <p:nvSpPr>
            <p:cNvPr id="34" name="TextBox 34"/>
            <p:cNvSpPr txBox="1"/>
            <p:nvPr/>
          </p:nvSpPr>
          <p:spPr>
            <a:xfrm>
              <a:off x="6905244" y="2932748"/>
              <a:ext cx="3027868"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Wins on unseen tasks</a:t>
              </a:r>
            </a:p>
          </p:txBody>
        </p:sp>
        <p:sp>
          <p:nvSpPr>
            <p:cNvPr id="35" name="TextBox 35"/>
            <p:cNvSpPr txBox="1"/>
            <p:nvPr/>
          </p:nvSpPr>
          <p:spPr>
            <a:xfrm>
              <a:off x="6908673" y="3405664"/>
              <a:ext cx="318033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Across classification and regression,</a:t>
              </a:r>
            </a:p>
          </p:txBody>
        </p:sp>
        <p:sp>
          <p:nvSpPr>
            <p:cNvPr id="36" name="TextBox 36"/>
            <p:cNvSpPr txBox="1"/>
            <p:nvPr/>
          </p:nvSpPr>
          <p:spPr>
            <a:xfrm>
              <a:off x="6908673" y="3653314"/>
              <a:ext cx="272613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UniTabE again beats XGBoost and</a:t>
              </a:r>
            </a:p>
          </p:txBody>
        </p:sp>
        <p:sp>
          <p:nvSpPr>
            <p:cNvPr id="37" name="TextBox 37"/>
            <p:cNvSpPr txBox="1"/>
            <p:nvPr/>
          </p:nvSpPr>
          <p:spPr>
            <a:xfrm>
              <a:off x="6908673" y="3900964"/>
              <a:ext cx="23165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strong TransTab variant.</a:t>
              </a:r>
            </a:p>
          </p:txBody>
        </p:sp>
      </p:grpSp>
      <p:grpSp>
        <p:nvGrpSpPr>
          <p:cNvPr id="46" name="Group 46"/>
          <p:cNvGrpSpPr/>
          <p:nvPr/>
        </p:nvGrpSpPr>
        <p:grpSpPr>
          <a:xfrm>
            <a:off x="6629400" y="4210050"/>
            <a:ext cx="4991100" cy="1788128"/>
            <a:chOff x="6629400" y="4210050"/>
            <a:chExt cx="4991100" cy="1788128"/>
          </a:xfrm>
        </p:grpSpPr>
        <p:sp>
          <p:nvSpPr>
            <p:cNvPr id="39" name="Rectangle 39"/>
            <p:cNvSpPr/>
            <p:nvPr/>
          </p:nvSpPr>
          <p:spPr>
            <a:xfrm>
              <a:off x="6629400" y="4210050"/>
              <a:ext cx="4991100" cy="1695450"/>
            </a:xfrm>
            <a:prstGeom prst="roundRect">
              <a:avLst>
                <a:gd name="adj" fmla="val 6742"/>
              </a:avLst>
            </a:prstGeom>
            <a:solidFill>
              <a:schemeClr val="lt2"/>
            </a:solidFill>
            <a:ln w="9525">
              <a:solidFill>
                <a:schemeClr val="accent4"/>
              </a:solidFill>
            </a:ln>
          </p:spPr>
        </p:sp>
        <p:sp>
          <p:nvSpPr>
            <p:cNvPr id="40" name="Rectangle 40"/>
            <p:cNvSpPr/>
            <p:nvPr/>
          </p:nvSpPr>
          <p:spPr>
            <a:xfrm>
              <a:off x="6629400" y="4210050"/>
              <a:ext cx="57150" cy="1695450"/>
            </a:xfrm>
            <a:prstGeom prst="roundRect">
              <a:avLst>
                <a:gd name="adj" fmla="val 50000"/>
              </a:avLst>
            </a:prstGeom>
            <a:solidFill>
              <a:srgbClr val="3B7DD8"/>
            </a:solidFill>
            <a:ln>
              <a:noFill/>
            </a:ln>
          </p:spPr>
        </p:sp>
        <p:sp>
          <p:nvSpPr>
            <p:cNvPr id="41" name="TextBox 41"/>
            <p:cNvSpPr txBox="1"/>
            <p:nvPr/>
          </p:nvSpPr>
          <p:spPr>
            <a:xfrm>
              <a:off x="6910197" y="4485799"/>
              <a:ext cx="92040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ZERO-SHOT</a:t>
              </a:r>
            </a:p>
          </p:txBody>
        </p:sp>
        <p:sp>
          <p:nvSpPr>
            <p:cNvPr id="42" name="TextBox 42"/>
            <p:cNvSpPr txBox="1"/>
            <p:nvPr/>
          </p:nvSpPr>
          <p:spPr>
            <a:xfrm>
              <a:off x="6905244" y="4780598"/>
              <a:ext cx="3927840"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Predicts with no finetuning</a:t>
              </a:r>
            </a:p>
          </p:txBody>
        </p:sp>
        <p:sp>
          <p:nvSpPr>
            <p:cNvPr id="43" name="TextBox 43"/>
            <p:cNvSpPr txBox="1"/>
            <p:nvPr/>
          </p:nvSpPr>
          <p:spPr>
            <a:xfrm>
              <a:off x="6908673" y="5253514"/>
              <a:ext cx="248285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On some datasets it predicts</a:t>
              </a:r>
            </a:p>
          </p:txBody>
        </p:sp>
        <p:sp>
          <p:nvSpPr>
            <p:cNvPr id="44" name="TextBox 44"/>
            <p:cNvSpPr txBox="1"/>
            <p:nvPr/>
          </p:nvSpPr>
          <p:spPr>
            <a:xfrm>
              <a:off x="6908673" y="5501164"/>
              <a:ext cx="296813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accurately with zero task-specific</a:t>
              </a:r>
            </a:p>
          </p:txBody>
        </p:sp>
        <p:sp>
          <p:nvSpPr>
            <p:cNvPr id="45" name="TextBox 45"/>
            <p:cNvSpPr txBox="1"/>
            <p:nvPr/>
          </p:nvSpPr>
          <p:spPr>
            <a:xfrm>
              <a:off x="6908673" y="5748814"/>
              <a:ext cx="226164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finetuning, real transfer.</a:t>
              </a:r>
            </a:p>
          </p:txBody>
        </p:sp>
      </p:grpSp>
      <p:grpSp>
        <p:nvGrpSpPr>
          <p:cNvPr id="49" name="Group 49"/>
          <p:cNvGrpSpPr/>
          <p:nvPr/>
        </p:nvGrpSpPr>
        <p:grpSpPr>
          <a:xfrm>
            <a:off x="566738" y="6597491"/>
            <a:ext cx="11058524" cy="161925"/>
            <a:chOff x="566738" y="6597491"/>
            <a:chExt cx="11058524" cy="161925"/>
          </a:xfrm>
        </p:grpSpPr>
        <p:sp>
          <p:nvSpPr>
            <p:cNvPr id="47" name="TextBox 47"/>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48" name="TextBox 4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06</a:t>
              </a:r>
            </a:p>
          </p:txBody>
        </p:sp>
      </p:grpSp>
      <p:sp>
        <p:nvSpPr>
          <p:cNvPr id="50" name="cue_s06_c1_experiments_show_pretraining_pays_of" title="cue_s06_c1_experiments_show_pretraining_pays_of" descr="cue_s06_c1_experiments_show_pretraining_pays_of The experiments show pretraining pays off."/>
          <p:cNvSpPr/>
          <p:nvPr/>
        </p:nvSpPr>
        <p:spPr>
          <a:xfrm>
            <a:off x="6628790" y="1428521"/>
            <a:ext cx="4991404" cy="78661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2_seven_standard_public_benchmarks_uni" title="cue_s06_c2_seven_standard_public_benchmarks_uni" descr="cue_s06_c2_seven_standard_public_benchmarks_uni On seven standard public benchmarks, UniTabE reaches an average area-under-curve of about zero point eight three, beating Tapas, FT-Transformer, and the industry favorite XGBoost."/>
          <p:cNvSpPr/>
          <p:nvPr/>
        </p:nvSpPr>
        <p:spPr>
          <a:xfrm>
            <a:off x="571804" y="1428521"/>
            <a:ext cx="5828995"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3_twelve_held_out_kaggle_tasks_spannin" title="cue_s06_c3_twelve_held_out_kaggle_tasks_spannin" descr="cue_s06_c3_twelve_held_out_kaggle_tasks_spannin On the twelve held-out Kaggle tasks, spanning classification and regression, it again outperforms XGBoost and a strong TransTab variant."/>
          <p:cNvSpPr/>
          <p:nvPr/>
        </p:nvSpPr>
        <p:spPr>
          <a:xfrm>
            <a:off x="6628790" y="2361895"/>
            <a:ext cx="4991404" cy="178788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4_also_performs_well_zero_shot_mode" title="cue_s06_c4_also_performs_well_zero_shot_mode" descr="cue_s06_c4_also_performs_well_zero_shot_mode It also performs well in zero-shot mode, making accurate predictions on some datasets with no task-specific finetuning, evidence of genuine transferable reasoning about tables."/>
          <p:cNvSpPr/>
          <p:nvPr/>
        </p:nvSpPr>
        <p:spPr>
          <a:xfrm>
            <a:off x="6628790" y="4210126"/>
            <a:ext cx="4991404" cy="178788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096730" cy="656939"/>
            <a:chOff x="571500" y="533400"/>
            <a:chExt cx="809673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88108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Ablation: every component earns its place</a:t>
              </a:r>
            </a:p>
          </p:txBody>
        </p:sp>
        <p:sp>
          <p:nvSpPr>
            <p:cNvPr id="4" name="TextBox 4"/>
            <p:cNvSpPr txBox="1"/>
            <p:nvPr/>
          </p:nvSpPr>
          <p:spPr>
            <a:xfrm>
              <a:off x="795147" y="999649"/>
              <a:ext cx="464121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LINKING LAYER, FUSE GATE, OBJECTIVES, DECODER DEPTH</a:t>
              </a:r>
            </a:p>
          </p:txBody>
        </p:sp>
      </p:grpSp>
      <p:grpSp>
        <p:nvGrpSpPr>
          <p:cNvPr id="14" name="Group 14"/>
          <p:cNvGrpSpPr/>
          <p:nvPr/>
        </p:nvGrpSpPr>
        <p:grpSpPr>
          <a:xfrm>
            <a:off x="571500" y="1447800"/>
            <a:ext cx="5429250" cy="2057400"/>
            <a:chOff x="571500" y="1447800"/>
            <a:chExt cx="5429250" cy="2057400"/>
          </a:xfrm>
        </p:grpSpPr>
        <p:sp>
          <p:nvSpPr>
            <p:cNvPr id="6" name="Rectangle 6"/>
            <p:cNvSpPr/>
            <p:nvPr/>
          </p:nvSpPr>
          <p:spPr>
            <a:xfrm>
              <a:off x="571500" y="1447800"/>
              <a:ext cx="5429250" cy="2057400"/>
            </a:xfrm>
            <a:prstGeom prst="roundRect">
              <a:avLst>
                <a:gd name="adj" fmla="val 5556"/>
              </a:avLst>
            </a:prstGeom>
            <a:solidFill>
              <a:srgbClr val="FBEEEC"/>
            </a:solidFill>
            <a:ln w="9525">
              <a:solidFill>
                <a:srgbClr val="E7B6AE"/>
              </a:solidFill>
            </a:ln>
          </p:spPr>
        </p:sp>
        <p:sp>
          <p:nvSpPr>
            <p:cNvPr id="7" name="Rectangle 7"/>
            <p:cNvSpPr/>
            <p:nvPr/>
          </p:nvSpPr>
          <p:spPr>
            <a:xfrm>
              <a:off x="571500" y="1447800"/>
              <a:ext cx="57150" cy="2057400"/>
            </a:xfrm>
            <a:prstGeom prst="roundRect">
              <a:avLst>
                <a:gd name="adj" fmla="val 50000"/>
              </a:avLst>
            </a:prstGeom>
            <a:solidFill>
              <a:srgbClr val="C0392B"/>
            </a:solidFill>
            <a:ln>
              <a:noFill/>
            </a:ln>
          </p:spPr>
        </p:sp>
        <p:sp>
          <p:nvSpPr>
            <p:cNvPr id="8" name="TextBox 8"/>
            <p:cNvSpPr txBox="1"/>
            <p:nvPr/>
          </p:nvSpPr>
          <p:spPr>
            <a:xfrm>
              <a:off x="852297" y="1723549"/>
              <a:ext cx="2467194" cy="190690"/>
            </a:xfrm>
            <a:prstGeom prst="rect">
              <a:avLst/>
            </a:prstGeom>
            <a:noFill/>
            <a:ln>
              <a:noFill/>
            </a:ln>
          </p:spPr>
          <p:txBody>
            <a:bodyPr wrap="none" lIns="0" tIns="0" rIns="0" bIns="0" anchor="t" anchorCtr="0">
              <a:spAutoFit/>
            </a:bodyPr>
            <a:lstStyle/>
            <a:p>
              <a:pPr algn="l"/>
              <a:r>
                <a:rPr lang="en-US" sz="980" b="1" spc="112" dirty="0">
                  <a:solidFill>
                    <a:srgbClr val="C0392B"/>
                  </a:solidFill>
                  <a:latin typeface="+mn-lt"/>
                  <a:ea typeface="+mn-ea"/>
                  <a:cs typeface="+mn-cs"/>
                </a:rPr>
                <a:t>BIGGEST DROP · LINKING LAYER</a:t>
              </a:r>
            </a:p>
          </p:txBody>
        </p:sp>
        <p:sp>
          <p:nvSpPr>
            <p:cNvPr id="9" name="TextBox 9"/>
            <p:cNvSpPr txBox="1"/>
            <p:nvPr/>
          </p:nvSpPr>
          <p:spPr>
            <a:xfrm>
              <a:off x="848487" y="2061686"/>
              <a:ext cx="3516443"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Removing column–value links</a:t>
              </a:r>
            </a:p>
          </p:txBody>
        </p:sp>
        <p:sp>
          <p:nvSpPr>
            <p:cNvPr id="10" name="TextBox 10"/>
            <p:cNvSpPr txBox="1"/>
            <p:nvPr/>
          </p:nvSpPr>
          <p:spPr>
            <a:xfrm>
              <a:off x="899160" y="2590800"/>
              <a:ext cx="1016203" cy="586740"/>
            </a:xfrm>
            <a:prstGeom prst="rect">
              <a:avLst/>
            </a:prstGeom>
            <a:noFill/>
            <a:ln>
              <a:noFill/>
            </a:ln>
          </p:spPr>
          <p:txBody>
            <a:bodyPr wrap="none" lIns="0" tIns="0" rIns="0" bIns="0" anchor="t" anchorCtr="0">
              <a:spAutoFit/>
            </a:bodyPr>
            <a:lstStyle/>
            <a:p>
              <a:pPr algn="l"/>
              <a:r>
                <a:rPr lang="en-US" sz="3000" b="1" dirty="0">
                  <a:solidFill>
                    <a:srgbClr val="2E9E5B"/>
                  </a:solidFill>
                  <a:latin typeface="+mj-lt"/>
                  <a:ea typeface="+mj-ea"/>
                  <a:cs typeface="+mj-cs"/>
                </a:rPr>
                <a:t>0.83</a:t>
              </a:r>
            </a:p>
          </p:txBody>
        </p:sp>
        <p:sp>
          <p:nvSpPr>
            <p:cNvPr id="11" name="TextBox 11"/>
            <p:cNvSpPr txBox="1"/>
            <p:nvPr/>
          </p:nvSpPr>
          <p:spPr>
            <a:xfrm>
              <a:off x="2026920" y="2614612"/>
              <a:ext cx="189452" cy="440055"/>
            </a:xfrm>
            <a:prstGeom prst="rect">
              <a:avLst/>
            </a:prstGeom>
            <a:noFill/>
            <a:ln>
              <a:noFill/>
            </a:ln>
          </p:spPr>
          <p:txBody>
            <a:bodyPr wrap="none" lIns="0" tIns="0" rIns="0" bIns="0" anchor="t" anchorCtr="0">
              <a:spAutoFit/>
            </a:bodyPr>
            <a:lstStyle/>
            <a:p>
              <a:pPr algn="l"/>
              <a:r>
                <a:rPr lang="en-US" sz="2250" dirty="0">
                  <a:solidFill>
                    <a:schemeClr val="accent6"/>
                  </a:solidFill>
                  <a:latin typeface="+mn-lt"/>
                  <a:ea typeface="+mn-ea"/>
                  <a:cs typeface="+mn-cs"/>
                </a:rPr>
                <a:t>→</a:t>
              </a:r>
            </a:p>
          </p:txBody>
        </p:sp>
        <p:sp>
          <p:nvSpPr>
            <p:cNvPr id="12" name="TextBox 12"/>
            <p:cNvSpPr txBox="1"/>
            <p:nvPr/>
          </p:nvSpPr>
          <p:spPr>
            <a:xfrm>
              <a:off x="2366010" y="2590800"/>
              <a:ext cx="1016203" cy="586740"/>
            </a:xfrm>
            <a:prstGeom prst="rect">
              <a:avLst/>
            </a:prstGeom>
            <a:noFill/>
            <a:ln>
              <a:noFill/>
            </a:ln>
          </p:spPr>
          <p:txBody>
            <a:bodyPr wrap="none" lIns="0" tIns="0" rIns="0" bIns="0" anchor="t" anchorCtr="0">
              <a:spAutoFit/>
            </a:bodyPr>
            <a:lstStyle/>
            <a:p>
              <a:pPr algn="l"/>
              <a:r>
                <a:rPr lang="en-US" sz="3000" b="1" dirty="0">
                  <a:solidFill>
                    <a:srgbClr val="C0392B"/>
                  </a:solidFill>
                  <a:latin typeface="+mj-lt"/>
                  <a:ea typeface="+mj-ea"/>
                  <a:cs typeface="+mj-cs"/>
                </a:rPr>
                <a:t>0.75</a:t>
              </a:r>
            </a:p>
          </p:txBody>
        </p:sp>
        <p:sp>
          <p:nvSpPr>
            <p:cNvPr id="13" name="TextBox 13"/>
            <p:cNvSpPr txBox="1"/>
            <p:nvPr/>
          </p:nvSpPr>
          <p:spPr>
            <a:xfrm>
              <a:off x="908685" y="3155156"/>
              <a:ext cx="368214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average AUC falls when the linking layer is ablated</a:t>
              </a:r>
            </a:p>
          </p:txBody>
        </p:sp>
      </p:grpSp>
      <p:grpSp>
        <p:nvGrpSpPr>
          <p:cNvPr id="22" name="Group 22"/>
          <p:cNvGrpSpPr/>
          <p:nvPr/>
        </p:nvGrpSpPr>
        <p:grpSpPr>
          <a:xfrm>
            <a:off x="6191250" y="1447800"/>
            <a:ext cx="5429250" cy="2057400"/>
            <a:chOff x="6191250" y="1447800"/>
            <a:chExt cx="5429250" cy="2057400"/>
          </a:xfrm>
        </p:grpSpPr>
        <p:sp>
          <p:nvSpPr>
            <p:cNvPr id="15" name="Rectangle 15"/>
            <p:cNvSpPr/>
            <p:nvPr/>
          </p:nvSpPr>
          <p:spPr>
            <a:xfrm>
              <a:off x="6191250" y="1447800"/>
              <a:ext cx="5429250" cy="2057400"/>
            </a:xfrm>
            <a:prstGeom prst="roundRect">
              <a:avLst>
                <a:gd name="adj" fmla="val 5556"/>
              </a:avLst>
            </a:prstGeom>
            <a:solidFill>
              <a:schemeClr val="lt2"/>
            </a:solidFill>
            <a:ln w="9525">
              <a:solidFill>
                <a:schemeClr val="accent4"/>
              </a:solidFill>
            </a:ln>
          </p:spPr>
        </p:sp>
        <p:sp>
          <p:nvSpPr>
            <p:cNvPr id="16" name="Rectangle 16"/>
            <p:cNvSpPr/>
            <p:nvPr/>
          </p:nvSpPr>
          <p:spPr>
            <a:xfrm>
              <a:off x="6191250" y="1447800"/>
              <a:ext cx="57150" cy="2057400"/>
            </a:xfrm>
            <a:prstGeom prst="roundRect">
              <a:avLst>
                <a:gd name="adj" fmla="val 50000"/>
              </a:avLst>
            </a:prstGeom>
            <a:solidFill>
              <a:schemeClr val="accent2"/>
            </a:solidFill>
            <a:ln>
              <a:noFill/>
            </a:ln>
          </p:spPr>
        </p:sp>
        <p:sp>
          <p:nvSpPr>
            <p:cNvPr id="17" name="TextBox 17"/>
            <p:cNvSpPr txBox="1"/>
            <p:nvPr/>
          </p:nvSpPr>
          <p:spPr>
            <a:xfrm>
              <a:off x="6472047" y="1723549"/>
              <a:ext cx="82526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FUSE GATE</a:t>
              </a:r>
            </a:p>
          </p:txBody>
        </p:sp>
        <p:sp>
          <p:nvSpPr>
            <p:cNvPr id="18" name="TextBox 18"/>
            <p:cNvSpPr txBox="1"/>
            <p:nvPr/>
          </p:nvSpPr>
          <p:spPr>
            <a:xfrm>
              <a:off x="6467094" y="2018348"/>
              <a:ext cx="374154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Data-type fusion matters</a:t>
              </a:r>
            </a:p>
          </p:txBody>
        </p:sp>
        <p:sp>
          <p:nvSpPr>
            <p:cNvPr id="19" name="TextBox 19"/>
            <p:cNvSpPr txBox="1"/>
            <p:nvPr/>
          </p:nvSpPr>
          <p:spPr>
            <a:xfrm>
              <a:off x="6470523" y="2491264"/>
              <a:ext cx="304257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Dropping the fuse layer that injects</a:t>
              </a:r>
            </a:p>
          </p:txBody>
        </p:sp>
        <p:sp>
          <p:nvSpPr>
            <p:cNvPr id="20" name="TextBox 20"/>
            <p:cNvSpPr txBox="1"/>
            <p:nvPr/>
          </p:nvSpPr>
          <p:spPr>
            <a:xfrm>
              <a:off x="6470523" y="2738914"/>
              <a:ext cx="291643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data-type information also hurts,</a:t>
              </a:r>
            </a:p>
          </p:txBody>
        </p:sp>
        <p:sp>
          <p:nvSpPr>
            <p:cNvPr id="21" name="TextBox 21"/>
            <p:cNvSpPr txBox="1"/>
            <p:nvPr/>
          </p:nvSpPr>
          <p:spPr>
            <a:xfrm>
              <a:off x="6470523" y="2986564"/>
              <a:ext cx="277858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and removing both is worse still.</a:t>
              </a:r>
            </a:p>
          </p:txBody>
        </p:sp>
      </p:grpSp>
      <p:grpSp>
        <p:nvGrpSpPr>
          <p:cNvPr id="30" name="Group 30"/>
          <p:cNvGrpSpPr/>
          <p:nvPr/>
        </p:nvGrpSpPr>
        <p:grpSpPr>
          <a:xfrm>
            <a:off x="571500" y="3733800"/>
            <a:ext cx="5429250" cy="2057400"/>
            <a:chOff x="571500" y="3733800"/>
            <a:chExt cx="5429250" cy="2057400"/>
          </a:xfrm>
        </p:grpSpPr>
        <p:sp>
          <p:nvSpPr>
            <p:cNvPr id="23" name="Rectangle 23"/>
            <p:cNvSpPr/>
            <p:nvPr/>
          </p:nvSpPr>
          <p:spPr>
            <a:xfrm>
              <a:off x="571500" y="3733800"/>
              <a:ext cx="5429250" cy="2057400"/>
            </a:xfrm>
            <a:prstGeom prst="roundRect">
              <a:avLst>
                <a:gd name="adj" fmla="val 5556"/>
              </a:avLst>
            </a:prstGeom>
            <a:solidFill>
              <a:schemeClr val="lt2"/>
            </a:solidFill>
            <a:ln w="9525">
              <a:solidFill>
                <a:schemeClr val="accent4"/>
              </a:solidFill>
            </a:ln>
          </p:spPr>
        </p:sp>
        <p:sp>
          <p:nvSpPr>
            <p:cNvPr id="24" name="Rectangle 24"/>
            <p:cNvSpPr/>
            <p:nvPr/>
          </p:nvSpPr>
          <p:spPr>
            <a:xfrm>
              <a:off x="571500" y="3733800"/>
              <a:ext cx="57150" cy="2057400"/>
            </a:xfrm>
            <a:prstGeom prst="roundRect">
              <a:avLst>
                <a:gd name="adj" fmla="val 50000"/>
              </a:avLst>
            </a:prstGeom>
            <a:solidFill>
              <a:srgbClr val="2E9E5B"/>
            </a:solidFill>
            <a:ln>
              <a:noFill/>
            </a:ln>
          </p:spPr>
        </p:sp>
        <p:sp>
          <p:nvSpPr>
            <p:cNvPr id="25" name="TextBox 25"/>
            <p:cNvSpPr txBox="1"/>
            <p:nvPr/>
          </p:nvSpPr>
          <p:spPr>
            <a:xfrm>
              <a:off x="852297" y="4009549"/>
              <a:ext cx="199837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PRETRAINING OBJECTIVES</a:t>
              </a:r>
            </a:p>
          </p:txBody>
        </p:sp>
        <p:sp>
          <p:nvSpPr>
            <p:cNvPr id="26" name="TextBox 26"/>
            <p:cNvSpPr txBox="1"/>
            <p:nvPr/>
          </p:nvSpPr>
          <p:spPr>
            <a:xfrm>
              <a:off x="847344" y="4304348"/>
              <a:ext cx="403222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Two signals, complementary</a:t>
              </a:r>
            </a:p>
          </p:txBody>
        </p:sp>
        <p:sp>
          <p:nvSpPr>
            <p:cNvPr id="27" name="TextBox 27"/>
            <p:cNvSpPr txBox="1"/>
            <p:nvPr/>
          </p:nvSpPr>
          <p:spPr>
            <a:xfrm>
              <a:off x="850773" y="4777264"/>
              <a:ext cx="308556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Dropping either objective, multi-cell</a:t>
              </a:r>
            </a:p>
          </p:txBody>
        </p:sp>
        <p:sp>
          <p:nvSpPr>
            <p:cNvPr id="28" name="TextBox 28"/>
            <p:cNvSpPr txBox="1"/>
            <p:nvPr/>
          </p:nvSpPr>
          <p:spPr>
            <a:xfrm>
              <a:off x="850773" y="5024914"/>
              <a:ext cx="277858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masking or contrastive learning,</a:t>
              </a:r>
            </a:p>
          </p:txBody>
        </p:sp>
        <p:sp>
          <p:nvSpPr>
            <p:cNvPr id="29" name="TextBox 29"/>
            <p:cNvSpPr txBox="1"/>
            <p:nvPr/>
          </p:nvSpPr>
          <p:spPr>
            <a:xfrm>
              <a:off x="850773" y="5272564"/>
              <a:ext cx="223579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reduces performance too.</a:t>
              </a:r>
            </a:p>
          </p:txBody>
        </p:sp>
      </p:grpSp>
      <p:grpSp>
        <p:nvGrpSpPr>
          <p:cNvPr id="38" name="Group 38"/>
          <p:cNvGrpSpPr/>
          <p:nvPr/>
        </p:nvGrpSpPr>
        <p:grpSpPr>
          <a:xfrm>
            <a:off x="6191250" y="3733800"/>
            <a:ext cx="5429250" cy="2057400"/>
            <a:chOff x="6191250" y="3733800"/>
            <a:chExt cx="5429250" cy="2057400"/>
          </a:xfrm>
        </p:grpSpPr>
        <p:sp>
          <p:nvSpPr>
            <p:cNvPr id="31" name="Rectangle 31"/>
            <p:cNvSpPr/>
            <p:nvPr/>
          </p:nvSpPr>
          <p:spPr>
            <a:xfrm>
              <a:off x="6191250" y="3733800"/>
              <a:ext cx="5429250" cy="2057400"/>
            </a:xfrm>
            <a:prstGeom prst="roundRect">
              <a:avLst>
                <a:gd name="adj" fmla="val 5556"/>
              </a:avLst>
            </a:prstGeom>
            <a:solidFill>
              <a:schemeClr val="lt2"/>
            </a:solidFill>
            <a:ln w="9525">
              <a:solidFill>
                <a:schemeClr val="accent4"/>
              </a:solidFill>
            </a:ln>
          </p:spPr>
        </p:sp>
        <p:sp>
          <p:nvSpPr>
            <p:cNvPr id="32" name="Rectangle 32"/>
            <p:cNvSpPr/>
            <p:nvPr/>
          </p:nvSpPr>
          <p:spPr>
            <a:xfrm>
              <a:off x="6191250" y="3733800"/>
              <a:ext cx="57150" cy="2057400"/>
            </a:xfrm>
            <a:prstGeom prst="roundRect">
              <a:avLst>
                <a:gd name="adj" fmla="val 50000"/>
              </a:avLst>
            </a:prstGeom>
            <a:solidFill>
              <a:srgbClr val="3B7DD8"/>
            </a:solidFill>
            <a:ln>
              <a:noFill/>
            </a:ln>
          </p:spPr>
        </p:sp>
        <p:sp>
          <p:nvSpPr>
            <p:cNvPr id="33" name="TextBox 33"/>
            <p:cNvSpPr txBox="1"/>
            <p:nvPr/>
          </p:nvSpPr>
          <p:spPr>
            <a:xfrm>
              <a:off x="6472047" y="4009549"/>
              <a:ext cx="124026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DECODER DEPTH</a:t>
              </a:r>
            </a:p>
          </p:txBody>
        </p:sp>
        <p:sp>
          <p:nvSpPr>
            <p:cNvPr id="34" name="TextBox 34"/>
            <p:cNvSpPr txBox="1"/>
            <p:nvPr/>
          </p:nvSpPr>
          <p:spPr>
            <a:xfrm>
              <a:off x="6467094" y="4304348"/>
              <a:ext cx="3011053"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Shallow decoder wins</a:t>
              </a:r>
            </a:p>
          </p:txBody>
        </p:sp>
        <p:sp>
          <p:nvSpPr>
            <p:cNvPr id="35" name="TextBox 35"/>
            <p:cNvSpPr txBox="1"/>
            <p:nvPr/>
          </p:nvSpPr>
          <p:spPr>
            <a:xfrm>
              <a:off x="6470523" y="4777264"/>
              <a:ext cx="260462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1-layer decoder beats 3- and</a:t>
              </a:r>
            </a:p>
          </p:txBody>
        </p:sp>
        <p:sp>
          <p:nvSpPr>
            <p:cNvPr id="36" name="TextBox 36"/>
            <p:cNvSpPr txBox="1"/>
            <p:nvPr/>
          </p:nvSpPr>
          <p:spPr>
            <a:xfrm>
              <a:off x="6470523" y="5024914"/>
              <a:ext cx="301982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6-layer ones, confirming the choice</a:t>
              </a:r>
            </a:p>
          </p:txBody>
        </p:sp>
        <p:sp>
          <p:nvSpPr>
            <p:cNvPr id="37" name="TextBox 37"/>
            <p:cNvSpPr txBox="1"/>
            <p:nvPr/>
          </p:nvSpPr>
          <p:spPr>
            <a:xfrm>
              <a:off x="6470523" y="5272564"/>
              <a:ext cx="287336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 keep knowledge in the encoder.</a:t>
              </a:r>
            </a:p>
          </p:txBody>
        </p:sp>
      </p:grpSp>
      <p:grpSp>
        <p:nvGrpSpPr>
          <p:cNvPr id="41" name="Group 41"/>
          <p:cNvGrpSpPr/>
          <p:nvPr/>
        </p:nvGrpSpPr>
        <p:grpSpPr>
          <a:xfrm>
            <a:off x="566738" y="6597491"/>
            <a:ext cx="11058524" cy="161925"/>
            <a:chOff x="566738" y="6597491"/>
            <a:chExt cx="11058524" cy="161925"/>
          </a:xfrm>
        </p:grpSpPr>
        <p:sp>
          <p:nvSpPr>
            <p:cNvPr id="39" name="TextBox 39"/>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40" name="TextBox 40"/>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07</a:t>
              </a:r>
            </a:p>
          </p:txBody>
        </p:sp>
      </p:grpSp>
      <p:sp>
        <p:nvSpPr>
          <p:cNvPr id="42" name="cue_s07_c1_ablations_confirm_part_earns_its" title="cue_s07_c1_ablations_confirm_part_earns_its" descr="cue_s07_c1_ablations_confirm_part_earns_its Ablations confirm each part earns its place. Removing the linking layer, which ties names to values, causes the largest drop, from an AUC of zero point eight three down to zero point seven five."/>
          <p:cNvSpPr/>
          <p:nvPr/>
        </p:nvSpPr>
        <p:spPr>
          <a:xfrm>
            <a:off x="571804"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2_removing_fuse_layer_injects_data_typ" title="cue_s07_c2_removing_fuse_layer_injects_data_typ" descr="cue_s07_c2_removing_fuse_layer_injects_data_typ Removing the fuse layer that injects data-type information also hurts, and removing both is worse."/>
          <p:cNvSpPr/>
          <p:nvPr/>
        </p:nvSpPr>
        <p:spPr>
          <a:xfrm>
            <a:off x="6191097"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3_dropping_either_pretraining_objectiv" title="cue_s07_c3_dropping_either_pretraining_objectiv" descr="cue_s07_c3_dropping_either_pretraining_objectiv Dropping either pretraining objective, multi-cell masking or contrastive learning, reduces performance too."/>
          <p:cNvSpPr/>
          <p:nvPr/>
        </p:nvSpPr>
        <p:spPr>
          <a:xfrm>
            <a:off x="571804"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4_notably_one_layer_decoder_beats_thre" title="cue_s07_c4_notably_one_layer_decoder_beats_thre" descr="cue_s07_c4_notably_one_layer_decoder_beats_thre Notably, a one-layer decoder beats three- or six-layer ones, supporting the choice to keep the decoder shallow."/>
          <p:cNvSpPr/>
          <p:nvPr/>
        </p:nvSpPr>
        <p:spPr>
          <a:xfrm>
            <a:off x="6191097"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850469" cy="656939"/>
            <a:chOff x="571500" y="533400"/>
            <a:chExt cx="7850469"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63482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Takeaway: a foundation model for tables</a:t>
              </a:r>
            </a:p>
          </p:txBody>
        </p:sp>
        <p:sp>
          <p:nvSpPr>
            <p:cNvPr id="4" name="TextBox 4"/>
            <p:cNvSpPr txBox="1"/>
            <p:nvPr/>
          </p:nvSpPr>
          <p:spPr>
            <a:xfrm>
              <a:off x="795147" y="999649"/>
              <a:ext cx="421028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RESPECT STRUCTURE, PRETRAIN AT SCALE, TRANSFER</a:t>
              </a:r>
            </a:p>
          </p:txBody>
        </p:sp>
      </p:grpSp>
      <p:grpSp>
        <p:nvGrpSpPr>
          <p:cNvPr id="11" name="Group 11"/>
          <p:cNvGrpSpPr/>
          <p:nvPr/>
        </p:nvGrpSpPr>
        <p:grpSpPr>
          <a:xfrm>
            <a:off x="571500" y="1447800"/>
            <a:ext cx="11049000" cy="1428750"/>
            <a:chOff x="571500" y="1447800"/>
            <a:chExt cx="11049000" cy="1428750"/>
          </a:xfrm>
        </p:grpSpPr>
        <p:sp>
          <p:nvSpPr>
            <p:cNvPr id="6" name="Rectangle 6"/>
            <p:cNvSpPr/>
            <p:nvPr/>
          </p:nvSpPr>
          <p:spPr>
            <a:xfrm>
              <a:off x="571500" y="1447800"/>
              <a:ext cx="11049000" cy="1428750"/>
            </a:xfrm>
            <a:prstGeom prst="roundRect">
              <a:avLst>
                <a:gd name="adj" fmla="val 9333"/>
              </a:avLst>
            </a:prstGeom>
            <a:solidFill>
              <a:schemeClr val="accent1"/>
            </a:solidFill>
            <a:ln>
              <a:noFill/>
            </a:ln>
          </p:spPr>
        </p:sp>
        <p:sp>
          <p:nvSpPr>
            <p:cNvPr id="7" name="Rectangle 7"/>
            <p:cNvSpPr/>
            <p:nvPr/>
          </p:nvSpPr>
          <p:spPr>
            <a:xfrm>
              <a:off x="571500" y="1447800"/>
              <a:ext cx="57150" cy="1428750"/>
            </a:xfrm>
            <a:prstGeom prst="roundRect">
              <a:avLst>
                <a:gd name="adj" fmla="val 50000"/>
              </a:avLst>
            </a:prstGeom>
            <a:solidFill>
              <a:schemeClr val="accent2"/>
            </a:solidFill>
            <a:ln>
              <a:noFill/>
            </a:ln>
          </p:spPr>
        </p:sp>
        <p:sp>
          <p:nvSpPr>
            <p:cNvPr id="8" name="TextBox 8"/>
            <p:cNvSpPr txBox="1"/>
            <p:nvPr/>
          </p:nvSpPr>
          <p:spPr>
            <a:xfrm>
              <a:off x="909638" y="1769745"/>
              <a:ext cx="1282751" cy="176212"/>
            </a:xfrm>
            <a:prstGeom prst="rect">
              <a:avLst/>
            </a:prstGeom>
            <a:noFill/>
            <a:ln>
              <a:noFill/>
            </a:ln>
          </p:spPr>
          <p:txBody>
            <a:bodyPr wrap="none" lIns="0" tIns="0" rIns="0" bIns="0" anchor="t" anchorCtr="0">
              <a:spAutoFit/>
            </a:bodyPr>
            <a:lstStyle/>
            <a:p>
              <a:pPr algn="l"/>
              <a:r>
                <a:rPr lang="en-US" sz="900" b="1" spc="150" dirty="0">
                  <a:solidFill>
                    <a:schemeClr val="accent3"/>
                  </a:solidFill>
                  <a:latin typeface="+mn-lt"/>
                  <a:ea typeface="+mn-ea"/>
                  <a:cs typeface="+mn-cs"/>
                </a:rPr>
                <a:t>THE BIG PICTURE</a:t>
              </a:r>
            </a:p>
          </p:txBody>
        </p:sp>
        <p:sp>
          <p:nvSpPr>
            <p:cNvPr id="9" name="TextBox 9"/>
            <p:cNvSpPr txBox="1"/>
            <p:nvPr/>
          </p:nvSpPr>
          <p:spPr>
            <a:xfrm>
              <a:off x="904494" y="2094548"/>
              <a:ext cx="7554860"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The pretraining paradigm that reshaped language and</a:t>
              </a:r>
            </a:p>
          </p:txBody>
        </p:sp>
        <p:sp>
          <p:nvSpPr>
            <p:cNvPr id="10" name="TextBox 10"/>
            <p:cNvSpPr txBox="1"/>
            <p:nvPr/>
          </p:nvSpPr>
          <p:spPr>
            <a:xfrm>
              <a:off x="904494" y="2437448"/>
              <a:ext cx="6572631"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vision can extend to structured tabular data.</a:t>
              </a:r>
            </a:p>
          </p:txBody>
        </p:sp>
      </p:grpSp>
      <p:grpSp>
        <p:nvGrpSpPr>
          <p:cNvPr id="21" name="Group 21"/>
          <p:cNvGrpSpPr/>
          <p:nvPr/>
        </p:nvGrpSpPr>
        <p:grpSpPr>
          <a:xfrm>
            <a:off x="571500" y="3086100"/>
            <a:ext cx="5429250" cy="2819400"/>
            <a:chOff x="571500" y="3086100"/>
            <a:chExt cx="5429250" cy="2819400"/>
          </a:xfrm>
        </p:grpSpPr>
        <p:sp>
          <p:nvSpPr>
            <p:cNvPr id="12" name="Rectangle 12"/>
            <p:cNvSpPr/>
            <p:nvPr/>
          </p:nvSpPr>
          <p:spPr>
            <a:xfrm>
              <a:off x="571500" y="3086100"/>
              <a:ext cx="5429250" cy="2819400"/>
            </a:xfrm>
            <a:prstGeom prst="roundRect">
              <a:avLst>
                <a:gd name="adj" fmla="val 4054"/>
              </a:avLst>
            </a:prstGeom>
            <a:solidFill>
              <a:schemeClr val="lt2"/>
            </a:solidFill>
            <a:ln w="9525">
              <a:solidFill>
                <a:schemeClr val="accent4"/>
              </a:solidFill>
            </a:ln>
          </p:spPr>
        </p:sp>
        <p:sp>
          <p:nvSpPr>
            <p:cNvPr id="13" name="Rectangle 13"/>
            <p:cNvSpPr/>
            <p:nvPr/>
          </p:nvSpPr>
          <p:spPr>
            <a:xfrm>
              <a:off x="571500" y="3086100"/>
              <a:ext cx="57150" cy="2819400"/>
            </a:xfrm>
            <a:prstGeom prst="roundRect">
              <a:avLst>
                <a:gd name="adj" fmla="val 50000"/>
              </a:avLst>
            </a:prstGeom>
            <a:solidFill>
              <a:schemeClr val="accent1"/>
            </a:solidFill>
            <a:ln>
              <a:noFill/>
            </a:ln>
          </p:spPr>
        </p:sp>
        <p:sp>
          <p:nvSpPr>
            <p:cNvPr id="14" name="TextBox 14"/>
            <p:cNvSpPr txBox="1"/>
            <p:nvPr/>
          </p:nvSpPr>
          <p:spPr>
            <a:xfrm>
              <a:off x="852297" y="3361849"/>
              <a:ext cx="1137812"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PRINCIPLE</a:t>
              </a:r>
            </a:p>
          </p:txBody>
        </p:sp>
        <p:sp>
          <p:nvSpPr>
            <p:cNvPr id="15" name="TextBox 15"/>
            <p:cNvSpPr txBox="1"/>
            <p:nvPr/>
          </p:nvSpPr>
          <p:spPr>
            <a:xfrm>
              <a:off x="847344" y="3656648"/>
              <a:ext cx="327426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Respect the structure</a:t>
              </a:r>
            </a:p>
          </p:txBody>
        </p:sp>
        <p:sp>
          <p:nvSpPr>
            <p:cNvPr id="16" name="TextBox 16"/>
            <p:cNvSpPr txBox="1"/>
            <p:nvPr/>
          </p:nvSpPr>
          <p:spPr>
            <a:xfrm>
              <a:off x="850773" y="4129564"/>
              <a:ext cx="265532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Don't flatten tables into text.</a:t>
              </a:r>
            </a:p>
          </p:txBody>
        </p:sp>
        <p:sp>
          <p:nvSpPr>
            <p:cNvPr id="17" name="TextBox 17"/>
            <p:cNvSpPr txBox="1"/>
            <p:nvPr/>
          </p:nvSpPr>
          <p:spPr>
            <a:xfrm>
              <a:off x="850773" y="4377214"/>
              <a:ext cx="218105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Represent each cell by its</a:t>
              </a:r>
            </a:p>
          </p:txBody>
        </p:sp>
        <p:sp>
          <p:nvSpPr>
            <p:cNvPr id="18" name="TextBox 18"/>
            <p:cNvSpPr txBox="1"/>
            <p:nvPr/>
          </p:nvSpPr>
          <p:spPr>
            <a:xfrm>
              <a:off x="850773" y="4624864"/>
              <a:ext cx="300259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column name, value, and data type,</a:t>
              </a:r>
            </a:p>
          </p:txBody>
        </p:sp>
        <p:sp>
          <p:nvSpPr>
            <p:cNvPr id="19" name="TextBox 19"/>
            <p:cNvSpPr txBox="1"/>
            <p:nvPr/>
          </p:nvSpPr>
          <p:spPr>
            <a:xfrm>
              <a:off x="850773" y="4872514"/>
              <a:ext cx="267259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refine with a Transformer, and</a:t>
              </a:r>
            </a:p>
          </p:txBody>
        </p:sp>
        <p:sp>
          <p:nvSpPr>
            <p:cNvPr id="20" name="TextBox 20"/>
            <p:cNvSpPr txBox="1"/>
            <p:nvPr/>
          </p:nvSpPr>
          <p:spPr>
            <a:xfrm>
              <a:off x="850773" y="5120164"/>
              <a:ext cx="298536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adapt through free-form prompts.</a:t>
              </a:r>
            </a:p>
          </p:txBody>
        </p:sp>
      </p:grpSp>
      <p:grpSp>
        <p:nvGrpSpPr>
          <p:cNvPr id="31" name="Group 31"/>
          <p:cNvGrpSpPr/>
          <p:nvPr/>
        </p:nvGrpSpPr>
        <p:grpSpPr>
          <a:xfrm>
            <a:off x="6191250" y="3086100"/>
            <a:ext cx="5429250" cy="2819400"/>
            <a:chOff x="6191250" y="3086100"/>
            <a:chExt cx="5429250" cy="2819400"/>
          </a:xfrm>
        </p:grpSpPr>
        <p:sp>
          <p:nvSpPr>
            <p:cNvPr id="22" name="Rectangle 22"/>
            <p:cNvSpPr/>
            <p:nvPr/>
          </p:nvSpPr>
          <p:spPr>
            <a:xfrm>
              <a:off x="6191250" y="3086100"/>
              <a:ext cx="5429250" cy="2819400"/>
            </a:xfrm>
            <a:prstGeom prst="roundRect">
              <a:avLst>
                <a:gd name="adj" fmla="val 4054"/>
              </a:avLst>
            </a:prstGeom>
            <a:solidFill>
              <a:schemeClr val="lt2"/>
            </a:solidFill>
            <a:ln w="9525">
              <a:solidFill>
                <a:schemeClr val="accent4"/>
              </a:solidFill>
            </a:ln>
          </p:spPr>
        </p:sp>
        <p:sp>
          <p:nvSpPr>
            <p:cNvPr id="23" name="Rectangle 23"/>
            <p:cNvSpPr/>
            <p:nvPr/>
          </p:nvSpPr>
          <p:spPr>
            <a:xfrm>
              <a:off x="6191250" y="3086100"/>
              <a:ext cx="57150" cy="2819400"/>
            </a:xfrm>
            <a:prstGeom prst="roundRect">
              <a:avLst>
                <a:gd name="adj" fmla="val 50000"/>
              </a:avLst>
            </a:prstGeom>
            <a:solidFill>
              <a:srgbClr val="2E9E5B"/>
            </a:solidFill>
            <a:ln>
              <a:noFill/>
            </a:ln>
          </p:spPr>
        </p:sp>
        <p:sp>
          <p:nvSpPr>
            <p:cNvPr id="24" name="TextBox 24"/>
            <p:cNvSpPr txBox="1"/>
            <p:nvPr/>
          </p:nvSpPr>
          <p:spPr>
            <a:xfrm>
              <a:off x="6472047" y="3361849"/>
              <a:ext cx="110595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OUTCOME</a:t>
              </a:r>
            </a:p>
          </p:txBody>
        </p:sp>
        <p:sp>
          <p:nvSpPr>
            <p:cNvPr id="25" name="TextBox 25"/>
            <p:cNvSpPr txBox="1"/>
            <p:nvPr/>
          </p:nvSpPr>
          <p:spPr>
            <a:xfrm>
              <a:off x="6467094" y="3656648"/>
              <a:ext cx="3360762"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j-lt"/>
                  <a:ea typeface="+mj-ea"/>
                  <a:cs typeface="+mj-cs"/>
                </a:rPr>
                <a:t>A general tabular model</a:t>
              </a:r>
            </a:p>
          </p:txBody>
        </p:sp>
        <p:sp>
          <p:nvSpPr>
            <p:cNvPr id="26" name="TextBox 26"/>
            <p:cNvSpPr txBox="1"/>
            <p:nvPr/>
          </p:nvSpPr>
          <p:spPr>
            <a:xfrm>
              <a:off x="6470523" y="4129564"/>
              <a:ext cx="293918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Pretrained on billions of examples,</a:t>
              </a:r>
            </a:p>
          </p:txBody>
        </p:sp>
        <p:sp>
          <p:nvSpPr>
            <p:cNvPr id="27" name="TextBox 27"/>
            <p:cNvSpPr txBox="1"/>
            <p:nvPr/>
          </p:nvSpPr>
          <p:spPr>
            <a:xfrm>
              <a:off x="6470523" y="4377214"/>
              <a:ext cx="279598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UniTabE transfers across tasks,</a:t>
              </a:r>
            </a:p>
          </p:txBody>
        </p:sp>
        <p:sp>
          <p:nvSpPr>
            <p:cNvPr id="28" name="TextBox 28"/>
            <p:cNvSpPr txBox="1"/>
            <p:nvPr/>
          </p:nvSpPr>
          <p:spPr>
            <a:xfrm>
              <a:off x="6470523" y="4624864"/>
              <a:ext cx="275263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beats the long-standing XGBoost</a:t>
              </a:r>
            </a:p>
          </p:txBody>
        </p:sp>
        <p:sp>
          <p:nvSpPr>
            <p:cNvPr id="29" name="TextBox 29"/>
            <p:cNvSpPr txBox="1"/>
            <p:nvPr/>
          </p:nvSpPr>
          <p:spPr>
            <a:xfrm>
              <a:off x="6470523" y="4872514"/>
              <a:ext cx="270104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baseline, and gracefully handles</a:t>
              </a:r>
            </a:p>
          </p:txBody>
        </p:sp>
        <p:sp>
          <p:nvSpPr>
            <p:cNvPr id="30" name="TextBox 30"/>
            <p:cNvSpPr txBox="1"/>
            <p:nvPr/>
          </p:nvSpPr>
          <p:spPr>
            <a:xfrm>
              <a:off x="6470523" y="5120164"/>
              <a:ext cx="270966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missing values and new columns.</a:t>
              </a:r>
            </a:p>
          </p:txBody>
        </p:sp>
      </p:grpSp>
      <p:grpSp>
        <p:nvGrpSpPr>
          <p:cNvPr id="34" name="Group 34"/>
          <p:cNvGrpSpPr/>
          <p:nvPr/>
        </p:nvGrpSpPr>
        <p:grpSpPr>
          <a:xfrm>
            <a:off x="566738" y="6597491"/>
            <a:ext cx="11058524" cy="161925"/>
            <a:chOff x="566738" y="6597491"/>
            <a:chExt cx="11058524" cy="161925"/>
          </a:xfrm>
        </p:grpSpPr>
        <p:sp>
          <p:nvSpPr>
            <p:cNvPr id="32" name="TextBox 32"/>
            <p:cNvSpPr txBox="1"/>
            <p:nvPr/>
          </p:nvSpPr>
          <p:spPr>
            <a:xfrm>
              <a:off x="566738" y="6597491"/>
              <a:ext cx="526289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UniTabE: A Universal Pretraining Protocol for Tabular Foundation Models · Yang et al. · ICLR 2024</a:t>
              </a:r>
            </a:p>
          </p:txBody>
        </p:sp>
        <p:sp>
          <p:nvSpPr>
            <p:cNvPr id="33" name="TextBox 33"/>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08</a:t>
              </a:r>
            </a:p>
          </p:txBody>
        </p:sp>
      </p:grpSp>
      <p:sp>
        <p:nvSpPr>
          <p:cNvPr id="35" name="cue_s08_c1_pretraining_paradigm_reshaped_langua" title="cue_s08_c1_pretraining_paradigm_reshaped_langua" descr="cue_s08_c1_pretraining_paradigm_reshaped_langua The pretraining paradigm that reshaped language and vision can extend to tabular data."/>
          <p:cNvSpPr/>
          <p:nvPr/>
        </p:nvSpPr>
        <p:spPr>
          <a:xfrm>
            <a:off x="571804" y="1447723"/>
            <a:ext cx="110483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8_c2_key_respect_table_structure_rather" title="cue_s08_c2_key_respect_table_structure_rather" descr="cue_s08_c2_key_respect_table_structure_rather The key is to respect table structure rather than flatten it into text: represent each cell by its column name, value, and data type, refine with a Transformer, and adapt through free-form prompts."/>
          <p:cNvSpPr/>
          <p:nvPr/>
        </p:nvSpPr>
        <p:spPr>
          <a:xfrm>
            <a:off x="571804" y="3086100"/>
            <a:ext cx="5429097"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8_c3_pretrained_billions_unitabe_becomes" title="cue_s08_c3_pretrained_billions_unitabe_becomes" descr="cue_s08_c3_pretrained_billions_unitabe_becomes Pretrained on billions, UniTabE becomes a general tabular model that transfers across tasks, beats the XGBoost baseline, and handles missing values and tables that gain columns."/>
          <p:cNvSpPr/>
          <p:nvPr/>
        </p:nvSpPr>
        <p:spPr>
          <a:xfrm>
            <a:off x="6191097" y="3086100"/>
            <a:ext cx="5429097"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unitabe">
  <a:themeElements>
    <a:clrScheme name="deck_unitabe">
      <a:dk1>
        <a:srgbClr val="1A202C"/>
      </a:dk1>
      <a:lt1>
        <a:srgbClr val="FFFFFF"/>
      </a:lt1>
      <a:dk2>
        <a:srgbClr val="4A5568"/>
      </a:dk2>
      <a:lt2>
        <a:srgbClr val="F4F6F9"/>
      </a:lt2>
      <a:accent1>
        <a:srgbClr val="16324F"/>
      </a:accent1>
      <a:accent2>
        <a:srgbClr val="1F9E8F"/>
      </a:accent2>
      <a:accent3>
        <a:srgbClr val="5FB0A6"/>
      </a:accent3>
      <a:accent4>
        <a:srgbClr val="E2E8F0"/>
      </a:accent4>
      <a:accent5>
        <a:srgbClr val="E7F4F1"/>
      </a:accent5>
      <a:accent6>
        <a:srgbClr val="94A3B8"/>
      </a:accent6>
      <a:hlink>
        <a:srgbClr val="1F9E8F"/>
      </a:hlink>
      <a:folHlink>
        <a:srgbClr val="5FB0A6"/>
      </a:folHlink>
    </a:clrScheme>
    <a:fontScheme name="deck_unitabe">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unitab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2026-07-15T18:13:19Z</dcterms:created>
  <dcterms:modified xsi:type="dcterms:W3CDTF">2026-07-15T18:13:19Z</dcterms:modified>
  <cp:category/>
  <cp:contentStatus/>
</cp:coreProperties>
</file>
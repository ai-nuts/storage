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Can large language models combine skills they already know? This COLM 2024 paper tests whether models solve an unseen composite task by fusing two simple tasks seen separately. Across Llama and GPT, a sharp dichotomy emerges.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Suppose a model learned two simple tasks in-context, capitalizing certain words and swapping others. Given an input needing both, can it combine the skills? For humans this is trivial, yet even GPT-4 and Claude 3 often fail.</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Models are increasingly asked to chain skills for real reasoning, yet we lack a clear account of when chaining works. Prior studies are narrow with little theory, and the failure reproduces easily on frontier models.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Three contributions: a test suite of linguistic and logical composite tasks with simple-task examples only; evaluation across Llama and GPT scales revealing a clear dichotomy; and a linear self-attention theory explaining when composition emerges.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Two halves. Empirically, each composite task is tested in four settings with ten in-context examples: each simple task alone, a composite test with simple-task demos, and an all-composite gold standard. Theoretically, a linear self-attention model shows composition succeeds under confined support.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suite pairs simple building blocks. Linguistic tasks include capitalization, swapping, and translations like phrase recombination and passive-to-active. Logical tasks combine arithmetic with word operations. Tasks split into separable composites, acting on different input parts, and compose-by-step composites requiring chained reasoning.</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A sharp split. On separable composite tasks, models compose well and improve with scale, approaching the gold standard. On compose-by-step tasks they collapse: Llama solves each simple task near ninety percent, but the composite drops below twenty percent, and scaling doesn't help.</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scale sweep is the key ablation. On separable tasks accuracy rises with scale; on compose-by-step tasks it stays flat or degrades. Swapping simple-task demos for composite ones recovers performance, isolating composition, not capability, as the bottleneck.</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numbers tell it. Simple capitalization and swap reach about ninety percent for Llama. The compose-by-step version falls to twenty percent or lower, with no gain from scaling. Milder separable cases climb to forty-four and sixty-six percent.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takeaway: models combine two skills only when they act on separate parts of the input. When a task needs genuinely chained, multi-step reasoning, they fail, and more parameters won't help. Task structure predicts whether scaling helps.</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compose_deck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compose_deck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25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5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4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3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2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1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0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95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5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500" kern="1200">
          <a:solidFill>
            <a:schemeClr val="tx1"/>
          </a:solidFill>
          <a:latin typeface="+mn-lt"/>
          <a:ea typeface="+mn-ea"/>
          <a:cs typeface="+mn-cs"/>
        </a:defRPr>
      </a:lvl1pPr>
      <a:lvl2pPr marL="457200" algn="l" defTabSz="457200" rtl="0" eaLnBrk="1" latinLnBrk="0" hangingPunct="1">
        <a:defRPr sz="1400" kern="1200">
          <a:solidFill>
            <a:schemeClr val="tx1"/>
          </a:solidFill>
          <a:latin typeface="+mn-lt"/>
          <a:ea typeface="+mn-ea"/>
          <a:cs typeface="+mn-cs"/>
        </a:defRPr>
      </a:lvl2pPr>
      <a:lvl3pPr marL="914400" algn="l" defTabSz="457200" rtl="0" eaLnBrk="1" latinLnBrk="0" hangingPunct="1">
        <a:defRPr sz="13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100" kern="1200">
          <a:solidFill>
            <a:schemeClr val="tx1"/>
          </a:solidFill>
          <a:latin typeface="+mn-lt"/>
          <a:ea typeface="+mn-ea"/>
          <a:cs typeface="+mn-cs"/>
        </a:defRPr>
      </a:lvl5pPr>
      <a:lvl6pPr marL="2286000" algn="l" defTabSz="457200" rtl="0" eaLnBrk="1" latinLnBrk="0" hangingPunct="1">
        <a:defRPr sz="1050" kern="1200">
          <a:solidFill>
            <a:schemeClr val="tx1"/>
          </a:solidFill>
          <a:latin typeface="+mn-lt"/>
          <a:ea typeface="+mn-ea"/>
          <a:cs typeface="+mn-cs"/>
        </a:defRPr>
      </a:lvl6pPr>
      <a:lvl7pPr marL="2743200" algn="l" defTabSz="457200" rtl="0" eaLnBrk="1" latinLnBrk="0" hangingPunct="1">
        <a:defRPr sz="950" kern="1200">
          <a:solidFill>
            <a:schemeClr val="tx1"/>
          </a:solidFill>
          <a:latin typeface="+mn-lt"/>
          <a:ea typeface="+mn-ea"/>
          <a:cs typeface="+mn-cs"/>
        </a:defRPr>
      </a:lvl7pPr>
      <a:lvl8pPr marL="3200400" algn="l" defTabSz="457200" rtl="0" eaLnBrk="1" latinLnBrk="0" hangingPunct="1">
        <a:defRPr sz="85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256e5494765c0f4d.png"/><Relationship Id="rId3" Type="http://schemas.openxmlformats.org/officeDocument/2006/relationships/image" Target="../media/image_5f5d66befba249dd.png"/><Relationship Id="rId4" Type="http://schemas.openxmlformats.org/officeDocument/2006/relationships/image" Target="../media/image_76ebadb18d51eaef.pn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69b11d55614016e4.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d2c3016056ee7aa6.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d20079116aefb1ae.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5f5d66befba249dd.png"/><Relationship Id="rId3" Type="http://schemas.openxmlformats.org/officeDocument/2006/relationships/image" Target="../media/image_76ebadb18d51eaef.png"/><Relationship Id="rId4" Type="http://schemas.openxmlformats.org/officeDocument/2006/relationships/image" Target="../media/image_256e5494765c0f4d.png"/><Relationship Id="rId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chemeClr val="lt1"/>
            </a:solidFill>
            <a:ln>
              <a:noFill/>
            </a:ln>
          </p:spPr>
        </p:sp>
        <p:sp>
          <p:nvSpPr>
            <p:cNvPr id="3" name="Rectangle 3"/>
            <p:cNvSpPr/>
            <p:nvPr/>
          </p:nvSpPr>
          <p:spPr>
            <a:xfrm>
              <a:off x="0" y="0"/>
              <a:ext cx="12192000" cy="95250"/>
            </a:xfrm>
            <a:prstGeom prst="rect">
              <a:avLst/>
            </a:prstGeom>
            <a:solidFill>
              <a:schemeClr val="accent1"/>
            </a:solidFill>
            <a:ln>
              <a:noFill/>
            </a:ln>
          </p:spPr>
        </p:sp>
      </p:grpSp>
      <p:grpSp>
        <p:nvGrpSpPr>
          <p:cNvPr id="8" name="Group 8"/>
          <p:cNvGrpSpPr/>
          <p:nvPr/>
        </p:nvGrpSpPr>
        <p:grpSpPr>
          <a:xfrm>
            <a:off x="762000" y="628650"/>
            <a:ext cx="4392095" cy="466439"/>
            <a:chOff x="762000" y="628650"/>
            <a:chExt cx="4392095" cy="466439"/>
          </a:xfrm>
        </p:grpSpPr>
        <p:sp>
          <p:nvSpPr>
            <p:cNvPr id="5" name="Rectangle 5"/>
            <p:cNvSpPr/>
            <p:nvPr/>
          </p:nvSpPr>
          <p:spPr>
            <a:xfrm>
              <a:off x="762000" y="628650"/>
              <a:ext cx="57150" cy="400050"/>
            </a:xfrm>
            <a:prstGeom prst="rect">
              <a:avLst/>
            </a:prstGeom>
            <a:solidFill>
              <a:schemeClr val="accent2"/>
            </a:solidFill>
            <a:ln>
              <a:noFill/>
            </a:ln>
          </p:spPr>
        </p:sp>
        <p:sp>
          <p:nvSpPr>
            <p:cNvPr id="6" name="TextBox 6"/>
            <p:cNvSpPr txBox="1"/>
            <p:nvPr/>
          </p:nvSpPr>
          <p:spPr>
            <a:xfrm>
              <a:off x="947547" y="713899"/>
              <a:ext cx="4206548" cy="190690"/>
            </a:xfrm>
            <a:prstGeom prst="rect">
              <a:avLst/>
            </a:prstGeom>
            <a:noFill/>
            <a:ln>
              <a:noFill/>
            </a:ln>
          </p:spPr>
          <p:txBody>
            <a:bodyPr wrap="none" lIns="0" tIns="0" rIns="0" bIns="0" anchor="t" anchorCtr="0">
              <a:spAutoFit/>
            </a:bodyPr>
            <a:lstStyle/>
            <a:p>
              <a:pPr algn="l"/>
              <a:r>
                <a:rPr lang="en-US" sz="980" b="1" spc="150" dirty="0">
                  <a:solidFill>
                    <a:schemeClr val="accent2"/>
                  </a:solidFill>
                  <a:latin typeface="+mn-lt"/>
                  <a:ea typeface="+mn-ea"/>
                  <a:cs typeface="+mn-cs"/>
                </a:rPr>
                <a:t>COLM 2024 · UNIVERSITY OF WISCONSIN–MADISON</a:t>
              </a:r>
            </a:p>
          </p:txBody>
        </p:sp>
        <p:sp>
          <p:nvSpPr>
            <p:cNvPr id="7" name="TextBox 7"/>
            <p:cNvSpPr txBox="1"/>
            <p:nvPr/>
          </p:nvSpPr>
          <p:spPr>
            <a:xfrm>
              <a:off x="947547" y="904399"/>
              <a:ext cx="3941234" cy="190690"/>
            </a:xfrm>
            <a:prstGeom prst="rect">
              <a:avLst/>
            </a:prstGeom>
            <a:noFill/>
            <a:ln>
              <a:noFill/>
            </a:ln>
          </p:spPr>
          <p:txBody>
            <a:bodyPr wrap="none" lIns="0" tIns="0" rIns="0" bIns="0" anchor="t" anchorCtr="0">
              <a:spAutoFit/>
            </a:bodyPr>
            <a:lstStyle/>
            <a:p>
              <a:pPr algn="l"/>
              <a:r>
                <a:rPr lang="en-US" sz="980" spc="75" dirty="0">
                  <a:solidFill>
                    <a:srgbClr val="94A3B8"/>
                  </a:solidFill>
                  <a:latin typeface="+mn-lt"/>
                  <a:ea typeface="+mn-ea"/>
                  <a:cs typeface="+mn-cs"/>
                </a:rPr>
                <a:t>Compositional in-context learning · arXiv 2407.15720</a:t>
              </a:r>
            </a:p>
          </p:txBody>
        </p:sp>
      </p:grpSp>
      <p:grpSp>
        <p:nvGrpSpPr>
          <p:cNvPr id="13" name="Group 13"/>
          <p:cNvGrpSpPr/>
          <p:nvPr/>
        </p:nvGrpSpPr>
        <p:grpSpPr>
          <a:xfrm>
            <a:off x="762000" y="1333500"/>
            <a:ext cx="6858000" cy="571500"/>
            <a:chOff x="762000" y="1333500"/>
            <a:chExt cx="6858000" cy="571500"/>
          </a:xfrm>
        </p:grpSpPr>
        <p:sp>
          <p:nvSpPr>
            <p:cNvPr id="9" name="Rectangle 9"/>
            <p:cNvSpPr/>
            <p:nvPr/>
          </p:nvSpPr>
          <p:spPr>
            <a:xfrm>
              <a:off x="762000" y="1333500"/>
              <a:ext cx="6858000" cy="571500"/>
            </a:xfrm>
            <a:prstGeom prst="roundRect">
              <a:avLst>
                <a:gd name="adj" fmla="val 50000"/>
              </a:avLst>
            </a:prstGeom>
            <a:solidFill>
              <a:srgbClr val="EEF2FF"/>
            </a:solidFill>
            <a:ln w="14288">
              <a:solidFill>
                <a:schemeClr val="accent2"/>
              </a:solidFill>
            </a:ln>
          </p:spPr>
        </p:sp>
        <p:sp>
          <p:nvSpPr>
            <p:cNvPr id="10" name="Ellipse 10"/>
            <p:cNvSpPr/>
            <p:nvPr/>
          </p:nvSpPr>
          <p:spPr>
            <a:xfrm>
              <a:off x="981075" y="1476375"/>
              <a:ext cx="285750" cy="285750"/>
            </a:xfrm>
            <a:prstGeom prst="ellipse">
              <a:avLst/>
            </a:prstGeom>
            <a:solidFill>
              <a:schemeClr val="accent2"/>
            </a:solidFill>
            <a:ln>
              <a:noFill/>
            </a:ln>
          </p:spPr>
        </p:sp>
        <p:sp>
          <p:nvSpPr>
            <p:cNvPr id="11" name="TextBox 11"/>
            <p:cNvSpPr txBox="1"/>
            <p:nvPr/>
          </p:nvSpPr>
          <p:spPr>
            <a:xfrm>
              <a:off x="1064901" y="1538764"/>
              <a:ext cx="118098" cy="249364"/>
            </a:xfrm>
            <a:prstGeom prst="rect">
              <a:avLst/>
            </a:prstGeom>
            <a:noFill/>
            <a:ln>
              <a:noFill/>
            </a:ln>
          </p:spPr>
          <p:txBody>
            <a:bodyPr wrap="none" lIns="0" tIns="0" rIns="0" bIns="0" anchor="t" anchorCtr="0">
              <a:spAutoFit/>
            </a:bodyPr>
            <a:lstStyle/>
            <a:p>
              <a:pPr algn="ctr"/>
              <a:r>
                <a:rPr lang="en-US" sz="1280" b="1" dirty="0">
                  <a:solidFill>
                    <a:srgbClr val="FFFFFF"/>
                  </a:solidFill>
                  <a:latin typeface="+mj-lt"/>
                  <a:ea typeface="+mj-ea"/>
                  <a:cs typeface="+mj-cs"/>
                </a:rPr>
                <a:t>?</a:t>
              </a:r>
            </a:p>
          </p:txBody>
        </p:sp>
        <p:sp>
          <p:nvSpPr>
            <p:cNvPr id="12" name="TextBox 12"/>
            <p:cNvSpPr txBox="1"/>
            <p:nvPr/>
          </p:nvSpPr>
          <p:spPr>
            <a:xfrm>
              <a:off x="1383030" y="1524000"/>
              <a:ext cx="4994478"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n-lt"/>
                  <a:ea typeface="+mn-ea"/>
                  <a:cs typeface="+mn-cs"/>
                </a:rPr>
                <a:t>Can a model combine two skills it already knows?</a:t>
              </a:r>
            </a:p>
          </p:txBody>
        </p:sp>
      </p:grpSp>
      <p:grpSp>
        <p:nvGrpSpPr>
          <p:cNvPr id="18" name="Group 18"/>
          <p:cNvGrpSpPr/>
          <p:nvPr/>
        </p:nvGrpSpPr>
        <p:grpSpPr>
          <a:xfrm>
            <a:off x="742950" y="2289810"/>
            <a:ext cx="9038836" cy="1855279"/>
            <a:chOff x="742950" y="2289810"/>
            <a:chExt cx="9038836" cy="1855279"/>
          </a:xfrm>
        </p:grpSpPr>
        <p:sp>
          <p:nvSpPr>
            <p:cNvPr id="14" name="TextBox 14"/>
            <p:cNvSpPr txBox="1"/>
            <p:nvPr/>
          </p:nvSpPr>
          <p:spPr>
            <a:xfrm>
              <a:off x="742950" y="2289810"/>
              <a:ext cx="4413367" cy="819150"/>
            </a:xfrm>
            <a:prstGeom prst="rect">
              <a:avLst/>
            </a:prstGeom>
            <a:noFill/>
            <a:ln>
              <a:noFill/>
            </a:ln>
          </p:spPr>
          <p:txBody>
            <a:bodyPr wrap="none" lIns="0" tIns="0" rIns="0" bIns="0" anchor="t" anchorCtr="0">
              <a:spAutoFit/>
            </a:bodyPr>
            <a:lstStyle/>
            <a:p>
              <a:pPr algn="l"/>
              <a:r>
                <a:rPr lang="en-US" sz="4200" b="1" dirty="0">
                  <a:solidFill>
                    <a:schemeClr val="accent1"/>
                  </a:solidFill>
                  <a:latin typeface="+mj-lt"/>
                  <a:ea typeface="+mj-ea"/>
                  <a:cs typeface="+mj-cs"/>
                </a:rPr>
                <a:t>Do LLMs Have</a:t>
              </a:r>
            </a:p>
          </p:txBody>
        </p:sp>
        <p:sp>
          <p:nvSpPr>
            <p:cNvPr id="15" name="TextBox 15"/>
            <p:cNvSpPr txBox="1"/>
            <p:nvPr/>
          </p:nvSpPr>
          <p:spPr>
            <a:xfrm>
              <a:off x="742950" y="2899410"/>
              <a:ext cx="6797697" cy="819150"/>
            </a:xfrm>
            <a:prstGeom prst="rect">
              <a:avLst/>
            </a:prstGeom>
            <a:noFill/>
            <a:ln>
              <a:noFill/>
            </a:ln>
          </p:spPr>
          <p:txBody>
            <a:bodyPr wrap="none" lIns="0" tIns="0" rIns="0" bIns="0" anchor="t" anchorCtr="0">
              <a:spAutoFit/>
            </a:bodyPr>
            <a:lstStyle/>
            <a:p>
              <a:pPr algn="l"/>
              <a:r>
                <a:rPr lang="en-US" sz="4200" b="1" dirty="0">
                  <a:solidFill>
                    <a:schemeClr val="accent2"/>
                  </a:solidFill>
                  <a:latin typeface="+mj-lt"/>
                  <a:ea typeface="+mj-ea"/>
                  <a:cs typeface="+mj-cs"/>
                </a:rPr>
                <a:t>Compositional Ability?</a:t>
              </a:r>
            </a:p>
          </p:txBody>
        </p:sp>
        <p:sp>
          <p:nvSpPr>
            <p:cNvPr id="16" name="TextBox 16"/>
            <p:cNvSpPr txBox="1"/>
            <p:nvPr/>
          </p:nvSpPr>
          <p:spPr>
            <a:xfrm>
              <a:off x="772668" y="3555682"/>
              <a:ext cx="9009118" cy="322707"/>
            </a:xfrm>
            <a:prstGeom prst="rect">
              <a:avLst/>
            </a:prstGeom>
            <a:noFill/>
            <a:ln>
              <a:noFill/>
            </a:ln>
          </p:spPr>
          <p:txBody>
            <a:bodyPr wrap="none" lIns="0" tIns="0" rIns="0" bIns="0" anchor="t" anchorCtr="0">
              <a:spAutoFit/>
            </a:bodyPr>
            <a:lstStyle/>
            <a:p>
              <a:pPr algn="l"/>
              <a:r>
                <a:rPr lang="en-US" sz="1650" dirty="0">
                  <a:solidFill>
                    <a:schemeClr val="dk2"/>
                  </a:solidFill>
                  <a:latin typeface="+mn-lt"/>
                  <a:ea typeface="+mn-ea"/>
                  <a:cs typeface="+mn-cs"/>
                </a:rPr>
                <a:t>Solving an unseen composite task by fusing two simple tasks seen only separately —</a:t>
              </a:r>
            </a:p>
          </p:txBody>
        </p:sp>
        <p:sp>
          <p:nvSpPr>
            <p:cNvPr id="17" name="TextBox 17"/>
            <p:cNvSpPr txBox="1"/>
            <p:nvPr/>
          </p:nvSpPr>
          <p:spPr>
            <a:xfrm>
              <a:off x="772668" y="3822382"/>
              <a:ext cx="5603157" cy="322707"/>
            </a:xfrm>
            <a:prstGeom prst="rect">
              <a:avLst/>
            </a:prstGeom>
            <a:noFill/>
            <a:ln>
              <a:noFill/>
            </a:ln>
          </p:spPr>
          <p:txBody>
            <a:bodyPr wrap="none" lIns="0" tIns="0" rIns="0" bIns="0" anchor="t" anchorCtr="0">
              <a:spAutoFit/>
            </a:bodyPr>
            <a:lstStyle/>
            <a:p>
              <a:pPr algn="l"/>
              <a:r>
                <a:rPr lang="en-US" sz="1650" dirty="0">
                  <a:solidFill>
                    <a:schemeClr val="dk2"/>
                  </a:solidFill>
                  <a:latin typeface="+mn-lt"/>
                  <a:ea typeface="+mn-ea"/>
                  <a:cs typeface="+mn-cs"/>
                </a:rPr>
                <a:t>an investigation into its limitations and scalability.</a:t>
              </a:r>
            </a:p>
          </p:txBody>
        </p:sp>
      </p:grpSp>
      <p:grpSp>
        <p:nvGrpSpPr>
          <p:cNvPr id="31" name="Group 31"/>
          <p:cNvGrpSpPr/>
          <p:nvPr/>
        </p:nvGrpSpPr>
        <p:grpSpPr>
          <a:xfrm>
            <a:off x="762000" y="4476750"/>
            <a:ext cx="10306050" cy="914400"/>
            <a:chOff x="762000" y="4476750"/>
            <a:chExt cx="10306050" cy="914400"/>
          </a:xfrm>
        </p:grpSpPr>
        <p:grpSp>
          <p:nvGrpSpPr>
            <p:cNvPr id="24" name="Group 24"/>
            <p:cNvGrpSpPr/>
            <p:nvPr/>
          </p:nvGrpSpPr>
          <p:grpSpPr>
            <a:xfrm>
              <a:off x="762000" y="4476750"/>
              <a:ext cx="5048250" cy="914400"/>
              <a:chOff x="762000" y="4476750"/>
              <a:chExt cx="5048250" cy="914400"/>
            </a:xfrm>
          </p:grpSpPr>
          <p:sp>
            <p:nvSpPr>
              <p:cNvPr id="19" name="Rectangle 19"/>
              <p:cNvSpPr/>
              <p:nvPr/>
            </p:nvSpPr>
            <p:spPr>
              <a:xfrm>
                <a:off x="762000" y="4476750"/>
                <a:ext cx="5048250" cy="914400"/>
              </a:xfrm>
              <a:prstGeom prst="roundRect">
                <a:avLst>
                  <a:gd name="adj" fmla="val 12500"/>
                </a:avLst>
              </a:prstGeom>
              <a:solidFill>
                <a:srgbClr val="ECFDF5"/>
              </a:solidFill>
              <a:ln w="14288">
                <a:solidFill>
                  <a:schemeClr val="accent5"/>
                </a:solidFill>
              </a:ln>
              <a:effectLst>
                <a:outerShdw blurRad="76200" dist="28575" dir="5400000" algn="ctr" rotWithShape="0">
                  <a:srgbClr val="1E293B">
                    <a:alpha val="5250"/>
                  </a:srgbClr>
                </a:outerShdw>
              </a:effectLst>
            </p:spPr>
          </p:sp>
          <p:sp>
            <p:nvSpPr>
              <p:cNvPr id="20" name="Rectangle 20"/>
              <p:cNvSpPr/>
              <p:nvPr/>
            </p:nvSpPr>
            <p:spPr>
              <a:xfrm>
                <a:off x="762000" y="4476750"/>
                <a:ext cx="57150" cy="914400"/>
              </a:xfrm>
              <a:prstGeom prst="roundRect">
                <a:avLst>
                  <a:gd name="adj" fmla="val 50000"/>
                </a:avLst>
              </a:prstGeom>
              <a:solidFill>
                <a:schemeClr val="accent5"/>
              </a:solidFill>
              <a:ln>
                <a:noFill/>
              </a:ln>
            </p:spPr>
          </p:sp>
          <p:sp>
            <p:nvSpPr>
              <p:cNvPr id="21" name="TextBox 21"/>
              <p:cNvSpPr txBox="1"/>
              <p:nvPr/>
            </p:nvSpPr>
            <p:spPr>
              <a:xfrm>
                <a:off x="1004697" y="4676299"/>
                <a:ext cx="1031367" cy="190690"/>
              </a:xfrm>
              <a:prstGeom prst="rect">
                <a:avLst/>
              </a:prstGeom>
              <a:noFill/>
              <a:ln>
                <a:noFill/>
              </a:ln>
            </p:spPr>
            <p:txBody>
              <a:bodyPr wrap="none" lIns="0" tIns="0" rIns="0" bIns="0" anchor="t" anchorCtr="0">
                <a:spAutoFit/>
              </a:bodyPr>
              <a:lstStyle/>
              <a:p>
                <a:pPr algn="l"/>
                <a:r>
                  <a:rPr lang="en-US" sz="980" b="1" spc="75" dirty="0">
                    <a:solidFill>
                      <a:schemeClr val="accent5"/>
                    </a:solidFill>
                    <a:latin typeface="+mn-lt"/>
                    <a:ea typeface="+mn-ea"/>
                    <a:cs typeface="+mn-cs"/>
                  </a:rPr>
                  <a:t>SEPARABLE ✓</a:t>
                </a:r>
              </a:p>
            </p:txBody>
          </p:sp>
          <p:sp>
            <p:nvSpPr>
              <p:cNvPr id="22" name="TextBox 22"/>
              <p:cNvSpPr txBox="1"/>
              <p:nvPr/>
            </p:nvSpPr>
            <p:spPr>
              <a:xfrm>
                <a:off x="1002411" y="4894421"/>
                <a:ext cx="2911640" cy="278702"/>
              </a:xfrm>
              <a:prstGeom prst="rect">
                <a:avLst/>
              </a:prstGeom>
              <a:noFill/>
              <a:ln>
                <a:noFill/>
              </a:ln>
            </p:spPr>
            <p:txBody>
              <a:bodyPr wrap="none" lIns="0" tIns="0" rIns="0" bIns="0" anchor="t" anchorCtr="0">
                <a:spAutoFit/>
              </a:bodyPr>
              <a:lstStyle/>
              <a:p>
                <a:pPr algn="l"/>
                <a:r>
                  <a:rPr lang="en-US" sz="1420" b="1" dirty="0">
                    <a:solidFill>
                      <a:schemeClr val="accent1"/>
                    </a:solidFill>
                    <a:latin typeface="+mn-lt"/>
                    <a:ea typeface="+mn-ea"/>
                    <a:cs typeface="+mn-cs"/>
                  </a:rPr>
                  <a:t>Sub-tasks on separate inputs</a:t>
                </a:r>
              </a:p>
            </p:txBody>
          </p:sp>
          <p:sp>
            <p:nvSpPr>
              <p:cNvPr id="23" name="TextBox 23"/>
              <p:cNvSpPr txBox="1"/>
              <p:nvPr/>
            </p:nvSpPr>
            <p:spPr>
              <a:xfrm>
                <a:off x="1003173" y="5129689"/>
                <a:ext cx="3037058"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compose well and improve with scale</a:t>
                </a:r>
              </a:p>
            </p:txBody>
          </p:sp>
        </p:grpSp>
        <p:grpSp>
          <p:nvGrpSpPr>
            <p:cNvPr id="30" name="Group 30"/>
            <p:cNvGrpSpPr/>
            <p:nvPr/>
          </p:nvGrpSpPr>
          <p:grpSpPr>
            <a:xfrm>
              <a:off x="6019800" y="4476750"/>
              <a:ext cx="5048250" cy="914400"/>
              <a:chOff x="6019800" y="4476750"/>
              <a:chExt cx="5048250" cy="914400"/>
            </a:xfrm>
          </p:grpSpPr>
          <p:sp>
            <p:nvSpPr>
              <p:cNvPr id="25" name="Rectangle 25"/>
              <p:cNvSpPr/>
              <p:nvPr/>
            </p:nvSpPr>
            <p:spPr>
              <a:xfrm>
                <a:off x="6019800" y="4476750"/>
                <a:ext cx="5048250" cy="914400"/>
              </a:xfrm>
              <a:prstGeom prst="roundRect">
                <a:avLst>
                  <a:gd name="adj" fmla="val 12500"/>
                </a:avLst>
              </a:prstGeom>
              <a:solidFill>
                <a:srgbClr val="FEF2F2"/>
              </a:solidFill>
              <a:ln w="14288">
                <a:solidFill>
                  <a:schemeClr val="accent6"/>
                </a:solidFill>
              </a:ln>
              <a:effectLst>
                <a:outerShdw blurRad="76200" dist="28575" dir="5400000" algn="ctr" rotWithShape="0">
                  <a:srgbClr val="1E293B">
                    <a:alpha val="5250"/>
                  </a:srgbClr>
                </a:outerShdw>
              </a:effectLst>
            </p:spPr>
          </p:sp>
          <p:sp>
            <p:nvSpPr>
              <p:cNvPr id="26" name="Rectangle 26"/>
              <p:cNvSpPr/>
              <p:nvPr/>
            </p:nvSpPr>
            <p:spPr>
              <a:xfrm>
                <a:off x="6019800" y="4476750"/>
                <a:ext cx="57150" cy="914400"/>
              </a:xfrm>
              <a:prstGeom prst="roundRect">
                <a:avLst>
                  <a:gd name="adj" fmla="val 50000"/>
                </a:avLst>
              </a:prstGeom>
              <a:solidFill>
                <a:schemeClr val="accent6"/>
              </a:solidFill>
              <a:ln>
                <a:noFill/>
              </a:ln>
            </p:spPr>
          </p:sp>
          <p:sp>
            <p:nvSpPr>
              <p:cNvPr id="27" name="TextBox 27"/>
              <p:cNvSpPr txBox="1"/>
              <p:nvPr/>
            </p:nvSpPr>
            <p:spPr>
              <a:xfrm>
                <a:off x="6262497" y="4676299"/>
                <a:ext cx="1666198" cy="190690"/>
              </a:xfrm>
              <a:prstGeom prst="rect">
                <a:avLst/>
              </a:prstGeom>
              <a:noFill/>
              <a:ln>
                <a:noFill/>
              </a:ln>
            </p:spPr>
            <p:txBody>
              <a:bodyPr wrap="none" lIns="0" tIns="0" rIns="0" bIns="0" anchor="t" anchorCtr="0">
                <a:spAutoFit/>
              </a:bodyPr>
              <a:lstStyle/>
              <a:p>
                <a:pPr algn="l"/>
                <a:r>
                  <a:rPr lang="en-US" sz="980" b="1" spc="75" dirty="0">
                    <a:solidFill>
                      <a:schemeClr val="accent6"/>
                    </a:solidFill>
                    <a:latin typeface="+mn-lt"/>
                    <a:ea typeface="+mn-ea"/>
                    <a:cs typeface="+mn-cs"/>
                  </a:rPr>
                  <a:t>COMPOSE-BY-STEP ✗</a:t>
                </a:r>
              </a:p>
            </p:txBody>
          </p:sp>
          <p:sp>
            <p:nvSpPr>
              <p:cNvPr id="28" name="TextBox 28"/>
              <p:cNvSpPr txBox="1"/>
              <p:nvPr/>
            </p:nvSpPr>
            <p:spPr>
              <a:xfrm>
                <a:off x="6260211" y="4894421"/>
                <a:ext cx="2851016" cy="278702"/>
              </a:xfrm>
              <a:prstGeom prst="rect">
                <a:avLst/>
              </a:prstGeom>
              <a:noFill/>
              <a:ln>
                <a:noFill/>
              </a:ln>
            </p:spPr>
            <p:txBody>
              <a:bodyPr wrap="none" lIns="0" tIns="0" rIns="0" bIns="0" anchor="t" anchorCtr="0">
                <a:spAutoFit/>
              </a:bodyPr>
              <a:lstStyle/>
              <a:p>
                <a:pPr algn="l"/>
                <a:r>
                  <a:rPr lang="en-US" sz="1420" b="1" dirty="0">
                    <a:solidFill>
                      <a:schemeClr val="accent1"/>
                    </a:solidFill>
                    <a:latin typeface="+mn-lt"/>
                    <a:ea typeface="+mn-ea"/>
                    <a:cs typeface="+mn-cs"/>
                  </a:rPr>
                  <a:t>Chained multi-step reasoning</a:t>
                </a:r>
              </a:p>
            </p:txBody>
          </p:sp>
          <p:sp>
            <p:nvSpPr>
              <p:cNvPr id="29" name="TextBox 29"/>
              <p:cNvSpPr txBox="1"/>
              <p:nvPr/>
            </p:nvSpPr>
            <p:spPr>
              <a:xfrm>
                <a:off x="6260973" y="5129689"/>
                <a:ext cx="2907822"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fails — and scaling up does not help</a:t>
                </a:r>
              </a:p>
            </p:txBody>
          </p:sp>
        </p:grpSp>
      </p:grpSp>
      <p:grpSp>
        <p:nvGrpSpPr>
          <p:cNvPr id="41" name="Group 41"/>
          <p:cNvGrpSpPr/>
          <p:nvPr/>
        </p:nvGrpSpPr>
        <p:grpSpPr>
          <a:xfrm>
            <a:off x="10134600" y="1428750"/>
            <a:ext cx="1295400" cy="5184457"/>
            <a:chOff x="10134600" y="1428750"/>
            <a:chExt cx="1295400" cy="5184457"/>
          </a:xfrm>
        </p:grpSpPr>
        <p:pic>
          <p:nvPicPr>
            <p:cNvPr id="32" name="Image 32"/>
            <p:cNvPicPr>
              <a:picLocks noChangeAspect="1"/>
            </p:cNvPicPr>
            <p:nvPr/>
          </p:nvPicPr>
          <p:blipFill>
            <a:blip r:embed="rId2"/>
            <a:stretch>
              <a:fillRect/>
            </a:stretch>
          </p:blipFill>
          <p:spPr>
            <a:xfrm>
              <a:off x="10439400" y="1428750"/>
              <a:ext cx="495300" cy="495300"/>
            </a:xfrm>
            <a:prstGeom prst="rect">
              <a:avLst/>
            </a:prstGeom>
          </p:spPr>
        </p:pic>
        <p:grpSp>
          <p:nvGrpSpPr>
            <p:cNvPr id="36" name="Group 36"/>
            <p:cNvGrpSpPr/>
            <p:nvPr/>
          </p:nvGrpSpPr>
          <p:grpSpPr>
            <a:xfrm>
              <a:off x="10134600" y="5829300"/>
              <a:ext cx="571500" cy="783907"/>
              <a:chOff x="10134600" y="5829300"/>
              <a:chExt cx="571500" cy="783907"/>
            </a:xfrm>
          </p:grpSpPr>
          <p:sp>
            <p:nvSpPr>
              <p:cNvPr id="33" name="Rectangle 33"/>
              <p:cNvSpPr/>
              <p:nvPr/>
            </p:nvSpPr>
            <p:spPr>
              <a:xfrm>
                <a:off x="10134600" y="5829300"/>
                <a:ext cx="571500" cy="571500"/>
              </a:xfrm>
              <a:prstGeom prst="roundRect">
                <a:avLst>
                  <a:gd name="adj" fmla="val 13333"/>
                </a:avLst>
              </a:prstGeom>
              <a:solidFill>
                <a:schemeClr val="lt1"/>
              </a:solidFill>
              <a:ln w="14288">
                <a:solidFill>
                  <a:schemeClr val="accent4"/>
                </a:solidFill>
              </a:ln>
            </p:spPr>
          </p:sp>
          <p:pic>
            <p:nvPicPr>
              <p:cNvPr id="34" name="Image 34"/>
              <p:cNvPicPr>
                <a:picLocks noChangeAspect="1"/>
              </p:cNvPicPr>
              <p:nvPr/>
            </p:nvPicPr>
            <p:blipFill>
              <a:blip r:embed="rId3"/>
              <a:stretch>
                <a:fillRect/>
              </a:stretch>
            </p:blipFill>
            <p:spPr>
              <a:xfrm>
                <a:off x="10182225" y="5876925"/>
                <a:ext cx="476250" cy="476250"/>
              </a:xfrm>
              <a:prstGeom prst="rect">
                <a:avLst/>
              </a:prstGeom>
            </p:spPr>
          </p:pic>
          <p:sp>
            <p:nvSpPr>
              <p:cNvPr id="35" name="TextBox 35"/>
              <p:cNvSpPr txBox="1"/>
              <p:nvPr/>
            </p:nvSpPr>
            <p:spPr>
              <a:xfrm>
                <a:off x="10247109" y="6436995"/>
                <a:ext cx="346481" cy="176212"/>
              </a:xfrm>
              <a:prstGeom prst="rect">
                <a:avLst/>
              </a:prstGeom>
              <a:noFill/>
              <a:ln>
                <a:noFill/>
              </a:ln>
            </p:spPr>
            <p:txBody>
              <a:bodyPr wrap="none" lIns="0" tIns="0" rIns="0" bIns="0" anchor="t" anchorCtr="0">
                <a:spAutoFit/>
              </a:bodyPr>
              <a:lstStyle/>
              <a:p>
                <a:pPr algn="ctr"/>
                <a:r>
                  <a:rPr lang="en-US" sz="900" dirty="0">
                    <a:solidFill>
                      <a:srgbClr val="94A3B8"/>
                    </a:solidFill>
                    <a:latin typeface="+mn-lt"/>
                    <a:ea typeface="+mn-ea"/>
                    <a:cs typeface="+mn-cs"/>
                  </a:rPr>
                  <a:t>Paper</a:t>
                </a:r>
              </a:p>
            </p:txBody>
          </p:sp>
        </p:grpSp>
        <p:grpSp>
          <p:nvGrpSpPr>
            <p:cNvPr id="40" name="Group 40"/>
            <p:cNvGrpSpPr/>
            <p:nvPr/>
          </p:nvGrpSpPr>
          <p:grpSpPr>
            <a:xfrm>
              <a:off x="10858500" y="5829300"/>
              <a:ext cx="571500" cy="783907"/>
              <a:chOff x="10858500" y="5829300"/>
              <a:chExt cx="571500" cy="783907"/>
            </a:xfrm>
          </p:grpSpPr>
          <p:sp>
            <p:nvSpPr>
              <p:cNvPr id="37" name="Rectangle 37"/>
              <p:cNvSpPr/>
              <p:nvPr/>
            </p:nvSpPr>
            <p:spPr>
              <a:xfrm>
                <a:off x="10858500" y="5829300"/>
                <a:ext cx="571500" cy="571500"/>
              </a:xfrm>
              <a:prstGeom prst="roundRect">
                <a:avLst>
                  <a:gd name="adj" fmla="val 13333"/>
                </a:avLst>
              </a:prstGeom>
              <a:solidFill>
                <a:schemeClr val="lt1"/>
              </a:solidFill>
              <a:ln w="14288">
                <a:solidFill>
                  <a:schemeClr val="accent4"/>
                </a:solidFill>
              </a:ln>
            </p:spPr>
          </p:sp>
          <p:pic>
            <p:nvPicPr>
              <p:cNvPr id="38" name="Image 38"/>
              <p:cNvPicPr>
                <a:picLocks noChangeAspect="1"/>
              </p:cNvPicPr>
              <p:nvPr/>
            </p:nvPicPr>
            <p:blipFill>
              <a:blip r:embed="rId4"/>
              <a:stretch>
                <a:fillRect/>
              </a:stretch>
            </p:blipFill>
            <p:spPr>
              <a:xfrm>
                <a:off x="10906125" y="5876925"/>
                <a:ext cx="476250" cy="476250"/>
              </a:xfrm>
              <a:prstGeom prst="rect">
                <a:avLst/>
              </a:prstGeom>
            </p:spPr>
          </p:pic>
          <p:sp>
            <p:nvSpPr>
              <p:cNvPr id="39" name="TextBox 39"/>
              <p:cNvSpPr txBox="1"/>
              <p:nvPr/>
            </p:nvSpPr>
            <p:spPr>
              <a:xfrm>
                <a:off x="11004328" y="6436995"/>
                <a:ext cx="279845" cy="176212"/>
              </a:xfrm>
              <a:prstGeom prst="rect">
                <a:avLst/>
              </a:prstGeom>
              <a:noFill/>
              <a:ln>
                <a:noFill/>
              </a:ln>
            </p:spPr>
            <p:txBody>
              <a:bodyPr wrap="none" lIns="0" tIns="0" rIns="0" bIns="0" anchor="t" anchorCtr="0">
                <a:spAutoFit/>
              </a:bodyPr>
              <a:lstStyle/>
              <a:p>
                <a:pPr algn="ctr"/>
                <a:r>
                  <a:rPr lang="en-US" sz="900" dirty="0">
                    <a:solidFill>
                      <a:srgbClr val="94A3B8"/>
                    </a:solidFill>
                    <a:latin typeface="+mn-lt"/>
                    <a:ea typeface="+mn-ea"/>
                    <a:cs typeface="+mn-cs"/>
                  </a:rPr>
                  <a:t>Code</a:t>
                </a:r>
              </a:p>
            </p:txBody>
          </p:sp>
        </p:grpSp>
      </p:grpSp>
      <p:grpSp>
        <p:nvGrpSpPr>
          <p:cNvPr id="44" name="Group 44"/>
          <p:cNvGrpSpPr/>
          <p:nvPr/>
        </p:nvGrpSpPr>
        <p:grpSpPr>
          <a:xfrm>
            <a:off x="756285" y="6050756"/>
            <a:ext cx="3037421" cy="448151"/>
            <a:chOff x="756285" y="6050756"/>
            <a:chExt cx="3037421" cy="448151"/>
          </a:xfrm>
        </p:grpSpPr>
        <p:sp>
          <p:nvSpPr>
            <p:cNvPr id="42" name="TextBox 42"/>
            <p:cNvSpPr txBox="1"/>
            <p:nvPr/>
          </p:nvSpPr>
          <p:spPr>
            <a:xfrm>
              <a:off x="756285" y="6050756"/>
              <a:ext cx="3037421" cy="220028"/>
            </a:xfrm>
            <a:prstGeom prst="rect">
              <a:avLst/>
            </a:prstGeom>
            <a:noFill/>
            <a:ln>
              <a:noFill/>
            </a:ln>
          </p:spPr>
          <p:txBody>
            <a:bodyPr wrap="none" lIns="0" tIns="0" rIns="0" bIns="0" anchor="t" anchorCtr="0">
              <a:spAutoFit/>
            </a:bodyPr>
            <a:lstStyle/>
            <a:p>
              <a:pPr algn="l"/>
              <a:r>
                <a:rPr lang="en-US" sz="1120" b="1" dirty="0">
                  <a:solidFill>
                    <a:schemeClr val="dk2"/>
                  </a:solidFill>
                  <a:latin typeface="+mn-lt"/>
                  <a:ea typeface="+mn-ea"/>
                  <a:cs typeface="+mn-cs"/>
                </a:rPr>
                <a:t>Zhuoyan Xu · Zhenmei Shi · Yingyu Liang</a:t>
              </a:r>
            </a:p>
          </p:txBody>
        </p:sp>
        <p:sp>
          <p:nvSpPr>
            <p:cNvPr id="43" name="TextBox 43"/>
            <p:cNvSpPr txBox="1"/>
            <p:nvPr/>
          </p:nvSpPr>
          <p:spPr>
            <a:xfrm>
              <a:off x="757238" y="6322695"/>
              <a:ext cx="1923242" cy="176212"/>
            </a:xfrm>
            <a:prstGeom prst="rect">
              <a:avLst/>
            </a:prstGeom>
            <a:noFill/>
            <a:ln>
              <a:noFill/>
            </a:ln>
          </p:spPr>
          <p:txBody>
            <a:bodyPr wrap="none" lIns="0" tIns="0" rIns="0" bIns="0" anchor="t" anchorCtr="0">
              <a:spAutoFit/>
            </a:bodyPr>
            <a:lstStyle/>
            <a:p>
              <a:pPr algn="l"/>
              <a:r>
                <a:rPr lang="en-US" sz="900" dirty="0">
                  <a:solidFill>
                    <a:srgbClr val="94A3B8"/>
                  </a:solidFill>
                  <a:latin typeface="+mn-lt"/>
                  <a:ea typeface="+mn-ea"/>
                  <a:cs typeface="+mn-cs"/>
                </a:rPr>
                <a:t>University of Wisconsin–Madison</a:t>
              </a:r>
            </a:p>
          </p:txBody>
        </p:sp>
      </p:grpSp>
      <p:sp>
        <p:nvSpPr>
          <p:cNvPr id="45" name="cue_s01_c1_large_language_models_combine_skills" title="cue_s01_c1_large_language_models_combine_skills" descr="cue_s01_c1_large_language_models_combine_skills Can large language models combine skills they already know?"/>
          <p:cNvSpPr/>
          <p:nvPr/>
        </p:nvSpPr>
        <p:spPr>
          <a:xfrm>
            <a:off x="762000" y="1333195"/>
            <a:ext cx="6858000" cy="5712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ue_s01_c2_colm_2024_tests_whether_models" title="cue_s01_c2_colm_2024_tests_whether_models" descr="cue_s01_c2_colm_2024_tests_whether_models This COLM 2024 paper tests whether models solve an unseen composite task by fusing two simple tasks seen separately."/>
          <p:cNvSpPr/>
          <p:nvPr/>
        </p:nvSpPr>
        <p:spPr>
          <a:xfrm>
            <a:off x="742492" y="2289886"/>
            <a:ext cx="4413504" cy="8188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ue_s01_c3_across_llama_gpt_sharp_dichotomy" title="cue_s01_c3_across_llama_gpt_sharp_dichotomy" descr="cue_s01_c3_across_llama_gpt_sharp_dichotomy Across Llama and GPT, a sharp dichotomy emerges."/>
          <p:cNvSpPr/>
          <p:nvPr/>
        </p:nvSpPr>
        <p:spPr>
          <a:xfrm>
            <a:off x="762000" y="4476902"/>
            <a:ext cx="10305897" cy="9141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762000" y="533400"/>
            <a:ext cx="8649779" cy="737807"/>
            <a:chOff x="762000" y="533400"/>
            <a:chExt cx="8649779" cy="737807"/>
          </a:xfrm>
        </p:grpSpPr>
        <p:sp>
          <p:nvSpPr>
            <p:cNvPr id="2" name="Rectangle 2"/>
            <p:cNvSpPr/>
            <p:nvPr/>
          </p:nvSpPr>
          <p:spPr>
            <a:xfrm>
              <a:off x="762000" y="533400"/>
              <a:ext cx="57150" cy="381000"/>
            </a:xfrm>
            <a:prstGeom prst="rect">
              <a:avLst/>
            </a:prstGeom>
            <a:solidFill>
              <a:schemeClr val="accent2"/>
            </a:solidFill>
            <a:ln>
              <a:noFill/>
            </a:ln>
          </p:spPr>
        </p:sp>
        <p:sp>
          <p:nvSpPr>
            <p:cNvPr id="3" name="TextBox 3"/>
            <p:cNvSpPr txBox="1"/>
            <p:nvPr/>
          </p:nvSpPr>
          <p:spPr>
            <a:xfrm>
              <a:off x="947547" y="656749"/>
              <a:ext cx="1130729" cy="190690"/>
            </a:xfrm>
            <a:prstGeom prst="rect">
              <a:avLst/>
            </a:prstGeom>
            <a:noFill/>
            <a:ln>
              <a:noFill/>
            </a:ln>
          </p:spPr>
          <p:txBody>
            <a:bodyPr wrap="none" lIns="0" tIns="0" rIns="0" bIns="0" anchor="t" anchorCtr="0">
              <a:spAutoFit/>
            </a:bodyPr>
            <a:lstStyle/>
            <a:p>
              <a:pPr algn="l"/>
              <a:r>
                <a:rPr lang="en-US" sz="980" b="1" spc="150" dirty="0">
                  <a:solidFill>
                    <a:schemeClr val="accent2"/>
                  </a:solidFill>
                  <a:latin typeface="+mn-lt"/>
                  <a:ea typeface="+mn-ea"/>
                  <a:cs typeface="+mn-cs"/>
                </a:rPr>
                <a:t>THE PROBLEM</a:t>
              </a:r>
            </a:p>
          </p:txBody>
        </p:sp>
        <p:sp>
          <p:nvSpPr>
            <p:cNvPr id="4" name="TextBox 4"/>
            <p:cNvSpPr txBox="1"/>
            <p:nvPr/>
          </p:nvSpPr>
          <p:spPr>
            <a:xfrm>
              <a:off x="939546" y="772478"/>
              <a:ext cx="8472233"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j-lt"/>
                  <a:ea typeface="+mj-ea"/>
                  <a:cs typeface="+mj-cs"/>
                </a:rPr>
                <a:t>Each skill alone is easy — together they break</a:t>
              </a:r>
            </a:p>
          </p:txBody>
        </p:sp>
      </p:grpSp>
      <p:grpSp>
        <p:nvGrpSpPr>
          <p:cNvPr id="19" name="Group 19"/>
          <p:cNvGrpSpPr/>
          <p:nvPr/>
        </p:nvGrpSpPr>
        <p:grpSpPr>
          <a:xfrm>
            <a:off x="762000" y="1428750"/>
            <a:ext cx="5334000" cy="1562100"/>
            <a:chOff x="762000" y="1428750"/>
            <a:chExt cx="5334000" cy="1562100"/>
          </a:xfrm>
        </p:grpSpPr>
        <p:sp>
          <p:nvSpPr>
            <p:cNvPr id="6" name="Rectangle 6"/>
            <p:cNvSpPr/>
            <p:nvPr/>
          </p:nvSpPr>
          <p:spPr>
            <a:xfrm>
              <a:off x="762000" y="1428750"/>
              <a:ext cx="5334000" cy="1562100"/>
            </a:xfrm>
            <a:prstGeom prst="roundRect">
              <a:avLst>
                <a:gd name="adj" fmla="val 7317"/>
              </a:avLst>
            </a:prstGeom>
            <a:solidFill>
              <a:schemeClr val="lt1"/>
            </a:solidFill>
            <a:ln w="14288">
              <a:solidFill>
                <a:schemeClr val="accent4"/>
              </a:solidFill>
            </a:ln>
            <a:effectLst>
              <a:outerShdw blurRad="76200" dist="28575" dir="5400000" algn="ctr" rotWithShape="0">
                <a:srgbClr val="1E293B">
                  <a:alpha val="5250"/>
                </a:srgbClr>
              </a:outerShdw>
            </a:effectLst>
          </p:spPr>
        </p:sp>
        <p:sp>
          <p:nvSpPr>
            <p:cNvPr id="7" name="Rectangle 7"/>
            <p:cNvSpPr/>
            <p:nvPr/>
          </p:nvSpPr>
          <p:spPr>
            <a:xfrm>
              <a:off x="762000" y="1428750"/>
              <a:ext cx="57150" cy="1562100"/>
            </a:xfrm>
            <a:prstGeom prst="roundRect">
              <a:avLst>
                <a:gd name="adj" fmla="val 50000"/>
              </a:avLst>
            </a:prstGeom>
            <a:solidFill>
              <a:schemeClr val="accent5"/>
            </a:solidFill>
            <a:ln>
              <a:noFill/>
            </a:ln>
          </p:spPr>
        </p:sp>
        <p:sp>
          <p:nvSpPr>
            <p:cNvPr id="8" name="TextBox 8"/>
            <p:cNvSpPr txBox="1"/>
            <p:nvPr/>
          </p:nvSpPr>
          <p:spPr>
            <a:xfrm>
              <a:off x="1023747" y="1628299"/>
              <a:ext cx="2486098" cy="190690"/>
            </a:xfrm>
            <a:prstGeom prst="rect">
              <a:avLst/>
            </a:prstGeom>
            <a:noFill/>
            <a:ln>
              <a:noFill/>
            </a:ln>
          </p:spPr>
          <p:txBody>
            <a:bodyPr wrap="none" lIns="0" tIns="0" rIns="0" bIns="0" anchor="t" anchorCtr="0">
              <a:spAutoFit/>
            </a:bodyPr>
            <a:lstStyle/>
            <a:p>
              <a:pPr algn="l"/>
              <a:r>
                <a:rPr lang="en-US" sz="980" b="1" spc="75" dirty="0">
                  <a:solidFill>
                    <a:schemeClr val="accent5"/>
                  </a:solidFill>
                  <a:latin typeface="+mn-lt"/>
                  <a:ea typeface="+mn-ea"/>
                  <a:cs typeface="+mn-cs"/>
                </a:rPr>
                <a:t>TWO SIMPLE TASKS, IN-CONTEXT</a:t>
              </a:r>
            </a:p>
          </p:txBody>
        </p:sp>
        <p:grpSp>
          <p:nvGrpSpPr>
            <p:cNvPr id="13" name="Group 13"/>
            <p:cNvGrpSpPr/>
            <p:nvPr/>
          </p:nvGrpSpPr>
          <p:grpSpPr>
            <a:xfrm>
              <a:off x="1028700" y="1885950"/>
              <a:ext cx="2286000" cy="895350"/>
              <a:chOff x="1028700" y="1885950"/>
              <a:chExt cx="2286000" cy="895350"/>
            </a:xfrm>
          </p:grpSpPr>
          <p:sp>
            <p:nvSpPr>
              <p:cNvPr id="9" name="Rectangle 9"/>
              <p:cNvSpPr/>
              <p:nvPr/>
            </p:nvSpPr>
            <p:spPr>
              <a:xfrm>
                <a:off x="1028700" y="1885950"/>
                <a:ext cx="2286000" cy="895350"/>
              </a:xfrm>
              <a:prstGeom prst="roundRect">
                <a:avLst>
                  <a:gd name="adj" fmla="val 8511"/>
                </a:avLst>
              </a:prstGeom>
              <a:solidFill>
                <a:srgbClr val="ECFDF5"/>
              </a:solidFill>
              <a:ln>
                <a:noFill/>
              </a:ln>
            </p:spPr>
          </p:sp>
          <p:sp>
            <p:nvSpPr>
              <p:cNvPr id="10" name="TextBox 10"/>
              <p:cNvSpPr txBox="1"/>
              <p:nvPr/>
            </p:nvSpPr>
            <p:spPr>
              <a:xfrm>
                <a:off x="1175385" y="1993106"/>
                <a:ext cx="1173657" cy="220028"/>
              </a:xfrm>
              <a:prstGeom prst="rect">
                <a:avLst/>
              </a:prstGeom>
              <a:noFill/>
              <a:ln>
                <a:noFill/>
              </a:ln>
            </p:spPr>
            <p:txBody>
              <a:bodyPr wrap="none" lIns="0" tIns="0" rIns="0" bIns="0" anchor="t" anchorCtr="0">
                <a:spAutoFit/>
              </a:bodyPr>
              <a:lstStyle/>
              <a:p>
                <a:pPr algn="l"/>
                <a:r>
                  <a:rPr lang="en-US" sz="1120" b="1" dirty="0">
                    <a:solidFill>
                      <a:schemeClr val="accent1"/>
                    </a:solidFill>
                    <a:latin typeface="+mn-lt"/>
                    <a:ea typeface="+mn-ea"/>
                    <a:cs typeface="+mn-cs"/>
                  </a:rPr>
                  <a:t>Capitalize ( * )</a:t>
                </a:r>
              </a:p>
            </p:txBody>
          </p:sp>
          <p:sp>
            <p:nvSpPr>
              <p:cNvPr id="11" name="TextBox 11"/>
              <p:cNvSpPr txBox="1"/>
              <p:nvPr/>
            </p:nvSpPr>
            <p:spPr>
              <a:xfrm>
                <a:off x="1174623" y="2262664"/>
                <a:ext cx="590205" cy="249364"/>
              </a:xfrm>
              <a:prstGeom prst="rect">
                <a:avLst/>
              </a:prstGeom>
              <a:noFill/>
              <a:ln>
                <a:noFill/>
              </a:ln>
            </p:spPr>
            <p:txBody>
              <a:bodyPr wrap="none" lIns="0" tIns="0" rIns="0" bIns="0" anchor="t" anchorCtr="0">
                <a:spAutoFit/>
              </a:bodyPr>
              <a:lstStyle/>
              <a:p>
                <a:pPr algn="l"/>
                <a:r>
                  <a:rPr lang="en-US" sz="1280" dirty="0">
                    <a:solidFill>
                      <a:schemeClr val="dk2"/>
                    </a:solidFill>
                    <a:latin typeface="Consolas"/>
                    <a:ea typeface="Consolas"/>
                    <a:cs typeface="Consolas"/>
                  </a:rPr>
                  <a:t>* apple</a:t>
                </a:r>
              </a:p>
            </p:txBody>
          </p:sp>
          <p:sp>
            <p:nvSpPr>
              <p:cNvPr id="12" name="TextBox 12"/>
              <p:cNvSpPr txBox="1"/>
              <p:nvPr/>
            </p:nvSpPr>
            <p:spPr>
              <a:xfrm>
                <a:off x="1174623" y="2510314"/>
                <a:ext cx="701168" cy="249364"/>
              </a:xfrm>
              <a:prstGeom prst="rect">
                <a:avLst/>
              </a:prstGeom>
              <a:noFill/>
              <a:ln>
                <a:noFill/>
              </a:ln>
            </p:spPr>
            <p:txBody>
              <a:bodyPr wrap="none" lIns="0" tIns="0" rIns="0" bIns="0" anchor="t" anchorCtr="0">
                <a:spAutoFit/>
              </a:bodyPr>
              <a:lstStyle/>
              <a:p>
                <a:pPr algn="l"/>
                <a:r>
                  <a:rPr lang="en-US" sz="1280" b="1" dirty="0">
                    <a:solidFill>
                      <a:schemeClr val="accent5"/>
                    </a:solidFill>
                    <a:latin typeface="Consolas"/>
                    <a:ea typeface="Consolas"/>
                    <a:cs typeface="Consolas"/>
                  </a:rPr>
                  <a:t>→ APPLE</a:t>
                </a:r>
              </a:p>
            </p:txBody>
          </p:sp>
        </p:grpSp>
        <p:grpSp>
          <p:nvGrpSpPr>
            <p:cNvPr id="18" name="Group 18"/>
            <p:cNvGrpSpPr/>
            <p:nvPr/>
          </p:nvGrpSpPr>
          <p:grpSpPr>
            <a:xfrm>
              <a:off x="3543300" y="1885950"/>
              <a:ext cx="2324100" cy="895350"/>
              <a:chOff x="3543300" y="1885950"/>
              <a:chExt cx="2324100" cy="895350"/>
            </a:xfrm>
          </p:grpSpPr>
          <p:sp>
            <p:nvSpPr>
              <p:cNvPr id="14" name="Rectangle 14"/>
              <p:cNvSpPr/>
              <p:nvPr/>
            </p:nvSpPr>
            <p:spPr>
              <a:xfrm>
                <a:off x="3543300" y="1885950"/>
                <a:ext cx="2324100" cy="895350"/>
              </a:xfrm>
              <a:prstGeom prst="roundRect">
                <a:avLst>
                  <a:gd name="adj" fmla="val 8511"/>
                </a:avLst>
              </a:prstGeom>
              <a:solidFill>
                <a:srgbClr val="ECFDF5"/>
              </a:solidFill>
              <a:ln>
                <a:noFill/>
              </a:ln>
            </p:spPr>
          </p:sp>
          <p:sp>
            <p:nvSpPr>
              <p:cNvPr id="15" name="TextBox 15"/>
              <p:cNvSpPr txBox="1"/>
              <p:nvPr/>
            </p:nvSpPr>
            <p:spPr>
              <a:xfrm>
                <a:off x="3689985" y="1993106"/>
                <a:ext cx="669699" cy="220028"/>
              </a:xfrm>
              <a:prstGeom prst="rect">
                <a:avLst/>
              </a:prstGeom>
              <a:noFill/>
              <a:ln>
                <a:noFill/>
              </a:ln>
            </p:spPr>
            <p:txBody>
              <a:bodyPr wrap="none" lIns="0" tIns="0" rIns="0" bIns="0" anchor="t" anchorCtr="0">
                <a:spAutoFit/>
              </a:bodyPr>
              <a:lstStyle/>
              <a:p>
                <a:pPr algn="l"/>
                <a:r>
                  <a:rPr lang="en-US" sz="1120" b="1" dirty="0">
                    <a:solidFill>
                      <a:schemeClr val="accent1"/>
                    </a:solidFill>
                    <a:latin typeface="+mn-lt"/>
                    <a:ea typeface="+mn-ea"/>
                    <a:cs typeface="+mn-cs"/>
                  </a:rPr>
                  <a:t>Swap ( )</a:t>
                </a:r>
              </a:p>
            </p:txBody>
          </p:sp>
          <p:sp>
            <p:nvSpPr>
              <p:cNvPr id="16" name="TextBox 16"/>
              <p:cNvSpPr txBox="1"/>
              <p:nvPr/>
            </p:nvSpPr>
            <p:spPr>
              <a:xfrm>
                <a:off x="3689223" y="2262664"/>
                <a:ext cx="1029604" cy="249364"/>
              </a:xfrm>
              <a:prstGeom prst="rect">
                <a:avLst/>
              </a:prstGeom>
              <a:noFill/>
              <a:ln>
                <a:noFill/>
              </a:ln>
            </p:spPr>
            <p:txBody>
              <a:bodyPr wrap="none" lIns="0" tIns="0" rIns="0" bIns="0" anchor="t" anchorCtr="0">
                <a:spAutoFit/>
              </a:bodyPr>
              <a:lstStyle/>
              <a:p>
                <a:pPr algn="l"/>
                <a:r>
                  <a:rPr lang="en-US" sz="1280" dirty="0">
                    <a:solidFill>
                      <a:schemeClr val="dk2"/>
                    </a:solidFill>
                    <a:latin typeface="Consolas"/>
                    <a:ea typeface="Consolas"/>
                    <a:cs typeface="Consolas"/>
                  </a:rPr>
                  <a:t>( ball book )</a:t>
                </a:r>
              </a:p>
            </p:txBody>
          </p:sp>
          <p:sp>
            <p:nvSpPr>
              <p:cNvPr id="17" name="TextBox 17"/>
              <p:cNvSpPr txBox="1"/>
              <p:nvPr/>
            </p:nvSpPr>
            <p:spPr>
              <a:xfrm>
                <a:off x="3689223" y="2510314"/>
                <a:ext cx="926647" cy="249364"/>
              </a:xfrm>
              <a:prstGeom prst="rect">
                <a:avLst/>
              </a:prstGeom>
              <a:noFill/>
              <a:ln>
                <a:noFill/>
              </a:ln>
            </p:spPr>
            <p:txBody>
              <a:bodyPr wrap="none" lIns="0" tIns="0" rIns="0" bIns="0" anchor="t" anchorCtr="0">
                <a:spAutoFit/>
              </a:bodyPr>
              <a:lstStyle/>
              <a:p>
                <a:pPr algn="l"/>
                <a:r>
                  <a:rPr lang="en-US" sz="1280" b="1" dirty="0">
                    <a:solidFill>
                      <a:schemeClr val="accent5"/>
                    </a:solidFill>
                    <a:latin typeface="Consolas"/>
                    <a:ea typeface="Consolas"/>
                    <a:cs typeface="Consolas"/>
                  </a:rPr>
                  <a:t>→ book ball</a:t>
                </a:r>
              </a:p>
            </p:txBody>
          </p:sp>
        </p:grpSp>
      </p:grpSp>
      <p:grpSp>
        <p:nvGrpSpPr>
          <p:cNvPr id="25" name="Group 25"/>
          <p:cNvGrpSpPr/>
          <p:nvPr/>
        </p:nvGrpSpPr>
        <p:grpSpPr>
          <a:xfrm>
            <a:off x="762000" y="3143250"/>
            <a:ext cx="5356428" cy="990600"/>
            <a:chOff x="762000" y="3143250"/>
            <a:chExt cx="5356428" cy="990600"/>
          </a:xfrm>
        </p:grpSpPr>
        <p:sp>
          <p:nvSpPr>
            <p:cNvPr id="20" name="Rectangle 20"/>
            <p:cNvSpPr/>
            <p:nvPr/>
          </p:nvSpPr>
          <p:spPr>
            <a:xfrm>
              <a:off x="762000" y="3143250"/>
              <a:ext cx="5334000" cy="990600"/>
            </a:xfrm>
            <a:prstGeom prst="roundRect">
              <a:avLst>
                <a:gd name="adj" fmla="val 11538"/>
              </a:avLst>
            </a:prstGeom>
            <a:solidFill>
              <a:schemeClr val="lt1"/>
            </a:solidFill>
            <a:ln w="14288">
              <a:solidFill>
                <a:schemeClr val="accent4"/>
              </a:solidFill>
            </a:ln>
            <a:effectLst>
              <a:outerShdw blurRad="76200" dist="28575" dir="5400000" algn="ctr" rotWithShape="0">
                <a:srgbClr val="1E293B">
                  <a:alpha val="5250"/>
                </a:srgbClr>
              </a:outerShdw>
            </a:effectLst>
          </p:spPr>
        </p:sp>
        <p:sp>
          <p:nvSpPr>
            <p:cNvPr id="21" name="Rectangle 21"/>
            <p:cNvSpPr/>
            <p:nvPr/>
          </p:nvSpPr>
          <p:spPr>
            <a:xfrm>
              <a:off x="762000" y="3143250"/>
              <a:ext cx="57150" cy="990600"/>
            </a:xfrm>
            <a:prstGeom prst="roundRect">
              <a:avLst>
                <a:gd name="adj" fmla="val 50000"/>
              </a:avLst>
            </a:prstGeom>
            <a:solidFill>
              <a:schemeClr val="accent2"/>
            </a:solidFill>
            <a:ln>
              <a:noFill/>
            </a:ln>
          </p:spPr>
        </p:sp>
        <p:sp>
          <p:nvSpPr>
            <p:cNvPr id="22" name="TextBox 22"/>
            <p:cNvSpPr txBox="1"/>
            <p:nvPr/>
          </p:nvSpPr>
          <p:spPr>
            <a:xfrm>
              <a:off x="1023747" y="3323749"/>
              <a:ext cx="2179969" cy="190690"/>
            </a:xfrm>
            <a:prstGeom prst="rect">
              <a:avLst/>
            </a:prstGeom>
            <a:noFill/>
            <a:ln>
              <a:noFill/>
            </a:ln>
          </p:spPr>
          <p:txBody>
            <a:bodyPr wrap="none" lIns="0" tIns="0" rIns="0" bIns="0" anchor="t" anchorCtr="0">
              <a:spAutoFit/>
            </a:bodyPr>
            <a:lstStyle/>
            <a:p>
              <a:pPr algn="l"/>
              <a:r>
                <a:rPr lang="en-US" sz="980" b="1" spc="75" dirty="0">
                  <a:solidFill>
                    <a:schemeClr val="accent2"/>
                  </a:solidFill>
                  <a:latin typeface="+mn-lt"/>
                  <a:ea typeface="+mn-ea"/>
                  <a:cs typeface="+mn-cs"/>
                </a:rPr>
                <a:t>NOW COMBINE BOTH AT ONCE</a:t>
              </a:r>
            </a:p>
          </p:txBody>
        </p:sp>
        <p:sp>
          <p:nvSpPr>
            <p:cNvPr id="23" name="TextBox 23"/>
            <p:cNvSpPr txBox="1"/>
            <p:nvPr/>
          </p:nvSpPr>
          <p:spPr>
            <a:xfrm>
              <a:off x="1021842" y="3588068"/>
              <a:ext cx="1540307" cy="264033"/>
            </a:xfrm>
            <a:prstGeom prst="rect">
              <a:avLst/>
            </a:prstGeom>
            <a:noFill/>
            <a:ln>
              <a:noFill/>
            </a:ln>
          </p:spPr>
          <p:txBody>
            <a:bodyPr wrap="none" lIns="0" tIns="0" rIns="0" bIns="0" anchor="t" anchorCtr="0">
              <a:spAutoFit/>
            </a:bodyPr>
            <a:lstStyle/>
            <a:p>
              <a:pPr algn="l"/>
              <a:r>
                <a:rPr lang="en-US" sz="1350" dirty="0">
                  <a:solidFill>
                    <a:schemeClr val="dk2"/>
                  </a:solidFill>
                  <a:latin typeface="Consolas"/>
                  <a:ea typeface="Consolas"/>
                  <a:cs typeface="Consolas"/>
                </a:rPr>
                <a:t>( * pie * sports )</a:t>
              </a:r>
            </a:p>
          </p:txBody>
        </p:sp>
        <p:sp>
          <p:nvSpPr>
            <p:cNvPr id="24" name="TextBox 24"/>
            <p:cNvSpPr txBox="1"/>
            <p:nvPr/>
          </p:nvSpPr>
          <p:spPr>
            <a:xfrm>
              <a:off x="1022223" y="3862864"/>
              <a:ext cx="5096205" cy="249364"/>
            </a:xfrm>
            <a:prstGeom prst="rect">
              <a:avLst/>
            </a:prstGeom>
            <a:noFill/>
            <a:ln>
              <a:noFill/>
            </a:ln>
          </p:spPr>
          <p:txBody>
            <a:bodyPr wrap="none" lIns="0" tIns="0" rIns="0" bIns="0" anchor="t" anchorCtr="0">
              <a:spAutoFit/>
            </a:bodyPr>
            <a:lstStyle/>
            <a:p>
              <a:pPr algn="l"/>
              <a:r>
                <a:rPr lang="en-US" sz="1280" dirty="0">
                  <a:solidFill>
                    <a:schemeClr val="accent1"/>
                  </a:solidFill>
                  <a:latin typeface="+mn-lt"/>
                  <a:ea typeface="+mn-ea"/>
                  <a:cs typeface="+mn-cs"/>
                </a:rPr>
                <a:t xml:space="preserve">must swap </a:t>
              </a:r>
              <a:r>
                <a:rPr lang="en-US" sz="1280" i="1" dirty="0">
                  <a:solidFill>
                    <a:schemeClr val="accent1"/>
                  </a:solidFill>
                  <a:latin typeface="+mn-lt"/>
                  <a:ea typeface="+mn-ea"/>
                  <a:cs typeface="+mn-cs"/>
                </a:rPr>
                <a:t>and</a:t>
              </a:r>
              <a:r>
                <a:rPr lang="en-US" sz="1280" dirty="0">
                  <a:solidFill>
                    <a:schemeClr val="accent1"/>
                  </a:solidFill>
                  <a:latin typeface="+mn-lt"/>
                  <a:ea typeface="+mn-ea"/>
                  <a:cs typeface="+mn-cs"/>
                </a:rPr>
                <a:t xml:space="preserve"> capitalize — a task never shown as an example</a:t>
              </a:r>
            </a:p>
          </p:txBody>
        </p:sp>
      </p:grpSp>
      <p:grpSp>
        <p:nvGrpSpPr>
          <p:cNvPr id="31" name="Group 31"/>
          <p:cNvGrpSpPr/>
          <p:nvPr/>
        </p:nvGrpSpPr>
        <p:grpSpPr>
          <a:xfrm>
            <a:off x="762000" y="4286250"/>
            <a:ext cx="5334000" cy="876300"/>
            <a:chOff x="762000" y="4286250"/>
            <a:chExt cx="5334000" cy="876300"/>
          </a:xfrm>
        </p:grpSpPr>
        <p:sp>
          <p:nvSpPr>
            <p:cNvPr id="26" name="Rectangle 26"/>
            <p:cNvSpPr/>
            <p:nvPr/>
          </p:nvSpPr>
          <p:spPr>
            <a:xfrm>
              <a:off x="762000" y="4286250"/>
              <a:ext cx="5334000" cy="876300"/>
            </a:xfrm>
            <a:prstGeom prst="roundRect">
              <a:avLst>
                <a:gd name="adj" fmla="val 13043"/>
              </a:avLst>
            </a:prstGeom>
            <a:solidFill>
              <a:srgbClr val="FEF2F2"/>
            </a:solidFill>
            <a:ln w="14288">
              <a:solidFill>
                <a:schemeClr val="accent6"/>
              </a:solidFill>
            </a:ln>
            <a:effectLst>
              <a:outerShdw blurRad="76200" dist="28575" dir="5400000" algn="ctr" rotWithShape="0">
                <a:srgbClr val="1E293B">
                  <a:alpha val="5250"/>
                </a:srgbClr>
              </a:outerShdw>
            </a:effectLst>
          </p:spPr>
        </p:sp>
        <p:sp>
          <p:nvSpPr>
            <p:cNvPr id="27" name="Ellipse 27"/>
            <p:cNvSpPr/>
            <p:nvPr/>
          </p:nvSpPr>
          <p:spPr>
            <a:xfrm>
              <a:off x="971550" y="4552950"/>
              <a:ext cx="342900" cy="342900"/>
            </a:xfrm>
            <a:prstGeom prst="ellipse">
              <a:avLst/>
            </a:prstGeom>
            <a:solidFill>
              <a:schemeClr val="accent6"/>
            </a:solidFill>
            <a:ln>
              <a:noFill/>
            </a:ln>
          </p:spPr>
        </p:sp>
        <p:sp>
          <p:nvSpPr>
            <p:cNvPr id="28" name="TextBox 28"/>
            <p:cNvSpPr txBox="1"/>
            <p:nvPr/>
          </p:nvSpPr>
          <p:spPr>
            <a:xfrm>
              <a:off x="1023366" y="4629150"/>
              <a:ext cx="239268"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j-lt"/>
                  <a:ea typeface="+mj-ea"/>
                  <a:cs typeface="+mj-cs"/>
                </a:rPr>
                <a:t>✗</a:t>
              </a:r>
            </a:p>
          </p:txBody>
        </p:sp>
        <p:sp>
          <p:nvSpPr>
            <p:cNvPr id="29" name="TextBox 29"/>
            <p:cNvSpPr txBox="1"/>
            <p:nvPr/>
          </p:nvSpPr>
          <p:spPr>
            <a:xfrm>
              <a:off x="1459611" y="4475321"/>
              <a:ext cx="3895196" cy="278702"/>
            </a:xfrm>
            <a:prstGeom prst="rect">
              <a:avLst/>
            </a:prstGeom>
            <a:noFill/>
            <a:ln>
              <a:noFill/>
            </a:ln>
          </p:spPr>
          <p:txBody>
            <a:bodyPr wrap="none" lIns="0" tIns="0" rIns="0" bIns="0" anchor="t" anchorCtr="0">
              <a:spAutoFit/>
            </a:bodyPr>
            <a:lstStyle/>
            <a:p>
              <a:pPr algn="l"/>
              <a:r>
                <a:rPr lang="en-US" sz="1420" b="1" dirty="0">
                  <a:solidFill>
                    <a:schemeClr val="accent1"/>
                  </a:solidFill>
                  <a:latin typeface="+mn-lt"/>
                  <a:ea typeface="+mn-ea"/>
                  <a:cs typeface="+mn-cs"/>
                </a:rPr>
                <a:t>Trivial for humans — yet models stumble</a:t>
              </a:r>
            </a:p>
          </p:txBody>
        </p:sp>
        <p:sp>
          <p:nvSpPr>
            <p:cNvPr id="30" name="TextBox 30"/>
            <p:cNvSpPr txBox="1"/>
            <p:nvPr/>
          </p:nvSpPr>
          <p:spPr>
            <a:xfrm>
              <a:off x="1460373" y="4739164"/>
              <a:ext cx="4257400"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Even GPT-4 and Claude 3 often fail this composite.</a:t>
              </a:r>
            </a:p>
          </p:txBody>
        </p:sp>
      </p:grpSp>
      <p:grpSp>
        <p:nvGrpSpPr>
          <p:cNvPr id="37" name="Group 37"/>
          <p:cNvGrpSpPr/>
          <p:nvPr/>
        </p:nvGrpSpPr>
        <p:grpSpPr>
          <a:xfrm>
            <a:off x="6477000" y="1428750"/>
            <a:ext cx="4953000" cy="3733800"/>
            <a:chOff x="6477000" y="1428750"/>
            <a:chExt cx="4953000" cy="3733800"/>
          </a:xfrm>
        </p:grpSpPr>
        <p:sp>
          <p:nvSpPr>
            <p:cNvPr id="32" name="Rectangle 32"/>
            <p:cNvSpPr/>
            <p:nvPr/>
          </p:nvSpPr>
          <p:spPr>
            <a:xfrm>
              <a:off x="6477000" y="1428750"/>
              <a:ext cx="4953000" cy="3733800"/>
            </a:xfrm>
            <a:prstGeom prst="roundRect">
              <a:avLst>
                <a:gd name="adj" fmla="val 3061"/>
              </a:avLst>
            </a:prstGeom>
            <a:solidFill>
              <a:schemeClr val="lt2"/>
            </a:solidFill>
            <a:ln w="14288">
              <a:solidFill>
                <a:schemeClr val="accent4"/>
              </a:solidFill>
            </a:ln>
          </p:spPr>
        </p:sp>
        <p:sp>
          <p:nvSpPr>
            <p:cNvPr id="33" name="TextBox 33"/>
            <p:cNvSpPr txBox="1"/>
            <p:nvPr/>
          </p:nvSpPr>
          <p:spPr>
            <a:xfrm>
              <a:off x="6662547" y="1609249"/>
              <a:ext cx="3791115" cy="190690"/>
            </a:xfrm>
            <a:prstGeom prst="rect">
              <a:avLst/>
            </a:prstGeom>
            <a:noFill/>
            <a:ln>
              <a:noFill/>
            </a:ln>
          </p:spPr>
          <p:txBody>
            <a:bodyPr wrap="none" lIns="0" tIns="0" rIns="0" bIns="0" anchor="t" anchorCtr="0">
              <a:spAutoFit/>
            </a:bodyPr>
            <a:lstStyle/>
            <a:p>
              <a:pPr algn="l"/>
              <a:r>
                <a:rPr lang="en-US" sz="980" b="1" spc="75" dirty="0">
                  <a:solidFill>
                    <a:schemeClr val="accent2"/>
                  </a:solidFill>
                  <a:latin typeface="+mn-lt"/>
                  <a:ea typeface="+mn-ea"/>
                  <a:cs typeface="+mn-cs"/>
                </a:rPr>
                <a:t>FIGURE 1 · COMPOSITIONAL IN-CONTEXT LEARNING</a:t>
              </a:r>
            </a:p>
          </p:txBody>
        </p:sp>
        <p:pic>
          <p:nvPicPr>
            <p:cNvPr id="34" name="Image 34"/>
            <p:cNvPicPr>
              <a:picLocks noChangeAspect="1"/>
            </p:cNvPicPr>
            <p:nvPr/>
          </p:nvPicPr>
          <p:blipFill>
            <a:blip r:embed="rId2"/>
            <a:stretch>
              <a:fillRect/>
            </a:stretch>
          </p:blipFill>
          <p:spPr>
            <a:xfrm>
              <a:off x="6667500" y="1870574"/>
              <a:ext cx="4572000" cy="2526302"/>
            </a:xfrm>
            <a:prstGeom prst="rect">
              <a:avLst/>
            </a:prstGeom>
          </p:spPr>
        </p:pic>
        <p:sp>
          <p:nvSpPr>
            <p:cNvPr id="35" name="TextBox 35"/>
            <p:cNvSpPr txBox="1"/>
            <p:nvPr/>
          </p:nvSpPr>
          <p:spPr>
            <a:xfrm>
              <a:off x="6661785" y="4564856"/>
              <a:ext cx="428423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Simple tasks are solved (✓ ✓); the composite that needs</a:t>
              </a:r>
            </a:p>
          </p:txBody>
        </p:sp>
        <p:sp>
          <p:nvSpPr>
            <p:cNvPr id="36" name="TextBox 36"/>
            <p:cNvSpPr txBox="1"/>
            <p:nvPr/>
          </p:nvSpPr>
          <p:spPr>
            <a:xfrm>
              <a:off x="6661785" y="4774406"/>
              <a:ext cx="4082339"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both operations at once produces a wrong output (✗).</a:t>
              </a:r>
            </a:p>
          </p:txBody>
        </p:sp>
      </p:grpSp>
      <p:grpSp>
        <p:nvGrpSpPr>
          <p:cNvPr id="40" name="Group 40"/>
          <p:cNvGrpSpPr/>
          <p:nvPr/>
        </p:nvGrpSpPr>
        <p:grpSpPr>
          <a:xfrm>
            <a:off x="757238" y="6513195"/>
            <a:ext cx="10677525" cy="176212"/>
            <a:chOff x="757238" y="6513195"/>
            <a:chExt cx="10677525" cy="176212"/>
          </a:xfrm>
        </p:grpSpPr>
        <p:sp>
          <p:nvSpPr>
            <p:cNvPr id="38" name="TextBox 38"/>
            <p:cNvSpPr txBox="1"/>
            <p:nvPr/>
          </p:nvSpPr>
          <p:spPr>
            <a:xfrm>
              <a:off x="757238" y="6513195"/>
              <a:ext cx="2276917" cy="176212"/>
            </a:xfrm>
            <a:prstGeom prst="rect">
              <a:avLst/>
            </a:prstGeom>
            <a:noFill/>
            <a:ln>
              <a:noFill/>
            </a:ln>
          </p:spPr>
          <p:txBody>
            <a:bodyPr wrap="none" lIns="0" tIns="0" rIns="0" bIns="0" anchor="t" anchorCtr="0">
              <a:spAutoFit/>
            </a:bodyPr>
            <a:lstStyle/>
            <a:p>
              <a:pPr algn="l"/>
              <a:r>
                <a:rPr lang="en-US" sz="900" dirty="0">
                  <a:solidFill>
                    <a:srgbClr val="94A3B8"/>
                  </a:solidFill>
                  <a:latin typeface="+mn-lt"/>
                  <a:ea typeface="+mn-ea"/>
                  <a:cs typeface="+mn-cs"/>
                </a:rPr>
                <a:t>Xu, Shi &amp; Liang · COLM 2024 · Figure 1</a:t>
              </a:r>
            </a:p>
          </p:txBody>
        </p:sp>
        <p:sp>
          <p:nvSpPr>
            <p:cNvPr id="39" name="TextBox 39"/>
            <p:cNvSpPr txBox="1"/>
            <p:nvPr/>
          </p:nvSpPr>
          <p:spPr>
            <a:xfrm>
              <a:off x="11291964" y="6513195"/>
              <a:ext cx="142799" cy="176212"/>
            </a:xfrm>
            <a:prstGeom prst="rect">
              <a:avLst/>
            </a:prstGeom>
            <a:noFill/>
            <a:ln>
              <a:noFill/>
            </a:ln>
          </p:spPr>
          <p:txBody>
            <a:bodyPr wrap="none" lIns="0" tIns="0" rIns="0" bIns="0" anchor="t" anchorCtr="0">
              <a:spAutoFit/>
            </a:bodyPr>
            <a:lstStyle/>
            <a:p>
              <a:pPr algn="r"/>
              <a:r>
                <a:rPr lang="en-US" sz="900" dirty="0">
                  <a:solidFill>
                    <a:srgbClr val="94A3B8"/>
                  </a:solidFill>
                  <a:latin typeface="+mn-lt"/>
                  <a:ea typeface="+mn-ea"/>
                  <a:cs typeface="+mn-cs"/>
                </a:rPr>
                <a:t>02</a:t>
              </a:r>
            </a:p>
          </p:txBody>
        </p:sp>
      </p:grpSp>
      <p:sp>
        <p:nvSpPr>
          <p:cNvPr id="41" name="cue_s02_c1_suppose_learned_two_simple_tasks" title="cue_s02_c1_suppose_learned_two_simple_tasks" descr="cue_s02_c1_suppose_learned_two_simple_tasks Suppose a model learned two simple tasks in-context, capitalizing certain words and swapping others."/>
          <p:cNvSpPr/>
          <p:nvPr/>
        </p:nvSpPr>
        <p:spPr>
          <a:xfrm>
            <a:off x="762000" y="1428521"/>
            <a:ext cx="5334000" cy="15622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ue_s02_c2_given_input_needing_both_combine" title="cue_s02_c2_given_input_needing_both_combine" descr="cue_s02_c2_given_input_needing_both_combine Given an input needing both, can it combine the skills?"/>
          <p:cNvSpPr/>
          <p:nvPr/>
        </p:nvSpPr>
        <p:spPr>
          <a:xfrm>
            <a:off x="762000" y="3143021"/>
            <a:ext cx="5355945" cy="9902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cue_s02_c3_humans_trivial_yet_even_gpt_4" title="cue_s02_c3_humans_trivial_yet_even_gpt_4" descr="cue_s02_c3_humans_trivial_yet_even_gpt_4 For humans this is trivial, yet even GPT-4 and Claude 3 often fail."/>
          <p:cNvSpPr/>
          <p:nvPr/>
        </p:nvSpPr>
        <p:spPr>
          <a:xfrm>
            <a:off x="762000" y="4286250"/>
            <a:ext cx="5334000" cy="8764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762000" y="628650"/>
            <a:ext cx="7468845" cy="737807"/>
            <a:chOff x="762000" y="628650"/>
            <a:chExt cx="7468845" cy="737807"/>
          </a:xfrm>
        </p:grpSpPr>
        <p:sp>
          <p:nvSpPr>
            <p:cNvPr id="2" name="Rectangle 2"/>
            <p:cNvSpPr/>
            <p:nvPr/>
          </p:nvSpPr>
          <p:spPr>
            <a:xfrm>
              <a:off x="762000" y="628650"/>
              <a:ext cx="57150" cy="381000"/>
            </a:xfrm>
            <a:prstGeom prst="rect">
              <a:avLst/>
            </a:prstGeom>
            <a:solidFill>
              <a:schemeClr val="accent2"/>
            </a:solidFill>
            <a:ln>
              <a:noFill/>
            </a:ln>
          </p:spPr>
        </p:sp>
        <p:sp>
          <p:nvSpPr>
            <p:cNvPr id="3" name="TextBox 3"/>
            <p:cNvSpPr txBox="1"/>
            <p:nvPr/>
          </p:nvSpPr>
          <p:spPr>
            <a:xfrm>
              <a:off x="947547" y="751999"/>
              <a:ext cx="1021574" cy="190690"/>
            </a:xfrm>
            <a:prstGeom prst="rect">
              <a:avLst/>
            </a:prstGeom>
            <a:noFill/>
            <a:ln>
              <a:noFill/>
            </a:ln>
          </p:spPr>
          <p:txBody>
            <a:bodyPr wrap="none" lIns="0" tIns="0" rIns="0" bIns="0" anchor="t" anchorCtr="0">
              <a:spAutoFit/>
            </a:bodyPr>
            <a:lstStyle/>
            <a:p>
              <a:pPr algn="l"/>
              <a:r>
                <a:rPr lang="en-US" sz="980" b="1" spc="150" dirty="0">
                  <a:solidFill>
                    <a:schemeClr val="accent2"/>
                  </a:solidFill>
                  <a:latin typeface="+mn-lt"/>
                  <a:ea typeface="+mn-ea"/>
                  <a:cs typeface="+mn-cs"/>
                </a:rPr>
                <a:t>MOTIVATION</a:t>
              </a:r>
            </a:p>
          </p:txBody>
        </p:sp>
        <p:sp>
          <p:nvSpPr>
            <p:cNvPr id="4" name="TextBox 4"/>
            <p:cNvSpPr txBox="1"/>
            <p:nvPr/>
          </p:nvSpPr>
          <p:spPr>
            <a:xfrm>
              <a:off x="939546" y="867728"/>
              <a:ext cx="7291299"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j-lt"/>
                  <a:ea typeface="+mj-ea"/>
                  <a:cs typeface="+mj-cs"/>
                </a:rPr>
                <a:t>Why compositional ability, and why now</a:t>
              </a:r>
            </a:p>
          </p:txBody>
        </p:sp>
      </p:grpSp>
      <p:grpSp>
        <p:nvGrpSpPr>
          <p:cNvPr id="25" name="Group 25"/>
          <p:cNvGrpSpPr/>
          <p:nvPr/>
        </p:nvGrpSpPr>
        <p:grpSpPr>
          <a:xfrm>
            <a:off x="762000" y="1676400"/>
            <a:ext cx="5257800" cy="3733800"/>
            <a:chOff x="762000" y="1676400"/>
            <a:chExt cx="5257800" cy="3733800"/>
          </a:xfrm>
        </p:grpSpPr>
        <p:sp>
          <p:nvSpPr>
            <p:cNvPr id="6" name="Rectangle 6"/>
            <p:cNvSpPr/>
            <p:nvPr/>
          </p:nvSpPr>
          <p:spPr>
            <a:xfrm>
              <a:off x="762000" y="1676400"/>
              <a:ext cx="5257800" cy="3733800"/>
            </a:xfrm>
            <a:prstGeom prst="roundRect">
              <a:avLst>
                <a:gd name="adj" fmla="val 3571"/>
              </a:avLst>
            </a:prstGeom>
            <a:solidFill>
              <a:srgbClr val="EEF2FF"/>
            </a:solidFill>
            <a:ln w="14288">
              <a:solidFill>
                <a:schemeClr val="accent2"/>
              </a:solidFill>
            </a:ln>
            <a:effectLst>
              <a:outerShdw blurRad="76200" dist="28575" dir="5400000" algn="ctr" rotWithShape="0">
                <a:srgbClr val="1E293B">
                  <a:alpha val="5250"/>
                </a:srgbClr>
              </a:outerShdw>
            </a:effectLst>
          </p:spPr>
        </p:sp>
        <p:sp>
          <p:nvSpPr>
            <p:cNvPr id="7" name="Ellipse 7"/>
            <p:cNvSpPr/>
            <p:nvPr/>
          </p:nvSpPr>
          <p:spPr>
            <a:xfrm>
              <a:off x="1009650" y="1962150"/>
              <a:ext cx="495300" cy="495300"/>
            </a:xfrm>
            <a:prstGeom prst="ellipse">
              <a:avLst/>
            </a:prstGeom>
            <a:solidFill>
              <a:schemeClr val="accent2"/>
            </a:solidFill>
            <a:ln>
              <a:noFill/>
            </a:ln>
          </p:spPr>
        </p:sp>
        <p:sp>
          <p:nvSpPr>
            <p:cNvPr id="8" name="TextBox 8"/>
            <p:cNvSpPr txBox="1"/>
            <p:nvPr/>
          </p:nvSpPr>
          <p:spPr>
            <a:xfrm>
              <a:off x="1113739" y="2101215"/>
              <a:ext cx="287122" cy="352044"/>
            </a:xfrm>
            <a:prstGeom prst="rect">
              <a:avLst/>
            </a:prstGeom>
            <a:noFill/>
            <a:ln>
              <a:noFill/>
            </a:ln>
          </p:spPr>
          <p:txBody>
            <a:bodyPr wrap="none" lIns="0" tIns="0" rIns="0" bIns="0" anchor="t" anchorCtr="0">
              <a:spAutoFit/>
            </a:bodyPr>
            <a:lstStyle/>
            <a:p>
              <a:pPr algn="ctr"/>
              <a:r>
                <a:rPr lang="en-US" sz="1800" b="1" dirty="0">
                  <a:solidFill>
                    <a:srgbClr val="FFFFFF"/>
                  </a:solidFill>
                  <a:latin typeface="+mj-lt"/>
                  <a:ea typeface="+mj-ea"/>
                  <a:cs typeface="+mj-cs"/>
                </a:rPr>
                <a:t>⛓</a:t>
              </a:r>
            </a:p>
          </p:txBody>
        </p:sp>
        <p:sp>
          <p:nvSpPr>
            <p:cNvPr id="9" name="TextBox 9"/>
            <p:cNvSpPr txBox="1"/>
            <p:nvPr/>
          </p:nvSpPr>
          <p:spPr>
            <a:xfrm>
              <a:off x="1686306" y="1977390"/>
              <a:ext cx="2793035"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j-lt"/>
                  <a:ea typeface="+mj-ea"/>
                  <a:cs typeface="+mj-cs"/>
                </a:rPr>
                <a:t>Real reasoning means</a:t>
              </a:r>
            </a:p>
          </p:txBody>
        </p:sp>
        <p:sp>
          <p:nvSpPr>
            <p:cNvPr id="10" name="TextBox 10"/>
            <p:cNvSpPr txBox="1"/>
            <p:nvPr/>
          </p:nvSpPr>
          <p:spPr>
            <a:xfrm>
              <a:off x="1686306" y="2244090"/>
              <a:ext cx="1832915"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j-lt"/>
                  <a:ea typeface="+mj-ea"/>
                  <a:cs typeface="+mj-cs"/>
                </a:rPr>
                <a:t>chaining skills</a:t>
              </a:r>
            </a:p>
          </p:txBody>
        </p:sp>
        <p:sp>
          <p:nvSpPr>
            <p:cNvPr id="11" name="TextBox 11"/>
            <p:cNvSpPr txBox="1"/>
            <p:nvPr/>
          </p:nvSpPr>
          <p:spPr>
            <a:xfrm>
              <a:off x="1059180" y="2809875"/>
              <a:ext cx="3881801" cy="293370"/>
            </a:xfrm>
            <a:prstGeom prst="rect">
              <a:avLst/>
            </a:prstGeom>
            <a:noFill/>
            <a:ln>
              <a:noFill/>
            </a:ln>
          </p:spPr>
          <p:txBody>
            <a:bodyPr wrap="none" lIns="0" tIns="0" rIns="0" bIns="0" anchor="t" anchorCtr="0">
              <a:spAutoFit/>
            </a:bodyPr>
            <a:lstStyle/>
            <a:p>
              <a:pPr algn="l"/>
              <a:r>
                <a:rPr lang="en-US" sz="1500" dirty="0">
                  <a:solidFill>
                    <a:srgbClr val="334155"/>
                  </a:solidFill>
                  <a:latin typeface="+mn-lt"/>
                  <a:ea typeface="+mn-ea"/>
                  <a:cs typeface="+mn-cs"/>
                </a:rPr>
                <a:t>LLMs are increasingly asked to combine</a:t>
              </a:r>
            </a:p>
          </p:txBody>
        </p:sp>
        <p:sp>
          <p:nvSpPr>
            <p:cNvPr id="12" name="TextBox 12"/>
            <p:cNvSpPr txBox="1"/>
            <p:nvPr/>
          </p:nvSpPr>
          <p:spPr>
            <a:xfrm>
              <a:off x="1059180" y="3076575"/>
              <a:ext cx="4074033" cy="293370"/>
            </a:xfrm>
            <a:prstGeom prst="rect">
              <a:avLst/>
            </a:prstGeom>
            <a:noFill/>
            <a:ln>
              <a:noFill/>
            </a:ln>
          </p:spPr>
          <p:txBody>
            <a:bodyPr wrap="none" lIns="0" tIns="0" rIns="0" bIns="0" anchor="t" anchorCtr="0">
              <a:spAutoFit/>
            </a:bodyPr>
            <a:lstStyle/>
            <a:p>
              <a:pPr algn="l"/>
              <a:r>
                <a:rPr lang="en-US" sz="1500" dirty="0">
                  <a:solidFill>
                    <a:srgbClr val="334155"/>
                  </a:solidFill>
                  <a:latin typeface="+mn-lt"/>
                  <a:ea typeface="+mn-ea"/>
                  <a:cs typeface="+mn-cs"/>
                </a:rPr>
                <a:t>skills for real tasks, not just repeat one</a:t>
              </a:r>
            </a:p>
          </p:txBody>
        </p:sp>
        <p:sp>
          <p:nvSpPr>
            <p:cNvPr id="13" name="TextBox 13"/>
            <p:cNvSpPr txBox="1"/>
            <p:nvPr/>
          </p:nvSpPr>
          <p:spPr>
            <a:xfrm>
              <a:off x="1059180" y="3343275"/>
              <a:ext cx="1075372" cy="293370"/>
            </a:xfrm>
            <a:prstGeom prst="rect">
              <a:avLst/>
            </a:prstGeom>
            <a:noFill/>
            <a:ln>
              <a:noFill/>
            </a:ln>
          </p:spPr>
          <p:txBody>
            <a:bodyPr wrap="none" lIns="0" tIns="0" rIns="0" bIns="0" anchor="t" anchorCtr="0">
              <a:spAutoFit/>
            </a:bodyPr>
            <a:lstStyle/>
            <a:p>
              <a:pPr algn="l"/>
              <a:r>
                <a:rPr lang="en-US" sz="1500" dirty="0">
                  <a:solidFill>
                    <a:srgbClr val="334155"/>
                  </a:solidFill>
                  <a:latin typeface="+mn-lt"/>
                  <a:ea typeface="+mn-ea"/>
                  <a:cs typeface="+mn-cs"/>
                </a:rPr>
                <a:t>operation.</a:t>
              </a:r>
            </a:p>
          </p:txBody>
        </p:sp>
        <p:grpSp>
          <p:nvGrpSpPr>
            <p:cNvPr id="22" name="Group 22"/>
            <p:cNvGrpSpPr/>
            <p:nvPr/>
          </p:nvGrpSpPr>
          <p:grpSpPr>
            <a:xfrm>
              <a:off x="1066800" y="3905250"/>
              <a:ext cx="4667250" cy="495300"/>
              <a:chOff x="1066800" y="3905250"/>
              <a:chExt cx="4667250" cy="495300"/>
            </a:xfrm>
          </p:grpSpPr>
          <p:sp>
            <p:nvSpPr>
              <p:cNvPr id="14" name="Rectangle 14"/>
              <p:cNvSpPr/>
              <p:nvPr/>
            </p:nvSpPr>
            <p:spPr>
              <a:xfrm>
                <a:off x="1066800" y="3905250"/>
                <a:ext cx="1238250" cy="495300"/>
              </a:xfrm>
              <a:prstGeom prst="roundRect">
                <a:avLst>
                  <a:gd name="adj" fmla="val 19231"/>
                </a:avLst>
              </a:prstGeom>
              <a:solidFill>
                <a:schemeClr val="lt1"/>
              </a:solidFill>
              <a:ln w="14288">
                <a:solidFill>
                  <a:schemeClr val="accent2"/>
                </a:solidFill>
              </a:ln>
            </p:spPr>
          </p:sp>
          <p:sp>
            <p:nvSpPr>
              <p:cNvPr id="15" name="TextBox 15"/>
              <p:cNvSpPr txBox="1"/>
              <p:nvPr/>
            </p:nvSpPr>
            <p:spPr>
              <a:xfrm>
                <a:off x="1416759" y="4072414"/>
                <a:ext cx="538332" cy="249364"/>
              </a:xfrm>
              <a:prstGeom prst="rect">
                <a:avLst/>
              </a:prstGeom>
              <a:noFill/>
              <a:ln>
                <a:noFill/>
              </a:ln>
            </p:spPr>
            <p:txBody>
              <a:bodyPr wrap="none" lIns="0" tIns="0" rIns="0" bIns="0" anchor="t" anchorCtr="0">
                <a:spAutoFit/>
              </a:bodyPr>
              <a:lstStyle/>
              <a:p>
                <a:pPr algn="ctr"/>
                <a:r>
                  <a:rPr lang="en-US" sz="1280" b="1" dirty="0">
                    <a:solidFill>
                      <a:schemeClr val="accent1"/>
                    </a:solidFill>
                    <a:latin typeface="+mn-lt"/>
                    <a:ea typeface="+mn-ea"/>
                    <a:cs typeface="+mn-cs"/>
                  </a:rPr>
                  <a:t>Skill A</a:t>
                </a:r>
              </a:p>
            </p:txBody>
          </p:sp>
          <p:sp>
            <p:nvSpPr>
              <p:cNvPr id="16" name="TextBox 16"/>
              <p:cNvSpPr txBox="1"/>
              <p:nvPr/>
            </p:nvSpPr>
            <p:spPr>
              <a:xfrm>
                <a:off x="2419400" y="4031932"/>
                <a:ext cx="152301" cy="322707"/>
              </a:xfrm>
              <a:prstGeom prst="rect">
                <a:avLst/>
              </a:prstGeom>
              <a:noFill/>
              <a:ln>
                <a:noFill/>
              </a:ln>
            </p:spPr>
            <p:txBody>
              <a:bodyPr wrap="none" lIns="0" tIns="0" rIns="0" bIns="0" anchor="t" anchorCtr="0">
                <a:spAutoFit/>
              </a:bodyPr>
              <a:lstStyle/>
              <a:p>
                <a:pPr algn="ctr"/>
                <a:r>
                  <a:rPr lang="en-US" sz="1650" b="1" dirty="0">
                    <a:solidFill>
                      <a:schemeClr val="accent2"/>
                    </a:solidFill>
                    <a:latin typeface="+mj-lt"/>
                    <a:ea typeface="+mj-ea"/>
                    <a:cs typeface="+mj-cs"/>
                  </a:rPr>
                  <a:t>+</a:t>
                </a:r>
              </a:p>
            </p:txBody>
          </p:sp>
          <p:sp>
            <p:nvSpPr>
              <p:cNvPr id="17" name="Rectangle 17"/>
              <p:cNvSpPr/>
              <p:nvPr/>
            </p:nvSpPr>
            <p:spPr>
              <a:xfrm>
                <a:off x="2686050" y="3905250"/>
                <a:ext cx="1238250" cy="495300"/>
              </a:xfrm>
              <a:prstGeom prst="roundRect">
                <a:avLst>
                  <a:gd name="adj" fmla="val 19231"/>
                </a:avLst>
              </a:prstGeom>
              <a:solidFill>
                <a:schemeClr val="lt1"/>
              </a:solidFill>
              <a:ln w="14288">
                <a:solidFill>
                  <a:schemeClr val="accent2"/>
                </a:solidFill>
              </a:ln>
            </p:spPr>
          </p:sp>
          <p:sp>
            <p:nvSpPr>
              <p:cNvPr id="18" name="TextBox 18"/>
              <p:cNvSpPr txBox="1"/>
              <p:nvPr/>
            </p:nvSpPr>
            <p:spPr>
              <a:xfrm>
                <a:off x="3036009" y="4072414"/>
                <a:ext cx="538332" cy="249364"/>
              </a:xfrm>
              <a:prstGeom prst="rect">
                <a:avLst/>
              </a:prstGeom>
              <a:noFill/>
              <a:ln>
                <a:noFill/>
              </a:ln>
            </p:spPr>
            <p:txBody>
              <a:bodyPr wrap="none" lIns="0" tIns="0" rIns="0" bIns="0" anchor="t" anchorCtr="0">
                <a:spAutoFit/>
              </a:bodyPr>
              <a:lstStyle/>
              <a:p>
                <a:pPr algn="ctr"/>
                <a:r>
                  <a:rPr lang="en-US" sz="1280" b="1" dirty="0">
                    <a:solidFill>
                      <a:schemeClr val="accent1"/>
                    </a:solidFill>
                    <a:latin typeface="+mn-lt"/>
                    <a:ea typeface="+mn-ea"/>
                    <a:cs typeface="+mn-cs"/>
                  </a:rPr>
                  <a:t>Skill B</a:t>
                </a:r>
              </a:p>
            </p:txBody>
          </p:sp>
          <p:sp>
            <p:nvSpPr>
              <p:cNvPr id="19" name="TextBox 19"/>
              <p:cNvSpPr txBox="1"/>
              <p:nvPr/>
            </p:nvSpPr>
            <p:spPr>
              <a:xfrm>
                <a:off x="4038650" y="4031932"/>
                <a:ext cx="152301" cy="322707"/>
              </a:xfrm>
              <a:prstGeom prst="rect">
                <a:avLst/>
              </a:prstGeom>
              <a:noFill/>
              <a:ln>
                <a:noFill/>
              </a:ln>
            </p:spPr>
            <p:txBody>
              <a:bodyPr wrap="none" lIns="0" tIns="0" rIns="0" bIns="0" anchor="t" anchorCtr="0">
                <a:spAutoFit/>
              </a:bodyPr>
              <a:lstStyle/>
              <a:p>
                <a:pPr algn="ctr"/>
                <a:r>
                  <a:rPr lang="en-US" sz="1650" b="1" dirty="0">
                    <a:solidFill>
                      <a:schemeClr val="accent2"/>
                    </a:solidFill>
                    <a:latin typeface="+mj-lt"/>
                    <a:ea typeface="+mj-ea"/>
                    <a:cs typeface="+mj-cs"/>
                  </a:rPr>
                  <a:t>→</a:t>
                </a:r>
              </a:p>
            </p:txBody>
          </p:sp>
          <p:sp>
            <p:nvSpPr>
              <p:cNvPr id="20" name="Rectangle 20"/>
              <p:cNvSpPr/>
              <p:nvPr/>
            </p:nvSpPr>
            <p:spPr>
              <a:xfrm>
                <a:off x="4305300" y="3905250"/>
                <a:ext cx="1428750" cy="495300"/>
              </a:xfrm>
              <a:prstGeom prst="roundRect">
                <a:avLst>
                  <a:gd name="adj" fmla="val 19231"/>
                </a:avLst>
              </a:prstGeom>
              <a:solidFill>
                <a:schemeClr val="accent2"/>
              </a:solidFill>
              <a:ln>
                <a:noFill/>
              </a:ln>
            </p:spPr>
          </p:sp>
          <p:sp>
            <p:nvSpPr>
              <p:cNvPr id="21" name="TextBox 21"/>
              <p:cNvSpPr txBox="1"/>
              <p:nvPr/>
            </p:nvSpPr>
            <p:spPr>
              <a:xfrm>
                <a:off x="4567133" y="4072414"/>
                <a:ext cx="905083" cy="249364"/>
              </a:xfrm>
              <a:prstGeom prst="rect">
                <a:avLst/>
              </a:prstGeom>
              <a:noFill/>
              <a:ln>
                <a:noFill/>
              </a:ln>
            </p:spPr>
            <p:txBody>
              <a:bodyPr wrap="none" lIns="0" tIns="0" rIns="0" bIns="0" anchor="t" anchorCtr="0">
                <a:spAutoFit/>
              </a:bodyPr>
              <a:lstStyle/>
              <a:p>
                <a:pPr algn="ctr"/>
                <a:r>
                  <a:rPr lang="en-US" sz="1280" b="1" dirty="0">
                    <a:solidFill>
                      <a:srgbClr val="FFFFFF"/>
                    </a:solidFill>
                    <a:latin typeface="+mn-lt"/>
                    <a:ea typeface="+mn-ea"/>
                    <a:cs typeface="+mn-cs"/>
                  </a:rPr>
                  <a:t>Composite</a:t>
                </a:r>
              </a:p>
            </p:txBody>
          </p:sp>
        </p:grpSp>
        <p:sp>
          <p:nvSpPr>
            <p:cNvPr id="23" name="TextBox 23"/>
            <p:cNvSpPr txBox="1"/>
            <p:nvPr/>
          </p:nvSpPr>
          <p:spPr>
            <a:xfrm>
              <a:off x="1060323" y="4739164"/>
              <a:ext cx="3223839"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Yet we lack a clear account of exactly</a:t>
              </a:r>
            </a:p>
          </p:txBody>
        </p:sp>
        <p:sp>
          <p:nvSpPr>
            <p:cNvPr id="24" name="TextBox 24"/>
            <p:cNvSpPr txBox="1"/>
            <p:nvPr/>
          </p:nvSpPr>
          <p:spPr>
            <a:xfrm>
              <a:off x="1060323" y="4967764"/>
              <a:ext cx="2959517"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when that chaining actually works.</a:t>
              </a:r>
            </a:p>
          </p:txBody>
        </p:sp>
      </p:grpSp>
      <p:grpSp>
        <p:nvGrpSpPr>
          <p:cNvPr id="39" name="Group 39"/>
          <p:cNvGrpSpPr/>
          <p:nvPr/>
        </p:nvGrpSpPr>
        <p:grpSpPr>
          <a:xfrm>
            <a:off x="6172200" y="1676400"/>
            <a:ext cx="5257800" cy="3733800"/>
            <a:chOff x="6172200" y="1676400"/>
            <a:chExt cx="5257800" cy="3733800"/>
          </a:xfrm>
        </p:grpSpPr>
        <p:sp>
          <p:nvSpPr>
            <p:cNvPr id="26" name="Rectangle 26"/>
            <p:cNvSpPr/>
            <p:nvPr/>
          </p:nvSpPr>
          <p:spPr>
            <a:xfrm>
              <a:off x="6172200" y="1676400"/>
              <a:ext cx="5257800" cy="3733800"/>
            </a:xfrm>
            <a:prstGeom prst="roundRect">
              <a:avLst>
                <a:gd name="adj" fmla="val 3571"/>
              </a:avLst>
            </a:prstGeom>
            <a:solidFill>
              <a:srgbClr val="F8FAFC"/>
            </a:solidFill>
            <a:ln w="14288">
              <a:solidFill>
                <a:schemeClr val="accent4"/>
              </a:solidFill>
            </a:ln>
            <a:effectLst>
              <a:outerShdw blurRad="76200" dist="28575" dir="5400000" algn="ctr" rotWithShape="0">
                <a:srgbClr val="1E293B">
                  <a:alpha val="5250"/>
                </a:srgbClr>
              </a:outerShdw>
            </a:effectLst>
          </p:spPr>
        </p:sp>
        <p:sp>
          <p:nvSpPr>
            <p:cNvPr id="27" name="Ellipse 27"/>
            <p:cNvSpPr/>
            <p:nvPr/>
          </p:nvSpPr>
          <p:spPr>
            <a:xfrm>
              <a:off x="6419850" y="1962150"/>
              <a:ext cx="495300" cy="495300"/>
            </a:xfrm>
            <a:prstGeom prst="ellipse">
              <a:avLst/>
            </a:prstGeom>
            <a:solidFill>
              <a:schemeClr val="accent1"/>
            </a:solidFill>
            <a:ln>
              <a:noFill/>
            </a:ln>
          </p:spPr>
        </p:sp>
        <p:sp>
          <p:nvSpPr>
            <p:cNvPr id="28" name="TextBox 28"/>
            <p:cNvSpPr txBox="1"/>
            <p:nvPr/>
          </p:nvSpPr>
          <p:spPr>
            <a:xfrm>
              <a:off x="6618031" y="2101215"/>
              <a:ext cx="98938" cy="352044"/>
            </a:xfrm>
            <a:prstGeom prst="rect">
              <a:avLst/>
            </a:prstGeom>
            <a:noFill/>
            <a:ln>
              <a:noFill/>
            </a:ln>
          </p:spPr>
          <p:txBody>
            <a:bodyPr wrap="none" lIns="0" tIns="0" rIns="0" bIns="0" anchor="t" anchorCtr="0">
              <a:spAutoFit/>
            </a:bodyPr>
            <a:lstStyle/>
            <a:p>
              <a:pPr algn="ctr"/>
              <a:r>
                <a:rPr lang="en-US" sz="1800" b="1" dirty="0">
                  <a:solidFill>
                    <a:srgbClr val="FFFFFF"/>
                  </a:solidFill>
                  <a:latin typeface="+mj-lt"/>
                  <a:ea typeface="+mj-ea"/>
                  <a:cs typeface="+mj-cs"/>
                </a:rPr>
                <a:t>!</a:t>
              </a:r>
            </a:p>
          </p:txBody>
        </p:sp>
        <p:sp>
          <p:nvSpPr>
            <p:cNvPr id="29" name="TextBox 29"/>
            <p:cNvSpPr txBox="1"/>
            <p:nvPr/>
          </p:nvSpPr>
          <p:spPr>
            <a:xfrm>
              <a:off x="7096506" y="1977390"/>
              <a:ext cx="2204407"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j-lt"/>
                  <a:ea typeface="+mj-ea"/>
                  <a:cs typeface="+mj-cs"/>
                </a:rPr>
                <a:t>A gap prior work</a:t>
              </a:r>
            </a:p>
          </p:txBody>
        </p:sp>
        <p:sp>
          <p:nvSpPr>
            <p:cNvPr id="30" name="TextBox 30"/>
            <p:cNvSpPr txBox="1"/>
            <p:nvPr/>
          </p:nvSpPr>
          <p:spPr>
            <a:xfrm>
              <a:off x="7096506" y="2244090"/>
              <a:ext cx="1214598"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j-lt"/>
                  <a:ea typeface="+mj-ea"/>
                  <a:cs typeface="+mj-cs"/>
                </a:rPr>
                <a:t>left open</a:t>
              </a:r>
            </a:p>
          </p:txBody>
        </p:sp>
        <p:sp>
          <p:nvSpPr>
            <p:cNvPr id="31" name="TextBox 31"/>
            <p:cNvSpPr txBox="1"/>
            <p:nvPr/>
          </p:nvSpPr>
          <p:spPr>
            <a:xfrm>
              <a:off x="6469380" y="2809875"/>
              <a:ext cx="3161380" cy="293370"/>
            </a:xfrm>
            <a:prstGeom prst="rect">
              <a:avLst/>
            </a:prstGeom>
            <a:noFill/>
            <a:ln>
              <a:noFill/>
            </a:ln>
          </p:spPr>
          <p:txBody>
            <a:bodyPr wrap="none" lIns="0" tIns="0" rIns="0" bIns="0" anchor="t" anchorCtr="0">
              <a:spAutoFit/>
            </a:bodyPr>
            <a:lstStyle/>
            <a:p>
              <a:pPr algn="l"/>
              <a:r>
                <a:rPr lang="en-US" sz="1500" dirty="0">
                  <a:solidFill>
                    <a:srgbClr val="334155"/>
                  </a:solidFill>
                  <a:latin typeface="+mn-lt"/>
                  <a:ea typeface="+mn-ea"/>
                  <a:cs typeface="+mn-cs"/>
                </a:rPr>
                <a:t>Earlier studies of compositional</a:t>
              </a:r>
            </a:p>
          </p:txBody>
        </p:sp>
        <p:sp>
          <p:nvSpPr>
            <p:cNvPr id="32" name="TextBox 32"/>
            <p:cNvSpPr txBox="1"/>
            <p:nvPr/>
          </p:nvSpPr>
          <p:spPr>
            <a:xfrm>
              <a:off x="6469380" y="3076575"/>
              <a:ext cx="3589401" cy="293370"/>
            </a:xfrm>
            <a:prstGeom prst="rect">
              <a:avLst/>
            </a:prstGeom>
            <a:noFill/>
            <a:ln>
              <a:noFill/>
            </a:ln>
          </p:spPr>
          <p:txBody>
            <a:bodyPr wrap="none" lIns="0" tIns="0" rIns="0" bIns="0" anchor="t" anchorCtr="0">
              <a:spAutoFit/>
            </a:bodyPr>
            <a:lstStyle/>
            <a:p>
              <a:pPr algn="l"/>
              <a:r>
                <a:rPr lang="en-US" sz="1500" dirty="0">
                  <a:solidFill>
                    <a:srgbClr val="334155"/>
                  </a:solidFill>
                  <a:latin typeface="+mn-lt"/>
                  <a:ea typeface="+mn-ea"/>
                  <a:cs typeface="+mn-cs"/>
                </a:rPr>
                <a:t>generalization are narrow and offer</a:t>
              </a:r>
            </a:p>
          </p:txBody>
        </p:sp>
        <p:sp>
          <p:nvSpPr>
            <p:cNvPr id="33" name="TextBox 33"/>
            <p:cNvSpPr txBox="1"/>
            <p:nvPr/>
          </p:nvSpPr>
          <p:spPr>
            <a:xfrm>
              <a:off x="6469380" y="3343275"/>
              <a:ext cx="1368171" cy="293370"/>
            </a:xfrm>
            <a:prstGeom prst="rect">
              <a:avLst/>
            </a:prstGeom>
            <a:noFill/>
            <a:ln>
              <a:noFill/>
            </a:ln>
          </p:spPr>
          <p:txBody>
            <a:bodyPr wrap="none" lIns="0" tIns="0" rIns="0" bIns="0" anchor="t" anchorCtr="0">
              <a:spAutoFit/>
            </a:bodyPr>
            <a:lstStyle/>
            <a:p>
              <a:pPr algn="l"/>
              <a:r>
                <a:rPr lang="en-US" sz="1500" dirty="0">
                  <a:solidFill>
                    <a:srgbClr val="334155"/>
                  </a:solidFill>
                  <a:latin typeface="+mn-lt"/>
                  <a:ea typeface="+mn-ea"/>
                  <a:cs typeface="+mn-cs"/>
                </a:rPr>
                <a:t>little theory.</a:t>
              </a:r>
            </a:p>
          </p:txBody>
        </p:sp>
        <p:sp>
          <p:nvSpPr>
            <p:cNvPr id="34" name="Rectangle 34"/>
            <p:cNvSpPr/>
            <p:nvPr/>
          </p:nvSpPr>
          <p:spPr>
            <a:xfrm>
              <a:off x="6477000" y="3848100"/>
              <a:ext cx="4667250" cy="1333500"/>
            </a:xfrm>
            <a:prstGeom prst="roundRect">
              <a:avLst>
                <a:gd name="adj" fmla="val 7143"/>
              </a:avLst>
            </a:prstGeom>
            <a:solidFill>
              <a:srgbClr val="FEF2F2"/>
            </a:solidFill>
            <a:ln w="14288">
              <a:solidFill>
                <a:schemeClr val="accent6"/>
              </a:solidFill>
            </a:ln>
          </p:spPr>
        </p:sp>
        <p:sp>
          <p:nvSpPr>
            <p:cNvPr id="35" name="TextBox 35"/>
            <p:cNvSpPr txBox="1"/>
            <p:nvPr/>
          </p:nvSpPr>
          <p:spPr>
            <a:xfrm>
              <a:off x="6681597" y="4047649"/>
              <a:ext cx="1534470" cy="190690"/>
            </a:xfrm>
            <a:prstGeom prst="rect">
              <a:avLst/>
            </a:prstGeom>
            <a:noFill/>
            <a:ln>
              <a:noFill/>
            </a:ln>
          </p:spPr>
          <p:txBody>
            <a:bodyPr wrap="none" lIns="0" tIns="0" rIns="0" bIns="0" anchor="t" anchorCtr="0">
              <a:spAutoFit/>
            </a:bodyPr>
            <a:lstStyle/>
            <a:p>
              <a:pPr algn="l"/>
              <a:r>
                <a:rPr lang="en-US" sz="980" b="1" spc="75" dirty="0">
                  <a:solidFill>
                    <a:schemeClr val="accent6"/>
                  </a:solidFill>
                  <a:latin typeface="+mn-lt"/>
                  <a:ea typeface="+mn-ea"/>
                  <a:cs typeface="+mn-cs"/>
                </a:rPr>
                <a:t>EASY TO REPRODUCE</a:t>
              </a:r>
            </a:p>
          </p:txBody>
        </p:sp>
        <p:sp>
          <p:nvSpPr>
            <p:cNvPr id="36" name="TextBox 36"/>
            <p:cNvSpPr txBox="1"/>
            <p:nvPr/>
          </p:nvSpPr>
          <p:spPr>
            <a:xfrm>
              <a:off x="6679692" y="4292918"/>
              <a:ext cx="3563856" cy="264033"/>
            </a:xfrm>
            <a:prstGeom prst="rect">
              <a:avLst/>
            </a:prstGeom>
            <a:noFill/>
            <a:ln>
              <a:noFill/>
            </a:ln>
          </p:spPr>
          <p:txBody>
            <a:bodyPr wrap="none" lIns="0" tIns="0" rIns="0" bIns="0" anchor="t" anchorCtr="0">
              <a:spAutoFit/>
            </a:bodyPr>
            <a:lstStyle/>
            <a:p>
              <a:pPr algn="l"/>
              <a:r>
                <a:rPr lang="en-US" sz="1350" dirty="0">
                  <a:solidFill>
                    <a:schemeClr val="accent1"/>
                  </a:solidFill>
                  <a:latin typeface="+mn-lt"/>
                  <a:ea typeface="+mn-ea"/>
                  <a:cs typeface="+mn-cs"/>
                </a:rPr>
                <a:t>Show a frontier model two simple rules,</a:t>
              </a:r>
            </a:p>
          </p:txBody>
        </p:sp>
        <p:sp>
          <p:nvSpPr>
            <p:cNvPr id="37" name="TextBox 37"/>
            <p:cNvSpPr txBox="1"/>
            <p:nvPr/>
          </p:nvSpPr>
          <p:spPr>
            <a:xfrm>
              <a:off x="6679692" y="4540568"/>
              <a:ext cx="3839280" cy="264033"/>
            </a:xfrm>
            <a:prstGeom prst="rect">
              <a:avLst/>
            </a:prstGeom>
            <a:noFill/>
            <a:ln>
              <a:noFill/>
            </a:ln>
          </p:spPr>
          <p:txBody>
            <a:bodyPr wrap="none" lIns="0" tIns="0" rIns="0" bIns="0" anchor="t" anchorCtr="0">
              <a:spAutoFit/>
            </a:bodyPr>
            <a:lstStyle/>
            <a:p>
              <a:pPr algn="l"/>
              <a:r>
                <a:rPr lang="en-US" sz="1350" dirty="0">
                  <a:solidFill>
                    <a:schemeClr val="accent1"/>
                  </a:solidFill>
                  <a:latin typeface="+mn-lt"/>
                  <a:ea typeface="+mn-ea"/>
                  <a:cs typeface="+mn-cs"/>
                </a:rPr>
                <a:t>then test both together — and it stumbles,</a:t>
              </a:r>
            </a:p>
          </p:txBody>
        </p:sp>
        <p:sp>
          <p:nvSpPr>
            <p:cNvPr id="38" name="TextBox 38"/>
            <p:cNvSpPr txBox="1"/>
            <p:nvPr/>
          </p:nvSpPr>
          <p:spPr>
            <a:xfrm>
              <a:off x="6679692" y="4788218"/>
              <a:ext cx="3203200" cy="264033"/>
            </a:xfrm>
            <a:prstGeom prst="rect">
              <a:avLst/>
            </a:prstGeom>
            <a:noFill/>
            <a:ln>
              <a:noFill/>
            </a:ln>
          </p:spPr>
          <p:txBody>
            <a:bodyPr wrap="none" lIns="0" tIns="0" rIns="0" bIns="0" anchor="t" anchorCtr="0">
              <a:spAutoFit/>
            </a:bodyPr>
            <a:lstStyle/>
            <a:p>
              <a:pPr algn="l"/>
              <a:r>
                <a:rPr lang="en-US" sz="1350" dirty="0">
                  <a:solidFill>
                    <a:schemeClr val="accent1"/>
                  </a:solidFill>
                  <a:latin typeface="+mn-lt"/>
                  <a:ea typeface="+mn-ea"/>
                  <a:cs typeface="+mn-cs"/>
                </a:rPr>
                <a:t>even though each rule alone is easy.</a:t>
              </a:r>
            </a:p>
          </p:txBody>
        </p:sp>
      </p:grpSp>
      <p:grpSp>
        <p:nvGrpSpPr>
          <p:cNvPr id="42" name="Group 42"/>
          <p:cNvGrpSpPr/>
          <p:nvPr/>
        </p:nvGrpSpPr>
        <p:grpSpPr>
          <a:xfrm>
            <a:off x="757238" y="6513195"/>
            <a:ext cx="10677525" cy="176212"/>
            <a:chOff x="757238" y="6513195"/>
            <a:chExt cx="10677525" cy="176212"/>
          </a:xfrm>
        </p:grpSpPr>
        <p:sp>
          <p:nvSpPr>
            <p:cNvPr id="40" name="TextBox 40"/>
            <p:cNvSpPr txBox="1"/>
            <p:nvPr/>
          </p:nvSpPr>
          <p:spPr>
            <a:xfrm>
              <a:off x="757238" y="6513195"/>
              <a:ext cx="1660303" cy="176212"/>
            </a:xfrm>
            <a:prstGeom prst="rect">
              <a:avLst/>
            </a:prstGeom>
            <a:noFill/>
            <a:ln>
              <a:noFill/>
            </a:ln>
          </p:spPr>
          <p:txBody>
            <a:bodyPr wrap="none" lIns="0" tIns="0" rIns="0" bIns="0" anchor="t" anchorCtr="0">
              <a:spAutoFit/>
            </a:bodyPr>
            <a:lstStyle/>
            <a:p>
              <a:pPr algn="l"/>
              <a:r>
                <a:rPr lang="en-US" sz="900" dirty="0">
                  <a:solidFill>
                    <a:srgbClr val="94A3B8"/>
                  </a:solidFill>
                  <a:latin typeface="+mn-lt"/>
                  <a:ea typeface="+mn-ea"/>
                  <a:cs typeface="+mn-cs"/>
                </a:rPr>
                <a:t>Xu, Shi &amp; Liang · COLM 2024</a:t>
              </a:r>
            </a:p>
          </p:txBody>
        </p:sp>
        <p:sp>
          <p:nvSpPr>
            <p:cNvPr id="41" name="TextBox 41"/>
            <p:cNvSpPr txBox="1"/>
            <p:nvPr/>
          </p:nvSpPr>
          <p:spPr>
            <a:xfrm>
              <a:off x="11291964" y="6513195"/>
              <a:ext cx="142799" cy="176212"/>
            </a:xfrm>
            <a:prstGeom prst="rect">
              <a:avLst/>
            </a:prstGeom>
            <a:noFill/>
            <a:ln>
              <a:noFill/>
            </a:ln>
          </p:spPr>
          <p:txBody>
            <a:bodyPr wrap="none" lIns="0" tIns="0" rIns="0" bIns="0" anchor="t" anchorCtr="0">
              <a:spAutoFit/>
            </a:bodyPr>
            <a:lstStyle/>
            <a:p>
              <a:pPr algn="r"/>
              <a:r>
                <a:rPr lang="en-US" sz="900" dirty="0">
                  <a:solidFill>
                    <a:srgbClr val="94A3B8"/>
                  </a:solidFill>
                  <a:latin typeface="+mn-lt"/>
                  <a:ea typeface="+mn-ea"/>
                  <a:cs typeface="+mn-cs"/>
                </a:rPr>
                <a:t>03</a:t>
              </a:r>
            </a:p>
          </p:txBody>
        </p:sp>
      </p:grpSp>
      <p:sp>
        <p:nvSpPr>
          <p:cNvPr id="43" name="cue_s03_c1_models_increasingly_asked_chain_skil" title="cue_s03_c1_models_increasingly_asked_chain_skil" descr="cue_s03_c1_models_increasingly_asked_chain_skil Models are increasingly asked to chain skills for real reasoning, yet we lack a clear account of when chaining works."/>
          <p:cNvSpPr/>
          <p:nvPr/>
        </p:nvSpPr>
        <p:spPr>
          <a:xfrm>
            <a:off x="762000" y="1676095"/>
            <a:ext cx="5258409" cy="37334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ue_s03_c2_prior_studies_narrow_little_theory" title="cue_s03_c2_prior_studies_narrow_little_theory" descr="cue_s03_c2_prior_studies_narrow_little_theory Prior studies are narrow with little theory, and the failure reproduces easily on frontier models."/>
          <p:cNvSpPr/>
          <p:nvPr/>
        </p:nvSpPr>
        <p:spPr>
          <a:xfrm>
            <a:off x="6171590" y="1676095"/>
            <a:ext cx="5258409" cy="37334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762000" y="628650"/>
            <a:ext cx="3941655" cy="737807"/>
            <a:chOff x="762000" y="628650"/>
            <a:chExt cx="3941655" cy="737807"/>
          </a:xfrm>
        </p:grpSpPr>
        <p:sp>
          <p:nvSpPr>
            <p:cNvPr id="2" name="Rectangle 2"/>
            <p:cNvSpPr/>
            <p:nvPr/>
          </p:nvSpPr>
          <p:spPr>
            <a:xfrm>
              <a:off x="762000" y="628650"/>
              <a:ext cx="57150" cy="381000"/>
            </a:xfrm>
            <a:prstGeom prst="rect">
              <a:avLst/>
            </a:prstGeom>
            <a:solidFill>
              <a:schemeClr val="accent2"/>
            </a:solidFill>
            <a:ln>
              <a:noFill/>
            </a:ln>
          </p:spPr>
        </p:sp>
        <p:sp>
          <p:nvSpPr>
            <p:cNvPr id="3" name="TextBox 3"/>
            <p:cNvSpPr txBox="1"/>
            <p:nvPr/>
          </p:nvSpPr>
          <p:spPr>
            <a:xfrm>
              <a:off x="947547" y="751999"/>
              <a:ext cx="1297811" cy="190690"/>
            </a:xfrm>
            <a:prstGeom prst="rect">
              <a:avLst/>
            </a:prstGeom>
            <a:noFill/>
            <a:ln>
              <a:noFill/>
            </a:ln>
          </p:spPr>
          <p:txBody>
            <a:bodyPr wrap="none" lIns="0" tIns="0" rIns="0" bIns="0" anchor="t" anchorCtr="0">
              <a:spAutoFit/>
            </a:bodyPr>
            <a:lstStyle/>
            <a:p>
              <a:pPr algn="l"/>
              <a:r>
                <a:rPr lang="en-US" sz="980" b="1" spc="150" dirty="0">
                  <a:solidFill>
                    <a:schemeClr val="accent2"/>
                  </a:solidFill>
                  <a:latin typeface="+mn-lt"/>
                  <a:ea typeface="+mn-ea"/>
                  <a:cs typeface="+mn-cs"/>
                </a:rPr>
                <a:t>CONTRIBUTIONS</a:t>
              </a:r>
            </a:p>
          </p:txBody>
        </p:sp>
        <p:sp>
          <p:nvSpPr>
            <p:cNvPr id="4" name="TextBox 4"/>
            <p:cNvSpPr txBox="1"/>
            <p:nvPr/>
          </p:nvSpPr>
          <p:spPr>
            <a:xfrm>
              <a:off x="939546" y="867728"/>
              <a:ext cx="3764109"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j-lt"/>
                  <a:ea typeface="+mj-ea"/>
                  <a:cs typeface="+mj-cs"/>
                </a:rPr>
                <a:t>Three contributions</a:t>
              </a:r>
            </a:p>
          </p:txBody>
        </p:sp>
      </p:grpSp>
      <p:grpSp>
        <p:nvGrpSpPr>
          <p:cNvPr id="35" name="Group 35"/>
          <p:cNvGrpSpPr/>
          <p:nvPr/>
        </p:nvGrpSpPr>
        <p:grpSpPr>
          <a:xfrm>
            <a:off x="762000" y="1733550"/>
            <a:ext cx="10668000" cy="3619500"/>
            <a:chOff x="762000" y="1733550"/>
            <a:chExt cx="10668000" cy="3619500"/>
          </a:xfrm>
        </p:grpSpPr>
        <p:grpSp>
          <p:nvGrpSpPr>
            <p:cNvPr id="15" name="Group 15"/>
            <p:cNvGrpSpPr/>
            <p:nvPr/>
          </p:nvGrpSpPr>
          <p:grpSpPr>
            <a:xfrm>
              <a:off x="762000" y="1733550"/>
              <a:ext cx="3429000" cy="3619500"/>
              <a:chOff x="762000" y="1733550"/>
              <a:chExt cx="3429000" cy="3619500"/>
            </a:xfrm>
          </p:grpSpPr>
          <p:sp>
            <p:nvSpPr>
              <p:cNvPr id="6" name="Rectangle 6"/>
              <p:cNvSpPr/>
              <p:nvPr/>
            </p:nvSpPr>
            <p:spPr>
              <a:xfrm>
                <a:off x="762000" y="1733550"/>
                <a:ext cx="3429000" cy="3619500"/>
              </a:xfrm>
              <a:prstGeom prst="roundRect">
                <a:avLst>
                  <a:gd name="adj" fmla="val 3889"/>
                </a:avLst>
              </a:prstGeom>
              <a:solidFill>
                <a:schemeClr val="lt1"/>
              </a:solidFill>
              <a:ln w="14288">
                <a:solidFill>
                  <a:schemeClr val="accent4"/>
                </a:solidFill>
              </a:ln>
              <a:effectLst>
                <a:outerShdw blurRad="76200" dist="28575" dir="5400000" algn="ctr" rotWithShape="0">
                  <a:srgbClr val="1E293B">
                    <a:alpha val="5250"/>
                  </a:srgbClr>
                </a:outerShdw>
              </a:effectLst>
            </p:spPr>
          </p:sp>
          <p:sp>
            <p:nvSpPr>
              <p:cNvPr id="7" name="Rectangle 7"/>
              <p:cNvSpPr/>
              <p:nvPr/>
            </p:nvSpPr>
            <p:spPr>
              <a:xfrm>
                <a:off x="762000" y="1733550"/>
                <a:ext cx="3429000" cy="76200"/>
              </a:xfrm>
              <a:prstGeom prst="roundRect">
                <a:avLst>
                  <a:gd name="adj" fmla="val 50000"/>
                </a:avLst>
              </a:prstGeom>
              <a:solidFill>
                <a:schemeClr val="accent2"/>
              </a:solidFill>
              <a:ln>
                <a:noFill/>
              </a:ln>
            </p:spPr>
          </p:sp>
          <p:sp>
            <p:nvSpPr>
              <p:cNvPr id="8" name="TextBox 8"/>
              <p:cNvSpPr txBox="1"/>
              <p:nvPr/>
            </p:nvSpPr>
            <p:spPr>
              <a:xfrm>
                <a:off x="1050036" y="2044065"/>
                <a:ext cx="575676" cy="645414"/>
              </a:xfrm>
              <a:prstGeom prst="rect">
                <a:avLst/>
              </a:prstGeom>
              <a:noFill/>
              <a:ln>
                <a:noFill/>
              </a:ln>
            </p:spPr>
            <p:txBody>
              <a:bodyPr wrap="none" lIns="0" tIns="0" rIns="0" bIns="0" anchor="t" anchorCtr="0">
                <a:spAutoFit/>
              </a:bodyPr>
              <a:lstStyle/>
              <a:p>
                <a:pPr algn="l"/>
                <a:r>
                  <a:rPr lang="en-US" sz="3300" b="1" dirty="0">
                    <a:solidFill>
                      <a:srgbClr val="EEF2FF"/>
                    </a:solidFill>
                    <a:latin typeface="+mj-lt"/>
                    <a:ea typeface="+mj-ea"/>
                    <a:cs typeface="+mj-cs"/>
                  </a:rPr>
                  <a:t>01</a:t>
                </a:r>
              </a:p>
            </p:txBody>
          </p:sp>
          <p:sp>
            <p:nvSpPr>
              <p:cNvPr id="9" name="TextBox 9"/>
              <p:cNvSpPr txBox="1"/>
              <p:nvPr/>
            </p:nvSpPr>
            <p:spPr>
              <a:xfrm>
                <a:off x="1057656" y="2663190"/>
                <a:ext cx="1624665"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j-lt"/>
                    <a:ea typeface="+mj-ea"/>
                    <a:cs typeface="+mj-cs"/>
                  </a:rPr>
                  <a:t>A test suite</a:t>
                </a:r>
              </a:p>
            </p:txBody>
          </p:sp>
          <p:sp>
            <p:nvSpPr>
              <p:cNvPr id="10" name="TextBox 10"/>
              <p:cNvSpPr txBox="1"/>
              <p:nvPr/>
            </p:nvSpPr>
            <p:spPr>
              <a:xfrm>
                <a:off x="1059561" y="3122771"/>
                <a:ext cx="1950662" cy="278702"/>
              </a:xfrm>
              <a:prstGeom prst="rect">
                <a:avLst/>
              </a:prstGeom>
              <a:noFill/>
              <a:ln>
                <a:noFill/>
              </a:ln>
            </p:spPr>
            <p:txBody>
              <a:bodyPr wrap="none" lIns="0" tIns="0" rIns="0" bIns="0" anchor="t" anchorCtr="0">
                <a:spAutoFit/>
              </a:bodyPr>
              <a:lstStyle/>
              <a:p>
                <a:pPr algn="l"/>
                <a:r>
                  <a:rPr lang="en-US" sz="1420" dirty="0">
                    <a:solidFill>
                      <a:srgbClr val="334155"/>
                    </a:solidFill>
                    <a:latin typeface="+mn-lt"/>
                    <a:ea typeface="+mn-ea"/>
                    <a:cs typeface="+mn-cs"/>
                  </a:rPr>
                  <a:t>Linguistic and logical</a:t>
                </a:r>
              </a:p>
            </p:txBody>
          </p:sp>
          <p:sp>
            <p:nvSpPr>
              <p:cNvPr id="11" name="TextBox 11"/>
              <p:cNvSpPr txBox="1"/>
              <p:nvPr/>
            </p:nvSpPr>
            <p:spPr>
              <a:xfrm>
                <a:off x="1059561" y="3370421"/>
                <a:ext cx="2480447" cy="278702"/>
              </a:xfrm>
              <a:prstGeom prst="rect">
                <a:avLst/>
              </a:prstGeom>
              <a:noFill/>
              <a:ln>
                <a:noFill/>
              </a:ln>
            </p:spPr>
            <p:txBody>
              <a:bodyPr wrap="none" lIns="0" tIns="0" rIns="0" bIns="0" anchor="t" anchorCtr="0">
                <a:spAutoFit/>
              </a:bodyPr>
              <a:lstStyle/>
              <a:p>
                <a:pPr algn="l"/>
                <a:r>
                  <a:rPr lang="en-US" sz="1420" dirty="0">
                    <a:solidFill>
                      <a:srgbClr val="334155"/>
                    </a:solidFill>
                    <a:latin typeface="+mn-lt"/>
                    <a:ea typeface="+mn-ea"/>
                    <a:cs typeface="+mn-cs"/>
                  </a:rPr>
                  <a:t>composite tasks, with the</a:t>
                </a:r>
              </a:p>
            </p:txBody>
          </p:sp>
          <p:sp>
            <p:nvSpPr>
              <p:cNvPr id="12" name="TextBox 12"/>
              <p:cNvSpPr txBox="1"/>
              <p:nvPr/>
            </p:nvSpPr>
            <p:spPr>
              <a:xfrm>
                <a:off x="1059561" y="3618071"/>
                <a:ext cx="2528237" cy="278702"/>
              </a:xfrm>
              <a:prstGeom prst="rect">
                <a:avLst/>
              </a:prstGeom>
              <a:noFill/>
              <a:ln>
                <a:noFill/>
              </a:ln>
            </p:spPr>
            <p:txBody>
              <a:bodyPr wrap="none" lIns="0" tIns="0" rIns="0" bIns="0" anchor="t" anchorCtr="0">
                <a:spAutoFit/>
              </a:bodyPr>
              <a:lstStyle/>
              <a:p>
                <a:pPr algn="l"/>
                <a:r>
                  <a:rPr lang="en-US" sz="1420" dirty="0">
                    <a:solidFill>
                      <a:srgbClr val="334155"/>
                    </a:solidFill>
                    <a:latin typeface="+mn-lt"/>
                    <a:ea typeface="+mn-ea"/>
                    <a:cs typeface="+mn-cs"/>
                  </a:rPr>
                  <a:t>in-context examples drawn</a:t>
                </a:r>
              </a:p>
            </p:txBody>
          </p:sp>
          <p:sp>
            <p:nvSpPr>
              <p:cNvPr id="13" name="TextBox 13"/>
              <p:cNvSpPr txBox="1"/>
              <p:nvPr/>
            </p:nvSpPr>
            <p:spPr>
              <a:xfrm>
                <a:off x="1059561" y="3865721"/>
                <a:ext cx="1906966" cy="278702"/>
              </a:xfrm>
              <a:prstGeom prst="rect">
                <a:avLst/>
              </a:prstGeom>
              <a:noFill/>
              <a:ln>
                <a:noFill/>
              </a:ln>
            </p:spPr>
            <p:txBody>
              <a:bodyPr wrap="none" lIns="0" tIns="0" rIns="0" bIns="0" anchor="t" anchorCtr="0">
                <a:spAutoFit/>
              </a:bodyPr>
              <a:lstStyle/>
              <a:p>
                <a:pPr algn="l"/>
                <a:r>
                  <a:rPr lang="en-US" sz="1420" dirty="0">
                    <a:solidFill>
                      <a:srgbClr val="334155"/>
                    </a:solidFill>
                    <a:latin typeface="+mn-lt"/>
                    <a:ea typeface="+mn-ea"/>
                    <a:cs typeface="+mn-cs"/>
                  </a:rPr>
                  <a:t>only from the simple</a:t>
                </a:r>
              </a:p>
            </p:txBody>
          </p:sp>
          <p:sp>
            <p:nvSpPr>
              <p:cNvPr id="14" name="TextBox 14"/>
              <p:cNvSpPr txBox="1"/>
              <p:nvPr/>
            </p:nvSpPr>
            <p:spPr>
              <a:xfrm>
                <a:off x="1059561" y="4113371"/>
                <a:ext cx="1065860" cy="278702"/>
              </a:xfrm>
              <a:prstGeom prst="rect">
                <a:avLst/>
              </a:prstGeom>
              <a:noFill/>
              <a:ln>
                <a:noFill/>
              </a:ln>
            </p:spPr>
            <p:txBody>
              <a:bodyPr wrap="none" lIns="0" tIns="0" rIns="0" bIns="0" anchor="t" anchorCtr="0">
                <a:spAutoFit/>
              </a:bodyPr>
              <a:lstStyle/>
              <a:p>
                <a:pPr algn="l"/>
                <a:r>
                  <a:rPr lang="en-US" sz="1420" dirty="0">
                    <a:solidFill>
                      <a:srgbClr val="334155"/>
                    </a:solidFill>
                    <a:latin typeface="+mn-lt"/>
                    <a:ea typeface="+mn-ea"/>
                    <a:cs typeface="+mn-cs"/>
                  </a:rPr>
                  <a:t>sub-tasks.</a:t>
                </a:r>
              </a:p>
            </p:txBody>
          </p:sp>
        </p:grpSp>
        <p:grpSp>
          <p:nvGrpSpPr>
            <p:cNvPr id="24" name="Group 24"/>
            <p:cNvGrpSpPr/>
            <p:nvPr/>
          </p:nvGrpSpPr>
          <p:grpSpPr>
            <a:xfrm>
              <a:off x="4381500" y="1733550"/>
              <a:ext cx="3429000" cy="3619500"/>
              <a:chOff x="4381500" y="1733550"/>
              <a:chExt cx="3429000" cy="3619500"/>
            </a:xfrm>
          </p:grpSpPr>
          <p:sp>
            <p:nvSpPr>
              <p:cNvPr id="16" name="Rectangle 16"/>
              <p:cNvSpPr/>
              <p:nvPr/>
            </p:nvSpPr>
            <p:spPr>
              <a:xfrm>
                <a:off x="4381500" y="1733550"/>
                <a:ext cx="3429000" cy="3619500"/>
              </a:xfrm>
              <a:prstGeom prst="roundRect">
                <a:avLst>
                  <a:gd name="adj" fmla="val 3889"/>
                </a:avLst>
              </a:prstGeom>
              <a:solidFill>
                <a:schemeClr val="lt1"/>
              </a:solidFill>
              <a:ln w="14288">
                <a:solidFill>
                  <a:schemeClr val="accent4"/>
                </a:solidFill>
              </a:ln>
              <a:effectLst>
                <a:outerShdw blurRad="76200" dist="28575" dir="5400000" algn="ctr" rotWithShape="0">
                  <a:srgbClr val="1E293B">
                    <a:alpha val="5250"/>
                  </a:srgbClr>
                </a:outerShdw>
              </a:effectLst>
            </p:spPr>
          </p:sp>
          <p:sp>
            <p:nvSpPr>
              <p:cNvPr id="17" name="Rectangle 17"/>
              <p:cNvSpPr/>
              <p:nvPr/>
            </p:nvSpPr>
            <p:spPr>
              <a:xfrm>
                <a:off x="4381500" y="1733550"/>
                <a:ext cx="3429000" cy="76200"/>
              </a:xfrm>
              <a:prstGeom prst="roundRect">
                <a:avLst>
                  <a:gd name="adj" fmla="val 50000"/>
                </a:avLst>
              </a:prstGeom>
              <a:solidFill>
                <a:schemeClr val="accent3"/>
              </a:solidFill>
              <a:ln>
                <a:noFill/>
              </a:ln>
            </p:spPr>
          </p:sp>
          <p:sp>
            <p:nvSpPr>
              <p:cNvPr id="18" name="TextBox 18"/>
              <p:cNvSpPr txBox="1"/>
              <p:nvPr/>
            </p:nvSpPr>
            <p:spPr>
              <a:xfrm>
                <a:off x="4669536" y="2044065"/>
                <a:ext cx="575676" cy="645414"/>
              </a:xfrm>
              <a:prstGeom prst="rect">
                <a:avLst/>
              </a:prstGeom>
              <a:noFill/>
              <a:ln>
                <a:noFill/>
              </a:ln>
            </p:spPr>
            <p:txBody>
              <a:bodyPr wrap="none" lIns="0" tIns="0" rIns="0" bIns="0" anchor="t" anchorCtr="0">
                <a:spAutoFit/>
              </a:bodyPr>
              <a:lstStyle/>
              <a:p>
                <a:pPr algn="l"/>
                <a:r>
                  <a:rPr lang="en-US" sz="3300" b="1" dirty="0">
                    <a:solidFill>
                      <a:srgbClr val="E0F2FE"/>
                    </a:solidFill>
                    <a:latin typeface="+mj-lt"/>
                    <a:ea typeface="+mj-ea"/>
                    <a:cs typeface="+mj-cs"/>
                  </a:rPr>
                  <a:t>02</a:t>
                </a:r>
              </a:p>
            </p:txBody>
          </p:sp>
          <p:sp>
            <p:nvSpPr>
              <p:cNvPr id="19" name="TextBox 19"/>
              <p:cNvSpPr txBox="1"/>
              <p:nvPr/>
            </p:nvSpPr>
            <p:spPr>
              <a:xfrm>
                <a:off x="4677156" y="2663190"/>
                <a:ext cx="3007142"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j-lt"/>
                    <a:ea typeface="+mj-ea"/>
                    <a:cs typeface="+mj-cs"/>
                  </a:rPr>
                  <a:t>An empirical dichotomy</a:t>
                </a:r>
              </a:p>
            </p:txBody>
          </p:sp>
          <p:sp>
            <p:nvSpPr>
              <p:cNvPr id="20" name="TextBox 20"/>
              <p:cNvSpPr txBox="1"/>
              <p:nvPr/>
            </p:nvSpPr>
            <p:spPr>
              <a:xfrm>
                <a:off x="4679061" y="3122771"/>
                <a:ext cx="2305002" cy="278702"/>
              </a:xfrm>
              <a:prstGeom prst="rect">
                <a:avLst/>
              </a:prstGeom>
              <a:noFill/>
              <a:ln>
                <a:noFill/>
              </a:ln>
            </p:spPr>
            <p:txBody>
              <a:bodyPr wrap="none" lIns="0" tIns="0" rIns="0" bIns="0" anchor="t" anchorCtr="0">
                <a:spAutoFit/>
              </a:bodyPr>
              <a:lstStyle/>
              <a:p>
                <a:pPr algn="l"/>
                <a:r>
                  <a:rPr lang="en-US" sz="1420" dirty="0">
                    <a:solidFill>
                      <a:srgbClr val="334155"/>
                    </a:solidFill>
                    <a:latin typeface="+mn-lt"/>
                    <a:ea typeface="+mn-ea"/>
                    <a:cs typeface="+mn-cs"/>
                  </a:rPr>
                  <a:t>Running the suite across</a:t>
                </a:r>
              </a:p>
            </p:txBody>
          </p:sp>
          <p:sp>
            <p:nvSpPr>
              <p:cNvPr id="21" name="TextBox 21"/>
              <p:cNvSpPr txBox="1"/>
              <p:nvPr/>
            </p:nvSpPr>
            <p:spPr>
              <a:xfrm>
                <a:off x="4679061" y="3370421"/>
                <a:ext cx="2467200" cy="278702"/>
              </a:xfrm>
              <a:prstGeom prst="rect">
                <a:avLst/>
              </a:prstGeom>
              <a:noFill/>
              <a:ln>
                <a:noFill/>
              </a:ln>
            </p:spPr>
            <p:txBody>
              <a:bodyPr wrap="none" lIns="0" tIns="0" rIns="0" bIns="0" anchor="t" anchorCtr="0">
                <a:spAutoFit/>
              </a:bodyPr>
              <a:lstStyle/>
              <a:p>
                <a:pPr algn="l"/>
                <a:r>
                  <a:rPr lang="en-US" sz="1420" dirty="0">
                    <a:solidFill>
                      <a:srgbClr val="334155"/>
                    </a:solidFill>
                    <a:latin typeface="+mn-lt"/>
                    <a:ea typeface="+mn-ea"/>
                    <a:cs typeface="+mn-cs"/>
                  </a:rPr>
                  <a:t>the Llama and GPT families</a:t>
                </a:r>
              </a:p>
            </p:txBody>
          </p:sp>
          <p:sp>
            <p:nvSpPr>
              <p:cNvPr id="22" name="TextBox 22"/>
              <p:cNvSpPr txBox="1"/>
              <p:nvPr/>
            </p:nvSpPr>
            <p:spPr>
              <a:xfrm>
                <a:off x="4679061" y="3618071"/>
                <a:ext cx="2289287" cy="278702"/>
              </a:xfrm>
              <a:prstGeom prst="rect">
                <a:avLst/>
              </a:prstGeom>
              <a:noFill/>
              <a:ln>
                <a:noFill/>
              </a:ln>
            </p:spPr>
            <p:txBody>
              <a:bodyPr wrap="none" lIns="0" tIns="0" rIns="0" bIns="0" anchor="t" anchorCtr="0">
                <a:spAutoFit/>
              </a:bodyPr>
              <a:lstStyle/>
              <a:p>
                <a:pPr algn="l"/>
                <a:r>
                  <a:rPr lang="en-US" sz="1420" dirty="0">
                    <a:solidFill>
                      <a:srgbClr val="334155"/>
                    </a:solidFill>
                    <a:latin typeface="+mn-lt"/>
                    <a:ea typeface="+mn-ea"/>
                    <a:cs typeface="+mn-cs"/>
                  </a:rPr>
                  <a:t>at many scales reveals a</a:t>
                </a:r>
              </a:p>
            </p:txBody>
          </p:sp>
          <p:sp>
            <p:nvSpPr>
              <p:cNvPr id="23" name="TextBox 23"/>
              <p:cNvSpPr txBox="1"/>
              <p:nvPr/>
            </p:nvSpPr>
            <p:spPr>
              <a:xfrm>
                <a:off x="4679061" y="3865721"/>
                <a:ext cx="2155474" cy="278702"/>
              </a:xfrm>
              <a:prstGeom prst="rect">
                <a:avLst/>
              </a:prstGeom>
              <a:noFill/>
              <a:ln>
                <a:noFill/>
              </a:ln>
            </p:spPr>
            <p:txBody>
              <a:bodyPr wrap="none" lIns="0" tIns="0" rIns="0" bIns="0" anchor="t" anchorCtr="0">
                <a:spAutoFit/>
              </a:bodyPr>
              <a:lstStyle/>
              <a:p>
                <a:pPr algn="l"/>
                <a:r>
                  <a:rPr lang="en-US" sz="1420" dirty="0">
                    <a:solidFill>
                      <a:srgbClr val="334155"/>
                    </a:solidFill>
                    <a:latin typeface="+mn-lt"/>
                    <a:ea typeface="+mn-ea"/>
                    <a:cs typeface="+mn-cs"/>
                  </a:rPr>
                  <a:t>clear split in behavior.</a:t>
                </a:r>
              </a:p>
            </p:txBody>
          </p:sp>
        </p:grpSp>
        <p:grpSp>
          <p:nvGrpSpPr>
            <p:cNvPr id="34" name="Group 34"/>
            <p:cNvGrpSpPr/>
            <p:nvPr/>
          </p:nvGrpSpPr>
          <p:grpSpPr>
            <a:xfrm>
              <a:off x="8001000" y="1733550"/>
              <a:ext cx="3429000" cy="3619500"/>
              <a:chOff x="8001000" y="1733550"/>
              <a:chExt cx="3429000" cy="3619500"/>
            </a:xfrm>
          </p:grpSpPr>
          <p:sp>
            <p:nvSpPr>
              <p:cNvPr id="25" name="Rectangle 25"/>
              <p:cNvSpPr/>
              <p:nvPr/>
            </p:nvSpPr>
            <p:spPr>
              <a:xfrm>
                <a:off x="8001000" y="1733550"/>
                <a:ext cx="3429000" cy="3619500"/>
              </a:xfrm>
              <a:prstGeom prst="roundRect">
                <a:avLst>
                  <a:gd name="adj" fmla="val 3889"/>
                </a:avLst>
              </a:prstGeom>
              <a:solidFill>
                <a:schemeClr val="lt1"/>
              </a:solidFill>
              <a:ln w="14288">
                <a:solidFill>
                  <a:schemeClr val="accent4"/>
                </a:solidFill>
              </a:ln>
              <a:effectLst>
                <a:outerShdw blurRad="76200" dist="28575" dir="5400000" algn="ctr" rotWithShape="0">
                  <a:srgbClr val="1E293B">
                    <a:alpha val="5250"/>
                  </a:srgbClr>
                </a:outerShdw>
              </a:effectLst>
            </p:spPr>
          </p:sp>
          <p:sp>
            <p:nvSpPr>
              <p:cNvPr id="26" name="Rectangle 26"/>
              <p:cNvSpPr/>
              <p:nvPr/>
            </p:nvSpPr>
            <p:spPr>
              <a:xfrm>
                <a:off x="8001000" y="1733550"/>
                <a:ext cx="3429000" cy="76200"/>
              </a:xfrm>
              <a:prstGeom prst="roundRect">
                <a:avLst>
                  <a:gd name="adj" fmla="val 50000"/>
                </a:avLst>
              </a:prstGeom>
              <a:solidFill>
                <a:schemeClr val="accent5"/>
              </a:solidFill>
              <a:ln>
                <a:noFill/>
              </a:ln>
            </p:spPr>
          </p:sp>
          <p:sp>
            <p:nvSpPr>
              <p:cNvPr id="27" name="TextBox 27"/>
              <p:cNvSpPr txBox="1"/>
              <p:nvPr/>
            </p:nvSpPr>
            <p:spPr>
              <a:xfrm>
                <a:off x="8289036" y="2044065"/>
                <a:ext cx="575676" cy="645414"/>
              </a:xfrm>
              <a:prstGeom prst="rect">
                <a:avLst/>
              </a:prstGeom>
              <a:noFill/>
              <a:ln>
                <a:noFill/>
              </a:ln>
            </p:spPr>
            <p:txBody>
              <a:bodyPr wrap="none" lIns="0" tIns="0" rIns="0" bIns="0" anchor="t" anchorCtr="0">
                <a:spAutoFit/>
              </a:bodyPr>
              <a:lstStyle/>
              <a:p>
                <a:pPr algn="l"/>
                <a:r>
                  <a:rPr lang="en-US" sz="3300" b="1" dirty="0">
                    <a:solidFill>
                      <a:srgbClr val="ECFDF5"/>
                    </a:solidFill>
                    <a:latin typeface="+mj-lt"/>
                    <a:ea typeface="+mj-ea"/>
                    <a:cs typeface="+mj-cs"/>
                  </a:rPr>
                  <a:t>03</a:t>
                </a:r>
              </a:p>
            </p:txBody>
          </p:sp>
          <p:sp>
            <p:nvSpPr>
              <p:cNvPr id="28" name="TextBox 28"/>
              <p:cNvSpPr txBox="1"/>
              <p:nvPr/>
            </p:nvSpPr>
            <p:spPr>
              <a:xfrm>
                <a:off x="8296656" y="2663190"/>
                <a:ext cx="2658844"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j-lt"/>
                    <a:ea typeface="+mj-ea"/>
                    <a:cs typeface="+mj-cs"/>
                  </a:rPr>
                  <a:t>A supporting theory</a:t>
                </a:r>
              </a:p>
            </p:txBody>
          </p:sp>
          <p:sp>
            <p:nvSpPr>
              <p:cNvPr id="29" name="TextBox 29"/>
              <p:cNvSpPr txBox="1"/>
              <p:nvPr/>
            </p:nvSpPr>
            <p:spPr>
              <a:xfrm>
                <a:off x="8298561" y="3122771"/>
                <a:ext cx="2151949" cy="278702"/>
              </a:xfrm>
              <a:prstGeom prst="rect">
                <a:avLst/>
              </a:prstGeom>
              <a:noFill/>
              <a:ln>
                <a:noFill/>
              </a:ln>
            </p:spPr>
            <p:txBody>
              <a:bodyPr wrap="none" lIns="0" tIns="0" rIns="0" bIns="0" anchor="t" anchorCtr="0">
                <a:spAutoFit/>
              </a:bodyPr>
              <a:lstStyle/>
              <a:p>
                <a:pPr algn="l"/>
                <a:r>
                  <a:rPr lang="en-US" sz="1420" dirty="0">
                    <a:solidFill>
                      <a:srgbClr val="334155"/>
                    </a:solidFill>
                    <a:latin typeface="+mn-lt"/>
                    <a:ea typeface="+mn-ea"/>
                    <a:cs typeface="+mn-cs"/>
                  </a:rPr>
                  <a:t>A linear self-attention</a:t>
                </a:r>
              </a:p>
            </p:txBody>
          </p:sp>
          <p:sp>
            <p:nvSpPr>
              <p:cNvPr id="30" name="TextBox 30"/>
              <p:cNvSpPr txBox="1"/>
              <p:nvPr/>
            </p:nvSpPr>
            <p:spPr>
              <a:xfrm>
                <a:off x="8298561" y="3370421"/>
                <a:ext cx="2241497" cy="278702"/>
              </a:xfrm>
              <a:prstGeom prst="rect">
                <a:avLst/>
              </a:prstGeom>
              <a:noFill/>
              <a:ln>
                <a:noFill/>
              </a:ln>
            </p:spPr>
            <p:txBody>
              <a:bodyPr wrap="none" lIns="0" tIns="0" rIns="0" bIns="0" anchor="t" anchorCtr="0">
                <a:spAutoFit/>
              </a:bodyPr>
              <a:lstStyle/>
              <a:p>
                <a:pPr algn="l"/>
                <a:r>
                  <a:rPr lang="en-US" sz="1420" dirty="0">
                    <a:solidFill>
                      <a:srgbClr val="334155"/>
                    </a:solidFill>
                    <a:latin typeface="+mn-lt"/>
                    <a:ea typeface="+mn-ea"/>
                    <a:cs typeface="+mn-cs"/>
                  </a:rPr>
                  <a:t>model explains precisely</a:t>
                </a:r>
              </a:p>
            </p:txBody>
          </p:sp>
          <p:sp>
            <p:nvSpPr>
              <p:cNvPr id="31" name="TextBox 31"/>
              <p:cNvSpPr txBox="1"/>
              <p:nvPr/>
            </p:nvSpPr>
            <p:spPr>
              <a:xfrm>
                <a:off x="8298561" y="3618071"/>
                <a:ext cx="2442215" cy="278702"/>
              </a:xfrm>
              <a:prstGeom prst="rect">
                <a:avLst/>
              </a:prstGeom>
              <a:noFill/>
              <a:ln>
                <a:noFill/>
              </a:ln>
            </p:spPr>
            <p:txBody>
              <a:bodyPr wrap="none" lIns="0" tIns="0" rIns="0" bIns="0" anchor="t" anchorCtr="0">
                <a:spAutoFit/>
              </a:bodyPr>
              <a:lstStyle/>
              <a:p>
                <a:pPr algn="l"/>
                <a:r>
                  <a:rPr lang="en-US" sz="1420" dirty="0">
                    <a:solidFill>
                      <a:srgbClr val="334155"/>
                    </a:solidFill>
                    <a:latin typeface="+mn-lt"/>
                    <a:ea typeface="+mn-ea"/>
                    <a:cs typeface="+mn-cs"/>
                  </a:rPr>
                  <a:t>when compositional ability</a:t>
                </a:r>
              </a:p>
            </p:txBody>
          </p:sp>
          <p:sp>
            <p:nvSpPr>
              <p:cNvPr id="32" name="TextBox 32"/>
              <p:cNvSpPr txBox="1"/>
              <p:nvPr/>
            </p:nvSpPr>
            <p:spPr>
              <a:xfrm>
                <a:off x="8298561" y="3865721"/>
                <a:ext cx="2375309" cy="278702"/>
              </a:xfrm>
              <a:prstGeom prst="rect">
                <a:avLst/>
              </a:prstGeom>
              <a:noFill/>
              <a:ln>
                <a:noFill/>
              </a:ln>
            </p:spPr>
            <p:txBody>
              <a:bodyPr wrap="none" lIns="0" tIns="0" rIns="0" bIns="0" anchor="t" anchorCtr="0">
                <a:spAutoFit/>
              </a:bodyPr>
              <a:lstStyle/>
              <a:p>
                <a:pPr algn="l"/>
                <a:r>
                  <a:rPr lang="en-US" sz="1420" dirty="0">
                    <a:solidFill>
                      <a:srgbClr val="334155"/>
                    </a:solidFill>
                    <a:latin typeface="+mn-lt"/>
                    <a:ea typeface="+mn-ea"/>
                    <a:cs typeface="+mn-cs"/>
                  </a:rPr>
                  <a:t>emerges — and when scale</a:t>
                </a:r>
              </a:p>
            </p:txBody>
          </p:sp>
          <p:sp>
            <p:nvSpPr>
              <p:cNvPr id="33" name="TextBox 33"/>
              <p:cNvSpPr txBox="1"/>
              <p:nvPr/>
            </p:nvSpPr>
            <p:spPr>
              <a:xfrm>
                <a:off x="8298561" y="4113371"/>
                <a:ext cx="597517" cy="278702"/>
              </a:xfrm>
              <a:prstGeom prst="rect">
                <a:avLst/>
              </a:prstGeom>
              <a:noFill/>
              <a:ln>
                <a:noFill/>
              </a:ln>
            </p:spPr>
            <p:txBody>
              <a:bodyPr wrap="none" lIns="0" tIns="0" rIns="0" bIns="0" anchor="t" anchorCtr="0">
                <a:spAutoFit/>
              </a:bodyPr>
              <a:lstStyle/>
              <a:p>
                <a:pPr algn="l"/>
                <a:r>
                  <a:rPr lang="en-US" sz="1420" dirty="0">
                    <a:solidFill>
                      <a:srgbClr val="334155"/>
                    </a:solidFill>
                    <a:latin typeface="+mn-lt"/>
                    <a:ea typeface="+mn-ea"/>
                    <a:cs typeface="+mn-cs"/>
                  </a:rPr>
                  <a:t>helps.</a:t>
                </a:r>
              </a:p>
            </p:txBody>
          </p:sp>
        </p:grpSp>
      </p:grpSp>
      <p:grpSp>
        <p:nvGrpSpPr>
          <p:cNvPr id="39" name="Group 39"/>
          <p:cNvGrpSpPr/>
          <p:nvPr/>
        </p:nvGrpSpPr>
        <p:grpSpPr>
          <a:xfrm>
            <a:off x="755523" y="5767864"/>
            <a:ext cx="10679240" cy="921543"/>
            <a:chOff x="755523" y="5767864"/>
            <a:chExt cx="10679240" cy="921543"/>
          </a:xfrm>
        </p:grpSpPr>
        <p:sp>
          <p:nvSpPr>
            <p:cNvPr id="36" name="TextBox 36"/>
            <p:cNvSpPr txBox="1"/>
            <p:nvPr/>
          </p:nvSpPr>
          <p:spPr>
            <a:xfrm>
              <a:off x="755523" y="5767864"/>
              <a:ext cx="8565608"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Structure of a task predicts whether more scale will help — the thread running through every result.</a:t>
              </a:r>
            </a:p>
          </p:txBody>
        </p:sp>
        <p:sp>
          <p:nvSpPr>
            <p:cNvPr id="37" name="TextBox 37"/>
            <p:cNvSpPr txBox="1"/>
            <p:nvPr/>
          </p:nvSpPr>
          <p:spPr>
            <a:xfrm>
              <a:off x="757238" y="6513195"/>
              <a:ext cx="1660303" cy="176212"/>
            </a:xfrm>
            <a:prstGeom prst="rect">
              <a:avLst/>
            </a:prstGeom>
            <a:noFill/>
            <a:ln>
              <a:noFill/>
            </a:ln>
          </p:spPr>
          <p:txBody>
            <a:bodyPr wrap="none" lIns="0" tIns="0" rIns="0" bIns="0" anchor="t" anchorCtr="0">
              <a:spAutoFit/>
            </a:bodyPr>
            <a:lstStyle/>
            <a:p>
              <a:pPr algn="l"/>
              <a:r>
                <a:rPr lang="en-US" sz="900" dirty="0">
                  <a:solidFill>
                    <a:srgbClr val="94A3B8"/>
                  </a:solidFill>
                  <a:latin typeface="+mn-lt"/>
                  <a:ea typeface="+mn-ea"/>
                  <a:cs typeface="+mn-cs"/>
                </a:rPr>
                <a:t>Xu, Shi &amp; Liang · COLM 2024</a:t>
              </a:r>
            </a:p>
          </p:txBody>
        </p:sp>
        <p:sp>
          <p:nvSpPr>
            <p:cNvPr id="38" name="TextBox 38"/>
            <p:cNvSpPr txBox="1"/>
            <p:nvPr/>
          </p:nvSpPr>
          <p:spPr>
            <a:xfrm>
              <a:off x="11291964" y="6513195"/>
              <a:ext cx="142799" cy="176212"/>
            </a:xfrm>
            <a:prstGeom prst="rect">
              <a:avLst/>
            </a:prstGeom>
            <a:noFill/>
            <a:ln>
              <a:noFill/>
            </a:ln>
          </p:spPr>
          <p:txBody>
            <a:bodyPr wrap="none" lIns="0" tIns="0" rIns="0" bIns="0" anchor="t" anchorCtr="0">
              <a:spAutoFit/>
            </a:bodyPr>
            <a:lstStyle/>
            <a:p>
              <a:pPr algn="r"/>
              <a:r>
                <a:rPr lang="en-US" sz="900" dirty="0">
                  <a:solidFill>
                    <a:srgbClr val="94A3B8"/>
                  </a:solidFill>
                  <a:latin typeface="+mn-lt"/>
                  <a:ea typeface="+mn-ea"/>
                  <a:cs typeface="+mn-cs"/>
                </a:rPr>
                <a:t>04</a:t>
              </a:r>
            </a:p>
          </p:txBody>
        </p:sp>
      </p:grpSp>
      <p:sp>
        <p:nvSpPr>
          <p:cNvPr id="40" name="cue_s04_c1_three_contributions_test_suite_lingu" title="cue_s04_c1_three_contributions_test_suite_lingu" descr="cue_s04_c1_three_contributions_test_suite_lingu Three contributions: a test suite of linguistic and logical composite tasks with simple-task examples only; evaluation across Llama and GPT scales revealing a clear dichotomy; and a linear self-attention theory explaining when composition emerges."/>
          <p:cNvSpPr/>
          <p:nvPr/>
        </p:nvSpPr>
        <p:spPr>
          <a:xfrm>
            <a:off x="762000" y="1733702"/>
            <a:ext cx="10668000" cy="36196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762000" y="495300"/>
            <a:ext cx="7128548" cy="737807"/>
            <a:chOff x="762000" y="495300"/>
            <a:chExt cx="7128548" cy="737807"/>
          </a:xfrm>
        </p:grpSpPr>
        <p:sp>
          <p:nvSpPr>
            <p:cNvPr id="2" name="Rectangle 2"/>
            <p:cNvSpPr/>
            <p:nvPr/>
          </p:nvSpPr>
          <p:spPr>
            <a:xfrm>
              <a:off x="762000" y="495300"/>
              <a:ext cx="57150" cy="381000"/>
            </a:xfrm>
            <a:prstGeom prst="rect">
              <a:avLst/>
            </a:prstGeom>
            <a:solidFill>
              <a:schemeClr val="accent2"/>
            </a:solidFill>
            <a:ln>
              <a:noFill/>
            </a:ln>
          </p:spPr>
        </p:sp>
        <p:sp>
          <p:nvSpPr>
            <p:cNvPr id="3" name="TextBox 3"/>
            <p:cNvSpPr txBox="1"/>
            <p:nvPr/>
          </p:nvSpPr>
          <p:spPr>
            <a:xfrm>
              <a:off x="947547" y="618649"/>
              <a:ext cx="658136" cy="190690"/>
            </a:xfrm>
            <a:prstGeom prst="rect">
              <a:avLst/>
            </a:prstGeom>
            <a:noFill/>
            <a:ln>
              <a:noFill/>
            </a:ln>
          </p:spPr>
          <p:txBody>
            <a:bodyPr wrap="none" lIns="0" tIns="0" rIns="0" bIns="0" anchor="t" anchorCtr="0">
              <a:spAutoFit/>
            </a:bodyPr>
            <a:lstStyle/>
            <a:p>
              <a:pPr algn="l"/>
              <a:r>
                <a:rPr lang="en-US" sz="980" b="1" spc="150" dirty="0">
                  <a:solidFill>
                    <a:schemeClr val="accent2"/>
                  </a:solidFill>
                  <a:latin typeface="+mn-lt"/>
                  <a:ea typeface="+mn-ea"/>
                  <a:cs typeface="+mn-cs"/>
                </a:rPr>
                <a:t>METHOD</a:t>
              </a:r>
            </a:p>
          </p:txBody>
        </p:sp>
        <p:sp>
          <p:nvSpPr>
            <p:cNvPr id="4" name="TextBox 4"/>
            <p:cNvSpPr txBox="1"/>
            <p:nvPr/>
          </p:nvSpPr>
          <p:spPr>
            <a:xfrm>
              <a:off x="939546" y="734378"/>
              <a:ext cx="6951002"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j-lt"/>
                  <a:ea typeface="+mj-ea"/>
                  <a:cs typeface="+mj-cs"/>
                </a:rPr>
                <a:t>How the study is built — in two halves</a:t>
              </a:r>
            </a:p>
          </p:txBody>
        </p:sp>
      </p:grpSp>
      <p:grpSp>
        <p:nvGrpSpPr>
          <p:cNvPr id="8" name="Group 8"/>
          <p:cNvGrpSpPr/>
          <p:nvPr/>
        </p:nvGrpSpPr>
        <p:grpSpPr>
          <a:xfrm>
            <a:off x="762000" y="1238250"/>
            <a:ext cx="10668000" cy="438150"/>
            <a:chOff x="762000" y="1238250"/>
            <a:chExt cx="10668000" cy="438150"/>
          </a:xfrm>
        </p:grpSpPr>
        <p:sp>
          <p:nvSpPr>
            <p:cNvPr id="6" name="Rectangle 6"/>
            <p:cNvSpPr/>
            <p:nvPr/>
          </p:nvSpPr>
          <p:spPr>
            <a:xfrm>
              <a:off x="762000" y="1238250"/>
              <a:ext cx="10668000" cy="438150"/>
            </a:xfrm>
            <a:prstGeom prst="roundRect">
              <a:avLst>
                <a:gd name="adj" fmla="val 50000"/>
              </a:avLst>
            </a:prstGeom>
            <a:solidFill>
              <a:schemeClr val="accent1"/>
            </a:solidFill>
            <a:ln>
              <a:noFill/>
            </a:ln>
          </p:spPr>
        </p:sp>
        <p:sp>
          <p:nvSpPr>
            <p:cNvPr id="7" name="TextBox 7"/>
            <p:cNvSpPr txBox="1"/>
            <p:nvPr/>
          </p:nvSpPr>
          <p:spPr>
            <a:xfrm>
              <a:off x="2625921" y="1368742"/>
              <a:ext cx="694015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Two complementary halves · Empirical evaluation + Theoretical explanation</a:t>
              </a:r>
            </a:p>
          </p:txBody>
        </p:sp>
      </p:grpSp>
      <p:grpSp>
        <p:nvGrpSpPr>
          <p:cNvPr id="29" name="Group 29"/>
          <p:cNvGrpSpPr/>
          <p:nvPr/>
        </p:nvGrpSpPr>
        <p:grpSpPr>
          <a:xfrm>
            <a:off x="762000" y="1866900"/>
            <a:ext cx="5257800" cy="4438650"/>
            <a:chOff x="762000" y="1866900"/>
            <a:chExt cx="5257800" cy="4438650"/>
          </a:xfrm>
        </p:grpSpPr>
        <p:sp>
          <p:nvSpPr>
            <p:cNvPr id="9" name="Rectangle 9"/>
            <p:cNvSpPr/>
            <p:nvPr/>
          </p:nvSpPr>
          <p:spPr>
            <a:xfrm>
              <a:off x="762000" y="1866900"/>
              <a:ext cx="5257800" cy="4438650"/>
            </a:xfrm>
            <a:prstGeom prst="roundRect">
              <a:avLst>
                <a:gd name="adj" fmla="val 3004"/>
              </a:avLst>
            </a:prstGeom>
            <a:solidFill>
              <a:schemeClr val="lt1"/>
            </a:solidFill>
            <a:ln w="14288">
              <a:solidFill>
                <a:schemeClr val="accent4"/>
              </a:solidFill>
            </a:ln>
            <a:effectLst>
              <a:outerShdw blurRad="76200" dist="28575" dir="5400000" algn="ctr" rotWithShape="0">
                <a:srgbClr val="1E293B">
                  <a:alpha val="5250"/>
                </a:srgbClr>
              </a:outerShdw>
            </a:effectLst>
          </p:spPr>
        </p:sp>
        <p:sp>
          <p:nvSpPr>
            <p:cNvPr id="10" name="Rectangle 10"/>
            <p:cNvSpPr/>
            <p:nvPr/>
          </p:nvSpPr>
          <p:spPr>
            <a:xfrm>
              <a:off x="762000" y="1866900"/>
              <a:ext cx="57150" cy="4438650"/>
            </a:xfrm>
            <a:prstGeom prst="roundRect">
              <a:avLst>
                <a:gd name="adj" fmla="val 50000"/>
              </a:avLst>
            </a:prstGeom>
            <a:solidFill>
              <a:schemeClr val="accent3"/>
            </a:solidFill>
            <a:ln>
              <a:noFill/>
            </a:ln>
          </p:spPr>
        </p:sp>
        <p:sp>
          <p:nvSpPr>
            <p:cNvPr id="11" name="TextBox 11"/>
            <p:cNvSpPr txBox="1"/>
            <p:nvPr/>
          </p:nvSpPr>
          <p:spPr>
            <a:xfrm>
              <a:off x="1042797" y="2066449"/>
              <a:ext cx="3787146" cy="190690"/>
            </a:xfrm>
            <a:prstGeom prst="rect">
              <a:avLst/>
            </a:prstGeom>
            <a:noFill/>
            <a:ln>
              <a:noFill/>
            </a:ln>
          </p:spPr>
          <p:txBody>
            <a:bodyPr wrap="none" lIns="0" tIns="0" rIns="0" bIns="0" anchor="t" anchorCtr="0">
              <a:spAutoFit/>
            </a:bodyPr>
            <a:lstStyle/>
            <a:p>
              <a:pPr algn="l"/>
              <a:r>
                <a:rPr lang="en-US" sz="980" b="1" spc="75" dirty="0">
                  <a:solidFill>
                    <a:schemeClr val="accent3"/>
                  </a:solidFill>
                  <a:latin typeface="+mn-lt"/>
                  <a:ea typeface="+mn-ea"/>
                  <a:cs typeface="+mn-cs"/>
                </a:rPr>
                <a:t>EMPIRICAL · FOUR IN-CONTEXT SETTINGS (K = 10)</a:t>
              </a:r>
            </a:p>
          </p:txBody>
        </p:sp>
        <p:grpSp>
          <p:nvGrpSpPr>
            <p:cNvPr id="15" name="Group 15"/>
            <p:cNvGrpSpPr/>
            <p:nvPr/>
          </p:nvGrpSpPr>
          <p:grpSpPr>
            <a:xfrm>
              <a:off x="1047750" y="2324100"/>
              <a:ext cx="4686300" cy="838200"/>
              <a:chOff x="1047750" y="2324100"/>
              <a:chExt cx="4686300" cy="838200"/>
            </a:xfrm>
          </p:grpSpPr>
          <p:sp>
            <p:nvSpPr>
              <p:cNvPr id="12" name="Rectangle 12"/>
              <p:cNvSpPr/>
              <p:nvPr/>
            </p:nvSpPr>
            <p:spPr>
              <a:xfrm>
                <a:off x="1047750" y="2324100"/>
                <a:ext cx="4686300" cy="838200"/>
              </a:xfrm>
              <a:prstGeom prst="roundRect">
                <a:avLst>
                  <a:gd name="adj" fmla="val 11364"/>
                </a:avLst>
              </a:prstGeom>
              <a:solidFill>
                <a:srgbClr val="F8FAFC"/>
              </a:solidFill>
              <a:ln w="11430">
                <a:solidFill>
                  <a:schemeClr val="accent4"/>
                </a:solidFill>
              </a:ln>
            </p:spPr>
          </p:sp>
          <p:sp>
            <p:nvSpPr>
              <p:cNvPr id="13" name="TextBox 13"/>
              <p:cNvSpPr txBox="1"/>
              <p:nvPr/>
            </p:nvSpPr>
            <p:spPr>
              <a:xfrm>
                <a:off x="1211961" y="2475071"/>
                <a:ext cx="2207682" cy="278702"/>
              </a:xfrm>
              <a:prstGeom prst="rect">
                <a:avLst/>
              </a:prstGeom>
              <a:noFill/>
              <a:ln>
                <a:noFill/>
              </a:ln>
            </p:spPr>
            <p:txBody>
              <a:bodyPr wrap="none" lIns="0" tIns="0" rIns="0" bIns="0" anchor="t" anchorCtr="0">
                <a:spAutoFit/>
              </a:bodyPr>
              <a:lstStyle/>
              <a:p>
                <a:pPr algn="l"/>
                <a:r>
                  <a:rPr lang="en-US" sz="1420" b="1" dirty="0">
                    <a:solidFill>
                      <a:schemeClr val="accent1"/>
                    </a:solidFill>
                    <a:latin typeface="+mn-lt"/>
                    <a:ea typeface="+mn-ea"/>
                    <a:cs typeface="+mn-cs"/>
                  </a:rPr>
                  <a:t>1 · Simple task A alone</a:t>
                </a:r>
              </a:p>
            </p:txBody>
          </p:sp>
          <p:sp>
            <p:nvSpPr>
              <p:cNvPr id="14" name="TextBox 14"/>
              <p:cNvSpPr txBox="1"/>
              <p:nvPr/>
            </p:nvSpPr>
            <p:spPr>
              <a:xfrm>
                <a:off x="1212723" y="2757964"/>
                <a:ext cx="3146768"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demos and test both from sub-task A</a:t>
                </a:r>
              </a:p>
            </p:txBody>
          </p:sp>
        </p:grpSp>
        <p:grpSp>
          <p:nvGrpSpPr>
            <p:cNvPr id="19" name="Group 19"/>
            <p:cNvGrpSpPr/>
            <p:nvPr/>
          </p:nvGrpSpPr>
          <p:grpSpPr>
            <a:xfrm>
              <a:off x="1047750" y="3257550"/>
              <a:ext cx="4686300" cy="666750"/>
              <a:chOff x="1047750" y="3257550"/>
              <a:chExt cx="4686300" cy="666750"/>
            </a:xfrm>
          </p:grpSpPr>
          <p:sp>
            <p:nvSpPr>
              <p:cNvPr id="16" name="Rectangle 16"/>
              <p:cNvSpPr/>
              <p:nvPr/>
            </p:nvSpPr>
            <p:spPr>
              <a:xfrm>
                <a:off x="1047750" y="3257550"/>
                <a:ext cx="4686300" cy="666750"/>
              </a:xfrm>
              <a:prstGeom prst="roundRect">
                <a:avLst>
                  <a:gd name="adj" fmla="val 14286"/>
                </a:avLst>
              </a:prstGeom>
              <a:solidFill>
                <a:srgbClr val="F8FAFC"/>
              </a:solidFill>
              <a:ln w="11430">
                <a:solidFill>
                  <a:schemeClr val="accent4"/>
                </a:solidFill>
              </a:ln>
            </p:spPr>
          </p:sp>
          <p:sp>
            <p:nvSpPr>
              <p:cNvPr id="17" name="TextBox 17"/>
              <p:cNvSpPr txBox="1"/>
              <p:nvPr/>
            </p:nvSpPr>
            <p:spPr>
              <a:xfrm>
                <a:off x="1211961" y="3408521"/>
                <a:ext cx="2207682" cy="278702"/>
              </a:xfrm>
              <a:prstGeom prst="rect">
                <a:avLst/>
              </a:prstGeom>
              <a:noFill/>
              <a:ln>
                <a:noFill/>
              </a:ln>
            </p:spPr>
            <p:txBody>
              <a:bodyPr wrap="none" lIns="0" tIns="0" rIns="0" bIns="0" anchor="t" anchorCtr="0">
                <a:spAutoFit/>
              </a:bodyPr>
              <a:lstStyle/>
              <a:p>
                <a:pPr algn="l"/>
                <a:r>
                  <a:rPr lang="en-US" sz="1420" b="1" dirty="0">
                    <a:solidFill>
                      <a:schemeClr val="accent1"/>
                    </a:solidFill>
                    <a:latin typeface="+mn-lt"/>
                    <a:ea typeface="+mn-ea"/>
                    <a:cs typeface="+mn-cs"/>
                  </a:rPr>
                  <a:t>2 · Simple task B alone</a:t>
                </a:r>
              </a:p>
            </p:txBody>
          </p:sp>
          <p:sp>
            <p:nvSpPr>
              <p:cNvPr id="18" name="TextBox 18"/>
              <p:cNvSpPr txBox="1"/>
              <p:nvPr/>
            </p:nvSpPr>
            <p:spPr>
              <a:xfrm>
                <a:off x="1212723" y="3653314"/>
                <a:ext cx="3146768"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demos and test both from sub-task B</a:t>
                </a:r>
              </a:p>
            </p:txBody>
          </p:sp>
        </p:grpSp>
        <p:grpSp>
          <p:nvGrpSpPr>
            <p:cNvPr id="23" name="Group 23"/>
            <p:cNvGrpSpPr/>
            <p:nvPr/>
          </p:nvGrpSpPr>
          <p:grpSpPr>
            <a:xfrm>
              <a:off x="1047750" y="4019550"/>
              <a:ext cx="4686300" cy="838200"/>
              <a:chOff x="1047750" y="4019550"/>
              <a:chExt cx="4686300" cy="838200"/>
            </a:xfrm>
          </p:grpSpPr>
          <p:sp>
            <p:nvSpPr>
              <p:cNvPr id="20" name="Rectangle 20"/>
              <p:cNvSpPr/>
              <p:nvPr/>
            </p:nvSpPr>
            <p:spPr>
              <a:xfrm>
                <a:off x="1047750" y="4019550"/>
                <a:ext cx="4686300" cy="838200"/>
              </a:xfrm>
              <a:prstGeom prst="roundRect">
                <a:avLst>
                  <a:gd name="adj" fmla="val 11364"/>
                </a:avLst>
              </a:prstGeom>
              <a:solidFill>
                <a:srgbClr val="EEF2FF"/>
              </a:solidFill>
              <a:ln w="15240">
                <a:solidFill>
                  <a:schemeClr val="accent2"/>
                </a:solidFill>
              </a:ln>
            </p:spPr>
          </p:sp>
          <p:sp>
            <p:nvSpPr>
              <p:cNvPr id="21" name="TextBox 21"/>
              <p:cNvSpPr txBox="1"/>
              <p:nvPr/>
            </p:nvSpPr>
            <p:spPr>
              <a:xfrm>
                <a:off x="1211961" y="4170521"/>
                <a:ext cx="2862682" cy="278702"/>
              </a:xfrm>
              <a:prstGeom prst="rect">
                <a:avLst/>
              </a:prstGeom>
              <a:noFill/>
              <a:ln>
                <a:noFill/>
              </a:ln>
            </p:spPr>
            <p:txBody>
              <a:bodyPr wrap="none" lIns="0" tIns="0" rIns="0" bIns="0" anchor="t" anchorCtr="0">
                <a:spAutoFit/>
              </a:bodyPr>
              <a:lstStyle/>
              <a:p>
                <a:pPr algn="l"/>
                <a:r>
                  <a:rPr lang="en-US" sz="1420" b="1" dirty="0">
                    <a:solidFill>
                      <a:schemeClr val="accent2"/>
                    </a:solidFill>
                    <a:latin typeface="+mn-lt"/>
                    <a:ea typeface="+mn-ea"/>
                    <a:cs typeface="+mn-cs"/>
                  </a:rPr>
                  <a:t>3 · Composite ← the real test</a:t>
                </a:r>
              </a:p>
            </p:txBody>
          </p:sp>
          <p:sp>
            <p:nvSpPr>
              <p:cNvPr id="22" name="TextBox 22"/>
              <p:cNvSpPr txBox="1"/>
              <p:nvPr/>
            </p:nvSpPr>
            <p:spPr>
              <a:xfrm>
                <a:off x="1212723" y="4453414"/>
                <a:ext cx="3950320" cy="249364"/>
              </a:xfrm>
              <a:prstGeom prst="rect">
                <a:avLst/>
              </a:prstGeom>
              <a:noFill/>
              <a:ln>
                <a:noFill/>
              </a:ln>
            </p:spPr>
            <p:txBody>
              <a:bodyPr wrap="none" lIns="0" tIns="0" rIns="0" bIns="0" anchor="t" anchorCtr="0">
                <a:spAutoFit/>
              </a:bodyPr>
              <a:lstStyle/>
              <a:p>
                <a:pPr algn="l"/>
                <a:r>
                  <a:rPr lang="en-US" sz="1280" dirty="0">
                    <a:solidFill>
                      <a:srgbClr val="334155"/>
                    </a:solidFill>
                    <a:latin typeface="+mn-lt"/>
                    <a:ea typeface="+mn-ea"/>
                    <a:cs typeface="+mn-cs"/>
                  </a:rPr>
                  <a:t>simple-task demos, but a composite test input</a:t>
                </a:r>
              </a:p>
            </p:txBody>
          </p:sp>
        </p:grpSp>
        <p:grpSp>
          <p:nvGrpSpPr>
            <p:cNvPr id="27" name="Group 27"/>
            <p:cNvGrpSpPr/>
            <p:nvPr/>
          </p:nvGrpSpPr>
          <p:grpSpPr>
            <a:xfrm>
              <a:off x="1047750" y="4953000"/>
              <a:ext cx="4686300" cy="838200"/>
              <a:chOff x="1047750" y="4953000"/>
              <a:chExt cx="4686300" cy="838200"/>
            </a:xfrm>
          </p:grpSpPr>
          <p:sp>
            <p:nvSpPr>
              <p:cNvPr id="24" name="Rectangle 24"/>
              <p:cNvSpPr/>
              <p:nvPr/>
            </p:nvSpPr>
            <p:spPr>
              <a:xfrm>
                <a:off x="1047750" y="4953000"/>
                <a:ext cx="4686300" cy="838200"/>
              </a:xfrm>
              <a:prstGeom prst="roundRect">
                <a:avLst>
                  <a:gd name="adj" fmla="val 11364"/>
                </a:avLst>
              </a:prstGeom>
              <a:solidFill>
                <a:srgbClr val="ECFDF5"/>
              </a:solidFill>
              <a:ln w="13335">
                <a:solidFill>
                  <a:schemeClr val="accent5"/>
                </a:solidFill>
              </a:ln>
            </p:spPr>
          </p:sp>
          <p:sp>
            <p:nvSpPr>
              <p:cNvPr id="25" name="TextBox 25"/>
              <p:cNvSpPr txBox="1"/>
              <p:nvPr/>
            </p:nvSpPr>
            <p:spPr>
              <a:xfrm>
                <a:off x="1211961" y="5103971"/>
                <a:ext cx="2460876" cy="278702"/>
              </a:xfrm>
              <a:prstGeom prst="rect">
                <a:avLst/>
              </a:prstGeom>
              <a:noFill/>
              <a:ln>
                <a:noFill/>
              </a:ln>
            </p:spPr>
            <p:txBody>
              <a:bodyPr wrap="none" lIns="0" tIns="0" rIns="0" bIns="0" anchor="t" anchorCtr="0">
                <a:spAutoFit/>
              </a:bodyPr>
              <a:lstStyle/>
              <a:p>
                <a:pPr algn="l"/>
                <a:r>
                  <a:rPr lang="en-US" sz="1420" b="1" dirty="0">
                    <a:solidFill>
                      <a:schemeClr val="accent5"/>
                    </a:solidFill>
                    <a:latin typeface="+mn-lt"/>
                    <a:ea typeface="+mn-ea"/>
                    <a:cs typeface="+mn-cs"/>
                  </a:rPr>
                  <a:t>4 · Composite in-context</a:t>
                </a:r>
              </a:p>
            </p:txBody>
          </p:sp>
          <p:sp>
            <p:nvSpPr>
              <p:cNvPr id="26" name="TextBox 26"/>
              <p:cNvSpPr txBox="1"/>
              <p:nvPr/>
            </p:nvSpPr>
            <p:spPr>
              <a:xfrm>
                <a:off x="1212723" y="5386864"/>
                <a:ext cx="3691849" cy="249364"/>
              </a:xfrm>
              <a:prstGeom prst="rect">
                <a:avLst/>
              </a:prstGeom>
              <a:noFill/>
              <a:ln>
                <a:noFill/>
              </a:ln>
            </p:spPr>
            <p:txBody>
              <a:bodyPr wrap="none" lIns="0" tIns="0" rIns="0" bIns="0" anchor="t" anchorCtr="0">
                <a:spAutoFit/>
              </a:bodyPr>
              <a:lstStyle/>
              <a:p>
                <a:pPr algn="l"/>
                <a:r>
                  <a:rPr lang="en-US" sz="1280" dirty="0">
                    <a:solidFill>
                      <a:srgbClr val="334155"/>
                    </a:solidFill>
                    <a:latin typeface="+mn-lt"/>
                    <a:ea typeface="+mn-ea"/>
                    <a:cs typeface="+mn-cs"/>
                  </a:rPr>
                  <a:t>all composite — a gold-standard upper bound</a:t>
                </a:r>
              </a:p>
            </p:txBody>
          </p:sp>
        </p:grpSp>
        <p:sp>
          <p:nvSpPr>
            <p:cNvPr id="28" name="TextBox 28"/>
            <p:cNvSpPr txBox="1"/>
            <p:nvPr/>
          </p:nvSpPr>
          <p:spPr>
            <a:xfrm>
              <a:off x="1042035" y="5955506"/>
              <a:ext cx="4450608" cy="220028"/>
            </a:xfrm>
            <a:prstGeom prst="rect">
              <a:avLst/>
            </a:prstGeom>
            <a:noFill/>
            <a:ln>
              <a:noFill/>
            </a:ln>
          </p:spPr>
          <p:txBody>
            <a:bodyPr wrap="none" lIns="0" tIns="0" rIns="0" bIns="0" anchor="t" anchorCtr="0">
              <a:spAutoFit/>
            </a:bodyPr>
            <a:lstStyle/>
            <a:p>
              <a:pPr algn="l"/>
              <a:r>
                <a:rPr lang="en-US" sz="1120" dirty="0">
                  <a:solidFill>
                    <a:srgbClr val="94A3B8"/>
                  </a:solidFill>
                  <a:latin typeface="+mn-lt"/>
                  <a:ea typeface="+mn-ea"/>
                  <a:cs typeface="+mn-cs"/>
                </a:rPr>
                <a:t>Tested across Llama-1/2/3 and GPT families at many scales.</a:t>
              </a:r>
            </a:p>
          </p:txBody>
        </p:sp>
      </p:grpSp>
      <p:grpSp>
        <p:nvGrpSpPr>
          <p:cNvPr id="53" name="Group 53"/>
          <p:cNvGrpSpPr/>
          <p:nvPr/>
        </p:nvGrpSpPr>
        <p:grpSpPr>
          <a:xfrm>
            <a:off x="6172200" y="1866900"/>
            <a:ext cx="5257800" cy="4438650"/>
            <a:chOff x="6172200" y="1866900"/>
            <a:chExt cx="5257800" cy="4438650"/>
          </a:xfrm>
        </p:grpSpPr>
        <p:sp>
          <p:nvSpPr>
            <p:cNvPr id="30" name="Rectangle 30"/>
            <p:cNvSpPr/>
            <p:nvPr/>
          </p:nvSpPr>
          <p:spPr>
            <a:xfrm>
              <a:off x="6172200" y="1866900"/>
              <a:ext cx="5257800" cy="4438650"/>
            </a:xfrm>
            <a:prstGeom prst="roundRect">
              <a:avLst>
                <a:gd name="adj" fmla="val 3004"/>
              </a:avLst>
            </a:prstGeom>
            <a:solidFill>
              <a:schemeClr val="lt1"/>
            </a:solidFill>
            <a:ln w="14288">
              <a:solidFill>
                <a:schemeClr val="accent4"/>
              </a:solidFill>
            </a:ln>
            <a:effectLst>
              <a:outerShdw blurRad="76200" dist="28575" dir="5400000" algn="ctr" rotWithShape="0">
                <a:srgbClr val="1E293B">
                  <a:alpha val="5250"/>
                </a:srgbClr>
              </a:outerShdw>
            </a:effectLst>
          </p:spPr>
        </p:sp>
        <p:sp>
          <p:nvSpPr>
            <p:cNvPr id="31" name="Rectangle 31"/>
            <p:cNvSpPr/>
            <p:nvPr/>
          </p:nvSpPr>
          <p:spPr>
            <a:xfrm>
              <a:off x="6172200" y="1866900"/>
              <a:ext cx="57150" cy="4438650"/>
            </a:xfrm>
            <a:prstGeom prst="roundRect">
              <a:avLst>
                <a:gd name="adj" fmla="val 50000"/>
              </a:avLst>
            </a:prstGeom>
            <a:solidFill>
              <a:schemeClr val="accent5"/>
            </a:solidFill>
            <a:ln>
              <a:noFill/>
            </a:ln>
          </p:spPr>
        </p:sp>
        <p:sp>
          <p:nvSpPr>
            <p:cNvPr id="32" name="TextBox 32"/>
            <p:cNvSpPr txBox="1"/>
            <p:nvPr/>
          </p:nvSpPr>
          <p:spPr>
            <a:xfrm>
              <a:off x="6452997" y="2066449"/>
              <a:ext cx="3029142" cy="190690"/>
            </a:xfrm>
            <a:prstGeom prst="rect">
              <a:avLst/>
            </a:prstGeom>
            <a:noFill/>
            <a:ln>
              <a:noFill/>
            </a:ln>
          </p:spPr>
          <p:txBody>
            <a:bodyPr wrap="none" lIns="0" tIns="0" rIns="0" bIns="0" anchor="t" anchorCtr="0">
              <a:spAutoFit/>
            </a:bodyPr>
            <a:lstStyle/>
            <a:p>
              <a:pPr algn="l"/>
              <a:r>
                <a:rPr lang="en-US" sz="980" b="1" spc="75" dirty="0">
                  <a:solidFill>
                    <a:schemeClr val="accent5"/>
                  </a:solidFill>
                  <a:latin typeface="+mn-lt"/>
                  <a:ea typeface="+mn-ea"/>
                  <a:cs typeface="+mn-cs"/>
                </a:rPr>
                <a:t>THEORETICAL · LINEAR SELF-ATTENTION</a:t>
              </a:r>
            </a:p>
          </p:txBody>
        </p:sp>
        <p:sp>
          <p:nvSpPr>
            <p:cNvPr id="33" name="Rectangle 33"/>
            <p:cNvSpPr/>
            <p:nvPr/>
          </p:nvSpPr>
          <p:spPr>
            <a:xfrm>
              <a:off x="6457950" y="2324100"/>
              <a:ext cx="4686300" cy="666750"/>
            </a:xfrm>
            <a:prstGeom prst="roundRect">
              <a:avLst>
                <a:gd name="adj" fmla="val 14286"/>
              </a:avLst>
            </a:prstGeom>
            <a:solidFill>
              <a:schemeClr val="dk1"/>
            </a:solidFill>
            <a:ln>
              <a:noFill/>
            </a:ln>
          </p:spPr>
        </p:sp>
        <p:sp>
          <p:nvSpPr>
            <p:cNvPr id="34" name="TextBox 34"/>
            <p:cNvSpPr txBox="1"/>
            <p:nvPr/>
          </p:nvSpPr>
          <p:spPr>
            <a:xfrm>
              <a:off x="7212070" y="2510314"/>
              <a:ext cx="3178060" cy="249364"/>
            </a:xfrm>
            <a:prstGeom prst="rect">
              <a:avLst/>
            </a:prstGeom>
            <a:noFill/>
            <a:ln>
              <a:noFill/>
            </a:ln>
          </p:spPr>
          <p:txBody>
            <a:bodyPr wrap="none" lIns="0" tIns="0" rIns="0" bIns="0" anchor="t" anchorCtr="0">
              <a:spAutoFit/>
            </a:bodyPr>
            <a:lstStyle/>
            <a:p>
              <a:pPr algn="ctr"/>
              <a:r>
                <a:rPr lang="en-US" sz="1280" dirty="0">
                  <a:solidFill>
                    <a:srgbClr val="E2E8F0"/>
                  </a:solidFill>
                  <a:latin typeface="Consolas"/>
                  <a:ea typeface="Consolas"/>
                  <a:cs typeface="Consolas"/>
                </a:rPr>
                <a:t>f(E) = E + W_pv · E · (Eᵀ W_kq E) / N</a:t>
              </a:r>
            </a:p>
          </p:txBody>
        </p:sp>
        <p:sp>
          <p:nvSpPr>
            <p:cNvPr id="35" name="TextBox 35"/>
            <p:cNvSpPr txBox="1"/>
            <p:nvPr/>
          </p:nvSpPr>
          <p:spPr>
            <a:xfrm>
              <a:off x="7262108" y="2744152"/>
              <a:ext cx="3077985" cy="205359"/>
            </a:xfrm>
            <a:prstGeom prst="rect">
              <a:avLst/>
            </a:prstGeom>
            <a:noFill/>
            <a:ln>
              <a:noFill/>
            </a:ln>
          </p:spPr>
          <p:txBody>
            <a:bodyPr wrap="none" lIns="0" tIns="0" rIns="0" bIns="0" anchor="t" anchorCtr="0">
              <a:spAutoFit/>
            </a:bodyPr>
            <a:lstStyle/>
            <a:p>
              <a:pPr algn="ctr"/>
              <a:r>
                <a:rPr lang="en-US" sz="1050" dirty="0">
                  <a:solidFill>
                    <a:srgbClr val="94A3B8"/>
                  </a:solidFill>
                  <a:latin typeface="+mn-lt"/>
                  <a:ea typeface="+mn-ea"/>
                  <a:cs typeface="+mn-cs"/>
                </a:rPr>
                <a:t>one-layer, single-head linear self-attention</a:t>
              </a:r>
            </a:p>
          </p:txBody>
        </p:sp>
        <p:sp>
          <p:nvSpPr>
            <p:cNvPr id="36" name="TextBox 36"/>
            <p:cNvSpPr txBox="1"/>
            <p:nvPr/>
          </p:nvSpPr>
          <p:spPr>
            <a:xfrm>
              <a:off x="6451092" y="3207068"/>
              <a:ext cx="4237044"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Composition succeeds under confined support</a:t>
              </a:r>
            </a:p>
          </p:txBody>
        </p:sp>
        <p:grpSp>
          <p:nvGrpSpPr>
            <p:cNvPr id="43" name="Group 43"/>
            <p:cNvGrpSpPr/>
            <p:nvPr/>
          </p:nvGrpSpPr>
          <p:grpSpPr>
            <a:xfrm>
              <a:off x="6457950" y="3543300"/>
              <a:ext cx="2286000" cy="1428750"/>
              <a:chOff x="6457950" y="3543300"/>
              <a:chExt cx="2286000" cy="1428750"/>
            </a:xfrm>
          </p:grpSpPr>
          <p:sp>
            <p:nvSpPr>
              <p:cNvPr id="37" name="Rectangle 37"/>
              <p:cNvSpPr/>
              <p:nvPr/>
            </p:nvSpPr>
            <p:spPr>
              <a:xfrm>
                <a:off x="6457950" y="3543300"/>
                <a:ext cx="2286000" cy="1428750"/>
              </a:xfrm>
              <a:prstGeom prst="roundRect">
                <a:avLst>
                  <a:gd name="adj" fmla="val 6667"/>
                </a:avLst>
              </a:prstGeom>
              <a:solidFill>
                <a:srgbClr val="ECFDF5"/>
              </a:solidFill>
              <a:ln w="14288">
                <a:solidFill>
                  <a:schemeClr val="accent5"/>
                </a:solidFill>
              </a:ln>
            </p:spPr>
          </p:sp>
          <p:sp>
            <p:nvSpPr>
              <p:cNvPr id="38" name="TextBox 38"/>
              <p:cNvSpPr txBox="1"/>
              <p:nvPr/>
            </p:nvSpPr>
            <p:spPr>
              <a:xfrm>
                <a:off x="6737029" y="3677602"/>
                <a:ext cx="1727843" cy="205359"/>
              </a:xfrm>
              <a:prstGeom prst="rect">
                <a:avLst/>
              </a:prstGeom>
              <a:noFill/>
              <a:ln>
                <a:noFill/>
              </a:ln>
            </p:spPr>
            <p:txBody>
              <a:bodyPr wrap="none" lIns="0" tIns="0" rIns="0" bIns="0" anchor="t" anchorCtr="0">
                <a:spAutoFit/>
              </a:bodyPr>
              <a:lstStyle/>
              <a:p>
                <a:pPr algn="ctr"/>
                <a:r>
                  <a:rPr lang="en-US" sz="1050" b="1" dirty="0">
                    <a:solidFill>
                      <a:schemeClr val="accent5"/>
                    </a:solidFill>
                    <a:latin typeface="+mn-lt"/>
                    <a:ea typeface="+mn-ea"/>
                    <a:cs typeface="+mn-cs"/>
                  </a:rPr>
                  <a:t>SEPARATE SUBSPACES ✓</a:t>
                </a:r>
              </a:p>
            </p:txBody>
          </p:sp>
          <p:sp>
            <p:nvSpPr>
              <p:cNvPr id="39" name="Rectangle 39"/>
              <p:cNvSpPr/>
              <p:nvPr/>
            </p:nvSpPr>
            <p:spPr>
              <a:xfrm>
                <a:off x="6724650" y="3962400"/>
                <a:ext cx="819150" cy="819150"/>
              </a:xfrm>
              <a:prstGeom prst="roundRect">
                <a:avLst>
                  <a:gd name="adj" fmla="val 9302"/>
                </a:avLst>
              </a:prstGeom>
              <a:solidFill>
                <a:schemeClr val="accent5">
                  <a:alpha val="20000"/>
                </a:schemeClr>
              </a:solidFill>
              <a:ln w="14288">
                <a:solidFill>
                  <a:schemeClr val="accent5"/>
                </a:solidFill>
              </a:ln>
            </p:spPr>
          </p:sp>
          <p:sp>
            <p:nvSpPr>
              <p:cNvPr id="40" name="TextBox 40"/>
              <p:cNvSpPr txBox="1"/>
              <p:nvPr/>
            </p:nvSpPr>
            <p:spPr>
              <a:xfrm>
                <a:off x="7082510" y="4317206"/>
                <a:ext cx="103431" cy="220028"/>
              </a:xfrm>
              <a:prstGeom prst="rect">
                <a:avLst/>
              </a:prstGeom>
              <a:noFill/>
              <a:ln>
                <a:noFill/>
              </a:ln>
            </p:spPr>
            <p:txBody>
              <a:bodyPr wrap="none" lIns="0" tIns="0" rIns="0" bIns="0" anchor="t" anchorCtr="0">
                <a:spAutoFit/>
              </a:bodyPr>
              <a:lstStyle/>
              <a:p>
                <a:pPr algn="ctr"/>
                <a:r>
                  <a:rPr lang="en-US" sz="1120" b="1" dirty="0">
                    <a:solidFill>
                      <a:schemeClr val="accent5"/>
                    </a:solidFill>
                    <a:latin typeface="+mn-lt"/>
                    <a:ea typeface="+mn-ea"/>
                    <a:cs typeface="+mn-cs"/>
                  </a:rPr>
                  <a:t>A</a:t>
                </a:r>
              </a:p>
            </p:txBody>
          </p:sp>
          <p:sp>
            <p:nvSpPr>
              <p:cNvPr id="41" name="Rectangle 41"/>
              <p:cNvSpPr/>
              <p:nvPr/>
            </p:nvSpPr>
            <p:spPr>
              <a:xfrm>
                <a:off x="7677150" y="3962400"/>
                <a:ext cx="819150" cy="819150"/>
              </a:xfrm>
              <a:prstGeom prst="roundRect">
                <a:avLst>
                  <a:gd name="adj" fmla="val 9302"/>
                </a:avLst>
              </a:prstGeom>
              <a:solidFill>
                <a:schemeClr val="accent3">
                  <a:alpha val="20000"/>
                </a:schemeClr>
              </a:solidFill>
              <a:ln w="14288">
                <a:solidFill>
                  <a:schemeClr val="accent3"/>
                </a:solidFill>
              </a:ln>
            </p:spPr>
          </p:sp>
          <p:sp>
            <p:nvSpPr>
              <p:cNvPr id="42" name="TextBox 42"/>
              <p:cNvSpPr txBox="1"/>
              <p:nvPr/>
            </p:nvSpPr>
            <p:spPr>
              <a:xfrm>
                <a:off x="8035010" y="4317206"/>
                <a:ext cx="103431" cy="220028"/>
              </a:xfrm>
              <a:prstGeom prst="rect">
                <a:avLst/>
              </a:prstGeom>
              <a:noFill/>
              <a:ln>
                <a:noFill/>
              </a:ln>
            </p:spPr>
            <p:txBody>
              <a:bodyPr wrap="none" lIns="0" tIns="0" rIns="0" bIns="0" anchor="t" anchorCtr="0">
                <a:spAutoFit/>
              </a:bodyPr>
              <a:lstStyle/>
              <a:p>
                <a:pPr algn="ctr"/>
                <a:r>
                  <a:rPr lang="en-US" sz="1120" b="1" dirty="0">
                    <a:solidFill>
                      <a:schemeClr val="accent3"/>
                    </a:solidFill>
                    <a:latin typeface="+mn-lt"/>
                    <a:ea typeface="+mn-ea"/>
                    <a:cs typeface="+mn-cs"/>
                  </a:rPr>
                  <a:t>B</a:t>
                </a:r>
              </a:p>
            </p:txBody>
          </p:sp>
        </p:grpSp>
        <p:grpSp>
          <p:nvGrpSpPr>
            <p:cNvPr id="49" name="Group 49"/>
            <p:cNvGrpSpPr/>
            <p:nvPr/>
          </p:nvGrpSpPr>
          <p:grpSpPr>
            <a:xfrm>
              <a:off x="8858250" y="3543300"/>
              <a:ext cx="2286000" cy="1428750"/>
              <a:chOff x="8858250" y="3543300"/>
              <a:chExt cx="2286000" cy="1428750"/>
            </a:xfrm>
          </p:grpSpPr>
          <p:sp>
            <p:nvSpPr>
              <p:cNvPr id="44" name="Rectangle 44"/>
              <p:cNvSpPr/>
              <p:nvPr/>
            </p:nvSpPr>
            <p:spPr>
              <a:xfrm>
                <a:off x="8858250" y="3543300"/>
                <a:ext cx="2286000" cy="1428750"/>
              </a:xfrm>
              <a:prstGeom prst="roundRect">
                <a:avLst>
                  <a:gd name="adj" fmla="val 6667"/>
                </a:avLst>
              </a:prstGeom>
              <a:solidFill>
                <a:srgbClr val="FEF2F2"/>
              </a:solidFill>
              <a:ln w="14288">
                <a:solidFill>
                  <a:schemeClr val="accent6"/>
                </a:solidFill>
              </a:ln>
            </p:spPr>
          </p:sp>
          <p:sp>
            <p:nvSpPr>
              <p:cNvPr id="45" name="TextBox 45"/>
              <p:cNvSpPr txBox="1"/>
              <p:nvPr/>
            </p:nvSpPr>
            <p:spPr>
              <a:xfrm>
                <a:off x="9423524" y="3677602"/>
                <a:ext cx="1155451" cy="205359"/>
              </a:xfrm>
              <a:prstGeom prst="rect">
                <a:avLst/>
              </a:prstGeom>
              <a:noFill/>
              <a:ln>
                <a:noFill/>
              </a:ln>
            </p:spPr>
            <p:txBody>
              <a:bodyPr wrap="none" lIns="0" tIns="0" rIns="0" bIns="0" anchor="t" anchorCtr="0">
                <a:spAutoFit/>
              </a:bodyPr>
              <a:lstStyle/>
              <a:p>
                <a:pPr algn="ctr"/>
                <a:r>
                  <a:rPr lang="en-US" sz="1050" b="1" dirty="0">
                    <a:solidFill>
                      <a:schemeClr val="accent6"/>
                    </a:solidFill>
                    <a:latin typeface="+mn-lt"/>
                    <a:ea typeface="+mn-ea"/>
                    <a:cs typeface="+mn-cs"/>
                  </a:rPr>
                  <a:t>OVERLAPPING ✗</a:t>
                </a:r>
              </a:p>
            </p:txBody>
          </p:sp>
          <p:sp>
            <p:nvSpPr>
              <p:cNvPr id="46" name="Rectangle 46"/>
              <p:cNvSpPr/>
              <p:nvPr/>
            </p:nvSpPr>
            <p:spPr>
              <a:xfrm>
                <a:off x="9315450" y="3962400"/>
                <a:ext cx="819150" cy="819150"/>
              </a:xfrm>
              <a:prstGeom prst="roundRect">
                <a:avLst>
                  <a:gd name="adj" fmla="val 9302"/>
                </a:avLst>
              </a:prstGeom>
              <a:solidFill>
                <a:schemeClr val="accent6">
                  <a:alpha val="18000"/>
                </a:schemeClr>
              </a:solidFill>
              <a:ln w="14288">
                <a:solidFill>
                  <a:schemeClr val="accent6"/>
                </a:solidFill>
              </a:ln>
            </p:spPr>
          </p:sp>
          <p:sp>
            <p:nvSpPr>
              <p:cNvPr id="47" name="Rectangle 47"/>
              <p:cNvSpPr/>
              <p:nvPr/>
            </p:nvSpPr>
            <p:spPr>
              <a:xfrm>
                <a:off x="9753600" y="3962400"/>
                <a:ext cx="819150" cy="819150"/>
              </a:xfrm>
              <a:prstGeom prst="roundRect">
                <a:avLst>
                  <a:gd name="adj" fmla="val 9302"/>
                </a:avLst>
              </a:prstGeom>
              <a:solidFill>
                <a:schemeClr val="accent6">
                  <a:alpha val="18000"/>
                </a:schemeClr>
              </a:solidFill>
              <a:ln w="14288">
                <a:solidFill>
                  <a:schemeClr val="accent6"/>
                </a:solidFill>
              </a:ln>
            </p:spPr>
          </p:sp>
          <p:sp>
            <p:nvSpPr>
              <p:cNvPr id="48" name="TextBox 48"/>
              <p:cNvSpPr txBox="1"/>
              <p:nvPr/>
            </p:nvSpPr>
            <p:spPr>
              <a:xfrm>
                <a:off x="9800384" y="4317206"/>
                <a:ext cx="287432" cy="220028"/>
              </a:xfrm>
              <a:prstGeom prst="rect">
                <a:avLst/>
              </a:prstGeom>
              <a:noFill/>
              <a:ln>
                <a:noFill/>
              </a:ln>
            </p:spPr>
            <p:txBody>
              <a:bodyPr wrap="none" lIns="0" tIns="0" rIns="0" bIns="0" anchor="t" anchorCtr="0">
                <a:spAutoFit/>
              </a:bodyPr>
              <a:lstStyle/>
              <a:p>
                <a:pPr algn="ctr"/>
                <a:r>
                  <a:rPr lang="en-US" sz="1120" b="1" dirty="0">
                    <a:solidFill>
                      <a:schemeClr val="accent6"/>
                    </a:solidFill>
                    <a:latin typeface="+mn-lt"/>
                    <a:ea typeface="+mn-ea"/>
                    <a:cs typeface="+mn-cs"/>
                  </a:rPr>
                  <a:t>A∩B</a:t>
                </a:r>
              </a:p>
            </p:txBody>
          </p:sp>
        </p:grpSp>
        <p:sp>
          <p:nvSpPr>
            <p:cNvPr id="50" name="TextBox 50"/>
            <p:cNvSpPr txBox="1"/>
            <p:nvPr/>
          </p:nvSpPr>
          <p:spPr>
            <a:xfrm>
              <a:off x="6451473" y="5158264"/>
              <a:ext cx="3542811" cy="249364"/>
            </a:xfrm>
            <a:prstGeom prst="rect">
              <a:avLst/>
            </a:prstGeom>
            <a:noFill/>
            <a:ln>
              <a:noFill/>
            </a:ln>
          </p:spPr>
          <p:txBody>
            <a:bodyPr wrap="none" lIns="0" tIns="0" rIns="0" bIns="0" anchor="t" anchorCtr="0">
              <a:spAutoFit/>
            </a:bodyPr>
            <a:lstStyle/>
            <a:p>
              <a:pPr algn="l"/>
              <a:r>
                <a:rPr lang="en-US" sz="1280" dirty="0">
                  <a:solidFill>
                    <a:srgbClr val="334155"/>
                  </a:solidFill>
                  <a:latin typeface="+mn-lt"/>
                  <a:ea typeface="+mn-ea"/>
                  <a:cs typeface="+mn-cs"/>
                </a:rPr>
                <a:t>Each task in its own embedding subspace →</a:t>
              </a:r>
            </a:p>
          </p:txBody>
        </p:sp>
        <p:sp>
          <p:nvSpPr>
            <p:cNvPr id="51" name="TextBox 51"/>
            <p:cNvSpPr txBox="1"/>
            <p:nvPr/>
          </p:nvSpPr>
          <p:spPr>
            <a:xfrm>
              <a:off x="6451473" y="5405914"/>
              <a:ext cx="3224243" cy="249364"/>
            </a:xfrm>
            <a:prstGeom prst="rect">
              <a:avLst/>
            </a:prstGeom>
            <a:noFill/>
            <a:ln>
              <a:noFill/>
            </a:ln>
          </p:spPr>
          <p:txBody>
            <a:bodyPr wrap="none" lIns="0" tIns="0" rIns="0" bIns="0" anchor="t" anchorCtr="0">
              <a:spAutoFit/>
            </a:bodyPr>
            <a:lstStyle/>
            <a:p>
              <a:pPr algn="l"/>
              <a:r>
                <a:rPr lang="en-US" sz="1280" dirty="0">
                  <a:solidFill>
                    <a:srgbClr val="334155"/>
                  </a:solidFill>
                  <a:latin typeface="+mn-lt"/>
                  <a:ea typeface="+mn-ea"/>
                  <a:cs typeface="+mn-cs"/>
                </a:rPr>
                <a:t>the model can combine them. When the</a:t>
              </a:r>
            </a:p>
          </p:txBody>
        </p:sp>
        <p:sp>
          <p:nvSpPr>
            <p:cNvPr id="52" name="TextBox 52"/>
            <p:cNvSpPr txBox="1"/>
            <p:nvPr/>
          </p:nvSpPr>
          <p:spPr>
            <a:xfrm>
              <a:off x="6451473" y="5653564"/>
              <a:ext cx="3855547" cy="249364"/>
            </a:xfrm>
            <a:prstGeom prst="rect">
              <a:avLst/>
            </a:prstGeom>
            <a:noFill/>
            <a:ln>
              <a:noFill/>
            </a:ln>
          </p:spPr>
          <p:txBody>
            <a:bodyPr wrap="none" lIns="0" tIns="0" rIns="0" bIns="0" anchor="t" anchorCtr="0">
              <a:spAutoFit/>
            </a:bodyPr>
            <a:lstStyle/>
            <a:p>
              <a:pPr algn="l"/>
              <a:r>
                <a:rPr lang="en-US" sz="1280" dirty="0">
                  <a:solidFill>
                    <a:srgbClr val="334155"/>
                  </a:solidFill>
                  <a:latin typeface="+mn-lt"/>
                  <a:ea typeface="+mn-ea"/>
                  <a:cs typeface="+mn-cs"/>
                </a:rPr>
                <a:t>subspaces overlap, composition breaks down.</a:t>
              </a:r>
            </a:p>
          </p:txBody>
        </p:sp>
      </p:grpSp>
      <p:grpSp>
        <p:nvGrpSpPr>
          <p:cNvPr id="56" name="Group 56"/>
          <p:cNvGrpSpPr/>
          <p:nvPr/>
        </p:nvGrpSpPr>
        <p:grpSpPr>
          <a:xfrm>
            <a:off x="757238" y="6513195"/>
            <a:ext cx="10677525" cy="176212"/>
            <a:chOff x="757238" y="6513195"/>
            <a:chExt cx="10677525" cy="176212"/>
          </a:xfrm>
        </p:grpSpPr>
        <p:sp>
          <p:nvSpPr>
            <p:cNvPr id="54" name="TextBox 54"/>
            <p:cNvSpPr txBox="1"/>
            <p:nvPr/>
          </p:nvSpPr>
          <p:spPr>
            <a:xfrm>
              <a:off x="757238" y="6513195"/>
              <a:ext cx="2077669" cy="176212"/>
            </a:xfrm>
            <a:prstGeom prst="rect">
              <a:avLst/>
            </a:prstGeom>
            <a:noFill/>
            <a:ln>
              <a:noFill/>
            </a:ln>
          </p:spPr>
          <p:txBody>
            <a:bodyPr wrap="none" lIns="0" tIns="0" rIns="0" bIns="0" anchor="t" anchorCtr="0">
              <a:spAutoFit/>
            </a:bodyPr>
            <a:lstStyle/>
            <a:p>
              <a:pPr algn="l"/>
              <a:r>
                <a:rPr lang="en-US" sz="900" dirty="0">
                  <a:solidFill>
                    <a:srgbClr val="94A3B8"/>
                  </a:solidFill>
                  <a:latin typeface="+mn-lt"/>
                  <a:ea typeface="+mn-ea"/>
                  <a:cs typeface="+mn-cs"/>
                </a:rPr>
                <a:t>Xu, Shi &amp; Liang · COLM 2024 · §3–4</a:t>
              </a:r>
            </a:p>
          </p:txBody>
        </p:sp>
        <p:sp>
          <p:nvSpPr>
            <p:cNvPr id="55" name="TextBox 55"/>
            <p:cNvSpPr txBox="1"/>
            <p:nvPr/>
          </p:nvSpPr>
          <p:spPr>
            <a:xfrm>
              <a:off x="11291964" y="6513195"/>
              <a:ext cx="142799" cy="176212"/>
            </a:xfrm>
            <a:prstGeom prst="rect">
              <a:avLst/>
            </a:prstGeom>
            <a:noFill/>
            <a:ln>
              <a:noFill/>
            </a:ln>
          </p:spPr>
          <p:txBody>
            <a:bodyPr wrap="none" lIns="0" tIns="0" rIns="0" bIns="0" anchor="t" anchorCtr="0">
              <a:spAutoFit/>
            </a:bodyPr>
            <a:lstStyle/>
            <a:p>
              <a:pPr algn="r"/>
              <a:r>
                <a:rPr lang="en-US" sz="900" dirty="0">
                  <a:solidFill>
                    <a:srgbClr val="94A3B8"/>
                  </a:solidFill>
                  <a:latin typeface="+mn-lt"/>
                  <a:ea typeface="+mn-ea"/>
                  <a:cs typeface="+mn-cs"/>
                </a:rPr>
                <a:t>05</a:t>
              </a:r>
            </a:p>
          </p:txBody>
        </p:sp>
      </p:grpSp>
      <p:sp>
        <p:nvSpPr>
          <p:cNvPr id="57" name="cue_s05_c1_two_halves" title="cue_s05_c1_two_halves" descr="cue_s05_c1_two_halves Two halves."/>
          <p:cNvSpPr/>
          <p:nvPr/>
        </p:nvSpPr>
        <p:spPr>
          <a:xfrm>
            <a:off x="762000" y="1238554"/>
            <a:ext cx="10668000" cy="4382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cue_s05_c2_empirically_composite_task_tested_fo" title="cue_s05_c2_empirically_composite_task_tested_fo" descr="cue_s05_c2_empirically_composite_task_tested_fo Empirically, each composite task is tested in four settings with ten in-context examples: each simple task alone, a composite test with simple-task demos, and an all-composite gold standard."/>
          <p:cNvSpPr/>
          <p:nvPr/>
        </p:nvSpPr>
        <p:spPr>
          <a:xfrm>
            <a:off x="762000" y="1866747"/>
            <a:ext cx="5258409" cy="44384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cue_s05_c3_theoretically_linear_self_attention" title="cue_s05_c3_theoretically_linear_self_attention" descr="cue_s05_c3_theoretically_linear_self_attention Theoretically, a linear self-attention model shows composition succeeds under confined support."/>
          <p:cNvSpPr/>
          <p:nvPr/>
        </p:nvSpPr>
        <p:spPr>
          <a:xfrm>
            <a:off x="6171590" y="1866747"/>
            <a:ext cx="5258409" cy="44384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762000" y="495300"/>
            <a:ext cx="7849250" cy="737807"/>
            <a:chOff x="762000" y="495300"/>
            <a:chExt cx="7849250" cy="737807"/>
          </a:xfrm>
        </p:grpSpPr>
        <p:sp>
          <p:nvSpPr>
            <p:cNvPr id="2" name="Rectangle 2"/>
            <p:cNvSpPr/>
            <p:nvPr/>
          </p:nvSpPr>
          <p:spPr>
            <a:xfrm>
              <a:off x="762000" y="495300"/>
              <a:ext cx="57150" cy="381000"/>
            </a:xfrm>
            <a:prstGeom prst="rect">
              <a:avLst/>
            </a:prstGeom>
            <a:solidFill>
              <a:schemeClr val="accent2"/>
            </a:solidFill>
            <a:ln>
              <a:noFill/>
            </a:ln>
          </p:spPr>
        </p:sp>
        <p:sp>
          <p:nvSpPr>
            <p:cNvPr id="3" name="TextBox 3"/>
            <p:cNvSpPr txBox="1"/>
            <p:nvPr/>
          </p:nvSpPr>
          <p:spPr>
            <a:xfrm>
              <a:off x="947547" y="618649"/>
              <a:ext cx="933755" cy="190690"/>
            </a:xfrm>
            <a:prstGeom prst="rect">
              <a:avLst/>
            </a:prstGeom>
            <a:noFill/>
            <a:ln>
              <a:noFill/>
            </a:ln>
          </p:spPr>
          <p:txBody>
            <a:bodyPr wrap="none" lIns="0" tIns="0" rIns="0" bIns="0" anchor="t" anchorCtr="0">
              <a:spAutoFit/>
            </a:bodyPr>
            <a:lstStyle/>
            <a:p>
              <a:pPr algn="l"/>
              <a:r>
                <a:rPr lang="en-US" sz="980" b="1" spc="150" dirty="0">
                  <a:solidFill>
                    <a:schemeClr val="accent2"/>
                  </a:solidFill>
                  <a:latin typeface="+mn-lt"/>
                  <a:ea typeface="+mn-ea"/>
                  <a:cs typeface="+mn-cs"/>
                </a:rPr>
                <a:t>TEST SUITE</a:t>
              </a:r>
            </a:p>
          </p:txBody>
        </p:sp>
        <p:sp>
          <p:nvSpPr>
            <p:cNvPr id="4" name="TextBox 4"/>
            <p:cNvSpPr txBox="1"/>
            <p:nvPr/>
          </p:nvSpPr>
          <p:spPr>
            <a:xfrm>
              <a:off x="939546" y="734378"/>
              <a:ext cx="7671704"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j-lt"/>
                  <a:ea typeface="+mj-ea"/>
                  <a:cs typeface="+mj-cs"/>
                </a:rPr>
                <a:t>A purpose-built suite of composite tasks</a:t>
              </a:r>
            </a:p>
          </p:txBody>
        </p:sp>
      </p:grpSp>
      <p:grpSp>
        <p:nvGrpSpPr>
          <p:cNvPr id="8" name="Group 8"/>
          <p:cNvGrpSpPr/>
          <p:nvPr/>
        </p:nvGrpSpPr>
        <p:grpSpPr>
          <a:xfrm>
            <a:off x="762000" y="1219200"/>
            <a:ext cx="10668000" cy="533400"/>
            <a:chOff x="762000" y="1219200"/>
            <a:chExt cx="10668000" cy="533400"/>
          </a:xfrm>
        </p:grpSpPr>
        <p:sp>
          <p:nvSpPr>
            <p:cNvPr id="6" name="Rectangle 6"/>
            <p:cNvSpPr/>
            <p:nvPr/>
          </p:nvSpPr>
          <p:spPr>
            <a:xfrm>
              <a:off x="762000" y="1219200"/>
              <a:ext cx="10668000" cy="533400"/>
            </a:xfrm>
            <a:prstGeom prst="roundRect">
              <a:avLst>
                <a:gd name="adj" fmla="val 21429"/>
              </a:avLst>
            </a:prstGeom>
            <a:solidFill>
              <a:schemeClr val="accent1"/>
            </a:solidFill>
            <a:ln>
              <a:noFill/>
            </a:ln>
          </p:spPr>
        </p:sp>
        <p:sp>
          <p:nvSpPr>
            <p:cNvPr id="7" name="TextBox 7"/>
            <p:cNvSpPr txBox="1"/>
            <p:nvPr/>
          </p:nvSpPr>
          <p:spPr>
            <a:xfrm>
              <a:off x="982980" y="1390650"/>
              <a:ext cx="6351255" cy="293370"/>
            </a:xfrm>
            <a:prstGeom prst="rect">
              <a:avLst/>
            </a:prstGeom>
            <a:noFill/>
            <a:ln>
              <a:noFill/>
            </a:ln>
          </p:spPr>
          <p:txBody>
            <a:bodyPr wrap="none" lIns="0" tIns="0" rIns="0" bIns="0" anchor="t" anchorCtr="0">
              <a:spAutoFit/>
            </a:bodyPr>
            <a:lstStyle/>
            <a:p>
              <a:pPr algn="l"/>
              <a:r>
                <a:rPr lang="en-US" sz="1500" b="1" dirty="0">
                  <a:solidFill>
                    <a:srgbClr val="FFFFFF"/>
                  </a:solidFill>
                  <a:latin typeface="+mn-lt"/>
                  <a:ea typeface="+mn-ea"/>
                  <a:cs typeface="+mn-cs"/>
                </a:rPr>
                <a:t>Each composite is built from two simple building-block tasks.</a:t>
              </a:r>
            </a:p>
          </p:txBody>
        </p:sp>
      </p:grpSp>
      <p:grpSp>
        <p:nvGrpSpPr>
          <p:cNvPr id="25" name="Group 25"/>
          <p:cNvGrpSpPr/>
          <p:nvPr/>
        </p:nvGrpSpPr>
        <p:grpSpPr>
          <a:xfrm>
            <a:off x="762000" y="1924050"/>
            <a:ext cx="5191125" cy="1866900"/>
            <a:chOff x="762000" y="1924050"/>
            <a:chExt cx="5191125" cy="1866900"/>
          </a:xfrm>
        </p:grpSpPr>
        <p:sp>
          <p:nvSpPr>
            <p:cNvPr id="9" name="Rectangle 9"/>
            <p:cNvSpPr/>
            <p:nvPr/>
          </p:nvSpPr>
          <p:spPr>
            <a:xfrm>
              <a:off x="762000" y="1924050"/>
              <a:ext cx="5191125" cy="1866900"/>
            </a:xfrm>
            <a:prstGeom prst="roundRect">
              <a:avLst>
                <a:gd name="adj" fmla="val 7143"/>
              </a:avLst>
            </a:prstGeom>
            <a:solidFill>
              <a:schemeClr val="lt1"/>
            </a:solidFill>
            <a:ln w="14288">
              <a:solidFill>
                <a:schemeClr val="accent4"/>
              </a:solidFill>
            </a:ln>
            <a:effectLst>
              <a:outerShdw blurRad="76200" dist="28575" dir="5400000" algn="ctr" rotWithShape="0">
                <a:srgbClr val="1E293B">
                  <a:alpha val="5250"/>
                </a:srgbClr>
              </a:outerShdw>
            </a:effectLst>
          </p:spPr>
        </p:sp>
        <p:sp>
          <p:nvSpPr>
            <p:cNvPr id="10" name="Rectangle 10"/>
            <p:cNvSpPr/>
            <p:nvPr/>
          </p:nvSpPr>
          <p:spPr>
            <a:xfrm>
              <a:off x="762000" y="1924050"/>
              <a:ext cx="57150" cy="1866900"/>
            </a:xfrm>
            <a:prstGeom prst="roundRect">
              <a:avLst>
                <a:gd name="adj" fmla="val 50000"/>
              </a:avLst>
            </a:prstGeom>
            <a:solidFill>
              <a:schemeClr val="accent3"/>
            </a:solidFill>
            <a:ln>
              <a:noFill/>
            </a:ln>
          </p:spPr>
        </p:sp>
        <p:sp>
          <p:nvSpPr>
            <p:cNvPr id="11" name="TextBox 11"/>
            <p:cNvSpPr txBox="1"/>
            <p:nvPr/>
          </p:nvSpPr>
          <p:spPr>
            <a:xfrm>
              <a:off x="1042797" y="2123599"/>
              <a:ext cx="1311573" cy="190690"/>
            </a:xfrm>
            <a:prstGeom prst="rect">
              <a:avLst/>
            </a:prstGeom>
            <a:noFill/>
            <a:ln>
              <a:noFill/>
            </a:ln>
          </p:spPr>
          <p:txBody>
            <a:bodyPr wrap="none" lIns="0" tIns="0" rIns="0" bIns="0" anchor="t" anchorCtr="0">
              <a:spAutoFit/>
            </a:bodyPr>
            <a:lstStyle/>
            <a:p>
              <a:pPr algn="l"/>
              <a:r>
                <a:rPr lang="en-US" sz="980" b="1" spc="75" dirty="0">
                  <a:solidFill>
                    <a:schemeClr val="accent3"/>
                  </a:solidFill>
                  <a:latin typeface="+mn-lt"/>
                  <a:ea typeface="+mn-ea"/>
                  <a:cs typeface="+mn-cs"/>
                </a:rPr>
                <a:t>LINGUISTIC TASKS</a:t>
              </a:r>
            </a:p>
          </p:txBody>
        </p:sp>
        <p:grpSp>
          <p:nvGrpSpPr>
            <p:cNvPr id="18" name="Group 18"/>
            <p:cNvGrpSpPr/>
            <p:nvPr/>
          </p:nvGrpSpPr>
          <p:grpSpPr>
            <a:xfrm>
              <a:off x="1047750" y="2362200"/>
              <a:ext cx="4705350" cy="381000"/>
              <a:chOff x="1047750" y="2362200"/>
              <a:chExt cx="4705350" cy="381000"/>
            </a:xfrm>
          </p:grpSpPr>
          <p:sp>
            <p:nvSpPr>
              <p:cNvPr id="12" name="Rectangle 12"/>
              <p:cNvSpPr/>
              <p:nvPr/>
            </p:nvSpPr>
            <p:spPr>
              <a:xfrm>
                <a:off x="1047750" y="2362200"/>
                <a:ext cx="1428750" cy="381000"/>
              </a:xfrm>
              <a:prstGeom prst="roundRect">
                <a:avLst>
                  <a:gd name="adj" fmla="val 20000"/>
                </a:avLst>
              </a:prstGeom>
              <a:solidFill>
                <a:srgbClr val="E0F2FE"/>
              </a:solidFill>
              <a:ln>
                <a:noFill/>
              </a:ln>
            </p:spPr>
          </p:sp>
          <p:sp>
            <p:nvSpPr>
              <p:cNvPr id="13" name="TextBox 13"/>
              <p:cNvSpPr txBox="1"/>
              <p:nvPr/>
            </p:nvSpPr>
            <p:spPr>
              <a:xfrm>
                <a:off x="1185501" y="2470785"/>
                <a:ext cx="1153249" cy="234696"/>
              </a:xfrm>
              <a:prstGeom prst="rect">
                <a:avLst/>
              </a:prstGeom>
              <a:noFill/>
              <a:ln>
                <a:noFill/>
              </a:ln>
            </p:spPr>
            <p:txBody>
              <a:bodyPr wrap="none" lIns="0" tIns="0" rIns="0" bIns="0" anchor="t" anchorCtr="0">
                <a:spAutoFit/>
              </a:bodyPr>
              <a:lstStyle/>
              <a:p>
                <a:pPr algn="ctr"/>
                <a:r>
                  <a:rPr lang="en-US" sz="1200" b="1" dirty="0">
                    <a:solidFill>
                      <a:schemeClr val="accent1"/>
                    </a:solidFill>
                    <a:latin typeface="+mn-lt"/>
                    <a:ea typeface="+mn-ea"/>
                    <a:cs typeface="+mn-cs"/>
                  </a:rPr>
                  <a:t>Capitalization</a:t>
                </a:r>
              </a:p>
            </p:txBody>
          </p:sp>
          <p:sp>
            <p:nvSpPr>
              <p:cNvPr id="14" name="Rectangle 14"/>
              <p:cNvSpPr/>
              <p:nvPr/>
            </p:nvSpPr>
            <p:spPr>
              <a:xfrm>
                <a:off x="2590800" y="2362200"/>
                <a:ext cx="857250" cy="381000"/>
              </a:xfrm>
              <a:prstGeom prst="roundRect">
                <a:avLst>
                  <a:gd name="adj" fmla="val 20000"/>
                </a:avLst>
              </a:prstGeom>
              <a:solidFill>
                <a:srgbClr val="E0F2FE"/>
              </a:solidFill>
              <a:ln>
                <a:noFill/>
              </a:ln>
            </p:spPr>
          </p:sp>
          <p:sp>
            <p:nvSpPr>
              <p:cNvPr id="15" name="TextBox 15"/>
              <p:cNvSpPr txBox="1"/>
              <p:nvPr/>
            </p:nvSpPr>
            <p:spPr>
              <a:xfrm>
                <a:off x="2806903" y="2470785"/>
                <a:ext cx="425044" cy="234696"/>
              </a:xfrm>
              <a:prstGeom prst="rect">
                <a:avLst/>
              </a:prstGeom>
              <a:noFill/>
              <a:ln>
                <a:noFill/>
              </a:ln>
            </p:spPr>
            <p:txBody>
              <a:bodyPr wrap="none" lIns="0" tIns="0" rIns="0" bIns="0" anchor="t" anchorCtr="0">
                <a:spAutoFit/>
              </a:bodyPr>
              <a:lstStyle/>
              <a:p>
                <a:pPr algn="ctr"/>
                <a:r>
                  <a:rPr lang="en-US" sz="1200" b="1" dirty="0">
                    <a:solidFill>
                      <a:schemeClr val="accent1"/>
                    </a:solidFill>
                    <a:latin typeface="+mn-lt"/>
                    <a:ea typeface="+mn-ea"/>
                    <a:cs typeface="+mn-cs"/>
                  </a:rPr>
                  <a:t>Swap</a:t>
                </a:r>
              </a:p>
            </p:txBody>
          </p:sp>
          <p:sp>
            <p:nvSpPr>
              <p:cNvPr id="16" name="Rectangle 16"/>
              <p:cNvSpPr/>
              <p:nvPr/>
            </p:nvSpPr>
            <p:spPr>
              <a:xfrm>
                <a:off x="3562350" y="2362200"/>
                <a:ext cx="2190750" cy="381000"/>
              </a:xfrm>
              <a:prstGeom prst="roundRect">
                <a:avLst>
                  <a:gd name="adj" fmla="val 20000"/>
                </a:avLst>
              </a:prstGeom>
              <a:solidFill>
                <a:schemeClr val="lt2"/>
              </a:solidFill>
              <a:ln>
                <a:noFill/>
              </a:ln>
            </p:spPr>
          </p:sp>
          <p:sp>
            <p:nvSpPr>
              <p:cNvPr id="17" name="TextBox 17"/>
              <p:cNvSpPr txBox="1"/>
              <p:nvPr/>
            </p:nvSpPr>
            <p:spPr>
              <a:xfrm>
                <a:off x="3760078" y="2470785"/>
                <a:ext cx="1795295" cy="234696"/>
              </a:xfrm>
              <a:prstGeom prst="rect">
                <a:avLst/>
              </a:prstGeom>
              <a:noFill/>
              <a:ln>
                <a:noFill/>
              </a:ln>
            </p:spPr>
            <p:txBody>
              <a:bodyPr wrap="none" lIns="0" tIns="0" rIns="0" bIns="0" anchor="t" anchorCtr="0">
                <a:spAutoFit/>
              </a:bodyPr>
              <a:lstStyle/>
              <a:p>
                <a:pPr algn="ctr"/>
                <a:r>
                  <a:rPr lang="en-US" sz="1200" b="1" dirty="0">
                    <a:solidFill>
                      <a:schemeClr val="dk2"/>
                    </a:solidFill>
                    <a:latin typeface="+mn-lt"/>
                    <a:ea typeface="+mn-ea"/>
                    <a:cs typeface="+mn-cs"/>
                  </a:rPr>
                  <a:t>Phrase Recombination</a:t>
                </a:r>
              </a:p>
            </p:txBody>
          </p:sp>
        </p:grpSp>
        <p:grpSp>
          <p:nvGrpSpPr>
            <p:cNvPr id="23" name="Group 23"/>
            <p:cNvGrpSpPr/>
            <p:nvPr/>
          </p:nvGrpSpPr>
          <p:grpSpPr>
            <a:xfrm>
              <a:off x="1047750" y="2838450"/>
              <a:ext cx="4705350" cy="381000"/>
              <a:chOff x="1047750" y="2838450"/>
              <a:chExt cx="4705350" cy="381000"/>
            </a:xfrm>
          </p:grpSpPr>
          <p:sp>
            <p:nvSpPr>
              <p:cNvPr id="19" name="Rectangle 19"/>
              <p:cNvSpPr/>
              <p:nvPr/>
            </p:nvSpPr>
            <p:spPr>
              <a:xfrm>
                <a:off x="1047750" y="2838450"/>
                <a:ext cx="2381250" cy="381000"/>
              </a:xfrm>
              <a:prstGeom prst="roundRect">
                <a:avLst>
                  <a:gd name="adj" fmla="val 20000"/>
                </a:avLst>
              </a:prstGeom>
              <a:solidFill>
                <a:schemeClr val="lt2"/>
              </a:solidFill>
              <a:ln>
                <a:noFill/>
              </a:ln>
            </p:spPr>
          </p:sp>
          <p:sp>
            <p:nvSpPr>
              <p:cNvPr id="20" name="TextBox 20"/>
              <p:cNvSpPr txBox="1"/>
              <p:nvPr/>
            </p:nvSpPr>
            <p:spPr>
              <a:xfrm>
                <a:off x="1564996" y="2947035"/>
                <a:ext cx="1346759" cy="234696"/>
              </a:xfrm>
              <a:prstGeom prst="rect">
                <a:avLst/>
              </a:prstGeom>
              <a:noFill/>
              <a:ln>
                <a:noFill/>
              </a:ln>
            </p:spPr>
            <p:txBody>
              <a:bodyPr wrap="none" lIns="0" tIns="0" rIns="0" bIns="0" anchor="t" anchorCtr="0">
                <a:spAutoFit/>
              </a:bodyPr>
              <a:lstStyle/>
              <a:p>
                <a:pPr algn="ctr"/>
                <a:r>
                  <a:rPr lang="en-US" sz="1200" b="1" dirty="0">
                    <a:solidFill>
                      <a:schemeClr val="dk2"/>
                    </a:solidFill>
                    <a:latin typeface="+mn-lt"/>
                    <a:ea typeface="+mn-ea"/>
                    <a:cs typeface="+mn-cs"/>
                  </a:rPr>
                  <a:t>Passive → Active</a:t>
                </a:r>
              </a:p>
            </p:txBody>
          </p:sp>
          <p:sp>
            <p:nvSpPr>
              <p:cNvPr id="21" name="Rectangle 21"/>
              <p:cNvSpPr/>
              <p:nvPr/>
            </p:nvSpPr>
            <p:spPr>
              <a:xfrm>
                <a:off x="3543300" y="2838450"/>
                <a:ext cx="2209800" cy="381000"/>
              </a:xfrm>
              <a:prstGeom prst="roundRect">
                <a:avLst>
                  <a:gd name="adj" fmla="val 20000"/>
                </a:avLst>
              </a:prstGeom>
              <a:solidFill>
                <a:schemeClr val="lt2"/>
              </a:solidFill>
              <a:ln>
                <a:noFill/>
              </a:ln>
            </p:spPr>
          </p:sp>
          <p:sp>
            <p:nvSpPr>
              <p:cNvPr id="22" name="TextBox 22"/>
              <p:cNvSpPr txBox="1"/>
              <p:nvPr/>
            </p:nvSpPr>
            <p:spPr>
              <a:xfrm>
                <a:off x="3957711" y="2947035"/>
                <a:ext cx="1380978" cy="234696"/>
              </a:xfrm>
              <a:prstGeom prst="rect">
                <a:avLst/>
              </a:prstGeom>
              <a:noFill/>
              <a:ln>
                <a:noFill/>
              </a:ln>
            </p:spPr>
            <p:txBody>
              <a:bodyPr wrap="none" lIns="0" tIns="0" rIns="0" bIns="0" anchor="t" anchorCtr="0">
                <a:spAutoFit/>
              </a:bodyPr>
              <a:lstStyle/>
              <a:p>
                <a:pPr algn="ctr"/>
                <a:r>
                  <a:rPr lang="en-US" sz="1200" b="1" dirty="0">
                    <a:solidFill>
                      <a:schemeClr val="dk2"/>
                    </a:solidFill>
                    <a:latin typeface="+mn-lt"/>
                    <a:ea typeface="+mn-ea"/>
                    <a:cs typeface="+mn-cs"/>
                  </a:rPr>
                  <a:t>Object → Subject</a:t>
                </a:r>
              </a:p>
            </p:txBody>
          </p:sp>
        </p:grpSp>
        <p:sp>
          <p:nvSpPr>
            <p:cNvPr id="24" name="TextBox 24"/>
            <p:cNvSpPr txBox="1"/>
            <p:nvPr/>
          </p:nvSpPr>
          <p:spPr>
            <a:xfrm>
              <a:off x="1042035" y="3421856"/>
              <a:ext cx="3944044" cy="220028"/>
            </a:xfrm>
            <a:prstGeom prst="rect">
              <a:avLst/>
            </a:prstGeom>
            <a:noFill/>
            <a:ln>
              <a:noFill/>
            </a:ln>
          </p:spPr>
          <p:txBody>
            <a:bodyPr wrap="none" lIns="0" tIns="0" rIns="0" bIns="0" anchor="t" anchorCtr="0">
              <a:spAutoFit/>
            </a:bodyPr>
            <a:lstStyle/>
            <a:p>
              <a:pPr algn="l"/>
              <a:r>
                <a:rPr lang="en-US" sz="1120" dirty="0">
                  <a:solidFill>
                    <a:srgbClr val="94A3B8"/>
                  </a:solidFill>
                  <a:latin typeface="+mn-lt"/>
                  <a:ea typeface="+mn-ea"/>
                  <a:cs typeface="+mn-cs"/>
                </a:rPr>
                <a:t>Word-level operations and longer-chain translations.</a:t>
              </a:r>
            </a:p>
          </p:txBody>
        </p:sp>
      </p:grpSp>
      <p:grpSp>
        <p:nvGrpSpPr>
          <p:cNvPr id="39" name="Group 39"/>
          <p:cNvGrpSpPr/>
          <p:nvPr/>
        </p:nvGrpSpPr>
        <p:grpSpPr>
          <a:xfrm>
            <a:off x="6238875" y="1924050"/>
            <a:ext cx="5191125" cy="1866900"/>
            <a:chOff x="6238875" y="1924050"/>
            <a:chExt cx="5191125" cy="1866900"/>
          </a:xfrm>
        </p:grpSpPr>
        <p:sp>
          <p:nvSpPr>
            <p:cNvPr id="26" name="Rectangle 26"/>
            <p:cNvSpPr/>
            <p:nvPr/>
          </p:nvSpPr>
          <p:spPr>
            <a:xfrm>
              <a:off x="6238875" y="1924050"/>
              <a:ext cx="5191125" cy="1866900"/>
            </a:xfrm>
            <a:prstGeom prst="roundRect">
              <a:avLst>
                <a:gd name="adj" fmla="val 7143"/>
              </a:avLst>
            </a:prstGeom>
            <a:solidFill>
              <a:schemeClr val="lt1"/>
            </a:solidFill>
            <a:ln w="14288">
              <a:solidFill>
                <a:schemeClr val="accent4"/>
              </a:solidFill>
            </a:ln>
            <a:effectLst>
              <a:outerShdw blurRad="76200" dist="28575" dir="5400000" algn="ctr" rotWithShape="0">
                <a:srgbClr val="1E293B">
                  <a:alpha val="5250"/>
                </a:srgbClr>
              </a:outerShdw>
            </a:effectLst>
          </p:spPr>
        </p:sp>
        <p:sp>
          <p:nvSpPr>
            <p:cNvPr id="27" name="Rectangle 27"/>
            <p:cNvSpPr/>
            <p:nvPr/>
          </p:nvSpPr>
          <p:spPr>
            <a:xfrm>
              <a:off x="6238875" y="1924050"/>
              <a:ext cx="57150" cy="1866900"/>
            </a:xfrm>
            <a:prstGeom prst="roundRect">
              <a:avLst>
                <a:gd name="adj" fmla="val 50000"/>
              </a:avLst>
            </a:prstGeom>
            <a:solidFill>
              <a:schemeClr val="accent2"/>
            </a:solidFill>
            <a:ln>
              <a:noFill/>
            </a:ln>
          </p:spPr>
        </p:sp>
        <p:sp>
          <p:nvSpPr>
            <p:cNvPr id="28" name="TextBox 28"/>
            <p:cNvSpPr txBox="1"/>
            <p:nvPr/>
          </p:nvSpPr>
          <p:spPr>
            <a:xfrm>
              <a:off x="6519672" y="2123599"/>
              <a:ext cx="1140522" cy="190690"/>
            </a:xfrm>
            <a:prstGeom prst="rect">
              <a:avLst/>
            </a:prstGeom>
            <a:noFill/>
            <a:ln>
              <a:noFill/>
            </a:ln>
          </p:spPr>
          <p:txBody>
            <a:bodyPr wrap="none" lIns="0" tIns="0" rIns="0" bIns="0" anchor="t" anchorCtr="0">
              <a:spAutoFit/>
            </a:bodyPr>
            <a:lstStyle/>
            <a:p>
              <a:pPr algn="l"/>
              <a:r>
                <a:rPr lang="en-US" sz="980" b="1" spc="75" dirty="0">
                  <a:solidFill>
                    <a:schemeClr val="accent2"/>
                  </a:solidFill>
                  <a:latin typeface="+mn-lt"/>
                  <a:ea typeface="+mn-ea"/>
                  <a:cs typeface="+mn-cs"/>
                </a:rPr>
                <a:t>LOGICAL TASKS</a:t>
              </a:r>
            </a:p>
          </p:txBody>
        </p:sp>
        <p:grpSp>
          <p:nvGrpSpPr>
            <p:cNvPr id="35" name="Group 35"/>
            <p:cNvGrpSpPr/>
            <p:nvPr/>
          </p:nvGrpSpPr>
          <p:grpSpPr>
            <a:xfrm>
              <a:off x="6524625" y="2362200"/>
              <a:ext cx="3943350" cy="381000"/>
              <a:chOff x="6524625" y="2362200"/>
              <a:chExt cx="3943350" cy="381000"/>
            </a:xfrm>
          </p:grpSpPr>
          <p:sp>
            <p:nvSpPr>
              <p:cNvPr id="29" name="Rectangle 29"/>
              <p:cNvSpPr/>
              <p:nvPr/>
            </p:nvSpPr>
            <p:spPr>
              <a:xfrm>
                <a:off x="6524625" y="2362200"/>
                <a:ext cx="1238250" cy="381000"/>
              </a:xfrm>
              <a:prstGeom prst="roundRect">
                <a:avLst>
                  <a:gd name="adj" fmla="val 20000"/>
                </a:avLst>
              </a:prstGeom>
              <a:solidFill>
                <a:srgbClr val="EEF2FF"/>
              </a:solidFill>
              <a:ln>
                <a:noFill/>
              </a:ln>
            </p:spPr>
          </p:sp>
          <p:sp>
            <p:nvSpPr>
              <p:cNvPr id="30" name="TextBox 30"/>
              <p:cNvSpPr txBox="1"/>
              <p:nvPr/>
            </p:nvSpPr>
            <p:spPr>
              <a:xfrm>
                <a:off x="6792011" y="2470785"/>
                <a:ext cx="703478" cy="234696"/>
              </a:xfrm>
              <a:prstGeom prst="rect">
                <a:avLst/>
              </a:prstGeom>
              <a:noFill/>
              <a:ln>
                <a:noFill/>
              </a:ln>
            </p:spPr>
            <p:txBody>
              <a:bodyPr wrap="none" lIns="0" tIns="0" rIns="0" bIns="0" anchor="t" anchorCtr="0">
                <a:spAutoFit/>
              </a:bodyPr>
              <a:lstStyle/>
              <a:p>
                <a:pPr algn="ctr"/>
                <a:r>
                  <a:rPr lang="en-US" sz="1200" b="1" dirty="0">
                    <a:solidFill>
                      <a:schemeClr val="accent1"/>
                    </a:solidFill>
                    <a:latin typeface="+mn-lt"/>
                    <a:ea typeface="+mn-ea"/>
                    <a:cs typeface="+mn-cs"/>
                  </a:rPr>
                  <a:t>Two Sum</a:t>
                </a:r>
              </a:p>
            </p:txBody>
          </p:sp>
          <p:sp>
            <p:nvSpPr>
              <p:cNvPr id="31" name="Rectangle 31"/>
              <p:cNvSpPr/>
              <p:nvPr/>
            </p:nvSpPr>
            <p:spPr>
              <a:xfrm>
                <a:off x="7877175" y="2362200"/>
                <a:ext cx="1238250" cy="381000"/>
              </a:xfrm>
              <a:prstGeom prst="roundRect">
                <a:avLst>
                  <a:gd name="adj" fmla="val 20000"/>
                </a:avLst>
              </a:prstGeom>
              <a:solidFill>
                <a:srgbClr val="EEF2FF"/>
              </a:solidFill>
              <a:ln>
                <a:noFill/>
              </a:ln>
            </p:spPr>
          </p:sp>
          <p:sp>
            <p:nvSpPr>
              <p:cNvPr id="32" name="TextBox 32"/>
              <p:cNvSpPr txBox="1"/>
              <p:nvPr/>
            </p:nvSpPr>
            <p:spPr>
              <a:xfrm>
                <a:off x="8165318" y="2470785"/>
                <a:ext cx="661965" cy="234696"/>
              </a:xfrm>
              <a:prstGeom prst="rect">
                <a:avLst/>
              </a:prstGeom>
              <a:noFill/>
              <a:ln>
                <a:noFill/>
              </a:ln>
            </p:spPr>
            <p:txBody>
              <a:bodyPr wrap="none" lIns="0" tIns="0" rIns="0" bIns="0" anchor="t" anchorCtr="0">
                <a:spAutoFit/>
              </a:bodyPr>
              <a:lstStyle/>
              <a:p>
                <a:pPr algn="ctr"/>
                <a:r>
                  <a:rPr lang="en-US" sz="1200" b="1" dirty="0">
                    <a:solidFill>
                      <a:schemeClr val="accent1"/>
                    </a:solidFill>
                    <a:latin typeface="+mn-lt"/>
                    <a:ea typeface="+mn-ea"/>
                    <a:cs typeface="+mn-cs"/>
                  </a:rPr>
                  <a:t>Modular</a:t>
                </a:r>
              </a:p>
            </p:txBody>
          </p:sp>
          <p:sp>
            <p:nvSpPr>
              <p:cNvPr id="33" name="Rectangle 33"/>
              <p:cNvSpPr/>
              <p:nvPr/>
            </p:nvSpPr>
            <p:spPr>
              <a:xfrm>
                <a:off x="9229725" y="2362200"/>
                <a:ext cx="1238250" cy="381000"/>
              </a:xfrm>
              <a:prstGeom prst="roundRect">
                <a:avLst>
                  <a:gd name="adj" fmla="val 20000"/>
                </a:avLst>
              </a:prstGeom>
              <a:solidFill>
                <a:srgbClr val="EEF2FF"/>
              </a:solidFill>
              <a:ln>
                <a:noFill/>
              </a:ln>
            </p:spPr>
          </p:sp>
          <p:sp>
            <p:nvSpPr>
              <p:cNvPr id="34" name="TextBox 34"/>
              <p:cNvSpPr txBox="1"/>
              <p:nvPr/>
            </p:nvSpPr>
            <p:spPr>
              <a:xfrm>
                <a:off x="9489407" y="2470785"/>
                <a:ext cx="718886" cy="234696"/>
              </a:xfrm>
              <a:prstGeom prst="rect">
                <a:avLst/>
              </a:prstGeom>
              <a:noFill/>
              <a:ln>
                <a:noFill/>
              </a:ln>
            </p:spPr>
            <p:txBody>
              <a:bodyPr wrap="none" lIns="0" tIns="0" rIns="0" bIns="0" anchor="t" anchorCtr="0">
                <a:spAutoFit/>
              </a:bodyPr>
              <a:lstStyle/>
              <a:p>
                <a:pPr algn="ctr"/>
                <a:r>
                  <a:rPr lang="en-US" sz="1200" b="1" dirty="0">
                    <a:solidFill>
                      <a:schemeClr val="accent1"/>
                    </a:solidFill>
                    <a:latin typeface="+mn-lt"/>
                    <a:ea typeface="+mn-ea"/>
                    <a:cs typeface="+mn-cs"/>
                  </a:rPr>
                  <a:t>Plus One</a:t>
                </a:r>
              </a:p>
            </p:txBody>
          </p:sp>
        </p:grpSp>
        <p:sp>
          <p:nvSpPr>
            <p:cNvPr id="36" name="Rectangle 36"/>
            <p:cNvSpPr/>
            <p:nvPr/>
          </p:nvSpPr>
          <p:spPr>
            <a:xfrm>
              <a:off x="6524625" y="2838450"/>
              <a:ext cx="3943350" cy="381000"/>
            </a:xfrm>
            <a:prstGeom prst="roundRect">
              <a:avLst>
                <a:gd name="adj" fmla="val 20000"/>
              </a:avLst>
            </a:prstGeom>
            <a:solidFill>
              <a:schemeClr val="lt2"/>
            </a:solidFill>
            <a:ln>
              <a:noFill/>
            </a:ln>
          </p:spPr>
        </p:sp>
        <p:sp>
          <p:nvSpPr>
            <p:cNvPr id="37" name="TextBox 37"/>
            <p:cNvSpPr txBox="1"/>
            <p:nvPr/>
          </p:nvSpPr>
          <p:spPr>
            <a:xfrm>
              <a:off x="6976335" y="2947035"/>
              <a:ext cx="3039930" cy="234696"/>
            </a:xfrm>
            <a:prstGeom prst="rect">
              <a:avLst/>
            </a:prstGeom>
            <a:noFill/>
            <a:ln>
              <a:noFill/>
            </a:ln>
          </p:spPr>
          <p:txBody>
            <a:bodyPr wrap="none" lIns="0" tIns="0" rIns="0" bIns="0" anchor="t" anchorCtr="0">
              <a:spAutoFit/>
            </a:bodyPr>
            <a:lstStyle/>
            <a:p>
              <a:pPr algn="ctr"/>
              <a:r>
                <a:rPr lang="en-US" sz="1200" b="1" dirty="0">
                  <a:solidFill>
                    <a:schemeClr val="dk2"/>
                  </a:solidFill>
                  <a:latin typeface="+mn-lt"/>
                  <a:ea typeface="+mn-ea"/>
                  <a:cs typeface="+mn-cs"/>
                </a:rPr>
                <a:t>combined with word-level operations</a:t>
              </a:r>
            </a:p>
          </p:txBody>
        </p:sp>
        <p:sp>
          <p:nvSpPr>
            <p:cNvPr id="38" name="TextBox 38"/>
            <p:cNvSpPr txBox="1"/>
            <p:nvPr/>
          </p:nvSpPr>
          <p:spPr>
            <a:xfrm>
              <a:off x="6518910" y="3421856"/>
              <a:ext cx="3785531" cy="220028"/>
            </a:xfrm>
            <a:prstGeom prst="rect">
              <a:avLst/>
            </a:prstGeom>
            <a:noFill/>
            <a:ln>
              <a:noFill/>
            </a:ln>
          </p:spPr>
          <p:txBody>
            <a:bodyPr wrap="none" lIns="0" tIns="0" rIns="0" bIns="0" anchor="t" anchorCtr="0">
              <a:spAutoFit/>
            </a:bodyPr>
            <a:lstStyle/>
            <a:p>
              <a:pPr algn="l"/>
              <a:r>
                <a:rPr lang="en-US" sz="1120" dirty="0">
                  <a:solidFill>
                    <a:srgbClr val="94A3B8"/>
                  </a:solidFill>
                  <a:latin typeface="+mn-lt"/>
                  <a:ea typeface="+mn-ea"/>
                  <a:cs typeface="+mn-cs"/>
                </a:rPr>
                <a:t>Arithmetic rules paired with a linguistic operation.</a:t>
              </a:r>
            </a:p>
          </p:txBody>
        </p:sp>
      </p:grpSp>
      <p:grpSp>
        <p:nvGrpSpPr>
          <p:cNvPr id="56" name="Group 56"/>
          <p:cNvGrpSpPr/>
          <p:nvPr/>
        </p:nvGrpSpPr>
        <p:grpSpPr>
          <a:xfrm>
            <a:off x="762000" y="3943350"/>
            <a:ext cx="10668000" cy="2019300"/>
            <a:chOff x="762000" y="3943350"/>
            <a:chExt cx="10668000" cy="2019300"/>
          </a:xfrm>
        </p:grpSpPr>
        <p:sp>
          <p:nvSpPr>
            <p:cNvPr id="40" name="Rectangle 40"/>
            <p:cNvSpPr/>
            <p:nvPr/>
          </p:nvSpPr>
          <p:spPr>
            <a:xfrm>
              <a:off x="762000" y="3943350"/>
              <a:ext cx="10668000" cy="2019300"/>
            </a:xfrm>
            <a:prstGeom prst="roundRect">
              <a:avLst>
                <a:gd name="adj" fmla="val 6604"/>
              </a:avLst>
            </a:prstGeom>
            <a:solidFill>
              <a:srgbClr val="F8FAFC"/>
            </a:solidFill>
            <a:ln w="14288">
              <a:solidFill>
                <a:schemeClr val="accent4"/>
              </a:solidFill>
            </a:ln>
            <a:effectLst>
              <a:outerShdw blurRad="76200" dist="28575" dir="5400000" algn="ctr" rotWithShape="0">
                <a:srgbClr val="1E293B">
                  <a:alpha val="5250"/>
                </a:srgbClr>
              </a:outerShdw>
            </a:effectLst>
          </p:spPr>
        </p:sp>
        <p:sp>
          <p:nvSpPr>
            <p:cNvPr id="41" name="TextBox 41"/>
            <p:cNvSpPr txBox="1"/>
            <p:nvPr/>
          </p:nvSpPr>
          <p:spPr>
            <a:xfrm>
              <a:off x="985647" y="4142899"/>
              <a:ext cx="3160252" cy="190690"/>
            </a:xfrm>
            <a:prstGeom prst="rect">
              <a:avLst/>
            </a:prstGeom>
            <a:noFill/>
            <a:ln>
              <a:noFill/>
            </a:ln>
          </p:spPr>
          <p:txBody>
            <a:bodyPr wrap="none" lIns="0" tIns="0" rIns="0" bIns="0" anchor="t" anchorCtr="0">
              <a:spAutoFit/>
            </a:bodyPr>
            <a:lstStyle/>
            <a:p>
              <a:pPr algn="l"/>
              <a:r>
                <a:rPr lang="en-US" sz="980" b="1" spc="75" dirty="0">
                  <a:solidFill>
                    <a:schemeClr val="accent1"/>
                  </a:solidFill>
                  <a:latin typeface="+mn-lt"/>
                  <a:ea typeface="+mn-ea"/>
                  <a:cs typeface="+mn-cs"/>
                </a:rPr>
                <a:t>TWO FAMILIES — THE HEART OF THE STUDY</a:t>
              </a:r>
            </a:p>
          </p:txBody>
        </p:sp>
        <p:grpSp>
          <p:nvGrpSpPr>
            <p:cNvPr id="48" name="Group 48"/>
            <p:cNvGrpSpPr/>
            <p:nvPr/>
          </p:nvGrpSpPr>
          <p:grpSpPr>
            <a:xfrm>
              <a:off x="990600" y="4400550"/>
              <a:ext cx="5105400" cy="1390650"/>
              <a:chOff x="990600" y="4400550"/>
              <a:chExt cx="5105400" cy="1390650"/>
            </a:xfrm>
          </p:grpSpPr>
          <p:sp>
            <p:nvSpPr>
              <p:cNvPr id="42" name="Rectangle 42"/>
              <p:cNvSpPr/>
              <p:nvPr/>
            </p:nvSpPr>
            <p:spPr>
              <a:xfrm>
                <a:off x="990600" y="4400550"/>
                <a:ext cx="5105400" cy="1390650"/>
              </a:xfrm>
              <a:prstGeom prst="roundRect">
                <a:avLst>
                  <a:gd name="adj" fmla="val 8219"/>
                </a:avLst>
              </a:prstGeom>
              <a:solidFill>
                <a:srgbClr val="ECFDF5"/>
              </a:solidFill>
              <a:ln w="14288">
                <a:solidFill>
                  <a:schemeClr val="accent5"/>
                </a:solidFill>
              </a:ln>
            </p:spPr>
          </p:sp>
          <p:sp>
            <p:nvSpPr>
              <p:cNvPr id="43" name="TextBox 43"/>
              <p:cNvSpPr txBox="1"/>
              <p:nvPr/>
            </p:nvSpPr>
            <p:spPr>
              <a:xfrm>
                <a:off x="1211580" y="4543425"/>
                <a:ext cx="2237518" cy="293370"/>
              </a:xfrm>
              <a:prstGeom prst="rect">
                <a:avLst/>
              </a:prstGeom>
              <a:noFill/>
              <a:ln>
                <a:noFill/>
              </a:ln>
            </p:spPr>
            <p:txBody>
              <a:bodyPr wrap="none" lIns="0" tIns="0" rIns="0" bIns="0" anchor="t" anchorCtr="0">
                <a:spAutoFit/>
              </a:bodyPr>
              <a:lstStyle/>
              <a:p>
                <a:pPr algn="l"/>
                <a:r>
                  <a:rPr lang="en-US" sz="1500" b="1" dirty="0">
                    <a:solidFill>
                      <a:schemeClr val="accent5"/>
                    </a:solidFill>
                    <a:latin typeface="+mn-lt"/>
                    <a:ea typeface="+mn-ea"/>
                    <a:cs typeface="+mn-cs"/>
                  </a:rPr>
                  <a:t>Separable composites</a:t>
                </a:r>
              </a:p>
            </p:txBody>
          </p:sp>
          <p:sp>
            <p:nvSpPr>
              <p:cNvPr id="44" name="TextBox 44"/>
              <p:cNvSpPr txBox="1"/>
              <p:nvPr/>
            </p:nvSpPr>
            <p:spPr>
              <a:xfrm>
                <a:off x="1212342" y="4845368"/>
                <a:ext cx="3790857" cy="264033"/>
              </a:xfrm>
              <a:prstGeom prst="rect">
                <a:avLst/>
              </a:prstGeom>
              <a:noFill/>
              <a:ln>
                <a:noFill/>
              </a:ln>
            </p:spPr>
            <p:txBody>
              <a:bodyPr wrap="none" lIns="0" tIns="0" rIns="0" bIns="0" anchor="t" anchorCtr="0">
                <a:spAutoFit/>
              </a:bodyPr>
              <a:lstStyle/>
              <a:p>
                <a:pPr algn="l"/>
                <a:r>
                  <a:rPr lang="en-US" sz="1350" dirty="0">
                    <a:solidFill>
                      <a:srgbClr val="334155"/>
                    </a:solidFill>
                    <a:latin typeface="+mn-lt"/>
                    <a:ea typeface="+mn-ea"/>
                    <a:cs typeface="+mn-cs"/>
                  </a:rPr>
                  <a:t>The two operations act on different parts</a:t>
                </a:r>
              </a:p>
            </p:txBody>
          </p:sp>
          <p:sp>
            <p:nvSpPr>
              <p:cNvPr id="45" name="TextBox 45"/>
              <p:cNvSpPr txBox="1"/>
              <p:nvPr/>
            </p:nvSpPr>
            <p:spPr>
              <a:xfrm>
                <a:off x="1212342" y="5073968"/>
                <a:ext cx="1176833" cy="264033"/>
              </a:xfrm>
              <a:prstGeom prst="rect">
                <a:avLst/>
              </a:prstGeom>
              <a:noFill/>
              <a:ln>
                <a:noFill/>
              </a:ln>
            </p:spPr>
            <p:txBody>
              <a:bodyPr wrap="none" lIns="0" tIns="0" rIns="0" bIns="0" anchor="t" anchorCtr="0">
                <a:spAutoFit/>
              </a:bodyPr>
              <a:lstStyle/>
              <a:p>
                <a:pPr algn="l"/>
                <a:r>
                  <a:rPr lang="en-US" sz="1350" dirty="0">
                    <a:solidFill>
                      <a:srgbClr val="334155"/>
                    </a:solidFill>
                    <a:latin typeface="+mn-lt"/>
                    <a:ea typeface="+mn-ea"/>
                    <a:cs typeface="+mn-cs"/>
                  </a:rPr>
                  <a:t>of the input.</a:t>
                </a:r>
              </a:p>
            </p:txBody>
          </p:sp>
          <p:sp>
            <p:nvSpPr>
              <p:cNvPr id="46" name="Rectangle 46"/>
              <p:cNvSpPr/>
              <p:nvPr/>
            </p:nvSpPr>
            <p:spPr>
              <a:xfrm>
                <a:off x="1219200" y="5353050"/>
                <a:ext cx="3619500" cy="323850"/>
              </a:xfrm>
              <a:prstGeom prst="roundRect">
                <a:avLst>
                  <a:gd name="adj" fmla="val 23529"/>
                </a:avLst>
              </a:prstGeom>
              <a:solidFill>
                <a:schemeClr val="lt1"/>
              </a:solidFill>
              <a:ln>
                <a:noFill/>
              </a:ln>
            </p:spPr>
          </p:sp>
          <p:sp>
            <p:nvSpPr>
              <p:cNvPr id="47" name="TextBox 47"/>
              <p:cNvSpPr txBox="1"/>
              <p:nvPr/>
            </p:nvSpPr>
            <p:spPr>
              <a:xfrm>
                <a:off x="1365504" y="5442585"/>
                <a:ext cx="2363737"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Consolas"/>
                    <a:ea typeface="Consolas"/>
                    <a:cs typeface="Consolas"/>
                  </a:rPr>
                  <a:t>e.g. Capitalization &amp; Plus One</a:t>
                </a:r>
              </a:p>
            </p:txBody>
          </p:sp>
        </p:grpSp>
        <p:grpSp>
          <p:nvGrpSpPr>
            <p:cNvPr id="55" name="Group 55"/>
            <p:cNvGrpSpPr/>
            <p:nvPr/>
          </p:nvGrpSpPr>
          <p:grpSpPr>
            <a:xfrm>
              <a:off x="6248400" y="4400550"/>
              <a:ext cx="5105400" cy="1390650"/>
              <a:chOff x="6248400" y="4400550"/>
              <a:chExt cx="5105400" cy="1390650"/>
            </a:xfrm>
          </p:grpSpPr>
          <p:sp>
            <p:nvSpPr>
              <p:cNvPr id="49" name="Rectangle 49"/>
              <p:cNvSpPr/>
              <p:nvPr/>
            </p:nvSpPr>
            <p:spPr>
              <a:xfrm>
                <a:off x="6248400" y="4400550"/>
                <a:ext cx="5105400" cy="1390650"/>
              </a:xfrm>
              <a:prstGeom prst="roundRect">
                <a:avLst>
                  <a:gd name="adj" fmla="val 8219"/>
                </a:avLst>
              </a:prstGeom>
              <a:solidFill>
                <a:srgbClr val="FEF2F2"/>
              </a:solidFill>
              <a:ln w="14288">
                <a:solidFill>
                  <a:schemeClr val="accent6"/>
                </a:solidFill>
              </a:ln>
            </p:spPr>
          </p:sp>
          <p:sp>
            <p:nvSpPr>
              <p:cNvPr id="50" name="TextBox 50"/>
              <p:cNvSpPr txBox="1"/>
              <p:nvPr/>
            </p:nvSpPr>
            <p:spPr>
              <a:xfrm>
                <a:off x="6469380" y="4543425"/>
                <a:ext cx="3033426" cy="293370"/>
              </a:xfrm>
              <a:prstGeom prst="rect">
                <a:avLst/>
              </a:prstGeom>
              <a:noFill/>
              <a:ln>
                <a:noFill/>
              </a:ln>
            </p:spPr>
            <p:txBody>
              <a:bodyPr wrap="none" lIns="0" tIns="0" rIns="0" bIns="0" anchor="t" anchorCtr="0">
                <a:spAutoFit/>
              </a:bodyPr>
              <a:lstStyle/>
              <a:p>
                <a:pPr algn="l"/>
                <a:r>
                  <a:rPr lang="en-US" sz="1500" b="1" dirty="0">
                    <a:solidFill>
                      <a:schemeClr val="accent6"/>
                    </a:solidFill>
                    <a:latin typeface="+mn-lt"/>
                    <a:ea typeface="+mn-ea"/>
                    <a:cs typeface="+mn-cs"/>
                  </a:rPr>
                  <a:t>Compose-by-step composites</a:t>
                </a:r>
              </a:p>
            </p:txBody>
          </p:sp>
          <p:sp>
            <p:nvSpPr>
              <p:cNvPr id="51" name="TextBox 51"/>
              <p:cNvSpPr txBox="1"/>
              <p:nvPr/>
            </p:nvSpPr>
            <p:spPr>
              <a:xfrm>
                <a:off x="6470142" y="4845368"/>
                <a:ext cx="3536359" cy="264033"/>
              </a:xfrm>
              <a:prstGeom prst="rect">
                <a:avLst/>
              </a:prstGeom>
              <a:noFill/>
              <a:ln>
                <a:noFill/>
              </a:ln>
            </p:spPr>
            <p:txBody>
              <a:bodyPr wrap="none" lIns="0" tIns="0" rIns="0" bIns="0" anchor="t" anchorCtr="0">
                <a:spAutoFit/>
              </a:bodyPr>
              <a:lstStyle/>
              <a:p>
                <a:pPr algn="l"/>
                <a:r>
                  <a:rPr lang="en-US" sz="1350" dirty="0">
                    <a:solidFill>
                      <a:srgbClr val="334155"/>
                    </a:solidFill>
                    <a:latin typeface="+mn-lt"/>
                    <a:ea typeface="+mn-ea"/>
                    <a:cs typeface="+mn-cs"/>
                  </a:rPr>
                  <a:t>The operations must be chained through</a:t>
                </a:r>
              </a:p>
            </p:txBody>
          </p:sp>
          <p:sp>
            <p:nvSpPr>
              <p:cNvPr id="52" name="TextBox 52"/>
              <p:cNvSpPr txBox="1"/>
              <p:nvPr/>
            </p:nvSpPr>
            <p:spPr>
              <a:xfrm>
                <a:off x="6470142" y="5073968"/>
                <a:ext cx="2721597" cy="264033"/>
              </a:xfrm>
              <a:prstGeom prst="rect">
                <a:avLst/>
              </a:prstGeom>
              <a:noFill/>
              <a:ln>
                <a:noFill/>
              </a:ln>
            </p:spPr>
            <p:txBody>
              <a:bodyPr wrap="none" lIns="0" tIns="0" rIns="0" bIns="0" anchor="t" anchorCtr="0">
                <a:spAutoFit/>
              </a:bodyPr>
              <a:lstStyle/>
              <a:p>
                <a:pPr algn="l"/>
                <a:r>
                  <a:rPr lang="en-US" sz="1350" dirty="0">
                    <a:solidFill>
                      <a:srgbClr val="334155"/>
                    </a:solidFill>
                    <a:latin typeface="+mn-lt"/>
                    <a:ea typeface="+mn-ea"/>
                    <a:cs typeface="+mn-cs"/>
                  </a:rPr>
                  <a:t>shared, multi-step reasoning.</a:t>
                </a:r>
              </a:p>
            </p:txBody>
          </p:sp>
          <p:sp>
            <p:nvSpPr>
              <p:cNvPr id="53" name="Rectangle 53"/>
              <p:cNvSpPr/>
              <p:nvPr/>
            </p:nvSpPr>
            <p:spPr>
              <a:xfrm>
                <a:off x="6477000" y="5353050"/>
                <a:ext cx="3429000" cy="323850"/>
              </a:xfrm>
              <a:prstGeom prst="roundRect">
                <a:avLst>
                  <a:gd name="adj" fmla="val 23529"/>
                </a:avLst>
              </a:prstGeom>
              <a:solidFill>
                <a:schemeClr val="lt1"/>
              </a:solidFill>
              <a:ln>
                <a:noFill/>
              </a:ln>
            </p:spPr>
          </p:sp>
          <p:sp>
            <p:nvSpPr>
              <p:cNvPr id="54" name="TextBox 54"/>
              <p:cNvSpPr txBox="1"/>
              <p:nvPr/>
            </p:nvSpPr>
            <p:spPr>
              <a:xfrm>
                <a:off x="6623304" y="5442585"/>
                <a:ext cx="2083537" cy="234696"/>
              </a:xfrm>
              <a:prstGeom prst="rect">
                <a:avLst/>
              </a:prstGeom>
              <a:noFill/>
              <a:ln>
                <a:noFill/>
              </a:ln>
            </p:spPr>
            <p:txBody>
              <a:bodyPr wrap="none" lIns="0" tIns="0" rIns="0" bIns="0" anchor="t" anchorCtr="0">
                <a:spAutoFit/>
              </a:bodyPr>
              <a:lstStyle/>
              <a:p>
                <a:pPr algn="l"/>
                <a:r>
                  <a:rPr lang="en-US" sz="1200" dirty="0">
                    <a:solidFill>
                      <a:schemeClr val="accent6"/>
                    </a:solidFill>
                    <a:latin typeface="Consolas"/>
                    <a:ea typeface="Consolas"/>
                    <a:cs typeface="Consolas"/>
                  </a:rPr>
                  <a:t>e.g. Capitalization &amp; Swap</a:t>
                </a:r>
              </a:p>
            </p:txBody>
          </p:sp>
        </p:grpSp>
      </p:grpSp>
      <p:grpSp>
        <p:nvGrpSpPr>
          <p:cNvPr id="59" name="Group 59"/>
          <p:cNvGrpSpPr/>
          <p:nvPr/>
        </p:nvGrpSpPr>
        <p:grpSpPr>
          <a:xfrm>
            <a:off x="757238" y="6189345"/>
            <a:ext cx="10677525" cy="176212"/>
            <a:chOff x="757238" y="6189345"/>
            <a:chExt cx="10677525" cy="176212"/>
          </a:xfrm>
        </p:grpSpPr>
        <p:sp>
          <p:nvSpPr>
            <p:cNvPr id="57" name="TextBox 57"/>
            <p:cNvSpPr txBox="1"/>
            <p:nvPr/>
          </p:nvSpPr>
          <p:spPr>
            <a:xfrm>
              <a:off x="757238" y="6189345"/>
              <a:ext cx="4369558" cy="176212"/>
            </a:xfrm>
            <a:prstGeom prst="rect">
              <a:avLst/>
            </a:prstGeom>
            <a:noFill/>
            <a:ln>
              <a:noFill/>
            </a:ln>
          </p:spPr>
          <p:txBody>
            <a:bodyPr wrap="none" lIns="0" tIns="0" rIns="0" bIns="0" anchor="t" anchorCtr="0">
              <a:spAutoFit/>
            </a:bodyPr>
            <a:lstStyle/>
            <a:p>
              <a:pPr algn="l"/>
              <a:r>
                <a:rPr lang="en-US" sz="900" dirty="0">
                  <a:solidFill>
                    <a:srgbClr val="94A3B8"/>
                  </a:solidFill>
                  <a:latin typeface="+mn-lt"/>
                  <a:ea typeface="+mn-ea"/>
                  <a:cs typeface="+mn-cs"/>
                </a:rPr>
                <a:t>Scoring: exact-match accuracy (logical) · word error rate (translation)</a:t>
              </a:r>
            </a:p>
          </p:txBody>
        </p:sp>
        <p:sp>
          <p:nvSpPr>
            <p:cNvPr id="58" name="TextBox 58"/>
            <p:cNvSpPr txBox="1"/>
            <p:nvPr/>
          </p:nvSpPr>
          <p:spPr>
            <a:xfrm>
              <a:off x="11291964" y="6189345"/>
              <a:ext cx="142799" cy="176212"/>
            </a:xfrm>
            <a:prstGeom prst="rect">
              <a:avLst/>
            </a:prstGeom>
            <a:noFill/>
            <a:ln>
              <a:noFill/>
            </a:ln>
          </p:spPr>
          <p:txBody>
            <a:bodyPr wrap="none" lIns="0" tIns="0" rIns="0" bIns="0" anchor="t" anchorCtr="0">
              <a:spAutoFit/>
            </a:bodyPr>
            <a:lstStyle/>
            <a:p>
              <a:pPr algn="r"/>
              <a:r>
                <a:rPr lang="en-US" sz="900" dirty="0">
                  <a:solidFill>
                    <a:srgbClr val="94A3B8"/>
                  </a:solidFill>
                  <a:latin typeface="+mn-lt"/>
                  <a:ea typeface="+mn-ea"/>
                  <a:cs typeface="+mn-cs"/>
                </a:rPr>
                <a:t>06</a:t>
              </a:r>
            </a:p>
          </p:txBody>
        </p:sp>
      </p:grpSp>
      <p:sp>
        <p:nvSpPr>
          <p:cNvPr id="60" name="cue_s06_c1_suite_pairs_simple_building_blocks" title="cue_s06_c1_suite_pairs_simple_building_blocks" descr="cue_s06_c1_suite_pairs_simple_building_blocks The suite pairs simple building blocks."/>
          <p:cNvSpPr/>
          <p:nvPr/>
        </p:nvSpPr>
        <p:spPr>
          <a:xfrm>
            <a:off x="762000" y="1219352"/>
            <a:ext cx="10668000" cy="5335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cue_s06_c2_linguistic_tasks_include_capitalizat" title="cue_s06_c2_linguistic_tasks_include_capitalizat" descr="cue_s06_c2_linguistic_tasks_include_capitalizat Linguistic tasks include capitalization, swapping, and translations like phrase recombination and passive-to-active."/>
          <p:cNvSpPr/>
          <p:nvPr/>
        </p:nvSpPr>
        <p:spPr>
          <a:xfrm>
            <a:off x="762000" y="1924354"/>
            <a:ext cx="5191353" cy="18667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cue_s06_c3_logical_tasks_combine_arithmetic_wor" title="cue_s06_c3_logical_tasks_combine_arithmetic_wor" descr="cue_s06_c3_logical_tasks_combine_arithmetic_wor Logical tasks combine arithmetic with word operations."/>
          <p:cNvSpPr/>
          <p:nvPr/>
        </p:nvSpPr>
        <p:spPr>
          <a:xfrm>
            <a:off x="6238646" y="1924354"/>
            <a:ext cx="5191353" cy="18667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cue_s06_c4_tasks_split_separable_composites_act" title="cue_s06_c4_tasks_split_separable_composites_act" descr="cue_s06_c4_tasks_split_separable_composites_act Tasks split into separable composites, acting on different input parts, and compose-by-step composites requiring chained reasoning."/>
          <p:cNvSpPr/>
          <p:nvPr/>
        </p:nvSpPr>
        <p:spPr>
          <a:xfrm>
            <a:off x="762000" y="3943349"/>
            <a:ext cx="10668000" cy="20189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762000" y="495300"/>
            <a:ext cx="9109443" cy="737807"/>
            <a:chOff x="762000" y="495300"/>
            <a:chExt cx="9109443" cy="737807"/>
          </a:xfrm>
        </p:grpSpPr>
        <p:sp>
          <p:nvSpPr>
            <p:cNvPr id="2" name="Rectangle 2"/>
            <p:cNvSpPr/>
            <p:nvPr/>
          </p:nvSpPr>
          <p:spPr>
            <a:xfrm>
              <a:off x="762000" y="495300"/>
              <a:ext cx="57150" cy="381000"/>
            </a:xfrm>
            <a:prstGeom prst="rect">
              <a:avLst/>
            </a:prstGeom>
            <a:solidFill>
              <a:schemeClr val="accent2"/>
            </a:solidFill>
            <a:ln>
              <a:noFill/>
            </a:ln>
          </p:spPr>
        </p:sp>
        <p:sp>
          <p:nvSpPr>
            <p:cNvPr id="3" name="TextBox 3"/>
            <p:cNvSpPr txBox="1"/>
            <p:nvPr/>
          </p:nvSpPr>
          <p:spPr>
            <a:xfrm>
              <a:off x="947547" y="618649"/>
              <a:ext cx="970346" cy="190690"/>
            </a:xfrm>
            <a:prstGeom prst="rect">
              <a:avLst/>
            </a:prstGeom>
            <a:noFill/>
            <a:ln>
              <a:noFill/>
            </a:ln>
          </p:spPr>
          <p:txBody>
            <a:bodyPr wrap="none" lIns="0" tIns="0" rIns="0" bIns="0" anchor="t" anchorCtr="0">
              <a:spAutoFit/>
            </a:bodyPr>
            <a:lstStyle/>
            <a:p>
              <a:pPr algn="l"/>
              <a:r>
                <a:rPr lang="en-US" sz="980" b="1" spc="150" dirty="0">
                  <a:solidFill>
                    <a:schemeClr val="accent2"/>
                  </a:solidFill>
                  <a:latin typeface="+mn-lt"/>
                  <a:ea typeface="+mn-ea"/>
                  <a:cs typeface="+mn-cs"/>
                </a:rPr>
                <a:t>KEY RESULT</a:t>
              </a:r>
            </a:p>
          </p:txBody>
        </p:sp>
        <p:sp>
          <p:nvSpPr>
            <p:cNvPr id="4" name="TextBox 4"/>
            <p:cNvSpPr txBox="1"/>
            <p:nvPr/>
          </p:nvSpPr>
          <p:spPr>
            <a:xfrm>
              <a:off x="939546" y="734378"/>
              <a:ext cx="8931897"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j-lt"/>
                  <a:ea typeface="+mj-ea"/>
                  <a:cs typeface="+mj-cs"/>
                </a:rPr>
                <a:t>Composition works — or collapses — by task type</a:t>
              </a:r>
            </a:p>
          </p:txBody>
        </p:sp>
      </p:grpSp>
      <p:grpSp>
        <p:nvGrpSpPr>
          <p:cNvPr id="8" name="Group 8"/>
          <p:cNvGrpSpPr/>
          <p:nvPr/>
        </p:nvGrpSpPr>
        <p:grpSpPr>
          <a:xfrm>
            <a:off x="762000" y="1162050"/>
            <a:ext cx="2857500" cy="438150"/>
            <a:chOff x="762000" y="1162050"/>
            <a:chExt cx="2857500" cy="438150"/>
          </a:xfrm>
        </p:grpSpPr>
        <p:sp>
          <p:nvSpPr>
            <p:cNvPr id="6" name="Rectangle 6"/>
            <p:cNvSpPr/>
            <p:nvPr/>
          </p:nvSpPr>
          <p:spPr>
            <a:xfrm>
              <a:off x="762000" y="1162050"/>
              <a:ext cx="2857500" cy="438150"/>
            </a:xfrm>
            <a:prstGeom prst="roundRect">
              <a:avLst>
                <a:gd name="adj" fmla="val 50000"/>
              </a:avLst>
            </a:prstGeom>
            <a:solidFill>
              <a:schemeClr val="accent1"/>
            </a:solidFill>
            <a:ln>
              <a:noFill/>
            </a:ln>
          </p:spPr>
        </p:sp>
        <p:sp>
          <p:nvSpPr>
            <p:cNvPr id="7" name="TextBox 7"/>
            <p:cNvSpPr txBox="1"/>
            <p:nvPr/>
          </p:nvSpPr>
          <p:spPr>
            <a:xfrm>
              <a:off x="1059780" y="1292542"/>
              <a:ext cx="2261940"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A sharp split in behavior</a:t>
              </a:r>
            </a:p>
          </p:txBody>
        </p:sp>
      </p:grpSp>
      <p:grpSp>
        <p:nvGrpSpPr>
          <p:cNvPr id="21" name="Group 21"/>
          <p:cNvGrpSpPr/>
          <p:nvPr/>
        </p:nvGrpSpPr>
        <p:grpSpPr>
          <a:xfrm>
            <a:off x="762000" y="1790700"/>
            <a:ext cx="7334250" cy="3733800"/>
            <a:chOff x="762000" y="1790700"/>
            <a:chExt cx="7334250" cy="3733800"/>
          </a:xfrm>
        </p:grpSpPr>
        <p:sp>
          <p:nvSpPr>
            <p:cNvPr id="9" name="Rectangle 9"/>
            <p:cNvSpPr/>
            <p:nvPr/>
          </p:nvSpPr>
          <p:spPr>
            <a:xfrm>
              <a:off x="762000" y="1790700"/>
              <a:ext cx="7334250" cy="3733800"/>
            </a:xfrm>
            <a:prstGeom prst="roundRect">
              <a:avLst>
                <a:gd name="adj" fmla="val 3571"/>
              </a:avLst>
            </a:prstGeom>
            <a:solidFill>
              <a:schemeClr val="lt1"/>
            </a:solidFill>
            <a:ln w="14288">
              <a:solidFill>
                <a:schemeClr val="accent4"/>
              </a:solidFill>
            </a:ln>
            <a:effectLst>
              <a:outerShdw blurRad="76200" dist="28575" dir="5400000" algn="ctr" rotWithShape="0">
                <a:srgbClr val="1E293B">
                  <a:alpha val="5250"/>
                </a:srgbClr>
              </a:outerShdw>
            </a:effectLst>
          </p:spPr>
        </p:sp>
        <p:sp>
          <p:nvSpPr>
            <p:cNvPr id="10" name="Rectangle 10"/>
            <p:cNvSpPr/>
            <p:nvPr/>
          </p:nvSpPr>
          <p:spPr>
            <a:xfrm>
              <a:off x="762000" y="1790700"/>
              <a:ext cx="57150" cy="3733800"/>
            </a:xfrm>
            <a:prstGeom prst="roundRect">
              <a:avLst>
                <a:gd name="adj" fmla="val 50000"/>
              </a:avLst>
            </a:prstGeom>
            <a:solidFill>
              <a:schemeClr val="accent6"/>
            </a:solidFill>
            <a:ln>
              <a:noFill/>
            </a:ln>
          </p:spPr>
        </p:sp>
        <p:sp>
          <p:nvSpPr>
            <p:cNvPr id="11" name="TextBox 11"/>
            <p:cNvSpPr txBox="1"/>
            <p:nvPr/>
          </p:nvSpPr>
          <p:spPr>
            <a:xfrm>
              <a:off x="1023747" y="1990249"/>
              <a:ext cx="6002763" cy="190690"/>
            </a:xfrm>
            <a:prstGeom prst="rect">
              <a:avLst/>
            </a:prstGeom>
            <a:noFill/>
            <a:ln>
              <a:noFill/>
            </a:ln>
          </p:spPr>
          <p:txBody>
            <a:bodyPr wrap="none" lIns="0" tIns="0" rIns="0" bIns="0" anchor="t" anchorCtr="0">
              <a:spAutoFit/>
            </a:bodyPr>
            <a:lstStyle/>
            <a:p>
              <a:pPr algn="l"/>
              <a:r>
                <a:rPr lang="en-US" sz="980" b="1" spc="75" dirty="0">
                  <a:solidFill>
                    <a:schemeClr val="accent6"/>
                  </a:solidFill>
                  <a:latin typeface="+mn-lt"/>
                  <a:ea typeface="+mn-ea"/>
                  <a:cs typeface="+mn-cs"/>
                </a:rPr>
                <a:t>FIGURE 2 · CAPITALIZATION &amp; SWAP (COMPOSE-BY-STEP) · ACCURACY vs SCALE</a:t>
              </a:r>
            </a:p>
          </p:txBody>
        </p:sp>
        <p:pic>
          <p:nvPicPr>
            <p:cNvPr id="12" name="Image 12"/>
            <p:cNvPicPr>
              <a:picLocks noChangeAspect="1"/>
            </p:cNvPicPr>
            <p:nvPr/>
          </p:nvPicPr>
          <p:blipFill>
            <a:blip r:embed="rId2"/>
            <a:stretch>
              <a:fillRect/>
            </a:stretch>
          </p:blipFill>
          <p:spPr>
            <a:xfrm>
              <a:off x="990600" y="2250735"/>
              <a:ext cx="6896100" cy="1613580"/>
            </a:xfrm>
            <a:prstGeom prst="rect">
              <a:avLst/>
            </a:prstGeom>
          </p:spPr>
        </p:pic>
        <p:grpSp>
          <p:nvGrpSpPr>
            <p:cNvPr id="20" name="Group 20"/>
            <p:cNvGrpSpPr/>
            <p:nvPr/>
          </p:nvGrpSpPr>
          <p:grpSpPr>
            <a:xfrm>
              <a:off x="990600" y="3981450"/>
              <a:ext cx="7061949" cy="1390650"/>
              <a:chOff x="990600" y="3981450"/>
              <a:chExt cx="7061949" cy="1390650"/>
            </a:xfrm>
          </p:grpSpPr>
          <p:sp>
            <p:nvSpPr>
              <p:cNvPr id="13" name="Rectangle 13"/>
              <p:cNvSpPr/>
              <p:nvPr/>
            </p:nvSpPr>
            <p:spPr>
              <a:xfrm>
                <a:off x="990600" y="3981450"/>
                <a:ext cx="6896100" cy="1390650"/>
              </a:xfrm>
              <a:prstGeom prst="roundRect">
                <a:avLst>
                  <a:gd name="adj" fmla="val 6849"/>
                </a:avLst>
              </a:prstGeom>
              <a:solidFill>
                <a:srgbClr val="FEF2F2"/>
              </a:solidFill>
              <a:ln>
                <a:noFill/>
              </a:ln>
            </p:spPr>
          </p:sp>
          <p:sp>
            <p:nvSpPr>
              <p:cNvPr id="14" name="Ellipse 14"/>
              <p:cNvSpPr/>
              <p:nvPr/>
            </p:nvSpPr>
            <p:spPr>
              <a:xfrm>
                <a:off x="1143000" y="4210050"/>
                <a:ext cx="114300" cy="114300"/>
              </a:xfrm>
              <a:prstGeom prst="ellipse">
                <a:avLst/>
              </a:prstGeom>
              <a:solidFill>
                <a:schemeClr val="accent6"/>
              </a:solidFill>
              <a:ln>
                <a:noFill/>
              </a:ln>
            </p:spPr>
          </p:sp>
          <p:sp>
            <p:nvSpPr>
              <p:cNvPr id="15" name="TextBox 15"/>
              <p:cNvSpPr txBox="1"/>
              <p:nvPr/>
            </p:nvSpPr>
            <p:spPr>
              <a:xfrm>
                <a:off x="1346073" y="4186714"/>
                <a:ext cx="6706476" cy="249364"/>
              </a:xfrm>
              <a:prstGeom prst="rect">
                <a:avLst/>
              </a:prstGeom>
              <a:noFill/>
              <a:ln>
                <a:noFill/>
              </a:ln>
            </p:spPr>
            <p:txBody>
              <a:bodyPr wrap="none" lIns="0" tIns="0" rIns="0" bIns="0" anchor="t" anchorCtr="0">
                <a:spAutoFit/>
              </a:bodyPr>
              <a:lstStyle/>
              <a:p>
                <a:pPr algn="l"/>
                <a:r>
                  <a:rPr lang="en-US" sz="1280" b="1" dirty="0">
                    <a:solidFill>
                      <a:schemeClr val="accent6"/>
                    </a:solidFill>
                    <a:latin typeface="+mn-lt"/>
                    <a:ea typeface="+mn-ea"/>
                    <a:cs typeface="+mn-cs"/>
                  </a:rPr>
                  <a:t>composite</a:t>
                </a:r>
                <a:r>
                  <a:rPr lang="en-US" sz="1280" dirty="0">
                    <a:solidFill>
                      <a:schemeClr val="accent1"/>
                    </a:solidFill>
                    <a:latin typeface="+mn-lt"/>
                    <a:ea typeface="+mn-ea"/>
                    <a:cs typeface="+mn-cs"/>
                  </a:rPr>
                  <a:t xml:space="preserve"> (red) collapses to ~20% or below and stays flat as the model grows.</a:t>
                </a:r>
              </a:p>
            </p:txBody>
          </p:sp>
          <p:sp>
            <p:nvSpPr>
              <p:cNvPr id="16" name="Ellipse 16"/>
              <p:cNvSpPr/>
              <p:nvPr/>
            </p:nvSpPr>
            <p:spPr>
              <a:xfrm>
                <a:off x="1143000" y="4572000"/>
                <a:ext cx="114300" cy="114300"/>
              </a:xfrm>
              <a:prstGeom prst="ellipse">
                <a:avLst/>
              </a:prstGeom>
              <a:solidFill>
                <a:srgbClr val="2563EB"/>
              </a:solidFill>
              <a:ln>
                <a:noFill/>
              </a:ln>
            </p:spPr>
          </p:sp>
          <p:sp>
            <p:nvSpPr>
              <p:cNvPr id="17" name="TextBox 17"/>
              <p:cNvSpPr txBox="1"/>
              <p:nvPr/>
            </p:nvSpPr>
            <p:spPr>
              <a:xfrm>
                <a:off x="1346073" y="4548664"/>
                <a:ext cx="5121191" cy="249364"/>
              </a:xfrm>
              <a:prstGeom prst="rect">
                <a:avLst/>
              </a:prstGeom>
              <a:noFill/>
              <a:ln>
                <a:noFill/>
              </a:ln>
            </p:spPr>
            <p:txBody>
              <a:bodyPr wrap="none" lIns="0" tIns="0" rIns="0" bIns="0" anchor="t" anchorCtr="0">
                <a:spAutoFit/>
              </a:bodyPr>
              <a:lstStyle/>
              <a:p>
                <a:pPr algn="l"/>
                <a:r>
                  <a:rPr lang="en-US" sz="1280" b="1" dirty="0">
                    <a:solidFill>
                      <a:schemeClr val="accent1"/>
                    </a:solidFill>
                    <a:latin typeface="+mn-lt"/>
                    <a:ea typeface="+mn-ea"/>
                    <a:cs typeface="+mn-cs"/>
                  </a:rPr>
                  <a:t>capital / swap</a:t>
                </a:r>
                <a:r>
                  <a:rPr lang="en-US" sz="1280" dirty="0">
                    <a:solidFill>
                      <a:schemeClr val="accent1"/>
                    </a:solidFill>
                    <a:latin typeface="+mn-lt"/>
                    <a:ea typeface="+mn-ea"/>
                    <a:cs typeface="+mn-cs"/>
                  </a:rPr>
                  <a:t xml:space="preserve"> stay near 90–100% on each simple task alone.</a:t>
                </a:r>
              </a:p>
            </p:txBody>
          </p:sp>
          <p:sp>
            <p:nvSpPr>
              <p:cNvPr id="18" name="Ellipse 18"/>
              <p:cNvSpPr/>
              <p:nvPr/>
            </p:nvSpPr>
            <p:spPr>
              <a:xfrm>
                <a:off x="1143000" y="4933950"/>
                <a:ext cx="114300" cy="114300"/>
              </a:xfrm>
              <a:prstGeom prst="ellipse">
                <a:avLst/>
              </a:prstGeom>
              <a:solidFill>
                <a:srgbClr val="EA9A2B"/>
              </a:solidFill>
              <a:ln>
                <a:noFill/>
              </a:ln>
            </p:spPr>
          </p:sp>
          <p:sp>
            <p:nvSpPr>
              <p:cNvPr id="19" name="TextBox 19"/>
              <p:cNvSpPr txBox="1"/>
              <p:nvPr/>
            </p:nvSpPr>
            <p:spPr>
              <a:xfrm>
                <a:off x="1346073" y="4910614"/>
                <a:ext cx="5556713" cy="249364"/>
              </a:xfrm>
              <a:prstGeom prst="rect">
                <a:avLst/>
              </a:prstGeom>
              <a:noFill/>
              <a:ln>
                <a:noFill/>
              </a:ln>
            </p:spPr>
            <p:txBody>
              <a:bodyPr wrap="none" lIns="0" tIns="0" rIns="0" bIns="0" anchor="t" anchorCtr="0">
                <a:spAutoFit/>
              </a:bodyPr>
              <a:lstStyle/>
              <a:p>
                <a:pPr algn="l"/>
                <a:r>
                  <a:rPr lang="en-US" sz="1280" b="1" dirty="0">
                    <a:solidFill>
                      <a:srgbClr val="EA9A2B"/>
                    </a:solidFill>
                    <a:latin typeface="+mn-lt"/>
                    <a:ea typeface="+mn-ea"/>
                    <a:cs typeface="+mn-cs"/>
                  </a:rPr>
                  <a:t>composite in-context</a:t>
                </a:r>
                <a:r>
                  <a:rPr lang="en-US" sz="1280" dirty="0">
                    <a:solidFill>
                      <a:schemeClr val="accent1"/>
                    </a:solidFill>
                    <a:latin typeface="+mn-lt"/>
                    <a:ea typeface="+mn-ea"/>
                    <a:cs typeface="+mn-cs"/>
                  </a:rPr>
                  <a:t xml:space="preserve"> recovers — so the ability is there, unused.</a:t>
                </a:r>
              </a:p>
            </p:txBody>
          </p:sp>
        </p:grpSp>
      </p:grpSp>
      <p:grpSp>
        <p:nvGrpSpPr>
          <p:cNvPr id="33" name="Group 33"/>
          <p:cNvGrpSpPr/>
          <p:nvPr/>
        </p:nvGrpSpPr>
        <p:grpSpPr>
          <a:xfrm>
            <a:off x="8286750" y="1790700"/>
            <a:ext cx="3143250" cy="3733800"/>
            <a:chOff x="8286750" y="1790700"/>
            <a:chExt cx="3143250" cy="3733800"/>
          </a:xfrm>
        </p:grpSpPr>
        <p:sp>
          <p:nvSpPr>
            <p:cNvPr id="22" name="Rectangle 22"/>
            <p:cNvSpPr/>
            <p:nvPr/>
          </p:nvSpPr>
          <p:spPr>
            <a:xfrm>
              <a:off x="8286750" y="1790700"/>
              <a:ext cx="3143250" cy="3733800"/>
            </a:xfrm>
            <a:prstGeom prst="roundRect">
              <a:avLst>
                <a:gd name="adj" fmla="val 4242"/>
              </a:avLst>
            </a:prstGeom>
            <a:solidFill>
              <a:srgbClr val="ECFDF5"/>
            </a:solidFill>
            <a:ln w="14288">
              <a:solidFill>
                <a:schemeClr val="accent5"/>
              </a:solidFill>
            </a:ln>
            <a:effectLst>
              <a:outerShdw blurRad="76200" dist="28575" dir="5400000" algn="ctr" rotWithShape="0">
                <a:srgbClr val="1E293B">
                  <a:alpha val="5250"/>
                </a:srgbClr>
              </a:outerShdw>
            </a:effectLst>
          </p:spPr>
        </p:sp>
        <p:sp>
          <p:nvSpPr>
            <p:cNvPr id="23" name="TextBox 23"/>
            <p:cNvSpPr txBox="1"/>
            <p:nvPr/>
          </p:nvSpPr>
          <p:spPr>
            <a:xfrm>
              <a:off x="8548497" y="2028349"/>
              <a:ext cx="1195099" cy="190690"/>
            </a:xfrm>
            <a:prstGeom prst="rect">
              <a:avLst/>
            </a:prstGeom>
            <a:noFill/>
            <a:ln>
              <a:noFill/>
            </a:ln>
          </p:spPr>
          <p:txBody>
            <a:bodyPr wrap="none" lIns="0" tIns="0" rIns="0" bIns="0" anchor="t" anchorCtr="0">
              <a:spAutoFit/>
            </a:bodyPr>
            <a:lstStyle/>
            <a:p>
              <a:pPr algn="l"/>
              <a:r>
                <a:rPr lang="en-US" sz="980" b="1" spc="75" dirty="0">
                  <a:solidFill>
                    <a:schemeClr val="accent5"/>
                  </a:solidFill>
                  <a:latin typeface="+mn-lt"/>
                  <a:ea typeface="+mn-ea"/>
                  <a:cs typeface="+mn-cs"/>
                </a:rPr>
                <a:t>THE OTHER SIDE</a:t>
              </a:r>
            </a:p>
          </p:txBody>
        </p:sp>
        <p:sp>
          <p:nvSpPr>
            <p:cNvPr id="24" name="TextBox 24"/>
            <p:cNvSpPr txBox="1"/>
            <p:nvPr/>
          </p:nvSpPr>
          <p:spPr>
            <a:xfrm>
              <a:off x="8544306" y="2301240"/>
              <a:ext cx="2133638"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j-lt"/>
                  <a:ea typeface="+mj-ea"/>
                  <a:cs typeface="+mj-cs"/>
                </a:rPr>
                <a:t>Separable tasks</a:t>
              </a:r>
            </a:p>
          </p:txBody>
        </p:sp>
        <p:grpSp>
          <p:nvGrpSpPr>
            <p:cNvPr id="27" name="Group 27"/>
            <p:cNvGrpSpPr/>
            <p:nvPr/>
          </p:nvGrpSpPr>
          <p:grpSpPr>
            <a:xfrm>
              <a:off x="8572500" y="3333750"/>
              <a:ext cx="1809750" cy="1143000"/>
              <a:chOff x="8572500" y="3333750"/>
              <a:chExt cx="1809750" cy="1143000"/>
            </a:xfrm>
          </p:grpSpPr>
          <p:sp>
            <p:nvSpPr>
              <p:cNvPr id="25" name="Freeform 25"/>
              <p:cNvSpPr/>
              <p:nvPr/>
            </p:nvSpPr>
            <p:spPr>
              <a:xfrm>
                <a:off x="8572500" y="3333750"/>
                <a:ext cx="1809750" cy="1143000"/>
              </a:xfrm>
              <a:custGeom>
                <a:avLst/>
                <a:gdLst/>
                <a:ahLst/>
                <a:cxnLst/>
                <a:rect l="l" t="t" r="r" b="b"/>
                <a:pathLst>
                  <a:path w="1809750" h="1143000">
                    <a:moveTo>
                      <a:pt x="0" y="1143000"/>
                    </a:moveTo>
                    <a:lnTo>
                      <a:pt x="571500" y="571500"/>
                    </a:lnTo>
                    <a:lnTo>
                      <a:pt x="1047750" y="857250"/>
                    </a:lnTo>
                    <a:lnTo>
                      <a:pt x="1809750" y="0"/>
                    </a:lnTo>
                  </a:path>
                </a:pathLst>
              </a:custGeom>
              <a:noFill/>
              <a:ln w="38100" cap="rnd">
                <a:solidFill>
                  <a:schemeClr val="accent5"/>
                </a:solidFill>
                <a:round/>
              </a:ln>
            </p:spPr>
          </p:sp>
          <p:sp>
            <p:nvSpPr>
              <p:cNvPr id="26" name="Freeform 26"/>
              <p:cNvSpPr/>
              <p:nvPr/>
            </p:nvSpPr>
            <p:spPr>
              <a:xfrm>
                <a:off x="10153650" y="3333750"/>
                <a:ext cx="228600" cy="228600"/>
              </a:xfrm>
              <a:custGeom>
                <a:avLst/>
                <a:gdLst/>
                <a:ahLst/>
                <a:cxnLst/>
                <a:rect l="l" t="t" r="r" b="b"/>
                <a:pathLst>
                  <a:path w="228600" h="228600">
                    <a:moveTo>
                      <a:pt x="228600" y="0"/>
                    </a:moveTo>
                    <a:lnTo>
                      <a:pt x="0" y="57150"/>
                    </a:lnTo>
                    <a:moveTo>
                      <a:pt x="228600" y="0"/>
                    </a:moveTo>
                    <a:lnTo>
                      <a:pt x="171450" y="228600"/>
                    </a:lnTo>
                  </a:path>
                </a:pathLst>
              </a:custGeom>
              <a:noFill/>
              <a:ln w="38100" cap="rnd">
                <a:solidFill>
                  <a:schemeClr val="accent5"/>
                </a:solidFill>
              </a:ln>
            </p:spPr>
          </p:sp>
        </p:grpSp>
        <p:sp>
          <p:nvSpPr>
            <p:cNvPr id="28" name="TextBox 28"/>
            <p:cNvSpPr txBox="1"/>
            <p:nvPr/>
          </p:nvSpPr>
          <p:spPr>
            <a:xfrm>
              <a:off x="8546592" y="2864168"/>
              <a:ext cx="2146374" cy="264033"/>
            </a:xfrm>
            <a:prstGeom prst="rect">
              <a:avLst/>
            </a:prstGeom>
            <a:noFill/>
            <a:ln>
              <a:noFill/>
            </a:ln>
          </p:spPr>
          <p:txBody>
            <a:bodyPr wrap="none" lIns="0" tIns="0" rIns="0" bIns="0" anchor="t" anchorCtr="0">
              <a:spAutoFit/>
            </a:bodyPr>
            <a:lstStyle/>
            <a:p>
              <a:pPr algn="l"/>
              <a:r>
                <a:rPr lang="en-US" sz="1350" dirty="0">
                  <a:solidFill>
                    <a:srgbClr val="334155"/>
                  </a:solidFill>
                  <a:latin typeface="+mn-lt"/>
                  <a:ea typeface="+mn-ea"/>
                  <a:cs typeface="+mn-cs"/>
                </a:rPr>
                <a:t>Models compose the two</a:t>
              </a:r>
            </a:p>
          </p:txBody>
        </p:sp>
        <p:sp>
          <p:nvSpPr>
            <p:cNvPr id="29" name="TextBox 29"/>
            <p:cNvSpPr txBox="1"/>
            <p:nvPr/>
          </p:nvSpPr>
          <p:spPr>
            <a:xfrm>
              <a:off x="8546592" y="3111818"/>
              <a:ext cx="976922" cy="264033"/>
            </a:xfrm>
            <a:prstGeom prst="rect">
              <a:avLst/>
            </a:prstGeom>
            <a:noFill/>
            <a:ln>
              <a:noFill/>
            </a:ln>
          </p:spPr>
          <p:txBody>
            <a:bodyPr wrap="none" lIns="0" tIns="0" rIns="0" bIns="0" anchor="t" anchorCtr="0">
              <a:spAutoFit/>
            </a:bodyPr>
            <a:lstStyle/>
            <a:p>
              <a:pPr algn="l"/>
              <a:r>
                <a:rPr lang="en-US" sz="1350" dirty="0">
                  <a:solidFill>
                    <a:srgbClr val="334155"/>
                  </a:solidFill>
                  <a:latin typeface="+mn-lt"/>
                  <a:ea typeface="+mn-ea"/>
                  <a:cs typeface="+mn-cs"/>
                </a:rPr>
                <a:t>skills well.</a:t>
              </a:r>
            </a:p>
          </p:txBody>
        </p:sp>
        <p:sp>
          <p:nvSpPr>
            <p:cNvPr id="30" name="TextBox 30"/>
            <p:cNvSpPr txBox="1"/>
            <p:nvPr/>
          </p:nvSpPr>
          <p:spPr>
            <a:xfrm>
              <a:off x="8546592" y="4712018"/>
              <a:ext cx="2473204" cy="264033"/>
            </a:xfrm>
            <a:prstGeom prst="rect">
              <a:avLst/>
            </a:prstGeom>
            <a:noFill/>
            <a:ln>
              <a:noFill/>
            </a:ln>
          </p:spPr>
          <p:txBody>
            <a:bodyPr wrap="none" lIns="0" tIns="0" rIns="0" bIns="0" anchor="t" anchorCtr="0">
              <a:spAutoFit/>
            </a:bodyPr>
            <a:lstStyle/>
            <a:p>
              <a:pPr algn="l"/>
              <a:r>
                <a:rPr lang="en-US" sz="1350" dirty="0">
                  <a:solidFill>
                    <a:srgbClr val="334155"/>
                  </a:solidFill>
                  <a:latin typeface="+mn-lt"/>
                  <a:ea typeface="+mn-ea"/>
                  <a:cs typeface="+mn-cs"/>
                </a:rPr>
                <a:t>Accuracy climbs with scale,</a:t>
              </a:r>
            </a:p>
          </p:txBody>
        </p:sp>
        <p:sp>
          <p:nvSpPr>
            <p:cNvPr id="31" name="TextBox 31"/>
            <p:cNvSpPr txBox="1"/>
            <p:nvPr/>
          </p:nvSpPr>
          <p:spPr>
            <a:xfrm>
              <a:off x="8546592" y="4959668"/>
              <a:ext cx="2367210" cy="264033"/>
            </a:xfrm>
            <a:prstGeom prst="rect">
              <a:avLst/>
            </a:prstGeom>
            <a:noFill/>
            <a:ln>
              <a:noFill/>
            </a:ln>
          </p:spPr>
          <p:txBody>
            <a:bodyPr wrap="none" lIns="0" tIns="0" rIns="0" bIns="0" anchor="t" anchorCtr="0">
              <a:spAutoFit/>
            </a:bodyPr>
            <a:lstStyle/>
            <a:p>
              <a:pPr algn="l"/>
              <a:r>
                <a:rPr lang="en-US" sz="1350" dirty="0">
                  <a:solidFill>
                    <a:srgbClr val="334155"/>
                  </a:solidFill>
                  <a:latin typeface="+mn-lt"/>
                  <a:ea typeface="+mn-ea"/>
                  <a:cs typeface="+mn-cs"/>
                </a:rPr>
                <a:t>approaching the composite</a:t>
              </a:r>
            </a:p>
          </p:txBody>
        </p:sp>
        <p:sp>
          <p:nvSpPr>
            <p:cNvPr id="32" name="TextBox 32"/>
            <p:cNvSpPr txBox="1"/>
            <p:nvPr/>
          </p:nvSpPr>
          <p:spPr>
            <a:xfrm>
              <a:off x="8546592" y="5207318"/>
              <a:ext cx="2330863" cy="264033"/>
            </a:xfrm>
            <a:prstGeom prst="rect">
              <a:avLst/>
            </a:prstGeom>
            <a:noFill/>
            <a:ln>
              <a:noFill/>
            </a:ln>
          </p:spPr>
          <p:txBody>
            <a:bodyPr wrap="none" lIns="0" tIns="0" rIns="0" bIns="0" anchor="t" anchorCtr="0">
              <a:spAutoFit/>
            </a:bodyPr>
            <a:lstStyle/>
            <a:p>
              <a:pPr algn="l"/>
              <a:r>
                <a:rPr lang="en-US" sz="1350" dirty="0">
                  <a:solidFill>
                    <a:srgbClr val="334155"/>
                  </a:solidFill>
                  <a:latin typeface="+mn-lt"/>
                  <a:ea typeface="+mn-ea"/>
                  <a:cs typeface="+mn-cs"/>
                </a:rPr>
                <a:t>in-context gold standard.</a:t>
              </a:r>
            </a:p>
          </p:txBody>
        </p:sp>
      </p:grpSp>
      <p:grpSp>
        <p:nvGrpSpPr>
          <p:cNvPr id="37" name="Group 37"/>
          <p:cNvGrpSpPr/>
          <p:nvPr/>
        </p:nvGrpSpPr>
        <p:grpSpPr>
          <a:xfrm>
            <a:off x="755523" y="5748814"/>
            <a:ext cx="10679240" cy="940593"/>
            <a:chOff x="755523" y="5748814"/>
            <a:chExt cx="10679240" cy="940593"/>
          </a:xfrm>
        </p:grpSpPr>
        <p:sp>
          <p:nvSpPr>
            <p:cNvPr id="34" name="TextBox 34"/>
            <p:cNvSpPr txBox="1"/>
            <p:nvPr/>
          </p:nvSpPr>
          <p:spPr>
            <a:xfrm>
              <a:off x="755523" y="5748814"/>
              <a:ext cx="9091236"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The models have the representational power — what they lack is composing it from simple-task demos alone.</a:t>
              </a:r>
            </a:p>
          </p:txBody>
        </p:sp>
        <p:sp>
          <p:nvSpPr>
            <p:cNvPr id="35" name="TextBox 35"/>
            <p:cNvSpPr txBox="1"/>
            <p:nvPr/>
          </p:nvSpPr>
          <p:spPr>
            <a:xfrm>
              <a:off x="757238" y="6513195"/>
              <a:ext cx="2276917" cy="176212"/>
            </a:xfrm>
            <a:prstGeom prst="rect">
              <a:avLst/>
            </a:prstGeom>
            <a:noFill/>
            <a:ln>
              <a:noFill/>
            </a:ln>
          </p:spPr>
          <p:txBody>
            <a:bodyPr wrap="none" lIns="0" tIns="0" rIns="0" bIns="0" anchor="t" anchorCtr="0">
              <a:spAutoFit/>
            </a:bodyPr>
            <a:lstStyle/>
            <a:p>
              <a:pPr algn="l"/>
              <a:r>
                <a:rPr lang="en-US" sz="900" dirty="0">
                  <a:solidFill>
                    <a:srgbClr val="94A3B8"/>
                  </a:solidFill>
                  <a:latin typeface="+mn-lt"/>
                  <a:ea typeface="+mn-ea"/>
                  <a:cs typeface="+mn-cs"/>
                </a:rPr>
                <a:t>Xu, Shi &amp; Liang · COLM 2024 · Figure 2</a:t>
              </a:r>
            </a:p>
          </p:txBody>
        </p:sp>
        <p:sp>
          <p:nvSpPr>
            <p:cNvPr id="36" name="TextBox 36"/>
            <p:cNvSpPr txBox="1"/>
            <p:nvPr/>
          </p:nvSpPr>
          <p:spPr>
            <a:xfrm>
              <a:off x="11291964" y="6513195"/>
              <a:ext cx="142799" cy="176212"/>
            </a:xfrm>
            <a:prstGeom prst="rect">
              <a:avLst/>
            </a:prstGeom>
            <a:noFill/>
            <a:ln>
              <a:noFill/>
            </a:ln>
          </p:spPr>
          <p:txBody>
            <a:bodyPr wrap="none" lIns="0" tIns="0" rIns="0" bIns="0" anchor="t" anchorCtr="0">
              <a:spAutoFit/>
            </a:bodyPr>
            <a:lstStyle/>
            <a:p>
              <a:pPr algn="r"/>
              <a:r>
                <a:rPr lang="en-US" sz="900" dirty="0">
                  <a:solidFill>
                    <a:srgbClr val="94A3B8"/>
                  </a:solidFill>
                  <a:latin typeface="+mn-lt"/>
                  <a:ea typeface="+mn-ea"/>
                  <a:cs typeface="+mn-cs"/>
                </a:rPr>
                <a:t>07</a:t>
              </a:r>
            </a:p>
          </p:txBody>
        </p:sp>
      </p:grpSp>
      <p:sp>
        <p:nvSpPr>
          <p:cNvPr id="38" name="cue_s07_c1_sharp_split" title="cue_s07_c1_sharp_split" descr="cue_s07_c1_sharp_split A sharp split."/>
          <p:cNvSpPr/>
          <p:nvPr/>
        </p:nvSpPr>
        <p:spPr>
          <a:xfrm>
            <a:off x="762000" y="1161745"/>
            <a:ext cx="2857804" cy="4382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cue_s07_c2_separable_composite_tasks_models_com" title="cue_s07_c2_separable_composite_tasks_models_com" descr="cue_s07_c2_separable_composite_tasks_models_com On separable composite tasks, models compose well and improve with scale, approaching the gold standard."/>
          <p:cNvSpPr/>
          <p:nvPr/>
        </p:nvSpPr>
        <p:spPr>
          <a:xfrm>
            <a:off x="8286902" y="1790623"/>
            <a:ext cx="3143097" cy="37334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cue_s07_c3_compose_by_step_tasks_they_collapse" title="cue_s07_c3_compose_by_step_tasks_they_collapse" descr="cue_s07_c3_compose_by_step_tasks_they_collapse On compose-by-step tasks they collapse: Llama solves each simple task near ninety percent, but the composite drops below twenty percent, and scaling doesn't help."/>
          <p:cNvSpPr/>
          <p:nvPr/>
        </p:nvSpPr>
        <p:spPr>
          <a:xfrm>
            <a:off x="762000" y="1790623"/>
            <a:ext cx="7334707" cy="37334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762000" y="495300"/>
            <a:ext cx="8043941" cy="737807"/>
            <a:chOff x="762000" y="495300"/>
            <a:chExt cx="8043941" cy="737807"/>
          </a:xfrm>
        </p:grpSpPr>
        <p:sp>
          <p:nvSpPr>
            <p:cNvPr id="2" name="Rectangle 2"/>
            <p:cNvSpPr/>
            <p:nvPr/>
          </p:nvSpPr>
          <p:spPr>
            <a:xfrm>
              <a:off x="762000" y="495300"/>
              <a:ext cx="57150" cy="381000"/>
            </a:xfrm>
            <a:prstGeom prst="rect">
              <a:avLst/>
            </a:prstGeom>
            <a:solidFill>
              <a:schemeClr val="accent2"/>
            </a:solidFill>
            <a:ln>
              <a:noFill/>
            </a:ln>
          </p:spPr>
        </p:sp>
        <p:sp>
          <p:nvSpPr>
            <p:cNvPr id="3" name="TextBox 3"/>
            <p:cNvSpPr txBox="1"/>
            <p:nvPr/>
          </p:nvSpPr>
          <p:spPr>
            <a:xfrm>
              <a:off x="947547" y="618649"/>
              <a:ext cx="795946" cy="190690"/>
            </a:xfrm>
            <a:prstGeom prst="rect">
              <a:avLst/>
            </a:prstGeom>
            <a:noFill/>
            <a:ln>
              <a:noFill/>
            </a:ln>
          </p:spPr>
          <p:txBody>
            <a:bodyPr wrap="none" lIns="0" tIns="0" rIns="0" bIns="0" anchor="t" anchorCtr="0">
              <a:spAutoFit/>
            </a:bodyPr>
            <a:lstStyle/>
            <a:p>
              <a:pPr algn="l"/>
              <a:r>
                <a:rPr lang="en-US" sz="980" b="1" spc="150" dirty="0">
                  <a:solidFill>
                    <a:schemeClr val="accent2"/>
                  </a:solidFill>
                  <a:latin typeface="+mn-lt"/>
                  <a:ea typeface="+mn-ea"/>
                  <a:cs typeface="+mn-cs"/>
                </a:rPr>
                <a:t>ABLATION</a:t>
              </a:r>
            </a:p>
          </p:txBody>
        </p:sp>
        <p:sp>
          <p:nvSpPr>
            <p:cNvPr id="4" name="TextBox 4"/>
            <p:cNvSpPr txBox="1"/>
            <p:nvPr/>
          </p:nvSpPr>
          <p:spPr>
            <a:xfrm>
              <a:off x="939546" y="734378"/>
              <a:ext cx="7866395"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j-lt"/>
                  <a:ea typeface="+mj-ea"/>
                  <a:cs typeface="+mj-cs"/>
                </a:rPr>
                <a:t>What scale changes — and what it does not</a:t>
              </a:r>
            </a:p>
          </p:txBody>
        </p:sp>
      </p:grpSp>
      <p:grpSp>
        <p:nvGrpSpPr>
          <p:cNvPr id="8" name="Group 8"/>
          <p:cNvGrpSpPr/>
          <p:nvPr/>
        </p:nvGrpSpPr>
        <p:grpSpPr>
          <a:xfrm>
            <a:off x="762000" y="1162050"/>
            <a:ext cx="3810000" cy="438150"/>
            <a:chOff x="762000" y="1162050"/>
            <a:chExt cx="3810000" cy="438150"/>
          </a:xfrm>
        </p:grpSpPr>
        <p:sp>
          <p:nvSpPr>
            <p:cNvPr id="6" name="Rectangle 6"/>
            <p:cNvSpPr/>
            <p:nvPr/>
          </p:nvSpPr>
          <p:spPr>
            <a:xfrm>
              <a:off x="762000" y="1162050"/>
              <a:ext cx="3810000" cy="438150"/>
            </a:xfrm>
            <a:prstGeom prst="roundRect">
              <a:avLst>
                <a:gd name="adj" fmla="val 50000"/>
              </a:avLst>
            </a:prstGeom>
            <a:solidFill>
              <a:schemeClr val="accent1"/>
            </a:solidFill>
            <a:ln>
              <a:noFill/>
            </a:ln>
          </p:spPr>
        </p:sp>
        <p:sp>
          <p:nvSpPr>
            <p:cNvPr id="7" name="TextBox 7"/>
            <p:cNvSpPr txBox="1"/>
            <p:nvPr/>
          </p:nvSpPr>
          <p:spPr>
            <a:xfrm>
              <a:off x="1039753" y="1292542"/>
              <a:ext cx="3254493"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The scale sweep is the key ablation</a:t>
              </a:r>
            </a:p>
          </p:txBody>
        </p:sp>
      </p:grpSp>
      <p:grpSp>
        <p:nvGrpSpPr>
          <p:cNvPr id="14" name="Group 14"/>
          <p:cNvGrpSpPr/>
          <p:nvPr/>
        </p:nvGrpSpPr>
        <p:grpSpPr>
          <a:xfrm>
            <a:off x="762000" y="1790700"/>
            <a:ext cx="6135024" cy="3905250"/>
            <a:chOff x="762000" y="1790700"/>
            <a:chExt cx="6135024" cy="3905250"/>
          </a:xfrm>
        </p:grpSpPr>
        <p:sp>
          <p:nvSpPr>
            <p:cNvPr id="9" name="Rectangle 9"/>
            <p:cNvSpPr/>
            <p:nvPr/>
          </p:nvSpPr>
          <p:spPr>
            <a:xfrm>
              <a:off x="762000" y="1790700"/>
              <a:ext cx="5905500" cy="3905250"/>
            </a:xfrm>
            <a:prstGeom prst="roundRect">
              <a:avLst>
                <a:gd name="adj" fmla="val 3415"/>
              </a:avLst>
            </a:prstGeom>
            <a:solidFill>
              <a:schemeClr val="lt1"/>
            </a:solidFill>
            <a:ln w="14288">
              <a:solidFill>
                <a:schemeClr val="accent4"/>
              </a:solidFill>
            </a:ln>
            <a:effectLst>
              <a:outerShdw blurRad="76200" dist="28575" dir="5400000" algn="ctr" rotWithShape="0">
                <a:srgbClr val="1E293B">
                  <a:alpha val="5250"/>
                </a:srgbClr>
              </a:outerShdw>
            </a:effectLst>
          </p:spPr>
        </p:sp>
        <p:sp>
          <p:nvSpPr>
            <p:cNvPr id="10" name="Rectangle 10"/>
            <p:cNvSpPr/>
            <p:nvPr/>
          </p:nvSpPr>
          <p:spPr>
            <a:xfrm>
              <a:off x="762000" y="1790700"/>
              <a:ext cx="57150" cy="3905250"/>
            </a:xfrm>
            <a:prstGeom prst="roundRect">
              <a:avLst>
                <a:gd name="adj" fmla="val 50000"/>
              </a:avLst>
            </a:prstGeom>
            <a:solidFill>
              <a:schemeClr val="accent5"/>
            </a:solidFill>
            <a:ln>
              <a:noFill/>
            </a:ln>
          </p:spPr>
        </p:sp>
        <p:sp>
          <p:nvSpPr>
            <p:cNvPr id="11" name="TextBox 11"/>
            <p:cNvSpPr txBox="1"/>
            <p:nvPr/>
          </p:nvSpPr>
          <p:spPr>
            <a:xfrm>
              <a:off x="1023747" y="1990249"/>
              <a:ext cx="4107299" cy="190690"/>
            </a:xfrm>
            <a:prstGeom prst="rect">
              <a:avLst/>
            </a:prstGeom>
            <a:noFill/>
            <a:ln>
              <a:noFill/>
            </a:ln>
          </p:spPr>
          <p:txBody>
            <a:bodyPr wrap="none" lIns="0" tIns="0" rIns="0" bIns="0" anchor="t" anchorCtr="0">
              <a:spAutoFit/>
            </a:bodyPr>
            <a:lstStyle/>
            <a:p>
              <a:pPr algn="l"/>
              <a:r>
                <a:rPr lang="en-US" sz="980" b="1" spc="75" dirty="0">
                  <a:solidFill>
                    <a:schemeClr val="accent5"/>
                  </a:solidFill>
                  <a:latin typeface="+mn-lt"/>
                  <a:ea typeface="+mn-ea"/>
                  <a:cs typeface="+mn-cs"/>
                </a:rPr>
                <a:t>FIGURE 3 · TRANSLATION COMPOSITES · WER vs SCALE</a:t>
              </a:r>
            </a:p>
          </p:txBody>
        </p:sp>
        <p:pic>
          <p:nvPicPr>
            <p:cNvPr id="12" name="Image 12"/>
            <p:cNvPicPr>
              <a:picLocks noChangeAspect="1"/>
            </p:cNvPicPr>
            <p:nvPr/>
          </p:nvPicPr>
          <p:blipFill>
            <a:blip r:embed="rId2"/>
            <a:stretch>
              <a:fillRect/>
            </a:stretch>
          </p:blipFill>
          <p:spPr>
            <a:xfrm>
              <a:off x="1478973" y="2247900"/>
              <a:ext cx="4433455" cy="3067050"/>
            </a:xfrm>
            <a:prstGeom prst="rect">
              <a:avLst/>
            </a:prstGeom>
          </p:spPr>
        </p:pic>
        <p:sp>
          <p:nvSpPr>
            <p:cNvPr id="13" name="TextBox 13"/>
            <p:cNvSpPr txBox="1"/>
            <p:nvPr/>
          </p:nvSpPr>
          <p:spPr>
            <a:xfrm>
              <a:off x="1022985" y="5422106"/>
              <a:ext cx="5874039"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On these separable translation tasks, error falls steadily as the model scales.</a:t>
              </a:r>
            </a:p>
          </p:txBody>
        </p:sp>
      </p:grpSp>
      <p:grpSp>
        <p:nvGrpSpPr>
          <p:cNvPr id="35" name="Group 35"/>
          <p:cNvGrpSpPr/>
          <p:nvPr/>
        </p:nvGrpSpPr>
        <p:grpSpPr>
          <a:xfrm>
            <a:off x="6858000" y="1790700"/>
            <a:ext cx="4572000" cy="3905250"/>
            <a:chOff x="6858000" y="1790700"/>
            <a:chExt cx="4572000" cy="3905250"/>
          </a:xfrm>
        </p:grpSpPr>
        <p:sp>
          <p:nvSpPr>
            <p:cNvPr id="15" name="Rectangle 15"/>
            <p:cNvSpPr/>
            <p:nvPr/>
          </p:nvSpPr>
          <p:spPr>
            <a:xfrm>
              <a:off x="6858000" y="1790700"/>
              <a:ext cx="4572000" cy="3905250"/>
            </a:xfrm>
            <a:prstGeom prst="roundRect">
              <a:avLst>
                <a:gd name="adj" fmla="val 3415"/>
              </a:avLst>
            </a:prstGeom>
            <a:solidFill>
              <a:schemeClr val="lt1"/>
            </a:solidFill>
            <a:ln w="14288">
              <a:solidFill>
                <a:schemeClr val="accent4"/>
              </a:solidFill>
            </a:ln>
            <a:effectLst>
              <a:outerShdw blurRad="76200" dist="28575" dir="5400000" algn="ctr" rotWithShape="0">
                <a:srgbClr val="1E293B">
                  <a:alpha val="5250"/>
                </a:srgbClr>
              </a:outerShdw>
            </a:effectLst>
          </p:spPr>
        </p:sp>
        <p:sp>
          <p:nvSpPr>
            <p:cNvPr id="16" name="Rectangle 16"/>
            <p:cNvSpPr/>
            <p:nvPr/>
          </p:nvSpPr>
          <p:spPr>
            <a:xfrm>
              <a:off x="6858000" y="1790700"/>
              <a:ext cx="57150" cy="3905250"/>
            </a:xfrm>
            <a:prstGeom prst="roundRect">
              <a:avLst>
                <a:gd name="adj" fmla="val 50000"/>
              </a:avLst>
            </a:prstGeom>
            <a:solidFill>
              <a:schemeClr val="accent2"/>
            </a:solidFill>
            <a:ln>
              <a:noFill/>
            </a:ln>
          </p:spPr>
        </p:sp>
        <p:sp>
          <p:nvSpPr>
            <p:cNvPr id="17" name="TextBox 17"/>
            <p:cNvSpPr txBox="1"/>
            <p:nvPr/>
          </p:nvSpPr>
          <p:spPr>
            <a:xfrm>
              <a:off x="7119747" y="1990249"/>
              <a:ext cx="2103437" cy="190690"/>
            </a:xfrm>
            <a:prstGeom prst="rect">
              <a:avLst/>
            </a:prstGeom>
            <a:noFill/>
            <a:ln>
              <a:noFill/>
            </a:ln>
          </p:spPr>
          <p:txBody>
            <a:bodyPr wrap="none" lIns="0" tIns="0" rIns="0" bIns="0" anchor="t" anchorCtr="0">
              <a:spAutoFit/>
            </a:bodyPr>
            <a:lstStyle/>
            <a:p>
              <a:pPr algn="l"/>
              <a:r>
                <a:rPr lang="en-US" sz="980" b="1" spc="75" dirty="0">
                  <a:solidFill>
                    <a:schemeClr val="accent2"/>
                  </a:solidFill>
                  <a:latin typeface="+mn-lt"/>
                  <a:ea typeface="+mn-ea"/>
                  <a:cs typeface="+mn-cs"/>
                </a:rPr>
                <a:t>SWAP THE DEMONSTRATIONS</a:t>
              </a:r>
            </a:p>
          </p:txBody>
        </p:sp>
        <p:sp>
          <p:nvSpPr>
            <p:cNvPr id="18" name="TextBox 18"/>
            <p:cNvSpPr txBox="1"/>
            <p:nvPr/>
          </p:nvSpPr>
          <p:spPr>
            <a:xfrm>
              <a:off x="7117461" y="2284571"/>
              <a:ext cx="2955178" cy="278702"/>
            </a:xfrm>
            <a:prstGeom prst="rect">
              <a:avLst/>
            </a:prstGeom>
            <a:noFill/>
            <a:ln>
              <a:noFill/>
            </a:ln>
          </p:spPr>
          <p:txBody>
            <a:bodyPr wrap="none" lIns="0" tIns="0" rIns="0" bIns="0" anchor="t" anchorCtr="0">
              <a:spAutoFit/>
            </a:bodyPr>
            <a:lstStyle/>
            <a:p>
              <a:pPr algn="l"/>
              <a:r>
                <a:rPr lang="en-US" sz="1420" dirty="0">
                  <a:solidFill>
                    <a:srgbClr val="334155"/>
                  </a:solidFill>
                  <a:latin typeface="+mn-lt"/>
                  <a:ea typeface="+mn-ea"/>
                  <a:cs typeface="+mn-cs"/>
                </a:rPr>
                <a:t>Replace simple-task demos with</a:t>
              </a:r>
            </a:p>
          </p:txBody>
        </p:sp>
        <p:sp>
          <p:nvSpPr>
            <p:cNvPr id="19" name="TextBox 19"/>
            <p:cNvSpPr txBox="1"/>
            <p:nvPr/>
          </p:nvSpPr>
          <p:spPr>
            <a:xfrm>
              <a:off x="7117461" y="2532221"/>
              <a:ext cx="3216415" cy="278702"/>
            </a:xfrm>
            <a:prstGeom prst="rect">
              <a:avLst/>
            </a:prstGeom>
            <a:noFill/>
            <a:ln>
              <a:noFill/>
            </a:ln>
          </p:spPr>
          <p:txBody>
            <a:bodyPr wrap="none" lIns="0" tIns="0" rIns="0" bIns="0" anchor="t" anchorCtr="0">
              <a:spAutoFit/>
            </a:bodyPr>
            <a:lstStyle/>
            <a:p>
              <a:pPr algn="l"/>
              <a:r>
                <a:rPr lang="en-US" sz="1420" dirty="0">
                  <a:solidFill>
                    <a:srgbClr val="334155"/>
                  </a:solidFill>
                  <a:latin typeface="+mn-lt"/>
                  <a:ea typeface="+mn-ea"/>
                  <a:cs typeface="+mn-cs"/>
                </a:rPr>
                <a:t>composite ones — and performance</a:t>
              </a:r>
            </a:p>
          </p:txBody>
        </p:sp>
        <p:sp>
          <p:nvSpPr>
            <p:cNvPr id="20" name="TextBox 20"/>
            <p:cNvSpPr txBox="1"/>
            <p:nvPr/>
          </p:nvSpPr>
          <p:spPr>
            <a:xfrm>
              <a:off x="7117461" y="2779871"/>
              <a:ext cx="960722" cy="278702"/>
            </a:xfrm>
            <a:prstGeom prst="rect">
              <a:avLst/>
            </a:prstGeom>
            <a:noFill/>
            <a:ln>
              <a:noFill/>
            </a:ln>
          </p:spPr>
          <p:txBody>
            <a:bodyPr wrap="none" lIns="0" tIns="0" rIns="0" bIns="0" anchor="t" anchorCtr="0">
              <a:spAutoFit/>
            </a:bodyPr>
            <a:lstStyle/>
            <a:p>
              <a:pPr algn="l"/>
              <a:r>
                <a:rPr lang="en-US" sz="1420" dirty="0">
                  <a:solidFill>
                    <a:srgbClr val="334155"/>
                  </a:solidFill>
                  <a:latin typeface="+mn-lt"/>
                  <a:ea typeface="+mn-ea"/>
                  <a:cs typeface="+mn-cs"/>
                </a:rPr>
                <a:t>recovers.</a:t>
              </a:r>
            </a:p>
          </p:txBody>
        </p:sp>
        <p:grpSp>
          <p:nvGrpSpPr>
            <p:cNvPr id="28" name="Group 28"/>
            <p:cNvGrpSpPr/>
            <p:nvPr/>
          </p:nvGrpSpPr>
          <p:grpSpPr>
            <a:xfrm>
              <a:off x="7124700" y="3162300"/>
              <a:ext cx="4076700" cy="666750"/>
              <a:chOff x="7124700" y="3162300"/>
              <a:chExt cx="4076700" cy="666750"/>
            </a:xfrm>
          </p:grpSpPr>
          <p:sp>
            <p:nvSpPr>
              <p:cNvPr id="21" name="Rectangle 21"/>
              <p:cNvSpPr/>
              <p:nvPr/>
            </p:nvSpPr>
            <p:spPr>
              <a:xfrm>
                <a:off x="7124700" y="3162300"/>
                <a:ext cx="1905000" cy="666750"/>
              </a:xfrm>
              <a:prstGeom prst="roundRect">
                <a:avLst>
                  <a:gd name="adj" fmla="val 14286"/>
                </a:avLst>
              </a:prstGeom>
              <a:solidFill>
                <a:srgbClr val="FEF2F2"/>
              </a:solidFill>
              <a:ln w="13335">
                <a:solidFill>
                  <a:schemeClr val="accent6"/>
                </a:solidFill>
              </a:ln>
            </p:spPr>
          </p:sp>
          <p:sp>
            <p:nvSpPr>
              <p:cNvPr id="22" name="TextBox 22"/>
              <p:cNvSpPr txBox="1"/>
              <p:nvPr/>
            </p:nvSpPr>
            <p:spPr>
              <a:xfrm>
                <a:off x="7359076" y="3307556"/>
                <a:ext cx="1436248" cy="220028"/>
              </a:xfrm>
              <a:prstGeom prst="rect">
                <a:avLst/>
              </a:prstGeom>
              <a:noFill/>
              <a:ln>
                <a:noFill/>
              </a:ln>
            </p:spPr>
            <p:txBody>
              <a:bodyPr wrap="none" lIns="0" tIns="0" rIns="0" bIns="0" anchor="t" anchorCtr="0">
                <a:spAutoFit/>
              </a:bodyPr>
              <a:lstStyle/>
              <a:p>
                <a:pPr algn="ctr"/>
                <a:r>
                  <a:rPr lang="en-US" sz="1120" b="1" dirty="0">
                    <a:solidFill>
                      <a:schemeClr val="accent6"/>
                    </a:solidFill>
                    <a:latin typeface="+mn-lt"/>
                    <a:ea typeface="+mn-ea"/>
                    <a:cs typeface="+mn-cs"/>
                  </a:rPr>
                  <a:t>simple-task demos</a:t>
                </a:r>
              </a:p>
            </p:txBody>
          </p:sp>
          <p:sp>
            <p:nvSpPr>
              <p:cNvPr id="23" name="TextBox 23"/>
              <p:cNvSpPr txBox="1"/>
              <p:nvPr/>
            </p:nvSpPr>
            <p:spPr>
              <a:xfrm>
                <a:off x="7509850" y="3555206"/>
                <a:ext cx="1134699" cy="220028"/>
              </a:xfrm>
              <a:prstGeom prst="rect">
                <a:avLst/>
              </a:prstGeom>
              <a:noFill/>
              <a:ln>
                <a:noFill/>
              </a:ln>
            </p:spPr>
            <p:txBody>
              <a:bodyPr wrap="none" lIns="0" tIns="0" rIns="0" bIns="0" anchor="t" anchorCtr="0">
                <a:spAutoFit/>
              </a:bodyPr>
              <a:lstStyle/>
              <a:p>
                <a:pPr algn="ctr"/>
                <a:r>
                  <a:rPr lang="en-US" sz="1120" dirty="0">
                    <a:solidFill>
                      <a:schemeClr val="accent6"/>
                    </a:solidFill>
                    <a:latin typeface="+mn-lt"/>
                    <a:ea typeface="+mn-ea"/>
                    <a:cs typeface="+mn-cs"/>
                  </a:rPr>
                  <a:t>composite fails</a:t>
                </a:r>
              </a:p>
            </p:txBody>
          </p:sp>
          <p:sp>
            <p:nvSpPr>
              <p:cNvPr id="24" name="TextBox 24"/>
              <p:cNvSpPr txBox="1"/>
              <p:nvPr/>
            </p:nvSpPr>
            <p:spPr>
              <a:xfrm>
                <a:off x="9168304" y="3351848"/>
                <a:ext cx="179992" cy="381381"/>
              </a:xfrm>
              <a:prstGeom prst="rect">
                <a:avLst/>
              </a:prstGeom>
              <a:noFill/>
              <a:ln>
                <a:noFill/>
              </a:ln>
            </p:spPr>
            <p:txBody>
              <a:bodyPr wrap="none" lIns="0" tIns="0" rIns="0" bIns="0" anchor="t" anchorCtr="0">
                <a:spAutoFit/>
              </a:bodyPr>
              <a:lstStyle/>
              <a:p>
                <a:pPr algn="ctr"/>
                <a:r>
                  <a:rPr lang="en-US" sz="1950" b="1" dirty="0">
                    <a:solidFill>
                      <a:schemeClr val="accent2"/>
                    </a:solidFill>
                    <a:latin typeface="+mj-lt"/>
                    <a:ea typeface="+mj-ea"/>
                    <a:cs typeface="+mj-cs"/>
                  </a:rPr>
                  <a:t>→</a:t>
                </a:r>
              </a:p>
            </p:txBody>
          </p:sp>
          <p:sp>
            <p:nvSpPr>
              <p:cNvPr id="25" name="Rectangle 25"/>
              <p:cNvSpPr/>
              <p:nvPr/>
            </p:nvSpPr>
            <p:spPr>
              <a:xfrm>
                <a:off x="9486900" y="3162300"/>
                <a:ext cx="1714500" cy="666750"/>
              </a:xfrm>
              <a:prstGeom prst="roundRect">
                <a:avLst>
                  <a:gd name="adj" fmla="val 14286"/>
                </a:avLst>
              </a:prstGeom>
              <a:solidFill>
                <a:srgbClr val="ECFDF5"/>
              </a:solidFill>
              <a:ln w="13335">
                <a:solidFill>
                  <a:schemeClr val="accent5"/>
                </a:solidFill>
              </a:ln>
            </p:spPr>
          </p:sp>
          <p:sp>
            <p:nvSpPr>
              <p:cNvPr id="26" name="TextBox 26"/>
              <p:cNvSpPr txBox="1"/>
              <p:nvPr/>
            </p:nvSpPr>
            <p:spPr>
              <a:xfrm>
                <a:off x="9693309" y="3307556"/>
                <a:ext cx="1301682" cy="220028"/>
              </a:xfrm>
              <a:prstGeom prst="rect">
                <a:avLst/>
              </a:prstGeom>
              <a:noFill/>
              <a:ln>
                <a:noFill/>
              </a:ln>
            </p:spPr>
            <p:txBody>
              <a:bodyPr wrap="none" lIns="0" tIns="0" rIns="0" bIns="0" anchor="t" anchorCtr="0">
                <a:spAutoFit/>
              </a:bodyPr>
              <a:lstStyle/>
              <a:p>
                <a:pPr algn="ctr"/>
                <a:r>
                  <a:rPr lang="en-US" sz="1120" b="1" dirty="0">
                    <a:solidFill>
                      <a:schemeClr val="accent5"/>
                    </a:solidFill>
                    <a:latin typeface="+mn-lt"/>
                    <a:ea typeface="+mn-ea"/>
                    <a:cs typeface="+mn-cs"/>
                  </a:rPr>
                  <a:t>composite demos</a:t>
                </a:r>
              </a:p>
            </p:txBody>
          </p:sp>
          <p:sp>
            <p:nvSpPr>
              <p:cNvPr id="27" name="TextBox 27"/>
              <p:cNvSpPr txBox="1"/>
              <p:nvPr/>
            </p:nvSpPr>
            <p:spPr>
              <a:xfrm>
                <a:off x="10006731" y="3555206"/>
                <a:ext cx="674837" cy="220028"/>
              </a:xfrm>
              <a:prstGeom prst="rect">
                <a:avLst/>
              </a:prstGeom>
              <a:noFill/>
              <a:ln>
                <a:noFill/>
              </a:ln>
            </p:spPr>
            <p:txBody>
              <a:bodyPr wrap="none" lIns="0" tIns="0" rIns="0" bIns="0" anchor="t" anchorCtr="0">
                <a:spAutoFit/>
              </a:bodyPr>
              <a:lstStyle/>
              <a:p>
                <a:pPr algn="ctr"/>
                <a:r>
                  <a:rPr lang="en-US" sz="1120" dirty="0">
                    <a:solidFill>
                      <a:schemeClr val="accent5"/>
                    </a:solidFill>
                    <a:latin typeface="+mn-lt"/>
                    <a:ea typeface="+mn-ea"/>
                    <a:cs typeface="+mn-cs"/>
                  </a:rPr>
                  <a:t>recovers</a:t>
                </a:r>
              </a:p>
            </p:txBody>
          </p:sp>
        </p:grpSp>
        <p:sp>
          <p:nvSpPr>
            <p:cNvPr id="29" name="Rectangle 29"/>
            <p:cNvSpPr/>
            <p:nvPr/>
          </p:nvSpPr>
          <p:spPr>
            <a:xfrm>
              <a:off x="7124700" y="4038600"/>
              <a:ext cx="4076700" cy="1428750"/>
            </a:xfrm>
            <a:prstGeom prst="roundRect">
              <a:avLst>
                <a:gd name="adj" fmla="val 6667"/>
              </a:avLst>
            </a:prstGeom>
            <a:solidFill>
              <a:srgbClr val="EEF2FF"/>
            </a:solidFill>
            <a:ln>
              <a:noFill/>
            </a:ln>
          </p:spPr>
        </p:sp>
        <p:sp>
          <p:nvSpPr>
            <p:cNvPr id="30" name="TextBox 30"/>
            <p:cNvSpPr txBox="1"/>
            <p:nvPr/>
          </p:nvSpPr>
          <p:spPr>
            <a:xfrm>
              <a:off x="7329297" y="4238149"/>
              <a:ext cx="1552456" cy="190690"/>
            </a:xfrm>
            <a:prstGeom prst="rect">
              <a:avLst/>
            </a:prstGeom>
            <a:noFill/>
            <a:ln>
              <a:noFill/>
            </a:ln>
          </p:spPr>
          <p:txBody>
            <a:bodyPr wrap="none" lIns="0" tIns="0" rIns="0" bIns="0" anchor="t" anchorCtr="0">
              <a:spAutoFit/>
            </a:bodyPr>
            <a:lstStyle/>
            <a:p>
              <a:pPr algn="l"/>
              <a:r>
                <a:rPr lang="en-US" sz="980" b="1" spc="75" dirty="0">
                  <a:solidFill>
                    <a:schemeClr val="accent2"/>
                  </a:solidFill>
                  <a:latin typeface="+mn-lt"/>
                  <a:ea typeface="+mn-ea"/>
                  <a:cs typeface="+mn-cs"/>
                </a:rPr>
                <a:t>WHAT THIS ISOLATES</a:t>
              </a:r>
            </a:p>
          </p:txBody>
        </p:sp>
        <p:sp>
          <p:nvSpPr>
            <p:cNvPr id="31" name="TextBox 31"/>
            <p:cNvSpPr txBox="1"/>
            <p:nvPr/>
          </p:nvSpPr>
          <p:spPr>
            <a:xfrm>
              <a:off x="7327011" y="4494371"/>
              <a:ext cx="2921700" cy="278702"/>
            </a:xfrm>
            <a:prstGeom prst="rect">
              <a:avLst/>
            </a:prstGeom>
            <a:noFill/>
            <a:ln>
              <a:noFill/>
            </a:ln>
          </p:spPr>
          <p:txBody>
            <a:bodyPr wrap="none" lIns="0" tIns="0" rIns="0" bIns="0" anchor="t" anchorCtr="0">
              <a:spAutoFit/>
            </a:bodyPr>
            <a:lstStyle/>
            <a:p>
              <a:pPr algn="l"/>
              <a:r>
                <a:rPr lang="en-US" sz="1420" b="1" dirty="0">
                  <a:solidFill>
                    <a:schemeClr val="accent1"/>
                  </a:solidFill>
                  <a:latin typeface="+mn-lt"/>
                  <a:ea typeface="+mn-ea"/>
                  <a:cs typeface="+mn-cs"/>
                </a:rPr>
                <a:t>Composition — not capability —</a:t>
              </a:r>
            </a:p>
          </p:txBody>
        </p:sp>
        <p:sp>
          <p:nvSpPr>
            <p:cNvPr id="32" name="TextBox 32"/>
            <p:cNvSpPr txBox="1"/>
            <p:nvPr/>
          </p:nvSpPr>
          <p:spPr>
            <a:xfrm>
              <a:off x="7327011" y="4742021"/>
              <a:ext cx="1800872" cy="278702"/>
            </a:xfrm>
            <a:prstGeom prst="rect">
              <a:avLst/>
            </a:prstGeom>
            <a:noFill/>
            <a:ln>
              <a:noFill/>
            </a:ln>
          </p:spPr>
          <p:txBody>
            <a:bodyPr wrap="none" lIns="0" tIns="0" rIns="0" bIns="0" anchor="t" anchorCtr="0">
              <a:spAutoFit/>
            </a:bodyPr>
            <a:lstStyle/>
            <a:p>
              <a:pPr algn="l"/>
              <a:r>
                <a:rPr lang="en-US" sz="1420" b="1" dirty="0">
                  <a:solidFill>
                    <a:schemeClr val="accent1"/>
                  </a:solidFill>
                  <a:latin typeface="+mn-lt"/>
                  <a:ea typeface="+mn-ea"/>
                  <a:cs typeface="+mn-cs"/>
                </a:rPr>
                <a:t>is the bottleneck.</a:t>
              </a:r>
            </a:p>
          </p:txBody>
        </p:sp>
        <p:sp>
          <p:nvSpPr>
            <p:cNvPr id="33" name="TextBox 33"/>
            <p:cNvSpPr txBox="1"/>
            <p:nvPr/>
          </p:nvSpPr>
          <p:spPr>
            <a:xfrm>
              <a:off x="7328154" y="5071110"/>
              <a:ext cx="3135339"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Larger models help only when the simple</a:t>
              </a:r>
            </a:p>
          </p:txBody>
        </p:sp>
        <p:sp>
          <p:nvSpPr>
            <p:cNvPr id="34" name="TextBox 34"/>
            <p:cNvSpPr txBox="1"/>
            <p:nvPr/>
          </p:nvSpPr>
          <p:spPr>
            <a:xfrm>
              <a:off x="7328154" y="5280660"/>
              <a:ext cx="3501542"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tasks improve too — as the theory predicts.</a:t>
              </a:r>
            </a:p>
          </p:txBody>
        </p:sp>
      </p:grpSp>
      <p:grpSp>
        <p:nvGrpSpPr>
          <p:cNvPr id="38" name="Group 38"/>
          <p:cNvGrpSpPr/>
          <p:nvPr/>
        </p:nvGrpSpPr>
        <p:grpSpPr>
          <a:xfrm>
            <a:off x="757238" y="6513195"/>
            <a:ext cx="10677525" cy="176212"/>
            <a:chOff x="757238" y="6513195"/>
            <a:chExt cx="10677525" cy="176212"/>
          </a:xfrm>
        </p:grpSpPr>
        <p:sp>
          <p:nvSpPr>
            <p:cNvPr id="36" name="TextBox 36"/>
            <p:cNvSpPr txBox="1"/>
            <p:nvPr/>
          </p:nvSpPr>
          <p:spPr>
            <a:xfrm>
              <a:off x="757238" y="6513195"/>
              <a:ext cx="2276917" cy="176212"/>
            </a:xfrm>
            <a:prstGeom prst="rect">
              <a:avLst/>
            </a:prstGeom>
            <a:noFill/>
            <a:ln>
              <a:noFill/>
            </a:ln>
          </p:spPr>
          <p:txBody>
            <a:bodyPr wrap="none" lIns="0" tIns="0" rIns="0" bIns="0" anchor="t" anchorCtr="0">
              <a:spAutoFit/>
            </a:bodyPr>
            <a:lstStyle/>
            <a:p>
              <a:pPr algn="l"/>
              <a:r>
                <a:rPr lang="en-US" sz="900" dirty="0">
                  <a:solidFill>
                    <a:srgbClr val="94A3B8"/>
                  </a:solidFill>
                  <a:latin typeface="+mn-lt"/>
                  <a:ea typeface="+mn-ea"/>
                  <a:cs typeface="+mn-cs"/>
                </a:rPr>
                <a:t>Xu, Shi &amp; Liang · COLM 2024 · Figure 3</a:t>
              </a:r>
            </a:p>
          </p:txBody>
        </p:sp>
        <p:sp>
          <p:nvSpPr>
            <p:cNvPr id="37" name="TextBox 37"/>
            <p:cNvSpPr txBox="1"/>
            <p:nvPr/>
          </p:nvSpPr>
          <p:spPr>
            <a:xfrm>
              <a:off x="11291964" y="6513195"/>
              <a:ext cx="142799" cy="176212"/>
            </a:xfrm>
            <a:prstGeom prst="rect">
              <a:avLst/>
            </a:prstGeom>
            <a:noFill/>
            <a:ln>
              <a:noFill/>
            </a:ln>
          </p:spPr>
          <p:txBody>
            <a:bodyPr wrap="none" lIns="0" tIns="0" rIns="0" bIns="0" anchor="t" anchorCtr="0">
              <a:spAutoFit/>
            </a:bodyPr>
            <a:lstStyle/>
            <a:p>
              <a:pPr algn="r"/>
              <a:r>
                <a:rPr lang="en-US" sz="900" dirty="0">
                  <a:solidFill>
                    <a:srgbClr val="94A3B8"/>
                  </a:solidFill>
                  <a:latin typeface="+mn-lt"/>
                  <a:ea typeface="+mn-ea"/>
                  <a:cs typeface="+mn-cs"/>
                </a:rPr>
                <a:t>08</a:t>
              </a:r>
            </a:p>
          </p:txBody>
        </p:sp>
      </p:grpSp>
      <p:sp>
        <p:nvSpPr>
          <p:cNvPr id="39" name="cue_s08_c1_scale_sweep_key_ablation" title="cue_s08_c1_scale_sweep_key_ablation" descr="cue_s08_c1_scale_sweep_key_ablation The scale sweep is the key ablation."/>
          <p:cNvSpPr/>
          <p:nvPr/>
        </p:nvSpPr>
        <p:spPr>
          <a:xfrm>
            <a:off x="762000" y="1161745"/>
            <a:ext cx="3810000" cy="4382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cue_s08_c2_separable_tasks_accuracy_rises_scale" title="cue_s08_c2_separable_tasks_accuracy_rises_scale" descr="cue_s08_c2_separable_tasks_accuracy_rises_scale On separable tasks accuracy rises with scale; on compose-by-step tasks it stays flat or degrades."/>
          <p:cNvSpPr/>
          <p:nvPr/>
        </p:nvSpPr>
        <p:spPr>
          <a:xfrm>
            <a:off x="762000" y="1790623"/>
            <a:ext cx="5905804" cy="39049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ue_s08_c3_swapping_simple_task_demos_composite" title="cue_s08_c3_swapping_simple_task_demos_composite" descr="cue_s08_c3_swapping_simple_task_demos_composite Swapping simple-task demos for composite ones recovers performance, isolating composition, not capability, as the bottleneck."/>
          <p:cNvSpPr/>
          <p:nvPr/>
        </p:nvSpPr>
        <p:spPr>
          <a:xfrm>
            <a:off x="6858000" y="1790623"/>
            <a:ext cx="4572000" cy="39049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762000" y="495300"/>
            <a:ext cx="5089573" cy="737807"/>
            <a:chOff x="762000" y="495300"/>
            <a:chExt cx="5089573" cy="737807"/>
          </a:xfrm>
        </p:grpSpPr>
        <p:sp>
          <p:nvSpPr>
            <p:cNvPr id="2" name="Rectangle 2"/>
            <p:cNvSpPr/>
            <p:nvPr/>
          </p:nvSpPr>
          <p:spPr>
            <a:xfrm>
              <a:off x="762000" y="495300"/>
              <a:ext cx="57150" cy="381000"/>
            </a:xfrm>
            <a:prstGeom prst="rect">
              <a:avLst/>
            </a:prstGeom>
            <a:solidFill>
              <a:schemeClr val="accent2"/>
            </a:solidFill>
            <a:ln>
              <a:noFill/>
            </a:ln>
          </p:spPr>
        </p:sp>
        <p:sp>
          <p:nvSpPr>
            <p:cNvPr id="3" name="TextBox 3"/>
            <p:cNvSpPr txBox="1"/>
            <p:nvPr/>
          </p:nvSpPr>
          <p:spPr>
            <a:xfrm>
              <a:off x="947547" y="618649"/>
              <a:ext cx="1574048" cy="190690"/>
            </a:xfrm>
            <a:prstGeom prst="rect">
              <a:avLst/>
            </a:prstGeom>
            <a:noFill/>
            <a:ln>
              <a:noFill/>
            </a:ln>
          </p:spPr>
          <p:txBody>
            <a:bodyPr wrap="none" lIns="0" tIns="0" rIns="0" bIns="0" anchor="t" anchorCtr="0">
              <a:spAutoFit/>
            </a:bodyPr>
            <a:lstStyle/>
            <a:p>
              <a:pPr algn="l"/>
              <a:r>
                <a:rPr lang="en-US" sz="980" b="1" spc="150" dirty="0">
                  <a:solidFill>
                    <a:schemeClr val="accent2"/>
                  </a:solidFill>
                  <a:latin typeface="+mn-lt"/>
                  <a:ea typeface="+mn-ea"/>
                  <a:cs typeface="+mn-cs"/>
                </a:rPr>
                <a:t>HEADLINE NUMBERS</a:t>
              </a:r>
            </a:p>
          </p:txBody>
        </p:sp>
        <p:sp>
          <p:nvSpPr>
            <p:cNvPr id="4" name="TextBox 4"/>
            <p:cNvSpPr txBox="1"/>
            <p:nvPr/>
          </p:nvSpPr>
          <p:spPr>
            <a:xfrm>
              <a:off x="939546" y="734378"/>
              <a:ext cx="4912027"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j-lt"/>
                  <a:ea typeface="+mj-ea"/>
                  <a:cs typeface="+mj-cs"/>
                </a:rPr>
                <a:t>The story in four numbers</a:t>
              </a:r>
            </a:p>
          </p:txBody>
        </p:sp>
      </p:grpSp>
      <p:grpSp>
        <p:nvGrpSpPr>
          <p:cNvPr id="8" name="Group 8"/>
          <p:cNvGrpSpPr/>
          <p:nvPr/>
        </p:nvGrpSpPr>
        <p:grpSpPr>
          <a:xfrm>
            <a:off x="762000" y="1162050"/>
            <a:ext cx="2381250" cy="438150"/>
            <a:chOff x="762000" y="1162050"/>
            <a:chExt cx="2381250" cy="438150"/>
          </a:xfrm>
        </p:grpSpPr>
        <p:sp>
          <p:nvSpPr>
            <p:cNvPr id="6" name="Rectangle 6"/>
            <p:cNvSpPr/>
            <p:nvPr/>
          </p:nvSpPr>
          <p:spPr>
            <a:xfrm>
              <a:off x="762000" y="1162050"/>
              <a:ext cx="2381250" cy="438150"/>
            </a:xfrm>
            <a:prstGeom prst="roundRect">
              <a:avLst>
                <a:gd name="adj" fmla="val 50000"/>
              </a:avLst>
            </a:prstGeom>
            <a:solidFill>
              <a:schemeClr val="accent1"/>
            </a:solidFill>
            <a:ln>
              <a:noFill/>
            </a:ln>
          </p:spPr>
        </p:sp>
        <p:sp>
          <p:nvSpPr>
            <p:cNvPr id="7" name="TextBox 7"/>
            <p:cNvSpPr txBox="1"/>
            <p:nvPr/>
          </p:nvSpPr>
          <p:spPr>
            <a:xfrm>
              <a:off x="1069659" y="1292542"/>
              <a:ext cx="1765931"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The numbers tell it</a:t>
              </a:r>
            </a:p>
          </p:txBody>
        </p:sp>
      </p:grpSp>
      <p:grpSp>
        <p:nvGrpSpPr>
          <p:cNvPr id="15" name="Group 15"/>
          <p:cNvGrpSpPr/>
          <p:nvPr/>
        </p:nvGrpSpPr>
        <p:grpSpPr>
          <a:xfrm>
            <a:off x="762000" y="1866900"/>
            <a:ext cx="3276600" cy="3657600"/>
            <a:chOff x="762000" y="1866900"/>
            <a:chExt cx="3276600" cy="3657600"/>
          </a:xfrm>
        </p:grpSpPr>
        <p:sp>
          <p:nvSpPr>
            <p:cNvPr id="9" name="Rectangle 9"/>
            <p:cNvSpPr/>
            <p:nvPr/>
          </p:nvSpPr>
          <p:spPr>
            <a:xfrm>
              <a:off x="762000" y="1866900"/>
              <a:ext cx="3276600" cy="3657600"/>
            </a:xfrm>
            <a:prstGeom prst="roundRect">
              <a:avLst>
                <a:gd name="adj" fmla="val 4070"/>
              </a:avLst>
            </a:prstGeom>
            <a:solidFill>
              <a:srgbClr val="ECFDF5"/>
            </a:solidFill>
            <a:ln w="14288">
              <a:solidFill>
                <a:schemeClr val="accent5"/>
              </a:solidFill>
            </a:ln>
            <a:effectLst>
              <a:outerShdw blurRad="76200" dist="28575" dir="5400000" algn="ctr" rotWithShape="0">
                <a:srgbClr val="1E293B">
                  <a:alpha val="5250"/>
                </a:srgbClr>
              </a:outerShdw>
            </a:effectLst>
          </p:spPr>
        </p:sp>
        <p:sp>
          <p:nvSpPr>
            <p:cNvPr id="10" name="TextBox 10"/>
            <p:cNvSpPr txBox="1"/>
            <p:nvPr/>
          </p:nvSpPr>
          <p:spPr>
            <a:xfrm>
              <a:off x="1023747" y="2142649"/>
              <a:ext cx="1049353" cy="190690"/>
            </a:xfrm>
            <a:prstGeom prst="rect">
              <a:avLst/>
            </a:prstGeom>
            <a:noFill/>
            <a:ln>
              <a:noFill/>
            </a:ln>
          </p:spPr>
          <p:txBody>
            <a:bodyPr wrap="none" lIns="0" tIns="0" rIns="0" bIns="0" anchor="t" anchorCtr="0">
              <a:spAutoFit/>
            </a:bodyPr>
            <a:lstStyle/>
            <a:p>
              <a:pPr algn="l"/>
              <a:r>
                <a:rPr lang="en-US" sz="980" b="1" spc="75" dirty="0">
                  <a:solidFill>
                    <a:schemeClr val="accent5"/>
                  </a:solidFill>
                  <a:latin typeface="+mn-lt"/>
                  <a:ea typeface="+mn-ea"/>
                  <a:cs typeface="+mn-cs"/>
                </a:rPr>
                <a:t>SIMPLE TASKS</a:t>
              </a:r>
            </a:p>
          </p:txBody>
        </p:sp>
        <p:sp>
          <p:nvSpPr>
            <p:cNvPr id="11" name="TextBox 11"/>
            <p:cNvSpPr txBox="1"/>
            <p:nvPr/>
          </p:nvSpPr>
          <p:spPr>
            <a:xfrm>
              <a:off x="1146296" y="2500312"/>
              <a:ext cx="2508009" cy="1590675"/>
            </a:xfrm>
            <a:prstGeom prst="rect">
              <a:avLst/>
            </a:prstGeom>
            <a:noFill/>
            <a:ln>
              <a:noFill/>
            </a:ln>
          </p:spPr>
          <p:txBody>
            <a:bodyPr wrap="none" lIns="0" tIns="0" rIns="0" bIns="0" anchor="t" anchorCtr="0">
              <a:spAutoFit/>
            </a:bodyPr>
            <a:lstStyle/>
            <a:p>
              <a:pPr algn="ctr"/>
              <a:r>
                <a:rPr lang="en-US" sz="8250" b="1" dirty="0">
                  <a:solidFill>
                    <a:schemeClr val="accent5"/>
                  </a:solidFill>
                  <a:latin typeface="+mj-lt"/>
                  <a:ea typeface="+mj-ea"/>
                  <a:cs typeface="+mj-cs"/>
                </a:rPr>
                <a:t>~90</a:t>
              </a:r>
              <a:r>
                <a:rPr lang="en-US" sz="3900" b="1" dirty="0">
                  <a:solidFill>
                    <a:schemeClr val="accent5"/>
                  </a:solidFill>
                  <a:latin typeface="+mj-lt"/>
                  <a:ea typeface="+mj-ea"/>
                  <a:cs typeface="+mj-cs"/>
                </a:rPr>
                <a:t>%</a:t>
              </a:r>
            </a:p>
          </p:txBody>
        </p:sp>
        <p:sp>
          <p:nvSpPr>
            <p:cNvPr id="12" name="TextBox 12"/>
            <p:cNvSpPr txBox="1"/>
            <p:nvPr/>
          </p:nvSpPr>
          <p:spPr>
            <a:xfrm>
              <a:off x="1299210" y="4029075"/>
              <a:ext cx="2202180" cy="293370"/>
            </a:xfrm>
            <a:prstGeom prst="rect">
              <a:avLst/>
            </a:prstGeom>
            <a:noFill/>
            <a:ln>
              <a:noFill/>
            </a:ln>
          </p:spPr>
          <p:txBody>
            <a:bodyPr wrap="none" lIns="0" tIns="0" rIns="0" bIns="0" anchor="t" anchorCtr="0">
              <a:spAutoFit/>
            </a:bodyPr>
            <a:lstStyle/>
            <a:p>
              <a:pPr algn="ctr"/>
              <a:r>
                <a:rPr lang="en-US" sz="1500" b="1" dirty="0">
                  <a:solidFill>
                    <a:schemeClr val="accent1"/>
                  </a:solidFill>
                  <a:latin typeface="+mn-lt"/>
                  <a:ea typeface="+mn-ea"/>
                  <a:cs typeface="+mn-cs"/>
                </a:rPr>
                <a:t>Capitalization &amp; Swap</a:t>
              </a:r>
            </a:p>
          </p:txBody>
        </p:sp>
        <p:sp>
          <p:nvSpPr>
            <p:cNvPr id="13" name="TextBox 13"/>
            <p:cNvSpPr txBox="1"/>
            <p:nvPr/>
          </p:nvSpPr>
          <p:spPr>
            <a:xfrm>
              <a:off x="1359012" y="4483418"/>
              <a:ext cx="2082576" cy="264033"/>
            </a:xfrm>
            <a:prstGeom prst="rect">
              <a:avLst/>
            </a:prstGeom>
            <a:noFill/>
            <a:ln>
              <a:noFill/>
            </a:ln>
          </p:spPr>
          <p:txBody>
            <a:bodyPr wrap="none" lIns="0" tIns="0" rIns="0" bIns="0" anchor="t" anchorCtr="0">
              <a:spAutoFit/>
            </a:bodyPr>
            <a:lstStyle/>
            <a:p>
              <a:pPr algn="ctr"/>
              <a:r>
                <a:rPr lang="en-US" sz="1350" dirty="0">
                  <a:solidFill>
                    <a:schemeClr val="dk2"/>
                  </a:solidFill>
                  <a:latin typeface="+mn-lt"/>
                  <a:ea typeface="+mn-ea"/>
                  <a:cs typeface="+mn-cs"/>
                </a:rPr>
                <a:t>Each simple task alone,</a:t>
              </a:r>
            </a:p>
          </p:txBody>
        </p:sp>
        <p:sp>
          <p:nvSpPr>
            <p:cNvPr id="14" name="TextBox 14"/>
            <p:cNvSpPr txBox="1"/>
            <p:nvPr/>
          </p:nvSpPr>
          <p:spPr>
            <a:xfrm>
              <a:off x="1363569" y="4731068"/>
              <a:ext cx="2073462" cy="264033"/>
            </a:xfrm>
            <a:prstGeom prst="rect">
              <a:avLst/>
            </a:prstGeom>
            <a:noFill/>
            <a:ln>
              <a:noFill/>
            </a:ln>
          </p:spPr>
          <p:txBody>
            <a:bodyPr wrap="none" lIns="0" tIns="0" rIns="0" bIns="0" anchor="t" anchorCtr="0">
              <a:spAutoFit/>
            </a:bodyPr>
            <a:lstStyle/>
            <a:p>
              <a:pPr algn="ctr"/>
              <a:r>
                <a:rPr lang="en-US" sz="1350" dirty="0">
                  <a:solidFill>
                    <a:schemeClr val="dk2"/>
                  </a:solidFill>
                  <a:latin typeface="+mn-lt"/>
                  <a:ea typeface="+mn-ea"/>
                  <a:cs typeface="+mn-cs"/>
                </a:rPr>
                <a:t>for the Llama families.</a:t>
              </a:r>
            </a:p>
          </p:txBody>
        </p:sp>
      </p:grpSp>
      <p:grpSp>
        <p:nvGrpSpPr>
          <p:cNvPr id="22" name="Group 22"/>
          <p:cNvGrpSpPr/>
          <p:nvPr/>
        </p:nvGrpSpPr>
        <p:grpSpPr>
          <a:xfrm>
            <a:off x="4457700" y="1866900"/>
            <a:ext cx="3276600" cy="3657600"/>
            <a:chOff x="4457700" y="1866900"/>
            <a:chExt cx="3276600" cy="3657600"/>
          </a:xfrm>
        </p:grpSpPr>
        <p:sp>
          <p:nvSpPr>
            <p:cNvPr id="16" name="Rectangle 16"/>
            <p:cNvSpPr/>
            <p:nvPr/>
          </p:nvSpPr>
          <p:spPr>
            <a:xfrm>
              <a:off x="4457700" y="1866900"/>
              <a:ext cx="3276600" cy="3657600"/>
            </a:xfrm>
            <a:prstGeom prst="roundRect">
              <a:avLst>
                <a:gd name="adj" fmla="val 4070"/>
              </a:avLst>
            </a:prstGeom>
            <a:solidFill>
              <a:srgbClr val="FEF2F2"/>
            </a:solidFill>
            <a:ln w="14288">
              <a:solidFill>
                <a:schemeClr val="accent6"/>
              </a:solidFill>
            </a:ln>
            <a:effectLst>
              <a:outerShdw blurRad="76200" dist="28575" dir="5400000" algn="ctr" rotWithShape="0">
                <a:srgbClr val="1E293B">
                  <a:alpha val="5250"/>
                </a:srgbClr>
              </a:outerShdw>
            </a:effectLst>
          </p:spPr>
        </p:sp>
        <p:sp>
          <p:nvSpPr>
            <p:cNvPr id="17" name="TextBox 17"/>
            <p:cNvSpPr txBox="1"/>
            <p:nvPr/>
          </p:nvSpPr>
          <p:spPr>
            <a:xfrm>
              <a:off x="4719447" y="2142649"/>
              <a:ext cx="1454588" cy="190690"/>
            </a:xfrm>
            <a:prstGeom prst="rect">
              <a:avLst/>
            </a:prstGeom>
            <a:noFill/>
            <a:ln>
              <a:noFill/>
            </a:ln>
          </p:spPr>
          <p:txBody>
            <a:bodyPr wrap="none" lIns="0" tIns="0" rIns="0" bIns="0" anchor="t" anchorCtr="0">
              <a:spAutoFit/>
            </a:bodyPr>
            <a:lstStyle/>
            <a:p>
              <a:pPr algn="l"/>
              <a:r>
                <a:rPr lang="en-US" sz="980" b="1" spc="75" dirty="0">
                  <a:solidFill>
                    <a:schemeClr val="accent6"/>
                  </a:solidFill>
                  <a:latin typeface="+mn-lt"/>
                  <a:ea typeface="+mn-ea"/>
                  <a:cs typeface="+mn-cs"/>
                </a:rPr>
                <a:t>COMPOSE-BY-STEP</a:t>
              </a:r>
            </a:p>
          </p:txBody>
        </p:sp>
        <p:sp>
          <p:nvSpPr>
            <p:cNvPr id="18" name="TextBox 18"/>
            <p:cNvSpPr txBox="1"/>
            <p:nvPr/>
          </p:nvSpPr>
          <p:spPr>
            <a:xfrm>
              <a:off x="4905844" y="2548890"/>
              <a:ext cx="2380313" cy="1504950"/>
            </a:xfrm>
            <a:prstGeom prst="rect">
              <a:avLst/>
            </a:prstGeom>
            <a:noFill/>
            <a:ln>
              <a:noFill/>
            </a:ln>
          </p:spPr>
          <p:txBody>
            <a:bodyPr wrap="none" lIns="0" tIns="0" rIns="0" bIns="0" anchor="t" anchorCtr="0">
              <a:spAutoFit/>
            </a:bodyPr>
            <a:lstStyle/>
            <a:p>
              <a:pPr algn="ctr"/>
              <a:r>
                <a:rPr lang="en-US" sz="7800" b="1" dirty="0">
                  <a:solidFill>
                    <a:schemeClr val="accent6"/>
                  </a:solidFill>
                  <a:latin typeface="+mj-lt"/>
                  <a:ea typeface="+mj-ea"/>
                  <a:cs typeface="+mj-cs"/>
                </a:rPr>
                <a:t>&lt;20</a:t>
              </a:r>
              <a:r>
                <a:rPr lang="en-US" sz="3750" b="1" dirty="0">
                  <a:solidFill>
                    <a:schemeClr val="accent6"/>
                  </a:solidFill>
                  <a:latin typeface="+mj-lt"/>
                  <a:ea typeface="+mj-ea"/>
                  <a:cs typeface="+mj-cs"/>
                </a:rPr>
                <a:t>%</a:t>
              </a:r>
            </a:p>
          </p:txBody>
        </p:sp>
        <p:sp>
          <p:nvSpPr>
            <p:cNvPr id="19" name="TextBox 19"/>
            <p:cNvSpPr txBox="1"/>
            <p:nvPr/>
          </p:nvSpPr>
          <p:spPr>
            <a:xfrm>
              <a:off x="5152163" y="4029075"/>
              <a:ext cx="1887674" cy="293370"/>
            </a:xfrm>
            <a:prstGeom prst="rect">
              <a:avLst/>
            </a:prstGeom>
            <a:noFill/>
            <a:ln>
              <a:noFill/>
            </a:ln>
          </p:spPr>
          <p:txBody>
            <a:bodyPr wrap="none" lIns="0" tIns="0" rIns="0" bIns="0" anchor="t" anchorCtr="0">
              <a:spAutoFit/>
            </a:bodyPr>
            <a:lstStyle/>
            <a:p>
              <a:pPr algn="ctr"/>
              <a:r>
                <a:rPr lang="en-US" sz="1500" b="1" dirty="0">
                  <a:solidFill>
                    <a:schemeClr val="accent1"/>
                  </a:solidFill>
                  <a:latin typeface="+mn-lt"/>
                  <a:ea typeface="+mn-ea"/>
                  <a:cs typeface="+mn-cs"/>
                </a:rPr>
                <a:t>Composite version</a:t>
              </a:r>
            </a:p>
          </p:txBody>
        </p:sp>
        <p:sp>
          <p:nvSpPr>
            <p:cNvPr id="20" name="TextBox 20"/>
            <p:cNvSpPr txBox="1"/>
            <p:nvPr/>
          </p:nvSpPr>
          <p:spPr>
            <a:xfrm>
              <a:off x="5190468" y="4483418"/>
              <a:ext cx="1811063" cy="264033"/>
            </a:xfrm>
            <a:prstGeom prst="rect">
              <a:avLst/>
            </a:prstGeom>
            <a:noFill/>
            <a:ln>
              <a:noFill/>
            </a:ln>
          </p:spPr>
          <p:txBody>
            <a:bodyPr wrap="none" lIns="0" tIns="0" rIns="0" bIns="0" anchor="t" anchorCtr="0">
              <a:spAutoFit/>
            </a:bodyPr>
            <a:lstStyle/>
            <a:p>
              <a:pPr algn="ctr"/>
              <a:r>
                <a:rPr lang="en-US" sz="1350" dirty="0">
                  <a:solidFill>
                    <a:schemeClr val="dk2"/>
                  </a:solidFill>
                  <a:latin typeface="+mn-lt"/>
                  <a:ea typeface="+mn-ea"/>
                  <a:cs typeface="+mn-cs"/>
                </a:rPr>
                <a:t>Of the same tasks —</a:t>
              </a:r>
            </a:p>
          </p:txBody>
        </p:sp>
        <p:sp>
          <p:nvSpPr>
            <p:cNvPr id="21" name="TextBox 21"/>
            <p:cNvSpPr txBox="1"/>
            <p:nvPr/>
          </p:nvSpPr>
          <p:spPr>
            <a:xfrm>
              <a:off x="4980546" y="4731068"/>
              <a:ext cx="2230907" cy="264033"/>
            </a:xfrm>
            <a:prstGeom prst="rect">
              <a:avLst/>
            </a:prstGeom>
            <a:noFill/>
            <a:ln>
              <a:noFill/>
            </a:ln>
          </p:spPr>
          <p:txBody>
            <a:bodyPr wrap="none" lIns="0" tIns="0" rIns="0" bIns="0" anchor="t" anchorCtr="0">
              <a:spAutoFit/>
            </a:bodyPr>
            <a:lstStyle/>
            <a:p>
              <a:pPr algn="ctr"/>
              <a:r>
                <a:rPr lang="en-US" sz="1350" dirty="0">
                  <a:solidFill>
                    <a:schemeClr val="dk2"/>
                  </a:solidFill>
                  <a:latin typeface="+mn-lt"/>
                  <a:ea typeface="+mn-ea"/>
                  <a:cs typeface="+mn-cs"/>
                </a:rPr>
                <a:t>and no gain from scaling.</a:t>
              </a:r>
            </a:p>
          </p:txBody>
        </p:sp>
      </p:grpSp>
      <p:grpSp>
        <p:nvGrpSpPr>
          <p:cNvPr id="30" name="Group 30"/>
          <p:cNvGrpSpPr/>
          <p:nvPr/>
        </p:nvGrpSpPr>
        <p:grpSpPr>
          <a:xfrm>
            <a:off x="8153400" y="1866900"/>
            <a:ext cx="3276600" cy="3657600"/>
            <a:chOff x="8153400" y="1866900"/>
            <a:chExt cx="3276600" cy="3657600"/>
          </a:xfrm>
        </p:grpSpPr>
        <p:sp>
          <p:nvSpPr>
            <p:cNvPr id="23" name="Rectangle 23"/>
            <p:cNvSpPr/>
            <p:nvPr/>
          </p:nvSpPr>
          <p:spPr>
            <a:xfrm>
              <a:off x="8153400" y="1866900"/>
              <a:ext cx="3276600" cy="3657600"/>
            </a:xfrm>
            <a:prstGeom prst="roundRect">
              <a:avLst>
                <a:gd name="adj" fmla="val 4070"/>
              </a:avLst>
            </a:prstGeom>
            <a:solidFill>
              <a:srgbClr val="EEF2FF"/>
            </a:solidFill>
            <a:ln w="14288">
              <a:solidFill>
                <a:schemeClr val="accent2"/>
              </a:solidFill>
            </a:ln>
            <a:effectLst>
              <a:outerShdw blurRad="76200" dist="28575" dir="5400000" algn="ctr" rotWithShape="0">
                <a:srgbClr val="1E293B">
                  <a:alpha val="5250"/>
                </a:srgbClr>
              </a:outerShdw>
            </a:effectLst>
          </p:spPr>
        </p:sp>
        <p:sp>
          <p:nvSpPr>
            <p:cNvPr id="24" name="TextBox 24"/>
            <p:cNvSpPr txBox="1"/>
            <p:nvPr/>
          </p:nvSpPr>
          <p:spPr>
            <a:xfrm>
              <a:off x="8415147" y="2142649"/>
              <a:ext cx="1924449" cy="190690"/>
            </a:xfrm>
            <a:prstGeom prst="rect">
              <a:avLst/>
            </a:prstGeom>
            <a:noFill/>
            <a:ln>
              <a:noFill/>
            </a:ln>
          </p:spPr>
          <p:txBody>
            <a:bodyPr wrap="none" lIns="0" tIns="0" rIns="0" bIns="0" anchor="t" anchorCtr="0">
              <a:spAutoFit/>
            </a:bodyPr>
            <a:lstStyle/>
            <a:p>
              <a:pPr algn="l"/>
              <a:r>
                <a:rPr lang="en-US" sz="980" b="1" spc="75" dirty="0">
                  <a:solidFill>
                    <a:schemeClr val="accent2"/>
                  </a:solidFill>
                  <a:latin typeface="+mn-lt"/>
                  <a:ea typeface="+mn-ea"/>
                  <a:cs typeface="+mn-cs"/>
                </a:rPr>
                <a:t>MILDER SEPARABLE CASES</a:t>
              </a:r>
            </a:p>
          </p:txBody>
        </p:sp>
        <p:sp>
          <p:nvSpPr>
            <p:cNvPr id="25" name="TextBox 25"/>
            <p:cNvSpPr txBox="1"/>
            <p:nvPr/>
          </p:nvSpPr>
          <p:spPr>
            <a:xfrm>
              <a:off x="9111767" y="2590800"/>
              <a:ext cx="1359865" cy="1162050"/>
            </a:xfrm>
            <a:prstGeom prst="rect">
              <a:avLst/>
            </a:prstGeom>
            <a:noFill/>
            <a:ln>
              <a:noFill/>
            </a:ln>
          </p:spPr>
          <p:txBody>
            <a:bodyPr wrap="none" lIns="0" tIns="0" rIns="0" bIns="0" anchor="t" anchorCtr="0">
              <a:spAutoFit/>
            </a:bodyPr>
            <a:lstStyle/>
            <a:p>
              <a:pPr algn="ctr"/>
              <a:r>
                <a:rPr lang="en-US" sz="6000" b="1" dirty="0">
                  <a:solidFill>
                    <a:schemeClr val="accent2"/>
                  </a:solidFill>
                  <a:latin typeface="+mj-lt"/>
                  <a:ea typeface="+mj-ea"/>
                  <a:cs typeface="+mj-cs"/>
                </a:rPr>
                <a:t>44</a:t>
              </a:r>
              <a:r>
                <a:rPr lang="en-US" sz="3000" b="1" dirty="0">
                  <a:solidFill>
                    <a:schemeClr val="accent2"/>
                  </a:solidFill>
                  <a:latin typeface="+mj-lt"/>
                  <a:ea typeface="+mj-ea"/>
                  <a:cs typeface="+mj-cs"/>
                </a:rPr>
                <a:t>%</a:t>
              </a:r>
            </a:p>
          </p:txBody>
        </p:sp>
        <p:sp>
          <p:nvSpPr>
            <p:cNvPr id="26" name="TextBox 26"/>
            <p:cNvSpPr txBox="1"/>
            <p:nvPr/>
          </p:nvSpPr>
          <p:spPr>
            <a:xfrm>
              <a:off x="8799965" y="3604260"/>
              <a:ext cx="1983471" cy="234696"/>
            </a:xfrm>
            <a:prstGeom prst="rect">
              <a:avLst/>
            </a:prstGeom>
            <a:noFill/>
            <a:ln>
              <a:noFill/>
            </a:ln>
          </p:spPr>
          <p:txBody>
            <a:bodyPr wrap="none" lIns="0" tIns="0" rIns="0" bIns="0" anchor="t" anchorCtr="0">
              <a:spAutoFit/>
            </a:bodyPr>
            <a:lstStyle/>
            <a:p>
              <a:pPr algn="ctr"/>
              <a:r>
                <a:rPr lang="en-US" sz="1200" dirty="0">
                  <a:solidFill>
                    <a:schemeClr val="dk2"/>
                  </a:solidFill>
                  <a:latin typeface="+mn-lt"/>
                  <a:ea typeface="+mn-ea"/>
                  <a:cs typeface="+mn-cs"/>
                </a:rPr>
                <a:t>Capitalization + Two-Sum</a:t>
              </a:r>
            </a:p>
          </p:txBody>
        </p:sp>
        <p:sp>
          <p:nvSpPr>
            <p:cNvPr id="27" name="TextBox 27"/>
            <p:cNvSpPr txBox="1"/>
            <p:nvPr/>
          </p:nvSpPr>
          <p:spPr>
            <a:xfrm>
              <a:off x="9111767" y="3657600"/>
              <a:ext cx="1359865" cy="1162050"/>
            </a:xfrm>
            <a:prstGeom prst="rect">
              <a:avLst/>
            </a:prstGeom>
            <a:noFill/>
            <a:ln>
              <a:noFill/>
            </a:ln>
          </p:spPr>
          <p:txBody>
            <a:bodyPr wrap="none" lIns="0" tIns="0" rIns="0" bIns="0" anchor="t" anchorCtr="0">
              <a:spAutoFit/>
            </a:bodyPr>
            <a:lstStyle/>
            <a:p>
              <a:pPr algn="ctr"/>
              <a:r>
                <a:rPr lang="en-US" sz="6000" b="1" dirty="0">
                  <a:solidFill>
                    <a:schemeClr val="accent3"/>
                  </a:solidFill>
                  <a:latin typeface="+mj-lt"/>
                  <a:ea typeface="+mj-ea"/>
                  <a:cs typeface="+mj-cs"/>
                </a:rPr>
                <a:t>66</a:t>
              </a:r>
              <a:r>
                <a:rPr lang="en-US" sz="3000" b="1" dirty="0">
                  <a:solidFill>
                    <a:schemeClr val="accent3"/>
                  </a:solidFill>
                  <a:latin typeface="+mj-lt"/>
                  <a:ea typeface="+mj-ea"/>
                  <a:cs typeface="+mj-cs"/>
                </a:rPr>
                <a:t>%</a:t>
              </a:r>
            </a:p>
          </p:txBody>
        </p:sp>
        <p:sp>
          <p:nvSpPr>
            <p:cNvPr id="28" name="TextBox 28"/>
            <p:cNvSpPr txBox="1"/>
            <p:nvPr/>
          </p:nvSpPr>
          <p:spPr>
            <a:xfrm>
              <a:off x="9144884" y="4671060"/>
              <a:ext cx="1293632" cy="234696"/>
            </a:xfrm>
            <a:prstGeom prst="rect">
              <a:avLst/>
            </a:prstGeom>
            <a:noFill/>
            <a:ln>
              <a:noFill/>
            </a:ln>
          </p:spPr>
          <p:txBody>
            <a:bodyPr wrap="none" lIns="0" tIns="0" rIns="0" bIns="0" anchor="t" anchorCtr="0">
              <a:spAutoFit/>
            </a:bodyPr>
            <a:lstStyle/>
            <a:p>
              <a:pPr algn="ctr"/>
              <a:r>
                <a:rPr lang="en-US" sz="1200" dirty="0">
                  <a:solidFill>
                    <a:schemeClr val="dk2"/>
                  </a:solidFill>
                  <a:latin typeface="+mn-lt"/>
                  <a:ea typeface="+mn-ea"/>
                  <a:cs typeface="+mn-cs"/>
                </a:rPr>
                <a:t>Swap + Two-Sum</a:t>
              </a:r>
            </a:p>
          </p:txBody>
        </p:sp>
        <p:sp>
          <p:nvSpPr>
            <p:cNvPr id="29" name="TextBox 29"/>
            <p:cNvSpPr txBox="1"/>
            <p:nvPr/>
          </p:nvSpPr>
          <p:spPr>
            <a:xfrm>
              <a:off x="8847414" y="5060156"/>
              <a:ext cx="1888571" cy="220028"/>
            </a:xfrm>
            <a:prstGeom prst="rect">
              <a:avLst/>
            </a:prstGeom>
            <a:noFill/>
            <a:ln>
              <a:noFill/>
            </a:ln>
          </p:spPr>
          <p:txBody>
            <a:bodyPr wrap="none" lIns="0" tIns="0" rIns="0" bIns="0" anchor="t" anchorCtr="0">
              <a:spAutoFit/>
            </a:bodyPr>
            <a:lstStyle/>
            <a:p>
              <a:pPr algn="ctr"/>
              <a:r>
                <a:rPr lang="en-US" sz="1120" dirty="0">
                  <a:solidFill>
                    <a:srgbClr val="94A3B8"/>
                  </a:solidFill>
                  <a:latin typeface="+mn-lt"/>
                  <a:ea typeface="+mn-ea"/>
                  <a:cs typeface="+mn-cs"/>
                </a:rPr>
                <a:t>climbing with larger scale</a:t>
              </a:r>
            </a:p>
          </p:txBody>
        </p:sp>
      </p:grpSp>
      <p:grpSp>
        <p:nvGrpSpPr>
          <p:cNvPr id="34" name="Group 34"/>
          <p:cNvGrpSpPr/>
          <p:nvPr/>
        </p:nvGrpSpPr>
        <p:grpSpPr>
          <a:xfrm>
            <a:off x="755523" y="5844064"/>
            <a:ext cx="10679240" cy="845343"/>
            <a:chOff x="755523" y="5844064"/>
            <a:chExt cx="10679240" cy="845343"/>
          </a:xfrm>
        </p:grpSpPr>
        <p:sp>
          <p:nvSpPr>
            <p:cNvPr id="31" name="TextBox 31"/>
            <p:cNvSpPr txBox="1"/>
            <p:nvPr/>
          </p:nvSpPr>
          <p:spPr>
            <a:xfrm>
              <a:off x="755523" y="5844064"/>
              <a:ext cx="7729635" cy="249364"/>
            </a:xfrm>
            <a:prstGeom prst="rect">
              <a:avLst/>
            </a:prstGeom>
            <a:noFill/>
            <a:ln>
              <a:noFill/>
            </a:ln>
          </p:spPr>
          <p:txBody>
            <a:bodyPr wrap="none" lIns="0" tIns="0" rIns="0" bIns="0" anchor="t" anchorCtr="0">
              <a:spAutoFit/>
            </a:bodyPr>
            <a:lstStyle/>
            <a:p>
              <a:pPr algn="l"/>
              <a:r>
                <a:rPr lang="en-US" sz="1280" dirty="0">
                  <a:solidFill>
                    <a:schemeClr val="dk2"/>
                  </a:solidFill>
                  <a:latin typeface="+mn-lt"/>
                  <a:ea typeface="+mn-ea"/>
                  <a:cs typeface="+mn-cs"/>
                </a:rPr>
                <a:t>All evaluated with K = 10 in-context examples across the Llama-1/2/3 and GPT model scales.</a:t>
              </a:r>
            </a:p>
          </p:txBody>
        </p:sp>
        <p:sp>
          <p:nvSpPr>
            <p:cNvPr id="32" name="TextBox 32"/>
            <p:cNvSpPr txBox="1"/>
            <p:nvPr/>
          </p:nvSpPr>
          <p:spPr>
            <a:xfrm>
              <a:off x="757238" y="6513195"/>
              <a:ext cx="1660303" cy="176212"/>
            </a:xfrm>
            <a:prstGeom prst="rect">
              <a:avLst/>
            </a:prstGeom>
            <a:noFill/>
            <a:ln>
              <a:noFill/>
            </a:ln>
          </p:spPr>
          <p:txBody>
            <a:bodyPr wrap="none" lIns="0" tIns="0" rIns="0" bIns="0" anchor="t" anchorCtr="0">
              <a:spAutoFit/>
            </a:bodyPr>
            <a:lstStyle/>
            <a:p>
              <a:pPr algn="l"/>
              <a:r>
                <a:rPr lang="en-US" sz="900" dirty="0">
                  <a:solidFill>
                    <a:srgbClr val="94A3B8"/>
                  </a:solidFill>
                  <a:latin typeface="+mn-lt"/>
                  <a:ea typeface="+mn-ea"/>
                  <a:cs typeface="+mn-cs"/>
                </a:rPr>
                <a:t>Xu, Shi &amp; Liang · COLM 2024</a:t>
              </a:r>
            </a:p>
          </p:txBody>
        </p:sp>
        <p:sp>
          <p:nvSpPr>
            <p:cNvPr id="33" name="TextBox 33"/>
            <p:cNvSpPr txBox="1"/>
            <p:nvPr/>
          </p:nvSpPr>
          <p:spPr>
            <a:xfrm>
              <a:off x="11291964" y="6513195"/>
              <a:ext cx="142799" cy="176212"/>
            </a:xfrm>
            <a:prstGeom prst="rect">
              <a:avLst/>
            </a:prstGeom>
            <a:noFill/>
            <a:ln>
              <a:noFill/>
            </a:ln>
          </p:spPr>
          <p:txBody>
            <a:bodyPr wrap="none" lIns="0" tIns="0" rIns="0" bIns="0" anchor="t" anchorCtr="0">
              <a:spAutoFit/>
            </a:bodyPr>
            <a:lstStyle/>
            <a:p>
              <a:pPr algn="r"/>
              <a:r>
                <a:rPr lang="en-US" sz="900" dirty="0">
                  <a:solidFill>
                    <a:srgbClr val="94A3B8"/>
                  </a:solidFill>
                  <a:latin typeface="+mn-lt"/>
                  <a:ea typeface="+mn-ea"/>
                  <a:cs typeface="+mn-cs"/>
                </a:rPr>
                <a:t>09</a:t>
              </a:r>
            </a:p>
          </p:txBody>
        </p:sp>
      </p:grpSp>
      <p:sp>
        <p:nvSpPr>
          <p:cNvPr id="35" name="cue_s09_c1_numbers_tell" title="cue_s09_c1_numbers_tell" descr="cue_s09_c1_numbers_tell The numbers tell it."/>
          <p:cNvSpPr/>
          <p:nvPr/>
        </p:nvSpPr>
        <p:spPr>
          <a:xfrm>
            <a:off x="762000" y="1161745"/>
            <a:ext cx="2381097" cy="4382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cue_s09_c2_simple_capitalization_swap_reach_abo" title="cue_s09_c2_simple_capitalization_swap_reach_abo" descr="cue_s09_c2_simple_capitalization_swap_reach_abo Simple capitalization and swap reach about ninety percent for Llama."/>
          <p:cNvSpPr/>
          <p:nvPr/>
        </p:nvSpPr>
        <p:spPr>
          <a:xfrm>
            <a:off x="762000" y="1866747"/>
            <a:ext cx="3275990" cy="36573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cue_s09_c3_compose_by_step_version_falls_twenty" title="cue_s09_c3_compose_by_step_version_falls_twenty" descr="cue_s09_c3_compose_by_step_version_falls_twenty The compose-by-step version falls to twenty percent or lower, with no gain from scaling."/>
          <p:cNvSpPr/>
          <p:nvPr/>
        </p:nvSpPr>
        <p:spPr>
          <a:xfrm>
            <a:off x="4457395" y="1866747"/>
            <a:ext cx="3275990" cy="36573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ue_s09_c4_milder_separable_cases_climb_forty_f" title="cue_s09_c4_milder_separable_cases_climb_forty_f" descr="cue_s09_c4_milder_separable_cases_climb_forty_f Milder separable cases climb to forty-four and sixty-six percent."/>
          <p:cNvSpPr/>
          <p:nvPr/>
        </p:nvSpPr>
        <p:spPr>
          <a:xfrm>
            <a:off x="8152790" y="1866747"/>
            <a:ext cx="3277209" cy="36573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chemeClr val="lt1"/>
            </a:solidFill>
            <a:ln>
              <a:noFill/>
            </a:ln>
          </p:spPr>
        </p:sp>
        <p:sp>
          <p:nvSpPr>
            <p:cNvPr id="3" name="Rectangle 3"/>
            <p:cNvSpPr/>
            <p:nvPr/>
          </p:nvSpPr>
          <p:spPr>
            <a:xfrm>
              <a:off x="0" y="0"/>
              <a:ext cx="12192000" cy="95250"/>
            </a:xfrm>
            <a:prstGeom prst="rect">
              <a:avLst/>
            </a:prstGeom>
            <a:solidFill>
              <a:schemeClr val="accent1"/>
            </a:solidFill>
            <a:ln>
              <a:noFill/>
            </a:ln>
          </p:spPr>
        </p:sp>
      </p:grpSp>
      <p:grpSp>
        <p:nvGrpSpPr>
          <p:cNvPr id="8" name="Group 8"/>
          <p:cNvGrpSpPr/>
          <p:nvPr/>
        </p:nvGrpSpPr>
        <p:grpSpPr>
          <a:xfrm>
            <a:off x="762000" y="571500"/>
            <a:ext cx="8039471" cy="737807"/>
            <a:chOff x="762000" y="571500"/>
            <a:chExt cx="8039471" cy="737807"/>
          </a:xfrm>
        </p:grpSpPr>
        <p:sp>
          <p:nvSpPr>
            <p:cNvPr id="5" name="Rectangle 5"/>
            <p:cNvSpPr/>
            <p:nvPr/>
          </p:nvSpPr>
          <p:spPr>
            <a:xfrm>
              <a:off x="762000" y="571500"/>
              <a:ext cx="57150" cy="381000"/>
            </a:xfrm>
            <a:prstGeom prst="rect">
              <a:avLst/>
            </a:prstGeom>
            <a:solidFill>
              <a:schemeClr val="accent2"/>
            </a:solidFill>
            <a:ln>
              <a:noFill/>
            </a:ln>
          </p:spPr>
        </p:sp>
        <p:sp>
          <p:nvSpPr>
            <p:cNvPr id="6" name="TextBox 6"/>
            <p:cNvSpPr txBox="1"/>
            <p:nvPr/>
          </p:nvSpPr>
          <p:spPr>
            <a:xfrm>
              <a:off x="947547" y="694849"/>
              <a:ext cx="832537" cy="190690"/>
            </a:xfrm>
            <a:prstGeom prst="rect">
              <a:avLst/>
            </a:prstGeom>
            <a:noFill/>
            <a:ln>
              <a:noFill/>
            </a:ln>
          </p:spPr>
          <p:txBody>
            <a:bodyPr wrap="none" lIns="0" tIns="0" rIns="0" bIns="0" anchor="t" anchorCtr="0">
              <a:spAutoFit/>
            </a:bodyPr>
            <a:lstStyle/>
            <a:p>
              <a:pPr algn="l"/>
              <a:r>
                <a:rPr lang="en-US" sz="980" b="1" spc="150" dirty="0">
                  <a:solidFill>
                    <a:schemeClr val="accent2"/>
                  </a:solidFill>
                  <a:latin typeface="+mn-lt"/>
                  <a:ea typeface="+mn-ea"/>
                  <a:cs typeface="+mn-cs"/>
                </a:rPr>
                <a:t>TAKEAWAY</a:t>
              </a:r>
            </a:p>
          </p:txBody>
        </p:sp>
        <p:sp>
          <p:nvSpPr>
            <p:cNvPr id="7" name="TextBox 7"/>
            <p:cNvSpPr txBox="1"/>
            <p:nvPr/>
          </p:nvSpPr>
          <p:spPr>
            <a:xfrm>
              <a:off x="939546" y="810578"/>
              <a:ext cx="7861925"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j-lt"/>
                  <a:ea typeface="+mj-ea"/>
                  <a:cs typeface="+mj-cs"/>
                </a:rPr>
                <a:t>Composition follows the shape of the task</a:t>
              </a:r>
            </a:p>
          </p:txBody>
        </p:sp>
      </p:grpSp>
      <p:grpSp>
        <p:nvGrpSpPr>
          <p:cNvPr id="18" name="Group 18"/>
          <p:cNvGrpSpPr/>
          <p:nvPr/>
        </p:nvGrpSpPr>
        <p:grpSpPr>
          <a:xfrm>
            <a:off x="762000" y="1428750"/>
            <a:ext cx="5257800" cy="2857500"/>
            <a:chOff x="762000" y="1428750"/>
            <a:chExt cx="5257800" cy="2857500"/>
          </a:xfrm>
        </p:grpSpPr>
        <p:sp>
          <p:nvSpPr>
            <p:cNvPr id="9" name="Rectangle 9"/>
            <p:cNvSpPr/>
            <p:nvPr/>
          </p:nvSpPr>
          <p:spPr>
            <a:xfrm>
              <a:off x="762000" y="1428750"/>
              <a:ext cx="5257800" cy="2857500"/>
            </a:xfrm>
            <a:prstGeom prst="roundRect">
              <a:avLst>
                <a:gd name="adj" fmla="val 4667"/>
              </a:avLst>
            </a:prstGeom>
            <a:solidFill>
              <a:srgbClr val="ECFDF5"/>
            </a:solidFill>
            <a:ln w="14288">
              <a:solidFill>
                <a:schemeClr val="accent5"/>
              </a:solidFill>
            </a:ln>
            <a:effectLst>
              <a:outerShdw blurRad="76200" dist="28575" dir="5400000" algn="ctr" rotWithShape="0">
                <a:srgbClr val="1E293B">
                  <a:alpha val="5250"/>
                </a:srgbClr>
              </a:outerShdw>
            </a:effectLst>
          </p:spPr>
        </p:sp>
        <p:sp>
          <p:nvSpPr>
            <p:cNvPr id="10" name="Ellipse 10"/>
            <p:cNvSpPr/>
            <p:nvPr/>
          </p:nvSpPr>
          <p:spPr>
            <a:xfrm>
              <a:off x="1009650" y="1695450"/>
              <a:ext cx="495300" cy="495300"/>
            </a:xfrm>
            <a:prstGeom prst="ellipse">
              <a:avLst/>
            </a:prstGeom>
            <a:solidFill>
              <a:schemeClr val="accent5"/>
            </a:solidFill>
            <a:ln>
              <a:noFill/>
            </a:ln>
          </p:spPr>
        </p:sp>
        <p:sp>
          <p:nvSpPr>
            <p:cNvPr id="11" name="TextBox 11"/>
            <p:cNvSpPr txBox="1"/>
            <p:nvPr/>
          </p:nvSpPr>
          <p:spPr>
            <a:xfrm>
              <a:off x="1101776" y="1818322"/>
              <a:ext cx="311048" cy="381381"/>
            </a:xfrm>
            <a:prstGeom prst="rect">
              <a:avLst/>
            </a:prstGeom>
            <a:noFill/>
            <a:ln>
              <a:noFill/>
            </a:ln>
          </p:spPr>
          <p:txBody>
            <a:bodyPr wrap="none" lIns="0" tIns="0" rIns="0" bIns="0" anchor="t" anchorCtr="0">
              <a:spAutoFit/>
            </a:bodyPr>
            <a:lstStyle/>
            <a:p>
              <a:pPr algn="ctr"/>
              <a:r>
                <a:rPr lang="en-US" sz="1950" b="1" dirty="0">
                  <a:solidFill>
                    <a:srgbClr val="FFFFFF"/>
                  </a:solidFill>
                  <a:latin typeface="+mj-lt"/>
                  <a:ea typeface="+mj-ea"/>
                  <a:cs typeface="+mj-cs"/>
                </a:rPr>
                <a:t>✓</a:t>
              </a:r>
            </a:p>
          </p:txBody>
        </p:sp>
        <p:sp>
          <p:nvSpPr>
            <p:cNvPr id="12" name="TextBox 12"/>
            <p:cNvSpPr txBox="1"/>
            <p:nvPr/>
          </p:nvSpPr>
          <p:spPr>
            <a:xfrm>
              <a:off x="1685544" y="1827848"/>
              <a:ext cx="3463786" cy="381381"/>
            </a:xfrm>
            <a:prstGeom prst="rect">
              <a:avLst/>
            </a:prstGeom>
            <a:noFill/>
            <a:ln>
              <a:noFill/>
            </a:ln>
          </p:spPr>
          <p:txBody>
            <a:bodyPr wrap="none" lIns="0" tIns="0" rIns="0" bIns="0" anchor="t" anchorCtr="0">
              <a:spAutoFit/>
            </a:bodyPr>
            <a:lstStyle/>
            <a:p>
              <a:pPr algn="l"/>
              <a:r>
                <a:rPr lang="en-US" sz="1950" b="1" dirty="0">
                  <a:solidFill>
                    <a:schemeClr val="accent5"/>
                  </a:solidFill>
                  <a:latin typeface="+mj-lt"/>
                  <a:ea typeface="+mj-ea"/>
                  <a:cs typeface="+mj-cs"/>
                </a:rPr>
                <a:t>When composition works</a:t>
              </a:r>
            </a:p>
          </p:txBody>
        </p:sp>
        <p:sp>
          <p:nvSpPr>
            <p:cNvPr id="13" name="TextBox 13"/>
            <p:cNvSpPr txBox="1"/>
            <p:nvPr/>
          </p:nvSpPr>
          <p:spPr>
            <a:xfrm>
              <a:off x="1058799" y="2420779"/>
              <a:ext cx="3893982" cy="308039"/>
            </a:xfrm>
            <a:prstGeom prst="rect">
              <a:avLst/>
            </a:prstGeom>
            <a:noFill/>
            <a:ln>
              <a:noFill/>
            </a:ln>
          </p:spPr>
          <p:txBody>
            <a:bodyPr wrap="none" lIns="0" tIns="0" rIns="0" bIns="0" anchor="t" anchorCtr="0">
              <a:spAutoFit/>
            </a:bodyPr>
            <a:lstStyle/>
            <a:p>
              <a:pPr algn="l"/>
              <a:r>
                <a:rPr lang="en-US" sz="1580" dirty="0">
                  <a:solidFill>
                    <a:srgbClr val="334155"/>
                  </a:solidFill>
                  <a:latin typeface="+mn-lt"/>
                  <a:ea typeface="+mn-ea"/>
                  <a:cs typeface="+mn-cs"/>
                </a:rPr>
                <a:t>Models can combine two learned skills</a:t>
              </a:r>
            </a:p>
          </p:txBody>
        </p:sp>
        <p:sp>
          <p:nvSpPr>
            <p:cNvPr id="14" name="TextBox 14"/>
            <p:cNvSpPr txBox="1"/>
            <p:nvPr/>
          </p:nvSpPr>
          <p:spPr>
            <a:xfrm>
              <a:off x="1058799" y="2706529"/>
              <a:ext cx="3972215" cy="308039"/>
            </a:xfrm>
            <a:prstGeom prst="rect">
              <a:avLst/>
            </a:prstGeom>
            <a:noFill/>
            <a:ln>
              <a:noFill/>
            </a:ln>
          </p:spPr>
          <p:txBody>
            <a:bodyPr wrap="none" lIns="0" tIns="0" rIns="0" bIns="0" anchor="t" anchorCtr="0">
              <a:spAutoFit/>
            </a:bodyPr>
            <a:lstStyle/>
            <a:p>
              <a:pPr algn="l"/>
              <a:r>
                <a:rPr lang="en-US" sz="1580" dirty="0">
                  <a:solidFill>
                    <a:srgbClr val="334155"/>
                  </a:solidFill>
                  <a:latin typeface="+mn-lt"/>
                  <a:ea typeface="+mn-ea"/>
                  <a:cs typeface="+mn-cs"/>
                </a:rPr>
                <a:t>only when those skills act on separate</a:t>
              </a:r>
            </a:p>
          </p:txBody>
        </p:sp>
        <p:sp>
          <p:nvSpPr>
            <p:cNvPr id="15" name="TextBox 15"/>
            <p:cNvSpPr txBox="1"/>
            <p:nvPr/>
          </p:nvSpPr>
          <p:spPr>
            <a:xfrm>
              <a:off x="1058799" y="2992279"/>
              <a:ext cx="2026013" cy="308039"/>
            </a:xfrm>
            <a:prstGeom prst="rect">
              <a:avLst/>
            </a:prstGeom>
            <a:noFill/>
            <a:ln>
              <a:noFill/>
            </a:ln>
          </p:spPr>
          <p:txBody>
            <a:bodyPr wrap="none" lIns="0" tIns="0" rIns="0" bIns="0" anchor="t" anchorCtr="0">
              <a:spAutoFit/>
            </a:bodyPr>
            <a:lstStyle/>
            <a:p>
              <a:pPr algn="l"/>
              <a:r>
                <a:rPr lang="en-US" sz="1580" dirty="0">
                  <a:solidFill>
                    <a:srgbClr val="334155"/>
                  </a:solidFill>
                  <a:latin typeface="+mn-lt"/>
                  <a:ea typeface="+mn-ea"/>
                  <a:cs typeface="+mn-cs"/>
                </a:rPr>
                <a:t>parts of the input.</a:t>
              </a:r>
            </a:p>
          </p:txBody>
        </p:sp>
        <p:sp>
          <p:nvSpPr>
            <p:cNvPr id="16" name="Rectangle 16"/>
            <p:cNvSpPr/>
            <p:nvPr/>
          </p:nvSpPr>
          <p:spPr>
            <a:xfrm>
              <a:off x="1066800" y="3505200"/>
              <a:ext cx="4572000" cy="495300"/>
            </a:xfrm>
            <a:prstGeom prst="roundRect">
              <a:avLst>
                <a:gd name="adj" fmla="val 19231"/>
              </a:avLst>
            </a:prstGeom>
            <a:solidFill>
              <a:schemeClr val="lt1"/>
            </a:solidFill>
            <a:ln>
              <a:noFill/>
            </a:ln>
          </p:spPr>
        </p:sp>
        <p:sp>
          <p:nvSpPr>
            <p:cNvPr id="17" name="TextBox 17"/>
            <p:cNvSpPr txBox="1"/>
            <p:nvPr/>
          </p:nvSpPr>
          <p:spPr>
            <a:xfrm>
              <a:off x="1250061" y="3665696"/>
              <a:ext cx="3403946" cy="278702"/>
            </a:xfrm>
            <a:prstGeom prst="rect">
              <a:avLst/>
            </a:prstGeom>
            <a:noFill/>
            <a:ln>
              <a:noFill/>
            </a:ln>
          </p:spPr>
          <p:txBody>
            <a:bodyPr wrap="none" lIns="0" tIns="0" rIns="0" bIns="0" anchor="t" anchorCtr="0">
              <a:spAutoFit/>
            </a:bodyPr>
            <a:lstStyle/>
            <a:p>
              <a:pPr algn="l"/>
              <a:r>
                <a:rPr lang="en-US" sz="1420" b="1" dirty="0">
                  <a:solidFill>
                    <a:schemeClr val="accent5"/>
                  </a:solidFill>
                  <a:latin typeface="+mn-lt"/>
                  <a:ea typeface="+mn-ea"/>
                  <a:cs typeface="+mn-cs"/>
                </a:rPr>
                <a:t>Separable → composes, and scales.</a:t>
              </a:r>
            </a:p>
          </p:txBody>
        </p:sp>
      </p:grpSp>
      <p:grpSp>
        <p:nvGrpSpPr>
          <p:cNvPr id="28" name="Group 28"/>
          <p:cNvGrpSpPr/>
          <p:nvPr/>
        </p:nvGrpSpPr>
        <p:grpSpPr>
          <a:xfrm>
            <a:off x="6172200" y="1428750"/>
            <a:ext cx="5257800" cy="2857500"/>
            <a:chOff x="6172200" y="1428750"/>
            <a:chExt cx="5257800" cy="2857500"/>
          </a:xfrm>
        </p:grpSpPr>
        <p:sp>
          <p:nvSpPr>
            <p:cNvPr id="19" name="Rectangle 19"/>
            <p:cNvSpPr/>
            <p:nvPr/>
          </p:nvSpPr>
          <p:spPr>
            <a:xfrm>
              <a:off x="6172200" y="1428750"/>
              <a:ext cx="5257800" cy="2857500"/>
            </a:xfrm>
            <a:prstGeom prst="roundRect">
              <a:avLst>
                <a:gd name="adj" fmla="val 4667"/>
              </a:avLst>
            </a:prstGeom>
            <a:solidFill>
              <a:srgbClr val="FEF2F2"/>
            </a:solidFill>
            <a:ln w="14288">
              <a:solidFill>
                <a:schemeClr val="accent6"/>
              </a:solidFill>
            </a:ln>
            <a:effectLst>
              <a:outerShdw blurRad="76200" dist="28575" dir="5400000" algn="ctr" rotWithShape="0">
                <a:srgbClr val="1E293B">
                  <a:alpha val="5250"/>
                </a:srgbClr>
              </a:outerShdw>
            </a:effectLst>
          </p:spPr>
        </p:sp>
        <p:sp>
          <p:nvSpPr>
            <p:cNvPr id="20" name="Ellipse 20"/>
            <p:cNvSpPr/>
            <p:nvPr/>
          </p:nvSpPr>
          <p:spPr>
            <a:xfrm>
              <a:off x="6419850" y="1695450"/>
              <a:ext cx="495300" cy="495300"/>
            </a:xfrm>
            <a:prstGeom prst="ellipse">
              <a:avLst/>
            </a:prstGeom>
            <a:solidFill>
              <a:schemeClr val="accent6"/>
            </a:solidFill>
            <a:ln>
              <a:noFill/>
            </a:ln>
          </p:spPr>
        </p:sp>
        <p:sp>
          <p:nvSpPr>
            <p:cNvPr id="21" name="TextBox 21"/>
            <p:cNvSpPr txBox="1"/>
            <p:nvPr/>
          </p:nvSpPr>
          <p:spPr>
            <a:xfrm>
              <a:off x="6511976" y="1818322"/>
              <a:ext cx="311048" cy="381381"/>
            </a:xfrm>
            <a:prstGeom prst="rect">
              <a:avLst/>
            </a:prstGeom>
            <a:noFill/>
            <a:ln>
              <a:noFill/>
            </a:ln>
          </p:spPr>
          <p:txBody>
            <a:bodyPr wrap="none" lIns="0" tIns="0" rIns="0" bIns="0" anchor="t" anchorCtr="0">
              <a:spAutoFit/>
            </a:bodyPr>
            <a:lstStyle/>
            <a:p>
              <a:pPr algn="ctr"/>
              <a:r>
                <a:rPr lang="en-US" sz="1950" b="1" dirty="0">
                  <a:solidFill>
                    <a:srgbClr val="FFFFFF"/>
                  </a:solidFill>
                  <a:latin typeface="+mj-lt"/>
                  <a:ea typeface="+mj-ea"/>
                  <a:cs typeface="+mj-cs"/>
                </a:rPr>
                <a:t>✗</a:t>
              </a:r>
            </a:p>
          </p:txBody>
        </p:sp>
        <p:sp>
          <p:nvSpPr>
            <p:cNvPr id="22" name="TextBox 22"/>
            <p:cNvSpPr txBox="1"/>
            <p:nvPr/>
          </p:nvSpPr>
          <p:spPr>
            <a:xfrm>
              <a:off x="7095744" y="1827848"/>
              <a:ext cx="1830962" cy="381381"/>
            </a:xfrm>
            <a:prstGeom prst="rect">
              <a:avLst/>
            </a:prstGeom>
            <a:noFill/>
            <a:ln>
              <a:noFill/>
            </a:ln>
          </p:spPr>
          <p:txBody>
            <a:bodyPr wrap="none" lIns="0" tIns="0" rIns="0" bIns="0" anchor="t" anchorCtr="0">
              <a:spAutoFit/>
            </a:bodyPr>
            <a:lstStyle/>
            <a:p>
              <a:pPr algn="l"/>
              <a:r>
                <a:rPr lang="en-US" sz="1950" b="1" dirty="0">
                  <a:solidFill>
                    <a:schemeClr val="accent6"/>
                  </a:solidFill>
                  <a:latin typeface="+mj-lt"/>
                  <a:ea typeface="+mj-ea"/>
                  <a:cs typeface="+mj-cs"/>
                </a:rPr>
                <a:t>When it fails</a:t>
              </a:r>
            </a:p>
          </p:txBody>
        </p:sp>
        <p:sp>
          <p:nvSpPr>
            <p:cNvPr id="23" name="TextBox 23"/>
            <p:cNvSpPr txBox="1"/>
            <p:nvPr/>
          </p:nvSpPr>
          <p:spPr>
            <a:xfrm>
              <a:off x="6468999" y="2420779"/>
              <a:ext cx="4128366" cy="308039"/>
            </a:xfrm>
            <a:prstGeom prst="rect">
              <a:avLst/>
            </a:prstGeom>
            <a:noFill/>
            <a:ln>
              <a:noFill/>
            </a:ln>
          </p:spPr>
          <p:txBody>
            <a:bodyPr wrap="none" lIns="0" tIns="0" rIns="0" bIns="0" anchor="t" anchorCtr="0">
              <a:spAutoFit/>
            </a:bodyPr>
            <a:lstStyle/>
            <a:p>
              <a:pPr algn="l"/>
              <a:r>
                <a:rPr lang="en-US" sz="1580" dirty="0">
                  <a:solidFill>
                    <a:srgbClr val="334155"/>
                  </a:solidFill>
                  <a:latin typeface="+mn-lt"/>
                  <a:ea typeface="+mn-ea"/>
                  <a:cs typeface="+mn-cs"/>
                </a:rPr>
                <a:t>When a task demands genuinely chained,</a:t>
              </a:r>
            </a:p>
          </p:txBody>
        </p:sp>
        <p:sp>
          <p:nvSpPr>
            <p:cNvPr id="24" name="TextBox 24"/>
            <p:cNvSpPr txBox="1"/>
            <p:nvPr/>
          </p:nvSpPr>
          <p:spPr>
            <a:xfrm>
              <a:off x="6468999" y="2706529"/>
              <a:ext cx="3897770" cy="308039"/>
            </a:xfrm>
            <a:prstGeom prst="rect">
              <a:avLst/>
            </a:prstGeom>
            <a:noFill/>
            <a:ln>
              <a:noFill/>
            </a:ln>
          </p:spPr>
          <p:txBody>
            <a:bodyPr wrap="none" lIns="0" tIns="0" rIns="0" bIns="0" anchor="t" anchorCtr="0">
              <a:spAutoFit/>
            </a:bodyPr>
            <a:lstStyle/>
            <a:p>
              <a:pPr algn="l"/>
              <a:r>
                <a:rPr lang="en-US" sz="1580" dirty="0">
                  <a:solidFill>
                    <a:srgbClr val="334155"/>
                  </a:solidFill>
                  <a:latin typeface="+mn-lt"/>
                  <a:ea typeface="+mn-ea"/>
                  <a:cs typeface="+mn-cs"/>
                </a:rPr>
                <a:t>multi-step reasoning, the models fail</a:t>
              </a:r>
            </a:p>
          </p:txBody>
        </p:sp>
        <p:sp>
          <p:nvSpPr>
            <p:cNvPr id="25" name="TextBox 25"/>
            <p:cNvSpPr txBox="1"/>
            <p:nvPr/>
          </p:nvSpPr>
          <p:spPr>
            <a:xfrm>
              <a:off x="6468999" y="2992279"/>
              <a:ext cx="1292200" cy="308039"/>
            </a:xfrm>
            <a:prstGeom prst="rect">
              <a:avLst/>
            </a:prstGeom>
            <a:noFill/>
            <a:ln>
              <a:noFill/>
            </a:ln>
          </p:spPr>
          <p:txBody>
            <a:bodyPr wrap="none" lIns="0" tIns="0" rIns="0" bIns="0" anchor="t" anchorCtr="0">
              <a:spAutoFit/>
            </a:bodyPr>
            <a:lstStyle/>
            <a:p>
              <a:pPr algn="l"/>
              <a:r>
                <a:rPr lang="en-US" sz="1580" dirty="0">
                  <a:solidFill>
                    <a:srgbClr val="334155"/>
                  </a:solidFill>
                  <a:latin typeface="+mn-lt"/>
                  <a:ea typeface="+mn-ea"/>
                  <a:cs typeface="+mn-cs"/>
                </a:rPr>
                <a:t>to compose.</a:t>
              </a:r>
            </a:p>
          </p:txBody>
        </p:sp>
        <p:sp>
          <p:nvSpPr>
            <p:cNvPr id="26" name="Rectangle 26"/>
            <p:cNvSpPr/>
            <p:nvPr/>
          </p:nvSpPr>
          <p:spPr>
            <a:xfrm>
              <a:off x="6477000" y="3505200"/>
              <a:ext cx="4667250" cy="495300"/>
            </a:xfrm>
            <a:prstGeom prst="roundRect">
              <a:avLst>
                <a:gd name="adj" fmla="val 19231"/>
              </a:avLst>
            </a:prstGeom>
            <a:solidFill>
              <a:schemeClr val="lt1"/>
            </a:solidFill>
            <a:ln>
              <a:noFill/>
            </a:ln>
          </p:spPr>
        </p:sp>
        <p:sp>
          <p:nvSpPr>
            <p:cNvPr id="27" name="TextBox 27"/>
            <p:cNvSpPr txBox="1"/>
            <p:nvPr/>
          </p:nvSpPr>
          <p:spPr>
            <a:xfrm>
              <a:off x="6660261" y="3665696"/>
              <a:ext cx="3865254" cy="278702"/>
            </a:xfrm>
            <a:prstGeom prst="rect">
              <a:avLst/>
            </a:prstGeom>
            <a:noFill/>
            <a:ln>
              <a:noFill/>
            </a:ln>
          </p:spPr>
          <p:txBody>
            <a:bodyPr wrap="none" lIns="0" tIns="0" rIns="0" bIns="0" anchor="t" anchorCtr="0">
              <a:spAutoFit/>
            </a:bodyPr>
            <a:lstStyle/>
            <a:p>
              <a:pPr algn="l"/>
              <a:r>
                <a:rPr lang="en-US" sz="1420" b="1" dirty="0">
                  <a:solidFill>
                    <a:schemeClr val="accent6"/>
                  </a:solidFill>
                  <a:latin typeface="+mn-lt"/>
                  <a:ea typeface="+mn-ea"/>
                  <a:cs typeface="+mn-cs"/>
                </a:rPr>
                <a:t>More parameters will not rescue them.</a:t>
              </a:r>
            </a:p>
          </p:txBody>
        </p:sp>
      </p:grpSp>
      <p:grpSp>
        <p:nvGrpSpPr>
          <p:cNvPr id="34" name="Group 34"/>
          <p:cNvGrpSpPr/>
          <p:nvPr/>
        </p:nvGrpSpPr>
        <p:grpSpPr>
          <a:xfrm>
            <a:off x="762000" y="4495800"/>
            <a:ext cx="10668000" cy="1020223"/>
            <a:chOff x="762000" y="4495800"/>
            <a:chExt cx="10668000" cy="1020223"/>
          </a:xfrm>
        </p:grpSpPr>
        <p:sp>
          <p:nvSpPr>
            <p:cNvPr id="29" name="Rectangle 29"/>
            <p:cNvSpPr/>
            <p:nvPr/>
          </p:nvSpPr>
          <p:spPr>
            <a:xfrm>
              <a:off x="762000" y="4495800"/>
              <a:ext cx="10668000" cy="990600"/>
            </a:xfrm>
            <a:prstGeom prst="roundRect">
              <a:avLst>
                <a:gd name="adj" fmla="val 13462"/>
              </a:avLst>
            </a:prstGeom>
            <a:solidFill>
              <a:schemeClr val="accent1"/>
            </a:solidFill>
            <a:ln>
              <a:noFill/>
            </a:ln>
          </p:spPr>
        </p:sp>
        <p:sp>
          <p:nvSpPr>
            <p:cNvPr id="30" name="Rectangle 30"/>
            <p:cNvSpPr/>
            <p:nvPr/>
          </p:nvSpPr>
          <p:spPr>
            <a:xfrm>
              <a:off x="762000" y="4495800"/>
              <a:ext cx="76200" cy="990600"/>
            </a:xfrm>
            <a:prstGeom prst="roundRect">
              <a:avLst>
                <a:gd name="adj" fmla="val 50000"/>
              </a:avLst>
            </a:prstGeom>
            <a:solidFill>
              <a:schemeClr val="accent2"/>
            </a:solidFill>
            <a:ln>
              <a:noFill/>
            </a:ln>
          </p:spPr>
        </p:sp>
        <p:sp>
          <p:nvSpPr>
            <p:cNvPr id="31" name="TextBox 31"/>
            <p:cNvSpPr txBox="1"/>
            <p:nvPr/>
          </p:nvSpPr>
          <p:spPr>
            <a:xfrm>
              <a:off x="1138047" y="4771549"/>
              <a:ext cx="1711857" cy="190690"/>
            </a:xfrm>
            <a:prstGeom prst="rect">
              <a:avLst/>
            </a:prstGeom>
            <a:noFill/>
            <a:ln>
              <a:noFill/>
            </a:ln>
          </p:spPr>
          <p:txBody>
            <a:bodyPr wrap="none" lIns="0" tIns="0" rIns="0" bIns="0" anchor="t" anchorCtr="0">
              <a:spAutoFit/>
            </a:bodyPr>
            <a:lstStyle/>
            <a:p>
              <a:pPr algn="l"/>
              <a:r>
                <a:rPr lang="en-US" sz="980" b="1" spc="150" dirty="0">
                  <a:solidFill>
                    <a:srgbClr val="818CF8"/>
                  </a:solidFill>
                  <a:latin typeface="+mn-lt"/>
                  <a:ea typeface="+mn-ea"/>
                  <a:cs typeface="+mn-cs"/>
                </a:rPr>
                <a:t>THE PRACTICAL RULE</a:t>
              </a:r>
            </a:p>
          </p:txBody>
        </p:sp>
        <p:sp>
          <p:nvSpPr>
            <p:cNvPr id="32" name="TextBox 32"/>
            <p:cNvSpPr txBox="1"/>
            <p:nvPr/>
          </p:nvSpPr>
          <p:spPr>
            <a:xfrm>
              <a:off x="1133856" y="4968240"/>
              <a:ext cx="6302153" cy="352044"/>
            </a:xfrm>
            <a:prstGeom prst="rect">
              <a:avLst/>
            </a:prstGeom>
            <a:noFill/>
            <a:ln>
              <a:noFill/>
            </a:ln>
          </p:spPr>
          <p:txBody>
            <a:bodyPr wrap="none" lIns="0" tIns="0" rIns="0" bIns="0" anchor="t" anchorCtr="0">
              <a:spAutoFit/>
            </a:bodyPr>
            <a:lstStyle/>
            <a:p>
              <a:pPr algn="l"/>
              <a:r>
                <a:rPr lang="en-US" sz="1800" b="1" dirty="0">
                  <a:solidFill>
                    <a:srgbClr val="FFFFFF"/>
                  </a:solidFill>
                  <a:latin typeface="+mj-lt"/>
                  <a:ea typeface="+mj-ea"/>
                  <a:cs typeface="+mj-cs"/>
                </a:rPr>
                <a:t>Task structure predicts whether scaling helps:</a:t>
              </a:r>
            </a:p>
          </p:txBody>
        </p:sp>
        <p:sp>
          <p:nvSpPr>
            <p:cNvPr id="33" name="TextBox 33"/>
            <p:cNvSpPr txBox="1"/>
            <p:nvPr/>
          </p:nvSpPr>
          <p:spPr>
            <a:xfrm>
              <a:off x="1135761" y="5237321"/>
              <a:ext cx="5529456" cy="278702"/>
            </a:xfrm>
            <a:prstGeom prst="rect">
              <a:avLst/>
            </a:prstGeom>
            <a:noFill/>
            <a:ln>
              <a:noFill/>
            </a:ln>
          </p:spPr>
          <p:txBody>
            <a:bodyPr wrap="none" lIns="0" tIns="0" rIns="0" bIns="0" anchor="t" anchorCtr="0">
              <a:spAutoFit/>
            </a:bodyPr>
            <a:lstStyle/>
            <a:p>
              <a:pPr algn="l"/>
              <a:r>
                <a:rPr lang="en-US" sz="1420" dirty="0">
                  <a:solidFill>
                    <a:srgbClr val="CBD5E1"/>
                  </a:solidFill>
                  <a:latin typeface="+mn-lt"/>
                  <a:ea typeface="+mn-ea"/>
                  <a:cs typeface="+mn-cs"/>
                </a:rPr>
                <a:t>separable tasks scale · entangled multi-step tasks do not.</a:t>
              </a:r>
            </a:p>
          </p:txBody>
        </p:sp>
      </p:grpSp>
      <p:grpSp>
        <p:nvGrpSpPr>
          <p:cNvPr id="44" name="Group 44"/>
          <p:cNvGrpSpPr/>
          <p:nvPr/>
        </p:nvGrpSpPr>
        <p:grpSpPr>
          <a:xfrm>
            <a:off x="9620250" y="5772150"/>
            <a:ext cx="1828800" cy="707707"/>
            <a:chOff x="9620250" y="5772150"/>
            <a:chExt cx="1828800" cy="707707"/>
          </a:xfrm>
        </p:grpSpPr>
        <p:grpSp>
          <p:nvGrpSpPr>
            <p:cNvPr id="38" name="Group 38"/>
            <p:cNvGrpSpPr/>
            <p:nvPr/>
          </p:nvGrpSpPr>
          <p:grpSpPr>
            <a:xfrm>
              <a:off x="9620250" y="5772150"/>
              <a:ext cx="495300" cy="707707"/>
              <a:chOff x="9620250" y="5772150"/>
              <a:chExt cx="495300" cy="707707"/>
            </a:xfrm>
          </p:grpSpPr>
          <p:sp>
            <p:nvSpPr>
              <p:cNvPr id="35" name="Rectangle 35"/>
              <p:cNvSpPr/>
              <p:nvPr/>
            </p:nvSpPr>
            <p:spPr>
              <a:xfrm>
                <a:off x="9620250" y="5772150"/>
                <a:ext cx="495300" cy="495300"/>
              </a:xfrm>
              <a:prstGeom prst="roundRect">
                <a:avLst>
                  <a:gd name="adj" fmla="val 15385"/>
                </a:avLst>
              </a:prstGeom>
              <a:solidFill>
                <a:schemeClr val="lt1"/>
              </a:solidFill>
              <a:ln w="14288">
                <a:solidFill>
                  <a:schemeClr val="accent4"/>
                </a:solidFill>
              </a:ln>
            </p:spPr>
          </p:sp>
          <p:pic>
            <p:nvPicPr>
              <p:cNvPr id="36" name="Image 36"/>
              <p:cNvPicPr>
                <a:picLocks noChangeAspect="1"/>
              </p:cNvPicPr>
              <p:nvPr/>
            </p:nvPicPr>
            <p:blipFill>
              <a:blip r:embed="rId2"/>
              <a:stretch>
                <a:fillRect/>
              </a:stretch>
            </p:blipFill>
            <p:spPr>
              <a:xfrm>
                <a:off x="9667875" y="5819775"/>
                <a:ext cx="400050" cy="400050"/>
              </a:xfrm>
              <a:prstGeom prst="rect">
                <a:avLst/>
              </a:prstGeom>
            </p:spPr>
          </p:pic>
          <p:sp>
            <p:nvSpPr>
              <p:cNvPr id="37" name="TextBox 37"/>
              <p:cNvSpPr txBox="1"/>
              <p:nvPr/>
            </p:nvSpPr>
            <p:spPr>
              <a:xfrm>
                <a:off x="9694659" y="6303645"/>
                <a:ext cx="346481" cy="176212"/>
              </a:xfrm>
              <a:prstGeom prst="rect">
                <a:avLst/>
              </a:prstGeom>
              <a:noFill/>
              <a:ln>
                <a:noFill/>
              </a:ln>
            </p:spPr>
            <p:txBody>
              <a:bodyPr wrap="none" lIns="0" tIns="0" rIns="0" bIns="0" anchor="t" anchorCtr="0">
                <a:spAutoFit/>
              </a:bodyPr>
              <a:lstStyle/>
              <a:p>
                <a:pPr algn="ctr"/>
                <a:r>
                  <a:rPr lang="en-US" sz="900" dirty="0">
                    <a:solidFill>
                      <a:srgbClr val="94A3B8"/>
                    </a:solidFill>
                    <a:latin typeface="+mn-lt"/>
                    <a:ea typeface="+mn-ea"/>
                    <a:cs typeface="+mn-cs"/>
                  </a:rPr>
                  <a:t>Paper</a:t>
                </a:r>
              </a:p>
            </p:txBody>
          </p:sp>
        </p:grpSp>
        <p:grpSp>
          <p:nvGrpSpPr>
            <p:cNvPr id="42" name="Group 42"/>
            <p:cNvGrpSpPr/>
            <p:nvPr/>
          </p:nvGrpSpPr>
          <p:grpSpPr>
            <a:xfrm>
              <a:off x="10287000" y="5772150"/>
              <a:ext cx="495300" cy="707707"/>
              <a:chOff x="10287000" y="5772150"/>
              <a:chExt cx="495300" cy="707707"/>
            </a:xfrm>
          </p:grpSpPr>
          <p:sp>
            <p:nvSpPr>
              <p:cNvPr id="39" name="Rectangle 39"/>
              <p:cNvSpPr/>
              <p:nvPr/>
            </p:nvSpPr>
            <p:spPr>
              <a:xfrm>
                <a:off x="10287000" y="5772150"/>
                <a:ext cx="495300" cy="495300"/>
              </a:xfrm>
              <a:prstGeom prst="roundRect">
                <a:avLst>
                  <a:gd name="adj" fmla="val 15385"/>
                </a:avLst>
              </a:prstGeom>
              <a:solidFill>
                <a:schemeClr val="lt1"/>
              </a:solidFill>
              <a:ln w="14288">
                <a:solidFill>
                  <a:schemeClr val="accent4"/>
                </a:solidFill>
              </a:ln>
            </p:spPr>
          </p:sp>
          <p:pic>
            <p:nvPicPr>
              <p:cNvPr id="40" name="Image 40"/>
              <p:cNvPicPr>
                <a:picLocks noChangeAspect="1"/>
              </p:cNvPicPr>
              <p:nvPr/>
            </p:nvPicPr>
            <p:blipFill>
              <a:blip r:embed="rId3"/>
              <a:stretch>
                <a:fillRect/>
              </a:stretch>
            </p:blipFill>
            <p:spPr>
              <a:xfrm>
                <a:off x="10334625" y="5819775"/>
                <a:ext cx="400050" cy="400050"/>
              </a:xfrm>
              <a:prstGeom prst="rect">
                <a:avLst/>
              </a:prstGeom>
            </p:spPr>
          </p:pic>
          <p:sp>
            <p:nvSpPr>
              <p:cNvPr id="41" name="TextBox 41"/>
              <p:cNvSpPr txBox="1"/>
              <p:nvPr/>
            </p:nvSpPr>
            <p:spPr>
              <a:xfrm>
                <a:off x="10394728" y="6303645"/>
                <a:ext cx="279845" cy="176212"/>
              </a:xfrm>
              <a:prstGeom prst="rect">
                <a:avLst/>
              </a:prstGeom>
              <a:noFill/>
              <a:ln>
                <a:noFill/>
              </a:ln>
            </p:spPr>
            <p:txBody>
              <a:bodyPr wrap="none" lIns="0" tIns="0" rIns="0" bIns="0" anchor="t" anchorCtr="0">
                <a:spAutoFit/>
              </a:bodyPr>
              <a:lstStyle/>
              <a:p>
                <a:pPr algn="ctr"/>
                <a:r>
                  <a:rPr lang="en-US" sz="900" dirty="0">
                    <a:solidFill>
                      <a:srgbClr val="94A3B8"/>
                    </a:solidFill>
                    <a:latin typeface="+mn-lt"/>
                    <a:ea typeface="+mn-ea"/>
                    <a:cs typeface="+mn-cs"/>
                  </a:rPr>
                  <a:t>Code</a:t>
                </a:r>
              </a:p>
            </p:txBody>
          </p:sp>
        </p:grpSp>
        <p:pic>
          <p:nvPicPr>
            <p:cNvPr id="43" name="Image 43"/>
            <p:cNvPicPr>
              <a:picLocks noChangeAspect="1"/>
            </p:cNvPicPr>
            <p:nvPr/>
          </p:nvPicPr>
          <p:blipFill>
            <a:blip r:embed="rId4"/>
            <a:stretch>
              <a:fillRect/>
            </a:stretch>
          </p:blipFill>
          <p:spPr>
            <a:xfrm>
              <a:off x="10953750" y="5772150"/>
              <a:ext cx="495300" cy="495300"/>
            </a:xfrm>
            <a:prstGeom prst="rect">
              <a:avLst/>
            </a:prstGeom>
          </p:spPr>
        </p:pic>
      </p:grpSp>
      <p:grpSp>
        <p:nvGrpSpPr>
          <p:cNvPr id="47" name="Group 47"/>
          <p:cNvGrpSpPr/>
          <p:nvPr/>
        </p:nvGrpSpPr>
        <p:grpSpPr>
          <a:xfrm>
            <a:off x="756285" y="6050756"/>
            <a:ext cx="4073431" cy="448151"/>
            <a:chOff x="756285" y="6050756"/>
            <a:chExt cx="4073431" cy="448151"/>
          </a:xfrm>
        </p:grpSpPr>
        <p:sp>
          <p:nvSpPr>
            <p:cNvPr id="45" name="TextBox 45"/>
            <p:cNvSpPr txBox="1"/>
            <p:nvPr/>
          </p:nvSpPr>
          <p:spPr>
            <a:xfrm>
              <a:off x="756285" y="6050756"/>
              <a:ext cx="4073431" cy="220028"/>
            </a:xfrm>
            <a:prstGeom prst="rect">
              <a:avLst/>
            </a:prstGeom>
            <a:noFill/>
            <a:ln>
              <a:noFill/>
            </a:ln>
          </p:spPr>
          <p:txBody>
            <a:bodyPr wrap="none" lIns="0" tIns="0" rIns="0" bIns="0" anchor="t" anchorCtr="0">
              <a:spAutoFit/>
            </a:bodyPr>
            <a:lstStyle/>
            <a:p>
              <a:pPr algn="l"/>
              <a:r>
                <a:rPr lang="en-US" sz="1120" b="1" dirty="0">
                  <a:solidFill>
                    <a:schemeClr val="dk2"/>
                  </a:solidFill>
                  <a:latin typeface="+mn-lt"/>
                  <a:ea typeface="+mn-ea"/>
                  <a:cs typeface="+mn-cs"/>
                </a:rPr>
                <a:t>Do LLMs Have Compositional Ability? · Xu, Shi &amp; Liang</a:t>
              </a:r>
            </a:p>
          </p:txBody>
        </p:sp>
        <p:sp>
          <p:nvSpPr>
            <p:cNvPr id="46" name="TextBox 46"/>
            <p:cNvSpPr txBox="1"/>
            <p:nvPr/>
          </p:nvSpPr>
          <p:spPr>
            <a:xfrm>
              <a:off x="757238" y="6322695"/>
              <a:ext cx="3860446" cy="176212"/>
            </a:xfrm>
            <a:prstGeom prst="rect">
              <a:avLst/>
            </a:prstGeom>
            <a:noFill/>
            <a:ln>
              <a:noFill/>
            </a:ln>
          </p:spPr>
          <p:txBody>
            <a:bodyPr wrap="none" lIns="0" tIns="0" rIns="0" bIns="0" anchor="t" anchorCtr="0">
              <a:spAutoFit/>
            </a:bodyPr>
            <a:lstStyle/>
            <a:p>
              <a:pPr algn="l"/>
              <a:r>
                <a:rPr lang="en-US" sz="900" dirty="0">
                  <a:solidFill>
                    <a:srgbClr val="94A3B8"/>
                  </a:solidFill>
                  <a:latin typeface="+mn-lt"/>
                  <a:ea typeface="+mn-ea"/>
                  <a:cs typeface="+mn-cs"/>
                </a:rPr>
                <a:t>COLM 2024 · University of Wisconsin–Madison · arXiv 2407.15720</a:t>
              </a:r>
            </a:p>
          </p:txBody>
        </p:sp>
      </p:grpSp>
      <p:sp>
        <p:nvSpPr>
          <p:cNvPr id="48" name="cue_s10_c1_takeaway_models_combine_two_skills" title="cue_s10_c1_takeaway_models_combine_two_skills" descr="cue_s10_c1_takeaway_models_combine_two_skills The takeaway: models combine two skills only when they act on separate parts of the input."/>
          <p:cNvSpPr/>
          <p:nvPr/>
        </p:nvSpPr>
        <p:spPr>
          <a:xfrm>
            <a:off x="762000" y="1428521"/>
            <a:ext cx="5258409" cy="28577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10_c2_when_task_needs_genuinely_chained" title="cue_s10_c2_when_task_needs_genuinely_chained" descr="cue_s10_c2_when_task_needs_genuinely_chained When a task needs genuinely chained, multi-step reasoning, they fail, and more parameters won't help."/>
          <p:cNvSpPr/>
          <p:nvPr/>
        </p:nvSpPr>
        <p:spPr>
          <a:xfrm>
            <a:off x="6171590" y="1428521"/>
            <a:ext cx="5258409" cy="28577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10_c3_task_structure_predicts_whether_scal" title="cue_s10_c3_task_structure_predicts_whether_scal" descr="cue_s10_c3_task_structure_predicts_whether_scal Task structure predicts whether scaling helps."/>
          <p:cNvSpPr/>
          <p:nvPr/>
        </p:nvSpPr>
        <p:spPr>
          <a:xfrm>
            <a:off x="762000" y="4496104"/>
            <a:ext cx="10668000" cy="102047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compose_deck">
  <a:themeElements>
    <a:clrScheme name="compose_deck">
      <a:dk1>
        <a:srgbClr val="0F172A"/>
      </a:dk1>
      <a:lt1>
        <a:srgbClr val="FFFFFF"/>
      </a:lt1>
      <a:dk2>
        <a:srgbClr val="475569"/>
      </a:dk2>
      <a:lt2>
        <a:srgbClr val="F1F5F9"/>
      </a:lt2>
      <a:accent1>
        <a:srgbClr val="1E293B"/>
      </a:accent1>
      <a:accent2>
        <a:srgbClr val="4F46E5"/>
      </a:accent2>
      <a:accent3>
        <a:srgbClr val="0EA5E9"/>
      </a:accent3>
      <a:accent4>
        <a:srgbClr val="E2E8F0"/>
      </a:accent4>
      <a:accent5>
        <a:srgbClr val="059669"/>
      </a:accent5>
      <a:accent6>
        <a:srgbClr val="DC2626"/>
      </a:accent6>
      <a:hlink>
        <a:srgbClr val="4F46E5"/>
      </a:hlink>
      <a:folHlink>
        <a:srgbClr val="0EA5E9"/>
      </a:folHlink>
    </a:clrScheme>
    <a:fontScheme name="compose_deck">
      <a:majorFont>
        <a:latin typeface="Georgia"/>
        <a:ea typeface="Microsoft YaHei"/>
        <a:cs typeface="Georgia"/>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mpose_de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compose_deck">
  <a:themeElements>
    <a:clrScheme name="compose_deck">
      <a:dk1>
        <a:srgbClr val="0F172A"/>
      </a:dk1>
      <a:lt1>
        <a:srgbClr val="FFFFFF"/>
      </a:lt1>
      <a:dk2>
        <a:srgbClr val="475569"/>
      </a:dk2>
      <a:lt2>
        <a:srgbClr val="F1F5F9"/>
      </a:lt2>
      <a:accent1>
        <a:srgbClr val="1E293B"/>
      </a:accent1>
      <a:accent2>
        <a:srgbClr val="4F46E5"/>
      </a:accent2>
      <a:accent3>
        <a:srgbClr val="0EA5E9"/>
      </a:accent3>
      <a:accent4>
        <a:srgbClr val="E2E8F0"/>
      </a:accent4>
      <a:accent5>
        <a:srgbClr val="059669"/>
      </a:accent5>
      <a:accent6>
        <a:srgbClr val="DC2626"/>
      </a:accent6>
      <a:hlink>
        <a:srgbClr val="4F46E5"/>
      </a:hlink>
      <a:folHlink>
        <a:srgbClr val="0EA5E9"/>
      </a:folHlink>
    </a:clrScheme>
    <a:fontScheme name="compose_deck">
      <a:majorFont>
        <a:latin typeface="Georgia"/>
        <a:ea typeface="Microsoft YaHei"/>
        <a:cs typeface="Georgia"/>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mpose_de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2026-07-15T04:57:25Z</dcterms:created>
  <dcterms:modified xsi:type="dcterms:W3CDTF">2026-07-15T04:57:25Z</dcterms:modified>
  <cp:category/>
  <cp:contentStatus/>
</cp:coreProperties>
</file>
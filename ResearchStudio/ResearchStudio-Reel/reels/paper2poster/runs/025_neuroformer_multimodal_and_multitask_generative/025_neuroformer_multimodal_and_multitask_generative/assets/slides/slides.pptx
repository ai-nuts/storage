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Neuroformer is a multimodal, multitask generative pretrained transformer for brain data, built at UC Santa Barbara. It reframes cellular-resolution spike analysis as autoregressive spatiotemporal generation, borrowing the recipe behind large language and vision models. Trained self-supervised, it recovers circuit connectivity and decodes mouse behavior.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Modern neuroscience records thousands of neurons at cellular resolution, alongside visual stimuli and behavior. These datasets are large, multimodal, and messy, yet the field's traditional statistical tools were built for far smaller, single-modality recordings, leaving a widening data-analysis gap.</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Large pretrained models in vision and language point a way forward: they learn general representations self-supervised from raw data, then transfer with little labeling. The authors ask whether reframing spike analysis as generative prediction can likewise scale, fuse modalities, and transfer to behavior decoding.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Neuroformer makes four contributions. It reframes spike analysis as self-supervised autoregressive generation, needing no labels. Its cross-attention scales linearly with feature size and fuses many modalities. On simulated data, its attention maps recover directed connectivity, including hub neurons correlation misses. Pretrained, it decodes behavior with few-shot fine-tuning.</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Neuroformer treats each spike as a token, splitting activity into Current and Past States. Video becomes patches via a 3D-convolutional encoder; behavior forms a separate stream. A contrastive module aligns neural, visual, and behavioral features. Cross-attention fuses the Current State with larger feature arrays, cutting attention cost from quadratic to linear. A causally masked decoder predicts which neuron fires and its time bin.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Validation spans two levels. First, a simulated spiking network with three hub neurons gives a ground-truth connectivity matrix. Second, two-photon calcium imaging of mouse visual cortex records 386 neurons across V1 and AL viewing gratings and natural videos, plus a virtual-navigation dataset pairing activity with running speed.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On the simulated network, Neuroformer's attention reveals directed connectivity and identifies the hub neurons, which plain correlation misses for lack of directionality. On real cortex, it reproduces responses to gratings and natural videos, with population predictions significantly beating a GLM, p around 0.02. Fine-tuned to decode running, it reaches Pearson correlations up to 0.97.</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An ablation removes components one at a time: the Current State, Past State, video stream, behavior stream, and contrastive objective each add measurable predictive power. Two findings stand out. Jointly training on neural responses and behavior beats either alone, and the contrastive objective helps most when data is scarce.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For behavior prediction, Neuroformer reaches Pearson correlation up to 0.97, versus about 0.73 for Lasso. Few-shot, a model pretrained and fine-tuned on just 1% of behavior data hits 0.51, beating a non-pretrained model given 10%, which reaches only 0.33. Its largest models scale to roughly 100 million parameters.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takeaway: the pretraining paradigm that reshaped vision and language can also work for the brain. Treating spikes as autoregressive multimodal generation, one self-supervised transformer recovers a circuit's directed connectivity and decodes behavior from few examples, pointing toward scalable neuroscience foundation models.</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neuroformer_dec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neuroformer_dec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0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26ee6925d25f33c5.png"/><Relationship Id="rId3" Type="http://schemas.openxmlformats.org/officeDocument/2006/relationships/image" Target="../media/image_933f0a70d5bc7afa.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f5fb4699e56ac667.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217a5c5b8578bb93.jpg"/><Relationship Id="rId3" Type="http://schemas.openxmlformats.org/officeDocument/2006/relationships/image" Target="../media/image_08258ace4bf54501.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71fd92286550344e.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12815baf10248710.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26ee6925d25f33c5.png"/><Relationship Id="rId3" Type="http://schemas.openxmlformats.org/officeDocument/2006/relationships/image" Target="../media/image_4ee80b6117ceaab7.png"/><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9124950" y="495300"/>
            <a:ext cx="2381250" cy="2419350"/>
            <a:chOff x="9124950" y="495300"/>
            <a:chExt cx="2381250" cy="2419350"/>
          </a:xfrm>
        </p:grpSpPr>
        <p:sp>
          <p:nvSpPr>
            <p:cNvPr id="2" name="Rectangle 2"/>
            <p:cNvSpPr/>
            <p:nvPr/>
          </p:nvSpPr>
          <p:spPr>
            <a:xfrm>
              <a:off x="9124950" y="495300"/>
              <a:ext cx="2381250" cy="2419350"/>
            </a:xfrm>
            <a:prstGeom prst="roundRect">
              <a:avLst>
                <a:gd name="adj" fmla="val 6400"/>
              </a:avLst>
            </a:prstGeom>
            <a:solidFill>
              <a:schemeClr val="lt2"/>
            </a:solidFill>
            <a:ln w="9525">
              <a:solidFill>
                <a:schemeClr val="accent4"/>
              </a:solidFill>
            </a:ln>
          </p:spPr>
        </p:sp>
        <p:pic>
          <p:nvPicPr>
            <p:cNvPr id="3" name="Image 3"/>
            <p:cNvPicPr>
              <a:picLocks noChangeAspect="1"/>
            </p:cNvPicPr>
            <p:nvPr/>
          </p:nvPicPr>
          <p:blipFill>
            <a:blip r:embed="rId2"/>
            <a:stretch>
              <a:fillRect/>
            </a:stretch>
          </p:blipFill>
          <p:spPr>
            <a:xfrm>
              <a:off x="9439275" y="685800"/>
              <a:ext cx="1752600" cy="1752600"/>
            </a:xfrm>
            <a:prstGeom prst="rect">
              <a:avLst/>
            </a:prstGeom>
          </p:spPr>
        </p:pic>
        <p:sp>
          <p:nvSpPr>
            <p:cNvPr id="4" name="TextBox 4"/>
            <p:cNvSpPr txBox="1"/>
            <p:nvPr/>
          </p:nvSpPr>
          <p:spPr>
            <a:xfrm>
              <a:off x="9742586" y="2594610"/>
              <a:ext cx="1145977" cy="234696"/>
            </a:xfrm>
            <a:prstGeom prst="rect">
              <a:avLst/>
            </a:prstGeom>
            <a:noFill/>
            <a:ln>
              <a:noFill/>
            </a:ln>
          </p:spPr>
          <p:txBody>
            <a:bodyPr wrap="none" lIns="0" tIns="0" rIns="0" bIns="0" anchor="t" anchorCtr="0">
              <a:spAutoFit/>
            </a:bodyPr>
            <a:lstStyle/>
            <a:p>
              <a:pPr algn="ctr"/>
              <a:r>
                <a:rPr lang="en-US" sz="1200" b="1" dirty="0">
                  <a:solidFill>
                    <a:schemeClr val="dk1"/>
                  </a:solidFill>
                  <a:latin typeface="+mn-lt"/>
                  <a:ea typeface="+mn-ea"/>
                  <a:cs typeface="+mn-cs"/>
                </a:rPr>
                <a:t>Scan for code</a:t>
              </a:r>
            </a:p>
          </p:txBody>
        </p:sp>
      </p:grpSp>
      <p:grpSp>
        <p:nvGrpSpPr>
          <p:cNvPr id="8" name="Group 8"/>
          <p:cNvGrpSpPr/>
          <p:nvPr/>
        </p:nvGrpSpPr>
        <p:grpSpPr>
          <a:xfrm>
            <a:off x="685800" y="628650"/>
            <a:ext cx="1219200" cy="285750"/>
            <a:chOff x="685800" y="628650"/>
            <a:chExt cx="1219200" cy="285750"/>
          </a:xfrm>
        </p:grpSpPr>
        <p:sp>
          <p:nvSpPr>
            <p:cNvPr id="6" name="Rectangle 6"/>
            <p:cNvSpPr/>
            <p:nvPr/>
          </p:nvSpPr>
          <p:spPr>
            <a:xfrm>
              <a:off x="685800" y="628650"/>
              <a:ext cx="1219200" cy="285750"/>
            </a:xfrm>
            <a:prstGeom prst="roundRect">
              <a:avLst>
                <a:gd name="adj" fmla="val 50000"/>
              </a:avLst>
            </a:prstGeom>
            <a:solidFill>
              <a:srgbClr val="EAF0FB"/>
            </a:solidFill>
            <a:ln>
              <a:noFill/>
            </a:ln>
          </p:spPr>
        </p:sp>
        <p:sp>
          <p:nvSpPr>
            <p:cNvPr id="7" name="TextBox 7"/>
            <p:cNvSpPr txBox="1"/>
            <p:nvPr/>
          </p:nvSpPr>
          <p:spPr>
            <a:xfrm>
              <a:off x="877419" y="705802"/>
              <a:ext cx="835962" cy="205359"/>
            </a:xfrm>
            <a:prstGeom prst="rect">
              <a:avLst/>
            </a:prstGeom>
            <a:noFill/>
            <a:ln>
              <a:noFill/>
            </a:ln>
          </p:spPr>
          <p:txBody>
            <a:bodyPr wrap="none" lIns="0" tIns="0" rIns="0" bIns="0" anchor="t" anchorCtr="0">
              <a:spAutoFit/>
            </a:bodyPr>
            <a:lstStyle/>
            <a:p>
              <a:pPr algn="ctr"/>
              <a:r>
                <a:rPr lang="en-US" sz="1050" b="1" spc="112" dirty="0">
                  <a:solidFill>
                    <a:schemeClr val="accent1"/>
                  </a:solidFill>
                  <a:latin typeface="+mn-lt"/>
                  <a:ea typeface="+mn-ea"/>
                  <a:cs typeface="+mn-cs"/>
                </a:rPr>
                <a:t>ICLR 2024</a:t>
              </a:r>
            </a:p>
          </p:txBody>
        </p:sp>
      </p:grpSp>
      <p:sp>
        <p:nvSpPr>
          <p:cNvPr id="9" name="TextBox 9"/>
          <p:cNvSpPr txBox="1"/>
          <p:nvPr/>
        </p:nvSpPr>
        <p:spPr>
          <a:xfrm>
            <a:off x="666750" y="1154430"/>
            <a:ext cx="5797348" cy="1276350"/>
          </a:xfrm>
          <a:prstGeom prst="rect">
            <a:avLst/>
          </a:prstGeom>
          <a:noFill/>
          <a:ln>
            <a:noFill/>
          </a:ln>
        </p:spPr>
        <p:txBody>
          <a:bodyPr wrap="none" lIns="0" tIns="0" rIns="0" bIns="0" anchor="t" anchorCtr="0">
            <a:spAutoFit/>
          </a:bodyPr>
          <a:lstStyle/>
          <a:p>
            <a:pPr algn="l"/>
            <a:r>
              <a:rPr lang="en-US" sz="6600" b="1" spc="-75" dirty="0">
                <a:solidFill>
                  <a:schemeClr val="dk1"/>
                </a:solidFill>
                <a:latin typeface="+mn-lt"/>
                <a:ea typeface="+mn-ea"/>
                <a:cs typeface="+mn-cs"/>
              </a:rPr>
              <a:t>Neuroformer</a:t>
            </a:r>
          </a:p>
        </p:txBody>
      </p:sp>
      <p:sp>
        <p:nvSpPr>
          <p:cNvPr id="10" name="TextBox 10"/>
          <p:cNvSpPr txBox="1"/>
          <p:nvPr/>
        </p:nvSpPr>
        <p:spPr>
          <a:xfrm>
            <a:off x="694563" y="2124551"/>
            <a:ext cx="6438270" cy="396050"/>
          </a:xfrm>
          <a:prstGeom prst="rect">
            <a:avLst/>
          </a:prstGeom>
          <a:noFill/>
          <a:ln>
            <a:noFill/>
          </a:ln>
        </p:spPr>
        <p:txBody>
          <a:bodyPr wrap="none" lIns="0" tIns="0" rIns="0" bIns="0" anchor="t" anchorCtr="0">
            <a:spAutoFit/>
          </a:bodyPr>
          <a:lstStyle/>
          <a:p>
            <a:pPr algn="l"/>
            <a:r>
              <a:rPr lang="en-US" sz="2020" b="1" dirty="0">
                <a:solidFill>
                  <a:srgbClr val="3A4048"/>
                </a:solidFill>
                <a:latin typeface="+mn-lt"/>
                <a:ea typeface="+mn-ea"/>
                <a:cs typeface="+mn-cs"/>
              </a:rPr>
              <a:t>Multimodal &amp; Multitask Generative Pretraining</a:t>
            </a:r>
          </a:p>
        </p:txBody>
      </p:sp>
      <p:sp>
        <p:nvSpPr>
          <p:cNvPr id="11" name="TextBox 11"/>
          <p:cNvSpPr txBox="1"/>
          <p:nvPr/>
        </p:nvSpPr>
        <p:spPr>
          <a:xfrm>
            <a:off x="694563" y="2467451"/>
            <a:ext cx="2023722" cy="396050"/>
          </a:xfrm>
          <a:prstGeom prst="rect">
            <a:avLst/>
          </a:prstGeom>
          <a:noFill/>
          <a:ln>
            <a:noFill/>
          </a:ln>
        </p:spPr>
        <p:txBody>
          <a:bodyPr wrap="none" lIns="0" tIns="0" rIns="0" bIns="0" anchor="t" anchorCtr="0">
            <a:spAutoFit/>
          </a:bodyPr>
          <a:lstStyle/>
          <a:p>
            <a:pPr algn="l"/>
            <a:r>
              <a:rPr lang="en-US" sz="2020" b="1" dirty="0">
                <a:solidFill>
                  <a:srgbClr val="3A4048"/>
                </a:solidFill>
                <a:latin typeface="+mn-lt"/>
                <a:ea typeface="+mn-ea"/>
                <a:cs typeface="+mn-cs"/>
              </a:rPr>
              <a:t>for Brain Data</a:t>
            </a:r>
          </a:p>
        </p:txBody>
      </p:sp>
      <p:sp>
        <p:nvSpPr>
          <p:cNvPr id="12" name="TextBox 12"/>
          <p:cNvSpPr txBox="1"/>
          <p:nvPr/>
        </p:nvSpPr>
        <p:spPr>
          <a:xfrm>
            <a:off x="698373" y="3062764"/>
            <a:ext cx="7099405"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Antonis Antoniades · Yiyi Yu · Joseph Canzano · William Wang · Spencer LaVere Smith</a:t>
            </a:r>
          </a:p>
        </p:txBody>
      </p:sp>
      <p:pic>
        <p:nvPicPr>
          <p:cNvPr id="13" name="Image 13"/>
          <p:cNvPicPr>
            <a:picLocks noChangeAspect="1"/>
          </p:cNvPicPr>
          <p:nvPr/>
        </p:nvPicPr>
        <p:blipFill>
          <a:blip r:embed="rId3"/>
          <a:stretch>
            <a:fillRect/>
          </a:stretch>
        </p:blipFill>
        <p:spPr>
          <a:xfrm>
            <a:off x="704850" y="3429000"/>
            <a:ext cx="2238375" cy="180975"/>
          </a:xfrm>
          <a:prstGeom prst="rect">
            <a:avLst/>
          </a:prstGeom>
        </p:spPr>
      </p:pic>
      <p:grpSp>
        <p:nvGrpSpPr>
          <p:cNvPr id="21" name="Group 21"/>
          <p:cNvGrpSpPr/>
          <p:nvPr/>
        </p:nvGrpSpPr>
        <p:grpSpPr>
          <a:xfrm>
            <a:off x="685800" y="4305300"/>
            <a:ext cx="3462015" cy="1866900"/>
            <a:chOff x="685800" y="4305300"/>
            <a:chExt cx="3462015" cy="1866900"/>
          </a:xfrm>
        </p:grpSpPr>
        <p:sp>
          <p:nvSpPr>
            <p:cNvPr id="14" name="Rectangle 14"/>
            <p:cNvSpPr/>
            <p:nvPr/>
          </p:nvSpPr>
          <p:spPr>
            <a:xfrm>
              <a:off x="685800" y="4305300"/>
              <a:ext cx="3429000" cy="1866900"/>
            </a:xfrm>
            <a:prstGeom prst="roundRect">
              <a:avLst>
                <a:gd name="adj" fmla="val 8163"/>
              </a:avLst>
            </a:prstGeom>
            <a:solidFill>
              <a:schemeClr val="lt2"/>
            </a:solidFill>
            <a:ln w="9525">
              <a:solidFill>
                <a:schemeClr val="accent4"/>
              </a:solidFill>
            </a:ln>
          </p:spPr>
        </p:sp>
        <p:sp>
          <p:nvSpPr>
            <p:cNvPr id="15" name="Rectangle 15"/>
            <p:cNvSpPr/>
            <p:nvPr/>
          </p:nvSpPr>
          <p:spPr>
            <a:xfrm>
              <a:off x="685800" y="4305300"/>
              <a:ext cx="76200" cy="1866900"/>
            </a:xfrm>
            <a:prstGeom prst="roundRect">
              <a:avLst>
                <a:gd name="adj" fmla="val 50000"/>
              </a:avLst>
            </a:prstGeom>
            <a:solidFill>
              <a:schemeClr val="accent1"/>
            </a:solidFill>
            <a:ln>
              <a:noFill/>
            </a:ln>
          </p:spPr>
        </p:sp>
        <p:sp>
          <p:nvSpPr>
            <p:cNvPr id="16" name="TextBox 16"/>
            <p:cNvSpPr txBox="1"/>
            <p:nvPr/>
          </p:nvSpPr>
          <p:spPr>
            <a:xfrm>
              <a:off x="984885" y="4602956"/>
              <a:ext cx="893631" cy="220028"/>
            </a:xfrm>
            <a:prstGeom prst="rect">
              <a:avLst/>
            </a:prstGeom>
            <a:noFill/>
            <a:ln>
              <a:noFill/>
            </a:ln>
          </p:spPr>
          <p:txBody>
            <a:bodyPr wrap="none" lIns="0" tIns="0" rIns="0" bIns="0" anchor="t" anchorCtr="0">
              <a:spAutoFit/>
            </a:bodyPr>
            <a:lstStyle/>
            <a:p>
              <a:pPr algn="l"/>
              <a:r>
                <a:rPr lang="en-US" sz="1120" b="1" spc="75" dirty="0">
                  <a:solidFill>
                    <a:schemeClr val="accent1"/>
                  </a:solidFill>
                  <a:latin typeface="+mn-lt"/>
                  <a:ea typeface="+mn-ea"/>
                  <a:cs typeface="+mn-cs"/>
                </a:rPr>
                <a:t>WHAT IT IS</a:t>
              </a:r>
            </a:p>
          </p:txBody>
        </p:sp>
        <p:sp>
          <p:nvSpPr>
            <p:cNvPr id="17" name="TextBox 17"/>
            <p:cNvSpPr txBox="1"/>
            <p:nvPr/>
          </p:nvSpPr>
          <p:spPr>
            <a:xfrm>
              <a:off x="981837" y="4900136"/>
              <a:ext cx="2650694" cy="337376"/>
            </a:xfrm>
            <a:prstGeom prst="rect">
              <a:avLst/>
            </a:prstGeom>
            <a:noFill/>
            <a:ln>
              <a:noFill/>
            </a:ln>
          </p:spPr>
          <p:txBody>
            <a:bodyPr wrap="none" lIns="0" tIns="0" rIns="0" bIns="0" anchor="t" anchorCtr="0">
              <a:spAutoFit/>
            </a:bodyPr>
            <a:lstStyle/>
            <a:p>
              <a:pPr algn="l"/>
              <a:r>
                <a:rPr lang="en-US" sz="1720" b="1" dirty="0">
                  <a:solidFill>
                    <a:schemeClr val="dk1"/>
                  </a:solidFill>
                  <a:latin typeface="+mn-lt"/>
                  <a:ea typeface="+mn-ea"/>
                  <a:cs typeface="+mn-cs"/>
                </a:rPr>
                <a:t>Generative pretrained</a:t>
              </a:r>
            </a:p>
          </p:txBody>
        </p:sp>
        <p:sp>
          <p:nvSpPr>
            <p:cNvPr id="18" name="TextBox 18"/>
            <p:cNvSpPr txBox="1"/>
            <p:nvPr/>
          </p:nvSpPr>
          <p:spPr>
            <a:xfrm>
              <a:off x="981837" y="5185886"/>
              <a:ext cx="3165978" cy="337376"/>
            </a:xfrm>
            <a:prstGeom prst="rect">
              <a:avLst/>
            </a:prstGeom>
            <a:noFill/>
            <a:ln>
              <a:noFill/>
            </a:ln>
          </p:spPr>
          <p:txBody>
            <a:bodyPr wrap="none" lIns="0" tIns="0" rIns="0" bIns="0" anchor="t" anchorCtr="0">
              <a:spAutoFit/>
            </a:bodyPr>
            <a:lstStyle/>
            <a:p>
              <a:pPr algn="l"/>
              <a:r>
                <a:rPr lang="en-US" sz="1720" b="1" dirty="0">
                  <a:solidFill>
                    <a:schemeClr val="dk1"/>
                  </a:solidFill>
                  <a:latin typeface="+mn-lt"/>
                  <a:ea typeface="+mn-ea"/>
                  <a:cs typeface="+mn-cs"/>
                </a:rPr>
                <a:t>transformer for the brain</a:t>
              </a:r>
            </a:p>
          </p:txBody>
        </p:sp>
        <p:sp>
          <p:nvSpPr>
            <p:cNvPr id="19" name="TextBox 19"/>
            <p:cNvSpPr txBox="1"/>
            <p:nvPr/>
          </p:nvSpPr>
          <p:spPr>
            <a:xfrm>
              <a:off x="984504" y="5585460"/>
              <a:ext cx="1924090"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Multimodal · multitask ·</a:t>
              </a:r>
            </a:p>
          </p:txBody>
        </p:sp>
        <p:sp>
          <p:nvSpPr>
            <p:cNvPr id="20" name="TextBox 20"/>
            <p:cNvSpPr txBox="1"/>
            <p:nvPr/>
          </p:nvSpPr>
          <p:spPr>
            <a:xfrm>
              <a:off x="984504" y="5814060"/>
              <a:ext cx="1676095"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fully self-supervised</a:t>
              </a:r>
            </a:p>
          </p:txBody>
        </p:sp>
      </p:grpSp>
      <p:grpSp>
        <p:nvGrpSpPr>
          <p:cNvPr id="30" name="Group 30"/>
          <p:cNvGrpSpPr/>
          <p:nvPr/>
        </p:nvGrpSpPr>
        <p:grpSpPr>
          <a:xfrm>
            <a:off x="4381500" y="4305300"/>
            <a:ext cx="3429000" cy="1866900"/>
            <a:chOff x="4381500" y="4305300"/>
            <a:chExt cx="3429000" cy="1866900"/>
          </a:xfrm>
        </p:grpSpPr>
        <p:sp>
          <p:nvSpPr>
            <p:cNvPr id="22" name="Rectangle 22"/>
            <p:cNvSpPr/>
            <p:nvPr/>
          </p:nvSpPr>
          <p:spPr>
            <a:xfrm>
              <a:off x="4381500" y="4305300"/>
              <a:ext cx="3429000" cy="1866900"/>
            </a:xfrm>
            <a:prstGeom prst="roundRect">
              <a:avLst>
                <a:gd name="adj" fmla="val 8163"/>
              </a:avLst>
            </a:prstGeom>
            <a:solidFill>
              <a:schemeClr val="lt2"/>
            </a:solidFill>
            <a:ln w="9525">
              <a:solidFill>
                <a:schemeClr val="accent4"/>
              </a:solidFill>
            </a:ln>
          </p:spPr>
        </p:sp>
        <p:sp>
          <p:nvSpPr>
            <p:cNvPr id="23" name="Rectangle 23"/>
            <p:cNvSpPr/>
            <p:nvPr/>
          </p:nvSpPr>
          <p:spPr>
            <a:xfrm>
              <a:off x="4381500" y="4305300"/>
              <a:ext cx="76200" cy="1866900"/>
            </a:xfrm>
            <a:prstGeom prst="roundRect">
              <a:avLst>
                <a:gd name="adj" fmla="val 50000"/>
              </a:avLst>
            </a:prstGeom>
            <a:solidFill>
              <a:schemeClr val="accent2"/>
            </a:solidFill>
            <a:ln>
              <a:noFill/>
            </a:ln>
          </p:spPr>
        </p:sp>
        <p:sp>
          <p:nvSpPr>
            <p:cNvPr id="24" name="TextBox 24"/>
            <p:cNvSpPr txBox="1"/>
            <p:nvPr/>
          </p:nvSpPr>
          <p:spPr>
            <a:xfrm>
              <a:off x="4680585" y="4602956"/>
              <a:ext cx="738476" cy="220028"/>
            </a:xfrm>
            <a:prstGeom prst="rect">
              <a:avLst/>
            </a:prstGeom>
            <a:noFill/>
            <a:ln>
              <a:noFill/>
            </a:ln>
          </p:spPr>
          <p:txBody>
            <a:bodyPr wrap="none" lIns="0" tIns="0" rIns="0" bIns="0" anchor="t" anchorCtr="0">
              <a:spAutoFit/>
            </a:bodyPr>
            <a:lstStyle/>
            <a:p>
              <a:pPr algn="l"/>
              <a:r>
                <a:rPr lang="en-US" sz="1120" b="1" spc="75" dirty="0">
                  <a:solidFill>
                    <a:schemeClr val="accent2"/>
                  </a:solidFill>
                  <a:latin typeface="+mn-lt"/>
                  <a:ea typeface="+mn-ea"/>
                  <a:cs typeface="+mn-cs"/>
                </a:rPr>
                <a:t>KEY IDEA</a:t>
              </a:r>
            </a:p>
          </p:txBody>
        </p:sp>
        <p:sp>
          <p:nvSpPr>
            <p:cNvPr id="25" name="TextBox 25"/>
            <p:cNvSpPr txBox="1"/>
            <p:nvPr/>
          </p:nvSpPr>
          <p:spPr>
            <a:xfrm>
              <a:off x="4679061" y="4932521"/>
              <a:ext cx="2198761"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Spikes as a generation</a:t>
              </a:r>
            </a:p>
          </p:txBody>
        </p:sp>
        <p:sp>
          <p:nvSpPr>
            <p:cNvPr id="26" name="TextBox 26"/>
            <p:cNvSpPr txBox="1"/>
            <p:nvPr/>
          </p:nvSpPr>
          <p:spPr>
            <a:xfrm>
              <a:off x="4679061" y="5161121"/>
              <a:ext cx="777208"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problem</a:t>
              </a:r>
            </a:p>
          </p:txBody>
        </p:sp>
        <p:grpSp>
          <p:nvGrpSpPr>
            <p:cNvPr id="29" name="Group 29"/>
            <p:cNvGrpSpPr/>
            <p:nvPr/>
          </p:nvGrpSpPr>
          <p:grpSpPr>
            <a:xfrm>
              <a:off x="4680585" y="5441156"/>
              <a:ext cx="2544440" cy="467678"/>
              <a:chOff x="4680585" y="5441156"/>
              <a:chExt cx="2544440" cy="467678"/>
            </a:xfrm>
          </p:grpSpPr>
          <p:sp>
            <p:nvSpPr>
              <p:cNvPr id="27" name="TextBox 27"/>
              <p:cNvSpPr txBox="1"/>
              <p:nvPr/>
            </p:nvSpPr>
            <p:spPr>
              <a:xfrm>
                <a:off x="4680585" y="5441156"/>
                <a:ext cx="190364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cellular-resolution spikes</a:t>
                </a:r>
              </a:p>
            </p:txBody>
          </p:sp>
          <p:sp>
            <p:nvSpPr>
              <p:cNvPr id="28" name="TextBox 28"/>
              <p:cNvSpPr txBox="1"/>
              <p:nvPr/>
            </p:nvSpPr>
            <p:spPr>
              <a:xfrm>
                <a:off x="4680585" y="5688806"/>
                <a:ext cx="2544440" cy="220028"/>
              </a:xfrm>
              <a:prstGeom prst="rect">
                <a:avLst/>
              </a:prstGeom>
              <a:noFill/>
              <a:ln>
                <a:noFill/>
              </a:ln>
            </p:spPr>
            <p:txBody>
              <a:bodyPr wrap="none" lIns="0" tIns="0" rIns="0" bIns="0" anchor="t" anchorCtr="0">
                <a:spAutoFit/>
              </a:bodyPr>
              <a:lstStyle/>
              <a:p>
                <a:pPr algn="l"/>
                <a:r>
                  <a:rPr lang="en-US" sz="1120" b="1" dirty="0">
                    <a:solidFill>
                      <a:schemeClr val="accent2"/>
                    </a:solidFill>
                    <a:latin typeface="+mn-lt"/>
                    <a:ea typeface="+mn-ea"/>
                    <a:cs typeface="+mn-cs"/>
                  </a:rPr>
                  <a:t>→ autoregressive spatiotemporal</a:t>
                </a:r>
              </a:p>
            </p:txBody>
          </p:sp>
        </p:grpSp>
      </p:grpSp>
      <p:grpSp>
        <p:nvGrpSpPr>
          <p:cNvPr id="38" name="Group 38"/>
          <p:cNvGrpSpPr/>
          <p:nvPr/>
        </p:nvGrpSpPr>
        <p:grpSpPr>
          <a:xfrm>
            <a:off x="8077200" y="4305300"/>
            <a:ext cx="3429000" cy="1866900"/>
            <a:chOff x="8077200" y="4305300"/>
            <a:chExt cx="3429000" cy="1866900"/>
          </a:xfrm>
        </p:grpSpPr>
        <p:sp>
          <p:nvSpPr>
            <p:cNvPr id="31" name="Rectangle 31"/>
            <p:cNvSpPr/>
            <p:nvPr/>
          </p:nvSpPr>
          <p:spPr>
            <a:xfrm>
              <a:off x="8077200" y="4305300"/>
              <a:ext cx="3429000" cy="1866900"/>
            </a:xfrm>
            <a:prstGeom prst="roundRect">
              <a:avLst>
                <a:gd name="adj" fmla="val 8163"/>
              </a:avLst>
            </a:prstGeom>
            <a:solidFill>
              <a:schemeClr val="lt2"/>
            </a:solidFill>
            <a:ln w="9525">
              <a:solidFill>
                <a:schemeClr val="accent4"/>
              </a:solidFill>
            </a:ln>
          </p:spPr>
        </p:sp>
        <p:sp>
          <p:nvSpPr>
            <p:cNvPr id="32" name="Rectangle 32"/>
            <p:cNvSpPr/>
            <p:nvPr/>
          </p:nvSpPr>
          <p:spPr>
            <a:xfrm>
              <a:off x="8077200" y="4305300"/>
              <a:ext cx="76200" cy="1866900"/>
            </a:xfrm>
            <a:prstGeom prst="roundRect">
              <a:avLst>
                <a:gd name="adj" fmla="val 50000"/>
              </a:avLst>
            </a:prstGeom>
            <a:solidFill>
              <a:schemeClr val="accent3"/>
            </a:solidFill>
            <a:ln>
              <a:noFill/>
            </a:ln>
          </p:spPr>
        </p:sp>
        <p:sp>
          <p:nvSpPr>
            <p:cNvPr id="33" name="TextBox 33"/>
            <p:cNvSpPr txBox="1"/>
            <p:nvPr/>
          </p:nvSpPr>
          <p:spPr>
            <a:xfrm>
              <a:off x="8376285" y="4602956"/>
              <a:ext cx="1174242" cy="220028"/>
            </a:xfrm>
            <a:prstGeom prst="rect">
              <a:avLst/>
            </a:prstGeom>
            <a:noFill/>
            <a:ln>
              <a:noFill/>
            </a:ln>
          </p:spPr>
          <p:txBody>
            <a:bodyPr wrap="none" lIns="0" tIns="0" rIns="0" bIns="0" anchor="t" anchorCtr="0">
              <a:spAutoFit/>
            </a:bodyPr>
            <a:lstStyle/>
            <a:p>
              <a:pPr algn="l"/>
              <a:r>
                <a:rPr lang="en-US" sz="1120" b="1" spc="75" dirty="0">
                  <a:solidFill>
                    <a:schemeClr val="accent3"/>
                  </a:solidFill>
                  <a:latin typeface="+mn-lt"/>
                  <a:ea typeface="+mn-ea"/>
                  <a:cs typeface="+mn-cs"/>
                </a:rPr>
                <a:t>WHAT IT DOES</a:t>
              </a:r>
            </a:p>
          </p:txBody>
        </p:sp>
        <p:sp>
          <p:nvSpPr>
            <p:cNvPr id="34" name="TextBox 34"/>
            <p:cNvSpPr txBox="1"/>
            <p:nvPr/>
          </p:nvSpPr>
          <p:spPr>
            <a:xfrm>
              <a:off x="8375523" y="4948714"/>
              <a:ext cx="2868564"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 Recovers circuit connectivity</a:t>
              </a:r>
            </a:p>
          </p:txBody>
        </p:sp>
        <p:sp>
          <p:nvSpPr>
            <p:cNvPr id="35" name="TextBox 35"/>
            <p:cNvSpPr txBox="1"/>
            <p:nvPr/>
          </p:nvSpPr>
          <p:spPr>
            <a:xfrm>
              <a:off x="8375523" y="5253514"/>
              <a:ext cx="2344475"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 Decodes mouse behavior</a:t>
              </a:r>
            </a:p>
          </p:txBody>
        </p:sp>
        <p:sp>
          <p:nvSpPr>
            <p:cNvPr id="36" name="TextBox 36"/>
            <p:cNvSpPr txBox="1"/>
            <p:nvPr/>
          </p:nvSpPr>
          <p:spPr>
            <a:xfrm>
              <a:off x="8376285" y="5574506"/>
              <a:ext cx="194888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from only a few examples,</a:t>
              </a:r>
            </a:p>
          </p:txBody>
        </p:sp>
        <p:sp>
          <p:nvSpPr>
            <p:cNvPr id="37" name="TextBox 37"/>
            <p:cNvSpPr txBox="1"/>
            <p:nvPr/>
          </p:nvSpPr>
          <p:spPr>
            <a:xfrm>
              <a:off x="8376285" y="5784056"/>
              <a:ext cx="184333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via few-shot fine-tuning</a:t>
              </a:r>
            </a:p>
          </p:txBody>
        </p:sp>
      </p:grpSp>
      <p:sp>
        <p:nvSpPr>
          <p:cNvPr id="39" name="TextBox 39"/>
          <p:cNvSpPr txBox="1"/>
          <p:nvPr/>
        </p:nvSpPr>
        <p:spPr>
          <a:xfrm>
            <a:off x="680847" y="6505099"/>
            <a:ext cx="1602745" cy="190690"/>
          </a:xfrm>
          <a:prstGeom prst="rect">
            <a:avLst/>
          </a:prstGeom>
          <a:noFill/>
          <a:ln>
            <a:noFill/>
          </a:ln>
        </p:spPr>
        <p:txBody>
          <a:bodyPr wrap="none" lIns="0" tIns="0" rIns="0" bIns="0" anchor="t" anchorCtr="0">
            <a:spAutoFit/>
          </a:bodyPr>
          <a:lstStyle/>
          <a:p>
            <a:pPr algn="l"/>
            <a:r>
              <a:rPr lang="en-US" sz="980" dirty="0">
                <a:solidFill>
                  <a:srgbClr val="9AA1AC"/>
                </a:solidFill>
                <a:latin typeface="+mn-lt"/>
                <a:ea typeface="+mn-ea"/>
                <a:cs typeface="+mn-cs"/>
              </a:rPr>
              <a:t>Neuroformer · ICLR 2024</a:t>
            </a:r>
          </a:p>
        </p:txBody>
      </p:sp>
      <p:sp>
        <p:nvSpPr>
          <p:cNvPr id="40" name="TextBox 40"/>
          <p:cNvSpPr txBox="1"/>
          <p:nvPr/>
        </p:nvSpPr>
        <p:spPr>
          <a:xfrm>
            <a:off x="11059290" y="6505099"/>
            <a:ext cx="451863" cy="190690"/>
          </a:xfrm>
          <a:prstGeom prst="rect">
            <a:avLst/>
          </a:prstGeom>
          <a:noFill/>
          <a:ln>
            <a:noFill/>
          </a:ln>
        </p:spPr>
        <p:txBody>
          <a:bodyPr wrap="none" lIns="0" tIns="0" rIns="0" bIns="0" anchor="t" anchorCtr="0">
            <a:spAutoFit/>
          </a:bodyPr>
          <a:lstStyle/>
          <a:p>
            <a:pPr algn="r"/>
            <a:r>
              <a:rPr lang="en-US" sz="980" dirty="0">
                <a:solidFill>
                  <a:srgbClr val="9AA1AC"/>
                </a:solidFill>
                <a:latin typeface="+mn-lt"/>
                <a:ea typeface="+mn-ea"/>
                <a:cs typeface="+mn-cs"/>
              </a:rPr>
              <a:t>01 / 10</a:t>
            </a:r>
          </a:p>
        </p:txBody>
      </p:sp>
      <p:sp>
        <p:nvSpPr>
          <p:cNvPr id="41" name="cue_s01_c1_neuroformer_multimodal_multitask_gen" title="cue_s01_c1_neuroformer_multimodal_multitask_gen" descr="cue_s01_c1_neuroformer_multimodal_multitask_gen Neuroformer is a multimodal, multitask generative pretrained transformer for brain data, built at UC Santa Barbara."/>
          <p:cNvSpPr/>
          <p:nvPr/>
        </p:nvSpPr>
        <p:spPr>
          <a:xfrm>
            <a:off x="686409" y="4305452"/>
            <a:ext cx="3462527"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1_c2_reframes_cellular_resolution_spike_a" title="cue_s01_c2_reframes_cellular_resolution_spike_a" descr="cue_s01_c2_reframes_cellular_resolution_spike_a It reframes cellular-resolution spike analysis as autoregressive spatiotemporal generation, borrowing the recipe behind large language and vision models."/>
          <p:cNvSpPr/>
          <p:nvPr/>
        </p:nvSpPr>
        <p:spPr>
          <a:xfrm>
            <a:off x="4381804" y="4305452"/>
            <a:ext cx="3428390"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1_c3_trained_self_supervised_recovers_cir" title="cue_s01_c3_trained_self_supervised_recovers_cir" descr="cue_s01_c3_trained_self_supervised_recovers_cir Trained self-supervised, it recovers circuit connectivity and decodes mouse behavior."/>
          <p:cNvSpPr/>
          <p:nvPr/>
        </p:nvSpPr>
        <p:spPr>
          <a:xfrm>
            <a:off x="8077200" y="4305452"/>
            <a:ext cx="3428390"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80085" y="678656"/>
            <a:ext cx="1273952" cy="220028"/>
          </a:xfrm>
          <a:prstGeom prst="rect">
            <a:avLst/>
          </a:prstGeom>
          <a:noFill/>
          <a:ln>
            <a:noFill/>
          </a:ln>
        </p:spPr>
        <p:txBody>
          <a:bodyPr wrap="none" lIns="0" tIns="0" rIns="0" bIns="0" anchor="t" anchorCtr="0">
            <a:spAutoFit/>
          </a:bodyPr>
          <a:lstStyle/>
          <a:p>
            <a:pPr algn="l"/>
            <a:r>
              <a:rPr lang="en-US" sz="1120" b="1" spc="112" dirty="0">
                <a:solidFill>
                  <a:schemeClr val="accent1"/>
                </a:solidFill>
                <a:latin typeface="+mn-lt"/>
                <a:ea typeface="+mn-ea"/>
                <a:cs typeface="+mn-cs"/>
              </a:rPr>
              <a:t>02 · PROBLEM</a:t>
            </a:r>
          </a:p>
        </p:txBody>
      </p:sp>
      <p:sp>
        <p:nvSpPr>
          <p:cNvPr id="3" name="TextBox 3"/>
          <p:cNvSpPr txBox="1"/>
          <p:nvPr/>
        </p:nvSpPr>
        <p:spPr>
          <a:xfrm>
            <a:off x="670560" y="914400"/>
            <a:ext cx="5938718"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Rich data outpaces the tools</a:t>
            </a:r>
          </a:p>
        </p:txBody>
      </p:sp>
      <p:sp>
        <p:nvSpPr>
          <p:cNvPr id="4" name="Rectangle 4"/>
          <p:cNvSpPr/>
          <p:nvPr/>
        </p:nvSpPr>
        <p:spPr>
          <a:xfrm>
            <a:off x="685800" y="1409700"/>
            <a:ext cx="609600" cy="38100"/>
          </a:xfrm>
          <a:prstGeom prst="roundRect">
            <a:avLst>
              <a:gd name="adj" fmla="val 50000"/>
            </a:avLst>
          </a:prstGeom>
          <a:solidFill>
            <a:schemeClr val="accent1"/>
          </a:solidFill>
          <a:ln>
            <a:noFill/>
          </a:ln>
        </p:spPr>
        <p:txBody>
          <a:bodyPr/>
          <a:p/>
        </p:txBody>
      </p:sp>
      <p:grpSp>
        <p:nvGrpSpPr>
          <p:cNvPr id="27" name="Group 27"/>
          <p:cNvGrpSpPr/>
          <p:nvPr/>
        </p:nvGrpSpPr>
        <p:grpSpPr>
          <a:xfrm>
            <a:off x="685800" y="1866900"/>
            <a:ext cx="5219700" cy="4038600"/>
            <a:chOff x="685800" y="1866900"/>
            <a:chExt cx="5219700" cy="4038600"/>
          </a:xfrm>
        </p:grpSpPr>
        <p:sp>
          <p:nvSpPr>
            <p:cNvPr id="5" name="Rectangle 5"/>
            <p:cNvSpPr/>
            <p:nvPr/>
          </p:nvSpPr>
          <p:spPr>
            <a:xfrm>
              <a:off x="685800" y="1866900"/>
              <a:ext cx="5219700" cy="4038600"/>
            </a:xfrm>
            <a:prstGeom prst="roundRect">
              <a:avLst>
                <a:gd name="adj" fmla="val 3774"/>
              </a:avLst>
            </a:prstGeom>
            <a:solidFill>
              <a:schemeClr val="lt2"/>
            </a:solidFill>
            <a:ln w="9525">
              <a:solidFill>
                <a:schemeClr val="accent4"/>
              </a:solidFill>
            </a:ln>
          </p:spPr>
        </p:sp>
        <p:sp>
          <p:nvSpPr>
            <p:cNvPr id="6" name="TextBox 6"/>
            <p:cNvSpPr txBox="1"/>
            <p:nvPr/>
          </p:nvSpPr>
          <p:spPr>
            <a:xfrm>
              <a:off x="984885" y="2240756"/>
              <a:ext cx="1312670" cy="220028"/>
            </a:xfrm>
            <a:prstGeom prst="rect">
              <a:avLst/>
            </a:prstGeom>
            <a:noFill/>
            <a:ln>
              <a:noFill/>
            </a:ln>
          </p:spPr>
          <p:txBody>
            <a:bodyPr wrap="none" lIns="0" tIns="0" rIns="0" bIns="0" anchor="t" anchorCtr="0">
              <a:spAutoFit/>
            </a:bodyPr>
            <a:lstStyle/>
            <a:p>
              <a:pPr algn="l"/>
              <a:r>
                <a:rPr lang="en-US" sz="1120" b="1" spc="75" dirty="0">
                  <a:solidFill>
                    <a:schemeClr val="accent1"/>
                  </a:solidFill>
                  <a:latin typeface="+mn-lt"/>
                  <a:ea typeface="+mn-ea"/>
                  <a:cs typeface="+mn-cs"/>
                </a:rPr>
                <a:t>A BIG-DATA ERA</a:t>
              </a:r>
            </a:p>
          </p:txBody>
        </p:sp>
        <p:sp>
          <p:nvSpPr>
            <p:cNvPr id="7" name="TextBox 7"/>
            <p:cNvSpPr txBox="1"/>
            <p:nvPr/>
          </p:nvSpPr>
          <p:spPr>
            <a:xfrm>
              <a:off x="981456" y="2548890"/>
              <a:ext cx="4212466"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Experiments now co-record three</a:t>
              </a:r>
            </a:p>
          </p:txBody>
        </p:sp>
        <p:sp>
          <p:nvSpPr>
            <p:cNvPr id="8" name="TextBox 8"/>
            <p:cNvSpPr txBox="1"/>
            <p:nvPr/>
          </p:nvSpPr>
          <p:spPr>
            <a:xfrm>
              <a:off x="981456" y="2834640"/>
              <a:ext cx="2270009"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modalities at once</a:t>
              </a:r>
            </a:p>
          </p:txBody>
        </p:sp>
        <p:grpSp>
          <p:nvGrpSpPr>
            <p:cNvPr id="14" name="Group 14"/>
            <p:cNvGrpSpPr/>
            <p:nvPr/>
          </p:nvGrpSpPr>
          <p:grpSpPr>
            <a:xfrm>
              <a:off x="990600" y="3352800"/>
              <a:ext cx="4610100" cy="685800"/>
              <a:chOff x="990600" y="3352800"/>
              <a:chExt cx="4610100" cy="685800"/>
            </a:xfrm>
          </p:grpSpPr>
          <p:sp>
            <p:nvSpPr>
              <p:cNvPr id="9" name="Rectangle 9"/>
              <p:cNvSpPr/>
              <p:nvPr/>
            </p:nvSpPr>
            <p:spPr>
              <a:xfrm>
                <a:off x="990600" y="3352800"/>
                <a:ext cx="4610100" cy="685800"/>
              </a:xfrm>
              <a:prstGeom prst="roundRect">
                <a:avLst>
                  <a:gd name="adj" fmla="val 16667"/>
                </a:avLst>
              </a:prstGeom>
              <a:solidFill>
                <a:schemeClr val="lt1"/>
              </a:solidFill>
              <a:ln w="9525">
                <a:solidFill>
                  <a:schemeClr val="accent4"/>
                </a:solidFill>
              </a:ln>
            </p:spPr>
          </p:sp>
          <p:sp>
            <p:nvSpPr>
              <p:cNvPr id="10" name="Ellipse 10"/>
              <p:cNvSpPr/>
              <p:nvPr/>
            </p:nvSpPr>
            <p:spPr>
              <a:xfrm>
                <a:off x="1181100" y="3505200"/>
                <a:ext cx="381000" cy="381000"/>
              </a:xfrm>
              <a:prstGeom prst="ellipse">
                <a:avLst/>
              </a:prstGeom>
              <a:solidFill>
                <a:srgbClr val="EAF0FB"/>
              </a:solidFill>
              <a:ln>
                <a:noFill/>
              </a:ln>
            </p:spPr>
          </p:sp>
          <p:sp>
            <p:nvSpPr>
              <p:cNvPr id="11" name="TextBox 11"/>
              <p:cNvSpPr txBox="1"/>
              <p:nvPr/>
            </p:nvSpPr>
            <p:spPr>
              <a:xfrm>
                <a:off x="1309295" y="3616642"/>
                <a:ext cx="124610" cy="264033"/>
              </a:xfrm>
              <a:prstGeom prst="rect">
                <a:avLst/>
              </a:prstGeom>
              <a:noFill/>
              <a:ln>
                <a:noFill/>
              </a:ln>
            </p:spPr>
            <p:txBody>
              <a:bodyPr wrap="none" lIns="0" tIns="0" rIns="0" bIns="0" anchor="t" anchorCtr="0">
                <a:spAutoFit/>
              </a:bodyPr>
              <a:lstStyle/>
              <a:p>
                <a:pPr algn="ctr"/>
                <a:r>
                  <a:rPr lang="en-US" sz="1350" b="1" dirty="0">
                    <a:solidFill>
                      <a:schemeClr val="accent1"/>
                    </a:solidFill>
                    <a:latin typeface="+mn-lt"/>
                    <a:ea typeface="+mn-ea"/>
                    <a:cs typeface="+mn-cs"/>
                  </a:rPr>
                  <a:t>N</a:t>
                </a:r>
              </a:p>
            </p:txBody>
          </p:sp>
          <p:sp>
            <p:nvSpPr>
              <p:cNvPr id="12" name="TextBox 12"/>
              <p:cNvSpPr txBox="1"/>
              <p:nvPr/>
            </p:nvSpPr>
            <p:spPr>
              <a:xfrm>
                <a:off x="1707261" y="3503771"/>
                <a:ext cx="1475570"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Neural activity</a:t>
                </a:r>
              </a:p>
            </p:txBody>
          </p:sp>
          <p:sp>
            <p:nvSpPr>
              <p:cNvPr id="13" name="TextBox 13"/>
              <p:cNvSpPr txBox="1"/>
              <p:nvPr/>
            </p:nvSpPr>
            <p:spPr>
              <a:xfrm>
                <a:off x="1708785" y="3755231"/>
                <a:ext cx="307215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thousands of neurons, cellular resolution</a:t>
                </a:r>
              </a:p>
            </p:txBody>
          </p:sp>
        </p:grpSp>
        <p:grpSp>
          <p:nvGrpSpPr>
            <p:cNvPr id="20" name="Group 20"/>
            <p:cNvGrpSpPr/>
            <p:nvPr/>
          </p:nvGrpSpPr>
          <p:grpSpPr>
            <a:xfrm>
              <a:off x="990600" y="4152900"/>
              <a:ext cx="4610100" cy="685800"/>
              <a:chOff x="990600" y="4152900"/>
              <a:chExt cx="4610100" cy="685800"/>
            </a:xfrm>
          </p:grpSpPr>
          <p:sp>
            <p:nvSpPr>
              <p:cNvPr id="15" name="Rectangle 15"/>
              <p:cNvSpPr/>
              <p:nvPr/>
            </p:nvSpPr>
            <p:spPr>
              <a:xfrm>
                <a:off x="990600" y="4152900"/>
                <a:ext cx="4610100" cy="685800"/>
              </a:xfrm>
              <a:prstGeom prst="roundRect">
                <a:avLst>
                  <a:gd name="adj" fmla="val 16667"/>
                </a:avLst>
              </a:prstGeom>
              <a:solidFill>
                <a:schemeClr val="lt1"/>
              </a:solidFill>
              <a:ln w="9525">
                <a:solidFill>
                  <a:schemeClr val="accent4"/>
                </a:solidFill>
              </a:ln>
            </p:spPr>
          </p:sp>
          <p:sp>
            <p:nvSpPr>
              <p:cNvPr id="16" name="Ellipse 16"/>
              <p:cNvSpPr/>
              <p:nvPr/>
            </p:nvSpPr>
            <p:spPr>
              <a:xfrm>
                <a:off x="1181100" y="4305300"/>
                <a:ext cx="381000" cy="381000"/>
              </a:xfrm>
              <a:prstGeom prst="ellipse">
                <a:avLst/>
              </a:prstGeom>
              <a:solidFill>
                <a:srgbClr val="E4F5F2"/>
              </a:solidFill>
              <a:ln>
                <a:noFill/>
              </a:ln>
            </p:spPr>
          </p:sp>
          <p:sp>
            <p:nvSpPr>
              <p:cNvPr id="17" name="TextBox 17"/>
              <p:cNvSpPr txBox="1"/>
              <p:nvPr/>
            </p:nvSpPr>
            <p:spPr>
              <a:xfrm>
                <a:off x="1309295" y="4416742"/>
                <a:ext cx="124610"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V</a:t>
                </a:r>
              </a:p>
            </p:txBody>
          </p:sp>
          <p:sp>
            <p:nvSpPr>
              <p:cNvPr id="18" name="TextBox 18"/>
              <p:cNvSpPr txBox="1"/>
              <p:nvPr/>
            </p:nvSpPr>
            <p:spPr>
              <a:xfrm>
                <a:off x="1707261" y="4303871"/>
                <a:ext cx="1304669"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Visual stimuli</a:t>
                </a:r>
              </a:p>
            </p:txBody>
          </p:sp>
          <p:sp>
            <p:nvSpPr>
              <p:cNvPr id="19" name="TextBox 19"/>
              <p:cNvSpPr txBox="1"/>
              <p:nvPr/>
            </p:nvSpPr>
            <p:spPr>
              <a:xfrm>
                <a:off x="1708785" y="4555331"/>
                <a:ext cx="236351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gratings and naturalistic videos</a:t>
                </a:r>
              </a:p>
            </p:txBody>
          </p:sp>
        </p:grpSp>
        <p:grpSp>
          <p:nvGrpSpPr>
            <p:cNvPr id="26" name="Group 26"/>
            <p:cNvGrpSpPr/>
            <p:nvPr/>
          </p:nvGrpSpPr>
          <p:grpSpPr>
            <a:xfrm>
              <a:off x="990600" y="4953000"/>
              <a:ext cx="4610100" cy="685800"/>
              <a:chOff x="990600" y="4953000"/>
              <a:chExt cx="4610100" cy="685800"/>
            </a:xfrm>
          </p:grpSpPr>
          <p:sp>
            <p:nvSpPr>
              <p:cNvPr id="21" name="Rectangle 21"/>
              <p:cNvSpPr/>
              <p:nvPr/>
            </p:nvSpPr>
            <p:spPr>
              <a:xfrm>
                <a:off x="990600" y="4953000"/>
                <a:ext cx="4610100" cy="685800"/>
              </a:xfrm>
              <a:prstGeom prst="roundRect">
                <a:avLst>
                  <a:gd name="adj" fmla="val 16667"/>
                </a:avLst>
              </a:prstGeom>
              <a:solidFill>
                <a:schemeClr val="lt1"/>
              </a:solidFill>
              <a:ln w="9525">
                <a:solidFill>
                  <a:schemeClr val="accent4"/>
                </a:solidFill>
              </a:ln>
            </p:spPr>
          </p:sp>
          <p:sp>
            <p:nvSpPr>
              <p:cNvPr id="22" name="Ellipse 22"/>
              <p:cNvSpPr/>
              <p:nvPr/>
            </p:nvSpPr>
            <p:spPr>
              <a:xfrm>
                <a:off x="1181100" y="5105400"/>
                <a:ext cx="381000" cy="381000"/>
              </a:xfrm>
              <a:prstGeom prst="ellipse">
                <a:avLst/>
              </a:prstGeom>
              <a:solidFill>
                <a:srgbClr val="FBE9E2"/>
              </a:solidFill>
              <a:ln>
                <a:noFill/>
              </a:ln>
            </p:spPr>
          </p:sp>
          <p:sp>
            <p:nvSpPr>
              <p:cNvPr id="23" name="TextBox 23"/>
              <p:cNvSpPr txBox="1"/>
              <p:nvPr/>
            </p:nvSpPr>
            <p:spPr>
              <a:xfrm>
                <a:off x="1309295" y="5216842"/>
                <a:ext cx="124610" cy="264033"/>
              </a:xfrm>
              <a:prstGeom prst="rect">
                <a:avLst/>
              </a:prstGeom>
              <a:noFill/>
              <a:ln>
                <a:noFill/>
              </a:ln>
            </p:spPr>
            <p:txBody>
              <a:bodyPr wrap="none" lIns="0" tIns="0" rIns="0" bIns="0" anchor="t" anchorCtr="0">
                <a:spAutoFit/>
              </a:bodyPr>
              <a:lstStyle/>
              <a:p>
                <a:pPr algn="ctr"/>
                <a:r>
                  <a:rPr lang="en-US" sz="1350" b="1" dirty="0">
                    <a:solidFill>
                      <a:schemeClr val="accent3"/>
                    </a:solidFill>
                    <a:latin typeface="+mn-lt"/>
                    <a:ea typeface="+mn-ea"/>
                    <a:cs typeface="+mn-cs"/>
                  </a:rPr>
                  <a:t>B</a:t>
                </a:r>
              </a:p>
            </p:txBody>
          </p:sp>
          <p:sp>
            <p:nvSpPr>
              <p:cNvPr id="24" name="TextBox 24"/>
              <p:cNvSpPr txBox="1"/>
              <p:nvPr/>
            </p:nvSpPr>
            <p:spPr>
              <a:xfrm>
                <a:off x="1707261" y="5103971"/>
                <a:ext cx="853353"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Behavior</a:t>
                </a:r>
              </a:p>
            </p:txBody>
          </p:sp>
          <p:sp>
            <p:nvSpPr>
              <p:cNvPr id="25" name="TextBox 25"/>
              <p:cNvSpPr txBox="1"/>
              <p:nvPr/>
            </p:nvSpPr>
            <p:spPr>
              <a:xfrm>
                <a:off x="1708785" y="5355431"/>
                <a:ext cx="287614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eye position, running speed, movement</a:t>
                </a:r>
              </a:p>
            </p:txBody>
          </p:sp>
        </p:grpSp>
      </p:grpSp>
      <p:grpSp>
        <p:nvGrpSpPr>
          <p:cNvPr id="41" name="Group 41"/>
          <p:cNvGrpSpPr/>
          <p:nvPr/>
        </p:nvGrpSpPr>
        <p:grpSpPr>
          <a:xfrm>
            <a:off x="6286500" y="1866900"/>
            <a:ext cx="5219700" cy="4048506"/>
            <a:chOff x="6286500" y="1866900"/>
            <a:chExt cx="5219700" cy="4048506"/>
          </a:xfrm>
        </p:grpSpPr>
        <p:sp>
          <p:nvSpPr>
            <p:cNvPr id="28" name="Rectangle 28"/>
            <p:cNvSpPr/>
            <p:nvPr/>
          </p:nvSpPr>
          <p:spPr>
            <a:xfrm>
              <a:off x="6286500" y="1866900"/>
              <a:ext cx="5219700" cy="4038600"/>
            </a:xfrm>
            <a:prstGeom prst="roundRect">
              <a:avLst>
                <a:gd name="adj" fmla="val 3774"/>
              </a:avLst>
            </a:prstGeom>
            <a:solidFill>
              <a:schemeClr val="lt2"/>
            </a:solidFill>
            <a:ln w="9525">
              <a:solidFill>
                <a:schemeClr val="accent4"/>
              </a:solidFill>
            </a:ln>
          </p:spPr>
        </p:sp>
        <p:sp>
          <p:nvSpPr>
            <p:cNvPr id="29" name="TextBox 29"/>
            <p:cNvSpPr txBox="1"/>
            <p:nvPr/>
          </p:nvSpPr>
          <p:spPr>
            <a:xfrm>
              <a:off x="6585585" y="2240756"/>
              <a:ext cx="1518008" cy="220028"/>
            </a:xfrm>
            <a:prstGeom prst="rect">
              <a:avLst/>
            </a:prstGeom>
            <a:noFill/>
            <a:ln>
              <a:noFill/>
            </a:ln>
          </p:spPr>
          <p:txBody>
            <a:bodyPr wrap="none" lIns="0" tIns="0" rIns="0" bIns="0" anchor="t" anchorCtr="0">
              <a:spAutoFit/>
            </a:bodyPr>
            <a:lstStyle/>
            <a:p>
              <a:pPr algn="l"/>
              <a:r>
                <a:rPr lang="en-US" sz="1120" b="1" spc="75" dirty="0">
                  <a:solidFill>
                    <a:schemeClr val="accent3"/>
                  </a:solidFill>
                  <a:latin typeface="+mn-lt"/>
                  <a:ea typeface="+mn-ea"/>
                  <a:cs typeface="+mn-cs"/>
                </a:rPr>
                <a:t>THE ANALYSIS GAP</a:t>
              </a:r>
            </a:p>
          </p:txBody>
        </p:sp>
        <p:sp>
          <p:nvSpPr>
            <p:cNvPr id="30" name="TextBox 30"/>
            <p:cNvSpPr txBox="1"/>
            <p:nvPr/>
          </p:nvSpPr>
          <p:spPr>
            <a:xfrm>
              <a:off x="6582156" y="2548890"/>
              <a:ext cx="3639085"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Classical tools were built for</a:t>
              </a:r>
            </a:p>
          </p:txBody>
        </p:sp>
        <p:sp>
          <p:nvSpPr>
            <p:cNvPr id="31" name="TextBox 31"/>
            <p:cNvSpPr txBox="1"/>
            <p:nvPr/>
          </p:nvSpPr>
          <p:spPr>
            <a:xfrm>
              <a:off x="6582156" y="2834640"/>
              <a:ext cx="3669384"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smaller, single-modality data</a:t>
              </a:r>
            </a:p>
          </p:txBody>
        </p:sp>
        <p:grpSp>
          <p:nvGrpSpPr>
            <p:cNvPr id="40" name="Group 40"/>
            <p:cNvGrpSpPr/>
            <p:nvPr/>
          </p:nvGrpSpPr>
          <p:grpSpPr>
            <a:xfrm>
              <a:off x="6591300" y="3449002"/>
              <a:ext cx="4610100" cy="2466404"/>
              <a:chOff x="6591300" y="3449002"/>
              <a:chExt cx="4610100" cy="2466404"/>
            </a:xfrm>
          </p:grpSpPr>
          <p:sp>
            <p:nvSpPr>
              <p:cNvPr id="32" name="Rectangle 32"/>
              <p:cNvSpPr/>
              <p:nvPr/>
            </p:nvSpPr>
            <p:spPr>
              <a:xfrm>
                <a:off x="6591300" y="3657600"/>
                <a:ext cx="1428750" cy="1866900"/>
              </a:xfrm>
              <a:prstGeom prst="roundRect">
                <a:avLst>
                  <a:gd name="adj" fmla="val 6667"/>
                </a:avLst>
              </a:prstGeom>
              <a:solidFill>
                <a:schemeClr val="accent1"/>
              </a:solidFill>
              <a:ln>
                <a:noFill/>
              </a:ln>
            </p:spPr>
          </p:sp>
          <p:sp>
            <p:nvSpPr>
              <p:cNvPr id="33" name="TextBox 33"/>
              <p:cNvSpPr txBox="1"/>
              <p:nvPr/>
            </p:nvSpPr>
            <p:spPr>
              <a:xfrm>
                <a:off x="6732928" y="5680710"/>
                <a:ext cx="1145494" cy="234696"/>
              </a:xfrm>
              <a:prstGeom prst="rect">
                <a:avLst/>
              </a:prstGeom>
              <a:noFill/>
              <a:ln>
                <a:noFill/>
              </a:ln>
            </p:spPr>
            <p:txBody>
              <a:bodyPr wrap="none" lIns="0" tIns="0" rIns="0" bIns="0" anchor="t" anchorCtr="0">
                <a:spAutoFit/>
              </a:bodyPr>
              <a:lstStyle/>
              <a:p>
                <a:pPr algn="ctr"/>
                <a:r>
                  <a:rPr lang="en-US" sz="1200" b="1" dirty="0">
                    <a:solidFill>
                      <a:schemeClr val="dk1"/>
                    </a:solidFill>
                    <a:latin typeface="+mn-lt"/>
                    <a:ea typeface="+mn-ea"/>
                    <a:cs typeface="+mn-cs"/>
                  </a:rPr>
                  <a:t>Data richness</a:t>
                </a:r>
              </a:p>
            </p:txBody>
          </p:sp>
          <p:sp>
            <p:nvSpPr>
              <p:cNvPr id="34" name="TextBox 34"/>
              <p:cNvSpPr txBox="1"/>
              <p:nvPr/>
            </p:nvSpPr>
            <p:spPr>
              <a:xfrm>
                <a:off x="6647299" y="3449002"/>
                <a:ext cx="1316751" cy="205359"/>
              </a:xfrm>
              <a:prstGeom prst="rect">
                <a:avLst/>
              </a:prstGeom>
              <a:noFill/>
              <a:ln>
                <a:noFill/>
              </a:ln>
            </p:spPr>
            <p:txBody>
              <a:bodyPr wrap="none" lIns="0" tIns="0" rIns="0" bIns="0" anchor="t" anchorCtr="0">
                <a:spAutoFit/>
              </a:bodyPr>
              <a:lstStyle/>
              <a:p>
                <a:pPr algn="ctr"/>
                <a:r>
                  <a:rPr lang="en-US" sz="1050" b="1" dirty="0">
                    <a:solidFill>
                      <a:schemeClr val="accent1"/>
                    </a:solidFill>
                    <a:latin typeface="+mn-lt"/>
                    <a:ea typeface="+mn-ea"/>
                    <a:cs typeface="+mn-cs"/>
                  </a:rPr>
                  <a:t>large · multimodal</a:t>
                </a:r>
              </a:p>
            </p:txBody>
          </p:sp>
          <p:sp>
            <p:nvSpPr>
              <p:cNvPr id="35" name="Rectangle 35"/>
              <p:cNvSpPr/>
              <p:nvPr/>
            </p:nvSpPr>
            <p:spPr>
              <a:xfrm>
                <a:off x="9772650" y="4857750"/>
                <a:ext cx="1428750" cy="666750"/>
              </a:xfrm>
              <a:prstGeom prst="roundRect">
                <a:avLst>
                  <a:gd name="adj" fmla="val 14286"/>
                </a:avLst>
              </a:prstGeom>
              <a:solidFill>
                <a:srgbClr val="C9D0DB"/>
              </a:solidFill>
              <a:ln>
                <a:noFill/>
              </a:ln>
            </p:spPr>
          </p:sp>
          <p:sp>
            <p:nvSpPr>
              <p:cNvPr id="36" name="TextBox 36"/>
              <p:cNvSpPr txBox="1"/>
              <p:nvPr/>
            </p:nvSpPr>
            <p:spPr>
              <a:xfrm>
                <a:off x="9884854" y="5680710"/>
                <a:ext cx="1204341" cy="234696"/>
              </a:xfrm>
              <a:prstGeom prst="rect">
                <a:avLst/>
              </a:prstGeom>
              <a:noFill/>
              <a:ln>
                <a:noFill/>
              </a:ln>
            </p:spPr>
            <p:txBody>
              <a:bodyPr wrap="none" lIns="0" tIns="0" rIns="0" bIns="0" anchor="t" anchorCtr="0">
                <a:spAutoFit/>
              </a:bodyPr>
              <a:lstStyle/>
              <a:p>
                <a:pPr algn="ctr"/>
                <a:r>
                  <a:rPr lang="en-US" sz="1200" b="1" dirty="0">
                    <a:solidFill>
                      <a:schemeClr val="dk1"/>
                    </a:solidFill>
                    <a:latin typeface="+mn-lt"/>
                    <a:ea typeface="+mn-ea"/>
                    <a:cs typeface="+mn-cs"/>
                  </a:rPr>
                  <a:t>Classical tools</a:t>
                </a:r>
              </a:p>
            </p:txBody>
          </p:sp>
          <p:sp>
            <p:nvSpPr>
              <p:cNvPr id="37" name="TextBox 37"/>
              <p:cNvSpPr txBox="1"/>
              <p:nvPr/>
            </p:nvSpPr>
            <p:spPr>
              <a:xfrm>
                <a:off x="9928832" y="4649152"/>
                <a:ext cx="1116386" cy="205359"/>
              </a:xfrm>
              <a:prstGeom prst="rect">
                <a:avLst/>
              </a:prstGeom>
              <a:noFill/>
              <a:ln>
                <a:noFill/>
              </a:ln>
            </p:spPr>
            <p:txBody>
              <a:bodyPr wrap="none" lIns="0" tIns="0" rIns="0" bIns="0" anchor="t" anchorCtr="0">
                <a:spAutoFit/>
              </a:bodyPr>
              <a:lstStyle/>
              <a:p>
                <a:pPr algn="ctr"/>
                <a:r>
                  <a:rPr lang="en-US" sz="1050" b="1" dirty="0">
                    <a:solidFill>
                      <a:srgbClr val="7A828E"/>
                    </a:solidFill>
                    <a:latin typeface="+mn-lt"/>
                    <a:ea typeface="+mn-ea"/>
                    <a:cs typeface="+mn-cs"/>
                  </a:rPr>
                  <a:t>single-modality</a:t>
                </a:r>
              </a:p>
            </p:txBody>
          </p:sp>
          <p:sp>
            <p:nvSpPr>
              <p:cNvPr id="38" name="Line 38"/>
              <p:cNvSpPr/>
              <p:nvPr/>
            </p:nvSpPr>
            <p:spPr>
              <a:xfrm>
                <a:off x="8115300" y="4000500"/>
                <a:ext cx="1581150" cy="9525"/>
              </a:xfrm>
              <a:custGeom>
                <a:avLst/>
                <a:gdLst/>
                <a:ahLst/>
                <a:cxnLst/>
                <a:rect l="l" t="t" r="r" b="b"/>
                <a:pathLst>
                  <a:path w="1581150" h="9525">
                    <a:moveTo>
                      <a:pt x="0" y="0"/>
                    </a:moveTo>
                    <a:lnTo>
                      <a:pt x="1581150" y="0"/>
                    </a:lnTo>
                  </a:path>
                </a:pathLst>
              </a:custGeom>
              <a:noFill/>
              <a:ln w="19050">
                <a:solidFill>
                  <a:schemeClr val="accent3"/>
                </a:solidFill>
                <a:custDash>
                  <a:ds d="300000" sp="250000"/>
                </a:custDash>
              </a:ln>
            </p:spPr>
          </p:sp>
          <p:sp>
            <p:nvSpPr>
              <p:cNvPr id="39" name="TextBox 39"/>
              <p:cNvSpPr txBox="1"/>
              <p:nvPr/>
            </p:nvSpPr>
            <p:spPr>
              <a:xfrm>
                <a:off x="8421263" y="3783806"/>
                <a:ext cx="969224" cy="220028"/>
              </a:xfrm>
              <a:prstGeom prst="rect">
                <a:avLst/>
              </a:prstGeom>
              <a:noFill/>
              <a:ln>
                <a:noFill/>
              </a:ln>
            </p:spPr>
            <p:txBody>
              <a:bodyPr wrap="none" lIns="0" tIns="0" rIns="0" bIns="0" anchor="t" anchorCtr="0">
                <a:spAutoFit/>
              </a:bodyPr>
              <a:lstStyle/>
              <a:p>
                <a:pPr algn="ctr"/>
                <a:r>
                  <a:rPr lang="en-US" sz="1120" b="1" dirty="0">
                    <a:solidFill>
                      <a:schemeClr val="accent3"/>
                    </a:solidFill>
                    <a:latin typeface="+mn-lt"/>
                    <a:ea typeface="+mn-ea"/>
                    <a:cs typeface="+mn-cs"/>
                  </a:rPr>
                  <a:t>widening gap</a:t>
                </a:r>
              </a:p>
            </p:txBody>
          </p:sp>
        </p:grpSp>
      </p:grpSp>
      <p:sp>
        <p:nvSpPr>
          <p:cNvPr id="42" name="TextBox 42"/>
          <p:cNvSpPr txBox="1"/>
          <p:nvPr/>
        </p:nvSpPr>
        <p:spPr>
          <a:xfrm>
            <a:off x="680847" y="6505099"/>
            <a:ext cx="1602745" cy="190690"/>
          </a:xfrm>
          <a:prstGeom prst="rect">
            <a:avLst/>
          </a:prstGeom>
          <a:noFill/>
          <a:ln>
            <a:noFill/>
          </a:ln>
        </p:spPr>
        <p:txBody>
          <a:bodyPr wrap="none" lIns="0" tIns="0" rIns="0" bIns="0" anchor="t" anchorCtr="0">
            <a:spAutoFit/>
          </a:bodyPr>
          <a:lstStyle/>
          <a:p>
            <a:pPr algn="l"/>
            <a:r>
              <a:rPr lang="en-US" sz="980" dirty="0">
                <a:solidFill>
                  <a:srgbClr val="9AA1AC"/>
                </a:solidFill>
                <a:latin typeface="+mn-lt"/>
                <a:ea typeface="+mn-ea"/>
                <a:cs typeface="+mn-cs"/>
              </a:rPr>
              <a:t>Neuroformer · ICLR 2024</a:t>
            </a:r>
          </a:p>
        </p:txBody>
      </p:sp>
      <p:sp>
        <p:nvSpPr>
          <p:cNvPr id="43" name="TextBox 43"/>
          <p:cNvSpPr txBox="1"/>
          <p:nvPr/>
        </p:nvSpPr>
        <p:spPr>
          <a:xfrm>
            <a:off x="11059290" y="6505099"/>
            <a:ext cx="451863" cy="190690"/>
          </a:xfrm>
          <a:prstGeom prst="rect">
            <a:avLst/>
          </a:prstGeom>
          <a:noFill/>
          <a:ln>
            <a:noFill/>
          </a:ln>
        </p:spPr>
        <p:txBody>
          <a:bodyPr wrap="none" lIns="0" tIns="0" rIns="0" bIns="0" anchor="t" anchorCtr="0">
            <a:spAutoFit/>
          </a:bodyPr>
          <a:lstStyle/>
          <a:p>
            <a:pPr algn="r"/>
            <a:r>
              <a:rPr lang="en-US" sz="980" dirty="0">
                <a:solidFill>
                  <a:srgbClr val="9AA1AC"/>
                </a:solidFill>
                <a:latin typeface="+mn-lt"/>
                <a:ea typeface="+mn-ea"/>
                <a:cs typeface="+mn-cs"/>
              </a:rPr>
              <a:t>02 / 10</a:t>
            </a:r>
          </a:p>
        </p:txBody>
      </p:sp>
      <p:sp>
        <p:nvSpPr>
          <p:cNvPr id="44" name="cue_s02_c1_modern_neuroscience_records_thousand" title="cue_s02_c1_modern_neuroscience_records_thousand" descr="cue_s02_c1_modern_neuroscience_records_thousand Modern neuroscience records thousands of neurons at cellular resolution, alongside visual stimuli and behavior."/>
          <p:cNvSpPr/>
          <p:nvPr/>
        </p:nvSpPr>
        <p:spPr>
          <a:xfrm>
            <a:off x="686409" y="1866747"/>
            <a:ext cx="5219395" cy="40386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2_c2_these_datasets_large_multimodal_mess" title="cue_s02_c2_these_datasets_large_multimodal_mess" descr="cue_s02_c2_these_datasets_large_multimodal_mess These datasets are large, multimodal, and messy, yet the field's traditional statistical tools were built for far smaller, single-modality recordings, leaving a widening data-analysis gap."/>
          <p:cNvSpPr/>
          <p:nvPr/>
        </p:nvSpPr>
        <p:spPr>
          <a:xfrm>
            <a:off x="6286195" y="1866747"/>
            <a:ext cx="5219395" cy="40386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80085" y="678656"/>
            <a:ext cx="1547565" cy="220028"/>
          </a:xfrm>
          <a:prstGeom prst="rect">
            <a:avLst/>
          </a:prstGeom>
          <a:noFill/>
          <a:ln>
            <a:noFill/>
          </a:ln>
        </p:spPr>
        <p:txBody>
          <a:bodyPr wrap="none" lIns="0" tIns="0" rIns="0" bIns="0" anchor="t" anchorCtr="0">
            <a:spAutoFit/>
          </a:bodyPr>
          <a:lstStyle/>
          <a:p>
            <a:pPr algn="l"/>
            <a:r>
              <a:rPr lang="en-US" sz="1120" b="1" spc="112" dirty="0">
                <a:solidFill>
                  <a:schemeClr val="accent1"/>
                </a:solidFill>
                <a:latin typeface="+mn-lt"/>
                <a:ea typeface="+mn-ea"/>
                <a:cs typeface="+mn-cs"/>
              </a:rPr>
              <a:t>03 · MOTIVATION</a:t>
            </a:r>
          </a:p>
        </p:txBody>
      </p:sp>
      <p:sp>
        <p:nvSpPr>
          <p:cNvPr id="3" name="TextBox 3"/>
          <p:cNvSpPr txBox="1"/>
          <p:nvPr/>
        </p:nvSpPr>
        <p:spPr>
          <a:xfrm>
            <a:off x="670560" y="914400"/>
            <a:ext cx="6722816"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Borrow the pretraining playbook</a:t>
            </a:r>
          </a:p>
        </p:txBody>
      </p:sp>
      <p:sp>
        <p:nvSpPr>
          <p:cNvPr id="4" name="Rectangle 4"/>
          <p:cNvSpPr/>
          <p:nvPr/>
        </p:nvSpPr>
        <p:spPr>
          <a:xfrm>
            <a:off x="685800" y="1409700"/>
            <a:ext cx="609600" cy="38100"/>
          </a:xfrm>
          <a:prstGeom prst="roundRect">
            <a:avLst>
              <a:gd name="adj" fmla="val 50000"/>
            </a:avLst>
          </a:prstGeom>
          <a:solidFill>
            <a:schemeClr val="accent1"/>
          </a:solidFill>
          <a:ln>
            <a:noFill/>
          </a:ln>
        </p:spPr>
        <p:txBody>
          <a:bodyPr/>
          <a:p/>
        </p:txBody>
      </p:sp>
      <p:grpSp>
        <p:nvGrpSpPr>
          <p:cNvPr id="24" name="Group 24"/>
          <p:cNvGrpSpPr/>
          <p:nvPr/>
        </p:nvGrpSpPr>
        <p:grpSpPr>
          <a:xfrm>
            <a:off x="685800" y="1866900"/>
            <a:ext cx="4953000" cy="4038600"/>
            <a:chOff x="685800" y="1866900"/>
            <a:chExt cx="4953000" cy="4038600"/>
          </a:xfrm>
        </p:grpSpPr>
        <p:sp>
          <p:nvSpPr>
            <p:cNvPr id="5" name="Rectangle 5"/>
            <p:cNvSpPr/>
            <p:nvPr/>
          </p:nvSpPr>
          <p:spPr>
            <a:xfrm>
              <a:off x="685800" y="1866900"/>
              <a:ext cx="4953000" cy="4038600"/>
            </a:xfrm>
            <a:prstGeom prst="roundRect">
              <a:avLst>
                <a:gd name="adj" fmla="val 3774"/>
              </a:avLst>
            </a:prstGeom>
            <a:solidFill>
              <a:schemeClr val="lt2"/>
            </a:solidFill>
            <a:ln w="9525">
              <a:solidFill>
                <a:schemeClr val="accent4"/>
              </a:solidFill>
            </a:ln>
          </p:spPr>
        </p:sp>
        <p:sp>
          <p:nvSpPr>
            <p:cNvPr id="6" name="TextBox 6"/>
            <p:cNvSpPr txBox="1"/>
            <p:nvPr/>
          </p:nvSpPr>
          <p:spPr>
            <a:xfrm>
              <a:off x="984885" y="2240756"/>
              <a:ext cx="3085436" cy="220028"/>
            </a:xfrm>
            <a:prstGeom prst="rect">
              <a:avLst/>
            </a:prstGeom>
            <a:noFill/>
            <a:ln>
              <a:noFill/>
            </a:ln>
          </p:spPr>
          <p:txBody>
            <a:bodyPr wrap="none" lIns="0" tIns="0" rIns="0" bIns="0" anchor="t" anchorCtr="0">
              <a:spAutoFit/>
            </a:bodyPr>
            <a:lstStyle/>
            <a:p>
              <a:pPr algn="l"/>
              <a:r>
                <a:rPr lang="en-US" sz="1120" b="1" spc="75" dirty="0">
                  <a:solidFill>
                    <a:schemeClr val="accent1"/>
                  </a:solidFill>
                  <a:latin typeface="+mn-lt"/>
                  <a:ea typeface="+mn-ea"/>
                  <a:cs typeface="+mn-cs"/>
                </a:rPr>
                <a:t>WHAT WORKED IN VISION &amp; LANGUAGE</a:t>
              </a:r>
            </a:p>
          </p:txBody>
        </p:sp>
        <p:grpSp>
          <p:nvGrpSpPr>
            <p:cNvPr id="12" name="Group 12"/>
            <p:cNvGrpSpPr/>
            <p:nvPr/>
          </p:nvGrpSpPr>
          <p:grpSpPr>
            <a:xfrm>
              <a:off x="990600" y="2686050"/>
              <a:ext cx="4343400" cy="841534"/>
              <a:chOff x="990600" y="2686050"/>
              <a:chExt cx="4343400" cy="841534"/>
            </a:xfrm>
          </p:grpSpPr>
          <p:sp>
            <p:nvSpPr>
              <p:cNvPr id="7" name="Rectangle 7"/>
              <p:cNvSpPr/>
              <p:nvPr/>
            </p:nvSpPr>
            <p:spPr>
              <a:xfrm>
                <a:off x="990600" y="2686050"/>
                <a:ext cx="4343400" cy="838200"/>
              </a:xfrm>
              <a:prstGeom prst="roundRect">
                <a:avLst>
                  <a:gd name="adj" fmla="val 13636"/>
                </a:avLst>
              </a:prstGeom>
              <a:solidFill>
                <a:schemeClr val="lt1"/>
              </a:solidFill>
              <a:ln w="9525">
                <a:solidFill>
                  <a:schemeClr val="accent4"/>
                </a:solidFill>
              </a:ln>
            </p:spPr>
          </p:sp>
          <p:sp>
            <p:nvSpPr>
              <p:cNvPr id="8" name="TextBox 8"/>
              <p:cNvSpPr txBox="1"/>
              <p:nvPr/>
            </p:nvSpPr>
            <p:spPr>
              <a:xfrm>
                <a:off x="1169670" y="2767012"/>
                <a:ext cx="197782"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mn-lt"/>
                    <a:ea typeface="+mn-ea"/>
                    <a:cs typeface="+mn-cs"/>
                  </a:rPr>
                  <a:t>1</a:t>
                </a:r>
              </a:p>
            </p:txBody>
          </p:sp>
          <p:sp>
            <p:nvSpPr>
              <p:cNvPr id="9" name="TextBox 9"/>
              <p:cNvSpPr txBox="1"/>
              <p:nvPr/>
            </p:nvSpPr>
            <p:spPr>
              <a:xfrm>
                <a:off x="1612011" y="2817971"/>
                <a:ext cx="2048906"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Learn from raw data</a:t>
                </a:r>
              </a:p>
            </p:txBody>
          </p:sp>
          <p:sp>
            <p:nvSpPr>
              <p:cNvPr id="10" name="TextBox 10"/>
              <p:cNvSpPr txBox="1"/>
              <p:nvPr/>
            </p:nvSpPr>
            <p:spPr>
              <a:xfrm>
                <a:off x="1613535" y="3117056"/>
                <a:ext cx="316261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no task labels — self-supervised prediction</a:t>
                </a:r>
              </a:p>
            </p:txBody>
          </p:sp>
          <p:sp>
            <p:nvSpPr>
              <p:cNvPr id="11" name="TextBox 11"/>
              <p:cNvSpPr txBox="1"/>
              <p:nvPr/>
            </p:nvSpPr>
            <p:spPr>
              <a:xfrm>
                <a:off x="1613535" y="3307556"/>
                <a:ext cx="130809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of the next token</a:t>
                </a:r>
              </a:p>
            </p:txBody>
          </p:sp>
        </p:grpSp>
        <p:grpSp>
          <p:nvGrpSpPr>
            <p:cNvPr id="17" name="Group 17"/>
            <p:cNvGrpSpPr/>
            <p:nvPr/>
          </p:nvGrpSpPr>
          <p:grpSpPr>
            <a:xfrm>
              <a:off x="990600" y="3638550"/>
              <a:ext cx="4343400" cy="685800"/>
              <a:chOff x="990600" y="3638550"/>
              <a:chExt cx="4343400" cy="685800"/>
            </a:xfrm>
          </p:grpSpPr>
          <p:sp>
            <p:nvSpPr>
              <p:cNvPr id="13" name="Rectangle 13"/>
              <p:cNvSpPr/>
              <p:nvPr/>
            </p:nvSpPr>
            <p:spPr>
              <a:xfrm>
                <a:off x="990600" y="3638550"/>
                <a:ext cx="4343400" cy="685800"/>
              </a:xfrm>
              <a:prstGeom prst="roundRect">
                <a:avLst>
                  <a:gd name="adj" fmla="val 16667"/>
                </a:avLst>
              </a:prstGeom>
              <a:solidFill>
                <a:schemeClr val="lt1"/>
              </a:solidFill>
              <a:ln w="9525">
                <a:solidFill>
                  <a:schemeClr val="accent4"/>
                </a:solidFill>
              </a:ln>
            </p:spPr>
          </p:sp>
          <p:sp>
            <p:nvSpPr>
              <p:cNvPr id="14" name="TextBox 14"/>
              <p:cNvSpPr txBox="1"/>
              <p:nvPr/>
            </p:nvSpPr>
            <p:spPr>
              <a:xfrm>
                <a:off x="1169670" y="3833812"/>
                <a:ext cx="197782"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mn-lt"/>
                    <a:ea typeface="+mn-ea"/>
                    <a:cs typeface="+mn-cs"/>
                  </a:rPr>
                  <a:t>2</a:t>
                </a:r>
              </a:p>
            </p:txBody>
          </p:sp>
          <p:sp>
            <p:nvSpPr>
              <p:cNvPr id="15" name="TextBox 15"/>
              <p:cNvSpPr txBox="1"/>
              <p:nvPr/>
            </p:nvSpPr>
            <p:spPr>
              <a:xfrm>
                <a:off x="1612011" y="3808571"/>
                <a:ext cx="2409173"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General representations</a:t>
                </a:r>
              </a:p>
            </p:txBody>
          </p:sp>
          <p:sp>
            <p:nvSpPr>
              <p:cNvPr id="16" name="TextBox 16"/>
              <p:cNvSpPr txBox="1"/>
              <p:nvPr/>
            </p:nvSpPr>
            <p:spPr>
              <a:xfrm>
                <a:off x="1613535" y="4060031"/>
                <a:ext cx="336616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powerful features emerge directly from data</a:t>
                </a:r>
              </a:p>
            </p:txBody>
          </p:sp>
        </p:grpSp>
        <p:grpSp>
          <p:nvGrpSpPr>
            <p:cNvPr id="22" name="Group 22"/>
            <p:cNvGrpSpPr/>
            <p:nvPr/>
          </p:nvGrpSpPr>
          <p:grpSpPr>
            <a:xfrm>
              <a:off x="990600" y="4438650"/>
              <a:ext cx="4343400" cy="685800"/>
              <a:chOff x="990600" y="4438650"/>
              <a:chExt cx="4343400" cy="685800"/>
            </a:xfrm>
          </p:grpSpPr>
          <p:sp>
            <p:nvSpPr>
              <p:cNvPr id="18" name="Rectangle 18"/>
              <p:cNvSpPr/>
              <p:nvPr/>
            </p:nvSpPr>
            <p:spPr>
              <a:xfrm>
                <a:off x="990600" y="4438650"/>
                <a:ext cx="4343400" cy="685800"/>
              </a:xfrm>
              <a:prstGeom prst="roundRect">
                <a:avLst>
                  <a:gd name="adj" fmla="val 16667"/>
                </a:avLst>
              </a:prstGeom>
              <a:solidFill>
                <a:schemeClr val="lt1"/>
              </a:solidFill>
              <a:ln w="9525">
                <a:solidFill>
                  <a:schemeClr val="accent4"/>
                </a:solidFill>
              </a:ln>
            </p:spPr>
          </p:sp>
          <p:sp>
            <p:nvSpPr>
              <p:cNvPr id="19" name="TextBox 19"/>
              <p:cNvSpPr txBox="1"/>
              <p:nvPr/>
            </p:nvSpPr>
            <p:spPr>
              <a:xfrm>
                <a:off x="1169670" y="4633912"/>
                <a:ext cx="197782"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mn-lt"/>
                    <a:ea typeface="+mn-ea"/>
                    <a:cs typeface="+mn-cs"/>
                  </a:rPr>
                  <a:t>3</a:t>
                </a:r>
              </a:p>
            </p:txBody>
          </p:sp>
          <p:sp>
            <p:nvSpPr>
              <p:cNvPr id="20" name="TextBox 20"/>
              <p:cNvSpPr txBox="1"/>
              <p:nvPr/>
            </p:nvSpPr>
            <p:spPr>
              <a:xfrm>
                <a:off x="1612011" y="4608671"/>
                <a:ext cx="2449717"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Transfer with few labels</a:t>
                </a:r>
              </a:p>
            </p:txBody>
          </p:sp>
          <p:sp>
            <p:nvSpPr>
              <p:cNvPr id="21" name="TextBox 21"/>
              <p:cNvSpPr txBox="1"/>
              <p:nvPr/>
            </p:nvSpPr>
            <p:spPr>
              <a:xfrm>
                <a:off x="1613535" y="4860131"/>
                <a:ext cx="302691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adapt to many downstream tasks cheaply</a:t>
                </a:r>
              </a:p>
            </p:txBody>
          </p:sp>
        </p:grpSp>
        <p:sp>
          <p:nvSpPr>
            <p:cNvPr id="23" name="TextBox 23"/>
            <p:cNvSpPr txBox="1"/>
            <p:nvPr/>
          </p:nvSpPr>
          <p:spPr>
            <a:xfrm>
              <a:off x="984885" y="5403056"/>
              <a:ext cx="3198066" cy="220028"/>
            </a:xfrm>
            <a:prstGeom prst="rect">
              <a:avLst/>
            </a:prstGeom>
            <a:noFill/>
            <a:ln>
              <a:noFill/>
            </a:ln>
          </p:spPr>
          <p:txBody>
            <a:bodyPr wrap="none" lIns="0" tIns="0" rIns="0" bIns="0" anchor="t" anchorCtr="0">
              <a:spAutoFit/>
            </a:bodyPr>
            <a:lstStyle/>
            <a:p>
              <a:pPr algn="l"/>
              <a:r>
                <a:rPr lang="en-US" sz="1120" i="1" dirty="0">
                  <a:solidFill>
                    <a:srgbClr val="7A828E"/>
                  </a:solidFill>
                  <a:latin typeface="+mn-lt"/>
                  <a:ea typeface="+mn-ea"/>
                  <a:cs typeface="+mn-cs"/>
                </a:rPr>
                <a:t>A general-purpose recipe, proven at scale.</a:t>
              </a:r>
            </a:p>
          </p:txBody>
        </p:sp>
      </p:grpSp>
      <p:sp>
        <p:nvSpPr>
          <p:cNvPr id="25" name="TextBox 25"/>
          <p:cNvSpPr txBox="1"/>
          <p:nvPr/>
        </p:nvSpPr>
        <p:spPr>
          <a:xfrm>
            <a:off x="5830795" y="3638550"/>
            <a:ext cx="263709" cy="586740"/>
          </a:xfrm>
          <a:prstGeom prst="rect">
            <a:avLst/>
          </a:prstGeom>
          <a:noFill/>
          <a:ln>
            <a:noFill/>
          </a:ln>
        </p:spPr>
        <p:txBody>
          <a:bodyPr wrap="none" lIns="0" tIns="0" rIns="0" bIns="0" anchor="t" anchorCtr="0">
            <a:spAutoFit/>
          </a:bodyPr>
          <a:lstStyle/>
          <a:p>
            <a:pPr algn="ctr"/>
            <a:r>
              <a:rPr lang="en-US" sz="3000" b="1" dirty="0">
                <a:solidFill>
                  <a:schemeClr val="accent2"/>
                </a:solidFill>
                <a:latin typeface="+mn-lt"/>
                <a:ea typeface="+mn-ea"/>
                <a:cs typeface="+mn-cs"/>
              </a:rPr>
              <a:t>→</a:t>
            </a:r>
          </a:p>
        </p:txBody>
      </p:sp>
      <p:grpSp>
        <p:nvGrpSpPr>
          <p:cNvPr id="40" name="Group 40"/>
          <p:cNvGrpSpPr/>
          <p:nvPr/>
        </p:nvGrpSpPr>
        <p:grpSpPr>
          <a:xfrm>
            <a:off x="6286500" y="1866900"/>
            <a:ext cx="5219700" cy="4038600"/>
            <a:chOff x="6286500" y="1866900"/>
            <a:chExt cx="5219700" cy="4038600"/>
          </a:xfrm>
        </p:grpSpPr>
        <p:sp>
          <p:nvSpPr>
            <p:cNvPr id="26" name="Rectangle 26"/>
            <p:cNvSpPr/>
            <p:nvPr/>
          </p:nvSpPr>
          <p:spPr>
            <a:xfrm>
              <a:off x="6286500" y="1866900"/>
              <a:ext cx="5219700" cy="4038600"/>
            </a:xfrm>
            <a:prstGeom prst="roundRect">
              <a:avLst>
                <a:gd name="adj" fmla="val 3774"/>
              </a:avLst>
            </a:prstGeom>
            <a:solidFill>
              <a:srgbClr val="EAF0FB"/>
            </a:solidFill>
            <a:ln w="9525">
              <a:solidFill>
                <a:srgbClr val="CBD9F7"/>
              </a:solidFill>
            </a:ln>
          </p:spPr>
        </p:sp>
        <p:sp>
          <p:nvSpPr>
            <p:cNvPr id="27" name="TextBox 27"/>
            <p:cNvSpPr txBox="1"/>
            <p:nvPr/>
          </p:nvSpPr>
          <p:spPr>
            <a:xfrm>
              <a:off x="6585585" y="2240756"/>
              <a:ext cx="2519605" cy="220028"/>
            </a:xfrm>
            <a:prstGeom prst="rect">
              <a:avLst/>
            </a:prstGeom>
            <a:noFill/>
            <a:ln>
              <a:noFill/>
            </a:ln>
          </p:spPr>
          <p:txBody>
            <a:bodyPr wrap="none" lIns="0" tIns="0" rIns="0" bIns="0" anchor="t" anchorCtr="0">
              <a:spAutoFit/>
            </a:bodyPr>
            <a:lstStyle/>
            <a:p>
              <a:pPr algn="l"/>
              <a:r>
                <a:rPr lang="en-US" sz="1120" b="1" spc="75" dirty="0">
                  <a:solidFill>
                    <a:schemeClr val="accent2"/>
                  </a:solidFill>
                  <a:latin typeface="+mn-lt"/>
                  <a:ea typeface="+mn-ea"/>
                  <a:cs typeface="+mn-cs"/>
                </a:rPr>
                <a:t>THE QUESTION FOR THE BRAIN</a:t>
              </a:r>
            </a:p>
          </p:txBody>
        </p:sp>
        <p:sp>
          <p:nvSpPr>
            <p:cNvPr id="28" name="TextBox 28"/>
            <p:cNvSpPr txBox="1"/>
            <p:nvPr/>
          </p:nvSpPr>
          <p:spPr>
            <a:xfrm>
              <a:off x="6581394" y="2570798"/>
              <a:ext cx="3694772" cy="381381"/>
            </a:xfrm>
            <a:prstGeom prst="rect">
              <a:avLst/>
            </a:prstGeom>
            <a:noFill/>
            <a:ln>
              <a:noFill/>
            </a:ln>
          </p:spPr>
          <p:txBody>
            <a:bodyPr wrap="none" lIns="0" tIns="0" rIns="0" bIns="0" anchor="t" anchorCtr="0">
              <a:spAutoFit/>
            </a:bodyPr>
            <a:lstStyle/>
            <a:p>
              <a:pPr algn="l"/>
              <a:r>
                <a:rPr lang="en-US" sz="1950" b="1" dirty="0">
                  <a:solidFill>
                    <a:schemeClr val="dk1"/>
                  </a:solidFill>
                  <a:latin typeface="+mn-lt"/>
                  <a:ea typeface="+mn-ea"/>
                  <a:cs typeface="+mn-cs"/>
                </a:rPr>
                <a:t>Reframe spike analysis as a</a:t>
              </a:r>
            </a:p>
          </p:txBody>
        </p:sp>
        <p:sp>
          <p:nvSpPr>
            <p:cNvPr id="29" name="TextBox 29"/>
            <p:cNvSpPr txBox="1"/>
            <p:nvPr/>
          </p:nvSpPr>
          <p:spPr>
            <a:xfrm>
              <a:off x="6581394" y="2875598"/>
              <a:ext cx="4209456" cy="381381"/>
            </a:xfrm>
            <a:prstGeom prst="rect">
              <a:avLst/>
            </a:prstGeom>
            <a:noFill/>
            <a:ln>
              <a:noFill/>
            </a:ln>
          </p:spPr>
          <p:txBody>
            <a:bodyPr wrap="none" lIns="0" tIns="0" rIns="0" bIns="0" anchor="t" anchorCtr="0">
              <a:spAutoFit/>
            </a:bodyPr>
            <a:lstStyle/>
            <a:p>
              <a:pPr algn="l"/>
              <a:r>
                <a:rPr lang="en-US" sz="1950" b="1" dirty="0">
                  <a:solidFill>
                    <a:schemeClr val="dk1"/>
                  </a:solidFill>
                  <a:latin typeface="+mn-lt"/>
                  <a:ea typeface="+mn-ea"/>
                  <a:cs typeface="+mn-cs"/>
                </a:rPr>
                <a:t>generative prediction problem?</a:t>
              </a:r>
            </a:p>
          </p:txBody>
        </p:sp>
        <p:sp>
          <p:nvSpPr>
            <p:cNvPr id="30" name="TextBox 30"/>
            <p:cNvSpPr txBox="1"/>
            <p:nvPr/>
          </p:nvSpPr>
          <p:spPr>
            <a:xfrm>
              <a:off x="6584823" y="3291364"/>
              <a:ext cx="3413536"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If yes, one self-supervised model could:</a:t>
              </a:r>
            </a:p>
          </p:txBody>
        </p:sp>
        <p:grpSp>
          <p:nvGrpSpPr>
            <p:cNvPr id="33" name="Group 33"/>
            <p:cNvGrpSpPr/>
            <p:nvPr/>
          </p:nvGrpSpPr>
          <p:grpSpPr>
            <a:xfrm>
              <a:off x="6591300" y="3657600"/>
              <a:ext cx="4610100" cy="533400"/>
              <a:chOff x="6591300" y="3657600"/>
              <a:chExt cx="4610100" cy="533400"/>
            </a:xfrm>
          </p:grpSpPr>
          <p:sp>
            <p:nvSpPr>
              <p:cNvPr id="31" name="Rectangle 31"/>
              <p:cNvSpPr/>
              <p:nvPr/>
            </p:nvSpPr>
            <p:spPr>
              <a:xfrm>
                <a:off x="6591300" y="3657600"/>
                <a:ext cx="4610100" cy="533400"/>
              </a:xfrm>
              <a:prstGeom prst="roundRect">
                <a:avLst>
                  <a:gd name="adj" fmla="val 17857"/>
                </a:avLst>
              </a:prstGeom>
              <a:solidFill>
                <a:schemeClr val="lt1"/>
              </a:solidFill>
              <a:ln w="9525">
                <a:solidFill>
                  <a:srgbClr val="CBD9F7"/>
                </a:solidFill>
              </a:ln>
            </p:spPr>
          </p:sp>
          <p:sp>
            <p:nvSpPr>
              <p:cNvPr id="32" name="TextBox 32"/>
              <p:cNvSpPr txBox="1"/>
              <p:nvPr/>
            </p:nvSpPr>
            <p:spPr>
              <a:xfrm>
                <a:off x="6774942" y="3845242"/>
                <a:ext cx="3626666"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Scale</a:t>
                </a:r>
                <a:r>
                  <a:rPr lang="en-US" sz="1350" b="1" dirty="0">
                    <a:solidFill>
                      <a:schemeClr val="dk1"/>
                    </a:solidFill>
                    <a:latin typeface="+mn-lt"/>
                    <a:ea typeface="+mn-ea"/>
                    <a:cs typeface="+mn-cs"/>
                  </a:rPr>
                  <a:t xml:space="preserve"> to large, high-neuron recordings</a:t>
                </a:r>
              </a:p>
            </p:txBody>
          </p:sp>
        </p:grpSp>
        <p:grpSp>
          <p:nvGrpSpPr>
            <p:cNvPr id="36" name="Group 36"/>
            <p:cNvGrpSpPr/>
            <p:nvPr/>
          </p:nvGrpSpPr>
          <p:grpSpPr>
            <a:xfrm>
              <a:off x="6591300" y="4305300"/>
              <a:ext cx="4610100" cy="533400"/>
              <a:chOff x="6591300" y="4305300"/>
              <a:chExt cx="4610100" cy="533400"/>
            </a:xfrm>
          </p:grpSpPr>
          <p:sp>
            <p:nvSpPr>
              <p:cNvPr id="34" name="Rectangle 34"/>
              <p:cNvSpPr/>
              <p:nvPr/>
            </p:nvSpPr>
            <p:spPr>
              <a:xfrm>
                <a:off x="6591300" y="4305300"/>
                <a:ext cx="4610100" cy="533400"/>
              </a:xfrm>
              <a:prstGeom prst="roundRect">
                <a:avLst>
                  <a:gd name="adj" fmla="val 17857"/>
                </a:avLst>
              </a:prstGeom>
              <a:solidFill>
                <a:schemeClr val="lt1"/>
              </a:solidFill>
              <a:ln w="9525">
                <a:solidFill>
                  <a:srgbClr val="CBD9F7"/>
                </a:solidFill>
              </a:ln>
            </p:spPr>
          </p:sp>
          <p:sp>
            <p:nvSpPr>
              <p:cNvPr id="35" name="TextBox 35"/>
              <p:cNvSpPr txBox="1"/>
              <p:nvPr/>
            </p:nvSpPr>
            <p:spPr>
              <a:xfrm>
                <a:off x="6774942" y="4492942"/>
                <a:ext cx="3655146"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Fuse</a:t>
                </a:r>
                <a:r>
                  <a:rPr lang="en-US" sz="1350" b="1" dirty="0">
                    <a:solidFill>
                      <a:schemeClr val="dk1"/>
                    </a:solidFill>
                    <a:latin typeface="+mn-lt"/>
                    <a:ea typeface="+mn-ea"/>
                    <a:cs typeface="+mn-cs"/>
                  </a:rPr>
                  <a:t xml:space="preserve"> an arbitrary number of modalities</a:t>
                </a:r>
              </a:p>
            </p:txBody>
          </p:sp>
        </p:grpSp>
        <p:grpSp>
          <p:nvGrpSpPr>
            <p:cNvPr id="39" name="Group 39"/>
            <p:cNvGrpSpPr/>
            <p:nvPr/>
          </p:nvGrpSpPr>
          <p:grpSpPr>
            <a:xfrm>
              <a:off x="6591300" y="4953000"/>
              <a:ext cx="4610100" cy="533400"/>
              <a:chOff x="6591300" y="4953000"/>
              <a:chExt cx="4610100" cy="533400"/>
            </a:xfrm>
          </p:grpSpPr>
          <p:sp>
            <p:nvSpPr>
              <p:cNvPr id="37" name="Rectangle 37"/>
              <p:cNvSpPr/>
              <p:nvPr/>
            </p:nvSpPr>
            <p:spPr>
              <a:xfrm>
                <a:off x="6591300" y="4953000"/>
                <a:ext cx="4610100" cy="533400"/>
              </a:xfrm>
              <a:prstGeom prst="roundRect">
                <a:avLst>
                  <a:gd name="adj" fmla="val 17857"/>
                </a:avLst>
              </a:prstGeom>
              <a:solidFill>
                <a:schemeClr val="lt1"/>
              </a:solidFill>
              <a:ln w="9525">
                <a:solidFill>
                  <a:srgbClr val="CBD9F7"/>
                </a:solidFill>
              </a:ln>
            </p:spPr>
          </p:sp>
          <p:sp>
            <p:nvSpPr>
              <p:cNvPr id="38" name="TextBox 38"/>
              <p:cNvSpPr txBox="1"/>
              <p:nvPr/>
            </p:nvSpPr>
            <p:spPr>
              <a:xfrm>
                <a:off x="6774942" y="5140642"/>
                <a:ext cx="2824934"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Transfer</a:t>
                </a:r>
                <a:r>
                  <a:rPr lang="en-US" sz="1350" b="1" dirty="0">
                    <a:solidFill>
                      <a:schemeClr val="dk1"/>
                    </a:solidFill>
                    <a:latin typeface="+mn-lt"/>
                    <a:ea typeface="+mn-ea"/>
                    <a:cs typeface="+mn-cs"/>
                  </a:rPr>
                  <a:t xml:space="preserve"> to behavior decoding</a:t>
                </a:r>
              </a:p>
            </p:txBody>
          </p:sp>
        </p:grpSp>
      </p:grpSp>
      <p:sp>
        <p:nvSpPr>
          <p:cNvPr id="41" name="TextBox 41"/>
          <p:cNvSpPr txBox="1"/>
          <p:nvPr/>
        </p:nvSpPr>
        <p:spPr>
          <a:xfrm>
            <a:off x="680847" y="6505099"/>
            <a:ext cx="1602745" cy="190690"/>
          </a:xfrm>
          <a:prstGeom prst="rect">
            <a:avLst/>
          </a:prstGeom>
          <a:noFill/>
          <a:ln>
            <a:noFill/>
          </a:ln>
        </p:spPr>
        <p:txBody>
          <a:bodyPr wrap="none" lIns="0" tIns="0" rIns="0" bIns="0" anchor="t" anchorCtr="0">
            <a:spAutoFit/>
          </a:bodyPr>
          <a:lstStyle/>
          <a:p>
            <a:pPr algn="l"/>
            <a:r>
              <a:rPr lang="en-US" sz="980" dirty="0">
                <a:solidFill>
                  <a:srgbClr val="9AA1AC"/>
                </a:solidFill>
                <a:latin typeface="+mn-lt"/>
                <a:ea typeface="+mn-ea"/>
                <a:cs typeface="+mn-cs"/>
              </a:rPr>
              <a:t>Neuroformer · ICLR 2024</a:t>
            </a:r>
          </a:p>
        </p:txBody>
      </p:sp>
      <p:sp>
        <p:nvSpPr>
          <p:cNvPr id="42" name="TextBox 42"/>
          <p:cNvSpPr txBox="1"/>
          <p:nvPr/>
        </p:nvSpPr>
        <p:spPr>
          <a:xfrm>
            <a:off x="11059290" y="6505099"/>
            <a:ext cx="451863" cy="190690"/>
          </a:xfrm>
          <a:prstGeom prst="rect">
            <a:avLst/>
          </a:prstGeom>
          <a:noFill/>
          <a:ln>
            <a:noFill/>
          </a:ln>
        </p:spPr>
        <p:txBody>
          <a:bodyPr wrap="none" lIns="0" tIns="0" rIns="0" bIns="0" anchor="t" anchorCtr="0">
            <a:spAutoFit/>
          </a:bodyPr>
          <a:lstStyle/>
          <a:p>
            <a:pPr algn="r"/>
            <a:r>
              <a:rPr lang="en-US" sz="980" dirty="0">
                <a:solidFill>
                  <a:srgbClr val="9AA1AC"/>
                </a:solidFill>
                <a:latin typeface="+mn-lt"/>
                <a:ea typeface="+mn-ea"/>
                <a:cs typeface="+mn-cs"/>
              </a:rPr>
              <a:t>03 / 10</a:t>
            </a:r>
          </a:p>
        </p:txBody>
      </p:sp>
      <p:sp>
        <p:nvSpPr>
          <p:cNvPr id="43" name="cue_s03_c1_large_pretrained_models_vision_langu" title="cue_s03_c1_large_pretrained_models_vision_langu" descr="cue_s03_c1_large_pretrained_models_vision_langu Large pretrained models in vision and language point a way forward: they learn general representations self-supervised from raw data, then transfer with little labeling."/>
          <p:cNvSpPr/>
          <p:nvPr/>
        </p:nvSpPr>
        <p:spPr>
          <a:xfrm>
            <a:off x="686409" y="1866747"/>
            <a:ext cx="4952390" cy="40386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3_c2_authors_ask_whether_reframing_spike" title="cue_s03_c2_authors_ask_whether_reframing_spike" descr="cue_s03_c2_authors_ask_whether_reframing_spike The authors ask whether reframing spike analysis as generative prediction can likewise scale, fuse modalities, and transfer to behavior decoding."/>
          <p:cNvSpPr/>
          <p:nvPr/>
        </p:nvSpPr>
        <p:spPr>
          <a:xfrm>
            <a:off x="6286195" y="1866747"/>
            <a:ext cx="5219395" cy="40386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80085" y="678656"/>
            <a:ext cx="1729974" cy="220028"/>
          </a:xfrm>
          <a:prstGeom prst="rect">
            <a:avLst/>
          </a:prstGeom>
          <a:noFill/>
          <a:ln>
            <a:noFill/>
          </a:ln>
        </p:spPr>
        <p:txBody>
          <a:bodyPr wrap="none" lIns="0" tIns="0" rIns="0" bIns="0" anchor="t" anchorCtr="0">
            <a:spAutoFit/>
          </a:bodyPr>
          <a:lstStyle/>
          <a:p>
            <a:pPr algn="l"/>
            <a:r>
              <a:rPr lang="en-US" sz="1120" b="1" spc="112" dirty="0">
                <a:solidFill>
                  <a:schemeClr val="accent1"/>
                </a:solidFill>
                <a:latin typeface="+mn-lt"/>
                <a:ea typeface="+mn-ea"/>
                <a:cs typeface="+mn-cs"/>
              </a:rPr>
              <a:t>04 · CONTRIBUTION</a:t>
            </a:r>
          </a:p>
        </p:txBody>
      </p:sp>
      <p:sp>
        <p:nvSpPr>
          <p:cNvPr id="3" name="TextBox 3"/>
          <p:cNvSpPr txBox="1"/>
          <p:nvPr/>
        </p:nvSpPr>
        <p:spPr>
          <a:xfrm>
            <a:off x="670560" y="914400"/>
            <a:ext cx="3923484"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Four contributions</a:t>
            </a:r>
          </a:p>
        </p:txBody>
      </p:sp>
      <p:sp>
        <p:nvSpPr>
          <p:cNvPr id="4" name="Rectangle 4"/>
          <p:cNvSpPr/>
          <p:nvPr/>
        </p:nvSpPr>
        <p:spPr>
          <a:xfrm>
            <a:off x="685800" y="1409700"/>
            <a:ext cx="609600" cy="38100"/>
          </a:xfrm>
          <a:prstGeom prst="roundRect">
            <a:avLst>
              <a:gd name="adj" fmla="val 50000"/>
            </a:avLst>
          </a:prstGeom>
          <a:solidFill>
            <a:schemeClr val="accent1"/>
          </a:solidFill>
          <a:ln>
            <a:noFill/>
          </a:ln>
        </p:spPr>
        <p:txBody>
          <a:bodyPr/>
          <a:p/>
        </p:txBody>
      </p:sp>
      <p:grpSp>
        <p:nvGrpSpPr>
          <p:cNvPr id="12" name="Group 12"/>
          <p:cNvGrpSpPr/>
          <p:nvPr/>
        </p:nvGrpSpPr>
        <p:grpSpPr>
          <a:xfrm>
            <a:off x="685800" y="1866900"/>
            <a:ext cx="5219700" cy="1905000"/>
            <a:chOff x="685800" y="1866900"/>
            <a:chExt cx="5219700" cy="1905000"/>
          </a:xfrm>
        </p:grpSpPr>
        <p:sp>
          <p:nvSpPr>
            <p:cNvPr id="5" name="Rectangle 5"/>
            <p:cNvSpPr/>
            <p:nvPr/>
          </p:nvSpPr>
          <p:spPr>
            <a:xfrm>
              <a:off x="685800" y="1866900"/>
              <a:ext cx="5219700" cy="1905000"/>
            </a:xfrm>
            <a:prstGeom prst="roundRect">
              <a:avLst>
                <a:gd name="adj" fmla="val 8000"/>
              </a:avLst>
            </a:prstGeom>
            <a:solidFill>
              <a:schemeClr val="lt2"/>
            </a:solidFill>
            <a:ln w="9525">
              <a:solidFill>
                <a:schemeClr val="accent4"/>
              </a:solidFill>
            </a:ln>
          </p:spPr>
        </p:sp>
        <p:sp>
          <p:nvSpPr>
            <p:cNvPr id="6" name="Rectangle 6"/>
            <p:cNvSpPr/>
            <p:nvPr/>
          </p:nvSpPr>
          <p:spPr>
            <a:xfrm>
              <a:off x="685800" y="1866900"/>
              <a:ext cx="76200" cy="1905000"/>
            </a:xfrm>
            <a:prstGeom prst="roundRect">
              <a:avLst>
                <a:gd name="adj" fmla="val 50000"/>
              </a:avLst>
            </a:prstGeom>
            <a:solidFill>
              <a:schemeClr val="accent1"/>
            </a:solidFill>
            <a:ln>
              <a:noFill/>
            </a:ln>
          </p:spPr>
        </p:sp>
        <p:sp>
          <p:nvSpPr>
            <p:cNvPr id="7" name="TextBox 7"/>
            <p:cNvSpPr txBox="1"/>
            <p:nvPr/>
          </p:nvSpPr>
          <p:spPr>
            <a:xfrm>
              <a:off x="977646" y="2086928"/>
              <a:ext cx="224153"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n-lt"/>
                  <a:ea typeface="+mn-ea"/>
                  <a:cs typeface="+mn-cs"/>
                </a:rPr>
                <a:t>1</a:t>
              </a:r>
            </a:p>
          </p:txBody>
        </p:sp>
        <p:sp>
          <p:nvSpPr>
            <p:cNvPr id="8" name="TextBox 8"/>
            <p:cNvSpPr txBox="1"/>
            <p:nvPr/>
          </p:nvSpPr>
          <p:spPr>
            <a:xfrm>
              <a:off x="1420749" y="2192179"/>
              <a:ext cx="2256371"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Spikes as generation</a:t>
              </a:r>
            </a:p>
          </p:txBody>
        </p:sp>
        <p:sp>
          <p:nvSpPr>
            <p:cNvPr id="9" name="TextBox 9"/>
            <p:cNvSpPr txBox="1"/>
            <p:nvPr/>
          </p:nvSpPr>
          <p:spPr>
            <a:xfrm>
              <a:off x="984123" y="2643664"/>
              <a:ext cx="3593931"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Reframes spike analysis as autoregressive</a:t>
              </a:r>
            </a:p>
          </p:txBody>
        </p:sp>
        <p:sp>
          <p:nvSpPr>
            <p:cNvPr id="10" name="TextBox 10"/>
            <p:cNvSpPr txBox="1"/>
            <p:nvPr/>
          </p:nvSpPr>
          <p:spPr>
            <a:xfrm>
              <a:off x="984123" y="2872264"/>
              <a:ext cx="2390882"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spatiotemporal generation —</a:t>
              </a:r>
            </a:p>
          </p:txBody>
        </p:sp>
        <p:sp>
          <p:nvSpPr>
            <p:cNvPr id="11" name="TextBox 11"/>
            <p:cNvSpPr txBox="1"/>
            <p:nvPr/>
          </p:nvSpPr>
          <p:spPr>
            <a:xfrm>
              <a:off x="984123" y="3100864"/>
              <a:ext cx="3595354"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trained fully self-supervised, no labels.</a:t>
              </a:r>
            </a:p>
          </p:txBody>
        </p:sp>
      </p:grpSp>
      <p:grpSp>
        <p:nvGrpSpPr>
          <p:cNvPr id="20" name="Group 20"/>
          <p:cNvGrpSpPr/>
          <p:nvPr/>
        </p:nvGrpSpPr>
        <p:grpSpPr>
          <a:xfrm>
            <a:off x="6286500" y="1866900"/>
            <a:ext cx="5219700" cy="1905000"/>
            <a:chOff x="6286500" y="1866900"/>
            <a:chExt cx="5219700" cy="1905000"/>
          </a:xfrm>
        </p:grpSpPr>
        <p:sp>
          <p:nvSpPr>
            <p:cNvPr id="13" name="Rectangle 13"/>
            <p:cNvSpPr/>
            <p:nvPr/>
          </p:nvSpPr>
          <p:spPr>
            <a:xfrm>
              <a:off x="6286500" y="1866900"/>
              <a:ext cx="5219700" cy="1905000"/>
            </a:xfrm>
            <a:prstGeom prst="roundRect">
              <a:avLst>
                <a:gd name="adj" fmla="val 8000"/>
              </a:avLst>
            </a:prstGeom>
            <a:solidFill>
              <a:schemeClr val="lt2"/>
            </a:solidFill>
            <a:ln w="9525">
              <a:solidFill>
                <a:schemeClr val="accent4"/>
              </a:solidFill>
            </a:ln>
          </p:spPr>
        </p:sp>
        <p:sp>
          <p:nvSpPr>
            <p:cNvPr id="14" name="Rectangle 14"/>
            <p:cNvSpPr/>
            <p:nvPr/>
          </p:nvSpPr>
          <p:spPr>
            <a:xfrm>
              <a:off x="6286500" y="1866900"/>
              <a:ext cx="76200" cy="1905000"/>
            </a:xfrm>
            <a:prstGeom prst="roundRect">
              <a:avLst>
                <a:gd name="adj" fmla="val 50000"/>
              </a:avLst>
            </a:prstGeom>
            <a:solidFill>
              <a:schemeClr val="accent2"/>
            </a:solidFill>
            <a:ln>
              <a:noFill/>
            </a:ln>
          </p:spPr>
        </p:sp>
        <p:sp>
          <p:nvSpPr>
            <p:cNvPr id="15" name="TextBox 15"/>
            <p:cNvSpPr txBox="1"/>
            <p:nvPr/>
          </p:nvSpPr>
          <p:spPr>
            <a:xfrm>
              <a:off x="6578346" y="2086928"/>
              <a:ext cx="224153" cy="498729"/>
            </a:xfrm>
            <a:prstGeom prst="rect">
              <a:avLst/>
            </a:prstGeom>
            <a:noFill/>
            <a:ln>
              <a:noFill/>
            </a:ln>
          </p:spPr>
          <p:txBody>
            <a:bodyPr wrap="none" lIns="0" tIns="0" rIns="0" bIns="0" anchor="t" anchorCtr="0">
              <a:spAutoFit/>
            </a:bodyPr>
            <a:lstStyle/>
            <a:p>
              <a:pPr algn="l"/>
              <a:r>
                <a:rPr lang="en-US" sz="2550" b="1" dirty="0">
                  <a:solidFill>
                    <a:schemeClr val="accent2"/>
                  </a:solidFill>
                  <a:latin typeface="+mn-lt"/>
                  <a:ea typeface="+mn-ea"/>
                  <a:cs typeface="+mn-cs"/>
                </a:rPr>
                <a:t>2</a:t>
              </a:r>
            </a:p>
          </p:txBody>
        </p:sp>
        <p:sp>
          <p:nvSpPr>
            <p:cNvPr id="16" name="TextBox 16"/>
            <p:cNvSpPr txBox="1"/>
            <p:nvPr/>
          </p:nvSpPr>
          <p:spPr>
            <a:xfrm>
              <a:off x="7021449" y="2192179"/>
              <a:ext cx="2323201"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Linear-scaling fusion</a:t>
              </a:r>
            </a:p>
          </p:txBody>
        </p:sp>
        <p:sp>
          <p:nvSpPr>
            <p:cNvPr id="17" name="TextBox 17"/>
            <p:cNvSpPr txBox="1"/>
            <p:nvPr/>
          </p:nvSpPr>
          <p:spPr>
            <a:xfrm>
              <a:off x="6584823" y="2643664"/>
              <a:ext cx="2551478"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Cross-attention design scales</a:t>
              </a:r>
            </a:p>
          </p:txBody>
        </p:sp>
        <p:sp>
          <p:nvSpPr>
            <p:cNvPr id="18" name="TextBox 18"/>
            <p:cNvSpPr txBox="1"/>
            <p:nvPr/>
          </p:nvSpPr>
          <p:spPr>
            <a:xfrm>
              <a:off x="6584823" y="2872264"/>
              <a:ext cx="2274570"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linearly with feature size</a:t>
              </a:r>
            </a:p>
          </p:txBody>
        </p:sp>
        <p:sp>
          <p:nvSpPr>
            <p:cNvPr id="19" name="TextBox 19"/>
            <p:cNvSpPr txBox="1"/>
            <p:nvPr/>
          </p:nvSpPr>
          <p:spPr>
            <a:xfrm>
              <a:off x="6584823" y="3100864"/>
              <a:ext cx="3821085"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and fuses an arbitrary number of modalities.</a:t>
              </a:r>
            </a:p>
          </p:txBody>
        </p:sp>
      </p:grpSp>
      <p:grpSp>
        <p:nvGrpSpPr>
          <p:cNvPr id="28" name="Group 28"/>
          <p:cNvGrpSpPr/>
          <p:nvPr/>
        </p:nvGrpSpPr>
        <p:grpSpPr>
          <a:xfrm>
            <a:off x="685800" y="4000500"/>
            <a:ext cx="5219700" cy="1905000"/>
            <a:chOff x="685800" y="4000500"/>
            <a:chExt cx="5219700" cy="1905000"/>
          </a:xfrm>
        </p:grpSpPr>
        <p:sp>
          <p:nvSpPr>
            <p:cNvPr id="21" name="Rectangle 21"/>
            <p:cNvSpPr/>
            <p:nvPr/>
          </p:nvSpPr>
          <p:spPr>
            <a:xfrm>
              <a:off x="685800" y="4000500"/>
              <a:ext cx="5219700" cy="1905000"/>
            </a:xfrm>
            <a:prstGeom prst="roundRect">
              <a:avLst>
                <a:gd name="adj" fmla="val 8000"/>
              </a:avLst>
            </a:prstGeom>
            <a:solidFill>
              <a:schemeClr val="lt2"/>
            </a:solidFill>
            <a:ln w="9525">
              <a:solidFill>
                <a:schemeClr val="accent4"/>
              </a:solidFill>
            </a:ln>
          </p:spPr>
        </p:sp>
        <p:sp>
          <p:nvSpPr>
            <p:cNvPr id="22" name="Rectangle 22"/>
            <p:cNvSpPr/>
            <p:nvPr/>
          </p:nvSpPr>
          <p:spPr>
            <a:xfrm>
              <a:off x="685800" y="4000500"/>
              <a:ext cx="76200" cy="1905000"/>
            </a:xfrm>
            <a:prstGeom prst="roundRect">
              <a:avLst>
                <a:gd name="adj" fmla="val 50000"/>
              </a:avLst>
            </a:prstGeom>
            <a:solidFill>
              <a:schemeClr val="accent1"/>
            </a:solidFill>
            <a:ln>
              <a:noFill/>
            </a:ln>
          </p:spPr>
        </p:sp>
        <p:sp>
          <p:nvSpPr>
            <p:cNvPr id="23" name="TextBox 23"/>
            <p:cNvSpPr txBox="1"/>
            <p:nvPr/>
          </p:nvSpPr>
          <p:spPr>
            <a:xfrm>
              <a:off x="977646" y="4220528"/>
              <a:ext cx="224153"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n-lt"/>
                  <a:ea typeface="+mn-ea"/>
                  <a:cs typeface="+mn-cs"/>
                </a:rPr>
                <a:t>3</a:t>
              </a:r>
            </a:p>
          </p:txBody>
        </p:sp>
        <p:sp>
          <p:nvSpPr>
            <p:cNvPr id="24" name="TextBox 24"/>
            <p:cNvSpPr txBox="1"/>
            <p:nvPr/>
          </p:nvSpPr>
          <p:spPr>
            <a:xfrm>
              <a:off x="1420749" y="4325779"/>
              <a:ext cx="2434842"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Recovers connectivity</a:t>
              </a:r>
            </a:p>
          </p:txBody>
        </p:sp>
        <p:sp>
          <p:nvSpPr>
            <p:cNvPr id="25" name="TextBox 25"/>
            <p:cNvSpPr txBox="1"/>
            <p:nvPr/>
          </p:nvSpPr>
          <p:spPr>
            <a:xfrm>
              <a:off x="984123" y="4777264"/>
              <a:ext cx="3362145"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On a network with known ground truth,</a:t>
              </a:r>
            </a:p>
          </p:txBody>
        </p:sp>
        <p:sp>
          <p:nvSpPr>
            <p:cNvPr id="26" name="TextBox 26"/>
            <p:cNvSpPr txBox="1"/>
            <p:nvPr/>
          </p:nvSpPr>
          <p:spPr>
            <a:xfrm>
              <a:off x="984123" y="5005864"/>
              <a:ext cx="3829700"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attention maps recover the directed circuit,</a:t>
              </a:r>
            </a:p>
          </p:txBody>
        </p:sp>
        <p:sp>
          <p:nvSpPr>
            <p:cNvPr id="27" name="TextBox 27"/>
            <p:cNvSpPr txBox="1"/>
            <p:nvPr/>
          </p:nvSpPr>
          <p:spPr>
            <a:xfrm>
              <a:off x="984123" y="5234464"/>
              <a:ext cx="3676772"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including hub neurons correlation misses.</a:t>
              </a:r>
            </a:p>
          </p:txBody>
        </p:sp>
      </p:grpSp>
      <p:grpSp>
        <p:nvGrpSpPr>
          <p:cNvPr id="37" name="Group 37"/>
          <p:cNvGrpSpPr/>
          <p:nvPr/>
        </p:nvGrpSpPr>
        <p:grpSpPr>
          <a:xfrm>
            <a:off x="6286500" y="4000500"/>
            <a:ext cx="5219700" cy="1905000"/>
            <a:chOff x="6286500" y="4000500"/>
            <a:chExt cx="5219700" cy="1905000"/>
          </a:xfrm>
        </p:grpSpPr>
        <p:sp>
          <p:nvSpPr>
            <p:cNvPr id="29" name="Rectangle 29"/>
            <p:cNvSpPr/>
            <p:nvPr/>
          </p:nvSpPr>
          <p:spPr>
            <a:xfrm>
              <a:off x="6286500" y="4000500"/>
              <a:ext cx="5219700" cy="1905000"/>
            </a:xfrm>
            <a:prstGeom prst="roundRect">
              <a:avLst>
                <a:gd name="adj" fmla="val 8000"/>
              </a:avLst>
            </a:prstGeom>
            <a:solidFill>
              <a:schemeClr val="lt2"/>
            </a:solidFill>
            <a:ln w="9525">
              <a:solidFill>
                <a:schemeClr val="accent4"/>
              </a:solidFill>
            </a:ln>
          </p:spPr>
        </p:sp>
        <p:sp>
          <p:nvSpPr>
            <p:cNvPr id="30" name="Rectangle 30"/>
            <p:cNvSpPr/>
            <p:nvPr/>
          </p:nvSpPr>
          <p:spPr>
            <a:xfrm>
              <a:off x="6286500" y="4000500"/>
              <a:ext cx="76200" cy="1905000"/>
            </a:xfrm>
            <a:prstGeom prst="roundRect">
              <a:avLst>
                <a:gd name="adj" fmla="val 50000"/>
              </a:avLst>
            </a:prstGeom>
            <a:solidFill>
              <a:schemeClr val="accent3"/>
            </a:solidFill>
            <a:ln>
              <a:noFill/>
            </a:ln>
          </p:spPr>
        </p:sp>
        <p:sp>
          <p:nvSpPr>
            <p:cNvPr id="31" name="TextBox 31"/>
            <p:cNvSpPr txBox="1"/>
            <p:nvPr/>
          </p:nvSpPr>
          <p:spPr>
            <a:xfrm>
              <a:off x="6578346" y="4220528"/>
              <a:ext cx="224153" cy="498729"/>
            </a:xfrm>
            <a:prstGeom prst="rect">
              <a:avLst/>
            </a:prstGeom>
            <a:noFill/>
            <a:ln>
              <a:noFill/>
            </a:ln>
          </p:spPr>
          <p:txBody>
            <a:bodyPr wrap="none" lIns="0" tIns="0" rIns="0" bIns="0" anchor="t" anchorCtr="0">
              <a:spAutoFit/>
            </a:bodyPr>
            <a:lstStyle/>
            <a:p>
              <a:pPr algn="l"/>
              <a:r>
                <a:rPr lang="en-US" sz="2550" b="1" dirty="0">
                  <a:solidFill>
                    <a:schemeClr val="accent3"/>
                  </a:solidFill>
                  <a:latin typeface="+mn-lt"/>
                  <a:ea typeface="+mn-ea"/>
                  <a:cs typeface="+mn-cs"/>
                </a:rPr>
                <a:t>4</a:t>
              </a:r>
            </a:p>
          </p:txBody>
        </p:sp>
        <p:sp>
          <p:nvSpPr>
            <p:cNvPr id="32" name="TextBox 32"/>
            <p:cNvSpPr txBox="1"/>
            <p:nvPr/>
          </p:nvSpPr>
          <p:spPr>
            <a:xfrm>
              <a:off x="7021449" y="4325779"/>
              <a:ext cx="2435201"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Transfers to behavior</a:t>
              </a:r>
            </a:p>
          </p:txBody>
        </p:sp>
        <p:sp>
          <p:nvSpPr>
            <p:cNvPr id="33" name="TextBox 33"/>
            <p:cNvSpPr txBox="1"/>
            <p:nvPr/>
          </p:nvSpPr>
          <p:spPr>
            <a:xfrm>
              <a:off x="6584823" y="4777264"/>
              <a:ext cx="3206576"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Once pretrained on neural responses,</a:t>
              </a:r>
            </a:p>
          </p:txBody>
        </p:sp>
        <p:sp>
          <p:nvSpPr>
            <p:cNvPr id="34" name="TextBox 34"/>
            <p:cNvSpPr txBox="1"/>
            <p:nvPr/>
          </p:nvSpPr>
          <p:spPr>
            <a:xfrm>
              <a:off x="6584823" y="5005864"/>
              <a:ext cx="3432517"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decodes mouse behavior with few-shot</a:t>
              </a:r>
            </a:p>
          </p:txBody>
        </p:sp>
        <p:sp>
          <p:nvSpPr>
            <p:cNvPr id="35" name="TextBox 35"/>
            <p:cNvSpPr txBox="1"/>
            <p:nvPr/>
          </p:nvSpPr>
          <p:spPr>
            <a:xfrm>
              <a:off x="6584823" y="5234464"/>
              <a:ext cx="1017112"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fine-tuning</a:t>
              </a:r>
            </a:p>
          </p:txBody>
        </p:sp>
        <p:sp>
          <p:nvSpPr>
            <p:cNvPr id="36" name="TextBox 36"/>
            <p:cNvSpPr txBox="1"/>
            <p:nvPr/>
          </p:nvSpPr>
          <p:spPr>
            <a:xfrm>
              <a:off x="7727823" y="5234464"/>
              <a:ext cx="2132411"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 no explicit supervision.</a:t>
              </a:r>
            </a:p>
          </p:txBody>
        </p:sp>
      </p:grpSp>
      <p:sp>
        <p:nvSpPr>
          <p:cNvPr id="38" name="TextBox 38"/>
          <p:cNvSpPr txBox="1"/>
          <p:nvPr/>
        </p:nvSpPr>
        <p:spPr>
          <a:xfrm>
            <a:off x="680847" y="6505099"/>
            <a:ext cx="1602745" cy="190690"/>
          </a:xfrm>
          <a:prstGeom prst="rect">
            <a:avLst/>
          </a:prstGeom>
          <a:noFill/>
          <a:ln>
            <a:noFill/>
          </a:ln>
        </p:spPr>
        <p:txBody>
          <a:bodyPr wrap="none" lIns="0" tIns="0" rIns="0" bIns="0" anchor="t" anchorCtr="0">
            <a:spAutoFit/>
          </a:bodyPr>
          <a:lstStyle/>
          <a:p>
            <a:pPr algn="l"/>
            <a:r>
              <a:rPr lang="en-US" sz="980" dirty="0">
                <a:solidFill>
                  <a:srgbClr val="9AA1AC"/>
                </a:solidFill>
                <a:latin typeface="+mn-lt"/>
                <a:ea typeface="+mn-ea"/>
                <a:cs typeface="+mn-cs"/>
              </a:rPr>
              <a:t>Neuroformer · ICLR 2024</a:t>
            </a:r>
          </a:p>
        </p:txBody>
      </p:sp>
      <p:sp>
        <p:nvSpPr>
          <p:cNvPr id="39" name="TextBox 39"/>
          <p:cNvSpPr txBox="1"/>
          <p:nvPr/>
        </p:nvSpPr>
        <p:spPr>
          <a:xfrm>
            <a:off x="11059290" y="6505099"/>
            <a:ext cx="451863" cy="190690"/>
          </a:xfrm>
          <a:prstGeom prst="rect">
            <a:avLst/>
          </a:prstGeom>
          <a:noFill/>
          <a:ln>
            <a:noFill/>
          </a:ln>
        </p:spPr>
        <p:txBody>
          <a:bodyPr wrap="none" lIns="0" tIns="0" rIns="0" bIns="0" anchor="t" anchorCtr="0">
            <a:spAutoFit/>
          </a:bodyPr>
          <a:lstStyle/>
          <a:p>
            <a:pPr algn="r"/>
            <a:r>
              <a:rPr lang="en-US" sz="980" dirty="0">
                <a:solidFill>
                  <a:srgbClr val="9AA1AC"/>
                </a:solidFill>
                <a:latin typeface="+mn-lt"/>
                <a:ea typeface="+mn-ea"/>
                <a:cs typeface="+mn-cs"/>
              </a:rPr>
              <a:t>04 / 10</a:t>
            </a:r>
          </a:p>
        </p:txBody>
      </p:sp>
      <p:sp>
        <p:nvSpPr>
          <p:cNvPr id="40" name="cue_s04_c1_neuroformer_makes_four_contributions" title="cue_s04_c1_neuroformer_makes_four_contributions" descr="cue_s04_c1_neuroformer_makes_four_contributions Neuroformer makes four contributions. It reframes spike analysis as self-supervised autoregressive generation, needing no labels."/>
          <p:cNvSpPr/>
          <p:nvPr/>
        </p:nvSpPr>
        <p:spPr>
          <a:xfrm>
            <a:off x="686409" y="1866747"/>
            <a:ext cx="5219395"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4_c2_its_cross_attention_scales_linearly" title="cue_s04_c2_its_cross_attention_scales_linearly" descr="cue_s04_c2_its_cross_attention_scales_linearly Its cross-attention scales linearly with feature size and fuses many modalities."/>
          <p:cNvSpPr/>
          <p:nvPr/>
        </p:nvSpPr>
        <p:spPr>
          <a:xfrm>
            <a:off x="6286195" y="1866747"/>
            <a:ext cx="5219395"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4_c3_simulated_its_attention_maps_recover" title="cue_s04_c3_simulated_its_attention_maps_recover" descr="cue_s04_c3_simulated_its_attention_maps_recover On simulated data, its attention maps recover directed connectivity, including hub neurons correlation misses."/>
          <p:cNvSpPr/>
          <p:nvPr/>
        </p:nvSpPr>
        <p:spPr>
          <a:xfrm>
            <a:off x="686409" y="4000271"/>
            <a:ext cx="5219395"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4_c4_pretrained_decodes_behavior_few_shot" title="cue_s04_c4_pretrained_decodes_behavior_few_shot" descr="cue_s04_c4_pretrained_decodes_behavior_few_shot Pretrained, it decodes behavior with few-shot fine-tuning."/>
          <p:cNvSpPr/>
          <p:nvPr/>
        </p:nvSpPr>
        <p:spPr>
          <a:xfrm>
            <a:off x="6286195" y="4000271"/>
            <a:ext cx="5219395"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80085" y="678656"/>
            <a:ext cx="1166021" cy="220028"/>
          </a:xfrm>
          <a:prstGeom prst="rect">
            <a:avLst/>
          </a:prstGeom>
          <a:noFill/>
          <a:ln>
            <a:noFill/>
          </a:ln>
        </p:spPr>
        <p:txBody>
          <a:bodyPr wrap="none" lIns="0" tIns="0" rIns="0" bIns="0" anchor="t" anchorCtr="0">
            <a:spAutoFit/>
          </a:bodyPr>
          <a:lstStyle/>
          <a:p>
            <a:pPr algn="l"/>
            <a:r>
              <a:rPr lang="en-US" sz="1120" b="1" spc="112" dirty="0">
                <a:solidFill>
                  <a:schemeClr val="accent1"/>
                </a:solidFill>
                <a:latin typeface="+mn-lt"/>
                <a:ea typeface="+mn-ea"/>
                <a:cs typeface="+mn-cs"/>
              </a:rPr>
              <a:t>05 · METHOD</a:t>
            </a:r>
          </a:p>
        </p:txBody>
      </p:sp>
      <p:sp>
        <p:nvSpPr>
          <p:cNvPr id="3" name="TextBox 3"/>
          <p:cNvSpPr txBox="1"/>
          <p:nvPr/>
        </p:nvSpPr>
        <p:spPr>
          <a:xfrm>
            <a:off x="670560" y="914400"/>
            <a:ext cx="6555713"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Tokenize · align · fuse · decode</a:t>
            </a:r>
          </a:p>
        </p:txBody>
      </p:sp>
      <p:sp>
        <p:nvSpPr>
          <p:cNvPr id="4" name="Rectangle 4"/>
          <p:cNvSpPr/>
          <p:nvPr/>
        </p:nvSpPr>
        <p:spPr>
          <a:xfrm>
            <a:off x="685800" y="1409700"/>
            <a:ext cx="609600" cy="38100"/>
          </a:xfrm>
          <a:prstGeom prst="roundRect">
            <a:avLst>
              <a:gd name="adj" fmla="val 50000"/>
            </a:avLst>
          </a:prstGeom>
          <a:solidFill>
            <a:schemeClr val="accent1"/>
          </a:solidFill>
          <a:ln>
            <a:noFill/>
          </a:ln>
        </p:spPr>
        <p:txBody>
          <a:bodyPr/>
          <a:p/>
        </p:txBody>
      </p:sp>
      <p:grpSp>
        <p:nvGrpSpPr>
          <p:cNvPr id="9" name="Group 9"/>
          <p:cNvGrpSpPr/>
          <p:nvPr/>
        </p:nvGrpSpPr>
        <p:grpSpPr>
          <a:xfrm>
            <a:off x="685800" y="1885950"/>
            <a:ext cx="4876800" cy="895350"/>
            <a:chOff x="685800" y="1885950"/>
            <a:chExt cx="4876800" cy="895350"/>
          </a:xfrm>
        </p:grpSpPr>
        <p:sp>
          <p:nvSpPr>
            <p:cNvPr id="5" name="Rectangle 5"/>
            <p:cNvSpPr/>
            <p:nvPr/>
          </p:nvSpPr>
          <p:spPr>
            <a:xfrm>
              <a:off x="685800" y="1885950"/>
              <a:ext cx="4876800" cy="895350"/>
            </a:xfrm>
            <a:prstGeom prst="roundRect">
              <a:avLst>
                <a:gd name="adj" fmla="val 12766"/>
              </a:avLst>
            </a:prstGeom>
            <a:solidFill>
              <a:schemeClr val="lt2"/>
            </a:solidFill>
            <a:ln w="9525">
              <a:solidFill>
                <a:schemeClr val="accent4"/>
              </a:solidFill>
            </a:ln>
          </p:spPr>
        </p:sp>
        <p:sp>
          <p:nvSpPr>
            <p:cNvPr id="6" name="TextBox 6"/>
            <p:cNvSpPr txBox="1"/>
            <p:nvPr/>
          </p:nvSpPr>
          <p:spPr>
            <a:xfrm>
              <a:off x="909066" y="2058352"/>
              <a:ext cx="1522164" cy="205359"/>
            </a:xfrm>
            <a:prstGeom prst="rect">
              <a:avLst/>
            </a:prstGeom>
            <a:noFill/>
            <a:ln>
              <a:noFill/>
            </a:ln>
          </p:spPr>
          <p:txBody>
            <a:bodyPr wrap="none" lIns="0" tIns="0" rIns="0" bIns="0" anchor="t" anchorCtr="0">
              <a:spAutoFit/>
            </a:bodyPr>
            <a:lstStyle/>
            <a:p>
              <a:pPr algn="l"/>
              <a:r>
                <a:rPr lang="en-US" sz="1050" b="1" spc="75" dirty="0">
                  <a:solidFill>
                    <a:schemeClr val="accent1"/>
                  </a:solidFill>
                  <a:latin typeface="+mn-lt"/>
                  <a:ea typeface="+mn-ea"/>
                  <a:cs typeface="+mn-cs"/>
                </a:rPr>
                <a:t>STEP 1 · TOKENIZE</a:t>
              </a:r>
            </a:p>
          </p:txBody>
        </p:sp>
        <p:sp>
          <p:nvSpPr>
            <p:cNvPr id="7" name="TextBox 7"/>
            <p:cNvSpPr txBox="1"/>
            <p:nvPr/>
          </p:nvSpPr>
          <p:spPr>
            <a:xfrm>
              <a:off x="907542" y="2292668"/>
              <a:ext cx="1937881"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Each spike is a token</a:t>
              </a:r>
            </a:p>
          </p:txBody>
        </p:sp>
        <p:sp>
          <p:nvSpPr>
            <p:cNvPr id="8" name="TextBox 8"/>
            <p:cNvSpPr txBox="1"/>
            <p:nvPr/>
          </p:nvSpPr>
          <p:spPr>
            <a:xfrm>
              <a:off x="908685" y="2545556"/>
              <a:ext cx="357724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activity split into Current + Past State windows</a:t>
              </a:r>
            </a:p>
          </p:txBody>
        </p:sp>
      </p:grpSp>
      <p:grpSp>
        <p:nvGrpSpPr>
          <p:cNvPr id="14" name="Group 14"/>
          <p:cNvGrpSpPr/>
          <p:nvPr/>
        </p:nvGrpSpPr>
        <p:grpSpPr>
          <a:xfrm>
            <a:off x="685800" y="2914650"/>
            <a:ext cx="4876800" cy="895350"/>
            <a:chOff x="685800" y="2914650"/>
            <a:chExt cx="4876800" cy="895350"/>
          </a:xfrm>
        </p:grpSpPr>
        <p:sp>
          <p:nvSpPr>
            <p:cNvPr id="10" name="Rectangle 10"/>
            <p:cNvSpPr/>
            <p:nvPr/>
          </p:nvSpPr>
          <p:spPr>
            <a:xfrm>
              <a:off x="685800" y="2914650"/>
              <a:ext cx="4876800" cy="895350"/>
            </a:xfrm>
            <a:prstGeom prst="roundRect">
              <a:avLst>
                <a:gd name="adj" fmla="val 12766"/>
              </a:avLst>
            </a:prstGeom>
            <a:solidFill>
              <a:schemeClr val="lt2"/>
            </a:solidFill>
            <a:ln w="9525">
              <a:solidFill>
                <a:schemeClr val="accent4"/>
              </a:solidFill>
            </a:ln>
          </p:spPr>
        </p:sp>
        <p:sp>
          <p:nvSpPr>
            <p:cNvPr id="11" name="TextBox 11"/>
            <p:cNvSpPr txBox="1"/>
            <p:nvPr/>
          </p:nvSpPr>
          <p:spPr>
            <a:xfrm>
              <a:off x="909066" y="3087052"/>
              <a:ext cx="2025266" cy="205359"/>
            </a:xfrm>
            <a:prstGeom prst="rect">
              <a:avLst/>
            </a:prstGeom>
            <a:noFill/>
            <a:ln>
              <a:noFill/>
            </a:ln>
          </p:spPr>
          <p:txBody>
            <a:bodyPr wrap="none" lIns="0" tIns="0" rIns="0" bIns="0" anchor="t" anchorCtr="0">
              <a:spAutoFit/>
            </a:bodyPr>
            <a:lstStyle/>
            <a:p>
              <a:pPr algn="l"/>
              <a:r>
                <a:rPr lang="en-US" sz="1050" b="1" spc="75" dirty="0">
                  <a:solidFill>
                    <a:schemeClr val="accent2"/>
                  </a:solidFill>
                  <a:latin typeface="+mn-lt"/>
                  <a:ea typeface="+mn-ea"/>
                  <a:cs typeface="+mn-cs"/>
                </a:rPr>
                <a:t>STEP 2 · ENCODE + ALIGN</a:t>
              </a:r>
            </a:p>
          </p:txBody>
        </p:sp>
        <p:sp>
          <p:nvSpPr>
            <p:cNvPr id="12" name="TextBox 12"/>
            <p:cNvSpPr txBox="1"/>
            <p:nvPr/>
          </p:nvSpPr>
          <p:spPr>
            <a:xfrm>
              <a:off x="907542" y="3321368"/>
              <a:ext cx="3818044"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3D-conv video patches · behavior stream</a:t>
              </a:r>
            </a:p>
          </p:txBody>
        </p:sp>
        <p:sp>
          <p:nvSpPr>
            <p:cNvPr id="13" name="TextBox 13"/>
            <p:cNvSpPr txBox="1"/>
            <p:nvPr/>
          </p:nvSpPr>
          <p:spPr>
            <a:xfrm>
              <a:off x="908685" y="3574256"/>
              <a:ext cx="343400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contrastive module aligns the three modalities</a:t>
              </a:r>
            </a:p>
          </p:txBody>
        </p:sp>
      </p:grpSp>
      <p:grpSp>
        <p:nvGrpSpPr>
          <p:cNvPr id="19" name="Group 19"/>
          <p:cNvGrpSpPr/>
          <p:nvPr/>
        </p:nvGrpSpPr>
        <p:grpSpPr>
          <a:xfrm>
            <a:off x="685800" y="3943350"/>
            <a:ext cx="4876800" cy="895350"/>
            <a:chOff x="685800" y="3943350"/>
            <a:chExt cx="4876800" cy="895350"/>
          </a:xfrm>
        </p:grpSpPr>
        <p:sp>
          <p:nvSpPr>
            <p:cNvPr id="15" name="Rectangle 15"/>
            <p:cNvSpPr/>
            <p:nvPr/>
          </p:nvSpPr>
          <p:spPr>
            <a:xfrm>
              <a:off x="685800" y="3943350"/>
              <a:ext cx="4876800" cy="895350"/>
            </a:xfrm>
            <a:prstGeom prst="roundRect">
              <a:avLst>
                <a:gd name="adj" fmla="val 12766"/>
              </a:avLst>
            </a:prstGeom>
            <a:solidFill>
              <a:srgbClr val="EAF0FB"/>
            </a:solidFill>
            <a:ln w="9525">
              <a:solidFill>
                <a:srgbClr val="CBD9F7"/>
              </a:solidFill>
            </a:ln>
          </p:spPr>
        </p:sp>
        <p:sp>
          <p:nvSpPr>
            <p:cNvPr id="16" name="TextBox 16"/>
            <p:cNvSpPr txBox="1"/>
            <p:nvPr/>
          </p:nvSpPr>
          <p:spPr>
            <a:xfrm>
              <a:off x="909066" y="4115752"/>
              <a:ext cx="1142329" cy="205359"/>
            </a:xfrm>
            <a:prstGeom prst="rect">
              <a:avLst/>
            </a:prstGeom>
            <a:noFill/>
            <a:ln>
              <a:noFill/>
            </a:ln>
          </p:spPr>
          <p:txBody>
            <a:bodyPr wrap="none" lIns="0" tIns="0" rIns="0" bIns="0" anchor="t" anchorCtr="0">
              <a:spAutoFit/>
            </a:bodyPr>
            <a:lstStyle/>
            <a:p>
              <a:pPr algn="l"/>
              <a:r>
                <a:rPr lang="en-US" sz="1050" b="1" spc="75" dirty="0">
                  <a:solidFill>
                    <a:schemeClr val="accent1"/>
                  </a:solidFill>
                  <a:latin typeface="+mn-lt"/>
                  <a:ea typeface="+mn-ea"/>
                  <a:cs typeface="+mn-cs"/>
                </a:rPr>
                <a:t>STEP 3 · FUSE</a:t>
              </a:r>
            </a:p>
          </p:txBody>
        </p:sp>
        <p:sp>
          <p:nvSpPr>
            <p:cNvPr id="17" name="TextBox 17"/>
            <p:cNvSpPr txBox="1"/>
            <p:nvPr/>
          </p:nvSpPr>
          <p:spPr>
            <a:xfrm>
              <a:off x="907542" y="4350068"/>
              <a:ext cx="4098564"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Cross-attention: Current State × features</a:t>
              </a:r>
            </a:p>
          </p:txBody>
        </p:sp>
        <p:sp>
          <p:nvSpPr>
            <p:cNvPr id="18" name="TextBox 18"/>
            <p:cNvSpPr txBox="1"/>
            <p:nvPr/>
          </p:nvSpPr>
          <p:spPr>
            <a:xfrm>
              <a:off x="908685" y="4602956"/>
              <a:ext cx="2568187"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 xml:space="preserve">attention cost quadratic </a:t>
              </a:r>
              <a:r>
                <a:rPr lang="en-US" sz="1120" b="1" dirty="0">
                  <a:solidFill>
                    <a:schemeClr val="accent1"/>
                  </a:solidFill>
                  <a:latin typeface="+mn-lt"/>
                  <a:ea typeface="+mn-ea"/>
                  <a:cs typeface="+mn-cs"/>
                </a:rPr>
                <a:t>→ linear</a:t>
              </a:r>
            </a:p>
          </p:txBody>
        </p:sp>
      </p:grpSp>
      <p:grpSp>
        <p:nvGrpSpPr>
          <p:cNvPr id="24" name="Group 24"/>
          <p:cNvGrpSpPr/>
          <p:nvPr/>
        </p:nvGrpSpPr>
        <p:grpSpPr>
          <a:xfrm>
            <a:off x="685800" y="4972050"/>
            <a:ext cx="4876800" cy="895350"/>
            <a:chOff x="685800" y="4972050"/>
            <a:chExt cx="4876800" cy="895350"/>
          </a:xfrm>
        </p:grpSpPr>
        <p:sp>
          <p:nvSpPr>
            <p:cNvPr id="20" name="Rectangle 20"/>
            <p:cNvSpPr/>
            <p:nvPr/>
          </p:nvSpPr>
          <p:spPr>
            <a:xfrm>
              <a:off x="685800" y="4972050"/>
              <a:ext cx="4876800" cy="895350"/>
            </a:xfrm>
            <a:prstGeom prst="roundRect">
              <a:avLst>
                <a:gd name="adj" fmla="val 12766"/>
              </a:avLst>
            </a:prstGeom>
            <a:solidFill>
              <a:schemeClr val="lt2"/>
            </a:solidFill>
            <a:ln w="9525">
              <a:solidFill>
                <a:schemeClr val="accent4"/>
              </a:solidFill>
            </a:ln>
          </p:spPr>
        </p:sp>
        <p:sp>
          <p:nvSpPr>
            <p:cNvPr id="21" name="TextBox 21"/>
            <p:cNvSpPr txBox="1"/>
            <p:nvPr/>
          </p:nvSpPr>
          <p:spPr>
            <a:xfrm>
              <a:off x="909066" y="5144452"/>
              <a:ext cx="1367531" cy="205359"/>
            </a:xfrm>
            <a:prstGeom prst="rect">
              <a:avLst/>
            </a:prstGeom>
            <a:noFill/>
            <a:ln>
              <a:noFill/>
            </a:ln>
          </p:spPr>
          <p:txBody>
            <a:bodyPr wrap="none" lIns="0" tIns="0" rIns="0" bIns="0" anchor="t" anchorCtr="0">
              <a:spAutoFit/>
            </a:bodyPr>
            <a:lstStyle/>
            <a:p>
              <a:pPr algn="l"/>
              <a:r>
                <a:rPr lang="en-US" sz="1050" b="1" spc="75" dirty="0">
                  <a:solidFill>
                    <a:schemeClr val="accent3"/>
                  </a:solidFill>
                  <a:latin typeface="+mn-lt"/>
                  <a:ea typeface="+mn-ea"/>
                  <a:cs typeface="+mn-cs"/>
                </a:rPr>
                <a:t>STEP 4 · DECODE</a:t>
              </a:r>
            </a:p>
          </p:txBody>
        </p:sp>
        <p:sp>
          <p:nvSpPr>
            <p:cNvPr id="22" name="TextBox 22"/>
            <p:cNvSpPr txBox="1"/>
            <p:nvPr/>
          </p:nvSpPr>
          <p:spPr>
            <a:xfrm>
              <a:off x="907542" y="5378768"/>
              <a:ext cx="3531086"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Causally masked transformer decoder</a:t>
              </a:r>
            </a:p>
          </p:txBody>
        </p:sp>
        <p:sp>
          <p:nvSpPr>
            <p:cNvPr id="23" name="TextBox 23"/>
            <p:cNvSpPr txBox="1"/>
            <p:nvPr/>
          </p:nvSpPr>
          <p:spPr>
            <a:xfrm>
              <a:off x="908685" y="5631656"/>
              <a:ext cx="306461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predicts which neuron fires + its time bin</a:t>
              </a:r>
            </a:p>
          </p:txBody>
        </p:sp>
      </p:grpSp>
      <p:grpSp>
        <p:nvGrpSpPr>
          <p:cNvPr id="28" name="Group 28"/>
          <p:cNvGrpSpPr/>
          <p:nvPr/>
        </p:nvGrpSpPr>
        <p:grpSpPr>
          <a:xfrm>
            <a:off x="5829300" y="1885950"/>
            <a:ext cx="5676900" cy="2590800"/>
            <a:chOff x="5829300" y="1885950"/>
            <a:chExt cx="5676900" cy="2590800"/>
          </a:xfrm>
        </p:grpSpPr>
        <p:sp>
          <p:nvSpPr>
            <p:cNvPr id="25" name="Rectangle 25"/>
            <p:cNvSpPr/>
            <p:nvPr/>
          </p:nvSpPr>
          <p:spPr>
            <a:xfrm>
              <a:off x="5829300" y="1885950"/>
              <a:ext cx="5676900" cy="2590800"/>
            </a:xfrm>
            <a:prstGeom prst="roundRect">
              <a:avLst>
                <a:gd name="adj" fmla="val 5882"/>
              </a:avLst>
            </a:prstGeom>
            <a:solidFill>
              <a:schemeClr val="lt1"/>
            </a:solidFill>
            <a:ln w="9525">
              <a:solidFill>
                <a:schemeClr val="accent4"/>
              </a:solidFill>
            </a:ln>
          </p:spPr>
        </p:sp>
        <p:sp>
          <p:nvSpPr>
            <p:cNvPr id="26" name="TextBox 26"/>
            <p:cNvSpPr txBox="1"/>
            <p:nvPr/>
          </p:nvSpPr>
          <p:spPr>
            <a:xfrm>
              <a:off x="6014466" y="2039302"/>
              <a:ext cx="1878475" cy="205359"/>
            </a:xfrm>
            <a:prstGeom prst="rect">
              <a:avLst/>
            </a:prstGeom>
            <a:noFill/>
            <a:ln>
              <a:noFill/>
            </a:ln>
          </p:spPr>
          <p:txBody>
            <a:bodyPr wrap="none" lIns="0" tIns="0" rIns="0" bIns="0" anchor="t" anchorCtr="0">
              <a:spAutoFit/>
            </a:bodyPr>
            <a:lstStyle/>
            <a:p>
              <a:pPr algn="l"/>
              <a:r>
                <a:rPr lang="en-US" sz="1050" b="1" spc="75" dirty="0">
                  <a:solidFill>
                    <a:srgbClr val="7A828E"/>
                  </a:solidFill>
                  <a:latin typeface="+mn-lt"/>
                  <a:ea typeface="+mn-ea"/>
                  <a:cs typeface="+mn-cs"/>
                </a:rPr>
                <a:t>ARCHITECTURE (FIG. 1)</a:t>
              </a:r>
            </a:p>
          </p:txBody>
        </p:sp>
        <p:pic>
          <p:nvPicPr>
            <p:cNvPr id="27" name="Image 27"/>
            <p:cNvPicPr>
              <a:picLocks noChangeAspect="1"/>
            </p:cNvPicPr>
            <p:nvPr/>
          </p:nvPicPr>
          <p:blipFill>
            <a:blip r:embed="rId2"/>
            <a:stretch>
              <a:fillRect/>
            </a:stretch>
          </p:blipFill>
          <p:spPr>
            <a:xfrm>
              <a:off x="6025758" y="2266950"/>
              <a:ext cx="5283983" cy="2019300"/>
            </a:xfrm>
            <a:prstGeom prst="rect">
              <a:avLst/>
            </a:prstGeom>
          </p:spPr>
        </p:pic>
      </p:grpSp>
      <p:grpSp>
        <p:nvGrpSpPr>
          <p:cNvPr id="34" name="Group 34"/>
          <p:cNvGrpSpPr/>
          <p:nvPr/>
        </p:nvGrpSpPr>
        <p:grpSpPr>
          <a:xfrm>
            <a:off x="5829300" y="4629150"/>
            <a:ext cx="5676900" cy="1260634"/>
            <a:chOff x="5829300" y="4629150"/>
            <a:chExt cx="5676900" cy="1260634"/>
          </a:xfrm>
        </p:grpSpPr>
        <p:sp>
          <p:nvSpPr>
            <p:cNvPr id="29" name="Rectangle 29"/>
            <p:cNvSpPr/>
            <p:nvPr/>
          </p:nvSpPr>
          <p:spPr>
            <a:xfrm>
              <a:off x="5829300" y="4629150"/>
              <a:ext cx="5676900" cy="1238250"/>
            </a:xfrm>
            <a:prstGeom prst="roundRect">
              <a:avLst>
                <a:gd name="adj" fmla="val 12308"/>
              </a:avLst>
            </a:prstGeom>
            <a:solidFill>
              <a:schemeClr val="lt2"/>
            </a:solidFill>
            <a:ln w="9525">
              <a:solidFill>
                <a:schemeClr val="accent4"/>
              </a:solidFill>
            </a:ln>
          </p:spPr>
        </p:sp>
        <p:sp>
          <p:nvSpPr>
            <p:cNvPr id="30" name="TextBox 30"/>
            <p:cNvSpPr txBox="1"/>
            <p:nvPr/>
          </p:nvSpPr>
          <p:spPr>
            <a:xfrm>
              <a:off x="6014466" y="4801552"/>
              <a:ext cx="1398895" cy="205359"/>
            </a:xfrm>
            <a:prstGeom prst="rect">
              <a:avLst/>
            </a:prstGeom>
            <a:noFill/>
            <a:ln>
              <a:noFill/>
            </a:ln>
          </p:spPr>
          <p:txBody>
            <a:bodyPr wrap="none" lIns="0" tIns="0" rIns="0" bIns="0" anchor="t" anchorCtr="0">
              <a:spAutoFit/>
            </a:bodyPr>
            <a:lstStyle/>
            <a:p>
              <a:pPr algn="l"/>
              <a:r>
                <a:rPr lang="en-US" sz="1050" b="1" spc="75" dirty="0">
                  <a:solidFill>
                    <a:schemeClr val="accent1"/>
                  </a:solidFill>
                  <a:latin typeface="+mn-lt"/>
                  <a:ea typeface="+mn-ea"/>
                  <a:cs typeface="+mn-cs"/>
                </a:rPr>
                <a:t>JOINT OBJECTIVE</a:t>
              </a:r>
            </a:p>
          </p:txBody>
        </p:sp>
        <p:sp>
          <p:nvSpPr>
            <p:cNvPr id="31" name="TextBox 31"/>
            <p:cNvSpPr txBox="1"/>
            <p:nvPr/>
          </p:nvSpPr>
          <p:spPr>
            <a:xfrm>
              <a:off x="6012561" y="5103971"/>
              <a:ext cx="4317142"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ℒ = γ·ℒ_vnc + μ·ℒ_ce(I) + (1−γ−μ)·ℒ_ce(dt)</a:t>
              </a:r>
            </a:p>
          </p:txBody>
        </p:sp>
        <p:sp>
          <p:nvSpPr>
            <p:cNvPr id="32" name="TextBox 32"/>
            <p:cNvSpPr txBox="1"/>
            <p:nvPr/>
          </p:nvSpPr>
          <p:spPr>
            <a:xfrm>
              <a:off x="6014085" y="5479256"/>
              <a:ext cx="410495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one contrastive loss + two spike cross-entropy losses,</a:t>
              </a:r>
            </a:p>
          </p:txBody>
        </p:sp>
        <p:sp>
          <p:nvSpPr>
            <p:cNvPr id="33" name="TextBox 33"/>
            <p:cNvSpPr txBox="1"/>
            <p:nvPr/>
          </p:nvSpPr>
          <p:spPr>
            <a:xfrm>
              <a:off x="6014085" y="5669756"/>
              <a:ext cx="218258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optimized jointly end-to-end.</a:t>
              </a:r>
            </a:p>
          </p:txBody>
        </p:sp>
      </p:grpSp>
      <p:sp>
        <p:nvSpPr>
          <p:cNvPr id="35" name="TextBox 35"/>
          <p:cNvSpPr txBox="1"/>
          <p:nvPr/>
        </p:nvSpPr>
        <p:spPr>
          <a:xfrm>
            <a:off x="680847" y="6505099"/>
            <a:ext cx="1602745" cy="190690"/>
          </a:xfrm>
          <a:prstGeom prst="rect">
            <a:avLst/>
          </a:prstGeom>
          <a:noFill/>
          <a:ln>
            <a:noFill/>
          </a:ln>
        </p:spPr>
        <p:txBody>
          <a:bodyPr wrap="none" lIns="0" tIns="0" rIns="0" bIns="0" anchor="t" anchorCtr="0">
            <a:spAutoFit/>
          </a:bodyPr>
          <a:lstStyle/>
          <a:p>
            <a:pPr algn="l"/>
            <a:r>
              <a:rPr lang="en-US" sz="980" dirty="0">
                <a:solidFill>
                  <a:srgbClr val="9AA1AC"/>
                </a:solidFill>
                <a:latin typeface="+mn-lt"/>
                <a:ea typeface="+mn-ea"/>
                <a:cs typeface="+mn-cs"/>
              </a:rPr>
              <a:t>Neuroformer · ICLR 2024</a:t>
            </a:r>
          </a:p>
        </p:txBody>
      </p:sp>
      <p:sp>
        <p:nvSpPr>
          <p:cNvPr id="36" name="TextBox 36"/>
          <p:cNvSpPr txBox="1"/>
          <p:nvPr/>
        </p:nvSpPr>
        <p:spPr>
          <a:xfrm>
            <a:off x="11059290" y="6505099"/>
            <a:ext cx="451863" cy="190690"/>
          </a:xfrm>
          <a:prstGeom prst="rect">
            <a:avLst/>
          </a:prstGeom>
          <a:noFill/>
          <a:ln>
            <a:noFill/>
          </a:ln>
        </p:spPr>
        <p:txBody>
          <a:bodyPr wrap="none" lIns="0" tIns="0" rIns="0" bIns="0" anchor="t" anchorCtr="0">
            <a:spAutoFit/>
          </a:bodyPr>
          <a:lstStyle/>
          <a:p>
            <a:pPr algn="r"/>
            <a:r>
              <a:rPr lang="en-US" sz="980" dirty="0">
                <a:solidFill>
                  <a:srgbClr val="9AA1AC"/>
                </a:solidFill>
                <a:latin typeface="+mn-lt"/>
                <a:ea typeface="+mn-ea"/>
                <a:cs typeface="+mn-cs"/>
              </a:rPr>
              <a:t>05 / 10</a:t>
            </a:r>
          </a:p>
        </p:txBody>
      </p:sp>
      <p:sp>
        <p:nvSpPr>
          <p:cNvPr id="37" name="cue_s05_c1_neuroformer_treats_spike_token_split" title="cue_s05_c1_neuroformer_treats_spike_token_split" descr="cue_s05_c1_neuroformer_treats_spike_token_split Neuroformer treats each spike as a token, splitting activity into Current and Past States."/>
          <p:cNvSpPr/>
          <p:nvPr/>
        </p:nvSpPr>
        <p:spPr>
          <a:xfrm>
            <a:off x="686409" y="1885950"/>
            <a:ext cx="4876800" cy="8956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5_c2_video_becomes_patches_via_3" title="cue_s05_c2_video_becomes_patches_via_3" descr="cue_s05_c2_video_becomes_patches_via_3 Video becomes patches via a 3D-convolutional encoder; behavior forms a separate stream. A contrastive module aligns neural, visual, and behavioral features."/>
          <p:cNvSpPr/>
          <p:nvPr/>
        </p:nvSpPr>
        <p:spPr>
          <a:xfrm>
            <a:off x="686409" y="2914650"/>
            <a:ext cx="4876800" cy="8956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5_c3_cross_attention_fuses_current_state" title="cue_s05_c3_cross_attention_fuses_current_state" descr="cue_s05_c3_cross_attention_fuses_current_state Cross-attention fuses the Current State with larger feature arrays, cutting attention cost from quadratic to linear."/>
          <p:cNvSpPr/>
          <p:nvPr/>
        </p:nvSpPr>
        <p:spPr>
          <a:xfrm>
            <a:off x="686409" y="3943349"/>
            <a:ext cx="4876800" cy="8956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5_c4_causally_masked_decoder_predicts_whi" title="cue_s05_c4_causally_masked_decoder_predicts_whi" descr="cue_s05_c4_causally_masked_decoder_predicts_whi A causally masked decoder predicts which neuron fires and its time bin."/>
          <p:cNvSpPr/>
          <p:nvPr/>
        </p:nvSpPr>
        <p:spPr>
          <a:xfrm>
            <a:off x="686409" y="4972050"/>
            <a:ext cx="4876800" cy="8956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80085" y="678656"/>
            <a:ext cx="2452041" cy="220028"/>
          </a:xfrm>
          <a:prstGeom prst="rect">
            <a:avLst/>
          </a:prstGeom>
          <a:noFill/>
          <a:ln>
            <a:noFill/>
          </a:ln>
        </p:spPr>
        <p:txBody>
          <a:bodyPr wrap="none" lIns="0" tIns="0" rIns="0" bIns="0" anchor="t" anchorCtr="0">
            <a:spAutoFit/>
          </a:bodyPr>
          <a:lstStyle/>
          <a:p>
            <a:pPr algn="l"/>
            <a:r>
              <a:rPr lang="en-US" sz="1120" b="1" spc="112" dirty="0">
                <a:solidFill>
                  <a:schemeClr val="accent1"/>
                </a:solidFill>
                <a:latin typeface="+mn-lt"/>
                <a:ea typeface="+mn-ea"/>
                <a:cs typeface="+mn-cs"/>
              </a:rPr>
              <a:t>06 · DATASET / BENCHMARK</a:t>
            </a:r>
          </a:p>
        </p:txBody>
      </p:sp>
      <p:sp>
        <p:nvSpPr>
          <p:cNvPr id="3" name="TextBox 3"/>
          <p:cNvSpPr txBox="1"/>
          <p:nvPr/>
        </p:nvSpPr>
        <p:spPr>
          <a:xfrm>
            <a:off x="670560" y="914400"/>
            <a:ext cx="4750790"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Validated at two levels</a:t>
            </a:r>
          </a:p>
        </p:txBody>
      </p:sp>
      <p:sp>
        <p:nvSpPr>
          <p:cNvPr id="4" name="Rectangle 4"/>
          <p:cNvSpPr/>
          <p:nvPr/>
        </p:nvSpPr>
        <p:spPr>
          <a:xfrm>
            <a:off x="685800" y="1409700"/>
            <a:ext cx="609600" cy="38100"/>
          </a:xfrm>
          <a:prstGeom prst="roundRect">
            <a:avLst>
              <a:gd name="adj" fmla="val 50000"/>
            </a:avLst>
          </a:prstGeom>
          <a:solidFill>
            <a:schemeClr val="accent1"/>
          </a:solidFill>
          <a:ln>
            <a:noFill/>
          </a:ln>
        </p:spPr>
        <p:txBody>
          <a:bodyPr/>
          <a:p/>
        </p:txBody>
      </p:sp>
      <p:grpSp>
        <p:nvGrpSpPr>
          <p:cNvPr id="7" name="Group 7"/>
          <p:cNvGrpSpPr/>
          <p:nvPr/>
        </p:nvGrpSpPr>
        <p:grpSpPr>
          <a:xfrm>
            <a:off x="685800" y="1790700"/>
            <a:ext cx="10820400" cy="495300"/>
            <a:chOff x="685800" y="1790700"/>
            <a:chExt cx="10820400" cy="495300"/>
          </a:xfrm>
        </p:grpSpPr>
        <p:sp>
          <p:nvSpPr>
            <p:cNvPr id="5" name="Rectangle 5"/>
            <p:cNvSpPr/>
            <p:nvPr/>
          </p:nvSpPr>
          <p:spPr>
            <a:xfrm>
              <a:off x="685800" y="1790700"/>
              <a:ext cx="10820400" cy="495300"/>
            </a:xfrm>
            <a:prstGeom prst="roundRect">
              <a:avLst>
                <a:gd name="adj" fmla="val 23077"/>
              </a:avLst>
            </a:prstGeom>
            <a:solidFill>
              <a:srgbClr val="EAF0FB"/>
            </a:solidFill>
            <a:ln w="9525">
              <a:solidFill>
                <a:srgbClr val="CBD9F7"/>
              </a:solidFill>
            </a:ln>
          </p:spPr>
        </p:sp>
        <p:sp>
          <p:nvSpPr>
            <p:cNvPr id="6" name="TextBox 6"/>
            <p:cNvSpPr txBox="1"/>
            <p:nvPr/>
          </p:nvSpPr>
          <p:spPr>
            <a:xfrm>
              <a:off x="907161" y="1941671"/>
              <a:ext cx="7518047"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 xml:space="preserve">Validation spans two levels: </a:t>
              </a:r>
              <a:r>
                <a:rPr lang="en-US" sz="1420" b="1" dirty="0">
                  <a:solidFill>
                    <a:schemeClr val="accent1"/>
                  </a:solidFill>
                  <a:latin typeface="+mn-lt"/>
                  <a:ea typeface="+mn-ea"/>
                  <a:cs typeface="+mn-cs"/>
                </a:rPr>
                <a:t>ground-truth simulation</a:t>
              </a:r>
              <a:r>
                <a:rPr lang="en-US" sz="1420" b="1" dirty="0">
                  <a:solidFill>
                    <a:schemeClr val="dk1"/>
                  </a:solidFill>
                  <a:latin typeface="+mn-lt"/>
                  <a:ea typeface="+mn-ea"/>
                  <a:cs typeface="+mn-cs"/>
                </a:rPr>
                <a:t xml:space="preserve"> and </a:t>
              </a:r>
              <a:r>
                <a:rPr lang="en-US" sz="1420" b="1" dirty="0">
                  <a:solidFill>
                    <a:schemeClr val="accent2"/>
                  </a:solidFill>
                  <a:latin typeface="+mn-lt"/>
                  <a:ea typeface="+mn-ea"/>
                  <a:cs typeface="+mn-cs"/>
                </a:rPr>
                <a:t>real mouse cortex</a:t>
              </a:r>
              <a:r>
                <a:rPr lang="en-US" sz="1420" b="1" dirty="0">
                  <a:solidFill>
                    <a:schemeClr val="dk1"/>
                  </a:solidFill>
                  <a:latin typeface="+mn-lt"/>
                  <a:ea typeface="+mn-ea"/>
                  <a:cs typeface="+mn-cs"/>
                </a:rPr>
                <a:t>.</a:t>
              </a:r>
            </a:p>
          </p:txBody>
        </p:sp>
      </p:grpSp>
      <p:grpSp>
        <p:nvGrpSpPr>
          <p:cNvPr id="15" name="Group 15"/>
          <p:cNvGrpSpPr/>
          <p:nvPr/>
        </p:nvGrpSpPr>
        <p:grpSpPr>
          <a:xfrm>
            <a:off x="685800" y="2457450"/>
            <a:ext cx="5219700" cy="3448050"/>
            <a:chOff x="685800" y="2457450"/>
            <a:chExt cx="5219700" cy="3448050"/>
          </a:xfrm>
        </p:grpSpPr>
        <p:sp>
          <p:nvSpPr>
            <p:cNvPr id="8" name="Rectangle 8"/>
            <p:cNvSpPr/>
            <p:nvPr/>
          </p:nvSpPr>
          <p:spPr>
            <a:xfrm>
              <a:off x="685800" y="2457450"/>
              <a:ext cx="5219700" cy="3448050"/>
            </a:xfrm>
            <a:prstGeom prst="roundRect">
              <a:avLst>
                <a:gd name="adj" fmla="val 4420"/>
              </a:avLst>
            </a:prstGeom>
            <a:solidFill>
              <a:schemeClr val="lt2"/>
            </a:solidFill>
            <a:ln w="9525">
              <a:solidFill>
                <a:schemeClr val="accent4"/>
              </a:solidFill>
            </a:ln>
          </p:spPr>
        </p:sp>
        <p:sp>
          <p:nvSpPr>
            <p:cNvPr id="9" name="Rectangle 9"/>
            <p:cNvSpPr/>
            <p:nvPr/>
          </p:nvSpPr>
          <p:spPr>
            <a:xfrm>
              <a:off x="685800" y="2457450"/>
              <a:ext cx="76200" cy="3448050"/>
            </a:xfrm>
            <a:prstGeom prst="roundRect">
              <a:avLst>
                <a:gd name="adj" fmla="val 50000"/>
              </a:avLst>
            </a:prstGeom>
            <a:solidFill>
              <a:schemeClr val="accent1"/>
            </a:solidFill>
            <a:ln>
              <a:noFill/>
            </a:ln>
          </p:spPr>
        </p:sp>
        <p:sp>
          <p:nvSpPr>
            <p:cNvPr id="10" name="TextBox 10"/>
            <p:cNvSpPr txBox="1"/>
            <p:nvPr/>
          </p:nvSpPr>
          <p:spPr>
            <a:xfrm>
              <a:off x="985266" y="2687002"/>
              <a:ext cx="3057182" cy="205359"/>
            </a:xfrm>
            <a:prstGeom prst="rect">
              <a:avLst/>
            </a:prstGeom>
            <a:noFill/>
            <a:ln>
              <a:noFill/>
            </a:ln>
          </p:spPr>
          <p:txBody>
            <a:bodyPr wrap="none" lIns="0" tIns="0" rIns="0" bIns="0" anchor="t" anchorCtr="0">
              <a:spAutoFit/>
            </a:bodyPr>
            <a:lstStyle/>
            <a:p>
              <a:pPr algn="l"/>
              <a:r>
                <a:rPr lang="en-US" sz="1050" b="1" spc="75" dirty="0">
                  <a:solidFill>
                    <a:schemeClr val="accent1"/>
                  </a:solidFill>
                  <a:latin typeface="+mn-lt"/>
                  <a:ea typeface="+mn-ea"/>
                  <a:cs typeface="+mn-cs"/>
                </a:rPr>
                <a:t>LEVEL 1 · GROUND-TRUTH SIMULATION</a:t>
              </a:r>
            </a:p>
          </p:txBody>
        </p:sp>
        <p:sp>
          <p:nvSpPr>
            <p:cNvPr id="11" name="Rectangle 11"/>
            <p:cNvSpPr/>
            <p:nvPr/>
          </p:nvSpPr>
          <p:spPr>
            <a:xfrm>
              <a:off x="990600" y="2933700"/>
              <a:ext cx="4610100" cy="2190750"/>
            </a:xfrm>
            <a:prstGeom prst="roundRect">
              <a:avLst>
                <a:gd name="adj" fmla="val 4348"/>
              </a:avLst>
            </a:prstGeom>
            <a:solidFill>
              <a:schemeClr val="lt1"/>
            </a:solidFill>
            <a:ln w="9525">
              <a:solidFill>
                <a:schemeClr val="accent4"/>
              </a:solidFill>
            </a:ln>
          </p:spPr>
        </p:sp>
        <p:pic>
          <p:nvPicPr>
            <p:cNvPr id="12" name="Image 12"/>
            <p:cNvPicPr>
              <a:picLocks noChangeAspect="1"/>
            </p:cNvPicPr>
            <p:nvPr/>
          </p:nvPicPr>
          <p:blipFill>
            <a:blip r:embed="rId2"/>
            <a:stretch>
              <a:fillRect/>
            </a:stretch>
          </p:blipFill>
          <p:spPr>
            <a:xfrm>
              <a:off x="1526312" y="3009900"/>
              <a:ext cx="3538677" cy="2038350"/>
            </a:xfrm>
            <a:prstGeom prst="rect">
              <a:avLst/>
            </a:prstGeom>
          </p:spPr>
        </p:pic>
        <p:sp>
          <p:nvSpPr>
            <p:cNvPr id="13" name="TextBox 13"/>
            <p:cNvSpPr txBox="1"/>
            <p:nvPr/>
          </p:nvSpPr>
          <p:spPr>
            <a:xfrm>
              <a:off x="984504" y="5261610"/>
              <a:ext cx="2785499"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3 strongly connected hub neurons</a:t>
              </a:r>
            </a:p>
          </p:txBody>
        </p:sp>
        <p:sp>
          <p:nvSpPr>
            <p:cNvPr id="14" name="TextBox 14"/>
            <p:cNvSpPr txBox="1"/>
            <p:nvPr/>
          </p:nvSpPr>
          <p:spPr>
            <a:xfrm>
              <a:off x="984885" y="5517356"/>
              <a:ext cx="368278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give a known connectivity matrix to check against</a:t>
              </a:r>
            </a:p>
          </p:txBody>
        </p:sp>
      </p:grpSp>
      <p:grpSp>
        <p:nvGrpSpPr>
          <p:cNvPr id="32" name="Group 32"/>
          <p:cNvGrpSpPr/>
          <p:nvPr/>
        </p:nvGrpSpPr>
        <p:grpSpPr>
          <a:xfrm>
            <a:off x="6286500" y="2457450"/>
            <a:ext cx="5219700" cy="3448050"/>
            <a:chOff x="6286500" y="2457450"/>
            <a:chExt cx="5219700" cy="3448050"/>
          </a:xfrm>
        </p:grpSpPr>
        <p:sp>
          <p:nvSpPr>
            <p:cNvPr id="16" name="Rectangle 16"/>
            <p:cNvSpPr/>
            <p:nvPr/>
          </p:nvSpPr>
          <p:spPr>
            <a:xfrm>
              <a:off x="6286500" y="2457450"/>
              <a:ext cx="5219700" cy="3448050"/>
            </a:xfrm>
            <a:prstGeom prst="roundRect">
              <a:avLst>
                <a:gd name="adj" fmla="val 4420"/>
              </a:avLst>
            </a:prstGeom>
            <a:solidFill>
              <a:schemeClr val="lt2"/>
            </a:solidFill>
            <a:ln w="9525">
              <a:solidFill>
                <a:schemeClr val="accent4"/>
              </a:solidFill>
            </a:ln>
          </p:spPr>
        </p:sp>
        <p:sp>
          <p:nvSpPr>
            <p:cNvPr id="17" name="Rectangle 17"/>
            <p:cNvSpPr/>
            <p:nvPr/>
          </p:nvSpPr>
          <p:spPr>
            <a:xfrm>
              <a:off x="6286500" y="2457450"/>
              <a:ext cx="76200" cy="3448050"/>
            </a:xfrm>
            <a:prstGeom prst="roundRect">
              <a:avLst>
                <a:gd name="adj" fmla="val 50000"/>
              </a:avLst>
            </a:prstGeom>
            <a:solidFill>
              <a:schemeClr val="accent2"/>
            </a:solidFill>
            <a:ln>
              <a:noFill/>
            </a:ln>
          </p:spPr>
        </p:sp>
        <p:sp>
          <p:nvSpPr>
            <p:cNvPr id="18" name="TextBox 18"/>
            <p:cNvSpPr txBox="1"/>
            <p:nvPr/>
          </p:nvSpPr>
          <p:spPr>
            <a:xfrm>
              <a:off x="6585966" y="2687002"/>
              <a:ext cx="2514874" cy="205359"/>
            </a:xfrm>
            <a:prstGeom prst="rect">
              <a:avLst/>
            </a:prstGeom>
            <a:noFill/>
            <a:ln>
              <a:noFill/>
            </a:ln>
          </p:spPr>
          <p:txBody>
            <a:bodyPr wrap="none" lIns="0" tIns="0" rIns="0" bIns="0" anchor="t" anchorCtr="0">
              <a:spAutoFit/>
            </a:bodyPr>
            <a:lstStyle/>
            <a:p>
              <a:pPr algn="l"/>
              <a:r>
                <a:rPr lang="en-US" sz="1050" b="1" spc="75" dirty="0">
                  <a:solidFill>
                    <a:schemeClr val="accent2"/>
                  </a:solidFill>
                  <a:latin typeface="+mn-lt"/>
                  <a:ea typeface="+mn-ea"/>
                  <a:cs typeface="+mn-cs"/>
                </a:rPr>
                <a:t>LEVEL 2 · REAL MOUSE CORTEX</a:t>
              </a:r>
            </a:p>
          </p:txBody>
        </p:sp>
        <p:sp>
          <p:nvSpPr>
            <p:cNvPr id="19" name="Rectangle 19"/>
            <p:cNvSpPr/>
            <p:nvPr/>
          </p:nvSpPr>
          <p:spPr>
            <a:xfrm>
              <a:off x="6591300" y="2933700"/>
              <a:ext cx="4610100" cy="1866900"/>
            </a:xfrm>
            <a:prstGeom prst="roundRect">
              <a:avLst>
                <a:gd name="adj" fmla="val 5102"/>
              </a:avLst>
            </a:prstGeom>
            <a:solidFill>
              <a:schemeClr val="lt1"/>
            </a:solidFill>
            <a:ln w="9525">
              <a:solidFill>
                <a:schemeClr val="accent4"/>
              </a:solidFill>
            </a:ln>
          </p:spPr>
        </p:sp>
        <p:pic>
          <p:nvPicPr>
            <p:cNvPr id="20" name="Image 20"/>
            <p:cNvPicPr>
              <a:picLocks noChangeAspect="1"/>
            </p:cNvPicPr>
            <p:nvPr/>
          </p:nvPicPr>
          <p:blipFill>
            <a:blip r:embed="rId3"/>
            <a:stretch>
              <a:fillRect/>
            </a:stretch>
          </p:blipFill>
          <p:spPr>
            <a:xfrm>
              <a:off x="7068092" y="3009900"/>
              <a:ext cx="3656517" cy="1714500"/>
            </a:xfrm>
            <a:prstGeom prst="rect">
              <a:avLst/>
            </a:prstGeom>
          </p:spPr>
        </p:pic>
        <p:grpSp>
          <p:nvGrpSpPr>
            <p:cNvPr id="30" name="Group 30"/>
            <p:cNvGrpSpPr/>
            <p:nvPr/>
          </p:nvGrpSpPr>
          <p:grpSpPr>
            <a:xfrm>
              <a:off x="6591300" y="4953000"/>
              <a:ext cx="4610100" cy="431482"/>
              <a:chOff x="6591300" y="4953000"/>
              <a:chExt cx="4610100" cy="431482"/>
            </a:xfrm>
          </p:grpSpPr>
          <p:sp>
            <p:nvSpPr>
              <p:cNvPr id="21" name="Rectangle 21"/>
              <p:cNvSpPr/>
              <p:nvPr/>
            </p:nvSpPr>
            <p:spPr>
              <a:xfrm>
                <a:off x="6591300" y="4953000"/>
                <a:ext cx="1428750" cy="419100"/>
              </a:xfrm>
              <a:prstGeom prst="roundRect">
                <a:avLst>
                  <a:gd name="adj" fmla="val 18182"/>
                </a:avLst>
              </a:prstGeom>
              <a:solidFill>
                <a:schemeClr val="lt1"/>
              </a:solidFill>
              <a:ln w="9525">
                <a:solidFill>
                  <a:schemeClr val="accent4"/>
                </a:solidFill>
              </a:ln>
            </p:spPr>
          </p:sp>
          <p:sp>
            <p:nvSpPr>
              <p:cNvPr id="22" name="TextBox 22"/>
              <p:cNvSpPr txBox="1"/>
              <p:nvPr/>
            </p:nvSpPr>
            <p:spPr>
              <a:xfrm>
                <a:off x="7159642" y="5013960"/>
                <a:ext cx="292067" cy="234696"/>
              </a:xfrm>
              <a:prstGeom prst="rect">
                <a:avLst/>
              </a:prstGeom>
              <a:noFill/>
              <a:ln>
                <a:noFill/>
              </a:ln>
            </p:spPr>
            <p:txBody>
              <a:bodyPr wrap="none" lIns="0" tIns="0" rIns="0" bIns="0" anchor="t" anchorCtr="0">
                <a:spAutoFit/>
              </a:bodyPr>
              <a:lstStyle/>
              <a:p>
                <a:pPr algn="ctr"/>
                <a:r>
                  <a:rPr lang="en-US" sz="1200" b="1" dirty="0">
                    <a:solidFill>
                      <a:schemeClr val="dk1"/>
                    </a:solidFill>
                    <a:latin typeface="+mn-lt"/>
                    <a:ea typeface="+mn-ea"/>
                    <a:cs typeface="+mn-cs"/>
                  </a:rPr>
                  <a:t>386</a:t>
                </a:r>
              </a:p>
            </p:txBody>
          </p:sp>
          <p:sp>
            <p:nvSpPr>
              <p:cNvPr id="23" name="TextBox 23"/>
              <p:cNvSpPr txBox="1"/>
              <p:nvPr/>
            </p:nvSpPr>
            <p:spPr>
              <a:xfrm>
                <a:off x="6828396" y="5208270"/>
                <a:ext cx="954557" cy="176212"/>
              </a:xfrm>
              <a:prstGeom prst="rect">
                <a:avLst/>
              </a:prstGeom>
              <a:noFill/>
              <a:ln>
                <a:noFill/>
              </a:ln>
            </p:spPr>
            <p:txBody>
              <a:bodyPr wrap="none" lIns="0" tIns="0" rIns="0" bIns="0" anchor="t" anchorCtr="0">
                <a:spAutoFit/>
              </a:bodyPr>
              <a:lstStyle/>
              <a:p>
                <a:pPr algn="ctr"/>
                <a:r>
                  <a:rPr lang="en-US" sz="900" dirty="0">
                    <a:solidFill>
                      <a:srgbClr val="7A828E"/>
                    </a:solidFill>
                    <a:latin typeface="+mn-lt"/>
                    <a:ea typeface="+mn-ea"/>
                    <a:cs typeface="+mn-cs"/>
                  </a:rPr>
                  <a:t>reliable neurons</a:t>
                </a:r>
              </a:p>
            </p:txBody>
          </p:sp>
          <p:sp>
            <p:nvSpPr>
              <p:cNvPr id="24" name="Rectangle 24"/>
              <p:cNvSpPr/>
              <p:nvPr/>
            </p:nvSpPr>
            <p:spPr>
              <a:xfrm>
                <a:off x="8181975" y="4953000"/>
                <a:ext cx="1428750" cy="419100"/>
              </a:xfrm>
              <a:prstGeom prst="roundRect">
                <a:avLst>
                  <a:gd name="adj" fmla="val 18182"/>
                </a:avLst>
              </a:prstGeom>
              <a:solidFill>
                <a:schemeClr val="lt1"/>
              </a:solidFill>
              <a:ln w="9525">
                <a:solidFill>
                  <a:schemeClr val="accent4"/>
                </a:solidFill>
              </a:ln>
            </p:spPr>
          </p:sp>
          <p:sp>
            <p:nvSpPr>
              <p:cNvPr id="25" name="TextBox 25"/>
              <p:cNvSpPr txBox="1"/>
              <p:nvPr/>
            </p:nvSpPr>
            <p:spPr>
              <a:xfrm>
                <a:off x="8590056" y="5013960"/>
                <a:ext cx="612587" cy="234696"/>
              </a:xfrm>
              <a:prstGeom prst="rect">
                <a:avLst/>
              </a:prstGeom>
              <a:noFill/>
              <a:ln>
                <a:noFill/>
              </a:ln>
            </p:spPr>
            <p:txBody>
              <a:bodyPr wrap="none" lIns="0" tIns="0" rIns="0" bIns="0" anchor="t" anchorCtr="0">
                <a:spAutoFit/>
              </a:bodyPr>
              <a:lstStyle/>
              <a:p>
                <a:pPr algn="ctr"/>
                <a:r>
                  <a:rPr lang="en-US" sz="1200" b="1" dirty="0">
                    <a:solidFill>
                      <a:schemeClr val="dk1"/>
                    </a:solidFill>
                    <a:latin typeface="+mn-lt"/>
                    <a:ea typeface="+mn-ea"/>
                    <a:cs typeface="+mn-cs"/>
                  </a:rPr>
                  <a:t>V1 + AL</a:t>
                </a:r>
              </a:p>
            </p:txBody>
          </p:sp>
          <p:sp>
            <p:nvSpPr>
              <p:cNvPr id="26" name="TextBox 26"/>
              <p:cNvSpPr txBox="1"/>
              <p:nvPr/>
            </p:nvSpPr>
            <p:spPr>
              <a:xfrm>
                <a:off x="8537200" y="5208270"/>
                <a:ext cx="718299" cy="176212"/>
              </a:xfrm>
              <a:prstGeom prst="rect">
                <a:avLst/>
              </a:prstGeom>
              <a:noFill/>
              <a:ln>
                <a:noFill/>
              </a:ln>
            </p:spPr>
            <p:txBody>
              <a:bodyPr wrap="none" lIns="0" tIns="0" rIns="0" bIns="0" anchor="t" anchorCtr="0">
                <a:spAutoFit/>
              </a:bodyPr>
              <a:lstStyle/>
              <a:p>
                <a:pPr algn="ctr"/>
                <a:r>
                  <a:rPr lang="en-US" sz="900" dirty="0">
                    <a:solidFill>
                      <a:srgbClr val="7A828E"/>
                    </a:solidFill>
                    <a:latin typeface="+mn-lt"/>
                    <a:ea typeface="+mn-ea"/>
                    <a:cs typeface="+mn-cs"/>
                  </a:rPr>
                  <a:t>visual areas</a:t>
                </a:r>
              </a:p>
            </p:txBody>
          </p:sp>
          <p:sp>
            <p:nvSpPr>
              <p:cNvPr id="27" name="Rectangle 27"/>
              <p:cNvSpPr/>
              <p:nvPr/>
            </p:nvSpPr>
            <p:spPr>
              <a:xfrm>
                <a:off x="9772650" y="4953000"/>
                <a:ext cx="1428750" cy="419100"/>
              </a:xfrm>
              <a:prstGeom prst="roundRect">
                <a:avLst>
                  <a:gd name="adj" fmla="val 18182"/>
                </a:avLst>
              </a:prstGeom>
              <a:solidFill>
                <a:schemeClr val="lt1"/>
              </a:solidFill>
              <a:ln w="9525">
                <a:solidFill>
                  <a:schemeClr val="accent4"/>
                </a:solidFill>
              </a:ln>
            </p:spPr>
          </p:sp>
          <p:sp>
            <p:nvSpPr>
              <p:cNvPr id="28" name="TextBox 28"/>
              <p:cNvSpPr txBox="1"/>
              <p:nvPr/>
            </p:nvSpPr>
            <p:spPr>
              <a:xfrm>
                <a:off x="10147047" y="5013960"/>
                <a:ext cx="679955" cy="234696"/>
              </a:xfrm>
              <a:prstGeom prst="rect">
                <a:avLst/>
              </a:prstGeom>
              <a:noFill/>
              <a:ln>
                <a:noFill/>
              </a:ln>
            </p:spPr>
            <p:txBody>
              <a:bodyPr wrap="none" lIns="0" tIns="0" rIns="0" bIns="0" anchor="t" anchorCtr="0">
                <a:spAutoFit/>
              </a:bodyPr>
              <a:lstStyle/>
              <a:p>
                <a:pPr algn="ctr"/>
                <a:r>
                  <a:rPr lang="en-US" sz="1200" b="1" dirty="0">
                    <a:solidFill>
                      <a:schemeClr val="dk1"/>
                    </a:solidFill>
                    <a:latin typeface="+mn-lt"/>
                    <a:ea typeface="+mn-ea"/>
                    <a:cs typeface="+mn-cs"/>
                  </a:rPr>
                  <a:t>+ Visnav</a:t>
                </a:r>
              </a:p>
            </p:txBody>
          </p:sp>
          <p:sp>
            <p:nvSpPr>
              <p:cNvPr id="29" name="TextBox 29"/>
              <p:cNvSpPr txBox="1"/>
              <p:nvPr/>
            </p:nvSpPr>
            <p:spPr>
              <a:xfrm>
                <a:off x="9994602" y="5208270"/>
                <a:ext cx="984847" cy="176212"/>
              </a:xfrm>
              <a:prstGeom prst="rect">
                <a:avLst/>
              </a:prstGeom>
              <a:noFill/>
              <a:ln>
                <a:noFill/>
              </a:ln>
            </p:spPr>
            <p:txBody>
              <a:bodyPr wrap="none" lIns="0" tIns="0" rIns="0" bIns="0" anchor="t" anchorCtr="0">
                <a:spAutoFit/>
              </a:bodyPr>
              <a:lstStyle/>
              <a:p>
                <a:pPr algn="ctr"/>
                <a:r>
                  <a:rPr lang="en-US" sz="900" dirty="0">
                    <a:solidFill>
                      <a:srgbClr val="7A828E"/>
                    </a:solidFill>
                    <a:latin typeface="+mn-lt"/>
                    <a:ea typeface="+mn-ea"/>
                    <a:cs typeface="+mn-cs"/>
                  </a:rPr>
                  <a:t>speed / behavior</a:t>
                </a:r>
              </a:p>
            </p:txBody>
          </p:sp>
        </p:grpSp>
        <p:sp>
          <p:nvSpPr>
            <p:cNvPr id="31" name="TextBox 31"/>
            <p:cNvSpPr txBox="1"/>
            <p:nvPr/>
          </p:nvSpPr>
          <p:spPr>
            <a:xfrm>
              <a:off x="6585585" y="5612606"/>
              <a:ext cx="417884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gratings &amp; naturalistic videos · models ~40–100M params</a:t>
              </a:r>
            </a:p>
          </p:txBody>
        </p:sp>
      </p:grpSp>
      <p:sp>
        <p:nvSpPr>
          <p:cNvPr id="33" name="TextBox 33"/>
          <p:cNvSpPr txBox="1"/>
          <p:nvPr/>
        </p:nvSpPr>
        <p:spPr>
          <a:xfrm>
            <a:off x="680847" y="6505099"/>
            <a:ext cx="1602745" cy="190690"/>
          </a:xfrm>
          <a:prstGeom prst="rect">
            <a:avLst/>
          </a:prstGeom>
          <a:noFill/>
          <a:ln>
            <a:noFill/>
          </a:ln>
        </p:spPr>
        <p:txBody>
          <a:bodyPr wrap="none" lIns="0" tIns="0" rIns="0" bIns="0" anchor="t" anchorCtr="0">
            <a:spAutoFit/>
          </a:bodyPr>
          <a:lstStyle/>
          <a:p>
            <a:pPr algn="l"/>
            <a:r>
              <a:rPr lang="en-US" sz="980" dirty="0">
                <a:solidFill>
                  <a:srgbClr val="9AA1AC"/>
                </a:solidFill>
                <a:latin typeface="+mn-lt"/>
                <a:ea typeface="+mn-ea"/>
                <a:cs typeface="+mn-cs"/>
              </a:rPr>
              <a:t>Neuroformer · ICLR 2024</a:t>
            </a:r>
          </a:p>
        </p:txBody>
      </p:sp>
      <p:sp>
        <p:nvSpPr>
          <p:cNvPr id="34" name="TextBox 34"/>
          <p:cNvSpPr txBox="1"/>
          <p:nvPr/>
        </p:nvSpPr>
        <p:spPr>
          <a:xfrm>
            <a:off x="11059290" y="6505099"/>
            <a:ext cx="451863" cy="190690"/>
          </a:xfrm>
          <a:prstGeom prst="rect">
            <a:avLst/>
          </a:prstGeom>
          <a:noFill/>
          <a:ln>
            <a:noFill/>
          </a:ln>
        </p:spPr>
        <p:txBody>
          <a:bodyPr wrap="none" lIns="0" tIns="0" rIns="0" bIns="0" anchor="t" anchorCtr="0">
            <a:spAutoFit/>
          </a:bodyPr>
          <a:lstStyle/>
          <a:p>
            <a:pPr algn="r"/>
            <a:r>
              <a:rPr lang="en-US" sz="980" dirty="0">
                <a:solidFill>
                  <a:srgbClr val="9AA1AC"/>
                </a:solidFill>
                <a:latin typeface="+mn-lt"/>
                <a:ea typeface="+mn-ea"/>
                <a:cs typeface="+mn-cs"/>
              </a:rPr>
              <a:t>06 / 10</a:t>
            </a:r>
          </a:p>
        </p:txBody>
      </p:sp>
      <p:sp>
        <p:nvSpPr>
          <p:cNvPr id="35" name="cue_s06_c1_validation_spans_two_levels" title="cue_s06_c1_validation_spans_two_levels" descr="cue_s06_c1_validation_spans_two_levels Validation spans two levels."/>
          <p:cNvSpPr/>
          <p:nvPr/>
        </p:nvSpPr>
        <p:spPr>
          <a:xfrm>
            <a:off x="686409" y="1790623"/>
            <a:ext cx="10820400" cy="4951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ue_s06_c2_first_simulated_spiking_network_thre" title="cue_s06_c2_first_simulated_spiking_network_thre" descr="cue_s06_c2_first_simulated_spiking_network_thre First, a simulated spiking network with three hub neurons gives a ground-truth connectivity matrix."/>
          <p:cNvSpPr/>
          <p:nvPr/>
        </p:nvSpPr>
        <p:spPr>
          <a:xfrm>
            <a:off x="686409" y="2457221"/>
            <a:ext cx="5219395" cy="34482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06_c3_second_two_photon_calcium_imaging_mo" title="cue_s06_c3_second_two_photon_calcium_imaging_mo" descr="cue_s06_c3_second_two_photon_calcium_imaging_mo Second, two-photon calcium imaging of mouse visual cortex records 386 neurons across V1 and AL viewing gratings and natural videos, plus a virtual-navigation dataset pairing activity with running speed."/>
          <p:cNvSpPr/>
          <p:nvPr/>
        </p:nvSpPr>
        <p:spPr>
          <a:xfrm>
            <a:off x="6286195" y="2457221"/>
            <a:ext cx="5219395" cy="34482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80085" y="678656"/>
            <a:ext cx="1489019" cy="220028"/>
          </a:xfrm>
          <a:prstGeom prst="rect">
            <a:avLst/>
          </a:prstGeom>
          <a:noFill/>
          <a:ln>
            <a:noFill/>
          </a:ln>
        </p:spPr>
        <p:txBody>
          <a:bodyPr wrap="none" lIns="0" tIns="0" rIns="0" bIns="0" anchor="t" anchorCtr="0">
            <a:spAutoFit/>
          </a:bodyPr>
          <a:lstStyle/>
          <a:p>
            <a:pPr algn="l"/>
            <a:r>
              <a:rPr lang="en-US" sz="1120" b="1" spc="112" dirty="0">
                <a:solidFill>
                  <a:schemeClr val="accent1"/>
                </a:solidFill>
                <a:latin typeface="+mn-lt"/>
                <a:ea typeface="+mn-ea"/>
                <a:cs typeface="+mn-cs"/>
              </a:rPr>
              <a:t>07 · KEY RESULT</a:t>
            </a:r>
          </a:p>
        </p:txBody>
      </p:sp>
      <p:sp>
        <p:nvSpPr>
          <p:cNvPr id="3" name="TextBox 3"/>
          <p:cNvSpPr txBox="1"/>
          <p:nvPr/>
        </p:nvSpPr>
        <p:spPr>
          <a:xfrm>
            <a:off x="670560" y="914400"/>
            <a:ext cx="8737235"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Connectivity recovered, behavior decoded</a:t>
            </a:r>
          </a:p>
        </p:txBody>
      </p:sp>
      <p:sp>
        <p:nvSpPr>
          <p:cNvPr id="4" name="Rectangle 4"/>
          <p:cNvSpPr/>
          <p:nvPr/>
        </p:nvSpPr>
        <p:spPr>
          <a:xfrm>
            <a:off x="685800" y="1409700"/>
            <a:ext cx="609600" cy="38100"/>
          </a:xfrm>
          <a:prstGeom prst="roundRect">
            <a:avLst>
              <a:gd name="adj" fmla="val 50000"/>
            </a:avLst>
          </a:prstGeom>
          <a:solidFill>
            <a:schemeClr val="accent1"/>
          </a:solidFill>
          <a:ln>
            <a:noFill/>
          </a:ln>
        </p:spPr>
        <p:txBody>
          <a:bodyPr/>
          <a:p/>
        </p:txBody>
      </p:sp>
      <p:grpSp>
        <p:nvGrpSpPr>
          <p:cNvPr id="12" name="Group 12"/>
          <p:cNvGrpSpPr/>
          <p:nvPr/>
        </p:nvGrpSpPr>
        <p:grpSpPr>
          <a:xfrm>
            <a:off x="685800" y="1828800"/>
            <a:ext cx="5219700" cy="1866900"/>
            <a:chOff x="685800" y="1828800"/>
            <a:chExt cx="5219700" cy="1866900"/>
          </a:xfrm>
        </p:grpSpPr>
        <p:sp>
          <p:nvSpPr>
            <p:cNvPr id="5" name="Rectangle 5"/>
            <p:cNvSpPr/>
            <p:nvPr/>
          </p:nvSpPr>
          <p:spPr>
            <a:xfrm>
              <a:off x="685800" y="1828800"/>
              <a:ext cx="5219700" cy="1866900"/>
            </a:xfrm>
            <a:prstGeom prst="roundRect">
              <a:avLst>
                <a:gd name="adj" fmla="val 8163"/>
              </a:avLst>
            </a:prstGeom>
            <a:solidFill>
              <a:schemeClr val="lt2"/>
            </a:solidFill>
            <a:ln w="9525">
              <a:solidFill>
                <a:schemeClr val="accent4"/>
              </a:solidFill>
            </a:ln>
          </p:spPr>
        </p:sp>
        <p:sp>
          <p:nvSpPr>
            <p:cNvPr id="6" name="Rectangle 6"/>
            <p:cNvSpPr/>
            <p:nvPr/>
          </p:nvSpPr>
          <p:spPr>
            <a:xfrm>
              <a:off x="685800" y="1828800"/>
              <a:ext cx="76200" cy="1866900"/>
            </a:xfrm>
            <a:prstGeom prst="roundRect">
              <a:avLst>
                <a:gd name="adj" fmla="val 50000"/>
              </a:avLst>
            </a:prstGeom>
            <a:solidFill>
              <a:schemeClr val="accent1"/>
            </a:solidFill>
            <a:ln>
              <a:noFill/>
            </a:ln>
          </p:spPr>
        </p:sp>
        <p:sp>
          <p:nvSpPr>
            <p:cNvPr id="7" name="TextBox 7"/>
            <p:cNvSpPr txBox="1"/>
            <p:nvPr/>
          </p:nvSpPr>
          <p:spPr>
            <a:xfrm>
              <a:off x="985266" y="2077402"/>
              <a:ext cx="1663301" cy="205359"/>
            </a:xfrm>
            <a:prstGeom prst="rect">
              <a:avLst/>
            </a:prstGeom>
            <a:noFill/>
            <a:ln>
              <a:noFill/>
            </a:ln>
          </p:spPr>
          <p:txBody>
            <a:bodyPr wrap="none" lIns="0" tIns="0" rIns="0" bIns="0" anchor="t" anchorCtr="0">
              <a:spAutoFit/>
            </a:bodyPr>
            <a:lstStyle/>
            <a:p>
              <a:pPr algn="l"/>
              <a:r>
                <a:rPr lang="en-US" sz="1050" b="1" spc="75" dirty="0">
                  <a:solidFill>
                    <a:schemeClr val="accent1"/>
                  </a:solidFill>
                  <a:latin typeface="+mn-lt"/>
                  <a:ea typeface="+mn-ea"/>
                  <a:cs typeface="+mn-cs"/>
                </a:rPr>
                <a:t>SIMULATED NETWORK</a:t>
              </a:r>
            </a:p>
          </p:txBody>
        </p:sp>
        <p:sp>
          <p:nvSpPr>
            <p:cNvPr id="8" name="TextBox 8"/>
            <p:cNvSpPr txBox="1"/>
            <p:nvPr/>
          </p:nvSpPr>
          <p:spPr>
            <a:xfrm>
              <a:off x="982599" y="2363629"/>
              <a:ext cx="2937392"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Attention reveals directed</a:t>
              </a:r>
            </a:p>
          </p:txBody>
        </p:sp>
        <p:sp>
          <p:nvSpPr>
            <p:cNvPr id="9" name="TextBox 9"/>
            <p:cNvSpPr txBox="1"/>
            <p:nvPr/>
          </p:nvSpPr>
          <p:spPr>
            <a:xfrm>
              <a:off x="982599" y="2611279"/>
              <a:ext cx="2930518"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connectivity + hub neurons</a:t>
              </a:r>
            </a:p>
          </p:txBody>
        </p:sp>
        <p:sp>
          <p:nvSpPr>
            <p:cNvPr id="10" name="TextBox 10"/>
            <p:cNvSpPr txBox="1"/>
            <p:nvPr/>
          </p:nvSpPr>
          <p:spPr>
            <a:xfrm>
              <a:off x="984504" y="3013710"/>
              <a:ext cx="2720508"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Plain Pearson correlation cannot —</a:t>
              </a:r>
            </a:p>
          </p:txBody>
        </p:sp>
        <p:sp>
          <p:nvSpPr>
            <p:cNvPr id="11" name="TextBox 11"/>
            <p:cNvSpPr txBox="1"/>
            <p:nvPr/>
          </p:nvSpPr>
          <p:spPr>
            <a:xfrm>
              <a:off x="984504" y="3242310"/>
              <a:ext cx="2265731"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it has no sense of direction.</a:t>
              </a:r>
            </a:p>
          </p:txBody>
        </p:sp>
      </p:grpSp>
      <p:grpSp>
        <p:nvGrpSpPr>
          <p:cNvPr id="20" name="Group 20"/>
          <p:cNvGrpSpPr/>
          <p:nvPr/>
        </p:nvGrpSpPr>
        <p:grpSpPr>
          <a:xfrm>
            <a:off x="6286500" y="1828800"/>
            <a:ext cx="5219700" cy="1866900"/>
            <a:chOff x="6286500" y="1828800"/>
            <a:chExt cx="5219700" cy="1866900"/>
          </a:xfrm>
        </p:grpSpPr>
        <p:sp>
          <p:nvSpPr>
            <p:cNvPr id="13" name="Rectangle 13"/>
            <p:cNvSpPr/>
            <p:nvPr/>
          </p:nvSpPr>
          <p:spPr>
            <a:xfrm>
              <a:off x="6286500" y="1828800"/>
              <a:ext cx="5219700" cy="1866900"/>
            </a:xfrm>
            <a:prstGeom prst="roundRect">
              <a:avLst>
                <a:gd name="adj" fmla="val 8163"/>
              </a:avLst>
            </a:prstGeom>
            <a:solidFill>
              <a:schemeClr val="lt2"/>
            </a:solidFill>
            <a:ln w="9525">
              <a:solidFill>
                <a:schemeClr val="accent4"/>
              </a:solidFill>
            </a:ln>
          </p:spPr>
        </p:sp>
        <p:sp>
          <p:nvSpPr>
            <p:cNvPr id="14" name="Rectangle 14"/>
            <p:cNvSpPr/>
            <p:nvPr/>
          </p:nvSpPr>
          <p:spPr>
            <a:xfrm>
              <a:off x="6286500" y="1828800"/>
              <a:ext cx="76200" cy="1866900"/>
            </a:xfrm>
            <a:prstGeom prst="roundRect">
              <a:avLst>
                <a:gd name="adj" fmla="val 50000"/>
              </a:avLst>
            </a:prstGeom>
            <a:solidFill>
              <a:schemeClr val="accent2"/>
            </a:solidFill>
            <a:ln>
              <a:noFill/>
            </a:ln>
          </p:spPr>
        </p:sp>
        <p:sp>
          <p:nvSpPr>
            <p:cNvPr id="15" name="TextBox 15"/>
            <p:cNvSpPr txBox="1"/>
            <p:nvPr/>
          </p:nvSpPr>
          <p:spPr>
            <a:xfrm>
              <a:off x="6585966" y="2077402"/>
              <a:ext cx="1058266" cy="205359"/>
            </a:xfrm>
            <a:prstGeom prst="rect">
              <a:avLst/>
            </a:prstGeom>
            <a:noFill/>
            <a:ln>
              <a:noFill/>
            </a:ln>
          </p:spPr>
          <p:txBody>
            <a:bodyPr wrap="none" lIns="0" tIns="0" rIns="0" bIns="0" anchor="t" anchorCtr="0">
              <a:spAutoFit/>
            </a:bodyPr>
            <a:lstStyle/>
            <a:p>
              <a:pPr algn="l"/>
              <a:r>
                <a:rPr lang="en-US" sz="1050" b="1" spc="75" dirty="0">
                  <a:solidFill>
                    <a:schemeClr val="accent2"/>
                  </a:solidFill>
                  <a:latin typeface="+mn-lt"/>
                  <a:ea typeface="+mn-ea"/>
                  <a:cs typeface="+mn-cs"/>
                </a:rPr>
                <a:t>REAL CORTEX</a:t>
              </a:r>
            </a:p>
          </p:txBody>
        </p:sp>
        <p:sp>
          <p:nvSpPr>
            <p:cNvPr id="16" name="TextBox 16"/>
            <p:cNvSpPr txBox="1"/>
            <p:nvPr/>
          </p:nvSpPr>
          <p:spPr>
            <a:xfrm>
              <a:off x="6583299" y="2363629"/>
              <a:ext cx="2736831"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Reproduces responses to</a:t>
              </a:r>
            </a:p>
          </p:txBody>
        </p:sp>
        <p:sp>
          <p:nvSpPr>
            <p:cNvPr id="17" name="TextBox 17"/>
            <p:cNvSpPr txBox="1"/>
            <p:nvPr/>
          </p:nvSpPr>
          <p:spPr>
            <a:xfrm>
              <a:off x="6583299" y="2611279"/>
              <a:ext cx="2751851"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gratings &amp; natural videos</a:t>
              </a:r>
            </a:p>
          </p:txBody>
        </p:sp>
        <p:sp>
          <p:nvSpPr>
            <p:cNvPr id="18" name="TextBox 18"/>
            <p:cNvSpPr txBox="1"/>
            <p:nvPr/>
          </p:nvSpPr>
          <p:spPr>
            <a:xfrm>
              <a:off x="6585204" y="3013710"/>
              <a:ext cx="2763601"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Population predictions beat a GLM,</a:t>
              </a:r>
            </a:p>
          </p:txBody>
        </p:sp>
        <p:sp>
          <p:nvSpPr>
            <p:cNvPr id="19" name="TextBox 19"/>
            <p:cNvSpPr txBox="1"/>
            <p:nvPr/>
          </p:nvSpPr>
          <p:spPr>
            <a:xfrm>
              <a:off x="6585204" y="3242310"/>
              <a:ext cx="2047646"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significantly (p ≈ 0.02).</a:t>
              </a:r>
            </a:p>
          </p:txBody>
        </p:sp>
      </p:grpSp>
      <p:grpSp>
        <p:nvGrpSpPr>
          <p:cNvPr id="30" name="Group 30"/>
          <p:cNvGrpSpPr/>
          <p:nvPr/>
        </p:nvGrpSpPr>
        <p:grpSpPr>
          <a:xfrm>
            <a:off x="685800" y="3886200"/>
            <a:ext cx="10820400" cy="2019300"/>
            <a:chOff x="685800" y="3886200"/>
            <a:chExt cx="10820400" cy="2019300"/>
          </a:xfrm>
        </p:grpSpPr>
        <p:sp>
          <p:nvSpPr>
            <p:cNvPr id="21" name="Rectangle 21"/>
            <p:cNvSpPr/>
            <p:nvPr/>
          </p:nvSpPr>
          <p:spPr>
            <a:xfrm>
              <a:off x="685800" y="3886200"/>
              <a:ext cx="10820400" cy="2019300"/>
            </a:xfrm>
            <a:prstGeom prst="roundRect">
              <a:avLst>
                <a:gd name="adj" fmla="val 7547"/>
              </a:avLst>
            </a:prstGeom>
            <a:solidFill>
              <a:srgbClr val="EAF0FB"/>
            </a:solidFill>
            <a:ln w="9525">
              <a:solidFill>
                <a:srgbClr val="CBD9F7"/>
              </a:solidFill>
            </a:ln>
          </p:spPr>
        </p:sp>
        <p:sp>
          <p:nvSpPr>
            <p:cNvPr id="22" name="TextBox 22"/>
            <p:cNvSpPr txBox="1"/>
            <p:nvPr/>
          </p:nvSpPr>
          <p:spPr>
            <a:xfrm>
              <a:off x="985266" y="4115752"/>
              <a:ext cx="3405652" cy="205359"/>
            </a:xfrm>
            <a:prstGeom prst="rect">
              <a:avLst/>
            </a:prstGeom>
            <a:noFill/>
            <a:ln>
              <a:noFill/>
            </a:ln>
          </p:spPr>
          <p:txBody>
            <a:bodyPr wrap="none" lIns="0" tIns="0" rIns="0" bIns="0" anchor="t" anchorCtr="0">
              <a:spAutoFit/>
            </a:bodyPr>
            <a:lstStyle/>
            <a:p>
              <a:pPr algn="l"/>
              <a:r>
                <a:rPr lang="en-US" sz="1050" b="1" spc="75" dirty="0">
                  <a:solidFill>
                    <a:schemeClr val="accent3"/>
                  </a:solidFill>
                  <a:latin typeface="+mn-lt"/>
                  <a:ea typeface="+mn-ea"/>
                  <a:cs typeface="+mn-cs"/>
                </a:rPr>
                <a:t>FINE-TUNED TO DECODE RUNNING BEHAVIOR</a:t>
              </a:r>
            </a:p>
          </p:txBody>
        </p:sp>
        <p:sp>
          <p:nvSpPr>
            <p:cNvPr id="23" name="Rectangle 23"/>
            <p:cNvSpPr/>
            <p:nvPr/>
          </p:nvSpPr>
          <p:spPr>
            <a:xfrm>
              <a:off x="990600" y="4343400"/>
              <a:ext cx="6667500" cy="1409700"/>
            </a:xfrm>
            <a:prstGeom prst="roundRect">
              <a:avLst>
                <a:gd name="adj" fmla="val 6757"/>
              </a:avLst>
            </a:prstGeom>
            <a:solidFill>
              <a:schemeClr val="lt1"/>
            </a:solidFill>
            <a:ln w="9525">
              <a:solidFill>
                <a:schemeClr val="accent4"/>
              </a:solidFill>
            </a:ln>
          </p:spPr>
        </p:sp>
        <p:pic>
          <p:nvPicPr>
            <p:cNvPr id="24" name="Image 24"/>
            <p:cNvPicPr>
              <a:picLocks noChangeAspect="1"/>
            </p:cNvPicPr>
            <p:nvPr/>
          </p:nvPicPr>
          <p:blipFill>
            <a:blip r:embed="rId2"/>
            <a:stretch>
              <a:fillRect/>
            </a:stretch>
          </p:blipFill>
          <p:spPr>
            <a:xfrm>
              <a:off x="2276407" y="4438650"/>
              <a:ext cx="4095886" cy="1219200"/>
            </a:xfrm>
            <a:prstGeom prst="rect">
              <a:avLst/>
            </a:prstGeom>
          </p:spPr>
        </p:pic>
        <p:grpSp>
          <p:nvGrpSpPr>
            <p:cNvPr id="29" name="Group 29"/>
            <p:cNvGrpSpPr/>
            <p:nvPr/>
          </p:nvGrpSpPr>
          <p:grpSpPr>
            <a:xfrm>
              <a:off x="7962900" y="4343400"/>
              <a:ext cx="3200400" cy="1409700"/>
              <a:chOff x="7962900" y="4343400"/>
              <a:chExt cx="3200400" cy="1409700"/>
            </a:xfrm>
          </p:grpSpPr>
          <p:sp>
            <p:nvSpPr>
              <p:cNvPr id="25" name="Rectangle 25"/>
              <p:cNvSpPr/>
              <p:nvPr/>
            </p:nvSpPr>
            <p:spPr>
              <a:xfrm>
                <a:off x="7962900" y="4343400"/>
                <a:ext cx="3200400" cy="1409700"/>
              </a:xfrm>
              <a:prstGeom prst="roundRect">
                <a:avLst>
                  <a:gd name="adj" fmla="val 8108"/>
                </a:avLst>
              </a:prstGeom>
              <a:solidFill>
                <a:schemeClr val="lt1"/>
              </a:solidFill>
              <a:ln w="9525">
                <a:solidFill>
                  <a:schemeClr val="accent3"/>
                </a:solidFill>
              </a:ln>
            </p:spPr>
          </p:sp>
          <p:sp>
            <p:nvSpPr>
              <p:cNvPr id="26" name="TextBox 26"/>
              <p:cNvSpPr txBox="1"/>
              <p:nvPr/>
            </p:nvSpPr>
            <p:spPr>
              <a:xfrm>
                <a:off x="8797717" y="4453890"/>
                <a:ext cx="1530767" cy="933450"/>
              </a:xfrm>
              <a:prstGeom prst="rect">
                <a:avLst/>
              </a:prstGeom>
              <a:noFill/>
              <a:ln>
                <a:noFill/>
              </a:ln>
            </p:spPr>
            <p:txBody>
              <a:bodyPr wrap="none" lIns="0" tIns="0" rIns="0" bIns="0" anchor="t" anchorCtr="0">
                <a:spAutoFit/>
              </a:bodyPr>
              <a:lstStyle/>
              <a:p>
                <a:pPr algn="ctr"/>
                <a:r>
                  <a:rPr lang="en-US" sz="4800" b="1" dirty="0">
                    <a:solidFill>
                      <a:schemeClr val="accent3"/>
                    </a:solidFill>
                    <a:latin typeface="+mn-lt"/>
                    <a:ea typeface="+mn-ea"/>
                    <a:cs typeface="+mn-cs"/>
                  </a:rPr>
                  <a:t>0.97</a:t>
                </a:r>
              </a:p>
            </p:txBody>
          </p:sp>
          <p:sp>
            <p:nvSpPr>
              <p:cNvPr id="27" name="TextBox 27"/>
              <p:cNvSpPr txBox="1"/>
              <p:nvPr/>
            </p:nvSpPr>
            <p:spPr>
              <a:xfrm>
                <a:off x="8902205" y="5139214"/>
                <a:ext cx="1321790" cy="249364"/>
              </a:xfrm>
              <a:prstGeom prst="rect">
                <a:avLst/>
              </a:prstGeom>
              <a:noFill/>
              <a:ln>
                <a:noFill/>
              </a:ln>
            </p:spPr>
            <p:txBody>
              <a:bodyPr wrap="none" lIns="0" tIns="0" rIns="0" bIns="0" anchor="t" anchorCtr="0">
                <a:spAutoFit/>
              </a:bodyPr>
              <a:lstStyle/>
              <a:p>
                <a:pPr algn="ctr"/>
                <a:r>
                  <a:rPr lang="en-US" sz="1280" b="1" dirty="0">
                    <a:solidFill>
                      <a:schemeClr val="dk1"/>
                    </a:solidFill>
                    <a:latin typeface="+mn-lt"/>
                    <a:ea typeface="+mn-ea"/>
                    <a:cs typeface="+mn-cs"/>
                  </a:rPr>
                  <a:t>peak Pearson r</a:t>
                </a:r>
              </a:p>
            </p:txBody>
          </p:sp>
          <p:sp>
            <p:nvSpPr>
              <p:cNvPr id="28" name="TextBox 28"/>
              <p:cNvSpPr txBox="1"/>
              <p:nvPr/>
            </p:nvSpPr>
            <p:spPr>
              <a:xfrm>
                <a:off x="8419890" y="5411152"/>
                <a:ext cx="2286419"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predicted vs. true running speed</a:t>
                </a:r>
              </a:p>
            </p:txBody>
          </p:sp>
        </p:grpSp>
      </p:grpSp>
      <p:sp>
        <p:nvSpPr>
          <p:cNvPr id="31" name="TextBox 31"/>
          <p:cNvSpPr txBox="1"/>
          <p:nvPr/>
        </p:nvSpPr>
        <p:spPr>
          <a:xfrm>
            <a:off x="680847" y="6505099"/>
            <a:ext cx="1602745" cy="190690"/>
          </a:xfrm>
          <a:prstGeom prst="rect">
            <a:avLst/>
          </a:prstGeom>
          <a:noFill/>
          <a:ln>
            <a:noFill/>
          </a:ln>
        </p:spPr>
        <p:txBody>
          <a:bodyPr wrap="none" lIns="0" tIns="0" rIns="0" bIns="0" anchor="t" anchorCtr="0">
            <a:spAutoFit/>
          </a:bodyPr>
          <a:lstStyle/>
          <a:p>
            <a:pPr algn="l"/>
            <a:r>
              <a:rPr lang="en-US" sz="980" dirty="0">
                <a:solidFill>
                  <a:srgbClr val="9AA1AC"/>
                </a:solidFill>
                <a:latin typeface="+mn-lt"/>
                <a:ea typeface="+mn-ea"/>
                <a:cs typeface="+mn-cs"/>
              </a:rPr>
              <a:t>Neuroformer · ICLR 2024</a:t>
            </a:r>
          </a:p>
        </p:txBody>
      </p:sp>
      <p:sp>
        <p:nvSpPr>
          <p:cNvPr id="32" name="TextBox 32"/>
          <p:cNvSpPr txBox="1"/>
          <p:nvPr/>
        </p:nvSpPr>
        <p:spPr>
          <a:xfrm>
            <a:off x="11059290" y="6505099"/>
            <a:ext cx="451863" cy="190690"/>
          </a:xfrm>
          <a:prstGeom prst="rect">
            <a:avLst/>
          </a:prstGeom>
          <a:noFill/>
          <a:ln>
            <a:noFill/>
          </a:ln>
        </p:spPr>
        <p:txBody>
          <a:bodyPr wrap="none" lIns="0" tIns="0" rIns="0" bIns="0" anchor="t" anchorCtr="0">
            <a:spAutoFit/>
          </a:bodyPr>
          <a:lstStyle/>
          <a:p>
            <a:pPr algn="r"/>
            <a:r>
              <a:rPr lang="en-US" sz="980" dirty="0">
                <a:solidFill>
                  <a:srgbClr val="9AA1AC"/>
                </a:solidFill>
                <a:latin typeface="+mn-lt"/>
                <a:ea typeface="+mn-ea"/>
                <a:cs typeface="+mn-cs"/>
              </a:rPr>
              <a:t>07 / 10</a:t>
            </a:r>
          </a:p>
        </p:txBody>
      </p:sp>
      <p:sp>
        <p:nvSpPr>
          <p:cNvPr id="33" name="cue_s07_c1_simulated_network_neuroformer_attent" title="cue_s07_c1_simulated_network_neuroformer_attent" descr="cue_s07_c1_simulated_network_neuroformer_attent On the simulated network, Neuroformer's attention reveals directed connectivity and identifies the hub neurons, which plain correlation misses for lack of directionality."/>
          <p:cNvSpPr/>
          <p:nvPr/>
        </p:nvSpPr>
        <p:spPr>
          <a:xfrm>
            <a:off x="686409" y="1829028"/>
            <a:ext cx="5219395"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ue_s07_c2_real_cortex_reproduces_responses_gra" title="cue_s07_c2_real_cortex_reproduces_responses_gra" descr="cue_s07_c2_real_cortex_reproduces_responses_gra On real cortex, it reproduces responses to gratings and natural videos, with population predictions significantly beating a GLM, p around 0.02."/>
          <p:cNvSpPr/>
          <p:nvPr/>
        </p:nvSpPr>
        <p:spPr>
          <a:xfrm>
            <a:off x="6286195" y="1829028"/>
            <a:ext cx="5219395"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ue_s07_c3_fine_tuned_decode_running_reaches_pe" title="cue_s07_c3_fine_tuned_decode_running_reaches_pe" descr="cue_s07_c3_fine_tuned_decode_running_reaches_pe Fine-tuned to decode running, it reaches Pearson correlations up to 0.97."/>
          <p:cNvSpPr/>
          <p:nvPr/>
        </p:nvSpPr>
        <p:spPr>
          <a:xfrm>
            <a:off x="686409" y="3886428"/>
            <a:ext cx="10820400" cy="20189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80085" y="678656"/>
            <a:ext cx="1912382" cy="220028"/>
          </a:xfrm>
          <a:prstGeom prst="rect">
            <a:avLst/>
          </a:prstGeom>
          <a:noFill/>
          <a:ln>
            <a:noFill/>
          </a:ln>
        </p:spPr>
        <p:txBody>
          <a:bodyPr wrap="none" lIns="0" tIns="0" rIns="0" bIns="0" anchor="t" anchorCtr="0">
            <a:spAutoFit/>
          </a:bodyPr>
          <a:lstStyle/>
          <a:p>
            <a:pPr algn="l"/>
            <a:r>
              <a:rPr lang="en-US" sz="1120" b="1" spc="112" dirty="0">
                <a:solidFill>
                  <a:schemeClr val="accent1"/>
                </a:solidFill>
                <a:latin typeface="+mn-lt"/>
                <a:ea typeface="+mn-ea"/>
                <a:cs typeface="+mn-cs"/>
              </a:rPr>
              <a:t>08 · ABLATION STUDY</a:t>
            </a:r>
          </a:p>
        </p:txBody>
      </p:sp>
      <p:sp>
        <p:nvSpPr>
          <p:cNvPr id="3" name="TextBox 3"/>
          <p:cNvSpPr txBox="1"/>
          <p:nvPr/>
        </p:nvSpPr>
        <p:spPr>
          <a:xfrm>
            <a:off x="670560" y="914400"/>
            <a:ext cx="6829044"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Every component pulls its weight</a:t>
            </a:r>
          </a:p>
        </p:txBody>
      </p:sp>
      <p:sp>
        <p:nvSpPr>
          <p:cNvPr id="4" name="Rectangle 4"/>
          <p:cNvSpPr/>
          <p:nvPr/>
        </p:nvSpPr>
        <p:spPr>
          <a:xfrm>
            <a:off x="685800" y="1409700"/>
            <a:ext cx="609600" cy="38100"/>
          </a:xfrm>
          <a:prstGeom prst="roundRect">
            <a:avLst>
              <a:gd name="adj" fmla="val 50000"/>
            </a:avLst>
          </a:prstGeom>
          <a:solidFill>
            <a:schemeClr val="accent1"/>
          </a:solidFill>
          <a:ln>
            <a:noFill/>
          </a:ln>
        </p:spPr>
        <p:txBody>
          <a:bodyPr/>
          <a:p/>
        </p:txBody>
      </p:sp>
      <p:grpSp>
        <p:nvGrpSpPr>
          <p:cNvPr id="21" name="Group 21"/>
          <p:cNvGrpSpPr/>
          <p:nvPr/>
        </p:nvGrpSpPr>
        <p:grpSpPr>
          <a:xfrm>
            <a:off x="685800" y="1828800"/>
            <a:ext cx="5676900" cy="4076700"/>
            <a:chOff x="685800" y="1828800"/>
            <a:chExt cx="5676900" cy="4076700"/>
          </a:xfrm>
        </p:grpSpPr>
        <p:sp>
          <p:nvSpPr>
            <p:cNvPr id="5" name="Rectangle 5"/>
            <p:cNvSpPr/>
            <p:nvPr/>
          </p:nvSpPr>
          <p:spPr>
            <a:xfrm>
              <a:off x="685800" y="1828800"/>
              <a:ext cx="5676900" cy="4076700"/>
            </a:xfrm>
            <a:prstGeom prst="roundRect">
              <a:avLst>
                <a:gd name="adj" fmla="val 3738"/>
              </a:avLst>
            </a:prstGeom>
            <a:solidFill>
              <a:schemeClr val="lt2"/>
            </a:solidFill>
            <a:ln w="9525">
              <a:solidFill>
                <a:schemeClr val="accent4"/>
              </a:solidFill>
            </a:ln>
          </p:spPr>
        </p:sp>
        <p:sp>
          <p:nvSpPr>
            <p:cNvPr id="6" name="TextBox 6"/>
            <p:cNvSpPr txBox="1"/>
            <p:nvPr/>
          </p:nvSpPr>
          <p:spPr>
            <a:xfrm>
              <a:off x="985266" y="2058352"/>
              <a:ext cx="3743455" cy="205359"/>
            </a:xfrm>
            <a:prstGeom prst="rect">
              <a:avLst/>
            </a:prstGeom>
            <a:noFill/>
            <a:ln>
              <a:noFill/>
            </a:ln>
          </p:spPr>
          <p:txBody>
            <a:bodyPr wrap="none" lIns="0" tIns="0" rIns="0" bIns="0" anchor="t" anchorCtr="0">
              <a:spAutoFit/>
            </a:bodyPr>
            <a:lstStyle/>
            <a:p>
              <a:pPr algn="l"/>
              <a:r>
                <a:rPr lang="en-US" sz="1050" b="1" spc="75" dirty="0">
                  <a:solidFill>
                    <a:schemeClr val="accent1"/>
                  </a:solidFill>
                  <a:latin typeface="+mn-lt"/>
                  <a:ea typeface="+mn-ea"/>
                  <a:cs typeface="+mn-cs"/>
                </a:rPr>
                <a:t>REMOVE COMPONENTS ONE AT A TIME (FIG. 6)</a:t>
              </a:r>
            </a:p>
          </p:txBody>
        </p:sp>
        <p:sp>
          <p:nvSpPr>
            <p:cNvPr id="7" name="Rectangle 7"/>
            <p:cNvSpPr/>
            <p:nvPr/>
          </p:nvSpPr>
          <p:spPr>
            <a:xfrm>
              <a:off x="990600" y="2286000"/>
              <a:ext cx="5067300" cy="2362200"/>
            </a:xfrm>
            <a:prstGeom prst="roundRect">
              <a:avLst>
                <a:gd name="adj" fmla="val 4032"/>
              </a:avLst>
            </a:prstGeom>
            <a:solidFill>
              <a:schemeClr val="lt1"/>
            </a:solidFill>
            <a:ln w="9525">
              <a:solidFill>
                <a:schemeClr val="accent4"/>
              </a:solidFill>
            </a:ln>
          </p:spPr>
        </p:sp>
        <p:pic>
          <p:nvPicPr>
            <p:cNvPr id="8" name="Image 8"/>
            <p:cNvPicPr>
              <a:picLocks noChangeAspect="1"/>
            </p:cNvPicPr>
            <p:nvPr/>
          </p:nvPicPr>
          <p:blipFill>
            <a:blip r:embed="rId2"/>
            <a:stretch>
              <a:fillRect/>
            </a:stretch>
          </p:blipFill>
          <p:spPr>
            <a:xfrm>
              <a:off x="1085850" y="2485734"/>
              <a:ext cx="4876800" cy="1962732"/>
            </a:xfrm>
            <a:prstGeom prst="rect">
              <a:avLst/>
            </a:prstGeom>
          </p:spPr>
        </p:pic>
        <p:sp>
          <p:nvSpPr>
            <p:cNvPr id="9" name="TextBox 9"/>
            <p:cNvSpPr txBox="1"/>
            <p:nvPr/>
          </p:nvSpPr>
          <p:spPr>
            <a:xfrm>
              <a:off x="984504" y="4785360"/>
              <a:ext cx="3758061"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Each part adds measurable predictive power:</a:t>
              </a:r>
            </a:p>
          </p:txBody>
        </p:sp>
        <p:grpSp>
          <p:nvGrpSpPr>
            <p:cNvPr id="20" name="Group 20"/>
            <p:cNvGrpSpPr/>
            <p:nvPr/>
          </p:nvGrpSpPr>
          <p:grpSpPr>
            <a:xfrm>
              <a:off x="990600" y="5067300"/>
              <a:ext cx="5067300" cy="381000"/>
              <a:chOff x="990600" y="5067300"/>
              <a:chExt cx="5067300" cy="381000"/>
            </a:xfrm>
          </p:grpSpPr>
          <p:sp>
            <p:nvSpPr>
              <p:cNvPr id="10" name="Rectangle 10"/>
              <p:cNvSpPr/>
              <p:nvPr/>
            </p:nvSpPr>
            <p:spPr>
              <a:xfrm>
                <a:off x="990600" y="5067300"/>
                <a:ext cx="952500" cy="381000"/>
              </a:xfrm>
              <a:prstGeom prst="roundRect">
                <a:avLst>
                  <a:gd name="adj" fmla="val 20000"/>
                </a:avLst>
              </a:prstGeom>
              <a:solidFill>
                <a:srgbClr val="EAF0FB"/>
              </a:solidFill>
              <a:ln>
                <a:noFill/>
              </a:ln>
            </p:spPr>
          </p:sp>
          <p:sp>
            <p:nvSpPr>
              <p:cNvPr id="11" name="TextBox 11"/>
              <p:cNvSpPr txBox="1"/>
              <p:nvPr/>
            </p:nvSpPr>
            <p:spPr>
              <a:xfrm>
                <a:off x="1055124" y="5200174"/>
                <a:ext cx="823451" cy="190690"/>
              </a:xfrm>
              <a:prstGeom prst="rect">
                <a:avLst/>
              </a:prstGeom>
              <a:noFill/>
              <a:ln>
                <a:noFill/>
              </a:ln>
            </p:spPr>
            <p:txBody>
              <a:bodyPr wrap="none" lIns="0" tIns="0" rIns="0" bIns="0" anchor="t" anchorCtr="0">
                <a:spAutoFit/>
              </a:bodyPr>
              <a:lstStyle/>
              <a:p>
                <a:pPr algn="ctr"/>
                <a:r>
                  <a:rPr lang="en-US" sz="980" b="1" dirty="0">
                    <a:solidFill>
                      <a:schemeClr val="accent1"/>
                    </a:solidFill>
                    <a:latin typeface="+mn-lt"/>
                    <a:ea typeface="+mn-ea"/>
                    <a:cs typeface="+mn-cs"/>
                  </a:rPr>
                  <a:t>Current St.</a:t>
                </a:r>
              </a:p>
            </p:txBody>
          </p:sp>
          <p:sp>
            <p:nvSpPr>
              <p:cNvPr id="12" name="Rectangle 12"/>
              <p:cNvSpPr/>
              <p:nvPr/>
            </p:nvSpPr>
            <p:spPr>
              <a:xfrm>
                <a:off x="2019300" y="5067300"/>
                <a:ext cx="952500" cy="381000"/>
              </a:xfrm>
              <a:prstGeom prst="roundRect">
                <a:avLst>
                  <a:gd name="adj" fmla="val 20000"/>
                </a:avLst>
              </a:prstGeom>
              <a:solidFill>
                <a:srgbClr val="EAF0FB"/>
              </a:solidFill>
              <a:ln>
                <a:noFill/>
              </a:ln>
            </p:spPr>
          </p:sp>
          <p:sp>
            <p:nvSpPr>
              <p:cNvPr id="13" name="TextBox 13"/>
              <p:cNvSpPr txBox="1"/>
              <p:nvPr/>
            </p:nvSpPr>
            <p:spPr>
              <a:xfrm>
                <a:off x="2197736" y="5200174"/>
                <a:ext cx="595627" cy="190690"/>
              </a:xfrm>
              <a:prstGeom prst="rect">
                <a:avLst/>
              </a:prstGeom>
              <a:noFill/>
              <a:ln>
                <a:noFill/>
              </a:ln>
            </p:spPr>
            <p:txBody>
              <a:bodyPr wrap="none" lIns="0" tIns="0" rIns="0" bIns="0" anchor="t" anchorCtr="0">
                <a:spAutoFit/>
              </a:bodyPr>
              <a:lstStyle/>
              <a:p>
                <a:pPr algn="ctr"/>
                <a:r>
                  <a:rPr lang="en-US" sz="980" b="1" dirty="0">
                    <a:solidFill>
                      <a:schemeClr val="accent1"/>
                    </a:solidFill>
                    <a:latin typeface="+mn-lt"/>
                    <a:ea typeface="+mn-ea"/>
                    <a:cs typeface="+mn-cs"/>
                  </a:rPr>
                  <a:t>Past St.</a:t>
                </a:r>
              </a:p>
            </p:txBody>
          </p:sp>
          <p:sp>
            <p:nvSpPr>
              <p:cNvPr id="14" name="Rectangle 14"/>
              <p:cNvSpPr/>
              <p:nvPr/>
            </p:nvSpPr>
            <p:spPr>
              <a:xfrm>
                <a:off x="3048000" y="5067300"/>
                <a:ext cx="952500" cy="381000"/>
              </a:xfrm>
              <a:prstGeom prst="roundRect">
                <a:avLst>
                  <a:gd name="adj" fmla="val 20000"/>
                </a:avLst>
              </a:prstGeom>
              <a:solidFill>
                <a:srgbClr val="E4F5F2"/>
              </a:solidFill>
              <a:ln>
                <a:noFill/>
              </a:ln>
            </p:spPr>
          </p:sp>
          <p:sp>
            <p:nvSpPr>
              <p:cNvPr id="15" name="TextBox 15"/>
              <p:cNvSpPr txBox="1"/>
              <p:nvPr/>
            </p:nvSpPr>
            <p:spPr>
              <a:xfrm>
                <a:off x="3344182" y="5200174"/>
                <a:ext cx="360136" cy="190690"/>
              </a:xfrm>
              <a:prstGeom prst="rect">
                <a:avLst/>
              </a:prstGeom>
              <a:noFill/>
              <a:ln>
                <a:noFill/>
              </a:ln>
            </p:spPr>
            <p:txBody>
              <a:bodyPr wrap="none" lIns="0" tIns="0" rIns="0" bIns="0" anchor="t" anchorCtr="0">
                <a:spAutoFit/>
              </a:bodyPr>
              <a:lstStyle/>
              <a:p>
                <a:pPr algn="ctr"/>
                <a:r>
                  <a:rPr lang="en-US" sz="980" b="1" dirty="0">
                    <a:solidFill>
                      <a:schemeClr val="accent2"/>
                    </a:solidFill>
                    <a:latin typeface="+mn-lt"/>
                    <a:ea typeface="+mn-ea"/>
                    <a:cs typeface="+mn-cs"/>
                  </a:rPr>
                  <a:t>Video</a:t>
                </a:r>
              </a:p>
            </p:txBody>
          </p:sp>
          <p:sp>
            <p:nvSpPr>
              <p:cNvPr id="16" name="Rectangle 16"/>
              <p:cNvSpPr/>
              <p:nvPr/>
            </p:nvSpPr>
            <p:spPr>
              <a:xfrm>
                <a:off x="4076700" y="5067300"/>
                <a:ext cx="952500" cy="381000"/>
              </a:xfrm>
              <a:prstGeom prst="roundRect">
                <a:avLst>
                  <a:gd name="adj" fmla="val 20000"/>
                </a:avLst>
              </a:prstGeom>
              <a:solidFill>
                <a:srgbClr val="FBE9E2"/>
              </a:solidFill>
              <a:ln>
                <a:noFill/>
              </a:ln>
            </p:spPr>
          </p:sp>
          <p:sp>
            <p:nvSpPr>
              <p:cNvPr id="17" name="TextBox 17"/>
              <p:cNvSpPr txBox="1"/>
              <p:nvPr/>
            </p:nvSpPr>
            <p:spPr>
              <a:xfrm>
                <a:off x="4258526" y="5200174"/>
                <a:ext cx="588848" cy="190690"/>
              </a:xfrm>
              <a:prstGeom prst="rect">
                <a:avLst/>
              </a:prstGeom>
              <a:noFill/>
              <a:ln>
                <a:noFill/>
              </a:ln>
            </p:spPr>
            <p:txBody>
              <a:bodyPr wrap="none" lIns="0" tIns="0" rIns="0" bIns="0" anchor="t" anchorCtr="0">
                <a:spAutoFit/>
              </a:bodyPr>
              <a:lstStyle/>
              <a:p>
                <a:pPr algn="ctr"/>
                <a:r>
                  <a:rPr lang="en-US" sz="980" b="1" dirty="0">
                    <a:solidFill>
                      <a:schemeClr val="accent3"/>
                    </a:solidFill>
                    <a:latin typeface="+mn-lt"/>
                    <a:ea typeface="+mn-ea"/>
                    <a:cs typeface="+mn-cs"/>
                  </a:rPr>
                  <a:t>Behavior</a:t>
                </a:r>
              </a:p>
            </p:txBody>
          </p:sp>
          <p:sp>
            <p:nvSpPr>
              <p:cNvPr id="18" name="Rectangle 18"/>
              <p:cNvSpPr/>
              <p:nvPr/>
            </p:nvSpPr>
            <p:spPr>
              <a:xfrm>
                <a:off x="5105400" y="5067300"/>
                <a:ext cx="952500" cy="381000"/>
              </a:xfrm>
              <a:prstGeom prst="roundRect">
                <a:avLst>
                  <a:gd name="adj" fmla="val 20000"/>
                </a:avLst>
              </a:prstGeom>
              <a:solidFill>
                <a:srgbClr val="EAF0FB"/>
              </a:solidFill>
              <a:ln>
                <a:noFill/>
              </a:ln>
            </p:spPr>
          </p:sp>
          <p:sp>
            <p:nvSpPr>
              <p:cNvPr id="19" name="TextBox 19"/>
              <p:cNvSpPr txBox="1"/>
              <p:nvPr/>
            </p:nvSpPr>
            <p:spPr>
              <a:xfrm>
                <a:off x="5172910" y="5200174"/>
                <a:ext cx="817479" cy="190690"/>
              </a:xfrm>
              <a:prstGeom prst="rect">
                <a:avLst/>
              </a:prstGeom>
              <a:noFill/>
              <a:ln>
                <a:noFill/>
              </a:ln>
            </p:spPr>
            <p:txBody>
              <a:bodyPr wrap="none" lIns="0" tIns="0" rIns="0" bIns="0" anchor="t" anchorCtr="0">
                <a:spAutoFit/>
              </a:bodyPr>
              <a:lstStyle/>
              <a:p>
                <a:pPr algn="ctr"/>
                <a:r>
                  <a:rPr lang="en-US" sz="980" b="1" dirty="0">
                    <a:solidFill>
                      <a:schemeClr val="accent1"/>
                    </a:solidFill>
                    <a:latin typeface="+mn-lt"/>
                    <a:ea typeface="+mn-ea"/>
                    <a:cs typeface="+mn-cs"/>
                  </a:rPr>
                  <a:t>Contrastive</a:t>
                </a:r>
              </a:p>
            </p:txBody>
          </p:sp>
        </p:grpSp>
      </p:grpSp>
      <p:grpSp>
        <p:nvGrpSpPr>
          <p:cNvPr id="24" name="Group 24"/>
          <p:cNvGrpSpPr/>
          <p:nvPr/>
        </p:nvGrpSpPr>
        <p:grpSpPr>
          <a:xfrm>
            <a:off x="6667500" y="1828800"/>
            <a:ext cx="4838700" cy="495300"/>
            <a:chOff x="6667500" y="1828800"/>
            <a:chExt cx="4838700" cy="495300"/>
          </a:xfrm>
        </p:grpSpPr>
        <p:sp>
          <p:nvSpPr>
            <p:cNvPr id="22" name="Rectangle 22"/>
            <p:cNvSpPr/>
            <p:nvPr/>
          </p:nvSpPr>
          <p:spPr>
            <a:xfrm>
              <a:off x="6667500" y="1828800"/>
              <a:ext cx="4838700" cy="495300"/>
            </a:xfrm>
            <a:prstGeom prst="roundRect">
              <a:avLst>
                <a:gd name="adj" fmla="val 23077"/>
              </a:avLst>
            </a:prstGeom>
            <a:solidFill>
              <a:schemeClr val="dk1"/>
            </a:solidFill>
            <a:ln>
              <a:noFill/>
            </a:ln>
          </p:spPr>
        </p:sp>
        <p:sp>
          <p:nvSpPr>
            <p:cNvPr id="23" name="TextBox 23"/>
            <p:cNvSpPr txBox="1"/>
            <p:nvPr/>
          </p:nvSpPr>
          <p:spPr>
            <a:xfrm>
              <a:off x="6888861" y="1979771"/>
              <a:ext cx="2239024" cy="278702"/>
            </a:xfrm>
            <a:prstGeom prst="rect">
              <a:avLst/>
            </a:prstGeom>
            <a:noFill/>
            <a:ln>
              <a:noFill/>
            </a:ln>
          </p:spPr>
          <p:txBody>
            <a:bodyPr wrap="none" lIns="0" tIns="0" rIns="0" bIns="0" anchor="t" anchorCtr="0">
              <a:spAutoFit/>
            </a:bodyPr>
            <a:lstStyle/>
            <a:p>
              <a:pPr algn="l"/>
              <a:r>
                <a:rPr lang="en-US" sz="1420" b="1" dirty="0">
                  <a:solidFill>
                    <a:srgbClr val="FFFFFF"/>
                  </a:solidFill>
                  <a:latin typeface="+mn-lt"/>
                  <a:ea typeface="+mn-ea"/>
                  <a:cs typeface="+mn-cs"/>
                </a:rPr>
                <a:t>Two findings stand out</a:t>
              </a:r>
            </a:p>
          </p:txBody>
        </p:sp>
      </p:grpSp>
      <p:grpSp>
        <p:nvGrpSpPr>
          <p:cNvPr id="37" name="Group 37"/>
          <p:cNvGrpSpPr/>
          <p:nvPr/>
        </p:nvGrpSpPr>
        <p:grpSpPr>
          <a:xfrm>
            <a:off x="6667500" y="2476500"/>
            <a:ext cx="4838700" cy="3429000"/>
            <a:chOff x="6667500" y="2476500"/>
            <a:chExt cx="4838700" cy="3429000"/>
          </a:xfrm>
        </p:grpSpPr>
        <p:sp>
          <p:nvSpPr>
            <p:cNvPr id="25" name="Rectangle 25"/>
            <p:cNvSpPr/>
            <p:nvPr/>
          </p:nvSpPr>
          <p:spPr>
            <a:xfrm>
              <a:off x="6667500" y="2476500"/>
              <a:ext cx="4838700" cy="1638300"/>
            </a:xfrm>
            <a:prstGeom prst="roundRect">
              <a:avLst>
                <a:gd name="adj" fmla="val 9302"/>
              </a:avLst>
            </a:prstGeom>
            <a:solidFill>
              <a:srgbClr val="EAF0FB"/>
            </a:solidFill>
            <a:ln w="9525">
              <a:solidFill>
                <a:srgbClr val="CBD9F7"/>
              </a:solidFill>
            </a:ln>
          </p:spPr>
        </p:sp>
        <p:sp>
          <p:nvSpPr>
            <p:cNvPr id="26" name="TextBox 26"/>
            <p:cNvSpPr txBox="1"/>
            <p:nvPr/>
          </p:nvSpPr>
          <p:spPr>
            <a:xfrm>
              <a:off x="6890385" y="2697956"/>
              <a:ext cx="2327239" cy="220028"/>
            </a:xfrm>
            <a:prstGeom prst="rect">
              <a:avLst/>
            </a:prstGeom>
            <a:noFill/>
            <a:ln>
              <a:noFill/>
            </a:ln>
          </p:spPr>
          <p:txBody>
            <a:bodyPr wrap="none" lIns="0" tIns="0" rIns="0" bIns="0" anchor="t" anchorCtr="0">
              <a:spAutoFit/>
            </a:bodyPr>
            <a:lstStyle/>
            <a:p>
              <a:pPr algn="l"/>
              <a:r>
                <a:rPr lang="en-US" sz="1120" b="1" spc="75" dirty="0">
                  <a:solidFill>
                    <a:schemeClr val="accent1"/>
                  </a:solidFill>
                  <a:latin typeface="+mn-lt"/>
                  <a:ea typeface="+mn-ea"/>
                  <a:cs typeface="+mn-cs"/>
                </a:rPr>
                <a:t>FINDING 1 · JOINT TRAINING</a:t>
              </a:r>
            </a:p>
          </p:txBody>
        </p:sp>
        <p:sp>
          <p:nvSpPr>
            <p:cNvPr id="27" name="TextBox 27"/>
            <p:cNvSpPr txBox="1"/>
            <p:nvPr/>
          </p:nvSpPr>
          <p:spPr>
            <a:xfrm>
              <a:off x="6887718" y="2984182"/>
              <a:ext cx="3068235"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Neural + behavior together</a:t>
              </a:r>
            </a:p>
          </p:txBody>
        </p:sp>
        <p:sp>
          <p:nvSpPr>
            <p:cNvPr id="28" name="TextBox 28"/>
            <p:cNvSpPr txBox="1"/>
            <p:nvPr/>
          </p:nvSpPr>
          <p:spPr>
            <a:xfrm>
              <a:off x="6887718" y="3250882"/>
              <a:ext cx="2815514"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beats either signal alone</a:t>
              </a:r>
            </a:p>
          </p:txBody>
        </p:sp>
        <p:sp>
          <p:nvSpPr>
            <p:cNvPr id="29" name="TextBox 29"/>
            <p:cNvSpPr txBox="1"/>
            <p:nvPr/>
          </p:nvSpPr>
          <p:spPr>
            <a:xfrm>
              <a:off x="6890385" y="3669506"/>
              <a:ext cx="269521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 model links neural and behavioral</a:t>
              </a:r>
            </a:p>
          </p:txBody>
        </p:sp>
        <p:sp>
          <p:nvSpPr>
            <p:cNvPr id="30" name="TextBox 30"/>
            <p:cNvSpPr txBox="1"/>
            <p:nvPr/>
          </p:nvSpPr>
          <p:spPr>
            <a:xfrm>
              <a:off x="6890385" y="3860006"/>
              <a:ext cx="271783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representations without supervision</a:t>
              </a:r>
            </a:p>
          </p:txBody>
        </p:sp>
        <p:sp>
          <p:nvSpPr>
            <p:cNvPr id="31" name="Rectangle 31"/>
            <p:cNvSpPr/>
            <p:nvPr/>
          </p:nvSpPr>
          <p:spPr>
            <a:xfrm>
              <a:off x="6667500" y="4267200"/>
              <a:ext cx="4838700" cy="1638300"/>
            </a:xfrm>
            <a:prstGeom prst="roundRect">
              <a:avLst>
                <a:gd name="adj" fmla="val 9302"/>
              </a:avLst>
            </a:prstGeom>
            <a:solidFill>
              <a:schemeClr val="lt2"/>
            </a:solidFill>
            <a:ln w="9525">
              <a:solidFill>
                <a:schemeClr val="accent4"/>
              </a:solidFill>
            </a:ln>
          </p:spPr>
        </p:sp>
        <p:sp>
          <p:nvSpPr>
            <p:cNvPr id="32" name="TextBox 32"/>
            <p:cNvSpPr txBox="1"/>
            <p:nvPr/>
          </p:nvSpPr>
          <p:spPr>
            <a:xfrm>
              <a:off x="6890385" y="4488656"/>
              <a:ext cx="3121195" cy="220028"/>
            </a:xfrm>
            <a:prstGeom prst="rect">
              <a:avLst/>
            </a:prstGeom>
            <a:noFill/>
            <a:ln>
              <a:noFill/>
            </a:ln>
          </p:spPr>
          <p:txBody>
            <a:bodyPr wrap="none" lIns="0" tIns="0" rIns="0" bIns="0" anchor="t" anchorCtr="0">
              <a:spAutoFit/>
            </a:bodyPr>
            <a:lstStyle/>
            <a:p>
              <a:pPr algn="l"/>
              <a:r>
                <a:rPr lang="en-US" sz="1120" b="1" spc="75" dirty="0">
                  <a:solidFill>
                    <a:schemeClr val="accent2"/>
                  </a:solidFill>
                  <a:latin typeface="+mn-lt"/>
                  <a:ea typeface="+mn-ea"/>
                  <a:cs typeface="+mn-cs"/>
                </a:rPr>
                <a:t>FINDING 2 · CONTRASTIVE OBJECTIVE</a:t>
              </a:r>
            </a:p>
          </p:txBody>
        </p:sp>
        <p:sp>
          <p:nvSpPr>
            <p:cNvPr id="33" name="TextBox 33"/>
            <p:cNvSpPr txBox="1"/>
            <p:nvPr/>
          </p:nvSpPr>
          <p:spPr>
            <a:xfrm>
              <a:off x="6887718" y="4774882"/>
              <a:ext cx="2718586"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Helps most when data is</a:t>
              </a:r>
            </a:p>
          </p:txBody>
        </p:sp>
        <p:sp>
          <p:nvSpPr>
            <p:cNvPr id="34" name="TextBox 34"/>
            <p:cNvSpPr txBox="1"/>
            <p:nvPr/>
          </p:nvSpPr>
          <p:spPr>
            <a:xfrm>
              <a:off x="6887718" y="5041582"/>
              <a:ext cx="786420"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scarce</a:t>
              </a:r>
            </a:p>
          </p:txBody>
        </p:sp>
        <p:sp>
          <p:nvSpPr>
            <p:cNvPr id="35" name="TextBox 35"/>
            <p:cNvSpPr txBox="1"/>
            <p:nvPr/>
          </p:nvSpPr>
          <p:spPr>
            <a:xfrm>
              <a:off x="6890385" y="5460206"/>
              <a:ext cx="277814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guards against over-fitting to noisy,</a:t>
              </a:r>
            </a:p>
          </p:txBody>
        </p:sp>
        <p:sp>
          <p:nvSpPr>
            <p:cNvPr id="36" name="TextBox 36"/>
            <p:cNvSpPr txBox="1"/>
            <p:nvPr/>
          </p:nvSpPr>
          <p:spPr>
            <a:xfrm>
              <a:off x="6890385" y="5650706"/>
              <a:ext cx="165487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variable neural signals</a:t>
              </a:r>
            </a:p>
          </p:txBody>
        </p:sp>
      </p:grpSp>
      <p:sp>
        <p:nvSpPr>
          <p:cNvPr id="38" name="TextBox 38"/>
          <p:cNvSpPr txBox="1"/>
          <p:nvPr/>
        </p:nvSpPr>
        <p:spPr>
          <a:xfrm>
            <a:off x="680847" y="6505099"/>
            <a:ext cx="1602745" cy="190690"/>
          </a:xfrm>
          <a:prstGeom prst="rect">
            <a:avLst/>
          </a:prstGeom>
          <a:noFill/>
          <a:ln>
            <a:noFill/>
          </a:ln>
        </p:spPr>
        <p:txBody>
          <a:bodyPr wrap="none" lIns="0" tIns="0" rIns="0" bIns="0" anchor="t" anchorCtr="0">
            <a:spAutoFit/>
          </a:bodyPr>
          <a:lstStyle/>
          <a:p>
            <a:pPr algn="l"/>
            <a:r>
              <a:rPr lang="en-US" sz="980" dirty="0">
                <a:solidFill>
                  <a:srgbClr val="9AA1AC"/>
                </a:solidFill>
                <a:latin typeface="+mn-lt"/>
                <a:ea typeface="+mn-ea"/>
                <a:cs typeface="+mn-cs"/>
              </a:rPr>
              <a:t>Neuroformer · ICLR 2024</a:t>
            </a:r>
          </a:p>
        </p:txBody>
      </p:sp>
      <p:sp>
        <p:nvSpPr>
          <p:cNvPr id="39" name="TextBox 39"/>
          <p:cNvSpPr txBox="1"/>
          <p:nvPr/>
        </p:nvSpPr>
        <p:spPr>
          <a:xfrm>
            <a:off x="11059290" y="6505099"/>
            <a:ext cx="451863" cy="190690"/>
          </a:xfrm>
          <a:prstGeom prst="rect">
            <a:avLst/>
          </a:prstGeom>
          <a:noFill/>
          <a:ln>
            <a:noFill/>
          </a:ln>
        </p:spPr>
        <p:txBody>
          <a:bodyPr wrap="none" lIns="0" tIns="0" rIns="0" bIns="0" anchor="t" anchorCtr="0">
            <a:spAutoFit/>
          </a:bodyPr>
          <a:lstStyle/>
          <a:p>
            <a:pPr algn="r"/>
            <a:r>
              <a:rPr lang="en-US" sz="980" dirty="0">
                <a:solidFill>
                  <a:srgbClr val="9AA1AC"/>
                </a:solidFill>
                <a:latin typeface="+mn-lt"/>
                <a:ea typeface="+mn-ea"/>
                <a:cs typeface="+mn-cs"/>
              </a:rPr>
              <a:t>08 / 10</a:t>
            </a:r>
          </a:p>
        </p:txBody>
      </p:sp>
      <p:sp>
        <p:nvSpPr>
          <p:cNvPr id="40" name="cue_s08_c1_ablation_removes_components_one_time" title="cue_s08_c1_ablation_removes_components_one_time" descr="cue_s08_c1_ablation_removes_components_one_time An ablation removes components one at a time: the Current State, Past State, video stream, behavior stream, and contrastive objective each add measurable predictive power."/>
          <p:cNvSpPr/>
          <p:nvPr/>
        </p:nvSpPr>
        <p:spPr>
          <a:xfrm>
            <a:off x="686409" y="1829028"/>
            <a:ext cx="5676595" cy="40763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8_c2_two_findings_stand_out" title="cue_s08_c2_two_findings_stand_out" descr="cue_s08_c2_two_findings_stand_out Two findings stand out."/>
          <p:cNvSpPr/>
          <p:nvPr/>
        </p:nvSpPr>
        <p:spPr>
          <a:xfrm>
            <a:off x="6667804" y="1829028"/>
            <a:ext cx="4839004" cy="4951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8_c3_jointly_neural_responses_behavior_be" title="cue_s08_c3_jointly_neural_responses_behavior_be" descr="cue_s08_c3_jointly_neural_responses_behavior_be Jointly training on neural responses and behavior beats either alone, and the contrastive objective helps most when data is scarce."/>
          <p:cNvSpPr/>
          <p:nvPr/>
        </p:nvSpPr>
        <p:spPr>
          <a:xfrm>
            <a:off x="6667804" y="2476423"/>
            <a:ext cx="4839004" cy="34290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80085" y="678656"/>
            <a:ext cx="2128246" cy="220028"/>
          </a:xfrm>
          <a:prstGeom prst="rect">
            <a:avLst/>
          </a:prstGeom>
          <a:noFill/>
          <a:ln>
            <a:noFill/>
          </a:ln>
        </p:spPr>
        <p:txBody>
          <a:bodyPr wrap="none" lIns="0" tIns="0" rIns="0" bIns="0" anchor="t" anchorCtr="0">
            <a:spAutoFit/>
          </a:bodyPr>
          <a:lstStyle/>
          <a:p>
            <a:pPr algn="l"/>
            <a:r>
              <a:rPr lang="en-US" sz="1120" b="1" spc="112" dirty="0">
                <a:solidFill>
                  <a:schemeClr val="accent1"/>
                </a:solidFill>
                <a:latin typeface="+mn-lt"/>
                <a:ea typeface="+mn-ea"/>
                <a:cs typeface="+mn-cs"/>
              </a:rPr>
              <a:t>09 · HEADLINE NUMBERS</a:t>
            </a:r>
          </a:p>
        </p:txBody>
      </p:sp>
      <p:sp>
        <p:nvSpPr>
          <p:cNvPr id="3" name="TextBox 3"/>
          <p:cNvSpPr txBox="1"/>
          <p:nvPr/>
        </p:nvSpPr>
        <p:spPr>
          <a:xfrm>
            <a:off x="670560" y="914400"/>
            <a:ext cx="3183274"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By the numbers</a:t>
            </a:r>
          </a:p>
        </p:txBody>
      </p:sp>
      <p:sp>
        <p:nvSpPr>
          <p:cNvPr id="4" name="Rectangle 4"/>
          <p:cNvSpPr/>
          <p:nvPr/>
        </p:nvSpPr>
        <p:spPr>
          <a:xfrm>
            <a:off x="685800" y="1409700"/>
            <a:ext cx="609600" cy="38100"/>
          </a:xfrm>
          <a:prstGeom prst="roundRect">
            <a:avLst>
              <a:gd name="adj" fmla="val 50000"/>
            </a:avLst>
          </a:prstGeom>
          <a:solidFill>
            <a:schemeClr val="accent1"/>
          </a:solidFill>
          <a:ln>
            <a:noFill/>
          </a:ln>
        </p:spPr>
        <p:txBody>
          <a:bodyPr/>
          <a:p/>
        </p:txBody>
      </p:sp>
      <p:grpSp>
        <p:nvGrpSpPr>
          <p:cNvPr id="14" name="Group 14"/>
          <p:cNvGrpSpPr/>
          <p:nvPr/>
        </p:nvGrpSpPr>
        <p:grpSpPr>
          <a:xfrm>
            <a:off x="685800" y="1828800"/>
            <a:ext cx="5219700" cy="2924556"/>
            <a:chOff x="685800" y="1828800"/>
            <a:chExt cx="5219700" cy="2924556"/>
          </a:xfrm>
        </p:grpSpPr>
        <p:sp>
          <p:nvSpPr>
            <p:cNvPr id="5" name="Rectangle 5"/>
            <p:cNvSpPr/>
            <p:nvPr/>
          </p:nvSpPr>
          <p:spPr>
            <a:xfrm>
              <a:off x="685800" y="1828800"/>
              <a:ext cx="5219700" cy="2895600"/>
            </a:xfrm>
            <a:prstGeom prst="roundRect">
              <a:avLst>
                <a:gd name="adj" fmla="val 5263"/>
              </a:avLst>
            </a:prstGeom>
            <a:solidFill>
              <a:schemeClr val="lt2"/>
            </a:solidFill>
            <a:ln w="9525">
              <a:solidFill>
                <a:schemeClr val="accent4"/>
              </a:solidFill>
            </a:ln>
          </p:spPr>
        </p:sp>
        <p:sp>
          <p:nvSpPr>
            <p:cNvPr id="6" name="TextBox 6"/>
            <p:cNvSpPr txBox="1"/>
            <p:nvPr/>
          </p:nvSpPr>
          <p:spPr>
            <a:xfrm>
              <a:off x="985266" y="2058352"/>
              <a:ext cx="3263709" cy="205359"/>
            </a:xfrm>
            <a:prstGeom prst="rect">
              <a:avLst/>
            </a:prstGeom>
            <a:noFill/>
            <a:ln>
              <a:noFill/>
            </a:ln>
          </p:spPr>
          <p:txBody>
            <a:bodyPr wrap="none" lIns="0" tIns="0" rIns="0" bIns="0" anchor="t" anchorCtr="0">
              <a:spAutoFit/>
            </a:bodyPr>
            <a:lstStyle/>
            <a:p>
              <a:pPr algn="l"/>
              <a:r>
                <a:rPr lang="en-US" sz="1050" b="1" spc="75" dirty="0">
                  <a:solidFill>
                    <a:schemeClr val="accent1"/>
                  </a:solidFill>
                  <a:latin typeface="+mn-lt"/>
                  <a:ea typeface="+mn-ea"/>
                  <a:cs typeface="+mn-cs"/>
                </a:rPr>
                <a:t>BEHAVIOR PREDICTION · PEAK PEARSON r</a:t>
              </a:r>
            </a:p>
          </p:txBody>
        </p:sp>
        <p:sp>
          <p:nvSpPr>
            <p:cNvPr id="7" name="Line 7"/>
            <p:cNvSpPr/>
            <p:nvPr/>
          </p:nvSpPr>
          <p:spPr>
            <a:xfrm>
              <a:off x="990600" y="4438650"/>
              <a:ext cx="4610100" cy="9525"/>
            </a:xfrm>
            <a:custGeom>
              <a:avLst/>
              <a:gdLst/>
              <a:ahLst/>
              <a:cxnLst/>
              <a:rect l="l" t="t" r="r" b="b"/>
              <a:pathLst>
                <a:path w="4610100" h="9525">
                  <a:moveTo>
                    <a:pt x="0" y="0"/>
                  </a:moveTo>
                  <a:lnTo>
                    <a:pt x="4610100" y="0"/>
                  </a:lnTo>
                </a:path>
              </a:pathLst>
            </a:custGeom>
            <a:noFill/>
            <a:ln w="19050">
              <a:solidFill>
                <a:srgbClr val="D5DBE4"/>
              </a:solidFill>
            </a:ln>
          </p:spPr>
        </p:sp>
        <p:sp>
          <p:nvSpPr>
            <p:cNvPr id="8" name="Rectangle 8"/>
            <p:cNvSpPr/>
            <p:nvPr/>
          </p:nvSpPr>
          <p:spPr>
            <a:xfrm>
              <a:off x="1428750" y="2743200"/>
              <a:ext cx="1428750" cy="1695450"/>
            </a:xfrm>
            <a:prstGeom prst="roundRect">
              <a:avLst>
                <a:gd name="adj" fmla="val 4000"/>
              </a:avLst>
            </a:prstGeom>
            <a:solidFill>
              <a:schemeClr val="accent1"/>
            </a:solidFill>
            <a:ln>
              <a:noFill/>
            </a:ln>
          </p:spPr>
        </p:sp>
        <p:sp>
          <p:nvSpPr>
            <p:cNvPr id="9" name="TextBox 9"/>
            <p:cNvSpPr txBox="1"/>
            <p:nvPr/>
          </p:nvSpPr>
          <p:spPr>
            <a:xfrm>
              <a:off x="1733681" y="2372678"/>
              <a:ext cx="818887" cy="498729"/>
            </a:xfrm>
            <a:prstGeom prst="rect">
              <a:avLst/>
            </a:prstGeom>
            <a:noFill/>
            <a:ln>
              <a:noFill/>
            </a:ln>
          </p:spPr>
          <p:txBody>
            <a:bodyPr wrap="none" lIns="0" tIns="0" rIns="0" bIns="0" anchor="t" anchorCtr="0">
              <a:spAutoFit/>
            </a:bodyPr>
            <a:lstStyle/>
            <a:p>
              <a:pPr algn="ctr"/>
              <a:r>
                <a:rPr lang="en-US" sz="2550" b="1" dirty="0">
                  <a:solidFill>
                    <a:schemeClr val="accent1"/>
                  </a:solidFill>
                  <a:latin typeface="+mn-lt"/>
                  <a:ea typeface="+mn-ea"/>
                  <a:cs typeface="+mn-cs"/>
                </a:rPr>
                <a:t>0.97</a:t>
              </a:r>
            </a:p>
          </p:txBody>
        </p:sp>
        <p:sp>
          <p:nvSpPr>
            <p:cNvPr id="10" name="TextBox 10"/>
            <p:cNvSpPr txBox="1"/>
            <p:nvPr/>
          </p:nvSpPr>
          <p:spPr>
            <a:xfrm>
              <a:off x="1604235" y="4518660"/>
              <a:ext cx="1077780" cy="234696"/>
            </a:xfrm>
            <a:prstGeom prst="rect">
              <a:avLst/>
            </a:prstGeom>
            <a:noFill/>
            <a:ln>
              <a:noFill/>
            </a:ln>
          </p:spPr>
          <p:txBody>
            <a:bodyPr wrap="none" lIns="0" tIns="0" rIns="0" bIns="0" anchor="t" anchorCtr="0">
              <a:spAutoFit/>
            </a:bodyPr>
            <a:lstStyle/>
            <a:p>
              <a:pPr algn="ctr"/>
              <a:r>
                <a:rPr lang="en-US" sz="1200" b="1" dirty="0">
                  <a:solidFill>
                    <a:schemeClr val="dk1"/>
                  </a:solidFill>
                  <a:latin typeface="+mn-lt"/>
                  <a:ea typeface="+mn-ea"/>
                  <a:cs typeface="+mn-cs"/>
                </a:rPr>
                <a:t>Neuroformer</a:t>
              </a:r>
            </a:p>
          </p:txBody>
        </p:sp>
        <p:sp>
          <p:nvSpPr>
            <p:cNvPr id="11" name="Rectangle 11"/>
            <p:cNvSpPr/>
            <p:nvPr/>
          </p:nvSpPr>
          <p:spPr>
            <a:xfrm>
              <a:off x="3714750" y="3162300"/>
              <a:ext cx="1428750" cy="1276350"/>
            </a:xfrm>
            <a:prstGeom prst="roundRect">
              <a:avLst>
                <a:gd name="adj" fmla="val 4478"/>
              </a:avLst>
            </a:prstGeom>
            <a:solidFill>
              <a:srgbClr val="C9D0DB"/>
            </a:solidFill>
            <a:ln>
              <a:noFill/>
            </a:ln>
          </p:spPr>
        </p:sp>
        <p:sp>
          <p:nvSpPr>
            <p:cNvPr id="12" name="TextBox 12"/>
            <p:cNvSpPr txBox="1"/>
            <p:nvPr/>
          </p:nvSpPr>
          <p:spPr>
            <a:xfrm>
              <a:off x="4019681" y="2791778"/>
              <a:ext cx="818887" cy="498729"/>
            </a:xfrm>
            <a:prstGeom prst="rect">
              <a:avLst/>
            </a:prstGeom>
            <a:noFill/>
            <a:ln>
              <a:noFill/>
            </a:ln>
          </p:spPr>
          <p:txBody>
            <a:bodyPr wrap="none" lIns="0" tIns="0" rIns="0" bIns="0" anchor="t" anchorCtr="0">
              <a:spAutoFit/>
            </a:bodyPr>
            <a:lstStyle/>
            <a:p>
              <a:pPr algn="ctr"/>
              <a:r>
                <a:rPr lang="en-US" sz="2550" b="1" dirty="0">
                  <a:solidFill>
                    <a:srgbClr val="7A828E"/>
                  </a:solidFill>
                  <a:latin typeface="+mn-lt"/>
                  <a:ea typeface="+mn-ea"/>
                  <a:cs typeface="+mn-cs"/>
                </a:rPr>
                <a:t>0.73</a:t>
              </a:r>
            </a:p>
          </p:txBody>
        </p:sp>
        <p:sp>
          <p:nvSpPr>
            <p:cNvPr id="13" name="TextBox 13"/>
            <p:cNvSpPr txBox="1"/>
            <p:nvPr/>
          </p:nvSpPr>
          <p:spPr>
            <a:xfrm>
              <a:off x="4187160" y="4518660"/>
              <a:ext cx="483931" cy="234696"/>
            </a:xfrm>
            <a:prstGeom prst="rect">
              <a:avLst/>
            </a:prstGeom>
            <a:noFill/>
            <a:ln>
              <a:noFill/>
            </a:ln>
          </p:spPr>
          <p:txBody>
            <a:bodyPr wrap="none" lIns="0" tIns="0" rIns="0" bIns="0" anchor="t" anchorCtr="0">
              <a:spAutoFit/>
            </a:bodyPr>
            <a:lstStyle/>
            <a:p>
              <a:pPr algn="ctr"/>
              <a:r>
                <a:rPr lang="en-US" sz="1200" b="1" dirty="0">
                  <a:solidFill>
                    <a:schemeClr val="dk2"/>
                  </a:solidFill>
                  <a:latin typeface="+mn-lt"/>
                  <a:ea typeface="+mn-ea"/>
                  <a:cs typeface="+mn-cs"/>
                </a:rPr>
                <a:t>Lasso</a:t>
              </a:r>
            </a:p>
          </p:txBody>
        </p:sp>
      </p:grpSp>
      <p:grpSp>
        <p:nvGrpSpPr>
          <p:cNvPr id="28" name="Group 28"/>
          <p:cNvGrpSpPr/>
          <p:nvPr/>
        </p:nvGrpSpPr>
        <p:grpSpPr>
          <a:xfrm>
            <a:off x="6286500" y="1828800"/>
            <a:ext cx="5219700" cy="2895600"/>
            <a:chOff x="6286500" y="1828800"/>
            <a:chExt cx="5219700" cy="2895600"/>
          </a:xfrm>
        </p:grpSpPr>
        <p:sp>
          <p:nvSpPr>
            <p:cNvPr id="15" name="Rectangle 15"/>
            <p:cNvSpPr/>
            <p:nvPr/>
          </p:nvSpPr>
          <p:spPr>
            <a:xfrm>
              <a:off x="6286500" y="1828800"/>
              <a:ext cx="5219700" cy="2895600"/>
            </a:xfrm>
            <a:prstGeom prst="roundRect">
              <a:avLst>
                <a:gd name="adj" fmla="val 5263"/>
              </a:avLst>
            </a:prstGeom>
            <a:solidFill>
              <a:srgbClr val="EAF0FB"/>
            </a:solidFill>
            <a:ln w="9525">
              <a:solidFill>
                <a:srgbClr val="CBD9F7"/>
              </a:solidFill>
            </a:ln>
          </p:spPr>
        </p:sp>
        <p:sp>
          <p:nvSpPr>
            <p:cNvPr id="16" name="TextBox 16"/>
            <p:cNvSpPr txBox="1"/>
            <p:nvPr/>
          </p:nvSpPr>
          <p:spPr>
            <a:xfrm>
              <a:off x="6585966" y="2058352"/>
              <a:ext cx="3561773" cy="205359"/>
            </a:xfrm>
            <a:prstGeom prst="rect">
              <a:avLst/>
            </a:prstGeom>
            <a:noFill/>
            <a:ln>
              <a:noFill/>
            </a:ln>
          </p:spPr>
          <p:txBody>
            <a:bodyPr wrap="none" lIns="0" tIns="0" rIns="0" bIns="0" anchor="t" anchorCtr="0">
              <a:spAutoFit/>
            </a:bodyPr>
            <a:lstStyle/>
            <a:p>
              <a:pPr algn="l"/>
              <a:r>
                <a:rPr lang="en-US" sz="1050" b="1" spc="75" dirty="0">
                  <a:solidFill>
                    <a:schemeClr val="accent2"/>
                  </a:solidFill>
                  <a:latin typeface="+mn-lt"/>
                  <a:ea typeface="+mn-ea"/>
                  <a:cs typeface="+mn-cs"/>
                </a:rPr>
                <a:t>FEW-SHOT TRANSFER · LESS DATA, HIGHER r</a:t>
              </a:r>
            </a:p>
          </p:txBody>
        </p:sp>
        <p:grpSp>
          <p:nvGrpSpPr>
            <p:cNvPr id="21" name="Group 21"/>
            <p:cNvGrpSpPr/>
            <p:nvPr/>
          </p:nvGrpSpPr>
          <p:grpSpPr>
            <a:xfrm>
              <a:off x="6591300" y="2400300"/>
              <a:ext cx="4610100" cy="895350"/>
              <a:chOff x="6591300" y="2400300"/>
              <a:chExt cx="4610100" cy="895350"/>
            </a:xfrm>
          </p:grpSpPr>
          <p:sp>
            <p:nvSpPr>
              <p:cNvPr id="17" name="Rectangle 17"/>
              <p:cNvSpPr/>
              <p:nvPr/>
            </p:nvSpPr>
            <p:spPr>
              <a:xfrm>
                <a:off x="6591300" y="2400300"/>
                <a:ext cx="4610100" cy="895350"/>
              </a:xfrm>
              <a:prstGeom prst="roundRect">
                <a:avLst>
                  <a:gd name="adj" fmla="val 12766"/>
                </a:avLst>
              </a:prstGeom>
              <a:solidFill>
                <a:schemeClr val="lt1"/>
              </a:solidFill>
              <a:ln w="9525">
                <a:solidFill>
                  <a:schemeClr val="accent2"/>
                </a:solidFill>
              </a:ln>
            </p:spPr>
          </p:sp>
          <p:sp>
            <p:nvSpPr>
              <p:cNvPr id="18" name="TextBox 18"/>
              <p:cNvSpPr txBox="1"/>
              <p:nvPr/>
            </p:nvSpPr>
            <p:spPr>
              <a:xfrm>
                <a:off x="6775323" y="2624614"/>
                <a:ext cx="3122917"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Pretrained · fine-tuned on 1% data</a:t>
                </a:r>
              </a:p>
            </p:txBody>
          </p:sp>
          <p:sp>
            <p:nvSpPr>
              <p:cNvPr id="19" name="TextBox 19"/>
              <p:cNvSpPr txBox="1"/>
              <p:nvPr/>
            </p:nvSpPr>
            <p:spPr>
              <a:xfrm>
                <a:off x="6776085" y="2964656"/>
                <a:ext cx="268767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learns transferable structure first</a:t>
                </a:r>
              </a:p>
            </p:txBody>
          </p:sp>
          <p:sp>
            <p:nvSpPr>
              <p:cNvPr id="20" name="TextBox 20"/>
              <p:cNvSpPr txBox="1"/>
              <p:nvPr/>
            </p:nvSpPr>
            <p:spPr>
              <a:xfrm>
                <a:off x="9967928" y="2615565"/>
                <a:ext cx="1059736" cy="645414"/>
              </a:xfrm>
              <a:prstGeom prst="rect">
                <a:avLst/>
              </a:prstGeom>
              <a:noFill/>
              <a:ln>
                <a:noFill/>
              </a:ln>
            </p:spPr>
            <p:txBody>
              <a:bodyPr wrap="none" lIns="0" tIns="0" rIns="0" bIns="0" anchor="t" anchorCtr="0">
                <a:spAutoFit/>
              </a:bodyPr>
              <a:lstStyle/>
              <a:p>
                <a:pPr algn="r"/>
                <a:r>
                  <a:rPr lang="en-US" sz="3300" b="1" dirty="0">
                    <a:solidFill>
                      <a:schemeClr val="accent2"/>
                    </a:solidFill>
                    <a:latin typeface="+mn-lt"/>
                    <a:ea typeface="+mn-ea"/>
                    <a:cs typeface="+mn-cs"/>
                  </a:rPr>
                  <a:t>0.51</a:t>
                </a:r>
              </a:p>
            </p:txBody>
          </p:sp>
        </p:grpSp>
        <p:sp>
          <p:nvSpPr>
            <p:cNvPr id="22" name="TextBox 22"/>
            <p:cNvSpPr txBox="1"/>
            <p:nvPr/>
          </p:nvSpPr>
          <p:spPr>
            <a:xfrm>
              <a:off x="7743080" y="3421856"/>
              <a:ext cx="1887440" cy="220028"/>
            </a:xfrm>
            <a:prstGeom prst="rect">
              <a:avLst/>
            </a:prstGeom>
            <a:noFill/>
            <a:ln>
              <a:noFill/>
            </a:ln>
          </p:spPr>
          <p:txBody>
            <a:bodyPr wrap="none" lIns="0" tIns="0" rIns="0" bIns="0" anchor="t" anchorCtr="0">
              <a:spAutoFit/>
            </a:bodyPr>
            <a:lstStyle/>
            <a:p>
              <a:pPr algn="ctr"/>
              <a:r>
                <a:rPr lang="en-US" sz="1120" b="1" dirty="0">
                  <a:solidFill>
                    <a:schemeClr val="accent3"/>
                  </a:solidFill>
                  <a:latin typeface="+mn-lt"/>
                  <a:ea typeface="+mn-ea"/>
                  <a:cs typeface="+mn-cs"/>
                </a:rPr>
                <a:t>beats ↓ (10× more data)</a:t>
              </a:r>
            </a:p>
          </p:txBody>
        </p:sp>
        <p:grpSp>
          <p:nvGrpSpPr>
            <p:cNvPr id="27" name="Group 27"/>
            <p:cNvGrpSpPr/>
            <p:nvPr/>
          </p:nvGrpSpPr>
          <p:grpSpPr>
            <a:xfrm>
              <a:off x="6591300" y="3638550"/>
              <a:ext cx="4610100" cy="895350"/>
              <a:chOff x="6591300" y="3638550"/>
              <a:chExt cx="4610100" cy="895350"/>
            </a:xfrm>
          </p:grpSpPr>
          <p:sp>
            <p:nvSpPr>
              <p:cNvPr id="23" name="Rectangle 23"/>
              <p:cNvSpPr/>
              <p:nvPr/>
            </p:nvSpPr>
            <p:spPr>
              <a:xfrm>
                <a:off x="6591300" y="3638550"/>
                <a:ext cx="4610100" cy="895350"/>
              </a:xfrm>
              <a:prstGeom prst="roundRect">
                <a:avLst>
                  <a:gd name="adj" fmla="val 12766"/>
                </a:avLst>
              </a:prstGeom>
              <a:solidFill>
                <a:schemeClr val="lt1"/>
              </a:solidFill>
              <a:ln w="9525">
                <a:solidFill>
                  <a:schemeClr val="accent4"/>
                </a:solidFill>
              </a:ln>
            </p:spPr>
          </p:sp>
          <p:sp>
            <p:nvSpPr>
              <p:cNvPr id="24" name="TextBox 24"/>
              <p:cNvSpPr txBox="1"/>
              <p:nvPr/>
            </p:nvSpPr>
            <p:spPr>
              <a:xfrm>
                <a:off x="6775323" y="3862864"/>
                <a:ext cx="2869922"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Non-pretrained · given 10% data</a:t>
                </a:r>
              </a:p>
            </p:txBody>
          </p:sp>
          <p:sp>
            <p:nvSpPr>
              <p:cNvPr id="25" name="TextBox 25"/>
              <p:cNvSpPr txBox="1"/>
              <p:nvPr/>
            </p:nvSpPr>
            <p:spPr>
              <a:xfrm>
                <a:off x="6776085" y="4202906"/>
                <a:ext cx="158702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trained from scratch</a:t>
                </a:r>
              </a:p>
            </p:txBody>
          </p:sp>
          <p:sp>
            <p:nvSpPr>
              <p:cNvPr id="26" name="TextBox 26"/>
              <p:cNvSpPr txBox="1"/>
              <p:nvPr/>
            </p:nvSpPr>
            <p:spPr>
              <a:xfrm>
                <a:off x="9967928" y="3853815"/>
                <a:ext cx="1059736" cy="645414"/>
              </a:xfrm>
              <a:prstGeom prst="rect">
                <a:avLst/>
              </a:prstGeom>
              <a:noFill/>
              <a:ln>
                <a:noFill/>
              </a:ln>
            </p:spPr>
            <p:txBody>
              <a:bodyPr wrap="none" lIns="0" tIns="0" rIns="0" bIns="0" anchor="t" anchorCtr="0">
                <a:spAutoFit/>
              </a:bodyPr>
              <a:lstStyle/>
              <a:p>
                <a:pPr algn="r"/>
                <a:r>
                  <a:rPr lang="en-US" sz="3300" b="1" dirty="0">
                    <a:solidFill>
                      <a:srgbClr val="7A828E"/>
                    </a:solidFill>
                    <a:latin typeface="+mn-lt"/>
                    <a:ea typeface="+mn-ea"/>
                    <a:cs typeface="+mn-cs"/>
                  </a:rPr>
                  <a:t>0.33</a:t>
                </a:r>
              </a:p>
            </p:txBody>
          </p:sp>
        </p:grpSp>
      </p:grpSp>
      <p:grpSp>
        <p:nvGrpSpPr>
          <p:cNvPr id="36" name="Group 36"/>
          <p:cNvGrpSpPr/>
          <p:nvPr/>
        </p:nvGrpSpPr>
        <p:grpSpPr>
          <a:xfrm>
            <a:off x="685800" y="4953000"/>
            <a:ext cx="10820400" cy="952500"/>
            <a:chOff x="685800" y="4953000"/>
            <a:chExt cx="10820400" cy="952500"/>
          </a:xfrm>
        </p:grpSpPr>
        <p:sp>
          <p:nvSpPr>
            <p:cNvPr id="29" name="Rectangle 29"/>
            <p:cNvSpPr/>
            <p:nvPr/>
          </p:nvSpPr>
          <p:spPr>
            <a:xfrm>
              <a:off x="685800" y="4953000"/>
              <a:ext cx="10820400" cy="952500"/>
            </a:xfrm>
            <a:prstGeom prst="roundRect">
              <a:avLst>
                <a:gd name="adj" fmla="val 16000"/>
              </a:avLst>
            </a:prstGeom>
            <a:solidFill>
              <a:schemeClr val="dk1"/>
            </a:solidFill>
            <a:ln>
              <a:noFill/>
            </a:ln>
          </p:spPr>
        </p:sp>
        <p:sp>
          <p:nvSpPr>
            <p:cNvPr id="30" name="TextBox 30"/>
            <p:cNvSpPr txBox="1"/>
            <p:nvPr/>
          </p:nvSpPr>
          <p:spPr>
            <a:xfrm>
              <a:off x="1047750" y="4970145"/>
              <a:ext cx="1756395" cy="762000"/>
            </a:xfrm>
            <a:prstGeom prst="rect">
              <a:avLst/>
            </a:prstGeom>
            <a:noFill/>
            <a:ln>
              <a:noFill/>
            </a:ln>
          </p:spPr>
          <p:txBody>
            <a:bodyPr wrap="none" lIns="0" tIns="0" rIns="0" bIns="0" anchor="t" anchorCtr="0">
              <a:spAutoFit/>
            </a:bodyPr>
            <a:lstStyle/>
            <a:p>
              <a:pPr algn="l"/>
              <a:r>
                <a:rPr lang="en-US" sz="3900" b="1" dirty="0">
                  <a:solidFill>
                    <a:srgbClr val="FFFFFF"/>
                  </a:solidFill>
                  <a:latin typeface="+mn-lt"/>
                  <a:ea typeface="+mn-ea"/>
                  <a:cs typeface="+mn-cs"/>
                </a:rPr>
                <a:t>~100M</a:t>
              </a:r>
            </a:p>
          </p:txBody>
        </p:sp>
        <p:sp>
          <p:nvSpPr>
            <p:cNvPr id="31" name="TextBox 31"/>
            <p:cNvSpPr txBox="1"/>
            <p:nvPr/>
          </p:nvSpPr>
          <p:spPr>
            <a:xfrm>
              <a:off x="2850642" y="5169218"/>
              <a:ext cx="3114604" cy="264033"/>
            </a:xfrm>
            <a:prstGeom prst="rect">
              <a:avLst/>
            </a:prstGeom>
            <a:noFill/>
            <a:ln>
              <a:noFill/>
            </a:ln>
          </p:spPr>
          <p:txBody>
            <a:bodyPr wrap="none" lIns="0" tIns="0" rIns="0" bIns="0" anchor="t" anchorCtr="0">
              <a:spAutoFit/>
            </a:bodyPr>
            <a:lstStyle/>
            <a:p>
              <a:pPr algn="l"/>
              <a:r>
                <a:rPr lang="en-US" sz="1350" b="1" dirty="0">
                  <a:solidFill>
                    <a:srgbClr val="C9D2E6"/>
                  </a:solidFill>
                  <a:latin typeface="+mn-lt"/>
                  <a:ea typeface="+mn-ea"/>
                  <a:cs typeface="+mn-cs"/>
                </a:rPr>
                <a:t>parameters in the largest models</a:t>
              </a:r>
            </a:p>
          </p:txBody>
        </p:sp>
        <p:sp>
          <p:nvSpPr>
            <p:cNvPr id="32" name="TextBox 32"/>
            <p:cNvSpPr txBox="1"/>
            <p:nvPr/>
          </p:nvSpPr>
          <p:spPr>
            <a:xfrm>
              <a:off x="2851404" y="5471160"/>
              <a:ext cx="2572664" cy="234696"/>
            </a:xfrm>
            <a:prstGeom prst="rect">
              <a:avLst/>
            </a:prstGeom>
            <a:noFill/>
            <a:ln>
              <a:noFill/>
            </a:ln>
          </p:spPr>
          <p:txBody>
            <a:bodyPr wrap="none" lIns="0" tIns="0" rIns="0" bIns="0" anchor="t" anchorCtr="0">
              <a:spAutoFit/>
            </a:bodyPr>
            <a:lstStyle/>
            <a:p>
              <a:pPr algn="l"/>
              <a:r>
                <a:rPr lang="en-US" sz="1200" dirty="0">
                  <a:solidFill>
                    <a:srgbClr val="9AA6C4"/>
                  </a:solidFill>
                  <a:latin typeface="+mn-lt"/>
                  <a:ea typeface="+mn-ea"/>
                  <a:cs typeface="+mn-cs"/>
                </a:rPr>
                <a:t>scales linearly with feature size</a:t>
              </a:r>
            </a:p>
          </p:txBody>
        </p:sp>
        <p:sp>
          <p:nvSpPr>
            <p:cNvPr id="33" name="Line 33"/>
            <p:cNvSpPr/>
            <p:nvPr/>
          </p:nvSpPr>
          <p:spPr>
            <a:xfrm>
              <a:off x="7048500" y="5200650"/>
              <a:ext cx="9525" cy="476250"/>
            </a:xfrm>
            <a:custGeom>
              <a:avLst/>
              <a:gdLst/>
              <a:ahLst/>
              <a:cxnLst/>
              <a:rect l="l" t="t" r="r" b="b"/>
              <a:pathLst>
                <a:path w="9525" h="476250">
                  <a:moveTo>
                    <a:pt x="0" y="0"/>
                  </a:moveTo>
                  <a:lnTo>
                    <a:pt x="0" y="476250"/>
                  </a:lnTo>
                </a:path>
              </a:pathLst>
            </a:custGeom>
            <a:noFill/>
            <a:ln w="19050">
              <a:solidFill>
                <a:srgbClr val="3A4356"/>
              </a:solidFill>
            </a:ln>
          </p:spPr>
        </p:sp>
        <p:sp>
          <p:nvSpPr>
            <p:cNvPr id="34" name="TextBox 34"/>
            <p:cNvSpPr txBox="1"/>
            <p:nvPr/>
          </p:nvSpPr>
          <p:spPr>
            <a:xfrm>
              <a:off x="7419594" y="5142548"/>
              <a:ext cx="1094786" cy="381381"/>
            </a:xfrm>
            <a:prstGeom prst="rect">
              <a:avLst/>
            </a:prstGeom>
            <a:noFill/>
            <a:ln>
              <a:noFill/>
            </a:ln>
          </p:spPr>
          <p:txBody>
            <a:bodyPr wrap="none" lIns="0" tIns="0" rIns="0" bIns="0" anchor="t" anchorCtr="0">
              <a:spAutoFit/>
            </a:bodyPr>
            <a:lstStyle/>
            <a:p>
              <a:pPr algn="l"/>
              <a:r>
                <a:rPr lang="en-US" sz="1950" b="1" dirty="0">
                  <a:solidFill>
                    <a:schemeClr val="accent2"/>
                  </a:solidFill>
                  <a:latin typeface="+mn-lt"/>
                  <a:ea typeface="+mn-ea"/>
                  <a:cs typeface="+mn-cs"/>
                </a:rPr>
                <a:t>p ≈ 0.02</a:t>
              </a:r>
            </a:p>
          </p:txBody>
        </p:sp>
        <p:sp>
          <p:nvSpPr>
            <p:cNvPr id="35" name="TextBox 35"/>
            <p:cNvSpPr txBox="1"/>
            <p:nvPr/>
          </p:nvSpPr>
          <p:spPr>
            <a:xfrm>
              <a:off x="7423404" y="5490210"/>
              <a:ext cx="2572512" cy="234696"/>
            </a:xfrm>
            <a:prstGeom prst="rect">
              <a:avLst/>
            </a:prstGeom>
            <a:noFill/>
            <a:ln>
              <a:noFill/>
            </a:ln>
          </p:spPr>
          <p:txBody>
            <a:bodyPr wrap="none" lIns="0" tIns="0" rIns="0" bIns="0" anchor="t" anchorCtr="0">
              <a:spAutoFit/>
            </a:bodyPr>
            <a:lstStyle/>
            <a:p>
              <a:pPr algn="l"/>
              <a:r>
                <a:rPr lang="en-US" sz="1200" dirty="0">
                  <a:solidFill>
                    <a:srgbClr val="9AA6C4"/>
                  </a:solidFill>
                  <a:latin typeface="+mn-lt"/>
                  <a:ea typeface="+mn-ea"/>
                  <a:cs typeface="+mn-cs"/>
                </a:rPr>
                <a:t>population responses beat a GLM</a:t>
              </a:r>
            </a:p>
          </p:txBody>
        </p:sp>
      </p:grpSp>
      <p:sp>
        <p:nvSpPr>
          <p:cNvPr id="37" name="TextBox 37"/>
          <p:cNvSpPr txBox="1"/>
          <p:nvPr/>
        </p:nvSpPr>
        <p:spPr>
          <a:xfrm>
            <a:off x="680847" y="6505099"/>
            <a:ext cx="1602745" cy="190690"/>
          </a:xfrm>
          <a:prstGeom prst="rect">
            <a:avLst/>
          </a:prstGeom>
          <a:noFill/>
          <a:ln>
            <a:noFill/>
          </a:ln>
        </p:spPr>
        <p:txBody>
          <a:bodyPr wrap="none" lIns="0" tIns="0" rIns="0" bIns="0" anchor="t" anchorCtr="0">
            <a:spAutoFit/>
          </a:bodyPr>
          <a:lstStyle/>
          <a:p>
            <a:pPr algn="l"/>
            <a:r>
              <a:rPr lang="en-US" sz="980" dirty="0">
                <a:solidFill>
                  <a:srgbClr val="9AA1AC"/>
                </a:solidFill>
                <a:latin typeface="+mn-lt"/>
                <a:ea typeface="+mn-ea"/>
                <a:cs typeface="+mn-cs"/>
              </a:rPr>
              <a:t>Neuroformer · ICLR 2024</a:t>
            </a:r>
          </a:p>
        </p:txBody>
      </p:sp>
      <p:sp>
        <p:nvSpPr>
          <p:cNvPr id="38" name="TextBox 38"/>
          <p:cNvSpPr txBox="1"/>
          <p:nvPr/>
        </p:nvSpPr>
        <p:spPr>
          <a:xfrm>
            <a:off x="11059290" y="6505099"/>
            <a:ext cx="451863" cy="190690"/>
          </a:xfrm>
          <a:prstGeom prst="rect">
            <a:avLst/>
          </a:prstGeom>
          <a:noFill/>
          <a:ln>
            <a:noFill/>
          </a:ln>
        </p:spPr>
        <p:txBody>
          <a:bodyPr wrap="none" lIns="0" tIns="0" rIns="0" bIns="0" anchor="t" anchorCtr="0">
            <a:spAutoFit/>
          </a:bodyPr>
          <a:lstStyle/>
          <a:p>
            <a:pPr algn="r"/>
            <a:r>
              <a:rPr lang="en-US" sz="980" dirty="0">
                <a:solidFill>
                  <a:srgbClr val="9AA1AC"/>
                </a:solidFill>
                <a:latin typeface="+mn-lt"/>
                <a:ea typeface="+mn-ea"/>
                <a:cs typeface="+mn-cs"/>
              </a:rPr>
              <a:t>09 / 10</a:t>
            </a:r>
          </a:p>
        </p:txBody>
      </p:sp>
      <p:sp>
        <p:nvSpPr>
          <p:cNvPr id="39" name="cue_s09_c1_behavior_prediction_neuroformer_reac" title="cue_s09_c1_behavior_prediction_neuroformer_reac" descr="cue_s09_c1_behavior_prediction_neuroformer_reac For behavior prediction, Neuroformer reaches Pearson correlation up to 0.97, versus about 0.73 for Lasso."/>
          <p:cNvSpPr/>
          <p:nvPr/>
        </p:nvSpPr>
        <p:spPr>
          <a:xfrm>
            <a:off x="686409" y="1829028"/>
            <a:ext cx="5219395" cy="292425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9_c2_few_shot_pretrained_fine_tuned_just" title="cue_s09_c2_few_shot_pretrained_fine_tuned_just" descr="cue_s09_c2_few_shot_pretrained_fine_tuned_just Few-shot, a model pretrained and fine-tuned on just 1% of behavior data hits 0.51, beating a non-pretrained model given 10%, which reaches only 0.33."/>
          <p:cNvSpPr/>
          <p:nvPr/>
        </p:nvSpPr>
        <p:spPr>
          <a:xfrm>
            <a:off x="6286195" y="1829028"/>
            <a:ext cx="5219395" cy="28954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9_c3_its_largest_models_scale_roughly" title="cue_s09_c3_its_largest_models_scale_roughly" descr="cue_s09_c3_its_largest_models_scale_roughly Its largest models scale to roughly 100 million parameters."/>
          <p:cNvSpPr/>
          <p:nvPr/>
        </p:nvSpPr>
        <p:spPr>
          <a:xfrm>
            <a:off x="686409" y="4952847"/>
            <a:ext cx="10820400" cy="9525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80085" y="678656"/>
            <a:ext cx="1348429" cy="220028"/>
          </a:xfrm>
          <a:prstGeom prst="rect">
            <a:avLst/>
          </a:prstGeom>
          <a:noFill/>
          <a:ln>
            <a:noFill/>
          </a:ln>
        </p:spPr>
        <p:txBody>
          <a:bodyPr wrap="none" lIns="0" tIns="0" rIns="0" bIns="0" anchor="t" anchorCtr="0">
            <a:spAutoFit/>
          </a:bodyPr>
          <a:lstStyle/>
          <a:p>
            <a:pPr algn="l"/>
            <a:r>
              <a:rPr lang="en-US" sz="1120" b="1" spc="112" dirty="0">
                <a:solidFill>
                  <a:schemeClr val="accent1"/>
                </a:solidFill>
                <a:latin typeface="+mn-lt"/>
                <a:ea typeface="+mn-ea"/>
                <a:cs typeface="+mn-cs"/>
              </a:rPr>
              <a:t>10 · TAKEAWAY</a:t>
            </a:r>
          </a:p>
        </p:txBody>
      </p:sp>
      <p:sp>
        <p:nvSpPr>
          <p:cNvPr id="3" name="TextBox 3"/>
          <p:cNvSpPr txBox="1"/>
          <p:nvPr/>
        </p:nvSpPr>
        <p:spPr>
          <a:xfrm>
            <a:off x="670560" y="914400"/>
            <a:ext cx="6384426"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Pretraining, now for the brain</a:t>
            </a:r>
          </a:p>
        </p:txBody>
      </p:sp>
      <p:sp>
        <p:nvSpPr>
          <p:cNvPr id="4" name="Rectangle 4"/>
          <p:cNvSpPr/>
          <p:nvPr/>
        </p:nvSpPr>
        <p:spPr>
          <a:xfrm>
            <a:off x="685800" y="1409700"/>
            <a:ext cx="609600" cy="38100"/>
          </a:xfrm>
          <a:prstGeom prst="roundRect">
            <a:avLst>
              <a:gd name="adj" fmla="val 50000"/>
            </a:avLst>
          </a:prstGeom>
          <a:solidFill>
            <a:schemeClr val="accent1"/>
          </a:solidFill>
          <a:ln>
            <a:noFill/>
          </a:ln>
        </p:spPr>
        <p:txBody>
          <a:bodyPr/>
          <a:p/>
        </p:txBody>
      </p:sp>
      <p:grpSp>
        <p:nvGrpSpPr>
          <p:cNvPr id="9" name="Group 9"/>
          <p:cNvGrpSpPr/>
          <p:nvPr/>
        </p:nvGrpSpPr>
        <p:grpSpPr>
          <a:xfrm>
            <a:off x="685800" y="1828800"/>
            <a:ext cx="10820400" cy="1714500"/>
            <a:chOff x="685800" y="1828800"/>
            <a:chExt cx="10820400" cy="1714500"/>
          </a:xfrm>
        </p:grpSpPr>
        <p:sp>
          <p:nvSpPr>
            <p:cNvPr id="5" name="Rectangle 5"/>
            <p:cNvSpPr/>
            <p:nvPr/>
          </p:nvSpPr>
          <p:spPr>
            <a:xfrm>
              <a:off x="685800" y="1828800"/>
              <a:ext cx="10820400" cy="1714500"/>
            </a:xfrm>
            <a:prstGeom prst="roundRect">
              <a:avLst>
                <a:gd name="adj" fmla="val 8889"/>
              </a:avLst>
            </a:prstGeom>
            <a:solidFill>
              <a:schemeClr val="accent1"/>
            </a:solidFill>
            <a:ln>
              <a:noFill/>
            </a:ln>
          </p:spPr>
        </p:sp>
        <p:sp>
          <p:nvSpPr>
            <p:cNvPr id="6" name="TextBox 6"/>
            <p:cNvSpPr txBox="1"/>
            <p:nvPr/>
          </p:nvSpPr>
          <p:spPr>
            <a:xfrm>
              <a:off x="1053846" y="2277428"/>
              <a:ext cx="8832344" cy="498729"/>
            </a:xfrm>
            <a:prstGeom prst="rect">
              <a:avLst/>
            </a:prstGeom>
            <a:noFill/>
            <a:ln>
              <a:noFill/>
            </a:ln>
          </p:spPr>
          <p:txBody>
            <a:bodyPr wrap="none" lIns="0" tIns="0" rIns="0" bIns="0" anchor="t" anchorCtr="0">
              <a:spAutoFit/>
            </a:bodyPr>
            <a:lstStyle/>
            <a:p>
              <a:pPr algn="l"/>
              <a:r>
                <a:rPr lang="en-US" sz="2550" b="1" dirty="0">
                  <a:solidFill>
                    <a:srgbClr val="FFFFFF"/>
                  </a:solidFill>
                  <a:latin typeface="+mn-lt"/>
                  <a:ea typeface="+mn-ea"/>
                  <a:cs typeface="+mn-cs"/>
                </a:rPr>
                <a:t>The pretraining paradigm that reshaped vision and</a:t>
              </a:r>
            </a:p>
          </p:txBody>
        </p:sp>
        <p:sp>
          <p:nvSpPr>
            <p:cNvPr id="7" name="TextBox 7"/>
            <p:cNvSpPr txBox="1"/>
            <p:nvPr/>
          </p:nvSpPr>
          <p:spPr>
            <a:xfrm>
              <a:off x="1053846" y="2734628"/>
              <a:ext cx="6622052" cy="498729"/>
            </a:xfrm>
            <a:prstGeom prst="rect">
              <a:avLst/>
            </a:prstGeom>
            <a:noFill/>
            <a:ln>
              <a:noFill/>
            </a:ln>
          </p:spPr>
          <p:txBody>
            <a:bodyPr wrap="none" lIns="0" tIns="0" rIns="0" bIns="0" anchor="t" anchorCtr="0">
              <a:spAutoFit/>
            </a:bodyPr>
            <a:lstStyle/>
            <a:p>
              <a:pPr algn="l"/>
              <a:r>
                <a:rPr lang="en-US" sz="2550" b="1" dirty="0">
                  <a:solidFill>
                    <a:srgbClr val="FFFFFF"/>
                  </a:solidFill>
                  <a:latin typeface="+mn-lt"/>
                  <a:ea typeface="+mn-ea"/>
                  <a:cs typeface="+mn-cs"/>
                </a:rPr>
                <a:t>language can also work for the brain.</a:t>
              </a:r>
            </a:p>
          </p:txBody>
        </p:sp>
        <p:sp>
          <p:nvSpPr>
            <p:cNvPr id="8" name="TextBox 8"/>
            <p:cNvSpPr txBox="1"/>
            <p:nvPr/>
          </p:nvSpPr>
          <p:spPr>
            <a:xfrm>
              <a:off x="1060323" y="3215164"/>
              <a:ext cx="4346641" cy="249364"/>
            </a:xfrm>
            <a:prstGeom prst="rect">
              <a:avLst/>
            </a:prstGeom>
            <a:noFill/>
            <a:ln>
              <a:noFill/>
            </a:ln>
          </p:spPr>
          <p:txBody>
            <a:bodyPr wrap="none" lIns="0" tIns="0" rIns="0" bIns="0" anchor="t" anchorCtr="0">
              <a:spAutoFit/>
            </a:bodyPr>
            <a:lstStyle/>
            <a:p>
              <a:pPr algn="l"/>
              <a:r>
                <a:rPr lang="en-US" sz="1280" dirty="0">
                  <a:solidFill>
                    <a:srgbClr val="C9D9FF"/>
                  </a:solidFill>
                  <a:latin typeface="+mn-lt"/>
                  <a:ea typeface="+mn-ea"/>
                  <a:cs typeface="+mn-cs"/>
                </a:rPr>
                <a:t>one self-supervised, multimodal, generative recipe</a:t>
              </a:r>
            </a:p>
          </p:txBody>
        </p:sp>
      </p:grpSp>
      <p:grpSp>
        <p:nvGrpSpPr>
          <p:cNvPr id="32" name="Group 32"/>
          <p:cNvGrpSpPr/>
          <p:nvPr/>
        </p:nvGrpSpPr>
        <p:grpSpPr>
          <a:xfrm>
            <a:off x="685800" y="3733800"/>
            <a:ext cx="10820400" cy="2057400"/>
            <a:chOff x="685800" y="3733800"/>
            <a:chExt cx="10820400" cy="2057400"/>
          </a:xfrm>
        </p:grpSpPr>
        <p:sp>
          <p:nvSpPr>
            <p:cNvPr id="10" name="Rectangle 10"/>
            <p:cNvSpPr/>
            <p:nvPr/>
          </p:nvSpPr>
          <p:spPr>
            <a:xfrm>
              <a:off x="685800" y="3733800"/>
              <a:ext cx="10820400" cy="2057400"/>
            </a:xfrm>
            <a:prstGeom prst="roundRect">
              <a:avLst>
                <a:gd name="adj" fmla="val 7407"/>
              </a:avLst>
            </a:prstGeom>
            <a:solidFill>
              <a:schemeClr val="lt2"/>
            </a:solidFill>
            <a:ln w="9525">
              <a:solidFill>
                <a:schemeClr val="accent4"/>
              </a:solidFill>
            </a:ln>
          </p:spPr>
        </p:sp>
        <p:grpSp>
          <p:nvGrpSpPr>
            <p:cNvPr id="17" name="Group 17"/>
            <p:cNvGrpSpPr/>
            <p:nvPr/>
          </p:nvGrpSpPr>
          <p:grpSpPr>
            <a:xfrm>
              <a:off x="990600" y="4038600"/>
              <a:ext cx="3276600" cy="1447800"/>
              <a:chOff x="990600" y="4038600"/>
              <a:chExt cx="3276600" cy="1447800"/>
            </a:xfrm>
          </p:grpSpPr>
          <p:sp>
            <p:nvSpPr>
              <p:cNvPr id="11" name="Rectangle 11"/>
              <p:cNvSpPr/>
              <p:nvPr/>
            </p:nvSpPr>
            <p:spPr>
              <a:xfrm>
                <a:off x="990600" y="4038600"/>
                <a:ext cx="3276600" cy="1447800"/>
              </a:xfrm>
              <a:prstGeom prst="roundRect">
                <a:avLst>
                  <a:gd name="adj" fmla="val 7895"/>
                </a:avLst>
              </a:prstGeom>
              <a:solidFill>
                <a:schemeClr val="lt1"/>
              </a:solidFill>
              <a:ln w="9525">
                <a:solidFill>
                  <a:schemeClr val="accent4"/>
                </a:solidFill>
              </a:ln>
            </p:spPr>
          </p:sp>
          <p:sp>
            <p:nvSpPr>
              <p:cNvPr id="12" name="Rectangle 12"/>
              <p:cNvSpPr/>
              <p:nvPr/>
            </p:nvSpPr>
            <p:spPr>
              <a:xfrm>
                <a:off x="990600" y="4038600"/>
                <a:ext cx="76200" cy="1447800"/>
              </a:xfrm>
              <a:prstGeom prst="roundRect">
                <a:avLst>
                  <a:gd name="adj" fmla="val 50000"/>
                </a:avLst>
              </a:prstGeom>
              <a:solidFill>
                <a:schemeClr val="accent1"/>
              </a:solidFill>
              <a:ln>
                <a:noFill/>
              </a:ln>
            </p:spPr>
          </p:sp>
          <p:sp>
            <p:nvSpPr>
              <p:cNvPr id="13" name="TextBox 13"/>
              <p:cNvSpPr txBox="1"/>
              <p:nvPr/>
            </p:nvSpPr>
            <p:spPr>
              <a:xfrm>
                <a:off x="1251585" y="4317206"/>
                <a:ext cx="1590977" cy="220028"/>
              </a:xfrm>
              <a:prstGeom prst="rect">
                <a:avLst/>
              </a:prstGeom>
              <a:noFill/>
              <a:ln>
                <a:noFill/>
              </a:ln>
            </p:spPr>
            <p:txBody>
              <a:bodyPr wrap="none" lIns="0" tIns="0" rIns="0" bIns="0" anchor="t" anchorCtr="0">
                <a:spAutoFit/>
              </a:bodyPr>
              <a:lstStyle/>
              <a:p>
                <a:pPr algn="l"/>
                <a:r>
                  <a:rPr lang="en-US" sz="1120" b="1" spc="75" dirty="0">
                    <a:solidFill>
                      <a:schemeClr val="accent1"/>
                    </a:solidFill>
                    <a:latin typeface="+mn-lt"/>
                    <a:ea typeface="+mn-ea"/>
                    <a:cs typeface="+mn-cs"/>
                  </a:rPr>
                  <a:t>ONE FORMULATION</a:t>
                </a:r>
              </a:p>
            </p:txBody>
          </p:sp>
          <p:sp>
            <p:nvSpPr>
              <p:cNvPr id="14" name="TextBox 14"/>
              <p:cNvSpPr txBox="1"/>
              <p:nvPr/>
            </p:nvSpPr>
            <p:spPr>
              <a:xfrm>
                <a:off x="1250061" y="4627721"/>
                <a:ext cx="2580222"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Spikes as autoregressive,</a:t>
                </a:r>
              </a:p>
            </p:txBody>
          </p:sp>
          <p:sp>
            <p:nvSpPr>
              <p:cNvPr id="15" name="TextBox 15"/>
              <p:cNvSpPr txBox="1"/>
              <p:nvPr/>
            </p:nvSpPr>
            <p:spPr>
              <a:xfrm>
                <a:off x="1250061" y="4875371"/>
                <a:ext cx="2162165"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multimodal generation</a:t>
                </a:r>
              </a:p>
            </p:txBody>
          </p:sp>
          <p:sp>
            <p:nvSpPr>
              <p:cNvPr id="16" name="TextBox 16"/>
              <p:cNvSpPr txBox="1"/>
              <p:nvPr/>
            </p:nvSpPr>
            <p:spPr>
              <a:xfrm>
                <a:off x="1251966" y="5201602"/>
                <a:ext cx="259032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 single self-supervised transformer</a:t>
                </a:r>
              </a:p>
            </p:txBody>
          </p:sp>
        </p:grpSp>
        <p:grpSp>
          <p:nvGrpSpPr>
            <p:cNvPr id="24" name="Group 24"/>
            <p:cNvGrpSpPr/>
            <p:nvPr/>
          </p:nvGrpSpPr>
          <p:grpSpPr>
            <a:xfrm>
              <a:off x="4457700" y="4038600"/>
              <a:ext cx="3276600" cy="1447800"/>
              <a:chOff x="4457700" y="4038600"/>
              <a:chExt cx="3276600" cy="1447800"/>
            </a:xfrm>
          </p:grpSpPr>
          <p:sp>
            <p:nvSpPr>
              <p:cNvPr id="18" name="Rectangle 18"/>
              <p:cNvSpPr/>
              <p:nvPr/>
            </p:nvSpPr>
            <p:spPr>
              <a:xfrm>
                <a:off x="4457700" y="4038600"/>
                <a:ext cx="3276600" cy="1447800"/>
              </a:xfrm>
              <a:prstGeom prst="roundRect">
                <a:avLst>
                  <a:gd name="adj" fmla="val 7895"/>
                </a:avLst>
              </a:prstGeom>
              <a:solidFill>
                <a:schemeClr val="lt1"/>
              </a:solidFill>
              <a:ln w="9525">
                <a:solidFill>
                  <a:schemeClr val="accent4"/>
                </a:solidFill>
              </a:ln>
            </p:spPr>
          </p:sp>
          <p:sp>
            <p:nvSpPr>
              <p:cNvPr id="19" name="Rectangle 19"/>
              <p:cNvSpPr/>
              <p:nvPr/>
            </p:nvSpPr>
            <p:spPr>
              <a:xfrm>
                <a:off x="4457700" y="4038600"/>
                <a:ext cx="76200" cy="1447800"/>
              </a:xfrm>
              <a:prstGeom prst="roundRect">
                <a:avLst>
                  <a:gd name="adj" fmla="val 50000"/>
                </a:avLst>
              </a:prstGeom>
              <a:solidFill>
                <a:schemeClr val="accent2"/>
              </a:solidFill>
              <a:ln>
                <a:noFill/>
              </a:ln>
            </p:spPr>
          </p:sp>
          <p:sp>
            <p:nvSpPr>
              <p:cNvPr id="20" name="TextBox 20"/>
              <p:cNvSpPr txBox="1"/>
              <p:nvPr/>
            </p:nvSpPr>
            <p:spPr>
              <a:xfrm>
                <a:off x="4718685" y="4317206"/>
                <a:ext cx="1358244" cy="220028"/>
              </a:xfrm>
              <a:prstGeom prst="rect">
                <a:avLst/>
              </a:prstGeom>
              <a:noFill/>
              <a:ln>
                <a:noFill/>
              </a:ln>
            </p:spPr>
            <p:txBody>
              <a:bodyPr wrap="none" lIns="0" tIns="0" rIns="0" bIns="0" anchor="t" anchorCtr="0">
                <a:spAutoFit/>
              </a:bodyPr>
              <a:lstStyle/>
              <a:p>
                <a:pPr algn="l"/>
                <a:r>
                  <a:rPr lang="en-US" sz="1120" b="1" spc="75" dirty="0">
                    <a:solidFill>
                      <a:schemeClr val="accent2"/>
                    </a:solidFill>
                    <a:latin typeface="+mn-lt"/>
                    <a:ea typeface="+mn-ea"/>
                    <a:cs typeface="+mn-cs"/>
                  </a:rPr>
                  <a:t>TWO OUTCOMES</a:t>
                </a:r>
              </a:p>
            </p:txBody>
          </p:sp>
          <p:sp>
            <p:nvSpPr>
              <p:cNvPr id="21" name="TextBox 21"/>
              <p:cNvSpPr txBox="1"/>
              <p:nvPr/>
            </p:nvSpPr>
            <p:spPr>
              <a:xfrm>
                <a:off x="4717161" y="4627721"/>
                <a:ext cx="1797120"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Recovers directed</a:t>
                </a:r>
              </a:p>
            </p:txBody>
          </p:sp>
          <p:sp>
            <p:nvSpPr>
              <p:cNvPr id="22" name="TextBox 22"/>
              <p:cNvSpPr txBox="1"/>
              <p:nvPr/>
            </p:nvSpPr>
            <p:spPr>
              <a:xfrm>
                <a:off x="4717161" y="4875371"/>
                <a:ext cx="2242452"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connectivity + decodes</a:t>
                </a:r>
              </a:p>
            </p:txBody>
          </p:sp>
          <p:sp>
            <p:nvSpPr>
              <p:cNvPr id="23" name="TextBox 23"/>
              <p:cNvSpPr txBox="1"/>
              <p:nvPr/>
            </p:nvSpPr>
            <p:spPr>
              <a:xfrm>
                <a:off x="4717161" y="5123021"/>
                <a:ext cx="2754284"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behavior from few examples</a:t>
                </a:r>
              </a:p>
            </p:txBody>
          </p:sp>
        </p:grpSp>
        <p:grpSp>
          <p:nvGrpSpPr>
            <p:cNvPr id="31" name="Group 31"/>
            <p:cNvGrpSpPr/>
            <p:nvPr/>
          </p:nvGrpSpPr>
          <p:grpSpPr>
            <a:xfrm>
              <a:off x="7924800" y="4038600"/>
              <a:ext cx="3276600" cy="1447800"/>
              <a:chOff x="7924800" y="4038600"/>
              <a:chExt cx="3276600" cy="1447800"/>
            </a:xfrm>
          </p:grpSpPr>
          <p:sp>
            <p:nvSpPr>
              <p:cNvPr id="25" name="Rectangle 25"/>
              <p:cNvSpPr/>
              <p:nvPr/>
            </p:nvSpPr>
            <p:spPr>
              <a:xfrm>
                <a:off x="7924800" y="4038600"/>
                <a:ext cx="3276600" cy="1447800"/>
              </a:xfrm>
              <a:prstGeom prst="roundRect">
                <a:avLst>
                  <a:gd name="adj" fmla="val 7895"/>
                </a:avLst>
              </a:prstGeom>
              <a:solidFill>
                <a:schemeClr val="lt1"/>
              </a:solidFill>
              <a:ln w="9525">
                <a:solidFill>
                  <a:schemeClr val="accent4"/>
                </a:solidFill>
              </a:ln>
            </p:spPr>
          </p:sp>
          <p:sp>
            <p:nvSpPr>
              <p:cNvPr id="26" name="Rectangle 26"/>
              <p:cNvSpPr/>
              <p:nvPr/>
            </p:nvSpPr>
            <p:spPr>
              <a:xfrm>
                <a:off x="7924800" y="4038600"/>
                <a:ext cx="76200" cy="1447800"/>
              </a:xfrm>
              <a:prstGeom prst="roundRect">
                <a:avLst>
                  <a:gd name="adj" fmla="val 50000"/>
                </a:avLst>
              </a:prstGeom>
              <a:solidFill>
                <a:schemeClr val="accent3"/>
              </a:solidFill>
              <a:ln>
                <a:noFill/>
              </a:ln>
            </p:spPr>
          </p:sp>
          <p:sp>
            <p:nvSpPr>
              <p:cNvPr id="27" name="TextBox 27"/>
              <p:cNvSpPr txBox="1"/>
              <p:nvPr/>
            </p:nvSpPr>
            <p:spPr>
              <a:xfrm>
                <a:off x="8185785" y="4317206"/>
                <a:ext cx="1440430" cy="220028"/>
              </a:xfrm>
              <a:prstGeom prst="rect">
                <a:avLst/>
              </a:prstGeom>
              <a:noFill/>
              <a:ln>
                <a:noFill/>
              </a:ln>
            </p:spPr>
            <p:txBody>
              <a:bodyPr wrap="none" lIns="0" tIns="0" rIns="0" bIns="0" anchor="t" anchorCtr="0">
                <a:spAutoFit/>
              </a:bodyPr>
              <a:lstStyle/>
              <a:p>
                <a:pPr algn="l"/>
                <a:r>
                  <a:rPr lang="en-US" sz="1120" b="1" spc="75" dirty="0">
                    <a:solidFill>
                      <a:schemeClr val="accent3"/>
                    </a:solidFill>
                    <a:latin typeface="+mn-lt"/>
                    <a:ea typeface="+mn-ea"/>
                    <a:cs typeface="+mn-cs"/>
                  </a:rPr>
                  <a:t>WHERE IT POINTS</a:t>
                </a:r>
              </a:p>
            </p:txBody>
          </p:sp>
          <p:sp>
            <p:nvSpPr>
              <p:cNvPr id="28" name="TextBox 28"/>
              <p:cNvSpPr txBox="1"/>
              <p:nvPr/>
            </p:nvSpPr>
            <p:spPr>
              <a:xfrm>
                <a:off x="8184261" y="4627721"/>
                <a:ext cx="2138050"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Scalable neuroscience</a:t>
                </a:r>
              </a:p>
            </p:txBody>
          </p:sp>
          <p:sp>
            <p:nvSpPr>
              <p:cNvPr id="29" name="TextBox 29"/>
              <p:cNvSpPr txBox="1"/>
              <p:nvPr/>
            </p:nvSpPr>
            <p:spPr>
              <a:xfrm>
                <a:off x="8184261" y="4875371"/>
                <a:ext cx="1780800"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foundation models</a:t>
                </a:r>
              </a:p>
            </p:txBody>
          </p:sp>
          <p:sp>
            <p:nvSpPr>
              <p:cNvPr id="30" name="TextBox 30"/>
              <p:cNvSpPr txBox="1"/>
              <p:nvPr/>
            </p:nvSpPr>
            <p:spPr>
              <a:xfrm>
                <a:off x="8186166" y="5201602"/>
                <a:ext cx="174979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and a future link to LLMs</a:t>
                </a:r>
              </a:p>
            </p:txBody>
          </p:sp>
        </p:grpSp>
      </p:grpSp>
      <p:grpSp>
        <p:nvGrpSpPr>
          <p:cNvPr id="39" name="Group 39"/>
          <p:cNvGrpSpPr/>
          <p:nvPr/>
        </p:nvGrpSpPr>
        <p:grpSpPr>
          <a:xfrm>
            <a:off x="685800" y="6019800"/>
            <a:ext cx="7442150" cy="418814"/>
            <a:chOff x="685800" y="6019800"/>
            <a:chExt cx="7442150" cy="418814"/>
          </a:xfrm>
        </p:grpSpPr>
        <p:pic>
          <p:nvPicPr>
            <p:cNvPr id="33" name="Image 33"/>
            <p:cNvPicPr>
              <a:picLocks noChangeAspect="1"/>
            </p:cNvPicPr>
            <p:nvPr/>
          </p:nvPicPr>
          <p:blipFill>
            <a:blip r:embed="rId2"/>
            <a:stretch>
              <a:fillRect/>
            </a:stretch>
          </p:blipFill>
          <p:spPr>
            <a:xfrm>
              <a:off x="685800" y="6019800"/>
              <a:ext cx="381000" cy="381000"/>
            </a:xfrm>
            <a:prstGeom prst="rect">
              <a:avLst/>
            </a:prstGeom>
          </p:spPr>
        </p:pic>
        <p:sp>
          <p:nvSpPr>
            <p:cNvPr id="34" name="TextBox 34"/>
            <p:cNvSpPr txBox="1"/>
            <p:nvPr/>
          </p:nvSpPr>
          <p:spPr>
            <a:xfrm>
              <a:off x="1156716" y="6068378"/>
              <a:ext cx="341809"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Code</a:t>
              </a:r>
            </a:p>
          </p:txBody>
        </p:sp>
        <p:sp>
          <p:nvSpPr>
            <p:cNvPr id="35" name="TextBox 35"/>
            <p:cNvSpPr txBox="1"/>
            <p:nvPr/>
          </p:nvSpPr>
          <p:spPr>
            <a:xfrm>
              <a:off x="1157097" y="6247924"/>
              <a:ext cx="2540933" cy="190690"/>
            </a:xfrm>
            <a:prstGeom prst="rect">
              <a:avLst/>
            </a:prstGeom>
            <a:noFill/>
            <a:ln>
              <a:noFill/>
            </a:ln>
          </p:spPr>
          <p:txBody>
            <a:bodyPr wrap="none" lIns="0" tIns="0" rIns="0" bIns="0" anchor="t" anchorCtr="0">
              <a:spAutoFit/>
            </a:bodyPr>
            <a:lstStyle/>
            <a:p>
              <a:pPr algn="l"/>
              <a:r>
                <a:rPr lang="en-US" sz="980" dirty="0">
                  <a:solidFill>
                    <a:srgbClr val="7A828E"/>
                  </a:solidFill>
                  <a:latin typeface="+mn-lt"/>
                  <a:ea typeface="+mn-ea"/>
                  <a:cs typeface="+mn-cs"/>
                </a:rPr>
                <a:t>github.com/a-antoniades/Neuroformer</a:t>
              </a:r>
            </a:p>
          </p:txBody>
        </p:sp>
        <p:pic>
          <p:nvPicPr>
            <p:cNvPr id="36" name="Image 36"/>
            <p:cNvPicPr>
              <a:picLocks noChangeAspect="1"/>
            </p:cNvPicPr>
            <p:nvPr/>
          </p:nvPicPr>
          <p:blipFill>
            <a:blip r:embed="rId3"/>
            <a:stretch>
              <a:fillRect/>
            </a:stretch>
          </p:blipFill>
          <p:spPr>
            <a:xfrm>
              <a:off x="5162550" y="6019800"/>
              <a:ext cx="381000" cy="381000"/>
            </a:xfrm>
            <a:prstGeom prst="rect">
              <a:avLst/>
            </a:prstGeom>
          </p:spPr>
        </p:pic>
        <p:sp>
          <p:nvSpPr>
            <p:cNvPr id="37" name="TextBox 37"/>
            <p:cNvSpPr txBox="1"/>
            <p:nvPr/>
          </p:nvSpPr>
          <p:spPr>
            <a:xfrm>
              <a:off x="5633466" y="6068378"/>
              <a:ext cx="423440"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Paper</a:t>
              </a:r>
            </a:p>
          </p:txBody>
        </p:sp>
        <p:sp>
          <p:nvSpPr>
            <p:cNvPr id="38" name="TextBox 38"/>
            <p:cNvSpPr txBox="1"/>
            <p:nvPr/>
          </p:nvSpPr>
          <p:spPr>
            <a:xfrm>
              <a:off x="5633847" y="6247924"/>
              <a:ext cx="2494103" cy="190690"/>
            </a:xfrm>
            <a:prstGeom prst="rect">
              <a:avLst/>
            </a:prstGeom>
            <a:noFill/>
            <a:ln>
              <a:noFill/>
            </a:ln>
          </p:spPr>
          <p:txBody>
            <a:bodyPr wrap="none" lIns="0" tIns="0" rIns="0" bIns="0" anchor="t" anchorCtr="0">
              <a:spAutoFit/>
            </a:bodyPr>
            <a:lstStyle/>
            <a:p>
              <a:pPr algn="l"/>
              <a:r>
                <a:rPr lang="en-US" sz="980" dirty="0">
                  <a:solidFill>
                    <a:srgbClr val="7A828E"/>
                  </a:solidFill>
                  <a:latin typeface="+mn-lt"/>
                  <a:ea typeface="+mn-ea"/>
                  <a:cs typeface="+mn-cs"/>
                </a:rPr>
                <a:t>arxiv.org/abs/2311.00136 · ICLR 2024</a:t>
              </a:r>
            </a:p>
          </p:txBody>
        </p:sp>
      </p:grpSp>
      <p:sp>
        <p:nvSpPr>
          <p:cNvPr id="40" name="TextBox 40"/>
          <p:cNvSpPr txBox="1"/>
          <p:nvPr/>
        </p:nvSpPr>
        <p:spPr>
          <a:xfrm>
            <a:off x="11059290" y="6505099"/>
            <a:ext cx="451863" cy="190690"/>
          </a:xfrm>
          <a:prstGeom prst="rect">
            <a:avLst/>
          </a:prstGeom>
          <a:noFill/>
          <a:ln>
            <a:noFill/>
          </a:ln>
        </p:spPr>
        <p:txBody>
          <a:bodyPr wrap="none" lIns="0" tIns="0" rIns="0" bIns="0" anchor="t" anchorCtr="0">
            <a:spAutoFit/>
          </a:bodyPr>
          <a:lstStyle/>
          <a:p>
            <a:pPr algn="r"/>
            <a:r>
              <a:rPr lang="en-US" sz="980" dirty="0">
                <a:solidFill>
                  <a:srgbClr val="9AA1AC"/>
                </a:solidFill>
                <a:latin typeface="+mn-lt"/>
                <a:ea typeface="+mn-ea"/>
                <a:cs typeface="+mn-cs"/>
              </a:rPr>
              <a:t>10 / 10</a:t>
            </a:r>
          </a:p>
        </p:txBody>
      </p:sp>
      <p:sp>
        <p:nvSpPr>
          <p:cNvPr id="41" name="cue_s10_c1_takeaway_pretraining_paradigm_reshap" title="cue_s10_c1_takeaway_pretraining_paradigm_reshap" descr="cue_s10_c1_takeaway_pretraining_paradigm_reshap The takeaway: the pretraining paradigm that reshaped vision and language can also work for the brain."/>
          <p:cNvSpPr/>
          <p:nvPr/>
        </p:nvSpPr>
        <p:spPr>
          <a:xfrm>
            <a:off x="686409" y="1829028"/>
            <a:ext cx="10820400" cy="17145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10_c2_treating_spikes_autoregressive_multi" title="cue_s10_c2_treating_spikes_autoregressive_multi" descr="cue_s10_c2_treating_spikes_autoregressive_multi Treating spikes as autoregressive multimodal generation, one self-supervised transformer recovers a circuit's directed connectivity and decodes behavior from few examples, pointing toward scalable neuroscience foundation models."/>
          <p:cNvSpPr/>
          <p:nvPr/>
        </p:nvSpPr>
        <p:spPr>
          <a:xfrm>
            <a:off x="686409" y="3733495"/>
            <a:ext cx="10820400" cy="20574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neuroformer_deck">
  <a:themeElements>
    <a:clrScheme name="neuroformer_deck">
      <a:dk1>
        <a:srgbClr val="12161D"/>
      </a:dk1>
      <a:lt1>
        <a:srgbClr val="FFFFFF"/>
      </a:lt1>
      <a:dk2>
        <a:srgbClr val="444B55"/>
      </a:dk2>
      <a:lt2>
        <a:srgbClr val="F3F5F9"/>
      </a:lt2>
      <a:accent1>
        <a:srgbClr val="2F5BEA"/>
      </a:accent1>
      <a:accent2>
        <a:srgbClr val="12A594"/>
      </a:accent2>
      <a:accent3>
        <a:srgbClr val="E8663D"/>
      </a:accent3>
      <a:accent4>
        <a:srgbClr val="E3E7EE"/>
      </a:accent4>
      <a:accent5>
        <a:srgbClr val="4BACC6"/>
      </a:accent5>
      <a:accent6>
        <a:srgbClr val="F79646"/>
      </a:accent6>
      <a:hlink>
        <a:srgbClr val="12A594"/>
      </a:hlink>
      <a:folHlink>
        <a:srgbClr val="E8663D"/>
      </a:folHlink>
    </a:clrScheme>
    <a:fontScheme name="neuroformer_deck">
      <a:majorFont>
        <a:latin typeface="Inter"/>
        <a:ea typeface="Microsoft YaHei"/>
        <a:cs typeface="Inter"/>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nter"/>
        <a:ea typeface="Microsoft YaHei"/>
        <a:cs typeface="Inter"/>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euroformer_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neuroformer_deck">
  <a:themeElements>
    <a:clrScheme name="neuroformer_deck">
      <a:dk1>
        <a:srgbClr val="12161D"/>
      </a:dk1>
      <a:lt1>
        <a:srgbClr val="FFFFFF"/>
      </a:lt1>
      <a:dk2>
        <a:srgbClr val="444B55"/>
      </a:dk2>
      <a:lt2>
        <a:srgbClr val="F3F5F9"/>
      </a:lt2>
      <a:accent1>
        <a:srgbClr val="2F5BEA"/>
      </a:accent1>
      <a:accent2>
        <a:srgbClr val="12A594"/>
      </a:accent2>
      <a:accent3>
        <a:srgbClr val="E8663D"/>
      </a:accent3>
      <a:accent4>
        <a:srgbClr val="E3E7EE"/>
      </a:accent4>
      <a:accent5>
        <a:srgbClr val="4BACC6"/>
      </a:accent5>
      <a:accent6>
        <a:srgbClr val="F79646"/>
      </a:accent6>
      <a:hlink>
        <a:srgbClr val="12A594"/>
      </a:hlink>
      <a:folHlink>
        <a:srgbClr val="E8663D"/>
      </a:folHlink>
    </a:clrScheme>
    <a:fontScheme name="neuroformer_deck">
      <a:majorFont>
        <a:latin typeface="Inter"/>
        <a:ea typeface="Microsoft YaHei"/>
        <a:cs typeface="Inter"/>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nter"/>
        <a:ea typeface="Microsoft YaHei"/>
        <a:cs typeface="Inter"/>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euroformer_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2026-07-15T14:44:09Z</dcterms:created>
  <dcterms:modified xsi:type="dcterms:W3CDTF">2026-07-15T14:44:09Z</dcterms:modified>
  <cp:category/>
  <cp:contentStatus/>
</cp:coreProperties>
</file>
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2023</a:t>
            </a:r>
          </a:p>
        </p:txBody>
      </p:sp>
      <p:sp>
        <p:nvSpPr>
          <p:cNvPr id="3" name="TextBox 3"/>
          <p:cNvSpPr txBox="1"/>
          <p:nvPr/>
        </p:nvSpPr>
        <p:spPr>
          <a:xfrm>
            <a:off x="9533736" y="572452"/>
            <a:ext cx="2053998"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University of Michigan · LSE</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4360" y="1104900"/>
            <a:ext cx="7274296"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n-lt"/>
                <a:ea typeface="+mn-ea"/>
                <a:cs typeface="+mn-cs"/>
              </a:rPr>
              <a:t>A Robust Test for the Stationarity</a:t>
            </a:r>
          </a:p>
        </p:txBody>
      </p:sp>
      <p:sp>
        <p:nvSpPr>
          <p:cNvPr id="6" name="TextBox 6"/>
          <p:cNvSpPr txBox="1"/>
          <p:nvPr/>
        </p:nvSpPr>
        <p:spPr>
          <a:xfrm>
            <a:off x="594360" y="1562100"/>
            <a:ext cx="8415528"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n-lt"/>
                <a:ea typeface="+mn-ea"/>
                <a:cs typeface="+mn-cs"/>
              </a:rPr>
              <a:t>Assumption in Sequential Decision Making</a:t>
            </a:r>
          </a:p>
        </p:txBody>
      </p:sp>
      <p:sp>
        <p:nvSpPr>
          <p:cNvPr id="7" name="TextBox 7"/>
          <p:cNvSpPr txBox="1"/>
          <p:nvPr/>
        </p:nvSpPr>
        <p:spPr>
          <a:xfrm>
            <a:off x="601599" y="2096929"/>
            <a:ext cx="7583130" cy="308039"/>
          </a:xfrm>
          <a:prstGeom prst="rect">
            <a:avLst/>
          </a:prstGeom>
          <a:noFill/>
          <a:ln>
            <a:noFill/>
          </a:ln>
        </p:spPr>
        <p:txBody>
          <a:bodyPr wrap="none" lIns="0" tIns="0" rIns="0" bIns="0" anchor="t" anchorCtr="0">
            <a:spAutoFit/>
          </a:bodyPr>
          <a:lstStyle/>
          <a:p>
            <a:pPr algn="l"/>
            <a:r>
              <a:rPr lang="en-US" sz="1580" b="1" dirty="0">
                <a:solidFill>
                  <a:srgbClr val="34D3C0"/>
                </a:solidFill>
                <a:latin typeface="+mn-lt"/>
                <a:ea typeface="+mn-ea"/>
                <a:cs typeface="+mn-cs"/>
              </a:rPr>
              <a:t>A doubly robust change-point test for offline reinforcement learning</a:t>
            </a:r>
          </a:p>
        </p:txBody>
      </p:sp>
      <p:sp>
        <p:nvSpPr>
          <p:cNvPr id="8" name="TextBox 8"/>
          <p:cNvSpPr txBox="1"/>
          <p:nvPr/>
        </p:nvSpPr>
        <p:spPr>
          <a:xfrm>
            <a:off x="603885" y="2507456"/>
            <a:ext cx="563919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Jitao Wang · Chengchun Shi · Zhenke Wu — U-M Biostatistics &amp; LSE Statistics</a:t>
            </a:r>
          </a:p>
        </p:txBody>
      </p:sp>
      <p:grpSp>
        <p:nvGrpSpPr>
          <p:cNvPr id="15" name="Group 15"/>
          <p:cNvGrpSpPr/>
          <p:nvPr/>
        </p:nvGrpSpPr>
        <p:grpSpPr>
          <a:xfrm>
            <a:off x="609600" y="2971800"/>
            <a:ext cx="5334000" cy="1123950"/>
            <a:chOff x="609600" y="2971800"/>
            <a:chExt cx="5334000" cy="1123950"/>
          </a:xfrm>
        </p:grpSpPr>
        <p:sp>
          <p:nvSpPr>
            <p:cNvPr id="9" name="Rectangle 9"/>
            <p:cNvSpPr/>
            <p:nvPr/>
          </p:nvSpPr>
          <p:spPr>
            <a:xfrm>
              <a:off x="609600" y="2971800"/>
              <a:ext cx="5334000" cy="1123950"/>
            </a:xfrm>
            <a:prstGeom prst="roundRect">
              <a:avLst>
                <a:gd name="adj" fmla="val 11864"/>
              </a:avLst>
            </a:prstGeom>
            <a:solidFill>
              <a:schemeClr val="accent5"/>
            </a:solidFill>
            <a:ln w="14288">
              <a:solidFill>
                <a:srgbClr val="26455F"/>
              </a:solidFill>
            </a:ln>
          </p:spPr>
        </p:sp>
        <p:sp>
          <p:nvSpPr>
            <p:cNvPr id="10" name="Rectangle 10"/>
            <p:cNvSpPr/>
            <p:nvPr/>
          </p:nvSpPr>
          <p:spPr>
            <a:xfrm>
              <a:off x="609600" y="2971800"/>
              <a:ext cx="57150" cy="1123950"/>
            </a:xfrm>
            <a:prstGeom prst="roundRect">
              <a:avLst>
                <a:gd name="adj" fmla="val 50000"/>
              </a:avLst>
            </a:prstGeom>
            <a:solidFill>
              <a:schemeClr val="accent2"/>
            </a:solidFill>
            <a:ln>
              <a:noFill/>
            </a:ln>
          </p:spPr>
        </p:sp>
        <p:sp>
          <p:nvSpPr>
            <p:cNvPr id="11" name="TextBox 11"/>
            <p:cNvSpPr txBox="1"/>
            <p:nvPr/>
          </p:nvSpPr>
          <p:spPr>
            <a:xfrm>
              <a:off x="869442" y="3168968"/>
              <a:ext cx="207118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The hidden assumption</a:t>
              </a:r>
            </a:p>
          </p:txBody>
        </p:sp>
        <p:sp>
          <p:nvSpPr>
            <p:cNvPr id="12" name="TextBox 12"/>
            <p:cNvSpPr txBox="1"/>
            <p:nvPr/>
          </p:nvSpPr>
          <p:spPr>
            <a:xfrm>
              <a:off x="871156" y="3453051"/>
              <a:ext cx="46719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Almost every RL algorithm assumes the world never changes. In mobile</a:t>
              </a:r>
            </a:p>
          </p:txBody>
        </p:sp>
        <p:sp>
          <p:nvSpPr>
            <p:cNvPr id="13" name="TextBox 13"/>
            <p:cNvSpPr txBox="1"/>
            <p:nvPr/>
          </p:nvSpPr>
          <p:spPr>
            <a:xfrm>
              <a:off x="871156" y="3643551"/>
              <a:ext cx="443598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health, traffic, and robotics that stationarity quietly breaks and</a:t>
              </a:r>
            </a:p>
          </p:txBody>
        </p:sp>
        <p:sp>
          <p:nvSpPr>
            <p:cNvPr id="14" name="TextBox 14"/>
            <p:cNvSpPr txBox="1"/>
            <p:nvPr/>
          </p:nvSpPr>
          <p:spPr>
            <a:xfrm>
              <a:off x="871156" y="3834051"/>
              <a:ext cx="126117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poisons the policy.</a:t>
              </a:r>
            </a:p>
          </p:txBody>
        </p:sp>
      </p:grpSp>
      <p:grpSp>
        <p:nvGrpSpPr>
          <p:cNvPr id="21" name="Group 21"/>
          <p:cNvGrpSpPr/>
          <p:nvPr/>
        </p:nvGrpSpPr>
        <p:grpSpPr>
          <a:xfrm>
            <a:off x="6248400" y="2971800"/>
            <a:ext cx="5334000" cy="1123950"/>
            <a:chOff x="6248400" y="2971800"/>
            <a:chExt cx="5334000" cy="1123950"/>
          </a:xfrm>
        </p:grpSpPr>
        <p:sp>
          <p:nvSpPr>
            <p:cNvPr id="16" name="Rectangle 16"/>
            <p:cNvSpPr/>
            <p:nvPr/>
          </p:nvSpPr>
          <p:spPr>
            <a:xfrm>
              <a:off x="6248400" y="2971800"/>
              <a:ext cx="5334000" cy="1123950"/>
            </a:xfrm>
            <a:prstGeom prst="roundRect">
              <a:avLst>
                <a:gd name="adj" fmla="val 11864"/>
              </a:avLst>
            </a:prstGeom>
            <a:solidFill>
              <a:schemeClr val="accent5"/>
            </a:solidFill>
            <a:ln w="14288">
              <a:solidFill>
                <a:srgbClr val="26455F"/>
              </a:solidFill>
            </a:ln>
          </p:spPr>
        </p:sp>
        <p:sp>
          <p:nvSpPr>
            <p:cNvPr id="17" name="Rectangle 17"/>
            <p:cNvSpPr/>
            <p:nvPr/>
          </p:nvSpPr>
          <p:spPr>
            <a:xfrm>
              <a:off x="6248400" y="2971800"/>
              <a:ext cx="57150" cy="1123950"/>
            </a:xfrm>
            <a:prstGeom prst="roundRect">
              <a:avLst>
                <a:gd name="adj" fmla="val 50000"/>
              </a:avLst>
            </a:prstGeom>
            <a:solidFill>
              <a:srgbClr val="34D3C0"/>
            </a:solidFill>
            <a:ln>
              <a:noFill/>
            </a:ln>
          </p:spPr>
        </p:sp>
        <p:sp>
          <p:nvSpPr>
            <p:cNvPr id="18" name="TextBox 18"/>
            <p:cNvSpPr txBox="1"/>
            <p:nvPr/>
          </p:nvSpPr>
          <p:spPr>
            <a:xfrm>
              <a:off x="6508242" y="3168968"/>
              <a:ext cx="192830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A doubly robust test</a:t>
              </a:r>
            </a:p>
          </p:txBody>
        </p:sp>
        <p:sp>
          <p:nvSpPr>
            <p:cNvPr id="19" name="TextBox 19"/>
            <p:cNvSpPr txBox="1"/>
            <p:nvPr/>
          </p:nvSpPr>
          <p:spPr>
            <a:xfrm>
              <a:off x="6509956" y="3453051"/>
              <a:ext cx="477112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statistical test checks whether an offline Markov decision process is</a:t>
              </a:r>
            </a:p>
          </p:txBody>
        </p:sp>
        <p:sp>
          <p:nvSpPr>
            <p:cNvPr id="20" name="TextBox 20"/>
            <p:cNvSpPr txBox="1"/>
            <p:nvPr/>
          </p:nvSpPr>
          <p:spPr>
            <a:xfrm>
              <a:off x="6509956" y="3643551"/>
              <a:ext cx="418444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actually stationary, and pinpoints where the dynamics change.</a:t>
              </a:r>
            </a:p>
          </p:txBody>
        </p:sp>
      </p:grpSp>
      <p:grpSp>
        <p:nvGrpSpPr>
          <p:cNvPr id="27" name="Group 27"/>
          <p:cNvGrpSpPr/>
          <p:nvPr/>
        </p:nvGrpSpPr>
        <p:grpSpPr>
          <a:xfrm>
            <a:off x="609600" y="4305300"/>
            <a:ext cx="5334000" cy="1123950"/>
            <a:chOff x="609600" y="4305300"/>
            <a:chExt cx="5334000" cy="1123950"/>
          </a:xfrm>
        </p:grpSpPr>
        <p:sp>
          <p:nvSpPr>
            <p:cNvPr id="22" name="Rectangle 22"/>
            <p:cNvSpPr/>
            <p:nvPr/>
          </p:nvSpPr>
          <p:spPr>
            <a:xfrm>
              <a:off x="609600" y="4305300"/>
              <a:ext cx="5334000" cy="1123950"/>
            </a:xfrm>
            <a:prstGeom prst="roundRect">
              <a:avLst>
                <a:gd name="adj" fmla="val 11864"/>
              </a:avLst>
            </a:prstGeom>
            <a:solidFill>
              <a:schemeClr val="accent5"/>
            </a:solidFill>
            <a:ln w="14288">
              <a:solidFill>
                <a:srgbClr val="26455F"/>
              </a:solidFill>
            </a:ln>
          </p:spPr>
        </p:sp>
        <p:sp>
          <p:nvSpPr>
            <p:cNvPr id="23" name="Rectangle 23"/>
            <p:cNvSpPr/>
            <p:nvPr/>
          </p:nvSpPr>
          <p:spPr>
            <a:xfrm>
              <a:off x="609600" y="4305300"/>
              <a:ext cx="57150" cy="1123950"/>
            </a:xfrm>
            <a:prstGeom prst="roundRect">
              <a:avLst>
                <a:gd name="adj" fmla="val 50000"/>
              </a:avLst>
            </a:prstGeom>
            <a:solidFill>
              <a:srgbClr val="F2C14E"/>
            </a:solidFill>
            <a:ln>
              <a:noFill/>
            </a:ln>
          </p:spPr>
        </p:sp>
        <p:sp>
          <p:nvSpPr>
            <p:cNvPr id="24" name="TextBox 24"/>
            <p:cNvSpPr txBox="1"/>
            <p:nvPr/>
          </p:nvSpPr>
          <p:spPr>
            <a:xfrm>
              <a:off x="869442" y="4502468"/>
              <a:ext cx="2507191"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ML meets semiparametrics</a:t>
              </a:r>
            </a:p>
          </p:txBody>
        </p:sp>
        <p:sp>
          <p:nvSpPr>
            <p:cNvPr id="25" name="TextBox 25"/>
            <p:cNvSpPr txBox="1"/>
            <p:nvPr/>
          </p:nvSpPr>
          <p:spPr>
            <a:xfrm>
              <a:off x="871156" y="4786551"/>
              <a:ext cx="460553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It pairs flexible ML estimators with semiparametric statistics, so it</a:t>
              </a:r>
            </a:p>
          </p:txBody>
        </p:sp>
        <p:sp>
          <p:nvSpPr>
            <p:cNvPr id="26" name="TextBox 26"/>
            <p:cNvSpPr txBox="1"/>
            <p:nvPr/>
          </p:nvSpPr>
          <p:spPr>
            <a:xfrm>
              <a:off x="871156" y="4977051"/>
              <a:ext cx="437480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controls false alarms yet stays powerful even in high dimensions.</a:t>
              </a:r>
            </a:p>
          </p:txBody>
        </p:sp>
      </p:grpSp>
      <p:grpSp>
        <p:nvGrpSpPr>
          <p:cNvPr id="33" name="Group 33"/>
          <p:cNvGrpSpPr/>
          <p:nvPr/>
        </p:nvGrpSpPr>
        <p:grpSpPr>
          <a:xfrm>
            <a:off x="6248400" y="4305300"/>
            <a:ext cx="5334000" cy="1123950"/>
            <a:chOff x="6248400" y="4305300"/>
            <a:chExt cx="5334000" cy="1123950"/>
          </a:xfrm>
        </p:grpSpPr>
        <p:sp>
          <p:nvSpPr>
            <p:cNvPr id="28" name="Rectangle 28"/>
            <p:cNvSpPr/>
            <p:nvPr/>
          </p:nvSpPr>
          <p:spPr>
            <a:xfrm>
              <a:off x="6248400" y="4305300"/>
              <a:ext cx="5334000" cy="1123950"/>
            </a:xfrm>
            <a:prstGeom prst="roundRect">
              <a:avLst>
                <a:gd name="adj" fmla="val 11864"/>
              </a:avLst>
            </a:prstGeom>
            <a:solidFill>
              <a:schemeClr val="accent5"/>
            </a:solidFill>
            <a:ln w="14288">
              <a:solidFill>
                <a:srgbClr val="26455F"/>
              </a:solidFill>
            </a:ln>
          </p:spPr>
        </p:sp>
        <p:sp>
          <p:nvSpPr>
            <p:cNvPr id="29" name="Rectangle 29"/>
            <p:cNvSpPr/>
            <p:nvPr/>
          </p:nvSpPr>
          <p:spPr>
            <a:xfrm>
              <a:off x="6248400" y="4305300"/>
              <a:ext cx="57150" cy="1123950"/>
            </a:xfrm>
            <a:prstGeom prst="roundRect">
              <a:avLst>
                <a:gd name="adj" fmla="val 50000"/>
              </a:avLst>
            </a:prstGeom>
            <a:solidFill>
              <a:srgbClr val="48C78E"/>
            </a:solidFill>
            <a:ln>
              <a:noFill/>
            </a:ln>
          </p:spPr>
        </p:sp>
        <p:sp>
          <p:nvSpPr>
            <p:cNvPr id="30" name="TextBox 30"/>
            <p:cNvSpPr txBox="1"/>
            <p:nvPr/>
          </p:nvSpPr>
          <p:spPr>
            <a:xfrm>
              <a:off x="6508242" y="4502468"/>
              <a:ext cx="2024038"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Detect, then recover</a:t>
              </a:r>
            </a:p>
          </p:txBody>
        </p:sp>
        <p:sp>
          <p:nvSpPr>
            <p:cNvPr id="31" name="TextBox 31"/>
            <p:cNvSpPr txBox="1"/>
            <p:nvPr/>
          </p:nvSpPr>
          <p:spPr>
            <a:xfrm>
              <a:off x="6509956" y="4786551"/>
              <a:ext cx="470562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Across four simulations and a real intern health study, it finds change</a:t>
              </a:r>
            </a:p>
          </p:txBody>
        </p:sp>
        <p:sp>
          <p:nvSpPr>
            <p:cNvPr id="32" name="TextBox 32"/>
            <p:cNvSpPr txBox="1"/>
            <p:nvPr/>
          </p:nvSpPr>
          <p:spPr>
            <a:xfrm>
              <a:off x="6509956" y="4977051"/>
              <a:ext cx="38173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points others miss and lets policies recover lost reward.</a:t>
              </a:r>
            </a:p>
          </p:txBody>
        </p:sp>
      </p:grpSp>
      <p:sp>
        <p:nvSpPr>
          <p:cNvPr id="34" name="Line 34"/>
          <p:cNvSpPr/>
          <p:nvPr/>
        </p:nvSpPr>
        <p:spPr>
          <a:xfrm>
            <a:off x="609600" y="57721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5" name="TextBox 35"/>
          <p:cNvSpPr txBox="1"/>
          <p:nvPr/>
        </p:nvSpPr>
        <p:spPr>
          <a:xfrm>
            <a:off x="604266" y="6001702"/>
            <a:ext cx="2891308"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github.com/jtwang95/Double_CUSUM_RL</a:t>
            </a:r>
          </a:p>
        </p:txBody>
      </p:sp>
      <p:sp>
        <p:nvSpPr>
          <p:cNvPr id="36" name="TextBox 36"/>
          <p:cNvSpPr txBox="1"/>
          <p:nvPr/>
        </p:nvSpPr>
        <p:spPr>
          <a:xfrm>
            <a:off x="5328666" y="6001702"/>
            <a:ext cx="540834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Is your offline MDP really stationary? Test it before you trust the policy.</a:t>
            </a:r>
          </a:p>
        </p:txBody>
      </p:sp>
      <p:sp>
        <p:nvSpPr>
          <p:cNvPr id="37" name="cue_s01_c1_reinforcement_learning_promises_opti" title="cue_s01_c1_reinforcement_learning_promises_opti" descr="cue_s01_c1_reinforcement_learning_promises_opti Reinforcement learning promises optimal decisions, but almost every algorithm quietly assumes the world never changes. In real settings like mobile health, traffic control, and robotics, that stationarity assumption breaks down over time and quietly poisons th"/>
          <p:cNvSpPr/>
          <p:nvPr/>
        </p:nvSpPr>
        <p:spPr>
          <a:xfrm>
            <a:off x="609600" y="29715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1_c2_introduces_doubly_robust_statistical" title="cue_s01_c2_introduces_doubly_robust_statistical" descr="cue_s01_c2_introduces_doubly_robust_statistical This paper introduces a doubly robust statistical test that checks whether an offline Markov decision process is actually stationary, and pinpoints where it changes."/>
          <p:cNvSpPr/>
          <p:nvPr/>
        </p:nvSpPr>
        <p:spPr>
          <a:xfrm>
            <a:off x="6248399" y="2971571"/>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3_test_pairs_modern_machine_learning" title="cue_s01_c3_test_pairs_modern_machine_learning" descr="cue_s01_c3_test_pairs_modern_machine_learning The test pairs modern machine learning estimators with semiparametric statistics, so it controls false alarms while staying powerful even when the state space is high dimensional."/>
          <p:cNvSpPr/>
          <p:nvPr/>
        </p:nvSpPr>
        <p:spPr>
          <a:xfrm>
            <a:off x="609600" y="4305452"/>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1_c4_across_four_simulations_real_intern" title="cue_s01_c4_across_four_simulations_real_intern" descr="cue_s01_c4_across_four_simulations_real_intern Across four simulations and a real intern health study, it detects change points others miss and lets policies recover the reward that non stationarity would otherwise cost."/>
          <p:cNvSpPr/>
          <p:nvPr/>
        </p:nvSpPr>
        <p:spPr>
          <a:xfrm>
            <a:off x="6248399" y="4305452"/>
            <a:ext cx="53340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53699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fragile assumption under every policy</a:t>
            </a:r>
          </a:p>
        </p:txBody>
      </p:sp>
      <p:grpSp>
        <p:nvGrpSpPr>
          <p:cNvPr id="22" name="Group 22"/>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621162"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RL chases the optimal policy</a:t>
              </a:r>
            </a:p>
          </p:txBody>
        </p:sp>
        <p:sp>
          <p:nvSpPr>
            <p:cNvPr id="8" name="TextBox 8"/>
            <p:cNvSpPr txBox="1"/>
            <p:nvPr/>
          </p:nvSpPr>
          <p:spPr>
            <a:xfrm>
              <a:off x="870585" y="2164556"/>
              <a:ext cx="261736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Agents are trained to find the best</a:t>
              </a:r>
            </a:p>
          </p:txBody>
        </p:sp>
        <p:sp>
          <p:nvSpPr>
            <p:cNvPr id="9" name="TextBox 9"/>
            <p:cNvSpPr txBox="1"/>
            <p:nvPr/>
          </p:nvSpPr>
          <p:spPr>
            <a:xfrm>
              <a:off x="870585" y="2393156"/>
              <a:ext cx="240874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possible policy, but nearly every</a:t>
              </a:r>
            </a:p>
          </p:txBody>
        </p:sp>
        <p:sp>
          <p:nvSpPr>
            <p:cNvPr id="10" name="TextBox 10"/>
            <p:cNvSpPr txBox="1"/>
            <p:nvPr/>
          </p:nvSpPr>
          <p:spPr>
            <a:xfrm>
              <a:off x="870585" y="2621756"/>
              <a:ext cx="289122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algorithm leans on one fragile premise.</a:t>
              </a:r>
            </a:p>
          </p:txBody>
        </p:sp>
        <p:sp>
          <p:nvSpPr>
            <p:cNvPr id="11" name="Rectangle 11"/>
            <p:cNvSpPr/>
            <p:nvPr/>
          </p:nvSpPr>
          <p:spPr>
            <a:xfrm>
              <a:off x="876300" y="3200400"/>
              <a:ext cx="3276600" cy="1143000"/>
            </a:xfrm>
            <a:prstGeom prst="roundRect">
              <a:avLst>
                <a:gd name="adj" fmla="val 8333"/>
              </a:avLst>
            </a:prstGeom>
            <a:solidFill>
              <a:schemeClr val="accent6"/>
            </a:solidFill>
            <a:ln w="14288">
              <a:solidFill>
                <a:srgbClr val="26455F"/>
              </a:solidFill>
            </a:ln>
          </p:spPr>
        </p:sp>
        <p:sp>
          <p:nvSpPr>
            <p:cNvPr id="12" name="TextBox 12"/>
            <p:cNvSpPr txBox="1"/>
            <p:nvPr/>
          </p:nvSpPr>
          <p:spPr>
            <a:xfrm>
              <a:off x="1062038" y="3346847"/>
              <a:ext cx="1517488"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Assumed: a frozen MDP</a:t>
              </a:r>
            </a:p>
          </p:txBody>
        </p:sp>
        <p:sp>
          <p:nvSpPr>
            <p:cNvPr id="13" name="Ellipse 13"/>
            <p:cNvSpPr/>
            <p:nvPr/>
          </p:nvSpPr>
          <p:spPr>
            <a:xfrm>
              <a:off x="1219200" y="3810000"/>
              <a:ext cx="228600" cy="228600"/>
            </a:xfrm>
            <a:prstGeom prst="ellipse">
              <a:avLst/>
            </a:prstGeom>
            <a:solidFill>
              <a:schemeClr val="accent2"/>
            </a:solidFill>
            <a:ln>
              <a:noFill/>
            </a:ln>
          </p:spPr>
        </p:sp>
        <p:sp>
          <p:nvSpPr>
            <p:cNvPr id="14" name="TextBox 14"/>
            <p:cNvSpPr txBox="1"/>
            <p:nvPr/>
          </p:nvSpPr>
          <p:spPr>
            <a:xfrm>
              <a:off x="1290453" y="3866674"/>
              <a:ext cx="86094" cy="190690"/>
            </a:xfrm>
            <a:prstGeom prst="rect">
              <a:avLst/>
            </a:prstGeom>
            <a:noFill/>
            <a:ln>
              <a:noFill/>
            </a:ln>
          </p:spPr>
          <p:txBody>
            <a:bodyPr wrap="none" lIns="0" tIns="0" rIns="0" bIns="0" anchor="t" anchorCtr="0">
              <a:spAutoFit/>
            </a:bodyPr>
            <a:lstStyle/>
            <a:p>
              <a:pPr algn="ctr"/>
              <a:r>
                <a:rPr lang="en-US" sz="980" b="1" dirty="0">
                  <a:solidFill>
                    <a:srgbClr val="0B1B2B"/>
                  </a:solidFill>
                  <a:latin typeface="+mn-lt"/>
                  <a:ea typeface="+mn-ea"/>
                  <a:cs typeface="+mn-cs"/>
                </a:rPr>
                <a:t>s</a:t>
              </a:r>
            </a:p>
          </p:txBody>
        </p:sp>
        <p:sp>
          <p:nvSpPr>
            <p:cNvPr id="15" name="Line 15"/>
            <p:cNvSpPr/>
            <p:nvPr/>
          </p:nvSpPr>
          <p:spPr>
            <a:xfrm>
              <a:off x="1485900" y="3924300"/>
              <a:ext cx="723900" cy="9525"/>
            </a:xfrm>
            <a:custGeom>
              <a:avLst/>
              <a:gdLst/>
              <a:ahLst/>
              <a:cxnLst/>
              <a:rect l="l" t="t" r="r" b="b"/>
              <a:pathLst>
                <a:path w="723900" h="9525">
                  <a:moveTo>
                    <a:pt x="0" y="0"/>
                  </a:moveTo>
                  <a:lnTo>
                    <a:pt x="723900" y="0"/>
                  </a:lnTo>
                </a:path>
              </a:pathLst>
            </a:custGeom>
            <a:noFill/>
            <a:ln w="19050" cap="rnd">
              <a:solidFill>
                <a:schemeClr val="accent2"/>
              </a:solidFill>
            </a:ln>
          </p:spPr>
        </p:sp>
        <p:sp>
          <p:nvSpPr>
            <p:cNvPr id="16" name="TextBox 16"/>
            <p:cNvSpPr txBox="1"/>
            <p:nvPr/>
          </p:nvSpPr>
          <p:spPr>
            <a:xfrm>
              <a:off x="1549709" y="3735943"/>
              <a:ext cx="596282"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P, R fixed</a:t>
              </a:r>
            </a:p>
          </p:txBody>
        </p:sp>
        <p:sp>
          <p:nvSpPr>
            <p:cNvPr id="17" name="Ellipse 17"/>
            <p:cNvSpPr/>
            <p:nvPr/>
          </p:nvSpPr>
          <p:spPr>
            <a:xfrm>
              <a:off x="2286000" y="3810000"/>
              <a:ext cx="228600" cy="228600"/>
            </a:xfrm>
            <a:prstGeom prst="ellipse">
              <a:avLst/>
            </a:prstGeom>
            <a:solidFill>
              <a:schemeClr val="accent2"/>
            </a:solidFill>
            <a:ln>
              <a:noFill/>
            </a:ln>
          </p:spPr>
        </p:sp>
        <p:sp>
          <p:nvSpPr>
            <p:cNvPr id="18" name="TextBox 18"/>
            <p:cNvSpPr txBox="1"/>
            <p:nvPr/>
          </p:nvSpPr>
          <p:spPr>
            <a:xfrm>
              <a:off x="2325569" y="3874770"/>
              <a:ext cx="149462" cy="176212"/>
            </a:xfrm>
            <a:prstGeom prst="rect">
              <a:avLst/>
            </a:prstGeom>
            <a:noFill/>
            <a:ln>
              <a:noFill/>
            </a:ln>
          </p:spPr>
          <p:txBody>
            <a:bodyPr wrap="none" lIns="0" tIns="0" rIns="0" bIns="0" anchor="t" anchorCtr="0">
              <a:spAutoFit/>
            </a:bodyPr>
            <a:lstStyle/>
            <a:p>
              <a:pPr algn="ctr"/>
              <a:r>
                <a:rPr lang="en-US" sz="900" b="1" dirty="0">
                  <a:solidFill>
                    <a:srgbClr val="0B1B2B"/>
                  </a:solidFill>
                  <a:latin typeface="+mn-lt"/>
                  <a:ea typeface="+mn-ea"/>
                  <a:cs typeface="+mn-cs"/>
                </a:rPr>
                <a:t>s'</a:t>
              </a:r>
            </a:p>
          </p:txBody>
        </p:sp>
        <p:sp>
          <p:nvSpPr>
            <p:cNvPr id="19" name="Line 19"/>
            <p:cNvSpPr/>
            <p:nvPr/>
          </p:nvSpPr>
          <p:spPr>
            <a:xfrm>
              <a:off x="2552700" y="3924300"/>
              <a:ext cx="723900" cy="9525"/>
            </a:xfrm>
            <a:custGeom>
              <a:avLst/>
              <a:gdLst/>
              <a:ahLst/>
              <a:cxnLst/>
              <a:rect l="l" t="t" r="r" b="b"/>
              <a:pathLst>
                <a:path w="723900" h="9525">
                  <a:moveTo>
                    <a:pt x="0" y="0"/>
                  </a:moveTo>
                  <a:lnTo>
                    <a:pt x="723900" y="0"/>
                  </a:lnTo>
                </a:path>
              </a:pathLst>
            </a:custGeom>
            <a:noFill/>
            <a:ln w="19050" cap="rnd">
              <a:solidFill>
                <a:schemeClr val="accent2"/>
              </a:solidFill>
            </a:ln>
          </p:spPr>
        </p:sp>
        <p:sp>
          <p:nvSpPr>
            <p:cNvPr id="20" name="Ellipse 20"/>
            <p:cNvSpPr/>
            <p:nvPr/>
          </p:nvSpPr>
          <p:spPr>
            <a:xfrm>
              <a:off x="3352800" y="3810000"/>
              <a:ext cx="228600" cy="228600"/>
            </a:xfrm>
            <a:prstGeom prst="ellipse">
              <a:avLst/>
            </a:prstGeom>
            <a:solidFill>
              <a:schemeClr val="accent2"/>
            </a:solidFill>
            <a:ln>
              <a:noFill/>
            </a:ln>
          </p:spPr>
        </p:sp>
        <p:sp>
          <p:nvSpPr>
            <p:cNvPr id="21" name="TextBox 21"/>
            <p:cNvSpPr txBox="1"/>
            <p:nvPr/>
          </p:nvSpPr>
          <p:spPr>
            <a:xfrm>
              <a:off x="871156" y="4672251"/>
              <a:ext cx="3530035"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mn-lt"/>
                  <a:ea typeface="+mn-ea"/>
                  <a:cs typeface="+mn-cs"/>
                </a:rPr>
                <a:t>Transition P and reward R never change with time.</a:t>
              </a:r>
            </a:p>
          </p:txBody>
        </p:sp>
      </p:grpSp>
      <p:grpSp>
        <p:nvGrpSpPr>
          <p:cNvPr id="29" name="Group 29"/>
          <p:cNvGrpSpPr/>
          <p:nvPr/>
        </p:nvGrpSpPr>
        <p:grpSpPr>
          <a:xfrm>
            <a:off x="4762500" y="1504950"/>
            <a:ext cx="6819900" cy="1181147"/>
            <a:chOff x="4762500" y="1504950"/>
            <a:chExt cx="6819900" cy="1181147"/>
          </a:xfrm>
        </p:grpSpPr>
        <p:sp>
          <p:nvSpPr>
            <p:cNvPr id="23" name="Rectangle 23"/>
            <p:cNvSpPr/>
            <p:nvPr/>
          </p:nvSpPr>
          <p:spPr>
            <a:xfrm>
              <a:off x="4762500" y="1504950"/>
              <a:ext cx="6819900" cy="1181100"/>
            </a:xfrm>
            <a:prstGeom prst="roundRect">
              <a:avLst>
                <a:gd name="adj" fmla="val 11290"/>
              </a:avLst>
            </a:prstGeom>
            <a:solidFill>
              <a:schemeClr val="accent5"/>
            </a:solidFill>
            <a:ln w="14288">
              <a:solidFill>
                <a:srgbClr val="26455F"/>
              </a:solidFill>
            </a:ln>
          </p:spPr>
        </p:sp>
        <p:sp>
          <p:nvSpPr>
            <p:cNvPr id="24" name="Rectangle 24"/>
            <p:cNvSpPr/>
            <p:nvPr/>
          </p:nvSpPr>
          <p:spPr>
            <a:xfrm>
              <a:off x="4762500" y="1504950"/>
              <a:ext cx="57150" cy="1181100"/>
            </a:xfrm>
            <a:prstGeom prst="roundRect">
              <a:avLst>
                <a:gd name="adj" fmla="val 50000"/>
              </a:avLst>
            </a:prstGeom>
            <a:solidFill>
              <a:srgbClr val="F2C14E"/>
            </a:solidFill>
            <a:ln>
              <a:noFill/>
            </a:ln>
          </p:spPr>
        </p:sp>
        <p:sp>
          <p:nvSpPr>
            <p:cNvPr id="25" name="TextBox 25"/>
            <p:cNvSpPr txBox="1"/>
            <p:nvPr/>
          </p:nvSpPr>
          <p:spPr>
            <a:xfrm>
              <a:off x="5022723" y="1729264"/>
              <a:ext cx="2515431"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The stationarity assumption</a:t>
              </a:r>
            </a:p>
          </p:txBody>
        </p:sp>
        <p:sp>
          <p:nvSpPr>
            <p:cNvPr id="26" name="TextBox 26"/>
            <p:cNvSpPr txBox="1"/>
            <p:nvPr/>
          </p:nvSpPr>
          <p:spPr>
            <a:xfrm>
              <a:off x="5023676" y="2035254"/>
              <a:ext cx="498290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 requires the state-transition function and the reward function to</a:t>
              </a:r>
            </a:p>
          </p:txBody>
        </p:sp>
        <p:sp>
          <p:nvSpPr>
            <p:cNvPr id="27" name="TextBox 27"/>
            <p:cNvSpPr txBox="1"/>
            <p:nvPr/>
          </p:nvSpPr>
          <p:spPr>
            <a:xfrm>
              <a:off x="5023676" y="2244804"/>
              <a:ext cx="47139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stay exactly the same at every time step over the whole horizon.</a:t>
              </a:r>
            </a:p>
          </p:txBody>
        </p:sp>
        <p:sp>
          <p:nvSpPr>
            <p:cNvPr id="28" name="TextBox 28"/>
            <p:cNvSpPr txBox="1"/>
            <p:nvPr/>
          </p:nvSpPr>
          <p:spPr>
            <a:xfrm>
              <a:off x="5023676" y="2473404"/>
              <a:ext cx="2073587" cy="212693"/>
            </a:xfrm>
            <a:prstGeom prst="rect">
              <a:avLst/>
            </a:prstGeom>
            <a:noFill/>
            <a:ln>
              <a:noFill/>
            </a:ln>
          </p:spPr>
          <p:txBody>
            <a:bodyPr wrap="none" lIns="0" tIns="0" rIns="0" bIns="0" anchor="t" anchorCtr="0">
              <a:spAutoFit/>
            </a:bodyPr>
            <a:lstStyle/>
            <a:p>
              <a:pPr algn="l"/>
              <a:r>
                <a:rPr lang="en-US" sz="1090" b="1" dirty="0">
                  <a:solidFill>
                    <a:srgbClr val="F2C14E"/>
                  </a:solidFill>
                  <a:latin typeface="Consolas"/>
                  <a:ea typeface="Consolas"/>
                  <a:cs typeface="Consolas"/>
                </a:rPr>
                <a:t>P_t = P and R_t = R for all t</a:t>
              </a:r>
            </a:p>
          </p:txBody>
        </p:sp>
      </p:grpSp>
      <p:grpSp>
        <p:nvGrpSpPr>
          <p:cNvPr id="35" name="Group 35"/>
          <p:cNvGrpSpPr/>
          <p:nvPr/>
        </p:nvGrpSpPr>
        <p:grpSpPr>
          <a:xfrm>
            <a:off x="4762500" y="2800350"/>
            <a:ext cx="6819900" cy="1047750"/>
            <a:chOff x="4762500" y="2800350"/>
            <a:chExt cx="6819900" cy="1047750"/>
          </a:xfrm>
        </p:grpSpPr>
        <p:sp>
          <p:nvSpPr>
            <p:cNvPr id="30" name="Rectangle 30"/>
            <p:cNvSpPr/>
            <p:nvPr/>
          </p:nvSpPr>
          <p:spPr>
            <a:xfrm>
              <a:off x="4762500" y="2800350"/>
              <a:ext cx="6819900" cy="1047750"/>
            </a:xfrm>
            <a:prstGeom prst="roundRect">
              <a:avLst>
                <a:gd name="adj" fmla="val 12727"/>
              </a:avLst>
            </a:prstGeom>
            <a:solidFill>
              <a:srgbClr val="2A1720"/>
            </a:solidFill>
            <a:ln w="14288">
              <a:solidFill>
                <a:srgbClr val="F2685C"/>
              </a:solidFill>
            </a:ln>
          </p:spPr>
        </p:sp>
        <p:sp>
          <p:nvSpPr>
            <p:cNvPr id="31" name="Rectangle 31"/>
            <p:cNvSpPr/>
            <p:nvPr/>
          </p:nvSpPr>
          <p:spPr>
            <a:xfrm>
              <a:off x="4762500" y="2800350"/>
              <a:ext cx="57150" cy="1047750"/>
            </a:xfrm>
            <a:prstGeom prst="roundRect">
              <a:avLst>
                <a:gd name="adj" fmla="val 50000"/>
              </a:avLst>
            </a:prstGeom>
            <a:solidFill>
              <a:srgbClr val="F2685C"/>
            </a:solidFill>
            <a:ln>
              <a:noFill/>
            </a:ln>
          </p:spPr>
        </p:sp>
        <p:sp>
          <p:nvSpPr>
            <p:cNvPr id="32" name="TextBox 32"/>
            <p:cNvSpPr txBox="1"/>
            <p:nvPr/>
          </p:nvSpPr>
          <p:spPr>
            <a:xfrm>
              <a:off x="5023104" y="3032760"/>
              <a:ext cx="2621336"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In the real world it rarely holds</a:t>
              </a:r>
            </a:p>
          </p:txBody>
        </p:sp>
        <p:sp>
          <p:nvSpPr>
            <p:cNvPr id="33" name="TextBox 33"/>
            <p:cNvSpPr txBox="1"/>
            <p:nvPr/>
          </p:nvSpPr>
          <p:spPr>
            <a:xfrm>
              <a:off x="5023676" y="3330654"/>
              <a:ext cx="520297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Robotics, healthcare, and digital marketing all drift over long horizons,</a:t>
              </a:r>
            </a:p>
          </p:txBody>
        </p:sp>
        <p:sp>
          <p:nvSpPr>
            <p:cNvPr id="34" name="TextBox 34"/>
            <p:cNvSpPr txBox="1"/>
            <p:nvPr/>
          </p:nvSpPr>
          <p:spPr>
            <a:xfrm>
              <a:off x="5023676" y="3540204"/>
              <a:ext cx="366477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so a frozen policy turns suboptimal, even harmful.</a:t>
              </a:r>
            </a:p>
          </p:txBody>
        </p:sp>
      </p:grpSp>
      <p:grpSp>
        <p:nvGrpSpPr>
          <p:cNvPr id="42" name="Group 42"/>
          <p:cNvGrpSpPr/>
          <p:nvPr/>
        </p:nvGrpSpPr>
        <p:grpSpPr>
          <a:xfrm>
            <a:off x="4762500" y="3962400"/>
            <a:ext cx="6819900" cy="1276350"/>
            <a:chOff x="4762500" y="3962400"/>
            <a:chExt cx="6819900" cy="1276350"/>
          </a:xfrm>
        </p:grpSpPr>
        <p:sp>
          <p:nvSpPr>
            <p:cNvPr id="36" name="Rectangle 36"/>
            <p:cNvSpPr/>
            <p:nvPr/>
          </p:nvSpPr>
          <p:spPr>
            <a:xfrm>
              <a:off x="4762500" y="3962400"/>
              <a:ext cx="6819900" cy="1276350"/>
            </a:xfrm>
            <a:prstGeom prst="roundRect">
              <a:avLst>
                <a:gd name="adj" fmla="val 10448"/>
              </a:avLst>
            </a:prstGeom>
            <a:solidFill>
              <a:schemeClr val="accent5"/>
            </a:solidFill>
            <a:ln w="14288">
              <a:solidFill>
                <a:srgbClr val="26455F"/>
              </a:solidFill>
            </a:ln>
          </p:spPr>
        </p:sp>
        <p:sp>
          <p:nvSpPr>
            <p:cNvPr id="37" name="Rectangle 37"/>
            <p:cNvSpPr/>
            <p:nvPr/>
          </p:nvSpPr>
          <p:spPr>
            <a:xfrm>
              <a:off x="4762500" y="3962400"/>
              <a:ext cx="57150" cy="1276350"/>
            </a:xfrm>
            <a:prstGeom prst="roundRect">
              <a:avLst>
                <a:gd name="adj" fmla="val 50000"/>
              </a:avLst>
            </a:prstGeom>
            <a:solidFill>
              <a:schemeClr val="accent2"/>
            </a:solidFill>
            <a:ln>
              <a:noFill/>
            </a:ln>
          </p:spPr>
        </p:sp>
        <p:sp>
          <p:nvSpPr>
            <p:cNvPr id="38" name="TextBox 38"/>
            <p:cNvSpPr txBox="1"/>
            <p:nvPr/>
          </p:nvSpPr>
          <p:spPr>
            <a:xfrm>
              <a:off x="5023104" y="4194810"/>
              <a:ext cx="2689327"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The question this paper answers</a:t>
              </a:r>
            </a:p>
          </p:txBody>
        </p:sp>
        <p:sp>
          <p:nvSpPr>
            <p:cNvPr id="39" name="TextBox 39"/>
            <p:cNvSpPr txBox="1"/>
            <p:nvPr/>
          </p:nvSpPr>
          <p:spPr>
            <a:xfrm>
              <a:off x="5023676" y="4492704"/>
              <a:ext cx="519570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Before you trust the policy an offline system produced, can you reliably</a:t>
              </a:r>
            </a:p>
          </p:txBody>
        </p:sp>
        <p:sp>
          <p:nvSpPr>
            <p:cNvPr id="40" name="TextBox 40"/>
            <p:cNvSpPr txBox="1"/>
            <p:nvPr/>
          </p:nvSpPr>
          <p:spPr>
            <a:xfrm>
              <a:off x="5023676" y="4702254"/>
              <a:ext cx="492669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tell whether that system was actually stationary in the first place?</a:t>
              </a:r>
            </a:p>
          </p:txBody>
        </p:sp>
        <p:sp>
          <p:nvSpPr>
            <p:cNvPr id="41" name="TextBox 41"/>
            <p:cNvSpPr txBox="1"/>
            <p:nvPr/>
          </p:nvSpPr>
          <p:spPr>
            <a:xfrm>
              <a:off x="5023866" y="5030152"/>
              <a:ext cx="4023244"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Consolas"/>
                  <a:ea typeface="Consolas"/>
                  <a:cs typeface="Consolas"/>
                </a:rPr>
                <a:t>Test stationarity -&gt; then trust (or relearn) the policy</a:t>
              </a:r>
            </a:p>
          </p:txBody>
        </p:sp>
      </p:grpSp>
      <p:sp>
        <p:nvSpPr>
          <p:cNvPr id="43" name="cue_s02_c1_reinforcement_learning_agents_traine" title="cue_s02_c1_reinforcement_learning_agents_traine" descr="cue_s02_c1_reinforcement_learning_agents_traine Reinforcement learning agents are trained to find the optimal policy, but nearly every algorithm leans on one fragile assumption: that the environment never changes."/>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2_c2_stationarity_assumption_requiring_st" title="cue_s02_c2_stationarity_assumption_requiring_st" descr="cue_s02_c2_stationarity_assumption_requiring_st This is the stationarity assumption, requiring the state transition and reward functions to stay fixed over time. In the real world, that rarely holds."/>
          <p:cNvSpPr/>
          <p:nvPr/>
        </p:nvSpPr>
        <p:spPr>
          <a:xfrm>
            <a:off x="4762195" y="1504645"/>
            <a:ext cx="6820204"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2_c3_robotics_healthcare_digital_marketin" title="cue_s02_c3_robotics_healthcare_digital_marketin" descr="cue_s02_c3_robotics_healthcare_digital_marketin Robotics, healthcare, and digital marketing all drift over long horizons, and a policy learned as if the world were frozen quietly becomes suboptimal, sometimes even harmful."/>
          <p:cNvSpPr/>
          <p:nvPr/>
        </p:nvSpPr>
        <p:spPr>
          <a:xfrm>
            <a:off x="4762195" y="2800121"/>
            <a:ext cx="6820204" cy="104790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2_c4_problem_tackles_how_reliably_tell" title="cue_s02_c4_problem_tackles_how_reliably_tell" descr="cue_s02_c4_problem_tackles_how_reliably_tell The problem this paper tackles is how to reliably tell whether an offline decision-making system is actually stationary before you trust the policy it produced."/>
          <p:cNvSpPr/>
          <p:nvPr/>
        </p:nvSpPr>
        <p:spPr>
          <a:xfrm>
            <a:off x="4762195" y="3962552"/>
            <a:ext cx="6820204" cy="12762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542453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Why non-stationarity matters now</a:t>
            </a:r>
          </a:p>
        </p:txBody>
      </p:sp>
      <p:grpSp>
        <p:nvGrpSpPr>
          <p:cNvPr id="20" name="Group 20"/>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40218"/>
              <a:ext cx="2213735"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The Intern Health Study</a:t>
              </a:r>
            </a:p>
          </p:txBody>
        </p:sp>
        <p:sp>
          <p:nvSpPr>
            <p:cNvPr id="8" name="TextBox 8"/>
            <p:cNvSpPr txBox="1"/>
            <p:nvPr/>
          </p:nvSpPr>
          <p:spPr>
            <a:xfrm>
              <a:off x="870776" y="2073354"/>
              <a:ext cx="311204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year-long mobile-health trial that nudges</a:t>
              </a:r>
            </a:p>
          </p:txBody>
        </p:sp>
        <p:sp>
          <p:nvSpPr>
            <p:cNvPr id="9" name="TextBox 9"/>
            <p:cNvSpPr txBox="1"/>
            <p:nvPr/>
          </p:nvSpPr>
          <p:spPr>
            <a:xfrm>
              <a:off x="870776" y="2282904"/>
              <a:ext cx="366477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first-year physicians toward healthier habits with</a:t>
              </a:r>
            </a:p>
          </p:txBody>
        </p:sp>
        <p:sp>
          <p:nvSpPr>
            <p:cNvPr id="10" name="TextBox 10"/>
            <p:cNvSpPr txBox="1"/>
            <p:nvPr/>
          </p:nvSpPr>
          <p:spPr>
            <a:xfrm>
              <a:off x="870776" y="2492454"/>
              <a:ext cx="139770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push notifications.</a:t>
              </a:r>
            </a:p>
          </p:txBody>
        </p:sp>
        <p:sp>
          <p:nvSpPr>
            <p:cNvPr id="11" name="Rectangle 11"/>
            <p:cNvSpPr/>
            <p:nvPr/>
          </p:nvSpPr>
          <p:spPr>
            <a:xfrm>
              <a:off x="876300" y="3028950"/>
              <a:ext cx="4800600" cy="1428750"/>
            </a:xfrm>
            <a:prstGeom prst="roundRect">
              <a:avLst>
                <a:gd name="adj" fmla="val 5333"/>
              </a:avLst>
            </a:prstGeom>
            <a:solidFill>
              <a:srgbClr val="0E2334"/>
            </a:solidFill>
            <a:ln w="14288">
              <a:solidFill>
                <a:srgbClr val="26455F"/>
              </a:solidFill>
            </a:ln>
          </p:spPr>
        </p:sp>
        <p:sp>
          <p:nvSpPr>
            <p:cNvPr id="12" name="Line 12"/>
            <p:cNvSpPr/>
            <p:nvPr/>
          </p:nvSpPr>
          <p:spPr>
            <a:xfrm>
              <a:off x="1028700" y="4267200"/>
              <a:ext cx="4533900" cy="9525"/>
            </a:xfrm>
            <a:custGeom>
              <a:avLst/>
              <a:gdLst/>
              <a:ahLst/>
              <a:cxnLst/>
              <a:rect l="l" t="t" r="r" b="b"/>
              <a:pathLst>
                <a:path w="4533900" h="9525">
                  <a:moveTo>
                    <a:pt x="0" y="0"/>
                  </a:moveTo>
                  <a:lnTo>
                    <a:pt x="4533900" y="0"/>
                  </a:lnTo>
                </a:path>
              </a:pathLst>
            </a:custGeom>
            <a:noFill/>
            <a:ln w="14288" cap="rnd">
              <a:solidFill>
                <a:srgbClr val="26455F"/>
              </a:solidFill>
            </a:ln>
          </p:spPr>
        </p:sp>
        <p:sp>
          <p:nvSpPr>
            <p:cNvPr id="13" name="Line 13"/>
            <p:cNvSpPr/>
            <p:nvPr/>
          </p:nvSpPr>
          <p:spPr>
            <a:xfrm>
              <a:off x="1028700" y="3162300"/>
              <a:ext cx="9525" cy="1104900"/>
            </a:xfrm>
            <a:custGeom>
              <a:avLst/>
              <a:gdLst/>
              <a:ahLst/>
              <a:cxnLst/>
              <a:rect l="l" t="t" r="r" b="b"/>
              <a:pathLst>
                <a:path w="9525" h="1104900">
                  <a:moveTo>
                    <a:pt x="0" y="0"/>
                  </a:moveTo>
                  <a:lnTo>
                    <a:pt x="0" y="1104900"/>
                  </a:lnTo>
                </a:path>
              </a:pathLst>
            </a:custGeom>
            <a:noFill/>
            <a:ln w="14288" cap="rnd">
              <a:solidFill>
                <a:srgbClr val="26455F"/>
              </a:solidFill>
            </a:ln>
          </p:spPr>
        </p:sp>
        <p:sp>
          <p:nvSpPr>
            <p:cNvPr id="14" name="Polyline 14"/>
            <p:cNvSpPr/>
            <p:nvPr/>
          </p:nvSpPr>
          <p:spPr>
            <a:xfrm>
              <a:off x="1085850" y="3238500"/>
              <a:ext cx="4381500" cy="881062"/>
            </a:xfrm>
            <a:custGeom>
              <a:avLst/>
              <a:gdLst/>
              <a:ahLst/>
              <a:cxnLst/>
              <a:rect l="l" t="t" r="r" b="b"/>
              <a:pathLst>
                <a:path w="4381500" h="881062">
                  <a:moveTo>
                    <a:pt x="0" y="0"/>
                  </a:moveTo>
                  <a:lnTo>
                    <a:pt x="95250" y="46672"/>
                  </a:lnTo>
                  <a:lnTo>
                    <a:pt x="190500" y="90488"/>
                  </a:lnTo>
                  <a:lnTo>
                    <a:pt x="285750" y="132397"/>
                  </a:lnTo>
                  <a:lnTo>
                    <a:pt x="381000" y="172403"/>
                  </a:lnTo>
                  <a:lnTo>
                    <a:pt x="476250" y="210503"/>
                  </a:lnTo>
                  <a:lnTo>
                    <a:pt x="571500" y="246697"/>
                  </a:lnTo>
                  <a:lnTo>
                    <a:pt x="666750" y="281940"/>
                  </a:lnTo>
                  <a:lnTo>
                    <a:pt x="762000" y="315278"/>
                  </a:lnTo>
                  <a:lnTo>
                    <a:pt x="857250" y="346710"/>
                  </a:lnTo>
                  <a:lnTo>
                    <a:pt x="952500" y="376238"/>
                  </a:lnTo>
                  <a:lnTo>
                    <a:pt x="1047750" y="404812"/>
                  </a:lnTo>
                  <a:lnTo>
                    <a:pt x="1143000" y="432435"/>
                  </a:lnTo>
                  <a:lnTo>
                    <a:pt x="1238250" y="459105"/>
                  </a:lnTo>
                  <a:lnTo>
                    <a:pt x="1333500" y="483870"/>
                  </a:lnTo>
                  <a:lnTo>
                    <a:pt x="1428750" y="506730"/>
                  </a:lnTo>
                  <a:lnTo>
                    <a:pt x="1524000" y="529590"/>
                  </a:lnTo>
                  <a:lnTo>
                    <a:pt x="1619250" y="551497"/>
                  </a:lnTo>
                  <a:lnTo>
                    <a:pt x="1714500" y="571500"/>
                  </a:lnTo>
                  <a:lnTo>
                    <a:pt x="1809750" y="591503"/>
                  </a:lnTo>
                  <a:lnTo>
                    <a:pt x="1905000" y="609600"/>
                  </a:lnTo>
                  <a:lnTo>
                    <a:pt x="2000250" y="627697"/>
                  </a:lnTo>
                  <a:lnTo>
                    <a:pt x="2095500" y="644842"/>
                  </a:lnTo>
                  <a:lnTo>
                    <a:pt x="2190750" y="661035"/>
                  </a:lnTo>
                  <a:lnTo>
                    <a:pt x="2286000" y="676275"/>
                  </a:lnTo>
                  <a:lnTo>
                    <a:pt x="2381250" y="690562"/>
                  </a:lnTo>
                  <a:lnTo>
                    <a:pt x="2476500" y="704850"/>
                  </a:lnTo>
                  <a:lnTo>
                    <a:pt x="2571750" y="718185"/>
                  </a:lnTo>
                  <a:lnTo>
                    <a:pt x="2667000" y="730567"/>
                  </a:lnTo>
                  <a:lnTo>
                    <a:pt x="2762250" y="742950"/>
                  </a:lnTo>
                  <a:lnTo>
                    <a:pt x="2857500" y="754380"/>
                  </a:lnTo>
                  <a:lnTo>
                    <a:pt x="2952750" y="765810"/>
                  </a:lnTo>
                  <a:lnTo>
                    <a:pt x="3048000" y="776288"/>
                  </a:lnTo>
                  <a:lnTo>
                    <a:pt x="3143250" y="785812"/>
                  </a:lnTo>
                  <a:lnTo>
                    <a:pt x="3238500" y="795338"/>
                  </a:lnTo>
                  <a:lnTo>
                    <a:pt x="3333750" y="804862"/>
                  </a:lnTo>
                  <a:lnTo>
                    <a:pt x="3429000" y="813435"/>
                  </a:lnTo>
                  <a:lnTo>
                    <a:pt x="3524250" y="822008"/>
                  </a:lnTo>
                  <a:lnTo>
                    <a:pt x="3619500" y="829628"/>
                  </a:lnTo>
                  <a:lnTo>
                    <a:pt x="3714750" y="837247"/>
                  </a:lnTo>
                  <a:lnTo>
                    <a:pt x="3810000" y="843915"/>
                  </a:lnTo>
                  <a:lnTo>
                    <a:pt x="3905250" y="851535"/>
                  </a:lnTo>
                  <a:lnTo>
                    <a:pt x="4000500" y="857250"/>
                  </a:lnTo>
                  <a:lnTo>
                    <a:pt x="4095750" y="863917"/>
                  </a:lnTo>
                  <a:lnTo>
                    <a:pt x="4191000" y="869633"/>
                  </a:lnTo>
                  <a:lnTo>
                    <a:pt x="4286250" y="875347"/>
                  </a:lnTo>
                  <a:lnTo>
                    <a:pt x="4381500" y="881062"/>
                  </a:lnTo>
                </a:path>
              </a:pathLst>
            </a:custGeom>
            <a:noFill/>
            <a:ln w="24765">
              <a:solidFill>
                <a:srgbClr val="F2C14E"/>
              </a:solidFill>
            </a:ln>
          </p:spPr>
        </p:sp>
        <p:sp>
          <p:nvSpPr>
            <p:cNvPr id="15" name="Line 15"/>
            <p:cNvSpPr/>
            <p:nvPr/>
          </p:nvSpPr>
          <p:spPr>
            <a:xfrm>
              <a:off x="3495675" y="3181350"/>
              <a:ext cx="9525" cy="1085850"/>
            </a:xfrm>
            <a:custGeom>
              <a:avLst/>
              <a:gdLst/>
              <a:ahLst/>
              <a:cxnLst/>
              <a:rect l="l" t="t" r="r" b="b"/>
              <a:pathLst>
                <a:path w="9525" h="1085850">
                  <a:moveTo>
                    <a:pt x="0" y="0"/>
                  </a:moveTo>
                  <a:lnTo>
                    <a:pt x="0" y="1085850"/>
                  </a:lnTo>
                </a:path>
              </a:pathLst>
            </a:custGeom>
            <a:noFill/>
            <a:ln w="15240" cap="rnd">
              <a:solidFill>
                <a:srgbClr val="F2685C"/>
              </a:solidFill>
              <a:prstDash val="dash"/>
            </a:ln>
          </p:spPr>
        </p:sp>
        <p:sp>
          <p:nvSpPr>
            <p:cNvPr id="16" name="TextBox 16"/>
            <p:cNvSpPr txBox="1"/>
            <p:nvPr/>
          </p:nvSpPr>
          <p:spPr>
            <a:xfrm>
              <a:off x="3299665" y="3054191"/>
              <a:ext cx="392021" cy="161925"/>
            </a:xfrm>
            <a:prstGeom prst="rect">
              <a:avLst/>
            </a:prstGeom>
            <a:noFill/>
            <a:ln>
              <a:noFill/>
            </a:ln>
          </p:spPr>
          <p:txBody>
            <a:bodyPr wrap="none" lIns="0" tIns="0" rIns="0" bIns="0" anchor="t" anchorCtr="0">
              <a:spAutoFit/>
            </a:bodyPr>
            <a:lstStyle/>
            <a:p>
              <a:pPr algn="ctr"/>
              <a:r>
                <a:rPr lang="en-US" sz="820" b="1" dirty="0">
                  <a:solidFill>
                    <a:srgbClr val="F2685C"/>
                  </a:solidFill>
                  <a:latin typeface="+mn-lt"/>
                  <a:ea typeface="+mn-ea"/>
                  <a:cs typeface="+mn-cs"/>
                </a:rPr>
                <a:t>change</a:t>
              </a:r>
            </a:p>
          </p:txBody>
        </p:sp>
        <p:sp>
          <p:nvSpPr>
            <p:cNvPr id="17" name="TextBox 17"/>
            <p:cNvSpPr txBox="1"/>
            <p:nvPr/>
          </p:nvSpPr>
          <p:spPr>
            <a:xfrm>
              <a:off x="1081088" y="3221593"/>
              <a:ext cx="781443" cy="169069"/>
            </a:xfrm>
            <a:prstGeom prst="rect">
              <a:avLst/>
            </a:prstGeom>
            <a:noFill/>
            <a:ln>
              <a:noFill/>
            </a:ln>
          </p:spPr>
          <p:txBody>
            <a:bodyPr wrap="none" lIns="0" tIns="0" rIns="0" bIns="0" anchor="t" anchorCtr="0">
              <a:spAutoFit/>
            </a:bodyPr>
            <a:lstStyle/>
            <a:p>
              <a:pPr algn="l"/>
              <a:r>
                <a:rPr lang="en-US" sz="860" b="1" dirty="0">
                  <a:solidFill>
                    <a:srgbClr val="F2C14E"/>
                  </a:solidFill>
                  <a:latin typeface="+mn-lt"/>
                  <a:ea typeface="+mn-ea"/>
                  <a:cs typeface="+mn-cs"/>
                </a:rPr>
                <a:t>nudge effect</a:t>
              </a:r>
            </a:p>
          </p:txBody>
        </p:sp>
        <p:sp>
          <p:nvSpPr>
            <p:cNvPr id="18" name="TextBox 18"/>
            <p:cNvSpPr txBox="1"/>
            <p:nvPr/>
          </p:nvSpPr>
          <p:spPr>
            <a:xfrm>
              <a:off x="5034588" y="4311491"/>
              <a:ext cx="513724"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weeks -&gt;</a:t>
              </a:r>
            </a:p>
          </p:txBody>
        </p:sp>
        <p:sp>
          <p:nvSpPr>
            <p:cNvPr id="19" name="TextBox 19"/>
            <p:cNvSpPr txBox="1"/>
            <p:nvPr/>
          </p:nvSpPr>
          <p:spPr>
            <a:xfrm>
              <a:off x="871156" y="4672251"/>
              <a:ext cx="3156045"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A textbook case of drift over a long horizon.</a:t>
              </a:r>
            </a:p>
          </p:txBody>
        </p:sp>
      </p:grpSp>
      <p:grpSp>
        <p:nvGrpSpPr>
          <p:cNvPr id="27" name="Group 27"/>
          <p:cNvGrpSpPr/>
          <p:nvPr/>
        </p:nvGrpSpPr>
        <p:grpSpPr>
          <a:xfrm>
            <a:off x="6172200" y="1504950"/>
            <a:ext cx="5410200" cy="1162097"/>
            <a:chOff x="6172200" y="1504950"/>
            <a:chExt cx="5410200" cy="1162097"/>
          </a:xfrm>
        </p:grpSpPr>
        <p:sp>
          <p:nvSpPr>
            <p:cNvPr id="21" name="Rectangle 21"/>
            <p:cNvSpPr/>
            <p:nvPr/>
          </p:nvSpPr>
          <p:spPr>
            <a:xfrm>
              <a:off x="6172200" y="1504950"/>
              <a:ext cx="5410200" cy="1143000"/>
            </a:xfrm>
            <a:prstGeom prst="roundRect">
              <a:avLst>
                <a:gd name="adj" fmla="val 11667"/>
              </a:avLst>
            </a:prstGeom>
            <a:solidFill>
              <a:schemeClr val="accent5"/>
            </a:solidFill>
            <a:ln w="14288">
              <a:solidFill>
                <a:srgbClr val="26455F"/>
              </a:solidFill>
            </a:ln>
          </p:spPr>
        </p:sp>
        <p:sp>
          <p:nvSpPr>
            <p:cNvPr id="22" name="Rectangle 22"/>
            <p:cNvSpPr/>
            <p:nvPr/>
          </p:nvSpPr>
          <p:spPr>
            <a:xfrm>
              <a:off x="6172200" y="1504950"/>
              <a:ext cx="57150" cy="1143000"/>
            </a:xfrm>
            <a:prstGeom prst="roundRect">
              <a:avLst>
                <a:gd name="adj" fmla="val 50000"/>
              </a:avLst>
            </a:prstGeom>
            <a:solidFill>
              <a:srgbClr val="F2C14E"/>
            </a:solidFill>
            <a:ln>
              <a:noFill/>
            </a:ln>
          </p:spPr>
        </p:sp>
        <p:sp>
          <p:nvSpPr>
            <p:cNvPr id="23" name="TextBox 23"/>
            <p:cNvSpPr txBox="1"/>
            <p:nvPr/>
          </p:nvSpPr>
          <p:spPr>
            <a:xfrm>
              <a:off x="6432804" y="1737360"/>
              <a:ext cx="2299467"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The effect wanes over time</a:t>
              </a:r>
            </a:p>
          </p:txBody>
        </p:sp>
        <p:sp>
          <p:nvSpPr>
            <p:cNvPr id="24" name="TextBox 24"/>
            <p:cNvSpPr txBox="1"/>
            <p:nvPr/>
          </p:nvSpPr>
          <p:spPr>
            <a:xfrm>
              <a:off x="6433376" y="2035254"/>
              <a:ext cx="343508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Nudge effectiveness fades as the year goes on.</a:t>
              </a:r>
            </a:p>
          </p:txBody>
        </p:sp>
        <p:sp>
          <p:nvSpPr>
            <p:cNvPr id="25" name="TextBox 25"/>
            <p:cNvSpPr txBox="1"/>
            <p:nvPr/>
          </p:nvSpPr>
          <p:spPr>
            <a:xfrm>
              <a:off x="6433376" y="2244804"/>
              <a:ext cx="39044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Traffic-signal control shows the same drift, swinging</a:t>
              </a:r>
            </a:p>
          </p:txBody>
        </p:sp>
        <p:sp>
          <p:nvSpPr>
            <p:cNvPr id="26" name="TextBox 26"/>
            <p:cNvSpPr txBox="1"/>
            <p:nvPr/>
          </p:nvSpPr>
          <p:spPr>
            <a:xfrm>
              <a:off x="6433376" y="2454354"/>
              <a:ext cx="238816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between peak and off-peak flow.</a:t>
              </a:r>
            </a:p>
          </p:txBody>
        </p:sp>
      </p:grpSp>
      <p:grpSp>
        <p:nvGrpSpPr>
          <p:cNvPr id="33" name="Group 33"/>
          <p:cNvGrpSpPr/>
          <p:nvPr/>
        </p:nvGrpSpPr>
        <p:grpSpPr>
          <a:xfrm>
            <a:off x="6172200" y="2762250"/>
            <a:ext cx="5410200" cy="1104900"/>
            <a:chOff x="6172200" y="2762250"/>
            <a:chExt cx="5410200" cy="1104900"/>
          </a:xfrm>
        </p:grpSpPr>
        <p:sp>
          <p:nvSpPr>
            <p:cNvPr id="28" name="Rectangle 28"/>
            <p:cNvSpPr/>
            <p:nvPr/>
          </p:nvSpPr>
          <p:spPr>
            <a:xfrm>
              <a:off x="6172200" y="2762250"/>
              <a:ext cx="5410200" cy="1104900"/>
            </a:xfrm>
            <a:prstGeom prst="roundRect">
              <a:avLst>
                <a:gd name="adj" fmla="val 12069"/>
              </a:avLst>
            </a:prstGeom>
            <a:solidFill>
              <a:srgbClr val="2A1720"/>
            </a:solidFill>
            <a:ln w="14288">
              <a:solidFill>
                <a:srgbClr val="F2685C"/>
              </a:solidFill>
            </a:ln>
          </p:spPr>
        </p:sp>
        <p:sp>
          <p:nvSpPr>
            <p:cNvPr id="29" name="Rectangle 29"/>
            <p:cNvSpPr/>
            <p:nvPr/>
          </p:nvSpPr>
          <p:spPr>
            <a:xfrm>
              <a:off x="6172200" y="2762250"/>
              <a:ext cx="57150" cy="1104900"/>
            </a:xfrm>
            <a:prstGeom prst="roundRect">
              <a:avLst>
                <a:gd name="adj" fmla="val 50000"/>
              </a:avLst>
            </a:prstGeom>
            <a:solidFill>
              <a:srgbClr val="F2685C"/>
            </a:solidFill>
            <a:ln>
              <a:noFill/>
            </a:ln>
          </p:spPr>
        </p:sp>
        <p:sp>
          <p:nvSpPr>
            <p:cNvPr id="30" name="TextBox 30"/>
            <p:cNvSpPr txBox="1"/>
            <p:nvPr/>
          </p:nvSpPr>
          <p:spPr>
            <a:xfrm>
              <a:off x="6432804" y="2994660"/>
              <a:ext cx="2247971"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Ignoring the shift is costly</a:t>
              </a:r>
            </a:p>
          </p:txBody>
        </p:sp>
        <p:sp>
          <p:nvSpPr>
            <p:cNvPr id="31" name="TextBox 31"/>
            <p:cNvSpPr txBox="1"/>
            <p:nvPr/>
          </p:nvSpPr>
          <p:spPr>
            <a:xfrm>
              <a:off x="6433376" y="3292554"/>
              <a:ext cx="437413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 stationary policy sends prompts at the wrong moments and</a:t>
              </a:r>
            </a:p>
          </p:txBody>
        </p:sp>
        <p:sp>
          <p:nvSpPr>
            <p:cNvPr id="32" name="TextBox 32"/>
            <p:cNvSpPr txBox="1"/>
            <p:nvPr/>
          </p:nvSpPr>
          <p:spPr>
            <a:xfrm>
              <a:off x="6433376" y="3502104"/>
              <a:ext cx="4376439"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steadily erodes the long-term reward it was meant to raise.</a:t>
              </a:r>
            </a:p>
          </p:txBody>
        </p:sp>
      </p:grpSp>
      <p:grpSp>
        <p:nvGrpSpPr>
          <p:cNvPr id="40" name="Group 40"/>
          <p:cNvGrpSpPr/>
          <p:nvPr/>
        </p:nvGrpSpPr>
        <p:grpSpPr>
          <a:xfrm>
            <a:off x="6172200" y="3981450"/>
            <a:ext cx="5410200" cy="1257300"/>
            <a:chOff x="6172200" y="3981450"/>
            <a:chExt cx="5410200" cy="1257300"/>
          </a:xfrm>
        </p:grpSpPr>
        <p:sp>
          <p:nvSpPr>
            <p:cNvPr id="34" name="Rectangle 34"/>
            <p:cNvSpPr/>
            <p:nvPr/>
          </p:nvSpPr>
          <p:spPr>
            <a:xfrm>
              <a:off x="6172200" y="3981450"/>
              <a:ext cx="5410200" cy="1257300"/>
            </a:xfrm>
            <a:prstGeom prst="roundRect">
              <a:avLst>
                <a:gd name="adj" fmla="val 10606"/>
              </a:avLst>
            </a:prstGeom>
            <a:solidFill>
              <a:schemeClr val="accent5"/>
            </a:solidFill>
            <a:ln w="14288">
              <a:solidFill>
                <a:srgbClr val="26455F"/>
              </a:solidFill>
            </a:ln>
          </p:spPr>
        </p:sp>
        <p:sp>
          <p:nvSpPr>
            <p:cNvPr id="35" name="Rectangle 35"/>
            <p:cNvSpPr/>
            <p:nvPr/>
          </p:nvSpPr>
          <p:spPr>
            <a:xfrm>
              <a:off x="6172200" y="3981450"/>
              <a:ext cx="57150" cy="1257300"/>
            </a:xfrm>
            <a:prstGeom prst="roundRect">
              <a:avLst>
                <a:gd name="adj" fmla="val 50000"/>
              </a:avLst>
            </a:prstGeom>
            <a:solidFill>
              <a:schemeClr val="accent2"/>
            </a:solidFill>
            <a:ln>
              <a:noFill/>
            </a:ln>
          </p:spPr>
        </p:sp>
        <p:sp>
          <p:nvSpPr>
            <p:cNvPr id="36" name="TextBox 36"/>
            <p:cNvSpPr txBox="1"/>
            <p:nvPr/>
          </p:nvSpPr>
          <p:spPr>
            <a:xfrm>
              <a:off x="6432804" y="4213860"/>
              <a:ext cx="1909103"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Prior tests leave a gap</a:t>
              </a:r>
            </a:p>
          </p:txBody>
        </p:sp>
        <p:sp>
          <p:nvSpPr>
            <p:cNvPr id="37" name="TextBox 37"/>
            <p:cNvSpPr txBox="1"/>
            <p:nvPr/>
          </p:nvSpPr>
          <p:spPr>
            <a:xfrm>
              <a:off x="6433376" y="4511754"/>
              <a:ext cx="438138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Prior tests either need a fully known model, or lean on linear</a:t>
              </a:r>
            </a:p>
          </p:txBody>
        </p:sp>
        <p:sp>
          <p:nvSpPr>
            <p:cNvPr id="38" name="TextBox 38"/>
            <p:cNvSpPr txBox="1"/>
            <p:nvPr/>
          </p:nvSpPr>
          <p:spPr>
            <a:xfrm>
              <a:off x="6433376" y="4721304"/>
              <a:ext cx="32979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approximations that break in high dimensions.</a:t>
              </a:r>
            </a:p>
          </p:txBody>
        </p:sp>
        <p:sp>
          <p:nvSpPr>
            <p:cNvPr id="39" name="TextBox 39"/>
            <p:cNvSpPr txBox="1"/>
            <p:nvPr/>
          </p:nvSpPr>
          <p:spPr>
            <a:xfrm>
              <a:off x="6433756" y="5034201"/>
              <a:ext cx="2854511"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Consolas"/>
                  <a:ea typeface="Consolas"/>
                  <a:cs typeface="Consolas"/>
                </a:rPr>
                <a:t>known model X linear approx X (high-dim)</a:t>
              </a:r>
            </a:p>
          </p:txBody>
        </p:sp>
      </p:grpSp>
      <p:sp>
        <p:nvSpPr>
          <p:cNvPr id="41" name="cue_s03_c1_why_does_matter_now_consider" title="cue_s03_c1_why_does_matter_now_consider" descr="cue_s03_c1_why_does_matter_now_consider Why does this matter now? Consider the Intern Health Study, a year-long mobile-health trial that nudges first-year physicians toward healthier habits through push notifications."/>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3_c2_effect_those_nudges_wanes_over" title="cue_s03_c2_effect_those_nudges_wanes_over" descr="cue_s03_c2_effect_those_nudges_wanes_over The effect of those nudges wanes over time, a textbook case of non-stationarity. Similar drift shows up in traffic signal control, where flow patterns swing between peak and off-peak hours."/>
          <p:cNvSpPr/>
          <p:nvPr/>
        </p:nvSpPr>
        <p:spPr>
          <a:xfrm>
            <a:off x="6171590" y="1504645"/>
            <a:ext cx="5409590" cy="116243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3_c3_ignoring_these_shifts_leads_policies" title="cue_s03_c3_ignoring_these_shifts_leads_policies" descr="cue_s03_c3_ignoring_these_shifts_leads_policies Ignoring these shifts leads to policies that send prompts at the wrong moments and erode long-term reward."/>
          <p:cNvSpPr/>
          <p:nvPr/>
        </p:nvSpPr>
        <p:spPr>
          <a:xfrm>
            <a:off x="6171590" y="2762402"/>
            <a:ext cx="540959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3_c4_prior_stationarity_tests_either_dema" title="cue_s03_c4_prior_stationarity_tests_either_dema" descr="cue_s03_c4_prior_stationarity_tests_either_dema Prior stationarity tests either demand knowledge of the true model, or fall back on linear approximations that collapse in high dimensions, leaving a real gap for modern applications."/>
          <p:cNvSpPr/>
          <p:nvPr/>
        </p:nvSpPr>
        <p:spPr>
          <a:xfrm>
            <a:off x="6171590" y="3981754"/>
            <a:ext cx="540959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24889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doubly robust stationarity test</a:t>
            </a:r>
          </a:p>
        </p:txBody>
      </p:sp>
      <p:grpSp>
        <p:nvGrpSpPr>
          <p:cNvPr id="14" name="Group 14"/>
          <p:cNvGrpSpPr/>
          <p:nvPr/>
        </p:nvGrpSpPr>
        <p:grpSpPr>
          <a:xfrm>
            <a:off x="609600" y="1714500"/>
            <a:ext cx="3505200" cy="3429000"/>
            <a:chOff x="609600" y="1714500"/>
            <a:chExt cx="3505200" cy="3429000"/>
          </a:xfrm>
        </p:grpSpPr>
        <p:sp>
          <p:nvSpPr>
            <p:cNvPr id="5" name="Rectangle 5"/>
            <p:cNvSpPr/>
            <p:nvPr/>
          </p:nvSpPr>
          <p:spPr>
            <a:xfrm>
              <a:off x="609600" y="1714500"/>
              <a:ext cx="3505200" cy="3429000"/>
            </a:xfrm>
            <a:prstGeom prst="roundRect">
              <a:avLst>
                <a:gd name="adj" fmla="val 3889"/>
              </a:avLst>
            </a:prstGeom>
            <a:solidFill>
              <a:schemeClr val="accent5"/>
            </a:solidFill>
            <a:ln w="14288">
              <a:solidFill>
                <a:srgbClr val="26455F"/>
              </a:solidFill>
            </a:ln>
          </p:spPr>
        </p:sp>
        <p:sp>
          <p:nvSpPr>
            <p:cNvPr id="6" name="Rectangle 6"/>
            <p:cNvSpPr/>
            <p:nvPr/>
          </p:nvSpPr>
          <p:spPr>
            <a:xfrm>
              <a:off x="609600" y="1714500"/>
              <a:ext cx="3505200" cy="57150"/>
            </a:xfrm>
            <a:prstGeom prst="roundRect">
              <a:avLst>
                <a:gd name="adj" fmla="val 50000"/>
              </a:avLst>
            </a:prstGeom>
            <a:solidFill>
              <a:schemeClr val="accent2"/>
            </a:solidFill>
            <a:ln>
              <a:noFill/>
            </a:ln>
          </p:spPr>
        </p:sp>
        <p:sp>
          <p:nvSpPr>
            <p:cNvPr id="7" name="Ellipse 7"/>
            <p:cNvSpPr/>
            <p:nvPr/>
          </p:nvSpPr>
          <p:spPr>
            <a:xfrm>
              <a:off x="857250" y="2133600"/>
              <a:ext cx="495300" cy="495300"/>
            </a:xfrm>
            <a:prstGeom prst="ellipse">
              <a:avLst/>
            </a:prstGeom>
            <a:noFill/>
            <a:ln w="23812">
              <a:solidFill>
                <a:schemeClr val="accent2"/>
              </a:solidFill>
            </a:ln>
          </p:spPr>
        </p:sp>
        <p:sp>
          <p:nvSpPr>
            <p:cNvPr id="8" name="TextBox 8"/>
            <p:cNvSpPr txBox="1"/>
            <p:nvPr/>
          </p:nvSpPr>
          <p:spPr>
            <a:xfrm>
              <a:off x="1012602" y="224980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68680" y="2905125"/>
              <a:ext cx="166560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Test and detect</a:t>
              </a:r>
            </a:p>
          </p:txBody>
        </p:sp>
        <p:sp>
          <p:nvSpPr>
            <p:cNvPr id="10" name="TextBox 10"/>
            <p:cNvSpPr txBox="1"/>
            <p:nvPr/>
          </p:nvSpPr>
          <p:spPr>
            <a:xfrm>
              <a:off x="870585" y="3364706"/>
              <a:ext cx="2971836"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model-based, doubly robust procedure</a:t>
              </a:r>
            </a:p>
          </p:txBody>
        </p:sp>
        <p:sp>
          <p:nvSpPr>
            <p:cNvPr id="11" name="TextBox 11"/>
            <p:cNvSpPr txBox="1"/>
            <p:nvPr/>
          </p:nvSpPr>
          <p:spPr>
            <a:xfrm>
              <a:off x="870585" y="3583781"/>
              <a:ext cx="292891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that tests the stationarity assumption</a:t>
              </a:r>
            </a:p>
          </p:txBody>
        </p:sp>
        <p:sp>
          <p:nvSpPr>
            <p:cNvPr id="12" name="TextBox 12"/>
            <p:cNvSpPr txBox="1"/>
            <p:nvPr/>
          </p:nvSpPr>
          <p:spPr>
            <a:xfrm>
              <a:off x="870585" y="3802856"/>
              <a:ext cx="261982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and locates change points in offline</a:t>
              </a:r>
            </a:p>
          </p:txBody>
        </p:sp>
        <p:sp>
          <p:nvSpPr>
            <p:cNvPr id="13" name="TextBox 13"/>
            <p:cNvSpPr txBox="1"/>
            <p:nvPr/>
          </p:nvSpPr>
          <p:spPr>
            <a:xfrm>
              <a:off x="870585" y="4021931"/>
              <a:ext cx="179810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reinforcement learning.</a:t>
              </a:r>
            </a:p>
          </p:txBody>
        </p:sp>
      </p:grpSp>
      <p:grpSp>
        <p:nvGrpSpPr>
          <p:cNvPr id="24" name="Group 24"/>
          <p:cNvGrpSpPr/>
          <p:nvPr/>
        </p:nvGrpSpPr>
        <p:grpSpPr>
          <a:xfrm>
            <a:off x="4343400" y="1714500"/>
            <a:ext cx="3505200" cy="3429000"/>
            <a:chOff x="4343400" y="1714500"/>
            <a:chExt cx="3505200" cy="3429000"/>
          </a:xfrm>
        </p:grpSpPr>
        <p:sp>
          <p:nvSpPr>
            <p:cNvPr id="15" name="Rectangle 15"/>
            <p:cNvSpPr/>
            <p:nvPr/>
          </p:nvSpPr>
          <p:spPr>
            <a:xfrm>
              <a:off x="4343400" y="1714500"/>
              <a:ext cx="3505200" cy="3429000"/>
            </a:xfrm>
            <a:prstGeom prst="roundRect">
              <a:avLst>
                <a:gd name="adj" fmla="val 3889"/>
              </a:avLst>
            </a:prstGeom>
            <a:solidFill>
              <a:schemeClr val="accent5"/>
            </a:solidFill>
            <a:ln w="14288">
              <a:solidFill>
                <a:srgbClr val="26455F"/>
              </a:solidFill>
            </a:ln>
          </p:spPr>
        </p:sp>
        <p:sp>
          <p:nvSpPr>
            <p:cNvPr id="16" name="Rectangle 16"/>
            <p:cNvSpPr/>
            <p:nvPr/>
          </p:nvSpPr>
          <p:spPr>
            <a:xfrm>
              <a:off x="4343400" y="1714500"/>
              <a:ext cx="3505200" cy="57150"/>
            </a:xfrm>
            <a:prstGeom prst="roundRect">
              <a:avLst>
                <a:gd name="adj" fmla="val 50000"/>
              </a:avLst>
            </a:prstGeom>
            <a:solidFill>
              <a:srgbClr val="34D3C0"/>
            </a:solidFill>
            <a:ln>
              <a:noFill/>
            </a:ln>
          </p:spPr>
        </p:sp>
        <p:sp>
          <p:nvSpPr>
            <p:cNvPr id="17" name="Ellipse 17"/>
            <p:cNvSpPr/>
            <p:nvPr/>
          </p:nvSpPr>
          <p:spPr>
            <a:xfrm>
              <a:off x="4591050" y="2133600"/>
              <a:ext cx="495300" cy="495300"/>
            </a:xfrm>
            <a:prstGeom prst="ellipse">
              <a:avLst/>
            </a:prstGeom>
            <a:noFill/>
            <a:ln w="23812">
              <a:solidFill>
                <a:srgbClr val="34D3C0"/>
              </a:solidFill>
            </a:ln>
          </p:spPr>
        </p:sp>
        <p:sp>
          <p:nvSpPr>
            <p:cNvPr id="18" name="TextBox 18"/>
            <p:cNvSpPr txBox="1"/>
            <p:nvPr/>
          </p:nvSpPr>
          <p:spPr>
            <a:xfrm>
              <a:off x="4746402" y="22498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19" name="TextBox 19"/>
            <p:cNvSpPr txBox="1"/>
            <p:nvPr/>
          </p:nvSpPr>
          <p:spPr>
            <a:xfrm>
              <a:off x="4602480" y="2905125"/>
              <a:ext cx="189831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Double robustness</a:t>
              </a:r>
            </a:p>
          </p:txBody>
        </p:sp>
        <p:sp>
          <p:nvSpPr>
            <p:cNvPr id="20" name="TextBox 20"/>
            <p:cNvSpPr txBox="1"/>
            <p:nvPr/>
          </p:nvSpPr>
          <p:spPr>
            <a:xfrm>
              <a:off x="4604385" y="3364706"/>
              <a:ext cx="296161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Type-I error stays controlled as long as</a:t>
              </a:r>
            </a:p>
          </p:txBody>
        </p:sp>
        <p:sp>
          <p:nvSpPr>
            <p:cNvPr id="21" name="TextBox 21"/>
            <p:cNvSpPr txBox="1"/>
            <p:nvPr/>
          </p:nvSpPr>
          <p:spPr>
            <a:xfrm>
              <a:off x="4604385" y="3583781"/>
              <a:ext cx="2740447"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either the transition function or the</a:t>
              </a:r>
            </a:p>
          </p:txBody>
        </p:sp>
        <p:sp>
          <p:nvSpPr>
            <p:cNvPr id="22" name="TextBox 22"/>
            <p:cNvSpPr txBox="1"/>
            <p:nvPr/>
          </p:nvSpPr>
          <p:spPr>
            <a:xfrm>
              <a:off x="4604385" y="3802856"/>
              <a:ext cx="2732908"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marginal state-action distribution is</a:t>
              </a:r>
            </a:p>
          </p:txBody>
        </p:sp>
        <p:sp>
          <p:nvSpPr>
            <p:cNvPr id="23" name="TextBox 23"/>
            <p:cNvSpPr txBox="1"/>
            <p:nvPr/>
          </p:nvSpPr>
          <p:spPr>
            <a:xfrm>
              <a:off x="4604385" y="4021931"/>
              <a:ext cx="1519174"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correctly specified.</a:t>
              </a:r>
            </a:p>
          </p:txBody>
        </p:sp>
      </p:grpSp>
      <p:grpSp>
        <p:nvGrpSpPr>
          <p:cNvPr id="35" name="Group 35"/>
          <p:cNvGrpSpPr/>
          <p:nvPr/>
        </p:nvGrpSpPr>
        <p:grpSpPr>
          <a:xfrm>
            <a:off x="8077200" y="1714500"/>
            <a:ext cx="3505200" cy="3429000"/>
            <a:chOff x="8077200" y="1714500"/>
            <a:chExt cx="3505200" cy="3429000"/>
          </a:xfrm>
        </p:grpSpPr>
        <p:sp>
          <p:nvSpPr>
            <p:cNvPr id="25" name="Rectangle 25"/>
            <p:cNvSpPr/>
            <p:nvPr/>
          </p:nvSpPr>
          <p:spPr>
            <a:xfrm>
              <a:off x="8077200" y="1714500"/>
              <a:ext cx="3505200" cy="3429000"/>
            </a:xfrm>
            <a:prstGeom prst="roundRect">
              <a:avLst>
                <a:gd name="adj" fmla="val 3889"/>
              </a:avLst>
            </a:prstGeom>
            <a:solidFill>
              <a:schemeClr val="accent5"/>
            </a:solidFill>
            <a:ln w="14288">
              <a:solidFill>
                <a:srgbClr val="26455F"/>
              </a:solidFill>
            </a:ln>
          </p:spPr>
        </p:sp>
        <p:sp>
          <p:nvSpPr>
            <p:cNvPr id="26" name="Rectangle 26"/>
            <p:cNvSpPr/>
            <p:nvPr/>
          </p:nvSpPr>
          <p:spPr>
            <a:xfrm>
              <a:off x="8077200" y="1714500"/>
              <a:ext cx="3505200" cy="57150"/>
            </a:xfrm>
            <a:prstGeom prst="roundRect">
              <a:avLst>
                <a:gd name="adj" fmla="val 50000"/>
              </a:avLst>
            </a:prstGeom>
            <a:solidFill>
              <a:srgbClr val="F2C14E"/>
            </a:solidFill>
            <a:ln>
              <a:noFill/>
            </a:ln>
          </p:spPr>
        </p:sp>
        <p:sp>
          <p:nvSpPr>
            <p:cNvPr id="27" name="Ellipse 27"/>
            <p:cNvSpPr/>
            <p:nvPr/>
          </p:nvSpPr>
          <p:spPr>
            <a:xfrm>
              <a:off x="8324850" y="2133600"/>
              <a:ext cx="495300" cy="495300"/>
            </a:xfrm>
            <a:prstGeom prst="ellipse">
              <a:avLst/>
            </a:prstGeom>
            <a:noFill/>
            <a:ln w="23812">
              <a:solidFill>
                <a:srgbClr val="F2C14E"/>
              </a:solidFill>
            </a:ln>
          </p:spPr>
        </p:sp>
        <p:sp>
          <p:nvSpPr>
            <p:cNvPr id="28" name="TextBox 28"/>
            <p:cNvSpPr txBox="1"/>
            <p:nvPr/>
          </p:nvSpPr>
          <p:spPr>
            <a:xfrm>
              <a:off x="8480202" y="22498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29" name="TextBox 29"/>
            <p:cNvSpPr txBox="1"/>
            <p:nvPr/>
          </p:nvSpPr>
          <p:spPr>
            <a:xfrm>
              <a:off x="8336280" y="2905125"/>
              <a:ext cx="1846607"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Theory + p-values</a:t>
              </a:r>
            </a:p>
          </p:txBody>
        </p:sp>
        <p:sp>
          <p:nvSpPr>
            <p:cNvPr id="30" name="TextBox 30"/>
            <p:cNvSpPr txBox="1"/>
            <p:nvPr/>
          </p:nvSpPr>
          <p:spPr>
            <a:xfrm>
              <a:off x="8338185" y="3364706"/>
              <a:ext cx="303179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Size control and double robustness under</a:t>
              </a:r>
            </a:p>
          </p:txBody>
        </p:sp>
        <p:sp>
          <p:nvSpPr>
            <p:cNvPr id="31" name="TextBox 31"/>
            <p:cNvSpPr txBox="1"/>
            <p:nvPr/>
          </p:nvSpPr>
          <p:spPr>
            <a:xfrm>
              <a:off x="8338185" y="3583781"/>
              <a:ext cx="30017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a bidirectional asymptotic framework (N</a:t>
              </a:r>
            </a:p>
          </p:txBody>
        </p:sp>
        <p:sp>
          <p:nvSpPr>
            <p:cNvPr id="32" name="TextBox 32"/>
            <p:cNvSpPr txBox="1"/>
            <p:nvPr/>
          </p:nvSpPr>
          <p:spPr>
            <a:xfrm>
              <a:off x="8338185" y="3802856"/>
              <a:ext cx="2563041"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or T may diverge), with a Gaussian</a:t>
              </a:r>
            </a:p>
          </p:txBody>
        </p:sp>
        <p:sp>
          <p:nvSpPr>
            <p:cNvPr id="33" name="TextBox 33"/>
            <p:cNvSpPr txBox="1"/>
            <p:nvPr/>
          </p:nvSpPr>
          <p:spPr>
            <a:xfrm>
              <a:off x="8338185" y="4021931"/>
              <a:ext cx="2348433"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multiplier bootstrap for honest</a:t>
              </a:r>
            </a:p>
          </p:txBody>
        </p:sp>
        <p:sp>
          <p:nvSpPr>
            <p:cNvPr id="34" name="TextBox 34"/>
            <p:cNvSpPr txBox="1"/>
            <p:nvPr/>
          </p:nvSpPr>
          <p:spPr>
            <a:xfrm>
              <a:off x="8338185" y="4241006"/>
              <a:ext cx="720070"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p-values.</a:t>
              </a:r>
            </a:p>
          </p:txBody>
        </p:sp>
      </p:grpSp>
      <p:sp>
        <p:nvSpPr>
          <p:cNvPr id="36" name="TextBox 36"/>
          <p:cNvSpPr txBox="1"/>
          <p:nvPr/>
        </p:nvSpPr>
        <p:spPr>
          <a:xfrm>
            <a:off x="603694" y="5437108"/>
            <a:ext cx="7461614"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Valid inference even when one nuisance model is wrong — that is what doubly robust buys you.</a:t>
            </a:r>
          </a:p>
        </p:txBody>
      </p:sp>
      <p:sp>
        <p:nvSpPr>
          <p:cNvPr id="37" name="cue_s04_c1_core_contribution_model_based_doubly" title="cue_s04_c1_core_contribution_model_based_doubly" descr="cue_s04_c1_core_contribution_model_based_doubly The paper's core contribution is a model-based, doubly robust procedure that tests the stationarity assumption and locates change points in offline reinforcement learning."/>
          <p:cNvSpPr/>
          <p:nvPr/>
        </p:nvSpPr>
        <p:spPr>
          <a:xfrm>
            <a:off x="609600" y="1714500"/>
            <a:ext cx="350519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2_doubly_robust_means_test_controls" title="cue_s04_c2_doubly_robust_means_test_controls" descr="cue_s04_c2_doubly_robust_means_test_controls Doubly robust means the test controls the type-one error as long as either the transition function or the marginal state-action distribution is correctly specified, so you get valid inference even when one nuisance model is wrong."/>
          <p:cNvSpPr/>
          <p:nvPr/>
        </p:nvSpPr>
        <p:spPr>
          <a:xfrm>
            <a:off x="4344009" y="1714500"/>
            <a:ext cx="350519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4_c3_top_method_authors_prove_size" title="cue_s04_c3_top_method_authors_prove_size" descr="cue_s04_c3_top_method_authors_prove_size On top of the method, the authors prove size control and double robustness under a bidirectional asymptotic framework, where either the number of trajectories or the length of the horizon may grow to infinity, and they supply a Gaussian multiplier bootstrap to"/>
          <p:cNvSpPr/>
          <p:nvPr/>
        </p:nvSpPr>
        <p:spPr>
          <a:xfrm>
            <a:off x="8077200" y="1714500"/>
            <a:ext cx="3505199" cy="34290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08868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CUSUM comparison, made doubly robust</a:t>
            </a:r>
          </a:p>
        </p:txBody>
      </p:sp>
      <p:grpSp>
        <p:nvGrpSpPr>
          <p:cNvPr id="20" name="Group 20"/>
          <p:cNvGrpSpPr/>
          <p:nvPr/>
        </p:nvGrpSpPr>
        <p:grpSpPr>
          <a:xfrm>
            <a:off x="609600" y="1504950"/>
            <a:ext cx="5410200" cy="1958816"/>
            <a:chOff x="609600" y="1504950"/>
            <a:chExt cx="5410200" cy="1958816"/>
          </a:xfrm>
        </p:grpSpPr>
        <p:sp>
          <p:nvSpPr>
            <p:cNvPr id="5" name="Rectangle 5"/>
            <p:cNvSpPr/>
            <p:nvPr/>
          </p:nvSpPr>
          <p:spPr>
            <a:xfrm>
              <a:off x="609600" y="1504950"/>
              <a:ext cx="5410200" cy="1866900"/>
            </a:xfrm>
            <a:prstGeom prst="roundRect">
              <a:avLst>
                <a:gd name="adj" fmla="val 7143"/>
              </a:avLst>
            </a:prstGeom>
            <a:solidFill>
              <a:schemeClr val="accent5"/>
            </a:solidFill>
            <a:ln w="14288">
              <a:solidFill>
                <a:srgbClr val="26455F"/>
              </a:solidFill>
            </a:ln>
          </p:spPr>
        </p:sp>
        <p:sp>
          <p:nvSpPr>
            <p:cNvPr id="6" name="Rectangle 6"/>
            <p:cNvSpPr/>
            <p:nvPr/>
          </p:nvSpPr>
          <p:spPr>
            <a:xfrm>
              <a:off x="609600" y="1504950"/>
              <a:ext cx="57150" cy="1866900"/>
            </a:xfrm>
            <a:prstGeom prst="roundRect">
              <a:avLst>
                <a:gd name="adj" fmla="val 50000"/>
              </a:avLst>
            </a:prstGeom>
            <a:solidFill>
              <a:schemeClr val="accent2"/>
            </a:solidFill>
            <a:ln>
              <a:noFill/>
            </a:ln>
          </p:spPr>
        </p:sp>
        <p:sp>
          <p:nvSpPr>
            <p:cNvPr id="7" name="TextBox 7"/>
            <p:cNvSpPr txBox="1"/>
            <p:nvPr/>
          </p:nvSpPr>
          <p:spPr>
            <a:xfrm>
              <a:off x="870014" y="1733312"/>
              <a:ext cx="2876298"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Step 1 · compare before vs after</a:t>
              </a:r>
            </a:p>
          </p:txBody>
        </p:sp>
        <p:sp>
          <p:nvSpPr>
            <p:cNvPr id="8" name="TextBox 8"/>
            <p:cNvSpPr txBox="1"/>
            <p:nvPr/>
          </p:nvSpPr>
          <p:spPr>
            <a:xfrm>
              <a:off x="870966" y="2039302"/>
              <a:ext cx="369770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At each candidate change point t, compare the pooled</a:t>
              </a:r>
            </a:p>
          </p:txBody>
        </p:sp>
        <p:sp>
          <p:nvSpPr>
            <p:cNvPr id="9" name="TextBox 9"/>
            <p:cNvSpPr txBox="1"/>
            <p:nvPr/>
          </p:nvSpPr>
          <p:spPr>
            <a:xfrm>
              <a:off x="870966" y="2239328"/>
              <a:ext cx="40913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transition dynamics before and after t with a CUSUM-style</a:t>
              </a:r>
            </a:p>
          </p:txBody>
        </p:sp>
        <p:sp>
          <p:nvSpPr>
            <p:cNvPr id="10" name="TextBox 10"/>
            <p:cNvSpPr txBox="1"/>
            <p:nvPr/>
          </p:nvSpPr>
          <p:spPr>
            <a:xfrm>
              <a:off x="870966" y="2439352"/>
              <a:ext cx="71742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statistic.</a:t>
              </a:r>
            </a:p>
          </p:txBody>
        </p:sp>
        <p:sp>
          <p:nvSpPr>
            <p:cNvPr id="11" name="Line 11"/>
            <p:cNvSpPr/>
            <p:nvPr/>
          </p:nvSpPr>
          <p:spPr>
            <a:xfrm>
              <a:off x="876300" y="3181350"/>
              <a:ext cx="3733800" cy="9525"/>
            </a:xfrm>
            <a:custGeom>
              <a:avLst/>
              <a:gdLst/>
              <a:ahLst/>
              <a:cxnLst/>
              <a:rect l="l" t="t" r="r" b="b"/>
              <a:pathLst>
                <a:path w="3733800" h="9525">
                  <a:moveTo>
                    <a:pt x="0" y="0"/>
                  </a:moveTo>
                  <a:lnTo>
                    <a:pt x="3733800" y="0"/>
                  </a:lnTo>
                </a:path>
              </a:pathLst>
            </a:custGeom>
            <a:noFill/>
            <a:ln w="28575" cap="rnd">
              <a:solidFill>
                <a:srgbClr val="26455F"/>
              </a:solidFill>
            </a:ln>
          </p:spPr>
        </p:sp>
        <p:sp>
          <p:nvSpPr>
            <p:cNvPr id="12" name="Line 12"/>
            <p:cNvSpPr/>
            <p:nvPr/>
          </p:nvSpPr>
          <p:spPr>
            <a:xfrm>
              <a:off x="876300" y="3181350"/>
              <a:ext cx="2047875" cy="9525"/>
            </a:xfrm>
            <a:custGeom>
              <a:avLst/>
              <a:gdLst/>
              <a:ahLst/>
              <a:cxnLst/>
              <a:rect l="l" t="t" r="r" b="b"/>
              <a:pathLst>
                <a:path w="2047875" h="9525">
                  <a:moveTo>
                    <a:pt x="0" y="0"/>
                  </a:moveTo>
                  <a:lnTo>
                    <a:pt x="2047875" y="0"/>
                  </a:lnTo>
                </a:path>
              </a:pathLst>
            </a:custGeom>
            <a:noFill/>
            <a:ln w="38100" cap="rnd">
              <a:solidFill>
                <a:schemeClr val="accent2"/>
              </a:solidFill>
            </a:ln>
          </p:spPr>
        </p:sp>
        <p:sp>
          <p:nvSpPr>
            <p:cNvPr id="13" name="Line 13"/>
            <p:cNvSpPr/>
            <p:nvPr/>
          </p:nvSpPr>
          <p:spPr>
            <a:xfrm>
              <a:off x="2924175" y="3181350"/>
              <a:ext cx="1685925" cy="9525"/>
            </a:xfrm>
            <a:custGeom>
              <a:avLst/>
              <a:gdLst/>
              <a:ahLst/>
              <a:cxnLst/>
              <a:rect l="l" t="t" r="r" b="b"/>
              <a:pathLst>
                <a:path w="1685925" h="9525">
                  <a:moveTo>
                    <a:pt x="0" y="0"/>
                  </a:moveTo>
                  <a:lnTo>
                    <a:pt x="1685925" y="0"/>
                  </a:lnTo>
                </a:path>
              </a:pathLst>
            </a:custGeom>
            <a:noFill/>
            <a:ln w="38100" cap="rnd">
              <a:solidFill>
                <a:srgbClr val="F2C14E"/>
              </a:solidFill>
            </a:ln>
          </p:spPr>
        </p:sp>
        <p:sp>
          <p:nvSpPr>
            <p:cNvPr id="14" name="Line 14"/>
            <p:cNvSpPr/>
            <p:nvPr/>
          </p:nvSpPr>
          <p:spPr>
            <a:xfrm>
              <a:off x="2924175" y="2838450"/>
              <a:ext cx="9525" cy="400050"/>
            </a:xfrm>
            <a:custGeom>
              <a:avLst/>
              <a:gdLst/>
              <a:ahLst/>
              <a:cxnLst/>
              <a:rect l="l" t="t" r="r" b="b"/>
              <a:pathLst>
                <a:path w="9525" h="400050">
                  <a:moveTo>
                    <a:pt x="0" y="0"/>
                  </a:moveTo>
                  <a:lnTo>
                    <a:pt x="0" y="400050"/>
                  </a:lnTo>
                </a:path>
              </a:pathLst>
            </a:custGeom>
            <a:noFill/>
            <a:ln w="17145" cap="rnd">
              <a:solidFill>
                <a:srgbClr val="F2685C"/>
              </a:solidFill>
              <a:prstDash val="dash"/>
            </a:ln>
          </p:spPr>
        </p:sp>
        <p:sp>
          <p:nvSpPr>
            <p:cNvPr id="15" name="Ellipse 15"/>
            <p:cNvSpPr/>
            <p:nvPr/>
          </p:nvSpPr>
          <p:spPr>
            <a:xfrm>
              <a:off x="2876550" y="3133725"/>
              <a:ext cx="95250" cy="95250"/>
            </a:xfrm>
            <a:prstGeom prst="ellipse">
              <a:avLst/>
            </a:prstGeom>
            <a:solidFill>
              <a:srgbClr val="F2685C"/>
            </a:solidFill>
            <a:ln>
              <a:noFill/>
            </a:ln>
          </p:spPr>
        </p:sp>
        <p:sp>
          <p:nvSpPr>
            <p:cNvPr id="16" name="TextBox 16"/>
            <p:cNvSpPr txBox="1"/>
            <p:nvPr/>
          </p:nvSpPr>
          <p:spPr>
            <a:xfrm>
              <a:off x="1613556" y="2874645"/>
              <a:ext cx="541740" cy="176212"/>
            </a:xfrm>
            <a:prstGeom prst="rect">
              <a:avLst/>
            </a:prstGeom>
            <a:noFill/>
            <a:ln>
              <a:noFill/>
            </a:ln>
          </p:spPr>
          <p:txBody>
            <a:bodyPr wrap="none" lIns="0" tIns="0" rIns="0" bIns="0" anchor="t" anchorCtr="0">
              <a:spAutoFit/>
            </a:bodyPr>
            <a:lstStyle/>
            <a:p>
              <a:pPr algn="ctr"/>
              <a:r>
                <a:rPr lang="en-US" sz="900" b="1" dirty="0">
                  <a:solidFill>
                    <a:schemeClr val="accent2"/>
                  </a:solidFill>
                  <a:latin typeface="+mn-lt"/>
                  <a:ea typeface="+mn-ea"/>
                  <a:cs typeface="+mn-cs"/>
                </a:rPr>
                <a:t>P before</a:t>
              </a:r>
            </a:p>
          </p:txBody>
        </p:sp>
        <p:sp>
          <p:nvSpPr>
            <p:cNvPr id="17" name="TextBox 17"/>
            <p:cNvSpPr txBox="1"/>
            <p:nvPr/>
          </p:nvSpPr>
          <p:spPr>
            <a:xfrm>
              <a:off x="3552753" y="2874645"/>
              <a:ext cx="471823" cy="176212"/>
            </a:xfrm>
            <a:prstGeom prst="rect">
              <a:avLst/>
            </a:prstGeom>
            <a:noFill/>
            <a:ln>
              <a:noFill/>
            </a:ln>
          </p:spPr>
          <p:txBody>
            <a:bodyPr wrap="none" lIns="0" tIns="0" rIns="0" bIns="0" anchor="t" anchorCtr="0">
              <a:spAutoFit/>
            </a:bodyPr>
            <a:lstStyle/>
            <a:p>
              <a:pPr algn="ctr"/>
              <a:r>
                <a:rPr lang="en-US" sz="900" b="1" dirty="0">
                  <a:solidFill>
                    <a:srgbClr val="F2C14E"/>
                  </a:solidFill>
                  <a:latin typeface="+mn-lt"/>
                  <a:ea typeface="+mn-ea"/>
                  <a:cs typeface="+mn-cs"/>
                </a:rPr>
                <a:t>P after</a:t>
              </a:r>
            </a:p>
          </p:txBody>
        </p:sp>
        <p:sp>
          <p:nvSpPr>
            <p:cNvPr id="18" name="TextBox 18"/>
            <p:cNvSpPr txBox="1"/>
            <p:nvPr/>
          </p:nvSpPr>
          <p:spPr>
            <a:xfrm>
              <a:off x="2597768" y="3301841"/>
              <a:ext cx="652813" cy="161925"/>
            </a:xfrm>
            <a:prstGeom prst="rect">
              <a:avLst/>
            </a:prstGeom>
            <a:noFill/>
            <a:ln>
              <a:noFill/>
            </a:ln>
          </p:spPr>
          <p:txBody>
            <a:bodyPr wrap="none" lIns="0" tIns="0" rIns="0" bIns="0" anchor="t" anchorCtr="0">
              <a:spAutoFit/>
            </a:bodyPr>
            <a:lstStyle/>
            <a:p>
              <a:pPr algn="ctr"/>
              <a:r>
                <a:rPr lang="en-US" sz="820" b="1" dirty="0">
                  <a:solidFill>
                    <a:srgbClr val="F2685C"/>
                  </a:solidFill>
                  <a:latin typeface="+mn-lt"/>
                  <a:ea typeface="+mn-ea"/>
                  <a:cs typeface="+mn-cs"/>
                </a:rPr>
                <a:t>candidate t</a:t>
              </a:r>
            </a:p>
          </p:txBody>
        </p:sp>
        <p:sp>
          <p:nvSpPr>
            <p:cNvPr id="19" name="TextBox 19"/>
            <p:cNvSpPr txBox="1"/>
            <p:nvPr/>
          </p:nvSpPr>
          <p:spPr>
            <a:xfrm>
              <a:off x="4757547" y="3114199"/>
              <a:ext cx="418552" cy="190690"/>
            </a:xfrm>
            <a:prstGeom prst="rect">
              <a:avLst/>
            </a:prstGeom>
            <a:noFill/>
            <a:ln>
              <a:noFill/>
            </a:ln>
          </p:spPr>
          <p:txBody>
            <a:bodyPr wrap="none" lIns="0" tIns="0" rIns="0" bIns="0" anchor="t" anchorCtr="0">
              <a:spAutoFit/>
            </a:bodyPr>
            <a:lstStyle/>
            <a:p>
              <a:pPr algn="l"/>
              <a:r>
                <a:rPr lang="en-US" sz="980" b="1" dirty="0">
                  <a:solidFill>
                    <a:schemeClr val="dk1"/>
                  </a:solidFill>
                  <a:latin typeface="+mn-lt"/>
                  <a:ea typeface="+mn-ea"/>
                  <a:cs typeface="+mn-cs"/>
                </a:rPr>
                <a:t>same?</a:t>
              </a:r>
            </a:p>
          </p:txBody>
        </p:sp>
      </p:grpSp>
      <p:grpSp>
        <p:nvGrpSpPr>
          <p:cNvPr id="29" name="Group 29"/>
          <p:cNvGrpSpPr/>
          <p:nvPr/>
        </p:nvGrpSpPr>
        <p:grpSpPr>
          <a:xfrm>
            <a:off x="609600" y="3524250"/>
            <a:ext cx="5410200" cy="1714500"/>
            <a:chOff x="609600" y="3524250"/>
            <a:chExt cx="5410200" cy="1714500"/>
          </a:xfrm>
        </p:grpSpPr>
        <p:sp>
          <p:nvSpPr>
            <p:cNvPr id="21" name="Rectangle 21"/>
            <p:cNvSpPr/>
            <p:nvPr/>
          </p:nvSpPr>
          <p:spPr>
            <a:xfrm>
              <a:off x="609600" y="3524250"/>
              <a:ext cx="5410200" cy="1714500"/>
            </a:xfrm>
            <a:prstGeom prst="roundRect">
              <a:avLst>
                <a:gd name="adj" fmla="val 7778"/>
              </a:avLst>
            </a:prstGeom>
            <a:solidFill>
              <a:srgbClr val="2A1720"/>
            </a:solidFill>
            <a:ln w="14288">
              <a:solidFill>
                <a:srgbClr val="F2685C"/>
              </a:solidFill>
            </a:ln>
          </p:spPr>
        </p:sp>
        <p:sp>
          <p:nvSpPr>
            <p:cNvPr id="22" name="Rectangle 22"/>
            <p:cNvSpPr/>
            <p:nvPr/>
          </p:nvSpPr>
          <p:spPr>
            <a:xfrm>
              <a:off x="609600" y="3524250"/>
              <a:ext cx="57150" cy="1714500"/>
            </a:xfrm>
            <a:prstGeom prst="roundRect">
              <a:avLst>
                <a:gd name="adj" fmla="val 50000"/>
              </a:avLst>
            </a:prstGeom>
            <a:solidFill>
              <a:srgbClr val="F2685C"/>
            </a:solidFill>
            <a:ln>
              <a:noFill/>
            </a:ln>
          </p:spPr>
        </p:sp>
        <p:sp>
          <p:nvSpPr>
            <p:cNvPr id="23" name="TextBox 23"/>
            <p:cNvSpPr txBox="1"/>
            <p:nvPr/>
          </p:nvSpPr>
          <p:spPr>
            <a:xfrm>
              <a:off x="870204" y="3756660"/>
              <a:ext cx="2308250"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Step 2 · kill the plug-in bias</a:t>
              </a:r>
            </a:p>
          </p:txBody>
        </p:sp>
        <p:sp>
          <p:nvSpPr>
            <p:cNvPr id="24" name="TextBox 24"/>
            <p:cNvSpPr txBox="1"/>
            <p:nvPr/>
          </p:nvSpPr>
          <p:spPr>
            <a:xfrm>
              <a:off x="870966" y="4058602"/>
              <a:ext cx="35367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Naively plugging ML estimators into the comparison</a:t>
              </a:r>
            </a:p>
          </p:txBody>
        </p:sp>
        <p:sp>
          <p:nvSpPr>
            <p:cNvPr id="25" name="TextBox 25"/>
            <p:cNvSpPr txBox="1"/>
            <p:nvPr/>
          </p:nvSpPr>
          <p:spPr>
            <a:xfrm>
              <a:off x="870966" y="4258628"/>
              <a:ext cx="39119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introduces heavy bias, so add a mean-zero augmentation</a:t>
              </a:r>
            </a:p>
          </p:txBody>
        </p:sp>
        <p:sp>
          <p:nvSpPr>
            <p:cNvPr id="26" name="TextBox 26"/>
            <p:cNvSpPr txBox="1"/>
            <p:nvPr/>
          </p:nvSpPr>
          <p:spPr>
            <a:xfrm>
              <a:off x="870966" y="4458652"/>
              <a:ext cx="36504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term to get a doubly robust estimating function psi.</a:t>
              </a:r>
            </a:p>
          </p:txBody>
        </p:sp>
        <p:sp>
          <p:nvSpPr>
            <p:cNvPr id="27" name="Rectangle 27"/>
            <p:cNvSpPr/>
            <p:nvPr/>
          </p:nvSpPr>
          <p:spPr>
            <a:xfrm>
              <a:off x="876300" y="4819650"/>
              <a:ext cx="4876800" cy="419100"/>
            </a:xfrm>
            <a:prstGeom prst="roundRect">
              <a:avLst>
                <a:gd name="adj" fmla="val 18182"/>
              </a:avLst>
            </a:prstGeom>
            <a:solidFill>
              <a:schemeClr val="accent6"/>
            </a:solidFill>
            <a:ln w="14288">
              <a:solidFill>
                <a:srgbClr val="26455F"/>
              </a:solidFill>
            </a:ln>
          </p:spPr>
        </p:sp>
        <p:sp>
          <p:nvSpPr>
            <p:cNvPr id="28" name="TextBox 28"/>
            <p:cNvSpPr txBox="1"/>
            <p:nvPr/>
          </p:nvSpPr>
          <p:spPr>
            <a:xfrm>
              <a:off x="1454636" y="4981099"/>
              <a:ext cx="3720127"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psi = naive + mean-zero correction (E psi = 0 under H0)</a:t>
              </a:r>
            </a:p>
          </p:txBody>
        </p:sp>
      </p:grpSp>
      <p:grpSp>
        <p:nvGrpSpPr>
          <p:cNvPr id="39" name="Group 39"/>
          <p:cNvGrpSpPr/>
          <p:nvPr/>
        </p:nvGrpSpPr>
        <p:grpSpPr>
          <a:xfrm>
            <a:off x="6248400" y="1504950"/>
            <a:ext cx="5334000" cy="1476422"/>
            <a:chOff x="6248400" y="1504950"/>
            <a:chExt cx="5334000" cy="1476422"/>
          </a:xfrm>
        </p:grpSpPr>
        <p:sp>
          <p:nvSpPr>
            <p:cNvPr id="30" name="Rectangle 30"/>
            <p:cNvSpPr/>
            <p:nvPr/>
          </p:nvSpPr>
          <p:spPr>
            <a:xfrm>
              <a:off x="6248400" y="1504950"/>
              <a:ext cx="5334000" cy="1428750"/>
            </a:xfrm>
            <a:prstGeom prst="roundRect">
              <a:avLst>
                <a:gd name="adj" fmla="val 9333"/>
              </a:avLst>
            </a:prstGeom>
            <a:solidFill>
              <a:schemeClr val="accent5"/>
            </a:solidFill>
            <a:ln w="14288">
              <a:solidFill>
                <a:srgbClr val="26455F"/>
              </a:solidFill>
            </a:ln>
          </p:spPr>
        </p:sp>
        <p:sp>
          <p:nvSpPr>
            <p:cNvPr id="31" name="Rectangle 31"/>
            <p:cNvSpPr/>
            <p:nvPr/>
          </p:nvSpPr>
          <p:spPr>
            <a:xfrm>
              <a:off x="6248400" y="1504950"/>
              <a:ext cx="57150" cy="1428750"/>
            </a:xfrm>
            <a:prstGeom prst="roundRect">
              <a:avLst>
                <a:gd name="adj" fmla="val 50000"/>
              </a:avLst>
            </a:prstGeom>
            <a:solidFill>
              <a:srgbClr val="34D3C0"/>
            </a:solidFill>
            <a:ln>
              <a:noFill/>
            </a:ln>
          </p:spPr>
        </p:sp>
        <p:sp>
          <p:nvSpPr>
            <p:cNvPr id="32" name="TextBox 32"/>
            <p:cNvSpPr txBox="1"/>
            <p:nvPr/>
          </p:nvSpPr>
          <p:spPr>
            <a:xfrm>
              <a:off x="6509004" y="1737360"/>
              <a:ext cx="2210331"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Step 3 · plug in flexible ML</a:t>
              </a:r>
            </a:p>
          </p:txBody>
        </p:sp>
        <p:sp>
          <p:nvSpPr>
            <p:cNvPr id="33" name="TextBox 33"/>
            <p:cNvSpPr txBox="1"/>
            <p:nvPr/>
          </p:nvSpPr>
          <p:spPr>
            <a:xfrm>
              <a:off x="6509766" y="2039302"/>
              <a:ext cx="365536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correction lets neural nets, random forests, or</a:t>
              </a:r>
            </a:p>
          </p:txBody>
        </p:sp>
        <p:sp>
          <p:nvSpPr>
            <p:cNvPr id="34" name="TextBox 34"/>
            <p:cNvSpPr txBox="1"/>
            <p:nvPr/>
          </p:nvSpPr>
          <p:spPr>
            <a:xfrm>
              <a:off x="6509766" y="2239328"/>
              <a:ext cx="32617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lasso estimate the transition and state-action</a:t>
              </a:r>
            </a:p>
          </p:txBody>
        </p:sp>
        <p:sp>
          <p:nvSpPr>
            <p:cNvPr id="35" name="TextBox 35"/>
            <p:cNvSpPr txBox="1"/>
            <p:nvPr/>
          </p:nvSpPr>
          <p:spPr>
            <a:xfrm>
              <a:off x="6509766" y="2439352"/>
              <a:ext cx="31133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distributions without spoiling the inference.</a:t>
              </a:r>
            </a:p>
          </p:txBody>
        </p:sp>
        <p:sp>
          <p:nvSpPr>
            <p:cNvPr id="36" name="Rectangle 36"/>
            <p:cNvSpPr/>
            <p:nvPr/>
          </p:nvSpPr>
          <p:spPr>
            <a:xfrm>
              <a:off x="6515100" y="2686050"/>
              <a:ext cx="4800600" cy="285750"/>
            </a:xfrm>
            <a:prstGeom prst="roundRect">
              <a:avLst>
                <a:gd name="adj" fmla="val 26667"/>
              </a:avLst>
            </a:prstGeom>
            <a:solidFill>
              <a:schemeClr val="accent6"/>
            </a:solidFill>
            <a:ln w="14288">
              <a:solidFill>
                <a:srgbClr val="26455F"/>
              </a:solidFill>
            </a:ln>
          </p:spPr>
        </p:sp>
        <p:sp>
          <p:nvSpPr>
            <p:cNvPr id="37" name="Ellipse 37"/>
            <p:cNvSpPr/>
            <p:nvPr/>
          </p:nvSpPr>
          <p:spPr>
            <a:xfrm>
              <a:off x="6638925" y="2781300"/>
              <a:ext cx="95250" cy="95250"/>
            </a:xfrm>
            <a:prstGeom prst="ellipse">
              <a:avLst/>
            </a:prstGeom>
            <a:solidFill>
              <a:srgbClr val="34D3C0"/>
            </a:solidFill>
            <a:ln>
              <a:noFill/>
            </a:ln>
          </p:spPr>
        </p:sp>
        <p:sp>
          <p:nvSpPr>
            <p:cNvPr id="38" name="TextBox 38"/>
            <p:cNvSpPr txBox="1"/>
            <p:nvPr/>
          </p:nvSpPr>
          <p:spPr>
            <a:xfrm>
              <a:off x="6833426" y="2768679"/>
              <a:ext cx="278435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neural nets · random forests · lasso</a:t>
              </a:r>
            </a:p>
          </p:txBody>
        </p:sp>
      </p:grpSp>
      <p:grpSp>
        <p:nvGrpSpPr>
          <p:cNvPr id="46" name="Group 46"/>
          <p:cNvGrpSpPr/>
          <p:nvPr/>
        </p:nvGrpSpPr>
        <p:grpSpPr>
          <a:xfrm>
            <a:off x="6248400" y="3086100"/>
            <a:ext cx="5334000" cy="1238250"/>
            <a:chOff x="6248400" y="3086100"/>
            <a:chExt cx="5334000" cy="1238250"/>
          </a:xfrm>
        </p:grpSpPr>
        <p:sp>
          <p:nvSpPr>
            <p:cNvPr id="40" name="Rectangle 40"/>
            <p:cNvSpPr/>
            <p:nvPr/>
          </p:nvSpPr>
          <p:spPr>
            <a:xfrm>
              <a:off x="6248400" y="3086100"/>
              <a:ext cx="5334000" cy="1238250"/>
            </a:xfrm>
            <a:prstGeom prst="roundRect">
              <a:avLst>
                <a:gd name="adj" fmla="val 10769"/>
              </a:avLst>
            </a:prstGeom>
            <a:solidFill>
              <a:schemeClr val="accent5"/>
            </a:solidFill>
            <a:ln w="14288">
              <a:solidFill>
                <a:srgbClr val="26455F"/>
              </a:solidFill>
            </a:ln>
          </p:spPr>
        </p:sp>
        <p:sp>
          <p:nvSpPr>
            <p:cNvPr id="41" name="Rectangle 41"/>
            <p:cNvSpPr/>
            <p:nvPr/>
          </p:nvSpPr>
          <p:spPr>
            <a:xfrm>
              <a:off x="6248400" y="3086100"/>
              <a:ext cx="57150" cy="1238250"/>
            </a:xfrm>
            <a:prstGeom prst="roundRect">
              <a:avLst>
                <a:gd name="adj" fmla="val 50000"/>
              </a:avLst>
            </a:prstGeom>
            <a:solidFill>
              <a:srgbClr val="F2C14E"/>
            </a:solidFill>
            <a:ln>
              <a:noFill/>
            </a:ln>
          </p:spPr>
        </p:sp>
        <p:sp>
          <p:nvSpPr>
            <p:cNvPr id="42" name="TextBox 42"/>
            <p:cNvSpPr txBox="1"/>
            <p:nvPr/>
          </p:nvSpPr>
          <p:spPr>
            <a:xfrm>
              <a:off x="6509004" y="3318510"/>
              <a:ext cx="2927529"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Step 4 · normalize, then bootstrap</a:t>
              </a:r>
            </a:p>
          </p:txBody>
        </p:sp>
        <p:sp>
          <p:nvSpPr>
            <p:cNvPr id="43" name="TextBox 43"/>
            <p:cNvSpPr txBox="1"/>
            <p:nvPr/>
          </p:nvSpPr>
          <p:spPr>
            <a:xfrm>
              <a:off x="6509766" y="3620452"/>
              <a:ext cx="33439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Sample splitting and cross-fitting normalize the</a:t>
              </a:r>
            </a:p>
          </p:txBody>
        </p:sp>
        <p:sp>
          <p:nvSpPr>
            <p:cNvPr id="44" name="TextBox 44"/>
            <p:cNvSpPr txBox="1"/>
            <p:nvPr/>
          </p:nvSpPr>
          <p:spPr>
            <a:xfrm>
              <a:off x="6509766" y="3820478"/>
              <a:ext cx="386248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statistic across candidate points and test functions; a</a:t>
              </a:r>
            </a:p>
          </p:txBody>
        </p:sp>
        <p:sp>
          <p:nvSpPr>
            <p:cNvPr id="45" name="TextBox 45"/>
            <p:cNvSpPr txBox="1"/>
            <p:nvPr/>
          </p:nvSpPr>
          <p:spPr>
            <a:xfrm>
              <a:off x="6509766" y="4020502"/>
              <a:ext cx="335115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Gaussian multiplier bootstrap gives the p-value.</a:t>
              </a:r>
            </a:p>
          </p:txBody>
        </p:sp>
      </p:grpSp>
      <p:sp>
        <p:nvSpPr>
          <p:cNvPr id="47" name="Rectangle 47"/>
          <p:cNvSpPr/>
          <p:nvPr/>
        </p:nvSpPr>
        <p:spPr>
          <a:xfrm>
            <a:off x="6248400" y="4476750"/>
            <a:ext cx="5334000" cy="762000"/>
          </a:xfrm>
          <a:prstGeom prst="roundRect">
            <a:avLst>
              <a:gd name="adj" fmla="val 15000"/>
            </a:avLst>
          </a:prstGeom>
          <a:solidFill>
            <a:schemeClr val="accent6"/>
          </a:solidFill>
          <a:ln w="14288">
            <a:solidFill>
              <a:schemeClr val="accent2"/>
            </a:solidFill>
          </a:ln>
        </p:spPr>
        <p:txBody>
          <a:bodyPr/>
          <a:p/>
        </p:txBody>
      </p:sp>
      <p:sp>
        <p:nvSpPr>
          <p:cNvPr id="48" name="Rectangle 48"/>
          <p:cNvSpPr/>
          <p:nvPr/>
        </p:nvSpPr>
        <p:spPr>
          <a:xfrm>
            <a:off x="6248400" y="4476750"/>
            <a:ext cx="57150" cy="762000"/>
          </a:xfrm>
          <a:prstGeom prst="roundRect">
            <a:avLst>
              <a:gd name="adj" fmla="val 50000"/>
            </a:avLst>
          </a:prstGeom>
          <a:solidFill>
            <a:schemeClr val="accent2"/>
          </a:solidFill>
          <a:ln>
            <a:noFill/>
          </a:ln>
        </p:spPr>
        <p:txBody>
          <a:bodyPr/>
          <a:p/>
        </p:txBody>
      </p:sp>
      <p:sp>
        <p:nvSpPr>
          <p:cNvPr id="49" name="TextBox 49"/>
          <p:cNvSpPr txBox="1"/>
          <p:nvPr/>
        </p:nvSpPr>
        <p:spPr>
          <a:xfrm>
            <a:off x="6510338" y="4623197"/>
            <a:ext cx="936992" cy="183356"/>
          </a:xfrm>
          <a:prstGeom prst="rect">
            <a:avLst/>
          </a:prstGeom>
          <a:noFill/>
          <a:ln>
            <a:noFill/>
          </a:ln>
        </p:spPr>
        <p:txBody>
          <a:bodyPr wrap="none" lIns="0" tIns="0" rIns="0" bIns="0" anchor="t" anchorCtr="0">
            <a:spAutoFit/>
          </a:bodyPr>
          <a:lstStyle/>
          <a:p>
            <a:pPr algn="l"/>
            <a:r>
              <a:rPr lang="en-US" sz="940" b="1" dirty="0">
                <a:solidFill>
                  <a:schemeClr val="accent2"/>
                </a:solidFill>
                <a:latin typeface="+mn-lt"/>
                <a:ea typeface="+mn-ea"/>
                <a:cs typeface="+mn-cs"/>
              </a:rPr>
              <a:t>Test statistic</a:t>
            </a:r>
          </a:p>
        </p:txBody>
      </p:sp>
      <p:sp>
        <p:nvSpPr>
          <p:cNvPr id="50" name="TextBox 50"/>
          <p:cNvSpPr txBox="1"/>
          <p:nvPr/>
        </p:nvSpPr>
        <p:spPr>
          <a:xfrm>
            <a:off x="7007986" y="4907756"/>
            <a:ext cx="3814828"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Gamma = max_t max_h sqrt( t(T-t)/T^2 ) S(t,h)</a:t>
            </a:r>
          </a:p>
        </p:txBody>
      </p:sp>
      <p:sp>
        <p:nvSpPr>
          <p:cNvPr id="51" name="cue_s05_c1_how_test_works_candidate_change" title="cue_s05_c1_how_test_works_candidate_change" descr="cue_s05_c1_how_test_works_candidate_change Here is how the test works. At each candidate change point, it compares the pooled transition dynamics before and after that time using a CUSUM-style statistic."/>
          <p:cNvSpPr/>
          <p:nvPr/>
        </p:nvSpPr>
        <p:spPr>
          <a:xfrm>
            <a:off x="609600" y="1504645"/>
            <a:ext cx="5409590" cy="195864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5_c2_naively_plugging_modern_machine_lear" title="cue_s05_c2_naively_plugging_modern_machine_lear" descr="cue_s05_c2_naively_plugging_modern_machine_lear Naively plugging modern machine-learning estimators into this comparison introduces heavy bias, so the authors add a mean-zero augmentation term, producing a doubly robust estimating function."/>
          <p:cNvSpPr/>
          <p:nvPr/>
        </p:nvSpPr>
        <p:spPr>
          <a:xfrm>
            <a:off x="609600" y="3524326"/>
            <a:ext cx="540959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5_c3_lets_flexible_models_like_neural" title="cue_s05_c3_lets_flexible_models_like_neural" descr="cue_s05_c3_lets_flexible_models_like_neural That lets flexible models like neural networks and random forests estimate the transition and state-action distributions without spoiling the inference."/>
          <p:cNvSpPr/>
          <p:nvPr/>
        </p:nvSpPr>
        <p:spPr>
          <a:xfrm>
            <a:off x="6248399" y="1504645"/>
            <a:ext cx="5334000" cy="147652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5_c4_sample_splitting_cross_fitting_norma" title="cue_s05_c4_sample_splitting_cross_fitting_norma" descr="cue_s05_c4_sample_splitting_cross_fitting_norma Sample splitting and cross-fitting normalize the statistic across candidate points and test functions, and a Gaussian multiplier bootstrap approximates its null distribution to yield the final p-value. The maximum over time and test functions of the normalized"/>
          <p:cNvSpPr/>
          <p:nvPr/>
        </p:nvSpPr>
        <p:spPr>
          <a:xfrm>
            <a:off x="6248399" y="3086100"/>
            <a:ext cx="5334000" cy="12385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34414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simulations and one real trial</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204" y="1708785"/>
              <a:ext cx="9711700"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The method is stress-tested across four numerical studies of rising difficulty, plus one real mobile-health dataset.</a:t>
              </a:r>
            </a:p>
          </p:txBody>
        </p:sp>
      </p:grpSp>
      <p:grpSp>
        <p:nvGrpSpPr>
          <p:cNvPr id="17" name="Group 17"/>
          <p:cNvGrpSpPr/>
          <p:nvPr/>
        </p:nvGrpSpPr>
        <p:grpSpPr>
          <a:xfrm>
            <a:off x="609600" y="2286000"/>
            <a:ext cx="5334000" cy="1428750"/>
            <a:chOff x="609600" y="2286000"/>
            <a:chExt cx="5334000" cy="1428750"/>
          </a:xfrm>
        </p:grpSpPr>
        <p:sp>
          <p:nvSpPr>
            <p:cNvPr id="9" name="Rectangle 9"/>
            <p:cNvSpPr/>
            <p:nvPr/>
          </p:nvSpPr>
          <p:spPr>
            <a:xfrm>
              <a:off x="609600" y="2286000"/>
              <a:ext cx="5334000" cy="1428750"/>
            </a:xfrm>
            <a:prstGeom prst="roundRect">
              <a:avLst>
                <a:gd name="adj" fmla="val 9333"/>
              </a:avLst>
            </a:prstGeom>
            <a:solidFill>
              <a:schemeClr val="accent5"/>
            </a:solidFill>
            <a:ln w="14288">
              <a:solidFill>
                <a:srgbClr val="26455F"/>
              </a:solidFill>
            </a:ln>
          </p:spPr>
        </p:sp>
        <p:sp>
          <p:nvSpPr>
            <p:cNvPr id="10" name="Rectangle 10"/>
            <p:cNvSpPr/>
            <p:nvPr/>
          </p:nvSpPr>
          <p:spPr>
            <a:xfrm>
              <a:off x="609600" y="2286000"/>
              <a:ext cx="57150" cy="1428750"/>
            </a:xfrm>
            <a:prstGeom prst="roundRect">
              <a:avLst>
                <a:gd name="adj" fmla="val 50000"/>
              </a:avLst>
            </a:prstGeom>
            <a:solidFill>
              <a:srgbClr val="34D3C0"/>
            </a:solidFill>
            <a:ln>
              <a:noFill/>
            </a:ln>
          </p:spPr>
        </p:sp>
        <p:sp>
          <p:nvSpPr>
            <p:cNvPr id="11" name="TextBox 11"/>
            <p:cNvSpPr txBox="1"/>
            <p:nvPr/>
          </p:nvSpPr>
          <p:spPr>
            <a:xfrm>
              <a:off x="869823" y="2529364"/>
              <a:ext cx="2914125" cy="249364"/>
            </a:xfrm>
            <a:prstGeom prst="rect">
              <a:avLst/>
            </a:prstGeom>
            <a:noFill/>
            <a:ln>
              <a:noFill/>
            </a:ln>
          </p:spPr>
          <p:txBody>
            <a:bodyPr wrap="none" lIns="0" tIns="0" rIns="0" bIns="0" anchor="t" anchorCtr="0">
              <a:spAutoFit/>
            </a:bodyPr>
            <a:lstStyle/>
            <a:p>
              <a:pPr algn="l"/>
              <a:r>
                <a:rPr lang="en-US" sz="1280" b="1" dirty="0">
                  <a:solidFill>
                    <a:srgbClr val="34D3C0"/>
                  </a:solidFill>
                  <a:latin typeface="+mn-lt"/>
                  <a:ea typeface="+mn-ea"/>
                  <a:cs typeface="+mn-cs"/>
                </a:rPr>
                <a:t>Toy example + high-dim synthetic</a:t>
              </a:r>
            </a:p>
          </p:txBody>
        </p:sp>
        <p:sp>
          <p:nvSpPr>
            <p:cNvPr id="12" name="TextBox 12"/>
            <p:cNvSpPr txBox="1"/>
            <p:nvPr/>
          </p:nvSpPr>
          <p:spPr>
            <a:xfrm>
              <a:off x="870966" y="2858452"/>
              <a:ext cx="435496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discrete-state toy shows double robustness; synthetic data</a:t>
              </a:r>
            </a:p>
          </p:txBody>
        </p:sp>
        <p:sp>
          <p:nvSpPr>
            <p:cNvPr id="13" name="TextBox 13"/>
            <p:cNvSpPr txBox="1"/>
            <p:nvPr/>
          </p:nvSpPr>
          <p:spPr>
            <a:xfrm>
              <a:off x="870966" y="3058478"/>
              <a:ext cx="305678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pushes the state dimension from 1 up to 30.</a:t>
              </a:r>
            </a:p>
          </p:txBody>
        </p:sp>
        <p:sp>
          <p:nvSpPr>
            <p:cNvPr id="14" name="Rectangle 14"/>
            <p:cNvSpPr/>
            <p:nvPr/>
          </p:nvSpPr>
          <p:spPr>
            <a:xfrm>
              <a:off x="876300" y="3352800"/>
              <a:ext cx="4457700" cy="285750"/>
            </a:xfrm>
            <a:prstGeom prst="roundRect">
              <a:avLst>
                <a:gd name="adj" fmla="val 26667"/>
              </a:avLst>
            </a:prstGeom>
            <a:solidFill>
              <a:schemeClr val="accent6"/>
            </a:solidFill>
            <a:ln w="14288">
              <a:solidFill>
                <a:srgbClr val="26455F"/>
              </a:solidFill>
            </a:ln>
          </p:spPr>
        </p:sp>
        <p:sp>
          <p:nvSpPr>
            <p:cNvPr id="15" name="Ellipse 15"/>
            <p:cNvSpPr/>
            <p:nvPr/>
          </p:nvSpPr>
          <p:spPr>
            <a:xfrm>
              <a:off x="1000125" y="3448050"/>
              <a:ext cx="95250" cy="95250"/>
            </a:xfrm>
            <a:prstGeom prst="ellipse">
              <a:avLst/>
            </a:prstGeom>
            <a:solidFill>
              <a:srgbClr val="34D3C0"/>
            </a:solidFill>
            <a:ln>
              <a:noFill/>
            </a:ln>
          </p:spPr>
        </p:sp>
        <p:sp>
          <p:nvSpPr>
            <p:cNvPr id="16" name="TextBox 16"/>
            <p:cNvSpPr txBox="1"/>
            <p:nvPr/>
          </p:nvSpPr>
          <p:spPr>
            <a:xfrm>
              <a:off x="1194626" y="3435429"/>
              <a:ext cx="310471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vs ODCP · vs CUSUM-RL state dim 1 -&gt; 30</a:t>
              </a:r>
            </a:p>
          </p:txBody>
        </p:sp>
      </p:grpSp>
      <p:grpSp>
        <p:nvGrpSpPr>
          <p:cNvPr id="26" name="Group 26"/>
          <p:cNvGrpSpPr/>
          <p:nvPr/>
        </p:nvGrpSpPr>
        <p:grpSpPr>
          <a:xfrm>
            <a:off x="6248400" y="2286000"/>
            <a:ext cx="5334000" cy="1428750"/>
            <a:chOff x="6248400" y="2286000"/>
            <a:chExt cx="5334000" cy="1428750"/>
          </a:xfrm>
        </p:grpSpPr>
        <p:sp>
          <p:nvSpPr>
            <p:cNvPr id="18" name="Rectangle 18"/>
            <p:cNvSpPr/>
            <p:nvPr/>
          </p:nvSpPr>
          <p:spPr>
            <a:xfrm>
              <a:off x="6248400" y="2286000"/>
              <a:ext cx="5334000" cy="1428750"/>
            </a:xfrm>
            <a:prstGeom prst="roundRect">
              <a:avLst>
                <a:gd name="adj" fmla="val 9333"/>
              </a:avLst>
            </a:prstGeom>
            <a:solidFill>
              <a:schemeClr val="accent5"/>
            </a:solidFill>
            <a:ln w="14288">
              <a:solidFill>
                <a:srgbClr val="26455F"/>
              </a:solidFill>
            </a:ln>
          </p:spPr>
        </p:sp>
        <p:sp>
          <p:nvSpPr>
            <p:cNvPr id="19" name="Rectangle 19"/>
            <p:cNvSpPr/>
            <p:nvPr/>
          </p:nvSpPr>
          <p:spPr>
            <a:xfrm>
              <a:off x="6248400" y="2286000"/>
              <a:ext cx="57150" cy="1428750"/>
            </a:xfrm>
            <a:prstGeom prst="roundRect">
              <a:avLst>
                <a:gd name="adj" fmla="val 50000"/>
              </a:avLst>
            </a:prstGeom>
            <a:solidFill>
              <a:srgbClr val="F2C14E"/>
            </a:solidFill>
            <a:ln>
              <a:noFill/>
            </a:ln>
          </p:spPr>
        </p:sp>
        <p:sp>
          <p:nvSpPr>
            <p:cNvPr id="20" name="TextBox 20"/>
            <p:cNvSpPr txBox="1"/>
            <p:nvPr/>
          </p:nvSpPr>
          <p:spPr>
            <a:xfrm>
              <a:off x="6508623" y="2529364"/>
              <a:ext cx="2226538" cy="249364"/>
            </a:xfrm>
            <a:prstGeom prst="rect">
              <a:avLst/>
            </a:prstGeom>
            <a:noFill/>
            <a:ln>
              <a:noFill/>
            </a:ln>
          </p:spPr>
          <p:txBody>
            <a:bodyPr wrap="none" lIns="0" tIns="0" rIns="0" bIns="0" anchor="t" anchorCtr="0">
              <a:spAutoFit/>
            </a:bodyPr>
            <a:lstStyle/>
            <a:p>
              <a:pPr algn="l"/>
              <a:r>
                <a:rPr lang="en-US" sz="1280" b="1" dirty="0">
                  <a:solidFill>
                    <a:srgbClr val="F2C14E"/>
                  </a:solidFill>
                  <a:latin typeface="+mn-lt"/>
                  <a:ea typeface="+mn-ea"/>
                  <a:cs typeface="+mn-cs"/>
                </a:rPr>
                <a:t>Grid world + batch-online</a:t>
              </a:r>
            </a:p>
          </p:txBody>
        </p:sp>
        <p:sp>
          <p:nvSpPr>
            <p:cNvPr id="21" name="TextBox 21"/>
            <p:cNvSpPr txBox="1"/>
            <p:nvPr/>
          </p:nvSpPr>
          <p:spPr>
            <a:xfrm>
              <a:off x="6509766" y="2858452"/>
              <a:ext cx="392383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4x4 grid world shows change detection improving policy</a:t>
              </a:r>
            </a:p>
          </p:txBody>
        </p:sp>
        <p:sp>
          <p:nvSpPr>
            <p:cNvPr id="22" name="TextBox 22"/>
            <p:cNvSpPr txBox="1"/>
            <p:nvPr/>
          </p:nvSpPr>
          <p:spPr>
            <a:xfrm>
              <a:off x="6509766" y="3058478"/>
              <a:ext cx="362218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learning; a batch-online study mimics the real trial.</a:t>
              </a:r>
            </a:p>
          </p:txBody>
        </p:sp>
        <p:sp>
          <p:nvSpPr>
            <p:cNvPr id="23" name="Rectangle 23"/>
            <p:cNvSpPr/>
            <p:nvPr/>
          </p:nvSpPr>
          <p:spPr>
            <a:xfrm>
              <a:off x="6515100" y="3352800"/>
              <a:ext cx="4457700" cy="285750"/>
            </a:xfrm>
            <a:prstGeom prst="roundRect">
              <a:avLst>
                <a:gd name="adj" fmla="val 26667"/>
              </a:avLst>
            </a:prstGeom>
            <a:solidFill>
              <a:schemeClr val="accent6"/>
            </a:solidFill>
            <a:ln w="14288">
              <a:solidFill>
                <a:srgbClr val="26455F"/>
              </a:solidFill>
            </a:ln>
          </p:spPr>
        </p:sp>
        <p:sp>
          <p:nvSpPr>
            <p:cNvPr id="24" name="Ellipse 24"/>
            <p:cNvSpPr/>
            <p:nvPr/>
          </p:nvSpPr>
          <p:spPr>
            <a:xfrm>
              <a:off x="6638925" y="3448050"/>
              <a:ext cx="95250" cy="95250"/>
            </a:xfrm>
            <a:prstGeom prst="ellipse">
              <a:avLst/>
            </a:prstGeom>
            <a:solidFill>
              <a:srgbClr val="F2C14E"/>
            </a:solidFill>
            <a:ln>
              <a:noFill/>
            </a:ln>
          </p:spPr>
        </p:sp>
        <p:sp>
          <p:nvSpPr>
            <p:cNvPr id="25" name="TextBox 25"/>
            <p:cNvSpPr txBox="1"/>
            <p:nvPr/>
          </p:nvSpPr>
          <p:spPr>
            <a:xfrm>
              <a:off x="6833426" y="3435429"/>
              <a:ext cx="333901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4x4 grid world · semi-synthetic online study</a:t>
              </a:r>
            </a:p>
          </p:txBody>
        </p:sp>
      </p:grpSp>
      <p:grpSp>
        <p:nvGrpSpPr>
          <p:cNvPr id="33" name="Group 33"/>
          <p:cNvGrpSpPr/>
          <p:nvPr/>
        </p:nvGrpSpPr>
        <p:grpSpPr>
          <a:xfrm>
            <a:off x="609600" y="3905250"/>
            <a:ext cx="10972800" cy="1333500"/>
            <a:chOff x="609600" y="3905250"/>
            <a:chExt cx="10972800" cy="1333500"/>
          </a:xfrm>
        </p:grpSpPr>
        <p:sp>
          <p:nvSpPr>
            <p:cNvPr id="27" name="Rectangle 27"/>
            <p:cNvSpPr/>
            <p:nvPr/>
          </p:nvSpPr>
          <p:spPr>
            <a:xfrm>
              <a:off x="609600" y="3905250"/>
              <a:ext cx="10972800" cy="1333500"/>
            </a:xfrm>
            <a:prstGeom prst="roundRect">
              <a:avLst>
                <a:gd name="adj" fmla="val 10000"/>
              </a:avLst>
            </a:prstGeom>
            <a:solidFill>
              <a:srgbClr val="0F2E2B"/>
            </a:solidFill>
            <a:ln w="14288">
              <a:solidFill>
                <a:srgbClr val="48C78E"/>
              </a:solidFill>
            </a:ln>
          </p:spPr>
        </p:sp>
        <p:sp>
          <p:nvSpPr>
            <p:cNvPr id="28" name="Rectangle 28"/>
            <p:cNvSpPr/>
            <p:nvPr/>
          </p:nvSpPr>
          <p:spPr>
            <a:xfrm>
              <a:off x="609600" y="3905250"/>
              <a:ext cx="57150" cy="1333500"/>
            </a:xfrm>
            <a:prstGeom prst="roundRect">
              <a:avLst>
                <a:gd name="adj" fmla="val 50000"/>
              </a:avLst>
            </a:prstGeom>
            <a:solidFill>
              <a:srgbClr val="48C78E"/>
            </a:solidFill>
            <a:ln>
              <a:noFill/>
            </a:ln>
          </p:spPr>
        </p:sp>
        <p:sp>
          <p:nvSpPr>
            <p:cNvPr id="29" name="TextBox 29"/>
            <p:cNvSpPr txBox="1"/>
            <p:nvPr/>
          </p:nvSpPr>
          <p:spPr>
            <a:xfrm>
              <a:off x="869823" y="4129564"/>
              <a:ext cx="3641142" cy="249364"/>
            </a:xfrm>
            <a:prstGeom prst="rect">
              <a:avLst/>
            </a:prstGeom>
            <a:noFill/>
            <a:ln>
              <a:noFill/>
            </a:ln>
          </p:spPr>
          <p:txBody>
            <a:bodyPr wrap="none" lIns="0" tIns="0" rIns="0" bIns="0" anchor="t" anchorCtr="0">
              <a:spAutoFit/>
            </a:bodyPr>
            <a:lstStyle/>
            <a:p>
              <a:pPr algn="l"/>
              <a:r>
                <a:rPr lang="en-US" sz="1280" b="1" dirty="0">
                  <a:solidFill>
                    <a:srgbClr val="48C78E"/>
                  </a:solidFill>
                  <a:latin typeface="+mn-lt"/>
                  <a:ea typeface="+mn-ea"/>
                  <a:cs typeface="+mn-cs"/>
                </a:rPr>
                <a:t>Real data · the Intern Health Study (IHS)</a:t>
              </a:r>
            </a:p>
          </p:txBody>
        </p:sp>
        <p:sp>
          <p:nvSpPr>
            <p:cNvPr id="30" name="TextBox 30"/>
            <p:cNvSpPr txBox="1"/>
            <p:nvPr/>
          </p:nvSpPr>
          <p:spPr>
            <a:xfrm>
              <a:off x="870776" y="4454604"/>
              <a:ext cx="7898790"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 21-week micro-randomized mobile-health trial of first-year medical interns in the United States, the study</a:t>
              </a:r>
            </a:p>
          </p:txBody>
        </p:sp>
        <p:sp>
          <p:nvSpPr>
            <p:cNvPr id="31" name="TextBox 31"/>
            <p:cNvSpPr txBox="1"/>
            <p:nvPr/>
          </p:nvSpPr>
          <p:spPr>
            <a:xfrm>
              <a:off x="870776" y="4673679"/>
              <a:ext cx="246153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that motivated the whole method.</a:t>
              </a:r>
            </a:p>
          </p:txBody>
        </p:sp>
        <p:sp>
          <p:nvSpPr>
            <p:cNvPr id="32" name="TextBox 32"/>
            <p:cNvSpPr txBox="1"/>
            <p:nvPr/>
          </p:nvSpPr>
          <p:spPr>
            <a:xfrm>
              <a:off x="871156" y="4996101"/>
              <a:ext cx="4998944"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Consolas"/>
                  <a:ea typeface="Consolas"/>
                  <a:cs typeface="Consolas"/>
                </a:rPr>
                <a:t>21 weeks · micro-randomized trial · Internal Medicine &amp; Family Practice</a:t>
              </a:r>
            </a:p>
          </p:txBody>
        </p:sp>
      </p:grpSp>
      <p:sp>
        <p:nvSpPr>
          <p:cNvPr id="34" name="cue_s06_c1_method_stress_tested_across_four_num" title="cue_s06_c1_method_stress_tested_across_four_num" descr="cue_s06_c1_method_stress_tested_across_four_num The method is stress-tested across four numerical studies and one real dataset. A discrete-state toy example illustrates the double robustness property directly."/>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2_high_dimensional_synthetic_pushes_st" title="cue_s06_c2_high_dimensional_synthetic_pushes_st" descr="cue_s06_c2_high_dimensional_synthetic_pushes_st High-dimensional synthetic data pushes the state dimension from one up to thirty and pits the test against two existing baselines, ODCP and CUSUM-RL."/>
          <p:cNvSpPr/>
          <p:nvPr/>
        </p:nvSpPr>
        <p:spPr>
          <a:xfrm>
            <a:off x="609600"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6_c3_four_by_four_grid_world_shows_how" title="cue_s06_c3_four_by_four_grid_world_shows_how" descr="cue_s06_c3_four_by_four_grid_world_shows_how A four-by-four grid world shows how detecting the change point improves policy learning, and a batch-online semi-synthetic study mimics the structure of the real trial."/>
          <p:cNvSpPr/>
          <p:nvPr/>
        </p:nvSpPr>
        <p:spPr>
          <a:xfrm>
            <a:off x="6248399" y="2285771"/>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6_c4_finally_authors_apply_test_intern" title="cue_s06_c4_finally_authors_apply_test_intern" descr="cue_s06_c4_finally_authors_apply_test_intern Finally, the authors apply the test to the Intern Health Study, a twenty-one-week mobile-health micro-randomized trial of medical interns in the United States."/>
          <p:cNvSpPr/>
          <p:nvPr/>
        </p:nvSpPr>
        <p:spPr>
          <a:xfrm>
            <a:off x="609600" y="3904945"/>
            <a:ext cx="109728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723691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Robust where baselines break: high dimensions</a:t>
            </a:r>
          </a:p>
        </p:txBody>
      </p:sp>
      <p:grpSp>
        <p:nvGrpSpPr>
          <p:cNvPr id="8" name="Group 8"/>
          <p:cNvGrpSpPr/>
          <p:nvPr/>
        </p:nvGrpSpPr>
        <p:grpSpPr>
          <a:xfrm>
            <a:off x="609600" y="1428750"/>
            <a:ext cx="10972800" cy="476250"/>
            <a:chOff x="609600" y="1428750"/>
            <a:chExt cx="10972800" cy="476250"/>
          </a:xfrm>
        </p:grpSpPr>
        <p:sp>
          <p:nvSpPr>
            <p:cNvPr id="5" name="Rectangle 5"/>
            <p:cNvSpPr/>
            <p:nvPr/>
          </p:nvSpPr>
          <p:spPr>
            <a:xfrm>
              <a:off x="609600" y="1428750"/>
              <a:ext cx="10972800" cy="476250"/>
            </a:xfrm>
            <a:prstGeom prst="roundRect">
              <a:avLst>
                <a:gd name="adj" fmla="val 28000"/>
              </a:avLst>
            </a:prstGeom>
            <a:solidFill>
              <a:schemeClr val="accent5"/>
            </a:solidFill>
            <a:ln w="14288">
              <a:solidFill>
                <a:srgbClr val="26455F"/>
              </a:solidFill>
            </a:ln>
          </p:spPr>
        </p:sp>
        <p:sp>
          <p:nvSpPr>
            <p:cNvPr id="6" name="Rectangle 6"/>
            <p:cNvSpPr/>
            <p:nvPr/>
          </p:nvSpPr>
          <p:spPr>
            <a:xfrm>
              <a:off x="609600" y="1428750"/>
              <a:ext cx="57150" cy="476250"/>
            </a:xfrm>
            <a:prstGeom prst="roundRect">
              <a:avLst>
                <a:gd name="adj" fmla="val 50000"/>
              </a:avLst>
            </a:prstGeom>
            <a:solidFill>
              <a:srgbClr val="48C78E"/>
            </a:solidFill>
            <a:ln>
              <a:noFill/>
            </a:ln>
          </p:spPr>
        </p:sp>
        <p:sp>
          <p:nvSpPr>
            <p:cNvPr id="7" name="TextBox 7"/>
            <p:cNvSpPr txBox="1"/>
            <p:nvPr/>
          </p:nvSpPr>
          <p:spPr>
            <a:xfrm>
              <a:off x="870014" y="1599962"/>
              <a:ext cx="8326498"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The headline finding is robustness to dimensionality: the test keeps working as the state grows.</a:t>
              </a:r>
            </a:p>
          </p:txBody>
        </p:sp>
      </p:grpSp>
      <p:grpSp>
        <p:nvGrpSpPr>
          <p:cNvPr id="43" name="Group 43"/>
          <p:cNvGrpSpPr/>
          <p:nvPr/>
        </p:nvGrpSpPr>
        <p:grpSpPr>
          <a:xfrm>
            <a:off x="609600" y="2038350"/>
            <a:ext cx="5334000" cy="2514600"/>
            <a:chOff x="609600" y="2038350"/>
            <a:chExt cx="5334000" cy="2514600"/>
          </a:xfrm>
        </p:grpSpPr>
        <p:sp>
          <p:nvSpPr>
            <p:cNvPr id="9" name="Rectangle 9"/>
            <p:cNvSpPr/>
            <p:nvPr/>
          </p:nvSpPr>
          <p:spPr>
            <a:xfrm>
              <a:off x="609600" y="2038350"/>
              <a:ext cx="5334000" cy="2514600"/>
            </a:xfrm>
            <a:prstGeom prst="roundRect">
              <a:avLst>
                <a:gd name="adj" fmla="val 5303"/>
              </a:avLst>
            </a:prstGeom>
            <a:solidFill>
              <a:schemeClr val="accent5"/>
            </a:solidFill>
            <a:ln w="14288">
              <a:solidFill>
                <a:srgbClr val="26455F"/>
              </a:solidFill>
            </a:ln>
          </p:spPr>
        </p:sp>
        <p:sp>
          <p:nvSpPr>
            <p:cNvPr id="10" name="Rectangle 10"/>
            <p:cNvSpPr/>
            <p:nvPr/>
          </p:nvSpPr>
          <p:spPr>
            <a:xfrm>
              <a:off x="609600" y="2038350"/>
              <a:ext cx="57150" cy="2514600"/>
            </a:xfrm>
            <a:prstGeom prst="roundRect">
              <a:avLst>
                <a:gd name="adj" fmla="val 50000"/>
              </a:avLst>
            </a:prstGeom>
            <a:solidFill>
              <a:srgbClr val="34D3C0"/>
            </a:solidFill>
            <a:ln>
              <a:noFill/>
            </a:ln>
          </p:spPr>
        </p:sp>
        <p:sp>
          <p:nvSpPr>
            <p:cNvPr id="11" name="TextBox 11"/>
            <p:cNvSpPr txBox="1"/>
            <p:nvPr/>
          </p:nvSpPr>
          <p:spPr>
            <a:xfrm>
              <a:off x="870394" y="2255758"/>
              <a:ext cx="3599974"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Correct change-point detection by state dim</a:t>
              </a:r>
            </a:p>
          </p:txBody>
        </p:sp>
        <p:sp>
          <p:nvSpPr>
            <p:cNvPr id="12" name="TextBox 12"/>
            <p:cNvSpPr txBox="1"/>
            <p:nvPr/>
          </p:nvSpPr>
          <p:spPr>
            <a:xfrm>
              <a:off x="2314858" y="2637949"/>
              <a:ext cx="323284"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dS=1</a:t>
              </a:r>
            </a:p>
          </p:txBody>
        </p:sp>
        <p:sp>
          <p:nvSpPr>
            <p:cNvPr id="13" name="TextBox 13"/>
            <p:cNvSpPr txBox="1"/>
            <p:nvPr/>
          </p:nvSpPr>
          <p:spPr>
            <a:xfrm>
              <a:off x="3266286" y="2637949"/>
              <a:ext cx="401628"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dS=10</a:t>
              </a:r>
            </a:p>
          </p:txBody>
        </p:sp>
        <p:sp>
          <p:nvSpPr>
            <p:cNvPr id="14" name="TextBox 14"/>
            <p:cNvSpPr txBox="1"/>
            <p:nvPr/>
          </p:nvSpPr>
          <p:spPr>
            <a:xfrm>
              <a:off x="4256886" y="2637949"/>
              <a:ext cx="401628"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dS=20</a:t>
              </a:r>
            </a:p>
          </p:txBody>
        </p:sp>
        <p:sp>
          <p:nvSpPr>
            <p:cNvPr id="15" name="TextBox 15"/>
            <p:cNvSpPr txBox="1"/>
            <p:nvPr/>
          </p:nvSpPr>
          <p:spPr>
            <a:xfrm>
              <a:off x="5247486" y="2637949"/>
              <a:ext cx="401628" cy="190690"/>
            </a:xfrm>
            <a:prstGeom prst="rect">
              <a:avLst/>
            </a:prstGeom>
            <a:noFill/>
            <a:ln>
              <a:noFill/>
            </a:ln>
          </p:spPr>
          <p:txBody>
            <a:bodyPr wrap="none" lIns="0" tIns="0" rIns="0" bIns="0" anchor="t" anchorCtr="0">
              <a:spAutoFit/>
            </a:bodyPr>
            <a:lstStyle/>
            <a:p>
              <a:pPr algn="ctr"/>
              <a:r>
                <a:rPr lang="en-US" sz="980" b="1" dirty="0">
                  <a:solidFill>
                    <a:schemeClr val="dk2"/>
                  </a:solidFill>
                  <a:latin typeface="+mn-lt"/>
                  <a:ea typeface="+mn-ea"/>
                  <a:cs typeface="+mn-cs"/>
                </a:rPr>
                <a:t>dS=30</a:t>
              </a:r>
            </a:p>
          </p:txBody>
        </p:sp>
        <p:sp>
          <p:nvSpPr>
            <p:cNvPr id="16" name="TextBox 16"/>
            <p:cNvSpPr txBox="1"/>
            <p:nvPr/>
          </p:nvSpPr>
          <p:spPr>
            <a:xfrm>
              <a:off x="947356" y="3027093"/>
              <a:ext cx="642895"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Proposed</a:t>
              </a:r>
            </a:p>
          </p:txBody>
        </p:sp>
        <p:sp>
          <p:nvSpPr>
            <p:cNvPr id="17" name="Rectangle 17"/>
            <p:cNvSpPr/>
            <p:nvPr/>
          </p:nvSpPr>
          <p:spPr>
            <a:xfrm>
              <a:off x="2019300" y="2876550"/>
              <a:ext cx="914400" cy="419100"/>
            </a:xfrm>
            <a:prstGeom prst="roundRect">
              <a:avLst>
                <a:gd name="adj" fmla="val 18182"/>
              </a:avLst>
            </a:prstGeom>
            <a:solidFill>
              <a:srgbClr val="0F2E2B"/>
            </a:solidFill>
            <a:ln w="13335">
              <a:solidFill>
                <a:srgbClr val="48C78E"/>
              </a:solidFill>
            </a:ln>
          </p:spPr>
        </p:sp>
        <p:sp>
          <p:nvSpPr>
            <p:cNvPr id="18" name="TextBox 18"/>
            <p:cNvSpPr txBox="1"/>
            <p:nvPr/>
          </p:nvSpPr>
          <p:spPr>
            <a:xfrm>
              <a:off x="2369233" y="3039809"/>
              <a:ext cx="214533"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OK</a:t>
              </a:r>
            </a:p>
          </p:txBody>
        </p:sp>
        <p:sp>
          <p:nvSpPr>
            <p:cNvPr id="19" name="Rectangle 19"/>
            <p:cNvSpPr/>
            <p:nvPr/>
          </p:nvSpPr>
          <p:spPr>
            <a:xfrm>
              <a:off x="3009900" y="2876550"/>
              <a:ext cx="914400" cy="419100"/>
            </a:xfrm>
            <a:prstGeom prst="roundRect">
              <a:avLst>
                <a:gd name="adj" fmla="val 18182"/>
              </a:avLst>
            </a:prstGeom>
            <a:solidFill>
              <a:srgbClr val="0F2E2B"/>
            </a:solidFill>
            <a:ln w="13335">
              <a:solidFill>
                <a:srgbClr val="48C78E"/>
              </a:solidFill>
            </a:ln>
          </p:spPr>
        </p:sp>
        <p:sp>
          <p:nvSpPr>
            <p:cNvPr id="20" name="TextBox 20"/>
            <p:cNvSpPr txBox="1"/>
            <p:nvPr/>
          </p:nvSpPr>
          <p:spPr>
            <a:xfrm>
              <a:off x="3359833" y="3039809"/>
              <a:ext cx="214533"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OK</a:t>
              </a:r>
            </a:p>
          </p:txBody>
        </p:sp>
        <p:sp>
          <p:nvSpPr>
            <p:cNvPr id="21" name="Rectangle 21"/>
            <p:cNvSpPr/>
            <p:nvPr/>
          </p:nvSpPr>
          <p:spPr>
            <a:xfrm>
              <a:off x="4000500" y="2876550"/>
              <a:ext cx="914400" cy="419100"/>
            </a:xfrm>
            <a:prstGeom prst="roundRect">
              <a:avLst>
                <a:gd name="adj" fmla="val 18182"/>
              </a:avLst>
            </a:prstGeom>
            <a:solidFill>
              <a:srgbClr val="0F2E2B"/>
            </a:solidFill>
            <a:ln w="13335">
              <a:solidFill>
                <a:srgbClr val="48C78E"/>
              </a:solidFill>
            </a:ln>
          </p:spPr>
        </p:sp>
        <p:sp>
          <p:nvSpPr>
            <p:cNvPr id="22" name="TextBox 22"/>
            <p:cNvSpPr txBox="1"/>
            <p:nvPr/>
          </p:nvSpPr>
          <p:spPr>
            <a:xfrm>
              <a:off x="4350433" y="3039809"/>
              <a:ext cx="214533"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OK</a:t>
              </a:r>
            </a:p>
          </p:txBody>
        </p:sp>
        <p:sp>
          <p:nvSpPr>
            <p:cNvPr id="23" name="Rectangle 23"/>
            <p:cNvSpPr/>
            <p:nvPr/>
          </p:nvSpPr>
          <p:spPr>
            <a:xfrm>
              <a:off x="4991100" y="2876550"/>
              <a:ext cx="914400" cy="419100"/>
            </a:xfrm>
            <a:prstGeom prst="roundRect">
              <a:avLst>
                <a:gd name="adj" fmla="val 18182"/>
              </a:avLst>
            </a:prstGeom>
            <a:solidFill>
              <a:srgbClr val="0F2E2B"/>
            </a:solidFill>
            <a:ln w="13335">
              <a:solidFill>
                <a:srgbClr val="48C78E"/>
              </a:solidFill>
            </a:ln>
          </p:spPr>
        </p:sp>
        <p:sp>
          <p:nvSpPr>
            <p:cNvPr id="24" name="TextBox 24"/>
            <p:cNvSpPr txBox="1"/>
            <p:nvPr/>
          </p:nvSpPr>
          <p:spPr>
            <a:xfrm>
              <a:off x="5341033" y="3039809"/>
              <a:ext cx="214533"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OK</a:t>
              </a:r>
            </a:p>
          </p:txBody>
        </p:sp>
        <p:sp>
          <p:nvSpPr>
            <p:cNvPr id="25" name="TextBox 25"/>
            <p:cNvSpPr txBox="1"/>
            <p:nvPr/>
          </p:nvSpPr>
          <p:spPr>
            <a:xfrm>
              <a:off x="947356" y="3522393"/>
              <a:ext cx="70417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CUSUM-RL</a:t>
              </a:r>
            </a:p>
          </p:txBody>
        </p:sp>
        <p:sp>
          <p:nvSpPr>
            <p:cNvPr id="26" name="Rectangle 26"/>
            <p:cNvSpPr/>
            <p:nvPr/>
          </p:nvSpPr>
          <p:spPr>
            <a:xfrm>
              <a:off x="2019300" y="3371850"/>
              <a:ext cx="914400" cy="419100"/>
            </a:xfrm>
            <a:prstGeom prst="roundRect">
              <a:avLst>
                <a:gd name="adj" fmla="val 18182"/>
              </a:avLst>
            </a:prstGeom>
            <a:solidFill>
              <a:srgbClr val="0F2E2B"/>
            </a:solidFill>
            <a:ln w="13335">
              <a:solidFill>
                <a:srgbClr val="48C78E"/>
              </a:solidFill>
            </a:ln>
          </p:spPr>
        </p:sp>
        <p:sp>
          <p:nvSpPr>
            <p:cNvPr id="27" name="TextBox 27"/>
            <p:cNvSpPr txBox="1"/>
            <p:nvPr/>
          </p:nvSpPr>
          <p:spPr>
            <a:xfrm>
              <a:off x="2369233" y="3535109"/>
              <a:ext cx="214533"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OK</a:t>
              </a:r>
            </a:p>
          </p:txBody>
        </p:sp>
        <p:sp>
          <p:nvSpPr>
            <p:cNvPr id="28" name="Rectangle 28"/>
            <p:cNvSpPr/>
            <p:nvPr/>
          </p:nvSpPr>
          <p:spPr>
            <a:xfrm>
              <a:off x="3009900" y="3371850"/>
              <a:ext cx="914400" cy="419100"/>
            </a:xfrm>
            <a:prstGeom prst="roundRect">
              <a:avLst>
                <a:gd name="adj" fmla="val 18182"/>
              </a:avLst>
            </a:prstGeom>
            <a:solidFill>
              <a:srgbClr val="2A1720"/>
            </a:solidFill>
            <a:ln w="13335">
              <a:solidFill>
                <a:srgbClr val="F2685C"/>
              </a:solidFill>
            </a:ln>
          </p:spPr>
        </p:sp>
        <p:sp>
          <p:nvSpPr>
            <p:cNvPr id="29" name="TextBox 29"/>
            <p:cNvSpPr txBox="1"/>
            <p:nvPr/>
          </p:nvSpPr>
          <p:spPr>
            <a:xfrm>
              <a:off x="3335610" y="35351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sp>
          <p:nvSpPr>
            <p:cNvPr id="30" name="Rectangle 30"/>
            <p:cNvSpPr/>
            <p:nvPr/>
          </p:nvSpPr>
          <p:spPr>
            <a:xfrm>
              <a:off x="4000500" y="3371850"/>
              <a:ext cx="914400" cy="419100"/>
            </a:xfrm>
            <a:prstGeom prst="roundRect">
              <a:avLst>
                <a:gd name="adj" fmla="val 18182"/>
              </a:avLst>
            </a:prstGeom>
            <a:solidFill>
              <a:srgbClr val="2A1720"/>
            </a:solidFill>
            <a:ln w="13335">
              <a:solidFill>
                <a:srgbClr val="F2685C"/>
              </a:solidFill>
            </a:ln>
          </p:spPr>
        </p:sp>
        <p:sp>
          <p:nvSpPr>
            <p:cNvPr id="31" name="TextBox 31"/>
            <p:cNvSpPr txBox="1"/>
            <p:nvPr/>
          </p:nvSpPr>
          <p:spPr>
            <a:xfrm>
              <a:off x="4326210" y="35351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sp>
          <p:nvSpPr>
            <p:cNvPr id="32" name="Rectangle 32"/>
            <p:cNvSpPr/>
            <p:nvPr/>
          </p:nvSpPr>
          <p:spPr>
            <a:xfrm>
              <a:off x="4991100" y="3371850"/>
              <a:ext cx="914400" cy="419100"/>
            </a:xfrm>
            <a:prstGeom prst="roundRect">
              <a:avLst>
                <a:gd name="adj" fmla="val 18182"/>
              </a:avLst>
            </a:prstGeom>
            <a:solidFill>
              <a:srgbClr val="2A1720"/>
            </a:solidFill>
            <a:ln w="13335">
              <a:solidFill>
                <a:srgbClr val="F2685C"/>
              </a:solidFill>
            </a:ln>
          </p:spPr>
        </p:sp>
        <p:sp>
          <p:nvSpPr>
            <p:cNvPr id="33" name="TextBox 33"/>
            <p:cNvSpPr txBox="1"/>
            <p:nvPr/>
          </p:nvSpPr>
          <p:spPr>
            <a:xfrm>
              <a:off x="5316810" y="35351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sp>
          <p:nvSpPr>
            <p:cNvPr id="34" name="TextBox 34"/>
            <p:cNvSpPr txBox="1"/>
            <p:nvPr/>
          </p:nvSpPr>
          <p:spPr>
            <a:xfrm>
              <a:off x="947356" y="4017693"/>
              <a:ext cx="37231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ODCP</a:t>
              </a:r>
            </a:p>
          </p:txBody>
        </p:sp>
        <p:sp>
          <p:nvSpPr>
            <p:cNvPr id="35" name="Rectangle 35"/>
            <p:cNvSpPr/>
            <p:nvPr/>
          </p:nvSpPr>
          <p:spPr>
            <a:xfrm>
              <a:off x="2019300" y="3867150"/>
              <a:ext cx="914400" cy="419100"/>
            </a:xfrm>
            <a:prstGeom prst="roundRect">
              <a:avLst>
                <a:gd name="adj" fmla="val 18182"/>
              </a:avLst>
            </a:prstGeom>
            <a:solidFill>
              <a:srgbClr val="2A1720"/>
            </a:solidFill>
            <a:ln w="13335">
              <a:solidFill>
                <a:srgbClr val="F2685C"/>
              </a:solidFill>
            </a:ln>
          </p:spPr>
        </p:sp>
        <p:sp>
          <p:nvSpPr>
            <p:cNvPr id="36" name="TextBox 36"/>
            <p:cNvSpPr txBox="1"/>
            <p:nvPr/>
          </p:nvSpPr>
          <p:spPr>
            <a:xfrm>
              <a:off x="2345010" y="40304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sp>
          <p:nvSpPr>
            <p:cNvPr id="37" name="Rectangle 37"/>
            <p:cNvSpPr/>
            <p:nvPr/>
          </p:nvSpPr>
          <p:spPr>
            <a:xfrm>
              <a:off x="3009900" y="3867150"/>
              <a:ext cx="914400" cy="419100"/>
            </a:xfrm>
            <a:prstGeom prst="roundRect">
              <a:avLst>
                <a:gd name="adj" fmla="val 18182"/>
              </a:avLst>
            </a:prstGeom>
            <a:solidFill>
              <a:srgbClr val="2A1720"/>
            </a:solidFill>
            <a:ln w="13335">
              <a:solidFill>
                <a:srgbClr val="F2685C"/>
              </a:solidFill>
            </a:ln>
          </p:spPr>
        </p:sp>
        <p:sp>
          <p:nvSpPr>
            <p:cNvPr id="38" name="TextBox 38"/>
            <p:cNvSpPr txBox="1"/>
            <p:nvPr/>
          </p:nvSpPr>
          <p:spPr>
            <a:xfrm>
              <a:off x="3335610" y="40304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sp>
          <p:nvSpPr>
            <p:cNvPr id="39" name="Rectangle 39"/>
            <p:cNvSpPr/>
            <p:nvPr/>
          </p:nvSpPr>
          <p:spPr>
            <a:xfrm>
              <a:off x="4000500" y="3867150"/>
              <a:ext cx="914400" cy="419100"/>
            </a:xfrm>
            <a:prstGeom prst="roundRect">
              <a:avLst>
                <a:gd name="adj" fmla="val 18182"/>
              </a:avLst>
            </a:prstGeom>
            <a:solidFill>
              <a:srgbClr val="2A1720"/>
            </a:solidFill>
            <a:ln w="13335">
              <a:solidFill>
                <a:srgbClr val="F2685C"/>
              </a:solidFill>
            </a:ln>
          </p:spPr>
        </p:sp>
        <p:sp>
          <p:nvSpPr>
            <p:cNvPr id="40" name="TextBox 40"/>
            <p:cNvSpPr txBox="1"/>
            <p:nvPr/>
          </p:nvSpPr>
          <p:spPr>
            <a:xfrm>
              <a:off x="4326210" y="40304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sp>
          <p:nvSpPr>
            <p:cNvPr id="41" name="Rectangle 41"/>
            <p:cNvSpPr/>
            <p:nvPr/>
          </p:nvSpPr>
          <p:spPr>
            <a:xfrm>
              <a:off x="4991100" y="3867150"/>
              <a:ext cx="914400" cy="419100"/>
            </a:xfrm>
            <a:prstGeom prst="roundRect">
              <a:avLst>
                <a:gd name="adj" fmla="val 18182"/>
              </a:avLst>
            </a:prstGeom>
            <a:solidFill>
              <a:srgbClr val="2A1720"/>
            </a:solidFill>
            <a:ln w="13335">
              <a:solidFill>
                <a:srgbClr val="F2685C"/>
              </a:solidFill>
            </a:ln>
          </p:spPr>
        </p:sp>
        <p:sp>
          <p:nvSpPr>
            <p:cNvPr id="42" name="TextBox 42"/>
            <p:cNvSpPr txBox="1"/>
            <p:nvPr/>
          </p:nvSpPr>
          <p:spPr>
            <a:xfrm>
              <a:off x="5316810" y="4030409"/>
              <a:ext cx="262980"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fail</a:t>
              </a:r>
            </a:p>
          </p:txBody>
        </p:sp>
      </p:grpSp>
      <p:grpSp>
        <p:nvGrpSpPr>
          <p:cNvPr id="56" name="Group 56"/>
          <p:cNvGrpSpPr/>
          <p:nvPr/>
        </p:nvGrpSpPr>
        <p:grpSpPr>
          <a:xfrm>
            <a:off x="6248400" y="2038350"/>
            <a:ext cx="5334000" cy="2514600"/>
            <a:chOff x="6248400" y="2038350"/>
            <a:chExt cx="5334000" cy="2514600"/>
          </a:xfrm>
        </p:grpSpPr>
        <p:sp>
          <p:nvSpPr>
            <p:cNvPr id="44" name="Rectangle 44"/>
            <p:cNvSpPr/>
            <p:nvPr/>
          </p:nvSpPr>
          <p:spPr>
            <a:xfrm>
              <a:off x="6248400" y="2038350"/>
              <a:ext cx="5334000" cy="2514600"/>
            </a:xfrm>
            <a:prstGeom prst="roundRect">
              <a:avLst>
                <a:gd name="adj" fmla="val 5303"/>
              </a:avLst>
            </a:prstGeom>
            <a:solidFill>
              <a:schemeClr val="accent5"/>
            </a:solidFill>
            <a:ln w="14288">
              <a:solidFill>
                <a:srgbClr val="26455F"/>
              </a:solidFill>
            </a:ln>
          </p:spPr>
        </p:sp>
        <p:sp>
          <p:nvSpPr>
            <p:cNvPr id="45" name="Rectangle 45"/>
            <p:cNvSpPr/>
            <p:nvPr/>
          </p:nvSpPr>
          <p:spPr>
            <a:xfrm>
              <a:off x="6248400" y="2038350"/>
              <a:ext cx="57150" cy="2514600"/>
            </a:xfrm>
            <a:prstGeom prst="roundRect">
              <a:avLst>
                <a:gd name="adj" fmla="val 50000"/>
              </a:avLst>
            </a:prstGeom>
            <a:solidFill>
              <a:srgbClr val="F2685C"/>
            </a:solidFill>
            <a:ln>
              <a:noFill/>
            </a:ln>
          </p:spPr>
        </p:sp>
        <p:sp>
          <p:nvSpPr>
            <p:cNvPr id="46" name="TextBox 46"/>
            <p:cNvSpPr txBox="1"/>
            <p:nvPr/>
          </p:nvSpPr>
          <p:spPr>
            <a:xfrm>
              <a:off x="6509004" y="2251710"/>
              <a:ext cx="2171924"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Where the baselines break</a:t>
              </a:r>
            </a:p>
          </p:txBody>
        </p:sp>
        <p:sp>
          <p:nvSpPr>
            <p:cNvPr id="47" name="TextBox 47"/>
            <p:cNvSpPr txBox="1"/>
            <p:nvPr/>
          </p:nvSpPr>
          <p:spPr>
            <a:xfrm>
              <a:off x="6509766" y="2572702"/>
              <a:ext cx="39463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CUSUM-RL recovers the change point only when the state</a:t>
              </a:r>
            </a:p>
          </p:txBody>
        </p:sp>
        <p:sp>
          <p:nvSpPr>
            <p:cNvPr id="48" name="TextBox 48"/>
            <p:cNvSpPr txBox="1"/>
            <p:nvPr/>
          </p:nvSpPr>
          <p:spPr>
            <a:xfrm>
              <a:off x="6509766" y="2772728"/>
              <a:ext cx="36038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is one-dimensional. ODCP fails to control the type-I</a:t>
              </a:r>
            </a:p>
          </p:txBody>
        </p:sp>
        <p:sp>
          <p:nvSpPr>
            <p:cNvPr id="49" name="TextBox 49"/>
            <p:cNvSpPr txBox="1"/>
            <p:nvPr/>
          </p:nvSpPr>
          <p:spPr>
            <a:xfrm>
              <a:off x="6509766" y="2972752"/>
              <a:ext cx="21380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error at all in high dimensions.</a:t>
              </a:r>
            </a:p>
          </p:txBody>
        </p:sp>
        <p:sp>
          <p:nvSpPr>
            <p:cNvPr id="50" name="Rectangle 50"/>
            <p:cNvSpPr/>
            <p:nvPr/>
          </p:nvSpPr>
          <p:spPr>
            <a:xfrm>
              <a:off x="6515100" y="3352800"/>
              <a:ext cx="4800600" cy="476250"/>
            </a:xfrm>
            <a:prstGeom prst="roundRect">
              <a:avLst>
                <a:gd name="adj" fmla="val 20000"/>
              </a:avLst>
            </a:prstGeom>
            <a:solidFill>
              <a:schemeClr val="accent6"/>
            </a:solidFill>
            <a:ln w="14288">
              <a:solidFill>
                <a:srgbClr val="26455F"/>
              </a:solidFill>
            </a:ln>
          </p:spPr>
        </p:sp>
        <p:sp>
          <p:nvSpPr>
            <p:cNvPr id="51" name="Ellipse 51"/>
            <p:cNvSpPr/>
            <p:nvPr/>
          </p:nvSpPr>
          <p:spPr>
            <a:xfrm>
              <a:off x="6705600" y="3533775"/>
              <a:ext cx="114300" cy="114300"/>
            </a:xfrm>
            <a:prstGeom prst="ellipse">
              <a:avLst/>
            </a:prstGeom>
            <a:solidFill>
              <a:srgbClr val="F2C14E"/>
            </a:solidFill>
            <a:ln>
              <a:noFill/>
            </a:ln>
          </p:spPr>
        </p:sp>
        <p:sp>
          <p:nvSpPr>
            <p:cNvPr id="52" name="TextBox 52"/>
            <p:cNvSpPr txBox="1"/>
            <p:nvPr/>
          </p:nvSpPr>
          <p:spPr>
            <a:xfrm>
              <a:off x="6909816" y="3525202"/>
              <a:ext cx="2377244"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CUSUM-RL: works only at dim = 1</a:t>
              </a:r>
            </a:p>
          </p:txBody>
        </p:sp>
        <p:sp>
          <p:nvSpPr>
            <p:cNvPr id="53" name="Rectangle 53"/>
            <p:cNvSpPr/>
            <p:nvPr/>
          </p:nvSpPr>
          <p:spPr>
            <a:xfrm>
              <a:off x="6515100" y="3905250"/>
              <a:ext cx="4800600" cy="476250"/>
            </a:xfrm>
            <a:prstGeom prst="roundRect">
              <a:avLst>
                <a:gd name="adj" fmla="val 20000"/>
              </a:avLst>
            </a:prstGeom>
            <a:solidFill>
              <a:schemeClr val="accent6"/>
            </a:solidFill>
            <a:ln w="14288">
              <a:solidFill>
                <a:srgbClr val="26455F"/>
              </a:solidFill>
            </a:ln>
          </p:spPr>
        </p:sp>
        <p:sp>
          <p:nvSpPr>
            <p:cNvPr id="54" name="Ellipse 54"/>
            <p:cNvSpPr/>
            <p:nvPr/>
          </p:nvSpPr>
          <p:spPr>
            <a:xfrm>
              <a:off x="6705600" y="4086225"/>
              <a:ext cx="114300" cy="114300"/>
            </a:xfrm>
            <a:prstGeom prst="ellipse">
              <a:avLst/>
            </a:prstGeom>
            <a:solidFill>
              <a:srgbClr val="F2685C"/>
            </a:solidFill>
            <a:ln>
              <a:noFill/>
            </a:ln>
          </p:spPr>
        </p:sp>
        <p:sp>
          <p:nvSpPr>
            <p:cNvPr id="55" name="TextBox 55"/>
            <p:cNvSpPr txBox="1"/>
            <p:nvPr/>
          </p:nvSpPr>
          <p:spPr>
            <a:xfrm>
              <a:off x="6909816" y="4077652"/>
              <a:ext cx="3160142"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ODCP: type-I error uncontrolled in high dim</a:t>
              </a:r>
            </a:p>
          </p:txBody>
        </p:sp>
      </p:grpSp>
      <p:grpSp>
        <p:nvGrpSpPr>
          <p:cNvPr id="67" name="Group 67"/>
          <p:cNvGrpSpPr/>
          <p:nvPr/>
        </p:nvGrpSpPr>
        <p:grpSpPr>
          <a:xfrm>
            <a:off x="609600" y="4686300"/>
            <a:ext cx="10972800" cy="1104900"/>
            <a:chOff x="609600" y="4686300"/>
            <a:chExt cx="10972800" cy="1104900"/>
          </a:xfrm>
        </p:grpSpPr>
        <p:sp>
          <p:nvSpPr>
            <p:cNvPr id="57" name="Rectangle 57"/>
            <p:cNvSpPr/>
            <p:nvPr/>
          </p:nvSpPr>
          <p:spPr>
            <a:xfrm>
              <a:off x="609600" y="4686300"/>
              <a:ext cx="10972800" cy="1104900"/>
            </a:xfrm>
            <a:prstGeom prst="roundRect">
              <a:avLst>
                <a:gd name="adj" fmla="val 12069"/>
              </a:avLst>
            </a:prstGeom>
            <a:solidFill>
              <a:srgbClr val="0F2E2B"/>
            </a:solidFill>
            <a:ln w="14288">
              <a:solidFill>
                <a:srgbClr val="48C78E"/>
              </a:solidFill>
            </a:ln>
          </p:spPr>
        </p:sp>
        <p:sp>
          <p:nvSpPr>
            <p:cNvPr id="58" name="Rectangle 58"/>
            <p:cNvSpPr/>
            <p:nvPr/>
          </p:nvSpPr>
          <p:spPr>
            <a:xfrm>
              <a:off x="609600" y="4686300"/>
              <a:ext cx="57150" cy="1104900"/>
            </a:xfrm>
            <a:prstGeom prst="roundRect">
              <a:avLst>
                <a:gd name="adj" fmla="val 50000"/>
              </a:avLst>
            </a:prstGeom>
            <a:solidFill>
              <a:srgbClr val="48C78E"/>
            </a:solidFill>
            <a:ln>
              <a:noFill/>
            </a:ln>
          </p:spPr>
        </p:sp>
        <p:sp>
          <p:nvSpPr>
            <p:cNvPr id="59" name="TextBox 59"/>
            <p:cNvSpPr txBox="1"/>
            <p:nvPr/>
          </p:nvSpPr>
          <p:spPr>
            <a:xfrm>
              <a:off x="870204" y="4880610"/>
              <a:ext cx="3452740"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Toy example · double robustness in action</a:t>
              </a:r>
            </a:p>
          </p:txBody>
        </p:sp>
        <p:sp>
          <p:nvSpPr>
            <p:cNvPr id="60" name="TextBox 60"/>
            <p:cNvSpPr txBox="1"/>
            <p:nvPr/>
          </p:nvSpPr>
          <p:spPr>
            <a:xfrm>
              <a:off x="870776" y="5178504"/>
              <a:ext cx="5188534"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Size and power hold as long as at least one of the two nuisance models is</a:t>
              </a:r>
            </a:p>
          </p:txBody>
        </p:sp>
        <p:sp>
          <p:nvSpPr>
            <p:cNvPr id="61" name="TextBox 61"/>
            <p:cNvSpPr txBox="1"/>
            <p:nvPr/>
          </p:nvSpPr>
          <p:spPr>
            <a:xfrm>
              <a:off x="870776" y="5388054"/>
              <a:ext cx="491202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correctly specified, with the strongest power when both are right.</a:t>
              </a:r>
            </a:p>
          </p:txBody>
        </p:sp>
        <p:sp>
          <p:nvSpPr>
            <p:cNvPr id="62" name="TextBox 62"/>
            <p:cNvSpPr txBox="1"/>
            <p:nvPr/>
          </p:nvSpPr>
          <p:spPr>
            <a:xfrm>
              <a:off x="8377238" y="4787741"/>
              <a:ext cx="747617" cy="161925"/>
            </a:xfrm>
            <a:prstGeom prst="rect">
              <a:avLst/>
            </a:prstGeom>
            <a:noFill/>
            <a:ln>
              <a:noFill/>
            </a:ln>
          </p:spPr>
          <p:txBody>
            <a:bodyPr wrap="none" lIns="0" tIns="0" rIns="0" bIns="0" anchor="t" anchorCtr="0">
              <a:spAutoFit/>
            </a:bodyPr>
            <a:lstStyle/>
            <a:p>
              <a:pPr algn="l"/>
              <a:r>
                <a:rPr lang="en-US" sz="820" b="1" dirty="0">
                  <a:solidFill>
                    <a:srgbClr val="6E869C"/>
                  </a:solidFill>
                  <a:latin typeface="+mn-lt"/>
                  <a:ea typeface="+mn-ea"/>
                  <a:cs typeface="+mn-cs"/>
                </a:rPr>
                <a:t>M1 / M2 spec</a:t>
              </a:r>
            </a:p>
          </p:txBody>
        </p:sp>
        <p:sp>
          <p:nvSpPr>
            <p:cNvPr id="63" name="Rectangle 63"/>
            <p:cNvSpPr/>
            <p:nvPr/>
          </p:nvSpPr>
          <p:spPr>
            <a:xfrm>
              <a:off x="8382000" y="4953000"/>
              <a:ext cx="1428750" cy="285750"/>
            </a:xfrm>
            <a:prstGeom prst="roundRect">
              <a:avLst>
                <a:gd name="adj" fmla="val 23333"/>
              </a:avLst>
            </a:prstGeom>
            <a:solidFill>
              <a:srgbClr val="0F2E2B"/>
            </a:solidFill>
            <a:ln w="11430">
              <a:solidFill>
                <a:srgbClr val="48C78E"/>
              </a:solidFill>
            </a:ln>
          </p:spPr>
        </p:sp>
        <p:sp>
          <p:nvSpPr>
            <p:cNvPr id="64" name="TextBox 64"/>
            <p:cNvSpPr txBox="1"/>
            <p:nvPr/>
          </p:nvSpPr>
          <p:spPr>
            <a:xfrm>
              <a:off x="8447335" y="5050393"/>
              <a:ext cx="1298081" cy="169069"/>
            </a:xfrm>
            <a:prstGeom prst="rect">
              <a:avLst/>
            </a:prstGeom>
            <a:noFill/>
            <a:ln>
              <a:noFill/>
            </a:ln>
          </p:spPr>
          <p:txBody>
            <a:bodyPr wrap="none" lIns="0" tIns="0" rIns="0" bIns="0" anchor="t" anchorCtr="0">
              <a:spAutoFit/>
            </a:bodyPr>
            <a:lstStyle/>
            <a:p>
              <a:pPr algn="ctr"/>
              <a:r>
                <a:rPr lang="en-US" sz="860" b="1" dirty="0">
                  <a:solidFill>
                    <a:srgbClr val="48C78E"/>
                  </a:solidFill>
                  <a:latin typeface="+mn-lt"/>
                  <a:ea typeface="+mn-ea"/>
                  <a:cs typeface="+mn-cs"/>
                </a:rPr>
                <a:t>either correct = valid</a:t>
              </a:r>
            </a:p>
          </p:txBody>
        </p:sp>
        <p:sp>
          <p:nvSpPr>
            <p:cNvPr id="65" name="Rectangle 65"/>
            <p:cNvSpPr/>
            <p:nvPr/>
          </p:nvSpPr>
          <p:spPr>
            <a:xfrm>
              <a:off x="8382000" y="5295900"/>
              <a:ext cx="1428750" cy="285750"/>
            </a:xfrm>
            <a:prstGeom prst="roundRect">
              <a:avLst>
                <a:gd name="adj" fmla="val 23333"/>
              </a:avLst>
            </a:prstGeom>
            <a:solidFill>
              <a:schemeClr val="accent6"/>
            </a:solidFill>
            <a:ln w="11430">
              <a:solidFill>
                <a:schemeClr val="accent2"/>
              </a:solidFill>
            </a:ln>
          </p:spPr>
        </p:sp>
        <p:sp>
          <p:nvSpPr>
            <p:cNvPr id="66" name="TextBox 66"/>
            <p:cNvSpPr txBox="1"/>
            <p:nvPr/>
          </p:nvSpPr>
          <p:spPr>
            <a:xfrm>
              <a:off x="8304499" y="5393293"/>
              <a:ext cx="1583751" cy="169069"/>
            </a:xfrm>
            <a:prstGeom prst="rect">
              <a:avLst/>
            </a:prstGeom>
            <a:noFill/>
            <a:ln>
              <a:noFill/>
            </a:ln>
          </p:spPr>
          <p:txBody>
            <a:bodyPr wrap="none" lIns="0" tIns="0" rIns="0" bIns="0" anchor="t" anchorCtr="0">
              <a:spAutoFit/>
            </a:bodyPr>
            <a:lstStyle/>
            <a:p>
              <a:pPr algn="ctr"/>
              <a:r>
                <a:rPr lang="en-US" sz="860" b="1" dirty="0">
                  <a:solidFill>
                    <a:schemeClr val="accent2"/>
                  </a:solidFill>
                  <a:latin typeface="+mn-lt"/>
                  <a:ea typeface="+mn-ea"/>
                  <a:cs typeface="+mn-cs"/>
                </a:rPr>
                <a:t>both correct = best power</a:t>
              </a:r>
            </a:p>
          </p:txBody>
        </p:sp>
      </p:grpSp>
      <p:sp>
        <p:nvSpPr>
          <p:cNvPr id="68" name="TextBox 68"/>
          <p:cNvSpPr txBox="1"/>
          <p:nvPr/>
        </p:nvSpPr>
        <p:spPr>
          <a:xfrm>
            <a:off x="604266" y="6039802"/>
            <a:ext cx="7392225"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Detection survives to state dimension 30, where the closest competitor only works at dimension one.</a:t>
            </a:r>
          </a:p>
        </p:txBody>
      </p:sp>
      <p:sp>
        <p:nvSpPr>
          <p:cNvPr id="69" name="cue_s07_c1_headline_finding_about_robustness_di" title="cue_s07_c1_headline_finding_about_robustness_di" descr="cue_s07_c1_headline_finding_about_robustness_di The headline finding is about robustness to dimensionality."/>
          <p:cNvSpPr/>
          <p:nvPr/>
        </p:nvSpPr>
        <p:spPr>
          <a:xfrm>
            <a:off x="609600" y="1428521"/>
            <a:ext cx="10972800" cy="4759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cue_s07_c2_every_setting_proposed_test_keeps" title="cue_s07_c2_every_setting_proposed_test_keeps" descr="cue_s07_c2_every_setting_proposed_test_keeps In every setting, the proposed test keeps the type-one error at the nominal level, and crucially it still pinpoints the true change point even when the state has ten, twenty, or thirty dimensions."/>
          <p:cNvSpPr/>
          <p:nvPr/>
        </p:nvSpPr>
        <p:spPr>
          <a:xfrm>
            <a:off x="609600"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cue_s07_c3_contrast_cusum_rl_baseline_only_reco" title="cue_s07_c3_contrast_cusum_rl_baseline_only_reco" descr="cue_s07_c3_contrast_cusum_rl_baseline_only_reco By contrast, the CUSUM-RL baseline only recovers the change point when the state is one-dimensional, and the ODCP method fails to control the type-one error at all in high dimensions."/>
          <p:cNvSpPr/>
          <p:nvPr/>
        </p:nvSpPr>
        <p:spPr>
          <a:xfrm>
            <a:off x="6248399" y="2038197"/>
            <a:ext cx="5334000" cy="25148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cue_s07_c4_toy_example_confirms_double_robustne" title="cue_s07_c4_toy_example_confirms_double_robustne" descr="cue_s07_c4_toy_example_confirms_double_robustne The toy example confirms the double robustness in action: size and power hold as long as at least one of the two nuisance models is right, with the strongest power when both are correct."/>
          <p:cNvSpPr/>
          <p:nvPr/>
        </p:nvSpPr>
        <p:spPr>
          <a:xfrm>
            <a:off x="609600" y="4686071"/>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53607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Double robustness, sweep by sweep</a:t>
            </a:r>
          </a:p>
        </p:txBody>
      </p:sp>
      <p:grpSp>
        <p:nvGrpSpPr>
          <p:cNvPr id="11" name="Group 11"/>
          <p:cNvGrpSpPr/>
          <p:nvPr/>
        </p:nvGrpSpPr>
        <p:grpSpPr>
          <a:xfrm>
            <a:off x="609600" y="1504950"/>
            <a:ext cx="5334000" cy="1143000"/>
            <a:chOff x="609600" y="1504950"/>
            <a:chExt cx="5334000" cy="1143000"/>
          </a:xfrm>
        </p:grpSpPr>
        <p:sp>
          <p:nvSpPr>
            <p:cNvPr id="5" name="Rectangle 5"/>
            <p:cNvSpPr/>
            <p:nvPr/>
          </p:nvSpPr>
          <p:spPr>
            <a:xfrm>
              <a:off x="609600" y="1504950"/>
              <a:ext cx="5334000" cy="1143000"/>
            </a:xfrm>
            <a:prstGeom prst="roundRect">
              <a:avLst>
                <a:gd name="adj" fmla="val 11667"/>
              </a:avLst>
            </a:prstGeom>
            <a:solidFill>
              <a:schemeClr val="accent5"/>
            </a:solidFill>
            <a:ln w="14288">
              <a:solidFill>
                <a:srgbClr val="26455F"/>
              </a:solidFill>
            </a:ln>
          </p:spPr>
        </p:sp>
        <p:sp>
          <p:nvSpPr>
            <p:cNvPr id="6" name="Rectangle 6"/>
            <p:cNvSpPr/>
            <p:nvPr/>
          </p:nvSpPr>
          <p:spPr>
            <a:xfrm>
              <a:off x="609600" y="1504950"/>
              <a:ext cx="57150" cy="1143000"/>
            </a:xfrm>
            <a:prstGeom prst="roundRect">
              <a:avLst>
                <a:gd name="adj" fmla="val 50000"/>
              </a:avLst>
            </a:prstGeom>
            <a:solidFill>
              <a:schemeClr val="accent2"/>
            </a:solidFill>
            <a:ln>
              <a:noFill/>
            </a:ln>
          </p:spPr>
        </p:sp>
        <p:sp>
          <p:nvSpPr>
            <p:cNvPr id="7" name="TextBox 7"/>
            <p:cNvSpPr txBox="1"/>
            <p:nvPr/>
          </p:nvSpPr>
          <p:spPr>
            <a:xfrm>
              <a:off x="870014" y="1733312"/>
              <a:ext cx="272670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Sweep 1 · vary misspecification</a:t>
              </a:r>
            </a:p>
          </p:txBody>
        </p:sp>
        <p:sp>
          <p:nvSpPr>
            <p:cNvPr id="8" name="TextBox 8"/>
            <p:cNvSpPr txBox="1"/>
            <p:nvPr/>
          </p:nvSpPr>
          <p:spPr>
            <a:xfrm>
              <a:off x="870776" y="2035254"/>
              <a:ext cx="38968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Vary the model misspecification level lambda from mild</a:t>
              </a:r>
            </a:p>
          </p:txBody>
        </p:sp>
        <p:sp>
          <p:nvSpPr>
            <p:cNvPr id="9" name="TextBox 9"/>
            <p:cNvSpPr txBox="1"/>
            <p:nvPr/>
          </p:nvSpPr>
          <p:spPr>
            <a:xfrm>
              <a:off x="870776" y="2244804"/>
              <a:ext cx="315119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to severe across five hundred replications.</a:t>
              </a:r>
            </a:p>
          </p:txBody>
        </p:sp>
        <p:sp>
          <p:nvSpPr>
            <p:cNvPr id="10" name="TextBox 10"/>
            <p:cNvSpPr txBox="1"/>
            <p:nvPr/>
          </p:nvSpPr>
          <p:spPr>
            <a:xfrm>
              <a:off x="871156" y="2443401"/>
              <a:ext cx="3258180" cy="198025"/>
            </a:xfrm>
            <a:prstGeom prst="rect">
              <a:avLst/>
            </a:prstGeom>
            <a:noFill/>
            <a:ln>
              <a:noFill/>
            </a:ln>
          </p:spPr>
          <p:txBody>
            <a:bodyPr wrap="none" lIns="0" tIns="0" rIns="0" bIns="0" anchor="t" anchorCtr="0">
              <a:spAutoFit/>
            </a:bodyPr>
            <a:lstStyle/>
            <a:p>
              <a:pPr algn="l"/>
              <a:r>
                <a:rPr lang="en-US" sz="1010" b="1" dirty="0">
                  <a:solidFill>
                    <a:schemeClr val="accent2"/>
                  </a:solidFill>
                  <a:latin typeface="Consolas"/>
                  <a:ea typeface="Consolas"/>
                  <a:cs typeface="Consolas"/>
                </a:rPr>
                <a:t>lambda in {0.1, 0.3, 0.5, 0.7, 0.9} · 500 reps</a:t>
              </a:r>
            </a:p>
          </p:txBody>
        </p:sp>
      </p:grpSp>
      <p:grpSp>
        <p:nvGrpSpPr>
          <p:cNvPr id="27" name="Group 27"/>
          <p:cNvGrpSpPr/>
          <p:nvPr/>
        </p:nvGrpSpPr>
        <p:grpSpPr>
          <a:xfrm>
            <a:off x="609600" y="2800350"/>
            <a:ext cx="5334000" cy="2438400"/>
            <a:chOff x="609600" y="2800350"/>
            <a:chExt cx="5334000" cy="2438400"/>
          </a:xfrm>
        </p:grpSpPr>
        <p:sp>
          <p:nvSpPr>
            <p:cNvPr id="12" name="Rectangle 12"/>
            <p:cNvSpPr/>
            <p:nvPr/>
          </p:nvSpPr>
          <p:spPr>
            <a:xfrm>
              <a:off x="609600" y="2800350"/>
              <a:ext cx="5334000" cy="2438400"/>
            </a:xfrm>
            <a:prstGeom prst="roundRect">
              <a:avLst>
                <a:gd name="adj" fmla="val 5469"/>
              </a:avLst>
            </a:prstGeom>
            <a:solidFill>
              <a:srgbClr val="0F2E2B"/>
            </a:solidFill>
            <a:ln w="14288">
              <a:solidFill>
                <a:srgbClr val="48C78E"/>
              </a:solidFill>
            </a:ln>
          </p:spPr>
        </p:sp>
        <p:sp>
          <p:nvSpPr>
            <p:cNvPr id="13" name="Rectangle 13"/>
            <p:cNvSpPr/>
            <p:nvPr/>
          </p:nvSpPr>
          <p:spPr>
            <a:xfrm>
              <a:off x="609600" y="2800350"/>
              <a:ext cx="57150" cy="2438400"/>
            </a:xfrm>
            <a:prstGeom prst="roundRect">
              <a:avLst>
                <a:gd name="adj" fmla="val 50000"/>
              </a:avLst>
            </a:prstGeom>
            <a:solidFill>
              <a:srgbClr val="48C78E"/>
            </a:solidFill>
            <a:ln>
              <a:noFill/>
            </a:ln>
          </p:spPr>
        </p:sp>
        <p:sp>
          <p:nvSpPr>
            <p:cNvPr id="14" name="TextBox 14"/>
            <p:cNvSpPr txBox="1"/>
            <p:nvPr/>
          </p:nvSpPr>
          <p:spPr>
            <a:xfrm>
              <a:off x="870966" y="3029902"/>
              <a:ext cx="3933637" cy="205359"/>
            </a:xfrm>
            <a:prstGeom prst="rect">
              <a:avLst/>
            </a:prstGeom>
            <a:noFill/>
            <a:ln>
              <a:noFill/>
            </a:ln>
          </p:spPr>
          <p:txBody>
            <a:bodyPr wrap="none" lIns="0" tIns="0" rIns="0" bIns="0" anchor="t" anchorCtr="0">
              <a:spAutoFit/>
            </a:bodyPr>
            <a:lstStyle/>
            <a:p>
              <a:pPr algn="l"/>
              <a:r>
                <a:rPr lang="en-US" sz="1050" b="1" dirty="0">
                  <a:solidFill>
                    <a:schemeClr val="dk1"/>
                  </a:solidFill>
                  <a:latin typeface="+mn-lt"/>
                  <a:ea typeface="+mn-ea"/>
                  <a:cs typeface="+mn-cs"/>
                </a:rPr>
                <a:t>Empirical size stays at nominal if either model is right</a:t>
              </a:r>
            </a:p>
          </p:txBody>
        </p:sp>
        <p:sp>
          <p:nvSpPr>
            <p:cNvPr id="15" name="TextBox 15"/>
            <p:cNvSpPr txBox="1"/>
            <p:nvPr/>
          </p:nvSpPr>
          <p:spPr>
            <a:xfrm>
              <a:off x="1203878" y="3625453"/>
              <a:ext cx="343935" cy="169069"/>
            </a:xfrm>
            <a:prstGeom prst="rect">
              <a:avLst/>
            </a:prstGeom>
            <a:noFill/>
            <a:ln>
              <a:noFill/>
            </a:ln>
          </p:spPr>
          <p:txBody>
            <a:bodyPr wrap="none" lIns="0" tIns="0" rIns="0" bIns="0" anchor="t" anchorCtr="0">
              <a:spAutoFit/>
            </a:bodyPr>
            <a:lstStyle/>
            <a:p>
              <a:pPr algn="r"/>
              <a:r>
                <a:rPr lang="en-US" sz="860" b="1" dirty="0">
                  <a:solidFill>
                    <a:schemeClr val="dk2"/>
                  </a:solidFill>
                  <a:latin typeface="+mn-lt"/>
                  <a:ea typeface="+mn-ea"/>
                  <a:cs typeface="+mn-cs"/>
                </a:rPr>
                <a:t>M1 ok</a:t>
              </a:r>
            </a:p>
          </p:txBody>
        </p:sp>
        <p:sp>
          <p:nvSpPr>
            <p:cNvPr id="16" name="TextBox 16"/>
            <p:cNvSpPr txBox="1"/>
            <p:nvPr/>
          </p:nvSpPr>
          <p:spPr>
            <a:xfrm>
              <a:off x="979963" y="4311253"/>
              <a:ext cx="567849" cy="169069"/>
            </a:xfrm>
            <a:prstGeom prst="rect">
              <a:avLst/>
            </a:prstGeom>
            <a:noFill/>
            <a:ln>
              <a:noFill/>
            </a:ln>
          </p:spPr>
          <p:txBody>
            <a:bodyPr wrap="none" lIns="0" tIns="0" rIns="0" bIns="0" anchor="t" anchorCtr="0">
              <a:spAutoFit/>
            </a:bodyPr>
            <a:lstStyle/>
            <a:p>
              <a:pPr algn="r"/>
              <a:r>
                <a:rPr lang="en-US" sz="860" b="1" dirty="0">
                  <a:solidFill>
                    <a:schemeClr val="dk2"/>
                  </a:solidFill>
                  <a:latin typeface="+mn-lt"/>
                  <a:ea typeface="+mn-ea"/>
                  <a:cs typeface="+mn-cs"/>
                </a:rPr>
                <a:t>M1 wrong</a:t>
              </a:r>
            </a:p>
          </p:txBody>
        </p:sp>
        <p:sp>
          <p:nvSpPr>
            <p:cNvPr id="17" name="TextBox 17"/>
            <p:cNvSpPr txBox="1"/>
            <p:nvPr/>
          </p:nvSpPr>
          <p:spPr>
            <a:xfrm>
              <a:off x="2333108" y="3183493"/>
              <a:ext cx="343935"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M2 ok</a:t>
              </a:r>
            </a:p>
          </p:txBody>
        </p:sp>
        <p:sp>
          <p:nvSpPr>
            <p:cNvPr id="18" name="TextBox 18"/>
            <p:cNvSpPr txBox="1"/>
            <p:nvPr/>
          </p:nvSpPr>
          <p:spPr>
            <a:xfrm>
              <a:off x="3916600" y="3183493"/>
              <a:ext cx="567849"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M2 wrong</a:t>
              </a:r>
            </a:p>
          </p:txBody>
        </p:sp>
        <p:sp>
          <p:nvSpPr>
            <p:cNvPr id="19" name="Rectangle 19"/>
            <p:cNvSpPr/>
            <p:nvPr/>
          </p:nvSpPr>
          <p:spPr>
            <a:xfrm>
              <a:off x="1695450" y="3352800"/>
              <a:ext cx="1619250" cy="609600"/>
            </a:xfrm>
            <a:prstGeom prst="roundRect">
              <a:avLst>
                <a:gd name="adj" fmla="val 14062"/>
              </a:avLst>
            </a:prstGeom>
            <a:solidFill>
              <a:srgbClr val="0F2E2B"/>
            </a:solidFill>
            <a:ln w="13335">
              <a:solidFill>
                <a:srgbClr val="48C78E"/>
              </a:solidFill>
            </a:ln>
          </p:spPr>
        </p:sp>
        <p:sp>
          <p:nvSpPr>
            <p:cNvPr id="20" name="TextBox 20"/>
            <p:cNvSpPr txBox="1"/>
            <p:nvPr/>
          </p:nvSpPr>
          <p:spPr>
            <a:xfrm>
              <a:off x="2024802" y="3617405"/>
              <a:ext cx="960547"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valid+ (best)</a:t>
              </a:r>
            </a:p>
          </p:txBody>
        </p:sp>
        <p:sp>
          <p:nvSpPr>
            <p:cNvPr id="21" name="Rectangle 21"/>
            <p:cNvSpPr/>
            <p:nvPr/>
          </p:nvSpPr>
          <p:spPr>
            <a:xfrm>
              <a:off x="3390900" y="3352800"/>
              <a:ext cx="1619250" cy="609600"/>
            </a:xfrm>
            <a:prstGeom prst="roundRect">
              <a:avLst>
                <a:gd name="adj" fmla="val 14062"/>
              </a:avLst>
            </a:prstGeom>
            <a:solidFill>
              <a:srgbClr val="0F2E2B"/>
            </a:solidFill>
            <a:ln w="13335">
              <a:solidFill>
                <a:srgbClr val="48C78E"/>
              </a:solidFill>
            </a:ln>
          </p:spPr>
        </p:sp>
        <p:sp>
          <p:nvSpPr>
            <p:cNvPr id="22" name="TextBox 22"/>
            <p:cNvSpPr txBox="1"/>
            <p:nvPr/>
          </p:nvSpPr>
          <p:spPr>
            <a:xfrm>
              <a:off x="4028220" y="3617405"/>
              <a:ext cx="344610"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valid</a:t>
              </a:r>
            </a:p>
          </p:txBody>
        </p:sp>
        <p:sp>
          <p:nvSpPr>
            <p:cNvPr id="23" name="Rectangle 23"/>
            <p:cNvSpPr/>
            <p:nvPr/>
          </p:nvSpPr>
          <p:spPr>
            <a:xfrm>
              <a:off x="1695450" y="4038600"/>
              <a:ext cx="1619250" cy="609600"/>
            </a:xfrm>
            <a:prstGeom prst="roundRect">
              <a:avLst>
                <a:gd name="adj" fmla="val 14062"/>
              </a:avLst>
            </a:prstGeom>
            <a:solidFill>
              <a:srgbClr val="0F2E2B"/>
            </a:solidFill>
            <a:ln w="13335">
              <a:solidFill>
                <a:srgbClr val="48C78E"/>
              </a:solidFill>
            </a:ln>
          </p:spPr>
        </p:sp>
        <p:sp>
          <p:nvSpPr>
            <p:cNvPr id="24" name="TextBox 24"/>
            <p:cNvSpPr txBox="1"/>
            <p:nvPr/>
          </p:nvSpPr>
          <p:spPr>
            <a:xfrm>
              <a:off x="2332770" y="4303204"/>
              <a:ext cx="344610" cy="205359"/>
            </a:xfrm>
            <a:prstGeom prst="rect">
              <a:avLst/>
            </a:prstGeom>
            <a:noFill/>
            <a:ln>
              <a:noFill/>
            </a:ln>
          </p:spPr>
          <p:txBody>
            <a:bodyPr wrap="none" lIns="0" tIns="0" rIns="0" bIns="0" anchor="t" anchorCtr="0">
              <a:spAutoFit/>
            </a:bodyPr>
            <a:lstStyle/>
            <a:p>
              <a:pPr algn="ctr"/>
              <a:r>
                <a:rPr lang="en-US" sz="1050" b="1" dirty="0">
                  <a:solidFill>
                    <a:srgbClr val="48C78E"/>
                  </a:solidFill>
                  <a:latin typeface="+mn-lt"/>
                  <a:ea typeface="+mn-ea"/>
                  <a:cs typeface="+mn-cs"/>
                </a:rPr>
                <a:t>valid</a:t>
              </a:r>
            </a:p>
          </p:txBody>
        </p:sp>
        <p:sp>
          <p:nvSpPr>
            <p:cNvPr id="25" name="Rectangle 25"/>
            <p:cNvSpPr/>
            <p:nvPr/>
          </p:nvSpPr>
          <p:spPr>
            <a:xfrm>
              <a:off x="3390900" y="4038600"/>
              <a:ext cx="1619250" cy="609600"/>
            </a:xfrm>
            <a:prstGeom prst="roundRect">
              <a:avLst>
                <a:gd name="adj" fmla="val 14062"/>
              </a:avLst>
            </a:prstGeom>
            <a:solidFill>
              <a:srgbClr val="2A1720"/>
            </a:solidFill>
            <a:ln w="13335">
              <a:solidFill>
                <a:srgbClr val="F2685C"/>
              </a:solidFill>
            </a:ln>
          </p:spPr>
        </p:sp>
        <p:sp>
          <p:nvSpPr>
            <p:cNvPr id="26" name="TextBox 26"/>
            <p:cNvSpPr txBox="1"/>
            <p:nvPr/>
          </p:nvSpPr>
          <p:spPr>
            <a:xfrm>
              <a:off x="3965142" y="4303204"/>
              <a:ext cx="470766" cy="205359"/>
            </a:xfrm>
            <a:prstGeom prst="rect">
              <a:avLst/>
            </a:prstGeom>
            <a:noFill/>
            <a:ln>
              <a:noFill/>
            </a:ln>
          </p:spPr>
          <p:txBody>
            <a:bodyPr wrap="none" lIns="0" tIns="0" rIns="0" bIns="0" anchor="t" anchorCtr="0">
              <a:spAutoFit/>
            </a:bodyPr>
            <a:lstStyle/>
            <a:p>
              <a:pPr algn="ctr"/>
              <a:r>
                <a:rPr lang="en-US" sz="1050" b="1" dirty="0">
                  <a:solidFill>
                    <a:srgbClr val="F2685C"/>
                  </a:solidFill>
                  <a:latin typeface="+mn-lt"/>
                  <a:ea typeface="+mn-ea"/>
                  <a:cs typeface="+mn-cs"/>
                </a:rPr>
                <a:t>invalid</a:t>
              </a:r>
            </a:p>
          </p:txBody>
        </p:sp>
      </p:grpSp>
      <p:grpSp>
        <p:nvGrpSpPr>
          <p:cNvPr id="46" name="Group 46"/>
          <p:cNvGrpSpPr/>
          <p:nvPr/>
        </p:nvGrpSpPr>
        <p:grpSpPr>
          <a:xfrm>
            <a:off x="6248400" y="1504950"/>
            <a:ext cx="5334000" cy="3733800"/>
            <a:chOff x="6248400" y="1504950"/>
            <a:chExt cx="5334000" cy="3733800"/>
          </a:xfrm>
        </p:grpSpPr>
        <p:sp>
          <p:nvSpPr>
            <p:cNvPr id="28" name="Rectangle 28"/>
            <p:cNvSpPr/>
            <p:nvPr/>
          </p:nvSpPr>
          <p:spPr>
            <a:xfrm>
              <a:off x="6248400" y="1504950"/>
              <a:ext cx="5334000" cy="3733800"/>
            </a:xfrm>
            <a:prstGeom prst="roundRect">
              <a:avLst>
                <a:gd name="adj" fmla="val 3571"/>
              </a:avLst>
            </a:prstGeom>
            <a:solidFill>
              <a:schemeClr val="accent5"/>
            </a:solidFill>
            <a:ln w="14288">
              <a:solidFill>
                <a:srgbClr val="26455F"/>
              </a:solidFill>
            </a:ln>
          </p:spPr>
        </p:sp>
        <p:sp>
          <p:nvSpPr>
            <p:cNvPr id="29" name="Rectangle 29"/>
            <p:cNvSpPr/>
            <p:nvPr/>
          </p:nvSpPr>
          <p:spPr>
            <a:xfrm>
              <a:off x="6248400" y="1504950"/>
              <a:ext cx="57150" cy="3733800"/>
            </a:xfrm>
            <a:prstGeom prst="roundRect">
              <a:avLst>
                <a:gd name="adj" fmla="val 50000"/>
              </a:avLst>
            </a:prstGeom>
            <a:solidFill>
              <a:srgbClr val="F2C14E"/>
            </a:solidFill>
            <a:ln>
              <a:noFill/>
            </a:ln>
          </p:spPr>
        </p:sp>
        <p:sp>
          <p:nvSpPr>
            <p:cNvPr id="30" name="TextBox 30"/>
            <p:cNvSpPr txBox="1"/>
            <p:nvPr/>
          </p:nvSpPr>
          <p:spPr>
            <a:xfrm>
              <a:off x="6508814" y="1733312"/>
              <a:ext cx="2884812"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Sweep 2 · locate the change point</a:t>
              </a:r>
            </a:p>
          </p:txBody>
        </p:sp>
        <p:sp>
          <p:nvSpPr>
            <p:cNvPr id="31" name="TextBox 31"/>
            <p:cNvSpPr txBox="1"/>
            <p:nvPr/>
          </p:nvSpPr>
          <p:spPr>
            <a:xfrm>
              <a:off x="6509576" y="2035254"/>
              <a:ext cx="41299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Sweep kappa, the length of the tested interval. The test</a:t>
              </a:r>
            </a:p>
          </p:txBody>
        </p:sp>
        <p:sp>
          <p:nvSpPr>
            <p:cNvPr id="32" name="TextBox 32"/>
            <p:cNvSpPr txBox="1"/>
            <p:nvPr/>
          </p:nvSpPr>
          <p:spPr>
            <a:xfrm>
              <a:off x="6509576" y="2244804"/>
              <a:ext cx="365009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holds its size while the null is true, then its power</a:t>
              </a:r>
            </a:p>
          </p:txBody>
        </p:sp>
        <p:sp>
          <p:nvSpPr>
            <p:cNvPr id="33" name="TextBox 33"/>
            <p:cNvSpPr txBox="1"/>
            <p:nvPr/>
          </p:nvSpPr>
          <p:spPr>
            <a:xfrm>
              <a:off x="6509576" y="2454354"/>
              <a:ext cx="412698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climbs once the interval crosses the true change point at</a:t>
              </a:r>
            </a:p>
          </p:txBody>
        </p:sp>
        <p:sp>
          <p:nvSpPr>
            <p:cNvPr id="34" name="TextBox 34"/>
            <p:cNvSpPr txBox="1"/>
            <p:nvPr/>
          </p:nvSpPr>
          <p:spPr>
            <a:xfrm>
              <a:off x="6509576" y="2663904"/>
              <a:ext cx="25316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25.</a:t>
              </a:r>
            </a:p>
          </p:txBody>
        </p:sp>
        <p:sp>
          <p:nvSpPr>
            <p:cNvPr id="35" name="Rectangle 35"/>
            <p:cNvSpPr/>
            <p:nvPr/>
          </p:nvSpPr>
          <p:spPr>
            <a:xfrm>
              <a:off x="6515100" y="3028950"/>
              <a:ext cx="4800600" cy="1714500"/>
            </a:xfrm>
            <a:prstGeom prst="roundRect">
              <a:avLst>
                <a:gd name="adj" fmla="val 4444"/>
              </a:avLst>
            </a:prstGeom>
            <a:solidFill>
              <a:srgbClr val="0E2334"/>
            </a:solidFill>
            <a:ln w="14288">
              <a:solidFill>
                <a:srgbClr val="26455F"/>
              </a:solidFill>
            </a:ln>
          </p:spPr>
        </p:sp>
        <p:sp>
          <p:nvSpPr>
            <p:cNvPr id="36" name="Line 36"/>
            <p:cNvSpPr/>
            <p:nvPr/>
          </p:nvSpPr>
          <p:spPr>
            <a:xfrm>
              <a:off x="6743700" y="4533900"/>
              <a:ext cx="4457700" cy="9525"/>
            </a:xfrm>
            <a:custGeom>
              <a:avLst/>
              <a:gdLst/>
              <a:ahLst/>
              <a:cxnLst/>
              <a:rect l="l" t="t" r="r" b="b"/>
              <a:pathLst>
                <a:path w="4457700" h="9525">
                  <a:moveTo>
                    <a:pt x="0" y="0"/>
                  </a:moveTo>
                  <a:lnTo>
                    <a:pt x="4457700" y="0"/>
                  </a:lnTo>
                </a:path>
              </a:pathLst>
            </a:custGeom>
            <a:noFill/>
            <a:ln w="14288" cap="rnd">
              <a:solidFill>
                <a:srgbClr val="26455F"/>
              </a:solidFill>
            </a:ln>
          </p:spPr>
        </p:sp>
        <p:sp>
          <p:nvSpPr>
            <p:cNvPr id="37" name="Line 37"/>
            <p:cNvSpPr/>
            <p:nvPr/>
          </p:nvSpPr>
          <p:spPr>
            <a:xfrm>
              <a:off x="6743700" y="3143250"/>
              <a:ext cx="9525" cy="1390650"/>
            </a:xfrm>
            <a:custGeom>
              <a:avLst/>
              <a:gdLst/>
              <a:ahLst/>
              <a:cxnLst/>
              <a:rect l="l" t="t" r="r" b="b"/>
              <a:pathLst>
                <a:path w="9525" h="1390650">
                  <a:moveTo>
                    <a:pt x="0" y="0"/>
                  </a:moveTo>
                  <a:lnTo>
                    <a:pt x="0" y="1390650"/>
                  </a:lnTo>
                </a:path>
              </a:pathLst>
            </a:custGeom>
            <a:noFill/>
            <a:ln w="14288" cap="rnd">
              <a:solidFill>
                <a:srgbClr val="26455F"/>
              </a:solidFill>
            </a:ln>
          </p:spPr>
        </p:sp>
        <p:sp>
          <p:nvSpPr>
            <p:cNvPr id="38" name="Line 38"/>
            <p:cNvSpPr/>
            <p:nvPr/>
          </p:nvSpPr>
          <p:spPr>
            <a:xfrm>
              <a:off x="6743700" y="4448175"/>
              <a:ext cx="4457700" cy="9525"/>
            </a:xfrm>
            <a:custGeom>
              <a:avLst/>
              <a:gdLst/>
              <a:ahLst/>
              <a:cxnLst/>
              <a:rect l="l" t="t" r="r" b="b"/>
              <a:pathLst>
                <a:path w="4457700" h="9525">
                  <a:moveTo>
                    <a:pt x="0" y="0"/>
                  </a:moveTo>
                  <a:lnTo>
                    <a:pt x="4457700" y="0"/>
                  </a:lnTo>
                </a:path>
              </a:pathLst>
            </a:custGeom>
            <a:noFill/>
            <a:ln w="13335" cap="rnd">
              <a:solidFill>
                <a:schemeClr val="accent2"/>
              </a:solidFill>
              <a:custDash>
                <a:ds d="357143" sp="285714"/>
              </a:custDash>
            </a:ln>
          </p:spPr>
        </p:sp>
        <p:sp>
          <p:nvSpPr>
            <p:cNvPr id="39" name="Polyline 39"/>
            <p:cNvSpPr/>
            <p:nvPr/>
          </p:nvSpPr>
          <p:spPr>
            <a:xfrm>
              <a:off x="6743700" y="3310890"/>
              <a:ext cx="4343400" cy="1137285"/>
            </a:xfrm>
            <a:custGeom>
              <a:avLst/>
              <a:gdLst/>
              <a:ahLst/>
              <a:cxnLst/>
              <a:rect l="l" t="t" r="r" b="b"/>
              <a:pathLst>
                <a:path w="4343400" h="1137285">
                  <a:moveTo>
                    <a:pt x="0" y="1137285"/>
                  </a:moveTo>
                  <a:lnTo>
                    <a:pt x="76200" y="1137285"/>
                  </a:lnTo>
                  <a:lnTo>
                    <a:pt x="152400" y="1137285"/>
                  </a:lnTo>
                  <a:lnTo>
                    <a:pt x="228600" y="1137285"/>
                  </a:lnTo>
                  <a:lnTo>
                    <a:pt x="304800" y="1137285"/>
                  </a:lnTo>
                  <a:lnTo>
                    <a:pt x="381000" y="1137285"/>
                  </a:lnTo>
                  <a:lnTo>
                    <a:pt x="457200" y="1137285"/>
                  </a:lnTo>
                  <a:lnTo>
                    <a:pt x="533400" y="1137285"/>
                  </a:lnTo>
                  <a:lnTo>
                    <a:pt x="609600" y="1137285"/>
                  </a:lnTo>
                  <a:lnTo>
                    <a:pt x="685800" y="1137285"/>
                  </a:lnTo>
                  <a:lnTo>
                    <a:pt x="762000" y="1137285"/>
                  </a:lnTo>
                  <a:lnTo>
                    <a:pt x="838200" y="1137285"/>
                  </a:lnTo>
                  <a:lnTo>
                    <a:pt x="914400" y="1137285"/>
                  </a:lnTo>
                  <a:lnTo>
                    <a:pt x="990600" y="1137285"/>
                  </a:lnTo>
                  <a:lnTo>
                    <a:pt x="1066800" y="1137285"/>
                  </a:lnTo>
                  <a:lnTo>
                    <a:pt x="1143000" y="1137285"/>
                  </a:lnTo>
                  <a:lnTo>
                    <a:pt x="1219200" y="1137285"/>
                  </a:lnTo>
                  <a:lnTo>
                    <a:pt x="1295400" y="1137285"/>
                  </a:lnTo>
                  <a:lnTo>
                    <a:pt x="1371600" y="1137285"/>
                  </a:lnTo>
                  <a:lnTo>
                    <a:pt x="1447800" y="1137285"/>
                  </a:lnTo>
                  <a:lnTo>
                    <a:pt x="1524000" y="1137285"/>
                  </a:lnTo>
                  <a:lnTo>
                    <a:pt x="1600200" y="1137285"/>
                  </a:lnTo>
                  <a:lnTo>
                    <a:pt x="1676400" y="1137285"/>
                  </a:lnTo>
                  <a:lnTo>
                    <a:pt x="1752600" y="1137285"/>
                  </a:lnTo>
                  <a:lnTo>
                    <a:pt x="1828800" y="1137285"/>
                  </a:lnTo>
                  <a:lnTo>
                    <a:pt x="1905000" y="1137285"/>
                  </a:lnTo>
                  <a:lnTo>
                    <a:pt x="1981200" y="1137285"/>
                  </a:lnTo>
                  <a:lnTo>
                    <a:pt x="2057400" y="1137285"/>
                  </a:lnTo>
                  <a:lnTo>
                    <a:pt x="2133600" y="1137285"/>
                  </a:lnTo>
                  <a:lnTo>
                    <a:pt x="2209800" y="1106805"/>
                  </a:lnTo>
                  <a:lnTo>
                    <a:pt x="2286000" y="990600"/>
                  </a:lnTo>
                  <a:lnTo>
                    <a:pt x="2362200" y="885825"/>
                  </a:lnTo>
                  <a:lnTo>
                    <a:pt x="2438400" y="792480"/>
                  </a:lnTo>
                  <a:lnTo>
                    <a:pt x="2514600" y="707707"/>
                  </a:lnTo>
                  <a:lnTo>
                    <a:pt x="2590800" y="631507"/>
                  </a:lnTo>
                  <a:lnTo>
                    <a:pt x="2667000" y="561975"/>
                  </a:lnTo>
                  <a:lnTo>
                    <a:pt x="2743200" y="500062"/>
                  </a:lnTo>
                  <a:lnTo>
                    <a:pt x="2819400" y="444817"/>
                  </a:lnTo>
                  <a:lnTo>
                    <a:pt x="2895600" y="394335"/>
                  </a:lnTo>
                  <a:lnTo>
                    <a:pt x="2971800" y="348615"/>
                  </a:lnTo>
                  <a:lnTo>
                    <a:pt x="3048000" y="308610"/>
                  </a:lnTo>
                  <a:lnTo>
                    <a:pt x="3124200" y="271462"/>
                  </a:lnTo>
                  <a:lnTo>
                    <a:pt x="3200400" y="238125"/>
                  </a:lnTo>
                  <a:lnTo>
                    <a:pt x="3276600" y="208597"/>
                  </a:lnTo>
                  <a:lnTo>
                    <a:pt x="3352800" y="181927"/>
                  </a:lnTo>
                  <a:lnTo>
                    <a:pt x="3429000" y="157162"/>
                  </a:lnTo>
                  <a:lnTo>
                    <a:pt x="3505200" y="135255"/>
                  </a:lnTo>
                  <a:lnTo>
                    <a:pt x="3581400" y="116205"/>
                  </a:lnTo>
                  <a:lnTo>
                    <a:pt x="3657600" y="98107"/>
                  </a:lnTo>
                  <a:lnTo>
                    <a:pt x="3733800" y="81915"/>
                  </a:lnTo>
                  <a:lnTo>
                    <a:pt x="3810000" y="67627"/>
                  </a:lnTo>
                  <a:lnTo>
                    <a:pt x="3886200" y="55245"/>
                  </a:lnTo>
                  <a:lnTo>
                    <a:pt x="3962400" y="42862"/>
                  </a:lnTo>
                  <a:lnTo>
                    <a:pt x="4038600" y="32385"/>
                  </a:lnTo>
                  <a:lnTo>
                    <a:pt x="4114800" y="22860"/>
                  </a:lnTo>
                  <a:lnTo>
                    <a:pt x="4191000" y="14288"/>
                  </a:lnTo>
                  <a:lnTo>
                    <a:pt x="4267200" y="6667"/>
                  </a:lnTo>
                  <a:lnTo>
                    <a:pt x="4343400" y="0"/>
                  </a:lnTo>
                </a:path>
              </a:pathLst>
            </a:custGeom>
            <a:noFill/>
            <a:ln w="26670">
              <a:solidFill>
                <a:srgbClr val="F2C14E"/>
              </a:solidFill>
            </a:ln>
          </p:spPr>
        </p:sp>
        <p:sp>
          <p:nvSpPr>
            <p:cNvPr id="40" name="Line 40"/>
            <p:cNvSpPr/>
            <p:nvPr/>
          </p:nvSpPr>
          <p:spPr>
            <a:xfrm>
              <a:off x="8953500" y="3162300"/>
              <a:ext cx="9525" cy="1371600"/>
            </a:xfrm>
            <a:custGeom>
              <a:avLst/>
              <a:gdLst/>
              <a:ahLst/>
              <a:cxnLst/>
              <a:rect l="l" t="t" r="r" b="b"/>
              <a:pathLst>
                <a:path w="9525" h="1371600">
                  <a:moveTo>
                    <a:pt x="0" y="0"/>
                  </a:moveTo>
                  <a:lnTo>
                    <a:pt x="0" y="1371600"/>
                  </a:lnTo>
                </a:path>
              </a:pathLst>
            </a:custGeom>
            <a:noFill/>
            <a:ln w="15240" cap="rnd">
              <a:solidFill>
                <a:srgbClr val="F2685C"/>
              </a:solidFill>
              <a:prstDash val="dash"/>
            </a:ln>
          </p:spPr>
        </p:sp>
        <p:sp>
          <p:nvSpPr>
            <p:cNvPr id="41" name="TextBox 41"/>
            <p:cNvSpPr txBox="1"/>
            <p:nvPr/>
          </p:nvSpPr>
          <p:spPr>
            <a:xfrm>
              <a:off x="8693740" y="3035141"/>
              <a:ext cx="519519" cy="161925"/>
            </a:xfrm>
            <a:prstGeom prst="rect">
              <a:avLst/>
            </a:prstGeom>
            <a:noFill/>
            <a:ln>
              <a:noFill/>
            </a:ln>
          </p:spPr>
          <p:txBody>
            <a:bodyPr wrap="none" lIns="0" tIns="0" rIns="0" bIns="0" anchor="t" anchorCtr="0">
              <a:spAutoFit/>
            </a:bodyPr>
            <a:lstStyle/>
            <a:p>
              <a:pPr algn="ctr"/>
              <a:r>
                <a:rPr lang="en-US" sz="820" b="1" dirty="0">
                  <a:solidFill>
                    <a:srgbClr val="F2685C"/>
                  </a:solidFill>
                  <a:latin typeface="+mn-lt"/>
                  <a:ea typeface="+mn-ea"/>
                  <a:cs typeface="+mn-cs"/>
                </a:rPr>
                <a:t>kappa=25</a:t>
              </a:r>
            </a:p>
          </p:txBody>
        </p:sp>
        <p:sp>
          <p:nvSpPr>
            <p:cNvPr id="42" name="TextBox 42"/>
            <p:cNvSpPr txBox="1"/>
            <p:nvPr/>
          </p:nvSpPr>
          <p:spPr>
            <a:xfrm>
              <a:off x="6796088" y="3183493"/>
              <a:ext cx="854380" cy="169069"/>
            </a:xfrm>
            <a:prstGeom prst="rect">
              <a:avLst/>
            </a:prstGeom>
            <a:noFill/>
            <a:ln>
              <a:noFill/>
            </a:ln>
          </p:spPr>
          <p:txBody>
            <a:bodyPr wrap="none" lIns="0" tIns="0" rIns="0" bIns="0" anchor="t" anchorCtr="0">
              <a:spAutoFit/>
            </a:bodyPr>
            <a:lstStyle/>
            <a:p>
              <a:pPr algn="l"/>
              <a:r>
                <a:rPr lang="en-US" sz="860" b="1" dirty="0">
                  <a:solidFill>
                    <a:srgbClr val="F2C14E"/>
                  </a:solidFill>
                  <a:latin typeface="+mn-lt"/>
                  <a:ea typeface="+mn-ea"/>
                  <a:cs typeface="+mn-cs"/>
                </a:rPr>
                <a:t>rejection rate</a:t>
              </a:r>
            </a:p>
          </p:txBody>
        </p:sp>
        <p:sp>
          <p:nvSpPr>
            <p:cNvPr id="43" name="TextBox 43"/>
            <p:cNvSpPr txBox="1"/>
            <p:nvPr/>
          </p:nvSpPr>
          <p:spPr>
            <a:xfrm>
              <a:off x="10696570" y="4578191"/>
              <a:ext cx="490542" cy="161925"/>
            </a:xfrm>
            <a:prstGeom prst="rect">
              <a:avLst/>
            </a:prstGeom>
            <a:noFill/>
            <a:ln>
              <a:noFill/>
            </a:ln>
          </p:spPr>
          <p:txBody>
            <a:bodyPr wrap="none" lIns="0" tIns="0" rIns="0" bIns="0" anchor="t" anchorCtr="0">
              <a:spAutoFit/>
            </a:bodyPr>
            <a:lstStyle/>
            <a:p>
              <a:pPr algn="r"/>
              <a:r>
                <a:rPr lang="en-US" sz="820" b="1" dirty="0">
                  <a:solidFill>
                    <a:srgbClr val="6E869C"/>
                  </a:solidFill>
                  <a:latin typeface="+mn-lt"/>
                  <a:ea typeface="+mn-ea"/>
                  <a:cs typeface="+mn-cs"/>
                </a:rPr>
                <a:t>kappa -&gt;</a:t>
              </a:r>
            </a:p>
          </p:txBody>
        </p:sp>
        <p:sp>
          <p:nvSpPr>
            <p:cNvPr id="44" name="TextBox 44"/>
            <p:cNvSpPr txBox="1"/>
            <p:nvPr/>
          </p:nvSpPr>
          <p:spPr>
            <a:xfrm>
              <a:off x="10591334" y="4325064"/>
              <a:ext cx="595778" cy="154781"/>
            </a:xfrm>
            <a:prstGeom prst="rect">
              <a:avLst/>
            </a:prstGeom>
            <a:noFill/>
            <a:ln>
              <a:noFill/>
            </a:ln>
          </p:spPr>
          <p:txBody>
            <a:bodyPr wrap="none" lIns="0" tIns="0" rIns="0" bIns="0" anchor="t" anchorCtr="0">
              <a:spAutoFit/>
            </a:bodyPr>
            <a:lstStyle/>
            <a:p>
              <a:pPr algn="r"/>
              <a:r>
                <a:rPr lang="en-US" sz="790" b="1" dirty="0">
                  <a:solidFill>
                    <a:schemeClr val="accent2"/>
                  </a:solidFill>
                  <a:latin typeface="+mn-lt"/>
                  <a:ea typeface="+mn-ea"/>
                  <a:cs typeface="+mn-cs"/>
                </a:rPr>
                <a:t>alpha=0.05</a:t>
              </a:r>
            </a:p>
          </p:txBody>
        </p:sp>
        <p:sp>
          <p:nvSpPr>
            <p:cNvPr id="45" name="TextBox 45"/>
            <p:cNvSpPr txBox="1"/>
            <p:nvPr/>
          </p:nvSpPr>
          <p:spPr>
            <a:xfrm>
              <a:off x="6509956" y="4919901"/>
              <a:ext cx="4063690"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mn-lt"/>
                  <a:ea typeface="+mn-ea"/>
                  <a:cs typeface="+mn-cs"/>
                </a:rPr>
                <a:t>Correct size for kappa &lt;= 25 · rising power for kappa &gt; 25</a:t>
              </a:r>
            </a:p>
          </p:txBody>
        </p:sp>
      </p:grpSp>
      <p:sp>
        <p:nvSpPr>
          <p:cNvPr id="47" name="cue_s08_c1_most_informative_ablation_varies_mis" title="cue_s08_c1_most_informative_ablation_varies_mis" descr="cue_s08_c1_most_informative_ablation_varies_mis The most informative ablation varies the model misspecification level from mild to severe, across five hundred replications."/>
          <p:cNvSpPr/>
          <p:nvPr/>
        </p:nvSpPr>
        <p:spPr>
          <a:xfrm>
            <a:off x="609600" y="1504645"/>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8_c2_shows_empirical_size_staying_pinned" title="cue_s08_c2_shows_empirical_size_staying_pinned" descr="cue_s08_c2_shows_empirical_size_staying_pinned It shows the empirical size staying pinned at the nominal level whenever at least one of the two nuisance models remains correctly specified, a clean demonstration of the double robustness property."/>
          <p:cNvSpPr/>
          <p:nvPr/>
        </p:nvSpPr>
        <p:spPr>
          <a:xfrm>
            <a:off x="609600" y="2800121"/>
            <a:ext cx="5334000" cy="24387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8_c3_second_sweep_varies_kappa_length" title="cue_s08_c3_second_sweep_varies_kappa_length" descr="cue_s08_c3_second_sweep_varies_kappa_length A second sweep varies kappa, the length of the tested interval, to actually locate the single change point: the test correctly holds its size while the null is true and its power climbs once the interval crosses the true change point at twenty-five."/>
          <p:cNvSpPr/>
          <p:nvPr/>
        </p:nvSpPr>
        <p:spPr>
          <a:xfrm>
            <a:off x="6248399"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18" name="Group 18"/>
          <p:cNvGrpSpPr/>
          <p:nvPr/>
        </p:nvGrpSpPr>
        <p:grpSpPr>
          <a:xfrm>
            <a:off x="609600" y="1562100"/>
            <a:ext cx="10972800" cy="1352550"/>
            <a:chOff x="609600" y="1562100"/>
            <a:chExt cx="10972800" cy="1352550"/>
          </a:xfrm>
        </p:grpSpPr>
        <p:sp>
          <p:nvSpPr>
            <p:cNvPr id="5" name="Rectangle 5"/>
            <p:cNvSpPr/>
            <p:nvPr/>
          </p:nvSpPr>
          <p:spPr>
            <a:xfrm>
              <a:off x="609600" y="1562100"/>
              <a:ext cx="10972800" cy="1352550"/>
            </a:xfrm>
            <a:prstGeom prst="roundRect">
              <a:avLst>
                <a:gd name="adj" fmla="val 9859"/>
              </a:avLst>
            </a:prstGeom>
            <a:solidFill>
              <a:schemeClr val="accent5"/>
            </a:solidFill>
            <a:ln w="14288">
              <a:solidFill>
                <a:srgbClr val="26455F"/>
              </a:solidFill>
            </a:ln>
          </p:spPr>
        </p:sp>
        <p:sp>
          <p:nvSpPr>
            <p:cNvPr id="6" name="Rectangle 6"/>
            <p:cNvSpPr/>
            <p:nvPr/>
          </p:nvSpPr>
          <p:spPr>
            <a:xfrm>
              <a:off x="609600" y="1562100"/>
              <a:ext cx="57150" cy="1352550"/>
            </a:xfrm>
            <a:prstGeom prst="roundRect">
              <a:avLst>
                <a:gd name="adj" fmla="val 50000"/>
              </a:avLst>
            </a:prstGeom>
            <a:solidFill>
              <a:srgbClr val="34D3C0"/>
            </a:solidFill>
            <a:ln>
              <a:noFill/>
            </a:ln>
          </p:spPr>
        </p:sp>
        <p:sp>
          <p:nvSpPr>
            <p:cNvPr id="7" name="TextBox 7"/>
            <p:cNvSpPr txBox="1"/>
            <p:nvPr/>
          </p:nvSpPr>
          <p:spPr>
            <a:xfrm>
              <a:off x="870014" y="1790462"/>
              <a:ext cx="4627984"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Change-point detection reaches far higher dimensions</a:t>
              </a:r>
            </a:p>
          </p:txBody>
        </p:sp>
        <p:sp>
          <p:nvSpPr>
            <p:cNvPr id="8" name="Rectangle 8"/>
            <p:cNvSpPr/>
            <p:nvPr/>
          </p:nvSpPr>
          <p:spPr>
            <a:xfrm>
              <a:off x="876300" y="2095500"/>
              <a:ext cx="2381250" cy="704850"/>
            </a:xfrm>
            <a:prstGeom prst="roundRect">
              <a:avLst>
                <a:gd name="adj" fmla="val 16216"/>
              </a:avLst>
            </a:prstGeom>
            <a:solidFill>
              <a:schemeClr val="accent6"/>
            </a:solidFill>
            <a:ln w="14288">
              <a:solidFill>
                <a:srgbClr val="26455F"/>
              </a:solidFill>
            </a:ln>
          </p:spPr>
        </p:sp>
        <p:sp>
          <p:nvSpPr>
            <p:cNvPr id="9" name="TextBox 9"/>
            <p:cNvSpPr txBox="1"/>
            <p:nvPr/>
          </p:nvSpPr>
          <p:spPr>
            <a:xfrm>
              <a:off x="1507702" y="2247328"/>
              <a:ext cx="1118447"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dS = 30</a:t>
              </a:r>
            </a:p>
          </p:txBody>
        </p:sp>
        <p:sp>
          <p:nvSpPr>
            <p:cNvPr id="10" name="TextBox 10"/>
            <p:cNvSpPr txBox="1"/>
            <p:nvPr/>
          </p:nvSpPr>
          <p:spPr>
            <a:xfrm>
              <a:off x="1341343" y="2572274"/>
              <a:ext cx="145116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proposed still detects</a:t>
              </a:r>
            </a:p>
          </p:txBody>
        </p:sp>
        <p:sp>
          <p:nvSpPr>
            <p:cNvPr id="11" name="TextBox 11"/>
            <p:cNvSpPr txBox="1"/>
            <p:nvPr/>
          </p:nvSpPr>
          <p:spPr>
            <a:xfrm>
              <a:off x="3267495" y="2304098"/>
              <a:ext cx="323010" cy="381381"/>
            </a:xfrm>
            <a:prstGeom prst="rect">
              <a:avLst/>
            </a:prstGeom>
            <a:noFill/>
            <a:ln>
              <a:noFill/>
            </a:ln>
          </p:spPr>
          <p:txBody>
            <a:bodyPr wrap="none" lIns="0" tIns="0" rIns="0" bIns="0" anchor="t" anchorCtr="0">
              <a:spAutoFit/>
            </a:bodyPr>
            <a:lstStyle/>
            <a:p>
              <a:pPr algn="ctr"/>
              <a:r>
                <a:rPr lang="en-US" sz="1950" b="1" dirty="0">
                  <a:solidFill>
                    <a:schemeClr val="dk2"/>
                  </a:solidFill>
                  <a:latin typeface="+mn-lt"/>
                  <a:ea typeface="+mn-ea"/>
                  <a:cs typeface="+mn-cs"/>
                </a:rPr>
                <a:t>vs</a:t>
              </a:r>
            </a:p>
          </p:txBody>
        </p:sp>
        <p:sp>
          <p:nvSpPr>
            <p:cNvPr id="12" name="Rectangle 12"/>
            <p:cNvSpPr/>
            <p:nvPr/>
          </p:nvSpPr>
          <p:spPr>
            <a:xfrm>
              <a:off x="3810000" y="2095500"/>
              <a:ext cx="2381250" cy="704850"/>
            </a:xfrm>
            <a:prstGeom prst="roundRect">
              <a:avLst>
                <a:gd name="adj" fmla="val 16216"/>
              </a:avLst>
            </a:prstGeom>
            <a:solidFill>
              <a:schemeClr val="accent6"/>
            </a:solidFill>
            <a:ln w="14288">
              <a:solidFill>
                <a:srgbClr val="26455F"/>
              </a:solidFill>
            </a:ln>
          </p:spPr>
        </p:sp>
        <p:sp>
          <p:nvSpPr>
            <p:cNvPr id="13" name="TextBox 13"/>
            <p:cNvSpPr txBox="1"/>
            <p:nvPr/>
          </p:nvSpPr>
          <p:spPr>
            <a:xfrm>
              <a:off x="4531338" y="2247328"/>
              <a:ext cx="938574" cy="440055"/>
            </a:xfrm>
            <a:prstGeom prst="rect">
              <a:avLst/>
            </a:prstGeom>
            <a:noFill/>
            <a:ln>
              <a:noFill/>
            </a:ln>
          </p:spPr>
          <p:txBody>
            <a:bodyPr wrap="none" lIns="0" tIns="0" rIns="0" bIns="0" anchor="t" anchorCtr="0">
              <a:spAutoFit/>
            </a:bodyPr>
            <a:lstStyle/>
            <a:p>
              <a:pPr algn="ctr"/>
              <a:r>
                <a:rPr lang="en-US" sz="2250" b="1" dirty="0">
                  <a:solidFill>
                    <a:srgbClr val="F2C14E"/>
                  </a:solidFill>
                  <a:latin typeface="+mn-lt"/>
                  <a:ea typeface="+mn-ea"/>
                  <a:cs typeface="+mn-cs"/>
                </a:rPr>
                <a:t>dS = 1</a:t>
              </a:r>
            </a:p>
          </p:txBody>
        </p:sp>
        <p:sp>
          <p:nvSpPr>
            <p:cNvPr id="14" name="TextBox 14"/>
            <p:cNvSpPr txBox="1"/>
            <p:nvPr/>
          </p:nvSpPr>
          <p:spPr>
            <a:xfrm>
              <a:off x="4449341" y="2572274"/>
              <a:ext cx="110256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CUSUM-RL ceiling</a:t>
              </a:r>
            </a:p>
          </p:txBody>
        </p:sp>
        <p:sp>
          <p:nvSpPr>
            <p:cNvPr id="15" name="Rectangle 15"/>
            <p:cNvSpPr/>
            <p:nvPr/>
          </p:nvSpPr>
          <p:spPr>
            <a:xfrm>
              <a:off x="6400800" y="2095500"/>
              <a:ext cx="5181600" cy="704850"/>
            </a:xfrm>
            <a:prstGeom prst="roundRect">
              <a:avLst>
                <a:gd name="adj" fmla="val 16216"/>
              </a:avLst>
            </a:prstGeom>
            <a:solidFill>
              <a:schemeClr val="accent6"/>
            </a:solidFill>
            <a:ln w="14288">
              <a:solidFill>
                <a:srgbClr val="26455F"/>
              </a:solidFill>
            </a:ln>
          </p:spPr>
        </p:sp>
        <p:sp>
          <p:nvSpPr>
            <p:cNvPr id="16" name="TextBox 16"/>
            <p:cNvSpPr txBox="1"/>
            <p:nvPr/>
          </p:nvSpPr>
          <p:spPr>
            <a:xfrm>
              <a:off x="6586156" y="2252901"/>
              <a:ext cx="397156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Correct detection sustained all the way to a 30-dimensional</a:t>
              </a:r>
            </a:p>
          </p:txBody>
        </p:sp>
        <p:sp>
          <p:nvSpPr>
            <p:cNvPr id="17" name="TextBox 17"/>
            <p:cNvSpPr txBox="1"/>
            <p:nvPr/>
          </p:nvSpPr>
          <p:spPr>
            <a:xfrm>
              <a:off x="6586156" y="2443401"/>
              <a:ext cx="442918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state, where the closest competitor works only at dimension one.</a:t>
              </a:r>
            </a:p>
          </p:txBody>
        </p:sp>
      </p:grpSp>
      <p:grpSp>
        <p:nvGrpSpPr>
          <p:cNvPr id="29" name="Group 29"/>
          <p:cNvGrpSpPr/>
          <p:nvPr/>
        </p:nvGrpSpPr>
        <p:grpSpPr>
          <a:xfrm>
            <a:off x="609600" y="3067050"/>
            <a:ext cx="5334000" cy="1866900"/>
            <a:chOff x="609600" y="3067050"/>
            <a:chExt cx="5334000" cy="1866900"/>
          </a:xfrm>
        </p:grpSpPr>
        <p:sp>
          <p:nvSpPr>
            <p:cNvPr id="19" name="Rectangle 19"/>
            <p:cNvSpPr/>
            <p:nvPr/>
          </p:nvSpPr>
          <p:spPr>
            <a:xfrm>
              <a:off x="609600" y="3067050"/>
              <a:ext cx="5334000" cy="1866900"/>
            </a:xfrm>
            <a:prstGeom prst="roundRect">
              <a:avLst>
                <a:gd name="adj" fmla="val 7143"/>
              </a:avLst>
            </a:prstGeom>
            <a:solidFill>
              <a:schemeClr val="accent5"/>
            </a:solidFill>
            <a:ln w="14288">
              <a:solidFill>
                <a:srgbClr val="26455F"/>
              </a:solidFill>
            </a:ln>
          </p:spPr>
        </p:sp>
        <p:sp>
          <p:nvSpPr>
            <p:cNvPr id="20" name="Rectangle 20"/>
            <p:cNvSpPr/>
            <p:nvPr/>
          </p:nvSpPr>
          <p:spPr>
            <a:xfrm>
              <a:off x="609600" y="3067050"/>
              <a:ext cx="57150" cy="1866900"/>
            </a:xfrm>
            <a:prstGeom prst="roundRect">
              <a:avLst>
                <a:gd name="adj" fmla="val 50000"/>
              </a:avLst>
            </a:prstGeom>
            <a:solidFill>
              <a:schemeClr val="accent2"/>
            </a:solidFill>
            <a:ln>
              <a:noFill/>
            </a:ln>
          </p:spPr>
        </p:sp>
        <p:sp>
          <p:nvSpPr>
            <p:cNvPr id="21" name="TextBox 21"/>
            <p:cNvSpPr txBox="1"/>
            <p:nvPr/>
          </p:nvSpPr>
          <p:spPr>
            <a:xfrm>
              <a:off x="870014" y="3276362"/>
              <a:ext cx="2095183"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Size control everywhere</a:t>
              </a:r>
            </a:p>
          </p:txBody>
        </p:sp>
        <p:sp>
          <p:nvSpPr>
            <p:cNvPr id="22" name="Rectangle 22"/>
            <p:cNvSpPr/>
            <p:nvPr/>
          </p:nvSpPr>
          <p:spPr>
            <a:xfrm>
              <a:off x="876300" y="3600450"/>
              <a:ext cx="2381250" cy="914400"/>
            </a:xfrm>
            <a:prstGeom prst="roundRect">
              <a:avLst>
                <a:gd name="adj" fmla="val 12500"/>
              </a:avLst>
            </a:prstGeom>
            <a:solidFill>
              <a:schemeClr val="accent6"/>
            </a:solidFill>
            <a:ln w="14288">
              <a:solidFill>
                <a:srgbClr val="26455F"/>
              </a:solidFill>
            </a:ln>
          </p:spPr>
        </p:sp>
        <p:sp>
          <p:nvSpPr>
            <p:cNvPr id="23" name="TextBox 23"/>
            <p:cNvSpPr txBox="1"/>
            <p:nvPr/>
          </p:nvSpPr>
          <p:spPr>
            <a:xfrm>
              <a:off x="1705651" y="3869626"/>
              <a:ext cx="72254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0.05</a:t>
              </a:r>
            </a:p>
          </p:txBody>
        </p:sp>
        <p:sp>
          <p:nvSpPr>
            <p:cNvPr id="24" name="TextBox 24"/>
            <p:cNvSpPr txBox="1"/>
            <p:nvPr/>
          </p:nvSpPr>
          <p:spPr>
            <a:xfrm>
              <a:off x="1490822" y="4249055"/>
              <a:ext cx="115220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nominal alpha held</a:t>
              </a:r>
            </a:p>
          </p:txBody>
        </p:sp>
        <p:sp>
          <p:nvSpPr>
            <p:cNvPr id="25" name="Rectangle 25"/>
            <p:cNvSpPr/>
            <p:nvPr/>
          </p:nvSpPr>
          <p:spPr>
            <a:xfrm>
              <a:off x="3524250" y="3600450"/>
              <a:ext cx="2381250" cy="914400"/>
            </a:xfrm>
            <a:prstGeom prst="roundRect">
              <a:avLst>
                <a:gd name="adj" fmla="val 12500"/>
              </a:avLst>
            </a:prstGeom>
            <a:solidFill>
              <a:schemeClr val="accent6"/>
            </a:solidFill>
            <a:ln w="14288">
              <a:solidFill>
                <a:srgbClr val="26455F"/>
              </a:solidFill>
            </a:ln>
          </p:spPr>
        </p:sp>
        <p:sp>
          <p:nvSpPr>
            <p:cNvPr id="26" name="TextBox 26"/>
            <p:cNvSpPr txBox="1"/>
            <p:nvPr/>
          </p:nvSpPr>
          <p:spPr>
            <a:xfrm>
              <a:off x="4345650" y="3869626"/>
              <a:ext cx="738449" cy="440055"/>
            </a:xfrm>
            <a:prstGeom prst="rect">
              <a:avLst/>
            </a:prstGeom>
            <a:noFill/>
            <a:ln>
              <a:noFill/>
            </a:ln>
          </p:spPr>
          <p:txBody>
            <a:bodyPr wrap="none" lIns="0" tIns="0" rIns="0" bIns="0" anchor="t" anchorCtr="0">
              <a:spAutoFit/>
            </a:bodyPr>
            <a:lstStyle/>
            <a:p>
              <a:pPr algn="ctr"/>
              <a:r>
                <a:rPr lang="en-US" sz="2250" b="1" dirty="0">
                  <a:solidFill>
                    <a:srgbClr val="34D3C0"/>
                  </a:solidFill>
                  <a:latin typeface="+mn-lt"/>
                  <a:ea typeface="+mn-ea"/>
                  <a:cs typeface="+mn-cs"/>
                </a:rPr>
                <a:t>4 + 2</a:t>
              </a:r>
            </a:p>
          </p:txBody>
        </p:sp>
        <p:sp>
          <p:nvSpPr>
            <p:cNvPr id="27" name="TextBox 27"/>
            <p:cNvSpPr txBox="1"/>
            <p:nvPr/>
          </p:nvSpPr>
          <p:spPr>
            <a:xfrm>
              <a:off x="3989293" y="4249055"/>
              <a:ext cx="145116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sims + real specialties</a:t>
              </a:r>
            </a:p>
          </p:txBody>
        </p:sp>
        <p:sp>
          <p:nvSpPr>
            <p:cNvPr id="28" name="TextBox 28"/>
            <p:cNvSpPr txBox="1"/>
            <p:nvPr/>
          </p:nvSpPr>
          <p:spPr>
            <a:xfrm>
              <a:off x="871156" y="4672251"/>
              <a:ext cx="3953129"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Type-I error stays at the nominal level in every setting.</a:t>
              </a:r>
            </a:p>
          </p:txBody>
        </p:sp>
      </p:grpSp>
      <p:grpSp>
        <p:nvGrpSpPr>
          <p:cNvPr id="40" name="Group 40"/>
          <p:cNvGrpSpPr/>
          <p:nvPr/>
        </p:nvGrpSpPr>
        <p:grpSpPr>
          <a:xfrm>
            <a:off x="6248400" y="3067050"/>
            <a:ext cx="5334000" cy="1866900"/>
            <a:chOff x="6248400" y="3067050"/>
            <a:chExt cx="5334000" cy="1866900"/>
          </a:xfrm>
        </p:grpSpPr>
        <p:sp>
          <p:nvSpPr>
            <p:cNvPr id="30" name="Rectangle 30"/>
            <p:cNvSpPr/>
            <p:nvPr/>
          </p:nvSpPr>
          <p:spPr>
            <a:xfrm>
              <a:off x="6248400" y="3067050"/>
              <a:ext cx="5334000" cy="1866900"/>
            </a:xfrm>
            <a:prstGeom prst="roundRect">
              <a:avLst>
                <a:gd name="adj" fmla="val 7143"/>
              </a:avLst>
            </a:prstGeom>
            <a:solidFill>
              <a:srgbClr val="0F2E2B"/>
            </a:solidFill>
            <a:ln w="14288">
              <a:solidFill>
                <a:srgbClr val="48C78E"/>
              </a:solidFill>
            </a:ln>
          </p:spPr>
        </p:sp>
        <p:sp>
          <p:nvSpPr>
            <p:cNvPr id="31" name="Rectangle 31"/>
            <p:cNvSpPr/>
            <p:nvPr/>
          </p:nvSpPr>
          <p:spPr>
            <a:xfrm>
              <a:off x="6248400" y="3067050"/>
              <a:ext cx="57150" cy="1866900"/>
            </a:xfrm>
            <a:prstGeom prst="roundRect">
              <a:avLst>
                <a:gd name="adj" fmla="val 50000"/>
              </a:avLst>
            </a:prstGeom>
            <a:solidFill>
              <a:srgbClr val="48C78E"/>
            </a:solidFill>
            <a:ln>
              <a:noFill/>
            </a:ln>
          </p:spPr>
        </p:sp>
        <p:sp>
          <p:nvSpPr>
            <p:cNvPr id="32" name="TextBox 32"/>
            <p:cNvSpPr txBox="1"/>
            <p:nvPr/>
          </p:nvSpPr>
          <p:spPr>
            <a:xfrm>
              <a:off x="6508814" y="3276362"/>
              <a:ext cx="2708797"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On the real Intern Health Study</a:t>
              </a:r>
            </a:p>
          </p:txBody>
        </p:sp>
        <p:sp>
          <p:nvSpPr>
            <p:cNvPr id="33" name="Rectangle 33"/>
            <p:cNvSpPr/>
            <p:nvPr/>
          </p:nvSpPr>
          <p:spPr>
            <a:xfrm>
              <a:off x="6515100" y="3600450"/>
              <a:ext cx="2381250" cy="914400"/>
            </a:xfrm>
            <a:prstGeom prst="roundRect">
              <a:avLst>
                <a:gd name="adj" fmla="val 12500"/>
              </a:avLst>
            </a:prstGeom>
            <a:solidFill>
              <a:schemeClr val="accent6"/>
            </a:solidFill>
            <a:ln w="14288">
              <a:solidFill>
                <a:srgbClr val="26455F"/>
              </a:solidFill>
            </a:ln>
          </p:spPr>
        </p:sp>
        <p:sp>
          <p:nvSpPr>
            <p:cNvPr id="34" name="TextBox 34"/>
            <p:cNvSpPr txBox="1"/>
            <p:nvPr/>
          </p:nvSpPr>
          <p:spPr>
            <a:xfrm>
              <a:off x="7090019" y="3869626"/>
              <a:ext cx="1231411"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week 16</a:t>
              </a:r>
            </a:p>
          </p:txBody>
        </p:sp>
        <p:sp>
          <p:nvSpPr>
            <p:cNvPr id="35" name="TextBox 35"/>
            <p:cNvSpPr txBox="1"/>
            <p:nvPr/>
          </p:nvSpPr>
          <p:spPr>
            <a:xfrm>
              <a:off x="6869591" y="4249055"/>
              <a:ext cx="167226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Internal Medicine: change</a:t>
              </a:r>
            </a:p>
          </p:txBody>
        </p:sp>
        <p:sp>
          <p:nvSpPr>
            <p:cNvPr id="36" name="Rectangle 36"/>
            <p:cNvSpPr/>
            <p:nvPr/>
          </p:nvSpPr>
          <p:spPr>
            <a:xfrm>
              <a:off x="9201150" y="3600450"/>
              <a:ext cx="2381250" cy="914400"/>
            </a:xfrm>
            <a:prstGeom prst="roundRect">
              <a:avLst>
                <a:gd name="adj" fmla="val 12500"/>
              </a:avLst>
            </a:prstGeom>
            <a:solidFill>
              <a:schemeClr val="accent6"/>
            </a:solidFill>
            <a:ln w="14288">
              <a:solidFill>
                <a:srgbClr val="26455F"/>
              </a:solidFill>
            </a:ln>
          </p:spPr>
        </p:sp>
        <p:sp>
          <p:nvSpPr>
            <p:cNvPr id="37" name="TextBox 37"/>
            <p:cNvSpPr txBox="1"/>
            <p:nvPr/>
          </p:nvSpPr>
          <p:spPr>
            <a:xfrm>
              <a:off x="10030501" y="3869626"/>
              <a:ext cx="722547" cy="440055"/>
            </a:xfrm>
            <a:prstGeom prst="rect">
              <a:avLst/>
            </a:prstGeom>
            <a:noFill/>
            <a:ln>
              <a:noFill/>
            </a:ln>
          </p:spPr>
          <p:txBody>
            <a:bodyPr wrap="none" lIns="0" tIns="0" rIns="0" bIns="0" anchor="t" anchorCtr="0">
              <a:spAutoFit/>
            </a:bodyPr>
            <a:lstStyle/>
            <a:p>
              <a:pPr algn="ctr"/>
              <a:r>
                <a:rPr lang="en-US" sz="2250" b="1" dirty="0">
                  <a:solidFill>
                    <a:schemeClr val="dk2"/>
                  </a:solidFill>
                  <a:latin typeface="+mn-lt"/>
                  <a:ea typeface="+mn-ea"/>
                  <a:cs typeface="+mn-cs"/>
                </a:rPr>
                <a:t>none</a:t>
              </a:r>
            </a:p>
          </p:txBody>
        </p:sp>
        <p:sp>
          <p:nvSpPr>
            <p:cNvPr id="38" name="TextBox 38"/>
            <p:cNvSpPr txBox="1"/>
            <p:nvPr/>
          </p:nvSpPr>
          <p:spPr>
            <a:xfrm>
              <a:off x="9518914" y="4249055"/>
              <a:ext cx="17457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Family Practice: no change</a:t>
              </a:r>
            </a:p>
          </p:txBody>
        </p:sp>
        <p:sp>
          <p:nvSpPr>
            <p:cNvPr id="39" name="TextBox 39"/>
            <p:cNvSpPr txBox="1"/>
            <p:nvPr/>
          </p:nvSpPr>
          <p:spPr>
            <a:xfrm>
              <a:off x="6509956" y="4672251"/>
              <a:ext cx="4305316"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A genuine change point for one specialty, none for the other.</a:t>
              </a:r>
            </a:p>
          </p:txBody>
        </p:sp>
      </p:grpSp>
      <p:grpSp>
        <p:nvGrpSpPr>
          <p:cNvPr id="46" name="Group 46"/>
          <p:cNvGrpSpPr/>
          <p:nvPr/>
        </p:nvGrpSpPr>
        <p:grpSpPr>
          <a:xfrm>
            <a:off x="609600" y="5086350"/>
            <a:ext cx="10972800" cy="666750"/>
            <a:chOff x="609600" y="5086350"/>
            <a:chExt cx="10972800" cy="666750"/>
          </a:xfrm>
        </p:grpSpPr>
        <p:sp>
          <p:nvSpPr>
            <p:cNvPr id="41" name="Rectangle 41"/>
            <p:cNvSpPr/>
            <p:nvPr/>
          </p:nvSpPr>
          <p:spPr>
            <a:xfrm>
              <a:off x="609600" y="5086350"/>
              <a:ext cx="10972800" cy="666750"/>
            </a:xfrm>
            <a:prstGeom prst="roundRect">
              <a:avLst>
                <a:gd name="adj" fmla="val 17143"/>
              </a:avLst>
            </a:prstGeom>
            <a:solidFill>
              <a:schemeClr val="accent6"/>
            </a:solidFill>
            <a:ln w="14288">
              <a:solidFill>
                <a:srgbClr val="26455F"/>
              </a:solidFill>
            </a:ln>
          </p:spPr>
        </p:sp>
        <p:sp>
          <p:nvSpPr>
            <p:cNvPr id="42" name="Rectangle 42"/>
            <p:cNvSpPr/>
            <p:nvPr/>
          </p:nvSpPr>
          <p:spPr>
            <a:xfrm>
              <a:off x="609600" y="5086350"/>
              <a:ext cx="57150" cy="666750"/>
            </a:xfrm>
            <a:prstGeom prst="roundRect">
              <a:avLst>
                <a:gd name="adj" fmla="val 50000"/>
              </a:avLst>
            </a:prstGeom>
            <a:solidFill>
              <a:srgbClr val="F2C14E"/>
            </a:solidFill>
            <a:ln>
              <a:noFill/>
            </a:ln>
          </p:spPr>
        </p:sp>
        <p:sp>
          <p:nvSpPr>
            <p:cNvPr id="43" name="TextBox 43"/>
            <p:cNvSpPr txBox="1"/>
            <p:nvPr/>
          </p:nvSpPr>
          <p:spPr>
            <a:xfrm>
              <a:off x="871347" y="5285899"/>
              <a:ext cx="935436"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mn-lt"/>
                  <a:ea typeface="+mn-ea"/>
                  <a:cs typeface="+mn-cs"/>
                </a:rPr>
                <a:t>Evidence base</a:t>
              </a:r>
            </a:p>
          </p:txBody>
        </p:sp>
        <p:sp>
          <p:nvSpPr>
            <p:cNvPr id="44" name="TextBox 44"/>
            <p:cNvSpPr txBox="1"/>
            <p:nvPr/>
          </p:nvSpPr>
          <p:spPr>
            <a:xfrm>
              <a:off x="870776" y="5483304"/>
              <a:ext cx="735009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Every number rests on thousands of bootstrap samples and hundreds of replications per setting.</a:t>
              </a:r>
            </a:p>
          </p:txBody>
        </p:sp>
        <p:sp>
          <p:nvSpPr>
            <p:cNvPr id="45" name="TextBox 45"/>
            <p:cNvSpPr txBox="1"/>
            <p:nvPr/>
          </p:nvSpPr>
          <p:spPr>
            <a:xfrm>
              <a:off x="9176227" y="5377101"/>
              <a:ext cx="2144616" cy="198025"/>
            </a:xfrm>
            <a:prstGeom prst="rect">
              <a:avLst/>
            </a:prstGeom>
            <a:noFill/>
            <a:ln>
              <a:noFill/>
            </a:ln>
          </p:spPr>
          <p:txBody>
            <a:bodyPr wrap="none" lIns="0" tIns="0" rIns="0" bIns="0" anchor="t" anchorCtr="0">
              <a:spAutoFit/>
            </a:bodyPr>
            <a:lstStyle/>
            <a:p>
              <a:pPr algn="r"/>
              <a:r>
                <a:rPr lang="en-US" sz="1010" b="1" dirty="0">
                  <a:solidFill>
                    <a:srgbClr val="F2C14E"/>
                  </a:solidFill>
                  <a:latin typeface="Consolas"/>
                  <a:ea typeface="Consolas"/>
                  <a:cs typeface="Consolas"/>
                </a:rPr>
                <a:t>5000 bootstrap · 100-500 reps</a:t>
              </a:r>
            </a:p>
          </p:txBody>
        </p:sp>
      </p:grpSp>
      <p:sp>
        <p:nvSpPr>
          <p:cNvPr id="47" name="cue_s09_c1_few_numbers_anchor_impact_test" title="cue_s09_c1_few_numbers_anchor_impact_test" descr="cue_s09_c1_few_numbers_anchor_impact_test A few numbers anchor the impact. The test sustains correct change-point detection all the way up to a state dimension of thirty, whereas the closest competitor works only at dimension one."/>
          <p:cNvSpPr/>
          <p:nvPr/>
        </p:nvSpPr>
        <p:spPr>
          <a:xfrm>
            <a:off x="609600" y="1562252"/>
            <a:ext cx="10972800" cy="13523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9_c2_maintains_nominal_five_percent_signi" title="cue_s09_c2_maintains_nominal_five_percent_signi" descr="cue_s09_c2_maintains_nominal_five_percent_signi It maintains the nominal five-percent significance level across all four simulations and both real-data specialties."/>
          <p:cNvSpPr/>
          <p:nvPr/>
        </p:nvSpPr>
        <p:spPr>
          <a:xfrm>
            <a:off x="609600" y="3066897"/>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9_c3_real_intern_health_study_flags" title="cue_s09_c3_real_intern_health_study_flags" descr="cue_s09_c3_real_intern_health_study_flags And on the real Intern Health Study data, it flags a genuine change point for Internal Medicine interns at week sixteen, while correctly finding no change for the Family Practice group."/>
          <p:cNvSpPr/>
          <p:nvPr/>
        </p:nvSpPr>
        <p:spPr>
          <a:xfrm>
            <a:off x="6248399" y="3066897"/>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4_these_results_come_thousands_bootstr" title="cue_s09_c4_these_results_come_thousands_bootstr" descr="cue_s09_c4_these_results_come_thousands_bootstr These results come from thousands of bootstrap samples and hundreds of replications per setting."/>
          <p:cNvSpPr/>
          <p:nvPr/>
        </p:nvSpPr>
        <p:spPr>
          <a:xfrm>
            <a:off x="609600" y="508657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31460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Test stationarity, then trust the policy</a:t>
            </a:r>
          </a:p>
        </p:txBody>
      </p:sp>
      <p:grpSp>
        <p:nvGrpSpPr>
          <p:cNvPr id="11" name="Group 11"/>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182733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The idea in one line</a:t>
              </a:r>
            </a:p>
          </p:txBody>
        </p:sp>
        <p:sp>
          <p:nvSpPr>
            <p:cNvPr id="9" name="TextBox 9"/>
            <p:cNvSpPr txBox="1"/>
            <p:nvPr/>
          </p:nvSpPr>
          <p:spPr>
            <a:xfrm>
              <a:off x="1422844" y="2293858"/>
              <a:ext cx="697985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 doubly robust CUSUM test tells you, reliably, when an offline RL environment has stopped</a:t>
              </a:r>
            </a:p>
          </p:txBody>
        </p:sp>
        <p:sp>
          <p:nvSpPr>
            <p:cNvPr id="10" name="TextBox 10"/>
            <p:cNvSpPr txBox="1"/>
            <p:nvPr/>
          </p:nvSpPr>
          <p:spPr>
            <a:xfrm>
              <a:off x="1422844" y="2522458"/>
              <a:ext cx="135478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being stationary.</a:t>
              </a:r>
            </a:p>
          </p:txBody>
        </p:sp>
      </p:grpSp>
      <p:grpSp>
        <p:nvGrpSpPr>
          <p:cNvPr id="19" name="Group 19"/>
          <p:cNvGrpSpPr/>
          <p:nvPr/>
        </p:nvGrpSpPr>
        <p:grpSpPr>
          <a:xfrm>
            <a:off x="609600" y="2933700"/>
            <a:ext cx="10972800" cy="1302020"/>
            <a:chOff x="609600" y="2933700"/>
            <a:chExt cx="10972800" cy="1302020"/>
          </a:xfrm>
        </p:grpSpPr>
        <p:sp>
          <p:nvSpPr>
            <p:cNvPr id="12" name="Rectangle 12"/>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3" name="Rectangle 13"/>
            <p:cNvSpPr/>
            <p:nvPr/>
          </p:nvSpPr>
          <p:spPr>
            <a:xfrm>
              <a:off x="609600" y="2933700"/>
              <a:ext cx="57150" cy="1104900"/>
            </a:xfrm>
            <a:prstGeom prst="roundRect">
              <a:avLst>
                <a:gd name="adj" fmla="val 50000"/>
              </a:avLst>
            </a:prstGeom>
            <a:solidFill>
              <a:srgbClr val="34D3C0"/>
            </a:solidFill>
            <a:ln>
              <a:noFill/>
            </a:ln>
          </p:spPr>
        </p:sp>
        <p:sp>
          <p:nvSpPr>
            <p:cNvPr id="14" name="Ellipse 14"/>
            <p:cNvSpPr/>
            <p:nvPr/>
          </p:nvSpPr>
          <p:spPr>
            <a:xfrm>
              <a:off x="971550" y="3390900"/>
              <a:ext cx="190500" cy="190500"/>
            </a:xfrm>
            <a:prstGeom prst="ellipse">
              <a:avLst/>
            </a:prstGeom>
            <a:solidFill>
              <a:srgbClr val="34D3C0"/>
            </a:solidFill>
            <a:ln>
              <a:noFill/>
            </a:ln>
          </p:spPr>
        </p:sp>
        <p:sp>
          <p:nvSpPr>
            <p:cNvPr id="15" name="TextBox 15"/>
            <p:cNvSpPr txBox="1"/>
            <p:nvPr/>
          </p:nvSpPr>
          <p:spPr>
            <a:xfrm>
              <a:off x="1421511" y="3218021"/>
              <a:ext cx="293709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ML flexibility, valid inference</a:t>
              </a:r>
            </a:p>
          </p:txBody>
        </p:sp>
        <p:sp>
          <p:nvSpPr>
            <p:cNvPr id="16" name="TextBox 16"/>
            <p:cNvSpPr txBox="1"/>
            <p:nvPr/>
          </p:nvSpPr>
          <p:spPr>
            <a:xfrm>
              <a:off x="1422844" y="3551158"/>
              <a:ext cx="705182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It marries flexible machine-learning estimators with semiparametric rigor, so it stays valid</a:t>
              </a:r>
            </a:p>
          </p:txBody>
        </p:sp>
        <p:sp>
          <p:nvSpPr>
            <p:cNvPr id="17" name="TextBox 17"/>
            <p:cNvSpPr txBox="1"/>
            <p:nvPr/>
          </p:nvSpPr>
          <p:spPr>
            <a:xfrm>
              <a:off x="1422844" y="3779758"/>
              <a:ext cx="707801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even in high dimensions, and policies can be relearned on the correct, stationary segment of</a:t>
              </a:r>
            </a:p>
          </p:txBody>
        </p:sp>
        <p:sp>
          <p:nvSpPr>
            <p:cNvPr id="18" name="TextBox 18"/>
            <p:cNvSpPr txBox="1"/>
            <p:nvPr/>
          </p:nvSpPr>
          <p:spPr>
            <a:xfrm>
              <a:off x="1422844" y="4008358"/>
              <a:ext cx="4412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data.</a:t>
              </a:r>
            </a:p>
          </p:txBody>
        </p:sp>
      </p:grpSp>
      <p:grpSp>
        <p:nvGrpSpPr>
          <p:cNvPr id="26" name="Group 26"/>
          <p:cNvGrpSpPr/>
          <p:nvPr/>
        </p:nvGrpSpPr>
        <p:grpSpPr>
          <a:xfrm>
            <a:off x="609600" y="4191000"/>
            <a:ext cx="10972800" cy="1104900"/>
            <a:chOff x="609600" y="4191000"/>
            <a:chExt cx="10972800" cy="1104900"/>
          </a:xfrm>
        </p:grpSpPr>
        <p:sp>
          <p:nvSpPr>
            <p:cNvPr id="20" name="Rectangle 20"/>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1" name="Rectangle 21"/>
            <p:cNvSpPr/>
            <p:nvPr/>
          </p:nvSpPr>
          <p:spPr>
            <a:xfrm>
              <a:off x="609600" y="4191000"/>
              <a:ext cx="57150" cy="1104900"/>
            </a:xfrm>
            <a:prstGeom prst="roundRect">
              <a:avLst>
                <a:gd name="adj" fmla="val 50000"/>
              </a:avLst>
            </a:prstGeom>
            <a:solidFill>
              <a:srgbClr val="48C78E"/>
            </a:solidFill>
            <a:ln>
              <a:noFill/>
            </a:ln>
          </p:spPr>
        </p:sp>
        <p:sp>
          <p:nvSpPr>
            <p:cNvPr id="22" name="Ellipse 22"/>
            <p:cNvSpPr/>
            <p:nvPr/>
          </p:nvSpPr>
          <p:spPr>
            <a:xfrm>
              <a:off x="971550" y="4648200"/>
              <a:ext cx="190500" cy="190500"/>
            </a:xfrm>
            <a:prstGeom prst="ellipse">
              <a:avLst/>
            </a:prstGeom>
            <a:solidFill>
              <a:srgbClr val="48C78E"/>
            </a:solidFill>
            <a:ln>
              <a:noFill/>
            </a:ln>
          </p:spPr>
        </p:sp>
        <p:sp>
          <p:nvSpPr>
            <p:cNvPr id="23" name="TextBox 23"/>
            <p:cNvSpPr txBox="1"/>
            <p:nvPr/>
          </p:nvSpPr>
          <p:spPr>
            <a:xfrm>
              <a:off x="1421511" y="4475321"/>
              <a:ext cx="3634226"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Recover the reward left on the table</a:t>
              </a:r>
            </a:p>
          </p:txBody>
        </p:sp>
        <p:sp>
          <p:nvSpPr>
            <p:cNvPr id="24" name="TextBox 24"/>
            <p:cNvSpPr txBox="1"/>
            <p:nvPr/>
          </p:nvSpPr>
          <p:spPr>
            <a:xfrm>
              <a:off x="1422844" y="4808458"/>
              <a:ext cx="6528915"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When some homogeneity is present, detecting and adapting to change points recovers</a:t>
              </a:r>
            </a:p>
          </p:txBody>
        </p:sp>
        <p:sp>
          <p:nvSpPr>
            <p:cNvPr id="25" name="TextBox 25"/>
            <p:cNvSpPr txBox="1"/>
            <p:nvPr/>
          </p:nvSpPr>
          <p:spPr>
            <a:xfrm>
              <a:off x="1422844" y="5037058"/>
              <a:ext cx="618009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near-oracle reward that stationary or sliding-window strategies simply give up.</a:t>
              </a:r>
            </a:p>
          </p:txBody>
        </p:sp>
      </p:grpSp>
      <p:sp>
        <p:nvSpPr>
          <p:cNvPr id="27" name="Line 27"/>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8" name="TextBox 28"/>
          <p:cNvSpPr txBox="1"/>
          <p:nvPr/>
        </p:nvSpPr>
        <p:spPr>
          <a:xfrm>
            <a:off x="603694" y="5894308"/>
            <a:ext cx="6104350" cy="227362"/>
          </a:xfrm>
          <a:prstGeom prst="rect">
            <a:avLst/>
          </a:prstGeom>
          <a:noFill/>
          <a:ln>
            <a:noFill/>
          </a:ln>
        </p:spPr>
        <p:txBody>
          <a:bodyPr wrap="none" lIns="0" tIns="0" rIns="0" bIns="0" anchor="t" anchorCtr="0">
            <a:spAutoFit/>
          </a:bodyPr>
          <a:lstStyle/>
          <a:p>
            <a:pPr algn="l"/>
            <a:r>
              <a:rPr lang="en-US" sz="1160" b="1" dirty="0">
                <a:solidFill>
                  <a:schemeClr val="dk1"/>
                </a:solidFill>
                <a:latin typeface="+mn-lt"/>
                <a:ea typeface="+mn-ea"/>
                <a:cs typeface="+mn-cs"/>
              </a:rPr>
              <a:t>A Robust Test for the Stationarity Assumption in Sequential Decision Making</a:t>
            </a:r>
          </a:p>
        </p:txBody>
      </p:sp>
      <p:sp>
        <p:nvSpPr>
          <p:cNvPr id="29" name="TextBox 29"/>
          <p:cNvSpPr txBox="1"/>
          <p:nvPr/>
        </p:nvSpPr>
        <p:spPr>
          <a:xfrm>
            <a:off x="604456" y="6177201"/>
            <a:ext cx="484093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ICML 2023 · Wang, Shi &amp; Wu · github.com/jtwang95/Double_CUSUM_RL</a:t>
            </a:r>
          </a:p>
        </p:txBody>
      </p:sp>
      <p:sp>
        <p:nvSpPr>
          <p:cNvPr id="30" name="cue_s10_c1_takeaway_simple" title="cue_s10_c1_takeaway_simple" descr="cue_s10_c1_takeaway_simple The takeaway is simple."/>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ue_s10_c2_marrying_flexibility_modern_machine" title="cue_s10_c2_marrying_flexibility_modern_machine" descr="cue_s10_c2_marrying_flexibility_modern_machine By marrying the flexibility of modern machine learning with the rigor of semiparametric statistics, this doubly robust CUSUM test reliably flags when an offline reinforcement-learning environment stops being stationary, even in high dimensions, so that policie"/>
          <p:cNvSpPr/>
          <p:nvPr/>
        </p:nvSpPr>
        <p:spPr>
          <a:xfrm>
            <a:off x="609600" y="2933852"/>
            <a:ext cx="10972800" cy="130233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10_c3_when_some_homogeneity_present_detect" title="cue_s10_c3_when_some_homogeneity_present_detect" descr="cue_s10_c3_when_some_homogeneity_present_detect When some homogeneity is present, detecting and adapting to change points recovers near-oracle reward that stationary or sliding-window strategies simply leave on the table."/>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2026-07-16T06:30:21Z</dcterms:created>
  <dcterms:modified xsi:type="dcterms:W3CDTF">2026-07-16T06:30:21Z</dcterms:modified>
  <cp:category/>
  <cp:contentStatus/>
</cp:coreProperties>
</file>
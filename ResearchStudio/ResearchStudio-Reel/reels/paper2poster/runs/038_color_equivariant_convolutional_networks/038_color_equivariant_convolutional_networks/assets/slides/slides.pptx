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1289266"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NeurIPS 2023</a:t>
            </a:r>
          </a:p>
        </p:txBody>
      </p:sp>
      <p:sp>
        <p:nvSpPr>
          <p:cNvPr id="3" name="TextBox 3"/>
          <p:cNvSpPr txBox="1"/>
          <p:nvPr/>
        </p:nvSpPr>
        <p:spPr>
          <a:xfrm>
            <a:off x="7755702" y="572452"/>
            <a:ext cx="383203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Computer Vision Lab · Delft University of Technology</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2836" y="1091565"/>
            <a:ext cx="3956013" cy="645414"/>
          </a:xfrm>
          <a:prstGeom prst="rect">
            <a:avLst/>
          </a:prstGeom>
          <a:noFill/>
          <a:ln>
            <a:noFill/>
          </a:ln>
        </p:spPr>
        <p:txBody>
          <a:bodyPr wrap="none" lIns="0" tIns="0" rIns="0" bIns="0" anchor="t" anchorCtr="0">
            <a:spAutoFit/>
          </a:bodyPr>
          <a:lstStyle/>
          <a:p>
            <a:pPr algn="l"/>
            <a:r>
              <a:rPr lang="en-US" sz="3300" b="1" dirty="0">
                <a:solidFill>
                  <a:srgbClr val="FFFFFF"/>
                </a:solidFill>
                <a:latin typeface="+mn-lt"/>
                <a:ea typeface="+mn-ea"/>
                <a:cs typeface="+mn-cs"/>
              </a:rPr>
              <a:t>Color Equivariant</a:t>
            </a:r>
          </a:p>
        </p:txBody>
      </p:sp>
      <p:sp>
        <p:nvSpPr>
          <p:cNvPr id="6" name="TextBox 6"/>
          <p:cNvSpPr txBox="1"/>
          <p:nvPr/>
        </p:nvSpPr>
        <p:spPr>
          <a:xfrm>
            <a:off x="592836" y="1548765"/>
            <a:ext cx="5332922"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mn-lt"/>
                <a:ea typeface="+mn-ea"/>
                <a:cs typeface="+mn-cs"/>
              </a:rPr>
              <a:t>Convolutional Networks</a:t>
            </a:r>
          </a:p>
        </p:txBody>
      </p:sp>
      <p:sp>
        <p:nvSpPr>
          <p:cNvPr id="7" name="Rectangle 7"/>
          <p:cNvSpPr/>
          <p:nvPr/>
        </p:nvSpPr>
        <p:spPr>
          <a:xfrm>
            <a:off x="6572250" y="1600200"/>
            <a:ext cx="285750" cy="285750"/>
          </a:xfrm>
          <a:prstGeom prst="roundRect">
            <a:avLst>
              <a:gd name="adj" fmla="val 23333"/>
            </a:avLst>
          </a:prstGeom>
          <a:solidFill>
            <a:srgbClr val="F2685C"/>
          </a:solidFill>
          <a:ln>
            <a:noFill/>
          </a:ln>
        </p:spPr>
        <p:txBody>
          <a:bodyPr/>
          <a:p/>
        </p:txBody>
      </p:sp>
      <p:sp>
        <p:nvSpPr>
          <p:cNvPr id="8" name="Rectangle 8"/>
          <p:cNvSpPr/>
          <p:nvPr/>
        </p:nvSpPr>
        <p:spPr>
          <a:xfrm>
            <a:off x="6972300" y="1600200"/>
            <a:ext cx="285750" cy="285750"/>
          </a:xfrm>
          <a:prstGeom prst="roundRect">
            <a:avLst>
              <a:gd name="adj" fmla="val 23333"/>
            </a:avLst>
          </a:prstGeom>
          <a:solidFill>
            <a:srgbClr val="F2A24E"/>
          </a:solidFill>
          <a:ln>
            <a:noFill/>
          </a:ln>
        </p:spPr>
        <p:txBody>
          <a:bodyPr/>
          <a:p/>
        </p:txBody>
      </p:sp>
      <p:sp>
        <p:nvSpPr>
          <p:cNvPr id="9" name="Rectangle 9"/>
          <p:cNvSpPr/>
          <p:nvPr/>
        </p:nvSpPr>
        <p:spPr>
          <a:xfrm>
            <a:off x="7372350" y="1600200"/>
            <a:ext cx="285750" cy="285750"/>
          </a:xfrm>
          <a:prstGeom prst="roundRect">
            <a:avLst>
              <a:gd name="adj" fmla="val 23333"/>
            </a:avLst>
          </a:prstGeom>
          <a:solidFill>
            <a:srgbClr val="F2C14E"/>
          </a:solidFill>
          <a:ln>
            <a:noFill/>
          </a:ln>
        </p:spPr>
        <p:txBody>
          <a:bodyPr/>
          <a:p/>
        </p:txBody>
      </p:sp>
      <p:sp>
        <p:nvSpPr>
          <p:cNvPr id="10" name="Rectangle 10"/>
          <p:cNvSpPr/>
          <p:nvPr/>
        </p:nvSpPr>
        <p:spPr>
          <a:xfrm>
            <a:off x="7772400" y="1600200"/>
            <a:ext cx="285750" cy="285750"/>
          </a:xfrm>
          <a:prstGeom prst="roundRect">
            <a:avLst>
              <a:gd name="adj" fmla="val 23333"/>
            </a:avLst>
          </a:prstGeom>
          <a:solidFill>
            <a:srgbClr val="48C78E"/>
          </a:solidFill>
          <a:ln>
            <a:noFill/>
          </a:ln>
        </p:spPr>
        <p:txBody>
          <a:bodyPr/>
          <a:p/>
        </p:txBody>
      </p:sp>
      <p:sp>
        <p:nvSpPr>
          <p:cNvPr id="11" name="Rectangle 11"/>
          <p:cNvSpPr/>
          <p:nvPr/>
        </p:nvSpPr>
        <p:spPr>
          <a:xfrm>
            <a:off x="8172450" y="1600200"/>
            <a:ext cx="285750" cy="285750"/>
          </a:xfrm>
          <a:prstGeom prst="roundRect">
            <a:avLst>
              <a:gd name="adj" fmla="val 23333"/>
            </a:avLst>
          </a:prstGeom>
          <a:solidFill>
            <a:srgbClr val="34D3C0"/>
          </a:solidFill>
          <a:ln>
            <a:noFill/>
          </a:ln>
        </p:spPr>
        <p:txBody>
          <a:bodyPr/>
          <a:p/>
        </p:txBody>
      </p:sp>
      <p:sp>
        <p:nvSpPr>
          <p:cNvPr id="12" name="Rectangle 12"/>
          <p:cNvSpPr/>
          <p:nvPr/>
        </p:nvSpPr>
        <p:spPr>
          <a:xfrm>
            <a:off x="8572500" y="1600200"/>
            <a:ext cx="285750" cy="285750"/>
          </a:xfrm>
          <a:prstGeom prst="roundRect">
            <a:avLst>
              <a:gd name="adj" fmla="val 23333"/>
            </a:avLst>
          </a:prstGeom>
          <a:solidFill>
            <a:schemeClr val="accent2"/>
          </a:solidFill>
          <a:ln>
            <a:noFill/>
          </a:ln>
        </p:spPr>
        <p:txBody>
          <a:bodyPr/>
          <a:p/>
        </p:txBody>
      </p:sp>
      <p:sp>
        <p:nvSpPr>
          <p:cNvPr id="13" name="Rectangle 13"/>
          <p:cNvSpPr/>
          <p:nvPr/>
        </p:nvSpPr>
        <p:spPr>
          <a:xfrm>
            <a:off x="8972550" y="1600200"/>
            <a:ext cx="285750" cy="285750"/>
          </a:xfrm>
          <a:prstGeom prst="roundRect">
            <a:avLst>
              <a:gd name="adj" fmla="val 23333"/>
            </a:avLst>
          </a:prstGeom>
          <a:solidFill>
            <a:srgbClr val="9B7BE8"/>
          </a:solidFill>
          <a:ln>
            <a:noFill/>
          </a:ln>
        </p:spPr>
        <p:txBody>
          <a:bodyPr/>
          <a:p/>
        </p:txBody>
      </p:sp>
      <p:sp>
        <p:nvSpPr>
          <p:cNvPr id="14" name="TextBox 14"/>
          <p:cNvSpPr txBox="1"/>
          <p:nvPr/>
        </p:nvSpPr>
        <p:spPr>
          <a:xfrm>
            <a:off x="603694" y="2160508"/>
            <a:ext cx="685027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Lengyel · Strafforello · Bruintjes · Gielisse · van Gemert — TU Delft, Computer Vision Lab</a:t>
            </a:r>
          </a:p>
        </p:txBody>
      </p:sp>
      <p:grpSp>
        <p:nvGrpSpPr>
          <p:cNvPr id="27" name="Group 27"/>
          <p:cNvGrpSpPr/>
          <p:nvPr/>
        </p:nvGrpSpPr>
        <p:grpSpPr>
          <a:xfrm>
            <a:off x="609600" y="2762250"/>
            <a:ext cx="3552825" cy="2381250"/>
            <a:chOff x="609600" y="2762250"/>
            <a:chExt cx="3552825" cy="2381250"/>
          </a:xfrm>
        </p:grpSpPr>
        <p:sp>
          <p:nvSpPr>
            <p:cNvPr id="15" name="Rectangle 15"/>
            <p:cNvSpPr/>
            <p:nvPr/>
          </p:nvSpPr>
          <p:spPr>
            <a:xfrm>
              <a:off x="609600" y="2762250"/>
              <a:ext cx="3552825" cy="2381250"/>
            </a:xfrm>
            <a:prstGeom prst="roundRect">
              <a:avLst>
                <a:gd name="adj" fmla="val 5600"/>
              </a:avLst>
            </a:prstGeom>
            <a:solidFill>
              <a:schemeClr val="accent5"/>
            </a:solidFill>
            <a:ln w="14288">
              <a:solidFill>
                <a:srgbClr val="26455F"/>
              </a:solidFill>
            </a:ln>
          </p:spPr>
        </p:sp>
        <p:sp>
          <p:nvSpPr>
            <p:cNvPr id="16" name="Rectangle 16"/>
            <p:cNvSpPr/>
            <p:nvPr/>
          </p:nvSpPr>
          <p:spPr>
            <a:xfrm>
              <a:off x="609600" y="2762250"/>
              <a:ext cx="3552825" cy="57150"/>
            </a:xfrm>
            <a:prstGeom prst="roundRect">
              <a:avLst>
                <a:gd name="adj" fmla="val 50000"/>
              </a:avLst>
            </a:prstGeom>
            <a:solidFill>
              <a:srgbClr val="F2685C"/>
            </a:solidFill>
            <a:ln>
              <a:noFill/>
            </a:ln>
          </p:spPr>
        </p:sp>
        <p:sp>
          <p:nvSpPr>
            <p:cNvPr id="17" name="Rectangle 17"/>
            <p:cNvSpPr/>
            <p:nvPr/>
          </p:nvSpPr>
          <p:spPr>
            <a:xfrm>
              <a:off x="857250" y="3086100"/>
              <a:ext cx="171450" cy="171450"/>
            </a:xfrm>
            <a:prstGeom prst="roundRect">
              <a:avLst>
                <a:gd name="adj" fmla="val 27778"/>
              </a:avLst>
            </a:prstGeom>
            <a:solidFill>
              <a:srgbClr val="F2685C"/>
            </a:solidFill>
            <a:ln>
              <a:noFill/>
            </a:ln>
          </p:spPr>
        </p:sp>
        <p:sp>
          <p:nvSpPr>
            <p:cNvPr id="18" name="Rectangle 18"/>
            <p:cNvSpPr/>
            <p:nvPr/>
          </p:nvSpPr>
          <p:spPr>
            <a:xfrm>
              <a:off x="1104900" y="3086100"/>
              <a:ext cx="171450" cy="171450"/>
            </a:xfrm>
            <a:prstGeom prst="roundRect">
              <a:avLst>
                <a:gd name="adj" fmla="val 27778"/>
              </a:avLst>
            </a:prstGeom>
            <a:solidFill>
              <a:srgbClr val="F2A24E"/>
            </a:solidFill>
            <a:ln>
              <a:noFill/>
            </a:ln>
          </p:spPr>
        </p:sp>
        <p:sp>
          <p:nvSpPr>
            <p:cNvPr id="19" name="Rectangle 19"/>
            <p:cNvSpPr/>
            <p:nvPr/>
          </p:nvSpPr>
          <p:spPr>
            <a:xfrm>
              <a:off x="1352550" y="3086100"/>
              <a:ext cx="171450" cy="171450"/>
            </a:xfrm>
            <a:prstGeom prst="roundRect">
              <a:avLst>
                <a:gd name="adj" fmla="val 27778"/>
              </a:avLst>
            </a:prstGeom>
            <a:solidFill>
              <a:srgbClr val="F2C14E"/>
            </a:solidFill>
            <a:ln>
              <a:noFill/>
            </a:ln>
          </p:spPr>
        </p:sp>
        <p:sp>
          <p:nvSpPr>
            <p:cNvPr id="20" name="Rectangle 20"/>
            <p:cNvSpPr/>
            <p:nvPr/>
          </p:nvSpPr>
          <p:spPr>
            <a:xfrm>
              <a:off x="1600200" y="3086100"/>
              <a:ext cx="171450" cy="171450"/>
            </a:xfrm>
            <a:prstGeom prst="roundRect">
              <a:avLst>
                <a:gd name="adj" fmla="val 27778"/>
              </a:avLst>
            </a:prstGeom>
            <a:solidFill>
              <a:srgbClr val="48C78E"/>
            </a:solidFill>
            <a:ln>
              <a:noFill/>
            </a:ln>
          </p:spPr>
        </p:sp>
        <p:sp>
          <p:nvSpPr>
            <p:cNvPr id="21" name="Rectangle 21"/>
            <p:cNvSpPr/>
            <p:nvPr/>
          </p:nvSpPr>
          <p:spPr>
            <a:xfrm>
              <a:off x="1847850" y="3086100"/>
              <a:ext cx="171450" cy="171450"/>
            </a:xfrm>
            <a:prstGeom prst="roundRect">
              <a:avLst>
                <a:gd name="adj" fmla="val 27778"/>
              </a:avLst>
            </a:prstGeom>
            <a:solidFill>
              <a:srgbClr val="34D3C0"/>
            </a:solidFill>
            <a:ln>
              <a:noFill/>
            </a:ln>
          </p:spPr>
        </p:sp>
        <p:sp>
          <p:nvSpPr>
            <p:cNvPr id="22" name="TextBox 22"/>
            <p:cNvSpPr txBox="1"/>
            <p:nvPr/>
          </p:nvSpPr>
          <p:spPr>
            <a:xfrm>
              <a:off x="850202" y="3507819"/>
              <a:ext cx="2505937"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Color: a cue and a liability</a:t>
              </a:r>
            </a:p>
          </p:txBody>
        </p:sp>
        <p:sp>
          <p:nvSpPr>
            <p:cNvPr id="23" name="TextBox 23"/>
            <p:cNvSpPr txBox="1"/>
            <p:nvPr/>
          </p:nvSpPr>
          <p:spPr>
            <a:xfrm>
              <a:off x="851916" y="4039552"/>
              <a:ext cx="25116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CNNs readily exploit color for object</a:t>
              </a:r>
            </a:p>
          </p:txBody>
        </p:sp>
        <p:sp>
          <p:nvSpPr>
            <p:cNvPr id="24" name="TextBox 24"/>
            <p:cNvSpPr txBox="1"/>
            <p:nvPr/>
          </p:nvSpPr>
          <p:spPr>
            <a:xfrm>
              <a:off x="851916" y="4239578"/>
              <a:ext cx="26115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recognition, but it becomes a liability</a:t>
              </a:r>
            </a:p>
          </p:txBody>
        </p:sp>
        <p:sp>
          <p:nvSpPr>
            <p:cNvPr id="25" name="TextBox 25"/>
            <p:cNvSpPr txBox="1"/>
            <p:nvPr/>
          </p:nvSpPr>
          <p:spPr>
            <a:xfrm>
              <a:off x="851916" y="4439602"/>
              <a:ext cx="28447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when test-time colors differ from those</a:t>
              </a:r>
            </a:p>
          </p:txBody>
        </p:sp>
        <p:sp>
          <p:nvSpPr>
            <p:cNvPr id="26" name="TextBox 26"/>
            <p:cNvSpPr txBox="1"/>
            <p:nvPr/>
          </p:nvSpPr>
          <p:spPr>
            <a:xfrm>
              <a:off x="851916" y="4639628"/>
              <a:ext cx="115561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seen in training.</a:t>
              </a:r>
            </a:p>
          </p:txBody>
        </p:sp>
      </p:grpSp>
      <p:grpSp>
        <p:nvGrpSpPr>
          <p:cNvPr id="40" name="Group 40"/>
          <p:cNvGrpSpPr/>
          <p:nvPr/>
        </p:nvGrpSpPr>
        <p:grpSpPr>
          <a:xfrm>
            <a:off x="4324350" y="2762250"/>
            <a:ext cx="3552825" cy="2381250"/>
            <a:chOff x="4324350" y="2762250"/>
            <a:chExt cx="3552825" cy="2381250"/>
          </a:xfrm>
        </p:grpSpPr>
        <p:sp>
          <p:nvSpPr>
            <p:cNvPr id="28" name="Rectangle 28"/>
            <p:cNvSpPr/>
            <p:nvPr/>
          </p:nvSpPr>
          <p:spPr>
            <a:xfrm>
              <a:off x="4324350" y="2762250"/>
              <a:ext cx="3552825" cy="2381250"/>
            </a:xfrm>
            <a:prstGeom prst="roundRect">
              <a:avLst>
                <a:gd name="adj" fmla="val 5600"/>
              </a:avLst>
            </a:prstGeom>
            <a:solidFill>
              <a:schemeClr val="accent5"/>
            </a:solidFill>
            <a:ln w="14288">
              <a:solidFill>
                <a:srgbClr val="26455F"/>
              </a:solidFill>
            </a:ln>
          </p:spPr>
        </p:sp>
        <p:sp>
          <p:nvSpPr>
            <p:cNvPr id="29" name="Rectangle 29"/>
            <p:cNvSpPr/>
            <p:nvPr/>
          </p:nvSpPr>
          <p:spPr>
            <a:xfrm>
              <a:off x="4324350" y="2762250"/>
              <a:ext cx="3552825" cy="57150"/>
            </a:xfrm>
            <a:prstGeom prst="roundRect">
              <a:avLst>
                <a:gd name="adj" fmla="val 50000"/>
              </a:avLst>
            </a:prstGeom>
            <a:solidFill>
              <a:srgbClr val="34D3C0"/>
            </a:solidFill>
            <a:ln>
              <a:noFill/>
            </a:ln>
          </p:spPr>
        </p:sp>
        <p:sp>
          <p:nvSpPr>
            <p:cNvPr id="30" name="Rectangle 30"/>
            <p:cNvSpPr/>
            <p:nvPr/>
          </p:nvSpPr>
          <p:spPr>
            <a:xfrm>
              <a:off x="4572000" y="3086100"/>
              <a:ext cx="171450" cy="171450"/>
            </a:xfrm>
            <a:prstGeom prst="roundRect">
              <a:avLst>
                <a:gd name="adj" fmla="val 27778"/>
              </a:avLst>
            </a:prstGeom>
            <a:solidFill>
              <a:srgbClr val="F2685C"/>
            </a:solidFill>
            <a:ln>
              <a:noFill/>
            </a:ln>
          </p:spPr>
        </p:sp>
        <p:sp>
          <p:nvSpPr>
            <p:cNvPr id="31" name="Rectangle 31"/>
            <p:cNvSpPr/>
            <p:nvPr/>
          </p:nvSpPr>
          <p:spPr>
            <a:xfrm>
              <a:off x="4819650" y="3086100"/>
              <a:ext cx="171450" cy="171450"/>
            </a:xfrm>
            <a:prstGeom prst="roundRect">
              <a:avLst>
                <a:gd name="adj" fmla="val 27778"/>
              </a:avLst>
            </a:prstGeom>
            <a:solidFill>
              <a:srgbClr val="F2A24E"/>
            </a:solidFill>
            <a:ln>
              <a:noFill/>
            </a:ln>
          </p:spPr>
        </p:sp>
        <p:sp>
          <p:nvSpPr>
            <p:cNvPr id="32" name="Rectangle 32"/>
            <p:cNvSpPr/>
            <p:nvPr/>
          </p:nvSpPr>
          <p:spPr>
            <a:xfrm>
              <a:off x="5067300" y="3086100"/>
              <a:ext cx="171450" cy="171450"/>
            </a:xfrm>
            <a:prstGeom prst="roundRect">
              <a:avLst>
                <a:gd name="adj" fmla="val 27778"/>
              </a:avLst>
            </a:prstGeom>
            <a:solidFill>
              <a:srgbClr val="F2C14E"/>
            </a:solidFill>
            <a:ln>
              <a:noFill/>
            </a:ln>
          </p:spPr>
        </p:sp>
        <p:sp>
          <p:nvSpPr>
            <p:cNvPr id="33" name="Rectangle 33"/>
            <p:cNvSpPr/>
            <p:nvPr/>
          </p:nvSpPr>
          <p:spPr>
            <a:xfrm>
              <a:off x="5314950" y="3086100"/>
              <a:ext cx="171450" cy="171450"/>
            </a:xfrm>
            <a:prstGeom prst="roundRect">
              <a:avLst>
                <a:gd name="adj" fmla="val 27778"/>
              </a:avLst>
            </a:prstGeom>
            <a:solidFill>
              <a:srgbClr val="48C78E"/>
            </a:solidFill>
            <a:ln>
              <a:noFill/>
            </a:ln>
          </p:spPr>
        </p:sp>
        <p:sp>
          <p:nvSpPr>
            <p:cNvPr id="34" name="Rectangle 34"/>
            <p:cNvSpPr/>
            <p:nvPr/>
          </p:nvSpPr>
          <p:spPr>
            <a:xfrm>
              <a:off x="5562600" y="3086100"/>
              <a:ext cx="171450" cy="171450"/>
            </a:xfrm>
            <a:prstGeom prst="roundRect">
              <a:avLst>
                <a:gd name="adj" fmla="val 27778"/>
              </a:avLst>
            </a:prstGeom>
            <a:solidFill>
              <a:srgbClr val="34D3C0"/>
            </a:solidFill>
            <a:ln>
              <a:noFill/>
            </a:ln>
          </p:spPr>
        </p:sp>
        <p:sp>
          <p:nvSpPr>
            <p:cNvPr id="35" name="TextBox 35"/>
            <p:cNvSpPr txBox="1"/>
            <p:nvPr/>
          </p:nvSpPr>
          <p:spPr>
            <a:xfrm>
              <a:off x="4564952" y="3507819"/>
              <a:ext cx="2929722"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Color Equivariant Convolutions</a:t>
              </a:r>
            </a:p>
          </p:txBody>
        </p:sp>
        <p:sp>
          <p:nvSpPr>
            <p:cNvPr id="36" name="TextBox 36"/>
            <p:cNvSpPr txBox="1"/>
            <p:nvPr/>
          </p:nvSpPr>
          <p:spPr>
            <a:xfrm>
              <a:off x="4566666" y="4039552"/>
              <a:ext cx="28926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new building block, CEConv, that shares</a:t>
              </a:r>
            </a:p>
          </p:txBody>
        </p:sp>
        <p:sp>
          <p:nvSpPr>
            <p:cNvPr id="37" name="TextBox 37"/>
            <p:cNvSpPr txBox="1"/>
            <p:nvPr/>
          </p:nvSpPr>
          <p:spPr>
            <a:xfrm>
              <a:off x="4566666" y="4239578"/>
              <a:ext cx="29366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shape features across the color spectrum</a:t>
              </a:r>
            </a:p>
          </p:txBody>
        </p:sp>
        <p:sp>
          <p:nvSpPr>
            <p:cNvPr id="38" name="TextBox 38"/>
            <p:cNvSpPr txBox="1"/>
            <p:nvPr/>
          </p:nvSpPr>
          <p:spPr>
            <a:xfrm>
              <a:off x="4566666" y="4439602"/>
              <a:ext cx="25549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while preserving discriminative color</a:t>
              </a:r>
            </a:p>
          </p:txBody>
        </p:sp>
        <p:sp>
          <p:nvSpPr>
            <p:cNvPr id="39" name="TextBox 39"/>
            <p:cNvSpPr txBox="1"/>
            <p:nvPr/>
          </p:nvSpPr>
          <p:spPr>
            <a:xfrm>
              <a:off x="4566666" y="4639628"/>
              <a:ext cx="9011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information.</a:t>
              </a:r>
            </a:p>
          </p:txBody>
        </p:sp>
      </p:grpSp>
      <p:grpSp>
        <p:nvGrpSpPr>
          <p:cNvPr id="53" name="Group 53"/>
          <p:cNvGrpSpPr/>
          <p:nvPr/>
        </p:nvGrpSpPr>
        <p:grpSpPr>
          <a:xfrm>
            <a:off x="8039100" y="2762250"/>
            <a:ext cx="3552825" cy="2381250"/>
            <a:chOff x="8039100" y="2762250"/>
            <a:chExt cx="3552825" cy="2381250"/>
          </a:xfrm>
        </p:grpSpPr>
        <p:sp>
          <p:nvSpPr>
            <p:cNvPr id="41" name="Rectangle 41"/>
            <p:cNvSpPr/>
            <p:nvPr/>
          </p:nvSpPr>
          <p:spPr>
            <a:xfrm>
              <a:off x="8039100" y="2762250"/>
              <a:ext cx="3552825" cy="2381250"/>
            </a:xfrm>
            <a:prstGeom prst="roundRect">
              <a:avLst>
                <a:gd name="adj" fmla="val 5600"/>
              </a:avLst>
            </a:prstGeom>
            <a:solidFill>
              <a:schemeClr val="accent5"/>
            </a:solidFill>
            <a:ln w="14288">
              <a:solidFill>
                <a:srgbClr val="26455F"/>
              </a:solidFill>
            </a:ln>
          </p:spPr>
        </p:sp>
        <p:sp>
          <p:nvSpPr>
            <p:cNvPr id="42" name="Rectangle 42"/>
            <p:cNvSpPr/>
            <p:nvPr/>
          </p:nvSpPr>
          <p:spPr>
            <a:xfrm>
              <a:off x="8039100" y="2762250"/>
              <a:ext cx="3552825" cy="57150"/>
            </a:xfrm>
            <a:prstGeom prst="roundRect">
              <a:avLst>
                <a:gd name="adj" fmla="val 50000"/>
              </a:avLst>
            </a:prstGeom>
            <a:solidFill>
              <a:schemeClr val="accent2"/>
            </a:solidFill>
            <a:ln>
              <a:noFill/>
            </a:ln>
          </p:spPr>
        </p:sp>
        <p:sp>
          <p:nvSpPr>
            <p:cNvPr id="43" name="Rectangle 43"/>
            <p:cNvSpPr/>
            <p:nvPr/>
          </p:nvSpPr>
          <p:spPr>
            <a:xfrm>
              <a:off x="8286750" y="3086100"/>
              <a:ext cx="171450" cy="171450"/>
            </a:xfrm>
            <a:prstGeom prst="roundRect">
              <a:avLst>
                <a:gd name="adj" fmla="val 27778"/>
              </a:avLst>
            </a:prstGeom>
            <a:solidFill>
              <a:srgbClr val="F2685C"/>
            </a:solidFill>
            <a:ln>
              <a:noFill/>
            </a:ln>
          </p:spPr>
        </p:sp>
        <p:sp>
          <p:nvSpPr>
            <p:cNvPr id="44" name="Rectangle 44"/>
            <p:cNvSpPr/>
            <p:nvPr/>
          </p:nvSpPr>
          <p:spPr>
            <a:xfrm>
              <a:off x="8534400" y="3086100"/>
              <a:ext cx="171450" cy="171450"/>
            </a:xfrm>
            <a:prstGeom prst="roundRect">
              <a:avLst>
                <a:gd name="adj" fmla="val 27778"/>
              </a:avLst>
            </a:prstGeom>
            <a:solidFill>
              <a:srgbClr val="F2A24E"/>
            </a:solidFill>
            <a:ln>
              <a:noFill/>
            </a:ln>
          </p:spPr>
        </p:sp>
        <p:sp>
          <p:nvSpPr>
            <p:cNvPr id="45" name="Rectangle 45"/>
            <p:cNvSpPr/>
            <p:nvPr/>
          </p:nvSpPr>
          <p:spPr>
            <a:xfrm>
              <a:off x="8782050" y="3086100"/>
              <a:ext cx="171450" cy="171450"/>
            </a:xfrm>
            <a:prstGeom prst="roundRect">
              <a:avLst>
                <a:gd name="adj" fmla="val 27778"/>
              </a:avLst>
            </a:prstGeom>
            <a:solidFill>
              <a:srgbClr val="F2C14E"/>
            </a:solidFill>
            <a:ln>
              <a:noFill/>
            </a:ln>
          </p:spPr>
        </p:sp>
        <p:sp>
          <p:nvSpPr>
            <p:cNvPr id="46" name="Rectangle 46"/>
            <p:cNvSpPr/>
            <p:nvPr/>
          </p:nvSpPr>
          <p:spPr>
            <a:xfrm>
              <a:off x="9029700" y="3086100"/>
              <a:ext cx="171450" cy="171450"/>
            </a:xfrm>
            <a:prstGeom prst="roundRect">
              <a:avLst>
                <a:gd name="adj" fmla="val 27778"/>
              </a:avLst>
            </a:prstGeom>
            <a:solidFill>
              <a:srgbClr val="48C78E"/>
            </a:solidFill>
            <a:ln>
              <a:noFill/>
            </a:ln>
          </p:spPr>
        </p:sp>
        <p:sp>
          <p:nvSpPr>
            <p:cNvPr id="47" name="Rectangle 47"/>
            <p:cNvSpPr/>
            <p:nvPr/>
          </p:nvSpPr>
          <p:spPr>
            <a:xfrm>
              <a:off x="9277350" y="3086100"/>
              <a:ext cx="171450" cy="171450"/>
            </a:xfrm>
            <a:prstGeom prst="roundRect">
              <a:avLst>
                <a:gd name="adj" fmla="val 27778"/>
              </a:avLst>
            </a:prstGeom>
            <a:solidFill>
              <a:srgbClr val="34D3C0"/>
            </a:solidFill>
            <a:ln>
              <a:noFill/>
            </a:ln>
          </p:spPr>
        </p:sp>
        <p:sp>
          <p:nvSpPr>
            <p:cNvPr id="48" name="TextBox 48"/>
            <p:cNvSpPr txBox="1"/>
            <p:nvPr/>
          </p:nvSpPr>
          <p:spPr>
            <a:xfrm>
              <a:off x="8279702" y="3507819"/>
              <a:ext cx="2673076"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Parameter sharing over hue</a:t>
              </a:r>
            </a:p>
          </p:txBody>
        </p:sp>
        <p:sp>
          <p:nvSpPr>
            <p:cNvPr id="49" name="TextBox 49"/>
            <p:cNvSpPr txBox="1"/>
            <p:nvPr/>
          </p:nvSpPr>
          <p:spPr>
            <a:xfrm>
              <a:off x="8281416" y="4039552"/>
              <a:ext cx="28353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By hard-wiring sharing over discrete hue</a:t>
              </a:r>
            </a:p>
          </p:txBody>
        </p:sp>
        <p:sp>
          <p:nvSpPr>
            <p:cNvPr id="50" name="TextBox 50"/>
            <p:cNvSpPr txBox="1"/>
            <p:nvPr/>
          </p:nvSpPr>
          <p:spPr>
            <a:xfrm>
              <a:off x="8281416" y="4239578"/>
              <a:ext cx="290329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shifts, CEConvs let ResNets generalize to</a:t>
              </a:r>
            </a:p>
          </p:txBody>
        </p:sp>
        <p:sp>
          <p:nvSpPr>
            <p:cNvPr id="51" name="TextBox 51"/>
            <p:cNvSpPr txBox="1"/>
            <p:nvPr/>
          </p:nvSpPr>
          <p:spPr>
            <a:xfrm>
              <a:off x="8281416" y="4439602"/>
              <a:ext cx="259032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rare colors and stay robust, without</a:t>
              </a:r>
            </a:p>
          </p:txBody>
        </p:sp>
        <p:sp>
          <p:nvSpPr>
            <p:cNvPr id="52" name="TextBox 52"/>
            <p:cNvSpPr txBox="1"/>
            <p:nvPr/>
          </p:nvSpPr>
          <p:spPr>
            <a:xfrm>
              <a:off x="8281416" y="4639628"/>
              <a:ext cx="11909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discarding color.</a:t>
              </a:r>
            </a:p>
          </p:txBody>
        </p:sp>
      </p:grpSp>
      <p:sp>
        <p:nvSpPr>
          <p:cNvPr id="54" name="Line 54"/>
          <p:cNvSpPr/>
          <p:nvPr/>
        </p:nvSpPr>
        <p:spPr>
          <a:xfrm>
            <a:off x="609600" y="54292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5" name="TextBox 55"/>
          <p:cNvSpPr txBox="1"/>
          <p:nvPr/>
        </p:nvSpPr>
        <p:spPr>
          <a:xfrm>
            <a:off x="604266" y="56588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arXiv:2310.19368</a:t>
            </a:r>
          </a:p>
        </p:txBody>
      </p:sp>
      <p:sp>
        <p:nvSpPr>
          <p:cNvPr id="56" name="TextBox 56"/>
          <p:cNvSpPr txBox="1"/>
          <p:nvPr/>
        </p:nvSpPr>
        <p:spPr>
          <a:xfrm>
            <a:off x="2661666" y="5658802"/>
            <a:ext cx="207342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github.com/Attila94/CEConv</a:t>
            </a:r>
          </a:p>
        </p:txBody>
      </p:sp>
      <p:sp>
        <p:nvSpPr>
          <p:cNvPr id="57" name="TextBox 57"/>
          <p:cNvSpPr txBox="1"/>
          <p:nvPr/>
        </p:nvSpPr>
        <p:spPr>
          <a:xfrm>
            <a:off x="7208415" y="5658802"/>
            <a:ext cx="437931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Share shape across colors — keep color in its own dimension.</a:t>
            </a:r>
          </a:p>
        </p:txBody>
      </p:sp>
      <p:sp>
        <p:nvSpPr>
          <p:cNvPr id="58" name="cue_s01_c1_color_powerful_cue_convolutional_net" title="cue_s01_c1_color_powerful_cue_convolutional_net" descr="cue_s01_c1_color_powerful_cue_convolutional_net Color is a powerful cue that convolutional networks readily exploit for object recognition, but it becomes a liability when the colors seen at test time differ from those in training."/>
          <p:cNvSpPr/>
          <p:nvPr/>
        </p:nvSpPr>
        <p:spPr>
          <a:xfrm>
            <a:off x="609600" y="2762402"/>
            <a:ext cx="3552748"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1_c2_introduces_color_equivariant_convolu" title="cue_s01_c2_introduces_color_equivariant_convolu" descr="cue_s01_c2_introduces_color_equivariant_convolu This paper introduces Color Equivariant Convolutions, or CEConvs, a new building block that shares shape features across the color spectrum while preserving discriminative color information."/>
          <p:cNvSpPr/>
          <p:nvPr/>
        </p:nvSpPr>
        <p:spPr>
          <a:xfrm>
            <a:off x="4324502" y="2762402"/>
            <a:ext cx="3552748"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1_c3_hard_wiring_parameter_sharing_over_d" title="cue_s01_c3_hard_wiring_parameter_sharing_over_d" descr="cue_s01_c3_hard_wiring_parameter_sharing_over_d By hard-wiring parameter sharing over discrete hue shifts, CEConvs let networks like ResNets generalize to underrepresented colors and stay robust to test-time hue shifts, without throwing color away."/>
          <p:cNvSpPr/>
          <p:nvPr/>
        </p:nvSpPr>
        <p:spPr>
          <a:xfrm>
            <a:off x="8039404" y="2762402"/>
            <a:ext cx="3552748"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29899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Networks rely on color, yet colors shift</a:t>
            </a:r>
          </a:p>
        </p:txBody>
      </p:sp>
      <p:grpSp>
        <p:nvGrpSpPr>
          <p:cNvPr id="20" name="Group 20"/>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37896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CNNs lean heavily on color</a:t>
              </a:r>
            </a:p>
          </p:txBody>
        </p:sp>
        <p:sp>
          <p:nvSpPr>
            <p:cNvPr id="8" name="TextBox 8"/>
            <p:cNvSpPr txBox="1"/>
            <p:nvPr/>
          </p:nvSpPr>
          <p:spPr>
            <a:xfrm>
              <a:off x="870776" y="2168604"/>
              <a:ext cx="270106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Convolutional networks use color as a</a:t>
              </a:r>
            </a:p>
          </p:txBody>
        </p:sp>
        <p:sp>
          <p:nvSpPr>
            <p:cNvPr id="9" name="TextBox 9"/>
            <p:cNvSpPr txBox="1"/>
            <p:nvPr/>
          </p:nvSpPr>
          <p:spPr>
            <a:xfrm>
              <a:off x="870776" y="2387679"/>
              <a:ext cx="265963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strong cue to recognize objects, but</a:t>
              </a:r>
            </a:p>
          </p:txBody>
        </p:sp>
        <p:sp>
          <p:nvSpPr>
            <p:cNvPr id="10" name="TextBox 10"/>
            <p:cNvSpPr txBox="1"/>
            <p:nvPr/>
          </p:nvSpPr>
          <p:spPr>
            <a:xfrm>
              <a:off x="870776" y="2606754"/>
              <a:ext cx="27329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real-world data rarely contains every</a:t>
              </a:r>
            </a:p>
          </p:txBody>
        </p:sp>
        <p:sp>
          <p:nvSpPr>
            <p:cNvPr id="11" name="TextBox 11"/>
            <p:cNvSpPr txBox="1"/>
            <p:nvPr/>
          </p:nvSpPr>
          <p:spPr>
            <a:xfrm>
              <a:off x="870776" y="2825829"/>
              <a:ext cx="164715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color a class can take.</a:t>
              </a:r>
            </a:p>
          </p:txBody>
        </p:sp>
        <p:sp>
          <p:nvSpPr>
            <p:cNvPr id="12" name="Rectangle 12"/>
            <p:cNvSpPr/>
            <p:nvPr/>
          </p:nvSpPr>
          <p:spPr>
            <a:xfrm>
              <a:off x="876300" y="3352800"/>
              <a:ext cx="3276600" cy="1333500"/>
            </a:xfrm>
            <a:prstGeom prst="roundRect">
              <a:avLst>
                <a:gd name="adj" fmla="val 7143"/>
              </a:avLst>
            </a:prstGeom>
            <a:solidFill>
              <a:schemeClr val="accent6"/>
            </a:solidFill>
            <a:ln w="14288">
              <a:solidFill>
                <a:srgbClr val="26455F"/>
              </a:solidFill>
            </a:ln>
          </p:spPr>
        </p:sp>
        <p:sp>
          <p:nvSpPr>
            <p:cNvPr id="13" name="TextBox 13"/>
            <p:cNvSpPr txBox="1"/>
            <p:nvPr/>
          </p:nvSpPr>
          <p:spPr>
            <a:xfrm>
              <a:off x="1061847" y="3533299"/>
              <a:ext cx="1364762"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Training colors seen</a:t>
              </a:r>
            </a:p>
          </p:txBody>
        </p:sp>
        <p:sp>
          <p:nvSpPr>
            <p:cNvPr id="14" name="Rectangle 14"/>
            <p:cNvSpPr/>
            <p:nvPr/>
          </p:nvSpPr>
          <p:spPr>
            <a:xfrm>
              <a:off x="1066800" y="3790950"/>
              <a:ext cx="285750" cy="285750"/>
            </a:xfrm>
            <a:prstGeom prst="roundRect">
              <a:avLst>
                <a:gd name="adj" fmla="val 23333"/>
              </a:avLst>
            </a:prstGeom>
            <a:solidFill>
              <a:srgbClr val="F2685C"/>
            </a:solidFill>
            <a:ln>
              <a:noFill/>
            </a:ln>
          </p:spPr>
        </p:sp>
        <p:sp>
          <p:nvSpPr>
            <p:cNvPr id="15" name="Rectangle 15"/>
            <p:cNvSpPr/>
            <p:nvPr/>
          </p:nvSpPr>
          <p:spPr>
            <a:xfrm>
              <a:off x="1485900" y="3790950"/>
              <a:ext cx="285750" cy="285750"/>
            </a:xfrm>
            <a:prstGeom prst="roundRect">
              <a:avLst>
                <a:gd name="adj" fmla="val 23333"/>
              </a:avLst>
            </a:prstGeom>
            <a:solidFill>
              <a:srgbClr val="F2A24E"/>
            </a:solidFill>
            <a:ln>
              <a:noFill/>
            </a:ln>
          </p:spPr>
        </p:sp>
        <p:sp>
          <p:nvSpPr>
            <p:cNvPr id="16" name="Rectangle 16"/>
            <p:cNvSpPr/>
            <p:nvPr/>
          </p:nvSpPr>
          <p:spPr>
            <a:xfrm>
              <a:off x="1905000" y="3790950"/>
              <a:ext cx="285750" cy="285750"/>
            </a:xfrm>
            <a:prstGeom prst="roundRect">
              <a:avLst>
                <a:gd name="adj" fmla="val 23333"/>
              </a:avLst>
            </a:prstGeom>
            <a:solidFill>
              <a:srgbClr val="F2C14E"/>
            </a:solidFill>
            <a:ln>
              <a:noFill/>
            </a:ln>
          </p:spPr>
        </p:sp>
        <p:sp>
          <p:nvSpPr>
            <p:cNvPr id="17" name="Rectangle 17"/>
            <p:cNvSpPr/>
            <p:nvPr/>
          </p:nvSpPr>
          <p:spPr>
            <a:xfrm>
              <a:off x="2324100" y="3790950"/>
              <a:ext cx="285750" cy="285750"/>
            </a:xfrm>
            <a:prstGeom prst="roundRect">
              <a:avLst>
                <a:gd name="adj" fmla="val 23333"/>
              </a:avLst>
            </a:prstGeom>
            <a:solidFill>
              <a:srgbClr val="48C78E"/>
            </a:solidFill>
            <a:ln>
              <a:noFill/>
            </a:ln>
          </p:spPr>
        </p:sp>
        <p:sp>
          <p:nvSpPr>
            <p:cNvPr id="18" name="Rectangle 18"/>
            <p:cNvSpPr/>
            <p:nvPr/>
          </p:nvSpPr>
          <p:spPr>
            <a:xfrm>
              <a:off x="2743200" y="3790950"/>
              <a:ext cx="285750" cy="285750"/>
            </a:xfrm>
            <a:prstGeom prst="roundRect">
              <a:avLst>
                <a:gd name="adj" fmla="val 23333"/>
              </a:avLst>
            </a:prstGeom>
            <a:solidFill>
              <a:srgbClr val="34D3C0"/>
            </a:solidFill>
            <a:ln>
              <a:noFill/>
            </a:ln>
          </p:spPr>
        </p:sp>
        <p:sp>
          <p:nvSpPr>
            <p:cNvPr id="19" name="TextBox 19"/>
            <p:cNvSpPr txBox="1"/>
            <p:nvPr/>
          </p:nvSpPr>
          <p:spPr>
            <a:xfrm>
              <a:off x="1061847" y="4371499"/>
              <a:ext cx="1863752" cy="190690"/>
            </a:xfrm>
            <a:prstGeom prst="rect">
              <a:avLst/>
            </a:prstGeom>
            <a:noFill/>
            <a:ln>
              <a:noFill/>
            </a:ln>
          </p:spPr>
          <p:txBody>
            <a:bodyPr wrap="none" lIns="0" tIns="0" rIns="0" bIns="0" anchor="t" anchorCtr="0">
              <a:spAutoFit/>
            </a:bodyPr>
            <a:lstStyle/>
            <a:p>
              <a:pPr algn="l"/>
              <a:r>
                <a:rPr lang="en-US" sz="980" b="1" dirty="0">
                  <a:solidFill>
                    <a:srgbClr val="F2C14E"/>
                  </a:solidFill>
                  <a:latin typeface="+mn-lt"/>
                  <a:ea typeface="+mn-ea"/>
                  <a:cs typeface="+mn-cs"/>
                </a:rPr>
                <a:t>Test colors can be anything</a:t>
              </a:r>
            </a:p>
          </p:txBody>
        </p:sp>
      </p:grpSp>
      <p:grpSp>
        <p:nvGrpSpPr>
          <p:cNvPr id="38" name="Group 38"/>
          <p:cNvGrpSpPr/>
          <p:nvPr/>
        </p:nvGrpSpPr>
        <p:grpSpPr>
          <a:xfrm>
            <a:off x="4762500" y="1504950"/>
            <a:ext cx="6819900" cy="1434703"/>
            <a:chOff x="4762500" y="1504950"/>
            <a:chExt cx="6819900" cy="1434703"/>
          </a:xfrm>
        </p:grpSpPr>
        <p:sp>
          <p:nvSpPr>
            <p:cNvPr id="21" name="Rectangle 21"/>
            <p:cNvSpPr/>
            <p:nvPr/>
          </p:nvSpPr>
          <p:spPr>
            <a:xfrm>
              <a:off x="4762500" y="1504950"/>
              <a:ext cx="6819900" cy="1428750"/>
            </a:xfrm>
            <a:prstGeom prst="roundRect">
              <a:avLst>
                <a:gd name="adj" fmla="val 9333"/>
              </a:avLst>
            </a:prstGeom>
            <a:solidFill>
              <a:schemeClr val="accent5"/>
            </a:solidFill>
            <a:ln w="14288">
              <a:solidFill>
                <a:srgbClr val="26455F"/>
              </a:solidFill>
            </a:ln>
          </p:spPr>
        </p:sp>
        <p:sp>
          <p:nvSpPr>
            <p:cNvPr id="22" name="Rectangle 22"/>
            <p:cNvSpPr/>
            <p:nvPr/>
          </p:nvSpPr>
          <p:spPr>
            <a:xfrm>
              <a:off x="4762500" y="1504950"/>
              <a:ext cx="57150" cy="1428750"/>
            </a:xfrm>
            <a:prstGeom prst="roundRect">
              <a:avLst>
                <a:gd name="adj" fmla="val 50000"/>
              </a:avLst>
            </a:prstGeom>
            <a:solidFill>
              <a:srgbClr val="F2685C"/>
            </a:solidFill>
            <a:ln>
              <a:noFill/>
            </a:ln>
          </p:spPr>
        </p:sp>
        <p:sp>
          <p:nvSpPr>
            <p:cNvPr id="23" name="TextBox 23"/>
            <p:cNvSpPr txBox="1"/>
            <p:nvPr/>
          </p:nvSpPr>
          <p:spPr>
            <a:xfrm>
              <a:off x="5022914" y="1733312"/>
              <a:ext cx="3533058"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Trained on red cars, tested on a blue one</a:t>
              </a:r>
            </a:p>
          </p:txBody>
        </p:sp>
        <p:sp>
          <p:nvSpPr>
            <p:cNvPr id="24" name="Rectangle 24"/>
            <p:cNvSpPr/>
            <p:nvPr/>
          </p:nvSpPr>
          <p:spPr>
            <a:xfrm>
              <a:off x="5143500" y="2343150"/>
              <a:ext cx="1409700" cy="285750"/>
            </a:xfrm>
            <a:prstGeom prst="roundRect">
              <a:avLst>
                <a:gd name="adj" fmla="val 26667"/>
              </a:avLst>
            </a:prstGeom>
            <a:solidFill>
              <a:srgbClr val="F2685C"/>
            </a:solidFill>
            <a:ln>
              <a:noFill/>
            </a:ln>
          </p:spPr>
        </p:sp>
        <p:sp>
          <p:nvSpPr>
            <p:cNvPr id="25" name="Rectangle 25"/>
            <p:cNvSpPr/>
            <p:nvPr/>
          </p:nvSpPr>
          <p:spPr>
            <a:xfrm>
              <a:off x="5429250" y="2171700"/>
              <a:ext cx="742950" cy="247650"/>
            </a:xfrm>
            <a:prstGeom prst="roundRect">
              <a:avLst>
                <a:gd name="adj" fmla="val 30769"/>
              </a:avLst>
            </a:prstGeom>
            <a:solidFill>
              <a:srgbClr val="F2685C"/>
            </a:solidFill>
            <a:ln>
              <a:noFill/>
            </a:ln>
          </p:spPr>
        </p:sp>
        <p:sp>
          <p:nvSpPr>
            <p:cNvPr id="26" name="Ellipse 26"/>
            <p:cNvSpPr/>
            <p:nvPr/>
          </p:nvSpPr>
          <p:spPr>
            <a:xfrm>
              <a:off x="5343525" y="2524125"/>
              <a:ext cx="247650" cy="247650"/>
            </a:xfrm>
            <a:prstGeom prst="ellipse">
              <a:avLst/>
            </a:prstGeom>
            <a:solidFill>
              <a:schemeClr val="lt1"/>
            </a:solidFill>
            <a:ln w="28575">
              <a:solidFill>
                <a:srgbClr val="F2685C"/>
              </a:solidFill>
            </a:ln>
          </p:spPr>
        </p:sp>
        <p:sp>
          <p:nvSpPr>
            <p:cNvPr id="27" name="Ellipse 27"/>
            <p:cNvSpPr/>
            <p:nvPr/>
          </p:nvSpPr>
          <p:spPr>
            <a:xfrm>
              <a:off x="6105525" y="2524125"/>
              <a:ext cx="247650" cy="247650"/>
            </a:xfrm>
            <a:prstGeom prst="ellipse">
              <a:avLst/>
            </a:prstGeom>
            <a:solidFill>
              <a:schemeClr val="lt1"/>
            </a:solidFill>
            <a:ln w="28575">
              <a:solidFill>
                <a:srgbClr val="F2685C"/>
              </a:solidFill>
            </a:ln>
          </p:spPr>
        </p:sp>
        <p:sp>
          <p:nvSpPr>
            <p:cNvPr id="28" name="TextBox 28"/>
            <p:cNvSpPr txBox="1"/>
            <p:nvPr/>
          </p:nvSpPr>
          <p:spPr>
            <a:xfrm>
              <a:off x="5715600" y="2756297"/>
              <a:ext cx="341700" cy="183356"/>
            </a:xfrm>
            <a:prstGeom prst="rect">
              <a:avLst/>
            </a:prstGeom>
            <a:noFill/>
            <a:ln>
              <a:noFill/>
            </a:ln>
          </p:spPr>
          <p:txBody>
            <a:bodyPr wrap="none" lIns="0" tIns="0" rIns="0" bIns="0" anchor="t" anchorCtr="0">
              <a:spAutoFit/>
            </a:bodyPr>
            <a:lstStyle/>
            <a:p>
              <a:pPr algn="ctr"/>
              <a:r>
                <a:rPr lang="en-US" sz="940" b="1" dirty="0">
                  <a:solidFill>
                    <a:srgbClr val="6E869C"/>
                  </a:solidFill>
                  <a:latin typeface="+mn-lt"/>
                  <a:ea typeface="+mn-ea"/>
                  <a:cs typeface="+mn-cs"/>
                </a:rPr>
                <a:t>train</a:t>
              </a:r>
            </a:p>
          </p:txBody>
        </p:sp>
        <p:sp>
          <p:nvSpPr>
            <p:cNvPr id="29" name="TextBox 29"/>
            <p:cNvSpPr txBox="1"/>
            <p:nvPr/>
          </p:nvSpPr>
          <p:spPr>
            <a:xfrm>
              <a:off x="6410745" y="2342198"/>
              <a:ext cx="323010" cy="381381"/>
            </a:xfrm>
            <a:prstGeom prst="rect">
              <a:avLst/>
            </a:prstGeom>
            <a:noFill/>
            <a:ln>
              <a:noFill/>
            </a:ln>
          </p:spPr>
          <p:txBody>
            <a:bodyPr wrap="none" lIns="0" tIns="0" rIns="0" bIns="0" anchor="t" anchorCtr="0">
              <a:spAutoFit/>
            </a:bodyPr>
            <a:lstStyle/>
            <a:p>
              <a:pPr algn="ctr"/>
              <a:r>
                <a:rPr lang="en-US" sz="1950" b="1" dirty="0">
                  <a:solidFill>
                    <a:schemeClr val="dk2"/>
                  </a:solidFill>
                  <a:latin typeface="+mn-lt"/>
                  <a:ea typeface="+mn-ea"/>
                  <a:cs typeface="+mn-cs"/>
                </a:rPr>
                <a:t>-&gt;</a:t>
              </a:r>
            </a:p>
          </p:txBody>
        </p:sp>
        <p:sp>
          <p:nvSpPr>
            <p:cNvPr id="30" name="Rectangle 30"/>
            <p:cNvSpPr/>
            <p:nvPr/>
          </p:nvSpPr>
          <p:spPr>
            <a:xfrm>
              <a:off x="7010400" y="2343150"/>
              <a:ext cx="1409700" cy="285750"/>
            </a:xfrm>
            <a:prstGeom prst="roundRect">
              <a:avLst>
                <a:gd name="adj" fmla="val 26667"/>
              </a:avLst>
            </a:prstGeom>
            <a:solidFill>
              <a:schemeClr val="accent2"/>
            </a:solidFill>
            <a:ln>
              <a:noFill/>
            </a:ln>
          </p:spPr>
        </p:sp>
        <p:sp>
          <p:nvSpPr>
            <p:cNvPr id="31" name="Rectangle 31"/>
            <p:cNvSpPr/>
            <p:nvPr/>
          </p:nvSpPr>
          <p:spPr>
            <a:xfrm>
              <a:off x="7296150" y="2171700"/>
              <a:ext cx="742950" cy="247650"/>
            </a:xfrm>
            <a:prstGeom prst="roundRect">
              <a:avLst>
                <a:gd name="adj" fmla="val 30769"/>
              </a:avLst>
            </a:prstGeom>
            <a:solidFill>
              <a:schemeClr val="accent2"/>
            </a:solidFill>
            <a:ln>
              <a:noFill/>
            </a:ln>
          </p:spPr>
        </p:sp>
        <p:sp>
          <p:nvSpPr>
            <p:cNvPr id="32" name="Ellipse 32"/>
            <p:cNvSpPr/>
            <p:nvPr/>
          </p:nvSpPr>
          <p:spPr>
            <a:xfrm>
              <a:off x="7210425" y="2524125"/>
              <a:ext cx="247650" cy="247650"/>
            </a:xfrm>
            <a:prstGeom prst="ellipse">
              <a:avLst/>
            </a:prstGeom>
            <a:solidFill>
              <a:schemeClr val="lt1"/>
            </a:solidFill>
            <a:ln w="28575">
              <a:solidFill>
                <a:schemeClr val="accent2"/>
              </a:solidFill>
            </a:ln>
          </p:spPr>
        </p:sp>
        <p:sp>
          <p:nvSpPr>
            <p:cNvPr id="33" name="Ellipse 33"/>
            <p:cNvSpPr/>
            <p:nvPr/>
          </p:nvSpPr>
          <p:spPr>
            <a:xfrm>
              <a:off x="7972425" y="2524125"/>
              <a:ext cx="247650" cy="247650"/>
            </a:xfrm>
            <a:prstGeom prst="ellipse">
              <a:avLst/>
            </a:prstGeom>
            <a:solidFill>
              <a:schemeClr val="lt1"/>
            </a:solidFill>
            <a:ln w="28575">
              <a:solidFill>
                <a:schemeClr val="accent2"/>
              </a:solidFill>
            </a:ln>
          </p:spPr>
        </p:sp>
        <p:sp>
          <p:nvSpPr>
            <p:cNvPr id="34" name="TextBox 34"/>
            <p:cNvSpPr txBox="1"/>
            <p:nvPr/>
          </p:nvSpPr>
          <p:spPr>
            <a:xfrm>
              <a:off x="7602431" y="2756297"/>
              <a:ext cx="301839" cy="183356"/>
            </a:xfrm>
            <a:prstGeom prst="rect">
              <a:avLst/>
            </a:prstGeom>
            <a:noFill/>
            <a:ln>
              <a:noFill/>
            </a:ln>
          </p:spPr>
          <p:txBody>
            <a:bodyPr wrap="none" lIns="0" tIns="0" rIns="0" bIns="0" anchor="t" anchorCtr="0">
              <a:spAutoFit/>
            </a:bodyPr>
            <a:lstStyle/>
            <a:p>
              <a:pPr algn="ctr"/>
              <a:r>
                <a:rPr lang="en-US" sz="940" b="1" dirty="0">
                  <a:solidFill>
                    <a:srgbClr val="6E869C"/>
                  </a:solidFill>
                  <a:latin typeface="+mn-lt"/>
                  <a:ea typeface="+mn-ea"/>
                  <a:cs typeface="+mn-cs"/>
                </a:rPr>
                <a:t>test</a:t>
              </a:r>
            </a:p>
          </p:txBody>
        </p:sp>
        <p:sp>
          <p:nvSpPr>
            <p:cNvPr id="35" name="Rectangle 35"/>
            <p:cNvSpPr/>
            <p:nvPr/>
          </p:nvSpPr>
          <p:spPr>
            <a:xfrm>
              <a:off x="8572500" y="2133600"/>
              <a:ext cx="2743200" cy="495300"/>
            </a:xfrm>
            <a:prstGeom prst="roundRect">
              <a:avLst>
                <a:gd name="adj" fmla="val 19231"/>
              </a:avLst>
            </a:prstGeom>
            <a:solidFill>
              <a:schemeClr val="accent6"/>
            </a:solidFill>
            <a:ln w="14288">
              <a:solidFill>
                <a:srgbClr val="26455F"/>
              </a:solidFill>
            </a:ln>
          </p:spPr>
        </p:sp>
        <p:sp>
          <p:nvSpPr>
            <p:cNvPr id="36" name="TextBox 36"/>
            <p:cNvSpPr txBox="1"/>
            <p:nvPr/>
          </p:nvSpPr>
          <p:spPr>
            <a:xfrm>
              <a:off x="9647024" y="2260997"/>
              <a:ext cx="59415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accuracy</a:t>
              </a:r>
            </a:p>
          </p:txBody>
        </p:sp>
        <p:sp>
          <p:nvSpPr>
            <p:cNvPr id="37" name="TextBox 37"/>
            <p:cNvSpPr txBox="1"/>
            <p:nvPr/>
          </p:nvSpPr>
          <p:spPr>
            <a:xfrm>
              <a:off x="9560597" y="2442210"/>
              <a:ext cx="767006" cy="234696"/>
            </a:xfrm>
            <a:prstGeom prst="rect">
              <a:avLst/>
            </a:prstGeom>
            <a:noFill/>
            <a:ln>
              <a:noFill/>
            </a:ln>
          </p:spPr>
          <p:txBody>
            <a:bodyPr wrap="none" lIns="0" tIns="0" rIns="0" bIns="0" anchor="t" anchorCtr="0">
              <a:spAutoFit/>
            </a:bodyPr>
            <a:lstStyle/>
            <a:p>
              <a:pPr algn="ctr"/>
              <a:r>
                <a:rPr lang="en-US" sz="1200" b="1" dirty="0">
                  <a:solidFill>
                    <a:srgbClr val="F2685C"/>
                  </a:solidFill>
                  <a:latin typeface="+mn-lt"/>
                  <a:ea typeface="+mn-ea"/>
                  <a:cs typeface="+mn-cs"/>
                </a:rPr>
                <a:t>collapses</a:t>
              </a:r>
            </a:p>
          </p:txBody>
        </p:sp>
      </p:grpSp>
      <p:grpSp>
        <p:nvGrpSpPr>
          <p:cNvPr id="44" name="Group 44"/>
          <p:cNvGrpSpPr/>
          <p:nvPr/>
        </p:nvGrpSpPr>
        <p:grpSpPr>
          <a:xfrm>
            <a:off x="4762500" y="3086100"/>
            <a:ext cx="6819900" cy="990600"/>
            <a:chOff x="4762500" y="3086100"/>
            <a:chExt cx="6819900" cy="990600"/>
          </a:xfrm>
        </p:grpSpPr>
        <p:sp>
          <p:nvSpPr>
            <p:cNvPr id="39" name="Rectangle 39"/>
            <p:cNvSpPr/>
            <p:nvPr/>
          </p:nvSpPr>
          <p:spPr>
            <a:xfrm>
              <a:off x="4762500" y="3086100"/>
              <a:ext cx="6819900" cy="990600"/>
            </a:xfrm>
            <a:prstGeom prst="roundRect">
              <a:avLst>
                <a:gd name="adj" fmla="val 13462"/>
              </a:avLst>
            </a:prstGeom>
            <a:solidFill>
              <a:schemeClr val="accent5"/>
            </a:solidFill>
            <a:ln w="14288">
              <a:solidFill>
                <a:srgbClr val="26455F"/>
              </a:solidFill>
            </a:ln>
          </p:spPr>
        </p:sp>
        <p:sp>
          <p:nvSpPr>
            <p:cNvPr id="40" name="Rectangle 40"/>
            <p:cNvSpPr/>
            <p:nvPr/>
          </p:nvSpPr>
          <p:spPr>
            <a:xfrm>
              <a:off x="4762500" y="3086100"/>
              <a:ext cx="57150" cy="990600"/>
            </a:xfrm>
            <a:prstGeom prst="roundRect">
              <a:avLst>
                <a:gd name="adj" fmla="val 50000"/>
              </a:avLst>
            </a:prstGeom>
            <a:solidFill>
              <a:srgbClr val="F2C14E"/>
            </a:solidFill>
            <a:ln>
              <a:noFill/>
            </a:ln>
          </p:spPr>
        </p:sp>
        <p:sp>
          <p:nvSpPr>
            <p:cNvPr id="41" name="TextBox 41"/>
            <p:cNvSpPr txBox="1"/>
            <p:nvPr/>
          </p:nvSpPr>
          <p:spPr>
            <a:xfrm>
              <a:off x="5023104" y="3318510"/>
              <a:ext cx="2545050"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The classic remedy overshoots</a:t>
              </a:r>
            </a:p>
          </p:txBody>
        </p:sp>
        <p:sp>
          <p:nvSpPr>
            <p:cNvPr id="42" name="TextBox 42"/>
            <p:cNvSpPr txBox="1"/>
            <p:nvPr/>
          </p:nvSpPr>
          <p:spPr>
            <a:xfrm>
              <a:off x="5023676" y="3616404"/>
              <a:ext cx="526891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Color invariance sidesteps the issue by removing color entirely, throwing</a:t>
              </a:r>
            </a:p>
          </p:txBody>
        </p:sp>
        <p:sp>
          <p:nvSpPr>
            <p:cNvPr id="43" name="TextBox 43"/>
            <p:cNvSpPr txBox="1"/>
            <p:nvPr/>
          </p:nvSpPr>
          <p:spPr>
            <a:xfrm>
              <a:off x="5023676" y="3825954"/>
              <a:ext cx="221208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away a genuinely useful signal.</a:t>
              </a:r>
            </a:p>
          </p:txBody>
        </p:sp>
      </p:grpSp>
      <p:grpSp>
        <p:nvGrpSpPr>
          <p:cNvPr id="50" name="Group 50"/>
          <p:cNvGrpSpPr/>
          <p:nvPr/>
        </p:nvGrpSpPr>
        <p:grpSpPr>
          <a:xfrm>
            <a:off x="4762500" y="4229100"/>
            <a:ext cx="6819900" cy="1009650"/>
            <a:chOff x="4762500" y="4229100"/>
            <a:chExt cx="6819900" cy="1009650"/>
          </a:xfrm>
        </p:grpSpPr>
        <p:sp>
          <p:nvSpPr>
            <p:cNvPr id="45" name="Rectangle 45"/>
            <p:cNvSpPr/>
            <p:nvPr/>
          </p:nvSpPr>
          <p:spPr>
            <a:xfrm>
              <a:off x="4762500" y="4229100"/>
              <a:ext cx="6819900" cy="1009650"/>
            </a:xfrm>
            <a:prstGeom prst="roundRect">
              <a:avLst>
                <a:gd name="adj" fmla="val 13208"/>
              </a:avLst>
            </a:prstGeom>
            <a:solidFill>
              <a:srgbClr val="0F2E2B"/>
            </a:solidFill>
            <a:ln w="14288">
              <a:solidFill>
                <a:srgbClr val="34D3C0"/>
              </a:solidFill>
            </a:ln>
          </p:spPr>
        </p:sp>
        <p:sp>
          <p:nvSpPr>
            <p:cNvPr id="46" name="Rectangle 46"/>
            <p:cNvSpPr/>
            <p:nvPr/>
          </p:nvSpPr>
          <p:spPr>
            <a:xfrm>
              <a:off x="4762500" y="4229100"/>
              <a:ext cx="57150" cy="1009650"/>
            </a:xfrm>
            <a:prstGeom prst="roundRect">
              <a:avLst>
                <a:gd name="adj" fmla="val 50000"/>
              </a:avLst>
            </a:prstGeom>
            <a:solidFill>
              <a:srgbClr val="34D3C0"/>
            </a:solidFill>
            <a:ln>
              <a:noFill/>
            </a:ln>
          </p:spPr>
        </p:sp>
        <p:sp>
          <p:nvSpPr>
            <p:cNvPr id="47" name="TextBox 47"/>
            <p:cNvSpPr txBox="1"/>
            <p:nvPr/>
          </p:nvSpPr>
          <p:spPr>
            <a:xfrm>
              <a:off x="5023104" y="4461510"/>
              <a:ext cx="1484606"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The real challenge</a:t>
              </a:r>
            </a:p>
          </p:txBody>
        </p:sp>
        <p:sp>
          <p:nvSpPr>
            <p:cNvPr id="48" name="TextBox 48"/>
            <p:cNvSpPr txBox="1"/>
            <p:nvPr/>
          </p:nvSpPr>
          <p:spPr>
            <a:xfrm>
              <a:off x="5023676" y="4759404"/>
              <a:ext cx="506336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Keep color information while still generalizing across colors that were</a:t>
              </a:r>
            </a:p>
          </p:txBody>
        </p:sp>
        <p:sp>
          <p:nvSpPr>
            <p:cNvPr id="49" name="TextBox 49"/>
            <p:cNvSpPr txBox="1"/>
            <p:nvPr/>
          </p:nvSpPr>
          <p:spPr>
            <a:xfrm>
              <a:off x="5023676" y="4968954"/>
              <a:ext cx="225610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rare or absent during training.</a:t>
              </a:r>
            </a:p>
          </p:txBody>
        </p:sp>
      </p:grpSp>
      <p:sp>
        <p:nvSpPr>
          <p:cNvPr id="51" name="cue_s02_c1_convolutional_neural_networks_lean_h" title="cue_s02_c1_convolutional_neural_networks_lean_h" descr="cue_s02_c1_convolutional_neural_networks_lean_h Convolutional neural networks lean heavily on color to recognize objects, but real-world data rarely contains every color a class can take."/>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2_c2_when_trained_mostly_red_cars" title="cue_s02_c2_when_trained_mostly_red_cars" descr="cue_s02_c2_when_trained_mostly_red_cars When a model trained mostly on red cars sees a blue one, accuracy collapses."/>
          <p:cNvSpPr/>
          <p:nvPr/>
        </p:nvSpPr>
        <p:spPr>
          <a:xfrm>
            <a:off x="4762195" y="1504645"/>
            <a:ext cx="6820204" cy="143469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3_classic_remedy_color_invariance_side" title="cue_s02_c3_classic_remedy_color_invariance_side" descr="cue_s02_c3_classic_remedy_color_invariance_side The classic remedy, color invariance, sidesteps the problem by removing color entirely, but that throws away a genuinely useful signal."/>
          <p:cNvSpPr/>
          <p:nvPr/>
        </p:nvSpPr>
        <p:spPr>
          <a:xfrm>
            <a:off x="4762195" y="3086100"/>
            <a:ext cx="68202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2_c4_frames_real_challenge_keeping_color" title="cue_s02_c4_frames_real_challenge_keeping_color" descr="cue_s02_c4_frames_real_challenge_keeping_color The paper frames the real challenge as keeping color information while still generalizing across colors that were rare or absent during training."/>
          <p:cNvSpPr/>
          <p:nvPr/>
        </p:nvSpPr>
        <p:spPr>
          <a:xfrm>
            <a:off x="4762195" y="4229328"/>
            <a:ext cx="6820204"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07567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Color is a natural axis for equivariance</a:t>
            </a:r>
          </a:p>
        </p:txBody>
      </p:sp>
      <p:grpSp>
        <p:nvGrpSpPr>
          <p:cNvPr id="18" name="Group 18"/>
          <p:cNvGrpSpPr/>
          <p:nvPr/>
        </p:nvGrpSpPr>
        <p:grpSpPr>
          <a:xfrm>
            <a:off x="609600" y="1504950"/>
            <a:ext cx="5334000" cy="1905000"/>
            <a:chOff x="609600" y="1504950"/>
            <a:chExt cx="5334000" cy="1905000"/>
          </a:xfrm>
        </p:grpSpPr>
        <p:sp>
          <p:nvSpPr>
            <p:cNvPr id="5" name="Rectangle 5"/>
            <p:cNvSpPr/>
            <p:nvPr/>
          </p:nvSpPr>
          <p:spPr>
            <a:xfrm>
              <a:off x="609600" y="1504950"/>
              <a:ext cx="5334000" cy="1905000"/>
            </a:xfrm>
            <a:prstGeom prst="roundRect">
              <a:avLst>
                <a:gd name="adj" fmla="val 7000"/>
              </a:avLst>
            </a:prstGeom>
            <a:solidFill>
              <a:schemeClr val="accent5"/>
            </a:solidFill>
            <a:ln w="14288">
              <a:solidFill>
                <a:srgbClr val="26455F"/>
              </a:solidFill>
            </a:ln>
          </p:spPr>
        </p:sp>
        <p:sp>
          <p:nvSpPr>
            <p:cNvPr id="6" name="Rectangle 6"/>
            <p:cNvSpPr/>
            <p:nvPr/>
          </p:nvSpPr>
          <p:spPr>
            <a:xfrm>
              <a:off x="609600" y="1504950"/>
              <a:ext cx="57150" cy="1905000"/>
            </a:xfrm>
            <a:prstGeom prst="roundRect">
              <a:avLst>
                <a:gd name="adj" fmla="val 50000"/>
              </a:avLst>
            </a:prstGeom>
            <a:solidFill>
              <a:schemeClr val="accent2"/>
            </a:solidFill>
            <a:ln>
              <a:noFill/>
            </a:ln>
          </p:spPr>
        </p:sp>
        <p:sp>
          <p:nvSpPr>
            <p:cNvPr id="7" name="TextBox 7"/>
            <p:cNvSpPr txBox="1"/>
            <p:nvPr/>
          </p:nvSpPr>
          <p:spPr>
            <a:xfrm>
              <a:off x="869823" y="1729264"/>
              <a:ext cx="3121746"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Equivariance paid off for geometry</a:t>
              </a:r>
            </a:p>
          </p:txBody>
        </p:sp>
        <p:sp>
          <p:nvSpPr>
            <p:cNvPr id="8" name="TextBox 8"/>
            <p:cNvSpPr txBox="1"/>
            <p:nvPr/>
          </p:nvSpPr>
          <p:spPr>
            <a:xfrm>
              <a:off x="870776" y="2035254"/>
              <a:ext cx="407298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Group equivariant convolutions share parameters across</a:t>
              </a:r>
            </a:p>
          </p:txBody>
        </p:sp>
        <p:sp>
          <p:nvSpPr>
            <p:cNvPr id="9" name="TextBox 9"/>
            <p:cNvSpPr txBox="1"/>
            <p:nvPr/>
          </p:nvSpPr>
          <p:spPr>
            <a:xfrm>
              <a:off x="870776" y="2244804"/>
              <a:ext cx="346667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rotations and flips, dramatically improving data</a:t>
              </a:r>
            </a:p>
          </p:txBody>
        </p:sp>
        <p:sp>
          <p:nvSpPr>
            <p:cNvPr id="10" name="TextBox 10"/>
            <p:cNvSpPr txBox="1"/>
            <p:nvPr/>
          </p:nvSpPr>
          <p:spPr>
            <a:xfrm>
              <a:off x="870776" y="2454354"/>
              <a:ext cx="312184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efficiency for geometric transformations.</a:t>
              </a:r>
            </a:p>
          </p:txBody>
        </p:sp>
        <p:sp>
          <p:nvSpPr>
            <p:cNvPr id="11" name="Ellipse 11"/>
            <p:cNvSpPr/>
            <p:nvPr/>
          </p:nvSpPr>
          <p:spPr>
            <a:xfrm>
              <a:off x="1238250" y="2667000"/>
              <a:ext cx="381000" cy="381000"/>
            </a:xfrm>
            <a:prstGeom prst="ellipse">
              <a:avLst/>
            </a:prstGeom>
            <a:noFill/>
            <a:ln w="23812">
              <a:solidFill>
                <a:schemeClr val="accent2"/>
              </a:solidFill>
            </a:ln>
          </p:spPr>
        </p:sp>
        <p:sp>
          <p:nvSpPr>
            <p:cNvPr id="12" name="Freeform 12"/>
            <p:cNvSpPr/>
            <p:nvPr/>
          </p:nvSpPr>
          <p:spPr>
            <a:xfrm>
              <a:off x="1504950" y="2705100"/>
              <a:ext cx="95250" cy="95250"/>
            </a:xfrm>
            <a:custGeom>
              <a:avLst/>
              <a:gdLst/>
              <a:ahLst/>
              <a:cxnLst/>
              <a:rect l="l" t="t" r="r" b="b"/>
              <a:pathLst>
                <a:path w="95250" h="95250">
                  <a:moveTo>
                    <a:pt x="95250" y="95250"/>
                  </a:moveTo>
                  <a:lnTo>
                    <a:pt x="95250" y="0"/>
                  </a:lnTo>
                  <a:lnTo>
                    <a:pt x="0" y="0"/>
                  </a:lnTo>
                </a:path>
              </a:pathLst>
            </a:custGeom>
            <a:noFill/>
            <a:ln w="23812" cap="rnd">
              <a:solidFill>
                <a:schemeClr val="accent2"/>
              </a:solidFill>
            </a:ln>
          </p:spPr>
        </p:sp>
        <p:sp>
          <p:nvSpPr>
            <p:cNvPr id="13" name="Ellipse 13"/>
            <p:cNvSpPr/>
            <p:nvPr/>
          </p:nvSpPr>
          <p:spPr>
            <a:xfrm>
              <a:off x="2476500" y="2667000"/>
              <a:ext cx="381000" cy="381000"/>
            </a:xfrm>
            <a:prstGeom prst="ellipse">
              <a:avLst/>
            </a:prstGeom>
            <a:noFill/>
            <a:ln w="23812">
              <a:solidFill>
                <a:schemeClr val="accent2"/>
              </a:solidFill>
            </a:ln>
          </p:spPr>
        </p:sp>
        <p:sp>
          <p:nvSpPr>
            <p:cNvPr id="14" name="Freeform 14"/>
            <p:cNvSpPr/>
            <p:nvPr/>
          </p:nvSpPr>
          <p:spPr>
            <a:xfrm>
              <a:off x="2743200" y="2705100"/>
              <a:ext cx="95250" cy="95250"/>
            </a:xfrm>
            <a:custGeom>
              <a:avLst/>
              <a:gdLst/>
              <a:ahLst/>
              <a:cxnLst/>
              <a:rect l="l" t="t" r="r" b="b"/>
              <a:pathLst>
                <a:path w="95250" h="95250">
                  <a:moveTo>
                    <a:pt x="95250" y="95250"/>
                  </a:moveTo>
                  <a:lnTo>
                    <a:pt x="95250" y="0"/>
                  </a:lnTo>
                  <a:lnTo>
                    <a:pt x="0" y="0"/>
                  </a:lnTo>
                </a:path>
              </a:pathLst>
            </a:custGeom>
            <a:noFill/>
            <a:ln w="23812" cap="rnd">
              <a:solidFill>
                <a:schemeClr val="accent2"/>
              </a:solidFill>
            </a:ln>
          </p:spPr>
        </p:sp>
        <p:sp>
          <p:nvSpPr>
            <p:cNvPr id="15" name="Ellipse 15"/>
            <p:cNvSpPr/>
            <p:nvPr/>
          </p:nvSpPr>
          <p:spPr>
            <a:xfrm>
              <a:off x="3714750" y="2667000"/>
              <a:ext cx="381000" cy="381000"/>
            </a:xfrm>
            <a:prstGeom prst="ellipse">
              <a:avLst/>
            </a:prstGeom>
            <a:noFill/>
            <a:ln w="23812">
              <a:solidFill>
                <a:schemeClr val="accent2"/>
              </a:solidFill>
            </a:ln>
          </p:spPr>
        </p:sp>
        <p:sp>
          <p:nvSpPr>
            <p:cNvPr id="16" name="Freeform 16"/>
            <p:cNvSpPr/>
            <p:nvPr/>
          </p:nvSpPr>
          <p:spPr>
            <a:xfrm>
              <a:off x="3981450" y="2705100"/>
              <a:ext cx="95250" cy="95250"/>
            </a:xfrm>
            <a:custGeom>
              <a:avLst/>
              <a:gdLst/>
              <a:ahLst/>
              <a:cxnLst/>
              <a:rect l="l" t="t" r="r" b="b"/>
              <a:pathLst>
                <a:path w="95250" h="95250">
                  <a:moveTo>
                    <a:pt x="95250" y="95250"/>
                  </a:moveTo>
                  <a:lnTo>
                    <a:pt x="95250" y="0"/>
                  </a:lnTo>
                  <a:lnTo>
                    <a:pt x="0" y="0"/>
                  </a:lnTo>
                </a:path>
              </a:pathLst>
            </a:custGeom>
            <a:noFill/>
            <a:ln w="23812" cap="rnd">
              <a:solidFill>
                <a:schemeClr val="accent2"/>
              </a:solidFill>
            </a:ln>
          </p:spPr>
        </p:sp>
        <p:sp>
          <p:nvSpPr>
            <p:cNvPr id="17" name="TextBox 17"/>
            <p:cNvSpPr txBox="1"/>
            <p:nvPr/>
          </p:nvSpPr>
          <p:spPr>
            <a:xfrm>
              <a:off x="4312553" y="2885599"/>
              <a:ext cx="1090393"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rotations, flips</a:t>
              </a:r>
            </a:p>
          </p:txBody>
        </p:sp>
      </p:grpSp>
      <p:grpSp>
        <p:nvGrpSpPr>
          <p:cNvPr id="32" name="Group 32"/>
          <p:cNvGrpSpPr/>
          <p:nvPr/>
        </p:nvGrpSpPr>
        <p:grpSpPr>
          <a:xfrm>
            <a:off x="609600" y="3562350"/>
            <a:ext cx="5334000" cy="1676400"/>
            <a:chOff x="609600" y="3562350"/>
            <a:chExt cx="5334000" cy="1676400"/>
          </a:xfrm>
        </p:grpSpPr>
        <p:sp>
          <p:nvSpPr>
            <p:cNvPr id="19" name="Rectangle 19"/>
            <p:cNvSpPr/>
            <p:nvPr/>
          </p:nvSpPr>
          <p:spPr>
            <a:xfrm>
              <a:off x="609600" y="3562350"/>
              <a:ext cx="5334000" cy="1676400"/>
            </a:xfrm>
            <a:prstGeom prst="roundRect">
              <a:avLst>
                <a:gd name="adj" fmla="val 7955"/>
              </a:avLst>
            </a:prstGeom>
            <a:solidFill>
              <a:srgbClr val="2A2417"/>
            </a:solidFill>
            <a:ln w="14288">
              <a:solidFill>
                <a:srgbClr val="F2C14E"/>
              </a:solidFill>
            </a:ln>
          </p:spPr>
        </p:sp>
        <p:sp>
          <p:nvSpPr>
            <p:cNvPr id="20" name="Rectangle 20"/>
            <p:cNvSpPr/>
            <p:nvPr/>
          </p:nvSpPr>
          <p:spPr>
            <a:xfrm>
              <a:off x="609600" y="3562350"/>
              <a:ext cx="57150" cy="1676400"/>
            </a:xfrm>
            <a:prstGeom prst="roundRect">
              <a:avLst>
                <a:gd name="adj" fmla="val 50000"/>
              </a:avLst>
            </a:prstGeom>
            <a:solidFill>
              <a:srgbClr val="F2C14E"/>
            </a:solidFill>
            <a:ln>
              <a:noFill/>
            </a:ln>
          </p:spPr>
        </p:sp>
        <p:sp>
          <p:nvSpPr>
            <p:cNvPr id="21" name="TextBox 21"/>
            <p:cNvSpPr txBox="1"/>
            <p:nvPr/>
          </p:nvSpPr>
          <p:spPr>
            <a:xfrm>
              <a:off x="870204" y="3794760"/>
              <a:ext cx="3053955"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Photometric changes were left aside</a:t>
              </a:r>
            </a:p>
          </p:txBody>
        </p:sp>
        <p:sp>
          <p:nvSpPr>
            <p:cNvPr id="22" name="TextBox 22"/>
            <p:cNvSpPr txBox="1"/>
            <p:nvPr/>
          </p:nvSpPr>
          <p:spPr>
            <a:xfrm>
              <a:off x="870776" y="4092654"/>
              <a:ext cx="430793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Hue shifts and other photometric transformations had gone</a:t>
              </a:r>
            </a:p>
          </p:txBody>
        </p:sp>
        <p:sp>
          <p:nvSpPr>
            <p:cNvPr id="23" name="TextBox 23"/>
            <p:cNvSpPr txBox="1"/>
            <p:nvPr/>
          </p:nvSpPr>
          <p:spPr>
            <a:xfrm>
              <a:off x="870776" y="4302204"/>
              <a:ext cx="347401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largely unexplored, even as geometry got all the</a:t>
              </a:r>
            </a:p>
          </p:txBody>
        </p:sp>
        <p:sp>
          <p:nvSpPr>
            <p:cNvPr id="24" name="TextBox 24"/>
            <p:cNvSpPr txBox="1"/>
            <p:nvPr/>
          </p:nvSpPr>
          <p:spPr>
            <a:xfrm>
              <a:off x="870776" y="4511754"/>
              <a:ext cx="78141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attention.</a:t>
              </a:r>
            </a:p>
          </p:txBody>
        </p:sp>
        <p:sp>
          <p:nvSpPr>
            <p:cNvPr id="25" name="Rectangle 25"/>
            <p:cNvSpPr/>
            <p:nvPr/>
          </p:nvSpPr>
          <p:spPr>
            <a:xfrm>
              <a:off x="876300" y="4705350"/>
              <a:ext cx="247650" cy="247650"/>
            </a:xfrm>
            <a:prstGeom prst="roundRect">
              <a:avLst>
                <a:gd name="adj" fmla="val 23077"/>
              </a:avLst>
            </a:prstGeom>
            <a:solidFill>
              <a:srgbClr val="F2685C"/>
            </a:solidFill>
            <a:ln>
              <a:noFill/>
            </a:ln>
          </p:spPr>
        </p:sp>
        <p:sp>
          <p:nvSpPr>
            <p:cNvPr id="26" name="Rectangle 26"/>
            <p:cNvSpPr/>
            <p:nvPr/>
          </p:nvSpPr>
          <p:spPr>
            <a:xfrm>
              <a:off x="1219200" y="4705350"/>
              <a:ext cx="247650" cy="247650"/>
            </a:xfrm>
            <a:prstGeom prst="roundRect">
              <a:avLst>
                <a:gd name="adj" fmla="val 23077"/>
              </a:avLst>
            </a:prstGeom>
            <a:solidFill>
              <a:srgbClr val="F2A24E"/>
            </a:solidFill>
            <a:ln>
              <a:noFill/>
            </a:ln>
          </p:spPr>
        </p:sp>
        <p:sp>
          <p:nvSpPr>
            <p:cNvPr id="27" name="Rectangle 27"/>
            <p:cNvSpPr/>
            <p:nvPr/>
          </p:nvSpPr>
          <p:spPr>
            <a:xfrm>
              <a:off x="1562100" y="4705350"/>
              <a:ext cx="247650" cy="247650"/>
            </a:xfrm>
            <a:prstGeom prst="roundRect">
              <a:avLst>
                <a:gd name="adj" fmla="val 23077"/>
              </a:avLst>
            </a:prstGeom>
            <a:solidFill>
              <a:srgbClr val="F2C14E"/>
            </a:solidFill>
            <a:ln>
              <a:noFill/>
            </a:ln>
          </p:spPr>
        </p:sp>
        <p:sp>
          <p:nvSpPr>
            <p:cNvPr id="28" name="Rectangle 28"/>
            <p:cNvSpPr/>
            <p:nvPr/>
          </p:nvSpPr>
          <p:spPr>
            <a:xfrm>
              <a:off x="1905000" y="4705350"/>
              <a:ext cx="247650" cy="247650"/>
            </a:xfrm>
            <a:prstGeom prst="roundRect">
              <a:avLst>
                <a:gd name="adj" fmla="val 23077"/>
              </a:avLst>
            </a:prstGeom>
            <a:solidFill>
              <a:srgbClr val="48C78E"/>
            </a:solidFill>
            <a:ln>
              <a:noFill/>
            </a:ln>
          </p:spPr>
        </p:sp>
        <p:sp>
          <p:nvSpPr>
            <p:cNvPr id="29" name="Rectangle 29"/>
            <p:cNvSpPr/>
            <p:nvPr/>
          </p:nvSpPr>
          <p:spPr>
            <a:xfrm>
              <a:off x="2247900" y="4705350"/>
              <a:ext cx="247650" cy="247650"/>
            </a:xfrm>
            <a:prstGeom prst="roundRect">
              <a:avLst>
                <a:gd name="adj" fmla="val 23077"/>
              </a:avLst>
            </a:prstGeom>
            <a:solidFill>
              <a:srgbClr val="34D3C0"/>
            </a:solidFill>
            <a:ln>
              <a:noFill/>
            </a:ln>
          </p:spPr>
        </p:sp>
        <p:sp>
          <p:nvSpPr>
            <p:cNvPr id="30" name="Rectangle 30"/>
            <p:cNvSpPr/>
            <p:nvPr/>
          </p:nvSpPr>
          <p:spPr>
            <a:xfrm>
              <a:off x="2590800" y="4705350"/>
              <a:ext cx="247650" cy="247650"/>
            </a:xfrm>
            <a:prstGeom prst="roundRect">
              <a:avLst>
                <a:gd name="adj" fmla="val 23077"/>
              </a:avLst>
            </a:prstGeom>
            <a:solidFill>
              <a:schemeClr val="accent2"/>
            </a:solidFill>
            <a:ln>
              <a:noFill/>
            </a:ln>
          </p:spPr>
        </p:sp>
        <p:sp>
          <p:nvSpPr>
            <p:cNvPr id="31" name="Rectangle 31"/>
            <p:cNvSpPr/>
            <p:nvPr/>
          </p:nvSpPr>
          <p:spPr>
            <a:xfrm>
              <a:off x="2933700" y="4705350"/>
              <a:ext cx="247650" cy="247650"/>
            </a:xfrm>
            <a:prstGeom prst="roundRect">
              <a:avLst>
                <a:gd name="adj" fmla="val 23077"/>
              </a:avLst>
            </a:prstGeom>
            <a:solidFill>
              <a:srgbClr val="9B7BE8"/>
            </a:solidFill>
            <a:ln>
              <a:noFill/>
            </a:ln>
          </p:spPr>
        </p:sp>
      </p:grpSp>
      <p:grpSp>
        <p:nvGrpSpPr>
          <p:cNvPr id="43" name="Group 43"/>
          <p:cNvGrpSpPr/>
          <p:nvPr/>
        </p:nvGrpSpPr>
        <p:grpSpPr>
          <a:xfrm>
            <a:off x="6172200" y="1504950"/>
            <a:ext cx="5410200" cy="1905000"/>
            <a:chOff x="6172200" y="1504950"/>
            <a:chExt cx="5410200" cy="1905000"/>
          </a:xfrm>
        </p:grpSpPr>
        <p:sp>
          <p:nvSpPr>
            <p:cNvPr id="33" name="Rectangle 33"/>
            <p:cNvSpPr/>
            <p:nvPr/>
          </p:nvSpPr>
          <p:spPr>
            <a:xfrm>
              <a:off x="6172200" y="1504950"/>
              <a:ext cx="5410200" cy="1905000"/>
            </a:xfrm>
            <a:prstGeom prst="roundRect">
              <a:avLst>
                <a:gd name="adj" fmla="val 7000"/>
              </a:avLst>
            </a:prstGeom>
            <a:solidFill>
              <a:schemeClr val="accent5"/>
            </a:solidFill>
            <a:ln w="14288">
              <a:solidFill>
                <a:srgbClr val="26455F"/>
              </a:solidFill>
            </a:ln>
          </p:spPr>
        </p:sp>
        <p:sp>
          <p:nvSpPr>
            <p:cNvPr id="34" name="Rectangle 34"/>
            <p:cNvSpPr/>
            <p:nvPr/>
          </p:nvSpPr>
          <p:spPr>
            <a:xfrm>
              <a:off x="6172200" y="1504950"/>
              <a:ext cx="57150" cy="1905000"/>
            </a:xfrm>
            <a:prstGeom prst="roundRect">
              <a:avLst>
                <a:gd name="adj" fmla="val 50000"/>
              </a:avLst>
            </a:prstGeom>
            <a:solidFill>
              <a:srgbClr val="34D3C0"/>
            </a:solidFill>
            <a:ln>
              <a:noFill/>
            </a:ln>
          </p:spPr>
        </p:sp>
        <p:sp>
          <p:nvSpPr>
            <p:cNvPr id="35" name="TextBox 35"/>
            <p:cNvSpPr txBox="1"/>
            <p:nvPr/>
          </p:nvSpPr>
          <p:spPr>
            <a:xfrm>
              <a:off x="6432614" y="1733312"/>
              <a:ext cx="3111120"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Early CNN layers are color-selective</a:t>
              </a:r>
            </a:p>
          </p:txBody>
        </p:sp>
        <p:sp>
          <p:nvSpPr>
            <p:cNvPr id="36" name="TextBox 36"/>
            <p:cNvSpPr txBox="1"/>
            <p:nvPr/>
          </p:nvSpPr>
          <p:spPr>
            <a:xfrm>
              <a:off x="6433376" y="2035254"/>
              <a:ext cx="377944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Studies of trained CNNs show that early layers learn</a:t>
              </a:r>
            </a:p>
          </p:txBody>
        </p:sp>
        <p:sp>
          <p:nvSpPr>
            <p:cNvPr id="37" name="TextBox 37"/>
            <p:cNvSpPr txBox="1"/>
            <p:nvPr/>
          </p:nvSpPr>
          <p:spPr>
            <a:xfrm>
              <a:off x="6433376" y="2244804"/>
              <a:ext cx="245420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strongly color-selective neurons.</a:t>
              </a:r>
            </a:p>
          </p:txBody>
        </p:sp>
        <p:sp>
          <p:nvSpPr>
            <p:cNvPr id="38" name="Ellipse 38"/>
            <p:cNvSpPr/>
            <p:nvPr/>
          </p:nvSpPr>
          <p:spPr>
            <a:xfrm>
              <a:off x="6696075" y="2886075"/>
              <a:ext cx="285750" cy="285750"/>
            </a:xfrm>
            <a:prstGeom prst="ellipse">
              <a:avLst/>
            </a:prstGeom>
            <a:solidFill>
              <a:srgbClr val="F2685C"/>
            </a:solidFill>
            <a:ln>
              <a:noFill/>
            </a:ln>
          </p:spPr>
        </p:sp>
        <p:sp>
          <p:nvSpPr>
            <p:cNvPr id="39" name="Ellipse 39"/>
            <p:cNvSpPr/>
            <p:nvPr/>
          </p:nvSpPr>
          <p:spPr>
            <a:xfrm>
              <a:off x="7362825" y="2886075"/>
              <a:ext cx="285750" cy="285750"/>
            </a:xfrm>
            <a:prstGeom prst="ellipse">
              <a:avLst/>
            </a:prstGeom>
            <a:solidFill>
              <a:srgbClr val="F2C14E"/>
            </a:solidFill>
            <a:ln>
              <a:noFill/>
            </a:ln>
          </p:spPr>
        </p:sp>
        <p:sp>
          <p:nvSpPr>
            <p:cNvPr id="40" name="Ellipse 40"/>
            <p:cNvSpPr/>
            <p:nvPr/>
          </p:nvSpPr>
          <p:spPr>
            <a:xfrm>
              <a:off x="8029575" y="2886075"/>
              <a:ext cx="285750" cy="285750"/>
            </a:xfrm>
            <a:prstGeom prst="ellipse">
              <a:avLst/>
            </a:prstGeom>
            <a:solidFill>
              <a:srgbClr val="48C78E"/>
            </a:solidFill>
            <a:ln>
              <a:noFill/>
            </a:ln>
          </p:spPr>
        </p:sp>
        <p:sp>
          <p:nvSpPr>
            <p:cNvPr id="41" name="Ellipse 41"/>
            <p:cNvSpPr/>
            <p:nvPr/>
          </p:nvSpPr>
          <p:spPr>
            <a:xfrm>
              <a:off x="8696325" y="2886075"/>
              <a:ext cx="285750" cy="285750"/>
            </a:xfrm>
            <a:prstGeom prst="ellipse">
              <a:avLst/>
            </a:prstGeom>
            <a:solidFill>
              <a:schemeClr val="accent2"/>
            </a:solidFill>
            <a:ln>
              <a:noFill/>
            </a:ln>
          </p:spPr>
        </p:sp>
        <p:sp>
          <p:nvSpPr>
            <p:cNvPr id="42" name="TextBox 42"/>
            <p:cNvSpPr txBox="1"/>
            <p:nvPr/>
          </p:nvSpPr>
          <p:spPr>
            <a:xfrm>
              <a:off x="9596247" y="2980849"/>
              <a:ext cx="1318958"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color-tuned filters</a:t>
              </a:r>
            </a:p>
          </p:txBody>
        </p:sp>
      </p:grpSp>
      <p:grpSp>
        <p:nvGrpSpPr>
          <p:cNvPr id="50" name="Group 50"/>
          <p:cNvGrpSpPr/>
          <p:nvPr/>
        </p:nvGrpSpPr>
        <p:grpSpPr>
          <a:xfrm>
            <a:off x="6172200" y="3562350"/>
            <a:ext cx="5410200" cy="1676400"/>
            <a:chOff x="6172200" y="3562350"/>
            <a:chExt cx="5410200" cy="1676400"/>
          </a:xfrm>
        </p:grpSpPr>
        <p:sp>
          <p:nvSpPr>
            <p:cNvPr id="44" name="Rectangle 44"/>
            <p:cNvSpPr/>
            <p:nvPr/>
          </p:nvSpPr>
          <p:spPr>
            <a:xfrm>
              <a:off x="6172200" y="3562350"/>
              <a:ext cx="5410200" cy="1676400"/>
            </a:xfrm>
            <a:prstGeom prst="roundRect">
              <a:avLst>
                <a:gd name="adj" fmla="val 7955"/>
              </a:avLst>
            </a:prstGeom>
            <a:solidFill>
              <a:srgbClr val="0F2E2B"/>
            </a:solidFill>
            <a:ln w="14288">
              <a:solidFill>
                <a:srgbClr val="34D3C0"/>
              </a:solidFill>
            </a:ln>
          </p:spPr>
        </p:sp>
        <p:sp>
          <p:nvSpPr>
            <p:cNvPr id="45" name="Rectangle 45"/>
            <p:cNvSpPr/>
            <p:nvPr/>
          </p:nvSpPr>
          <p:spPr>
            <a:xfrm>
              <a:off x="6172200" y="3562350"/>
              <a:ext cx="57150" cy="1676400"/>
            </a:xfrm>
            <a:prstGeom prst="roundRect">
              <a:avLst>
                <a:gd name="adj" fmla="val 50000"/>
              </a:avLst>
            </a:prstGeom>
            <a:solidFill>
              <a:srgbClr val="34D3C0"/>
            </a:solidFill>
            <a:ln>
              <a:noFill/>
            </a:ln>
          </p:spPr>
        </p:sp>
        <p:sp>
          <p:nvSpPr>
            <p:cNvPr id="46" name="TextBox 46"/>
            <p:cNvSpPr txBox="1"/>
            <p:nvPr/>
          </p:nvSpPr>
          <p:spPr>
            <a:xfrm>
              <a:off x="6432804" y="3794760"/>
              <a:ext cx="2672329"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Treat a hue shift like a rotation</a:t>
              </a:r>
            </a:p>
          </p:txBody>
        </p:sp>
        <p:sp>
          <p:nvSpPr>
            <p:cNvPr id="47" name="TextBox 47"/>
            <p:cNvSpPr txBox="1"/>
            <p:nvPr/>
          </p:nvSpPr>
          <p:spPr>
            <a:xfrm>
              <a:off x="6433376" y="4092654"/>
              <a:ext cx="4447696"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Make hue a symmetry the network respects by design, rather</a:t>
              </a:r>
            </a:p>
          </p:txBody>
        </p:sp>
        <p:sp>
          <p:nvSpPr>
            <p:cNvPr id="48" name="TextBox 48"/>
            <p:cNvSpPr txBox="1"/>
            <p:nvPr/>
          </p:nvSpPr>
          <p:spPr>
            <a:xfrm>
              <a:off x="6433376" y="4302204"/>
              <a:ext cx="307782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than something it must relearn from data.</a:t>
              </a:r>
            </a:p>
          </p:txBody>
        </p:sp>
        <p:sp>
          <p:nvSpPr>
            <p:cNvPr id="49" name="TextBox 49"/>
            <p:cNvSpPr txBox="1"/>
            <p:nvPr/>
          </p:nvSpPr>
          <p:spPr>
            <a:xfrm>
              <a:off x="6433185" y="4907756"/>
              <a:ext cx="1642055" cy="220028"/>
            </a:xfrm>
            <a:prstGeom prst="rect">
              <a:avLst/>
            </a:prstGeom>
            <a:noFill/>
            <a:ln>
              <a:noFill/>
            </a:ln>
          </p:spPr>
          <p:txBody>
            <a:bodyPr wrap="none" lIns="0" tIns="0" rIns="0" bIns="0" anchor="t" anchorCtr="0">
              <a:spAutoFit/>
            </a:bodyPr>
            <a:lstStyle/>
            <a:p>
              <a:pPr algn="l"/>
              <a:r>
                <a:rPr lang="en-US" sz="1120" b="1" dirty="0">
                  <a:solidFill>
                    <a:srgbClr val="34D3C0"/>
                  </a:solidFill>
                  <a:latin typeface="Consolas"/>
                  <a:ea typeface="Consolas"/>
                  <a:cs typeface="Consolas"/>
                </a:rPr>
                <a:t>rotation ~= hue shift</a:t>
              </a:r>
            </a:p>
          </p:txBody>
        </p:sp>
      </p:grpSp>
      <p:sp>
        <p:nvSpPr>
          <p:cNvPr id="51" name="cue_s03_c1_group_equivariant_convolutions_taugh" title="cue_s03_c1_group_equivariant_convolutions_taugh" descr="cue_s03_c1_group_equivariant_convolutions_taugh Group equivariant convolutions taught networks to share parameters across rotations and flips, dramatically improving data efficiency for geometric transformations."/>
          <p:cNvSpPr/>
          <p:nvPr/>
        </p:nvSpPr>
        <p:spPr>
          <a:xfrm>
            <a:off x="609600" y="1504645"/>
            <a:ext cx="53340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3_c2_yet_photometric_changes_such_shifts" title="cue_s03_c2_yet_photometric_changes_such_shifts" descr="cue_s03_c2_yet_photometric_changes_such_shifts Yet photometric changes, such as shifts in hue, had been left aside."/>
          <p:cNvSpPr/>
          <p:nvPr/>
        </p:nvSpPr>
        <p:spPr>
          <a:xfrm>
            <a:off x="609600" y="35620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3_c3_studies_trained_cnns_show_early" title="cue_s03_c3_studies_trained_cnns_show_early" descr="cue_s03_c3_studies_trained_cnns_show_early Studies of trained CNNs show that early layers learn strongly color-selective neurons, which suggests color is a natural axis for equivariance."/>
          <p:cNvSpPr/>
          <p:nvPr/>
        </p:nvSpPr>
        <p:spPr>
          <a:xfrm>
            <a:off x="6171590" y="1504645"/>
            <a:ext cx="540959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3_c4_motivates_treating_hue_shift_same" title="cue_s03_c4_motivates_treating_hue_shift_same" descr="cue_s03_c4_motivates_treating_hue_shift_same This motivates treating a hue shift the same way prior work treated a rotation: as a symmetry the network should respect by design, rather than something it must relearn from data."/>
          <p:cNvSpPr/>
          <p:nvPr/>
        </p:nvSpPr>
        <p:spPr>
          <a:xfrm>
            <a:off x="6171590" y="3562045"/>
            <a:ext cx="540959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424772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block, four properties</a:t>
            </a:r>
          </a:p>
        </p:txBody>
      </p:sp>
      <p:grpSp>
        <p:nvGrpSpPr>
          <p:cNvPr id="14" name="Group 14"/>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993552" y="2211705"/>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1</a:t>
              </a:r>
            </a:p>
          </p:txBody>
        </p:sp>
        <p:sp>
          <p:nvSpPr>
            <p:cNvPr id="9" name="TextBox 9"/>
            <p:cNvSpPr txBox="1"/>
            <p:nvPr/>
          </p:nvSpPr>
          <p:spPr>
            <a:xfrm>
              <a:off x="831532" y="2849166"/>
              <a:ext cx="157044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Color Equivariant</a:t>
              </a:r>
            </a:p>
          </p:txBody>
        </p:sp>
        <p:sp>
          <p:nvSpPr>
            <p:cNvPr id="10" name="TextBox 10"/>
            <p:cNvSpPr txBox="1"/>
            <p:nvPr/>
          </p:nvSpPr>
          <p:spPr>
            <a:xfrm>
              <a:off x="831532" y="3096816"/>
              <a:ext cx="104631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Convolution</a:t>
              </a:r>
            </a:p>
          </p:txBody>
        </p:sp>
        <p:sp>
          <p:nvSpPr>
            <p:cNvPr id="11" name="TextBox 11"/>
            <p:cNvSpPr txBox="1"/>
            <p:nvPr/>
          </p:nvSpPr>
          <p:spPr>
            <a:xfrm>
              <a:off x="832866" y="3487102"/>
              <a:ext cx="19592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new layer that hard-wires</a:t>
              </a:r>
            </a:p>
          </p:txBody>
        </p:sp>
        <p:sp>
          <p:nvSpPr>
            <p:cNvPr id="12" name="TextBox 12"/>
            <p:cNvSpPr txBox="1"/>
            <p:nvPr/>
          </p:nvSpPr>
          <p:spPr>
            <a:xfrm>
              <a:off x="832866" y="3696652"/>
              <a:ext cx="164327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parameter sharing over</a:t>
              </a:r>
            </a:p>
          </p:txBody>
        </p:sp>
        <p:sp>
          <p:nvSpPr>
            <p:cNvPr id="13" name="TextBox 13"/>
            <p:cNvSpPr txBox="1"/>
            <p:nvPr/>
          </p:nvSpPr>
          <p:spPr>
            <a:xfrm>
              <a:off x="832866" y="3906202"/>
              <a:ext cx="142417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discrete hue shifts.</a:t>
              </a:r>
            </a:p>
          </p:txBody>
        </p:sp>
      </p:grpSp>
      <p:grpSp>
        <p:nvGrpSpPr>
          <p:cNvPr id="25" name="Group 25"/>
          <p:cNvGrpSpPr/>
          <p:nvPr/>
        </p:nvGrpSpPr>
        <p:grpSpPr>
          <a:xfrm>
            <a:off x="3429000" y="1714500"/>
            <a:ext cx="2590800" cy="3543300"/>
            <a:chOff x="3429000" y="1714500"/>
            <a:chExt cx="2590800" cy="3543300"/>
          </a:xfrm>
        </p:grpSpPr>
        <p:sp>
          <p:nvSpPr>
            <p:cNvPr id="15" name="Rectangle 15"/>
            <p:cNvSpPr/>
            <p:nvPr/>
          </p:nvSpPr>
          <p:spPr>
            <a:xfrm>
              <a:off x="3429000" y="1714500"/>
              <a:ext cx="2590800" cy="3543300"/>
            </a:xfrm>
            <a:prstGeom prst="roundRect">
              <a:avLst>
                <a:gd name="adj" fmla="val 5147"/>
              </a:avLst>
            </a:prstGeom>
            <a:solidFill>
              <a:schemeClr val="accent5"/>
            </a:solidFill>
            <a:ln w="14288">
              <a:solidFill>
                <a:srgbClr val="26455F"/>
              </a:solidFill>
            </a:ln>
          </p:spPr>
        </p:sp>
        <p:sp>
          <p:nvSpPr>
            <p:cNvPr id="16" name="Rectangle 16"/>
            <p:cNvSpPr/>
            <p:nvPr/>
          </p:nvSpPr>
          <p:spPr>
            <a:xfrm>
              <a:off x="3429000" y="1714500"/>
              <a:ext cx="2590800" cy="57150"/>
            </a:xfrm>
            <a:prstGeom prst="roundRect">
              <a:avLst>
                <a:gd name="adj" fmla="val 50000"/>
              </a:avLst>
            </a:prstGeom>
            <a:solidFill>
              <a:srgbClr val="34D3C0"/>
            </a:solidFill>
            <a:ln>
              <a:noFill/>
            </a:ln>
          </p:spPr>
        </p:sp>
        <p:sp>
          <p:nvSpPr>
            <p:cNvPr id="17" name="Ellipse 17"/>
            <p:cNvSpPr/>
            <p:nvPr/>
          </p:nvSpPr>
          <p:spPr>
            <a:xfrm>
              <a:off x="3657600" y="2095500"/>
              <a:ext cx="495300" cy="495300"/>
            </a:xfrm>
            <a:prstGeom prst="ellipse">
              <a:avLst/>
            </a:prstGeom>
            <a:noFill/>
            <a:ln w="23812">
              <a:solidFill>
                <a:srgbClr val="34D3C0"/>
              </a:solidFill>
            </a:ln>
          </p:spPr>
        </p:sp>
        <p:sp>
          <p:nvSpPr>
            <p:cNvPr id="18" name="TextBox 18"/>
            <p:cNvSpPr txBox="1"/>
            <p:nvPr/>
          </p:nvSpPr>
          <p:spPr>
            <a:xfrm>
              <a:off x="3812952" y="221170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2</a:t>
              </a:r>
            </a:p>
          </p:txBody>
        </p:sp>
        <p:sp>
          <p:nvSpPr>
            <p:cNvPr id="19" name="TextBox 19"/>
            <p:cNvSpPr txBox="1"/>
            <p:nvPr/>
          </p:nvSpPr>
          <p:spPr>
            <a:xfrm>
              <a:off x="3650932" y="2849166"/>
              <a:ext cx="1297581"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Shape shared,</a:t>
              </a:r>
            </a:p>
          </p:txBody>
        </p:sp>
        <p:sp>
          <p:nvSpPr>
            <p:cNvPr id="20" name="TextBox 20"/>
            <p:cNvSpPr txBox="1"/>
            <p:nvPr/>
          </p:nvSpPr>
          <p:spPr>
            <a:xfrm>
              <a:off x="3650932" y="3096816"/>
              <a:ext cx="93918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color kept</a:t>
              </a:r>
            </a:p>
          </p:txBody>
        </p:sp>
        <p:sp>
          <p:nvSpPr>
            <p:cNvPr id="21" name="TextBox 21"/>
            <p:cNvSpPr txBox="1"/>
            <p:nvPr/>
          </p:nvSpPr>
          <p:spPr>
            <a:xfrm>
              <a:off x="3652266" y="3487102"/>
              <a:ext cx="20932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Shares shape across the color</a:t>
              </a:r>
            </a:p>
          </p:txBody>
        </p:sp>
        <p:sp>
          <p:nvSpPr>
            <p:cNvPr id="22" name="TextBox 22"/>
            <p:cNvSpPr txBox="1"/>
            <p:nvPr/>
          </p:nvSpPr>
          <p:spPr>
            <a:xfrm>
              <a:off x="3652266" y="3696652"/>
              <a:ext cx="19966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spectrum while keeping color</a:t>
              </a:r>
            </a:p>
          </p:txBody>
        </p:sp>
        <p:sp>
          <p:nvSpPr>
            <p:cNvPr id="23" name="TextBox 23"/>
            <p:cNvSpPr txBox="1"/>
            <p:nvPr/>
          </p:nvSpPr>
          <p:spPr>
            <a:xfrm>
              <a:off x="3652266" y="3906202"/>
              <a:ext cx="20885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 a dedicated group dimension</a:t>
              </a:r>
            </a:p>
          </p:txBody>
        </p:sp>
        <p:sp>
          <p:nvSpPr>
            <p:cNvPr id="24" name="TextBox 24"/>
            <p:cNvSpPr txBox="1"/>
            <p:nvPr/>
          </p:nvSpPr>
          <p:spPr>
            <a:xfrm>
              <a:off x="3652266" y="4115752"/>
              <a:ext cx="141004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 the feature map.</a:t>
              </a:r>
            </a:p>
          </p:txBody>
        </p:sp>
      </p:grpSp>
      <p:grpSp>
        <p:nvGrpSpPr>
          <p:cNvPr id="35" name="Group 35"/>
          <p:cNvGrpSpPr/>
          <p:nvPr/>
        </p:nvGrpSpPr>
        <p:grpSpPr>
          <a:xfrm>
            <a:off x="6248400" y="1714500"/>
            <a:ext cx="2590800" cy="3543300"/>
            <a:chOff x="6248400" y="1714500"/>
            <a:chExt cx="2590800" cy="3543300"/>
          </a:xfrm>
        </p:grpSpPr>
        <p:sp>
          <p:nvSpPr>
            <p:cNvPr id="26" name="Rectangle 26"/>
            <p:cNvSpPr/>
            <p:nvPr/>
          </p:nvSpPr>
          <p:spPr>
            <a:xfrm>
              <a:off x="6248400" y="1714500"/>
              <a:ext cx="2590800" cy="3543300"/>
            </a:xfrm>
            <a:prstGeom prst="roundRect">
              <a:avLst>
                <a:gd name="adj" fmla="val 5147"/>
              </a:avLst>
            </a:prstGeom>
            <a:solidFill>
              <a:schemeClr val="accent5"/>
            </a:solidFill>
            <a:ln w="14288">
              <a:solidFill>
                <a:srgbClr val="26455F"/>
              </a:solidFill>
            </a:ln>
          </p:spPr>
        </p:sp>
        <p:sp>
          <p:nvSpPr>
            <p:cNvPr id="27" name="Rectangle 27"/>
            <p:cNvSpPr/>
            <p:nvPr/>
          </p:nvSpPr>
          <p:spPr>
            <a:xfrm>
              <a:off x="6248400" y="1714500"/>
              <a:ext cx="2590800" cy="57150"/>
            </a:xfrm>
            <a:prstGeom prst="roundRect">
              <a:avLst>
                <a:gd name="adj" fmla="val 50000"/>
              </a:avLst>
            </a:prstGeom>
            <a:solidFill>
              <a:srgbClr val="F2C14E"/>
            </a:solidFill>
            <a:ln>
              <a:noFill/>
            </a:ln>
          </p:spPr>
        </p:sp>
        <p:sp>
          <p:nvSpPr>
            <p:cNvPr id="28" name="Ellipse 28"/>
            <p:cNvSpPr/>
            <p:nvPr/>
          </p:nvSpPr>
          <p:spPr>
            <a:xfrm>
              <a:off x="6477000" y="2095500"/>
              <a:ext cx="495300" cy="495300"/>
            </a:xfrm>
            <a:prstGeom prst="ellipse">
              <a:avLst/>
            </a:prstGeom>
            <a:noFill/>
            <a:ln w="23812">
              <a:solidFill>
                <a:srgbClr val="F2C14E"/>
              </a:solidFill>
            </a:ln>
          </p:spPr>
        </p:sp>
        <p:sp>
          <p:nvSpPr>
            <p:cNvPr id="29" name="TextBox 29"/>
            <p:cNvSpPr txBox="1"/>
            <p:nvPr/>
          </p:nvSpPr>
          <p:spPr>
            <a:xfrm>
              <a:off x="6632352" y="221170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3</a:t>
              </a:r>
            </a:p>
          </p:txBody>
        </p:sp>
        <p:sp>
          <p:nvSpPr>
            <p:cNvPr id="30" name="TextBox 30"/>
            <p:cNvSpPr txBox="1"/>
            <p:nvPr/>
          </p:nvSpPr>
          <p:spPr>
            <a:xfrm>
              <a:off x="6470332" y="2849166"/>
              <a:ext cx="162382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Drops into ResNet</a:t>
              </a:r>
            </a:p>
          </p:txBody>
        </p:sp>
        <p:sp>
          <p:nvSpPr>
            <p:cNvPr id="31" name="TextBox 31"/>
            <p:cNvSpPr txBox="1"/>
            <p:nvPr/>
          </p:nvSpPr>
          <p:spPr>
            <a:xfrm>
              <a:off x="6471666" y="3239452"/>
              <a:ext cx="20507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Formulated in the language of</a:t>
              </a:r>
            </a:p>
          </p:txBody>
        </p:sp>
        <p:sp>
          <p:nvSpPr>
            <p:cNvPr id="32" name="TextBox 32"/>
            <p:cNvSpPr txBox="1"/>
            <p:nvPr/>
          </p:nvSpPr>
          <p:spPr>
            <a:xfrm>
              <a:off x="6471666" y="3449002"/>
              <a:ext cx="21521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symmetry groups, it slots into</a:t>
              </a:r>
            </a:p>
          </p:txBody>
        </p:sp>
        <p:sp>
          <p:nvSpPr>
            <p:cNvPr id="33" name="TextBox 33"/>
            <p:cNvSpPr txBox="1"/>
            <p:nvPr/>
          </p:nvSpPr>
          <p:spPr>
            <a:xfrm>
              <a:off x="6471666" y="3658552"/>
              <a:ext cx="18694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standard networks with no</a:t>
              </a:r>
            </a:p>
          </p:txBody>
        </p:sp>
        <p:sp>
          <p:nvSpPr>
            <p:cNvPr id="34" name="TextBox 34"/>
            <p:cNvSpPr txBox="1"/>
            <p:nvPr/>
          </p:nvSpPr>
          <p:spPr>
            <a:xfrm>
              <a:off x="6471666" y="3868102"/>
              <a:ext cx="16150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architectural surgery.</a:t>
              </a:r>
            </a:p>
          </p:txBody>
        </p:sp>
      </p:grpSp>
      <p:grpSp>
        <p:nvGrpSpPr>
          <p:cNvPr id="46" name="Group 46"/>
          <p:cNvGrpSpPr/>
          <p:nvPr/>
        </p:nvGrpSpPr>
        <p:grpSpPr>
          <a:xfrm>
            <a:off x="9067800" y="1714500"/>
            <a:ext cx="2590800" cy="3543300"/>
            <a:chOff x="9067800" y="1714500"/>
            <a:chExt cx="2590800" cy="3543300"/>
          </a:xfrm>
        </p:grpSpPr>
        <p:sp>
          <p:nvSpPr>
            <p:cNvPr id="36" name="Rectangle 36"/>
            <p:cNvSpPr/>
            <p:nvPr/>
          </p:nvSpPr>
          <p:spPr>
            <a:xfrm>
              <a:off x="9067800" y="1714500"/>
              <a:ext cx="2590800" cy="3543300"/>
            </a:xfrm>
            <a:prstGeom prst="roundRect">
              <a:avLst>
                <a:gd name="adj" fmla="val 5147"/>
              </a:avLst>
            </a:prstGeom>
            <a:solidFill>
              <a:schemeClr val="accent5"/>
            </a:solidFill>
            <a:ln w="14288">
              <a:solidFill>
                <a:srgbClr val="26455F"/>
              </a:solidFill>
            </a:ln>
          </p:spPr>
        </p:sp>
        <p:sp>
          <p:nvSpPr>
            <p:cNvPr id="37" name="Rectangle 37"/>
            <p:cNvSpPr/>
            <p:nvPr/>
          </p:nvSpPr>
          <p:spPr>
            <a:xfrm>
              <a:off x="9067800" y="1714500"/>
              <a:ext cx="2590800" cy="57150"/>
            </a:xfrm>
            <a:prstGeom prst="roundRect">
              <a:avLst>
                <a:gd name="adj" fmla="val 50000"/>
              </a:avLst>
            </a:prstGeom>
            <a:solidFill>
              <a:srgbClr val="48C78E"/>
            </a:solidFill>
            <a:ln>
              <a:noFill/>
            </a:ln>
          </p:spPr>
        </p:sp>
        <p:sp>
          <p:nvSpPr>
            <p:cNvPr id="38" name="Ellipse 38"/>
            <p:cNvSpPr/>
            <p:nvPr/>
          </p:nvSpPr>
          <p:spPr>
            <a:xfrm>
              <a:off x="9296400" y="2095500"/>
              <a:ext cx="495300" cy="495300"/>
            </a:xfrm>
            <a:prstGeom prst="ellipse">
              <a:avLst/>
            </a:prstGeom>
            <a:noFill/>
            <a:ln w="23812">
              <a:solidFill>
                <a:srgbClr val="48C78E"/>
              </a:solidFill>
            </a:ln>
          </p:spPr>
        </p:sp>
        <p:sp>
          <p:nvSpPr>
            <p:cNvPr id="39" name="TextBox 39"/>
            <p:cNvSpPr txBox="1"/>
            <p:nvPr/>
          </p:nvSpPr>
          <p:spPr>
            <a:xfrm>
              <a:off x="9451752" y="2211705"/>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4</a:t>
              </a:r>
            </a:p>
          </p:txBody>
        </p:sp>
        <p:sp>
          <p:nvSpPr>
            <p:cNvPr id="40" name="TextBox 40"/>
            <p:cNvSpPr txBox="1"/>
            <p:nvPr/>
          </p:nvSpPr>
          <p:spPr>
            <a:xfrm>
              <a:off x="9289732" y="2849166"/>
              <a:ext cx="156533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Validated toy and</a:t>
              </a:r>
            </a:p>
          </p:txBody>
        </p:sp>
        <p:sp>
          <p:nvSpPr>
            <p:cNvPr id="41" name="TextBox 41"/>
            <p:cNvSpPr txBox="1"/>
            <p:nvPr/>
          </p:nvSpPr>
          <p:spPr>
            <a:xfrm>
              <a:off x="9289732" y="3096816"/>
              <a:ext cx="37441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real</a:t>
              </a:r>
            </a:p>
          </p:txBody>
        </p:sp>
        <p:sp>
          <p:nvSpPr>
            <p:cNvPr id="42" name="TextBox 42"/>
            <p:cNvSpPr txBox="1"/>
            <p:nvPr/>
          </p:nvSpPr>
          <p:spPr>
            <a:xfrm>
              <a:off x="9291066" y="3487102"/>
              <a:ext cx="21637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Controlled toy experiments and</a:t>
              </a:r>
            </a:p>
          </p:txBody>
        </p:sp>
        <p:sp>
          <p:nvSpPr>
            <p:cNvPr id="43" name="TextBox 43"/>
            <p:cNvSpPr txBox="1"/>
            <p:nvPr/>
          </p:nvSpPr>
          <p:spPr>
            <a:xfrm>
              <a:off x="9291066" y="3696652"/>
              <a:ext cx="183409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realistic benchmarks show</a:t>
              </a:r>
            </a:p>
          </p:txBody>
        </p:sp>
        <p:sp>
          <p:nvSpPr>
            <p:cNvPr id="44" name="TextBox 44"/>
            <p:cNvSpPr txBox="1"/>
            <p:nvPr/>
          </p:nvSpPr>
          <p:spPr>
            <a:xfrm>
              <a:off x="9291066" y="3906202"/>
              <a:ext cx="18906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better robustness, hand in</a:t>
              </a:r>
            </a:p>
          </p:txBody>
        </p:sp>
        <p:sp>
          <p:nvSpPr>
            <p:cNvPr id="45" name="TextBox 45"/>
            <p:cNvSpPr txBox="1"/>
            <p:nvPr/>
          </p:nvSpPr>
          <p:spPr>
            <a:xfrm>
              <a:off x="9291066" y="4115752"/>
              <a:ext cx="21097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hand with color augmentation.</a:t>
              </a:r>
            </a:p>
          </p:txBody>
        </p:sp>
      </p:grpSp>
      <p:sp>
        <p:nvSpPr>
          <p:cNvPr id="47" name="TextBox 47"/>
          <p:cNvSpPr txBox="1"/>
          <p:nvPr/>
        </p:nvSpPr>
        <p:spPr>
          <a:xfrm>
            <a:off x="603694" y="5456158"/>
            <a:ext cx="555129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Exploit color and be robust to color — with one drop-in building block.</a:t>
            </a:r>
          </a:p>
        </p:txBody>
      </p:sp>
      <p:sp>
        <p:nvSpPr>
          <p:cNvPr id="48" name="cue_s04_c1_core_contribution_color_equivariant" title="cue_s04_c1_core_contribution_color_equivariant" descr="cue_s04_c1_core_contribution_color_equivariant The core contribution is the Color Equivariant Convolution, a new layer that hard-wires parameter sharing over hue shift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4_c2_shares_shape_information_across_colo" title="cue_s04_c2_shares_shape_information_across_colo" descr="cue_s04_c2_shares_shape_information_across_colo It shares shape information across the color spectrum while keeping color in a dedicated group dimension of the feature map."/>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3_because_formulated_language_symmetry" title="cue_s04_c3_because_formulated_language_symmetry" descr="cue_s04_c3_because_formulated_language_symmetry Because it is formulated in the language of symmetry groups, it slots directly into standard networks like ResNet with no architectural surgery."/>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4_authors_demonstrate_through_both_con" title="cue_s04_c4_authors_demonstrate_through_both_con" descr="cue_s04_c4_authors_demonstrate_through_both_con The authors demonstrate, through both controlled toy experiments and realistic benchmarks, that this design improves robustness to color shifts between training and testing and works hand in hand with color augmentation."/>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41049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Hue shift as a rotation, shared by design</a:t>
            </a:r>
          </a:p>
        </p:txBody>
      </p:sp>
      <p:grpSp>
        <p:nvGrpSpPr>
          <p:cNvPr id="13" name="Group 13"/>
          <p:cNvGrpSpPr/>
          <p:nvPr/>
        </p:nvGrpSpPr>
        <p:grpSpPr>
          <a:xfrm>
            <a:off x="609600" y="1504950"/>
            <a:ext cx="5410200" cy="1905000"/>
            <a:chOff x="609600" y="1504950"/>
            <a:chExt cx="5410200" cy="1905000"/>
          </a:xfrm>
        </p:grpSpPr>
        <p:sp>
          <p:nvSpPr>
            <p:cNvPr id="5" name="Rectangle 5"/>
            <p:cNvSpPr/>
            <p:nvPr/>
          </p:nvSpPr>
          <p:spPr>
            <a:xfrm>
              <a:off x="609600" y="1504950"/>
              <a:ext cx="5410200" cy="1905000"/>
            </a:xfrm>
            <a:prstGeom prst="roundRect">
              <a:avLst>
                <a:gd name="adj" fmla="val 7000"/>
              </a:avLst>
            </a:prstGeom>
            <a:solidFill>
              <a:schemeClr val="accent5"/>
            </a:solidFill>
            <a:ln w="14288">
              <a:solidFill>
                <a:srgbClr val="26455F"/>
              </a:solidFill>
            </a:ln>
          </p:spPr>
        </p:sp>
        <p:sp>
          <p:nvSpPr>
            <p:cNvPr id="6" name="Rectangle 6"/>
            <p:cNvSpPr/>
            <p:nvPr/>
          </p:nvSpPr>
          <p:spPr>
            <a:xfrm>
              <a:off x="609600" y="1504950"/>
              <a:ext cx="57150" cy="1905000"/>
            </a:xfrm>
            <a:prstGeom prst="roundRect">
              <a:avLst>
                <a:gd name="adj" fmla="val 50000"/>
              </a:avLst>
            </a:prstGeom>
            <a:solidFill>
              <a:schemeClr val="accent2"/>
            </a:solidFill>
            <a:ln>
              <a:noFill/>
            </a:ln>
          </p:spPr>
        </p:sp>
        <p:sp>
          <p:nvSpPr>
            <p:cNvPr id="7" name="TextBox 7"/>
            <p:cNvSpPr txBox="1"/>
            <p:nvPr/>
          </p:nvSpPr>
          <p:spPr>
            <a:xfrm>
              <a:off x="870014" y="1733312"/>
              <a:ext cx="3094658"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Hue shift = rotation about gray axis</a:t>
              </a:r>
            </a:p>
          </p:txBody>
        </p:sp>
        <p:sp>
          <p:nvSpPr>
            <p:cNvPr id="8" name="TextBox 8"/>
            <p:cNvSpPr txBox="1"/>
            <p:nvPr/>
          </p:nvSpPr>
          <p:spPr>
            <a:xfrm>
              <a:off x="870966" y="2039302"/>
              <a:ext cx="33445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 RGB space a hue shift is a rotation around the</a:t>
              </a:r>
            </a:p>
          </p:txBody>
        </p:sp>
        <p:sp>
          <p:nvSpPr>
            <p:cNvPr id="9" name="TextBox 9"/>
            <p:cNvSpPr txBox="1"/>
            <p:nvPr/>
          </p:nvSpPr>
          <p:spPr>
            <a:xfrm>
              <a:off x="870966" y="2239328"/>
              <a:ext cx="35192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black-to-white diagonal. This is the group H-n of n</a:t>
              </a:r>
            </a:p>
          </p:txBody>
        </p:sp>
        <p:sp>
          <p:nvSpPr>
            <p:cNvPr id="10" name="TextBox 10"/>
            <p:cNvSpPr txBox="1"/>
            <p:nvPr/>
          </p:nvSpPr>
          <p:spPr>
            <a:xfrm>
              <a:off x="870966" y="2439352"/>
              <a:ext cx="248431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discrete rotations about that axis.</a:t>
              </a:r>
            </a:p>
          </p:txBody>
        </p:sp>
        <p:sp>
          <p:nvSpPr>
            <p:cNvPr id="11" name="Rectangle 11"/>
            <p:cNvSpPr/>
            <p:nvPr/>
          </p:nvSpPr>
          <p:spPr>
            <a:xfrm>
              <a:off x="876300" y="2990850"/>
              <a:ext cx="4876800" cy="419100"/>
            </a:xfrm>
            <a:prstGeom prst="roundRect">
              <a:avLst>
                <a:gd name="adj" fmla="val 18182"/>
              </a:avLst>
            </a:prstGeom>
            <a:solidFill>
              <a:schemeClr val="accent6"/>
            </a:solidFill>
            <a:ln w="14288">
              <a:solidFill>
                <a:srgbClr val="26455F"/>
              </a:solidFill>
            </a:ln>
          </p:spPr>
        </p:sp>
        <p:sp>
          <p:nvSpPr>
            <p:cNvPr id="12" name="TextBox 12"/>
            <p:cNvSpPr txBox="1"/>
            <p:nvPr/>
          </p:nvSpPr>
          <p:spPr>
            <a:xfrm>
              <a:off x="1783665" y="3144202"/>
              <a:ext cx="3062069"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H_n = { n rotations about [1,1,1] in RGB }</a:t>
              </a:r>
            </a:p>
          </p:txBody>
        </p:sp>
      </p:grpSp>
      <p:grpSp>
        <p:nvGrpSpPr>
          <p:cNvPr id="22" name="Group 22"/>
          <p:cNvGrpSpPr/>
          <p:nvPr/>
        </p:nvGrpSpPr>
        <p:grpSpPr>
          <a:xfrm>
            <a:off x="609600" y="3562350"/>
            <a:ext cx="5410200" cy="1676400"/>
            <a:chOff x="609600" y="3562350"/>
            <a:chExt cx="5410200" cy="1676400"/>
          </a:xfrm>
        </p:grpSpPr>
        <p:sp>
          <p:nvSpPr>
            <p:cNvPr id="14" name="Rectangle 14"/>
            <p:cNvSpPr/>
            <p:nvPr/>
          </p:nvSpPr>
          <p:spPr>
            <a:xfrm>
              <a:off x="609600" y="3562350"/>
              <a:ext cx="5410200" cy="1676400"/>
            </a:xfrm>
            <a:prstGeom prst="roundRect">
              <a:avLst>
                <a:gd name="adj" fmla="val 7955"/>
              </a:avLst>
            </a:prstGeom>
            <a:solidFill>
              <a:srgbClr val="0F2E2B"/>
            </a:solidFill>
            <a:ln w="14288">
              <a:solidFill>
                <a:srgbClr val="34D3C0"/>
              </a:solidFill>
            </a:ln>
          </p:spPr>
        </p:sp>
        <p:sp>
          <p:nvSpPr>
            <p:cNvPr id="15" name="Rectangle 15"/>
            <p:cNvSpPr/>
            <p:nvPr/>
          </p:nvSpPr>
          <p:spPr>
            <a:xfrm>
              <a:off x="609600" y="3562350"/>
              <a:ext cx="57150" cy="1676400"/>
            </a:xfrm>
            <a:prstGeom prst="roundRect">
              <a:avLst>
                <a:gd name="adj" fmla="val 50000"/>
              </a:avLst>
            </a:prstGeom>
            <a:solidFill>
              <a:srgbClr val="34D3C0"/>
            </a:solidFill>
            <a:ln>
              <a:noFill/>
            </a:ln>
          </p:spPr>
        </p:sp>
        <p:sp>
          <p:nvSpPr>
            <p:cNvPr id="16" name="TextBox 16"/>
            <p:cNvSpPr txBox="1"/>
            <p:nvPr/>
          </p:nvSpPr>
          <p:spPr>
            <a:xfrm>
              <a:off x="870204" y="3794760"/>
              <a:ext cx="2985983"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Correlate hue-rotated filter copies</a:t>
              </a:r>
            </a:p>
          </p:txBody>
        </p:sp>
        <p:sp>
          <p:nvSpPr>
            <p:cNvPr id="17" name="TextBox 17"/>
            <p:cNvSpPr txBox="1"/>
            <p:nvPr/>
          </p:nvSpPr>
          <p:spPr>
            <a:xfrm>
              <a:off x="870966" y="4096702"/>
              <a:ext cx="36126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Each filter is applied in every hue rotation, adding a</a:t>
              </a:r>
            </a:p>
          </p:txBody>
        </p:sp>
        <p:sp>
          <p:nvSpPr>
            <p:cNvPr id="18" name="TextBox 18"/>
            <p:cNvSpPr txBox="1"/>
            <p:nvPr/>
          </p:nvSpPr>
          <p:spPr>
            <a:xfrm>
              <a:off x="870966" y="4296728"/>
              <a:ext cx="37423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group dimension k that indexes the hue rotation in the</a:t>
              </a:r>
            </a:p>
          </p:txBody>
        </p:sp>
        <p:sp>
          <p:nvSpPr>
            <p:cNvPr id="19" name="TextBox 19"/>
            <p:cNvSpPr txBox="1"/>
            <p:nvPr/>
          </p:nvSpPr>
          <p:spPr>
            <a:xfrm>
              <a:off x="870966" y="4496752"/>
              <a:ext cx="93651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feature map.</a:t>
              </a:r>
            </a:p>
          </p:txBody>
        </p:sp>
        <p:sp>
          <p:nvSpPr>
            <p:cNvPr id="20" name="Rectangle 20"/>
            <p:cNvSpPr/>
            <p:nvPr/>
          </p:nvSpPr>
          <p:spPr>
            <a:xfrm>
              <a:off x="876300" y="4781550"/>
              <a:ext cx="4876800" cy="419100"/>
            </a:xfrm>
            <a:prstGeom prst="roundRect">
              <a:avLst>
                <a:gd name="adj" fmla="val 18182"/>
              </a:avLst>
            </a:prstGeom>
            <a:solidFill>
              <a:schemeClr val="accent6"/>
            </a:solidFill>
            <a:ln w="14288">
              <a:solidFill>
                <a:srgbClr val="26455F"/>
              </a:solidFill>
            </a:ln>
          </p:spPr>
        </p:sp>
        <p:sp>
          <p:nvSpPr>
            <p:cNvPr id="21" name="TextBox 21"/>
            <p:cNvSpPr txBox="1"/>
            <p:nvPr/>
          </p:nvSpPr>
          <p:spPr>
            <a:xfrm>
              <a:off x="1684812" y="4938951"/>
              <a:ext cx="3259777"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[f * psi](x,k) = sum f_c(y) H_n(k) psi_c(y-x)</a:t>
              </a:r>
            </a:p>
          </p:txBody>
        </p:sp>
      </p:grpSp>
      <p:grpSp>
        <p:nvGrpSpPr>
          <p:cNvPr id="37" name="Group 37"/>
          <p:cNvGrpSpPr/>
          <p:nvPr/>
        </p:nvGrpSpPr>
        <p:grpSpPr>
          <a:xfrm>
            <a:off x="6248400" y="1504950"/>
            <a:ext cx="5334000" cy="1968103"/>
            <a:chOff x="6248400" y="1504950"/>
            <a:chExt cx="5334000" cy="1968103"/>
          </a:xfrm>
        </p:grpSpPr>
        <p:sp>
          <p:nvSpPr>
            <p:cNvPr id="23" name="Rectangle 23"/>
            <p:cNvSpPr/>
            <p:nvPr/>
          </p:nvSpPr>
          <p:spPr>
            <a:xfrm>
              <a:off x="6248400" y="1504950"/>
              <a:ext cx="5334000" cy="1905000"/>
            </a:xfrm>
            <a:prstGeom prst="roundRect">
              <a:avLst>
                <a:gd name="adj" fmla="val 7000"/>
              </a:avLst>
            </a:prstGeom>
            <a:solidFill>
              <a:schemeClr val="accent5"/>
            </a:solidFill>
            <a:ln w="14288">
              <a:solidFill>
                <a:srgbClr val="26455F"/>
              </a:solidFill>
            </a:ln>
          </p:spPr>
        </p:sp>
        <p:sp>
          <p:nvSpPr>
            <p:cNvPr id="24" name="Rectangle 24"/>
            <p:cNvSpPr/>
            <p:nvPr/>
          </p:nvSpPr>
          <p:spPr>
            <a:xfrm>
              <a:off x="6248400" y="1504950"/>
              <a:ext cx="57150" cy="1905000"/>
            </a:xfrm>
            <a:prstGeom prst="roundRect">
              <a:avLst>
                <a:gd name="adj" fmla="val 50000"/>
              </a:avLst>
            </a:prstGeom>
            <a:solidFill>
              <a:srgbClr val="F2C14E"/>
            </a:solidFill>
            <a:ln>
              <a:noFill/>
            </a:ln>
          </p:spPr>
        </p:sp>
        <p:sp>
          <p:nvSpPr>
            <p:cNvPr id="25" name="TextBox 25"/>
            <p:cNvSpPr txBox="1"/>
            <p:nvPr/>
          </p:nvSpPr>
          <p:spPr>
            <a:xfrm>
              <a:off x="6508814" y="1733312"/>
              <a:ext cx="2883917"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Hidden layers: cyclic permutation</a:t>
              </a:r>
            </a:p>
          </p:txBody>
        </p:sp>
        <p:sp>
          <p:nvSpPr>
            <p:cNvPr id="26" name="TextBox 26"/>
            <p:cNvSpPr txBox="1"/>
            <p:nvPr/>
          </p:nvSpPr>
          <p:spPr>
            <a:xfrm>
              <a:off x="6509766" y="2039302"/>
              <a:ext cx="33156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Filters are cyclically permuted across the color</a:t>
              </a:r>
            </a:p>
          </p:txBody>
        </p:sp>
        <p:sp>
          <p:nvSpPr>
            <p:cNvPr id="27" name="TextBox 27"/>
            <p:cNvSpPr txBox="1"/>
            <p:nvPr/>
          </p:nvSpPr>
          <p:spPr>
            <a:xfrm>
              <a:off x="6509766" y="2239328"/>
              <a:ext cx="357978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dimension, so equivariance is preserved layer after</a:t>
              </a:r>
            </a:p>
          </p:txBody>
        </p:sp>
        <p:sp>
          <p:nvSpPr>
            <p:cNvPr id="28" name="TextBox 28"/>
            <p:cNvSpPr txBox="1"/>
            <p:nvPr/>
          </p:nvSpPr>
          <p:spPr>
            <a:xfrm>
              <a:off x="6509766" y="2439352"/>
              <a:ext cx="21521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layer throughout the network.</a:t>
              </a:r>
            </a:p>
          </p:txBody>
        </p:sp>
        <p:sp>
          <p:nvSpPr>
            <p:cNvPr id="29" name="Rectangle 29"/>
            <p:cNvSpPr/>
            <p:nvPr/>
          </p:nvSpPr>
          <p:spPr>
            <a:xfrm>
              <a:off x="6515100" y="2857500"/>
              <a:ext cx="285750" cy="285750"/>
            </a:xfrm>
            <a:prstGeom prst="roundRect">
              <a:avLst>
                <a:gd name="adj" fmla="val 20000"/>
              </a:avLst>
            </a:prstGeom>
            <a:solidFill>
              <a:srgbClr val="F2685C"/>
            </a:solidFill>
            <a:ln>
              <a:noFill/>
            </a:ln>
          </p:spPr>
        </p:sp>
        <p:sp>
          <p:nvSpPr>
            <p:cNvPr id="30" name="TextBox 30"/>
            <p:cNvSpPr txBox="1"/>
            <p:nvPr/>
          </p:nvSpPr>
          <p:spPr>
            <a:xfrm>
              <a:off x="7298362" y="2933700"/>
              <a:ext cx="198775" cy="234696"/>
            </a:xfrm>
            <a:prstGeom prst="rect">
              <a:avLst/>
            </a:prstGeom>
            <a:noFill/>
            <a:ln>
              <a:noFill/>
            </a:ln>
          </p:spPr>
          <p:txBody>
            <a:bodyPr wrap="none" lIns="0" tIns="0" rIns="0" bIns="0" anchor="t" anchorCtr="0">
              <a:spAutoFit/>
            </a:bodyPr>
            <a:lstStyle/>
            <a:p>
              <a:pPr algn="ctr"/>
              <a:r>
                <a:rPr lang="en-US" sz="1200" b="1" dirty="0">
                  <a:solidFill>
                    <a:schemeClr val="dk2"/>
                  </a:solidFill>
                  <a:latin typeface="+mn-lt"/>
                  <a:ea typeface="+mn-ea"/>
                  <a:cs typeface="+mn-cs"/>
                </a:rPr>
                <a:t>-&gt;</a:t>
              </a:r>
            </a:p>
          </p:txBody>
        </p:sp>
        <p:sp>
          <p:nvSpPr>
            <p:cNvPr id="31" name="Rectangle 31"/>
            <p:cNvSpPr/>
            <p:nvPr/>
          </p:nvSpPr>
          <p:spPr>
            <a:xfrm>
              <a:off x="7994650" y="2857500"/>
              <a:ext cx="285750" cy="285750"/>
            </a:xfrm>
            <a:prstGeom prst="roundRect">
              <a:avLst>
                <a:gd name="adj" fmla="val 20000"/>
              </a:avLst>
            </a:prstGeom>
            <a:solidFill>
              <a:srgbClr val="F2C14E"/>
            </a:solidFill>
            <a:ln>
              <a:noFill/>
            </a:ln>
          </p:spPr>
        </p:sp>
        <p:sp>
          <p:nvSpPr>
            <p:cNvPr id="32" name="TextBox 32"/>
            <p:cNvSpPr txBox="1"/>
            <p:nvPr/>
          </p:nvSpPr>
          <p:spPr>
            <a:xfrm>
              <a:off x="8777912" y="2933700"/>
              <a:ext cx="198775" cy="234696"/>
            </a:xfrm>
            <a:prstGeom prst="rect">
              <a:avLst/>
            </a:prstGeom>
            <a:noFill/>
            <a:ln>
              <a:noFill/>
            </a:ln>
          </p:spPr>
          <p:txBody>
            <a:bodyPr wrap="none" lIns="0" tIns="0" rIns="0" bIns="0" anchor="t" anchorCtr="0">
              <a:spAutoFit/>
            </a:bodyPr>
            <a:lstStyle/>
            <a:p>
              <a:pPr algn="ctr"/>
              <a:r>
                <a:rPr lang="en-US" sz="1200" b="1" dirty="0">
                  <a:solidFill>
                    <a:schemeClr val="dk2"/>
                  </a:solidFill>
                  <a:latin typeface="+mn-lt"/>
                  <a:ea typeface="+mn-ea"/>
                  <a:cs typeface="+mn-cs"/>
                </a:rPr>
                <a:t>-&gt;</a:t>
              </a:r>
            </a:p>
          </p:txBody>
        </p:sp>
        <p:sp>
          <p:nvSpPr>
            <p:cNvPr id="33" name="Rectangle 33"/>
            <p:cNvSpPr/>
            <p:nvPr/>
          </p:nvSpPr>
          <p:spPr>
            <a:xfrm>
              <a:off x="9474200" y="2857500"/>
              <a:ext cx="285750" cy="285750"/>
            </a:xfrm>
            <a:prstGeom prst="roundRect">
              <a:avLst>
                <a:gd name="adj" fmla="val 20000"/>
              </a:avLst>
            </a:prstGeom>
            <a:solidFill>
              <a:srgbClr val="34D3C0"/>
            </a:solidFill>
            <a:ln>
              <a:noFill/>
            </a:ln>
          </p:spPr>
        </p:sp>
        <p:sp>
          <p:nvSpPr>
            <p:cNvPr id="34" name="TextBox 34"/>
            <p:cNvSpPr txBox="1"/>
            <p:nvPr/>
          </p:nvSpPr>
          <p:spPr>
            <a:xfrm>
              <a:off x="10257462" y="2933700"/>
              <a:ext cx="198775" cy="234696"/>
            </a:xfrm>
            <a:prstGeom prst="rect">
              <a:avLst/>
            </a:prstGeom>
            <a:noFill/>
            <a:ln>
              <a:noFill/>
            </a:ln>
          </p:spPr>
          <p:txBody>
            <a:bodyPr wrap="none" lIns="0" tIns="0" rIns="0" bIns="0" anchor="t" anchorCtr="0">
              <a:spAutoFit/>
            </a:bodyPr>
            <a:lstStyle/>
            <a:p>
              <a:pPr algn="ctr"/>
              <a:r>
                <a:rPr lang="en-US" sz="1200" b="1" dirty="0">
                  <a:solidFill>
                    <a:schemeClr val="dk2"/>
                  </a:solidFill>
                  <a:latin typeface="+mn-lt"/>
                  <a:ea typeface="+mn-ea"/>
                  <a:cs typeface="+mn-cs"/>
                </a:rPr>
                <a:t>-&gt;</a:t>
              </a:r>
            </a:p>
          </p:txBody>
        </p:sp>
        <p:sp>
          <p:nvSpPr>
            <p:cNvPr id="35" name="Rectangle 35"/>
            <p:cNvSpPr/>
            <p:nvPr/>
          </p:nvSpPr>
          <p:spPr>
            <a:xfrm>
              <a:off x="10953750" y="2857500"/>
              <a:ext cx="285750" cy="285750"/>
            </a:xfrm>
            <a:prstGeom prst="roundRect">
              <a:avLst>
                <a:gd name="adj" fmla="val 20000"/>
              </a:avLst>
            </a:prstGeom>
            <a:solidFill>
              <a:srgbClr val="9B7BE8"/>
            </a:solidFill>
            <a:ln>
              <a:noFill/>
            </a:ln>
          </p:spPr>
        </p:sp>
        <p:sp>
          <p:nvSpPr>
            <p:cNvPr id="36" name="TextBox 36"/>
            <p:cNvSpPr txBox="1"/>
            <p:nvPr/>
          </p:nvSpPr>
          <p:spPr>
            <a:xfrm>
              <a:off x="6510338" y="3289697"/>
              <a:ext cx="3557152"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color dimension k · cyclic shift preserves equivariance</a:t>
              </a:r>
            </a:p>
          </p:txBody>
        </p:sp>
      </p:grpSp>
      <p:grpSp>
        <p:nvGrpSpPr>
          <p:cNvPr id="46" name="Group 46"/>
          <p:cNvGrpSpPr/>
          <p:nvPr/>
        </p:nvGrpSpPr>
        <p:grpSpPr>
          <a:xfrm>
            <a:off x="6248400" y="3562350"/>
            <a:ext cx="5334000" cy="1676400"/>
            <a:chOff x="6248400" y="3562350"/>
            <a:chExt cx="5334000" cy="1676400"/>
          </a:xfrm>
        </p:grpSpPr>
        <p:sp>
          <p:nvSpPr>
            <p:cNvPr id="38" name="Rectangle 38"/>
            <p:cNvSpPr/>
            <p:nvPr/>
          </p:nvSpPr>
          <p:spPr>
            <a:xfrm>
              <a:off x="6248400" y="3562350"/>
              <a:ext cx="5334000" cy="1676400"/>
            </a:xfrm>
            <a:prstGeom prst="roundRect">
              <a:avLst>
                <a:gd name="adj" fmla="val 7955"/>
              </a:avLst>
            </a:prstGeom>
            <a:solidFill>
              <a:schemeClr val="accent5"/>
            </a:solidFill>
            <a:ln w="14288">
              <a:solidFill>
                <a:srgbClr val="26455F"/>
              </a:solidFill>
            </a:ln>
          </p:spPr>
        </p:sp>
        <p:sp>
          <p:nvSpPr>
            <p:cNvPr id="39" name="Rectangle 39"/>
            <p:cNvSpPr/>
            <p:nvPr/>
          </p:nvSpPr>
          <p:spPr>
            <a:xfrm>
              <a:off x="6248400" y="3562350"/>
              <a:ext cx="57150" cy="1676400"/>
            </a:xfrm>
            <a:prstGeom prst="roundRect">
              <a:avLst>
                <a:gd name="adj" fmla="val 50000"/>
              </a:avLst>
            </a:prstGeom>
            <a:solidFill>
              <a:srgbClr val="48C78E"/>
            </a:solidFill>
            <a:ln>
              <a:noFill/>
            </a:ln>
          </p:spPr>
        </p:sp>
        <p:sp>
          <p:nvSpPr>
            <p:cNvPr id="40" name="TextBox 40"/>
            <p:cNvSpPr txBox="1"/>
            <p:nvPr/>
          </p:nvSpPr>
          <p:spPr>
            <a:xfrm>
              <a:off x="6509004" y="3794760"/>
              <a:ext cx="1858369"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Keep the cost in check</a:t>
              </a:r>
            </a:p>
          </p:txBody>
        </p:sp>
        <p:sp>
          <p:nvSpPr>
            <p:cNvPr id="41" name="TextBox 41"/>
            <p:cNvSpPr txBox="1"/>
            <p:nvPr/>
          </p:nvSpPr>
          <p:spPr>
            <a:xfrm>
              <a:off x="6509766" y="4096702"/>
              <a:ext cx="38458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extra dimension multiplies feature maps, so filters</a:t>
              </a:r>
            </a:p>
          </p:txBody>
        </p:sp>
        <p:sp>
          <p:nvSpPr>
            <p:cNvPr id="42" name="TextBox 42"/>
            <p:cNvSpPr txBox="1"/>
            <p:nvPr/>
          </p:nvSpPr>
          <p:spPr>
            <a:xfrm>
              <a:off x="6509766" y="4296728"/>
              <a:ext cx="38695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split into spatial and pointwise parts; hybrids use color</a:t>
              </a:r>
            </a:p>
          </p:txBody>
        </p:sp>
        <p:sp>
          <p:nvSpPr>
            <p:cNvPr id="43" name="TextBox 43"/>
            <p:cNvSpPr txBox="1"/>
            <p:nvPr/>
          </p:nvSpPr>
          <p:spPr>
            <a:xfrm>
              <a:off x="6509766" y="4496752"/>
              <a:ext cx="23358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equivariance only in early stages.</a:t>
              </a:r>
            </a:p>
          </p:txBody>
        </p:sp>
        <p:sp>
          <p:nvSpPr>
            <p:cNvPr id="44" name="Rectangle 44"/>
            <p:cNvSpPr/>
            <p:nvPr/>
          </p:nvSpPr>
          <p:spPr>
            <a:xfrm>
              <a:off x="6515100" y="4781550"/>
              <a:ext cx="4800600" cy="419100"/>
            </a:xfrm>
            <a:prstGeom prst="roundRect">
              <a:avLst>
                <a:gd name="adj" fmla="val 18182"/>
              </a:avLst>
            </a:prstGeom>
            <a:solidFill>
              <a:schemeClr val="accent6"/>
            </a:solidFill>
            <a:ln w="14288">
              <a:solidFill>
                <a:srgbClr val="26455F"/>
              </a:solidFill>
            </a:ln>
          </p:spPr>
        </p:sp>
        <p:sp>
          <p:nvSpPr>
            <p:cNvPr id="45" name="TextBox 45"/>
            <p:cNvSpPr txBox="1"/>
            <p:nvPr/>
          </p:nvSpPr>
          <p:spPr>
            <a:xfrm>
              <a:off x="7489551" y="4938951"/>
              <a:ext cx="2851699"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MACs +|H_n|/k^2 + |H_n| (small overhead)</a:t>
              </a:r>
            </a:p>
          </p:txBody>
        </p:sp>
      </p:grpSp>
      <p:sp>
        <p:nvSpPr>
          <p:cNvPr id="47" name="cue_s05_c1_hue_shift_hsv_space_becomes" title="cue_s05_c1_hue_shift_hsv_space_becomes" descr="cue_s05_c1_hue_shift_hsv_space_becomes A hue shift in HSV space becomes, in RGB space, a rotation around the gray diagonal from black to white. The authors formalize this as the group H-n of n discrete rotations about that diagonal, a subgroup of all three-dimensional rotations."/>
          <p:cNvSpPr/>
          <p:nvPr/>
        </p:nvSpPr>
        <p:spPr>
          <a:xfrm>
            <a:off x="609600" y="1504645"/>
            <a:ext cx="540959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2_color_equivariant_convolution_correl" title="cue_s05_c2_color_equivariant_convolution_correl" descr="cue_s05_c2_color_equivariant_convolution_correl A Color Equivariant Convolution correlates the input with hue-rotated copies of each filter, producing feature maps that carry an extra dimension indexing the hue rotation."/>
          <p:cNvSpPr/>
          <p:nvPr/>
        </p:nvSpPr>
        <p:spPr>
          <a:xfrm>
            <a:off x="609600" y="3562045"/>
            <a:ext cx="540959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3_hidden_layers_filters_cyclically_per" title="cue_s05_c3_hidden_layers_filters_cyclically_per" descr="cue_s05_c3_hidden_layers_filters_cyclically_per In hidden layers, filters are cyclically permuted across this dimension so equivariance is preserved throughout the network."/>
          <p:cNvSpPr/>
          <p:nvPr/>
        </p:nvSpPr>
        <p:spPr>
          <a:xfrm>
            <a:off x="6248399" y="1504645"/>
            <a:ext cx="5334000" cy="19682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4_because_extra_dimension_multiplies_n" title="cue_s05_c4_because_extra_dimension_multiplies_n" descr="cue_s05_c4_because_extra_dimension_multiplies_n Because the extra dimension multiplies the number of feature maps, the authors decompose filters into spatial and pointwise components and offer hybrid variants that use color equivariance only in the early, most color-selective stages, keeping parameter and c"/>
          <p:cNvSpPr/>
          <p:nvPr/>
        </p:nvSpPr>
        <p:spPr>
          <a:xfrm>
            <a:off x="6248399" y="35620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74244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scales, one robustness protocol</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chemeClr val="accent2"/>
            </a:solidFill>
            <a:ln>
              <a:noFill/>
            </a:ln>
          </p:spPr>
        </p:sp>
        <p:sp>
          <p:nvSpPr>
            <p:cNvPr id="7" name="TextBox 7"/>
            <p:cNvSpPr txBox="1"/>
            <p:nvPr/>
          </p:nvSpPr>
          <p:spPr>
            <a:xfrm>
              <a:off x="870204" y="1708785"/>
              <a:ext cx="8100221"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evaluation spans two scales: controlled synthetic toys and eight realistic image benchmarks.</a:t>
              </a:r>
            </a:p>
          </p:txBody>
        </p:sp>
      </p:grpSp>
      <p:grpSp>
        <p:nvGrpSpPr>
          <p:cNvPr id="20" name="Group 20"/>
          <p:cNvGrpSpPr/>
          <p:nvPr/>
        </p:nvGrpSpPr>
        <p:grpSpPr>
          <a:xfrm>
            <a:off x="609600" y="2286000"/>
            <a:ext cx="5334000" cy="1600247"/>
            <a:chOff x="609600" y="2286000"/>
            <a:chExt cx="5334000" cy="1600247"/>
          </a:xfrm>
        </p:grpSpPr>
        <p:sp>
          <p:nvSpPr>
            <p:cNvPr id="9" name="Rectangle 9"/>
            <p:cNvSpPr/>
            <p:nvPr/>
          </p:nvSpPr>
          <p:spPr>
            <a:xfrm>
              <a:off x="609600" y="2286000"/>
              <a:ext cx="5334000" cy="1600200"/>
            </a:xfrm>
            <a:prstGeom prst="roundRect">
              <a:avLst>
                <a:gd name="adj" fmla="val 8333"/>
              </a:avLst>
            </a:prstGeom>
            <a:solidFill>
              <a:schemeClr val="accent5"/>
            </a:solidFill>
            <a:ln w="14288">
              <a:solidFill>
                <a:srgbClr val="26455F"/>
              </a:solidFill>
            </a:ln>
          </p:spPr>
        </p:sp>
        <p:sp>
          <p:nvSpPr>
            <p:cNvPr id="10" name="Rectangle 10"/>
            <p:cNvSpPr/>
            <p:nvPr/>
          </p:nvSpPr>
          <p:spPr>
            <a:xfrm>
              <a:off x="609600" y="2286000"/>
              <a:ext cx="57150" cy="1600200"/>
            </a:xfrm>
            <a:prstGeom prst="roundRect">
              <a:avLst>
                <a:gd name="adj" fmla="val 50000"/>
              </a:avLst>
            </a:prstGeom>
            <a:solidFill>
              <a:srgbClr val="34D3C0"/>
            </a:solidFill>
            <a:ln>
              <a:noFill/>
            </a:ln>
          </p:spPr>
        </p:sp>
        <p:sp>
          <p:nvSpPr>
            <p:cNvPr id="11" name="TextBox 11"/>
            <p:cNvSpPr txBox="1"/>
            <p:nvPr/>
          </p:nvSpPr>
          <p:spPr>
            <a:xfrm>
              <a:off x="869442" y="2521268"/>
              <a:ext cx="2000710"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Synthetic ColorMNIST</a:t>
              </a:r>
            </a:p>
          </p:txBody>
        </p:sp>
        <p:sp>
          <p:nvSpPr>
            <p:cNvPr id="12" name="TextBox 12"/>
            <p:cNvSpPr txBox="1"/>
            <p:nvPr/>
          </p:nvSpPr>
          <p:spPr>
            <a:xfrm>
              <a:off x="870776" y="2854404"/>
              <a:ext cx="427845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Two variants isolate the phenomenon under controlled color</a:t>
              </a:r>
            </a:p>
          </p:txBody>
        </p:sp>
        <p:sp>
          <p:nvSpPr>
            <p:cNvPr id="13" name="TextBox 13"/>
            <p:cNvSpPr txBox="1"/>
            <p:nvPr/>
          </p:nvSpPr>
          <p:spPr>
            <a:xfrm>
              <a:off x="870776" y="3054429"/>
              <a:ext cx="82543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statistics.</a:t>
              </a:r>
            </a:p>
          </p:txBody>
        </p:sp>
        <p:sp>
          <p:nvSpPr>
            <p:cNvPr id="14" name="Rectangle 14"/>
            <p:cNvSpPr/>
            <p:nvPr/>
          </p:nvSpPr>
          <p:spPr>
            <a:xfrm>
              <a:off x="876300" y="3295650"/>
              <a:ext cx="4457700" cy="266700"/>
            </a:xfrm>
            <a:prstGeom prst="roundRect">
              <a:avLst>
                <a:gd name="adj" fmla="val 28571"/>
              </a:avLst>
            </a:prstGeom>
            <a:solidFill>
              <a:schemeClr val="accent6"/>
            </a:solidFill>
            <a:ln w="14288">
              <a:solidFill>
                <a:srgbClr val="26455F"/>
              </a:solidFill>
            </a:ln>
          </p:spPr>
        </p:sp>
        <p:sp>
          <p:nvSpPr>
            <p:cNvPr id="15" name="Ellipse 15"/>
            <p:cNvSpPr/>
            <p:nvPr/>
          </p:nvSpPr>
          <p:spPr>
            <a:xfrm>
              <a:off x="1000125" y="3381375"/>
              <a:ext cx="95250" cy="95250"/>
            </a:xfrm>
            <a:prstGeom prst="ellipse">
              <a:avLst/>
            </a:prstGeom>
            <a:solidFill>
              <a:srgbClr val="34D3C0"/>
            </a:solidFill>
            <a:ln>
              <a:noFill/>
            </a:ln>
          </p:spPr>
        </p:sp>
        <p:sp>
          <p:nvSpPr>
            <p:cNvPr id="16" name="TextBox 16"/>
            <p:cNvSpPr txBox="1"/>
            <p:nvPr/>
          </p:nvSpPr>
          <p:spPr>
            <a:xfrm>
              <a:off x="1194626" y="3368754"/>
              <a:ext cx="322142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Long-tailed · 30 classes, strong imbalance</a:t>
              </a:r>
            </a:p>
          </p:txBody>
        </p:sp>
        <p:sp>
          <p:nvSpPr>
            <p:cNvPr id="17" name="Rectangle 17"/>
            <p:cNvSpPr/>
            <p:nvPr/>
          </p:nvSpPr>
          <p:spPr>
            <a:xfrm>
              <a:off x="876300" y="3600450"/>
              <a:ext cx="4457700" cy="266700"/>
            </a:xfrm>
            <a:prstGeom prst="roundRect">
              <a:avLst>
                <a:gd name="adj" fmla="val 28571"/>
              </a:avLst>
            </a:prstGeom>
            <a:solidFill>
              <a:schemeClr val="accent6"/>
            </a:solidFill>
            <a:ln w="14288">
              <a:solidFill>
                <a:srgbClr val="26455F"/>
              </a:solidFill>
            </a:ln>
          </p:spPr>
        </p:sp>
        <p:sp>
          <p:nvSpPr>
            <p:cNvPr id="18" name="Ellipse 18"/>
            <p:cNvSpPr/>
            <p:nvPr/>
          </p:nvSpPr>
          <p:spPr>
            <a:xfrm>
              <a:off x="1000125" y="3686175"/>
              <a:ext cx="95250" cy="95250"/>
            </a:xfrm>
            <a:prstGeom prst="ellipse">
              <a:avLst/>
            </a:prstGeom>
            <a:solidFill>
              <a:srgbClr val="F2C14E"/>
            </a:solidFill>
            <a:ln>
              <a:noFill/>
            </a:ln>
          </p:spPr>
        </p:sp>
        <p:sp>
          <p:nvSpPr>
            <p:cNvPr id="19" name="TextBox 19"/>
            <p:cNvSpPr txBox="1"/>
            <p:nvPr/>
          </p:nvSpPr>
          <p:spPr>
            <a:xfrm>
              <a:off x="1194626" y="3673554"/>
              <a:ext cx="297501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Biased · 10 classes, tunable hue spread</a:t>
              </a:r>
            </a:p>
          </p:txBody>
        </p:sp>
      </p:grpSp>
      <p:grpSp>
        <p:nvGrpSpPr>
          <p:cNvPr id="32" name="Group 32"/>
          <p:cNvGrpSpPr/>
          <p:nvPr/>
        </p:nvGrpSpPr>
        <p:grpSpPr>
          <a:xfrm>
            <a:off x="6248400" y="2286000"/>
            <a:ext cx="5334000" cy="1600247"/>
            <a:chOff x="6248400" y="2286000"/>
            <a:chExt cx="5334000" cy="1600247"/>
          </a:xfrm>
        </p:grpSpPr>
        <p:sp>
          <p:nvSpPr>
            <p:cNvPr id="21" name="Rectangle 21"/>
            <p:cNvSpPr/>
            <p:nvPr/>
          </p:nvSpPr>
          <p:spPr>
            <a:xfrm>
              <a:off x="6248400" y="2286000"/>
              <a:ext cx="5334000" cy="1600200"/>
            </a:xfrm>
            <a:prstGeom prst="roundRect">
              <a:avLst>
                <a:gd name="adj" fmla="val 8333"/>
              </a:avLst>
            </a:prstGeom>
            <a:solidFill>
              <a:schemeClr val="accent5"/>
            </a:solidFill>
            <a:ln w="14288">
              <a:solidFill>
                <a:srgbClr val="26455F"/>
              </a:solidFill>
            </a:ln>
          </p:spPr>
        </p:sp>
        <p:sp>
          <p:nvSpPr>
            <p:cNvPr id="22" name="Rectangle 22"/>
            <p:cNvSpPr/>
            <p:nvPr/>
          </p:nvSpPr>
          <p:spPr>
            <a:xfrm>
              <a:off x="6248400" y="2286000"/>
              <a:ext cx="57150" cy="1600200"/>
            </a:xfrm>
            <a:prstGeom prst="roundRect">
              <a:avLst>
                <a:gd name="adj" fmla="val 50000"/>
              </a:avLst>
            </a:prstGeom>
            <a:solidFill>
              <a:schemeClr val="accent2"/>
            </a:solidFill>
            <a:ln>
              <a:noFill/>
            </a:ln>
          </p:spPr>
        </p:sp>
        <p:sp>
          <p:nvSpPr>
            <p:cNvPr id="23" name="TextBox 23"/>
            <p:cNvSpPr txBox="1"/>
            <p:nvPr/>
          </p:nvSpPr>
          <p:spPr>
            <a:xfrm>
              <a:off x="6508623" y="2529364"/>
              <a:ext cx="2850433"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Eight natural-image benchmarks</a:t>
              </a:r>
            </a:p>
          </p:txBody>
        </p:sp>
        <p:sp>
          <p:nvSpPr>
            <p:cNvPr id="24" name="TextBox 24"/>
            <p:cNvSpPr txBox="1"/>
            <p:nvPr/>
          </p:nvSpPr>
          <p:spPr>
            <a:xfrm>
              <a:off x="6509576" y="2854404"/>
              <a:ext cx="421253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Realistic classification, ResNet-18 / ResNet-44 on a single</a:t>
              </a:r>
            </a:p>
          </p:txBody>
        </p:sp>
        <p:sp>
          <p:nvSpPr>
            <p:cNvPr id="25" name="TextBox 25"/>
            <p:cNvSpPr txBox="1"/>
            <p:nvPr/>
          </p:nvSpPr>
          <p:spPr>
            <a:xfrm>
              <a:off x="6509576" y="3054429"/>
              <a:ext cx="6544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A40 GPU.</a:t>
              </a:r>
            </a:p>
          </p:txBody>
        </p:sp>
        <p:sp>
          <p:nvSpPr>
            <p:cNvPr id="26" name="Rectangle 26"/>
            <p:cNvSpPr/>
            <p:nvPr/>
          </p:nvSpPr>
          <p:spPr>
            <a:xfrm>
              <a:off x="6515100" y="3295650"/>
              <a:ext cx="4800600" cy="266700"/>
            </a:xfrm>
            <a:prstGeom prst="roundRect">
              <a:avLst>
                <a:gd name="adj" fmla="val 28571"/>
              </a:avLst>
            </a:prstGeom>
            <a:solidFill>
              <a:schemeClr val="accent6"/>
            </a:solidFill>
            <a:ln w="14288">
              <a:solidFill>
                <a:srgbClr val="26455F"/>
              </a:solidFill>
            </a:ln>
          </p:spPr>
        </p:sp>
        <p:sp>
          <p:nvSpPr>
            <p:cNvPr id="27" name="Ellipse 27"/>
            <p:cNvSpPr/>
            <p:nvPr/>
          </p:nvSpPr>
          <p:spPr>
            <a:xfrm>
              <a:off x="6638925" y="3381375"/>
              <a:ext cx="95250" cy="95250"/>
            </a:xfrm>
            <a:prstGeom prst="ellipse">
              <a:avLst/>
            </a:prstGeom>
            <a:solidFill>
              <a:schemeClr val="accent2"/>
            </a:solidFill>
            <a:ln>
              <a:noFill/>
            </a:ln>
          </p:spPr>
        </p:sp>
        <p:sp>
          <p:nvSpPr>
            <p:cNvPr id="28" name="TextBox 28"/>
            <p:cNvSpPr txBox="1"/>
            <p:nvPr/>
          </p:nvSpPr>
          <p:spPr>
            <a:xfrm>
              <a:off x="6833426" y="3368754"/>
              <a:ext cx="330859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CIFAR-10/100 · STL-10 · Flowers-102 · Pet</a:t>
              </a:r>
            </a:p>
          </p:txBody>
        </p:sp>
        <p:sp>
          <p:nvSpPr>
            <p:cNvPr id="29" name="Rectangle 29"/>
            <p:cNvSpPr/>
            <p:nvPr/>
          </p:nvSpPr>
          <p:spPr>
            <a:xfrm>
              <a:off x="6515100" y="3600450"/>
              <a:ext cx="4800600" cy="266700"/>
            </a:xfrm>
            <a:prstGeom prst="roundRect">
              <a:avLst>
                <a:gd name="adj" fmla="val 28571"/>
              </a:avLst>
            </a:prstGeom>
            <a:solidFill>
              <a:schemeClr val="accent6"/>
            </a:solidFill>
            <a:ln w="14288">
              <a:solidFill>
                <a:srgbClr val="26455F"/>
              </a:solidFill>
            </a:ln>
          </p:spPr>
        </p:sp>
        <p:sp>
          <p:nvSpPr>
            <p:cNvPr id="30" name="Ellipse 30"/>
            <p:cNvSpPr/>
            <p:nvPr/>
          </p:nvSpPr>
          <p:spPr>
            <a:xfrm>
              <a:off x="6638925" y="3686175"/>
              <a:ext cx="95250" cy="95250"/>
            </a:xfrm>
            <a:prstGeom prst="ellipse">
              <a:avLst/>
            </a:prstGeom>
            <a:solidFill>
              <a:schemeClr val="accent2"/>
            </a:solidFill>
            <a:ln>
              <a:noFill/>
            </a:ln>
          </p:spPr>
        </p:sp>
        <p:sp>
          <p:nvSpPr>
            <p:cNvPr id="31" name="TextBox 31"/>
            <p:cNvSpPr txBox="1"/>
            <p:nvPr/>
          </p:nvSpPr>
          <p:spPr>
            <a:xfrm>
              <a:off x="6833426" y="3673554"/>
              <a:ext cx="302360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Caltech-101 · Stanford Cars · ImageNet</a:t>
              </a:r>
            </a:p>
          </p:txBody>
        </p:sp>
      </p:grpSp>
      <p:grpSp>
        <p:nvGrpSpPr>
          <p:cNvPr id="45" name="Group 45"/>
          <p:cNvGrpSpPr/>
          <p:nvPr/>
        </p:nvGrpSpPr>
        <p:grpSpPr>
          <a:xfrm>
            <a:off x="609600" y="4076700"/>
            <a:ext cx="10972800" cy="1162050"/>
            <a:chOff x="609600" y="4076700"/>
            <a:chExt cx="10972800" cy="1162050"/>
          </a:xfrm>
        </p:grpSpPr>
        <p:sp>
          <p:nvSpPr>
            <p:cNvPr id="33" name="Rectangle 33"/>
            <p:cNvSpPr/>
            <p:nvPr/>
          </p:nvSpPr>
          <p:spPr>
            <a:xfrm>
              <a:off x="609600" y="4076700"/>
              <a:ext cx="10972800" cy="1162050"/>
            </a:xfrm>
            <a:prstGeom prst="roundRect">
              <a:avLst>
                <a:gd name="adj" fmla="val 11475"/>
              </a:avLst>
            </a:prstGeom>
            <a:solidFill>
              <a:srgbClr val="2A2417"/>
            </a:solidFill>
            <a:ln w="14288">
              <a:solidFill>
                <a:srgbClr val="F2C14E"/>
              </a:solidFill>
            </a:ln>
          </p:spPr>
        </p:sp>
        <p:sp>
          <p:nvSpPr>
            <p:cNvPr id="34" name="Rectangle 34"/>
            <p:cNvSpPr/>
            <p:nvPr/>
          </p:nvSpPr>
          <p:spPr>
            <a:xfrm>
              <a:off x="609600" y="4076700"/>
              <a:ext cx="57150" cy="1162050"/>
            </a:xfrm>
            <a:prstGeom prst="roundRect">
              <a:avLst>
                <a:gd name="adj" fmla="val 50000"/>
              </a:avLst>
            </a:prstGeom>
            <a:solidFill>
              <a:srgbClr val="F2C14E"/>
            </a:solidFill>
            <a:ln>
              <a:noFill/>
            </a:ln>
          </p:spPr>
        </p:sp>
        <p:sp>
          <p:nvSpPr>
            <p:cNvPr id="35" name="TextBox 35"/>
            <p:cNvSpPr txBox="1"/>
            <p:nvPr/>
          </p:nvSpPr>
          <p:spPr>
            <a:xfrm>
              <a:off x="869823" y="4301014"/>
              <a:ext cx="3212589"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Robustness protocol: sweep the hue</a:t>
              </a:r>
            </a:p>
          </p:txBody>
        </p:sp>
        <p:sp>
          <p:nvSpPr>
            <p:cNvPr id="36" name="TextBox 36"/>
            <p:cNvSpPr txBox="1"/>
            <p:nvPr/>
          </p:nvSpPr>
          <p:spPr>
            <a:xfrm>
              <a:off x="870776" y="4607004"/>
              <a:ext cx="619445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Every test image is re-rendered under a gradual hue shift from -180 to +180 degrees,</a:t>
              </a:r>
            </a:p>
          </p:txBody>
        </p:sp>
        <p:sp>
          <p:nvSpPr>
            <p:cNvPr id="37" name="TextBox 37"/>
            <p:cNvSpPr txBox="1"/>
            <p:nvPr/>
          </p:nvSpPr>
          <p:spPr>
            <a:xfrm>
              <a:off x="870776" y="4816554"/>
              <a:ext cx="346667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and accuracy is averaged across the full sweep.</a:t>
              </a:r>
            </a:p>
          </p:txBody>
        </p:sp>
        <p:sp>
          <p:nvSpPr>
            <p:cNvPr id="38" name="Rectangle 38"/>
            <p:cNvSpPr/>
            <p:nvPr/>
          </p:nvSpPr>
          <p:spPr>
            <a:xfrm>
              <a:off x="7905750" y="4476750"/>
              <a:ext cx="247650" cy="247650"/>
            </a:xfrm>
            <a:prstGeom prst="roundRect">
              <a:avLst>
                <a:gd name="adj" fmla="val 23077"/>
              </a:avLst>
            </a:prstGeom>
            <a:solidFill>
              <a:srgbClr val="F2685C"/>
            </a:solidFill>
            <a:ln>
              <a:noFill/>
            </a:ln>
          </p:spPr>
        </p:sp>
        <p:sp>
          <p:nvSpPr>
            <p:cNvPr id="39" name="Rectangle 39"/>
            <p:cNvSpPr/>
            <p:nvPr/>
          </p:nvSpPr>
          <p:spPr>
            <a:xfrm>
              <a:off x="8248650" y="4476750"/>
              <a:ext cx="247650" cy="247650"/>
            </a:xfrm>
            <a:prstGeom prst="roundRect">
              <a:avLst>
                <a:gd name="adj" fmla="val 23077"/>
              </a:avLst>
            </a:prstGeom>
            <a:solidFill>
              <a:srgbClr val="F2A24E"/>
            </a:solidFill>
            <a:ln>
              <a:noFill/>
            </a:ln>
          </p:spPr>
        </p:sp>
        <p:sp>
          <p:nvSpPr>
            <p:cNvPr id="40" name="Rectangle 40"/>
            <p:cNvSpPr/>
            <p:nvPr/>
          </p:nvSpPr>
          <p:spPr>
            <a:xfrm>
              <a:off x="8591550" y="4476750"/>
              <a:ext cx="247650" cy="247650"/>
            </a:xfrm>
            <a:prstGeom prst="roundRect">
              <a:avLst>
                <a:gd name="adj" fmla="val 23077"/>
              </a:avLst>
            </a:prstGeom>
            <a:solidFill>
              <a:srgbClr val="F2C14E"/>
            </a:solidFill>
            <a:ln>
              <a:noFill/>
            </a:ln>
          </p:spPr>
        </p:sp>
        <p:sp>
          <p:nvSpPr>
            <p:cNvPr id="41" name="Rectangle 41"/>
            <p:cNvSpPr/>
            <p:nvPr/>
          </p:nvSpPr>
          <p:spPr>
            <a:xfrm>
              <a:off x="8934450" y="4476750"/>
              <a:ext cx="247650" cy="247650"/>
            </a:xfrm>
            <a:prstGeom prst="roundRect">
              <a:avLst>
                <a:gd name="adj" fmla="val 23077"/>
              </a:avLst>
            </a:prstGeom>
            <a:solidFill>
              <a:srgbClr val="48C78E"/>
            </a:solidFill>
            <a:ln>
              <a:noFill/>
            </a:ln>
          </p:spPr>
        </p:sp>
        <p:sp>
          <p:nvSpPr>
            <p:cNvPr id="42" name="Rectangle 42"/>
            <p:cNvSpPr/>
            <p:nvPr/>
          </p:nvSpPr>
          <p:spPr>
            <a:xfrm>
              <a:off x="9277350" y="4476750"/>
              <a:ext cx="247650" cy="247650"/>
            </a:xfrm>
            <a:prstGeom prst="roundRect">
              <a:avLst>
                <a:gd name="adj" fmla="val 23077"/>
              </a:avLst>
            </a:prstGeom>
            <a:solidFill>
              <a:srgbClr val="34D3C0"/>
            </a:solidFill>
            <a:ln>
              <a:noFill/>
            </a:ln>
          </p:spPr>
        </p:sp>
        <p:sp>
          <p:nvSpPr>
            <p:cNvPr id="43" name="Rectangle 43"/>
            <p:cNvSpPr/>
            <p:nvPr/>
          </p:nvSpPr>
          <p:spPr>
            <a:xfrm>
              <a:off x="9620250" y="4476750"/>
              <a:ext cx="247650" cy="247650"/>
            </a:xfrm>
            <a:prstGeom prst="roundRect">
              <a:avLst>
                <a:gd name="adj" fmla="val 23077"/>
              </a:avLst>
            </a:prstGeom>
            <a:solidFill>
              <a:schemeClr val="accent2"/>
            </a:solidFill>
            <a:ln>
              <a:noFill/>
            </a:ln>
          </p:spPr>
        </p:sp>
        <p:sp>
          <p:nvSpPr>
            <p:cNvPr id="44" name="Rectangle 44"/>
            <p:cNvSpPr/>
            <p:nvPr/>
          </p:nvSpPr>
          <p:spPr>
            <a:xfrm>
              <a:off x="9963150" y="4476750"/>
              <a:ext cx="247650" cy="247650"/>
            </a:xfrm>
            <a:prstGeom prst="roundRect">
              <a:avLst>
                <a:gd name="adj" fmla="val 23077"/>
              </a:avLst>
            </a:prstGeom>
            <a:solidFill>
              <a:srgbClr val="9B7BE8"/>
            </a:solidFill>
            <a:ln>
              <a:noFill/>
            </a:ln>
          </p:spPr>
        </p:sp>
      </p:grpSp>
      <p:sp>
        <p:nvSpPr>
          <p:cNvPr id="46" name="cue_s06_c1_evaluation_spans_two_scales" title="cue_s06_c1_evaluation_spans_two_scales" descr="cue_s06_c1_evaluation_spans_two_scales The evaluation spans two scales."/>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2_first_two_synthetic_mnist_variants" title="cue_s06_c2_first_two_synthetic_mnist_variants" descr="cue_s06_c2_first_two_synthetic_mnist_variants First, two synthetic MNIST variants isolate the phenomenon: a long-tailed ColorMNIST with strong class imbalance, and a biased ColorMNIST where each class has a characteristic hue with tunable spread."/>
          <p:cNvSpPr/>
          <p:nvPr/>
        </p:nvSpPr>
        <p:spPr>
          <a:xfrm>
            <a:off x="609600" y="2285771"/>
            <a:ext cx="53340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3_eight_standard_image_classification" title="cue_s06_c3_eight_standard_image_classification" descr="cue_s06_c3_eight_standard_image_classification Then, eight standard image classification benchmarks, from CIFAR and STL-10 to Flowers-102, Stanford Cars, and ImageNet, test the method in realistic settings."/>
          <p:cNvSpPr/>
          <p:nvPr/>
        </p:nvSpPr>
        <p:spPr>
          <a:xfrm>
            <a:off x="6248399" y="2285771"/>
            <a:ext cx="53340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4_probe_robustness_every_test_image" title="cue_s06_c4_probe_robustness_every_test_image" descr="cue_s06_c4_probe_robustness_every_test_image To probe robustness, every test image is re-rendered under a gradual hue shift from minus one-hundred-eighty to plus one-hundred-eighty degrees, and accuracy is averaged across the full sweep."/>
          <p:cNvSpPr/>
          <p:nvPr/>
        </p:nvSpPr>
        <p:spPr>
          <a:xfrm>
            <a:off x="609600" y="4076395"/>
            <a:ext cx="10972800" cy="11617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31525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Robust to hue shifts, free on clean data</a:t>
            </a:r>
          </a:p>
        </p:txBody>
      </p:sp>
      <p:grpSp>
        <p:nvGrpSpPr>
          <p:cNvPr id="8" name="Group 8"/>
          <p:cNvGrpSpPr/>
          <p:nvPr/>
        </p:nvGrpSpPr>
        <p:grpSpPr>
          <a:xfrm>
            <a:off x="609600" y="1428750"/>
            <a:ext cx="10972800" cy="476250"/>
            <a:chOff x="609600" y="1428750"/>
            <a:chExt cx="10972800" cy="476250"/>
          </a:xfrm>
        </p:grpSpPr>
        <p:sp>
          <p:nvSpPr>
            <p:cNvPr id="5" name="Rectangle 5"/>
            <p:cNvSpPr/>
            <p:nvPr/>
          </p:nvSpPr>
          <p:spPr>
            <a:xfrm>
              <a:off x="609600" y="1428750"/>
              <a:ext cx="10972800" cy="476250"/>
            </a:xfrm>
            <a:prstGeom prst="roundRect">
              <a:avLst>
                <a:gd name="adj" fmla="val 28000"/>
              </a:avLst>
            </a:prstGeom>
            <a:solidFill>
              <a:schemeClr val="accent5"/>
            </a:solidFill>
            <a:ln w="14288">
              <a:solidFill>
                <a:srgbClr val="26455F"/>
              </a:solidFill>
            </a:ln>
          </p:spPr>
        </p:sp>
        <p:sp>
          <p:nvSpPr>
            <p:cNvPr id="6" name="Rectangle 6"/>
            <p:cNvSpPr/>
            <p:nvPr/>
          </p:nvSpPr>
          <p:spPr>
            <a:xfrm>
              <a:off x="609600" y="1428750"/>
              <a:ext cx="57150" cy="476250"/>
            </a:xfrm>
            <a:prstGeom prst="roundRect">
              <a:avLst>
                <a:gd name="adj" fmla="val 50000"/>
              </a:avLst>
            </a:prstGeom>
            <a:solidFill>
              <a:srgbClr val="48C78E"/>
            </a:solidFill>
            <a:ln>
              <a:noFill/>
            </a:ln>
          </p:spPr>
        </p:sp>
        <p:sp>
          <p:nvSpPr>
            <p:cNvPr id="7" name="TextBox 7"/>
            <p:cNvSpPr txBox="1"/>
            <p:nvPr/>
          </p:nvSpPr>
          <p:spPr>
            <a:xfrm>
              <a:off x="870204" y="1604010"/>
              <a:ext cx="907357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On original, unshifted test sets, color-equivariant ResNets match vanilla ResNets — no clean-accuracy cost.</a:t>
              </a:r>
            </a:p>
          </p:txBody>
        </p:sp>
      </p:grpSp>
      <p:grpSp>
        <p:nvGrpSpPr>
          <p:cNvPr id="23" name="Group 23"/>
          <p:cNvGrpSpPr/>
          <p:nvPr/>
        </p:nvGrpSpPr>
        <p:grpSpPr>
          <a:xfrm>
            <a:off x="609600" y="2038350"/>
            <a:ext cx="5334000" cy="2514600"/>
            <a:chOff x="609600" y="2038350"/>
            <a:chExt cx="5334000" cy="2514600"/>
          </a:xfrm>
        </p:grpSpPr>
        <p:sp>
          <p:nvSpPr>
            <p:cNvPr id="9" name="Rectangle 9"/>
            <p:cNvSpPr/>
            <p:nvPr/>
          </p:nvSpPr>
          <p:spPr>
            <a:xfrm>
              <a:off x="609600" y="2038350"/>
              <a:ext cx="5334000" cy="2514600"/>
            </a:xfrm>
            <a:prstGeom prst="roundRect">
              <a:avLst>
                <a:gd name="adj" fmla="val 5303"/>
              </a:avLst>
            </a:prstGeom>
            <a:solidFill>
              <a:schemeClr val="accent5"/>
            </a:solidFill>
            <a:ln w="14288">
              <a:solidFill>
                <a:srgbClr val="26455F"/>
              </a:solidFill>
            </a:ln>
          </p:spPr>
        </p:sp>
        <p:sp>
          <p:nvSpPr>
            <p:cNvPr id="10" name="Rectangle 10"/>
            <p:cNvSpPr/>
            <p:nvPr/>
          </p:nvSpPr>
          <p:spPr>
            <a:xfrm>
              <a:off x="609600" y="2038350"/>
              <a:ext cx="57150" cy="2514600"/>
            </a:xfrm>
            <a:prstGeom prst="roundRect">
              <a:avLst>
                <a:gd name="adj" fmla="val 50000"/>
              </a:avLst>
            </a:prstGeom>
            <a:solidFill>
              <a:srgbClr val="34D3C0"/>
            </a:solidFill>
            <a:ln>
              <a:noFill/>
            </a:ln>
          </p:spPr>
        </p:sp>
        <p:sp>
          <p:nvSpPr>
            <p:cNvPr id="11" name="TextBox 11"/>
            <p:cNvSpPr txBox="1"/>
            <p:nvPr/>
          </p:nvSpPr>
          <p:spPr>
            <a:xfrm>
              <a:off x="870204" y="2251710"/>
              <a:ext cx="2834833"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Flowers-102 · avg over hue shifts</a:t>
              </a:r>
            </a:p>
          </p:txBody>
        </p:sp>
        <p:sp>
          <p:nvSpPr>
            <p:cNvPr id="12" name="Rectangle 12"/>
            <p:cNvSpPr/>
            <p:nvPr/>
          </p:nvSpPr>
          <p:spPr>
            <a:xfrm>
              <a:off x="2857500" y="2724150"/>
              <a:ext cx="2381250" cy="304800"/>
            </a:xfrm>
            <a:prstGeom prst="roundRect">
              <a:avLst>
                <a:gd name="adj" fmla="val 18750"/>
              </a:avLst>
            </a:prstGeom>
            <a:solidFill>
              <a:srgbClr val="0E2334"/>
            </a:solidFill>
            <a:ln w="9525">
              <a:solidFill>
                <a:srgbClr val="26455F"/>
              </a:solidFill>
            </a:ln>
          </p:spPr>
        </p:sp>
        <p:sp>
          <p:nvSpPr>
            <p:cNvPr id="13" name="Rectangle 13"/>
            <p:cNvSpPr/>
            <p:nvPr/>
          </p:nvSpPr>
          <p:spPr>
            <a:xfrm>
              <a:off x="2857500" y="2724150"/>
              <a:ext cx="790575" cy="304800"/>
            </a:xfrm>
            <a:prstGeom prst="roundRect">
              <a:avLst>
                <a:gd name="adj" fmla="val 18750"/>
              </a:avLst>
            </a:prstGeom>
            <a:solidFill>
              <a:srgbClr val="F2685C"/>
            </a:solidFill>
            <a:ln>
              <a:noFill/>
            </a:ln>
          </p:spPr>
        </p:sp>
        <p:sp>
          <p:nvSpPr>
            <p:cNvPr id="14" name="TextBox 14"/>
            <p:cNvSpPr txBox="1"/>
            <p:nvPr/>
          </p:nvSpPr>
          <p:spPr>
            <a:xfrm>
              <a:off x="1734802" y="2843212"/>
              <a:ext cx="101373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vanilla ResNet</a:t>
              </a:r>
            </a:p>
          </p:txBody>
        </p:sp>
        <p:sp>
          <p:nvSpPr>
            <p:cNvPr id="15" name="TextBox 15"/>
            <p:cNvSpPr txBox="1"/>
            <p:nvPr/>
          </p:nvSpPr>
          <p:spPr>
            <a:xfrm>
              <a:off x="3737991" y="2843212"/>
              <a:ext cx="448503"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13.4%</a:t>
              </a:r>
            </a:p>
          </p:txBody>
        </p:sp>
        <p:sp>
          <p:nvSpPr>
            <p:cNvPr id="16" name="Rectangle 16"/>
            <p:cNvSpPr/>
            <p:nvPr/>
          </p:nvSpPr>
          <p:spPr>
            <a:xfrm>
              <a:off x="2857500" y="3238500"/>
              <a:ext cx="2381250" cy="304800"/>
            </a:xfrm>
            <a:prstGeom prst="roundRect">
              <a:avLst>
                <a:gd name="adj" fmla="val 18750"/>
              </a:avLst>
            </a:prstGeom>
            <a:solidFill>
              <a:srgbClr val="0E2334"/>
            </a:solidFill>
            <a:ln w="9525">
              <a:solidFill>
                <a:srgbClr val="26455F"/>
              </a:solidFill>
            </a:ln>
          </p:spPr>
        </p:sp>
        <p:sp>
          <p:nvSpPr>
            <p:cNvPr id="17" name="Rectangle 17"/>
            <p:cNvSpPr/>
            <p:nvPr/>
          </p:nvSpPr>
          <p:spPr>
            <a:xfrm>
              <a:off x="2857500" y="3238500"/>
              <a:ext cx="1981200" cy="304800"/>
            </a:xfrm>
            <a:prstGeom prst="roundRect">
              <a:avLst>
                <a:gd name="adj" fmla="val 18750"/>
              </a:avLst>
            </a:prstGeom>
            <a:solidFill>
              <a:srgbClr val="48C78E"/>
            </a:solidFill>
            <a:ln>
              <a:noFill/>
            </a:ln>
          </p:spPr>
        </p:sp>
        <p:sp>
          <p:nvSpPr>
            <p:cNvPr id="18" name="TextBox 18"/>
            <p:cNvSpPr txBox="1"/>
            <p:nvPr/>
          </p:nvSpPr>
          <p:spPr>
            <a:xfrm>
              <a:off x="2234223" y="3357562"/>
              <a:ext cx="51431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CEConv</a:t>
              </a:r>
            </a:p>
          </p:txBody>
        </p:sp>
        <p:sp>
          <p:nvSpPr>
            <p:cNvPr id="19" name="TextBox 19"/>
            <p:cNvSpPr txBox="1"/>
            <p:nvPr/>
          </p:nvSpPr>
          <p:spPr>
            <a:xfrm>
              <a:off x="4928616" y="3357562"/>
              <a:ext cx="44850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33.3%</a:t>
              </a:r>
            </a:p>
          </p:txBody>
        </p:sp>
        <p:sp>
          <p:nvSpPr>
            <p:cNvPr id="20" name="Rectangle 20"/>
            <p:cNvSpPr/>
            <p:nvPr/>
          </p:nvSpPr>
          <p:spPr>
            <a:xfrm>
              <a:off x="876300" y="3790950"/>
              <a:ext cx="4800600" cy="571500"/>
            </a:xfrm>
            <a:prstGeom prst="roundRect">
              <a:avLst>
                <a:gd name="adj" fmla="val 16667"/>
              </a:avLst>
            </a:prstGeom>
            <a:solidFill>
              <a:srgbClr val="0F2E2B"/>
            </a:solidFill>
            <a:ln w="14288">
              <a:solidFill>
                <a:srgbClr val="34D3C0"/>
              </a:solidFill>
            </a:ln>
          </p:spPr>
        </p:sp>
        <p:sp>
          <p:nvSpPr>
            <p:cNvPr id="21" name="TextBox 21"/>
            <p:cNvSpPr txBox="1"/>
            <p:nvPr/>
          </p:nvSpPr>
          <p:spPr>
            <a:xfrm>
              <a:off x="1061276" y="3921204"/>
              <a:ext cx="3306141" cy="212693"/>
            </a:xfrm>
            <a:prstGeom prst="rect">
              <a:avLst/>
            </a:prstGeom>
            <a:noFill/>
            <a:ln>
              <a:noFill/>
            </a:ln>
          </p:spPr>
          <p:txBody>
            <a:bodyPr wrap="none" lIns="0" tIns="0" rIns="0" bIns="0" anchor="t" anchorCtr="0">
              <a:spAutoFit/>
            </a:bodyPr>
            <a:lstStyle/>
            <a:p>
              <a:pPr algn="l"/>
              <a:r>
                <a:rPr lang="en-US" sz="1090" b="1" dirty="0">
                  <a:solidFill>
                    <a:srgbClr val="34D3C0"/>
                  </a:solidFill>
                  <a:latin typeface="+mn-lt"/>
                  <a:ea typeface="+mn-ea"/>
                  <a:cs typeface="+mn-cs"/>
                </a:rPr>
                <a:t>Nearly 2.5x higher when the test hue shifts</a:t>
              </a:r>
            </a:p>
          </p:txBody>
        </p:sp>
        <p:sp>
          <p:nvSpPr>
            <p:cNvPr id="22" name="TextBox 22"/>
            <p:cNvSpPr txBox="1"/>
            <p:nvPr/>
          </p:nvSpPr>
          <p:spPr>
            <a:xfrm>
              <a:off x="1061847" y="4142899"/>
              <a:ext cx="2503338"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...while clean accuracy stays on par</a:t>
              </a:r>
            </a:p>
          </p:txBody>
        </p:sp>
      </p:grpSp>
      <p:grpSp>
        <p:nvGrpSpPr>
          <p:cNvPr id="43" name="Group 43"/>
          <p:cNvGrpSpPr/>
          <p:nvPr/>
        </p:nvGrpSpPr>
        <p:grpSpPr>
          <a:xfrm>
            <a:off x="6248400" y="2038350"/>
            <a:ext cx="5334000" cy="2514600"/>
            <a:chOff x="6248400" y="2038350"/>
            <a:chExt cx="5334000" cy="2514600"/>
          </a:xfrm>
        </p:grpSpPr>
        <p:sp>
          <p:nvSpPr>
            <p:cNvPr id="24" name="Rectangle 24"/>
            <p:cNvSpPr/>
            <p:nvPr/>
          </p:nvSpPr>
          <p:spPr>
            <a:xfrm>
              <a:off x="6248400" y="2038350"/>
              <a:ext cx="5334000" cy="2514600"/>
            </a:xfrm>
            <a:prstGeom prst="roundRect">
              <a:avLst>
                <a:gd name="adj" fmla="val 5303"/>
              </a:avLst>
            </a:prstGeom>
            <a:solidFill>
              <a:schemeClr val="accent5"/>
            </a:solidFill>
            <a:ln w="14288">
              <a:solidFill>
                <a:srgbClr val="26455F"/>
              </a:solidFill>
            </a:ln>
          </p:spPr>
        </p:sp>
        <p:sp>
          <p:nvSpPr>
            <p:cNvPr id="25" name="Rectangle 25"/>
            <p:cNvSpPr/>
            <p:nvPr/>
          </p:nvSpPr>
          <p:spPr>
            <a:xfrm>
              <a:off x="6248400" y="2038350"/>
              <a:ext cx="57150" cy="2514600"/>
            </a:xfrm>
            <a:prstGeom prst="roundRect">
              <a:avLst>
                <a:gd name="adj" fmla="val 50000"/>
              </a:avLst>
            </a:prstGeom>
            <a:solidFill>
              <a:srgbClr val="F2C14E"/>
            </a:solidFill>
            <a:ln>
              <a:noFill/>
            </a:ln>
          </p:spPr>
        </p:sp>
        <p:sp>
          <p:nvSpPr>
            <p:cNvPr id="26" name="TextBox 26"/>
            <p:cNvSpPr txBox="1"/>
            <p:nvPr/>
          </p:nvSpPr>
          <p:spPr>
            <a:xfrm>
              <a:off x="6509004" y="2251710"/>
              <a:ext cx="2214707"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Same story on harder sets</a:t>
              </a:r>
            </a:p>
          </p:txBody>
        </p:sp>
        <p:sp>
          <p:nvSpPr>
            <p:cNvPr id="27" name="Rectangle 27"/>
            <p:cNvSpPr/>
            <p:nvPr/>
          </p:nvSpPr>
          <p:spPr>
            <a:xfrm>
              <a:off x="8496300" y="2724150"/>
              <a:ext cx="2381250" cy="266700"/>
            </a:xfrm>
            <a:prstGeom prst="roundRect">
              <a:avLst>
                <a:gd name="adj" fmla="val 21429"/>
              </a:avLst>
            </a:prstGeom>
            <a:solidFill>
              <a:srgbClr val="0E2334"/>
            </a:solidFill>
            <a:ln w="9525">
              <a:solidFill>
                <a:srgbClr val="26455F"/>
              </a:solidFill>
            </a:ln>
          </p:spPr>
        </p:sp>
        <p:sp>
          <p:nvSpPr>
            <p:cNvPr id="28" name="Rectangle 28"/>
            <p:cNvSpPr/>
            <p:nvPr/>
          </p:nvSpPr>
          <p:spPr>
            <a:xfrm>
              <a:off x="8496300" y="2724150"/>
              <a:ext cx="1390650" cy="266700"/>
            </a:xfrm>
            <a:prstGeom prst="roundRect">
              <a:avLst>
                <a:gd name="adj" fmla="val 21429"/>
              </a:avLst>
            </a:prstGeom>
            <a:solidFill>
              <a:srgbClr val="F2685C"/>
            </a:solidFill>
            <a:ln>
              <a:noFill/>
            </a:ln>
          </p:spPr>
        </p:sp>
        <p:sp>
          <p:nvSpPr>
            <p:cNvPr id="29" name="TextBox 29"/>
            <p:cNvSpPr txBox="1"/>
            <p:nvPr/>
          </p:nvSpPr>
          <p:spPr>
            <a:xfrm>
              <a:off x="7274448" y="2816543"/>
              <a:ext cx="111288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CIFAR-100 base</a:t>
              </a:r>
            </a:p>
          </p:txBody>
        </p:sp>
        <p:sp>
          <p:nvSpPr>
            <p:cNvPr id="30" name="TextBox 30"/>
            <p:cNvSpPr txBox="1"/>
            <p:nvPr/>
          </p:nvSpPr>
          <p:spPr>
            <a:xfrm>
              <a:off x="9976866" y="2816543"/>
              <a:ext cx="448503"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47.0%</a:t>
              </a:r>
            </a:p>
          </p:txBody>
        </p:sp>
        <p:sp>
          <p:nvSpPr>
            <p:cNvPr id="31" name="Rectangle 31"/>
            <p:cNvSpPr/>
            <p:nvPr/>
          </p:nvSpPr>
          <p:spPr>
            <a:xfrm>
              <a:off x="8496300" y="3143250"/>
              <a:ext cx="2381250" cy="266700"/>
            </a:xfrm>
            <a:prstGeom prst="roundRect">
              <a:avLst>
                <a:gd name="adj" fmla="val 21429"/>
              </a:avLst>
            </a:prstGeom>
            <a:solidFill>
              <a:srgbClr val="0E2334"/>
            </a:solidFill>
            <a:ln w="9525">
              <a:solidFill>
                <a:srgbClr val="26455F"/>
              </a:solidFill>
            </a:ln>
          </p:spPr>
        </p:sp>
        <p:sp>
          <p:nvSpPr>
            <p:cNvPr id="32" name="Rectangle 32"/>
            <p:cNvSpPr/>
            <p:nvPr/>
          </p:nvSpPr>
          <p:spPr>
            <a:xfrm>
              <a:off x="8496300" y="3143250"/>
              <a:ext cx="1847850" cy="266700"/>
            </a:xfrm>
            <a:prstGeom prst="roundRect">
              <a:avLst>
                <a:gd name="adj" fmla="val 21429"/>
              </a:avLst>
            </a:prstGeom>
            <a:solidFill>
              <a:srgbClr val="48C78E"/>
            </a:solidFill>
            <a:ln>
              <a:noFill/>
            </a:ln>
          </p:spPr>
        </p:sp>
        <p:sp>
          <p:nvSpPr>
            <p:cNvPr id="33" name="TextBox 33"/>
            <p:cNvSpPr txBox="1"/>
            <p:nvPr/>
          </p:nvSpPr>
          <p:spPr>
            <a:xfrm>
              <a:off x="7420066" y="3235643"/>
              <a:ext cx="96726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CIFAR-100 CE</a:t>
              </a:r>
            </a:p>
          </p:txBody>
        </p:sp>
        <p:sp>
          <p:nvSpPr>
            <p:cNvPr id="34" name="TextBox 34"/>
            <p:cNvSpPr txBox="1"/>
            <p:nvPr/>
          </p:nvSpPr>
          <p:spPr>
            <a:xfrm>
              <a:off x="10434066" y="3235643"/>
              <a:ext cx="44850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62.1%</a:t>
              </a:r>
            </a:p>
          </p:txBody>
        </p:sp>
        <p:sp>
          <p:nvSpPr>
            <p:cNvPr id="35" name="Rectangle 35"/>
            <p:cNvSpPr/>
            <p:nvPr/>
          </p:nvSpPr>
          <p:spPr>
            <a:xfrm>
              <a:off x="8496300" y="3638550"/>
              <a:ext cx="2381250" cy="266700"/>
            </a:xfrm>
            <a:prstGeom prst="roundRect">
              <a:avLst>
                <a:gd name="adj" fmla="val 21429"/>
              </a:avLst>
            </a:prstGeom>
            <a:solidFill>
              <a:srgbClr val="0E2334"/>
            </a:solidFill>
            <a:ln w="9525">
              <a:solidFill>
                <a:srgbClr val="26455F"/>
              </a:solidFill>
            </a:ln>
          </p:spPr>
        </p:sp>
        <p:sp>
          <p:nvSpPr>
            <p:cNvPr id="36" name="Rectangle 36"/>
            <p:cNvSpPr/>
            <p:nvPr/>
          </p:nvSpPr>
          <p:spPr>
            <a:xfrm>
              <a:off x="8496300" y="3638550"/>
              <a:ext cx="1647825" cy="266700"/>
            </a:xfrm>
            <a:prstGeom prst="roundRect">
              <a:avLst>
                <a:gd name="adj" fmla="val 21429"/>
              </a:avLst>
            </a:prstGeom>
            <a:solidFill>
              <a:srgbClr val="F2685C"/>
            </a:solidFill>
            <a:ln>
              <a:noFill/>
            </a:ln>
          </p:spPr>
        </p:sp>
        <p:sp>
          <p:nvSpPr>
            <p:cNvPr id="37" name="TextBox 37"/>
            <p:cNvSpPr txBox="1"/>
            <p:nvPr/>
          </p:nvSpPr>
          <p:spPr>
            <a:xfrm>
              <a:off x="7674163" y="3730943"/>
              <a:ext cx="71317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Cars base</a:t>
              </a:r>
            </a:p>
          </p:txBody>
        </p:sp>
        <p:sp>
          <p:nvSpPr>
            <p:cNvPr id="38" name="TextBox 38"/>
            <p:cNvSpPr txBox="1"/>
            <p:nvPr/>
          </p:nvSpPr>
          <p:spPr>
            <a:xfrm>
              <a:off x="10234041" y="3730943"/>
              <a:ext cx="448503"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55.6%</a:t>
              </a:r>
            </a:p>
          </p:txBody>
        </p:sp>
        <p:sp>
          <p:nvSpPr>
            <p:cNvPr id="39" name="Rectangle 39"/>
            <p:cNvSpPr/>
            <p:nvPr/>
          </p:nvSpPr>
          <p:spPr>
            <a:xfrm>
              <a:off x="8496300" y="4057650"/>
              <a:ext cx="2381250" cy="266700"/>
            </a:xfrm>
            <a:prstGeom prst="roundRect">
              <a:avLst>
                <a:gd name="adj" fmla="val 21429"/>
              </a:avLst>
            </a:prstGeom>
            <a:solidFill>
              <a:srgbClr val="0E2334"/>
            </a:solidFill>
            <a:ln w="9525">
              <a:solidFill>
                <a:srgbClr val="26455F"/>
              </a:solidFill>
            </a:ln>
          </p:spPr>
        </p:sp>
        <p:sp>
          <p:nvSpPr>
            <p:cNvPr id="40" name="Rectangle 40"/>
            <p:cNvSpPr/>
            <p:nvPr/>
          </p:nvSpPr>
          <p:spPr>
            <a:xfrm>
              <a:off x="8496300" y="4057650"/>
              <a:ext cx="2028825" cy="266700"/>
            </a:xfrm>
            <a:prstGeom prst="roundRect">
              <a:avLst>
                <a:gd name="adj" fmla="val 21429"/>
              </a:avLst>
            </a:prstGeom>
            <a:solidFill>
              <a:schemeClr val="accent2"/>
            </a:solidFill>
            <a:ln>
              <a:noFill/>
            </a:ln>
          </p:spPr>
        </p:sp>
        <p:sp>
          <p:nvSpPr>
            <p:cNvPr id="41" name="TextBox 41"/>
            <p:cNvSpPr txBox="1"/>
            <p:nvPr/>
          </p:nvSpPr>
          <p:spPr>
            <a:xfrm>
              <a:off x="7827237" y="4150043"/>
              <a:ext cx="56009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Cars CE</a:t>
              </a:r>
            </a:p>
          </p:txBody>
        </p:sp>
        <p:sp>
          <p:nvSpPr>
            <p:cNvPr id="42" name="TextBox 42"/>
            <p:cNvSpPr txBox="1"/>
            <p:nvPr/>
          </p:nvSpPr>
          <p:spPr>
            <a:xfrm>
              <a:off x="10615041" y="4150043"/>
              <a:ext cx="448503"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68.2%</a:t>
              </a:r>
            </a:p>
          </p:txBody>
        </p:sp>
      </p:grpSp>
      <p:grpSp>
        <p:nvGrpSpPr>
          <p:cNvPr id="56" name="Group 56"/>
          <p:cNvGrpSpPr/>
          <p:nvPr/>
        </p:nvGrpSpPr>
        <p:grpSpPr>
          <a:xfrm>
            <a:off x="609600" y="4686300"/>
            <a:ext cx="10972800" cy="1123997"/>
            <a:chOff x="609600" y="4686300"/>
            <a:chExt cx="10972800" cy="1123997"/>
          </a:xfrm>
        </p:grpSpPr>
        <p:sp>
          <p:nvSpPr>
            <p:cNvPr id="44" name="Rectangle 44"/>
            <p:cNvSpPr/>
            <p:nvPr/>
          </p:nvSpPr>
          <p:spPr>
            <a:xfrm>
              <a:off x="609600" y="4686300"/>
              <a:ext cx="10972800" cy="1104900"/>
            </a:xfrm>
            <a:prstGeom prst="roundRect">
              <a:avLst>
                <a:gd name="adj" fmla="val 12069"/>
              </a:avLst>
            </a:prstGeom>
            <a:solidFill>
              <a:schemeClr val="accent5"/>
            </a:solidFill>
            <a:ln w="14288">
              <a:solidFill>
                <a:srgbClr val="26455F"/>
              </a:solidFill>
            </a:ln>
          </p:spPr>
        </p:sp>
        <p:sp>
          <p:nvSpPr>
            <p:cNvPr id="45" name="Rectangle 45"/>
            <p:cNvSpPr/>
            <p:nvPr/>
          </p:nvSpPr>
          <p:spPr>
            <a:xfrm>
              <a:off x="609600" y="4686300"/>
              <a:ext cx="57150" cy="1104900"/>
            </a:xfrm>
            <a:prstGeom prst="roundRect">
              <a:avLst>
                <a:gd name="adj" fmla="val 50000"/>
              </a:avLst>
            </a:prstGeom>
            <a:solidFill>
              <a:schemeClr val="accent2"/>
            </a:solidFill>
            <a:ln>
              <a:noFill/>
            </a:ln>
          </p:spPr>
        </p:sp>
        <p:sp>
          <p:nvSpPr>
            <p:cNvPr id="46" name="TextBox 46"/>
            <p:cNvSpPr txBox="1"/>
            <p:nvPr/>
          </p:nvSpPr>
          <p:spPr>
            <a:xfrm>
              <a:off x="870204" y="4880610"/>
              <a:ext cx="277916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Controlled long-tailed ColorMNIST</a:t>
              </a:r>
            </a:p>
          </p:txBody>
        </p:sp>
        <p:sp>
          <p:nvSpPr>
            <p:cNvPr id="47" name="Rectangle 47"/>
            <p:cNvSpPr/>
            <p:nvPr/>
          </p:nvSpPr>
          <p:spPr>
            <a:xfrm>
              <a:off x="8572500" y="4819650"/>
              <a:ext cx="1428750" cy="838200"/>
            </a:xfrm>
            <a:prstGeom prst="roundRect">
              <a:avLst>
                <a:gd name="adj" fmla="val 13636"/>
              </a:avLst>
            </a:prstGeom>
            <a:solidFill>
              <a:schemeClr val="accent6"/>
            </a:solidFill>
            <a:ln w="14288">
              <a:solidFill>
                <a:srgbClr val="26455F"/>
              </a:solidFill>
            </a:ln>
          </p:spPr>
        </p:sp>
        <p:sp>
          <p:nvSpPr>
            <p:cNvPr id="48" name="TextBox 48"/>
            <p:cNvSpPr txBox="1"/>
            <p:nvPr/>
          </p:nvSpPr>
          <p:spPr>
            <a:xfrm>
              <a:off x="8808452" y="5013274"/>
              <a:ext cx="956846" cy="438882"/>
            </a:xfrm>
            <a:prstGeom prst="rect">
              <a:avLst/>
            </a:prstGeom>
            <a:noFill/>
            <a:ln>
              <a:noFill/>
            </a:ln>
          </p:spPr>
          <p:txBody>
            <a:bodyPr wrap="none" lIns="0" tIns="0" rIns="0" bIns="0" anchor="t" anchorCtr="0">
              <a:spAutoFit/>
            </a:bodyPr>
            <a:lstStyle/>
            <a:p>
              <a:pPr algn="ctr"/>
              <a:r>
                <a:rPr lang="en-US" sz="2240" b="1" dirty="0">
                  <a:solidFill>
                    <a:srgbClr val="48C78E"/>
                  </a:solidFill>
                  <a:latin typeface="+mn-lt"/>
                  <a:ea typeface="+mn-ea"/>
                  <a:cs typeface="+mn-cs"/>
                </a:rPr>
                <a:t>91.4%</a:t>
              </a:r>
            </a:p>
          </p:txBody>
        </p:sp>
        <p:sp>
          <p:nvSpPr>
            <p:cNvPr id="49" name="TextBox 49"/>
            <p:cNvSpPr txBox="1"/>
            <p:nvPr/>
          </p:nvSpPr>
          <p:spPr>
            <a:xfrm>
              <a:off x="8915488" y="5389007"/>
              <a:ext cx="74277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CE network</a:t>
              </a:r>
            </a:p>
          </p:txBody>
        </p:sp>
        <p:sp>
          <p:nvSpPr>
            <p:cNvPr id="50" name="Rectangle 50"/>
            <p:cNvSpPr/>
            <p:nvPr/>
          </p:nvSpPr>
          <p:spPr>
            <a:xfrm>
              <a:off x="10077450" y="4819650"/>
              <a:ext cx="1428750" cy="838200"/>
            </a:xfrm>
            <a:prstGeom prst="roundRect">
              <a:avLst>
                <a:gd name="adj" fmla="val 13636"/>
              </a:avLst>
            </a:prstGeom>
            <a:solidFill>
              <a:schemeClr val="accent6"/>
            </a:solidFill>
            <a:ln w="14288">
              <a:solidFill>
                <a:srgbClr val="26455F"/>
              </a:solidFill>
            </a:ln>
          </p:spPr>
        </p:sp>
        <p:sp>
          <p:nvSpPr>
            <p:cNvPr id="51" name="TextBox 51"/>
            <p:cNvSpPr txBox="1"/>
            <p:nvPr/>
          </p:nvSpPr>
          <p:spPr>
            <a:xfrm>
              <a:off x="10313402" y="5013274"/>
              <a:ext cx="956846" cy="438882"/>
            </a:xfrm>
            <a:prstGeom prst="rect">
              <a:avLst/>
            </a:prstGeom>
            <a:noFill/>
            <a:ln>
              <a:noFill/>
            </a:ln>
          </p:spPr>
          <p:txBody>
            <a:bodyPr wrap="none" lIns="0" tIns="0" rIns="0" bIns="0" anchor="t" anchorCtr="0">
              <a:spAutoFit/>
            </a:bodyPr>
            <a:lstStyle/>
            <a:p>
              <a:pPr algn="ctr"/>
              <a:r>
                <a:rPr lang="en-US" sz="2240" b="1" dirty="0">
                  <a:solidFill>
                    <a:srgbClr val="F2685C"/>
                  </a:solidFill>
                  <a:latin typeface="+mn-lt"/>
                  <a:ea typeface="+mn-ea"/>
                  <a:cs typeface="+mn-cs"/>
                </a:rPr>
                <a:t>71.6%</a:t>
              </a:r>
            </a:p>
          </p:txBody>
        </p:sp>
        <p:sp>
          <p:nvSpPr>
            <p:cNvPr id="52" name="TextBox 52"/>
            <p:cNvSpPr txBox="1"/>
            <p:nvPr/>
          </p:nvSpPr>
          <p:spPr>
            <a:xfrm>
              <a:off x="10445869" y="5389007"/>
              <a:ext cx="69191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vanilla CNN</a:t>
              </a:r>
            </a:p>
          </p:txBody>
        </p:sp>
        <p:sp>
          <p:nvSpPr>
            <p:cNvPr id="53" name="TextBox 53"/>
            <p:cNvSpPr txBox="1"/>
            <p:nvPr/>
          </p:nvSpPr>
          <p:spPr>
            <a:xfrm>
              <a:off x="870776" y="5178504"/>
              <a:ext cx="396412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equivariant network reaches 91% versus 72%, with</a:t>
              </a:r>
            </a:p>
          </p:txBody>
        </p:sp>
        <p:sp>
          <p:nvSpPr>
            <p:cNvPr id="54" name="TextBox 54"/>
            <p:cNvSpPr txBox="1"/>
            <p:nvPr/>
          </p:nvSpPr>
          <p:spPr>
            <a:xfrm>
              <a:off x="870776" y="5388054"/>
              <a:ext cx="360607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biggest gains exactly on the rare classes that</a:t>
              </a:r>
            </a:p>
          </p:txBody>
        </p:sp>
        <p:sp>
          <p:nvSpPr>
            <p:cNvPr id="55" name="TextBox 55"/>
            <p:cNvSpPr txBox="1"/>
            <p:nvPr/>
          </p:nvSpPr>
          <p:spPr>
            <a:xfrm>
              <a:off x="870776" y="5597604"/>
              <a:ext cx="224877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shape sharing is meant to help.</a:t>
              </a:r>
            </a:p>
          </p:txBody>
        </p:sp>
      </p:grpSp>
      <p:sp>
        <p:nvSpPr>
          <p:cNvPr id="57" name="TextBox 57"/>
          <p:cNvSpPr txBox="1"/>
          <p:nvPr/>
        </p:nvSpPr>
        <p:spPr>
          <a:xfrm>
            <a:off x="604266" y="6058852"/>
            <a:ext cx="4809612"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Biggest improvements land on the rare, underrepresented colors.</a:t>
            </a:r>
          </a:p>
        </p:txBody>
      </p:sp>
      <p:sp>
        <p:nvSpPr>
          <p:cNvPr id="58" name="cue_s07_c1_headline_finding_robustness_without" title="cue_s07_c1_headline_finding_robustness_without" descr="cue_s07_c1_headline_finding_robustness_without The headline finding is robustness without a cost to clean accuracy. On the original, unshifted test sets, color equivariant ResNets perform on par with vanilla ResNets."/>
          <p:cNvSpPr/>
          <p:nvPr/>
        </p:nvSpPr>
        <p:spPr>
          <a:xfrm>
            <a:off x="609600" y="1428521"/>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7_c2_but_when_test_images_hue_shifted" title="cue_s07_c2_but_when_test_images_hue_shifted" descr="cue_s07_c2_but_when_test_images_hue_shifted But when the test images are hue-shifted, the gap opens dramatically."/>
          <p:cNvSpPr/>
          <p:nvPr/>
        </p:nvSpPr>
        <p:spPr>
          <a:xfrm>
            <a:off x="609600" y="2038197"/>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7_c3_flowers_102_average_accuracy_across" title="cue_s07_c3_flowers_102_average_accuracy_across" descr="cue_s07_c3_flowers_102_average_accuracy_across On Flowers-102, average accuracy across hue shifts jumps from about thirteen percent for the baseline to thirty-three percent for the fully equivariant model, and similar gains appear on CIFAR-100 and Stanford Cars."/>
          <p:cNvSpPr/>
          <p:nvPr/>
        </p:nvSpPr>
        <p:spPr>
          <a:xfrm>
            <a:off x="6248399" y="2038197"/>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7_c4_controlled_long_tailed_experiment_eq" title="cue_s07_c4_controlled_long_tailed_experiment_eq" descr="cue_s07_c4_controlled_long_tailed_experiment_eq In the controlled long-tailed experiment the equivariant network reaches ninety-one percent against the baseline's seventy-two percent, with the biggest improvements exactly on the rare classes that shape sharing is meant to help."/>
          <p:cNvSpPr/>
          <p:nvPr/>
        </p:nvSpPr>
        <p:spPr>
          <a:xfrm>
            <a:off x="609600" y="4686071"/>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305563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What makes it work</a:t>
            </a:r>
          </a:p>
        </p:txBody>
      </p:sp>
      <p:grpSp>
        <p:nvGrpSpPr>
          <p:cNvPr id="15" name="Group 15"/>
          <p:cNvGrpSpPr/>
          <p:nvPr/>
        </p:nvGrpSpPr>
        <p:grpSpPr>
          <a:xfrm>
            <a:off x="609600" y="1504950"/>
            <a:ext cx="5334000" cy="1714500"/>
            <a:chOff x="609600" y="1504950"/>
            <a:chExt cx="5334000" cy="1714500"/>
          </a:xfrm>
        </p:grpSpPr>
        <p:sp>
          <p:nvSpPr>
            <p:cNvPr id="5" name="Rectangle 5"/>
            <p:cNvSpPr/>
            <p:nvPr/>
          </p:nvSpPr>
          <p:spPr>
            <a:xfrm>
              <a:off x="609600" y="1504950"/>
              <a:ext cx="5334000" cy="1714500"/>
            </a:xfrm>
            <a:prstGeom prst="roundRect">
              <a:avLst>
                <a:gd name="adj" fmla="val 7778"/>
              </a:avLst>
            </a:prstGeom>
            <a:solidFill>
              <a:schemeClr val="accent5"/>
            </a:solidFill>
            <a:ln w="14288">
              <a:solidFill>
                <a:srgbClr val="26455F"/>
              </a:solidFill>
            </a:ln>
          </p:spPr>
        </p:sp>
        <p:sp>
          <p:nvSpPr>
            <p:cNvPr id="6" name="Rectangle 6"/>
            <p:cNvSpPr/>
            <p:nvPr/>
          </p:nvSpPr>
          <p:spPr>
            <a:xfrm>
              <a:off x="609600" y="1504950"/>
              <a:ext cx="57150" cy="1714500"/>
            </a:xfrm>
            <a:prstGeom prst="roundRect">
              <a:avLst>
                <a:gd name="adj" fmla="val 50000"/>
              </a:avLst>
            </a:prstGeom>
            <a:solidFill>
              <a:schemeClr val="accent2"/>
            </a:solidFill>
            <a:ln>
              <a:noFill/>
            </a:ln>
          </p:spPr>
        </p:sp>
        <p:sp>
          <p:nvSpPr>
            <p:cNvPr id="7" name="TextBox 7"/>
            <p:cNvSpPr txBox="1"/>
            <p:nvPr/>
          </p:nvSpPr>
          <p:spPr>
            <a:xfrm>
              <a:off x="870014" y="1733312"/>
              <a:ext cx="300752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More hue rotations -&gt; more robust</a:t>
              </a:r>
            </a:p>
          </p:txBody>
        </p:sp>
        <p:sp>
          <p:nvSpPr>
            <p:cNvPr id="8" name="TextBox 8"/>
            <p:cNvSpPr txBox="1"/>
            <p:nvPr/>
          </p:nvSpPr>
          <p:spPr>
            <a:xfrm>
              <a:off x="870776" y="2035254"/>
              <a:ext cx="367681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Increasing the number of discrete rotations raises</a:t>
              </a:r>
            </a:p>
          </p:txBody>
        </p:sp>
        <p:sp>
          <p:nvSpPr>
            <p:cNvPr id="9" name="TextBox 9"/>
            <p:cNvSpPr txBox="1"/>
            <p:nvPr/>
          </p:nvSpPr>
          <p:spPr>
            <a:xfrm>
              <a:off x="870776" y="2244804"/>
              <a:ext cx="382618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test-time robustness, with a slight capacity cost as</a:t>
              </a:r>
            </a:p>
          </p:txBody>
        </p:sp>
        <p:sp>
          <p:nvSpPr>
            <p:cNvPr id="10" name="TextBox 10"/>
            <p:cNvSpPr txBox="1"/>
            <p:nvPr/>
          </p:nvSpPr>
          <p:spPr>
            <a:xfrm>
              <a:off x="870776" y="2454354"/>
              <a:ext cx="305581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channels shrink to keep parameters fixed.</a:t>
              </a:r>
            </a:p>
          </p:txBody>
        </p:sp>
        <p:sp>
          <p:nvSpPr>
            <p:cNvPr id="11" name="Rectangle 11"/>
            <p:cNvSpPr/>
            <p:nvPr/>
          </p:nvSpPr>
          <p:spPr>
            <a:xfrm>
              <a:off x="3429000" y="2724150"/>
              <a:ext cx="2247900" cy="381000"/>
            </a:xfrm>
            <a:prstGeom prst="roundRect">
              <a:avLst>
                <a:gd name="adj" fmla="val 20000"/>
              </a:avLst>
            </a:prstGeom>
            <a:solidFill>
              <a:srgbClr val="0E2334"/>
            </a:solidFill>
            <a:ln w="14288">
              <a:solidFill>
                <a:srgbClr val="26455F"/>
              </a:solidFill>
            </a:ln>
          </p:spPr>
        </p:sp>
        <p:sp>
          <p:nvSpPr>
            <p:cNvPr id="12" name="Polyline 12"/>
            <p:cNvSpPr/>
            <p:nvPr/>
          </p:nvSpPr>
          <p:spPr>
            <a:xfrm>
              <a:off x="3429000" y="2828925"/>
              <a:ext cx="2190750" cy="200025"/>
            </a:xfrm>
            <a:custGeom>
              <a:avLst/>
              <a:gdLst/>
              <a:ahLst/>
              <a:cxnLst/>
              <a:rect l="l" t="t" r="r" b="b"/>
              <a:pathLst>
                <a:path w="2190750" h="200025">
                  <a:moveTo>
                    <a:pt x="0" y="200025"/>
                  </a:moveTo>
                  <a:lnTo>
                    <a:pt x="95250" y="171450"/>
                  </a:lnTo>
                  <a:lnTo>
                    <a:pt x="190500" y="152400"/>
                  </a:lnTo>
                  <a:lnTo>
                    <a:pt x="285750" y="133350"/>
                  </a:lnTo>
                  <a:lnTo>
                    <a:pt x="381000" y="123825"/>
                  </a:lnTo>
                  <a:lnTo>
                    <a:pt x="476250" y="104775"/>
                  </a:lnTo>
                  <a:lnTo>
                    <a:pt x="571500" y="95250"/>
                  </a:lnTo>
                  <a:lnTo>
                    <a:pt x="666750" y="76200"/>
                  </a:lnTo>
                  <a:lnTo>
                    <a:pt x="762000" y="66675"/>
                  </a:lnTo>
                  <a:lnTo>
                    <a:pt x="857250" y="57150"/>
                  </a:lnTo>
                  <a:lnTo>
                    <a:pt x="952500" y="47625"/>
                  </a:lnTo>
                  <a:lnTo>
                    <a:pt x="1047750" y="47625"/>
                  </a:lnTo>
                  <a:lnTo>
                    <a:pt x="1143000" y="38100"/>
                  </a:lnTo>
                  <a:lnTo>
                    <a:pt x="1238250" y="28575"/>
                  </a:lnTo>
                  <a:lnTo>
                    <a:pt x="1333500" y="28575"/>
                  </a:lnTo>
                  <a:lnTo>
                    <a:pt x="1428750" y="19050"/>
                  </a:lnTo>
                  <a:lnTo>
                    <a:pt x="1524000" y="19050"/>
                  </a:lnTo>
                  <a:lnTo>
                    <a:pt x="1619250" y="9525"/>
                  </a:lnTo>
                  <a:lnTo>
                    <a:pt x="1714500" y="9525"/>
                  </a:lnTo>
                  <a:lnTo>
                    <a:pt x="1809750" y="9525"/>
                  </a:lnTo>
                  <a:lnTo>
                    <a:pt x="1905000" y="0"/>
                  </a:lnTo>
                  <a:lnTo>
                    <a:pt x="2000250" y="0"/>
                  </a:lnTo>
                  <a:lnTo>
                    <a:pt x="2095500" y="0"/>
                  </a:lnTo>
                  <a:lnTo>
                    <a:pt x="2190750" y="0"/>
                  </a:lnTo>
                </a:path>
              </a:pathLst>
            </a:custGeom>
            <a:noFill/>
            <a:ln w="23812" cap="rnd">
              <a:solidFill>
                <a:schemeClr val="accent2"/>
              </a:solidFill>
              <a:round/>
            </a:ln>
          </p:spPr>
        </p:sp>
        <p:sp>
          <p:nvSpPr>
            <p:cNvPr id="13" name="TextBox 13"/>
            <p:cNvSpPr txBox="1"/>
            <p:nvPr/>
          </p:nvSpPr>
          <p:spPr>
            <a:xfrm>
              <a:off x="4819850" y="2962989"/>
              <a:ext cx="785613" cy="154781"/>
            </a:xfrm>
            <a:prstGeom prst="rect">
              <a:avLst/>
            </a:prstGeom>
            <a:noFill/>
            <a:ln>
              <a:noFill/>
            </a:ln>
          </p:spPr>
          <p:txBody>
            <a:bodyPr wrap="none" lIns="0" tIns="0" rIns="0" bIns="0" anchor="t" anchorCtr="0">
              <a:spAutoFit/>
            </a:bodyPr>
            <a:lstStyle/>
            <a:p>
              <a:pPr algn="r"/>
              <a:r>
                <a:rPr lang="en-US" sz="790" b="1" dirty="0">
                  <a:solidFill>
                    <a:srgbClr val="6E869C"/>
                  </a:solidFill>
                  <a:latin typeface="+mn-lt"/>
                  <a:ea typeface="+mn-ea"/>
                  <a:cs typeface="+mn-cs"/>
                </a:rPr>
                <a:t>n rotations -&gt;</a:t>
              </a:r>
            </a:p>
          </p:txBody>
        </p:sp>
        <p:sp>
          <p:nvSpPr>
            <p:cNvPr id="14" name="TextBox 14"/>
            <p:cNvSpPr txBox="1"/>
            <p:nvPr/>
          </p:nvSpPr>
          <p:spPr>
            <a:xfrm>
              <a:off x="871347" y="2866549"/>
              <a:ext cx="965721"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robustness -&gt;</a:t>
              </a:r>
            </a:p>
          </p:txBody>
        </p:sp>
      </p:grpSp>
      <p:grpSp>
        <p:nvGrpSpPr>
          <p:cNvPr id="23" name="Group 23"/>
          <p:cNvGrpSpPr/>
          <p:nvPr/>
        </p:nvGrpSpPr>
        <p:grpSpPr>
          <a:xfrm>
            <a:off x="609600" y="3371850"/>
            <a:ext cx="5334000" cy="1866900"/>
            <a:chOff x="609600" y="3371850"/>
            <a:chExt cx="5334000" cy="1866900"/>
          </a:xfrm>
        </p:grpSpPr>
        <p:sp>
          <p:nvSpPr>
            <p:cNvPr id="16" name="Rectangle 16"/>
            <p:cNvSpPr/>
            <p:nvPr/>
          </p:nvSpPr>
          <p:spPr>
            <a:xfrm>
              <a:off x="609600" y="3371850"/>
              <a:ext cx="5334000" cy="1866900"/>
            </a:xfrm>
            <a:prstGeom prst="roundRect">
              <a:avLst>
                <a:gd name="adj" fmla="val 7143"/>
              </a:avLst>
            </a:prstGeom>
            <a:solidFill>
              <a:srgbClr val="0F2E2B"/>
            </a:solidFill>
            <a:ln w="14288">
              <a:solidFill>
                <a:srgbClr val="48C78E"/>
              </a:solidFill>
            </a:ln>
          </p:spPr>
        </p:sp>
        <p:sp>
          <p:nvSpPr>
            <p:cNvPr id="17" name="Rectangle 17"/>
            <p:cNvSpPr/>
            <p:nvPr/>
          </p:nvSpPr>
          <p:spPr>
            <a:xfrm>
              <a:off x="609600" y="3371850"/>
              <a:ext cx="57150" cy="1866900"/>
            </a:xfrm>
            <a:prstGeom prst="roundRect">
              <a:avLst>
                <a:gd name="adj" fmla="val 50000"/>
              </a:avLst>
            </a:prstGeom>
            <a:solidFill>
              <a:srgbClr val="48C78E"/>
            </a:solidFill>
            <a:ln>
              <a:noFill/>
            </a:ln>
          </p:spPr>
        </p:sp>
        <p:sp>
          <p:nvSpPr>
            <p:cNvPr id="18" name="TextBox 18"/>
            <p:cNvSpPr txBox="1"/>
            <p:nvPr/>
          </p:nvSpPr>
          <p:spPr>
            <a:xfrm>
              <a:off x="870014" y="3600212"/>
              <a:ext cx="2655798"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Coset pooling drives invariance</a:t>
              </a:r>
            </a:p>
          </p:txBody>
        </p:sp>
        <p:sp>
          <p:nvSpPr>
            <p:cNvPr id="19" name="TextBox 19"/>
            <p:cNvSpPr txBox="1"/>
            <p:nvPr/>
          </p:nvSpPr>
          <p:spPr>
            <a:xfrm>
              <a:off x="870776" y="3921204"/>
              <a:ext cx="375762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Group coset pooling is the mechanism that yields hue</a:t>
              </a:r>
            </a:p>
          </p:txBody>
        </p:sp>
        <p:sp>
          <p:nvSpPr>
            <p:cNvPr id="20" name="TextBox 20"/>
            <p:cNvSpPr txBox="1"/>
            <p:nvPr/>
          </p:nvSpPr>
          <p:spPr>
            <a:xfrm>
              <a:off x="870776" y="4130754"/>
              <a:ext cx="3875281"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invariance. Remove it, and the network behaves like a</a:t>
              </a:r>
            </a:p>
          </p:txBody>
        </p:sp>
        <p:sp>
          <p:nvSpPr>
            <p:cNvPr id="21" name="TextBox 21"/>
            <p:cNvSpPr txBox="1"/>
            <p:nvPr/>
          </p:nvSpPr>
          <p:spPr>
            <a:xfrm>
              <a:off x="870776" y="4340304"/>
              <a:ext cx="90613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regular one.</a:t>
              </a:r>
            </a:p>
          </p:txBody>
        </p:sp>
        <p:sp>
          <p:nvSpPr>
            <p:cNvPr id="22" name="TextBox 22"/>
            <p:cNvSpPr txBox="1"/>
            <p:nvPr/>
          </p:nvSpPr>
          <p:spPr>
            <a:xfrm>
              <a:off x="870776" y="4740354"/>
              <a:ext cx="2130373" cy="212693"/>
            </a:xfrm>
            <a:prstGeom prst="rect">
              <a:avLst/>
            </a:prstGeom>
            <a:noFill/>
            <a:ln>
              <a:noFill/>
            </a:ln>
          </p:spPr>
          <p:txBody>
            <a:bodyPr wrap="none" lIns="0" tIns="0" rIns="0" bIns="0" anchor="t" anchorCtr="0">
              <a:spAutoFit/>
            </a:bodyPr>
            <a:lstStyle/>
            <a:p>
              <a:pPr algn="l"/>
              <a:r>
                <a:rPr lang="en-US" sz="1090" b="1" dirty="0">
                  <a:solidFill>
                    <a:srgbClr val="48C78E"/>
                  </a:solidFill>
                  <a:latin typeface="Consolas"/>
                  <a:ea typeface="Consolas"/>
                  <a:cs typeface="Consolas"/>
                </a:rPr>
                <a:t>no coset pool = ordinary CNN</a:t>
              </a:r>
            </a:p>
          </p:txBody>
        </p:sp>
      </p:grpSp>
      <p:grpSp>
        <p:nvGrpSpPr>
          <p:cNvPr id="30" name="Group 30"/>
          <p:cNvGrpSpPr/>
          <p:nvPr/>
        </p:nvGrpSpPr>
        <p:grpSpPr>
          <a:xfrm>
            <a:off x="6248400" y="1504950"/>
            <a:ext cx="5334000" cy="1714500"/>
            <a:chOff x="6248400" y="1504950"/>
            <a:chExt cx="5334000" cy="1714500"/>
          </a:xfrm>
        </p:grpSpPr>
        <p:sp>
          <p:nvSpPr>
            <p:cNvPr id="24" name="Rectangle 24"/>
            <p:cNvSpPr/>
            <p:nvPr/>
          </p:nvSpPr>
          <p:spPr>
            <a:xfrm>
              <a:off x="6248400" y="1504950"/>
              <a:ext cx="5334000" cy="1714500"/>
            </a:xfrm>
            <a:prstGeom prst="roundRect">
              <a:avLst>
                <a:gd name="adj" fmla="val 7778"/>
              </a:avLst>
            </a:prstGeom>
            <a:solidFill>
              <a:schemeClr val="accent5"/>
            </a:solidFill>
            <a:ln w="14288">
              <a:solidFill>
                <a:srgbClr val="26455F"/>
              </a:solidFill>
            </a:ln>
          </p:spPr>
        </p:sp>
        <p:sp>
          <p:nvSpPr>
            <p:cNvPr id="25" name="Rectangle 25"/>
            <p:cNvSpPr/>
            <p:nvPr/>
          </p:nvSpPr>
          <p:spPr>
            <a:xfrm>
              <a:off x="6248400" y="1504950"/>
              <a:ext cx="57150" cy="1714500"/>
            </a:xfrm>
            <a:prstGeom prst="roundRect">
              <a:avLst>
                <a:gd name="adj" fmla="val 50000"/>
              </a:avLst>
            </a:prstGeom>
            <a:solidFill>
              <a:srgbClr val="F2C14E"/>
            </a:solidFill>
            <a:ln>
              <a:noFill/>
            </a:ln>
          </p:spPr>
        </p:sp>
        <p:sp>
          <p:nvSpPr>
            <p:cNvPr id="26" name="TextBox 26"/>
            <p:cNvSpPr txBox="1"/>
            <p:nvPr/>
          </p:nvSpPr>
          <p:spPr>
            <a:xfrm>
              <a:off x="6508814" y="1733312"/>
              <a:ext cx="2182792"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Complements color-jitter</a:t>
              </a:r>
            </a:p>
          </p:txBody>
        </p:sp>
        <p:sp>
          <p:nvSpPr>
            <p:cNvPr id="27" name="TextBox 27"/>
            <p:cNvSpPr txBox="1"/>
            <p:nvPr/>
          </p:nvSpPr>
          <p:spPr>
            <a:xfrm>
              <a:off x="6509576" y="2035254"/>
              <a:ext cx="339063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Equivariance and color-jitter augmentation are</a:t>
              </a:r>
            </a:p>
          </p:txBody>
        </p:sp>
        <p:sp>
          <p:nvSpPr>
            <p:cNvPr id="28" name="TextBox 28"/>
            <p:cNvSpPr txBox="1"/>
            <p:nvPr/>
          </p:nvSpPr>
          <p:spPr>
            <a:xfrm>
              <a:off x="6509576" y="2244804"/>
              <a:ext cx="38775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complementary: an equivariant network needs a lower</a:t>
              </a:r>
            </a:p>
          </p:txBody>
        </p:sp>
        <p:sp>
          <p:nvSpPr>
            <p:cNvPr id="29" name="TextBox 29"/>
            <p:cNvSpPr txBox="1"/>
            <p:nvPr/>
          </p:nvSpPr>
          <p:spPr>
            <a:xfrm>
              <a:off x="6509576" y="2454354"/>
              <a:ext cx="414166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intensity of augmentation to reach the same robustness.</a:t>
              </a:r>
            </a:p>
          </p:txBody>
        </p:sp>
      </p:grpSp>
      <p:grpSp>
        <p:nvGrpSpPr>
          <p:cNvPr id="39" name="Group 39"/>
          <p:cNvGrpSpPr/>
          <p:nvPr/>
        </p:nvGrpSpPr>
        <p:grpSpPr>
          <a:xfrm>
            <a:off x="6248400" y="3371850"/>
            <a:ext cx="5334000" cy="1866900"/>
            <a:chOff x="6248400" y="3371850"/>
            <a:chExt cx="5334000" cy="1866900"/>
          </a:xfrm>
        </p:grpSpPr>
        <p:sp>
          <p:nvSpPr>
            <p:cNvPr id="31" name="Rectangle 31"/>
            <p:cNvSpPr/>
            <p:nvPr/>
          </p:nvSpPr>
          <p:spPr>
            <a:xfrm>
              <a:off x="6248400" y="3371850"/>
              <a:ext cx="5334000" cy="1866900"/>
            </a:xfrm>
            <a:prstGeom prst="roundRect">
              <a:avLst>
                <a:gd name="adj" fmla="val 7143"/>
              </a:avLst>
            </a:prstGeom>
            <a:solidFill>
              <a:schemeClr val="accent5"/>
            </a:solidFill>
            <a:ln w="14288">
              <a:solidFill>
                <a:srgbClr val="26455F"/>
              </a:solidFill>
            </a:ln>
          </p:spPr>
        </p:sp>
        <p:sp>
          <p:nvSpPr>
            <p:cNvPr id="32" name="Rectangle 32"/>
            <p:cNvSpPr/>
            <p:nvPr/>
          </p:nvSpPr>
          <p:spPr>
            <a:xfrm>
              <a:off x="6248400" y="3371850"/>
              <a:ext cx="57150" cy="1866900"/>
            </a:xfrm>
            <a:prstGeom prst="roundRect">
              <a:avLst>
                <a:gd name="adj" fmla="val 50000"/>
              </a:avLst>
            </a:prstGeom>
            <a:solidFill>
              <a:srgbClr val="34D3C0"/>
            </a:solidFill>
            <a:ln>
              <a:noFill/>
            </a:ln>
          </p:spPr>
        </p:sp>
        <p:sp>
          <p:nvSpPr>
            <p:cNvPr id="33" name="TextBox 33"/>
            <p:cNvSpPr txBox="1"/>
            <p:nvPr/>
          </p:nvSpPr>
          <p:spPr>
            <a:xfrm>
              <a:off x="6508814" y="3600212"/>
              <a:ext cx="2945014"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Color-selectivity predicts benefit</a:t>
              </a:r>
            </a:p>
          </p:txBody>
        </p:sp>
        <p:sp>
          <p:nvSpPr>
            <p:cNvPr id="34" name="TextBox 34"/>
            <p:cNvSpPr txBox="1"/>
            <p:nvPr/>
          </p:nvSpPr>
          <p:spPr>
            <a:xfrm>
              <a:off x="6509576" y="3921204"/>
              <a:ext cx="413918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Datasets with more color-selective neurons benefit from</a:t>
              </a:r>
            </a:p>
          </p:txBody>
        </p:sp>
        <p:sp>
          <p:nvSpPr>
            <p:cNvPr id="35" name="TextBox 35"/>
            <p:cNvSpPr txBox="1"/>
            <p:nvPr/>
          </p:nvSpPr>
          <p:spPr>
            <a:xfrm>
              <a:off x="6509576" y="4130754"/>
              <a:ext cx="233681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equivariance up to later stages.</a:t>
              </a:r>
            </a:p>
          </p:txBody>
        </p:sp>
        <p:sp>
          <p:nvSpPr>
            <p:cNvPr id="36" name="Rectangle 36"/>
            <p:cNvSpPr/>
            <p:nvPr/>
          </p:nvSpPr>
          <p:spPr>
            <a:xfrm>
              <a:off x="6515100" y="4705350"/>
              <a:ext cx="4800600" cy="323850"/>
            </a:xfrm>
            <a:prstGeom prst="roundRect">
              <a:avLst>
                <a:gd name="adj" fmla="val 23529"/>
              </a:avLst>
            </a:prstGeom>
            <a:solidFill>
              <a:schemeClr val="accent6"/>
            </a:solidFill>
            <a:ln w="14288">
              <a:solidFill>
                <a:srgbClr val="26455F"/>
              </a:solidFill>
            </a:ln>
          </p:spPr>
        </p:sp>
        <p:sp>
          <p:nvSpPr>
            <p:cNvPr id="37" name="Ellipse 37"/>
            <p:cNvSpPr/>
            <p:nvPr/>
          </p:nvSpPr>
          <p:spPr>
            <a:xfrm>
              <a:off x="6638925" y="4819650"/>
              <a:ext cx="95250" cy="95250"/>
            </a:xfrm>
            <a:prstGeom prst="ellipse">
              <a:avLst/>
            </a:prstGeom>
            <a:solidFill>
              <a:srgbClr val="34D3C0"/>
            </a:solidFill>
            <a:ln>
              <a:noFill/>
            </a:ln>
          </p:spPr>
        </p:sp>
        <p:sp>
          <p:nvSpPr>
            <p:cNvPr id="38" name="TextBox 38"/>
            <p:cNvSpPr txBox="1"/>
            <p:nvPr/>
          </p:nvSpPr>
          <p:spPr>
            <a:xfrm>
              <a:off x="6833426" y="4807029"/>
              <a:ext cx="366151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Flowers-102 color selectivity = 0.70 -&gt; big gains</a:t>
              </a:r>
            </a:p>
          </p:txBody>
        </p:sp>
      </p:grpSp>
      <p:sp>
        <p:nvSpPr>
          <p:cNvPr id="40" name="cue_s08_c1_ablations_clarify_design_choices_inc" title="cue_s08_c1_ablations_clarify_design_choices_inc" descr="cue_s08_c1_ablations_clarify_design_choices_inc The ablations clarify the design choices. Increasing the number of discrete hue rotations makes the network more robust to test-time hue shifts, though it slightly reduces capacity because channels must shrink to keep parameters fixed."/>
          <p:cNvSpPr/>
          <p:nvPr/>
        </p:nvSpPr>
        <p:spPr>
          <a:xfrm>
            <a:off x="609600" y="15046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8_c2_group_coset_pooling_turns_out" title="cue_s08_c2_group_coset_pooling_turns_out" descr="cue_s08_c2_group_coset_pooling_turns_out Group coset pooling turns out to be the mechanism that yields hue invariance; remove it, and the network behaves like a regular one."/>
          <p:cNvSpPr/>
          <p:nvPr/>
        </p:nvSpPr>
        <p:spPr>
          <a:xfrm>
            <a:off x="609600" y="3372078"/>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3_finally_color_equivariance_color_jit" title="cue_s08_c3_finally_color_equivariance_color_jit" descr="cue_s08_c3_finally_color_equivariance_color_jit Finally, color equivariance and color-jitter augmentation are complementary: an equivariant network needs a lower intensity of augmentation to reach the same robustness."/>
          <p:cNvSpPr/>
          <p:nvPr/>
        </p:nvSpPr>
        <p:spPr>
          <a:xfrm>
            <a:off x="6248399" y="15046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8_c4_color_selectivity_analysis_further_e" title="cue_s08_c4_color_selectivity_analysis_further_e" descr="cue_s08_c4_color_selectivity_analysis_further_e A color-selectivity analysis further explains when the method helps, showing that datasets with more color-selective neurons benefit from equivariance up to later stages."/>
          <p:cNvSpPr/>
          <p:nvPr/>
        </p:nvSpPr>
        <p:spPr>
          <a:xfrm>
            <a:off x="6248399" y="3372078"/>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56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one place</a:t>
            </a:r>
          </a:p>
        </p:txBody>
      </p:sp>
      <p:grpSp>
        <p:nvGrpSpPr>
          <p:cNvPr id="21" name="Group 21"/>
          <p:cNvGrpSpPr/>
          <p:nvPr/>
        </p:nvGrpSpPr>
        <p:grpSpPr>
          <a:xfrm>
            <a:off x="609600" y="1600200"/>
            <a:ext cx="10972800" cy="1428750"/>
            <a:chOff x="609600" y="1600200"/>
            <a:chExt cx="10972800" cy="1428750"/>
          </a:xfrm>
        </p:grpSpPr>
        <p:sp>
          <p:nvSpPr>
            <p:cNvPr id="5" name="Rectangle 5"/>
            <p:cNvSpPr/>
            <p:nvPr/>
          </p:nvSpPr>
          <p:spPr>
            <a:xfrm>
              <a:off x="609600" y="1600200"/>
              <a:ext cx="109728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600200"/>
              <a:ext cx="57150" cy="1428750"/>
            </a:xfrm>
            <a:prstGeom prst="roundRect">
              <a:avLst>
                <a:gd name="adj" fmla="val 50000"/>
              </a:avLst>
            </a:prstGeom>
            <a:solidFill>
              <a:srgbClr val="48C78E"/>
            </a:solidFill>
            <a:ln>
              <a:noFill/>
            </a:ln>
          </p:spPr>
        </p:sp>
        <p:sp>
          <p:nvSpPr>
            <p:cNvPr id="7" name="TextBox 7"/>
            <p:cNvSpPr txBox="1"/>
            <p:nvPr/>
          </p:nvSpPr>
          <p:spPr>
            <a:xfrm>
              <a:off x="870014" y="1828562"/>
              <a:ext cx="4733831"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Flowers-102 under hue shifts · accuracy nearly triples</a:t>
              </a:r>
            </a:p>
          </p:txBody>
        </p:sp>
        <p:sp>
          <p:nvSpPr>
            <p:cNvPr id="8" name="Rectangle 8"/>
            <p:cNvSpPr/>
            <p:nvPr/>
          </p:nvSpPr>
          <p:spPr>
            <a:xfrm>
              <a:off x="876300" y="2152650"/>
              <a:ext cx="2095500" cy="762000"/>
            </a:xfrm>
            <a:prstGeom prst="roundRect">
              <a:avLst>
                <a:gd name="adj" fmla="val 15000"/>
              </a:avLst>
            </a:prstGeom>
            <a:solidFill>
              <a:schemeClr val="accent6"/>
            </a:solidFill>
            <a:ln w="14288">
              <a:solidFill>
                <a:srgbClr val="26455F"/>
              </a:solidFill>
            </a:ln>
          </p:spPr>
        </p:sp>
        <p:sp>
          <p:nvSpPr>
            <p:cNvPr id="9" name="TextBox 9"/>
            <p:cNvSpPr txBox="1"/>
            <p:nvPr/>
          </p:nvSpPr>
          <p:spPr>
            <a:xfrm>
              <a:off x="1488362" y="2328672"/>
              <a:ext cx="871377" cy="398983"/>
            </a:xfrm>
            <a:prstGeom prst="rect">
              <a:avLst/>
            </a:prstGeom>
            <a:noFill/>
            <a:ln>
              <a:noFill/>
            </a:ln>
          </p:spPr>
          <p:txBody>
            <a:bodyPr wrap="none" lIns="0" tIns="0" rIns="0" bIns="0" anchor="t" anchorCtr="0">
              <a:spAutoFit/>
            </a:bodyPr>
            <a:lstStyle/>
            <a:p>
              <a:pPr algn="ctr"/>
              <a:r>
                <a:rPr lang="en-US" sz="2040" b="1" dirty="0">
                  <a:solidFill>
                    <a:srgbClr val="F2685C"/>
                  </a:solidFill>
                  <a:latin typeface="+mn-lt"/>
                  <a:ea typeface="+mn-ea"/>
                  <a:cs typeface="+mn-cs"/>
                </a:rPr>
                <a:t>13.4%</a:t>
              </a:r>
            </a:p>
          </p:txBody>
        </p:sp>
        <p:sp>
          <p:nvSpPr>
            <p:cNvPr id="10" name="TextBox 10"/>
            <p:cNvSpPr txBox="1"/>
            <p:nvPr/>
          </p:nvSpPr>
          <p:spPr>
            <a:xfrm>
              <a:off x="1470297" y="2661047"/>
              <a:ext cx="90750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vanilla ResNet</a:t>
              </a:r>
            </a:p>
          </p:txBody>
        </p:sp>
        <p:sp>
          <p:nvSpPr>
            <p:cNvPr id="11" name="TextBox 11"/>
            <p:cNvSpPr txBox="1"/>
            <p:nvPr/>
          </p:nvSpPr>
          <p:spPr>
            <a:xfrm>
              <a:off x="2956898" y="2405062"/>
              <a:ext cx="372704" cy="440055"/>
            </a:xfrm>
            <a:prstGeom prst="rect">
              <a:avLst/>
            </a:prstGeom>
            <a:noFill/>
            <a:ln>
              <a:noFill/>
            </a:ln>
          </p:spPr>
          <p:txBody>
            <a:bodyPr wrap="none" lIns="0" tIns="0" rIns="0" bIns="0" anchor="t" anchorCtr="0">
              <a:spAutoFit/>
            </a:bodyPr>
            <a:lstStyle/>
            <a:p>
              <a:pPr algn="ctr"/>
              <a:r>
                <a:rPr lang="en-US" sz="2250" b="1" dirty="0">
                  <a:solidFill>
                    <a:schemeClr val="dk2"/>
                  </a:solidFill>
                  <a:latin typeface="+mn-lt"/>
                  <a:ea typeface="+mn-ea"/>
                  <a:cs typeface="+mn-cs"/>
                </a:rPr>
                <a:t>-&gt;</a:t>
              </a:r>
            </a:p>
          </p:txBody>
        </p:sp>
        <p:sp>
          <p:nvSpPr>
            <p:cNvPr id="12" name="Rectangle 12"/>
            <p:cNvSpPr/>
            <p:nvPr/>
          </p:nvSpPr>
          <p:spPr>
            <a:xfrm>
              <a:off x="3429000" y="2152650"/>
              <a:ext cx="2095500" cy="762000"/>
            </a:xfrm>
            <a:prstGeom prst="roundRect">
              <a:avLst>
                <a:gd name="adj" fmla="val 15000"/>
              </a:avLst>
            </a:prstGeom>
            <a:solidFill>
              <a:schemeClr val="accent6"/>
            </a:solidFill>
            <a:ln w="14288">
              <a:solidFill>
                <a:srgbClr val="26455F"/>
              </a:solidFill>
            </a:ln>
          </p:spPr>
        </p:sp>
        <p:sp>
          <p:nvSpPr>
            <p:cNvPr id="13" name="TextBox 13"/>
            <p:cNvSpPr txBox="1"/>
            <p:nvPr/>
          </p:nvSpPr>
          <p:spPr>
            <a:xfrm>
              <a:off x="4041062" y="2328672"/>
              <a:ext cx="871377" cy="398983"/>
            </a:xfrm>
            <a:prstGeom prst="rect">
              <a:avLst/>
            </a:prstGeom>
            <a:noFill/>
            <a:ln>
              <a:noFill/>
            </a:ln>
          </p:spPr>
          <p:txBody>
            <a:bodyPr wrap="none" lIns="0" tIns="0" rIns="0" bIns="0" anchor="t" anchorCtr="0">
              <a:spAutoFit/>
            </a:bodyPr>
            <a:lstStyle/>
            <a:p>
              <a:pPr algn="ctr"/>
              <a:r>
                <a:rPr lang="en-US" sz="2040" b="1" dirty="0">
                  <a:solidFill>
                    <a:srgbClr val="48C78E"/>
                  </a:solidFill>
                  <a:latin typeface="+mn-lt"/>
                  <a:ea typeface="+mn-ea"/>
                  <a:cs typeface="+mn-cs"/>
                </a:rPr>
                <a:t>33.3%</a:t>
              </a:r>
            </a:p>
          </p:txBody>
        </p:sp>
        <p:sp>
          <p:nvSpPr>
            <p:cNvPr id="14" name="TextBox 14"/>
            <p:cNvSpPr txBox="1"/>
            <p:nvPr/>
          </p:nvSpPr>
          <p:spPr>
            <a:xfrm>
              <a:off x="4246547" y="2661047"/>
              <a:ext cx="46040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CEConv</a:t>
              </a:r>
            </a:p>
          </p:txBody>
        </p:sp>
        <p:sp>
          <p:nvSpPr>
            <p:cNvPr id="15" name="Rectangle 15"/>
            <p:cNvSpPr/>
            <p:nvPr/>
          </p:nvSpPr>
          <p:spPr>
            <a:xfrm>
              <a:off x="5829300" y="2152650"/>
              <a:ext cx="2190750" cy="762000"/>
            </a:xfrm>
            <a:prstGeom prst="roundRect">
              <a:avLst>
                <a:gd name="adj" fmla="val 15000"/>
              </a:avLst>
            </a:prstGeom>
            <a:solidFill>
              <a:schemeClr val="accent6"/>
            </a:solidFill>
            <a:ln w="14288">
              <a:solidFill>
                <a:srgbClr val="26455F"/>
              </a:solidFill>
            </a:ln>
          </p:spPr>
        </p:sp>
        <p:sp>
          <p:nvSpPr>
            <p:cNvPr id="16" name="TextBox 16"/>
            <p:cNvSpPr txBox="1"/>
            <p:nvPr/>
          </p:nvSpPr>
          <p:spPr>
            <a:xfrm>
              <a:off x="6517822" y="2328672"/>
              <a:ext cx="813706" cy="398983"/>
            </a:xfrm>
            <a:prstGeom prst="rect">
              <a:avLst/>
            </a:prstGeom>
            <a:noFill/>
            <a:ln>
              <a:noFill/>
            </a:ln>
          </p:spPr>
          <p:txBody>
            <a:bodyPr wrap="none" lIns="0" tIns="0" rIns="0" bIns="0" anchor="t" anchorCtr="0">
              <a:spAutoFit/>
            </a:bodyPr>
            <a:lstStyle/>
            <a:p>
              <a:pPr algn="ctr"/>
              <a:r>
                <a:rPr lang="en-US" sz="2040" b="1" dirty="0">
                  <a:solidFill>
                    <a:srgbClr val="34D3C0"/>
                  </a:solidFill>
                  <a:latin typeface="+mn-lt"/>
                  <a:ea typeface="+mn-ea"/>
                  <a:cs typeface="+mn-cs"/>
                </a:rPr>
                <a:t>~2.5x</a:t>
              </a:r>
            </a:p>
          </p:txBody>
        </p:sp>
        <p:sp>
          <p:nvSpPr>
            <p:cNvPr id="17" name="TextBox 17"/>
            <p:cNvSpPr txBox="1"/>
            <p:nvPr/>
          </p:nvSpPr>
          <p:spPr>
            <a:xfrm>
              <a:off x="6405041" y="2661047"/>
              <a:ext cx="103926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robustness gain</a:t>
              </a:r>
            </a:p>
          </p:txBody>
        </p:sp>
        <p:sp>
          <p:nvSpPr>
            <p:cNvPr id="18" name="Rectangle 18"/>
            <p:cNvSpPr/>
            <p:nvPr/>
          </p:nvSpPr>
          <p:spPr>
            <a:xfrm>
              <a:off x="8229600" y="2152650"/>
              <a:ext cx="3352800" cy="762000"/>
            </a:xfrm>
            <a:prstGeom prst="roundRect">
              <a:avLst>
                <a:gd name="adj" fmla="val 15000"/>
              </a:avLst>
            </a:prstGeom>
            <a:solidFill>
              <a:schemeClr val="accent6"/>
            </a:solidFill>
            <a:ln w="14288">
              <a:solidFill>
                <a:srgbClr val="26455F"/>
              </a:solidFill>
            </a:ln>
          </p:spPr>
        </p:sp>
        <p:sp>
          <p:nvSpPr>
            <p:cNvPr id="19" name="TextBox 19"/>
            <p:cNvSpPr txBox="1"/>
            <p:nvPr/>
          </p:nvSpPr>
          <p:spPr>
            <a:xfrm>
              <a:off x="8414956" y="2329101"/>
              <a:ext cx="264603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large jump on hue-shifted tests, with</a:t>
              </a:r>
            </a:p>
          </p:txBody>
        </p:sp>
        <p:sp>
          <p:nvSpPr>
            <p:cNvPr id="20" name="TextBox 20"/>
            <p:cNvSpPr txBox="1"/>
            <p:nvPr/>
          </p:nvSpPr>
          <p:spPr>
            <a:xfrm>
              <a:off x="8414956" y="2519601"/>
              <a:ext cx="17778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clean accuracy unchanged.</a:t>
              </a:r>
            </a:p>
          </p:txBody>
        </p:sp>
      </p:grpSp>
      <p:grpSp>
        <p:nvGrpSpPr>
          <p:cNvPr id="32" name="Group 32"/>
          <p:cNvGrpSpPr/>
          <p:nvPr/>
        </p:nvGrpSpPr>
        <p:grpSpPr>
          <a:xfrm>
            <a:off x="609600" y="3181350"/>
            <a:ext cx="5334000" cy="1657350"/>
            <a:chOff x="609600" y="3181350"/>
            <a:chExt cx="5334000" cy="1657350"/>
          </a:xfrm>
        </p:grpSpPr>
        <p:sp>
          <p:nvSpPr>
            <p:cNvPr id="22" name="Rectangle 22"/>
            <p:cNvSpPr/>
            <p:nvPr/>
          </p:nvSpPr>
          <p:spPr>
            <a:xfrm>
              <a:off x="609600" y="3181350"/>
              <a:ext cx="5334000" cy="1657350"/>
            </a:xfrm>
            <a:prstGeom prst="roundRect">
              <a:avLst>
                <a:gd name="adj" fmla="val 8046"/>
              </a:avLst>
            </a:prstGeom>
            <a:solidFill>
              <a:srgbClr val="0F2E2B"/>
            </a:solidFill>
            <a:ln w="14288">
              <a:solidFill>
                <a:srgbClr val="48C78E"/>
              </a:solidFill>
            </a:ln>
          </p:spPr>
        </p:sp>
        <p:sp>
          <p:nvSpPr>
            <p:cNvPr id="23" name="Rectangle 23"/>
            <p:cNvSpPr/>
            <p:nvPr/>
          </p:nvSpPr>
          <p:spPr>
            <a:xfrm>
              <a:off x="609600" y="3181350"/>
              <a:ext cx="57150" cy="1657350"/>
            </a:xfrm>
            <a:prstGeom prst="roundRect">
              <a:avLst>
                <a:gd name="adj" fmla="val 50000"/>
              </a:avLst>
            </a:prstGeom>
            <a:solidFill>
              <a:srgbClr val="48C78E"/>
            </a:solidFill>
            <a:ln>
              <a:noFill/>
            </a:ln>
          </p:spPr>
        </p:sp>
        <p:sp>
          <p:nvSpPr>
            <p:cNvPr id="24" name="TextBox 24"/>
            <p:cNvSpPr txBox="1"/>
            <p:nvPr/>
          </p:nvSpPr>
          <p:spPr>
            <a:xfrm>
              <a:off x="870014" y="3409712"/>
              <a:ext cx="2489549"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Long-tailed color experiment</a:t>
              </a:r>
            </a:p>
          </p:txBody>
        </p:sp>
        <p:sp>
          <p:nvSpPr>
            <p:cNvPr id="25" name="Rectangle 25"/>
            <p:cNvSpPr/>
            <p:nvPr/>
          </p:nvSpPr>
          <p:spPr>
            <a:xfrm>
              <a:off x="876300" y="3733800"/>
              <a:ext cx="2095500" cy="800100"/>
            </a:xfrm>
            <a:prstGeom prst="roundRect">
              <a:avLst>
                <a:gd name="adj" fmla="val 14286"/>
              </a:avLst>
            </a:prstGeom>
            <a:solidFill>
              <a:schemeClr val="accent6"/>
            </a:solidFill>
            <a:ln w="14288">
              <a:solidFill>
                <a:srgbClr val="26455F"/>
              </a:solidFill>
            </a:ln>
          </p:spPr>
        </p:sp>
        <p:sp>
          <p:nvSpPr>
            <p:cNvPr id="26" name="TextBox 26"/>
            <p:cNvSpPr txBox="1"/>
            <p:nvPr/>
          </p:nvSpPr>
          <p:spPr>
            <a:xfrm>
              <a:off x="1466994" y="3918623"/>
              <a:ext cx="914112" cy="418932"/>
            </a:xfrm>
            <a:prstGeom prst="rect">
              <a:avLst/>
            </a:prstGeom>
            <a:noFill/>
            <a:ln>
              <a:noFill/>
            </a:ln>
          </p:spPr>
          <p:txBody>
            <a:bodyPr wrap="none" lIns="0" tIns="0" rIns="0" bIns="0" anchor="t" anchorCtr="0">
              <a:spAutoFit/>
            </a:bodyPr>
            <a:lstStyle/>
            <a:p>
              <a:pPr algn="ctr"/>
              <a:r>
                <a:rPr lang="en-US" sz="2140" b="1" dirty="0">
                  <a:solidFill>
                    <a:srgbClr val="48C78E"/>
                  </a:solidFill>
                  <a:latin typeface="+mn-lt"/>
                  <a:ea typeface="+mn-ea"/>
                  <a:cs typeface="+mn-cs"/>
                </a:rPr>
                <a:t>91.4%</a:t>
              </a:r>
            </a:p>
          </p:txBody>
        </p:sp>
        <p:sp>
          <p:nvSpPr>
            <p:cNvPr id="27" name="TextBox 27"/>
            <p:cNvSpPr txBox="1"/>
            <p:nvPr/>
          </p:nvSpPr>
          <p:spPr>
            <a:xfrm>
              <a:off x="1552663" y="4272677"/>
              <a:ext cx="74277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CE network</a:t>
              </a:r>
            </a:p>
          </p:txBody>
        </p:sp>
        <p:sp>
          <p:nvSpPr>
            <p:cNvPr id="28" name="Rectangle 28"/>
            <p:cNvSpPr/>
            <p:nvPr/>
          </p:nvSpPr>
          <p:spPr>
            <a:xfrm>
              <a:off x="3429000" y="3733800"/>
              <a:ext cx="2095500" cy="800100"/>
            </a:xfrm>
            <a:prstGeom prst="roundRect">
              <a:avLst>
                <a:gd name="adj" fmla="val 14286"/>
              </a:avLst>
            </a:prstGeom>
            <a:solidFill>
              <a:schemeClr val="accent6"/>
            </a:solidFill>
            <a:ln w="14288">
              <a:solidFill>
                <a:srgbClr val="26455F"/>
              </a:solidFill>
            </a:ln>
          </p:spPr>
        </p:sp>
        <p:sp>
          <p:nvSpPr>
            <p:cNvPr id="29" name="TextBox 29"/>
            <p:cNvSpPr txBox="1"/>
            <p:nvPr/>
          </p:nvSpPr>
          <p:spPr>
            <a:xfrm>
              <a:off x="4019694" y="3918623"/>
              <a:ext cx="914112" cy="418932"/>
            </a:xfrm>
            <a:prstGeom prst="rect">
              <a:avLst/>
            </a:prstGeom>
            <a:noFill/>
            <a:ln>
              <a:noFill/>
            </a:ln>
          </p:spPr>
          <p:txBody>
            <a:bodyPr wrap="none" lIns="0" tIns="0" rIns="0" bIns="0" anchor="t" anchorCtr="0">
              <a:spAutoFit/>
            </a:bodyPr>
            <a:lstStyle/>
            <a:p>
              <a:pPr algn="ctr"/>
              <a:r>
                <a:rPr lang="en-US" sz="2140" b="1" dirty="0">
                  <a:solidFill>
                    <a:srgbClr val="F2685C"/>
                  </a:solidFill>
                  <a:latin typeface="+mn-lt"/>
                  <a:ea typeface="+mn-ea"/>
                  <a:cs typeface="+mn-cs"/>
                </a:rPr>
                <a:t>71.6%</a:t>
              </a:r>
            </a:p>
          </p:txBody>
        </p:sp>
        <p:sp>
          <p:nvSpPr>
            <p:cNvPr id="30" name="TextBox 30"/>
            <p:cNvSpPr txBox="1"/>
            <p:nvPr/>
          </p:nvSpPr>
          <p:spPr>
            <a:xfrm>
              <a:off x="4130794" y="4272677"/>
              <a:ext cx="69191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vanilla CNN</a:t>
              </a:r>
            </a:p>
          </p:txBody>
        </p:sp>
        <p:sp>
          <p:nvSpPr>
            <p:cNvPr id="31" name="TextBox 31"/>
            <p:cNvSpPr txBox="1"/>
            <p:nvPr/>
          </p:nvSpPr>
          <p:spPr>
            <a:xfrm>
              <a:off x="871156" y="4634151"/>
              <a:ext cx="254967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Almost +20 points over the baseline.</a:t>
              </a:r>
            </a:p>
          </p:txBody>
        </p:sp>
      </p:grpSp>
      <p:grpSp>
        <p:nvGrpSpPr>
          <p:cNvPr id="43" name="Group 43"/>
          <p:cNvGrpSpPr/>
          <p:nvPr/>
        </p:nvGrpSpPr>
        <p:grpSpPr>
          <a:xfrm>
            <a:off x="6248400" y="3181350"/>
            <a:ext cx="5334000" cy="1657350"/>
            <a:chOff x="6248400" y="3181350"/>
            <a:chExt cx="5334000" cy="1657350"/>
          </a:xfrm>
        </p:grpSpPr>
        <p:sp>
          <p:nvSpPr>
            <p:cNvPr id="33" name="Rectangle 33"/>
            <p:cNvSpPr/>
            <p:nvPr/>
          </p:nvSpPr>
          <p:spPr>
            <a:xfrm>
              <a:off x="6248400" y="3181350"/>
              <a:ext cx="5334000" cy="1657350"/>
            </a:xfrm>
            <a:prstGeom prst="roundRect">
              <a:avLst>
                <a:gd name="adj" fmla="val 8046"/>
              </a:avLst>
            </a:prstGeom>
            <a:solidFill>
              <a:schemeClr val="accent5"/>
            </a:solidFill>
            <a:ln w="14288">
              <a:solidFill>
                <a:srgbClr val="26455F"/>
              </a:solidFill>
            </a:ln>
          </p:spPr>
        </p:sp>
        <p:sp>
          <p:nvSpPr>
            <p:cNvPr id="34" name="Rectangle 34"/>
            <p:cNvSpPr/>
            <p:nvPr/>
          </p:nvSpPr>
          <p:spPr>
            <a:xfrm>
              <a:off x="6248400" y="3181350"/>
              <a:ext cx="57150" cy="1657350"/>
            </a:xfrm>
            <a:prstGeom prst="roundRect">
              <a:avLst>
                <a:gd name="adj" fmla="val 50000"/>
              </a:avLst>
            </a:prstGeom>
            <a:solidFill>
              <a:schemeClr val="accent2"/>
            </a:solidFill>
            <a:ln>
              <a:noFill/>
            </a:ln>
          </p:spPr>
        </p:sp>
        <p:sp>
          <p:nvSpPr>
            <p:cNvPr id="35" name="TextBox 35"/>
            <p:cNvSpPr txBox="1"/>
            <p:nvPr/>
          </p:nvSpPr>
          <p:spPr>
            <a:xfrm>
              <a:off x="6508814" y="3409712"/>
              <a:ext cx="2840420"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Hue-shifted gains on harder sets</a:t>
              </a:r>
            </a:p>
          </p:txBody>
        </p:sp>
        <p:sp>
          <p:nvSpPr>
            <p:cNvPr id="36" name="Rectangle 36"/>
            <p:cNvSpPr/>
            <p:nvPr/>
          </p:nvSpPr>
          <p:spPr>
            <a:xfrm>
              <a:off x="6515100" y="3733800"/>
              <a:ext cx="2381250" cy="800100"/>
            </a:xfrm>
            <a:prstGeom prst="roundRect">
              <a:avLst>
                <a:gd name="adj" fmla="val 14286"/>
              </a:avLst>
            </a:prstGeom>
            <a:solidFill>
              <a:schemeClr val="accent6"/>
            </a:solidFill>
            <a:ln w="14288">
              <a:solidFill>
                <a:srgbClr val="26455F"/>
              </a:solidFill>
            </a:ln>
          </p:spPr>
        </p:sp>
        <p:sp>
          <p:nvSpPr>
            <p:cNvPr id="37" name="TextBox 37"/>
            <p:cNvSpPr txBox="1"/>
            <p:nvPr/>
          </p:nvSpPr>
          <p:spPr>
            <a:xfrm>
              <a:off x="7278918" y="3918623"/>
              <a:ext cx="853613" cy="418932"/>
            </a:xfrm>
            <a:prstGeom prst="rect">
              <a:avLst/>
            </a:prstGeom>
            <a:noFill/>
            <a:ln>
              <a:noFill/>
            </a:ln>
          </p:spPr>
          <p:txBody>
            <a:bodyPr wrap="none" lIns="0" tIns="0" rIns="0" bIns="0" anchor="t" anchorCtr="0">
              <a:spAutoFit/>
            </a:bodyPr>
            <a:lstStyle/>
            <a:p>
              <a:pPr algn="ctr"/>
              <a:r>
                <a:rPr lang="en-US" sz="2140" b="1" dirty="0">
                  <a:solidFill>
                    <a:schemeClr val="accent2"/>
                  </a:solidFill>
                  <a:latin typeface="+mn-lt"/>
                  <a:ea typeface="+mn-ea"/>
                  <a:cs typeface="+mn-cs"/>
                </a:rPr>
                <a:t>+15.1</a:t>
              </a:r>
            </a:p>
          </p:txBody>
        </p:sp>
        <p:sp>
          <p:nvSpPr>
            <p:cNvPr id="38" name="TextBox 38"/>
            <p:cNvSpPr txBox="1"/>
            <p:nvPr/>
          </p:nvSpPr>
          <p:spPr>
            <a:xfrm>
              <a:off x="7243540" y="4272677"/>
              <a:ext cx="92436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CIFAR-100 pts</a:t>
              </a:r>
            </a:p>
          </p:txBody>
        </p:sp>
        <p:sp>
          <p:nvSpPr>
            <p:cNvPr id="39" name="Rectangle 39"/>
            <p:cNvSpPr/>
            <p:nvPr/>
          </p:nvSpPr>
          <p:spPr>
            <a:xfrm>
              <a:off x="9163050" y="3733800"/>
              <a:ext cx="2381250" cy="800100"/>
            </a:xfrm>
            <a:prstGeom prst="roundRect">
              <a:avLst>
                <a:gd name="adj" fmla="val 14286"/>
              </a:avLst>
            </a:prstGeom>
            <a:solidFill>
              <a:schemeClr val="accent6"/>
            </a:solidFill>
            <a:ln w="14288">
              <a:solidFill>
                <a:srgbClr val="26455F"/>
              </a:solidFill>
            </a:ln>
          </p:spPr>
        </p:sp>
        <p:sp>
          <p:nvSpPr>
            <p:cNvPr id="40" name="TextBox 40"/>
            <p:cNvSpPr txBox="1"/>
            <p:nvPr/>
          </p:nvSpPr>
          <p:spPr>
            <a:xfrm>
              <a:off x="9926868" y="3918623"/>
              <a:ext cx="853613" cy="418932"/>
            </a:xfrm>
            <a:prstGeom prst="rect">
              <a:avLst/>
            </a:prstGeom>
            <a:noFill/>
            <a:ln>
              <a:noFill/>
            </a:ln>
          </p:spPr>
          <p:txBody>
            <a:bodyPr wrap="none" lIns="0" tIns="0" rIns="0" bIns="0" anchor="t" anchorCtr="0">
              <a:spAutoFit/>
            </a:bodyPr>
            <a:lstStyle/>
            <a:p>
              <a:pPr algn="ctr"/>
              <a:r>
                <a:rPr lang="en-US" sz="2140" b="1" dirty="0">
                  <a:solidFill>
                    <a:srgbClr val="34D3C0"/>
                  </a:solidFill>
                  <a:latin typeface="+mn-lt"/>
                  <a:ea typeface="+mn-ea"/>
                  <a:cs typeface="+mn-cs"/>
                </a:rPr>
                <a:t>+12.6</a:t>
              </a:r>
            </a:p>
          </p:txBody>
        </p:sp>
        <p:sp>
          <p:nvSpPr>
            <p:cNvPr id="41" name="TextBox 41"/>
            <p:cNvSpPr txBox="1"/>
            <p:nvPr/>
          </p:nvSpPr>
          <p:spPr>
            <a:xfrm>
              <a:off x="9756526" y="4272677"/>
              <a:ext cx="119429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Stanford Cars pts</a:t>
              </a:r>
            </a:p>
          </p:txBody>
        </p:sp>
        <p:sp>
          <p:nvSpPr>
            <p:cNvPr id="42" name="TextBox 42"/>
            <p:cNvSpPr txBox="1"/>
            <p:nvPr/>
          </p:nvSpPr>
          <p:spPr>
            <a:xfrm>
              <a:off x="6509956" y="4634151"/>
              <a:ext cx="2905814"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Consistent lifts on realistic benchmarks.</a:t>
              </a:r>
            </a:p>
          </p:txBody>
        </p:sp>
      </p:grpSp>
      <p:grpSp>
        <p:nvGrpSpPr>
          <p:cNvPr id="50" name="Group 50"/>
          <p:cNvGrpSpPr/>
          <p:nvPr/>
        </p:nvGrpSpPr>
        <p:grpSpPr>
          <a:xfrm>
            <a:off x="609600" y="4991100"/>
            <a:ext cx="10972800" cy="685800"/>
            <a:chOff x="609600" y="4991100"/>
            <a:chExt cx="10972800" cy="685800"/>
          </a:xfrm>
        </p:grpSpPr>
        <p:sp>
          <p:nvSpPr>
            <p:cNvPr id="44" name="Rectangle 44"/>
            <p:cNvSpPr/>
            <p:nvPr/>
          </p:nvSpPr>
          <p:spPr>
            <a:xfrm>
              <a:off x="609600" y="4991100"/>
              <a:ext cx="10972800" cy="685800"/>
            </a:xfrm>
            <a:prstGeom prst="roundRect">
              <a:avLst>
                <a:gd name="adj" fmla="val 19444"/>
              </a:avLst>
            </a:prstGeom>
            <a:solidFill>
              <a:srgbClr val="2A2417"/>
            </a:solidFill>
            <a:ln w="14288">
              <a:solidFill>
                <a:srgbClr val="F2C14E"/>
              </a:solidFill>
            </a:ln>
          </p:spPr>
        </p:sp>
        <p:sp>
          <p:nvSpPr>
            <p:cNvPr id="45" name="Rectangle 45"/>
            <p:cNvSpPr/>
            <p:nvPr/>
          </p:nvSpPr>
          <p:spPr>
            <a:xfrm>
              <a:off x="609600" y="4991100"/>
              <a:ext cx="57150" cy="685800"/>
            </a:xfrm>
            <a:prstGeom prst="roundRect">
              <a:avLst>
                <a:gd name="adj" fmla="val 50000"/>
              </a:avLst>
            </a:prstGeom>
            <a:solidFill>
              <a:srgbClr val="F2C14E"/>
            </a:solidFill>
            <a:ln>
              <a:noFill/>
            </a:ln>
          </p:spPr>
        </p:sp>
        <p:sp>
          <p:nvSpPr>
            <p:cNvPr id="46" name="TextBox 46"/>
            <p:cNvSpPr txBox="1"/>
            <p:nvPr/>
          </p:nvSpPr>
          <p:spPr>
            <a:xfrm>
              <a:off x="870394" y="5151358"/>
              <a:ext cx="2075145"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Modest compute overhead</a:t>
              </a:r>
            </a:p>
          </p:txBody>
        </p:sp>
        <p:sp>
          <p:nvSpPr>
            <p:cNvPr id="47" name="TextBox 47"/>
            <p:cNvSpPr txBox="1"/>
            <p:nvPr/>
          </p:nvSpPr>
          <p:spPr>
            <a:xfrm>
              <a:off x="871156" y="5396151"/>
              <a:ext cx="325562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Filter decomposition keeps the increase small.</a:t>
              </a:r>
            </a:p>
          </p:txBody>
        </p:sp>
        <p:sp>
          <p:nvSpPr>
            <p:cNvPr id="48" name="Rectangle 48"/>
            <p:cNvSpPr/>
            <p:nvPr/>
          </p:nvSpPr>
          <p:spPr>
            <a:xfrm>
              <a:off x="6858000" y="5105400"/>
              <a:ext cx="4495800" cy="457200"/>
            </a:xfrm>
            <a:prstGeom prst="roundRect">
              <a:avLst>
                <a:gd name="adj" fmla="val 16667"/>
              </a:avLst>
            </a:prstGeom>
            <a:solidFill>
              <a:schemeClr val="accent6"/>
            </a:solidFill>
            <a:ln w="14288">
              <a:solidFill>
                <a:srgbClr val="26455F"/>
              </a:solidFill>
            </a:ln>
          </p:spPr>
        </p:sp>
        <p:sp>
          <p:nvSpPr>
            <p:cNvPr id="49" name="TextBox 49"/>
            <p:cNvSpPr txBox="1"/>
            <p:nvPr/>
          </p:nvSpPr>
          <p:spPr>
            <a:xfrm>
              <a:off x="7495506" y="5285899"/>
              <a:ext cx="3220787"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MACs +|H_n|/k^2 + |H_n| · params +|H_n|/k^2 + 1</a:t>
              </a:r>
            </a:p>
          </p:txBody>
        </p:sp>
      </p:grpSp>
      <p:sp>
        <p:nvSpPr>
          <p:cNvPr id="51" name="cue_s09_c1_few_numbers_capture_impact_flowers_1" title="cue_s09_c1_few_numbers_capture_impact_flowers_1" descr="cue_s09_c1_few_numbers_capture_impact_flowers_1 A few numbers capture the impact. On Flowers-102 under hue shifts, accuracy nearly triples, from thirteen to thirty-three percent."/>
          <p:cNvSpPr/>
          <p:nvPr/>
        </p:nvSpPr>
        <p:spPr>
          <a:xfrm>
            <a:off x="609600" y="1599971"/>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9_c2_long_tailed_color_experiment_equivar" title="cue_s09_c2_long_tailed_color_experiment_equivar" descr="cue_s09_c2_long_tailed_color_experiment_equivar On the long-tailed color experiment the equivariant network gains almost twenty points over the baseline."/>
          <p:cNvSpPr/>
          <p:nvPr/>
        </p:nvSpPr>
        <p:spPr>
          <a:xfrm>
            <a:off x="609600" y="3181426"/>
            <a:ext cx="5334000" cy="1657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9_c3_cifar_100_improves_fifteen_points_st" title="cue_s09_c3_cifar_100_improves_fifteen_points_st" descr="cue_s09_c3_cifar_100_improves_fifteen_points_st CIFAR-100 improves by fifteen points and Stanford Cars by roughly thirteen points on hue-shifted tests."/>
          <p:cNvSpPr/>
          <p:nvPr/>
        </p:nvSpPr>
        <p:spPr>
          <a:xfrm>
            <a:off x="6248399" y="3181426"/>
            <a:ext cx="5334000" cy="1657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9_c4_all_comes_modest_compute_overhead" title="cue_s09_c4_all_comes_modest_compute_overhead" descr="cue_s09_c4_all_comes_modest_compute_overhead And all of this comes at a modest compute overhead, since the filter decomposition keeps the increase in operations and parameters to a small factor of the number of hue rotations."/>
          <p:cNvSpPr/>
          <p:nvPr/>
        </p:nvSpPr>
        <p:spPr>
          <a:xfrm>
            <a:off x="609600" y="4991252"/>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60597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Give color the equivariance it deserves</a:t>
            </a:r>
          </a:p>
        </p:txBody>
      </p:sp>
      <p:grpSp>
        <p:nvGrpSpPr>
          <p:cNvPr id="11" name="Group 11"/>
          <p:cNvGrpSpPr/>
          <p:nvPr/>
        </p:nvGrpSpPr>
        <p:grpSpPr>
          <a:xfrm>
            <a:off x="609600" y="1676400"/>
            <a:ext cx="10972800" cy="1104900"/>
            <a:chOff x="609600" y="1676400"/>
            <a:chExt cx="10972800" cy="1104900"/>
          </a:xfrm>
        </p:grpSpPr>
        <p:sp>
          <p:nvSpPr>
            <p:cNvPr id="5" name="Rectangle 5"/>
            <p:cNvSpPr/>
            <p:nvPr/>
          </p:nvSpPr>
          <p:spPr>
            <a:xfrm>
              <a:off x="609600" y="1676400"/>
              <a:ext cx="10972800" cy="1104900"/>
            </a:xfrm>
            <a:prstGeom prst="roundRect">
              <a:avLst>
                <a:gd name="adj" fmla="val 12069"/>
              </a:avLst>
            </a:prstGeom>
            <a:solidFill>
              <a:schemeClr val="accent5"/>
            </a:solidFill>
            <a:ln w="14288">
              <a:solidFill>
                <a:srgbClr val="26455F"/>
              </a:solidFill>
            </a:ln>
          </p:spPr>
        </p:sp>
        <p:sp>
          <p:nvSpPr>
            <p:cNvPr id="6" name="Rectangle 6"/>
            <p:cNvSpPr/>
            <p:nvPr/>
          </p:nvSpPr>
          <p:spPr>
            <a:xfrm>
              <a:off x="609600" y="1676400"/>
              <a:ext cx="57150" cy="1104900"/>
            </a:xfrm>
            <a:prstGeom prst="roundRect">
              <a:avLst>
                <a:gd name="adj" fmla="val 50000"/>
              </a:avLst>
            </a:prstGeom>
            <a:solidFill>
              <a:schemeClr val="accent2"/>
            </a:solidFill>
            <a:ln>
              <a:noFill/>
            </a:ln>
          </p:spPr>
        </p:sp>
        <p:sp>
          <p:nvSpPr>
            <p:cNvPr id="7" name="Ellipse 7"/>
            <p:cNvSpPr/>
            <p:nvPr/>
          </p:nvSpPr>
          <p:spPr>
            <a:xfrm>
              <a:off x="971550" y="2133600"/>
              <a:ext cx="190500" cy="190500"/>
            </a:xfrm>
            <a:prstGeom prst="ellipse">
              <a:avLst/>
            </a:prstGeom>
            <a:solidFill>
              <a:schemeClr val="accent2"/>
            </a:solidFill>
            <a:ln>
              <a:noFill/>
            </a:ln>
          </p:spPr>
        </p:sp>
        <p:sp>
          <p:nvSpPr>
            <p:cNvPr id="8" name="TextBox 8"/>
            <p:cNvSpPr txBox="1"/>
            <p:nvPr/>
          </p:nvSpPr>
          <p:spPr>
            <a:xfrm>
              <a:off x="1421511" y="1960721"/>
              <a:ext cx="314195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Color deserves equivariance too</a:t>
              </a:r>
            </a:p>
          </p:txBody>
        </p:sp>
        <p:sp>
          <p:nvSpPr>
            <p:cNvPr id="9" name="TextBox 9"/>
            <p:cNvSpPr txBox="1"/>
            <p:nvPr/>
          </p:nvSpPr>
          <p:spPr>
            <a:xfrm>
              <a:off x="1422844" y="2293858"/>
              <a:ext cx="688793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Hue shifts deserve the same equivariance treatment that rotations and translations have</a:t>
              </a:r>
            </a:p>
          </p:txBody>
        </p:sp>
        <p:sp>
          <p:nvSpPr>
            <p:cNvPr id="10" name="TextBox 10"/>
            <p:cNvSpPr txBox="1"/>
            <p:nvPr/>
          </p:nvSpPr>
          <p:spPr>
            <a:xfrm>
              <a:off x="1422844" y="2522458"/>
              <a:ext cx="101123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long enjoyed.</a:t>
              </a:r>
            </a:p>
          </p:txBody>
        </p:sp>
      </p:grpSp>
      <p:grpSp>
        <p:nvGrpSpPr>
          <p:cNvPr id="18" name="Group 18"/>
          <p:cNvGrpSpPr/>
          <p:nvPr/>
        </p:nvGrpSpPr>
        <p:grpSpPr>
          <a:xfrm>
            <a:off x="609600" y="2933700"/>
            <a:ext cx="10972800" cy="1104900"/>
            <a:chOff x="609600" y="2933700"/>
            <a:chExt cx="10972800" cy="1104900"/>
          </a:xfrm>
        </p:grpSpPr>
        <p:sp>
          <p:nvSpPr>
            <p:cNvPr id="12" name="Rectangle 12"/>
            <p:cNvSpPr/>
            <p:nvPr/>
          </p:nvSpPr>
          <p:spPr>
            <a:xfrm>
              <a:off x="609600" y="2933700"/>
              <a:ext cx="10972800" cy="1104900"/>
            </a:xfrm>
            <a:prstGeom prst="roundRect">
              <a:avLst>
                <a:gd name="adj" fmla="val 12069"/>
              </a:avLst>
            </a:prstGeom>
            <a:solidFill>
              <a:schemeClr val="accent5"/>
            </a:solidFill>
            <a:ln w="14288">
              <a:solidFill>
                <a:srgbClr val="26455F"/>
              </a:solidFill>
            </a:ln>
          </p:spPr>
        </p:sp>
        <p:sp>
          <p:nvSpPr>
            <p:cNvPr id="13" name="Rectangle 13"/>
            <p:cNvSpPr/>
            <p:nvPr/>
          </p:nvSpPr>
          <p:spPr>
            <a:xfrm>
              <a:off x="609600" y="2933700"/>
              <a:ext cx="57150" cy="1104900"/>
            </a:xfrm>
            <a:prstGeom prst="roundRect">
              <a:avLst>
                <a:gd name="adj" fmla="val 50000"/>
              </a:avLst>
            </a:prstGeom>
            <a:solidFill>
              <a:srgbClr val="34D3C0"/>
            </a:solidFill>
            <a:ln>
              <a:noFill/>
            </a:ln>
          </p:spPr>
        </p:sp>
        <p:sp>
          <p:nvSpPr>
            <p:cNvPr id="14" name="Ellipse 14"/>
            <p:cNvSpPr/>
            <p:nvPr/>
          </p:nvSpPr>
          <p:spPr>
            <a:xfrm>
              <a:off x="971550" y="3390900"/>
              <a:ext cx="190500" cy="190500"/>
            </a:xfrm>
            <a:prstGeom prst="ellipse">
              <a:avLst/>
            </a:prstGeom>
            <a:solidFill>
              <a:srgbClr val="34D3C0"/>
            </a:solidFill>
            <a:ln>
              <a:noFill/>
            </a:ln>
          </p:spPr>
        </p:sp>
        <p:sp>
          <p:nvSpPr>
            <p:cNvPr id="15" name="TextBox 15"/>
            <p:cNvSpPr txBox="1"/>
            <p:nvPr/>
          </p:nvSpPr>
          <p:spPr>
            <a:xfrm>
              <a:off x="1421511" y="3218021"/>
              <a:ext cx="191842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Do both, not either</a:t>
              </a:r>
            </a:p>
          </p:txBody>
        </p:sp>
        <p:sp>
          <p:nvSpPr>
            <p:cNvPr id="16" name="TextBox 16"/>
            <p:cNvSpPr txBox="1"/>
            <p:nvPr/>
          </p:nvSpPr>
          <p:spPr>
            <a:xfrm>
              <a:off x="1422844" y="3551158"/>
              <a:ext cx="666916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Instead of choosing between exploiting color and being robust to color change, CEConvs</a:t>
              </a:r>
            </a:p>
          </p:txBody>
        </p:sp>
        <p:sp>
          <p:nvSpPr>
            <p:cNvPr id="17" name="TextBox 17"/>
            <p:cNvSpPr txBox="1"/>
            <p:nvPr/>
          </p:nvSpPr>
          <p:spPr>
            <a:xfrm>
              <a:off x="1422844" y="3779758"/>
              <a:ext cx="566477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share shape across the spectrum while keeping color in its own dimension.</a:t>
              </a:r>
            </a:p>
          </p:txBody>
        </p:sp>
      </p:grpSp>
      <p:grpSp>
        <p:nvGrpSpPr>
          <p:cNvPr id="25" name="Group 25"/>
          <p:cNvGrpSpPr/>
          <p:nvPr/>
        </p:nvGrpSpPr>
        <p:grpSpPr>
          <a:xfrm>
            <a:off x="609600" y="4191000"/>
            <a:ext cx="10972800" cy="1104900"/>
            <a:chOff x="609600" y="4191000"/>
            <a:chExt cx="10972800" cy="1104900"/>
          </a:xfrm>
        </p:grpSpPr>
        <p:sp>
          <p:nvSpPr>
            <p:cNvPr id="19" name="Rectangle 19"/>
            <p:cNvSpPr/>
            <p:nvPr/>
          </p:nvSpPr>
          <p:spPr>
            <a:xfrm>
              <a:off x="609600" y="4191000"/>
              <a:ext cx="10972800" cy="1104900"/>
            </a:xfrm>
            <a:prstGeom prst="roundRect">
              <a:avLst>
                <a:gd name="adj" fmla="val 12069"/>
              </a:avLst>
            </a:prstGeom>
            <a:solidFill>
              <a:schemeClr val="accent5"/>
            </a:solidFill>
            <a:ln w="14288">
              <a:solidFill>
                <a:srgbClr val="26455F"/>
              </a:solidFill>
            </a:ln>
          </p:spPr>
        </p:sp>
        <p:sp>
          <p:nvSpPr>
            <p:cNvPr id="20" name="Rectangle 20"/>
            <p:cNvSpPr/>
            <p:nvPr/>
          </p:nvSpPr>
          <p:spPr>
            <a:xfrm>
              <a:off x="609600" y="4191000"/>
              <a:ext cx="57150" cy="1104900"/>
            </a:xfrm>
            <a:prstGeom prst="roundRect">
              <a:avLst>
                <a:gd name="adj" fmla="val 50000"/>
              </a:avLst>
            </a:prstGeom>
            <a:solidFill>
              <a:srgbClr val="48C78E"/>
            </a:solidFill>
            <a:ln>
              <a:noFill/>
            </a:ln>
          </p:spPr>
        </p:sp>
        <p:sp>
          <p:nvSpPr>
            <p:cNvPr id="21" name="Ellipse 21"/>
            <p:cNvSpPr/>
            <p:nvPr/>
          </p:nvSpPr>
          <p:spPr>
            <a:xfrm>
              <a:off x="971550" y="4648200"/>
              <a:ext cx="190500" cy="190500"/>
            </a:xfrm>
            <a:prstGeom prst="ellipse">
              <a:avLst/>
            </a:prstGeom>
            <a:solidFill>
              <a:srgbClr val="48C78E"/>
            </a:solidFill>
            <a:ln>
              <a:noFill/>
            </a:ln>
          </p:spPr>
        </p:sp>
        <p:sp>
          <p:nvSpPr>
            <p:cNvPr id="22" name="TextBox 22"/>
            <p:cNvSpPr txBox="1"/>
            <p:nvPr/>
          </p:nvSpPr>
          <p:spPr>
            <a:xfrm>
              <a:off x="1421511" y="4475321"/>
              <a:ext cx="203804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Practical and plug-in</a:t>
              </a:r>
            </a:p>
          </p:txBody>
        </p:sp>
        <p:sp>
          <p:nvSpPr>
            <p:cNvPr id="23" name="TextBox 23"/>
            <p:cNvSpPr txBox="1"/>
            <p:nvPr/>
          </p:nvSpPr>
          <p:spPr>
            <a:xfrm>
              <a:off x="1422844" y="4808458"/>
              <a:ext cx="676304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block drops into standard architectures, plays well with augmentation, and delivers</a:t>
              </a:r>
            </a:p>
          </p:txBody>
        </p:sp>
        <p:sp>
          <p:nvSpPr>
            <p:cNvPr id="24" name="TextBox 24"/>
            <p:cNvSpPr txBox="1"/>
            <p:nvPr/>
          </p:nvSpPr>
          <p:spPr>
            <a:xfrm>
              <a:off x="1422844" y="5037058"/>
              <a:ext cx="415003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its largest gains precisely where color matters most.</a:t>
              </a:r>
            </a:p>
          </p:txBody>
        </p:sp>
      </p:grpSp>
      <p:sp>
        <p:nvSpPr>
          <p:cNvPr id="26" name="Line 26"/>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7" name="Rectangle 27"/>
          <p:cNvSpPr/>
          <p:nvPr/>
        </p:nvSpPr>
        <p:spPr>
          <a:xfrm>
            <a:off x="609600" y="5848350"/>
            <a:ext cx="209550" cy="209550"/>
          </a:xfrm>
          <a:prstGeom prst="roundRect">
            <a:avLst>
              <a:gd name="adj" fmla="val 22727"/>
            </a:avLst>
          </a:prstGeom>
          <a:solidFill>
            <a:srgbClr val="F2685C"/>
          </a:solidFill>
          <a:ln>
            <a:noFill/>
          </a:ln>
        </p:spPr>
        <p:txBody>
          <a:bodyPr/>
          <a:p/>
        </p:txBody>
      </p:sp>
      <p:sp>
        <p:nvSpPr>
          <p:cNvPr id="28" name="Rectangle 28"/>
          <p:cNvSpPr/>
          <p:nvPr/>
        </p:nvSpPr>
        <p:spPr>
          <a:xfrm>
            <a:off x="914400" y="5848350"/>
            <a:ext cx="209550" cy="209550"/>
          </a:xfrm>
          <a:prstGeom prst="roundRect">
            <a:avLst>
              <a:gd name="adj" fmla="val 22727"/>
            </a:avLst>
          </a:prstGeom>
          <a:solidFill>
            <a:srgbClr val="F2A24E"/>
          </a:solidFill>
          <a:ln>
            <a:noFill/>
          </a:ln>
        </p:spPr>
        <p:txBody>
          <a:bodyPr/>
          <a:p/>
        </p:txBody>
      </p:sp>
      <p:sp>
        <p:nvSpPr>
          <p:cNvPr id="29" name="Rectangle 29"/>
          <p:cNvSpPr/>
          <p:nvPr/>
        </p:nvSpPr>
        <p:spPr>
          <a:xfrm>
            <a:off x="1219200" y="5848350"/>
            <a:ext cx="209550" cy="209550"/>
          </a:xfrm>
          <a:prstGeom prst="roundRect">
            <a:avLst>
              <a:gd name="adj" fmla="val 22727"/>
            </a:avLst>
          </a:prstGeom>
          <a:solidFill>
            <a:srgbClr val="F2C14E"/>
          </a:solidFill>
          <a:ln>
            <a:noFill/>
          </a:ln>
        </p:spPr>
        <p:txBody>
          <a:bodyPr/>
          <a:p/>
        </p:txBody>
      </p:sp>
      <p:sp>
        <p:nvSpPr>
          <p:cNvPr id="30" name="Rectangle 30"/>
          <p:cNvSpPr/>
          <p:nvPr/>
        </p:nvSpPr>
        <p:spPr>
          <a:xfrm>
            <a:off x="1524000" y="5848350"/>
            <a:ext cx="209550" cy="209550"/>
          </a:xfrm>
          <a:prstGeom prst="roundRect">
            <a:avLst>
              <a:gd name="adj" fmla="val 22727"/>
            </a:avLst>
          </a:prstGeom>
          <a:solidFill>
            <a:srgbClr val="48C78E"/>
          </a:solidFill>
          <a:ln>
            <a:noFill/>
          </a:ln>
        </p:spPr>
        <p:txBody>
          <a:bodyPr/>
          <a:p/>
        </p:txBody>
      </p:sp>
      <p:sp>
        <p:nvSpPr>
          <p:cNvPr id="31" name="Rectangle 31"/>
          <p:cNvSpPr/>
          <p:nvPr/>
        </p:nvSpPr>
        <p:spPr>
          <a:xfrm>
            <a:off x="1828800" y="5848350"/>
            <a:ext cx="209550" cy="209550"/>
          </a:xfrm>
          <a:prstGeom prst="roundRect">
            <a:avLst>
              <a:gd name="adj" fmla="val 22727"/>
            </a:avLst>
          </a:prstGeom>
          <a:solidFill>
            <a:srgbClr val="34D3C0"/>
          </a:solidFill>
          <a:ln>
            <a:noFill/>
          </a:ln>
        </p:spPr>
        <p:txBody>
          <a:bodyPr/>
          <a:p/>
        </p:txBody>
      </p:sp>
      <p:sp>
        <p:nvSpPr>
          <p:cNvPr id="32" name="Rectangle 32"/>
          <p:cNvSpPr/>
          <p:nvPr/>
        </p:nvSpPr>
        <p:spPr>
          <a:xfrm>
            <a:off x="2133600" y="5848350"/>
            <a:ext cx="209550" cy="209550"/>
          </a:xfrm>
          <a:prstGeom prst="roundRect">
            <a:avLst>
              <a:gd name="adj" fmla="val 22727"/>
            </a:avLst>
          </a:prstGeom>
          <a:solidFill>
            <a:schemeClr val="accent2"/>
          </a:solidFill>
          <a:ln>
            <a:noFill/>
          </a:ln>
        </p:spPr>
        <p:txBody>
          <a:bodyPr/>
          <a:p/>
        </p:txBody>
      </p:sp>
      <p:sp>
        <p:nvSpPr>
          <p:cNvPr id="33" name="Rectangle 33"/>
          <p:cNvSpPr/>
          <p:nvPr/>
        </p:nvSpPr>
        <p:spPr>
          <a:xfrm>
            <a:off x="2438400" y="5848350"/>
            <a:ext cx="209550" cy="209550"/>
          </a:xfrm>
          <a:prstGeom prst="roundRect">
            <a:avLst>
              <a:gd name="adj" fmla="val 22727"/>
            </a:avLst>
          </a:prstGeom>
          <a:solidFill>
            <a:srgbClr val="9B7BE8"/>
          </a:solidFill>
          <a:ln>
            <a:noFill/>
          </a:ln>
        </p:spPr>
        <p:txBody>
          <a:bodyPr/>
          <a:p/>
        </p:txBody>
      </p:sp>
      <p:sp>
        <p:nvSpPr>
          <p:cNvPr id="34" name="TextBox 34"/>
          <p:cNvSpPr txBox="1"/>
          <p:nvPr/>
        </p:nvSpPr>
        <p:spPr>
          <a:xfrm>
            <a:off x="6043483" y="5906452"/>
            <a:ext cx="554425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Color Equivariant Convolutional Networks · NeurIPS 2023 · arXiv:2310.19368</a:t>
            </a:r>
          </a:p>
        </p:txBody>
      </p:sp>
      <p:sp>
        <p:nvSpPr>
          <p:cNvPr id="35" name="cue_s10_c1_lasting_message_color_deserves_same" title="cue_s10_c1_lasting_message_color_deserves_same" descr="cue_s10_c1_lasting_message_color_deserves_same The lasting message is that color deserves the same equivariance treatment that rotations and translations have long enjoyed."/>
          <p:cNvSpPr/>
          <p:nvPr/>
        </p:nvSpPr>
        <p:spPr>
          <a:xfrm>
            <a:off x="609600" y="167609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2_instead_choosing_between_exploiting" title="cue_s10_c2_instead_choosing_between_exploiting" descr="cue_s10_c2_instead_choosing_between_exploiting Instead of choosing between exploiting color and being robust to color changes, Color Equivariant Convolutions let a network do both, by sharing shape information across the color spectrum while keeping color in its own dimension."/>
          <p:cNvSpPr/>
          <p:nvPr/>
        </p:nvSpPr>
        <p:spPr>
          <a:xfrm>
            <a:off x="609600" y="2933852"/>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3_block_plugs_standard_architectures_p" title="cue_s10_c3_block_plugs_standard_architectures_p" descr="cue_s10_c3_block_plugs_standard_architectures_p The block plugs into standard architectures, plays well with augmentation, and delivers its largest gains precisely where color matters most, offering a practical route to color-robust recognition."/>
          <p:cNvSpPr/>
          <p:nvPr/>
        </p:nvSpPr>
        <p:spPr>
          <a:xfrm>
            <a:off x="609600" y="4190923"/>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2026-07-16T08:14:17Z</dcterms:created>
  <dcterms:modified xsi:type="dcterms:W3CDTF">2026-07-16T08:14:17Z</dcterms:modified>
  <cp:category/>
  <cp:contentStatus/>
</cp:coreProperties>
</file>
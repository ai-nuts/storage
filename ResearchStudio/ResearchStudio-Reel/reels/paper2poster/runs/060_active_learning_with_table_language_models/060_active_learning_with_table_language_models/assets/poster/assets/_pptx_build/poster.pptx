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3108305"/>
          </a:xfrm>
          <a:prstGeom prst="roundRect">
            <a:avLst>
              <a:gd name="adj" fmla="val 4576"/>
            </a:avLst>
          </a:prstGeom>
          <a:solidFill>
            <a:srgbClr val="E9ECF3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4281646"/>
            <a:ext cx="7681376" cy="10330458"/>
          </a:xfrm>
          <a:prstGeom prst="roundRect">
            <a:avLst>
              <a:gd name="adj" fmla="val 1080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59983" y="4281646"/>
            <a:ext cx="23289994" cy="25790306"/>
          </a:xfrm>
          <a:prstGeom prst="roundRect">
            <a:avLst>
              <a:gd name="adj" fmla="val 356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476697" y="4281646"/>
            <a:ext cx="9601756" cy="11484769"/>
          </a:xfrm>
          <a:prstGeom prst="roundRect">
            <a:avLst>
              <a:gd name="adj" fmla="val 864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05173" y="4281646"/>
            <a:ext cx="8049339" cy="5814615"/>
          </a:xfrm>
          <a:prstGeom prst="roundRect">
            <a:avLst>
              <a:gd name="adj" fmla="val 1426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505173" y="10428108"/>
            <a:ext cx="8049339" cy="5676127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1887" y="14943951"/>
            <a:ext cx="7681376" cy="15128001"/>
          </a:xfrm>
          <a:prstGeom prst="roundRect">
            <a:avLst>
              <a:gd name="adj" fmla="val 1080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476697" y="16098262"/>
            <a:ext cx="9601756" cy="13973690"/>
          </a:xfrm>
          <a:prstGeom prst="roundRect">
            <a:avLst>
              <a:gd name="adj" fmla="val 864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505173" y="16436082"/>
            <a:ext cx="8049339" cy="7936130"/>
          </a:xfrm>
          <a:prstGeom prst="roundRect">
            <a:avLst>
              <a:gd name="adj" fmla="val 1045"/>
            </a:avLst>
          </a:prstGeom>
          <a:solidFill>
            <a:srgbClr val="EEF0F4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05173" y="16436082"/>
            <a:ext cx="53340" cy="7936130"/>
          </a:xfrm>
          <a:prstGeom prst="rect">
            <a:avLst/>
          </a:prstGeom>
          <a:solidFill>
            <a:srgbClr val="3341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505173" y="24704059"/>
            <a:ext cx="8049339" cy="5367893"/>
          </a:xfrm>
          <a:prstGeom prst="roundRect">
            <a:avLst>
              <a:gd name="adj" fmla="val 1545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7185" y="1257799"/>
            <a:ext cx="4344988" cy="1896480"/>
          </a:xfrm>
          <a:prstGeom prst="rect">
            <a:avLst/>
          </a:prstGeom>
        </p:spPr>
      </p:pic>
      <p:pic>
        <p:nvPicPr>
          <p:cNvPr id="14" name="Picture 13" descr="siemens-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339" y="1539224"/>
            <a:ext cx="8386743" cy="1333492"/>
          </a:xfrm>
          <a:prstGeom prst="rect">
            <a:avLst/>
          </a:prstGeom>
        </p:spPr>
      </p:pic>
      <p:pic>
        <p:nvPicPr>
          <p:cNvPr id="15" name="Picture 14" descr="lmu-muni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8056" y="1539250"/>
            <a:ext cx="2800628" cy="1333439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039991" y="4669750"/>
            <a:ext cx="3442791" cy="924560"/>
          </a:xfrm>
          <a:prstGeom prst="roundRect">
            <a:avLst>
              <a:gd name="adj" fmla="val 10256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8087" y="4669750"/>
            <a:ext cx="3125391" cy="924560"/>
          </a:xfrm>
          <a:prstGeom prst="roundRect">
            <a:avLst>
              <a:gd name="adj" fmla="val 10256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864802" y="4669750"/>
            <a:ext cx="7633315" cy="924560"/>
          </a:xfrm>
          <a:prstGeom prst="roundRect">
            <a:avLst>
              <a:gd name="adj" fmla="val 10256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893277" y="4669750"/>
            <a:ext cx="5615008" cy="924560"/>
          </a:xfrm>
          <a:prstGeom prst="roundRect">
            <a:avLst>
              <a:gd name="adj" fmla="val 10256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8087" y="10383658"/>
            <a:ext cx="22513786" cy="3764777"/>
          </a:xfrm>
          <a:prstGeom prst="roundRect">
            <a:avLst>
              <a:gd name="adj" fmla="val 5984"/>
            </a:avLst>
          </a:prstGeom>
          <a:solidFill>
            <a:srgbClr val="F3F4F5"/>
          </a:solidFill>
          <a:ln w="8890">
            <a:solidFill>
              <a:srgbClr val="BD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39991" y="10712311"/>
            <a:ext cx="6905168" cy="351502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39991" y="10712311"/>
            <a:ext cx="124460" cy="3515022"/>
          </a:xfrm>
          <a:prstGeom prst="rect">
            <a:avLst/>
          </a:prstGeom>
          <a:solidFill>
            <a:srgbClr val="3341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893277" y="10816212"/>
            <a:ext cx="6841828" cy="924560"/>
          </a:xfrm>
          <a:prstGeom prst="roundRect">
            <a:avLst>
              <a:gd name="adj" fmla="val 10256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893277" y="12060812"/>
            <a:ext cx="7273131" cy="3659347"/>
          </a:xfrm>
          <a:prstGeom prst="roundRect">
            <a:avLst>
              <a:gd name="adj" fmla="val 1943"/>
            </a:avLst>
          </a:prstGeom>
          <a:gradFill rotWithShape="1" flip="none">
            <a:gsLst>
              <a:gs pos="0">
                <a:srgbClr val="E7E8EC"/>
              </a:gs>
              <a:gs pos="100000">
                <a:srgbClr val="F3F4F5"/>
              </a:gs>
            </a:gsLst>
            <a:lin ang="5400000" scaled="0"/>
          </a:gradFill>
          <a:ln w="8890">
            <a:solidFill>
              <a:srgbClr val="CCCFD7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39991" y="15332055"/>
            <a:ext cx="4153019" cy="924560"/>
          </a:xfrm>
          <a:prstGeom prst="roundRect">
            <a:avLst>
              <a:gd name="adj" fmla="val 10256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2864802" y="16486366"/>
            <a:ext cx="4668639" cy="924560"/>
          </a:xfrm>
          <a:prstGeom prst="roundRect">
            <a:avLst>
              <a:gd name="adj" fmla="val 10256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937727" y="16824186"/>
            <a:ext cx="3905349" cy="924560"/>
          </a:xfrm>
          <a:prstGeom prst="roundRect">
            <a:avLst>
              <a:gd name="adj" fmla="val 10256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2937727" y="18252975"/>
            <a:ext cx="7228681" cy="5736828"/>
          </a:xfrm>
          <a:prstGeom prst="roundRect">
            <a:avLst>
              <a:gd name="adj" fmla="val 3636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2864802" y="26214943"/>
            <a:ext cx="8825547" cy="3473628"/>
          </a:xfrm>
          <a:prstGeom prst="roundRect">
            <a:avLst>
              <a:gd name="adj" fmla="val 6005"/>
            </a:avLst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39991" y="26260365"/>
            <a:ext cx="6905168" cy="3428623"/>
          </a:xfrm>
          <a:prstGeom prst="roundRect">
            <a:avLst>
              <a:gd name="adj" fmla="val 5324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39991" y="26260365"/>
            <a:ext cx="124460" cy="3428623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936838" y="12283062"/>
            <a:ext cx="2983706" cy="32623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936838" y="12283062"/>
            <a:ext cx="11557" cy="3262353"/>
          </a:xfrm>
          <a:prstGeom prst="rect">
            <a:avLst/>
          </a:prstGeom>
          <a:solidFill>
            <a:srgbClr val="CCCF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480073" y="14549874"/>
            <a:ext cx="21849676" cy="14410412"/>
          </a:xfrm>
          <a:prstGeom prst="roundRect">
            <a:avLst>
              <a:gd name="adj" fmla="val 246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figur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0088" y="14549874"/>
            <a:ext cx="21849646" cy="14410412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32864802" y="18521898"/>
            <a:ext cx="8825547" cy="5883652"/>
          </a:xfrm>
          <a:prstGeom prst="roundRect">
            <a:avLst>
              <a:gd name="adj" fmla="val 604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figur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64836" y="18521898"/>
            <a:ext cx="8825478" cy="5883652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1529496" y="26416773"/>
            <a:ext cx="1473796" cy="638691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FIRST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893277" y="8910558"/>
            <a:ext cx="7273131" cy="797183"/>
          </a:xfrm>
          <a:prstGeom prst="rect">
            <a:avLst/>
          </a:prstGeom>
          <a:solidFill>
            <a:srgbClr val="EA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6256614" y="25092163"/>
            <a:ext cx="3907850" cy="3907850"/>
          </a:xfrm>
          <a:prstGeom prst="roundRect">
            <a:avLst>
              <a:gd name="adj" fmla="val 3943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pap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75147" y="25210696"/>
            <a:ext cx="3670784" cy="3670784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47565528" y="29142253"/>
            <a:ext cx="1290022" cy="541595"/>
          </a:xfrm>
          <a:prstGeom prst="roundRect">
            <a:avLst>
              <a:gd name="adj" fmla="val 50000"/>
            </a:avLst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33415E"/>
                </a:solidFill>
                <a:latin typeface="Arial"/>
              </a:rPr>
              <a:t>Paper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893277" y="5923379"/>
            <a:ext cx="2042617" cy="59563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893277" y="6510119"/>
            <a:ext cx="2042617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935894" y="5923379"/>
            <a:ext cx="2633940" cy="59563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935894" y="6510119"/>
            <a:ext cx="2633940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569834" y="5923379"/>
            <a:ext cx="2596574" cy="59563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569834" y="6510119"/>
            <a:ext cx="2596574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2893277" y="6519009"/>
            <a:ext cx="2042617" cy="79718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2893277" y="7307302"/>
            <a:ext cx="2042617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4935894" y="6519009"/>
            <a:ext cx="2633940" cy="79718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4935894" y="7307302"/>
            <a:ext cx="2633940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7569834" y="6519009"/>
            <a:ext cx="2596574" cy="79718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7569834" y="7307302"/>
            <a:ext cx="2596574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2893277" y="7316192"/>
            <a:ext cx="2042617" cy="79718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893277" y="8104485"/>
            <a:ext cx="2042617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4935894" y="7316192"/>
            <a:ext cx="2633940" cy="79718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4935894" y="8104485"/>
            <a:ext cx="2633940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7569834" y="7316192"/>
            <a:ext cx="2596574" cy="79718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7569834" y="8104485"/>
            <a:ext cx="2596574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2893277" y="8113375"/>
            <a:ext cx="2042617" cy="79718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2893277" y="8901668"/>
            <a:ext cx="2042617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4935894" y="8113375"/>
            <a:ext cx="2633940" cy="79718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4935894" y="8901668"/>
            <a:ext cx="2633940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7569834" y="8113375"/>
            <a:ext cx="2596574" cy="79718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7569834" y="8901668"/>
            <a:ext cx="2596574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893277" y="8910558"/>
            <a:ext cx="2042617" cy="79718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2893277" y="9698851"/>
            <a:ext cx="2042617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4935894" y="8910558"/>
            <a:ext cx="2633940" cy="79718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4935894" y="9698851"/>
            <a:ext cx="2633940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7569834" y="8910558"/>
            <a:ext cx="2596574" cy="79718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7569834" y="9698851"/>
            <a:ext cx="2596574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3446402" y="983734"/>
            <a:ext cx="24740176" cy="12594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8624"/>
              </a:lnSpc>
              <a:spcBef>
                <a:spcPts val="0"/>
              </a:spcBef>
              <a:spcAft>
                <a:spcPts val="0"/>
              </a:spcAft>
            </a:pPr>
            <a:r>
              <a:rPr sz="7840" b="1" spc="-78">
                <a:solidFill>
                  <a:srgbClr val="33415E"/>
                </a:solidFill>
                <a:latin typeface="Arial"/>
              </a:rPr>
              <a:t>Active Learning with Tabular Language Models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446402" y="2277923"/>
            <a:ext cx="24740176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B2331"/>
                </a:solidFill>
                <a:latin typeface="Arial"/>
              </a:rPr>
              <a:t>Martin Ringsquandl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Aneta Koleva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1,2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3446402" y="2947173"/>
            <a:ext cx="24740176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Siemens AG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LMU Munich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9991" y="4669750"/>
            <a:ext cx="3546074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Problem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48087" y="4669750"/>
            <a:ext cx="3219152" cy="1063244"/>
          </a:xfrm>
          <a:prstGeom prst="rect">
            <a:avLst/>
          </a:prstGeom>
          <a:noFill/>
        </p:spPr>
        <p:txBody>
          <a:bodyPr wrap="non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Method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2864802" y="4669750"/>
            <a:ext cx="7862314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Dataset / Benchmark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893277" y="4669750"/>
            <a:ext cx="5783458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Ablation Study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39991" y="5914350"/>
            <a:ext cx="7112323" cy="52178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Fine-tuning tabular language models needs many labels, but only scarce experts can annotate the technical tables — making labels prohibitively expensive.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39991" y="10712311"/>
            <a:ext cx="7112323" cy="4042275"/>
          </a:xfrm>
          <a:prstGeom prst="rect">
            <a:avLst/>
          </a:prstGeom>
          <a:noFill/>
        </p:spPr>
        <p:txBody>
          <a:bodyPr wrap="squar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Sub-cell NER is </a:t>
            </a:r>
            <a:r>
              <a:rPr sz="4106" b="1" i="1">
                <a:solidFill>
                  <a:srgbClr val="111111"/>
                </a:solidFill>
                <a:latin typeface="Arial"/>
              </a:rPr>
              <a:t>nested multi-instance</a:t>
            </a:r>
            <a:r>
              <a:rPr sz="4106" b="0" i="1">
                <a:solidFill>
                  <a:srgbClr val="1C1C1C"/>
                </a:solidFill>
                <a:latin typeface="Arial"/>
              </a:rPr>
              <a:t>: many cells per table, many token labels per cell — acquire at which level?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2893277" y="10816212"/>
            <a:ext cx="7047082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Headline Numbers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6671111" y="13708102"/>
            <a:ext cx="7691628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2217" b="0" i="1">
                <a:solidFill>
                  <a:srgbClr val="555555"/>
                </a:solidFill>
                <a:latin typeface="Cambria Math"/>
              </a:rPr>
              <a:t>MNLP: uncertainty; BADGE: gradient-embedding batch diversity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39991" y="15332055"/>
            <a:ext cx="4277609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Motivation 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2864802" y="16486366"/>
            <a:ext cx="4808698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Key Results 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2937727" y="16824186"/>
            <a:ext cx="4022509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Takeaway 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2937727" y="18252975"/>
            <a:ext cx="7445541" cy="6597352"/>
          </a:xfrm>
          <a:prstGeom prst="rect">
            <a:avLst/>
          </a:prstGeom>
          <a:noFill/>
        </p:spPr>
        <p:txBody>
          <a:bodyPr wrap="squar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Cell-level acquisition with built-in batch diversity (BADGE) reaches full-training F1 using far fewer expert labels — while forcing maximum table diversity backfires below random.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2864802" y="26214943"/>
            <a:ext cx="9090313" cy="3994672"/>
          </a:xfrm>
          <a:prstGeom prst="rect">
            <a:avLst/>
          </a:prstGeom>
          <a:noFill/>
        </p:spPr>
        <p:txBody>
          <a:bodyPr wrap="square" lIns="339005" rIns="339005" tIns="146033" bIns="146033">
            <a:spAutoFit/>
          </a:bodyPr>
          <a:lstStyle/>
          <a:p>
            <a:pPr algn="l">
              <a:lnSpc>
                <a:spcPts val="5010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33415E"/>
                </a:solidFill>
                <a:latin typeface="Arial"/>
              </a:rPr>
              <a:t>BADGE beats random and even </a:t>
            </a:r>
            <a:r>
              <a:rPr sz="4106" b="1">
                <a:solidFill>
                  <a:srgbClr val="111111"/>
                </a:solidFill>
                <a:latin typeface="Arial"/>
              </a:rPr>
              <a:t>exceeds full-training F1</a:t>
            </a:r>
            <a:r>
              <a:rPr sz="4106" b="0">
                <a:solidFill>
                  <a:srgbClr val="33415E"/>
                </a:solidFill>
                <a:latin typeface="Arial"/>
              </a:rPr>
              <a:t> with far fewer labels; MNLP barely edges random, and MNLP+ (forced max diversity) is the worst.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48069" y="5914350"/>
            <a:ext cx="22940524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Table-biased encoder:</a:t>
            </a:r>
            <a:r>
              <a:rPr sz="4106" b="0">
                <a:solidFill>
                  <a:srgbClr val="1C1C1C"/>
                </a:solidFill>
                <a:latin typeface="Arial"/>
              </a:rPr>
              <a:t> a row–column visibility matrix + within-cell positional encoding give tokens full-table context.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2864783" y="5914350"/>
            <a:ext cx="9090332" cy="34785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Real industrial spreadsheets from multiple plants, downsampled to ≤5 rows per table, expert-annotated cell-by-cell with prodi.gy.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148069" y="7609284"/>
            <a:ext cx="22940524" cy="8696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Decoder</a:t>
            </a:r>
            <a:r>
              <a:rPr sz="4106" b="0">
                <a:solidFill>
                  <a:srgbClr val="1C1C1C"/>
                </a:solidFill>
                <a:latin typeface="Arial"/>
              </a:rPr>
              <a:t> assigns IO NER tags over four entity types: TAG, EQ, QUANT, UoM.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148069" y="8548012"/>
            <a:ext cx="22940524" cy="17392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Pool-based active learning</a:t>
            </a:r>
            <a:r>
              <a:rPr sz="4106" b="0">
                <a:solidFill>
                  <a:srgbClr val="1C1C1C"/>
                </a:solidFill>
                <a:latin typeface="Arial"/>
              </a:rPr>
              <a:t> then selects batches of the most informative cells for an expert oracle to annotate next.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864783" y="9121695"/>
            <a:ext cx="9090332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Random split → </a:t>
            </a:r>
            <a:r>
              <a:rPr sz="4106" b="1">
                <a:solidFill>
                  <a:srgbClr val="111111"/>
                </a:solidFill>
                <a:latin typeface="Arial"/>
              </a:rPr>
              <a:t>55</a:t>
            </a:r>
            <a:r>
              <a:rPr sz="4106" b="0">
                <a:solidFill>
                  <a:srgbClr val="1C1C1C"/>
                </a:solidFill>
                <a:latin typeface="Arial"/>
              </a:rPr>
              <a:t> training tables (4,774 cells, 1,112 labels) and </a:t>
            </a:r>
            <a:r>
              <a:rPr sz="4106" b="1">
                <a:solidFill>
                  <a:srgbClr val="111111"/>
                </a:solidFill>
                <a:latin typeface="Arial"/>
              </a:rPr>
              <a:t>24</a:t>
            </a:r>
            <a:r>
              <a:rPr sz="4106" b="0">
                <a:solidFill>
                  <a:srgbClr val="1C1C1C"/>
                </a:solidFill>
                <a:latin typeface="Arial"/>
              </a:rPr>
              <a:t> test tables.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2864802" y="11703129"/>
            <a:ext cx="4166726" cy="17993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2320"/>
              </a:lnSpc>
              <a:spcBef>
                <a:spcPts val="0"/>
              </a:spcBef>
              <a:spcAft>
                <a:spcPts val="0"/>
              </a:spcAft>
            </a:pPr>
            <a:r>
              <a:rPr sz="12320" b="1">
                <a:solidFill>
                  <a:srgbClr val="33415E"/>
                </a:solidFill>
                <a:latin typeface="Arial"/>
              </a:rPr>
              <a:t>~77%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7118667" y="12529899"/>
            <a:ext cx="4708832" cy="31303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359"/>
              </a:lnSpc>
              <a:spcBef>
                <a:spcPts val="0"/>
              </a:spcBef>
              <a:spcAft>
                <a:spcPts val="0"/>
              </a:spcAft>
            </a:pPr>
            <a:r>
              <a:rPr sz="3696" b="0">
                <a:solidFill>
                  <a:srgbClr val="555555"/>
                </a:solidFill>
                <a:latin typeface="Arial"/>
              </a:rPr>
              <a:t>of cells contain no entity (label-O only) — extreme class imbalance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39972" y="16607492"/>
            <a:ext cx="7112342" cy="34785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Plentiful unlabeled tables paired with costly expert labels make this an ideal </a:t>
            </a:r>
            <a:r>
              <a:rPr sz="4106" b="1">
                <a:solidFill>
                  <a:srgbClr val="111111"/>
                </a:solidFill>
                <a:latin typeface="Arial"/>
              </a:rPr>
              <a:t>active-learning</a:t>
            </a:r>
            <a:r>
              <a:rPr sz="4106" b="0">
                <a:solidFill>
                  <a:srgbClr val="1C1C1C"/>
                </a:solidFill>
                <a:latin typeface="Arial"/>
              </a:rPr>
              <a:t> setting.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39972" y="19814837"/>
            <a:ext cx="7112342" cy="4348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Large transformers need </a:t>
            </a:r>
            <a:r>
              <a:rPr sz="4106" b="1">
                <a:solidFill>
                  <a:srgbClr val="111111"/>
                </a:solidFill>
                <a:latin typeface="Arial"/>
              </a:rPr>
              <a:t>batch</a:t>
            </a:r>
            <a:r>
              <a:rPr sz="4106" b="0">
                <a:solidFill>
                  <a:srgbClr val="1C1C1C"/>
                </a:solidFill>
                <a:latin typeface="Arial"/>
              </a:rPr>
              <a:t> acquisition over many epochs, so they cannot be updated one example at a time.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39972" y="23778388"/>
            <a:ext cx="7112342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Naive uncertainty sampling then grabs highly correlated, redundant cells.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3217762" y="24555152"/>
            <a:ext cx="8363071" cy="1278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Micro-F1 at each active-learning iteration, averaged over 5 seeds.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529496" y="27263963"/>
            <a:ext cx="6232136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No prior work combines active learning with tabular language models.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528524" y="29109888"/>
            <a:ext cx="18179494" cy="639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Overview of the industrial sub-cell NER problem and the active-learning candidate acquisition.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3139141" y="12705337"/>
            <a:ext cx="3320734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33415E"/>
                </a:solidFill>
                <a:latin typeface="Arial"/>
              </a:rPr>
              <a:t>0.23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3139141" y="14080232"/>
            <a:ext cx="3320734" cy="119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NER labels per cell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2893277" y="25349557"/>
            <a:ext cx="3096108" cy="1826012"/>
          </a:xfrm>
          <a:prstGeom prst="rect">
            <a:avLst/>
          </a:prstGeom>
          <a:noFill/>
        </p:spPr>
        <p:txBody>
          <a:bodyPr wrap="none" lIns="199136" rIns="199136" tIns="47413" bIns="47413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33415E"/>
                </a:solidFill>
                <a:latin typeface="Arial"/>
              </a:rPr>
              <a:t>Questions?</a:t>
            </a:r>
          </a:p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33415E"/>
                </a:solidFill>
                <a:latin typeface="Arial"/>
              </a:rPr>
              <a:t>Get in</a:t>
            </a:r>
          </a:p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33415E"/>
                </a:solidFill>
                <a:latin typeface="Arial"/>
              </a:rPr>
              <a:t>touch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2893277" y="27103248"/>
            <a:ext cx="3096108" cy="14884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97"/>
              </a:lnSpc>
              <a:spcBef>
                <a:spcPts val="0"/>
              </a:spcBef>
              <a:spcAft>
                <a:spcPts val="0"/>
              </a:spcAft>
            </a:pPr>
            <a:r>
              <a:rPr sz="2426" b="0">
                <a:solidFill>
                  <a:srgbClr val="555555"/>
                </a:solidFill>
                <a:latin typeface="Arial"/>
              </a:rPr>
              <a:t>Email: martin.ringsquandl@siemens.com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2893277" y="28563431"/>
            <a:ext cx="3096108" cy="9923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97"/>
              </a:lnSpc>
              <a:spcBef>
                <a:spcPts val="0"/>
              </a:spcBef>
              <a:spcAft>
                <a:spcPts val="0"/>
              </a:spcAft>
            </a:pPr>
            <a:r>
              <a:rPr sz="2426" b="0">
                <a:solidFill>
                  <a:srgbClr val="555555"/>
                </a:solidFill>
                <a:latin typeface="Arial"/>
              </a:rPr>
              <a:t>arxiv.org/abs/2211.04128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2893277" y="5923379"/>
            <a:ext cx="2103895" cy="684974"/>
          </a:xfrm>
          <a:prstGeom prst="rect">
            <a:avLst/>
          </a:prstGeom>
          <a:noFill/>
        </p:spPr>
        <p:txBody>
          <a:bodyPr wrap="none" lIns="156464" rIns="156464" tIns="68844" bIns="68844">
            <a:spAutoFit/>
          </a:bodyPr>
          <a:lstStyle/>
          <a:p>
            <a:pPr algn="l">
              <a:lnSpc>
                <a:spcPts val="3572"/>
              </a:lnSpc>
              <a:spcBef>
                <a:spcPts val="0"/>
              </a:spcBef>
              <a:spcAft>
                <a:spcPts val="0"/>
              </a:spcAft>
            </a:pPr>
            <a:r>
              <a:rPr sz="2464" b="1" spc="123">
                <a:solidFill>
                  <a:srgbClr val="555555"/>
                </a:solidFill>
                <a:latin typeface="Arial"/>
              </a:rPr>
              <a:t>METHOD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4935894" y="5923379"/>
            <a:ext cx="2712958" cy="684974"/>
          </a:xfrm>
          <a:prstGeom prst="rect">
            <a:avLst/>
          </a:prstGeom>
          <a:noFill/>
        </p:spPr>
        <p:txBody>
          <a:bodyPr wrap="square" lIns="156464" rIns="156464" tIns="68844" bIns="68844">
            <a:spAutoFit/>
          </a:bodyPr>
          <a:lstStyle/>
          <a:p>
            <a:pPr algn="l">
              <a:lnSpc>
                <a:spcPts val="3572"/>
              </a:lnSpc>
              <a:spcBef>
                <a:spcPts val="0"/>
              </a:spcBef>
              <a:spcAft>
                <a:spcPts val="0"/>
              </a:spcAft>
            </a:pPr>
            <a:r>
              <a:rPr sz="2464" b="1" spc="123">
                <a:solidFill>
                  <a:srgbClr val="555555"/>
                </a:solidFill>
                <a:latin typeface="Arial"/>
              </a:rPr>
              <a:t>DIVERSITY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7569834" y="5923379"/>
            <a:ext cx="2674471" cy="684974"/>
          </a:xfrm>
          <a:prstGeom prst="rect">
            <a:avLst/>
          </a:prstGeom>
          <a:noFill/>
        </p:spPr>
        <p:txBody>
          <a:bodyPr wrap="none" lIns="156464" rIns="156464" tIns="68844" bIns="68844">
            <a:spAutoFit/>
          </a:bodyPr>
          <a:lstStyle/>
          <a:p>
            <a:pPr algn="l">
              <a:lnSpc>
                <a:spcPts val="3572"/>
              </a:lnSpc>
              <a:spcBef>
                <a:spcPts val="0"/>
              </a:spcBef>
              <a:spcAft>
                <a:spcPts val="0"/>
              </a:spcAft>
            </a:pPr>
            <a:r>
              <a:rPr sz="2464" b="1" spc="123">
                <a:solidFill>
                  <a:srgbClr val="555555"/>
                </a:solidFill>
                <a:latin typeface="Arial"/>
              </a:rPr>
              <a:t>RESULT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2893277" y="6519009"/>
            <a:ext cx="2103895" cy="916760"/>
          </a:xfrm>
          <a:prstGeom prst="rect">
            <a:avLst/>
          </a:prstGeom>
          <a:noFill/>
        </p:spPr>
        <p:txBody>
          <a:bodyPr wrap="none" lIns="208618" rIns="208618" tIns="91791" bIns="91791">
            <a:spAutoFit/>
          </a:bodyPr>
          <a:lstStyle/>
          <a:p>
            <a:pPr algn="l">
              <a:lnSpc>
                <a:spcPts val="4763"/>
              </a:lnSpc>
              <a:spcBef>
                <a:spcPts val="0"/>
              </a:spcBef>
              <a:spcAft>
                <a:spcPts val="0"/>
              </a:spcAft>
            </a:pPr>
            <a:r>
              <a:rPr sz="3285" b="0">
                <a:solidFill>
                  <a:srgbClr val="1C1C1C"/>
                </a:solidFill>
                <a:latin typeface="Arial"/>
              </a:rPr>
              <a:t>Rand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4935894" y="6519009"/>
            <a:ext cx="2712958" cy="916760"/>
          </a:xfrm>
          <a:prstGeom prst="rect">
            <a:avLst/>
          </a:prstGeom>
          <a:noFill/>
        </p:spPr>
        <p:txBody>
          <a:bodyPr wrap="square" lIns="208618" rIns="208618" tIns="91791" bIns="91791">
            <a:spAutoFit/>
          </a:bodyPr>
          <a:lstStyle/>
          <a:p>
            <a:pPr algn="l">
              <a:lnSpc>
                <a:spcPts val="4763"/>
              </a:lnSpc>
              <a:spcBef>
                <a:spcPts val="0"/>
              </a:spcBef>
              <a:spcAft>
                <a:spcPts val="0"/>
              </a:spcAft>
            </a:pPr>
            <a:r>
              <a:rPr sz="3285" b="0">
                <a:solidFill>
                  <a:srgbClr val="1C1C1C"/>
                </a:solidFill>
                <a:latin typeface="Arial"/>
              </a:rPr>
              <a:t>uniform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7569834" y="6519009"/>
            <a:ext cx="2674471" cy="916760"/>
          </a:xfrm>
          <a:prstGeom prst="rect">
            <a:avLst/>
          </a:prstGeom>
          <a:noFill/>
        </p:spPr>
        <p:txBody>
          <a:bodyPr wrap="square" lIns="208618" rIns="208618" tIns="91791" bIns="91791">
            <a:spAutoFit/>
          </a:bodyPr>
          <a:lstStyle/>
          <a:p>
            <a:pPr algn="l">
              <a:lnSpc>
                <a:spcPts val="4763"/>
              </a:lnSpc>
              <a:spcBef>
                <a:spcPts val="0"/>
              </a:spcBef>
              <a:spcAft>
                <a:spcPts val="0"/>
              </a:spcAft>
            </a:pPr>
            <a:r>
              <a:rPr sz="3285" b="0">
                <a:solidFill>
                  <a:srgbClr val="1C1C1C"/>
                </a:solidFill>
                <a:latin typeface="Arial"/>
              </a:rPr>
              <a:t>baseline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2893277" y="7316192"/>
            <a:ext cx="2103895" cy="916760"/>
          </a:xfrm>
          <a:prstGeom prst="rect">
            <a:avLst/>
          </a:prstGeom>
          <a:noFill/>
        </p:spPr>
        <p:txBody>
          <a:bodyPr wrap="none" lIns="208618" rIns="208618" tIns="91791" bIns="91791">
            <a:spAutoFit/>
          </a:bodyPr>
          <a:lstStyle/>
          <a:p>
            <a:pPr algn="l">
              <a:lnSpc>
                <a:spcPts val="4763"/>
              </a:lnSpc>
              <a:spcBef>
                <a:spcPts val="0"/>
              </a:spcBef>
              <a:spcAft>
                <a:spcPts val="0"/>
              </a:spcAft>
            </a:pPr>
            <a:r>
              <a:rPr sz="3285" b="0">
                <a:solidFill>
                  <a:srgbClr val="1C1C1C"/>
                </a:solidFill>
                <a:latin typeface="Arial"/>
              </a:rPr>
              <a:t>MNLP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4935894" y="7316192"/>
            <a:ext cx="2712958" cy="916760"/>
          </a:xfrm>
          <a:prstGeom prst="rect">
            <a:avLst/>
          </a:prstGeom>
          <a:noFill/>
        </p:spPr>
        <p:txBody>
          <a:bodyPr wrap="none" lIns="208618" rIns="208618" tIns="91791" bIns="91791">
            <a:spAutoFit/>
          </a:bodyPr>
          <a:lstStyle/>
          <a:p>
            <a:pPr algn="l">
              <a:lnSpc>
                <a:spcPts val="4763"/>
              </a:lnSpc>
              <a:spcBef>
                <a:spcPts val="0"/>
              </a:spcBef>
              <a:spcAft>
                <a:spcPts val="0"/>
              </a:spcAft>
            </a:pPr>
            <a:r>
              <a:rPr sz="3285" b="0">
                <a:solidFill>
                  <a:srgbClr val="1C1C1C"/>
                </a:solidFill>
                <a:latin typeface="Arial"/>
              </a:rPr>
              <a:t>few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7569834" y="7316192"/>
            <a:ext cx="2674471" cy="916760"/>
          </a:xfrm>
          <a:prstGeom prst="rect">
            <a:avLst/>
          </a:prstGeom>
          <a:noFill/>
        </p:spPr>
        <p:txBody>
          <a:bodyPr wrap="square" lIns="208618" rIns="208618" tIns="91791" bIns="91791">
            <a:spAutoFit/>
          </a:bodyPr>
          <a:lstStyle/>
          <a:p>
            <a:pPr algn="l">
              <a:lnSpc>
                <a:spcPts val="4763"/>
              </a:lnSpc>
              <a:spcBef>
                <a:spcPts val="0"/>
              </a:spcBef>
              <a:spcAft>
                <a:spcPts val="0"/>
              </a:spcAft>
            </a:pPr>
            <a:r>
              <a:rPr sz="3285" b="0">
                <a:solidFill>
                  <a:srgbClr val="1C1C1C"/>
                </a:solidFill>
                <a:latin typeface="Arial"/>
              </a:rPr>
              <a:t>≈ Rand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2893277" y="8113375"/>
            <a:ext cx="2103895" cy="916760"/>
          </a:xfrm>
          <a:prstGeom prst="rect">
            <a:avLst/>
          </a:prstGeom>
          <a:noFill/>
        </p:spPr>
        <p:txBody>
          <a:bodyPr wrap="none" lIns="208618" rIns="208618" tIns="91791" bIns="91791">
            <a:spAutoFit/>
          </a:bodyPr>
          <a:lstStyle/>
          <a:p>
            <a:pPr algn="l">
              <a:lnSpc>
                <a:spcPts val="4763"/>
              </a:lnSpc>
              <a:spcBef>
                <a:spcPts val="0"/>
              </a:spcBef>
              <a:spcAft>
                <a:spcPts val="0"/>
              </a:spcAft>
            </a:pPr>
            <a:r>
              <a:rPr sz="3285" b="0">
                <a:solidFill>
                  <a:srgbClr val="1C1C1C"/>
                </a:solidFill>
                <a:latin typeface="Arial"/>
              </a:rPr>
              <a:t>MNLP+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4935894" y="8113375"/>
            <a:ext cx="2712958" cy="916760"/>
          </a:xfrm>
          <a:prstGeom prst="rect">
            <a:avLst/>
          </a:prstGeom>
          <a:noFill/>
        </p:spPr>
        <p:txBody>
          <a:bodyPr wrap="square" lIns="208618" rIns="208618" tIns="91791" bIns="91791">
            <a:spAutoFit/>
          </a:bodyPr>
          <a:lstStyle/>
          <a:p>
            <a:pPr algn="l">
              <a:lnSpc>
                <a:spcPts val="4763"/>
              </a:lnSpc>
              <a:spcBef>
                <a:spcPts val="0"/>
              </a:spcBef>
              <a:spcAft>
                <a:spcPts val="0"/>
              </a:spcAft>
            </a:pPr>
            <a:r>
              <a:rPr sz="3285" b="0">
                <a:solidFill>
                  <a:srgbClr val="1C1C1C"/>
                </a:solidFill>
                <a:latin typeface="Arial"/>
              </a:rPr>
              <a:t>forced max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7569834" y="8113375"/>
            <a:ext cx="2674471" cy="916760"/>
          </a:xfrm>
          <a:prstGeom prst="rect">
            <a:avLst/>
          </a:prstGeom>
          <a:noFill/>
        </p:spPr>
        <p:txBody>
          <a:bodyPr wrap="square" lIns="208618" rIns="208618" tIns="91791" bIns="91791">
            <a:spAutoFit/>
          </a:bodyPr>
          <a:lstStyle/>
          <a:p>
            <a:pPr algn="l">
              <a:lnSpc>
                <a:spcPts val="4763"/>
              </a:lnSpc>
              <a:spcBef>
                <a:spcPts val="0"/>
              </a:spcBef>
              <a:spcAft>
                <a:spcPts val="0"/>
              </a:spcAft>
            </a:pPr>
            <a:r>
              <a:rPr sz="3285" b="0">
                <a:solidFill>
                  <a:srgbClr val="1C1C1C"/>
                </a:solidFill>
                <a:latin typeface="Arial"/>
              </a:rPr>
              <a:t>&lt; Rand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2893277" y="8910558"/>
            <a:ext cx="2103895" cy="916760"/>
          </a:xfrm>
          <a:prstGeom prst="rect">
            <a:avLst/>
          </a:prstGeom>
          <a:noFill/>
        </p:spPr>
        <p:txBody>
          <a:bodyPr wrap="none" lIns="208618" rIns="208618" tIns="91791" bIns="91791">
            <a:spAutoFit/>
          </a:bodyPr>
          <a:lstStyle/>
          <a:p>
            <a:pPr algn="l">
              <a:lnSpc>
                <a:spcPts val="4763"/>
              </a:lnSpc>
              <a:spcBef>
                <a:spcPts val="0"/>
              </a:spcBef>
              <a:spcAft>
                <a:spcPts val="0"/>
              </a:spcAft>
            </a:pPr>
            <a:r>
              <a:rPr sz="3285" b="1">
                <a:solidFill>
                  <a:srgbClr val="1C1C1C"/>
                </a:solidFill>
                <a:latin typeface="Arial"/>
              </a:rPr>
              <a:t>BADGE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4935894" y="8910558"/>
            <a:ext cx="2712958" cy="916760"/>
          </a:xfrm>
          <a:prstGeom prst="rect">
            <a:avLst/>
          </a:prstGeom>
          <a:noFill/>
        </p:spPr>
        <p:txBody>
          <a:bodyPr wrap="square" lIns="208618" rIns="208618" tIns="91791" bIns="91791">
            <a:spAutoFit/>
          </a:bodyPr>
          <a:lstStyle/>
          <a:p>
            <a:pPr algn="l">
              <a:lnSpc>
                <a:spcPts val="4763"/>
              </a:lnSpc>
              <a:spcBef>
                <a:spcPts val="0"/>
              </a:spcBef>
              <a:spcAft>
                <a:spcPts val="0"/>
              </a:spcAft>
            </a:pPr>
            <a:r>
              <a:rPr sz="3285" b="1">
                <a:solidFill>
                  <a:srgbClr val="1C1C1C"/>
                </a:solidFill>
                <a:latin typeface="Arial"/>
              </a:rPr>
              <a:t>balanced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7569834" y="8910558"/>
            <a:ext cx="2674471" cy="916760"/>
          </a:xfrm>
          <a:prstGeom prst="rect">
            <a:avLst/>
          </a:prstGeom>
          <a:noFill/>
        </p:spPr>
        <p:txBody>
          <a:bodyPr wrap="square" lIns="208618" rIns="208618" tIns="91791" bIns="91791">
            <a:spAutoFit/>
          </a:bodyPr>
          <a:lstStyle/>
          <a:p>
            <a:pPr algn="l">
              <a:lnSpc>
                <a:spcPts val="4763"/>
              </a:lnSpc>
              <a:spcBef>
                <a:spcPts val="0"/>
              </a:spcBef>
              <a:spcAft>
                <a:spcPts val="0"/>
              </a:spcAft>
            </a:pPr>
            <a:r>
              <a:rPr sz="3285" b="1">
                <a:solidFill>
                  <a:srgbClr val="1C1C1C"/>
                </a:solidFill>
                <a:latin typeface="Arial"/>
              </a:rPr>
              <a:t>&gt; full-train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7415092" y="12283062"/>
            <a:ext cx="964744" cy="12539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55 / 24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8534260" y="12416412"/>
            <a:ext cx="1427872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train/test tables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7415092" y="13634204"/>
            <a:ext cx="1139437" cy="1253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100 + 50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8703865" y="13767554"/>
            <a:ext cx="1253179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seed + per-iter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7415092" y="14985345"/>
            <a:ext cx="30674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5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7895430" y="15118695"/>
            <a:ext cx="977478" cy="490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seeds</a:t>
            </a:r>
          </a:p>
        </p:txBody>
      </p:sp>
      <p:pic>
        <p:nvPicPr>
          <p:cNvPr id="128" name="Picture 127" descr="eq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51193" y="11023322"/>
            <a:ext cx="21707574" cy="20770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
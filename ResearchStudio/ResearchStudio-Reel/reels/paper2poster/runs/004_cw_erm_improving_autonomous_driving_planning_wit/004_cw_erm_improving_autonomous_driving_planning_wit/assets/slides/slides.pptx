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2892442" cy="205359"/>
          </a:xfrm>
          <a:prstGeom prst="rect">
            <a:avLst/>
          </a:prstGeom>
          <a:noFill/>
          <a:ln>
            <a:noFill/>
          </a:ln>
        </p:spPr>
        <p:txBody>
          <a:bodyPr wrap="none" lIns="0" tIns="0" rIns="0" bIns="0" anchor="t" anchorCtr="0">
            <a:spAutoFit/>
          </a:bodyPr>
          <a:lstStyle/>
          <a:p>
            <a:pPr algn="l"/>
            <a:r>
              <a:rPr lang="en-US" sz="1050" b="1" spc="150" dirty="0">
                <a:solidFill>
                  <a:schemeClr val="accent2"/>
                </a:solidFill>
                <a:latin typeface="+mn-lt"/>
                <a:ea typeface="+mn-ea"/>
                <a:cs typeface="+mn-cs"/>
              </a:rPr>
              <a:t>NeurIPS 2022 · ML4AD Workshop</a:t>
            </a:r>
          </a:p>
        </p:txBody>
      </p:sp>
      <p:sp>
        <p:nvSpPr>
          <p:cNvPr id="3" name="TextBox 3"/>
          <p:cNvSpPr txBox="1"/>
          <p:nvPr/>
        </p:nvSpPr>
        <p:spPr>
          <a:xfrm>
            <a:off x="8555632" y="576501"/>
            <a:ext cx="3031911"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Woven Planet · Autonomous Driving Planning</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84A66"/>
            </a:solidFill>
          </a:ln>
        </p:spPr>
        <p:txBody>
          <a:bodyPr/>
          <a:p/>
        </p:txBody>
      </p:sp>
      <p:sp>
        <p:nvSpPr>
          <p:cNvPr id="5" name="TextBox 5"/>
          <p:cNvSpPr txBox="1"/>
          <p:nvPr/>
        </p:nvSpPr>
        <p:spPr>
          <a:xfrm>
            <a:off x="592836" y="1072515"/>
            <a:ext cx="1857116" cy="645414"/>
          </a:xfrm>
          <a:prstGeom prst="rect">
            <a:avLst/>
          </a:prstGeom>
          <a:noFill/>
          <a:ln>
            <a:noFill/>
          </a:ln>
        </p:spPr>
        <p:txBody>
          <a:bodyPr wrap="none" lIns="0" tIns="0" rIns="0" bIns="0" anchor="t" anchorCtr="0">
            <a:spAutoFit/>
          </a:bodyPr>
          <a:lstStyle/>
          <a:p>
            <a:pPr algn="l"/>
            <a:r>
              <a:rPr lang="en-US" sz="3300" b="1" dirty="0">
                <a:solidFill>
                  <a:srgbClr val="FFFFFF"/>
                </a:solidFill>
                <a:latin typeface="+mn-lt"/>
                <a:ea typeface="+mn-ea"/>
                <a:cs typeface="+mn-cs"/>
              </a:rPr>
              <a:t>CW-ERM</a:t>
            </a:r>
          </a:p>
        </p:txBody>
      </p:sp>
      <p:sp>
        <p:nvSpPr>
          <p:cNvPr id="6" name="TextBox 6"/>
          <p:cNvSpPr txBox="1"/>
          <p:nvPr/>
        </p:nvSpPr>
        <p:spPr>
          <a:xfrm>
            <a:off x="600837" y="1680686"/>
            <a:ext cx="6571660"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Improving Autonomous Driving Planning with Closed-loop</a:t>
            </a:r>
          </a:p>
        </p:txBody>
      </p:sp>
      <p:sp>
        <p:nvSpPr>
          <p:cNvPr id="7" name="TextBox 7"/>
          <p:cNvSpPr txBox="1"/>
          <p:nvPr/>
        </p:nvSpPr>
        <p:spPr>
          <a:xfrm>
            <a:off x="600837" y="1947386"/>
            <a:ext cx="4325862"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Weighted Empirical Risk Minimization</a:t>
            </a:r>
          </a:p>
        </p:txBody>
      </p:sp>
      <p:sp>
        <p:nvSpPr>
          <p:cNvPr id="8" name="Rectangle 8"/>
          <p:cNvSpPr/>
          <p:nvPr/>
        </p:nvSpPr>
        <p:spPr>
          <a:xfrm>
            <a:off x="10391775" y="1352550"/>
            <a:ext cx="361950" cy="647700"/>
          </a:xfrm>
          <a:prstGeom prst="roundRect">
            <a:avLst>
              <a:gd name="adj" fmla="val 31579"/>
            </a:avLst>
          </a:prstGeom>
          <a:solidFill>
            <a:schemeClr val="accent6"/>
          </a:solidFill>
          <a:ln w="20955">
            <a:solidFill>
              <a:schemeClr val="accent2"/>
            </a:solidFill>
          </a:ln>
        </p:spPr>
        <p:txBody>
          <a:bodyPr/>
          <a:p/>
        </p:txBody>
      </p:sp>
      <p:sp>
        <p:nvSpPr>
          <p:cNvPr id="9" name="Rectangle 9"/>
          <p:cNvSpPr/>
          <p:nvPr/>
        </p:nvSpPr>
        <p:spPr>
          <a:xfrm>
            <a:off x="10448925" y="1438275"/>
            <a:ext cx="247650" cy="142875"/>
          </a:xfrm>
          <a:prstGeom prst="roundRect">
            <a:avLst>
              <a:gd name="adj" fmla="val 26667"/>
            </a:avLst>
          </a:prstGeom>
          <a:solidFill>
            <a:schemeClr val="accent2">
              <a:alpha val="60000"/>
            </a:schemeClr>
          </a:solidFill>
          <a:ln>
            <a:noFill/>
          </a:ln>
        </p:spPr>
        <p:txBody>
          <a:bodyPr/>
          <a:p/>
        </p:txBody>
      </p:sp>
      <p:sp>
        <p:nvSpPr>
          <p:cNvPr id="10" name="Rectangle 10"/>
          <p:cNvSpPr/>
          <p:nvPr/>
        </p:nvSpPr>
        <p:spPr>
          <a:xfrm>
            <a:off x="10448925" y="1809750"/>
            <a:ext cx="247650" cy="104775"/>
          </a:xfrm>
          <a:prstGeom prst="roundRect">
            <a:avLst>
              <a:gd name="adj" fmla="val 36364"/>
            </a:avLst>
          </a:prstGeom>
          <a:solidFill>
            <a:schemeClr val="accent2">
              <a:alpha val="32000"/>
            </a:schemeClr>
          </a:solidFill>
          <a:ln>
            <a:noFill/>
          </a:ln>
        </p:spPr>
        <p:txBody>
          <a:bodyPr/>
          <a:p/>
        </p:txBody>
      </p:sp>
      <p:sp>
        <p:nvSpPr>
          <p:cNvPr id="11" name="Line 11"/>
          <p:cNvSpPr/>
          <p:nvPr/>
        </p:nvSpPr>
        <p:spPr>
          <a:xfrm>
            <a:off x="10420350" y="1657350"/>
            <a:ext cx="304800" cy="9525"/>
          </a:xfrm>
          <a:custGeom>
            <a:avLst/>
            <a:gdLst/>
            <a:ahLst/>
            <a:cxnLst/>
            <a:rect l="l" t="t" r="r" b="b"/>
            <a:pathLst>
              <a:path w="304800" h="9525">
                <a:moveTo>
                  <a:pt x="0" y="0"/>
                </a:moveTo>
                <a:lnTo>
                  <a:pt x="304800" y="0"/>
                </a:lnTo>
              </a:path>
            </a:pathLst>
          </a:custGeom>
          <a:noFill/>
          <a:ln w="11430" cap="flat">
            <a:solidFill>
              <a:schemeClr val="accent2"/>
            </a:solidFill>
          </a:ln>
        </p:spPr>
        <p:txBody>
          <a:bodyPr/>
          <a:p/>
        </p:txBody>
      </p:sp>
      <p:sp>
        <p:nvSpPr>
          <p:cNvPr id="12" name="Ellipse 12"/>
          <p:cNvSpPr/>
          <p:nvPr/>
        </p:nvSpPr>
        <p:spPr>
          <a:xfrm>
            <a:off x="10506075" y="1000125"/>
            <a:ext cx="133350" cy="133350"/>
          </a:xfrm>
          <a:prstGeom prst="ellipse">
            <a:avLst/>
          </a:prstGeom>
          <a:solidFill>
            <a:srgbClr val="F2685C"/>
          </a:solidFill>
          <a:ln>
            <a:noFill/>
          </a:ln>
        </p:spPr>
        <p:txBody>
          <a:bodyPr/>
          <a:p/>
        </p:txBody>
      </p:sp>
      <p:sp>
        <p:nvSpPr>
          <p:cNvPr id="13" name="Ellipse 13"/>
          <p:cNvSpPr/>
          <p:nvPr/>
        </p:nvSpPr>
        <p:spPr>
          <a:xfrm>
            <a:off x="9896475" y="1666875"/>
            <a:ext cx="133350" cy="133350"/>
          </a:xfrm>
          <a:prstGeom prst="ellipse">
            <a:avLst/>
          </a:prstGeom>
          <a:solidFill>
            <a:srgbClr val="F4C24C"/>
          </a:solidFill>
          <a:ln>
            <a:noFill/>
          </a:ln>
        </p:spPr>
        <p:txBody>
          <a:bodyPr/>
          <a:p/>
        </p:txBody>
      </p:sp>
      <p:sp>
        <p:nvSpPr>
          <p:cNvPr id="14" name="Ellipse 14"/>
          <p:cNvSpPr/>
          <p:nvPr/>
        </p:nvSpPr>
        <p:spPr>
          <a:xfrm>
            <a:off x="11115675" y="1666875"/>
            <a:ext cx="133350" cy="133350"/>
          </a:xfrm>
          <a:prstGeom prst="ellipse">
            <a:avLst/>
          </a:prstGeom>
          <a:solidFill>
            <a:srgbClr val="F4C24C"/>
          </a:solidFill>
          <a:ln>
            <a:noFill/>
          </a:ln>
        </p:spPr>
        <p:txBody>
          <a:bodyPr/>
          <a:p/>
        </p:txBody>
      </p:sp>
      <p:sp>
        <p:nvSpPr>
          <p:cNvPr id="15" name="Ellipse 15"/>
          <p:cNvSpPr/>
          <p:nvPr/>
        </p:nvSpPr>
        <p:spPr>
          <a:xfrm>
            <a:off x="10506075" y="2295525"/>
            <a:ext cx="133350" cy="133350"/>
          </a:xfrm>
          <a:prstGeom prst="ellipse">
            <a:avLst/>
          </a:prstGeom>
          <a:solidFill>
            <a:srgbClr val="33D6C0"/>
          </a:solidFill>
          <a:ln>
            <a:noFill/>
          </a:ln>
        </p:spPr>
        <p:txBody>
          <a:bodyPr/>
          <a:p/>
        </p:txBody>
      </p:sp>
      <p:sp>
        <p:nvSpPr>
          <p:cNvPr id="16" name="TextBox 16"/>
          <p:cNvSpPr txBox="1"/>
          <p:nvPr/>
        </p:nvSpPr>
        <p:spPr>
          <a:xfrm>
            <a:off x="10408614" y="844391"/>
            <a:ext cx="328272" cy="161925"/>
          </a:xfrm>
          <a:prstGeom prst="rect">
            <a:avLst/>
          </a:prstGeom>
          <a:noFill/>
          <a:ln>
            <a:noFill/>
          </a:ln>
        </p:spPr>
        <p:txBody>
          <a:bodyPr wrap="none" lIns="0" tIns="0" rIns="0" bIns="0" anchor="t" anchorCtr="0">
            <a:spAutoFit/>
          </a:bodyPr>
          <a:lstStyle/>
          <a:p>
            <a:pPr algn="ctr"/>
            <a:r>
              <a:rPr lang="en-US" sz="820" b="1" dirty="0">
                <a:solidFill>
                  <a:srgbClr val="F2685C"/>
                </a:solidFill>
                <a:latin typeface="+mn-lt"/>
                <a:ea typeface="+mn-ea"/>
                <a:cs typeface="+mn-cs"/>
              </a:rPr>
              <a:t>front</a:t>
            </a:r>
          </a:p>
        </p:txBody>
      </p:sp>
      <p:sp>
        <p:nvSpPr>
          <p:cNvPr id="17" name="TextBox 17"/>
          <p:cNvSpPr txBox="1"/>
          <p:nvPr/>
        </p:nvSpPr>
        <p:spPr>
          <a:xfrm>
            <a:off x="9845377" y="1873091"/>
            <a:ext cx="235545" cy="161925"/>
          </a:xfrm>
          <a:prstGeom prst="rect">
            <a:avLst/>
          </a:prstGeom>
          <a:noFill/>
          <a:ln>
            <a:noFill/>
          </a:ln>
        </p:spPr>
        <p:txBody>
          <a:bodyPr wrap="none" lIns="0" tIns="0" rIns="0" bIns="0" anchor="t" anchorCtr="0">
            <a:spAutoFit/>
          </a:bodyPr>
          <a:lstStyle/>
          <a:p>
            <a:pPr algn="ctr"/>
            <a:r>
              <a:rPr lang="en-US" sz="820" b="1" dirty="0">
                <a:solidFill>
                  <a:srgbClr val="F4C24C"/>
                </a:solidFill>
                <a:latin typeface="+mn-lt"/>
                <a:ea typeface="+mn-ea"/>
                <a:cs typeface="+mn-cs"/>
              </a:rPr>
              <a:t>side</a:t>
            </a:r>
          </a:p>
        </p:txBody>
      </p:sp>
      <p:sp>
        <p:nvSpPr>
          <p:cNvPr id="18" name="TextBox 18"/>
          <p:cNvSpPr txBox="1"/>
          <p:nvPr/>
        </p:nvSpPr>
        <p:spPr>
          <a:xfrm>
            <a:off x="11064577" y="1873091"/>
            <a:ext cx="235545" cy="161925"/>
          </a:xfrm>
          <a:prstGeom prst="rect">
            <a:avLst/>
          </a:prstGeom>
          <a:noFill/>
          <a:ln>
            <a:noFill/>
          </a:ln>
        </p:spPr>
        <p:txBody>
          <a:bodyPr wrap="none" lIns="0" tIns="0" rIns="0" bIns="0" anchor="t" anchorCtr="0">
            <a:spAutoFit/>
          </a:bodyPr>
          <a:lstStyle/>
          <a:p>
            <a:pPr algn="ctr"/>
            <a:r>
              <a:rPr lang="en-US" sz="820" b="1" dirty="0">
                <a:solidFill>
                  <a:srgbClr val="F4C24C"/>
                </a:solidFill>
                <a:latin typeface="+mn-lt"/>
                <a:ea typeface="+mn-ea"/>
                <a:cs typeface="+mn-cs"/>
              </a:rPr>
              <a:t>side</a:t>
            </a:r>
          </a:p>
        </p:txBody>
      </p:sp>
      <p:sp>
        <p:nvSpPr>
          <p:cNvPr id="19" name="TextBox 19"/>
          <p:cNvSpPr txBox="1"/>
          <p:nvPr/>
        </p:nvSpPr>
        <p:spPr>
          <a:xfrm>
            <a:off x="10440489" y="2482691"/>
            <a:ext cx="264522" cy="161925"/>
          </a:xfrm>
          <a:prstGeom prst="rect">
            <a:avLst/>
          </a:prstGeom>
          <a:noFill/>
          <a:ln>
            <a:noFill/>
          </a:ln>
        </p:spPr>
        <p:txBody>
          <a:bodyPr wrap="none" lIns="0" tIns="0" rIns="0" bIns="0" anchor="t" anchorCtr="0">
            <a:spAutoFit/>
          </a:bodyPr>
          <a:lstStyle/>
          <a:p>
            <a:pPr algn="ctr"/>
            <a:r>
              <a:rPr lang="en-US" sz="820" b="1" dirty="0">
                <a:solidFill>
                  <a:srgbClr val="33D6C0"/>
                </a:solidFill>
                <a:latin typeface="+mn-lt"/>
                <a:ea typeface="+mn-ea"/>
                <a:cs typeface="+mn-cs"/>
              </a:rPr>
              <a:t>rear</a:t>
            </a:r>
          </a:p>
        </p:txBody>
      </p:sp>
      <p:sp>
        <p:nvSpPr>
          <p:cNvPr id="20" name="TextBox 20"/>
          <p:cNvSpPr txBox="1"/>
          <p:nvPr/>
        </p:nvSpPr>
        <p:spPr>
          <a:xfrm>
            <a:off x="604456" y="2348151"/>
            <a:ext cx="751594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Eesha Kumar · Yiming Zhang · Stefano Pini · Simon Stent · Ana Ferreira · Sergey Zagoruyko · Christian S. Perone</a:t>
            </a:r>
          </a:p>
        </p:txBody>
      </p:sp>
      <p:grpSp>
        <p:nvGrpSpPr>
          <p:cNvPr id="31" name="Group 31"/>
          <p:cNvGrpSpPr/>
          <p:nvPr/>
        </p:nvGrpSpPr>
        <p:grpSpPr>
          <a:xfrm>
            <a:off x="609600" y="2762250"/>
            <a:ext cx="2628900" cy="2324100"/>
            <a:chOff x="609600" y="2762250"/>
            <a:chExt cx="2628900" cy="2324100"/>
          </a:xfrm>
        </p:grpSpPr>
        <p:sp>
          <p:nvSpPr>
            <p:cNvPr id="21" name="Rectangle 21"/>
            <p:cNvSpPr/>
            <p:nvPr/>
          </p:nvSpPr>
          <p:spPr>
            <a:xfrm>
              <a:off x="609600" y="2762250"/>
              <a:ext cx="2628900" cy="2324100"/>
            </a:xfrm>
            <a:prstGeom prst="roundRect">
              <a:avLst>
                <a:gd name="adj" fmla="val 5738"/>
              </a:avLst>
            </a:prstGeom>
            <a:solidFill>
              <a:schemeClr val="accent5"/>
            </a:solidFill>
            <a:ln w="14288">
              <a:solidFill>
                <a:srgbClr val="284A66"/>
              </a:solidFill>
            </a:ln>
          </p:spPr>
        </p:sp>
        <p:sp>
          <p:nvSpPr>
            <p:cNvPr id="22" name="Rectangle 22"/>
            <p:cNvSpPr/>
            <p:nvPr/>
          </p:nvSpPr>
          <p:spPr>
            <a:xfrm>
              <a:off x="609600" y="2762250"/>
              <a:ext cx="2628900" cy="57150"/>
            </a:xfrm>
            <a:prstGeom prst="roundRect">
              <a:avLst>
                <a:gd name="adj" fmla="val 50000"/>
              </a:avLst>
            </a:prstGeom>
            <a:solidFill>
              <a:schemeClr val="accent2"/>
            </a:solidFill>
            <a:ln>
              <a:noFill/>
            </a:ln>
          </p:spPr>
        </p:sp>
        <p:sp>
          <p:nvSpPr>
            <p:cNvPr id="23" name="Ellipse 23"/>
            <p:cNvSpPr/>
            <p:nvPr/>
          </p:nvSpPr>
          <p:spPr>
            <a:xfrm>
              <a:off x="790575" y="3095625"/>
              <a:ext cx="133350" cy="133350"/>
            </a:xfrm>
            <a:prstGeom prst="ellipse">
              <a:avLst/>
            </a:prstGeom>
            <a:solidFill>
              <a:schemeClr val="accent2"/>
            </a:solidFill>
            <a:ln>
              <a:noFill/>
            </a:ln>
          </p:spPr>
        </p:sp>
        <p:sp>
          <p:nvSpPr>
            <p:cNvPr id="24" name="TextBox 24"/>
            <p:cNvSpPr txBox="1"/>
            <p:nvPr/>
          </p:nvSpPr>
          <p:spPr>
            <a:xfrm>
              <a:off x="1022223" y="3081814"/>
              <a:ext cx="182827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Trained open, driven</a:t>
              </a:r>
            </a:p>
          </p:txBody>
        </p:sp>
        <p:sp>
          <p:nvSpPr>
            <p:cNvPr id="25" name="TextBox 25"/>
            <p:cNvSpPr txBox="1"/>
            <p:nvPr/>
          </p:nvSpPr>
          <p:spPr>
            <a:xfrm>
              <a:off x="1022223" y="3291364"/>
              <a:ext cx="56478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closed</a:t>
              </a:r>
            </a:p>
          </p:txBody>
        </p:sp>
        <p:sp>
          <p:nvSpPr>
            <p:cNvPr id="26" name="TextBox 26"/>
            <p:cNvSpPr txBox="1"/>
            <p:nvPr/>
          </p:nvSpPr>
          <p:spPr>
            <a:xfrm>
              <a:off x="833247" y="3647599"/>
              <a:ext cx="220403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Behavioral cloning matches expert</a:t>
              </a:r>
            </a:p>
          </p:txBody>
        </p:sp>
        <p:sp>
          <p:nvSpPr>
            <p:cNvPr id="27" name="TextBox 27"/>
            <p:cNvSpPr txBox="1"/>
            <p:nvPr/>
          </p:nvSpPr>
          <p:spPr>
            <a:xfrm>
              <a:off x="833247" y="3828574"/>
              <a:ext cx="202180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actions one step at a time, yet</a:t>
              </a:r>
            </a:p>
          </p:txBody>
        </p:sp>
        <p:sp>
          <p:nvSpPr>
            <p:cNvPr id="28" name="TextBox 28"/>
            <p:cNvSpPr txBox="1"/>
            <p:nvPr/>
          </p:nvSpPr>
          <p:spPr>
            <a:xfrm>
              <a:off x="833247" y="4009549"/>
              <a:ext cx="214713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policy is deployed closed-loop</a:t>
              </a:r>
            </a:p>
          </p:txBody>
        </p:sp>
        <p:sp>
          <p:nvSpPr>
            <p:cNvPr id="29" name="TextBox 29"/>
            <p:cNvSpPr txBox="1"/>
            <p:nvPr/>
          </p:nvSpPr>
          <p:spPr>
            <a:xfrm>
              <a:off x="833247" y="4190524"/>
              <a:ext cx="219330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where every action shapes future</a:t>
              </a:r>
            </a:p>
          </p:txBody>
        </p:sp>
        <p:sp>
          <p:nvSpPr>
            <p:cNvPr id="30" name="TextBox 30"/>
            <p:cNvSpPr txBox="1"/>
            <p:nvPr/>
          </p:nvSpPr>
          <p:spPr>
            <a:xfrm>
              <a:off x="833247" y="4371499"/>
              <a:ext cx="51782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states.</a:t>
              </a:r>
            </a:p>
          </p:txBody>
        </p:sp>
      </p:grpSp>
      <p:grpSp>
        <p:nvGrpSpPr>
          <p:cNvPr id="40" name="Group 40"/>
          <p:cNvGrpSpPr/>
          <p:nvPr/>
        </p:nvGrpSpPr>
        <p:grpSpPr>
          <a:xfrm>
            <a:off x="3390900" y="2762250"/>
            <a:ext cx="2628900" cy="2324100"/>
            <a:chOff x="3390900" y="2762250"/>
            <a:chExt cx="2628900" cy="2324100"/>
          </a:xfrm>
        </p:grpSpPr>
        <p:sp>
          <p:nvSpPr>
            <p:cNvPr id="32" name="Rectangle 32"/>
            <p:cNvSpPr/>
            <p:nvPr/>
          </p:nvSpPr>
          <p:spPr>
            <a:xfrm>
              <a:off x="3390900" y="2762250"/>
              <a:ext cx="2628900" cy="2324100"/>
            </a:xfrm>
            <a:prstGeom prst="roundRect">
              <a:avLst>
                <a:gd name="adj" fmla="val 5738"/>
              </a:avLst>
            </a:prstGeom>
            <a:solidFill>
              <a:schemeClr val="accent5"/>
            </a:solidFill>
            <a:ln w="14288">
              <a:solidFill>
                <a:srgbClr val="284A66"/>
              </a:solidFill>
            </a:ln>
          </p:spPr>
        </p:sp>
        <p:sp>
          <p:nvSpPr>
            <p:cNvPr id="33" name="Rectangle 33"/>
            <p:cNvSpPr/>
            <p:nvPr/>
          </p:nvSpPr>
          <p:spPr>
            <a:xfrm>
              <a:off x="3390900" y="2762250"/>
              <a:ext cx="2628900" cy="57150"/>
            </a:xfrm>
            <a:prstGeom prst="roundRect">
              <a:avLst>
                <a:gd name="adj" fmla="val 50000"/>
              </a:avLst>
            </a:prstGeom>
            <a:solidFill>
              <a:srgbClr val="F2685C"/>
            </a:solidFill>
            <a:ln>
              <a:noFill/>
            </a:ln>
          </p:spPr>
        </p:sp>
        <p:sp>
          <p:nvSpPr>
            <p:cNvPr id="34" name="Ellipse 34"/>
            <p:cNvSpPr/>
            <p:nvPr/>
          </p:nvSpPr>
          <p:spPr>
            <a:xfrm>
              <a:off x="3571875" y="3095625"/>
              <a:ext cx="133350" cy="133350"/>
            </a:xfrm>
            <a:prstGeom prst="ellipse">
              <a:avLst/>
            </a:prstGeom>
            <a:solidFill>
              <a:srgbClr val="F2685C"/>
            </a:solidFill>
            <a:ln>
              <a:noFill/>
            </a:ln>
          </p:spPr>
        </p:sp>
        <p:sp>
          <p:nvSpPr>
            <p:cNvPr id="35" name="TextBox 35"/>
            <p:cNvSpPr txBox="1"/>
            <p:nvPr/>
          </p:nvSpPr>
          <p:spPr>
            <a:xfrm>
              <a:off x="3803523" y="3081814"/>
              <a:ext cx="174694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mismatch hurts</a:t>
              </a:r>
            </a:p>
          </p:txBody>
        </p:sp>
        <p:sp>
          <p:nvSpPr>
            <p:cNvPr id="36" name="TextBox 36"/>
            <p:cNvSpPr txBox="1"/>
            <p:nvPr/>
          </p:nvSpPr>
          <p:spPr>
            <a:xfrm>
              <a:off x="3803523" y="3291364"/>
              <a:ext cx="61002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safety</a:t>
              </a:r>
            </a:p>
          </p:txBody>
        </p:sp>
        <p:sp>
          <p:nvSpPr>
            <p:cNvPr id="37" name="TextBox 37"/>
            <p:cNvSpPr txBox="1"/>
            <p:nvPr/>
          </p:nvSpPr>
          <p:spPr>
            <a:xfrm>
              <a:off x="3614547" y="3647599"/>
              <a:ext cx="217789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This open-loop versus closed-loop</a:t>
              </a:r>
            </a:p>
          </p:txBody>
        </p:sp>
        <p:sp>
          <p:nvSpPr>
            <p:cNvPr id="38" name="TextBox 38"/>
            <p:cNvSpPr txBox="1"/>
            <p:nvPr/>
          </p:nvSpPr>
          <p:spPr>
            <a:xfrm>
              <a:off x="3614547" y="3828574"/>
              <a:ext cx="183710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gap quietly hurts real-world</a:t>
              </a:r>
            </a:p>
          </p:txBody>
        </p:sp>
        <p:sp>
          <p:nvSpPr>
            <p:cNvPr id="39" name="TextBox 39"/>
            <p:cNvSpPr txBox="1"/>
            <p:nvPr/>
          </p:nvSpPr>
          <p:spPr>
            <a:xfrm>
              <a:off x="3614547" y="4009549"/>
              <a:ext cx="9993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driving safety.</a:t>
              </a:r>
            </a:p>
          </p:txBody>
        </p:sp>
      </p:grpSp>
      <p:grpSp>
        <p:nvGrpSpPr>
          <p:cNvPr id="49" name="Group 49"/>
          <p:cNvGrpSpPr/>
          <p:nvPr/>
        </p:nvGrpSpPr>
        <p:grpSpPr>
          <a:xfrm>
            <a:off x="6172200" y="2762250"/>
            <a:ext cx="2628900" cy="2324100"/>
            <a:chOff x="6172200" y="2762250"/>
            <a:chExt cx="2628900" cy="2324100"/>
          </a:xfrm>
        </p:grpSpPr>
        <p:sp>
          <p:nvSpPr>
            <p:cNvPr id="41" name="Rectangle 41"/>
            <p:cNvSpPr/>
            <p:nvPr/>
          </p:nvSpPr>
          <p:spPr>
            <a:xfrm>
              <a:off x="6172200" y="2762250"/>
              <a:ext cx="2628900" cy="2324100"/>
            </a:xfrm>
            <a:prstGeom prst="roundRect">
              <a:avLst>
                <a:gd name="adj" fmla="val 5738"/>
              </a:avLst>
            </a:prstGeom>
            <a:solidFill>
              <a:schemeClr val="accent5"/>
            </a:solidFill>
            <a:ln w="14288">
              <a:solidFill>
                <a:srgbClr val="284A66"/>
              </a:solidFill>
            </a:ln>
          </p:spPr>
        </p:sp>
        <p:sp>
          <p:nvSpPr>
            <p:cNvPr id="42" name="Rectangle 42"/>
            <p:cNvSpPr/>
            <p:nvPr/>
          </p:nvSpPr>
          <p:spPr>
            <a:xfrm>
              <a:off x="6172200" y="2762250"/>
              <a:ext cx="2628900" cy="57150"/>
            </a:xfrm>
            <a:prstGeom prst="roundRect">
              <a:avLst>
                <a:gd name="adj" fmla="val 50000"/>
              </a:avLst>
            </a:prstGeom>
            <a:solidFill>
              <a:srgbClr val="F4C24C"/>
            </a:solidFill>
            <a:ln>
              <a:noFill/>
            </a:ln>
          </p:spPr>
        </p:sp>
        <p:sp>
          <p:nvSpPr>
            <p:cNvPr id="43" name="Ellipse 43"/>
            <p:cNvSpPr/>
            <p:nvPr/>
          </p:nvSpPr>
          <p:spPr>
            <a:xfrm>
              <a:off x="6353175" y="3095625"/>
              <a:ext cx="133350" cy="133350"/>
            </a:xfrm>
            <a:prstGeom prst="ellipse">
              <a:avLst/>
            </a:prstGeom>
            <a:solidFill>
              <a:srgbClr val="F4C24C"/>
            </a:solidFill>
            <a:ln>
              <a:noFill/>
            </a:ln>
          </p:spPr>
        </p:sp>
        <p:sp>
          <p:nvSpPr>
            <p:cNvPr id="44" name="TextBox 44"/>
            <p:cNvSpPr txBox="1"/>
            <p:nvPr/>
          </p:nvSpPr>
          <p:spPr>
            <a:xfrm>
              <a:off x="6584823" y="3081814"/>
              <a:ext cx="171102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 two-stage recipe</a:t>
              </a:r>
            </a:p>
          </p:txBody>
        </p:sp>
        <p:sp>
          <p:nvSpPr>
            <p:cNvPr id="45" name="TextBox 45"/>
            <p:cNvSpPr txBox="1"/>
            <p:nvPr/>
          </p:nvSpPr>
          <p:spPr>
            <a:xfrm>
              <a:off x="6395847" y="3647599"/>
              <a:ext cx="185463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Run a policy in a simulator to</a:t>
              </a:r>
            </a:p>
          </p:txBody>
        </p:sp>
        <p:sp>
          <p:nvSpPr>
            <p:cNvPr id="46" name="TextBox 46"/>
            <p:cNvSpPr txBox="1"/>
            <p:nvPr/>
          </p:nvSpPr>
          <p:spPr>
            <a:xfrm>
              <a:off x="6395847" y="3828574"/>
              <a:ext cx="198882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find the scenes where it fails,</a:t>
              </a:r>
            </a:p>
          </p:txBody>
        </p:sp>
        <p:sp>
          <p:nvSpPr>
            <p:cNvPr id="47" name="TextBox 47"/>
            <p:cNvSpPr txBox="1"/>
            <p:nvPr/>
          </p:nvSpPr>
          <p:spPr>
            <a:xfrm>
              <a:off x="6395847" y="4009549"/>
              <a:ext cx="230544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then upsample exactly those scenes</a:t>
              </a:r>
            </a:p>
          </p:txBody>
        </p:sp>
        <p:sp>
          <p:nvSpPr>
            <p:cNvPr id="48" name="TextBox 48"/>
            <p:cNvSpPr txBox="1"/>
            <p:nvPr/>
          </p:nvSpPr>
          <p:spPr>
            <a:xfrm>
              <a:off x="6395847" y="4190524"/>
              <a:ext cx="195583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when training the final policy.</a:t>
              </a:r>
            </a:p>
          </p:txBody>
        </p:sp>
      </p:grpSp>
      <p:grpSp>
        <p:nvGrpSpPr>
          <p:cNvPr id="58" name="Group 58"/>
          <p:cNvGrpSpPr/>
          <p:nvPr/>
        </p:nvGrpSpPr>
        <p:grpSpPr>
          <a:xfrm>
            <a:off x="8953500" y="2762250"/>
            <a:ext cx="2628900" cy="2324100"/>
            <a:chOff x="8953500" y="2762250"/>
            <a:chExt cx="2628900" cy="2324100"/>
          </a:xfrm>
        </p:grpSpPr>
        <p:sp>
          <p:nvSpPr>
            <p:cNvPr id="50" name="Rectangle 50"/>
            <p:cNvSpPr/>
            <p:nvPr/>
          </p:nvSpPr>
          <p:spPr>
            <a:xfrm>
              <a:off x="8953500" y="2762250"/>
              <a:ext cx="2628900" cy="2324100"/>
            </a:xfrm>
            <a:prstGeom prst="roundRect">
              <a:avLst>
                <a:gd name="adj" fmla="val 5738"/>
              </a:avLst>
            </a:prstGeom>
            <a:solidFill>
              <a:schemeClr val="accent5"/>
            </a:solidFill>
            <a:ln w="14288">
              <a:solidFill>
                <a:srgbClr val="284A66"/>
              </a:solidFill>
            </a:ln>
          </p:spPr>
        </p:sp>
        <p:sp>
          <p:nvSpPr>
            <p:cNvPr id="51" name="Rectangle 51"/>
            <p:cNvSpPr/>
            <p:nvPr/>
          </p:nvSpPr>
          <p:spPr>
            <a:xfrm>
              <a:off x="8953500" y="2762250"/>
              <a:ext cx="2628900" cy="57150"/>
            </a:xfrm>
            <a:prstGeom prst="roundRect">
              <a:avLst>
                <a:gd name="adj" fmla="val 50000"/>
              </a:avLst>
            </a:prstGeom>
            <a:solidFill>
              <a:srgbClr val="46C98B"/>
            </a:solidFill>
            <a:ln>
              <a:noFill/>
            </a:ln>
          </p:spPr>
        </p:sp>
        <p:sp>
          <p:nvSpPr>
            <p:cNvPr id="52" name="Ellipse 52"/>
            <p:cNvSpPr/>
            <p:nvPr/>
          </p:nvSpPr>
          <p:spPr>
            <a:xfrm>
              <a:off x="9134475" y="3095625"/>
              <a:ext cx="133350" cy="133350"/>
            </a:xfrm>
            <a:prstGeom prst="ellipse">
              <a:avLst/>
            </a:prstGeom>
            <a:solidFill>
              <a:srgbClr val="46C98B"/>
            </a:solidFill>
            <a:ln>
              <a:noFill/>
            </a:ln>
          </p:spPr>
        </p:sp>
        <p:sp>
          <p:nvSpPr>
            <p:cNvPr id="53" name="TextBox 53"/>
            <p:cNvSpPr txBox="1"/>
            <p:nvPr/>
          </p:nvSpPr>
          <p:spPr>
            <a:xfrm>
              <a:off x="9366123" y="3081814"/>
              <a:ext cx="190366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~35% fewer collisions</a:t>
              </a:r>
            </a:p>
          </p:txBody>
        </p:sp>
        <p:sp>
          <p:nvSpPr>
            <p:cNvPr id="54" name="TextBox 54"/>
            <p:cNvSpPr txBox="1"/>
            <p:nvPr/>
          </p:nvSpPr>
          <p:spPr>
            <a:xfrm>
              <a:off x="9177147" y="3647599"/>
              <a:ext cx="213823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On a challenging urban dataset it</a:t>
              </a:r>
            </a:p>
          </p:txBody>
        </p:sp>
        <p:sp>
          <p:nvSpPr>
            <p:cNvPr id="55" name="TextBox 55"/>
            <p:cNvSpPr txBox="1"/>
            <p:nvPr/>
          </p:nvSpPr>
          <p:spPr>
            <a:xfrm>
              <a:off x="9177147" y="3828574"/>
              <a:ext cx="188987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cuts collisions substantially,</a:t>
              </a:r>
            </a:p>
          </p:txBody>
        </p:sp>
        <p:sp>
          <p:nvSpPr>
            <p:cNvPr id="56" name="TextBox 56"/>
            <p:cNvSpPr txBox="1"/>
            <p:nvPr/>
          </p:nvSpPr>
          <p:spPr>
            <a:xfrm>
              <a:off x="9177147" y="4009549"/>
              <a:ext cx="208776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with no differentiable simulator</a:t>
              </a:r>
            </a:p>
          </p:txBody>
        </p:sp>
        <p:sp>
          <p:nvSpPr>
            <p:cNvPr id="57" name="TextBox 57"/>
            <p:cNvSpPr txBox="1"/>
            <p:nvPr/>
          </p:nvSpPr>
          <p:spPr>
            <a:xfrm>
              <a:off x="9177147" y="4190524"/>
              <a:ext cx="199541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or costly closed-loop training.</a:t>
              </a:r>
            </a:p>
          </p:txBody>
        </p:sp>
      </p:grpSp>
      <p:sp>
        <p:nvSpPr>
          <p:cNvPr id="59" name="Line 59"/>
          <p:cNvSpPr/>
          <p:nvPr/>
        </p:nvSpPr>
        <p:spPr>
          <a:xfrm>
            <a:off x="609600" y="5295900"/>
            <a:ext cx="10972800" cy="9525"/>
          </a:xfrm>
          <a:custGeom>
            <a:avLst/>
            <a:gdLst/>
            <a:ahLst/>
            <a:cxnLst/>
            <a:rect l="l" t="t" r="r" b="b"/>
            <a:pathLst>
              <a:path w="10972800" h="9525">
                <a:moveTo>
                  <a:pt x="0" y="0"/>
                </a:moveTo>
                <a:lnTo>
                  <a:pt x="10972800" y="0"/>
                </a:lnTo>
              </a:path>
            </a:pathLst>
          </a:custGeom>
          <a:noFill/>
          <a:ln w="9525" cap="rnd">
            <a:solidFill>
              <a:srgbClr val="284A66"/>
            </a:solidFill>
          </a:ln>
        </p:spPr>
        <p:txBody>
          <a:bodyPr/>
          <a:p/>
        </p:txBody>
      </p:sp>
      <p:sp>
        <p:nvSpPr>
          <p:cNvPr id="60" name="TextBox 60"/>
          <p:cNvSpPr txBox="1"/>
          <p:nvPr/>
        </p:nvSpPr>
        <p:spPr>
          <a:xfrm>
            <a:off x="604266" y="552545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arXiv:2210.02174</a:t>
            </a:r>
          </a:p>
        </p:txBody>
      </p:sp>
      <p:sp>
        <p:nvSpPr>
          <p:cNvPr id="61" name="TextBox 61"/>
          <p:cNvSpPr txBox="1"/>
          <p:nvPr/>
        </p:nvSpPr>
        <p:spPr>
          <a:xfrm>
            <a:off x="2852356" y="5529501"/>
            <a:ext cx="2601463"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github.com/wp-research-uk/cw-erm</a:t>
            </a:r>
          </a:p>
        </p:txBody>
      </p:sp>
      <p:sp>
        <p:nvSpPr>
          <p:cNvPr id="62" name="TextBox 62"/>
          <p:cNvSpPr txBox="1"/>
          <p:nvPr/>
        </p:nvSpPr>
        <p:spPr>
          <a:xfrm>
            <a:off x="7824564" y="5525452"/>
            <a:ext cx="376317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Closed-loop benefits, without closed-loop training.</a:t>
            </a:r>
          </a:p>
        </p:txBody>
      </p:sp>
      <p:sp>
        <p:nvSpPr>
          <p:cNvPr id="63" name="cue_s01_c1_self_driving_policies_learned_behavi" title="cue_s01_c1_self_driving_policies_learned_behavi" descr="cue_s01_c1_self_driving_policies_learned_behavi &quot;Self-driving policies learned by behavioral cloning are usually trained open-loop, matching expert actions one step at a time, yet they are deployed closed-loop where every action shapes future states."/>
          <p:cNvSpPr/>
          <p:nvPr/>
        </p:nvSpPr>
        <p:spPr>
          <a:xfrm>
            <a:off x="609600" y="2762402"/>
            <a:ext cx="2628595" cy="2324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1_c2_mismatch_quietly_hurts_real_world_sa" title="cue_s01_c2_mismatch_quietly_hurts_real_world_sa" descr="cue_s01_c2_mismatch_quietly_hurts_real_world_sa This mismatch quietly hurts real-world safety."/>
          <p:cNvSpPr/>
          <p:nvPr/>
        </p:nvSpPr>
        <p:spPr>
          <a:xfrm>
            <a:off x="3390595" y="2762402"/>
            <a:ext cx="2628595" cy="2324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1_c3_introduces_c_w_e_r_m_closed_loop_wei" title="cue_s01_c3_introduces_c_w_e_r_m_closed_loop_wei" descr="cue_s01_c3_introduces_c_w_e_r_m_closed_loop_wei This paper introduces C-W-E-R-M, Closed-loop Weighted Empirical Risk Minimization: a simple two-stage recipe that first runs a policy in a simulator to find the scenes where it fails, then upsamples exactly those scenes when training the final policy."/>
          <p:cNvSpPr/>
          <p:nvPr/>
        </p:nvSpPr>
        <p:spPr>
          <a:xfrm>
            <a:off x="6171590" y="2762402"/>
            <a:ext cx="2628595" cy="2324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1_c4_challenging_urban_driving_dataset_cu" title="cue_s01_c4_challenging_urban_driving_dataset_cu" descr="cue_s01_c4_challenging_urban_driving_dataset_cu On a challenging urban driving dataset it cuts collisions substantially, with improvements around thirty-five percent on some metrics, all without a differentiable simulator or costly closed-loop training.&quot;"/>
          <p:cNvSpPr/>
          <p:nvPr/>
        </p:nvSpPr>
        <p:spPr>
          <a:xfrm>
            <a:off x="8953804" y="2762402"/>
            <a:ext cx="2628595" cy="2324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21934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Trained open-loop, deployed closed-loop</a:t>
            </a:r>
          </a:p>
        </p:txBody>
      </p:sp>
      <p:grpSp>
        <p:nvGrpSpPr>
          <p:cNvPr id="17" name="Group 17"/>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84A66"/>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632" y="1782366"/>
              <a:ext cx="295442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Cloning the expert's next action</a:t>
              </a:r>
            </a:p>
          </p:txBody>
        </p:sp>
        <p:sp>
          <p:nvSpPr>
            <p:cNvPr id="8" name="TextBox 8"/>
            <p:cNvSpPr txBox="1"/>
            <p:nvPr/>
          </p:nvSpPr>
          <p:spPr>
            <a:xfrm>
              <a:off x="870966" y="2153602"/>
              <a:ext cx="253811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Imitation learning for self-driving is</a:t>
              </a:r>
            </a:p>
          </p:txBody>
        </p:sp>
        <p:sp>
          <p:nvSpPr>
            <p:cNvPr id="9" name="TextBox 9"/>
            <p:cNvSpPr txBox="1"/>
            <p:nvPr/>
          </p:nvSpPr>
          <p:spPr>
            <a:xfrm>
              <a:off x="870966" y="2363152"/>
              <a:ext cx="28800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usually behavioral cloning: the network is</a:t>
              </a:r>
            </a:p>
          </p:txBody>
        </p:sp>
        <p:sp>
          <p:nvSpPr>
            <p:cNvPr id="10" name="TextBox 10"/>
            <p:cNvSpPr txBox="1"/>
            <p:nvPr/>
          </p:nvSpPr>
          <p:spPr>
            <a:xfrm>
              <a:off x="870966" y="2572702"/>
              <a:ext cx="26751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trained to reproduce an expert's next</a:t>
              </a:r>
            </a:p>
          </p:txBody>
        </p:sp>
        <p:sp>
          <p:nvSpPr>
            <p:cNvPr id="11" name="TextBox 11"/>
            <p:cNvSpPr txBox="1"/>
            <p:nvPr/>
          </p:nvSpPr>
          <p:spPr>
            <a:xfrm>
              <a:off x="870966" y="2782252"/>
              <a:ext cx="5195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action.</a:t>
              </a:r>
            </a:p>
          </p:txBody>
        </p:sp>
        <p:sp>
          <p:nvSpPr>
            <p:cNvPr id="12" name="Rectangle 12"/>
            <p:cNvSpPr/>
            <p:nvPr/>
          </p:nvSpPr>
          <p:spPr>
            <a:xfrm>
              <a:off x="876300" y="3295650"/>
              <a:ext cx="3276600" cy="1447800"/>
            </a:xfrm>
            <a:prstGeom prst="roundRect">
              <a:avLst>
                <a:gd name="adj" fmla="val 6579"/>
              </a:avLst>
            </a:prstGeom>
            <a:solidFill>
              <a:schemeClr val="accent6"/>
            </a:solidFill>
            <a:ln w="14288">
              <a:solidFill>
                <a:srgbClr val="284A66"/>
              </a:solidFill>
            </a:ln>
          </p:spPr>
        </p:sp>
        <p:sp>
          <p:nvSpPr>
            <p:cNvPr id="13" name="TextBox 13"/>
            <p:cNvSpPr txBox="1"/>
            <p:nvPr/>
          </p:nvSpPr>
          <p:spPr>
            <a:xfrm>
              <a:off x="1062038" y="3480197"/>
              <a:ext cx="1949426"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one-step supervised matching</a:t>
              </a:r>
            </a:p>
          </p:txBody>
        </p:sp>
        <p:sp>
          <p:nvSpPr>
            <p:cNvPr id="14" name="Rectangle 14"/>
            <p:cNvSpPr/>
            <p:nvPr/>
          </p:nvSpPr>
          <p:spPr>
            <a:xfrm>
              <a:off x="1066800" y="3733800"/>
              <a:ext cx="2895600" cy="381000"/>
            </a:xfrm>
            <a:prstGeom prst="roundRect">
              <a:avLst>
                <a:gd name="adj" fmla="val 20000"/>
              </a:avLst>
            </a:prstGeom>
            <a:solidFill>
              <a:schemeClr val="accent6"/>
            </a:solidFill>
            <a:ln w="14288">
              <a:solidFill>
                <a:srgbClr val="284A66"/>
              </a:solidFill>
            </a:ln>
          </p:spPr>
        </p:sp>
        <p:sp>
          <p:nvSpPr>
            <p:cNvPr id="15" name="TextBox 15"/>
            <p:cNvSpPr txBox="1"/>
            <p:nvPr/>
          </p:nvSpPr>
          <p:spPr>
            <a:xfrm>
              <a:off x="1633417" y="3876199"/>
              <a:ext cx="1762365"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min E || pi(s) - a_expert ||</a:t>
              </a:r>
            </a:p>
          </p:txBody>
        </p:sp>
        <p:sp>
          <p:nvSpPr>
            <p:cNvPr id="16" name="TextBox 16"/>
            <p:cNvSpPr txBox="1"/>
            <p:nvPr/>
          </p:nvSpPr>
          <p:spPr>
            <a:xfrm>
              <a:off x="1062038" y="4398645"/>
              <a:ext cx="2604729"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open-loop: no feedback from its own acts</a:t>
              </a:r>
            </a:p>
          </p:txBody>
        </p:sp>
      </p:grpSp>
      <p:grpSp>
        <p:nvGrpSpPr>
          <p:cNvPr id="33" name="Group 33"/>
          <p:cNvGrpSpPr/>
          <p:nvPr/>
        </p:nvGrpSpPr>
        <p:grpSpPr>
          <a:xfrm>
            <a:off x="4762500" y="1504950"/>
            <a:ext cx="6819900" cy="1428750"/>
            <a:chOff x="4762500" y="1504950"/>
            <a:chExt cx="6819900" cy="1428750"/>
          </a:xfrm>
        </p:grpSpPr>
        <p:sp>
          <p:nvSpPr>
            <p:cNvPr id="18" name="Rectangle 18"/>
            <p:cNvSpPr/>
            <p:nvPr/>
          </p:nvSpPr>
          <p:spPr>
            <a:xfrm>
              <a:off x="4762500" y="1504950"/>
              <a:ext cx="6819900" cy="1428750"/>
            </a:xfrm>
            <a:prstGeom prst="roundRect">
              <a:avLst>
                <a:gd name="adj" fmla="val 9333"/>
              </a:avLst>
            </a:prstGeom>
            <a:solidFill>
              <a:schemeClr val="accent5"/>
            </a:solidFill>
            <a:ln w="14288">
              <a:solidFill>
                <a:srgbClr val="284A66"/>
              </a:solidFill>
            </a:ln>
          </p:spPr>
        </p:sp>
        <p:sp>
          <p:nvSpPr>
            <p:cNvPr id="19" name="Rectangle 19"/>
            <p:cNvSpPr/>
            <p:nvPr/>
          </p:nvSpPr>
          <p:spPr>
            <a:xfrm>
              <a:off x="4762500" y="1504950"/>
              <a:ext cx="57150" cy="1428750"/>
            </a:xfrm>
            <a:prstGeom prst="roundRect">
              <a:avLst>
                <a:gd name="adj" fmla="val 50000"/>
              </a:avLst>
            </a:prstGeom>
            <a:solidFill>
              <a:srgbClr val="F2685C"/>
            </a:solidFill>
            <a:ln>
              <a:noFill/>
            </a:ln>
          </p:spPr>
        </p:sp>
        <p:sp>
          <p:nvSpPr>
            <p:cNvPr id="20" name="TextBox 20"/>
            <p:cNvSpPr txBox="1"/>
            <p:nvPr/>
          </p:nvSpPr>
          <p:spPr>
            <a:xfrm>
              <a:off x="5022914" y="1733312"/>
              <a:ext cx="3024411"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It never sees its own consequences</a:t>
              </a:r>
            </a:p>
          </p:txBody>
        </p:sp>
        <p:sp>
          <p:nvSpPr>
            <p:cNvPr id="21" name="TextBox 21"/>
            <p:cNvSpPr txBox="1"/>
            <p:nvPr/>
          </p:nvSpPr>
          <p:spPr>
            <a:xfrm>
              <a:off x="5023866" y="2039302"/>
              <a:ext cx="40581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Training is open-loop, so the model never sees the effects</a:t>
              </a:r>
            </a:p>
          </p:txBody>
        </p:sp>
        <p:sp>
          <p:nvSpPr>
            <p:cNvPr id="22" name="TextBox 22"/>
            <p:cNvSpPr txBox="1"/>
            <p:nvPr/>
          </p:nvSpPr>
          <p:spPr>
            <a:xfrm>
              <a:off x="5023866" y="2239328"/>
              <a:ext cx="390271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 its actions. But when it drives, every action changes</a:t>
              </a:r>
            </a:p>
          </p:txBody>
        </p:sp>
        <p:sp>
          <p:nvSpPr>
            <p:cNvPr id="23" name="TextBox 23"/>
            <p:cNvSpPr txBox="1"/>
            <p:nvPr/>
          </p:nvSpPr>
          <p:spPr>
            <a:xfrm>
              <a:off x="5023866" y="2439352"/>
              <a:ext cx="197544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future state it will see.</a:t>
              </a:r>
            </a:p>
          </p:txBody>
        </p:sp>
        <p:sp>
          <p:nvSpPr>
            <p:cNvPr id="24" name="Rectangle 24"/>
            <p:cNvSpPr/>
            <p:nvPr/>
          </p:nvSpPr>
          <p:spPr>
            <a:xfrm>
              <a:off x="8858250" y="2095500"/>
              <a:ext cx="2590800" cy="704850"/>
            </a:xfrm>
            <a:prstGeom prst="roundRect">
              <a:avLst>
                <a:gd name="adj" fmla="val 10811"/>
              </a:avLst>
            </a:prstGeom>
            <a:solidFill>
              <a:srgbClr val="0E2334"/>
            </a:solidFill>
            <a:ln w="14288">
              <a:solidFill>
                <a:srgbClr val="284A66"/>
              </a:solidFill>
            </a:ln>
          </p:spPr>
        </p:sp>
        <p:sp>
          <p:nvSpPr>
            <p:cNvPr id="25" name="Line 25"/>
            <p:cNvSpPr/>
            <p:nvPr/>
          </p:nvSpPr>
          <p:spPr>
            <a:xfrm>
              <a:off x="8972550" y="2228850"/>
              <a:ext cx="2362200" cy="9525"/>
            </a:xfrm>
            <a:custGeom>
              <a:avLst/>
              <a:gdLst/>
              <a:ahLst/>
              <a:cxnLst/>
              <a:rect l="l" t="t" r="r" b="b"/>
              <a:pathLst>
                <a:path w="2362200" h="9525">
                  <a:moveTo>
                    <a:pt x="0" y="0"/>
                  </a:moveTo>
                  <a:lnTo>
                    <a:pt x="2362200" y="0"/>
                  </a:lnTo>
                </a:path>
              </a:pathLst>
            </a:custGeom>
            <a:noFill/>
            <a:ln w="10478" cap="rnd">
              <a:solidFill>
                <a:srgbClr val="284A66"/>
              </a:solidFill>
            </a:ln>
          </p:spPr>
        </p:sp>
        <p:sp>
          <p:nvSpPr>
            <p:cNvPr id="26" name="Line 26"/>
            <p:cNvSpPr/>
            <p:nvPr/>
          </p:nvSpPr>
          <p:spPr>
            <a:xfrm>
              <a:off x="8972550" y="2686050"/>
              <a:ext cx="2362200" cy="9525"/>
            </a:xfrm>
            <a:custGeom>
              <a:avLst/>
              <a:gdLst/>
              <a:ahLst/>
              <a:cxnLst/>
              <a:rect l="l" t="t" r="r" b="b"/>
              <a:pathLst>
                <a:path w="2362200" h="9525">
                  <a:moveTo>
                    <a:pt x="0" y="0"/>
                  </a:moveTo>
                  <a:lnTo>
                    <a:pt x="2362200" y="0"/>
                  </a:lnTo>
                </a:path>
              </a:pathLst>
            </a:custGeom>
            <a:noFill/>
            <a:ln w="10478" cap="rnd">
              <a:solidFill>
                <a:srgbClr val="284A66"/>
              </a:solidFill>
            </a:ln>
          </p:spPr>
        </p:sp>
        <p:sp>
          <p:nvSpPr>
            <p:cNvPr id="27" name="Line 27"/>
            <p:cNvSpPr/>
            <p:nvPr/>
          </p:nvSpPr>
          <p:spPr>
            <a:xfrm>
              <a:off x="8972550" y="2518410"/>
              <a:ext cx="2362200" cy="9525"/>
            </a:xfrm>
            <a:custGeom>
              <a:avLst/>
              <a:gdLst/>
              <a:ahLst/>
              <a:cxnLst/>
              <a:rect l="l" t="t" r="r" b="b"/>
              <a:pathLst>
                <a:path w="2362200" h="9525">
                  <a:moveTo>
                    <a:pt x="0" y="0"/>
                  </a:moveTo>
                  <a:lnTo>
                    <a:pt x="2362200" y="0"/>
                  </a:lnTo>
                </a:path>
              </a:pathLst>
            </a:custGeom>
            <a:noFill/>
            <a:ln w="12382" cap="rnd">
              <a:solidFill>
                <a:srgbClr val="6E869C"/>
              </a:solidFill>
              <a:custDash>
                <a:ds d="692308" sp="692308"/>
              </a:custDash>
            </a:ln>
          </p:spPr>
        </p:sp>
        <p:sp>
          <p:nvSpPr>
            <p:cNvPr id="28" name="Polyline 28"/>
            <p:cNvSpPr/>
            <p:nvPr/>
          </p:nvSpPr>
          <p:spPr>
            <a:xfrm>
              <a:off x="8991600" y="2518410"/>
              <a:ext cx="2324100" cy="9525"/>
            </a:xfrm>
            <a:custGeom>
              <a:avLst/>
              <a:gdLst/>
              <a:ahLst/>
              <a:cxnLst/>
              <a:rect l="l" t="t" r="r" b="b"/>
              <a:pathLst>
                <a:path w="2324100" h="9525">
                  <a:moveTo>
                    <a:pt x="0" y="0"/>
                  </a:moveTo>
                  <a:lnTo>
                    <a:pt x="232410" y="0"/>
                  </a:lnTo>
                  <a:lnTo>
                    <a:pt x="464820" y="0"/>
                  </a:lnTo>
                  <a:lnTo>
                    <a:pt x="697230" y="0"/>
                  </a:lnTo>
                  <a:lnTo>
                    <a:pt x="929640" y="0"/>
                  </a:lnTo>
                  <a:lnTo>
                    <a:pt x="1162050" y="0"/>
                  </a:lnTo>
                  <a:lnTo>
                    <a:pt x="1394460" y="0"/>
                  </a:lnTo>
                  <a:lnTo>
                    <a:pt x="1626870" y="0"/>
                  </a:lnTo>
                  <a:lnTo>
                    <a:pt x="1859280" y="0"/>
                  </a:lnTo>
                  <a:lnTo>
                    <a:pt x="2091690" y="0"/>
                  </a:lnTo>
                  <a:lnTo>
                    <a:pt x="2324100" y="0"/>
                  </a:lnTo>
                </a:path>
              </a:pathLst>
            </a:custGeom>
            <a:noFill/>
            <a:ln w="24765" cap="rnd">
              <a:solidFill>
                <a:srgbClr val="46C98B"/>
              </a:solidFill>
              <a:round/>
            </a:ln>
          </p:spPr>
        </p:sp>
        <p:sp>
          <p:nvSpPr>
            <p:cNvPr id="29" name="Polyline 29"/>
            <p:cNvSpPr/>
            <p:nvPr/>
          </p:nvSpPr>
          <p:spPr>
            <a:xfrm>
              <a:off x="8991600" y="2222373"/>
              <a:ext cx="2324100" cy="296037"/>
            </a:xfrm>
            <a:custGeom>
              <a:avLst/>
              <a:gdLst/>
              <a:ahLst/>
              <a:cxnLst/>
              <a:rect l="l" t="t" r="r" b="b"/>
              <a:pathLst>
                <a:path w="2324100" h="296037">
                  <a:moveTo>
                    <a:pt x="0" y="296037"/>
                  </a:moveTo>
                  <a:lnTo>
                    <a:pt x="232410" y="293077"/>
                  </a:lnTo>
                  <a:lnTo>
                    <a:pt x="464820" y="284196"/>
                  </a:lnTo>
                  <a:lnTo>
                    <a:pt x="697230" y="269394"/>
                  </a:lnTo>
                  <a:lnTo>
                    <a:pt x="929640" y="248671"/>
                  </a:lnTo>
                  <a:lnTo>
                    <a:pt x="1162050" y="222028"/>
                  </a:lnTo>
                  <a:lnTo>
                    <a:pt x="1394460" y="189464"/>
                  </a:lnTo>
                  <a:lnTo>
                    <a:pt x="1626870" y="150979"/>
                  </a:lnTo>
                  <a:lnTo>
                    <a:pt x="1859280" y="106573"/>
                  </a:lnTo>
                  <a:lnTo>
                    <a:pt x="2091690" y="56247"/>
                  </a:lnTo>
                  <a:lnTo>
                    <a:pt x="2324100" y="0"/>
                  </a:lnTo>
                </a:path>
              </a:pathLst>
            </a:custGeom>
            <a:noFill/>
            <a:ln w="24765" cap="rnd">
              <a:solidFill>
                <a:srgbClr val="F2685C"/>
              </a:solidFill>
              <a:custDash>
                <a:ds d="230769" sp="192308"/>
              </a:custDash>
              <a:round/>
            </a:ln>
          </p:spPr>
        </p:sp>
        <p:sp>
          <p:nvSpPr>
            <p:cNvPr id="30" name="Ellipse 30"/>
            <p:cNvSpPr/>
            <p:nvPr/>
          </p:nvSpPr>
          <p:spPr>
            <a:xfrm>
              <a:off x="11272838" y="2179510"/>
              <a:ext cx="85725" cy="85725"/>
            </a:xfrm>
            <a:prstGeom prst="ellipse">
              <a:avLst/>
            </a:prstGeom>
            <a:solidFill>
              <a:srgbClr val="F2685C"/>
            </a:solidFill>
            <a:ln>
              <a:noFill/>
            </a:ln>
          </p:spPr>
        </p:sp>
        <p:sp>
          <p:nvSpPr>
            <p:cNvPr id="31" name="TextBox 31"/>
            <p:cNvSpPr txBox="1"/>
            <p:nvPr/>
          </p:nvSpPr>
          <p:spPr>
            <a:xfrm>
              <a:off x="10261265" y="2585799"/>
              <a:ext cx="1059198" cy="154781"/>
            </a:xfrm>
            <a:prstGeom prst="rect">
              <a:avLst/>
            </a:prstGeom>
            <a:noFill/>
            <a:ln>
              <a:noFill/>
            </a:ln>
          </p:spPr>
          <p:txBody>
            <a:bodyPr wrap="none" lIns="0" tIns="0" rIns="0" bIns="0" anchor="t" anchorCtr="0">
              <a:spAutoFit/>
            </a:bodyPr>
            <a:lstStyle/>
            <a:p>
              <a:pPr algn="r"/>
              <a:r>
                <a:rPr lang="en-US" sz="790" b="1" dirty="0">
                  <a:solidFill>
                    <a:srgbClr val="46C98B"/>
                  </a:solidFill>
                  <a:latin typeface="+mn-lt"/>
                  <a:ea typeface="+mn-ea"/>
                  <a:cs typeface="+mn-cs"/>
                </a:rPr>
                <a:t>expert (open-loop)</a:t>
              </a:r>
            </a:p>
          </p:txBody>
        </p:sp>
        <p:sp>
          <p:nvSpPr>
            <p:cNvPr id="32" name="TextBox 32"/>
            <p:cNvSpPr txBox="1"/>
            <p:nvPr/>
          </p:nvSpPr>
          <p:spPr>
            <a:xfrm>
              <a:off x="10254184" y="2220039"/>
              <a:ext cx="1066278" cy="154781"/>
            </a:xfrm>
            <a:prstGeom prst="rect">
              <a:avLst/>
            </a:prstGeom>
            <a:noFill/>
            <a:ln>
              <a:noFill/>
            </a:ln>
          </p:spPr>
          <p:txBody>
            <a:bodyPr wrap="none" lIns="0" tIns="0" rIns="0" bIns="0" anchor="t" anchorCtr="0">
              <a:spAutoFit/>
            </a:bodyPr>
            <a:lstStyle/>
            <a:p>
              <a:pPr algn="r"/>
              <a:r>
                <a:rPr lang="en-US" sz="790" b="1" dirty="0">
                  <a:solidFill>
                    <a:srgbClr val="F2685C"/>
                  </a:solidFill>
                  <a:latin typeface="+mn-lt"/>
                  <a:ea typeface="+mn-ea"/>
                  <a:cs typeface="+mn-cs"/>
                </a:rPr>
                <a:t>policy drift -&gt; OOD</a:t>
              </a:r>
            </a:p>
          </p:txBody>
        </p:sp>
      </p:grpSp>
      <p:grpSp>
        <p:nvGrpSpPr>
          <p:cNvPr id="39" name="Group 39"/>
          <p:cNvGrpSpPr/>
          <p:nvPr/>
        </p:nvGrpSpPr>
        <p:grpSpPr>
          <a:xfrm>
            <a:off x="4762500" y="3086100"/>
            <a:ext cx="6819900" cy="990600"/>
            <a:chOff x="4762500" y="3086100"/>
            <a:chExt cx="6819900" cy="990600"/>
          </a:xfrm>
        </p:grpSpPr>
        <p:sp>
          <p:nvSpPr>
            <p:cNvPr id="34" name="Rectangle 34"/>
            <p:cNvSpPr/>
            <p:nvPr/>
          </p:nvSpPr>
          <p:spPr>
            <a:xfrm>
              <a:off x="4762500" y="3086100"/>
              <a:ext cx="6819900" cy="990600"/>
            </a:xfrm>
            <a:prstGeom prst="roundRect">
              <a:avLst>
                <a:gd name="adj" fmla="val 13462"/>
              </a:avLst>
            </a:prstGeom>
            <a:solidFill>
              <a:schemeClr val="accent5"/>
            </a:solidFill>
            <a:ln w="14288">
              <a:solidFill>
                <a:srgbClr val="284A66"/>
              </a:solidFill>
            </a:ln>
          </p:spPr>
        </p:sp>
        <p:sp>
          <p:nvSpPr>
            <p:cNvPr id="35" name="Rectangle 35"/>
            <p:cNvSpPr/>
            <p:nvPr/>
          </p:nvSpPr>
          <p:spPr>
            <a:xfrm>
              <a:off x="4762500" y="3086100"/>
              <a:ext cx="57150" cy="990600"/>
            </a:xfrm>
            <a:prstGeom prst="roundRect">
              <a:avLst>
                <a:gd name="adj" fmla="val 50000"/>
              </a:avLst>
            </a:prstGeom>
            <a:solidFill>
              <a:srgbClr val="F4C24C"/>
            </a:solidFill>
            <a:ln>
              <a:noFill/>
            </a:ln>
          </p:spPr>
        </p:sp>
        <p:sp>
          <p:nvSpPr>
            <p:cNvPr id="36" name="TextBox 36"/>
            <p:cNvSpPr txBox="1"/>
            <p:nvPr/>
          </p:nvSpPr>
          <p:spPr>
            <a:xfrm>
              <a:off x="5023104" y="3318510"/>
              <a:ext cx="2672771" cy="234696"/>
            </a:xfrm>
            <a:prstGeom prst="rect">
              <a:avLst/>
            </a:prstGeom>
            <a:noFill/>
            <a:ln>
              <a:noFill/>
            </a:ln>
          </p:spPr>
          <p:txBody>
            <a:bodyPr wrap="none" lIns="0" tIns="0" rIns="0" bIns="0" anchor="t" anchorCtr="0">
              <a:spAutoFit/>
            </a:bodyPr>
            <a:lstStyle/>
            <a:p>
              <a:pPr algn="l"/>
              <a:r>
                <a:rPr lang="en-US" sz="1200" b="1" dirty="0">
                  <a:solidFill>
                    <a:srgbClr val="F4C24C"/>
                  </a:solidFill>
                  <a:latin typeface="+mn-lt"/>
                  <a:ea typeface="+mn-ea"/>
                  <a:cs typeface="+mn-cs"/>
                </a:rPr>
                <a:t>Small errors compound into OOD</a:t>
              </a:r>
            </a:p>
          </p:txBody>
        </p:sp>
        <p:sp>
          <p:nvSpPr>
            <p:cNvPr id="37" name="TextBox 37"/>
            <p:cNvSpPr txBox="1"/>
            <p:nvPr/>
          </p:nvSpPr>
          <p:spPr>
            <a:xfrm>
              <a:off x="5023676" y="3616404"/>
              <a:ext cx="408042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Small prediction errors accumulate, pushing the car into</a:t>
              </a:r>
            </a:p>
          </p:txBody>
        </p:sp>
        <p:sp>
          <p:nvSpPr>
            <p:cNvPr id="38" name="TextBox 38"/>
            <p:cNvSpPr txBox="1"/>
            <p:nvPr/>
          </p:nvSpPr>
          <p:spPr>
            <a:xfrm>
              <a:off x="5023676" y="3825954"/>
              <a:ext cx="400226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out-of-distribution situations it was never trained on.</a:t>
              </a:r>
            </a:p>
          </p:txBody>
        </p:sp>
      </p:grpSp>
      <p:grpSp>
        <p:nvGrpSpPr>
          <p:cNvPr id="45" name="Group 45"/>
          <p:cNvGrpSpPr/>
          <p:nvPr/>
        </p:nvGrpSpPr>
        <p:grpSpPr>
          <a:xfrm>
            <a:off x="4762500" y="4229100"/>
            <a:ext cx="6819900" cy="1009650"/>
            <a:chOff x="4762500" y="4229100"/>
            <a:chExt cx="6819900" cy="1009650"/>
          </a:xfrm>
        </p:grpSpPr>
        <p:sp>
          <p:nvSpPr>
            <p:cNvPr id="40" name="Rectangle 40"/>
            <p:cNvSpPr/>
            <p:nvPr/>
          </p:nvSpPr>
          <p:spPr>
            <a:xfrm>
              <a:off x="4762500" y="4229100"/>
              <a:ext cx="6819900" cy="1009650"/>
            </a:xfrm>
            <a:prstGeom prst="roundRect">
              <a:avLst>
                <a:gd name="adj" fmla="val 13208"/>
              </a:avLst>
            </a:prstGeom>
            <a:solidFill>
              <a:srgbClr val="2A2417"/>
            </a:solidFill>
            <a:ln w="14288">
              <a:solidFill>
                <a:srgbClr val="F4C24C"/>
              </a:solidFill>
            </a:ln>
          </p:spPr>
        </p:sp>
        <p:sp>
          <p:nvSpPr>
            <p:cNvPr id="41" name="Rectangle 41"/>
            <p:cNvSpPr/>
            <p:nvPr/>
          </p:nvSpPr>
          <p:spPr>
            <a:xfrm>
              <a:off x="4762500" y="4229100"/>
              <a:ext cx="57150" cy="1009650"/>
            </a:xfrm>
            <a:prstGeom prst="roundRect">
              <a:avLst>
                <a:gd name="adj" fmla="val 50000"/>
              </a:avLst>
            </a:prstGeom>
            <a:solidFill>
              <a:srgbClr val="F2685C"/>
            </a:solidFill>
            <a:ln>
              <a:noFill/>
            </a:ln>
          </p:spPr>
        </p:sp>
        <p:sp>
          <p:nvSpPr>
            <p:cNvPr id="42" name="TextBox 42"/>
            <p:cNvSpPr txBox="1"/>
            <p:nvPr/>
          </p:nvSpPr>
          <p:spPr>
            <a:xfrm>
              <a:off x="5023104" y="4461510"/>
              <a:ext cx="3113255"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The metrics that matter are invisible</a:t>
              </a:r>
            </a:p>
          </p:txBody>
        </p:sp>
        <p:sp>
          <p:nvSpPr>
            <p:cNvPr id="43" name="TextBox 43"/>
            <p:cNvSpPr txBox="1"/>
            <p:nvPr/>
          </p:nvSpPr>
          <p:spPr>
            <a:xfrm>
              <a:off x="5023676" y="4759404"/>
              <a:ext cx="490203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Collisions are non-differentiable, invisible to the loss, so the policy</a:t>
              </a:r>
            </a:p>
          </p:txBody>
        </p:sp>
        <p:sp>
          <p:nvSpPr>
            <p:cNvPr id="44" name="TextBox 44"/>
            <p:cNvSpPr txBox="1"/>
            <p:nvPr/>
          </p:nvSpPr>
          <p:spPr>
            <a:xfrm>
              <a:off x="5023676" y="4968954"/>
              <a:ext cx="376748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looks great open-loop but drives poorly closed-loop.</a:t>
              </a:r>
            </a:p>
          </p:txBody>
        </p:sp>
      </p:grpSp>
      <p:sp>
        <p:nvSpPr>
          <p:cNvPr id="46" name="cue_s02_c1_imitation_learning_self_driving_cars" title="cue_s02_c1_imitation_learning_self_driving_cars" descr="cue_s02_c1_imitation_learning_self_driving_cars &quot;Imitation learning for self-driving cars is usually done through behavioral cloning, where the network is trained to reproduce an expert's next action."/>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2_c2_catch_done_open_loop_never_sees" title="cue_s02_c2_catch_done_open_loop_never_sees" descr="cue_s02_c2_catch_done_open_loop_never_sees The catch is that this is done open-loop: the model never sees the consequences of its own actions. But when the policy actually drives, every action changes the future state it will see."/>
          <p:cNvSpPr/>
          <p:nvPr/>
        </p:nvSpPr>
        <p:spPr>
          <a:xfrm>
            <a:off x="4762195" y="1504645"/>
            <a:ext cx="68202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2_c3_small_prediction_errors_accumulate_p" title="cue_s02_c3_small_prediction_errors_accumulate_p" descr="cue_s02_c3_small_prediction_errors_accumulate_p Small prediction errors accumulate, pushing the car into out-of-distribution situations the model was never trained on."/>
          <p:cNvSpPr/>
          <p:nvPr/>
        </p:nvSpPr>
        <p:spPr>
          <a:xfrm>
            <a:off x="4762195" y="3086100"/>
            <a:ext cx="6820204"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4_metrics_truly_matter_like_collisions" title="cue_s02_c4_metrics_truly_matter_like_collisions" descr="cue_s02_c4_metrics_truly_matter_like_collisions And the metrics that truly matter, like collisions, are non-differentiable, so they are effectively invisible to the standard training loss. The result is a policy that looks great open-loop but drives poorly in closed-loop evaluation.&quot;"/>
          <p:cNvSpPr/>
          <p:nvPr/>
        </p:nvSpPr>
        <p:spPr>
          <a:xfrm>
            <a:off x="4762195" y="4229328"/>
            <a:ext cx="6820204"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10816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Closed-loop benefits, without the cost</a:t>
            </a:r>
          </a:p>
        </p:txBody>
      </p:sp>
      <p:grpSp>
        <p:nvGrpSpPr>
          <p:cNvPr id="13" name="Group 13"/>
          <p:cNvGrpSpPr/>
          <p:nvPr/>
        </p:nvGrpSpPr>
        <p:grpSpPr>
          <a:xfrm>
            <a:off x="609600" y="1504950"/>
            <a:ext cx="5334000" cy="1828800"/>
            <a:chOff x="609600" y="1504950"/>
            <a:chExt cx="5334000" cy="1828800"/>
          </a:xfrm>
        </p:grpSpPr>
        <p:sp>
          <p:nvSpPr>
            <p:cNvPr id="5" name="Rectangle 5"/>
            <p:cNvSpPr/>
            <p:nvPr/>
          </p:nvSpPr>
          <p:spPr>
            <a:xfrm>
              <a:off x="609600" y="1504950"/>
              <a:ext cx="5334000" cy="1828800"/>
            </a:xfrm>
            <a:prstGeom prst="roundRect">
              <a:avLst>
                <a:gd name="adj" fmla="val 7292"/>
              </a:avLst>
            </a:prstGeom>
            <a:solidFill>
              <a:schemeClr val="accent5"/>
            </a:solidFill>
            <a:ln w="14288">
              <a:solidFill>
                <a:srgbClr val="284A66"/>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014" y="1733312"/>
              <a:ext cx="298071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Prior work puts the sim in the loop</a:t>
              </a:r>
            </a:p>
          </p:txBody>
        </p:sp>
        <p:sp>
          <p:nvSpPr>
            <p:cNvPr id="8" name="TextBox 8"/>
            <p:cNvSpPr txBox="1"/>
            <p:nvPr/>
          </p:nvSpPr>
          <p:spPr>
            <a:xfrm>
              <a:off x="870966" y="2039302"/>
              <a:ext cx="390420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Methods like Urban Driver run a differentiable simulator</a:t>
              </a:r>
            </a:p>
          </p:txBody>
        </p:sp>
        <p:sp>
          <p:nvSpPr>
            <p:cNvPr id="9" name="TextBox 9"/>
            <p:cNvSpPr txBox="1"/>
            <p:nvPr/>
          </p:nvSpPr>
          <p:spPr>
            <a:xfrm>
              <a:off x="870966" y="2239328"/>
              <a:ext cx="38342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directly inside the training loop, using backpropagation</a:t>
              </a:r>
            </a:p>
          </p:txBody>
        </p:sp>
        <p:sp>
          <p:nvSpPr>
            <p:cNvPr id="10" name="TextBox 10"/>
            <p:cNvSpPr txBox="1"/>
            <p:nvPr/>
          </p:nvSpPr>
          <p:spPr>
            <a:xfrm>
              <a:off x="870966" y="2439352"/>
              <a:ext cx="9789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through time.</a:t>
              </a:r>
            </a:p>
          </p:txBody>
        </p:sp>
        <p:sp>
          <p:nvSpPr>
            <p:cNvPr id="11" name="Rectangle 11"/>
            <p:cNvSpPr/>
            <p:nvPr/>
          </p:nvSpPr>
          <p:spPr>
            <a:xfrm>
              <a:off x="876300" y="2857500"/>
              <a:ext cx="4800600" cy="419100"/>
            </a:xfrm>
            <a:prstGeom prst="roundRect">
              <a:avLst>
                <a:gd name="adj" fmla="val 18182"/>
              </a:avLst>
            </a:prstGeom>
            <a:solidFill>
              <a:schemeClr val="accent6"/>
            </a:solidFill>
            <a:ln w="14288">
              <a:solidFill>
                <a:srgbClr val="284A66"/>
              </a:solidFill>
            </a:ln>
          </p:spPr>
        </p:sp>
        <p:sp>
          <p:nvSpPr>
            <p:cNvPr id="12" name="TextBox 12"/>
            <p:cNvSpPr txBox="1"/>
            <p:nvPr/>
          </p:nvSpPr>
          <p:spPr>
            <a:xfrm>
              <a:off x="1901693" y="3014901"/>
              <a:ext cx="2749815"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grad flows through unrolled sim (BPTT)</a:t>
              </a:r>
            </a:p>
          </p:txBody>
        </p:sp>
      </p:grpSp>
      <p:grpSp>
        <p:nvGrpSpPr>
          <p:cNvPr id="23" name="Group 23"/>
          <p:cNvGrpSpPr/>
          <p:nvPr/>
        </p:nvGrpSpPr>
        <p:grpSpPr>
          <a:xfrm>
            <a:off x="609600" y="3486150"/>
            <a:ext cx="5334000" cy="1752600"/>
            <a:chOff x="609600" y="3486150"/>
            <a:chExt cx="5334000" cy="1752600"/>
          </a:xfrm>
        </p:grpSpPr>
        <p:sp>
          <p:nvSpPr>
            <p:cNvPr id="14" name="Rectangle 14"/>
            <p:cNvSpPr/>
            <p:nvPr/>
          </p:nvSpPr>
          <p:spPr>
            <a:xfrm>
              <a:off x="609600" y="3486150"/>
              <a:ext cx="5334000" cy="1752600"/>
            </a:xfrm>
            <a:prstGeom prst="roundRect">
              <a:avLst>
                <a:gd name="adj" fmla="val 7609"/>
              </a:avLst>
            </a:prstGeom>
            <a:solidFill>
              <a:srgbClr val="2A2417"/>
            </a:solidFill>
            <a:ln w="14288">
              <a:solidFill>
                <a:srgbClr val="F4C24C"/>
              </a:solidFill>
            </a:ln>
          </p:spPr>
        </p:sp>
        <p:sp>
          <p:nvSpPr>
            <p:cNvPr id="15" name="Rectangle 15"/>
            <p:cNvSpPr/>
            <p:nvPr/>
          </p:nvSpPr>
          <p:spPr>
            <a:xfrm>
              <a:off x="609600" y="3486150"/>
              <a:ext cx="57150" cy="1752600"/>
            </a:xfrm>
            <a:prstGeom prst="roundRect">
              <a:avLst>
                <a:gd name="adj" fmla="val 50000"/>
              </a:avLst>
            </a:prstGeom>
            <a:solidFill>
              <a:srgbClr val="F4C24C"/>
            </a:solidFill>
            <a:ln>
              <a:noFill/>
            </a:ln>
          </p:spPr>
        </p:sp>
        <p:sp>
          <p:nvSpPr>
            <p:cNvPr id="16" name="TextBox 16"/>
            <p:cNvSpPr txBox="1"/>
            <p:nvPr/>
          </p:nvSpPr>
          <p:spPr>
            <a:xfrm>
              <a:off x="870204" y="3718560"/>
              <a:ext cx="1535672" cy="234696"/>
            </a:xfrm>
            <a:prstGeom prst="rect">
              <a:avLst/>
            </a:prstGeom>
            <a:noFill/>
            <a:ln>
              <a:noFill/>
            </a:ln>
          </p:spPr>
          <p:txBody>
            <a:bodyPr wrap="none" lIns="0" tIns="0" rIns="0" bIns="0" anchor="t" anchorCtr="0">
              <a:spAutoFit/>
            </a:bodyPr>
            <a:lstStyle/>
            <a:p>
              <a:pPr algn="l"/>
              <a:r>
                <a:rPr lang="en-US" sz="1200" b="1" dirty="0">
                  <a:solidFill>
                    <a:srgbClr val="F4C24C"/>
                  </a:solidFill>
                  <a:latin typeface="+mn-lt"/>
                  <a:ea typeface="+mn-ea"/>
                  <a:cs typeface="+mn-cs"/>
                </a:rPr>
                <a:t>But it is expensive</a:t>
              </a:r>
            </a:p>
          </p:txBody>
        </p:sp>
        <p:sp>
          <p:nvSpPr>
            <p:cNvPr id="17" name="TextBox 17"/>
            <p:cNvSpPr txBox="1"/>
            <p:nvPr/>
          </p:nvSpPr>
          <p:spPr>
            <a:xfrm>
              <a:off x="870966" y="4020502"/>
              <a:ext cx="367626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It needs a differentiable simulator, it does not scale</a:t>
              </a:r>
            </a:p>
          </p:txBody>
        </p:sp>
        <p:sp>
          <p:nvSpPr>
            <p:cNvPr id="18" name="TextBox 18"/>
            <p:cNvSpPr txBox="1"/>
            <p:nvPr/>
          </p:nvSpPr>
          <p:spPr>
            <a:xfrm>
              <a:off x="870966" y="4220528"/>
              <a:ext cx="380594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well, and it carries the heavy memory cost of unrolling</a:t>
              </a:r>
            </a:p>
          </p:txBody>
        </p:sp>
        <p:sp>
          <p:nvSpPr>
            <p:cNvPr id="19" name="TextBox 19"/>
            <p:cNvSpPr txBox="1"/>
            <p:nvPr/>
          </p:nvSpPr>
          <p:spPr>
            <a:xfrm>
              <a:off x="870966" y="4420552"/>
              <a:ext cx="167154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policies during training.</a:t>
              </a:r>
            </a:p>
          </p:txBody>
        </p:sp>
        <p:sp>
          <p:nvSpPr>
            <p:cNvPr id="20" name="Rectangle 20"/>
            <p:cNvSpPr/>
            <p:nvPr/>
          </p:nvSpPr>
          <p:spPr>
            <a:xfrm>
              <a:off x="876300" y="4914900"/>
              <a:ext cx="4457700" cy="266700"/>
            </a:xfrm>
            <a:prstGeom prst="roundRect">
              <a:avLst>
                <a:gd name="adj" fmla="val 28571"/>
              </a:avLst>
            </a:prstGeom>
            <a:solidFill>
              <a:schemeClr val="accent6"/>
            </a:solidFill>
            <a:ln w="14288">
              <a:solidFill>
                <a:srgbClr val="284A66"/>
              </a:solidFill>
            </a:ln>
          </p:spPr>
        </p:sp>
        <p:sp>
          <p:nvSpPr>
            <p:cNvPr id="21" name="Ellipse 21"/>
            <p:cNvSpPr/>
            <p:nvPr/>
          </p:nvSpPr>
          <p:spPr>
            <a:xfrm>
              <a:off x="1000125" y="5000625"/>
              <a:ext cx="95250" cy="95250"/>
            </a:xfrm>
            <a:prstGeom prst="ellipse">
              <a:avLst/>
            </a:prstGeom>
            <a:solidFill>
              <a:srgbClr val="F4C24C"/>
            </a:solidFill>
            <a:ln>
              <a:noFill/>
            </a:ln>
          </p:spPr>
        </p:sp>
        <p:sp>
          <p:nvSpPr>
            <p:cNvPr id="22" name="TextBox 22"/>
            <p:cNvSpPr txBox="1"/>
            <p:nvPr/>
          </p:nvSpPr>
          <p:spPr>
            <a:xfrm>
              <a:off x="1194626" y="4988004"/>
              <a:ext cx="367027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differentiable sim · poor scaling · memory heavy</a:t>
              </a:r>
            </a:p>
          </p:txBody>
        </p:sp>
      </p:grpSp>
      <p:grpSp>
        <p:nvGrpSpPr>
          <p:cNvPr id="33" name="Group 33"/>
          <p:cNvGrpSpPr/>
          <p:nvPr/>
        </p:nvGrpSpPr>
        <p:grpSpPr>
          <a:xfrm>
            <a:off x="6172200" y="1504950"/>
            <a:ext cx="5410200" cy="1828800"/>
            <a:chOff x="6172200" y="1504950"/>
            <a:chExt cx="5410200" cy="1828800"/>
          </a:xfrm>
        </p:grpSpPr>
        <p:sp>
          <p:nvSpPr>
            <p:cNvPr id="24" name="Rectangle 24"/>
            <p:cNvSpPr/>
            <p:nvPr/>
          </p:nvSpPr>
          <p:spPr>
            <a:xfrm>
              <a:off x="6172200" y="1504950"/>
              <a:ext cx="5410200" cy="1828800"/>
            </a:xfrm>
            <a:prstGeom prst="roundRect">
              <a:avLst>
                <a:gd name="adj" fmla="val 7292"/>
              </a:avLst>
            </a:prstGeom>
            <a:solidFill>
              <a:schemeClr val="accent5"/>
            </a:solidFill>
            <a:ln w="14288">
              <a:solidFill>
                <a:srgbClr val="284A66"/>
              </a:solidFill>
            </a:ln>
          </p:spPr>
        </p:sp>
        <p:sp>
          <p:nvSpPr>
            <p:cNvPr id="25" name="Rectangle 25"/>
            <p:cNvSpPr/>
            <p:nvPr/>
          </p:nvSpPr>
          <p:spPr>
            <a:xfrm>
              <a:off x="6172200" y="1504950"/>
              <a:ext cx="57150" cy="1828800"/>
            </a:xfrm>
            <a:prstGeom prst="roundRect">
              <a:avLst>
                <a:gd name="adj" fmla="val 50000"/>
              </a:avLst>
            </a:prstGeom>
            <a:solidFill>
              <a:srgbClr val="F2685C"/>
            </a:solidFill>
            <a:ln>
              <a:noFill/>
            </a:ln>
          </p:spPr>
        </p:sp>
        <p:sp>
          <p:nvSpPr>
            <p:cNvPr id="26" name="TextBox 26"/>
            <p:cNvSpPr txBox="1"/>
            <p:nvPr/>
          </p:nvSpPr>
          <p:spPr>
            <a:xfrm>
              <a:off x="6432614" y="1733312"/>
              <a:ext cx="3208601"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On-policy data and oracles cost more</a:t>
              </a:r>
            </a:p>
          </p:txBody>
        </p:sp>
        <p:sp>
          <p:nvSpPr>
            <p:cNvPr id="27" name="TextBox 27"/>
            <p:cNvSpPr txBox="1"/>
            <p:nvPr/>
          </p:nvSpPr>
          <p:spPr>
            <a:xfrm>
              <a:off x="6433566" y="2039302"/>
              <a:ext cx="369759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Other approaches collect on-policy data or add extra</a:t>
              </a:r>
            </a:p>
          </p:txBody>
        </p:sp>
        <p:sp>
          <p:nvSpPr>
            <p:cNvPr id="28" name="TextBox 28"/>
            <p:cNvSpPr txBox="1"/>
            <p:nvPr/>
          </p:nvSpPr>
          <p:spPr>
            <a:xfrm>
              <a:off x="6433566" y="2239328"/>
              <a:ext cx="356564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human oracles to label behavior, which are slow and</a:t>
              </a:r>
            </a:p>
          </p:txBody>
        </p:sp>
        <p:sp>
          <p:nvSpPr>
            <p:cNvPr id="29" name="TextBox 29"/>
            <p:cNvSpPr txBox="1"/>
            <p:nvPr/>
          </p:nvSpPr>
          <p:spPr>
            <a:xfrm>
              <a:off x="6433566" y="2439352"/>
              <a:ext cx="99305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costly to run.</a:t>
              </a:r>
            </a:p>
          </p:txBody>
        </p:sp>
        <p:sp>
          <p:nvSpPr>
            <p:cNvPr id="30" name="Rectangle 30"/>
            <p:cNvSpPr/>
            <p:nvPr/>
          </p:nvSpPr>
          <p:spPr>
            <a:xfrm>
              <a:off x="6438900" y="2857500"/>
              <a:ext cx="4876800" cy="285750"/>
            </a:xfrm>
            <a:prstGeom prst="roundRect">
              <a:avLst>
                <a:gd name="adj" fmla="val 26667"/>
              </a:avLst>
            </a:prstGeom>
            <a:solidFill>
              <a:schemeClr val="accent6"/>
            </a:solidFill>
            <a:ln w="14288">
              <a:solidFill>
                <a:srgbClr val="284A66"/>
              </a:solidFill>
            </a:ln>
          </p:spPr>
        </p:sp>
        <p:sp>
          <p:nvSpPr>
            <p:cNvPr id="31" name="Ellipse 31"/>
            <p:cNvSpPr/>
            <p:nvPr/>
          </p:nvSpPr>
          <p:spPr>
            <a:xfrm>
              <a:off x="6562725" y="2952750"/>
              <a:ext cx="95250" cy="95250"/>
            </a:xfrm>
            <a:prstGeom prst="ellipse">
              <a:avLst/>
            </a:prstGeom>
            <a:solidFill>
              <a:srgbClr val="F2685C"/>
            </a:solidFill>
            <a:ln>
              <a:noFill/>
            </a:ln>
          </p:spPr>
        </p:sp>
        <p:sp>
          <p:nvSpPr>
            <p:cNvPr id="32" name="TextBox 32"/>
            <p:cNvSpPr txBox="1"/>
            <p:nvPr/>
          </p:nvSpPr>
          <p:spPr>
            <a:xfrm>
              <a:off x="6757226" y="2940129"/>
              <a:ext cx="308479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on-policy rollouts · human oracles · slow</a:t>
              </a:r>
            </a:p>
          </p:txBody>
        </p:sp>
      </p:grpSp>
      <p:grpSp>
        <p:nvGrpSpPr>
          <p:cNvPr id="41" name="Group 41"/>
          <p:cNvGrpSpPr/>
          <p:nvPr/>
        </p:nvGrpSpPr>
        <p:grpSpPr>
          <a:xfrm>
            <a:off x="6172200" y="3486150"/>
            <a:ext cx="5410200" cy="1752600"/>
            <a:chOff x="6172200" y="3486150"/>
            <a:chExt cx="5410200" cy="1752600"/>
          </a:xfrm>
        </p:grpSpPr>
        <p:sp>
          <p:nvSpPr>
            <p:cNvPr id="34" name="Rectangle 34"/>
            <p:cNvSpPr/>
            <p:nvPr/>
          </p:nvSpPr>
          <p:spPr>
            <a:xfrm>
              <a:off x="6172200" y="3486150"/>
              <a:ext cx="5410200" cy="1752600"/>
            </a:xfrm>
            <a:prstGeom prst="roundRect">
              <a:avLst>
                <a:gd name="adj" fmla="val 7609"/>
              </a:avLst>
            </a:prstGeom>
            <a:solidFill>
              <a:srgbClr val="0F2E2B"/>
            </a:solidFill>
            <a:ln w="14288">
              <a:solidFill>
                <a:srgbClr val="46C98B"/>
              </a:solidFill>
            </a:ln>
          </p:spPr>
        </p:sp>
        <p:sp>
          <p:nvSpPr>
            <p:cNvPr id="35" name="Rectangle 35"/>
            <p:cNvSpPr/>
            <p:nvPr/>
          </p:nvSpPr>
          <p:spPr>
            <a:xfrm>
              <a:off x="6172200" y="3486150"/>
              <a:ext cx="57150" cy="1752600"/>
            </a:xfrm>
            <a:prstGeom prst="roundRect">
              <a:avLst>
                <a:gd name="adj" fmla="val 50000"/>
              </a:avLst>
            </a:prstGeom>
            <a:solidFill>
              <a:srgbClr val="46C98B"/>
            </a:solidFill>
            <a:ln>
              <a:noFill/>
            </a:ln>
          </p:spPr>
        </p:sp>
        <p:sp>
          <p:nvSpPr>
            <p:cNvPr id="36" name="TextBox 36"/>
            <p:cNvSpPr txBox="1"/>
            <p:nvPr/>
          </p:nvSpPr>
          <p:spPr>
            <a:xfrm>
              <a:off x="6432804" y="3718560"/>
              <a:ext cx="2468385" cy="234696"/>
            </a:xfrm>
            <a:prstGeom prst="rect">
              <a:avLst/>
            </a:prstGeom>
            <a:noFill/>
            <a:ln>
              <a:noFill/>
            </a:ln>
          </p:spPr>
          <p:txBody>
            <a:bodyPr wrap="none" lIns="0" tIns="0" rIns="0" bIns="0" anchor="t" anchorCtr="0">
              <a:spAutoFit/>
            </a:bodyPr>
            <a:lstStyle/>
            <a:p>
              <a:pPr algn="l"/>
              <a:r>
                <a:rPr lang="en-US" sz="1200" b="1" dirty="0">
                  <a:solidFill>
                    <a:srgbClr val="46C98B"/>
                  </a:solidFill>
                  <a:latin typeface="+mn-lt"/>
                  <a:ea typeface="+mn-ea"/>
                  <a:cs typeface="+mn-cs"/>
                </a:rPr>
                <a:t>A simpler question -&gt; CW-ERM</a:t>
              </a:r>
            </a:p>
          </p:txBody>
        </p:sp>
        <p:sp>
          <p:nvSpPr>
            <p:cNvPr id="37" name="TextBox 37"/>
            <p:cNvSpPr txBox="1"/>
            <p:nvPr/>
          </p:nvSpPr>
          <p:spPr>
            <a:xfrm>
              <a:off x="6433566" y="4020502"/>
              <a:ext cx="393788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Can we get closed-loop benefits by using a simulator only</a:t>
              </a:r>
            </a:p>
          </p:txBody>
        </p:sp>
        <p:sp>
          <p:nvSpPr>
            <p:cNvPr id="38" name="TextBox 38"/>
            <p:cNvSpPr txBox="1"/>
            <p:nvPr/>
          </p:nvSpPr>
          <p:spPr>
            <a:xfrm>
              <a:off x="6433566" y="4220528"/>
              <a:ext cx="364338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to decide which training scenes matter, with no loss</a:t>
              </a:r>
            </a:p>
          </p:txBody>
        </p:sp>
        <p:sp>
          <p:nvSpPr>
            <p:cNvPr id="39" name="TextBox 39"/>
            <p:cNvSpPr txBox="1"/>
            <p:nvPr/>
          </p:nvSpPr>
          <p:spPr>
            <a:xfrm>
              <a:off x="6433566" y="4420552"/>
              <a:ext cx="221574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change and no differentiability?</a:t>
              </a:r>
            </a:p>
          </p:txBody>
        </p:sp>
        <p:sp>
          <p:nvSpPr>
            <p:cNvPr id="40" name="TextBox 40"/>
            <p:cNvSpPr txBox="1"/>
            <p:nvPr/>
          </p:nvSpPr>
          <p:spPr>
            <a:xfrm>
              <a:off x="6433756" y="4881801"/>
              <a:ext cx="2658569" cy="198025"/>
            </a:xfrm>
            <a:prstGeom prst="rect">
              <a:avLst/>
            </a:prstGeom>
            <a:noFill/>
            <a:ln>
              <a:noFill/>
            </a:ln>
          </p:spPr>
          <p:txBody>
            <a:bodyPr wrap="none" lIns="0" tIns="0" rIns="0" bIns="0" anchor="t" anchorCtr="0">
              <a:spAutoFit/>
            </a:bodyPr>
            <a:lstStyle/>
            <a:p>
              <a:pPr algn="l"/>
              <a:r>
                <a:rPr lang="en-US" sz="1010" b="1" dirty="0">
                  <a:solidFill>
                    <a:srgbClr val="46C98B"/>
                  </a:solidFill>
                  <a:latin typeface="Consolas"/>
                  <a:ea typeface="Consolas"/>
                  <a:cs typeface="Consolas"/>
                </a:rPr>
                <a:t>simulator picks scenes, not gradients</a:t>
              </a:r>
            </a:p>
          </p:txBody>
        </p:sp>
      </p:grpSp>
      <p:sp>
        <p:nvSpPr>
          <p:cNvPr id="42" name="cue_s03_c1_been_attempts_close_gap_methods" title="cue_s03_c1_been_attempts_close_gap_methods" descr="cue_s03_c1_been_attempts_close_gap_methods &quot;There have been attempts to close this gap. Methods like Urban Driver run a differentiable simulator directly inside the training loop using backpropagation through time."/>
          <p:cNvSpPr/>
          <p:nvPr/>
        </p:nvSpPr>
        <p:spPr>
          <a:xfrm>
            <a:off x="609600" y="1504645"/>
            <a:ext cx="533400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2_works_but_expensive_requires_differe" title="cue_s03_c2_works_but_expensive_requires_differe" descr="cue_s03_c2_works_but_expensive_requires_differe This works, but it is expensive: it requires a differentiable simulator, it does not scale well, and it carries the heavy memory cost of unrolling policies during training."/>
          <p:cNvSpPr/>
          <p:nvPr/>
        </p:nvSpPr>
        <p:spPr>
          <a:xfrm>
            <a:off x="609600" y="348592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3_other_approaches_collect_on_policy_a" title="cue_s03_c3_other_approaches_collect_on_policy_a" descr="cue_s03_c3_other_approaches_collect_on_policy_a Other approaches collect on-policy data or add extra human oracles, which are slow and costly."/>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4_authors_ask_simpler_question_get" title="cue_s03_c4_authors_ask_simpler_question_get" descr="cue_s03_c4_authors_ask_simpler_question_get The authors ask a simpler question: can we get closed-loop benefits by only using a simulator to decide which training scenes matter, without changing the loss function or requiring differentiability? That question motivates CW-ERM.&quot;"/>
          <p:cNvSpPr/>
          <p:nvPr/>
        </p:nvSpPr>
        <p:spPr>
          <a:xfrm>
            <a:off x="6171590" y="3485921"/>
            <a:ext cx="540959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67837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Three contributions, one simple idea</a:t>
            </a:r>
          </a:p>
        </p:txBody>
      </p:sp>
      <p:grpSp>
        <p:nvGrpSpPr>
          <p:cNvPr id="14" name="Group 14"/>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84A66"/>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1000145" y="2208848"/>
              <a:ext cx="171411"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mn-lt"/>
                  <a:ea typeface="+mn-ea"/>
                  <a:cs typeface="+mn-cs"/>
                </a:rPr>
                <a:t>3</a:t>
              </a:r>
            </a:p>
          </p:txBody>
        </p:sp>
        <p:sp>
          <p:nvSpPr>
            <p:cNvPr id="9" name="TextBox 9"/>
            <p:cNvSpPr txBox="1"/>
            <p:nvPr/>
          </p:nvSpPr>
          <p:spPr>
            <a:xfrm>
              <a:off x="831532" y="2849166"/>
              <a:ext cx="52831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Three</a:t>
              </a:r>
            </a:p>
          </p:txBody>
        </p:sp>
        <p:sp>
          <p:nvSpPr>
            <p:cNvPr id="10" name="TextBox 10"/>
            <p:cNvSpPr txBox="1"/>
            <p:nvPr/>
          </p:nvSpPr>
          <p:spPr>
            <a:xfrm>
              <a:off x="831532" y="3096816"/>
              <a:ext cx="124471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contributions</a:t>
              </a:r>
            </a:p>
          </p:txBody>
        </p:sp>
        <p:sp>
          <p:nvSpPr>
            <p:cNvPr id="11" name="TextBox 11"/>
            <p:cNvSpPr txBox="1"/>
            <p:nvPr/>
          </p:nvSpPr>
          <p:spPr>
            <a:xfrm>
              <a:off x="832866" y="3487102"/>
              <a:ext cx="20794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method, an empirical study,</a:t>
              </a:r>
            </a:p>
          </p:txBody>
        </p:sp>
        <p:sp>
          <p:nvSpPr>
            <p:cNvPr id="12" name="TextBox 12"/>
            <p:cNvSpPr txBox="1"/>
            <p:nvPr/>
          </p:nvSpPr>
          <p:spPr>
            <a:xfrm>
              <a:off x="832866" y="3696652"/>
              <a:ext cx="197544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a theoretical connection</a:t>
              </a:r>
            </a:p>
          </p:txBody>
        </p:sp>
        <p:sp>
          <p:nvSpPr>
            <p:cNvPr id="13" name="TextBox 13"/>
            <p:cNvSpPr txBox="1"/>
            <p:nvPr/>
          </p:nvSpPr>
          <p:spPr>
            <a:xfrm>
              <a:off x="832866" y="3906202"/>
              <a:ext cx="16574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tie the paper together.</a:t>
              </a:r>
            </a:p>
          </p:txBody>
        </p:sp>
      </p:grpSp>
      <p:grpSp>
        <p:nvGrpSpPr>
          <p:cNvPr id="25" name="Group 25"/>
          <p:cNvGrpSpPr/>
          <p:nvPr/>
        </p:nvGrpSpPr>
        <p:grpSpPr>
          <a:xfrm>
            <a:off x="3429000" y="1714500"/>
            <a:ext cx="2590800" cy="3543300"/>
            <a:chOff x="3429000" y="1714500"/>
            <a:chExt cx="2590800" cy="3543300"/>
          </a:xfrm>
        </p:grpSpPr>
        <p:sp>
          <p:nvSpPr>
            <p:cNvPr id="15" name="Rectangle 15"/>
            <p:cNvSpPr/>
            <p:nvPr/>
          </p:nvSpPr>
          <p:spPr>
            <a:xfrm>
              <a:off x="3429000" y="1714500"/>
              <a:ext cx="2590800" cy="3543300"/>
            </a:xfrm>
            <a:prstGeom prst="roundRect">
              <a:avLst>
                <a:gd name="adj" fmla="val 5147"/>
              </a:avLst>
            </a:prstGeom>
            <a:solidFill>
              <a:schemeClr val="accent5"/>
            </a:solidFill>
            <a:ln w="14288">
              <a:solidFill>
                <a:srgbClr val="284A66"/>
              </a:solidFill>
            </a:ln>
          </p:spPr>
        </p:sp>
        <p:sp>
          <p:nvSpPr>
            <p:cNvPr id="16" name="Rectangle 16"/>
            <p:cNvSpPr/>
            <p:nvPr/>
          </p:nvSpPr>
          <p:spPr>
            <a:xfrm>
              <a:off x="3429000" y="1714500"/>
              <a:ext cx="2590800" cy="57150"/>
            </a:xfrm>
            <a:prstGeom prst="roundRect">
              <a:avLst>
                <a:gd name="adj" fmla="val 50000"/>
              </a:avLst>
            </a:prstGeom>
            <a:solidFill>
              <a:srgbClr val="33D6C0"/>
            </a:solidFill>
            <a:ln>
              <a:noFill/>
            </a:ln>
          </p:spPr>
        </p:sp>
        <p:sp>
          <p:nvSpPr>
            <p:cNvPr id="17" name="Ellipse 17"/>
            <p:cNvSpPr/>
            <p:nvPr/>
          </p:nvSpPr>
          <p:spPr>
            <a:xfrm>
              <a:off x="3657600" y="2095500"/>
              <a:ext cx="495300" cy="495300"/>
            </a:xfrm>
            <a:prstGeom prst="ellipse">
              <a:avLst/>
            </a:prstGeom>
            <a:noFill/>
            <a:ln w="23812">
              <a:solidFill>
                <a:srgbClr val="33D6C0"/>
              </a:solidFill>
            </a:ln>
          </p:spPr>
        </p:sp>
        <p:sp>
          <p:nvSpPr>
            <p:cNvPr id="18" name="TextBox 18"/>
            <p:cNvSpPr txBox="1"/>
            <p:nvPr/>
          </p:nvSpPr>
          <p:spPr>
            <a:xfrm>
              <a:off x="3819545" y="2208848"/>
              <a:ext cx="171411" cy="381381"/>
            </a:xfrm>
            <a:prstGeom prst="rect">
              <a:avLst/>
            </a:prstGeom>
            <a:noFill/>
            <a:ln>
              <a:noFill/>
            </a:ln>
          </p:spPr>
          <p:txBody>
            <a:bodyPr wrap="none" lIns="0" tIns="0" rIns="0" bIns="0" anchor="t" anchorCtr="0">
              <a:spAutoFit/>
            </a:bodyPr>
            <a:lstStyle/>
            <a:p>
              <a:pPr algn="ctr"/>
              <a:r>
                <a:rPr lang="en-US" sz="1950" b="1" dirty="0">
                  <a:solidFill>
                    <a:srgbClr val="33D6C0"/>
                  </a:solidFill>
                  <a:latin typeface="+mn-lt"/>
                  <a:ea typeface="+mn-ea"/>
                  <a:cs typeface="+mn-cs"/>
                </a:rPr>
                <a:t>1</a:t>
              </a:r>
            </a:p>
          </p:txBody>
        </p:sp>
        <p:sp>
          <p:nvSpPr>
            <p:cNvPr id="19" name="TextBox 19"/>
            <p:cNvSpPr txBox="1"/>
            <p:nvPr/>
          </p:nvSpPr>
          <p:spPr>
            <a:xfrm>
              <a:off x="3650932" y="2849166"/>
              <a:ext cx="90354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1 CW-ERM</a:t>
              </a:r>
            </a:p>
          </p:txBody>
        </p:sp>
        <p:sp>
          <p:nvSpPr>
            <p:cNvPr id="20" name="TextBox 20"/>
            <p:cNvSpPr txBox="1"/>
            <p:nvPr/>
          </p:nvSpPr>
          <p:spPr>
            <a:xfrm>
              <a:off x="3652266" y="3239452"/>
              <a:ext cx="177988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Closed-loop Weighted ERM</a:t>
              </a:r>
            </a:p>
          </p:txBody>
        </p:sp>
        <p:sp>
          <p:nvSpPr>
            <p:cNvPr id="21" name="TextBox 21"/>
            <p:cNvSpPr txBox="1"/>
            <p:nvPr/>
          </p:nvSpPr>
          <p:spPr>
            <a:xfrm>
              <a:off x="3652266" y="3449002"/>
              <a:ext cx="20743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leverages metrics from policy</a:t>
              </a:r>
            </a:p>
          </p:txBody>
        </p:sp>
        <p:sp>
          <p:nvSpPr>
            <p:cNvPr id="22" name="TextBox 22"/>
            <p:cNvSpPr txBox="1"/>
            <p:nvPr/>
          </p:nvSpPr>
          <p:spPr>
            <a:xfrm>
              <a:off x="3652266" y="3658552"/>
              <a:ext cx="21238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rollouts to debias the network</a:t>
              </a:r>
            </a:p>
          </p:txBody>
        </p:sp>
        <p:sp>
          <p:nvSpPr>
            <p:cNvPr id="23" name="TextBox 23"/>
            <p:cNvSpPr txBox="1"/>
            <p:nvPr/>
          </p:nvSpPr>
          <p:spPr>
            <a:xfrm>
              <a:off x="3652266" y="3868102"/>
              <a:ext cx="18977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shrink the open-loop to</a:t>
              </a:r>
            </a:p>
          </p:txBody>
        </p:sp>
        <p:sp>
          <p:nvSpPr>
            <p:cNvPr id="24" name="TextBox 24"/>
            <p:cNvSpPr txBox="1"/>
            <p:nvPr/>
          </p:nvSpPr>
          <p:spPr>
            <a:xfrm>
              <a:off x="3652266" y="4077652"/>
              <a:ext cx="11485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closed-loop gap.</a:t>
              </a:r>
            </a:p>
          </p:txBody>
        </p:sp>
      </p:grpSp>
      <p:grpSp>
        <p:nvGrpSpPr>
          <p:cNvPr id="37" name="Group 37"/>
          <p:cNvGrpSpPr/>
          <p:nvPr/>
        </p:nvGrpSpPr>
        <p:grpSpPr>
          <a:xfrm>
            <a:off x="6248400" y="1714500"/>
            <a:ext cx="2590800" cy="3543300"/>
            <a:chOff x="6248400" y="1714500"/>
            <a:chExt cx="2590800" cy="3543300"/>
          </a:xfrm>
        </p:grpSpPr>
        <p:sp>
          <p:nvSpPr>
            <p:cNvPr id="26" name="Rectangle 26"/>
            <p:cNvSpPr/>
            <p:nvPr/>
          </p:nvSpPr>
          <p:spPr>
            <a:xfrm>
              <a:off x="6248400" y="1714500"/>
              <a:ext cx="2590800" cy="3543300"/>
            </a:xfrm>
            <a:prstGeom prst="roundRect">
              <a:avLst>
                <a:gd name="adj" fmla="val 5147"/>
              </a:avLst>
            </a:prstGeom>
            <a:solidFill>
              <a:schemeClr val="accent5"/>
            </a:solidFill>
            <a:ln w="14288">
              <a:solidFill>
                <a:srgbClr val="284A66"/>
              </a:solidFill>
            </a:ln>
          </p:spPr>
        </p:sp>
        <p:sp>
          <p:nvSpPr>
            <p:cNvPr id="27" name="Rectangle 27"/>
            <p:cNvSpPr/>
            <p:nvPr/>
          </p:nvSpPr>
          <p:spPr>
            <a:xfrm>
              <a:off x="6248400" y="1714500"/>
              <a:ext cx="2590800" cy="57150"/>
            </a:xfrm>
            <a:prstGeom prst="roundRect">
              <a:avLst>
                <a:gd name="adj" fmla="val 50000"/>
              </a:avLst>
            </a:prstGeom>
            <a:solidFill>
              <a:srgbClr val="46C98B"/>
            </a:solidFill>
            <a:ln>
              <a:noFill/>
            </a:ln>
          </p:spPr>
        </p:sp>
        <p:sp>
          <p:nvSpPr>
            <p:cNvPr id="28" name="Ellipse 28"/>
            <p:cNvSpPr/>
            <p:nvPr/>
          </p:nvSpPr>
          <p:spPr>
            <a:xfrm>
              <a:off x="6477000" y="2095500"/>
              <a:ext cx="495300" cy="495300"/>
            </a:xfrm>
            <a:prstGeom prst="ellipse">
              <a:avLst/>
            </a:prstGeom>
            <a:noFill/>
            <a:ln w="23812">
              <a:solidFill>
                <a:srgbClr val="46C98B"/>
              </a:solidFill>
            </a:ln>
          </p:spPr>
        </p:sp>
        <p:sp>
          <p:nvSpPr>
            <p:cNvPr id="29" name="TextBox 29"/>
            <p:cNvSpPr txBox="1"/>
            <p:nvPr/>
          </p:nvSpPr>
          <p:spPr>
            <a:xfrm>
              <a:off x="6638945" y="2208848"/>
              <a:ext cx="171411" cy="381381"/>
            </a:xfrm>
            <a:prstGeom prst="rect">
              <a:avLst/>
            </a:prstGeom>
            <a:noFill/>
            <a:ln>
              <a:noFill/>
            </a:ln>
          </p:spPr>
          <p:txBody>
            <a:bodyPr wrap="none" lIns="0" tIns="0" rIns="0" bIns="0" anchor="t" anchorCtr="0">
              <a:spAutoFit/>
            </a:bodyPr>
            <a:lstStyle/>
            <a:p>
              <a:pPr algn="ctr"/>
              <a:r>
                <a:rPr lang="en-US" sz="1950" b="1" dirty="0">
                  <a:solidFill>
                    <a:srgbClr val="46C98B"/>
                  </a:solidFill>
                  <a:latin typeface="+mn-lt"/>
                  <a:ea typeface="+mn-ea"/>
                  <a:cs typeface="+mn-cs"/>
                </a:rPr>
                <a:t>2</a:t>
              </a:r>
            </a:p>
          </p:txBody>
        </p:sp>
        <p:sp>
          <p:nvSpPr>
            <p:cNvPr id="30" name="TextBox 30"/>
            <p:cNvSpPr txBox="1"/>
            <p:nvPr/>
          </p:nvSpPr>
          <p:spPr>
            <a:xfrm>
              <a:off x="6470332" y="2849166"/>
              <a:ext cx="1159292"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2 Real gains,</a:t>
              </a:r>
            </a:p>
          </p:txBody>
        </p:sp>
        <p:sp>
          <p:nvSpPr>
            <p:cNvPr id="31" name="TextBox 31"/>
            <p:cNvSpPr txBox="1"/>
            <p:nvPr/>
          </p:nvSpPr>
          <p:spPr>
            <a:xfrm>
              <a:off x="6470332" y="3096816"/>
              <a:ext cx="67994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cheaply</a:t>
              </a:r>
            </a:p>
          </p:txBody>
        </p:sp>
        <p:sp>
          <p:nvSpPr>
            <p:cNvPr id="32" name="TextBox 32"/>
            <p:cNvSpPr txBox="1"/>
            <p:nvPr/>
          </p:nvSpPr>
          <p:spPr>
            <a:xfrm>
              <a:off x="6471666" y="3487102"/>
              <a:ext cx="17889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Evaluated on a challenging</a:t>
              </a:r>
            </a:p>
          </p:txBody>
        </p:sp>
        <p:sp>
          <p:nvSpPr>
            <p:cNvPr id="33" name="TextBox 33"/>
            <p:cNvSpPr txBox="1"/>
            <p:nvPr/>
          </p:nvSpPr>
          <p:spPr>
            <a:xfrm>
              <a:off x="6471666" y="3696652"/>
              <a:ext cx="17422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urban driving dataset, it</a:t>
              </a:r>
            </a:p>
          </p:txBody>
        </p:sp>
        <p:sp>
          <p:nvSpPr>
            <p:cNvPr id="34" name="TextBox 34"/>
            <p:cNvSpPr txBox="1"/>
            <p:nvPr/>
          </p:nvSpPr>
          <p:spPr>
            <a:xfrm>
              <a:off x="6471666" y="3906202"/>
              <a:ext cx="20461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shows significant closed-loop</a:t>
              </a:r>
            </a:p>
          </p:txBody>
        </p:sp>
        <p:sp>
          <p:nvSpPr>
            <p:cNvPr id="35" name="TextBox 35"/>
            <p:cNvSpPr txBox="1"/>
            <p:nvPr/>
          </p:nvSpPr>
          <p:spPr>
            <a:xfrm>
              <a:off x="6471666" y="4115752"/>
              <a:ext cx="22157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improvements with no expensive</a:t>
              </a:r>
            </a:p>
          </p:txBody>
        </p:sp>
        <p:sp>
          <p:nvSpPr>
            <p:cNvPr id="36" name="TextBox 36"/>
            <p:cNvSpPr txBox="1"/>
            <p:nvPr/>
          </p:nvSpPr>
          <p:spPr>
            <a:xfrm>
              <a:off x="6471666" y="4325302"/>
              <a:ext cx="14665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closed-loop training.</a:t>
              </a:r>
            </a:p>
          </p:txBody>
        </p:sp>
      </p:grpSp>
      <p:grpSp>
        <p:nvGrpSpPr>
          <p:cNvPr id="49" name="Group 49"/>
          <p:cNvGrpSpPr/>
          <p:nvPr/>
        </p:nvGrpSpPr>
        <p:grpSpPr>
          <a:xfrm>
            <a:off x="9067800" y="1714500"/>
            <a:ext cx="2590800" cy="3543300"/>
            <a:chOff x="9067800" y="1714500"/>
            <a:chExt cx="2590800" cy="3543300"/>
          </a:xfrm>
        </p:grpSpPr>
        <p:sp>
          <p:nvSpPr>
            <p:cNvPr id="38" name="Rectangle 38"/>
            <p:cNvSpPr/>
            <p:nvPr/>
          </p:nvSpPr>
          <p:spPr>
            <a:xfrm>
              <a:off x="9067800" y="1714500"/>
              <a:ext cx="2590800" cy="3543300"/>
            </a:xfrm>
            <a:prstGeom prst="roundRect">
              <a:avLst>
                <a:gd name="adj" fmla="val 5147"/>
              </a:avLst>
            </a:prstGeom>
            <a:solidFill>
              <a:schemeClr val="accent5"/>
            </a:solidFill>
            <a:ln w="14288">
              <a:solidFill>
                <a:srgbClr val="284A66"/>
              </a:solidFill>
            </a:ln>
          </p:spPr>
        </p:sp>
        <p:sp>
          <p:nvSpPr>
            <p:cNvPr id="39" name="Rectangle 39"/>
            <p:cNvSpPr/>
            <p:nvPr/>
          </p:nvSpPr>
          <p:spPr>
            <a:xfrm>
              <a:off x="9067800" y="1714500"/>
              <a:ext cx="2590800" cy="57150"/>
            </a:xfrm>
            <a:prstGeom prst="roundRect">
              <a:avLst>
                <a:gd name="adj" fmla="val 50000"/>
              </a:avLst>
            </a:prstGeom>
            <a:solidFill>
              <a:srgbClr val="F4C24C"/>
            </a:solidFill>
            <a:ln>
              <a:noFill/>
            </a:ln>
          </p:spPr>
        </p:sp>
        <p:sp>
          <p:nvSpPr>
            <p:cNvPr id="40" name="Ellipse 40"/>
            <p:cNvSpPr/>
            <p:nvPr/>
          </p:nvSpPr>
          <p:spPr>
            <a:xfrm>
              <a:off x="9296400" y="2095500"/>
              <a:ext cx="495300" cy="495300"/>
            </a:xfrm>
            <a:prstGeom prst="ellipse">
              <a:avLst/>
            </a:prstGeom>
            <a:noFill/>
            <a:ln w="23812">
              <a:solidFill>
                <a:srgbClr val="F4C24C"/>
              </a:solidFill>
            </a:ln>
          </p:spPr>
        </p:sp>
        <p:sp>
          <p:nvSpPr>
            <p:cNvPr id="41" name="TextBox 41"/>
            <p:cNvSpPr txBox="1"/>
            <p:nvPr/>
          </p:nvSpPr>
          <p:spPr>
            <a:xfrm>
              <a:off x="9458345" y="2208848"/>
              <a:ext cx="171411" cy="381381"/>
            </a:xfrm>
            <a:prstGeom prst="rect">
              <a:avLst/>
            </a:prstGeom>
            <a:noFill/>
            <a:ln>
              <a:noFill/>
            </a:ln>
          </p:spPr>
          <p:txBody>
            <a:bodyPr wrap="none" lIns="0" tIns="0" rIns="0" bIns="0" anchor="t" anchorCtr="0">
              <a:spAutoFit/>
            </a:bodyPr>
            <a:lstStyle/>
            <a:p>
              <a:pPr algn="ctr"/>
              <a:r>
                <a:rPr lang="en-US" sz="1950" b="1" dirty="0">
                  <a:solidFill>
                    <a:srgbClr val="F4C24C"/>
                  </a:solidFill>
                  <a:latin typeface="+mn-lt"/>
                  <a:ea typeface="+mn-ea"/>
                  <a:cs typeface="+mn-cs"/>
                </a:rPr>
                <a:t>3</a:t>
              </a:r>
            </a:p>
          </p:txBody>
        </p:sp>
        <p:sp>
          <p:nvSpPr>
            <p:cNvPr id="42" name="TextBox 42"/>
            <p:cNvSpPr txBox="1"/>
            <p:nvPr/>
          </p:nvSpPr>
          <p:spPr>
            <a:xfrm>
              <a:off x="9289732" y="2849166"/>
              <a:ext cx="136214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3 A theoretical</a:t>
              </a:r>
            </a:p>
          </p:txBody>
        </p:sp>
        <p:sp>
          <p:nvSpPr>
            <p:cNvPr id="43" name="TextBox 43"/>
            <p:cNvSpPr txBox="1"/>
            <p:nvPr/>
          </p:nvSpPr>
          <p:spPr>
            <a:xfrm>
              <a:off x="9289732" y="3096816"/>
              <a:ext cx="32812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link</a:t>
              </a:r>
            </a:p>
          </p:txBody>
        </p:sp>
        <p:sp>
          <p:nvSpPr>
            <p:cNvPr id="44" name="TextBox 44"/>
            <p:cNvSpPr txBox="1"/>
            <p:nvPr/>
          </p:nvSpPr>
          <p:spPr>
            <a:xfrm>
              <a:off x="9291066" y="3487102"/>
              <a:ext cx="19728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 connects this reweighting</a:t>
              </a:r>
            </a:p>
          </p:txBody>
        </p:sp>
        <p:sp>
          <p:nvSpPr>
            <p:cNvPr id="45" name="TextBox 45"/>
            <p:cNvSpPr txBox="1"/>
            <p:nvPr/>
          </p:nvSpPr>
          <p:spPr>
            <a:xfrm>
              <a:off x="9291066" y="3696652"/>
              <a:ext cx="17775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the classic family that</a:t>
              </a:r>
            </a:p>
          </p:txBody>
        </p:sp>
        <p:sp>
          <p:nvSpPr>
            <p:cNvPr id="46" name="TextBox 46"/>
            <p:cNvSpPr txBox="1"/>
            <p:nvPr/>
          </p:nvSpPr>
          <p:spPr>
            <a:xfrm>
              <a:off x="9291066" y="3906202"/>
              <a:ext cx="17351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corrects covariate shift</a:t>
              </a:r>
            </a:p>
          </p:txBody>
        </p:sp>
        <p:sp>
          <p:nvSpPr>
            <p:cNvPr id="47" name="TextBox 47"/>
            <p:cNvSpPr txBox="1"/>
            <p:nvPr/>
          </p:nvSpPr>
          <p:spPr>
            <a:xfrm>
              <a:off x="9291066" y="4115752"/>
              <a:ext cx="15372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through density-ratio</a:t>
              </a:r>
            </a:p>
          </p:txBody>
        </p:sp>
        <p:sp>
          <p:nvSpPr>
            <p:cNvPr id="48" name="TextBox 48"/>
            <p:cNvSpPr txBox="1"/>
            <p:nvPr/>
          </p:nvSpPr>
          <p:spPr>
            <a:xfrm>
              <a:off x="9291066" y="4325302"/>
              <a:ext cx="8234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estimation.</a:t>
              </a:r>
            </a:p>
          </p:txBody>
        </p:sp>
      </p:grpSp>
      <p:sp>
        <p:nvSpPr>
          <p:cNvPr id="50" name="TextBox 50"/>
          <p:cNvSpPr txBox="1"/>
          <p:nvPr/>
        </p:nvSpPr>
        <p:spPr>
          <a:xfrm>
            <a:off x="603694" y="5456158"/>
            <a:ext cx="7691115" cy="227362"/>
          </a:xfrm>
          <a:prstGeom prst="rect">
            <a:avLst/>
          </a:prstGeom>
          <a:noFill/>
          <a:ln>
            <a:noFill/>
          </a:ln>
        </p:spPr>
        <p:txBody>
          <a:bodyPr wrap="none" lIns="0" tIns="0" rIns="0" bIns="0" anchor="t" anchorCtr="0">
            <a:spAutoFit/>
          </a:bodyPr>
          <a:lstStyle/>
          <a:p>
            <a:pPr algn="l"/>
            <a:r>
              <a:rPr lang="en-US" sz="1160" b="1" dirty="0">
                <a:solidFill>
                  <a:srgbClr val="33D6C0"/>
                </a:solidFill>
                <a:latin typeface="+mn-lt"/>
                <a:ea typeface="+mn-ea"/>
                <a:cs typeface="+mn-cs"/>
              </a:rPr>
              <a:t>Use the simulator to reweight the training data, and leave the loss and the network untouched.</a:t>
            </a:r>
          </a:p>
        </p:txBody>
      </p:sp>
      <p:sp>
        <p:nvSpPr>
          <p:cNvPr id="51" name="cue_s04_c1_makes_three_contributions" title="cue_s04_c1_makes_three_contributions" descr="cue_s04_c1_makes_three_contributions &quot;The paper makes three contributions."/>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4_c2_first_proposes_closed_loop_weighted" title="cue_s04_c2_first_proposes_closed_loop_weighted" descr="cue_s04_c2_first_proposes_closed_loop_weighted First, it proposes Closed-loop Weighted Empirical Risk Minimization, a technique that leverages closed-loop metrics from policy rollouts to debias the policy network and shrink the distribution gap between open-loop training and closed-loop inference."/>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4_c3_second_evaluates_method_experimental" title="cue_s04_c3_second_evaluates_method_experimental" descr="cue_s04_c3_second_evaluates_method_experimental Second, it evaluates the method experimentally on a challenging urban driving dataset and shows significant closed-loop improvements, all without complex or computationally expensive closed-loop training."/>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4_c4_third_establishes_important_theoreti" title="cue_s04_c4_third_establishes_important_theoreti" descr="cue_s04_c4_third_establishes_important_theoreti Third, it establishes an important theoretical connection between this reweighting scheme and the classic family of methods that correct covariate shift through density-ratio estimation.&quot;"/>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18748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Train, simulate, then upsample failures</a:t>
            </a:r>
          </a:p>
        </p:txBody>
      </p:sp>
      <p:grpSp>
        <p:nvGrpSpPr>
          <p:cNvPr id="33" name="Group 33"/>
          <p:cNvGrpSpPr/>
          <p:nvPr/>
        </p:nvGrpSpPr>
        <p:grpSpPr>
          <a:xfrm>
            <a:off x="609600" y="1504950"/>
            <a:ext cx="10972800" cy="1600200"/>
            <a:chOff x="609600" y="1504950"/>
            <a:chExt cx="10972800" cy="1600200"/>
          </a:xfrm>
        </p:grpSpPr>
        <p:sp>
          <p:nvSpPr>
            <p:cNvPr id="5" name="Rectangle 5"/>
            <p:cNvSpPr/>
            <p:nvPr/>
          </p:nvSpPr>
          <p:spPr>
            <a:xfrm>
              <a:off x="609600" y="1504950"/>
              <a:ext cx="10972800" cy="1600200"/>
            </a:xfrm>
            <a:prstGeom prst="roundRect">
              <a:avLst>
                <a:gd name="adj" fmla="val 8333"/>
              </a:avLst>
            </a:prstGeom>
            <a:solidFill>
              <a:schemeClr val="accent5"/>
            </a:solidFill>
            <a:ln w="14288">
              <a:solidFill>
                <a:srgbClr val="284A66"/>
              </a:solidFill>
            </a:ln>
          </p:spPr>
        </p:sp>
        <p:sp>
          <p:nvSpPr>
            <p:cNvPr id="6" name="Rectangle 6"/>
            <p:cNvSpPr/>
            <p:nvPr/>
          </p:nvSpPr>
          <p:spPr>
            <a:xfrm>
              <a:off x="609600" y="1504950"/>
              <a:ext cx="57150" cy="1600200"/>
            </a:xfrm>
            <a:prstGeom prst="roundRect">
              <a:avLst>
                <a:gd name="adj" fmla="val 50000"/>
              </a:avLst>
            </a:prstGeom>
            <a:solidFill>
              <a:schemeClr val="accent2"/>
            </a:solidFill>
            <a:ln>
              <a:noFill/>
            </a:ln>
          </p:spPr>
        </p:sp>
        <p:sp>
          <p:nvSpPr>
            <p:cNvPr id="7" name="TextBox 7"/>
            <p:cNvSpPr txBox="1"/>
            <p:nvPr/>
          </p:nvSpPr>
          <p:spPr>
            <a:xfrm>
              <a:off x="870014" y="1695212"/>
              <a:ext cx="3032995"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Three stages, and strikingly simple</a:t>
              </a:r>
            </a:p>
          </p:txBody>
        </p:sp>
        <p:sp>
          <p:nvSpPr>
            <p:cNvPr id="8" name="Rectangle 8"/>
            <p:cNvSpPr/>
            <p:nvPr/>
          </p:nvSpPr>
          <p:spPr>
            <a:xfrm>
              <a:off x="914400" y="1962150"/>
              <a:ext cx="3136900" cy="971550"/>
            </a:xfrm>
            <a:prstGeom prst="roundRect">
              <a:avLst>
                <a:gd name="adj" fmla="val 9804"/>
              </a:avLst>
            </a:prstGeom>
            <a:solidFill>
              <a:schemeClr val="accent6"/>
            </a:solidFill>
            <a:ln w="15240">
              <a:solidFill>
                <a:schemeClr val="accent2"/>
              </a:solidFill>
            </a:ln>
          </p:spPr>
        </p:sp>
        <p:sp>
          <p:nvSpPr>
            <p:cNvPr id="9" name="Rectangle 9"/>
            <p:cNvSpPr/>
            <p:nvPr/>
          </p:nvSpPr>
          <p:spPr>
            <a:xfrm>
              <a:off x="914400" y="1962150"/>
              <a:ext cx="3136900" cy="47625"/>
            </a:xfrm>
            <a:prstGeom prst="roundRect">
              <a:avLst>
                <a:gd name="adj" fmla="val 50000"/>
              </a:avLst>
            </a:prstGeom>
            <a:solidFill>
              <a:schemeClr val="accent2"/>
            </a:solidFill>
            <a:ln>
              <a:noFill/>
            </a:ln>
          </p:spPr>
        </p:sp>
        <p:sp>
          <p:nvSpPr>
            <p:cNvPr id="10" name="Ellipse 10"/>
            <p:cNvSpPr/>
            <p:nvPr/>
          </p:nvSpPr>
          <p:spPr>
            <a:xfrm>
              <a:off x="1057275" y="2181225"/>
              <a:ext cx="285750" cy="285750"/>
            </a:xfrm>
            <a:prstGeom prst="ellipse">
              <a:avLst/>
            </a:prstGeom>
            <a:noFill/>
            <a:ln w="20955">
              <a:solidFill>
                <a:schemeClr val="accent2"/>
              </a:solidFill>
            </a:ln>
          </p:spPr>
        </p:sp>
        <p:sp>
          <p:nvSpPr>
            <p:cNvPr id="11" name="TextBox 11"/>
            <p:cNvSpPr txBox="1"/>
            <p:nvPr/>
          </p:nvSpPr>
          <p:spPr>
            <a:xfrm>
              <a:off x="1143917" y="2243614"/>
              <a:ext cx="112465" cy="249364"/>
            </a:xfrm>
            <a:prstGeom prst="rect">
              <a:avLst/>
            </a:prstGeom>
            <a:noFill/>
            <a:ln>
              <a:noFill/>
            </a:ln>
          </p:spPr>
          <p:txBody>
            <a:bodyPr wrap="none" lIns="0" tIns="0" rIns="0" bIns="0" anchor="t" anchorCtr="0">
              <a:spAutoFit/>
            </a:bodyPr>
            <a:lstStyle/>
            <a:p>
              <a:pPr algn="ctr"/>
              <a:r>
                <a:rPr lang="en-US" sz="1280" b="1" dirty="0">
                  <a:solidFill>
                    <a:schemeClr val="accent2"/>
                  </a:solidFill>
                  <a:latin typeface="+mn-lt"/>
                  <a:ea typeface="+mn-ea"/>
                  <a:cs typeface="+mn-cs"/>
                </a:rPr>
                <a:t>1</a:t>
              </a:r>
            </a:p>
          </p:txBody>
        </p:sp>
        <p:sp>
          <p:nvSpPr>
            <p:cNvPr id="12" name="TextBox 12"/>
            <p:cNvSpPr txBox="1"/>
            <p:nvPr/>
          </p:nvSpPr>
          <p:spPr>
            <a:xfrm>
              <a:off x="1442466" y="2172652"/>
              <a:ext cx="1424845"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Train identification</a:t>
              </a:r>
            </a:p>
          </p:txBody>
        </p:sp>
        <p:sp>
          <p:nvSpPr>
            <p:cNvPr id="13" name="TextBox 13"/>
            <p:cNvSpPr txBox="1"/>
            <p:nvPr/>
          </p:nvSpPr>
          <p:spPr>
            <a:xfrm>
              <a:off x="1442466" y="2353628"/>
              <a:ext cx="426240"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policy</a:t>
              </a:r>
            </a:p>
          </p:txBody>
        </p:sp>
        <p:sp>
          <p:nvSpPr>
            <p:cNvPr id="14" name="TextBox 14"/>
            <p:cNvSpPr txBox="1"/>
            <p:nvPr/>
          </p:nvSpPr>
          <p:spPr>
            <a:xfrm>
              <a:off x="1062038" y="2550795"/>
              <a:ext cx="1529224"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standard ERM behavioral</a:t>
              </a:r>
            </a:p>
          </p:txBody>
        </p:sp>
        <p:sp>
          <p:nvSpPr>
            <p:cNvPr id="15" name="TextBox 15"/>
            <p:cNvSpPr txBox="1"/>
            <p:nvPr/>
          </p:nvSpPr>
          <p:spPr>
            <a:xfrm>
              <a:off x="1062038" y="2693670"/>
              <a:ext cx="435698"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cloning</a:t>
              </a:r>
            </a:p>
          </p:txBody>
        </p:sp>
        <p:sp>
          <p:nvSpPr>
            <p:cNvPr id="16" name="TextBox 16"/>
            <p:cNvSpPr txBox="1"/>
            <p:nvPr/>
          </p:nvSpPr>
          <p:spPr>
            <a:xfrm>
              <a:off x="4213245" y="2304098"/>
              <a:ext cx="171411" cy="381381"/>
            </a:xfrm>
            <a:prstGeom prst="rect">
              <a:avLst/>
            </a:prstGeom>
            <a:noFill/>
            <a:ln>
              <a:noFill/>
            </a:ln>
          </p:spPr>
          <p:txBody>
            <a:bodyPr wrap="none" lIns="0" tIns="0" rIns="0" bIns="0" anchor="t" anchorCtr="0">
              <a:spAutoFit/>
            </a:bodyPr>
            <a:lstStyle/>
            <a:p>
              <a:pPr algn="ctr"/>
              <a:r>
                <a:rPr lang="en-US" sz="1950" b="1" dirty="0">
                  <a:solidFill>
                    <a:schemeClr val="dk2"/>
                  </a:solidFill>
                  <a:latin typeface="+mn-lt"/>
                  <a:ea typeface="+mn-ea"/>
                  <a:cs typeface="+mn-cs"/>
                </a:rPr>
                <a:t>&gt;</a:t>
              </a:r>
            </a:p>
          </p:txBody>
        </p:sp>
        <p:sp>
          <p:nvSpPr>
            <p:cNvPr id="17" name="Rectangle 17"/>
            <p:cNvSpPr/>
            <p:nvPr/>
          </p:nvSpPr>
          <p:spPr>
            <a:xfrm>
              <a:off x="4546600" y="1962150"/>
              <a:ext cx="3136900" cy="971550"/>
            </a:xfrm>
            <a:prstGeom prst="roundRect">
              <a:avLst>
                <a:gd name="adj" fmla="val 9804"/>
              </a:avLst>
            </a:prstGeom>
            <a:solidFill>
              <a:schemeClr val="accent6"/>
            </a:solidFill>
            <a:ln w="15240">
              <a:solidFill>
                <a:srgbClr val="F4C24C"/>
              </a:solidFill>
            </a:ln>
          </p:spPr>
        </p:sp>
        <p:sp>
          <p:nvSpPr>
            <p:cNvPr id="18" name="Rectangle 18"/>
            <p:cNvSpPr/>
            <p:nvPr/>
          </p:nvSpPr>
          <p:spPr>
            <a:xfrm>
              <a:off x="4546600" y="1962150"/>
              <a:ext cx="3136900" cy="47625"/>
            </a:xfrm>
            <a:prstGeom prst="roundRect">
              <a:avLst>
                <a:gd name="adj" fmla="val 50000"/>
              </a:avLst>
            </a:prstGeom>
            <a:solidFill>
              <a:srgbClr val="F4C24C"/>
            </a:solidFill>
            <a:ln>
              <a:noFill/>
            </a:ln>
          </p:spPr>
        </p:sp>
        <p:sp>
          <p:nvSpPr>
            <p:cNvPr id="19" name="Ellipse 19"/>
            <p:cNvSpPr/>
            <p:nvPr/>
          </p:nvSpPr>
          <p:spPr>
            <a:xfrm>
              <a:off x="4689475" y="2181225"/>
              <a:ext cx="285750" cy="285750"/>
            </a:xfrm>
            <a:prstGeom prst="ellipse">
              <a:avLst/>
            </a:prstGeom>
            <a:noFill/>
            <a:ln w="20955">
              <a:solidFill>
                <a:srgbClr val="F4C24C"/>
              </a:solidFill>
            </a:ln>
          </p:spPr>
        </p:sp>
        <p:sp>
          <p:nvSpPr>
            <p:cNvPr id="20" name="TextBox 20"/>
            <p:cNvSpPr txBox="1"/>
            <p:nvPr/>
          </p:nvSpPr>
          <p:spPr>
            <a:xfrm>
              <a:off x="4776117" y="2243614"/>
              <a:ext cx="112465" cy="249364"/>
            </a:xfrm>
            <a:prstGeom prst="rect">
              <a:avLst/>
            </a:prstGeom>
            <a:noFill/>
            <a:ln>
              <a:noFill/>
            </a:ln>
          </p:spPr>
          <p:txBody>
            <a:bodyPr wrap="none" lIns="0" tIns="0" rIns="0" bIns="0" anchor="t" anchorCtr="0">
              <a:spAutoFit/>
            </a:bodyPr>
            <a:lstStyle/>
            <a:p>
              <a:pPr algn="ctr"/>
              <a:r>
                <a:rPr lang="en-US" sz="1280" b="1" dirty="0">
                  <a:solidFill>
                    <a:srgbClr val="F4C24C"/>
                  </a:solidFill>
                  <a:latin typeface="+mn-lt"/>
                  <a:ea typeface="+mn-ea"/>
                  <a:cs typeface="+mn-cs"/>
                </a:rPr>
                <a:t>2</a:t>
              </a:r>
            </a:p>
          </p:txBody>
        </p:sp>
        <p:sp>
          <p:nvSpPr>
            <p:cNvPr id="21" name="TextBox 21"/>
            <p:cNvSpPr txBox="1"/>
            <p:nvPr/>
          </p:nvSpPr>
          <p:spPr>
            <a:xfrm>
              <a:off x="5074666" y="2172652"/>
              <a:ext cx="1017219"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Roll out in the</a:t>
              </a:r>
            </a:p>
          </p:txBody>
        </p:sp>
        <p:sp>
          <p:nvSpPr>
            <p:cNvPr id="22" name="TextBox 22"/>
            <p:cNvSpPr txBox="1"/>
            <p:nvPr/>
          </p:nvSpPr>
          <p:spPr>
            <a:xfrm>
              <a:off x="5074666" y="2353628"/>
              <a:ext cx="700814"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simulator</a:t>
              </a:r>
            </a:p>
          </p:txBody>
        </p:sp>
        <p:sp>
          <p:nvSpPr>
            <p:cNvPr id="23" name="TextBox 23"/>
            <p:cNvSpPr txBox="1"/>
            <p:nvPr/>
          </p:nvSpPr>
          <p:spPr>
            <a:xfrm>
              <a:off x="4694238" y="2550795"/>
              <a:ext cx="1567920"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collect closed-loop costs</a:t>
              </a:r>
            </a:p>
          </p:txBody>
        </p:sp>
        <p:sp>
          <p:nvSpPr>
            <p:cNvPr id="24" name="TextBox 24"/>
            <p:cNvSpPr txBox="1"/>
            <p:nvPr/>
          </p:nvSpPr>
          <p:spPr>
            <a:xfrm>
              <a:off x="4694238" y="2693670"/>
              <a:ext cx="721934"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(collisions)</a:t>
              </a:r>
            </a:p>
          </p:txBody>
        </p:sp>
        <p:sp>
          <p:nvSpPr>
            <p:cNvPr id="25" name="TextBox 25"/>
            <p:cNvSpPr txBox="1"/>
            <p:nvPr/>
          </p:nvSpPr>
          <p:spPr>
            <a:xfrm>
              <a:off x="7845445" y="2304098"/>
              <a:ext cx="171411" cy="381381"/>
            </a:xfrm>
            <a:prstGeom prst="rect">
              <a:avLst/>
            </a:prstGeom>
            <a:noFill/>
            <a:ln>
              <a:noFill/>
            </a:ln>
          </p:spPr>
          <p:txBody>
            <a:bodyPr wrap="none" lIns="0" tIns="0" rIns="0" bIns="0" anchor="t" anchorCtr="0">
              <a:spAutoFit/>
            </a:bodyPr>
            <a:lstStyle/>
            <a:p>
              <a:pPr algn="ctr"/>
              <a:r>
                <a:rPr lang="en-US" sz="1950" b="1" dirty="0">
                  <a:solidFill>
                    <a:schemeClr val="dk2"/>
                  </a:solidFill>
                  <a:latin typeface="+mn-lt"/>
                  <a:ea typeface="+mn-ea"/>
                  <a:cs typeface="+mn-cs"/>
                </a:rPr>
                <a:t>&gt;</a:t>
              </a:r>
            </a:p>
          </p:txBody>
        </p:sp>
        <p:sp>
          <p:nvSpPr>
            <p:cNvPr id="26" name="Rectangle 26"/>
            <p:cNvSpPr/>
            <p:nvPr/>
          </p:nvSpPr>
          <p:spPr>
            <a:xfrm>
              <a:off x="8178800" y="1962150"/>
              <a:ext cx="3136900" cy="971550"/>
            </a:xfrm>
            <a:prstGeom prst="roundRect">
              <a:avLst>
                <a:gd name="adj" fmla="val 9804"/>
              </a:avLst>
            </a:prstGeom>
            <a:solidFill>
              <a:schemeClr val="accent6"/>
            </a:solidFill>
            <a:ln w="15240">
              <a:solidFill>
                <a:srgbClr val="46C98B"/>
              </a:solidFill>
            </a:ln>
          </p:spPr>
        </p:sp>
        <p:sp>
          <p:nvSpPr>
            <p:cNvPr id="27" name="Rectangle 27"/>
            <p:cNvSpPr/>
            <p:nvPr/>
          </p:nvSpPr>
          <p:spPr>
            <a:xfrm>
              <a:off x="8178800" y="1962150"/>
              <a:ext cx="3136900" cy="47625"/>
            </a:xfrm>
            <a:prstGeom prst="roundRect">
              <a:avLst>
                <a:gd name="adj" fmla="val 50000"/>
              </a:avLst>
            </a:prstGeom>
            <a:solidFill>
              <a:srgbClr val="46C98B"/>
            </a:solidFill>
            <a:ln>
              <a:noFill/>
            </a:ln>
          </p:spPr>
        </p:sp>
        <p:sp>
          <p:nvSpPr>
            <p:cNvPr id="28" name="Ellipse 28"/>
            <p:cNvSpPr/>
            <p:nvPr/>
          </p:nvSpPr>
          <p:spPr>
            <a:xfrm>
              <a:off x="8321675" y="2181225"/>
              <a:ext cx="285750" cy="285750"/>
            </a:xfrm>
            <a:prstGeom prst="ellipse">
              <a:avLst/>
            </a:prstGeom>
            <a:noFill/>
            <a:ln w="20955">
              <a:solidFill>
                <a:srgbClr val="46C98B"/>
              </a:solidFill>
            </a:ln>
          </p:spPr>
        </p:sp>
        <p:sp>
          <p:nvSpPr>
            <p:cNvPr id="29" name="TextBox 29"/>
            <p:cNvSpPr txBox="1"/>
            <p:nvPr/>
          </p:nvSpPr>
          <p:spPr>
            <a:xfrm>
              <a:off x="8408317" y="2243614"/>
              <a:ext cx="112465" cy="249364"/>
            </a:xfrm>
            <a:prstGeom prst="rect">
              <a:avLst/>
            </a:prstGeom>
            <a:noFill/>
            <a:ln>
              <a:noFill/>
            </a:ln>
          </p:spPr>
          <p:txBody>
            <a:bodyPr wrap="none" lIns="0" tIns="0" rIns="0" bIns="0" anchor="t" anchorCtr="0">
              <a:spAutoFit/>
            </a:bodyPr>
            <a:lstStyle/>
            <a:p>
              <a:pPr algn="ctr"/>
              <a:r>
                <a:rPr lang="en-US" sz="1280" b="1" dirty="0">
                  <a:solidFill>
                    <a:srgbClr val="46C98B"/>
                  </a:solidFill>
                  <a:latin typeface="+mn-lt"/>
                  <a:ea typeface="+mn-ea"/>
                  <a:cs typeface="+mn-cs"/>
                </a:rPr>
                <a:t>3</a:t>
              </a:r>
            </a:p>
          </p:txBody>
        </p:sp>
        <p:sp>
          <p:nvSpPr>
            <p:cNvPr id="30" name="TextBox 30"/>
            <p:cNvSpPr txBox="1"/>
            <p:nvPr/>
          </p:nvSpPr>
          <p:spPr>
            <a:xfrm>
              <a:off x="8706866" y="2172652"/>
              <a:ext cx="1321680"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Retrain, upsample</a:t>
              </a:r>
            </a:p>
          </p:txBody>
        </p:sp>
        <p:sp>
          <p:nvSpPr>
            <p:cNvPr id="31" name="TextBox 31"/>
            <p:cNvSpPr txBox="1"/>
            <p:nvPr/>
          </p:nvSpPr>
          <p:spPr>
            <a:xfrm>
              <a:off x="8706866" y="2353628"/>
              <a:ext cx="589500"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failures</a:t>
              </a:r>
            </a:p>
          </p:txBody>
        </p:sp>
        <p:sp>
          <p:nvSpPr>
            <p:cNvPr id="32" name="TextBox 32"/>
            <p:cNvSpPr txBox="1"/>
            <p:nvPr/>
          </p:nvSpPr>
          <p:spPr>
            <a:xfrm>
              <a:off x="8326438" y="2550795"/>
              <a:ext cx="1912048"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weighted ERM on the error set</a:t>
              </a:r>
            </a:p>
          </p:txBody>
        </p:sp>
      </p:grpSp>
      <p:grpSp>
        <p:nvGrpSpPr>
          <p:cNvPr id="43" name="Group 43"/>
          <p:cNvGrpSpPr/>
          <p:nvPr/>
        </p:nvGrpSpPr>
        <p:grpSpPr>
          <a:xfrm>
            <a:off x="609600" y="3257550"/>
            <a:ext cx="5334000" cy="2000250"/>
            <a:chOff x="609600" y="3257550"/>
            <a:chExt cx="5334000" cy="2000250"/>
          </a:xfrm>
        </p:grpSpPr>
        <p:sp>
          <p:nvSpPr>
            <p:cNvPr id="34" name="Rectangle 34"/>
            <p:cNvSpPr/>
            <p:nvPr/>
          </p:nvSpPr>
          <p:spPr>
            <a:xfrm>
              <a:off x="609600" y="3257550"/>
              <a:ext cx="5334000" cy="1981200"/>
            </a:xfrm>
            <a:prstGeom prst="roundRect">
              <a:avLst>
                <a:gd name="adj" fmla="val 6731"/>
              </a:avLst>
            </a:prstGeom>
            <a:solidFill>
              <a:srgbClr val="0F2E2B"/>
            </a:solidFill>
            <a:ln w="14288">
              <a:solidFill>
                <a:srgbClr val="46C98B"/>
              </a:solidFill>
            </a:ln>
          </p:spPr>
        </p:sp>
        <p:sp>
          <p:nvSpPr>
            <p:cNvPr id="35" name="Rectangle 35"/>
            <p:cNvSpPr/>
            <p:nvPr/>
          </p:nvSpPr>
          <p:spPr>
            <a:xfrm>
              <a:off x="609600" y="3257550"/>
              <a:ext cx="57150" cy="1981200"/>
            </a:xfrm>
            <a:prstGeom prst="roundRect">
              <a:avLst>
                <a:gd name="adj" fmla="val 50000"/>
              </a:avLst>
            </a:prstGeom>
            <a:solidFill>
              <a:srgbClr val="46C98B"/>
            </a:solidFill>
            <a:ln>
              <a:noFill/>
            </a:ln>
          </p:spPr>
        </p:sp>
        <p:sp>
          <p:nvSpPr>
            <p:cNvPr id="36" name="TextBox 36"/>
            <p:cNvSpPr txBox="1"/>
            <p:nvPr/>
          </p:nvSpPr>
          <p:spPr>
            <a:xfrm>
              <a:off x="870014" y="3485912"/>
              <a:ext cx="2683040" cy="242030"/>
            </a:xfrm>
            <a:prstGeom prst="rect">
              <a:avLst/>
            </a:prstGeom>
            <a:noFill/>
            <a:ln>
              <a:noFill/>
            </a:ln>
          </p:spPr>
          <p:txBody>
            <a:bodyPr wrap="none" lIns="0" tIns="0" rIns="0" bIns="0" anchor="t" anchorCtr="0">
              <a:spAutoFit/>
            </a:bodyPr>
            <a:lstStyle/>
            <a:p>
              <a:pPr algn="l"/>
              <a:r>
                <a:rPr lang="en-US" sz="1240" b="1" dirty="0">
                  <a:solidFill>
                    <a:srgbClr val="46C98B"/>
                  </a:solidFill>
                  <a:latin typeface="+mn-lt"/>
                  <a:ea typeface="+mn-ea"/>
                  <a:cs typeface="+mn-cs"/>
                </a:rPr>
                <a:t>Failing scenes -&gt; upsample by w</a:t>
              </a:r>
            </a:p>
          </p:txBody>
        </p:sp>
        <p:sp>
          <p:nvSpPr>
            <p:cNvPr id="37" name="TextBox 37"/>
            <p:cNvSpPr txBox="1"/>
            <p:nvPr/>
          </p:nvSpPr>
          <p:spPr>
            <a:xfrm>
              <a:off x="871156" y="3795951"/>
              <a:ext cx="348198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Every scene with a positive cost, meaning the policy</a:t>
              </a:r>
            </a:p>
          </p:txBody>
        </p:sp>
        <p:sp>
          <p:nvSpPr>
            <p:cNvPr id="38" name="TextBox 38"/>
            <p:cNvSpPr txBox="1"/>
            <p:nvPr/>
          </p:nvSpPr>
          <p:spPr>
            <a:xfrm>
              <a:off x="871156" y="3986451"/>
              <a:ext cx="3250862"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failed, goes into an error set. The final policy is</a:t>
              </a:r>
            </a:p>
          </p:txBody>
        </p:sp>
        <p:sp>
          <p:nvSpPr>
            <p:cNvPr id="39" name="TextBox 39"/>
            <p:cNvSpPr txBox="1"/>
            <p:nvPr/>
          </p:nvSpPr>
          <p:spPr>
            <a:xfrm>
              <a:off x="871156" y="4176951"/>
              <a:ext cx="395361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retrained with weighted ERM, upsampling those scenes by a</a:t>
              </a:r>
            </a:p>
          </p:txBody>
        </p:sp>
        <p:sp>
          <p:nvSpPr>
            <p:cNvPr id="40" name="TextBox 40"/>
            <p:cNvSpPr txBox="1"/>
            <p:nvPr/>
          </p:nvSpPr>
          <p:spPr>
            <a:xfrm>
              <a:off x="871156" y="4367451"/>
              <a:ext cx="67652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factor w.</a:t>
              </a:r>
            </a:p>
          </p:txBody>
        </p:sp>
        <p:sp>
          <p:nvSpPr>
            <p:cNvPr id="41" name="Rectangle 41"/>
            <p:cNvSpPr/>
            <p:nvPr/>
          </p:nvSpPr>
          <p:spPr>
            <a:xfrm>
              <a:off x="876300" y="4838700"/>
              <a:ext cx="4800600" cy="419100"/>
            </a:xfrm>
            <a:prstGeom prst="roundRect">
              <a:avLst>
                <a:gd name="adj" fmla="val 18182"/>
              </a:avLst>
            </a:prstGeom>
            <a:solidFill>
              <a:schemeClr val="accent6"/>
            </a:solidFill>
            <a:ln w="14288">
              <a:solidFill>
                <a:srgbClr val="284A66"/>
              </a:solidFill>
            </a:ln>
          </p:spPr>
        </p:sp>
        <p:sp>
          <p:nvSpPr>
            <p:cNvPr id="42" name="TextBox 42"/>
            <p:cNvSpPr txBox="1"/>
            <p:nvPr/>
          </p:nvSpPr>
          <p:spPr>
            <a:xfrm>
              <a:off x="2086511" y="4996101"/>
              <a:ext cx="2380178"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cost(scene) &gt; 0 -&gt; error set, x w</a:t>
              </a:r>
            </a:p>
          </p:txBody>
        </p:sp>
      </p:grpSp>
      <p:grpSp>
        <p:nvGrpSpPr>
          <p:cNvPr id="49" name="Group 49"/>
          <p:cNvGrpSpPr/>
          <p:nvPr/>
        </p:nvGrpSpPr>
        <p:grpSpPr>
          <a:xfrm>
            <a:off x="6248400" y="3257550"/>
            <a:ext cx="5334000" cy="971550"/>
            <a:chOff x="6248400" y="3257550"/>
            <a:chExt cx="5334000" cy="971550"/>
          </a:xfrm>
        </p:grpSpPr>
        <p:sp>
          <p:nvSpPr>
            <p:cNvPr id="44" name="Rectangle 44"/>
            <p:cNvSpPr/>
            <p:nvPr/>
          </p:nvSpPr>
          <p:spPr>
            <a:xfrm>
              <a:off x="6248400" y="3257550"/>
              <a:ext cx="5334000" cy="971550"/>
            </a:xfrm>
            <a:prstGeom prst="roundRect">
              <a:avLst>
                <a:gd name="adj" fmla="val 13725"/>
              </a:avLst>
            </a:prstGeom>
            <a:solidFill>
              <a:schemeClr val="accent5"/>
            </a:solidFill>
            <a:ln w="14288">
              <a:solidFill>
                <a:srgbClr val="284A66"/>
              </a:solidFill>
            </a:ln>
          </p:spPr>
        </p:sp>
        <p:sp>
          <p:nvSpPr>
            <p:cNvPr id="45" name="Rectangle 45"/>
            <p:cNvSpPr/>
            <p:nvPr/>
          </p:nvSpPr>
          <p:spPr>
            <a:xfrm>
              <a:off x="6248400" y="3257550"/>
              <a:ext cx="57150" cy="971550"/>
            </a:xfrm>
            <a:prstGeom prst="roundRect">
              <a:avLst>
                <a:gd name="adj" fmla="val 50000"/>
              </a:avLst>
            </a:prstGeom>
            <a:solidFill>
              <a:srgbClr val="33D6C0"/>
            </a:solidFill>
            <a:ln>
              <a:noFill/>
            </a:ln>
          </p:spPr>
        </p:sp>
        <p:sp>
          <p:nvSpPr>
            <p:cNvPr id="46" name="TextBox 46"/>
            <p:cNvSpPr txBox="1"/>
            <p:nvPr/>
          </p:nvSpPr>
          <p:spPr>
            <a:xfrm>
              <a:off x="6509004" y="3470910"/>
              <a:ext cx="2163421" cy="234696"/>
            </a:xfrm>
            <a:prstGeom prst="rect">
              <a:avLst/>
            </a:prstGeom>
            <a:noFill/>
            <a:ln>
              <a:noFill/>
            </a:ln>
          </p:spPr>
          <p:txBody>
            <a:bodyPr wrap="none" lIns="0" tIns="0" rIns="0" bIns="0" anchor="t" anchorCtr="0">
              <a:spAutoFit/>
            </a:bodyPr>
            <a:lstStyle/>
            <a:p>
              <a:pPr algn="l"/>
              <a:r>
                <a:rPr lang="en-US" sz="1200" b="1" dirty="0">
                  <a:solidFill>
                    <a:srgbClr val="33D6C0"/>
                  </a:solidFill>
                  <a:latin typeface="+mn-lt"/>
                  <a:ea typeface="+mn-ea"/>
                  <a:cs typeface="+mn-cs"/>
                </a:rPr>
                <a:t>Almost the same objective</a:t>
              </a:r>
            </a:p>
          </p:txBody>
        </p:sp>
        <p:sp>
          <p:nvSpPr>
            <p:cNvPr id="47" name="TextBox 47"/>
            <p:cNvSpPr txBox="1"/>
            <p:nvPr/>
          </p:nvSpPr>
          <p:spPr>
            <a:xfrm>
              <a:off x="6509956" y="3757851"/>
              <a:ext cx="339329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Nearly identical to behavioral cloning, with a single</a:t>
              </a:r>
            </a:p>
          </p:txBody>
        </p:sp>
        <p:sp>
          <p:nvSpPr>
            <p:cNvPr id="48" name="TextBox 48"/>
            <p:cNvSpPr txBox="1"/>
            <p:nvPr/>
          </p:nvSpPr>
          <p:spPr>
            <a:xfrm>
              <a:off x="6509956" y="3948351"/>
              <a:ext cx="309672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weighting term driven by closed-loop failures.</a:t>
              </a:r>
            </a:p>
          </p:txBody>
        </p:sp>
      </p:grpSp>
      <p:grpSp>
        <p:nvGrpSpPr>
          <p:cNvPr id="55" name="Group 55"/>
          <p:cNvGrpSpPr/>
          <p:nvPr/>
        </p:nvGrpSpPr>
        <p:grpSpPr>
          <a:xfrm>
            <a:off x="6248400" y="4381500"/>
            <a:ext cx="5334000" cy="857250"/>
            <a:chOff x="6248400" y="4381500"/>
            <a:chExt cx="5334000" cy="857250"/>
          </a:xfrm>
        </p:grpSpPr>
        <p:sp>
          <p:nvSpPr>
            <p:cNvPr id="50" name="Rectangle 50"/>
            <p:cNvSpPr/>
            <p:nvPr/>
          </p:nvSpPr>
          <p:spPr>
            <a:xfrm>
              <a:off x="6248400" y="4381500"/>
              <a:ext cx="5334000" cy="857250"/>
            </a:xfrm>
            <a:prstGeom prst="roundRect">
              <a:avLst>
                <a:gd name="adj" fmla="val 15556"/>
              </a:avLst>
            </a:prstGeom>
            <a:solidFill>
              <a:schemeClr val="accent5"/>
            </a:solidFill>
            <a:ln w="14288">
              <a:solidFill>
                <a:srgbClr val="284A66"/>
              </a:solidFill>
            </a:ln>
          </p:spPr>
        </p:sp>
        <p:sp>
          <p:nvSpPr>
            <p:cNvPr id="51" name="Rectangle 51"/>
            <p:cNvSpPr/>
            <p:nvPr/>
          </p:nvSpPr>
          <p:spPr>
            <a:xfrm>
              <a:off x="6248400" y="4381500"/>
              <a:ext cx="57150" cy="857250"/>
            </a:xfrm>
            <a:prstGeom prst="roundRect">
              <a:avLst>
                <a:gd name="adj" fmla="val 50000"/>
              </a:avLst>
            </a:prstGeom>
            <a:solidFill>
              <a:srgbClr val="F4C24C"/>
            </a:solidFill>
            <a:ln>
              <a:noFill/>
            </a:ln>
          </p:spPr>
        </p:sp>
        <p:sp>
          <p:nvSpPr>
            <p:cNvPr id="52" name="TextBox 52"/>
            <p:cNvSpPr txBox="1"/>
            <p:nvPr/>
          </p:nvSpPr>
          <p:spPr>
            <a:xfrm>
              <a:off x="6509194" y="4560808"/>
              <a:ext cx="2689879" cy="227362"/>
            </a:xfrm>
            <a:prstGeom prst="rect">
              <a:avLst/>
            </a:prstGeom>
            <a:noFill/>
            <a:ln>
              <a:noFill/>
            </a:ln>
          </p:spPr>
          <p:txBody>
            <a:bodyPr wrap="none" lIns="0" tIns="0" rIns="0" bIns="0" anchor="t" anchorCtr="0">
              <a:spAutoFit/>
            </a:bodyPr>
            <a:lstStyle/>
            <a:p>
              <a:pPr algn="l"/>
              <a:r>
                <a:rPr lang="en-US" sz="1160" b="1" dirty="0">
                  <a:solidFill>
                    <a:srgbClr val="F4C24C"/>
                  </a:solidFill>
                  <a:latin typeface="+mn-lt"/>
                  <a:ea typeface="+mn-ea"/>
                  <a:cs typeface="+mn-cs"/>
                </a:rPr>
                <a:t>Two tricks, no differentiable sim</a:t>
              </a:r>
            </a:p>
          </p:txBody>
        </p:sp>
        <p:sp>
          <p:nvSpPr>
            <p:cNvPr id="53" name="TextBox 53"/>
            <p:cNvSpPr txBox="1"/>
            <p:nvPr/>
          </p:nvSpPr>
          <p:spPr>
            <a:xfrm>
              <a:off x="6510338" y="4832747"/>
              <a:ext cx="4458064"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Early-stop the ID policy so the error set is not depleted; upsample (not</a:t>
              </a:r>
            </a:p>
          </p:txBody>
        </p:sp>
        <p:sp>
          <p:nvSpPr>
            <p:cNvPr id="54" name="TextBox 54"/>
            <p:cNvSpPr txBox="1"/>
            <p:nvPr/>
          </p:nvSpPr>
          <p:spPr>
            <a:xfrm>
              <a:off x="6510338" y="4994672"/>
              <a:ext cx="3888062"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reweight) for stability; any non-differentiable metric works.</a:t>
              </a:r>
            </a:p>
          </p:txBody>
        </p:sp>
      </p:grpSp>
      <p:sp>
        <p:nvSpPr>
          <p:cNvPr id="56" name="cue_s05_c1_method_three_stages_strikingly_simpl" title="cue_s05_c1_method_three_stages_strikingly_simpl" descr="cue_s05_c1_method_three_stages_strikingly_simpl &quot;The method has three stages and is strikingly simple. In stage one, you train an identification policy the ordinary way, with standard ERM behavioral cloning. In stage two, you take that policy and roll it out in a closed-loop simulator over the training scen"/>
          <p:cNvSpPr/>
          <p:nvPr/>
        </p:nvSpPr>
        <p:spPr>
          <a:xfrm>
            <a:off x="609600" y="1504645"/>
            <a:ext cx="109728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5_c2_every_scene_where_cost_positive" title="cue_s05_c2_every_scene_where_cost_positive" descr="cue_s05_c2_every_scene_where_cost_positive Every scene where a cost is positive, meaning the policy failed, goes into an error set. In stage three, you train the final policy again with weighted ERM, but now the error-set scenes are upsampled by a factor w."/>
          <p:cNvSpPr/>
          <p:nvPr/>
        </p:nvSpPr>
        <p:spPr>
          <a:xfrm>
            <a:off x="609600" y="3257550"/>
            <a:ext cx="5334000"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5_c3_nearly_identical_original_behavioral" title="cue_s05_c3_nearly_identical_original_behavioral" descr="cue_s05_c3_nearly_identical_original_behavioral This is nearly identical to the original behavioral-cloning objective, with the single addition of a weighting term driven by closed-loop failures."/>
          <p:cNvSpPr/>
          <p:nvPr/>
        </p:nvSpPr>
        <p:spPr>
          <a:xfrm>
            <a:off x="6248399" y="3257550"/>
            <a:ext cx="5334000"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5_c4_two_practical_tricks_matter_identifi" title="cue_s05_c4_two_practical_tricks_matter_identifi" descr="cue_s05_c4_two_practical_tricks_matter_identifi Two practical tricks matter: the identification policy is stopped early so the error set is not depleted, and upsampling is used instead of reweighting because it is more stable. Crucially, because the simulator is only used to pick scenes, any non-differentia"/>
          <p:cNvSpPr/>
          <p:nvPr/>
        </p:nvSpPr>
        <p:spPr>
          <a:xfrm>
            <a:off x="6248399" y="4381576"/>
            <a:ext cx="5334000" cy="857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18552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Real urban driving, at fleet scale</a:t>
            </a:r>
          </a:p>
        </p:txBody>
      </p:sp>
      <p:grpSp>
        <p:nvGrpSpPr>
          <p:cNvPr id="16" name="Group 16"/>
          <p:cNvGrpSpPr/>
          <p:nvPr/>
        </p:nvGrpSpPr>
        <p:grpSpPr>
          <a:xfrm>
            <a:off x="609600" y="1504950"/>
            <a:ext cx="10972800" cy="1257300"/>
            <a:chOff x="609600" y="1504950"/>
            <a:chExt cx="10972800" cy="1257300"/>
          </a:xfrm>
        </p:grpSpPr>
        <p:sp>
          <p:nvSpPr>
            <p:cNvPr id="5" name="Rectangle 5"/>
            <p:cNvSpPr/>
            <p:nvPr/>
          </p:nvSpPr>
          <p:spPr>
            <a:xfrm>
              <a:off x="609600" y="1504950"/>
              <a:ext cx="10972800" cy="1257300"/>
            </a:xfrm>
            <a:prstGeom prst="roundRect">
              <a:avLst>
                <a:gd name="adj" fmla="val 10606"/>
              </a:avLst>
            </a:prstGeom>
            <a:solidFill>
              <a:schemeClr val="accent5"/>
            </a:solidFill>
            <a:ln w="14288">
              <a:solidFill>
                <a:srgbClr val="284A66"/>
              </a:solidFill>
            </a:ln>
          </p:spPr>
        </p:sp>
        <p:sp>
          <p:nvSpPr>
            <p:cNvPr id="6" name="Rectangle 6"/>
            <p:cNvSpPr/>
            <p:nvPr/>
          </p:nvSpPr>
          <p:spPr>
            <a:xfrm>
              <a:off x="609600" y="1504950"/>
              <a:ext cx="57150" cy="1257300"/>
            </a:xfrm>
            <a:prstGeom prst="roundRect">
              <a:avLst>
                <a:gd name="adj" fmla="val 50000"/>
              </a:avLst>
            </a:prstGeom>
            <a:solidFill>
              <a:schemeClr val="accent2"/>
            </a:solidFill>
            <a:ln>
              <a:noFill/>
            </a:ln>
          </p:spPr>
        </p:sp>
        <p:sp>
          <p:nvSpPr>
            <p:cNvPr id="7" name="TextBox 7"/>
            <p:cNvSpPr txBox="1"/>
            <p:nvPr/>
          </p:nvSpPr>
          <p:spPr>
            <a:xfrm>
              <a:off x="870204" y="1718310"/>
              <a:ext cx="3257514"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 proprietary real-world fleet dataset</a:t>
              </a:r>
            </a:p>
          </p:txBody>
        </p:sp>
        <p:sp>
          <p:nvSpPr>
            <p:cNvPr id="8" name="TextBox 8"/>
            <p:cNvSpPr txBox="1"/>
            <p:nvPr/>
          </p:nvSpPr>
          <p:spPr>
            <a:xfrm>
              <a:off x="870966" y="2020252"/>
              <a:ext cx="49554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Collected from the company's self-driving vehicles on challenging urban</a:t>
              </a:r>
            </a:p>
          </p:txBody>
        </p:sp>
        <p:sp>
          <p:nvSpPr>
            <p:cNvPr id="9" name="TextBox 9"/>
            <p:cNvSpPr txBox="1"/>
            <p:nvPr/>
          </p:nvSpPr>
          <p:spPr>
            <a:xfrm>
              <a:off x="870966" y="2220278"/>
              <a:ext cx="27432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missions in San Francisco and Palo Alto.</a:t>
              </a:r>
            </a:p>
          </p:txBody>
        </p:sp>
        <p:sp>
          <p:nvSpPr>
            <p:cNvPr id="10" name="Rectangle 10"/>
            <p:cNvSpPr/>
            <p:nvPr/>
          </p:nvSpPr>
          <p:spPr>
            <a:xfrm>
              <a:off x="6667500" y="2038350"/>
              <a:ext cx="2190750" cy="304800"/>
            </a:xfrm>
            <a:prstGeom prst="roundRect">
              <a:avLst>
                <a:gd name="adj" fmla="val 25000"/>
              </a:avLst>
            </a:prstGeom>
            <a:solidFill>
              <a:schemeClr val="accent6"/>
            </a:solidFill>
            <a:ln w="14288">
              <a:solidFill>
                <a:srgbClr val="284A66"/>
              </a:solidFill>
            </a:ln>
          </p:spPr>
        </p:sp>
        <p:sp>
          <p:nvSpPr>
            <p:cNvPr id="11" name="Ellipse 11"/>
            <p:cNvSpPr/>
            <p:nvPr/>
          </p:nvSpPr>
          <p:spPr>
            <a:xfrm>
              <a:off x="6791325" y="2143125"/>
              <a:ext cx="95250" cy="95250"/>
            </a:xfrm>
            <a:prstGeom prst="ellipse">
              <a:avLst/>
            </a:prstGeom>
            <a:solidFill>
              <a:schemeClr val="accent2"/>
            </a:solidFill>
            <a:ln>
              <a:noFill/>
            </a:ln>
          </p:spPr>
        </p:sp>
        <p:sp>
          <p:nvSpPr>
            <p:cNvPr id="12" name="TextBox 12"/>
            <p:cNvSpPr txBox="1"/>
            <p:nvPr/>
          </p:nvSpPr>
          <p:spPr>
            <a:xfrm>
              <a:off x="6985826" y="2130504"/>
              <a:ext cx="104529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San Francisco</a:t>
              </a:r>
            </a:p>
          </p:txBody>
        </p:sp>
        <p:sp>
          <p:nvSpPr>
            <p:cNvPr id="13" name="Rectangle 13"/>
            <p:cNvSpPr/>
            <p:nvPr/>
          </p:nvSpPr>
          <p:spPr>
            <a:xfrm>
              <a:off x="9010650" y="2038350"/>
              <a:ext cx="1905000" cy="304800"/>
            </a:xfrm>
            <a:prstGeom prst="roundRect">
              <a:avLst>
                <a:gd name="adj" fmla="val 25000"/>
              </a:avLst>
            </a:prstGeom>
            <a:solidFill>
              <a:schemeClr val="accent6"/>
            </a:solidFill>
            <a:ln w="14288">
              <a:solidFill>
                <a:srgbClr val="284A66"/>
              </a:solidFill>
            </a:ln>
          </p:spPr>
        </p:sp>
        <p:sp>
          <p:nvSpPr>
            <p:cNvPr id="14" name="Ellipse 14"/>
            <p:cNvSpPr/>
            <p:nvPr/>
          </p:nvSpPr>
          <p:spPr>
            <a:xfrm>
              <a:off x="9134475" y="2143125"/>
              <a:ext cx="95250" cy="95250"/>
            </a:xfrm>
            <a:prstGeom prst="ellipse">
              <a:avLst/>
            </a:prstGeom>
            <a:solidFill>
              <a:srgbClr val="33D6C0"/>
            </a:solidFill>
            <a:ln>
              <a:noFill/>
            </a:ln>
          </p:spPr>
        </p:sp>
        <p:sp>
          <p:nvSpPr>
            <p:cNvPr id="15" name="TextBox 15"/>
            <p:cNvSpPr txBox="1"/>
            <p:nvPr/>
          </p:nvSpPr>
          <p:spPr>
            <a:xfrm>
              <a:off x="9328976" y="2130504"/>
              <a:ext cx="667311"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Palo Alto</a:t>
              </a:r>
            </a:p>
          </p:txBody>
        </p:sp>
      </p:grpSp>
      <p:grpSp>
        <p:nvGrpSpPr>
          <p:cNvPr id="22" name="Group 22"/>
          <p:cNvGrpSpPr/>
          <p:nvPr/>
        </p:nvGrpSpPr>
        <p:grpSpPr>
          <a:xfrm>
            <a:off x="609600" y="2914650"/>
            <a:ext cx="5334000" cy="1333500"/>
            <a:chOff x="609600" y="2914650"/>
            <a:chExt cx="5334000" cy="1333500"/>
          </a:xfrm>
        </p:grpSpPr>
        <p:sp>
          <p:nvSpPr>
            <p:cNvPr id="17" name="Rectangle 17"/>
            <p:cNvSpPr/>
            <p:nvPr/>
          </p:nvSpPr>
          <p:spPr>
            <a:xfrm>
              <a:off x="609600" y="2914650"/>
              <a:ext cx="5334000" cy="1333500"/>
            </a:xfrm>
            <a:prstGeom prst="roundRect">
              <a:avLst>
                <a:gd name="adj" fmla="val 10000"/>
              </a:avLst>
            </a:prstGeom>
            <a:solidFill>
              <a:schemeClr val="accent5"/>
            </a:solidFill>
            <a:ln w="14288">
              <a:solidFill>
                <a:srgbClr val="284A66"/>
              </a:solidFill>
            </a:ln>
          </p:spPr>
        </p:sp>
        <p:sp>
          <p:nvSpPr>
            <p:cNvPr id="18" name="Rectangle 18"/>
            <p:cNvSpPr/>
            <p:nvPr/>
          </p:nvSpPr>
          <p:spPr>
            <a:xfrm>
              <a:off x="609600" y="2914650"/>
              <a:ext cx="57150" cy="1333500"/>
            </a:xfrm>
            <a:prstGeom prst="roundRect">
              <a:avLst>
                <a:gd name="adj" fmla="val 50000"/>
              </a:avLst>
            </a:prstGeom>
            <a:solidFill>
              <a:srgbClr val="33D6C0"/>
            </a:solidFill>
            <a:ln>
              <a:noFill/>
            </a:ln>
          </p:spPr>
        </p:sp>
        <p:sp>
          <p:nvSpPr>
            <p:cNvPr id="19" name="TextBox 19"/>
            <p:cNvSpPr txBox="1"/>
            <p:nvPr/>
          </p:nvSpPr>
          <p:spPr>
            <a:xfrm>
              <a:off x="870014" y="3123962"/>
              <a:ext cx="2211593" cy="242030"/>
            </a:xfrm>
            <a:prstGeom prst="rect">
              <a:avLst/>
            </a:prstGeom>
            <a:noFill/>
            <a:ln>
              <a:noFill/>
            </a:ln>
          </p:spPr>
          <p:txBody>
            <a:bodyPr wrap="none" lIns="0" tIns="0" rIns="0" bIns="0" anchor="t" anchorCtr="0">
              <a:spAutoFit/>
            </a:bodyPr>
            <a:lstStyle/>
            <a:p>
              <a:pPr algn="l"/>
              <a:r>
                <a:rPr lang="en-US" sz="1240" b="1" dirty="0">
                  <a:solidFill>
                    <a:srgbClr val="33D6C0"/>
                  </a:solidFill>
                  <a:latin typeface="+mn-lt"/>
                  <a:ea typeface="+mn-ea"/>
                  <a:cs typeface="+mn-cs"/>
                </a:rPr>
                <a:t>Trajectories plus HD maps</a:t>
              </a:r>
            </a:p>
          </p:txBody>
        </p:sp>
        <p:sp>
          <p:nvSpPr>
            <p:cNvPr id="20" name="TextBox 20"/>
            <p:cNvSpPr txBox="1"/>
            <p:nvPr/>
          </p:nvSpPr>
          <p:spPr>
            <a:xfrm>
              <a:off x="870966" y="3429952"/>
              <a:ext cx="39447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Recorded trajectories of the ego vehicle and surrounding</a:t>
              </a:r>
            </a:p>
          </p:txBody>
        </p:sp>
        <p:sp>
          <p:nvSpPr>
            <p:cNvPr id="21" name="TextBox 21"/>
            <p:cNvSpPr txBox="1"/>
            <p:nvPr/>
          </p:nvSpPr>
          <p:spPr>
            <a:xfrm>
              <a:off x="870966" y="3629978"/>
              <a:ext cx="30921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agents, together with high-definition maps.</a:t>
              </a:r>
            </a:p>
          </p:txBody>
        </p:sp>
      </p:grpSp>
      <p:grpSp>
        <p:nvGrpSpPr>
          <p:cNvPr id="29" name="Group 29"/>
          <p:cNvGrpSpPr/>
          <p:nvPr/>
        </p:nvGrpSpPr>
        <p:grpSpPr>
          <a:xfrm>
            <a:off x="6248400" y="2914650"/>
            <a:ext cx="5334000" cy="1333500"/>
            <a:chOff x="6248400" y="2914650"/>
            <a:chExt cx="5334000" cy="1333500"/>
          </a:xfrm>
        </p:grpSpPr>
        <p:sp>
          <p:nvSpPr>
            <p:cNvPr id="23" name="Rectangle 23"/>
            <p:cNvSpPr/>
            <p:nvPr/>
          </p:nvSpPr>
          <p:spPr>
            <a:xfrm>
              <a:off x="6248400" y="2914650"/>
              <a:ext cx="5334000" cy="1333500"/>
            </a:xfrm>
            <a:prstGeom prst="roundRect">
              <a:avLst>
                <a:gd name="adj" fmla="val 10000"/>
              </a:avLst>
            </a:prstGeom>
            <a:solidFill>
              <a:schemeClr val="accent5"/>
            </a:solidFill>
            <a:ln w="14288">
              <a:solidFill>
                <a:srgbClr val="284A66"/>
              </a:solidFill>
            </a:ln>
          </p:spPr>
        </p:sp>
        <p:sp>
          <p:nvSpPr>
            <p:cNvPr id="24" name="Rectangle 24"/>
            <p:cNvSpPr/>
            <p:nvPr/>
          </p:nvSpPr>
          <p:spPr>
            <a:xfrm>
              <a:off x="6248400" y="2914650"/>
              <a:ext cx="57150" cy="1333500"/>
            </a:xfrm>
            <a:prstGeom prst="roundRect">
              <a:avLst>
                <a:gd name="adj" fmla="val 50000"/>
              </a:avLst>
            </a:prstGeom>
            <a:solidFill>
              <a:srgbClr val="F2685C"/>
            </a:solidFill>
            <a:ln>
              <a:noFill/>
            </a:ln>
          </p:spPr>
        </p:sp>
        <p:sp>
          <p:nvSpPr>
            <p:cNvPr id="25" name="TextBox 25"/>
            <p:cNvSpPr txBox="1"/>
            <p:nvPr/>
          </p:nvSpPr>
          <p:spPr>
            <a:xfrm>
              <a:off x="6508814" y="3123962"/>
              <a:ext cx="2410497"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Diverse, difficult scenarios</a:t>
              </a:r>
            </a:p>
          </p:txBody>
        </p:sp>
        <p:sp>
          <p:nvSpPr>
            <p:cNvPr id="26" name="TextBox 26"/>
            <p:cNvSpPr txBox="1"/>
            <p:nvPr/>
          </p:nvSpPr>
          <p:spPr>
            <a:xfrm>
              <a:off x="6509956" y="3395901"/>
              <a:ext cx="376066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Stopping behind a lead car, intersections, dense traffic</a:t>
              </a:r>
            </a:p>
          </p:txBody>
        </p:sp>
        <p:sp>
          <p:nvSpPr>
            <p:cNvPr id="27" name="TextBox 27"/>
            <p:cNvSpPr txBox="1"/>
            <p:nvPr/>
          </p:nvSpPr>
          <p:spPr>
            <a:xfrm>
              <a:off x="6509956" y="3586401"/>
              <a:ext cx="407567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with pedestrians and cyclists; most scenes 11-13 s, up to 30</a:t>
              </a:r>
            </a:p>
          </p:txBody>
        </p:sp>
        <p:sp>
          <p:nvSpPr>
            <p:cNvPr id="28" name="TextBox 28"/>
            <p:cNvSpPr txBox="1"/>
            <p:nvPr/>
          </p:nvSpPr>
          <p:spPr>
            <a:xfrm>
              <a:off x="6509956" y="3776901"/>
              <a:ext cx="15985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a:t>
              </a:r>
            </a:p>
          </p:txBody>
        </p:sp>
      </p:grpSp>
      <p:grpSp>
        <p:nvGrpSpPr>
          <p:cNvPr id="43" name="Group 43"/>
          <p:cNvGrpSpPr/>
          <p:nvPr/>
        </p:nvGrpSpPr>
        <p:grpSpPr>
          <a:xfrm>
            <a:off x="609600" y="4400550"/>
            <a:ext cx="10972800" cy="838200"/>
            <a:chOff x="609600" y="4400550"/>
            <a:chExt cx="10972800" cy="838200"/>
          </a:xfrm>
        </p:grpSpPr>
        <p:sp>
          <p:nvSpPr>
            <p:cNvPr id="30" name="Rectangle 30"/>
            <p:cNvSpPr/>
            <p:nvPr/>
          </p:nvSpPr>
          <p:spPr>
            <a:xfrm>
              <a:off x="609600" y="4400550"/>
              <a:ext cx="10972800" cy="838200"/>
            </a:xfrm>
            <a:prstGeom prst="roundRect">
              <a:avLst>
                <a:gd name="adj" fmla="val 15909"/>
              </a:avLst>
            </a:prstGeom>
            <a:solidFill>
              <a:srgbClr val="0F2E2B"/>
            </a:solidFill>
            <a:ln w="14288">
              <a:solidFill>
                <a:srgbClr val="46C98B"/>
              </a:solidFill>
            </a:ln>
          </p:spPr>
        </p:sp>
        <p:sp>
          <p:nvSpPr>
            <p:cNvPr id="31" name="Rectangle 31"/>
            <p:cNvSpPr/>
            <p:nvPr/>
          </p:nvSpPr>
          <p:spPr>
            <a:xfrm>
              <a:off x="609600" y="4400550"/>
              <a:ext cx="57150" cy="838200"/>
            </a:xfrm>
            <a:prstGeom prst="roundRect">
              <a:avLst>
                <a:gd name="adj" fmla="val 50000"/>
              </a:avLst>
            </a:prstGeom>
            <a:solidFill>
              <a:srgbClr val="46C98B"/>
            </a:solidFill>
            <a:ln>
              <a:noFill/>
            </a:ln>
          </p:spPr>
        </p:sp>
        <p:sp>
          <p:nvSpPr>
            <p:cNvPr id="32" name="TextBox 32"/>
            <p:cNvSpPr txBox="1"/>
            <p:nvPr/>
          </p:nvSpPr>
          <p:spPr>
            <a:xfrm>
              <a:off x="870394" y="4579858"/>
              <a:ext cx="3329462"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Trained at scale, simulator open-sourced</a:t>
              </a:r>
            </a:p>
          </p:txBody>
        </p:sp>
        <p:sp>
          <p:nvSpPr>
            <p:cNvPr id="33" name="Rectangle 33"/>
            <p:cNvSpPr/>
            <p:nvPr/>
          </p:nvSpPr>
          <p:spPr>
            <a:xfrm>
              <a:off x="5334000" y="4495800"/>
              <a:ext cx="1600200" cy="647700"/>
            </a:xfrm>
            <a:prstGeom prst="roundRect">
              <a:avLst>
                <a:gd name="adj" fmla="val 17647"/>
              </a:avLst>
            </a:prstGeom>
            <a:solidFill>
              <a:schemeClr val="accent6"/>
            </a:solidFill>
            <a:ln w="14288">
              <a:solidFill>
                <a:srgbClr val="284A66"/>
              </a:solidFill>
            </a:ln>
          </p:spPr>
        </p:sp>
        <p:sp>
          <p:nvSpPr>
            <p:cNvPr id="34" name="TextBox 34"/>
            <p:cNvSpPr txBox="1"/>
            <p:nvPr/>
          </p:nvSpPr>
          <p:spPr>
            <a:xfrm>
              <a:off x="5819620" y="4645419"/>
              <a:ext cx="628961" cy="339136"/>
            </a:xfrm>
            <a:prstGeom prst="rect">
              <a:avLst/>
            </a:prstGeom>
            <a:noFill/>
            <a:ln>
              <a:noFill/>
            </a:ln>
          </p:spPr>
          <p:txBody>
            <a:bodyPr wrap="none" lIns="0" tIns="0" rIns="0" bIns="0" anchor="t" anchorCtr="0">
              <a:spAutoFit/>
            </a:bodyPr>
            <a:lstStyle/>
            <a:p>
              <a:pPr algn="ctr"/>
              <a:r>
                <a:rPr lang="en-US" sz="1730" b="1" dirty="0">
                  <a:solidFill>
                    <a:srgbClr val="46C98B"/>
                  </a:solidFill>
                  <a:latin typeface="+mn-lt"/>
                  <a:ea typeface="+mn-ea"/>
                  <a:cs typeface="+mn-cs"/>
                </a:rPr>
                <a:t>180 h</a:t>
              </a:r>
            </a:p>
          </p:txBody>
        </p:sp>
        <p:sp>
          <p:nvSpPr>
            <p:cNvPr id="35" name="TextBox 35"/>
            <p:cNvSpPr txBox="1"/>
            <p:nvPr/>
          </p:nvSpPr>
          <p:spPr>
            <a:xfrm>
              <a:off x="5870241" y="4912757"/>
              <a:ext cx="52771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training</a:t>
              </a:r>
            </a:p>
          </p:txBody>
        </p:sp>
        <p:sp>
          <p:nvSpPr>
            <p:cNvPr id="36" name="Rectangle 36"/>
            <p:cNvSpPr/>
            <p:nvPr/>
          </p:nvSpPr>
          <p:spPr>
            <a:xfrm>
              <a:off x="7067550" y="4495800"/>
              <a:ext cx="1600200" cy="647700"/>
            </a:xfrm>
            <a:prstGeom prst="roundRect">
              <a:avLst>
                <a:gd name="adj" fmla="val 17647"/>
              </a:avLst>
            </a:prstGeom>
            <a:solidFill>
              <a:schemeClr val="accent6"/>
            </a:solidFill>
            <a:ln w="14288">
              <a:solidFill>
                <a:srgbClr val="284A66"/>
              </a:solidFill>
            </a:ln>
          </p:spPr>
        </p:sp>
        <p:sp>
          <p:nvSpPr>
            <p:cNvPr id="37" name="TextBox 37"/>
            <p:cNvSpPr txBox="1"/>
            <p:nvPr/>
          </p:nvSpPr>
          <p:spPr>
            <a:xfrm>
              <a:off x="7620417" y="4645419"/>
              <a:ext cx="494465" cy="339136"/>
            </a:xfrm>
            <a:prstGeom prst="rect">
              <a:avLst/>
            </a:prstGeom>
            <a:noFill/>
            <a:ln>
              <a:noFill/>
            </a:ln>
          </p:spPr>
          <p:txBody>
            <a:bodyPr wrap="none" lIns="0" tIns="0" rIns="0" bIns="0" anchor="t" anchorCtr="0">
              <a:spAutoFit/>
            </a:bodyPr>
            <a:lstStyle/>
            <a:p>
              <a:pPr algn="ctr"/>
              <a:r>
                <a:rPr lang="en-US" sz="1730" b="1" dirty="0">
                  <a:solidFill>
                    <a:srgbClr val="33D6C0"/>
                  </a:solidFill>
                  <a:latin typeface="+mn-lt"/>
                  <a:ea typeface="+mn-ea"/>
                  <a:cs typeface="+mn-cs"/>
                </a:rPr>
                <a:t>60 h</a:t>
              </a:r>
            </a:p>
          </p:txBody>
        </p:sp>
        <p:sp>
          <p:nvSpPr>
            <p:cNvPr id="38" name="TextBox 38"/>
            <p:cNvSpPr txBox="1"/>
            <p:nvPr/>
          </p:nvSpPr>
          <p:spPr>
            <a:xfrm>
              <a:off x="7547321" y="4912757"/>
              <a:ext cx="64065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validation</a:t>
              </a:r>
            </a:p>
          </p:txBody>
        </p:sp>
        <p:sp>
          <p:nvSpPr>
            <p:cNvPr id="39" name="Rectangle 39"/>
            <p:cNvSpPr/>
            <p:nvPr/>
          </p:nvSpPr>
          <p:spPr>
            <a:xfrm>
              <a:off x="8801100" y="4495800"/>
              <a:ext cx="1600200" cy="647700"/>
            </a:xfrm>
            <a:prstGeom prst="roundRect">
              <a:avLst>
                <a:gd name="adj" fmla="val 17647"/>
              </a:avLst>
            </a:prstGeom>
            <a:solidFill>
              <a:schemeClr val="accent6"/>
            </a:solidFill>
            <a:ln w="14288">
              <a:solidFill>
                <a:srgbClr val="284A66"/>
              </a:solidFill>
            </a:ln>
          </p:spPr>
        </p:sp>
        <p:sp>
          <p:nvSpPr>
            <p:cNvPr id="40" name="TextBox 40"/>
            <p:cNvSpPr txBox="1"/>
            <p:nvPr/>
          </p:nvSpPr>
          <p:spPr>
            <a:xfrm>
              <a:off x="9353967" y="4645419"/>
              <a:ext cx="494465" cy="339136"/>
            </a:xfrm>
            <a:prstGeom prst="rect">
              <a:avLst/>
            </a:prstGeom>
            <a:noFill/>
            <a:ln>
              <a:noFill/>
            </a:ln>
          </p:spPr>
          <p:txBody>
            <a:bodyPr wrap="none" lIns="0" tIns="0" rIns="0" bIns="0" anchor="t" anchorCtr="0">
              <a:spAutoFit/>
            </a:bodyPr>
            <a:lstStyle/>
            <a:p>
              <a:pPr algn="ctr"/>
              <a:r>
                <a:rPr lang="en-US" sz="1730" b="1" dirty="0">
                  <a:solidFill>
                    <a:schemeClr val="accent2"/>
                  </a:solidFill>
                  <a:latin typeface="+mn-lt"/>
                  <a:ea typeface="+mn-ea"/>
                  <a:cs typeface="+mn-cs"/>
                </a:rPr>
                <a:t>60 h</a:t>
              </a:r>
            </a:p>
          </p:txBody>
        </p:sp>
        <p:sp>
          <p:nvSpPr>
            <p:cNvPr id="41" name="TextBox 41"/>
            <p:cNvSpPr txBox="1"/>
            <p:nvPr/>
          </p:nvSpPr>
          <p:spPr>
            <a:xfrm>
              <a:off x="9450281" y="4912757"/>
              <a:ext cx="30183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test</a:t>
              </a:r>
            </a:p>
          </p:txBody>
        </p:sp>
        <p:sp>
          <p:nvSpPr>
            <p:cNvPr id="42" name="TextBox 42"/>
            <p:cNvSpPr txBox="1"/>
            <p:nvPr/>
          </p:nvSpPr>
          <p:spPr>
            <a:xfrm>
              <a:off x="871347" y="4866799"/>
              <a:ext cx="2344035"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closed-loop sim + metrics released</a:t>
              </a:r>
            </a:p>
          </p:txBody>
        </p:sp>
      </p:grpSp>
      <p:sp>
        <p:nvSpPr>
          <p:cNvPr id="44" name="cue_s06_c1_method_evaluated_proprietary_real_wo" title="cue_s06_c1_method_evaluated_proprietary_real_wo" descr="cue_s06_c1_method_evaluated_proprietary_real_wo &quot;The method is evaluated on a proprietary real-world dataset, collected from the company's self-driving vehicles on challenging urban missions in San Francisco and Palo Alto."/>
          <p:cNvSpPr/>
          <p:nvPr/>
        </p:nvSpPr>
        <p:spPr>
          <a:xfrm>
            <a:off x="609600" y="1504645"/>
            <a:ext cx="109728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6_c2_includes_recorded_trajectories_ego_v" title="cue_s06_c2_includes_recorded_trajectories_ego_v" descr="cue_s06_c2_includes_recorded_trajectories_ego_v It includes recorded trajectories of the ego vehicle and surrounding agents together with high-definition maps."/>
          <p:cNvSpPr/>
          <p:nvPr/>
        </p:nvSpPr>
        <p:spPr>
          <a:xfrm>
            <a:off x="609600" y="2914650"/>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6_c3_scenarios_diverse_difficult_stopping" title="cue_s06_c3_scenarios_diverse_difficult_stopping" descr="cue_s06_c3_scenarios_diverse_difficult_stopping The scenarios are diverse and difficult: stopping behind a lead vehicle, stopping at intersections, and navigating dense traffic with cars, pedestrians, and cyclists. Most scenes run eleven to thirteen seconds, with the longest reaching thirty seconds."/>
          <p:cNvSpPr/>
          <p:nvPr/>
        </p:nvSpPr>
        <p:spPr>
          <a:xfrm>
            <a:off x="6248399" y="2914650"/>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4_total_authors_train_one_hundred" title="cue_s06_c4_total_authors_train_one_hundred" descr="cue_s06_c4_total_authors_train_one_hundred In total, the authors train on one hundred and eighty hours of driving and validate and test on sixty hours each. They also open-source the closed-loop simulator and metrics used in the work.&quot;"/>
          <p:cNvSpPr/>
          <p:nvPr/>
        </p:nvSpPr>
        <p:spPr>
          <a:xfrm>
            <a:off x="609600" y="4400778"/>
            <a:ext cx="10972800" cy="838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523295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Fewer collisions across the board</a:t>
            </a:r>
          </a:p>
        </p:txBody>
      </p:sp>
      <p:grpSp>
        <p:nvGrpSpPr>
          <p:cNvPr id="22" name="Group 22"/>
          <p:cNvGrpSpPr/>
          <p:nvPr/>
        </p:nvGrpSpPr>
        <p:grpSpPr>
          <a:xfrm>
            <a:off x="609600" y="1504950"/>
            <a:ext cx="10972800" cy="1428750"/>
            <a:chOff x="609600" y="1504950"/>
            <a:chExt cx="10972800" cy="1428750"/>
          </a:xfrm>
        </p:grpSpPr>
        <p:sp>
          <p:nvSpPr>
            <p:cNvPr id="5" name="Rectangle 5"/>
            <p:cNvSpPr/>
            <p:nvPr/>
          </p:nvSpPr>
          <p:spPr>
            <a:xfrm>
              <a:off x="609600" y="1504950"/>
              <a:ext cx="10972800" cy="1428750"/>
            </a:xfrm>
            <a:prstGeom prst="roundRect">
              <a:avLst>
                <a:gd name="adj" fmla="val 9333"/>
              </a:avLst>
            </a:prstGeom>
            <a:solidFill>
              <a:srgbClr val="0F2E2B"/>
            </a:solidFill>
            <a:ln w="14288">
              <a:solidFill>
                <a:srgbClr val="46C98B"/>
              </a:solidFill>
            </a:ln>
          </p:spPr>
        </p:sp>
        <p:sp>
          <p:nvSpPr>
            <p:cNvPr id="6" name="Rectangle 6"/>
            <p:cNvSpPr/>
            <p:nvPr/>
          </p:nvSpPr>
          <p:spPr>
            <a:xfrm>
              <a:off x="609600" y="1504950"/>
              <a:ext cx="57150" cy="1428750"/>
            </a:xfrm>
            <a:prstGeom prst="roundRect">
              <a:avLst>
                <a:gd name="adj" fmla="val 50000"/>
              </a:avLst>
            </a:prstGeom>
            <a:solidFill>
              <a:srgbClr val="46C98B"/>
            </a:solidFill>
            <a:ln>
              <a:noFill/>
            </a:ln>
          </p:spPr>
        </p:sp>
        <p:sp>
          <p:nvSpPr>
            <p:cNvPr id="7" name="TextBox 7"/>
            <p:cNvSpPr txBox="1"/>
            <p:nvPr/>
          </p:nvSpPr>
          <p:spPr>
            <a:xfrm>
              <a:off x="870014" y="1733312"/>
              <a:ext cx="4102907" cy="242030"/>
            </a:xfrm>
            <a:prstGeom prst="rect">
              <a:avLst/>
            </a:prstGeom>
            <a:noFill/>
            <a:ln>
              <a:noFill/>
            </a:ln>
          </p:spPr>
          <p:txBody>
            <a:bodyPr wrap="none" lIns="0" tIns="0" rIns="0" bIns="0" anchor="t" anchorCtr="0">
              <a:spAutoFit/>
            </a:bodyPr>
            <a:lstStyle/>
            <a:p>
              <a:pPr algn="l"/>
              <a:r>
                <a:rPr lang="en-US" sz="1240" b="1" dirty="0">
                  <a:solidFill>
                    <a:srgbClr val="46C98B"/>
                  </a:solidFill>
                  <a:latin typeface="+mn-lt"/>
                  <a:ea typeface="+mn-ea"/>
                  <a:cs typeface="+mn-cs"/>
                </a:rPr>
                <a:t>Up to ~35% fewer collisions vs the best baseline</a:t>
              </a:r>
            </a:p>
          </p:txBody>
        </p:sp>
        <p:sp>
          <p:nvSpPr>
            <p:cNvPr id="8" name="Rectangle 8"/>
            <p:cNvSpPr/>
            <p:nvPr/>
          </p:nvSpPr>
          <p:spPr>
            <a:xfrm>
              <a:off x="876300" y="2038350"/>
              <a:ext cx="2247900" cy="762000"/>
            </a:xfrm>
            <a:prstGeom prst="roundRect">
              <a:avLst>
                <a:gd name="adj" fmla="val 15000"/>
              </a:avLst>
            </a:prstGeom>
            <a:solidFill>
              <a:schemeClr val="accent6"/>
            </a:solidFill>
            <a:ln w="14288">
              <a:solidFill>
                <a:srgbClr val="284A66"/>
              </a:solidFill>
            </a:ln>
          </p:spPr>
        </p:sp>
        <p:sp>
          <p:nvSpPr>
            <p:cNvPr id="9" name="TextBox 9"/>
            <p:cNvSpPr txBox="1"/>
            <p:nvPr/>
          </p:nvSpPr>
          <p:spPr>
            <a:xfrm>
              <a:off x="1643860" y="2214372"/>
              <a:ext cx="712781" cy="398983"/>
            </a:xfrm>
            <a:prstGeom prst="rect">
              <a:avLst/>
            </a:prstGeom>
            <a:noFill/>
            <a:ln>
              <a:noFill/>
            </a:ln>
          </p:spPr>
          <p:txBody>
            <a:bodyPr wrap="none" lIns="0" tIns="0" rIns="0" bIns="0" anchor="t" anchorCtr="0">
              <a:spAutoFit/>
            </a:bodyPr>
            <a:lstStyle/>
            <a:p>
              <a:pPr algn="ctr"/>
              <a:r>
                <a:rPr lang="en-US" sz="2040" b="1" dirty="0">
                  <a:solidFill>
                    <a:srgbClr val="46C98B"/>
                  </a:solidFill>
                  <a:latin typeface="+mn-lt"/>
                  <a:ea typeface="+mn-ea"/>
                  <a:cs typeface="+mn-cs"/>
                </a:rPr>
                <a:t>~35%</a:t>
              </a:r>
            </a:p>
          </p:txBody>
        </p:sp>
        <p:sp>
          <p:nvSpPr>
            <p:cNvPr id="10" name="TextBox 10"/>
            <p:cNvSpPr txBox="1"/>
            <p:nvPr/>
          </p:nvSpPr>
          <p:spPr>
            <a:xfrm>
              <a:off x="1254738" y="2546747"/>
              <a:ext cx="149102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fewer on some metrics</a:t>
              </a:r>
            </a:p>
          </p:txBody>
        </p:sp>
        <p:sp>
          <p:nvSpPr>
            <p:cNvPr id="11" name="Rectangle 11"/>
            <p:cNvSpPr/>
            <p:nvPr/>
          </p:nvSpPr>
          <p:spPr>
            <a:xfrm>
              <a:off x="3314700" y="2038350"/>
              <a:ext cx="3905250" cy="762000"/>
            </a:xfrm>
            <a:prstGeom prst="roundRect">
              <a:avLst>
                <a:gd name="adj" fmla="val 15000"/>
              </a:avLst>
            </a:prstGeom>
            <a:solidFill>
              <a:schemeClr val="accent6"/>
            </a:solidFill>
            <a:ln w="14288">
              <a:solidFill>
                <a:srgbClr val="284A66"/>
              </a:solidFill>
            </a:ln>
          </p:spPr>
        </p:sp>
        <p:sp>
          <p:nvSpPr>
            <p:cNvPr id="12" name="TextBox 12"/>
            <p:cNvSpPr txBox="1"/>
            <p:nvPr/>
          </p:nvSpPr>
          <p:spPr>
            <a:xfrm>
              <a:off x="3500247" y="2218849"/>
              <a:ext cx="243462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Beats behavioral cloning with ERM and</a:t>
              </a:r>
            </a:p>
          </p:txBody>
        </p:sp>
        <p:sp>
          <p:nvSpPr>
            <p:cNvPr id="13" name="TextBox 13"/>
            <p:cNvSpPr txBox="1"/>
            <p:nvPr/>
          </p:nvSpPr>
          <p:spPr>
            <a:xfrm>
              <a:off x="3500247" y="2409349"/>
              <a:ext cx="249674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perturbation, the strongest baseline.</a:t>
              </a:r>
            </a:p>
          </p:txBody>
        </p:sp>
        <p:sp>
          <p:nvSpPr>
            <p:cNvPr id="14" name="Rectangle 14"/>
            <p:cNvSpPr/>
            <p:nvPr/>
          </p:nvSpPr>
          <p:spPr>
            <a:xfrm>
              <a:off x="7391400" y="2038350"/>
              <a:ext cx="4191000" cy="762000"/>
            </a:xfrm>
            <a:prstGeom prst="roundRect">
              <a:avLst>
                <a:gd name="adj" fmla="val 15000"/>
              </a:avLst>
            </a:prstGeom>
            <a:solidFill>
              <a:schemeClr val="accent6"/>
            </a:solidFill>
            <a:ln w="14288">
              <a:solidFill>
                <a:srgbClr val="284A66"/>
              </a:solidFill>
            </a:ln>
          </p:spPr>
        </p:sp>
        <p:sp>
          <p:nvSpPr>
            <p:cNvPr id="15" name="TextBox 15"/>
            <p:cNvSpPr txBox="1"/>
            <p:nvPr/>
          </p:nvSpPr>
          <p:spPr>
            <a:xfrm>
              <a:off x="7577138" y="2203847"/>
              <a:ext cx="2538384"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Collisions cut across all zones at once:</a:t>
              </a:r>
            </a:p>
          </p:txBody>
        </p:sp>
        <p:sp>
          <p:nvSpPr>
            <p:cNvPr id="16" name="Ellipse 16"/>
            <p:cNvSpPr/>
            <p:nvPr/>
          </p:nvSpPr>
          <p:spPr>
            <a:xfrm>
              <a:off x="7524750" y="2514600"/>
              <a:ext cx="114300" cy="114300"/>
            </a:xfrm>
            <a:prstGeom prst="ellipse">
              <a:avLst/>
            </a:prstGeom>
            <a:solidFill>
              <a:srgbClr val="F2685C"/>
            </a:solidFill>
            <a:ln>
              <a:noFill/>
            </a:ln>
          </p:spPr>
        </p:sp>
        <p:sp>
          <p:nvSpPr>
            <p:cNvPr id="17" name="TextBox 17"/>
            <p:cNvSpPr txBox="1"/>
            <p:nvPr/>
          </p:nvSpPr>
          <p:spPr>
            <a:xfrm>
              <a:off x="7700962" y="2518172"/>
              <a:ext cx="374917"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front</a:t>
              </a:r>
            </a:p>
          </p:txBody>
        </p:sp>
        <p:sp>
          <p:nvSpPr>
            <p:cNvPr id="18" name="Ellipse 18"/>
            <p:cNvSpPr/>
            <p:nvPr/>
          </p:nvSpPr>
          <p:spPr>
            <a:xfrm>
              <a:off x="8439150" y="2514600"/>
              <a:ext cx="114300" cy="114300"/>
            </a:xfrm>
            <a:prstGeom prst="ellipse">
              <a:avLst/>
            </a:prstGeom>
            <a:solidFill>
              <a:srgbClr val="F4C24C"/>
            </a:solidFill>
            <a:ln>
              <a:noFill/>
            </a:ln>
          </p:spPr>
        </p:sp>
        <p:sp>
          <p:nvSpPr>
            <p:cNvPr id="19" name="TextBox 19"/>
            <p:cNvSpPr txBox="1"/>
            <p:nvPr/>
          </p:nvSpPr>
          <p:spPr>
            <a:xfrm>
              <a:off x="8615362" y="2518172"/>
              <a:ext cx="268621"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side</a:t>
              </a:r>
            </a:p>
          </p:txBody>
        </p:sp>
        <p:sp>
          <p:nvSpPr>
            <p:cNvPr id="20" name="Ellipse 20"/>
            <p:cNvSpPr/>
            <p:nvPr/>
          </p:nvSpPr>
          <p:spPr>
            <a:xfrm>
              <a:off x="9353550" y="2514600"/>
              <a:ext cx="114300" cy="114300"/>
            </a:xfrm>
            <a:prstGeom prst="ellipse">
              <a:avLst/>
            </a:prstGeom>
            <a:solidFill>
              <a:srgbClr val="33D6C0"/>
            </a:solidFill>
            <a:ln>
              <a:noFill/>
            </a:ln>
          </p:spPr>
        </p:sp>
        <p:sp>
          <p:nvSpPr>
            <p:cNvPr id="21" name="TextBox 21"/>
            <p:cNvSpPr txBox="1"/>
            <p:nvPr/>
          </p:nvSpPr>
          <p:spPr>
            <a:xfrm>
              <a:off x="9529762" y="2518172"/>
              <a:ext cx="301839"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rear</a:t>
              </a:r>
            </a:p>
          </p:txBody>
        </p:sp>
      </p:grpSp>
      <p:grpSp>
        <p:nvGrpSpPr>
          <p:cNvPr id="34" name="Group 34"/>
          <p:cNvGrpSpPr/>
          <p:nvPr/>
        </p:nvGrpSpPr>
        <p:grpSpPr>
          <a:xfrm>
            <a:off x="609600" y="3086100"/>
            <a:ext cx="3505200" cy="2133600"/>
            <a:chOff x="609600" y="3086100"/>
            <a:chExt cx="3505200" cy="2133600"/>
          </a:xfrm>
        </p:grpSpPr>
        <p:sp>
          <p:nvSpPr>
            <p:cNvPr id="23" name="Rectangle 23"/>
            <p:cNvSpPr/>
            <p:nvPr/>
          </p:nvSpPr>
          <p:spPr>
            <a:xfrm>
              <a:off x="609600" y="3086100"/>
              <a:ext cx="3505200" cy="2133600"/>
            </a:xfrm>
            <a:prstGeom prst="roundRect">
              <a:avLst>
                <a:gd name="adj" fmla="val 6250"/>
              </a:avLst>
            </a:prstGeom>
            <a:solidFill>
              <a:schemeClr val="accent5"/>
            </a:solidFill>
            <a:ln w="14288">
              <a:solidFill>
                <a:srgbClr val="284A66"/>
              </a:solidFill>
            </a:ln>
          </p:spPr>
        </p:sp>
        <p:sp>
          <p:nvSpPr>
            <p:cNvPr id="24" name="Rectangle 24"/>
            <p:cNvSpPr/>
            <p:nvPr/>
          </p:nvSpPr>
          <p:spPr>
            <a:xfrm>
              <a:off x="609600" y="3086100"/>
              <a:ext cx="57150" cy="2133600"/>
            </a:xfrm>
            <a:prstGeom prst="roundRect">
              <a:avLst>
                <a:gd name="adj" fmla="val 50000"/>
              </a:avLst>
            </a:prstGeom>
            <a:solidFill>
              <a:srgbClr val="F2685C"/>
            </a:solidFill>
            <a:ln>
              <a:noFill/>
            </a:ln>
          </p:spPr>
        </p:sp>
        <p:sp>
          <p:nvSpPr>
            <p:cNvPr id="25" name="TextBox 25"/>
            <p:cNvSpPr txBox="1"/>
            <p:nvPr/>
          </p:nvSpPr>
          <p:spPr>
            <a:xfrm>
              <a:off x="870204" y="3299460"/>
              <a:ext cx="1297665"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Front collisions</a:t>
              </a:r>
            </a:p>
          </p:txBody>
        </p:sp>
        <p:sp>
          <p:nvSpPr>
            <p:cNvPr id="26" name="TextBox 26"/>
            <p:cNvSpPr txBox="1"/>
            <p:nvPr/>
          </p:nvSpPr>
          <p:spPr>
            <a:xfrm>
              <a:off x="871156" y="3586401"/>
              <a:ext cx="231245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Upsampling front-collision scenes.</a:t>
              </a:r>
            </a:p>
          </p:txBody>
        </p:sp>
        <p:sp>
          <p:nvSpPr>
            <p:cNvPr id="27" name="Rectangle 27"/>
            <p:cNvSpPr/>
            <p:nvPr/>
          </p:nvSpPr>
          <p:spPr>
            <a:xfrm>
              <a:off x="876300" y="4000500"/>
              <a:ext cx="1428750" cy="990600"/>
            </a:xfrm>
            <a:prstGeom prst="roundRect">
              <a:avLst>
                <a:gd name="adj" fmla="val 11538"/>
              </a:avLst>
            </a:prstGeom>
            <a:solidFill>
              <a:schemeClr val="accent6"/>
            </a:solidFill>
            <a:ln w="14288">
              <a:solidFill>
                <a:srgbClr val="284A66"/>
              </a:solidFill>
            </a:ln>
          </p:spPr>
        </p:sp>
        <p:sp>
          <p:nvSpPr>
            <p:cNvPr id="28" name="TextBox 28"/>
            <p:cNvSpPr txBox="1"/>
            <p:nvPr/>
          </p:nvSpPr>
          <p:spPr>
            <a:xfrm>
              <a:off x="1391900" y="4256532"/>
              <a:ext cx="397551" cy="469392"/>
            </a:xfrm>
            <a:prstGeom prst="rect">
              <a:avLst/>
            </a:prstGeom>
            <a:noFill/>
            <a:ln>
              <a:noFill/>
            </a:ln>
          </p:spPr>
          <p:txBody>
            <a:bodyPr wrap="none" lIns="0" tIns="0" rIns="0" bIns="0" anchor="t" anchorCtr="0">
              <a:spAutoFit/>
            </a:bodyPr>
            <a:lstStyle/>
            <a:p>
              <a:pPr algn="ctr"/>
              <a:r>
                <a:rPr lang="en-US" sz="2400" b="1" dirty="0">
                  <a:solidFill>
                    <a:schemeClr val="dk2"/>
                  </a:solidFill>
                  <a:latin typeface="+mn-lt"/>
                  <a:ea typeface="+mn-ea"/>
                  <a:cs typeface="+mn-cs"/>
                </a:rPr>
                <a:t>14</a:t>
              </a:r>
            </a:p>
          </p:txBody>
        </p:sp>
        <p:sp>
          <p:nvSpPr>
            <p:cNvPr id="29" name="TextBox 29"/>
            <p:cNvSpPr txBox="1"/>
            <p:nvPr/>
          </p:nvSpPr>
          <p:spPr>
            <a:xfrm>
              <a:off x="1326816" y="4691777"/>
              <a:ext cx="52771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baseline</a:t>
              </a:r>
            </a:p>
          </p:txBody>
        </p:sp>
        <p:sp>
          <p:nvSpPr>
            <p:cNvPr id="30" name="TextBox 30"/>
            <p:cNvSpPr txBox="1"/>
            <p:nvPr/>
          </p:nvSpPr>
          <p:spPr>
            <a:xfrm>
              <a:off x="2371745" y="4323398"/>
              <a:ext cx="171411" cy="381381"/>
            </a:xfrm>
            <a:prstGeom prst="rect">
              <a:avLst/>
            </a:prstGeom>
            <a:noFill/>
            <a:ln>
              <a:noFill/>
            </a:ln>
          </p:spPr>
          <p:txBody>
            <a:bodyPr wrap="none" lIns="0" tIns="0" rIns="0" bIns="0" anchor="t" anchorCtr="0">
              <a:spAutoFit/>
            </a:bodyPr>
            <a:lstStyle/>
            <a:p>
              <a:pPr algn="ctr"/>
              <a:r>
                <a:rPr lang="en-US" sz="1950" b="1" dirty="0">
                  <a:solidFill>
                    <a:srgbClr val="46C98B"/>
                  </a:solidFill>
                  <a:latin typeface="+mn-lt"/>
                  <a:ea typeface="+mn-ea"/>
                  <a:cs typeface="+mn-cs"/>
                </a:rPr>
                <a:t>&gt;</a:t>
              </a:r>
            </a:p>
          </p:txBody>
        </p:sp>
        <p:sp>
          <p:nvSpPr>
            <p:cNvPr id="31" name="Rectangle 31"/>
            <p:cNvSpPr/>
            <p:nvPr/>
          </p:nvSpPr>
          <p:spPr>
            <a:xfrm>
              <a:off x="2686050" y="4000500"/>
              <a:ext cx="1143000" cy="990600"/>
            </a:xfrm>
            <a:prstGeom prst="roundRect">
              <a:avLst>
                <a:gd name="adj" fmla="val 11538"/>
              </a:avLst>
            </a:prstGeom>
            <a:solidFill>
              <a:schemeClr val="accent6"/>
            </a:solidFill>
            <a:ln w="14288">
              <a:solidFill>
                <a:srgbClr val="284A66"/>
              </a:solidFill>
            </a:ln>
          </p:spPr>
        </p:sp>
        <p:sp>
          <p:nvSpPr>
            <p:cNvPr id="32" name="TextBox 32"/>
            <p:cNvSpPr txBox="1"/>
            <p:nvPr/>
          </p:nvSpPr>
          <p:spPr>
            <a:xfrm>
              <a:off x="3152066" y="4256532"/>
              <a:ext cx="210967" cy="469392"/>
            </a:xfrm>
            <a:prstGeom prst="rect">
              <a:avLst/>
            </a:prstGeom>
            <a:noFill/>
            <a:ln>
              <a:noFill/>
            </a:ln>
          </p:spPr>
          <p:txBody>
            <a:bodyPr wrap="none" lIns="0" tIns="0" rIns="0" bIns="0" anchor="t" anchorCtr="0">
              <a:spAutoFit/>
            </a:bodyPr>
            <a:lstStyle/>
            <a:p>
              <a:pPr algn="ctr"/>
              <a:r>
                <a:rPr lang="en-US" sz="2400" b="1" dirty="0">
                  <a:solidFill>
                    <a:srgbClr val="46C98B"/>
                  </a:solidFill>
                  <a:latin typeface="+mn-lt"/>
                  <a:ea typeface="+mn-ea"/>
                  <a:cs typeface="+mn-cs"/>
                </a:rPr>
                <a:t>9</a:t>
              </a:r>
            </a:p>
          </p:txBody>
        </p:sp>
        <p:sp>
          <p:nvSpPr>
            <p:cNvPr id="33" name="TextBox 33"/>
            <p:cNvSpPr txBox="1"/>
            <p:nvPr/>
          </p:nvSpPr>
          <p:spPr>
            <a:xfrm>
              <a:off x="2993064" y="4691777"/>
              <a:ext cx="52897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CW-ERM</a:t>
              </a:r>
            </a:p>
          </p:txBody>
        </p:sp>
      </p:grpSp>
      <p:grpSp>
        <p:nvGrpSpPr>
          <p:cNvPr id="46" name="Group 46"/>
          <p:cNvGrpSpPr/>
          <p:nvPr/>
        </p:nvGrpSpPr>
        <p:grpSpPr>
          <a:xfrm>
            <a:off x="4343400" y="3086100"/>
            <a:ext cx="3505200" cy="2133600"/>
            <a:chOff x="4343400" y="3086100"/>
            <a:chExt cx="3505200" cy="2133600"/>
          </a:xfrm>
        </p:grpSpPr>
        <p:sp>
          <p:nvSpPr>
            <p:cNvPr id="35" name="Rectangle 35"/>
            <p:cNvSpPr/>
            <p:nvPr/>
          </p:nvSpPr>
          <p:spPr>
            <a:xfrm>
              <a:off x="4343400" y="3086100"/>
              <a:ext cx="3505200" cy="2133600"/>
            </a:xfrm>
            <a:prstGeom prst="roundRect">
              <a:avLst>
                <a:gd name="adj" fmla="val 6250"/>
              </a:avLst>
            </a:prstGeom>
            <a:solidFill>
              <a:schemeClr val="accent5"/>
            </a:solidFill>
            <a:ln w="14288">
              <a:solidFill>
                <a:srgbClr val="284A66"/>
              </a:solidFill>
            </a:ln>
          </p:spPr>
        </p:sp>
        <p:sp>
          <p:nvSpPr>
            <p:cNvPr id="36" name="Rectangle 36"/>
            <p:cNvSpPr/>
            <p:nvPr/>
          </p:nvSpPr>
          <p:spPr>
            <a:xfrm>
              <a:off x="4343400" y="3086100"/>
              <a:ext cx="57150" cy="2133600"/>
            </a:xfrm>
            <a:prstGeom prst="roundRect">
              <a:avLst>
                <a:gd name="adj" fmla="val 50000"/>
              </a:avLst>
            </a:prstGeom>
            <a:solidFill>
              <a:srgbClr val="F4C24C"/>
            </a:solidFill>
            <a:ln>
              <a:noFill/>
            </a:ln>
          </p:spPr>
        </p:sp>
        <p:sp>
          <p:nvSpPr>
            <p:cNvPr id="37" name="TextBox 37"/>
            <p:cNvSpPr txBox="1"/>
            <p:nvPr/>
          </p:nvSpPr>
          <p:spPr>
            <a:xfrm>
              <a:off x="4604004" y="3299460"/>
              <a:ext cx="1161764" cy="234696"/>
            </a:xfrm>
            <a:prstGeom prst="rect">
              <a:avLst/>
            </a:prstGeom>
            <a:noFill/>
            <a:ln>
              <a:noFill/>
            </a:ln>
          </p:spPr>
          <p:txBody>
            <a:bodyPr wrap="none" lIns="0" tIns="0" rIns="0" bIns="0" anchor="t" anchorCtr="0">
              <a:spAutoFit/>
            </a:bodyPr>
            <a:lstStyle/>
            <a:p>
              <a:pPr algn="l"/>
              <a:r>
                <a:rPr lang="en-US" sz="1200" b="1" dirty="0">
                  <a:solidFill>
                    <a:srgbClr val="F4C24C"/>
                  </a:solidFill>
                  <a:latin typeface="+mn-lt"/>
                  <a:ea typeface="+mn-ea"/>
                  <a:cs typeface="+mn-cs"/>
                </a:rPr>
                <a:t>Side collisions</a:t>
              </a:r>
            </a:p>
          </p:txBody>
        </p:sp>
        <p:sp>
          <p:nvSpPr>
            <p:cNvPr id="38" name="TextBox 38"/>
            <p:cNvSpPr txBox="1"/>
            <p:nvPr/>
          </p:nvSpPr>
          <p:spPr>
            <a:xfrm>
              <a:off x="4604956" y="3586401"/>
              <a:ext cx="220361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Upsampling side-collision scenes.</a:t>
              </a:r>
            </a:p>
          </p:txBody>
        </p:sp>
        <p:sp>
          <p:nvSpPr>
            <p:cNvPr id="39" name="Rectangle 39"/>
            <p:cNvSpPr/>
            <p:nvPr/>
          </p:nvSpPr>
          <p:spPr>
            <a:xfrm>
              <a:off x="4610100" y="4000500"/>
              <a:ext cx="1428750" cy="990600"/>
            </a:xfrm>
            <a:prstGeom prst="roundRect">
              <a:avLst>
                <a:gd name="adj" fmla="val 11538"/>
              </a:avLst>
            </a:prstGeom>
            <a:solidFill>
              <a:schemeClr val="accent6"/>
            </a:solidFill>
            <a:ln w="14288">
              <a:solidFill>
                <a:srgbClr val="284A66"/>
              </a:solidFill>
            </a:ln>
          </p:spPr>
        </p:sp>
        <p:sp>
          <p:nvSpPr>
            <p:cNvPr id="40" name="TextBox 40"/>
            <p:cNvSpPr txBox="1"/>
            <p:nvPr/>
          </p:nvSpPr>
          <p:spPr>
            <a:xfrm>
              <a:off x="5125700" y="4256532"/>
              <a:ext cx="397551" cy="469392"/>
            </a:xfrm>
            <a:prstGeom prst="rect">
              <a:avLst/>
            </a:prstGeom>
            <a:noFill/>
            <a:ln>
              <a:noFill/>
            </a:ln>
          </p:spPr>
          <p:txBody>
            <a:bodyPr wrap="none" lIns="0" tIns="0" rIns="0" bIns="0" anchor="t" anchorCtr="0">
              <a:spAutoFit/>
            </a:bodyPr>
            <a:lstStyle/>
            <a:p>
              <a:pPr algn="ctr"/>
              <a:r>
                <a:rPr lang="en-US" sz="2400" b="1" dirty="0">
                  <a:solidFill>
                    <a:schemeClr val="dk2"/>
                  </a:solidFill>
                  <a:latin typeface="+mn-lt"/>
                  <a:ea typeface="+mn-ea"/>
                  <a:cs typeface="+mn-cs"/>
                </a:rPr>
                <a:t>55</a:t>
              </a:r>
            </a:p>
          </p:txBody>
        </p:sp>
        <p:sp>
          <p:nvSpPr>
            <p:cNvPr id="41" name="TextBox 41"/>
            <p:cNvSpPr txBox="1"/>
            <p:nvPr/>
          </p:nvSpPr>
          <p:spPr>
            <a:xfrm>
              <a:off x="5060616" y="4691777"/>
              <a:ext cx="52771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baseline</a:t>
              </a:r>
            </a:p>
          </p:txBody>
        </p:sp>
        <p:sp>
          <p:nvSpPr>
            <p:cNvPr id="42" name="TextBox 42"/>
            <p:cNvSpPr txBox="1"/>
            <p:nvPr/>
          </p:nvSpPr>
          <p:spPr>
            <a:xfrm>
              <a:off x="6105545" y="4323398"/>
              <a:ext cx="171411" cy="381381"/>
            </a:xfrm>
            <a:prstGeom prst="rect">
              <a:avLst/>
            </a:prstGeom>
            <a:noFill/>
            <a:ln>
              <a:noFill/>
            </a:ln>
          </p:spPr>
          <p:txBody>
            <a:bodyPr wrap="none" lIns="0" tIns="0" rIns="0" bIns="0" anchor="t" anchorCtr="0">
              <a:spAutoFit/>
            </a:bodyPr>
            <a:lstStyle/>
            <a:p>
              <a:pPr algn="ctr"/>
              <a:r>
                <a:rPr lang="en-US" sz="1950" b="1" dirty="0">
                  <a:solidFill>
                    <a:srgbClr val="46C98B"/>
                  </a:solidFill>
                  <a:latin typeface="+mn-lt"/>
                  <a:ea typeface="+mn-ea"/>
                  <a:cs typeface="+mn-cs"/>
                </a:rPr>
                <a:t>&gt;</a:t>
              </a:r>
            </a:p>
          </p:txBody>
        </p:sp>
        <p:sp>
          <p:nvSpPr>
            <p:cNvPr id="43" name="Rectangle 43"/>
            <p:cNvSpPr/>
            <p:nvPr/>
          </p:nvSpPr>
          <p:spPr>
            <a:xfrm>
              <a:off x="6419850" y="4000500"/>
              <a:ext cx="1143000" cy="990600"/>
            </a:xfrm>
            <a:prstGeom prst="roundRect">
              <a:avLst>
                <a:gd name="adj" fmla="val 11538"/>
              </a:avLst>
            </a:prstGeom>
            <a:solidFill>
              <a:schemeClr val="accent6"/>
            </a:solidFill>
            <a:ln w="14288">
              <a:solidFill>
                <a:srgbClr val="284A66"/>
              </a:solidFill>
            </a:ln>
          </p:spPr>
        </p:sp>
        <p:sp>
          <p:nvSpPr>
            <p:cNvPr id="44" name="TextBox 44"/>
            <p:cNvSpPr txBox="1"/>
            <p:nvPr/>
          </p:nvSpPr>
          <p:spPr>
            <a:xfrm>
              <a:off x="6792575" y="4256532"/>
              <a:ext cx="397551" cy="469392"/>
            </a:xfrm>
            <a:prstGeom prst="rect">
              <a:avLst/>
            </a:prstGeom>
            <a:noFill/>
            <a:ln>
              <a:noFill/>
            </a:ln>
          </p:spPr>
          <p:txBody>
            <a:bodyPr wrap="none" lIns="0" tIns="0" rIns="0" bIns="0" anchor="t" anchorCtr="0">
              <a:spAutoFit/>
            </a:bodyPr>
            <a:lstStyle/>
            <a:p>
              <a:pPr algn="ctr"/>
              <a:r>
                <a:rPr lang="en-US" sz="2400" b="1" dirty="0">
                  <a:solidFill>
                    <a:srgbClr val="46C98B"/>
                  </a:solidFill>
                  <a:latin typeface="+mn-lt"/>
                  <a:ea typeface="+mn-ea"/>
                  <a:cs typeface="+mn-cs"/>
                </a:rPr>
                <a:t>47</a:t>
              </a:r>
            </a:p>
          </p:txBody>
        </p:sp>
        <p:sp>
          <p:nvSpPr>
            <p:cNvPr id="45" name="TextBox 45"/>
            <p:cNvSpPr txBox="1"/>
            <p:nvPr/>
          </p:nvSpPr>
          <p:spPr>
            <a:xfrm>
              <a:off x="6726864" y="4691777"/>
              <a:ext cx="52897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CW-ERM</a:t>
              </a:r>
            </a:p>
          </p:txBody>
        </p:sp>
      </p:grpSp>
      <p:grpSp>
        <p:nvGrpSpPr>
          <p:cNvPr id="56" name="Group 56"/>
          <p:cNvGrpSpPr/>
          <p:nvPr/>
        </p:nvGrpSpPr>
        <p:grpSpPr>
          <a:xfrm>
            <a:off x="8077200" y="3086100"/>
            <a:ext cx="3505200" cy="2133600"/>
            <a:chOff x="8077200" y="3086100"/>
            <a:chExt cx="3505200" cy="2133600"/>
          </a:xfrm>
        </p:grpSpPr>
        <p:sp>
          <p:nvSpPr>
            <p:cNvPr id="47" name="Rectangle 47"/>
            <p:cNvSpPr/>
            <p:nvPr/>
          </p:nvSpPr>
          <p:spPr>
            <a:xfrm>
              <a:off x="8077200" y="3086100"/>
              <a:ext cx="3505200" cy="2133600"/>
            </a:xfrm>
            <a:prstGeom prst="roundRect">
              <a:avLst>
                <a:gd name="adj" fmla="val 6250"/>
              </a:avLst>
            </a:prstGeom>
            <a:solidFill>
              <a:srgbClr val="0F2E2B"/>
            </a:solidFill>
            <a:ln w="14288">
              <a:solidFill>
                <a:srgbClr val="46C98B"/>
              </a:solidFill>
            </a:ln>
          </p:spPr>
        </p:sp>
        <p:sp>
          <p:nvSpPr>
            <p:cNvPr id="48" name="Rectangle 48"/>
            <p:cNvSpPr/>
            <p:nvPr/>
          </p:nvSpPr>
          <p:spPr>
            <a:xfrm>
              <a:off x="8077200" y="3086100"/>
              <a:ext cx="57150" cy="2133600"/>
            </a:xfrm>
            <a:prstGeom prst="roundRect">
              <a:avLst>
                <a:gd name="adj" fmla="val 50000"/>
              </a:avLst>
            </a:prstGeom>
            <a:solidFill>
              <a:srgbClr val="46C98B"/>
            </a:solidFill>
            <a:ln>
              <a:noFill/>
            </a:ln>
          </p:spPr>
        </p:sp>
        <p:sp>
          <p:nvSpPr>
            <p:cNvPr id="49" name="TextBox 49"/>
            <p:cNvSpPr txBox="1"/>
            <p:nvPr/>
          </p:nvSpPr>
          <p:spPr>
            <a:xfrm>
              <a:off x="8337994" y="3303508"/>
              <a:ext cx="2099807"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Less passive, more stable</a:t>
              </a:r>
            </a:p>
          </p:txBody>
        </p:sp>
        <p:sp>
          <p:nvSpPr>
            <p:cNvPr id="50" name="TextBox 50"/>
            <p:cNvSpPr txBox="1"/>
            <p:nvPr/>
          </p:nvSpPr>
          <p:spPr>
            <a:xfrm>
              <a:off x="8338756" y="3605451"/>
              <a:ext cx="255015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Upsampling side collisions also reduces</a:t>
              </a:r>
            </a:p>
          </p:txBody>
        </p:sp>
        <p:sp>
          <p:nvSpPr>
            <p:cNvPr id="51" name="TextBox 51"/>
            <p:cNvSpPr txBox="1"/>
            <p:nvPr/>
          </p:nvSpPr>
          <p:spPr>
            <a:xfrm>
              <a:off x="8338756" y="3795951"/>
              <a:ext cx="262083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rear collisions: the policy becomes less</a:t>
              </a:r>
            </a:p>
          </p:txBody>
        </p:sp>
        <p:sp>
          <p:nvSpPr>
            <p:cNvPr id="52" name="TextBox 52"/>
            <p:cNvSpPr txBox="1"/>
            <p:nvPr/>
          </p:nvSpPr>
          <p:spPr>
            <a:xfrm>
              <a:off x="8338756" y="3986451"/>
              <a:ext cx="217894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passive, not gaming one number.</a:t>
              </a:r>
            </a:p>
          </p:txBody>
        </p:sp>
        <p:sp>
          <p:nvSpPr>
            <p:cNvPr id="53" name="Rectangle 53"/>
            <p:cNvSpPr/>
            <p:nvPr/>
          </p:nvSpPr>
          <p:spPr>
            <a:xfrm>
              <a:off x="8343900" y="4629150"/>
              <a:ext cx="3009900" cy="304800"/>
            </a:xfrm>
            <a:prstGeom prst="roundRect">
              <a:avLst>
                <a:gd name="adj" fmla="val 25000"/>
              </a:avLst>
            </a:prstGeom>
            <a:solidFill>
              <a:schemeClr val="accent6"/>
            </a:solidFill>
            <a:ln w="14288">
              <a:solidFill>
                <a:srgbClr val="284A66"/>
              </a:solidFill>
            </a:ln>
          </p:spPr>
        </p:sp>
        <p:sp>
          <p:nvSpPr>
            <p:cNvPr id="54" name="Ellipse 54"/>
            <p:cNvSpPr/>
            <p:nvPr/>
          </p:nvSpPr>
          <p:spPr>
            <a:xfrm>
              <a:off x="8467725" y="4733925"/>
              <a:ext cx="95250" cy="95250"/>
            </a:xfrm>
            <a:prstGeom prst="ellipse">
              <a:avLst/>
            </a:prstGeom>
            <a:solidFill>
              <a:srgbClr val="46C98B"/>
            </a:solidFill>
            <a:ln>
              <a:noFill/>
            </a:ln>
          </p:spPr>
        </p:sp>
        <p:sp>
          <p:nvSpPr>
            <p:cNvPr id="55" name="TextBox 55"/>
            <p:cNvSpPr txBox="1"/>
            <p:nvPr/>
          </p:nvSpPr>
          <p:spPr>
            <a:xfrm>
              <a:off x="8662226" y="4721304"/>
              <a:ext cx="214495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variance lower than baseline</a:t>
              </a:r>
            </a:p>
          </p:txBody>
        </p:sp>
      </p:grpSp>
      <p:sp>
        <p:nvSpPr>
          <p:cNvPr id="57" name="cue_s07_c1_results_strong_compared_against_best" title="cue_s07_c1_results_strong_compared_against_best" descr="cue_s07_c1_results_strong_compared_against_best &quot;The results are strong. Compared against the best baseline, behavioral cloning with ERM and perturbation, CW-ERM significantly reduces collisions across the board, with improvements reaching about thirty-five percent on some metrics."/>
          <p:cNvSpPr/>
          <p:nvPr/>
        </p:nvSpPr>
        <p:spPr>
          <a:xfrm>
            <a:off x="609600" y="1504645"/>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7_c2_when_upsamples_front_collision_scene" title="cue_s07_c2_when_upsamples_front_collision_scene" descr="cue_s07_c2_when_upsamples_front_collision_scene When the model upsamples front-collision scenes, front collisions fall from fourteen to nine."/>
          <p:cNvSpPr/>
          <p:nvPr/>
        </p:nvSpPr>
        <p:spPr>
          <a:xfrm>
            <a:off x="609600" y="308610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7_c3_when_upsamples_side_collision_scenes" title="cue_s07_c3_when_upsamples_side_collision_scenes" descr="cue_s07_c3_when_upsamples_side_collision_scenes When it upsamples side-collision scenes, side collisions fall from fifty-five to forty-seven. There is a nice side effect too: improving one metric often improves related ones."/>
          <p:cNvSpPr/>
          <p:nvPr/>
        </p:nvSpPr>
        <p:spPr>
          <a:xfrm>
            <a:off x="4344009" y="308610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7_c4_upsampling_side_collisions_also_redu" title="cue_s07_c4_upsampling_side_collisions_also_redu" descr="cue_s07_c4_upsampling_side_collisions_also_redu Upsampling side collisions also reduces rear collisions, evidence that the policy is becoming less passive rather than just gaming a single number. Variance is also lower than the baseline in several cases, so the gains are stable.&quot;"/>
          <p:cNvSpPr/>
          <p:nvPr/>
        </p:nvSpPr>
        <p:spPr>
          <a:xfrm>
            <a:off x="8077200" y="308610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486801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How to target the right scenes</a:t>
            </a:r>
          </a:p>
        </p:txBody>
      </p:sp>
      <p:grpSp>
        <p:nvGrpSpPr>
          <p:cNvPr id="23" name="Group 23"/>
          <p:cNvGrpSpPr/>
          <p:nvPr/>
        </p:nvGrpSpPr>
        <p:grpSpPr>
          <a:xfrm>
            <a:off x="609600" y="1504950"/>
            <a:ext cx="5334000" cy="1943100"/>
            <a:chOff x="609600" y="1504950"/>
            <a:chExt cx="5334000" cy="1943100"/>
          </a:xfrm>
        </p:grpSpPr>
        <p:sp>
          <p:nvSpPr>
            <p:cNvPr id="5" name="Rectangle 5"/>
            <p:cNvSpPr/>
            <p:nvPr/>
          </p:nvSpPr>
          <p:spPr>
            <a:xfrm>
              <a:off x="609600" y="1504950"/>
              <a:ext cx="5334000" cy="1943100"/>
            </a:xfrm>
            <a:prstGeom prst="roundRect">
              <a:avLst>
                <a:gd name="adj" fmla="val 6863"/>
              </a:avLst>
            </a:prstGeom>
            <a:solidFill>
              <a:schemeClr val="accent5"/>
            </a:solidFill>
            <a:ln w="14288">
              <a:solidFill>
                <a:srgbClr val="284A66"/>
              </a:solidFill>
            </a:ln>
          </p:spPr>
        </p:sp>
        <p:sp>
          <p:nvSpPr>
            <p:cNvPr id="6" name="Rectangle 6"/>
            <p:cNvSpPr/>
            <p:nvPr/>
          </p:nvSpPr>
          <p:spPr>
            <a:xfrm>
              <a:off x="609600" y="1504950"/>
              <a:ext cx="57150" cy="1943100"/>
            </a:xfrm>
            <a:prstGeom prst="roundRect">
              <a:avLst>
                <a:gd name="adj" fmla="val 50000"/>
              </a:avLst>
            </a:prstGeom>
            <a:solidFill>
              <a:schemeClr val="accent2"/>
            </a:solidFill>
            <a:ln>
              <a:noFill/>
            </a:ln>
          </p:spPr>
        </p:sp>
        <p:sp>
          <p:nvSpPr>
            <p:cNvPr id="7" name="TextBox 7"/>
            <p:cNvSpPr txBox="1"/>
            <p:nvPr/>
          </p:nvSpPr>
          <p:spPr>
            <a:xfrm>
              <a:off x="870204" y="1737360"/>
              <a:ext cx="2754135"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Single metric vs a Pareto balance</a:t>
              </a:r>
            </a:p>
          </p:txBody>
        </p:sp>
        <p:sp>
          <p:nvSpPr>
            <p:cNvPr id="8" name="TextBox 8"/>
            <p:cNvSpPr txBox="1"/>
            <p:nvPr/>
          </p:nvSpPr>
          <p:spPr>
            <a:xfrm>
              <a:off x="871156" y="2024301"/>
              <a:ext cx="242809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Targeting one metric alone gives the</a:t>
              </a:r>
            </a:p>
          </p:txBody>
        </p:sp>
        <p:sp>
          <p:nvSpPr>
            <p:cNvPr id="9" name="TextBox 9"/>
            <p:cNvSpPr txBox="1"/>
            <p:nvPr/>
          </p:nvSpPr>
          <p:spPr>
            <a:xfrm>
              <a:off x="871156" y="2214801"/>
              <a:ext cx="245767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biggest gain on it; combining metrics</a:t>
              </a:r>
            </a:p>
          </p:txBody>
        </p:sp>
        <p:sp>
          <p:nvSpPr>
            <p:cNvPr id="10" name="TextBox 10"/>
            <p:cNvSpPr txBox="1"/>
            <p:nvPr/>
          </p:nvSpPr>
          <p:spPr>
            <a:xfrm>
              <a:off x="871156" y="2405301"/>
              <a:ext cx="242856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trades off, tracing a Pareto front.</a:t>
              </a:r>
            </a:p>
          </p:txBody>
        </p:sp>
        <p:sp>
          <p:nvSpPr>
            <p:cNvPr id="11" name="Rectangle 11"/>
            <p:cNvSpPr/>
            <p:nvPr/>
          </p:nvSpPr>
          <p:spPr>
            <a:xfrm>
              <a:off x="3810000" y="1962150"/>
              <a:ext cx="1943100" cy="1333500"/>
            </a:xfrm>
            <a:prstGeom prst="roundRect">
              <a:avLst>
                <a:gd name="adj" fmla="val 5714"/>
              </a:avLst>
            </a:prstGeom>
            <a:solidFill>
              <a:srgbClr val="0E2334"/>
            </a:solidFill>
            <a:ln w="14288">
              <a:solidFill>
                <a:srgbClr val="284A66"/>
              </a:solidFill>
            </a:ln>
          </p:spPr>
        </p:sp>
        <p:sp>
          <p:nvSpPr>
            <p:cNvPr id="12" name="Line 12"/>
            <p:cNvSpPr/>
            <p:nvPr/>
          </p:nvSpPr>
          <p:spPr>
            <a:xfrm>
              <a:off x="4095750" y="3067050"/>
              <a:ext cx="1524000" cy="9525"/>
            </a:xfrm>
            <a:custGeom>
              <a:avLst/>
              <a:gdLst/>
              <a:ahLst/>
              <a:cxnLst/>
              <a:rect l="l" t="t" r="r" b="b"/>
              <a:pathLst>
                <a:path w="1524000" h="9525">
                  <a:moveTo>
                    <a:pt x="0" y="0"/>
                  </a:moveTo>
                  <a:lnTo>
                    <a:pt x="1524000" y="0"/>
                  </a:lnTo>
                </a:path>
              </a:pathLst>
            </a:custGeom>
            <a:noFill/>
            <a:ln w="11430" cap="rnd">
              <a:solidFill>
                <a:srgbClr val="284A66"/>
              </a:solidFill>
            </a:ln>
          </p:spPr>
        </p:sp>
        <p:sp>
          <p:nvSpPr>
            <p:cNvPr id="13" name="Line 13"/>
            <p:cNvSpPr/>
            <p:nvPr/>
          </p:nvSpPr>
          <p:spPr>
            <a:xfrm>
              <a:off x="4095750" y="2114550"/>
              <a:ext cx="9525" cy="952500"/>
            </a:xfrm>
            <a:custGeom>
              <a:avLst/>
              <a:gdLst/>
              <a:ahLst/>
              <a:cxnLst/>
              <a:rect l="l" t="t" r="r" b="b"/>
              <a:pathLst>
                <a:path w="9525" h="952500">
                  <a:moveTo>
                    <a:pt x="0" y="952500"/>
                  </a:moveTo>
                  <a:lnTo>
                    <a:pt x="0" y="0"/>
                  </a:lnTo>
                </a:path>
              </a:pathLst>
            </a:custGeom>
            <a:noFill/>
            <a:ln w="11430" cap="rnd">
              <a:solidFill>
                <a:srgbClr val="284A66"/>
              </a:solidFill>
            </a:ln>
          </p:spPr>
        </p:sp>
        <p:sp>
          <p:nvSpPr>
            <p:cNvPr id="14" name="TextBox 14"/>
            <p:cNvSpPr txBox="1"/>
            <p:nvPr/>
          </p:nvSpPr>
          <p:spPr>
            <a:xfrm>
              <a:off x="3838137" y="2056686"/>
              <a:ext cx="205225"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side</a:t>
              </a:r>
            </a:p>
          </p:txBody>
        </p:sp>
        <p:sp>
          <p:nvSpPr>
            <p:cNvPr id="15" name="TextBox 15"/>
            <p:cNvSpPr txBox="1"/>
            <p:nvPr/>
          </p:nvSpPr>
          <p:spPr>
            <a:xfrm>
              <a:off x="5198497" y="3123486"/>
              <a:ext cx="426016"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front -&gt;</a:t>
              </a:r>
            </a:p>
          </p:txBody>
        </p:sp>
        <p:sp>
          <p:nvSpPr>
            <p:cNvPr id="16" name="Polyline 16"/>
            <p:cNvSpPr/>
            <p:nvPr/>
          </p:nvSpPr>
          <p:spPr>
            <a:xfrm>
              <a:off x="4278630" y="2209800"/>
              <a:ext cx="1127760" cy="666750"/>
            </a:xfrm>
            <a:custGeom>
              <a:avLst/>
              <a:gdLst/>
              <a:ahLst/>
              <a:cxnLst/>
              <a:rect l="l" t="t" r="r" b="b"/>
              <a:pathLst>
                <a:path w="1127760" h="666750">
                  <a:moveTo>
                    <a:pt x="0" y="0"/>
                  </a:moveTo>
                  <a:lnTo>
                    <a:pt x="335280" y="190500"/>
                  </a:lnTo>
                  <a:lnTo>
                    <a:pt x="731520" y="400050"/>
                  </a:lnTo>
                  <a:lnTo>
                    <a:pt x="1127760" y="666750"/>
                  </a:lnTo>
                </a:path>
              </a:pathLst>
            </a:custGeom>
            <a:noFill/>
            <a:ln w="19050" cap="rnd">
              <a:solidFill>
                <a:srgbClr val="46C98B"/>
              </a:solidFill>
              <a:custDash>
                <a:ds d="250000" sp="200000"/>
              </a:custDash>
              <a:round/>
            </a:ln>
          </p:spPr>
        </p:sp>
        <p:sp>
          <p:nvSpPr>
            <p:cNvPr id="17" name="Ellipse 17"/>
            <p:cNvSpPr/>
            <p:nvPr/>
          </p:nvSpPr>
          <p:spPr>
            <a:xfrm>
              <a:off x="4235768" y="2166938"/>
              <a:ext cx="85725" cy="85725"/>
            </a:xfrm>
            <a:prstGeom prst="ellipse">
              <a:avLst/>
            </a:prstGeom>
            <a:solidFill>
              <a:srgbClr val="46C98B"/>
            </a:solidFill>
            <a:ln>
              <a:noFill/>
            </a:ln>
          </p:spPr>
        </p:sp>
        <p:sp>
          <p:nvSpPr>
            <p:cNvPr id="18" name="Ellipse 18"/>
            <p:cNvSpPr/>
            <p:nvPr/>
          </p:nvSpPr>
          <p:spPr>
            <a:xfrm>
              <a:off x="4571048" y="2357438"/>
              <a:ext cx="85725" cy="85725"/>
            </a:xfrm>
            <a:prstGeom prst="ellipse">
              <a:avLst/>
            </a:prstGeom>
            <a:solidFill>
              <a:srgbClr val="46C98B"/>
            </a:solidFill>
            <a:ln>
              <a:noFill/>
            </a:ln>
          </p:spPr>
        </p:sp>
        <p:sp>
          <p:nvSpPr>
            <p:cNvPr id="19" name="Ellipse 19"/>
            <p:cNvSpPr/>
            <p:nvPr/>
          </p:nvSpPr>
          <p:spPr>
            <a:xfrm>
              <a:off x="4967288" y="2566988"/>
              <a:ext cx="85725" cy="85725"/>
            </a:xfrm>
            <a:prstGeom prst="ellipse">
              <a:avLst/>
            </a:prstGeom>
            <a:solidFill>
              <a:srgbClr val="46C98B"/>
            </a:solidFill>
            <a:ln>
              <a:noFill/>
            </a:ln>
          </p:spPr>
        </p:sp>
        <p:sp>
          <p:nvSpPr>
            <p:cNvPr id="20" name="Ellipse 20"/>
            <p:cNvSpPr/>
            <p:nvPr/>
          </p:nvSpPr>
          <p:spPr>
            <a:xfrm>
              <a:off x="5363528" y="2833688"/>
              <a:ext cx="85725" cy="85725"/>
            </a:xfrm>
            <a:prstGeom prst="ellipse">
              <a:avLst/>
            </a:prstGeom>
            <a:solidFill>
              <a:srgbClr val="46C98B"/>
            </a:solidFill>
            <a:ln>
              <a:noFill/>
            </a:ln>
          </p:spPr>
        </p:sp>
        <p:sp>
          <p:nvSpPr>
            <p:cNvPr id="21" name="Ellipse 21"/>
            <p:cNvSpPr/>
            <p:nvPr/>
          </p:nvSpPr>
          <p:spPr>
            <a:xfrm>
              <a:off x="4886325" y="2295525"/>
              <a:ext cx="95250" cy="95250"/>
            </a:xfrm>
            <a:prstGeom prst="ellipse">
              <a:avLst/>
            </a:prstGeom>
            <a:solidFill>
              <a:srgbClr val="F2685C"/>
            </a:solidFill>
            <a:ln>
              <a:noFill/>
            </a:ln>
          </p:spPr>
        </p:sp>
        <p:sp>
          <p:nvSpPr>
            <p:cNvPr id="22" name="TextBox 22"/>
            <p:cNvSpPr txBox="1"/>
            <p:nvPr/>
          </p:nvSpPr>
          <p:spPr>
            <a:xfrm>
              <a:off x="5014912" y="2294811"/>
              <a:ext cx="285513" cy="140494"/>
            </a:xfrm>
            <a:prstGeom prst="rect">
              <a:avLst/>
            </a:prstGeom>
            <a:noFill/>
            <a:ln>
              <a:noFill/>
            </a:ln>
          </p:spPr>
          <p:txBody>
            <a:bodyPr wrap="none" lIns="0" tIns="0" rIns="0" bIns="0" anchor="t" anchorCtr="0">
              <a:spAutoFit/>
            </a:bodyPr>
            <a:lstStyle/>
            <a:p>
              <a:pPr algn="l"/>
              <a:r>
                <a:rPr lang="en-US" sz="710" b="1" dirty="0">
                  <a:solidFill>
                    <a:srgbClr val="F2685C"/>
                  </a:solidFill>
                  <a:latin typeface="+mn-lt"/>
                  <a:ea typeface="+mn-ea"/>
                  <a:cs typeface="+mn-cs"/>
                </a:rPr>
                <a:t>+rear</a:t>
              </a:r>
            </a:p>
          </p:txBody>
        </p:sp>
      </p:grpSp>
      <p:grpSp>
        <p:nvGrpSpPr>
          <p:cNvPr id="33" name="Group 33"/>
          <p:cNvGrpSpPr/>
          <p:nvPr/>
        </p:nvGrpSpPr>
        <p:grpSpPr>
          <a:xfrm>
            <a:off x="609600" y="3600450"/>
            <a:ext cx="5334000" cy="1638300"/>
            <a:chOff x="609600" y="3600450"/>
            <a:chExt cx="5334000" cy="1638300"/>
          </a:xfrm>
        </p:grpSpPr>
        <p:sp>
          <p:nvSpPr>
            <p:cNvPr id="24" name="Rectangle 24"/>
            <p:cNvSpPr/>
            <p:nvPr/>
          </p:nvSpPr>
          <p:spPr>
            <a:xfrm>
              <a:off x="609600" y="3600450"/>
              <a:ext cx="5334000" cy="1638300"/>
            </a:xfrm>
            <a:prstGeom prst="roundRect">
              <a:avLst>
                <a:gd name="adj" fmla="val 8140"/>
              </a:avLst>
            </a:prstGeom>
            <a:solidFill>
              <a:srgbClr val="2A2417"/>
            </a:solidFill>
            <a:ln w="14288">
              <a:solidFill>
                <a:srgbClr val="F4C24C"/>
              </a:solidFill>
            </a:ln>
          </p:spPr>
        </p:sp>
        <p:sp>
          <p:nvSpPr>
            <p:cNvPr id="25" name="Rectangle 25"/>
            <p:cNvSpPr/>
            <p:nvPr/>
          </p:nvSpPr>
          <p:spPr>
            <a:xfrm>
              <a:off x="609600" y="3600450"/>
              <a:ext cx="57150" cy="1638300"/>
            </a:xfrm>
            <a:prstGeom prst="roundRect">
              <a:avLst>
                <a:gd name="adj" fmla="val 50000"/>
              </a:avLst>
            </a:prstGeom>
            <a:solidFill>
              <a:srgbClr val="F4C24C"/>
            </a:solidFill>
            <a:ln>
              <a:noFill/>
            </a:ln>
          </p:spPr>
        </p:sp>
        <p:sp>
          <p:nvSpPr>
            <p:cNvPr id="26" name="TextBox 26"/>
            <p:cNvSpPr txBox="1"/>
            <p:nvPr/>
          </p:nvSpPr>
          <p:spPr>
            <a:xfrm>
              <a:off x="870585" y="3821906"/>
              <a:ext cx="3350006" cy="220028"/>
            </a:xfrm>
            <a:prstGeom prst="rect">
              <a:avLst/>
            </a:prstGeom>
            <a:noFill/>
            <a:ln>
              <a:noFill/>
            </a:ln>
          </p:spPr>
          <p:txBody>
            <a:bodyPr wrap="none" lIns="0" tIns="0" rIns="0" bIns="0" anchor="t" anchorCtr="0">
              <a:spAutoFit/>
            </a:bodyPr>
            <a:lstStyle/>
            <a:p>
              <a:pPr algn="l"/>
              <a:r>
                <a:rPr lang="en-US" sz="1120" b="1" dirty="0">
                  <a:solidFill>
                    <a:srgbClr val="F4C24C"/>
                  </a:solidFill>
                  <a:latin typeface="+mn-lt"/>
                  <a:ea typeface="+mn-ea"/>
                  <a:cs typeface="+mn-cs"/>
                </a:rPr>
                <a:t>Front + side + distance works; +rear hurts</a:t>
              </a:r>
            </a:p>
          </p:txBody>
        </p:sp>
        <p:sp>
          <p:nvSpPr>
            <p:cNvPr id="27" name="TextBox 27"/>
            <p:cNvSpPr txBox="1"/>
            <p:nvPr/>
          </p:nvSpPr>
          <p:spPr>
            <a:xfrm>
              <a:off x="871156" y="4100751"/>
              <a:ext cx="372654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Adding rear collisions causes a clear regression, traced</a:t>
              </a:r>
            </a:p>
          </p:txBody>
        </p:sp>
        <p:sp>
          <p:nvSpPr>
            <p:cNvPr id="28" name="TextBox 28"/>
            <p:cNvSpPr txBox="1"/>
            <p:nvPr/>
          </p:nvSpPr>
          <p:spPr>
            <a:xfrm>
              <a:off x="871156" y="4291251"/>
              <a:ext cx="370856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to false positives from log-replayed agents that do not</a:t>
              </a:r>
            </a:p>
          </p:txBody>
        </p:sp>
        <p:sp>
          <p:nvSpPr>
            <p:cNvPr id="29" name="TextBox 29"/>
            <p:cNvSpPr txBox="1"/>
            <p:nvPr/>
          </p:nvSpPr>
          <p:spPr>
            <a:xfrm>
              <a:off x="871156" y="4481751"/>
              <a:ext cx="1138806"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react in the sim.</a:t>
              </a:r>
            </a:p>
          </p:txBody>
        </p:sp>
        <p:sp>
          <p:nvSpPr>
            <p:cNvPr id="30" name="Rectangle 30"/>
            <p:cNvSpPr/>
            <p:nvPr/>
          </p:nvSpPr>
          <p:spPr>
            <a:xfrm>
              <a:off x="876300" y="4876800"/>
              <a:ext cx="4457700" cy="266700"/>
            </a:xfrm>
            <a:prstGeom prst="roundRect">
              <a:avLst>
                <a:gd name="adj" fmla="val 28571"/>
              </a:avLst>
            </a:prstGeom>
            <a:solidFill>
              <a:schemeClr val="accent6"/>
            </a:solidFill>
            <a:ln w="14288">
              <a:solidFill>
                <a:srgbClr val="284A66"/>
              </a:solidFill>
            </a:ln>
          </p:spPr>
        </p:sp>
        <p:sp>
          <p:nvSpPr>
            <p:cNvPr id="31" name="Ellipse 31"/>
            <p:cNvSpPr/>
            <p:nvPr/>
          </p:nvSpPr>
          <p:spPr>
            <a:xfrm>
              <a:off x="1000125" y="4962525"/>
              <a:ext cx="95250" cy="95250"/>
            </a:xfrm>
            <a:prstGeom prst="ellipse">
              <a:avLst/>
            </a:prstGeom>
            <a:solidFill>
              <a:srgbClr val="F2685C"/>
            </a:solidFill>
            <a:ln>
              <a:noFill/>
            </a:ln>
          </p:spPr>
        </p:sp>
        <p:sp>
          <p:nvSpPr>
            <p:cNvPr id="32" name="TextBox 32"/>
            <p:cNvSpPr txBox="1"/>
            <p:nvPr/>
          </p:nvSpPr>
          <p:spPr>
            <a:xfrm>
              <a:off x="1194626" y="4949904"/>
              <a:ext cx="320805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rear metric -&gt; non-reacting replay agents</a:t>
              </a:r>
            </a:p>
          </p:txBody>
        </p:sp>
      </p:grpSp>
      <p:grpSp>
        <p:nvGrpSpPr>
          <p:cNvPr id="45" name="Group 45"/>
          <p:cNvGrpSpPr/>
          <p:nvPr/>
        </p:nvGrpSpPr>
        <p:grpSpPr>
          <a:xfrm>
            <a:off x="6248400" y="1504950"/>
            <a:ext cx="5334000" cy="1943100"/>
            <a:chOff x="6248400" y="1504950"/>
            <a:chExt cx="5334000" cy="1943100"/>
          </a:xfrm>
        </p:grpSpPr>
        <p:sp>
          <p:nvSpPr>
            <p:cNvPr id="34" name="Rectangle 34"/>
            <p:cNvSpPr/>
            <p:nvPr/>
          </p:nvSpPr>
          <p:spPr>
            <a:xfrm>
              <a:off x="6248400" y="1504950"/>
              <a:ext cx="5334000" cy="1943100"/>
            </a:xfrm>
            <a:prstGeom prst="roundRect">
              <a:avLst>
                <a:gd name="adj" fmla="val 6863"/>
              </a:avLst>
            </a:prstGeom>
            <a:solidFill>
              <a:schemeClr val="accent5"/>
            </a:solidFill>
            <a:ln w="14288">
              <a:solidFill>
                <a:srgbClr val="284A66"/>
              </a:solidFill>
            </a:ln>
          </p:spPr>
        </p:sp>
        <p:sp>
          <p:nvSpPr>
            <p:cNvPr id="35" name="Rectangle 35"/>
            <p:cNvSpPr/>
            <p:nvPr/>
          </p:nvSpPr>
          <p:spPr>
            <a:xfrm>
              <a:off x="6248400" y="1504950"/>
              <a:ext cx="57150" cy="1943100"/>
            </a:xfrm>
            <a:prstGeom prst="roundRect">
              <a:avLst>
                <a:gd name="adj" fmla="val 50000"/>
              </a:avLst>
            </a:prstGeom>
            <a:solidFill>
              <a:srgbClr val="33D6C0"/>
            </a:solidFill>
            <a:ln>
              <a:noFill/>
            </a:ln>
          </p:spPr>
        </p:sp>
        <p:sp>
          <p:nvSpPr>
            <p:cNvPr id="36" name="TextBox 36"/>
            <p:cNvSpPr txBox="1"/>
            <p:nvPr/>
          </p:nvSpPr>
          <p:spPr>
            <a:xfrm>
              <a:off x="6509004" y="1737360"/>
              <a:ext cx="1999464" cy="234696"/>
            </a:xfrm>
            <a:prstGeom prst="rect">
              <a:avLst/>
            </a:prstGeom>
            <a:noFill/>
            <a:ln>
              <a:noFill/>
            </a:ln>
          </p:spPr>
          <p:txBody>
            <a:bodyPr wrap="none" lIns="0" tIns="0" rIns="0" bIns="0" anchor="t" anchorCtr="0">
              <a:spAutoFit/>
            </a:bodyPr>
            <a:lstStyle/>
            <a:p>
              <a:pPr algn="l"/>
              <a:r>
                <a:rPr lang="en-US" sz="1200" b="1" dirty="0">
                  <a:solidFill>
                    <a:srgbClr val="33D6C0"/>
                  </a:solidFill>
                  <a:latin typeface="+mn-lt"/>
                  <a:ea typeface="+mn-ea"/>
                  <a:cs typeface="+mn-cs"/>
                </a:rPr>
                <a:t>Early-stopping budget K</a:t>
              </a:r>
            </a:p>
          </p:txBody>
        </p:sp>
        <p:sp>
          <p:nvSpPr>
            <p:cNvPr id="37" name="TextBox 37"/>
            <p:cNvSpPr txBox="1"/>
            <p:nvPr/>
          </p:nvSpPr>
          <p:spPr>
            <a:xfrm>
              <a:off x="6509956" y="2024301"/>
              <a:ext cx="366734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identification policy is stopped early. The budget K</a:t>
              </a:r>
            </a:p>
          </p:txBody>
        </p:sp>
        <p:sp>
          <p:nvSpPr>
            <p:cNvPr id="38" name="TextBox 38"/>
            <p:cNvSpPr txBox="1"/>
            <p:nvPr/>
          </p:nvSpPr>
          <p:spPr>
            <a:xfrm>
              <a:off x="6509956" y="2214801"/>
              <a:ext cx="257325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controls how full the error set stays.</a:t>
              </a:r>
            </a:p>
          </p:txBody>
        </p:sp>
        <p:sp>
          <p:nvSpPr>
            <p:cNvPr id="39" name="Rectangle 39"/>
            <p:cNvSpPr/>
            <p:nvPr/>
          </p:nvSpPr>
          <p:spPr>
            <a:xfrm>
              <a:off x="6515100" y="2724150"/>
              <a:ext cx="2381250" cy="571500"/>
            </a:xfrm>
            <a:prstGeom prst="roundRect">
              <a:avLst>
                <a:gd name="adj" fmla="val 20000"/>
              </a:avLst>
            </a:prstGeom>
            <a:solidFill>
              <a:schemeClr val="accent6"/>
            </a:solidFill>
            <a:ln w="14288">
              <a:solidFill>
                <a:srgbClr val="284A66"/>
              </a:solidFill>
            </a:ln>
          </p:spPr>
        </p:sp>
        <p:sp>
          <p:nvSpPr>
            <p:cNvPr id="40" name="TextBox 40"/>
            <p:cNvSpPr txBox="1"/>
            <p:nvPr/>
          </p:nvSpPr>
          <p:spPr>
            <a:xfrm>
              <a:off x="7378041" y="2856166"/>
              <a:ext cx="655369" cy="299237"/>
            </a:xfrm>
            <a:prstGeom prst="rect">
              <a:avLst/>
            </a:prstGeom>
            <a:noFill/>
            <a:ln>
              <a:noFill/>
            </a:ln>
          </p:spPr>
          <p:txBody>
            <a:bodyPr wrap="none" lIns="0" tIns="0" rIns="0" bIns="0" anchor="t" anchorCtr="0">
              <a:spAutoFit/>
            </a:bodyPr>
            <a:lstStyle/>
            <a:p>
              <a:pPr algn="ctr"/>
              <a:r>
                <a:rPr lang="en-US" sz="1530" b="1" dirty="0">
                  <a:solidFill>
                    <a:srgbClr val="33D6C0"/>
                  </a:solidFill>
                  <a:latin typeface="+mn-lt"/>
                  <a:ea typeface="+mn-ea"/>
                  <a:cs typeface="+mn-cs"/>
                </a:rPr>
                <a:t>K = 10</a:t>
              </a:r>
            </a:p>
          </p:txBody>
        </p:sp>
        <p:sp>
          <p:nvSpPr>
            <p:cNvPr id="41" name="TextBox 41"/>
            <p:cNvSpPr txBox="1"/>
            <p:nvPr/>
          </p:nvSpPr>
          <p:spPr>
            <a:xfrm>
              <a:off x="7076474" y="3080147"/>
              <a:ext cx="125850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best, single metric</a:t>
              </a:r>
            </a:p>
          </p:txBody>
        </p:sp>
        <p:sp>
          <p:nvSpPr>
            <p:cNvPr id="42" name="Rectangle 42"/>
            <p:cNvSpPr/>
            <p:nvPr/>
          </p:nvSpPr>
          <p:spPr>
            <a:xfrm>
              <a:off x="9124950" y="2724150"/>
              <a:ext cx="2381250" cy="571500"/>
            </a:xfrm>
            <a:prstGeom prst="roundRect">
              <a:avLst>
                <a:gd name="adj" fmla="val 20000"/>
              </a:avLst>
            </a:prstGeom>
            <a:solidFill>
              <a:schemeClr val="accent6"/>
            </a:solidFill>
            <a:ln w="14288">
              <a:solidFill>
                <a:srgbClr val="284A66"/>
              </a:solidFill>
            </a:ln>
          </p:spPr>
        </p:sp>
        <p:sp>
          <p:nvSpPr>
            <p:cNvPr id="43" name="TextBox 43"/>
            <p:cNvSpPr txBox="1"/>
            <p:nvPr/>
          </p:nvSpPr>
          <p:spPr>
            <a:xfrm>
              <a:off x="9987891" y="2856166"/>
              <a:ext cx="655369" cy="299237"/>
            </a:xfrm>
            <a:prstGeom prst="rect">
              <a:avLst/>
            </a:prstGeom>
            <a:noFill/>
            <a:ln>
              <a:noFill/>
            </a:ln>
          </p:spPr>
          <p:txBody>
            <a:bodyPr wrap="none" lIns="0" tIns="0" rIns="0" bIns="0" anchor="t" anchorCtr="0">
              <a:spAutoFit/>
            </a:bodyPr>
            <a:lstStyle/>
            <a:p>
              <a:pPr algn="ctr"/>
              <a:r>
                <a:rPr lang="en-US" sz="1530" b="1" dirty="0">
                  <a:solidFill>
                    <a:schemeClr val="accent2"/>
                  </a:solidFill>
                  <a:latin typeface="+mn-lt"/>
                  <a:ea typeface="+mn-ea"/>
                  <a:cs typeface="+mn-cs"/>
                </a:rPr>
                <a:t>K = 20</a:t>
              </a:r>
            </a:p>
          </p:txBody>
        </p:sp>
        <p:sp>
          <p:nvSpPr>
            <p:cNvPr id="44" name="TextBox 44"/>
            <p:cNvSpPr txBox="1"/>
            <p:nvPr/>
          </p:nvSpPr>
          <p:spPr>
            <a:xfrm>
              <a:off x="9692967" y="3080147"/>
              <a:ext cx="124521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best, multi-metric</a:t>
              </a:r>
            </a:p>
          </p:txBody>
        </p:sp>
      </p:grpSp>
      <p:grpSp>
        <p:nvGrpSpPr>
          <p:cNvPr id="61" name="Group 61"/>
          <p:cNvGrpSpPr/>
          <p:nvPr/>
        </p:nvGrpSpPr>
        <p:grpSpPr>
          <a:xfrm>
            <a:off x="6248400" y="3600450"/>
            <a:ext cx="5334000" cy="1638300"/>
            <a:chOff x="6248400" y="3600450"/>
            <a:chExt cx="5334000" cy="1638300"/>
          </a:xfrm>
        </p:grpSpPr>
        <p:sp>
          <p:nvSpPr>
            <p:cNvPr id="46" name="Rectangle 46"/>
            <p:cNvSpPr/>
            <p:nvPr/>
          </p:nvSpPr>
          <p:spPr>
            <a:xfrm>
              <a:off x="6248400" y="3600450"/>
              <a:ext cx="5334000" cy="1638300"/>
            </a:xfrm>
            <a:prstGeom prst="roundRect">
              <a:avLst>
                <a:gd name="adj" fmla="val 8140"/>
              </a:avLst>
            </a:prstGeom>
            <a:solidFill>
              <a:schemeClr val="accent5"/>
            </a:solidFill>
            <a:ln w="14288">
              <a:solidFill>
                <a:srgbClr val="284A66"/>
              </a:solidFill>
            </a:ln>
          </p:spPr>
        </p:sp>
        <p:sp>
          <p:nvSpPr>
            <p:cNvPr id="47" name="Rectangle 47"/>
            <p:cNvSpPr/>
            <p:nvPr/>
          </p:nvSpPr>
          <p:spPr>
            <a:xfrm>
              <a:off x="6248400" y="3600450"/>
              <a:ext cx="57150" cy="1638300"/>
            </a:xfrm>
            <a:prstGeom prst="roundRect">
              <a:avLst>
                <a:gd name="adj" fmla="val 50000"/>
              </a:avLst>
            </a:prstGeom>
            <a:solidFill>
              <a:srgbClr val="F4C24C"/>
            </a:solidFill>
            <a:ln>
              <a:noFill/>
            </a:ln>
          </p:spPr>
        </p:sp>
        <p:sp>
          <p:nvSpPr>
            <p:cNvPr id="48" name="TextBox 48"/>
            <p:cNvSpPr txBox="1"/>
            <p:nvPr/>
          </p:nvSpPr>
          <p:spPr>
            <a:xfrm>
              <a:off x="6509194" y="3817858"/>
              <a:ext cx="2600141" cy="227362"/>
            </a:xfrm>
            <a:prstGeom prst="rect">
              <a:avLst/>
            </a:prstGeom>
            <a:noFill/>
            <a:ln>
              <a:noFill/>
            </a:ln>
          </p:spPr>
          <p:txBody>
            <a:bodyPr wrap="none" lIns="0" tIns="0" rIns="0" bIns="0" anchor="t" anchorCtr="0">
              <a:spAutoFit/>
            </a:bodyPr>
            <a:lstStyle/>
            <a:p>
              <a:pPr algn="l"/>
              <a:r>
                <a:rPr lang="en-US" sz="1160" b="1" dirty="0">
                  <a:solidFill>
                    <a:srgbClr val="F4C24C"/>
                  </a:solidFill>
                  <a:latin typeface="+mn-lt"/>
                  <a:ea typeface="+mn-ea"/>
                  <a:cs typeface="+mn-cs"/>
                </a:rPr>
                <a:t>Upsampling factor peaks near 50</a:t>
              </a:r>
            </a:p>
          </p:txBody>
        </p:sp>
        <p:sp>
          <p:nvSpPr>
            <p:cNvPr id="49" name="TextBox 49"/>
            <p:cNvSpPr txBox="1"/>
            <p:nvPr/>
          </p:nvSpPr>
          <p:spPr>
            <a:xfrm>
              <a:off x="6509956" y="4100751"/>
              <a:ext cx="272080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Gains improve up to w around fifty, then</a:t>
              </a:r>
            </a:p>
          </p:txBody>
        </p:sp>
        <p:sp>
          <p:nvSpPr>
            <p:cNvPr id="50" name="TextBox 50"/>
            <p:cNvSpPr txBox="1"/>
            <p:nvPr/>
          </p:nvSpPr>
          <p:spPr>
            <a:xfrm>
              <a:off x="6509956" y="4291251"/>
              <a:ext cx="221973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side collisions rise again, echoing</a:t>
              </a:r>
            </a:p>
          </p:txBody>
        </p:sp>
        <p:sp>
          <p:nvSpPr>
            <p:cNvPr id="51" name="TextBox 51"/>
            <p:cNvSpPr txBox="1"/>
            <p:nvPr/>
          </p:nvSpPr>
          <p:spPr>
            <a:xfrm>
              <a:off x="6509956" y="4481751"/>
              <a:ext cx="209731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saturation in Just Train Twice.</a:t>
              </a:r>
            </a:p>
          </p:txBody>
        </p:sp>
        <p:sp>
          <p:nvSpPr>
            <p:cNvPr id="52" name="Rectangle 52"/>
            <p:cNvSpPr/>
            <p:nvPr/>
          </p:nvSpPr>
          <p:spPr>
            <a:xfrm>
              <a:off x="9372600" y="3733800"/>
              <a:ext cx="2095500" cy="1390650"/>
            </a:xfrm>
            <a:prstGeom prst="roundRect">
              <a:avLst>
                <a:gd name="adj" fmla="val 5479"/>
              </a:avLst>
            </a:prstGeom>
            <a:solidFill>
              <a:srgbClr val="0E2334"/>
            </a:solidFill>
            <a:ln w="14288">
              <a:solidFill>
                <a:srgbClr val="284A66"/>
              </a:solidFill>
            </a:ln>
          </p:spPr>
        </p:sp>
        <p:sp>
          <p:nvSpPr>
            <p:cNvPr id="53" name="Line 53"/>
            <p:cNvSpPr/>
            <p:nvPr/>
          </p:nvSpPr>
          <p:spPr>
            <a:xfrm>
              <a:off x="9658350" y="4914900"/>
              <a:ext cx="1676400" cy="9525"/>
            </a:xfrm>
            <a:custGeom>
              <a:avLst/>
              <a:gdLst/>
              <a:ahLst/>
              <a:cxnLst/>
              <a:rect l="l" t="t" r="r" b="b"/>
              <a:pathLst>
                <a:path w="1676400" h="9525">
                  <a:moveTo>
                    <a:pt x="0" y="0"/>
                  </a:moveTo>
                  <a:lnTo>
                    <a:pt x="1676400" y="0"/>
                  </a:lnTo>
                </a:path>
              </a:pathLst>
            </a:custGeom>
            <a:noFill/>
            <a:ln w="11430" cap="rnd">
              <a:solidFill>
                <a:srgbClr val="284A66"/>
              </a:solidFill>
            </a:ln>
          </p:spPr>
        </p:sp>
        <p:sp>
          <p:nvSpPr>
            <p:cNvPr id="54" name="Line 54"/>
            <p:cNvSpPr/>
            <p:nvPr/>
          </p:nvSpPr>
          <p:spPr>
            <a:xfrm>
              <a:off x="9658350" y="3886200"/>
              <a:ext cx="9525" cy="1028700"/>
            </a:xfrm>
            <a:custGeom>
              <a:avLst/>
              <a:gdLst/>
              <a:ahLst/>
              <a:cxnLst/>
              <a:rect l="l" t="t" r="r" b="b"/>
              <a:pathLst>
                <a:path w="9525" h="1028700">
                  <a:moveTo>
                    <a:pt x="0" y="1028700"/>
                  </a:moveTo>
                  <a:lnTo>
                    <a:pt x="0" y="0"/>
                  </a:lnTo>
                </a:path>
              </a:pathLst>
            </a:custGeom>
            <a:noFill/>
            <a:ln w="11430" cap="rnd">
              <a:solidFill>
                <a:srgbClr val="284A66"/>
              </a:solidFill>
            </a:ln>
          </p:spPr>
        </p:sp>
        <p:sp>
          <p:nvSpPr>
            <p:cNvPr id="55" name="Polyline 55"/>
            <p:cNvSpPr/>
            <p:nvPr/>
          </p:nvSpPr>
          <p:spPr>
            <a:xfrm>
              <a:off x="9658350" y="3968496"/>
              <a:ext cx="1676400" cy="791832"/>
            </a:xfrm>
            <a:custGeom>
              <a:avLst/>
              <a:gdLst/>
              <a:ahLst/>
              <a:cxnLst/>
              <a:rect l="l" t="t" r="r" b="b"/>
              <a:pathLst>
                <a:path w="1676400" h="791832">
                  <a:moveTo>
                    <a:pt x="0" y="0"/>
                  </a:moveTo>
                  <a:lnTo>
                    <a:pt x="67056" y="96430"/>
                  </a:lnTo>
                  <a:lnTo>
                    <a:pt x="134112" y="201275"/>
                  </a:lnTo>
                  <a:lnTo>
                    <a:pt x="201168" y="297562"/>
                  </a:lnTo>
                  <a:lnTo>
                    <a:pt x="268224" y="385289"/>
                  </a:lnTo>
                  <a:lnTo>
                    <a:pt x="335280" y="464458"/>
                  </a:lnTo>
                  <a:lnTo>
                    <a:pt x="402336" y="535068"/>
                  </a:lnTo>
                  <a:lnTo>
                    <a:pt x="469392" y="597119"/>
                  </a:lnTo>
                  <a:lnTo>
                    <a:pt x="536448" y="650612"/>
                  </a:lnTo>
                  <a:lnTo>
                    <a:pt x="603504" y="695545"/>
                  </a:lnTo>
                  <a:lnTo>
                    <a:pt x="670560" y="731920"/>
                  </a:lnTo>
                  <a:lnTo>
                    <a:pt x="737616" y="759736"/>
                  </a:lnTo>
                  <a:lnTo>
                    <a:pt x="804672" y="778993"/>
                  </a:lnTo>
                  <a:lnTo>
                    <a:pt x="871728" y="789692"/>
                  </a:lnTo>
                  <a:lnTo>
                    <a:pt x="938784" y="791832"/>
                  </a:lnTo>
                  <a:lnTo>
                    <a:pt x="1005840" y="785412"/>
                  </a:lnTo>
                  <a:lnTo>
                    <a:pt x="1072896" y="770435"/>
                  </a:lnTo>
                  <a:lnTo>
                    <a:pt x="1139952" y="746898"/>
                  </a:lnTo>
                  <a:lnTo>
                    <a:pt x="1207008" y="714802"/>
                  </a:lnTo>
                  <a:lnTo>
                    <a:pt x="1274064" y="674148"/>
                  </a:lnTo>
                  <a:lnTo>
                    <a:pt x="1341120" y="624935"/>
                  </a:lnTo>
                  <a:lnTo>
                    <a:pt x="1408176" y="567163"/>
                  </a:lnTo>
                  <a:lnTo>
                    <a:pt x="1475232" y="500833"/>
                  </a:lnTo>
                  <a:lnTo>
                    <a:pt x="1542288" y="425944"/>
                  </a:lnTo>
                  <a:lnTo>
                    <a:pt x="1609344" y="342495"/>
                  </a:lnTo>
                  <a:lnTo>
                    <a:pt x="1676400" y="250488"/>
                  </a:lnTo>
                </a:path>
              </a:pathLst>
            </a:custGeom>
            <a:noFill/>
            <a:ln w="24765" cap="rnd">
              <a:solidFill>
                <a:schemeClr val="accent2"/>
              </a:solidFill>
              <a:round/>
            </a:ln>
          </p:spPr>
        </p:sp>
        <p:sp>
          <p:nvSpPr>
            <p:cNvPr id="56" name="Line 56"/>
            <p:cNvSpPr/>
            <p:nvPr/>
          </p:nvSpPr>
          <p:spPr>
            <a:xfrm>
              <a:off x="10580370" y="4760595"/>
              <a:ext cx="9525" cy="154305"/>
            </a:xfrm>
            <a:custGeom>
              <a:avLst/>
              <a:gdLst/>
              <a:ahLst/>
              <a:cxnLst/>
              <a:rect l="l" t="t" r="r" b="b"/>
              <a:pathLst>
                <a:path w="9525" h="154305">
                  <a:moveTo>
                    <a:pt x="0" y="0"/>
                  </a:moveTo>
                  <a:lnTo>
                    <a:pt x="0" y="154305"/>
                  </a:lnTo>
                </a:path>
              </a:pathLst>
            </a:custGeom>
            <a:noFill/>
            <a:ln w="10478" cap="rnd">
              <a:solidFill>
                <a:srgbClr val="F4C24C"/>
              </a:solidFill>
              <a:prstDash val="dash"/>
            </a:ln>
          </p:spPr>
        </p:sp>
        <p:sp>
          <p:nvSpPr>
            <p:cNvPr id="57" name="Ellipse 57"/>
            <p:cNvSpPr/>
            <p:nvPr/>
          </p:nvSpPr>
          <p:spPr>
            <a:xfrm>
              <a:off x="10532745" y="4712970"/>
              <a:ext cx="95250" cy="95250"/>
            </a:xfrm>
            <a:prstGeom prst="ellipse">
              <a:avLst/>
            </a:prstGeom>
            <a:solidFill>
              <a:srgbClr val="F4C24C"/>
            </a:solidFill>
            <a:ln>
              <a:noFill/>
            </a:ln>
          </p:spPr>
        </p:sp>
        <p:sp>
          <p:nvSpPr>
            <p:cNvPr id="58" name="TextBox 58"/>
            <p:cNvSpPr txBox="1"/>
            <p:nvPr/>
          </p:nvSpPr>
          <p:spPr>
            <a:xfrm>
              <a:off x="10401746" y="4585811"/>
              <a:ext cx="357248" cy="161925"/>
            </a:xfrm>
            <a:prstGeom prst="rect">
              <a:avLst/>
            </a:prstGeom>
            <a:noFill/>
            <a:ln>
              <a:noFill/>
            </a:ln>
          </p:spPr>
          <p:txBody>
            <a:bodyPr wrap="none" lIns="0" tIns="0" rIns="0" bIns="0" anchor="t" anchorCtr="0">
              <a:spAutoFit/>
            </a:bodyPr>
            <a:lstStyle/>
            <a:p>
              <a:pPr algn="ctr"/>
              <a:r>
                <a:rPr lang="en-US" sz="820" b="1" dirty="0">
                  <a:solidFill>
                    <a:srgbClr val="F4C24C"/>
                  </a:solidFill>
                  <a:latin typeface="+mn-lt"/>
                  <a:ea typeface="+mn-ea"/>
                  <a:cs typeface="+mn-cs"/>
                </a:rPr>
                <a:t>w ~ 50</a:t>
              </a:r>
            </a:p>
          </p:txBody>
        </p:sp>
        <p:sp>
          <p:nvSpPr>
            <p:cNvPr id="59" name="TextBox 59"/>
            <p:cNvSpPr txBox="1"/>
            <p:nvPr/>
          </p:nvSpPr>
          <p:spPr>
            <a:xfrm>
              <a:off x="9163871" y="3847386"/>
              <a:ext cx="461141"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side coll.</a:t>
              </a:r>
            </a:p>
          </p:txBody>
        </p:sp>
        <p:sp>
          <p:nvSpPr>
            <p:cNvPr id="60" name="TextBox 60"/>
            <p:cNvSpPr txBox="1"/>
            <p:nvPr/>
          </p:nvSpPr>
          <p:spPr>
            <a:xfrm>
              <a:off x="10562240" y="4971336"/>
              <a:ext cx="777273"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upsampling w -&gt;</a:t>
              </a:r>
            </a:p>
          </p:txBody>
        </p:sp>
      </p:grpSp>
      <p:sp>
        <p:nvSpPr>
          <p:cNvPr id="62" name="cue_s08_c1_ablations_reveal_how_method_well" title="cue_s08_c1_ablations_reveal_how_method_well" descr="cue_s08_c1_ablations_reveal_how_method_well &quot;The ablations reveal how to use the method well. Targeting a single metric in isolation gives the largest improvement on that metric, while combining metrics achieves a balance, tracing out a Pareto front of trade-offs."/>
          <p:cNvSpPr/>
          <p:nvPr/>
        </p:nvSpPr>
        <p:spPr>
          <a:xfrm>
            <a:off x="609600"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8_c2_combining_front_side_distance_to_ref" title="cue_s08_c2_combining_front_side_distance_to_ref" descr="cue_s08_c2_combining_front_side_distance_to_ref Combining front, side, and distance-to-reference works nicely, but adding rear collisions causes a clear regression. The authors trace this to false positives in the rear-collision metric, caused by log-replayed agents that do not react in the simulator. Two h"/>
          <p:cNvSpPr/>
          <p:nvPr/>
        </p:nvSpPr>
        <p:spPr>
          <a:xfrm>
            <a:off x="609600"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8_c3_early_stopping_budget_identification" title="cue_s08_c3_early_stopping_budget_identification" descr="cue_s08_c3_early_stopping_budget_identification The early-stopping budget K of the identification policy: ten epochs works best for single-metric error sets and twenty for multi-metric."/>
          <p:cNvSpPr/>
          <p:nvPr/>
        </p:nvSpPr>
        <p:spPr>
          <a:xfrm>
            <a:off x="6248399"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8_c4_upsampling_factor_performance_improv" title="cue_s08_c4_upsampling_factor_performance_improv" descr="cue_s08_c4_upsampling_factor_performance_improv And the upsampling factor: performance improves up to about a factor of fifty, after which side collisions start to rise again, echoing a similar saturation observed in the Just Train Twice method.&quot;"/>
          <p:cNvSpPr/>
          <p:nvPr/>
        </p:nvSpPr>
        <p:spPr>
          <a:xfrm>
            <a:off x="6248399"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56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one place</a:t>
            </a:r>
          </a:p>
        </p:txBody>
      </p:sp>
      <p:grpSp>
        <p:nvGrpSpPr>
          <p:cNvPr id="16" name="Group 16"/>
          <p:cNvGrpSpPr/>
          <p:nvPr/>
        </p:nvGrpSpPr>
        <p:grpSpPr>
          <a:xfrm>
            <a:off x="609600" y="1581150"/>
            <a:ext cx="10972800" cy="1257300"/>
            <a:chOff x="609600" y="1581150"/>
            <a:chExt cx="10972800" cy="1257300"/>
          </a:xfrm>
        </p:grpSpPr>
        <p:sp>
          <p:nvSpPr>
            <p:cNvPr id="5" name="Rectangle 5"/>
            <p:cNvSpPr/>
            <p:nvPr/>
          </p:nvSpPr>
          <p:spPr>
            <a:xfrm>
              <a:off x="609600" y="1581150"/>
              <a:ext cx="10972800" cy="1257300"/>
            </a:xfrm>
            <a:prstGeom prst="roundRect">
              <a:avLst>
                <a:gd name="adj" fmla="val 10606"/>
              </a:avLst>
            </a:prstGeom>
            <a:solidFill>
              <a:schemeClr val="accent5"/>
            </a:solidFill>
            <a:ln w="14288">
              <a:solidFill>
                <a:srgbClr val="284A66"/>
              </a:solidFill>
            </a:ln>
          </p:spPr>
        </p:sp>
        <p:sp>
          <p:nvSpPr>
            <p:cNvPr id="6" name="Rectangle 6"/>
            <p:cNvSpPr/>
            <p:nvPr/>
          </p:nvSpPr>
          <p:spPr>
            <a:xfrm>
              <a:off x="609600" y="1581150"/>
              <a:ext cx="57150" cy="1257300"/>
            </a:xfrm>
            <a:prstGeom prst="roundRect">
              <a:avLst>
                <a:gd name="adj" fmla="val 50000"/>
              </a:avLst>
            </a:prstGeom>
            <a:solidFill>
              <a:srgbClr val="F2685C"/>
            </a:solidFill>
            <a:ln>
              <a:noFill/>
            </a:ln>
          </p:spPr>
        </p:sp>
        <p:sp>
          <p:nvSpPr>
            <p:cNvPr id="7" name="TextBox 7"/>
            <p:cNvSpPr txBox="1"/>
            <p:nvPr/>
          </p:nvSpPr>
          <p:spPr>
            <a:xfrm>
              <a:off x="870014" y="1790462"/>
              <a:ext cx="4119541"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Front collisions, against the strongest baseline</a:t>
              </a:r>
            </a:p>
          </p:txBody>
        </p:sp>
        <p:sp>
          <p:nvSpPr>
            <p:cNvPr id="8" name="Rectangle 8"/>
            <p:cNvSpPr/>
            <p:nvPr/>
          </p:nvSpPr>
          <p:spPr>
            <a:xfrm>
              <a:off x="876300" y="2095500"/>
              <a:ext cx="2247900" cy="628650"/>
            </a:xfrm>
            <a:prstGeom prst="roundRect">
              <a:avLst>
                <a:gd name="adj" fmla="val 18182"/>
              </a:avLst>
            </a:prstGeom>
            <a:solidFill>
              <a:schemeClr val="accent6"/>
            </a:solidFill>
            <a:ln w="14288">
              <a:solidFill>
                <a:srgbClr val="284A66"/>
              </a:solidFill>
            </a:ln>
          </p:spPr>
        </p:sp>
        <p:sp>
          <p:nvSpPr>
            <p:cNvPr id="9" name="TextBox 9"/>
            <p:cNvSpPr txBox="1"/>
            <p:nvPr/>
          </p:nvSpPr>
          <p:spPr>
            <a:xfrm>
              <a:off x="1593939" y="2240718"/>
              <a:ext cx="812623" cy="329161"/>
            </a:xfrm>
            <a:prstGeom prst="rect">
              <a:avLst/>
            </a:prstGeom>
            <a:noFill/>
            <a:ln>
              <a:noFill/>
            </a:ln>
          </p:spPr>
          <p:txBody>
            <a:bodyPr wrap="none" lIns="0" tIns="0" rIns="0" bIns="0" anchor="t" anchorCtr="0">
              <a:spAutoFit/>
            </a:bodyPr>
            <a:lstStyle/>
            <a:p>
              <a:pPr algn="ctr"/>
              <a:r>
                <a:rPr lang="en-US" sz="1680" b="1" dirty="0">
                  <a:solidFill>
                    <a:srgbClr val="F2685C"/>
                  </a:solidFill>
                  <a:latin typeface="+mn-lt"/>
                  <a:ea typeface="+mn-ea"/>
                  <a:cs typeface="+mn-cs"/>
                </a:rPr>
                <a:t>14 -&gt; 9</a:t>
              </a:r>
            </a:p>
          </p:txBody>
        </p:sp>
        <p:sp>
          <p:nvSpPr>
            <p:cNvPr id="10" name="TextBox 10"/>
            <p:cNvSpPr txBox="1"/>
            <p:nvPr/>
          </p:nvSpPr>
          <p:spPr>
            <a:xfrm>
              <a:off x="1493903" y="2497217"/>
              <a:ext cx="101269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front collisions</a:t>
              </a:r>
            </a:p>
          </p:txBody>
        </p:sp>
        <p:sp>
          <p:nvSpPr>
            <p:cNvPr id="11" name="Rectangle 11"/>
            <p:cNvSpPr/>
            <p:nvPr/>
          </p:nvSpPr>
          <p:spPr>
            <a:xfrm>
              <a:off x="3295650" y="2095500"/>
              <a:ext cx="2247900" cy="628650"/>
            </a:xfrm>
            <a:prstGeom prst="roundRect">
              <a:avLst>
                <a:gd name="adj" fmla="val 18182"/>
              </a:avLst>
            </a:prstGeom>
            <a:solidFill>
              <a:schemeClr val="accent6"/>
            </a:solidFill>
            <a:ln w="14288">
              <a:solidFill>
                <a:srgbClr val="284A66"/>
              </a:solidFill>
            </a:ln>
          </p:spPr>
        </p:sp>
        <p:sp>
          <p:nvSpPr>
            <p:cNvPr id="12" name="TextBox 12"/>
            <p:cNvSpPr txBox="1"/>
            <p:nvPr/>
          </p:nvSpPr>
          <p:spPr>
            <a:xfrm>
              <a:off x="4126087" y="2240718"/>
              <a:ext cx="587027" cy="329161"/>
            </a:xfrm>
            <a:prstGeom prst="rect">
              <a:avLst/>
            </a:prstGeom>
            <a:noFill/>
            <a:ln>
              <a:noFill/>
            </a:ln>
          </p:spPr>
          <p:txBody>
            <a:bodyPr wrap="none" lIns="0" tIns="0" rIns="0" bIns="0" anchor="t" anchorCtr="0">
              <a:spAutoFit/>
            </a:bodyPr>
            <a:lstStyle/>
            <a:p>
              <a:pPr algn="ctr"/>
              <a:r>
                <a:rPr lang="en-US" sz="1680" b="1" dirty="0">
                  <a:solidFill>
                    <a:srgbClr val="46C98B"/>
                  </a:solidFill>
                  <a:latin typeface="+mn-lt"/>
                  <a:ea typeface="+mn-ea"/>
                  <a:cs typeface="+mn-cs"/>
                </a:rPr>
                <a:t>~36%</a:t>
              </a:r>
            </a:p>
          </p:txBody>
        </p:sp>
        <p:sp>
          <p:nvSpPr>
            <p:cNvPr id="13" name="TextBox 13"/>
            <p:cNvSpPr txBox="1"/>
            <p:nvPr/>
          </p:nvSpPr>
          <p:spPr>
            <a:xfrm>
              <a:off x="4102593" y="2497217"/>
              <a:ext cx="63401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reduction</a:t>
              </a:r>
            </a:p>
          </p:txBody>
        </p:sp>
        <p:sp>
          <p:nvSpPr>
            <p:cNvPr id="14" name="Rectangle 14"/>
            <p:cNvSpPr/>
            <p:nvPr/>
          </p:nvSpPr>
          <p:spPr>
            <a:xfrm>
              <a:off x="5715000" y="2095500"/>
              <a:ext cx="5867400" cy="628650"/>
            </a:xfrm>
            <a:prstGeom prst="roundRect">
              <a:avLst>
                <a:gd name="adj" fmla="val 18182"/>
              </a:avLst>
            </a:prstGeom>
            <a:solidFill>
              <a:schemeClr val="accent6"/>
            </a:solidFill>
            <a:ln w="14288">
              <a:solidFill>
                <a:srgbClr val="284A66"/>
              </a:solidFill>
            </a:ln>
          </p:spPr>
        </p:sp>
        <p:sp>
          <p:nvSpPr>
            <p:cNvPr id="15" name="TextBox 15"/>
            <p:cNvSpPr txBox="1"/>
            <p:nvPr/>
          </p:nvSpPr>
          <p:spPr>
            <a:xfrm>
              <a:off x="5900356" y="2252901"/>
              <a:ext cx="484149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Upsampling front-collision scenes drives the largest single-metric drop.</a:t>
              </a:r>
            </a:p>
          </p:txBody>
        </p:sp>
      </p:grpSp>
      <p:grpSp>
        <p:nvGrpSpPr>
          <p:cNvPr id="26" name="Group 26"/>
          <p:cNvGrpSpPr/>
          <p:nvPr/>
        </p:nvGrpSpPr>
        <p:grpSpPr>
          <a:xfrm>
            <a:off x="609600" y="2990850"/>
            <a:ext cx="5334000" cy="1428750"/>
            <a:chOff x="609600" y="2990850"/>
            <a:chExt cx="5334000" cy="1428750"/>
          </a:xfrm>
        </p:grpSpPr>
        <p:sp>
          <p:nvSpPr>
            <p:cNvPr id="17" name="Rectangle 17"/>
            <p:cNvSpPr/>
            <p:nvPr/>
          </p:nvSpPr>
          <p:spPr>
            <a:xfrm>
              <a:off x="609600" y="2990850"/>
              <a:ext cx="5334000" cy="1428750"/>
            </a:xfrm>
            <a:prstGeom prst="roundRect">
              <a:avLst>
                <a:gd name="adj" fmla="val 9333"/>
              </a:avLst>
            </a:prstGeom>
            <a:solidFill>
              <a:schemeClr val="accent5"/>
            </a:solidFill>
            <a:ln w="14288">
              <a:solidFill>
                <a:srgbClr val="284A66"/>
              </a:solidFill>
            </a:ln>
          </p:spPr>
        </p:sp>
        <p:sp>
          <p:nvSpPr>
            <p:cNvPr id="18" name="Rectangle 18"/>
            <p:cNvSpPr/>
            <p:nvPr/>
          </p:nvSpPr>
          <p:spPr>
            <a:xfrm>
              <a:off x="609600" y="2990850"/>
              <a:ext cx="57150" cy="1428750"/>
            </a:xfrm>
            <a:prstGeom prst="roundRect">
              <a:avLst>
                <a:gd name="adj" fmla="val 50000"/>
              </a:avLst>
            </a:prstGeom>
            <a:solidFill>
              <a:schemeClr val="accent2"/>
            </a:solidFill>
            <a:ln>
              <a:noFill/>
            </a:ln>
          </p:spPr>
        </p:sp>
        <p:sp>
          <p:nvSpPr>
            <p:cNvPr id="19" name="TextBox 19"/>
            <p:cNvSpPr txBox="1"/>
            <p:nvPr/>
          </p:nvSpPr>
          <p:spPr>
            <a:xfrm>
              <a:off x="870014" y="3219212"/>
              <a:ext cx="2542748"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Distance-to-reference &amp; side</a:t>
              </a:r>
            </a:p>
          </p:txBody>
        </p:sp>
        <p:sp>
          <p:nvSpPr>
            <p:cNvPr id="20" name="Rectangle 20"/>
            <p:cNvSpPr/>
            <p:nvPr/>
          </p:nvSpPr>
          <p:spPr>
            <a:xfrm>
              <a:off x="876300" y="3505200"/>
              <a:ext cx="2247900" cy="762000"/>
            </a:xfrm>
            <a:prstGeom prst="roundRect">
              <a:avLst>
                <a:gd name="adj" fmla="val 15000"/>
              </a:avLst>
            </a:prstGeom>
            <a:solidFill>
              <a:schemeClr val="accent6"/>
            </a:solidFill>
            <a:ln w="14288">
              <a:solidFill>
                <a:srgbClr val="284A66"/>
              </a:solidFill>
            </a:ln>
          </p:spPr>
        </p:sp>
        <p:sp>
          <p:nvSpPr>
            <p:cNvPr id="21" name="TextBox 21"/>
            <p:cNvSpPr txBox="1"/>
            <p:nvPr/>
          </p:nvSpPr>
          <p:spPr>
            <a:xfrm>
              <a:off x="1427593" y="3681222"/>
              <a:ext cx="1145315" cy="398983"/>
            </a:xfrm>
            <a:prstGeom prst="rect">
              <a:avLst/>
            </a:prstGeom>
            <a:noFill/>
            <a:ln>
              <a:noFill/>
            </a:ln>
          </p:spPr>
          <p:txBody>
            <a:bodyPr wrap="none" lIns="0" tIns="0" rIns="0" bIns="0" anchor="t" anchorCtr="0">
              <a:spAutoFit/>
            </a:bodyPr>
            <a:lstStyle/>
            <a:p>
              <a:pPr algn="ctr"/>
              <a:r>
                <a:rPr lang="en-US" sz="2040" b="1" dirty="0">
                  <a:solidFill>
                    <a:schemeClr val="accent2"/>
                  </a:solidFill>
                  <a:latin typeface="+mn-lt"/>
                  <a:ea typeface="+mn-ea"/>
                  <a:cs typeface="+mn-cs"/>
                </a:rPr>
                <a:t>35 -&gt; 28</a:t>
              </a:r>
            </a:p>
          </p:txBody>
        </p:sp>
        <p:sp>
          <p:nvSpPr>
            <p:cNvPr id="22" name="TextBox 22"/>
            <p:cNvSpPr txBox="1"/>
            <p:nvPr/>
          </p:nvSpPr>
          <p:spPr>
            <a:xfrm>
              <a:off x="1357712" y="4013597"/>
              <a:ext cx="128507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dist-to-ref (~20%)</a:t>
              </a:r>
            </a:p>
          </p:txBody>
        </p:sp>
        <p:sp>
          <p:nvSpPr>
            <p:cNvPr id="23" name="Rectangle 23"/>
            <p:cNvSpPr/>
            <p:nvPr/>
          </p:nvSpPr>
          <p:spPr>
            <a:xfrm>
              <a:off x="3295650" y="3505200"/>
              <a:ext cx="2247900" cy="762000"/>
            </a:xfrm>
            <a:prstGeom prst="roundRect">
              <a:avLst>
                <a:gd name="adj" fmla="val 15000"/>
              </a:avLst>
            </a:prstGeom>
            <a:solidFill>
              <a:schemeClr val="accent6"/>
            </a:solidFill>
            <a:ln w="14288">
              <a:solidFill>
                <a:srgbClr val="284A66"/>
              </a:solidFill>
            </a:ln>
          </p:spPr>
        </p:sp>
        <p:sp>
          <p:nvSpPr>
            <p:cNvPr id="24" name="TextBox 24"/>
            <p:cNvSpPr txBox="1"/>
            <p:nvPr/>
          </p:nvSpPr>
          <p:spPr>
            <a:xfrm>
              <a:off x="3846943" y="3681222"/>
              <a:ext cx="1145315" cy="398983"/>
            </a:xfrm>
            <a:prstGeom prst="rect">
              <a:avLst/>
            </a:prstGeom>
            <a:noFill/>
            <a:ln>
              <a:noFill/>
            </a:ln>
          </p:spPr>
          <p:txBody>
            <a:bodyPr wrap="none" lIns="0" tIns="0" rIns="0" bIns="0" anchor="t" anchorCtr="0">
              <a:spAutoFit/>
            </a:bodyPr>
            <a:lstStyle/>
            <a:p>
              <a:pPr algn="ctr"/>
              <a:r>
                <a:rPr lang="en-US" sz="2040" b="1" dirty="0">
                  <a:solidFill>
                    <a:srgbClr val="F4C24C"/>
                  </a:solidFill>
                  <a:latin typeface="+mn-lt"/>
                  <a:ea typeface="+mn-ea"/>
                  <a:cs typeface="+mn-cs"/>
                </a:rPr>
                <a:t>55 -&gt; 47</a:t>
              </a:r>
            </a:p>
          </p:txBody>
        </p:sp>
        <p:sp>
          <p:nvSpPr>
            <p:cNvPr id="25" name="TextBox 25"/>
            <p:cNvSpPr txBox="1"/>
            <p:nvPr/>
          </p:nvSpPr>
          <p:spPr>
            <a:xfrm>
              <a:off x="3966401" y="4013597"/>
              <a:ext cx="90639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side collisions</a:t>
              </a:r>
            </a:p>
          </p:txBody>
        </p:sp>
      </p:grpSp>
      <p:grpSp>
        <p:nvGrpSpPr>
          <p:cNvPr id="36" name="Group 36"/>
          <p:cNvGrpSpPr/>
          <p:nvPr/>
        </p:nvGrpSpPr>
        <p:grpSpPr>
          <a:xfrm>
            <a:off x="6248400" y="2990850"/>
            <a:ext cx="5334000" cy="1428750"/>
            <a:chOff x="6248400" y="2990850"/>
            <a:chExt cx="5334000" cy="1428750"/>
          </a:xfrm>
        </p:grpSpPr>
        <p:sp>
          <p:nvSpPr>
            <p:cNvPr id="27" name="Rectangle 27"/>
            <p:cNvSpPr/>
            <p:nvPr/>
          </p:nvSpPr>
          <p:spPr>
            <a:xfrm>
              <a:off x="6248400" y="2990850"/>
              <a:ext cx="5334000" cy="1428750"/>
            </a:xfrm>
            <a:prstGeom prst="roundRect">
              <a:avLst>
                <a:gd name="adj" fmla="val 9333"/>
              </a:avLst>
            </a:prstGeom>
            <a:solidFill>
              <a:srgbClr val="0F2E2B"/>
            </a:solidFill>
            <a:ln w="14288">
              <a:solidFill>
                <a:srgbClr val="46C98B"/>
              </a:solidFill>
            </a:ln>
          </p:spPr>
        </p:sp>
        <p:sp>
          <p:nvSpPr>
            <p:cNvPr id="28" name="Rectangle 28"/>
            <p:cNvSpPr/>
            <p:nvPr/>
          </p:nvSpPr>
          <p:spPr>
            <a:xfrm>
              <a:off x="6248400" y="2990850"/>
              <a:ext cx="57150" cy="1428750"/>
            </a:xfrm>
            <a:prstGeom prst="roundRect">
              <a:avLst>
                <a:gd name="adj" fmla="val 50000"/>
              </a:avLst>
            </a:prstGeom>
            <a:solidFill>
              <a:srgbClr val="46C98B"/>
            </a:solidFill>
            <a:ln>
              <a:noFill/>
            </a:ln>
          </p:spPr>
        </p:sp>
        <p:sp>
          <p:nvSpPr>
            <p:cNvPr id="29" name="TextBox 29"/>
            <p:cNvSpPr txBox="1"/>
            <p:nvPr/>
          </p:nvSpPr>
          <p:spPr>
            <a:xfrm>
              <a:off x="6509004" y="3223260"/>
              <a:ext cx="2901582" cy="234696"/>
            </a:xfrm>
            <a:prstGeom prst="rect">
              <a:avLst/>
            </a:prstGeom>
            <a:noFill/>
            <a:ln>
              <a:noFill/>
            </a:ln>
          </p:spPr>
          <p:txBody>
            <a:bodyPr wrap="none" lIns="0" tIns="0" rIns="0" bIns="0" anchor="t" anchorCtr="0">
              <a:spAutoFit/>
            </a:bodyPr>
            <a:lstStyle/>
            <a:p>
              <a:pPr algn="l"/>
              <a:r>
                <a:rPr lang="en-US" sz="1200" b="1" dirty="0">
                  <a:solidFill>
                    <a:srgbClr val="46C98B"/>
                  </a:solidFill>
                  <a:latin typeface="+mn-lt"/>
                  <a:ea typeface="+mn-ea"/>
                  <a:cs typeface="+mn-cs"/>
                </a:rPr>
                <a:t>Overall improvement &amp; best factor</a:t>
              </a:r>
            </a:p>
          </p:txBody>
        </p:sp>
        <p:sp>
          <p:nvSpPr>
            <p:cNvPr id="30" name="Rectangle 30"/>
            <p:cNvSpPr/>
            <p:nvPr/>
          </p:nvSpPr>
          <p:spPr>
            <a:xfrm>
              <a:off x="6515100" y="3505200"/>
              <a:ext cx="2247900" cy="762000"/>
            </a:xfrm>
            <a:prstGeom prst="roundRect">
              <a:avLst>
                <a:gd name="adj" fmla="val 15000"/>
              </a:avLst>
            </a:prstGeom>
            <a:solidFill>
              <a:schemeClr val="accent6"/>
            </a:solidFill>
            <a:ln w="14288">
              <a:solidFill>
                <a:srgbClr val="284A66"/>
              </a:solidFill>
            </a:ln>
          </p:spPr>
        </p:sp>
        <p:sp>
          <p:nvSpPr>
            <p:cNvPr id="31" name="TextBox 31"/>
            <p:cNvSpPr txBox="1"/>
            <p:nvPr/>
          </p:nvSpPr>
          <p:spPr>
            <a:xfrm>
              <a:off x="7282660" y="3681222"/>
              <a:ext cx="712781" cy="398983"/>
            </a:xfrm>
            <a:prstGeom prst="rect">
              <a:avLst/>
            </a:prstGeom>
            <a:noFill/>
            <a:ln>
              <a:noFill/>
            </a:ln>
          </p:spPr>
          <p:txBody>
            <a:bodyPr wrap="none" lIns="0" tIns="0" rIns="0" bIns="0" anchor="t" anchorCtr="0">
              <a:spAutoFit/>
            </a:bodyPr>
            <a:lstStyle/>
            <a:p>
              <a:pPr algn="ctr"/>
              <a:r>
                <a:rPr lang="en-US" sz="2040" b="1" dirty="0">
                  <a:solidFill>
                    <a:srgbClr val="46C98B"/>
                  </a:solidFill>
                  <a:latin typeface="+mn-lt"/>
                  <a:ea typeface="+mn-ea"/>
                  <a:cs typeface="+mn-cs"/>
                </a:rPr>
                <a:t>~35%</a:t>
              </a:r>
            </a:p>
          </p:txBody>
        </p:sp>
        <p:sp>
          <p:nvSpPr>
            <p:cNvPr id="32" name="TextBox 32"/>
            <p:cNvSpPr txBox="1"/>
            <p:nvPr/>
          </p:nvSpPr>
          <p:spPr>
            <a:xfrm>
              <a:off x="7109451" y="4013597"/>
              <a:ext cx="105919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on some metrics</a:t>
              </a:r>
            </a:p>
          </p:txBody>
        </p:sp>
        <p:sp>
          <p:nvSpPr>
            <p:cNvPr id="33" name="Rectangle 33"/>
            <p:cNvSpPr/>
            <p:nvPr/>
          </p:nvSpPr>
          <p:spPr>
            <a:xfrm>
              <a:off x="8934450" y="3505200"/>
              <a:ext cx="2247900" cy="762000"/>
            </a:xfrm>
            <a:prstGeom prst="roundRect">
              <a:avLst>
                <a:gd name="adj" fmla="val 15000"/>
              </a:avLst>
            </a:prstGeom>
            <a:solidFill>
              <a:schemeClr val="accent6"/>
            </a:solidFill>
            <a:ln w="14288">
              <a:solidFill>
                <a:srgbClr val="284A66"/>
              </a:solidFill>
            </a:ln>
          </p:spPr>
        </p:sp>
        <p:sp>
          <p:nvSpPr>
            <p:cNvPr id="34" name="TextBox 34"/>
            <p:cNvSpPr txBox="1"/>
            <p:nvPr/>
          </p:nvSpPr>
          <p:spPr>
            <a:xfrm>
              <a:off x="9615503" y="3681222"/>
              <a:ext cx="885795" cy="398983"/>
            </a:xfrm>
            <a:prstGeom prst="rect">
              <a:avLst/>
            </a:prstGeom>
            <a:noFill/>
            <a:ln>
              <a:noFill/>
            </a:ln>
          </p:spPr>
          <p:txBody>
            <a:bodyPr wrap="none" lIns="0" tIns="0" rIns="0" bIns="0" anchor="t" anchorCtr="0">
              <a:spAutoFit/>
            </a:bodyPr>
            <a:lstStyle/>
            <a:p>
              <a:pPr algn="ctr"/>
              <a:r>
                <a:rPr lang="en-US" sz="2040" b="1" dirty="0">
                  <a:solidFill>
                    <a:srgbClr val="F4C24C"/>
                  </a:solidFill>
                  <a:latin typeface="+mn-lt"/>
                  <a:ea typeface="+mn-ea"/>
                  <a:cs typeface="+mn-cs"/>
                </a:rPr>
                <a:t>w ~ 50</a:t>
              </a:r>
            </a:p>
          </p:txBody>
        </p:sp>
        <p:sp>
          <p:nvSpPr>
            <p:cNvPr id="35" name="TextBox 35"/>
            <p:cNvSpPr txBox="1"/>
            <p:nvPr/>
          </p:nvSpPr>
          <p:spPr>
            <a:xfrm>
              <a:off x="9542088" y="4013597"/>
              <a:ext cx="103262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best upsampling</a:t>
              </a:r>
            </a:p>
          </p:txBody>
        </p:sp>
      </p:grpSp>
      <p:grpSp>
        <p:nvGrpSpPr>
          <p:cNvPr id="43" name="Group 43"/>
          <p:cNvGrpSpPr/>
          <p:nvPr/>
        </p:nvGrpSpPr>
        <p:grpSpPr>
          <a:xfrm>
            <a:off x="609600" y="4572000"/>
            <a:ext cx="10972800" cy="666750"/>
            <a:chOff x="609600" y="4572000"/>
            <a:chExt cx="10972800" cy="666750"/>
          </a:xfrm>
        </p:grpSpPr>
        <p:sp>
          <p:nvSpPr>
            <p:cNvPr id="37" name="Rectangle 37"/>
            <p:cNvSpPr/>
            <p:nvPr/>
          </p:nvSpPr>
          <p:spPr>
            <a:xfrm>
              <a:off x="609600" y="4572000"/>
              <a:ext cx="10972800" cy="666750"/>
            </a:xfrm>
            <a:prstGeom prst="roundRect">
              <a:avLst>
                <a:gd name="adj" fmla="val 20000"/>
              </a:avLst>
            </a:prstGeom>
            <a:solidFill>
              <a:schemeClr val="accent5"/>
            </a:solidFill>
            <a:ln w="14288">
              <a:solidFill>
                <a:srgbClr val="284A66"/>
              </a:solidFill>
            </a:ln>
          </p:spPr>
        </p:sp>
        <p:sp>
          <p:nvSpPr>
            <p:cNvPr id="38" name="Rectangle 38"/>
            <p:cNvSpPr/>
            <p:nvPr/>
          </p:nvSpPr>
          <p:spPr>
            <a:xfrm>
              <a:off x="609600" y="4572000"/>
              <a:ext cx="57150" cy="666750"/>
            </a:xfrm>
            <a:prstGeom prst="roundRect">
              <a:avLst>
                <a:gd name="adj" fmla="val 50000"/>
              </a:avLst>
            </a:prstGeom>
            <a:solidFill>
              <a:srgbClr val="33D6C0"/>
            </a:solidFill>
            <a:ln>
              <a:noFill/>
            </a:ln>
          </p:spPr>
        </p:sp>
        <p:sp>
          <p:nvSpPr>
            <p:cNvPr id="39" name="TextBox 39"/>
            <p:cNvSpPr txBox="1"/>
            <p:nvPr/>
          </p:nvSpPr>
          <p:spPr>
            <a:xfrm>
              <a:off x="870394" y="4732258"/>
              <a:ext cx="1246537" cy="227362"/>
            </a:xfrm>
            <a:prstGeom prst="rect">
              <a:avLst/>
            </a:prstGeom>
            <a:noFill/>
            <a:ln>
              <a:noFill/>
            </a:ln>
          </p:spPr>
          <p:txBody>
            <a:bodyPr wrap="none" lIns="0" tIns="0" rIns="0" bIns="0" anchor="t" anchorCtr="0">
              <a:spAutoFit/>
            </a:bodyPr>
            <a:lstStyle/>
            <a:p>
              <a:pPr algn="l"/>
              <a:r>
                <a:rPr lang="en-US" sz="1160" b="1" dirty="0">
                  <a:solidFill>
                    <a:srgbClr val="33D6C0"/>
                  </a:solidFill>
                  <a:latin typeface="+mn-lt"/>
                  <a:ea typeface="+mn-ea"/>
                  <a:cs typeface="+mn-cs"/>
                </a:rPr>
                <a:t>Training budget</a:t>
              </a:r>
            </a:p>
          </p:txBody>
        </p:sp>
        <p:sp>
          <p:nvSpPr>
            <p:cNvPr id="40" name="TextBox 40"/>
            <p:cNvSpPr txBox="1"/>
            <p:nvPr/>
          </p:nvSpPr>
          <p:spPr>
            <a:xfrm>
              <a:off x="871156" y="4977051"/>
              <a:ext cx="2729951"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180 h train · 60 h validation · 60 h test</a:t>
              </a:r>
            </a:p>
          </p:txBody>
        </p:sp>
        <p:sp>
          <p:nvSpPr>
            <p:cNvPr id="41" name="Rectangle 41"/>
            <p:cNvSpPr/>
            <p:nvPr/>
          </p:nvSpPr>
          <p:spPr>
            <a:xfrm>
              <a:off x="8229600" y="4686300"/>
              <a:ext cx="3352800" cy="438150"/>
            </a:xfrm>
            <a:prstGeom prst="roundRect">
              <a:avLst>
                <a:gd name="adj" fmla="val 17391"/>
              </a:avLst>
            </a:prstGeom>
            <a:solidFill>
              <a:schemeClr val="accent6"/>
            </a:solidFill>
            <a:ln w="14288">
              <a:solidFill>
                <a:srgbClr val="284A66"/>
              </a:solidFill>
            </a:ln>
          </p:spPr>
        </p:sp>
        <p:sp>
          <p:nvSpPr>
            <p:cNvPr id="42" name="TextBox 42"/>
            <p:cNvSpPr txBox="1"/>
            <p:nvPr/>
          </p:nvSpPr>
          <p:spPr>
            <a:xfrm>
              <a:off x="9091785" y="4849178"/>
              <a:ext cx="1628430"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final policy: 40 epochs</a:t>
              </a:r>
            </a:p>
          </p:txBody>
        </p:sp>
      </p:grpSp>
      <p:sp>
        <p:nvSpPr>
          <p:cNvPr id="44" name="cue_s09_c1_put_concrete_numbers_front_collision" title="cue_s09_c1_put_concrete_numbers_front_collision" descr="cue_s09_c1_put_concrete_numbers_front_collision &quot;To put concrete numbers on it: front collisions drop from fourteen to nine against the strongest baseline, roughly a thirty-six percent reduction."/>
          <p:cNvSpPr/>
          <p:nvPr/>
        </p:nvSpPr>
        <p:spPr>
          <a:xfrm>
            <a:off x="609600" y="1581454"/>
            <a:ext cx="109728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9_c2_distance_to_reference_trajectory_fai" title="cue_s09_c2_distance_to_reference_trajectory_fai" descr="cue_s09_c2_distance_to_reference_trajectory_fai Distance-to-reference-trajectory failures fall from thirty-five to twenty-eight, about a twenty percent reduction. Side collisions go from fifty-five to forty-seven."/>
          <p:cNvSpPr/>
          <p:nvPr/>
        </p:nvSpPr>
        <p:spPr>
          <a:xfrm>
            <a:off x="609600" y="2990773"/>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3_overall_reports_improvements_around" title="cue_s09_c3_overall_reports_improvements_around" descr="cue_s09_c3_overall_reports_improvements_around Overall the paper reports improvements of around thirty-five percent on some metrics. The best upsampling factor is around fifty."/>
          <p:cNvSpPr/>
          <p:nvPr/>
        </p:nvSpPr>
        <p:spPr>
          <a:xfrm>
            <a:off x="6248399" y="2990773"/>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4_models_trained_one_hundred_eighty" title="cue_s09_c4_models_trained_one_hundred_eighty" descr="cue_s09_c4_models_trained_one_hundred_eighty The models were trained on one hundred and eighty hours of driving data, validated and tested on sixty hours each, with the final policy trained for forty epochs.&quot;"/>
          <p:cNvSpPr/>
          <p:nvPr/>
        </p:nvSpPr>
        <p:spPr>
          <a:xfrm>
            <a:off x="609600" y="4572228"/>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451825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Simpler, and safer, planners</a:t>
            </a:r>
          </a:p>
        </p:txBody>
      </p:sp>
      <p:grpSp>
        <p:nvGrpSpPr>
          <p:cNvPr id="12" name="Group 12"/>
          <p:cNvGrpSpPr/>
          <p:nvPr/>
        </p:nvGrpSpPr>
        <p:grpSpPr>
          <a:xfrm>
            <a:off x="609600" y="1676400"/>
            <a:ext cx="5334000" cy="1714500"/>
            <a:chOff x="609600" y="1676400"/>
            <a:chExt cx="5334000" cy="1714500"/>
          </a:xfrm>
        </p:grpSpPr>
        <p:sp>
          <p:nvSpPr>
            <p:cNvPr id="5" name="Rectangle 5"/>
            <p:cNvSpPr/>
            <p:nvPr/>
          </p:nvSpPr>
          <p:spPr>
            <a:xfrm>
              <a:off x="609600" y="1676400"/>
              <a:ext cx="5334000" cy="1714500"/>
            </a:xfrm>
            <a:prstGeom prst="roundRect">
              <a:avLst>
                <a:gd name="adj" fmla="val 7778"/>
              </a:avLst>
            </a:prstGeom>
            <a:solidFill>
              <a:schemeClr val="accent5"/>
            </a:solidFill>
            <a:ln w="14288">
              <a:solidFill>
                <a:srgbClr val="284A66"/>
              </a:solidFill>
            </a:ln>
          </p:spPr>
        </p:sp>
        <p:sp>
          <p:nvSpPr>
            <p:cNvPr id="6" name="Rectangle 6"/>
            <p:cNvSpPr/>
            <p:nvPr/>
          </p:nvSpPr>
          <p:spPr>
            <a:xfrm>
              <a:off x="609600" y="1676400"/>
              <a:ext cx="57150" cy="1714500"/>
            </a:xfrm>
            <a:prstGeom prst="roundRect">
              <a:avLst>
                <a:gd name="adj" fmla="val 50000"/>
              </a:avLst>
            </a:prstGeom>
            <a:solidFill>
              <a:schemeClr val="accent2"/>
            </a:solidFill>
            <a:ln>
              <a:noFill/>
            </a:ln>
          </p:spPr>
        </p:sp>
        <p:sp>
          <p:nvSpPr>
            <p:cNvPr id="7" name="Ellipse 7"/>
            <p:cNvSpPr/>
            <p:nvPr/>
          </p:nvSpPr>
          <p:spPr>
            <a:xfrm>
              <a:off x="838200" y="1962150"/>
              <a:ext cx="190500" cy="190500"/>
            </a:xfrm>
            <a:prstGeom prst="ellipse">
              <a:avLst/>
            </a:prstGeom>
            <a:solidFill>
              <a:schemeClr val="accent2"/>
            </a:solidFill>
            <a:ln>
              <a:noFill/>
            </a:ln>
          </p:spPr>
        </p:sp>
        <p:sp>
          <p:nvSpPr>
            <p:cNvPr id="8" name="TextBox 8"/>
            <p:cNvSpPr txBox="1"/>
            <p:nvPr/>
          </p:nvSpPr>
          <p:spPr>
            <a:xfrm>
              <a:off x="1155573" y="1862614"/>
              <a:ext cx="328943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No diff sim, no human, no CL training</a:t>
              </a:r>
            </a:p>
          </p:txBody>
        </p:sp>
        <p:sp>
          <p:nvSpPr>
            <p:cNvPr id="9" name="TextBox 9"/>
            <p:cNvSpPr txBox="1"/>
            <p:nvPr/>
          </p:nvSpPr>
          <p:spPr>
            <a:xfrm>
              <a:off x="870966" y="2458402"/>
              <a:ext cx="40157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You do not need a differentiable simulator, a human in the</a:t>
              </a:r>
            </a:p>
          </p:txBody>
        </p:sp>
        <p:sp>
          <p:nvSpPr>
            <p:cNvPr id="10" name="TextBox 10"/>
            <p:cNvSpPr txBox="1"/>
            <p:nvPr/>
          </p:nvSpPr>
          <p:spPr>
            <a:xfrm>
              <a:off x="870966" y="2658428"/>
              <a:ext cx="398969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loop, or expensive closed-loop training to get closed-loop</a:t>
              </a:r>
            </a:p>
          </p:txBody>
        </p:sp>
        <p:sp>
          <p:nvSpPr>
            <p:cNvPr id="11" name="TextBox 11"/>
            <p:cNvSpPr txBox="1"/>
            <p:nvPr/>
          </p:nvSpPr>
          <p:spPr>
            <a:xfrm>
              <a:off x="870966" y="2858452"/>
              <a:ext cx="6750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benefits.</a:t>
              </a:r>
            </a:p>
          </p:txBody>
        </p:sp>
      </p:grpSp>
      <p:grpSp>
        <p:nvGrpSpPr>
          <p:cNvPr id="20" name="Group 20"/>
          <p:cNvGrpSpPr/>
          <p:nvPr/>
        </p:nvGrpSpPr>
        <p:grpSpPr>
          <a:xfrm>
            <a:off x="6248400" y="1676400"/>
            <a:ext cx="5334000" cy="1714500"/>
            <a:chOff x="6248400" y="1676400"/>
            <a:chExt cx="5334000" cy="1714500"/>
          </a:xfrm>
        </p:grpSpPr>
        <p:sp>
          <p:nvSpPr>
            <p:cNvPr id="13" name="Rectangle 13"/>
            <p:cNvSpPr/>
            <p:nvPr/>
          </p:nvSpPr>
          <p:spPr>
            <a:xfrm>
              <a:off x="6248400" y="1676400"/>
              <a:ext cx="5334000" cy="1714500"/>
            </a:xfrm>
            <a:prstGeom prst="roundRect">
              <a:avLst>
                <a:gd name="adj" fmla="val 7778"/>
              </a:avLst>
            </a:prstGeom>
            <a:solidFill>
              <a:schemeClr val="accent5"/>
            </a:solidFill>
            <a:ln w="14288">
              <a:solidFill>
                <a:srgbClr val="284A66"/>
              </a:solidFill>
            </a:ln>
          </p:spPr>
        </p:sp>
        <p:sp>
          <p:nvSpPr>
            <p:cNvPr id="14" name="Rectangle 14"/>
            <p:cNvSpPr/>
            <p:nvPr/>
          </p:nvSpPr>
          <p:spPr>
            <a:xfrm>
              <a:off x="6248400" y="1676400"/>
              <a:ext cx="57150" cy="1714500"/>
            </a:xfrm>
            <a:prstGeom prst="roundRect">
              <a:avLst>
                <a:gd name="adj" fmla="val 50000"/>
              </a:avLst>
            </a:prstGeom>
            <a:solidFill>
              <a:srgbClr val="F4C24C"/>
            </a:solidFill>
            <a:ln>
              <a:noFill/>
            </a:ln>
          </p:spPr>
        </p:sp>
        <p:sp>
          <p:nvSpPr>
            <p:cNvPr id="15" name="Ellipse 15"/>
            <p:cNvSpPr/>
            <p:nvPr/>
          </p:nvSpPr>
          <p:spPr>
            <a:xfrm>
              <a:off x="6477000" y="1962150"/>
              <a:ext cx="190500" cy="190500"/>
            </a:xfrm>
            <a:prstGeom prst="ellipse">
              <a:avLst/>
            </a:prstGeom>
            <a:solidFill>
              <a:srgbClr val="F4C24C"/>
            </a:solidFill>
            <a:ln>
              <a:noFill/>
            </a:ln>
          </p:spPr>
        </p:sp>
        <p:sp>
          <p:nvSpPr>
            <p:cNvPr id="16" name="TextBox 16"/>
            <p:cNvSpPr txBox="1"/>
            <p:nvPr/>
          </p:nvSpPr>
          <p:spPr>
            <a:xfrm>
              <a:off x="6794373" y="1862614"/>
              <a:ext cx="312239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Run once, note failures, upsample,</a:t>
              </a:r>
            </a:p>
          </p:txBody>
        </p:sp>
        <p:sp>
          <p:nvSpPr>
            <p:cNvPr id="17" name="TextBox 17"/>
            <p:cNvSpPr txBox="1"/>
            <p:nvPr/>
          </p:nvSpPr>
          <p:spPr>
            <a:xfrm>
              <a:off x="6794373" y="2091214"/>
              <a:ext cx="66429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retrain</a:t>
              </a:r>
            </a:p>
          </p:txBody>
        </p:sp>
        <p:sp>
          <p:nvSpPr>
            <p:cNvPr id="18" name="TextBox 18"/>
            <p:cNvSpPr txBox="1"/>
            <p:nvPr/>
          </p:nvSpPr>
          <p:spPr>
            <a:xfrm>
              <a:off x="6509766" y="2458402"/>
              <a:ext cx="43550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Just run the policy once in a simulator, mark the scenes where</a:t>
              </a:r>
            </a:p>
          </p:txBody>
        </p:sp>
        <p:sp>
          <p:nvSpPr>
            <p:cNvPr id="19" name="TextBox 19"/>
            <p:cNvSpPr txBox="1"/>
            <p:nvPr/>
          </p:nvSpPr>
          <p:spPr>
            <a:xfrm>
              <a:off x="6509766" y="2658428"/>
              <a:ext cx="42229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 fails, upsample those scenes, and retrain the final policy.</a:t>
              </a:r>
            </a:p>
          </p:txBody>
        </p:sp>
      </p:grpSp>
      <p:grpSp>
        <p:nvGrpSpPr>
          <p:cNvPr id="27" name="Group 27"/>
          <p:cNvGrpSpPr/>
          <p:nvPr/>
        </p:nvGrpSpPr>
        <p:grpSpPr>
          <a:xfrm>
            <a:off x="609600" y="3562350"/>
            <a:ext cx="5334000" cy="1714500"/>
            <a:chOff x="609600" y="3562350"/>
            <a:chExt cx="5334000" cy="1714500"/>
          </a:xfrm>
        </p:grpSpPr>
        <p:sp>
          <p:nvSpPr>
            <p:cNvPr id="21" name="Rectangle 21"/>
            <p:cNvSpPr/>
            <p:nvPr/>
          </p:nvSpPr>
          <p:spPr>
            <a:xfrm>
              <a:off x="609600" y="3562350"/>
              <a:ext cx="5334000" cy="1714500"/>
            </a:xfrm>
            <a:prstGeom prst="roundRect">
              <a:avLst>
                <a:gd name="adj" fmla="val 7778"/>
              </a:avLst>
            </a:prstGeom>
            <a:solidFill>
              <a:schemeClr val="accent5"/>
            </a:solidFill>
            <a:ln w="14288">
              <a:solidFill>
                <a:srgbClr val="284A66"/>
              </a:solidFill>
            </a:ln>
          </p:spPr>
        </p:sp>
        <p:sp>
          <p:nvSpPr>
            <p:cNvPr id="22" name="Rectangle 22"/>
            <p:cNvSpPr/>
            <p:nvPr/>
          </p:nvSpPr>
          <p:spPr>
            <a:xfrm>
              <a:off x="609600" y="3562350"/>
              <a:ext cx="57150" cy="1714500"/>
            </a:xfrm>
            <a:prstGeom prst="roundRect">
              <a:avLst>
                <a:gd name="adj" fmla="val 50000"/>
              </a:avLst>
            </a:prstGeom>
            <a:solidFill>
              <a:srgbClr val="46C98B"/>
            </a:solidFill>
            <a:ln>
              <a:noFill/>
            </a:ln>
          </p:spPr>
        </p:sp>
        <p:sp>
          <p:nvSpPr>
            <p:cNvPr id="23" name="Ellipse 23"/>
            <p:cNvSpPr/>
            <p:nvPr/>
          </p:nvSpPr>
          <p:spPr>
            <a:xfrm>
              <a:off x="838200" y="3848100"/>
              <a:ext cx="190500" cy="190500"/>
            </a:xfrm>
            <a:prstGeom prst="ellipse">
              <a:avLst/>
            </a:prstGeom>
            <a:solidFill>
              <a:srgbClr val="46C98B"/>
            </a:solidFill>
            <a:ln>
              <a:noFill/>
            </a:ln>
          </p:spPr>
        </p:sp>
        <p:sp>
          <p:nvSpPr>
            <p:cNvPr id="24" name="TextBox 24"/>
            <p:cNvSpPr txBox="1"/>
            <p:nvPr/>
          </p:nvSpPr>
          <p:spPr>
            <a:xfrm>
              <a:off x="1155573" y="3748564"/>
              <a:ext cx="337532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Significant, latency-free, any metric</a:t>
              </a:r>
            </a:p>
          </p:txBody>
        </p:sp>
        <p:sp>
          <p:nvSpPr>
            <p:cNvPr id="25" name="TextBox 25"/>
            <p:cNvSpPr txBox="1"/>
            <p:nvPr/>
          </p:nvSpPr>
          <p:spPr>
            <a:xfrm>
              <a:off x="870966" y="4344352"/>
              <a:ext cx="402940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recipe delivers significant collision reductions, works</a:t>
              </a:r>
            </a:p>
          </p:txBody>
        </p:sp>
        <p:sp>
          <p:nvSpPr>
            <p:cNvPr id="26" name="TextBox 26"/>
            <p:cNvSpPr txBox="1"/>
            <p:nvPr/>
          </p:nvSpPr>
          <p:spPr>
            <a:xfrm>
              <a:off x="870966" y="4544378"/>
              <a:ext cx="41593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 any closed-loop metric, and adds no inference latency.</a:t>
              </a:r>
            </a:p>
          </p:txBody>
        </p:sp>
      </p:grpSp>
      <p:grpSp>
        <p:nvGrpSpPr>
          <p:cNvPr id="34" name="Group 34"/>
          <p:cNvGrpSpPr/>
          <p:nvPr/>
        </p:nvGrpSpPr>
        <p:grpSpPr>
          <a:xfrm>
            <a:off x="6248400" y="3562350"/>
            <a:ext cx="5334000" cy="1714500"/>
            <a:chOff x="6248400" y="3562350"/>
            <a:chExt cx="5334000" cy="1714500"/>
          </a:xfrm>
        </p:grpSpPr>
        <p:sp>
          <p:nvSpPr>
            <p:cNvPr id="28" name="Rectangle 28"/>
            <p:cNvSpPr/>
            <p:nvPr/>
          </p:nvSpPr>
          <p:spPr>
            <a:xfrm>
              <a:off x="6248400" y="3562350"/>
              <a:ext cx="5334000" cy="1714500"/>
            </a:xfrm>
            <a:prstGeom prst="roundRect">
              <a:avLst>
                <a:gd name="adj" fmla="val 7778"/>
              </a:avLst>
            </a:prstGeom>
            <a:solidFill>
              <a:schemeClr val="accent5"/>
            </a:solidFill>
            <a:ln w="14288">
              <a:solidFill>
                <a:srgbClr val="284A66"/>
              </a:solidFill>
            </a:ln>
          </p:spPr>
        </p:sp>
        <p:sp>
          <p:nvSpPr>
            <p:cNvPr id="29" name="Rectangle 29"/>
            <p:cNvSpPr/>
            <p:nvPr/>
          </p:nvSpPr>
          <p:spPr>
            <a:xfrm>
              <a:off x="6248400" y="3562350"/>
              <a:ext cx="57150" cy="1714500"/>
            </a:xfrm>
            <a:prstGeom prst="roundRect">
              <a:avLst>
                <a:gd name="adj" fmla="val 50000"/>
              </a:avLst>
            </a:prstGeom>
            <a:solidFill>
              <a:srgbClr val="33D6C0"/>
            </a:solidFill>
            <a:ln>
              <a:noFill/>
            </a:ln>
          </p:spPr>
        </p:sp>
        <p:sp>
          <p:nvSpPr>
            <p:cNvPr id="30" name="Ellipse 30"/>
            <p:cNvSpPr/>
            <p:nvPr/>
          </p:nvSpPr>
          <p:spPr>
            <a:xfrm>
              <a:off x="6477000" y="3848100"/>
              <a:ext cx="190500" cy="190500"/>
            </a:xfrm>
            <a:prstGeom prst="ellipse">
              <a:avLst/>
            </a:prstGeom>
            <a:solidFill>
              <a:srgbClr val="33D6C0"/>
            </a:solidFill>
            <a:ln>
              <a:noFill/>
            </a:ln>
          </p:spPr>
        </p:sp>
        <p:sp>
          <p:nvSpPr>
            <p:cNvPr id="31" name="TextBox 31"/>
            <p:cNvSpPr txBox="1"/>
            <p:nvPr/>
          </p:nvSpPr>
          <p:spPr>
            <a:xfrm>
              <a:off x="6794373" y="3748564"/>
              <a:ext cx="223504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 clean theoretical story</a:t>
              </a:r>
            </a:p>
          </p:txBody>
        </p:sp>
        <p:sp>
          <p:nvSpPr>
            <p:cNvPr id="32" name="TextBox 32"/>
            <p:cNvSpPr txBox="1"/>
            <p:nvPr/>
          </p:nvSpPr>
          <p:spPr>
            <a:xfrm>
              <a:off x="6509766" y="4344352"/>
              <a:ext cx="42980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Weighting scenes by failure is closely connected to correcting</a:t>
              </a:r>
            </a:p>
          </p:txBody>
        </p:sp>
        <p:sp>
          <p:nvSpPr>
            <p:cNvPr id="33" name="TextBox 33"/>
            <p:cNvSpPr txBox="1"/>
            <p:nvPr/>
          </p:nvSpPr>
          <p:spPr>
            <a:xfrm>
              <a:off x="6509766" y="4544378"/>
              <a:ext cx="34949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covariate shift through density-ratio estimation.</a:t>
              </a:r>
            </a:p>
          </p:txBody>
        </p:sp>
      </p:grpSp>
      <p:sp>
        <p:nvSpPr>
          <p:cNvPr id="35" name="Line 35"/>
          <p:cNvSpPr/>
          <p:nvPr/>
        </p:nvSpPr>
        <p:spPr>
          <a:xfrm>
            <a:off x="609600" y="5562600"/>
            <a:ext cx="10972800" cy="9525"/>
          </a:xfrm>
          <a:custGeom>
            <a:avLst/>
            <a:gdLst/>
            <a:ahLst/>
            <a:cxnLst/>
            <a:rect l="l" t="t" r="r" b="b"/>
            <a:pathLst>
              <a:path w="10972800" h="9525">
                <a:moveTo>
                  <a:pt x="0" y="0"/>
                </a:moveTo>
                <a:lnTo>
                  <a:pt x="10972800" y="0"/>
                </a:lnTo>
              </a:path>
            </a:pathLst>
          </a:custGeom>
          <a:noFill/>
          <a:ln w="9525" cap="rnd">
            <a:solidFill>
              <a:srgbClr val="284A66"/>
            </a:solidFill>
          </a:ln>
        </p:spPr>
        <p:txBody>
          <a:bodyPr/>
          <a:p/>
        </p:txBody>
      </p:sp>
      <p:sp>
        <p:nvSpPr>
          <p:cNvPr id="36" name="Rectangle 36"/>
          <p:cNvSpPr/>
          <p:nvPr/>
        </p:nvSpPr>
        <p:spPr>
          <a:xfrm>
            <a:off x="781050" y="5781675"/>
            <a:ext cx="266700" cy="476250"/>
          </a:xfrm>
          <a:prstGeom prst="roundRect">
            <a:avLst>
              <a:gd name="adj" fmla="val 42857"/>
            </a:avLst>
          </a:prstGeom>
          <a:solidFill>
            <a:schemeClr val="accent6"/>
          </a:solidFill>
          <a:ln w="20955">
            <a:solidFill>
              <a:schemeClr val="accent2"/>
            </a:solidFill>
          </a:ln>
        </p:spPr>
        <p:txBody>
          <a:bodyPr/>
          <a:p/>
        </p:txBody>
      </p:sp>
      <p:sp>
        <p:nvSpPr>
          <p:cNvPr id="37" name="Rectangle 37"/>
          <p:cNvSpPr/>
          <p:nvPr/>
        </p:nvSpPr>
        <p:spPr>
          <a:xfrm>
            <a:off x="838200" y="5867400"/>
            <a:ext cx="152400" cy="142875"/>
          </a:xfrm>
          <a:prstGeom prst="roundRect">
            <a:avLst>
              <a:gd name="adj" fmla="val 26667"/>
            </a:avLst>
          </a:prstGeom>
          <a:solidFill>
            <a:schemeClr val="accent2">
              <a:alpha val="60000"/>
            </a:schemeClr>
          </a:solidFill>
          <a:ln>
            <a:noFill/>
          </a:ln>
        </p:spPr>
        <p:txBody>
          <a:bodyPr/>
          <a:p/>
        </p:txBody>
      </p:sp>
      <p:sp>
        <p:nvSpPr>
          <p:cNvPr id="38" name="Rectangle 38"/>
          <p:cNvSpPr/>
          <p:nvPr/>
        </p:nvSpPr>
        <p:spPr>
          <a:xfrm>
            <a:off x="838200" y="6067425"/>
            <a:ext cx="152400" cy="104775"/>
          </a:xfrm>
          <a:prstGeom prst="roundRect">
            <a:avLst>
              <a:gd name="adj" fmla="val 36364"/>
            </a:avLst>
          </a:prstGeom>
          <a:solidFill>
            <a:schemeClr val="accent2">
              <a:alpha val="32000"/>
            </a:schemeClr>
          </a:solidFill>
          <a:ln>
            <a:noFill/>
          </a:ln>
        </p:spPr>
        <p:txBody>
          <a:bodyPr/>
          <a:p/>
        </p:txBody>
      </p:sp>
      <p:sp>
        <p:nvSpPr>
          <p:cNvPr id="39" name="Line 39"/>
          <p:cNvSpPr/>
          <p:nvPr/>
        </p:nvSpPr>
        <p:spPr>
          <a:xfrm>
            <a:off x="809625" y="6000750"/>
            <a:ext cx="209550" cy="9525"/>
          </a:xfrm>
          <a:custGeom>
            <a:avLst/>
            <a:gdLst/>
            <a:ahLst/>
            <a:cxnLst/>
            <a:rect l="l" t="t" r="r" b="b"/>
            <a:pathLst>
              <a:path w="209550" h="9525">
                <a:moveTo>
                  <a:pt x="0" y="0"/>
                </a:moveTo>
                <a:lnTo>
                  <a:pt x="209550" y="0"/>
                </a:lnTo>
              </a:path>
            </a:pathLst>
          </a:custGeom>
          <a:noFill/>
          <a:ln w="11430" cap="flat">
            <a:solidFill>
              <a:schemeClr val="accent2"/>
            </a:solidFill>
          </a:ln>
        </p:spPr>
        <p:txBody>
          <a:bodyPr/>
          <a:p/>
        </p:txBody>
      </p:sp>
      <p:sp>
        <p:nvSpPr>
          <p:cNvPr id="40" name="Ellipse 40"/>
          <p:cNvSpPr/>
          <p:nvPr/>
        </p:nvSpPr>
        <p:spPr>
          <a:xfrm>
            <a:off x="1143000" y="5962650"/>
            <a:ext cx="114300" cy="114300"/>
          </a:xfrm>
          <a:prstGeom prst="ellipse">
            <a:avLst/>
          </a:prstGeom>
          <a:solidFill>
            <a:srgbClr val="F2685C"/>
          </a:solidFill>
          <a:ln>
            <a:noFill/>
          </a:ln>
        </p:spPr>
        <p:txBody>
          <a:bodyPr/>
          <a:p/>
        </p:txBody>
      </p:sp>
      <p:sp>
        <p:nvSpPr>
          <p:cNvPr id="41" name="TextBox 41"/>
          <p:cNvSpPr txBox="1"/>
          <p:nvPr/>
        </p:nvSpPr>
        <p:spPr>
          <a:xfrm>
            <a:off x="1319212" y="5966222"/>
            <a:ext cx="374917"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front</a:t>
            </a:r>
          </a:p>
        </p:txBody>
      </p:sp>
      <p:sp>
        <p:nvSpPr>
          <p:cNvPr id="42" name="Ellipse 42"/>
          <p:cNvSpPr/>
          <p:nvPr/>
        </p:nvSpPr>
        <p:spPr>
          <a:xfrm>
            <a:off x="2057400" y="5962650"/>
            <a:ext cx="114300" cy="114300"/>
          </a:xfrm>
          <a:prstGeom prst="ellipse">
            <a:avLst/>
          </a:prstGeom>
          <a:solidFill>
            <a:srgbClr val="F4C24C"/>
          </a:solidFill>
          <a:ln>
            <a:noFill/>
          </a:ln>
        </p:spPr>
        <p:txBody>
          <a:bodyPr/>
          <a:p/>
        </p:txBody>
      </p:sp>
      <p:sp>
        <p:nvSpPr>
          <p:cNvPr id="43" name="TextBox 43"/>
          <p:cNvSpPr txBox="1"/>
          <p:nvPr/>
        </p:nvSpPr>
        <p:spPr>
          <a:xfrm>
            <a:off x="2233612" y="5966222"/>
            <a:ext cx="268621"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side</a:t>
            </a:r>
          </a:p>
        </p:txBody>
      </p:sp>
      <p:sp>
        <p:nvSpPr>
          <p:cNvPr id="44" name="Ellipse 44"/>
          <p:cNvSpPr/>
          <p:nvPr/>
        </p:nvSpPr>
        <p:spPr>
          <a:xfrm>
            <a:off x="2971800" y="5962650"/>
            <a:ext cx="114300" cy="114300"/>
          </a:xfrm>
          <a:prstGeom prst="ellipse">
            <a:avLst/>
          </a:prstGeom>
          <a:solidFill>
            <a:srgbClr val="33D6C0"/>
          </a:solidFill>
          <a:ln>
            <a:noFill/>
          </a:ln>
        </p:spPr>
        <p:txBody>
          <a:bodyPr/>
          <a:p/>
        </p:txBody>
      </p:sp>
      <p:sp>
        <p:nvSpPr>
          <p:cNvPr id="45" name="TextBox 45"/>
          <p:cNvSpPr txBox="1"/>
          <p:nvPr/>
        </p:nvSpPr>
        <p:spPr>
          <a:xfrm>
            <a:off x="3148012" y="5966222"/>
            <a:ext cx="301839"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rear</a:t>
            </a:r>
          </a:p>
        </p:txBody>
      </p:sp>
      <p:sp>
        <p:nvSpPr>
          <p:cNvPr id="46" name="TextBox 46"/>
          <p:cNvSpPr txBox="1"/>
          <p:nvPr/>
        </p:nvSpPr>
        <p:spPr>
          <a:xfrm>
            <a:off x="6745062" y="5906452"/>
            <a:ext cx="484267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CW-ERM · Closed-loop Weighted ERM · Woven Planet · NeurIPS 2022</a:t>
            </a:r>
          </a:p>
        </p:txBody>
      </p:sp>
      <p:sp>
        <p:nvSpPr>
          <p:cNvPr id="47" name="cue_s10_c1_takeaway_refreshingly_practical_you" title="cue_s10_c1_takeaway_refreshingly_practical_you" descr="cue_s10_c1_takeaway_refreshingly_practical_you &quot;The takeaway is refreshingly practical. You do not need a differentiable simulator, a human in the loop, or expensive closed-loop training to get closed-loop benefits."/>
          <p:cNvSpPr/>
          <p:nvPr/>
        </p:nvSpPr>
        <p:spPr>
          <a:xfrm>
            <a:off x="609600" y="167609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10_c2_you_just_need_run_your" title="cue_s10_c2_you_just_need_run_your" descr="cue_s10_c2_you_just_need_run_your You just need to run your policy once in a simulator, note where it fails, upsample those scenes, and retrain."/>
          <p:cNvSpPr/>
          <p:nvPr/>
        </p:nvSpPr>
        <p:spPr>
          <a:xfrm>
            <a:off x="6248399" y="167609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10_c3_simple_recipe_delivers_significant_r" title="cue_s10_c3_simple_recipe_delivers_significant_r" descr="cue_s10_c3_simple_recipe_delivers_significant_r That simple recipe delivers significant reductions in collisions and other non-differentiable metrics, works with any closed-loop metric, and adds no inference latency."/>
          <p:cNvSpPr/>
          <p:nvPr/>
        </p:nvSpPr>
        <p:spPr>
          <a:xfrm>
            <a:off x="609600" y="35620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10_c4_comes_clean_theoretical_story_weight" title="cue_s10_c4_comes_clean_theoretical_story_weight" descr="cue_s10_c4_comes_clean_theoretical_story_weight And it comes with a clean theoretical story: weighting scenes by failure is closely connected to correcting covariate shift through density-ratio estimation, a promising direction for making imitation-learned planners both simpler and safer.&quot;"/>
          <p:cNvSpPr/>
          <p:nvPr/>
        </p:nvSpPr>
        <p:spPr>
          <a:xfrm>
            <a:off x="6248399" y="35620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C1826"/>
      </a:lt1>
      <a:dk2>
        <a:srgbClr val="9DB3C8"/>
      </a:dk2>
      <a:lt2>
        <a:srgbClr val="0C1826"/>
      </a:lt2>
      <a:accent1>
        <a:srgbClr val="3E9BFF"/>
      </a:accent1>
      <a:accent2>
        <a:srgbClr val="3E9BFF"/>
      </a:accent2>
      <a:accent3>
        <a:srgbClr val="3E9BFF"/>
      </a:accent3>
      <a:accent4>
        <a:srgbClr val="8064A2"/>
      </a:accent4>
      <a:accent5>
        <a:srgbClr val="122539"/>
      </a:accent5>
      <a:accent6>
        <a:srgbClr val="173049"/>
      </a:accent6>
      <a:hlink>
        <a:srgbClr val="3E9BFF"/>
      </a:hlink>
      <a:folHlink>
        <a:srgbClr val="3E9BFF"/>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2026-07-16T13:36:48Z</dcterms:created>
  <dcterms:modified xsi:type="dcterms:W3CDTF">2026-07-16T13:36:48Z</dcterms:modified>
  <cp:category/>
  <cp:contentStatus/>
</cp:coreProperties>
</file>
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5152310"/>
          </a:xfrm>
          <a:prstGeom prst="roundRect">
            <a:avLst>
              <a:gd name="adj" fmla="val 3220"/>
            </a:avLst>
          </a:prstGeom>
          <a:solidFill>
            <a:srgbClr val="FFFFFF"/>
          </a:solidFill>
          <a:ln w="35560">
            <a:solidFill>
              <a:srgbClr val="0F607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6325651"/>
            <a:ext cx="16349682" cy="5507772"/>
          </a:xfrm>
          <a:prstGeom prst="roundRect">
            <a:avLst>
              <a:gd name="adj" fmla="val 3012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6325651"/>
            <a:ext cx="16349682" cy="23746301"/>
          </a:xfrm>
          <a:prstGeom prst="roundRect">
            <a:avLst>
              <a:gd name="adj" fmla="val 1014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6325651"/>
            <a:ext cx="16349821" cy="16708200"/>
          </a:xfrm>
          <a:prstGeom prst="roundRect">
            <a:avLst>
              <a:gd name="adj" fmla="val 1014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2165270"/>
            <a:ext cx="16349682" cy="5661680"/>
          </a:xfrm>
          <a:prstGeom prst="roundRect">
            <a:avLst>
              <a:gd name="adj" fmla="val 2931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1887" y="18158797"/>
            <a:ext cx="16349682" cy="4898112"/>
          </a:xfrm>
          <a:prstGeom prst="roundRect">
            <a:avLst>
              <a:gd name="adj" fmla="val 3387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04691" y="23365698"/>
            <a:ext cx="16349821" cy="6706254"/>
          </a:xfrm>
          <a:prstGeom prst="roundRect">
            <a:avLst>
              <a:gd name="adj" fmla="val 2474"/>
            </a:avLst>
          </a:prstGeom>
          <a:solidFill>
            <a:srgbClr val="E9F2F3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04691" y="23365698"/>
            <a:ext cx="53340" cy="6706254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1887" y="23388756"/>
            <a:ext cx="16349682" cy="6683196"/>
          </a:xfrm>
          <a:prstGeom prst="roundRect">
            <a:avLst>
              <a:gd name="adj" fmla="val 2483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2835" y="3993700"/>
            <a:ext cx="5048130" cy="1466836"/>
          </a:xfrm>
          <a:prstGeom prst="rect">
            <a:avLst/>
          </a:prstGeom>
        </p:spPr>
      </p:pic>
      <p:pic>
        <p:nvPicPr>
          <p:cNvPr id="12" name="Picture 11" descr="university-of-california-santa-barba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940" y="3993693"/>
            <a:ext cx="18335625" cy="146685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60777" y="6334541"/>
            <a:ext cx="16331902" cy="1180426"/>
          </a:xfrm>
          <a:prstGeom prst="roundRect">
            <a:avLst>
              <a:gd name="adj" fmla="val 14058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437179" y="6334541"/>
            <a:ext cx="16331902" cy="1180426"/>
          </a:xfrm>
          <a:prstGeom prst="roundRect">
            <a:avLst>
              <a:gd name="adj" fmla="val 14058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13581" y="6334541"/>
            <a:ext cx="16332041" cy="1180426"/>
          </a:xfrm>
          <a:prstGeom prst="roundRect">
            <a:avLst>
              <a:gd name="adj" fmla="val 14058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991" y="10364350"/>
            <a:ext cx="15573474" cy="14810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9991" y="10364350"/>
            <a:ext cx="124460" cy="1481019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592795" y="11435734"/>
            <a:ext cx="15573613" cy="1942188"/>
          </a:xfrm>
          <a:prstGeom prst="roundRect">
            <a:avLst>
              <a:gd name="adj" fmla="val 50000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0777" y="12174160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39991" y="16203969"/>
            <a:ext cx="15573474" cy="1647984"/>
          </a:xfrm>
          <a:prstGeom prst="roundRect">
            <a:avLst>
              <a:gd name="adj" fmla="val 12659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0777" y="18167687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7816393" y="18423135"/>
            <a:ext cx="15573474" cy="2551986"/>
          </a:xfrm>
          <a:prstGeom prst="roundRect">
            <a:avLst>
              <a:gd name="adj" fmla="val 8828"/>
            </a:avLst>
          </a:prstGeom>
          <a:solidFill>
            <a:srgbClr val="F1F5F6"/>
          </a:solidFill>
          <a:ln w="8890">
            <a:solidFill>
              <a:srgbClr val="B2C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592795" y="21018738"/>
            <a:ext cx="15573613" cy="15679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592795" y="21018738"/>
            <a:ext cx="15573613" cy="11557"/>
          </a:xfrm>
          <a:prstGeom prst="rect">
            <a:avLst/>
          </a:prstGeom>
          <a:solidFill>
            <a:srgbClr val="AB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258031" y="23374588"/>
            <a:ext cx="16287591" cy="1180425"/>
          </a:xfrm>
          <a:prstGeom prst="roundRect">
            <a:avLst>
              <a:gd name="adj" fmla="val 14058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0777" y="23397646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9991" y="25285660"/>
            <a:ext cx="15573474" cy="2702282"/>
          </a:xfrm>
          <a:prstGeom prst="roundRect">
            <a:avLst>
              <a:gd name="adj" fmla="val 2631"/>
            </a:avLst>
          </a:prstGeom>
          <a:gradFill rotWithShape="1" flip="none">
            <a:gsLst>
              <a:gs pos="0">
                <a:srgbClr val="E2ECEE"/>
              </a:gs>
              <a:gs pos="100000">
                <a:srgbClr val="F1F5F6"/>
              </a:gs>
            </a:gsLst>
            <a:lin ang="5400000" scaled="0"/>
          </a:gradFill>
          <a:ln w="8890">
            <a:solidFill>
              <a:srgbClr val="C3D7DB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637245" y="27404397"/>
            <a:ext cx="15529163" cy="2346821"/>
          </a:xfrm>
          <a:prstGeom prst="roundRect">
            <a:avLst>
              <a:gd name="adj" fmla="val 8889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9991" y="28375490"/>
            <a:ext cx="15573474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39991" y="28375490"/>
            <a:ext cx="15573474" cy="11557"/>
          </a:xfrm>
          <a:prstGeom prst="rect">
            <a:avLst/>
          </a:prstGeom>
          <a:solidFill>
            <a:srgbClr val="AB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592795" y="14254281"/>
            <a:ext cx="15573613" cy="4594602"/>
          </a:xfrm>
          <a:prstGeom prst="roundRect">
            <a:avLst>
              <a:gd name="adj" fmla="val 206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igur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93029" y="14254281"/>
            <a:ext cx="15573145" cy="4594602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7816393" y="21810087"/>
            <a:ext cx="15573474" cy="5951438"/>
          </a:xfrm>
          <a:prstGeom prst="roundRect">
            <a:avLst>
              <a:gd name="adj" fmla="val 159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16446" y="21810087"/>
            <a:ext cx="15573368" cy="5951438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1039991" y="22197496"/>
            <a:ext cx="3664763" cy="819825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Simulated SNN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61163" y="22197496"/>
            <a:ext cx="3048436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2-photon V1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6008" y="22197496"/>
            <a:ext cx="3080662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2-photon 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303079" y="22197496"/>
            <a:ext cx="3608090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Visnav (speed)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34044" y="25507910"/>
            <a:ext cx="6233557" cy="23052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134044" y="25507910"/>
            <a:ext cx="11557" cy="2305288"/>
          </a:xfrm>
          <a:prstGeom prst="rect">
            <a:avLst/>
          </a:prstGeom>
          <a:solidFill>
            <a:srgbClr val="C3D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7816393" y="10475198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7816393" y="12396827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816393" y="14318456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7816393" y="16240085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592795" y="8363545"/>
            <a:ext cx="8573989" cy="814407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592795" y="9169062"/>
            <a:ext cx="857398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166784" y="8363545"/>
            <a:ext cx="3499743" cy="814407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166784" y="9169062"/>
            <a:ext cx="349974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666527" y="8363545"/>
            <a:ext cx="3499881" cy="814407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6666527" y="9169062"/>
            <a:ext cx="349988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592795" y="9177952"/>
            <a:ext cx="8573989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4592795" y="9987915"/>
            <a:ext cx="857398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166784" y="9177952"/>
            <a:ext cx="3499743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166784" y="9987915"/>
            <a:ext cx="349974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666527" y="9177952"/>
            <a:ext cx="3499881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6666527" y="9987915"/>
            <a:ext cx="349988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4592795" y="9996805"/>
            <a:ext cx="8573989" cy="818852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4592795" y="10806767"/>
            <a:ext cx="857398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3166784" y="9996805"/>
            <a:ext cx="3499743" cy="818852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166784" y="10806767"/>
            <a:ext cx="349974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6666527" y="9996805"/>
            <a:ext cx="3499881" cy="818852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6666527" y="10806767"/>
            <a:ext cx="349988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51141" y="1043047"/>
            <a:ext cx="48930837" cy="13795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9445"/>
              </a:lnSpc>
              <a:spcBef>
                <a:spcPts val="0"/>
              </a:spcBef>
              <a:spcAft>
                <a:spcPts val="0"/>
              </a:spcAft>
            </a:pPr>
            <a:r>
              <a:rPr sz="8586" b="1" spc="-85">
                <a:solidFill>
                  <a:srgbClr val="0F6070"/>
                </a:solidFill>
                <a:latin typeface="Arial"/>
              </a:rPr>
              <a:t>Neuroformer: Multimodal &amp; Multitask Generative Pretraining for Brain Data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51141" y="2482532"/>
            <a:ext cx="48930837" cy="7797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Antonis Antoniades</a:t>
            </a:r>
            <a:r>
              <a:rPr sz="5749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4106" b="0">
                <a:solidFill>
                  <a:srgbClr val="1C1C1C"/>
                </a:solidFill>
                <a:latin typeface="Arial"/>
              </a:rPr>
              <a:t>, Yiyi Yu</a:t>
            </a:r>
            <a:r>
              <a:rPr sz="5749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4106" b="0">
                <a:solidFill>
                  <a:srgbClr val="1C1C1C"/>
                </a:solidFill>
                <a:latin typeface="Arial"/>
              </a:rPr>
              <a:t>, Joseph Canzano</a:t>
            </a:r>
            <a:r>
              <a:rPr sz="5749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4106" b="0">
                <a:solidFill>
                  <a:srgbClr val="1C1C1C"/>
                </a:solidFill>
                <a:latin typeface="Arial"/>
              </a:rPr>
              <a:t>, William Wang</a:t>
            </a:r>
            <a:r>
              <a:rPr sz="5749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4106" b="0">
                <a:solidFill>
                  <a:srgbClr val="1C1C1C"/>
                </a:solidFill>
                <a:latin typeface="Arial"/>
              </a:rPr>
              <a:t>, Spencer LaVere Smith</a:t>
            </a:r>
            <a:r>
              <a:rPr sz="5749" b="0" baseline="30000">
                <a:solidFill>
                  <a:srgbClr val="1C1C1C"/>
                </a:solidFill>
                <a:latin typeface="Arial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51141" y="3217346"/>
            <a:ext cx="48930837" cy="5929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430" b="0" spc="56" baseline="30000">
                <a:solidFill>
                  <a:srgbClr val="555555"/>
                </a:solidFill>
                <a:latin typeface="Arial"/>
              </a:rPr>
              <a:t>1</a:t>
            </a:r>
            <a:r>
              <a:rPr sz="2800" b="0" spc="56">
                <a:solidFill>
                  <a:srgbClr val="555555"/>
                </a:solidFill>
                <a:latin typeface="Arial"/>
              </a:rPr>
              <a:t> University of California, Santa Barbara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0777" y="6334541"/>
            <a:ext cx="16758622" cy="1357489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Problem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437179" y="6334541"/>
            <a:ext cx="16758622" cy="1357489"/>
          </a:xfrm>
          <a:prstGeom prst="rect">
            <a:avLst/>
          </a:prstGeom>
          <a:noFill/>
        </p:spPr>
        <p:txBody>
          <a:bodyPr wrap="non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Method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213581" y="6334541"/>
            <a:ext cx="16758761" cy="1357489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Key Results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9991" y="7835007"/>
            <a:ext cx="16000194" cy="2608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Modern experiments yield </a:t>
            </a:r>
            <a:r>
              <a:rPr sz="4106" b="1">
                <a:solidFill>
                  <a:srgbClr val="111111"/>
                </a:solidFill>
                <a:latin typeface="Arial"/>
              </a:rPr>
              <a:t>large-scale, multimodal spiking data</a:t>
            </a:r>
            <a:r>
              <a:rPr sz="4106" b="0">
                <a:solidFill>
                  <a:srgbClr val="1C1C1C"/>
                </a:solidFill>
                <a:latin typeface="Arial"/>
              </a:rPr>
              <a:t> whose scale and heterogeneity outstrip the classical tools built for small, single-modality recordings.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816393" y="8268533"/>
            <a:ext cx="16000194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Spike analysis reframed as </a:t>
            </a:r>
            <a:r>
              <a:rPr sz="4106" b="1">
                <a:solidFill>
                  <a:srgbClr val="111111"/>
                </a:solidFill>
                <a:latin typeface="Arial"/>
              </a:rPr>
              <a:t>autoregressive spatiotemporal generation</a:t>
            </a:r>
            <a:r>
              <a:rPr sz="4106" b="0">
                <a:solidFill>
                  <a:srgbClr val="1C1C1C"/>
                </a:solidFill>
                <a:latin typeface="Arial"/>
              </a:rPr>
              <a:t>, trained self-supervised: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9991" y="10364350"/>
            <a:ext cx="16000194" cy="1703171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A widening gap: data richness has outrun the methods to make sense of it.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592795" y="11435734"/>
            <a:ext cx="16000333" cy="2233516"/>
          </a:xfrm>
          <a:prstGeom prst="rect">
            <a:avLst/>
          </a:prstGeom>
          <a:noFill/>
        </p:spPr>
        <p:txBody>
          <a:bodyPr wrap="squar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0F6070"/>
                </a:solidFill>
                <a:latin typeface="Arial"/>
              </a:rPr>
              <a:t>+0.24 Pearson r over Lasso on mouse-speed decoding (0.97 vs 0.73)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0777" y="12174160"/>
            <a:ext cx="16758622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Motivation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9991" y="13674625"/>
            <a:ext cx="16000194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Pretrained transformers reshaped vision and language via self-supervised learning from raw data. Can the same generative recipe unlock scalable, transferable neural-spike analysis?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39991" y="16203969"/>
            <a:ext cx="16000194" cy="1895181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0F6070"/>
                </a:solidFill>
                <a:latin typeface="Arial"/>
              </a:rPr>
              <a:t>One general model, not many bespoke ones: multimodal, linear-scaling, transferable.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0777" y="18167687"/>
            <a:ext cx="16758622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Dataset / Benchmark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9991" y="19668152"/>
            <a:ext cx="16000194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Two validation levels: a </a:t>
            </a:r>
            <a:r>
              <a:rPr sz="4106" b="1">
                <a:solidFill>
                  <a:srgbClr val="111111"/>
                </a:solidFill>
                <a:latin typeface="Arial"/>
              </a:rPr>
              <a:t>simulated network</a:t>
            </a:r>
            <a:r>
              <a:rPr sz="4106" b="0">
                <a:solidFill>
                  <a:srgbClr val="1C1C1C"/>
                </a:solidFill>
                <a:latin typeface="Arial"/>
              </a:rPr>
              <a:t> with ground-truth connectivity, and </a:t>
            </a:r>
            <a:r>
              <a:rPr sz="4106" b="1">
                <a:solidFill>
                  <a:srgbClr val="111111"/>
                </a:solidFill>
                <a:latin typeface="Arial"/>
              </a:rPr>
              <a:t>real two-photon imaging</a:t>
            </a:r>
            <a:r>
              <a:rPr sz="4106" b="0">
                <a:solidFill>
                  <a:srgbClr val="1C1C1C"/>
                </a:solidFill>
                <a:latin typeface="Arial"/>
              </a:rPr>
              <a:t> of mouse cortex (386 neurons, V1 &amp; AL).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573529" y="20534788"/>
            <a:ext cx="8300834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217" b="0" i="1">
                <a:solidFill>
                  <a:srgbClr val="555555"/>
                </a:solidFill>
                <a:latin typeface="Cambria Math"/>
              </a:rPr>
              <a:t>Joint loss: contrastive alignment + neuron-ID + time-bin cross-entropy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592795" y="21018738"/>
            <a:ext cx="16000333" cy="1803168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Attention recovers directed circuitry that correlation cannot; pretraining transfers to behavior with few-shot fine-tuning.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258031" y="23374588"/>
            <a:ext cx="16714311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Takeaway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0777" y="23397646"/>
            <a:ext cx="16758622" cy="1357488"/>
          </a:xfrm>
          <a:prstGeom prst="rect">
            <a:avLst/>
          </a:prstGeom>
          <a:noFill/>
        </p:spPr>
        <p:txBody>
          <a:bodyPr wrap="square" lIns="379306" rIns="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Headline Numbers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637245" y="24875053"/>
            <a:ext cx="15955883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Treating neural spikes as an </a:t>
            </a:r>
            <a:r>
              <a:rPr sz="4106" b="1">
                <a:solidFill>
                  <a:srgbClr val="111111"/>
                </a:solidFill>
                <a:latin typeface="Arial"/>
              </a:rPr>
              <a:t>autoregressive, multimodal generation problem</a:t>
            </a:r>
            <a:r>
              <a:rPr sz="4106" b="0">
                <a:solidFill>
                  <a:srgbClr val="1C1C1C"/>
                </a:solidFill>
                <a:latin typeface="Arial"/>
              </a:rPr>
              <a:t> lets one self-supervised transformer recover circuit connectivity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and</a:t>
            </a:r>
            <a:r>
              <a:rPr sz="4106" b="0">
                <a:solidFill>
                  <a:srgbClr val="1C1C1C"/>
                </a:solidFill>
                <a:latin typeface="Arial"/>
              </a:rPr>
              <a:t> decode behavior from few examples.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637245" y="27404397"/>
            <a:ext cx="15955883" cy="2698844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The pretraining paradigm that reshaped vision and language now works for the brain — a path to scalable neuroscience foundation models.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39991" y="28375490"/>
            <a:ext cx="16000194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Pretrained few-shot models decode behavior with a fraction of the labels.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778535" y="10475198"/>
            <a:ext cx="15038052" cy="1850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Tokenize</a:t>
            </a:r>
            <a:r>
              <a:rPr sz="4106" b="0">
                <a:solidFill>
                  <a:srgbClr val="1C1C1C"/>
                </a:solidFill>
                <a:latin typeface="Arial"/>
              </a:rPr>
              <a:t> spikes into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Current</a:t>
            </a:r>
            <a:r>
              <a:rPr sz="4106" b="0">
                <a:solidFill>
                  <a:srgbClr val="1C1C1C"/>
                </a:solidFill>
                <a:latin typeface="Arial"/>
              </a:rPr>
              <a:t> &amp;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Past State</a:t>
            </a:r>
            <a:r>
              <a:rPr sz="4106" b="0">
                <a:solidFill>
                  <a:srgbClr val="1C1C1C"/>
                </a:solidFill>
                <a:latin typeface="Arial"/>
              </a:rPr>
              <a:t> windows; encode video (3D-conv patches) and behavior as feature streams.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778535" y="12396827"/>
            <a:ext cx="15038052" cy="1850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Align</a:t>
            </a:r>
            <a:r>
              <a:rPr sz="4106" b="0">
                <a:solidFill>
                  <a:srgbClr val="1C1C1C"/>
                </a:solidFill>
                <a:latin typeface="Arial"/>
              </a:rPr>
              <a:t> neural, visual &amp; behavioral tokens with a multimodal contrastive objective.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778535" y="14318456"/>
            <a:ext cx="15038052" cy="1850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Fuse</a:t>
            </a:r>
            <a:r>
              <a:rPr sz="4106" b="0">
                <a:solidFill>
                  <a:srgbClr val="1C1C1C"/>
                </a:solidFill>
                <a:latin typeface="Arial"/>
              </a:rPr>
              <a:t> via cascading cross-attention — cost O(T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c</a:t>
            </a:r>
            <a:r>
              <a:rPr sz="4106" b="0">
                <a:solidFill>
                  <a:srgbClr val="1C1C1C"/>
                </a:solidFill>
                <a:latin typeface="Arial"/>
              </a:rPr>
              <a:t>·T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f</a:t>
            </a:r>
            <a:r>
              <a:rPr sz="4106" b="0">
                <a:solidFill>
                  <a:srgbClr val="1C1C1C"/>
                </a:solidFill>
                <a:latin typeface="Arial"/>
              </a:rPr>
              <a:t>),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linear</a:t>
            </a:r>
            <a:r>
              <a:rPr sz="4106" b="0">
                <a:solidFill>
                  <a:srgbClr val="1C1C1C"/>
                </a:solidFill>
                <a:latin typeface="Arial"/>
              </a:rPr>
              <a:t> in features.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778535" y="16240085"/>
            <a:ext cx="15038052" cy="1850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Decode</a:t>
            </a:r>
            <a:r>
              <a:rPr sz="4106" b="0">
                <a:solidFill>
                  <a:srgbClr val="1C1C1C"/>
                </a:solidFill>
                <a:latin typeface="Arial"/>
              </a:rPr>
              <a:t> autoregressively: predict which neuron fires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and</a:t>
            </a:r>
            <a:r>
              <a:rPr sz="4106" b="0">
                <a:solidFill>
                  <a:srgbClr val="1C1C1C"/>
                </a:solidFill>
                <a:latin typeface="Arial"/>
              </a:rPr>
              <a:t> its sub-interval time bin.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5215790" y="18998485"/>
            <a:ext cx="14754344" cy="19178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1" i="1">
                <a:solidFill>
                  <a:srgbClr val="111111"/>
                </a:solidFill>
                <a:latin typeface="Arial"/>
              </a:rPr>
              <a:t>Fig 5.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(a) Predicted vs. true speed, r = 0.97. (b) A pretrained model fine-tuned on 1% of data beats a non-pretrained one trained on 10%. (c) Pretrained models (green) converge faster to lower behavior loss.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439387" y="27911127"/>
            <a:ext cx="14754206" cy="191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1" i="1">
                <a:solidFill>
                  <a:srgbClr val="111111"/>
                </a:solidFill>
                <a:latin typeface="Arial"/>
              </a:rPr>
              <a:t>Fig 1.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Neuroformer architecture: contrastive matching aligns modalities; cascading self- &amp; cross-attention fuse neural history, visual, and arbitrary modalities; the decoder reads out spike (neuron ID + Δt) tokens.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85855" y="25507910"/>
            <a:ext cx="8522741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0F6070"/>
                </a:solidFill>
                <a:latin typeface="Arial"/>
              </a:rPr>
              <a:t>0.97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85855" y="26882804"/>
            <a:ext cx="8522741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Pearson r · behavior decoding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85855" y="27404258"/>
            <a:ext cx="8522741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vs 0.73 for Lasso, same split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592795" y="8363545"/>
            <a:ext cx="8831208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Behavior decoding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166784" y="8363545"/>
            <a:ext cx="3604735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cond. 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6666527" y="8363545"/>
            <a:ext cx="3604877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cond. 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4592795" y="9177952"/>
            <a:ext cx="8831208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Lasso regression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3166784" y="9177952"/>
            <a:ext cx="3604735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0.62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6666527" y="9177952"/>
            <a:ext cx="3604877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0.73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592795" y="9996805"/>
            <a:ext cx="8831208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Neuroformer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166784" y="9996805"/>
            <a:ext cx="3604735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0.95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6666527" y="9996805"/>
            <a:ext cx="3604877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0F6070"/>
                </a:solidFill>
                <a:latin typeface="Arial"/>
              </a:rPr>
              <a:t>0.97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612298" y="25507910"/>
            <a:ext cx="1423580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p=.02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2176938" y="25641260"/>
            <a:ext cx="4316382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beats GLM, pop. response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612298" y="26363156"/>
            <a:ext cx="800496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572001" y="26496506"/>
            <a:ext cx="4031524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few-shot beats 10% data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612298" y="27218540"/>
            <a:ext cx="1704720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~100M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2449889" y="27351890"/>
            <a:ext cx="362362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params, largest model</a:t>
            </a:r>
          </a:p>
        </p:txBody>
      </p:sp>
      <p:pic>
        <p:nvPicPr>
          <p:cNvPr id="109" name="Picture 108" descr="eq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19499" y="19062799"/>
            <a:ext cx="14767262" cy="8642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
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5081190"/>
          </a:xfrm>
          <a:prstGeom prst="roundRect">
            <a:avLst>
              <a:gd name="adj" fmla="val 2799"/>
            </a:avLst>
          </a:prstGeom>
          <a:solidFill>
            <a:srgbClr val="F4E6EF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6254531"/>
            <a:ext cx="16349682" cy="6951841"/>
          </a:xfrm>
          <a:prstGeom prst="roundRect">
            <a:avLst>
              <a:gd name="adj" fmla="val 1193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428289" y="6254531"/>
            <a:ext cx="16349682" cy="17975580"/>
          </a:xfrm>
          <a:prstGeom prst="roundRect">
            <a:avLst>
              <a:gd name="adj" fmla="val 507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204691" y="6254531"/>
            <a:ext cx="16349821" cy="9740245"/>
          </a:xfrm>
          <a:prstGeom prst="roundRect">
            <a:avLst>
              <a:gd name="adj" fmla="val 851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1887" y="13538219"/>
            <a:ext cx="16349682" cy="16533733"/>
          </a:xfrm>
          <a:prstGeom prst="roundRect">
            <a:avLst>
              <a:gd name="adj" fmla="val 507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04691" y="16326623"/>
            <a:ext cx="16349821" cy="5278299"/>
          </a:xfrm>
          <a:prstGeom prst="roundRect">
            <a:avLst>
              <a:gd name="adj" fmla="val 1571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04691" y="21936769"/>
            <a:ext cx="16349821" cy="8135183"/>
          </a:xfrm>
          <a:prstGeom prst="roundRect">
            <a:avLst>
              <a:gd name="adj" fmla="val 1019"/>
            </a:avLst>
          </a:prstGeom>
          <a:solidFill>
            <a:srgbClr val="F6ECF1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04691" y="21936769"/>
            <a:ext cx="53340" cy="8135183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428289" y="24561958"/>
            <a:ext cx="16349682" cy="5509994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1862" y="3958157"/>
            <a:ext cx="3360559" cy="1466802"/>
          </a:xfrm>
          <a:prstGeom prst="rect">
            <a:avLst/>
          </a:prstGeom>
        </p:spPr>
      </p:pic>
      <p:pic>
        <p:nvPicPr>
          <p:cNvPr id="12" name="Picture 11" descr="hanyang-unive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9395" y="3958147"/>
            <a:ext cx="4465003" cy="146682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39991" y="6642635"/>
            <a:ext cx="3442791" cy="924560"/>
          </a:xfrm>
          <a:prstGeom prst="roundRect">
            <a:avLst>
              <a:gd name="adj" fmla="val 10256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816393" y="6642635"/>
            <a:ext cx="3125391" cy="924560"/>
          </a:xfrm>
          <a:prstGeom prst="roundRect">
            <a:avLst>
              <a:gd name="adj" fmla="val 10256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592795" y="6642635"/>
            <a:ext cx="4668639" cy="924560"/>
          </a:xfrm>
          <a:prstGeom prst="roundRect">
            <a:avLst>
              <a:gd name="adj" fmla="val 10256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39991" y="11172785"/>
            <a:ext cx="15573474" cy="1647984"/>
          </a:xfrm>
          <a:prstGeom prst="roundRect">
            <a:avLst>
              <a:gd name="adj" fmla="val 12659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9991" y="13926323"/>
            <a:ext cx="4153019" cy="924560"/>
          </a:xfrm>
          <a:prstGeom prst="roundRect">
            <a:avLst>
              <a:gd name="adj" fmla="val 10256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592795" y="16714727"/>
            <a:ext cx="6841828" cy="924560"/>
          </a:xfrm>
          <a:prstGeom prst="roundRect">
            <a:avLst>
              <a:gd name="adj" fmla="val 10256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592795" y="17959327"/>
            <a:ext cx="15573613" cy="3324583"/>
          </a:xfrm>
          <a:prstGeom prst="roundRect">
            <a:avLst>
              <a:gd name="adj" fmla="val 2139"/>
            </a:avLst>
          </a:prstGeom>
          <a:gradFill rotWithShape="1" flip="none">
            <a:gsLst>
              <a:gs pos="0">
                <a:srgbClr val="EFE5EC"/>
              </a:gs>
              <a:gs pos="100000">
                <a:srgbClr val="F7F2F5"/>
              </a:gs>
            </a:gsLst>
            <a:lin ang="5400000" scaled="0"/>
          </a:gradFill>
          <a:ln w="8890">
            <a:solidFill>
              <a:srgbClr val="DEC9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637245" y="22324873"/>
            <a:ext cx="3905350" cy="924560"/>
          </a:xfrm>
          <a:prstGeom prst="roundRect">
            <a:avLst>
              <a:gd name="adj" fmla="val 10256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637245" y="23702545"/>
            <a:ext cx="15529163" cy="3428623"/>
          </a:xfrm>
          <a:prstGeom prst="roundRect">
            <a:avLst>
              <a:gd name="adj" fmla="val 5324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637245" y="23702545"/>
            <a:ext cx="124460" cy="3428623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7816393" y="24950062"/>
            <a:ext cx="7633315" cy="924560"/>
          </a:xfrm>
          <a:prstGeom prst="roundRect">
            <a:avLst>
              <a:gd name="adj" fmla="val 10256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592795" y="8565792"/>
            <a:ext cx="15573613" cy="5895320"/>
          </a:xfrm>
          <a:prstGeom prst="roundRect">
            <a:avLst>
              <a:gd name="adj" fmla="val 603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page7_figur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92894" y="8565792"/>
            <a:ext cx="15573416" cy="589532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17816393" y="15486796"/>
            <a:ext cx="15573474" cy="7638455"/>
          </a:xfrm>
          <a:prstGeom prst="roundRect">
            <a:avLst>
              <a:gd name="adj" fmla="val 465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page4_figur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16500" y="15486796"/>
            <a:ext cx="15573260" cy="7638455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46203274" y="18134072"/>
            <a:ext cx="3717270" cy="302246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203274" y="18134072"/>
            <a:ext cx="11557" cy="3022461"/>
          </a:xfrm>
          <a:prstGeom prst="rect">
            <a:avLst/>
          </a:prstGeom>
          <a:solidFill>
            <a:srgbClr val="DEC9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39991" y="18868052"/>
            <a:ext cx="6028531" cy="819825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224930" y="18868052"/>
            <a:ext cx="9281438" cy="819825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39991" y="20102234"/>
            <a:ext cx="15573474" cy="8864580"/>
          </a:xfrm>
          <a:prstGeom prst="roundRect">
            <a:avLst>
              <a:gd name="adj" fmla="val 401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page2_figur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007" y="20102234"/>
            <a:ext cx="15573441" cy="886458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35126751" y="23858954"/>
            <a:ext cx="1473795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FIRST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7816393" y="27889596"/>
            <a:ext cx="3147616" cy="819825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3D detection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120417" y="27889596"/>
            <a:ext cx="2901752" cy="819825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3D tracking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178577" y="27889596"/>
            <a:ext cx="4872137" cy="819825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Trajectory prediction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7816393" y="28865830"/>
            <a:ext cx="4426664" cy="819824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End-to-end motion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816393" y="12295008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7816393" y="13486407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15581" y="1007487"/>
            <a:ext cx="49001957" cy="13795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9445"/>
              </a:lnSpc>
              <a:spcBef>
                <a:spcPts val="0"/>
              </a:spcBef>
              <a:spcAft>
                <a:spcPts val="0"/>
              </a:spcAft>
            </a:pPr>
            <a:r>
              <a:rPr sz="8586" b="1" spc="-85">
                <a:solidFill>
                  <a:srgbClr val="7D2860"/>
                </a:solidFill>
                <a:latin typeface="Arial"/>
              </a:rPr>
              <a:t>SiT Dataset: Socially Interactive Pedestrian Trajectory Dataset for Social Navigation Robots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15581" y="2446972"/>
            <a:ext cx="49001957" cy="7797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B2331"/>
                </a:solidFill>
                <a:latin typeface="Arial"/>
              </a:rPr>
              <a:t>Jongwook Bae, Jungho Kim, Junyong Yun, Changwon Kang, Jeongseon Choi, Chanhyeok Kim, Junho Lee, Jungwook Choi, Jun Won Choi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15581" y="3181786"/>
            <a:ext cx="49001957" cy="5929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spc="56">
                <a:solidFill>
                  <a:srgbClr val="55617A"/>
                </a:solidFill>
                <a:latin typeface="Arial"/>
              </a:rPr>
              <a:t>Hanyang University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9991" y="6642635"/>
            <a:ext cx="3546074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Problem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816393" y="6642635"/>
            <a:ext cx="3219152" cy="1063244"/>
          </a:xfrm>
          <a:prstGeom prst="rect">
            <a:avLst/>
          </a:prstGeom>
          <a:noFill/>
        </p:spPr>
        <p:txBody>
          <a:bodyPr wrap="non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Method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592795" y="6642635"/>
            <a:ext cx="4808698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Key Results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9991" y="7887235"/>
            <a:ext cx="16000194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Social navigation robots must perceive and predict nearby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pedestrian trajectories to move safely through shared spaces. Yet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existing datasets never capture the close human–robot interaction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 navigating robot actually experiences.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9991" y="11172785"/>
            <a:ext cx="16000194" cy="1895181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7D2860"/>
                </a:solidFill>
                <a:latin typeface="Arial"/>
              </a:rPr>
              <a:t>Rooftop-camera and driving datasets keep pedestrians and the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7D2860"/>
                </a:solidFill>
                <a:latin typeface="Arial"/>
              </a:rPr>
              <a:t>sensor on </a:t>
            </a:r>
            <a:r>
              <a:rPr sz="4106" b="1">
                <a:solidFill>
                  <a:srgbClr val="111111"/>
                </a:solidFill>
                <a:latin typeface="Arial"/>
              </a:rPr>
              <a:t>separate paths</a:t>
            </a:r>
            <a:r>
              <a:rPr sz="4106" b="0">
                <a:solidFill>
                  <a:srgbClr val="7D2860"/>
                </a:solidFill>
                <a:latin typeface="Arial"/>
              </a:rPr>
              <a:t>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9991" y="13926323"/>
            <a:ext cx="4277609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Motivation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592795" y="16714727"/>
            <a:ext cx="7047082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Headline Numbers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637245" y="22324873"/>
            <a:ext cx="4022510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Takeaway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816393" y="24950062"/>
            <a:ext cx="7862314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Dataset / Benchmark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637245" y="27264240"/>
            <a:ext cx="1595588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The dataset, development kit, and trained baselines are all publicly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released — giving social-navigation research the close human–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robot interaction data that driving and fixed-camera datasets lack.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816375" y="8018085"/>
            <a:ext cx="1600021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Remotely operated Clearpath Husky UGV with 2× Velodyne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VLP-16 LiDARs, five Basler cameras for full 360° coverage, two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IMUs, and RTK.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816375" y="10469225"/>
            <a:ext cx="16000212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pulse-per-second (PPS) trigger aligns every LiDAR and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camera for precise time synchronization.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778535" y="12295008"/>
            <a:ext cx="15038052" cy="10103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Localize</a:t>
            </a:r>
            <a:r>
              <a:rPr sz="4106" b="0">
                <a:solidFill>
                  <a:srgbClr val="1C1C1C"/>
                </a:solidFill>
                <a:latin typeface="Arial"/>
              </a:rPr>
              <a:t> — RTK outdoors, LiDAR-inertial SLAM indoors.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778535" y="13486407"/>
            <a:ext cx="15038052" cy="18501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Annotate &amp; map</a:t>
            </a:r>
            <a:r>
              <a:rPr sz="4106" b="0">
                <a:solidFill>
                  <a:srgbClr val="1C1C1C"/>
                </a:solidFill>
                <a:latin typeface="Arial"/>
              </a:rPr>
              <a:t> — 3D cuboids 5 Hz → 10 Hz, 2D from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shared IDs; 12-layer semantic maps; faces &amp; plates blurred.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215790" y="14610715"/>
            <a:ext cx="14754344" cy="12785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SiT clusters pedestrians close &amp; all-around the ego-robot vs. Waymo and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nuScenes.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9972" y="15324554"/>
            <a:ext cx="1600021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robot shares pedestrians' path, provoking close-range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interactive walking behaviors.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9972" y="17019488"/>
            <a:ext cx="1600021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Data must come from a robot moving in real crowds with time-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synchronized sensors.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310177" y="23274853"/>
            <a:ext cx="10903340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Husky UGV: 5 cameras (360°), 2 LiDARs, 2 IMUs, RTK.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126751" y="24706143"/>
            <a:ext cx="1510133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The first robot-in-crowd pedestrian trajectory dataset — synced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multi-modal sensors, semantic maps, and a full perception-to-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prediction benchmark.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816375" y="26194662"/>
            <a:ext cx="16000212" cy="173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60 scenes ≈ 60K images + 12K point clouds; ~470K 2D + ~320K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3D annotations. Each 20 s clip at 10 Hz gives a 9 s trajectory.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93746" y="29116416"/>
            <a:ext cx="13663942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360° pedestrian trajectories, point clouds &amp; ego-motion in real crowds.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838659" y="18697059"/>
            <a:ext cx="11114659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7D2860"/>
                </a:solidFill>
                <a:latin typeface="Arial"/>
              </a:rPr>
              <a:t>320K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838659" y="20071953"/>
            <a:ext cx="11114659" cy="599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3D annotations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681528" y="18134072"/>
            <a:ext cx="101338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60K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847924" y="18267422"/>
            <a:ext cx="1180784" cy="490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images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681528" y="18954869"/>
            <a:ext cx="101338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12K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847924" y="19088219"/>
            <a:ext cx="1954812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point clouds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681528" y="19775666"/>
            <a:ext cx="1377225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0.531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201163" y="19909016"/>
            <a:ext cx="1587828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best mAP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681528" y="20596463"/>
            <a:ext cx="1377225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0.517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201163" y="20729813"/>
            <a:ext cx="1770962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best ADE₂₀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
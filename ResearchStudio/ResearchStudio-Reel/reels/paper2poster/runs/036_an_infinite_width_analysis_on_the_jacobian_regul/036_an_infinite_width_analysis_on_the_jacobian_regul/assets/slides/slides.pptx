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_project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_project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3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5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9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400" kern="1200">
          <a:solidFill>
            <a:schemeClr val="tx1"/>
          </a:solidFill>
          <a:latin typeface="+mn-lt"/>
          <a:ea typeface="+mn-ea"/>
          <a:cs typeface="+mn-cs"/>
        </a:defRPr>
      </a:lvl1pPr>
      <a:lvl2pPr marL="457200" algn="l" defTabSz="457200" rtl="0" eaLnBrk="1" latinLnBrk="0" hangingPunct="1">
        <a:defRPr sz="1350" kern="1200">
          <a:solidFill>
            <a:schemeClr val="tx1"/>
          </a:solidFill>
          <a:latin typeface="+mn-lt"/>
          <a:ea typeface="+mn-ea"/>
          <a:cs typeface="+mn-cs"/>
        </a:defRPr>
      </a:lvl2pPr>
      <a:lvl3pPr marL="914400" algn="l" defTabSz="457200" rtl="0" eaLnBrk="1" latinLnBrk="0" hangingPunct="1">
        <a:defRPr sz="1250" kern="1200">
          <a:solidFill>
            <a:schemeClr val="tx1"/>
          </a:solidFill>
          <a:latin typeface="+mn-lt"/>
          <a:ea typeface="+mn-ea"/>
          <a:cs typeface="+mn-cs"/>
        </a:defRPr>
      </a:lvl3pPr>
      <a:lvl4pPr marL="1371600" algn="l" defTabSz="457200" rtl="0" eaLnBrk="1" latinLnBrk="0" hangingPunct="1">
        <a:defRPr sz="1150" kern="1200">
          <a:solidFill>
            <a:schemeClr val="tx1"/>
          </a:solidFill>
          <a:latin typeface="+mn-lt"/>
          <a:ea typeface="+mn-ea"/>
          <a:cs typeface="+mn-cs"/>
        </a:defRPr>
      </a:lvl4pPr>
      <a:lvl5pPr marL="1828800" algn="l" defTabSz="457200" rtl="0" eaLnBrk="1" latinLnBrk="0" hangingPunct="1">
        <a:defRPr sz="1050" kern="1200">
          <a:solidFill>
            <a:schemeClr val="tx1"/>
          </a:solidFill>
          <a:latin typeface="+mn-lt"/>
          <a:ea typeface="+mn-ea"/>
          <a:cs typeface="+mn-cs"/>
        </a:defRPr>
      </a:lvl5pPr>
      <a:lvl6pPr marL="2286000" algn="l" defTabSz="457200" rtl="0" eaLnBrk="1" latinLnBrk="0" hangingPunct="1">
        <a:defRPr sz="1000" kern="1200">
          <a:solidFill>
            <a:schemeClr val="tx1"/>
          </a:solidFill>
          <a:latin typeface="+mn-lt"/>
          <a:ea typeface="+mn-ea"/>
          <a:cs typeface="+mn-cs"/>
        </a:defRPr>
      </a:lvl6pPr>
      <a:lvl7pPr marL="2743200" algn="l" defTabSz="457200" rtl="0" eaLnBrk="1" latinLnBrk="0" hangingPunct="1">
        <a:defRPr sz="9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381000" y="381000"/>
            <a:ext cx="11430000" cy="6096000"/>
          </a:xfrm>
          <a:prstGeom prst="roundRect">
            <a:avLst>
              <a:gd name="adj" fmla="val 2812"/>
            </a:avLst>
          </a:prstGeom>
          <a:noFill/>
          <a:ln w="14288">
            <a:solidFill>
              <a:schemeClr val="accent4"/>
            </a:solidFill>
          </a:ln>
        </p:spPr>
        <p:txBody>
          <a:bodyPr/>
          <a:p/>
        </p:txBody>
      </p:sp>
      <p:sp>
        <p:nvSpPr>
          <p:cNvPr id="3" name="TextBox 3"/>
          <p:cNvSpPr txBox="1"/>
          <p:nvPr/>
        </p:nvSpPr>
        <p:spPr>
          <a:xfrm>
            <a:off x="755904" y="994410"/>
            <a:ext cx="3616269" cy="234696"/>
          </a:xfrm>
          <a:prstGeom prst="rect">
            <a:avLst/>
          </a:prstGeom>
          <a:noFill/>
          <a:ln>
            <a:noFill/>
          </a:ln>
        </p:spPr>
        <p:txBody>
          <a:bodyPr wrap="none" lIns="0" tIns="0" rIns="0" bIns="0" anchor="t" anchorCtr="0">
            <a:spAutoFit/>
          </a:bodyPr>
          <a:lstStyle/>
          <a:p>
            <a:pPr algn="l"/>
            <a:r>
              <a:rPr lang="en-US" sz="1200" b="1" spc="150" dirty="0">
                <a:solidFill>
                  <a:srgbClr val="7BE0C8"/>
                </a:solidFill>
                <a:latin typeface="+mn-lt"/>
                <a:ea typeface="+mn-ea"/>
                <a:cs typeface="+mn-cs"/>
              </a:rPr>
              <a:t>ICLR 2024 · INFINITE-WIDTH THEORY</a:t>
            </a:r>
          </a:p>
        </p:txBody>
      </p:sp>
      <p:sp>
        <p:nvSpPr>
          <p:cNvPr id="4" name="TextBox 4"/>
          <p:cNvSpPr txBox="1"/>
          <p:nvPr/>
        </p:nvSpPr>
        <p:spPr>
          <a:xfrm>
            <a:off x="745236" y="1320165"/>
            <a:ext cx="7486677"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An Infinite-Width Analysis on the</a:t>
            </a:r>
          </a:p>
        </p:txBody>
      </p:sp>
      <p:sp>
        <p:nvSpPr>
          <p:cNvPr id="5" name="TextBox 5"/>
          <p:cNvSpPr txBox="1"/>
          <p:nvPr/>
        </p:nvSpPr>
        <p:spPr>
          <a:xfrm>
            <a:off x="745236" y="1815465"/>
            <a:ext cx="6816242"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Jacobian-Regularised Training</a:t>
            </a:r>
          </a:p>
        </p:txBody>
      </p:sp>
      <p:sp>
        <p:nvSpPr>
          <p:cNvPr id="6" name="TextBox 6"/>
          <p:cNvSpPr txBox="1"/>
          <p:nvPr/>
        </p:nvSpPr>
        <p:spPr>
          <a:xfrm>
            <a:off x="745236" y="2310765"/>
            <a:ext cx="4566700" cy="645414"/>
          </a:xfrm>
          <a:prstGeom prst="rect">
            <a:avLst/>
          </a:prstGeom>
          <a:noFill/>
          <a:ln>
            <a:noFill/>
          </a:ln>
        </p:spPr>
        <p:txBody>
          <a:bodyPr wrap="none" lIns="0" tIns="0" rIns="0" bIns="0" anchor="t" anchorCtr="0">
            <a:spAutoFit/>
          </a:bodyPr>
          <a:lstStyle/>
          <a:p>
            <a:pPr algn="l"/>
            <a:r>
              <a:rPr lang="en-US" sz="3300" b="1" dirty="0">
                <a:solidFill>
                  <a:schemeClr val="dk1"/>
                </a:solidFill>
                <a:latin typeface="+mn-lt"/>
                <a:ea typeface="+mn-ea"/>
                <a:cs typeface="+mn-cs"/>
              </a:rPr>
              <a:t>of a Neural Network</a:t>
            </a:r>
          </a:p>
        </p:txBody>
      </p:sp>
      <p:sp>
        <p:nvSpPr>
          <p:cNvPr id="7" name="TextBox 7"/>
          <p:cNvSpPr txBox="1"/>
          <p:nvPr/>
        </p:nvSpPr>
        <p:spPr>
          <a:xfrm>
            <a:off x="754380" y="2905125"/>
            <a:ext cx="7531458"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Extending NTK theory from a network's output to its input-output Jacobian</a:t>
            </a:r>
          </a:p>
        </p:txBody>
      </p:sp>
      <p:sp>
        <p:nvSpPr>
          <p:cNvPr id="8" name="Line 8"/>
          <p:cNvSpPr/>
          <p:nvPr/>
        </p:nvSpPr>
        <p:spPr>
          <a:xfrm>
            <a:off x="762000" y="3314700"/>
            <a:ext cx="10668000" cy="9525"/>
          </a:xfrm>
          <a:custGeom>
            <a:avLst/>
            <a:gdLst/>
            <a:ahLst/>
            <a:cxnLst/>
            <a:rect l="l" t="t" r="r" b="b"/>
            <a:pathLst>
              <a:path w="10668000" h="9525">
                <a:moveTo>
                  <a:pt x="0" y="0"/>
                </a:moveTo>
                <a:lnTo>
                  <a:pt x="10668000" y="0"/>
                </a:lnTo>
              </a:path>
            </a:pathLst>
          </a:custGeom>
          <a:noFill/>
          <a:ln w="14288">
            <a:solidFill>
              <a:schemeClr val="accent4"/>
            </a:solidFill>
          </a:ln>
        </p:spPr>
        <p:txBody>
          <a:bodyPr/>
          <a:p/>
        </p:txBody>
      </p:sp>
      <p:grpSp>
        <p:nvGrpSpPr>
          <p:cNvPr id="15" name="Group 15"/>
          <p:cNvGrpSpPr/>
          <p:nvPr/>
        </p:nvGrpSpPr>
        <p:grpSpPr>
          <a:xfrm>
            <a:off x="762000" y="3543300"/>
            <a:ext cx="3005328" cy="2476500"/>
            <a:chOff x="762000" y="3543300"/>
            <a:chExt cx="3005328" cy="2476500"/>
          </a:xfrm>
        </p:grpSpPr>
        <p:sp>
          <p:nvSpPr>
            <p:cNvPr id="9" name="Rectangle 9"/>
            <p:cNvSpPr/>
            <p:nvPr/>
          </p:nvSpPr>
          <p:spPr>
            <a:xfrm>
              <a:off x="762000" y="3543300"/>
              <a:ext cx="2524125" cy="2476500"/>
            </a:xfrm>
            <a:prstGeom prst="roundRect">
              <a:avLst>
                <a:gd name="adj" fmla="val 4615"/>
              </a:avLst>
            </a:prstGeom>
            <a:solidFill>
              <a:schemeClr val="accent5"/>
            </a:solidFill>
            <a:ln w="14288">
              <a:solidFill>
                <a:schemeClr val="accent4"/>
              </a:solidFill>
            </a:ln>
          </p:spPr>
        </p:sp>
        <p:sp>
          <p:nvSpPr>
            <p:cNvPr id="10" name="Rectangle 10"/>
            <p:cNvSpPr/>
            <p:nvPr/>
          </p:nvSpPr>
          <p:spPr>
            <a:xfrm>
              <a:off x="762000" y="3695700"/>
              <a:ext cx="47625" cy="247650"/>
            </a:xfrm>
            <a:prstGeom prst="roundRect">
              <a:avLst>
                <a:gd name="adj" fmla="val 50000"/>
              </a:avLst>
            </a:prstGeom>
            <a:solidFill>
              <a:schemeClr val="accent2"/>
            </a:solidFill>
            <a:ln>
              <a:noFill/>
            </a:ln>
          </p:spPr>
        </p:sp>
        <p:sp>
          <p:nvSpPr>
            <p:cNvPr id="11" name="TextBox 11"/>
            <p:cNvSpPr txBox="1"/>
            <p:nvPr/>
          </p:nvSpPr>
          <p:spPr>
            <a:xfrm>
              <a:off x="965073" y="3748564"/>
              <a:ext cx="968209"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Foundation</a:t>
              </a:r>
            </a:p>
          </p:txBody>
        </p:sp>
        <p:sp>
          <p:nvSpPr>
            <p:cNvPr id="12" name="TextBox 12"/>
            <p:cNvSpPr txBox="1"/>
            <p:nvPr/>
          </p:nvSpPr>
          <p:spPr>
            <a:xfrm>
              <a:off x="964692" y="4026218"/>
              <a:ext cx="24370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Infinite-width theory &amp; the</a:t>
              </a:r>
            </a:p>
          </p:txBody>
        </p:sp>
        <p:sp>
          <p:nvSpPr>
            <p:cNvPr id="13" name="TextBox 13"/>
            <p:cNvSpPr txBox="1"/>
            <p:nvPr/>
          </p:nvSpPr>
          <p:spPr>
            <a:xfrm>
              <a:off x="964692" y="4273868"/>
              <a:ext cx="280263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Neural Tangent Kernel reshaped</a:t>
              </a:r>
            </a:p>
          </p:txBody>
        </p:sp>
        <p:sp>
          <p:nvSpPr>
            <p:cNvPr id="14" name="TextBox 14"/>
            <p:cNvSpPr txBox="1"/>
            <p:nvPr/>
          </p:nvSpPr>
          <p:spPr>
            <a:xfrm>
              <a:off x="964692" y="4521518"/>
              <a:ext cx="177656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our view of training</a:t>
              </a:r>
            </a:p>
          </p:txBody>
        </p:sp>
      </p:grpSp>
      <p:grpSp>
        <p:nvGrpSpPr>
          <p:cNvPr id="22" name="Group 22"/>
          <p:cNvGrpSpPr/>
          <p:nvPr/>
        </p:nvGrpSpPr>
        <p:grpSpPr>
          <a:xfrm>
            <a:off x="3476625" y="3543300"/>
            <a:ext cx="2539800" cy="2476500"/>
            <a:chOff x="3476625" y="3543300"/>
            <a:chExt cx="2539800" cy="2476500"/>
          </a:xfrm>
        </p:grpSpPr>
        <p:sp>
          <p:nvSpPr>
            <p:cNvPr id="16" name="Rectangle 16"/>
            <p:cNvSpPr/>
            <p:nvPr/>
          </p:nvSpPr>
          <p:spPr>
            <a:xfrm>
              <a:off x="3476625" y="3543300"/>
              <a:ext cx="2524125" cy="2476500"/>
            </a:xfrm>
            <a:prstGeom prst="roundRect">
              <a:avLst>
                <a:gd name="adj" fmla="val 4615"/>
              </a:avLst>
            </a:prstGeom>
            <a:solidFill>
              <a:schemeClr val="accent5"/>
            </a:solidFill>
            <a:ln w="14288">
              <a:solidFill>
                <a:schemeClr val="accent4"/>
              </a:solidFill>
            </a:ln>
          </p:spPr>
        </p:sp>
        <p:sp>
          <p:nvSpPr>
            <p:cNvPr id="17" name="Rectangle 17"/>
            <p:cNvSpPr/>
            <p:nvPr/>
          </p:nvSpPr>
          <p:spPr>
            <a:xfrm>
              <a:off x="3476625" y="3695700"/>
              <a:ext cx="47625" cy="247650"/>
            </a:xfrm>
            <a:prstGeom prst="roundRect">
              <a:avLst>
                <a:gd name="adj" fmla="val 50000"/>
              </a:avLst>
            </a:prstGeom>
            <a:solidFill>
              <a:srgbClr val="7BE0C8"/>
            </a:solidFill>
            <a:ln>
              <a:noFill/>
            </a:ln>
          </p:spPr>
        </p:sp>
        <p:sp>
          <p:nvSpPr>
            <p:cNvPr id="18" name="TextBox 18"/>
            <p:cNvSpPr txBox="1"/>
            <p:nvPr/>
          </p:nvSpPr>
          <p:spPr>
            <a:xfrm>
              <a:off x="3679698" y="3748564"/>
              <a:ext cx="923290"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This paper</a:t>
              </a:r>
            </a:p>
          </p:txBody>
        </p:sp>
        <p:sp>
          <p:nvSpPr>
            <p:cNvPr id="19" name="TextBox 19"/>
            <p:cNvSpPr txBox="1"/>
            <p:nvPr/>
          </p:nvSpPr>
          <p:spPr>
            <a:xfrm>
              <a:off x="3679317" y="4026218"/>
              <a:ext cx="23371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Extends the theory to the</a:t>
              </a:r>
            </a:p>
          </p:txBody>
        </p:sp>
        <p:sp>
          <p:nvSpPr>
            <p:cNvPr id="20" name="TextBox 20"/>
            <p:cNvSpPr txBox="1"/>
            <p:nvPr/>
          </p:nvSpPr>
          <p:spPr>
            <a:xfrm>
              <a:off x="3679317" y="4273868"/>
              <a:ext cx="215821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network's input-output</a:t>
              </a:r>
            </a:p>
          </p:txBody>
        </p:sp>
        <p:sp>
          <p:nvSpPr>
            <p:cNvPr id="21" name="TextBox 21"/>
            <p:cNvSpPr txBox="1"/>
            <p:nvPr/>
          </p:nvSpPr>
          <p:spPr>
            <a:xfrm>
              <a:off x="3679317" y="4521518"/>
              <a:ext cx="77326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Jacobian</a:t>
              </a:r>
            </a:p>
          </p:txBody>
        </p:sp>
      </p:grpSp>
      <p:grpSp>
        <p:nvGrpSpPr>
          <p:cNvPr id="29" name="Group 29"/>
          <p:cNvGrpSpPr/>
          <p:nvPr/>
        </p:nvGrpSpPr>
        <p:grpSpPr>
          <a:xfrm>
            <a:off x="6191250" y="3543300"/>
            <a:ext cx="2524125" cy="2476500"/>
            <a:chOff x="6191250" y="3543300"/>
            <a:chExt cx="2524125" cy="2476500"/>
          </a:xfrm>
        </p:grpSpPr>
        <p:sp>
          <p:nvSpPr>
            <p:cNvPr id="23" name="Rectangle 23"/>
            <p:cNvSpPr/>
            <p:nvPr/>
          </p:nvSpPr>
          <p:spPr>
            <a:xfrm>
              <a:off x="6191250" y="3543300"/>
              <a:ext cx="2524125" cy="2476500"/>
            </a:xfrm>
            <a:prstGeom prst="roundRect">
              <a:avLst>
                <a:gd name="adj" fmla="val 4615"/>
              </a:avLst>
            </a:prstGeom>
            <a:solidFill>
              <a:schemeClr val="accent5"/>
            </a:solidFill>
            <a:ln w="14288">
              <a:solidFill>
                <a:schemeClr val="accent4"/>
              </a:solidFill>
            </a:ln>
          </p:spPr>
        </p:sp>
        <p:sp>
          <p:nvSpPr>
            <p:cNvPr id="24" name="Rectangle 24"/>
            <p:cNvSpPr/>
            <p:nvPr/>
          </p:nvSpPr>
          <p:spPr>
            <a:xfrm>
              <a:off x="6191250" y="3695700"/>
              <a:ext cx="47625" cy="247650"/>
            </a:xfrm>
            <a:prstGeom prst="roundRect">
              <a:avLst>
                <a:gd name="adj" fmla="val 50000"/>
              </a:avLst>
            </a:prstGeom>
            <a:solidFill>
              <a:srgbClr val="7BE0C8"/>
            </a:solidFill>
            <a:ln>
              <a:noFill/>
            </a:ln>
          </p:spPr>
        </p:sp>
        <p:sp>
          <p:nvSpPr>
            <p:cNvPr id="25" name="TextBox 25"/>
            <p:cNvSpPr txBox="1"/>
            <p:nvPr/>
          </p:nvSpPr>
          <p:spPr>
            <a:xfrm>
              <a:off x="6394323" y="3748564"/>
              <a:ext cx="1022795"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Core result</a:t>
              </a:r>
            </a:p>
          </p:txBody>
        </p:sp>
        <p:sp>
          <p:nvSpPr>
            <p:cNvPr id="26" name="TextBox 26"/>
            <p:cNvSpPr txBox="1"/>
            <p:nvPr/>
          </p:nvSpPr>
          <p:spPr>
            <a:xfrm>
              <a:off x="6393942" y="4026218"/>
              <a:ext cx="226399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MLP + its Jacobian jointly</a:t>
              </a:r>
            </a:p>
          </p:txBody>
        </p:sp>
        <p:sp>
          <p:nvSpPr>
            <p:cNvPr id="27" name="TextBox 27"/>
            <p:cNvSpPr txBox="1"/>
            <p:nvPr/>
          </p:nvSpPr>
          <p:spPr>
            <a:xfrm>
              <a:off x="6393942" y="4273868"/>
              <a:ext cx="203700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converge to a Gaussian</a:t>
              </a:r>
            </a:p>
          </p:txBody>
        </p:sp>
        <p:sp>
          <p:nvSpPr>
            <p:cNvPr id="28" name="TextBox 28"/>
            <p:cNvSpPr txBox="1"/>
            <p:nvPr/>
          </p:nvSpPr>
          <p:spPr>
            <a:xfrm>
              <a:off x="6393942" y="4521518"/>
              <a:ext cx="210369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process as width grows</a:t>
              </a:r>
            </a:p>
          </p:txBody>
        </p:sp>
      </p:grpSp>
      <p:grpSp>
        <p:nvGrpSpPr>
          <p:cNvPr id="36" name="Group 36"/>
          <p:cNvGrpSpPr/>
          <p:nvPr/>
        </p:nvGrpSpPr>
        <p:grpSpPr>
          <a:xfrm>
            <a:off x="8905875" y="3543300"/>
            <a:ext cx="2536345" cy="2476500"/>
            <a:chOff x="8905875" y="3543300"/>
            <a:chExt cx="2536345" cy="2476500"/>
          </a:xfrm>
        </p:grpSpPr>
        <p:sp>
          <p:nvSpPr>
            <p:cNvPr id="30" name="Rectangle 30"/>
            <p:cNvSpPr/>
            <p:nvPr/>
          </p:nvSpPr>
          <p:spPr>
            <a:xfrm>
              <a:off x="8905875" y="3543300"/>
              <a:ext cx="2524125" cy="2476500"/>
            </a:xfrm>
            <a:prstGeom prst="roundRect">
              <a:avLst>
                <a:gd name="adj" fmla="val 4615"/>
              </a:avLst>
            </a:prstGeom>
            <a:solidFill>
              <a:schemeClr val="accent5"/>
            </a:solidFill>
            <a:ln w="14288">
              <a:solidFill>
                <a:schemeClr val="accent4"/>
              </a:solidFill>
            </a:ln>
          </p:spPr>
        </p:sp>
        <p:sp>
          <p:nvSpPr>
            <p:cNvPr id="31" name="Rectangle 31"/>
            <p:cNvSpPr/>
            <p:nvPr/>
          </p:nvSpPr>
          <p:spPr>
            <a:xfrm>
              <a:off x="8905875" y="3695700"/>
              <a:ext cx="47625" cy="247650"/>
            </a:xfrm>
            <a:prstGeom prst="roundRect">
              <a:avLst>
                <a:gd name="adj" fmla="val 50000"/>
              </a:avLst>
            </a:prstGeom>
            <a:solidFill>
              <a:srgbClr val="F2A65A"/>
            </a:solidFill>
            <a:ln>
              <a:noFill/>
            </a:ln>
          </p:spPr>
        </p:sp>
        <p:sp>
          <p:nvSpPr>
            <p:cNvPr id="32" name="TextBox 32"/>
            <p:cNvSpPr txBox="1"/>
            <p:nvPr/>
          </p:nvSpPr>
          <p:spPr>
            <a:xfrm>
              <a:off x="9108948" y="3748564"/>
              <a:ext cx="615653"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Payoff</a:t>
              </a:r>
            </a:p>
          </p:txBody>
        </p:sp>
        <p:sp>
          <p:nvSpPr>
            <p:cNvPr id="33" name="TextBox 33"/>
            <p:cNvSpPr txBox="1"/>
            <p:nvPr/>
          </p:nvSpPr>
          <p:spPr>
            <a:xfrm>
              <a:off x="9108567" y="4026218"/>
              <a:ext cx="233365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First reason why Jacobian</a:t>
              </a:r>
            </a:p>
          </p:txBody>
        </p:sp>
        <p:sp>
          <p:nvSpPr>
            <p:cNvPr id="34" name="TextBox 34"/>
            <p:cNvSpPr txBox="1"/>
            <p:nvPr/>
          </p:nvSpPr>
          <p:spPr>
            <a:xfrm>
              <a:off x="9108567" y="4273868"/>
              <a:ext cx="194012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regularisation is both</a:t>
              </a:r>
            </a:p>
          </p:txBody>
        </p:sp>
        <p:sp>
          <p:nvSpPr>
            <p:cNvPr id="35" name="TextBox 35"/>
            <p:cNvSpPr txBox="1"/>
            <p:nvPr/>
          </p:nvSpPr>
          <p:spPr>
            <a:xfrm>
              <a:off x="9108567" y="4521518"/>
              <a:ext cx="182199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accurate and robust</a:t>
              </a:r>
            </a:p>
          </p:txBody>
        </p:sp>
      </p:grpSp>
      <p:sp>
        <p:nvSpPr>
          <p:cNvPr id="37" name="TextBox 37"/>
          <p:cNvSpPr txBox="1"/>
          <p:nvPr/>
        </p:nvSpPr>
        <p:spPr>
          <a:xfrm>
            <a:off x="756285" y="6279356"/>
            <a:ext cx="2052846" cy="220028"/>
          </a:xfrm>
          <a:prstGeom prst="rect">
            <a:avLst/>
          </a:prstGeom>
          <a:noFill/>
          <a:ln>
            <a:noFill/>
          </a:ln>
        </p:spPr>
        <p:txBody>
          <a:bodyPr wrap="none" lIns="0" tIns="0" rIns="0" bIns="0" anchor="t" anchorCtr="0">
            <a:spAutoFit/>
          </a:bodyPr>
          <a:lstStyle/>
          <a:p>
            <a:pPr algn="l"/>
            <a:r>
              <a:rPr lang="en-US" sz="1120" dirty="0">
                <a:solidFill>
                  <a:srgbClr val="6D7C96"/>
                </a:solidFill>
                <a:latin typeface="+mn-lt"/>
                <a:ea typeface="+mn-ea"/>
                <a:cs typeface="+mn-cs"/>
              </a:rPr>
              <a:t>KAIST — School of Computing</a:t>
            </a:r>
          </a:p>
        </p:txBody>
      </p:sp>
      <p:sp>
        <p:nvSpPr>
          <p:cNvPr id="38" name="TextBox 38"/>
          <p:cNvSpPr txBox="1"/>
          <p:nvPr/>
        </p:nvSpPr>
        <p:spPr>
          <a:xfrm>
            <a:off x="10074826" y="6279356"/>
            <a:ext cx="1360889" cy="220028"/>
          </a:xfrm>
          <a:prstGeom prst="rect">
            <a:avLst/>
          </a:prstGeom>
          <a:noFill/>
          <a:ln>
            <a:noFill/>
          </a:ln>
        </p:spPr>
        <p:txBody>
          <a:bodyPr wrap="none" lIns="0" tIns="0" rIns="0" bIns="0" anchor="t" anchorCtr="0">
            <a:spAutoFit/>
          </a:bodyPr>
          <a:lstStyle/>
          <a:p>
            <a:pPr algn="r"/>
            <a:r>
              <a:rPr lang="en-US" sz="1120" dirty="0">
                <a:solidFill>
                  <a:srgbClr val="6D7C96"/>
                </a:solidFill>
                <a:latin typeface="+mn-lt"/>
                <a:ea typeface="+mn-ea"/>
                <a:cs typeface="+mn-cs"/>
              </a:rPr>
              <a:t>arXiv: 2312.03386</a:t>
            </a:r>
          </a:p>
        </p:txBody>
      </p:sp>
      <p:sp>
        <p:nvSpPr>
          <p:cNvPr id="39" name="cue_s01_c1_infinite_width_theory_built_tools_li" title="cue_s01_c1_infinite_width_theory_built_tools_li" descr="cue_s01_c1_infinite_width_theory_built_tools_li Infinite-width theory, built on tools like the Neural Tangent Kernel, has transformed how we understand deep network initialisation and training, but it has only ever described a network's output."/>
          <p:cNvSpPr/>
          <p:nvPr/>
        </p:nvSpPr>
        <p:spPr>
          <a:xfrm>
            <a:off x="762000" y="3543528"/>
            <a:ext cx="2523744"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1_c2_extends_theory_network_input_output" title="cue_s01_c2_extends_theory_network_input_output" descr="cue_s01_c2_extends_theory_network_input_output This paper extends that theory to the network's input-output Jacobian."/>
          <p:cNvSpPr/>
          <p:nvPr/>
        </p:nvSpPr>
        <p:spPr>
          <a:xfrm>
            <a:off x="3477158" y="3543528"/>
            <a:ext cx="2523744"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1_c3_authors_show_multilayer_perceptron_i" title="cue_s01_c3_authors_show_multilayer_perceptron_i" descr="cue_s01_c3_authors_show_multilayer_perceptron_i The authors show that a multilayer perceptron and its Jacobian jointly converge to a Gaussian process as width grows, define a Jacobian Neural Tangent Kernel that governs training, and prove that training with a Jacobian regulariser, so-called robust training,"/>
          <p:cNvSpPr/>
          <p:nvPr/>
        </p:nvSpPr>
        <p:spPr>
          <a:xfrm>
            <a:off x="6191097" y="3543528"/>
            <a:ext cx="2523744"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1_c4_along_way_they_explain_first" title="cue_s01_c4_along_way_they_explain_first" descr="cue_s01_c4_along_way_they_explain_first Along the way they explain, for the first time from this angle, why Jacobian regularisation makes networks both accurate and robust."/>
          <p:cNvSpPr/>
          <p:nvPr/>
        </p:nvSpPr>
        <p:spPr>
          <a:xfrm>
            <a:off x="8906256" y="3543528"/>
            <a:ext cx="2523744" cy="24764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850362"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PROBLEM</a:t>
            </a:r>
          </a:p>
        </p:txBody>
      </p:sp>
      <p:sp>
        <p:nvSpPr>
          <p:cNvPr id="4" name="TextBox 4"/>
          <p:cNvSpPr txBox="1"/>
          <p:nvPr/>
        </p:nvSpPr>
        <p:spPr>
          <a:xfrm>
            <a:off x="788670" y="614362"/>
            <a:ext cx="82386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Infinite-width theory only ever described the output</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02 / 10</a:t>
            </a:r>
          </a:p>
        </p:txBody>
      </p:sp>
      <p:grpSp>
        <p:nvGrpSpPr>
          <p:cNvPr id="13" name="Group 13"/>
          <p:cNvGrpSpPr/>
          <p:nvPr/>
        </p:nvGrpSpPr>
        <p:grpSpPr>
          <a:xfrm>
            <a:off x="609600" y="1257300"/>
            <a:ext cx="5372100" cy="2457450"/>
            <a:chOff x="609600" y="1257300"/>
            <a:chExt cx="5372100" cy="2457450"/>
          </a:xfrm>
        </p:grpSpPr>
        <p:sp>
          <p:nvSpPr>
            <p:cNvPr id="7" name="Rectangle 7"/>
            <p:cNvSpPr/>
            <p:nvPr/>
          </p:nvSpPr>
          <p:spPr>
            <a:xfrm>
              <a:off x="609600" y="1257300"/>
              <a:ext cx="5372100" cy="2457450"/>
            </a:xfrm>
            <a:prstGeom prst="roundRect">
              <a:avLst>
                <a:gd name="adj" fmla="val 4651"/>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1258166"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Clean answers</a:t>
              </a:r>
            </a:p>
          </p:txBody>
        </p:sp>
        <p:sp>
          <p:nvSpPr>
            <p:cNvPr id="10" name="TextBox 10"/>
            <p:cNvSpPr txBox="1"/>
            <p:nvPr/>
          </p:nvSpPr>
          <p:spPr>
            <a:xfrm>
              <a:off x="812292" y="1740218"/>
              <a:ext cx="274714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NTK tells us how a network</a:t>
              </a:r>
            </a:p>
          </p:txBody>
        </p:sp>
        <p:sp>
          <p:nvSpPr>
            <p:cNvPr id="11" name="TextBox 11"/>
            <p:cNvSpPr txBox="1"/>
            <p:nvPr/>
          </p:nvSpPr>
          <p:spPr>
            <a:xfrm>
              <a:off x="812292" y="1987868"/>
              <a:ext cx="264890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initialises, how it trains, and</a:t>
              </a:r>
            </a:p>
          </p:txBody>
        </p:sp>
        <p:sp>
          <p:nvSpPr>
            <p:cNvPr id="12" name="TextBox 12"/>
            <p:cNvSpPr txBox="1"/>
            <p:nvPr/>
          </p:nvSpPr>
          <p:spPr>
            <a:xfrm>
              <a:off x="812292" y="2235518"/>
              <a:ext cx="292150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where gradient descent ends up.</a:t>
              </a:r>
            </a:p>
          </p:txBody>
        </p:sp>
      </p:grpSp>
      <p:grpSp>
        <p:nvGrpSpPr>
          <p:cNvPr id="20" name="Group 20"/>
          <p:cNvGrpSpPr/>
          <p:nvPr/>
        </p:nvGrpSpPr>
        <p:grpSpPr>
          <a:xfrm>
            <a:off x="6210300" y="1257300"/>
            <a:ext cx="5372100" cy="2457450"/>
            <a:chOff x="6210300" y="1257300"/>
            <a:chExt cx="5372100" cy="2457450"/>
          </a:xfrm>
        </p:grpSpPr>
        <p:sp>
          <p:nvSpPr>
            <p:cNvPr id="14" name="Rectangle 14"/>
            <p:cNvSpPr/>
            <p:nvPr/>
          </p:nvSpPr>
          <p:spPr>
            <a:xfrm>
              <a:off x="6210300" y="1257300"/>
              <a:ext cx="5372100" cy="2457450"/>
            </a:xfrm>
            <a:prstGeom prst="roundRect">
              <a:avLst>
                <a:gd name="adj" fmla="val 4651"/>
              </a:avLst>
            </a:prstGeom>
            <a:solidFill>
              <a:schemeClr val="accent5"/>
            </a:solidFill>
            <a:ln w="14288">
              <a:solidFill>
                <a:schemeClr val="accent4"/>
              </a:solidFill>
            </a:ln>
          </p:spPr>
        </p:sp>
        <p:sp>
          <p:nvSpPr>
            <p:cNvPr id="15" name="Rectangle 15"/>
            <p:cNvSpPr/>
            <p:nvPr/>
          </p:nvSpPr>
          <p:spPr>
            <a:xfrm>
              <a:off x="6210300" y="1409700"/>
              <a:ext cx="47625" cy="247650"/>
            </a:xfrm>
            <a:prstGeom prst="roundRect">
              <a:avLst>
                <a:gd name="adj" fmla="val 50000"/>
              </a:avLst>
            </a:prstGeom>
            <a:solidFill>
              <a:srgbClr val="7BE0C8"/>
            </a:solidFill>
            <a:ln>
              <a:noFill/>
            </a:ln>
          </p:spPr>
        </p:sp>
        <p:sp>
          <p:nvSpPr>
            <p:cNvPr id="16" name="TextBox 16"/>
            <p:cNvSpPr txBox="1"/>
            <p:nvPr/>
          </p:nvSpPr>
          <p:spPr>
            <a:xfrm>
              <a:off x="6413373" y="1462564"/>
              <a:ext cx="869338"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 catch</a:t>
              </a:r>
            </a:p>
          </p:txBody>
        </p:sp>
        <p:sp>
          <p:nvSpPr>
            <p:cNvPr id="17" name="TextBox 17"/>
            <p:cNvSpPr txBox="1"/>
            <p:nvPr/>
          </p:nvSpPr>
          <p:spPr>
            <a:xfrm>
              <a:off x="6412992" y="1740218"/>
              <a:ext cx="29458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All of it describes the network's</a:t>
              </a:r>
            </a:p>
          </p:txBody>
        </p:sp>
        <p:sp>
          <p:nvSpPr>
            <p:cNvPr id="18" name="TextBox 18"/>
            <p:cNvSpPr txBox="1"/>
            <p:nvPr/>
          </p:nvSpPr>
          <p:spPr>
            <a:xfrm>
              <a:off x="6412992" y="1987868"/>
              <a:ext cx="300045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output. It says nothing about the</a:t>
              </a:r>
            </a:p>
          </p:txBody>
        </p:sp>
        <p:sp>
          <p:nvSpPr>
            <p:cNvPr id="19" name="TextBox 19"/>
            <p:cNvSpPr txBox="1"/>
            <p:nvPr/>
          </p:nvSpPr>
          <p:spPr>
            <a:xfrm>
              <a:off x="6412992" y="2235518"/>
              <a:ext cx="208257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input-output Jacobian.</a:t>
              </a:r>
            </a:p>
          </p:txBody>
        </p:sp>
      </p:grpSp>
      <p:grpSp>
        <p:nvGrpSpPr>
          <p:cNvPr id="27" name="Group 27"/>
          <p:cNvGrpSpPr/>
          <p:nvPr/>
        </p:nvGrpSpPr>
        <p:grpSpPr>
          <a:xfrm>
            <a:off x="609600" y="3943350"/>
            <a:ext cx="5372100" cy="2457450"/>
            <a:chOff x="609600" y="3943350"/>
            <a:chExt cx="5372100" cy="2457450"/>
          </a:xfrm>
        </p:grpSpPr>
        <p:sp>
          <p:nvSpPr>
            <p:cNvPr id="21" name="Rectangle 21"/>
            <p:cNvSpPr/>
            <p:nvPr/>
          </p:nvSpPr>
          <p:spPr>
            <a:xfrm>
              <a:off x="609600" y="3943350"/>
              <a:ext cx="5372100" cy="2457450"/>
            </a:xfrm>
            <a:prstGeom prst="roundRect">
              <a:avLst>
                <a:gd name="adj" fmla="val 4651"/>
              </a:avLst>
            </a:prstGeom>
            <a:solidFill>
              <a:schemeClr val="accent5"/>
            </a:solidFill>
            <a:ln w="14288">
              <a:solidFill>
                <a:schemeClr val="accent4"/>
              </a:solidFill>
            </a:ln>
          </p:spPr>
        </p:sp>
        <p:sp>
          <p:nvSpPr>
            <p:cNvPr id="22" name="Rectangle 22"/>
            <p:cNvSpPr/>
            <p:nvPr/>
          </p:nvSpPr>
          <p:spPr>
            <a:xfrm>
              <a:off x="609600" y="4095750"/>
              <a:ext cx="47625" cy="247650"/>
            </a:xfrm>
            <a:prstGeom prst="roundRect">
              <a:avLst>
                <a:gd name="adj" fmla="val 50000"/>
              </a:avLst>
            </a:prstGeom>
            <a:solidFill>
              <a:srgbClr val="7BE0C8"/>
            </a:solidFill>
            <a:ln>
              <a:noFill/>
            </a:ln>
          </p:spPr>
        </p:sp>
        <p:sp>
          <p:nvSpPr>
            <p:cNvPr id="23" name="TextBox 23"/>
            <p:cNvSpPr txBox="1"/>
            <p:nvPr/>
          </p:nvSpPr>
          <p:spPr>
            <a:xfrm>
              <a:off x="812673" y="4148614"/>
              <a:ext cx="134905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Why it matters</a:t>
              </a:r>
            </a:p>
          </p:txBody>
        </p:sp>
        <p:sp>
          <p:nvSpPr>
            <p:cNvPr id="24" name="TextBox 24"/>
            <p:cNvSpPr txBox="1"/>
            <p:nvPr/>
          </p:nvSpPr>
          <p:spPr>
            <a:xfrm>
              <a:off x="812292" y="4426268"/>
              <a:ext cx="30788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Jacobian captures smoothness</a:t>
              </a:r>
            </a:p>
          </p:txBody>
        </p:sp>
        <p:sp>
          <p:nvSpPr>
            <p:cNvPr id="25" name="TextBox 25"/>
            <p:cNvSpPr txBox="1"/>
            <p:nvPr/>
          </p:nvSpPr>
          <p:spPr>
            <a:xfrm>
              <a:off x="812292" y="4673918"/>
              <a:ext cx="312141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exactly what governs robustness</a:t>
              </a:r>
            </a:p>
          </p:txBody>
        </p:sp>
        <p:sp>
          <p:nvSpPr>
            <p:cNvPr id="26" name="TextBox 26"/>
            <p:cNvSpPr txBox="1"/>
            <p:nvPr/>
          </p:nvSpPr>
          <p:spPr>
            <a:xfrm>
              <a:off x="812292" y="4921568"/>
              <a:ext cx="299420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 noise and adversarial attacks.</a:t>
              </a:r>
            </a:p>
          </p:txBody>
        </p:sp>
      </p:grpSp>
      <p:grpSp>
        <p:nvGrpSpPr>
          <p:cNvPr id="34" name="Group 34"/>
          <p:cNvGrpSpPr/>
          <p:nvPr/>
        </p:nvGrpSpPr>
        <p:grpSpPr>
          <a:xfrm>
            <a:off x="6210300" y="3943350"/>
            <a:ext cx="5372100" cy="2457450"/>
            <a:chOff x="6210300" y="3943350"/>
            <a:chExt cx="5372100" cy="2457450"/>
          </a:xfrm>
        </p:grpSpPr>
        <p:sp>
          <p:nvSpPr>
            <p:cNvPr id="28" name="Rectangle 28"/>
            <p:cNvSpPr/>
            <p:nvPr/>
          </p:nvSpPr>
          <p:spPr>
            <a:xfrm>
              <a:off x="6210300" y="3943350"/>
              <a:ext cx="5372100" cy="2457450"/>
            </a:xfrm>
            <a:prstGeom prst="roundRect">
              <a:avLst>
                <a:gd name="adj" fmla="val 4651"/>
              </a:avLst>
            </a:prstGeom>
            <a:solidFill>
              <a:schemeClr val="accent5"/>
            </a:solidFill>
            <a:ln w="14288">
              <a:solidFill>
                <a:schemeClr val="accent4"/>
              </a:solidFill>
            </a:ln>
          </p:spPr>
        </p:sp>
        <p:sp>
          <p:nvSpPr>
            <p:cNvPr id="29" name="Rectangle 29"/>
            <p:cNvSpPr/>
            <p:nvPr/>
          </p:nvSpPr>
          <p:spPr>
            <a:xfrm>
              <a:off x="6210300" y="4095750"/>
              <a:ext cx="47625" cy="247650"/>
            </a:xfrm>
            <a:prstGeom prst="roundRect">
              <a:avLst>
                <a:gd name="adj" fmla="val 50000"/>
              </a:avLst>
            </a:prstGeom>
            <a:solidFill>
              <a:srgbClr val="F2A65A"/>
            </a:solidFill>
            <a:ln>
              <a:noFill/>
            </a:ln>
          </p:spPr>
        </p:sp>
        <p:sp>
          <p:nvSpPr>
            <p:cNvPr id="30" name="TextBox 30"/>
            <p:cNvSpPr txBox="1"/>
            <p:nvPr/>
          </p:nvSpPr>
          <p:spPr>
            <a:xfrm>
              <a:off x="6413373" y="4148614"/>
              <a:ext cx="1258166"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Open question</a:t>
              </a:r>
            </a:p>
          </p:txBody>
        </p:sp>
        <p:sp>
          <p:nvSpPr>
            <p:cNvPr id="31" name="TextBox 31"/>
            <p:cNvSpPr txBox="1"/>
            <p:nvPr/>
          </p:nvSpPr>
          <p:spPr>
            <a:xfrm>
              <a:off x="6412992" y="4426268"/>
              <a:ext cx="253671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Can infinite-width theory be</a:t>
              </a:r>
            </a:p>
          </p:txBody>
        </p:sp>
        <p:sp>
          <p:nvSpPr>
            <p:cNvPr id="32" name="TextBox 32"/>
            <p:cNvSpPr txBox="1"/>
            <p:nvPr/>
          </p:nvSpPr>
          <p:spPr>
            <a:xfrm>
              <a:off x="6412992" y="4673918"/>
              <a:ext cx="294605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extended to the Jacobian, and to</a:t>
              </a:r>
            </a:p>
          </p:txBody>
        </p:sp>
        <p:sp>
          <p:nvSpPr>
            <p:cNvPr id="33" name="TextBox 33"/>
            <p:cNvSpPr txBox="1"/>
            <p:nvPr/>
          </p:nvSpPr>
          <p:spPr>
            <a:xfrm>
              <a:off x="6412992" y="4921568"/>
              <a:ext cx="254894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training that regularises it?</a:t>
              </a:r>
            </a:p>
          </p:txBody>
        </p:sp>
      </p:grpSp>
      <p:sp>
        <p:nvSpPr>
          <p:cNvPr id="35" name="cue_s02_c1_over_last_few_years_infinite_width" title="cue_s02_c1_over_last_few_years_infinite_width" descr="cue_s02_c1_over_last_few_years_infinite_width Over the last few years, infinite-width theory has given us remarkably clean answers about deep networks. Tools like the Neural Tangent Kernel tell us how a network initialises, how it trains, and where gradient descent ends up."/>
          <p:cNvSpPr/>
          <p:nvPr/>
        </p:nvSpPr>
        <p:spPr>
          <a:xfrm>
            <a:off x="609600"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2_c2_but_catch_all_describes_network" title="cue_s02_c2_but_catch_all_describes_network" descr="cue_s02_c2_but_catch_all_describes_network But there is a catch: all of this describes a network's output. It says nothing about the network's input-output Jacobian, the object that captures how smooth the network is."/>
          <p:cNvSpPr/>
          <p:nvPr/>
        </p:nvSpPr>
        <p:spPr>
          <a:xfrm>
            <a:off x="6210604"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2_c3_smoothness_exactly_what_care_about" title="cue_s02_c3_smoothness_exactly_what_care_about" descr="cue_s02_c3_smoothness_exactly_what_care_about And smoothness is exactly what we care about when we want robustness to noise or to adversarial attacks."/>
          <p:cNvSpPr/>
          <p:nvPr/>
        </p:nvSpPr>
        <p:spPr>
          <a:xfrm>
            <a:off x="609600"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2_c4_natural_question_left_wide_open" title="cue_s02_c4_natural_question_left_wide_open" descr="cue_s02_c4_natural_question_left_wide_open So a natural question is left wide open: can we extend infinite-width theory to the Jacobian itself, and to training that deliberately regularises it?"/>
          <p:cNvSpPr/>
          <p:nvPr/>
        </p:nvSpPr>
        <p:spPr>
          <a:xfrm>
            <a:off x="6210604"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140190"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MOTIVATION</a:t>
            </a:r>
          </a:p>
        </p:txBody>
      </p:sp>
      <p:sp>
        <p:nvSpPr>
          <p:cNvPr id="4" name="TextBox 4"/>
          <p:cNvSpPr txBox="1"/>
          <p:nvPr/>
        </p:nvSpPr>
        <p:spPr>
          <a:xfrm>
            <a:off x="788670" y="614362"/>
            <a:ext cx="827093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Jacobian regularisation works — but nobody knew why</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03 / 10</a:t>
            </a:r>
          </a:p>
        </p:txBody>
      </p:sp>
      <p:grpSp>
        <p:nvGrpSpPr>
          <p:cNvPr id="13" name="Group 13"/>
          <p:cNvGrpSpPr/>
          <p:nvPr/>
        </p:nvGrpSpPr>
        <p:grpSpPr>
          <a:xfrm>
            <a:off x="609600" y="1257300"/>
            <a:ext cx="5372100" cy="2457450"/>
            <a:chOff x="609600" y="1257300"/>
            <a:chExt cx="5372100" cy="2457450"/>
          </a:xfrm>
        </p:grpSpPr>
        <p:sp>
          <p:nvSpPr>
            <p:cNvPr id="7" name="Rectangle 7"/>
            <p:cNvSpPr/>
            <p:nvPr/>
          </p:nvSpPr>
          <p:spPr>
            <a:xfrm>
              <a:off x="609600" y="1257300"/>
              <a:ext cx="5372100" cy="2457450"/>
            </a:xfrm>
            <a:prstGeom prst="roundRect">
              <a:avLst>
                <a:gd name="adj" fmla="val 4651"/>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1167767"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It just works</a:t>
              </a:r>
            </a:p>
          </p:txBody>
        </p:sp>
        <p:sp>
          <p:nvSpPr>
            <p:cNvPr id="10" name="TextBox 10"/>
            <p:cNvSpPr txBox="1"/>
            <p:nvPr/>
          </p:nvSpPr>
          <p:spPr>
            <a:xfrm>
              <a:off x="812292" y="1740218"/>
              <a:ext cx="245450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Jacobian regularisation is a</a:t>
              </a:r>
            </a:p>
          </p:txBody>
        </p:sp>
        <p:sp>
          <p:nvSpPr>
            <p:cNvPr id="11" name="TextBox 11"/>
            <p:cNvSpPr txBox="1"/>
            <p:nvPr/>
          </p:nvSpPr>
          <p:spPr>
            <a:xfrm>
              <a:off x="812292" y="1987868"/>
              <a:ext cx="279429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method that reliably delivers in</a:t>
              </a:r>
            </a:p>
          </p:txBody>
        </p:sp>
        <p:sp>
          <p:nvSpPr>
            <p:cNvPr id="12" name="TextBox 12"/>
            <p:cNvSpPr txBox="1"/>
            <p:nvPr/>
          </p:nvSpPr>
          <p:spPr>
            <a:xfrm>
              <a:off x="812292" y="2235518"/>
              <a:ext cx="8678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practice.</a:t>
              </a:r>
            </a:p>
          </p:txBody>
        </p:sp>
      </p:grpSp>
      <p:grpSp>
        <p:nvGrpSpPr>
          <p:cNvPr id="20" name="Group 20"/>
          <p:cNvGrpSpPr/>
          <p:nvPr/>
        </p:nvGrpSpPr>
        <p:grpSpPr>
          <a:xfrm>
            <a:off x="6210300" y="1257300"/>
            <a:ext cx="5372100" cy="2457450"/>
            <a:chOff x="6210300" y="1257300"/>
            <a:chExt cx="5372100" cy="2457450"/>
          </a:xfrm>
        </p:grpSpPr>
        <p:sp>
          <p:nvSpPr>
            <p:cNvPr id="14" name="Rectangle 14"/>
            <p:cNvSpPr/>
            <p:nvPr/>
          </p:nvSpPr>
          <p:spPr>
            <a:xfrm>
              <a:off x="6210300" y="1257300"/>
              <a:ext cx="5372100" cy="2457450"/>
            </a:xfrm>
            <a:prstGeom prst="roundRect">
              <a:avLst>
                <a:gd name="adj" fmla="val 4651"/>
              </a:avLst>
            </a:prstGeom>
            <a:solidFill>
              <a:schemeClr val="accent5"/>
            </a:solidFill>
            <a:ln w="14288">
              <a:solidFill>
                <a:schemeClr val="accent4"/>
              </a:solidFill>
            </a:ln>
          </p:spPr>
        </p:sp>
        <p:sp>
          <p:nvSpPr>
            <p:cNvPr id="15" name="Rectangle 15"/>
            <p:cNvSpPr/>
            <p:nvPr/>
          </p:nvSpPr>
          <p:spPr>
            <a:xfrm>
              <a:off x="6210300" y="1409700"/>
              <a:ext cx="47625" cy="247650"/>
            </a:xfrm>
            <a:prstGeom prst="roundRect">
              <a:avLst>
                <a:gd name="adj" fmla="val 50000"/>
              </a:avLst>
            </a:prstGeom>
            <a:solidFill>
              <a:srgbClr val="7BE0C8"/>
            </a:solidFill>
            <a:ln>
              <a:noFill/>
            </a:ln>
          </p:spPr>
        </p:sp>
        <p:sp>
          <p:nvSpPr>
            <p:cNvPr id="16" name="TextBox 16"/>
            <p:cNvSpPr txBox="1"/>
            <p:nvPr/>
          </p:nvSpPr>
          <p:spPr>
            <a:xfrm>
              <a:off x="6413373" y="1462564"/>
              <a:ext cx="1366746"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Strong defence</a:t>
              </a:r>
            </a:p>
          </p:txBody>
        </p:sp>
        <p:sp>
          <p:nvSpPr>
            <p:cNvPr id="17" name="TextBox 17"/>
            <p:cNvSpPr txBox="1"/>
            <p:nvPr/>
          </p:nvSpPr>
          <p:spPr>
            <a:xfrm>
              <a:off x="6412992" y="1740218"/>
              <a:ext cx="300045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Add a penalty on the input-output</a:t>
              </a:r>
            </a:p>
          </p:txBody>
        </p:sp>
        <p:sp>
          <p:nvSpPr>
            <p:cNvPr id="18" name="TextBox 18"/>
            <p:cNvSpPr txBox="1"/>
            <p:nvPr/>
          </p:nvSpPr>
          <p:spPr>
            <a:xfrm>
              <a:off x="6412992" y="1987868"/>
              <a:ext cx="269155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Jacobian and you get a simple,</a:t>
              </a:r>
            </a:p>
          </p:txBody>
        </p:sp>
        <p:sp>
          <p:nvSpPr>
            <p:cNvPr id="19" name="TextBox 19"/>
            <p:cNvSpPr txBox="1"/>
            <p:nvPr/>
          </p:nvSpPr>
          <p:spPr>
            <a:xfrm>
              <a:off x="6412992" y="2235518"/>
              <a:ext cx="29851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strong defence vs. adversarials.</a:t>
              </a:r>
            </a:p>
          </p:txBody>
        </p:sp>
      </p:grpSp>
      <p:grpSp>
        <p:nvGrpSpPr>
          <p:cNvPr id="27" name="Group 27"/>
          <p:cNvGrpSpPr/>
          <p:nvPr/>
        </p:nvGrpSpPr>
        <p:grpSpPr>
          <a:xfrm>
            <a:off x="609600" y="3943350"/>
            <a:ext cx="5372100" cy="2457450"/>
            <a:chOff x="609600" y="3943350"/>
            <a:chExt cx="5372100" cy="2457450"/>
          </a:xfrm>
        </p:grpSpPr>
        <p:sp>
          <p:nvSpPr>
            <p:cNvPr id="21" name="Rectangle 21"/>
            <p:cNvSpPr/>
            <p:nvPr/>
          </p:nvSpPr>
          <p:spPr>
            <a:xfrm>
              <a:off x="609600" y="3943350"/>
              <a:ext cx="5372100" cy="2457450"/>
            </a:xfrm>
            <a:prstGeom prst="roundRect">
              <a:avLst>
                <a:gd name="adj" fmla="val 4651"/>
              </a:avLst>
            </a:prstGeom>
            <a:solidFill>
              <a:schemeClr val="accent5"/>
            </a:solidFill>
            <a:ln w="14288">
              <a:solidFill>
                <a:schemeClr val="accent4"/>
              </a:solidFill>
            </a:ln>
          </p:spPr>
        </p:sp>
        <p:sp>
          <p:nvSpPr>
            <p:cNvPr id="22" name="Rectangle 22"/>
            <p:cNvSpPr/>
            <p:nvPr/>
          </p:nvSpPr>
          <p:spPr>
            <a:xfrm>
              <a:off x="609600" y="4095750"/>
              <a:ext cx="47625" cy="247650"/>
            </a:xfrm>
            <a:prstGeom prst="roundRect">
              <a:avLst>
                <a:gd name="adj" fmla="val 50000"/>
              </a:avLst>
            </a:prstGeom>
            <a:solidFill>
              <a:srgbClr val="7BE0C8"/>
            </a:solidFill>
            <a:ln>
              <a:noFill/>
            </a:ln>
          </p:spPr>
        </p:sp>
        <p:sp>
          <p:nvSpPr>
            <p:cNvPr id="23" name="TextBox 23"/>
            <p:cNvSpPr txBox="1"/>
            <p:nvPr/>
          </p:nvSpPr>
          <p:spPr>
            <a:xfrm>
              <a:off x="812673" y="4148614"/>
              <a:ext cx="96880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Theory gap</a:t>
              </a:r>
            </a:p>
          </p:txBody>
        </p:sp>
        <p:sp>
          <p:nvSpPr>
            <p:cNvPr id="24" name="TextBox 24"/>
            <p:cNvSpPr txBox="1"/>
            <p:nvPr/>
          </p:nvSpPr>
          <p:spPr>
            <a:xfrm>
              <a:off x="812292" y="4426268"/>
              <a:ext cx="243651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infinite-width limit had</a:t>
              </a:r>
            </a:p>
          </p:txBody>
        </p:sp>
        <p:sp>
          <p:nvSpPr>
            <p:cNvPr id="25" name="TextBox 25"/>
            <p:cNvSpPr txBox="1"/>
            <p:nvPr/>
          </p:nvSpPr>
          <p:spPr>
            <a:xfrm>
              <a:off x="812292" y="4673918"/>
              <a:ext cx="278520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never been pushed to cover the</a:t>
              </a:r>
            </a:p>
          </p:txBody>
        </p:sp>
        <p:sp>
          <p:nvSpPr>
            <p:cNvPr id="26" name="TextBox 26"/>
            <p:cNvSpPr txBox="1"/>
            <p:nvPr/>
          </p:nvSpPr>
          <p:spPr>
            <a:xfrm>
              <a:off x="812292" y="4921568"/>
              <a:ext cx="280945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Jacobian, let alone its penalty.</a:t>
              </a:r>
            </a:p>
          </p:txBody>
        </p:sp>
      </p:grpSp>
      <p:grpSp>
        <p:nvGrpSpPr>
          <p:cNvPr id="34" name="Group 34"/>
          <p:cNvGrpSpPr/>
          <p:nvPr/>
        </p:nvGrpSpPr>
        <p:grpSpPr>
          <a:xfrm>
            <a:off x="6210300" y="3943350"/>
            <a:ext cx="5372100" cy="2457450"/>
            <a:chOff x="6210300" y="3943350"/>
            <a:chExt cx="5372100" cy="2457450"/>
          </a:xfrm>
        </p:grpSpPr>
        <p:sp>
          <p:nvSpPr>
            <p:cNvPr id="28" name="Rectangle 28"/>
            <p:cNvSpPr/>
            <p:nvPr/>
          </p:nvSpPr>
          <p:spPr>
            <a:xfrm>
              <a:off x="6210300" y="3943350"/>
              <a:ext cx="5372100" cy="2457450"/>
            </a:xfrm>
            <a:prstGeom prst="roundRect">
              <a:avLst>
                <a:gd name="adj" fmla="val 4651"/>
              </a:avLst>
            </a:prstGeom>
            <a:solidFill>
              <a:schemeClr val="accent5"/>
            </a:solidFill>
            <a:ln w="14288">
              <a:solidFill>
                <a:schemeClr val="accent4"/>
              </a:solidFill>
            </a:ln>
          </p:spPr>
        </p:sp>
        <p:sp>
          <p:nvSpPr>
            <p:cNvPr id="29" name="Rectangle 29"/>
            <p:cNvSpPr/>
            <p:nvPr/>
          </p:nvSpPr>
          <p:spPr>
            <a:xfrm>
              <a:off x="6210300" y="4095750"/>
              <a:ext cx="47625" cy="247650"/>
            </a:xfrm>
            <a:prstGeom prst="roundRect">
              <a:avLst>
                <a:gd name="adj" fmla="val 50000"/>
              </a:avLst>
            </a:prstGeom>
            <a:solidFill>
              <a:srgbClr val="F2A65A"/>
            </a:solidFill>
            <a:ln>
              <a:noFill/>
            </a:ln>
          </p:spPr>
        </p:sp>
        <p:sp>
          <p:nvSpPr>
            <p:cNvPr id="30" name="TextBox 30"/>
            <p:cNvSpPr txBox="1"/>
            <p:nvPr/>
          </p:nvSpPr>
          <p:spPr>
            <a:xfrm>
              <a:off x="6413373" y="4148614"/>
              <a:ext cx="1375832"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This paper asks</a:t>
              </a:r>
            </a:p>
          </p:txBody>
        </p:sp>
        <p:sp>
          <p:nvSpPr>
            <p:cNvPr id="31" name="TextBox 31"/>
            <p:cNvSpPr txBox="1"/>
            <p:nvPr/>
          </p:nvSpPr>
          <p:spPr>
            <a:xfrm>
              <a:off x="6412992" y="4426268"/>
              <a:ext cx="298201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Can that same infinite-width lens</a:t>
              </a:r>
            </a:p>
          </p:txBody>
        </p:sp>
        <p:sp>
          <p:nvSpPr>
            <p:cNvPr id="32" name="TextBox 32"/>
            <p:cNvSpPr txBox="1"/>
            <p:nvPr/>
          </p:nvSpPr>
          <p:spPr>
            <a:xfrm>
              <a:off x="6412992" y="4673918"/>
              <a:ext cx="254536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finally explain what Jacobian</a:t>
              </a:r>
            </a:p>
          </p:txBody>
        </p:sp>
        <p:sp>
          <p:nvSpPr>
            <p:cNvPr id="33" name="TextBox 33"/>
            <p:cNvSpPr txBox="1"/>
            <p:nvPr/>
          </p:nvSpPr>
          <p:spPr>
            <a:xfrm>
              <a:off x="6412992" y="4921568"/>
              <a:ext cx="209460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regularisation is doing?</a:t>
              </a:r>
            </a:p>
          </p:txBody>
        </p:sp>
      </p:grpSp>
      <p:sp>
        <p:nvSpPr>
          <p:cNvPr id="35" name="cue_s03_c1_jacobian_regularisation_one_those_me" title="cue_s03_c1_jacobian_regularisation_one_those_me" descr="cue_s03_c1_jacobian_regularisation_one_those_me Jacobian regularisation is one of those methods that just works."/>
          <p:cNvSpPr/>
          <p:nvPr/>
        </p:nvSpPr>
        <p:spPr>
          <a:xfrm>
            <a:off x="609600"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3_c2_add_penalty_network_input_output_jac" title="cue_s03_c2_add_penalty_network_input_output_jac" descr="cue_s03_c2_add_penalty_network_input_output_jac Add a penalty on the network's input-output Jacobian and you get a simple, strong defence against adversarial examples. The problem is that nobody could really explain why."/>
          <p:cNvSpPr/>
          <p:nvPr/>
        </p:nvSpPr>
        <p:spPr>
          <a:xfrm>
            <a:off x="6210604"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3_c3_theory_had_cracked_open_ordinary" title="cue_s03_c3_theory_had_cracked_open_ordinary" descr="cue_s03_c3_theory_had_cracked_open_ordinary The theory that had cracked open ordinary training, the infinite-width limit, had never been pushed to cover the Jacobian, let alone training that penalises it."/>
          <p:cNvSpPr/>
          <p:nvPr/>
        </p:nvSpPr>
        <p:spPr>
          <a:xfrm>
            <a:off x="609600"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3_c4_asks_whether_same_lens_finally" title="cue_s03_c4_asks_whether_same_lens_finally" descr="cue_s03_c4_asks_whether_same_lens_finally This paper asks whether that same lens can finally explain what Jacobian regularisation is doing."/>
          <p:cNvSpPr/>
          <p:nvPr/>
        </p:nvSpPr>
        <p:spPr>
          <a:xfrm>
            <a:off x="6210604"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333409"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CONTRIBUTION</a:t>
            </a:r>
          </a:p>
        </p:txBody>
      </p:sp>
      <p:sp>
        <p:nvSpPr>
          <p:cNvPr id="4" name="TextBox 4"/>
          <p:cNvSpPr txBox="1"/>
          <p:nvPr/>
        </p:nvSpPr>
        <p:spPr>
          <a:xfrm>
            <a:off x="788670" y="614362"/>
            <a:ext cx="831821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moves, from initialisation to a kernel regressor</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04 / 10</a:t>
            </a:r>
          </a:p>
        </p:txBody>
      </p:sp>
      <p:grpSp>
        <p:nvGrpSpPr>
          <p:cNvPr id="13" name="Group 13"/>
          <p:cNvGrpSpPr/>
          <p:nvPr/>
        </p:nvGrpSpPr>
        <p:grpSpPr>
          <a:xfrm>
            <a:off x="609600" y="1257300"/>
            <a:ext cx="5372100" cy="2457450"/>
            <a:chOff x="609600" y="1257300"/>
            <a:chExt cx="5372100" cy="2457450"/>
          </a:xfrm>
        </p:grpSpPr>
        <p:sp>
          <p:nvSpPr>
            <p:cNvPr id="7" name="Rectangle 7"/>
            <p:cNvSpPr/>
            <p:nvPr/>
          </p:nvSpPr>
          <p:spPr>
            <a:xfrm>
              <a:off x="609600" y="1257300"/>
              <a:ext cx="5372100" cy="2457450"/>
            </a:xfrm>
            <a:prstGeom prst="roundRect">
              <a:avLst>
                <a:gd name="adj" fmla="val 4651"/>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1087150"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1 · Init limit</a:t>
              </a:r>
            </a:p>
          </p:txBody>
        </p:sp>
        <p:sp>
          <p:nvSpPr>
            <p:cNvPr id="10" name="TextBox 10"/>
            <p:cNvSpPr txBox="1"/>
            <p:nvPr/>
          </p:nvSpPr>
          <p:spPr>
            <a:xfrm>
              <a:off x="812292" y="1740218"/>
              <a:ext cx="280934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MLP + Jacobian jointly converge</a:t>
              </a:r>
            </a:p>
          </p:txBody>
        </p:sp>
        <p:sp>
          <p:nvSpPr>
            <p:cNvPr id="11" name="TextBox 11"/>
            <p:cNvSpPr txBox="1"/>
            <p:nvPr/>
          </p:nvSpPr>
          <p:spPr>
            <a:xfrm>
              <a:off x="812292" y="1987868"/>
              <a:ext cx="289632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 a zero-mean GP: the Jacobian</a:t>
              </a:r>
            </a:p>
          </p:txBody>
        </p:sp>
        <p:sp>
          <p:nvSpPr>
            <p:cNvPr id="12" name="TextBox 12"/>
            <p:cNvSpPr txBox="1"/>
            <p:nvPr/>
          </p:nvSpPr>
          <p:spPr>
            <a:xfrm>
              <a:off x="812292" y="2235518"/>
              <a:ext cx="311906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NNGP kernel, inductive over depth.</a:t>
              </a:r>
            </a:p>
          </p:txBody>
        </p:sp>
      </p:grpSp>
      <p:grpSp>
        <p:nvGrpSpPr>
          <p:cNvPr id="20" name="Group 20"/>
          <p:cNvGrpSpPr/>
          <p:nvPr/>
        </p:nvGrpSpPr>
        <p:grpSpPr>
          <a:xfrm>
            <a:off x="6210300" y="1257300"/>
            <a:ext cx="5372100" cy="2457450"/>
            <a:chOff x="6210300" y="1257300"/>
            <a:chExt cx="5372100" cy="2457450"/>
          </a:xfrm>
        </p:grpSpPr>
        <p:sp>
          <p:nvSpPr>
            <p:cNvPr id="14" name="Rectangle 14"/>
            <p:cNvSpPr/>
            <p:nvPr/>
          </p:nvSpPr>
          <p:spPr>
            <a:xfrm>
              <a:off x="6210300" y="1257300"/>
              <a:ext cx="5372100" cy="2457450"/>
            </a:xfrm>
            <a:prstGeom prst="roundRect">
              <a:avLst>
                <a:gd name="adj" fmla="val 4651"/>
              </a:avLst>
            </a:prstGeom>
            <a:solidFill>
              <a:schemeClr val="accent5"/>
            </a:solidFill>
            <a:ln w="14288">
              <a:solidFill>
                <a:schemeClr val="accent4"/>
              </a:solidFill>
            </a:ln>
          </p:spPr>
        </p:sp>
        <p:sp>
          <p:nvSpPr>
            <p:cNvPr id="15" name="Rectangle 15"/>
            <p:cNvSpPr/>
            <p:nvPr/>
          </p:nvSpPr>
          <p:spPr>
            <a:xfrm>
              <a:off x="6210300" y="1409700"/>
              <a:ext cx="47625" cy="247650"/>
            </a:xfrm>
            <a:prstGeom prst="roundRect">
              <a:avLst>
                <a:gd name="adj" fmla="val 50000"/>
              </a:avLst>
            </a:prstGeom>
            <a:solidFill>
              <a:srgbClr val="7BE0C8"/>
            </a:solidFill>
            <a:ln>
              <a:noFill/>
            </a:ln>
          </p:spPr>
        </p:sp>
        <p:sp>
          <p:nvSpPr>
            <p:cNvPr id="16" name="TextBox 16"/>
            <p:cNvSpPr txBox="1"/>
            <p:nvPr/>
          </p:nvSpPr>
          <p:spPr>
            <a:xfrm>
              <a:off x="6413373" y="1462564"/>
              <a:ext cx="758519"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2 · JNTK</a:t>
              </a:r>
            </a:p>
          </p:txBody>
        </p:sp>
        <p:sp>
          <p:nvSpPr>
            <p:cNvPr id="17" name="TextBox 17"/>
            <p:cNvSpPr txBox="1"/>
            <p:nvPr/>
          </p:nvSpPr>
          <p:spPr>
            <a:xfrm>
              <a:off x="6412992" y="1740218"/>
              <a:ext cx="292560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Define the Jacobian NTK — proven</a:t>
              </a:r>
            </a:p>
          </p:txBody>
        </p:sp>
        <p:sp>
          <p:nvSpPr>
            <p:cNvPr id="18" name="TextBox 18"/>
            <p:cNvSpPr txBox="1"/>
            <p:nvPr/>
          </p:nvSpPr>
          <p:spPr>
            <a:xfrm>
              <a:off x="6412992" y="1987868"/>
              <a:ext cx="30396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deterministic at init and constant</a:t>
              </a:r>
            </a:p>
          </p:txBody>
        </p:sp>
        <p:sp>
          <p:nvSpPr>
            <p:cNvPr id="19" name="TextBox 19"/>
            <p:cNvSpPr txBox="1"/>
            <p:nvPr/>
          </p:nvSpPr>
          <p:spPr>
            <a:xfrm>
              <a:off x="6412992" y="2235518"/>
              <a:ext cx="253077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throughout robust training.</a:t>
              </a:r>
            </a:p>
          </p:txBody>
        </p:sp>
      </p:grpSp>
      <p:grpSp>
        <p:nvGrpSpPr>
          <p:cNvPr id="27" name="Group 27"/>
          <p:cNvGrpSpPr/>
          <p:nvPr/>
        </p:nvGrpSpPr>
        <p:grpSpPr>
          <a:xfrm>
            <a:off x="609600" y="3943350"/>
            <a:ext cx="5372100" cy="2457450"/>
            <a:chOff x="609600" y="3943350"/>
            <a:chExt cx="5372100" cy="2457450"/>
          </a:xfrm>
        </p:grpSpPr>
        <p:sp>
          <p:nvSpPr>
            <p:cNvPr id="21" name="Rectangle 21"/>
            <p:cNvSpPr/>
            <p:nvPr/>
          </p:nvSpPr>
          <p:spPr>
            <a:xfrm>
              <a:off x="609600" y="3943350"/>
              <a:ext cx="5372100" cy="2457450"/>
            </a:xfrm>
            <a:prstGeom prst="roundRect">
              <a:avLst>
                <a:gd name="adj" fmla="val 4651"/>
              </a:avLst>
            </a:prstGeom>
            <a:solidFill>
              <a:schemeClr val="accent5"/>
            </a:solidFill>
            <a:ln w="14288">
              <a:solidFill>
                <a:schemeClr val="accent4"/>
              </a:solidFill>
            </a:ln>
          </p:spPr>
        </p:sp>
        <p:sp>
          <p:nvSpPr>
            <p:cNvPr id="22" name="Rectangle 22"/>
            <p:cNvSpPr/>
            <p:nvPr/>
          </p:nvSpPr>
          <p:spPr>
            <a:xfrm>
              <a:off x="609600" y="4095750"/>
              <a:ext cx="47625" cy="247650"/>
            </a:xfrm>
            <a:prstGeom prst="roundRect">
              <a:avLst>
                <a:gd name="adj" fmla="val 50000"/>
              </a:avLst>
            </a:prstGeom>
            <a:solidFill>
              <a:srgbClr val="7BE0C8"/>
            </a:solidFill>
            <a:ln>
              <a:noFill/>
            </a:ln>
          </p:spPr>
        </p:sp>
        <p:sp>
          <p:nvSpPr>
            <p:cNvPr id="23" name="TextBox 23"/>
            <p:cNvSpPr txBox="1"/>
            <p:nvPr/>
          </p:nvSpPr>
          <p:spPr>
            <a:xfrm>
              <a:off x="812673" y="4148614"/>
              <a:ext cx="1115321"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3 · Dynamics</a:t>
              </a:r>
            </a:p>
          </p:txBody>
        </p:sp>
        <p:sp>
          <p:nvSpPr>
            <p:cNvPr id="24" name="TextBox 24"/>
            <p:cNvSpPr txBox="1"/>
            <p:nvPr/>
          </p:nvSpPr>
          <p:spPr>
            <a:xfrm>
              <a:off x="812292" y="4426268"/>
              <a:ext cx="305426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Constant kernel collapses training</a:t>
              </a:r>
            </a:p>
          </p:txBody>
        </p:sp>
        <p:sp>
          <p:nvSpPr>
            <p:cNvPr id="25" name="TextBox 25"/>
            <p:cNvSpPr txBox="1"/>
            <p:nvPr/>
          </p:nvSpPr>
          <p:spPr>
            <a:xfrm>
              <a:off x="812292" y="4673918"/>
              <a:ext cx="304038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 a linear first-order ODE whose</a:t>
              </a:r>
            </a:p>
          </p:txBody>
        </p:sp>
        <p:sp>
          <p:nvSpPr>
            <p:cNvPr id="26" name="TextBox 26"/>
            <p:cNvSpPr txBox="1"/>
            <p:nvPr/>
          </p:nvSpPr>
          <p:spPr>
            <a:xfrm>
              <a:off x="812292" y="4921568"/>
              <a:ext cx="274885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solution is a kernel regressor.</a:t>
              </a:r>
            </a:p>
          </p:txBody>
        </p:sp>
      </p:grpSp>
      <p:grpSp>
        <p:nvGrpSpPr>
          <p:cNvPr id="34" name="Group 34"/>
          <p:cNvGrpSpPr/>
          <p:nvPr/>
        </p:nvGrpSpPr>
        <p:grpSpPr>
          <a:xfrm>
            <a:off x="6210300" y="3943350"/>
            <a:ext cx="5372100" cy="2457450"/>
            <a:chOff x="6210300" y="3943350"/>
            <a:chExt cx="5372100" cy="2457450"/>
          </a:xfrm>
        </p:grpSpPr>
        <p:sp>
          <p:nvSpPr>
            <p:cNvPr id="28" name="Rectangle 28"/>
            <p:cNvSpPr/>
            <p:nvPr/>
          </p:nvSpPr>
          <p:spPr>
            <a:xfrm>
              <a:off x="6210300" y="3943350"/>
              <a:ext cx="5372100" cy="2457450"/>
            </a:xfrm>
            <a:prstGeom prst="roundRect">
              <a:avLst>
                <a:gd name="adj" fmla="val 4651"/>
              </a:avLst>
            </a:prstGeom>
            <a:solidFill>
              <a:schemeClr val="accent5"/>
            </a:solidFill>
            <a:ln w="14288">
              <a:solidFill>
                <a:schemeClr val="accent4"/>
              </a:solidFill>
            </a:ln>
          </p:spPr>
        </p:sp>
        <p:sp>
          <p:nvSpPr>
            <p:cNvPr id="29" name="Rectangle 29"/>
            <p:cNvSpPr/>
            <p:nvPr/>
          </p:nvSpPr>
          <p:spPr>
            <a:xfrm>
              <a:off x="6210300" y="4095750"/>
              <a:ext cx="47625" cy="247650"/>
            </a:xfrm>
            <a:prstGeom prst="roundRect">
              <a:avLst>
                <a:gd name="adj" fmla="val 50000"/>
              </a:avLst>
            </a:prstGeom>
            <a:solidFill>
              <a:srgbClr val="F2A65A"/>
            </a:solidFill>
            <a:ln>
              <a:noFill/>
            </a:ln>
          </p:spPr>
        </p:sp>
        <p:sp>
          <p:nvSpPr>
            <p:cNvPr id="30" name="TextBox 30"/>
            <p:cNvSpPr txBox="1"/>
            <p:nvPr/>
          </p:nvSpPr>
          <p:spPr>
            <a:xfrm>
              <a:off x="6413373" y="4148614"/>
              <a:ext cx="1186553"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4 · Validation</a:t>
              </a:r>
            </a:p>
          </p:txBody>
        </p:sp>
        <p:sp>
          <p:nvSpPr>
            <p:cNvPr id="31" name="TextBox 31"/>
            <p:cNvSpPr txBox="1"/>
            <p:nvPr/>
          </p:nvSpPr>
          <p:spPr>
            <a:xfrm>
              <a:off x="6412992" y="4426268"/>
              <a:ext cx="300002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Verified empirically, then used to</a:t>
              </a:r>
            </a:p>
          </p:txBody>
        </p:sp>
        <p:sp>
          <p:nvSpPr>
            <p:cNvPr id="32" name="TextBox 32"/>
            <p:cNvSpPr txBox="1"/>
            <p:nvPr/>
          </p:nvSpPr>
          <p:spPr>
            <a:xfrm>
              <a:off x="6412992" y="4673918"/>
              <a:ext cx="221273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study when accuracy and</a:t>
              </a:r>
            </a:p>
          </p:txBody>
        </p:sp>
        <p:sp>
          <p:nvSpPr>
            <p:cNvPr id="33" name="TextBox 33"/>
            <p:cNvSpPr txBox="1"/>
            <p:nvPr/>
          </p:nvSpPr>
          <p:spPr>
            <a:xfrm>
              <a:off x="6412992" y="4921568"/>
              <a:ext cx="222182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robustness go together.</a:t>
              </a:r>
            </a:p>
          </p:txBody>
        </p:sp>
      </p:grpSp>
      <p:sp>
        <p:nvSpPr>
          <p:cNvPr id="35" name="cue_s04_c1_makes_four_moves_first_proves" title="cue_s04_c1_makes_four_moves_first_proves" descr="cue_s04_c1_makes_four_moves_first_proves The paper makes four moves. First, it proves that at initialisation a multilayer perceptron and its Jacobian jointly converge to a zero-mean Gaussian process, and it writes down that limiting kernel, the Jacobian NNGP kernel, inductively over depth."/>
          <p:cNvSpPr/>
          <p:nvPr/>
        </p:nvSpPr>
        <p:spPr>
          <a:xfrm>
            <a:off x="609600"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4_c2_second_defines_jacobian_neural_tange" title="cue_s04_c2_second_defines_jacobian_neural_tange" descr="cue_s04_c2_second_defines_jacobian_neural_tange Second, it defines a Jacobian Neural Tangent Kernel, the JNTK, and proves it becomes deterministic at initialisation and then stays constant throughout robust training as width grows."/>
          <p:cNvSpPr/>
          <p:nvPr/>
        </p:nvSpPr>
        <p:spPr>
          <a:xfrm>
            <a:off x="6210604" y="1257071"/>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4_c3_third_because_kernel_constant_dynami" title="cue_s04_c3_third_because_kernel_constant_dynami" descr="cue_s04_c3_third_because_kernel_constant_dynami Third, because the kernel is constant, the training dynamics collapse to a linear first-order differential equation whose infinite-time solution is a plain kernel regressor."/>
          <p:cNvSpPr/>
          <p:nvPr/>
        </p:nvSpPr>
        <p:spPr>
          <a:xfrm>
            <a:off x="609600"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4_c4_fourth_validates_all_empirically_sol" title="cue_s04_c4_fourth_validates_all_empirically_sol" descr="cue_s04_c4_fourth_validates_all_empirically_sol And fourth, it validates all of this empirically and uses the solution to study when accuracy and robustness go together."/>
          <p:cNvSpPr/>
          <p:nvPr/>
        </p:nvSpPr>
        <p:spPr>
          <a:xfrm>
            <a:off x="6210604" y="3943349"/>
            <a:ext cx="5371795" cy="24572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737025"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METHOD</a:t>
            </a:r>
          </a:p>
        </p:txBody>
      </p:sp>
      <p:sp>
        <p:nvSpPr>
          <p:cNvPr id="4" name="TextBox 4"/>
          <p:cNvSpPr txBox="1"/>
          <p:nvPr/>
        </p:nvSpPr>
        <p:spPr>
          <a:xfrm>
            <a:off x="788670" y="614362"/>
            <a:ext cx="70086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From a Jacobian penalty to kernel regression</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05 / 10</a:t>
            </a:r>
          </a:p>
        </p:txBody>
      </p:sp>
      <p:grpSp>
        <p:nvGrpSpPr>
          <p:cNvPr id="11" name="Group 11"/>
          <p:cNvGrpSpPr/>
          <p:nvPr/>
        </p:nvGrpSpPr>
        <p:grpSpPr>
          <a:xfrm>
            <a:off x="609600" y="1257300"/>
            <a:ext cx="10972800" cy="914400"/>
            <a:chOff x="609600" y="1257300"/>
            <a:chExt cx="10972800" cy="914400"/>
          </a:xfrm>
        </p:grpSpPr>
        <p:sp>
          <p:nvSpPr>
            <p:cNvPr id="7" name="Rectangle 7"/>
            <p:cNvSpPr/>
            <p:nvPr/>
          </p:nvSpPr>
          <p:spPr>
            <a:xfrm>
              <a:off x="609600" y="1257300"/>
              <a:ext cx="10972800" cy="914400"/>
            </a:xfrm>
            <a:prstGeom prst="roundRect">
              <a:avLst>
                <a:gd name="adj" fmla="val 12500"/>
              </a:avLst>
            </a:prstGeom>
            <a:solidFill>
              <a:schemeClr val="accent5"/>
            </a:solidFill>
            <a:ln w="14288">
              <a:solidFill>
                <a:schemeClr val="accent4"/>
              </a:solidFill>
            </a:ln>
          </p:spPr>
        </p:sp>
        <p:sp>
          <p:nvSpPr>
            <p:cNvPr id="8" name="Rectangle 8"/>
            <p:cNvSpPr/>
            <p:nvPr/>
          </p:nvSpPr>
          <p:spPr>
            <a:xfrm>
              <a:off x="609600" y="1409700"/>
              <a:ext cx="47625" cy="247650"/>
            </a:xfrm>
            <a:prstGeom prst="roundRect">
              <a:avLst>
                <a:gd name="adj" fmla="val 50000"/>
              </a:avLst>
            </a:prstGeom>
            <a:solidFill>
              <a:schemeClr val="accent2"/>
            </a:solidFill>
            <a:ln>
              <a:noFill/>
            </a:ln>
          </p:spPr>
        </p:sp>
        <p:sp>
          <p:nvSpPr>
            <p:cNvPr id="9" name="TextBox 9"/>
            <p:cNvSpPr txBox="1"/>
            <p:nvPr/>
          </p:nvSpPr>
          <p:spPr>
            <a:xfrm>
              <a:off x="812673" y="1462564"/>
              <a:ext cx="2234792"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Robust training objective</a:t>
              </a:r>
            </a:p>
          </p:txBody>
        </p:sp>
        <p:sp>
          <p:nvSpPr>
            <p:cNvPr id="10" name="TextBox 10"/>
            <p:cNvSpPr txBox="1"/>
            <p:nvPr/>
          </p:nvSpPr>
          <p:spPr>
            <a:xfrm>
              <a:off x="810768" y="1803082"/>
              <a:ext cx="756810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minimise MSE(f) + λ · ‖ ∂f/∂x ‖² summed over every training point</a:t>
              </a:r>
            </a:p>
          </p:txBody>
        </p:sp>
      </p:grpSp>
      <p:grpSp>
        <p:nvGrpSpPr>
          <p:cNvPr id="19" name="Group 19"/>
          <p:cNvGrpSpPr/>
          <p:nvPr/>
        </p:nvGrpSpPr>
        <p:grpSpPr>
          <a:xfrm>
            <a:off x="609600" y="2362200"/>
            <a:ext cx="3530600" cy="4038600"/>
            <a:chOff x="609600" y="2362200"/>
            <a:chExt cx="3530600" cy="4038600"/>
          </a:xfrm>
        </p:grpSpPr>
        <p:sp>
          <p:nvSpPr>
            <p:cNvPr id="12" name="Rectangle 12"/>
            <p:cNvSpPr/>
            <p:nvPr/>
          </p:nvSpPr>
          <p:spPr>
            <a:xfrm>
              <a:off x="609600" y="2362200"/>
              <a:ext cx="3530600" cy="4038600"/>
            </a:xfrm>
            <a:prstGeom prst="roundRect">
              <a:avLst>
                <a:gd name="adj" fmla="val 3237"/>
              </a:avLst>
            </a:prstGeom>
            <a:solidFill>
              <a:schemeClr val="accent5"/>
            </a:solidFill>
            <a:ln w="14288">
              <a:solidFill>
                <a:schemeClr val="accent4"/>
              </a:solidFill>
            </a:ln>
          </p:spPr>
        </p:sp>
        <p:sp>
          <p:nvSpPr>
            <p:cNvPr id="13" name="Rectangle 13"/>
            <p:cNvSpPr/>
            <p:nvPr/>
          </p:nvSpPr>
          <p:spPr>
            <a:xfrm>
              <a:off x="609600" y="2514600"/>
              <a:ext cx="47625" cy="247650"/>
            </a:xfrm>
            <a:prstGeom prst="roundRect">
              <a:avLst>
                <a:gd name="adj" fmla="val 50000"/>
              </a:avLst>
            </a:prstGeom>
            <a:solidFill>
              <a:srgbClr val="7BE0C8"/>
            </a:solidFill>
            <a:ln>
              <a:noFill/>
            </a:ln>
          </p:spPr>
        </p:sp>
        <p:sp>
          <p:nvSpPr>
            <p:cNvPr id="14" name="TextBox 14"/>
            <p:cNvSpPr txBox="1"/>
            <p:nvPr/>
          </p:nvSpPr>
          <p:spPr>
            <a:xfrm>
              <a:off x="812673" y="2567464"/>
              <a:ext cx="1403090"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Tensor program</a:t>
              </a:r>
            </a:p>
          </p:txBody>
        </p:sp>
        <p:sp>
          <p:nvSpPr>
            <p:cNvPr id="15" name="TextBox 15"/>
            <p:cNvSpPr txBox="1"/>
            <p:nvPr/>
          </p:nvSpPr>
          <p:spPr>
            <a:xfrm>
              <a:off x="812292" y="2845118"/>
              <a:ext cx="299134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Recast the joint object — network</a:t>
              </a:r>
            </a:p>
          </p:txBody>
        </p:sp>
        <p:sp>
          <p:nvSpPr>
            <p:cNvPr id="16" name="TextBox 16"/>
            <p:cNvSpPr txBox="1"/>
            <p:nvPr/>
          </p:nvSpPr>
          <p:spPr>
            <a:xfrm>
              <a:off x="812292" y="3092768"/>
              <a:ext cx="285523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its Jacobian together — as a</a:t>
              </a:r>
            </a:p>
          </p:txBody>
        </p:sp>
        <p:sp>
          <p:nvSpPr>
            <p:cNvPr id="17" name="TextBox 17"/>
            <p:cNvSpPr txBox="1"/>
            <p:nvPr/>
          </p:nvSpPr>
          <p:spPr>
            <a:xfrm>
              <a:off x="812292" y="3340418"/>
              <a:ext cx="236721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tensor program; apply the</a:t>
              </a:r>
            </a:p>
          </p:txBody>
        </p:sp>
        <p:sp>
          <p:nvSpPr>
            <p:cNvPr id="18" name="TextBox 18"/>
            <p:cNvSpPr txBox="1"/>
            <p:nvPr/>
          </p:nvSpPr>
          <p:spPr>
            <a:xfrm>
              <a:off x="812292" y="3588068"/>
              <a:ext cx="154695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Master theorem.</a:t>
              </a:r>
            </a:p>
          </p:txBody>
        </p:sp>
      </p:grpSp>
      <p:grpSp>
        <p:nvGrpSpPr>
          <p:cNvPr id="27" name="Group 27"/>
          <p:cNvGrpSpPr/>
          <p:nvPr/>
        </p:nvGrpSpPr>
        <p:grpSpPr>
          <a:xfrm>
            <a:off x="4330700" y="2362200"/>
            <a:ext cx="3530600" cy="4038600"/>
            <a:chOff x="4330700" y="2362200"/>
            <a:chExt cx="3530600" cy="4038600"/>
          </a:xfrm>
        </p:grpSpPr>
        <p:sp>
          <p:nvSpPr>
            <p:cNvPr id="20" name="Rectangle 20"/>
            <p:cNvSpPr/>
            <p:nvPr/>
          </p:nvSpPr>
          <p:spPr>
            <a:xfrm>
              <a:off x="4330700" y="2362200"/>
              <a:ext cx="3530600" cy="4038600"/>
            </a:xfrm>
            <a:prstGeom prst="roundRect">
              <a:avLst>
                <a:gd name="adj" fmla="val 3237"/>
              </a:avLst>
            </a:prstGeom>
            <a:solidFill>
              <a:schemeClr val="accent5"/>
            </a:solidFill>
            <a:ln w="14288">
              <a:solidFill>
                <a:schemeClr val="accent4"/>
              </a:solidFill>
            </a:ln>
          </p:spPr>
        </p:sp>
        <p:sp>
          <p:nvSpPr>
            <p:cNvPr id="21" name="Rectangle 21"/>
            <p:cNvSpPr/>
            <p:nvPr/>
          </p:nvSpPr>
          <p:spPr>
            <a:xfrm>
              <a:off x="4330700" y="2514600"/>
              <a:ext cx="47625" cy="247650"/>
            </a:xfrm>
            <a:prstGeom prst="roundRect">
              <a:avLst>
                <a:gd name="adj" fmla="val 50000"/>
              </a:avLst>
            </a:prstGeom>
            <a:solidFill>
              <a:srgbClr val="7BE0C8"/>
            </a:solidFill>
            <a:ln>
              <a:noFill/>
            </a:ln>
          </p:spPr>
        </p:sp>
        <p:sp>
          <p:nvSpPr>
            <p:cNvPr id="22" name="TextBox 22"/>
            <p:cNvSpPr txBox="1"/>
            <p:nvPr/>
          </p:nvSpPr>
          <p:spPr>
            <a:xfrm>
              <a:off x="4533773" y="2567464"/>
              <a:ext cx="999019"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Finite JNTK</a:t>
              </a:r>
            </a:p>
          </p:txBody>
        </p:sp>
        <p:sp>
          <p:nvSpPr>
            <p:cNvPr id="23" name="TextBox 23"/>
            <p:cNvSpPr txBox="1"/>
            <p:nvPr/>
          </p:nvSpPr>
          <p:spPr>
            <a:xfrm>
              <a:off x="4533392" y="2845118"/>
              <a:ext cx="266954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Build the finite JNTK from the</a:t>
              </a:r>
            </a:p>
          </p:txBody>
        </p:sp>
        <p:sp>
          <p:nvSpPr>
            <p:cNvPr id="24" name="TextBox 24"/>
            <p:cNvSpPr txBox="1"/>
            <p:nvPr/>
          </p:nvSpPr>
          <p:spPr>
            <a:xfrm>
              <a:off x="4533392" y="3092768"/>
              <a:ext cx="296694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parameter-gradients of both the</a:t>
              </a:r>
            </a:p>
          </p:txBody>
        </p:sp>
        <p:sp>
          <p:nvSpPr>
            <p:cNvPr id="25" name="TextBox 25"/>
            <p:cNvSpPr txBox="1"/>
            <p:nvPr/>
          </p:nvSpPr>
          <p:spPr>
            <a:xfrm>
              <a:off x="4533392" y="3340418"/>
              <a:ext cx="22368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output and each Jacobian</a:t>
              </a:r>
            </a:p>
          </p:txBody>
        </p:sp>
        <p:sp>
          <p:nvSpPr>
            <p:cNvPr id="26" name="TextBox 26"/>
            <p:cNvSpPr txBox="1"/>
            <p:nvPr/>
          </p:nvSpPr>
          <p:spPr>
            <a:xfrm>
              <a:off x="4533392" y="3588068"/>
              <a:ext cx="104961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component.</a:t>
              </a:r>
            </a:p>
          </p:txBody>
        </p:sp>
      </p:grpSp>
      <p:grpSp>
        <p:nvGrpSpPr>
          <p:cNvPr id="35" name="Group 35"/>
          <p:cNvGrpSpPr/>
          <p:nvPr/>
        </p:nvGrpSpPr>
        <p:grpSpPr>
          <a:xfrm>
            <a:off x="8051800" y="2362200"/>
            <a:ext cx="3530600" cy="4038600"/>
            <a:chOff x="8051800" y="2362200"/>
            <a:chExt cx="3530600" cy="4038600"/>
          </a:xfrm>
        </p:grpSpPr>
        <p:sp>
          <p:nvSpPr>
            <p:cNvPr id="28" name="Rectangle 28"/>
            <p:cNvSpPr/>
            <p:nvPr/>
          </p:nvSpPr>
          <p:spPr>
            <a:xfrm>
              <a:off x="8051800" y="2362200"/>
              <a:ext cx="3530600" cy="4038600"/>
            </a:xfrm>
            <a:prstGeom prst="roundRect">
              <a:avLst>
                <a:gd name="adj" fmla="val 3237"/>
              </a:avLst>
            </a:prstGeom>
            <a:solidFill>
              <a:schemeClr val="accent5"/>
            </a:solidFill>
            <a:ln w="14288">
              <a:solidFill>
                <a:schemeClr val="accent4"/>
              </a:solidFill>
            </a:ln>
          </p:spPr>
        </p:sp>
        <p:sp>
          <p:nvSpPr>
            <p:cNvPr id="29" name="Rectangle 29"/>
            <p:cNvSpPr/>
            <p:nvPr/>
          </p:nvSpPr>
          <p:spPr>
            <a:xfrm>
              <a:off x="8051800" y="2514600"/>
              <a:ext cx="47625" cy="247650"/>
            </a:xfrm>
            <a:prstGeom prst="roundRect">
              <a:avLst>
                <a:gd name="adj" fmla="val 50000"/>
              </a:avLst>
            </a:prstGeom>
            <a:solidFill>
              <a:srgbClr val="F2A65A"/>
            </a:solidFill>
            <a:ln>
              <a:noFill/>
            </a:ln>
          </p:spPr>
        </p:sp>
        <p:sp>
          <p:nvSpPr>
            <p:cNvPr id="30" name="TextBox 30"/>
            <p:cNvSpPr txBox="1"/>
            <p:nvPr/>
          </p:nvSpPr>
          <p:spPr>
            <a:xfrm>
              <a:off x="8254873" y="2567464"/>
              <a:ext cx="1429908"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Kernel is frozen</a:t>
              </a:r>
            </a:p>
          </p:txBody>
        </p:sp>
        <p:sp>
          <p:nvSpPr>
            <p:cNvPr id="31" name="TextBox 31"/>
            <p:cNvSpPr txBox="1"/>
            <p:nvPr/>
          </p:nvSpPr>
          <p:spPr>
            <a:xfrm>
              <a:off x="8254492" y="2845118"/>
              <a:ext cx="292783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Show the kernel does not move in</a:t>
              </a:r>
            </a:p>
          </p:txBody>
        </p:sp>
        <p:sp>
          <p:nvSpPr>
            <p:cNvPr id="32" name="TextBox 32"/>
            <p:cNvSpPr txBox="1"/>
            <p:nvPr/>
          </p:nvSpPr>
          <p:spPr>
            <a:xfrm>
              <a:off x="8254492" y="3092768"/>
              <a:ext cx="276821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training → a linear ODE → kernel</a:t>
              </a:r>
            </a:p>
          </p:txBody>
        </p:sp>
        <p:sp>
          <p:nvSpPr>
            <p:cNvPr id="33" name="TextBox 33"/>
            <p:cNvSpPr txBox="1"/>
            <p:nvPr/>
          </p:nvSpPr>
          <p:spPr>
            <a:xfrm>
              <a:off x="8254492" y="3340418"/>
              <a:ext cx="305410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regression with the limiting JNTK,</a:t>
              </a:r>
            </a:p>
          </p:txBody>
        </p:sp>
        <p:sp>
          <p:nvSpPr>
            <p:cNvPr id="34" name="TextBox 34"/>
            <p:cNvSpPr txBox="1"/>
            <p:nvPr/>
          </p:nvSpPr>
          <p:spPr>
            <a:xfrm>
              <a:off x="8254492" y="3588068"/>
              <a:ext cx="26398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scaled by a diagonal λ matrix.</a:t>
              </a:r>
            </a:p>
          </p:txBody>
        </p:sp>
      </p:grpSp>
      <p:sp>
        <p:nvSpPr>
          <p:cNvPr id="36" name="cue_s05_c1_how_works_robust_minimises_usual" title="cue_s05_c1_how_works_robust_minimises_usual" descr="cue_s05_c1_how_works_robust_minimises_usual Here is how it works. Robust training minimises the usual mean-squared error plus lambda times a penalty on the network's Jacobian at each training point."/>
          <p:cNvSpPr/>
          <p:nvPr/>
        </p:nvSpPr>
        <p:spPr>
          <a:xfrm>
            <a:off x="609600" y="1257071"/>
            <a:ext cx="10972800" cy="9141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5_c2_handle_joint_object_network_its" title="cue_s05_c2_handle_joint_object_network_its" descr="cue_s05_c2_handle_joint_object_network_its To handle the joint object, the network and its Jacobian together, the authors recast the convergence question as a tensor program and apply the Master theorem."/>
          <p:cNvSpPr/>
          <p:nvPr/>
        </p:nvSpPr>
        <p:spPr>
          <a:xfrm>
            <a:off x="609600" y="2361895"/>
            <a:ext cx="3530803"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ue_s05_c3_they_define_finite_jntk_parameter_gr" title="cue_s05_c3_they_define_finite_jntk_parameter_gr" descr="cue_s05_c3_they_define_finite_jntk_parameter_gr They then define the finite JNTK from the parameter-gradients of both the output and each Jacobian component."/>
          <p:cNvSpPr/>
          <p:nvPr/>
        </p:nvSpPr>
        <p:spPr>
          <a:xfrm>
            <a:off x="4330598" y="2361895"/>
            <a:ext cx="3530803"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5_c4_crucial_step_showing_kernel_does" title="cue_s05_c4_crucial_step_showing_kernel_does" descr="cue_s05_c4_crucial_step_showing_kernel_does The crucial step is showing this kernel does not move during training; that turns the learning dynamics into a linear differential equation, and its infinite-time solution is a kernel regression using the limiting JNTK, rescaled by a simple diagonal matrix tha"/>
          <p:cNvSpPr/>
          <p:nvPr/>
        </p:nvSpPr>
        <p:spPr>
          <a:xfrm>
            <a:off x="8051596" y="2361895"/>
            <a:ext cx="3530803" cy="40386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556778"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SETUP</a:t>
            </a:r>
          </a:p>
        </p:txBody>
      </p:sp>
      <p:sp>
        <p:nvSpPr>
          <p:cNvPr id="4" name="TextBox 4"/>
          <p:cNvSpPr txBox="1"/>
          <p:nvPr/>
        </p:nvSpPr>
        <p:spPr>
          <a:xfrm>
            <a:off x="788670" y="614362"/>
            <a:ext cx="618717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Small, controlled experiments by design</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06 / 10</a:t>
            </a:r>
          </a:p>
        </p:txBody>
      </p:sp>
      <p:grpSp>
        <p:nvGrpSpPr>
          <p:cNvPr id="9" name="Group 9"/>
          <p:cNvGrpSpPr/>
          <p:nvPr/>
        </p:nvGrpSpPr>
        <p:grpSpPr>
          <a:xfrm>
            <a:off x="609600" y="1257300"/>
            <a:ext cx="10972800" cy="685800"/>
            <a:chOff x="609600" y="1257300"/>
            <a:chExt cx="10972800" cy="685800"/>
          </a:xfrm>
        </p:grpSpPr>
        <p:sp>
          <p:nvSpPr>
            <p:cNvPr id="7" name="Rectangle 7"/>
            <p:cNvSpPr/>
            <p:nvPr/>
          </p:nvSpPr>
          <p:spPr>
            <a:xfrm>
              <a:off x="609600" y="1257300"/>
              <a:ext cx="10972800" cy="685800"/>
            </a:xfrm>
            <a:prstGeom prst="roundRect">
              <a:avLst>
                <a:gd name="adj" fmla="val 16667"/>
              </a:avLst>
            </a:prstGeom>
            <a:solidFill>
              <a:schemeClr val="accent6"/>
            </a:solidFill>
            <a:ln w="14288">
              <a:solidFill>
                <a:schemeClr val="accent4"/>
              </a:solidFill>
            </a:ln>
          </p:spPr>
        </p:sp>
        <p:sp>
          <p:nvSpPr>
            <p:cNvPr id="8" name="TextBox 8"/>
            <p:cNvSpPr txBox="1"/>
            <p:nvPr/>
          </p:nvSpPr>
          <p:spPr>
            <a:xfrm>
              <a:off x="830580" y="1514475"/>
              <a:ext cx="7559664"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Experiments are deliberately small and controlled — precision over scale.</a:t>
              </a:r>
            </a:p>
          </p:txBody>
        </p:sp>
      </p:grpSp>
      <p:grpSp>
        <p:nvGrpSpPr>
          <p:cNvPr id="18" name="Group 18"/>
          <p:cNvGrpSpPr/>
          <p:nvPr/>
        </p:nvGrpSpPr>
        <p:grpSpPr>
          <a:xfrm>
            <a:off x="609600" y="2095500"/>
            <a:ext cx="5391150" cy="3048000"/>
            <a:chOff x="609600" y="2095500"/>
            <a:chExt cx="5391150" cy="3048000"/>
          </a:xfrm>
        </p:grpSpPr>
        <p:sp>
          <p:nvSpPr>
            <p:cNvPr id="10" name="Rectangle 10"/>
            <p:cNvSpPr/>
            <p:nvPr/>
          </p:nvSpPr>
          <p:spPr>
            <a:xfrm>
              <a:off x="609600" y="2095500"/>
              <a:ext cx="5391150" cy="3048000"/>
            </a:xfrm>
            <a:prstGeom prst="roundRect">
              <a:avLst>
                <a:gd name="adj" fmla="val 3750"/>
              </a:avLst>
            </a:prstGeom>
            <a:solidFill>
              <a:schemeClr val="accent5"/>
            </a:solidFill>
            <a:ln w="14288">
              <a:solidFill>
                <a:schemeClr val="accent4"/>
              </a:solidFill>
            </a:ln>
          </p:spPr>
        </p:sp>
        <p:sp>
          <p:nvSpPr>
            <p:cNvPr id="11" name="Rectangle 11"/>
            <p:cNvSpPr/>
            <p:nvPr/>
          </p:nvSpPr>
          <p:spPr>
            <a:xfrm>
              <a:off x="609600" y="2247900"/>
              <a:ext cx="47625" cy="247650"/>
            </a:xfrm>
            <a:prstGeom prst="roundRect">
              <a:avLst>
                <a:gd name="adj" fmla="val 50000"/>
              </a:avLst>
            </a:prstGeom>
            <a:solidFill>
              <a:schemeClr val="accent2"/>
            </a:solidFill>
            <a:ln>
              <a:noFill/>
            </a:ln>
          </p:spPr>
        </p:sp>
        <p:sp>
          <p:nvSpPr>
            <p:cNvPr id="12" name="TextBox 12"/>
            <p:cNvSpPr txBox="1"/>
            <p:nvPr/>
          </p:nvSpPr>
          <p:spPr>
            <a:xfrm>
              <a:off x="812673" y="2300764"/>
              <a:ext cx="1873311"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Synthetic sphere set</a:t>
              </a:r>
            </a:p>
          </p:txBody>
        </p:sp>
        <p:sp>
          <p:nvSpPr>
            <p:cNvPr id="13" name="TextBox 13"/>
            <p:cNvSpPr txBox="1"/>
            <p:nvPr/>
          </p:nvSpPr>
          <p:spPr>
            <a:xfrm>
              <a:off x="812292" y="2578418"/>
              <a:ext cx="238538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256 points in 4 dimensions,</a:t>
              </a:r>
            </a:p>
          </p:txBody>
        </p:sp>
        <p:sp>
          <p:nvSpPr>
            <p:cNvPr id="14" name="TextBox 14"/>
            <p:cNvSpPr txBox="1"/>
            <p:nvPr/>
          </p:nvSpPr>
          <p:spPr>
            <a:xfrm>
              <a:off x="812292" y="2826068"/>
              <a:ext cx="27397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even covering of the sphere.</a:t>
              </a:r>
            </a:p>
          </p:txBody>
        </p:sp>
        <p:sp>
          <p:nvSpPr>
            <p:cNvPr id="15" name="TextBox 15"/>
            <p:cNvSpPr txBox="1"/>
            <p:nvPr/>
          </p:nvSpPr>
          <p:spPr>
            <a:xfrm>
              <a:off x="812292" y="3073718"/>
              <a:ext cx="232269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Sweep width 64 → 8192 and</a:t>
              </a:r>
            </a:p>
          </p:txBody>
        </p:sp>
        <p:sp>
          <p:nvSpPr>
            <p:cNvPr id="16" name="TextBox 16"/>
            <p:cNvSpPr txBox="1"/>
            <p:nvPr/>
          </p:nvSpPr>
          <p:spPr>
            <a:xfrm>
              <a:off x="812292" y="3321368"/>
              <a:ext cx="249442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depth 1, 2, 3 — tests kernel</a:t>
              </a:r>
            </a:p>
          </p:txBody>
        </p:sp>
        <p:sp>
          <p:nvSpPr>
            <p:cNvPr id="17" name="TextBox 17"/>
            <p:cNvSpPr txBox="1"/>
            <p:nvPr/>
          </p:nvSpPr>
          <p:spPr>
            <a:xfrm>
              <a:off x="812292" y="3569018"/>
              <a:ext cx="264890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convergence at initialisation.</a:t>
              </a:r>
            </a:p>
          </p:txBody>
        </p:sp>
      </p:grpSp>
      <p:grpSp>
        <p:nvGrpSpPr>
          <p:cNvPr id="27" name="Group 27"/>
          <p:cNvGrpSpPr/>
          <p:nvPr/>
        </p:nvGrpSpPr>
        <p:grpSpPr>
          <a:xfrm>
            <a:off x="6191250" y="2095500"/>
            <a:ext cx="5391150" cy="3048000"/>
            <a:chOff x="6191250" y="2095500"/>
            <a:chExt cx="5391150" cy="3048000"/>
          </a:xfrm>
        </p:grpSpPr>
        <p:sp>
          <p:nvSpPr>
            <p:cNvPr id="19" name="Rectangle 19"/>
            <p:cNvSpPr/>
            <p:nvPr/>
          </p:nvSpPr>
          <p:spPr>
            <a:xfrm>
              <a:off x="6191250" y="2095500"/>
              <a:ext cx="5391150" cy="3048000"/>
            </a:xfrm>
            <a:prstGeom prst="roundRect">
              <a:avLst>
                <a:gd name="adj" fmla="val 3750"/>
              </a:avLst>
            </a:prstGeom>
            <a:solidFill>
              <a:schemeClr val="accent5"/>
            </a:solidFill>
            <a:ln w="14288">
              <a:solidFill>
                <a:schemeClr val="accent4"/>
              </a:solidFill>
            </a:ln>
          </p:spPr>
        </p:sp>
        <p:sp>
          <p:nvSpPr>
            <p:cNvPr id="20" name="Rectangle 20"/>
            <p:cNvSpPr/>
            <p:nvPr/>
          </p:nvSpPr>
          <p:spPr>
            <a:xfrm>
              <a:off x="6191250" y="2247900"/>
              <a:ext cx="47625" cy="247650"/>
            </a:xfrm>
            <a:prstGeom prst="roundRect">
              <a:avLst>
                <a:gd name="adj" fmla="val 50000"/>
              </a:avLst>
            </a:prstGeom>
            <a:solidFill>
              <a:srgbClr val="7BE0C8"/>
            </a:solidFill>
            <a:ln>
              <a:noFill/>
            </a:ln>
          </p:spPr>
        </p:sp>
        <p:sp>
          <p:nvSpPr>
            <p:cNvPr id="21" name="TextBox 21"/>
            <p:cNvSpPr txBox="1"/>
            <p:nvPr/>
          </p:nvSpPr>
          <p:spPr>
            <a:xfrm>
              <a:off x="6394323" y="2300764"/>
              <a:ext cx="2308098"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Algerian forest fire (UCI)</a:t>
              </a:r>
            </a:p>
          </p:txBody>
        </p:sp>
        <p:sp>
          <p:nvSpPr>
            <p:cNvPr id="22" name="TextBox 22"/>
            <p:cNvSpPr txBox="1"/>
            <p:nvPr/>
          </p:nvSpPr>
          <p:spPr>
            <a:xfrm>
              <a:off x="6393942" y="2578418"/>
              <a:ext cx="273977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224 points, 11 input features,</a:t>
              </a:r>
            </a:p>
          </p:txBody>
        </p:sp>
        <p:sp>
          <p:nvSpPr>
            <p:cNvPr id="23" name="TextBox 23"/>
            <p:cNvSpPr txBox="1"/>
            <p:nvPr/>
          </p:nvSpPr>
          <p:spPr>
            <a:xfrm>
              <a:off x="6393942" y="2826068"/>
              <a:ext cx="26398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cast as a ±1 regression task.</a:t>
              </a:r>
            </a:p>
          </p:txBody>
        </p:sp>
        <p:sp>
          <p:nvSpPr>
            <p:cNvPr id="24" name="TextBox 24"/>
            <p:cNvSpPr txBox="1"/>
            <p:nvPr/>
          </p:nvSpPr>
          <p:spPr>
            <a:xfrm>
              <a:off x="6393942" y="3073718"/>
              <a:ext cx="250027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Tests that the kernel really</a:t>
              </a:r>
            </a:p>
          </p:txBody>
        </p:sp>
        <p:sp>
          <p:nvSpPr>
            <p:cNvPr id="25" name="TextBox 25"/>
            <p:cNvSpPr txBox="1"/>
            <p:nvPr/>
          </p:nvSpPr>
          <p:spPr>
            <a:xfrm>
              <a:off x="6393942" y="3321368"/>
              <a:ext cx="263072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stays constant during robust</a:t>
              </a:r>
            </a:p>
          </p:txBody>
        </p:sp>
        <p:sp>
          <p:nvSpPr>
            <p:cNvPr id="26" name="TextBox 26"/>
            <p:cNvSpPr txBox="1"/>
            <p:nvPr/>
          </p:nvSpPr>
          <p:spPr>
            <a:xfrm>
              <a:off x="6393942" y="3569018"/>
              <a:ext cx="82244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training.</a:t>
              </a:r>
            </a:p>
          </p:txBody>
        </p:sp>
      </p:grpSp>
      <p:grpSp>
        <p:nvGrpSpPr>
          <p:cNvPr id="32" name="Group 32"/>
          <p:cNvGrpSpPr/>
          <p:nvPr/>
        </p:nvGrpSpPr>
        <p:grpSpPr>
          <a:xfrm>
            <a:off x="609600" y="5295900"/>
            <a:ext cx="10972800" cy="838200"/>
            <a:chOff x="609600" y="5295900"/>
            <a:chExt cx="10972800" cy="838200"/>
          </a:xfrm>
        </p:grpSpPr>
        <p:sp>
          <p:nvSpPr>
            <p:cNvPr id="28" name="Rectangle 28"/>
            <p:cNvSpPr/>
            <p:nvPr/>
          </p:nvSpPr>
          <p:spPr>
            <a:xfrm>
              <a:off x="609600" y="5295900"/>
              <a:ext cx="10972800" cy="838200"/>
            </a:xfrm>
            <a:prstGeom prst="roundRect">
              <a:avLst>
                <a:gd name="adj" fmla="val 13636"/>
              </a:avLst>
            </a:prstGeom>
            <a:solidFill>
              <a:schemeClr val="accent5"/>
            </a:solidFill>
            <a:ln w="14288">
              <a:solidFill>
                <a:schemeClr val="accent4"/>
              </a:solidFill>
            </a:ln>
          </p:spPr>
        </p:sp>
        <p:sp>
          <p:nvSpPr>
            <p:cNvPr id="29" name="Rectangle 29"/>
            <p:cNvSpPr/>
            <p:nvPr/>
          </p:nvSpPr>
          <p:spPr>
            <a:xfrm>
              <a:off x="609600" y="5448300"/>
              <a:ext cx="47625" cy="247650"/>
            </a:xfrm>
            <a:prstGeom prst="roundRect">
              <a:avLst>
                <a:gd name="adj" fmla="val 50000"/>
              </a:avLst>
            </a:prstGeom>
            <a:solidFill>
              <a:srgbClr val="7BE0C8"/>
            </a:solidFill>
            <a:ln>
              <a:noFill/>
            </a:ln>
          </p:spPr>
        </p:sp>
        <p:sp>
          <p:nvSpPr>
            <p:cNvPr id="30" name="TextBox 30"/>
            <p:cNvSpPr txBox="1"/>
            <p:nvPr/>
          </p:nvSpPr>
          <p:spPr>
            <a:xfrm>
              <a:off x="812673" y="5501164"/>
              <a:ext cx="1213846"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Head-to-head</a:t>
              </a:r>
            </a:p>
          </p:txBody>
        </p:sp>
        <p:sp>
          <p:nvSpPr>
            <p:cNvPr id="31" name="TextBox 31"/>
            <p:cNvSpPr txBox="1"/>
            <p:nvPr/>
          </p:nvSpPr>
          <p:spPr>
            <a:xfrm>
              <a:off x="811911" y="5789771"/>
              <a:ext cx="7036270" cy="278702"/>
            </a:xfrm>
            <a:prstGeom prst="rect">
              <a:avLst/>
            </a:prstGeom>
            <a:noFill/>
            <a:ln>
              <a:noFill/>
            </a:ln>
          </p:spPr>
          <p:txBody>
            <a:bodyPr wrap="none" lIns="0" tIns="0" rIns="0" bIns="0" anchor="t" anchorCtr="0">
              <a:spAutoFit/>
            </a:bodyPr>
            <a:lstStyle/>
            <a:p>
              <a:pPr algn="l"/>
              <a:r>
                <a:rPr lang="en-US" sz="1420" dirty="0">
                  <a:solidFill>
                    <a:schemeClr val="dk2"/>
                  </a:solidFill>
                  <a:latin typeface="+mn-lt"/>
                  <a:ea typeface="+mn-ea"/>
                  <a:cs typeface="+mn-cs"/>
                </a:rPr>
                <a:t>The same setups line up robust training directly against standard training.</a:t>
              </a:r>
            </a:p>
          </p:txBody>
        </p:sp>
      </p:grpSp>
      <p:sp>
        <p:nvSpPr>
          <p:cNvPr id="33" name="cue_s06_c1_experiments_deliberately_small_contr" title="cue_s06_c1_experiments_deliberately_small_contr" descr="cue_s06_c1_experiments_deliberately_small_contr The experiments are deliberately small and controlled."/>
          <p:cNvSpPr/>
          <p:nvPr/>
        </p:nvSpPr>
        <p:spPr>
          <a:xfrm>
            <a:off x="609600" y="1257071"/>
            <a:ext cx="10972800" cy="6858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ue_s06_c2_test_kernel_convergence_claims_autho" title="cue_s06_c2_test_kernel_convergence_claims_autho" descr="cue_s06_c2_test_kernel_convergence_claims_autho To test the kernel-convergence claims, the authors use a synthetic 256-point dataset in four dimensions, built to approximate an even covering of the sphere, and sweep every combination of width from 64 up to 8192 and depth one, two, and three."/>
          <p:cNvSpPr/>
          <p:nvPr/>
        </p:nvSpPr>
        <p:spPr>
          <a:xfrm>
            <a:off x="609600" y="2095804"/>
            <a:ext cx="5391302"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6_c3_test_kernel_really_stays_constant" title="cue_s06_c3_test_kernel_really_stays_constant" descr="cue_s06_c3_test_kernel_really_stays_constant To test that the kernel really stays constant during robust training, they switch to the Algerian forest fire dataset from the UCI repository, 224 points with eleven input features, treated as a plus-or-minus-one regression problem."/>
          <p:cNvSpPr/>
          <p:nvPr/>
        </p:nvSpPr>
        <p:spPr>
          <a:xfrm>
            <a:off x="6191097" y="2095804"/>
            <a:ext cx="5391302"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6_c4_same_setups_let_them_line" title="cue_s06_c4_same_setups_let_them_line" descr="cue_s06_c4_same_setups_let_them_line The same setups let them line up robust training against standard training head to head."/>
          <p:cNvSpPr/>
          <p:nvPr/>
        </p:nvSpPr>
        <p:spPr>
          <a:xfrm>
            <a:off x="609600" y="5295747"/>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081644"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KEY RESULT</a:t>
            </a:r>
          </a:p>
        </p:txBody>
      </p:sp>
      <p:sp>
        <p:nvSpPr>
          <p:cNvPr id="4" name="TextBox 4"/>
          <p:cNvSpPr txBox="1"/>
          <p:nvPr/>
        </p:nvSpPr>
        <p:spPr>
          <a:xfrm>
            <a:off x="788670" y="614362"/>
            <a:ext cx="666471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theory holds — wider is provably closer</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07 / 10</a:t>
            </a:r>
          </a:p>
        </p:txBody>
      </p:sp>
      <p:grpSp>
        <p:nvGrpSpPr>
          <p:cNvPr id="10" name="Group 10"/>
          <p:cNvGrpSpPr/>
          <p:nvPr/>
        </p:nvGrpSpPr>
        <p:grpSpPr>
          <a:xfrm>
            <a:off x="609600" y="1257300"/>
            <a:ext cx="10972800" cy="666750"/>
            <a:chOff x="609600" y="1257300"/>
            <a:chExt cx="10972800" cy="666750"/>
          </a:xfrm>
        </p:grpSpPr>
        <p:sp>
          <p:nvSpPr>
            <p:cNvPr id="7" name="Rectangle 7"/>
            <p:cNvSpPr/>
            <p:nvPr/>
          </p:nvSpPr>
          <p:spPr>
            <a:xfrm>
              <a:off x="609600" y="1257300"/>
              <a:ext cx="10972800" cy="666750"/>
            </a:xfrm>
            <a:prstGeom prst="roundRect">
              <a:avLst>
                <a:gd name="adj" fmla="val 17143"/>
              </a:avLst>
            </a:prstGeom>
            <a:solidFill>
              <a:schemeClr val="accent6"/>
            </a:solidFill>
            <a:ln w="14288">
              <a:solidFill>
                <a:schemeClr val="accent4"/>
              </a:solidFill>
            </a:ln>
          </p:spPr>
        </p:sp>
        <p:sp>
          <p:nvSpPr>
            <p:cNvPr id="8" name="Ellipse 8"/>
            <p:cNvSpPr/>
            <p:nvPr/>
          </p:nvSpPr>
          <p:spPr>
            <a:xfrm>
              <a:off x="847725" y="1504950"/>
              <a:ext cx="171450" cy="171450"/>
            </a:xfrm>
            <a:prstGeom prst="ellipse">
              <a:avLst/>
            </a:prstGeom>
            <a:solidFill>
              <a:srgbClr val="7BE0C8"/>
            </a:solidFill>
            <a:ln>
              <a:noFill/>
            </a:ln>
          </p:spPr>
        </p:sp>
        <p:sp>
          <p:nvSpPr>
            <p:cNvPr id="9" name="TextBox 9"/>
            <p:cNvSpPr txBox="1"/>
            <p:nvPr/>
          </p:nvSpPr>
          <p:spPr>
            <a:xfrm>
              <a:off x="1172718" y="1488758"/>
              <a:ext cx="461950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The theory holds up across every check.</a:t>
              </a:r>
            </a:p>
          </p:txBody>
        </p:sp>
      </p:grpSp>
      <p:grpSp>
        <p:nvGrpSpPr>
          <p:cNvPr id="29" name="Group 29"/>
          <p:cNvGrpSpPr/>
          <p:nvPr/>
        </p:nvGrpSpPr>
        <p:grpSpPr>
          <a:xfrm>
            <a:off x="324545" y="2076450"/>
            <a:ext cx="5619055" cy="4324350"/>
            <a:chOff x="324545" y="2076450"/>
            <a:chExt cx="5619055" cy="4324350"/>
          </a:xfrm>
        </p:grpSpPr>
        <p:sp>
          <p:nvSpPr>
            <p:cNvPr id="11" name="Rectangle 11"/>
            <p:cNvSpPr/>
            <p:nvPr/>
          </p:nvSpPr>
          <p:spPr>
            <a:xfrm>
              <a:off x="609600" y="2076450"/>
              <a:ext cx="5334000" cy="4324350"/>
            </a:xfrm>
            <a:prstGeom prst="roundRect">
              <a:avLst>
                <a:gd name="adj" fmla="val 2643"/>
              </a:avLst>
            </a:prstGeom>
            <a:solidFill>
              <a:schemeClr val="accent5"/>
            </a:solidFill>
            <a:ln w="14288">
              <a:solidFill>
                <a:schemeClr val="accent4"/>
              </a:solidFill>
            </a:ln>
          </p:spPr>
        </p:sp>
        <p:sp>
          <p:nvSpPr>
            <p:cNvPr id="12" name="Rectangle 12"/>
            <p:cNvSpPr/>
            <p:nvPr/>
          </p:nvSpPr>
          <p:spPr>
            <a:xfrm>
              <a:off x="819150" y="2228850"/>
              <a:ext cx="47625" cy="247650"/>
            </a:xfrm>
            <a:prstGeom prst="roundRect">
              <a:avLst>
                <a:gd name="adj" fmla="val 50000"/>
              </a:avLst>
            </a:prstGeom>
            <a:solidFill>
              <a:srgbClr val="7BE0C8"/>
            </a:solidFill>
            <a:ln>
              <a:noFill/>
            </a:ln>
          </p:spPr>
        </p:sp>
        <p:sp>
          <p:nvSpPr>
            <p:cNvPr id="13" name="TextBox 13"/>
            <p:cNvSpPr txBox="1"/>
            <p:nvPr/>
          </p:nvSpPr>
          <p:spPr>
            <a:xfrm>
              <a:off x="1022223" y="2281714"/>
              <a:ext cx="2976829"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JNTK–limit gap shrinks with width</a:t>
              </a:r>
            </a:p>
          </p:txBody>
        </p:sp>
        <p:sp>
          <p:nvSpPr>
            <p:cNvPr id="14" name="TextBox 14"/>
            <p:cNvSpPr txBox="1"/>
            <p:nvPr/>
          </p:nvSpPr>
          <p:spPr>
            <a:xfrm>
              <a:off x="1023366" y="2515552"/>
              <a:ext cx="2519648" cy="205359"/>
            </a:xfrm>
            <a:prstGeom prst="rect">
              <a:avLst/>
            </a:prstGeom>
            <a:noFill/>
            <a:ln>
              <a:noFill/>
            </a:ln>
          </p:spPr>
          <p:txBody>
            <a:bodyPr wrap="none" lIns="0" tIns="0" rIns="0" bIns="0" anchor="t" anchorCtr="0">
              <a:spAutoFit/>
            </a:bodyPr>
            <a:lstStyle/>
            <a:p>
              <a:pPr algn="l"/>
              <a:r>
                <a:rPr lang="en-US" sz="1050" dirty="0">
                  <a:solidFill>
                    <a:srgbClr val="6D7C96"/>
                  </a:solidFill>
                  <a:latin typeface="+mn-lt"/>
                  <a:ea typeface="+mn-ea"/>
                  <a:cs typeface="+mn-cs"/>
                </a:rPr>
                <a:t>monotonically at every training step</a:t>
              </a:r>
            </a:p>
          </p:txBody>
        </p:sp>
        <p:sp>
          <p:nvSpPr>
            <p:cNvPr id="15" name="Line 15"/>
            <p:cNvSpPr/>
            <p:nvPr/>
          </p:nvSpPr>
          <p:spPr>
            <a:xfrm>
              <a:off x="1276350" y="5505450"/>
              <a:ext cx="4095750" cy="9525"/>
            </a:xfrm>
            <a:custGeom>
              <a:avLst/>
              <a:gdLst/>
              <a:ahLst/>
              <a:cxnLst/>
              <a:rect l="l" t="t" r="r" b="b"/>
              <a:pathLst>
                <a:path w="4095750" h="9525">
                  <a:moveTo>
                    <a:pt x="0" y="0"/>
                  </a:moveTo>
                  <a:lnTo>
                    <a:pt x="4095750" y="0"/>
                  </a:lnTo>
                </a:path>
              </a:pathLst>
            </a:custGeom>
            <a:noFill/>
            <a:ln w="19050">
              <a:solidFill>
                <a:srgbClr val="33425F"/>
              </a:solidFill>
            </a:ln>
          </p:spPr>
        </p:sp>
        <p:sp>
          <p:nvSpPr>
            <p:cNvPr id="16" name="Line 16"/>
            <p:cNvSpPr/>
            <p:nvPr/>
          </p:nvSpPr>
          <p:spPr>
            <a:xfrm>
              <a:off x="1276350" y="3124200"/>
              <a:ext cx="9525" cy="2381250"/>
            </a:xfrm>
            <a:custGeom>
              <a:avLst/>
              <a:gdLst/>
              <a:ahLst/>
              <a:cxnLst/>
              <a:rect l="l" t="t" r="r" b="b"/>
              <a:pathLst>
                <a:path w="9525" h="2381250">
                  <a:moveTo>
                    <a:pt x="0" y="2381250"/>
                  </a:moveTo>
                  <a:lnTo>
                    <a:pt x="0" y="0"/>
                  </a:lnTo>
                </a:path>
              </a:pathLst>
            </a:custGeom>
            <a:noFill/>
            <a:ln w="19050">
              <a:solidFill>
                <a:srgbClr val="33425F"/>
              </a:solidFill>
            </a:ln>
          </p:spPr>
        </p:sp>
        <p:sp>
          <p:nvSpPr>
            <p:cNvPr id="17" name="TextBox 17"/>
            <p:cNvSpPr txBox="1"/>
            <p:nvPr/>
          </p:nvSpPr>
          <p:spPr>
            <a:xfrm>
              <a:off x="2714615" y="5715952"/>
              <a:ext cx="1219219" cy="205359"/>
            </a:xfrm>
            <a:prstGeom prst="rect">
              <a:avLst/>
            </a:prstGeom>
            <a:noFill/>
            <a:ln>
              <a:noFill/>
            </a:ln>
          </p:spPr>
          <p:txBody>
            <a:bodyPr wrap="none" lIns="0" tIns="0" rIns="0" bIns="0" anchor="t" anchorCtr="0">
              <a:spAutoFit/>
            </a:bodyPr>
            <a:lstStyle/>
            <a:p>
              <a:pPr algn="ctr"/>
              <a:r>
                <a:rPr lang="en-US" sz="1050" dirty="0">
                  <a:solidFill>
                    <a:srgbClr val="6D7C96"/>
                  </a:solidFill>
                  <a:latin typeface="+mn-lt"/>
                  <a:ea typeface="+mn-ea"/>
                  <a:cs typeface="+mn-cs"/>
                </a:rPr>
                <a:t>width (64 → 8192)</a:t>
              </a:r>
            </a:p>
          </p:txBody>
        </p:sp>
        <p:sp>
          <p:nvSpPr>
            <p:cNvPr id="18" name="TextBox 18"/>
            <p:cNvSpPr txBox="1"/>
            <p:nvPr/>
          </p:nvSpPr>
          <p:spPr>
            <a:xfrm rot="-5400000">
              <a:off x="324545" y="4212146"/>
              <a:ext cx="1120273" cy="205359"/>
            </a:xfrm>
            <a:prstGeom prst="rect">
              <a:avLst/>
            </a:prstGeom>
            <a:noFill/>
            <a:ln>
              <a:noFill/>
            </a:ln>
          </p:spPr>
          <p:txBody>
            <a:bodyPr wrap="none" lIns="0" tIns="0" rIns="0" bIns="0" anchor="t" anchorCtr="0">
              <a:spAutoFit/>
            </a:bodyPr>
            <a:lstStyle/>
            <a:p>
              <a:pPr algn="ctr"/>
              <a:r>
                <a:rPr lang="en-US" sz="1050" dirty="0">
                  <a:solidFill>
                    <a:srgbClr val="6D7C96"/>
                  </a:solidFill>
                  <a:latin typeface="+mn-lt"/>
                  <a:ea typeface="+mn-ea"/>
                  <a:cs typeface="+mn-cs"/>
                </a:rPr>
                <a:t>‖ finite − limit ‖</a:t>
              </a:r>
            </a:p>
          </p:txBody>
        </p:sp>
        <p:sp>
          <p:nvSpPr>
            <p:cNvPr id="19" name="Polyline 19"/>
            <p:cNvSpPr/>
            <p:nvPr/>
          </p:nvSpPr>
          <p:spPr>
            <a:xfrm>
              <a:off x="1276350" y="3124200"/>
              <a:ext cx="4095750" cy="1890712"/>
            </a:xfrm>
            <a:custGeom>
              <a:avLst/>
              <a:gdLst/>
              <a:ahLst/>
              <a:cxnLst/>
              <a:rect l="l" t="t" r="r" b="b"/>
              <a:pathLst>
                <a:path w="4095750" h="1890712">
                  <a:moveTo>
                    <a:pt x="0" y="0"/>
                  </a:moveTo>
                  <a:lnTo>
                    <a:pt x="584835" y="844867"/>
                  </a:lnTo>
                  <a:lnTo>
                    <a:pt x="1170622" y="1247775"/>
                  </a:lnTo>
                  <a:lnTo>
                    <a:pt x="1755458" y="1483042"/>
                  </a:lnTo>
                  <a:lnTo>
                    <a:pt x="2340292" y="1637347"/>
                  </a:lnTo>
                  <a:lnTo>
                    <a:pt x="2925128" y="1745932"/>
                  </a:lnTo>
                  <a:lnTo>
                    <a:pt x="3510915" y="1827847"/>
                  </a:lnTo>
                  <a:lnTo>
                    <a:pt x="4095750" y="1890712"/>
                  </a:lnTo>
                </a:path>
              </a:pathLst>
            </a:custGeom>
            <a:noFill/>
            <a:ln w="28575">
              <a:solidFill>
                <a:srgbClr val="7BE0C8"/>
              </a:solidFill>
            </a:ln>
          </p:spPr>
        </p:sp>
        <p:sp>
          <p:nvSpPr>
            <p:cNvPr id="20" name="Ellipse 20"/>
            <p:cNvSpPr/>
            <p:nvPr/>
          </p:nvSpPr>
          <p:spPr>
            <a:xfrm>
              <a:off x="1233488" y="3081338"/>
              <a:ext cx="85725" cy="85725"/>
            </a:xfrm>
            <a:prstGeom prst="ellipse">
              <a:avLst/>
            </a:prstGeom>
            <a:solidFill>
              <a:srgbClr val="7BE0C8"/>
            </a:solidFill>
            <a:ln>
              <a:noFill/>
            </a:ln>
          </p:spPr>
        </p:sp>
        <p:sp>
          <p:nvSpPr>
            <p:cNvPr id="21" name="Ellipse 21"/>
            <p:cNvSpPr/>
            <p:nvPr/>
          </p:nvSpPr>
          <p:spPr>
            <a:xfrm>
              <a:off x="1818322" y="3926205"/>
              <a:ext cx="85725" cy="85725"/>
            </a:xfrm>
            <a:prstGeom prst="ellipse">
              <a:avLst/>
            </a:prstGeom>
            <a:solidFill>
              <a:srgbClr val="7BE0C8"/>
            </a:solidFill>
            <a:ln>
              <a:noFill/>
            </a:ln>
          </p:spPr>
        </p:sp>
        <p:sp>
          <p:nvSpPr>
            <p:cNvPr id="22" name="Ellipse 22"/>
            <p:cNvSpPr/>
            <p:nvPr/>
          </p:nvSpPr>
          <p:spPr>
            <a:xfrm>
              <a:off x="2404110" y="4329112"/>
              <a:ext cx="85725" cy="85725"/>
            </a:xfrm>
            <a:prstGeom prst="ellipse">
              <a:avLst/>
            </a:prstGeom>
            <a:solidFill>
              <a:srgbClr val="7BE0C8"/>
            </a:solidFill>
            <a:ln>
              <a:noFill/>
            </a:ln>
          </p:spPr>
        </p:sp>
        <p:sp>
          <p:nvSpPr>
            <p:cNvPr id="23" name="Ellipse 23"/>
            <p:cNvSpPr/>
            <p:nvPr/>
          </p:nvSpPr>
          <p:spPr>
            <a:xfrm>
              <a:off x="2988945" y="4564380"/>
              <a:ext cx="85725" cy="85725"/>
            </a:xfrm>
            <a:prstGeom prst="ellipse">
              <a:avLst/>
            </a:prstGeom>
            <a:solidFill>
              <a:srgbClr val="7BE0C8"/>
            </a:solidFill>
            <a:ln>
              <a:noFill/>
            </a:ln>
          </p:spPr>
        </p:sp>
        <p:sp>
          <p:nvSpPr>
            <p:cNvPr id="24" name="Ellipse 24"/>
            <p:cNvSpPr/>
            <p:nvPr/>
          </p:nvSpPr>
          <p:spPr>
            <a:xfrm>
              <a:off x="3573780" y="4718685"/>
              <a:ext cx="85725" cy="85725"/>
            </a:xfrm>
            <a:prstGeom prst="ellipse">
              <a:avLst/>
            </a:prstGeom>
            <a:solidFill>
              <a:srgbClr val="7BE0C8"/>
            </a:solidFill>
            <a:ln>
              <a:noFill/>
            </a:ln>
          </p:spPr>
        </p:sp>
        <p:sp>
          <p:nvSpPr>
            <p:cNvPr id="25" name="Ellipse 25"/>
            <p:cNvSpPr/>
            <p:nvPr/>
          </p:nvSpPr>
          <p:spPr>
            <a:xfrm>
              <a:off x="4158615" y="4827270"/>
              <a:ext cx="85725" cy="85725"/>
            </a:xfrm>
            <a:prstGeom prst="ellipse">
              <a:avLst/>
            </a:prstGeom>
            <a:solidFill>
              <a:srgbClr val="7BE0C8"/>
            </a:solidFill>
            <a:ln>
              <a:noFill/>
            </a:ln>
          </p:spPr>
        </p:sp>
        <p:sp>
          <p:nvSpPr>
            <p:cNvPr id="26" name="Ellipse 26"/>
            <p:cNvSpPr/>
            <p:nvPr/>
          </p:nvSpPr>
          <p:spPr>
            <a:xfrm>
              <a:off x="4744402" y="4909185"/>
              <a:ext cx="85725" cy="85725"/>
            </a:xfrm>
            <a:prstGeom prst="ellipse">
              <a:avLst/>
            </a:prstGeom>
            <a:solidFill>
              <a:srgbClr val="7BE0C8"/>
            </a:solidFill>
            <a:ln>
              <a:noFill/>
            </a:ln>
          </p:spPr>
        </p:sp>
        <p:sp>
          <p:nvSpPr>
            <p:cNvPr id="27" name="Ellipse 27"/>
            <p:cNvSpPr/>
            <p:nvPr/>
          </p:nvSpPr>
          <p:spPr>
            <a:xfrm>
              <a:off x="5329238" y="4972050"/>
              <a:ext cx="85725" cy="85725"/>
            </a:xfrm>
            <a:prstGeom prst="ellipse">
              <a:avLst/>
            </a:prstGeom>
            <a:solidFill>
              <a:srgbClr val="7BE0C8"/>
            </a:solidFill>
            <a:ln>
              <a:noFill/>
            </a:ln>
          </p:spPr>
        </p:sp>
        <p:sp>
          <p:nvSpPr>
            <p:cNvPr id="28" name="TextBox 28"/>
            <p:cNvSpPr txBox="1"/>
            <p:nvPr/>
          </p:nvSpPr>
          <p:spPr>
            <a:xfrm>
              <a:off x="1022985" y="6088856"/>
              <a:ext cx="4487055" cy="220028"/>
            </a:xfrm>
            <a:prstGeom prst="rect">
              <a:avLst/>
            </a:prstGeom>
            <a:noFill/>
            <a:ln>
              <a:noFill/>
            </a:ln>
          </p:spPr>
          <p:txBody>
            <a:bodyPr wrap="none" lIns="0" tIns="0" rIns="0" bIns="0" anchor="t" anchorCtr="0">
              <a:spAutoFit/>
            </a:bodyPr>
            <a:lstStyle/>
            <a:p>
              <a:pPr algn="l"/>
              <a:r>
                <a:rPr lang="en-US" sz="1120" dirty="0">
                  <a:solidFill>
                    <a:schemeClr val="dk2"/>
                  </a:solidFill>
                  <a:latin typeface="+mn-lt"/>
                  <a:ea typeface="+mn-ea"/>
                  <a:cs typeface="+mn-cs"/>
                </a:rPr>
                <a:t>Trend is unmistakable: wider ⇒ closer to the predicted limit.</a:t>
              </a:r>
            </a:p>
          </p:txBody>
        </p:sp>
      </p:grpSp>
      <p:grpSp>
        <p:nvGrpSpPr>
          <p:cNvPr id="38" name="Group 38"/>
          <p:cNvGrpSpPr/>
          <p:nvPr/>
        </p:nvGrpSpPr>
        <p:grpSpPr>
          <a:xfrm>
            <a:off x="6134100" y="2076450"/>
            <a:ext cx="5448300" cy="2057400"/>
            <a:chOff x="6134100" y="2076450"/>
            <a:chExt cx="5448300" cy="2057400"/>
          </a:xfrm>
        </p:grpSpPr>
        <p:sp>
          <p:nvSpPr>
            <p:cNvPr id="30" name="Rectangle 30"/>
            <p:cNvSpPr/>
            <p:nvPr/>
          </p:nvSpPr>
          <p:spPr>
            <a:xfrm>
              <a:off x="6134100" y="2076450"/>
              <a:ext cx="5448300" cy="2057400"/>
            </a:xfrm>
            <a:prstGeom prst="roundRect">
              <a:avLst>
                <a:gd name="adj" fmla="val 5556"/>
              </a:avLst>
            </a:prstGeom>
            <a:solidFill>
              <a:schemeClr val="accent5"/>
            </a:solidFill>
            <a:ln w="14288">
              <a:solidFill>
                <a:schemeClr val="accent4"/>
              </a:solidFill>
            </a:ln>
          </p:spPr>
        </p:sp>
        <p:sp>
          <p:nvSpPr>
            <p:cNvPr id="31" name="Rectangle 31"/>
            <p:cNvSpPr/>
            <p:nvPr/>
          </p:nvSpPr>
          <p:spPr>
            <a:xfrm>
              <a:off x="6134100" y="2228850"/>
              <a:ext cx="47625" cy="247650"/>
            </a:xfrm>
            <a:prstGeom prst="roundRect">
              <a:avLst>
                <a:gd name="adj" fmla="val 50000"/>
              </a:avLst>
            </a:prstGeom>
            <a:solidFill>
              <a:schemeClr val="accent2"/>
            </a:solidFill>
            <a:ln>
              <a:noFill/>
            </a:ln>
          </p:spPr>
        </p:sp>
        <p:sp>
          <p:nvSpPr>
            <p:cNvPr id="32" name="TextBox 32"/>
            <p:cNvSpPr txBox="1"/>
            <p:nvPr/>
          </p:nvSpPr>
          <p:spPr>
            <a:xfrm>
              <a:off x="6337173" y="2281714"/>
              <a:ext cx="1602059"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Two init theorems</a:t>
              </a:r>
            </a:p>
          </p:txBody>
        </p:sp>
        <p:sp>
          <p:nvSpPr>
            <p:cNvPr id="33" name="TextBox 33"/>
            <p:cNvSpPr txBox="1"/>
            <p:nvPr/>
          </p:nvSpPr>
          <p:spPr>
            <a:xfrm>
              <a:off x="6336792" y="2559368"/>
              <a:ext cx="259162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As the net widens, the finite</a:t>
              </a:r>
            </a:p>
          </p:txBody>
        </p:sp>
        <p:sp>
          <p:nvSpPr>
            <p:cNvPr id="34" name="TextBox 34"/>
            <p:cNvSpPr txBox="1"/>
            <p:nvPr/>
          </p:nvSpPr>
          <p:spPr>
            <a:xfrm>
              <a:off x="6336792" y="2807018"/>
              <a:ext cx="27235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Jacobian NNGP kernel closes on</a:t>
              </a:r>
            </a:p>
          </p:txBody>
        </p:sp>
        <p:sp>
          <p:nvSpPr>
            <p:cNvPr id="35" name="TextBox 35"/>
            <p:cNvSpPr txBox="1"/>
            <p:nvPr/>
          </p:nvSpPr>
          <p:spPr>
            <a:xfrm>
              <a:off x="6336792" y="3054668"/>
              <a:ext cx="278520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its deterministic limit, and the</a:t>
              </a:r>
            </a:p>
          </p:txBody>
        </p:sp>
        <p:sp>
          <p:nvSpPr>
            <p:cNvPr id="36" name="TextBox 36"/>
            <p:cNvSpPr txBox="1"/>
            <p:nvPr/>
          </p:nvSpPr>
          <p:spPr>
            <a:xfrm>
              <a:off x="6336792" y="3302318"/>
              <a:ext cx="281760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scaled finite JNTK converges to</a:t>
              </a:r>
            </a:p>
          </p:txBody>
        </p:sp>
        <p:sp>
          <p:nvSpPr>
            <p:cNvPr id="37" name="TextBox 37"/>
            <p:cNvSpPr txBox="1"/>
            <p:nvPr/>
          </p:nvSpPr>
          <p:spPr>
            <a:xfrm>
              <a:off x="6336792" y="3549968"/>
              <a:ext cx="160024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limiting JNTK.</a:t>
              </a:r>
            </a:p>
          </p:txBody>
        </p:sp>
      </p:grpSp>
      <p:grpSp>
        <p:nvGrpSpPr>
          <p:cNvPr id="47" name="Group 47"/>
          <p:cNvGrpSpPr/>
          <p:nvPr/>
        </p:nvGrpSpPr>
        <p:grpSpPr>
          <a:xfrm>
            <a:off x="6134100" y="4343400"/>
            <a:ext cx="5448300" cy="2057400"/>
            <a:chOff x="6134100" y="4343400"/>
            <a:chExt cx="5448300" cy="2057400"/>
          </a:xfrm>
        </p:grpSpPr>
        <p:sp>
          <p:nvSpPr>
            <p:cNvPr id="39" name="Rectangle 39"/>
            <p:cNvSpPr/>
            <p:nvPr/>
          </p:nvSpPr>
          <p:spPr>
            <a:xfrm>
              <a:off x="6134100" y="4343400"/>
              <a:ext cx="5448300" cy="2057400"/>
            </a:xfrm>
            <a:prstGeom prst="roundRect">
              <a:avLst>
                <a:gd name="adj" fmla="val 5556"/>
              </a:avLst>
            </a:prstGeom>
            <a:solidFill>
              <a:schemeClr val="accent5"/>
            </a:solidFill>
            <a:ln w="14288">
              <a:solidFill>
                <a:schemeClr val="accent4"/>
              </a:solidFill>
            </a:ln>
          </p:spPr>
        </p:sp>
        <p:sp>
          <p:nvSpPr>
            <p:cNvPr id="40" name="Rectangle 40"/>
            <p:cNvSpPr/>
            <p:nvPr/>
          </p:nvSpPr>
          <p:spPr>
            <a:xfrm>
              <a:off x="6134100" y="4495800"/>
              <a:ext cx="47625" cy="247650"/>
            </a:xfrm>
            <a:prstGeom prst="roundRect">
              <a:avLst>
                <a:gd name="adj" fmla="val 50000"/>
              </a:avLst>
            </a:prstGeom>
            <a:solidFill>
              <a:srgbClr val="F2A65A"/>
            </a:solidFill>
            <a:ln>
              <a:noFill/>
            </a:ln>
          </p:spPr>
        </p:sp>
        <p:sp>
          <p:nvSpPr>
            <p:cNvPr id="41" name="TextBox 41"/>
            <p:cNvSpPr txBox="1"/>
            <p:nvPr/>
          </p:nvSpPr>
          <p:spPr>
            <a:xfrm>
              <a:off x="6337173" y="4548664"/>
              <a:ext cx="1547988"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Compute-bounded</a:t>
              </a:r>
            </a:p>
          </p:txBody>
        </p:sp>
        <p:sp>
          <p:nvSpPr>
            <p:cNvPr id="42" name="TextBox 42"/>
            <p:cNvSpPr txBox="1"/>
            <p:nvPr/>
          </p:nvSpPr>
          <p:spPr>
            <a:xfrm>
              <a:off x="6336792" y="4826318"/>
              <a:ext cx="312770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largest networks tested don't</a:t>
              </a:r>
            </a:p>
          </p:txBody>
        </p:sp>
        <p:sp>
          <p:nvSpPr>
            <p:cNvPr id="43" name="TextBox 43"/>
            <p:cNvSpPr txBox="1"/>
            <p:nvPr/>
          </p:nvSpPr>
          <p:spPr>
            <a:xfrm>
              <a:off x="6336792" y="5073968"/>
              <a:ext cx="275794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fully nail the theoretical bound</a:t>
              </a:r>
            </a:p>
          </p:txBody>
        </p:sp>
        <p:sp>
          <p:nvSpPr>
            <p:cNvPr id="44" name="TextBox 44"/>
            <p:cNvSpPr txBox="1"/>
            <p:nvPr/>
          </p:nvSpPr>
          <p:spPr>
            <a:xfrm>
              <a:off x="6336792" y="5321618"/>
              <a:ext cx="212186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 a compute limit, not a</a:t>
              </a:r>
            </a:p>
          </p:txBody>
        </p:sp>
        <p:sp>
          <p:nvSpPr>
            <p:cNvPr id="45" name="TextBox 45"/>
            <p:cNvSpPr txBox="1"/>
            <p:nvPr/>
          </p:nvSpPr>
          <p:spPr>
            <a:xfrm>
              <a:off x="6336792" y="5569268"/>
              <a:ext cx="290051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failure of the theory. The trend</a:t>
              </a:r>
            </a:p>
          </p:txBody>
        </p:sp>
        <p:sp>
          <p:nvSpPr>
            <p:cNvPr id="46" name="TextBox 46"/>
            <p:cNvSpPr txBox="1"/>
            <p:nvPr/>
          </p:nvSpPr>
          <p:spPr>
            <a:xfrm>
              <a:off x="6336792" y="5816918"/>
              <a:ext cx="23399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still points the right way.</a:t>
              </a:r>
            </a:p>
          </p:txBody>
        </p:sp>
      </p:grpSp>
      <p:sp>
        <p:nvSpPr>
          <p:cNvPr id="48" name="cue_s07_c1_theory_holds" title="cue_s07_c1_theory_holds" descr="cue_s07_c1_theory_holds The theory holds up."/>
          <p:cNvSpPr/>
          <p:nvPr/>
        </p:nvSpPr>
        <p:spPr>
          <a:xfrm>
            <a:off x="609600" y="1257071"/>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7_c2_network_gets_wider_finite_jacobian" title="cue_s07_c2_network_gets_wider_finite_jacobian" descr="cue_s07_c2_network_gets_wider_finite_jacobian As the network gets wider, the finite Jacobian NNGP kernel closes in on its predicted deterministic limit, and the scaled finite JNTK converges to the limiting JNTK, matching the two initialisation theorems."/>
          <p:cNvSpPr/>
          <p:nvPr/>
        </p:nvSpPr>
        <p:spPr>
          <a:xfrm>
            <a:off x="6133795" y="2076602"/>
            <a:ext cx="54486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7_c3_during_robust_gap_between_finite" title="cue_s07_c3_during_robust_gap_between_finite" descr="cue_s07_c3_during_robust_gap_between_finite And during robust training, the gap between the finite JNTK and its limit shrinks monotonically with width at every training step we checked, which is exactly what the constancy theorem predicts."/>
          <p:cNvSpPr/>
          <p:nvPr/>
        </p:nvSpPr>
        <p:spPr>
          <a:xfrm>
            <a:off x="609600" y="2076602"/>
            <a:ext cx="5334000" cy="4324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7_c4_largest_networks_tested_don_fully" title="cue_s07_c4_largest_networks_tested_don_fully" descr="cue_s07_c4_largest_networks_tested_don_fully The largest networks tested don't fully nail the bound because of compute limits, but the trend is unmistakable: wider is closer, in precisely the way the theory says."/>
          <p:cNvSpPr/>
          <p:nvPr/>
        </p:nvSpPr>
        <p:spPr>
          <a:xfrm>
            <a:off x="6133795" y="4343171"/>
            <a:ext cx="5448604" cy="20574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854970"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ANALYSIS</a:t>
            </a:r>
          </a:p>
        </p:txBody>
      </p:sp>
      <p:sp>
        <p:nvSpPr>
          <p:cNvPr id="4" name="TextBox 4"/>
          <p:cNvSpPr txBox="1"/>
          <p:nvPr/>
        </p:nvSpPr>
        <p:spPr>
          <a:xfrm>
            <a:off x="788670" y="614362"/>
            <a:ext cx="860393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Jacobian regularisation aligns accuracy and robustness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08 / 10</a:t>
            </a:r>
          </a:p>
        </p:txBody>
      </p:sp>
      <p:grpSp>
        <p:nvGrpSpPr>
          <p:cNvPr id="30" name="Group 30"/>
          <p:cNvGrpSpPr/>
          <p:nvPr/>
        </p:nvGrpSpPr>
        <p:grpSpPr>
          <a:xfrm>
            <a:off x="499721" y="1257300"/>
            <a:ext cx="5443879" cy="2857500"/>
            <a:chOff x="499721" y="1257300"/>
            <a:chExt cx="5443879" cy="2857500"/>
          </a:xfrm>
        </p:grpSpPr>
        <p:sp>
          <p:nvSpPr>
            <p:cNvPr id="7" name="Rectangle 7"/>
            <p:cNvSpPr/>
            <p:nvPr/>
          </p:nvSpPr>
          <p:spPr>
            <a:xfrm>
              <a:off x="609600" y="1257300"/>
              <a:ext cx="5334000" cy="2857500"/>
            </a:xfrm>
            <a:prstGeom prst="roundRect">
              <a:avLst>
                <a:gd name="adj" fmla="val 4000"/>
              </a:avLst>
            </a:prstGeom>
            <a:solidFill>
              <a:schemeClr val="accent5"/>
            </a:solidFill>
            <a:ln w="14288">
              <a:solidFill>
                <a:schemeClr val="accent4"/>
              </a:solidFill>
            </a:ln>
          </p:spPr>
        </p:sp>
        <p:sp>
          <p:nvSpPr>
            <p:cNvPr id="8" name="Rectangle 8"/>
            <p:cNvSpPr/>
            <p:nvPr/>
          </p:nvSpPr>
          <p:spPr>
            <a:xfrm>
              <a:off x="819150" y="1409700"/>
              <a:ext cx="47625" cy="247650"/>
            </a:xfrm>
            <a:prstGeom prst="roundRect">
              <a:avLst>
                <a:gd name="adj" fmla="val 50000"/>
              </a:avLst>
            </a:prstGeom>
            <a:solidFill>
              <a:srgbClr val="7BE0C8"/>
            </a:solidFill>
            <a:ln>
              <a:noFill/>
            </a:ln>
          </p:spPr>
        </p:sp>
        <p:sp>
          <p:nvSpPr>
            <p:cNvPr id="9" name="TextBox 9"/>
            <p:cNvSpPr txBox="1"/>
            <p:nvPr/>
          </p:nvSpPr>
          <p:spPr>
            <a:xfrm>
              <a:off x="1022604" y="1470660"/>
              <a:ext cx="3299992" cy="234696"/>
            </a:xfrm>
            <a:prstGeom prst="rect">
              <a:avLst/>
            </a:prstGeom>
            <a:noFill/>
            <a:ln>
              <a:noFill/>
            </a:ln>
          </p:spPr>
          <p:txBody>
            <a:bodyPr wrap="none" lIns="0" tIns="0" rIns="0" bIns="0" anchor="t" anchorCtr="0">
              <a:spAutoFit/>
            </a:bodyPr>
            <a:lstStyle/>
            <a:p>
              <a:pPr algn="l"/>
              <a:r>
                <a:rPr lang="en-US" sz="1200" b="1" dirty="0">
                  <a:solidFill>
                    <a:srgbClr val="7BE0C8"/>
                  </a:solidFill>
                  <a:latin typeface="+mn-lt"/>
                  <a:ea typeface="+mn-ea"/>
                  <a:cs typeface="+mn-cs"/>
                </a:rPr>
                <a:t>Eigenfeatures: accuracy vs robustness</a:t>
              </a:r>
            </a:p>
          </p:txBody>
        </p:sp>
        <p:sp>
          <p:nvSpPr>
            <p:cNvPr id="10" name="Line 10"/>
            <p:cNvSpPr/>
            <p:nvPr/>
          </p:nvSpPr>
          <p:spPr>
            <a:xfrm>
              <a:off x="1276350" y="3467100"/>
              <a:ext cx="4095750" cy="9525"/>
            </a:xfrm>
            <a:custGeom>
              <a:avLst/>
              <a:gdLst/>
              <a:ahLst/>
              <a:cxnLst/>
              <a:rect l="l" t="t" r="r" b="b"/>
              <a:pathLst>
                <a:path w="4095750" h="9525">
                  <a:moveTo>
                    <a:pt x="0" y="0"/>
                  </a:moveTo>
                  <a:lnTo>
                    <a:pt x="4095750" y="0"/>
                  </a:lnTo>
                </a:path>
              </a:pathLst>
            </a:custGeom>
            <a:noFill/>
            <a:ln w="19050">
              <a:solidFill>
                <a:srgbClr val="33425F"/>
              </a:solidFill>
            </a:ln>
          </p:spPr>
        </p:sp>
        <p:sp>
          <p:nvSpPr>
            <p:cNvPr id="11" name="Line 11"/>
            <p:cNvSpPr/>
            <p:nvPr/>
          </p:nvSpPr>
          <p:spPr>
            <a:xfrm>
              <a:off x="1276350" y="1962150"/>
              <a:ext cx="9525" cy="1504950"/>
            </a:xfrm>
            <a:custGeom>
              <a:avLst/>
              <a:gdLst/>
              <a:ahLst/>
              <a:cxnLst/>
              <a:rect l="l" t="t" r="r" b="b"/>
              <a:pathLst>
                <a:path w="9525" h="1504950">
                  <a:moveTo>
                    <a:pt x="0" y="1504950"/>
                  </a:moveTo>
                  <a:lnTo>
                    <a:pt x="0" y="0"/>
                  </a:lnTo>
                </a:path>
              </a:pathLst>
            </a:custGeom>
            <a:noFill/>
            <a:ln w="19050">
              <a:solidFill>
                <a:srgbClr val="33425F"/>
              </a:solidFill>
            </a:ln>
          </p:spPr>
        </p:sp>
        <p:sp>
          <p:nvSpPr>
            <p:cNvPr id="12" name="TextBox 12"/>
            <p:cNvSpPr txBox="1"/>
            <p:nvPr/>
          </p:nvSpPr>
          <p:spPr>
            <a:xfrm>
              <a:off x="2972962" y="3590449"/>
              <a:ext cx="702526" cy="190690"/>
            </a:xfrm>
            <a:prstGeom prst="rect">
              <a:avLst/>
            </a:prstGeom>
            <a:noFill/>
            <a:ln>
              <a:noFill/>
            </a:ln>
          </p:spPr>
          <p:txBody>
            <a:bodyPr wrap="none" lIns="0" tIns="0" rIns="0" bIns="0" anchor="t" anchorCtr="0">
              <a:spAutoFit/>
            </a:bodyPr>
            <a:lstStyle/>
            <a:p>
              <a:pPr algn="ctr"/>
              <a:r>
                <a:rPr lang="en-US" sz="980" dirty="0">
                  <a:solidFill>
                    <a:srgbClr val="6D7C96"/>
                  </a:solidFill>
                  <a:latin typeface="+mn-lt"/>
                  <a:ea typeface="+mn-ea"/>
                  <a:cs typeface="+mn-cs"/>
                </a:rPr>
                <a:t>accuracy →</a:t>
              </a:r>
            </a:p>
          </p:txBody>
        </p:sp>
        <p:sp>
          <p:nvSpPr>
            <p:cNvPr id="13" name="TextBox 13"/>
            <p:cNvSpPr txBox="1"/>
            <p:nvPr/>
          </p:nvSpPr>
          <p:spPr>
            <a:xfrm rot="-5400000">
              <a:off x="499721" y="2619280"/>
              <a:ext cx="847646" cy="190690"/>
            </a:xfrm>
            <a:prstGeom prst="rect">
              <a:avLst/>
            </a:prstGeom>
            <a:noFill/>
            <a:ln>
              <a:noFill/>
            </a:ln>
          </p:spPr>
          <p:txBody>
            <a:bodyPr wrap="none" lIns="0" tIns="0" rIns="0" bIns="0" anchor="t" anchorCtr="0">
              <a:spAutoFit/>
            </a:bodyPr>
            <a:lstStyle/>
            <a:p>
              <a:pPr algn="ctr"/>
              <a:r>
                <a:rPr lang="en-US" sz="980" dirty="0">
                  <a:solidFill>
                    <a:srgbClr val="6D7C96"/>
                  </a:solidFill>
                  <a:latin typeface="+mn-lt"/>
                  <a:ea typeface="+mn-ea"/>
                  <a:cs typeface="+mn-cs"/>
                </a:rPr>
                <a:t>robustness →</a:t>
              </a:r>
            </a:p>
          </p:txBody>
        </p:sp>
        <p:sp>
          <p:nvSpPr>
            <p:cNvPr id="14" name="Ellipse 14"/>
            <p:cNvSpPr/>
            <p:nvPr/>
          </p:nvSpPr>
          <p:spPr>
            <a:xfrm>
              <a:off x="1481138" y="3162300"/>
              <a:ext cx="95250" cy="95250"/>
            </a:xfrm>
            <a:prstGeom prst="ellipse">
              <a:avLst/>
            </a:prstGeom>
            <a:solidFill>
              <a:srgbClr val="7BE0C8">
                <a:alpha val="85000"/>
              </a:srgbClr>
            </a:solidFill>
            <a:ln>
              <a:noFill/>
            </a:ln>
          </p:spPr>
        </p:sp>
        <p:sp>
          <p:nvSpPr>
            <p:cNvPr id="15" name="Ellipse 15"/>
            <p:cNvSpPr/>
            <p:nvPr/>
          </p:nvSpPr>
          <p:spPr>
            <a:xfrm>
              <a:off x="1795462" y="3054668"/>
              <a:ext cx="95250" cy="95250"/>
            </a:xfrm>
            <a:prstGeom prst="ellipse">
              <a:avLst/>
            </a:prstGeom>
            <a:solidFill>
              <a:srgbClr val="7BE0C8">
                <a:alpha val="85000"/>
              </a:srgbClr>
            </a:solidFill>
            <a:ln>
              <a:noFill/>
            </a:ln>
          </p:spPr>
        </p:sp>
        <p:sp>
          <p:nvSpPr>
            <p:cNvPr id="16" name="Ellipse 16"/>
            <p:cNvSpPr/>
            <p:nvPr/>
          </p:nvSpPr>
          <p:spPr>
            <a:xfrm>
              <a:off x="2025015" y="3018472"/>
              <a:ext cx="95250" cy="95250"/>
            </a:xfrm>
            <a:prstGeom prst="ellipse">
              <a:avLst/>
            </a:prstGeom>
            <a:solidFill>
              <a:srgbClr val="7BE0C8">
                <a:alpha val="85000"/>
              </a:srgbClr>
            </a:solidFill>
            <a:ln>
              <a:noFill/>
            </a:ln>
          </p:spPr>
        </p:sp>
        <p:sp>
          <p:nvSpPr>
            <p:cNvPr id="17" name="Ellipse 17"/>
            <p:cNvSpPr/>
            <p:nvPr/>
          </p:nvSpPr>
          <p:spPr>
            <a:xfrm>
              <a:off x="2185988" y="2952750"/>
              <a:ext cx="95250" cy="95250"/>
            </a:xfrm>
            <a:prstGeom prst="ellipse">
              <a:avLst/>
            </a:prstGeom>
            <a:solidFill>
              <a:srgbClr val="7BE0C8">
                <a:alpha val="85000"/>
              </a:srgbClr>
            </a:solidFill>
            <a:ln>
              <a:noFill/>
            </a:ln>
          </p:spPr>
        </p:sp>
        <p:sp>
          <p:nvSpPr>
            <p:cNvPr id="18" name="Ellipse 18"/>
            <p:cNvSpPr/>
            <p:nvPr/>
          </p:nvSpPr>
          <p:spPr>
            <a:xfrm>
              <a:off x="2434590" y="2846070"/>
              <a:ext cx="95250" cy="95250"/>
            </a:xfrm>
            <a:prstGeom prst="ellipse">
              <a:avLst/>
            </a:prstGeom>
            <a:solidFill>
              <a:srgbClr val="7BE0C8">
                <a:alpha val="85000"/>
              </a:srgbClr>
            </a:solidFill>
            <a:ln>
              <a:noFill/>
            </a:ln>
          </p:spPr>
        </p:sp>
        <p:sp>
          <p:nvSpPr>
            <p:cNvPr id="19" name="Ellipse 19"/>
            <p:cNvSpPr/>
            <p:nvPr/>
          </p:nvSpPr>
          <p:spPr>
            <a:xfrm>
              <a:off x="2692718" y="2687955"/>
              <a:ext cx="95250" cy="95250"/>
            </a:xfrm>
            <a:prstGeom prst="ellipse">
              <a:avLst/>
            </a:prstGeom>
            <a:solidFill>
              <a:srgbClr val="7BE0C8">
                <a:alpha val="85000"/>
              </a:srgbClr>
            </a:solidFill>
            <a:ln>
              <a:noFill/>
            </a:ln>
          </p:spPr>
        </p:sp>
        <p:sp>
          <p:nvSpPr>
            <p:cNvPr id="20" name="Ellipse 20"/>
            <p:cNvSpPr/>
            <p:nvPr/>
          </p:nvSpPr>
          <p:spPr>
            <a:xfrm>
              <a:off x="3012758" y="2735580"/>
              <a:ext cx="95250" cy="95250"/>
            </a:xfrm>
            <a:prstGeom prst="ellipse">
              <a:avLst/>
            </a:prstGeom>
            <a:solidFill>
              <a:srgbClr val="7BE0C8">
                <a:alpha val="85000"/>
              </a:srgbClr>
            </a:solidFill>
            <a:ln>
              <a:noFill/>
            </a:ln>
          </p:spPr>
        </p:sp>
        <p:sp>
          <p:nvSpPr>
            <p:cNvPr id="21" name="Ellipse 21"/>
            <p:cNvSpPr/>
            <p:nvPr/>
          </p:nvSpPr>
          <p:spPr>
            <a:xfrm>
              <a:off x="3207068" y="2527935"/>
              <a:ext cx="95250" cy="95250"/>
            </a:xfrm>
            <a:prstGeom prst="ellipse">
              <a:avLst/>
            </a:prstGeom>
            <a:solidFill>
              <a:srgbClr val="7BE0C8">
                <a:alpha val="85000"/>
              </a:srgbClr>
            </a:solidFill>
            <a:ln>
              <a:noFill/>
            </a:ln>
          </p:spPr>
        </p:sp>
        <p:sp>
          <p:nvSpPr>
            <p:cNvPr id="22" name="Ellipse 22"/>
            <p:cNvSpPr/>
            <p:nvPr/>
          </p:nvSpPr>
          <p:spPr>
            <a:xfrm>
              <a:off x="3554730" y="2573655"/>
              <a:ext cx="95250" cy="95250"/>
            </a:xfrm>
            <a:prstGeom prst="ellipse">
              <a:avLst/>
            </a:prstGeom>
            <a:solidFill>
              <a:srgbClr val="7BE0C8">
                <a:alpha val="85000"/>
              </a:srgbClr>
            </a:solidFill>
            <a:ln>
              <a:noFill/>
            </a:ln>
          </p:spPr>
        </p:sp>
        <p:sp>
          <p:nvSpPr>
            <p:cNvPr id="23" name="Ellipse 23"/>
            <p:cNvSpPr/>
            <p:nvPr/>
          </p:nvSpPr>
          <p:spPr>
            <a:xfrm>
              <a:off x="3797618" y="2375535"/>
              <a:ext cx="95250" cy="95250"/>
            </a:xfrm>
            <a:prstGeom prst="ellipse">
              <a:avLst/>
            </a:prstGeom>
            <a:solidFill>
              <a:srgbClr val="7BE0C8">
                <a:alpha val="85000"/>
              </a:srgbClr>
            </a:solidFill>
            <a:ln>
              <a:noFill/>
            </a:ln>
          </p:spPr>
        </p:sp>
        <p:sp>
          <p:nvSpPr>
            <p:cNvPr id="24" name="Ellipse 24"/>
            <p:cNvSpPr/>
            <p:nvPr/>
          </p:nvSpPr>
          <p:spPr>
            <a:xfrm>
              <a:off x="4125278" y="2216468"/>
              <a:ext cx="95250" cy="95250"/>
            </a:xfrm>
            <a:prstGeom prst="ellipse">
              <a:avLst/>
            </a:prstGeom>
            <a:solidFill>
              <a:srgbClr val="7BE0C8">
                <a:alpha val="85000"/>
              </a:srgbClr>
            </a:solidFill>
            <a:ln>
              <a:noFill/>
            </a:ln>
          </p:spPr>
        </p:sp>
        <p:sp>
          <p:nvSpPr>
            <p:cNvPr id="25" name="Ellipse 25"/>
            <p:cNvSpPr/>
            <p:nvPr/>
          </p:nvSpPr>
          <p:spPr>
            <a:xfrm>
              <a:off x="4354830" y="2169795"/>
              <a:ext cx="95250" cy="95250"/>
            </a:xfrm>
            <a:prstGeom prst="ellipse">
              <a:avLst/>
            </a:prstGeom>
            <a:solidFill>
              <a:srgbClr val="7BE0C8">
                <a:alpha val="85000"/>
              </a:srgbClr>
            </a:solidFill>
            <a:ln>
              <a:noFill/>
            </a:ln>
          </p:spPr>
        </p:sp>
        <p:sp>
          <p:nvSpPr>
            <p:cNvPr id="26" name="Ellipse 26"/>
            <p:cNvSpPr/>
            <p:nvPr/>
          </p:nvSpPr>
          <p:spPr>
            <a:xfrm>
              <a:off x="4471035" y="2045018"/>
              <a:ext cx="95250" cy="95250"/>
            </a:xfrm>
            <a:prstGeom prst="ellipse">
              <a:avLst/>
            </a:prstGeom>
            <a:solidFill>
              <a:srgbClr val="7BE0C8">
                <a:alpha val="85000"/>
              </a:srgbClr>
            </a:solidFill>
            <a:ln>
              <a:noFill/>
            </a:ln>
          </p:spPr>
        </p:sp>
        <p:sp>
          <p:nvSpPr>
            <p:cNvPr id="27" name="Ellipse 27"/>
            <p:cNvSpPr/>
            <p:nvPr/>
          </p:nvSpPr>
          <p:spPr>
            <a:xfrm>
              <a:off x="4754880" y="2085022"/>
              <a:ext cx="95250" cy="95250"/>
            </a:xfrm>
            <a:prstGeom prst="ellipse">
              <a:avLst/>
            </a:prstGeom>
            <a:solidFill>
              <a:srgbClr val="7BE0C8">
                <a:alpha val="85000"/>
              </a:srgbClr>
            </a:solidFill>
            <a:ln>
              <a:noFill/>
            </a:ln>
          </p:spPr>
        </p:sp>
        <p:sp>
          <p:nvSpPr>
            <p:cNvPr id="28" name="Line 28"/>
            <p:cNvSpPr/>
            <p:nvPr/>
          </p:nvSpPr>
          <p:spPr>
            <a:xfrm>
              <a:off x="1466850" y="2228850"/>
              <a:ext cx="3295650" cy="1104900"/>
            </a:xfrm>
            <a:custGeom>
              <a:avLst/>
              <a:gdLst/>
              <a:ahLst/>
              <a:cxnLst/>
              <a:rect l="l" t="t" r="r" b="b"/>
              <a:pathLst>
                <a:path w="3295650" h="1104900">
                  <a:moveTo>
                    <a:pt x="0" y="1104900"/>
                  </a:moveTo>
                  <a:lnTo>
                    <a:pt x="3295650" y="0"/>
                  </a:lnTo>
                </a:path>
              </a:pathLst>
            </a:custGeom>
            <a:noFill/>
            <a:ln w="23812">
              <a:solidFill>
                <a:srgbClr val="7BE0C8"/>
              </a:solidFill>
              <a:custDash>
                <a:ds d="240000" sp="160000"/>
              </a:custDash>
            </a:ln>
          </p:spPr>
        </p:sp>
        <p:sp>
          <p:nvSpPr>
            <p:cNvPr id="29" name="TextBox 29"/>
            <p:cNvSpPr txBox="1"/>
            <p:nvPr/>
          </p:nvSpPr>
          <p:spPr>
            <a:xfrm>
              <a:off x="1023366" y="3849052"/>
              <a:ext cx="38157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 Jacobian reg, accurate features are also robust.</a:t>
              </a:r>
            </a:p>
          </p:txBody>
        </p:sp>
      </p:grpSp>
      <p:grpSp>
        <p:nvGrpSpPr>
          <p:cNvPr id="39" name="Group 39"/>
          <p:cNvGrpSpPr/>
          <p:nvPr/>
        </p:nvGrpSpPr>
        <p:grpSpPr>
          <a:xfrm>
            <a:off x="6134100" y="1257300"/>
            <a:ext cx="5448300" cy="2857500"/>
            <a:chOff x="6134100" y="1257300"/>
            <a:chExt cx="5448300" cy="2857500"/>
          </a:xfrm>
        </p:grpSpPr>
        <p:sp>
          <p:nvSpPr>
            <p:cNvPr id="31" name="Rectangle 31"/>
            <p:cNvSpPr/>
            <p:nvPr/>
          </p:nvSpPr>
          <p:spPr>
            <a:xfrm>
              <a:off x="6134100" y="1257300"/>
              <a:ext cx="5448300" cy="2857500"/>
            </a:xfrm>
            <a:prstGeom prst="roundRect">
              <a:avLst>
                <a:gd name="adj" fmla="val 4000"/>
              </a:avLst>
            </a:prstGeom>
            <a:solidFill>
              <a:schemeClr val="accent5"/>
            </a:solidFill>
            <a:ln w="14288">
              <a:solidFill>
                <a:schemeClr val="accent4"/>
              </a:solidFill>
            </a:ln>
          </p:spPr>
        </p:sp>
        <p:sp>
          <p:nvSpPr>
            <p:cNvPr id="32" name="Rectangle 32"/>
            <p:cNvSpPr/>
            <p:nvPr/>
          </p:nvSpPr>
          <p:spPr>
            <a:xfrm>
              <a:off x="6134100" y="1409700"/>
              <a:ext cx="47625" cy="247650"/>
            </a:xfrm>
            <a:prstGeom prst="roundRect">
              <a:avLst>
                <a:gd name="adj" fmla="val 50000"/>
              </a:avLst>
            </a:prstGeom>
            <a:solidFill>
              <a:srgbClr val="F2768F"/>
            </a:solidFill>
            <a:ln>
              <a:noFill/>
            </a:ln>
          </p:spPr>
        </p:sp>
        <p:sp>
          <p:nvSpPr>
            <p:cNvPr id="33" name="TextBox 33"/>
            <p:cNvSpPr txBox="1"/>
            <p:nvPr/>
          </p:nvSpPr>
          <p:spPr>
            <a:xfrm>
              <a:off x="6337173" y="1462564"/>
              <a:ext cx="1574450" cy="249364"/>
            </a:xfrm>
            <a:prstGeom prst="rect">
              <a:avLst/>
            </a:prstGeom>
            <a:noFill/>
            <a:ln>
              <a:noFill/>
            </a:ln>
          </p:spPr>
          <p:txBody>
            <a:bodyPr wrap="none" lIns="0" tIns="0" rIns="0" bIns="0" anchor="t" anchorCtr="0">
              <a:spAutoFit/>
            </a:bodyPr>
            <a:lstStyle/>
            <a:p>
              <a:pPr algn="l"/>
              <a:r>
                <a:rPr lang="en-US" sz="1280" b="1" dirty="0">
                  <a:solidFill>
                    <a:srgbClr val="F2768F"/>
                  </a:solidFill>
                  <a:latin typeface="+mn-lt"/>
                  <a:ea typeface="+mn-ea"/>
                  <a:cs typeface="+mn-cs"/>
                </a:rPr>
                <a:t>Standard training</a:t>
              </a:r>
            </a:p>
          </p:txBody>
        </p:sp>
        <p:sp>
          <p:nvSpPr>
            <p:cNvPr id="34" name="TextBox 34"/>
            <p:cNvSpPr txBox="1"/>
            <p:nvPr/>
          </p:nvSpPr>
          <p:spPr>
            <a:xfrm>
              <a:off x="6336792" y="1740218"/>
              <a:ext cx="287296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Almost no link between accuracy</a:t>
              </a:r>
            </a:p>
          </p:txBody>
        </p:sp>
        <p:sp>
          <p:nvSpPr>
            <p:cNvPr id="35" name="TextBox 35"/>
            <p:cNvSpPr txBox="1"/>
            <p:nvPr/>
          </p:nvSpPr>
          <p:spPr>
            <a:xfrm>
              <a:off x="6336792" y="1987868"/>
              <a:ext cx="263981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and robustness — and it never</a:t>
              </a:r>
            </a:p>
          </p:txBody>
        </p:sp>
        <p:sp>
          <p:nvSpPr>
            <p:cNvPr id="36" name="TextBox 36"/>
            <p:cNvSpPr txBox="1"/>
            <p:nvPr/>
          </p:nvSpPr>
          <p:spPr>
            <a:xfrm>
              <a:off x="6336792" y="2235518"/>
              <a:ext cx="313050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produces the accurate-but-fragile</a:t>
              </a:r>
            </a:p>
          </p:txBody>
        </p:sp>
        <p:sp>
          <p:nvSpPr>
            <p:cNvPr id="37" name="TextBox 37"/>
            <p:cNvSpPr txBox="1"/>
            <p:nvPr/>
          </p:nvSpPr>
          <p:spPr>
            <a:xfrm>
              <a:off x="6336792" y="2483168"/>
              <a:ext cx="214003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features seen in earlier</a:t>
              </a:r>
            </a:p>
          </p:txBody>
        </p:sp>
        <p:sp>
          <p:nvSpPr>
            <p:cNvPr id="38" name="TextBox 38"/>
            <p:cNvSpPr txBox="1"/>
            <p:nvPr/>
          </p:nvSpPr>
          <p:spPr>
            <a:xfrm>
              <a:off x="6336792" y="2730818"/>
              <a:ext cx="1532631"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finite-NTK work.</a:t>
              </a:r>
            </a:p>
          </p:txBody>
        </p:sp>
      </p:grpSp>
      <p:grpSp>
        <p:nvGrpSpPr>
          <p:cNvPr id="47" name="Group 47"/>
          <p:cNvGrpSpPr/>
          <p:nvPr/>
        </p:nvGrpSpPr>
        <p:grpSpPr>
          <a:xfrm>
            <a:off x="609600" y="4305300"/>
            <a:ext cx="5334000" cy="2095500"/>
            <a:chOff x="609600" y="4305300"/>
            <a:chExt cx="5334000" cy="2095500"/>
          </a:xfrm>
        </p:grpSpPr>
        <p:sp>
          <p:nvSpPr>
            <p:cNvPr id="40" name="Rectangle 40"/>
            <p:cNvSpPr/>
            <p:nvPr/>
          </p:nvSpPr>
          <p:spPr>
            <a:xfrm>
              <a:off x="609600" y="4305300"/>
              <a:ext cx="5334000" cy="2095500"/>
            </a:xfrm>
            <a:prstGeom prst="roundRect">
              <a:avLst>
                <a:gd name="adj" fmla="val 5455"/>
              </a:avLst>
            </a:prstGeom>
            <a:solidFill>
              <a:schemeClr val="accent5"/>
            </a:solidFill>
            <a:ln w="14288">
              <a:solidFill>
                <a:schemeClr val="accent4"/>
              </a:solidFill>
            </a:ln>
          </p:spPr>
        </p:sp>
        <p:sp>
          <p:nvSpPr>
            <p:cNvPr id="41" name="Rectangle 41"/>
            <p:cNvSpPr/>
            <p:nvPr/>
          </p:nvSpPr>
          <p:spPr>
            <a:xfrm>
              <a:off x="609600" y="4457700"/>
              <a:ext cx="47625" cy="247650"/>
            </a:xfrm>
            <a:prstGeom prst="roundRect">
              <a:avLst>
                <a:gd name="adj" fmla="val 50000"/>
              </a:avLst>
            </a:prstGeom>
            <a:solidFill>
              <a:srgbClr val="7BE0C8"/>
            </a:solidFill>
            <a:ln>
              <a:noFill/>
            </a:ln>
          </p:spPr>
        </p:sp>
        <p:sp>
          <p:nvSpPr>
            <p:cNvPr id="42" name="TextBox 42"/>
            <p:cNvSpPr txBox="1"/>
            <p:nvPr/>
          </p:nvSpPr>
          <p:spPr>
            <a:xfrm>
              <a:off x="812673" y="4510564"/>
              <a:ext cx="1421770"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Not a trade-off</a:t>
              </a:r>
            </a:p>
          </p:txBody>
        </p:sp>
        <p:sp>
          <p:nvSpPr>
            <p:cNvPr id="43" name="TextBox 43"/>
            <p:cNvSpPr txBox="1"/>
            <p:nvPr/>
          </p:nvSpPr>
          <p:spPr>
            <a:xfrm>
              <a:off x="812292" y="4788218"/>
              <a:ext cx="275481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regulariser isn't trading a</a:t>
              </a:r>
            </a:p>
          </p:txBody>
        </p:sp>
        <p:sp>
          <p:nvSpPr>
            <p:cNvPr id="44" name="TextBox 44"/>
            <p:cNvSpPr txBox="1"/>
            <p:nvPr/>
          </p:nvSpPr>
          <p:spPr>
            <a:xfrm>
              <a:off x="812292" y="5035868"/>
              <a:ext cx="289424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little accuracy for robustness —</a:t>
              </a:r>
            </a:p>
          </p:txBody>
        </p:sp>
        <p:sp>
          <p:nvSpPr>
            <p:cNvPr id="45" name="TextBox 45"/>
            <p:cNvSpPr txBox="1"/>
            <p:nvPr/>
          </p:nvSpPr>
          <p:spPr>
            <a:xfrm>
              <a:off x="812292" y="5283518"/>
              <a:ext cx="2676163"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it aligns the two so they move</a:t>
              </a:r>
            </a:p>
          </p:txBody>
        </p:sp>
        <p:sp>
          <p:nvSpPr>
            <p:cNvPr id="46" name="TextBox 46"/>
            <p:cNvSpPr txBox="1"/>
            <p:nvPr/>
          </p:nvSpPr>
          <p:spPr>
            <a:xfrm>
              <a:off x="812292" y="5531168"/>
              <a:ext cx="1976476"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 the same direction.</a:t>
              </a:r>
            </a:p>
          </p:txBody>
        </p:sp>
      </p:grpSp>
      <p:grpSp>
        <p:nvGrpSpPr>
          <p:cNvPr id="55" name="Group 55"/>
          <p:cNvGrpSpPr/>
          <p:nvPr/>
        </p:nvGrpSpPr>
        <p:grpSpPr>
          <a:xfrm>
            <a:off x="6134100" y="4305300"/>
            <a:ext cx="5448300" cy="2095500"/>
            <a:chOff x="6134100" y="4305300"/>
            <a:chExt cx="5448300" cy="2095500"/>
          </a:xfrm>
        </p:grpSpPr>
        <p:sp>
          <p:nvSpPr>
            <p:cNvPr id="48" name="Rectangle 48"/>
            <p:cNvSpPr/>
            <p:nvPr/>
          </p:nvSpPr>
          <p:spPr>
            <a:xfrm>
              <a:off x="6134100" y="4305300"/>
              <a:ext cx="5448300" cy="2095500"/>
            </a:xfrm>
            <a:prstGeom prst="roundRect">
              <a:avLst>
                <a:gd name="adj" fmla="val 5455"/>
              </a:avLst>
            </a:prstGeom>
            <a:solidFill>
              <a:schemeClr val="accent5"/>
            </a:solidFill>
            <a:ln w="14288">
              <a:solidFill>
                <a:schemeClr val="accent4"/>
              </a:solidFill>
            </a:ln>
          </p:spPr>
        </p:sp>
        <p:sp>
          <p:nvSpPr>
            <p:cNvPr id="49" name="Rectangle 49"/>
            <p:cNvSpPr/>
            <p:nvPr/>
          </p:nvSpPr>
          <p:spPr>
            <a:xfrm>
              <a:off x="6134100" y="4457700"/>
              <a:ext cx="47625" cy="247650"/>
            </a:xfrm>
            <a:prstGeom prst="roundRect">
              <a:avLst>
                <a:gd name="adj" fmla="val 50000"/>
              </a:avLst>
            </a:prstGeom>
            <a:solidFill>
              <a:srgbClr val="F2A65A"/>
            </a:solidFill>
            <a:ln>
              <a:noFill/>
            </a:ln>
          </p:spPr>
        </p:sp>
        <p:sp>
          <p:nvSpPr>
            <p:cNvPr id="50" name="TextBox 50"/>
            <p:cNvSpPr txBox="1"/>
            <p:nvPr/>
          </p:nvSpPr>
          <p:spPr>
            <a:xfrm>
              <a:off x="6337173" y="4510564"/>
              <a:ext cx="1692122" cy="249364"/>
            </a:xfrm>
            <a:prstGeom prst="rect">
              <a:avLst/>
            </a:prstGeom>
            <a:noFill/>
            <a:ln>
              <a:noFill/>
            </a:ln>
          </p:spPr>
          <p:txBody>
            <a:bodyPr wrap="none" lIns="0" tIns="0" rIns="0" bIns="0" anchor="t" anchorCtr="0">
              <a:spAutoFit/>
            </a:bodyPr>
            <a:lstStyle/>
            <a:p>
              <a:pPr algn="l"/>
              <a:r>
                <a:rPr lang="en-US" sz="1280" b="1" dirty="0">
                  <a:solidFill>
                    <a:srgbClr val="F2A65A"/>
                  </a:solidFill>
                  <a:latin typeface="+mn-lt"/>
                  <a:ea typeface="+mn-ea"/>
                  <a:cs typeface="+mn-cs"/>
                </a:rPr>
                <a:t>Full-rank is fragile</a:t>
              </a:r>
            </a:p>
          </p:txBody>
        </p:sp>
        <p:sp>
          <p:nvSpPr>
            <p:cNvPr id="51" name="TextBox 51"/>
            <p:cNvSpPr txBox="1"/>
            <p:nvPr/>
          </p:nvSpPr>
          <p:spPr>
            <a:xfrm>
              <a:off x="6336792" y="4788218"/>
              <a:ext cx="296925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JNTK's smallest eigenvalue is</a:t>
              </a:r>
            </a:p>
          </p:txBody>
        </p:sp>
        <p:sp>
          <p:nvSpPr>
            <p:cNvPr id="52" name="TextBox 52"/>
            <p:cNvSpPr txBox="1"/>
            <p:nvPr/>
          </p:nvSpPr>
          <p:spPr>
            <a:xfrm>
              <a:off x="6336792" y="5035868"/>
              <a:ext cx="269582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far below the NTK's and turns</a:t>
              </a:r>
            </a:p>
          </p:txBody>
        </p:sp>
        <p:sp>
          <p:nvSpPr>
            <p:cNvPr id="53" name="TextBox 53"/>
            <p:cNvSpPr txBox="1"/>
            <p:nvPr/>
          </p:nvSpPr>
          <p:spPr>
            <a:xfrm>
              <a:off x="6336792" y="5283518"/>
              <a:ext cx="26943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positive only for deeper nets:</a:t>
              </a:r>
            </a:p>
          </p:txBody>
        </p:sp>
        <p:sp>
          <p:nvSpPr>
            <p:cNvPr id="54" name="TextBox 54"/>
            <p:cNvSpPr txBox="1"/>
            <p:nvPr/>
          </p:nvSpPr>
          <p:spPr>
            <a:xfrm>
              <a:off x="6336792" y="5531168"/>
              <a:ext cx="307215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depth 11 for GeLU, just 6 for erf.</a:t>
              </a:r>
            </a:p>
          </p:txBody>
        </p:sp>
      </p:grpSp>
      <p:sp>
        <p:nvSpPr>
          <p:cNvPr id="56" name="cue_s08_c1_most_striking_finding_comes_analysin" title="cue_s08_c1_most_striking_finding_comes_analysin" descr="cue_s08_c1_most_striking_finding_comes_analysin The most striking finding comes from analysing the kernel-regression solution. With Jacobian regularisation, the eigenfeatures that are more accurate are also more robust; accuracy and robustness move together."/>
          <p:cNvSpPr/>
          <p:nvPr/>
        </p:nvSpPr>
        <p:spPr>
          <a:xfrm>
            <a:off x="499872" y="1257071"/>
            <a:ext cx="5443728"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8_c2_standard_shows_almost_such_link" title="cue_s08_c2_standard_shows_almost_such_link" descr="cue_s08_c2_standard_shows_almost_such_link Standard training shows almost no such link, and it never produces the accurate-but-fragile features seen in earlier finite-NTK work."/>
          <p:cNvSpPr/>
          <p:nvPr/>
        </p:nvSpPr>
        <p:spPr>
          <a:xfrm>
            <a:off x="6133795" y="1257071"/>
            <a:ext cx="5448604" cy="28577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8_c3_regulariser_isn_just_trading_little" title="cue_s08_c3_regulariser_isn_just_trading_little" descr="cue_s08_c3_regulariser_isn_just_trading_little So the regulariser isn't just trading a little accuracy for robustness; it aligns the two."/>
          <p:cNvSpPr/>
          <p:nvPr/>
        </p:nvSpPr>
        <p:spPr>
          <a:xfrm>
            <a:off x="609600" y="4305452"/>
            <a:ext cx="5334000"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ue_s08_c4_separate_check_key_full_rank_assumpt" title="cue_s08_c4_separate_check_key_full_rank_assumpt" descr="cue_s08_c4_separate_check_key_full_rank_assumpt A separate check on the key full-rank assumption shows it is fragile: the JNTK's smallest eigenvalue is far below the NTK's and only becomes positive for deeper networks, depth eleven for GeLU but just six for the erf activation."/>
          <p:cNvSpPr/>
          <p:nvPr/>
        </p:nvSpPr>
        <p:spPr>
          <a:xfrm>
            <a:off x="6133795" y="4305452"/>
            <a:ext cx="5448604" cy="20958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38150"/>
            <a:ext cx="57150" cy="323850"/>
          </a:xfrm>
          <a:prstGeom prst="roundRect">
            <a:avLst>
              <a:gd name="adj" fmla="val 50000"/>
            </a:avLst>
          </a:prstGeom>
          <a:solidFill>
            <a:schemeClr val="accent2"/>
          </a:solidFill>
          <a:ln>
            <a:noFill/>
          </a:ln>
        </p:spPr>
        <p:txBody>
          <a:bodyPr/>
          <a:p/>
        </p:txBody>
      </p:sp>
      <p:sp>
        <p:nvSpPr>
          <p:cNvPr id="3" name="TextBox 3"/>
          <p:cNvSpPr txBox="1"/>
          <p:nvPr/>
        </p:nvSpPr>
        <p:spPr>
          <a:xfrm>
            <a:off x="794385" y="469106"/>
            <a:ext cx="1526627" cy="220028"/>
          </a:xfrm>
          <a:prstGeom prst="rect">
            <a:avLst/>
          </a:prstGeom>
          <a:noFill/>
          <a:ln>
            <a:noFill/>
          </a:ln>
        </p:spPr>
        <p:txBody>
          <a:bodyPr wrap="none" lIns="0" tIns="0" rIns="0" bIns="0" anchor="t" anchorCtr="0">
            <a:spAutoFit/>
          </a:bodyPr>
          <a:lstStyle/>
          <a:p>
            <a:pPr algn="l"/>
            <a:r>
              <a:rPr lang="en-US" sz="1120" b="1" spc="150" dirty="0">
                <a:solidFill>
                  <a:schemeClr val="accent2"/>
                </a:solidFill>
                <a:latin typeface="+mn-lt"/>
                <a:ea typeface="+mn-ea"/>
                <a:cs typeface="+mn-cs"/>
              </a:rPr>
              <a:t>BY THE NUMBERS</a:t>
            </a:r>
          </a:p>
        </p:txBody>
      </p:sp>
      <p:sp>
        <p:nvSpPr>
          <p:cNvPr id="4" name="TextBox 4"/>
          <p:cNvSpPr txBox="1"/>
          <p:nvPr/>
        </p:nvSpPr>
        <p:spPr>
          <a:xfrm>
            <a:off x="788670" y="614362"/>
            <a:ext cx="3134072"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study in figures</a:t>
            </a:r>
          </a:p>
        </p:txBody>
      </p:sp>
      <p:sp>
        <p:nvSpPr>
          <p:cNvPr id="5" name="Line 5"/>
          <p:cNvSpPr/>
          <p:nvPr/>
        </p:nvSpPr>
        <p:spPr>
          <a:xfrm>
            <a:off x="609600" y="1028700"/>
            <a:ext cx="10972800" cy="9525"/>
          </a:xfrm>
          <a:custGeom>
            <a:avLst/>
            <a:gdLst/>
            <a:ahLst/>
            <a:cxnLst/>
            <a:rect l="l" t="t" r="r" b="b"/>
            <a:pathLst>
              <a:path w="10972800" h="9525">
                <a:moveTo>
                  <a:pt x="0" y="0"/>
                </a:moveTo>
                <a:lnTo>
                  <a:pt x="10972800" y="0"/>
                </a:lnTo>
              </a:path>
            </a:pathLst>
          </a:custGeom>
          <a:noFill/>
          <a:ln w="14288">
            <a:solidFill>
              <a:schemeClr val="accent4"/>
            </a:solidFill>
          </a:ln>
        </p:spPr>
        <p:txBody>
          <a:bodyPr/>
          <a:p/>
        </p:txBody>
      </p:sp>
      <p:sp>
        <p:nvSpPr>
          <p:cNvPr id="6" name="TextBox 6"/>
          <p:cNvSpPr txBox="1"/>
          <p:nvPr/>
        </p:nvSpPr>
        <p:spPr>
          <a:xfrm>
            <a:off x="11103540" y="477202"/>
            <a:ext cx="484194" cy="205359"/>
          </a:xfrm>
          <a:prstGeom prst="rect">
            <a:avLst/>
          </a:prstGeom>
          <a:noFill/>
          <a:ln>
            <a:noFill/>
          </a:ln>
        </p:spPr>
        <p:txBody>
          <a:bodyPr wrap="none" lIns="0" tIns="0" rIns="0" bIns="0" anchor="t" anchorCtr="0">
            <a:spAutoFit/>
          </a:bodyPr>
          <a:lstStyle/>
          <a:p>
            <a:pPr algn="r"/>
            <a:r>
              <a:rPr lang="en-US" sz="1050" dirty="0">
                <a:solidFill>
                  <a:srgbClr val="6D7C96"/>
                </a:solidFill>
                <a:latin typeface="+mn-lt"/>
                <a:ea typeface="+mn-ea"/>
                <a:cs typeface="+mn-cs"/>
              </a:rPr>
              <a:t>09 / 10</a:t>
            </a:r>
          </a:p>
        </p:txBody>
      </p:sp>
      <p:grpSp>
        <p:nvGrpSpPr>
          <p:cNvPr id="12" name="Group 12"/>
          <p:cNvGrpSpPr/>
          <p:nvPr/>
        </p:nvGrpSpPr>
        <p:grpSpPr>
          <a:xfrm>
            <a:off x="609600" y="1428750"/>
            <a:ext cx="2586038" cy="4000500"/>
            <a:chOff x="609600" y="1428750"/>
            <a:chExt cx="2586038" cy="4000500"/>
          </a:xfrm>
        </p:grpSpPr>
        <p:sp>
          <p:nvSpPr>
            <p:cNvPr id="7" name="Rectangle 7"/>
            <p:cNvSpPr/>
            <p:nvPr/>
          </p:nvSpPr>
          <p:spPr>
            <a:xfrm>
              <a:off x="609600" y="1428750"/>
              <a:ext cx="2586038" cy="4000500"/>
            </a:xfrm>
            <a:prstGeom prst="roundRect">
              <a:avLst>
                <a:gd name="adj" fmla="val 5157"/>
              </a:avLst>
            </a:prstGeom>
            <a:solidFill>
              <a:schemeClr val="accent5"/>
            </a:solidFill>
            <a:ln w="14288">
              <a:solidFill>
                <a:schemeClr val="accent4"/>
              </a:solidFill>
            </a:ln>
          </p:spPr>
        </p:sp>
        <p:sp>
          <p:nvSpPr>
            <p:cNvPr id="8" name="Rectangle 8"/>
            <p:cNvSpPr/>
            <p:nvPr/>
          </p:nvSpPr>
          <p:spPr>
            <a:xfrm>
              <a:off x="609600" y="1428750"/>
              <a:ext cx="2586038" cy="57150"/>
            </a:xfrm>
            <a:prstGeom prst="roundRect">
              <a:avLst>
                <a:gd name="adj" fmla="val 50000"/>
              </a:avLst>
            </a:prstGeom>
            <a:solidFill>
              <a:schemeClr val="accent2"/>
            </a:solidFill>
            <a:ln>
              <a:noFill/>
            </a:ln>
          </p:spPr>
        </p:sp>
        <p:sp>
          <p:nvSpPr>
            <p:cNvPr id="9" name="TextBox 9"/>
            <p:cNvSpPr txBox="1"/>
            <p:nvPr/>
          </p:nvSpPr>
          <p:spPr>
            <a:xfrm>
              <a:off x="895923" y="2517458"/>
              <a:ext cx="2013392" cy="616077"/>
            </a:xfrm>
            <a:prstGeom prst="rect">
              <a:avLst/>
            </a:prstGeom>
            <a:noFill/>
            <a:ln>
              <a:noFill/>
            </a:ln>
          </p:spPr>
          <p:txBody>
            <a:bodyPr wrap="none" lIns="0" tIns="0" rIns="0" bIns="0" anchor="t" anchorCtr="0">
              <a:spAutoFit/>
            </a:bodyPr>
            <a:lstStyle/>
            <a:p>
              <a:pPr algn="ctr"/>
              <a:r>
                <a:rPr lang="en-US" sz="3150" b="1" dirty="0">
                  <a:solidFill>
                    <a:schemeClr val="accent2"/>
                  </a:solidFill>
                  <a:latin typeface="+mn-lt"/>
                  <a:ea typeface="+mn-ea"/>
                  <a:cs typeface="+mn-cs"/>
                </a:rPr>
                <a:t>64 – 8192</a:t>
              </a:r>
            </a:p>
          </p:txBody>
        </p:sp>
        <p:sp>
          <p:nvSpPr>
            <p:cNvPr id="10" name="TextBox 10"/>
            <p:cNvSpPr txBox="1"/>
            <p:nvPr/>
          </p:nvSpPr>
          <p:spPr>
            <a:xfrm>
              <a:off x="1272392" y="3283268"/>
              <a:ext cx="1260454"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Widths swept</a:t>
              </a:r>
            </a:p>
          </p:txBody>
        </p:sp>
        <p:sp>
          <p:nvSpPr>
            <p:cNvPr id="11" name="TextBox 11"/>
            <p:cNvSpPr txBox="1"/>
            <p:nvPr/>
          </p:nvSpPr>
          <p:spPr>
            <a:xfrm>
              <a:off x="965872" y="3707606"/>
              <a:ext cx="1873494"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powers of two, 2⁶ to 2¹³</a:t>
              </a:r>
            </a:p>
          </p:txBody>
        </p:sp>
      </p:grpSp>
      <p:grpSp>
        <p:nvGrpSpPr>
          <p:cNvPr id="19" name="Group 19"/>
          <p:cNvGrpSpPr/>
          <p:nvPr/>
        </p:nvGrpSpPr>
        <p:grpSpPr>
          <a:xfrm>
            <a:off x="3405188" y="1428750"/>
            <a:ext cx="2586038" cy="4000500"/>
            <a:chOff x="3405188" y="1428750"/>
            <a:chExt cx="2586038" cy="4000500"/>
          </a:xfrm>
        </p:grpSpPr>
        <p:sp>
          <p:nvSpPr>
            <p:cNvPr id="13" name="Rectangle 13"/>
            <p:cNvSpPr/>
            <p:nvPr/>
          </p:nvSpPr>
          <p:spPr>
            <a:xfrm>
              <a:off x="3405188" y="1428750"/>
              <a:ext cx="2586038" cy="4000500"/>
            </a:xfrm>
            <a:prstGeom prst="roundRect">
              <a:avLst>
                <a:gd name="adj" fmla="val 5157"/>
              </a:avLst>
            </a:prstGeom>
            <a:solidFill>
              <a:schemeClr val="accent5"/>
            </a:solidFill>
            <a:ln w="14288">
              <a:solidFill>
                <a:schemeClr val="accent4"/>
              </a:solidFill>
            </a:ln>
          </p:spPr>
        </p:sp>
        <p:sp>
          <p:nvSpPr>
            <p:cNvPr id="14" name="Rectangle 14"/>
            <p:cNvSpPr/>
            <p:nvPr/>
          </p:nvSpPr>
          <p:spPr>
            <a:xfrm>
              <a:off x="3405188" y="1428750"/>
              <a:ext cx="2586038" cy="57150"/>
            </a:xfrm>
            <a:prstGeom prst="roundRect">
              <a:avLst>
                <a:gd name="adj" fmla="val 50000"/>
              </a:avLst>
            </a:prstGeom>
            <a:solidFill>
              <a:srgbClr val="7BE0C8"/>
            </a:solidFill>
            <a:ln>
              <a:noFill/>
            </a:ln>
          </p:spPr>
        </p:sp>
        <p:sp>
          <p:nvSpPr>
            <p:cNvPr id="15" name="TextBox 15"/>
            <p:cNvSpPr txBox="1"/>
            <p:nvPr/>
          </p:nvSpPr>
          <p:spPr>
            <a:xfrm>
              <a:off x="3717764" y="2517458"/>
              <a:ext cx="1960885" cy="616077"/>
            </a:xfrm>
            <a:prstGeom prst="rect">
              <a:avLst/>
            </a:prstGeom>
            <a:noFill/>
            <a:ln>
              <a:noFill/>
            </a:ln>
          </p:spPr>
          <p:txBody>
            <a:bodyPr wrap="none" lIns="0" tIns="0" rIns="0" bIns="0" anchor="t" anchorCtr="0">
              <a:spAutoFit/>
            </a:bodyPr>
            <a:lstStyle/>
            <a:p>
              <a:pPr algn="ctr"/>
              <a:r>
                <a:rPr lang="en-US" sz="3150" b="1" dirty="0">
                  <a:solidFill>
                    <a:srgbClr val="7BE0C8"/>
                  </a:solidFill>
                  <a:latin typeface="+mn-lt"/>
                  <a:ea typeface="+mn-ea"/>
                  <a:cs typeface="+mn-cs"/>
                </a:rPr>
                <a:t>10× · 1M</a:t>
              </a:r>
            </a:p>
          </p:txBody>
        </p:sp>
        <p:sp>
          <p:nvSpPr>
            <p:cNvPr id="16" name="TextBox 16"/>
            <p:cNvSpPr txBox="1"/>
            <p:nvPr/>
          </p:nvSpPr>
          <p:spPr>
            <a:xfrm>
              <a:off x="3848329" y="3283268"/>
              <a:ext cx="1699755"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Repeats &amp; samples</a:t>
              </a:r>
            </a:p>
          </p:txBody>
        </p:sp>
        <p:sp>
          <p:nvSpPr>
            <p:cNvPr id="17" name="TextBox 17"/>
            <p:cNvSpPr txBox="1"/>
            <p:nvPr/>
          </p:nvSpPr>
          <p:spPr>
            <a:xfrm>
              <a:off x="3686072" y="3707606"/>
              <a:ext cx="2024268"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10 runs, 95% bootstrap CI,</a:t>
              </a:r>
            </a:p>
          </p:txBody>
        </p:sp>
        <p:sp>
          <p:nvSpPr>
            <p:cNvPr id="18" name="TextBox 18"/>
            <p:cNvSpPr txBox="1"/>
            <p:nvPr/>
          </p:nvSpPr>
          <p:spPr>
            <a:xfrm>
              <a:off x="3802140" y="3955256"/>
              <a:ext cx="1792133"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1M Monte-Carlo samples</a:t>
              </a:r>
            </a:p>
          </p:txBody>
        </p:sp>
      </p:grpSp>
      <p:grpSp>
        <p:nvGrpSpPr>
          <p:cNvPr id="26" name="Group 26"/>
          <p:cNvGrpSpPr/>
          <p:nvPr/>
        </p:nvGrpSpPr>
        <p:grpSpPr>
          <a:xfrm>
            <a:off x="6200775" y="1428750"/>
            <a:ext cx="2586038" cy="4000500"/>
            <a:chOff x="6200775" y="1428750"/>
            <a:chExt cx="2586038" cy="4000500"/>
          </a:xfrm>
        </p:grpSpPr>
        <p:sp>
          <p:nvSpPr>
            <p:cNvPr id="20" name="Rectangle 20"/>
            <p:cNvSpPr/>
            <p:nvPr/>
          </p:nvSpPr>
          <p:spPr>
            <a:xfrm>
              <a:off x="6200775" y="1428750"/>
              <a:ext cx="2586038" cy="4000500"/>
            </a:xfrm>
            <a:prstGeom prst="roundRect">
              <a:avLst>
                <a:gd name="adj" fmla="val 5157"/>
              </a:avLst>
            </a:prstGeom>
            <a:solidFill>
              <a:schemeClr val="accent5"/>
            </a:solidFill>
            <a:ln w="14288">
              <a:solidFill>
                <a:schemeClr val="accent4"/>
              </a:solidFill>
            </a:ln>
          </p:spPr>
        </p:sp>
        <p:sp>
          <p:nvSpPr>
            <p:cNvPr id="21" name="Rectangle 21"/>
            <p:cNvSpPr/>
            <p:nvPr/>
          </p:nvSpPr>
          <p:spPr>
            <a:xfrm>
              <a:off x="6200775" y="1428750"/>
              <a:ext cx="2586038" cy="57150"/>
            </a:xfrm>
            <a:prstGeom prst="roundRect">
              <a:avLst>
                <a:gd name="adj" fmla="val 50000"/>
              </a:avLst>
            </a:prstGeom>
            <a:solidFill>
              <a:srgbClr val="7BE0C8"/>
            </a:solidFill>
            <a:ln>
              <a:noFill/>
            </a:ln>
          </p:spPr>
        </p:sp>
        <p:sp>
          <p:nvSpPr>
            <p:cNvPr id="22" name="TextBox 22"/>
            <p:cNvSpPr txBox="1"/>
            <p:nvPr/>
          </p:nvSpPr>
          <p:spPr>
            <a:xfrm>
              <a:off x="6798777" y="2517458"/>
              <a:ext cx="1390034" cy="616077"/>
            </a:xfrm>
            <a:prstGeom prst="rect">
              <a:avLst/>
            </a:prstGeom>
            <a:noFill/>
            <a:ln>
              <a:noFill/>
            </a:ln>
          </p:spPr>
          <p:txBody>
            <a:bodyPr wrap="none" lIns="0" tIns="0" rIns="0" bIns="0" anchor="t" anchorCtr="0">
              <a:spAutoFit/>
            </a:bodyPr>
            <a:lstStyle/>
            <a:p>
              <a:pPr algn="ctr"/>
              <a:r>
                <a:rPr lang="en-US" sz="3150" b="1" dirty="0">
                  <a:solidFill>
                    <a:srgbClr val="7BE0C8"/>
                  </a:solidFill>
                  <a:latin typeface="+mn-lt"/>
                  <a:ea typeface="+mn-ea"/>
                  <a:cs typeface="+mn-cs"/>
                </a:rPr>
                <a:t>λ 0.01</a:t>
              </a:r>
            </a:p>
          </p:txBody>
        </p:sp>
        <p:sp>
          <p:nvSpPr>
            <p:cNvPr id="23" name="TextBox 23"/>
            <p:cNvSpPr txBox="1"/>
            <p:nvPr/>
          </p:nvSpPr>
          <p:spPr>
            <a:xfrm>
              <a:off x="6491348" y="3283268"/>
              <a:ext cx="2004892"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Robust hyper-params</a:t>
              </a:r>
            </a:p>
          </p:txBody>
        </p:sp>
        <p:sp>
          <p:nvSpPr>
            <p:cNvPr id="24" name="TextBox 24"/>
            <p:cNvSpPr txBox="1"/>
            <p:nvPr/>
          </p:nvSpPr>
          <p:spPr>
            <a:xfrm>
              <a:off x="6918905" y="3707606"/>
              <a:ext cx="1149777"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scaling κ = 0.1,</a:t>
              </a:r>
            </a:p>
          </p:txBody>
        </p:sp>
        <p:sp>
          <p:nvSpPr>
            <p:cNvPr id="25" name="TextBox 25"/>
            <p:cNvSpPr txBox="1"/>
            <p:nvPr/>
          </p:nvSpPr>
          <p:spPr>
            <a:xfrm>
              <a:off x="6877442" y="3955256"/>
              <a:ext cx="1232703"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learning rate = 1</a:t>
              </a:r>
            </a:p>
          </p:txBody>
        </p:sp>
      </p:grpSp>
      <p:grpSp>
        <p:nvGrpSpPr>
          <p:cNvPr id="33" name="Group 33"/>
          <p:cNvGrpSpPr/>
          <p:nvPr/>
        </p:nvGrpSpPr>
        <p:grpSpPr>
          <a:xfrm>
            <a:off x="8996362" y="1428750"/>
            <a:ext cx="2586038" cy="4000500"/>
            <a:chOff x="8996362" y="1428750"/>
            <a:chExt cx="2586038" cy="4000500"/>
          </a:xfrm>
        </p:grpSpPr>
        <p:sp>
          <p:nvSpPr>
            <p:cNvPr id="27" name="Rectangle 27"/>
            <p:cNvSpPr/>
            <p:nvPr/>
          </p:nvSpPr>
          <p:spPr>
            <a:xfrm>
              <a:off x="8996362" y="1428750"/>
              <a:ext cx="2586038" cy="4000500"/>
            </a:xfrm>
            <a:prstGeom prst="roundRect">
              <a:avLst>
                <a:gd name="adj" fmla="val 5157"/>
              </a:avLst>
            </a:prstGeom>
            <a:solidFill>
              <a:schemeClr val="accent5"/>
            </a:solidFill>
            <a:ln w="14288">
              <a:solidFill>
                <a:schemeClr val="accent4"/>
              </a:solidFill>
            </a:ln>
          </p:spPr>
        </p:sp>
        <p:sp>
          <p:nvSpPr>
            <p:cNvPr id="28" name="Rectangle 28"/>
            <p:cNvSpPr/>
            <p:nvPr/>
          </p:nvSpPr>
          <p:spPr>
            <a:xfrm>
              <a:off x="8996362" y="1428750"/>
              <a:ext cx="2586038" cy="57150"/>
            </a:xfrm>
            <a:prstGeom prst="roundRect">
              <a:avLst>
                <a:gd name="adj" fmla="val 50000"/>
              </a:avLst>
            </a:prstGeom>
            <a:solidFill>
              <a:srgbClr val="F2A65A"/>
            </a:solidFill>
            <a:ln>
              <a:noFill/>
            </a:ln>
          </p:spPr>
        </p:sp>
        <p:sp>
          <p:nvSpPr>
            <p:cNvPr id="29" name="TextBox 29"/>
            <p:cNvSpPr txBox="1"/>
            <p:nvPr/>
          </p:nvSpPr>
          <p:spPr>
            <a:xfrm>
              <a:off x="9460788" y="2517458"/>
              <a:ext cx="1657187" cy="616077"/>
            </a:xfrm>
            <a:prstGeom prst="rect">
              <a:avLst/>
            </a:prstGeom>
            <a:noFill/>
            <a:ln>
              <a:noFill/>
            </a:ln>
          </p:spPr>
          <p:txBody>
            <a:bodyPr wrap="none" lIns="0" tIns="0" rIns="0" bIns="0" anchor="t" anchorCtr="0">
              <a:spAutoFit/>
            </a:bodyPr>
            <a:lstStyle/>
            <a:p>
              <a:pPr algn="ctr"/>
              <a:r>
                <a:rPr lang="en-US" sz="3150" b="1" dirty="0">
                  <a:solidFill>
                    <a:srgbClr val="F2A65A"/>
                  </a:solidFill>
                  <a:latin typeface="+mn-lt"/>
                  <a:ea typeface="+mn-ea"/>
                  <a:cs typeface="+mn-cs"/>
                </a:rPr>
                <a:t>d 11 / 6</a:t>
              </a:r>
            </a:p>
          </p:txBody>
        </p:sp>
        <p:sp>
          <p:nvSpPr>
            <p:cNvPr id="30" name="TextBox 30"/>
            <p:cNvSpPr txBox="1"/>
            <p:nvPr/>
          </p:nvSpPr>
          <p:spPr>
            <a:xfrm>
              <a:off x="9563818" y="3283268"/>
              <a:ext cx="1451126" cy="264033"/>
            </a:xfrm>
            <a:prstGeom prst="rect">
              <a:avLst/>
            </a:prstGeom>
            <a:noFill/>
            <a:ln>
              <a:noFill/>
            </a:ln>
          </p:spPr>
          <p:txBody>
            <a:bodyPr wrap="none" lIns="0" tIns="0" rIns="0" bIns="0" anchor="t" anchorCtr="0">
              <a:spAutoFit/>
            </a:bodyPr>
            <a:lstStyle/>
            <a:p>
              <a:pPr algn="ctr"/>
              <a:r>
                <a:rPr lang="en-US" sz="1350" b="1" dirty="0">
                  <a:solidFill>
                    <a:schemeClr val="dk1"/>
                  </a:solidFill>
                  <a:latin typeface="+mn-lt"/>
                  <a:ea typeface="+mn-ea"/>
                  <a:cs typeface="+mn-cs"/>
                </a:rPr>
                <a:t>Full-rank onset</a:t>
              </a:r>
            </a:p>
          </p:txBody>
        </p:sp>
        <p:sp>
          <p:nvSpPr>
            <p:cNvPr id="31" name="TextBox 31"/>
            <p:cNvSpPr txBox="1"/>
            <p:nvPr/>
          </p:nvSpPr>
          <p:spPr>
            <a:xfrm>
              <a:off x="9477077" y="3707606"/>
              <a:ext cx="1624609"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depth 11 GeLU, 6 erf;</a:t>
              </a:r>
            </a:p>
          </p:txBody>
        </p:sp>
        <p:sp>
          <p:nvSpPr>
            <p:cNvPr id="32" name="TextBox 32"/>
            <p:cNvSpPr txBox="1"/>
            <p:nvPr/>
          </p:nvSpPr>
          <p:spPr>
            <a:xfrm>
              <a:off x="9460267" y="3955256"/>
              <a:ext cx="1658228" cy="220028"/>
            </a:xfrm>
            <a:prstGeom prst="rect">
              <a:avLst/>
            </a:prstGeom>
            <a:noFill/>
            <a:ln>
              <a:noFill/>
            </a:ln>
          </p:spPr>
          <p:txBody>
            <a:bodyPr wrap="none" lIns="0" tIns="0" rIns="0" bIns="0" anchor="t" anchorCtr="0">
              <a:spAutoFit/>
            </a:bodyPr>
            <a:lstStyle/>
            <a:p>
              <a:pPr algn="ctr"/>
              <a:r>
                <a:rPr lang="en-US" sz="1120" dirty="0">
                  <a:solidFill>
                    <a:schemeClr val="dk2"/>
                  </a:solidFill>
                  <a:latin typeface="+mn-lt"/>
                  <a:ea typeface="+mn-ea"/>
                  <a:cs typeface="+mn-cs"/>
                </a:rPr>
                <a:t>width ~ N² · log(N)¹²ᴸ</a:t>
              </a:r>
            </a:p>
          </p:txBody>
        </p:sp>
      </p:grpSp>
      <p:sp>
        <p:nvSpPr>
          <p:cNvPr id="34" name="cue_s09_c1_few_numbers_anchor_study_widths" title="cue_s09_c1_few_numbers_anchor_study_widths" descr="cue_s09_c1_few_numbers_anchor_study_widths A few numbers anchor the study. Widths span 64 to 8192, powers of two from six to thirteen."/>
          <p:cNvSpPr/>
          <p:nvPr/>
        </p:nvSpPr>
        <p:spPr>
          <a:xfrm>
            <a:off x="609600" y="1428521"/>
            <a:ext cx="2585923"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09_c2_every_experiment_repeated_ten_times" title="cue_s09_c2_every_experiment_repeated_ten_times" descr="cue_s09_c2_every_experiment_repeated_ten_times Every experiment is repeated ten times and reported with ninety-five percent bootstrap confidence intervals, and the covariance estimates rest on a full million Monte-Carlo samples."/>
          <p:cNvSpPr/>
          <p:nvPr/>
        </p:nvSpPr>
        <p:spPr>
          <a:xfrm>
            <a:off x="3405225" y="1428521"/>
            <a:ext cx="2585923"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09_c3_robust_jacobian_coefficient_0_01_sca" title="cue_s09_c3_robust_jacobian_coefficient_0_01_sca" descr="cue_s09_c3_robust_jacobian_coefficient_0_01_sca Robust training uses a Jacobian coefficient of 0.01, a scaling kappa of 0.1, and a learning rate of one."/>
          <p:cNvSpPr/>
          <p:nvPr/>
        </p:nvSpPr>
        <p:spPr>
          <a:xfrm>
            <a:off x="6200851" y="1428521"/>
            <a:ext cx="2585923"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09_c4_full_rank_condition_first_kicks_dept" title="cue_s09_c4_full_rank_condition_first_kicks_dept" descr="cue_s09_c4_full_rank_condition_first_kicks_dept The full-rank condition first kicks in at depth eleven for GeLU and depth six for erf, and the theory's width requirement scales like N-squared times log-N to the twelve-L."/>
          <p:cNvSpPr/>
          <p:nvPr/>
        </p:nvSpPr>
        <p:spPr>
          <a:xfrm>
            <a:off x="8996476" y="1428521"/>
            <a:ext cx="2585923" cy="40002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381000" y="381000"/>
            <a:ext cx="11430000" cy="6096000"/>
          </a:xfrm>
          <a:prstGeom prst="roundRect">
            <a:avLst>
              <a:gd name="adj" fmla="val 2812"/>
            </a:avLst>
          </a:prstGeom>
          <a:noFill/>
          <a:ln w="14288">
            <a:solidFill>
              <a:schemeClr val="accent4"/>
            </a:solidFill>
          </a:ln>
        </p:spPr>
        <p:txBody>
          <a:bodyPr/>
          <a:p/>
        </p:txBody>
      </p:sp>
      <p:sp>
        <p:nvSpPr>
          <p:cNvPr id="3" name="TextBox 3"/>
          <p:cNvSpPr txBox="1"/>
          <p:nvPr/>
        </p:nvSpPr>
        <p:spPr>
          <a:xfrm>
            <a:off x="755904" y="1013460"/>
            <a:ext cx="1060643" cy="234696"/>
          </a:xfrm>
          <a:prstGeom prst="rect">
            <a:avLst/>
          </a:prstGeom>
          <a:noFill/>
          <a:ln>
            <a:noFill/>
          </a:ln>
        </p:spPr>
        <p:txBody>
          <a:bodyPr wrap="none" lIns="0" tIns="0" rIns="0" bIns="0" anchor="t" anchorCtr="0">
            <a:spAutoFit/>
          </a:bodyPr>
          <a:lstStyle/>
          <a:p>
            <a:pPr algn="l"/>
            <a:r>
              <a:rPr lang="en-US" sz="1200" b="1" spc="225" dirty="0">
                <a:solidFill>
                  <a:srgbClr val="7BE0C8"/>
                </a:solidFill>
                <a:latin typeface="+mn-lt"/>
                <a:ea typeface="+mn-ea"/>
                <a:cs typeface="+mn-cs"/>
              </a:rPr>
              <a:t>TAKEAWAY</a:t>
            </a:r>
          </a:p>
        </p:txBody>
      </p:sp>
      <p:sp>
        <p:nvSpPr>
          <p:cNvPr id="4" name="TextBox 4"/>
          <p:cNvSpPr txBox="1"/>
          <p:nvPr/>
        </p:nvSpPr>
        <p:spPr>
          <a:xfrm>
            <a:off x="747522" y="1368742"/>
            <a:ext cx="9401535" cy="557403"/>
          </a:xfrm>
          <a:prstGeom prst="rect">
            <a:avLst/>
          </a:prstGeom>
          <a:noFill/>
          <a:ln>
            <a:noFill/>
          </a:ln>
        </p:spPr>
        <p:txBody>
          <a:bodyPr wrap="none" lIns="0" tIns="0" rIns="0" bIns="0" anchor="t" anchorCtr="0">
            <a:spAutoFit/>
          </a:bodyPr>
          <a:lstStyle/>
          <a:p>
            <a:pPr algn="l"/>
            <a:r>
              <a:rPr lang="en-US" sz="2850" b="1" dirty="0">
                <a:solidFill>
                  <a:schemeClr val="dk1"/>
                </a:solidFill>
                <a:latin typeface="+mn-lt"/>
                <a:ea typeface="+mn-ea"/>
                <a:cs typeface="+mn-cs"/>
              </a:rPr>
              <a:t>Infinite-width theory now reaches the Jacobian</a:t>
            </a:r>
          </a:p>
        </p:txBody>
      </p:sp>
      <p:sp>
        <p:nvSpPr>
          <p:cNvPr id="5" name="Line 5"/>
          <p:cNvSpPr/>
          <p:nvPr/>
        </p:nvSpPr>
        <p:spPr>
          <a:xfrm>
            <a:off x="762000" y="1905000"/>
            <a:ext cx="10668000" cy="9525"/>
          </a:xfrm>
          <a:custGeom>
            <a:avLst/>
            <a:gdLst/>
            <a:ahLst/>
            <a:cxnLst/>
            <a:rect l="l" t="t" r="r" b="b"/>
            <a:pathLst>
              <a:path w="10668000" h="9525">
                <a:moveTo>
                  <a:pt x="0" y="0"/>
                </a:moveTo>
                <a:lnTo>
                  <a:pt x="10668000" y="0"/>
                </a:lnTo>
              </a:path>
            </a:pathLst>
          </a:custGeom>
          <a:noFill/>
          <a:ln w="14288">
            <a:solidFill>
              <a:schemeClr val="accent4"/>
            </a:solidFill>
          </a:ln>
        </p:spPr>
        <p:txBody>
          <a:bodyPr/>
          <a:p/>
        </p:txBody>
      </p:sp>
      <p:grpSp>
        <p:nvGrpSpPr>
          <p:cNvPr id="12" name="Group 12"/>
          <p:cNvGrpSpPr/>
          <p:nvPr/>
        </p:nvGrpSpPr>
        <p:grpSpPr>
          <a:xfrm>
            <a:off x="762000" y="2247900"/>
            <a:ext cx="3403600" cy="3048000"/>
            <a:chOff x="762000" y="2247900"/>
            <a:chExt cx="3403600" cy="3048000"/>
          </a:xfrm>
        </p:grpSpPr>
        <p:sp>
          <p:nvSpPr>
            <p:cNvPr id="6" name="Rectangle 6"/>
            <p:cNvSpPr/>
            <p:nvPr/>
          </p:nvSpPr>
          <p:spPr>
            <a:xfrm>
              <a:off x="762000" y="2247900"/>
              <a:ext cx="3403600" cy="3048000"/>
            </a:xfrm>
            <a:prstGeom prst="roundRect">
              <a:avLst>
                <a:gd name="adj" fmla="val 3750"/>
              </a:avLst>
            </a:prstGeom>
            <a:solidFill>
              <a:schemeClr val="accent5"/>
            </a:solidFill>
            <a:ln w="14288">
              <a:solidFill>
                <a:schemeClr val="accent4"/>
              </a:solidFill>
            </a:ln>
          </p:spPr>
        </p:sp>
        <p:sp>
          <p:nvSpPr>
            <p:cNvPr id="7" name="Rectangle 7"/>
            <p:cNvSpPr/>
            <p:nvPr/>
          </p:nvSpPr>
          <p:spPr>
            <a:xfrm>
              <a:off x="762000" y="2400300"/>
              <a:ext cx="47625" cy="247650"/>
            </a:xfrm>
            <a:prstGeom prst="roundRect">
              <a:avLst>
                <a:gd name="adj" fmla="val 50000"/>
              </a:avLst>
            </a:prstGeom>
            <a:solidFill>
              <a:schemeClr val="accent2"/>
            </a:solidFill>
            <a:ln>
              <a:noFill/>
            </a:ln>
          </p:spPr>
        </p:sp>
        <p:sp>
          <p:nvSpPr>
            <p:cNvPr id="8" name="TextBox 8"/>
            <p:cNvSpPr txBox="1"/>
            <p:nvPr/>
          </p:nvSpPr>
          <p:spPr>
            <a:xfrm>
              <a:off x="965073" y="2453164"/>
              <a:ext cx="1466240" cy="249364"/>
            </a:xfrm>
            <a:prstGeom prst="rect">
              <a:avLst/>
            </a:prstGeom>
            <a:noFill/>
            <a:ln>
              <a:noFill/>
            </a:ln>
          </p:spPr>
          <p:txBody>
            <a:bodyPr wrap="none" lIns="0" tIns="0" rIns="0" bIns="0" anchor="t" anchorCtr="0">
              <a:spAutoFit/>
            </a:bodyPr>
            <a:lstStyle/>
            <a:p>
              <a:pPr algn="l"/>
              <a:r>
                <a:rPr lang="en-US" sz="1280" b="1" dirty="0">
                  <a:solidFill>
                    <a:schemeClr val="accent2"/>
                  </a:solidFill>
                  <a:latin typeface="+mn-lt"/>
                  <a:ea typeface="+mn-ea"/>
                  <a:cs typeface="+mn-cs"/>
                </a:rPr>
                <a:t>Theory extended</a:t>
              </a:r>
            </a:p>
          </p:txBody>
        </p:sp>
        <p:sp>
          <p:nvSpPr>
            <p:cNvPr id="9" name="TextBox 9"/>
            <p:cNvSpPr txBox="1"/>
            <p:nvPr/>
          </p:nvSpPr>
          <p:spPr>
            <a:xfrm>
              <a:off x="964692" y="2730818"/>
              <a:ext cx="3081762"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Infinite-width analysis now covers</a:t>
              </a:r>
            </a:p>
          </p:txBody>
        </p:sp>
        <p:sp>
          <p:nvSpPr>
            <p:cNvPr id="10" name="TextBox 10"/>
            <p:cNvSpPr txBox="1"/>
            <p:nvPr/>
          </p:nvSpPr>
          <p:spPr>
            <a:xfrm>
              <a:off x="964692" y="2978468"/>
              <a:ext cx="2512600"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network's input-output</a:t>
              </a:r>
            </a:p>
          </p:txBody>
        </p:sp>
        <p:sp>
          <p:nvSpPr>
            <p:cNvPr id="11" name="TextBox 11"/>
            <p:cNvSpPr txBox="1"/>
            <p:nvPr/>
          </p:nvSpPr>
          <p:spPr>
            <a:xfrm>
              <a:off x="964692" y="3226118"/>
              <a:ext cx="270065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Jacobian, not just its output.</a:t>
              </a:r>
            </a:p>
          </p:txBody>
        </p:sp>
      </p:grpSp>
      <p:grpSp>
        <p:nvGrpSpPr>
          <p:cNvPr id="20" name="Group 20"/>
          <p:cNvGrpSpPr/>
          <p:nvPr/>
        </p:nvGrpSpPr>
        <p:grpSpPr>
          <a:xfrm>
            <a:off x="4394200" y="2247900"/>
            <a:ext cx="3403600" cy="3048000"/>
            <a:chOff x="4394200" y="2247900"/>
            <a:chExt cx="3403600" cy="3048000"/>
          </a:xfrm>
        </p:grpSpPr>
        <p:sp>
          <p:nvSpPr>
            <p:cNvPr id="13" name="Rectangle 13"/>
            <p:cNvSpPr/>
            <p:nvPr/>
          </p:nvSpPr>
          <p:spPr>
            <a:xfrm>
              <a:off x="4394200" y="2247900"/>
              <a:ext cx="3403600" cy="3048000"/>
            </a:xfrm>
            <a:prstGeom prst="roundRect">
              <a:avLst>
                <a:gd name="adj" fmla="val 3750"/>
              </a:avLst>
            </a:prstGeom>
            <a:solidFill>
              <a:schemeClr val="accent5"/>
            </a:solidFill>
            <a:ln w="14288">
              <a:solidFill>
                <a:schemeClr val="accent4"/>
              </a:solidFill>
            </a:ln>
          </p:spPr>
        </p:sp>
        <p:sp>
          <p:nvSpPr>
            <p:cNvPr id="14" name="Rectangle 14"/>
            <p:cNvSpPr/>
            <p:nvPr/>
          </p:nvSpPr>
          <p:spPr>
            <a:xfrm>
              <a:off x="4394200" y="2400300"/>
              <a:ext cx="47625" cy="247650"/>
            </a:xfrm>
            <a:prstGeom prst="roundRect">
              <a:avLst>
                <a:gd name="adj" fmla="val 50000"/>
              </a:avLst>
            </a:prstGeom>
            <a:solidFill>
              <a:srgbClr val="7BE0C8"/>
            </a:solidFill>
            <a:ln>
              <a:noFill/>
            </a:ln>
          </p:spPr>
        </p:sp>
        <p:sp>
          <p:nvSpPr>
            <p:cNvPr id="15" name="TextBox 15"/>
            <p:cNvSpPr txBox="1"/>
            <p:nvPr/>
          </p:nvSpPr>
          <p:spPr>
            <a:xfrm>
              <a:off x="4597273" y="2453164"/>
              <a:ext cx="1076837"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A clean limit</a:t>
              </a:r>
            </a:p>
          </p:txBody>
        </p:sp>
        <p:sp>
          <p:nvSpPr>
            <p:cNvPr id="16" name="TextBox 16"/>
            <p:cNvSpPr txBox="1"/>
            <p:nvPr/>
          </p:nvSpPr>
          <p:spPr>
            <a:xfrm>
              <a:off x="4596892" y="2730818"/>
              <a:ext cx="284290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Train a wide net with a Jacobian</a:t>
              </a:r>
            </a:p>
          </p:txBody>
        </p:sp>
        <p:sp>
          <p:nvSpPr>
            <p:cNvPr id="17" name="TextBox 17"/>
            <p:cNvSpPr txBox="1"/>
            <p:nvPr/>
          </p:nvSpPr>
          <p:spPr>
            <a:xfrm>
              <a:off x="4596892" y="2978468"/>
              <a:ext cx="2803379"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regulariser and, in the limit, it</a:t>
              </a:r>
            </a:p>
          </p:txBody>
        </p:sp>
        <p:sp>
          <p:nvSpPr>
            <p:cNvPr id="18" name="TextBox 18"/>
            <p:cNvSpPr txBox="1"/>
            <p:nvPr/>
          </p:nvSpPr>
          <p:spPr>
            <a:xfrm>
              <a:off x="4596892" y="3226118"/>
              <a:ext cx="26943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behaves like kernel regression</a:t>
              </a:r>
            </a:p>
          </p:txBody>
        </p:sp>
        <p:sp>
          <p:nvSpPr>
            <p:cNvPr id="19" name="TextBox 19"/>
            <p:cNvSpPr txBox="1"/>
            <p:nvPr/>
          </p:nvSpPr>
          <p:spPr>
            <a:xfrm>
              <a:off x="4596892" y="3473768"/>
              <a:ext cx="1847588"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with a Jacobian NTK.</a:t>
              </a:r>
            </a:p>
          </p:txBody>
        </p:sp>
      </p:grpSp>
      <p:grpSp>
        <p:nvGrpSpPr>
          <p:cNvPr id="28" name="Group 28"/>
          <p:cNvGrpSpPr/>
          <p:nvPr/>
        </p:nvGrpSpPr>
        <p:grpSpPr>
          <a:xfrm>
            <a:off x="8026400" y="2247900"/>
            <a:ext cx="3403600" cy="3048000"/>
            <a:chOff x="8026400" y="2247900"/>
            <a:chExt cx="3403600" cy="3048000"/>
          </a:xfrm>
        </p:grpSpPr>
        <p:sp>
          <p:nvSpPr>
            <p:cNvPr id="21" name="Rectangle 21"/>
            <p:cNvSpPr/>
            <p:nvPr/>
          </p:nvSpPr>
          <p:spPr>
            <a:xfrm>
              <a:off x="8026400" y="2247900"/>
              <a:ext cx="3403600" cy="3048000"/>
            </a:xfrm>
            <a:prstGeom prst="roundRect">
              <a:avLst>
                <a:gd name="adj" fmla="val 3750"/>
              </a:avLst>
            </a:prstGeom>
            <a:solidFill>
              <a:schemeClr val="accent5"/>
            </a:solidFill>
            <a:ln w="14288">
              <a:solidFill>
                <a:schemeClr val="accent4"/>
              </a:solidFill>
            </a:ln>
          </p:spPr>
        </p:sp>
        <p:sp>
          <p:nvSpPr>
            <p:cNvPr id="22" name="Rectangle 22"/>
            <p:cNvSpPr/>
            <p:nvPr/>
          </p:nvSpPr>
          <p:spPr>
            <a:xfrm>
              <a:off x="8026400" y="2400300"/>
              <a:ext cx="47625" cy="247650"/>
            </a:xfrm>
            <a:prstGeom prst="roundRect">
              <a:avLst>
                <a:gd name="adj" fmla="val 50000"/>
              </a:avLst>
            </a:prstGeom>
            <a:solidFill>
              <a:srgbClr val="7BE0C8"/>
            </a:solidFill>
            <a:ln>
              <a:noFill/>
            </a:ln>
          </p:spPr>
        </p:sp>
        <p:sp>
          <p:nvSpPr>
            <p:cNvPr id="23" name="TextBox 23"/>
            <p:cNvSpPr txBox="1"/>
            <p:nvPr/>
          </p:nvSpPr>
          <p:spPr>
            <a:xfrm>
              <a:off x="8229473" y="2453164"/>
              <a:ext cx="2018510" cy="249364"/>
            </a:xfrm>
            <a:prstGeom prst="rect">
              <a:avLst/>
            </a:prstGeom>
            <a:noFill/>
            <a:ln>
              <a:noFill/>
            </a:ln>
          </p:spPr>
          <p:txBody>
            <a:bodyPr wrap="none" lIns="0" tIns="0" rIns="0" bIns="0" anchor="t" anchorCtr="0">
              <a:spAutoFit/>
            </a:bodyPr>
            <a:lstStyle/>
            <a:p>
              <a:pPr algn="l"/>
              <a:r>
                <a:rPr lang="en-US" sz="1280" b="1" dirty="0">
                  <a:solidFill>
                    <a:srgbClr val="7BE0C8"/>
                  </a:solidFill>
                  <a:latin typeface="+mn-lt"/>
                  <a:ea typeface="+mn-ea"/>
                  <a:cs typeface="+mn-cs"/>
                </a:rPr>
                <a:t>Accuracy = robustness</a:t>
              </a:r>
            </a:p>
          </p:txBody>
        </p:sp>
        <p:sp>
          <p:nvSpPr>
            <p:cNvPr id="24" name="TextBox 24"/>
            <p:cNvSpPr txBox="1"/>
            <p:nvPr/>
          </p:nvSpPr>
          <p:spPr>
            <a:xfrm>
              <a:off x="8229092" y="2730818"/>
              <a:ext cx="246409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same regulariser makes</a:t>
              </a:r>
            </a:p>
          </p:txBody>
        </p:sp>
        <p:sp>
          <p:nvSpPr>
            <p:cNvPr id="25" name="TextBox 25"/>
            <p:cNvSpPr txBox="1"/>
            <p:nvPr/>
          </p:nvSpPr>
          <p:spPr>
            <a:xfrm>
              <a:off x="8229092" y="2978468"/>
              <a:ext cx="2585295"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accuracy and robustness pull</a:t>
              </a:r>
            </a:p>
          </p:txBody>
        </p:sp>
        <p:sp>
          <p:nvSpPr>
            <p:cNvPr id="26" name="TextBox 26"/>
            <p:cNvSpPr txBox="1"/>
            <p:nvPr/>
          </p:nvSpPr>
          <p:spPr>
            <a:xfrm>
              <a:off x="8229092" y="3226118"/>
              <a:ext cx="2694337"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together instead of fighting —</a:t>
              </a:r>
            </a:p>
          </p:txBody>
        </p:sp>
        <p:sp>
          <p:nvSpPr>
            <p:cNvPr id="27" name="TextBox 27"/>
            <p:cNvSpPr txBox="1"/>
            <p:nvPr/>
          </p:nvSpPr>
          <p:spPr>
            <a:xfrm>
              <a:off x="8229092" y="3473768"/>
              <a:ext cx="2903334" cy="264033"/>
            </a:xfrm>
            <a:prstGeom prst="rect">
              <a:avLst/>
            </a:prstGeom>
            <a:noFill/>
            <a:ln>
              <a:noFill/>
            </a:ln>
          </p:spPr>
          <p:txBody>
            <a:bodyPr wrap="none" lIns="0" tIns="0" rIns="0" bIns="0" anchor="t" anchorCtr="0">
              <a:spAutoFit/>
            </a:bodyPr>
            <a:lstStyle/>
            <a:p>
              <a:pPr algn="l"/>
              <a:r>
                <a:rPr lang="en-US" sz="1350" dirty="0">
                  <a:solidFill>
                    <a:schemeClr val="dk2"/>
                  </a:solidFill>
                  <a:latin typeface="+mn-lt"/>
                  <a:ea typeface="+mn-ea"/>
                  <a:cs typeface="+mn-cs"/>
                </a:rPr>
                <a:t>the first principled explanation.</a:t>
              </a:r>
            </a:p>
          </p:txBody>
        </p:sp>
      </p:grpSp>
      <p:sp>
        <p:nvSpPr>
          <p:cNvPr id="29" name="TextBox 29"/>
          <p:cNvSpPr txBox="1"/>
          <p:nvPr/>
        </p:nvSpPr>
        <p:spPr>
          <a:xfrm>
            <a:off x="754380" y="5743575"/>
            <a:ext cx="7873476" cy="293370"/>
          </a:xfrm>
          <a:prstGeom prst="rect">
            <a:avLst/>
          </a:prstGeom>
          <a:noFill/>
          <a:ln>
            <a:noFill/>
          </a:ln>
        </p:spPr>
        <p:txBody>
          <a:bodyPr wrap="none" lIns="0" tIns="0" rIns="0" bIns="0" anchor="t" anchorCtr="0">
            <a:spAutoFit/>
          </a:bodyPr>
          <a:lstStyle/>
          <a:p>
            <a:pPr algn="l"/>
            <a:r>
              <a:rPr lang="en-US" sz="1500" dirty="0">
                <a:solidFill>
                  <a:schemeClr val="dk2"/>
                </a:solidFill>
                <a:latin typeface="+mn-lt"/>
                <a:ea typeface="+mn-ea"/>
                <a:cs typeface="+mn-cs"/>
              </a:rPr>
              <a:t>Penalising the Jacobian yields networks that are provably accurate and robust.</a:t>
            </a:r>
          </a:p>
        </p:txBody>
      </p:sp>
      <p:sp>
        <p:nvSpPr>
          <p:cNvPr id="30" name="TextBox 30"/>
          <p:cNvSpPr txBox="1"/>
          <p:nvPr/>
        </p:nvSpPr>
        <p:spPr>
          <a:xfrm>
            <a:off x="756666" y="6211252"/>
            <a:ext cx="7130856" cy="205359"/>
          </a:xfrm>
          <a:prstGeom prst="rect">
            <a:avLst/>
          </a:prstGeom>
          <a:noFill/>
          <a:ln>
            <a:noFill/>
          </a:ln>
        </p:spPr>
        <p:txBody>
          <a:bodyPr wrap="none" lIns="0" tIns="0" rIns="0" bIns="0" anchor="t" anchorCtr="0">
            <a:spAutoFit/>
          </a:bodyPr>
          <a:lstStyle/>
          <a:p>
            <a:pPr algn="l"/>
            <a:r>
              <a:rPr lang="en-US" sz="1050" dirty="0">
                <a:solidFill>
                  <a:srgbClr val="6D7C96"/>
                </a:solidFill>
                <a:latin typeface="+mn-lt"/>
                <a:ea typeface="+mn-ea"/>
                <a:cs typeface="+mn-cs"/>
              </a:rPr>
              <a:t>An Infinite-Width Analysis on the Jacobian-Regularised Training of a Neural Network · arXiv 2312.03386</a:t>
            </a:r>
          </a:p>
        </p:txBody>
      </p:sp>
      <p:sp>
        <p:nvSpPr>
          <p:cNvPr id="31" name="cue_s10_c1_bottom_line_infinite_width_theory_no" title="cue_s10_c1_bottom_line_infinite_width_theory_no" descr="cue_s10_c1_bottom_line_infinite_width_theory_no The bottom line is that infinite-width theory now reaches the Jacobian."/>
          <p:cNvSpPr/>
          <p:nvPr/>
        </p:nvSpPr>
        <p:spPr>
          <a:xfrm>
            <a:off x="762000" y="2248052"/>
            <a:ext cx="3404006"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ue_s10_c2_train_wide_network_jacobian_regulari" title="cue_s10_c2_train_wide_network_jacobian_regulari" descr="cue_s10_c2_train_wide_network_jacobian_regulari Train a wide network with a Jacobian regulariser and, in the limit, it behaves like kernel regression with a Jacobian Neural Tangent Kernel."/>
          <p:cNvSpPr/>
          <p:nvPr/>
        </p:nvSpPr>
        <p:spPr>
          <a:xfrm>
            <a:off x="4393996" y="2248052"/>
            <a:ext cx="3404006"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ue_s10_c3_same_regulariser_makes_accuracy_robu" title="cue_s10_c3_same_regulariser_makes_accuracy_robu" descr="cue_s10_c3_same_regulariser_makes_accuracy_robu And that same regulariser makes accuracy and robustness pull in the same direction instead of fighting each other, giving us the first principled explanation, from the infinite-width viewpoint, of why penalising the Jacobian yields networks that are both accur"/>
          <p:cNvSpPr/>
          <p:nvPr/>
        </p:nvSpPr>
        <p:spPr>
          <a:xfrm>
            <a:off x="8025993" y="2248052"/>
            <a:ext cx="3404006" cy="30476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ppt_project">
  <a:themeElements>
    <a:clrScheme name="ppt_project">
      <a:dk1>
        <a:srgbClr val="E8EDF6"/>
      </a:dk1>
      <a:lt1>
        <a:srgbClr val="0B1220"/>
      </a:lt1>
      <a:dk2>
        <a:srgbClr val="A9B6CC"/>
      </a:dk2>
      <a:lt2>
        <a:srgbClr val="131C2E"/>
      </a:lt2>
      <a:accent1>
        <a:srgbClr val="E8EDF6"/>
      </a:accent1>
      <a:accent2>
        <a:srgbClr val="5AA0F2"/>
      </a:accent2>
      <a:accent3>
        <a:srgbClr val="5AA0F2"/>
      </a:accent3>
      <a:accent4>
        <a:srgbClr val="2A3852"/>
      </a:accent4>
      <a:accent5>
        <a:srgbClr val="172236"/>
      </a:accent5>
      <a:accent6>
        <a:srgbClr val="1E2B42"/>
      </a:accent6>
      <a:hlink>
        <a:srgbClr val="5AA0F2"/>
      </a:hlink>
      <a:folHlink>
        <a:srgbClr val="5AA0F2"/>
      </a:folHlink>
    </a:clrScheme>
    <a:fontScheme name="ppt_project">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_projec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2026-07-16T16:05:07Z</dcterms:created>
  <dcterms:modified xsi:type="dcterms:W3CDTF">2026-07-16T16:05:07Z</dcterms:modified>
  <cp:category/>
  <cp:contentStatus/>
</cp:coreProperties>
</file>
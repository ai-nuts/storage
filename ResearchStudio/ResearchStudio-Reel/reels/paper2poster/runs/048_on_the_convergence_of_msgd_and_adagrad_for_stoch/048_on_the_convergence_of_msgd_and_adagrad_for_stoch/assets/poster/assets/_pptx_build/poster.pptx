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414871"/>
          </a:xfrm>
          <a:prstGeom prst="roundRect">
            <a:avLst>
              <a:gd name="adj" fmla="val 4165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588212"/>
            <a:ext cx="10804961" cy="8896667"/>
          </a:xfrm>
          <a:prstGeom prst="roundRect">
            <a:avLst>
              <a:gd name="adj" fmla="val 932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4588212"/>
            <a:ext cx="13506133" cy="14401383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4588212"/>
            <a:ext cx="13506271" cy="10621605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4588212"/>
            <a:ext cx="10804962" cy="6118959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1039018"/>
            <a:ext cx="10804962" cy="6098123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3816726"/>
            <a:ext cx="10804961" cy="16255226"/>
          </a:xfrm>
          <a:prstGeom prst="roundRect">
            <a:avLst>
              <a:gd name="adj" fmla="val 76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816421" y="15541664"/>
            <a:ext cx="13506271" cy="14530288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17468988"/>
            <a:ext cx="10804962" cy="7145199"/>
          </a:xfrm>
          <a:prstGeom prst="roundRect">
            <a:avLst>
              <a:gd name="adj" fmla="val 1161"/>
            </a:avLst>
          </a:prstGeom>
          <a:solidFill>
            <a:srgbClr val="E9F2F3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17468988"/>
            <a:ext cx="53340" cy="714519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3568" y="19321442"/>
            <a:ext cx="13506133" cy="10750510"/>
          </a:xfrm>
          <a:prstGeom prst="roundRect">
            <a:avLst>
              <a:gd name="adj" fmla="val 771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749412" y="24946034"/>
            <a:ext cx="10804962" cy="5125918"/>
          </a:xfrm>
          <a:prstGeom prst="roundRect">
            <a:avLst>
              <a:gd name="adj" fmla="val 1618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9991" y="4976316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271672" y="4976316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204525" y="4976316"/>
            <a:ext cx="8394521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137516" y="4976316"/>
            <a:ext cx="8067397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204525" y="6220916"/>
            <a:ext cx="12730063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04525" y="6220916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271672" y="6364545"/>
            <a:ext cx="12729925" cy="2299871"/>
          </a:xfrm>
          <a:prstGeom prst="roundRect">
            <a:avLst>
              <a:gd name="adj" fmla="val 9796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71672" y="8948757"/>
            <a:ext cx="12729925" cy="2826186"/>
          </a:xfrm>
          <a:prstGeom prst="roundRect">
            <a:avLst>
              <a:gd name="adj" fmla="val 7972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0262671"/>
            <a:ext cx="1002875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0262671"/>
            <a:ext cx="124460" cy="2837021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137516" y="11427122"/>
            <a:ext cx="6841827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37516" y="12458362"/>
            <a:ext cx="10028754" cy="4290675"/>
          </a:xfrm>
          <a:prstGeom prst="roundRect">
            <a:avLst>
              <a:gd name="adj" fmla="val 1657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991" y="14204830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204525" y="15929768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181966" y="17857092"/>
            <a:ext cx="390534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181966" y="19101692"/>
            <a:ext cx="9984304" cy="2346822"/>
          </a:xfrm>
          <a:prstGeom prst="roundRect">
            <a:avLst>
              <a:gd name="adj" fmla="val 8889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271672" y="19709546"/>
            <a:ext cx="4863108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271672" y="21064160"/>
            <a:ext cx="12729925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271672" y="21064160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204525" y="23089274"/>
            <a:ext cx="12730063" cy="2346821"/>
          </a:xfrm>
          <a:prstGeom prst="roundRect">
            <a:avLst>
              <a:gd name="adj" fmla="val 8889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9991" y="28041560"/>
            <a:ext cx="10028753" cy="1647984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inese-academy-of-sci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3633" y="2573259"/>
            <a:ext cx="1267797" cy="1137877"/>
          </a:xfrm>
          <a:prstGeom prst="rect">
            <a:avLst/>
          </a:prstGeom>
        </p:spPr>
      </p:pic>
      <p:pic>
        <p:nvPicPr>
          <p:cNvPr id="36" name="Picture 35" descr="university-of-chinese-academy-of-sci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8405" y="2573241"/>
            <a:ext cx="5424705" cy="1137913"/>
          </a:xfrm>
          <a:prstGeom prst="rect">
            <a:avLst/>
          </a:prstGeom>
        </p:spPr>
      </p:pic>
      <p:pic>
        <p:nvPicPr>
          <p:cNvPr id="37" name="Picture 36" descr="kth-royal-institute-of-techn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0084" y="2573238"/>
            <a:ext cx="2275840" cy="1137920"/>
          </a:xfrm>
          <a:prstGeom prst="rect">
            <a:avLst/>
          </a:prstGeom>
        </p:spPr>
      </p:pic>
      <p:pic>
        <p:nvPicPr>
          <p:cNvPr id="38" name="Picture 37" descr="university-of-notre-d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2898" y="2573238"/>
            <a:ext cx="1137920" cy="113792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0137516" y="6220916"/>
            <a:ext cx="3169007" cy="1994833"/>
          </a:xfrm>
          <a:prstGeom prst="roundRect">
            <a:avLst>
              <a:gd name="adj" fmla="val 13072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567250" y="6220916"/>
            <a:ext cx="3169146" cy="1994833"/>
          </a:xfrm>
          <a:prstGeom prst="roundRect">
            <a:avLst>
              <a:gd name="adj" fmla="val 13072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997123" y="6220916"/>
            <a:ext cx="3169147" cy="1994833"/>
          </a:xfrm>
          <a:prstGeom prst="roundRect">
            <a:avLst>
              <a:gd name="adj" fmla="val 13072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6694030" y="6377324"/>
            <a:ext cx="194496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THEORY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4187" y="12609492"/>
            <a:ext cx="4196218" cy="4012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4187" y="12609492"/>
            <a:ext cx="11557" cy="4012168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2761178" y="21220568"/>
            <a:ext cx="1473795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9991" y="24638357"/>
            <a:ext cx="3246516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No convexity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2916" y="24638357"/>
            <a:ext cx="4772680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No bounded iterates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9991" y="25614590"/>
            <a:ext cx="5609034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9991" y="26590823"/>
            <a:ext cx="4602241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Static momentum 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98641" y="26590823"/>
            <a:ext cx="475628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Norm-form AdaGrad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204525" y="17987525"/>
            <a:ext cx="12730063" cy="1663542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204525" y="21314608"/>
            <a:ext cx="12730063" cy="1663541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6309537" y="25334138"/>
            <a:ext cx="3683239" cy="3683238"/>
          </a:xfrm>
          <a:prstGeom prst="roundRect">
            <a:avLst>
              <a:gd name="adj" fmla="val 4183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8071" y="25452671"/>
            <a:ext cx="3446172" cy="344617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47523161" y="29159616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0F6070"/>
                </a:solidFill>
                <a:latin typeface="Arial"/>
              </a:rPr>
              <a:t>Paper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204525" y="17281048"/>
            <a:ext cx="2359461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204525" y="17978635"/>
            <a:ext cx="235946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563986" y="17281048"/>
            <a:ext cx="4402495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563986" y="17978635"/>
            <a:ext cx="440249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66481" y="17281048"/>
            <a:ext cx="5968107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966481" y="17978635"/>
            <a:ext cx="596810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204525" y="17987525"/>
            <a:ext cx="2359461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204525" y="19642177"/>
            <a:ext cx="235946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563986" y="17987525"/>
            <a:ext cx="4402495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563986" y="19642177"/>
            <a:ext cx="440249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966481" y="17987525"/>
            <a:ext cx="5968107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966481" y="19642177"/>
            <a:ext cx="596810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204525" y="19651067"/>
            <a:ext cx="2359461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204525" y="21305718"/>
            <a:ext cx="235946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563986" y="19651067"/>
            <a:ext cx="4402495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563986" y="21305718"/>
            <a:ext cx="440249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966481" y="19651067"/>
            <a:ext cx="5968107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966481" y="21305718"/>
            <a:ext cx="596810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204525" y="21314608"/>
            <a:ext cx="2359461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204525" y="22969259"/>
            <a:ext cx="2359461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8563986" y="21314608"/>
            <a:ext cx="4402495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563986" y="22969259"/>
            <a:ext cx="440249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966481" y="21314608"/>
            <a:ext cx="5968107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966481" y="22969259"/>
            <a:ext cx="596810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15581" y="1007487"/>
            <a:ext cx="37568445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0F6070"/>
                </a:solidFill>
                <a:latin typeface="Arial"/>
              </a:rPr>
              <a:t>On the Convergence of mSGD and AdaGrad for Stochastic Optimization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15581" y="2363350"/>
            <a:ext cx="37568445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Ruinan Jin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920" b="0">
                <a:solidFill>
                  <a:srgbClr val="1B2331"/>
                </a:solidFill>
                <a:latin typeface="Arial"/>
              </a:rPr>
              <a:t>, Yu Xing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 Xingkang He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3,4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15581" y="3063577"/>
            <a:ext cx="37568445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Academy of Mathematics &amp; Systems Science, CAS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Univ. of Chinese Academy of Sciences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KTH Royal Institute of Technology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Notre Dame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135488" y="1149727"/>
            <a:ext cx="3574975" cy="11463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849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54">
                <a:solidFill>
                  <a:srgbClr val="0F6070"/>
                </a:solidFill>
                <a:latin typeface="Arial"/>
              </a:rPr>
              <a:t>arXiv 2022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4976316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271672" y="4976316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204525" y="4976316"/>
            <a:ext cx="8646356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Setting &amp; Assumptions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137516" y="4976316"/>
            <a:ext cx="830941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Effect of Momentum α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91" y="6220916"/>
            <a:ext cx="1032961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Momentum SGD (</a:t>
            </a:r>
            <a:r>
              <a:rPr sz="4106" b="1">
                <a:solidFill>
                  <a:srgbClr val="111111"/>
                </a:solidFill>
                <a:latin typeface="Arial"/>
              </a:rPr>
              <a:t>mSGD</a:t>
            </a:r>
            <a:r>
              <a:rPr sz="4106" b="0">
                <a:solidFill>
                  <a:srgbClr val="1C1C1C"/>
                </a:solidFill>
                <a:latin typeface="Arial"/>
              </a:rPr>
              <a:t>) and </a:t>
            </a:r>
            <a:r>
              <a:rPr sz="4106" b="1">
                <a:solidFill>
                  <a:srgbClr val="111111"/>
                </a:solidFill>
                <a:latin typeface="Arial"/>
              </a:rPr>
              <a:t>AdaGrad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are empirically superior to plain SGD, yet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their convergence theory for smooth,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possibly </a:t>
            </a:r>
            <a:r>
              <a:rPr sz="4106" b="1">
                <a:solidFill>
                  <a:srgbClr val="111111"/>
                </a:solidFill>
                <a:latin typeface="Arial"/>
              </a:rPr>
              <a:t>non-convex</a:t>
            </a:r>
            <a:r>
              <a:rPr sz="4106" b="0">
                <a:solidFill>
                  <a:srgbClr val="1C1C1C"/>
                </a:solidFill>
                <a:latin typeface="Arial"/>
              </a:rPr>
              <a:t> losses is still poorly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established.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137516" y="8215749"/>
            <a:ext cx="10329616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analytic</a:t>
            </a:r>
            <a:r>
              <a:rPr sz="4106" b="0">
                <a:solidFill>
                  <a:srgbClr val="1C1C1C"/>
                </a:solidFill>
                <a:latin typeface="Arial"/>
              </a:rPr>
              <a:t> ablation: α = 0 recovers plain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SGD exactly; larger α provably accelerates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convergence.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970065" y="8224083"/>
            <a:ext cx="7553133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mSGD — static momentum α, decreasing Robbins–Monro step εₙ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10262671"/>
            <a:ext cx="10329615" cy="3262574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Prior proofs give only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subsequence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time-average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convergence — weaker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than the almost-sure convergence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practitioners rely on.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363864" y="11334611"/>
            <a:ext cx="6741907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AdaGrad — norm form, adaptive gradient-dependent step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137516" y="11427122"/>
            <a:ext cx="704708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9991" y="14204830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04525" y="15929768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81966" y="17857092"/>
            <a:ext cx="40225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181966" y="19101692"/>
            <a:ext cx="10283833" cy="2698845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Relaxed assumptions narrow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theory–practice gap for these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optimizers.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271672" y="19709546"/>
            <a:ext cx="500900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Contribution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181966" y="21448514"/>
            <a:ext cx="1028383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mSGD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AdaGrad</a:t>
            </a:r>
            <a:r>
              <a:rPr sz="4106" b="0">
                <a:solidFill>
                  <a:srgbClr val="1C1C1C"/>
                </a:solidFill>
                <a:latin typeface="Arial"/>
              </a:rPr>
              <a:t> converge almost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surely to stationary points of non-convex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losses, with momentum provably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accelerating convergence.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204525" y="23089274"/>
            <a:ext cx="13111964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Almost-sure asymptotic convergence — strictly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stronger than the subsequence and time-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average guarantees it extends.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91" y="28041560"/>
            <a:ext cx="10329615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Goal: analyze both algorithms </a:t>
            </a:r>
            <a:r>
              <a:rPr sz="4106" b="0" i="1">
                <a:solidFill>
                  <a:srgbClr val="0F6070"/>
                </a:solidFill>
                <a:latin typeface="Arial"/>
              </a:rPr>
              <a:t>exactly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0F6070"/>
                </a:solidFill>
                <a:latin typeface="Arial"/>
              </a:rPr>
              <a:t>as deployed</a:t>
            </a:r>
            <a:r>
              <a:rPr sz="4106" b="0">
                <a:solidFill>
                  <a:srgbClr val="0F6070"/>
                </a:solidFill>
                <a:latin typeface="Arial"/>
              </a:rPr>
              <a:t>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694030" y="7224514"/>
            <a:ext cx="12231777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datasets, benchmarks, or experiments — every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result is a proven convergence theorem.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04506" y="8893333"/>
            <a:ext cx="1311198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Non-negative, continuously differentiable losses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Lipschitz</a:t>
            </a:r>
            <a:r>
              <a:rPr sz="4106" b="0">
                <a:solidFill>
                  <a:srgbClr val="1C1C1C"/>
                </a:solidFill>
                <a:latin typeface="Arial"/>
              </a:rPr>
              <a:t> gradients — possibly </a:t>
            </a:r>
            <a:r>
              <a:rPr sz="4106" b="1">
                <a:solidFill>
                  <a:srgbClr val="111111"/>
                </a:solidFill>
                <a:latin typeface="Arial"/>
              </a:rPr>
              <a:t>non-convex</a:t>
            </a:r>
            <a:r>
              <a:rPr sz="4106" b="0">
                <a:solidFill>
                  <a:srgbClr val="1C1C1C"/>
                </a:solidFill>
                <a:latin typeface="Arial"/>
              </a:rPr>
              <a:t>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many minima.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6204506" y="11433373"/>
            <a:ext cx="12202752" cy="1564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Convergence needs only </a:t>
            </a:r>
            <a:r>
              <a:rPr sz="4106" b="1">
                <a:solidFill>
                  <a:srgbClr val="111111"/>
                </a:solidFill>
                <a:latin typeface="Arial"/>
              </a:rPr>
              <a:t>Robbins–Monro</a:t>
            </a:r>
            <a:r>
              <a:rPr sz="4106" b="0">
                <a:solidFill>
                  <a:srgbClr val="1C1C1C"/>
                </a:solidFill>
                <a:latin typeface="Arial"/>
              </a:rPr>
              <a:t> steps such as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, with no convexity assumed.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271654" y="11918572"/>
            <a:ext cx="13111841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stability lemma</a:t>
            </a:r>
            <a:r>
              <a:rPr sz="4106" b="0">
                <a:solidFill>
                  <a:srgbClr val="1C1C1C"/>
                </a:solidFill>
                <a:latin typeface="Arial"/>
              </a:rPr>
              <a:t> keeps the expected loss bounded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throughout training.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204506" y="13173729"/>
            <a:ext cx="12831131" cy="1564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assumptions even admit non-convex examples like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and quartic polynomials.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271654" y="13729077"/>
            <a:ext cx="12373153" cy="247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relaxed noise condition</a:t>
            </a:r>
            <a:r>
              <a:rPr sz="4106" b="0">
                <a:solidFill>
                  <a:srgbClr val="1C1C1C"/>
                </a:solidFill>
                <a:latin typeface="Arial"/>
              </a:rPr>
              <a:t>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replaces the usual uniform bound.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9972" y="16080343"/>
            <a:ext cx="1032963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convergence theory for </a:t>
            </a:r>
            <a:r>
              <a:rPr sz="4106" b="1">
                <a:solidFill>
                  <a:srgbClr val="111111"/>
                </a:solidFill>
                <a:latin typeface="Arial"/>
              </a:rPr>
              <a:t>static-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momentum</a:t>
            </a:r>
            <a:r>
              <a:rPr sz="4106" b="0">
                <a:solidFill>
                  <a:srgbClr val="1C1C1C"/>
                </a:solidFill>
                <a:latin typeface="Arial"/>
              </a:rPr>
              <a:t> mSGD and </a:t>
            </a:r>
            <a:r>
              <a:rPr sz="4106" b="1">
                <a:solidFill>
                  <a:srgbClr val="111111"/>
                </a:solidFill>
                <a:latin typeface="Arial"/>
              </a:rPr>
              <a:t>norm-form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AdaGrad — without convexity, bounded-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iterate, or uniform-noise assumptions —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is missing.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271654" y="16155491"/>
            <a:ext cx="1311184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AdaGrad's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random</a:t>
            </a:r>
            <a:r>
              <a:rPr sz="4106" b="0">
                <a:solidFill>
                  <a:srgbClr val="1C1C1C"/>
                </a:solidFill>
                <a:latin typeface="Arial"/>
              </a:rPr>
              <a:t> step size is tamed by bounding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conditionally dependent terms that block naive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conditioning.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9972" y="20043894"/>
            <a:ext cx="1032963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work covers only time-varying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momentum 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modified</a:t>
            </a:r>
            <a:r>
              <a:rPr sz="4106" b="0">
                <a:solidFill>
                  <a:srgbClr val="1C1C1C"/>
                </a:solidFill>
                <a:latin typeface="Arial"/>
              </a:rPr>
              <a:t> AdaGrad;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fixed momentum (α ≈ 0.9) and norm-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form AdaGrad actually deployed fall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outside those results.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761178" y="22067758"/>
            <a:ext cx="1223163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Asymptotic a.s. convergence for the static-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momentum mSGD and norm-form AdaGrad used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 practice.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271654" y="24602797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mSGD → a.s. convergence</a:t>
            </a:r>
            <a:r>
              <a:rPr sz="4106" b="0">
                <a:solidFill>
                  <a:srgbClr val="1C1C1C"/>
                </a:solidFill>
                <a:latin typeface="Arial"/>
              </a:rPr>
              <a:t> to a connected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stationary set, for non-convex losses.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204506" y="25542775"/>
            <a:ext cx="13111984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When the stationary set is a </a:t>
            </a:r>
            <a:r>
              <a:rPr sz="4106" b="1">
                <a:solidFill>
                  <a:srgbClr val="111111"/>
                </a:solidFill>
                <a:latin typeface="Arial"/>
              </a:rPr>
              <a:t>single point</a:t>
            </a:r>
            <a:r>
              <a:rPr sz="4106" b="0">
                <a:solidFill>
                  <a:srgbClr val="1C1C1C"/>
                </a:solidFill>
                <a:latin typeface="Arial"/>
              </a:rPr>
              <a:t>,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iterates converge to that point.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271654" y="26297731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Quantified mSGD rate</a:t>
            </a:r>
            <a:r>
              <a:rPr sz="4106" b="0">
                <a:solidFill>
                  <a:srgbClr val="1C1C1C"/>
                </a:solidFill>
                <a:latin typeface="Arial"/>
              </a:rPr>
              <a:t> — momentum as a provable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acceleration of SGD.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204506" y="27237709"/>
            <a:ext cx="1311198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Guarantees hold for </a:t>
            </a:r>
            <a:r>
              <a:rPr sz="4106" b="1">
                <a:solidFill>
                  <a:srgbClr val="111111"/>
                </a:solidFill>
                <a:latin typeface="Arial"/>
              </a:rPr>
              <a:t>every realization</a:t>
            </a:r>
            <a:r>
              <a:rPr sz="4106" b="0">
                <a:solidFill>
                  <a:srgbClr val="1C1C1C"/>
                </a:solidFill>
                <a:latin typeface="Arial"/>
              </a:rPr>
              <a:t> (with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probability one) — not merely a subsequence or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time average.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271654" y="27992665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AdaGrad (norm form) → a.s. convergence</a:t>
            </a:r>
            <a:r>
              <a:rPr sz="4106" b="0">
                <a:solidFill>
                  <a:srgbClr val="1C1C1C"/>
                </a:solidFill>
                <a:latin typeface="Arial"/>
              </a:rPr>
              <a:t> to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connected stationary set.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346014" y="6377324"/>
            <a:ext cx="2834571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0F6070"/>
                </a:solidFill>
                <a:latin typeface="Arial"/>
              </a:rPr>
              <a:t>α = 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3775749" y="6767234"/>
            <a:ext cx="2834713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0F6070"/>
                </a:solidFill>
                <a:latin typeface="Arial"/>
              </a:rPr>
              <a:t>α ↑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205622" y="6767234"/>
            <a:ext cx="2834713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0F6070"/>
                </a:solidFill>
                <a:latin typeface="Arial"/>
              </a:rPr>
              <a:t>α → 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346014" y="7279520"/>
            <a:ext cx="2834571" cy="896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recovers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SGD rate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775749" y="7669430"/>
            <a:ext cx="283471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smaller coefficient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205622" y="7669430"/>
            <a:ext cx="283471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rate → O(1/T)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383380" y="13406675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O(1/T)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383380" y="14781569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mSGD time-avg rate,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α→1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137516" y="27117972"/>
            <a:ext cx="3503582" cy="681300"/>
          </a:xfrm>
          <a:prstGeom prst="rect">
            <a:avLst/>
          </a:prstGeom>
          <a:noFill/>
        </p:spPr>
        <p:txBody>
          <a:bodyPr wrap="square" lIns="199136" rIns="199136" tIns="47413" bIns="47413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0F6070"/>
                </a:solidFill>
                <a:latin typeface="Arial"/>
              </a:rPr>
              <a:t>Scan to Read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202441" y="12609492"/>
            <a:ext cx="1074481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α =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428150" y="12742842"/>
            <a:ext cx="256702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recovers SGD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rate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202441" y="13960633"/>
            <a:ext cx="91423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a.s.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272575" y="14093983"/>
            <a:ext cx="272726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mSGD &amp;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AdaGrad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202441" y="15208150"/>
            <a:ext cx="179142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M(1+g)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8124209" y="15341500"/>
            <a:ext cx="1850081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relaxed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noise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bound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204525" y="17281048"/>
            <a:ext cx="2430244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THEOREM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8563986" y="17281048"/>
            <a:ext cx="4534569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ALGORITHM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966481" y="17281048"/>
            <a:ext cx="614715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GUARANTEE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04525" y="17987525"/>
            <a:ext cx="2430244" cy="1913073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Thm 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563986" y="17987525"/>
            <a:ext cx="4534569" cy="1913073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mSGD (static α)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966481" y="17987525"/>
            <a:ext cx="6147150" cy="1913073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a.s. → connected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stationary set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204525" y="19651067"/>
            <a:ext cx="2430244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Thm 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8563986" y="19651067"/>
            <a:ext cx="4534569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mSGD rate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966481" y="19651067"/>
            <a:ext cx="6147150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quantified acceleration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of SGD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204525" y="21314608"/>
            <a:ext cx="2430244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Thm 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563986" y="21314608"/>
            <a:ext cx="4534569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AdaGrad (norm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form)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2966481" y="21314608"/>
            <a:ext cx="6147150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a.s. → connected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stationary set</a:t>
            </a:r>
          </a:p>
        </p:txBody>
      </p:sp>
      <p:pic>
        <p:nvPicPr>
          <p:cNvPr id="144" name="Picture 143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2015" y="6449833"/>
            <a:ext cx="11689239" cy="1662430"/>
          </a:xfrm>
          <a:prstGeom prst="rect">
            <a:avLst/>
          </a:prstGeom>
        </p:spPr>
      </p:pic>
      <p:pic>
        <p:nvPicPr>
          <p:cNvPr id="145" name="Picture 144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14379" y="9034045"/>
            <a:ext cx="11644372" cy="1794947"/>
          </a:xfrm>
          <a:prstGeom prst="rect">
            <a:avLst/>
          </a:prstGeom>
        </p:spPr>
      </p:pic>
      <p:pic>
        <p:nvPicPr>
          <p:cNvPr id="146" name="Picture 145" descr="eq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45355" y="13622397"/>
            <a:ext cx="9598283" cy="1539498"/>
          </a:xfrm>
          <a:prstGeom prst="rect">
            <a:avLst/>
          </a:prstGeom>
        </p:spPr>
      </p:pic>
      <p:pic>
        <p:nvPicPr>
          <p:cNvPr id="147" name="Picture 146" descr="eq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0256" y="12109569"/>
            <a:ext cx="2453501" cy="737870"/>
          </a:xfrm>
          <a:prstGeom prst="rect">
            <a:avLst/>
          </a:prstGeom>
        </p:spPr>
      </p:pic>
      <p:pic>
        <p:nvPicPr>
          <p:cNvPr id="148" name="Picture 147" descr="eq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05546" y="13849925"/>
            <a:ext cx="1889541" cy="7378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
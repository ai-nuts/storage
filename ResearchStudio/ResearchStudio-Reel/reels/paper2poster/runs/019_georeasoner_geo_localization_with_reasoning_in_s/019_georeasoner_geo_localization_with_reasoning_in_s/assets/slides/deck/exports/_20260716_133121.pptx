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4266" y="572452"/>
            <a:ext cx="9959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225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ICML 2024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67983" y="576501"/>
            <a:ext cx="3019561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1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HKUST (GZ) · Tongji · Info. Eng. University</a:t>
            </a:r>
          </a:p>
        </p:txBody>
      </p:sp>
      <p:sp>
        <p:nvSpPr>
          <p:cNvPr id="4" name="Line 4"/>
          <p:cNvSpPr/>
          <p:nvPr/>
        </p:nvSpPr>
        <p:spPr>
          <a:xfrm>
            <a:off x="609600" y="8382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93598" y="1088708"/>
            <a:ext cx="275352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GeoReasoner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0837" y="1680686"/>
            <a:ext cx="7557456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Geo-localization with Reasoning in Street Views via a Large VLM</a:t>
            </a:r>
          </a:p>
        </p:txBody>
      </p:sp>
      <p:sp>
        <p:nvSpPr>
          <p:cNvPr id="7" name="Rectangle 7"/>
          <p:cNvSpPr/>
          <p:nvPr/>
        </p:nvSpPr>
        <p:spPr>
          <a:xfrm>
            <a:off x="9334500" y="1028700"/>
            <a:ext cx="1428750" cy="819150"/>
          </a:xfrm>
          <a:prstGeom prst="roundRect">
            <a:avLst>
              <a:gd name="adj" fmla="val 9302"/>
            </a:avLst>
          </a:prstGeom>
          <a:solidFill>
            <a:srgbClr val="0E2334"/>
          </a:solidFill>
          <a:ln w="14288">
            <a:solidFill>
              <a:srgbClr val="26455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9382125" y="1076325"/>
            <a:ext cx="1333500" cy="327660"/>
          </a:xfrm>
          <a:prstGeom prst="roundRect">
            <a:avLst>
              <a:gd name="adj" fmla="val 11628"/>
            </a:avLst>
          </a:prstGeom>
          <a:solidFill>
            <a:srgbClr val="1C3A54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9477375" y="1307211"/>
            <a:ext cx="285750" cy="409575"/>
          </a:xfrm>
          <a:prstGeom prst="roundRect">
            <a:avLst>
              <a:gd name="adj" fmla="val 6667"/>
            </a:avLst>
          </a:prstGeom>
          <a:solidFill>
            <a:srgbClr val="24506E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9820275" y="1208913"/>
            <a:ext cx="228600" cy="507873"/>
          </a:xfrm>
          <a:prstGeom prst="roundRect">
            <a:avLst>
              <a:gd name="adj" fmla="val 8333"/>
            </a:avLst>
          </a:prstGeom>
          <a:solidFill>
            <a:srgbClr val="2C5C80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10363200" y="1339977"/>
            <a:ext cx="257175" cy="376809"/>
          </a:xfrm>
          <a:prstGeom prst="roundRect">
            <a:avLst>
              <a:gd name="adj" fmla="val 7407"/>
            </a:avLst>
          </a:prstGeom>
          <a:solidFill>
            <a:srgbClr val="24506E"/>
          </a:soli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9906000" y="1388745"/>
            <a:ext cx="285750" cy="401955"/>
          </a:xfrm>
          <a:custGeom>
            <a:avLst/>
            <a:gdLst/>
            <a:ahLst/>
            <a:cxnLst/>
            <a:rect l="l" t="t" r="r" b="b"/>
            <a:pathLst>
              <a:path w="285750" h="401955">
                <a:moveTo>
                  <a:pt x="0" y="401955"/>
                </a:moveTo>
                <a:lnTo>
                  <a:pt x="285750" y="401955"/>
                </a:lnTo>
                <a:lnTo>
                  <a:pt x="214312" y="0"/>
                </a:lnTo>
                <a:lnTo>
                  <a:pt x="71438" y="0"/>
                </a:lnTo>
                <a:close/>
              </a:path>
            </a:pathLst>
          </a:custGeom>
          <a:solidFill>
            <a:srgbClr val="33597A"/>
          </a:solidFill>
          <a:ln>
            <a:noFill/>
          </a:ln>
        </p:spPr>
      </p:sp>
      <p:sp>
        <p:nvSpPr>
          <p:cNvPr id="13" name="Polygon 13"/>
          <p:cNvSpPr/>
          <p:nvPr/>
        </p:nvSpPr>
        <p:spPr>
          <a:xfrm>
            <a:off x="10180320" y="1335405"/>
            <a:ext cx="80010" cy="88583"/>
          </a:xfrm>
          <a:custGeom>
            <a:avLst/>
            <a:gdLst/>
            <a:ahLst/>
            <a:cxnLst/>
            <a:rect l="l" t="t" r="r" b="b"/>
            <a:pathLst>
              <a:path w="80010" h="88583">
                <a:moveTo>
                  <a:pt x="0" y="0"/>
                </a:moveTo>
                <a:lnTo>
                  <a:pt x="80010" y="0"/>
                </a:lnTo>
                <a:lnTo>
                  <a:pt x="40005" y="88583"/>
                </a:lnTo>
                <a:close/>
              </a:path>
            </a:pathLst>
          </a:custGeom>
          <a:solidFill>
            <a:srgbClr val="48C78E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10153650" y="1240536"/>
            <a:ext cx="133350" cy="13335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10193655" y="1280541"/>
            <a:ext cx="53340" cy="5334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329738" y="901541"/>
            <a:ext cx="94837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b="1" dirty="0">
                <a:solidFill>
                  <a:srgbClr val="6E869C"/>
                </a:solidFill>
                <a:latin typeface="+mn-lt"/>
                <a:ea typeface="+mn-ea"/>
                <a:cs typeface="+mn-cs"/>
              </a:rPr>
              <a:t>high-locatability</a:t>
            </a:r>
          </a:p>
        </p:txBody>
      </p:sp>
      <p:sp>
        <p:nvSpPr>
          <p:cNvPr id="17" name="Line 17"/>
          <p:cNvSpPr/>
          <p:nvPr/>
        </p:nvSpPr>
        <p:spPr>
          <a:xfrm>
            <a:off x="10801350" y="14287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9050" cap="rnd">
            <a:solidFill>
              <a:srgbClr val="F2C14E"/>
            </a:solidFill>
          </a:ln>
        </p:spPr>
      </p:sp>
      <p:sp>
        <p:nvSpPr>
          <p:cNvPr id="18" name="Polyline 18"/>
          <p:cNvSpPr/>
          <p:nvPr/>
        </p:nvSpPr>
        <p:spPr>
          <a:xfrm>
            <a:off x="11115675" y="1387792"/>
            <a:ext cx="85725" cy="81915"/>
          </a:xfrm>
          <a:custGeom>
            <a:avLst/>
            <a:gdLst/>
            <a:ahLst/>
            <a:cxnLst/>
            <a:rect l="l" t="t" r="r" b="b"/>
            <a:pathLst>
              <a:path w="85725" h="81915">
                <a:moveTo>
                  <a:pt x="0" y="81915"/>
                </a:moveTo>
                <a:lnTo>
                  <a:pt x="85725" y="40958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F2C14E"/>
            </a:solidFill>
            <a:round/>
          </a:ln>
        </p:spPr>
      </p:sp>
      <p:sp>
        <p:nvSpPr>
          <p:cNvPr id="19" name="Polygon 19"/>
          <p:cNvSpPr/>
          <p:nvPr/>
        </p:nvSpPr>
        <p:spPr>
          <a:xfrm>
            <a:off x="11334750" y="1468755"/>
            <a:ext cx="114300" cy="126683"/>
          </a:xfrm>
          <a:custGeom>
            <a:avLst/>
            <a:gdLst/>
            <a:ahLst/>
            <a:cxnLst/>
            <a:rect l="l" t="t" r="r" b="b"/>
            <a:pathLst>
              <a:path w="114300" h="126683">
                <a:moveTo>
                  <a:pt x="0" y="0"/>
                </a:moveTo>
                <a:lnTo>
                  <a:pt x="114300" y="0"/>
                </a:lnTo>
                <a:lnTo>
                  <a:pt x="57150" y="126683"/>
                </a:lnTo>
                <a:close/>
              </a:path>
            </a:pathLst>
          </a:custGeom>
          <a:solidFill>
            <a:srgbClr val="48C78E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11296650" y="1333500"/>
            <a:ext cx="190500" cy="1905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11353800" y="1390650"/>
            <a:ext cx="76200" cy="7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04076" y="2092404"/>
            <a:ext cx="3875563" cy="2126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9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Ling Li · Yu Ye · Yao Zhou · Bingchuan Jiang · Wei Zeng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609600" y="2762250"/>
            <a:ext cx="2628900" cy="2343150"/>
            <a:chOff x="609600" y="2762250"/>
            <a:chExt cx="2628900" cy="2343150"/>
          </a:xfrm>
        </p:grpSpPr>
        <p:sp>
          <p:nvSpPr>
            <p:cNvPr id="23" name="Rectangle 23"/>
            <p:cNvSpPr/>
            <p:nvPr/>
          </p:nvSpPr>
          <p:spPr>
            <a:xfrm>
              <a:off x="609600" y="2762250"/>
              <a:ext cx="2628900" cy="2343150"/>
            </a:xfrm>
            <a:prstGeom prst="roundRect">
              <a:avLst>
                <a:gd name="adj" fmla="val 569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2762250"/>
              <a:ext cx="26289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723" y="3100864"/>
              <a:ext cx="23985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Where the photo was taken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1723" y="3319939"/>
              <a:ext cx="8542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- and how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3323" y="3877818"/>
              <a:ext cx="216992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GeoReasoner not only predicts the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323" y="4049268"/>
              <a:ext cx="227137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country and city of a street photo,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3323" y="4220718"/>
              <a:ext cx="2109826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 explains the visual clues behind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323" y="4392168"/>
              <a:ext cx="759318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each guess.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390900" y="2762250"/>
            <a:ext cx="2628900" cy="2343150"/>
            <a:chOff x="3390900" y="2762250"/>
            <a:chExt cx="2628900" cy="2343150"/>
          </a:xfrm>
        </p:grpSpPr>
        <p:sp>
          <p:nvSpPr>
            <p:cNvPr id="32" name="Rectangle 32"/>
            <p:cNvSpPr/>
            <p:nvPr/>
          </p:nvSpPr>
          <p:spPr>
            <a:xfrm>
              <a:off x="3390900" y="2762250"/>
              <a:ext cx="2628900" cy="2343150"/>
            </a:xfrm>
            <a:prstGeom prst="roundRect">
              <a:avLst>
                <a:gd name="adj" fmla="val 569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390900" y="2762250"/>
              <a:ext cx="2628900" cy="5715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13023" y="3100864"/>
              <a:ext cx="16111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long-standing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613023" y="3319939"/>
              <a:ext cx="8633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obstacles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14623" y="3877818"/>
              <a:ext cx="206227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Street-view training data is full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14623" y="4049268"/>
              <a:ext cx="1857817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of low-quality images with no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14623" y="4220718"/>
              <a:ext cx="1599347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visual clues, and existing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14623" y="4392168"/>
              <a:ext cx="1909511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localization models are opaque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614623" y="4563618"/>
              <a:ext cx="798088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black boxes.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172200" y="2762250"/>
            <a:ext cx="2628900" cy="2343150"/>
            <a:chOff x="6172200" y="2762250"/>
            <a:chExt cx="2628900" cy="2343150"/>
          </a:xfrm>
        </p:grpSpPr>
        <p:sp>
          <p:nvSpPr>
            <p:cNvPr id="42" name="Rectangle 42"/>
            <p:cNvSpPr/>
            <p:nvPr/>
          </p:nvSpPr>
          <p:spPr>
            <a:xfrm>
              <a:off x="6172200" y="2762250"/>
              <a:ext cx="2628900" cy="2343150"/>
            </a:xfrm>
            <a:prstGeom prst="roundRect">
              <a:avLst>
                <a:gd name="adj" fmla="val 569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72200" y="2762250"/>
              <a:ext cx="2628900" cy="571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94323" y="3100864"/>
              <a:ext cx="23078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Locatability + human game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94323" y="3319939"/>
              <a:ext cx="465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clues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95923" y="3877818"/>
              <a:ext cx="2023424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It quantifies how locatable each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95923" y="4049268"/>
              <a:ext cx="2206752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image is, borrows human inference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95923" y="4220718"/>
              <a:ext cx="2019361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knowledge from geo-games, and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95923" y="4392168"/>
              <a:ext cx="1651041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fine-tunes in two stages.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953500" y="2762250"/>
            <a:ext cx="2628900" cy="2343150"/>
            <a:chOff x="8953500" y="2762250"/>
            <a:chExt cx="2628900" cy="2343150"/>
          </a:xfrm>
        </p:grpSpPr>
        <p:sp>
          <p:nvSpPr>
            <p:cNvPr id="51" name="Rectangle 51"/>
            <p:cNvSpPr/>
            <p:nvPr/>
          </p:nvSpPr>
          <p:spPr>
            <a:xfrm>
              <a:off x="8953500" y="2762250"/>
              <a:ext cx="2628900" cy="2343150"/>
            </a:xfrm>
            <a:prstGeom prst="roundRect">
              <a:avLst>
                <a:gd name="adj" fmla="val 569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8953500" y="2762250"/>
              <a:ext cx="2628900" cy="571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75623" y="3100864"/>
              <a:ext cx="21931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+25% country, +38% city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77223" y="3877818"/>
              <a:ext cx="2120399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Beats comparable vision-language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77223" y="4049268"/>
              <a:ext cx="2180905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models by over 25% at country and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77223" y="4220718"/>
              <a:ext cx="183197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38% at city level, matching 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177223" y="4392168"/>
              <a:ext cx="1909511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specialist trained on 15x more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77223" y="4563618"/>
              <a:ext cx="36515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data.</a:t>
              </a:r>
            </a:p>
          </p:txBody>
        </p:sp>
      </p:grpSp>
      <p:sp>
        <p:nvSpPr>
          <p:cNvPr id="60" name="Line 60"/>
          <p:cNvSpPr/>
          <p:nvPr/>
        </p:nvSpPr>
        <p:spPr>
          <a:xfrm>
            <a:off x="609600" y="5391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604266" y="5601652"/>
            <a:ext cx="1294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arXiv:2406.18572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661856" y="5605701"/>
            <a:ext cx="2462190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1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github.com/lingli1996/GeoReasoner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282914" y="5601652"/>
            <a:ext cx="43048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Interpretable geo-localization with a fraction of the data.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88279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753949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Bad training data, and models that can't explain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09600" y="1504950"/>
            <a:ext cx="3848100" cy="3733800"/>
            <a:chOff x="609600" y="1504950"/>
            <a:chExt cx="3848100" cy="37338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3848100" cy="37338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37338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442" y="1778318"/>
              <a:ext cx="3330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Predicting where a photo was taken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776" y="2168604"/>
              <a:ext cx="306809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Locating a street-view photo is useful for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776" y="2387679"/>
              <a:ext cx="271098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urban planning, navigation, and social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776" y="2606754"/>
              <a:ext cx="305369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studies. But today's approaches have two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0776" y="2825829"/>
              <a:ext cx="869453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blind spots.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76300" y="3429000"/>
              <a:ext cx="167640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00125" y="352425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4626" y="3511629"/>
              <a:ext cx="108185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urban planning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667000" y="3429000"/>
              <a:ext cx="148590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790825" y="3524250"/>
              <a:ext cx="95250" cy="9525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85326" y="3511629"/>
              <a:ext cx="78141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navigation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6300" y="3829050"/>
              <a:ext cx="167640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000125" y="3924300"/>
              <a:ext cx="95250" cy="9525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94626" y="3911679"/>
              <a:ext cx="1043335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social studies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667000" y="3829050"/>
              <a:ext cx="148590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2790825" y="3924300"/>
              <a:ext cx="95250" cy="95250"/>
            </a:xfrm>
            <a:prstGeom prst="ellipse">
              <a:avLst/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85326" y="3911679"/>
              <a:ext cx="115889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blind spots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1423" y="4392168"/>
              <a:ext cx="2730478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useful, yet held back by data and opacity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762500" y="1504950"/>
            <a:ext cx="6819900" cy="1562100"/>
            <a:chOff x="4762500" y="1504950"/>
            <a:chExt cx="6819900" cy="1562100"/>
          </a:xfrm>
        </p:grpSpPr>
        <p:sp>
          <p:nvSpPr>
            <p:cNvPr id="26" name="Rectangle 26"/>
            <p:cNvSpPr/>
            <p:nvPr/>
          </p:nvSpPr>
          <p:spPr>
            <a:xfrm>
              <a:off x="4762500" y="1504950"/>
              <a:ext cx="6819900" cy="1562100"/>
            </a:xfrm>
            <a:prstGeom prst="roundRect">
              <a:avLst>
                <a:gd name="adj" fmla="val 853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762500" y="1504950"/>
              <a:ext cx="57150" cy="1562100"/>
            </a:xfrm>
            <a:prstGeom prst="roundRect">
              <a:avLst>
                <a:gd name="adj" fmla="val 50000"/>
              </a:avLst>
            </a:prstGeom>
            <a:solidFill>
              <a:srgbClr val="F2685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022914" y="1733312"/>
              <a:ext cx="3086320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685C"/>
                  </a:solidFill>
                  <a:latin typeface="+mn-lt"/>
                  <a:ea typeface="+mn-ea"/>
                  <a:cs typeface="+mn-cs"/>
                </a:rPr>
                <a:t>1. The data problem: no visual clues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23866" y="2039302"/>
              <a:ext cx="406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Street-view datasets are stuffed with images captured in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23866" y="2239328"/>
              <a:ext cx="38624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tunnels, against blank walls, or of generic vegetation -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23866" y="2439352"/>
              <a:ext cx="36928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none carrying clues a model could use to locate them.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029200" y="2762250"/>
              <a:ext cx="571500" cy="209550"/>
            </a:xfrm>
            <a:prstGeom prst="roundRect">
              <a:avLst>
                <a:gd name="adj" fmla="val 36364"/>
              </a:avLst>
            </a:prstGeom>
            <a:solidFill>
              <a:srgbClr val="0E2334"/>
            </a:solidFill>
            <a:ln w="14288">
              <a:solidFill>
                <a:srgbClr val="26455F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076825" y="2809875"/>
              <a:ext cx="476250" cy="114300"/>
            </a:xfrm>
            <a:prstGeom prst="roundRect">
              <a:avLst>
                <a:gd name="adj" fmla="val 33333"/>
              </a:avLst>
            </a:prstGeom>
            <a:solidFill>
              <a:srgbClr val="161E28"/>
            </a:solidFill>
            <a:ln>
              <a:noFill/>
            </a:ln>
          </p:spPr>
        </p:sp>
        <p:sp>
          <p:nvSpPr>
            <p:cNvPr id="34" name="Line 34"/>
            <p:cNvSpPr/>
            <p:nvPr/>
          </p:nvSpPr>
          <p:spPr>
            <a:xfrm>
              <a:off x="5200650" y="275272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0"/>
                  </a:moveTo>
                  <a:lnTo>
                    <a:pt x="228600" y="228600"/>
                  </a:lnTo>
                </a:path>
              </a:pathLst>
            </a:custGeom>
            <a:noFill/>
            <a:ln w="28575" cap="rnd">
              <a:solidFill>
                <a:srgbClr val="F2685C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5200650" y="275272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0"/>
                  </a:lnTo>
                </a:path>
              </a:pathLst>
            </a:custGeom>
            <a:noFill/>
            <a:ln w="28575" cap="rnd">
              <a:solidFill>
                <a:srgbClr val="F2685C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15238" y="2718197"/>
              <a:ext cx="297252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F2685C"/>
                  </a:solidFill>
                  <a:latin typeface="Consolas"/>
                  <a:ea typeface="Consolas"/>
                  <a:cs typeface="Consolas"/>
                </a:rPr>
                <a:t>tunnels · blank walls · vegetation -&gt; no signal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762500" y="3219450"/>
            <a:ext cx="6819900" cy="1143000"/>
            <a:chOff x="4762500" y="3219450"/>
            <a:chExt cx="6819900" cy="1143000"/>
          </a:xfrm>
        </p:grpSpPr>
        <p:sp>
          <p:nvSpPr>
            <p:cNvPr id="38" name="Rectangle 38"/>
            <p:cNvSpPr/>
            <p:nvPr/>
          </p:nvSpPr>
          <p:spPr>
            <a:xfrm>
              <a:off x="4762500" y="3219450"/>
              <a:ext cx="6819900" cy="1143000"/>
            </a:xfrm>
            <a:prstGeom prst="roundRect">
              <a:avLst>
                <a:gd name="adj" fmla="val 11667"/>
              </a:avLst>
            </a:prstGeom>
            <a:solidFill>
              <a:srgbClr val="2A2417"/>
            </a:solidFill>
            <a:ln w="14288">
              <a:solidFill>
                <a:srgbClr val="F2C14E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4762500" y="321945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23104" y="3451860"/>
              <a:ext cx="31648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2. The reasoning problem: black boxes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23676" y="3749754"/>
              <a:ext cx="474063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Retrieval and classification models hand back a coordinate with no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23676" y="3959304"/>
              <a:ext cx="319521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explanation a person could inspect or trust.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762500" y="4495800"/>
            <a:ext cx="6819900" cy="857297"/>
            <a:chOff x="4762500" y="4495800"/>
            <a:chExt cx="6819900" cy="857297"/>
          </a:xfrm>
        </p:grpSpPr>
        <p:sp>
          <p:nvSpPr>
            <p:cNvPr id="44" name="Rectangle 44"/>
            <p:cNvSpPr/>
            <p:nvPr/>
          </p:nvSpPr>
          <p:spPr>
            <a:xfrm>
              <a:off x="4762500" y="4495800"/>
              <a:ext cx="6819900" cy="742950"/>
            </a:xfrm>
            <a:prstGeom prst="roundRect">
              <a:avLst>
                <a:gd name="adj" fmla="val 17949"/>
              </a:avLst>
            </a:prstGeom>
            <a:solidFill>
              <a:srgbClr val="0F2E2B"/>
            </a:solidFill>
            <a:ln w="14288">
              <a:solidFill>
                <a:srgbClr val="34D3C0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4762500" y="4495800"/>
              <a:ext cx="57150" cy="7429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023104" y="4671060"/>
              <a:ext cx="23587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Both must be fixed together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23676" y="4949904"/>
              <a:ext cx="541562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This paper argues that data quality and interpretability cannot be solved in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23676" y="5140404"/>
              <a:ext cx="708044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isolation.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18883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MOTIVATION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743053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LVLMs that reason, plus a wealth of game clues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09600" y="1504950"/>
            <a:ext cx="5334000" cy="1428750"/>
            <a:chOff x="609600" y="1504950"/>
            <a:chExt cx="533400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53340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733312"/>
              <a:ext cx="2849944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Why now, and why this approach?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966" y="2039302"/>
              <a:ext cx="30898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Two trends converge to make interpretable,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966" y="2239328"/>
              <a:ext cx="34525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knowledge-driven geo-localization newly feasible.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2533650"/>
              <a:ext cx="445770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00125" y="26289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4626" y="2616279"/>
              <a:ext cx="2875142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capable LVLMs + untapped human clues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086100"/>
            <a:ext cx="5334000" cy="2152650"/>
            <a:chOff x="609600" y="3086100"/>
            <a:chExt cx="5334000" cy="2152650"/>
          </a:xfrm>
        </p:grpSpPr>
        <p:sp>
          <p:nvSpPr>
            <p:cNvPr id="14" name="Rectangle 14"/>
            <p:cNvSpPr/>
            <p:nvPr/>
          </p:nvSpPr>
          <p:spPr>
            <a:xfrm>
              <a:off x="609600" y="3086100"/>
              <a:ext cx="5334000" cy="215265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" y="308610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0014" y="3314462"/>
              <a:ext cx="3176309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LVLMs fuse image + text, and reason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0966" y="3620452"/>
              <a:ext cx="38528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Large vision-language models can jointly process images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0966" y="3820478"/>
              <a:ext cx="3770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and text and follow step-by-step reasoning, and prior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966" y="4020502"/>
              <a:ext cx="38130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work shows a reasoning process makes language models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966" y="4220528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stronger.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76300" y="4629150"/>
              <a:ext cx="4800600" cy="381000"/>
            </a:xfrm>
            <a:prstGeom prst="roundRect">
              <a:avLst>
                <a:gd name="adj" fmla="val 20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72429" y="4767501"/>
              <a:ext cx="300834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1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image + text + reasoning -&gt; stronger model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172200" y="1504950"/>
            <a:ext cx="5410200" cy="1828800"/>
            <a:chOff x="6172200" y="1504950"/>
            <a:chExt cx="5410200" cy="1828800"/>
          </a:xfrm>
        </p:grpSpPr>
        <p:sp>
          <p:nvSpPr>
            <p:cNvPr id="24" name="Rectangle 24"/>
            <p:cNvSpPr/>
            <p:nvPr/>
          </p:nvSpPr>
          <p:spPr>
            <a:xfrm>
              <a:off x="6172200" y="1504950"/>
              <a:ext cx="5410200" cy="1828800"/>
            </a:xfrm>
            <a:prstGeom prst="roundRect">
              <a:avLst>
                <a:gd name="adj" fmla="val 7292"/>
              </a:avLst>
            </a:prstGeom>
            <a:solidFill>
              <a:srgbClr val="2A2417"/>
            </a:solidFill>
            <a:ln w="14288">
              <a:solidFill>
                <a:srgbClr val="F2C14E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72200" y="1504950"/>
              <a:ext cx="57150" cy="18288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32614" y="1733312"/>
              <a:ext cx="2200632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A huge untapped resource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33566" y="2039302"/>
              <a:ext cx="37186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Communities behind geo-localization games have spent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566" y="2239328"/>
              <a:ext cx="37776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years assembling textual clues that pinpoint countries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566" y="2439352"/>
              <a:ext cx="2569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and cities from subtle visual details.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38900" y="2914650"/>
              <a:ext cx="487680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562725" y="3009900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57226" y="2997279"/>
              <a:ext cx="3679328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GeoGuessr + Tuxun -&gt; human inference knowledge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72200" y="3486150"/>
            <a:ext cx="5410200" cy="1752600"/>
            <a:chOff x="6172200" y="3486150"/>
            <a:chExt cx="5410200" cy="1752600"/>
          </a:xfrm>
        </p:grpSpPr>
        <p:sp>
          <p:nvSpPr>
            <p:cNvPr id="34" name="Rectangle 34"/>
            <p:cNvSpPr/>
            <p:nvPr/>
          </p:nvSpPr>
          <p:spPr>
            <a:xfrm>
              <a:off x="6172200" y="3486150"/>
              <a:ext cx="5410200" cy="1752600"/>
            </a:xfrm>
            <a:prstGeom prst="roundRect">
              <a:avLst>
                <a:gd name="adj" fmla="val 7609"/>
              </a:avLst>
            </a:prstGeom>
            <a:solidFill>
              <a:srgbClr val="0F2E2B"/>
            </a:solidFill>
            <a:ln w="14288">
              <a:solidFill>
                <a:srgbClr val="48C78E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172200" y="3486150"/>
              <a:ext cx="57150" cy="17526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32804" y="3718560"/>
              <a:ext cx="2426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The insight: harvest and pair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33566" y="4020502"/>
              <a:ext cx="39166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Harvest that human inference knowledge and pair it with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33566" y="4220528"/>
              <a:ext cx="38130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high-quality street views, so the model learns not just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33566" y="4420552"/>
              <a:ext cx="25408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 guess a location but to justify it.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756" y="4919901"/>
              <a:ext cx="200899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b="1" dirty="0">
                  <a:solidFill>
                    <a:srgbClr val="48C78E"/>
                  </a:solidFill>
                  <a:latin typeface="Consolas"/>
                  <a:ea typeface="Consolas"/>
                  <a:cs typeface="Consolas"/>
                </a:rPr>
                <a:t>guess a location -&gt; justify it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39286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CONTRIBUTION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545602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One paradigm, three contributions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09600" y="1714500"/>
            <a:ext cx="2590800" cy="3543300"/>
            <a:chOff x="609600" y="1714500"/>
            <a:chExt cx="2590800" cy="3543300"/>
          </a:xfrm>
        </p:grpSpPr>
        <p:sp>
          <p:nvSpPr>
            <p:cNvPr id="5" name="Rectangle 5"/>
            <p:cNvSpPr/>
            <p:nvPr/>
          </p:nvSpPr>
          <p:spPr>
            <a:xfrm>
              <a:off x="609600" y="1714500"/>
              <a:ext cx="2590800" cy="3543300"/>
            </a:xfrm>
            <a:prstGeom prst="roundRect">
              <a:avLst>
                <a:gd name="adj" fmla="val 514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714500"/>
              <a:ext cx="25908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2095500"/>
              <a:ext cx="495300" cy="495300"/>
            </a:xfrm>
            <a:prstGeom prst="ellipse">
              <a:avLst/>
            </a:prstGeom>
            <a:noFill/>
            <a:ln w="23812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6737" y="22250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532" y="2849166"/>
              <a:ext cx="528317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532" y="3096816"/>
              <a:ext cx="1244714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contributions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866" y="3487102"/>
              <a:ext cx="2133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GeoReasoner brings together 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866" y="3696652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new paradigm, a new metric,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866" y="390620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and a new interpretable model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866" y="4115752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for street-view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866" y="4325302"/>
              <a:ext cx="11909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geo-localization.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429000" y="1714500"/>
            <a:ext cx="2590800" cy="3543300"/>
            <a:chOff x="3429000" y="1714500"/>
            <a:chExt cx="2590800" cy="3543300"/>
          </a:xfrm>
        </p:grpSpPr>
        <p:sp>
          <p:nvSpPr>
            <p:cNvPr id="17" name="Rectangle 17"/>
            <p:cNvSpPr/>
            <p:nvPr/>
          </p:nvSpPr>
          <p:spPr>
            <a:xfrm>
              <a:off x="3429000" y="1714500"/>
              <a:ext cx="2590800" cy="3543300"/>
            </a:xfrm>
            <a:prstGeom prst="roundRect">
              <a:avLst>
                <a:gd name="adj" fmla="val 514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429000" y="1714500"/>
              <a:ext cx="2590800" cy="571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657600" y="2095500"/>
              <a:ext cx="495300" cy="495300"/>
            </a:xfrm>
            <a:prstGeom prst="ellipse">
              <a:avLst/>
            </a:prstGeom>
            <a:noFill/>
            <a:ln w="23812">
              <a:solidFill>
                <a:srgbClr val="F2C14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22177" y="2225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50932" y="2849166"/>
              <a:ext cx="1852805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New paradigm: LVLM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50932" y="3096816"/>
              <a:ext cx="1235456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human clues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52266" y="3487102"/>
              <a:ext cx="12308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Leverages a large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52266" y="3696652"/>
              <a:ext cx="2159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vision-language model together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52266" y="3906202"/>
              <a:ext cx="21097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with external human reasoning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52266" y="411575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knowledge learned from online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52266" y="4325302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games, enabling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52266" y="4534852"/>
              <a:ext cx="14595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geo-localization with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52266" y="4744402"/>
              <a:ext cx="872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explanation.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48400" y="1714500"/>
            <a:ext cx="2590800" cy="3543300"/>
            <a:chOff x="6248400" y="1714500"/>
            <a:chExt cx="2590800" cy="3543300"/>
          </a:xfrm>
        </p:grpSpPr>
        <p:sp>
          <p:nvSpPr>
            <p:cNvPr id="31" name="Rectangle 31"/>
            <p:cNvSpPr/>
            <p:nvPr/>
          </p:nvSpPr>
          <p:spPr>
            <a:xfrm>
              <a:off x="6248400" y="1714500"/>
              <a:ext cx="2590800" cy="3543300"/>
            </a:xfrm>
            <a:prstGeom prst="roundRect">
              <a:avLst>
                <a:gd name="adj" fmla="val 514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48400" y="1714500"/>
              <a:ext cx="2590800" cy="571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477000" y="2095500"/>
              <a:ext cx="495300" cy="495300"/>
            </a:xfrm>
            <a:prstGeom prst="ellipse">
              <a:avLst/>
            </a:prstGeom>
            <a:noFill/>
            <a:ln w="23812">
              <a:solidFill>
                <a:srgbClr val="34D3C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41577" y="2225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0332" y="2849166"/>
              <a:ext cx="110168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Locatability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70332" y="3096816"/>
              <a:ext cx="615137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metric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71666" y="3487102"/>
              <a:ext cx="15982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Defines locatability - 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71666" y="3696652"/>
              <a:ext cx="1841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metric for how findable an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1666" y="3906202"/>
              <a:ext cx="1699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image's location is - and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1666" y="4115752"/>
              <a:ext cx="2143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builds a CLIP-based network to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1666" y="4325302"/>
              <a:ext cx="1925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compute it and curate clean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71666" y="453485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data.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067800" y="1714500"/>
            <a:ext cx="2590800" cy="3543300"/>
            <a:chOff x="9067800" y="1714500"/>
            <a:chExt cx="2590800" cy="3543300"/>
          </a:xfrm>
        </p:grpSpPr>
        <p:sp>
          <p:nvSpPr>
            <p:cNvPr id="44" name="Rectangle 44"/>
            <p:cNvSpPr/>
            <p:nvPr/>
          </p:nvSpPr>
          <p:spPr>
            <a:xfrm>
              <a:off x="9067800" y="1714500"/>
              <a:ext cx="2590800" cy="3543300"/>
            </a:xfrm>
            <a:prstGeom prst="roundRect">
              <a:avLst>
                <a:gd name="adj" fmla="val 514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9067800" y="1714500"/>
              <a:ext cx="2590800" cy="571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9296400" y="2095500"/>
              <a:ext cx="495300" cy="495300"/>
            </a:xfrm>
            <a:prstGeom prst="ellipse">
              <a:avLst/>
            </a:prstGeom>
            <a:noFill/>
            <a:ln w="23812">
              <a:solidFill>
                <a:srgbClr val="48C78E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60977" y="2225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9732" y="2849166"/>
              <a:ext cx="1700979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GeoReasoner model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91066" y="3239452"/>
              <a:ext cx="21092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Delivers GeoReasoner itself: a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91066" y="3449002"/>
              <a:ext cx="1770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model that beats existing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91066" y="3658552"/>
              <a:ext cx="21167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geo-localization systems while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91066" y="3868102"/>
              <a:ext cx="18977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offering detailed reasoning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91066" y="4077652"/>
              <a:ext cx="1501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for every prediction.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603694" y="5456158"/>
            <a:ext cx="7892946" cy="227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60" b="1" dirty="0">
                <a:solidFill>
                  <a:srgbClr val="34D3C0"/>
                </a:solidFill>
                <a:latin typeface="+mn-lt"/>
                <a:ea typeface="+mn-ea"/>
                <a:cs typeface="+mn-cs"/>
              </a:rPr>
              <a:t>Pair an LVLM with human reasoning knowledge, quantify locatability, and explain every prediction.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7640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METHOD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81438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Curate locatable data, then fine-tune in two stages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09600" y="1504950"/>
            <a:ext cx="5334000" cy="1600200"/>
            <a:chOff x="609600" y="1504950"/>
            <a:chExt cx="5334000" cy="16002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5334000" cy="16002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1600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204" y="1718310"/>
              <a:ext cx="2375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Step 1: a locatability metric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1156" y="1967151"/>
              <a:ext cx="419371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MaskFormer segments each street view into semantic classes,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1156" y="2148126"/>
              <a:ext cx="272961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producing a vector of class-area ratios.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1538" y="2402443"/>
              <a:ext cx="1816787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MaskFormer class-area ratios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1538" y="2543889"/>
              <a:ext cx="417111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building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638300" y="2552700"/>
              <a:ext cx="2095500" cy="85725"/>
            </a:xfrm>
            <a:prstGeom prst="roundRect">
              <a:avLst>
                <a:gd name="adj" fmla="val 33333"/>
              </a:avLst>
            </a:prstGeom>
            <a:solidFill>
              <a:srgbClr val="0E2334"/>
            </a:solidFill>
            <a:ln w="7620">
              <a:solidFill>
                <a:srgbClr val="26455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638300" y="2552700"/>
              <a:ext cx="1508760" cy="85725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538" y="2667714"/>
              <a:ext cx="193776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sky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638300" y="2676525"/>
              <a:ext cx="2095500" cy="85725"/>
            </a:xfrm>
            <a:prstGeom prst="roundRect">
              <a:avLst>
                <a:gd name="adj" fmla="val 33333"/>
              </a:avLst>
            </a:prstGeom>
            <a:solidFill>
              <a:srgbClr val="0E2334"/>
            </a:solidFill>
            <a:ln w="7620">
              <a:solidFill>
                <a:srgbClr val="26455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638300" y="2676525"/>
              <a:ext cx="1152525" cy="85725"/>
            </a:xfrm>
            <a:prstGeom prst="roundRect">
              <a:avLst>
                <a:gd name="adj" fmla="val 33333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1538" y="2791539"/>
              <a:ext cx="255193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road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638300" y="2800350"/>
              <a:ext cx="2095500" cy="85725"/>
            </a:xfrm>
            <a:prstGeom prst="roundRect">
              <a:avLst>
                <a:gd name="adj" fmla="val 33333"/>
              </a:avLst>
            </a:prstGeom>
            <a:solidFill>
              <a:srgbClr val="0E2334"/>
            </a:solidFill>
            <a:ln w="7620">
              <a:solidFill>
                <a:srgbClr val="26455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38300" y="2800350"/>
              <a:ext cx="838200" cy="85725"/>
            </a:xfrm>
            <a:prstGeom prst="roundRect">
              <a:avLst>
                <a:gd name="adj" fmla="val 33333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1538" y="2915364"/>
              <a:ext cx="383610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vehicle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638300" y="2924175"/>
              <a:ext cx="2095500" cy="85725"/>
            </a:xfrm>
            <a:prstGeom prst="roundRect">
              <a:avLst>
                <a:gd name="adj" fmla="val 33333"/>
              </a:avLst>
            </a:prstGeom>
            <a:solidFill>
              <a:srgbClr val="0E2334"/>
            </a:solidFill>
            <a:ln w="7620">
              <a:solidFill>
                <a:srgbClr val="26455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638300" y="2924175"/>
              <a:ext cx="628650" cy="85725"/>
            </a:xfrm>
            <a:prstGeom prst="roundRect">
              <a:avLst>
                <a:gd name="adj" fmla="val 33333"/>
              </a:avLst>
            </a:prstGeom>
            <a:solidFill>
              <a:srgbClr val="F2C14E"/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248400" y="1504950"/>
            <a:ext cx="5334000" cy="1600200"/>
            <a:chOff x="6248400" y="1504950"/>
            <a:chExt cx="5334000" cy="1600200"/>
          </a:xfrm>
        </p:grpSpPr>
        <p:sp>
          <p:nvSpPr>
            <p:cNvPr id="24" name="Rectangle 24"/>
            <p:cNvSpPr/>
            <p:nvPr/>
          </p:nvSpPr>
          <p:spPr>
            <a:xfrm>
              <a:off x="6248400" y="1504950"/>
              <a:ext cx="5334000" cy="1600200"/>
            </a:xfrm>
            <a:prstGeom prst="roundRect">
              <a:avLst>
                <a:gd name="adj" fmla="val 8333"/>
              </a:avLst>
            </a:prstGeom>
            <a:solidFill>
              <a:srgbClr val="2A2417"/>
            </a:solidFill>
            <a:ln w="14288">
              <a:solidFill>
                <a:srgbClr val="F2C14E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48400" y="1504950"/>
              <a:ext cx="57150" cy="16002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09004" y="1718310"/>
              <a:ext cx="2978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Step 2: weight classes by relevance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09956" y="1986201"/>
              <a:ext cx="390181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Sentence-BERT measures how relevant each class is to the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09956" y="2167176"/>
              <a:ext cx="412326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textual clues mined from geo-games, producing an importance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09956" y="2348151"/>
              <a:ext cx="142433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 vector w_loc.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15100" y="2724150"/>
              <a:ext cx="4800600" cy="285750"/>
            </a:xfrm>
            <a:prstGeom prst="roundRect">
              <a:avLst>
                <a:gd name="adj" fmla="val 26667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7917" y="2822972"/>
              <a:ext cx="2574966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Sentence-BERT( class, clues ) -&gt; w_loc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09600" y="3276600"/>
            <a:ext cx="6972300" cy="1962150"/>
            <a:chOff x="609600" y="3276600"/>
            <a:chExt cx="6972300" cy="1962150"/>
          </a:xfrm>
        </p:grpSpPr>
        <p:sp>
          <p:nvSpPr>
            <p:cNvPr id="33" name="Rectangle 33"/>
            <p:cNvSpPr/>
            <p:nvPr/>
          </p:nvSpPr>
          <p:spPr>
            <a:xfrm>
              <a:off x="609600" y="3276600"/>
              <a:ext cx="6972300" cy="1962150"/>
            </a:xfrm>
            <a:prstGeom prst="roundRect">
              <a:avLst>
                <a:gd name="adj" fmla="val 6796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9600" y="3276600"/>
              <a:ext cx="57150" cy="19621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0204" y="3470910"/>
              <a:ext cx="32564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The model: Qwen-VL + two LoRA stages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76300" y="3695700"/>
              <a:ext cx="6438900" cy="1504950"/>
            </a:xfrm>
            <a:prstGeom prst="roundRect">
              <a:avLst>
                <a:gd name="adj" fmla="val 6329"/>
              </a:avLst>
            </a:prstGeom>
            <a:solidFill>
              <a:srgbClr val="0E2334"/>
            </a:solidFill>
            <a:ln w="14288">
              <a:solidFill>
                <a:srgbClr val="26455F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47750" y="3981450"/>
              <a:ext cx="819150" cy="552450"/>
            </a:xfrm>
            <a:prstGeom prst="roundRect">
              <a:avLst>
                <a:gd name="adj" fmla="val 13793"/>
              </a:avLst>
            </a:prstGeom>
            <a:solidFill>
              <a:srgbClr val="0E2334"/>
            </a:solidFill>
            <a:ln w="14288">
              <a:solidFill>
                <a:srgbClr val="26455F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95375" y="4029075"/>
              <a:ext cx="723900" cy="220980"/>
            </a:xfrm>
            <a:prstGeom prst="roundRect">
              <a:avLst>
                <a:gd name="adj" fmla="val 17241"/>
              </a:avLst>
            </a:prstGeom>
            <a:solidFill>
              <a:srgbClr val="1C3A54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129665" y="4169283"/>
              <a:ext cx="163830" cy="276225"/>
            </a:xfrm>
            <a:prstGeom prst="roundRect">
              <a:avLst>
                <a:gd name="adj" fmla="val 11628"/>
              </a:avLst>
            </a:prstGeom>
            <a:solidFill>
              <a:srgbClr val="24506E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326261" y="4102989"/>
              <a:ext cx="131064" cy="342519"/>
            </a:xfrm>
            <a:prstGeom prst="roundRect">
              <a:avLst>
                <a:gd name="adj" fmla="val 14535"/>
              </a:avLst>
            </a:prstGeom>
            <a:solidFill>
              <a:srgbClr val="2C5C8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637538" y="4191381"/>
              <a:ext cx="147447" cy="254127"/>
            </a:xfrm>
            <a:prstGeom prst="roundRect">
              <a:avLst>
                <a:gd name="adj" fmla="val 12920"/>
              </a:avLst>
            </a:prstGeom>
            <a:solidFill>
              <a:srgbClr val="24506E"/>
            </a:solidFill>
            <a:ln>
              <a:noFill/>
            </a:ln>
          </p:spPr>
        </p:sp>
        <p:sp>
          <p:nvSpPr>
            <p:cNvPr id="42" name="Polygon 42"/>
            <p:cNvSpPr/>
            <p:nvPr/>
          </p:nvSpPr>
          <p:spPr>
            <a:xfrm>
              <a:off x="1375410" y="4224338"/>
              <a:ext cx="163830" cy="252412"/>
            </a:xfrm>
            <a:custGeom>
              <a:avLst/>
              <a:gdLst/>
              <a:ahLst/>
              <a:cxnLst/>
              <a:rect l="l" t="t" r="r" b="b"/>
              <a:pathLst>
                <a:path w="163830" h="252412">
                  <a:moveTo>
                    <a:pt x="0" y="252412"/>
                  </a:moveTo>
                  <a:lnTo>
                    <a:pt x="163830" y="252412"/>
                  </a:lnTo>
                  <a:lnTo>
                    <a:pt x="122873" y="0"/>
                  </a:lnTo>
                  <a:lnTo>
                    <a:pt x="40957" y="0"/>
                  </a:lnTo>
                  <a:close/>
                </a:path>
              </a:pathLst>
            </a:custGeom>
            <a:solidFill>
              <a:srgbClr val="33597A"/>
            </a:solidFill>
            <a:ln>
              <a:noFill/>
            </a:ln>
          </p:spPr>
        </p:sp>
        <p:sp>
          <p:nvSpPr>
            <p:cNvPr id="43" name="Polygon 43"/>
            <p:cNvSpPr/>
            <p:nvPr/>
          </p:nvSpPr>
          <p:spPr>
            <a:xfrm>
              <a:off x="1515428" y="4197668"/>
              <a:ext cx="80010" cy="88583"/>
            </a:xfrm>
            <a:custGeom>
              <a:avLst/>
              <a:gdLst/>
              <a:ahLst/>
              <a:cxnLst/>
              <a:rect l="l" t="t" r="r" b="b"/>
              <a:pathLst>
                <a:path w="80010" h="88583">
                  <a:moveTo>
                    <a:pt x="0" y="0"/>
                  </a:moveTo>
                  <a:lnTo>
                    <a:pt x="80010" y="0"/>
                  </a:lnTo>
                  <a:lnTo>
                    <a:pt x="40005" y="88583"/>
                  </a:lnTo>
                  <a:close/>
                </a:path>
              </a:pathLst>
            </a:custGeom>
            <a:solidFill>
              <a:srgbClr val="48C78E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488948" y="4102608"/>
              <a:ext cx="133350" cy="13335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528953" y="4142613"/>
              <a:ext cx="53340" cy="5334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42988" y="3816191"/>
              <a:ext cx="6759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dirty="0">
                  <a:solidFill>
                    <a:srgbClr val="6E869C"/>
                  </a:solidFill>
                  <a:latin typeface="+mn-lt"/>
                  <a:ea typeface="+mn-ea"/>
                  <a:cs typeface="+mn-cs"/>
                </a:rPr>
                <a:t>street view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152650" y="3981450"/>
              <a:ext cx="1123950" cy="552450"/>
            </a:xfrm>
            <a:prstGeom prst="roundRect">
              <a:avLst>
                <a:gd name="adj" fmla="val 13793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522090" y="4118372"/>
              <a:ext cx="38507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Vision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452020" y="4280297"/>
              <a:ext cx="5252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Encoder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600450" y="3981450"/>
              <a:ext cx="1123950" cy="552450"/>
            </a:xfrm>
            <a:prstGeom prst="roundRect">
              <a:avLst>
                <a:gd name="adj" fmla="val 13793"/>
              </a:avLst>
            </a:prstGeom>
            <a:solidFill>
              <a:schemeClr val="accent6"/>
            </a:solidFill>
            <a:ln w="14288">
              <a:solidFill>
                <a:srgbClr val="34D3C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080448" y="4118372"/>
              <a:ext cx="16395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899820" y="4280297"/>
              <a:ext cx="5252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Adapter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048250" y="3981450"/>
              <a:ext cx="1123950" cy="552450"/>
            </a:xfrm>
            <a:prstGeom prst="roundRect">
              <a:avLst>
                <a:gd name="adj" fmla="val 13793"/>
              </a:avLst>
            </a:pr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217959" y="4118372"/>
              <a:ext cx="78453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Pre-trained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475601" y="4280297"/>
              <a:ext cx="26924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1885950" y="425767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 cap="rnd">
              <a:solidFill>
                <a:schemeClr val="dk2"/>
              </a:solidFill>
            </a:ln>
          </p:spPr>
        </p:sp>
        <p:sp>
          <p:nvSpPr>
            <p:cNvPr id="57" name="Polyline 57"/>
            <p:cNvSpPr/>
            <p:nvPr/>
          </p:nvSpPr>
          <p:spPr>
            <a:xfrm>
              <a:off x="2028825" y="4216718"/>
              <a:ext cx="85725" cy="81915"/>
            </a:xfrm>
            <a:custGeom>
              <a:avLst/>
              <a:gdLst/>
              <a:ahLst/>
              <a:cxnLst/>
              <a:rect l="l" t="t" r="r" b="b"/>
              <a:pathLst>
                <a:path w="85725" h="81915">
                  <a:moveTo>
                    <a:pt x="0" y="81915"/>
                  </a:moveTo>
                  <a:lnTo>
                    <a:pt x="85725" y="40958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dk2"/>
              </a:solidFill>
              <a:round/>
            </a:ln>
          </p:spPr>
        </p:sp>
        <p:sp>
          <p:nvSpPr>
            <p:cNvPr id="58" name="Line 58"/>
            <p:cNvSpPr/>
            <p:nvPr/>
          </p:nvSpPr>
          <p:spPr>
            <a:xfrm>
              <a:off x="3295650" y="42576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 cap="rnd">
              <a:solidFill>
                <a:schemeClr val="dk2"/>
              </a:solidFill>
            </a:ln>
          </p:spPr>
        </p:sp>
        <p:sp>
          <p:nvSpPr>
            <p:cNvPr id="59" name="Polyline 59"/>
            <p:cNvSpPr/>
            <p:nvPr/>
          </p:nvSpPr>
          <p:spPr>
            <a:xfrm>
              <a:off x="3476625" y="4216718"/>
              <a:ext cx="85725" cy="81915"/>
            </a:xfrm>
            <a:custGeom>
              <a:avLst/>
              <a:gdLst/>
              <a:ahLst/>
              <a:cxnLst/>
              <a:rect l="l" t="t" r="r" b="b"/>
              <a:pathLst>
                <a:path w="85725" h="81915">
                  <a:moveTo>
                    <a:pt x="0" y="81915"/>
                  </a:moveTo>
                  <a:lnTo>
                    <a:pt x="85725" y="40958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dk2"/>
              </a:solidFill>
              <a:round/>
            </a:ln>
          </p:spPr>
        </p:sp>
        <p:sp>
          <p:nvSpPr>
            <p:cNvPr id="60" name="Line 60"/>
            <p:cNvSpPr/>
            <p:nvPr/>
          </p:nvSpPr>
          <p:spPr>
            <a:xfrm>
              <a:off x="4743450" y="4257675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 cap="rnd">
              <a:solidFill>
                <a:schemeClr val="dk2"/>
              </a:solidFill>
            </a:ln>
          </p:spPr>
        </p:sp>
        <p:sp>
          <p:nvSpPr>
            <p:cNvPr id="61" name="Polyline 61"/>
            <p:cNvSpPr/>
            <p:nvPr/>
          </p:nvSpPr>
          <p:spPr>
            <a:xfrm>
              <a:off x="4924425" y="4216718"/>
              <a:ext cx="85725" cy="81915"/>
            </a:xfrm>
            <a:custGeom>
              <a:avLst/>
              <a:gdLst/>
              <a:ahLst/>
              <a:cxnLst/>
              <a:rect l="l" t="t" r="r" b="b"/>
              <a:pathLst>
                <a:path w="85725" h="81915">
                  <a:moveTo>
                    <a:pt x="0" y="81915"/>
                  </a:moveTo>
                  <a:lnTo>
                    <a:pt x="85725" y="40958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chemeClr val="dk2"/>
              </a:solidFill>
              <a:round/>
            </a:ln>
          </p:spPr>
        </p:sp>
        <p:sp>
          <p:nvSpPr>
            <p:cNvPr id="62" name="Line 62"/>
            <p:cNvSpPr/>
            <p:nvPr/>
          </p:nvSpPr>
          <p:spPr>
            <a:xfrm>
              <a:off x="6191250" y="4257675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 cap="rnd">
              <a:solidFill>
                <a:srgbClr val="48C78E"/>
              </a:solidFill>
            </a:ln>
          </p:spPr>
        </p:sp>
        <p:sp>
          <p:nvSpPr>
            <p:cNvPr id="63" name="Polyline 63"/>
            <p:cNvSpPr/>
            <p:nvPr/>
          </p:nvSpPr>
          <p:spPr>
            <a:xfrm>
              <a:off x="6334125" y="4216718"/>
              <a:ext cx="85725" cy="81915"/>
            </a:xfrm>
            <a:custGeom>
              <a:avLst/>
              <a:gdLst/>
              <a:ahLst/>
              <a:cxnLst/>
              <a:rect l="l" t="t" r="r" b="b"/>
              <a:pathLst>
                <a:path w="85725" h="81915">
                  <a:moveTo>
                    <a:pt x="0" y="81915"/>
                  </a:moveTo>
                  <a:lnTo>
                    <a:pt x="85725" y="40958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48C78E"/>
              </a:solidFill>
              <a:round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453188" y="4204097"/>
              <a:ext cx="104591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4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reasoning + city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152650" y="4705350"/>
              <a:ext cx="2381250" cy="419100"/>
            </a:xfrm>
            <a:prstGeom prst="roundRect">
              <a:avLst>
                <a:gd name="adj" fmla="val 18182"/>
              </a:avLst>
            </a:prstGeom>
            <a:solidFill>
              <a:srgbClr val="2A2417"/>
            </a:solidFill>
            <a:ln w="11430">
              <a:solidFill>
                <a:srgbClr val="F2C14E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281238" y="4783693"/>
              <a:ext cx="1854456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Stage 1 LoRA: Reasoning tuning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2281238" y="4953714"/>
              <a:ext cx="1621868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3K game clue pairs -&gt; country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686300" y="4705350"/>
              <a:ext cx="2381250" cy="419100"/>
            </a:xfrm>
            <a:prstGeom prst="roundRect">
              <a:avLst>
                <a:gd name="adj" fmla="val 18182"/>
              </a:avLst>
            </a:prstGeom>
            <a:solidFill>
              <a:srgbClr val="0F2E2B"/>
            </a:solidFill>
            <a:ln w="11430">
              <a:solidFill>
                <a:srgbClr val="48C78E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814888" y="4783693"/>
              <a:ext cx="1787709" cy="1690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6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Stage 2 LoRA: Location tuning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814888" y="4953714"/>
              <a:ext cx="1343067" cy="154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9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70K street views -&gt; city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810500" y="3276600"/>
            <a:ext cx="3771900" cy="1962150"/>
            <a:chOff x="7810500" y="3276600"/>
            <a:chExt cx="3771900" cy="1962150"/>
          </a:xfrm>
        </p:grpSpPr>
        <p:sp>
          <p:nvSpPr>
            <p:cNvPr id="72" name="Rectangle 72"/>
            <p:cNvSpPr/>
            <p:nvPr/>
          </p:nvSpPr>
          <p:spPr>
            <a:xfrm>
              <a:off x="7810500" y="3276600"/>
              <a:ext cx="3771900" cy="1962150"/>
            </a:xfrm>
            <a:prstGeom prst="roundRect">
              <a:avLst>
                <a:gd name="adj" fmla="val 6796"/>
              </a:avLst>
            </a:prstGeom>
            <a:solidFill>
              <a:srgbClr val="0F2E2B"/>
            </a:solidFill>
            <a:ln w="14288">
              <a:solidFill>
                <a:srgbClr val="34D3C0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7810500" y="3276600"/>
              <a:ext cx="57150" cy="19621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070914" y="3466862"/>
              <a:ext cx="2384612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Locatability = weighted sum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077200" y="3790950"/>
              <a:ext cx="3505200" cy="361950"/>
            </a:xfrm>
            <a:prstGeom prst="roundRect">
              <a:avLst>
                <a:gd name="adj" fmla="val 21053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789407" y="3923824"/>
              <a:ext cx="20807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loc = sum_k I_seg(k) * w_k^loc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072247" y="4295299"/>
              <a:ext cx="279835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Keep images scoring above 0.4; this filters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072247" y="4476274"/>
              <a:ext cx="14693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130K raw down to 70K.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077200" y="4914900"/>
              <a:ext cx="2857500" cy="171450"/>
            </a:xfrm>
            <a:prstGeom prst="roundRect">
              <a:avLst>
                <a:gd name="adj" fmla="val 33333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8077200" y="4914900"/>
              <a:ext cx="1771650" cy="171450"/>
            </a:xfrm>
            <a:prstGeom prst="roundRect">
              <a:avLst>
                <a:gd name="adj" fmla="val 33333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81" name="Line 81"/>
            <p:cNvSpPr/>
            <p:nvPr/>
          </p:nvSpPr>
          <p:spPr>
            <a:xfrm>
              <a:off x="9220200" y="4857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5240" cap="rnd">
              <a:solidFill>
                <a:srgbClr val="F2C14E"/>
              </a:solidFill>
              <a:custDash>
                <a:ds d="250000" sp="187500"/>
              </a:custDash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830044" y="4730591"/>
              <a:ext cx="7803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threshold 0.4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005947" y="4948714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0.62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21906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DATASET / BENCHMARK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763001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Built from scratch: 130K street views + 3K clues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09600" y="1504950"/>
            <a:ext cx="10972800" cy="914400"/>
            <a:chOff x="609600" y="1504950"/>
            <a:chExt cx="10972800" cy="91440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10972800" cy="914400"/>
            </a:xfrm>
            <a:prstGeom prst="roundRect">
              <a:avLst>
                <a:gd name="adj" fmla="val 1458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714262"/>
              <a:ext cx="436705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Sampled from OpenStreetMap + Google Street View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966" y="2020252"/>
              <a:ext cx="51537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Sample points every 4000 m across top global cities, collecting geo-tagged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966" y="2210752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street views.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334500" y="1600200"/>
              <a:ext cx="1047750" cy="723900"/>
            </a:xfrm>
            <a:prstGeom prst="roundRect">
              <a:avLst>
                <a:gd name="adj" fmla="val 1578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97708" y="1767421"/>
              <a:ext cx="321333" cy="3790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67595" y="2078117"/>
              <a:ext cx="38156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cities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0" y="1600200"/>
              <a:ext cx="1047750" cy="723900"/>
            </a:xfrm>
            <a:prstGeom prst="roundRect">
              <a:avLst>
                <a:gd name="adj" fmla="val 1578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40708" y="1767421"/>
              <a:ext cx="321333" cy="3790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84368" y="2078117"/>
              <a:ext cx="63401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countries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2571750"/>
            <a:ext cx="5334000" cy="1447800"/>
            <a:chOff x="609600" y="2571750"/>
            <a:chExt cx="5334000" cy="1447800"/>
          </a:xfrm>
        </p:grpSpPr>
        <p:sp>
          <p:nvSpPr>
            <p:cNvPr id="17" name="Rectangle 17"/>
            <p:cNvSpPr/>
            <p:nvPr/>
          </p:nvSpPr>
          <p:spPr>
            <a:xfrm>
              <a:off x="609600" y="2571750"/>
              <a:ext cx="5334000" cy="1447800"/>
            </a:xfrm>
            <a:prstGeom prst="roundRect">
              <a:avLst>
                <a:gd name="adj" fmla="val 9211"/>
              </a:avLst>
            </a:prstGeom>
            <a:solidFill>
              <a:srgbClr val="0F2E2B"/>
            </a:solidFill>
            <a:ln w="14288">
              <a:solidFill>
                <a:srgbClr val="48C78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257175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0014" y="2781062"/>
              <a:ext cx="213061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Filter at locatability 0.4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156" y="3091101"/>
              <a:ext cx="325480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Applying the locatability filter yields roughly 70K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1156" y="3281601"/>
              <a:ext cx="136315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high-quality images.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76300" y="3505200"/>
              <a:ext cx="2247900" cy="381000"/>
            </a:xfrm>
            <a:prstGeom prst="roundRect">
              <a:avLst>
                <a:gd name="adj" fmla="val 30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85602" y="3593211"/>
              <a:ext cx="429296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130K+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00281" y="3708797"/>
              <a:ext cx="99993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raw GSV images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30118" y="3574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-&gt;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619500" y="3505200"/>
              <a:ext cx="2247900" cy="381000"/>
            </a:xfrm>
            <a:prstGeom prst="roundRect">
              <a:avLst>
                <a:gd name="adj" fmla="val 30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70695" y="3593211"/>
              <a:ext cx="345509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2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~70K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00564" y="3708797"/>
              <a:ext cx="1085772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high-locatability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48400" y="2571750"/>
            <a:ext cx="5334000" cy="1447800"/>
            <a:chOff x="6248400" y="2571750"/>
            <a:chExt cx="5334000" cy="1447800"/>
          </a:xfrm>
        </p:grpSpPr>
        <p:sp>
          <p:nvSpPr>
            <p:cNvPr id="30" name="Rectangle 30"/>
            <p:cNvSpPr/>
            <p:nvPr/>
          </p:nvSpPr>
          <p:spPr>
            <a:xfrm>
              <a:off x="6248400" y="2571750"/>
              <a:ext cx="5334000" cy="1447800"/>
            </a:xfrm>
            <a:prstGeom prst="roundRect">
              <a:avLst>
                <a:gd name="adj" fmla="val 9211"/>
              </a:avLst>
            </a:prstGeom>
            <a:solidFill>
              <a:srgbClr val="2A2417"/>
            </a:solidFill>
            <a:ln w="14288">
              <a:solidFill>
                <a:srgbClr val="F2C14E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2571750"/>
              <a:ext cx="57150" cy="14478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08814" y="2781062"/>
              <a:ext cx="2533963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3K reasoned text-image clues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09956" y="3091101"/>
              <a:ext cx="386826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Scrape 3K+ textual clues from two geo-games, clean them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09956" y="3281601"/>
              <a:ext cx="387023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with a BERT-based entity recognizer, and pair each with 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09956" y="3472101"/>
              <a:ext cx="86687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street view.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15100" y="3733800"/>
              <a:ext cx="4800600" cy="247650"/>
            </a:xfrm>
            <a:prstGeom prst="roundRect">
              <a:avLst>
                <a:gd name="adj" fmla="val 30769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638925" y="3810000"/>
              <a:ext cx="95250" cy="9525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33426" y="3797379"/>
              <a:ext cx="2887576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GeoGuessr + Tuxun · BERT-NER cleaned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9600" y="4171950"/>
            <a:ext cx="10972800" cy="1066800"/>
            <a:chOff x="609600" y="4171950"/>
            <a:chExt cx="10972800" cy="1066800"/>
          </a:xfrm>
        </p:grpSpPr>
        <p:sp>
          <p:nvSpPr>
            <p:cNvPr id="40" name="Rectangle 40"/>
            <p:cNvSpPr/>
            <p:nvPr/>
          </p:nvSpPr>
          <p:spPr>
            <a:xfrm>
              <a:off x="609600" y="4171950"/>
              <a:ext cx="10972800" cy="1066800"/>
            </a:xfrm>
            <a:prstGeom prst="roundRect">
              <a:avLst>
                <a:gd name="adj" fmla="val 12500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9600" y="4171950"/>
              <a:ext cx="57150" cy="10668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70204" y="4385310"/>
              <a:ext cx="3631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Evaluation: held-out set + open benchmarks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0966" y="4687252"/>
              <a:ext cx="570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held-out set of 1K images measures country/city accuracy; the open Im2GPS and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70966" y="4896802"/>
              <a:ext cx="33915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Im2GPS3k Flickr benchmarks test generalization.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334500" y="4305300"/>
              <a:ext cx="2190750" cy="800100"/>
            </a:xfrm>
            <a:prstGeom prst="roundRect">
              <a:avLst>
                <a:gd name="adj" fmla="val 14286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905187" y="4490123"/>
              <a:ext cx="1049376" cy="4189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Im2GPS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66614" y="4844177"/>
              <a:ext cx="72652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+ Im2GPS3k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1302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KEY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798687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Beats VLMs by wide margins, rivals a 15x specialist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09600" y="1504950"/>
            <a:ext cx="10972800" cy="1047750"/>
            <a:chOff x="609600" y="1504950"/>
            <a:chExt cx="10972800" cy="104775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10972800" cy="1047750"/>
            </a:xfrm>
            <a:prstGeom prst="roundRect">
              <a:avLst>
                <a:gd name="adj" fmla="val 12727"/>
              </a:avLst>
            </a:prstGeom>
            <a:solidFill>
              <a:srgbClr val="0F2E2B"/>
            </a:solidFill>
            <a:ln w="14288">
              <a:solidFill>
                <a:srgbClr val="48C78E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10477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733312"/>
              <a:ext cx="2568174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The headline result is decisive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966" y="2039302"/>
              <a:ext cx="52014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State-of-the-art F1 at both country and city level, with a fraction of the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966" y="2229802"/>
              <a:ext cx="993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training data.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0" y="1619250"/>
              <a:ext cx="2247900" cy="800100"/>
            </a:xfrm>
            <a:prstGeom prst="roundRect">
              <a:avLst>
                <a:gd name="adj" fmla="val 14286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38328" y="1804073"/>
              <a:ext cx="687243" cy="4189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4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0.90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5936" y="2158127"/>
              <a:ext cx="71202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country F1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239250" y="1619250"/>
              <a:ext cx="2343150" cy="800100"/>
            </a:xfrm>
            <a:prstGeom prst="roundRect">
              <a:avLst>
                <a:gd name="adj" fmla="val 14286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67203" y="1804073"/>
              <a:ext cx="687243" cy="4189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0.86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180986" y="2158127"/>
              <a:ext cx="459678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city F1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2705100"/>
            <a:ext cx="5334000" cy="2514600"/>
            <a:chOff x="609600" y="2705100"/>
            <a:chExt cx="5334000" cy="2514600"/>
          </a:xfrm>
        </p:grpSpPr>
        <p:sp>
          <p:nvSpPr>
            <p:cNvPr id="17" name="Rectangle 17"/>
            <p:cNvSpPr/>
            <p:nvPr/>
          </p:nvSpPr>
          <p:spPr>
            <a:xfrm>
              <a:off x="609600" y="2705100"/>
              <a:ext cx="5334000" cy="2514600"/>
            </a:xfrm>
            <a:prstGeom prst="roundRect">
              <a:avLst>
                <a:gd name="adj" fmla="val 530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2705100"/>
              <a:ext cx="57150" cy="25146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0204" y="2918460"/>
              <a:ext cx="29251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F1: beats Qwen-VL by +25% / +39%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156" y="3205401"/>
              <a:ext cx="4060577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Against the strongest comparable VLM, GeoReasoner lifts F1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1156" y="3395901"/>
              <a:ext cx="996042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at both levels.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857500" y="3848100"/>
              <a:ext cx="2286000" cy="228600"/>
            </a:xfrm>
            <a:prstGeom prst="roundRect">
              <a:avLst>
                <a:gd name="adj" fmla="val 25000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857500" y="3848100"/>
              <a:ext cx="1638300" cy="228600"/>
            </a:xfrm>
            <a:prstGeom prst="roundRect">
              <a:avLst>
                <a:gd name="adj" fmla="val 25000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74865" y="3913823"/>
              <a:ext cx="12736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Qwen-VL country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85716" y="39138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0.72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57500" y="4191000"/>
              <a:ext cx="2286000" cy="228600"/>
            </a:xfrm>
            <a:prstGeom prst="roundRect">
              <a:avLst>
                <a:gd name="adj" fmla="val 25000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857500" y="4191000"/>
              <a:ext cx="2057400" cy="228600"/>
            </a:xfrm>
            <a:prstGeom prst="roundRect">
              <a:avLst>
                <a:gd name="adj" fmla="val 25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59310" y="4256722"/>
              <a:ext cx="1289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GeoReasoner ctry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04816" y="425672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0.90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857500" y="4572000"/>
              <a:ext cx="2286000" cy="228600"/>
            </a:xfrm>
            <a:prstGeom prst="roundRect">
              <a:avLst>
                <a:gd name="adj" fmla="val 25000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857500" y="4572000"/>
              <a:ext cx="1209675" cy="228600"/>
            </a:xfrm>
            <a:prstGeom prst="roundRect">
              <a:avLst>
                <a:gd name="adj" fmla="val 25000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56763" y="4637722"/>
              <a:ext cx="991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Qwen-VL city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57091" y="463772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0.53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857500" y="4914900"/>
              <a:ext cx="2286000" cy="228600"/>
            </a:xfrm>
            <a:prstGeom prst="roundRect">
              <a:avLst>
                <a:gd name="adj" fmla="val 25000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857500" y="4914900"/>
              <a:ext cx="1962150" cy="228600"/>
            </a:xfrm>
            <a:prstGeom prst="roundRect">
              <a:avLst>
                <a:gd name="adj" fmla="val 25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496695" y="4980622"/>
              <a:ext cx="1251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GeoReasoner city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09566" y="498062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0.86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48400" y="2705100"/>
            <a:ext cx="5334000" cy="1143000"/>
            <a:chOff x="6248400" y="2705100"/>
            <a:chExt cx="5334000" cy="1143000"/>
          </a:xfrm>
        </p:grpSpPr>
        <p:sp>
          <p:nvSpPr>
            <p:cNvPr id="39" name="Rectangle 39"/>
            <p:cNvSpPr/>
            <p:nvPr/>
          </p:nvSpPr>
          <p:spPr>
            <a:xfrm>
              <a:off x="6248400" y="2705100"/>
              <a:ext cx="5334000" cy="1143000"/>
            </a:xfrm>
            <a:prstGeom prst="roundRect">
              <a:avLst>
                <a:gd name="adj" fmla="val 11667"/>
              </a:avLst>
            </a:prstGeom>
            <a:solidFill>
              <a:srgbClr val="2A2417"/>
            </a:solidFill>
            <a:ln w="14288">
              <a:solidFill>
                <a:srgbClr val="F2C14E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2705100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09004" y="2918460"/>
              <a:ext cx="3307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Edges out StreetCLIP - on 15x less data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09956" y="3224451"/>
              <a:ext cx="385439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Surpasses a geo-specialist trained on 1.1M street views.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10147" y="3628549"/>
              <a:ext cx="23560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2C14E"/>
                  </a:solidFill>
                  <a:latin typeface="Consolas"/>
                  <a:ea typeface="Consolas"/>
                  <a:cs typeface="Consolas"/>
                </a:rPr>
                <a:t>70K images vs 1.1M · and still wins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48400" y="4000500"/>
            <a:ext cx="5334000" cy="1227125"/>
            <a:chOff x="6248400" y="4000500"/>
            <a:chExt cx="5334000" cy="1227125"/>
          </a:xfrm>
        </p:grpSpPr>
        <p:sp>
          <p:nvSpPr>
            <p:cNvPr id="45" name="Rectangle 45"/>
            <p:cNvSpPr/>
            <p:nvPr/>
          </p:nvSpPr>
          <p:spPr>
            <a:xfrm>
              <a:off x="6248400" y="4000500"/>
              <a:ext cx="5334000" cy="1219200"/>
            </a:xfrm>
            <a:prstGeom prst="roundRect">
              <a:avLst>
                <a:gd name="adj" fmla="val 10938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400050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09194" y="4198858"/>
              <a:ext cx="3387116" cy="2273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6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More high-locatability data -&gt; higher acc.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09956" y="4481751"/>
              <a:ext cx="4081155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As the fraction of high-locatability images rises 0% -&gt; 100%,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09956" y="4662726"/>
              <a:ext cx="3939710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accuracy climbs steadily: quality, not quantity, drives the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09956" y="4843701"/>
              <a:ext cx="424984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gains.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10223" y="5039868"/>
              <a:ext cx="2411590" cy="187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60" b="1" dirty="0">
                  <a:solidFill>
                    <a:srgbClr val="34D3C0"/>
                  </a:solidFill>
                  <a:latin typeface="Consolas"/>
                  <a:ea typeface="Consolas"/>
                  <a:cs typeface="Consolas"/>
                </a:rPr>
                <a:t>country 0.63-&gt;0.72 city 0.47-&gt;0.51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5968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ABLATION STUDY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734839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Two fine-tuning stages, each pulling its weight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1504950"/>
            <a:ext cx="5334000" cy="1428750"/>
            <a:chOff x="609600" y="1504950"/>
            <a:chExt cx="533400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1504950"/>
              <a:ext cx="53340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049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733312"/>
              <a:ext cx="3076897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From baseline, add reasoning tuning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966" y="2039302"/>
              <a:ext cx="3601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Starting at the Qwen-VL baseline (0.72 / 0.53 F1),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966" y="2239328"/>
              <a:ext cx="39048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reasoning tuning alone lifts both levels modestly to 0.82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966" y="2439352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0.58.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2552700"/>
              <a:ext cx="4457700" cy="266700"/>
            </a:xfrm>
            <a:prstGeom prst="roundRect">
              <a:avLst>
                <a:gd name="adj" fmla="val 28571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00125" y="26384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94626" y="2625804"/>
              <a:ext cx="3300499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baseline 0.72/0.53 -&gt; +reasoning 0.82/0.58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086100"/>
            <a:ext cx="5334000" cy="2152650"/>
            <a:chOff x="609600" y="3086100"/>
            <a:chExt cx="5334000" cy="2152650"/>
          </a:xfrm>
        </p:grpSpPr>
        <p:sp>
          <p:nvSpPr>
            <p:cNvPr id="15" name="Rectangle 15"/>
            <p:cNvSpPr/>
            <p:nvPr/>
          </p:nvSpPr>
          <p:spPr>
            <a:xfrm>
              <a:off x="609600" y="3086100"/>
              <a:ext cx="5334000" cy="2152650"/>
            </a:xfrm>
            <a:prstGeom prst="roundRect">
              <a:avLst>
                <a:gd name="adj" fmla="val 6195"/>
              </a:avLst>
            </a:prstGeom>
            <a:solidFill>
              <a:srgbClr val="0F2E2B"/>
            </a:solidFill>
            <a:ln w="14288">
              <a:solidFill>
                <a:srgbClr val="48C78E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308610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70204" y="3318510"/>
              <a:ext cx="32745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Location tuning: the big city-level jump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0966" y="3620452"/>
              <a:ext cx="35489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Adding location tuning alone produces a much larger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966" y="3820478"/>
              <a:ext cx="32829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jump, especially at the fine-grained city level -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966" y="4020502"/>
              <a:ext cx="22228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essential for pinpointing cities.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048000" y="4495800"/>
              <a:ext cx="2095500" cy="228600"/>
            </a:xfrm>
            <a:prstGeom prst="roundRect">
              <a:avLst>
                <a:gd name="adj" fmla="val 25000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048000" y="4495800"/>
              <a:ext cx="1104900" cy="228600"/>
            </a:xfrm>
            <a:prstGeom prst="roundRect">
              <a:avLst>
                <a:gd name="adj" fmla="val 25000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015592" y="4561522"/>
              <a:ext cx="923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baseline city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42816" y="456152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0.53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048000" y="4819650"/>
              <a:ext cx="2095500" cy="228600"/>
            </a:xfrm>
            <a:prstGeom prst="roundRect">
              <a:avLst>
                <a:gd name="adj" fmla="val 25000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048000" y="4819650"/>
              <a:ext cx="1733550" cy="228600"/>
            </a:xfrm>
            <a:prstGeom prst="roundRect">
              <a:avLst>
                <a:gd name="adj" fmla="val 25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33962" y="4885372"/>
              <a:ext cx="1005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+location city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71466" y="488537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0.83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48400" y="1504950"/>
            <a:ext cx="5334000" cy="1428750"/>
            <a:chOff x="6248400" y="1504950"/>
            <a:chExt cx="5334000" cy="1428750"/>
          </a:xfrm>
        </p:grpSpPr>
        <p:sp>
          <p:nvSpPr>
            <p:cNvPr id="30" name="Rectangle 30"/>
            <p:cNvSpPr/>
            <p:nvPr/>
          </p:nvSpPr>
          <p:spPr>
            <a:xfrm>
              <a:off x="6248400" y="1504950"/>
              <a:ext cx="5334000" cy="1428750"/>
            </a:xfrm>
            <a:prstGeom prst="roundRect">
              <a:avLst>
                <a:gd name="adj" fmla="val 9333"/>
              </a:avLst>
            </a:prstGeom>
            <a:solidFill>
              <a:srgbClr val="2A2417"/>
            </a:solidFill>
            <a:ln w="14288">
              <a:solidFill>
                <a:srgbClr val="F2C14E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15049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09004" y="1737360"/>
              <a:ext cx="27405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Both stages stacked = strongest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09766" y="2039302"/>
              <a:ext cx="3937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full two-stage model is best of all, reaching country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09766" y="2239328"/>
              <a:ext cx="17639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F1 0.90 and city F1 0.86.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10147" y="2714149"/>
              <a:ext cx="25518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F2C14E"/>
                  </a:solidFill>
                  <a:latin typeface="Consolas"/>
                  <a:ea typeface="Consolas"/>
                  <a:cs typeface="Consolas"/>
                </a:rPr>
                <a:t>full model -&gt; 0.90 country · 0.86 city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248400" y="3086100"/>
            <a:ext cx="5334000" cy="2225611"/>
            <a:chOff x="6248400" y="3086100"/>
            <a:chExt cx="5334000" cy="2225611"/>
          </a:xfrm>
        </p:grpSpPr>
        <p:sp>
          <p:nvSpPr>
            <p:cNvPr id="37" name="Rectangle 37"/>
            <p:cNvSpPr/>
            <p:nvPr/>
          </p:nvSpPr>
          <p:spPr>
            <a:xfrm>
              <a:off x="6248400" y="3086100"/>
              <a:ext cx="5334000" cy="215265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308610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08814" y="3314462"/>
              <a:ext cx="2989494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The two stages are complementary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09956" y="3605451"/>
              <a:ext cx="3461271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Location tuning supplies precision; reasoning tuning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09956" y="3786426"/>
              <a:ext cx="270241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supplies explanations and a further lift.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115300" y="4210050"/>
              <a:ext cx="2857500" cy="190500"/>
            </a:xfrm>
            <a:prstGeom prst="roundRect">
              <a:avLst>
                <a:gd name="adj" fmla="val 30000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115300" y="4210050"/>
              <a:ext cx="1514475" cy="190500"/>
            </a:xfrm>
            <a:prstGeom prst="roundRect">
              <a:avLst>
                <a:gd name="adj" fmla="val 30000"/>
              </a:avLst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16834" y="4249102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baseline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719691" y="424910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0.53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115300" y="4495800"/>
              <a:ext cx="2857500" cy="190500"/>
            </a:xfrm>
            <a:prstGeom prst="roundRect">
              <a:avLst>
                <a:gd name="adj" fmla="val 30000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115300" y="4495800"/>
              <a:ext cx="1657350" cy="190500"/>
            </a:xfrm>
            <a:prstGeom prst="roundRect">
              <a:avLst>
                <a:gd name="adj" fmla="val 3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24255" y="4534852"/>
              <a:ext cx="582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+reason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62566" y="453485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0.58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115300" y="4781550"/>
              <a:ext cx="2857500" cy="190500"/>
            </a:xfrm>
            <a:prstGeom prst="roundRect">
              <a:avLst>
                <a:gd name="adj" fmla="val 30000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115300" y="4781550"/>
              <a:ext cx="2371725" cy="190500"/>
            </a:xfrm>
            <a:prstGeom prst="roundRect">
              <a:avLst>
                <a:gd name="adj" fmla="val 3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35203" y="4820602"/>
              <a:ext cx="6711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+location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576941" y="482060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0.83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115300" y="5067300"/>
              <a:ext cx="2857500" cy="190500"/>
            </a:xfrm>
            <a:prstGeom prst="roundRect">
              <a:avLst>
                <a:gd name="adj" fmla="val 30000"/>
              </a:avLst>
            </a:prstGeom>
            <a:solidFill>
              <a:srgbClr val="0E2334"/>
            </a:solidFill>
            <a:ln w="9525">
              <a:solidFill>
                <a:srgbClr val="26455F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115300" y="5067300"/>
              <a:ext cx="2457450" cy="190500"/>
            </a:xfrm>
            <a:prstGeom prst="roundRect">
              <a:avLst>
                <a:gd name="adj" fmla="val 3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98099" y="5106352"/>
              <a:ext cx="708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full model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62666" y="510635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0.86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183437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HEADLINE NUMBERS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356361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impact in one place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09600" y="1581150"/>
            <a:ext cx="10972800" cy="1428750"/>
            <a:chOff x="609600" y="1581150"/>
            <a:chExt cx="1097280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10972800" cy="1428750"/>
            </a:xfrm>
            <a:prstGeom prst="roundRect">
              <a:avLst>
                <a:gd name="adj" fmla="val 9333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5811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0014" y="1790462"/>
              <a:ext cx="4869483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Margins over the best comparable VLM (Qwen-VL), in F1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76300" y="2095500"/>
              <a:ext cx="2857500" cy="762000"/>
            </a:xfrm>
            <a:prstGeom prst="roundRect">
              <a:avLst>
                <a:gd name="adj" fmla="val 1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10766" y="2271522"/>
              <a:ext cx="1188568" cy="398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4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+25.02%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63157" y="2603897"/>
              <a:ext cx="108378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country-level F1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924300" y="2095500"/>
              <a:ext cx="2857500" cy="762000"/>
            </a:xfrm>
            <a:prstGeom prst="roundRect">
              <a:avLst>
                <a:gd name="adj" fmla="val 1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58766" y="2271522"/>
              <a:ext cx="1188568" cy="398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+38.61%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37400" y="2603897"/>
              <a:ext cx="83130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city-level F1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972300" y="2095500"/>
              <a:ext cx="4610100" cy="762000"/>
            </a:xfrm>
            <a:prstGeom prst="roundRect">
              <a:avLst>
                <a:gd name="adj" fmla="val 1500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57847" y="2275999"/>
              <a:ext cx="33097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Full-model F1: 0.9033 country, 0.8585 city - a new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57847" y="2456974"/>
              <a:ext cx="11444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state of the art.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162300"/>
            <a:ext cx="5334000" cy="2076450"/>
            <a:chOff x="609600" y="3162300"/>
            <a:chExt cx="5334000" cy="2076450"/>
          </a:xfrm>
        </p:grpSpPr>
        <p:sp>
          <p:nvSpPr>
            <p:cNvPr id="18" name="Rectangle 18"/>
            <p:cNvSpPr/>
            <p:nvPr/>
          </p:nvSpPr>
          <p:spPr>
            <a:xfrm>
              <a:off x="609600" y="3162300"/>
              <a:ext cx="5334000" cy="2076450"/>
            </a:xfrm>
            <a:prstGeom prst="roundRect">
              <a:avLst>
                <a:gd name="adj" fmla="val 6422"/>
              </a:avLst>
            </a:prstGeom>
            <a:solidFill>
              <a:srgbClr val="0F2E2B"/>
            </a:solidFill>
            <a:ln w="14288">
              <a:solidFill>
                <a:srgbClr val="34D3C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9600" y="3162300"/>
              <a:ext cx="57150" cy="20764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0014" y="3371612"/>
              <a:ext cx="2849431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State of the art on far less data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1156" y="3681651"/>
              <a:ext cx="3296139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Just 70K training images versus the 1.1M used by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1156" y="3872151"/>
              <a:ext cx="371985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StreetCLIP, which GeoReasoner nonetheless surpasses.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76300" y="4476750"/>
              <a:ext cx="2247900" cy="609600"/>
            </a:xfrm>
            <a:prstGeom prst="roundRect">
              <a:avLst>
                <a:gd name="adj" fmla="val 1875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791118" y="4617568"/>
              <a:ext cx="418263" cy="319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30" b="1" dirty="0">
                  <a:solidFill>
                    <a:srgbClr val="34D3C0"/>
                  </a:solidFill>
                  <a:latin typeface="+mn-lt"/>
                  <a:ea typeface="+mn-ea"/>
                  <a:cs typeface="+mn-cs"/>
                </a:rPr>
                <a:t>70K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53465" y="4863227"/>
              <a:ext cx="1293571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GeoReasoner images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314700" y="4476750"/>
              <a:ext cx="2247900" cy="609600"/>
            </a:xfrm>
            <a:prstGeom prst="roundRect">
              <a:avLst>
                <a:gd name="adj" fmla="val 1875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38227" y="4617568"/>
              <a:ext cx="600846" cy="319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3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1.1M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38918" y="4863227"/>
              <a:ext cx="1199463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StreetCLIP images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48400" y="3162300"/>
            <a:ext cx="5334000" cy="2076450"/>
            <a:chOff x="6248400" y="3162300"/>
            <a:chExt cx="5334000" cy="2076450"/>
          </a:xfrm>
        </p:grpSpPr>
        <p:sp>
          <p:nvSpPr>
            <p:cNvPr id="30" name="Rectangle 30"/>
            <p:cNvSpPr/>
            <p:nvPr/>
          </p:nvSpPr>
          <p:spPr>
            <a:xfrm>
              <a:off x="6248400" y="3162300"/>
              <a:ext cx="5334000" cy="2076450"/>
            </a:xfrm>
            <a:prstGeom prst="roundRect">
              <a:avLst>
                <a:gd name="adj" fmla="val 6422"/>
              </a:avLst>
            </a:prstGeom>
            <a:solidFill>
              <a:srgbClr val="2A2417"/>
            </a:solidFill>
            <a:ln w="14288">
              <a:solidFill>
                <a:srgbClr val="F2C14E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3162300"/>
              <a:ext cx="57150" cy="20764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08814" y="3371612"/>
              <a:ext cx="153442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4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The data behind it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09956" y="3681651"/>
              <a:ext cx="3890948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130K+ raw street views across 72 cities and 48 countries,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09956" y="3872151"/>
              <a:ext cx="3745803" cy="198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1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filtered to 70K, plus 3K human-written reasoning clues.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515100" y="4476750"/>
              <a:ext cx="1524000" cy="609600"/>
            </a:xfrm>
            <a:prstGeom prst="roundRect">
              <a:avLst>
                <a:gd name="adj" fmla="val 1875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934074" y="4617568"/>
              <a:ext cx="686051" cy="319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30" b="1" dirty="0">
                  <a:solidFill>
                    <a:srgbClr val="F2C14E"/>
                  </a:solidFill>
                  <a:latin typeface="+mn-lt"/>
                  <a:ea typeface="+mn-ea"/>
                  <a:cs typeface="+mn-cs"/>
                </a:rPr>
                <a:t>130K+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50128" y="4863227"/>
              <a:ext cx="653944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raw views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72450" y="4476750"/>
              <a:ext cx="1524000" cy="609600"/>
            </a:xfrm>
            <a:prstGeom prst="roundRect">
              <a:avLst>
                <a:gd name="adj" fmla="val 1875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40236" y="4617568"/>
              <a:ext cx="788428" cy="319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3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72 / 48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21112" y="4863227"/>
              <a:ext cx="826675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cities / ctys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829800" y="4476750"/>
              <a:ext cx="1485900" cy="609600"/>
            </a:xfrm>
            <a:prstGeom prst="roundRect">
              <a:avLst>
                <a:gd name="adj" fmla="val 18750"/>
              </a:avLst>
            </a:prstGeom>
            <a:solidFill>
              <a:schemeClr val="accent6"/>
            </a:solidFill>
            <a:ln w="14288">
              <a:solidFill>
                <a:srgbClr val="26455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430565" y="4617568"/>
              <a:ext cx="284369" cy="319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30" b="1" dirty="0">
                  <a:solidFill>
                    <a:srgbClr val="48C78E"/>
                  </a:solidFill>
                  <a:latin typeface="+mn-lt"/>
                  <a:ea typeface="+mn-ea"/>
                  <a:cs typeface="+mn-cs"/>
                </a:rPr>
                <a:t>3K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22526" y="4863227"/>
              <a:ext cx="700449" cy="183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4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game clues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9600" y="5391150"/>
            <a:ext cx="10972800" cy="514350"/>
            <a:chOff x="609600" y="5391150"/>
            <a:chExt cx="10972800" cy="514350"/>
          </a:xfrm>
        </p:grpSpPr>
        <p:sp>
          <p:nvSpPr>
            <p:cNvPr id="45" name="Rectangle 45"/>
            <p:cNvSpPr/>
            <p:nvPr/>
          </p:nvSpPr>
          <p:spPr>
            <a:xfrm>
              <a:off x="609600" y="5391150"/>
              <a:ext cx="10972800" cy="514350"/>
            </a:xfrm>
            <a:prstGeom prst="roundRect">
              <a:avLst>
                <a:gd name="adj" fmla="val 1851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9600" y="5391150"/>
              <a:ext cx="57150" cy="5143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0776" y="5588079"/>
              <a:ext cx="6303950" cy="2126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9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 open Im2GPS benchmarks, only 10K Flickr images rival models trained on millions.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495300"/>
            <a:ext cx="47625" cy="247650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75335" y="564356"/>
            <a:ext cx="96807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b="1" spc="188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TAKEAWAY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8170" y="804862"/>
            <a:ext cx="636238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The right images and the right knowledge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09600" y="1676400"/>
            <a:ext cx="5429250" cy="1409700"/>
            <a:chOff x="609600" y="1676400"/>
            <a:chExt cx="5429250" cy="14097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5429250" cy="1409700"/>
            </a:xfrm>
            <a:prstGeom prst="roundRect">
              <a:avLst>
                <a:gd name="adj" fmla="val 945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1676400"/>
              <a:ext cx="57150" cy="1409700"/>
            </a:xfrm>
            <a:prstGeom prst="roundRect">
              <a:avLst>
                <a:gd name="adj" fmla="val 50000"/>
              </a:avLst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95350" y="1962150"/>
              <a:ext cx="190500" cy="190500"/>
            </a:xfrm>
            <a:prstGeom prst="ellipse">
              <a:avLst/>
            </a:prstGeom>
            <a:solidFill>
              <a:srgbClr val="48C78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12532" y="1972866"/>
              <a:ext cx="2991541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You don't need millions of images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966" y="2344102"/>
              <a:ext cx="3895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You do not need millions of street-view images to build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966" y="2544128"/>
              <a:ext cx="29012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state-of-the-art geo-localization model.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53150" y="1676400"/>
            <a:ext cx="5429250" cy="1409700"/>
            <a:chOff x="6153150" y="1676400"/>
            <a:chExt cx="5429250" cy="1409700"/>
          </a:xfrm>
        </p:grpSpPr>
        <p:sp>
          <p:nvSpPr>
            <p:cNvPr id="12" name="Rectangle 12"/>
            <p:cNvSpPr/>
            <p:nvPr/>
          </p:nvSpPr>
          <p:spPr>
            <a:xfrm>
              <a:off x="6153150" y="1676400"/>
              <a:ext cx="5429250" cy="1409700"/>
            </a:xfrm>
            <a:prstGeom prst="roundRect">
              <a:avLst>
                <a:gd name="adj" fmla="val 9459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153150" y="1676400"/>
              <a:ext cx="57150" cy="1409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438900" y="19621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56082" y="1972866"/>
              <a:ext cx="3500884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right images + the right knowledge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4516" y="2344102"/>
              <a:ext cx="3817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What you need instead is the right images and the right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4516" y="2544128"/>
              <a:ext cx="2774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reasoning knowledge to interpret them.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9600" y="3238500"/>
            <a:ext cx="5429250" cy="2000250"/>
            <a:chOff x="609600" y="3238500"/>
            <a:chExt cx="542925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09600" y="3238500"/>
              <a:ext cx="5429250" cy="20002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9600" y="323850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95350" y="3524250"/>
              <a:ext cx="190500" cy="190500"/>
            </a:xfrm>
            <a:prstGeom prst="ellipse">
              <a:avLst/>
            </a:prstGeom>
            <a:solidFill>
              <a:srgbClr val="F2C14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12532" y="3534966"/>
              <a:ext cx="3093368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Locatability + geo-game reasoning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0966" y="3906202"/>
              <a:ext cx="41709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By quantifying which street views are actually locatable and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0966" y="4106228"/>
              <a:ext cx="3749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borrowing the reasoning strategies humans use to win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0966" y="4306252"/>
              <a:ext cx="41551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geo-games, GeoReasoner matches or beats specialists - and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0966" y="4506278"/>
              <a:ext cx="18199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explains every prediction.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153150" y="3238500"/>
            <a:ext cx="5429250" cy="2000250"/>
            <a:chOff x="6153150" y="3238500"/>
            <a:chExt cx="5429250" cy="2000250"/>
          </a:xfrm>
        </p:grpSpPr>
        <p:sp>
          <p:nvSpPr>
            <p:cNvPr id="28" name="Rectangle 28"/>
            <p:cNvSpPr/>
            <p:nvPr/>
          </p:nvSpPr>
          <p:spPr>
            <a:xfrm>
              <a:off x="6153150" y="3238500"/>
              <a:ext cx="5429250" cy="2000250"/>
            </a:xfrm>
            <a:prstGeom prst="roundRect">
              <a:avLst>
                <a:gd name="adj" fmla="val 6667"/>
              </a:avLst>
            </a:prstGeom>
            <a:solidFill>
              <a:schemeClr val="accent5"/>
            </a:solidFill>
            <a:ln w="14288">
              <a:solidFill>
                <a:srgbClr val="26455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153150" y="3238500"/>
              <a:ext cx="57150" cy="2000250"/>
            </a:xfrm>
            <a:prstGeom prst="roundRect">
              <a:avLst>
                <a:gd name="adj" fmla="val 50000"/>
              </a:avLst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6438900" y="3524250"/>
              <a:ext cx="190500" cy="190500"/>
            </a:xfrm>
            <a:prstGeom prst="ellipse">
              <a:avLst/>
            </a:prstGeom>
            <a:solidFill>
              <a:srgbClr val="34D3C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6082" y="3534966"/>
              <a:ext cx="2695097" cy="2566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Quality can stand in for scale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14516" y="3906202"/>
              <a:ext cx="36552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 case study in how data quality and human inference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14516" y="4106228"/>
              <a:ext cx="41593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knowledge substitute for brute-force scale, opening a path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14516" y="4306252"/>
              <a:ext cx="38200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to interpretable, resource-efficient geo-localization.</a:t>
              </a:r>
            </a:p>
          </p:txBody>
        </p:sp>
      </p:grpSp>
      <p:sp>
        <p:nvSpPr>
          <p:cNvPr id="36" name="Line 36"/>
          <p:cNvSpPr/>
          <p:nvPr/>
        </p:nvSpPr>
        <p:spPr>
          <a:xfrm>
            <a:off x="609600" y="54864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 cap="rnd">
            <a:solidFill>
              <a:srgbClr val="26455F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742950" y="5755005"/>
            <a:ext cx="114300" cy="126682"/>
          </a:xfrm>
          <a:custGeom>
            <a:avLst/>
            <a:gdLst/>
            <a:ahLst/>
            <a:cxnLst/>
            <a:rect l="l" t="t" r="r" b="b"/>
            <a:pathLst>
              <a:path w="114300" h="126682">
                <a:moveTo>
                  <a:pt x="0" y="0"/>
                </a:moveTo>
                <a:lnTo>
                  <a:pt x="114300" y="0"/>
                </a:lnTo>
                <a:lnTo>
                  <a:pt x="57150" y="126682"/>
                </a:lnTo>
                <a:close/>
              </a:path>
            </a:pathLst>
          </a:custGeom>
          <a:solidFill>
            <a:srgbClr val="48C78E"/>
          </a:solidFill>
          <a:ln>
            <a:noFill/>
          </a:ln>
        </p:spPr>
      </p:sp>
      <p:sp>
        <p:nvSpPr>
          <p:cNvPr id="38" name="Ellipse 38"/>
          <p:cNvSpPr/>
          <p:nvPr/>
        </p:nvSpPr>
        <p:spPr>
          <a:xfrm>
            <a:off x="704850" y="5619750"/>
            <a:ext cx="190500" cy="190500"/>
          </a:xfrm>
          <a:prstGeom prst="ellipse">
            <a:avLst/>
          </a:prstGeom>
          <a:solidFill>
            <a:srgbClr val="48C78E"/>
          </a:solidFill>
          <a:ln>
            <a:noFill/>
          </a:ln>
        </p:spPr>
      </p:sp>
      <p:sp>
        <p:nvSpPr>
          <p:cNvPr id="39" name="Ellipse 39"/>
          <p:cNvSpPr/>
          <p:nvPr/>
        </p:nvSpPr>
        <p:spPr>
          <a:xfrm>
            <a:off x="762000" y="5676900"/>
            <a:ext cx="76200" cy="76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85456" y="5662851"/>
            <a:ext cx="3583889" cy="198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1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Interpretable, resource-efficient geo-localization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40088" y="5658802"/>
            <a:ext cx="42476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b="1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GeoReasoner · Geo-localization with Reasoning · ICML 2024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ree Design">
  <a:themeElements>
    <a:clrScheme name="Free Design">
      <a:dk1>
        <a:srgbClr val="EAF2FB"/>
      </a:dk1>
      <a:lt1>
        <a:srgbClr val="0B1B2B"/>
      </a:lt1>
      <a:dk2>
        <a:srgbClr val="9DB3C8"/>
      </a:dk2>
      <a:lt2>
        <a:srgbClr val="0B1B2B"/>
      </a:lt2>
      <a:accent1>
        <a:srgbClr val="4C9BE8"/>
      </a:accent1>
      <a:accent2>
        <a:srgbClr val="4C9BE8"/>
      </a:accent2>
      <a:accent3>
        <a:srgbClr val="4C9BE8"/>
      </a:accent3>
      <a:accent4>
        <a:srgbClr val="8064A2"/>
      </a:accent4>
      <a:accent5>
        <a:srgbClr val="12293D"/>
      </a:accent5>
      <a:accent6>
        <a:srgbClr val="16324A"/>
      </a:accent6>
      <a:hlink>
        <a:srgbClr val="4C9BE8"/>
      </a:hlink>
      <a:folHlink>
        <a:srgbClr val="4C9BE8"/>
      </a:folHlink>
    </a:clrScheme>
    <a:fontScheme name="Free 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2026-07-16T13:31:21Z</dcterms:created>
  <dcterms:modified xsi:type="dcterms:W3CDTF">2026-07-16T13:31:21Z</dcterms:modified>
  <cp:category/>
  <cp:contentStatus/>
</cp:coreProperties>
</file>
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298578"/>
          </a:xfrm>
          <a:prstGeom prst="roundRect">
            <a:avLst>
              <a:gd name="adj" fmla="val 2684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471920"/>
            <a:ext cx="10804961" cy="9741078"/>
          </a:xfrm>
          <a:prstGeom prst="roundRect">
            <a:avLst>
              <a:gd name="adj" fmla="val 730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6471920"/>
            <a:ext cx="27439124" cy="13948410"/>
          </a:xfrm>
          <a:prstGeom prst="roundRect">
            <a:avLst>
              <a:gd name="adj" fmla="val 509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6471920"/>
            <a:ext cx="10804962" cy="5611951"/>
          </a:xfrm>
          <a:prstGeom prst="roundRect">
            <a:avLst>
              <a:gd name="adj" fmla="val 1267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2415718"/>
            <a:ext cx="10804962" cy="12115403"/>
          </a:xfrm>
          <a:prstGeom prst="roundRect">
            <a:avLst>
              <a:gd name="adj" fmla="val 658"/>
            </a:avLst>
          </a:prstGeom>
          <a:solidFill>
            <a:srgbClr val="F2F2F3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749412" y="12415718"/>
            <a:ext cx="53340" cy="12115403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6544845"/>
            <a:ext cx="10804961" cy="13527107"/>
          </a:xfrm>
          <a:prstGeom prst="roundRect">
            <a:avLst>
              <a:gd name="adj" fmla="val 658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24862968"/>
            <a:ext cx="10804962" cy="5208984"/>
          </a:xfrm>
          <a:prstGeom prst="roundRect">
            <a:avLst>
              <a:gd name="adj" fmla="val 1365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vidia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258" y="2243209"/>
            <a:ext cx="11190982" cy="211579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39991" y="6860024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9991" y="7713464"/>
            <a:ext cx="10028753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271672" y="6860024"/>
            <a:ext cx="26662916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271672" y="7713464"/>
            <a:ext cx="26662916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137516" y="6860024"/>
            <a:ext cx="1002875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37516" y="7713464"/>
            <a:ext cx="10028754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137516" y="8104624"/>
            <a:ext cx="10028754" cy="3878818"/>
          </a:xfrm>
          <a:prstGeom prst="roundRect">
            <a:avLst>
              <a:gd name="adj" fmla="val 1833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9991" y="12146379"/>
            <a:ext cx="10028753" cy="3681988"/>
          </a:xfrm>
          <a:prstGeom prst="roundRect">
            <a:avLst>
              <a:gd name="adj" fmla="val 5665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181966" y="12803822"/>
            <a:ext cx="9984304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81966" y="13657262"/>
            <a:ext cx="9984304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39991" y="16932949"/>
            <a:ext cx="10028753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7786389"/>
            <a:ext cx="10028753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83568" y="20752177"/>
            <a:ext cx="13553639" cy="9319775"/>
          </a:xfrm>
          <a:prstGeom prst="roundRect">
            <a:avLst>
              <a:gd name="adj" fmla="val 763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5769054" y="20752177"/>
            <a:ext cx="13553638" cy="9319775"/>
          </a:xfrm>
          <a:prstGeom prst="roundRect">
            <a:avLst>
              <a:gd name="adj" fmla="val 763"/>
            </a:avLst>
          </a:prstGeom>
          <a:solidFill>
            <a:srgbClr val="FFFFFF"/>
          </a:solidFill>
          <a:ln w="8890">
            <a:solidFill>
              <a:srgbClr val="ED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181966" y="21115000"/>
            <a:ext cx="9984304" cy="3702824"/>
          </a:xfrm>
          <a:prstGeom prst="roundRect">
            <a:avLst>
              <a:gd name="adj" fmla="val 5634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4187" y="8326874"/>
            <a:ext cx="4196218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4187" y="8326874"/>
            <a:ext cx="11557" cy="3481824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271672" y="11831756"/>
            <a:ext cx="26662916" cy="1437541"/>
          </a:xfrm>
          <a:prstGeom prst="roundRect">
            <a:avLst>
              <a:gd name="adj" fmla="val 15673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271672" y="21140281"/>
            <a:ext cx="12777430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271672" y="21993721"/>
            <a:ext cx="12777430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157158" y="21140281"/>
            <a:ext cx="12777430" cy="924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157158" y="21993721"/>
            <a:ext cx="12777430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271672" y="27550387"/>
            <a:ext cx="12777430" cy="2325985"/>
          </a:xfrm>
          <a:prstGeom prst="roundRect">
            <a:avLst>
              <a:gd name="adj" fmla="val 8969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157158" y="28211303"/>
            <a:ext cx="12777430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157158" y="28211303"/>
            <a:ext cx="124460" cy="1481019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271672" y="13670736"/>
            <a:ext cx="26662916" cy="5910183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1890" y="13670736"/>
            <a:ext cx="26662480" cy="5910183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39991" y="21315858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9991" y="23967717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157158" y="24453889"/>
            <a:ext cx="5869900" cy="3609479"/>
          </a:xfrm>
          <a:prstGeom prst="roundRect">
            <a:avLst>
              <a:gd name="adj" fmla="val 577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3064549" y="24453889"/>
            <a:ext cx="5870039" cy="3609479"/>
          </a:xfrm>
          <a:prstGeom prst="roundRect">
            <a:avLst>
              <a:gd name="adj" fmla="val 5779"/>
            </a:avLst>
          </a:prstGeom>
          <a:solidFill>
            <a:srgbClr val="F3F3F3"/>
          </a:solidFill>
          <a:ln w="8890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882317" y="25251072"/>
            <a:ext cx="3766305" cy="3766304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851" y="25369605"/>
            <a:ext cx="3529237" cy="352923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6268005" y="25251072"/>
            <a:ext cx="3766304" cy="3766304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86538" y="25369605"/>
            <a:ext cx="3529238" cy="3529238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0137516" y="26590545"/>
            <a:ext cx="1257379" cy="156422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0137516" y="28083648"/>
            <a:ext cx="1257379" cy="7112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2271672" y="26730563"/>
            <a:ext cx="1817172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gt-ball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4245252" y="26730563"/>
            <a:ext cx="2433360" cy="819824"/>
          </a:xfrm>
          <a:prstGeom prst="roundRect">
            <a:avLst>
              <a:gd name="adj" fmla="val 50000"/>
            </a:avLst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4373B"/>
                </a:solidFill>
                <a:latin typeface="Arial"/>
              </a:rPr>
              <a:t>gt-ellipse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835020" y="26730563"/>
            <a:ext cx="250698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frcnn-ball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498409" y="26730563"/>
            <a:ext cx="3123168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frcnn-ellipse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9991" y="27349807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137474" y="29159616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34373B"/>
                </a:solidFill>
                <a:latin typeface="Arial"/>
              </a:rPr>
              <a:t>Paper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67472" y="29159616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34373B"/>
                </a:solidFill>
                <a:latin typeface="Arial"/>
              </a:rPr>
              <a:t>Code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20847" y="983734"/>
            <a:ext cx="12104012" cy="53301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5973" b="1" spc="59">
                <a:solidFill>
                  <a:srgbClr val="34373B"/>
                </a:solidFill>
                <a:latin typeface="Arial"/>
              </a:rPr>
              <a:t>CVPR 2023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46402" y="983734"/>
            <a:ext cx="24740176" cy="377822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</a:pPr>
            <a:r>
              <a:rPr sz="6980" b="1" spc="-78">
                <a:solidFill>
                  <a:srgbClr val="34373B"/>
                </a:solidFill>
                <a:latin typeface="Arial"/>
              </a:rPr>
              <a:t>Object Pose Estimation with Statistical Guarantees:</a:t>
            </a:r>
          </a:p>
          <a:p>
            <a:pPr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</a:pPr>
            <a:r>
              <a:rPr sz="6980" b="1" spc="-78">
                <a:solidFill>
                  <a:srgbClr val="34373B"/>
                </a:solidFill>
                <a:latin typeface="Arial"/>
              </a:rPr>
              <a:t>Conformal Keypoint Detection and Geometric</a:t>
            </a:r>
          </a:p>
          <a:p>
            <a:pPr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</a:pPr>
            <a:r>
              <a:rPr sz="6980" b="1" spc="-78">
                <a:solidFill>
                  <a:srgbClr val="34373B"/>
                </a:solidFill>
                <a:latin typeface="Arial"/>
              </a:rPr>
              <a:t>Uncertainty Propagation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446402" y="4468197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Heng Yang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Marco Pavone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446402" y="5137447"/>
            <a:ext cx="24740176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NVIDIA Research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9991" y="6860024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Problem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71672" y="6860024"/>
            <a:ext cx="27089636" cy="1063244"/>
          </a:xfrm>
          <a:prstGeom prst="rect">
            <a:avLst/>
          </a:prstGeom>
          <a:noFill/>
        </p:spPr>
        <p:txBody>
          <a:bodyPr wrap="non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Method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37516" y="6860024"/>
            <a:ext cx="10329616" cy="1063244"/>
          </a:xfrm>
          <a:prstGeom prst="rect">
            <a:avLst/>
          </a:prstGeom>
          <a:noFill/>
        </p:spPr>
        <p:txBody>
          <a:bodyPr wrap="square" lIns="0" rIns="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Headline Numbers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9991" y="8104624"/>
            <a:ext cx="1032961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Two-stage object pose estimators (detect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semantic keypoints, then solve PnP) score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well on benchmarks but return a single 6D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pose with </a:t>
            </a:r>
            <a:r>
              <a:rPr sz="4106" b="1">
                <a:solidFill>
                  <a:srgbClr val="111111"/>
                </a:solidFill>
                <a:latin typeface="Arial"/>
              </a:rPr>
              <a:t>no provable guarantee</a:t>
            </a:r>
            <a:r>
              <a:rPr sz="4106" b="0">
                <a:solidFill>
                  <a:srgbClr val="1C1C1C"/>
                </a:solidFill>
                <a:latin typeface="Arial"/>
              </a:rPr>
              <a:t> on its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quality or uncertainty.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12146379"/>
            <a:ext cx="10329615" cy="4234286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Safety-critical uses — autonomous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driving, robotic manipulation, space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robotics — need formal worst-case error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bounds that prior pipelines never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provide.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181966" y="12803822"/>
            <a:ext cx="10283833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Takeaway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181966" y="14048422"/>
            <a:ext cx="10283833" cy="782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Marrying conformal prediction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geometric uncertainty propagation makes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two-stage pose pipeline the </a:t>
            </a:r>
            <a:r>
              <a:rPr sz="4106" b="1">
                <a:solidFill>
                  <a:srgbClr val="111111"/>
                </a:solidFill>
                <a:latin typeface="Arial"/>
              </a:rPr>
              <a:t>first</a:t>
            </a:r>
            <a:r>
              <a:rPr sz="4106" b="0">
                <a:solidFill>
                  <a:srgbClr val="1C1C1C"/>
                </a:solidFill>
                <a:latin typeface="Arial"/>
              </a:rPr>
              <a:t> to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output an estimate carrying a provable,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computable worst-case error bound —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loss in accuracy. Keypoint coverage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guarantees propagate through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geometry to the pose, which an SDP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relaxation turns into concrete bounds.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16932949"/>
            <a:ext cx="10329615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Motivation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991" y="18482032"/>
            <a:ext cx="1032961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Provably-correct pose estimation faces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three challenges that block any worst-case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guarantee: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181966" y="21115000"/>
            <a:ext cx="10283833" cy="4258247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Detector-agnostic: it wraps any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heatmap keypoint network, pointing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toward statistically guaranteed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perception for other safety-critical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geometric-vision problems.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60040" y="12828964"/>
            <a:ext cx="400276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the conformal coverage guarantee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271672" y="21140281"/>
            <a:ext cx="1316075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Dataset / Benchmark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157158" y="21140281"/>
            <a:ext cx="13160752" cy="1063244"/>
          </a:xfrm>
          <a:prstGeom prst="rect">
            <a:avLst/>
          </a:prstGeom>
          <a:noFill/>
        </p:spPr>
        <p:txBody>
          <a:bodyPr wrap="square" lIns="0" rIns="3911600" tIns="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Key Results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02133" y="21315858"/>
            <a:ext cx="9338609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Outlier keypoints.</a:t>
            </a:r>
            <a:r>
              <a:rPr sz="4106" b="0">
                <a:solidFill>
                  <a:srgbClr val="1C1C1C"/>
                </a:solidFill>
                <a:latin typeface="Arial"/>
              </a:rPr>
              <a:t> Neural heatmap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detectors can be arbitrarily wrong,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corrupting the geometry.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6157158" y="22532816"/>
            <a:ext cx="1316075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Valid coverage, correct bounds, and an accurate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average pose — all three hold together on LM-O.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02133" y="23967717"/>
            <a:ext cx="9338609" cy="352966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Nonconvex back-end.</a:t>
            </a:r>
            <a:r>
              <a:rPr sz="4106" b="0">
                <a:solidFill>
                  <a:srgbClr val="1C1C1C"/>
                </a:solidFill>
                <a:latin typeface="Arial"/>
              </a:rPr>
              <a:t> Outlier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rejection is nonconvex; RANSAC-style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heuristics give no global-optimality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guarantee and can fail silently.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271672" y="25848230"/>
            <a:ext cx="13160752" cy="81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597"/>
              </a:lnSpc>
              <a:spcBef>
                <a:spcPts val="0"/>
              </a:spcBef>
              <a:spcAft>
                <a:spcPts val="0"/>
              </a:spcAft>
            </a:pPr>
            <a:r>
              <a:rPr sz="3860" b="0">
                <a:solidFill>
                  <a:srgbClr val="1C1C1C"/>
                </a:solidFill>
                <a:latin typeface="Arial"/>
              </a:rPr>
              <a:t>Four setups cross detection source with set shape: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02133" y="27349807"/>
            <a:ext cx="9338609" cy="26898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No certified uncertainty.</a:t>
            </a:r>
            <a:r>
              <a:rPr sz="4106" b="0">
                <a:solidFill>
                  <a:srgbClr val="1C1C1C"/>
                </a:solidFill>
                <a:latin typeface="Arial"/>
              </a:rPr>
              <a:t> No prior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method bounds the worst-case error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between the estimate and the groundtruth.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271672" y="27550387"/>
            <a:ext cx="13160752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Uniform pose sampling (not a single video) keeps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the </a:t>
            </a:r>
            <a:r>
              <a:rPr sz="4106" b="0" i="1">
                <a:solidFill>
                  <a:srgbClr val="34373B"/>
                </a:solidFill>
                <a:latin typeface="Arial"/>
              </a:rPr>
              <a:t>exchangeability</a:t>
            </a:r>
            <a:r>
              <a:rPr sz="4106" b="0">
                <a:solidFill>
                  <a:srgbClr val="34373B"/>
                </a:solidFill>
                <a:latin typeface="Arial"/>
              </a:rPr>
              <a:t> conformal prediction requires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4373B"/>
                </a:solidFill>
                <a:latin typeface="Arial"/>
              </a:rPr>
              <a:t>plausible.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157158" y="28211303"/>
            <a:ext cx="13160752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When PURSE covers the true pose, the certified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bound is never violated — 100% of covered cases.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271654" y="8113514"/>
            <a:ext cx="27089654" cy="15594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Conformal keypoint detection.</a:t>
            </a:r>
            <a:r>
              <a:rPr sz="4106" b="0">
                <a:solidFill>
                  <a:srgbClr val="1C1C1C"/>
                </a:solidFill>
                <a:latin typeface="Arial"/>
              </a:rPr>
              <a:t> Calibrate heatmap nonconformity scores into per-keypoint prediction sets —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circular (peak) or elliptical (covariance) — with 1−ε coverage.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383380" y="8654415"/>
            <a:ext cx="491013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90%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271654" y="9563278"/>
            <a:ext cx="27089654" cy="23391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Geometric propagation → PURSE → bounds.</a:t>
            </a:r>
            <a:r>
              <a:rPr sz="4106" b="0">
                <a:solidFill>
                  <a:srgbClr val="1C1C1C"/>
                </a:solidFill>
                <a:latin typeface="Arial"/>
              </a:rPr>
              <a:t> Keypoint sets constrain the nonconvex Pose UnceRtainty SEt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(PURSE); RANSAG averages P3P/PnP samples into an average pose, and an SDP relaxation certifies worst-</a:t>
            </a:r>
          </a:p>
          <a:p>
            <a:pPr algn="l" marL="573701" indent="0">
              <a:lnSpc>
                <a:spcPts val="53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case rotation &amp; translation error.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383380" y="10029309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Coverage attained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LM-O · ε=0.1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383380" y="11072217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 = 200 calibration images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070341" y="19730521"/>
            <a:ext cx="19492159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Conformalized keypoint sets → PURSE → RANSAG average pose → SDP worst-case error bounds.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271654" y="22384881"/>
            <a:ext cx="1316077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LineMOD-Occlusion (LM-O):</a:t>
            </a:r>
            <a:r>
              <a:rPr sz="4106" b="0">
                <a:solidFill>
                  <a:srgbClr val="1C1C1C"/>
                </a:solidFill>
                <a:latin typeface="Arial"/>
              </a:rPr>
              <a:t> 1214 test images, 8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heavily-occluded objects on a table.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271654" y="24079815"/>
            <a:ext cx="13160771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200 BOP-selected images form the calibration set;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all 1214 images are used for testing.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157352" y="24453889"/>
            <a:ext cx="800210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34373B"/>
                </a:solidFill>
                <a:latin typeface="Arial"/>
              </a:rPr>
              <a:t>vs.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137516" y="26590545"/>
            <a:ext cx="1295100" cy="1798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4373B"/>
                </a:solidFill>
                <a:latin typeface="Arial"/>
              </a:rPr>
              <a:t>Scan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4373B"/>
                </a:solidFill>
                <a:latin typeface="Arial"/>
              </a:rPr>
              <a:t>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34373B"/>
                </a:solidFill>
                <a:latin typeface="Arial"/>
              </a:rPr>
              <a:t>Read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202441" y="8326874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70.6%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903626" y="8460224"/>
            <a:ext cx="207728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avg-pose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success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202441" y="9574391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61.1%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7903626" y="9707741"/>
            <a:ext cx="207728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PVNet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baseline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202441" y="10821908"/>
            <a:ext cx="141385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7757635" y="10955258"/>
            <a:ext cx="2227653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bounds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correct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400660" y="24671277"/>
            <a:ext cx="5544381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PVNET (BEST BASELINE)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308051" y="24671277"/>
            <a:ext cx="5544525" cy="6522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OURS · GT-ELLIPSE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400660" y="25316636"/>
            <a:ext cx="554438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61.1% average-pose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success (2D-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projection, &lt;5px).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308051" y="25316636"/>
            <a:ext cx="5544525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70.6% success —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every pose carries 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certified error bound.</a:t>
            </a:r>
          </a:p>
        </p:txBody>
      </p:sp>
      <p:pic>
        <p:nvPicPr>
          <p:cNvPr id="99" name="Picture 98" descr="eq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1006" y="11917045"/>
            <a:ext cx="8424109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
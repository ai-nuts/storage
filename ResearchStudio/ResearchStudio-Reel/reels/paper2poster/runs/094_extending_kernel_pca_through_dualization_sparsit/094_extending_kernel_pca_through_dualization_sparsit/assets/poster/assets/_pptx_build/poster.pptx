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74562"/>
          </a:xfrm>
          <a:prstGeom prst="roundRect">
            <a:avLst>
              <a:gd name="adj" fmla="val 3882"/>
            </a:avLst>
          </a:prstGeom>
          <a:solidFill>
            <a:srgbClr val="FFFFFF"/>
          </a:solidFill>
          <a:ln w="35560">
            <a:solidFill>
              <a:srgbClr val="1D3A8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28697" y="1675070"/>
            <a:ext cx="6189385" cy="222819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887" y="5447903"/>
            <a:ext cx="9579947" cy="24624049"/>
          </a:xfrm>
          <a:prstGeom prst="roundRect">
            <a:avLst>
              <a:gd name="adj" fmla="val 1732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58554" y="5447903"/>
            <a:ext cx="17101721" cy="5906571"/>
          </a:xfrm>
          <a:prstGeom prst="roundRect">
            <a:avLst>
              <a:gd name="adj" fmla="val 2809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186995" y="5447903"/>
            <a:ext cx="11974969" cy="24624049"/>
          </a:xfrm>
          <a:prstGeom prst="roundRect">
            <a:avLst>
              <a:gd name="adj" fmla="val 1385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588684" y="5447903"/>
            <a:ext cx="9965828" cy="7443986"/>
          </a:xfrm>
          <a:prstGeom prst="roundRect">
            <a:avLst>
              <a:gd name="adj" fmla="val 2229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58554" y="11686321"/>
            <a:ext cx="17101721" cy="10998319"/>
          </a:xfrm>
          <a:prstGeom prst="roundRect">
            <a:avLst>
              <a:gd name="adj" fmla="val 1508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588684" y="13223736"/>
            <a:ext cx="9965828" cy="11313219"/>
          </a:xfrm>
          <a:prstGeom prst="roundRect">
            <a:avLst>
              <a:gd name="adj" fmla="val 1665"/>
            </a:avLst>
          </a:prstGeom>
          <a:solidFill>
            <a:srgbClr val="EDF1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88684" y="13223736"/>
            <a:ext cx="53340" cy="11313219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58554" y="23016487"/>
            <a:ext cx="17101721" cy="7055465"/>
          </a:xfrm>
          <a:prstGeom prst="roundRect">
            <a:avLst>
              <a:gd name="adj" fmla="val 2352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588684" y="24868802"/>
            <a:ext cx="9965828" cy="5203150"/>
          </a:xfrm>
          <a:prstGeom prst="roundRect">
            <a:avLst>
              <a:gd name="adj" fmla="val 3189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ku-leuv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1562" y="1424488"/>
            <a:ext cx="7602617" cy="2729220"/>
          </a:xfrm>
          <a:prstGeom prst="rect">
            <a:avLst/>
          </a:prstGeom>
        </p:spPr>
      </p:pic>
      <p:pic>
        <p:nvPicPr>
          <p:cNvPr id="14" name="Picture 13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177" y="1840936"/>
            <a:ext cx="5620425" cy="189646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60777" y="5456793"/>
            <a:ext cx="9562167" cy="1180425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667444" y="5456793"/>
            <a:ext cx="17083941" cy="1180425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195885" y="5456793"/>
            <a:ext cx="11957189" cy="1180425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597574" y="5456793"/>
            <a:ext cx="9948048" cy="1180425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976788" y="6957258"/>
            <a:ext cx="9189620" cy="5585698"/>
          </a:xfrm>
          <a:prstGeom prst="roundRect">
            <a:avLst>
              <a:gd name="adj" fmla="val 1273"/>
            </a:avLst>
          </a:prstGeom>
          <a:gradFill rotWithShape="1" flip="none">
            <a:gsLst>
              <a:gs pos="0">
                <a:srgbClr val="E4E7F1"/>
              </a:gs>
              <a:gs pos="100000">
                <a:srgbClr val="F1F3F8"/>
              </a:gs>
            </a:gsLst>
            <a:lin ang="5400000" scaled="0"/>
          </a:gradFill>
          <a:ln w="8890">
            <a:solidFill>
              <a:srgbClr val="C6CEE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046658" y="9532024"/>
            <a:ext cx="16325513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46658" y="9532024"/>
            <a:ext cx="124460" cy="1481019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667444" y="11695211"/>
            <a:ext cx="17083941" cy="1180426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575099" y="11910794"/>
            <a:ext cx="11198761" cy="2632273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642024" y="13232626"/>
            <a:ext cx="9903598" cy="1180425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021238" y="14733091"/>
            <a:ext cx="9145170" cy="7092831"/>
          </a:xfrm>
          <a:prstGeom prst="roundRect">
            <a:avLst>
              <a:gd name="adj" fmla="val 2941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9991" y="16680001"/>
            <a:ext cx="8803739" cy="3681988"/>
          </a:xfrm>
          <a:prstGeom prst="roundRect">
            <a:avLst>
              <a:gd name="adj" fmla="val 5665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046658" y="19330054"/>
            <a:ext cx="16325513" cy="2918837"/>
          </a:xfrm>
          <a:prstGeom prst="roundRect">
            <a:avLst>
              <a:gd name="adj" fmla="val 7719"/>
            </a:avLst>
          </a:prstGeom>
          <a:solidFill>
            <a:srgbClr val="F1F3F8"/>
          </a:solidFill>
          <a:ln w="8890">
            <a:solidFill>
              <a:srgbClr val="B6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667444" y="23025377"/>
            <a:ext cx="17083941" cy="1180426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575099" y="25324831"/>
            <a:ext cx="11198761" cy="42544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575099" y="25324831"/>
            <a:ext cx="11198761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093538" y="7179508"/>
            <a:ext cx="3827006" cy="51887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093538" y="7179508"/>
            <a:ext cx="11557" cy="5188704"/>
          </a:xfrm>
          <a:prstGeom prst="rect">
            <a:avLst/>
          </a:prstGeom>
          <a:solidFill>
            <a:srgbClr val="C6C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8575099" y="15175368"/>
            <a:ext cx="11198761" cy="8223806"/>
          </a:xfrm>
          <a:prstGeom prst="roundRect">
            <a:avLst>
              <a:gd name="adj" fmla="val 115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igur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101" y="15175368"/>
            <a:ext cx="11198756" cy="8223806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058326" y="20630217"/>
            <a:ext cx="8767068" cy="6557625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400" y="20630217"/>
            <a:ext cx="8766920" cy="6557625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1021238" y="21825922"/>
            <a:ext cx="2132766" cy="2384742"/>
          </a:xfrm>
          <a:prstGeom prst="roundRect">
            <a:avLst>
              <a:gd name="adj" fmla="val 12226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3414731" y="21825922"/>
            <a:ext cx="3290689" cy="2384742"/>
          </a:xfrm>
          <a:prstGeom prst="roundRect">
            <a:avLst>
              <a:gd name="adj" fmla="val 10935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6966147" y="21825922"/>
            <a:ext cx="3200261" cy="2384742"/>
          </a:xfrm>
          <a:prstGeom prst="roundRect">
            <a:avLst>
              <a:gd name="adj" fmla="val 10935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575099" y="10589656"/>
            <a:ext cx="11198761" cy="945119"/>
          </a:xfrm>
          <a:prstGeom prst="rect">
            <a:avLst/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575099" y="7047825"/>
            <a:ext cx="4341098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575099" y="7745412"/>
            <a:ext cx="4341098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6197" y="7047825"/>
            <a:ext cx="2560181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916197" y="7745412"/>
            <a:ext cx="2560181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476378" y="7047825"/>
            <a:ext cx="4297482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476378" y="7745412"/>
            <a:ext cx="429748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575099" y="7754302"/>
            <a:ext cx="434109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575099" y="8690530"/>
            <a:ext cx="4341098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916197" y="7754302"/>
            <a:ext cx="256018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916197" y="8690530"/>
            <a:ext cx="2560181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476378" y="7754302"/>
            <a:ext cx="429748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5476378" y="8690530"/>
            <a:ext cx="429748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8575099" y="8699420"/>
            <a:ext cx="434109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575099" y="9635648"/>
            <a:ext cx="4341098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916197" y="8699420"/>
            <a:ext cx="256018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916197" y="9635648"/>
            <a:ext cx="2560181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476378" y="8699420"/>
            <a:ext cx="429748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5476378" y="9635648"/>
            <a:ext cx="429748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8575099" y="9644538"/>
            <a:ext cx="434109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8575099" y="10580766"/>
            <a:ext cx="4341098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916197" y="9644538"/>
            <a:ext cx="256018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916197" y="10580766"/>
            <a:ext cx="2560181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5476378" y="9644538"/>
            <a:ext cx="429748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5476378" y="10580766"/>
            <a:ext cx="429748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575099" y="10589656"/>
            <a:ext cx="4341098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8575099" y="11525885"/>
            <a:ext cx="4341098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916197" y="10589656"/>
            <a:ext cx="2560181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916197" y="11525885"/>
            <a:ext cx="2560181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5476378" y="10589656"/>
            <a:ext cx="4297482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5476378" y="11525885"/>
            <a:ext cx="429748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2193467" y="25944214"/>
            <a:ext cx="3081775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12001" y="26062747"/>
            <a:ext cx="2844707" cy="2844708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45867816" y="25944214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86349" y="26062747"/>
            <a:ext cx="2844708" cy="2844708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43089274" y="29168228"/>
            <a:ext cx="1290022" cy="541596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1D3A87"/>
                </a:solidFill>
                <a:latin typeface="Arial"/>
              </a:rPr>
              <a:t>Paper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809739" y="29168228"/>
            <a:ext cx="1197788" cy="541596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1D3A87"/>
                </a:solidFill>
                <a:latin typeface="Arial"/>
              </a:rPr>
              <a:t>Code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464460" y="1019294"/>
            <a:ext cx="24704060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1D3A87"/>
                </a:solidFill>
                <a:latin typeface="Arial"/>
              </a:rPr>
              <a:t>Extending Kernel PCA through Dualization: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1D3A87"/>
                </a:solidFill>
                <a:latin typeface="Arial"/>
              </a:rPr>
              <a:t>Sparsity, Robustness &amp; Fast Algorithms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464460" y="3408620"/>
            <a:ext cx="24704060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Arial"/>
              </a:rPr>
              <a:t>Francesco Tonin  ·  Alex Lambert  ·  Panagiotis Patrinos  ·  Johan A.K. Suykens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464460" y="4077870"/>
            <a:ext cx="24704060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613" b="0" spc="52">
                <a:solidFill>
                  <a:srgbClr val="555555"/>
                </a:solidFill>
                <a:latin typeface="Arial"/>
              </a:rPr>
              <a:t>ESAT-STADIUS, KU Leuven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0777" y="5456793"/>
            <a:ext cx="984903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67444" y="5456793"/>
            <a:ext cx="17510661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195885" y="5456793"/>
            <a:ext cx="12315904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597574" y="5456793"/>
            <a:ext cx="10246489" cy="1357488"/>
          </a:xfrm>
          <a:prstGeom prst="rect">
            <a:avLst/>
          </a:prstGeom>
          <a:noFill/>
        </p:spPr>
        <p:txBody>
          <a:bodyPr wrap="square" lIns="379306" rIns="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046658" y="6957258"/>
            <a:ext cx="16752233" cy="2661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Classical </a:t>
            </a:r>
            <a:r>
              <a:rPr sz="4106" b="1">
                <a:solidFill>
                  <a:srgbClr val="111111"/>
                </a:solidFill>
                <a:latin typeface="Arial"/>
              </a:rPr>
              <a:t>Kernel PCA</a:t>
            </a:r>
            <a:r>
              <a:rPr sz="4106" b="0">
                <a:solidFill>
                  <a:srgbClr val="1C1C1C"/>
                </a:solidFill>
                <a:latin typeface="Arial"/>
              </a:rPr>
              <a:t> solves an </a:t>
            </a:r>
            <a:r>
              <a:rPr sz="4353" b="1">
                <a:solidFill>
                  <a:srgbClr val="111111"/>
                </a:solidFill>
                <a:latin typeface="Arial"/>
              </a:rPr>
              <a:t>n×n</a:t>
            </a:r>
            <a:r>
              <a:rPr sz="4106" b="0">
                <a:solidFill>
                  <a:srgbClr val="1C1C1C"/>
                </a:solidFill>
                <a:latin typeface="Arial"/>
              </a:rPr>
              <a:t> singular value decomposition of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Gram matrix — an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O(n³)</a:t>
            </a:r>
            <a:r>
              <a:rPr sz="4106" b="0">
                <a:solidFill>
                  <a:srgbClr val="1C1C1C"/>
                </a:solidFill>
                <a:latin typeface="Arial"/>
              </a:rPr>
              <a:t> operation that is prohibitively slow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blocks large-scale use.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9991" y="6964759"/>
            <a:ext cx="9067851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Kernel PCA is naturally a </a:t>
            </a:r>
            <a:r>
              <a:rPr sz="4106" b="1">
                <a:solidFill>
                  <a:srgbClr val="111111"/>
                </a:solidFill>
                <a:latin typeface="Arial"/>
              </a:rPr>
              <a:t>variance-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maximization</a:t>
            </a:r>
            <a:r>
              <a:rPr sz="4106" b="0">
                <a:solidFill>
                  <a:srgbClr val="1C1C1C"/>
                </a:solidFill>
                <a:latin typeface="Arial"/>
              </a:rPr>
              <a:t> problem under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orthonormality — a difference-of-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convex (DC) program.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46658" y="9532024"/>
            <a:ext cx="16752233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Every robust or sparse KPCA variant has meant a new ad-hoc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reformulation — no unifying framework.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67444" y="11695211"/>
            <a:ext cx="17510661" cy="1357489"/>
          </a:xfrm>
          <a:prstGeom prst="rect">
            <a:avLst/>
          </a:prstGeom>
          <a:noFill/>
        </p:spPr>
        <p:txBody>
          <a:bodyPr wrap="non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8575099" y="11910794"/>
            <a:ext cx="11534723" cy="3027113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1D3A87"/>
                </a:solidFill>
                <a:latin typeface="Arial"/>
              </a:rPr>
              <a:t>At δ=10⁻², L-BFGS beats full SVD,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1D3A87"/>
                </a:solidFill>
                <a:latin typeface="Arial"/>
              </a:rPr>
              <a:t>Lanczos &amp; RSVD on </a:t>
            </a:r>
            <a:r>
              <a:rPr sz="4024" b="1">
                <a:solidFill>
                  <a:srgbClr val="111111"/>
                </a:solidFill>
                <a:latin typeface="Arial"/>
              </a:rPr>
              <a:t>every</a:t>
            </a:r>
            <a:r>
              <a:rPr sz="4024" b="1">
                <a:solidFill>
                  <a:srgbClr val="1D3A87"/>
                </a:solidFill>
                <a:latin typeface="Arial"/>
              </a:rPr>
              <a:t> task — at least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1D3A87"/>
                </a:solidFill>
                <a:latin typeface="Arial"/>
              </a:rPr>
              <a:t>3× over randomized SVD.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642024" y="13232626"/>
            <a:ext cx="10200705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021238" y="14733091"/>
            <a:ext cx="9419525" cy="8156755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One dualization of KPCA as a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difference of convex functions →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SVD-free (up to 9× faster than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RSVD), robust, and sparse — all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controlled by the choice of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Moreau-envelope objective.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dual variable stays finite-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dimensional, so even infinite-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dimensional feature maps are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handled.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9991" y="16680001"/>
            <a:ext cx="9067851" cy="4234286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Bringing these together: one dual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framework can unify robust and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sparse extensions for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nonlinear, multi-component kernel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case.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457390" y="21808559"/>
            <a:ext cx="13909027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The Stiefel indicator becomes the nuclear-norm term π(H); its gradient needs only a small s×s SVD, never the n×n one.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67444" y="23025377"/>
            <a:ext cx="17510661" cy="1357489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Sparsity &amp; Robustness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575099" y="25324831"/>
            <a:ext cx="11534723" cy="4892584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The solver is nearly insensitive to G’s eigenspectrum decay — the regime where randomized SVD needs sharply more oversamples. Only s×s SVDs are ever computed, so the cost is set by the number of components, not the dataset size.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9972" y="10257809"/>
            <a:ext cx="9067870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But earlier DC treatments handled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only </a:t>
            </a:r>
            <a:r>
              <a:rPr sz="4106" b="1">
                <a:solidFill>
                  <a:srgbClr val="111111"/>
                </a:solidFill>
                <a:latin typeface="Arial"/>
              </a:rPr>
              <a:t>linear</a:t>
            </a:r>
            <a:r>
              <a:rPr sz="4106" b="0">
                <a:solidFill>
                  <a:srgbClr val="1C1C1C"/>
                </a:solidFill>
                <a:latin typeface="Arial"/>
              </a:rPr>
              <a:t> PCA, or just the first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component where the orthogonality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constraints vanish.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46640" y="13249294"/>
            <a:ext cx="16752251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Cast KPCA as </a:t>
            </a:r>
            <a:r>
              <a:rPr sz="4106" b="1">
                <a:solidFill>
                  <a:srgbClr val="111111"/>
                </a:solidFill>
                <a:latin typeface="Arial"/>
              </a:rPr>
              <a:t>inf g(W) − f(ΓW)</a:t>
            </a:r>
            <a:r>
              <a:rPr sz="4106" b="0">
                <a:solidFill>
                  <a:srgbClr val="1C1C1C"/>
                </a:solidFill>
                <a:latin typeface="Arial"/>
              </a:rPr>
              <a:t> over the Stiefel manifold of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orthonormal frames — a difference of convex functions.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9972" y="13465155"/>
            <a:ext cx="9067870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Separately, </a:t>
            </a:r>
            <a:r>
              <a:rPr sz="4106" b="1">
                <a:solidFill>
                  <a:srgbClr val="111111"/>
                </a:solidFill>
                <a:latin typeface="Arial"/>
              </a:rPr>
              <a:t>infimal convolution</a:t>
            </a:r>
            <a:r>
              <a:rPr sz="4106" b="0">
                <a:solidFill>
                  <a:srgbClr val="1C1C1C"/>
                </a:solidFill>
                <a:latin typeface="Arial"/>
              </a:rPr>
              <a:t> is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known to design robust &amp; sparse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losses cleanly, and behaves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especially well in dual formulations.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046640" y="14944228"/>
            <a:ext cx="16752251" cy="1791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general </a:t>
            </a:r>
            <a:r>
              <a:rPr sz="4106" b="1">
                <a:solidFill>
                  <a:srgbClr val="111111"/>
                </a:solidFill>
                <a:latin typeface="Arial"/>
              </a:rPr>
              <a:t>dualization</a:t>
            </a:r>
            <a:r>
              <a:rPr sz="4106" b="0">
                <a:solidFill>
                  <a:srgbClr val="1C1C1C"/>
                </a:solidFill>
                <a:latin typeface="Arial"/>
              </a:rPr>
              <a:t> turns the (possibly infinite-dimensional)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primal into a finite </a:t>
            </a:r>
            <a:r>
              <a:rPr sz="4353" b="1">
                <a:solidFill>
                  <a:srgbClr val="111111"/>
                </a:solidFill>
                <a:latin typeface="Arial"/>
              </a:rPr>
              <a:t>n×s</a:t>
            </a:r>
            <a:r>
              <a:rPr sz="4106" b="0">
                <a:solidFill>
                  <a:srgbClr val="1C1C1C"/>
                </a:solidFill>
                <a:latin typeface="Arial"/>
              </a:rPr>
              <a:t> dual matrix H, ideal for gradient descent.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046640" y="16684585"/>
            <a:ext cx="1675225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Standard KPCA → </a:t>
            </a:r>
            <a:r>
              <a:rPr sz="4106" b="1">
                <a:solidFill>
                  <a:srgbClr val="111111"/>
                </a:solidFill>
                <a:latin typeface="Arial"/>
              </a:rPr>
              <a:t>L-BFGS</a:t>
            </a:r>
            <a:r>
              <a:rPr sz="4106" b="0">
                <a:solidFill>
                  <a:srgbClr val="1C1C1C"/>
                </a:solidFill>
                <a:latin typeface="Arial"/>
              </a:rPr>
              <a:t>; robust / sparse variants add a Moreau-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envelope term Ψ⋆(H) and use a </a:t>
            </a:r>
            <a:r>
              <a:rPr sz="4106" b="1">
                <a:solidFill>
                  <a:srgbClr val="111111"/>
                </a:solidFill>
                <a:latin typeface="Arial"/>
              </a:rPr>
              <a:t>DC algorithm</a:t>
            </a:r>
            <a:r>
              <a:rPr sz="4106" b="0">
                <a:solidFill>
                  <a:srgbClr val="1C1C1C"/>
                </a:solidFill>
                <a:latin typeface="Arial"/>
              </a:rPr>
              <a:t> with closed-form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Huber / ε-insensitive prox.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023071" y="23548776"/>
            <a:ext cx="10611900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Robustness on contaminated Iris.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Huber losses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H²κ, H¹κ drive MSE below the plain squared loss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(dashed red).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046640" y="24525843"/>
            <a:ext cx="1675225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ε-insensitive Moreau-envelope losses yield </a:t>
            </a:r>
            <a:r>
              <a:rPr sz="4106" b="1">
                <a:solidFill>
                  <a:srgbClr val="111111"/>
                </a:solidFill>
                <a:latin typeface="Arial"/>
              </a:rPr>
              <a:t>sparse</a:t>
            </a:r>
            <a:r>
              <a:rPr sz="4106" b="0">
                <a:solidFill>
                  <a:srgbClr val="1C1C1C"/>
                </a:solidFill>
                <a:latin typeface="Arial"/>
              </a:rPr>
              <a:t> dual solutions;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reconstruction error grows only mildly with sparsity.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069813" y="25256906"/>
            <a:ext cx="3093533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D3A87"/>
                </a:solidFill>
                <a:latin typeface="Arial"/>
              </a:rPr>
              <a:t>Scan to Read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046640" y="26220777"/>
            <a:ext cx="1675225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Sweeping the Huber κ lowers MSE vs the squared loss across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contaminated Iris.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409065" y="27337444"/>
            <a:ext cx="8307558" cy="2557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Eigenspectrum decay.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As the spectrum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of G decays slower (small c), randomized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SVD needs far more oversamples (red); L-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BFGS iterations stay flat (blue).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046658" y="28046005"/>
            <a:ext cx="4066004" cy="1799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2320"/>
              </a:lnSpc>
              <a:spcBef>
                <a:spcPts val="0"/>
              </a:spcBef>
              <a:spcAft>
                <a:spcPts val="0"/>
              </a:spcAft>
            </a:pPr>
            <a:r>
              <a:rPr sz="12320" b="1">
                <a:solidFill>
                  <a:srgbClr val="1D3A87"/>
                </a:solidFill>
                <a:latin typeface="Arial"/>
              </a:rPr>
              <a:t>≤1.5×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5202733" y="28872775"/>
            <a:ext cx="7630821" cy="7825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Arial"/>
              </a:rPr>
              <a:t>rec.-error ratio even at high sparsity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222652" y="7634565"/>
            <a:ext cx="4426119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1D3A87"/>
                </a:solidFill>
                <a:latin typeface="Arial"/>
              </a:rPr>
              <a:t>9.17×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222652" y="9009459"/>
            <a:ext cx="4426119" cy="2398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speedup over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randomized SVD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on CIFAR-10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(n=60k)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1222652" y="11095275"/>
            <a:ext cx="4426119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full SVD could not finish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within a 30-min cap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229736" y="21982330"/>
            <a:ext cx="1767243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Fast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623230" y="22372240"/>
            <a:ext cx="2959902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Robust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174646" y="22372240"/>
            <a:ext cx="2866761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Sparse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229736" y="22884526"/>
            <a:ext cx="1767243" cy="13451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SVD-free,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up to 9×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over RSVD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3623230" y="23274436"/>
            <a:ext cx="2959902" cy="896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Huber Moreau-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envelope losses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174646" y="23274436"/>
            <a:ext cx="2866761" cy="896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ε-insensitive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dual solutions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575099" y="7047825"/>
            <a:ext cx="4471330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DATASET (N)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916197" y="7047825"/>
            <a:ext cx="2636986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FULL SVD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5476378" y="7047825"/>
            <a:ext cx="4426406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L-BFGS SPEEDUP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571792" y="7179508"/>
            <a:ext cx="93169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≥3×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658873" y="7312858"/>
            <a:ext cx="2329521" cy="1472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faster than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RSVD on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every task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8575099" y="7754302"/>
            <a:ext cx="447133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Synth 1 (7k)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2916197" y="7754302"/>
            <a:ext cx="263698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baseline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5476378" y="7754302"/>
            <a:ext cx="442640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≥3× vs RSVD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8575099" y="8699420"/>
            <a:ext cx="447133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Protein (14.9k)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916197" y="8699420"/>
            <a:ext cx="263698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slow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476378" y="8699420"/>
            <a:ext cx="442640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≥3× vs RSVD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571792" y="8853745"/>
            <a:ext cx="128208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O(s³)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7999054" y="8987095"/>
            <a:ext cx="1979134" cy="19629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per-iter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SVD,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replaces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O(n³)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8575099" y="9644538"/>
            <a:ext cx="447133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RCV1 (20.2k)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2916197" y="9644538"/>
            <a:ext cx="263698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&gt;30 min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5476378" y="9644538"/>
            <a:ext cx="442640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≥3× vs RSVD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8575099" y="10589656"/>
            <a:ext cx="4471330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CIFAR-10 (60k)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2916197" y="10589656"/>
            <a:ext cx="2636986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&gt;30 min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5476378" y="10589656"/>
            <a:ext cx="4426406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9.17× vs RSVD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6571792" y="10954702"/>
            <a:ext cx="10706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6.83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793751" y="11088052"/>
            <a:ext cx="2190596" cy="1472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Huber MSE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vs 7.59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squared</a:t>
            </a:r>
          </a:p>
        </p:txBody>
      </p:sp>
      <p:pic>
        <p:nvPicPr>
          <p:cNvPr id="137" name="Picture 136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49764" y="19969718"/>
            <a:ext cx="15519301" cy="12311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
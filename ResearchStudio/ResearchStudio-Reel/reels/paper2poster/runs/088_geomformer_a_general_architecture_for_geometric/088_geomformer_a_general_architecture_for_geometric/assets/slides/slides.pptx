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Molecular modeling in quantum mechanics demands models that respect physical laws, namely invariance and equivariance to rotation and translation of atomic coordinates. This paper introduces GeoMFormer, a general and flexible Transformer-based architecture that learns both invariant and equivariant molecular representations at once. It uses two parallel Transformer streams, one for each type of representation, and bridges them with carefully designed cross-attention modules so information flows between the two. Many prior geometric models turn out to be special cases of this framework, and GeoMFormer sets new state-of-the-art results across a wide range of molecular tasks.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Deep learning has become a powerful tool for molecular science, predicting properties of molecules from their three-dimensional coordinates and simulating how atoms move. But these tasks impose strict physical constraints. A model's prediction must transform correctly when the input coordinate system is rotated or translated, a requirement known as invariance for scalar quantities and equivariance for vector quantities. Existing methods handle these constraints, but most are built on heuristic and costly modules, and few offer a single general framework that learns both invariant and equivariant representations effectively at the same time.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trouble with existing geometric models is that they are largely built by hand. Designers craft specialized equivariant modules that are either expensive to scale or so constrained that they sacrifice expressive power, and the resulting architectures grow complex just to guarantee the physical constraints. More importantly, real applications increasingly demand a single model that performs both invariant and equivariant prediction with strong accuracy. There is a clear need for a general, flexible framework built on well-understood, standard components rather than one-off heuristic modules.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paper makes three main contributions. First, it introduces GeoMFormer, a novel Transformer-based molecular model that maintains two separate streams, one for invariant and one for equivariant representations, using only standard Transformer building blocks. Second, it designs cross-attention modules that bridge these two streams, letting each draw on contextual information from the other to enhance geometric modeling. Third, it shows that this framework is general enough that many previously proposed architectures can be viewed as special instantiations of GeoMFormer, and it backs the design with strong empirical results across a diverse set of molecular tasks.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GeoMFormer keeps two representations for every atom: an invariant feature vector and an equivariant three-dimensional feature. These flow through two parallel Transformer streams. Within each stream, a self-attention module first mixes information across atoms. For the equivariant stream, standard attention is modified so the attention score is computed by summing dot products over the three-dimensional Query and Key vectors, which provably preserves equivariance. Then, the key innovation, a cross-attention module lets each stream query the other: the invariant stream attends to the equivariant stream and vice versa, fusing the two kinds of geometric information. A feed-forward network completes each block, and blocks are stacked. Because the design uses only standard Transformer components arranged this way, many earlier geometric networks fall out as special cases of the framework.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authors evaluate GeoMFormer across a broad suite of tasks that together stress both invariant and equivariant abilities. On the Open Catalyst 2020 dataset, spanning over four hundred sixty thousand adsorbate-catalyst complexes, they test both the Initial Structure to Relaxed Energy task, which is invariant, and the Initial Structure to Relaxed Structure task, which is equivariant. On the large quantum chemistry datasets PCQM4Mv2 and Molecule3D, with millions of molecules, they predict the HOMO-LUMO energy gap. They further use a synthetic five-particle N-body simulation to test equivariant position prediction, and the MD17 dataset for force-field modeling in the ablation studies. This breadth lets a single architecture be judged on both scalar and vector prediction.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GeoMFormer delivers strong results everywhere it is tested. On the Open Catalyst energy prediction task it outperforms prior invariant models, and on the structure prediction task it excels at equivariant modeling. On the PCQM4Mv2 benchmark it reaches the lowest error among models with quadratic complexity, a six point seven percent relative reduction over the previous best, while staying efficient enough to scale to large systems. On Molecule3D it improves error by sixteen point three percent on the random split and eleven point six percent on the scaffold split. And on the N-body simulation it cuts mean squared error by a striking thirty-three point eight percent. A single architecture, built from standard Transformer parts, achieves state-of-the-art performance on both invariant and equivariant tasks.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understand where the gains come from, the authors ablate each building block. The most telling finding concerns the cross-attention modules that bridge the invariant and equivariant streams. Removing them hurts sharply. On the MD17 energy prediction task, adding the invariant cross-attention gives an eighteen point seven percent relative improvement, the equivariant cross-attention gives nine point eight percent, and using both together gives twenty point eight percent. On the harder MD17 force prediction task the effect is even larger, with a sixty point eight percent relative improvement when both cross-attention modules are used. On the N-body simulation the combined improvement is seventeen point five percent. The self-attention, feed-forward, and layer-normalization modules also each contribute, but the cross-attention bridge is clearly the heart of the design.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few numbers capture the impact. On PCQM4Mv2, GeoMFormer reaches a validation error of zero point zero seven three four, the best of any quadratic-complexity model, a six point seven percent relative reduction. On the N-body simulation it achieves a mean squared error of zero point zero zero four seven, a thirty-three point eight percent reduction over the previous best. On Molecule3D it records errors of zero point zero two five two on the random split and zero point one zero four five on the scaffold split, improvements of sixteen point three and eleven point six percent. And in the ablations, adding cross-attention yields up to a sixty point eight percent relative improvement on force prediction, underscoring how central that bridge is.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lasting message of this work is that you do not need bespoke, heuristic modules to model molecules under physical constraints. By running two standard Transformer streams in parallel, one for invariant and one for equivariant features, and connecting them with simple cross-attention, GeoMFormer learns both kinds of representation at once and outperforms specialized architectures on a wide range of tasks. Because many earlier models are special cases of this framework, GeoMFormer offers a clean, general, and scalable design principle for geometric molecular representation learning.</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geomforme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geomforme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650" kern="1200">
          <a:solidFill>
            <a:schemeClr val="tx1"/>
          </a:solidFill>
          <a:latin typeface="+mn-lt"/>
          <a:ea typeface="+mn-ea"/>
          <a:cs typeface="+mn-cs"/>
        </a:defRPr>
      </a:lvl1pPr>
      <a:lvl2pPr marL="457200" algn="l" defTabSz="457200" rtl="0" eaLnBrk="1" latinLnBrk="0" hangingPunct="1">
        <a:defRPr sz="1550" kern="1200">
          <a:solidFill>
            <a:schemeClr val="tx1"/>
          </a:solidFill>
          <a:latin typeface="+mn-lt"/>
          <a:ea typeface="+mn-ea"/>
          <a:cs typeface="+mn-cs"/>
        </a:defRPr>
      </a:lvl2pPr>
      <a:lvl3pPr marL="914400" algn="l" defTabSz="457200" rtl="0" eaLnBrk="1" latinLnBrk="0" hangingPunct="1">
        <a:defRPr sz="14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250" kern="1200">
          <a:solidFill>
            <a:schemeClr val="tx1"/>
          </a:solidFill>
          <a:latin typeface="+mn-lt"/>
          <a:ea typeface="+mn-ea"/>
          <a:cs typeface="+mn-cs"/>
        </a:defRPr>
      </a:lvl5pPr>
      <a:lvl6pPr marL="2286000" algn="l" defTabSz="457200" rtl="0" eaLnBrk="1" latinLnBrk="0" hangingPunct="1">
        <a:defRPr sz="1150" kern="1200">
          <a:solidFill>
            <a:schemeClr val="tx1"/>
          </a:solidFill>
          <a:latin typeface="+mn-lt"/>
          <a:ea typeface="+mn-ea"/>
          <a:cs typeface="+mn-cs"/>
        </a:defRPr>
      </a:lvl6pPr>
      <a:lvl7pPr marL="2743200" algn="l" defTabSz="457200" rtl="0" eaLnBrk="1" latinLnBrk="0" hangingPunct="1">
        <a:defRPr sz="105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392530015546656.jpg"/><Relationship Id="rId3" Type="http://schemas.openxmlformats.org/officeDocument/2006/relationships/image" Target="../media/image_714f4fa6eae9858f.png"/><Relationship Id="rId4" Type="http://schemas.openxmlformats.org/officeDocument/2006/relationships/image" Target="../media/image_4a6e5e9a9b4a6f29.png"/><Relationship Id="rId5" Type="http://schemas.openxmlformats.org/officeDocument/2006/relationships/image" Target="../media/image_0f8045531b4004da.png"/><Relationship Id="rId6" Type="http://schemas.openxmlformats.org/officeDocument/2006/relationships/image" Target="../media/image_443e571d0a85ff14.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392530015546656.jpg"/><Relationship Id="rId3" Type="http://schemas.openxmlformats.org/officeDocument/2006/relationships/image" Target="../media/image_0f8045531b4004da.png"/><Relationship Id="rId4" Type="http://schemas.openxmlformats.org/officeDocument/2006/relationships/image" Target="../media/image_443e571d0a85ff14.png"/><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76200"/>
          </a:xfrm>
          <a:prstGeom prst="rect">
            <a:avLst/>
          </a:prstGeom>
          <a:gradFill>
            <a:gsLst>
              <a:gs pos="0">
                <a:schemeClr val="accent2"/>
              </a:gs>
              <a:gs pos="100000">
                <a:schemeClr val="accent3"/>
              </a:gs>
            </a:gsLst>
            <a:lin ang="0" scaled="1"/>
          </a:gradFill>
          <a:ln>
            <a:noFill/>
          </a:ln>
        </p:spPr>
        <p:txBody>
          <a:bodyPr/>
          <a:p/>
        </p:txBody>
      </p:sp>
      <p:sp>
        <p:nvSpPr>
          <p:cNvPr id="3" name="Rectangle 3"/>
          <p:cNvSpPr/>
          <p:nvPr/>
        </p:nvSpPr>
        <p:spPr>
          <a:xfrm>
            <a:off x="0" y="6781800"/>
            <a:ext cx="12192000" cy="76200"/>
          </a:xfrm>
          <a:prstGeom prst="rect">
            <a:avLst/>
          </a:prstGeom>
          <a:solidFill>
            <a:schemeClr val="lt2"/>
          </a:solidFill>
          <a:ln>
            <a:noFill/>
          </a:ln>
        </p:spPr>
        <p:txBody>
          <a:bodyPr/>
          <a:p/>
        </p:txBody>
      </p:sp>
      <p:grpSp>
        <p:nvGrpSpPr>
          <p:cNvPr id="6" name="Group 6"/>
          <p:cNvGrpSpPr/>
          <p:nvPr/>
        </p:nvGrpSpPr>
        <p:grpSpPr>
          <a:xfrm>
            <a:off x="685800" y="757714"/>
            <a:ext cx="4945157" cy="249364"/>
            <a:chOff x="685800" y="757714"/>
            <a:chExt cx="4945157" cy="249364"/>
          </a:xfrm>
        </p:grpSpPr>
        <p:sp>
          <p:nvSpPr>
            <p:cNvPr id="4" name="Rectangle 4"/>
            <p:cNvSpPr/>
            <p:nvPr/>
          </p:nvSpPr>
          <p:spPr>
            <a:xfrm>
              <a:off x="685800" y="819150"/>
              <a:ext cx="323850" cy="38100"/>
            </a:xfrm>
            <a:prstGeom prst="roundRect">
              <a:avLst>
                <a:gd name="adj" fmla="val 50000"/>
              </a:avLst>
            </a:prstGeom>
            <a:gradFill>
              <a:gsLst>
                <a:gs pos="0">
                  <a:schemeClr val="accent2"/>
                </a:gs>
                <a:gs pos="100000">
                  <a:schemeClr val="accent3"/>
                </a:gs>
              </a:gsLst>
              <a:lin ang="0" scaled="1"/>
            </a:gradFill>
            <a:ln>
              <a:noFill/>
            </a:ln>
          </p:spPr>
        </p:sp>
        <p:sp>
          <p:nvSpPr>
            <p:cNvPr id="5" name="TextBox 5"/>
            <p:cNvSpPr txBox="1"/>
            <p:nvPr/>
          </p:nvSpPr>
          <p:spPr>
            <a:xfrm>
              <a:off x="1117473" y="757714"/>
              <a:ext cx="4513484"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ICML 2024 · GEOMETRIC DEEP LEARNING</a:t>
              </a:r>
            </a:p>
          </p:txBody>
        </p:sp>
      </p:grpSp>
      <p:grpSp>
        <p:nvGrpSpPr>
          <p:cNvPr id="10" name="Group 10"/>
          <p:cNvGrpSpPr/>
          <p:nvPr/>
        </p:nvGrpSpPr>
        <p:grpSpPr>
          <a:xfrm>
            <a:off x="8534400" y="1371600"/>
            <a:ext cx="2971800" cy="1885950"/>
            <a:chOff x="8534400" y="1371600"/>
            <a:chExt cx="2971800" cy="1885950"/>
          </a:xfrm>
        </p:grpSpPr>
        <p:sp>
          <p:nvSpPr>
            <p:cNvPr id="7" name="Rectangle 7"/>
            <p:cNvSpPr/>
            <p:nvPr/>
          </p:nvSpPr>
          <p:spPr>
            <a:xfrm>
              <a:off x="8534400" y="1371600"/>
              <a:ext cx="2971800" cy="1885950"/>
            </a:xfrm>
            <a:prstGeom prst="roundRect">
              <a:avLst>
                <a:gd name="adj" fmla="val 6061"/>
              </a:avLst>
            </a:prstGeom>
            <a:solidFill>
              <a:schemeClr val="lt1"/>
            </a:solidFill>
            <a:ln w="9525">
              <a:solidFill>
                <a:schemeClr val="accent4"/>
              </a:solidFill>
            </a:ln>
          </p:spPr>
        </p:sp>
        <p:sp>
          <p:nvSpPr>
            <p:cNvPr id="8" name="TextBox 8"/>
            <p:cNvSpPr txBox="1"/>
            <p:nvPr/>
          </p:nvSpPr>
          <p:spPr>
            <a:xfrm>
              <a:off x="8700897" y="1513999"/>
              <a:ext cx="1715108" cy="190690"/>
            </a:xfrm>
            <a:prstGeom prst="rect">
              <a:avLst/>
            </a:prstGeom>
            <a:noFill/>
            <a:ln>
              <a:noFill/>
            </a:ln>
          </p:spPr>
          <p:txBody>
            <a:bodyPr wrap="none" lIns="0" tIns="0" rIns="0" bIns="0" anchor="t" anchorCtr="0">
              <a:spAutoFit/>
            </a:bodyPr>
            <a:lstStyle/>
            <a:p>
              <a:pPr algn="l"/>
              <a:r>
                <a:rPr lang="en-US" sz="980" b="1" spc="112" dirty="0">
                  <a:solidFill>
                    <a:schemeClr val="dk2"/>
                  </a:solidFill>
                  <a:latin typeface="+mn-lt"/>
                  <a:ea typeface="+mn-ea"/>
                  <a:cs typeface="+mn-cs"/>
                </a:rPr>
                <a:t>MODEL ARCHITECTURE</a:t>
              </a:r>
            </a:p>
          </p:txBody>
        </p:sp>
        <p:pic>
          <p:nvPicPr>
            <p:cNvPr id="9" name="Image 9"/>
            <p:cNvPicPr>
              <a:picLocks noChangeAspect="1"/>
            </p:cNvPicPr>
            <p:nvPr/>
          </p:nvPicPr>
          <p:blipFill>
            <a:blip r:embed="rId2"/>
            <a:stretch>
              <a:fillRect/>
            </a:stretch>
          </p:blipFill>
          <p:spPr>
            <a:xfrm>
              <a:off x="8686800" y="1714500"/>
              <a:ext cx="2667000" cy="1495425"/>
            </a:xfrm>
            <a:prstGeom prst="rect">
              <a:avLst/>
            </a:prstGeom>
          </p:spPr>
        </p:pic>
      </p:grpSp>
      <p:grpSp>
        <p:nvGrpSpPr>
          <p:cNvPr id="13" name="Group 13"/>
          <p:cNvGrpSpPr/>
          <p:nvPr/>
        </p:nvGrpSpPr>
        <p:grpSpPr>
          <a:xfrm>
            <a:off x="647700" y="1127760"/>
            <a:ext cx="8373770" cy="1390650"/>
            <a:chOff x="647700" y="1127760"/>
            <a:chExt cx="8373770" cy="1390650"/>
          </a:xfrm>
        </p:grpSpPr>
        <p:sp>
          <p:nvSpPr>
            <p:cNvPr id="11" name="TextBox 11"/>
            <p:cNvSpPr txBox="1"/>
            <p:nvPr/>
          </p:nvSpPr>
          <p:spPr>
            <a:xfrm>
              <a:off x="647700" y="1127760"/>
              <a:ext cx="5959832" cy="1390650"/>
            </a:xfrm>
            <a:prstGeom prst="rect">
              <a:avLst/>
            </a:prstGeom>
            <a:noFill/>
            <a:ln>
              <a:noFill/>
            </a:ln>
          </p:spPr>
          <p:txBody>
            <a:bodyPr wrap="none" lIns="0" tIns="0" rIns="0" bIns="0" anchor="t" anchorCtr="0">
              <a:spAutoFit/>
            </a:bodyPr>
            <a:lstStyle/>
            <a:p>
              <a:pPr algn="l"/>
              <a:r>
                <a:rPr lang="en-US" sz="7200" b="1" spc="-150" dirty="0">
                  <a:gradFill>
                    <a:gsLst>
                      <a:gs pos="0">
                        <a:schemeClr val="accent2"/>
                      </a:gs>
                      <a:gs pos="100000">
                        <a:schemeClr val="accent3"/>
                      </a:gs>
                    </a:gsLst>
                    <a:lin ang="0" scaled="1"/>
                  </a:gradFill>
                  <a:latin typeface="+mn-lt"/>
                  <a:ea typeface="+mn-ea"/>
                  <a:cs typeface="+mn-cs"/>
                </a:rPr>
                <a:t>GeoMFormer</a:t>
              </a:r>
            </a:p>
          </p:txBody>
        </p:sp>
        <p:sp>
          <p:nvSpPr>
            <p:cNvPr id="12" name="TextBox 12"/>
            <p:cNvSpPr txBox="1"/>
            <p:nvPr/>
          </p:nvSpPr>
          <p:spPr>
            <a:xfrm>
              <a:off x="696468" y="2145982"/>
              <a:ext cx="8325002"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A General Architecture for Geometric Molecular Representation Learning</a:t>
              </a:r>
            </a:p>
          </p:txBody>
        </p:sp>
      </p:grpSp>
      <p:grpSp>
        <p:nvGrpSpPr>
          <p:cNvPr id="17" name="Group 17"/>
          <p:cNvGrpSpPr/>
          <p:nvPr/>
        </p:nvGrpSpPr>
        <p:grpSpPr>
          <a:xfrm>
            <a:off x="685800" y="2724150"/>
            <a:ext cx="9848208" cy="495300"/>
            <a:chOff x="685800" y="2724150"/>
            <a:chExt cx="9848208" cy="495300"/>
          </a:xfrm>
        </p:grpSpPr>
        <p:sp>
          <p:nvSpPr>
            <p:cNvPr id="14" name="Rectangle 14"/>
            <p:cNvSpPr/>
            <p:nvPr/>
          </p:nvSpPr>
          <p:spPr>
            <a:xfrm>
              <a:off x="685800" y="2724150"/>
              <a:ext cx="7734300" cy="495300"/>
            </a:xfrm>
            <a:prstGeom prst="roundRect">
              <a:avLst>
                <a:gd name="adj" fmla="val 19231"/>
              </a:avLst>
            </a:prstGeom>
            <a:solidFill>
              <a:schemeClr val="lt2"/>
            </a:solidFill>
            <a:ln w="9525">
              <a:solidFill>
                <a:schemeClr val="accent4"/>
              </a:solidFill>
            </a:ln>
          </p:spPr>
        </p:sp>
        <p:sp>
          <p:nvSpPr>
            <p:cNvPr id="15" name="Ellipse 15"/>
            <p:cNvSpPr/>
            <p:nvPr/>
          </p:nvSpPr>
          <p:spPr>
            <a:xfrm>
              <a:off x="885825" y="2905125"/>
              <a:ext cx="133350" cy="133350"/>
            </a:xfrm>
            <a:prstGeom prst="ellipse">
              <a:avLst/>
            </a:prstGeom>
            <a:solidFill>
              <a:schemeClr val="accent1"/>
            </a:solidFill>
            <a:ln>
              <a:noFill/>
            </a:ln>
          </p:spPr>
        </p:sp>
        <p:sp>
          <p:nvSpPr>
            <p:cNvPr id="16" name="TextBox 16"/>
            <p:cNvSpPr txBox="1"/>
            <p:nvPr/>
          </p:nvSpPr>
          <p:spPr>
            <a:xfrm>
              <a:off x="1135761" y="2875121"/>
              <a:ext cx="939824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 xml:space="preserve">Molecular modeling must respect physical laws — </a:t>
              </a:r>
              <a:r>
                <a:rPr lang="en-US" sz="1420" b="1" dirty="0">
                  <a:solidFill>
                    <a:schemeClr val="accent2"/>
                  </a:solidFill>
                  <a:latin typeface="+mn-lt"/>
                  <a:ea typeface="+mn-ea"/>
                  <a:cs typeface="+mn-cs"/>
                </a:rPr>
                <a:t>invariance</a:t>
              </a:r>
              <a:r>
                <a:rPr lang="en-US" sz="1420" dirty="0">
                  <a:solidFill>
                    <a:schemeClr val="dk1"/>
                  </a:solidFill>
                  <a:latin typeface="+mn-lt"/>
                  <a:ea typeface="+mn-ea"/>
                  <a:cs typeface="+mn-cs"/>
                </a:rPr>
                <a:t xml:space="preserve"> &amp; </a:t>
              </a:r>
              <a:r>
                <a:rPr lang="en-US" sz="1420" b="1" dirty="0">
                  <a:solidFill>
                    <a:schemeClr val="accent3"/>
                  </a:solidFill>
                  <a:latin typeface="+mn-lt"/>
                  <a:ea typeface="+mn-ea"/>
                  <a:cs typeface="+mn-cs"/>
                </a:rPr>
                <a:t>equivariance</a:t>
              </a:r>
              <a:r>
                <a:rPr lang="en-US" sz="1420" dirty="0">
                  <a:solidFill>
                    <a:schemeClr val="dk1"/>
                  </a:solidFill>
                  <a:latin typeface="+mn-lt"/>
                  <a:ea typeface="+mn-ea"/>
                  <a:cs typeface="+mn-cs"/>
                </a:rPr>
                <a:t xml:space="preserve"> to rotation &amp; translation</a:t>
              </a:r>
            </a:p>
          </p:txBody>
        </p:sp>
      </p:grpSp>
      <p:grpSp>
        <p:nvGrpSpPr>
          <p:cNvPr id="26" name="Group 26"/>
          <p:cNvGrpSpPr/>
          <p:nvPr/>
        </p:nvGrpSpPr>
        <p:grpSpPr>
          <a:xfrm>
            <a:off x="685800" y="3390900"/>
            <a:ext cx="3790950" cy="876300"/>
            <a:chOff x="685800" y="3390900"/>
            <a:chExt cx="3790950" cy="876300"/>
          </a:xfrm>
        </p:grpSpPr>
        <p:sp>
          <p:nvSpPr>
            <p:cNvPr id="18" name="Rectangle 18"/>
            <p:cNvSpPr/>
            <p:nvPr/>
          </p:nvSpPr>
          <p:spPr>
            <a:xfrm>
              <a:off x="685800" y="3390900"/>
              <a:ext cx="3790950" cy="876300"/>
            </a:xfrm>
            <a:prstGeom prst="roundRect">
              <a:avLst>
                <a:gd name="adj" fmla="val 13043"/>
              </a:avLst>
            </a:prstGeom>
            <a:solidFill>
              <a:schemeClr val="lt1"/>
            </a:solidFill>
            <a:ln w="9525">
              <a:solidFill>
                <a:schemeClr val="accent4"/>
              </a:solidFill>
            </a:ln>
          </p:spPr>
        </p:sp>
        <p:sp>
          <p:nvSpPr>
            <p:cNvPr id="19" name="TextBox 19"/>
            <p:cNvSpPr txBox="1"/>
            <p:nvPr/>
          </p:nvSpPr>
          <p:spPr>
            <a:xfrm>
              <a:off x="889635" y="3574256"/>
              <a:ext cx="1248861"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ARCHITECTURE</a:t>
              </a:r>
            </a:p>
          </p:txBody>
        </p:sp>
        <p:grpSp>
          <p:nvGrpSpPr>
            <p:cNvPr id="25" name="Group 25"/>
            <p:cNvGrpSpPr/>
            <p:nvPr/>
          </p:nvGrpSpPr>
          <p:grpSpPr>
            <a:xfrm>
              <a:off x="895350" y="3848100"/>
              <a:ext cx="3139068" cy="308801"/>
              <a:chOff x="895350" y="3848100"/>
              <a:chExt cx="3139068" cy="308801"/>
            </a:xfrm>
          </p:grpSpPr>
          <p:sp>
            <p:nvSpPr>
              <p:cNvPr id="20" name="Rectangle 20"/>
              <p:cNvSpPr/>
              <p:nvPr/>
            </p:nvSpPr>
            <p:spPr>
              <a:xfrm>
                <a:off x="895350" y="3848100"/>
                <a:ext cx="1428750" cy="285750"/>
              </a:xfrm>
              <a:prstGeom prst="roundRect">
                <a:avLst>
                  <a:gd name="adj" fmla="val 26667"/>
                </a:avLst>
              </a:prstGeom>
              <a:solidFill>
                <a:schemeClr val="accent6"/>
              </a:solidFill>
              <a:ln w="9525">
                <a:solidFill>
                  <a:schemeClr val="accent2"/>
                </a:solidFill>
              </a:ln>
            </p:spPr>
          </p:sp>
          <p:sp>
            <p:nvSpPr>
              <p:cNvPr id="21" name="TextBox 21"/>
              <p:cNvSpPr txBox="1"/>
              <p:nvPr/>
            </p:nvSpPr>
            <p:spPr>
              <a:xfrm>
                <a:off x="948504" y="3917156"/>
                <a:ext cx="1322442"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Invariant stream</a:t>
                </a:r>
              </a:p>
            </p:txBody>
          </p:sp>
          <p:sp>
            <p:nvSpPr>
              <p:cNvPr id="22" name="TextBox 22"/>
              <p:cNvSpPr txBox="1"/>
              <p:nvPr/>
            </p:nvSpPr>
            <p:spPr>
              <a:xfrm>
                <a:off x="2379065" y="3892868"/>
                <a:ext cx="118669"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a:t>
                </a:r>
              </a:p>
            </p:txBody>
          </p:sp>
          <p:sp>
            <p:nvSpPr>
              <p:cNvPr id="23" name="Rectangle 23"/>
              <p:cNvSpPr/>
              <p:nvPr/>
            </p:nvSpPr>
            <p:spPr>
              <a:xfrm>
                <a:off x="2571750" y="3848100"/>
                <a:ext cx="1428750" cy="285750"/>
              </a:xfrm>
              <a:prstGeom prst="roundRect">
                <a:avLst>
                  <a:gd name="adj" fmla="val 26667"/>
                </a:avLst>
              </a:prstGeom>
              <a:solidFill>
                <a:srgbClr val="E1EDFA"/>
              </a:solidFill>
              <a:ln w="9525">
                <a:solidFill>
                  <a:schemeClr val="accent3"/>
                </a:solidFill>
              </a:ln>
            </p:spPr>
          </p:sp>
          <p:sp>
            <p:nvSpPr>
              <p:cNvPr id="24" name="TextBox 24"/>
              <p:cNvSpPr txBox="1"/>
              <p:nvPr/>
            </p:nvSpPr>
            <p:spPr>
              <a:xfrm>
                <a:off x="2537832" y="3917156"/>
                <a:ext cx="1496586"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Equivariant stream</a:t>
                </a:r>
              </a:p>
            </p:txBody>
          </p:sp>
        </p:grpSp>
      </p:grpSp>
      <p:grpSp>
        <p:nvGrpSpPr>
          <p:cNvPr id="31" name="Group 31"/>
          <p:cNvGrpSpPr/>
          <p:nvPr/>
        </p:nvGrpSpPr>
        <p:grpSpPr>
          <a:xfrm>
            <a:off x="4629150" y="3390900"/>
            <a:ext cx="4302397" cy="911828"/>
            <a:chOff x="4629150" y="3390900"/>
            <a:chExt cx="4302397" cy="911828"/>
          </a:xfrm>
        </p:grpSpPr>
        <p:sp>
          <p:nvSpPr>
            <p:cNvPr id="27" name="Rectangle 27"/>
            <p:cNvSpPr/>
            <p:nvPr/>
          </p:nvSpPr>
          <p:spPr>
            <a:xfrm>
              <a:off x="4629150" y="3390900"/>
              <a:ext cx="3790950" cy="876300"/>
            </a:xfrm>
            <a:prstGeom prst="roundRect">
              <a:avLst>
                <a:gd name="adj" fmla="val 13043"/>
              </a:avLst>
            </a:prstGeom>
            <a:solidFill>
              <a:schemeClr val="lt1"/>
            </a:solidFill>
            <a:ln w="9525">
              <a:solidFill>
                <a:schemeClr val="accent4"/>
              </a:solidFill>
            </a:ln>
          </p:spPr>
        </p:sp>
        <p:sp>
          <p:nvSpPr>
            <p:cNvPr id="28" name="TextBox 28"/>
            <p:cNvSpPr txBox="1"/>
            <p:nvPr/>
          </p:nvSpPr>
          <p:spPr>
            <a:xfrm>
              <a:off x="4832985" y="3574256"/>
              <a:ext cx="2028678"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GENERALITY &amp; RESULTS</a:t>
              </a:r>
            </a:p>
          </p:txBody>
        </p:sp>
        <p:sp>
          <p:nvSpPr>
            <p:cNvPr id="29" name="TextBox 29"/>
            <p:cNvSpPr txBox="1"/>
            <p:nvPr/>
          </p:nvSpPr>
          <p:spPr>
            <a:xfrm>
              <a:off x="4832223" y="3843814"/>
              <a:ext cx="342044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Prior geometric models = special cases</a:t>
              </a:r>
            </a:p>
          </p:txBody>
        </p:sp>
        <p:sp>
          <p:nvSpPr>
            <p:cNvPr id="30" name="TextBox 30"/>
            <p:cNvSpPr txBox="1"/>
            <p:nvPr/>
          </p:nvSpPr>
          <p:spPr>
            <a:xfrm>
              <a:off x="4832223" y="4053364"/>
              <a:ext cx="409932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 xml:space="preserve">New </a:t>
              </a:r>
              <a:r>
                <a:rPr lang="en-US" sz="1280" b="1" dirty="0">
                  <a:solidFill>
                    <a:schemeClr val="accent2"/>
                  </a:solidFill>
                  <a:latin typeface="+mn-lt"/>
                  <a:ea typeface="+mn-ea"/>
                  <a:cs typeface="+mn-cs"/>
                </a:rPr>
                <a:t>state-of-the-art</a:t>
              </a:r>
              <a:r>
                <a:rPr lang="en-US" sz="1280" b="1" dirty="0">
                  <a:solidFill>
                    <a:schemeClr val="dk1"/>
                  </a:solidFill>
                  <a:latin typeface="+mn-lt"/>
                  <a:ea typeface="+mn-ea"/>
                  <a:cs typeface="+mn-cs"/>
                </a:rPr>
                <a:t xml:space="preserve"> across molecular tasks</a:t>
              </a:r>
            </a:p>
          </p:txBody>
        </p:sp>
      </p:grpSp>
      <p:grpSp>
        <p:nvGrpSpPr>
          <p:cNvPr id="34" name="Group 34"/>
          <p:cNvGrpSpPr/>
          <p:nvPr/>
        </p:nvGrpSpPr>
        <p:grpSpPr>
          <a:xfrm>
            <a:off x="678180" y="4714875"/>
            <a:ext cx="7920342" cy="527209"/>
            <a:chOff x="678180" y="4714875"/>
            <a:chExt cx="7920342" cy="527209"/>
          </a:xfrm>
        </p:grpSpPr>
        <p:sp>
          <p:nvSpPr>
            <p:cNvPr id="32" name="TextBox 32"/>
            <p:cNvSpPr txBox="1"/>
            <p:nvPr/>
          </p:nvSpPr>
          <p:spPr>
            <a:xfrm>
              <a:off x="678180" y="4714875"/>
              <a:ext cx="792034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Tianlang Chen · Shengjie Luo · Di He · Shuxin Zheng · Tie-Yan Liu · Liwei Wang</a:t>
              </a:r>
            </a:p>
          </p:txBody>
        </p:sp>
        <p:sp>
          <p:nvSpPr>
            <p:cNvPr id="33" name="TextBox 33"/>
            <p:cNvSpPr txBox="1"/>
            <p:nvPr/>
          </p:nvSpPr>
          <p:spPr>
            <a:xfrm>
              <a:off x="680085" y="5022056"/>
              <a:ext cx="372503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Peking University · Microsoft Research AI4Science</a:t>
              </a:r>
            </a:p>
          </p:txBody>
        </p:sp>
      </p:grpSp>
      <p:sp>
        <p:nvSpPr>
          <p:cNvPr id="35" name="Line 35"/>
          <p:cNvSpPr/>
          <p:nvPr/>
        </p:nvSpPr>
        <p:spPr>
          <a:xfrm>
            <a:off x="685800" y="539115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42" name="Group 42"/>
          <p:cNvGrpSpPr/>
          <p:nvPr/>
        </p:nvGrpSpPr>
        <p:grpSpPr>
          <a:xfrm>
            <a:off x="685800" y="5638800"/>
            <a:ext cx="4240742" cy="456914"/>
            <a:chOff x="685800" y="5638800"/>
            <a:chExt cx="4240742" cy="456914"/>
          </a:xfrm>
        </p:grpSpPr>
        <p:pic>
          <p:nvPicPr>
            <p:cNvPr id="36" name="Image 36"/>
            <p:cNvPicPr>
              <a:picLocks noChangeAspect="1"/>
            </p:cNvPicPr>
            <p:nvPr/>
          </p:nvPicPr>
          <p:blipFill>
            <a:blip r:embed="rId3"/>
            <a:stretch>
              <a:fillRect/>
            </a:stretch>
          </p:blipFill>
          <p:spPr>
            <a:xfrm>
              <a:off x="685800" y="5638800"/>
              <a:ext cx="438150" cy="438150"/>
            </a:xfrm>
            <a:prstGeom prst="rect">
              <a:avLst/>
            </a:prstGeom>
          </p:spPr>
        </p:pic>
        <p:sp>
          <p:nvSpPr>
            <p:cNvPr id="37" name="TextBox 37"/>
            <p:cNvSpPr txBox="1"/>
            <p:nvPr/>
          </p:nvSpPr>
          <p:spPr>
            <a:xfrm>
              <a:off x="1213485" y="5707856"/>
              <a:ext cx="1342698"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Peking University</a:t>
              </a:r>
            </a:p>
          </p:txBody>
        </p:sp>
        <p:sp>
          <p:nvSpPr>
            <p:cNvPr id="38" name="TextBox 38"/>
            <p:cNvSpPr txBox="1"/>
            <p:nvPr/>
          </p:nvSpPr>
          <p:spPr>
            <a:xfrm>
              <a:off x="1214247" y="5905024"/>
              <a:ext cx="143925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School of EECS · CMLR</a:t>
              </a:r>
            </a:p>
          </p:txBody>
        </p:sp>
        <p:pic>
          <p:nvPicPr>
            <p:cNvPr id="39" name="Image 39"/>
            <p:cNvPicPr>
              <a:picLocks noChangeAspect="1"/>
            </p:cNvPicPr>
            <p:nvPr/>
          </p:nvPicPr>
          <p:blipFill>
            <a:blip r:embed="rId4"/>
            <a:stretch>
              <a:fillRect/>
            </a:stretch>
          </p:blipFill>
          <p:spPr>
            <a:xfrm>
              <a:off x="2857500" y="5638800"/>
              <a:ext cx="438150" cy="438150"/>
            </a:xfrm>
            <a:prstGeom prst="rect">
              <a:avLst/>
            </a:prstGeom>
          </p:spPr>
        </p:pic>
        <p:sp>
          <p:nvSpPr>
            <p:cNvPr id="40" name="TextBox 40"/>
            <p:cNvSpPr txBox="1"/>
            <p:nvPr/>
          </p:nvSpPr>
          <p:spPr>
            <a:xfrm>
              <a:off x="3385185" y="5707856"/>
              <a:ext cx="1541357"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Microsoft Research</a:t>
              </a:r>
            </a:p>
          </p:txBody>
        </p:sp>
        <p:sp>
          <p:nvSpPr>
            <p:cNvPr id="41" name="TextBox 41"/>
            <p:cNvSpPr txBox="1"/>
            <p:nvPr/>
          </p:nvSpPr>
          <p:spPr>
            <a:xfrm>
              <a:off x="3385947" y="5905024"/>
              <a:ext cx="68199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AI4Science</a:t>
              </a:r>
            </a:p>
          </p:txBody>
        </p:sp>
      </p:grpSp>
      <p:grpSp>
        <p:nvGrpSpPr>
          <p:cNvPr id="47" name="Group 47"/>
          <p:cNvGrpSpPr/>
          <p:nvPr/>
        </p:nvGrpSpPr>
        <p:grpSpPr>
          <a:xfrm>
            <a:off x="9525000" y="5600700"/>
            <a:ext cx="1409700" cy="771239"/>
            <a:chOff x="9525000" y="5600700"/>
            <a:chExt cx="1409700" cy="771239"/>
          </a:xfrm>
        </p:grpSpPr>
        <p:pic>
          <p:nvPicPr>
            <p:cNvPr id="43" name="Image 43"/>
            <p:cNvPicPr>
              <a:picLocks noChangeAspect="1"/>
            </p:cNvPicPr>
            <p:nvPr/>
          </p:nvPicPr>
          <p:blipFill>
            <a:blip r:embed="rId5"/>
            <a:stretch>
              <a:fillRect/>
            </a:stretch>
          </p:blipFill>
          <p:spPr>
            <a:xfrm>
              <a:off x="9525000" y="5600700"/>
              <a:ext cx="533400" cy="533400"/>
            </a:xfrm>
            <a:prstGeom prst="rect">
              <a:avLst/>
            </a:prstGeom>
          </p:spPr>
        </p:pic>
        <p:sp>
          <p:nvSpPr>
            <p:cNvPr id="44" name="TextBox 44"/>
            <p:cNvSpPr txBox="1"/>
            <p:nvPr/>
          </p:nvSpPr>
          <p:spPr>
            <a:xfrm>
              <a:off x="9594120" y="6181249"/>
              <a:ext cx="395159"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Paper</a:t>
              </a:r>
            </a:p>
          </p:txBody>
        </p:sp>
        <p:pic>
          <p:nvPicPr>
            <p:cNvPr id="45" name="Image 45"/>
            <p:cNvPicPr>
              <a:picLocks noChangeAspect="1"/>
            </p:cNvPicPr>
            <p:nvPr/>
          </p:nvPicPr>
          <p:blipFill>
            <a:blip r:embed="rId6"/>
            <a:stretch>
              <a:fillRect/>
            </a:stretch>
          </p:blipFill>
          <p:spPr>
            <a:xfrm>
              <a:off x="10401300" y="5600700"/>
              <a:ext cx="533400" cy="533400"/>
            </a:xfrm>
            <a:prstGeom prst="rect">
              <a:avLst/>
            </a:prstGeom>
          </p:spPr>
        </p:pic>
        <p:sp>
          <p:nvSpPr>
            <p:cNvPr id="46" name="TextBox 46"/>
            <p:cNvSpPr txBox="1"/>
            <p:nvPr/>
          </p:nvSpPr>
          <p:spPr>
            <a:xfrm>
              <a:off x="10508514" y="6181249"/>
              <a:ext cx="318971"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Code</a:t>
              </a:r>
            </a:p>
          </p:txBody>
        </p:sp>
      </p:grpSp>
      <p:sp>
        <p:nvSpPr>
          <p:cNvPr id="48" name="TextBox 48"/>
          <p:cNvSpPr txBox="1"/>
          <p:nvPr/>
        </p:nvSpPr>
        <p:spPr>
          <a:xfrm>
            <a:off x="10278633" y="6554152"/>
            <a:ext cx="123290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arXiv:2406.16853</a:t>
            </a:r>
          </a:p>
        </p:txBody>
      </p:sp>
      <p:sp>
        <p:nvSpPr>
          <p:cNvPr id="49" name="cue_s01_c1_molecular_modeling_quantum_mechanics" title="cue_s01_c1_molecular_modeling_quantum_mechanics" descr="cue_s01_c1_molecular_modeling_quantum_mechanics Molecular modeling in quantum mechanics demands models that respect physical laws, namely invariance and equivariance to rotation and translation of atomic coordinates."/>
          <p:cNvSpPr/>
          <p:nvPr/>
        </p:nvSpPr>
        <p:spPr>
          <a:xfrm>
            <a:off x="686409" y="2723997"/>
            <a:ext cx="7734604"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1_c2_introduces_geomformer_general_flexib" title="cue_s01_c2_introduces_geomformer_general_flexib" descr="cue_s01_c2_introduces_geomformer_general_flexib This paper introduces GeoMFormer, a general and flexible Transformer-based architecture that learns both invariant and equivariant molecular representations at once."/>
          <p:cNvSpPr/>
          <p:nvPr/>
        </p:nvSpPr>
        <p:spPr>
          <a:xfrm>
            <a:off x="647395" y="1127455"/>
            <a:ext cx="5959449" cy="13908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1_c3_two_parallel_transformer_streams_one" title="cue_s01_c3_two_parallel_transformer_streams_one" descr="cue_s01_c3_two_parallel_transformer_streams_one It uses two parallel Transformer streams, one for each type of representation, and bridges them with carefully designed cross-attention modules so information flows between the two."/>
          <p:cNvSpPr/>
          <p:nvPr/>
        </p:nvSpPr>
        <p:spPr>
          <a:xfrm>
            <a:off x="686409" y="3390595"/>
            <a:ext cx="3790492"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1_c4_many_prior_geometric_models_turn" title="cue_s01_c4_many_prior_geometric_models_turn" descr="cue_s01_c4_many_prior_geometric_models_turn Many prior geometric models turn out to be special cases of this framework, and GeoMFormer sets new state-of-the-art results across a wide range of molecular tasks."/>
          <p:cNvSpPr/>
          <p:nvPr/>
        </p:nvSpPr>
        <p:spPr>
          <a:xfrm>
            <a:off x="4629302" y="3390595"/>
            <a:ext cx="3790492"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49717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02 </a:t>
            </a:r>
            <a:r>
              <a:rPr lang="en-US" sz="1200" b="1" spc="225" dirty="0">
                <a:solidFill>
                  <a:schemeClr val="accent5"/>
                </a:solidFill>
                <a:latin typeface="+mn-lt"/>
                <a:ea typeface="+mn-ea"/>
                <a:cs typeface="+mn-cs"/>
              </a:rPr>
              <a:t>/ PROBLEM</a:t>
            </a:r>
          </a:p>
        </p:txBody>
      </p:sp>
      <p:sp>
        <p:nvSpPr>
          <p:cNvPr id="4" name="TextBox 4"/>
          <p:cNvSpPr txBox="1"/>
          <p:nvPr/>
        </p:nvSpPr>
        <p:spPr>
          <a:xfrm>
            <a:off x="672084" y="699135"/>
            <a:ext cx="8874483"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Strict physical constraints, no unified solution</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2" name="Group 12"/>
          <p:cNvGrpSpPr/>
          <p:nvPr/>
        </p:nvGrpSpPr>
        <p:grpSpPr>
          <a:xfrm>
            <a:off x="685800" y="1447800"/>
            <a:ext cx="5181600" cy="1504950"/>
            <a:chOff x="685800" y="1447800"/>
            <a:chExt cx="5181600" cy="1504950"/>
          </a:xfrm>
        </p:grpSpPr>
        <p:sp>
          <p:nvSpPr>
            <p:cNvPr id="6" name="Rectangle 6"/>
            <p:cNvSpPr/>
            <p:nvPr/>
          </p:nvSpPr>
          <p:spPr>
            <a:xfrm>
              <a:off x="685800" y="1447800"/>
              <a:ext cx="5181600" cy="1504950"/>
            </a:xfrm>
            <a:prstGeom prst="roundRect">
              <a:avLst>
                <a:gd name="adj" fmla="val 8861"/>
              </a:avLst>
            </a:prstGeom>
            <a:solidFill>
              <a:srgbClr val="FBFCFE"/>
            </a:solidFill>
            <a:ln w="9525">
              <a:solidFill>
                <a:schemeClr val="accent4"/>
              </a:solidFill>
            </a:ln>
          </p:spPr>
        </p:sp>
        <p:sp>
          <p:nvSpPr>
            <p:cNvPr id="7" name="Rectangle 7"/>
            <p:cNvSpPr/>
            <p:nvPr/>
          </p:nvSpPr>
          <p:spPr>
            <a:xfrm>
              <a:off x="685800" y="1447800"/>
              <a:ext cx="57150" cy="1504950"/>
            </a:xfrm>
            <a:prstGeom prst="roundRect">
              <a:avLst>
                <a:gd name="adj" fmla="val 50000"/>
              </a:avLst>
            </a:prstGeom>
            <a:solidFill>
              <a:schemeClr val="accent1"/>
            </a:solidFill>
            <a:ln>
              <a:noFill/>
            </a:ln>
          </p:spPr>
        </p:sp>
        <p:sp>
          <p:nvSpPr>
            <p:cNvPr id="8" name="TextBox 8"/>
            <p:cNvSpPr txBox="1"/>
            <p:nvPr/>
          </p:nvSpPr>
          <p:spPr>
            <a:xfrm>
              <a:off x="944499" y="1658779"/>
              <a:ext cx="386437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Deep learning for molecular science</a:t>
              </a:r>
            </a:p>
          </p:txBody>
        </p:sp>
        <p:sp>
          <p:nvSpPr>
            <p:cNvPr id="9" name="TextBox 9"/>
            <p:cNvSpPr txBox="1"/>
            <p:nvPr/>
          </p:nvSpPr>
          <p:spPr>
            <a:xfrm>
              <a:off x="945642" y="2025968"/>
              <a:ext cx="393583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Predicts molecular properties directly from</a:t>
              </a:r>
            </a:p>
          </p:txBody>
        </p:sp>
        <p:sp>
          <p:nvSpPr>
            <p:cNvPr id="10" name="TextBox 10"/>
            <p:cNvSpPr txBox="1"/>
            <p:nvPr/>
          </p:nvSpPr>
          <p:spPr>
            <a:xfrm>
              <a:off x="945642" y="2254568"/>
              <a:ext cx="371840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3D atomic coordinates, and simulates how</a:t>
              </a:r>
            </a:p>
          </p:txBody>
        </p:sp>
        <p:sp>
          <p:nvSpPr>
            <p:cNvPr id="11" name="TextBox 11"/>
            <p:cNvSpPr txBox="1"/>
            <p:nvPr/>
          </p:nvSpPr>
          <p:spPr>
            <a:xfrm>
              <a:off x="945642" y="2483168"/>
              <a:ext cx="204008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atoms move over time.</a:t>
              </a:r>
            </a:p>
          </p:txBody>
        </p:sp>
      </p:grpSp>
      <p:grpSp>
        <p:nvGrpSpPr>
          <p:cNvPr id="19" name="Group 19"/>
          <p:cNvGrpSpPr/>
          <p:nvPr/>
        </p:nvGrpSpPr>
        <p:grpSpPr>
          <a:xfrm>
            <a:off x="6324600" y="1447800"/>
            <a:ext cx="5181600" cy="1504950"/>
            <a:chOff x="6324600" y="1447800"/>
            <a:chExt cx="5181600" cy="1504950"/>
          </a:xfrm>
        </p:grpSpPr>
        <p:sp>
          <p:nvSpPr>
            <p:cNvPr id="13" name="Rectangle 13"/>
            <p:cNvSpPr/>
            <p:nvPr/>
          </p:nvSpPr>
          <p:spPr>
            <a:xfrm>
              <a:off x="6324600" y="1447800"/>
              <a:ext cx="5181600" cy="1504950"/>
            </a:xfrm>
            <a:prstGeom prst="roundRect">
              <a:avLst>
                <a:gd name="adj" fmla="val 8861"/>
              </a:avLst>
            </a:prstGeom>
            <a:solidFill>
              <a:srgbClr val="FBFCFE"/>
            </a:solidFill>
            <a:ln w="9525">
              <a:solidFill>
                <a:schemeClr val="accent4"/>
              </a:solidFill>
            </a:ln>
          </p:spPr>
        </p:sp>
        <p:sp>
          <p:nvSpPr>
            <p:cNvPr id="14" name="Rectangle 14"/>
            <p:cNvSpPr/>
            <p:nvPr/>
          </p:nvSpPr>
          <p:spPr>
            <a:xfrm>
              <a:off x="6324600" y="1447800"/>
              <a:ext cx="57150" cy="1504950"/>
            </a:xfrm>
            <a:prstGeom prst="roundRect">
              <a:avLst>
                <a:gd name="adj" fmla="val 50000"/>
              </a:avLst>
            </a:prstGeom>
            <a:solidFill>
              <a:schemeClr val="accent2"/>
            </a:solidFill>
            <a:ln>
              <a:noFill/>
            </a:ln>
          </p:spPr>
        </p:sp>
        <p:sp>
          <p:nvSpPr>
            <p:cNvPr id="15" name="TextBox 15"/>
            <p:cNvSpPr txBox="1"/>
            <p:nvPr/>
          </p:nvSpPr>
          <p:spPr>
            <a:xfrm>
              <a:off x="6583299" y="1658779"/>
              <a:ext cx="3563276"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Predictions must obey symmetry</a:t>
              </a:r>
            </a:p>
          </p:txBody>
        </p:sp>
        <p:sp>
          <p:nvSpPr>
            <p:cNvPr id="16" name="TextBox 16"/>
            <p:cNvSpPr txBox="1"/>
            <p:nvPr/>
          </p:nvSpPr>
          <p:spPr>
            <a:xfrm>
              <a:off x="6584442" y="2025968"/>
              <a:ext cx="362738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When the coordinate frame is rotated or</a:t>
              </a:r>
            </a:p>
          </p:txBody>
        </p:sp>
        <p:sp>
          <p:nvSpPr>
            <p:cNvPr id="17" name="TextBox 17"/>
            <p:cNvSpPr txBox="1"/>
            <p:nvPr/>
          </p:nvSpPr>
          <p:spPr>
            <a:xfrm>
              <a:off x="6584442" y="2254568"/>
              <a:ext cx="410279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translated, the model output must transform</a:t>
              </a:r>
            </a:p>
          </p:txBody>
        </p:sp>
        <p:sp>
          <p:nvSpPr>
            <p:cNvPr id="18" name="TextBox 18"/>
            <p:cNvSpPr txBox="1"/>
            <p:nvPr/>
          </p:nvSpPr>
          <p:spPr>
            <a:xfrm>
              <a:off x="6584442" y="2483168"/>
              <a:ext cx="268525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 the physically correct way.</a:t>
              </a:r>
            </a:p>
          </p:txBody>
        </p:sp>
      </p:grpSp>
      <p:grpSp>
        <p:nvGrpSpPr>
          <p:cNvPr id="29" name="Group 29"/>
          <p:cNvGrpSpPr/>
          <p:nvPr/>
        </p:nvGrpSpPr>
        <p:grpSpPr>
          <a:xfrm>
            <a:off x="685800" y="3124200"/>
            <a:ext cx="10820400" cy="1428750"/>
            <a:chOff x="685800" y="3124200"/>
            <a:chExt cx="10820400" cy="1428750"/>
          </a:xfrm>
        </p:grpSpPr>
        <p:sp>
          <p:nvSpPr>
            <p:cNvPr id="20" name="Rectangle 20"/>
            <p:cNvSpPr/>
            <p:nvPr/>
          </p:nvSpPr>
          <p:spPr>
            <a:xfrm>
              <a:off x="685800" y="3124200"/>
              <a:ext cx="10820400" cy="1428750"/>
            </a:xfrm>
            <a:prstGeom prst="roundRect">
              <a:avLst>
                <a:gd name="adj" fmla="val 9333"/>
              </a:avLst>
            </a:prstGeom>
            <a:solidFill>
              <a:schemeClr val="lt2"/>
            </a:solidFill>
            <a:ln w="9525">
              <a:solidFill>
                <a:schemeClr val="accent4"/>
              </a:solidFill>
            </a:ln>
          </p:spPr>
        </p:sp>
        <p:sp>
          <p:nvSpPr>
            <p:cNvPr id="21" name="Rectangle 21"/>
            <p:cNvSpPr/>
            <p:nvPr/>
          </p:nvSpPr>
          <p:spPr>
            <a:xfrm>
              <a:off x="914400" y="3352800"/>
              <a:ext cx="5105400" cy="971550"/>
            </a:xfrm>
            <a:prstGeom prst="roundRect">
              <a:avLst>
                <a:gd name="adj" fmla="val 9804"/>
              </a:avLst>
            </a:prstGeom>
            <a:solidFill>
              <a:srgbClr val="FDEEF3"/>
            </a:solidFill>
            <a:ln w="9525">
              <a:solidFill>
                <a:schemeClr val="accent2"/>
              </a:solidFill>
            </a:ln>
          </p:spPr>
        </p:sp>
        <p:sp>
          <p:nvSpPr>
            <p:cNvPr id="22" name="TextBox 22"/>
            <p:cNvSpPr txBox="1"/>
            <p:nvPr/>
          </p:nvSpPr>
          <p:spPr>
            <a:xfrm>
              <a:off x="1135380" y="3533775"/>
              <a:ext cx="1081373"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Invariance</a:t>
              </a:r>
            </a:p>
          </p:txBody>
        </p:sp>
        <p:sp>
          <p:nvSpPr>
            <p:cNvPr id="23" name="TextBox 23"/>
            <p:cNvSpPr txBox="1"/>
            <p:nvPr/>
          </p:nvSpPr>
          <p:spPr>
            <a:xfrm>
              <a:off x="1136523" y="3824764"/>
              <a:ext cx="293164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Scalar outputs (e.g. energy) stay</a:t>
              </a:r>
            </a:p>
          </p:txBody>
        </p:sp>
        <p:sp>
          <p:nvSpPr>
            <p:cNvPr id="24" name="TextBox 24"/>
            <p:cNvSpPr txBox="1"/>
            <p:nvPr/>
          </p:nvSpPr>
          <p:spPr>
            <a:xfrm>
              <a:off x="1136523" y="4034314"/>
              <a:ext cx="345018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unchanged</a:t>
              </a:r>
              <a:r>
                <a:rPr lang="en-US" sz="1280" dirty="0">
                  <a:solidFill>
                    <a:schemeClr val="dk1"/>
                  </a:solidFill>
                  <a:latin typeface="+mn-lt"/>
                  <a:ea typeface="+mn-ea"/>
                  <a:cs typeface="+mn-cs"/>
                </a:rPr>
                <a:t xml:space="preserve"> under rotation / translation.</a:t>
              </a:r>
            </a:p>
          </p:txBody>
        </p:sp>
        <p:sp>
          <p:nvSpPr>
            <p:cNvPr id="25" name="Rectangle 25"/>
            <p:cNvSpPr/>
            <p:nvPr/>
          </p:nvSpPr>
          <p:spPr>
            <a:xfrm>
              <a:off x="6172200" y="3352800"/>
              <a:ext cx="5105400" cy="971550"/>
            </a:xfrm>
            <a:prstGeom prst="roundRect">
              <a:avLst>
                <a:gd name="adj" fmla="val 9804"/>
              </a:avLst>
            </a:prstGeom>
            <a:solidFill>
              <a:srgbClr val="EAF2FB"/>
            </a:solidFill>
            <a:ln w="9525">
              <a:solidFill>
                <a:schemeClr val="accent3"/>
              </a:solidFill>
            </a:ln>
          </p:spPr>
        </p:sp>
        <p:sp>
          <p:nvSpPr>
            <p:cNvPr id="26" name="TextBox 26"/>
            <p:cNvSpPr txBox="1"/>
            <p:nvPr/>
          </p:nvSpPr>
          <p:spPr>
            <a:xfrm>
              <a:off x="6393180" y="3533775"/>
              <a:ext cx="1314702"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n-lt"/>
                  <a:ea typeface="+mn-ea"/>
                  <a:cs typeface="+mn-cs"/>
                </a:rPr>
                <a:t>Equivariance</a:t>
              </a:r>
            </a:p>
          </p:txBody>
        </p:sp>
        <p:sp>
          <p:nvSpPr>
            <p:cNvPr id="27" name="TextBox 27"/>
            <p:cNvSpPr txBox="1"/>
            <p:nvPr/>
          </p:nvSpPr>
          <p:spPr>
            <a:xfrm>
              <a:off x="6394323" y="3824764"/>
              <a:ext cx="345709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Vector outputs (e.g. positions, forces)</a:t>
              </a:r>
            </a:p>
          </p:txBody>
        </p:sp>
        <p:sp>
          <p:nvSpPr>
            <p:cNvPr id="28" name="TextBox 28"/>
            <p:cNvSpPr txBox="1"/>
            <p:nvPr/>
          </p:nvSpPr>
          <p:spPr>
            <a:xfrm>
              <a:off x="6394323" y="4034314"/>
              <a:ext cx="286129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transform with</a:t>
              </a:r>
              <a:r>
                <a:rPr lang="en-US" sz="1280" dirty="0">
                  <a:solidFill>
                    <a:schemeClr val="dk1"/>
                  </a:solidFill>
                  <a:latin typeface="+mn-lt"/>
                  <a:ea typeface="+mn-ea"/>
                  <a:cs typeface="+mn-cs"/>
                </a:rPr>
                <a:t xml:space="preserve"> the input frame.</a:t>
              </a:r>
            </a:p>
          </p:txBody>
        </p:sp>
      </p:grpSp>
      <p:grpSp>
        <p:nvGrpSpPr>
          <p:cNvPr id="34" name="Group 34"/>
          <p:cNvGrpSpPr/>
          <p:nvPr/>
        </p:nvGrpSpPr>
        <p:grpSpPr>
          <a:xfrm>
            <a:off x="685800" y="4724400"/>
            <a:ext cx="10820400" cy="1128618"/>
            <a:chOff x="685800" y="4724400"/>
            <a:chExt cx="10820400" cy="1128618"/>
          </a:xfrm>
        </p:grpSpPr>
        <p:sp>
          <p:nvSpPr>
            <p:cNvPr id="30" name="Rectangle 30"/>
            <p:cNvSpPr/>
            <p:nvPr/>
          </p:nvSpPr>
          <p:spPr>
            <a:xfrm>
              <a:off x="685800" y="4724400"/>
              <a:ext cx="10820400" cy="1047750"/>
            </a:xfrm>
            <a:prstGeom prst="roundRect">
              <a:avLst>
                <a:gd name="adj" fmla="val 12727"/>
              </a:avLst>
            </a:prstGeom>
            <a:solidFill>
              <a:schemeClr val="accent1"/>
            </a:solidFill>
            <a:ln>
              <a:noFill/>
            </a:ln>
          </p:spPr>
        </p:sp>
        <p:sp>
          <p:nvSpPr>
            <p:cNvPr id="31" name="TextBox 31"/>
            <p:cNvSpPr txBox="1"/>
            <p:nvPr/>
          </p:nvSpPr>
          <p:spPr>
            <a:xfrm>
              <a:off x="946404" y="5013960"/>
              <a:ext cx="785409" cy="234696"/>
            </a:xfrm>
            <a:prstGeom prst="rect">
              <a:avLst/>
            </a:prstGeom>
            <a:noFill/>
            <a:ln>
              <a:noFill/>
            </a:ln>
          </p:spPr>
          <p:txBody>
            <a:bodyPr wrap="none" lIns="0" tIns="0" rIns="0" bIns="0" anchor="t" anchorCtr="0">
              <a:spAutoFit/>
            </a:bodyPr>
            <a:lstStyle/>
            <a:p>
              <a:pPr algn="l"/>
              <a:r>
                <a:rPr lang="en-US" sz="1200" b="1" spc="150" dirty="0">
                  <a:solidFill>
                    <a:srgbClr val="F4B8CE"/>
                  </a:solidFill>
                  <a:latin typeface="+mn-lt"/>
                  <a:ea typeface="+mn-ea"/>
                  <a:cs typeface="+mn-cs"/>
                </a:rPr>
                <a:t>THE GAP</a:t>
              </a:r>
            </a:p>
          </p:txBody>
        </p:sp>
        <p:sp>
          <p:nvSpPr>
            <p:cNvPr id="32" name="TextBox 32"/>
            <p:cNvSpPr txBox="1"/>
            <p:nvPr/>
          </p:nvSpPr>
          <p:spPr>
            <a:xfrm>
              <a:off x="944499" y="5297329"/>
              <a:ext cx="8443162"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Existing methods rely on heuristic, costly modules — few learn both invariant</a:t>
              </a:r>
            </a:p>
          </p:txBody>
        </p:sp>
        <p:sp>
          <p:nvSpPr>
            <p:cNvPr id="33" name="TextBox 33"/>
            <p:cNvSpPr txBox="1"/>
            <p:nvPr/>
          </p:nvSpPr>
          <p:spPr>
            <a:xfrm>
              <a:off x="944499" y="5544979"/>
              <a:ext cx="7910879"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and equivariant representations well within a single general framework.</a:t>
              </a:r>
            </a:p>
          </p:txBody>
        </p:sp>
      </p:grpSp>
      <p:sp>
        <p:nvSpPr>
          <p:cNvPr id="35" name="TextBox 35"/>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36" name="TextBox 36"/>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02 / 10</a:t>
            </a:r>
          </a:p>
        </p:txBody>
      </p:sp>
      <p:sp>
        <p:nvSpPr>
          <p:cNvPr id="37" name="cue_s02_c1_deep_learning_become_powerful_tool" title="cue_s02_c1_deep_learning_become_powerful_tool" descr="cue_s02_c1_deep_learning_become_powerful_tool Deep learning has become a powerful tool for molecular science, predicting properties of molecules from their three-dimensional coordinates and simulating how atoms move."/>
          <p:cNvSpPr/>
          <p:nvPr/>
        </p:nvSpPr>
        <p:spPr>
          <a:xfrm>
            <a:off x="686409" y="1447723"/>
            <a:ext cx="518160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2_c2_but_these_tasks_impose_strict" title="cue_s02_c2_but_these_tasks_impose_strict" descr="cue_s02_c2_but_these_tasks_impose_strict But these tasks impose strict physical constraints."/>
          <p:cNvSpPr/>
          <p:nvPr/>
        </p:nvSpPr>
        <p:spPr>
          <a:xfrm>
            <a:off x="6325209" y="1447723"/>
            <a:ext cx="5181600"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2_c3_prediction_must_transform_correctly" title="cue_s02_c3_prediction_must_transform_correctly" descr="cue_s02_c3_prediction_must_transform_correctly A model's prediction must transform correctly when the input coordinate system is rotated or translated, a requirement known as invariance for scalar quantities and equivariance for vector quantities."/>
          <p:cNvSpPr/>
          <p:nvPr/>
        </p:nvSpPr>
        <p:spPr>
          <a:xfrm>
            <a:off x="686409" y="3124504"/>
            <a:ext cx="108204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2_c4_existing_methods_handle_these_constr" title="cue_s02_c4_existing_methods_handle_these_constr" descr="cue_s02_c4_existing_methods_handle_these_constr Existing methods handle these constraints, but most are built on heuristic and costly modules, and few offer a single general framework that learns both invariant and equivariant representations effectively at the same time."/>
          <p:cNvSpPr/>
          <p:nvPr/>
        </p:nvSpPr>
        <p:spPr>
          <a:xfrm>
            <a:off x="686409" y="4724476"/>
            <a:ext cx="10820400" cy="1128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835140"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03 </a:t>
            </a:r>
            <a:r>
              <a:rPr lang="en-US" sz="1200" b="1" spc="225" dirty="0">
                <a:solidFill>
                  <a:schemeClr val="accent5"/>
                </a:solidFill>
                <a:latin typeface="+mn-lt"/>
                <a:ea typeface="+mn-ea"/>
                <a:cs typeface="+mn-cs"/>
              </a:rPr>
              <a:t>/ MOTIVATION</a:t>
            </a:r>
          </a:p>
        </p:txBody>
      </p:sp>
      <p:sp>
        <p:nvSpPr>
          <p:cNvPr id="4" name="TextBox 4"/>
          <p:cNvSpPr txBox="1"/>
          <p:nvPr/>
        </p:nvSpPr>
        <p:spPr>
          <a:xfrm>
            <a:off x="672084" y="699135"/>
            <a:ext cx="6699750"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Hand-built modules don't generalize</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5" name="Group 15"/>
          <p:cNvGrpSpPr/>
          <p:nvPr/>
        </p:nvGrpSpPr>
        <p:grpSpPr>
          <a:xfrm>
            <a:off x="685800" y="1447800"/>
            <a:ext cx="3429000" cy="2857500"/>
            <a:chOff x="685800" y="1447800"/>
            <a:chExt cx="3429000" cy="2857500"/>
          </a:xfrm>
        </p:grpSpPr>
        <p:sp>
          <p:nvSpPr>
            <p:cNvPr id="6" name="Rectangle 6"/>
            <p:cNvSpPr/>
            <p:nvPr/>
          </p:nvSpPr>
          <p:spPr>
            <a:xfrm>
              <a:off x="685800" y="1447800"/>
              <a:ext cx="3429000" cy="2857500"/>
            </a:xfrm>
            <a:prstGeom prst="roundRect">
              <a:avLst>
                <a:gd name="adj" fmla="val 4667"/>
              </a:avLst>
            </a:prstGeom>
            <a:solidFill>
              <a:srgbClr val="FBFCFE"/>
            </a:solidFill>
            <a:ln w="9525">
              <a:solidFill>
                <a:schemeClr val="accent4"/>
              </a:solidFill>
            </a:ln>
          </p:spPr>
        </p:sp>
        <p:sp>
          <p:nvSpPr>
            <p:cNvPr id="7" name="Ellipse 7"/>
            <p:cNvSpPr/>
            <p:nvPr/>
          </p:nvSpPr>
          <p:spPr>
            <a:xfrm>
              <a:off x="857250" y="1657350"/>
              <a:ext cx="342900" cy="342900"/>
            </a:xfrm>
            <a:prstGeom prst="ellipse">
              <a:avLst/>
            </a:prstGeom>
            <a:solidFill>
              <a:srgbClr val="FDEEF3"/>
            </a:solidFill>
            <a:ln>
              <a:noFill/>
            </a:ln>
          </p:spPr>
        </p:sp>
        <p:sp>
          <p:nvSpPr>
            <p:cNvPr id="8" name="TextBox 8"/>
            <p:cNvSpPr txBox="1"/>
            <p:nvPr/>
          </p:nvSpPr>
          <p:spPr>
            <a:xfrm>
              <a:off x="929312" y="1756410"/>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01</a:t>
              </a:r>
            </a:p>
          </p:txBody>
        </p:sp>
        <p:sp>
          <p:nvSpPr>
            <p:cNvPr id="9" name="TextBox 9"/>
            <p:cNvSpPr txBox="1"/>
            <p:nvPr/>
          </p:nvSpPr>
          <p:spPr>
            <a:xfrm>
              <a:off x="1325499" y="1715929"/>
              <a:ext cx="139657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Built by hand</a:t>
              </a:r>
            </a:p>
          </p:txBody>
        </p:sp>
        <p:sp>
          <p:nvSpPr>
            <p:cNvPr id="10" name="TextBox 10"/>
            <p:cNvSpPr txBox="1"/>
            <p:nvPr/>
          </p:nvSpPr>
          <p:spPr>
            <a:xfrm>
              <a:off x="907542" y="2216468"/>
              <a:ext cx="264600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Most geometric networks are</a:t>
              </a:r>
            </a:p>
          </p:txBody>
        </p:sp>
        <p:sp>
          <p:nvSpPr>
            <p:cNvPr id="11" name="TextBox 11"/>
            <p:cNvSpPr txBox="1"/>
            <p:nvPr/>
          </p:nvSpPr>
          <p:spPr>
            <a:xfrm>
              <a:off x="907542" y="2445068"/>
              <a:ext cx="239447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designed heuristically, one</a:t>
              </a:r>
            </a:p>
          </p:txBody>
        </p:sp>
        <p:sp>
          <p:nvSpPr>
            <p:cNvPr id="12" name="TextBox 12"/>
            <p:cNvSpPr txBox="1"/>
            <p:nvPr/>
          </p:nvSpPr>
          <p:spPr>
            <a:xfrm>
              <a:off x="907542" y="2673668"/>
              <a:ext cx="257620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specialized module at a time,</a:t>
              </a:r>
            </a:p>
          </p:txBody>
        </p:sp>
        <p:sp>
          <p:nvSpPr>
            <p:cNvPr id="13" name="TextBox 13"/>
            <p:cNvSpPr txBox="1"/>
            <p:nvPr/>
          </p:nvSpPr>
          <p:spPr>
            <a:xfrm>
              <a:off x="907542" y="2902268"/>
              <a:ext cx="226725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rather than from general</a:t>
              </a:r>
            </a:p>
          </p:txBody>
        </p:sp>
        <p:sp>
          <p:nvSpPr>
            <p:cNvPr id="14" name="TextBox 14"/>
            <p:cNvSpPr txBox="1"/>
            <p:nvPr/>
          </p:nvSpPr>
          <p:spPr>
            <a:xfrm>
              <a:off x="907542" y="3130868"/>
              <a:ext cx="97692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principles.</a:t>
              </a:r>
            </a:p>
          </p:txBody>
        </p:sp>
      </p:grpSp>
      <p:grpSp>
        <p:nvGrpSpPr>
          <p:cNvPr id="25" name="Group 25"/>
          <p:cNvGrpSpPr/>
          <p:nvPr/>
        </p:nvGrpSpPr>
        <p:grpSpPr>
          <a:xfrm>
            <a:off x="4381500" y="1447800"/>
            <a:ext cx="3429000" cy="2857500"/>
            <a:chOff x="4381500" y="1447800"/>
            <a:chExt cx="3429000" cy="2857500"/>
          </a:xfrm>
        </p:grpSpPr>
        <p:sp>
          <p:nvSpPr>
            <p:cNvPr id="16" name="Rectangle 16"/>
            <p:cNvSpPr/>
            <p:nvPr/>
          </p:nvSpPr>
          <p:spPr>
            <a:xfrm>
              <a:off x="4381500" y="1447800"/>
              <a:ext cx="3429000" cy="2857500"/>
            </a:xfrm>
            <a:prstGeom prst="roundRect">
              <a:avLst>
                <a:gd name="adj" fmla="val 4667"/>
              </a:avLst>
            </a:prstGeom>
            <a:solidFill>
              <a:srgbClr val="FBFCFE"/>
            </a:solidFill>
            <a:ln w="9525">
              <a:solidFill>
                <a:schemeClr val="accent4"/>
              </a:solidFill>
            </a:ln>
          </p:spPr>
        </p:sp>
        <p:sp>
          <p:nvSpPr>
            <p:cNvPr id="17" name="Ellipse 17"/>
            <p:cNvSpPr/>
            <p:nvPr/>
          </p:nvSpPr>
          <p:spPr>
            <a:xfrm>
              <a:off x="4552950" y="1657350"/>
              <a:ext cx="342900" cy="342900"/>
            </a:xfrm>
            <a:prstGeom prst="ellipse">
              <a:avLst/>
            </a:prstGeom>
            <a:solidFill>
              <a:srgbClr val="FDEEF3"/>
            </a:solidFill>
            <a:ln>
              <a:noFill/>
            </a:ln>
          </p:spPr>
        </p:sp>
        <p:sp>
          <p:nvSpPr>
            <p:cNvPr id="18" name="TextBox 18"/>
            <p:cNvSpPr txBox="1"/>
            <p:nvPr/>
          </p:nvSpPr>
          <p:spPr>
            <a:xfrm>
              <a:off x="4625012" y="1756410"/>
              <a:ext cx="1987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02</a:t>
              </a:r>
            </a:p>
          </p:txBody>
        </p:sp>
        <p:sp>
          <p:nvSpPr>
            <p:cNvPr id="19" name="TextBox 19"/>
            <p:cNvSpPr txBox="1"/>
            <p:nvPr/>
          </p:nvSpPr>
          <p:spPr>
            <a:xfrm>
              <a:off x="5021199" y="1715929"/>
              <a:ext cx="1743790"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Scale vs. power</a:t>
              </a:r>
            </a:p>
          </p:txBody>
        </p:sp>
        <p:sp>
          <p:nvSpPr>
            <p:cNvPr id="20" name="TextBox 20"/>
            <p:cNvSpPr txBox="1"/>
            <p:nvPr/>
          </p:nvSpPr>
          <p:spPr>
            <a:xfrm>
              <a:off x="4603242" y="2216468"/>
              <a:ext cx="273638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Equivariant modules are either</a:t>
              </a:r>
            </a:p>
          </p:txBody>
        </p:sp>
        <p:sp>
          <p:nvSpPr>
            <p:cNvPr id="21" name="TextBox 21"/>
            <p:cNvSpPr txBox="1"/>
            <p:nvPr/>
          </p:nvSpPr>
          <p:spPr>
            <a:xfrm>
              <a:off x="4603242" y="2445068"/>
              <a:ext cx="214003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expensive to scale or so</a:t>
              </a:r>
            </a:p>
          </p:txBody>
        </p:sp>
        <p:sp>
          <p:nvSpPr>
            <p:cNvPr id="22" name="TextBox 22"/>
            <p:cNvSpPr txBox="1"/>
            <p:nvPr/>
          </p:nvSpPr>
          <p:spPr>
            <a:xfrm>
              <a:off x="4603242" y="2673668"/>
              <a:ext cx="293968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constrained they lose expressive</a:t>
              </a:r>
            </a:p>
          </p:txBody>
        </p:sp>
        <p:sp>
          <p:nvSpPr>
            <p:cNvPr id="23" name="TextBox 23"/>
            <p:cNvSpPr txBox="1"/>
            <p:nvPr/>
          </p:nvSpPr>
          <p:spPr>
            <a:xfrm>
              <a:off x="4603242" y="2902268"/>
              <a:ext cx="273068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power — inflating architecture</a:t>
              </a:r>
            </a:p>
          </p:txBody>
        </p:sp>
        <p:sp>
          <p:nvSpPr>
            <p:cNvPr id="24" name="TextBox 24"/>
            <p:cNvSpPr txBox="1"/>
            <p:nvPr/>
          </p:nvSpPr>
          <p:spPr>
            <a:xfrm>
              <a:off x="4603242" y="3130868"/>
              <a:ext cx="105870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complexity.</a:t>
              </a:r>
            </a:p>
          </p:txBody>
        </p:sp>
      </p:grpSp>
      <p:grpSp>
        <p:nvGrpSpPr>
          <p:cNvPr id="34" name="Group 34"/>
          <p:cNvGrpSpPr/>
          <p:nvPr/>
        </p:nvGrpSpPr>
        <p:grpSpPr>
          <a:xfrm>
            <a:off x="8077200" y="1447800"/>
            <a:ext cx="3429000" cy="2857500"/>
            <a:chOff x="8077200" y="1447800"/>
            <a:chExt cx="3429000" cy="2857500"/>
          </a:xfrm>
        </p:grpSpPr>
        <p:sp>
          <p:nvSpPr>
            <p:cNvPr id="26" name="Rectangle 26"/>
            <p:cNvSpPr/>
            <p:nvPr/>
          </p:nvSpPr>
          <p:spPr>
            <a:xfrm>
              <a:off x="8077200" y="1447800"/>
              <a:ext cx="3429000" cy="2857500"/>
            </a:xfrm>
            <a:prstGeom prst="roundRect">
              <a:avLst>
                <a:gd name="adj" fmla="val 4667"/>
              </a:avLst>
            </a:prstGeom>
            <a:solidFill>
              <a:srgbClr val="FBFCFE"/>
            </a:solidFill>
            <a:ln w="9525">
              <a:solidFill>
                <a:schemeClr val="accent4"/>
              </a:solidFill>
            </a:ln>
          </p:spPr>
        </p:sp>
        <p:sp>
          <p:nvSpPr>
            <p:cNvPr id="27" name="Ellipse 27"/>
            <p:cNvSpPr/>
            <p:nvPr/>
          </p:nvSpPr>
          <p:spPr>
            <a:xfrm>
              <a:off x="8248650" y="1657350"/>
              <a:ext cx="342900" cy="342900"/>
            </a:xfrm>
            <a:prstGeom prst="ellipse">
              <a:avLst/>
            </a:prstGeom>
            <a:solidFill>
              <a:srgbClr val="EAF2FB"/>
            </a:solidFill>
            <a:ln>
              <a:noFill/>
            </a:ln>
          </p:spPr>
        </p:sp>
        <p:sp>
          <p:nvSpPr>
            <p:cNvPr id="28" name="TextBox 28"/>
            <p:cNvSpPr txBox="1"/>
            <p:nvPr/>
          </p:nvSpPr>
          <p:spPr>
            <a:xfrm>
              <a:off x="8320712" y="1756410"/>
              <a:ext cx="19877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03</a:t>
              </a:r>
            </a:p>
          </p:txBody>
        </p:sp>
        <p:sp>
          <p:nvSpPr>
            <p:cNvPr id="29" name="TextBox 29"/>
            <p:cNvSpPr txBox="1"/>
            <p:nvPr/>
          </p:nvSpPr>
          <p:spPr>
            <a:xfrm>
              <a:off x="8716899" y="1715929"/>
              <a:ext cx="1788668"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One model, both</a:t>
              </a:r>
            </a:p>
          </p:txBody>
        </p:sp>
        <p:sp>
          <p:nvSpPr>
            <p:cNvPr id="30" name="TextBox 30"/>
            <p:cNvSpPr txBox="1"/>
            <p:nvPr/>
          </p:nvSpPr>
          <p:spPr>
            <a:xfrm>
              <a:off x="8298942" y="2216468"/>
              <a:ext cx="265423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Applications increasingly need</a:t>
              </a:r>
            </a:p>
          </p:txBody>
        </p:sp>
        <p:sp>
          <p:nvSpPr>
            <p:cNvPr id="31" name="TextBox 31"/>
            <p:cNvSpPr txBox="1"/>
            <p:nvPr/>
          </p:nvSpPr>
          <p:spPr>
            <a:xfrm>
              <a:off x="8298942" y="2445068"/>
              <a:ext cx="29851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xml:space="preserve">strong </a:t>
              </a:r>
              <a:r>
                <a:rPr lang="en-US" sz="1350" b="1" dirty="0">
                  <a:solidFill>
                    <a:schemeClr val="accent2"/>
                  </a:solidFill>
                  <a:latin typeface="+mn-lt"/>
                  <a:ea typeface="+mn-ea"/>
                  <a:cs typeface="+mn-cs"/>
                </a:rPr>
                <a:t>invariant</a:t>
              </a:r>
              <a:r>
                <a:rPr lang="en-US" sz="1350" dirty="0">
                  <a:solidFill>
                    <a:schemeClr val="dk2"/>
                  </a:solidFill>
                  <a:latin typeface="+mn-lt"/>
                  <a:ea typeface="+mn-ea"/>
                  <a:cs typeface="+mn-cs"/>
                </a:rPr>
                <a:t xml:space="preserve"> and </a:t>
              </a:r>
              <a:r>
                <a:rPr lang="en-US" sz="1350" b="1" dirty="0">
                  <a:solidFill>
                    <a:schemeClr val="accent3"/>
                  </a:solidFill>
                  <a:latin typeface="+mn-lt"/>
                  <a:ea typeface="+mn-ea"/>
                  <a:cs typeface="+mn-cs"/>
                </a:rPr>
                <a:t>equivariant</a:t>
              </a:r>
            </a:p>
          </p:txBody>
        </p:sp>
        <p:sp>
          <p:nvSpPr>
            <p:cNvPr id="32" name="TextBox 32"/>
            <p:cNvSpPr txBox="1"/>
            <p:nvPr/>
          </p:nvSpPr>
          <p:spPr>
            <a:xfrm>
              <a:off x="8298942" y="2673668"/>
              <a:ext cx="227997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xml:space="preserve">prediction from the </a:t>
              </a:r>
              <a:r>
                <a:rPr lang="en-US" sz="1350" b="1" dirty="0">
                  <a:solidFill>
                    <a:schemeClr val="dk1"/>
                  </a:solidFill>
                  <a:latin typeface="+mn-lt"/>
                  <a:ea typeface="+mn-ea"/>
                  <a:cs typeface="+mn-cs"/>
                </a:rPr>
                <a:t>same</a:t>
              </a:r>
            </a:p>
          </p:txBody>
        </p:sp>
        <p:sp>
          <p:nvSpPr>
            <p:cNvPr id="33" name="TextBox 33"/>
            <p:cNvSpPr txBox="1"/>
            <p:nvPr/>
          </p:nvSpPr>
          <p:spPr>
            <a:xfrm>
              <a:off x="8298942" y="2902268"/>
              <a:ext cx="241264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model, with high accuracy.</a:t>
              </a:r>
            </a:p>
          </p:txBody>
        </p:sp>
      </p:grpSp>
      <p:grpSp>
        <p:nvGrpSpPr>
          <p:cNvPr id="39" name="Group 39"/>
          <p:cNvGrpSpPr/>
          <p:nvPr/>
        </p:nvGrpSpPr>
        <p:grpSpPr>
          <a:xfrm>
            <a:off x="685800" y="4495800"/>
            <a:ext cx="10820400" cy="1257300"/>
            <a:chOff x="685800" y="4495800"/>
            <a:chExt cx="10820400" cy="1257300"/>
          </a:xfrm>
        </p:grpSpPr>
        <p:sp>
          <p:nvSpPr>
            <p:cNvPr id="35" name="Rectangle 35"/>
            <p:cNvSpPr/>
            <p:nvPr/>
          </p:nvSpPr>
          <p:spPr>
            <a:xfrm>
              <a:off x="685800" y="4495800"/>
              <a:ext cx="10820400" cy="1257300"/>
            </a:xfrm>
            <a:prstGeom prst="roundRect">
              <a:avLst>
                <a:gd name="adj" fmla="val 10606"/>
              </a:avLst>
            </a:prstGeom>
            <a:solidFill>
              <a:schemeClr val="accent1"/>
            </a:solidFill>
            <a:ln>
              <a:noFill/>
            </a:ln>
          </p:spPr>
        </p:sp>
        <p:sp>
          <p:nvSpPr>
            <p:cNvPr id="36" name="TextBox 36"/>
            <p:cNvSpPr txBox="1"/>
            <p:nvPr/>
          </p:nvSpPr>
          <p:spPr>
            <a:xfrm>
              <a:off x="946404" y="4766310"/>
              <a:ext cx="905317" cy="234696"/>
            </a:xfrm>
            <a:prstGeom prst="rect">
              <a:avLst/>
            </a:prstGeom>
            <a:noFill/>
            <a:ln>
              <a:noFill/>
            </a:ln>
          </p:spPr>
          <p:txBody>
            <a:bodyPr wrap="none" lIns="0" tIns="0" rIns="0" bIns="0" anchor="t" anchorCtr="0">
              <a:spAutoFit/>
            </a:bodyPr>
            <a:lstStyle/>
            <a:p>
              <a:pPr algn="l"/>
              <a:r>
                <a:rPr lang="en-US" sz="1200" b="1" spc="150" dirty="0">
                  <a:solidFill>
                    <a:srgbClr val="8FB6E6"/>
                  </a:solidFill>
                  <a:latin typeface="+mn-lt"/>
                  <a:ea typeface="+mn-ea"/>
                  <a:cs typeface="+mn-cs"/>
                </a:rPr>
                <a:t>THE NEED</a:t>
              </a:r>
            </a:p>
          </p:txBody>
        </p:sp>
        <p:sp>
          <p:nvSpPr>
            <p:cNvPr id="37" name="TextBox 37"/>
            <p:cNvSpPr txBox="1"/>
            <p:nvPr/>
          </p:nvSpPr>
          <p:spPr>
            <a:xfrm>
              <a:off x="944118" y="5060632"/>
              <a:ext cx="909740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A general, flexible framework built on well-understood, standard components —</a:t>
              </a:r>
            </a:p>
          </p:txBody>
        </p:sp>
        <p:sp>
          <p:nvSpPr>
            <p:cNvPr id="38" name="TextBox 38"/>
            <p:cNvSpPr txBox="1"/>
            <p:nvPr/>
          </p:nvSpPr>
          <p:spPr>
            <a:xfrm>
              <a:off x="944118" y="5346382"/>
              <a:ext cx="5835831"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instead of one-off, heuristic equivariant modules.</a:t>
              </a:r>
            </a:p>
          </p:txBody>
        </p:sp>
      </p:grpSp>
      <p:sp>
        <p:nvSpPr>
          <p:cNvPr id="40" name="TextBox 40"/>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1" name="TextBox 41"/>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03 / 10</a:t>
            </a:r>
          </a:p>
        </p:txBody>
      </p:sp>
      <p:sp>
        <p:nvSpPr>
          <p:cNvPr id="42" name="cue_s03_c1_trouble_existing_geometric_models_th" title="cue_s03_c1_trouble_existing_geometric_models_th" descr="cue_s03_c1_trouble_existing_geometric_models_th The trouble with existing geometric models is that they are largely built by hand."/>
          <p:cNvSpPr/>
          <p:nvPr/>
        </p:nvSpPr>
        <p:spPr>
          <a:xfrm>
            <a:off x="686409"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2_designers_craft_specialized_equivari" title="cue_s03_c2_designers_craft_specialized_equivari" descr="cue_s03_c2_designers_craft_specialized_equivari Designers craft specialized equivariant modules that are either expensive to scale or so constrained that they sacrifice expressive power, and the resulting architectures grow complex just to guarantee the physical constraints."/>
          <p:cNvSpPr/>
          <p:nvPr/>
        </p:nvSpPr>
        <p:spPr>
          <a:xfrm>
            <a:off x="4381804"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3_more_importantly_real_applications_i" title="cue_s03_c3_more_importantly_real_applications_i" descr="cue_s03_c3_more_importantly_real_applications_i More importantly, real applications increasingly demand a single model that performs both invariant and equivariant prediction with strong accuracy."/>
          <p:cNvSpPr/>
          <p:nvPr/>
        </p:nvSpPr>
        <p:spPr>
          <a:xfrm>
            <a:off x="8077200"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4_clear_need_general_flexible_framewor" title="cue_s03_c4_clear_need_general_flexible_framewor" descr="cue_s03_c4_clear_need_general_flexible_framewor There is a clear need for a general, flexible framework built on well-understood, standard components rather than one-off heuristic modules."/>
          <p:cNvSpPr/>
          <p:nvPr/>
        </p:nvSpPr>
        <p:spPr>
          <a:xfrm>
            <a:off x="686409" y="4496104"/>
            <a:ext cx="108204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06044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04 </a:t>
            </a:r>
            <a:r>
              <a:rPr lang="en-US" sz="1200" b="1" spc="225" dirty="0">
                <a:solidFill>
                  <a:schemeClr val="accent5"/>
                </a:solidFill>
                <a:latin typeface="+mn-lt"/>
                <a:ea typeface="+mn-ea"/>
                <a:cs typeface="+mn-cs"/>
              </a:rPr>
              <a:t>/ CONTRIBUTION</a:t>
            </a:r>
          </a:p>
        </p:txBody>
      </p:sp>
      <p:sp>
        <p:nvSpPr>
          <p:cNvPr id="4" name="TextBox 4"/>
          <p:cNvSpPr txBox="1"/>
          <p:nvPr/>
        </p:nvSpPr>
        <p:spPr>
          <a:xfrm>
            <a:off x="672084" y="699135"/>
            <a:ext cx="7233831"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Three contributions, one architecture</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3" name="Group 13"/>
          <p:cNvGrpSpPr/>
          <p:nvPr/>
        </p:nvGrpSpPr>
        <p:grpSpPr>
          <a:xfrm>
            <a:off x="685800" y="1447800"/>
            <a:ext cx="2924068" cy="4305300"/>
            <a:chOff x="685800" y="1447800"/>
            <a:chExt cx="2924068" cy="4305300"/>
          </a:xfrm>
        </p:grpSpPr>
        <p:sp>
          <p:nvSpPr>
            <p:cNvPr id="6" name="Rectangle 6"/>
            <p:cNvSpPr/>
            <p:nvPr/>
          </p:nvSpPr>
          <p:spPr>
            <a:xfrm>
              <a:off x="685800" y="1447800"/>
              <a:ext cx="2857500" cy="4305300"/>
            </a:xfrm>
            <a:prstGeom prst="roundRect">
              <a:avLst>
                <a:gd name="adj" fmla="val 5333"/>
              </a:avLst>
            </a:prstGeom>
            <a:gradFill>
              <a:gsLst>
                <a:gs pos="0">
                  <a:schemeClr val="accent2"/>
                </a:gs>
                <a:gs pos="100000">
                  <a:schemeClr val="accent3"/>
                </a:gs>
              </a:gsLst>
              <a:lin ang="2700000" scaled="1"/>
            </a:gradFill>
            <a:ln>
              <a:noFill/>
            </a:ln>
          </p:spPr>
        </p:sp>
        <p:sp>
          <p:nvSpPr>
            <p:cNvPr id="7" name="TextBox 7"/>
            <p:cNvSpPr txBox="1"/>
            <p:nvPr/>
          </p:nvSpPr>
          <p:spPr>
            <a:xfrm>
              <a:off x="914400" y="1643062"/>
              <a:ext cx="912709" cy="2162175"/>
            </a:xfrm>
            <a:prstGeom prst="rect">
              <a:avLst/>
            </a:prstGeom>
            <a:noFill/>
            <a:ln>
              <a:noFill/>
            </a:ln>
          </p:spPr>
          <p:txBody>
            <a:bodyPr wrap="none" lIns="0" tIns="0" rIns="0" bIns="0" anchor="t" anchorCtr="0">
              <a:spAutoFit/>
            </a:bodyPr>
            <a:lstStyle/>
            <a:p>
              <a:pPr algn="l"/>
              <a:r>
                <a:rPr lang="en-US" sz="11250" b="1" dirty="0">
                  <a:solidFill>
                    <a:srgbClr val="FFFFFF"/>
                  </a:solidFill>
                  <a:latin typeface="+mn-lt"/>
                  <a:ea typeface="+mn-ea"/>
                  <a:cs typeface="+mn-cs"/>
                </a:rPr>
                <a:t>3</a:t>
              </a:r>
            </a:p>
          </p:txBody>
        </p:sp>
        <p:sp>
          <p:nvSpPr>
            <p:cNvPr id="8" name="TextBox 8"/>
            <p:cNvSpPr txBox="1"/>
            <p:nvPr/>
          </p:nvSpPr>
          <p:spPr>
            <a:xfrm>
              <a:off x="941070" y="3109912"/>
              <a:ext cx="2147033"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Contributions</a:t>
              </a:r>
            </a:p>
          </p:txBody>
        </p:sp>
        <p:sp>
          <p:nvSpPr>
            <p:cNvPr id="9" name="TextBox 9"/>
            <p:cNvSpPr txBox="1"/>
            <p:nvPr/>
          </p:nvSpPr>
          <p:spPr>
            <a:xfrm>
              <a:off x="945642" y="3588068"/>
              <a:ext cx="2255408"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A single, general design —</a:t>
              </a:r>
            </a:p>
          </p:txBody>
        </p:sp>
        <p:sp>
          <p:nvSpPr>
            <p:cNvPr id="10" name="TextBox 10"/>
            <p:cNvSpPr txBox="1"/>
            <p:nvPr/>
          </p:nvSpPr>
          <p:spPr>
            <a:xfrm>
              <a:off x="945642" y="3816668"/>
              <a:ext cx="2664226"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standard Transformer parts,</a:t>
              </a:r>
            </a:p>
          </p:txBody>
        </p:sp>
        <p:sp>
          <p:nvSpPr>
            <p:cNvPr id="11" name="TextBox 11"/>
            <p:cNvSpPr txBox="1"/>
            <p:nvPr/>
          </p:nvSpPr>
          <p:spPr>
            <a:xfrm>
              <a:off x="945642" y="4045268"/>
              <a:ext cx="2648902"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two representation streams,</a:t>
              </a:r>
            </a:p>
          </p:txBody>
        </p:sp>
        <p:sp>
          <p:nvSpPr>
            <p:cNvPr id="12" name="TextBox 12"/>
            <p:cNvSpPr txBox="1"/>
            <p:nvPr/>
          </p:nvSpPr>
          <p:spPr>
            <a:xfrm>
              <a:off x="945642" y="4273868"/>
              <a:ext cx="2530773" cy="264033"/>
            </a:xfrm>
            <a:prstGeom prst="rect">
              <a:avLst/>
            </a:prstGeom>
            <a:noFill/>
            <a:ln>
              <a:noFill/>
            </a:ln>
          </p:spPr>
          <p:txBody>
            <a:bodyPr wrap="none" lIns="0" tIns="0" rIns="0" bIns="0" anchor="t" anchorCtr="0">
              <a:spAutoFit/>
            </a:bodyPr>
            <a:lstStyle/>
            <a:p>
              <a:pPr algn="l"/>
              <a:r>
                <a:rPr lang="en-US" sz="1350" dirty="0">
                  <a:solidFill>
                    <a:srgbClr val="FBE4EC"/>
                  </a:solidFill>
                  <a:latin typeface="+mn-lt"/>
                  <a:ea typeface="+mn-ea"/>
                  <a:cs typeface="+mn-cs"/>
                </a:rPr>
                <a:t>bridged by cross-attention.</a:t>
              </a:r>
            </a:p>
          </p:txBody>
        </p:sp>
      </p:grpSp>
      <p:grpSp>
        <p:nvGrpSpPr>
          <p:cNvPr id="19" name="Group 19"/>
          <p:cNvGrpSpPr/>
          <p:nvPr/>
        </p:nvGrpSpPr>
        <p:grpSpPr>
          <a:xfrm>
            <a:off x="3810000" y="1447800"/>
            <a:ext cx="8856135" cy="1333500"/>
            <a:chOff x="3810000" y="1447800"/>
            <a:chExt cx="8856135" cy="1333500"/>
          </a:xfrm>
        </p:grpSpPr>
        <p:sp>
          <p:nvSpPr>
            <p:cNvPr id="14" name="Rectangle 14"/>
            <p:cNvSpPr/>
            <p:nvPr/>
          </p:nvSpPr>
          <p:spPr>
            <a:xfrm>
              <a:off x="3810000" y="1447800"/>
              <a:ext cx="7696200" cy="1333500"/>
            </a:xfrm>
            <a:prstGeom prst="roundRect">
              <a:avLst>
                <a:gd name="adj" fmla="val 10000"/>
              </a:avLst>
            </a:prstGeom>
            <a:solidFill>
              <a:srgbClr val="FBFCFE"/>
            </a:solidFill>
            <a:ln w="9525">
              <a:solidFill>
                <a:schemeClr val="accent4"/>
              </a:solidFill>
            </a:ln>
          </p:spPr>
        </p:sp>
        <p:sp>
          <p:nvSpPr>
            <p:cNvPr id="15" name="Rectangle 15"/>
            <p:cNvSpPr/>
            <p:nvPr/>
          </p:nvSpPr>
          <p:spPr>
            <a:xfrm>
              <a:off x="3810000" y="1447800"/>
              <a:ext cx="57150" cy="1333500"/>
            </a:xfrm>
            <a:prstGeom prst="roundRect">
              <a:avLst>
                <a:gd name="adj" fmla="val 50000"/>
              </a:avLst>
            </a:prstGeom>
            <a:solidFill>
              <a:schemeClr val="accent2"/>
            </a:solidFill>
            <a:ln>
              <a:noFill/>
            </a:ln>
          </p:spPr>
        </p:sp>
        <p:sp>
          <p:nvSpPr>
            <p:cNvPr id="16" name="TextBox 16"/>
            <p:cNvSpPr txBox="1"/>
            <p:nvPr/>
          </p:nvSpPr>
          <p:spPr>
            <a:xfrm>
              <a:off x="4109085" y="1745456"/>
              <a:ext cx="1058089" cy="220028"/>
            </a:xfrm>
            <a:prstGeom prst="rect">
              <a:avLst/>
            </a:prstGeom>
            <a:noFill/>
            <a:ln>
              <a:noFill/>
            </a:ln>
          </p:spPr>
          <p:txBody>
            <a:bodyPr wrap="none" lIns="0" tIns="0" rIns="0" bIns="0" anchor="t" anchorCtr="0">
              <a:spAutoFit/>
            </a:bodyPr>
            <a:lstStyle/>
            <a:p>
              <a:pPr algn="l"/>
              <a:r>
                <a:rPr lang="en-US" sz="1120" b="1" spc="112" dirty="0">
                  <a:solidFill>
                    <a:schemeClr val="accent2"/>
                  </a:solidFill>
                  <a:latin typeface="+mn-lt"/>
                  <a:ea typeface="+mn-ea"/>
                  <a:cs typeface="+mn-cs"/>
                </a:rPr>
                <a:t>01 · MODEL</a:t>
              </a:r>
            </a:p>
          </p:txBody>
        </p:sp>
        <p:sp>
          <p:nvSpPr>
            <p:cNvPr id="17" name="TextBox 17"/>
            <p:cNvSpPr txBox="1"/>
            <p:nvPr/>
          </p:nvSpPr>
          <p:spPr>
            <a:xfrm>
              <a:off x="4106037" y="2004536"/>
              <a:ext cx="306155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Two-stream Transformer</a:t>
              </a:r>
            </a:p>
          </p:txBody>
        </p:sp>
        <p:sp>
          <p:nvSpPr>
            <p:cNvPr id="18" name="TextBox 18"/>
            <p:cNvSpPr txBox="1"/>
            <p:nvPr/>
          </p:nvSpPr>
          <p:spPr>
            <a:xfrm>
              <a:off x="4107942" y="2349818"/>
              <a:ext cx="855819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xml:space="preserve">Maintains separate </a:t>
              </a:r>
              <a:r>
                <a:rPr lang="en-US" sz="1350" b="1" dirty="0">
                  <a:solidFill>
                    <a:schemeClr val="accent2"/>
                  </a:solidFill>
                  <a:latin typeface="+mn-lt"/>
                  <a:ea typeface="+mn-ea"/>
                  <a:cs typeface="+mn-cs"/>
                </a:rPr>
                <a:t>invariant</a:t>
              </a:r>
              <a:r>
                <a:rPr lang="en-US" sz="1350" dirty="0">
                  <a:solidFill>
                    <a:schemeClr val="dk2"/>
                  </a:solidFill>
                  <a:latin typeface="+mn-lt"/>
                  <a:ea typeface="+mn-ea"/>
                  <a:cs typeface="+mn-cs"/>
                </a:rPr>
                <a:t xml:space="preserve"> and </a:t>
              </a:r>
              <a:r>
                <a:rPr lang="en-US" sz="1350" b="1" dirty="0">
                  <a:solidFill>
                    <a:schemeClr val="accent3"/>
                  </a:solidFill>
                  <a:latin typeface="+mn-lt"/>
                  <a:ea typeface="+mn-ea"/>
                  <a:cs typeface="+mn-cs"/>
                </a:rPr>
                <a:t>equivariant</a:t>
              </a:r>
              <a:r>
                <a:rPr lang="en-US" sz="1350" dirty="0">
                  <a:solidFill>
                    <a:schemeClr val="dk2"/>
                  </a:solidFill>
                  <a:latin typeface="+mn-lt"/>
                  <a:ea typeface="+mn-ea"/>
                  <a:cs typeface="+mn-cs"/>
                </a:rPr>
                <a:t xml:space="preserve"> streams using only standard Transformer blocks.</a:t>
              </a:r>
            </a:p>
          </p:txBody>
        </p:sp>
      </p:grpSp>
      <p:grpSp>
        <p:nvGrpSpPr>
          <p:cNvPr id="25" name="Group 25"/>
          <p:cNvGrpSpPr/>
          <p:nvPr/>
        </p:nvGrpSpPr>
        <p:grpSpPr>
          <a:xfrm>
            <a:off x="3810000" y="2933700"/>
            <a:ext cx="7696200" cy="1333500"/>
            <a:chOff x="3810000" y="2933700"/>
            <a:chExt cx="7696200" cy="1333500"/>
          </a:xfrm>
        </p:grpSpPr>
        <p:sp>
          <p:nvSpPr>
            <p:cNvPr id="20" name="Rectangle 20"/>
            <p:cNvSpPr/>
            <p:nvPr/>
          </p:nvSpPr>
          <p:spPr>
            <a:xfrm>
              <a:off x="3810000" y="2933700"/>
              <a:ext cx="7696200" cy="1333500"/>
            </a:xfrm>
            <a:prstGeom prst="roundRect">
              <a:avLst>
                <a:gd name="adj" fmla="val 10000"/>
              </a:avLst>
            </a:prstGeom>
            <a:solidFill>
              <a:srgbClr val="FBFCFE"/>
            </a:solidFill>
            <a:ln w="9525">
              <a:solidFill>
                <a:schemeClr val="accent4"/>
              </a:solidFill>
            </a:ln>
          </p:spPr>
        </p:sp>
        <p:sp>
          <p:nvSpPr>
            <p:cNvPr id="21" name="Rectangle 21"/>
            <p:cNvSpPr/>
            <p:nvPr/>
          </p:nvSpPr>
          <p:spPr>
            <a:xfrm>
              <a:off x="3810000" y="2933700"/>
              <a:ext cx="57150" cy="1333500"/>
            </a:xfrm>
            <a:prstGeom prst="roundRect">
              <a:avLst>
                <a:gd name="adj" fmla="val 50000"/>
              </a:avLst>
            </a:prstGeom>
            <a:solidFill>
              <a:srgbClr val="7C3AED"/>
            </a:solidFill>
            <a:ln>
              <a:noFill/>
            </a:ln>
          </p:spPr>
        </p:sp>
        <p:sp>
          <p:nvSpPr>
            <p:cNvPr id="22" name="TextBox 22"/>
            <p:cNvSpPr txBox="1"/>
            <p:nvPr/>
          </p:nvSpPr>
          <p:spPr>
            <a:xfrm>
              <a:off x="4109085" y="3231356"/>
              <a:ext cx="1057292" cy="220028"/>
            </a:xfrm>
            <a:prstGeom prst="rect">
              <a:avLst/>
            </a:prstGeom>
            <a:noFill/>
            <a:ln>
              <a:noFill/>
            </a:ln>
          </p:spPr>
          <p:txBody>
            <a:bodyPr wrap="none" lIns="0" tIns="0" rIns="0" bIns="0" anchor="t" anchorCtr="0">
              <a:spAutoFit/>
            </a:bodyPr>
            <a:lstStyle/>
            <a:p>
              <a:pPr algn="l"/>
              <a:r>
                <a:rPr lang="en-US" sz="1120" b="1" spc="112" dirty="0">
                  <a:solidFill>
                    <a:srgbClr val="7C3AED"/>
                  </a:solidFill>
                  <a:latin typeface="+mn-lt"/>
                  <a:ea typeface="+mn-ea"/>
                  <a:cs typeface="+mn-cs"/>
                </a:rPr>
                <a:t>02 · BRIDGE</a:t>
              </a:r>
            </a:p>
          </p:txBody>
        </p:sp>
        <p:sp>
          <p:nvSpPr>
            <p:cNvPr id="23" name="TextBox 23"/>
            <p:cNvSpPr txBox="1"/>
            <p:nvPr/>
          </p:nvSpPr>
          <p:spPr>
            <a:xfrm>
              <a:off x="4106037" y="3490436"/>
              <a:ext cx="2967252"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Cross-attention modules</a:t>
              </a:r>
            </a:p>
          </p:txBody>
        </p:sp>
        <p:sp>
          <p:nvSpPr>
            <p:cNvPr id="24" name="TextBox 24"/>
            <p:cNvSpPr txBox="1"/>
            <p:nvPr/>
          </p:nvSpPr>
          <p:spPr>
            <a:xfrm>
              <a:off x="4107942" y="3835718"/>
              <a:ext cx="701687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Bridge the two streams so each draws contextual information from the other.</a:t>
              </a:r>
            </a:p>
          </p:txBody>
        </p:sp>
      </p:grpSp>
      <p:grpSp>
        <p:nvGrpSpPr>
          <p:cNvPr id="31" name="Group 31"/>
          <p:cNvGrpSpPr/>
          <p:nvPr/>
        </p:nvGrpSpPr>
        <p:grpSpPr>
          <a:xfrm>
            <a:off x="3810000" y="4419600"/>
            <a:ext cx="8187057" cy="1333500"/>
            <a:chOff x="3810000" y="4419600"/>
            <a:chExt cx="8187057" cy="1333500"/>
          </a:xfrm>
        </p:grpSpPr>
        <p:sp>
          <p:nvSpPr>
            <p:cNvPr id="26" name="Rectangle 26"/>
            <p:cNvSpPr/>
            <p:nvPr/>
          </p:nvSpPr>
          <p:spPr>
            <a:xfrm>
              <a:off x="3810000" y="4419600"/>
              <a:ext cx="7696200" cy="1333500"/>
            </a:xfrm>
            <a:prstGeom prst="roundRect">
              <a:avLst>
                <a:gd name="adj" fmla="val 10000"/>
              </a:avLst>
            </a:prstGeom>
            <a:solidFill>
              <a:srgbClr val="FBFCFE"/>
            </a:solidFill>
            <a:ln w="9525">
              <a:solidFill>
                <a:schemeClr val="accent4"/>
              </a:solidFill>
            </a:ln>
          </p:spPr>
        </p:sp>
        <p:sp>
          <p:nvSpPr>
            <p:cNvPr id="27" name="Rectangle 27"/>
            <p:cNvSpPr/>
            <p:nvPr/>
          </p:nvSpPr>
          <p:spPr>
            <a:xfrm>
              <a:off x="3810000" y="4419600"/>
              <a:ext cx="57150" cy="1333500"/>
            </a:xfrm>
            <a:prstGeom prst="roundRect">
              <a:avLst>
                <a:gd name="adj" fmla="val 50000"/>
              </a:avLst>
            </a:prstGeom>
            <a:solidFill>
              <a:schemeClr val="accent3"/>
            </a:solidFill>
            <a:ln>
              <a:noFill/>
            </a:ln>
          </p:spPr>
        </p:sp>
        <p:sp>
          <p:nvSpPr>
            <p:cNvPr id="28" name="TextBox 28"/>
            <p:cNvSpPr txBox="1"/>
            <p:nvPr/>
          </p:nvSpPr>
          <p:spPr>
            <a:xfrm>
              <a:off x="4109085" y="4717256"/>
              <a:ext cx="1489019" cy="220028"/>
            </a:xfrm>
            <a:prstGeom prst="rect">
              <a:avLst/>
            </a:prstGeom>
            <a:noFill/>
            <a:ln>
              <a:noFill/>
            </a:ln>
          </p:spPr>
          <p:txBody>
            <a:bodyPr wrap="none" lIns="0" tIns="0" rIns="0" bIns="0" anchor="t" anchorCtr="0">
              <a:spAutoFit/>
            </a:bodyPr>
            <a:lstStyle/>
            <a:p>
              <a:pPr algn="l"/>
              <a:r>
                <a:rPr lang="en-US" sz="1120" b="1" spc="112" dirty="0">
                  <a:solidFill>
                    <a:schemeClr val="accent3"/>
                  </a:solidFill>
                  <a:latin typeface="+mn-lt"/>
                  <a:ea typeface="+mn-ea"/>
                  <a:cs typeface="+mn-cs"/>
                </a:rPr>
                <a:t>03 · GENERALITY</a:t>
              </a:r>
            </a:p>
          </p:txBody>
        </p:sp>
        <p:sp>
          <p:nvSpPr>
            <p:cNvPr id="29" name="TextBox 29"/>
            <p:cNvSpPr txBox="1"/>
            <p:nvPr/>
          </p:nvSpPr>
          <p:spPr>
            <a:xfrm>
              <a:off x="4106037" y="4976336"/>
              <a:ext cx="3465516"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Prior models as special cases</a:t>
              </a:r>
            </a:p>
          </p:txBody>
        </p:sp>
        <p:sp>
          <p:nvSpPr>
            <p:cNvPr id="30" name="TextBox 30"/>
            <p:cNvSpPr txBox="1"/>
            <p:nvPr/>
          </p:nvSpPr>
          <p:spPr>
            <a:xfrm>
              <a:off x="4107942" y="5321618"/>
              <a:ext cx="788911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Many earlier architectures are instances of it — backed by strong results across tasks.</a:t>
              </a:r>
            </a:p>
          </p:txBody>
        </p:sp>
      </p:grpSp>
      <p:sp>
        <p:nvSpPr>
          <p:cNvPr id="32" name="TextBox 32"/>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33" name="TextBox 33"/>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04 / 10</a:t>
            </a:r>
          </a:p>
        </p:txBody>
      </p:sp>
      <p:sp>
        <p:nvSpPr>
          <p:cNvPr id="34" name="cue_s04_c1_makes_three_main_contributions" title="cue_s04_c1_makes_three_main_contributions" descr="cue_s04_c1_makes_three_main_contributions The paper makes three main contributions."/>
          <p:cNvSpPr/>
          <p:nvPr/>
        </p:nvSpPr>
        <p:spPr>
          <a:xfrm>
            <a:off x="686409" y="1447723"/>
            <a:ext cx="2923641"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4_c2_first_introduces_geomformer_novel_tr" title="cue_s04_c2_first_introduces_geomformer_novel_tr" descr="cue_s04_c2_first_introduces_geomformer_novel_tr First, it introduces GeoMFormer, a novel Transformer-based molecular model that maintains two separate streams, one for invariant and one for equivariant representations, using only standard Transformer building blocks."/>
          <p:cNvSpPr/>
          <p:nvPr/>
        </p:nvSpPr>
        <p:spPr>
          <a:xfrm>
            <a:off x="3810000" y="1447723"/>
            <a:ext cx="769559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4_c3_second_designs_cross_attention_modul" title="cue_s04_c3_second_designs_cross_attention_modul" descr="cue_s04_c3_second_designs_cross_attention_modul Second, it designs cross-attention modules that bridge these two streams, letting each draw on contextual information from the other to enhance geometric modeling."/>
          <p:cNvSpPr/>
          <p:nvPr/>
        </p:nvSpPr>
        <p:spPr>
          <a:xfrm>
            <a:off x="3810000" y="2933852"/>
            <a:ext cx="769559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4_c4_third_shows_framework_general_enough" title="cue_s04_c4_third_shows_framework_general_enough" descr="cue_s04_c4_third_shows_framework_general_enough Third, it shows that this framework is general enough that many previously proposed architectures can be viewed as special instantiations of GeoMFormer, and it backs the design with strong empirical results across a diverse set of molecular tasks."/>
          <p:cNvSpPr/>
          <p:nvPr/>
        </p:nvSpPr>
        <p:spPr>
          <a:xfrm>
            <a:off x="3810000" y="4419295"/>
            <a:ext cx="8186928"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366601"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05 </a:t>
            </a:r>
            <a:r>
              <a:rPr lang="en-US" sz="1200" b="1" spc="225" dirty="0">
                <a:solidFill>
                  <a:schemeClr val="accent5"/>
                </a:solidFill>
                <a:latin typeface="+mn-lt"/>
                <a:ea typeface="+mn-ea"/>
                <a:cs typeface="+mn-cs"/>
              </a:rPr>
              <a:t>/ METHOD</a:t>
            </a:r>
          </a:p>
        </p:txBody>
      </p:sp>
      <p:sp>
        <p:nvSpPr>
          <p:cNvPr id="4" name="TextBox 4"/>
          <p:cNvSpPr txBox="1"/>
          <p:nvPr/>
        </p:nvSpPr>
        <p:spPr>
          <a:xfrm>
            <a:off x="672084" y="699135"/>
            <a:ext cx="9314275"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Two parallel streams, bridged by cross-attention</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sp>
        <p:nvSpPr>
          <p:cNvPr id="6" name="Rectangle 6"/>
          <p:cNvSpPr/>
          <p:nvPr/>
        </p:nvSpPr>
        <p:spPr>
          <a:xfrm>
            <a:off x="685800" y="1428750"/>
            <a:ext cx="6781800" cy="4476750"/>
          </a:xfrm>
          <a:prstGeom prst="roundRect">
            <a:avLst>
              <a:gd name="adj" fmla="val 3404"/>
            </a:avLst>
          </a:prstGeom>
          <a:solidFill>
            <a:srgbClr val="FBFCFE"/>
          </a:solidFill>
          <a:ln w="9525">
            <a:solidFill>
              <a:schemeClr val="accent4"/>
            </a:solidFill>
          </a:ln>
        </p:spPr>
        <p:txBody>
          <a:bodyPr/>
          <a:p/>
        </p:txBody>
      </p:sp>
      <p:sp>
        <p:nvSpPr>
          <p:cNvPr id="7" name="TextBox 7"/>
          <p:cNvSpPr txBox="1"/>
          <p:nvPr/>
        </p:nvSpPr>
        <p:spPr>
          <a:xfrm>
            <a:off x="908685" y="1593056"/>
            <a:ext cx="2769065"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ONE GEOMFORMER BLOCK (×L)</a:t>
            </a:r>
          </a:p>
        </p:txBody>
      </p:sp>
      <p:grpSp>
        <p:nvGrpSpPr>
          <p:cNvPr id="14" name="Group 14"/>
          <p:cNvGrpSpPr/>
          <p:nvPr/>
        </p:nvGrpSpPr>
        <p:grpSpPr>
          <a:xfrm>
            <a:off x="1066800" y="1866900"/>
            <a:ext cx="6019800" cy="552450"/>
            <a:chOff x="1066800" y="1866900"/>
            <a:chExt cx="6019800" cy="552450"/>
          </a:xfrm>
        </p:grpSpPr>
        <p:sp>
          <p:nvSpPr>
            <p:cNvPr id="8" name="Rectangle 8"/>
            <p:cNvSpPr/>
            <p:nvPr/>
          </p:nvSpPr>
          <p:spPr>
            <a:xfrm>
              <a:off x="1066800" y="1866900"/>
              <a:ext cx="2762250" cy="552450"/>
            </a:xfrm>
            <a:prstGeom prst="roundRect">
              <a:avLst>
                <a:gd name="adj" fmla="val 17241"/>
              </a:avLst>
            </a:prstGeom>
            <a:solidFill>
              <a:srgbClr val="FDEEF3"/>
            </a:solidFill>
            <a:ln w="9525">
              <a:solidFill>
                <a:schemeClr val="accent2"/>
              </a:solidFill>
            </a:ln>
          </p:spPr>
        </p:sp>
        <p:sp>
          <p:nvSpPr>
            <p:cNvPr id="9" name="TextBox 9"/>
            <p:cNvSpPr txBox="1"/>
            <p:nvPr/>
          </p:nvSpPr>
          <p:spPr>
            <a:xfrm>
              <a:off x="1432153" y="1968818"/>
              <a:ext cx="2031543"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Zᴵ · Invariant stream</a:t>
              </a:r>
            </a:p>
          </p:txBody>
        </p:sp>
        <p:sp>
          <p:nvSpPr>
            <p:cNvPr id="10" name="TextBox 10"/>
            <p:cNvSpPr txBox="1"/>
            <p:nvPr/>
          </p:nvSpPr>
          <p:spPr>
            <a:xfrm>
              <a:off x="1605086" y="2201228"/>
              <a:ext cx="1685677" cy="205359"/>
            </a:xfrm>
            <a:prstGeom prst="rect">
              <a:avLst/>
            </a:prstGeom>
            <a:noFill/>
            <a:ln>
              <a:noFill/>
            </a:ln>
          </p:spPr>
          <p:txBody>
            <a:bodyPr wrap="none" lIns="0" tIns="0" rIns="0" bIns="0" anchor="t" anchorCtr="0">
              <a:spAutoFit/>
            </a:bodyPr>
            <a:lstStyle/>
            <a:p>
              <a:pPr algn="ctr"/>
              <a:r>
                <a:rPr lang="en-US" sz="1050" dirty="0">
                  <a:solidFill>
                    <a:srgbClr val="8A5567"/>
                  </a:solidFill>
                  <a:latin typeface="+mn-lt"/>
                  <a:ea typeface="+mn-ea"/>
                  <a:cs typeface="+mn-cs"/>
                </a:rPr>
                <a:t>scalar feature per atom</a:t>
              </a:r>
            </a:p>
          </p:txBody>
        </p:sp>
        <p:sp>
          <p:nvSpPr>
            <p:cNvPr id="11" name="Rectangle 11"/>
            <p:cNvSpPr/>
            <p:nvPr/>
          </p:nvSpPr>
          <p:spPr>
            <a:xfrm>
              <a:off x="4324350" y="1866900"/>
              <a:ext cx="2762250" cy="552450"/>
            </a:xfrm>
            <a:prstGeom prst="roundRect">
              <a:avLst>
                <a:gd name="adj" fmla="val 17241"/>
              </a:avLst>
            </a:prstGeom>
            <a:solidFill>
              <a:srgbClr val="EAF2FB"/>
            </a:solidFill>
            <a:ln w="9525">
              <a:solidFill>
                <a:schemeClr val="accent3"/>
              </a:solidFill>
            </a:ln>
          </p:spPr>
        </p:sp>
        <p:sp>
          <p:nvSpPr>
            <p:cNvPr id="12" name="TextBox 12"/>
            <p:cNvSpPr txBox="1"/>
            <p:nvPr/>
          </p:nvSpPr>
          <p:spPr>
            <a:xfrm>
              <a:off x="4584878" y="1968818"/>
              <a:ext cx="224119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Zᴱ · Equivariant stream</a:t>
              </a:r>
            </a:p>
          </p:txBody>
        </p:sp>
        <p:sp>
          <p:nvSpPr>
            <p:cNvPr id="13" name="TextBox 13"/>
            <p:cNvSpPr txBox="1"/>
            <p:nvPr/>
          </p:nvSpPr>
          <p:spPr>
            <a:xfrm>
              <a:off x="4743450" y="2201228"/>
              <a:ext cx="1924050" cy="205359"/>
            </a:xfrm>
            <a:prstGeom prst="rect">
              <a:avLst/>
            </a:prstGeom>
            <a:noFill/>
            <a:ln>
              <a:noFill/>
            </a:ln>
          </p:spPr>
          <p:txBody>
            <a:bodyPr wrap="none" lIns="0" tIns="0" rIns="0" bIns="0" anchor="t" anchorCtr="0">
              <a:spAutoFit/>
            </a:bodyPr>
            <a:lstStyle/>
            <a:p>
              <a:pPr algn="ctr"/>
              <a:r>
                <a:rPr lang="en-US" sz="1050" dirty="0">
                  <a:solidFill>
                    <a:srgbClr val="4A6E96"/>
                  </a:solidFill>
                  <a:latin typeface="+mn-lt"/>
                  <a:ea typeface="+mn-ea"/>
                  <a:cs typeface="+mn-cs"/>
                </a:rPr>
                <a:t>3D vector feature per atom</a:t>
              </a:r>
            </a:p>
          </p:txBody>
        </p:sp>
      </p:grpSp>
      <p:sp>
        <p:nvSpPr>
          <p:cNvPr id="15" name="Line 15"/>
          <p:cNvSpPr/>
          <p:nvPr/>
        </p:nvSpPr>
        <p:spPr>
          <a:xfrm>
            <a:off x="2447925" y="2419350"/>
            <a:ext cx="1" cy="266700"/>
          </a:xfrm>
          <a:prstGeom prst="line">
            <a:avLst/>
          </a:prstGeom>
          <a:noFill/>
          <a:ln w="15240">
            <a:solidFill>
              <a:srgbClr val="8A93A3"/>
            </a:solidFill>
            <a:tailEnd type="triangle" w="lg" len="lg"/>
          </a:ln>
        </p:spPr>
        <p:txBody>
          <a:bodyPr/>
          <a:p/>
        </p:txBody>
      </p:sp>
      <p:sp>
        <p:nvSpPr>
          <p:cNvPr id="16" name="Line 16"/>
          <p:cNvSpPr/>
          <p:nvPr/>
        </p:nvSpPr>
        <p:spPr>
          <a:xfrm>
            <a:off x="5705475" y="2419350"/>
            <a:ext cx="1" cy="266700"/>
          </a:xfrm>
          <a:prstGeom prst="line">
            <a:avLst/>
          </a:prstGeom>
          <a:noFill/>
          <a:ln w="15240">
            <a:solidFill>
              <a:srgbClr val="8A93A3"/>
            </a:solidFill>
            <a:tailEnd type="triangle" w="lg" len="lg"/>
          </a:ln>
        </p:spPr>
        <p:txBody>
          <a:bodyPr/>
          <a:p/>
        </p:txBody>
      </p:sp>
      <p:sp>
        <p:nvSpPr>
          <p:cNvPr id="17" name="Rectangle 17"/>
          <p:cNvSpPr/>
          <p:nvPr/>
        </p:nvSpPr>
        <p:spPr>
          <a:xfrm>
            <a:off x="1066800" y="2705100"/>
            <a:ext cx="2762250" cy="457200"/>
          </a:xfrm>
          <a:prstGeom prst="roundRect">
            <a:avLst>
              <a:gd name="adj" fmla="val 20833"/>
            </a:avLst>
          </a:prstGeom>
          <a:solidFill>
            <a:schemeClr val="lt1"/>
          </a:solidFill>
          <a:ln w="14288">
            <a:solidFill>
              <a:schemeClr val="accent2"/>
            </a:solidFill>
          </a:ln>
        </p:spPr>
        <p:txBody>
          <a:bodyPr/>
          <a:p/>
        </p:txBody>
      </p:sp>
      <p:sp>
        <p:nvSpPr>
          <p:cNvPr id="18" name="TextBox 18"/>
          <p:cNvSpPr txBox="1"/>
          <p:nvPr/>
        </p:nvSpPr>
        <p:spPr>
          <a:xfrm>
            <a:off x="1582888" y="2845118"/>
            <a:ext cx="1730073"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Inv Self-Attention</a:t>
            </a:r>
          </a:p>
        </p:txBody>
      </p:sp>
      <p:sp>
        <p:nvSpPr>
          <p:cNvPr id="19" name="Rectangle 19"/>
          <p:cNvSpPr/>
          <p:nvPr/>
        </p:nvSpPr>
        <p:spPr>
          <a:xfrm>
            <a:off x="4324350" y="2705100"/>
            <a:ext cx="2762250" cy="457200"/>
          </a:xfrm>
          <a:prstGeom prst="roundRect">
            <a:avLst>
              <a:gd name="adj" fmla="val 20833"/>
            </a:avLst>
          </a:prstGeom>
          <a:solidFill>
            <a:schemeClr val="lt1"/>
          </a:solidFill>
          <a:ln w="14288">
            <a:solidFill>
              <a:schemeClr val="accent3"/>
            </a:solidFill>
          </a:ln>
        </p:spPr>
        <p:txBody>
          <a:bodyPr/>
          <a:p/>
        </p:txBody>
      </p:sp>
      <p:sp>
        <p:nvSpPr>
          <p:cNvPr id="20" name="TextBox 20"/>
          <p:cNvSpPr txBox="1"/>
          <p:nvPr/>
        </p:nvSpPr>
        <p:spPr>
          <a:xfrm>
            <a:off x="4816332" y="2845118"/>
            <a:ext cx="1778285"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Equ Self-Attention</a:t>
            </a:r>
          </a:p>
        </p:txBody>
      </p:sp>
      <p:grpSp>
        <p:nvGrpSpPr>
          <p:cNvPr id="32" name="Group 32"/>
          <p:cNvGrpSpPr/>
          <p:nvPr/>
        </p:nvGrpSpPr>
        <p:grpSpPr>
          <a:xfrm>
            <a:off x="914400" y="3162300"/>
            <a:ext cx="6324600" cy="857250"/>
            <a:chOff x="914400" y="3162300"/>
            <a:chExt cx="6324600" cy="857250"/>
          </a:xfrm>
        </p:grpSpPr>
        <p:sp>
          <p:nvSpPr>
            <p:cNvPr id="21" name="Rectangle 21"/>
            <p:cNvSpPr/>
            <p:nvPr/>
          </p:nvSpPr>
          <p:spPr>
            <a:xfrm>
              <a:off x="914400" y="3352800"/>
              <a:ext cx="6324600" cy="666750"/>
            </a:xfrm>
            <a:prstGeom prst="roundRect">
              <a:avLst>
                <a:gd name="adj" fmla="val 17143"/>
              </a:avLst>
            </a:prstGeom>
            <a:solidFill>
              <a:srgbClr val="F3EDFC"/>
            </a:solidFill>
            <a:ln w="9525">
              <a:solidFill>
                <a:srgbClr val="7C3AED"/>
              </a:solidFill>
              <a:custDash>
                <a:ds d="500000" sp="400000"/>
              </a:custDash>
            </a:ln>
          </p:spPr>
        </p:sp>
        <p:sp>
          <p:nvSpPr>
            <p:cNvPr id="22" name="Line 22"/>
            <p:cNvSpPr/>
            <p:nvPr/>
          </p:nvSpPr>
          <p:spPr>
            <a:xfrm>
              <a:off x="2447925" y="3162300"/>
              <a:ext cx="1" cy="266700"/>
            </a:xfrm>
            <a:prstGeom prst="line">
              <a:avLst/>
            </a:prstGeom>
            <a:noFill/>
            <a:ln w="15240">
              <a:solidFill>
                <a:srgbClr val="8A93A3"/>
              </a:solidFill>
              <a:tailEnd type="triangle" w="lg" len="lg"/>
            </a:ln>
          </p:spPr>
        </p:sp>
        <p:sp>
          <p:nvSpPr>
            <p:cNvPr id="23" name="Line 23"/>
            <p:cNvSpPr/>
            <p:nvPr/>
          </p:nvSpPr>
          <p:spPr>
            <a:xfrm>
              <a:off x="5705475" y="3162300"/>
              <a:ext cx="1" cy="266700"/>
            </a:xfrm>
            <a:prstGeom prst="line">
              <a:avLst/>
            </a:prstGeom>
            <a:noFill/>
            <a:ln w="15240">
              <a:solidFill>
                <a:srgbClr val="8A93A3"/>
              </a:solidFill>
              <a:tailEnd type="triangle" w="lg" len="lg"/>
            </a:ln>
          </p:spPr>
        </p:sp>
        <p:sp>
          <p:nvSpPr>
            <p:cNvPr id="24" name="Rectangle 24"/>
            <p:cNvSpPr/>
            <p:nvPr/>
          </p:nvSpPr>
          <p:spPr>
            <a:xfrm>
              <a:off x="1066800" y="3486150"/>
              <a:ext cx="2762250" cy="400050"/>
            </a:xfrm>
            <a:prstGeom prst="roundRect">
              <a:avLst>
                <a:gd name="adj" fmla="val 23810"/>
              </a:avLst>
            </a:prstGeom>
            <a:solidFill>
              <a:schemeClr val="lt1"/>
            </a:solidFill>
            <a:ln w="14288">
              <a:solidFill>
                <a:schemeClr val="accent2"/>
              </a:solidFill>
            </a:ln>
          </p:spPr>
        </p:sp>
        <p:sp>
          <p:nvSpPr>
            <p:cNvPr id="25" name="TextBox 25"/>
            <p:cNvSpPr txBox="1"/>
            <p:nvPr/>
          </p:nvSpPr>
          <p:spPr>
            <a:xfrm>
              <a:off x="1477513" y="3605689"/>
              <a:ext cx="1940825" cy="249364"/>
            </a:xfrm>
            <a:prstGeom prst="rect">
              <a:avLst/>
            </a:prstGeom>
            <a:noFill/>
            <a:ln>
              <a:noFill/>
            </a:ln>
          </p:spPr>
          <p:txBody>
            <a:bodyPr wrap="none" lIns="0" tIns="0" rIns="0" bIns="0" anchor="t" anchorCtr="0">
              <a:spAutoFit/>
            </a:bodyPr>
            <a:lstStyle/>
            <a:p>
              <a:pPr algn="ctr"/>
              <a:r>
                <a:rPr lang="en-US" sz="1280" b="1" dirty="0">
                  <a:solidFill>
                    <a:schemeClr val="accent2"/>
                  </a:solidFill>
                  <a:latin typeface="+mn-lt"/>
                  <a:ea typeface="+mn-ea"/>
                  <a:cs typeface="+mn-cs"/>
                </a:rPr>
                <a:t>Inv ← Cross-Attention</a:t>
              </a:r>
            </a:p>
          </p:txBody>
        </p:sp>
        <p:sp>
          <p:nvSpPr>
            <p:cNvPr id="26" name="Rectangle 26"/>
            <p:cNvSpPr/>
            <p:nvPr/>
          </p:nvSpPr>
          <p:spPr>
            <a:xfrm>
              <a:off x="4324350" y="3486150"/>
              <a:ext cx="2762250" cy="400050"/>
            </a:xfrm>
            <a:prstGeom prst="roundRect">
              <a:avLst>
                <a:gd name="adj" fmla="val 23810"/>
              </a:avLst>
            </a:prstGeom>
            <a:solidFill>
              <a:schemeClr val="lt1"/>
            </a:solidFill>
            <a:ln w="14288">
              <a:solidFill>
                <a:schemeClr val="accent3"/>
              </a:solidFill>
            </a:ln>
          </p:spPr>
        </p:sp>
        <p:sp>
          <p:nvSpPr>
            <p:cNvPr id="27" name="TextBox 27"/>
            <p:cNvSpPr txBox="1"/>
            <p:nvPr/>
          </p:nvSpPr>
          <p:spPr>
            <a:xfrm>
              <a:off x="4712221" y="3605689"/>
              <a:ext cx="1986509" cy="249364"/>
            </a:xfrm>
            <a:prstGeom prst="rect">
              <a:avLst/>
            </a:prstGeom>
            <a:noFill/>
            <a:ln>
              <a:noFill/>
            </a:ln>
          </p:spPr>
          <p:txBody>
            <a:bodyPr wrap="none" lIns="0" tIns="0" rIns="0" bIns="0" anchor="t" anchorCtr="0">
              <a:spAutoFit/>
            </a:bodyPr>
            <a:lstStyle/>
            <a:p>
              <a:pPr algn="ctr"/>
              <a:r>
                <a:rPr lang="en-US" sz="1280" b="1" dirty="0">
                  <a:solidFill>
                    <a:schemeClr val="accent3"/>
                  </a:solidFill>
                  <a:latin typeface="+mn-lt"/>
                  <a:ea typeface="+mn-ea"/>
                  <a:cs typeface="+mn-cs"/>
                </a:rPr>
                <a:t>Equ ← Cross-Attention</a:t>
              </a:r>
            </a:p>
          </p:txBody>
        </p:sp>
        <p:sp>
          <p:nvSpPr>
            <p:cNvPr id="28" name="Freeform 28"/>
            <p:cNvSpPr/>
            <p:nvPr/>
          </p:nvSpPr>
          <p:spPr>
            <a:xfrm>
              <a:off x="3829050" y="3600450"/>
              <a:ext cx="476250" cy="171450"/>
            </a:xfrm>
            <a:custGeom>
              <a:avLst/>
              <a:gdLst/>
              <a:ahLst/>
              <a:cxnLst/>
              <a:rect l="l" t="t" r="r" b="b"/>
              <a:pathLst>
                <a:path w="476250" h="171450">
                  <a:moveTo>
                    <a:pt x="0" y="0"/>
                  </a:moveTo>
                  <a:cubicBezTo>
                    <a:pt x="209550" y="0"/>
                    <a:pt x="285750" y="171450"/>
                    <a:pt x="476250" y="171450"/>
                  </a:cubicBezTo>
                </a:path>
              </a:pathLst>
            </a:custGeom>
            <a:noFill/>
            <a:ln w="19050">
              <a:solidFill>
                <a:schemeClr val="accent3"/>
              </a:solidFill>
              <a:tailEnd type="triangle" w="lg" len="lg"/>
            </a:ln>
          </p:spPr>
        </p:sp>
        <p:sp>
          <p:nvSpPr>
            <p:cNvPr id="29" name="Freeform 29"/>
            <p:cNvSpPr/>
            <p:nvPr/>
          </p:nvSpPr>
          <p:spPr>
            <a:xfrm>
              <a:off x="3848100" y="3638550"/>
              <a:ext cx="457200" cy="171450"/>
            </a:xfrm>
            <a:custGeom>
              <a:avLst/>
              <a:gdLst/>
              <a:ahLst/>
              <a:cxnLst/>
              <a:rect l="l" t="t" r="r" b="b"/>
              <a:pathLst>
                <a:path w="457200" h="171450">
                  <a:moveTo>
                    <a:pt x="457200" y="0"/>
                  </a:moveTo>
                  <a:cubicBezTo>
                    <a:pt x="266700" y="0"/>
                    <a:pt x="190500" y="171450"/>
                    <a:pt x="0" y="171450"/>
                  </a:cubicBezTo>
                </a:path>
              </a:pathLst>
            </a:custGeom>
            <a:noFill/>
            <a:ln w="19050">
              <a:solidFill>
                <a:schemeClr val="accent2"/>
              </a:solidFill>
              <a:tailEnd type="triangle" w="lg" len="lg"/>
            </a:ln>
          </p:spPr>
        </p:sp>
        <p:sp>
          <p:nvSpPr>
            <p:cNvPr id="30" name="Rectangle 30"/>
            <p:cNvSpPr/>
            <p:nvPr/>
          </p:nvSpPr>
          <p:spPr>
            <a:xfrm>
              <a:off x="5829300" y="3390900"/>
              <a:ext cx="1276350" cy="209550"/>
            </a:xfrm>
            <a:prstGeom prst="roundRect">
              <a:avLst>
                <a:gd name="adj" fmla="val 27273"/>
              </a:avLst>
            </a:prstGeom>
            <a:solidFill>
              <a:srgbClr val="7C3AED"/>
            </a:solidFill>
            <a:ln>
              <a:noFill/>
            </a:ln>
          </p:spPr>
        </p:sp>
        <p:sp>
          <p:nvSpPr>
            <p:cNvPr id="31" name="TextBox 31"/>
            <p:cNvSpPr txBox="1"/>
            <p:nvPr/>
          </p:nvSpPr>
          <p:spPr>
            <a:xfrm>
              <a:off x="5899389" y="3446145"/>
              <a:ext cx="1136172" cy="176212"/>
            </a:xfrm>
            <a:prstGeom prst="rect">
              <a:avLst/>
            </a:prstGeom>
            <a:noFill/>
            <a:ln>
              <a:noFill/>
            </a:ln>
          </p:spPr>
          <p:txBody>
            <a:bodyPr wrap="none" lIns="0" tIns="0" rIns="0" bIns="0" anchor="t" anchorCtr="0">
              <a:spAutoFit/>
            </a:bodyPr>
            <a:lstStyle/>
            <a:p>
              <a:pPr algn="ctr"/>
              <a:r>
                <a:rPr lang="en-US" sz="900" b="1" spc="75" dirty="0">
                  <a:solidFill>
                    <a:srgbClr val="FFFFFF"/>
                  </a:solidFill>
                  <a:latin typeface="+mn-lt"/>
                  <a:ea typeface="+mn-ea"/>
                  <a:cs typeface="+mn-cs"/>
                </a:rPr>
                <a:t>KEY INNOVATION</a:t>
              </a:r>
            </a:p>
          </p:txBody>
        </p:sp>
      </p:grpSp>
      <p:grpSp>
        <p:nvGrpSpPr>
          <p:cNvPr id="44" name="Group 44"/>
          <p:cNvGrpSpPr/>
          <p:nvPr/>
        </p:nvGrpSpPr>
        <p:grpSpPr>
          <a:xfrm>
            <a:off x="1066800" y="4019550"/>
            <a:ext cx="6019800" cy="1787461"/>
            <a:chOff x="1066800" y="4019550"/>
            <a:chExt cx="6019800" cy="1787461"/>
          </a:xfrm>
        </p:grpSpPr>
        <p:sp>
          <p:nvSpPr>
            <p:cNvPr id="33" name="Line 33"/>
            <p:cNvSpPr/>
            <p:nvPr/>
          </p:nvSpPr>
          <p:spPr>
            <a:xfrm>
              <a:off x="2447925" y="4019550"/>
              <a:ext cx="1" cy="247650"/>
            </a:xfrm>
            <a:prstGeom prst="line">
              <a:avLst/>
            </a:prstGeom>
            <a:noFill/>
            <a:ln w="15240">
              <a:solidFill>
                <a:srgbClr val="8A93A3"/>
              </a:solidFill>
              <a:tailEnd type="triangle" w="lg" len="lg"/>
            </a:ln>
          </p:spPr>
        </p:sp>
        <p:sp>
          <p:nvSpPr>
            <p:cNvPr id="34" name="Line 34"/>
            <p:cNvSpPr/>
            <p:nvPr/>
          </p:nvSpPr>
          <p:spPr>
            <a:xfrm>
              <a:off x="5705475" y="4019550"/>
              <a:ext cx="1" cy="247650"/>
            </a:xfrm>
            <a:prstGeom prst="line">
              <a:avLst/>
            </a:prstGeom>
            <a:noFill/>
            <a:ln w="15240">
              <a:solidFill>
                <a:srgbClr val="8A93A3"/>
              </a:solidFill>
              <a:tailEnd type="triangle" w="lg" len="lg"/>
            </a:ln>
          </p:spPr>
        </p:sp>
        <p:sp>
          <p:nvSpPr>
            <p:cNvPr id="35" name="Rectangle 35"/>
            <p:cNvSpPr/>
            <p:nvPr/>
          </p:nvSpPr>
          <p:spPr>
            <a:xfrm>
              <a:off x="1066800" y="4286250"/>
              <a:ext cx="2762250" cy="438150"/>
            </a:xfrm>
            <a:prstGeom prst="roundRect">
              <a:avLst>
                <a:gd name="adj" fmla="val 21739"/>
              </a:avLst>
            </a:prstGeom>
            <a:solidFill>
              <a:schemeClr val="lt1"/>
            </a:solidFill>
            <a:ln w="14288">
              <a:solidFill>
                <a:schemeClr val="accent2"/>
              </a:solidFill>
            </a:ln>
          </p:spPr>
        </p:sp>
        <p:sp>
          <p:nvSpPr>
            <p:cNvPr id="36" name="TextBox 36"/>
            <p:cNvSpPr txBox="1"/>
            <p:nvPr/>
          </p:nvSpPr>
          <p:spPr>
            <a:xfrm>
              <a:off x="2084622" y="4416742"/>
              <a:ext cx="726605"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Inv-FFN</a:t>
              </a:r>
            </a:p>
          </p:txBody>
        </p:sp>
        <p:sp>
          <p:nvSpPr>
            <p:cNvPr id="37" name="Rectangle 37"/>
            <p:cNvSpPr/>
            <p:nvPr/>
          </p:nvSpPr>
          <p:spPr>
            <a:xfrm>
              <a:off x="4324350" y="4286250"/>
              <a:ext cx="2762250" cy="438150"/>
            </a:xfrm>
            <a:prstGeom prst="roundRect">
              <a:avLst>
                <a:gd name="adj" fmla="val 21739"/>
              </a:avLst>
            </a:prstGeom>
            <a:solidFill>
              <a:schemeClr val="lt1"/>
            </a:solidFill>
            <a:ln w="14288">
              <a:solidFill>
                <a:schemeClr val="accent3"/>
              </a:solidFill>
            </a:ln>
          </p:spPr>
        </p:sp>
        <p:sp>
          <p:nvSpPr>
            <p:cNvPr id="38" name="TextBox 38"/>
            <p:cNvSpPr txBox="1"/>
            <p:nvPr/>
          </p:nvSpPr>
          <p:spPr>
            <a:xfrm>
              <a:off x="5317419" y="4416742"/>
              <a:ext cx="776111"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Equ-FFN</a:t>
              </a:r>
            </a:p>
          </p:txBody>
        </p:sp>
        <p:sp>
          <p:nvSpPr>
            <p:cNvPr id="39" name="Line 39"/>
            <p:cNvSpPr/>
            <p:nvPr/>
          </p:nvSpPr>
          <p:spPr>
            <a:xfrm>
              <a:off x="2447925" y="4724400"/>
              <a:ext cx="1" cy="266700"/>
            </a:xfrm>
            <a:prstGeom prst="line">
              <a:avLst/>
            </a:prstGeom>
            <a:noFill/>
            <a:ln w="15240">
              <a:solidFill>
                <a:srgbClr val="8A93A3"/>
              </a:solidFill>
              <a:tailEnd type="triangle" w="lg" len="lg"/>
            </a:ln>
          </p:spPr>
        </p:sp>
        <p:sp>
          <p:nvSpPr>
            <p:cNvPr id="40" name="Line 40"/>
            <p:cNvSpPr/>
            <p:nvPr/>
          </p:nvSpPr>
          <p:spPr>
            <a:xfrm>
              <a:off x="5705475" y="4724400"/>
              <a:ext cx="1" cy="266700"/>
            </a:xfrm>
            <a:prstGeom prst="line">
              <a:avLst/>
            </a:prstGeom>
            <a:noFill/>
            <a:ln w="15240">
              <a:solidFill>
                <a:srgbClr val="8A93A3"/>
              </a:solidFill>
              <a:tailEnd type="triangle" w="lg" len="lg"/>
            </a:ln>
          </p:spPr>
        </p:sp>
        <p:sp>
          <p:nvSpPr>
            <p:cNvPr id="41" name="TextBox 41"/>
            <p:cNvSpPr txBox="1"/>
            <p:nvPr/>
          </p:nvSpPr>
          <p:spPr>
            <a:xfrm>
              <a:off x="2149672" y="5071110"/>
              <a:ext cx="59650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Zᴵ, l+1</a:t>
              </a:r>
            </a:p>
          </p:txBody>
        </p:sp>
        <p:sp>
          <p:nvSpPr>
            <p:cNvPr id="42" name="TextBox 42"/>
            <p:cNvSpPr txBox="1"/>
            <p:nvPr/>
          </p:nvSpPr>
          <p:spPr>
            <a:xfrm>
              <a:off x="5407222" y="5071110"/>
              <a:ext cx="59650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Zᴱ, l+1</a:t>
              </a:r>
            </a:p>
          </p:txBody>
        </p:sp>
        <p:sp>
          <p:nvSpPr>
            <p:cNvPr id="43" name="TextBox 43"/>
            <p:cNvSpPr txBox="1"/>
            <p:nvPr/>
          </p:nvSpPr>
          <p:spPr>
            <a:xfrm>
              <a:off x="1086117" y="5601652"/>
              <a:ext cx="5981167" cy="205359"/>
            </a:xfrm>
            <a:prstGeom prst="rect">
              <a:avLst/>
            </a:prstGeom>
            <a:noFill/>
            <a:ln>
              <a:noFill/>
            </a:ln>
          </p:spPr>
          <p:txBody>
            <a:bodyPr wrap="none" lIns="0" tIns="0" rIns="0" bIns="0" anchor="t" anchorCtr="0">
              <a:spAutoFit/>
            </a:bodyPr>
            <a:lstStyle/>
            <a:p>
              <a:pPr algn="ctr"/>
              <a:r>
                <a:rPr lang="en-US" sz="1050" dirty="0">
                  <a:solidFill>
                    <a:srgbClr val="8A93A3"/>
                  </a:solidFill>
                  <a:latin typeface="+mn-lt"/>
                  <a:ea typeface="+mn-ea"/>
                  <a:cs typeface="+mn-cs"/>
                </a:rPr>
                <a:t>Self-Attn · Cross-Attn · FFN + residual — stacked ×L, all standard Transformer parts</a:t>
              </a:r>
            </a:p>
          </p:txBody>
        </p:sp>
      </p:grpSp>
      <p:grpSp>
        <p:nvGrpSpPr>
          <p:cNvPr id="57" name="Group 57"/>
          <p:cNvGrpSpPr/>
          <p:nvPr/>
        </p:nvGrpSpPr>
        <p:grpSpPr>
          <a:xfrm>
            <a:off x="7696200" y="1428750"/>
            <a:ext cx="3810000" cy="2019300"/>
            <a:chOff x="7696200" y="1428750"/>
            <a:chExt cx="3810000" cy="2019300"/>
          </a:xfrm>
        </p:grpSpPr>
        <p:sp>
          <p:nvSpPr>
            <p:cNvPr id="45" name="Rectangle 45"/>
            <p:cNvSpPr/>
            <p:nvPr/>
          </p:nvSpPr>
          <p:spPr>
            <a:xfrm>
              <a:off x="7696200" y="1428750"/>
              <a:ext cx="3810000" cy="2019300"/>
            </a:xfrm>
            <a:prstGeom prst="roundRect">
              <a:avLst>
                <a:gd name="adj" fmla="val 7547"/>
              </a:avLst>
            </a:prstGeom>
            <a:solidFill>
              <a:srgbClr val="0E1B33"/>
            </a:solidFill>
            <a:ln>
              <a:noFill/>
            </a:ln>
          </p:spPr>
        </p:sp>
        <p:sp>
          <p:nvSpPr>
            <p:cNvPr id="46" name="TextBox 46"/>
            <p:cNvSpPr txBox="1"/>
            <p:nvPr/>
          </p:nvSpPr>
          <p:spPr>
            <a:xfrm>
              <a:off x="7919085" y="1650206"/>
              <a:ext cx="2800927" cy="220028"/>
            </a:xfrm>
            <a:prstGeom prst="rect">
              <a:avLst/>
            </a:prstGeom>
            <a:noFill/>
            <a:ln>
              <a:noFill/>
            </a:ln>
          </p:spPr>
          <p:txBody>
            <a:bodyPr wrap="none" lIns="0" tIns="0" rIns="0" bIns="0" anchor="t" anchorCtr="0">
              <a:spAutoFit/>
            </a:bodyPr>
            <a:lstStyle/>
            <a:p>
              <a:pPr algn="l"/>
              <a:r>
                <a:rPr lang="en-US" sz="1120" b="1" spc="112" dirty="0">
                  <a:solidFill>
                    <a:srgbClr val="8FB6E6"/>
                  </a:solidFill>
                  <a:latin typeface="+mn-lt"/>
                  <a:ea typeface="+mn-ea"/>
                  <a:cs typeface="+mn-cs"/>
                </a:rPr>
                <a:t>EQUIVARIANT ATTENTION SCORE</a:t>
              </a:r>
            </a:p>
          </p:txBody>
        </p:sp>
        <p:sp>
          <p:nvSpPr>
            <p:cNvPr id="47" name="TextBox 47"/>
            <p:cNvSpPr txBox="1"/>
            <p:nvPr/>
          </p:nvSpPr>
          <p:spPr>
            <a:xfrm>
              <a:off x="7914894" y="2094548"/>
              <a:ext cx="171411" cy="381381"/>
            </a:xfrm>
            <a:prstGeom prst="rect">
              <a:avLst/>
            </a:prstGeom>
            <a:noFill/>
            <a:ln>
              <a:noFill/>
            </a:ln>
          </p:spPr>
          <p:txBody>
            <a:bodyPr wrap="none" lIns="0" tIns="0" rIns="0" bIns="0" anchor="t" anchorCtr="0">
              <a:spAutoFit/>
            </a:bodyPr>
            <a:lstStyle/>
            <a:p>
              <a:pPr algn="l"/>
              <a:r>
                <a:rPr lang="en-US" sz="1950" b="1" dirty="0">
                  <a:solidFill>
                    <a:srgbClr val="FFFFFF"/>
                  </a:solidFill>
                  <a:latin typeface="+mn-lt"/>
                  <a:ea typeface="+mn-ea"/>
                  <a:cs typeface="+mn-cs"/>
                </a:rPr>
                <a:t>α</a:t>
              </a:r>
            </a:p>
          </p:txBody>
        </p:sp>
        <p:sp>
          <p:nvSpPr>
            <p:cNvPr id="48" name="TextBox 48"/>
            <p:cNvSpPr txBox="1"/>
            <p:nvPr/>
          </p:nvSpPr>
          <p:spPr>
            <a:xfrm>
              <a:off x="8109204" y="2232660"/>
              <a:ext cx="113965"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ij</a:t>
              </a:r>
            </a:p>
          </p:txBody>
        </p:sp>
        <p:sp>
          <p:nvSpPr>
            <p:cNvPr id="49" name="TextBox 49"/>
            <p:cNvSpPr txBox="1"/>
            <p:nvPr/>
          </p:nvSpPr>
          <p:spPr>
            <a:xfrm>
              <a:off x="8315706" y="2110740"/>
              <a:ext cx="1201156"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 Σₖ ⟨ Qᴱ</a:t>
              </a:r>
            </a:p>
          </p:txBody>
        </p:sp>
        <p:sp>
          <p:nvSpPr>
            <p:cNvPr id="50" name="TextBox 50"/>
            <p:cNvSpPr txBox="1"/>
            <p:nvPr/>
          </p:nvSpPr>
          <p:spPr>
            <a:xfrm>
              <a:off x="9576435" y="2240756"/>
              <a:ext cx="388366" cy="220028"/>
            </a:xfrm>
            <a:prstGeom prst="rect">
              <a:avLst/>
            </a:prstGeom>
            <a:noFill/>
            <a:ln>
              <a:noFill/>
            </a:ln>
          </p:spPr>
          <p:txBody>
            <a:bodyPr wrap="none" lIns="0" tIns="0" rIns="0" bIns="0" anchor="t" anchorCtr="0">
              <a:spAutoFit/>
            </a:bodyPr>
            <a:lstStyle/>
            <a:p>
              <a:pPr algn="l"/>
              <a:r>
                <a:rPr lang="en-US" sz="1120" dirty="0">
                  <a:solidFill>
                    <a:srgbClr val="8FB6E6"/>
                  </a:solidFill>
                  <a:latin typeface="+mn-lt"/>
                  <a:ea typeface="+mn-ea"/>
                  <a:cs typeface="+mn-cs"/>
                </a:rPr>
                <a:t>i,·,k</a:t>
              </a:r>
            </a:p>
          </p:txBody>
        </p:sp>
        <p:sp>
          <p:nvSpPr>
            <p:cNvPr id="51" name="TextBox 51"/>
            <p:cNvSpPr txBox="1"/>
            <p:nvPr/>
          </p:nvSpPr>
          <p:spPr>
            <a:xfrm>
              <a:off x="9934956" y="2110740"/>
              <a:ext cx="54251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 Kᴱ</a:t>
              </a:r>
            </a:p>
          </p:txBody>
        </p:sp>
        <p:sp>
          <p:nvSpPr>
            <p:cNvPr id="52" name="TextBox 52"/>
            <p:cNvSpPr txBox="1"/>
            <p:nvPr/>
          </p:nvSpPr>
          <p:spPr>
            <a:xfrm>
              <a:off x="10395585" y="2240756"/>
              <a:ext cx="388366" cy="220028"/>
            </a:xfrm>
            <a:prstGeom prst="rect">
              <a:avLst/>
            </a:prstGeom>
            <a:noFill/>
            <a:ln>
              <a:noFill/>
            </a:ln>
          </p:spPr>
          <p:txBody>
            <a:bodyPr wrap="none" lIns="0" tIns="0" rIns="0" bIns="0" anchor="t" anchorCtr="0">
              <a:spAutoFit/>
            </a:bodyPr>
            <a:lstStyle/>
            <a:p>
              <a:pPr algn="l"/>
              <a:r>
                <a:rPr lang="en-US" sz="1120" dirty="0">
                  <a:solidFill>
                    <a:srgbClr val="8FB6E6"/>
                  </a:solidFill>
                  <a:latin typeface="+mn-lt"/>
                  <a:ea typeface="+mn-ea"/>
                  <a:cs typeface="+mn-cs"/>
                </a:rPr>
                <a:t>j,·,k</a:t>
              </a:r>
            </a:p>
          </p:txBody>
        </p:sp>
        <p:sp>
          <p:nvSpPr>
            <p:cNvPr id="53" name="TextBox 53"/>
            <p:cNvSpPr txBox="1"/>
            <p:nvPr/>
          </p:nvSpPr>
          <p:spPr>
            <a:xfrm>
              <a:off x="10735056" y="2110740"/>
              <a:ext cx="158225"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a:t>
              </a:r>
            </a:p>
          </p:txBody>
        </p:sp>
        <p:sp>
          <p:nvSpPr>
            <p:cNvPr id="54" name="TextBox 54"/>
            <p:cNvSpPr txBox="1"/>
            <p:nvPr/>
          </p:nvSpPr>
          <p:spPr>
            <a:xfrm>
              <a:off x="7918323" y="2643664"/>
              <a:ext cx="3118489" cy="249364"/>
            </a:xfrm>
            <a:prstGeom prst="rect">
              <a:avLst/>
            </a:prstGeom>
            <a:noFill/>
            <a:ln>
              <a:noFill/>
            </a:ln>
          </p:spPr>
          <p:txBody>
            <a:bodyPr wrap="none" lIns="0" tIns="0" rIns="0" bIns="0" anchor="t" anchorCtr="0">
              <a:spAutoFit/>
            </a:bodyPr>
            <a:lstStyle/>
            <a:p>
              <a:pPr algn="l"/>
              <a:r>
                <a:rPr lang="en-US" sz="1280" dirty="0">
                  <a:solidFill>
                    <a:srgbClr val="C9D6E8"/>
                  </a:solidFill>
                  <a:latin typeface="+mn-lt"/>
                  <a:ea typeface="+mn-ea"/>
                  <a:cs typeface="+mn-cs"/>
                </a:rPr>
                <a:t>Score sums dot products over the 3D</a:t>
              </a:r>
            </a:p>
          </p:txBody>
        </p:sp>
        <p:sp>
          <p:nvSpPr>
            <p:cNvPr id="55" name="TextBox 55"/>
            <p:cNvSpPr txBox="1"/>
            <p:nvPr/>
          </p:nvSpPr>
          <p:spPr>
            <a:xfrm>
              <a:off x="7918323" y="2872264"/>
              <a:ext cx="3068339" cy="249364"/>
            </a:xfrm>
            <a:prstGeom prst="rect">
              <a:avLst/>
            </a:prstGeom>
            <a:noFill/>
            <a:ln>
              <a:noFill/>
            </a:ln>
          </p:spPr>
          <p:txBody>
            <a:bodyPr wrap="none" lIns="0" tIns="0" rIns="0" bIns="0" anchor="t" anchorCtr="0">
              <a:spAutoFit/>
            </a:bodyPr>
            <a:lstStyle/>
            <a:p>
              <a:pPr algn="l"/>
              <a:r>
                <a:rPr lang="en-US" sz="1280" dirty="0">
                  <a:solidFill>
                    <a:srgbClr val="C9D6E8"/>
                  </a:solidFill>
                  <a:latin typeface="+mn-lt"/>
                  <a:ea typeface="+mn-ea"/>
                  <a:cs typeface="+mn-cs"/>
                </a:rPr>
                <a:t xml:space="preserve">Query / Key vectors — this </a:t>
              </a:r>
              <a:r>
                <a:rPr lang="en-US" sz="1280" b="1" dirty="0">
                  <a:solidFill>
                    <a:srgbClr val="FFFFFF"/>
                  </a:solidFill>
                  <a:latin typeface="+mn-lt"/>
                  <a:ea typeface="+mn-ea"/>
                  <a:cs typeface="+mn-cs"/>
                </a:rPr>
                <a:t>provably</a:t>
              </a:r>
            </a:p>
          </p:txBody>
        </p:sp>
        <p:sp>
          <p:nvSpPr>
            <p:cNvPr id="56" name="TextBox 56"/>
            <p:cNvSpPr txBox="1"/>
            <p:nvPr/>
          </p:nvSpPr>
          <p:spPr>
            <a:xfrm>
              <a:off x="7918323" y="3100864"/>
              <a:ext cx="2161274" cy="249364"/>
            </a:xfrm>
            <a:prstGeom prst="rect">
              <a:avLst/>
            </a:prstGeom>
            <a:noFill/>
            <a:ln>
              <a:noFill/>
            </a:ln>
          </p:spPr>
          <p:txBody>
            <a:bodyPr wrap="none" lIns="0" tIns="0" rIns="0" bIns="0" anchor="t" anchorCtr="0">
              <a:spAutoFit/>
            </a:bodyPr>
            <a:lstStyle/>
            <a:p>
              <a:pPr algn="l"/>
              <a:r>
                <a:rPr lang="en-US" sz="1280" b="1" dirty="0">
                  <a:solidFill>
                    <a:srgbClr val="FFFFFF"/>
                  </a:solidFill>
                  <a:latin typeface="+mn-lt"/>
                  <a:ea typeface="+mn-ea"/>
                  <a:cs typeface="+mn-cs"/>
                </a:rPr>
                <a:t>preserves equivariance</a:t>
              </a:r>
              <a:r>
                <a:rPr lang="en-US" sz="1280" dirty="0">
                  <a:solidFill>
                    <a:srgbClr val="C9D6E8"/>
                  </a:solidFill>
                  <a:latin typeface="+mn-lt"/>
                  <a:ea typeface="+mn-ea"/>
                  <a:cs typeface="+mn-cs"/>
                </a:rPr>
                <a:t>.</a:t>
              </a:r>
            </a:p>
          </p:txBody>
        </p:sp>
      </p:grpSp>
      <p:sp>
        <p:nvSpPr>
          <p:cNvPr id="58" name="Rectangle 58"/>
          <p:cNvSpPr/>
          <p:nvPr/>
        </p:nvSpPr>
        <p:spPr>
          <a:xfrm>
            <a:off x="7696200" y="3619500"/>
            <a:ext cx="3810000" cy="2286000"/>
          </a:xfrm>
          <a:prstGeom prst="roundRect">
            <a:avLst>
              <a:gd name="adj" fmla="val 6667"/>
            </a:avLst>
          </a:prstGeom>
          <a:solidFill>
            <a:schemeClr val="lt2"/>
          </a:solidFill>
          <a:ln w="9525">
            <a:solidFill>
              <a:schemeClr val="accent4"/>
            </a:solidFill>
          </a:ln>
        </p:spPr>
        <p:txBody>
          <a:bodyPr/>
          <a:p/>
        </p:txBody>
      </p:sp>
      <p:sp>
        <p:nvSpPr>
          <p:cNvPr id="59" name="TextBox 59"/>
          <p:cNvSpPr txBox="1"/>
          <p:nvPr/>
        </p:nvSpPr>
        <p:spPr>
          <a:xfrm>
            <a:off x="7919085" y="3840956"/>
            <a:ext cx="1447997"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WHY IT MATTERS</a:t>
            </a:r>
          </a:p>
        </p:txBody>
      </p:sp>
      <p:sp>
        <p:nvSpPr>
          <p:cNvPr id="60" name="TextBox 60"/>
          <p:cNvSpPr txBox="1"/>
          <p:nvPr/>
        </p:nvSpPr>
        <p:spPr>
          <a:xfrm>
            <a:off x="7917561" y="4170521"/>
            <a:ext cx="260034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Only standard components</a:t>
            </a:r>
          </a:p>
        </p:txBody>
      </p:sp>
      <p:sp>
        <p:nvSpPr>
          <p:cNvPr id="61" name="TextBox 61"/>
          <p:cNvSpPr txBox="1"/>
          <p:nvPr/>
        </p:nvSpPr>
        <p:spPr>
          <a:xfrm>
            <a:off x="7918323" y="4472464"/>
            <a:ext cx="332898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Self-attention, cross-attention, FFN,</a:t>
            </a:r>
          </a:p>
        </p:txBody>
      </p:sp>
      <p:sp>
        <p:nvSpPr>
          <p:cNvPr id="62" name="TextBox 62"/>
          <p:cNvSpPr txBox="1"/>
          <p:nvPr/>
        </p:nvSpPr>
        <p:spPr>
          <a:xfrm>
            <a:off x="7918323" y="4701064"/>
            <a:ext cx="291643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and layer-norm — nothing bespoke.</a:t>
            </a:r>
          </a:p>
        </p:txBody>
      </p:sp>
      <p:sp>
        <p:nvSpPr>
          <p:cNvPr id="63" name="Line 63"/>
          <p:cNvSpPr/>
          <p:nvPr/>
        </p:nvSpPr>
        <p:spPr>
          <a:xfrm>
            <a:off x="7924800" y="5029200"/>
            <a:ext cx="3352800" cy="9525"/>
          </a:xfrm>
          <a:custGeom>
            <a:avLst/>
            <a:gdLst/>
            <a:ahLst/>
            <a:cxnLst/>
            <a:rect l="l" t="t" r="r" b="b"/>
            <a:pathLst>
              <a:path w="3352800" h="9525">
                <a:moveTo>
                  <a:pt x="0" y="0"/>
                </a:moveTo>
                <a:lnTo>
                  <a:pt x="3352800" y="0"/>
                </a:lnTo>
              </a:path>
            </a:pathLst>
          </a:custGeom>
          <a:noFill/>
          <a:ln w="9525">
            <a:solidFill>
              <a:schemeClr val="accent4"/>
            </a:solidFill>
          </a:ln>
        </p:spPr>
        <p:txBody>
          <a:bodyPr/>
          <a:p/>
        </p:txBody>
      </p:sp>
      <p:sp>
        <p:nvSpPr>
          <p:cNvPr id="64" name="TextBox 64"/>
          <p:cNvSpPr txBox="1"/>
          <p:nvPr/>
        </p:nvSpPr>
        <p:spPr>
          <a:xfrm>
            <a:off x="7917561" y="5199221"/>
            <a:ext cx="209844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Prior nets fall out as</a:t>
            </a:r>
          </a:p>
        </p:txBody>
      </p:sp>
      <p:sp>
        <p:nvSpPr>
          <p:cNvPr id="65" name="TextBox 65"/>
          <p:cNvSpPr txBox="1"/>
          <p:nvPr/>
        </p:nvSpPr>
        <p:spPr>
          <a:xfrm>
            <a:off x="7917561" y="5446871"/>
            <a:ext cx="129907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special cases</a:t>
            </a:r>
          </a:p>
        </p:txBody>
      </p:sp>
      <p:sp>
        <p:nvSpPr>
          <p:cNvPr id="66" name="TextBox 66"/>
          <p:cNvSpPr txBox="1"/>
          <p:nvPr/>
        </p:nvSpPr>
        <p:spPr>
          <a:xfrm>
            <a:off x="7919085" y="5707856"/>
            <a:ext cx="1918726" cy="220028"/>
          </a:xfrm>
          <a:prstGeom prst="rect">
            <a:avLst/>
          </a:prstGeom>
          <a:noFill/>
          <a:ln>
            <a:noFill/>
          </a:ln>
        </p:spPr>
        <p:txBody>
          <a:bodyPr wrap="none" lIns="0" tIns="0" rIns="0" bIns="0" anchor="t" anchorCtr="0">
            <a:spAutoFit/>
          </a:bodyPr>
          <a:lstStyle/>
          <a:p>
            <a:pPr algn="l"/>
            <a:r>
              <a:rPr lang="en-US" sz="1120" dirty="0">
                <a:solidFill>
                  <a:srgbClr val="8A93A3"/>
                </a:solidFill>
                <a:latin typeface="+mn-lt"/>
                <a:ea typeface="+mn-ea"/>
                <a:cs typeface="+mn-cs"/>
              </a:rPr>
              <a:t>of this single framework.</a:t>
            </a:r>
          </a:p>
        </p:txBody>
      </p:sp>
      <p:sp>
        <p:nvSpPr>
          <p:cNvPr id="67" name="TextBox 67"/>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68" name="TextBox 68"/>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05 / 10</a:t>
            </a:r>
          </a:p>
        </p:txBody>
      </p:sp>
      <p:sp>
        <p:nvSpPr>
          <p:cNvPr id="69" name="cue_s05_c1_geomformer_keeps_two_representations" title="cue_s05_c1_geomformer_keeps_two_representations" descr="cue_s05_c1_geomformer_keeps_two_representations GeoMFormer keeps two representations for every atom: an invariant feature vector and an equivariant three-dimensional feature. These flow through two parallel Transformer streams. Within each stream, a self-attention module first mixes information across atoms"/>
          <p:cNvSpPr/>
          <p:nvPr/>
        </p:nvSpPr>
        <p:spPr>
          <a:xfrm>
            <a:off x="1066800" y="1866747"/>
            <a:ext cx="6020409"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5_c2_equivariant_stream_standard_attentio" title="cue_s05_c2_equivariant_stream_standard_attentio" descr="cue_s05_c2_equivariant_stream_standard_attentio For the equivariant stream, standard attention is modified so the attention score is computed by summing dot products over the three-dimensional Query and Key vectors, which provably preserves equivariance."/>
          <p:cNvSpPr/>
          <p:nvPr/>
        </p:nvSpPr>
        <p:spPr>
          <a:xfrm>
            <a:off x="7695590" y="1428521"/>
            <a:ext cx="3810000"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ue_s05_c3_key_innovation_cross_attention_modul" title="cue_s05_c3_key_innovation_cross_attention_modul" descr="cue_s05_c3_key_innovation_cross_attention_modul Then, the key innovation, a cross-attention module lets each stream query the other: the invariant stream attends to the equivariant stream and vice versa, fusing the two kinds of geometric information."/>
          <p:cNvSpPr/>
          <p:nvPr/>
        </p:nvSpPr>
        <p:spPr>
          <a:xfrm>
            <a:off x="914400" y="3162223"/>
            <a:ext cx="6325209" cy="857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ue_s05_c4_feed_forward_network_completes_block" title="cue_s05_c4_feed_forward_network_completes_block" descr="cue_s05_c4_feed_forward_network_completes_block A feed-forward network completes each block, and blocks are stacked. Because the design uses only standard Transformer components arranged this way, many earlier geometric networks fall out as special cases of the framework."/>
          <p:cNvSpPr/>
          <p:nvPr/>
        </p:nvSpPr>
        <p:spPr>
          <a:xfrm>
            <a:off x="1066800" y="4019473"/>
            <a:ext cx="6020409" cy="17871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93863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06 </a:t>
            </a:r>
            <a:r>
              <a:rPr lang="en-US" sz="1200" b="1" spc="225" dirty="0">
                <a:solidFill>
                  <a:schemeClr val="accent5"/>
                </a:solidFill>
                <a:latin typeface="+mn-lt"/>
                <a:ea typeface="+mn-ea"/>
                <a:cs typeface="+mn-cs"/>
              </a:rPr>
              <a:t>/ DATASET &amp; BENCHMARK</a:t>
            </a:r>
          </a:p>
        </p:txBody>
      </p:sp>
      <p:sp>
        <p:nvSpPr>
          <p:cNvPr id="4" name="TextBox 4"/>
          <p:cNvSpPr txBox="1"/>
          <p:nvPr/>
        </p:nvSpPr>
        <p:spPr>
          <a:xfrm>
            <a:off x="672084" y="699135"/>
            <a:ext cx="8874207"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Stressing both invariant and equivariant ability</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9" name="Group 9"/>
          <p:cNvGrpSpPr/>
          <p:nvPr/>
        </p:nvGrpSpPr>
        <p:grpSpPr>
          <a:xfrm>
            <a:off x="685800" y="1447800"/>
            <a:ext cx="10820400" cy="723900"/>
            <a:chOff x="685800" y="1447800"/>
            <a:chExt cx="10820400" cy="723900"/>
          </a:xfrm>
        </p:grpSpPr>
        <p:sp>
          <p:nvSpPr>
            <p:cNvPr id="6" name="Rectangle 6"/>
            <p:cNvSpPr/>
            <p:nvPr/>
          </p:nvSpPr>
          <p:spPr>
            <a:xfrm>
              <a:off x="685800" y="1447800"/>
              <a:ext cx="10820400" cy="723900"/>
            </a:xfrm>
            <a:prstGeom prst="roundRect">
              <a:avLst>
                <a:gd name="adj" fmla="val 18421"/>
              </a:avLst>
            </a:prstGeom>
            <a:solidFill>
              <a:schemeClr val="accent1"/>
            </a:solidFill>
            <a:ln>
              <a:noFill/>
            </a:ln>
          </p:spPr>
        </p:sp>
        <p:sp>
          <p:nvSpPr>
            <p:cNvPr id="7" name="TextBox 7"/>
            <p:cNvSpPr txBox="1"/>
            <p:nvPr/>
          </p:nvSpPr>
          <p:spPr>
            <a:xfrm>
              <a:off x="946785" y="1631156"/>
              <a:ext cx="1371472" cy="220028"/>
            </a:xfrm>
            <a:prstGeom prst="rect">
              <a:avLst/>
            </a:prstGeom>
            <a:noFill/>
            <a:ln>
              <a:noFill/>
            </a:ln>
          </p:spPr>
          <p:txBody>
            <a:bodyPr wrap="none" lIns="0" tIns="0" rIns="0" bIns="0" anchor="t" anchorCtr="0">
              <a:spAutoFit/>
            </a:bodyPr>
            <a:lstStyle/>
            <a:p>
              <a:pPr algn="l"/>
              <a:r>
                <a:rPr lang="en-US" sz="1120" b="1" spc="150" dirty="0">
                  <a:solidFill>
                    <a:srgbClr val="8FB6E6"/>
                  </a:solidFill>
                  <a:latin typeface="+mn-lt"/>
                  <a:ea typeface="+mn-ea"/>
                  <a:cs typeface="+mn-cs"/>
                </a:rPr>
                <a:t>A BROAD SUITE</a:t>
              </a:r>
            </a:p>
          </p:txBody>
        </p:sp>
        <p:sp>
          <p:nvSpPr>
            <p:cNvPr id="8" name="TextBox 8"/>
            <p:cNvSpPr txBox="1"/>
            <p:nvPr/>
          </p:nvSpPr>
          <p:spPr>
            <a:xfrm>
              <a:off x="944499" y="1849279"/>
              <a:ext cx="9693992" cy="308039"/>
            </a:xfrm>
            <a:prstGeom prst="rect">
              <a:avLst/>
            </a:prstGeom>
            <a:noFill/>
            <a:ln>
              <a:noFill/>
            </a:ln>
          </p:spPr>
          <p:txBody>
            <a:bodyPr wrap="none" lIns="0" tIns="0" rIns="0" bIns="0" anchor="t" anchorCtr="0">
              <a:spAutoFit/>
            </a:bodyPr>
            <a:lstStyle/>
            <a:p>
              <a:pPr algn="l"/>
              <a:r>
                <a:rPr lang="en-US" sz="1580" b="1" dirty="0">
                  <a:solidFill>
                    <a:srgbClr val="FFFFFF"/>
                  </a:solidFill>
                  <a:latin typeface="+mn-lt"/>
                  <a:ea typeface="+mn-ea"/>
                  <a:cs typeface="+mn-cs"/>
                </a:rPr>
                <a:t xml:space="preserve">One architecture judged on both </a:t>
              </a:r>
              <a:r>
                <a:rPr lang="en-US" sz="1580" b="1" dirty="0">
                  <a:solidFill>
                    <a:srgbClr val="F4B8CE"/>
                  </a:solidFill>
                  <a:latin typeface="+mn-lt"/>
                  <a:ea typeface="+mn-ea"/>
                  <a:cs typeface="+mn-cs"/>
                </a:rPr>
                <a:t>scalar (invariant)</a:t>
              </a:r>
              <a:r>
                <a:rPr lang="en-US" sz="1580" b="1" dirty="0">
                  <a:solidFill>
                    <a:srgbClr val="FFFFFF"/>
                  </a:solidFill>
                  <a:latin typeface="+mn-lt"/>
                  <a:ea typeface="+mn-ea"/>
                  <a:cs typeface="+mn-cs"/>
                </a:rPr>
                <a:t xml:space="preserve"> and </a:t>
              </a:r>
              <a:r>
                <a:rPr lang="en-US" sz="1580" b="1" dirty="0">
                  <a:solidFill>
                    <a:srgbClr val="8FB6E6"/>
                  </a:solidFill>
                  <a:latin typeface="+mn-lt"/>
                  <a:ea typeface="+mn-ea"/>
                  <a:cs typeface="+mn-cs"/>
                </a:rPr>
                <a:t>vector (equivariant)</a:t>
              </a:r>
              <a:r>
                <a:rPr lang="en-US" sz="1580" b="1" dirty="0">
                  <a:solidFill>
                    <a:srgbClr val="FFFFFF"/>
                  </a:solidFill>
                  <a:latin typeface="+mn-lt"/>
                  <a:ea typeface="+mn-ea"/>
                  <a:cs typeface="+mn-cs"/>
                </a:rPr>
                <a:t xml:space="preserve"> prediction.</a:t>
              </a:r>
            </a:p>
          </p:txBody>
        </p:sp>
      </p:grpSp>
      <p:grpSp>
        <p:nvGrpSpPr>
          <p:cNvPr id="21" name="Group 21"/>
          <p:cNvGrpSpPr/>
          <p:nvPr/>
        </p:nvGrpSpPr>
        <p:grpSpPr>
          <a:xfrm>
            <a:off x="685800" y="2362200"/>
            <a:ext cx="3429000" cy="3390900"/>
            <a:chOff x="685800" y="2362200"/>
            <a:chExt cx="3429000" cy="3390900"/>
          </a:xfrm>
        </p:grpSpPr>
        <p:sp>
          <p:nvSpPr>
            <p:cNvPr id="10" name="Rectangle 10"/>
            <p:cNvSpPr/>
            <p:nvPr/>
          </p:nvSpPr>
          <p:spPr>
            <a:xfrm>
              <a:off x="685800" y="2362200"/>
              <a:ext cx="3429000" cy="3390900"/>
            </a:xfrm>
            <a:prstGeom prst="roundRect">
              <a:avLst>
                <a:gd name="adj" fmla="val 3933"/>
              </a:avLst>
            </a:prstGeom>
            <a:solidFill>
              <a:srgbClr val="FBFCFE"/>
            </a:solidFill>
            <a:ln w="9525">
              <a:solidFill>
                <a:schemeClr val="accent4"/>
              </a:solidFill>
            </a:ln>
          </p:spPr>
        </p:sp>
        <p:sp>
          <p:nvSpPr>
            <p:cNvPr id="11" name="TextBox 11"/>
            <p:cNvSpPr txBox="1"/>
            <p:nvPr/>
          </p:nvSpPr>
          <p:spPr>
            <a:xfrm>
              <a:off x="909066" y="2610802"/>
              <a:ext cx="875167"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CATALYSIS</a:t>
              </a:r>
            </a:p>
          </p:txBody>
        </p:sp>
        <p:sp>
          <p:nvSpPr>
            <p:cNvPr id="12" name="TextBox 12"/>
            <p:cNvSpPr txBox="1"/>
            <p:nvPr/>
          </p:nvSpPr>
          <p:spPr>
            <a:xfrm>
              <a:off x="905256" y="2834640"/>
              <a:ext cx="241966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Open Catalyst 2020</a:t>
              </a:r>
            </a:p>
          </p:txBody>
        </p:sp>
        <p:sp>
          <p:nvSpPr>
            <p:cNvPr id="13" name="TextBox 13"/>
            <p:cNvSpPr txBox="1"/>
            <p:nvPr/>
          </p:nvSpPr>
          <p:spPr>
            <a:xfrm>
              <a:off x="896874" y="3113722"/>
              <a:ext cx="1912547"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460,328</a:t>
              </a:r>
            </a:p>
          </p:txBody>
        </p:sp>
        <p:sp>
          <p:nvSpPr>
            <p:cNvPr id="14" name="TextBox 14"/>
            <p:cNvSpPr txBox="1"/>
            <p:nvPr/>
          </p:nvSpPr>
          <p:spPr>
            <a:xfrm>
              <a:off x="908304" y="3604260"/>
              <a:ext cx="241112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adsorbate–catalyst complexes</a:t>
              </a:r>
            </a:p>
          </p:txBody>
        </p:sp>
        <p:sp>
          <p:nvSpPr>
            <p:cNvPr id="15" name="Rectangle 15"/>
            <p:cNvSpPr/>
            <p:nvPr/>
          </p:nvSpPr>
          <p:spPr>
            <a:xfrm>
              <a:off x="914400" y="3981450"/>
              <a:ext cx="2971800" cy="685800"/>
            </a:xfrm>
            <a:prstGeom prst="roundRect">
              <a:avLst>
                <a:gd name="adj" fmla="val 13889"/>
              </a:avLst>
            </a:prstGeom>
            <a:solidFill>
              <a:srgbClr val="FDEEF3"/>
            </a:solidFill>
            <a:ln>
              <a:noFill/>
            </a:ln>
          </p:spPr>
        </p:sp>
        <p:sp>
          <p:nvSpPr>
            <p:cNvPr id="16" name="TextBox 16"/>
            <p:cNvSpPr txBox="1"/>
            <p:nvPr/>
          </p:nvSpPr>
          <p:spPr>
            <a:xfrm>
              <a:off x="1060704" y="4118610"/>
              <a:ext cx="188934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IS2RE → Relaxed Energy</a:t>
              </a:r>
            </a:p>
          </p:txBody>
        </p:sp>
        <p:sp>
          <p:nvSpPr>
            <p:cNvPr id="17" name="TextBox 17"/>
            <p:cNvSpPr txBox="1"/>
            <p:nvPr/>
          </p:nvSpPr>
          <p:spPr>
            <a:xfrm>
              <a:off x="1061085" y="4374356"/>
              <a:ext cx="1858416" cy="220028"/>
            </a:xfrm>
            <a:prstGeom prst="rect">
              <a:avLst/>
            </a:prstGeom>
            <a:noFill/>
            <a:ln>
              <a:noFill/>
            </a:ln>
          </p:spPr>
          <p:txBody>
            <a:bodyPr wrap="none" lIns="0" tIns="0" rIns="0" bIns="0" anchor="t" anchorCtr="0">
              <a:spAutoFit/>
            </a:bodyPr>
            <a:lstStyle/>
            <a:p>
              <a:pPr algn="l"/>
              <a:r>
                <a:rPr lang="en-US" sz="1120" dirty="0">
                  <a:solidFill>
                    <a:srgbClr val="8A5567"/>
                  </a:solidFill>
                  <a:latin typeface="+mn-lt"/>
                  <a:ea typeface="+mn-ea"/>
                  <a:cs typeface="+mn-cs"/>
                </a:rPr>
                <a:t>invariant · scalar target</a:t>
              </a:r>
            </a:p>
          </p:txBody>
        </p:sp>
        <p:sp>
          <p:nvSpPr>
            <p:cNvPr id="18" name="Rectangle 18"/>
            <p:cNvSpPr/>
            <p:nvPr/>
          </p:nvSpPr>
          <p:spPr>
            <a:xfrm>
              <a:off x="914400" y="4762500"/>
              <a:ext cx="2971800" cy="685800"/>
            </a:xfrm>
            <a:prstGeom prst="roundRect">
              <a:avLst>
                <a:gd name="adj" fmla="val 13889"/>
              </a:avLst>
            </a:prstGeom>
            <a:solidFill>
              <a:srgbClr val="EAF2FB"/>
            </a:solidFill>
            <a:ln>
              <a:noFill/>
            </a:ln>
          </p:spPr>
        </p:sp>
        <p:sp>
          <p:nvSpPr>
            <p:cNvPr id="19" name="TextBox 19"/>
            <p:cNvSpPr txBox="1"/>
            <p:nvPr/>
          </p:nvSpPr>
          <p:spPr>
            <a:xfrm>
              <a:off x="1060704" y="4899660"/>
              <a:ext cx="2168462"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IS2RS → Relaxed Structure</a:t>
              </a:r>
            </a:p>
          </p:txBody>
        </p:sp>
        <p:sp>
          <p:nvSpPr>
            <p:cNvPr id="20" name="TextBox 20"/>
            <p:cNvSpPr txBox="1"/>
            <p:nvPr/>
          </p:nvSpPr>
          <p:spPr>
            <a:xfrm>
              <a:off x="1061085" y="5155406"/>
              <a:ext cx="2061962" cy="220028"/>
            </a:xfrm>
            <a:prstGeom prst="rect">
              <a:avLst/>
            </a:prstGeom>
            <a:noFill/>
            <a:ln>
              <a:noFill/>
            </a:ln>
          </p:spPr>
          <p:txBody>
            <a:bodyPr wrap="none" lIns="0" tIns="0" rIns="0" bIns="0" anchor="t" anchorCtr="0">
              <a:spAutoFit/>
            </a:bodyPr>
            <a:lstStyle/>
            <a:p>
              <a:pPr algn="l"/>
              <a:r>
                <a:rPr lang="en-US" sz="1120" dirty="0">
                  <a:solidFill>
                    <a:srgbClr val="4A6E96"/>
                  </a:solidFill>
                  <a:latin typeface="+mn-lt"/>
                  <a:ea typeface="+mn-ea"/>
                  <a:cs typeface="+mn-cs"/>
                </a:rPr>
                <a:t>equivariant · vector target</a:t>
              </a:r>
            </a:p>
          </p:txBody>
        </p:sp>
      </p:grpSp>
      <p:grpSp>
        <p:nvGrpSpPr>
          <p:cNvPr id="32" name="Group 32"/>
          <p:cNvGrpSpPr/>
          <p:nvPr/>
        </p:nvGrpSpPr>
        <p:grpSpPr>
          <a:xfrm>
            <a:off x="4381500" y="2362200"/>
            <a:ext cx="3429000" cy="3390900"/>
            <a:chOff x="4381500" y="2362200"/>
            <a:chExt cx="3429000" cy="3390900"/>
          </a:xfrm>
        </p:grpSpPr>
        <p:sp>
          <p:nvSpPr>
            <p:cNvPr id="22" name="Rectangle 22"/>
            <p:cNvSpPr/>
            <p:nvPr/>
          </p:nvSpPr>
          <p:spPr>
            <a:xfrm>
              <a:off x="4381500" y="2362200"/>
              <a:ext cx="3429000" cy="3390900"/>
            </a:xfrm>
            <a:prstGeom prst="roundRect">
              <a:avLst>
                <a:gd name="adj" fmla="val 3933"/>
              </a:avLst>
            </a:prstGeom>
            <a:solidFill>
              <a:srgbClr val="FBFCFE"/>
            </a:solidFill>
            <a:ln w="9525">
              <a:solidFill>
                <a:schemeClr val="accent4"/>
              </a:solidFill>
            </a:ln>
          </p:spPr>
        </p:sp>
        <p:sp>
          <p:nvSpPr>
            <p:cNvPr id="23" name="TextBox 23"/>
            <p:cNvSpPr txBox="1"/>
            <p:nvPr/>
          </p:nvSpPr>
          <p:spPr>
            <a:xfrm>
              <a:off x="4604766" y="2610802"/>
              <a:ext cx="1747507"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QUANTUM CHEMISTRY</a:t>
              </a:r>
            </a:p>
          </p:txBody>
        </p:sp>
        <p:sp>
          <p:nvSpPr>
            <p:cNvPr id="24" name="TextBox 24"/>
            <p:cNvSpPr txBox="1"/>
            <p:nvPr/>
          </p:nvSpPr>
          <p:spPr>
            <a:xfrm>
              <a:off x="4600956" y="2834640"/>
              <a:ext cx="298237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PCQM4Mv2 · Molecule3D</a:t>
              </a:r>
            </a:p>
          </p:txBody>
        </p:sp>
        <p:sp>
          <p:nvSpPr>
            <p:cNvPr id="25" name="TextBox 25"/>
            <p:cNvSpPr txBox="1"/>
            <p:nvPr/>
          </p:nvSpPr>
          <p:spPr>
            <a:xfrm>
              <a:off x="4592574" y="3113722"/>
              <a:ext cx="1790631" cy="674751"/>
            </a:xfrm>
            <a:prstGeom prst="rect">
              <a:avLst/>
            </a:prstGeom>
            <a:noFill/>
            <a:ln>
              <a:noFill/>
            </a:ln>
          </p:spPr>
          <p:txBody>
            <a:bodyPr wrap="none" lIns="0" tIns="0" rIns="0" bIns="0" anchor="t" anchorCtr="0">
              <a:spAutoFit/>
            </a:bodyPr>
            <a:lstStyle/>
            <a:p>
              <a:pPr algn="l"/>
              <a:r>
                <a:rPr lang="en-US" sz="3450" b="1" dirty="0">
                  <a:solidFill>
                    <a:schemeClr val="accent2"/>
                  </a:solidFill>
                  <a:latin typeface="+mn-lt"/>
                  <a:ea typeface="+mn-ea"/>
                  <a:cs typeface="+mn-cs"/>
                </a:rPr>
                <a:t>millions</a:t>
              </a:r>
            </a:p>
          </p:txBody>
        </p:sp>
        <p:sp>
          <p:nvSpPr>
            <p:cNvPr id="26" name="TextBox 26"/>
            <p:cNvSpPr txBox="1"/>
            <p:nvPr/>
          </p:nvSpPr>
          <p:spPr>
            <a:xfrm>
              <a:off x="4604004" y="3604260"/>
              <a:ext cx="255422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of molecules (≈3.37M · ≈2.34M)</a:t>
              </a:r>
            </a:p>
          </p:txBody>
        </p:sp>
        <p:sp>
          <p:nvSpPr>
            <p:cNvPr id="27" name="Rectangle 27"/>
            <p:cNvSpPr/>
            <p:nvPr/>
          </p:nvSpPr>
          <p:spPr>
            <a:xfrm>
              <a:off x="4610100" y="3981450"/>
              <a:ext cx="2971800" cy="685800"/>
            </a:xfrm>
            <a:prstGeom prst="roundRect">
              <a:avLst>
                <a:gd name="adj" fmla="val 13889"/>
              </a:avLst>
            </a:prstGeom>
            <a:solidFill>
              <a:srgbClr val="FDEEF3"/>
            </a:solidFill>
            <a:ln>
              <a:noFill/>
            </a:ln>
          </p:spPr>
        </p:sp>
        <p:sp>
          <p:nvSpPr>
            <p:cNvPr id="28" name="TextBox 28"/>
            <p:cNvSpPr txBox="1"/>
            <p:nvPr/>
          </p:nvSpPr>
          <p:spPr>
            <a:xfrm>
              <a:off x="4756404" y="4118610"/>
              <a:ext cx="207036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Predict HOMO–LUMO gap</a:t>
              </a:r>
            </a:p>
          </p:txBody>
        </p:sp>
        <p:sp>
          <p:nvSpPr>
            <p:cNvPr id="29" name="TextBox 29"/>
            <p:cNvSpPr txBox="1"/>
            <p:nvPr/>
          </p:nvSpPr>
          <p:spPr>
            <a:xfrm>
              <a:off x="4756785" y="4374356"/>
              <a:ext cx="1896110" cy="220028"/>
            </a:xfrm>
            <a:prstGeom prst="rect">
              <a:avLst/>
            </a:prstGeom>
            <a:noFill/>
            <a:ln>
              <a:noFill/>
            </a:ln>
          </p:spPr>
          <p:txBody>
            <a:bodyPr wrap="none" lIns="0" tIns="0" rIns="0" bIns="0" anchor="t" anchorCtr="0">
              <a:spAutoFit/>
            </a:bodyPr>
            <a:lstStyle/>
            <a:p>
              <a:pPr algn="l"/>
              <a:r>
                <a:rPr lang="en-US" sz="1120" dirty="0">
                  <a:solidFill>
                    <a:srgbClr val="8A5567"/>
                  </a:solidFill>
                  <a:latin typeface="+mn-lt"/>
                  <a:ea typeface="+mn-ea"/>
                  <a:cs typeface="+mn-cs"/>
                </a:rPr>
                <a:t>invariant · energy target</a:t>
              </a:r>
            </a:p>
          </p:txBody>
        </p:sp>
        <p:sp>
          <p:nvSpPr>
            <p:cNvPr id="30" name="TextBox 30"/>
            <p:cNvSpPr txBox="1"/>
            <p:nvPr/>
          </p:nvSpPr>
          <p:spPr>
            <a:xfrm>
              <a:off x="4604385" y="4850606"/>
              <a:ext cx="204978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Molecule3D uses random and</a:t>
              </a:r>
            </a:p>
          </p:txBody>
        </p:sp>
        <p:sp>
          <p:nvSpPr>
            <p:cNvPr id="31" name="TextBox 31"/>
            <p:cNvSpPr txBox="1"/>
            <p:nvPr/>
          </p:nvSpPr>
          <p:spPr>
            <a:xfrm>
              <a:off x="4604385" y="5079206"/>
              <a:ext cx="257459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scaffold splits for generalization.</a:t>
              </a:r>
            </a:p>
          </p:txBody>
        </p:sp>
      </p:grpSp>
      <p:grpSp>
        <p:nvGrpSpPr>
          <p:cNvPr id="44" name="Group 44"/>
          <p:cNvGrpSpPr/>
          <p:nvPr/>
        </p:nvGrpSpPr>
        <p:grpSpPr>
          <a:xfrm>
            <a:off x="8077200" y="2362200"/>
            <a:ext cx="3429000" cy="3390900"/>
            <a:chOff x="8077200" y="2362200"/>
            <a:chExt cx="3429000" cy="3390900"/>
          </a:xfrm>
        </p:grpSpPr>
        <p:sp>
          <p:nvSpPr>
            <p:cNvPr id="33" name="Rectangle 33"/>
            <p:cNvSpPr/>
            <p:nvPr/>
          </p:nvSpPr>
          <p:spPr>
            <a:xfrm>
              <a:off x="8077200" y="2362200"/>
              <a:ext cx="3429000" cy="3390900"/>
            </a:xfrm>
            <a:prstGeom prst="roundRect">
              <a:avLst>
                <a:gd name="adj" fmla="val 3933"/>
              </a:avLst>
            </a:prstGeom>
            <a:solidFill>
              <a:srgbClr val="FBFCFE"/>
            </a:solidFill>
            <a:ln w="9525">
              <a:solidFill>
                <a:schemeClr val="accent4"/>
              </a:solidFill>
            </a:ln>
          </p:spPr>
        </p:sp>
        <p:sp>
          <p:nvSpPr>
            <p:cNvPr id="34" name="TextBox 34"/>
            <p:cNvSpPr txBox="1"/>
            <p:nvPr/>
          </p:nvSpPr>
          <p:spPr>
            <a:xfrm>
              <a:off x="8300466" y="2610802"/>
              <a:ext cx="1676938"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DYNAMICS &amp; FORCES</a:t>
              </a:r>
            </a:p>
          </p:txBody>
        </p:sp>
        <p:sp>
          <p:nvSpPr>
            <p:cNvPr id="35" name="TextBox 35"/>
            <p:cNvSpPr txBox="1"/>
            <p:nvPr/>
          </p:nvSpPr>
          <p:spPr>
            <a:xfrm>
              <a:off x="8296656" y="2834640"/>
              <a:ext cx="180342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N-body · MD17</a:t>
              </a:r>
            </a:p>
          </p:txBody>
        </p:sp>
        <p:sp>
          <p:nvSpPr>
            <p:cNvPr id="36" name="TextBox 36"/>
            <p:cNvSpPr txBox="1"/>
            <p:nvPr/>
          </p:nvSpPr>
          <p:spPr>
            <a:xfrm>
              <a:off x="8288274" y="3113722"/>
              <a:ext cx="1644333" cy="674751"/>
            </a:xfrm>
            <a:prstGeom prst="rect">
              <a:avLst/>
            </a:prstGeom>
            <a:noFill/>
            <a:ln>
              <a:noFill/>
            </a:ln>
          </p:spPr>
          <p:txBody>
            <a:bodyPr wrap="none" lIns="0" tIns="0" rIns="0" bIns="0" anchor="t" anchorCtr="0">
              <a:spAutoFit/>
            </a:bodyPr>
            <a:lstStyle/>
            <a:p>
              <a:pPr algn="l"/>
              <a:r>
                <a:rPr lang="en-US" sz="3450" b="1" dirty="0">
                  <a:solidFill>
                    <a:schemeClr val="accent3"/>
                  </a:solidFill>
                  <a:latin typeface="+mn-lt"/>
                  <a:ea typeface="+mn-ea"/>
                  <a:cs typeface="+mn-cs"/>
                </a:rPr>
                <a:t>5-body</a:t>
              </a:r>
            </a:p>
          </p:txBody>
        </p:sp>
        <p:sp>
          <p:nvSpPr>
            <p:cNvPr id="37" name="TextBox 37"/>
            <p:cNvSpPr txBox="1"/>
            <p:nvPr/>
          </p:nvSpPr>
          <p:spPr>
            <a:xfrm>
              <a:off x="8299704" y="3604260"/>
              <a:ext cx="229804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synthetic particle simulation</a:t>
              </a:r>
            </a:p>
          </p:txBody>
        </p:sp>
        <p:sp>
          <p:nvSpPr>
            <p:cNvPr id="38" name="Rectangle 38"/>
            <p:cNvSpPr/>
            <p:nvPr/>
          </p:nvSpPr>
          <p:spPr>
            <a:xfrm>
              <a:off x="8305800" y="3981450"/>
              <a:ext cx="2971800" cy="685800"/>
            </a:xfrm>
            <a:prstGeom prst="roundRect">
              <a:avLst>
                <a:gd name="adj" fmla="val 13889"/>
              </a:avLst>
            </a:prstGeom>
            <a:solidFill>
              <a:srgbClr val="EAF2FB"/>
            </a:solidFill>
            <a:ln>
              <a:noFill/>
            </a:ln>
          </p:spPr>
        </p:sp>
        <p:sp>
          <p:nvSpPr>
            <p:cNvPr id="39" name="TextBox 39"/>
            <p:cNvSpPr txBox="1"/>
            <p:nvPr/>
          </p:nvSpPr>
          <p:spPr>
            <a:xfrm>
              <a:off x="8452104" y="4118610"/>
              <a:ext cx="1577614"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Position prediction</a:t>
              </a:r>
            </a:p>
          </p:txBody>
        </p:sp>
        <p:sp>
          <p:nvSpPr>
            <p:cNvPr id="40" name="TextBox 40"/>
            <p:cNvSpPr txBox="1"/>
            <p:nvPr/>
          </p:nvSpPr>
          <p:spPr>
            <a:xfrm>
              <a:off x="8452485" y="4374356"/>
              <a:ext cx="2061962" cy="220028"/>
            </a:xfrm>
            <a:prstGeom prst="rect">
              <a:avLst/>
            </a:prstGeom>
            <a:noFill/>
            <a:ln>
              <a:noFill/>
            </a:ln>
          </p:spPr>
          <p:txBody>
            <a:bodyPr wrap="none" lIns="0" tIns="0" rIns="0" bIns="0" anchor="t" anchorCtr="0">
              <a:spAutoFit/>
            </a:bodyPr>
            <a:lstStyle/>
            <a:p>
              <a:pPr algn="l"/>
              <a:r>
                <a:rPr lang="en-US" sz="1120" dirty="0">
                  <a:solidFill>
                    <a:srgbClr val="4A6E96"/>
                  </a:solidFill>
                  <a:latin typeface="+mn-lt"/>
                  <a:ea typeface="+mn-ea"/>
                  <a:cs typeface="+mn-cs"/>
                </a:rPr>
                <a:t>equivariant · vector target</a:t>
              </a:r>
            </a:p>
          </p:txBody>
        </p:sp>
        <p:sp>
          <p:nvSpPr>
            <p:cNvPr id="41" name="Rectangle 41"/>
            <p:cNvSpPr/>
            <p:nvPr/>
          </p:nvSpPr>
          <p:spPr>
            <a:xfrm>
              <a:off x="8305800" y="4762500"/>
              <a:ext cx="2971800" cy="685800"/>
            </a:xfrm>
            <a:prstGeom prst="roundRect">
              <a:avLst>
                <a:gd name="adj" fmla="val 13889"/>
              </a:avLst>
            </a:prstGeom>
            <a:solidFill>
              <a:srgbClr val="EAF2FB"/>
            </a:solidFill>
            <a:ln>
              <a:noFill/>
            </a:ln>
          </p:spPr>
        </p:sp>
        <p:sp>
          <p:nvSpPr>
            <p:cNvPr id="42" name="TextBox 42"/>
            <p:cNvSpPr txBox="1"/>
            <p:nvPr/>
          </p:nvSpPr>
          <p:spPr>
            <a:xfrm>
              <a:off x="8452104" y="4899660"/>
              <a:ext cx="1475083" cy="234696"/>
            </a:xfrm>
            <a:prstGeom prst="rect">
              <a:avLst/>
            </a:prstGeom>
            <a:noFill/>
            <a:ln>
              <a:noFill/>
            </a:ln>
          </p:spPr>
          <p:txBody>
            <a:bodyPr wrap="none" lIns="0" tIns="0" rIns="0" bIns="0" anchor="t" anchorCtr="0">
              <a:spAutoFit/>
            </a:bodyPr>
            <a:lstStyle/>
            <a:p>
              <a:pPr algn="l"/>
              <a:r>
                <a:rPr lang="en-US" sz="1200" b="1" dirty="0">
                  <a:solidFill>
                    <a:schemeClr val="accent3"/>
                  </a:solidFill>
                  <a:latin typeface="+mn-lt"/>
                  <a:ea typeface="+mn-ea"/>
                  <a:cs typeface="+mn-cs"/>
                </a:rPr>
                <a:t>MD17 force fields</a:t>
              </a:r>
            </a:p>
          </p:txBody>
        </p:sp>
        <p:sp>
          <p:nvSpPr>
            <p:cNvPr id="43" name="TextBox 43"/>
            <p:cNvSpPr txBox="1"/>
            <p:nvPr/>
          </p:nvSpPr>
          <p:spPr>
            <a:xfrm>
              <a:off x="8452485" y="5155406"/>
              <a:ext cx="2031807" cy="220028"/>
            </a:xfrm>
            <a:prstGeom prst="rect">
              <a:avLst/>
            </a:prstGeom>
            <a:noFill/>
            <a:ln>
              <a:noFill/>
            </a:ln>
          </p:spPr>
          <p:txBody>
            <a:bodyPr wrap="none" lIns="0" tIns="0" rIns="0" bIns="0" anchor="t" anchorCtr="0">
              <a:spAutoFit/>
            </a:bodyPr>
            <a:lstStyle/>
            <a:p>
              <a:pPr algn="l"/>
              <a:r>
                <a:rPr lang="en-US" sz="1120" dirty="0">
                  <a:solidFill>
                    <a:srgbClr val="4A6E96"/>
                  </a:solidFill>
                  <a:latin typeface="+mn-lt"/>
                  <a:ea typeface="+mn-ea"/>
                  <a:cs typeface="+mn-cs"/>
                </a:rPr>
                <a:t>used in the ablation studies</a:t>
              </a:r>
            </a:p>
          </p:txBody>
        </p:sp>
      </p:grpSp>
      <p:sp>
        <p:nvSpPr>
          <p:cNvPr id="45" name="TextBox 45"/>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6" name="TextBox 46"/>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06 / 10</a:t>
            </a:r>
          </a:p>
        </p:txBody>
      </p:sp>
      <p:sp>
        <p:nvSpPr>
          <p:cNvPr id="47" name="cue_s06_c1_authors_evaluate_geomformer_across_b" title="cue_s06_c1_authors_evaluate_geomformer_across_b" descr="cue_s06_c1_authors_evaluate_geomformer_across_b The authors evaluate GeoMFormer across a broad suite of tasks that together stress both invariant and equivariant abilities."/>
          <p:cNvSpPr/>
          <p:nvPr/>
        </p:nvSpPr>
        <p:spPr>
          <a:xfrm>
            <a:off x="686409" y="1447723"/>
            <a:ext cx="10820400"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2_open_catalyst_2020_dataset_spanning" title="cue_s06_c2_open_catalyst_2020_dataset_spanning" descr="cue_s06_c2_open_catalyst_2020_dataset_spanning On the Open Catalyst 2020 dataset, spanning over four hundred sixty thousand adsorbate-catalyst complexes, they test both the Initial Structure to Relaxed Energy task, which is invariant, and the Initial Structure to Relaxed Structure task, which is equivarian"/>
          <p:cNvSpPr/>
          <p:nvPr/>
        </p:nvSpPr>
        <p:spPr>
          <a:xfrm>
            <a:off x="686409" y="2361895"/>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3_large_quantum_chemistry_datasets_pcq" title="cue_s06_c3_large_quantum_chemistry_datasets_pcq" descr="cue_s06_c3_large_quantum_chemistry_datasets_pcq On the large quantum chemistry datasets PCQM4Mv2 and Molecule3D, with millions of molecules, they predict the HOMO-LUMO energy gap."/>
          <p:cNvSpPr/>
          <p:nvPr/>
        </p:nvSpPr>
        <p:spPr>
          <a:xfrm>
            <a:off x="4381804" y="2361895"/>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4_they_further_synthetic_five_particle" title="cue_s06_c4_they_further_synthetic_five_particle" descr="cue_s06_c4_they_further_synthetic_five_particle They further use a synthetic five-particle N-body simulation to test equivariant position prediction, and the MD17 dataset for force-field modeling in the ablation studies. This breadth lets a single architecture be judged on both scalar and vector prediction."/>
          <p:cNvSpPr/>
          <p:nvPr/>
        </p:nvSpPr>
        <p:spPr>
          <a:xfrm>
            <a:off x="8077200" y="2361895"/>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772412"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07 </a:t>
            </a:r>
            <a:r>
              <a:rPr lang="en-US" sz="1200" b="1" spc="225" dirty="0">
                <a:solidFill>
                  <a:schemeClr val="accent5"/>
                </a:solidFill>
                <a:latin typeface="+mn-lt"/>
                <a:ea typeface="+mn-ea"/>
                <a:cs typeface="+mn-cs"/>
              </a:rPr>
              <a:t>/ KEY RESULT</a:t>
            </a:r>
          </a:p>
        </p:txBody>
      </p:sp>
      <p:sp>
        <p:nvSpPr>
          <p:cNvPr id="4" name="TextBox 4"/>
          <p:cNvSpPr txBox="1"/>
          <p:nvPr/>
        </p:nvSpPr>
        <p:spPr>
          <a:xfrm>
            <a:off x="672084" y="699135"/>
            <a:ext cx="7006583"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State-of-the-art on both task types</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6" name="Group 16"/>
          <p:cNvGrpSpPr/>
          <p:nvPr/>
        </p:nvGrpSpPr>
        <p:grpSpPr>
          <a:xfrm>
            <a:off x="685800" y="1447800"/>
            <a:ext cx="3429000" cy="2857500"/>
            <a:chOff x="685800" y="1447800"/>
            <a:chExt cx="3429000" cy="2857500"/>
          </a:xfrm>
        </p:grpSpPr>
        <p:sp>
          <p:nvSpPr>
            <p:cNvPr id="6" name="Rectangle 6"/>
            <p:cNvSpPr/>
            <p:nvPr/>
          </p:nvSpPr>
          <p:spPr>
            <a:xfrm>
              <a:off x="685800" y="1447800"/>
              <a:ext cx="3429000" cy="2857500"/>
            </a:xfrm>
            <a:prstGeom prst="roundRect">
              <a:avLst>
                <a:gd name="adj" fmla="val 4667"/>
              </a:avLst>
            </a:prstGeom>
            <a:solidFill>
              <a:srgbClr val="FBFCFE"/>
            </a:solidFill>
            <a:ln w="9525">
              <a:solidFill>
                <a:schemeClr val="accent4"/>
              </a:solidFill>
            </a:ln>
          </p:spPr>
        </p:sp>
        <p:sp>
          <p:nvSpPr>
            <p:cNvPr id="7" name="TextBox 7"/>
            <p:cNvSpPr txBox="1"/>
            <p:nvPr/>
          </p:nvSpPr>
          <p:spPr>
            <a:xfrm>
              <a:off x="909066" y="1696402"/>
              <a:ext cx="1786961"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OPEN CATALYST 2020</a:t>
              </a:r>
            </a:p>
          </p:txBody>
        </p:sp>
        <p:sp>
          <p:nvSpPr>
            <p:cNvPr id="8" name="Rectangle 8"/>
            <p:cNvSpPr/>
            <p:nvPr/>
          </p:nvSpPr>
          <p:spPr>
            <a:xfrm>
              <a:off x="914400" y="2019300"/>
              <a:ext cx="2971800" cy="990600"/>
            </a:xfrm>
            <a:prstGeom prst="roundRect">
              <a:avLst>
                <a:gd name="adj" fmla="val 9615"/>
              </a:avLst>
            </a:prstGeom>
            <a:solidFill>
              <a:srgbClr val="FDEEF3"/>
            </a:solidFill>
            <a:ln>
              <a:noFill/>
            </a:ln>
          </p:spPr>
        </p:sp>
        <p:sp>
          <p:nvSpPr>
            <p:cNvPr id="9" name="TextBox 9"/>
            <p:cNvSpPr txBox="1"/>
            <p:nvPr/>
          </p:nvSpPr>
          <p:spPr>
            <a:xfrm>
              <a:off x="1060323" y="2167414"/>
              <a:ext cx="130600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Energy · IS2RE</a:t>
              </a:r>
            </a:p>
          </p:txBody>
        </p:sp>
        <p:sp>
          <p:nvSpPr>
            <p:cNvPr id="10" name="TextBox 10"/>
            <p:cNvSpPr txBox="1"/>
            <p:nvPr/>
          </p:nvSpPr>
          <p:spPr>
            <a:xfrm>
              <a:off x="1060704" y="2442210"/>
              <a:ext cx="151176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Outperforms prior</a:t>
              </a:r>
            </a:p>
          </p:txBody>
        </p:sp>
        <p:sp>
          <p:nvSpPr>
            <p:cNvPr id="11" name="TextBox 11"/>
            <p:cNvSpPr txBox="1"/>
            <p:nvPr/>
          </p:nvSpPr>
          <p:spPr>
            <a:xfrm>
              <a:off x="1060704" y="2651760"/>
              <a:ext cx="1429337"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invariant</a:t>
              </a:r>
              <a:r>
                <a:rPr lang="en-US" sz="1200" dirty="0">
                  <a:solidFill>
                    <a:schemeClr val="dk1"/>
                  </a:solidFill>
                  <a:latin typeface="+mn-lt"/>
                  <a:ea typeface="+mn-ea"/>
                  <a:cs typeface="+mn-cs"/>
                </a:rPr>
                <a:t xml:space="preserve"> models.</a:t>
              </a:r>
            </a:p>
          </p:txBody>
        </p:sp>
        <p:sp>
          <p:nvSpPr>
            <p:cNvPr id="12" name="Rectangle 12"/>
            <p:cNvSpPr/>
            <p:nvPr/>
          </p:nvSpPr>
          <p:spPr>
            <a:xfrm>
              <a:off x="914400" y="3124200"/>
              <a:ext cx="2971800" cy="990600"/>
            </a:xfrm>
            <a:prstGeom prst="roundRect">
              <a:avLst>
                <a:gd name="adj" fmla="val 9615"/>
              </a:avLst>
            </a:prstGeom>
            <a:solidFill>
              <a:srgbClr val="EAF2FB"/>
            </a:solidFill>
            <a:ln>
              <a:noFill/>
            </a:ln>
          </p:spPr>
        </p:sp>
        <p:sp>
          <p:nvSpPr>
            <p:cNvPr id="13" name="TextBox 13"/>
            <p:cNvSpPr txBox="1"/>
            <p:nvPr/>
          </p:nvSpPr>
          <p:spPr>
            <a:xfrm>
              <a:off x="1060323" y="3272314"/>
              <a:ext cx="1602821" cy="249364"/>
            </a:xfrm>
            <a:prstGeom prst="rect">
              <a:avLst/>
            </a:prstGeom>
            <a:noFill/>
            <a:ln>
              <a:noFill/>
            </a:ln>
          </p:spPr>
          <p:txBody>
            <a:bodyPr wrap="none" lIns="0" tIns="0" rIns="0" bIns="0" anchor="t" anchorCtr="0">
              <a:spAutoFit/>
            </a:bodyPr>
            <a:lstStyle/>
            <a:p>
              <a:pPr algn="l"/>
              <a:r>
                <a:rPr lang="en-US" sz="1280" b="1" dirty="0">
                  <a:solidFill>
                    <a:schemeClr val="accent3"/>
                  </a:solidFill>
                  <a:latin typeface="+mn-lt"/>
                  <a:ea typeface="+mn-ea"/>
                  <a:cs typeface="+mn-cs"/>
                </a:rPr>
                <a:t>Structure · IS2RS</a:t>
              </a:r>
            </a:p>
          </p:txBody>
        </p:sp>
        <p:sp>
          <p:nvSpPr>
            <p:cNvPr id="14" name="TextBox 14"/>
            <p:cNvSpPr txBox="1"/>
            <p:nvPr/>
          </p:nvSpPr>
          <p:spPr>
            <a:xfrm>
              <a:off x="1060704" y="3547110"/>
              <a:ext cx="172601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 xml:space="preserve">Excels at </a:t>
              </a:r>
              <a:r>
                <a:rPr lang="en-US" sz="1200" b="1" dirty="0">
                  <a:solidFill>
                    <a:schemeClr val="dk1"/>
                  </a:solidFill>
                  <a:latin typeface="+mn-lt"/>
                  <a:ea typeface="+mn-ea"/>
                  <a:cs typeface="+mn-cs"/>
                </a:rPr>
                <a:t>equivariant</a:t>
              </a:r>
            </a:p>
          </p:txBody>
        </p:sp>
        <p:sp>
          <p:nvSpPr>
            <p:cNvPr id="15" name="TextBox 15"/>
            <p:cNvSpPr txBox="1"/>
            <p:nvPr/>
          </p:nvSpPr>
          <p:spPr>
            <a:xfrm>
              <a:off x="1060704" y="3756660"/>
              <a:ext cx="161147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structure modeling.</a:t>
              </a:r>
            </a:p>
          </p:txBody>
        </p:sp>
      </p:grpSp>
      <p:grpSp>
        <p:nvGrpSpPr>
          <p:cNvPr id="24" name="Group 24"/>
          <p:cNvGrpSpPr/>
          <p:nvPr/>
        </p:nvGrpSpPr>
        <p:grpSpPr>
          <a:xfrm>
            <a:off x="4381500" y="1447800"/>
            <a:ext cx="3429000" cy="2857500"/>
            <a:chOff x="4381500" y="1447800"/>
            <a:chExt cx="3429000" cy="2857500"/>
          </a:xfrm>
        </p:grpSpPr>
        <p:sp>
          <p:nvSpPr>
            <p:cNvPr id="17" name="Rectangle 17"/>
            <p:cNvSpPr/>
            <p:nvPr/>
          </p:nvSpPr>
          <p:spPr>
            <a:xfrm>
              <a:off x="4381500" y="1447800"/>
              <a:ext cx="3429000" cy="2857500"/>
            </a:xfrm>
            <a:prstGeom prst="roundRect">
              <a:avLst>
                <a:gd name="adj" fmla="val 4667"/>
              </a:avLst>
            </a:prstGeom>
            <a:solidFill>
              <a:schemeClr val="lt1"/>
            </a:solidFill>
            <a:ln w="19050">
              <a:solidFill>
                <a:schemeClr val="accent2"/>
              </a:solidFill>
            </a:ln>
          </p:spPr>
        </p:sp>
        <p:sp>
          <p:nvSpPr>
            <p:cNvPr id="18" name="TextBox 18"/>
            <p:cNvSpPr txBox="1"/>
            <p:nvPr/>
          </p:nvSpPr>
          <p:spPr>
            <a:xfrm>
              <a:off x="4604766" y="1696402"/>
              <a:ext cx="2202453" cy="205359"/>
            </a:xfrm>
            <a:prstGeom prst="rect">
              <a:avLst/>
            </a:prstGeom>
            <a:noFill/>
            <a:ln>
              <a:noFill/>
            </a:ln>
          </p:spPr>
          <p:txBody>
            <a:bodyPr wrap="none" lIns="0" tIns="0" rIns="0" bIns="0" anchor="t" anchorCtr="0">
              <a:spAutoFit/>
            </a:bodyPr>
            <a:lstStyle/>
            <a:p>
              <a:pPr algn="l"/>
              <a:r>
                <a:rPr lang="en-US" sz="1050" b="1" spc="112" dirty="0">
                  <a:solidFill>
                    <a:schemeClr val="accent2"/>
                  </a:solidFill>
                  <a:latin typeface="+mn-lt"/>
                  <a:ea typeface="+mn-ea"/>
                  <a:cs typeface="+mn-cs"/>
                </a:rPr>
                <a:t>PCQM4Mv2 · HOMO–LUMO</a:t>
              </a:r>
            </a:p>
          </p:txBody>
        </p:sp>
        <p:sp>
          <p:nvSpPr>
            <p:cNvPr id="19" name="TextBox 19"/>
            <p:cNvSpPr txBox="1"/>
            <p:nvPr/>
          </p:nvSpPr>
          <p:spPr>
            <a:xfrm>
              <a:off x="4591050" y="2079308"/>
              <a:ext cx="2602561" cy="1190625"/>
            </a:xfrm>
            <a:prstGeom prst="rect">
              <a:avLst/>
            </a:prstGeom>
            <a:noFill/>
            <a:ln>
              <a:noFill/>
            </a:ln>
          </p:spPr>
          <p:txBody>
            <a:bodyPr wrap="none" lIns="0" tIns="0" rIns="0" bIns="0" anchor="t" anchorCtr="0">
              <a:spAutoFit/>
            </a:bodyPr>
            <a:lstStyle/>
            <a:p>
              <a:pPr algn="l"/>
              <a:r>
                <a:rPr lang="en-US" sz="6150" b="1" dirty="0">
                  <a:solidFill>
                    <a:schemeClr val="accent2"/>
                  </a:solidFill>
                  <a:latin typeface="+mn-lt"/>
                  <a:ea typeface="+mn-ea"/>
                  <a:cs typeface="+mn-cs"/>
                </a:rPr>
                <a:t>−6.7%</a:t>
              </a:r>
            </a:p>
          </p:txBody>
        </p:sp>
        <p:sp>
          <p:nvSpPr>
            <p:cNvPr id="20" name="TextBox 20"/>
            <p:cNvSpPr txBox="1"/>
            <p:nvPr/>
          </p:nvSpPr>
          <p:spPr>
            <a:xfrm>
              <a:off x="4603242" y="2921318"/>
              <a:ext cx="229406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relative error reduction</a:t>
              </a:r>
            </a:p>
          </p:txBody>
        </p:sp>
        <p:sp>
          <p:nvSpPr>
            <p:cNvPr id="21" name="TextBox 21"/>
            <p:cNvSpPr txBox="1"/>
            <p:nvPr/>
          </p:nvSpPr>
          <p:spPr>
            <a:xfrm>
              <a:off x="4603623" y="3291364"/>
              <a:ext cx="195725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Lowest error among all</a:t>
              </a:r>
            </a:p>
          </p:txBody>
        </p:sp>
        <p:sp>
          <p:nvSpPr>
            <p:cNvPr id="22" name="TextBox 22"/>
            <p:cNvSpPr txBox="1"/>
            <p:nvPr/>
          </p:nvSpPr>
          <p:spPr>
            <a:xfrm>
              <a:off x="4603623" y="3519964"/>
              <a:ext cx="2277361"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O(n²)-complexity models —</a:t>
              </a:r>
            </a:p>
          </p:txBody>
        </p:sp>
        <p:sp>
          <p:nvSpPr>
            <p:cNvPr id="23" name="TextBox 23"/>
            <p:cNvSpPr txBox="1"/>
            <p:nvPr/>
          </p:nvSpPr>
          <p:spPr>
            <a:xfrm>
              <a:off x="4603623" y="3748564"/>
              <a:ext cx="2528733"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and it still scales efficiently.</a:t>
              </a:r>
            </a:p>
          </p:txBody>
        </p:sp>
      </p:grpSp>
      <p:grpSp>
        <p:nvGrpSpPr>
          <p:cNvPr id="34" name="Group 34"/>
          <p:cNvGrpSpPr/>
          <p:nvPr/>
        </p:nvGrpSpPr>
        <p:grpSpPr>
          <a:xfrm>
            <a:off x="8077200" y="1447800"/>
            <a:ext cx="3429000" cy="2857500"/>
            <a:chOff x="8077200" y="1447800"/>
            <a:chExt cx="3429000" cy="2857500"/>
          </a:xfrm>
        </p:grpSpPr>
        <p:sp>
          <p:nvSpPr>
            <p:cNvPr id="25" name="Rectangle 25"/>
            <p:cNvSpPr/>
            <p:nvPr/>
          </p:nvSpPr>
          <p:spPr>
            <a:xfrm>
              <a:off x="8077200" y="1447800"/>
              <a:ext cx="3429000" cy="2857500"/>
            </a:xfrm>
            <a:prstGeom prst="roundRect">
              <a:avLst>
                <a:gd name="adj" fmla="val 4667"/>
              </a:avLst>
            </a:prstGeom>
            <a:solidFill>
              <a:srgbClr val="FBFCFE"/>
            </a:solidFill>
            <a:ln w="9525">
              <a:solidFill>
                <a:schemeClr val="accent4"/>
              </a:solidFill>
            </a:ln>
          </p:spPr>
        </p:sp>
        <p:sp>
          <p:nvSpPr>
            <p:cNvPr id="26" name="TextBox 26"/>
            <p:cNvSpPr txBox="1"/>
            <p:nvPr/>
          </p:nvSpPr>
          <p:spPr>
            <a:xfrm>
              <a:off x="8300466" y="1696402"/>
              <a:ext cx="1582349"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MORE BENCHMARKS</a:t>
              </a:r>
            </a:p>
          </p:txBody>
        </p:sp>
        <p:sp>
          <p:nvSpPr>
            <p:cNvPr id="27" name="Rectangle 27"/>
            <p:cNvSpPr/>
            <p:nvPr/>
          </p:nvSpPr>
          <p:spPr>
            <a:xfrm>
              <a:off x="8305800" y="2019300"/>
              <a:ext cx="2971800" cy="990600"/>
            </a:xfrm>
            <a:prstGeom prst="roundRect">
              <a:avLst>
                <a:gd name="adj" fmla="val 9615"/>
              </a:avLst>
            </a:prstGeom>
            <a:solidFill>
              <a:srgbClr val="FDEEF3"/>
            </a:solidFill>
            <a:ln>
              <a:noFill/>
            </a:ln>
          </p:spPr>
        </p:sp>
        <p:sp>
          <p:nvSpPr>
            <p:cNvPr id="28" name="TextBox 28"/>
            <p:cNvSpPr txBox="1"/>
            <p:nvPr/>
          </p:nvSpPr>
          <p:spPr>
            <a:xfrm>
              <a:off x="8451723" y="2167414"/>
              <a:ext cx="96562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Molecule3D</a:t>
              </a:r>
            </a:p>
          </p:txBody>
        </p:sp>
        <p:sp>
          <p:nvSpPr>
            <p:cNvPr id="29" name="TextBox 29"/>
            <p:cNvSpPr txBox="1"/>
            <p:nvPr/>
          </p:nvSpPr>
          <p:spPr>
            <a:xfrm>
              <a:off x="8446770" y="2405062"/>
              <a:ext cx="1899295"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 xml:space="preserve">−16.3% </a:t>
              </a:r>
              <a:r>
                <a:rPr lang="en-US" sz="1350" b="1" dirty="0">
                  <a:solidFill>
                    <a:srgbClr val="8A5567"/>
                  </a:solidFill>
                  <a:latin typeface="+mn-lt"/>
                  <a:ea typeface="+mn-ea"/>
                  <a:cs typeface="+mn-cs"/>
                </a:rPr>
                <a:t>random</a:t>
              </a:r>
            </a:p>
          </p:txBody>
        </p:sp>
        <p:sp>
          <p:nvSpPr>
            <p:cNvPr id="30" name="TextBox 30"/>
            <p:cNvSpPr txBox="1"/>
            <p:nvPr/>
          </p:nvSpPr>
          <p:spPr>
            <a:xfrm>
              <a:off x="8450580" y="2733675"/>
              <a:ext cx="1524869"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 xml:space="preserve">−11.6% </a:t>
              </a:r>
              <a:r>
                <a:rPr lang="en-US" sz="1200" b="1" dirty="0">
                  <a:solidFill>
                    <a:srgbClr val="8A5567"/>
                  </a:solidFill>
                  <a:latin typeface="+mn-lt"/>
                  <a:ea typeface="+mn-ea"/>
                  <a:cs typeface="+mn-cs"/>
                </a:rPr>
                <a:t>scaffold</a:t>
              </a:r>
            </a:p>
          </p:txBody>
        </p:sp>
        <p:sp>
          <p:nvSpPr>
            <p:cNvPr id="31" name="Rectangle 31"/>
            <p:cNvSpPr/>
            <p:nvPr/>
          </p:nvSpPr>
          <p:spPr>
            <a:xfrm>
              <a:off x="8305800" y="3124200"/>
              <a:ext cx="2971800" cy="990600"/>
            </a:xfrm>
            <a:prstGeom prst="roundRect">
              <a:avLst>
                <a:gd name="adj" fmla="val 9615"/>
              </a:avLst>
            </a:prstGeom>
            <a:solidFill>
              <a:srgbClr val="EAF2FB"/>
            </a:solidFill>
            <a:ln>
              <a:noFill/>
            </a:ln>
          </p:spPr>
        </p:sp>
        <p:sp>
          <p:nvSpPr>
            <p:cNvPr id="32" name="TextBox 32"/>
            <p:cNvSpPr txBox="1"/>
            <p:nvPr/>
          </p:nvSpPr>
          <p:spPr>
            <a:xfrm>
              <a:off x="8451723" y="3272314"/>
              <a:ext cx="1565737" cy="249364"/>
            </a:xfrm>
            <a:prstGeom prst="rect">
              <a:avLst/>
            </a:prstGeom>
            <a:noFill/>
            <a:ln>
              <a:noFill/>
            </a:ln>
          </p:spPr>
          <p:txBody>
            <a:bodyPr wrap="none" lIns="0" tIns="0" rIns="0" bIns="0" anchor="t" anchorCtr="0">
              <a:spAutoFit/>
            </a:bodyPr>
            <a:lstStyle/>
            <a:p>
              <a:pPr algn="l"/>
              <a:r>
                <a:rPr lang="en-US" sz="1280" b="1" dirty="0">
                  <a:solidFill>
                    <a:schemeClr val="accent3"/>
                  </a:solidFill>
                  <a:latin typeface="+mn-lt"/>
                  <a:ea typeface="+mn-ea"/>
                  <a:cs typeface="+mn-cs"/>
                </a:rPr>
                <a:t>N-body simulation</a:t>
              </a:r>
            </a:p>
          </p:txBody>
        </p:sp>
        <p:sp>
          <p:nvSpPr>
            <p:cNvPr id="33" name="TextBox 33"/>
            <p:cNvSpPr txBox="1"/>
            <p:nvPr/>
          </p:nvSpPr>
          <p:spPr>
            <a:xfrm>
              <a:off x="8445246" y="3515678"/>
              <a:ext cx="1826794" cy="498729"/>
            </a:xfrm>
            <a:prstGeom prst="rect">
              <a:avLst/>
            </a:prstGeom>
            <a:noFill/>
            <a:ln>
              <a:noFill/>
            </a:ln>
          </p:spPr>
          <p:txBody>
            <a:bodyPr wrap="none" lIns="0" tIns="0" rIns="0" bIns="0" anchor="t" anchorCtr="0">
              <a:spAutoFit/>
            </a:bodyPr>
            <a:lstStyle/>
            <a:p>
              <a:pPr algn="l"/>
              <a:r>
                <a:rPr lang="en-US" sz="2550" b="1" dirty="0">
                  <a:solidFill>
                    <a:schemeClr val="accent3"/>
                  </a:solidFill>
                  <a:latin typeface="+mn-lt"/>
                  <a:ea typeface="+mn-ea"/>
                  <a:cs typeface="+mn-cs"/>
                </a:rPr>
                <a:t xml:space="preserve">−33.8% </a:t>
              </a:r>
              <a:r>
                <a:rPr lang="en-US" sz="1280" b="1" dirty="0">
                  <a:solidFill>
                    <a:srgbClr val="4A6E96"/>
                  </a:solidFill>
                  <a:latin typeface="+mn-lt"/>
                  <a:ea typeface="+mn-ea"/>
                  <a:cs typeface="+mn-cs"/>
                </a:rPr>
                <a:t>MSE</a:t>
              </a:r>
            </a:p>
          </p:txBody>
        </p:sp>
      </p:grpSp>
      <p:grpSp>
        <p:nvGrpSpPr>
          <p:cNvPr id="39" name="Group 39"/>
          <p:cNvGrpSpPr/>
          <p:nvPr/>
        </p:nvGrpSpPr>
        <p:grpSpPr>
          <a:xfrm>
            <a:off x="685800" y="4533900"/>
            <a:ext cx="10820400" cy="1219200"/>
            <a:chOff x="685800" y="4533900"/>
            <a:chExt cx="10820400" cy="1219200"/>
          </a:xfrm>
        </p:grpSpPr>
        <p:sp>
          <p:nvSpPr>
            <p:cNvPr id="35" name="Rectangle 35"/>
            <p:cNvSpPr/>
            <p:nvPr/>
          </p:nvSpPr>
          <p:spPr>
            <a:xfrm>
              <a:off x="685800" y="4533900"/>
              <a:ext cx="10820400" cy="1219200"/>
            </a:xfrm>
            <a:prstGeom prst="roundRect">
              <a:avLst>
                <a:gd name="adj" fmla="val 10938"/>
              </a:avLst>
            </a:prstGeom>
            <a:solidFill>
              <a:schemeClr val="accent1"/>
            </a:solidFill>
            <a:ln>
              <a:noFill/>
            </a:ln>
          </p:spPr>
        </p:sp>
        <p:sp>
          <p:nvSpPr>
            <p:cNvPr id="36" name="TextBox 36"/>
            <p:cNvSpPr txBox="1"/>
            <p:nvPr/>
          </p:nvSpPr>
          <p:spPr>
            <a:xfrm>
              <a:off x="946404" y="4804410"/>
              <a:ext cx="1855622" cy="234696"/>
            </a:xfrm>
            <a:prstGeom prst="rect">
              <a:avLst/>
            </a:prstGeom>
            <a:noFill/>
            <a:ln>
              <a:noFill/>
            </a:ln>
          </p:spPr>
          <p:txBody>
            <a:bodyPr wrap="none" lIns="0" tIns="0" rIns="0" bIns="0" anchor="t" anchorCtr="0">
              <a:spAutoFit/>
            </a:bodyPr>
            <a:lstStyle/>
            <a:p>
              <a:pPr algn="l"/>
              <a:r>
                <a:rPr lang="en-US" sz="1200" b="1" spc="150" dirty="0">
                  <a:solidFill>
                    <a:srgbClr val="8FB6E6"/>
                  </a:solidFill>
                  <a:latin typeface="+mn-lt"/>
                  <a:ea typeface="+mn-ea"/>
                  <a:cs typeface="+mn-cs"/>
                </a:rPr>
                <a:t>ONE ARCHITECTURE</a:t>
              </a:r>
            </a:p>
          </p:txBody>
        </p:sp>
        <p:sp>
          <p:nvSpPr>
            <p:cNvPr id="37" name="TextBox 37"/>
            <p:cNvSpPr txBox="1"/>
            <p:nvPr/>
          </p:nvSpPr>
          <p:spPr>
            <a:xfrm>
              <a:off x="943737" y="5090636"/>
              <a:ext cx="9103151"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n-lt"/>
                  <a:ea typeface="+mn-ea"/>
                  <a:cs typeface="+mn-cs"/>
                </a:rPr>
                <a:t xml:space="preserve">Built from standard Transformer parts — yet state-of-the-art on </a:t>
              </a:r>
              <a:r>
                <a:rPr lang="en-US" sz="1720" b="1" dirty="0">
                  <a:solidFill>
                    <a:srgbClr val="F4B8CE"/>
                  </a:solidFill>
                  <a:latin typeface="+mn-lt"/>
                  <a:ea typeface="+mn-ea"/>
                  <a:cs typeface="+mn-cs"/>
                </a:rPr>
                <a:t>invariant</a:t>
              </a:r>
            </a:p>
          </p:txBody>
        </p:sp>
        <p:sp>
          <p:nvSpPr>
            <p:cNvPr id="38" name="TextBox 38"/>
            <p:cNvSpPr txBox="1"/>
            <p:nvPr/>
          </p:nvSpPr>
          <p:spPr>
            <a:xfrm>
              <a:off x="943737" y="5376386"/>
              <a:ext cx="3336165" cy="337376"/>
            </a:xfrm>
            <a:prstGeom prst="rect">
              <a:avLst/>
            </a:prstGeom>
            <a:noFill/>
            <a:ln>
              <a:noFill/>
            </a:ln>
          </p:spPr>
          <p:txBody>
            <a:bodyPr wrap="none" lIns="0" tIns="0" rIns="0" bIns="0" anchor="t" anchorCtr="0">
              <a:spAutoFit/>
            </a:bodyPr>
            <a:lstStyle/>
            <a:p>
              <a:pPr algn="l"/>
              <a:r>
                <a:rPr lang="en-US" sz="1720" b="1" dirty="0">
                  <a:solidFill>
                    <a:srgbClr val="FFFFFF"/>
                  </a:solidFill>
                  <a:latin typeface="+mn-lt"/>
                  <a:ea typeface="+mn-ea"/>
                  <a:cs typeface="+mn-cs"/>
                </a:rPr>
                <a:t xml:space="preserve">and </a:t>
              </a:r>
              <a:r>
                <a:rPr lang="en-US" sz="1720" b="1" dirty="0">
                  <a:solidFill>
                    <a:srgbClr val="8FB6E6"/>
                  </a:solidFill>
                  <a:latin typeface="+mn-lt"/>
                  <a:ea typeface="+mn-ea"/>
                  <a:cs typeface="+mn-cs"/>
                </a:rPr>
                <a:t>equivariant</a:t>
              </a:r>
              <a:r>
                <a:rPr lang="en-US" sz="1720" b="1" dirty="0">
                  <a:solidFill>
                    <a:srgbClr val="FFFFFF"/>
                  </a:solidFill>
                  <a:latin typeface="+mn-lt"/>
                  <a:ea typeface="+mn-ea"/>
                  <a:cs typeface="+mn-cs"/>
                </a:rPr>
                <a:t xml:space="preserve"> tasks alike.</a:t>
              </a:r>
            </a:p>
          </p:txBody>
        </p:sp>
      </p:grpSp>
      <p:sp>
        <p:nvSpPr>
          <p:cNvPr id="40" name="TextBox 40"/>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1" name="TextBox 41"/>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07 / 10</a:t>
            </a:r>
          </a:p>
        </p:txBody>
      </p:sp>
      <p:sp>
        <p:nvSpPr>
          <p:cNvPr id="42" name="cue_s07_c1_geomformer_delivers_strong_results_e" title="cue_s07_c1_geomformer_delivers_strong_results_e" descr="cue_s07_c1_geomformer_delivers_strong_results_e GeoMFormer delivers strong results everywhere it is tested. On the Open Catalyst energy prediction task it outperforms prior invariant models, and on the structure prediction task it excels at equivariant modeling."/>
          <p:cNvSpPr/>
          <p:nvPr/>
        </p:nvSpPr>
        <p:spPr>
          <a:xfrm>
            <a:off x="686409"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7_c2_pcqm4mv2_benchmark_reaches_lowest_er" title="cue_s07_c2_pcqm4mv2_benchmark_reaches_lowest_er" descr="cue_s07_c2_pcqm4mv2_benchmark_reaches_lowest_er On the PCQM4Mv2 benchmark it reaches the lowest error among models with quadratic complexity, a six point seven percent relative reduction over the previous best, while staying efficient enough to scale to large systems."/>
          <p:cNvSpPr/>
          <p:nvPr/>
        </p:nvSpPr>
        <p:spPr>
          <a:xfrm>
            <a:off x="4381804"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3_molecule3d_improves_error_sixteen_po" title="cue_s07_c3_molecule3d_improves_error_sixteen_po" descr="cue_s07_c3_molecule3d_improves_error_sixteen_po On Molecule3D it improves error by sixteen point three percent on the random split and eleven point six percent on the scaffold split. And on the N-body simulation it cuts mean squared error by a striking thirty-three point eight percent."/>
          <p:cNvSpPr/>
          <p:nvPr/>
        </p:nvSpPr>
        <p:spPr>
          <a:xfrm>
            <a:off x="8077200" y="1447723"/>
            <a:ext cx="3428390"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4_single_architecture_built_standard_t" title="cue_s07_c4_single_architecture_built_standard_t" descr="cue_s07_c4_single_architecture_built_standard_t A single architecture, built from standard Transformer parts, achieves state-of-the-art performance on both invariant and equivariant tasks."/>
          <p:cNvSpPr/>
          <p:nvPr/>
        </p:nvSpPr>
        <p:spPr>
          <a:xfrm>
            <a:off x="686409" y="4533823"/>
            <a:ext cx="10820400"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285756"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08 </a:t>
            </a:r>
            <a:r>
              <a:rPr lang="en-US" sz="1200" b="1" spc="225" dirty="0">
                <a:solidFill>
                  <a:schemeClr val="accent5"/>
                </a:solidFill>
                <a:latin typeface="+mn-lt"/>
                <a:ea typeface="+mn-ea"/>
                <a:cs typeface="+mn-cs"/>
              </a:rPr>
              <a:t>/ ABLATION STUDY</a:t>
            </a:r>
          </a:p>
        </p:txBody>
      </p:sp>
      <p:sp>
        <p:nvSpPr>
          <p:cNvPr id="4" name="TextBox 4"/>
          <p:cNvSpPr txBox="1"/>
          <p:nvPr/>
        </p:nvSpPr>
        <p:spPr>
          <a:xfrm>
            <a:off x="672084" y="699135"/>
            <a:ext cx="7997656"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Cross-attention is the heart of the design</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9" name="Group 9"/>
          <p:cNvGrpSpPr/>
          <p:nvPr/>
        </p:nvGrpSpPr>
        <p:grpSpPr>
          <a:xfrm>
            <a:off x="685800" y="1447800"/>
            <a:ext cx="10820400" cy="610648"/>
            <a:chOff x="685800" y="1447800"/>
            <a:chExt cx="10820400" cy="610648"/>
          </a:xfrm>
        </p:grpSpPr>
        <p:sp>
          <p:nvSpPr>
            <p:cNvPr id="6" name="Rectangle 6"/>
            <p:cNvSpPr/>
            <p:nvPr/>
          </p:nvSpPr>
          <p:spPr>
            <a:xfrm>
              <a:off x="685800" y="1447800"/>
              <a:ext cx="10820400" cy="609600"/>
            </a:xfrm>
            <a:prstGeom prst="roundRect">
              <a:avLst>
                <a:gd name="adj" fmla="val 18750"/>
              </a:avLst>
            </a:prstGeom>
            <a:solidFill>
              <a:srgbClr val="F3EDFC"/>
            </a:solidFill>
            <a:ln w="9525">
              <a:solidFill>
                <a:srgbClr val="7C3AED"/>
              </a:solidFill>
            </a:ln>
          </p:spPr>
        </p:sp>
        <p:sp>
          <p:nvSpPr>
            <p:cNvPr id="7" name="TextBox 7"/>
            <p:cNvSpPr txBox="1"/>
            <p:nvPr/>
          </p:nvSpPr>
          <p:spPr>
            <a:xfrm>
              <a:off x="946785" y="1593056"/>
              <a:ext cx="1954201" cy="220028"/>
            </a:xfrm>
            <a:prstGeom prst="rect">
              <a:avLst/>
            </a:prstGeom>
            <a:noFill/>
            <a:ln>
              <a:noFill/>
            </a:ln>
          </p:spPr>
          <p:txBody>
            <a:bodyPr wrap="none" lIns="0" tIns="0" rIns="0" bIns="0" anchor="t" anchorCtr="0">
              <a:spAutoFit/>
            </a:bodyPr>
            <a:lstStyle/>
            <a:p>
              <a:pPr algn="l"/>
              <a:r>
                <a:rPr lang="en-US" sz="1120" b="1" spc="112" dirty="0">
                  <a:solidFill>
                    <a:srgbClr val="7C3AED"/>
                  </a:solidFill>
                  <a:latin typeface="+mn-lt"/>
                  <a:ea typeface="+mn-ea"/>
                  <a:cs typeface="+mn-cs"/>
                </a:rPr>
                <a:t>ABLATING EACH BLOCK</a:t>
              </a:r>
            </a:p>
          </p:txBody>
        </p:sp>
        <p:sp>
          <p:nvSpPr>
            <p:cNvPr id="8" name="TextBox 8"/>
            <p:cNvSpPr txBox="1"/>
            <p:nvPr/>
          </p:nvSpPr>
          <p:spPr>
            <a:xfrm>
              <a:off x="945261" y="1779746"/>
              <a:ext cx="100472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 xml:space="preserve">Removing the </a:t>
              </a:r>
              <a:r>
                <a:rPr lang="en-US" sz="1420" b="1" dirty="0">
                  <a:solidFill>
                    <a:srgbClr val="7C3AED"/>
                  </a:solidFill>
                  <a:latin typeface="+mn-lt"/>
                  <a:ea typeface="+mn-ea"/>
                  <a:cs typeface="+mn-cs"/>
                </a:rPr>
                <a:t>cross-attention</a:t>
              </a:r>
              <a:r>
                <a:rPr lang="en-US" sz="1420" b="1" dirty="0">
                  <a:solidFill>
                    <a:schemeClr val="dk1"/>
                  </a:solidFill>
                  <a:latin typeface="+mn-lt"/>
                  <a:ea typeface="+mn-ea"/>
                  <a:cs typeface="+mn-cs"/>
                </a:rPr>
                <a:t xml:space="preserve"> bridge hurts sharply — relative improvement when each module is added:</a:t>
              </a:r>
            </a:p>
          </p:txBody>
        </p:sp>
      </p:grpSp>
      <p:grpSp>
        <p:nvGrpSpPr>
          <p:cNvPr id="16" name="Group 16"/>
          <p:cNvGrpSpPr/>
          <p:nvPr/>
        </p:nvGrpSpPr>
        <p:grpSpPr>
          <a:xfrm>
            <a:off x="7886700" y="2209800"/>
            <a:ext cx="3178207" cy="206311"/>
            <a:chOff x="7886700" y="2209800"/>
            <a:chExt cx="3178207" cy="206311"/>
          </a:xfrm>
        </p:grpSpPr>
        <p:sp>
          <p:nvSpPr>
            <p:cNvPr id="10" name="Rectangle 10"/>
            <p:cNvSpPr/>
            <p:nvPr/>
          </p:nvSpPr>
          <p:spPr>
            <a:xfrm>
              <a:off x="7886700" y="2209800"/>
              <a:ext cx="133350" cy="133350"/>
            </a:xfrm>
            <a:prstGeom prst="roundRect">
              <a:avLst>
                <a:gd name="adj" fmla="val 21429"/>
              </a:avLst>
            </a:prstGeom>
            <a:solidFill>
              <a:schemeClr val="accent2"/>
            </a:solidFill>
            <a:ln>
              <a:noFill/>
            </a:ln>
          </p:spPr>
        </p:sp>
        <p:sp>
          <p:nvSpPr>
            <p:cNvPr id="11" name="TextBox 11"/>
            <p:cNvSpPr txBox="1"/>
            <p:nvPr/>
          </p:nvSpPr>
          <p:spPr>
            <a:xfrm>
              <a:off x="8071866" y="2210752"/>
              <a:ext cx="10427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Inv Cross-Attn</a:t>
              </a:r>
            </a:p>
          </p:txBody>
        </p:sp>
        <p:sp>
          <p:nvSpPr>
            <p:cNvPr id="12" name="Rectangle 12"/>
            <p:cNvSpPr/>
            <p:nvPr/>
          </p:nvSpPr>
          <p:spPr>
            <a:xfrm>
              <a:off x="9220200" y="2209800"/>
              <a:ext cx="133350" cy="133350"/>
            </a:xfrm>
            <a:prstGeom prst="roundRect">
              <a:avLst>
                <a:gd name="adj" fmla="val 21429"/>
              </a:avLst>
            </a:prstGeom>
            <a:solidFill>
              <a:schemeClr val="accent3"/>
            </a:solidFill>
            <a:ln>
              <a:noFill/>
            </a:ln>
          </p:spPr>
        </p:sp>
        <p:sp>
          <p:nvSpPr>
            <p:cNvPr id="13" name="TextBox 13"/>
            <p:cNvSpPr txBox="1"/>
            <p:nvPr/>
          </p:nvSpPr>
          <p:spPr>
            <a:xfrm>
              <a:off x="9405366" y="2210752"/>
              <a:ext cx="107863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Equ Cross-Attn</a:t>
              </a:r>
            </a:p>
          </p:txBody>
        </p:sp>
        <p:sp>
          <p:nvSpPr>
            <p:cNvPr id="14" name="Rectangle 14"/>
            <p:cNvSpPr/>
            <p:nvPr/>
          </p:nvSpPr>
          <p:spPr>
            <a:xfrm>
              <a:off x="10553700" y="2209800"/>
              <a:ext cx="133350" cy="133350"/>
            </a:xfrm>
            <a:prstGeom prst="roundRect">
              <a:avLst>
                <a:gd name="adj" fmla="val 21429"/>
              </a:avLst>
            </a:prstGeom>
            <a:solidFill>
              <a:srgbClr val="7C3AED"/>
            </a:solidFill>
            <a:ln>
              <a:noFill/>
            </a:ln>
          </p:spPr>
        </p:sp>
        <p:sp>
          <p:nvSpPr>
            <p:cNvPr id="15" name="TextBox 15"/>
            <p:cNvSpPr txBox="1"/>
            <p:nvPr/>
          </p:nvSpPr>
          <p:spPr>
            <a:xfrm>
              <a:off x="10738866" y="2210752"/>
              <a:ext cx="3260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Both</a:t>
              </a:r>
            </a:p>
          </p:txBody>
        </p:sp>
      </p:grpSp>
      <p:grpSp>
        <p:nvGrpSpPr>
          <p:cNvPr id="30" name="Group 30"/>
          <p:cNvGrpSpPr/>
          <p:nvPr/>
        </p:nvGrpSpPr>
        <p:grpSpPr>
          <a:xfrm>
            <a:off x="685800" y="2514600"/>
            <a:ext cx="3429000" cy="3390900"/>
            <a:chOff x="685800" y="2514600"/>
            <a:chExt cx="3429000" cy="3390900"/>
          </a:xfrm>
        </p:grpSpPr>
        <p:sp>
          <p:nvSpPr>
            <p:cNvPr id="17" name="Rectangle 17"/>
            <p:cNvSpPr/>
            <p:nvPr/>
          </p:nvSpPr>
          <p:spPr>
            <a:xfrm>
              <a:off x="685800" y="2514600"/>
              <a:ext cx="3429000" cy="3390900"/>
            </a:xfrm>
            <a:prstGeom prst="roundRect">
              <a:avLst>
                <a:gd name="adj" fmla="val 3933"/>
              </a:avLst>
            </a:prstGeom>
            <a:solidFill>
              <a:srgbClr val="FBFCFE"/>
            </a:solidFill>
            <a:ln w="9525">
              <a:solidFill>
                <a:schemeClr val="accent4"/>
              </a:solidFill>
            </a:ln>
          </p:spPr>
        </p:sp>
        <p:sp>
          <p:nvSpPr>
            <p:cNvPr id="18" name="TextBox 18"/>
            <p:cNvSpPr txBox="1"/>
            <p:nvPr/>
          </p:nvSpPr>
          <p:spPr>
            <a:xfrm>
              <a:off x="906780" y="2695575"/>
              <a:ext cx="149845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MD17 · Energy</a:t>
              </a:r>
            </a:p>
          </p:txBody>
        </p:sp>
        <p:sp>
          <p:nvSpPr>
            <p:cNvPr id="19" name="TextBox 19"/>
            <p:cNvSpPr txBox="1"/>
            <p:nvPr/>
          </p:nvSpPr>
          <p:spPr>
            <a:xfrm>
              <a:off x="909066" y="2953702"/>
              <a:ext cx="1480718" cy="205359"/>
            </a:xfrm>
            <a:prstGeom prst="rect">
              <a:avLst/>
            </a:prstGeom>
            <a:noFill/>
            <a:ln>
              <a:noFill/>
            </a:ln>
          </p:spPr>
          <p:txBody>
            <a:bodyPr wrap="none" lIns="0" tIns="0" rIns="0" bIns="0" anchor="t" anchorCtr="0">
              <a:spAutoFit/>
            </a:bodyPr>
            <a:lstStyle/>
            <a:p>
              <a:pPr algn="l"/>
              <a:r>
                <a:rPr lang="en-US" sz="1050" dirty="0">
                  <a:solidFill>
                    <a:srgbClr val="8A93A3"/>
                  </a:solidFill>
                  <a:latin typeface="+mn-lt"/>
                  <a:ea typeface="+mn-ea"/>
                  <a:cs typeface="+mn-cs"/>
                </a:rPr>
                <a:t>relative improvement</a:t>
              </a:r>
            </a:p>
          </p:txBody>
        </p:sp>
        <p:sp>
          <p:nvSpPr>
            <p:cNvPr id="20" name="Line 20"/>
            <p:cNvSpPr/>
            <p:nvPr/>
          </p:nvSpPr>
          <p:spPr>
            <a:xfrm>
              <a:off x="914400" y="5334000"/>
              <a:ext cx="2971800" cy="9525"/>
            </a:xfrm>
            <a:custGeom>
              <a:avLst/>
              <a:gdLst/>
              <a:ahLst/>
              <a:cxnLst/>
              <a:rect l="l" t="t" r="r" b="b"/>
              <a:pathLst>
                <a:path w="2971800" h="9525">
                  <a:moveTo>
                    <a:pt x="0" y="0"/>
                  </a:moveTo>
                  <a:lnTo>
                    <a:pt x="2971800" y="0"/>
                  </a:lnTo>
                </a:path>
              </a:pathLst>
            </a:custGeom>
            <a:noFill/>
            <a:ln w="9525">
              <a:solidFill>
                <a:schemeClr val="accent4"/>
              </a:solidFill>
            </a:ln>
          </p:spPr>
        </p:sp>
        <p:sp>
          <p:nvSpPr>
            <p:cNvPr id="21" name="Rectangle 21"/>
            <p:cNvSpPr/>
            <p:nvPr/>
          </p:nvSpPr>
          <p:spPr>
            <a:xfrm>
              <a:off x="1162050" y="4857750"/>
              <a:ext cx="533400" cy="476250"/>
            </a:xfrm>
            <a:prstGeom prst="roundRect">
              <a:avLst>
                <a:gd name="adj" fmla="val 8000"/>
              </a:avLst>
            </a:prstGeom>
            <a:solidFill>
              <a:schemeClr val="accent2"/>
            </a:solidFill>
            <a:ln>
              <a:noFill/>
            </a:ln>
          </p:spPr>
        </p:sp>
        <p:sp>
          <p:nvSpPr>
            <p:cNvPr id="22" name="TextBox 22"/>
            <p:cNvSpPr txBox="1"/>
            <p:nvPr/>
          </p:nvSpPr>
          <p:spPr>
            <a:xfrm>
              <a:off x="1172463" y="4632960"/>
              <a:ext cx="5125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18.7%</a:t>
              </a:r>
            </a:p>
          </p:txBody>
        </p:sp>
        <p:sp>
          <p:nvSpPr>
            <p:cNvPr id="23" name="Rectangle 23"/>
            <p:cNvSpPr/>
            <p:nvPr/>
          </p:nvSpPr>
          <p:spPr>
            <a:xfrm>
              <a:off x="2114550" y="5076825"/>
              <a:ext cx="533400" cy="257175"/>
            </a:xfrm>
            <a:prstGeom prst="roundRect">
              <a:avLst>
                <a:gd name="adj" fmla="val 14815"/>
              </a:avLst>
            </a:prstGeom>
            <a:solidFill>
              <a:schemeClr val="accent3"/>
            </a:solidFill>
            <a:ln>
              <a:noFill/>
            </a:ln>
          </p:spPr>
        </p:sp>
        <p:sp>
          <p:nvSpPr>
            <p:cNvPr id="24" name="TextBox 24"/>
            <p:cNvSpPr txBox="1"/>
            <p:nvPr/>
          </p:nvSpPr>
          <p:spPr>
            <a:xfrm>
              <a:off x="2171609" y="4852035"/>
              <a:ext cx="419283"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9.8%</a:t>
              </a:r>
            </a:p>
          </p:txBody>
        </p:sp>
        <p:sp>
          <p:nvSpPr>
            <p:cNvPr id="25" name="Rectangle 25"/>
            <p:cNvSpPr/>
            <p:nvPr/>
          </p:nvSpPr>
          <p:spPr>
            <a:xfrm>
              <a:off x="3067050" y="4800600"/>
              <a:ext cx="533400" cy="533400"/>
            </a:xfrm>
            <a:prstGeom prst="roundRect">
              <a:avLst>
                <a:gd name="adj" fmla="val 7143"/>
              </a:avLst>
            </a:prstGeom>
            <a:solidFill>
              <a:srgbClr val="7C3AED"/>
            </a:solidFill>
            <a:ln>
              <a:noFill/>
            </a:ln>
          </p:spPr>
        </p:sp>
        <p:sp>
          <p:nvSpPr>
            <p:cNvPr id="26" name="TextBox 26"/>
            <p:cNvSpPr txBox="1"/>
            <p:nvPr/>
          </p:nvSpPr>
          <p:spPr>
            <a:xfrm>
              <a:off x="3077463" y="4575810"/>
              <a:ext cx="512575" cy="234696"/>
            </a:xfrm>
            <a:prstGeom prst="rect">
              <a:avLst/>
            </a:prstGeom>
            <a:noFill/>
            <a:ln>
              <a:noFill/>
            </a:ln>
          </p:spPr>
          <p:txBody>
            <a:bodyPr wrap="none" lIns="0" tIns="0" rIns="0" bIns="0" anchor="t" anchorCtr="0">
              <a:spAutoFit/>
            </a:bodyPr>
            <a:lstStyle/>
            <a:p>
              <a:pPr algn="ctr"/>
              <a:r>
                <a:rPr lang="en-US" sz="1200" b="1" dirty="0">
                  <a:solidFill>
                    <a:srgbClr val="7C3AED"/>
                  </a:solidFill>
                  <a:latin typeface="+mn-lt"/>
                  <a:ea typeface="+mn-ea"/>
                  <a:cs typeface="+mn-cs"/>
                </a:rPr>
                <a:t>20.8%</a:t>
              </a:r>
            </a:p>
          </p:txBody>
        </p:sp>
        <p:sp>
          <p:nvSpPr>
            <p:cNvPr id="27" name="TextBox 27"/>
            <p:cNvSpPr txBox="1"/>
            <p:nvPr/>
          </p:nvSpPr>
          <p:spPr>
            <a:xfrm>
              <a:off x="1329705" y="5438299"/>
              <a:ext cx="19809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Inv</a:t>
              </a:r>
            </a:p>
          </p:txBody>
        </p:sp>
        <p:sp>
          <p:nvSpPr>
            <p:cNvPr id="28" name="TextBox 28"/>
            <p:cNvSpPr txBox="1"/>
            <p:nvPr/>
          </p:nvSpPr>
          <p:spPr>
            <a:xfrm>
              <a:off x="2265403" y="5438299"/>
              <a:ext cx="23169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Equ</a:t>
              </a:r>
            </a:p>
          </p:txBody>
        </p:sp>
        <p:sp>
          <p:nvSpPr>
            <p:cNvPr id="29" name="TextBox 29"/>
            <p:cNvSpPr txBox="1"/>
            <p:nvPr/>
          </p:nvSpPr>
          <p:spPr>
            <a:xfrm>
              <a:off x="3181623" y="543829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Both</a:t>
              </a:r>
            </a:p>
          </p:txBody>
        </p:sp>
      </p:grpSp>
      <p:grpSp>
        <p:nvGrpSpPr>
          <p:cNvPr id="44" name="Group 44"/>
          <p:cNvGrpSpPr/>
          <p:nvPr/>
        </p:nvGrpSpPr>
        <p:grpSpPr>
          <a:xfrm>
            <a:off x="4381500" y="2514600"/>
            <a:ext cx="3429000" cy="3390900"/>
            <a:chOff x="4381500" y="2514600"/>
            <a:chExt cx="3429000" cy="3390900"/>
          </a:xfrm>
        </p:grpSpPr>
        <p:sp>
          <p:nvSpPr>
            <p:cNvPr id="31" name="Rectangle 31"/>
            <p:cNvSpPr/>
            <p:nvPr/>
          </p:nvSpPr>
          <p:spPr>
            <a:xfrm>
              <a:off x="4381500" y="2514600"/>
              <a:ext cx="3429000" cy="3390900"/>
            </a:xfrm>
            <a:prstGeom prst="roundRect">
              <a:avLst>
                <a:gd name="adj" fmla="val 3933"/>
              </a:avLst>
            </a:prstGeom>
            <a:solidFill>
              <a:schemeClr val="lt1"/>
            </a:solidFill>
            <a:ln w="23812">
              <a:solidFill>
                <a:srgbClr val="7C3AED"/>
              </a:solidFill>
            </a:ln>
          </p:spPr>
        </p:sp>
        <p:sp>
          <p:nvSpPr>
            <p:cNvPr id="32" name="TextBox 32"/>
            <p:cNvSpPr txBox="1"/>
            <p:nvPr/>
          </p:nvSpPr>
          <p:spPr>
            <a:xfrm>
              <a:off x="4602480" y="2695575"/>
              <a:ext cx="138341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MD17 · Force</a:t>
              </a:r>
            </a:p>
          </p:txBody>
        </p:sp>
        <p:sp>
          <p:nvSpPr>
            <p:cNvPr id="33" name="TextBox 33"/>
            <p:cNvSpPr txBox="1"/>
            <p:nvPr/>
          </p:nvSpPr>
          <p:spPr>
            <a:xfrm>
              <a:off x="4604766" y="2953702"/>
              <a:ext cx="1742218" cy="205359"/>
            </a:xfrm>
            <a:prstGeom prst="rect">
              <a:avLst/>
            </a:prstGeom>
            <a:noFill/>
            <a:ln>
              <a:noFill/>
            </a:ln>
          </p:spPr>
          <p:txBody>
            <a:bodyPr wrap="none" lIns="0" tIns="0" rIns="0" bIns="0" anchor="t" anchorCtr="0">
              <a:spAutoFit/>
            </a:bodyPr>
            <a:lstStyle/>
            <a:p>
              <a:pPr algn="l"/>
              <a:r>
                <a:rPr lang="en-US" sz="1050" dirty="0">
                  <a:solidFill>
                    <a:srgbClr val="8A93A3"/>
                  </a:solidFill>
                  <a:latin typeface="+mn-lt"/>
                  <a:ea typeface="+mn-ea"/>
                  <a:cs typeface="+mn-cs"/>
                </a:rPr>
                <a:t>the effect is even larger</a:t>
              </a:r>
            </a:p>
          </p:txBody>
        </p:sp>
        <p:sp>
          <p:nvSpPr>
            <p:cNvPr id="34" name="Line 34"/>
            <p:cNvSpPr/>
            <p:nvPr/>
          </p:nvSpPr>
          <p:spPr>
            <a:xfrm>
              <a:off x="4610100" y="5334000"/>
              <a:ext cx="2971800" cy="9525"/>
            </a:xfrm>
            <a:custGeom>
              <a:avLst/>
              <a:gdLst/>
              <a:ahLst/>
              <a:cxnLst/>
              <a:rect l="l" t="t" r="r" b="b"/>
              <a:pathLst>
                <a:path w="2971800" h="9525">
                  <a:moveTo>
                    <a:pt x="0" y="0"/>
                  </a:moveTo>
                  <a:lnTo>
                    <a:pt x="2971800" y="0"/>
                  </a:lnTo>
                </a:path>
              </a:pathLst>
            </a:custGeom>
            <a:noFill/>
            <a:ln w="9525">
              <a:solidFill>
                <a:schemeClr val="accent4"/>
              </a:solidFill>
            </a:ln>
          </p:spPr>
        </p:sp>
        <p:sp>
          <p:nvSpPr>
            <p:cNvPr id="35" name="Rectangle 35"/>
            <p:cNvSpPr/>
            <p:nvPr/>
          </p:nvSpPr>
          <p:spPr>
            <a:xfrm>
              <a:off x="4857750" y="4610100"/>
              <a:ext cx="533400" cy="723900"/>
            </a:xfrm>
            <a:prstGeom prst="roundRect">
              <a:avLst>
                <a:gd name="adj" fmla="val 7143"/>
              </a:avLst>
            </a:prstGeom>
            <a:solidFill>
              <a:schemeClr val="accent2"/>
            </a:solidFill>
            <a:ln>
              <a:noFill/>
            </a:ln>
          </p:spPr>
        </p:sp>
        <p:sp>
          <p:nvSpPr>
            <p:cNvPr id="36" name="TextBox 36"/>
            <p:cNvSpPr txBox="1"/>
            <p:nvPr/>
          </p:nvSpPr>
          <p:spPr>
            <a:xfrm>
              <a:off x="4868163" y="4385310"/>
              <a:ext cx="512575"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28.0%</a:t>
              </a:r>
            </a:p>
          </p:txBody>
        </p:sp>
        <p:sp>
          <p:nvSpPr>
            <p:cNvPr id="37" name="Rectangle 37"/>
            <p:cNvSpPr/>
            <p:nvPr/>
          </p:nvSpPr>
          <p:spPr>
            <a:xfrm>
              <a:off x="5810250" y="4200525"/>
              <a:ext cx="533400" cy="1133475"/>
            </a:xfrm>
            <a:prstGeom prst="roundRect">
              <a:avLst>
                <a:gd name="adj" fmla="val 7143"/>
              </a:avLst>
            </a:prstGeom>
            <a:solidFill>
              <a:schemeClr val="accent3"/>
            </a:solidFill>
            <a:ln>
              <a:noFill/>
            </a:ln>
          </p:spPr>
        </p:sp>
        <p:sp>
          <p:nvSpPr>
            <p:cNvPr id="38" name="TextBox 38"/>
            <p:cNvSpPr txBox="1"/>
            <p:nvPr/>
          </p:nvSpPr>
          <p:spPr>
            <a:xfrm>
              <a:off x="5820663" y="3975735"/>
              <a:ext cx="51257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43.9%</a:t>
              </a:r>
            </a:p>
          </p:txBody>
        </p:sp>
        <p:sp>
          <p:nvSpPr>
            <p:cNvPr id="39" name="Rectangle 39"/>
            <p:cNvSpPr/>
            <p:nvPr/>
          </p:nvSpPr>
          <p:spPr>
            <a:xfrm>
              <a:off x="6762750" y="3771900"/>
              <a:ext cx="533400" cy="1562100"/>
            </a:xfrm>
            <a:prstGeom prst="roundRect">
              <a:avLst>
                <a:gd name="adj" fmla="val 7143"/>
              </a:avLst>
            </a:prstGeom>
            <a:solidFill>
              <a:srgbClr val="7C3AED"/>
            </a:solidFill>
            <a:ln>
              <a:noFill/>
            </a:ln>
          </p:spPr>
        </p:sp>
        <p:sp>
          <p:nvSpPr>
            <p:cNvPr id="40" name="TextBox 40"/>
            <p:cNvSpPr txBox="1"/>
            <p:nvPr/>
          </p:nvSpPr>
          <p:spPr>
            <a:xfrm>
              <a:off x="6741127" y="3530918"/>
              <a:ext cx="576646" cy="264033"/>
            </a:xfrm>
            <a:prstGeom prst="rect">
              <a:avLst/>
            </a:prstGeom>
            <a:noFill/>
            <a:ln>
              <a:noFill/>
            </a:ln>
          </p:spPr>
          <p:txBody>
            <a:bodyPr wrap="none" lIns="0" tIns="0" rIns="0" bIns="0" anchor="t" anchorCtr="0">
              <a:spAutoFit/>
            </a:bodyPr>
            <a:lstStyle/>
            <a:p>
              <a:pPr algn="ctr"/>
              <a:r>
                <a:rPr lang="en-US" sz="1350" b="1" dirty="0">
                  <a:solidFill>
                    <a:srgbClr val="7C3AED"/>
                  </a:solidFill>
                  <a:latin typeface="+mn-lt"/>
                  <a:ea typeface="+mn-ea"/>
                  <a:cs typeface="+mn-cs"/>
                </a:rPr>
                <a:t>60.8%</a:t>
              </a:r>
            </a:p>
          </p:txBody>
        </p:sp>
        <p:sp>
          <p:nvSpPr>
            <p:cNvPr id="41" name="TextBox 41"/>
            <p:cNvSpPr txBox="1"/>
            <p:nvPr/>
          </p:nvSpPr>
          <p:spPr>
            <a:xfrm>
              <a:off x="5025405" y="5438299"/>
              <a:ext cx="19809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Inv</a:t>
              </a:r>
            </a:p>
          </p:txBody>
        </p:sp>
        <p:sp>
          <p:nvSpPr>
            <p:cNvPr id="42" name="TextBox 42"/>
            <p:cNvSpPr txBox="1"/>
            <p:nvPr/>
          </p:nvSpPr>
          <p:spPr>
            <a:xfrm>
              <a:off x="5961103" y="5438299"/>
              <a:ext cx="23169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Equ</a:t>
              </a:r>
            </a:p>
          </p:txBody>
        </p:sp>
        <p:sp>
          <p:nvSpPr>
            <p:cNvPr id="43" name="TextBox 43"/>
            <p:cNvSpPr txBox="1"/>
            <p:nvPr/>
          </p:nvSpPr>
          <p:spPr>
            <a:xfrm>
              <a:off x="6877323" y="543829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Both</a:t>
              </a:r>
            </a:p>
          </p:txBody>
        </p:sp>
      </p:grpSp>
      <p:grpSp>
        <p:nvGrpSpPr>
          <p:cNvPr id="58" name="Group 58"/>
          <p:cNvGrpSpPr/>
          <p:nvPr/>
        </p:nvGrpSpPr>
        <p:grpSpPr>
          <a:xfrm>
            <a:off x="8077200" y="2514600"/>
            <a:ext cx="3429000" cy="3390900"/>
            <a:chOff x="8077200" y="2514600"/>
            <a:chExt cx="3429000" cy="3390900"/>
          </a:xfrm>
        </p:grpSpPr>
        <p:sp>
          <p:nvSpPr>
            <p:cNvPr id="45" name="Rectangle 45"/>
            <p:cNvSpPr/>
            <p:nvPr/>
          </p:nvSpPr>
          <p:spPr>
            <a:xfrm>
              <a:off x="8077200" y="2514600"/>
              <a:ext cx="3429000" cy="3390900"/>
            </a:xfrm>
            <a:prstGeom prst="roundRect">
              <a:avLst>
                <a:gd name="adj" fmla="val 3933"/>
              </a:avLst>
            </a:prstGeom>
            <a:solidFill>
              <a:srgbClr val="FBFCFE"/>
            </a:solidFill>
            <a:ln w="9525">
              <a:solidFill>
                <a:schemeClr val="accent4"/>
              </a:solidFill>
            </a:ln>
          </p:spPr>
        </p:sp>
        <p:sp>
          <p:nvSpPr>
            <p:cNvPr id="46" name="TextBox 46"/>
            <p:cNvSpPr txBox="1"/>
            <p:nvPr/>
          </p:nvSpPr>
          <p:spPr>
            <a:xfrm>
              <a:off x="8298180" y="2695575"/>
              <a:ext cx="72284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N-body</a:t>
              </a:r>
            </a:p>
          </p:txBody>
        </p:sp>
        <p:sp>
          <p:nvSpPr>
            <p:cNvPr id="47" name="TextBox 47"/>
            <p:cNvSpPr txBox="1"/>
            <p:nvPr/>
          </p:nvSpPr>
          <p:spPr>
            <a:xfrm>
              <a:off x="8300466" y="2953702"/>
              <a:ext cx="1544326" cy="205359"/>
            </a:xfrm>
            <a:prstGeom prst="rect">
              <a:avLst/>
            </a:prstGeom>
            <a:noFill/>
            <a:ln>
              <a:noFill/>
            </a:ln>
          </p:spPr>
          <p:txBody>
            <a:bodyPr wrap="none" lIns="0" tIns="0" rIns="0" bIns="0" anchor="t" anchorCtr="0">
              <a:spAutoFit/>
            </a:bodyPr>
            <a:lstStyle/>
            <a:p>
              <a:pPr algn="l"/>
              <a:r>
                <a:rPr lang="en-US" sz="1050" dirty="0">
                  <a:solidFill>
                    <a:srgbClr val="8A93A3"/>
                  </a:solidFill>
                  <a:latin typeface="+mn-lt"/>
                  <a:ea typeface="+mn-ea"/>
                  <a:cs typeface="+mn-cs"/>
                </a:rPr>
                <a:t>combined improvement</a:t>
              </a:r>
            </a:p>
          </p:txBody>
        </p:sp>
        <p:sp>
          <p:nvSpPr>
            <p:cNvPr id="48" name="Line 48"/>
            <p:cNvSpPr/>
            <p:nvPr/>
          </p:nvSpPr>
          <p:spPr>
            <a:xfrm>
              <a:off x="8305800" y="5334000"/>
              <a:ext cx="2971800" cy="9525"/>
            </a:xfrm>
            <a:custGeom>
              <a:avLst/>
              <a:gdLst/>
              <a:ahLst/>
              <a:cxnLst/>
              <a:rect l="l" t="t" r="r" b="b"/>
              <a:pathLst>
                <a:path w="2971800" h="9525">
                  <a:moveTo>
                    <a:pt x="0" y="0"/>
                  </a:moveTo>
                  <a:lnTo>
                    <a:pt x="2971800" y="0"/>
                  </a:lnTo>
                </a:path>
              </a:pathLst>
            </a:custGeom>
            <a:noFill/>
            <a:ln w="9525">
              <a:solidFill>
                <a:schemeClr val="accent4"/>
              </a:solidFill>
            </a:ln>
          </p:spPr>
        </p:sp>
        <p:sp>
          <p:nvSpPr>
            <p:cNvPr id="49" name="Rectangle 49"/>
            <p:cNvSpPr/>
            <p:nvPr/>
          </p:nvSpPr>
          <p:spPr>
            <a:xfrm>
              <a:off x="8553450" y="5133975"/>
              <a:ext cx="533400" cy="200025"/>
            </a:xfrm>
            <a:prstGeom prst="roundRect">
              <a:avLst>
                <a:gd name="adj" fmla="val 19048"/>
              </a:avLst>
            </a:prstGeom>
            <a:solidFill>
              <a:schemeClr val="accent2"/>
            </a:solidFill>
            <a:ln>
              <a:noFill/>
            </a:ln>
          </p:spPr>
        </p:sp>
        <p:sp>
          <p:nvSpPr>
            <p:cNvPr id="50" name="TextBox 50"/>
            <p:cNvSpPr txBox="1"/>
            <p:nvPr/>
          </p:nvSpPr>
          <p:spPr>
            <a:xfrm>
              <a:off x="8610509" y="4909185"/>
              <a:ext cx="419283"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7.8%</a:t>
              </a:r>
            </a:p>
          </p:txBody>
        </p:sp>
        <p:sp>
          <p:nvSpPr>
            <p:cNvPr id="51" name="Rectangle 51"/>
            <p:cNvSpPr/>
            <p:nvPr/>
          </p:nvSpPr>
          <p:spPr>
            <a:xfrm>
              <a:off x="9505950" y="5000625"/>
              <a:ext cx="533400" cy="333375"/>
            </a:xfrm>
            <a:prstGeom prst="roundRect">
              <a:avLst>
                <a:gd name="adj" fmla="val 11429"/>
              </a:avLst>
            </a:prstGeom>
            <a:solidFill>
              <a:schemeClr val="accent3"/>
            </a:solidFill>
            <a:ln>
              <a:noFill/>
            </a:ln>
          </p:spPr>
        </p:sp>
        <p:sp>
          <p:nvSpPr>
            <p:cNvPr id="52" name="TextBox 52"/>
            <p:cNvSpPr txBox="1"/>
            <p:nvPr/>
          </p:nvSpPr>
          <p:spPr>
            <a:xfrm>
              <a:off x="9516363" y="4775835"/>
              <a:ext cx="51257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13.0%</a:t>
              </a:r>
            </a:p>
          </p:txBody>
        </p:sp>
        <p:sp>
          <p:nvSpPr>
            <p:cNvPr id="53" name="Rectangle 53"/>
            <p:cNvSpPr/>
            <p:nvPr/>
          </p:nvSpPr>
          <p:spPr>
            <a:xfrm>
              <a:off x="10458450" y="4886325"/>
              <a:ext cx="533400" cy="447675"/>
            </a:xfrm>
            <a:prstGeom prst="roundRect">
              <a:avLst>
                <a:gd name="adj" fmla="val 8511"/>
              </a:avLst>
            </a:prstGeom>
            <a:solidFill>
              <a:srgbClr val="7C3AED"/>
            </a:solidFill>
            <a:ln>
              <a:noFill/>
            </a:ln>
          </p:spPr>
        </p:sp>
        <p:sp>
          <p:nvSpPr>
            <p:cNvPr id="54" name="TextBox 54"/>
            <p:cNvSpPr txBox="1"/>
            <p:nvPr/>
          </p:nvSpPr>
          <p:spPr>
            <a:xfrm>
              <a:off x="10468863" y="4661535"/>
              <a:ext cx="512575" cy="234696"/>
            </a:xfrm>
            <a:prstGeom prst="rect">
              <a:avLst/>
            </a:prstGeom>
            <a:noFill/>
            <a:ln>
              <a:noFill/>
            </a:ln>
          </p:spPr>
          <p:txBody>
            <a:bodyPr wrap="none" lIns="0" tIns="0" rIns="0" bIns="0" anchor="t" anchorCtr="0">
              <a:spAutoFit/>
            </a:bodyPr>
            <a:lstStyle/>
            <a:p>
              <a:pPr algn="ctr"/>
              <a:r>
                <a:rPr lang="en-US" sz="1200" b="1" dirty="0">
                  <a:solidFill>
                    <a:srgbClr val="7C3AED"/>
                  </a:solidFill>
                  <a:latin typeface="+mn-lt"/>
                  <a:ea typeface="+mn-ea"/>
                  <a:cs typeface="+mn-cs"/>
                </a:rPr>
                <a:t>17.5%</a:t>
              </a:r>
            </a:p>
          </p:txBody>
        </p:sp>
        <p:sp>
          <p:nvSpPr>
            <p:cNvPr id="55" name="TextBox 55"/>
            <p:cNvSpPr txBox="1"/>
            <p:nvPr/>
          </p:nvSpPr>
          <p:spPr>
            <a:xfrm>
              <a:off x="8721105" y="5438299"/>
              <a:ext cx="198090"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Inv</a:t>
              </a:r>
            </a:p>
          </p:txBody>
        </p:sp>
        <p:sp>
          <p:nvSpPr>
            <p:cNvPr id="56" name="TextBox 56"/>
            <p:cNvSpPr txBox="1"/>
            <p:nvPr/>
          </p:nvSpPr>
          <p:spPr>
            <a:xfrm>
              <a:off x="9656803" y="5438299"/>
              <a:ext cx="23169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Equ</a:t>
              </a:r>
            </a:p>
          </p:txBody>
        </p:sp>
        <p:sp>
          <p:nvSpPr>
            <p:cNvPr id="57" name="TextBox 57"/>
            <p:cNvSpPr txBox="1"/>
            <p:nvPr/>
          </p:nvSpPr>
          <p:spPr>
            <a:xfrm>
              <a:off x="10573023" y="5438299"/>
              <a:ext cx="304254" cy="190690"/>
            </a:xfrm>
            <a:prstGeom prst="rect">
              <a:avLst/>
            </a:prstGeom>
            <a:noFill/>
            <a:ln>
              <a:noFill/>
            </a:ln>
          </p:spPr>
          <p:txBody>
            <a:bodyPr wrap="none" lIns="0" tIns="0" rIns="0" bIns="0" anchor="t" anchorCtr="0">
              <a:spAutoFit/>
            </a:bodyPr>
            <a:lstStyle/>
            <a:p>
              <a:pPr algn="ctr"/>
              <a:r>
                <a:rPr lang="en-US" sz="980" dirty="0">
                  <a:solidFill>
                    <a:schemeClr val="dk2"/>
                  </a:solidFill>
                  <a:latin typeface="+mn-lt"/>
                  <a:ea typeface="+mn-ea"/>
                  <a:cs typeface="+mn-cs"/>
                </a:rPr>
                <a:t>Both</a:t>
              </a:r>
            </a:p>
          </p:txBody>
        </p:sp>
      </p:grpSp>
      <p:sp>
        <p:nvSpPr>
          <p:cNvPr id="59" name="TextBox 59"/>
          <p:cNvSpPr txBox="1"/>
          <p:nvPr/>
        </p:nvSpPr>
        <p:spPr>
          <a:xfrm>
            <a:off x="680847" y="6562249"/>
            <a:ext cx="7375180"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 — self-attn, FFN and layer-norm also contribute; the cross-attention bridge dominates.</a:t>
            </a:r>
          </a:p>
        </p:txBody>
      </p:sp>
      <p:sp>
        <p:nvSpPr>
          <p:cNvPr id="60" name="TextBox 60"/>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08 / 10</a:t>
            </a:r>
          </a:p>
        </p:txBody>
      </p:sp>
      <p:sp>
        <p:nvSpPr>
          <p:cNvPr id="61" name="cue_s08_c1_understand_where_gains_come_authors" title="cue_s08_c1_understand_where_gains_come_authors" descr="cue_s08_c1_understand_where_gains_come_authors To understand where the gains come from, the authors ablate each building block. The most telling finding concerns the cross-attention modules that bridge the invariant and equivariant streams. Removing them hurts sharply."/>
          <p:cNvSpPr/>
          <p:nvPr/>
        </p:nvSpPr>
        <p:spPr>
          <a:xfrm>
            <a:off x="686409" y="1447723"/>
            <a:ext cx="10820400" cy="61036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8_c2_md17_energy_prediction_task_adding" title="cue_s08_c2_md17_energy_prediction_task_adding" descr="cue_s08_c2_md17_energy_prediction_task_adding On the MD17 energy prediction task, adding the invariant cross-attention gives an eighteen point seven percent relative improvement, the equivariant cross-attention gives nine point eight percent, and using both together gives twenty point eight percent."/>
          <p:cNvSpPr/>
          <p:nvPr/>
        </p:nvSpPr>
        <p:spPr>
          <a:xfrm>
            <a:off x="686409" y="2514828"/>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8_c3_harder_md17_force_prediction_task" title="cue_s08_c3_harder_md17_force_prediction_task" descr="cue_s08_c3_harder_md17_force_prediction_task On the harder MD17 force prediction task the effect is even larger, with a sixty point eight percent relative improvement when both cross-attention modules are used."/>
          <p:cNvSpPr/>
          <p:nvPr/>
        </p:nvSpPr>
        <p:spPr>
          <a:xfrm>
            <a:off x="4381804" y="2514828"/>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8_c4_n_body_simulation_combined_improveme" title="cue_s08_c4_n_body_simulation_combined_improveme" descr="cue_s08_c4_n_body_simulation_combined_improveme On the N-body simulation the combined improvement is seventeen point five percent. The self-attention, feed-forward, and layer-normalization modules also each contribute, but the cross-attention bridge is clearly the heart of the design."/>
          <p:cNvSpPr/>
          <p:nvPr/>
        </p:nvSpPr>
        <p:spPr>
          <a:xfrm>
            <a:off x="8077200" y="2514828"/>
            <a:ext cx="3428390" cy="33905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2546909"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09 </a:t>
            </a:r>
            <a:r>
              <a:rPr lang="en-US" sz="1200" b="1" spc="225" dirty="0">
                <a:solidFill>
                  <a:schemeClr val="accent5"/>
                </a:solidFill>
                <a:latin typeface="+mn-lt"/>
                <a:ea typeface="+mn-ea"/>
                <a:cs typeface="+mn-cs"/>
              </a:rPr>
              <a:t>/ HEADLINE NUMBERS</a:t>
            </a:r>
          </a:p>
        </p:txBody>
      </p:sp>
      <p:sp>
        <p:nvSpPr>
          <p:cNvPr id="4" name="TextBox 4"/>
          <p:cNvSpPr txBox="1"/>
          <p:nvPr/>
        </p:nvSpPr>
        <p:spPr>
          <a:xfrm>
            <a:off x="672084" y="699135"/>
            <a:ext cx="4734984"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The numbers that matter</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4" name="Group 14"/>
          <p:cNvGrpSpPr/>
          <p:nvPr/>
        </p:nvGrpSpPr>
        <p:grpSpPr>
          <a:xfrm>
            <a:off x="685800" y="1447800"/>
            <a:ext cx="5295900" cy="2057400"/>
            <a:chOff x="685800" y="1447800"/>
            <a:chExt cx="5295900" cy="2057400"/>
          </a:xfrm>
        </p:grpSpPr>
        <p:sp>
          <p:nvSpPr>
            <p:cNvPr id="6" name="Rectangle 6"/>
            <p:cNvSpPr/>
            <p:nvPr/>
          </p:nvSpPr>
          <p:spPr>
            <a:xfrm>
              <a:off x="685800" y="1447800"/>
              <a:ext cx="5295900" cy="2057400"/>
            </a:xfrm>
            <a:prstGeom prst="roundRect">
              <a:avLst>
                <a:gd name="adj" fmla="val 6481"/>
              </a:avLst>
            </a:prstGeom>
            <a:solidFill>
              <a:srgbClr val="FBFCFE"/>
            </a:solidFill>
            <a:ln w="9525">
              <a:solidFill>
                <a:schemeClr val="accent4"/>
              </a:solidFill>
            </a:ln>
          </p:spPr>
        </p:sp>
        <p:sp>
          <p:nvSpPr>
            <p:cNvPr id="7" name="Rectangle 7"/>
            <p:cNvSpPr/>
            <p:nvPr/>
          </p:nvSpPr>
          <p:spPr>
            <a:xfrm>
              <a:off x="685800" y="1447800"/>
              <a:ext cx="57150" cy="2057400"/>
            </a:xfrm>
            <a:prstGeom prst="roundRect">
              <a:avLst>
                <a:gd name="adj" fmla="val 50000"/>
              </a:avLst>
            </a:prstGeom>
            <a:solidFill>
              <a:schemeClr val="accent2"/>
            </a:solidFill>
            <a:ln>
              <a:noFill/>
            </a:ln>
          </p:spPr>
        </p:sp>
        <p:sp>
          <p:nvSpPr>
            <p:cNvPr id="8" name="TextBox 8"/>
            <p:cNvSpPr txBox="1"/>
            <p:nvPr/>
          </p:nvSpPr>
          <p:spPr>
            <a:xfrm>
              <a:off x="984885" y="1707356"/>
              <a:ext cx="2644528"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PCQM4Mv2 · VALIDATION MAE</a:t>
              </a:r>
            </a:p>
          </p:txBody>
        </p:sp>
        <p:sp>
          <p:nvSpPr>
            <p:cNvPr id="9" name="TextBox 9"/>
            <p:cNvSpPr txBox="1"/>
            <p:nvPr/>
          </p:nvSpPr>
          <p:spPr>
            <a:xfrm>
              <a:off x="971550" y="2007870"/>
              <a:ext cx="2556975" cy="1047750"/>
            </a:xfrm>
            <a:prstGeom prst="rect">
              <a:avLst/>
            </a:prstGeom>
            <a:noFill/>
            <a:ln>
              <a:noFill/>
            </a:ln>
          </p:spPr>
          <p:txBody>
            <a:bodyPr wrap="none" lIns="0" tIns="0" rIns="0" bIns="0" anchor="t" anchorCtr="0">
              <a:spAutoFit/>
            </a:bodyPr>
            <a:lstStyle/>
            <a:p>
              <a:pPr algn="l"/>
              <a:r>
                <a:rPr lang="en-US" sz="5400" b="1" dirty="0">
                  <a:solidFill>
                    <a:schemeClr val="dk1"/>
                  </a:solidFill>
                  <a:latin typeface="+mn-lt"/>
                  <a:ea typeface="+mn-ea"/>
                  <a:cs typeface="+mn-cs"/>
                </a:rPr>
                <a:t>0.0734</a:t>
              </a:r>
            </a:p>
          </p:txBody>
        </p:sp>
        <p:sp>
          <p:nvSpPr>
            <p:cNvPr id="10" name="Rectangle 10"/>
            <p:cNvSpPr/>
            <p:nvPr/>
          </p:nvSpPr>
          <p:spPr>
            <a:xfrm>
              <a:off x="990600" y="2819400"/>
              <a:ext cx="1428750" cy="381000"/>
            </a:xfrm>
            <a:prstGeom prst="roundRect">
              <a:avLst>
                <a:gd name="adj" fmla="val 20000"/>
              </a:avLst>
            </a:prstGeom>
            <a:solidFill>
              <a:srgbClr val="FDEEF3"/>
            </a:solidFill>
            <a:ln>
              <a:noFill/>
            </a:ln>
          </p:spPr>
        </p:sp>
        <p:sp>
          <p:nvSpPr>
            <p:cNvPr id="11" name="TextBox 11"/>
            <p:cNvSpPr txBox="1"/>
            <p:nvPr/>
          </p:nvSpPr>
          <p:spPr>
            <a:xfrm>
              <a:off x="1384616" y="2914650"/>
              <a:ext cx="640718"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n-lt"/>
                  <a:ea typeface="+mn-ea"/>
                  <a:cs typeface="+mn-cs"/>
                </a:rPr>
                <a:t>−6.7%</a:t>
              </a:r>
            </a:p>
          </p:txBody>
        </p:sp>
        <p:sp>
          <p:nvSpPr>
            <p:cNvPr id="12" name="TextBox 12"/>
            <p:cNvSpPr txBox="1"/>
            <p:nvPr/>
          </p:nvSpPr>
          <p:spPr>
            <a:xfrm>
              <a:off x="2584704" y="2880360"/>
              <a:ext cx="90876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best of any</a:t>
              </a:r>
            </a:p>
          </p:txBody>
        </p:sp>
        <p:sp>
          <p:nvSpPr>
            <p:cNvPr id="13" name="TextBox 13"/>
            <p:cNvSpPr txBox="1"/>
            <p:nvPr/>
          </p:nvSpPr>
          <p:spPr>
            <a:xfrm>
              <a:off x="2584704" y="3070860"/>
              <a:ext cx="98115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O(n²) model</a:t>
              </a:r>
            </a:p>
          </p:txBody>
        </p:sp>
      </p:grpSp>
      <p:grpSp>
        <p:nvGrpSpPr>
          <p:cNvPr id="23" name="Group 23"/>
          <p:cNvGrpSpPr/>
          <p:nvPr/>
        </p:nvGrpSpPr>
        <p:grpSpPr>
          <a:xfrm>
            <a:off x="6210300" y="1447800"/>
            <a:ext cx="5295900" cy="2057400"/>
            <a:chOff x="6210300" y="1447800"/>
            <a:chExt cx="5295900" cy="2057400"/>
          </a:xfrm>
        </p:grpSpPr>
        <p:sp>
          <p:nvSpPr>
            <p:cNvPr id="15" name="Rectangle 15"/>
            <p:cNvSpPr/>
            <p:nvPr/>
          </p:nvSpPr>
          <p:spPr>
            <a:xfrm>
              <a:off x="6210300" y="1447800"/>
              <a:ext cx="5295900" cy="2057400"/>
            </a:xfrm>
            <a:prstGeom prst="roundRect">
              <a:avLst>
                <a:gd name="adj" fmla="val 6481"/>
              </a:avLst>
            </a:prstGeom>
            <a:solidFill>
              <a:srgbClr val="FBFCFE"/>
            </a:solidFill>
            <a:ln w="9525">
              <a:solidFill>
                <a:schemeClr val="accent4"/>
              </a:solidFill>
            </a:ln>
          </p:spPr>
        </p:sp>
        <p:sp>
          <p:nvSpPr>
            <p:cNvPr id="16" name="Rectangle 16"/>
            <p:cNvSpPr/>
            <p:nvPr/>
          </p:nvSpPr>
          <p:spPr>
            <a:xfrm>
              <a:off x="6210300" y="1447800"/>
              <a:ext cx="57150" cy="2057400"/>
            </a:xfrm>
            <a:prstGeom prst="roundRect">
              <a:avLst>
                <a:gd name="adj" fmla="val 50000"/>
              </a:avLst>
            </a:prstGeom>
            <a:solidFill>
              <a:schemeClr val="accent3"/>
            </a:solidFill>
            <a:ln>
              <a:noFill/>
            </a:ln>
          </p:spPr>
        </p:sp>
        <p:sp>
          <p:nvSpPr>
            <p:cNvPr id="17" name="TextBox 17"/>
            <p:cNvSpPr txBox="1"/>
            <p:nvPr/>
          </p:nvSpPr>
          <p:spPr>
            <a:xfrm>
              <a:off x="6509385" y="1707356"/>
              <a:ext cx="2402655"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N-BODY SIMULATION · MSE</a:t>
              </a:r>
            </a:p>
          </p:txBody>
        </p:sp>
        <p:sp>
          <p:nvSpPr>
            <p:cNvPr id="18" name="TextBox 18"/>
            <p:cNvSpPr txBox="1"/>
            <p:nvPr/>
          </p:nvSpPr>
          <p:spPr>
            <a:xfrm>
              <a:off x="6496050" y="2007870"/>
              <a:ext cx="2556975" cy="1047750"/>
            </a:xfrm>
            <a:prstGeom prst="rect">
              <a:avLst/>
            </a:prstGeom>
            <a:noFill/>
            <a:ln>
              <a:noFill/>
            </a:ln>
          </p:spPr>
          <p:txBody>
            <a:bodyPr wrap="none" lIns="0" tIns="0" rIns="0" bIns="0" anchor="t" anchorCtr="0">
              <a:spAutoFit/>
            </a:bodyPr>
            <a:lstStyle/>
            <a:p>
              <a:pPr algn="l"/>
              <a:r>
                <a:rPr lang="en-US" sz="5400" b="1" dirty="0">
                  <a:solidFill>
                    <a:schemeClr val="dk1"/>
                  </a:solidFill>
                  <a:latin typeface="+mn-lt"/>
                  <a:ea typeface="+mn-ea"/>
                  <a:cs typeface="+mn-cs"/>
                </a:rPr>
                <a:t>0.0047</a:t>
              </a:r>
            </a:p>
          </p:txBody>
        </p:sp>
        <p:sp>
          <p:nvSpPr>
            <p:cNvPr id="19" name="Rectangle 19"/>
            <p:cNvSpPr/>
            <p:nvPr/>
          </p:nvSpPr>
          <p:spPr>
            <a:xfrm>
              <a:off x="6515100" y="2819400"/>
              <a:ext cx="1524000" cy="381000"/>
            </a:xfrm>
            <a:prstGeom prst="roundRect">
              <a:avLst>
                <a:gd name="adj" fmla="val 20000"/>
              </a:avLst>
            </a:prstGeom>
            <a:solidFill>
              <a:srgbClr val="EAF2FB"/>
            </a:solidFill>
            <a:ln>
              <a:noFill/>
            </a:ln>
          </p:spPr>
        </p:sp>
        <p:sp>
          <p:nvSpPr>
            <p:cNvPr id="20" name="TextBox 20"/>
            <p:cNvSpPr txBox="1"/>
            <p:nvPr/>
          </p:nvSpPr>
          <p:spPr>
            <a:xfrm>
              <a:off x="6898434" y="2914650"/>
              <a:ext cx="757333"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−33.8%</a:t>
              </a:r>
            </a:p>
          </p:txBody>
        </p:sp>
        <p:sp>
          <p:nvSpPr>
            <p:cNvPr id="21" name="TextBox 21"/>
            <p:cNvSpPr txBox="1"/>
            <p:nvPr/>
          </p:nvSpPr>
          <p:spPr>
            <a:xfrm>
              <a:off x="8204454" y="2880360"/>
              <a:ext cx="104607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largest gain,</a:t>
              </a:r>
            </a:p>
          </p:txBody>
        </p:sp>
        <p:sp>
          <p:nvSpPr>
            <p:cNvPr id="22" name="TextBox 22"/>
            <p:cNvSpPr txBox="1"/>
            <p:nvPr/>
          </p:nvSpPr>
          <p:spPr>
            <a:xfrm>
              <a:off x="8204454" y="3070860"/>
              <a:ext cx="131262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vs previous best</a:t>
              </a:r>
            </a:p>
          </p:txBody>
        </p:sp>
      </p:grpSp>
      <p:grpSp>
        <p:nvGrpSpPr>
          <p:cNvPr id="33" name="Group 33"/>
          <p:cNvGrpSpPr/>
          <p:nvPr/>
        </p:nvGrpSpPr>
        <p:grpSpPr>
          <a:xfrm>
            <a:off x="685800" y="3695700"/>
            <a:ext cx="5295900" cy="2057400"/>
            <a:chOff x="685800" y="3695700"/>
            <a:chExt cx="5295900" cy="2057400"/>
          </a:xfrm>
        </p:grpSpPr>
        <p:sp>
          <p:nvSpPr>
            <p:cNvPr id="24" name="Rectangle 24"/>
            <p:cNvSpPr/>
            <p:nvPr/>
          </p:nvSpPr>
          <p:spPr>
            <a:xfrm>
              <a:off x="685800" y="3695700"/>
              <a:ext cx="5295900" cy="2057400"/>
            </a:xfrm>
            <a:prstGeom prst="roundRect">
              <a:avLst>
                <a:gd name="adj" fmla="val 6481"/>
              </a:avLst>
            </a:prstGeom>
            <a:solidFill>
              <a:srgbClr val="FBFCFE"/>
            </a:solidFill>
            <a:ln w="9525">
              <a:solidFill>
                <a:schemeClr val="accent4"/>
              </a:solidFill>
            </a:ln>
          </p:spPr>
        </p:sp>
        <p:sp>
          <p:nvSpPr>
            <p:cNvPr id="25" name="Rectangle 25"/>
            <p:cNvSpPr/>
            <p:nvPr/>
          </p:nvSpPr>
          <p:spPr>
            <a:xfrm>
              <a:off x="685800" y="3695700"/>
              <a:ext cx="57150" cy="2057400"/>
            </a:xfrm>
            <a:prstGeom prst="roundRect">
              <a:avLst>
                <a:gd name="adj" fmla="val 50000"/>
              </a:avLst>
            </a:prstGeom>
            <a:solidFill>
              <a:schemeClr val="accent2"/>
            </a:solidFill>
            <a:ln>
              <a:noFill/>
            </a:ln>
          </p:spPr>
        </p:sp>
        <p:sp>
          <p:nvSpPr>
            <p:cNvPr id="26" name="TextBox 26"/>
            <p:cNvSpPr txBox="1"/>
            <p:nvPr/>
          </p:nvSpPr>
          <p:spPr>
            <a:xfrm>
              <a:off x="984885" y="3955256"/>
              <a:ext cx="1739134"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MOLECULE3D · MAE</a:t>
              </a:r>
            </a:p>
          </p:txBody>
        </p:sp>
        <p:sp>
          <p:nvSpPr>
            <p:cNvPr id="27" name="TextBox 27"/>
            <p:cNvSpPr txBox="1"/>
            <p:nvPr/>
          </p:nvSpPr>
          <p:spPr>
            <a:xfrm>
              <a:off x="971550" y="4338638"/>
              <a:ext cx="283685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n-lt"/>
                  <a:ea typeface="+mn-ea"/>
                  <a:cs typeface="+mn-cs"/>
                </a:rPr>
                <a:t xml:space="preserve">0.0252 </a:t>
              </a:r>
              <a:r>
                <a:rPr lang="en-US" sz="1800" b="1" dirty="0">
                  <a:solidFill>
                    <a:srgbClr val="8A93A3"/>
                  </a:solidFill>
                  <a:latin typeface="+mn-lt"/>
                  <a:ea typeface="+mn-ea"/>
                  <a:cs typeface="+mn-cs"/>
                </a:rPr>
                <a:t>random</a:t>
              </a:r>
            </a:p>
          </p:txBody>
        </p:sp>
        <p:sp>
          <p:nvSpPr>
            <p:cNvPr id="28" name="TextBox 28"/>
            <p:cNvSpPr txBox="1"/>
            <p:nvPr/>
          </p:nvSpPr>
          <p:spPr>
            <a:xfrm>
              <a:off x="971550" y="4795838"/>
              <a:ext cx="300223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n-lt"/>
                  <a:ea typeface="+mn-ea"/>
                  <a:cs typeface="+mn-cs"/>
                </a:rPr>
                <a:t xml:space="preserve">0.1045 </a:t>
              </a:r>
              <a:r>
                <a:rPr lang="en-US" sz="1800" b="1" dirty="0">
                  <a:solidFill>
                    <a:srgbClr val="8A93A3"/>
                  </a:solidFill>
                  <a:latin typeface="+mn-lt"/>
                  <a:ea typeface="+mn-ea"/>
                  <a:cs typeface="+mn-cs"/>
                </a:rPr>
                <a:t>scaffold</a:t>
              </a:r>
            </a:p>
          </p:txBody>
        </p:sp>
        <p:sp>
          <p:nvSpPr>
            <p:cNvPr id="29" name="Rectangle 29"/>
            <p:cNvSpPr/>
            <p:nvPr/>
          </p:nvSpPr>
          <p:spPr>
            <a:xfrm>
              <a:off x="990600" y="5391150"/>
              <a:ext cx="952500" cy="285750"/>
            </a:xfrm>
            <a:prstGeom prst="roundRect">
              <a:avLst>
                <a:gd name="adj" fmla="val 23333"/>
              </a:avLst>
            </a:prstGeom>
            <a:solidFill>
              <a:srgbClr val="FDEEF3"/>
            </a:solidFill>
            <a:ln>
              <a:noFill/>
            </a:ln>
          </p:spPr>
        </p:sp>
        <p:sp>
          <p:nvSpPr>
            <p:cNvPr id="30" name="TextBox 30"/>
            <p:cNvSpPr txBox="1"/>
            <p:nvPr/>
          </p:nvSpPr>
          <p:spPr>
            <a:xfrm>
              <a:off x="1163917" y="5461635"/>
              <a:ext cx="605866"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−16.3%</a:t>
              </a:r>
            </a:p>
          </p:txBody>
        </p:sp>
        <p:sp>
          <p:nvSpPr>
            <p:cNvPr id="31" name="Rectangle 31"/>
            <p:cNvSpPr/>
            <p:nvPr/>
          </p:nvSpPr>
          <p:spPr>
            <a:xfrm>
              <a:off x="2057400" y="5391150"/>
              <a:ext cx="952500" cy="285750"/>
            </a:xfrm>
            <a:prstGeom prst="roundRect">
              <a:avLst>
                <a:gd name="adj" fmla="val 23333"/>
              </a:avLst>
            </a:prstGeom>
            <a:solidFill>
              <a:srgbClr val="FDEEF3"/>
            </a:solidFill>
            <a:ln>
              <a:noFill/>
            </a:ln>
          </p:spPr>
        </p:sp>
        <p:sp>
          <p:nvSpPr>
            <p:cNvPr id="32" name="TextBox 32"/>
            <p:cNvSpPr txBox="1"/>
            <p:nvPr/>
          </p:nvSpPr>
          <p:spPr>
            <a:xfrm>
              <a:off x="2230717" y="5461635"/>
              <a:ext cx="605866"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−11.6%</a:t>
              </a:r>
            </a:p>
          </p:txBody>
        </p:sp>
      </p:grpSp>
      <p:grpSp>
        <p:nvGrpSpPr>
          <p:cNvPr id="40" name="Group 40"/>
          <p:cNvGrpSpPr/>
          <p:nvPr/>
        </p:nvGrpSpPr>
        <p:grpSpPr>
          <a:xfrm>
            <a:off x="6210300" y="3695700"/>
            <a:ext cx="5295900" cy="2057400"/>
            <a:chOff x="6210300" y="3695700"/>
            <a:chExt cx="5295900" cy="2057400"/>
          </a:xfrm>
        </p:grpSpPr>
        <p:sp>
          <p:nvSpPr>
            <p:cNvPr id="34" name="Rectangle 34"/>
            <p:cNvSpPr/>
            <p:nvPr/>
          </p:nvSpPr>
          <p:spPr>
            <a:xfrm>
              <a:off x="6210300" y="3695700"/>
              <a:ext cx="5295900" cy="2057400"/>
            </a:xfrm>
            <a:prstGeom prst="roundRect">
              <a:avLst>
                <a:gd name="adj" fmla="val 6481"/>
              </a:avLst>
            </a:prstGeom>
            <a:solidFill>
              <a:schemeClr val="accent1"/>
            </a:solidFill>
            <a:ln>
              <a:noFill/>
            </a:ln>
          </p:spPr>
        </p:sp>
        <p:sp>
          <p:nvSpPr>
            <p:cNvPr id="35" name="Rectangle 35"/>
            <p:cNvSpPr/>
            <p:nvPr/>
          </p:nvSpPr>
          <p:spPr>
            <a:xfrm>
              <a:off x="6210300" y="3695700"/>
              <a:ext cx="57150" cy="2057400"/>
            </a:xfrm>
            <a:prstGeom prst="roundRect">
              <a:avLst>
                <a:gd name="adj" fmla="val 50000"/>
              </a:avLst>
            </a:prstGeom>
            <a:solidFill>
              <a:srgbClr val="7C3AED"/>
            </a:solidFill>
            <a:ln>
              <a:noFill/>
            </a:ln>
          </p:spPr>
        </p:sp>
        <p:sp>
          <p:nvSpPr>
            <p:cNvPr id="36" name="TextBox 36"/>
            <p:cNvSpPr txBox="1"/>
            <p:nvPr/>
          </p:nvSpPr>
          <p:spPr>
            <a:xfrm>
              <a:off x="6509385" y="3955256"/>
              <a:ext cx="2560769" cy="220028"/>
            </a:xfrm>
            <a:prstGeom prst="rect">
              <a:avLst/>
            </a:prstGeom>
            <a:noFill/>
            <a:ln>
              <a:noFill/>
            </a:ln>
          </p:spPr>
          <p:txBody>
            <a:bodyPr wrap="none" lIns="0" tIns="0" rIns="0" bIns="0" anchor="t" anchorCtr="0">
              <a:spAutoFit/>
            </a:bodyPr>
            <a:lstStyle/>
            <a:p>
              <a:pPr algn="l"/>
              <a:r>
                <a:rPr lang="en-US" sz="1120" b="1" spc="112" dirty="0">
                  <a:solidFill>
                    <a:srgbClr val="C6A8F5"/>
                  </a:solidFill>
                  <a:latin typeface="+mn-lt"/>
                  <a:ea typeface="+mn-ea"/>
                  <a:cs typeface="+mn-cs"/>
                </a:rPr>
                <a:t>CROSS-ATTENTION ABLATION</a:t>
              </a:r>
            </a:p>
          </p:txBody>
        </p:sp>
        <p:sp>
          <p:nvSpPr>
            <p:cNvPr id="37" name="TextBox 37"/>
            <p:cNvSpPr txBox="1"/>
            <p:nvPr/>
          </p:nvSpPr>
          <p:spPr>
            <a:xfrm>
              <a:off x="6496050" y="4212908"/>
              <a:ext cx="3080680" cy="1190625"/>
            </a:xfrm>
            <a:prstGeom prst="rect">
              <a:avLst/>
            </a:prstGeom>
            <a:noFill/>
            <a:ln>
              <a:noFill/>
            </a:ln>
          </p:spPr>
          <p:txBody>
            <a:bodyPr wrap="none" lIns="0" tIns="0" rIns="0" bIns="0" anchor="t" anchorCtr="0">
              <a:spAutoFit/>
            </a:bodyPr>
            <a:lstStyle/>
            <a:p>
              <a:pPr algn="l"/>
              <a:r>
                <a:rPr lang="en-US" sz="6150" b="1" dirty="0">
                  <a:solidFill>
                    <a:srgbClr val="FFFFFF"/>
                  </a:solidFill>
                  <a:latin typeface="+mn-lt"/>
                  <a:ea typeface="+mn-ea"/>
                  <a:cs typeface="+mn-cs"/>
                </a:rPr>
                <a:t>+60.8%</a:t>
              </a:r>
            </a:p>
          </p:txBody>
        </p:sp>
        <p:sp>
          <p:nvSpPr>
            <p:cNvPr id="38" name="TextBox 38"/>
            <p:cNvSpPr txBox="1"/>
            <p:nvPr/>
          </p:nvSpPr>
          <p:spPr>
            <a:xfrm>
              <a:off x="6507861" y="5142071"/>
              <a:ext cx="3420842"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peak gain on MD17 force prediction</a:t>
              </a:r>
            </a:p>
          </p:txBody>
        </p:sp>
        <p:sp>
          <p:nvSpPr>
            <p:cNvPr id="39" name="TextBox 39"/>
            <p:cNvSpPr txBox="1"/>
            <p:nvPr/>
          </p:nvSpPr>
          <p:spPr>
            <a:xfrm>
              <a:off x="6509004" y="5433060"/>
              <a:ext cx="3057296" cy="234696"/>
            </a:xfrm>
            <a:prstGeom prst="rect">
              <a:avLst/>
            </a:prstGeom>
            <a:noFill/>
            <a:ln>
              <a:noFill/>
            </a:ln>
          </p:spPr>
          <p:txBody>
            <a:bodyPr wrap="none" lIns="0" tIns="0" rIns="0" bIns="0" anchor="t" anchorCtr="0">
              <a:spAutoFit/>
            </a:bodyPr>
            <a:lstStyle/>
            <a:p>
              <a:pPr algn="l"/>
              <a:r>
                <a:rPr lang="en-US" sz="1200" dirty="0">
                  <a:solidFill>
                    <a:srgbClr val="B9C4D6"/>
                  </a:solidFill>
                  <a:latin typeface="+mn-lt"/>
                  <a:ea typeface="+mn-ea"/>
                  <a:cs typeface="+mn-cs"/>
                </a:rPr>
                <a:t>underscoring how central the bridge is</a:t>
              </a:r>
            </a:p>
          </p:txBody>
        </p:sp>
      </p:grpSp>
      <p:sp>
        <p:nvSpPr>
          <p:cNvPr id="41" name="TextBox 41"/>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2" name="TextBox 42"/>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09 / 10</a:t>
            </a:r>
          </a:p>
        </p:txBody>
      </p:sp>
      <p:sp>
        <p:nvSpPr>
          <p:cNvPr id="43" name="cue_s09_c1_few_numbers_capture_impact_pcqm4mv2" title="cue_s09_c1_few_numbers_capture_impact_pcqm4mv2" descr="cue_s09_c1_few_numbers_capture_impact_pcqm4mv2 A few numbers capture the impact. On PCQM4Mv2, GeoMFormer reaches a validation error of zero point zero seven three four, the best of any quadratic-complexity model, a six point seven percent relative reduction."/>
          <p:cNvSpPr/>
          <p:nvPr/>
        </p:nvSpPr>
        <p:spPr>
          <a:xfrm>
            <a:off x="686409" y="1447723"/>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9_c2_n_body_simulation_achieves_mean_squa" title="cue_s09_c2_n_body_simulation_achieves_mean_squa" descr="cue_s09_c2_n_body_simulation_achieves_mean_squa On the N-body simulation it achieves a mean squared error of zero point zero zero four seven, a thirty-three point eight percent reduction over the previous best."/>
          <p:cNvSpPr/>
          <p:nvPr/>
        </p:nvSpPr>
        <p:spPr>
          <a:xfrm>
            <a:off x="6210604" y="1447723"/>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9_c3_molecule3d_records_errors_zero_point" title="cue_s09_c3_molecule3d_records_errors_zero_point" descr="cue_s09_c3_molecule3d_records_errors_zero_point On Molecule3D it records errors of zero point zero two five two on the random split and zero point one zero four five on the scaffold split, improvements of sixteen point three and eleven point six percent."/>
          <p:cNvSpPr/>
          <p:nvPr/>
        </p:nvSpPr>
        <p:spPr>
          <a:xfrm>
            <a:off x="686409" y="3695776"/>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4_ablations_adding_cross_attention_yie" title="cue_s09_c4_ablations_adding_cross_attention_yie" descr="cue_s09_c4_ablations_adding_cross_attention_yie And in the ablations, adding cross-attention yields up to a sixty point eight percent relative improvement on force prediction, underscoring how central that bridge is."/>
          <p:cNvSpPr/>
          <p:nvPr/>
        </p:nvSpPr>
        <p:spPr>
          <a:xfrm>
            <a:off x="6210604" y="3695776"/>
            <a:ext cx="52962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57150"/>
          </a:xfrm>
          <a:prstGeom prst="rect">
            <a:avLst/>
          </a:prstGeom>
          <a:gradFill>
            <a:gsLst>
              <a:gs pos="0">
                <a:schemeClr val="accent2"/>
              </a:gs>
              <a:gs pos="100000">
                <a:schemeClr val="accent3"/>
              </a:gs>
            </a:gsLst>
            <a:lin ang="0" scaled="1"/>
          </a:gradFill>
          <a:ln>
            <a:noFill/>
          </a:ln>
        </p:spPr>
        <p:txBody>
          <a:bodyPr/>
          <a:p/>
        </p:txBody>
      </p:sp>
      <p:sp>
        <p:nvSpPr>
          <p:cNvPr id="3" name="TextBox 3"/>
          <p:cNvSpPr txBox="1"/>
          <p:nvPr/>
        </p:nvSpPr>
        <p:spPr>
          <a:xfrm>
            <a:off x="679704" y="480060"/>
            <a:ext cx="1591909"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 xml:space="preserve">10 </a:t>
            </a:r>
            <a:r>
              <a:rPr lang="en-US" sz="1200" b="1" spc="225" dirty="0">
                <a:solidFill>
                  <a:schemeClr val="accent5"/>
                </a:solidFill>
                <a:latin typeface="+mn-lt"/>
                <a:ea typeface="+mn-ea"/>
                <a:cs typeface="+mn-cs"/>
              </a:rPr>
              <a:t>/ TAKEAWAY</a:t>
            </a:r>
          </a:p>
        </p:txBody>
      </p:sp>
      <p:sp>
        <p:nvSpPr>
          <p:cNvPr id="4" name="TextBox 4"/>
          <p:cNvSpPr txBox="1"/>
          <p:nvPr/>
        </p:nvSpPr>
        <p:spPr>
          <a:xfrm>
            <a:off x="672084" y="699135"/>
            <a:ext cx="8569329" cy="528066"/>
          </a:xfrm>
          <a:prstGeom prst="rect">
            <a:avLst/>
          </a:prstGeom>
          <a:noFill/>
          <a:ln>
            <a:noFill/>
          </a:ln>
        </p:spPr>
        <p:txBody>
          <a:bodyPr wrap="none" lIns="0" tIns="0" rIns="0" bIns="0" anchor="t" anchorCtr="0">
            <a:spAutoFit/>
          </a:bodyPr>
          <a:lstStyle/>
          <a:p>
            <a:pPr algn="l"/>
            <a:r>
              <a:rPr lang="en-US" sz="2700" b="1" dirty="0">
                <a:solidFill>
                  <a:schemeClr val="dk1"/>
                </a:solidFill>
                <a:latin typeface="+mn-lt"/>
                <a:ea typeface="+mn-ea"/>
                <a:cs typeface="+mn-cs"/>
              </a:rPr>
              <a:t>One general principle for geometric molecules</a:t>
            </a:r>
          </a:p>
        </p:txBody>
      </p:sp>
      <p:sp>
        <p:nvSpPr>
          <p:cNvPr id="5" name="Line 5"/>
          <p:cNvSpPr/>
          <p:nvPr/>
        </p:nvSpPr>
        <p:spPr>
          <a:xfrm>
            <a:off x="685800" y="1181100"/>
            <a:ext cx="10820400" cy="9525"/>
          </a:xfrm>
          <a:custGeom>
            <a:avLst/>
            <a:gdLst/>
            <a:ahLst/>
            <a:cxnLst/>
            <a:rect l="l" t="t" r="r" b="b"/>
            <a:pathLst>
              <a:path w="10820400" h="9525">
                <a:moveTo>
                  <a:pt x="0" y="0"/>
                </a:moveTo>
                <a:lnTo>
                  <a:pt x="10820400" y="0"/>
                </a:lnTo>
              </a:path>
            </a:pathLst>
          </a:custGeom>
          <a:noFill/>
          <a:ln w="9525">
            <a:solidFill>
              <a:schemeClr val="accent4"/>
            </a:solidFill>
          </a:ln>
        </p:spPr>
        <p:txBody>
          <a:bodyPr/>
          <a:p/>
        </p:txBody>
      </p:sp>
      <p:grpSp>
        <p:nvGrpSpPr>
          <p:cNvPr id="12" name="Group 12"/>
          <p:cNvGrpSpPr/>
          <p:nvPr/>
        </p:nvGrpSpPr>
        <p:grpSpPr>
          <a:xfrm>
            <a:off x="685800" y="1447800"/>
            <a:ext cx="7734300" cy="1143000"/>
            <a:chOff x="685800" y="1447800"/>
            <a:chExt cx="7734300" cy="1143000"/>
          </a:xfrm>
        </p:grpSpPr>
        <p:sp>
          <p:nvSpPr>
            <p:cNvPr id="6" name="Rectangle 6"/>
            <p:cNvSpPr/>
            <p:nvPr/>
          </p:nvSpPr>
          <p:spPr>
            <a:xfrm>
              <a:off x="685800" y="1447800"/>
              <a:ext cx="7734300" cy="1143000"/>
            </a:xfrm>
            <a:prstGeom prst="roundRect">
              <a:avLst>
                <a:gd name="adj" fmla="val 11667"/>
              </a:avLst>
            </a:prstGeom>
            <a:solidFill>
              <a:srgbClr val="FBFCFE"/>
            </a:solidFill>
            <a:ln w="9525">
              <a:solidFill>
                <a:schemeClr val="accent4"/>
              </a:solidFill>
            </a:ln>
          </p:spPr>
        </p:sp>
        <p:sp>
          <p:nvSpPr>
            <p:cNvPr id="7" name="Ellipse 7"/>
            <p:cNvSpPr/>
            <p:nvPr/>
          </p:nvSpPr>
          <p:spPr>
            <a:xfrm>
              <a:off x="952500" y="1809750"/>
              <a:ext cx="419100" cy="419100"/>
            </a:xfrm>
            <a:prstGeom prst="ellipse">
              <a:avLst/>
            </a:prstGeom>
            <a:solidFill>
              <a:srgbClr val="FDEEF3"/>
            </a:solidFill>
            <a:ln>
              <a:noFill/>
            </a:ln>
          </p:spPr>
        </p:sp>
        <p:sp>
          <p:nvSpPr>
            <p:cNvPr id="8" name="TextBox 8"/>
            <p:cNvSpPr txBox="1"/>
            <p:nvPr/>
          </p:nvSpPr>
          <p:spPr>
            <a:xfrm>
              <a:off x="1096123" y="1933575"/>
              <a:ext cx="131855"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n-lt"/>
                  <a:ea typeface="+mn-ea"/>
                  <a:cs typeface="+mn-cs"/>
                </a:rPr>
                <a:t>1</a:t>
              </a:r>
            </a:p>
          </p:txBody>
        </p:sp>
        <p:sp>
          <p:nvSpPr>
            <p:cNvPr id="9" name="TextBox 9"/>
            <p:cNvSpPr txBox="1"/>
            <p:nvPr/>
          </p:nvSpPr>
          <p:spPr>
            <a:xfrm>
              <a:off x="1553337" y="1718786"/>
              <a:ext cx="3174079"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No bespoke modules needed</a:t>
              </a:r>
            </a:p>
          </p:txBody>
        </p:sp>
        <p:sp>
          <p:nvSpPr>
            <p:cNvPr id="10" name="TextBox 10"/>
            <p:cNvSpPr txBox="1"/>
            <p:nvPr/>
          </p:nvSpPr>
          <p:spPr>
            <a:xfrm>
              <a:off x="1555242" y="2083118"/>
              <a:ext cx="654433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You don't need heuristic, hand-crafted modules to model molecules under</a:t>
              </a:r>
            </a:p>
          </p:txBody>
        </p:sp>
        <p:sp>
          <p:nvSpPr>
            <p:cNvPr id="11" name="TextBox 11"/>
            <p:cNvSpPr txBox="1"/>
            <p:nvPr/>
          </p:nvSpPr>
          <p:spPr>
            <a:xfrm>
              <a:off x="1555242" y="2311718"/>
              <a:ext cx="193104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physical constraints.</a:t>
              </a:r>
            </a:p>
          </p:txBody>
        </p:sp>
      </p:grpSp>
      <p:grpSp>
        <p:nvGrpSpPr>
          <p:cNvPr id="19" name="Group 19"/>
          <p:cNvGrpSpPr/>
          <p:nvPr/>
        </p:nvGrpSpPr>
        <p:grpSpPr>
          <a:xfrm>
            <a:off x="685800" y="2743200"/>
            <a:ext cx="8101206" cy="1143000"/>
            <a:chOff x="685800" y="2743200"/>
            <a:chExt cx="8101206" cy="1143000"/>
          </a:xfrm>
        </p:grpSpPr>
        <p:sp>
          <p:nvSpPr>
            <p:cNvPr id="13" name="Rectangle 13"/>
            <p:cNvSpPr/>
            <p:nvPr/>
          </p:nvSpPr>
          <p:spPr>
            <a:xfrm>
              <a:off x="685800" y="2743200"/>
              <a:ext cx="7734300" cy="1143000"/>
            </a:xfrm>
            <a:prstGeom prst="roundRect">
              <a:avLst>
                <a:gd name="adj" fmla="val 11667"/>
              </a:avLst>
            </a:prstGeom>
            <a:solidFill>
              <a:srgbClr val="FBFCFE"/>
            </a:solidFill>
            <a:ln w="9525">
              <a:solidFill>
                <a:schemeClr val="accent4"/>
              </a:solidFill>
            </a:ln>
          </p:spPr>
        </p:sp>
        <p:sp>
          <p:nvSpPr>
            <p:cNvPr id="14" name="Ellipse 14"/>
            <p:cNvSpPr/>
            <p:nvPr/>
          </p:nvSpPr>
          <p:spPr>
            <a:xfrm>
              <a:off x="952500" y="3105150"/>
              <a:ext cx="419100" cy="419100"/>
            </a:xfrm>
            <a:prstGeom prst="ellipse">
              <a:avLst/>
            </a:prstGeom>
            <a:solidFill>
              <a:srgbClr val="F3EDFC"/>
            </a:solidFill>
            <a:ln>
              <a:noFill/>
            </a:ln>
          </p:spPr>
        </p:sp>
        <p:sp>
          <p:nvSpPr>
            <p:cNvPr id="15" name="TextBox 15"/>
            <p:cNvSpPr txBox="1"/>
            <p:nvPr/>
          </p:nvSpPr>
          <p:spPr>
            <a:xfrm>
              <a:off x="1096123" y="3228975"/>
              <a:ext cx="131855" cy="293370"/>
            </a:xfrm>
            <a:prstGeom prst="rect">
              <a:avLst/>
            </a:prstGeom>
            <a:noFill/>
            <a:ln>
              <a:noFill/>
            </a:ln>
          </p:spPr>
          <p:txBody>
            <a:bodyPr wrap="none" lIns="0" tIns="0" rIns="0" bIns="0" anchor="t" anchorCtr="0">
              <a:spAutoFit/>
            </a:bodyPr>
            <a:lstStyle/>
            <a:p>
              <a:pPr algn="ctr"/>
              <a:r>
                <a:rPr lang="en-US" sz="1500" b="1" dirty="0">
                  <a:solidFill>
                    <a:srgbClr val="7C3AED"/>
                  </a:solidFill>
                  <a:latin typeface="+mn-lt"/>
                  <a:ea typeface="+mn-ea"/>
                  <a:cs typeface="+mn-cs"/>
                </a:rPr>
                <a:t>2</a:t>
              </a:r>
            </a:p>
          </p:txBody>
        </p:sp>
        <p:sp>
          <p:nvSpPr>
            <p:cNvPr id="16" name="TextBox 16"/>
            <p:cNvSpPr txBox="1"/>
            <p:nvPr/>
          </p:nvSpPr>
          <p:spPr>
            <a:xfrm>
              <a:off x="1553337" y="3014186"/>
              <a:ext cx="3758277"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Two streams + cross-attention</a:t>
              </a:r>
            </a:p>
          </p:txBody>
        </p:sp>
        <p:sp>
          <p:nvSpPr>
            <p:cNvPr id="17" name="TextBox 17"/>
            <p:cNvSpPr txBox="1"/>
            <p:nvPr/>
          </p:nvSpPr>
          <p:spPr>
            <a:xfrm>
              <a:off x="1555242" y="3378518"/>
              <a:ext cx="723176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Two standard Transformer streams bridged by simple cross-attention learn both</a:t>
              </a:r>
            </a:p>
          </p:txBody>
        </p:sp>
        <p:sp>
          <p:nvSpPr>
            <p:cNvPr id="18" name="TextBox 18"/>
            <p:cNvSpPr txBox="1"/>
            <p:nvPr/>
          </p:nvSpPr>
          <p:spPr>
            <a:xfrm>
              <a:off x="1555242" y="3607118"/>
              <a:ext cx="620186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representations at once — and outperform specialized architectures.</a:t>
              </a:r>
            </a:p>
          </p:txBody>
        </p:sp>
      </p:grpSp>
      <p:grpSp>
        <p:nvGrpSpPr>
          <p:cNvPr id="26" name="Group 26"/>
          <p:cNvGrpSpPr/>
          <p:nvPr/>
        </p:nvGrpSpPr>
        <p:grpSpPr>
          <a:xfrm>
            <a:off x="685800" y="4038600"/>
            <a:ext cx="7734300" cy="1143000"/>
            <a:chOff x="685800" y="4038600"/>
            <a:chExt cx="7734300" cy="1143000"/>
          </a:xfrm>
        </p:grpSpPr>
        <p:sp>
          <p:nvSpPr>
            <p:cNvPr id="20" name="Rectangle 20"/>
            <p:cNvSpPr/>
            <p:nvPr/>
          </p:nvSpPr>
          <p:spPr>
            <a:xfrm>
              <a:off x="685800" y="4038600"/>
              <a:ext cx="7734300" cy="1143000"/>
            </a:xfrm>
            <a:prstGeom prst="roundRect">
              <a:avLst>
                <a:gd name="adj" fmla="val 11667"/>
              </a:avLst>
            </a:prstGeom>
            <a:solidFill>
              <a:srgbClr val="FBFCFE"/>
            </a:solidFill>
            <a:ln w="9525">
              <a:solidFill>
                <a:schemeClr val="accent4"/>
              </a:solidFill>
            </a:ln>
          </p:spPr>
        </p:sp>
        <p:sp>
          <p:nvSpPr>
            <p:cNvPr id="21" name="Ellipse 21"/>
            <p:cNvSpPr/>
            <p:nvPr/>
          </p:nvSpPr>
          <p:spPr>
            <a:xfrm>
              <a:off x="952500" y="4400550"/>
              <a:ext cx="419100" cy="419100"/>
            </a:xfrm>
            <a:prstGeom prst="ellipse">
              <a:avLst/>
            </a:prstGeom>
            <a:solidFill>
              <a:srgbClr val="EAF2FB"/>
            </a:solidFill>
            <a:ln>
              <a:noFill/>
            </a:ln>
          </p:spPr>
        </p:sp>
        <p:sp>
          <p:nvSpPr>
            <p:cNvPr id="22" name="TextBox 22"/>
            <p:cNvSpPr txBox="1"/>
            <p:nvPr/>
          </p:nvSpPr>
          <p:spPr>
            <a:xfrm>
              <a:off x="1096123" y="4524375"/>
              <a:ext cx="131855"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mn-lt"/>
                  <a:ea typeface="+mn-ea"/>
                  <a:cs typeface="+mn-cs"/>
                </a:rPr>
                <a:t>3</a:t>
              </a:r>
            </a:p>
          </p:txBody>
        </p:sp>
        <p:sp>
          <p:nvSpPr>
            <p:cNvPr id="23" name="TextBox 23"/>
            <p:cNvSpPr txBox="1"/>
            <p:nvPr/>
          </p:nvSpPr>
          <p:spPr>
            <a:xfrm>
              <a:off x="1553337" y="4309586"/>
              <a:ext cx="308811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A unifying design principle</a:t>
              </a:r>
            </a:p>
          </p:txBody>
        </p:sp>
        <p:sp>
          <p:nvSpPr>
            <p:cNvPr id="24" name="TextBox 24"/>
            <p:cNvSpPr txBox="1"/>
            <p:nvPr/>
          </p:nvSpPr>
          <p:spPr>
            <a:xfrm>
              <a:off x="1555242" y="4673918"/>
              <a:ext cx="672646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Because prior models are special cases, GeoMFormer is a clean, general and</a:t>
              </a:r>
            </a:p>
          </p:txBody>
        </p:sp>
        <p:sp>
          <p:nvSpPr>
            <p:cNvPr id="25" name="TextBox 25"/>
            <p:cNvSpPr txBox="1"/>
            <p:nvPr/>
          </p:nvSpPr>
          <p:spPr>
            <a:xfrm>
              <a:off x="1555242" y="4902518"/>
              <a:ext cx="60110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scalable principle for geometric molecular representation learning.</a:t>
              </a:r>
            </a:p>
          </p:txBody>
        </p:sp>
      </p:grpSp>
      <p:sp>
        <p:nvSpPr>
          <p:cNvPr id="27" name="Rectangle 27"/>
          <p:cNvSpPr/>
          <p:nvPr/>
        </p:nvSpPr>
        <p:spPr>
          <a:xfrm>
            <a:off x="8724900" y="1447800"/>
            <a:ext cx="2781300" cy="3733800"/>
          </a:xfrm>
          <a:prstGeom prst="roundRect">
            <a:avLst>
              <a:gd name="adj" fmla="val 5479"/>
            </a:avLst>
          </a:prstGeom>
          <a:solidFill>
            <a:srgbClr val="0E1B33"/>
          </a:solidFill>
          <a:ln>
            <a:noFill/>
          </a:ln>
        </p:spPr>
        <p:txBody>
          <a:bodyPr/>
          <a:p/>
        </p:txBody>
      </p:sp>
      <p:sp>
        <p:nvSpPr>
          <p:cNvPr id="28" name="TextBox 28"/>
          <p:cNvSpPr txBox="1"/>
          <p:nvPr/>
        </p:nvSpPr>
        <p:spPr>
          <a:xfrm>
            <a:off x="8942070" y="1643062"/>
            <a:ext cx="1931159" cy="440055"/>
          </a:xfrm>
          <a:prstGeom prst="rect">
            <a:avLst/>
          </a:prstGeom>
          <a:noFill/>
          <a:ln>
            <a:noFill/>
          </a:ln>
        </p:spPr>
        <p:txBody>
          <a:bodyPr wrap="none" lIns="0" tIns="0" rIns="0" bIns="0" anchor="t" anchorCtr="0">
            <a:spAutoFit/>
          </a:bodyPr>
          <a:lstStyle/>
          <a:p>
            <a:pPr algn="l"/>
            <a:r>
              <a:rPr lang="en-US" sz="2250" b="1" dirty="0">
                <a:gradFill>
                  <a:gsLst>
                    <a:gs pos="0">
                      <a:schemeClr val="accent2"/>
                    </a:gs>
                    <a:gs pos="100000">
                      <a:schemeClr val="accent3"/>
                    </a:gs>
                  </a:gsLst>
                  <a:lin ang="0" scaled="1"/>
                </a:gradFill>
                <a:latin typeface="+mn-lt"/>
                <a:ea typeface="+mn-ea"/>
                <a:cs typeface="+mn-cs"/>
              </a:rPr>
              <a:t>GeoMFormer</a:t>
            </a:r>
          </a:p>
        </p:txBody>
      </p:sp>
      <p:sp>
        <p:nvSpPr>
          <p:cNvPr id="29" name="TextBox 29"/>
          <p:cNvSpPr txBox="1"/>
          <p:nvPr/>
        </p:nvSpPr>
        <p:spPr>
          <a:xfrm>
            <a:off x="8948547" y="2009299"/>
            <a:ext cx="658094" cy="190690"/>
          </a:xfrm>
          <a:prstGeom prst="rect">
            <a:avLst/>
          </a:prstGeom>
          <a:noFill/>
          <a:ln>
            <a:noFill/>
          </a:ln>
        </p:spPr>
        <p:txBody>
          <a:bodyPr wrap="none" lIns="0" tIns="0" rIns="0" bIns="0" anchor="t" anchorCtr="0">
            <a:spAutoFit/>
          </a:bodyPr>
          <a:lstStyle/>
          <a:p>
            <a:pPr algn="l"/>
            <a:r>
              <a:rPr lang="en-US" sz="980" dirty="0">
                <a:solidFill>
                  <a:srgbClr val="8FB6E6"/>
                </a:solidFill>
                <a:latin typeface="+mn-lt"/>
                <a:ea typeface="+mn-ea"/>
                <a:cs typeface="+mn-cs"/>
              </a:rPr>
              <a:t>ICML 2024</a:t>
            </a:r>
          </a:p>
        </p:txBody>
      </p:sp>
      <p:sp>
        <p:nvSpPr>
          <p:cNvPr id="30" name="Line 30"/>
          <p:cNvSpPr/>
          <p:nvPr/>
        </p:nvSpPr>
        <p:spPr>
          <a:xfrm>
            <a:off x="8953500" y="2266950"/>
            <a:ext cx="2324100" cy="9525"/>
          </a:xfrm>
          <a:custGeom>
            <a:avLst/>
            <a:gdLst/>
            <a:ahLst/>
            <a:cxnLst/>
            <a:rect l="l" t="t" r="r" b="b"/>
            <a:pathLst>
              <a:path w="2324100" h="9525">
                <a:moveTo>
                  <a:pt x="0" y="0"/>
                </a:moveTo>
                <a:lnTo>
                  <a:pt x="2324100" y="0"/>
                </a:lnTo>
              </a:path>
            </a:pathLst>
          </a:custGeom>
          <a:noFill/>
          <a:ln w="9525">
            <a:solidFill>
              <a:srgbClr val="274063"/>
            </a:solidFill>
          </a:ln>
        </p:spPr>
        <p:txBody>
          <a:bodyPr/>
          <a:p/>
        </p:txBody>
      </p:sp>
      <p:grpSp>
        <p:nvGrpSpPr>
          <p:cNvPr id="33" name="Group 33"/>
          <p:cNvGrpSpPr/>
          <p:nvPr/>
        </p:nvGrpSpPr>
        <p:grpSpPr>
          <a:xfrm>
            <a:off x="8877300" y="2400300"/>
            <a:ext cx="2476500" cy="1428750"/>
            <a:chOff x="8877300" y="2400300"/>
            <a:chExt cx="2476500" cy="1428750"/>
          </a:xfrm>
        </p:grpSpPr>
        <p:sp>
          <p:nvSpPr>
            <p:cNvPr id="31" name="Rectangle 31"/>
            <p:cNvSpPr/>
            <p:nvPr/>
          </p:nvSpPr>
          <p:spPr>
            <a:xfrm>
              <a:off x="8877300" y="2400300"/>
              <a:ext cx="2476500" cy="1428750"/>
            </a:xfrm>
            <a:prstGeom prst="roundRect">
              <a:avLst>
                <a:gd name="adj" fmla="val 6667"/>
              </a:avLst>
            </a:prstGeom>
            <a:solidFill>
              <a:schemeClr val="lt1"/>
            </a:solidFill>
            <a:ln>
              <a:noFill/>
            </a:ln>
          </p:spPr>
        </p:sp>
        <p:pic>
          <p:nvPicPr>
            <p:cNvPr id="32" name="Image 32"/>
            <p:cNvPicPr>
              <a:picLocks noChangeAspect="1"/>
            </p:cNvPicPr>
            <p:nvPr/>
          </p:nvPicPr>
          <p:blipFill>
            <a:blip r:embed="rId2"/>
            <a:stretch>
              <a:fillRect/>
            </a:stretch>
          </p:blipFill>
          <p:spPr>
            <a:xfrm>
              <a:off x="8956821" y="2466975"/>
              <a:ext cx="2317459" cy="1295400"/>
            </a:xfrm>
            <a:prstGeom prst="rect">
              <a:avLst/>
            </a:prstGeom>
          </p:spPr>
        </p:pic>
      </p:grpSp>
      <p:pic>
        <p:nvPicPr>
          <p:cNvPr id="34" name="Image 34"/>
          <p:cNvPicPr>
            <a:picLocks noChangeAspect="1"/>
          </p:cNvPicPr>
          <p:nvPr/>
        </p:nvPicPr>
        <p:blipFill>
          <a:blip r:embed="rId3"/>
          <a:stretch>
            <a:fillRect/>
          </a:stretch>
        </p:blipFill>
        <p:spPr>
          <a:xfrm>
            <a:off x="9029700" y="4000500"/>
            <a:ext cx="552450" cy="552450"/>
          </a:xfrm>
          <a:prstGeom prst="rect">
            <a:avLst/>
          </a:prstGeom>
        </p:spPr>
      </p:pic>
      <p:sp>
        <p:nvSpPr>
          <p:cNvPr id="35" name="TextBox 35"/>
          <p:cNvSpPr txBox="1"/>
          <p:nvPr/>
        </p:nvSpPr>
        <p:spPr>
          <a:xfrm>
            <a:off x="9124260" y="4608195"/>
            <a:ext cx="363329" cy="176212"/>
          </a:xfrm>
          <a:prstGeom prst="rect">
            <a:avLst/>
          </a:prstGeom>
          <a:noFill/>
          <a:ln>
            <a:noFill/>
          </a:ln>
        </p:spPr>
        <p:txBody>
          <a:bodyPr wrap="none" lIns="0" tIns="0" rIns="0" bIns="0" anchor="t" anchorCtr="0">
            <a:spAutoFit/>
          </a:bodyPr>
          <a:lstStyle/>
          <a:p>
            <a:pPr algn="ctr"/>
            <a:r>
              <a:rPr lang="en-US" sz="900" b="1" dirty="0">
                <a:solidFill>
                  <a:srgbClr val="C9D6E8"/>
                </a:solidFill>
                <a:latin typeface="+mn-lt"/>
                <a:ea typeface="+mn-ea"/>
                <a:cs typeface="+mn-cs"/>
              </a:rPr>
              <a:t>Paper</a:t>
            </a:r>
          </a:p>
        </p:txBody>
      </p:sp>
      <p:pic>
        <p:nvPicPr>
          <p:cNvPr id="36" name="Image 36"/>
          <p:cNvPicPr>
            <a:picLocks noChangeAspect="1"/>
          </p:cNvPicPr>
          <p:nvPr/>
        </p:nvPicPr>
        <p:blipFill>
          <a:blip r:embed="rId4"/>
          <a:stretch>
            <a:fillRect/>
          </a:stretch>
        </p:blipFill>
        <p:spPr>
          <a:xfrm>
            <a:off x="9810750" y="4000500"/>
            <a:ext cx="552450" cy="552450"/>
          </a:xfrm>
          <a:prstGeom prst="rect">
            <a:avLst/>
          </a:prstGeom>
        </p:spPr>
      </p:pic>
      <p:sp>
        <p:nvSpPr>
          <p:cNvPr id="37" name="TextBox 37"/>
          <p:cNvSpPr txBox="1"/>
          <p:nvPr/>
        </p:nvSpPr>
        <p:spPr>
          <a:xfrm>
            <a:off x="9940295" y="4608195"/>
            <a:ext cx="293360" cy="176212"/>
          </a:xfrm>
          <a:prstGeom prst="rect">
            <a:avLst/>
          </a:prstGeom>
          <a:noFill/>
          <a:ln>
            <a:noFill/>
          </a:ln>
        </p:spPr>
        <p:txBody>
          <a:bodyPr wrap="none" lIns="0" tIns="0" rIns="0" bIns="0" anchor="t" anchorCtr="0">
            <a:spAutoFit/>
          </a:bodyPr>
          <a:lstStyle/>
          <a:p>
            <a:pPr algn="ctr"/>
            <a:r>
              <a:rPr lang="en-US" sz="900" b="1" dirty="0">
                <a:solidFill>
                  <a:srgbClr val="C9D6E8"/>
                </a:solidFill>
                <a:latin typeface="+mn-lt"/>
                <a:ea typeface="+mn-ea"/>
                <a:cs typeface="+mn-cs"/>
              </a:rPr>
              <a:t>Code</a:t>
            </a:r>
          </a:p>
        </p:txBody>
      </p:sp>
      <p:sp>
        <p:nvSpPr>
          <p:cNvPr id="38" name="TextBox 38"/>
          <p:cNvSpPr txBox="1"/>
          <p:nvPr/>
        </p:nvSpPr>
        <p:spPr>
          <a:xfrm>
            <a:off x="8948738" y="4893945"/>
            <a:ext cx="2993669" cy="176212"/>
          </a:xfrm>
          <a:prstGeom prst="rect">
            <a:avLst/>
          </a:prstGeom>
          <a:noFill/>
          <a:ln>
            <a:noFill/>
          </a:ln>
        </p:spPr>
        <p:txBody>
          <a:bodyPr wrap="none" lIns="0" tIns="0" rIns="0" bIns="0" anchor="t" anchorCtr="0">
            <a:spAutoFit/>
          </a:bodyPr>
          <a:lstStyle/>
          <a:p>
            <a:pPr algn="l"/>
            <a:r>
              <a:rPr lang="en-US" sz="900" dirty="0">
                <a:solidFill>
                  <a:srgbClr val="6E8AB0"/>
                </a:solidFill>
                <a:latin typeface="+mn-lt"/>
                <a:ea typeface="+mn-ea"/>
                <a:cs typeface="+mn-cs"/>
              </a:rPr>
              <a:t>Peking University · Microsoft Research AI4Science</a:t>
            </a:r>
          </a:p>
        </p:txBody>
      </p:sp>
      <p:sp>
        <p:nvSpPr>
          <p:cNvPr id="39" name="TextBox 39"/>
          <p:cNvSpPr txBox="1"/>
          <p:nvPr/>
        </p:nvSpPr>
        <p:spPr>
          <a:xfrm>
            <a:off x="680847" y="6562249"/>
            <a:ext cx="1597144" cy="190690"/>
          </a:xfrm>
          <a:prstGeom prst="rect">
            <a:avLst/>
          </a:prstGeom>
          <a:noFill/>
          <a:ln>
            <a:noFill/>
          </a:ln>
        </p:spPr>
        <p:txBody>
          <a:bodyPr wrap="none" lIns="0" tIns="0" rIns="0" bIns="0" anchor="t" anchorCtr="0">
            <a:spAutoFit/>
          </a:bodyPr>
          <a:lstStyle/>
          <a:p>
            <a:pPr algn="l"/>
            <a:r>
              <a:rPr lang="en-US" sz="980" dirty="0">
                <a:solidFill>
                  <a:schemeClr val="accent5"/>
                </a:solidFill>
                <a:latin typeface="+mn-lt"/>
                <a:ea typeface="+mn-ea"/>
                <a:cs typeface="+mn-cs"/>
              </a:rPr>
              <a:t>GeoMFormer · ICML 2024</a:t>
            </a:r>
          </a:p>
        </p:txBody>
      </p:sp>
      <p:sp>
        <p:nvSpPr>
          <p:cNvPr id="40" name="TextBox 40"/>
          <p:cNvSpPr txBox="1"/>
          <p:nvPr/>
        </p:nvSpPr>
        <p:spPr>
          <a:xfrm>
            <a:off x="11059290" y="6562249"/>
            <a:ext cx="451863" cy="190690"/>
          </a:xfrm>
          <a:prstGeom prst="rect">
            <a:avLst/>
          </a:prstGeom>
          <a:noFill/>
          <a:ln>
            <a:noFill/>
          </a:ln>
        </p:spPr>
        <p:txBody>
          <a:bodyPr wrap="none" lIns="0" tIns="0" rIns="0" bIns="0" anchor="t" anchorCtr="0">
            <a:spAutoFit/>
          </a:bodyPr>
          <a:lstStyle/>
          <a:p>
            <a:pPr algn="r"/>
            <a:r>
              <a:rPr lang="en-US" sz="980" dirty="0">
                <a:solidFill>
                  <a:schemeClr val="accent5"/>
                </a:solidFill>
                <a:latin typeface="+mn-lt"/>
                <a:ea typeface="+mn-ea"/>
                <a:cs typeface="+mn-cs"/>
              </a:rPr>
              <a:t>10 / 10</a:t>
            </a:r>
          </a:p>
        </p:txBody>
      </p:sp>
      <p:sp>
        <p:nvSpPr>
          <p:cNvPr id="41" name="cue_s10_c1_lasting_message_work_you_not" title="cue_s10_c1_lasting_message_work_you_not" descr="cue_s10_c1_lasting_message_work_you_not The lasting message of this work is that you do not need bespoke, heuristic modules to model molecules under physical constraints."/>
          <p:cNvSpPr/>
          <p:nvPr/>
        </p:nvSpPr>
        <p:spPr>
          <a:xfrm>
            <a:off x="686409" y="1447723"/>
            <a:ext cx="77346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10_c2_running_two_standard_transformer_str" title="cue_s10_c2_running_two_standard_transformer_str" descr="cue_s10_c2_running_two_standard_transformer_str By running two standard Transformer streams in parallel, one for invariant and one for equivariant features, and connecting them with simple cross-attention, GeoMFormer learns both kinds of representation at once and outperforms specialized architectures on a"/>
          <p:cNvSpPr/>
          <p:nvPr/>
        </p:nvSpPr>
        <p:spPr>
          <a:xfrm>
            <a:off x="686409" y="2743200"/>
            <a:ext cx="810158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10_c3_because_many_earlier_models_special" title="cue_s10_c3_because_many_earlier_models_special" descr="cue_s10_c3_because_many_earlier_models_special Because many earlier models are special cases of this framework, GeoMFormer offers a clean, general, and scalable design principle for geometric molecular representation learning."/>
          <p:cNvSpPr/>
          <p:nvPr/>
        </p:nvSpPr>
        <p:spPr>
          <a:xfrm>
            <a:off x="686409" y="4038676"/>
            <a:ext cx="77346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geomformer">
  <a:themeElements>
    <a:clrScheme name="geomformer">
      <a:dk1>
        <a:srgbClr val="14213D"/>
      </a:dk1>
      <a:lt1>
        <a:srgbClr val="FFFFFF"/>
      </a:lt1>
      <a:dk2>
        <a:srgbClr val="5B6472"/>
      </a:dk2>
      <a:lt2>
        <a:srgbClr val="F4F6FA"/>
      </a:lt2>
      <a:accent1>
        <a:srgbClr val="14213D"/>
      </a:accent1>
      <a:accent2>
        <a:srgbClr val="C81E5A"/>
      </a:accent2>
      <a:accent3>
        <a:srgbClr val="1C6DD0"/>
      </a:accent3>
      <a:accent4>
        <a:srgbClr val="E2E8F0"/>
      </a:accent4>
      <a:accent5>
        <a:srgbClr val="9AA4B2"/>
      </a:accent5>
      <a:accent6>
        <a:srgbClr val="FBE4EC"/>
      </a:accent6>
      <a:hlink>
        <a:srgbClr val="C81E5A"/>
      </a:hlink>
      <a:folHlink>
        <a:srgbClr val="1C6DD0"/>
      </a:folHlink>
    </a:clrScheme>
    <a:fontScheme name="geomformer">
      <a:majorFont>
        <a:latin typeface="Inter"/>
        <a:ea typeface="Microsoft YaHei"/>
        <a:cs typeface="Inter"/>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Microsoft YaHei"/>
        <a:cs typeface="Inter"/>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omform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geomformer">
  <a:themeElements>
    <a:clrScheme name="geomformer">
      <a:dk1>
        <a:srgbClr val="14213D"/>
      </a:dk1>
      <a:lt1>
        <a:srgbClr val="FFFFFF"/>
      </a:lt1>
      <a:dk2>
        <a:srgbClr val="5B6472"/>
      </a:dk2>
      <a:lt2>
        <a:srgbClr val="F4F6FA"/>
      </a:lt2>
      <a:accent1>
        <a:srgbClr val="14213D"/>
      </a:accent1>
      <a:accent2>
        <a:srgbClr val="C81E5A"/>
      </a:accent2>
      <a:accent3>
        <a:srgbClr val="1C6DD0"/>
      </a:accent3>
      <a:accent4>
        <a:srgbClr val="E2E8F0"/>
      </a:accent4>
      <a:accent5>
        <a:srgbClr val="9AA4B2"/>
      </a:accent5>
      <a:accent6>
        <a:srgbClr val="FBE4EC"/>
      </a:accent6>
      <a:hlink>
        <a:srgbClr val="C81E5A"/>
      </a:hlink>
      <a:folHlink>
        <a:srgbClr val="1C6DD0"/>
      </a:folHlink>
    </a:clrScheme>
    <a:fontScheme name="geomformer">
      <a:majorFont>
        <a:latin typeface="Inter"/>
        <a:ea typeface="Microsoft YaHei"/>
        <a:cs typeface="Inter"/>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Microsoft YaHei"/>
        <a:cs typeface="Inter"/>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omform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2026-07-15T03:02:32Z</dcterms:created>
  <dcterms:modified xsi:type="dcterms:W3CDTF">2026-07-15T03:02:32Z</dcterms:modified>
  <cp:category/>
  <cp:contentStatus/>
</cp:coreProperties>
</file>
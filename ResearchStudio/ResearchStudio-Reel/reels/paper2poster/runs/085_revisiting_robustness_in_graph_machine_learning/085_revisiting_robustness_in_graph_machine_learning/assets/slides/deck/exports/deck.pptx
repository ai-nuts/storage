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3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054" y="499110"/>
            <a:ext cx="4605833" cy="234696"/>
          </a:xfrm>
          <a:prstGeom prst="rect">
            <a:avLst/>
          </a:prstGeom>
          <a:noFill/>
          <a:ln>
            <a:noFill/>
          </a:ln>
        </p:spPr>
        <p:txBody>
          <a:bodyPr wrap="none" lIns="0" tIns="0" rIns="0" bIns="0" anchor="t" anchorCtr="0">
            <a:spAutoFit/>
          </a:bodyPr>
          <a:lstStyle/>
          <a:p>
            <a:pPr algn="l"/>
            <a:r>
              <a:rPr lang="en-US" sz="1200" b="1" spc="150" dirty="0">
                <a:solidFill>
                  <a:srgbClr val="35D0BA"/>
                </a:solidFill>
                <a:latin typeface="+mn-lt"/>
                <a:ea typeface="+mn-ea"/>
                <a:cs typeface="+mn-cs"/>
              </a:rPr>
              <a:t>ICLR 2023 · TECHNICAL UNIVERSITY OF MUNICH</a:t>
            </a:r>
          </a:p>
        </p:txBody>
      </p:sp>
      <p:sp>
        <p:nvSpPr>
          <p:cNvPr id="4" name="TextBox 4"/>
          <p:cNvSpPr txBox="1"/>
          <p:nvPr/>
        </p:nvSpPr>
        <p:spPr>
          <a:xfrm>
            <a:off x="781050" y="959168"/>
            <a:ext cx="7269178" cy="847725"/>
          </a:xfrm>
          <a:prstGeom prst="rect">
            <a:avLst/>
          </a:prstGeom>
          <a:noFill/>
          <a:ln>
            <a:noFill/>
          </a:ln>
        </p:spPr>
        <p:txBody>
          <a:bodyPr wrap="none" lIns="0" tIns="0" rIns="0" bIns="0" anchor="t" anchorCtr="0">
            <a:spAutoFit/>
          </a:bodyPr>
          <a:lstStyle/>
          <a:p>
            <a:pPr algn="l"/>
            <a:r>
              <a:rPr lang="en-US" sz="4350" b="1" dirty="0">
                <a:solidFill>
                  <a:schemeClr val="dk1"/>
                </a:solidFill>
                <a:latin typeface="+mn-lt"/>
                <a:ea typeface="+mn-ea"/>
                <a:cs typeface="+mn-cs"/>
              </a:rPr>
              <a:t>Revisiting Robustness in</a:t>
            </a:r>
          </a:p>
        </p:txBody>
      </p:sp>
      <p:sp>
        <p:nvSpPr>
          <p:cNvPr id="5" name="TextBox 5"/>
          <p:cNvSpPr txBox="1"/>
          <p:nvPr/>
        </p:nvSpPr>
        <p:spPr>
          <a:xfrm>
            <a:off x="781050" y="1568768"/>
            <a:ext cx="7045202" cy="847725"/>
          </a:xfrm>
          <a:prstGeom prst="rect">
            <a:avLst/>
          </a:prstGeom>
          <a:noFill/>
          <a:ln>
            <a:noFill/>
          </a:ln>
        </p:spPr>
        <p:txBody>
          <a:bodyPr wrap="none" lIns="0" tIns="0" rIns="0" bIns="0" anchor="t" anchorCtr="0">
            <a:spAutoFit/>
          </a:bodyPr>
          <a:lstStyle/>
          <a:p>
            <a:pPr algn="l"/>
            <a:r>
              <a:rPr lang="en-US" sz="4350" b="1" dirty="0">
                <a:solidFill>
                  <a:schemeClr val="dk1"/>
                </a:solidFill>
                <a:latin typeface="+mn-lt"/>
                <a:ea typeface="+mn-ea"/>
                <a:cs typeface="+mn-cs"/>
              </a:rPr>
              <a:t>Graph Machine Learning</a:t>
            </a:r>
          </a:p>
        </p:txBody>
      </p:sp>
      <p:sp>
        <p:nvSpPr>
          <p:cNvPr id="6" name="TextBox 6"/>
          <p:cNvSpPr txBox="1"/>
          <p:nvPr/>
        </p:nvSpPr>
        <p:spPr>
          <a:xfrm>
            <a:off x="791337" y="2271236"/>
            <a:ext cx="5988077" cy="337376"/>
          </a:xfrm>
          <a:prstGeom prst="rect">
            <a:avLst/>
          </a:prstGeom>
          <a:noFill/>
          <a:ln>
            <a:noFill/>
          </a:ln>
        </p:spPr>
        <p:txBody>
          <a:bodyPr wrap="none" lIns="0" tIns="0" rIns="0" bIns="0" anchor="t" anchorCtr="0">
            <a:spAutoFit/>
          </a:bodyPr>
          <a:lstStyle/>
          <a:p>
            <a:pPr algn="l"/>
            <a:r>
              <a:rPr lang="en-US" sz="1720" dirty="0">
                <a:solidFill>
                  <a:srgbClr val="F5B841"/>
                </a:solidFill>
                <a:latin typeface="+mn-lt"/>
                <a:ea typeface="+mn-ea"/>
                <a:cs typeface="+mn-cs"/>
              </a:rPr>
              <a:t>Are graph neural networks fragile — or over-robust?</a:t>
            </a:r>
          </a:p>
        </p:txBody>
      </p:sp>
      <p:sp>
        <p:nvSpPr>
          <p:cNvPr id="7" name="TextBox 7"/>
          <p:cNvSpPr txBox="1"/>
          <p:nvPr/>
        </p:nvSpPr>
        <p:spPr>
          <a:xfrm>
            <a:off x="793242" y="2711768"/>
            <a:ext cx="5690457"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Lukas Gosch · Daniel Sturm · Simon Geisler · Stephan Gunnemann</a:t>
            </a:r>
          </a:p>
        </p:txBody>
      </p:sp>
      <p:grpSp>
        <p:nvGrpSpPr>
          <p:cNvPr id="15" name="Group 15"/>
          <p:cNvGrpSpPr/>
          <p:nvPr/>
        </p:nvGrpSpPr>
        <p:grpSpPr>
          <a:xfrm>
            <a:off x="609600" y="3429000"/>
            <a:ext cx="2647950" cy="2381250"/>
            <a:chOff x="609600" y="3429000"/>
            <a:chExt cx="2647950" cy="2381250"/>
          </a:xfrm>
        </p:grpSpPr>
        <p:sp>
          <p:nvSpPr>
            <p:cNvPr id="8" name="Rectangle 8"/>
            <p:cNvSpPr/>
            <p:nvPr/>
          </p:nvSpPr>
          <p:spPr>
            <a:xfrm>
              <a:off x="609600" y="3429000"/>
              <a:ext cx="2647950" cy="2381250"/>
            </a:xfrm>
            <a:prstGeom prst="roundRect">
              <a:avLst>
                <a:gd name="adj" fmla="val 5600"/>
              </a:avLst>
            </a:prstGeom>
            <a:solidFill>
              <a:schemeClr val="accent5"/>
            </a:solidFill>
            <a:ln w="14288">
              <a:solidFill>
                <a:srgbClr val="1E3A52"/>
              </a:solidFill>
            </a:ln>
          </p:spPr>
        </p:sp>
        <p:sp>
          <p:nvSpPr>
            <p:cNvPr id="9" name="Rectangle 9"/>
            <p:cNvSpPr/>
            <p:nvPr/>
          </p:nvSpPr>
          <p:spPr>
            <a:xfrm>
              <a:off x="609600" y="3429000"/>
              <a:ext cx="2647950" cy="57150"/>
            </a:xfrm>
            <a:prstGeom prst="roundRect">
              <a:avLst>
                <a:gd name="adj" fmla="val 50000"/>
              </a:avLst>
            </a:prstGeom>
            <a:solidFill>
              <a:srgbClr val="4C8DFF"/>
            </a:solidFill>
            <a:ln w="0">
              <a:solidFill>
                <a:srgbClr val="4C8DFF"/>
              </a:solidFill>
            </a:ln>
          </p:spPr>
        </p:sp>
        <p:sp>
          <p:nvSpPr>
            <p:cNvPr id="10" name="TextBox 10"/>
            <p:cNvSpPr txBox="1"/>
            <p:nvPr/>
          </p:nvSpPr>
          <p:spPr>
            <a:xfrm>
              <a:off x="794766" y="3734752"/>
              <a:ext cx="1019061" cy="205359"/>
            </a:xfrm>
            <a:prstGeom prst="rect">
              <a:avLst/>
            </a:prstGeom>
            <a:noFill/>
            <a:ln>
              <a:noFill/>
            </a:ln>
          </p:spPr>
          <p:txBody>
            <a:bodyPr wrap="none" lIns="0" tIns="0" rIns="0" bIns="0" anchor="t" anchorCtr="0">
              <a:spAutoFit/>
            </a:bodyPr>
            <a:lstStyle/>
            <a:p>
              <a:pPr algn="l"/>
              <a:r>
                <a:rPr lang="en-US" sz="1050" b="1" spc="75" dirty="0">
                  <a:solidFill>
                    <a:srgbClr val="4C8DFF"/>
                  </a:solidFill>
                  <a:latin typeface="+mn-lt"/>
                  <a:ea typeface="+mn-ea"/>
                  <a:cs typeface="+mn-cs"/>
                </a:rPr>
                <a:t>THE PREMISE</a:t>
              </a:r>
            </a:p>
          </p:txBody>
        </p:sp>
        <p:sp>
          <p:nvSpPr>
            <p:cNvPr id="11" name="TextBox 11"/>
            <p:cNvSpPr txBox="1"/>
            <p:nvPr/>
          </p:nvSpPr>
          <p:spPr>
            <a:xfrm>
              <a:off x="794004" y="4023360"/>
              <a:ext cx="208039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GNNs are famously easy to</a:t>
              </a:r>
            </a:p>
          </p:txBody>
        </p:sp>
        <p:sp>
          <p:nvSpPr>
            <p:cNvPr id="12" name="TextBox 12"/>
            <p:cNvSpPr txBox="1"/>
            <p:nvPr/>
          </p:nvSpPr>
          <p:spPr>
            <a:xfrm>
              <a:off x="794004" y="4251960"/>
              <a:ext cx="207995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fool with tiny edge edits —</a:t>
              </a:r>
            </a:p>
          </p:txBody>
        </p:sp>
        <p:sp>
          <p:nvSpPr>
            <p:cNvPr id="13" name="TextBox 13"/>
            <p:cNvSpPr txBox="1"/>
            <p:nvPr/>
          </p:nvSpPr>
          <p:spPr>
            <a:xfrm>
              <a:off x="794004" y="4480560"/>
              <a:ext cx="136108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long read as pure</a:t>
              </a:r>
            </a:p>
          </p:txBody>
        </p:sp>
        <p:sp>
          <p:nvSpPr>
            <p:cNvPr id="14" name="TextBox 14"/>
            <p:cNvSpPr txBox="1"/>
            <p:nvPr/>
          </p:nvSpPr>
          <p:spPr>
            <a:xfrm>
              <a:off x="794004" y="4709160"/>
              <a:ext cx="172455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adversarial fragility.</a:t>
              </a:r>
            </a:p>
          </p:txBody>
        </p:sp>
      </p:grpSp>
      <p:grpSp>
        <p:nvGrpSpPr>
          <p:cNvPr id="23" name="Group 23"/>
          <p:cNvGrpSpPr/>
          <p:nvPr/>
        </p:nvGrpSpPr>
        <p:grpSpPr>
          <a:xfrm>
            <a:off x="3429000" y="3429000"/>
            <a:ext cx="2647950" cy="2381250"/>
            <a:chOff x="3429000" y="3429000"/>
            <a:chExt cx="2647950" cy="2381250"/>
          </a:xfrm>
        </p:grpSpPr>
        <p:sp>
          <p:nvSpPr>
            <p:cNvPr id="16" name="Rectangle 16"/>
            <p:cNvSpPr/>
            <p:nvPr/>
          </p:nvSpPr>
          <p:spPr>
            <a:xfrm>
              <a:off x="3429000" y="3429000"/>
              <a:ext cx="2647950" cy="2381250"/>
            </a:xfrm>
            <a:prstGeom prst="roundRect">
              <a:avLst>
                <a:gd name="adj" fmla="val 5600"/>
              </a:avLst>
            </a:prstGeom>
            <a:solidFill>
              <a:schemeClr val="accent5"/>
            </a:solidFill>
            <a:ln w="14288">
              <a:solidFill>
                <a:srgbClr val="1E3A52"/>
              </a:solidFill>
            </a:ln>
          </p:spPr>
        </p:sp>
        <p:sp>
          <p:nvSpPr>
            <p:cNvPr id="17" name="Rectangle 17"/>
            <p:cNvSpPr/>
            <p:nvPr/>
          </p:nvSpPr>
          <p:spPr>
            <a:xfrm>
              <a:off x="3429000" y="3429000"/>
              <a:ext cx="2647950" cy="57150"/>
            </a:xfrm>
            <a:prstGeom prst="roundRect">
              <a:avLst>
                <a:gd name="adj" fmla="val 50000"/>
              </a:avLst>
            </a:prstGeom>
            <a:solidFill>
              <a:srgbClr val="F5B841"/>
            </a:solidFill>
            <a:ln w="0">
              <a:solidFill>
                <a:srgbClr val="F5B841"/>
              </a:solidFill>
            </a:ln>
          </p:spPr>
        </p:sp>
        <p:sp>
          <p:nvSpPr>
            <p:cNvPr id="18" name="TextBox 18"/>
            <p:cNvSpPr txBox="1"/>
            <p:nvPr/>
          </p:nvSpPr>
          <p:spPr>
            <a:xfrm>
              <a:off x="3614166" y="3734752"/>
              <a:ext cx="1147343" cy="205359"/>
            </a:xfrm>
            <a:prstGeom prst="rect">
              <a:avLst/>
            </a:prstGeom>
            <a:noFill/>
            <a:ln>
              <a:noFill/>
            </a:ln>
          </p:spPr>
          <p:txBody>
            <a:bodyPr wrap="none" lIns="0" tIns="0" rIns="0" bIns="0" anchor="t" anchorCtr="0">
              <a:spAutoFit/>
            </a:bodyPr>
            <a:lstStyle/>
            <a:p>
              <a:pPr algn="l"/>
              <a:r>
                <a:rPr lang="en-US" sz="1050" b="1" spc="75" dirty="0">
                  <a:solidFill>
                    <a:srgbClr val="F5B841"/>
                  </a:solidFill>
                  <a:latin typeface="+mn-lt"/>
                  <a:ea typeface="+mn-ea"/>
                  <a:cs typeface="+mn-cs"/>
                </a:rPr>
                <a:t>THE QUESTION</a:t>
              </a:r>
            </a:p>
          </p:txBody>
        </p:sp>
        <p:sp>
          <p:nvSpPr>
            <p:cNvPr id="19" name="TextBox 19"/>
            <p:cNvSpPr txBox="1"/>
            <p:nvPr/>
          </p:nvSpPr>
          <p:spPr>
            <a:xfrm>
              <a:off x="3613404" y="4023360"/>
              <a:ext cx="131064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Do those 'small'</a:t>
              </a:r>
            </a:p>
          </p:txBody>
        </p:sp>
        <p:sp>
          <p:nvSpPr>
            <p:cNvPr id="20" name="TextBox 20"/>
            <p:cNvSpPr txBox="1"/>
            <p:nvPr/>
          </p:nvSpPr>
          <p:spPr>
            <a:xfrm>
              <a:off x="3613404" y="4251960"/>
              <a:ext cx="180533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perturbations actually</a:t>
              </a:r>
            </a:p>
          </p:txBody>
        </p:sp>
        <p:sp>
          <p:nvSpPr>
            <p:cNvPr id="21" name="TextBox 21"/>
            <p:cNvSpPr txBox="1"/>
            <p:nvPr/>
          </p:nvSpPr>
          <p:spPr>
            <a:xfrm>
              <a:off x="3613404" y="4480560"/>
              <a:ext cx="184571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preserve a node's true</a:t>
              </a:r>
            </a:p>
          </p:txBody>
        </p:sp>
        <p:sp>
          <p:nvSpPr>
            <p:cNvPr id="22" name="TextBox 22"/>
            <p:cNvSpPr txBox="1"/>
            <p:nvPr/>
          </p:nvSpPr>
          <p:spPr>
            <a:xfrm>
              <a:off x="3613404" y="4709160"/>
              <a:ext cx="71490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meaning?</a:t>
              </a:r>
            </a:p>
          </p:txBody>
        </p:sp>
      </p:grpSp>
      <p:grpSp>
        <p:nvGrpSpPr>
          <p:cNvPr id="31" name="Group 31"/>
          <p:cNvGrpSpPr/>
          <p:nvPr/>
        </p:nvGrpSpPr>
        <p:grpSpPr>
          <a:xfrm>
            <a:off x="6248400" y="3429000"/>
            <a:ext cx="2647950" cy="2381250"/>
            <a:chOff x="6248400" y="3429000"/>
            <a:chExt cx="2647950" cy="2381250"/>
          </a:xfrm>
        </p:grpSpPr>
        <p:sp>
          <p:nvSpPr>
            <p:cNvPr id="24" name="Rectangle 24"/>
            <p:cNvSpPr/>
            <p:nvPr/>
          </p:nvSpPr>
          <p:spPr>
            <a:xfrm>
              <a:off x="6248400" y="3429000"/>
              <a:ext cx="2647950" cy="2381250"/>
            </a:xfrm>
            <a:prstGeom prst="roundRect">
              <a:avLst>
                <a:gd name="adj" fmla="val 5600"/>
              </a:avLst>
            </a:prstGeom>
            <a:solidFill>
              <a:schemeClr val="accent5"/>
            </a:solidFill>
            <a:ln w="14288">
              <a:solidFill>
                <a:srgbClr val="1E3A52"/>
              </a:solidFill>
            </a:ln>
          </p:spPr>
        </p:sp>
        <p:sp>
          <p:nvSpPr>
            <p:cNvPr id="25" name="Rectangle 25"/>
            <p:cNvSpPr/>
            <p:nvPr/>
          </p:nvSpPr>
          <p:spPr>
            <a:xfrm>
              <a:off x="6248400" y="3429000"/>
              <a:ext cx="2647950" cy="57150"/>
            </a:xfrm>
            <a:prstGeom prst="roundRect">
              <a:avLst>
                <a:gd name="adj" fmla="val 50000"/>
              </a:avLst>
            </a:prstGeom>
            <a:solidFill>
              <a:srgbClr val="FF6B6B"/>
            </a:solidFill>
            <a:ln w="0">
              <a:solidFill>
                <a:srgbClr val="FF6B6B"/>
              </a:solidFill>
            </a:ln>
          </p:spPr>
        </p:sp>
        <p:sp>
          <p:nvSpPr>
            <p:cNvPr id="26" name="TextBox 26"/>
            <p:cNvSpPr txBox="1"/>
            <p:nvPr/>
          </p:nvSpPr>
          <p:spPr>
            <a:xfrm>
              <a:off x="6433566" y="3734752"/>
              <a:ext cx="1516510" cy="205359"/>
            </a:xfrm>
            <a:prstGeom prst="rect">
              <a:avLst/>
            </a:prstGeom>
            <a:noFill/>
            <a:ln>
              <a:noFill/>
            </a:ln>
          </p:spPr>
          <p:txBody>
            <a:bodyPr wrap="none" lIns="0" tIns="0" rIns="0" bIns="0" anchor="t" anchorCtr="0">
              <a:spAutoFit/>
            </a:bodyPr>
            <a:lstStyle/>
            <a:p>
              <a:pPr algn="l"/>
              <a:r>
                <a:rPr lang="en-US" sz="1050" b="1" spc="75" dirty="0">
                  <a:solidFill>
                    <a:srgbClr val="FF6B6B"/>
                  </a:solidFill>
                  <a:latin typeface="+mn-lt"/>
                  <a:ea typeface="+mn-ea"/>
                  <a:cs typeface="+mn-cs"/>
                </a:rPr>
                <a:t>OVER-ROBUSTNESS</a:t>
              </a:r>
            </a:p>
          </p:txBody>
        </p:sp>
        <p:sp>
          <p:nvSpPr>
            <p:cNvPr id="27" name="TextBox 27"/>
            <p:cNvSpPr txBox="1"/>
            <p:nvPr/>
          </p:nvSpPr>
          <p:spPr>
            <a:xfrm>
              <a:off x="6432804" y="4023360"/>
              <a:ext cx="243297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 semantics-aware view shows</a:t>
              </a:r>
            </a:p>
          </p:txBody>
        </p:sp>
        <p:sp>
          <p:nvSpPr>
            <p:cNvPr id="28" name="TextBox 28"/>
            <p:cNvSpPr txBox="1"/>
            <p:nvPr/>
          </p:nvSpPr>
          <p:spPr>
            <a:xfrm>
              <a:off x="6432804" y="4251960"/>
              <a:ext cx="208936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every GNN is over-robust:</a:t>
              </a:r>
            </a:p>
          </p:txBody>
        </p:sp>
        <p:sp>
          <p:nvSpPr>
            <p:cNvPr id="29" name="TextBox 29"/>
            <p:cNvSpPr txBox="1"/>
            <p:nvPr/>
          </p:nvSpPr>
          <p:spPr>
            <a:xfrm>
              <a:off x="6432804" y="4480560"/>
              <a:ext cx="202341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unchanged even after the</a:t>
              </a:r>
            </a:p>
          </p:txBody>
        </p:sp>
        <p:sp>
          <p:nvSpPr>
            <p:cNvPr id="30" name="TextBox 30"/>
            <p:cNvSpPr txBox="1"/>
            <p:nvPr/>
          </p:nvSpPr>
          <p:spPr>
            <a:xfrm>
              <a:off x="6432804" y="4709160"/>
              <a:ext cx="87645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label flips.</a:t>
              </a:r>
            </a:p>
          </p:txBody>
        </p:sp>
      </p:grpSp>
      <p:grpSp>
        <p:nvGrpSpPr>
          <p:cNvPr id="39" name="Group 39"/>
          <p:cNvGrpSpPr/>
          <p:nvPr/>
        </p:nvGrpSpPr>
        <p:grpSpPr>
          <a:xfrm>
            <a:off x="9067800" y="3429000"/>
            <a:ext cx="2647950" cy="2381250"/>
            <a:chOff x="9067800" y="3429000"/>
            <a:chExt cx="2647950" cy="2381250"/>
          </a:xfrm>
        </p:grpSpPr>
        <p:sp>
          <p:nvSpPr>
            <p:cNvPr id="32" name="Rectangle 32"/>
            <p:cNvSpPr/>
            <p:nvPr/>
          </p:nvSpPr>
          <p:spPr>
            <a:xfrm>
              <a:off x="9067800" y="3429000"/>
              <a:ext cx="2647950" cy="2381250"/>
            </a:xfrm>
            <a:prstGeom prst="roundRect">
              <a:avLst>
                <a:gd name="adj" fmla="val 5600"/>
              </a:avLst>
            </a:prstGeom>
            <a:solidFill>
              <a:schemeClr val="accent5"/>
            </a:solidFill>
            <a:ln w="14288">
              <a:solidFill>
                <a:srgbClr val="1E3A52"/>
              </a:solidFill>
            </a:ln>
          </p:spPr>
        </p:sp>
        <p:sp>
          <p:nvSpPr>
            <p:cNvPr id="33" name="Rectangle 33"/>
            <p:cNvSpPr/>
            <p:nvPr/>
          </p:nvSpPr>
          <p:spPr>
            <a:xfrm>
              <a:off x="9067800" y="3429000"/>
              <a:ext cx="2647950" cy="57150"/>
            </a:xfrm>
            <a:prstGeom prst="roundRect">
              <a:avLst>
                <a:gd name="adj" fmla="val 50000"/>
              </a:avLst>
            </a:prstGeom>
            <a:solidFill>
              <a:srgbClr val="48D597"/>
            </a:solidFill>
            <a:ln w="0">
              <a:solidFill>
                <a:srgbClr val="48D597"/>
              </a:solidFill>
            </a:ln>
          </p:spPr>
        </p:sp>
        <p:sp>
          <p:nvSpPr>
            <p:cNvPr id="34" name="TextBox 34"/>
            <p:cNvSpPr txBox="1"/>
            <p:nvPr/>
          </p:nvSpPr>
          <p:spPr>
            <a:xfrm>
              <a:off x="9252966" y="3734752"/>
              <a:ext cx="600022" cy="205359"/>
            </a:xfrm>
            <a:prstGeom prst="rect">
              <a:avLst/>
            </a:prstGeom>
            <a:noFill/>
            <a:ln>
              <a:noFill/>
            </a:ln>
          </p:spPr>
          <p:txBody>
            <a:bodyPr wrap="none" lIns="0" tIns="0" rIns="0" bIns="0" anchor="t" anchorCtr="0">
              <a:spAutoFit/>
            </a:bodyPr>
            <a:lstStyle/>
            <a:p>
              <a:pPr algn="l"/>
              <a:r>
                <a:rPr lang="en-US" sz="1050" b="1" spc="75" dirty="0">
                  <a:solidFill>
                    <a:srgbClr val="48D597"/>
                  </a:solidFill>
                  <a:latin typeface="+mn-lt"/>
                  <a:ea typeface="+mn-ea"/>
                  <a:cs typeface="+mn-cs"/>
                </a:rPr>
                <a:t>THE FIX</a:t>
              </a:r>
            </a:p>
          </p:txBody>
        </p:sp>
        <p:sp>
          <p:nvSpPr>
            <p:cNvPr id="35" name="TextBox 35"/>
            <p:cNvSpPr txBox="1"/>
            <p:nvPr/>
          </p:nvSpPr>
          <p:spPr>
            <a:xfrm>
              <a:off x="9252204" y="4023360"/>
              <a:ext cx="200407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Feeding the training label</a:t>
              </a:r>
            </a:p>
          </p:txBody>
        </p:sp>
        <p:sp>
          <p:nvSpPr>
            <p:cNvPr id="36" name="TextBox 36"/>
            <p:cNvSpPr txBox="1"/>
            <p:nvPr/>
          </p:nvSpPr>
          <p:spPr>
            <a:xfrm>
              <a:off x="9252204" y="4251960"/>
              <a:ext cx="208803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structure back in via label</a:t>
              </a:r>
            </a:p>
          </p:txBody>
        </p:sp>
        <p:sp>
          <p:nvSpPr>
            <p:cNvPr id="37" name="TextBox 37"/>
            <p:cNvSpPr txBox="1"/>
            <p:nvPr/>
          </p:nvSpPr>
          <p:spPr>
            <a:xfrm>
              <a:off x="9252204" y="4480560"/>
              <a:ext cx="198302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propagation sharply cuts</a:t>
              </a:r>
            </a:p>
          </p:txBody>
        </p:sp>
        <p:sp>
          <p:nvSpPr>
            <p:cNvPr id="38" name="TextBox 38"/>
            <p:cNvSpPr txBox="1"/>
            <p:nvPr/>
          </p:nvSpPr>
          <p:spPr>
            <a:xfrm>
              <a:off x="9252204" y="4709160"/>
              <a:ext cx="143377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over-robustness.</a:t>
              </a:r>
            </a:p>
          </p:txBody>
        </p:sp>
      </p:grpSp>
      <p:sp>
        <p:nvSpPr>
          <p:cNvPr id="40" name="TextBox 40"/>
          <p:cNvSpPr txBox="1"/>
          <p:nvPr/>
        </p:nvSpPr>
        <p:spPr>
          <a:xfrm>
            <a:off x="794004" y="6042660"/>
            <a:ext cx="5706618"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arxiv.org/abs/2305.00851 · cs.cit.tum.de/daml/revisiting-robustness</a:t>
            </a:r>
          </a:p>
        </p:txBody>
      </p:sp>
      <p:sp>
        <p:nvSpPr>
          <p:cNvPr id="41" name="cue_s01_c1_graph_neural_networks_famously_easy" title="cue_s01_c1_graph_neural_networks_famously_easy" descr="cue_s01_c1_graph_neural_networks_famously_easy Graph neural networks are famously easy to fool with small structural changes, and the field has long treated that fragility as pure adversarial vulnerability."/>
          <p:cNvSpPr/>
          <p:nvPr/>
        </p:nvSpPr>
        <p:spPr>
          <a:xfrm>
            <a:off x="609600" y="3429000"/>
            <a:ext cx="2648102"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1_c2_iclr_2023_technical_university_munic" title="cue_s01_c2_iclr_2023_technical_university_munic" descr="cue_s01_c2_iclr_2023_technical_university_munic This ICLR 2023 paper from the Technical University of Munich asks a sharper question: do those small perturbations actually preserve a node's true meaning?"/>
          <p:cNvSpPr/>
          <p:nvPr/>
        </p:nvSpPr>
        <p:spPr>
          <a:xfrm>
            <a:off x="3428390" y="3429000"/>
            <a:ext cx="2648102"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1_c3_semantics_aware_notion_adversarial_g" title="cue_s01_c3_semantics_aware_notion_adversarial_g" descr="cue_s01_c3_semantics_aware_notion_adversarial_g Using a semantics-aware notion of an adversarial graph, the authors show that for low-degree nodes many &quot;small&quot; edge edits already change the ground-truth label, and that every graph neural network they test is over-robust, staying stubbornly unchanged even af"/>
          <p:cNvSpPr/>
          <p:nvPr/>
        </p:nvSpPr>
        <p:spPr>
          <a:xfrm>
            <a:off x="6248399" y="3429000"/>
            <a:ext cx="2648102"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1_c4_they_show_feeding_graph_label" title="cue_s01_c4_they_show_feeding_graph_label" descr="cue_s01_c4_they_show_feeding_graph_label They then show that feeding the training graph's label structure back in through label propagation sharply cuts this over-robustness while improving accuracy and genuine adversarial robustness."/>
          <p:cNvSpPr/>
          <p:nvPr/>
        </p:nvSpPr>
        <p:spPr>
          <a:xfrm>
            <a:off x="9068409" y="3429000"/>
            <a:ext cx="2648102"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850362"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PROBLEM</a:t>
            </a:r>
          </a:p>
        </p:txBody>
      </p:sp>
      <p:sp>
        <p:nvSpPr>
          <p:cNvPr id="4" name="TextBox 4"/>
          <p:cNvSpPr txBox="1"/>
          <p:nvPr/>
        </p:nvSpPr>
        <p:spPr>
          <a:xfrm>
            <a:off x="807720" y="614362"/>
            <a:ext cx="614037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No visual check for a 'small' graph edit</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02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4" name="Group 14"/>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3807054"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What an adversarial example must be</a:t>
              </a:r>
            </a:p>
          </p:txBody>
        </p:sp>
        <p:sp>
          <p:nvSpPr>
            <p:cNvPr id="10" name="TextBox 10"/>
            <p:cNvSpPr txBox="1"/>
            <p:nvPr/>
          </p:nvSpPr>
          <p:spPr>
            <a:xfrm>
              <a:off x="850773" y="1767364"/>
              <a:ext cx="4379236"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A small change that does NOT alter the input's true</a:t>
              </a:r>
            </a:p>
          </p:txBody>
        </p:sp>
        <p:sp>
          <p:nvSpPr>
            <p:cNvPr id="11" name="TextBox 11"/>
            <p:cNvSpPr txBox="1"/>
            <p:nvPr/>
          </p:nvSpPr>
          <p:spPr>
            <a:xfrm>
              <a:off x="850773" y="2005489"/>
              <a:ext cx="4550767"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category. For images a human just looks and verifies.</a:t>
              </a:r>
            </a:p>
          </p:txBody>
        </p:sp>
        <p:sp>
          <p:nvSpPr>
            <p:cNvPr id="12" name="Rectangle 12"/>
            <p:cNvSpPr/>
            <p:nvPr/>
          </p:nvSpPr>
          <p:spPr>
            <a:xfrm>
              <a:off x="857250" y="3028950"/>
              <a:ext cx="2381250" cy="247650"/>
            </a:xfrm>
            <a:prstGeom prst="roundRect">
              <a:avLst>
                <a:gd name="adj" fmla="val 50000"/>
              </a:avLst>
            </a:prstGeom>
            <a:solidFill>
              <a:srgbClr val="F5B841"/>
            </a:solidFill>
            <a:ln w="0">
              <a:solidFill>
                <a:srgbClr val="F5B841"/>
              </a:solidFill>
            </a:ln>
          </p:spPr>
        </p:sp>
        <p:sp>
          <p:nvSpPr>
            <p:cNvPr id="13" name="TextBox 13"/>
            <p:cNvSpPr txBox="1"/>
            <p:nvPr/>
          </p:nvSpPr>
          <p:spPr>
            <a:xfrm>
              <a:off x="936823" y="3087052"/>
              <a:ext cx="2222104"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images: human eyeball verifies</a:t>
              </a:r>
            </a:p>
          </p:txBody>
        </p:sp>
      </p:grpSp>
      <p:grpSp>
        <p:nvGrpSpPr>
          <p:cNvPr id="22" name="Group 22"/>
          <p:cNvGrpSpPr/>
          <p:nvPr/>
        </p:nvGrpSpPr>
        <p:grpSpPr>
          <a:xfrm>
            <a:off x="6248400" y="1162050"/>
            <a:ext cx="5334000" cy="2457450"/>
            <a:chOff x="6248400" y="1162050"/>
            <a:chExt cx="5334000" cy="2457450"/>
          </a:xfrm>
        </p:grpSpPr>
        <p:sp>
          <p:nvSpPr>
            <p:cNvPr id="15" name="Rectangle 15"/>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16" name="Rectangle 16"/>
            <p:cNvSpPr/>
            <p:nvPr/>
          </p:nvSpPr>
          <p:spPr>
            <a:xfrm>
              <a:off x="6248400" y="1162050"/>
              <a:ext cx="57150" cy="2457450"/>
            </a:xfrm>
            <a:prstGeom prst="roundRect">
              <a:avLst>
                <a:gd name="adj" fmla="val 50000"/>
              </a:avLst>
            </a:prstGeom>
            <a:solidFill>
              <a:srgbClr val="4C8DFF"/>
            </a:solidFill>
            <a:ln w="0">
              <a:solidFill>
                <a:srgbClr val="4C8DFF"/>
              </a:solidFill>
            </a:ln>
          </p:spPr>
        </p:sp>
        <p:sp>
          <p:nvSpPr>
            <p:cNvPr id="17" name="TextBox 17"/>
            <p:cNvSpPr txBox="1"/>
            <p:nvPr/>
          </p:nvSpPr>
          <p:spPr>
            <a:xfrm>
              <a:off x="6488430" y="1400175"/>
              <a:ext cx="272586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Graphs have no such check</a:t>
              </a:r>
            </a:p>
          </p:txBody>
        </p:sp>
        <p:sp>
          <p:nvSpPr>
            <p:cNvPr id="18" name="TextBox 18"/>
            <p:cNvSpPr txBox="1"/>
            <p:nvPr/>
          </p:nvSpPr>
          <p:spPr>
            <a:xfrm>
              <a:off x="6489573" y="1767364"/>
              <a:ext cx="4404389"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So the community settled on a proxy: just count the</a:t>
              </a:r>
            </a:p>
          </p:txBody>
        </p:sp>
        <p:sp>
          <p:nvSpPr>
            <p:cNvPr id="19" name="TextBox 19"/>
            <p:cNvSpPr txBox="1"/>
            <p:nvPr/>
          </p:nvSpPr>
          <p:spPr>
            <a:xfrm>
              <a:off x="6489573" y="2005489"/>
              <a:ext cx="3069070"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edited edges with an L-zero budget.</a:t>
              </a:r>
            </a:p>
          </p:txBody>
        </p:sp>
        <p:sp>
          <p:nvSpPr>
            <p:cNvPr id="20" name="Rectangle 20"/>
            <p:cNvSpPr/>
            <p:nvPr/>
          </p:nvSpPr>
          <p:spPr>
            <a:xfrm>
              <a:off x="6496050" y="2838450"/>
              <a:ext cx="4838700" cy="495300"/>
            </a:xfrm>
            <a:prstGeom prst="roundRect">
              <a:avLst>
                <a:gd name="adj" fmla="val 26923"/>
              </a:avLst>
            </a:prstGeom>
            <a:solidFill>
              <a:schemeClr val="accent6"/>
            </a:solidFill>
            <a:ln w="14288">
              <a:solidFill>
                <a:srgbClr val="1E3A52"/>
              </a:solidFill>
            </a:ln>
          </p:spPr>
        </p:sp>
        <p:sp>
          <p:nvSpPr>
            <p:cNvPr id="21" name="TextBox 21"/>
            <p:cNvSpPr txBox="1"/>
            <p:nvPr/>
          </p:nvSpPr>
          <p:spPr>
            <a:xfrm>
              <a:off x="6641592" y="2997518"/>
              <a:ext cx="2731936" cy="264033"/>
            </a:xfrm>
            <a:prstGeom prst="rect">
              <a:avLst/>
            </a:prstGeom>
            <a:noFill/>
            <a:ln>
              <a:noFill/>
            </a:ln>
          </p:spPr>
          <p:txBody>
            <a:bodyPr wrap="none" lIns="0" tIns="0" rIns="0" bIns="0" anchor="t" anchorCtr="0">
              <a:spAutoFit/>
            </a:bodyPr>
            <a:lstStyle/>
            <a:p>
              <a:pPr algn="l"/>
              <a:r>
                <a:rPr lang="en-US" sz="1350" b="1" dirty="0">
                  <a:solidFill>
                    <a:srgbClr val="35D0BA"/>
                  </a:solidFill>
                  <a:latin typeface="Consolas"/>
                  <a:ea typeface="Consolas"/>
                  <a:cs typeface="Consolas"/>
                </a:rPr>
                <a:t>budget = # edited edges &lt;= L0</a:t>
              </a:r>
            </a:p>
          </p:txBody>
        </p:sp>
      </p:grpSp>
      <p:grpSp>
        <p:nvGrpSpPr>
          <p:cNvPr id="44" name="Group 44"/>
          <p:cNvGrpSpPr/>
          <p:nvPr/>
        </p:nvGrpSpPr>
        <p:grpSpPr>
          <a:xfrm>
            <a:off x="609600" y="3810000"/>
            <a:ext cx="5334000" cy="2457450"/>
            <a:chOff x="609600" y="3810000"/>
            <a:chExt cx="5334000" cy="2457450"/>
          </a:xfrm>
        </p:grpSpPr>
        <p:sp>
          <p:nvSpPr>
            <p:cNvPr id="23" name="Rectangle 23"/>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24" name="Rectangle 24"/>
            <p:cNvSpPr/>
            <p:nvPr/>
          </p:nvSpPr>
          <p:spPr>
            <a:xfrm>
              <a:off x="609600" y="3810000"/>
              <a:ext cx="57150" cy="2457450"/>
            </a:xfrm>
            <a:prstGeom prst="roundRect">
              <a:avLst>
                <a:gd name="adj" fmla="val 50000"/>
              </a:avLst>
            </a:prstGeom>
            <a:solidFill>
              <a:srgbClr val="FF6B6B"/>
            </a:solidFill>
            <a:ln w="0">
              <a:solidFill>
                <a:srgbClr val="FF6B6B"/>
              </a:solidFill>
            </a:ln>
          </p:spPr>
        </p:sp>
        <p:sp>
          <p:nvSpPr>
            <p:cNvPr id="25" name="TextBox 25"/>
            <p:cNvSpPr txBox="1"/>
            <p:nvPr/>
          </p:nvSpPr>
          <p:spPr>
            <a:xfrm>
              <a:off x="849630" y="4029075"/>
              <a:ext cx="410397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Low-degree nodes dominate real graphs</a:t>
              </a:r>
            </a:p>
          </p:txBody>
        </p:sp>
        <p:sp>
          <p:nvSpPr>
            <p:cNvPr id="26" name="TextBox 26"/>
            <p:cNvSpPr txBox="1"/>
            <p:nvPr/>
          </p:nvSpPr>
          <p:spPr>
            <a:xfrm>
              <a:off x="851535" y="4317206"/>
              <a:ext cx="4006952" cy="220028"/>
            </a:xfrm>
            <a:prstGeom prst="rect">
              <a:avLst/>
            </a:prstGeom>
            <a:noFill/>
            <a:ln>
              <a:noFill/>
            </a:ln>
          </p:spPr>
          <p:txBody>
            <a:bodyPr wrap="none" lIns="0" tIns="0" rIns="0" bIns="0" anchor="t" anchorCtr="0">
              <a:spAutoFit/>
            </a:bodyPr>
            <a:lstStyle/>
            <a:p>
              <a:pPr algn="l"/>
              <a:r>
                <a:rPr lang="en-US" sz="1120" dirty="0">
                  <a:solidFill>
                    <a:srgbClr val="9DB2C4"/>
                  </a:solidFill>
                  <a:latin typeface="+mn-lt"/>
                  <a:ea typeface="+mn-ea"/>
                  <a:cs typeface="+mn-cs"/>
                </a:rPr>
                <a:t>+2 edges can completely rewire a small neighbourhood:</a:t>
              </a:r>
            </a:p>
          </p:txBody>
        </p:sp>
        <p:sp>
          <p:nvSpPr>
            <p:cNvPr id="27" name="Line 27"/>
            <p:cNvSpPr/>
            <p:nvPr/>
          </p:nvSpPr>
          <p:spPr>
            <a:xfrm>
              <a:off x="1028700" y="5410200"/>
              <a:ext cx="438150" cy="323850"/>
            </a:xfrm>
            <a:custGeom>
              <a:avLst/>
              <a:gdLst/>
              <a:ahLst/>
              <a:cxnLst/>
              <a:rect l="l" t="t" r="r" b="b"/>
              <a:pathLst>
                <a:path w="438150" h="323850">
                  <a:moveTo>
                    <a:pt x="438150" y="0"/>
                  </a:moveTo>
                  <a:lnTo>
                    <a:pt x="0" y="323850"/>
                  </a:lnTo>
                </a:path>
              </a:pathLst>
            </a:custGeom>
            <a:noFill/>
            <a:ln w="19050">
              <a:solidFill>
                <a:srgbClr val="9DB2C4"/>
              </a:solidFill>
            </a:ln>
          </p:spPr>
        </p:sp>
        <p:sp>
          <p:nvSpPr>
            <p:cNvPr id="28" name="Line 28"/>
            <p:cNvSpPr/>
            <p:nvPr/>
          </p:nvSpPr>
          <p:spPr>
            <a:xfrm>
              <a:off x="1466850" y="5410200"/>
              <a:ext cx="438150" cy="323850"/>
            </a:xfrm>
            <a:custGeom>
              <a:avLst/>
              <a:gdLst/>
              <a:ahLst/>
              <a:cxnLst/>
              <a:rect l="l" t="t" r="r" b="b"/>
              <a:pathLst>
                <a:path w="438150" h="323850">
                  <a:moveTo>
                    <a:pt x="0" y="0"/>
                  </a:moveTo>
                  <a:lnTo>
                    <a:pt x="438150" y="323850"/>
                  </a:lnTo>
                </a:path>
              </a:pathLst>
            </a:custGeom>
            <a:noFill/>
            <a:ln w="19050">
              <a:solidFill>
                <a:srgbClr val="9DB2C4"/>
              </a:solidFill>
            </a:ln>
          </p:spPr>
        </p:sp>
        <p:sp>
          <p:nvSpPr>
            <p:cNvPr id="29" name="Ellipse 29"/>
            <p:cNvSpPr/>
            <p:nvPr/>
          </p:nvSpPr>
          <p:spPr>
            <a:xfrm>
              <a:off x="885825" y="5591175"/>
              <a:ext cx="285750" cy="285750"/>
            </a:xfrm>
            <a:prstGeom prst="ellipse">
              <a:avLst/>
            </a:prstGeom>
            <a:solidFill>
              <a:srgbClr val="4C8DFF"/>
            </a:solidFill>
            <a:ln w="19050">
              <a:solidFill>
                <a:srgbClr val="0B1B2B"/>
              </a:solidFill>
            </a:ln>
          </p:spPr>
        </p:sp>
        <p:sp>
          <p:nvSpPr>
            <p:cNvPr id="30" name="Ellipse 30"/>
            <p:cNvSpPr/>
            <p:nvPr/>
          </p:nvSpPr>
          <p:spPr>
            <a:xfrm>
              <a:off x="1762125" y="5591175"/>
              <a:ext cx="285750" cy="285750"/>
            </a:xfrm>
            <a:prstGeom prst="ellipse">
              <a:avLst/>
            </a:prstGeom>
            <a:solidFill>
              <a:srgbClr val="4C8DFF"/>
            </a:solidFill>
            <a:ln w="19050">
              <a:solidFill>
                <a:srgbClr val="0B1B2B"/>
              </a:solidFill>
            </a:ln>
          </p:spPr>
        </p:sp>
        <p:sp>
          <p:nvSpPr>
            <p:cNvPr id="31" name="Ellipse 31"/>
            <p:cNvSpPr/>
            <p:nvPr/>
          </p:nvSpPr>
          <p:spPr>
            <a:xfrm>
              <a:off x="1295400" y="5238750"/>
              <a:ext cx="342900" cy="342900"/>
            </a:xfrm>
            <a:prstGeom prst="ellipse">
              <a:avLst/>
            </a:prstGeom>
            <a:solidFill>
              <a:srgbClr val="35D0BA"/>
            </a:solidFill>
            <a:ln w="19050">
              <a:solidFill>
                <a:srgbClr val="0B1B2B"/>
              </a:solidFill>
            </a:ln>
          </p:spPr>
        </p:sp>
        <p:sp>
          <p:nvSpPr>
            <p:cNvPr id="32" name="TextBox 32"/>
            <p:cNvSpPr txBox="1"/>
            <p:nvPr/>
          </p:nvSpPr>
          <p:spPr>
            <a:xfrm>
              <a:off x="964835" y="5019199"/>
              <a:ext cx="1004030" cy="190690"/>
            </a:xfrm>
            <a:prstGeom prst="rect">
              <a:avLst/>
            </a:prstGeom>
            <a:noFill/>
            <a:ln>
              <a:noFill/>
            </a:ln>
          </p:spPr>
          <p:txBody>
            <a:bodyPr wrap="none" lIns="0" tIns="0" rIns="0" bIns="0" anchor="t" anchorCtr="0">
              <a:spAutoFit/>
            </a:bodyPr>
            <a:lstStyle/>
            <a:p>
              <a:pPr algn="ctr"/>
              <a:r>
                <a:rPr lang="en-US" sz="980" dirty="0">
                  <a:solidFill>
                    <a:srgbClr val="9DB2C4"/>
                  </a:solidFill>
                  <a:latin typeface="+mn-lt"/>
                  <a:ea typeface="+mn-ea"/>
                  <a:cs typeface="+mn-cs"/>
                </a:rPr>
                <a:t>before: class A</a:t>
              </a:r>
            </a:p>
          </p:txBody>
        </p:sp>
        <p:sp>
          <p:nvSpPr>
            <p:cNvPr id="33" name="TextBox 33"/>
            <p:cNvSpPr txBox="1"/>
            <p:nvPr/>
          </p:nvSpPr>
          <p:spPr>
            <a:xfrm>
              <a:off x="3340798" y="5086350"/>
              <a:ext cx="252603" cy="586740"/>
            </a:xfrm>
            <a:prstGeom prst="rect">
              <a:avLst/>
            </a:prstGeom>
            <a:noFill/>
            <a:ln>
              <a:noFill/>
            </a:ln>
          </p:spPr>
          <p:txBody>
            <a:bodyPr wrap="none" lIns="0" tIns="0" rIns="0" bIns="0" anchor="t" anchorCtr="0">
              <a:spAutoFit/>
            </a:bodyPr>
            <a:lstStyle/>
            <a:p>
              <a:pPr algn="ctr"/>
              <a:r>
                <a:rPr lang="en-US" sz="3000" dirty="0">
                  <a:solidFill>
                    <a:srgbClr val="F5B841"/>
                  </a:solidFill>
                  <a:latin typeface="+mn-lt"/>
                  <a:ea typeface="+mn-ea"/>
                  <a:cs typeface="+mn-cs"/>
                </a:rPr>
                <a:t>→</a:t>
              </a:r>
            </a:p>
          </p:txBody>
        </p:sp>
        <p:sp>
          <p:nvSpPr>
            <p:cNvPr id="34" name="Line 34"/>
            <p:cNvSpPr/>
            <p:nvPr/>
          </p:nvSpPr>
          <p:spPr>
            <a:xfrm>
              <a:off x="4419600" y="5314950"/>
              <a:ext cx="666750" cy="419100"/>
            </a:xfrm>
            <a:custGeom>
              <a:avLst/>
              <a:gdLst/>
              <a:ahLst/>
              <a:cxnLst/>
              <a:rect l="l" t="t" r="r" b="b"/>
              <a:pathLst>
                <a:path w="666750" h="419100">
                  <a:moveTo>
                    <a:pt x="666750" y="0"/>
                  </a:moveTo>
                  <a:lnTo>
                    <a:pt x="0" y="419100"/>
                  </a:lnTo>
                </a:path>
              </a:pathLst>
            </a:custGeom>
            <a:noFill/>
            <a:ln w="19050">
              <a:solidFill>
                <a:srgbClr val="FF6B6B"/>
              </a:solidFill>
              <a:custDash>
                <a:ds d="200000" sp="150000"/>
              </a:custDash>
            </a:ln>
          </p:spPr>
        </p:sp>
        <p:sp>
          <p:nvSpPr>
            <p:cNvPr id="35" name="Line 35"/>
            <p:cNvSpPr/>
            <p:nvPr/>
          </p:nvSpPr>
          <p:spPr>
            <a:xfrm>
              <a:off x="4857750" y="5314950"/>
              <a:ext cx="228600" cy="419100"/>
            </a:xfrm>
            <a:custGeom>
              <a:avLst/>
              <a:gdLst/>
              <a:ahLst/>
              <a:cxnLst/>
              <a:rect l="l" t="t" r="r" b="b"/>
              <a:pathLst>
                <a:path w="228600" h="419100">
                  <a:moveTo>
                    <a:pt x="228600" y="0"/>
                  </a:moveTo>
                  <a:lnTo>
                    <a:pt x="0" y="419100"/>
                  </a:lnTo>
                </a:path>
              </a:pathLst>
            </a:custGeom>
            <a:noFill/>
            <a:ln w="19050">
              <a:solidFill>
                <a:srgbClr val="9DB2C4"/>
              </a:solidFill>
            </a:ln>
          </p:spPr>
        </p:sp>
        <p:sp>
          <p:nvSpPr>
            <p:cNvPr id="36" name="Line 36"/>
            <p:cNvSpPr/>
            <p:nvPr/>
          </p:nvSpPr>
          <p:spPr>
            <a:xfrm>
              <a:off x="5086350" y="5314950"/>
              <a:ext cx="228600" cy="419100"/>
            </a:xfrm>
            <a:custGeom>
              <a:avLst/>
              <a:gdLst/>
              <a:ahLst/>
              <a:cxnLst/>
              <a:rect l="l" t="t" r="r" b="b"/>
              <a:pathLst>
                <a:path w="228600" h="419100">
                  <a:moveTo>
                    <a:pt x="0" y="0"/>
                  </a:moveTo>
                  <a:lnTo>
                    <a:pt x="228600" y="419100"/>
                  </a:lnTo>
                </a:path>
              </a:pathLst>
            </a:custGeom>
            <a:noFill/>
            <a:ln w="19050">
              <a:solidFill>
                <a:srgbClr val="9DB2C4"/>
              </a:solidFill>
            </a:ln>
          </p:spPr>
        </p:sp>
        <p:sp>
          <p:nvSpPr>
            <p:cNvPr id="37" name="Line 37"/>
            <p:cNvSpPr/>
            <p:nvPr/>
          </p:nvSpPr>
          <p:spPr>
            <a:xfrm>
              <a:off x="5086350" y="5314950"/>
              <a:ext cx="666750" cy="419100"/>
            </a:xfrm>
            <a:custGeom>
              <a:avLst/>
              <a:gdLst/>
              <a:ahLst/>
              <a:cxnLst/>
              <a:rect l="l" t="t" r="r" b="b"/>
              <a:pathLst>
                <a:path w="666750" h="419100">
                  <a:moveTo>
                    <a:pt x="0" y="0"/>
                  </a:moveTo>
                  <a:lnTo>
                    <a:pt x="666750" y="419100"/>
                  </a:lnTo>
                </a:path>
              </a:pathLst>
            </a:custGeom>
            <a:noFill/>
            <a:ln w="19050">
              <a:solidFill>
                <a:srgbClr val="FF6B6B"/>
              </a:solidFill>
              <a:custDash>
                <a:ds d="200000" sp="150000"/>
              </a:custDash>
            </a:ln>
          </p:spPr>
        </p:sp>
        <p:sp>
          <p:nvSpPr>
            <p:cNvPr id="38" name="Ellipse 38"/>
            <p:cNvSpPr/>
            <p:nvPr/>
          </p:nvSpPr>
          <p:spPr>
            <a:xfrm>
              <a:off x="4276725" y="5591175"/>
              <a:ext cx="285750" cy="285750"/>
            </a:xfrm>
            <a:prstGeom prst="ellipse">
              <a:avLst/>
            </a:prstGeom>
            <a:solidFill>
              <a:srgbClr val="FF6B6B"/>
            </a:solidFill>
            <a:ln w="19050">
              <a:solidFill>
                <a:srgbClr val="0B1B2B"/>
              </a:solidFill>
            </a:ln>
          </p:spPr>
        </p:sp>
        <p:sp>
          <p:nvSpPr>
            <p:cNvPr id="39" name="Ellipse 39"/>
            <p:cNvSpPr/>
            <p:nvPr/>
          </p:nvSpPr>
          <p:spPr>
            <a:xfrm>
              <a:off x="5610225" y="5591175"/>
              <a:ext cx="285750" cy="285750"/>
            </a:xfrm>
            <a:prstGeom prst="ellipse">
              <a:avLst/>
            </a:prstGeom>
            <a:solidFill>
              <a:srgbClr val="FF6B6B"/>
            </a:solidFill>
            <a:ln w="19050">
              <a:solidFill>
                <a:srgbClr val="0B1B2B"/>
              </a:solidFill>
            </a:ln>
          </p:spPr>
        </p:sp>
        <p:sp>
          <p:nvSpPr>
            <p:cNvPr id="40" name="Ellipse 40"/>
            <p:cNvSpPr/>
            <p:nvPr/>
          </p:nvSpPr>
          <p:spPr>
            <a:xfrm>
              <a:off x="4714875" y="5591175"/>
              <a:ext cx="285750" cy="285750"/>
            </a:xfrm>
            <a:prstGeom prst="ellipse">
              <a:avLst/>
            </a:prstGeom>
            <a:solidFill>
              <a:srgbClr val="4C8DFF"/>
            </a:solidFill>
            <a:ln w="19050">
              <a:solidFill>
                <a:srgbClr val="0B1B2B"/>
              </a:solidFill>
            </a:ln>
          </p:spPr>
        </p:sp>
        <p:sp>
          <p:nvSpPr>
            <p:cNvPr id="41" name="Ellipse 41"/>
            <p:cNvSpPr/>
            <p:nvPr/>
          </p:nvSpPr>
          <p:spPr>
            <a:xfrm>
              <a:off x="5172075" y="5591175"/>
              <a:ext cx="285750" cy="285750"/>
            </a:xfrm>
            <a:prstGeom prst="ellipse">
              <a:avLst/>
            </a:prstGeom>
            <a:solidFill>
              <a:srgbClr val="4C8DFF"/>
            </a:solidFill>
            <a:ln w="19050">
              <a:solidFill>
                <a:srgbClr val="0B1B2B"/>
              </a:solidFill>
            </a:ln>
          </p:spPr>
        </p:sp>
        <p:sp>
          <p:nvSpPr>
            <p:cNvPr id="42" name="Ellipse 42"/>
            <p:cNvSpPr/>
            <p:nvPr/>
          </p:nvSpPr>
          <p:spPr>
            <a:xfrm>
              <a:off x="4914900" y="5143500"/>
              <a:ext cx="342900" cy="342900"/>
            </a:xfrm>
            <a:prstGeom prst="ellipse">
              <a:avLst/>
            </a:prstGeom>
            <a:solidFill>
              <a:srgbClr val="FF6B6B"/>
            </a:solidFill>
            <a:ln w="19050">
              <a:solidFill>
                <a:srgbClr val="0B1B2B"/>
              </a:solidFill>
            </a:ln>
          </p:spPr>
        </p:sp>
        <p:sp>
          <p:nvSpPr>
            <p:cNvPr id="43" name="TextBox 43"/>
            <p:cNvSpPr txBox="1"/>
            <p:nvPr/>
          </p:nvSpPr>
          <p:spPr>
            <a:xfrm>
              <a:off x="4527765" y="5019199"/>
              <a:ext cx="1117170" cy="190690"/>
            </a:xfrm>
            <a:prstGeom prst="rect">
              <a:avLst/>
            </a:prstGeom>
            <a:noFill/>
            <a:ln>
              <a:noFill/>
            </a:ln>
          </p:spPr>
          <p:txBody>
            <a:bodyPr wrap="none" lIns="0" tIns="0" rIns="0" bIns="0" anchor="t" anchorCtr="0">
              <a:spAutoFit/>
            </a:bodyPr>
            <a:lstStyle/>
            <a:p>
              <a:pPr algn="ctr"/>
              <a:r>
                <a:rPr lang="en-US" sz="980" dirty="0">
                  <a:solidFill>
                    <a:srgbClr val="FF6B6B"/>
                  </a:solidFill>
                  <a:latin typeface="+mn-lt"/>
                  <a:ea typeface="+mn-ea"/>
                  <a:cs typeface="+mn-cs"/>
                </a:rPr>
                <a:t>after +2: class B</a:t>
              </a:r>
            </a:p>
          </p:txBody>
        </p:sp>
      </p:grpSp>
      <p:grpSp>
        <p:nvGrpSpPr>
          <p:cNvPr id="51" name="Group 51"/>
          <p:cNvGrpSpPr/>
          <p:nvPr/>
        </p:nvGrpSpPr>
        <p:grpSpPr>
          <a:xfrm>
            <a:off x="6248400" y="3810000"/>
            <a:ext cx="5334000" cy="2457450"/>
            <a:chOff x="6248400" y="3810000"/>
            <a:chExt cx="5334000" cy="2457450"/>
          </a:xfrm>
        </p:grpSpPr>
        <p:sp>
          <p:nvSpPr>
            <p:cNvPr id="45" name="Rectangle 45"/>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46" name="Rectangle 46"/>
            <p:cNvSpPr/>
            <p:nvPr/>
          </p:nvSpPr>
          <p:spPr>
            <a:xfrm>
              <a:off x="6248400" y="3810000"/>
              <a:ext cx="57150" cy="2457450"/>
            </a:xfrm>
            <a:prstGeom prst="roundRect">
              <a:avLst>
                <a:gd name="adj" fmla="val 50000"/>
              </a:avLst>
            </a:prstGeom>
            <a:solidFill>
              <a:srgbClr val="F5B841"/>
            </a:solidFill>
            <a:ln w="0">
              <a:solidFill>
                <a:srgbClr val="F5B841"/>
              </a:solidFill>
            </a:ln>
          </p:spPr>
        </p:sp>
        <p:sp>
          <p:nvSpPr>
            <p:cNvPr id="47" name="TextBox 47"/>
            <p:cNvSpPr txBox="1"/>
            <p:nvPr/>
          </p:nvSpPr>
          <p:spPr>
            <a:xfrm>
              <a:off x="6488430" y="4048125"/>
              <a:ext cx="2587676"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unanswered question</a:t>
              </a:r>
            </a:p>
          </p:txBody>
        </p:sp>
        <p:sp>
          <p:nvSpPr>
            <p:cNvPr id="48" name="TextBox 48"/>
            <p:cNvSpPr txBox="1"/>
            <p:nvPr/>
          </p:nvSpPr>
          <p:spPr>
            <a:xfrm>
              <a:off x="6489192" y="4445318"/>
              <a:ext cx="420883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Do standard perturbations really keep a node's</a:t>
              </a:r>
            </a:p>
          </p:txBody>
        </p:sp>
        <p:sp>
          <p:nvSpPr>
            <p:cNvPr id="49" name="TextBox 49"/>
            <p:cNvSpPr txBox="1"/>
            <p:nvPr/>
          </p:nvSpPr>
          <p:spPr>
            <a:xfrm>
              <a:off x="6489192" y="4702492"/>
              <a:ext cx="466618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semantic content — or are we attacking nodes whose</a:t>
              </a:r>
            </a:p>
          </p:txBody>
        </p:sp>
        <p:sp>
          <p:nvSpPr>
            <p:cNvPr id="50" name="TextBox 50"/>
            <p:cNvSpPr txBox="1"/>
            <p:nvPr/>
          </p:nvSpPr>
          <p:spPr>
            <a:xfrm>
              <a:off x="6489192" y="4959668"/>
              <a:ext cx="270342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true label has already flipped?</a:t>
              </a:r>
            </a:p>
          </p:txBody>
        </p:sp>
      </p:grpSp>
      <p:sp>
        <p:nvSpPr>
          <p:cNvPr id="52" name="cue_s02_c1_adversarial_example_supposed_small_c" title="cue_s02_c1_adversarial_example_supposed_small_c" descr="cue_s02_c1_adversarial_example_supposed_small_c An adversarial example is supposed to be a small change that does not alter the true category of the input. For images a human can verify this by looking."/>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2_c2_graphs_such_visual_check_community" title="cue_s02_c2_graphs_such_visual_check_community" descr="cue_s02_c2_graphs_such_visual_check_community For graphs there is no such visual check, so the community settled on counting edited edges with an ℓ-zero budget."/>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2_c3_but_real_graphs_dominated_low_degree" title="cue_s02_c3_but_real_graphs_dominated_low_degree" descr="cue_s02_c3_but_real_graphs_dominated_low_degree But real graphs are dominated by low-degree nodes, and for those nodes even a tiny edge budget can completely rewire the neighbourhood."/>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2_c4_raises_fundamental_previously_unansw" title="cue_s02_c4_raises_fundamental_previously_unansw" descr="cue_s02_c4_raises_fundamental_previously_unansw That raises a fundamental and previously unanswered question: do these standard perturbations really keep a node's semantic content unchanged, or are we attacking nodes whose true label has already flipped?"/>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140190"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MOTIVATION</a:t>
            </a:r>
          </a:p>
        </p:txBody>
      </p:sp>
      <p:sp>
        <p:nvSpPr>
          <p:cNvPr id="4" name="TextBox 4"/>
          <p:cNvSpPr txBox="1"/>
          <p:nvPr/>
        </p:nvSpPr>
        <p:spPr>
          <a:xfrm>
            <a:off x="807720" y="614362"/>
            <a:ext cx="77457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semantics-preserving assumption is untested</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03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4" name="Group 14"/>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4C8DFF"/>
            </a:solidFill>
            <a:ln w="0">
              <a:solidFill>
                <a:srgbClr val="4C8DFF"/>
              </a:solidFill>
            </a:ln>
          </p:spPr>
        </p:sp>
        <p:sp>
          <p:nvSpPr>
            <p:cNvPr id="9" name="TextBox 9"/>
            <p:cNvSpPr txBox="1"/>
            <p:nvPr/>
          </p:nvSpPr>
          <p:spPr>
            <a:xfrm>
              <a:off x="849249" y="1392079"/>
              <a:ext cx="2859649"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A load-bearing assumption</a:t>
              </a:r>
            </a:p>
          </p:txBody>
        </p:sp>
        <p:sp>
          <p:nvSpPr>
            <p:cNvPr id="10" name="Line 10"/>
            <p:cNvSpPr/>
            <p:nvPr/>
          </p:nvSpPr>
          <p:spPr>
            <a:xfrm>
              <a:off x="857250" y="169545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11" name="TextBox 11"/>
            <p:cNvSpPr txBox="1"/>
            <p:nvPr/>
          </p:nvSpPr>
          <p:spPr>
            <a:xfrm>
              <a:off x="850773" y="1862614"/>
              <a:ext cx="4120495"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The belief that GNNs are 'easily fooled' rests on</a:t>
              </a:r>
            </a:p>
          </p:txBody>
        </p:sp>
        <p:sp>
          <p:nvSpPr>
            <p:cNvPr id="12" name="TextBox 12"/>
            <p:cNvSpPr txBox="1"/>
            <p:nvPr/>
          </p:nvSpPr>
          <p:spPr>
            <a:xfrm>
              <a:off x="850773" y="2100739"/>
              <a:ext cx="5001433"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assuming the perturbations used are semantics-preserving</a:t>
              </a:r>
            </a:p>
          </p:txBody>
        </p:sp>
        <p:sp>
          <p:nvSpPr>
            <p:cNvPr id="13" name="TextBox 13"/>
            <p:cNvSpPr txBox="1"/>
            <p:nvPr/>
          </p:nvSpPr>
          <p:spPr>
            <a:xfrm>
              <a:off x="850773" y="2338864"/>
              <a:ext cx="1555161"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in the first place.</a:t>
              </a:r>
            </a:p>
          </p:txBody>
        </p:sp>
      </p:grpSp>
      <p:grpSp>
        <p:nvGrpSpPr>
          <p:cNvPr id="23" name="Group 23"/>
          <p:cNvGrpSpPr/>
          <p:nvPr/>
        </p:nvGrpSpPr>
        <p:grpSpPr>
          <a:xfrm>
            <a:off x="6248400" y="1162050"/>
            <a:ext cx="5334000" cy="2457450"/>
            <a:chOff x="6248400" y="1162050"/>
            <a:chExt cx="5334000" cy="2457450"/>
          </a:xfrm>
        </p:grpSpPr>
        <p:sp>
          <p:nvSpPr>
            <p:cNvPr id="15" name="Rectangle 15"/>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16" name="Rectangle 16"/>
            <p:cNvSpPr/>
            <p:nvPr/>
          </p:nvSpPr>
          <p:spPr>
            <a:xfrm>
              <a:off x="6248400" y="1162050"/>
              <a:ext cx="57150" cy="2457450"/>
            </a:xfrm>
            <a:prstGeom prst="roundRect">
              <a:avLst>
                <a:gd name="adj" fmla="val 50000"/>
              </a:avLst>
            </a:prstGeom>
            <a:solidFill>
              <a:srgbClr val="F5B841"/>
            </a:solidFill>
            <a:ln w="0">
              <a:solidFill>
                <a:srgbClr val="F5B841"/>
              </a:solidFill>
            </a:ln>
          </p:spPr>
        </p:sp>
        <p:sp>
          <p:nvSpPr>
            <p:cNvPr id="17" name="TextBox 17"/>
            <p:cNvSpPr txBox="1"/>
            <p:nvPr/>
          </p:nvSpPr>
          <p:spPr>
            <a:xfrm>
              <a:off x="6488049" y="1392079"/>
              <a:ext cx="2892620"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Existing proxies fall short</a:t>
              </a:r>
            </a:p>
          </p:txBody>
        </p:sp>
        <p:sp>
          <p:nvSpPr>
            <p:cNvPr id="18" name="Line 18"/>
            <p:cNvSpPr/>
            <p:nvPr/>
          </p:nvSpPr>
          <p:spPr>
            <a:xfrm>
              <a:off x="6496050" y="169545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19" name="TextBox 19"/>
            <p:cNvSpPr txBox="1"/>
            <p:nvPr/>
          </p:nvSpPr>
          <p:spPr>
            <a:xfrm>
              <a:off x="6489573" y="1862614"/>
              <a:ext cx="4473564"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Only a few works go beyond raw edge counts — adding</a:t>
              </a:r>
            </a:p>
          </p:txBody>
        </p:sp>
        <p:sp>
          <p:nvSpPr>
            <p:cNvPr id="20" name="TextBox 20"/>
            <p:cNvSpPr txBox="1"/>
            <p:nvPr/>
          </p:nvSpPr>
          <p:spPr>
            <a:xfrm>
              <a:off x="6489573" y="2100739"/>
              <a:ext cx="4619268"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proxies like the degree distribution or homophily. None</a:t>
              </a:r>
            </a:p>
          </p:txBody>
        </p:sp>
        <p:sp>
          <p:nvSpPr>
            <p:cNvPr id="21" name="TextBox 21"/>
            <p:cNvSpPr txBox="1"/>
            <p:nvPr/>
          </p:nvSpPr>
          <p:spPr>
            <a:xfrm>
              <a:off x="6489573" y="2338864"/>
              <a:ext cx="4346641"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directly measure whether the ground-truth label is</a:t>
              </a:r>
            </a:p>
          </p:txBody>
        </p:sp>
        <p:sp>
          <p:nvSpPr>
            <p:cNvPr id="22" name="TextBox 22"/>
            <p:cNvSpPr txBox="1"/>
            <p:nvPr/>
          </p:nvSpPr>
          <p:spPr>
            <a:xfrm>
              <a:off x="6489573" y="2576989"/>
              <a:ext cx="960679"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preserved.</a:t>
              </a:r>
            </a:p>
          </p:txBody>
        </p:sp>
      </p:grpSp>
      <p:grpSp>
        <p:nvGrpSpPr>
          <p:cNvPr id="31" name="Group 31"/>
          <p:cNvGrpSpPr/>
          <p:nvPr/>
        </p:nvGrpSpPr>
        <p:grpSpPr>
          <a:xfrm>
            <a:off x="609600" y="3810000"/>
            <a:ext cx="5334000" cy="2457450"/>
            <a:chOff x="609600" y="3810000"/>
            <a:chExt cx="5334000" cy="2457450"/>
          </a:xfrm>
        </p:grpSpPr>
        <p:sp>
          <p:nvSpPr>
            <p:cNvPr id="24" name="Rectangle 24"/>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25" name="Rectangle 25"/>
            <p:cNvSpPr/>
            <p:nvPr/>
          </p:nvSpPr>
          <p:spPr>
            <a:xfrm>
              <a:off x="609600" y="3810000"/>
              <a:ext cx="57150" cy="2457450"/>
            </a:xfrm>
            <a:prstGeom prst="roundRect">
              <a:avLst>
                <a:gd name="adj" fmla="val 50000"/>
              </a:avLst>
            </a:prstGeom>
            <a:solidFill>
              <a:srgbClr val="FF6B6B"/>
            </a:solidFill>
            <a:ln w="0">
              <a:solidFill>
                <a:srgbClr val="FF6B6B"/>
              </a:solidFill>
            </a:ln>
          </p:spPr>
        </p:sp>
        <p:sp>
          <p:nvSpPr>
            <p:cNvPr id="26" name="TextBox 26"/>
            <p:cNvSpPr txBox="1"/>
            <p:nvPr/>
          </p:nvSpPr>
          <p:spPr>
            <a:xfrm>
              <a:off x="849249" y="4040029"/>
              <a:ext cx="166525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Why it matters</a:t>
              </a:r>
            </a:p>
          </p:txBody>
        </p:sp>
        <p:sp>
          <p:nvSpPr>
            <p:cNvPr id="27" name="Line 27"/>
            <p:cNvSpPr/>
            <p:nvPr/>
          </p:nvSpPr>
          <p:spPr>
            <a:xfrm>
              <a:off x="857250" y="434340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28" name="TextBox 28"/>
            <p:cNvSpPr txBox="1"/>
            <p:nvPr/>
          </p:nvSpPr>
          <p:spPr>
            <a:xfrm>
              <a:off x="850773" y="4510564"/>
              <a:ext cx="4662780"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If a 'small' perturbation has actually changed a node's</a:t>
              </a:r>
            </a:p>
          </p:txBody>
        </p:sp>
        <p:sp>
          <p:nvSpPr>
            <p:cNvPr id="29" name="TextBox 29"/>
            <p:cNvSpPr txBox="1"/>
            <p:nvPr/>
          </p:nvSpPr>
          <p:spPr>
            <a:xfrm>
              <a:off x="850773" y="4748689"/>
              <a:ext cx="4475876"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true class, a model that keeps its prediction fixed is</a:t>
              </a:r>
            </a:p>
          </p:txBody>
        </p:sp>
        <p:sp>
          <p:nvSpPr>
            <p:cNvPr id="30" name="TextBox 30"/>
            <p:cNvSpPr txBox="1"/>
            <p:nvPr/>
          </p:nvSpPr>
          <p:spPr>
            <a:xfrm>
              <a:off x="850773" y="4986814"/>
              <a:ext cx="4734347"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not robustly correct — it is wrong in a new, hidden way.</a:t>
              </a:r>
            </a:p>
          </p:txBody>
        </p:sp>
      </p:grpSp>
      <p:grpSp>
        <p:nvGrpSpPr>
          <p:cNvPr id="38" name="Group 38"/>
          <p:cNvGrpSpPr/>
          <p:nvPr/>
        </p:nvGrpSpPr>
        <p:grpSpPr>
          <a:xfrm>
            <a:off x="6248400" y="3810000"/>
            <a:ext cx="5334000" cy="2457450"/>
            <a:chOff x="6248400" y="3810000"/>
            <a:chExt cx="5334000" cy="2457450"/>
          </a:xfrm>
        </p:grpSpPr>
        <p:sp>
          <p:nvSpPr>
            <p:cNvPr id="32" name="Rectangle 32"/>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33" name="Rectangle 33"/>
            <p:cNvSpPr/>
            <p:nvPr/>
          </p:nvSpPr>
          <p:spPr>
            <a:xfrm>
              <a:off x="6248400" y="3810000"/>
              <a:ext cx="57150" cy="2457450"/>
            </a:xfrm>
            <a:prstGeom prst="roundRect">
              <a:avLst>
                <a:gd name="adj" fmla="val 50000"/>
              </a:avLst>
            </a:prstGeom>
            <a:solidFill>
              <a:srgbClr val="35D0BA"/>
            </a:solidFill>
            <a:ln w="0">
              <a:solidFill>
                <a:srgbClr val="35D0BA"/>
              </a:solidFill>
            </a:ln>
          </p:spPr>
        </p:sp>
        <p:sp>
          <p:nvSpPr>
            <p:cNvPr id="34" name="TextBox 34"/>
            <p:cNvSpPr txBox="1"/>
            <p:nvPr/>
          </p:nvSpPr>
          <p:spPr>
            <a:xfrm>
              <a:off x="6488049" y="4040029"/>
              <a:ext cx="1620377"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What is needed</a:t>
              </a:r>
            </a:p>
          </p:txBody>
        </p:sp>
        <p:sp>
          <p:nvSpPr>
            <p:cNvPr id="35" name="Line 35"/>
            <p:cNvSpPr/>
            <p:nvPr/>
          </p:nvSpPr>
          <p:spPr>
            <a:xfrm>
              <a:off x="6496050" y="434340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36" name="TextBox 36"/>
            <p:cNvSpPr txBox="1"/>
            <p:nvPr/>
          </p:nvSpPr>
          <p:spPr>
            <a:xfrm>
              <a:off x="6489573" y="4510564"/>
              <a:ext cx="3551264"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A principled, label-aware notion of what a</a:t>
              </a:r>
            </a:p>
          </p:txBody>
        </p:sp>
        <p:sp>
          <p:nvSpPr>
            <p:cNvPr id="37" name="TextBox 37"/>
            <p:cNvSpPr txBox="1"/>
            <p:nvPr/>
          </p:nvSpPr>
          <p:spPr>
            <a:xfrm>
              <a:off x="6489573" y="4748689"/>
              <a:ext cx="4355257"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semantics-preserving graph perturbation really is.</a:t>
              </a:r>
            </a:p>
          </p:txBody>
        </p:sp>
      </p:grpSp>
      <p:sp>
        <p:nvSpPr>
          <p:cNvPr id="39" name="cue_s03_c1_belief_graph_neural_networks_easily" title="cue_s03_c1_belief_graph_neural_networks_easily" descr="cue_s03_c1_belief_graph_neural_networks_easily The belief that graph neural networks are easily fooled rests on the assumption that the perturbations used are semantics-preserving."/>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3_c2_only_few_works_beyond_simple" title="cue_s03_c2_only_few_works_beyond_simple" descr="cue_s03_c2_only_few_works_beyond_simple Only a few works go beyond simple edge counts, adding proxies like the degree distribution or homophily metrics. None of them directly measure whether the ground-truth label is preserved."/>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3_c3_matters_because_small_perturbation_a" title="cue_s03_c3_matters_because_small_perturbation_a" descr="cue_s03_c3_matters_because_small_perturbation_a This matters because if a &quot;small&quot; perturbation has actually changed a node's true class, then a model that keeps its prediction fixed is not being robustly correct, it is being wrong in a new and hidden way."/>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3_c4_authors_argue_need_principled_label" title="cue_s03_c4_authors_argue_need_principled_label" descr="cue_s03_c4_authors_argue_need_principled_label The authors argue we need a principled, label-aware notion of what a semantics-preserving graph perturbation really is."/>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333409"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CONTRIBUTION</a:t>
            </a:r>
          </a:p>
        </p:txBody>
      </p:sp>
      <p:sp>
        <p:nvSpPr>
          <p:cNvPr id="4" name="TextBox 4"/>
          <p:cNvSpPr txBox="1"/>
          <p:nvPr/>
        </p:nvSpPr>
        <p:spPr>
          <a:xfrm>
            <a:off x="807720" y="614362"/>
            <a:ext cx="294261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Four contributions</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04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6" name="Group 16"/>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Ellipse 8"/>
            <p:cNvSpPr/>
            <p:nvPr/>
          </p:nvSpPr>
          <p:spPr>
            <a:xfrm>
              <a:off x="819150" y="1390650"/>
              <a:ext cx="381000" cy="381000"/>
            </a:xfrm>
            <a:prstGeom prst="ellipse">
              <a:avLst/>
            </a:prstGeom>
            <a:solidFill>
              <a:srgbClr val="35D0BA"/>
            </a:solidFill>
            <a:ln>
              <a:noFill/>
            </a:ln>
          </p:spPr>
        </p:sp>
        <p:sp>
          <p:nvSpPr>
            <p:cNvPr id="9" name="TextBox 9"/>
            <p:cNvSpPr txBox="1"/>
            <p:nvPr/>
          </p:nvSpPr>
          <p:spPr>
            <a:xfrm>
              <a:off x="937130" y="1469708"/>
              <a:ext cx="145040" cy="322707"/>
            </a:xfrm>
            <a:prstGeom prst="rect">
              <a:avLst/>
            </a:prstGeom>
            <a:noFill/>
            <a:ln>
              <a:noFill/>
            </a:ln>
          </p:spPr>
          <p:txBody>
            <a:bodyPr wrap="none" lIns="0" tIns="0" rIns="0" bIns="0" anchor="t" anchorCtr="0">
              <a:spAutoFit/>
            </a:bodyPr>
            <a:lstStyle/>
            <a:p>
              <a:pPr algn="ctr"/>
              <a:r>
                <a:rPr lang="en-US" sz="1650" b="1" dirty="0">
                  <a:solidFill>
                    <a:srgbClr val="08131F"/>
                  </a:solidFill>
                  <a:latin typeface="+mn-lt"/>
                  <a:ea typeface="+mn-ea"/>
                  <a:cs typeface="+mn-cs"/>
                </a:rPr>
                <a:t>1</a:t>
              </a:r>
            </a:p>
          </p:txBody>
        </p:sp>
        <p:sp>
          <p:nvSpPr>
            <p:cNvPr id="10" name="TextBox 10"/>
            <p:cNvSpPr txBox="1"/>
            <p:nvPr/>
          </p:nvSpPr>
          <p:spPr>
            <a:xfrm>
              <a:off x="1344549" y="1477804"/>
              <a:ext cx="2614015"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Define over-robustness</a:t>
              </a:r>
            </a:p>
          </p:txBody>
        </p:sp>
        <p:sp>
          <p:nvSpPr>
            <p:cNvPr id="11" name="Line 11"/>
            <p:cNvSpPr/>
            <p:nvPr/>
          </p:nvSpPr>
          <p:spPr>
            <a:xfrm>
              <a:off x="857250" y="179070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12" name="TextBox 12"/>
            <p:cNvSpPr txBox="1"/>
            <p:nvPr/>
          </p:nvSpPr>
          <p:spPr>
            <a:xfrm>
              <a:off x="851154" y="1965960"/>
              <a:ext cx="4880063"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A semantics-aware notion of adversarial robustness for node</a:t>
              </a:r>
            </a:p>
          </p:txBody>
        </p:sp>
        <p:sp>
          <p:nvSpPr>
            <p:cNvPr id="13" name="TextBox 13"/>
            <p:cNvSpPr txBox="1"/>
            <p:nvPr/>
          </p:nvSpPr>
          <p:spPr>
            <a:xfrm>
              <a:off x="851154" y="2194560"/>
              <a:ext cx="4083101"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predictions — and with it a new concept for graphs:</a:t>
              </a:r>
            </a:p>
          </p:txBody>
        </p:sp>
        <p:sp>
          <p:nvSpPr>
            <p:cNvPr id="14" name="TextBox 14"/>
            <p:cNvSpPr txBox="1"/>
            <p:nvPr/>
          </p:nvSpPr>
          <p:spPr>
            <a:xfrm>
              <a:off x="851154" y="2423160"/>
              <a:ext cx="3848862"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over-robustness, robustness against admissible</a:t>
              </a:r>
            </a:p>
          </p:txBody>
        </p:sp>
        <p:sp>
          <p:nvSpPr>
            <p:cNvPr id="15" name="TextBox 15"/>
            <p:cNvSpPr txBox="1"/>
            <p:nvPr/>
          </p:nvSpPr>
          <p:spPr>
            <a:xfrm>
              <a:off x="851154" y="2651760"/>
              <a:ext cx="4882744"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perturbations whose ground-truth label has already changed.</a:t>
              </a:r>
            </a:p>
          </p:txBody>
        </p:sp>
      </p:grpSp>
      <p:grpSp>
        <p:nvGrpSpPr>
          <p:cNvPr id="26" name="Group 26"/>
          <p:cNvGrpSpPr/>
          <p:nvPr/>
        </p:nvGrpSpPr>
        <p:grpSpPr>
          <a:xfrm>
            <a:off x="6248400" y="1162050"/>
            <a:ext cx="5334000" cy="2457450"/>
            <a:chOff x="6248400" y="1162050"/>
            <a:chExt cx="5334000" cy="2457450"/>
          </a:xfrm>
        </p:grpSpPr>
        <p:sp>
          <p:nvSpPr>
            <p:cNvPr id="17" name="Rectangle 17"/>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18" name="Ellipse 18"/>
            <p:cNvSpPr/>
            <p:nvPr/>
          </p:nvSpPr>
          <p:spPr>
            <a:xfrm>
              <a:off x="6457950" y="1390650"/>
              <a:ext cx="381000" cy="381000"/>
            </a:xfrm>
            <a:prstGeom prst="ellipse">
              <a:avLst/>
            </a:prstGeom>
            <a:solidFill>
              <a:srgbClr val="4C8DFF"/>
            </a:solidFill>
            <a:ln>
              <a:noFill/>
            </a:ln>
          </p:spPr>
        </p:sp>
        <p:sp>
          <p:nvSpPr>
            <p:cNvPr id="19" name="TextBox 19"/>
            <p:cNvSpPr txBox="1"/>
            <p:nvPr/>
          </p:nvSpPr>
          <p:spPr>
            <a:xfrm>
              <a:off x="6575930" y="1469708"/>
              <a:ext cx="145040" cy="322707"/>
            </a:xfrm>
            <a:prstGeom prst="rect">
              <a:avLst/>
            </a:prstGeom>
            <a:noFill/>
            <a:ln>
              <a:noFill/>
            </a:ln>
          </p:spPr>
          <p:txBody>
            <a:bodyPr wrap="none" lIns="0" tIns="0" rIns="0" bIns="0" anchor="t" anchorCtr="0">
              <a:spAutoFit/>
            </a:bodyPr>
            <a:lstStyle/>
            <a:p>
              <a:pPr algn="ctr"/>
              <a:r>
                <a:rPr lang="en-US" sz="1650" b="1" dirty="0">
                  <a:solidFill>
                    <a:srgbClr val="08131F"/>
                  </a:solidFill>
                  <a:latin typeface="+mn-lt"/>
                  <a:ea typeface="+mn-ea"/>
                  <a:cs typeface="+mn-cs"/>
                </a:rPr>
                <a:t>2</a:t>
              </a:r>
            </a:p>
          </p:txBody>
        </p:sp>
        <p:sp>
          <p:nvSpPr>
            <p:cNvPr id="20" name="TextBox 20"/>
            <p:cNvSpPr txBox="1"/>
            <p:nvPr/>
          </p:nvSpPr>
          <p:spPr>
            <a:xfrm>
              <a:off x="6983349" y="1477804"/>
              <a:ext cx="2254760"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Measure it on CSBMs</a:t>
              </a:r>
            </a:p>
          </p:txBody>
        </p:sp>
        <p:sp>
          <p:nvSpPr>
            <p:cNvPr id="21" name="Line 21"/>
            <p:cNvSpPr/>
            <p:nvPr/>
          </p:nvSpPr>
          <p:spPr>
            <a:xfrm>
              <a:off x="6496050" y="179070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22" name="TextBox 22"/>
            <p:cNvSpPr txBox="1"/>
            <p:nvPr/>
          </p:nvSpPr>
          <p:spPr>
            <a:xfrm>
              <a:off x="6489954" y="1965960"/>
              <a:ext cx="3996690"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Using Contextual Stochastic Block Models, common</a:t>
              </a:r>
            </a:p>
          </p:txBody>
        </p:sp>
        <p:sp>
          <p:nvSpPr>
            <p:cNvPr id="23" name="TextBox 23"/>
            <p:cNvSpPr txBox="1"/>
            <p:nvPr/>
          </p:nvSpPr>
          <p:spPr>
            <a:xfrm>
              <a:off x="6489954" y="2194560"/>
              <a:ext cx="4583887"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perturbation sets contain a large fraction of graphs with</a:t>
              </a:r>
            </a:p>
          </p:txBody>
        </p:sp>
        <p:sp>
          <p:nvSpPr>
            <p:cNvPr id="24" name="TextBox 24"/>
            <p:cNvSpPr txBox="1"/>
            <p:nvPr/>
          </p:nvSpPr>
          <p:spPr>
            <a:xfrm>
              <a:off x="6489954" y="2423160"/>
              <a:ext cx="4680460"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changed semantics, and every examined GNN is significantly</a:t>
              </a:r>
            </a:p>
          </p:txBody>
        </p:sp>
        <p:sp>
          <p:nvSpPr>
            <p:cNvPr id="25" name="TextBox 25"/>
            <p:cNvSpPr txBox="1"/>
            <p:nvPr/>
          </p:nvSpPr>
          <p:spPr>
            <a:xfrm>
              <a:off x="6489954" y="2651760"/>
              <a:ext cx="3614623"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over-robust — matched on real-world graphs.</a:t>
              </a:r>
            </a:p>
          </p:txBody>
        </p:sp>
      </p:grpSp>
      <p:grpSp>
        <p:nvGrpSpPr>
          <p:cNvPr id="35" name="Group 35"/>
          <p:cNvGrpSpPr/>
          <p:nvPr/>
        </p:nvGrpSpPr>
        <p:grpSpPr>
          <a:xfrm>
            <a:off x="609600" y="3810000"/>
            <a:ext cx="5334000" cy="2457450"/>
            <a:chOff x="609600" y="3810000"/>
            <a:chExt cx="5334000" cy="2457450"/>
          </a:xfrm>
        </p:grpSpPr>
        <p:sp>
          <p:nvSpPr>
            <p:cNvPr id="27" name="Rectangle 27"/>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28" name="Ellipse 28"/>
            <p:cNvSpPr/>
            <p:nvPr/>
          </p:nvSpPr>
          <p:spPr>
            <a:xfrm>
              <a:off x="819150" y="4038600"/>
              <a:ext cx="381000" cy="381000"/>
            </a:xfrm>
            <a:prstGeom prst="ellipse">
              <a:avLst/>
            </a:prstGeom>
            <a:solidFill>
              <a:srgbClr val="F5B841"/>
            </a:solidFill>
            <a:ln>
              <a:noFill/>
            </a:ln>
          </p:spPr>
        </p:sp>
        <p:sp>
          <p:nvSpPr>
            <p:cNvPr id="29" name="TextBox 29"/>
            <p:cNvSpPr txBox="1"/>
            <p:nvPr/>
          </p:nvSpPr>
          <p:spPr>
            <a:xfrm>
              <a:off x="937130" y="4117658"/>
              <a:ext cx="145040" cy="322707"/>
            </a:xfrm>
            <a:prstGeom prst="rect">
              <a:avLst/>
            </a:prstGeom>
            <a:noFill/>
            <a:ln>
              <a:noFill/>
            </a:ln>
          </p:spPr>
          <p:txBody>
            <a:bodyPr wrap="none" lIns="0" tIns="0" rIns="0" bIns="0" anchor="t" anchorCtr="0">
              <a:spAutoFit/>
            </a:bodyPr>
            <a:lstStyle/>
            <a:p>
              <a:pPr algn="ctr"/>
              <a:r>
                <a:rPr lang="en-US" sz="1650" b="1" dirty="0">
                  <a:solidFill>
                    <a:srgbClr val="08131F"/>
                  </a:solidFill>
                  <a:latin typeface="+mn-lt"/>
                  <a:ea typeface="+mn-ea"/>
                  <a:cs typeface="+mn-cs"/>
                </a:rPr>
                <a:t>3</a:t>
              </a:r>
            </a:p>
          </p:txBody>
        </p:sp>
        <p:sp>
          <p:nvSpPr>
            <p:cNvPr id="30" name="TextBox 30"/>
            <p:cNvSpPr txBox="1"/>
            <p:nvPr/>
          </p:nvSpPr>
          <p:spPr>
            <a:xfrm>
              <a:off x="1344549" y="4125754"/>
              <a:ext cx="3138867"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A free fix: label propagation</a:t>
              </a:r>
            </a:p>
          </p:txBody>
        </p:sp>
        <p:sp>
          <p:nvSpPr>
            <p:cNvPr id="31" name="Line 31"/>
            <p:cNvSpPr/>
            <p:nvPr/>
          </p:nvSpPr>
          <p:spPr>
            <a:xfrm>
              <a:off x="857250" y="443865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32" name="TextBox 32"/>
            <p:cNvSpPr txBox="1"/>
            <p:nvPr/>
          </p:nvSpPr>
          <p:spPr>
            <a:xfrm>
              <a:off x="851154" y="4613910"/>
              <a:ext cx="4516286"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Folding the known label structure into inference via label</a:t>
              </a:r>
            </a:p>
          </p:txBody>
        </p:sp>
        <p:sp>
          <p:nvSpPr>
            <p:cNvPr id="33" name="TextBox 33"/>
            <p:cNvSpPr txBox="1"/>
            <p:nvPr/>
          </p:nvSpPr>
          <p:spPr>
            <a:xfrm>
              <a:off x="851154" y="4842510"/>
              <a:ext cx="4495038"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propagation significantly reduces over-robustness at no</a:t>
              </a:r>
            </a:p>
          </p:txBody>
        </p:sp>
        <p:sp>
          <p:nvSpPr>
            <p:cNvPr id="34" name="TextBox 34"/>
            <p:cNvSpPr txBox="1"/>
            <p:nvPr/>
          </p:nvSpPr>
          <p:spPr>
            <a:xfrm>
              <a:off x="851154" y="5071110"/>
              <a:ext cx="4180027"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cost to accuracy or genuine adversarial robustness.</a:t>
              </a:r>
            </a:p>
          </p:txBody>
        </p:sp>
      </p:grpSp>
      <p:grpSp>
        <p:nvGrpSpPr>
          <p:cNvPr id="43" name="Group 43"/>
          <p:cNvGrpSpPr/>
          <p:nvPr/>
        </p:nvGrpSpPr>
        <p:grpSpPr>
          <a:xfrm>
            <a:off x="6248400" y="3810000"/>
            <a:ext cx="5334000" cy="2457450"/>
            <a:chOff x="6248400" y="3810000"/>
            <a:chExt cx="5334000" cy="2457450"/>
          </a:xfrm>
        </p:grpSpPr>
        <p:sp>
          <p:nvSpPr>
            <p:cNvPr id="36" name="Rectangle 36"/>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37" name="Ellipse 37"/>
            <p:cNvSpPr/>
            <p:nvPr/>
          </p:nvSpPr>
          <p:spPr>
            <a:xfrm>
              <a:off x="6457950" y="4038600"/>
              <a:ext cx="381000" cy="381000"/>
            </a:xfrm>
            <a:prstGeom prst="ellipse">
              <a:avLst/>
            </a:prstGeom>
            <a:solidFill>
              <a:srgbClr val="48D597"/>
            </a:solidFill>
            <a:ln>
              <a:noFill/>
            </a:ln>
          </p:spPr>
        </p:sp>
        <p:sp>
          <p:nvSpPr>
            <p:cNvPr id="38" name="TextBox 38"/>
            <p:cNvSpPr txBox="1"/>
            <p:nvPr/>
          </p:nvSpPr>
          <p:spPr>
            <a:xfrm>
              <a:off x="6575930" y="4117658"/>
              <a:ext cx="145040" cy="322707"/>
            </a:xfrm>
            <a:prstGeom prst="rect">
              <a:avLst/>
            </a:prstGeom>
            <a:noFill/>
            <a:ln>
              <a:noFill/>
            </a:ln>
          </p:spPr>
          <p:txBody>
            <a:bodyPr wrap="none" lIns="0" tIns="0" rIns="0" bIns="0" anchor="t" anchorCtr="0">
              <a:spAutoFit/>
            </a:bodyPr>
            <a:lstStyle/>
            <a:p>
              <a:pPr algn="ctr"/>
              <a:r>
                <a:rPr lang="en-US" sz="1650" b="1" dirty="0">
                  <a:solidFill>
                    <a:srgbClr val="08131F"/>
                  </a:solidFill>
                  <a:latin typeface="+mn-lt"/>
                  <a:ea typeface="+mn-ea"/>
                  <a:cs typeface="+mn-cs"/>
                </a:rPr>
                <a:t>4</a:t>
              </a:r>
            </a:p>
          </p:txBody>
        </p:sp>
        <p:sp>
          <p:nvSpPr>
            <p:cNvPr id="39" name="TextBox 39"/>
            <p:cNvSpPr txBox="1"/>
            <p:nvPr/>
          </p:nvSpPr>
          <p:spPr>
            <a:xfrm>
              <a:off x="6983349" y="4125754"/>
              <a:ext cx="237920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No inductive tradeoff</a:t>
              </a:r>
            </a:p>
          </p:txBody>
        </p:sp>
        <p:sp>
          <p:nvSpPr>
            <p:cNvPr id="40" name="Line 40"/>
            <p:cNvSpPr/>
            <p:nvPr/>
          </p:nvSpPr>
          <p:spPr>
            <a:xfrm>
              <a:off x="6496050" y="443865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41" name="TextBox 41"/>
            <p:cNvSpPr txBox="1"/>
            <p:nvPr/>
          </p:nvSpPr>
          <p:spPr>
            <a:xfrm>
              <a:off x="6489954" y="4613910"/>
              <a:ext cx="3926586"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Classifying an inductively sampled node carries no</a:t>
              </a:r>
            </a:p>
          </p:txBody>
        </p:sp>
        <p:sp>
          <p:nvSpPr>
            <p:cNvPr id="42" name="TextBox 42"/>
            <p:cNvSpPr txBox="1"/>
            <p:nvPr/>
          </p:nvSpPr>
          <p:spPr>
            <a:xfrm>
              <a:off x="6489954" y="4842510"/>
              <a:ext cx="3008833"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robustness-accuracy tradeoff at all.</a:t>
              </a:r>
            </a:p>
          </p:txBody>
        </p:sp>
      </p:grpSp>
      <p:sp>
        <p:nvSpPr>
          <p:cNvPr id="44" name="cue_s04_c1_makes_four_contributions" title="cue_s04_c1_makes_four_contributions" descr="cue_s04_c1_makes_four_contributions The paper makes four contributions."/>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4_c2_first_defines_semantics_aware_notion" title="cue_s04_c2_first_defines_semantics_aware_notion" descr="cue_s04_c2_first_defines_semantics_aware_notion First, it defines a semantics-aware notion of adversarial robustness for node-level predictions, and with it a brand new concept for the graph domain called over-robustness, which is robustness against admissible perturbations whose ground-truth label has alre"/>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4_c3_second_contextual_stochastic_block_m" title="cue_s04_c3_second_contextual_stochastic_block_m" descr="cue_s04_c3_second_contextual_stochastic_block_m Second, using Contextual Stochastic Block Models it shows that common perturbation sets contain a large fraction of graphs with changed semantics and that every examined GNN is significantly over-robust, with matching patterns on real-world graphs."/>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4_c4_third_shows_folding_known_label" title="cue_s04_c4_third_shows_folding_known_label" descr="cue_s04_c4_third_shows_folding_known_label Third, it shows that folding the known label structure into inference through label propagation significantly reduces over-robustness with no cost to accuracy or adversarial robustness. Fourth, it proves that classifying an inductively sampled node carries no"/>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737025"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METHOD</a:t>
            </a:r>
          </a:p>
        </p:txBody>
      </p:sp>
      <p:sp>
        <p:nvSpPr>
          <p:cNvPr id="4" name="TextBox 4"/>
          <p:cNvSpPr txBox="1"/>
          <p:nvPr/>
        </p:nvSpPr>
        <p:spPr>
          <a:xfrm>
            <a:off x="807720" y="614362"/>
            <a:ext cx="725311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trusted reference that knows the true label</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05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5" name="Group 15"/>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276804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Bayes-optimal reference g</a:t>
              </a:r>
            </a:p>
          </p:txBody>
        </p:sp>
        <p:sp>
          <p:nvSpPr>
            <p:cNvPr id="10" name="TextBox 10"/>
            <p:cNvSpPr txBox="1"/>
            <p:nvPr/>
          </p:nvSpPr>
          <p:spPr>
            <a:xfrm>
              <a:off x="851154" y="1775460"/>
              <a:ext cx="4216930"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On CSBMs the true generative model is known, so the</a:t>
              </a:r>
            </a:p>
          </p:txBody>
        </p:sp>
        <p:sp>
          <p:nvSpPr>
            <p:cNvPr id="11" name="TextBox 11"/>
            <p:cNvSpPr txBox="1"/>
            <p:nvPr/>
          </p:nvSpPr>
          <p:spPr>
            <a:xfrm>
              <a:off x="851154" y="2004060"/>
              <a:ext cx="4508411"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Bayes-optimal classifier — the most likely class given the</a:t>
              </a:r>
            </a:p>
          </p:txBody>
        </p:sp>
        <p:sp>
          <p:nvSpPr>
            <p:cNvPr id="12" name="TextBox 12"/>
            <p:cNvSpPr txBox="1"/>
            <p:nvPr/>
          </p:nvSpPr>
          <p:spPr>
            <a:xfrm>
              <a:off x="851154" y="2232660"/>
              <a:ext cx="4591964"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data — is derivable and used as ground-truth reference g.</a:t>
              </a:r>
            </a:p>
          </p:txBody>
        </p:sp>
        <p:sp>
          <p:nvSpPr>
            <p:cNvPr id="13" name="Rectangle 13"/>
            <p:cNvSpPr/>
            <p:nvPr/>
          </p:nvSpPr>
          <p:spPr>
            <a:xfrm>
              <a:off x="857250" y="3028950"/>
              <a:ext cx="4838700" cy="419100"/>
            </a:xfrm>
            <a:prstGeom prst="roundRect">
              <a:avLst>
                <a:gd name="adj" fmla="val 31818"/>
              </a:avLst>
            </a:prstGeom>
            <a:solidFill>
              <a:schemeClr val="accent6"/>
            </a:solidFill>
            <a:ln w="14288">
              <a:solidFill>
                <a:srgbClr val="1E3A52"/>
              </a:solidFill>
            </a:ln>
          </p:spPr>
        </p:sp>
        <p:sp>
          <p:nvSpPr>
            <p:cNvPr id="14" name="TextBox 14"/>
            <p:cNvSpPr txBox="1"/>
            <p:nvPr/>
          </p:nvSpPr>
          <p:spPr>
            <a:xfrm>
              <a:off x="1003173" y="3158014"/>
              <a:ext cx="2834786" cy="249364"/>
            </a:xfrm>
            <a:prstGeom prst="rect">
              <a:avLst/>
            </a:prstGeom>
            <a:noFill/>
            <a:ln>
              <a:noFill/>
            </a:ln>
          </p:spPr>
          <p:txBody>
            <a:bodyPr wrap="none" lIns="0" tIns="0" rIns="0" bIns="0" anchor="t" anchorCtr="0">
              <a:spAutoFit/>
            </a:bodyPr>
            <a:lstStyle/>
            <a:p>
              <a:pPr algn="l"/>
              <a:r>
                <a:rPr lang="en-US" sz="1280" b="1" dirty="0">
                  <a:solidFill>
                    <a:srgbClr val="35D0BA"/>
                  </a:solidFill>
                  <a:latin typeface="Consolas"/>
                  <a:ea typeface="Consolas"/>
                  <a:cs typeface="Consolas"/>
                </a:rPr>
                <a:t>g = argmax_c P(class = c | data)</a:t>
              </a:r>
            </a:p>
          </p:txBody>
        </p:sp>
      </p:grpSp>
      <p:grpSp>
        <p:nvGrpSpPr>
          <p:cNvPr id="28" name="Group 28"/>
          <p:cNvGrpSpPr/>
          <p:nvPr/>
        </p:nvGrpSpPr>
        <p:grpSpPr>
          <a:xfrm>
            <a:off x="6248400" y="1162050"/>
            <a:ext cx="5334000" cy="2457450"/>
            <a:chOff x="6248400" y="1162050"/>
            <a:chExt cx="5334000" cy="2457450"/>
          </a:xfrm>
        </p:grpSpPr>
        <p:sp>
          <p:nvSpPr>
            <p:cNvPr id="16" name="Rectangle 16"/>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17" name="Rectangle 17"/>
            <p:cNvSpPr/>
            <p:nvPr/>
          </p:nvSpPr>
          <p:spPr>
            <a:xfrm>
              <a:off x="6248400" y="1162050"/>
              <a:ext cx="57150" cy="2457450"/>
            </a:xfrm>
            <a:prstGeom prst="roundRect">
              <a:avLst>
                <a:gd name="adj" fmla="val 50000"/>
              </a:avLst>
            </a:prstGeom>
            <a:solidFill>
              <a:srgbClr val="FF6B6B"/>
            </a:solidFill>
            <a:ln w="0">
              <a:solidFill>
                <a:srgbClr val="FF6B6B"/>
              </a:solidFill>
            </a:ln>
          </p:spPr>
        </p:sp>
        <p:sp>
          <p:nvSpPr>
            <p:cNvPr id="18" name="TextBox 18"/>
            <p:cNvSpPr txBox="1"/>
            <p:nvPr/>
          </p:nvSpPr>
          <p:spPr>
            <a:xfrm>
              <a:off x="6488430" y="1381125"/>
              <a:ext cx="247144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An over-robust example</a:t>
              </a:r>
            </a:p>
          </p:txBody>
        </p:sp>
        <p:sp>
          <p:nvSpPr>
            <p:cNvPr id="19" name="Ellipse 19"/>
            <p:cNvSpPr/>
            <p:nvPr/>
          </p:nvSpPr>
          <p:spPr>
            <a:xfrm>
              <a:off x="6553200" y="1743075"/>
              <a:ext cx="114300" cy="114300"/>
            </a:xfrm>
            <a:prstGeom prst="ellipse">
              <a:avLst/>
            </a:prstGeom>
            <a:solidFill>
              <a:srgbClr val="48D597"/>
            </a:solidFill>
            <a:ln>
              <a:noFill/>
            </a:ln>
          </p:spPr>
        </p:sp>
        <p:sp>
          <p:nvSpPr>
            <p:cNvPr id="20" name="TextBox 20"/>
            <p:cNvSpPr txBox="1"/>
            <p:nvPr/>
          </p:nvSpPr>
          <p:spPr>
            <a:xfrm>
              <a:off x="6775704" y="1718310"/>
              <a:ext cx="1793215"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Consolas"/>
                  <a:ea typeface="Consolas"/>
                  <a:cs typeface="Consolas"/>
                </a:rPr>
                <a:t>model f = reference g</a:t>
              </a:r>
            </a:p>
          </p:txBody>
        </p:sp>
        <p:sp>
          <p:nvSpPr>
            <p:cNvPr id="21" name="TextBox 21"/>
            <p:cNvSpPr txBox="1"/>
            <p:nvPr/>
          </p:nvSpPr>
          <p:spPr>
            <a:xfrm>
              <a:off x="10966996" y="1742599"/>
              <a:ext cx="372707" cy="190690"/>
            </a:xfrm>
            <a:prstGeom prst="rect">
              <a:avLst/>
            </a:prstGeom>
            <a:noFill/>
            <a:ln>
              <a:noFill/>
            </a:ln>
          </p:spPr>
          <p:txBody>
            <a:bodyPr wrap="none" lIns="0" tIns="0" rIns="0" bIns="0" anchor="t" anchorCtr="0">
              <a:spAutoFit/>
            </a:bodyPr>
            <a:lstStyle/>
            <a:p>
              <a:pPr algn="r"/>
              <a:r>
                <a:rPr lang="en-US" sz="980" dirty="0">
                  <a:solidFill>
                    <a:srgbClr val="48D597"/>
                  </a:solidFill>
                  <a:latin typeface="+mn-lt"/>
                  <a:ea typeface="+mn-ea"/>
                  <a:cs typeface="+mn-cs"/>
                </a:rPr>
                <a:t>agree</a:t>
              </a:r>
            </a:p>
          </p:txBody>
        </p:sp>
        <p:sp>
          <p:nvSpPr>
            <p:cNvPr id="22" name="Ellipse 22"/>
            <p:cNvSpPr/>
            <p:nvPr/>
          </p:nvSpPr>
          <p:spPr>
            <a:xfrm>
              <a:off x="6553200" y="2238375"/>
              <a:ext cx="114300" cy="114300"/>
            </a:xfrm>
            <a:prstGeom prst="ellipse">
              <a:avLst/>
            </a:prstGeom>
            <a:solidFill>
              <a:srgbClr val="F5B841"/>
            </a:solidFill>
            <a:ln>
              <a:noFill/>
            </a:ln>
          </p:spPr>
        </p:sp>
        <p:sp>
          <p:nvSpPr>
            <p:cNvPr id="23" name="TextBox 23"/>
            <p:cNvSpPr txBox="1"/>
            <p:nvPr/>
          </p:nvSpPr>
          <p:spPr>
            <a:xfrm>
              <a:off x="6775704" y="2213610"/>
              <a:ext cx="142852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Consolas"/>
                  <a:ea typeface="Consolas"/>
                  <a:cs typeface="Consolas"/>
                </a:rPr>
                <a:t>reference g flips</a:t>
              </a:r>
            </a:p>
          </p:txBody>
        </p:sp>
        <p:sp>
          <p:nvSpPr>
            <p:cNvPr id="24" name="TextBox 24"/>
            <p:cNvSpPr txBox="1"/>
            <p:nvPr/>
          </p:nvSpPr>
          <p:spPr>
            <a:xfrm>
              <a:off x="10135852" y="2237899"/>
              <a:ext cx="1203851" cy="190690"/>
            </a:xfrm>
            <a:prstGeom prst="rect">
              <a:avLst/>
            </a:prstGeom>
            <a:noFill/>
            <a:ln>
              <a:noFill/>
            </a:ln>
          </p:spPr>
          <p:txBody>
            <a:bodyPr wrap="none" lIns="0" tIns="0" rIns="0" bIns="0" anchor="t" anchorCtr="0">
              <a:spAutoFit/>
            </a:bodyPr>
            <a:lstStyle/>
            <a:p>
              <a:pPr algn="r"/>
              <a:r>
                <a:rPr lang="en-US" sz="980" dirty="0">
                  <a:solidFill>
                    <a:srgbClr val="F5B841"/>
                  </a:solidFill>
                  <a:latin typeface="+mn-lt"/>
                  <a:ea typeface="+mn-ea"/>
                  <a:cs typeface="+mn-cs"/>
                </a:rPr>
                <a:t>semantics changed</a:t>
              </a:r>
            </a:p>
          </p:txBody>
        </p:sp>
        <p:sp>
          <p:nvSpPr>
            <p:cNvPr id="25" name="Ellipse 25"/>
            <p:cNvSpPr/>
            <p:nvPr/>
          </p:nvSpPr>
          <p:spPr>
            <a:xfrm>
              <a:off x="6553200" y="2733675"/>
              <a:ext cx="114300" cy="114300"/>
            </a:xfrm>
            <a:prstGeom prst="ellipse">
              <a:avLst/>
            </a:prstGeom>
            <a:solidFill>
              <a:srgbClr val="FF6B6B"/>
            </a:solidFill>
            <a:ln>
              <a:noFill/>
            </a:ln>
          </p:spPr>
        </p:sp>
        <p:sp>
          <p:nvSpPr>
            <p:cNvPr id="26" name="TextBox 26"/>
            <p:cNvSpPr txBox="1"/>
            <p:nvPr/>
          </p:nvSpPr>
          <p:spPr>
            <a:xfrm>
              <a:off x="6775704" y="2708910"/>
              <a:ext cx="2319040"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Consolas"/>
                  <a:ea typeface="Consolas"/>
                  <a:cs typeface="Consolas"/>
                </a:rPr>
                <a:t>model f keeps old prediction</a:t>
              </a:r>
            </a:p>
          </p:txBody>
        </p:sp>
        <p:sp>
          <p:nvSpPr>
            <p:cNvPr id="27" name="TextBox 27"/>
            <p:cNvSpPr txBox="1"/>
            <p:nvPr/>
          </p:nvSpPr>
          <p:spPr>
            <a:xfrm>
              <a:off x="10531635" y="2733199"/>
              <a:ext cx="808068" cy="190690"/>
            </a:xfrm>
            <a:prstGeom prst="rect">
              <a:avLst/>
            </a:prstGeom>
            <a:noFill/>
            <a:ln>
              <a:noFill/>
            </a:ln>
          </p:spPr>
          <p:txBody>
            <a:bodyPr wrap="none" lIns="0" tIns="0" rIns="0" bIns="0" anchor="t" anchorCtr="0">
              <a:spAutoFit/>
            </a:bodyPr>
            <a:lstStyle/>
            <a:p>
              <a:pPr algn="r"/>
              <a:r>
                <a:rPr lang="en-US" sz="980" dirty="0">
                  <a:solidFill>
                    <a:srgbClr val="FF6B6B"/>
                  </a:solidFill>
                  <a:latin typeface="+mn-lt"/>
                  <a:ea typeface="+mn-ea"/>
                  <a:cs typeface="+mn-cs"/>
                </a:rPr>
                <a:t>over-robust</a:t>
              </a:r>
            </a:p>
          </p:txBody>
        </p:sp>
      </p:grpSp>
      <p:grpSp>
        <p:nvGrpSpPr>
          <p:cNvPr id="36" name="Group 36"/>
          <p:cNvGrpSpPr/>
          <p:nvPr/>
        </p:nvGrpSpPr>
        <p:grpSpPr>
          <a:xfrm>
            <a:off x="609600" y="3810000"/>
            <a:ext cx="5334000" cy="2457450"/>
            <a:chOff x="609600" y="3810000"/>
            <a:chExt cx="5334000" cy="2457450"/>
          </a:xfrm>
        </p:grpSpPr>
        <p:sp>
          <p:nvSpPr>
            <p:cNvPr id="29" name="Rectangle 29"/>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30" name="Rectangle 30"/>
            <p:cNvSpPr/>
            <p:nvPr/>
          </p:nvSpPr>
          <p:spPr>
            <a:xfrm>
              <a:off x="609600" y="3810000"/>
              <a:ext cx="57150" cy="2457450"/>
            </a:xfrm>
            <a:prstGeom prst="roundRect">
              <a:avLst>
                <a:gd name="adj" fmla="val 50000"/>
              </a:avLst>
            </a:prstGeom>
            <a:solidFill>
              <a:srgbClr val="4C8DFF"/>
            </a:solidFill>
            <a:ln w="0">
              <a:solidFill>
                <a:srgbClr val="4C8DFF"/>
              </a:solidFill>
            </a:ln>
          </p:spPr>
        </p:sp>
        <p:sp>
          <p:nvSpPr>
            <p:cNvPr id="31" name="TextBox 31"/>
            <p:cNvSpPr txBox="1"/>
            <p:nvPr/>
          </p:nvSpPr>
          <p:spPr>
            <a:xfrm>
              <a:off x="849630" y="4048125"/>
              <a:ext cx="287401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Measuring over-robustness</a:t>
              </a:r>
            </a:p>
          </p:txBody>
        </p:sp>
        <p:sp>
          <p:nvSpPr>
            <p:cNvPr id="32" name="Rectangle 32"/>
            <p:cNvSpPr/>
            <p:nvPr/>
          </p:nvSpPr>
          <p:spPr>
            <a:xfrm>
              <a:off x="857250" y="4438650"/>
              <a:ext cx="4838700" cy="571500"/>
            </a:xfrm>
            <a:prstGeom prst="roundRect">
              <a:avLst>
                <a:gd name="adj" fmla="val 23333"/>
              </a:avLst>
            </a:prstGeom>
            <a:solidFill>
              <a:schemeClr val="accent6"/>
            </a:solidFill>
            <a:ln w="14288">
              <a:solidFill>
                <a:srgbClr val="1E3A52"/>
              </a:solidFill>
            </a:ln>
          </p:spPr>
        </p:sp>
        <p:sp>
          <p:nvSpPr>
            <p:cNvPr id="33" name="TextBox 33"/>
            <p:cNvSpPr txBox="1"/>
            <p:nvPr/>
          </p:nvSpPr>
          <p:spPr>
            <a:xfrm>
              <a:off x="1021842" y="4645342"/>
              <a:ext cx="3781092" cy="264033"/>
            </a:xfrm>
            <a:prstGeom prst="rect">
              <a:avLst/>
            </a:prstGeom>
            <a:noFill/>
            <a:ln>
              <a:noFill/>
            </a:ln>
          </p:spPr>
          <p:txBody>
            <a:bodyPr wrap="none" lIns="0" tIns="0" rIns="0" bIns="0" anchor="t" anchorCtr="0">
              <a:spAutoFit/>
            </a:bodyPr>
            <a:lstStyle/>
            <a:p>
              <a:pPr algn="l"/>
              <a:r>
                <a:rPr lang="en-US" sz="1350" b="1" dirty="0">
                  <a:solidFill>
                    <a:srgbClr val="35D0BA"/>
                  </a:solidFill>
                  <a:latin typeface="Consolas"/>
                  <a:ea typeface="Consolas"/>
                  <a:cs typeface="Consolas"/>
                </a:rPr>
                <a:t>OR = 1 - ( r_semantic / r_conventional )</a:t>
              </a:r>
            </a:p>
          </p:txBody>
        </p:sp>
        <p:sp>
          <p:nvSpPr>
            <p:cNvPr id="34" name="TextBox 34"/>
            <p:cNvSpPr txBox="1"/>
            <p:nvPr/>
          </p:nvSpPr>
          <p:spPr>
            <a:xfrm>
              <a:off x="851154" y="5109210"/>
              <a:ext cx="4734527"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OR = 0.2 means 20% of the measured robustness lies beyond</a:t>
              </a:r>
            </a:p>
          </p:txBody>
        </p:sp>
        <p:sp>
          <p:nvSpPr>
            <p:cNvPr id="35" name="TextBox 35"/>
            <p:cNvSpPr txBox="1"/>
            <p:nvPr/>
          </p:nvSpPr>
          <p:spPr>
            <a:xfrm>
              <a:off x="851154" y="5337810"/>
              <a:ext cx="4882744"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genuine semantic change — undesirable, stubborn robustness.</a:t>
              </a:r>
            </a:p>
          </p:txBody>
        </p:sp>
      </p:grpSp>
      <p:grpSp>
        <p:nvGrpSpPr>
          <p:cNvPr id="48" name="Group 48"/>
          <p:cNvGrpSpPr/>
          <p:nvPr/>
        </p:nvGrpSpPr>
        <p:grpSpPr>
          <a:xfrm>
            <a:off x="6248400" y="3810000"/>
            <a:ext cx="5334000" cy="2457450"/>
            <a:chOff x="6248400" y="3810000"/>
            <a:chExt cx="5334000" cy="2457450"/>
          </a:xfrm>
        </p:grpSpPr>
        <p:sp>
          <p:nvSpPr>
            <p:cNvPr id="37" name="Rectangle 37"/>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38" name="Rectangle 38"/>
            <p:cNvSpPr/>
            <p:nvPr/>
          </p:nvSpPr>
          <p:spPr>
            <a:xfrm>
              <a:off x="6248400" y="3810000"/>
              <a:ext cx="57150" cy="2457450"/>
            </a:xfrm>
            <a:prstGeom prst="roundRect">
              <a:avLst>
                <a:gd name="adj" fmla="val 50000"/>
              </a:avLst>
            </a:prstGeom>
            <a:solidFill>
              <a:srgbClr val="48D597"/>
            </a:solidFill>
            <a:ln w="0">
              <a:solidFill>
                <a:srgbClr val="48D597"/>
              </a:solidFill>
            </a:ln>
          </p:spPr>
        </p:sp>
        <p:sp>
          <p:nvSpPr>
            <p:cNvPr id="39" name="TextBox 39"/>
            <p:cNvSpPr txBox="1"/>
            <p:nvPr/>
          </p:nvSpPr>
          <p:spPr>
            <a:xfrm>
              <a:off x="6488811" y="4056221"/>
              <a:ext cx="354533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remedy: GNN + label propagation</a:t>
              </a:r>
            </a:p>
          </p:txBody>
        </p:sp>
        <p:sp>
          <p:nvSpPr>
            <p:cNvPr id="40" name="Rectangle 40"/>
            <p:cNvSpPr/>
            <p:nvPr/>
          </p:nvSpPr>
          <p:spPr>
            <a:xfrm>
              <a:off x="6496050" y="4629150"/>
              <a:ext cx="1428750" cy="438150"/>
            </a:xfrm>
            <a:prstGeom prst="roundRect">
              <a:avLst>
                <a:gd name="adj" fmla="val 30435"/>
              </a:avLst>
            </a:prstGeom>
            <a:solidFill>
              <a:schemeClr val="accent6"/>
            </a:solidFill>
            <a:ln w="19050">
              <a:solidFill>
                <a:srgbClr val="4C8DFF"/>
              </a:solidFill>
            </a:ln>
          </p:spPr>
        </p:sp>
        <p:sp>
          <p:nvSpPr>
            <p:cNvPr id="41" name="TextBox 41"/>
            <p:cNvSpPr txBox="1"/>
            <p:nvPr/>
          </p:nvSpPr>
          <p:spPr>
            <a:xfrm>
              <a:off x="6998418" y="4783931"/>
              <a:ext cx="424015"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GNN f</a:t>
              </a:r>
            </a:p>
          </p:txBody>
        </p:sp>
        <p:sp>
          <p:nvSpPr>
            <p:cNvPr id="42" name="TextBox 42"/>
            <p:cNvSpPr txBox="1"/>
            <p:nvPr/>
          </p:nvSpPr>
          <p:spPr>
            <a:xfrm>
              <a:off x="7976054" y="4694872"/>
              <a:ext cx="164192" cy="381381"/>
            </a:xfrm>
            <a:prstGeom prst="rect">
              <a:avLst/>
            </a:prstGeom>
            <a:noFill/>
            <a:ln>
              <a:noFill/>
            </a:ln>
          </p:spPr>
          <p:txBody>
            <a:bodyPr wrap="none" lIns="0" tIns="0" rIns="0" bIns="0" anchor="t" anchorCtr="0">
              <a:spAutoFit/>
            </a:bodyPr>
            <a:lstStyle/>
            <a:p>
              <a:pPr algn="ctr"/>
              <a:r>
                <a:rPr lang="en-US" sz="1950" dirty="0">
                  <a:solidFill>
                    <a:srgbClr val="9DB2C4"/>
                  </a:solidFill>
                  <a:latin typeface="+mn-lt"/>
                  <a:ea typeface="+mn-ea"/>
                  <a:cs typeface="+mn-cs"/>
                </a:rPr>
                <a:t>+</a:t>
              </a:r>
            </a:p>
          </p:txBody>
        </p:sp>
        <p:sp>
          <p:nvSpPr>
            <p:cNvPr id="43" name="Rectangle 43"/>
            <p:cNvSpPr/>
            <p:nvPr/>
          </p:nvSpPr>
          <p:spPr>
            <a:xfrm>
              <a:off x="8248650" y="4629150"/>
              <a:ext cx="2857500" cy="438150"/>
            </a:xfrm>
            <a:prstGeom prst="roundRect">
              <a:avLst>
                <a:gd name="adj" fmla="val 30435"/>
              </a:avLst>
            </a:prstGeom>
            <a:solidFill>
              <a:schemeClr val="accent6"/>
            </a:solidFill>
            <a:ln w="19050">
              <a:solidFill>
                <a:srgbClr val="48D597"/>
              </a:solidFill>
            </a:ln>
          </p:spPr>
        </p:sp>
        <p:sp>
          <p:nvSpPr>
            <p:cNvPr id="44" name="TextBox 44"/>
            <p:cNvSpPr txBox="1"/>
            <p:nvPr/>
          </p:nvSpPr>
          <p:spPr>
            <a:xfrm>
              <a:off x="8310192" y="4783931"/>
              <a:ext cx="2734416"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training-graph labels (propagated)</a:t>
              </a:r>
            </a:p>
          </p:txBody>
        </p:sp>
        <p:sp>
          <p:nvSpPr>
            <p:cNvPr id="45" name="TextBox 45"/>
            <p:cNvSpPr txBox="1"/>
            <p:nvPr/>
          </p:nvSpPr>
          <p:spPr>
            <a:xfrm>
              <a:off x="7095107" y="5482114"/>
              <a:ext cx="3640586" cy="249364"/>
            </a:xfrm>
            <a:prstGeom prst="rect">
              <a:avLst/>
            </a:prstGeom>
            <a:noFill/>
            <a:ln>
              <a:noFill/>
            </a:ln>
          </p:spPr>
          <p:txBody>
            <a:bodyPr wrap="none" lIns="0" tIns="0" rIns="0" bIns="0" anchor="t" anchorCtr="0">
              <a:spAutoFit/>
            </a:bodyPr>
            <a:lstStyle/>
            <a:p>
              <a:pPr algn="ctr"/>
              <a:r>
                <a:rPr lang="en-US" sz="1280" b="1" dirty="0">
                  <a:solidFill>
                    <a:srgbClr val="48D597"/>
                  </a:solidFill>
                  <a:latin typeface="+mn-lt"/>
                  <a:ea typeface="+mn-ea"/>
                  <a:cs typeface="+mn-cs"/>
                </a:rPr>
                <a:t>→ lower over-robustness, same accuracy</a:t>
              </a:r>
            </a:p>
          </p:txBody>
        </p:sp>
        <p:sp>
          <p:nvSpPr>
            <p:cNvPr id="46" name="TextBox 46"/>
            <p:cNvSpPr txBox="1"/>
            <p:nvPr/>
          </p:nvSpPr>
          <p:spPr>
            <a:xfrm>
              <a:off x="6490335" y="5688806"/>
              <a:ext cx="3853690" cy="220028"/>
            </a:xfrm>
            <a:prstGeom prst="rect">
              <a:avLst/>
            </a:prstGeom>
            <a:noFill/>
            <a:ln>
              <a:noFill/>
            </a:ln>
          </p:spPr>
          <p:txBody>
            <a:bodyPr wrap="none" lIns="0" tIns="0" rIns="0" bIns="0" anchor="t" anchorCtr="0">
              <a:spAutoFit/>
            </a:bodyPr>
            <a:lstStyle/>
            <a:p>
              <a:pPr algn="l"/>
              <a:r>
                <a:rPr lang="en-US" sz="1120" dirty="0">
                  <a:solidFill>
                    <a:srgbClr val="9DB2C4"/>
                  </a:solidFill>
                  <a:latin typeface="+mn-lt"/>
                  <a:ea typeface="+mn-ea"/>
                  <a:cs typeface="+mn-cs"/>
                </a:rPr>
                <a:t>Known labels are fed into inference to cut unwanted</a:t>
              </a:r>
            </a:p>
          </p:txBody>
        </p:sp>
        <p:sp>
          <p:nvSpPr>
            <p:cNvPr id="47" name="TextBox 47"/>
            <p:cNvSpPr txBox="1"/>
            <p:nvPr/>
          </p:nvSpPr>
          <p:spPr>
            <a:xfrm>
              <a:off x="6490335" y="5898356"/>
              <a:ext cx="1338245" cy="220028"/>
            </a:xfrm>
            <a:prstGeom prst="rect">
              <a:avLst/>
            </a:prstGeom>
            <a:noFill/>
            <a:ln>
              <a:noFill/>
            </a:ln>
          </p:spPr>
          <p:txBody>
            <a:bodyPr wrap="none" lIns="0" tIns="0" rIns="0" bIns="0" anchor="t" anchorCtr="0">
              <a:spAutoFit/>
            </a:bodyPr>
            <a:lstStyle/>
            <a:p>
              <a:pPr algn="l"/>
              <a:r>
                <a:rPr lang="en-US" sz="1120" dirty="0">
                  <a:solidFill>
                    <a:srgbClr val="9DB2C4"/>
                  </a:solidFill>
                  <a:latin typeface="+mn-lt"/>
                  <a:ea typeface="+mn-ea"/>
                  <a:cs typeface="+mn-cs"/>
                </a:rPr>
                <a:t>over-robustness.</a:t>
              </a:r>
            </a:p>
          </p:txBody>
        </p:sp>
      </p:grpSp>
      <p:sp>
        <p:nvSpPr>
          <p:cNvPr id="49" name="cue_s05_c1_key_idea_introduce_trusted_reference" title="cue_s05_c1_key_idea_introduce_trusted_reference" descr="cue_s05_c1_key_idea_introduce_trusted_reference The key idea is to introduce a trusted reference classifier that knows the true semantics. On Contextual Stochastic Block Models the authors can derive the Bayes optimal classifier, which chooses the most likely class given the data, and use it as the ground-t"/>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5_c2_over_robust_example_perturbed_graph" title="cue_s05_c2_over_robust_example_perturbed_graph" descr="cue_s05_c2_over_robust_example_perturbed_graph An over-robust example is then a perturbed graph where the model and the reference agree on the clean input, the perturbation flips the reference (so the semantics genuinely changed), but the model stubbornly keeps its old prediction."/>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5_c3_they_measure_over_robustness_one_min" title="cue_s05_c3_they_measure_over_robustness_one_min" descr="cue_s05_c3_they_measure_over_robustness_one_min They measure over-robustness as one minus the ratio of semantics-aware robustness to conventional robustness, so a value of zero-point-two means twenty percent of the measured robustness lies beyond semantic change."/>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5_c4_finally_they_combine_graph_neural" title="cue_s05_c4_finally_they_combine_graph_neural" descr="cue_s05_c4_finally_they_combine_graph_neural Finally, they combine graph neural networks with label propagation, feeding the training graph's known labels into the inference process to reduce this unwanted over-robustness."/>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2093312"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DATASET / BENCHMARK</a:t>
            </a:r>
          </a:p>
        </p:txBody>
      </p:sp>
      <p:sp>
        <p:nvSpPr>
          <p:cNvPr id="4" name="TextBox 4"/>
          <p:cNvSpPr txBox="1"/>
          <p:nvPr/>
        </p:nvSpPr>
        <p:spPr>
          <a:xfrm>
            <a:off x="807720" y="614362"/>
            <a:ext cx="551707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Contextual Stochastic Block Models</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06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5" name="Group 15"/>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113483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Why CSBMs</a:t>
              </a:r>
            </a:p>
          </p:txBody>
        </p:sp>
        <p:sp>
          <p:nvSpPr>
            <p:cNvPr id="10" name="TextBox 10"/>
            <p:cNvSpPr txBox="1"/>
            <p:nvPr/>
          </p:nvSpPr>
          <p:spPr>
            <a:xfrm>
              <a:off x="850773" y="1786414"/>
              <a:ext cx="4403977"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A controlled generative model whose ground truth is</a:t>
              </a:r>
            </a:p>
          </p:txBody>
        </p:sp>
        <p:sp>
          <p:nvSpPr>
            <p:cNvPr id="11" name="TextBox 11"/>
            <p:cNvSpPr txBox="1"/>
            <p:nvPr/>
          </p:nvSpPr>
          <p:spPr>
            <a:xfrm>
              <a:off x="850773" y="2024539"/>
              <a:ext cx="4757674"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known, so the Bayes-optimal reference can be computed</a:t>
              </a:r>
            </a:p>
          </p:txBody>
        </p:sp>
        <p:sp>
          <p:nvSpPr>
            <p:cNvPr id="12" name="TextBox 12"/>
            <p:cNvSpPr txBox="1"/>
            <p:nvPr/>
          </p:nvSpPr>
          <p:spPr>
            <a:xfrm>
              <a:off x="850773" y="2262664"/>
              <a:ext cx="2020407"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exactly for every node.</a:t>
              </a:r>
            </a:p>
          </p:txBody>
        </p:sp>
        <p:sp>
          <p:nvSpPr>
            <p:cNvPr id="13" name="Rectangle 13"/>
            <p:cNvSpPr/>
            <p:nvPr/>
          </p:nvSpPr>
          <p:spPr>
            <a:xfrm>
              <a:off x="857250" y="3028950"/>
              <a:ext cx="2286000" cy="247650"/>
            </a:xfrm>
            <a:prstGeom prst="roundRect">
              <a:avLst>
                <a:gd name="adj" fmla="val 50000"/>
              </a:avLst>
            </a:prstGeom>
            <a:solidFill>
              <a:srgbClr val="35D0BA"/>
            </a:solidFill>
            <a:ln w="0">
              <a:solidFill>
                <a:srgbClr val="35D0BA"/>
              </a:solidFill>
            </a:ln>
          </p:spPr>
        </p:sp>
        <p:sp>
          <p:nvSpPr>
            <p:cNvPr id="14" name="TextBox 14"/>
            <p:cNvSpPr txBox="1"/>
            <p:nvPr/>
          </p:nvSpPr>
          <p:spPr>
            <a:xfrm>
              <a:off x="838629" y="3087052"/>
              <a:ext cx="2323242"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exact Bayes reference available</a:t>
              </a:r>
            </a:p>
          </p:txBody>
        </p:sp>
      </p:grpSp>
      <p:grpSp>
        <p:nvGrpSpPr>
          <p:cNvPr id="31" name="Group 31"/>
          <p:cNvGrpSpPr/>
          <p:nvPr/>
        </p:nvGrpSpPr>
        <p:grpSpPr>
          <a:xfrm>
            <a:off x="6248400" y="1162050"/>
            <a:ext cx="5334000" cy="2457450"/>
            <a:chOff x="6248400" y="1162050"/>
            <a:chExt cx="5334000" cy="2457450"/>
          </a:xfrm>
        </p:grpSpPr>
        <p:sp>
          <p:nvSpPr>
            <p:cNvPr id="16" name="Rectangle 16"/>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17" name="Rectangle 17"/>
            <p:cNvSpPr/>
            <p:nvPr/>
          </p:nvSpPr>
          <p:spPr>
            <a:xfrm>
              <a:off x="6248400" y="1162050"/>
              <a:ext cx="57150" cy="2457450"/>
            </a:xfrm>
            <a:prstGeom prst="roundRect">
              <a:avLst>
                <a:gd name="adj" fmla="val 50000"/>
              </a:avLst>
            </a:prstGeom>
            <a:solidFill>
              <a:srgbClr val="4C8DFF"/>
            </a:solidFill>
            <a:ln w="0">
              <a:solidFill>
                <a:srgbClr val="4C8DFF"/>
              </a:solidFill>
            </a:ln>
          </p:spPr>
        </p:sp>
        <p:sp>
          <p:nvSpPr>
            <p:cNvPr id="18" name="TextBox 18"/>
            <p:cNvSpPr txBox="1"/>
            <p:nvPr/>
          </p:nvSpPr>
          <p:spPr>
            <a:xfrm>
              <a:off x="6488430" y="1400175"/>
              <a:ext cx="143135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Configuration</a:t>
              </a:r>
            </a:p>
          </p:txBody>
        </p:sp>
        <p:sp>
          <p:nvSpPr>
            <p:cNvPr id="19" name="Rectangle 19"/>
            <p:cNvSpPr/>
            <p:nvPr/>
          </p:nvSpPr>
          <p:spPr>
            <a:xfrm>
              <a:off x="6496050" y="1828800"/>
              <a:ext cx="2343150" cy="723900"/>
            </a:xfrm>
            <a:prstGeom prst="roundRect">
              <a:avLst>
                <a:gd name="adj" fmla="val 18421"/>
              </a:avLst>
            </a:prstGeom>
            <a:solidFill>
              <a:schemeClr val="accent6"/>
            </a:solidFill>
            <a:ln w="14288">
              <a:solidFill>
                <a:srgbClr val="1E3A52"/>
              </a:solidFill>
            </a:ln>
          </p:spPr>
        </p:sp>
        <p:sp>
          <p:nvSpPr>
            <p:cNvPr id="20" name="TextBox 20"/>
            <p:cNvSpPr txBox="1"/>
            <p:nvPr/>
          </p:nvSpPr>
          <p:spPr>
            <a:xfrm>
              <a:off x="6656832" y="2002155"/>
              <a:ext cx="837638" cy="410718"/>
            </a:xfrm>
            <a:prstGeom prst="rect">
              <a:avLst/>
            </a:prstGeom>
            <a:noFill/>
            <a:ln>
              <a:noFill/>
            </a:ln>
          </p:spPr>
          <p:txBody>
            <a:bodyPr wrap="none" lIns="0" tIns="0" rIns="0" bIns="0" anchor="t" anchorCtr="0">
              <a:spAutoFit/>
            </a:bodyPr>
            <a:lstStyle/>
            <a:p>
              <a:pPr algn="l"/>
              <a:r>
                <a:rPr lang="en-US" sz="2100" b="1" dirty="0">
                  <a:solidFill>
                    <a:srgbClr val="F5B841"/>
                  </a:solidFill>
                  <a:latin typeface="+mn-lt"/>
                  <a:ea typeface="+mn-ea"/>
                  <a:cs typeface="+mn-cs"/>
                </a:rPr>
                <a:t>1,000</a:t>
              </a:r>
            </a:p>
          </p:txBody>
        </p:sp>
        <p:sp>
          <p:nvSpPr>
            <p:cNvPr id="21" name="TextBox 21"/>
            <p:cNvSpPr txBox="1"/>
            <p:nvPr/>
          </p:nvSpPr>
          <p:spPr>
            <a:xfrm>
              <a:off x="6662166" y="2325052"/>
              <a:ext cx="950652" cy="205359"/>
            </a:xfrm>
            <a:prstGeom prst="rect">
              <a:avLst/>
            </a:prstGeom>
            <a:noFill/>
            <a:ln>
              <a:noFill/>
            </a:ln>
          </p:spPr>
          <p:txBody>
            <a:bodyPr wrap="none" lIns="0" tIns="0" rIns="0" bIns="0" anchor="t" anchorCtr="0">
              <a:spAutoFit/>
            </a:bodyPr>
            <a:lstStyle/>
            <a:p>
              <a:pPr algn="l"/>
              <a:r>
                <a:rPr lang="en-US" sz="1050" dirty="0">
                  <a:solidFill>
                    <a:srgbClr val="9DB2C4"/>
                  </a:solidFill>
                  <a:latin typeface="+mn-lt"/>
                  <a:ea typeface="+mn-ea"/>
                  <a:cs typeface="+mn-cs"/>
                </a:rPr>
                <a:t>nodes / graph</a:t>
              </a:r>
            </a:p>
          </p:txBody>
        </p:sp>
        <p:sp>
          <p:nvSpPr>
            <p:cNvPr id="22" name="Rectangle 22"/>
            <p:cNvSpPr/>
            <p:nvPr/>
          </p:nvSpPr>
          <p:spPr>
            <a:xfrm>
              <a:off x="8991600" y="1828800"/>
              <a:ext cx="2343150" cy="723900"/>
            </a:xfrm>
            <a:prstGeom prst="roundRect">
              <a:avLst>
                <a:gd name="adj" fmla="val 18421"/>
              </a:avLst>
            </a:prstGeom>
            <a:solidFill>
              <a:schemeClr val="accent6"/>
            </a:solidFill>
            <a:ln w="14288">
              <a:solidFill>
                <a:srgbClr val="1E3A52"/>
              </a:solidFill>
            </a:ln>
          </p:spPr>
        </p:sp>
        <p:sp>
          <p:nvSpPr>
            <p:cNvPr id="23" name="TextBox 23"/>
            <p:cNvSpPr txBox="1"/>
            <p:nvPr/>
          </p:nvSpPr>
          <p:spPr>
            <a:xfrm>
              <a:off x="9152382" y="2002155"/>
              <a:ext cx="683619" cy="410718"/>
            </a:xfrm>
            <a:prstGeom prst="rect">
              <a:avLst/>
            </a:prstGeom>
            <a:noFill/>
            <a:ln>
              <a:noFill/>
            </a:ln>
          </p:spPr>
          <p:txBody>
            <a:bodyPr wrap="none" lIns="0" tIns="0" rIns="0" bIns="0" anchor="t" anchorCtr="0">
              <a:spAutoFit/>
            </a:bodyPr>
            <a:lstStyle/>
            <a:p>
              <a:pPr algn="l"/>
              <a:r>
                <a:rPr lang="en-US" sz="2100" b="1" dirty="0">
                  <a:solidFill>
                    <a:srgbClr val="F5B841"/>
                  </a:solidFill>
                  <a:latin typeface="+mn-lt"/>
                  <a:ea typeface="+mn-ea"/>
                  <a:cs typeface="+mn-cs"/>
                </a:rPr>
                <a:t>Cora</a:t>
              </a:r>
            </a:p>
          </p:txBody>
        </p:sp>
        <p:sp>
          <p:nvSpPr>
            <p:cNvPr id="24" name="TextBox 24"/>
            <p:cNvSpPr txBox="1"/>
            <p:nvPr/>
          </p:nvSpPr>
          <p:spPr>
            <a:xfrm>
              <a:off x="9157716" y="2325052"/>
              <a:ext cx="1367638" cy="205359"/>
            </a:xfrm>
            <a:prstGeom prst="rect">
              <a:avLst/>
            </a:prstGeom>
            <a:noFill/>
            <a:ln>
              <a:noFill/>
            </a:ln>
          </p:spPr>
          <p:txBody>
            <a:bodyPr wrap="none" lIns="0" tIns="0" rIns="0" bIns="0" anchor="t" anchorCtr="0">
              <a:spAutoFit/>
            </a:bodyPr>
            <a:lstStyle/>
            <a:p>
              <a:pPr algn="l"/>
              <a:r>
                <a:rPr lang="en-US" sz="1050" dirty="0">
                  <a:solidFill>
                    <a:srgbClr val="9DB2C4"/>
                  </a:solidFill>
                  <a:latin typeface="+mn-lt"/>
                  <a:ea typeface="+mn-ea"/>
                  <a:cs typeface="+mn-cs"/>
                </a:rPr>
                <a:t>matched edge stats</a:t>
              </a:r>
            </a:p>
          </p:txBody>
        </p:sp>
        <p:sp>
          <p:nvSpPr>
            <p:cNvPr id="25" name="Rectangle 25"/>
            <p:cNvSpPr/>
            <p:nvPr/>
          </p:nvSpPr>
          <p:spPr>
            <a:xfrm>
              <a:off x="6496050" y="2667000"/>
              <a:ext cx="2343150" cy="723900"/>
            </a:xfrm>
            <a:prstGeom prst="roundRect">
              <a:avLst>
                <a:gd name="adj" fmla="val 18421"/>
              </a:avLst>
            </a:prstGeom>
            <a:solidFill>
              <a:schemeClr val="accent6"/>
            </a:solidFill>
            <a:ln w="14288">
              <a:solidFill>
                <a:srgbClr val="1E3A52"/>
              </a:solidFill>
            </a:ln>
          </p:spPr>
        </p:sp>
        <p:sp>
          <p:nvSpPr>
            <p:cNvPr id="26" name="TextBox 26"/>
            <p:cNvSpPr txBox="1"/>
            <p:nvPr/>
          </p:nvSpPr>
          <p:spPr>
            <a:xfrm>
              <a:off x="6656832" y="2840355"/>
              <a:ext cx="837638" cy="410718"/>
            </a:xfrm>
            <a:prstGeom prst="rect">
              <a:avLst/>
            </a:prstGeom>
            <a:noFill/>
            <a:ln>
              <a:noFill/>
            </a:ln>
          </p:spPr>
          <p:txBody>
            <a:bodyPr wrap="none" lIns="0" tIns="0" rIns="0" bIns="0" anchor="t" anchorCtr="0">
              <a:spAutoFit/>
            </a:bodyPr>
            <a:lstStyle/>
            <a:p>
              <a:pPr algn="l"/>
              <a:r>
                <a:rPr lang="en-US" sz="2100" b="1" dirty="0">
                  <a:solidFill>
                    <a:srgbClr val="F5B841"/>
                  </a:solidFill>
                  <a:latin typeface="+mn-lt"/>
                  <a:ea typeface="+mn-ea"/>
                  <a:cs typeface="+mn-cs"/>
                </a:rPr>
                <a:t>1,000</a:t>
              </a:r>
            </a:p>
          </p:txBody>
        </p:sp>
        <p:sp>
          <p:nvSpPr>
            <p:cNvPr id="27" name="TextBox 27"/>
            <p:cNvSpPr txBox="1"/>
            <p:nvPr/>
          </p:nvSpPr>
          <p:spPr>
            <a:xfrm>
              <a:off x="6662166" y="3163252"/>
              <a:ext cx="752761" cy="205359"/>
            </a:xfrm>
            <a:prstGeom prst="rect">
              <a:avLst/>
            </a:prstGeom>
            <a:noFill/>
            <a:ln>
              <a:noFill/>
            </a:ln>
          </p:spPr>
          <p:txBody>
            <a:bodyPr wrap="none" lIns="0" tIns="0" rIns="0" bIns="0" anchor="t" anchorCtr="0">
              <a:spAutoFit/>
            </a:bodyPr>
            <a:lstStyle/>
            <a:p>
              <a:pPr algn="l"/>
              <a:r>
                <a:rPr lang="en-US" sz="1050" dirty="0">
                  <a:solidFill>
                    <a:srgbClr val="9DB2C4"/>
                  </a:solidFill>
                  <a:latin typeface="+mn-lt"/>
                  <a:ea typeface="+mn-ea"/>
                  <a:cs typeface="+mn-cs"/>
                </a:rPr>
                <a:t>test nodes</a:t>
              </a:r>
            </a:p>
          </p:txBody>
        </p:sp>
        <p:sp>
          <p:nvSpPr>
            <p:cNvPr id="28" name="Rectangle 28"/>
            <p:cNvSpPr/>
            <p:nvPr/>
          </p:nvSpPr>
          <p:spPr>
            <a:xfrm>
              <a:off x="8991600" y="2667000"/>
              <a:ext cx="2343150" cy="723900"/>
            </a:xfrm>
            <a:prstGeom prst="roundRect">
              <a:avLst>
                <a:gd name="adj" fmla="val 18421"/>
              </a:avLst>
            </a:prstGeom>
            <a:solidFill>
              <a:schemeClr val="accent6"/>
            </a:solidFill>
            <a:ln w="14288">
              <a:solidFill>
                <a:srgbClr val="1E3A52"/>
              </a:solidFill>
            </a:ln>
          </p:spPr>
        </p:sp>
        <p:sp>
          <p:nvSpPr>
            <p:cNvPr id="29" name="TextBox 29"/>
            <p:cNvSpPr txBox="1"/>
            <p:nvPr/>
          </p:nvSpPr>
          <p:spPr>
            <a:xfrm>
              <a:off x="9152382" y="2840355"/>
              <a:ext cx="347857" cy="410718"/>
            </a:xfrm>
            <a:prstGeom prst="rect">
              <a:avLst/>
            </a:prstGeom>
            <a:noFill/>
            <a:ln>
              <a:noFill/>
            </a:ln>
          </p:spPr>
          <p:txBody>
            <a:bodyPr wrap="none" lIns="0" tIns="0" rIns="0" bIns="0" anchor="t" anchorCtr="0">
              <a:spAutoFit/>
            </a:bodyPr>
            <a:lstStyle/>
            <a:p>
              <a:pPr algn="l"/>
              <a:r>
                <a:rPr lang="en-US" sz="2100" b="1" dirty="0">
                  <a:solidFill>
                    <a:srgbClr val="F5B841"/>
                  </a:solidFill>
                  <a:latin typeface="+mn-lt"/>
                  <a:ea typeface="+mn-ea"/>
                  <a:cs typeface="+mn-cs"/>
                </a:rPr>
                <a:t>10</a:t>
              </a:r>
            </a:p>
          </p:txBody>
        </p:sp>
        <p:sp>
          <p:nvSpPr>
            <p:cNvPr id="30" name="TextBox 30"/>
            <p:cNvSpPr txBox="1"/>
            <p:nvPr/>
          </p:nvSpPr>
          <p:spPr>
            <a:xfrm>
              <a:off x="9157716" y="3163252"/>
              <a:ext cx="1141476" cy="205359"/>
            </a:xfrm>
            <a:prstGeom prst="rect">
              <a:avLst/>
            </a:prstGeom>
            <a:noFill/>
            <a:ln>
              <a:noFill/>
            </a:ln>
          </p:spPr>
          <p:txBody>
            <a:bodyPr wrap="none" lIns="0" tIns="0" rIns="0" bIns="0" anchor="t" anchorCtr="0">
              <a:spAutoFit/>
            </a:bodyPr>
            <a:lstStyle/>
            <a:p>
              <a:pPr algn="l"/>
              <a:r>
                <a:rPr lang="en-US" sz="1050" dirty="0">
                  <a:solidFill>
                    <a:srgbClr val="9DB2C4"/>
                  </a:solidFill>
                  <a:latin typeface="+mn-lt"/>
                  <a:ea typeface="+mn-ea"/>
                  <a:cs typeface="+mn-cs"/>
                </a:rPr>
                <a:t>graphs averaged</a:t>
              </a:r>
            </a:p>
          </p:txBody>
        </p:sp>
      </p:grpSp>
      <p:grpSp>
        <p:nvGrpSpPr>
          <p:cNvPr id="51" name="Group 51"/>
          <p:cNvGrpSpPr/>
          <p:nvPr/>
        </p:nvGrpSpPr>
        <p:grpSpPr>
          <a:xfrm>
            <a:off x="609600" y="3810000"/>
            <a:ext cx="5334000" cy="2457450"/>
            <a:chOff x="609600" y="3810000"/>
            <a:chExt cx="5334000" cy="2457450"/>
          </a:xfrm>
        </p:grpSpPr>
        <p:sp>
          <p:nvSpPr>
            <p:cNvPr id="32" name="Rectangle 32"/>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33" name="Rectangle 33"/>
            <p:cNvSpPr/>
            <p:nvPr/>
          </p:nvSpPr>
          <p:spPr>
            <a:xfrm>
              <a:off x="609600" y="3810000"/>
              <a:ext cx="57150" cy="2457450"/>
            </a:xfrm>
            <a:prstGeom prst="roundRect">
              <a:avLst>
                <a:gd name="adj" fmla="val 50000"/>
              </a:avLst>
            </a:prstGeom>
            <a:solidFill>
              <a:srgbClr val="F5B841"/>
            </a:solidFill>
            <a:ln w="0">
              <a:solidFill>
                <a:srgbClr val="F5B841"/>
              </a:solidFill>
            </a:ln>
          </p:spPr>
        </p:sp>
        <p:sp>
          <p:nvSpPr>
            <p:cNvPr id="34" name="TextBox 34"/>
            <p:cNvSpPr txBox="1"/>
            <p:nvPr/>
          </p:nvSpPr>
          <p:spPr>
            <a:xfrm>
              <a:off x="849630" y="4048125"/>
              <a:ext cx="267920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Feature signal strength K</a:t>
              </a:r>
            </a:p>
          </p:txBody>
        </p:sp>
        <p:sp>
          <p:nvSpPr>
            <p:cNvPr id="35" name="Line 35"/>
            <p:cNvSpPr/>
            <p:nvPr/>
          </p:nvSpPr>
          <p:spPr>
            <a:xfrm>
              <a:off x="1181100" y="5238750"/>
              <a:ext cx="4191000" cy="9525"/>
            </a:xfrm>
            <a:custGeom>
              <a:avLst/>
              <a:gdLst/>
              <a:ahLst/>
              <a:cxnLst/>
              <a:rect l="l" t="t" r="r" b="b"/>
              <a:pathLst>
                <a:path w="4191000" h="9525">
                  <a:moveTo>
                    <a:pt x="0" y="0"/>
                  </a:moveTo>
                  <a:lnTo>
                    <a:pt x="4191000" y="0"/>
                  </a:lnTo>
                </a:path>
              </a:pathLst>
            </a:custGeom>
            <a:noFill/>
            <a:ln w="19050">
              <a:solidFill>
                <a:srgbClr val="9DB2C4"/>
              </a:solidFill>
            </a:ln>
          </p:spPr>
        </p:sp>
        <p:sp>
          <p:nvSpPr>
            <p:cNvPr id="36" name="Line 36"/>
            <p:cNvSpPr/>
            <p:nvPr/>
          </p:nvSpPr>
          <p:spPr>
            <a:xfrm>
              <a:off x="1181100" y="5181600"/>
              <a:ext cx="9525" cy="114300"/>
            </a:xfrm>
            <a:custGeom>
              <a:avLst/>
              <a:gdLst/>
              <a:ahLst/>
              <a:cxnLst/>
              <a:rect l="l" t="t" r="r" b="b"/>
              <a:pathLst>
                <a:path w="9525" h="114300">
                  <a:moveTo>
                    <a:pt x="0" y="0"/>
                  </a:moveTo>
                  <a:lnTo>
                    <a:pt x="0" y="114300"/>
                  </a:lnTo>
                </a:path>
              </a:pathLst>
            </a:custGeom>
            <a:noFill/>
            <a:ln w="19050">
              <a:solidFill>
                <a:srgbClr val="9DB2C4"/>
              </a:solidFill>
            </a:ln>
          </p:spPr>
        </p:sp>
        <p:sp>
          <p:nvSpPr>
            <p:cNvPr id="37" name="TextBox 37"/>
            <p:cNvSpPr txBox="1"/>
            <p:nvPr/>
          </p:nvSpPr>
          <p:spPr>
            <a:xfrm>
              <a:off x="1044777" y="5364956"/>
              <a:ext cx="272647"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0.1</a:t>
              </a:r>
            </a:p>
          </p:txBody>
        </p:sp>
        <p:sp>
          <p:nvSpPr>
            <p:cNvPr id="38" name="Line 38"/>
            <p:cNvSpPr/>
            <p:nvPr/>
          </p:nvSpPr>
          <p:spPr>
            <a:xfrm>
              <a:off x="2228850" y="5181600"/>
              <a:ext cx="9525" cy="114300"/>
            </a:xfrm>
            <a:custGeom>
              <a:avLst/>
              <a:gdLst/>
              <a:ahLst/>
              <a:cxnLst/>
              <a:rect l="l" t="t" r="r" b="b"/>
              <a:pathLst>
                <a:path w="9525" h="114300">
                  <a:moveTo>
                    <a:pt x="0" y="0"/>
                  </a:moveTo>
                  <a:lnTo>
                    <a:pt x="0" y="114300"/>
                  </a:lnTo>
                </a:path>
              </a:pathLst>
            </a:custGeom>
            <a:noFill/>
            <a:ln w="19050">
              <a:solidFill>
                <a:srgbClr val="9DB2C4"/>
              </a:solidFill>
            </a:ln>
          </p:spPr>
        </p:sp>
        <p:sp>
          <p:nvSpPr>
            <p:cNvPr id="39" name="TextBox 39"/>
            <p:cNvSpPr txBox="1"/>
            <p:nvPr/>
          </p:nvSpPr>
          <p:spPr>
            <a:xfrm>
              <a:off x="2092527" y="5364956"/>
              <a:ext cx="272647"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0.5</a:t>
              </a:r>
            </a:p>
          </p:txBody>
        </p:sp>
        <p:sp>
          <p:nvSpPr>
            <p:cNvPr id="40" name="Line 40"/>
            <p:cNvSpPr/>
            <p:nvPr/>
          </p:nvSpPr>
          <p:spPr>
            <a:xfrm>
              <a:off x="3276600" y="5181600"/>
              <a:ext cx="9525" cy="114300"/>
            </a:xfrm>
            <a:custGeom>
              <a:avLst/>
              <a:gdLst/>
              <a:ahLst/>
              <a:cxnLst/>
              <a:rect l="l" t="t" r="r" b="b"/>
              <a:pathLst>
                <a:path w="9525" h="114300">
                  <a:moveTo>
                    <a:pt x="0" y="0"/>
                  </a:moveTo>
                  <a:lnTo>
                    <a:pt x="0" y="114300"/>
                  </a:lnTo>
                </a:path>
              </a:pathLst>
            </a:custGeom>
            <a:noFill/>
            <a:ln w="19050">
              <a:solidFill>
                <a:srgbClr val="9DB2C4"/>
              </a:solidFill>
            </a:ln>
          </p:spPr>
        </p:sp>
        <p:sp>
          <p:nvSpPr>
            <p:cNvPr id="41" name="TextBox 41"/>
            <p:cNvSpPr txBox="1"/>
            <p:nvPr/>
          </p:nvSpPr>
          <p:spPr>
            <a:xfrm>
              <a:off x="3227349" y="5364956"/>
              <a:ext cx="98502"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1</a:t>
              </a:r>
            </a:p>
          </p:txBody>
        </p:sp>
        <p:sp>
          <p:nvSpPr>
            <p:cNvPr id="42" name="Line 42"/>
            <p:cNvSpPr/>
            <p:nvPr/>
          </p:nvSpPr>
          <p:spPr>
            <a:xfrm>
              <a:off x="4324350" y="5181600"/>
              <a:ext cx="9525" cy="114300"/>
            </a:xfrm>
            <a:custGeom>
              <a:avLst/>
              <a:gdLst/>
              <a:ahLst/>
              <a:cxnLst/>
              <a:rect l="l" t="t" r="r" b="b"/>
              <a:pathLst>
                <a:path w="9525" h="114300">
                  <a:moveTo>
                    <a:pt x="0" y="0"/>
                  </a:moveTo>
                  <a:lnTo>
                    <a:pt x="0" y="114300"/>
                  </a:lnTo>
                </a:path>
              </a:pathLst>
            </a:custGeom>
            <a:noFill/>
            <a:ln w="19050">
              <a:solidFill>
                <a:srgbClr val="9DB2C4"/>
              </a:solidFill>
            </a:ln>
          </p:spPr>
        </p:sp>
        <p:sp>
          <p:nvSpPr>
            <p:cNvPr id="43" name="TextBox 43"/>
            <p:cNvSpPr txBox="1"/>
            <p:nvPr/>
          </p:nvSpPr>
          <p:spPr>
            <a:xfrm>
              <a:off x="4275099" y="5364956"/>
              <a:ext cx="98502"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2</a:t>
              </a:r>
            </a:p>
          </p:txBody>
        </p:sp>
        <p:sp>
          <p:nvSpPr>
            <p:cNvPr id="44" name="Line 44"/>
            <p:cNvSpPr/>
            <p:nvPr/>
          </p:nvSpPr>
          <p:spPr>
            <a:xfrm>
              <a:off x="5372100" y="5181600"/>
              <a:ext cx="9525" cy="114300"/>
            </a:xfrm>
            <a:custGeom>
              <a:avLst/>
              <a:gdLst/>
              <a:ahLst/>
              <a:cxnLst/>
              <a:rect l="l" t="t" r="r" b="b"/>
              <a:pathLst>
                <a:path w="9525" h="114300">
                  <a:moveTo>
                    <a:pt x="0" y="0"/>
                  </a:moveTo>
                  <a:lnTo>
                    <a:pt x="0" y="114300"/>
                  </a:lnTo>
                </a:path>
              </a:pathLst>
            </a:custGeom>
            <a:noFill/>
            <a:ln w="19050">
              <a:solidFill>
                <a:srgbClr val="9DB2C4"/>
              </a:solidFill>
            </a:ln>
          </p:spPr>
        </p:sp>
        <p:sp>
          <p:nvSpPr>
            <p:cNvPr id="45" name="TextBox 45"/>
            <p:cNvSpPr txBox="1"/>
            <p:nvPr/>
          </p:nvSpPr>
          <p:spPr>
            <a:xfrm>
              <a:off x="5322849" y="5364956"/>
              <a:ext cx="98502"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5</a:t>
              </a:r>
            </a:p>
          </p:txBody>
        </p:sp>
        <p:sp>
          <p:nvSpPr>
            <p:cNvPr id="46" name="TextBox 46"/>
            <p:cNvSpPr txBox="1"/>
            <p:nvPr/>
          </p:nvSpPr>
          <p:spPr>
            <a:xfrm>
              <a:off x="1176147" y="4962049"/>
              <a:ext cx="1019152" cy="190690"/>
            </a:xfrm>
            <a:prstGeom prst="rect">
              <a:avLst/>
            </a:prstGeom>
            <a:noFill/>
            <a:ln>
              <a:noFill/>
            </a:ln>
          </p:spPr>
          <p:txBody>
            <a:bodyPr wrap="none" lIns="0" tIns="0" rIns="0" bIns="0" anchor="t" anchorCtr="0">
              <a:spAutoFit/>
            </a:bodyPr>
            <a:lstStyle/>
            <a:p>
              <a:pPr algn="l"/>
              <a:r>
                <a:rPr lang="en-US" sz="980" dirty="0">
                  <a:solidFill>
                    <a:srgbClr val="FF6B6B"/>
                  </a:solidFill>
                  <a:latin typeface="+mn-lt"/>
                  <a:ea typeface="+mn-ea"/>
                  <a:cs typeface="+mn-cs"/>
                </a:rPr>
                <a:t>features weak,</a:t>
              </a:r>
            </a:p>
          </p:txBody>
        </p:sp>
        <p:sp>
          <p:nvSpPr>
            <p:cNvPr id="47" name="TextBox 47"/>
            <p:cNvSpPr txBox="1"/>
            <p:nvPr/>
          </p:nvSpPr>
          <p:spPr>
            <a:xfrm>
              <a:off x="1176147" y="5114449"/>
              <a:ext cx="1236833" cy="190690"/>
            </a:xfrm>
            <a:prstGeom prst="rect">
              <a:avLst/>
            </a:prstGeom>
            <a:noFill/>
            <a:ln>
              <a:noFill/>
            </a:ln>
          </p:spPr>
          <p:txBody>
            <a:bodyPr wrap="none" lIns="0" tIns="0" rIns="0" bIns="0" anchor="t" anchorCtr="0">
              <a:spAutoFit/>
            </a:bodyPr>
            <a:lstStyle/>
            <a:p>
              <a:pPr algn="l"/>
              <a:r>
                <a:rPr lang="en-US" sz="980" dirty="0">
                  <a:solidFill>
                    <a:srgbClr val="FF6B6B"/>
                  </a:solidFill>
                  <a:latin typeface="+mn-lt"/>
                  <a:ea typeface="+mn-ea"/>
                  <a:cs typeface="+mn-cs"/>
                </a:rPr>
                <a:t>structure matters</a:t>
              </a:r>
            </a:p>
          </p:txBody>
        </p:sp>
        <p:sp>
          <p:nvSpPr>
            <p:cNvPr id="48" name="TextBox 48"/>
            <p:cNvSpPr txBox="1"/>
            <p:nvPr/>
          </p:nvSpPr>
          <p:spPr>
            <a:xfrm>
              <a:off x="4239166" y="4962049"/>
              <a:ext cx="1137887" cy="190690"/>
            </a:xfrm>
            <a:prstGeom prst="rect">
              <a:avLst/>
            </a:prstGeom>
            <a:noFill/>
            <a:ln>
              <a:noFill/>
            </a:ln>
          </p:spPr>
          <p:txBody>
            <a:bodyPr wrap="none" lIns="0" tIns="0" rIns="0" bIns="0" anchor="t" anchorCtr="0">
              <a:spAutoFit/>
            </a:bodyPr>
            <a:lstStyle/>
            <a:p>
              <a:pPr algn="r"/>
              <a:r>
                <a:rPr lang="en-US" sz="980" dirty="0">
                  <a:solidFill>
                    <a:srgbClr val="48D597"/>
                  </a:solidFill>
                  <a:latin typeface="+mn-lt"/>
                  <a:ea typeface="+mn-ea"/>
                  <a:cs typeface="+mn-cs"/>
                </a:rPr>
                <a:t>features strong,</a:t>
              </a:r>
            </a:p>
          </p:txBody>
        </p:sp>
        <p:sp>
          <p:nvSpPr>
            <p:cNvPr id="49" name="TextBox 49"/>
            <p:cNvSpPr txBox="1"/>
            <p:nvPr/>
          </p:nvSpPr>
          <p:spPr>
            <a:xfrm>
              <a:off x="4127028" y="5114449"/>
              <a:ext cx="1250025" cy="190690"/>
            </a:xfrm>
            <a:prstGeom prst="rect">
              <a:avLst/>
            </a:prstGeom>
            <a:noFill/>
            <a:ln>
              <a:noFill/>
            </a:ln>
          </p:spPr>
          <p:txBody>
            <a:bodyPr wrap="none" lIns="0" tIns="0" rIns="0" bIns="0" anchor="t" anchorCtr="0">
              <a:spAutoFit/>
            </a:bodyPr>
            <a:lstStyle/>
            <a:p>
              <a:pPr algn="r"/>
              <a:r>
                <a:rPr lang="en-US" sz="980" dirty="0">
                  <a:solidFill>
                    <a:srgbClr val="48D597"/>
                  </a:solidFill>
                  <a:latin typeface="+mn-lt"/>
                  <a:ea typeface="+mn-ea"/>
                  <a:cs typeface="+mn-cs"/>
                </a:rPr>
                <a:t>structure needless</a:t>
              </a:r>
            </a:p>
          </p:txBody>
        </p:sp>
        <p:sp>
          <p:nvSpPr>
            <p:cNvPr id="50" name="TextBox 50"/>
            <p:cNvSpPr txBox="1"/>
            <p:nvPr/>
          </p:nvSpPr>
          <p:spPr>
            <a:xfrm>
              <a:off x="851535" y="5898356"/>
              <a:ext cx="3003022" cy="220028"/>
            </a:xfrm>
            <a:prstGeom prst="rect">
              <a:avLst/>
            </a:prstGeom>
            <a:noFill/>
            <a:ln>
              <a:noFill/>
            </a:ln>
          </p:spPr>
          <p:txBody>
            <a:bodyPr wrap="none" lIns="0" tIns="0" rIns="0" bIns="0" anchor="t" anchorCtr="0">
              <a:spAutoFit/>
            </a:bodyPr>
            <a:lstStyle/>
            <a:p>
              <a:pPr algn="l"/>
              <a:r>
                <a:rPr lang="en-US" sz="1120" dirty="0">
                  <a:solidFill>
                    <a:srgbClr val="9DB2C4"/>
                  </a:solidFill>
                  <a:latin typeface="+mn-lt"/>
                  <a:ea typeface="+mn-ea"/>
                  <a:cs typeface="+mn-cs"/>
                </a:rPr>
                <a:t>K swept from 0.1 to 5 across the regime</a:t>
              </a:r>
            </a:p>
          </p:txBody>
        </p:sp>
      </p:grpSp>
      <p:grpSp>
        <p:nvGrpSpPr>
          <p:cNvPr id="61" name="Group 61"/>
          <p:cNvGrpSpPr/>
          <p:nvPr/>
        </p:nvGrpSpPr>
        <p:grpSpPr>
          <a:xfrm>
            <a:off x="6248400" y="3810000"/>
            <a:ext cx="5334000" cy="2457450"/>
            <a:chOff x="6248400" y="3810000"/>
            <a:chExt cx="5334000" cy="2457450"/>
          </a:xfrm>
        </p:grpSpPr>
        <p:sp>
          <p:nvSpPr>
            <p:cNvPr id="52" name="Rectangle 52"/>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53" name="Rectangle 53"/>
            <p:cNvSpPr/>
            <p:nvPr/>
          </p:nvSpPr>
          <p:spPr>
            <a:xfrm>
              <a:off x="6248400" y="3810000"/>
              <a:ext cx="57150" cy="2457450"/>
            </a:xfrm>
            <a:prstGeom prst="roundRect">
              <a:avLst>
                <a:gd name="adj" fmla="val 50000"/>
              </a:avLst>
            </a:prstGeom>
            <a:solidFill>
              <a:srgbClr val="48D597"/>
            </a:solidFill>
            <a:ln w="0">
              <a:solidFill>
                <a:srgbClr val="48D597"/>
              </a:solidFill>
            </a:ln>
          </p:spPr>
        </p:sp>
        <p:sp>
          <p:nvSpPr>
            <p:cNvPr id="54" name="TextBox 54"/>
            <p:cNvSpPr txBox="1"/>
            <p:nvPr/>
          </p:nvSpPr>
          <p:spPr>
            <a:xfrm>
              <a:off x="6488430" y="4048125"/>
              <a:ext cx="290208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Corroborated beyond CSBMs</a:t>
              </a:r>
            </a:p>
          </p:txBody>
        </p:sp>
        <p:sp>
          <p:nvSpPr>
            <p:cNvPr id="55" name="TextBox 55"/>
            <p:cNvSpPr txBox="1"/>
            <p:nvPr/>
          </p:nvSpPr>
          <p:spPr>
            <a:xfrm>
              <a:off x="6489573" y="4434364"/>
              <a:ext cx="4784622"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The same patterns hold on the real-world Cora-ML graph</a:t>
              </a:r>
            </a:p>
          </p:txBody>
        </p:sp>
        <p:sp>
          <p:nvSpPr>
            <p:cNvPr id="56" name="TextBox 56"/>
            <p:cNvSpPr txBox="1"/>
            <p:nvPr/>
          </p:nvSpPr>
          <p:spPr>
            <a:xfrm>
              <a:off x="6489573" y="4672489"/>
              <a:ext cx="4952993"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and on a Barabasi-Albert model with community structure.</a:t>
              </a:r>
            </a:p>
          </p:txBody>
        </p:sp>
        <p:sp>
          <p:nvSpPr>
            <p:cNvPr id="57" name="Rectangle 57"/>
            <p:cNvSpPr/>
            <p:nvPr/>
          </p:nvSpPr>
          <p:spPr>
            <a:xfrm>
              <a:off x="6496050" y="5600700"/>
              <a:ext cx="1238250" cy="247650"/>
            </a:xfrm>
            <a:prstGeom prst="roundRect">
              <a:avLst>
                <a:gd name="adj" fmla="val 50000"/>
              </a:avLst>
            </a:prstGeom>
            <a:solidFill>
              <a:srgbClr val="4C8DFF"/>
            </a:solidFill>
            <a:ln w="0">
              <a:solidFill>
                <a:srgbClr val="4C8DFF"/>
              </a:solidFill>
            </a:ln>
          </p:spPr>
        </p:sp>
        <p:sp>
          <p:nvSpPr>
            <p:cNvPr id="58" name="TextBox 58"/>
            <p:cNvSpPr txBox="1"/>
            <p:nvPr/>
          </p:nvSpPr>
          <p:spPr>
            <a:xfrm>
              <a:off x="6800787" y="5658802"/>
              <a:ext cx="628775"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Cora-ML</a:t>
              </a:r>
            </a:p>
          </p:txBody>
        </p:sp>
        <p:sp>
          <p:nvSpPr>
            <p:cNvPr id="59" name="Rectangle 59"/>
            <p:cNvSpPr/>
            <p:nvPr/>
          </p:nvSpPr>
          <p:spPr>
            <a:xfrm>
              <a:off x="7848600" y="5600700"/>
              <a:ext cx="2190750" cy="247650"/>
            </a:xfrm>
            <a:prstGeom prst="roundRect">
              <a:avLst>
                <a:gd name="adj" fmla="val 50000"/>
              </a:avLst>
            </a:prstGeom>
            <a:solidFill>
              <a:srgbClr val="F5B841"/>
            </a:solidFill>
            <a:ln w="0">
              <a:solidFill>
                <a:srgbClr val="F5B841"/>
              </a:solidFill>
            </a:ln>
          </p:spPr>
        </p:sp>
        <p:sp>
          <p:nvSpPr>
            <p:cNvPr id="60" name="TextBox 60"/>
            <p:cNvSpPr txBox="1"/>
            <p:nvPr/>
          </p:nvSpPr>
          <p:spPr>
            <a:xfrm>
              <a:off x="7895007" y="5658802"/>
              <a:ext cx="2097937"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Barabasi-Albert communities</a:t>
              </a:r>
            </a:p>
          </p:txBody>
        </p:sp>
      </p:grpSp>
      <p:sp>
        <p:nvSpPr>
          <p:cNvPr id="62" name="cue_s06_c1_controlled_experiments_run_contextua" title="cue_s06_c1_controlled_experiments_run_contextua" descr="cue_s06_c1_controlled_experiments_run_contextua The controlled experiments run on Contextual Stochastic Block Models, which let the authors compute the Bayes optimal reference exactly."/>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6_c2_graph_one_thousand_nodes_parametrize" title="cue_s06_c2_graph_one_thousand_nodes_parametrize" descr="cue_s06_c2_graph_one_thousand_nodes_parametrize Each graph has one thousand nodes and is parametrized to mimic CORA, matching its expected number of same-class and different-class edges."/>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6_c3_parameter_controls_how_discriminativ" title="cue_s06_c3_parameter_controls_how_discriminativ" descr="cue_s06_c3_parameter_controls_how_discriminativ A parameter K controls how discriminative the node features are, swept from zero-point-one, where features carry almost no signal and structure matters most, up to five, where structure becomes unnecessary."/>
          <p:cNvSpPr/>
          <p:nvPr/>
        </p:nvSpPr>
        <p:spPr>
          <a:xfrm>
            <a:off x="609600" y="3810304"/>
            <a:ext cx="5696102"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6_c4_they_inductively_sample_thousand_tes" title="cue_s06_c4_they_inductively_sample_thousand_tes" descr="cue_s06_c4_they_inductively_sample_thousand_tes They inductively sample a thousand test nodes per graph and average over ten graphs. Results are corroborated on the real-world Cora-ML graph and on a Barabási-Albert model with community structure."/>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081644"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KEY RESULT</a:t>
            </a:r>
          </a:p>
        </p:txBody>
      </p:sp>
      <p:sp>
        <p:nvSpPr>
          <p:cNvPr id="4" name="TextBox 4"/>
          <p:cNvSpPr txBox="1"/>
          <p:nvPr/>
        </p:nvSpPr>
        <p:spPr>
          <a:xfrm>
            <a:off x="807720" y="614362"/>
            <a:ext cx="66957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Perturbation sets are full of flipped labels</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07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5" name="Group 15"/>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114534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finding</a:t>
              </a:r>
            </a:p>
          </p:txBody>
        </p:sp>
        <p:sp>
          <p:nvSpPr>
            <p:cNvPr id="10" name="TextBox 10"/>
            <p:cNvSpPr txBox="1"/>
            <p:nvPr/>
          </p:nvSpPr>
          <p:spPr>
            <a:xfrm>
              <a:off x="850392" y="1797368"/>
              <a:ext cx="459966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For a majority of nodes, the standard perturbation</a:t>
              </a:r>
            </a:p>
          </p:txBody>
        </p:sp>
        <p:sp>
          <p:nvSpPr>
            <p:cNvPr id="11" name="TextBox 11"/>
            <p:cNvSpPr txBox="1"/>
            <p:nvPr/>
          </p:nvSpPr>
          <p:spPr>
            <a:xfrm>
              <a:off x="850392" y="2054542"/>
              <a:ext cx="461166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sets are full of graphs whose true label has already</a:t>
              </a:r>
            </a:p>
          </p:txBody>
        </p:sp>
        <p:sp>
          <p:nvSpPr>
            <p:cNvPr id="12" name="TextBox 12"/>
            <p:cNvSpPr txBox="1"/>
            <p:nvPr/>
          </p:nvSpPr>
          <p:spPr>
            <a:xfrm>
              <a:off x="850392" y="2311718"/>
              <a:ext cx="81335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changed.</a:t>
              </a:r>
            </a:p>
          </p:txBody>
        </p:sp>
        <p:sp>
          <p:nvSpPr>
            <p:cNvPr id="13" name="Rectangle 13"/>
            <p:cNvSpPr/>
            <p:nvPr/>
          </p:nvSpPr>
          <p:spPr>
            <a:xfrm>
              <a:off x="857250" y="3028950"/>
              <a:ext cx="2857500" cy="247650"/>
            </a:xfrm>
            <a:prstGeom prst="roundRect">
              <a:avLst>
                <a:gd name="adj" fmla="val 50000"/>
              </a:avLst>
            </a:prstGeom>
            <a:solidFill>
              <a:srgbClr val="FF6B6B"/>
            </a:solidFill>
            <a:ln w="0">
              <a:solidFill>
                <a:srgbClr val="FF6B6B"/>
              </a:solidFill>
            </a:ln>
          </p:spPr>
        </p:sp>
        <p:sp>
          <p:nvSpPr>
            <p:cNvPr id="14" name="TextBox 14"/>
            <p:cNvSpPr txBox="1"/>
            <p:nvPr/>
          </p:nvSpPr>
          <p:spPr>
            <a:xfrm>
              <a:off x="930057" y="3087052"/>
              <a:ext cx="2711886"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'small' edit =/= semantics preserved</a:t>
              </a:r>
            </a:p>
          </p:txBody>
        </p:sp>
      </p:grpSp>
      <p:grpSp>
        <p:nvGrpSpPr>
          <p:cNvPr id="22" name="Group 22"/>
          <p:cNvGrpSpPr/>
          <p:nvPr/>
        </p:nvGrpSpPr>
        <p:grpSpPr>
          <a:xfrm>
            <a:off x="6248400" y="1162050"/>
            <a:ext cx="5334000" cy="2457450"/>
            <a:chOff x="6248400" y="1162050"/>
            <a:chExt cx="5334000" cy="2457450"/>
          </a:xfrm>
        </p:grpSpPr>
        <p:sp>
          <p:nvSpPr>
            <p:cNvPr id="16" name="Rectangle 16"/>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17" name="Rectangle 17"/>
            <p:cNvSpPr/>
            <p:nvPr/>
          </p:nvSpPr>
          <p:spPr>
            <a:xfrm>
              <a:off x="6248400" y="1162050"/>
              <a:ext cx="57150" cy="2457450"/>
            </a:xfrm>
            <a:prstGeom prst="roundRect">
              <a:avLst>
                <a:gd name="adj" fmla="val 50000"/>
              </a:avLst>
            </a:prstGeom>
            <a:solidFill>
              <a:srgbClr val="FF6B6B"/>
            </a:solidFill>
            <a:ln w="0">
              <a:solidFill>
                <a:srgbClr val="FF6B6B"/>
              </a:solidFill>
            </a:ln>
          </p:spPr>
        </p:sp>
        <p:sp>
          <p:nvSpPr>
            <p:cNvPr id="18" name="TextBox 18"/>
            <p:cNvSpPr txBox="1"/>
            <p:nvPr/>
          </p:nvSpPr>
          <p:spPr>
            <a:xfrm>
              <a:off x="6488430" y="1400175"/>
              <a:ext cx="276774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Semantics already changed</a:t>
              </a:r>
            </a:p>
          </p:txBody>
        </p:sp>
        <p:sp>
          <p:nvSpPr>
            <p:cNvPr id="19" name="TextBox 19"/>
            <p:cNvSpPr txBox="1"/>
            <p:nvPr/>
          </p:nvSpPr>
          <p:spPr>
            <a:xfrm>
              <a:off x="7707941" y="1975485"/>
              <a:ext cx="2414917" cy="1104900"/>
            </a:xfrm>
            <a:prstGeom prst="rect">
              <a:avLst/>
            </a:prstGeom>
            <a:noFill/>
            <a:ln>
              <a:noFill/>
            </a:ln>
          </p:spPr>
          <p:txBody>
            <a:bodyPr wrap="none" lIns="0" tIns="0" rIns="0" bIns="0" anchor="t" anchorCtr="0">
              <a:spAutoFit/>
            </a:bodyPr>
            <a:lstStyle/>
            <a:p>
              <a:pPr algn="ctr"/>
              <a:r>
                <a:rPr lang="en-US" sz="5700" b="1" dirty="0">
                  <a:solidFill>
                    <a:srgbClr val="FF6B6B"/>
                  </a:solidFill>
                  <a:latin typeface="+mn-lt"/>
                  <a:ea typeface="+mn-ea"/>
                  <a:cs typeface="+mn-cs"/>
                </a:rPr>
                <a:t>99.4%</a:t>
              </a:r>
            </a:p>
          </p:txBody>
        </p:sp>
        <p:sp>
          <p:nvSpPr>
            <p:cNvPr id="20" name="TextBox 20"/>
            <p:cNvSpPr txBox="1"/>
            <p:nvPr/>
          </p:nvSpPr>
          <p:spPr>
            <a:xfrm>
              <a:off x="7342327" y="2937510"/>
              <a:ext cx="3146146" cy="234696"/>
            </a:xfrm>
            <a:prstGeom prst="rect">
              <a:avLst/>
            </a:prstGeom>
            <a:noFill/>
            <a:ln>
              <a:noFill/>
            </a:ln>
          </p:spPr>
          <p:txBody>
            <a:bodyPr wrap="none" lIns="0" tIns="0" rIns="0" bIns="0" anchor="t" anchorCtr="0">
              <a:spAutoFit/>
            </a:bodyPr>
            <a:lstStyle/>
            <a:p>
              <a:pPr algn="ctr"/>
              <a:r>
                <a:rPr lang="en-US" sz="1200" dirty="0">
                  <a:solidFill>
                    <a:srgbClr val="9DB2C4"/>
                  </a:solidFill>
                  <a:latin typeface="+mn-lt"/>
                  <a:ea typeface="+mn-ea"/>
                  <a:cs typeface="+mn-cs"/>
                </a:rPr>
                <a:t>of target nodes have a perturbed graph</a:t>
              </a:r>
            </a:p>
          </p:txBody>
        </p:sp>
        <p:sp>
          <p:nvSpPr>
            <p:cNvPr id="21" name="TextBox 21"/>
            <p:cNvSpPr txBox="1"/>
            <p:nvPr/>
          </p:nvSpPr>
          <p:spPr>
            <a:xfrm>
              <a:off x="7044521" y="3174206"/>
              <a:ext cx="3741758" cy="220028"/>
            </a:xfrm>
            <a:prstGeom prst="rect">
              <a:avLst/>
            </a:prstGeom>
            <a:noFill/>
            <a:ln>
              <a:noFill/>
            </a:ln>
          </p:spPr>
          <p:txBody>
            <a:bodyPr wrap="none" lIns="0" tIns="0" rIns="0" bIns="0" anchor="t" anchorCtr="0">
              <a:spAutoFit/>
            </a:bodyPr>
            <a:lstStyle/>
            <a:p>
              <a:pPr algn="ctr"/>
              <a:r>
                <a:rPr lang="en-US" sz="1120" dirty="0">
                  <a:solidFill>
                    <a:srgbClr val="9DB2C4"/>
                  </a:solidFill>
                  <a:latin typeface="+mn-lt"/>
                  <a:ea typeface="+mn-ea"/>
                  <a:cs typeface="+mn-cs"/>
                </a:rPr>
                <a:t>with a changed true label (K = 1, degree+2 budget)</a:t>
              </a:r>
            </a:p>
          </p:txBody>
        </p:sp>
      </p:grpSp>
      <p:grpSp>
        <p:nvGrpSpPr>
          <p:cNvPr id="45" name="Group 45"/>
          <p:cNvGrpSpPr/>
          <p:nvPr/>
        </p:nvGrpSpPr>
        <p:grpSpPr>
          <a:xfrm>
            <a:off x="609600" y="3810000"/>
            <a:ext cx="5334000" cy="2457450"/>
            <a:chOff x="609600" y="3810000"/>
            <a:chExt cx="5334000" cy="2457450"/>
          </a:xfrm>
        </p:grpSpPr>
        <p:sp>
          <p:nvSpPr>
            <p:cNvPr id="23" name="Rectangle 23"/>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24" name="Rectangle 24"/>
            <p:cNvSpPr/>
            <p:nvPr/>
          </p:nvSpPr>
          <p:spPr>
            <a:xfrm>
              <a:off x="609600" y="3810000"/>
              <a:ext cx="57150" cy="2457450"/>
            </a:xfrm>
            <a:prstGeom prst="roundRect">
              <a:avLst>
                <a:gd name="adj" fmla="val 50000"/>
              </a:avLst>
            </a:prstGeom>
            <a:solidFill>
              <a:srgbClr val="F5B841"/>
            </a:solidFill>
            <a:ln w="0">
              <a:solidFill>
                <a:srgbClr val="F5B841"/>
              </a:solidFill>
            </a:ln>
          </p:spPr>
        </p:sp>
        <p:sp>
          <p:nvSpPr>
            <p:cNvPr id="25" name="TextBox 25"/>
            <p:cNvSpPr txBox="1"/>
            <p:nvPr/>
          </p:nvSpPr>
          <p:spPr>
            <a:xfrm>
              <a:off x="849630" y="4029075"/>
              <a:ext cx="263124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Every GNN is over-robust</a:t>
              </a:r>
            </a:p>
          </p:txBody>
        </p:sp>
        <p:sp>
          <p:nvSpPr>
            <p:cNvPr id="26" name="TextBox 26"/>
            <p:cNvSpPr txBox="1"/>
            <p:nvPr/>
          </p:nvSpPr>
          <p:spPr>
            <a:xfrm>
              <a:off x="852297" y="4295299"/>
              <a:ext cx="2864441" cy="190690"/>
            </a:xfrm>
            <a:prstGeom prst="rect">
              <a:avLst/>
            </a:prstGeom>
            <a:noFill/>
            <a:ln>
              <a:noFill/>
            </a:ln>
          </p:spPr>
          <p:txBody>
            <a:bodyPr wrap="none" lIns="0" tIns="0" rIns="0" bIns="0" anchor="t" anchorCtr="0">
              <a:spAutoFit/>
            </a:bodyPr>
            <a:lstStyle/>
            <a:p>
              <a:pPr algn="l"/>
              <a:r>
                <a:rPr lang="en-US" sz="980" dirty="0">
                  <a:solidFill>
                    <a:srgbClr val="9DB2C4"/>
                  </a:solidFill>
                  <a:latin typeface="+mn-lt"/>
                  <a:ea typeface="+mn-ea"/>
                  <a:cs typeface="+mn-cs"/>
                </a:rPr>
                <a:t>over-robustness at K = 0.1, weak L2 attack</a:t>
              </a:r>
            </a:p>
          </p:txBody>
        </p:sp>
        <p:sp>
          <p:nvSpPr>
            <p:cNvPr id="27" name="TextBox 27"/>
            <p:cNvSpPr txBox="1"/>
            <p:nvPr/>
          </p:nvSpPr>
          <p:spPr>
            <a:xfrm>
              <a:off x="851916" y="4744402"/>
              <a:ext cx="185039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MLP (perfect-robust ref)</a:t>
              </a:r>
            </a:p>
          </p:txBody>
        </p:sp>
        <p:sp>
          <p:nvSpPr>
            <p:cNvPr id="28" name="Rectangle 28"/>
            <p:cNvSpPr/>
            <p:nvPr/>
          </p:nvSpPr>
          <p:spPr>
            <a:xfrm>
              <a:off x="2609850" y="4686300"/>
              <a:ext cx="2857500" cy="247650"/>
            </a:xfrm>
            <a:prstGeom prst="roundRect">
              <a:avLst>
                <a:gd name="adj" fmla="val 23077"/>
              </a:avLst>
            </a:prstGeom>
            <a:solidFill>
              <a:schemeClr val="accent6"/>
            </a:solidFill>
            <a:ln w="9525">
              <a:solidFill>
                <a:srgbClr val="1E3A52"/>
              </a:solidFill>
            </a:ln>
          </p:spPr>
        </p:sp>
        <p:sp>
          <p:nvSpPr>
            <p:cNvPr id="29" name="Rectangle 29"/>
            <p:cNvSpPr/>
            <p:nvPr/>
          </p:nvSpPr>
          <p:spPr>
            <a:xfrm>
              <a:off x="2609850" y="4686300"/>
              <a:ext cx="2457450" cy="247650"/>
            </a:xfrm>
            <a:prstGeom prst="roundRect">
              <a:avLst>
                <a:gd name="adj" fmla="val 23077"/>
              </a:avLst>
            </a:prstGeom>
            <a:solidFill>
              <a:srgbClr val="FF6B6B"/>
            </a:solidFill>
            <a:ln w="0">
              <a:solidFill>
                <a:srgbClr val="FF6B6B"/>
              </a:solidFill>
            </a:ln>
          </p:spPr>
        </p:sp>
        <p:sp>
          <p:nvSpPr>
            <p:cNvPr id="30" name="TextBox 30"/>
            <p:cNvSpPr txBox="1"/>
            <p:nvPr/>
          </p:nvSpPr>
          <p:spPr>
            <a:xfrm>
              <a:off x="5138166" y="4744402"/>
              <a:ext cx="285242" cy="205359"/>
            </a:xfrm>
            <a:prstGeom prst="rect">
              <a:avLst/>
            </a:prstGeom>
            <a:noFill/>
            <a:ln>
              <a:noFill/>
            </a:ln>
          </p:spPr>
          <p:txBody>
            <a:bodyPr wrap="none" lIns="0" tIns="0" rIns="0" bIns="0" anchor="t" anchorCtr="0">
              <a:spAutoFit/>
            </a:bodyPr>
            <a:lstStyle/>
            <a:p>
              <a:pPr algn="l"/>
              <a:r>
                <a:rPr lang="en-US" sz="1050" b="1" dirty="0">
                  <a:solidFill>
                    <a:srgbClr val="FF6B6B"/>
                  </a:solidFill>
                  <a:latin typeface="+mn-lt"/>
                  <a:ea typeface="+mn-ea"/>
                  <a:cs typeface="+mn-cs"/>
                </a:rPr>
                <a:t>43%</a:t>
              </a:r>
            </a:p>
          </p:txBody>
        </p:sp>
        <p:sp>
          <p:nvSpPr>
            <p:cNvPr id="31" name="TextBox 31"/>
            <p:cNvSpPr txBox="1"/>
            <p:nvPr/>
          </p:nvSpPr>
          <p:spPr>
            <a:xfrm>
              <a:off x="851916" y="5106352"/>
              <a:ext cx="25709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GCN</a:t>
              </a:r>
            </a:p>
          </p:txBody>
        </p:sp>
        <p:sp>
          <p:nvSpPr>
            <p:cNvPr id="32" name="Rectangle 32"/>
            <p:cNvSpPr/>
            <p:nvPr/>
          </p:nvSpPr>
          <p:spPr>
            <a:xfrm>
              <a:off x="2609850" y="5048250"/>
              <a:ext cx="2857500" cy="247650"/>
            </a:xfrm>
            <a:prstGeom prst="roundRect">
              <a:avLst>
                <a:gd name="adj" fmla="val 23077"/>
              </a:avLst>
            </a:prstGeom>
            <a:solidFill>
              <a:schemeClr val="accent6"/>
            </a:solidFill>
            <a:ln w="9525">
              <a:solidFill>
                <a:srgbClr val="1E3A52"/>
              </a:solidFill>
            </a:ln>
          </p:spPr>
        </p:sp>
        <p:sp>
          <p:nvSpPr>
            <p:cNvPr id="33" name="Rectangle 33"/>
            <p:cNvSpPr/>
            <p:nvPr/>
          </p:nvSpPr>
          <p:spPr>
            <a:xfrm>
              <a:off x="2609850" y="5048250"/>
              <a:ext cx="2343150" cy="247650"/>
            </a:xfrm>
            <a:prstGeom prst="roundRect">
              <a:avLst>
                <a:gd name="adj" fmla="val 23077"/>
              </a:avLst>
            </a:prstGeom>
            <a:solidFill>
              <a:srgbClr val="F5B841"/>
            </a:solidFill>
            <a:ln w="0">
              <a:solidFill>
                <a:srgbClr val="F5B841"/>
              </a:solidFill>
            </a:ln>
          </p:spPr>
        </p:sp>
        <p:sp>
          <p:nvSpPr>
            <p:cNvPr id="34" name="TextBox 34"/>
            <p:cNvSpPr txBox="1"/>
            <p:nvPr/>
          </p:nvSpPr>
          <p:spPr>
            <a:xfrm>
              <a:off x="5023866" y="5106352"/>
              <a:ext cx="285242" cy="205359"/>
            </a:xfrm>
            <a:prstGeom prst="rect">
              <a:avLst/>
            </a:prstGeom>
            <a:noFill/>
            <a:ln>
              <a:noFill/>
            </a:ln>
          </p:spPr>
          <p:txBody>
            <a:bodyPr wrap="none" lIns="0" tIns="0" rIns="0" bIns="0" anchor="t" anchorCtr="0">
              <a:spAutoFit/>
            </a:bodyPr>
            <a:lstStyle/>
            <a:p>
              <a:pPr algn="l"/>
              <a:r>
                <a:rPr lang="en-US" sz="1050" b="1" dirty="0">
                  <a:solidFill>
                    <a:srgbClr val="F5B841"/>
                  </a:solidFill>
                  <a:latin typeface="+mn-lt"/>
                  <a:ea typeface="+mn-ea"/>
                  <a:cs typeface="+mn-cs"/>
                </a:rPr>
                <a:t>41%</a:t>
              </a:r>
            </a:p>
          </p:txBody>
        </p:sp>
        <p:sp>
          <p:nvSpPr>
            <p:cNvPr id="35" name="TextBox 35"/>
            <p:cNvSpPr txBox="1"/>
            <p:nvPr/>
          </p:nvSpPr>
          <p:spPr>
            <a:xfrm>
              <a:off x="851916" y="5468302"/>
              <a:ext cx="25709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GAT</a:t>
              </a:r>
            </a:p>
          </p:txBody>
        </p:sp>
        <p:sp>
          <p:nvSpPr>
            <p:cNvPr id="36" name="Rectangle 36"/>
            <p:cNvSpPr/>
            <p:nvPr/>
          </p:nvSpPr>
          <p:spPr>
            <a:xfrm>
              <a:off x="2609850" y="5410200"/>
              <a:ext cx="2857500" cy="247650"/>
            </a:xfrm>
            <a:prstGeom prst="roundRect">
              <a:avLst>
                <a:gd name="adj" fmla="val 23077"/>
              </a:avLst>
            </a:prstGeom>
            <a:solidFill>
              <a:schemeClr val="accent6"/>
            </a:solidFill>
            <a:ln w="9525">
              <a:solidFill>
                <a:srgbClr val="1E3A52"/>
              </a:solidFill>
            </a:ln>
          </p:spPr>
        </p:sp>
        <p:sp>
          <p:nvSpPr>
            <p:cNvPr id="37" name="Rectangle 37"/>
            <p:cNvSpPr/>
            <p:nvPr/>
          </p:nvSpPr>
          <p:spPr>
            <a:xfrm>
              <a:off x="2609850" y="5410200"/>
              <a:ext cx="2286000" cy="247650"/>
            </a:xfrm>
            <a:prstGeom prst="roundRect">
              <a:avLst>
                <a:gd name="adj" fmla="val 23077"/>
              </a:avLst>
            </a:prstGeom>
            <a:solidFill>
              <a:srgbClr val="F5B841"/>
            </a:solidFill>
            <a:ln w="0">
              <a:solidFill>
                <a:srgbClr val="F5B841"/>
              </a:solidFill>
            </a:ln>
          </p:spPr>
        </p:sp>
        <p:sp>
          <p:nvSpPr>
            <p:cNvPr id="38" name="TextBox 38"/>
            <p:cNvSpPr txBox="1"/>
            <p:nvPr/>
          </p:nvSpPr>
          <p:spPr>
            <a:xfrm>
              <a:off x="4966716" y="5468302"/>
              <a:ext cx="285242" cy="205359"/>
            </a:xfrm>
            <a:prstGeom prst="rect">
              <a:avLst/>
            </a:prstGeom>
            <a:noFill/>
            <a:ln>
              <a:noFill/>
            </a:ln>
          </p:spPr>
          <p:txBody>
            <a:bodyPr wrap="none" lIns="0" tIns="0" rIns="0" bIns="0" anchor="t" anchorCtr="0">
              <a:spAutoFit/>
            </a:bodyPr>
            <a:lstStyle/>
            <a:p>
              <a:pPr algn="l"/>
              <a:r>
                <a:rPr lang="en-US" sz="1050" b="1" dirty="0">
                  <a:solidFill>
                    <a:srgbClr val="F5B841"/>
                  </a:solidFill>
                  <a:latin typeface="+mn-lt"/>
                  <a:ea typeface="+mn-ea"/>
                  <a:cs typeface="+mn-cs"/>
                </a:rPr>
                <a:t>40%</a:t>
              </a:r>
            </a:p>
          </p:txBody>
        </p:sp>
        <p:sp>
          <p:nvSpPr>
            <p:cNvPr id="39" name="TextBox 39"/>
            <p:cNvSpPr txBox="1"/>
            <p:nvPr/>
          </p:nvSpPr>
          <p:spPr>
            <a:xfrm>
              <a:off x="851916" y="5830252"/>
              <a:ext cx="42138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APPNP</a:t>
              </a:r>
            </a:p>
          </p:txBody>
        </p:sp>
        <p:sp>
          <p:nvSpPr>
            <p:cNvPr id="40" name="Rectangle 40"/>
            <p:cNvSpPr/>
            <p:nvPr/>
          </p:nvSpPr>
          <p:spPr>
            <a:xfrm>
              <a:off x="2609850" y="5772150"/>
              <a:ext cx="2857500" cy="247650"/>
            </a:xfrm>
            <a:prstGeom prst="roundRect">
              <a:avLst>
                <a:gd name="adj" fmla="val 23077"/>
              </a:avLst>
            </a:prstGeom>
            <a:solidFill>
              <a:schemeClr val="accent6"/>
            </a:solidFill>
            <a:ln w="9525">
              <a:solidFill>
                <a:srgbClr val="1E3A52"/>
              </a:solidFill>
            </a:ln>
          </p:spPr>
        </p:sp>
        <p:sp>
          <p:nvSpPr>
            <p:cNvPr id="41" name="Rectangle 41"/>
            <p:cNvSpPr/>
            <p:nvPr/>
          </p:nvSpPr>
          <p:spPr>
            <a:xfrm>
              <a:off x="2609850" y="5772150"/>
              <a:ext cx="2228850" cy="247650"/>
            </a:xfrm>
            <a:prstGeom prst="roundRect">
              <a:avLst>
                <a:gd name="adj" fmla="val 23077"/>
              </a:avLst>
            </a:prstGeom>
            <a:solidFill>
              <a:srgbClr val="F5B841"/>
            </a:solidFill>
            <a:ln w="0">
              <a:solidFill>
                <a:srgbClr val="F5B841"/>
              </a:solidFill>
            </a:ln>
          </p:spPr>
        </p:sp>
        <p:sp>
          <p:nvSpPr>
            <p:cNvPr id="42" name="TextBox 42"/>
            <p:cNvSpPr txBox="1"/>
            <p:nvPr/>
          </p:nvSpPr>
          <p:spPr>
            <a:xfrm>
              <a:off x="4909566" y="5830252"/>
              <a:ext cx="285242" cy="205359"/>
            </a:xfrm>
            <a:prstGeom prst="rect">
              <a:avLst/>
            </a:prstGeom>
            <a:noFill/>
            <a:ln>
              <a:noFill/>
            </a:ln>
          </p:spPr>
          <p:txBody>
            <a:bodyPr wrap="none" lIns="0" tIns="0" rIns="0" bIns="0" anchor="t" anchorCtr="0">
              <a:spAutoFit/>
            </a:bodyPr>
            <a:lstStyle/>
            <a:p>
              <a:pPr algn="l"/>
              <a:r>
                <a:rPr lang="en-US" sz="1050" b="1" dirty="0">
                  <a:solidFill>
                    <a:srgbClr val="F5B841"/>
                  </a:solidFill>
                  <a:latin typeface="+mn-lt"/>
                  <a:ea typeface="+mn-ea"/>
                  <a:cs typeface="+mn-cs"/>
                </a:rPr>
                <a:t>39%</a:t>
              </a:r>
            </a:p>
          </p:txBody>
        </p:sp>
        <p:sp>
          <p:nvSpPr>
            <p:cNvPr id="43" name="Line 43"/>
            <p:cNvSpPr/>
            <p:nvPr/>
          </p:nvSpPr>
          <p:spPr>
            <a:xfrm>
              <a:off x="5067300" y="4648200"/>
              <a:ext cx="9525" cy="1447800"/>
            </a:xfrm>
            <a:custGeom>
              <a:avLst/>
              <a:gdLst/>
              <a:ahLst/>
              <a:cxnLst/>
              <a:rect l="l" t="t" r="r" b="b"/>
              <a:pathLst>
                <a:path w="9525" h="1447800">
                  <a:moveTo>
                    <a:pt x="0" y="0"/>
                  </a:moveTo>
                  <a:lnTo>
                    <a:pt x="0" y="1447800"/>
                  </a:lnTo>
                </a:path>
              </a:pathLst>
            </a:custGeom>
            <a:noFill/>
            <a:ln w="14288">
              <a:solidFill>
                <a:srgbClr val="FF6B6B"/>
              </a:solidFill>
              <a:custDash>
                <a:ds d="266667" sp="200000"/>
              </a:custDash>
            </a:ln>
          </p:spPr>
        </p:sp>
        <p:sp>
          <p:nvSpPr>
            <p:cNvPr id="44" name="TextBox 44"/>
            <p:cNvSpPr txBox="1"/>
            <p:nvPr/>
          </p:nvSpPr>
          <p:spPr>
            <a:xfrm>
              <a:off x="4711179" y="6075045"/>
              <a:ext cx="712241" cy="176212"/>
            </a:xfrm>
            <a:prstGeom prst="rect">
              <a:avLst/>
            </a:prstGeom>
            <a:noFill/>
            <a:ln>
              <a:noFill/>
            </a:ln>
          </p:spPr>
          <p:txBody>
            <a:bodyPr wrap="none" lIns="0" tIns="0" rIns="0" bIns="0" anchor="t" anchorCtr="0">
              <a:spAutoFit/>
            </a:bodyPr>
            <a:lstStyle/>
            <a:p>
              <a:pPr algn="ctr"/>
              <a:r>
                <a:rPr lang="en-US" sz="900" dirty="0">
                  <a:solidFill>
                    <a:srgbClr val="FF6B6B"/>
                  </a:solidFill>
                  <a:latin typeface="+mn-lt"/>
                  <a:ea typeface="+mn-ea"/>
                  <a:cs typeface="+mn-cs"/>
                </a:rPr>
                <a:t>upper bound</a:t>
              </a:r>
            </a:p>
          </p:txBody>
        </p:sp>
      </p:grpSp>
      <p:grpSp>
        <p:nvGrpSpPr>
          <p:cNvPr id="53" name="Group 53"/>
          <p:cNvGrpSpPr/>
          <p:nvPr/>
        </p:nvGrpSpPr>
        <p:grpSpPr>
          <a:xfrm>
            <a:off x="6248400" y="3810000"/>
            <a:ext cx="5334000" cy="2457450"/>
            <a:chOff x="6248400" y="3810000"/>
            <a:chExt cx="5334000" cy="2457450"/>
          </a:xfrm>
        </p:grpSpPr>
        <p:sp>
          <p:nvSpPr>
            <p:cNvPr id="46" name="Rectangle 46"/>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47" name="Rectangle 47"/>
            <p:cNvSpPr/>
            <p:nvPr/>
          </p:nvSpPr>
          <p:spPr>
            <a:xfrm>
              <a:off x="6248400" y="3810000"/>
              <a:ext cx="57150" cy="2457450"/>
            </a:xfrm>
            <a:prstGeom prst="roundRect">
              <a:avLst>
                <a:gd name="adj" fmla="val 50000"/>
              </a:avLst>
            </a:prstGeom>
            <a:solidFill>
              <a:srgbClr val="4C8DFF"/>
            </a:solidFill>
            <a:ln w="0">
              <a:solidFill>
                <a:srgbClr val="4C8DFF"/>
              </a:solidFill>
            </a:ln>
          </p:spPr>
        </p:sp>
        <p:sp>
          <p:nvSpPr>
            <p:cNvPr id="48" name="TextBox 48"/>
            <p:cNvSpPr txBox="1"/>
            <p:nvPr/>
          </p:nvSpPr>
          <p:spPr>
            <a:xfrm>
              <a:off x="6488430" y="4048125"/>
              <a:ext cx="167944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What 43% means</a:t>
              </a:r>
            </a:p>
          </p:txBody>
        </p:sp>
        <p:sp>
          <p:nvSpPr>
            <p:cNvPr id="49" name="TextBox 49"/>
            <p:cNvSpPr txBox="1"/>
            <p:nvPr/>
          </p:nvSpPr>
          <p:spPr>
            <a:xfrm>
              <a:off x="6489573" y="4453414"/>
              <a:ext cx="4683765"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Even a perfectly robust reference (an MLP) shows 43%</a:t>
              </a:r>
            </a:p>
          </p:txBody>
        </p:sp>
        <p:sp>
          <p:nvSpPr>
            <p:cNvPr id="50" name="TextBox 50"/>
            <p:cNvSpPr txBox="1"/>
            <p:nvPr/>
          </p:nvSpPr>
          <p:spPr>
            <a:xfrm>
              <a:off x="6489573" y="4691539"/>
              <a:ext cx="4286331"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over-robustness: 43% of its measured adversarial</a:t>
              </a:r>
            </a:p>
          </p:txBody>
        </p:sp>
        <p:sp>
          <p:nvSpPr>
            <p:cNvPr id="51" name="TextBox 51"/>
            <p:cNvSpPr txBox="1"/>
            <p:nvPr/>
          </p:nvSpPr>
          <p:spPr>
            <a:xfrm>
              <a:off x="6489573" y="4929664"/>
              <a:ext cx="4605111"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robustness is undesirable — robustness beyond genuine</a:t>
              </a:r>
            </a:p>
          </p:txBody>
        </p:sp>
        <p:sp>
          <p:nvSpPr>
            <p:cNvPr id="52" name="TextBox 52"/>
            <p:cNvSpPr txBox="1"/>
            <p:nvPr/>
          </p:nvSpPr>
          <p:spPr>
            <a:xfrm>
              <a:off x="6489573" y="5167789"/>
              <a:ext cx="4628742"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semantic change. All GNNs cluster close to that bound.</a:t>
              </a:r>
            </a:p>
          </p:txBody>
        </p:sp>
      </p:grpSp>
      <p:sp>
        <p:nvSpPr>
          <p:cNvPr id="54" name="cue_s07_c1_findings_striking_majority_nodes_sta" title="cue_s07_c1_findings_striking_majority_nodes_sta" descr="cue_s07_c1_findings_striking_majority_nodes_sta The findings are striking. For a majority of nodes, the standard perturbation sets are full of graphs whose true label has already changed."/>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7_c2_example_equal_one_per_node_degree_pl" title="cue_s07_c2_example_equal_one_per_node_degree_pl" descr="cue_s07_c2_example_equal_one_per_node_degree_pl For example, at K equal to one and a per-node degree-plus-two budget, ninety-nine-point-four percent of target nodes have a perturbed graph with changed semantics."/>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7_c3_every_graph_neural_network_tested" title="cue_s07_c3_every_graph_neural_network_tested" descr="cue_s07_c3_every_graph_neural_network_tested And every graph neural network tested shows over-robustness."/>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7_c4_perfectly_robust_reference_like_mlp" title="cue_s07_c4_perfectly_robust_reference_like_mlp" descr="cue_s07_c4_perfectly_robust_reference_like_mlp A perfectly robust reference like an MLP exhibits forty-three percent over-robustness at K equal to zero-point-one under the weak ℓ₂ attack, meaning forty-three percent of its measured adversarial robustness is actually undesirable robustness beyond semantic c"/>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526627"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ABLATION STUDY</a:t>
            </a:r>
          </a:p>
        </p:txBody>
      </p:sp>
      <p:sp>
        <p:nvSpPr>
          <p:cNvPr id="4" name="TextBox 4"/>
          <p:cNvSpPr txBox="1"/>
          <p:nvPr/>
        </p:nvSpPr>
        <p:spPr>
          <a:xfrm>
            <a:off x="807720" y="614362"/>
            <a:ext cx="796890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Label propagation cuts over-robustness — for free</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08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3" name="Group 13"/>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167573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key ablation</a:t>
              </a:r>
            </a:p>
          </p:txBody>
        </p:sp>
        <p:sp>
          <p:nvSpPr>
            <p:cNvPr id="10" name="TextBox 10"/>
            <p:cNvSpPr txBox="1"/>
            <p:nvPr/>
          </p:nvSpPr>
          <p:spPr>
            <a:xfrm>
              <a:off x="850392" y="1797368"/>
              <a:ext cx="439891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Applying label propagation on top of a GNN sharply</a:t>
              </a:r>
            </a:p>
          </p:txBody>
        </p:sp>
        <p:sp>
          <p:nvSpPr>
            <p:cNvPr id="11" name="TextBox 11"/>
            <p:cNvSpPr txBox="1"/>
            <p:nvPr/>
          </p:nvSpPr>
          <p:spPr>
            <a:xfrm>
              <a:off x="850392" y="2054542"/>
              <a:ext cx="469725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lowers over-robustness — and LP on its own achieves</a:t>
              </a:r>
            </a:p>
          </p:txBody>
        </p:sp>
        <p:sp>
          <p:nvSpPr>
            <p:cNvPr id="12" name="TextBox 12"/>
            <p:cNvSpPr txBox="1"/>
            <p:nvPr/>
          </p:nvSpPr>
          <p:spPr>
            <a:xfrm>
              <a:off x="850392" y="2311718"/>
              <a:ext cx="391197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lowest over-robustness of any method.</a:t>
              </a:r>
            </a:p>
          </p:txBody>
        </p:sp>
      </p:grpSp>
      <p:grpSp>
        <p:nvGrpSpPr>
          <p:cNvPr id="25" name="Group 25"/>
          <p:cNvGrpSpPr/>
          <p:nvPr/>
        </p:nvGrpSpPr>
        <p:grpSpPr>
          <a:xfrm>
            <a:off x="6248400" y="1162050"/>
            <a:ext cx="5334000" cy="2457450"/>
            <a:chOff x="6248400" y="1162050"/>
            <a:chExt cx="5334000" cy="2457450"/>
          </a:xfrm>
        </p:grpSpPr>
        <p:sp>
          <p:nvSpPr>
            <p:cNvPr id="14" name="Rectangle 14"/>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15" name="Rectangle 15"/>
            <p:cNvSpPr/>
            <p:nvPr/>
          </p:nvSpPr>
          <p:spPr>
            <a:xfrm>
              <a:off x="6248400" y="1162050"/>
              <a:ext cx="57150" cy="2457450"/>
            </a:xfrm>
            <a:prstGeom prst="roundRect">
              <a:avLst>
                <a:gd name="adj" fmla="val 50000"/>
              </a:avLst>
            </a:prstGeom>
            <a:solidFill>
              <a:srgbClr val="48D597"/>
            </a:solidFill>
            <a:ln w="0">
              <a:solidFill>
                <a:srgbClr val="48D597"/>
              </a:solidFill>
            </a:ln>
          </p:spPr>
        </p:sp>
        <p:sp>
          <p:nvSpPr>
            <p:cNvPr id="16" name="TextBox 16"/>
            <p:cNvSpPr txBox="1"/>
            <p:nvPr/>
          </p:nvSpPr>
          <p:spPr>
            <a:xfrm>
              <a:off x="6488430" y="1381125"/>
              <a:ext cx="289665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Over-robustness at K = 0.5</a:t>
              </a:r>
            </a:p>
          </p:txBody>
        </p:sp>
        <p:sp>
          <p:nvSpPr>
            <p:cNvPr id="17" name="Rectangle 17"/>
            <p:cNvSpPr/>
            <p:nvPr/>
          </p:nvSpPr>
          <p:spPr>
            <a:xfrm>
              <a:off x="7105650" y="2724150"/>
              <a:ext cx="1428750" cy="533400"/>
            </a:xfrm>
            <a:prstGeom prst="roundRect">
              <a:avLst>
                <a:gd name="adj" fmla="val 10714"/>
              </a:avLst>
            </a:prstGeom>
            <a:solidFill>
              <a:srgbClr val="F5B841"/>
            </a:solidFill>
            <a:ln w="0">
              <a:solidFill>
                <a:srgbClr val="F5B841"/>
              </a:solidFill>
            </a:ln>
          </p:spPr>
        </p:sp>
        <p:sp>
          <p:nvSpPr>
            <p:cNvPr id="18" name="TextBox 18"/>
            <p:cNvSpPr txBox="1"/>
            <p:nvPr/>
          </p:nvSpPr>
          <p:spPr>
            <a:xfrm>
              <a:off x="7595906" y="2431732"/>
              <a:ext cx="448238" cy="322707"/>
            </a:xfrm>
            <a:prstGeom prst="rect">
              <a:avLst/>
            </a:prstGeom>
            <a:noFill/>
            <a:ln>
              <a:noFill/>
            </a:ln>
          </p:spPr>
          <p:txBody>
            <a:bodyPr wrap="none" lIns="0" tIns="0" rIns="0" bIns="0" anchor="t" anchorCtr="0">
              <a:spAutoFit/>
            </a:bodyPr>
            <a:lstStyle/>
            <a:p>
              <a:pPr algn="ctr"/>
              <a:r>
                <a:rPr lang="en-US" sz="1650" b="1" dirty="0">
                  <a:solidFill>
                    <a:srgbClr val="F5B841"/>
                  </a:solidFill>
                  <a:latin typeface="+mn-lt"/>
                  <a:ea typeface="+mn-ea"/>
                  <a:cs typeface="+mn-cs"/>
                </a:rPr>
                <a:t>21%</a:t>
              </a:r>
            </a:p>
          </p:txBody>
        </p:sp>
        <p:sp>
          <p:nvSpPr>
            <p:cNvPr id="19" name="TextBox 19"/>
            <p:cNvSpPr txBox="1"/>
            <p:nvPr/>
          </p:nvSpPr>
          <p:spPr>
            <a:xfrm>
              <a:off x="7488125" y="3364706"/>
              <a:ext cx="663800"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GCN + LP</a:t>
              </a:r>
            </a:p>
          </p:txBody>
        </p:sp>
        <p:sp>
          <p:nvSpPr>
            <p:cNvPr id="20" name="Rectangle 20"/>
            <p:cNvSpPr/>
            <p:nvPr/>
          </p:nvSpPr>
          <p:spPr>
            <a:xfrm>
              <a:off x="9201150" y="2902268"/>
              <a:ext cx="1428750" cy="355282"/>
            </a:xfrm>
            <a:prstGeom prst="roundRect">
              <a:avLst>
                <a:gd name="adj" fmla="val 16086"/>
              </a:avLst>
            </a:prstGeom>
            <a:solidFill>
              <a:srgbClr val="48D597"/>
            </a:solidFill>
            <a:ln w="0">
              <a:solidFill>
                <a:srgbClr val="48D597"/>
              </a:solidFill>
            </a:ln>
          </p:spPr>
        </p:sp>
        <p:sp>
          <p:nvSpPr>
            <p:cNvPr id="21" name="TextBox 21"/>
            <p:cNvSpPr txBox="1"/>
            <p:nvPr/>
          </p:nvSpPr>
          <p:spPr>
            <a:xfrm>
              <a:off x="9691406" y="2609850"/>
              <a:ext cx="448238" cy="322707"/>
            </a:xfrm>
            <a:prstGeom prst="rect">
              <a:avLst/>
            </a:prstGeom>
            <a:noFill/>
            <a:ln>
              <a:noFill/>
            </a:ln>
          </p:spPr>
          <p:txBody>
            <a:bodyPr wrap="none" lIns="0" tIns="0" rIns="0" bIns="0" anchor="t" anchorCtr="0">
              <a:spAutoFit/>
            </a:bodyPr>
            <a:lstStyle/>
            <a:p>
              <a:pPr algn="ctr"/>
              <a:r>
                <a:rPr lang="en-US" sz="1650" b="1" dirty="0">
                  <a:solidFill>
                    <a:srgbClr val="48D597"/>
                  </a:solidFill>
                  <a:latin typeface="+mn-lt"/>
                  <a:ea typeface="+mn-ea"/>
                  <a:cs typeface="+mn-cs"/>
                </a:rPr>
                <a:t>14%</a:t>
              </a:r>
            </a:p>
          </p:txBody>
        </p:sp>
        <p:sp>
          <p:nvSpPr>
            <p:cNvPr id="22" name="TextBox 22"/>
            <p:cNvSpPr txBox="1"/>
            <p:nvPr/>
          </p:nvSpPr>
          <p:spPr>
            <a:xfrm>
              <a:off x="9639632" y="3364706"/>
              <a:ext cx="551786"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LP only</a:t>
              </a:r>
            </a:p>
          </p:txBody>
        </p:sp>
        <p:sp>
          <p:nvSpPr>
            <p:cNvPr id="23" name="Line 23"/>
            <p:cNvSpPr/>
            <p:nvPr/>
          </p:nvSpPr>
          <p:spPr>
            <a:xfrm>
              <a:off x="6819900" y="3257550"/>
              <a:ext cx="4381500" cy="9525"/>
            </a:xfrm>
            <a:custGeom>
              <a:avLst/>
              <a:gdLst/>
              <a:ahLst/>
              <a:cxnLst/>
              <a:rect l="l" t="t" r="r" b="b"/>
              <a:pathLst>
                <a:path w="4381500" h="9525">
                  <a:moveTo>
                    <a:pt x="0" y="0"/>
                  </a:moveTo>
                  <a:lnTo>
                    <a:pt x="4381500" y="0"/>
                  </a:lnTo>
                </a:path>
              </a:pathLst>
            </a:custGeom>
            <a:noFill/>
            <a:ln w="14288">
              <a:solidFill>
                <a:srgbClr val="1E3A52"/>
              </a:solidFill>
            </a:ln>
          </p:spPr>
        </p:sp>
        <p:sp>
          <p:nvSpPr>
            <p:cNvPr id="24" name="TextBox 24"/>
            <p:cNvSpPr txBox="1"/>
            <p:nvPr/>
          </p:nvSpPr>
          <p:spPr>
            <a:xfrm>
              <a:off x="6491097" y="1723549"/>
              <a:ext cx="2160326" cy="190690"/>
            </a:xfrm>
            <a:prstGeom prst="rect">
              <a:avLst/>
            </a:prstGeom>
            <a:noFill/>
            <a:ln>
              <a:noFill/>
            </a:ln>
          </p:spPr>
          <p:txBody>
            <a:bodyPr wrap="none" lIns="0" tIns="0" rIns="0" bIns="0" anchor="t" anchorCtr="0">
              <a:spAutoFit/>
            </a:bodyPr>
            <a:lstStyle/>
            <a:p>
              <a:pPr algn="l"/>
              <a:r>
                <a:rPr lang="en-US" sz="980" dirty="0">
                  <a:solidFill>
                    <a:srgbClr val="9DB2C4"/>
                  </a:solidFill>
                  <a:latin typeface="+mn-lt"/>
                  <a:ea typeface="+mn-ea"/>
                  <a:cs typeface="+mn-cs"/>
                </a:rPr>
                <a:t>lower = less stubborn robustness</a:t>
              </a:r>
            </a:p>
          </p:txBody>
        </p:sp>
      </p:grpSp>
      <p:grpSp>
        <p:nvGrpSpPr>
          <p:cNvPr id="38" name="Group 38"/>
          <p:cNvGrpSpPr/>
          <p:nvPr/>
        </p:nvGrpSpPr>
        <p:grpSpPr>
          <a:xfrm>
            <a:off x="609600" y="3810000"/>
            <a:ext cx="5334000" cy="2457450"/>
            <a:chOff x="609600" y="3810000"/>
            <a:chExt cx="5334000" cy="2457450"/>
          </a:xfrm>
        </p:grpSpPr>
        <p:sp>
          <p:nvSpPr>
            <p:cNvPr id="26" name="Rectangle 26"/>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27" name="Rectangle 27"/>
            <p:cNvSpPr/>
            <p:nvPr/>
          </p:nvSpPr>
          <p:spPr>
            <a:xfrm>
              <a:off x="609600" y="3810000"/>
              <a:ext cx="57150" cy="2457450"/>
            </a:xfrm>
            <a:prstGeom prst="roundRect">
              <a:avLst>
                <a:gd name="adj" fmla="val 50000"/>
              </a:avLst>
            </a:prstGeom>
            <a:solidFill>
              <a:srgbClr val="4C8DFF"/>
            </a:solidFill>
            <a:ln w="0">
              <a:solidFill>
                <a:srgbClr val="4C8DFF"/>
              </a:solidFill>
            </a:ln>
          </p:spPr>
        </p:sp>
        <p:sp>
          <p:nvSpPr>
            <p:cNvPr id="28" name="TextBox 28"/>
            <p:cNvSpPr txBox="1"/>
            <p:nvPr/>
          </p:nvSpPr>
          <p:spPr>
            <a:xfrm>
              <a:off x="849630" y="4048125"/>
              <a:ext cx="224893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And it comes for free</a:t>
              </a:r>
            </a:p>
          </p:txBody>
        </p:sp>
        <p:sp>
          <p:nvSpPr>
            <p:cNvPr id="29" name="Ellipse 29"/>
            <p:cNvSpPr/>
            <p:nvPr/>
          </p:nvSpPr>
          <p:spPr>
            <a:xfrm>
              <a:off x="914400" y="4505325"/>
              <a:ext cx="114300" cy="114300"/>
            </a:xfrm>
            <a:prstGeom prst="ellipse">
              <a:avLst/>
            </a:prstGeom>
            <a:solidFill>
              <a:srgbClr val="48D597"/>
            </a:solidFill>
            <a:ln>
              <a:noFill/>
            </a:ln>
          </p:spPr>
        </p:sp>
        <p:sp>
          <p:nvSpPr>
            <p:cNvPr id="30" name="TextBox 30"/>
            <p:cNvSpPr txBox="1"/>
            <p:nvPr/>
          </p:nvSpPr>
          <p:spPr>
            <a:xfrm>
              <a:off x="1136523" y="4472464"/>
              <a:ext cx="120191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test accuracy</a:t>
              </a:r>
            </a:p>
          </p:txBody>
        </p:sp>
        <p:sp>
          <p:nvSpPr>
            <p:cNvPr id="31" name="TextBox 31"/>
            <p:cNvSpPr txBox="1"/>
            <p:nvPr/>
          </p:nvSpPr>
          <p:spPr>
            <a:xfrm>
              <a:off x="5079218" y="4480560"/>
              <a:ext cx="622828" cy="234696"/>
            </a:xfrm>
            <a:prstGeom prst="rect">
              <a:avLst/>
            </a:prstGeom>
            <a:noFill/>
            <a:ln>
              <a:noFill/>
            </a:ln>
          </p:spPr>
          <p:txBody>
            <a:bodyPr wrap="none" lIns="0" tIns="0" rIns="0" bIns="0" anchor="t" anchorCtr="0">
              <a:spAutoFit/>
            </a:bodyPr>
            <a:lstStyle/>
            <a:p>
              <a:pPr algn="r"/>
              <a:r>
                <a:rPr lang="en-US" sz="1200" b="1" dirty="0">
                  <a:solidFill>
                    <a:srgbClr val="48D597"/>
                  </a:solidFill>
                  <a:latin typeface="+mn-lt"/>
                  <a:ea typeface="+mn-ea"/>
                  <a:cs typeface="+mn-cs"/>
                </a:rPr>
                <a:t>no drop</a:t>
              </a:r>
            </a:p>
          </p:txBody>
        </p:sp>
        <p:sp>
          <p:nvSpPr>
            <p:cNvPr id="32" name="Ellipse 32"/>
            <p:cNvSpPr/>
            <p:nvPr/>
          </p:nvSpPr>
          <p:spPr>
            <a:xfrm>
              <a:off x="914400" y="4943475"/>
              <a:ext cx="114300" cy="114300"/>
            </a:xfrm>
            <a:prstGeom prst="ellipse">
              <a:avLst/>
            </a:prstGeom>
            <a:solidFill>
              <a:srgbClr val="48D597"/>
            </a:solidFill>
            <a:ln>
              <a:noFill/>
            </a:ln>
          </p:spPr>
        </p:sp>
        <p:sp>
          <p:nvSpPr>
            <p:cNvPr id="33" name="TextBox 33"/>
            <p:cNvSpPr txBox="1"/>
            <p:nvPr/>
          </p:nvSpPr>
          <p:spPr>
            <a:xfrm>
              <a:off x="1136523" y="4910614"/>
              <a:ext cx="196871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adversarial robustness</a:t>
              </a:r>
            </a:p>
          </p:txBody>
        </p:sp>
        <p:sp>
          <p:nvSpPr>
            <p:cNvPr id="34" name="TextBox 34"/>
            <p:cNvSpPr txBox="1"/>
            <p:nvPr/>
          </p:nvSpPr>
          <p:spPr>
            <a:xfrm>
              <a:off x="4434657" y="4918710"/>
              <a:ext cx="1267389" cy="234696"/>
            </a:xfrm>
            <a:prstGeom prst="rect">
              <a:avLst/>
            </a:prstGeom>
            <a:noFill/>
            <a:ln>
              <a:noFill/>
            </a:ln>
          </p:spPr>
          <p:txBody>
            <a:bodyPr wrap="none" lIns="0" tIns="0" rIns="0" bIns="0" anchor="t" anchorCtr="0">
              <a:spAutoFit/>
            </a:bodyPr>
            <a:lstStyle/>
            <a:p>
              <a:pPr algn="r"/>
              <a:r>
                <a:rPr lang="en-US" sz="1200" b="1" dirty="0">
                  <a:solidFill>
                    <a:srgbClr val="48D597"/>
                  </a:solidFill>
                  <a:latin typeface="+mn-lt"/>
                  <a:ea typeface="+mn-ea"/>
                  <a:cs typeface="+mn-cs"/>
                </a:rPr>
                <a:t>often improves</a:t>
              </a:r>
            </a:p>
          </p:txBody>
        </p:sp>
        <p:sp>
          <p:nvSpPr>
            <p:cNvPr id="35" name="Ellipse 35"/>
            <p:cNvSpPr/>
            <p:nvPr/>
          </p:nvSpPr>
          <p:spPr>
            <a:xfrm>
              <a:off x="914400" y="5381625"/>
              <a:ext cx="114300" cy="114300"/>
            </a:xfrm>
            <a:prstGeom prst="ellipse">
              <a:avLst/>
            </a:prstGeom>
            <a:solidFill>
              <a:srgbClr val="48D597"/>
            </a:solidFill>
            <a:ln>
              <a:noFill/>
            </a:ln>
          </p:spPr>
        </p:sp>
        <p:sp>
          <p:nvSpPr>
            <p:cNvPr id="36" name="TextBox 36"/>
            <p:cNvSpPr txBox="1"/>
            <p:nvPr/>
          </p:nvSpPr>
          <p:spPr>
            <a:xfrm>
              <a:off x="1136523" y="5348764"/>
              <a:ext cx="201179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structure still matters</a:t>
              </a:r>
            </a:p>
          </p:txBody>
        </p:sp>
        <p:sp>
          <p:nvSpPr>
            <p:cNvPr id="37" name="TextBox 37"/>
            <p:cNvSpPr txBox="1"/>
            <p:nvPr/>
          </p:nvSpPr>
          <p:spPr>
            <a:xfrm>
              <a:off x="4850229" y="5356860"/>
              <a:ext cx="851817" cy="234696"/>
            </a:xfrm>
            <a:prstGeom prst="rect">
              <a:avLst/>
            </a:prstGeom>
            <a:noFill/>
            <a:ln>
              <a:noFill/>
            </a:ln>
          </p:spPr>
          <p:txBody>
            <a:bodyPr wrap="none" lIns="0" tIns="0" rIns="0" bIns="0" anchor="t" anchorCtr="0">
              <a:spAutoFit/>
            </a:bodyPr>
            <a:lstStyle/>
            <a:p>
              <a:pPr algn="r"/>
              <a:r>
                <a:rPr lang="en-US" sz="1200" b="1" dirty="0">
                  <a:solidFill>
                    <a:srgbClr val="48D597"/>
                  </a:solidFill>
                  <a:latin typeface="+mn-lt"/>
                  <a:ea typeface="+mn-ea"/>
                  <a:cs typeface="+mn-cs"/>
                </a:rPr>
                <a:t>preserved</a:t>
              </a:r>
            </a:p>
          </p:txBody>
        </p:sp>
      </p:grpSp>
      <p:grpSp>
        <p:nvGrpSpPr>
          <p:cNvPr id="51" name="Group 51"/>
          <p:cNvGrpSpPr/>
          <p:nvPr/>
        </p:nvGrpSpPr>
        <p:grpSpPr>
          <a:xfrm>
            <a:off x="6248400" y="3810000"/>
            <a:ext cx="5334000" cy="2457450"/>
            <a:chOff x="6248400" y="3810000"/>
            <a:chExt cx="5334000" cy="2457450"/>
          </a:xfrm>
        </p:grpSpPr>
        <p:sp>
          <p:nvSpPr>
            <p:cNvPr id="39" name="Rectangle 39"/>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40" name="Rectangle 40"/>
            <p:cNvSpPr/>
            <p:nvPr/>
          </p:nvSpPr>
          <p:spPr>
            <a:xfrm>
              <a:off x="6248400" y="3810000"/>
              <a:ext cx="57150" cy="2457450"/>
            </a:xfrm>
            <a:prstGeom prst="roundRect">
              <a:avLst>
                <a:gd name="adj" fmla="val 50000"/>
              </a:avLst>
            </a:prstGeom>
            <a:solidFill>
              <a:srgbClr val="FF6B6B"/>
            </a:solidFill>
            <a:ln w="0">
              <a:solidFill>
                <a:srgbClr val="FF6B6B"/>
              </a:solidFill>
            </a:ln>
          </p:spPr>
        </p:sp>
        <p:sp>
          <p:nvSpPr>
            <p:cNvPr id="41" name="TextBox 41"/>
            <p:cNvSpPr txBox="1"/>
            <p:nvPr/>
          </p:nvSpPr>
          <p:spPr>
            <a:xfrm>
              <a:off x="6488430" y="4029075"/>
              <a:ext cx="289527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Robust to stronger attacks</a:t>
              </a:r>
            </a:p>
          </p:txBody>
        </p:sp>
        <p:sp>
          <p:nvSpPr>
            <p:cNvPr id="42" name="TextBox 42"/>
            <p:cNvSpPr txBox="1"/>
            <p:nvPr/>
          </p:nvSpPr>
          <p:spPr>
            <a:xfrm>
              <a:off x="6491097" y="4295299"/>
              <a:ext cx="3490774" cy="190690"/>
            </a:xfrm>
            <a:prstGeom prst="rect">
              <a:avLst/>
            </a:prstGeom>
            <a:noFill/>
            <a:ln>
              <a:noFill/>
            </a:ln>
          </p:spPr>
          <p:txBody>
            <a:bodyPr wrap="none" lIns="0" tIns="0" rIns="0" bIns="0" anchor="t" anchorCtr="0">
              <a:spAutoFit/>
            </a:bodyPr>
            <a:lstStyle/>
            <a:p>
              <a:pPr algn="l"/>
              <a:r>
                <a:rPr lang="en-US" sz="980" dirty="0">
                  <a:solidFill>
                    <a:srgbClr val="9DB2C4"/>
                  </a:solidFill>
                  <a:latin typeface="+mn-lt"/>
                  <a:ea typeface="+mn-ea"/>
                  <a:cs typeface="+mn-cs"/>
                </a:rPr>
                <a:t>under Nettack, some over-robustness always remains</a:t>
              </a:r>
            </a:p>
          </p:txBody>
        </p:sp>
        <p:sp>
          <p:nvSpPr>
            <p:cNvPr id="43" name="TextBox 43"/>
            <p:cNvSpPr txBox="1"/>
            <p:nvPr/>
          </p:nvSpPr>
          <p:spPr>
            <a:xfrm>
              <a:off x="6489954" y="4852035"/>
              <a:ext cx="30790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GCN</a:t>
              </a:r>
            </a:p>
          </p:txBody>
        </p:sp>
        <p:sp>
          <p:nvSpPr>
            <p:cNvPr id="44" name="Rectangle 44"/>
            <p:cNvSpPr/>
            <p:nvPr/>
          </p:nvSpPr>
          <p:spPr>
            <a:xfrm>
              <a:off x="7486650" y="4762500"/>
              <a:ext cx="2857500" cy="323850"/>
            </a:xfrm>
            <a:prstGeom prst="roundRect">
              <a:avLst>
                <a:gd name="adj" fmla="val 17647"/>
              </a:avLst>
            </a:prstGeom>
            <a:solidFill>
              <a:schemeClr val="accent6"/>
            </a:solidFill>
            <a:ln w="9525">
              <a:solidFill>
                <a:srgbClr val="1E3A52"/>
              </a:solidFill>
            </a:ln>
          </p:spPr>
        </p:sp>
        <p:sp>
          <p:nvSpPr>
            <p:cNvPr id="45" name="Rectangle 45"/>
            <p:cNvSpPr/>
            <p:nvPr/>
          </p:nvSpPr>
          <p:spPr>
            <a:xfrm>
              <a:off x="7486650" y="4762500"/>
              <a:ext cx="1303020" cy="323850"/>
            </a:xfrm>
            <a:prstGeom prst="roundRect">
              <a:avLst>
                <a:gd name="adj" fmla="val 17647"/>
              </a:avLst>
            </a:prstGeom>
            <a:solidFill>
              <a:srgbClr val="F5B841"/>
            </a:solidFill>
            <a:ln w="0">
              <a:solidFill>
                <a:srgbClr val="F5B841"/>
              </a:solidFill>
            </a:ln>
          </p:spPr>
        </p:sp>
        <p:sp>
          <p:nvSpPr>
            <p:cNvPr id="46" name="TextBox 46"/>
            <p:cNvSpPr txBox="1"/>
            <p:nvPr/>
          </p:nvSpPr>
          <p:spPr>
            <a:xfrm>
              <a:off x="8859774" y="4852035"/>
              <a:ext cx="512575" cy="234696"/>
            </a:xfrm>
            <a:prstGeom prst="rect">
              <a:avLst/>
            </a:prstGeom>
            <a:noFill/>
            <a:ln>
              <a:noFill/>
            </a:ln>
          </p:spPr>
          <p:txBody>
            <a:bodyPr wrap="none" lIns="0" tIns="0" rIns="0" bIns="0" anchor="t" anchorCtr="0">
              <a:spAutoFit/>
            </a:bodyPr>
            <a:lstStyle/>
            <a:p>
              <a:pPr algn="l"/>
              <a:r>
                <a:rPr lang="en-US" sz="1200" b="1" dirty="0">
                  <a:solidFill>
                    <a:srgbClr val="F5B841"/>
                  </a:solidFill>
                  <a:latin typeface="+mn-lt"/>
                  <a:ea typeface="+mn-ea"/>
                  <a:cs typeface="+mn-cs"/>
                </a:rPr>
                <a:t>11.4%</a:t>
              </a:r>
            </a:p>
          </p:txBody>
        </p:sp>
        <p:sp>
          <p:nvSpPr>
            <p:cNvPr id="47" name="TextBox 47"/>
            <p:cNvSpPr txBox="1"/>
            <p:nvPr/>
          </p:nvSpPr>
          <p:spPr>
            <a:xfrm>
              <a:off x="6489954" y="5423535"/>
              <a:ext cx="34375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MLP</a:t>
              </a:r>
            </a:p>
          </p:txBody>
        </p:sp>
        <p:sp>
          <p:nvSpPr>
            <p:cNvPr id="48" name="Rectangle 48"/>
            <p:cNvSpPr/>
            <p:nvPr/>
          </p:nvSpPr>
          <p:spPr>
            <a:xfrm>
              <a:off x="7486650" y="5334000"/>
              <a:ext cx="2857500" cy="323850"/>
            </a:xfrm>
            <a:prstGeom prst="roundRect">
              <a:avLst>
                <a:gd name="adj" fmla="val 17647"/>
              </a:avLst>
            </a:prstGeom>
            <a:solidFill>
              <a:schemeClr val="accent6"/>
            </a:solidFill>
            <a:ln w="9525">
              <a:solidFill>
                <a:srgbClr val="1E3A52"/>
              </a:solidFill>
            </a:ln>
          </p:spPr>
        </p:sp>
        <p:sp>
          <p:nvSpPr>
            <p:cNvPr id="49" name="Rectangle 49"/>
            <p:cNvSpPr/>
            <p:nvPr/>
          </p:nvSpPr>
          <p:spPr>
            <a:xfrm>
              <a:off x="7486650" y="5334000"/>
              <a:ext cx="2194560" cy="323850"/>
            </a:xfrm>
            <a:prstGeom prst="roundRect">
              <a:avLst>
                <a:gd name="adj" fmla="val 17647"/>
              </a:avLst>
            </a:prstGeom>
            <a:solidFill>
              <a:srgbClr val="FF6B6B"/>
            </a:solidFill>
            <a:ln w="0">
              <a:solidFill>
                <a:srgbClr val="FF6B6B"/>
              </a:solidFill>
            </a:ln>
          </p:spPr>
        </p:sp>
        <p:sp>
          <p:nvSpPr>
            <p:cNvPr id="50" name="TextBox 50"/>
            <p:cNvSpPr txBox="1"/>
            <p:nvPr/>
          </p:nvSpPr>
          <p:spPr>
            <a:xfrm>
              <a:off x="9751314" y="5423535"/>
              <a:ext cx="512575" cy="234696"/>
            </a:xfrm>
            <a:prstGeom prst="rect">
              <a:avLst/>
            </a:prstGeom>
            <a:noFill/>
            <a:ln>
              <a:noFill/>
            </a:ln>
          </p:spPr>
          <p:txBody>
            <a:bodyPr wrap="none" lIns="0" tIns="0" rIns="0" bIns="0" anchor="t" anchorCtr="0">
              <a:spAutoFit/>
            </a:bodyPr>
            <a:lstStyle/>
            <a:p>
              <a:pPr algn="l"/>
              <a:r>
                <a:rPr lang="en-US" sz="1200" b="1" dirty="0">
                  <a:solidFill>
                    <a:srgbClr val="FF6B6B"/>
                  </a:solidFill>
                  <a:latin typeface="+mn-lt"/>
                  <a:ea typeface="+mn-ea"/>
                  <a:cs typeface="+mn-cs"/>
                </a:rPr>
                <a:t>19.2%</a:t>
              </a:r>
            </a:p>
          </p:txBody>
        </p:sp>
      </p:grpSp>
      <p:sp>
        <p:nvSpPr>
          <p:cNvPr id="52" name="cue_s08_c1_most_informative_ablation_concerns_l" title="cue_s08_c1_most_informative_ablation_concerns_l" descr="cue_s08_c1_most_informative_ablation_concerns_l The most informative ablation concerns label propagation. Applying it on top of a graph neural network sharply lowers over-robustness."/>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8_c2_instance_gcn_combined_label_propagat" title="cue_s08_c2_instance_gcn_combined_label_propagat" descr="cue_s08_c2_instance_gcn_combined_label_propagat For instance, a GCN combined with label propagation at K equal to zero-point-five drops its over-robustness to about twenty-one percent, and label propagation on its own achieves the lowest over-robustness of any method."/>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8_c3_crucially_comes_free_adding_label" title="cue_s08_c3_crucially_comes_free_adding_label" descr="cue_s08_c3_crucially_comes_free_adding_label Crucially, this comes for free: adding label propagation does not hurt test accuracy and often improves genuine adversarial robustness while structure still matters."/>
          <p:cNvSpPr/>
          <p:nvPr/>
        </p:nvSpPr>
        <p:spPr>
          <a:xfrm>
            <a:off x="609600" y="3810304"/>
            <a:ext cx="622401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8_c4_effect_robust_stronger_attacks_too" title="cue_s08_c4_effect_robust_stronger_attacks_too" descr="cue_s08_c4_effect_robust_stronger_attacks_too The effect is robust to stronger attacks too, though some over-robustness always remains, such as eleven-point-four percent for a GCN under Nettack and nineteen-point-two percent for an MLP."/>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753301"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HEADLINE NUMBERS</a:t>
            </a:r>
          </a:p>
        </p:txBody>
      </p:sp>
      <p:sp>
        <p:nvSpPr>
          <p:cNvPr id="4" name="TextBox 4"/>
          <p:cNvSpPr txBox="1"/>
          <p:nvPr/>
        </p:nvSpPr>
        <p:spPr>
          <a:xfrm>
            <a:off x="807720" y="614362"/>
            <a:ext cx="423178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four numbers</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09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0" name="Group 10"/>
          <p:cNvGrpSpPr/>
          <p:nvPr/>
        </p:nvGrpSpPr>
        <p:grpSpPr>
          <a:xfrm>
            <a:off x="609600" y="1162050"/>
            <a:ext cx="10972800" cy="666750"/>
            <a:chOff x="609600" y="1162050"/>
            <a:chExt cx="10972800" cy="666750"/>
          </a:xfrm>
        </p:grpSpPr>
        <p:sp>
          <p:nvSpPr>
            <p:cNvPr id="7" name="Rectangle 7"/>
            <p:cNvSpPr/>
            <p:nvPr/>
          </p:nvSpPr>
          <p:spPr>
            <a:xfrm>
              <a:off x="609600" y="1162050"/>
              <a:ext cx="10972800" cy="666750"/>
            </a:xfrm>
            <a:prstGeom prst="roundRect">
              <a:avLst>
                <a:gd name="adj" fmla="val 20000"/>
              </a:avLst>
            </a:prstGeom>
            <a:solidFill>
              <a:schemeClr val="accent5"/>
            </a:solidFill>
            <a:ln w="14288">
              <a:solidFill>
                <a:srgbClr val="1E3A52"/>
              </a:solidFill>
            </a:ln>
          </p:spPr>
        </p:sp>
        <p:sp>
          <p:nvSpPr>
            <p:cNvPr id="8" name="Rectangle 8"/>
            <p:cNvSpPr/>
            <p:nvPr/>
          </p:nvSpPr>
          <p:spPr>
            <a:xfrm>
              <a:off x="609600" y="1162050"/>
              <a:ext cx="57150" cy="666750"/>
            </a:xfrm>
            <a:prstGeom prst="roundRect">
              <a:avLst>
                <a:gd name="adj" fmla="val 50000"/>
              </a:avLst>
            </a:prstGeom>
            <a:solidFill>
              <a:srgbClr val="35D0BA"/>
            </a:solidFill>
            <a:ln w="0">
              <a:solidFill>
                <a:srgbClr val="35D0BA"/>
              </a:solidFill>
            </a:ln>
          </p:spPr>
        </p:sp>
        <p:sp>
          <p:nvSpPr>
            <p:cNvPr id="9" name="TextBox 9"/>
            <p:cNvSpPr txBox="1"/>
            <p:nvPr/>
          </p:nvSpPr>
          <p:spPr>
            <a:xfrm>
              <a:off x="868680" y="1419225"/>
              <a:ext cx="8497544"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 semantics-aware lens reframes robustness in graph ML — the headline numbers:</a:t>
              </a:r>
            </a:p>
          </p:txBody>
        </p:sp>
      </p:grpSp>
      <p:grpSp>
        <p:nvGrpSpPr>
          <p:cNvPr id="18" name="Group 18"/>
          <p:cNvGrpSpPr/>
          <p:nvPr/>
        </p:nvGrpSpPr>
        <p:grpSpPr>
          <a:xfrm>
            <a:off x="609600" y="2038350"/>
            <a:ext cx="3505200" cy="4000500"/>
            <a:chOff x="609600" y="2038350"/>
            <a:chExt cx="3505200" cy="4000500"/>
          </a:xfrm>
        </p:grpSpPr>
        <p:sp>
          <p:nvSpPr>
            <p:cNvPr id="11" name="Rectangle 11"/>
            <p:cNvSpPr/>
            <p:nvPr/>
          </p:nvSpPr>
          <p:spPr>
            <a:xfrm>
              <a:off x="609600" y="2038350"/>
              <a:ext cx="3505200" cy="4000500"/>
            </a:xfrm>
            <a:prstGeom prst="roundRect">
              <a:avLst>
                <a:gd name="adj" fmla="val 3804"/>
              </a:avLst>
            </a:prstGeom>
            <a:solidFill>
              <a:schemeClr val="accent5"/>
            </a:solidFill>
            <a:ln w="14288">
              <a:solidFill>
                <a:srgbClr val="1E3A52"/>
              </a:solidFill>
            </a:ln>
          </p:spPr>
        </p:sp>
        <p:sp>
          <p:nvSpPr>
            <p:cNvPr id="12" name="Rectangle 12"/>
            <p:cNvSpPr/>
            <p:nvPr/>
          </p:nvSpPr>
          <p:spPr>
            <a:xfrm>
              <a:off x="609600" y="2038350"/>
              <a:ext cx="3505200" cy="76200"/>
            </a:xfrm>
            <a:prstGeom prst="roundRect">
              <a:avLst>
                <a:gd name="adj" fmla="val 50000"/>
              </a:avLst>
            </a:prstGeom>
            <a:solidFill>
              <a:srgbClr val="FF6B6B"/>
            </a:solidFill>
            <a:ln w="0">
              <a:solidFill>
                <a:srgbClr val="FF6B6B"/>
              </a:solidFill>
            </a:ln>
          </p:spPr>
        </p:sp>
        <p:sp>
          <p:nvSpPr>
            <p:cNvPr id="13" name="TextBox 13"/>
            <p:cNvSpPr txBox="1"/>
            <p:nvPr/>
          </p:nvSpPr>
          <p:spPr>
            <a:xfrm>
              <a:off x="935824" y="3214688"/>
              <a:ext cx="2852752" cy="1304925"/>
            </a:xfrm>
            <a:prstGeom prst="rect">
              <a:avLst/>
            </a:prstGeom>
            <a:noFill/>
            <a:ln>
              <a:noFill/>
            </a:ln>
          </p:spPr>
          <p:txBody>
            <a:bodyPr wrap="none" lIns="0" tIns="0" rIns="0" bIns="0" anchor="t" anchorCtr="0">
              <a:spAutoFit/>
            </a:bodyPr>
            <a:lstStyle/>
            <a:p>
              <a:pPr algn="ctr"/>
              <a:r>
                <a:rPr lang="en-US" sz="6750" b="1" dirty="0">
                  <a:solidFill>
                    <a:srgbClr val="FF6B6B"/>
                  </a:solidFill>
                  <a:latin typeface="+mn-lt"/>
                  <a:ea typeface="+mn-ea"/>
                  <a:cs typeface="+mn-cs"/>
                </a:rPr>
                <a:t>99.4%</a:t>
              </a:r>
            </a:p>
          </p:txBody>
        </p:sp>
        <p:sp>
          <p:nvSpPr>
            <p:cNvPr id="14" name="TextBox 14"/>
            <p:cNvSpPr txBox="1"/>
            <p:nvPr/>
          </p:nvSpPr>
          <p:spPr>
            <a:xfrm>
              <a:off x="926211" y="4437221"/>
              <a:ext cx="203122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of target nodes get a</a:t>
              </a:r>
            </a:p>
          </p:txBody>
        </p:sp>
        <p:sp>
          <p:nvSpPr>
            <p:cNvPr id="15" name="TextBox 15"/>
            <p:cNvSpPr txBox="1"/>
            <p:nvPr/>
          </p:nvSpPr>
          <p:spPr>
            <a:xfrm>
              <a:off x="926211" y="4703921"/>
              <a:ext cx="287232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perturbation that changes the</a:t>
              </a:r>
            </a:p>
          </p:txBody>
        </p:sp>
        <p:sp>
          <p:nvSpPr>
            <p:cNvPr id="16" name="TextBox 16"/>
            <p:cNvSpPr txBox="1"/>
            <p:nvPr/>
          </p:nvSpPr>
          <p:spPr>
            <a:xfrm>
              <a:off x="926211" y="4970621"/>
              <a:ext cx="248044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true label (common threat</a:t>
              </a:r>
            </a:p>
          </p:txBody>
        </p:sp>
        <p:sp>
          <p:nvSpPr>
            <p:cNvPr id="17" name="TextBox 17"/>
            <p:cNvSpPr txBox="1"/>
            <p:nvPr/>
          </p:nvSpPr>
          <p:spPr>
            <a:xfrm>
              <a:off x="926211" y="5237321"/>
              <a:ext cx="63574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model)</a:t>
              </a:r>
            </a:p>
          </p:txBody>
        </p:sp>
      </p:grpSp>
      <p:grpSp>
        <p:nvGrpSpPr>
          <p:cNvPr id="25" name="Group 25"/>
          <p:cNvGrpSpPr/>
          <p:nvPr/>
        </p:nvGrpSpPr>
        <p:grpSpPr>
          <a:xfrm>
            <a:off x="4343400" y="2038350"/>
            <a:ext cx="3505200" cy="4000500"/>
            <a:chOff x="4343400" y="2038350"/>
            <a:chExt cx="3505200" cy="4000500"/>
          </a:xfrm>
        </p:grpSpPr>
        <p:sp>
          <p:nvSpPr>
            <p:cNvPr id="19" name="Rectangle 19"/>
            <p:cNvSpPr/>
            <p:nvPr/>
          </p:nvSpPr>
          <p:spPr>
            <a:xfrm>
              <a:off x="4343400" y="2038350"/>
              <a:ext cx="3505200" cy="4000500"/>
            </a:xfrm>
            <a:prstGeom prst="roundRect">
              <a:avLst>
                <a:gd name="adj" fmla="val 3804"/>
              </a:avLst>
            </a:prstGeom>
            <a:solidFill>
              <a:schemeClr val="accent5"/>
            </a:solidFill>
            <a:ln w="14288">
              <a:solidFill>
                <a:srgbClr val="1E3A52"/>
              </a:solidFill>
            </a:ln>
          </p:spPr>
        </p:sp>
        <p:sp>
          <p:nvSpPr>
            <p:cNvPr id="20" name="Rectangle 20"/>
            <p:cNvSpPr/>
            <p:nvPr/>
          </p:nvSpPr>
          <p:spPr>
            <a:xfrm>
              <a:off x="4343400" y="2038350"/>
              <a:ext cx="3505200" cy="76200"/>
            </a:xfrm>
            <a:prstGeom prst="roundRect">
              <a:avLst>
                <a:gd name="adj" fmla="val 50000"/>
              </a:avLst>
            </a:prstGeom>
            <a:solidFill>
              <a:srgbClr val="F5B841"/>
            </a:solidFill>
            <a:ln w="0">
              <a:solidFill>
                <a:srgbClr val="F5B841"/>
              </a:solidFill>
            </a:ln>
          </p:spPr>
        </p:sp>
        <p:sp>
          <p:nvSpPr>
            <p:cNvPr id="21" name="TextBox 21"/>
            <p:cNvSpPr txBox="1"/>
            <p:nvPr/>
          </p:nvSpPr>
          <p:spPr>
            <a:xfrm>
              <a:off x="5194390" y="3214688"/>
              <a:ext cx="1803221" cy="1304925"/>
            </a:xfrm>
            <a:prstGeom prst="rect">
              <a:avLst/>
            </a:prstGeom>
            <a:noFill/>
            <a:ln>
              <a:noFill/>
            </a:ln>
          </p:spPr>
          <p:txBody>
            <a:bodyPr wrap="none" lIns="0" tIns="0" rIns="0" bIns="0" anchor="t" anchorCtr="0">
              <a:spAutoFit/>
            </a:bodyPr>
            <a:lstStyle/>
            <a:p>
              <a:pPr algn="ctr"/>
              <a:r>
                <a:rPr lang="en-US" sz="6750" b="1" dirty="0">
                  <a:solidFill>
                    <a:srgbClr val="F5B841"/>
                  </a:solidFill>
                  <a:latin typeface="+mn-lt"/>
                  <a:ea typeface="+mn-ea"/>
                  <a:cs typeface="+mn-cs"/>
                </a:rPr>
                <a:t>43%</a:t>
              </a:r>
            </a:p>
          </p:txBody>
        </p:sp>
        <p:sp>
          <p:nvSpPr>
            <p:cNvPr id="22" name="TextBox 22"/>
            <p:cNvSpPr txBox="1"/>
            <p:nvPr/>
          </p:nvSpPr>
          <p:spPr>
            <a:xfrm>
              <a:off x="4660011" y="4437221"/>
              <a:ext cx="260470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over-robustness even for a</a:t>
              </a:r>
            </a:p>
          </p:txBody>
        </p:sp>
        <p:sp>
          <p:nvSpPr>
            <p:cNvPr id="23" name="TextBox 23"/>
            <p:cNvSpPr txBox="1"/>
            <p:nvPr/>
          </p:nvSpPr>
          <p:spPr>
            <a:xfrm>
              <a:off x="4660011" y="4703921"/>
              <a:ext cx="256646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perfectly robust classifier</a:t>
              </a:r>
            </a:p>
          </p:txBody>
        </p:sp>
        <p:sp>
          <p:nvSpPr>
            <p:cNvPr id="24" name="TextBox 24"/>
            <p:cNvSpPr txBox="1"/>
            <p:nvPr/>
          </p:nvSpPr>
          <p:spPr>
            <a:xfrm>
              <a:off x="4660011" y="4970621"/>
              <a:ext cx="207901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at low signal strength</a:t>
              </a:r>
            </a:p>
          </p:txBody>
        </p:sp>
      </p:grpSp>
      <p:grpSp>
        <p:nvGrpSpPr>
          <p:cNvPr id="32" name="Group 32"/>
          <p:cNvGrpSpPr/>
          <p:nvPr/>
        </p:nvGrpSpPr>
        <p:grpSpPr>
          <a:xfrm>
            <a:off x="8077200" y="2038350"/>
            <a:ext cx="3505200" cy="4000500"/>
            <a:chOff x="8077200" y="2038350"/>
            <a:chExt cx="3505200" cy="4000500"/>
          </a:xfrm>
        </p:grpSpPr>
        <p:sp>
          <p:nvSpPr>
            <p:cNvPr id="26" name="Rectangle 26"/>
            <p:cNvSpPr/>
            <p:nvPr/>
          </p:nvSpPr>
          <p:spPr>
            <a:xfrm>
              <a:off x="8077200" y="2038350"/>
              <a:ext cx="3505200" cy="4000500"/>
            </a:xfrm>
            <a:prstGeom prst="roundRect">
              <a:avLst>
                <a:gd name="adj" fmla="val 3804"/>
              </a:avLst>
            </a:prstGeom>
            <a:solidFill>
              <a:schemeClr val="accent5"/>
            </a:solidFill>
            <a:ln w="14288">
              <a:solidFill>
                <a:srgbClr val="1E3A52"/>
              </a:solidFill>
            </a:ln>
          </p:spPr>
        </p:sp>
        <p:sp>
          <p:nvSpPr>
            <p:cNvPr id="27" name="Rectangle 27"/>
            <p:cNvSpPr/>
            <p:nvPr/>
          </p:nvSpPr>
          <p:spPr>
            <a:xfrm>
              <a:off x="8077200" y="2038350"/>
              <a:ext cx="3505200" cy="76200"/>
            </a:xfrm>
            <a:prstGeom prst="roundRect">
              <a:avLst>
                <a:gd name="adj" fmla="val 50000"/>
              </a:avLst>
            </a:prstGeom>
            <a:solidFill>
              <a:srgbClr val="48D597"/>
            </a:solidFill>
            <a:ln w="0">
              <a:solidFill>
                <a:srgbClr val="48D597"/>
              </a:solidFill>
            </a:ln>
          </p:spPr>
        </p:sp>
        <p:sp>
          <p:nvSpPr>
            <p:cNvPr id="28" name="TextBox 28"/>
            <p:cNvSpPr txBox="1"/>
            <p:nvPr/>
          </p:nvSpPr>
          <p:spPr>
            <a:xfrm>
              <a:off x="8665807" y="3214688"/>
              <a:ext cx="2327986" cy="1304925"/>
            </a:xfrm>
            <a:prstGeom prst="rect">
              <a:avLst/>
            </a:prstGeom>
            <a:noFill/>
            <a:ln>
              <a:noFill/>
            </a:ln>
          </p:spPr>
          <p:txBody>
            <a:bodyPr wrap="none" lIns="0" tIns="0" rIns="0" bIns="0" anchor="t" anchorCtr="0">
              <a:spAutoFit/>
            </a:bodyPr>
            <a:lstStyle/>
            <a:p>
              <a:pPr algn="ctr"/>
              <a:r>
                <a:rPr lang="en-US" sz="6750" b="1" dirty="0">
                  <a:solidFill>
                    <a:srgbClr val="48D597"/>
                  </a:solidFill>
                  <a:latin typeface="+mn-lt"/>
                  <a:ea typeface="+mn-ea"/>
                  <a:cs typeface="+mn-cs"/>
                </a:rPr>
                <a:t>~21%</a:t>
              </a:r>
            </a:p>
          </p:txBody>
        </p:sp>
        <p:sp>
          <p:nvSpPr>
            <p:cNvPr id="29" name="TextBox 29"/>
            <p:cNvSpPr txBox="1"/>
            <p:nvPr/>
          </p:nvSpPr>
          <p:spPr>
            <a:xfrm>
              <a:off x="8393811" y="4437221"/>
              <a:ext cx="256690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GCN over-robustness after</a:t>
              </a:r>
            </a:p>
          </p:txBody>
        </p:sp>
        <p:sp>
          <p:nvSpPr>
            <p:cNvPr id="30" name="TextBox 30"/>
            <p:cNvSpPr txBox="1"/>
            <p:nvPr/>
          </p:nvSpPr>
          <p:spPr>
            <a:xfrm>
              <a:off x="8393811" y="4703921"/>
              <a:ext cx="254735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label propagation; ~11-19%</a:t>
              </a:r>
            </a:p>
          </p:txBody>
        </p:sp>
        <p:sp>
          <p:nvSpPr>
            <p:cNvPr id="31" name="TextBox 31"/>
            <p:cNvSpPr txBox="1"/>
            <p:nvPr/>
          </p:nvSpPr>
          <p:spPr>
            <a:xfrm>
              <a:off x="8393811" y="4970621"/>
              <a:ext cx="260149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remains even under Nettack</a:t>
              </a:r>
            </a:p>
          </p:txBody>
        </p:sp>
      </p:grpSp>
      <p:sp>
        <p:nvSpPr>
          <p:cNvPr id="33" name="cue_s09_c1_few_numbers_summarize_impact" title="cue_s09_c1_few_numbers_summarize_impact" descr="cue_s09_c1_few_numbers_summarize_impact A few numbers summarize the impact."/>
          <p:cNvSpPr/>
          <p:nvPr/>
        </p:nvSpPr>
        <p:spPr>
          <a:xfrm>
            <a:off x="609600" y="1161745"/>
            <a:ext cx="109728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9_c2_ninety_nine_point_four_percent_targe" title="cue_s09_c2_ninety_nine_point_four_percent_targe" descr="cue_s09_c2_ninety_nine_point_four_percent_targe Up to ninety-nine-point-four percent of target nodes have perturbations that change their true label under a common threat model."/>
          <p:cNvSpPr/>
          <p:nvPr/>
        </p:nvSpPr>
        <p:spPr>
          <a:xfrm>
            <a:off x="609600" y="2038197"/>
            <a:ext cx="3505199" cy="4000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9_c3_perfectly_robust_classifier_shows_fo" title="cue_s09_c3_perfectly_robust_classifier_shows_fo" descr="cue_s09_c3_perfectly_robust_classifier_shows_fo A perfectly robust classifier shows forty-three percent over-robustness at low signal strength."/>
          <p:cNvSpPr/>
          <p:nvPr/>
        </p:nvSpPr>
        <p:spPr>
          <a:xfrm>
            <a:off x="4344009" y="2038197"/>
            <a:ext cx="3505199" cy="4000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9_c4_label_propagation_cuts_gcn_over_robu" title="cue_s09_c4_label_propagation_cuts_gcn_over_robu" descr="cue_s09_c4_label_propagation_cuts_gcn_over_robu Label propagation cuts a GCN's over-robustness to roughly twenty-one percent, and even under the strong Nettack attack over-robustness never fully disappears, sitting around eleven to nineteen percent depending on the model."/>
          <p:cNvSpPr/>
          <p:nvPr/>
        </p:nvSpPr>
        <p:spPr>
          <a:xfrm>
            <a:off x="8077200" y="2038197"/>
            <a:ext cx="3505199" cy="4000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930244"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TAKEAWAY</a:t>
            </a:r>
          </a:p>
        </p:txBody>
      </p:sp>
      <p:sp>
        <p:nvSpPr>
          <p:cNvPr id="4" name="TextBox 4"/>
          <p:cNvSpPr txBox="1"/>
          <p:nvPr/>
        </p:nvSpPr>
        <p:spPr>
          <a:xfrm>
            <a:off x="807720" y="614362"/>
            <a:ext cx="400960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Not fragile — over-robust</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10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21" name="Group 21"/>
          <p:cNvGrpSpPr/>
          <p:nvPr/>
        </p:nvGrpSpPr>
        <p:grpSpPr>
          <a:xfrm>
            <a:off x="609600" y="1333500"/>
            <a:ext cx="3505200" cy="4476750"/>
            <a:chOff x="609600" y="1333500"/>
            <a:chExt cx="3505200" cy="4476750"/>
          </a:xfrm>
        </p:grpSpPr>
        <p:sp>
          <p:nvSpPr>
            <p:cNvPr id="7" name="Rectangle 7"/>
            <p:cNvSpPr/>
            <p:nvPr/>
          </p:nvSpPr>
          <p:spPr>
            <a:xfrm>
              <a:off x="609600" y="1333500"/>
              <a:ext cx="3505200" cy="4476750"/>
            </a:xfrm>
            <a:prstGeom prst="roundRect">
              <a:avLst>
                <a:gd name="adj" fmla="val 3804"/>
              </a:avLst>
            </a:prstGeom>
            <a:solidFill>
              <a:schemeClr val="accent5"/>
            </a:solidFill>
            <a:ln w="14288">
              <a:solidFill>
                <a:srgbClr val="1E3A52"/>
              </a:solidFill>
            </a:ln>
          </p:spPr>
        </p:sp>
        <p:sp>
          <p:nvSpPr>
            <p:cNvPr id="8" name="Rectangle 8"/>
            <p:cNvSpPr/>
            <p:nvPr/>
          </p:nvSpPr>
          <p:spPr>
            <a:xfrm>
              <a:off x="609600" y="1333500"/>
              <a:ext cx="3505200" cy="76200"/>
            </a:xfrm>
            <a:prstGeom prst="roundRect">
              <a:avLst>
                <a:gd name="adj" fmla="val 50000"/>
              </a:avLst>
            </a:prstGeom>
            <a:solidFill>
              <a:srgbClr val="FF6B6B"/>
            </a:solidFill>
            <a:ln w="0">
              <a:solidFill>
                <a:srgbClr val="FF6B6B"/>
              </a:solidFill>
            </a:ln>
          </p:spPr>
        </p:sp>
        <p:sp>
          <p:nvSpPr>
            <p:cNvPr id="9" name="Ellipse 9"/>
            <p:cNvSpPr/>
            <p:nvPr/>
          </p:nvSpPr>
          <p:spPr>
            <a:xfrm>
              <a:off x="838200" y="1714500"/>
              <a:ext cx="342900" cy="342900"/>
            </a:xfrm>
            <a:prstGeom prst="ellipse">
              <a:avLst/>
            </a:prstGeom>
            <a:solidFill>
              <a:srgbClr val="FF6B6B"/>
            </a:solidFill>
            <a:ln>
              <a:noFill/>
            </a:ln>
          </p:spPr>
        </p:sp>
        <p:sp>
          <p:nvSpPr>
            <p:cNvPr id="10" name="TextBox 10"/>
            <p:cNvSpPr txBox="1"/>
            <p:nvPr/>
          </p:nvSpPr>
          <p:spPr>
            <a:xfrm>
              <a:off x="943723" y="1790700"/>
              <a:ext cx="131855" cy="293370"/>
            </a:xfrm>
            <a:prstGeom prst="rect">
              <a:avLst/>
            </a:prstGeom>
            <a:noFill/>
            <a:ln>
              <a:noFill/>
            </a:ln>
          </p:spPr>
          <p:txBody>
            <a:bodyPr wrap="none" lIns="0" tIns="0" rIns="0" bIns="0" anchor="t" anchorCtr="0">
              <a:spAutoFit/>
            </a:bodyPr>
            <a:lstStyle/>
            <a:p>
              <a:pPr algn="ctr"/>
              <a:r>
                <a:rPr lang="en-US" sz="1500" b="1" dirty="0">
                  <a:solidFill>
                    <a:srgbClr val="08131F"/>
                  </a:solidFill>
                  <a:latin typeface="+mn-lt"/>
                  <a:ea typeface="+mn-ea"/>
                  <a:cs typeface="+mn-cs"/>
                </a:rPr>
                <a:t>1</a:t>
              </a:r>
            </a:p>
          </p:txBody>
        </p:sp>
        <p:sp>
          <p:nvSpPr>
            <p:cNvPr id="11" name="TextBox 11"/>
            <p:cNvSpPr txBox="1"/>
            <p:nvPr/>
          </p:nvSpPr>
          <p:spPr>
            <a:xfrm>
              <a:off x="1306449" y="1658779"/>
              <a:ext cx="2508500"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GNNs are over-robust,</a:t>
              </a:r>
            </a:p>
          </p:txBody>
        </p:sp>
        <p:sp>
          <p:nvSpPr>
            <p:cNvPr id="12" name="TextBox 12"/>
            <p:cNvSpPr txBox="1"/>
            <p:nvPr/>
          </p:nvSpPr>
          <p:spPr>
            <a:xfrm>
              <a:off x="1306449" y="1915954"/>
              <a:ext cx="1702178"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not just fragile</a:t>
              </a:r>
            </a:p>
          </p:txBody>
        </p:sp>
        <p:sp>
          <p:nvSpPr>
            <p:cNvPr id="13" name="TextBox 13"/>
            <p:cNvSpPr txBox="1"/>
            <p:nvPr/>
          </p:nvSpPr>
          <p:spPr>
            <a:xfrm>
              <a:off x="926592" y="2787968"/>
              <a:ext cx="2736836"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A large part of their measured</a:t>
              </a:r>
            </a:p>
          </p:txBody>
        </p:sp>
        <p:sp>
          <p:nvSpPr>
            <p:cNvPr id="14" name="TextBox 14"/>
            <p:cNvSpPr txBox="1"/>
            <p:nvPr/>
          </p:nvSpPr>
          <p:spPr>
            <a:xfrm>
              <a:off x="926592" y="3045142"/>
              <a:ext cx="2076431"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robustness is stubborn</a:t>
              </a:r>
            </a:p>
          </p:txBody>
        </p:sp>
        <p:sp>
          <p:nvSpPr>
            <p:cNvPr id="15" name="TextBox 15"/>
            <p:cNvSpPr txBox="1"/>
            <p:nvPr/>
          </p:nvSpPr>
          <p:spPr>
            <a:xfrm>
              <a:off x="926592" y="3302318"/>
              <a:ext cx="2830640"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robustness that persists after</a:t>
              </a:r>
            </a:p>
          </p:txBody>
        </p:sp>
        <p:sp>
          <p:nvSpPr>
            <p:cNvPr id="16" name="TextBox 16"/>
            <p:cNvSpPr txBox="1"/>
            <p:nvPr/>
          </p:nvSpPr>
          <p:spPr>
            <a:xfrm>
              <a:off x="926592" y="3559492"/>
              <a:ext cx="2321776"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a node's true meaning has</a:t>
              </a:r>
            </a:p>
          </p:txBody>
        </p:sp>
        <p:sp>
          <p:nvSpPr>
            <p:cNvPr id="17" name="TextBox 17"/>
            <p:cNvSpPr txBox="1"/>
            <p:nvPr/>
          </p:nvSpPr>
          <p:spPr>
            <a:xfrm>
              <a:off x="926592" y="3816668"/>
              <a:ext cx="2121865"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already changed — which</a:t>
              </a:r>
            </a:p>
          </p:txBody>
        </p:sp>
        <p:sp>
          <p:nvSpPr>
            <p:cNvPr id="18" name="TextBox 18"/>
            <p:cNvSpPr txBox="1"/>
            <p:nvPr/>
          </p:nvSpPr>
          <p:spPr>
            <a:xfrm>
              <a:off x="926592" y="4073842"/>
              <a:ext cx="2185473"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conventional evaluations</a:t>
              </a:r>
            </a:p>
          </p:txBody>
        </p:sp>
        <p:sp>
          <p:nvSpPr>
            <p:cNvPr id="19" name="TextBox 19"/>
            <p:cNvSpPr txBox="1"/>
            <p:nvPr/>
          </p:nvSpPr>
          <p:spPr>
            <a:xfrm>
              <a:off x="926592" y="4331018"/>
              <a:ext cx="2021910"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wrongly credit as good</a:t>
              </a:r>
            </a:p>
          </p:txBody>
        </p:sp>
        <p:sp>
          <p:nvSpPr>
            <p:cNvPr id="20" name="TextBox 20"/>
            <p:cNvSpPr txBox="1"/>
            <p:nvPr/>
          </p:nvSpPr>
          <p:spPr>
            <a:xfrm>
              <a:off x="926592" y="4588192"/>
              <a:ext cx="967835"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behaviour.</a:t>
              </a:r>
            </a:p>
          </p:txBody>
        </p:sp>
      </p:grpSp>
      <p:grpSp>
        <p:nvGrpSpPr>
          <p:cNvPr id="33" name="Group 33"/>
          <p:cNvGrpSpPr/>
          <p:nvPr/>
        </p:nvGrpSpPr>
        <p:grpSpPr>
          <a:xfrm>
            <a:off x="4343400" y="1333500"/>
            <a:ext cx="3505200" cy="4476750"/>
            <a:chOff x="4343400" y="1333500"/>
            <a:chExt cx="3505200" cy="4476750"/>
          </a:xfrm>
        </p:grpSpPr>
        <p:sp>
          <p:nvSpPr>
            <p:cNvPr id="22" name="Rectangle 22"/>
            <p:cNvSpPr/>
            <p:nvPr/>
          </p:nvSpPr>
          <p:spPr>
            <a:xfrm>
              <a:off x="4343400" y="1333500"/>
              <a:ext cx="3505200" cy="4476750"/>
            </a:xfrm>
            <a:prstGeom prst="roundRect">
              <a:avLst>
                <a:gd name="adj" fmla="val 3804"/>
              </a:avLst>
            </a:prstGeom>
            <a:solidFill>
              <a:schemeClr val="accent5"/>
            </a:solidFill>
            <a:ln w="14288">
              <a:solidFill>
                <a:srgbClr val="1E3A52"/>
              </a:solidFill>
            </a:ln>
          </p:spPr>
        </p:sp>
        <p:sp>
          <p:nvSpPr>
            <p:cNvPr id="23" name="Rectangle 23"/>
            <p:cNvSpPr/>
            <p:nvPr/>
          </p:nvSpPr>
          <p:spPr>
            <a:xfrm>
              <a:off x="4343400" y="1333500"/>
              <a:ext cx="3505200" cy="76200"/>
            </a:xfrm>
            <a:prstGeom prst="roundRect">
              <a:avLst>
                <a:gd name="adj" fmla="val 50000"/>
              </a:avLst>
            </a:prstGeom>
            <a:solidFill>
              <a:srgbClr val="48D597"/>
            </a:solidFill>
            <a:ln w="0">
              <a:solidFill>
                <a:srgbClr val="48D597"/>
              </a:solidFill>
            </a:ln>
          </p:spPr>
        </p:sp>
        <p:sp>
          <p:nvSpPr>
            <p:cNvPr id="24" name="Ellipse 24"/>
            <p:cNvSpPr/>
            <p:nvPr/>
          </p:nvSpPr>
          <p:spPr>
            <a:xfrm>
              <a:off x="4572000" y="1714500"/>
              <a:ext cx="342900" cy="342900"/>
            </a:xfrm>
            <a:prstGeom prst="ellipse">
              <a:avLst/>
            </a:prstGeom>
            <a:solidFill>
              <a:srgbClr val="48D597"/>
            </a:solidFill>
            <a:ln>
              <a:noFill/>
            </a:ln>
          </p:spPr>
        </p:sp>
        <p:sp>
          <p:nvSpPr>
            <p:cNvPr id="25" name="TextBox 25"/>
            <p:cNvSpPr txBox="1"/>
            <p:nvPr/>
          </p:nvSpPr>
          <p:spPr>
            <a:xfrm>
              <a:off x="4677523" y="1790700"/>
              <a:ext cx="131855" cy="293370"/>
            </a:xfrm>
            <a:prstGeom prst="rect">
              <a:avLst/>
            </a:prstGeom>
            <a:noFill/>
            <a:ln>
              <a:noFill/>
            </a:ln>
          </p:spPr>
          <p:txBody>
            <a:bodyPr wrap="none" lIns="0" tIns="0" rIns="0" bIns="0" anchor="t" anchorCtr="0">
              <a:spAutoFit/>
            </a:bodyPr>
            <a:lstStyle/>
            <a:p>
              <a:pPr algn="ctr"/>
              <a:r>
                <a:rPr lang="en-US" sz="1500" b="1" dirty="0">
                  <a:solidFill>
                    <a:srgbClr val="08131F"/>
                  </a:solidFill>
                  <a:latin typeface="+mn-lt"/>
                  <a:ea typeface="+mn-ea"/>
                  <a:cs typeface="+mn-cs"/>
                </a:rPr>
                <a:t>2</a:t>
              </a:r>
            </a:p>
          </p:txBody>
        </p:sp>
        <p:sp>
          <p:nvSpPr>
            <p:cNvPr id="26" name="TextBox 26"/>
            <p:cNvSpPr txBox="1"/>
            <p:nvPr/>
          </p:nvSpPr>
          <p:spPr>
            <a:xfrm>
              <a:off x="5040249" y="1658779"/>
              <a:ext cx="239040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Label propagation is a</a:t>
              </a:r>
            </a:p>
          </p:txBody>
        </p:sp>
        <p:sp>
          <p:nvSpPr>
            <p:cNvPr id="27" name="TextBox 27"/>
            <p:cNvSpPr txBox="1"/>
            <p:nvPr/>
          </p:nvSpPr>
          <p:spPr>
            <a:xfrm>
              <a:off x="5040249" y="1915954"/>
              <a:ext cx="887007"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free fix</a:t>
              </a:r>
            </a:p>
          </p:txBody>
        </p:sp>
        <p:sp>
          <p:nvSpPr>
            <p:cNvPr id="28" name="TextBox 28"/>
            <p:cNvSpPr txBox="1"/>
            <p:nvPr/>
          </p:nvSpPr>
          <p:spPr>
            <a:xfrm>
              <a:off x="4660392" y="2787968"/>
              <a:ext cx="2600224"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Bringing the training graph's</a:t>
              </a:r>
            </a:p>
          </p:txBody>
        </p:sp>
        <p:sp>
          <p:nvSpPr>
            <p:cNvPr id="29" name="TextBox 29"/>
            <p:cNvSpPr txBox="1"/>
            <p:nvPr/>
          </p:nvSpPr>
          <p:spPr>
            <a:xfrm>
              <a:off x="4660392" y="3045142"/>
              <a:ext cx="2694337"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label structure into inference</a:t>
              </a:r>
            </a:p>
          </p:txBody>
        </p:sp>
        <p:sp>
          <p:nvSpPr>
            <p:cNvPr id="30" name="TextBox 30"/>
            <p:cNvSpPr txBox="1"/>
            <p:nvPr/>
          </p:nvSpPr>
          <p:spPr>
            <a:xfrm>
              <a:off x="4660392" y="3302318"/>
              <a:ext cx="2767032"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reduces over-robustness while</a:t>
              </a:r>
            </a:p>
          </p:txBody>
        </p:sp>
        <p:sp>
          <p:nvSpPr>
            <p:cNvPr id="31" name="TextBox 31"/>
            <p:cNvSpPr txBox="1"/>
            <p:nvPr/>
          </p:nvSpPr>
          <p:spPr>
            <a:xfrm>
              <a:off x="4660392" y="3559492"/>
              <a:ext cx="2476252"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improving accuracy and real</a:t>
              </a:r>
            </a:p>
          </p:txBody>
        </p:sp>
        <p:sp>
          <p:nvSpPr>
            <p:cNvPr id="32" name="TextBox 32"/>
            <p:cNvSpPr txBox="1"/>
            <p:nvPr/>
          </p:nvSpPr>
          <p:spPr>
            <a:xfrm>
              <a:off x="4660392" y="3816668"/>
              <a:ext cx="2176386"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adversarial robustness.</a:t>
              </a:r>
            </a:p>
          </p:txBody>
        </p:sp>
      </p:grpSp>
      <p:grpSp>
        <p:nvGrpSpPr>
          <p:cNvPr id="46" name="Group 46"/>
          <p:cNvGrpSpPr/>
          <p:nvPr/>
        </p:nvGrpSpPr>
        <p:grpSpPr>
          <a:xfrm>
            <a:off x="8077200" y="1333500"/>
            <a:ext cx="3505200" cy="4476750"/>
            <a:chOff x="8077200" y="1333500"/>
            <a:chExt cx="3505200" cy="4476750"/>
          </a:xfrm>
        </p:grpSpPr>
        <p:sp>
          <p:nvSpPr>
            <p:cNvPr id="34" name="Rectangle 34"/>
            <p:cNvSpPr/>
            <p:nvPr/>
          </p:nvSpPr>
          <p:spPr>
            <a:xfrm>
              <a:off x="8077200" y="1333500"/>
              <a:ext cx="3505200" cy="4476750"/>
            </a:xfrm>
            <a:prstGeom prst="roundRect">
              <a:avLst>
                <a:gd name="adj" fmla="val 3804"/>
              </a:avLst>
            </a:prstGeom>
            <a:solidFill>
              <a:schemeClr val="accent5"/>
            </a:solidFill>
            <a:ln w="14288">
              <a:solidFill>
                <a:srgbClr val="1E3A52"/>
              </a:solidFill>
            </a:ln>
          </p:spPr>
        </p:sp>
        <p:sp>
          <p:nvSpPr>
            <p:cNvPr id="35" name="Rectangle 35"/>
            <p:cNvSpPr/>
            <p:nvPr/>
          </p:nvSpPr>
          <p:spPr>
            <a:xfrm>
              <a:off x="8077200" y="1333500"/>
              <a:ext cx="3505200" cy="76200"/>
            </a:xfrm>
            <a:prstGeom prst="roundRect">
              <a:avLst>
                <a:gd name="adj" fmla="val 50000"/>
              </a:avLst>
            </a:prstGeom>
            <a:solidFill>
              <a:srgbClr val="35D0BA"/>
            </a:solidFill>
            <a:ln w="0">
              <a:solidFill>
                <a:srgbClr val="35D0BA"/>
              </a:solidFill>
            </a:ln>
          </p:spPr>
        </p:sp>
        <p:sp>
          <p:nvSpPr>
            <p:cNvPr id="36" name="Ellipse 36"/>
            <p:cNvSpPr/>
            <p:nvPr/>
          </p:nvSpPr>
          <p:spPr>
            <a:xfrm>
              <a:off x="8305800" y="1714500"/>
              <a:ext cx="342900" cy="342900"/>
            </a:xfrm>
            <a:prstGeom prst="ellipse">
              <a:avLst/>
            </a:prstGeom>
            <a:solidFill>
              <a:srgbClr val="35D0BA"/>
            </a:solidFill>
            <a:ln>
              <a:noFill/>
            </a:ln>
          </p:spPr>
        </p:sp>
        <p:sp>
          <p:nvSpPr>
            <p:cNvPr id="37" name="TextBox 37"/>
            <p:cNvSpPr txBox="1"/>
            <p:nvPr/>
          </p:nvSpPr>
          <p:spPr>
            <a:xfrm>
              <a:off x="8411323" y="1790700"/>
              <a:ext cx="131855" cy="293370"/>
            </a:xfrm>
            <a:prstGeom prst="rect">
              <a:avLst/>
            </a:prstGeom>
            <a:noFill/>
            <a:ln>
              <a:noFill/>
            </a:ln>
          </p:spPr>
          <p:txBody>
            <a:bodyPr wrap="none" lIns="0" tIns="0" rIns="0" bIns="0" anchor="t" anchorCtr="0">
              <a:spAutoFit/>
            </a:bodyPr>
            <a:lstStyle/>
            <a:p>
              <a:pPr algn="ctr"/>
              <a:r>
                <a:rPr lang="en-US" sz="1500" b="1" dirty="0">
                  <a:solidFill>
                    <a:srgbClr val="08131F"/>
                  </a:solidFill>
                  <a:latin typeface="+mn-lt"/>
                  <a:ea typeface="+mn-ea"/>
                  <a:cs typeface="+mn-cs"/>
                </a:rPr>
                <a:t>3</a:t>
              </a:r>
            </a:p>
          </p:txBody>
        </p:sp>
        <p:sp>
          <p:nvSpPr>
            <p:cNvPr id="38" name="TextBox 38"/>
            <p:cNvSpPr txBox="1"/>
            <p:nvPr/>
          </p:nvSpPr>
          <p:spPr>
            <a:xfrm>
              <a:off x="8774049" y="1658779"/>
              <a:ext cx="237920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No inductive tradeoff</a:t>
              </a:r>
            </a:p>
          </p:txBody>
        </p:sp>
        <p:sp>
          <p:nvSpPr>
            <p:cNvPr id="39" name="TextBox 39"/>
            <p:cNvSpPr txBox="1"/>
            <p:nvPr/>
          </p:nvSpPr>
          <p:spPr>
            <a:xfrm>
              <a:off x="8394192" y="2787968"/>
              <a:ext cx="2146374"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With a semantics-aware</a:t>
              </a:r>
            </a:p>
          </p:txBody>
        </p:sp>
        <p:sp>
          <p:nvSpPr>
            <p:cNvPr id="40" name="TextBox 40"/>
            <p:cNvSpPr txBox="1"/>
            <p:nvPr/>
          </p:nvSpPr>
          <p:spPr>
            <a:xfrm>
              <a:off x="8394192" y="3045142"/>
              <a:ext cx="2694337"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definition, classifying a newly</a:t>
              </a:r>
            </a:p>
          </p:txBody>
        </p:sp>
        <p:sp>
          <p:nvSpPr>
            <p:cNvPr id="41" name="TextBox 41"/>
            <p:cNvSpPr txBox="1"/>
            <p:nvPr/>
          </p:nvSpPr>
          <p:spPr>
            <a:xfrm>
              <a:off x="8394192" y="3302318"/>
              <a:ext cx="1931041"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added node carries no</a:t>
              </a:r>
            </a:p>
          </p:txBody>
        </p:sp>
        <p:sp>
          <p:nvSpPr>
            <p:cNvPr id="42" name="TextBox 42"/>
            <p:cNvSpPr txBox="1"/>
            <p:nvPr/>
          </p:nvSpPr>
          <p:spPr>
            <a:xfrm>
              <a:off x="8394192" y="3559492"/>
              <a:ext cx="3021463"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robustness-accuracy tradeoff at</a:t>
              </a:r>
            </a:p>
          </p:txBody>
        </p:sp>
        <p:sp>
          <p:nvSpPr>
            <p:cNvPr id="43" name="TextBox 43"/>
            <p:cNvSpPr txBox="1"/>
            <p:nvPr/>
          </p:nvSpPr>
          <p:spPr>
            <a:xfrm>
              <a:off x="8394192" y="3816668"/>
              <a:ext cx="2630729"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all — changing how robustness</a:t>
              </a:r>
            </a:p>
          </p:txBody>
        </p:sp>
        <p:sp>
          <p:nvSpPr>
            <p:cNvPr id="44" name="TextBox 44"/>
            <p:cNvSpPr txBox="1"/>
            <p:nvPr/>
          </p:nvSpPr>
          <p:spPr>
            <a:xfrm>
              <a:off x="8394192" y="4073842"/>
              <a:ext cx="2089404"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in graph ML ought to be</a:t>
              </a:r>
            </a:p>
          </p:txBody>
        </p:sp>
        <p:sp>
          <p:nvSpPr>
            <p:cNvPr id="45" name="TextBox 45"/>
            <p:cNvSpPr txBox="1"/>
            <p:nvPr/>
          </p:nvSpPr>
          <p:spPr>
            <a:xfrm>
              <a:off x="8394192" y="4331018"/>
              <a:ext cx="949662"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measured.</a:t>
              </a:r>
            </a:p>
          </p:txBody>
        </p:sp>
      </p:grpSp>
      <p:sp>
        <p:nvSpPr>
          <p:cNvPr id="47" name="TextBox 47"/>
          <p:cNvSpPr txBox="1"/>
          <p:nvPr/>
        </p:nvSpPr>
        <p:spPr>
          <a:xfrm>
            <a:off x="603885" y="6374606"/>
            <a:ext cx="6552673" cy="220028"/>
          </a:xfrm>
          <a:prstGeom prst="rect">
            <a:avLst/>
          </a:prstGeom>
          <a:noFill/>
          <a:ln>
            <a:noFill/>
          </a:ln>
        </p:spPr>
        <p:txBody>
          <a:bodyPr wrap="none" lIns="0" tIns="0" rIns="0" bIns="0" anchor="t" anchorCtr="0">
            <a:spAutoFit/>
          </a:bodyPr>
          <a:lstStyle/>
          <a:p>
            <a:pPr algn="l"/>
            <a:r>
              <a:rPr lang="en-US" sz="1120" dirty="0">
                <a:solidFill>
                  <a:srgbClr val="9DB2C4"/>
                </a:solidFill>
                <a:latin typeface="+mn-lt"/>
                <a:ea typeface="+mn-ea"/>
                <a:cs typeface="+mn-cs"/>
              </a:rPr>
              <a:t>Revisiting Robustness in Graph Machine Learning · ICLR 2023 · arxiv.org/abs/2305.00851</a:t>
            </a:r>
          </a:p>
        </p:txBody>
      </p:sp>
      <p:sp>
        <p:nvSpPr>
          <p:cNvPr id="48" name="cue_s10_c1_one_line_takeaway_graph_neural_netwo" title="cue_s10_c1_one_line_takeaway_graph_neural_netwo" descr="cue_s10_c1_one_line_takeaway_graph_neural_netwo The one-line takeaway is that graph neural networks are not simply fragile, they are over-robust: a large part of their measured robustness is stubborn robustness that persists after the node's true meaning has already changed, which conventional evaluations w"/>
          <p:cNvSpPr/>
          <p:nvPr/>
        </p:nvSpPr>
        <p:spPr>
          <a:xfrm>
            <a:off x="609600" y="1333195"/>
            <a:ext cx="3505199"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10_c2_bringing_graph_label_structure_infer" title="cue_s10_c2_bringing_graph_label_structure_infer" descr="cue_s10_c2_bringing_graph_label_structure_infer Bringing the training graph's label structure into inference through label propagation reduces this over-robustness while improving accuracy and real adversarial robustness."/>
          <p:cNvSpPr/>
          <p:nvPr/>
        </p:nvSpPr>
        <p:spPr>
          <a:xfrm>
            <a:off x="4344009" y="1333195"/>
            <a:ext cx="3505199"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10_c3_semantics_aware_definition_classifyi" title="cue_s10_c3_semantics_aware_definition_classifyi" descr="cue_s10_c3_semantics_aware_definition_classifyi And with a semantics-aware definition, classifying a newly added node carries no robustness-accuracy tradeoff at all, changing how robustness in graph machine learning ought to be measured."/>
          <p:cNvSpPr/>
          <p:nvPr/>
        </p:nvSpPr>
        <p:spPr>
          <a:xfrm>
            <a:off x="8077200" y="1333195"/>
            <a:ext cx="3505199"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8F0F7"/>
      </a:dk1>
      <a:lt1>
        <a:srgbClr val="0B1B2B"/>
      </a:lt1>
      <a:dk2>
        <a:srgbClr val="E8F0F7"/>
      </a:dk2>
      <a:lt2>
        <a:srgbClr val="0B1B2B"/>
      </a:lt2>
      <a:accent1>
        <a:srgbClr val="4F81BD"/>
      </a:accent1>
      <a:accent2>
        <a:srgbClr val="C0504D"/>
      </a:accent2>
      <a:accent3>
        <a:srgbClr val="9BBB59"/>
      </a:accent3>
      <a:accent4>
        <a:srgbClr val="8064A2"/>
      </a:accent4>
      <a:accent5>
        <a:srgbClr val="10263B"/>
      </a:accent5>
      <a:accent6>
        <a:srgbClr val="12314A"/>
      </a:accent6>
      <a:hlink>
        <a:srgbClr val="0000FF"/>
      </a:hlink>
      <a:folHlink>
        <a:srgbClr val="800080"/>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2026-07-15T21:43:57Z</dcterms:created>
  <dcterms:modified xsi:type="dcterms:W3CDTF">2026-07-15T21:43:57Z</dcterms:modified>
  <cp:category/>
  <cp:contentStatus/>
</cp:coreProperties>
</file>
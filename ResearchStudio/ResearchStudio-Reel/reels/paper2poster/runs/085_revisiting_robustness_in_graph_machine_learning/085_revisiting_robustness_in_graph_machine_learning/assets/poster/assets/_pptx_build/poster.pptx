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254531"/>
            <a:ext cx="16349682" cy="8689281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28289" y="6254531"/>
            <a:ext cx="16349682" cy="23817421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204691" y="6254531"/>
            <a:ext cx="16349821" cy="8315623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04691" y="14902001"/>
            <a:ext cx="16349821" cy="6410246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887" y="15275659"/>
            <a:ext cx="16349682" cy="14796293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21644094"/>
            <a:ext cx="16349821" cy="8427858"/>
          </a:xfrm>
          <a:prstGeom prst="rect">
            <a:avLst/>
          </a:prstGeom>
          <a:solidFill>
            <a:srgbClr val="F2F2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1644094"/>
            <a:ext cx="16349821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18952" y="21644094"/>
            <a:ext cx="35560" cy="84278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30036392"/>
            <a:ext cx="16349821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21644094"/>
            <a:ext cx="53340" cy="8427858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9809" y="3958140"/>
            <a:ext cx="5048131" cy="1466836"/>
          </a:xfrm>
          <a:prstGeom prst="rect">
            <a:avLst/>
          </a:prstGeom>
        </p:spPr>
      </p:pic>
      <p:pic>
        <p:nvPicPr>
          <p:cNvPr id="14" name="Picture 13" descr="technical-university-of-muni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4914" y="3958154"/>
            <a:ext cx="4521537" cy="14668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66661" y="12109291"/>
            <a:ext cx="1552013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661" y="12109291"/>
            <a:ext cx="124460" cy="21590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43063" y="13942020"/>
            <a:ext cx="15520134" cy="3298190"/>
          </a:xfrm>
          <a:prstGeom prst="roundRect">
            <a:avLst>
              <a:gd name="adj" fmla="val 6831"/>
            </a:avLst>
          </a:prstGeom>
          <a:solidFill>
            <a:srgbClr val="F3F3F3"/>
          </a:solidFill>
          <a:ln w="8890">
            <a:solidFill>
              <a:srgbClr val="BEB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619465" y="16429553"/>
            <a:ext cx="15520273" cy="3706574"/>
          </a:xfrm>
          <a:prstGeom prst="roundRect">
            <a:avLst>
              <a:gd name="adj" fmla="val 1918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8890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919225" y="8057534"/>
            <a:ext cx="14920754" cy="4978400"/>
          </a:xfrm>
          <a:prstGeom prst="roundRect">
            <a:avLst>
              <a:gd name="adj" fmla="val 71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age8_fig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9225" y="8132510"/>
            <a:ext cx="14920754" cy="482844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3676153" y="16651803"/>
            <a:ext cx="6217721" cy="33095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76153" y="16651803"/>
            <a:ext cx="11557" cy="3309580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843063" y="18205330"/>
            <a:ext cx="15520134" cy="10110570"/>
          </a:xfrm>
          <a:prstGeom prst="roundRect">
            <a:avLst>
              <a:gd name="adj" fmla="val 35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age4_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3155" y="18205330"/>
            <a:ext cx="15519950" cy="1011057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101109" y="20980400"/>
            <a:ext cx="15451237" cy="7953216"/>
          </a:xfrm>
          <a:prstGeom prst="roundRect">
            <a:avLst>
              <a:gd name="adj" fmla="val 44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age1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153" y="20980400"/>
            <a:ext cx="15451150" cy="79532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34373B"/>
                </a:solidFill>
                <a:latin typeface="Arial"/>
              </a:rPr>
              <a:t>Revisiting Robustness in Graph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Lukas Gosch  ·  Daniel Sturm  ·  Simon Geisler  ·  Stephan Günnemann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spc="56">
                <a:solidFill>
                  <a:srgbClr val="55617A"/>
                </a:solidFill>
                <a:latin typeface="Arial"/>
              </a:rPr>
              <a:t>Dept. of Computer Science &amp; Munich Data Science Institute, Technical University of Munich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661" y="6669305"/>
            <a:ext cx="159468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43063" y="6669305"/>
            <a:ext cx="1594685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19465" y="6669305"/>
            <a:ext cx="1594699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661" y="7919600"/>
            <a:ext cx="15946854" cy="4348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It is unclear whether the small, low-budget structure perturbations used to attack GNNs actually </a:t>
            </a:r>
            <a:r>
              <a:rPr sz="4106" b="1">
                <a:solidFill>
                  <a:srgbClr val="111111"/>
                </a:solidFill>
                <a:latin typeface="Arial"/>
              </a:rPr>
              <a:t>preserve a node’s semantic content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core assumption behind any adversarial example — and for graphs it has stayed largely unverified, so a “small” attack may already be a relabeling.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661" y="12109291"/>
            <a:ext cx="15946854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Graphs can’t be eyeballed like images, so a small ℓ₀ edge budget may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silently change a node’s true label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rather than merely perturb the input.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19465" y="15316775"/>
            <a:ext cx="1594699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661" y="15690433"/>
            <a:ext cx="1594685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23967" y="16799877"/>
            <a:ext cx="1252307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R(f,g): semantics-aware robustness vs. reference g  ·  R(f)=R(f,y): conventional degree-corrected robustness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619465" y="20338930"/>
            <a:ext cx="15946993" cy="713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Measured on CSBMs; confirmed on Cora-ML.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37245" y="22058868"/>
            <a:ext cx="1592921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37245" y="23430706"/>
            <a:ext cx="15929213" cy="6957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GNNs are not simply fragile — they are </a:t>
            </a:r>
            <a:r>
              <a:rPr sz="4106" b="1">
                <a:solidFill>
                  <a:srgbClr val="111111"/>
                </a:solidFill>
                <a:latin typeface="Arial"/>
              </a:rPr>
              <a:t>over-robust</a:t>
            </a:r>
            <a:r>
              <a:rPr sz="4106" b="0">
                <a:solidFill>
                  <a:srgbClr val="1C1C1C"/>
                </a:solidFill>
                <a:latin typeface="Arial"/>
              </a:rPr>
              <a:t>: much measured robustness persists after a node’s true meaning has changed. Feeding the training graph’s labels back via </a:t>
            </a:r>
            <a:r>
              <a:rPr sz="4106" b="1">
                <a:solidFill>
                  <a:srgbClr val="111111"/>
                </a:solidFill>
                <a:latin typeface="Arial"/>
              </a:rPr>
              <a:t>label propagation</a:t>
            </a:r>
            <a:r>
              <a:rPr sz="4106" b="0">
                <a:solidFill>
                  <a:srgbClr val="1C1C1C"/>
                </a:solidFill>
                <a:latin typeface="Arial"/>
              </a:rPr>
              <a:t> reduces it at no cost to accuracy or adversarial robustness. With a semantics-aware definition, classifying a newly added node carries </a:t>
            </a:r>
            <a:r>
              <a:rPr sz="4106" b="1">
                <a:solidFill>
                  <a:srgbClr val="111111"/>
                </a:solidFill>
                <a:latin typeface="Arial"/>
              </a:rPr>
              <a:t>no robustness–accuracy tradeoff</a:t>
            </a:r>
            <a:r>
              <a:rPr sz="4106" b="0">
                <a:solidFill>
                  <a:srgbClr val="1C1C1C"/>
                </a:solidFill>
                <a:latin typeface="Arial"/>
              </a:rPr>
              <a:t> — reframing how graph adversarial robustness should be measured — robustness the semantics no longer justify.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43045" y="8335347"/>
            <a:ext cx="1594687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 </a:t>
            </a:r>
            <a:r>
              <a:rPr sz="4106" b="1">
                <a:solidFill>
                  <a:srgbClr val="111111"/>
                </a:solidFill>
                <a:latin typeface="Arial"/>
              </a:rPr>
              <a:t>Contextual Stochastic Block Models</a:t>
            </a:r>
            <a:r>
              <a:rPr sz="4106" b="0">
                <a:solidFill>
                  <a:srgbClr val="1C1C1C"/>
                </a:solidFill>
                <a:latin typeface="Arial"/>
              </a:rPr>
              <a:t> the Bayes-optimal classifier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g</a:t>
            </a:r>
            <a:r>
              <a:rPr sz="4106" b="0">
                <a:solidFill>
                  <a:srgbClr val="1C1C1C"/>
                </a:solidFill>
                <a:latin typeface="Arial"/>
              </a:rPr>
              <a:t> is derived exactly and used as a trusted reference for the true semantics.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43045" y="10786487"/>
            <a:ext cx="15946872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An </a:t>
            </a:r>
            <a:r>
              <a:rPr sz="4106" b="1">
                <a:solidFill>
                  <a:srgbClr val="111111"/>
                </a:solidFill>
                <a:latin typeface="Arial"/>
              </a:rPr>
              <a:t>over-robust</a:t>
            </a:r>
            <a:r>
              <a:rPr sz="4106" b="0">
                <a:solidFill>
                  <a:srgbClr val="1C1C1C"/>
                </a:solidFill>
                <a:latin typeface="Arial"/>
              </a:rPr>
              <a:t> example at node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v</a:t>
            </a:r>
            <a:r>
              <a:rPr sz="4106" b="0">
                <a:solidFill>
                  <a:srgbClr val="1C1C1C"/>
                </a:solidFill>
                <a:latin typeface="Arial"/>
              </a:rPr>
              <a:t>: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f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g</a:t>
            </a:r>
            <a:r>
              <a:rPr sz="4106" b="0">
                <a:solidFill>
                  <a:srgbClr val="1C1C1C"/>
                </a:solidFill>
                <a:latin typeface="Arial"/>
              </a:rPr>
              <a:t> agree on the clean graph, the perturbation flips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g</a:t>
            </a:r>
            <a:r>
              <a:rPr sz="4106" b="0">
                <a:solidFill>
                  <a:srgbClr val="1C1C1C"/>
                </a:solidFill>
                <a:latin typeface="Arial"/>
              </a:rPr>
              <a:t> (semantics change), yet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f</a:t>
            </a:r>
            <a:r>
              <a:rPr sz="4106" b="0">
                <a:solidFill>
                  <a:srgbClr val="1C1C1C"/>
                </a:solidFill>
                <a:latin typeface="Arial"/>
              </a:rPr>
              <a:t> keeps its original prediction.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16105" y="13185536"/>
            <a:ext cx="14138803" cy="1362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Over-robustness R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over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vs. signal K — LP variants (dashed) sit far below GNN counterparts.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642" y="17061299"/>
            <a:ext cx="159468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Most real graph nodes have </a:t>
            </a:r>
            <a:r>
              <a:rPr sz="4106" b="1">
                <a:solidFill>
                  <a:srgbClr val="111111"/>
                </a:solidFill>
                <a:latin typeface="Arial"/>
              </a:rPr>
              <a:t>low degree</a:t>
            </a:r>
            <a:r>
              <a:rPr sz="4106" b="0">
                <a:solidFill>
                  <a:srgbClr val="1C1C1C"/>
                </a:solidFill>
                <a:latin typeface="Arial"/>
              </a:rPr>
              <a:t>, so a small ℓ₀ budget can erase a node’s entire original neighbourhood.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6642" y="18756233"/>
            <a:ext cx="159468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Unnoticeability heuristics (degree, homophily) never check the ground-truth label — semantics can shift undetected.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463835" y="28465502"/>
            <a:ext cx="14705171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Over- vs. adversarial robustness: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f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(dotted) follows base classifier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g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except across the boundary; finite perturbation sets B(·) cross it from one side.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58994" y="29083218"/>
            <a:ext cx="14147387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All GNNs stay robust far beyond the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semantic boundary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(CSBM graphs).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65329" y="16651803"/>
            <a:ext cx="8484255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4373B"/>
                </a:solidFill>
                <a:latin typeface="Arial"/>
              </a:rPr>
              <a:t>99.4%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65329" y="18026697"/>
            <a:ext cx="8484255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of target nodes admit a semantics-changing perturbation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65329" y="19069605"/>
            <a:ext cx="8484255" cy="1025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Common K = 1.0, B</a:t>
            </a:r>
            <a:r>
              <a:rPr sz="3920" b="0" i="1" baseline="-25000">
                <a:solidFill>
                  <a:srgbClr val="555555"/>
                </a:solidFill>
                <a:latin typeface="Arial"/>
              </a:rPr>
              <a:t>deg+2</a:t>
            </a:r>
            <a:r>
              <a:rPr sz="2800" b="0" i="1">
                <a:solidFill>
                  <a:srgbClr val="555555"/>
                </a:solidFill>
                <a:latin typeface="Arial"/>
              </a:rPr>
              <a:t> threat model; every GNN then over-robust, not just fragile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54407" y="16651803"/>
            <a:ext cx="110710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411786" y="16785153"/>
            <a:ext cx="431538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over-robust max-robust ref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154407" y="17544276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20.9%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855592" y="17677626"/>
            <a:ext cx="3742372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GCN+LP R</a:t>
            </a:r>
            <a:r>
              <a:rPr sz="3920" b="0" baseline="-25000">
                <a:solidFill>
                  <a:srgbClr val="555555"/>
                </a:solidFill>
                <a:latin typeface="Arial"/>
              </a:rPr>
              <a:t>over</a:t>
            </a:r>
            <a:r>
              <a:rPr sz="2800" b="0">
                <a:solidFill>
                  <a:srgbClr val="555555"/>
                </a:solidFill>
                <a:latin typeface="Arial"/>
              </a:rPr>
              <a:t> (K=0.5)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154407" y="18436887"/>
            <a:ext cx="1533317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11.4%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825588" y="18570237"/>
            <a:ext cx="3219295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GCN R</a:t>
            </a:r>
            <a:r>
              <a:rPr sz="3920" b="0" baseline="-25000">
                <a:solidFill>
                  <a:srgbClr val="555555"/>
                </a:solidFill>
                <a:latin typeface="Arial"/>
              </a:rPr>
              <a:t>over</a:t>
            </a:r>
            <a:r>
              <a:rPr sz="2800" b="0">
                <a:solidFill>
                  <a:srgbClr val="555555"/>
                </a:solidFill>
                <a:latin typeface="Arial"/>
              </a:rPr>
              <a:t>, Nettack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154407" y="19329499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19.2%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855592" y="19462849"/>
            <a:ext cx="4159430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MLP R</a:t>
            </a:r>
            <a:r>
              <a:rPr sz="3920" b="0" baseline="-25000">
                <a:solidFill>
                  <a:srgbClr val="555555"/>
                </a:solidFill>
                <a:latin typeface="Arial"/>
              </a:rPr>
              <a:t>over</a:t>
            </a:r>
            <a:r>
              <a:rPr sz="2800" b="0">
                <a:solidFill>
                  <a:srgbClr val="555555"/>
                </a:solidFill>
                <a:latin typeface="Arial"/>
              </a:rPr>
              <a:t>, Nettack (K=2)</a:t>
            </a:r>
          </a:p>
        </p:txBody>
      </p:sp>
      <p:pic>
        <p:nvPicPr>
          <p:cNvPr id="59" name="Picture 58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46169" y="14581683"/>
            <a:ext cx="14713922" cy="1610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
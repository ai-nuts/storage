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ECE7F4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254531"/>
            <a:ext cx="10085149" cy="689489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63756" y="6254531"/>
            <a:ext cx="15845730" cy="23817421"/>
          </a:xfrm>
          <a:prstGeom prst="roundRect">
            <a:avLst>
              <a:gd name="adj" fmla="val 448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6206" y="6254531"/>
            <a:ext cx="12606437" cy="7109778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469363" y="6254531"/>
            <a:ext cx="10085149" cy="5321499"/>
          </a:xfrm>
          <a:prstGeom prst="roundRect">
            <a:avLst>
              <a:gd name="adj" fmla="val 1336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469363" y="11907877"/>
            <a:ext cx="10085149" cy="6093678"/>
          </a:xfrm>
          <a:prstGeom prst="roundRect">
            <a:avLst>
              <a:gd name="adj" fmla="val 1167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13481268"/>
            <a:ext cx="10085149" cy="16590684"/>
          </a:xfrm>
          <a:prstGeom prst="roundRect">
            <a:avLst>
              <a:gd name="adj" fmla="val 70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6206" y="13696156"/>
            <a:ext cx="12606437" cy="16375796"/>
          </a:xfrm>
          <a:prstGeom prst="roundRect">
            <a:avLst>
              <a:gd name="adj" fmla="val 56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469363" y="18333402"/>
            <a:ext cx="10085149" cy="5815032"/>
          </a:xfrm>
          <a:prstGeom prst="roundRect">
            <a:avLst>
              <a:gd name="adj" fmla="val 1223"/>
            </a:avLst>
          </a:prstGeom>
          <a:solidFill>
            <a:srgbClr val="F0EDF5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469363" y="18333402"/>
            <a:ext cx="53340" cy="5815032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469363" y="24480281"/>
            <a:ext cx="10085149" cy="5591671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6986" y="3958133"/>
            <a:ext cx="4347210" cy="1466850"/>
          </a:xfrm>
          <a:prstGeom prst="rect">
            <a:avLst/>
          </a:prstGeom>
        </p:spPr>
      </p:pic>
      <p:pic>
        <p:nvPicPr>
          <p:cNvPr id="14" name="Picture 13" descr="peking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1170" y="3958156"/>
            <a:ext cx="1470879" cy="1466804"/>
          </a:xfrm>
          <a:prstGeom prst="rect">
            <a:avLst/>
          </a:prstGeom>
        </p:spPr>
      </p:pic>
      <p:pic>
        <p:nvPicPr>
          <p:cNvPr id="15" name="Picture 14" descr="goo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9023" y="3958149"/>
            <a:ext cx="4829770" cy="1466819"/>
          </a:xfrm>
          <a:prstGeom prst="rect">
            <a:avLst/>
          </a:prstGeom>
        </p:spPr>
      </p:pic>
      <p:pic>
        <p:nvPicPr>
          <p:cNvPr id="16" name="Picture 15" descr="shanghai-jiao-tong-universit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55767" y="3958150"/>
            <a:ext cx="1493103" cy="1466816"/>
          </a:xfrm>
          <a:prstGeom prst="rect">
            <a:avLst/>
          </a:prstGeom>
        </p:spPr>
      </p:pic>
      <p:pic>
        <p:nvPicPr>
          <p:cNvPr id="17" name="Picture 16" descr="google-deepmi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85845" y="3958139"/>
            <a:ext cx="6323429" cy="146683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039991" y="6642635"/>
            <a:ext cx="9308941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6642635"/>
            <a:ext cx="9308941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9991" y="7650539"/>
            <a:ext cx="9308941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51860" y="6642635"/>
            <a:ext cx="15069522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51860" y="6642635"/>
            <a:ext cx="15069522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51860" y="7650539"/>
            <a:ext cx="15069522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824310" y="6642635"/>
            <a:ext cx="11830229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824310" y="6642635"/>
            <a:ext cx="11830229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824310" y="7650539"/>
            <a:ext cx="11830229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857467" y="6642635"/>
            <a:ext cx="9308941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857467" y="6642635"/>
            <a:ext cx="9308941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857467" y="7650539"/>
            <a:ext cx="9308941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9991" y="11282799"/>
            <a:ext cx="9308941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9991" y="11282799"/>
            <a:ext cx="124460" cy="148101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857467" y="12295981"/>
            <a:ext cx="9308941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857467" y="12295981"/>
            <a:ext cx="9308941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857467" y="13303885"/>
            <a:ext cx="9308941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857467" y="13650595"/>
            <a:ext cx="9308941" cy="3982442"/>
          </a:xfrm>
          <a:prstGeom prst="roundRect">
            <a:avLst>
              <a:gd name="adj" fmla="val 1785"/>
            </a:avLst>
          </a:prstGeom>
          <a:gradFill rotWithShape="1" flip="none">
            <a:gsLst>
              <a:gs pos="0">
                <a:srgbClr val="E9E6F0"/>
              </a:gs>
              <a:gs pos="100000">
                <a:srgbClr val="F4F2F8"/>
              </a:gs>
            </a:gsLst>
            <a:lin ang="5400000" scaled="0"/>
          </a:gradFill>
          <a:ln w="8890">
            <a:solidFill>
              <a:srgbClr val="D2CB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9991" y="13869372"/>
            <a:ext cx="9308941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39991" y="13869372"/>
            <a:ext cx="9308941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9991" y="14877276"/>
            <a:ext cx="9308941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824310" y="14084260"/>
            <a:ext cx="11830229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824310" y="14084260"/>
            <a:ext cx="11830229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824310" y="15092164"/>
            <a:ext cx="11830229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551860" y="15491380"/>
            <a:ext cx="15069522" cy="2869525"/>
          </a:xfrm>
          <a:prstGeom prst="roundRect">
            <a:avLst>
              <a:gd name="adj" fmla="val 7851"/>
            </a:avLst>
          </a:prstGeom>
          <a:solidFill>
            <a:srgbClr val="F4F2F8"/>
          </a:solidFill>
          <a:ln w="8890">
            <a:solidFill>
              <a:srgbClr val="C5B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901917" y="18721506"/>
            <a:ext cx="9264491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901917" y="18721506"/>
            <a:ext cx="9264491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901917" y="19729410"/>
            <a:ext cx="9264491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0901917" y="20076120"/>
            <a:ext cx="9264491" cy="3702824"/>
          </a:xfrm>
          <a:prstGeom prst="roundRect">
            <a:avLst>
              <a:gd name="adj" fmla="val 5634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9991" y="25505271"/>
            <a:ext cx="9308941" cy="4184828"/>
          </a:xfrm>
          <a:prstGeom prst="roundRect">
            <a:avLst>
              <a:gd name="adj" fmla="val 4361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39991" y="25505271"/>
            <a:ext cx="124460" cy="4184828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824310" y="28052672"/>
            <a:ext cx="11830229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824310" y="28052672"/>
            <a:ext cx="11830229" cy="11557"/>
          </a:xfrm>
          <a:prstGeom prst="rect">
            <a:avLst/>
          </a:prstGeom>
          <a:solidFill>
            <a:srgbClr val="C0B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7824310" y="12228195"/>
            <a:ext cx="3837286" cy="819824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A–C single-item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818004" y="12228195"/>
            <a:ext cx="3418344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D–I multi-item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041032" y="13872845"/>
            <a:ext cx="3879512" cy="35854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041032" y="13872845"/>
            <a:ext cx="11557" cy="3585448"/>
          </a:xfrm>
          <a:prstGeom prst="rect">
            <a:avLst/>
          </a:prstGeom>
          <a:solidFill>
            <a:srgbClr val="D2C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1551860" y="18762345"/>
            <a:ext cx="15069522" cy="8476476"/>
          </a:xfrm>
          <a:prstGeom prst="roundRect">
            <a:avLst>
              <a:gd name="adj" fmla="val 41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1976" y="18762345"/>
            <a:ext cx="15069291" cy="8476476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27824310" y="21503937"/>
            <a:ext cx="11830229" cy="3657124"/>
          </a:xfrm>
          <a:prstGeom prst="roundRect">
            <a:avLst>
              <a:gd name="adj" fmla="val 97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page10_figur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24425" y="21503937"/>
            <a:ext cx="11830000" cy="3657124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529496" y="25661679"/>
            <a:ext cx="2380437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REQUIRES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824310" y="18848050"/>
            <a:ext cx="11830229" cy="945118"/>
          </a:xfrm>
          <a:prstGeom prst="rect">
            <a:avLst/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824310" y="19793168"/>
            <a:ext cx="11830229" cy="945118"/>
          </a:xfrm>
          <a:prstGeom prst="rect">
            <a:avLst/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0857467" y="24859495"/>
            <a:ext cx="2196941" cy="11812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857467" y="24859495"/>
            <a:ext cx="2196941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857467" y="26014084"/>
            <a:ext cx="2196941" cy="266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3410008" y="25342611"/>
            <a:ext cx="3200400" cy="3200400"/>
          </a:xfrm>
          <a:prstGeom prst="roundRect">
            <a:avLst>
              <a:gd name="adj" fmla="val 4814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pap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28541" y="25461144"/>
            <a:ext cx="2963334" cy="2963334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46966008" y="25342611"/>
            <a:ext cx="3200400" cy="3200400"/>
          </a:xfrm>
          <a:prstGeom prst="roundRect">
            <a:avLst>
              <a:gd name="adj" fmla="val 4814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cod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84541" y="25461144"/>
            <a:ext cx="2963334" cy="2963334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44382213" y="28685251"/>
            <a:ext cx="1255991" cy="524233"/>
          </a:xfrm>
          <a:prstGeom prst="roundRect">
            <a:avLst>
              <a:gd name="adj" fmla="val 50000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4B2E83"/>
                </a:solidFill>
                <a:latin typeface="Arial"/>
              </a:rPr>
              <a:t>Paper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7982524" y="28685251"/>
            <a:ext cx="1167368" cy="524233"/>
          </a:xfrm>
          <a:prstGeom prst="roundRect">
            <a:avLst>
              <a:gd name="adj" fmla="val 50000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4B2E83"/>
                </a:solidFill>
                <a:latin typeface="Arial"/>
              </a:rPr>
              <a:t>Code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824310" y="15939353"/>
            <a:ext cx="4539596" cy="1245155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824310" y="17175618"/>
            <a:ext cx="453959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363906" y="15939353"/>
            <a:ext cx="4338597" cy="1245155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363906" y="17175618"/>
            <a:ext cx="4338597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702503" y="15939353"/>
            <a:ext cx="2952036" cy="1245155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6702503" y="17175618"/>
            <a:ext cx="295203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7824310" y="17184508"/>
            <a:ext cx="4539596" cy="16635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824310" y="18839160"/>
            <a:ext cx="453959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363906" y="17184508"/>
            <a:ext cx="4338597" cy="16635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363906" y="18839160"/>
            <a:ext cx="4338597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702503" y="17184508"/>
            <a:ext cx="2952036" cy="16635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6702503" y="18839160"/>
            <a:ext cx="295203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824310" y="18848050"/>
            <a:ext cx="453959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7824310" y="19784278"/>
            <a:ext cx="453959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2363906" y="18848050"/>
            <a:ext cx="433859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2363906" y="19784278"/>
            <a:ext cx="4338597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6702503" y="18848050"/>
            <a:ext cx="295203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6702503" y="19784278"/>
            <a:ext cx="295203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7824310" y="19793168"/>
            <a:ext cx="453959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824310" y="20729396"/>
            <a:ext cx="453959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363906" y="19793168"/>
            <a:ext cx="433859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2363906" y="20729396"/>
            <a:ext cx="4338597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702503" y="19793168"/>
            <a:ext cx="295203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6702503" y="20729396"/>
            <a:ext cx="295203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0857467" y="26230361"/>
            <a:ext cx="2196941" cy="1666042"/>
          </a:xfrm>
          <a:prstGeom prst="roundRect">
            <a:avLst>
              <a:gd name="adj" fmla="val 8537"/>
            </a:avLst>
          </a:prstGeom>
          <a:solidFill>
            <a:srgbClr val="ECE7F4"/>
          </a:solidFill>
          <a:ln w="17780">
            <a:solidFill>
              <a:srgbClr val="4B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40857467" y="28026697"/>
            <a:ext cx="2196941" cy="1666041"/>
          </a:xfrm>
          <a:prstGeom prst="roundRect">
            <a:avLst>
              <a:gd name="adj" fmla="val 8537"/>
            </a:avLst>
          </a:prstGeom>
          <a:solidFill>
            <a:srgbClr val="ECE7F4"/>
          </a:solidFill>
          <a:ln w="17780">
            <a:solidFill>
              <a:srgbClr val="4B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4B2E83"/>
                </a:solidFill>
                <a:latin typeface="Arial"/>
              </a:rPr>
              <a:t>A Context-Integrated Transformer-Based Neural Network for Auction Design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Zhijian Duan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Jingwu Tang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Yutong Yin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Zhe Feng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Xiang Yan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4106" b="0">
                <a:solidFill>
                  <a:srgbClr val="1B2331"/>
                </a:solidFill>
                <a:latin typeface="Arial"/>
              </a:rPr>
              <a:t>, Manzil Zaheer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4</a:t>
            </a:r>
            <a:r>
              <a:rPr sz="4106" b="0">
                <a:solidFill>
                  <a:srgbClr val="1B2331"/>
                </a:solidFill>
                <a:latin typeface="Arial"/>
              </a:rPr>
              <a:t>, Xiaotie Deng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1†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Peking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Google Research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Shanghai Jiao Tong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Google DeepMind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9991" y="6642635"/>
            <a:ext cx="9588209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551860" y="6642635"/>
            <a:ext cx="15496242" cy="1189760"/>
          </a:xfrm>
          <a:prstGeom prst="rect">
            <a:avLst/>
          </a:prstGeom>
          <a:noFill/>
        </p:spPr>
        <p:txBody>
          <a:bodyPr wrap="non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824310" y="6642635"/>
            <a:ext cx="12185135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Benchmark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857467" y="6642635"/>
            <a:ext cx="9588209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Ablation Study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9991" y="7997249"/>
            <a:ext cx="9588209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Designing an </a:t>
            </a:r>
            <a:r>
              <a:rPr sz="4106" b="1">
                <a:solidFill>
                  <a:srgbClr val="111111"/>
                </a:solidFill>
                <a:latin typeface="Arial"/>
              </a:rPr>
              <a:t>incentive-compatible</a:t>
            </a:r>
            <a:r>
              <a:rPr sz="4106" b="0">
                <a:solidFill>
                  <a:srgbClr val="1C1C1C"/>
                </a:solidFill>
                <a:latin typeface="Arial"/>
              </a:rPr>
              <a:t> auction that maximizes the seller's expected revenue is a central open problem.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9991" y="11282799"/>
            <a:ext cx="9588209" cy="1703170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Even the two-bidder, two-item case is still unsolved after four decades.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857467" y="12295981"/>
            <a:ext cx="9588209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9991" y="13869372"/>
            <a:ext cx="9588209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7824310" y="14084260"/>
            <a:ext cx="12185135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3967023" y="17920573"/>
            <a:ext cx="10546371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maximize expected revenue subject to zero expected regret (incentive compatibility / DSIC)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901917" y="18721506"/>
            <a:ext cx="9542425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901917" y="20076120"/>
            <a:ext cx="9542425" cy="4258247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Context yields near-optimal, asymmetric, incentive-compatible auctions that generalize to auctions larger than any seen in training.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824310" y="28052672"/>
            <a:ext cx="12185135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Matches the Myerson optimum where known; wins where none exists.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551842" y="7997249"/>
            <a:ext cx="15496260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Embed &amp; assemble.</a:t>
            </a:r>
            <a:r>
              <a:rPr sz="4106" b="0">
                <a:solidFill>
                  <a:srgbClr val="1C1C1C"/>
                </a:solidFill>
                <a:latin typeface="Arial"/>
              </a:rPr>
              <a:t> Bidder- and item-contexts are embedded and stacked with the bids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b</a:t>
            </a:r>
            <a:r>
              <a:rPr sz="4106" b="0">
                <a:solidFill>
                  <a:srgbClr val="1C1C1C"/>
                </a:solidFill>
                <a:latin typeface="Arial"/>
              </a:rPr>
              <a:t> into a per-bidder-item representation.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824292" y="7997249"/>
            <a:ext cx="12185154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9 synthetic settings.</a:t>
            </a:r>
            <a:r>
              <a:rPr sz="4106" b="0">
                <a:solidFill>
                  <a:srgbClr val="1C1C1C"/>
                </a:solidFill>
                <a:latin typeface="Arial"/>
              </a:rPr>
              <a:t> Single-item A–C (Myerson-optimal) and multi-item D–I, up to </a:t>
            </a:r>
            <a:r>
              <a:rPr sz="4106" b="1">
                <a:solidFill>
                  <a:srgbClr val="111111"/>
                </a:solidFill>
                <a:latin typeface="Arial"/>
              </a:rPr>
              <a:t>5×10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857449" y="7997249"/>
            <a:ext cx="9588227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Both context and the transformer layers are needed</a:t>
            </a:r>
            <a:r>
              <a:rPr sz="4106" b="0">
                <a:solidFill>
                  <a:srgbClr val="1C1C1C"/>
                </a:solidFill>
                <a:latin typeface="Arial"/>
              </a:rPr>
              <a:t> — removing either lowers revenue in every setting.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551842" y="10448389"/>
            <a:ext cx="15496260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Interaction layers.</a:t>
            </a:r>
            <a:r>
              <a:rPr sz="4106" b="0">
                <a:solidFill>
                  <a:srgbClr val="1C1C1C"/>
                </a:solidFill>
                <a:latin typeface="Arial"/>
              </a:rPr>
              <a:t> Each mixes a global average with a transformer over every column and every row — modelling mutual influence while staying </a:t>
            </a:r>
            <a:r>
              <a:rPr sz="4106" b="1">
                <a:solidFill>
                  <a:srgbClr val="111111"/>
                </a:solidFill>
                <a:latin typeface="Arial"/>
              </a:rPr>
              <a:t>permutation-equivariant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824292" y="10448389"/>
            <a:ext cx="12185154" cy="1836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Discrete or continuous (</a:t>
            </a:r>
            <a:r>
              <a:rPr sz="4106" b="0" i="1">
                <a:solidFill>
                  <a:srgbClr val="1C1C1C"/>
                </a:solidFill>
                <a:latin typeface="Arial"/>
              </a:rPr>
              <a:t>R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10</a:t>
            </a:r>
            <a:r>
              <a:rPr sz="4106" b="0">
                <a:solidFill>
                  <a:srgbClr val="1C1C1C"/>
                </a:solidFill>
                <a:latin typeface="Arial"/>
              </a:rPr>
              <a:t>) contexts; each result averaged over </a:t>
            </a:r>
            <a:r>
              <a:rPr sz="4106" b="1">
                <a:solidFill>
                  <a:srgbClr val="111111"/>
                </a:solidFill>
                <a:latin typeface="Arial"/>
              </a:rPr>
              <a:t>5 runs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551842" y="12899528"/>
            <a:ext cx="15496260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Output layer.</a:t>
            </a:r>
            <a:r>
              <a:rPr sz="4106" b="0">
                <a:solidFill>
                  <a:srgbClr val="1C1C1C"/>
                </a:solidFill>
                <a:latin typeface="Arial"/>
              </a:rPr>
              <a:t> Emits allocation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g</a:t>
            </a:r>
            <a:r>
              <a:rPr sz="4106" b="0">
                <a:solidFill>
                  <a:srgbClr val="1C1C1C"/>
                </a:solidFill>
                <a:latin typeface="Arial"/>
              </a:rPr>
              <a:t> and payment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p</a:t>
            </a:r>
            <a:r>
              <a:rPr sz="4106" b="0">
                <a:solidFill>
                  <a:srgbClr val="1C1C1C"/>
                </a:solidFill>
                <a:latin typeface="Arial"/>
              </a:rPr>
              <a:t>; IR guaranteed by architecture, DSIC enforced as a regret constraint.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39972" y="15931713"/>
            <a:ext cx="9588228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Real markets (e.g. e-commerce ad slots) carry rich </a:t>
            </a:r>
            <a:r>
              <a:rPr sz="4106" b="1">
                <a:solidFill>
                  <a:srgbClr val="111111"/>
                </a:solidFill>
                <a:latin typeface="Arial"/>
              </a:rPr>
              <a:t>public context</a:t>
            </a:r>
            <a:r>
              <a:rPr sz="4106" b="0">
                <a:solidFill>
                  <a:srgbClr val="1C1C1C"/>
                </a:solidFill>
                <a:latin typeface="Arial"/>
              </a:rPr>
              <a:t> on bidders and items, and the auction size changes every round.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39972" y="19139058"/>
            <a:ext cx="9588228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neural designers (RegretNet, EquivariantNet) fix the auction scale or force </a:t>
            </a:r>
            <a:r>
              <a:rPr sz="4106" b="1">
                <a:solidFill>
                  <a:srgbClr val="111111"/>
                </a:solidFill>
                <a:latin typeface="Arial"/>
              </a:rPr>
              <a:t>symmetry</a:t>
            </a:r>
            <a:r>
              <a:rPr sz="4106" b="0">
                <a:solidFill>
                  <a:srgbClr val="1C1C1C"/>
                </a:solidFill>
                <a:latin typeface="Arial"/>
              </a:rPr>
              <a:t>, so they cannot exploit context.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39972" y="22346404"/>
            <a:ext cx="9588228" cy="2608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Ignoring bidder/item identity, they also miss the </a:t>
            </a:r>
            <a:r>
              <a:rPr sz="4106" b="1">
                <a:solidFill>
                  <a:srgbClr val="111111"/>
                </a:solidFill>
                <a:latin typeface="Arial"/>
              </a:rPr>
              <a:t>asymmetric mechanisms</a:t>
            </a:r>
            <a:r>
              <a:rPr sz="4106" b="0">
                <a:solidFill>
                  <a:srgbClr val="1C1C1C"/>
                </a:solidFill>
                <a:latin typeface="Arial"/>
              </a:rPr>
              <a:t> that context demands.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297564" y="25310663"/>
            <a:ext cx="11210232" cy="2557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Out-of-setting generalization: trained at one auction size, CITransNet keeps beating the Item-wise Myerson baseline as the number of bidders (a) or items (b, c) grows.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29496" y="26508868"/>
            <a:ext cx="8708021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 architecture that ingests features as context and handles a </a:t>
            </a:r>
            <a:r>
              <a:rPr sz="4106" b="1">
                <a:solidFill>
                  <a:srgbClr val="111111"/>
                </a:solidFill>
                <a:latin typeface="Arial"/>
              </a:rPr>
              <a:t>varying number</a:t>
            </a:r>
            <a:r>
              <a:rPr sz="4106" b="0">
                <a:solidFill>
                  <a:srgbClr val="1C1C1C"/>
                </a:solidFill>
                <a:latin typeface="Arial"/>
              </a:rPr>
              <a:t> of bidders and items, without forcing symmetry.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154574" y="27388423"/>
            <a:ext cx="14279873" cy="2557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CITransNet embeds bidder- and item-contexts, assembles them with the bids, and passes them through transformer-based interaction layers (averaging ⊕ column-transformer ⊕ row-transformer) to produce the allocation and payment.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1103331" y="14456667"/>
            <a:ext cx="4494938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4B2E83"/>
                </a:solidFill>
                <a:latin typeface="Arial"/>
              </a:rPr>
              <a:t>+9.9%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1103331" y="15831562"/>
            <a:ext cx="4494938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Revenue gain, Setting G (2×5)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0857467" y="24859495"/>
            <a:ext cx="2262849" cy="1358447"/>
          </a:xfrm>
          <a:prstGeom prst="rect">
            <a:avLst/>
          </a:prstGeom>
          <a:noFill/>
        </p:spPr>
        <p:txBody>
          <a:bodyPr wrap="none" lIns="0" rIns="0" tIns="66378" bIns="66378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4B2E83"/>
                </a:solidFill>
                <a:latin typeface="Arial"/>
              </a:rPr>
              <a:t>Scan to</a:t>
            </a:r>
          </a:p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4B2E83"/>
                </a:solidFill>
                <a:latin typeface="Arial"/>
              </a:rPr>
              <a:t>Read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519286" y="13872845"/>
            <a:ext cx="1012388" cy="125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6 / 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7684709" y="14006195"/>
            <a:ext cx="2302910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multi-item wins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519286" y="15223986"/>
            <a:ext cx="137722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0.593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8038920" y="15357336"/>
            <a:ext cx="1938072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vs 0.594 optimal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7824310" y="15939353"/>
            <a:ext cx="4675783" cy="143192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SETTING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2363906" y="15939353"/>
            <a:ext cx="4468754" cy="143192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ITEM-WISE MYERSON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6702503" y="15939353"/>
            <a:ext cx="3040597" cy="143192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CITRANSNET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6519286" y="16471503"/>
            <a:ext cx="12424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5×10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908071" y="16604853"/>
            <a:ext cx="2072847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largest auction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7824310" y="17184508"/>
            <a:ext cx="4675783" cy="1913073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A (single, opt 0.594)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363906" y="17184508"/>
            <a:ext cx="4468754" cy="1913073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6702503" y="17184508"/>
            <a:ext cx="3040597" cy="1913073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0.593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7824310" y="18848050"/>
            <a:ext cx="4675783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E (3×10)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2363906" y="18848050"/>
            <a:ext cx="446875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6.509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6702503" y="18848050"/>
            <a:ext cx="304059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6.872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7824310" y="19793168"/>
            <a:ext cx="4675783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G (2×5, cont.)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2363906" y="19793168"/>
            <a:ext cx="446875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1.071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6702503" y="19793168"/>
            <a:ext cx="304059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1.177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0857467" y="26230361"/>
            <a:ext cx="2262849" cy="1915948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4B2E83"/>
                </a:solidFill>
                <a:latin typeface="Arial"/>
              </a:rPr>
              <a:t>Paper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arxiv.org/abs/2201.1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2489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0857467" y="28026697"/>
            <a:ext cx="2262849" cy="1915947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4B2E83"/>
                </a:solidFill>
                <a:latin typeface="Arial"/>
              </a:rPr>
              <a:t>Code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github.com/zjduan/C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ITransNet</a:t>
            </a:r>
          </a:p>
        </p:txBody>
      </p:sp>
      <p:pic>
        <p:nvPicPr>
          <p:cNvPr id="148" name="Picture 147" descr="eq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54966" y="15738217"/>
            <a:ext cx="14263310" cy="20806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
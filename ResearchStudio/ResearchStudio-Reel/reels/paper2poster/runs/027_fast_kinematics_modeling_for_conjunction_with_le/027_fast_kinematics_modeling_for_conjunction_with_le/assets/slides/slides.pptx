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7"/>
    <p:sldId id="257" r:id="rId8"/>
    <p:sldId id="258" r:id="rId9"/>
    <p:sldId id="259" r:id="rId10"/>
    <p:sldId id="260" r:id="rId11"/>
    <p:sldId id="261" r:id="rId12"/>
    <p:sldId id="262" r:id="rId13"/>
    <p:sldId id="263" r:id="rId14"/>
    <p:sldId id="264" r:id="rId15"/>
    <p:sldId id="265" r:id="rId1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endParaRPr lang="en-US"/>
          </a:p>
        </p:txBody>
      </p:sp>
      <p:sp>
        <p:nvSpPr>
          <p:cNvPr id="3" name="Date Placeholder 2"/>
          <p:cNvSpPr>
            <a:spLocks noGrp="1"/>
          </p:cNvSpPr>
          <p:nvPr>
            <p:ph type="dt" sz="half" idx="1"/>
          </p:nvPr>
        </p:nvSpPr>
        <p:spPr>
          <a:xfrm>
            <a:off x="3884613" y="0"/>
            <a:ext cx="2971800" cy="457200"/>
          </a:xfrm>
          <a:prstGeom prst="rect">
            <a:avLst/>
          </a:prstGeom>
        </p:spPr>
        <p:txBody>
          <a:bodyPr/>
          <a:lstStyle/>
          <a:p>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endParaRPr lang="en-US"/>
          </a:p>
        </p:txBody>
      </p:sp>
    </p:spTree>
  </p:cSld>
  <p:clrMap bg1="lt1" tx1="dk1" bg2="lt2" tx2="dk2" accent1="accent1" accent2="accent2" accent3="accent3" accent4="accent4" accent5="accent5" accent6="accent6" hlink="hlink" folHlink="folHlink"/>
  <p:hf/>
  <p:notesStyle>
    <a:lvl1pPr marL="0" algn="l">
      <a:defRPr sz="1200" lang="en-US"/>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Galaxy kinematics modeling is the computational bottleneck when astronomers try to jointly model gravitational lensing and kinematics to measure the Hubble constant. This paper introduces SKiNN, the Stellar Kinematics Neural Network, a proof-of-concept emulator that reproduces slow physics-based kinematics calculations at a fraction of the cost. After a one-time training phase, SKiNN generates velocity dispersion images that are accurate to within about one percent in the scientifically important region, while running two to three orders of magnitude faster than existing methods. This speedup finally makes it feasible to model spatially resolved kinematic data jointly with lensing data, addressing the largest source of uncertainty in Hubble constant measurements.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Gravitational lensing measures the Hubble constant by comparing time delays between multiple images of a distant source to a model of the lens galaxy's mass. But lensing degeneracies allow many different mass distributions to reproduce the same image, so independent kinematic constraints are needed to break them. The trouble is speed. Modeling galaxy kinematics with a physics code like JAM is slow, and it must be recomputed for every single likelihood evaluation inside a Markov Chain Monte Carlo sampling. This makes jointly exploring the full lensing and kinematics parameter space computationally prohibitive, forcing modelers to cut corners by fitting the two components separately.</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Recently, spatially resolved kinematics of lensing galaxies became available through instruments like the James Webb Space Telescope. Traditional spherical Jeans models are too simplistic for this richer data, and they lack self-consistency with the elliptical mass models used in lensing. The natural next step is axisymmetric modeling with software such as JAM, but JAM is expensive. Existing frameworks that combine it with lens modeling either fit the two separately or remain far too slow for full joint parameter exploration. The key insight of this work is that JAM's slow physics can be emulated by a neural network, keeping the physics of the overall model while removing the computational bottleneck.</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core contribution is SKiNN, the Stellar Kinematics Neural Network. It is the first time the strategy of replacing an expensive model component with a neural network has been applied to the kinematic-modeling aspect of gravitational lens modeling. Crucially, SKiNN emulates only the JAM physics calculation rather than being applied directly to observations. This design choice keeps the physics of the overall model intact while exploiting the speed and versatility of neural networks. The result is a roughly 300-fold speedup at sub-percent accuracy, which finally makes joint lensing plus kinematics modeling computationally feasible.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SKiNN precalculates JAM for use in lensing applications. Formally, it is a function that maps an eight-dimensional vector of galaxy parameters into a d by d image of vrms, the quadratic sum of velocity dispersion and rotational velocity. The eight inputs describe a power-law elliptical mass distribution and an elliptical Sérsic light profile, plus the galaxy inclination and orbital anisotropy. The architecture consists of five blocks, each with two two-dimensional convolutional layers followed by an upsampling layer and a ReLU nonlinearity, for about seven million trainable parameters. It is trained by minimizing a standard mean-squared-error loss with the Adam optimizer, using a dataset generated by JAM through the GLEE software so the network learns to mimic the JAM procedure.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training set is constructed entirely with JAM, the physics code SKiNN is meant to imitate. The authors created five thousand input-output pairs, using four thousand for training, five hundred for validation, and five hundred held out for testing. Each velocity image is 551 by 551 pixels, generated at higher resolution than real data. Creating a single image with JAM takes about fifteen seconds, which underscores why emulation is worthwhile. The network is implemented in PyTorch with PyTorch Lightning and trained on five Tesla P100 GPUs, each with sixteen gigabytes of memory, over roughly one day.</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Once trained, SKiNN produces a velocity image from an input parameter vector in about fifty milliseconds on a single GPU, which is roughly three hundred times faster than JAM. Accuracy is assessed on the five hundred held-out test images by computing the relative error at each pixel. While some outer regions can show errors of a few percent, the important innermost region, where real data actually constrains the model, is matched to within plus or minus one percent for almost all pixels. Averaged over entire images, the median absolute error is about 0.47 percent and the ninetieth percentile is about 1.1 percent. Both are comfortably below the typical two-percent-or-greater systematic uncertainty in real velocity measurements.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As a proof-of-concept workshop paper, this work does not present a formal ablation study. Instead, performance is characterized by the distribution of per-pixel errors across the five hundred test images, and by comparing inference on GPU versus CPU, where the GPU is about ten times faster. The analysis also distinguishes the innermost two-arcsecond region, where errors stay within one percent, from the outer parts of the image, where errors can rise to a few percent but the data provides little constraint anyway.</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Here are the headline numbers. SKiNN runs about three hundred times faster than JAM, taking roughly fifty milliseconds per image on a GPU compared to about fifteen seconds for JAM. Its error is under one percent within the innermost two-arcsecond region, with a median absolute error around 0.47 percent and a ninetieth percentile of about 1.1 percent across five hundred test images. The network maps an eight-dimensional parameter vector to a velocity image and has about seven million trainable parameters. It was trained on five thousand samples, split four thousand for training and five hundred each for validation and testing, over roughly one day on five Tesla P100 GPUs.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takeaway is simple. By training a neural network to emulate the slow kinematics physics of JAM, SKiNN achieves roughly a three-hundred-fold speedup at sub-percent accuracy in the region that matters. This removes the main computational bottleneck and makes it feasible to jointly model gravitational lensing together with spatially resolved kinematics, which corrects for the largest source of uncertainty in measuring the Hubble constant. More broadly, the strategy of swapping an expensive but calculable model piece for a trained neural network, while keeping the surrounding physics intact, likely transfers to many other scientific modeling problems.</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skinn_deck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skinn_deck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33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4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35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25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15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05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9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800" kern="1200">
          <a:solidFill>
            <a:schemeClr val="tx1"/>
          </a:solidFill>
          <a:latin typeface="+mn-lt"/>
          <a:ea typeface="+mn-ea"/>
          <a:cs typeface="+mn-cs"/>
        </a:defRPr>
      </a:lvl9pPr>
    </p:bodyStyle>
    <p:otherStyle>
      <a:defPPr>
        <a:defRPr lang="en-US"/>
      </a:defPPr>
      <a:lvl1pPr marL="0" algn="l" defTabSz="457200" rtl="0" eaLnBrk="1" latinLnBrk="0" hangingPunct="1">
        <a:defRPr sz="1400" kern="1200">
          <a:solidFill>
            <a:schemeClr val="tx1"/>
          </a:solidFill>
          <a:latin typeface="+mn-lt"/>
          <a:ea typeface="+mn-ea"/>
          <a:cs typeface="+mn-cs"/>
        </a:defRPr>
      </a:lvl1pPr>
      <a:lvl2pPr marL="457200" algn="l" defTabSz="457200" rtl="0" eaLnBrk="1" latinLnBrk="0" hangingPunct="1">
        <a:defRPr sz="1350" kern="1200">
          <a:solidFill>
            <a:schemeClr val="tx1"/>
          </a:solidFill>
          <a:latin typeface="+mn-lt"/>
          <a:ea typeface="+mn-ea"/>
          <a:cs typeface="+mn-cs"/>
        </a:defRPr>
      </a:lvl2pPr>
      <a:lvl3pPr marL="914400" algn="l" defTabSz="457200" rtl="0" eaLnBrk="1" latinLnBrk="0" hangingPunct="1">
        <a:defRPr sz="1250" kern="1200">
          <a:solidFill>
            <a:schemeClr val="tx1"/>
          </a:solidFill>
          <a:latin typeface="+mn-lt"/>
          <a:ea typeface="+mn-ea"/>
          <a:cs typeface="+mn-cs"/>
        </a:defRPr>
      </a:lvl3pPr>
      <a:lvl4pPr marL="1371600" algn="l" defTabSz="457200" rtl="0" eaLnBrk="1" latinLnBrk="0" hangingPunct="1">
        <a:defRPr sz="1150" kern="1200">
          <a:solidFill>
            <a:schemeClr val="tx1"/>
          </a:solidFill>
          <a:latin typeface="+mn-lt"/>
          <a:ea typeface="+mn-ea"/>
          <a:cs typeface="+mn-cs"/>
        </a:defRPr>
      </a:lvl4pPr>
      <a:lvl5pPr marL="1828800" algn="l" defTabSz="457200" rtl="0" eaLnBrk="1" latinLnBrk="0" hangingPunct="1">
        <a:defRPr sz="1050" kern="1200">
          <a:solidFill>
            <a:schemeClr val="tx1"/>
          </a:solidFill>
          <a:latin typeface="+mn-lt"/>
          <a:ea typeface="+mn-ea"/>
          <a:cs typeface="+mn-cs"/>
        </a:defRPr>
      </a:lvl5pPr>
      <a:lvl6pPr marL="2286000" algn="l" defTabSz="457200" rtl="0" eaLnBrk="1" latinLnBrk="0" hangingPunct="1">
        <a:defRPr sz="1000" kern="1200">
          <a:solidFill>
            <a:schemeClr val="tx1"/>
          </a:solidFill>
          <a:latin typeface="+mn-lt"/>
          <a:ea typeface="+mn-ea"/>
          <a:cs typeface="+mn-cs"/>
        </a:defRPr>
      </a:lvl6pPr>
      <a:lvl7pPr marL="2743200" algn="l" defTabSz="457200" rtl="0" eaLnBrk="1" latinLnBrk="0" hangingPunct="1">
        <a:defRPr sz="900" kern="1200">
          <a:solidFill>
            <a:schemeClr val="tx1"/>
          </a:solidFill>
          <a:latin typeface="+mn-lt"/>
          <a:ea typeface="+mn-ea"/>
          <a:cs typeface="+mn-cs"/>
        </a:defRPr>
      </a:lvl7pPr>
      <a:lvl8pPr marL="3200400" algn="l" defTabSz="457200" rtl="0" eaLnBrk="1" latinLnBrk="0" hangingPunct="1">
        <a:defRPr sz="800" kern="1200">
          <a:solidFill>
            <a:schemeClr val="tx1"/>
          </a:solidFill>
          <a:latin typeface="+mn-lt"/>
          <a:ea typeface="+mn-ea"/>
          <a:cs typeface="+mn-cs"/>
        </a:defRPr>
      </a:lvl8pPr>
      <a:lvl9pPr marL="3657600" algn="l" defTabSz="457200" rtl="0" eaLnBrk="1" latinLnBrk="0" hangingPunct="1">
        <a:defRPr sz="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_1d7f462de4448790.png"/><Relationship Id="rId3" Type="http://schemas.openxmlformats.org/officeDocument/2006/relationships/image" Target="../media/image_9491110ef254526e.png"/><Relationship Id="rId4" Type="http://schemas.openxmlformats.org/officeDocument/2006/relationships/image" Target="../media/image_77701b0949bae49f.png"/><Relationship Id="rId5" Type="http://schemas.openxmlformats.org/officeDocument/2006/relationships/image" Target="../media/image_b44830ae5245550e.png"/><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_1a0fc786a2febbca.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_d239e977975007a0.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chemeClr val="lt1"/>
            </a:gs>
            <a:gs pos="100000">
              <a:schemeClr val="accent5"/>
            </a:gs>
          </a:gsLst>
          <a:lin ang="4242597" scaled="1"/>
        </a:gradFill>
        <a:effectLst/>
      </p:bgPr>
    </p:bg>
    <p:spTree>
      <p:nvGrpSpPr>
        <p:cNvPr id="1" name=""/>
        <p:cNvGrpSpPr/>
        <p:nvPr/>
      </p:nvGrpSpPr>
      <p:grpSpPr>
        <a:xfrm>
          <a:off x="0" y="0"/>
          <a:ext cx="0" cy="0"/>
          <a:chOff x="0" y="0"/>
          <a:chExt cx="0" cy="0"/>
        </a:xfrm>
      </p:grpSpPr>
      <p:grpSp>
        <p:nvGrpSpPr>
          <p:cNvPr id="9" name="Group 9"/>
          <p:cNvGrpSpPr/>
          <p:nvPr/>
        </p:nvGrpSpPr>
        <p:grpSpPr>
          <a:xfrm>
            <a:off x="642938" y="-1143000"/>
            <a:ext cx="12596812" cy="7267575"/>
            <a:chOff x="642938" y="-1143000"/>
            <a:chExt cx="12596812" cy="7267575"/>
          </a:xfrm>
        </p:grpSpPr>
        <p:sp>
          <p:nvSpPr>
            <p:cNvPr id="2" name="Ellipse 2"/>
            <p:cNvSpPr/>
            <p:nvPr/>
          </p:nvSpPr>
          <p:spPr>
            <a:xfrm>
              <a:off x="8667750" y="-1143000"/>
              <a:ext cx="4572000" cy="4572000"/>
            </a:xfrm>
            <a:prstGeom prst="ellipse">
              <a:avLst/>
            </a:prstGeom>
            <a:noFill/>
            <a:ln w="14288">
              <a:solidFill>
                <a:srgbClr val="213556">
                  <a:alpha val="70000"/>
                </a:srgbClr>
              </a:solidFill>
            </a:ln>
          </p:spPr>
        </p:sp>
        <p:sp>
          <p:nvSpPr>
            <p:cNvPr id="3" name="Ellipse 3"/>
            <p:cNvSpPr/>
            <p:nvPr/>
          </p:nvSpPr>
          <p:spPr>
            <a:xfrm>
              <a:off x="9429750" y="-381000"/>
              <a:ext cx="3048000" cy="3048000"/>
            </a:xfrm>
            <a:prstGeom prst="ellipse">
              <a:avLst/>
            </a:prstGeom>
            <a:noFill/>
            <a:ln w="14288">
              <a:solidFill>
                <a:srgbClr val="213556">
                  <a:alpha val="50000"/>
                </a:srgbClr>
              </a:solidFill>
            </a:ln>
          </p:spPr>
        </p:sp>
        <p:sp>
          <p:nvSpPr>
            <p:cNvPr id="4" name="Ellipse 4"/>
            <p:cNvSpPr/>
            <p:nvPr/>
          </p:nvSpPr>
          <p:spPr>
            <a:xfrm>
              <a:off x="10048875" y="238125"/>
              <a:ext cx="1809750" cy="1809750"/>
            </a:xfrm>
            <a:prstGeom prst="ellipse">
              <a:avLst/>
            </a:prstGeom>
            <a:noFill/>
            <a:ln w="14288">
              <a:solidFill>
                <a:schemeClr val="accent4">
                  <a:alpha val="50000"/>
                </a:schemeClr>
              </a:solidFill>
            </a:ln>
          </p:spPr>
        </p:sp>
        <p:sp>
          <p:nvSpPr>
            <p:cNvPr id="5" name="Ellipse 5"/>
            <p:cNvSpPr/>
            <p:nvPr/>
          </p:nvSpPr>
          <p:spPr>
            <a:xfrm>
              <a:off x="11811000" y="1095375"/>
              <a:ext cx="95250" cy="95250"/>
            </a:xfrm>
            <a:prstGeom prst="ellipse">
              <a:avLst/>
            </a:prstGeom>
            <a:solidFill>
              <a:schemeClr val="accent1"/>
            </a:solidFill>
            <a:ln>
              <a:noFill/>
            </a:ln>
          </p:spPr>
        </p:sp>
        <p:sp>
          <p:nvSpPr>
            <p:cNvPr id="6" name="Ellipse 6"/>
            <p:cNvSpPr/>
            <p:nvPr/>
          </p:nvSpPr>
          <p:spPr>
            <a:xfrm>
              <a:off x="9391650" y="1104900"/>
              <a:ext cx="76200" cy="76200"/>
            </a:xfrm>
            <a:prstGeom prst="ellipse">
              <a:avLst/>
            </a:prstGeom>
            <a:solidFill>
              <a:schemeClr val="accent3"/>
            </a:solidFill>
            <a:ln>
              <a:noFill/>
            </a:ln>
          </p:spPr>
        </p:sp>
        <p:sp>
          <p:nvSpPr>
            <p:cNvPr id="7" name="Ellipse 7"/>
            <p:cNvSpPr/>
            <p:nvPr/>
          </p:nvSpPr>
          <p:spPr>
            <a:xfrm>
              <a:off x="1400175" y="6067425"/>
              <a:ext cx="57150" cy="57150"/>
            </a:xfrm>
            <a:prstGeom prst="ellipse">
              <a:avLst/>
            </a:prstGeom>
            <a:solidFill>
              <a:schemeClr val="accent3">
                <a:alpha val="70000"/>
              </a:schemeClr>
            </a:solidFill>
            <a:ln>
              <a:noFill/>
            </a:ln>
          </p:spPr>
        </p:sp>
        <p:sp>
          <p:nvSpPr>
            <p:cNvPr id="8" name="Ellipse 8"/>
            <p:cNvSpPr/>
            <p:nvPr/>
          </p:nvSpPr>
          <p:spPr>
            <a:xfrm>
              <a:off x="642938" y="4452938"/>
              <a:ext cx="47625" cy="47625"/>
            </a:xfrm>
            <a:prstGeom prst="ellipse">
              <a:avLst/>
            </a:prstGeom>
            <a:solidFill>
              <a:srgbClr val="6B7E9C">
                <a:alpha val="70000"/>
              </a:srgbClr>
            </a:solidFill>
            <a:ln>
              <a:noFill/>
            </a:ln>
          </p:spPr>
        </p:sp>
      </p:grpSp>
      <p:grpSp>
        <p:nvGrpSpPr>
          <p:cNvPr id="21" name="Group 21"/>
          <p:cNvGrpSpPr/>
          <p:nvPr/>
        </p:nvGrpSpPr>
        <p:grpSpPr>
          <a:xfrm>
            <a:off x="723900" y="666750"/>
            <a:ext cx="5904801" cy="3863911"/>
            <a:chOff x="723900" y="666750"/>
            <a:chExt cx="5904801" cy="3863911"/>
          </a:xfrm>
        </p:grpSpPr>
        <p:sp>
          <p:nvSpPr>
            <p:cNvPr id="10" name="Rectangle 10"/>
            <p:cNvSpPr/>
            <p:nvPr/>
          </p:nvSpPr>
          <p:spPr>
            <a:xfrm>
              <a:off x="762000" y="666750"/>
              <a:ext cx="3657600" cy="323850"/>
            </a:xfrm>
            <a:prstGeom prst="roundRect">
              <a:avLst>
                <a:gd name="adj" fmla="val 50000"/>
              </a:avLst>
            </a:prstGeom>
            <a:solidFill>
              <a:schemeClr val="lt2"/>
            </a:solidFill>
            <a:ln w="9525">
              <a:solidFill>
                <a:schemeClr val="accent4"/>
              </a:solidFill>
            </a:ln>
          </p:spPr>
        </p:sp>
        <p:sp>
          <p:nvSpPr>
            <p:cNvPr id="11" name="Ellipse 11"/>
            <p:cNvSpPr/>
            <p:nvPr/>
          </p:nvSpPr>
          <p:spPr>
            <a:xfrm>
              <a:off x="942975" y="790575"/>
              <a:ext cx="76200" cy="76200"/>
            </a:xfrm>
            <a:prstGeom prst="ellipse">
              <a:avLst/>
            </a:prstGeom>
            <a:solidFill>
              <a:schemeClr val="accent1"/>
            </a:solidFill>
            <a:ln>
              <a:noFill/>
            </a:ln>
          </p:spPr>
        </p:sp>
        <p:sp>
          <p:nvSpPr>
            <p:cNvPr id="12" name="TextBox 12"/>
            <p:cNvSpPr txBox="1"/>
            <p:nvPr/>
          </p:nvSpPr>
          <p:spPr>
            <a:xfrm>
              <a:off x="1137285" y="764381"/>
              <a:ext cx="3201589" cy="220028"/>
            </a:xfrm>
            <a:prstGeom prst="rect">
              <a:avLst/>
            </a:prstGeom>
            <a:noFill/>
            <a:ln>
              <a:noFill/>
            </a:ln>
          </p:spPr>
          <p:txBody>
            <a:bodyPr wrap="none" lIns="0" tIns="0" rIns="0" bIns="0" anchor="t" anchorCtr="0">
              <a:spAutoFit/>
            </a:bodyPr>
            <a:lstStyle/>
            <a:p>
              <a:pPr algn="l"/>
              <a:r>
                <a:rPr lang="en-US" sz="1120" b="1" spc="150" dirty="0">
                  <a:solidFill>
                    <a:schemeClr val="dk2"/>
                  </a:solidFill>
                  <a:latin typeface="+mn-lt"/>
                  <a:ea typeface="+mn-ea"/>
                  <a:cs typeface="+mn-cs"/>
                </a:rPr>
                <a:t>NEURIPS 2022 · ML4PS WORKSHOP</a:t>
              </a:r>
            </a:p>
          </p:txBody>
        </p:sp>
        <p:sp>
          <p:nvSpPr>
            <p:cNvPr id="13" name="TextBox 13"/>
            <p:cNvSpPr txBox="1"/>
            <p:nvPr/>
          </p:nvSpPr>
          <p:spPr>
            <a:xfrm>
              <a:off x="723900" y="1295400"/>
              <a:ext cx="3362516" cy="1733550"/>
            </a:xfrm>
            <a:prstGeom prst="rect">
              <a:avLst/>
            </a:prstGeom>
            <a:noFill/>
            <a:ln>
              <a:noFill/>
            </a:ln>
          </p:spPr>
          <p:txBody>
            <a:bodyPr wrap="none" lIns="0" tIns="0" rIns="0" bIns="0" anchor="t" anchorCtr="0">
              <a:spAutoFit/>
            </a:bodyPr>
            <a:lstStyle/>
            <a:p>
              <a:pPr algn="l"/>
              <a:r>
                <a:rPr lang="en-US" sz="9000" b="1" dirty="0">
                  <a:gradFill>
                    <a:gsLst>
                      <a:gs pos="0">
                        <a:schemeClr val="accent2"/>
                      </a:gs>
                      <a:gs pos="100000">
                        <a:schemeClr val="accent1"/>
                      </a:gs>
                    </a:gsLst>
                    <a:lin ang="2700000" scaled="1"/>
                  </a:gradFill>
                  <a:latin typeface="+mn-lt"/>
                  <a:ea typeface="+mn-ea"/>
                  <a:cs typeface="+mn-cs"/>
                </a:rPr>
                <a:t>SKiNN</a:t>
              </a:r>
            </a:p>
          </p:txBody>
        </p:sp>
        <p:sp>
          <p:nvSpPr>
            <p:cNvPr id="14" name="TextBox 14"/>
            <p:cNvSpPr txBox="1"/>
            <p:nvPr/>
          </p:nvSpPr>
          <p:spPr>
            <a:xfrm>
              <a:off x="789432" y="2478405"/>
              <a:ext cx="4971067" cy="410718"/>
            </a:xfrm>
            <a:prstGeom prst="rect">
              <a:avLst/>
            </a:prstGeom>
            <a:noFill/>
            <a:ln>
              <a:noFill/>
            </a:ln>
          </p:spPr>
          <p:txBody>
            <a:bodyPr wrap="none" lIns="0" tIns="0" rIns="0" bIns="0" anchor="t" anchorCtr="0">
              <a:spAutoFit/>
            </a:bodyPr>
            <a:lstStyle/>
            <a:p>
              <a:pPr algn="l"/>
              <a:r>
                <a:rPr lang="en-US" sz="2100" b="1" dirty="0">
                  <a:solidFill>
                    <a:schemeClr val="dk1"/>
                  </a:solidFill>
                  <a:latin typeface="+mn-lt"/>
                  <a:ea typeface="+mn-ea"/>
                  <a:cs typeface="+mn-cs"/>
                </a:rPr>
                <a:t>Stellar Kinematics Neural Network</a:t>
              </a:r>
            </a:p>
          </p:txBody>
        </p:sp>
        <p:sp>
          <p:nvSpPr>
            <p:cNvPr id="15" name="Rectangle 15"/>
            <p:cNvSpPr/>
            <p:nvPr/>
          </p:nvSpPr>
          <p:spPr>
            <a:xfrm>
              <a:off x="800100" y="2895600"/>
              <a:ext cx="666750" cy="38100"/>
            </a:xfrm>
            <a:prstGeom prst="roundRect">
              <a:avLst>
                <a:gd name="adj" fmla="val 50000"/>
              </a:avLst>
            </a:prstGeom>
            <a:gradFill>
              <a:gsLst>
                <a:gs pos="0">
                  <a:schemeClr val="accent1"/>
                </a:gs>
                <a:gs pos="100000">
                  <a:schemeClr val="accent2"/>
                </a:gs>
              </a:gsLst>
              <a:lin ang="0" scaled="1"/>
            </a:gradFill>
            <a:ln>
              <a:noFill/>
            </a:ln>
          </p:spPr>
        </p:sp>
        <p:sp>
          <p:nvSpPr>
            <p:cNvPr id="16" name="TextBox 16"/>
            <p:cNvSpPr txBox="1"/>
            <p:nvPr/>
          </p:nvSpPr>
          <p:spPr>
            <a:xfrm>
              <a:off x="791337" y="3109436"/>
              <a:ext cx="5720895" cy="337376"/>
            </a:xfrm>
            <a:prstGeom prst="rect">
              <a:avLst/>
            </a:prstGeom>
            <a:noFill/>
            <a:ln>
              <a:noFill/>
            </a:ln>
          </p:spPr>
          <p:txBody>
            <a:bodyPr wrap="none" lIns="0" tIns="0" rIns="0" bIns="0" anchor="t" anchorCtr="0">
              <a:spAutoFit/>
            </a:bodyPr>
            <a:lstStyle/>
            <a:p>
              <a:pPr algn="l"/>
              <a:r>
                <a:rPr lang="en-US" sz="1720" dirty="0">
                  <a:solidFill>
                    <a:schemeClr val="dk2"/>
                  </a:solidFill>
                  <a:latin typeface="+mn-lt"/>
                  <a:ea typeface="+mn-ea"/>
                  <a:cs typeface="+mn-cs"/>
                </a:rPr>
                <a:t>Fast kinematics modeling for conjunction with lens</a:t>
              </a:r>
            </a:p>
          </p:txBody>
        </p:sp>
        <p:sp>
          <p:nvSpPr>
            <p:cNvPr id="17" name="TextBox 17"/>
            <p:cNvSpPr txBox="1"/>
            <p:nvPr/>
          </p:nvSpPr>
          <p:spPr>
            <a:xfrm>
              <a:off x="791337" y="3395186"/>
              <a:ext cx="5837364" cy="337376"/>
            </a:xfrm>
            <a:prstGeom prst="rect">
              <a:avLst/>
            </a:prstGeom>
            <a:noFill/>
            <a:ln>
              <a:noFill/>
            </a:ln>
          </p:spPr>
          <p:txBody>
            <a:bodyPr wrap="none" lIns="0" tIns="0" rIns="0" bIns="0" anchor="t" anchorCtr="0">
              <a:spAutoFit/>
            </a:bodyPr>
            <a:lstStyle/>
            <a:p>
              <a:pPr algn="l"/>
              <a:r>
                <a:rPr lang="en-US" sz="1720" dirty="0">
                  <a:solidFill>
                    <a:schemeClr val="dk2"/>
                  </a:solidFill>
                  <a:latin typeface="+mn-lt"/>
                  <a:ea typeface="+mn-ea"/>
                  <a:cs typeface="+mn-cs"/>
                </a:rPr>
                <a:t>image modeling — toward a precise Hubble constant.</a:t>
              </a:r>
            </a:p>
          </p:txBody>
        </p:sp>
        <p:sp>
          <p:nvSpPr>
            <p:cNvPr id="18" name="TextBox 18"/>
            <p:cNvSpPr txBox="1"/>
            <p:nvPr/>
          </p:nvSpPr>
          <p:spPr>
            <a:xfrm>
              <a:off x="794004" y="3851910"/>
              <a:ext cx="5616550" cy="234696"/>
            </a:xfrm>
            <a:prstGeom prst="rect">
              <a:avLst/>
            </a:prstGeom>
            <a:noFill/>
            <a:ln>
              <a:noFill/>
            </a:ln>
          </p:spPr>
          <p:txBody>
            <a:bodyPr wrap="none" lIns="0" tIns="0" rIns="0" bIns="0" anchor="t" anchorCtr="0">
              <a:spAutoFit/>
            </a:bodyPr>
            <a:lstStyle/>
            <a:p>
              <a:pPr algn="l"/>
              <a:r>
                <a:rPr lang="en-US" sz="1200" dirty="0">
                  <a:solidFill>
                    <a:srgbClr val="7B8EAC"/>
                  </a:solidFill>
                  <a:latin typeface="+mn-lt"/>
                  <a:ea typeface="+mn-ea"/>
                  <a:cs typeface="+mn-cs"/>
                </a:rPr>
                <a:t>M. R. Gomer, L. Biggio, S. Ertl, H. Wang, A. Galan, L. Van de Vyvere,</a:t>
              </a:r>
            </a:p>
          </p:txBody>
        </p:sp>
        <p:sp>
          <p:nvSpPr>
            <p:cNvPr id="19" name="TextBox 19"/>
            <p:cNvSpPr txBox="1"/>
            <p:nvPr/>
          </p:nvSpPr>
          <p:spPr>
            <a:xfrm>
              <a:off x="794004" y="4061460"/>
              <a:ext cx="2564827" cy="234696"/>
            </a:xfrm>
            <a:prstGeom prst="rect">
              <a:avLst/>
            </a:prstGeom>
            <a:noFill/>
            <a:ln>
              <a:noFill/>
            </a:ln>
          </p:spPr>
          <p:txBody>
            <a:bodyPr wrap="none" lIns="0" tIns="0" rIns="0" bIns="0" anchor="t" anchorCtr="0">
              <a:spAutoFit/>
            </a:bodyPr>
            <a:lstStyle/>
            <a:p>
              <a:pPr algn="l"/>
              <a:r>
                <a:rPr lang="en-US" sz="1200" dirty="0">
                  <a:solidFill>
                    <a:srgbClr val="7B8EAC"/>
                  </a:solidFill>
                  <a:latin typeface="+mn-lt"/>
                  <a:ea typeface="+mn-ea"/>
                  <a:cs typeface="+mn-cs"/>
                </a:rPr>
                <a:t>D. Sluse, G. Vernardos, S. Suyu</a:t>
              </a:r>
            </a:p>
          </p:txBody>
        </p:sp>
        <p:sp>
          <p:nvSpPr>
            <p:cNvPr id="20" name="TextBox 20"/>
            <p:cNvSpPr txBox="1"/>
            <p:nvPr/>
          </p:nvSpPr>
          <p:spPr>
            <a:xfrm>
              <a:off x="794766" y="4325302"/>
              <a:ext cx="3939240" cy="205359"/>
            </a:xfrm>
            <a:prstGeom prst="rect">
              <a:avLst/>
            </a:prstGeom>
            <a:noFill/>
            <a:ln>
              <a:noFill/>
            </a:ln>
          </p:spPr>
          <p:txBody>
            <a:bodyPr wrap="none" lIns="0" tIns="0" rIns="0" bIns="0" anchor="t" anchorCtr="0">
              <a:spAutoFit/>
            </a:bodyPr>
            <a:lstStyle/>
            <a:p>
              <a:pPr algn="l"/>
              <a:r>
                <a:rPr lang="en-US" sz="1050" dirty="0">
                  <a:solidFill>
                    <a:srgbClr val="6B7E9C"/>
                  </a:solidFill>
                  <a:latin typeface="+mn-lt"/>
                  <a:ea typeface="+mn-ea"/>
                  <a:cs typeface="+mn-cs"/>
                </a:rPr>
                <a:t>Uni Liège · ETH Zürich · MPA · TU München · EPFL · ASIAA</a:t>
              </a:r>
            </a:p>
          </p:txBody>
        </p:sp>
      </p:grpSp>
      <p:grpSp>
        <p:nvGrpSpPr>
          <p:cNvPr id="33" name="Group 33"/>
          <p:cNvGrpSpPr/>
          <p:nvPr/>
        </p:nvGrpSpPr>
        <p:grpSpPr>
          <a:xfrm>
            <a:off x="8382000" y="2247900"/>
            <a:ext cx="3048000" cy="2447639"/>
            <a:chOff x="8382000" y="2247900"/>
            <a:chExt cx="3048000" cy="2447639"/>
          </a:xfrm>
        </p:grpSpPr>
        <p:sp>
          <p:nvSpPr>
            <p:cNvPr id="22" name="Rectangle 22"/>
            <p:cNvSpPr/>
            <p:nvPr/>
          </p:nvSpPr>
          <p:spPr>
            <a:xfrm>
              <a:off x="8382000" y="2247900"/>
              <a:ext cx="3048000" cy="2190750"/>
            </a:xfrm>
            <a:prstGeom prst="roundRect">
              <a:avLst>
                <a:gd name="adj" fmla="val 6957"/>
              </a:avLst>
            </a:prstGeom>
            <a:gradFill>
              <a:gsLst>
                <a:gs pos="0">
                  <a:srgbClr val="1B2C48"/>
                </a:gs>
                <a:gs pos="100000">
                  <a:srgbClr val="14223A"/>
                </a:gs>
              </a:gsLst>
              <a:lin ang="5400000" scaled="1"/>
            </a:gradFill>
            <a:ln w="9525">
              <a:solidFill>
                <a:schemeClr val="accent4"/>
              </a:solidFill>
            </a:ln>
            <a:effectLst>
              <a:outerShdw blurRad="190500" dist="57150" dir="5400000" algn="ctr" rotWithShape="0">
                <a:srgbClr val="000000">
                  <a:alpha val="26250"/>
                </a:srgbClr>
              </a:outerShdw>
            </a:effectLst>
          </p:spPr>
        </p:sp>
        <p:sp>
          <p:nvSpPr>
            <p:cNvPr id="23" name="Rectangle 23"/>
            <p:cNvSpPr/>
            <p:nvPr/>
          </p:nvSpPr>
          <p:spPr>
            <a:xfrm>
              <a:off x="8610600" y="2476500"/>
              <a:ext cx="1943100" cy="1943100"/>
            </a:xfrm>
            <a:prstGeom prst="roundRect">
              <a:avLst>
                <a:gd name="adj" fmla="val 3922"/>
              </a:avLst>
            </a:prstGeom>
            <a:solidFill>
              <a:srgbClr val="FFFFFF"/>
            </a:solidFill>
            <a:ln>
              <a:noFill/>
            </a:ln>
          </p:spPr>
        </p:sp>
        <p:pic>
          <p:nvPicPr>
            <p:cNvPr id="24" name="Image 24"/>
            <p:cNvPicPr>
              <a:picLocks noChangeAspect="1"/>
            </p:cNvPicPr>
            <p:nvPr/>
          </p:nvPicPr>
          <p:blipFill>
            <a:blip r:embed="rId2"/>
            <a:stretch>
              <a:fillRect/>
            </a:stretch>
          </p:blipFill>
          <p:spPr>
            <a:xfrm>
              <a:off x="8648700" y="2514600"/>
              <a:ext cx="1866900" cy="1866900"/>
            </a:xfrm>
            <a:prstGeom prst="rect">
              <a:avLst/>
            </a:prstGeom>
          </p:spPr>
        </p:pic>
        <p:sp>
          <p:nvSpPr>
            <p:cNvPr id="25" name="TextBox 25"/>
            <p:cNvSpPr txBox="1"/>
            <p:nvPr/>
          </p:nvSpPr>
          <p:spPr>
            <a:xfrm>
              <a:off x="10738866" y="2610802"/>
              <a:ext cx="403464" cy="205359"/>
            </a:xfrm>
            <a:prstGeom prst="rect">
              <a:avLst/>
            </a:prstGeom>
            <a:noFill/>
            <a:ln>
              <a:noFill/>
            </a:ln>
          </p:spPr>
          <p:txBody>
            <a:bodyPr wrap="none" lIns="0" tIns="0" rIns="0" bIns="0" anchor="t" anchorCtr="0">
              <a:spAutoFit/>
            </a:bodyPr>
            <a:lstStyle/>
            <a:p>
              <a:pPr algn="l"/>
              <a:r>
                <a:rPr lang="en-US" sz="1050" b="1" spc="112" dirty="0">
                  <a:solidFill>
                    <a:schemeClr val="dk2"/>
                  </a:solidFill>
                  <a:latin typeface="+mn-lt"/>
                  <a:ea typeface="+mn-ea"/>
                  <a:cs typeface="+mn-cs"/>
                </a:rPr>
                <a:t>SCAN</a:t>
              </a:r>
            </a:p>
          </p:txBody>
        </p:sp>
        <p:sp>
          <p:nvSpPr>
            <p:cNvPr id="26" name="TextBox 26"/>
            <p:cNvSpPr txBox="1"/>
            <p:nvPr/>
          </p:nvSpPr>
          <p:spPr>
            <a:xfrm>
              <a:off x="10738485" y="2831306"/>
              <a:ext cx="477799"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Code &amp;</a:t>
              </a:r>
            </a:p>
          </p:txBody>
        </p:sp>
        <p:sp>
          <p:nvSpPr>
            <p:cNvPr id="27" name="TextBox 27"/>
            <p:cNvSpPr txBox="1"/>
            <p:nvPr/>
          </p:nvSpPr>
          <p:spPr>
            <a:xfrm>
              <a:off x="10738485" y="3021806"/>
              <a:ext cx="426060"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paper</a:t>
              </a:r>
            </a:p>
          </p:txBody>
        </p:sp>
        <p:sp>
          <p:nvSpPr>
            <p:cNvPr id="28" name="Rectangle 28"/>
            <p:cNvSpPr/>
            <p:nvPr/>
          </p:nvSpPr>
          <p:spPr>
            <a:xfrm>
              <a:off x="10744200" y="3276600"/>
              <a:ext cx="533400" cy="533400"/>
            </a:xfrm>
            <a:prstGeom prst="roundRect">
              <a:avLst>
                <a:gd name="adj" fmla="val 10714"/>
              </a:avLst>
            </a:prstGeom>
            <a:solidFill>
              <a:srgbClr val="FFFFFF"/>
            </a:solidFill>
            <a:ln>
              <a:noFill/>
            </a:ln>
          </p:spPr>
        </p:sp>
        <p:pic>
          <p:nvPicPr>
            <p:cNvPr id="29" name="Image 29"/>
            <p:cNvPicPr>
              <a:picLocks noChangeAspect="1"/>
            </p:cNvPicPr>
            <p:nvPr/>
          </p:nvPicPr>
          <p:blipFill>
            <a:blip r:embed="rId3"/>
            <a:stretch>
              <a:fillRect/>
            </a:stretch>
          </p:blipFill>
          <p:spPr>
            <a:xfrm>
              <a:off x="10772775" y="3305175"/>
              <a:ext cx="476250" cy="476250"/>
            </a:xfrm>
            <a:prstGeom prst="rect">
              <a:avLst/>
            </a:prstGeom>
          </p:spPr>
        </p:pic>
        <p:pic>
          <p:nvPicPr>
            <p:cNvPr id="30" name="Image 30"/>
            <p:cNvPicPr>
              <a:picLocks noChangeAspect="1"/>
            </p:cNvPicPr>
            <p:nvPr/>
          </p:nvPicPr>
          <p:blipFill>
            <a:blip r:embed="rId4"/>
            <a:stretch>
              <a:fillRect/>
            </a:stretch>
          </p:blipFill>
          <p:spPr>
            <a:xfrm>
              <a:off x="10744200" y="3994150"/>
              <a:ext cx="533400" cy="88900"/>
            </a:xfrm>
            <a:prstGeom prst="rect">
              <a:avLst/>
            </a:prstGeom>
          </p:spPr>
        </p:pic>
        <p:pic>
          <p:nvPicPr>
            <p:cNvPr id="31" name="Image 31"/>
            <p:cNvPicPr>
              <a:picLocks noChangeAspect="1"/>
            </p:cNvPicPr>
            <p:nvPr/>
          </p:nvPicPr>
          <p:blipFill>
            <a:blip r:embed="rId5"/>
            <a:stretch>
              <a:fillRect/>
            </a:stretch>
          </p:blipFill>
          <p:spPr>
            <a:xfrm>
              <a:off x="10744200" y="4194124"/>
              <a:ext cx="533400" cy="146152"/>
            </a:xfrm>
            <a:prstGeom prst="rect">
              <a:avLst/>
            </a:prstGeom>
          </p:spPr>
        </p:pic>
        <p:sp>
          <p:nvSpPr>
            <p:cNvPr id="32" name="TextBox 32"/>
            <p:cNvSpPr txBox="1"/>
            <p:nvPr/>
          </p:nvSpPr>
          <p:spPr>
            <a:xfrm>
              <a:off x="8608443" y="4504849"/>
              <a:ext cx="1928365" cy="190690"/>
            </a:xfrm>
            <a:prstGeom prst="rect">
              <a:avLst/>
            </a:prstGeom>
            <a:noFill/>
            <a:ln>
              <a:noFill/>
            </a:ln>
          </p:spPr>
          <p:txBody>
            <a:bodyPr wrap="none" lIns="0" tIns="0" rIns="0" bIns="0" anchor="t" anchorCtr="0">
              <a:spAutoFit/>
            </a:bodyPr>
            <a:lstStyle/>
            <a:p>
              <a:pPr algn="ctr"/>
              <a:r>
                <a:rPr lang="en-US" sz="980" dirty="0">
                  <a:solidFill>
                    <a:srgbClr val="6B7E9C"/>
                  </a:solidFill>
                  <a:latin typeface="+mn-lt"/>
                  <a:ea typeface="+mn-ea"/>
                  <a:cs typeface="+mn-cs"/>
                </a:rPr>
                <a:t>github.com/mattgomer/SKiNN</a:t>
              </a:r>
            </a:p>
          </p:txBody>
        </p:sp>
      </p:grpSp>
      <p:grpSp>
        <p:nvGrpSpPr>
          <p:cNvPr id="40" name="Group 40"/>
          <p:cNvGrpSpPr/>
          <p:nvPr/>
        </p:nvGrpSpPr>
        <p:grpSpPr>
          <a:xfrm>
            <a:off x="762000" y="4762500"/>
            <a:ext cx="2524125" cy="1428750"/>
            <a:chOff x="762000" y="4762500"/>
            <a:chExt cx="2524125" cy="1428750"/>
          </a:xfrm>
        </p:grpSpPr>
        <p:sp>
          <p:nvSpPr>
            <p:cNvPr id="34" name="Rectangle 34"/>
            <p:cNvSpPr/>
            <p:nvPr/>
          </p:nvSpPr>
          <p:spPr>
            <a:xfrm>
              <a:off x="762000" y="4762500"/>
              <a:ext cx="2524125" cy="1428750"/>
            </a:xfrm>
            <a:prstGeom prst="roundRect">
              <a:avLst>
                <a:gd name="adj" fmla="val 9333"/>
              </a:avLst>
            </a:prstGeom>
            <a:gradFill>
              <a:gsLst>
                <a:gs pos="0">
                  <a:srgbClr val="1B2C48"/>
                </a:gs>
                <a:gs pos="100000">
                  <a:srgbClr val="14223A"/>
                </a:gs>
              </a:gsLst>
              <a:lin ang="5400000" scaled="1"/>
            </a:gradFill>
            <a:ln w="9525">
              <a:solidFill>
                <a:schemeClr val="accent4"/>
              </a:solidFill>
            </a:ln>
          </p:spPr>
        </p:sp>
        <p:sp>
          <p:nvSpPr>
            <p:cNvPr id="35" name="Rectangle 35"/>
            <p:cNvSpPr/>
            <p:nvPr/>
          </p:nvSpPr>
          <p:spPr>
            <a:xfrm>
              <a:off x="762000" y="4762500"/>
              <a:ext cx="2524125" cy="38100"/>
            </a:xfrm>
            <a:prstGeom prst="roundRect">
              <a:avLst>
                <a:gd name="adj" fmla="val 50000"/>
              </a:avLst>
            </a:prstGeom>
            <a:solidFill>
              <a:schemeClr val="accent3"/>
            </a:solidFill>
            <a:ln>
              <a:noFill/>
            </a:ln>
          </p:spPr>
        </p:sp>
        <p:sp>
          <p:nvSpPr>
            <p:cNvPr id="36" name="TextBox 36"/>
            <p:cNvSpPr txBox="1"/>
            <p:nvPr/>
          </p:nvSpPr>
          <p:spPr>
            <a:xfrm>
              <a:off x="966597" y="5038249"/>
              <a:ext cx="1336699" cy="190690"/>
            </a:xfrm>
            <a:prstGeom prst="rect">
              <a:avLst/>
            </a:prstGeom>
            <a:noFill/>
            <a:ln>
              <a:noFill/>
            </a:ln>
          </p:spPr>
          <p:txBody>
            <a:bodyPr wrap="none" lIns="0" tIns="0" rIns="0" bIns="0" anchor="t" anchorCtr="0">
              <a:spAutoFit/>
            </a:bodyPr>
            <a:lstStyle/>
            <a:p>
              <a:pPr algn="l"/>
              <a:r>
                <a:rPr lang="en-US" sz="980" b="1" spc="112" dirty="0">
                  <a:solidFill>
                    <a:srgbClr val="7DBBFF"/>
                  </a:solidFill>
                  <a:latin typeface="+mn-lt"/>
                  <a:ea typeface="+mn-ea"/>
                  <a:cs typeface="+mn-cs"/>
                </a:rPr>
                <a:t>THE BOTTLENECK</a:t>
              </a:r>
            </a:p>
          </p:txBody>
        </p:sp>
        <p:sp>
          <p:nvSpPr>
            <p:cNvPr id="37" name="TextBox 37"/>
            <p:cNvSpPr txBox="1"/>
            <p:nvPr/>
          </p:nvSpPr>
          <p:spPr>
            <a:xfrm>
              <a:off x="962787" y="5271611"/>
              <a:ext cx="2164584" cy="337376"/>
            </a:xfrm>
            <a:prstGeom prst="rect">
              <a:avLst/>
            </a:prstGeom>
            <a:noFill/>
            <a:ln>
              <a:noFill/>
            </a:ln>
          </p:spPr>
          <p:txBody>
            <a:bodyPr wrap="none" lIns="0" tIns="0" rIns="0" bIns="0" anchor="t" anchorCtr="0">
              <a:spAutoFit/>
            </a:bodyPr>
            <a:lstStyle/>
            <a:p>
              <a:pPr algn="l"/>
              <a:r>
                <a:rPr lang="en-US" sz="1720" b="1" dirty="0">
                  <a:solidFill>
                    <a:schemeClr val="dk1"/>
                  </a:solidFill>
                  <a:latin typeface="+mn-lt"/>
                  <a:ea typeface="+mn-ea"/>
                  <a:cs typeface="+mn-cs"/>
                </a:rPr>
                <a:t>Kinematics is slow</a:t>
              </a:r>
            </a:p>
          </p:txBody>
        </p:sp>
        <p:sp>
          <p:nvSpPr>
            <p:cNvPr id="38" name="TextBox 38"/>
            <p:cNvSpPr txBox="1"/>
            <p:nvPr/>
          </p:nvSpPr>
          <p:spPr>
            <a:xfrm>
              <a:off x="965454" y="5642610"/>
              <a:ext cx="2016054"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JAM recomputed at every</a:t>
              </a:r>
            </a:p>
          </p:txBody>
        </p:sp>
        <p:sp>
          <p:nvSpPr>
            <p:cNvPr id="39" name="TextBox 39"/>
            <p:cNvSpPr txBox="1"/>
            <p:nvPr/>
          </p:nvSpPr>
          <p:spPr>
            <a:xfrm>
              <a:off x="965454" y="5852160"/>
              <a:ext cx="1721561"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MCMC likelihood step.</a:t>
              </a:r>
            </a:p>
          </p:txBody>
        </p:sp>
      </p:grpSp>
      <p:grpSp>
        <p:nvGrpSpPr>
          <p:cNvPr id="47" name="Group 47"/>
          <p:cNvGrpSpPr/>
          <p:nvPr/>
        </p:nvGrpSpPr>
        <p:grpSpPr>
          <a:xfrm>
            <a:off x="3476625" y="4762500"/>
            <a:ext cx="2572269" cy="1428750"/>
            <a:chOff x="3476625" y="4762500"/>
            <a:chExt cx="2572269" cy="1428750"/>
          </a:xfrm>
        </p:grpSpPr>
        <p:sp>
          <p:nvSpPr>
            <p:cNvPr id="41" name="Rectangle 41"/>
            <p:cNvSpPr/>
            <p:nvPr/>
          </p:nvSpPr>
          <p:spPr>
            <a:xfrm>
              <a:off x="3476625" y="4762500"/>
              <a:ext cx="2524125" cy="1428750"/>
            </a:xfrm>
            <a:prstGeom prst="roundRect">
              <a:avLst>
                <a:gd name="adj" fmla="val 9333"/>
              </a:avLst>
            </a:prstGeom>
            <a:gradFill>
              <a:gsLst>
                <a:gs pos="0">
                  <a:srgbClr val="1B2C48"/>
                </a:gs>
                <a:gs pos="100000">
                  <a:srgbClr val="14223A"/>
                </a:gs>
              </a:gsLst>
              <a:lin ang="5400000" scaled="1"/>
            </a:gradFill>
            <a:ln w="9525">
              <a:solidFill>
                <a:schemeClr val="accent4"/>
              </a:solidFill>
            </a:ln>
          </p:spPr>
        </p:sp>
        <p:sp>
          <p:nvSpPr>
            <p:cNvPr id="42" name="Rectangle 42"/>
            <p:cNvSpPr/>
            <p:nvPr/>
          </p:nvSpPr>
          <p:spPr>
            <a:xfrm>
              <a:off x="3476625" y="4762500"/>
              <a:ext cx="2524125" cy="38100"/>
            </a:xfrm>
            <a:prstGeom prst="roundRect">
              <a:avLst>
                <a:gd name="adj" fmla="val 50000"/>
              </a:avLst>
            </a:prstGeom>
            <a:solidFill>
              <a:schemeClr val="accent1"/>
            </a:solidFill>
            <a:ln>
              <a:noFill/>
            </a:ln>
          </p:spPr>
        </p:sp>
        <p:sp>
          <p:nvSpPr>
            <p:cNvPr id="43" name="TextBox 43"/>
            <p:cNvSpPr txBox="1"/>
            <p:nvPr/>
          </p:nvSpPr>
          <p:spPr>
            <a:xfrm>
              <a:off x="3681222" y="5038249"/>
              <a:ext cx="692246" cy="190690"/>
            </a:xfrm>
            <a:prstGeom prst="rect">
              <a:avLst/>
            </a:prstGeom>
            <a:noFill/>
            <a:ln>
              <a:noFill/>
            </a:ln>
          </p:spPr>
          <p:txBody>
            <a:bodyPr wrap="none" lIns="0" tIns="0" rIns="0" bIns="0" anchor="t" anchorCtr="0">
              <a:spAutoFit/>
            </a:bodyPr>
            <a:lstStyle/>
            <a:p>
              <a:pPr algn="l"/>
              <a:r>
                <a:rPr lang="en-US" sz="980" b="1" spc="112" dirty="0">
                  <a:solidFill>
                    <a:schemeClr val="accent2"/>
                  </a:solidFill>
                  <a:latin typeface="+mn-lt"/>
                  <a:ea typeface="+mn-ea"/>
                  <a:cs typeface="+mn-cs"/>
                </a:rPr>
                <a:t>THE IDEA</a:t>
              </a:r>
            </a:p>
          </p:txBody>
        </p:sp>
        <p:sp>
          <p:nvSpPr>
            <p:cNvPr id="44" name="TextBox 44"/>
            <p:cNvSpPr txBox="1"/>
            <p:nvPr/>
          </p:nvSpPr>
          <p:spPr>
            <a:xfrm>
              <a:off x="3677412" y="5271611"/>
              <a:ext cx="2371482" cy="337376"/>
            </a:xfrm>
            <a:prstGeom prst="rect">
              <a:avLst/>
            </a:prstGeom>
            <a:noFill/>
            <a:ln>
              <a:noFill/>
            </a:ln>
          </p:spPr>
          <p:txBody>
            <a:bodyPr wrap="none" lIns="0" tIns="0" rIns="0" bIns="0" anchor="t" anchorCtr="0">
              <a:spAutoFit/>
            </a:bodyPr>
            <a:lstStyle/>
            <a:p>
              <a:pPr algn="l"/>
              <a:r>
                <a:rPr lang="en-US" sz="1720" b="1" dirty="0">
                  <a:solidFill>
                    <a:schemeClr val="dk1"/>
                  </a:solidFill>
                  <a:latin typeface="+mn-lt"/>
                  <a:ea typeface="+mn-ea"/>
                  <a:cs typeface="+mn-cs"/>
                </a:rPr>
                <a:t>Emulate the physics</a:t>
              </a:r>
            </a:p>
          </p:txBody>
        </p:sp>
        <p:sp>
          <p:nvSpPr>
            <p:cNvPr id="45" name="TextBox 45"/>
            <p:cNvSpPr txBox="1"/>
            <p:nvPr/>
          </p:nvSpPr>
          <p:spPr>
            <a:xfrm>
              <a:off x="3680079" y="5642610"/>
              <a:ext cx="2069079"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A neural network replaces</a:t>
              </a:r>
            </a:p>
          </p:txBody>
        </p:sp>
        <p:sp>
          <p:nvSpPr>
            <p:cNvPr id="46" name="TextBox 46"/>
            <p:cNvSpPr txBox="1"/>
            <p:nvPr/>
          </p:nvSpPr>
          <p:spPr>
            <a:xfrm>
              <a:off x="3680079" y="5852160"/>
              <a:ext cx="2024200"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the JAM kinematics code.</a:t>
              </a:r>
            </a:p>
          </p:txBody>
        </p:sp>
      </p:grpSp>
      <p:grpSp>
        <p:nvGrpSpPr>
          <p:cNvPr id="54" name="Group 54"/>
          <p:cNvGrpSpPr/>
          <p:nvPr/>
        </p:nvGrpSpPr>
        <p:grpSpPr>
          <a:xfrm>
            <a:off x="6191250" y="4762500"/>
            <a:ext cx="2524125" cy="1428750"/>
            <a:chOff x="6191250" y="4762500"/>
            <a:chExt cx="2524125" cy="1428750"/>
          </a:xfrm>
        </p:grpSpPr>
        <p:sp>
          <p:nvSpPr>
            <p:cNvPr id="48" name="Rectangle 48"/>
            <p:cNvSpPr/>
            <p:nvPr/>
          </p:nvSpPr>
          <p:spPr>
            <a:xfrm>
              <a:off x="6191250" y="4762500"/>
              <a:ext cx="2524125" cy="1428750"/>
            </a:xfrm>
            <a:prstGeom prst="roundRect">
              <a:avLst>
                <a:gd name="adj" fmla="val 9333"/>
              </a:avLst>
            </a:prstGeom>
            <a:gradFill>
              <a:gsLst>
                <a:gs pos="0">
                  <a:srgbClr val="1B2C48"/>
                </a:gs>
                <a:gs pos="100000">
                  <a:srgbClr val="14223A"/>
                </a:gs>
              </a:gsLst>
              <a:lin ang="5400000" scaled="1"/>
            </a:gradFill>
            <a:ln w="9525">
              <a:solidFill>
                <a:schemeClr val="accent4"/>
              </a:solidFill>
            </a:ln>
          </p:spPr>
        </p:sp>
        <p:sp>
          <p:nvSpPr>
            <p:cNvPr id="49" name="Rectangle 49"/>
            <p:cNvSpPr/>
            <p:nvPr/>
          </p:nvSpPr>
          <p:spPr>
            <a:xfrm>
              <a:off x="6191250" y="4762500"/>
              <a:ext cx="2524125" cy="38100"/>
            </a:xfrm>
            <a:prstGeom prst="roundRect">
              <a:avLst>
                <a:gd name="adj" fmla="val 50000"/>
              </a:avLst>
            </a:prstGeom>
            <a:solidFill>
              <a:srgbClr val="35D0A5"/>
            </a:solidFill>
            <a:ln>
              <a:noFill/>
            </a:ln>
          </p:spPr>
        </p:sp>
        <p:sp>
          <p:nvSpPr>
            <p:cNvPr id="50" name="TextBox 50"/>
            <p:cNvSpPr txBox="1"/>
            <p:nvPr/>
          </p:nvSpPr>
          <p:spPr>
            <a:xfrm>
              <a:off x="6395847" y="5038249"/>
              <a:ext cx="765428" cy="190690"/>
            </a:xfrm>
            <a:prstGeom prst="rect">
              <a:avLst/>
            </a:prstGeom>
            <a:noFill/>
            <a:ln>
              <a:noFill/>
            </a:ln>
          </p:spPr>
          <p:txBody>
            <a:bodyPr wrap="none" lIns="0" tIns="0" rIns="0" bIns="0" anchor="t" anchorCtr="0">
              <a:spAutoFit/>
            </a:bodyPr>
            <a:lstStyle/>
            <a:p>
              <a:pPr algn="l"/>
              <a:r>
                <a:rPr lang="en-US" sz="980" b="1" spc="112" dirty="0">
                  <a:solidFill>
                    <a:srgbClr val="35D0A5"/>
                  </a:solidFill>
                  <a:latin typeface="+mn-lt"/>
                  <a:ea typeface="+mn-ea"/>
                  <a:cs typeface="+mn-cs"/>
                </a:rPr>
                <a:t>ACCURACY</a:t>
              </a:r>
            </a:p>
          </p:txBody>
        </p:sp>
        <p:sp>
          <p:nvSpPr>
            <p:cNvPr id="51" name="TextBox 51"/>
            <p:cNvSpPr txBox="1"/>
            <p:nvPr/>
          </p:nvSpPr>
          <p:spPr>
            <a:xfrm>
              <a:off x="6385560" y="5162550"/>
              <a:ext cx="814978" cy="586740"/>
            </a:xfrm>
            <a:prstGeom prst="rect">
              <a:avLst/>
            </a:prstGeom>
            <a:noFill/>
            <a:ln>
              <a:noFill/>
            </a:ln>
          </p:spPr>
          <p:txBody>
            <a:bodyPr wrap="none" lIns="0" tIns="0" rIns="0" bIns="0" anchor="t" anchorCtr="0">
              <a:spAutoFit/>
            </a:bodyPr>
            <a:lstStyle/>
            <a:p>
              <a:pPr algn="l"/>
              <a:r>
                <a:rPr lang="en-US" sz="3000" b="1" dirty="0">
                  <a:solidFill>
                    <a:schemeClr val="dk1"/>
                  </a:solidFill>
                  <a:latin typeface="+mn-lt"/>
                  <a:ea typeface="+mn-ea"/>
                  <a:cs typeface="+mn-cs"/>
                </a:rPr>
                <a:t>±1%</a:t>
              </a:r>
            </a:p>
          </p:txBody>
        </p:sp>
        <p:sp>
          <p:nvSpPr>
            <p:cNvPr id="52" name="TextBox 52"/>
            <p:cNvSpPr txBox="1"/>
            <p:nvPr/>
          </p:nvSpPr>
          <p:spPr>
            <a:xfrm>
              <a:off x="6394704" y="5642610"/>
              <a:ext cx="1797253"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error in the innermost</a:t>
              </a:r>
            </a:p>
          </p:txBody>
        </p:sp>
        <p:sp>
          <p:nvSpPr>
            <p:cNvPr id="53" name="TextBox 53"/>
            <p:cNvSpPr txBox="1"/>
            <p:nvPr/>
          </p:nvSpPr>
          <p:spPr>
            <a:xfrm>
              <a:off x="6394704" y="5852160"/>
              <a:ext cx="1829562"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two-arcsecond region.</a:t>
              </a:r>
            </a:p>
          </p:txBody>
        </p:sp>
      </p:grpSp>
      <p:grpSp>
        <p:nvGrpSpPr>
          <p:cNvPr id="61" name="Group 61"/>
          <p:cNvGrpSpPr/>
          <p:nvPr/>
        </p:nvGrpSpPr>
        <p:grpSpPr>
          <a:xfrm>
            <a:off x="8905875" y="4762500"/>
            <a:ext cx="2524125" cy="1428750"/>
            <a:chOff x="8905875" y="4762500"/>
            <a:chExt cx="2524125" cy="1428750"/>
          </a:xfrm>
        </p:grpSpPr>
        <p:sp>
          <p:nvSpPr>
            <p:cNvPr id="55" name="Rectangle 55"/>
            <p:cNvSpPr/>
            <p:nvPr/>
          </p:nvSpPr>
          <p:spPr>
            <a:xfrm>
              <a:off x="8905875" y="4762500"/>
              <a:ext cx="2524125" cy="1428750"/>
            </a:xfrm>
            <a:prstGeom prst="roundRect">
              <a:avLst>
                <a:gd name="adj" fmla="val 9333"/>
              </a:avLst>
            </a:prstGeom>
            <a:gradFill>
              <a:gsLst>
                <a:gs pos="0">
                  <a:srgbClr val="1B2C48"/>
                </a:gs>
                <a:gs pos="100000">
                  <a:srgbClr val="14223A"/>
                </a:gs>
              </a:gsLst>
              <a:lin ang="5400000" scaled="1"/>
            </a:gradFill>
            <a:ln w="9525">
              <a:solidFill>
                <a:schemeClr val="accent4"/>
              </a:solidFill>
            </a:ln>
          </p:spPr>
        </p:sp>
        <p:sp>
          <p:nvSpPr>
            <p:cNvPr id="56" name="Rectangle 56"/>
            <p:cNvSpPr/>
            <p:nvPr/>
          </p:nvSpPr>
          <p:spPr>
            <a:xfrm>
              <a:off x="8905875" y="4762500"/>
              <a:ext cx="2524125" cy="38100"/>
            </a:xfrm>
            <a:prstGeom prst="roundRect">
              <a:avLst>
                <a:gd name="adj" fmla="val 50000"/>
              </a:avLst>
            </a:prstGeom>
            <a:solidFill>
              <a:schemeClr val="accent1"/>
            </a:solidFill>
            <a:ln>
              <a:noFill/>
            </a:ln>
          </p:spPr>
        </p:sp>
        <p:sp>
          <p:nvSpPr>
            <p:cNvPr id="57" name="TextBox 57"/>
            <p:cNvSpPr txBox="1"/>
            <p:nvPr/>
          </p:nvSpPr>
          <p:spPr>
            <a:xfrm>
              <a:off x="9110472" y="5038249"/>
              <a:ext cx="476133" cy="190690"/>
            </a:xfrm>
            <a:prstGeom prst="rect">
              <a:avLst/>
            </a:prstGeom>
            <a:noFill/>
            <a:ln>
              <a:noFill/>
            </a:ln>
          </p:spPr>
          <p:txBody>
            <a:bodyPr wrap="none" lIns="0" tIns="0" rIns="0" bIns="0" anchor="t" anchorCtr="0">
              <a:spAutoFit/>
            </a:bodyPr>
            <a:lstStyle/>
            <a:p>
              <a:pPr algn="l"/>
              <a:r>
                <a:rPr lang="en-US" sz="980" b="1" spc="112" dirty="0">
                  <a:solidFill>
                    <a:schemeClr val="accent2"/>
                  </a:solidFill>
                  <a:latin typeface="+mn-lt"/>
                  <a:ea typeface="+mn-ea"/>
                  <a:cs typeface="+mn-cs"/>
                </a:rPr>
                <a:t>SPEED</a:t>
              </a:r>
            </a:p>
          </p:txBody>
        </p:sp>
        <p:sp>
          <p:nvSpPr>
            <p:cNvPr id="58" name="TextBox 58"/>
            <p:cNvSpPr txBox="1"/>
            <p:nvPr/>
          </p:nvSpPr>
          <p:spPr>
            <a:xfrm>
              <a:off x="9100185" y="5162550"/>
              <a:ext cx="1196626" cy="586740"/>
            </a:xfrm>
            <a:prstGeom prst="rect">
              <a:avLst/>
            </a:prstGeom>
            <a:noFill/>
            <a:ln>
              <a:noFill/>
            </a:ln>
          </p:spPr>
          <p:txBody>
            <a:bodyPr wrap="none" lIns="0" tIns="0" rIns="0" bIns="0" anchor="t" anchorCtr="0">
              <a:spAutoFit/>
            </a:bodyPr>
            <a:lstStyle/>
            <a:p>
              <a:pPr algn="l"/>
              <a:r>
                <a:rPr lang="en-US" sz="3000" b="1" dirty="0">
                  <a:solidFill>
                    <a:schemeClr val="dk1"/>
                  </a:solidFill>
                  <a:latin typeface="+mn-lt"/>
                  <a:ea typeface="+mn-ea"/>
                  <a:cs typeface="+mn-cs"/>
                </a:rPr>
                <a:t>~300×</a:t>
              </a:r>
            </a:p>
          </p:txBody>
        </p:sp>
        <p:sp>
          <p:nvSpPr>
            <p:cNvPr id="59" name="TextBox 59"/>
            <p:cNvSpPr txBox="1"/>
            <p:nvPr/>
          </p:nvSpPr>
          <p:spPr>
            <a:xfrm>
              <a:off x="9109329" y="5642610"/>
              <a:ext cx="1805330"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faster — joint modeling</a:t>
              </a:r>
            </a:p>
          </p:txBody>
        </p:sp>
        <p:sp>
          <p:nvSpPr>
            <p:cNvPr id="60" name="TextBox 60"/>
            <p:cNvSpPr txBox="1"/>
            <p:nvPr/>
          </p:nvSpPr>
          <p:spPr>
            <a:xfrm>
              <a:off x="9109329" y="5852160"/>
              <a:ext cx="1781099"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now becomes feasible.</a:t>
              </a:r>
            </a:p>
          </p:txBody>
        </p:sp>
      </p:grpSp>
      <p:grpSp>
        <p:nvGrpSpPr>
          <p:cNvPr id="65" name="Group 65"/>
          <p:cNvGrpSpPr/>
          <p:nvPr/>
        </p:nvGrpSpPr>
        <p:grpSpPr>
          <a:xfrm>
            <a:off x="756666" y="6496050"/>
            <a:ext cx="10678668" cy="301561"/>
            <a:chOff x="756666" y="6496050"/>
            <a:chExt cx="10678668" cy="301561"/>
          </a:xfrm>
        </p:grpSpPr>
        <p:sp>
          <p:nvSpPr>
            <p:cNvPr id="62" name="Line 62"/>
            <p:cNvSpPr/>
            <p:nvPr/>
          </p:nvSpPr>
          <p:spPr>
            <a:xfrm>
              <a:off x="762000" y="6496050"/>
              <a:ext cx="10668000" cy="9525"/>
            </a:xfrm>
            <a:custGeom>
              <a:avLst/>
              <a:gdLst/>
              <a:ahLst/>
              <a:cxnLst/>
              <a:rect l="l" t="t" r="r" b="b"/>
              <a:pathLst>
                <a:path w="10668000" h="9525">
                  <a:moveTo>
                    <a:pt x="0" y="0"/>
                  </a:moveTo>
                  <a:lnTo>
                    <a:pt x="10668000" y="0"/>
                  </a:lnTo>
                </a:path>
              </a:pathLst>
            </a:custGeom>
            <a:noFill/>
            <a:ln w="9525">
              <a:solidFill>
                <a:schemeClr val="accent4"/>
              </a:solidFill>
            </a:ln>
          </p:spPr>
        </p:sp>
        <p:sp>
          <p:nvSpPr>
            <p:cNvPr id="63" name="TextBox 63"/>
            <p:cNvSpPr txBox="1"/>
            <p:nvPr/>
          </p:nvSpPr>
          <p:spPr>
            <a:xfrm>
              <a:off x="756666" y="6592252"/>
              <a:ext cx="2902900" cy="205359"/>
            </a:xfrm>
            <a:prstGeom prst="rect">
              <a:avLst/>
            </a:prstGeom>
            <a:noFill/>
            <a:ln>
              <a:noFill/>
            </a:ln>
          </p:spPr>
          <p:txBody>
            <a:bodyPr wrap="none" lIns="0" tIns="0" rIns="0" bIns="0" anchor="t" anchorCtr="0">
              <a:spAutoFit/>
            </a:bodyPr>
            <a:lstStyle/>
            <a:p>
              <a:pPr algn="l"/>
              <a:r>
                <a:rPr lang="en-US" sz="1050" dirty="0">
                  <a:solidFill>
                    <a:srgbClr val="6B7E9C"/>
                  </a:solidFill>
                  <a:latin typeface="+mn-lt"/>
                  <a:ea typeface="+mn-ea"/>
                  <a:cs typeface="+mn-cs"/>
                </a:rPr>
                <a:t>SKiNN · Stellar Kinematics Neural Network</a:t>
              </a:r>
            </a:p>
          </p:txBody>
        </p:sp>
        <p:sp>
          <p:nvSpPr>
            <p:cNvPr id="64" name="TextBox 64"/>
            <p:cNvSpPr txBox="1"/>
            <p:nvPr/>
          </p:nvSpPr>
          <p:spPr>
            <a:xfrm>
              <a:off x="10951140" y="6592252"/>
              <a:ext cx="484194" cy="205359"/>
            </a:xfrm>
            <a:prstGeom prst="rect">
              <a:avLst/>
            </a:prstGeom>
            <a:noFill/>
            <a:ln>
              <a:noFill/>
            </a:ln>
          </p:spPr>
          <p:txBody>
            <a:bodyPr wrap="none" lIns="0" tIns="0" rIns="0" bIns="0" anchor="t" anchorCtr="0">
              <a:spAutoFit/>
            </a:bodyPr>
            <a:lstStyle/>
            <a:p>
              <a:pPr algn="r"/>
              <a:r>
                <a:rPr lang="en-US" sz="1050" dirty="0">
                  <a:solidFill>
                    <a:srgbClr val="6B7E9C"/>
                  </a:solidFill>
                  <a:latin typeface="+mn-lt"/>
                  <a:ea typeface="+mn-ea"/>
                  <a:cs typeface="+mn-cs"/>
                </a:rPr>
                <a:t>01 / 10</a:t>
              </a:r>
            </a:p>
          </p:txBody>
        </p:sp>
      </p:grpSp>
      <p:sp>
        <p:nvSpPr>
          <p:cNvPr id="66" name="cue_s01_c1_galaxy_kinematics_modeling_computati" title="cue_s01_c1_galaxy_kinematics_modeling_computati" descr="cue_s01_c1_galaxy_kinematics_modeling_computati Galaxy kinematics modeling is the computational bottleneck when astronomers try to jointly model gravitational lensing and kinematics to measure the Hubble constant."/>
          <p:cNvSpPr/>
          <p:nvPr/>
        </p:nvSpPr>
        <p:spPr>
          <a:xfrm>
            <a:off x="762000" y="4762195"/>
            <a:ext cx="2523744" cy="14285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cue_s01_c2_introduces_skinn_stellar_kinematics" title="cue_s01_c2_introduces_skinn_stellar_kinematics" descr="cue_s01_c2_introduces_skinn_stellar_kinematics This paper introduces SKiNN, the Stellar Kinematics Neural Network, a proof-of-concept emulator that reproduces slow physics-based kinematics calculations at a fraction of the cost."/>
          <p:cNvSpPr/>
          <p:nvPr/>
        </p:nvSpPr>
        <p:spPr>
          <a:xfrm>
            <a:off x="3477158" y="4762195"/>
            <a:ext cx="2572512" cy="14285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cue_s01_c3_after_one_time_phase_skinn_generates" title="cue_s01_c3_after_one_time_phase_skinn_generates" descr="cue_s01_c3_after_one_time_phase_skinn_generates After a one-time training phase, SKiNN generates velocity dispersion images that are accurate to within about one percent in the scientifically important region, while running two to three orders of magnitude faster than existing methods."/>
          <p:cNvSpPr/>
          <p:nvPr/>
        </p:nvSpPr>
        <p:spPr>
          <a:xfrm>
            <a:off x="6191097" y="4762195"/>
            <a:ext cx="2523744" cy="14285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cue_s01_c4_speedup_finally_makes_feasible_spati" title="cue_s01_c4_speedup_finally_makes_feasible_spati" descr="cue_s01_c4_speedup_finally_makes_feasible_spati This speedup finally makes it feasible to model spatially resolved kinematic data jointly with lensing data, addressing the largest source of uncertainty in Hubble constant measurements."/>
          <p:cNvSpPr/>
          <p:nvPr/>
        </p:nvSpPr>
        <p:spPr>
          <a:xfrm>
            <a:off x="8906256" y="4762195"/>
            <a:ext cx="2523744" cy="14285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chemeClr val="lt1"/>
            </a:gs>
            <a:gs pos="100000">
              <a:schemeClr val="accent5"/>
            </a:gs>
          </a:gsLst>
          <a:lin ang="4242597" scaled="1"/>
        </a:gradFill>
        <a:effectLst/>
      </p:bgPr>
    </p:bg>
    <p:spTree>
      <p:nvGrpSpPr>
        <p:cNvPr id="1" name=""/>
        <p:cNvGrpSpPr/>
        <p:nvPr/>
      </p:nvGrpSpPr>
      <p:grpSpPr>
        <a:xfrm>
          <a:off x="0" y="0"/>
          <a:ext cx="0" cy="0"/>
          <a:chOff x="0" y="0"/>
          <a:chExt cx="0" cy="0"/>
        </a:xfrm>
      </p:grpSpPr>
      <p:grpSp>
        <p:nvGrpSpPr>
          <p:cNvPr id="5" name="Group 5"/>
          <p:cNvGrpSpPr/>
          <p:nvPr/>
        </p:nvGrpSpPr>
        <p:grpSpPr>
          <a:xfrm>
            <a:off x="10096500" y="-1047750"/>
            <a:ext cx="2857500" cy="2857500"/>
            <a:chOff x="10096500" y="-1047750"/>
            <a:chExt cx="2857500" cy="2857500"/>
          </a:xfrm>
        </p:grpSpPr>
        <p:sp>
          <p:nvSpPr>
            <p:cNvPr id="2" name="Ellipse 2"/>
            <p:cNvSpPr/>
            <p:nvPr/>
          </p:nvSpPr>
          <p:spPr>
            <a:xfrm>
              <a:off x="10096500" y="-1047750"/>
              <a:ext cx="2857500" cy="2857500"/>
            </a:xfrm>
            <a:prstGeom prst="ellipse">
              <a:avLst/>
            </a:prstGeom>
            <a:noFill/>
            <a:ln w="14288">
              <a:solidFill>
                <a:srgbClr val="213556">
                  <a:alpha val="60000"/>
                </a:srgbClr>
              </a:solidFill>
            </a:ln>
          </p:spPr>
        </p:sp>
        <p:sp>
          <p:nvSpPr>
            <p:cNvPr id="3" name="Ellipse 3"/>
            <p:cNvSpPr/>
            <p:nvPr/>
          </p:nvSpPr>
          <p:spPr>
            <a:xfrm>
              <a:off x="10620375" y="-523875"/>
              <a:ext cx="1809750" cy="1809750"/>
            </a:xfrm>
            <a:prstGeom prst="ellipse">
              <a:avLst/>
            </a:prstGeom>
            <a:noFill/>
            <a:ln w="14288">
              <a:solidFill>
                <a:srgbClr val="213556">
                  <a:alpha val="45000"/>
                </a:srgbClr>
              </a:solidFill>
            </a:ln>
          </p:spPr>
        </p:sp>
        <p:sp>
          <p:nvSpPr>
            <p:cNvPr id="4" name="Ellipse 4"/>
            <p:cNvSpPr/>
            <p:nvPr/>
          </p:nvSpPr>
          <p:spPr>
            <a:xfrm>
              <a:off x="10582275" y="342900"/>
              <a:ext cx="76200" cy="76200"/>
            </a:xfrm>
            <a:prstGeom prst="ellipse">
              <a:avLst/>
            </a:prstGeom>
            <a:solidFill>
              <a:schemeClr val="accent3"/>
            </a:solidFill>
            <a:ln>
              <a:noFill/>
            </a:ln>
          </p:spPr>
        </p:sp>
      </p:grpSp>
      <p:grpSp>
        <p:nvGrpSpPr>
          <p:cNvPr id="11" name="Group 11"/>
          <p:cNvGrpSpPr/>
          <p:nvPr/>
        </p:nvGrpSpPr>
        <p:grpSpPr>
          <a:xfrm>
            <a:off x="762000" y="514350"/>
            <a:ext cx="7785807" cy="834390"/>
            <a:chOff x="762000" y="514350"/>
            <a:chExt cx="7785807" cy="834390"/>
          </a:xfrm>
        </p:grpSpPr>
        <p:sp>
          <p:nvSpPr>
            <p:cNvPr id="6" name="Rectangle 6"/>
            <p:cNvSpPr/>
            <p:nvPr/>
          </p:nvSpPr>
          <p:spPr>
            <a:xfrm>
              <a:off x="762000" y="514350"/>
              <a:ext cx="438150" cy="438150"/>
            </a:xfrm>
            <a:prstGeom prst="roundRect">
              <a:avLst>
                <a:gd name="adj" fmla="val 26087"/>
              </a:avLst>
            </a:prstGeom>
            <a:gradFill>
              <a:gsLst>
                <a:gs pos="0">
                  <a:srgbClr val="1B2C48"/>
                </a:gs>
                <a:gs pos="100000">
                  <a:srgbClr val="14223A"/>
                </a:gs>
              </a:gsLst>
              <a:lin ang="5400000" scaled="1"/>
            </a:gradFill>
            <a:ln w="9525">
              <a:solidFill>
                <a:schemeClr val="accent4"/>
              </a:solidFill>
            </a:ln>
          </p:spPr>
        </p:sp>
        <p:sp>
          <p:nvSpPr>
            <p:cNvPr id="7" name="TextBox 7"/>
            <p:cNvSpPr txBox="1"/>
            <p:nvPr/>
          </p:nvSpPr>
          <p:spPr>
            <a:xfrm>
              <a:off x="844417" y="641032"/>
              <a:ext cx="273316" cy="322707"/>
            </a:xfrm>
            <a:prstGeom prst="rect">
              <a:avLst/>
            </a:prstGeom>
            <a:noFill/>
            <a:ln>
              <a:noFill/>
            </a:ln>
          </p:spPr>
          <p:txBody>
            <a:bodyPr wrap="none" lIns="0" tIns="0" rIns="0" bIns="0" anchor="t" anchorCtr="0">
              <a:spAutoFit/>
            </a:bodyPr>
            <a:lstStyle/>
            <a:p>
              <a:pPr algn="ctr"/>
              <a:r>
                <a:rPr lang="en-US" sz="1650" b="1" dirty="0">
                  <a:solidFill>
                    <a:schemeClr val="accent1"/>
                  </a:solidFill>
                  <a:latin typeface="+mn-lt"/>
                  <a:ea typeface="+mn-ea"/>
                  <a:cs typeface="+mn-cs"/>
                </a:rPr>
                <a:t>02</a:t>
              </a:r>
            </a:p>
          </p:txBody>
        </p:sp>
        <p:sp>
          <p:nvSpPr>
            <p:cNvPr id="8" name="TextBox 8"/>
            <p:cNvSpPr txBox="1"/>
            <p:nvPr/>
          </p:nvSpPr>
          <p:spPr>
            <a:xfrm>
              <a:off x="1346073" y="548164"/>
              <a:ext cx="1017453" cy="249364"/>
            </a:xfrm>
            <a:prstGeom prst="rect">
              <a:avLst/>
            </a:prstGeom>
            <a:noFill/>
            <a:ln>
              <a:noFill/>
            </a:ln>
          </p:spPr>
          <p:txBody>
            <a:bodyPr wrap="none" lIns="0" tIns="0" rIns="0" bIns="0" anchor="t" anchorCtr="0">
              <a:spAutoFit/>
            </a:bodyPr>
            <a:lstStyle/>
            <a:p>
              <a:pPr algn="l"/>
              <a:r>
                <a:rPr lang="en-US" sz="1280" b="1" spc="225" dirty="0">
                  <a:solidFill>
                    <a:schemeClr val="dk2"/>
                  </a:solidFill>
                  <a:latin typeface="+mn-lt"/>
                  <a:ea typeface="+mn-ea"/>
                  <a:cs typeface="+mn-cs"/>
                </a:rPr>
                <a:t>PROBLEM</a:t>
              </a:r>
            </a:p>
          </p:txBody>
        </p:sp>
        <p:sp>
          <p:nvSpPr>
            <p:cNvPr id="9" name="TextBox 9"/>
            <p:cNvSpPr txBox="1"/>
            <p:nvPr/>
          </p:nvSpPr>
          <p:spPr>
            <a:xfrm>
              <a:off x="1337310" y="762000"/>
              <a:ext cx="7210497" cy="586740"/>
            </a:xfrm>
            <a:prstGeom prst="rect">
              <a:avLst/>
            </a:prstGeom>
            <a:noFill/>
            <a:ln>
              <a:noFill/>
            </a:ln>
          </p:spPr>
          <p:txBody>
            <a:bodyPr wrap="none" lIns="0" tIns="0" rIns="0" bIns="0" anchor="t" anchorCtr="0">
              <a:spAutoFit/>
            </a:bodyPr>
            <a:lstStyle/>
            <a:p>
              <a:pPr algn="l"/>
              <a:r>
                <a:rPr lang="en-US" sz="3000" b="1" dirty="0">
                  <a:solidFill>
                    <a:schemeClr val="dk1"/>
                  </a:solidFill>
                  <a:latin typeface="+mn-lt"/>
                  <a:ea typeface="+mn-ea"/>
                  <a:cs typeface="+mn-cs"/>
                </a:rPr>
                <a:t>Kinematics is the speed bottleneck</a:t>
              </a:r>
            </a:p>
          </p:txBody>
        </p:sp>
        <p:sp>
          <p:nvSpPr>
            <p:cNvPr id="10" name="Rectangle 10"/>
            <p:cNvSpPr/>
            <p:nvPr/>
          </p:nvSpPr>
          <p:spPr>
            <a:xfrm>
              <a:off x="1352550" y="1219200"/>
              <a:ext cx="609600" cy="38100"/>
            </a:xfrm>
            <a:prstGeom prst="roundRect">
              <a:avLst>
                <a:gd name="adj" fmla="val 50000"/>
              </a:avLst>
            </a:prstGeom>
            <a:gradFill>
              <a:gsLst>
                <a:gs pos="0">
                  <a:schemeClr val="accent1"/>
                </a:gs>
                <a:gs pos="100000">
                  <a:schemeClr val="accent2"/>
                </a:gs>
              </a:gsLst>
              <a:lin ang="0" scaled="1"/>
            </a:gradFill>
            <a:ln>
              <a:noFill/>
            </a:ln>
          </p:spPr>
        </p:sp>
      </p:grpSp>
      <p:grpSp>
        <p:nvGrpSpPr>
          <p:cNvPr id="19" name="Group 19"/>
          <p:cNvGrpSpPr/>
          <p:nvPr/>
        </p:nvGrpSpPr>
        <p:grpSpPr>
          <a:xfrm>
            <a:off x="762000" y="1695450"/>
            <a:ext cx="5191125" cy="1952625"/>
            <a:chOff x="762000" y="1695450"/>
            <a:chExt cx="5191125" cy="1952625"/>
          </a:xfrm>
        </p:grpSpPr>
        <p:sp>
          <p:nvSpPr>
            <p:cNvPr id="12" name="Rectangle 12"/>
            <p:cNvSpPr/>
            <p:nvPr/>
          </p:nvSpPr>
          <p:spPr>
            <a:xfrm>
              <a:off x="762000" y="1695450"/>
              <a:ext cx="5191125" cy="1952625"/>
            </a:xfrm>
            <a:prstGeom prst="roundRect">
              <a:avLst>
                <a:gd name="adj" fmla="val 7805"/>
              </a:avLst>
            </a:prstGeom>
            <a:gradFill>
              <a:gsLst>
                <a:gs pos="0">
                  <a:srgbClr val="1B2C48"/>
                </a:gs>
                <a:gs pos="100000">
                  <a:srgbClr val="14223A"/>
                </a:gs>
              </a:gsLst>
              <a:lin ang="5400000" scaled="1"/>
            </a:gradFill>
            <a:ln w="9525">
              <a:solidFill>
                <a:schemeClr val="accent4"/>
              </a:solidFill>
            </a:ln>
          </p:spPr>
        </p:sp>
        <p:sp>
          <p:nvSpPr>
            <p:cNvPr id="13" name="Rectangle 13"/>
            <p:cNvSpPr/>
            <p:nvPr/>
          </p:nvSpPr>
          <p:spPr>
            <a:xfrm>
              <a:off x="762000" y="1695450"/>
              <a:ext cx="57150" cy="1952625"/>
            </a:xfrm>
            <a:prstGeom prst="roundRect">
              <a:avLst>
                <a:gd name="adj" fmla="val 50000"/>
              </a:avLst>
            </a:prstGeom>
            <a:solidFill>
              <a:schemeClr val="accent3"/>
            </a:solidFill>
            <a:ln>
              <a:noFill/>
            </a:ln>
          </p:spPr>
        </p:sp>
        <p:sp>
          <p:nvSpPr>
            <p:cNvPr id="14" name="TextBox 14"/>
            <p:cNvSpPr txBox="1"/>
            <p:nvPr/>
          </p:nvSpPr>
          <p:spPr>
            <a:xfrm>
              <a:off x="1061847" y="1990249"/>
              <a:ext cx="1041381" cy="190690"/>
            </a:xfrm>
            <a:prstGeom prst="rect">
              <a:avLst/>
            </a:prstGeom>
            <a:noFill/>
            <a:ln>
              <a:noFill/>
            </a:ln>
          </p:spPr>
          <p:txBody>
            <a:bodyPr wrap="none" lIns="0" tIns="0" rIns="0" bIns="0" anchor="t" anchorCtr="0">
              <a:spAutoFit/>
            </a:bodyPr>
            <a:lstStyle/>
            <a:p>
              <a:pPr algn="l"/>
              <a:r>
                <a:rPr lang="en-US" sz="980" b="1" spc="112" dirty="0">
                  <a:solidFill>
                    <a:srgbClr val="7DBBFF"/>
                  </a:solidFill>
                  <a:latin typeface="+mn-lt"/>
                  <a:ea typeface="+mn-ea"/>
                  <a:cs typeface="+mn-cs"/>
                </a:rPr>
                <a:t>LENSING → H₀</a:t>
              </a:r>
            </a:p>
          </p:txBody>
        </p:sp>
        <p:sp>
          <p:nvSpPr>
            <p:cNvPr id="15" name="TextBox 15"/>
            <p:cNvSpPr txBox="1"/>
            <p:nvPr/>
          </p:nvSpPr>
          <p:spPr>
            <a:xfrm>
              <a:off x="1057656" y="2205990"/>
              <a:ext cx="3881322"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Time delays constrain the mass</a:t>
              </a:r>
            </a:p>
          </p:txBody>
        </p:sp>
        <p:sp>
          <p:nvSpPr>
            <p:cNvPr id="16" name="TextBox 16"/>
            <p:cNvSpPr txBox="1"/>
            <p:nvPr/>
          </p:nvSpPr>
          <p:spPr>
            <a:xfrm>
              <a:off x="1059561" y="2608421"/>
              <a:ext cx="4178577" cy="278702"/>
            </a:xfrm>
            <a:prstGeom prst="rect">
              <a:avLst/>
            </a:prstGeom>
            <a:noFill/>
            <a:ln>
              <a:noFill/>
            </a:ln>
          </p:spPr>
          <p:txBody>
            <a:bodyPr wrap="none" lIns="0" tIns="0" rIns="0" bIns="0" anchor="t" anchorCtr="0">
              <a:spAutoFit/>
            </a:bodyPr>
            <a:lstStyle/>
            <a:p>
              <a:pPr algn="l"/>
              <a:r>
                <a:rPr lang="en-US" sz="1420" dirty="0">
                  <a:solidFill>
                    <a:schemeClr val="dk2"/>
                  </a:solidFill>
                  <a:latin typeface="+mn-lt"/>
                  <a:ea typeface="+mn-ea"/>
                  <a:cs typeface="+mn-cs"/>
                </a:rPr>
                <a:t>Time delays between the multiple images of a</a:t>
              </a:r>
            </a:p>
          </p:txBody>
        </p:sp>
        <p:sp>
          <p:nvSpPr>
            <p:cNvPr id="17" name="TextBox 17"/>
            <p:cNvSpPr txBox="1"/>
            <p:nvPr/>
          </p:nvSpPr>
          <p:spPr>
            <a:xfrm>
              <a:off x="1059561" y="2856071"/>
              <a:ext cx="4344261" cy="278702"/>
            </a:xfrm>
            <a:prstGeom prst="rect">
              <a:avLst/>
            </a:prstGeom>
            <a:noFill/>
            <a:ln>
              <a:noFill/>
            </a:ln>
          </p:spPr>
          <p:txBody>
            <a:bodyPr wrap="none" lIns="0" tIns="0" rIns="0" bIns="0" anchor="t" anchorCtr="0">
              <a:spAutoFit/>
            </a:bodyPr>
            <a:lstStyle/>
            <a:p>
              <a:pPr algn="l"/>
              <a:r>
                <a:rPr lang="en-US" sz="1420" dirty="0">
                  <a:solidFill>
                    <a:schemeClr val="dk2"/>
                  </a:solidFill>
                  <a:latin typeface="+mn-lt"/>
                  <a:ea typeface="+mn-ea"/>
                  <a:cs typeface="+mn-cs"/>
                </a:rPr>
                <a:t>distant source are compared to a model of the</a:t>
              </a:r>
            </a:p>
          </p:txBody>
        </p:sp>
        <p:sp>
          <p:nvSpPr>
            <p:cNvPr id="18" name="TextBox 18"/>
            <p:cNvSpPr txBox="1"/>
            <p:nvPr/>
          </p:nvSpPr>
          <p:spPr>
            <a:xfrm>
              <a:off x="1059561" y="3103721"/>
              <a:ext cx="4580271" cy="278702"/>
            </a:xfrm>
            <a:prstGeom prst="rect">
              <a:avLst/>
            </a:prstGeom>
            <a:noFill/>
            <a:ln>
              <a:noFill/>
            </a:ln>
          </p:spPr>
          <p:txBody>
            <a:bodyPr wrap="none" lIns="0" tIns="0" rIns="0" bIns="0" anchor="t" anchorCtr="0">
              <a:spAutoFit/>
            </a:bodyPr>
            <a:lstStyle/>
            <a:p>
              <a:pPr algn="l"/>
              <a:r>
                <a:rPr lang="en-US" sz="1420" dirty="0">
                  <a:solidFill>
                    <a:schemeClr val="dk2"/>
                  </a:solidFill>
                  <a:latin typeface="+mn-lt"/>
                  <a:ea typeface="+mn-ea"/>
                  <a:cs typeface="+mn-cs"/>
                </a:rPr>
                <a:t>lens galaxy's mass to infer the Hubble constant.</a:t>
              </a:r>
            </a:p>
          </p:txBody>
        </p:sp>
      </p:grpSp>
      <p:grpSp>
        <p:nvGrpSpPr>
          <p:cNvPr id="27" name="Group 27"/>
          <p:cNvGrpSpPr/>
          <p:nvPr/>
        </p:nvGrpSpPr>
        <p:grpSpPr>
          <a:xfrm>
            <a:off x="6238875" y="1695450"/>
            <a:ext cx="5191125" cy="1952625"/>
            <a:chOff x="6238875" y="1695450"/>
            <a:chExt cx="5191125" cy="1952625"/>
          </a:xfrm>
        </p:grpSpPr>
        <p:sp>
          <p:nvSpPr>
            <p:cNvPr id="20" name="Rectangle 20"/>
            <p:cNvSpPr/>
            <p:nvPr/>
          </p:nvSpPr>
          <p:spPr>
            <a:xfrm>
              <a:off x="6238875" y="1695450"/>
              <a:ext cx="5191125" cy="1952625"/>
            </a:xfrm>
            <a:prstGeom prst="roundRect">
              <a:avLst>
                <a:gd name="adj" fmla="val 7805"/>
              </a:avLst>
            </a:prstGeom>
            <a:gradFill>
              <a:gsLst>
                <a:gs pos="0">
                  <a:srgbClr val="1B2C48"/>
                </a:gs>
                <a:gs pos="100000">
                  <a:srgbClr val="14223A"/>
                </a:gs>
              </a:gsLst>
              <a:lin ang="5400000" scaled="1"/>
            </a:gradFill>
            <a:ln w="9525">
              <a:solidFill>
                <a:schemeClr val="accent4"/>
              </a:solidFill>
            </a:ln>
          </p:spPr>
        </p:sp>
        <p:sp>
          <p:nvSpPr>
            <p:cNvPr id="21" name="Rectangle 21"/>
            <p:cNvSpPr/>
            <p:nvPr/>
          </p:nvSpPr>
          <p:spPr>
            <a:xfrm>
              <a:off x="6238875" y="1695450"/>
              <a:ext cx="57150" cy="1952625"/>
            </a:xfrm>
            <a:prstGeom prst="roundRect">
              <a:avLst>
                <a:gd name="adj" fmla="val 50000"/>
              </a:avLst>
            </a:prstGeom>
            <a:solidFill>
              <a:schemeClr val="accent3"/>
            </a:solidFill>
            <a:ln>
              <a:noFill/>
            </a:ln>
          </p:spPr>
        </p:sp>
        <p:sp>
          <p:nvSpPr>
            <p:cNvPr id="22" name="TextBox 22"/>
            <p:cNvSpPr txBox="1"/>
            <p:nvPr/>
          </p:nvSpPr>
          <p:spPr>
            <a:xfrm>
              <a:off x="6538722" y="1990249"/>
              <a:ext cx="1114563" cy="190690"/>
            </a:xfrm>
            <a:prstGeom prst="rect">
              <a:avLst/>
            </a:prstGeom>
            <a:noFill/>
            <a:ln>
              <a:noFill/>
            </a:ln>
          </p:spPr>
          <p:txBody>
            <a:bodyPr wrap="none" lIns="0" tIns="0" rIns="0" bIns="0" anchor="t" anchorCtr="0">
              <a:spAutoFit/>
            </a:bodyPr>
            <a:lstStyle/>
            <a:p>
              <a:pPr algn="l"/>
              <a:r>
                <a:rPr lang="en-US" sz="980" b="1" spc="112" dirty="0">
                  <a:solidFill>
                    <a:srgbClr val="7DBBFF"/>
                  </a:solidFill>
                  <a:latin typeface="+mn-lt"/>
                  <a:ea typeface="+mn-ea"/>
                  <a:cs typeface="+mn-cs"/>
                </a:rPr>
                <a:t>DEGENERACIES</a:t>
              </a:r>
            </a:p>
          </p:txBody>
        </p:sp>
        <p:sp>
          <p:nvSpPr>
            <p:cNvPr id="23" name="TextBox 23"/>
            <p:cNvSpPr txBox="1"/>
            <p:nvPr/>
          </p:nvSpPr>
          <p:spPr>
            <a:xfrm>
              <a:off x="6534531" y="2205990"/>
              <a:ext cx="3194114"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Kinematics breaks the tie</a:t>
              </a:r>
            </a:p>
          </p:txBody>
        </p:sp>
        <p:sp>
          <p:nvSpPr>
            <p:cNvPr id="24" name="TextBox 24"/>
            <p:cNvSpPr txBox="1"/>
            <p:nvPr/>
          </p:nvSpPr>
          <p:spPr>
            <a:xfrm>
              <a:off x="6536436" y="2608421"/>
              <a:ext cx="4608511" cy="278702"/>
            </a:xfrm>
            <a:prstGeom prst="rect">
              <a:avLst/>
            </a:prstGeom>
            <a:noFill/>
            <a:ln>
              <a:noFill/>
            </a:ln>
          </p:spPr>
          <p:txBody>
            <a:bodyPr wrap="none" lIns="0" tIns="0" rIns="0" bIns="0" anchor="t" anchorCtr="0">
              <a:spAutoFit/>
            </a:bodyPr>
            <a:lstStyle/>
            <a:p>
              <a:pPr algn="l"/>
              <a:r>
                <a:rPr lang="en-US" sz="1420" dirty="0">
                  <a:solidFill>
                    <a:schemeClr val="dk2"/>
                  </a:solidFill>
                  <a:latin typeface="+mn-lt"/>
                  <a:ea typeface="+mn-ea"/>
                  <a:cs typeface="+mn-cs"/>
                </a:rPr>
                <a:t>Many different mass distributions reproduce the</a:t>
              </a:r>
            </a:p>
          </p:txBody>
        </p:sp>
        <p:sp>
          <p:nvSpPr>
            <p:cNvPr id="25" name="TextBox 25"/>
            <p:cNvSpPr txBox="1"/>
            <p:nvPr/>
          </p:nvSpPr>
          <p:spPr>
            <a:xfrm>
              <a:off x="6536436" y="2856071"/>
              <a:ext cx="4172217" cy="278702"/>
            </a:xfrm>
            <a:prstGeom prst="rect">
              <a:avLst/>
            </a:prstGeom>
            <a:noFill/>
            <a:ln>
              <a:noFill/>
            </a:ln>
          </p:spPr>
          <p:txBody>
            <a:bodyPr wrap="none" lIns="0" tIns="0" rIns="0" bIns="0" anchor="t" anchorCtr="0">
              <a:spAutoFit/>
            </a:bodyPr>
            <a:lstStyle/>
            <a:p>
              <a:pPr algn="l"/>
              <a:r>
                <a:rPr lang="en-US" sz="1420" dirty="0">
                  <a:solidFill>
                    <a:schemeClr val="dk2"/>
                  </a:solidFill>
                  <a:latin typeface="+mn-lt"/>
                  <a:ea typeface="+mn-ea"/>
                  <a:cs typeface="+mn-cs"/>
                </a:rPr>
                <a:t>same lensed image, so independent kinematic</a:t>
              </a:r>
            </a:p>
          </p:txBody>
        </p:sp>
        <p:sp>
          <p:nvSpPr>
            <p:cNvPr id="26" name="TextBox 26"/>
            <p:cNvSpPr txBox="1"/>
            <p:nvPr/>
          </p:nvSpPr>
          <p:spPr>
            <a:xfrm>
              <a:off x="6536436" y="3103721"/>
              <a:ext cx="4783930" cy="278702"/>
            </a:xfrm>
            <a:prstGeom prst="rect">
              <a:avLst/>
            </a:prstGeom>
            <a:noFill/>
            <a:ln>
              <a:noFill/>
            </a:ln>
          </p:spPr>
          <p:txBody>
            <a:bodyPr wrap="none" lIns="0" tIns="0" rIns="0" bIns="0" anchor="t" anchorCtr="0">
              <a:spAutoFit/>
            </a:bodyPr>
            <a:lstStyle/>
            <a:p>
              <a:pPr algn="l"/>
              <a:r>
                <a:rPr lang="en-US" sz="1420" dirty="0">
                  <a:solidFill>
                    <a:schemeClr val="dk2"/>
                  </a:solidFill>
                  <a:latin typeface="+mn-lt"/>
                  <a:ea typeface="+mn-ea"/>
                  <a:cs typeface="+mn-cs"/>
                </a:rPr>
                <a:t>constraints are required to break the degeneracy.</a:t>
              </a:r>
            </a:p>
          </p:txBody>
        </p:sp>
      </p:grpSp>
      <p:grpSp>
        <p:nvGrpSpPr>
          <p:cNvPr id="35" name="Group 35"/>
          <p:cNvGrpSpPr/>
          <p:nvPr/>
        </p:nvGrpSpPr>
        <p:grpSpPr>
          <a:xfrm>
            <a:off x="762000" y="3876675"/>
            <a:ext cx="5191125" cy="1952625"/>
            <a:chOff x="762000" y="3876675"/>
            <a:chExt cx="5191125" cy="1952625"/>
          </a:xfrm>
        </p:grpSpPr>
        <p:sp>
          <p:nvSpPr>
            <p:cNvPr id="28" name="Rectangle 28"/>
            <p:cNvSpPr/>
            <p:nvPr/>
          </p:nvSpPr>
          <p:spPr>
            <a:xfrm>
              <a:off x="762000" y="3876675"/>
              <a:ext cx="5191125" cy="1952625"/>
            </a:xfrm>
            <a:prstGeom prst="roundRect">
              <a:avLst>
                <a:gd name="adj" fmla="val 7805"/>
              </a:avLst>
            </a:prstGeom>
            <a:gradFill>
              <a:gsLst>
                <a:gs pos="0">
                  <a:srgbClr val="1B2C48"/>
                </a:gs>
                <a:gs pos="100000">
                  <a:srgbClr val="14223A"/>
                </a:gs>
              </a:gsLst>
              <a:lin ang="5400000" scaled="1"/>
            </a:gradFill>
            <a:ln w="9525">
              <a:solidFill>
                <a:schemeClr val="accent4"/>
              </a:solidFill>
            </a:ln>
          </p:spPr>
        </p:sp>
        <p:sp>
          <p:nvSpPr>
            <p:cNvPr id="29" name="Rectangle 29"/>
            <p:cNvSpPr/>
            <p:nvPr/>
          </p:nvSpPr>
          <p:spPr>
            <a:xfrm>
              <a:off x="762000" y="3876675"/>
              <a:ext cx="57150" cy="1952625"/>
            </a:xfrm>
            <a:prstGeom prst="roundRect">
              <a:avLst>
                <a:gd name="adj" fmla="val 50000"/>
              </a:avLst>
            </a:prstGeom>
            <a:solidFill>
              <a:schemeClr val="accent1"/>
            </a:solidFill>
            <a:ln>
              <a:noFill/>
            </a:ln>
          </p:spPr>
        </p:sp>
        <p:sp>
          <p:nvSpPr>
            <p:cNvPr id="30" name="TextBox 30"/>
            <p:cNvSpPr txBox="1"/>
            <p:nvPr/>
          </p:nvSpPr>
          <p:spPr>
            <a:xfrm>
              <a:off x="1061847" y="4171474"/>
              <a:ext cx="758110" cy="190690"/>
            </a:xfrm>
            <a:prstGeom prst="rect">
              <a:avLst/>
            </a:prstGeom>
            <a:noFill/>
            <a:ln>
              <a:noFill/>
            </a:ln>
          </p:spPr>
          <p:txBody>
            <a:bodyPr wrap="none" lIns="0" tIns="0" rIns="0" bIns="0" anchor="t" anchorCtr="0">
              <a:spAutoFit/>
            </a:bodyPr>
            <a:lstStyle/>
            <a:p>
              <a:pPr algn="l"/>
              <a:r>
                <a:rPr lang="en-US" sz="980" b="1" spc="112" dirty="0">
                  <a:solidFill>
                    <a:schemeClr val="accent2"/>
                  </a:solidFill>
                  <a:latin typeface="+mn-lt"/>
                  <a:ea typeface="+mn-ea"/>
                  <a:cs typeface="+mn-cs"/>
                </a:rPr>
                <a:t>THE COST</a:t>
              </a:r>
            </a:p>
          </p:txBody>
        </p:sp>
        <p:sp>
          <p:nvSpPr>
            <p:cNvPr id="31" name="TextBox 31"/>
            <p:cNvSpPr txBox="1"/>
            <p:nvPr/>
          </p:nvSpPr>
          <p:spPr>
            <a:xfrm>
              <a:off x="1057656" y="4387215"/>
              <a:ext cx="3111593"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JAM must run every step</a:t>
              </a:r>
            </a:p>
          </p:txBody>
        </p:sp>
        <p:sp>
          <p:nvSpPr>
            <p:cNvPr id="32" name="TextBox 32"/>
            <p:cNvSpPr txBox="1"/>
            <p:nvPr/>
          </p:nvSpPr>
          <p:spPr>
            <a:xfrm>
              <a:off x="1059561" y="4789646"/>
              <a:ext cx="4092260" cy="278702"/>
            </a:xfrm>
            <a:prstGeom prst="rect">
              <a:avLst/>
            </a:prstGeom>
            <a:noFill/>
            <a:ln>
              <a:noFill/>
            </a:ln>
          </p:spPr>
          <p:txBody>
            <a:bodyPr wrap="none" lIns="0" tIns="0" rIns="0" bIns="0" anchor="t" anchorCtr="0">
              <a:spAutoFit/>
            </a:bodyPr>
            <a:lstStyle/>
            <a:p>
              <a:pPr algn="l"/>
              <a:r>
                <a:rPr lang="en-US" sz="1420" dirty="0">
                  <a:solidFill>
                    <a:schemeClr val="dk2"/>
                  </a:solidFill>
                  <a:latin typeface="+mn-lt"/>
                  <a:ea typeface="+mn-ea"/>
                  <a:cs typeface="+mn-cs"/>
                </a:rPr>
                <a:t>Modeling kinematics with a physics code like</a:t>
              </a:r>
            </a:p>
          </p:txBody>
        </p:sp>
        <p:sp>
          <p:nvSpPr>
            <p:cNvPr id="33" name="TextBox 33"/>
            <p:cNvSpPr txBox="1"/>
            <p:nvPr/>
          </p:nvSpPr>
          <p:spPr>
            <a:xfrm>
              <a:off x="1059561" y="5037296"/>
              <a:ext cx="4154559" cy="278702"/>
            </a:xfrm>
            <a:prstGeom prst="rect">
              <a:avLst/>
            </a:prstGeom>
            <a:noFill/>
            <a:ln>
              <a:noFill/>
            </a:ln>
          </p:spPr>
          <p:txBody>
            <a:bodyPr wrap="none" lIns="0" tIns="0" rIns="0" bIns="0" anchor="t" anchorCtr="0">
              <a:spAutoFit/>
            </a:bodyPr>
            <a:lstStyle/>
            <a:p>
              <a:pPr algn="l"/>
              <a:r>
                <a:rPr lang="en-US" sz="1420" dirty="0">
                  <a:solidFill>
                    <a:schemeClr val="dk2"/>
                  </a:solidFill>
                  <a:latin typeface="+mn-lt"/>
                  <a:ea typeface="+mn-ea"/>
                  <a:cs typeface="+mn-cs"/>
                </a:rPr>
                <a:t>JAM is slow — and it is recomputed for every</a:t>
              </a:r>
            </a:p>
          </p:txBody>
        </p:sp>
        <p:sp>
          <p:nvSpPr>
            <p:cNvPr id="34" name="TextBox 34"/>
            <p:cNvSpPr txBox="1"/>
            <p:nvPr/>
          </p:nvSpPr>
          <p:spPr>
            <a:xfrm>
              <a:off x="1059561" y="5284946"/>
              <a:ext cx="4129060" cy="278702"/>
            </a:xfrm>
            <a:prstGeom prst="rect">
              <a:avLst/>
            </a:prstGeom>
            <a:noFill/>
            <a:ln>
              <a:noFill/>
            </a:ln>
          </p:spPr>
          <p:txBody>
            <a:bodyPr wrap="none" lIns="0" tIns="0" rIns="0" bIns="0" anchor="t" anchorCtr="0">
              <a:spAutoFit/>
            </a:bodyPr>
            <a:lstStyle/>
            <a:p>
              <a:pPr algn="l"/>
              <a:r>
                <a:rPr lang="en-US" sz="1420" dirty="0">
                  <a:solidFill>
                    <a:schemeClr val="dk2"/>
                  </a:solidFill>
                  <a:latin typeface="+mn-lt"/>
                  <a:ea typeface="+mn-ea"/>
                  <a:cs typeface="+mn-cs"/>
                </a:rPr>
                <a:t>single likelihood evaluation inside the MCMC.</a:t>
              </a:r>
            </a:p>
          </p:txBody>
        </p:sp>
      </p:grpSp>
      <p:grpSp>
        <p:nvGrpSpPr>
          <p:cNvPr id="43" name="Group 43"/>
          <p:cNvGrpSpPr/>
          <p:nvPr/>
        </p:nvGrpSpPr>
        <p:grpSpPr>
          <a:xfrm>
            <a:off x="6238875" y="3876675"/>
            <a:ext cx="5191125" cy="1952625"/>
            <a:chOff x="6238875" y="3876675"/>
            <a:chExt cx="5191125" cy="1952625"/>
          </a:xfrm>
        </p:grpSpPr>
        <p:sp>
          <p:nvSpPr>
            <p:cNvPr id="36" name="Rectangle 36"/>
            <p:cNvSpPr/>
            <p:nvPr/>
          </p:nvSpPr>
          <p:spPr>
            <a:xfrm>
              <a:off x="6238875" y="3876675"/>
              <a:ext cx="5191125" cy="1952625"/>
            </a:xfrm>
            <a:prstGeom prst="roundRect">
              <a:avLst>
                <a:gd name="adj" fmla="val 7805"/>
              </a:avLst>
            </a:prstGeom>
            <a:gradFill>
              <a:gsLst>
                <a:gs pos="0">
                  <a:srgbClr val="1B2C48"/>
                </a:gs>
                <a:gs pos="100000">
                  <a:srgbClr val="14223A"/>
                </a:gs>
              </a:gsLst>
              <a:lin ang="5400000" scaled="1"/>
            </a:gradFill>
            <a:ln w="9525">
              <a:solidFill>
                <a:schemeClr val="accent4"/>
              </a:solidFill>
            </a:ln>
          </p:spPr>
        </p:sp>
        <p:sp>
          <p:nvSpPr>
            <p:cNvPr id="37" name="Rectangle 37"/>
            <p:cNvSpPr/>
            <p:nvPr/>
          </p:nvSpPr>
          <p:spPr>
            <a:xfrm>
              <a:off x="6238875" y="3876675"/>
              <a:ext cx="57150" cy="1952625"/>
            </a:xfrm>
            <a:prstGeom prst="roundRect">
              <a:avLst>
                <a:gd name="adj" fmla="val 50000"/>
              </a:avLst>
            </a:prstGeom>
            <a:solidFill>
              <a:schemeClr val="accent1"/>
            </a:solidFill>
            <a:ln>
              <a:noFill/>
            </a:ln>
          </p:spPr>
        </p:sp>
        <p:sp>
          <p:nvSpPr>
            <p:cNvPr id="38" name="TextBox 38"/>
            <p:cNvSpPr txBox="1"/>
            <p:nvPr/>
          </p:nvSpPr>
          <p:spPr>
            <a:xfrm>
              <a:off x="6538722" y="4171474"/>
              <a:ext cx="1462404" cy="190690"/>
            </a:xfrm>
            <a:prstGeom prst="rect">
              <a:avLst/>
            </a:prstGeom>
            <a:noFill/>
            <a:ln>
              <a:noFill/>
            </a:ln>
          </p:spPr>
          <p:txBody>
            <a:bodyPr wrap="none" lIns="0" tIns="0" rIns="0" bIns="0" anchor="t" anchorCtr="0">
              <a:spAutoFit/>
            </a:bodyPr>
            <a:lstStyle/>
            <a:p>
              <a:pPr algn="l"/>
              <a:r>
                <a:rPr lang="en-US" sz="980" b="1" spc="112" dirty="0">
                  <a:solidFill>
                    <a:schemeClr val="accent2"/>
                  </a:solidFill>
                  <a:latin typeface="+mn-lt"/>
                  <a:ea typeface="+mn-ea"/>
                  <a:cs typeface="+mn-cs"/>
                </a:rPr>
                <a:t>THE CONSEQUENCE</a:t>
              </a:r>
            </a:p>
          </p:txBody>
        </p:sp>
        <p:sp>
          <p:nvSpPr>
            <p:cNvPr id="39" name="TextBox 39"/>
            <p:cNvSpPr txBox="1"/>
            <p:nvPr/>
          </p:nvSpPr>
          <p:spPr>
            <a:xfrm>
              <a:off x="6534531" y="4387215"/>
              <a:ext cx="3498843"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Joint sampling is prohibitive</a:t>
              </a:r>
            </a:p>
          </p:txBody>
        </p:sp>
        <p:sp>
          <p:nvSpPr>
            <p:cNvPr id="40" name="TextBox 40"/>
            <p:cNvSpPr txBox="1"/>
            <p:nvPr/>
          </p:nvSpPr>
          <p:spPr>
            <a:xfrm>
              <a:off x="6536436" y="4789646"/>
              <a:ext cx="3747967" cy="278702"/>
            </a:xfrm>
            <a:prstGeom prst="rect">
              <a:avLst/>
            </a:prstGeom>
            <a:noFill/>
            <a:ln>
              <a:noFill/>
            </a:ln>
          </p:spPr>
          <p:txBody>
            <a:bodyPr wrap="none" lIns="0" tIns="0" rIns="0" bIns="0" anchor="t" anchorCtr="0">
              <a:spAutoFit/>
            </a:bodyPr>
            <a:lstStyle/>
            <a:p>
              <a:pPr algn="l"/>
              <a:r>
                <a:rPr lang="en-US" sz="1420" dirty="0">
                  <a:solidFill>
                    <a:schemeClr val="dk2"/>
                  </a:solidFill>
                  <a:latin typeface="+mn-lt"/>
                  <a:ea typeface="+mn-ea"/>
                  <a:cs typeface="+mn-cs"/>
                </a:rPr>
                <a:t>Exploring the full lensing and kinematics</a:t>
              </a:r>
            </a:p>
          </p:txBody>
        </p:sp>
        <p:sp>
          <p:nvSpPr>
            <p:cNvPr id="41" name="TextBox 41"/>
            <p:cNvSpPr txBox="1"/>
            <p:nvPr/>
          </p:nvSpPr>
          <p:spPr>
            <a:xfrm>
              <a:off x="6536436" y="5037296"/>
              <a:ext cx="4564096" cy="278702"/>
            </a:xfrm>
            <a:prstGeom prst="rect">
              <a:avLst/>
            </a:prstGeom>
            <a:noFill/>
            <a:ln>
              <a:noFill/>
            </a:ln>
          </p:spPr>
          <p:txBody>
            <a:bodyPr wrap="none" lIns="0" tIns="0" rIns="0" bIns="0" anchor="t" anchorCtr="0">
              <a:spAutoFit/>
            </a:bodyPr>
            <a:lstStyle/>
            <a:p>
              <a:pPr algn="l"/>
              <a:r>
                <a:rPr lang="en-US" sz="1420" dirty="0">
                  <a:solidFill>
                    <a:schemeClr val="dk2"/>
                  </a:solidFill>
                  <a:latin typeface="+mn-lt"/>
                  <a:ea typeface="+mn-ea"/>
                  <a:cs typeface="+mn-cs"/>
                </a:rPr>
                <a:t>parameter space together is too costly, forcing</a:t>
              </a:r>
            </a:p>
          </p:txBody>
        </p:sp>
        <p:sp>
          <p:nvSpPr>
            <p:cNvPr id="42" name="TextBox 42"/>
            <p:cNvSpPr txBox="1"/>
            <p:nvPr/>
          </p:nvSpPr>
          <p:spPr>
            <a:xfrm>
              <a:off x="6536436" y="5284946"/>
              <a:ext cx="4535421" cy="278702"/>
            </a:xfrm>
            <a:prstGeom prst="rect">
              <a:avLst/>
            </a:prstGeom>
            <a:noFill/>
            <a:ln>
              <a:noFill/>
            </a:ln>
          </p:spPr>
          <p:txBody>
            <a:bodyPr wrap="none" lIns="0" tIns="0" rIns="0" bIns="0" anchor="t" anchorCtr="0">
              <a:spAutoFit/>
            </a:bodyPr>
            <a:lstStyle/>
            <a:p>
              <a:pPr algn="l"/>
              <a:r>
                <a:rPr lang="en-US" sz="1420" dirty="0">
                  <a:solidFill>
                    <a:schemeClr val="dk2"/>
                  </a:solidFill>
                  <a:latin typeface="+mn-lt"/>
                  <a:ea typeface="+mn-ea"/>
                  <a:cs typeface="+mn-cs"/>
                </a:rPr>
                <a:t>modelers to fit the two components separately.</a:t>
              </a:r>
            </a:p>
          </p:txBody>
        </p:sp>
      </p:grpSp>
      <p:grpSp>
        <p:nvGrpSpPr>
          <p:cNvPr id="47" name="Group 47"/>
          <p:cNvGrpSpPr/>
          <p:nvPr/>
        </p:nvGrpSpPr>
        <p:grpSpPr>
          <a:xfrm>
            <a:off x="756666" y="6477000"/>
            <a:ext cx="10678668" cy="301561"/>
            <a:chOff x="756666" y="6477000"/>
            <a:chExt cx="10678668" cy="301561"/>
          </a:xfrm>
        </p:grpSpPr>
        <p:sp>
          <p:nvSpPr>
            <p:cNvPr id="44" name="Line 44"/>
            <p:cNvSpPr/>
            <p:nvPr/>
          </p:nvSpPr>
          <p:spPr>
            <a:xfrm>
              <a:off x="762000" y="6477000"/>
              <a:ext cx="10668000" cy="9525"/>
            </a:xfrm>
            <a:custGeom>
              <a:avLst/>
              <a:gdLst/>
              <a:ahLst/>
              <a:cxnLst/>
              <a:rect l="l" t="t" r="r" b="b"/>
              <a:pathLst>
                <a:path w="10668000" h="9525">
                  <a:moveTo>
                    <a:pt x="0" y="0"/>
                  </a:moveTo>
                  <a:lnTo>
                    <a:pt x="10668000" y="0"/>
                  </a:lnTo>
                </a:path>
              </a:pathLst>
            </a:custGeom>
            <a:noFill/>
            <a:ln w="9525">
              <a:solidFill>
                <a:schemeClr val="accent4"/>
              </a:solidFill>
            </a:ln>
          </p:spPr>
        </p:sp>
        <p:sp>
          <p:nvSpPr>
            <p:cNvPr id="45" name="TextBox 45"/>
            <p:cNvSpPr txBox="1"/>
            <p:nvPr/>
          </p:nvSpPr>
          <p:spPr>
            <a:xfrm>
              <a:off x="756666" y="6573202"/>
              <a:ext cx="2902900" cy="205359"/>
            </a:xfrm>
            <a:prstGeom prst="rect">
              <a:avLst/>
            </a:prstGeom>
            <a:noFill/>
            <a:ln>
              <a:noFill/>
            </a:ln>
          </p:spPr>
          <p:txBody>
            <a:bodyPr wrap="none" lIns="0" tIns="0" rIns="0" bIns="0" anchor="t" anchorCtr="0">
              <a:spAutoFit/>
            </a:bodyPr>
            <a:lstStyle/>
            <a:p>
              <a:pPr algn="l"/>
              <a:r>
                <a:rPr lang="en-US" sz="1050" dirty="0">
                  <a:solidFill>
                    <a:srgbClr val="6B7E9C"/>
                  </a:solidFill>
                  <a:latin typeface="+mn-lt"/>
                  <a:ea typeface="+mn-ea"/>
                  <a:cs typeface="+mn-cs"/>
                </a:rPr>
                <a:t>SKiNN · Stellar Kinematics Neural Network</a:t>
              </a:r>
            </a:p>
          </p:txBody>
        </p:sp>
        <p:sp>
          <p:nvSpPr>
            <p:cNvPr id="46" name="TextBox 46"/>
            <p:cNvSpPr txBox="1"/>
            <p:nvPr/>
          </p:nvSpPr>
          <p:spPr>
            <a:xfrm>
              <a:off x="10951140" y="6573202"/>
              <a:ext cx="484194" cy="205359"/>
            </a:xfrm>
            <a:prstGeom prst="rect">
              <a:avLst/>
            </a:prstGeom>
            <a:noFill/>
            <a:ln>
              <a:noFill/>
            </a:ln>
          </p:spPr>
          <p:txBody>
            <a:bodyPr wrap="none" lIns="0" tIns="0" rIns="0" bIns="0" anchor="t" anchorCtr="0">
              <a:spAutoFit/>
            </a:bodyPr>
            <a:lstStyle/>
            <a:p>
              <a:pPr algn="r"/>
              <a:r>
                <a:rPr lang="en-US" sz="1050" dirty="0">
                  <a:solidFill>
                    <a:srgbClr val="6B7E9C"/>
                  </a:solidFill>
                  <a:latin typeface="+mn-lt"/>
                  <a:ea typeface="+mn-ea"/>
                  <a:cs typeface="+mn-cs"/>
                </a:rPr>
                <a:t>02 / 10</a:t>
              </a:r>
            </a:p>
          </p:txBody>
        </p:sp>
      </p:grpSp>
      <p:sp>
        <p:nvSpPr>
          <p:cNvPr id="48" name="cue_s02_c1_gravitational_lensing_measures_hubbl" title="cue_s02_c1_gravitational_lensing_measures_hubbl" descr="cue_s02_c1_gravitational_lensing_measures_hubbl Gravitational lensing measures the Hubble constant by comparing time delays between multiple images of a distant source to a model of the lens galaxy's mass."/>
          <p:cNvSpPr/>
          <p:nvPr/>
        </p:nvSpPr>
        <p:spPr>
          <a:xfrm>
            <a:off x="762000" y="1695297"/>
            <a:ext cx="5191353" cy="195247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cue_s02_c2_but_lensing_degeneracies_allow_many" title="cue_s02_c2_but_lensing_degeneracies_allow_many" descr="cue_s02_c2_but_lensing_degeneracies_allow_many But lensing degeneracies allow many different mass distributions to reproduce the same image, so independent kinematic constraints are needed to break them. The trouble is speed."/>
          <p:cNvSpPr/>
          <p:nvPr/>
        </p:nvSpPr>
        <p:spPr>
          <a:xfrm>
            <a:off x="6238646" y="1695297"/>
            <a:ext cx="5191353" cy="195247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cue_s02_c3_modeling_galaxy_kinematics_physics_c" title="cue_s02_c3_modeling_galaxy_kinematics_physics_c" descr="cue_s02_c3_modeling_galaxy_kinematics_physics_c Modeling galaxy kinematics with a physics code like JAM is slow, and it must be recomputed for every single likelihood evaluation inside a Markov Chain Monte Carlo sampling."/>
          <p:cNvSpPr/>
          <p:nvPr/>
        </p:nvSpPr>
        <p:spPr>
          <a:xfrm>
            <a:off x="762000" y="3876827"/>
            <a:ext cx="5191353" cy="195247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cue_s02_c4_makes_jointly_exploring_full_lensing" title="cue_s02_c4_makes_jointly_exploring_full_lensing" descr="cue_s02_c4_makes_jointly_exploring_full_lensing This makes jointly exploring the full lensing and kinematics parameter space computationally prohibitive, forcing modelers to cut corners by fitting the two components separately."/>
          <p:cNvSpPr/>
          <p:nvPr/>
        </p:nvSpPr>
        <p:spPr>
          <a:xfrm>
            <a:off x="6238646" y="3876827"/>
            <a:ext cx="5191353" cy="195247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0">
              <a:schemeClr val="lt1"/>
            </a:gs>
            <a:gs pos="100000">
              <a:schemeClr val="accent5"/>
            </a:gs>
          </a:gsLst>
          <a:lin ang="4242597" scaled="1"/>
        </a:gradFill>
        <a:effectLst/>
      </p:bgPr>
    </p:bg>
    <p:spTree>
      <p:nvGrpSpPr>
        <p:cNvPr id="1" name=""/>
        <p:cNvGrpSpPr/>
        <p:nvPr/>
      </p:nvGrpSpPr>
      <p:grpSpPr>
        <a:xfrm>
          <a:off x="0" y="0"/>
          <a:ext cx="0" cy="0"/>
          <a:chOff x="0" y="0"/>
          <a:chExt cx="0" cy="0"/>
        </a:xfrm>
      </p:grpSpPr>
      <p:grpSp>
        <p:nvGrpSpPr>
          <p:cNvPr id="5" name="Group 5"/>
          <p:cNvGrpSpPr/>
          <p:nvPr/>
        </p:nvGrpSpPr>
        <p:grpSpPr>
          <a:xfrm>
            <a:off x="10096500" y="-1047750"/>
            <a:ext cx="2857500" cy="2857500"/>
            <a:chOff x="10096500" y="-1047750"/>
            <a:chExt cx="2857500" cy="2857500"/>
          </a:xfrm>
        </p:grpSpPr>
        <p:sp>
          <p:nvSpPr>
            <p:cNvPr id="2" name="Ellipse 2"/>
            <p:cNvSpPr/>
            <p:nvPr/>
          </p:nvSpPr>
          <p:spPr>
            <a:xfrm>
              <a:off x="10096500" y="-1047750"/>
              <a:ext cx="2857500" cy="2857500"/>
            </a:xfrm>
            <a:prstGeom prst="ellipse">
              <a:avLst/>
            </a:prstGeom>
            <a:noFill/>
            <a:ln w="14288">
              <a:solidFill>
                <a:srgbClr val="213556">
                  <a:alpha val="60000"/>
                </a:srgbClr>
              </a:solidFill>
            </a:ln>
          </p:spPr>
        </p:sp>
        <p:sp>
          <p:nvSpPr>
            <p:cNvPr id="3" name="Ellipse 3"/>
            <p:cNvSpPr/>
            <p:nvPr/>
          </p:nvSpPr>
          <p:spPr>
            <a:xfrm>
              <a:off x="10620375" y="-523875"/>
              <a:ext cx="1809750" cy="1809750"/>
            </a:xfrm>
            <a:prstGeom prst="ellipse">
              <a:avLst/>
            </a:prstGeom>
            <a:noFill/>
            <a:ln w="14288">
              <a:solidFill>
                <a:srgbClr val="213556">
                  <a:alpha val="45000"/>
                </a:srgbClr>
              </a:solidFill>
            </a:ln>
          </p:spPr>
        </p:sp>
        <p:sp>
          <p:nvSpPr>
            <p:cNvPr id="4" name="Ellipse 4"/>
            <p:cNvSpPr/>
            <p:nvPr/>
          </p:nvSpPr>
          <p:spPr>
            <a:xfrm>
              <a:off x="10582275" y="342900"/>
              <a:ext cx="76200" cy="76200"/>
            </a:xfrm>
            <a:prstGeom prst="ellipse">
              <a:avLst/>
            </a:prstGeom>
            <a:solidFill>
              <a:schemeClr val="accent3"/>
            </a:solidFill>
            <a:ln>
              <a:noFill/>
            </a:ln>
          </p:spPr>
        </p:sp>
      </p:grpSp>
      <p:grpSp>
        <p:nvGrpSpPr>
          <p:cNvPr id="11" name="Group 11"/>
          <p:cNvGrpSpPr/>
          <p:nvPr/>
        </p:nvGrpSpPr>
        <p:grpSpPr>
          <a:xfrm>
            <a:off x="762000" y="514350"/>
            <a:ext cx="8803638" cy="834390"/>
            <a:chOff x="762000" y="514350"/>
            <a:chExt cx="8803638" cy="834390"/>
          </a:xfrm>
        </p:grpSpPr>
        <p:sp>
          <p:nvSpPr>
            <p:cNvPr id="6" name="Rectangle 6"/>
            <p:cNvSpPr/>
            <p:nvPr/>
          </p:nvSpPr>
          <p:spPr>
            <a:xfrm>
              <a:off x="762000" y="514350"/>
              <a:ext cx="438150" cy="438150"/>
            </a:xfrm>
            <a:prstGeom prst="roundRect">
              <a:avLst>
                <a:gd name="adj" fmla="val 26087"/>
              </a:avLst>
            </a:prstGeom>
            <a:gradFill>
              <a:gsLst>
                <a:gs pos="0">
                  <a:srgbClr val="1B2C48"/>
                </a:gs>
                <a:gs pos="100000">
                  <a:srgbClr val="14223A"/>
                </a:gs>
              </a:gsLst>
              <a:lin ang="5400000" scaled="1"/>
            </a:gradFill>
            <a:ln w="9525">
              <a:solidFill>
                <a:schemeClr val="accent4"/>
              </a:solidFill>
            </a:ln>
          </p:spPr>
        </p:sp>
        <p:sp>
          <p:nvSpPr>
            <p:cNvPr id="7" name="TextBox 7"/>
            <p:cNvSpPr txBox="1"/>
            <p:nvPr/>
          </p:nvSpPr>
          <p:spPr>
            <a:xfrm>
              <a:off x="844417" y="641032"/>
              <a:ext cx="273316" cy="322707"/>
            </a:xfrm>
            <a:prstGeom prst="rect">
              <a:avLst/>
            </a:prstGeom>
            <a:noFill/>
            <a:ln>
              <a:noFill/>
            </a:ln>
          </p:spPr>
          <p:txBody>
            <a:bodyPr wrap="none" lIns="0" tIns="0" rIns="0" bIns="0" anchor="t" anchorCtr="0">
              <a:spAutoFit/>
            </a:bodyPr>
            <a:lstStyle/>
            <a:p>
              <a:pPr algn="ctr"/>
              <a:r>
                <a:rPr lang="en-US" sz="1650" b="1" dirty="0">
                  <a:solidFill>
                    <a:schemeClr val="accent1"/>
                  </a:solidFill>
                  <a:latin typeface="+mn-lt"/>
                  <a:ea typeface="+mn-ea"/>
                  <a:cs typeface="+mn-cs"/>
                </a:rPr>
                <a:t>03</a:t>
              </a:r>
            </a:p>
          </p:txBody>
        </p:sp>
        <p:sp>
          <p:nvSpPr>
            <p:cNvPr id="8" name="TextBox 8"/>
            <p:cNvSpPr txBox="1"/>
            <p:nvPr/>
          </p:nvSpPr>
          <p:spPr>
            <a:xfrm>
              <a:off x="1346073" y="548164"/>
              <a:ext cx="1371545" cy="249364"/>
            </a:xfrm>
            <a:prstGeom prst="rect">
              <a:avLst/>
            </a:prstGeom>
            <a:noFill/>
            <a:ln>
              <a:noFill/>
            </a:ln>
          </p:spPr>
          <p:txBody>
            <a:bodyPr wrap="none" lIns="0" tIns="0" rIns="0" bIns="0" anchor="t" anchorCtr="0">
              <a:spAutoFit/>
            </a:bodyPr>
            <a:lstStyle/>
            <a:p>
              <a:pPr algn="l"/>
              <a:r>
                <a:rPr lang="en-US" sz="1280" b="1" spc="225" dirty="0">
                  <a:solidFill>
                    <a:schemeClr val="dk2"/>
                  </a:solidFill>
                  <a:latin typeface="+mn-lt"/>
                  <a:ea typeface="+mn-ea"/>
                  <a:cs typeface="+mn-cs"/>
                </a:rPr>
                <a:t>MOTIVATION</a:t>
              </a:r>
            </a:p>
          </p:txBody>
        </p:sp>
        <p:sp>
          <p:nvSpPr>
            <p:cNvPr id="9" name="TextBox 9"/>
            <p:cNvSpPr txBox="1"/>
            <p:nvPr/>
          </p:nvSpPr>
          <p:spPr>
            <a:xfrm>
              <a:off x="1337310" y="762000"/>
              <a:ext cx="8228328" cy="586740"/>
            </a:xfrm>
            <a:prstGeom prst="rect">
              <a:avLst/>
            </a:prstGeom>
            <a:noFill/>
            <a:ln>
              <a:noFill/>
            </a:ln>
          </p:spPr>
          <p:txBody>
            <a:bodyPr wrap="none" lIns="0" tIns="0" rIns="0" bIns="0" anchor="t" anchorCtr="0">
              <a:spAutoFit/>
            </a:bodyPr>
            <a:lstStyle/>
            <a:p>
              <a:pPr algn="l"/>
              <a:r>
                <a:rPr lang="en-US" sz="3000" b="1" dirty="0">
                  <a:solidFill>
                    <a:schemeClr val="dk1"/>
                  </a:solidFill>
                  <a:latin typeface="+mn-lt"/>
                  <a:ea typeface="+mn-ea"/>
                  <a:cs typeface="+mn-cs"/>
                </a:rPr>
                <a:t>Richer data needs axisymmetric physics</a:t>
              </a:r>
            </a:p>
          </p:txBody>
        </p:sp>
        <p:sp>
          <p:nvSpPr>
            <p:cNvPr id="10" name="Rectangle 10"/>
            <p:cNvSpPr/>
            <p:nvPr/>
          </p:nvSpPr>
          <p:spPr>
            <a:xfrm>
              <a:off x="1352550" y="1219200"/>
              <a:ext cx="609600" cy="38100"/>
            </a:xfrm>
            <a:prstGeom prst="roundRect">
              <a:avLst>
                <a:gd name="adj" fmla="val 50000"/>
              </a:avLst>
            </a:prstGeom>
            <a:gradFill>
              <a:gsLst>
                <a:gs pos="0">
                  <a:schemeClr val="accent1"/>
                </a:gs>
                <a:gs pos="100000">
                  <a:schemeClr val="accent2"/>
                </a:gs>
              </a:gsLst>
              <a:lin ang="0" scaled="1"/>
            </a:gradFill>
            <a:ln>
              <a:noFill/>
            </a:ln>
          </p:spPr>
        </p:sp>
      </p:grpSp>
      <p:grpSp>
        <p:nvGrpSpPr>
          <p:cNvPr id="22" name="Group 22"/>
          <p:cNvGrpSpPr/>
          <p:nvPr/>
        </p:nvGrpSpPr>
        <p:grpSpPr>
          <a:xfrm>
            <a:off x="762000" y="1714500"/>
            <a:ext cx="3400425" cy="2266950"/>
            <a:chOff x="762000" y="1714500"/>
            <a:chExt cx="3400425" cy="2266950"/>
          </a:xfrm>
        </p:grpSpPr>
        <p:sp>
          <p:nvSpPr>
            <p:cNvPr id="12" name="Rectangle 12"/>
            <p:cNvSpPr/>
            <p:nvPr/>
          </p:nvSpPr>
          <p:spPr>
            <a:xfrm>
              <a:off x="762000" y="1714500"/>
              <a:ext cx="3400425" cy="2266950"/>
            </a:xfrm>
            <a:prstGeom prst="roundRect">
              <a:avLst>
                <a:gd name="adj" fmla="val 6723"/>
              </a:avLst>
            </a:prstGeom>
            <a:gradFill>
              <a:gsLst>
                <a:gs pos="0">
                  <a:srgbClr val="1B2C48"/>
                </a:gs>
                <a:gs pos="100000">
                  <a:srgbClr val="14223A"/>
                </a:gs>
              </a:gsLst>
              <a:lin ang="5400000" scaled="1"/>
            </a:gradFill>
            <a:ln w="9525">
              <a:solidFill>
                <a:schemeClr val="accent4"/>
              </a:solidFill>
            </a:ln>
          </p:spPr>
        </p:sp>
        <p:sp>
          <p:nvSpPr>
            <p:cNvPr id="13" name="Rectangle 13"/>
            <p:cNvSpPr/>
            <p:nvPr/>
          </p:nvSpPr>
          <p:spPr>
            <a:xfrm>
              <a:off x="762000" y="1714500"/>
              <a:ext cx="3400425" cy="47625"/>
            </a:xfrm>
            <a:prstGeom prst="roundRect">
              <a:avLst>
                <a:gd name="adj" fmla="val 50000"/>
              </a:avLst>
            </a:prstGeom>
            <a:solidFill>
              <a:schemeClr val="accent3"/>
            </a:solidFill>
            <a:ln>
              <a:noFill/>
            </a:ln>
          </p:spPr>
        </p:sp>
        <p:sp>
          <p:nvSpPr>
            <p:cNvPr id="14" name="Ellipse 14"/>
            <p:cNvSpPr/>
            <p:nvPr/>
          </p:nvSpPr>
          <p:spPr>
            <a:xfrm>
              <a:off x="971550" y="1981200"/>
              <a:ext cx="304800" cy="304800"/>
            </a:xfrm>
            <a:prstGeom prst="ellipse">
              <a:avLst/>
            </a:prstGeom>
            <a:noFill/>
            <a:ln w="23812">
              <a:solidFill>
                <a:schemeClr val="accent3"/>
              </a:solidFill>
            </a:ln>
          </p:spPr>
        </p:sp>
        <p:sp>
          <p:nvSpPr>
            <p:cNvPr id="15" name="Ellipse 15"/>
            <p:cNvSpPr/>
            <p:nvPr/>
          </p:nvSpPr>
          <p:spPr>
            <a:xfrm>
              <a:off x="1085850" y="2095500"/>
              <a:ext cx="76200" cy="76200"/>
            </a:xfrm>
            <a:prstGeom prst="ellipse">
              <a:avLst/>
            </a:prstGeom>
            <a:solidFill>
              <a:schemeClr val="accent3"/>
            </a:solidFill>
            <a:ln>
              <a:noFill/>
            </a:ln>
          </p:spPr>
        </p:sp>
        <p:sp>
          <p:nvSpPr>
            <p:cNvPr id="16" name="TextBox 16"/>
            <p:cNvSpPr txBox="1"/>
            <p:nvPr/>
          </p:nvSpPr>
          <p:spPr>
            <a:xfrm>
              <a:off x="1419606" y="1996440"/>
              <a:ext cx="1134016"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New data</a:t>
              </a:r>
            </a:p>
          </p:txBody>
        </p:sp>
        <p:sp>
          <p:nvSpPr>
            <p:cNvPr id="17" name="TextBox 17"/>
            <p:cNvSpPr txBox="1"/>
            <p:nvPr/>
          </p:nvSpPr>
          <p:spPr>
            <a:xfrm>
              <a:off x="983361" y="2494121"/>
              <a:ext cx="2725068" cy="278702"/>
            </a:xfrm>
            <a:prstGeom prst="rect">
              <a:avLst/>
            </a:prstGeom>
            <a:noFill/>
            <a:ln>
              <a:noFill/>
            </a:ln>
          </p:spPr>
          <p:txBody>
            <a:bodyPr wrap="none" lIns="0" tIns="0" rIns="0" bIns="0" anchor="t" anchorCtr="0">
              <a:spAutoFit/>
            </a:bodyPr>
            <a:lstStyle/>
            <a:p>
              <a:pPr algn="l"/>
              <a:r>
                <a:rPr lang="en-US" sz="1420" dirty="0">
                  <a:solidFill>
                    <a:schemeClr val="dk2"/>
                  </a:solidFill>
                  <a:latin typeface="+mn-lt"/>
                  <a:ea typeface="+mn-ea"/>
                  <a:cs typeface="+mn-cs"/>
                </a:rPr>
                <a:t>Spatially resolved kinematics</a:t>
              </a:r>
            </a:p>
          </p:txBody>
        </p:sp>
        <p:sp>
          <p:nvSpPr>
            <p:cNvPr id="18" name="TextBox 18"/>
            <p:cNvSpPr txBox="1"/>
            <p:nvPr/>
          </p:nvSpPr>
          <p:spPr>
            <a:xfrm>
              <a:off x="983361" y="2741771"/>
              <a:ext cx="2509121" cy="278702"/>
            </a:xfrm>
            <a:prstGeom prst="rect">
              <a:avLst/>
            </a:prstGeom>
            <a:noFill/>
            <a:ln>
              <a:noFill/>
            </a:ln>
          </p:spPr>
          <p:txBody>
            <a:bodyPr wrap="none" lIns="0" tIns="0" rIns="0" bIns="0" anchor="t" anchorCtr="0">
              <a:spAutoFit/>
            </a:bodyPr>
            <a:lstStyle/>
            <a:p>
              <a:pPr algn="l"/>
              <a:r>
                <a:rPr lang="en-US" sz="1420" dirty="0">
                  <a:solidFill>
                    <a:schemeClr val="dk2"/>
                  </a:solidFill>
                  <a:latin typeface="+mn-lt"/>
                  <a:ea typeface="+mn-ea"/>
                  <a:cs typeface="+mn-cs"/>
                </a:rPr>
                <a:t>of lensing galaxies are now</a:t>
              </a:r>
            </a:p>
          </p:txBody>
        </p:sp>
        <p:sp>
          <p:nvSpPr>
            <p:cNvPr id="19" name="TextBox 19"/>
            <p:cNvSpPr txBox="1"/>
            <p:nvPr/>
          </p:nvSpPr>
          <p:spPr>
            <a:xfrm>
              <a:off x="983361" y="2989421"/>
              <a:ext cx="2537795" cy="278702"/>
            </a:xfrm>
            <a:prstGeom prst="rect">
              <a:avLst/>
            </a:prstGeom>
            <a:noFill/>
            <a:ln>
              <a:noFill/>
            </a:ln>
          </p:spPr>
          <p:txBody>
            <a:bodyPr wrap="none" lIns="0" tIns="0" rIns="0" bIns="0" anchor="t" anchorCtr="0">
              <a:spAutoFit/>
            </a:bodyPr>
            <a:lstStyle/>
            <a:p>
              <a:pPr algn="l"/>
              <a:r>
                <a:rPr lang="en-US" sz="1420" dirty="0">
                  <a:solidFill>
                    <a:schemeClr val="dk2"/>
                  </a:solidFill>
                  <a:latin typeface="+mn-lt"/>
                  <a:ea typeface="+mn-ea"/>
                  <a:cs typeface="+mn-cs"/>
                </a:rPr>
                <a:t>available from instruments</a:t>
              </a:r>
            </a:p>
          </p:txBody>
        </p:sp>
        <p:sp>
          <p:nvSpPr>
            <p:cNvPr id="20" name="TextBox 20"/>
            <p:cNvSpPr txBox="1"/>
            <p:nvPr/>
          </p:nvSpPr>
          <p:spPr>
            <a:xfrm>
              <a:off x="983361" y="3237071"/>
              <a:ext cx="2452211" cy="278702"/>
            </a:xfrm>
            <a:prstGeom prst="rect">
              <a:avLst/>
            </a:prstGeom>
            <a:noFill/>
            <a:ln>
              <a:noFill/>
            </a:ln>
          </p:spPr>
          <p:txBody>
            <a:bodyPr wrap="none" lIns="0" tIns="0" rIns="0" bIns="0" anchor="t" anchorCtr="0">
              <a:spAutoFit/>
            </a:bodyPr>
            <a:lstStyle/>
            <a:p>
              <a:pPr algn="l"/>
              <a:r>
                <a:rPr lang="en-US" sz="1420" dirty="0">
                  <a:solidFill>
                    <a:schemeClr val="dk2"/>
                  </a:solidFill>
                  <a:latin typeface="+mn-lt"/>
                  <a:ea typeface="+mn-ea"/>
                  <a:cs typeface="+mn-cs"/>
                </a:rPr>
                <a:t>like the James Webb Space</a:t>
              </a:r>
            </a:p>
          </p:txBody>
        </p:sp>
        <p:sp>
          <p:nvSpPr>
            <p:cNvPr id="21" name="TextBox 21"/>
            <p:cNvSpPr txBox="1"/>
            <p:nvPr/>
          </p:nvSpPr>
          <p:spPr>
            <a:xfrm>
              <a:off x="983361" y="3484721"/>
              <a:ext cx="1024382" cy="278702"/>
            </a:xfrm>
            <a:prstGeom prst="rect">
              <a:avLst/>
            </a:prstGeom>
            <a:noFill/>
            <a:ln>
              <a:noFill/>
            </a:ln>
          </p:spPr>
          <p:txBody>
            <a:bodyPr wrap="none" lIns="0" tIns="0" rIns="0" bIns="0" anchor="t" anchorCtr="0">
              <a:spAutoFit/>
            </a:bodyPr>
            <a:lstStyle/>
            <a:p>
              <a:pPr algn="l"/>
              <a:r>
                <a:rPr lang="en-US" sz="1420" dirty="0">
                  <a:solidFill>
                    <a:schemeClr val="dk2"/>
                  </a:solidFill>
                  <a:latin typeface="+mn-lt"/>
                  <a:ea typeface="+mn-ea"/>
                  <a:cs typeface="+mn-cs"/>
                </a:rPr>
                <a:t>Telescope.</a:t>
              </a:r>
            </a:p>
          </p:txBody>
        </p:sp>
      </p:grpSp>
      <p:grpSp>
        <p:nvGrpSpPr>
          <p:cNvPr id="33" name="Group 33"/>
          <p:cNvGrpSpPr/>
          <p:nvPr/>
        </p:nvGrpSpPr>
        <p:grpSpPr>
          <a:xfrm>
            <a:off x="4391025" y="1714500"/>
            <a:ext cx="3400425" cy="2266950"/>
            <a:chOff x="4391025" y="1714500"/>
            <a:chExt cx="3400425" cy="2266950"/>
          </a:xfrm>
        </p:grpSpPr>
        <p:sp>
          <p:nvSpPr>
            <p:cNvPr id="23" name="Rectangle 23"/>
            <p:cNvSpPr/>
            <p:nvPr/>
          </p:nvSpPr>
          <p:spPr>
            <a:xfrm>
              <a:off x="4391025" y="1714500"/>
              <a:ext cx="3400425" cy="2266950"/>
            </a:xfrm>
            <a:prstGeom prst="roundRect">
              <a:avLst>
                <a:gd name="adj" fmla="val 6723"/>
              </a:avLst>
            </a:prstGeom>
            <a:gradFill>
              <a:gsLst>
                <a:gs pos="0">
                  <a:srgbClr val="1B2C48"/>
                </a:gs>
                <a:gs pos="100000">
                  <a:srgbClr val="14223A"/>
                </a:gs>
              </a:gsLst>
              <a:lin ang="5400000" scaled="1"/>
            </a:gradFill>
            <a:ln w="9525">
              <a:solidFill>
                <a:schemeClr val="accent4"/>
              </a:solidFill>
            </a:ln>
          </p:spPr>
        </p:sp>
        <p:sp>
          <p:nvSpPr>
            <p:cNvPr id="24" name="Rectangle 24"/>
            <p:cNvSpPr/>
            <p:nvPr/>
          </p:nvSpPr>
          <p:spPr>
            <a:xfrm>
              <a:off x="4391025" y="1714500"/>
              <a:ext cx="3400425" cy="47625"/>
            </a:xfrm>
            <a:prstGeom prst="roundRect">
              <a:avLst>
                <a:gd name="adj" fmla="val 50000"/>
              </a:avLst>
            </a:prstGeom>
            <a:solidFill>
              <a:schemeClr val="accent3"/>
            </a:solidFill>
            <a:ln>
              <a:noFill/>
            </a:ln>
          </p:spPr>
        </p:sp>
        <p:sp>
          <p:nvSpPr>
            <p:cNvPr id="25" name="Ellipse 25"/>
            <p:cNvSpPr/>
            <p:nvPr/>
          </p:nvSpPr>
          <p:spPr>
            <a:xfrm>
              <a:off x="4600575" y="1981200"/>
              <a:ext cx="304800" cy="304800"/>
            </a:xfrm>
            <a:prstGeom prst="ellipse">
              <a:avLst/>
            </a:prstGeom>
            <a:noFill/>
            <a:ln w="23812">
              <a:solidFill>
                <a:schemeClr val="accent3"/>
              </a:solidFill>
            </a:ln>
          </p:spPr>
        </p:sp>
        <p:sp>
          <p:nvSpPr>
            <p:cNvPr id="26" name="Line 26"/>
            <p:cNvSpPr/>
            <p:nvPr/>
          </p:nvSpPr>
          <p:spPr>
            <a:xfrm>
              <a:off x="4657725" y="2038350"/>
              <a:ext cx="190500" cy="190500"/>
            </a:xfrm>
            <a:custGeom>
              <a:avLst/>
              <a:gdLst/>
              <a:ahLst/>
              <a:cxnLst/>
              <a:rect l="l" t="t" r="r" b="b"/>
              <a:pathLst>
                <a:path w="190500" h="190500">
                  <a:moveTo>
                    <a:pt x="0" y="0"/>
                  </a:moveTo>
                  <a:lnTo>
                    <a:pt x="190500" y="190500"/>
                  </a:lnTo>
                </a:path>
              </a:pathLst>
            </a:custGeom>
            <a:noFill/>
            <a:ln w="23812">
              <a:solidFill>
                <a:schemeClr val="accent3"/>
              </a:solidFill>
            </a:ln>
          </p:spPr>
        </p:sp>
        <p:sp>
          <p:nvSpPr>
            <p:cNvPr id="27" name="TextBox 27"/>
            <p:cNvSpPr txBox="1"/>
            <p:nvPr/>
          </p:nvSpPr>
          <p:spPr>
            <a:xfrm>
              <a:off x="5048631" y="1996440"/>
              <a:ext cx="1845396"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Old models fail</a:t>
              </a:r>
            </a:p>
          </p:txBody>
        </p:sp>
        <p:sp>
          <p:nvSpPr>
            <p:cNvPr id="28" name="TextBox 28"/>
            <p:cNvSpPr txBox="1"/>
            <p:nvPr/>
          </p:nvSpPr>
          <p:spPr>
            <a:xfrm>
              <a:off x="4612386" y="2494121"/>
              <a:ext cx="2769574" cy="278702"/>
            </a:xfrm>
            <a:prstGeom prst="rect">
              <a:avLst/>
            </a:prstGeom>
            <a:noFill/>
            <a:ln>
              <a:noFill/>
            </a:ln>
          </p:spPr>
          <p:txBody>
            <a:bodyPr wrap="none" lIns="0" tIns="0" rIns="0" bIns="0" anchor="t" anchorCtr="0">
              <a:spAutoFit/>
            </a:bodyPr>
            <a:lstStyle/>
            <a:p>
              <a:pPr algn="l"/>
              <a:r>
                <a:rPr lang="en-US" sz="1420" dirty="0">
                  <a:solidFill>
                    <a:schemeClr val="dk2"/>
                  </a:solidFill>
                  <a:latin typeface="+mn-lt"/>
                  <a:ea typeface="+mn-ea"/>
                  <a:cs typeface="+mn-cs"/>
                </a:rPr>
                <a:t>Simple spherical Jeans models</a:t>
              </a:r>
            </a:p>
          </p:txBody>
        </p:sp>
        <p:sp>
          <p:nvSpPr>
            <p:cNvPr id="29" name="TextBox 29"/>
            <p:cNvSpPr txBox="1"/>
            <p:nvPr/>
          </p:nvSpPr>
          <p:spPr>
            <a:xfrm>
              <a:off x="4612386" y="2741771"/>
              <a:ext cx="2728956" cy="278702"/>
            </a:xfrm>
            <a:prstGeom prst="rect">
              <a:avLst/>
            </a:prstGeom>
            <a:noFill/>
            <a:ln>
              <a:noFill/>
            </a:ln>
          </p:spPr>
          <p:txBody>
            <a:bodyPr wrap="none" lIns="0" tIns="0" rIns="0" bIns="0" anchor="t" anchorCtr="0">
              <a:spAutoFit/>
            </a:bodyPr>
            <a:lstStyle/>
            <a:p>
              <a:pPr algn="l"/>
              <a:r>
                <a:rPr lang="en-US" sz="1420" dirty="0">
                  <a:solidFill>
                    <a:schemeClr val="dk2"/>
                  </a:solidFill>
                  <a:latin typeface="+mn-lt"/>
                  <a:ea typeface="+mn-ea"/>
                  <a:cs typeface="+mn-cs"/>
                </a:rPr>
                <a:t>are too crude for this richer</a:t>
              </a:r>
            </a:p>
          </p:txBody>
        </p:sp>
        <p:sp>
          <p:nvSpPr>
            <p:cNvPr id="30" name="TextBox 30"/>
            <p:cNvSpPr txBox="1"/>
            <p:nvPr/>
          </p:nvSpPr>
          <p:spPr>
            <a:xfrm>
              <a:off x="4612386" y="2989421"/>
              <a:ext cx="3092160" cy="278702"/>
            </a:xfrm>
            <a:prstGeom prst="rect">
              <a:avLst/>
            </a:prstGeom>
            <a:noFill/>
            <a:ln>
              <a:noFill/>
            </a:ln>
          </p:spPr>
          <p:txBody>
            <a:bodyPr wrap="none" lIns="0" tIns="0" rIns="0" bIns="0" anchor="t" anchorCtr="0">
              <a:spAutoFit/>
            </a:bodyPr>
            <a:lstStyle/>
            <a:p>
              <a:pPr algn="l"/>
              <a:r>
                <a:rPr lang="en-US" sz="1420" dirty="0">
                  <a:solidFill>
                    <a:schemeClr val="dk2"/>
                  </a:solidFill>
                  <a:latin typeface="+mn-lt"/>
                  <a:ea typeface="+mn-ea"/>
                  <a:cs typeface="+mn-cs"/>
                </a:rPr>
                <a:t>data and are not self-consistent</a:t>
              </a:r>
            </a:p>
          </p:txBody>
        </p:sp>
        <p:sp>
          <p:nvSpPr>
            <p:cNvPr id="31" name="TextBox 31"/>
            <p:cNvSpPr txBox="1"/>
            <p:nvPr/>
          </p:nvSpPr>
          <p:spPr>
            <a:xfrm>
              <a:off x="4612386" y="3237071"/>
              <a:ext cx="2862768" cy="278702"/>
            </a:xfrm>
            <a:prstGeom prst="rect">
              <a:avLst/>
            </a:prstGeom>
            <a:noFill/>
            <a:ln>
              <a:noFill/>
            </a:ln>
          </p:spPr>
          <p:txBody>
            <a:bodyPr wrap="none" lIns="0" tIns="0" rIns="0" bIns="0" anchor="t" anchorCtr="0">
              <a:spAutoFit/>
            </a:bodyPr>
            <a:lstStyle/>
            <a:p>
              <a:pPr algn="l"/>
              <a:r>
                <a:rPr lang="en-US" sz="1420" dirty="0">
                  <a:solidFill>
                    <a:schemeClr val="dk2"/>
                  </a:solidFill>
                  <a:latin typeface="+mn-lt"/>
                  <a:ea typeface="+mn-ea"/>
                  <a:cs typeface="+mn-cs"/>
                </a:rPr>
                <a:t>with the elliptical mass models</a:t>
              </a:r>
            </a:p>
          </p:txBody>
        </p:sp>
        <p:sp>
          <p:nvSpPr>
            <p:cNvPr id="32" name="TextBox 32"/>
            <p:cNvSpPr txBox="1"/>
            <p:nvPr/>
          </p:nvSpPr>
          <p:spPr>
            <a:xfrm>
              <a:off x="4612386" y="3484721"/>
              <a:ext cx="1457739" cy="278702"/>
            </a:xfrm>
            <a:prstGeom prst="rect">
              <a:avLst/>
            </a:prstGeom>
            <a:noFill/>
            <a:ln>
              <a:noFill/>
            </a:ln>
          </p:spPr>
          <p:txBody>
            <a:bodyPr wrap="none" lIns="0" tIns="0" rIns="0" bIns="0" anchor="t" anchorCtr="0">
              <a:spAutoFit/>
            </a:bodyPr>
            <a:lstStyle/>
            <a:p>
              <a:pPr algn="l"/>
              <a:r>
                <a:rPr lang="en-US" sz="1420" dirty="0">
                  <a:solidFill>
                    <a:schemeClr val="dk2"/>
                  </a:solidFill>
                  <a:latin typeface="+mn-lt"/>
                  <a:ea typeface="+mn-ea"/>
                  <a:cs typeface="+mn-cs"/>
                </a:rPr>
                <a:t>used in lensing.</a:t>
              </a:r>
            </a:p>
          </p:txBody>
        </p:sp>
      </p:grpSp>
      <p:grpSp>
        <p:nvGrpSpPr>
          <p:cNvPr id="44" name="Group 44"/>
          <p:cNvGrpSpPr/>
          <p:nvPr/>
        </p:nvGrpSpPr>
        <p:grpSpPr>
          <a:xfrm>
            <a:off x="8020050" y="1714500"/>
            <a:ext cx="3409950" cy="2266950"/>
            <a:chOff x="8020050" y="1714500"/>
            <a:chExt cx="3409950" cy="2266950"/>
          </a:xfrm>
        </p:grpSpPr>
        <p:sp>
          <p:nvSpPr>
            <p:cNvPr id="34" name="Rectangle 34"/>
            <p:cNvSpPr/>
            <p:nvPr/>
          </p:nvSpPr>
          <p:spPr>
            <a:xfrm>
              <a:off x="8020050" y="1714500"/>
              <a:ext cx="3409950" cy="2266950"/>
            </a:xfrm>
            <a:prstGeom prst="roundRect">
              <a:avLst>
                <a:gd name="adj" fmla="val 6723"/>
              </a:avLst>
            </a:prstGeom>
            <a:gradFill>
              <a:gsLst>
                <a:gs pos="0">
                  <a:srgbClr val="1B2C48"/>
                </a:gs>
                <a:gs pos="100000">
                  <a:srgbClr val="14223A"/>
                </a:gs>
              </a:gsLst>
              <a:lin ang="5400000" scaled="1"/>
            </a:gradFill>
            <a:ln w="9525">
              <a:solidFill>
                <a:schemeClr val="accent4"/>
              </a:solidFill>
            </a:ln>
          </p:spPr>
        </p:sp>
        <p:sp>
          <p:nvSpPr>
            <p:cNvPr id="35" name="Rectangle 35"/>
            <p:cNvSpPr/>
            <p:nvPr/>
          </p:nvSpPr>
          <p:spPr>
            <a:xfrm>
              <a:off x="8020050" y="1714500"/>
              <a:ext cx="3409950" cy="47625"/>
            </a:xfrm>
            <a:prstGeom prst="roundRect">
              <a:avLst>
                <a:gd name="adj" fmla="val 50000"/>
              </a:avLst>
            </a:prstGeom>
            <a:solidFill>
              <a:schemeClr val="accent1"/>
            </a:solidFill>
            <a:ln>
              <a:noFill/>
            </a:ln>
          </p:spPr>
        </p:sp>
        <p:sp>
          <p:nvSpPr>
            <p:cNvPr id="36" name="Ellipse 36"/>
            <p:cNvSpPr/>
            <p:nvPr/>
          </p:nvSpPr>
          <p:spPr>
            <a:xfrm>
              <a:off x="8220075" y="2038350"/>
              <a:ext cx="323850" cy="190500"/>
            </a:xfrm>
            <a:prstGeom prst="ellipse">
              <a:avLst/>
            </a:prstGeom>
            <a:noFill/>
            <a:ln w="23812">
              <a:solidFill>
                <a:schemeClr val="accent1"/>
              </a:solidFill>
            </a:ln>
          </p:spPr>
        </p:sp>
        <p:sp>
          <p:nvSpPr>
            <p:cNvPr id="37" name="Ellipse 37"/>
            <p:cNvSpPr/>
            <p:nvPr/>
          </p:nvSpPr>
          <p:spPr>
            <a:xfrm>
              <a:off x="8348662" y="2100262"/>
              <a:ext cx="66675" cy="66675"/>
            </a:xfrm>
            <a:prstGeom prst="ellipse">
              <a:avLst/>
            </a:prstGeom>
            <a:solidFill>
              <a:schemeClr val="accent1"/>
            </a:solidFill>
            <a:ln>
              <a:noFill/>
            </a:ln>
          </p:spPr>
        </p:sp>
        <p:sp>
          <p:nvSpPr>
            <p:cNvPr id="38" name="TextBox 38"/>
            <p:cNvSpPr txBox="1"/>
            <p:nvPr/>
          </p:nvSpPr>
          <p:spPr>
            <a:xfrm>
              <a:off x="8677656" y="1996440"/>
              <a:ext cx="1855430"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JAM — but slow</a:t>
              </a:r>
            </a:p>
          </p:txBody>
        </p:sp>
        <p:sp>
          <p:nvSpPr>
            <p:cNvPr id="39" name="TextBox 39"/>
            <p:cNvSpPr txBox="1"/>
            <p:nvPr/>
          </p:nvSpPr>
          <p:spPr>
            <a:xfrm>
              <a:off x="8241411" y="2494121"/>
              <a:ext cx="2572488" cy="278702"/>
            </a:xfrm>
            <a:prstGeom prst="rect">
              <a:avLst/>
            </a:prstGeom>
            <a:noFill/>
            <a:ln>
              <a:noFill/>
            </a:ln>
          </p:spPr>
          <p:txBody>
            <a:bodyPr wrap="none" lIns="0" tIns="0" rIns="0" bIns="0" anchor="t" anchorCtr="0">
              <a:spAutoFit/>
            </a:bodyPr>
            <a:lstStyle/>
            <a:p>
              <a:pPr algn="l"/>
              <a:r>
                <a:rPr lang="en-US" sz="1420" dirty="0">
                  <a:solidFill>
                    <a:schemeClr val="dk2"/>
                  </a:solidFill>
                  <a:latin typeface="+mn-lt"/>
                  <a:ea typeface="+mn-ea"/>
                  <a:cs typeface="+mn-cs"/>
                </a:rPr>
                <a:t>Axisymmetric modeling with</a:t>
              </a:r>
            </a:p>
          </p:txBody>
        </p:sp>
        <p:sp>
          <p:nvSpPr>
            <p:cNvPr id="40" name="TextBox 40"/>
            <p:cNvSpPr txBox="1"/>
            <p:nvPr/>
          </p:nvSpPr>
          <p:spPr>
            <a:xfrm>
              <a:off x="8241411" y="2741771"/>
              <a:ext cx="2663222" cy="278702"/>
            </a:xfrm>
            <a:prstGeom prst="rect">
              <a:avLst/>
            </a:prstGeom>
            <a:noFill/>
            <a:ln>
              <a:noFill/>
            </a:ln>
          </p:spPr>
          <p:txBody>
            <a:bodyPr wrap="none" lIns="0" tIns="0" rIns="0" bIns="0" anchor="t" anchorCtr="0">
              <a:spAutoFit/>
            </a:bodyPr>
            <a:lstStyle/>
            <a:p>
              <a:pPr algn="l"/>
              <a:r>
                <a:rPr lang="en-US" sz="1420" dirty="0">
                  <a:solidFill>
                    <a:schemeClr val="dk2"/>
                  </a:solidFill>
                  <a:latin typeface="+mn-lt"/>
                  <a:ea typeface="+mn-ea"/>
                  <a:cs typeface="+mn-cs"/>
                </a:rPr>
                <a:t>software such as JAM is the</a:t>
              </a:r>
            </a:p>
          </p:txBody>
        </p:sp>
        <p:sp>
          <p:nvSpPr>
            <p:cNvPr id="41" name="TextBox 41"/>
            <p:cNvSpPr txBox="1"/>
            <p:nvPr/>
          </p:nvSpPr>
          <p:spPr>
            <a:xfrm>
              <a:off x="8241411" y="2989421"/>
              <a:ext cx="2939232" cy="278702"/>
            </a:xfrm>
            <a:prstGeom prst="rect">
              <a:avLst/>
            </a:prstGeom>
            <a:noFill/>
            <a:ln>
              <a:noFill/>
            </a:ln>
          </p:spPr>
          <p:txBody>
            <a:bodyPr wrap="none" lIns="0" tIns="0" rIns="0" bIns="0" anchor="t" anchorCtr="0">
              <a:spAutoFit/>
            </a:bodyPr>
            <a:lstStyle/>
            <a:p>
              <a:pPr algn="l"/>
              <a:r>
                <a:rPr lang="en-US" sz="1420" dirty="0">
                  <a:solidFill>
                    <a:schemeClr val="dk2"/>
                  </a:solidFill>
                  <a:latin typeface="+mn-lt"/>
                  <a:ea typeface="+mn-ea"/>
                  <a:cs typeface="+mn-cs"/>
                </a:rPr>
                <a:t>natural next step, yet it stays</a:t>
              </a:r>
            </a:p>
          </p:txBody>
        </p:sp>
        <p:sp>
          <p:nvSpPr>
            <p:cNvPr id="42" name="TextBox 42"/>
            <p:cNvSpPr txBox="1"/>
            <p:nvPr/>
          </p:nvSpPr>
          <p:spPr>
            <a:xfrm>
              <a:off x="8241411" y="3237071"/>
              <a:ext cx="2901000" cy="278702"/>
            </a:xfrm>
            <a:prstGeom prst="rect">
              <a:avLst/>
            </a:prstGeom>
            <a:noFill/>
            <a:ln>
              <a:noFill/>
            </a:ln>
          </p:spPr>
          <p:txBody>
            <a:bodyPr wrap="none" lIns="0" tIns="0" rIns="0" bIns="0" anchor="t" anchorCtr="0">
              <a:spAutoFit/>
            </a:bodyPr>
            <a:lstStyle/>
            <a:p>
              <a:pPr algn="l"/>
              <a:r>
                <a:rPr lang="en-US" sz="1420" dirty="0">
                  <a:solidFill>
                    <a:schemeClr val="dk2"/>
                  </a:solidFill>
                  <a:latin typeface="+mn-lt"/>
                  <a:ea typeface="+mn-ea"/>
                  <a:cs typeface="+mn-cs"/>
                </a:rPr>
                <a:t>far too expensive for full joint</a:t>
              </a:r>
            </a:p>
          </p:txBody>
        </p:sp>
        <p:sp>
          <p:nvSpPr>
            <p:cNvPr id="43" name="TextBox 43"/>
            <p:cNvSpPr txBox="1"/>
            <p:nvPr/>
          </p:nvSpPr>
          <p:spPr>
            <a:xfrm>
              <a:off x="8241411" y="3484721"/>
              <a:ext cx="2222381" cy="278702"/>
            </a:xfrm>
            <a:prstGeom prst="rect">
              <a:avLst/>
            </a:prstGeom>
            <a:noFill/>
            <a:ln>
              <a:noFill/>
            </a:ln>
          </p:spPr>
          <p:txBody>
            <a:bodyPr wrap="none" lIns="0" tIns="0" rIns="0" bIns="0" anchor="t" anchorCtr="0">
              <a:spAutoFit/>
            </a:bodyPr>
            <a:lstStyle/>
            <a:p>
              <a:pPr algn="l"/>
              <a:r>
                <a:rPr lang="en-US" sz="1420" dirty="0">
                  <a:solidFill>
                    <a:schemeClr val="dk2"/>
                  </a:solidFill>
                  <a:latin typeface="+mn-lt"/>
                  <a:ea typeface="+mn-ea"/>
                  <a:cs typeface="+mn-cs"/>
                </a:rPr>
                <a:t>parameter exploration.</a:t>
              </a:r>
            </a:p>
          </p:txBody>
        </p:sp>
      </p:grpSp>
      <p:grpSp>
        <p:nvGrpSpPr>
          <p:cNvPr id="51" name="Group 51"/>
          <p:cNvGrpSpPr/>
          <p:nvPr/>
        </p:nvGrpSpPr>
        <p:grpSpPr>
          <a:xfrm>
            <a:off x="762000" y="4191000"/>
            <a:ext cx="10668000" cy="1638300"/>
            <a:chOff x="762000" y="4191000"/>
            <a:chExt cx="10668000" cy="1638300"/>
          </a:xfrm>
        </p:grpSpPr>
        <p:sp>
          <p:nvSpPr>
            <p:cNvPr id="45" name="Rectangle 45"/>
            <p:cNvSpPr/>
            <p:nvPr/>
          </p:nvSpPr>
          <p:spPr>
            <a:xfrm>
              <a:off x="762000" y="4191000"/>
              <a:ext cx="10668000" cy="1638300"/>
            </a:xfrm>
            <a:prstGeom prst="roundRect">
              <a:avLst>
                <a:gd name="adj" fmla="val 9302"/>
              </a:avLst>
            </a:prstGeom>
            <a:gradFill>
              <a:gsLst>
                <a:gs pos="0">
                  <a:srgbClr val="3A1E12"/>
                </a:gs>
                <a:gs pos="100000">
                  <a:srgbClr val="2A1810"/>
                </a:gs>
              </a:gsLst>
              <a:lin ang="0" scaled="1"/>
            </a:gradFill>
            <a:ln w="14288">
              <a:solidFill>
                <a:schemeClr val="accent1"/>
              </a:solidFill>
            </a:ln>
            <a:effectLst>
              <a:outerShdw blurRad="190500" dist="57150" dir="5400000" algn="ctr" rotWithShape="0">
                <a:srgbClr val="000000">
                  <a:alpha val="26250"/>
                </a:srgbClr>
              </a:outerShdw>
            </a:effectLst>
          </p:spPr>
        </p:sp>
        <p:sp>
          <p:nvSpPr>
            <p:cNvPr id="46" name="Rectangle 46"/>
            <p:cNvSpPr/>
            <p:nvPr/>
          </p:nvSpPr>
          <p:spPr>
            <a:xfrm>
              <a:off x="762000" y="4191000"/>
              <a:ext cx="57150" cy="1638300"/>
            </a:xfrm>
            <a:prstGeom prst="roundRect">
              <a:avLst>
                <a:gd name="adj" fmla="val 50000"/>
              </a:avLst>
            </a:prstGeom>
            <a:solidFill>
              <a:schemeClr val="accent1"/>
            </a:solidFill>
            <a:ln>
              <a:noFill/>
            </a:ln>
          </p:spPr>
        </p:sp>
        <p:sp>
          <p:nvSpPr>
            <p:cNvPr id="47" name="TextBox 47"/>
            <p:cNvSpPr txBox="1"/>
            <p:nvPr/>
          </p:nvSpPr>
          <p:spPr>
            <a:xfrm>
              <a:off x="1118235" y="4507706"/>
              <a:ext cx="1111343" cy="220028"/>
            </a:xfrm>
            <a:prstGeom prst="rect">
              <a:avLst/>
            </a:prstGeom>
            <a:noFill/>
            <a:ln>
              <a:noFill/>
            </a:ln>
          </p:spPr>
          <p:txBody>
            <a:bodyPr wrap="none" lIns="0" tIns="0" rIns="0" bIns="0" anchor="t" anchorCtr="0">
              <a:spAutoFit/>
            </a:bodyPr>
            <a:lstStyle/>
            <a:p>
              <a:pPr algn="l"/>
              <a:r>
                <a:rPr lang="en-US" sz="1120" b="1" spc="150" dirty="0">
                  <a:solidFill>
                    <a:schemeClr val="accent2"/>
                  </a:solidFill>
                  <a:latin typeface="+mn-lt"/>
                  <a:ea typeface="+mn-ea"/>
                  <a:cs typeface="+mn-cs"/>
                </a:rPr>
                <a:t>KEY INSIGHT</a:t>
              </a:r>
            </a:p>
          </p:txBody>
        </p:sp>
        <p:sp>
          <p:nvSpPr>
            <p:cNvPr id="48" name="TextBox 48"/>
            <p:cNvSpPr txBox="1"/>
            <p:nvPr/>
          </p:nvSpPr>
          <p:spPr>
            <a:xfrm>
              <a:off x="1112520" y="4786312"/>
              <a:ext cx="8002867"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Emulate JAM's slow physics with a neural network.</a:t>
              </a:r>
            </a:p>
          </p:txBody>
        </p:sp>
        <p:sp>
          <p:nvSpPr>
            <p:cNvPr id="49" name="TextBox 49"/>
            <p:cNvSpPr txBox="1"/>
            <p:nvPr/>
          </p:nvSpPr>
          <p:spPr>
            <a:xfrm>
              <a:off x="1116330" y="5229225"/>
              <a:ext cx="9199705" cy="293370"/>
            </a:xfrm>
            <a:prstGeom prst="rect">
              <a:avLst/>
            </a:prstGeom>
            <a:noFill/>
            <a:ln>
              <a:noFill/>
            </a:ln>
          </p:spPr>
          <p:txBody>
            <a:bodyPr wrap="none" lIns="0" tIns="0" rIns="0" bIns="0" anchor="t" anchorCtr="0">
              <a:spAutoFit/>
            </a:bodyPr>
            <a:lstStyle/>
            <a:p>
              <a:pPr algn="l"/>
              <a:r>
                <a:rPr lang="en-US" sz="1500" dirty="0">
                  <a:solidFill>
                    <a:srgbClr val="C9D6E8"/>
                  </a:solidFill>
                  <a:latin typeface="+mn-lt"/>
                  <a:ea typeface="+mn-ea"/>
                  <a:cs typeface="+mn-cs"/>
                </a:rPr>
                <a:t>Keep the physics of the overall model intact — just remove the computational bottleneck that</a:t>
              </a:r>
            </a:p>
          </p:txBody>
        </p:sp>
        <p:sp>
          <p:nvSpPr>
            <p:cNvPr id="50" name="TextBox 50"/>
            <p:cNvSpPr txBox="1"/>
            <p:nvPr/>
          </p:nvSpPr>
          <p:spPr>
            <a:xfrm>
              <a:off x="1116330" y="5476875"/>
              <a:ext cx="5699570" cy="293370"/>
            </a:xfrm>
            <a:prstGeom prst="rect">
              <a:avLst/>
            </a:prstGeom>
            <a:noFill/>
            <a:ln>
              <a:noFill/>
            </a:ln>
          </p:spPr>
          <p:txBody>
            <a:bodyPr wrap="none" lIns="0" tIns="0" rIns="0" bIns="0" anchor="t" anchorCtr="0">
              <a:spAutoFit/>
            </a:bodyPr>
            <a:lstStyle/>
            <a:p>
              <a:pPr algn="l"/>
              <a:r>
                <a:rPr lang="en-US" sz="1500" dirty="0">
                  <a:solidFill>
                    <a:srgbClr val="C9D6E8"/>
                  </a:solidFill>
                  <a:latin typeface="+mn-lt"/>
                  <a:ea typeface="+mn-ea"/>
                  <a:cs typeface="+mn-cs"/>
                </a:rPr>
                <a:t>makes joint lensing-plus-kinematics modeling impractical.</a:t>
              </a:r>
            </a:p>
          </p:txBody>
        </p:sp>
      </p:grpSp>
      <p:grpSp>
        <p:nvGrpSpPr>
          <p:cNvPr id="55" name="Group 55"/>
          <p:cNvGrpSpPr/>
          <p:nvPr/>
        </p:nvGrpSpPr>
        <p:grpSpPr>
          <a:xfrm>
            <a:off x="756666" y="6477000"/>
            <a:ext cx="10678668" cy="301561"/>
            <a:chOff x="756666" y="6477000"/>
            <a:chExt cx="10678668" cy="301561"/>
          </a:xfrm>
        </p:grpSpPr>
        <p:sp>
          <p:nvSpPr>
            <p:cNvPr id="52" name="Line 52"/>
            <p:cNvSpPr/>
            <p:nvPr/>
          </p:nvSpPr>
          <p:spPr>
            <a:xfrm>
              <a:off x="762000" y="6477000"/>
              <a:ext cx="10668000" cy="9525"/>
            </a:xfrm>
            <a:custGeom>
              <a:avLst/>
              <a:gdLst/>
              <a:ahLst/>
              <a:cxnLst/>
              <a:rect l="l" t="t" r="r" b="b"/>
              <a:pathLst>
                <a:path w="10668000" h="9525">
                  <a:moveTo>
                    <a:pt x="0" y="0"/>
                  </a:moveTo>
                  <a:lnTo>
                    <a:pt x="10668000" y="0"/>
                  </a:lnTo>
                </a:path>
              </a:pathLst>
            </a:custGeom>
            <a:noFill/>
            <a:ln w="9525">
              <a:solidFill>
                <a:schemeClr val="accent4"/>
              </a:solidFill>
            </a:ln>
          </p:spPr>
        </p:sp>
        <p:sp>
          <p:nvSpPr>
            <p:cNvPr id="53" name="TextBox 53"/>
            <p:cNvSpPr txBox="1"/>
            <p:nvPr/>
          </p:nvSpPr>
          <p:spPr>
            <a:xfrm>
              <a:off x="756666" y="6573202"/>
              <a:ext cx="2902900" cy="205359"/>
            </a:xfrm>
            <a:prstGeom prst="rect">
              <a:avLst/>
            </a:prstGeom>
            <a:noFill/>
            <a:ln>
              <a:noFill/>
            </a:ln>
          </p:spPr>
          <p:txBody>
            <a:bodyPr wrap="none" lIns="0" tIns="0" rIns="0" bIns="0" anchor="t" anchorCtr="0">
              <a:spAutoFit/>
            </a:bodyPr>
            <a:lstStyle/>
            <a:p>
              <a:pPr algn="l"/>
              <a:r>
                <a:rPr lang="en-US" sz="1050" dirty="0">
                  <a:solidFill>
                    <a:srgbClr val="6B7E9C"/>
                  </a:solidFill>
                  <a:latin typeface="+mn-lt"/>
                  <a:ea typeface="+mn-ea"/>
                  <a:cs typeface="+mn-cs"/>
                </a:rPr>
                <a:t>SKiNN · Stellar Kinematics Neural Network</a:t>
              </a:r>
            </a:p>
          </p:txBody>
        </p:sp>
        <p:sp>
          <p:nvSpPr>
            <p:cNvPr id="54" name="TextBox 54"/>
            <p:cNvSpPr txBox="1"/>
            <p:nvPr/>
          </p:nvSpPr>
          <p:spPr>
            <a:xfrm>
              <a:off x="10951140" y="6573202"/>
              <a:ext cx="484194" cy="205359"/>
            </a:xfrm>
            <a:prstGeom prst="rect">
              <a:avLst/>
            </a:prstGeom>
            <a:noFill/>
            <a:ln>
              <a:noFill/>
            </a:ln>
          </p:spPr>
          <p:txBody>
            <a:bodyPr wrap="none" lIns="0" tIns="0" rIns="0" bIns="0" anchor="t" anchorCtr="0">
              <a:spAutoFit/>
            </a:bodyPr>
            <a:lstStyle/>
            <a:p>
              <a:pPr algn="r"/>
              <a:r>
                <a:rPr lang="en-US" sz="1050" dirty="0">
                  <a:solidFill>
                    <a:srgbClr val="6B7E9C"/>
                  </a:solidFill>
                  <a:latin typeface="+mn-lt"/>
                  <a:ea typeface="+mn-ea"/>
                  <a:cs typeface="+mn-cs"/>
                </a:rPr>
                <a:t>03 / 10</a:t>
              </a:r>
            </a:p>
          </p:txBody>
        </p:sp>
      </p:grpSp>
      <p:sp>
        <p:nvSpPr>
          <p:cNvPr id="56" name="cue_s03_c1_recently_spatially_resolved_kinemati" title="cue_s03_c1_recently_spatially_resolved_kinemati" descr="cue_s03_c1_recently_spatially_resolved_kinemati Recently, spatially resolved kinematics of lensing galaxies became available through instruments like the James Webb Space Telescope."/>
          <p:cNvSpPr/>
          <p:nvPr/>
        </p:nvSpPr>
        <p:spPr>
          <a:xfrm>
            <a:off x="762000" y="1714500"/>
            <a:ext cx="3400348" cy="226725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cue_s03_c2_traditional_spherical_jeans_models_t" title="cue_s03_c2_traditional_spherical_jeans_models_t" descr="cue_s03_c2_traditional_spherical_jeans_models_t Traditional spherical Jeans models are too simplistic for this richer data, and they lack self-consistency with the elliptical mass models used in lensing."/>
          <p:cNvSpPr/>
          <p:nvPr/>
        </p:nvSpPr>
        <p:spPr>
          <a:xfrm>
            <a:off x="4391558" y="1714500"/>
            <a:ext cx="3400348" cy="226725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cue_s03_c3_natural_next_step_axisymmetric_model" title="cue_s03_c3_natural_next_step_axisymmetric_model" descr="cue_s03_c3_natural_next_step_axisymmetric_model The natural next step is axisymmetric modeling with software such as JAM, but JAM is expensive. Existing frameworks that combine it with lens modeling either fit the two separately or remain far too slow for full joint parameter exploration."/>
          <p:cNvSpPr/>
          <p:nvPr/>
        </p:nvSpPr>
        <p:spPr>
          <a:xfrm>
            <a:off x="8019897" y="1714500"/>
            <a:ext cx="3410102" cy="226725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cue_s03_c4_key_insight_work_jam_slow" title="cue_s03_c4_key_insight_work_jam_slow" descr="cue_s03_c4_key_insight_work_jam_slow The key insight of this work is that JAM's slow physics can be emulated by a neural network, keeping the physics of the overall model while removing the computational bottleneck."/>
          <p:cNvSpPr/>
          <p:nvPr/>
        </p:nvSpPr>
        <p:spPr>
          <a:xfrm>
            <a:off x="762000" y="4190923"/>
            <a:ext cx="10668000" cy="163837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chemeClr val="lt1"/>
            </a:gs>
            <a:gs pos="100000">
              <a:schemeClr val="accent5"/>
            </a:gs>
          </a:gsLst>
          <a:lin ang="4242597" scaled="1"/>
        </a:gradFill>
        <a:effectLst/>
      </p:bgPr>
    </p:bg>
    <p:spTree>
      <p:nvGrpSpPr>
        <p:cNvPr id="1" name=""/>
        <p:cNvGrpSpPr/>
        <p:nvPr/>
      </p:nvGrpSpPr>
      <p:grpSpPr>
        <a:xfrm>
          <a:off x="0" y="0"/>
          <a:ext cx="0" cy="0"/>
          <a:chOff x="0" y="0"/>
          <a:chExt cx="0" cy="0"/>
        </a:xfrm>
      </p:grpSpPr>
      <p:grpSp>
        <p:nvGrpSpPr>
          <p:cNvPr id="5" name="Group 5"/>
          <p:cNvGrpSpPr/>
          <p:nvPr/>
        </p:nvGrpSpPr>
        <p:grpSpPr>
          <a:xfrm>
            <a:off x="10096500" y="-1047750"/>
            <a:ext cx="2857500" cy="2857500"/>
            <a:chOff x="10096500" y="-1047750"/>
            <a:chExt cx="2857500" cy="2857500"/>
          </a:xfrm>
        </p:grpSpPr>
        <p:sp>
          <p:nvSpPr>
            <p:cNvPr id="2" name="Ellipse 2"/>
            <p:cNvSpPr/>
            <p:nvPr/>
          </p:nvSpPr>
          <p:spPr>
            <a:xfrm>
              <a:off x="10096500" y="-1047750"/>
              <a:ext cx="2857500" cy="2857500"/>
            </a:xfrm>
            <a:prstGeom prst="ellipse">
              <a:avLst/>
            </a:prstGeom>
            <a:noFill/>
            <a:ln w="14288">
              <a:solidFill>
                <a:srgbClr val="213556">
                  <a:alpha val="60000"/>
                </a:srgbClr>
              </a:solidFill>
            </a:ln>
          </p:spPr>
        </p:sp>
        <p:sp>
          <p:nvSpPr>
            <p:cNvPr id="3" name="Ellipse 3"/>
            <p:cNvSpPr/>
            <p:nvPr/>
          </p:nvSpPr>
          <p:spPr>
            <a:xfrm>
              <a:off x="10620375" y="-523875"/>
              <a:ext cx="1809750" cy="1809750"/>
            </a:xfrm>
            <a:prstGeom prst="ellipse">
              <a:avLst/>
            </a:prstGeom>
            <a:noFill/>
            <a:ln w="14288">
              <a:solidFill>
                <a:srgbClr val="213556">
                  <a:alpha val="45000"/>
                </a:srgbClr>
              </a:solidFill>
            </a:ln>
          </p:spPr>
        </p:sp>
        <p:sp>
          <p:nvSpPr>
            <p:cNvPr id="4" name="Ellipse 4"/>
            <p:cNvSpPr/>
            <p:nvPr/>
          </p:nvSpPr>
          <p:spPr>
            <a:xfrm>
              <a:off x="10582275" y="342900"/>
              <a:ext cx="76200" cy="76200"/>
            </a:xfrm>
            <a:prstGeom prst="ellipse">
              <a:avLst/>
            </a:prstGeom>
            <a:solidFill>
              <a:schemeClr val="accent3"/>
            </a:solidFill>
            <a:ln>
              <a:noFill/>
            </a:ln>
          </p:spPr>
        </p:sp>
      </p:grpSp>
      <p:grpSp>
        <p:nvGrpSpPr>
          <p:cNvPr id="11" name="Group 11"/>
          <p:cNvGrpSpPr/>
          <p:nvPr/>
        </p:nvGrpSpPr>
        <p:grpSpPr>
          <a:xfrm>
            <a:off x="762000" y="514350"/>
            <a:ext cx="8379271" cy="834390"/>
            <a:chOff x="762000" y="514350"/>
            <a:chExt cx="8379271" cy="834390"/>
          </a:xfrm>
        </p:grpSpPr>
        <p:sp>
          <p:nvSpPr>
            <p:cNvPr id="6" name="Rectangle 6"/>
            <p:cNvSpPr/>
            <p:nvPr/>
          </p:nvSpPr>
          <p:spPr>
            <a:xfrm>
              <a:off x="762000" y="514350"/>
              <a:ext cx="438150" cy="438150"/>
            </a:xfrm>
            <a:prstGeom prst="roundRect">
              <a:avLst>
                <a:gd name="adj" fmla="val 26087"/>
              </a:avLst>
            </a:prstGeom>
            <a:gradFill>
              <a:gsLst>
                <a:gs pos="0">
                  <a:srgbClr val="1B2C48"/>
                </a:gs>
                <a:gs pos="100000">
                  <a:srgbClr val="14223A"/>
                </a:gs>
              </a:gsLst>
              <a:lin ang="5400000" scaled="1"/>
            </a:gradFill>
            <a:ln w="9525">
              <a:solidFill>
                <a:schemeClr val="accent4"/>
              </a:solidFill>
            </a:ln>
          </p:spPr>
        </p:sp>
        <p:sp>
          <p:nvSpPr>
            <p:cNvPr id="7" name="TextBox 7"/>
            <p:cNvSpPr txBox="1"/>
            <p:nvPr/>
          </p:nvSpPr>
          <p:spPr>
            <a:xfrm>
              <a:off x="844417" y="641032"/>
              <a:ext cx="273316" cy="322707"/>
            </a:xfrm>
            <a:prstGeom prst="rect">
              <a:avLst/>
            </a:prstGeom>
            <a:noFill/>
            <a:ln>
              <a:noFill/>
            </a:ln>
          </p:spPr>
          <p:txBody>
            <a:bodyPr wrap="none" lIns="0" tIns="0" rIns="0" bIns="0" anchor="t" anchorCtr="0">
              <a:spAutoFit/>
            </a:bodyPr>
            <a:lstStyle/>
            <a:p>
              <a:pPr algn="ctr"/>
              <a:r>
                <a:rPr lang="en-US" sz="1650" b="1" dirty="0">
                  <a:solidFill>
                    <a:schemeClr val="accent1"/>
                  </a:solidFill>
                  <a:latin typeface="+mn-lt"/>
                  <a:ea typeface="+mn-ea"/>
                  <a:cs typeface="+mn-cs"/>
                </a:rPr>
                <a:t>04</a:t>
              </a:r>
            </a:p>
          </p:txBody>
        </p:sp>
        <p:sp>
          <p:nvSpPr>
            <p:cNvPr id="8" name="TextBox 8"/>
            <p:cNvSpPr txBox="1"/>
            <p:nvPr/>
          </p:nvSpPr>
          <p:spPr>
            <a:xfrm>
              <a:off x="1346073" y="548164"/>
              <a:ext cx="1607607" cy="249364"/>
            </a:xfrm>
            <a:prstGeom prst="rect">
              <a:avLst/>
            </a:prstGeom>
            <a:noFill/>
            <a:ln>
              <a:noFill/>
            </a:ln>
          </p:spPr>
          <p:txBody>
            <a:bodyPr wrap="none" lIns="0" tIns="0" rIns="0" bIns="0" anchor="t" anchorCtr="0">
              <a:spAutoFit/>
            </a:bodyPr>
            <a:lstStyle/>
            <a:p>
              <a:pPr algn="l"/>
              <a:r>
                <a:rPr lang="en-US" sz="1280" b="1" spc="225" dirty="0">
                  <a:solidFill>
                    <a:schemeClr val="dk2"/>
                  </a:solidFill>
                  <a:latin typeface="+mn-lt"/>
                  <a:ea typeface="+mn-ea"/>
                  <a:cs typeface="+mn-cs"/>
                </a:rPr>
                <a:t>CONTRIBUTION</a:t>
              </a:r>
            </a:p>
          </p:txBody>
        </p:sp>
        <p:sp>
          <p:nvSpPr>
            <p:cNvPr id="9" name="TextBox 9"/>
            <p:cNvSpPr txBox="1"/>
            <p:nvPr/>
          </p:nvSpPr>
          <p:spPr>
            <a:xfrm>
              <a:off x="1337310" y="762000"/>
              <a:ext cx="7803961" cy="586740"/>
            </a:xfrm>
            <a:prstGeom prst="rect">
              <a:avLst/>
            </a:prstGeom>
            <a:noFill/>
            <a:ln>
              <a:noFill/>
            </a:ln>
          </p:spPr>
          <p:txBody>
            <a:bodyPr wrap="none" lIns="0" tIns="0" rIns="0" bIns="0" anchor="t" anchorCtr="0">
              <a:spAutoFit/>
            </a:bodyPr>
            <a:lstStyle/>
            <a:p>
              <a:pPr algn="l"/>
              <a:r>
                <a:rPr lang="en-US" sz="3000" b="1" dirty="0">
                  <a:solidFill>
                    <a:schemeClr val="dk1"/>
                  </a:solidFill>
                  <a:latin typeface="+mn-lt"/>
                  <a:ea typeface="+mn-ea"/>
                  <a:cs typeface="+mn-cs"/>
                </a:rPr>
                <a:t>A neural emulator inside lens modeling</a:t>
              </a:r>
            </a:p>
          </p:txBody>
        </p:sp>
        <p:sp>
          <p:nvSpPr>
            <p:cNvPr id="10" name="Rectangle 10"/>
            <p:cNvSpPr/>
            <p:nvPr/>
          </p:nvSpPr>
          <p:spPr>
            <a:xfrm>
              <a:off x="1352550" y="1219200"/>
              <a:ext cx="609600" cy="38100"/>
            </a:xfrm>
            <a:prstGeom prst="roundRect">
              <a:avLst>
                <a:gd name="adj" fmla="val 50000"/>
              </a:avLst>
            </a:prstGeom>
            <a:gradFill>
              <a:gsLst>
                <a:gs pos="0">
                  <a:schemeClr val="accent1"/>
                </a:gs>
                <a:gs pos="100000">
                  <a:schemeClr val="accent2"/>
                </a:gs>
              </a:gsLst>
              <a:lin ang="0" scaled="1"/>
            </a:gradFill>
            <a:ln>
              <a:noFill/>
            </a:ln>
          </p:spPr>
        </p:sp>
      </p:grpSp>
      <p:grpSp>
        <p:nvGrpSpPr>
          <p:cNvPr id="17" name="Group 17"/>
          <p:cNvGrpSpPr/>
          <p:nvPr/>
        </p:nvGrpSpPr>
        <p:grpSpPr>
          <a:xfrm>
            <a:off x="762000" y="1676400"/>
            <a:ext cx="4667250" cy="1143000"/>
            <a:chOff x="762000" y="1676400"/>
            <a:chExt cx="4667250" cy="1143000"/>
          </a:xfrm>
        </p:grpSpPr>
        <p:sp>
          <p:nvSpPr>
            <p:cNvPr id="12" name="Rectangle 12"/>
            <p:cNvSpPr/>
            <p:nvPr/>
          </p:nvSpPr>
          <p:spPr>
            <a:xfrm>
              <a:off x="762000" y="1676400"/>
              <a:ext cx="4667250" cy="1143000"/>
            </a:xfrm>
            <a:prstGeom prst="roundRect">
              <a:avLst>
                <a:gd name="adj" fmla="val 11667"/>
              </a:avLst>
            </a:prstGeom>
            <a:gradFill>
              <a:gsLst>
                <a:gs pos="0">
                  <a:srgbClr val="1B2C48"/>
                </a:gs>
                <a:gs pos="100000">
                  <a:srgbClr val="14223A"/>
                </a:gs>
              </a:gsLst>
              <a:lin ang="5400000" scaled="1"/>
            </a:gradFill>
            <a:ln w="9525">
              <a:solidFill>
                <a:schemeClr val="accent4"/>
              </a:solidFill>
            </a:ln>
          </p:spPr>
        </p:sp>
        <p:sp>
          <p:nvSpPr>
            <p:cNvPr id="13" name="Rectangle 13"/>
            <p:cNvSpPr/>
            <p:nvPr/>
          </p:nvSpPr>
          <p:spPr>
            <a:xfrm>
              <a:off x="762000" y="1676400"/>
              <a:ext cx="57150" cy="1143000"/>
            </a:xfrm>
            <a:prstGeom prst="roundRect">
              <a:avLst>
                <a:gd name="adj" fmla="val 50000"/>
              </a:avLst>
            </a:prstGeom>
            <a:solidFill>
              <a:schemeClr val="accent1"/>
            </a:solidFill>
            <a:ln>
              <a:noFill/>
            </a:ln>
          </p:spPr>
        </p:sp>
        <p:sp>
          <p:nvSpPr>
            <p:cNvPr id="14" name="TextBox 14"/>
            <p:cNvSpPr txBox="1"/>
            <p:nvPr/>
          </p:nvSpPr>
          <p:spPr>
            <a:xfrm>
              <a:off x="1038606" y="1824990"/>
              <a:ext cx="1675499"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What SKiNN is</a:t>
              </a:r>
            </a:p>
          </p:txBody>
        </p:sp>
        <p:sp>
          <p:nvSpPr>
            <p:cNvPr id="15" name="TextBox 15"/>
            <p:cNvSpPr txBox="1"/>
            <p:nvPr/>
          </p:nvSpPr>
          <p:spPr>
            <a:xfrm>
              <a:off x="1040511" y="2189321"/>
              <a:ext cx="3908061" cy="278702"/>
            </a:xfrm>
            <a:prstGeom prst="rect">
              <a:avLst/>
            </a:prstGeom>
            <a:noFill/>
            <a:ln>
              <a:noFill/>
            </a:ln>
          </p:spPr>
          <p:txBody>
            <a:bodyPr wrap="none" lIns="0" tIns="0" rIns="0" bIns="0" anchor="t" anchorCtr="0">
              <a:spAutoFit/>
            </a:bodyPr>
            <a:lstStyle/>
            <a:p>
              <a:pPr algn="l"/>
              <a:r>
                <a:rPr lang="en-US" sz="1420" dirty="0">
                  <a:solidFill>
                    <a:schemeClr val="dk2"/>
                  </a:solidFill>
                  <a:latin typeface="+mn-lt"/>
                  <a:ea typeface="+mn-ea"/>
                  <a:cs typeface="+mn-cs"/>
                </a:rPr>
                <a:t>The Stellar Kinematics Neural Network — a</a:t>
              </a:r>
            </a:p>
          </p:txBody>
        </p:sp>
        <p:sp>
          <p:nvSpPr>
            <p:cNvPr id="16" name="TextBox 16"/>
            <p:cNvSpPr txBox="1"/>
            <p:nvPr/>
          </p:nvSpPr>
          <p:spPr>
            <a:xfrm>
              <a:off x="1040511" y="2436971"/>
              <a:ext cx="3837569" cy="278702"/>
            </a:xfrm>
            <a:prstGeom prst="rect">
              <a:avLst/>
            </a:prstGeom>
            <a:noFill/>
            <a:ln>
              <a:noFill/>
            </a:ln>
          </p:spPr>
          <p:txBody>
            <a:bodyPr wrap="none" lIns="0" tIns="0" rIns="0" bIns="0" anchor="t" anchorCtr="0">
              <a:spAutoFit/>
            </a:bodyPr>
            <a:lstStyle/>
            <a:p>
              <a:pPr algn="l"/>
              <a:r>
                <a:rPr lang="en-US" sz="1420" dirty="0">
                  <a:solidFill>
                    <a:schemeClr val="dk2"/>
                  </a:solidFill>
                  <a:latin typeface="+mn-lt"/>
                  <a:ea typeface="+mn-ea"/>
                  <a:cs typeface="+mn-cs"/>
                </a:rPr>
                <a:t>learned emulator of the JAM calculation.</a:t>
              </a:r>
            </a:p>
          </p:txBody>
        </p:sp>
      </p:grpSp>
      <p:grpSp>
        <p:nvGrpSpPr>
          <p:cNvPr id="23" name="Group 23"/>
          <p:cNvGrpSpPr/>
          <p:nvPr/>
        </p:nvGrpSpPr>
        <p:grpSpPr>
          <a:xfrm>
            <a:off x="762000" y="2933700"/>
            <a:ext cx="4756584" cy="1143000"/>
            <a:chOff x="762000" y="2933700"/>
            <a:chExt cx="4756584" cy="1143000"/>
          </a:xfrm>
        </p:grpSpPr>
        <p:sp>
          <p:nvSpPr>
            <p:cNvPr id="18" name="Rectangle 18"/>
            <p:cNvSpPr/>
            <p:nvPr/>
          </p:nvSpPr>
          <p:spPr>
            <a:xfrm>
              <a:off x="762000" y="2933700"/>
              <a:ext cx="4667250" cy="1143000"/>
            </a:xfrm>
            <a:prstGeom prst="roundRect">
              <a:avLst>
                <a:gd name="adj" fmla="val 11667"/>
              </a:avLst>
            </a:prstGeom>
            <a:gradFill>
              <a:gsLst>
                <a:gs pos="0">
                  <a:srgbClr val="1B2C48"/>
                </a:gs>
                <a:gs pos="100000">
                  <a:srgbClr val="14223A"/>
                </a:gs>
              </a:gsLst>
              <a:lin ang="5400000" scaled="1"/>
            </a:gradFill>
            <a:ln w="9525">
              <a:solidFill>
                <a:schemeClr val="accent4"/>
              </a:solidFill>
            </a:ln>
          </p:spPr>
        </p:sp>
        <p:sp>
          <p:nvSpPr>
            <p:cNvPr id="19" name="Rectangle 19"/>
            <p:cNvSpPr/>
            <p:nvPr/>
          </p:nvSpPr>
          <p:spPr>
            <a:xfrm>
              <a:off x="762000" y="2933700"/>
              <a:ext cx="57150" cy="1143000"/>
            </a:xfrm>
            <a:prstGeom prst="roundRect">
              <a:avLst>
                <a:gd name="adj" fmla="val 50000"/>
              </a:avLst>
            </a:prstGeom>
            <a:solidFill>
              <a:schemeClr val="accent3"/>
            </a:solidFill>
            <a:ln>
              <a:noFill/>
            </a:ln>
          </p:spPr>
        </p:sp>
        <p:sp>
          <p:nvSpPr>
            <p:cNvPr id="20" name="TextBox 20"/>
            <p:cNvSpPr txBox="1"/>
            <p:nvPr/>
          </p:nvSpPr>
          <p:spPr>
            <a:xfrm>
              <a:off x="1038606" y="3082290"/>
              <a:ext cx="878676"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A first</a:t>
              </a:r>
            </a:p>
          </p:txBody>
        </p:sp>
        <p:sp>
          <p:nvSpPr>
            <p:cNvPr id="21" name="TextBox 21"/>
            <p:cNvSpPr txBox="1"/>
            <p:nvPr/>
          </p:nvSpPr>
          <p:spPr>
            <a:xfrm>
              <a:off x="1040511" y="3446621"/>
              <a:ext cx="3703089" cy="278702"/>
            </a:xfrm>
            <a:prstGeom prst="rect">
              <a:avLst/>
            </a:prstGeom>
            <a:noFill/>
            <a:ln>
              <a:noFill/>
            </a:ln>
          </p:spPr>
          <p:txBody>
            <a:bodyPr wrap="none" lIns="0" tIns="0" rIns="0" bIns="0" anchor="t" anchorCtr="0">
              <a:spAutoFit/>
            </a:bodyPr>
            <a:lstStyle/>
            <a:p>
              <a:pPr algn="l"/>
              <a:r>
                <a:rPr lang="en-US" sz="1420" dirty="0">
                  <a:solidFill>
                    <a:schemeClr val="dk2"/>
                  </a:solidFill>
                  <a:latin typeface="+mn-lt"/>
                  <a:ea typeface="+mn-ea"/>
                  <a:cs typeface="+mn-cs"/>
                </a:rPr>
                <a:t>First application of NN emulation to the</a:t>
              </a:r>
            </a:p>
          </p:txBody>
        </p:sp>
        <p:sp>
          <p:nvSpPr>
            <p:cNvPr id="22" name="TextBox 22"/>
            <p:cNvSpPr txBox="1"/>
            <p:nvPr/>
          </p:nvSpPr>
          <p:spPr>
            <a:xfrm>
              <a:off x="1040511" y="3694271"/>
              <a:ext cx="4478073" cy="278702"/>
            </a:xfrm>
            <a:prstGeom prst="rect">
              <a:avLst/>
            </a:prstGeom>
            <a:noFill/>
            <a:ln>
              <a:noFill/>
            </a:ln>
          </p:spPr>
          <p:txBody>
            <a:bodyPr wrap="none" lIns="0" tIns="0" rIns="0" bIns="0" anchor="t" anchorCtr="0">
              <a:spAutoFit/>
            </a:bodyPr>
            <a:lstStyle/>
            <a:p>
              <a:pPr algn="l"/>
              <a:r>
                <a:rPr lang="en-US" sz="1420" dirty="0">
                  <a:solidFill>
                    <a:schemeClr val="dk2"/>
                  </a:solidFill>
                  <a:latin typeface="+mn-lt"/>
                  <a:ea typeface="+mn-ea"/>
                  <a:cs typeface="+mn-cs"/>
                </a:rPr>
                <a:t>kinematics piece of a lens-modeling framework.</a:t>
              </a:r>
            </a:p>
          </p:txBody>
        </p:sp>
      </p:grpSp>
      <p:grpSp>
        <p:nvGrpSpPr>
          <p:cNvPr id="29" name="Group 29"/>
          <p:cNvGrpSpPr/>
          <p:nvPr/>
        </p:nvGrpSpPr>
        <p:grpSpPr>
          <a:xfrm>
            <a:off x="762000" y="4191000"/>
            <a:ext cx="5167579" cy="1143000"/>
            <a:chOff x="762000" y="4191000"/>
            <a:chExt cx="5167579" cy="1143000"/>
          </a:xfrm>
        </p:grpSpPr>
        <p:sp>
          <p:nvSpPr>
            <p:cNvPr id="24" name="Rectangle 24"/>
            <p:cNvSpPr/>
            <p:nvPr/>
          </p:nvSpPr>
          <p:spPr>
            <a:xfrm>
              <a:off x="762000" y="4191000"/>
              <a:ext cx="4667250" cy="1143000"/>
            </a:xfrm>
            <a:prstGeom prst="roundRect">
              <a:avLst>
                <a:gd name="adj" fmla="val 11667"/>
              </a:avLst>
            </a:prstGeom>
            <a:gradFill>
              <a:gsLst>
                <a:gs pos="0">
                  <a:srgbClr val="1B2C48"/>
                </a:gs>
                <a:gs pos="100000">
                  <a:srgbClr val="14223A"/>
                </a:gs>
              </a:gsLst>
              <a:lin ang="5400000" scaled="1"/>
            </a:gradFill>
            <a:ln w="9525">
              <a:solidFill>
                <a:schemeClr val="accent4"/>
              </a:solidFill>
            </a:ln>
          </p:spPr>
        </p:sp>
        <p:sp>
          <p:nvSpPr>
            <p:cNvPr id="25" name="Rectangle 25"/>
            <p:cNvSpPr/>
            <p:nvPr/>
          </p:nvSpPr>
          <p:spPr>
            <a:xfrm>
              <a:off x="762000" y="4191000"/>
              <a:ext cx="57150" cy="1143000"/>
            </a:xfrm>
            <a:prstGeom prst="roundRect">
              <a:avLst>
                <a:gd name="adj" fmla="val 50000"/>
              </a:avLst>
            </a:prstGeom>
            <a:solidFill>
              <a:schemeClr val="accent3"/>
            </a:solidFill>
            <a:ln>
              <a:noFill/>
            </a:ln>
          </p:spPr>
        </p:sp>
        <p:sp>
          <p:nvSpPr>
            <p:cNvPr id="26" name="TextBox 26"/>
            <p:cNvSpPr txBox="1"/>
            <p:nvPr/>
          </p:nvSpPr>
          <p:spPr>
            <a:xfrm>
              <a:off x="1038606" y="4339590"/>
              <a:ext cx="2138370"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Emulate JAM only</a:t>
              </a:r>
            </a:p>
          </p:txBody>
        </p:sp>
        <p:sp>
          <p:nvSpPr>
            <p:cNvPr id="27" name="TextBox 27"/>
            <p:cNvSpPr txBox="1"/>
            <p:nvPr/>
          </p:nvSpPr>
          <p:spPr>
            <a:xfrm>
              <a:off x="1040511" y="4703921"/>
              <a:ext cx="3472597" cy="278702"/>
            </a:xfrm>
            <a:prstGeom prst="rect">
              <a:avLst/>
            </a:prstGeom>
            <a:noFill/>
            <a:ln>
              <a:noFill/>
            </a:ln>
          </p:spPr>
          <p:txBody>
            <a:bodyPr wrap="none" lIns="0" tIns="0" rIns="0" bIns="0" anchor="t" anchorCtr="0">
              <a:spAutoFit/>
            </a:bodyPr>
            <a:lstStyle/>
            <a:p>
              <a:pPr algn="l"/>
              <a:r>
                <a:rPr lang="en-US" sz="1420" dirty="0">
                  <a:solidFill>
                    <a:schemeClr val="dk2"/>
                  </a:solidFill>
                  <a:latin typeface="+mn-lt"/>
                  <a:ea typeface="+mn-ea"/>
                  <a:cs typeface="+mn-cs"/>
                </a:rPr>
                <a:t>It emulates the JAM physics, not the</a:t>
              </a:r>
            </a:p>
          </p:txBody>
        </p:sp>
        <p:sp>
          <p:nvSpPr>
            <p:cNvPr id="28" name="TextBox 28"/>
            <p:cNvSpPr txBox="1"/>
            <p:nvPr/>
          </p:nvSpPr>
          <p:spPr>
            <a:xfrm>
              <a:off x="1040511" y="4951571"/>
              <a:ext cx="4889068" cy="278702"/>
            </a:xfrm>
            <a:prstGeom prst="rect">
              <a:avLst/>
            </a:prstGeom>
            <a:noFill/>
            <a:ln>
              <a:noFill/>
            </a:ln>
          </p:spPr>
          <p:txBody>
            <a:bodyPr wrap="none" lIns="0" tIns="0" rIns="0" bIns="0" anchor="t" anchorCtr="0">
              <a:spAutoFit/>
            </a:bodyPr>
            <a:lstStyle/>
            <a:p>
              <a:pPr algn="l"/>
              <a:r>
                <a:rPr lang="en-US" sz="1420" dirty="0">
                  <a:solidFill>
                    <a:schemeClr val="dk2"/>
                  </a:solidFill>
                  <a:latin typeface="+mn-lt"/>
                  <a:ea typeface="+mn-ea"/>
                  <a:cs typeface="+mn-cs"/>
                </a:rPr>
                <a:t>observations — so the model's physics stays intact.</a:t>
              </a:r>
            </a:p>
          </p:txBody>
        </p:sp>
      </p:grpSp>
      <p:grpSp>
        <p:nvGrpSpPr>
          <p:cNvPr id="35" name="Group 35"/>
          <p:cNvGrpSpPr/>
          <p:nvPr/>
        </p:nvGrpSpPr>
        <p:grpSpPr>
          <a:xfrm>
            <a:off x="5676900" y="1676400"/>
            <a:ext cx="5753100" cy="2946559"/>
            <a:chOff x="5676900" y="1676400"/>
            <a:chExt cx="5753100" cy="2946559"/>
          </a:xfrm>
        </p:grpSpPr>
        <p:sp>
          <p:nvSpPr>
            <p:cNvPr id="30" name="Rectangle 30"/>
            <p:cNvSpPr/>
            <p:nvPr/>
          </p:nvSpPr>
          <p:spPr>
            <a:xfrm>
              <a:off x="5676900" y="1676400"/>
              <a:ext cx="5753100" cy="2857500"/>
            </a:xfrm>
            <a:prstGeom prst="roundRect">
              <a:avLst>
                <a:gd name="adj" fmla="val 5333"/>
              </a:avLst>
            </a:prstGeom>
            <a:solidFill>
              <a:srgbClr val="0E1A2E"/>
            </a:solidFill>
            <a:ln w="9525">
              <a:solidFill>
                <a:schemeClr val="accent4"/>
              </a:solidFill>
            </a:ln>
          </p:spPr>
        </p:sp>
        <p:sp>
          <p:nvSpPr>
            <p:cNvPr id="31" name="Rectangle 31"/>
            <p:cNvSpPr/>
            <p:nvPr/>
          </p:nvSpPr>
          <p:spPr>
            <a:xfrm>
              <a:off x="5829300" y="1828800"/>
              <a:ext cx="5448300" cy="2266950"/>
            </a:xfrm>
            <a:prstGeom prst="roundRect">
              <a:avLst>
                <a:gd name="adj" fmla="val 3361"/>
              </a:avLst>
            </a:prstGeom>
            <a:solidFill>
              <a:srgbClr val="FFFFFF"/>
            </a:solidFill>
            <a:ln>
              <a:noFill/>
            </a:ln>
          </p:spPr>
        </p:sp>
        <p:pic>
          <p:nvPicPr>
            <p:cNvPr id="32" name="Image 32"/>
            <p:cNvPicPr>
              <a:picLocks noChangeAspect="1"/>
            </p:cNvPicPr>
            <p:nvPr/>
          </p:nvPicPr>
          <p:blipFill>
            <a:blip r:embed="rId2"/>
            <a:stretch>
              <a:fillRect/>
            </a:stretch>
          </p:blipFill>
          <p:spPr>
            <a:xfrm>
              <a:off x="5969830" y="1885950"/>
              <a:ext cx="5167240" cy="2152650"/>
            </a:xfrm>
            <a:prstGeom prst="rect">
              <a:avLst/>
            </a:prstGeom>
          </p:spPr>
        </p:pic>
        <p:sp>
          <p:nvSpPr>
            <p:cNvPr id="33" name="TextBox 33"/>
            <p:cNvSpPr txBox="1"/>
            <p:nvPr/>
          </p:nvSpPr>
          <p:spPr>
            <a:xfrm>
              <a:off x="5975985" y="4221956"/>
              <a:ext cx="5300534"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Figure 1 — SKiNN (orange) slots into the joint lens-modeling framework;</a:t>
              </a:r>
            </a:p>
          </p:txBody>
        </p:sp>
        <p:sp>
          <p:nvSpPr>
            <p:cNvPr id="34" name="TextBox 34"/>
            <p:cNvSpPr txBox="1"/>
            <p:nvPr/>
          </p:nvSpPr>
          <p:spPr>
            <a:xfrm>
              <a:off x="5975985" y="4402931"/>
              <a:ext cx="4549739"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the combined χ²ₜₒₜ is minimized to jointly optimize the model.</a:t>
              </a:r>
            </a:p>
          </p:txBody>
        </p:sp>
      </p:grpSp>
      <p:grpSp>
        <p:nvGrpSpPr>
          <p:cNvPr id="41" name="Group 41"/>
          <p:cNvGrpSpPr/>
          <p:nvPr/>
        </p:nvGrpSpPr>
        <p:grpSpPr>
          <a:xfrm>
            <a:off x="5676900" y="4686300"/>
            <a:ext cx="5753100" cy="1143000"/>
            <a:chOff x="5676900" y="4686300"/>
            <a:chExt cx="5753100" cy="1143000"/>
          </a:xfrm>
        </p:grpSpPr>
        <p:sp>
          <p:nvSpPr>
            <p:cNvPr id="36" name="Rectangle 36"/>
            <p:cNvSpPr/>
            <p:nvPr/>
          </p:nvSpPr>
          <p:spPr>
            <a:xfrm>
              <a:off x="5676900" y="4686300"/>
              <a:ext cx="5753100" cy="1143000"/>
            </a:xfrm>
            <a:prstGeom prst="roundRect">
              <a:avLst>
                <a:gd name="adj" fmla="val 13333"/>
              </a:avLst>
            </a:prstGeom>
            <a:gradFill>
              <a:gsLst>
                <a:gs pos="0">
                  <a:srgbClr val="3A1E12"/>
                </a:gs>
                <a:gs pos="100000">
                  <a:srgbClr val="2A1810"/>
                </a:gs>
              </a:gsLst>
              <a:lin ang="0" scaled="1"/>
            </a:gradFill>
            <a:ln w="14288">
              <a:solidFill>
                <a:schemeClr val="accent1"/>
              </a:solidFill>
            </a:ln>
            <a:effectLst>
              <a:outerShdw blurRad="190500" dist="57150" dir="5400000" algn="ctr" rotWithShape="0">
                <a:srgbClr val="000000">
                  <a:alpha val="26250"/>
                </a:srgbClr>
              </a:outerShdw>
            </a:effectLst>
          </p:spPr>
        </p:sp>
        <p:sp>
          <p:nvSpPr>
            <p:cNvPr id="37" name="TextBox 37"/>
            <p:cNvSpPr txBox="1"/>
            <p:nvPr/>
          </p:nvSpPr>
          <p:spPr>
            <a:xfrm>
              <a:off x="5963412" y="4716780"/>
              <a:ext cx="1435951" cy="704088"/>
            </a:xfrm>
            <a:prstGeom prst="rect">
              <a:avLst/>
            </a:prstGeom>
            <a:noFill/>
            <a:ln>
              <a:noFill/>
            </a:ln>
          </p:spPr>
          <p:txBody>
            <a:bodyPr wrap="none" lIns="0" tIns="0" rIns="0" bIns="0" anchor="t" anchorCtr="0">
              <a:spAutoFit/>
            </a:bodyPr>
            <a:lstStyle/>
            <a:p>
              <a:pPr algn="l"/>
              <a:r>
                <a:rPr lang="en-US" sz="3600" b="1" dirty="0">
                  <a:solidFill>
                    <a:schemeClr val="accent2"/>
                  </a:solidFill>
                  <a:latin typeface="+mn-lt"/>
                  <a:ea typeface="+mn-ea"/>
                  <a:cs typeface="+mn-cs"/>
                </a:rPr>
                <a:t>~300×</a:t>
              </a:r>
            </a:p>
          </p:txBody>
        </p:sp>
        <p:sp>
          <p:nvSpPr>
            <p:cNvPr id="38" name="TextBox 38"/>
            <p:cNvSpPr txBox="1"/>
            <p:nvPr/>
          </p:nvSpPr>
          <p:spPr>
            <a:xfrm>
              <a:off x="7535418" y="4812982"/>
              <a:ext cx="3818399" cy="322707"/>
            </a:xfrm>
            <a:prstGeom prst="rect">
              <a:avLst/>
            </a:prstGeom>
            <a:noFill/>
            <a:ln>
              <a:noFill/>
            </a:ln>
          </p:spPr>
          <p:txBody>
            <a:bodyPr wrap="none" lIns="0" tIns="0" rIns="0" bIns="0" anchor="t" anchorCtr="0">
              <a:spAutoFit/>
            </a:bodyPr>
            <a:lstStyle/>
            <a:p>
              <a:pPr algn="l"/>
              <a:r>
                <a:rPr lang="en-US" sz="1650" b="1" dirty="0">
                  <a:solidFill>
                    <a:schemeClr val="dk1"/>
                  </a:solidFill>
                  <a:latin typeface="+mn-lt"/>
                  <a:ea typeface="+mn-ea"/>
                  <a:cs typeface="+mn-cs"/>
                </a:rPr>
                <a:t>speedup at sub-percent accuracy</a:t>
              </a:r>
            </a:p>
          </p:txBody>
        </p:sp>
        <p:sp>
          <p:nvSpPr>
            <p:cNvPr id="39" name="TextBox 39"/>
            <p:cNvSpPr txBox="1"/>
            <p:nvPr/>
          </p:nvSpPr>
          <p:spPr>
            <a:xfrm>
              <a:off x="7536942" y="5131118"/>
              <a:ext cx="3630282" cy="264033"/>
            </a:xfrm>
            <a:prstGeom prst="rect">
              <a:avLst/>
            </a:prstGeom>
            <a:noFill/>
            <a:ln>
              <a:noFill/>
            </a:ln>
          </p:spPr>
          <p:txBody>
            <a:bodyPr wrap="none" lIns="0" tIns="0" rIns="0" bIns="0" anchor="t" anchorCtr="0">
              <a:spAutoFit/>
            </a:bodyPr>
            <a:lstStyle/>
            <a:p>
              <a:pPr algn="l"/>
              <a:r>
                <a:rPr lang="en-US" sz="1350" dirty="0">
                  <a:solidFill>
                    <a:srgbClr val="C9D6E8"/>
                  </a:solidFill>
                  <a:latin typeface="+mn-lt"/>
                  <a:ea typeface="+mn-ea"/>
                  <a:cs typeface="+mn-cs"/>
                </a:rPr>
                <a:t>makes joint lensing + kinematics modeling</a:t>
              </a:r>
            </a:p>
          </p:txBody>
        </p:sp>
        <p:sp>
          <p:nvSpPr>
            <p:cNvPr id="40" name="TextBox 40"/>
            <p:cNvSpPr txBox="1"/>
            <p:nvPr/>
          </p:nvSpPr>
          <p:spPr>
            <a:xfrm>
              <a:off x="7536942" y="5359718"/>
              <a:ext cx="2276342" cy="264033"/>
            </a:xfrm>
            <a:prstGeom prst="rect">
              <a:avLst/>
            </a:prstGeom>
            <a:noFill/>
            <a:ln>
              <a:noFill/>
            </a:ln>
          </p:spPr>
          <p:txBody>
            <a:bodyPr wrap="none" lIns="0" tIns="0" rIns="0" bIns="0" anchor="t" anchorCtr="0">
              <a:spAutoFit/>
            </a:bodyPr>
            <a:lstStyle/>
            <a:p>
              <a:pPr algn="l"/>
              <a:r>
                <a:rPr lang="en-US" sz="1350" dirty="0">
                  <a:solidFill>
                    <a:srgbClr val="C9D6E8"/>
                  </a:solidFill>
                  <a:latin typeface="+mn-lt"/>
                  <a:ea typeface="+mn-ea"/>
                  <a:cs typeface="+mn-cs"/>
                </a:rPr>
                <a:t>computationally feasible.</a:t>
              </a:r>
            </a:p>
          </p:txBody>
        </p:sp>
      </p:grpSp>
      <p:grpSp>
        <p:nvGrpSpPr>
          <p:cNvPr id="45" name="Group 45"/>
          <p:cNvGrpSpPr/>
          <p:nvPr/>
        </p:nvGrpSpPr>
        <p:grpSpPr>
          <a:xfrm>
            <a:off x="756666" y="6477000"/>
            <a:ext cx="10678668" cy="301561"/>
            <a:chOff x="756666" y="6477000"/>
            <a:chExt cx="10678668" cy="301561"/>
          </a:xfrm>
        </p:grpSpPr>
        <p:sp>
          <p:nvSpPr>
            <p:cNvPr id="42" name="Line 42"/>
            <p:cNvSpPr/>
            <p:nvPr/>
          </p:nvSpPr>
          <p:spPr>
            <a:xfrm>
              <a:off x="762000" y="6477000"/>
              <a:ext cx="10668000" cy="9525"/>
            </a:xfrm>
            <a:custGeom>
              <a:avLst/>
              <a:gdLst/>
              <a:ahLst/>
              <a:cxnLst/>
              <a:rect l="l" t="t" r="r" b="b"/>
              <a:pathLst>
                <a:path w="10668000" h="9525">
                  <a:moveTo>
                    <a:pt x="0" y="0"/>
                  </a:moveTo>
                  <a:lnTo>
                    <a:pt x="10668000" y="0"/>
                  </a:lnTo>
                </a:path>
              </a:pathLst>
            </a:custGeom>
            <a:noFill/>
            <a:ln w="9525">
              <a:solidFill>
                <a:schemeClr val="accent4"/>
              </a:solidFill>
            </a:ln>
          </p:spPr>
        </p:sp>
        <p:sp>
          <p:nvSpPr>
            <p:cNvPr id="43" name="TextBox 43"/>
            <p:cNvSpPr txBox="1"/>
            <p:nvPr/>
          </p:nvSpPr>
          <p:spPr>
            <a:xfrm>
              <a:off x="756666" y="6573202"/>
              <a:ext cx="2902900" cy="205359"/>
            </a:xfrm>
            <a:prstGeom prst="rect">
              <a:avLst/>
            </a:prstGeom>
            <a:noFill/>
            <a:ln>
              <a:noFill/>
            </a:ln>
          </p:spPr>
          <p:txBody>
            <a:bodyPr wrap="none" lIns="0" tIns="0" rIns="0" bIns="0" anchor="t" anchorCtr="0">
              <a:spAutoFit/>
            </a:bodyPr>
            <a:lstStyle/>
            <a:p>
              <a:pPr algn="l"/>
              <a:r>
                <a:rPr lang="en-US" sz="1050" dirty="0">
                  <a:solidFill>
                    <a:srgbClr val="6B7E9C"/>
                  </a:solidFill>
                  <a:latin typeface="+mn-lt"/>
                  <a:ea typeface="+mn-ea"/>
                  <a:cs typeface="+mn-cs"/>
                </a:rPr>
                <a:t>SKiNN · Stellar Kinematics Neural Network</a:t>
              </a:r>
            </a:p>
          </p:txBody>
        </p:sp>
        <p:sp>
          <p:nvSpPr>
            <p:cNvPr id="44" name="TextBox 44"/>
            <p:cNvSpPr txBox="1"/>
            <p:nvPr/>
          </p:nvSpPr>
          <p:spPr>
            <a:xfrm>
              <a:off x="10951140" y="6573202"/>
              <a:ext cx="484194" cy="205359"/>
            </a:xfrm>
            <a:prstGeom prst="rect">
              <a:avLst/>
            </a:prstGeom>
            <a:noFill/>
            <a:ln>
              <a:noFill/>
            </a:ln>
          </p:spPr>
          <p:txBody>
            <a:bodyPr wrap="none" lIns="0" tIns="0" rIns="0" bIns="0" anchor="t" anchorCtr="0">
              <a:spAutoFit/>
            </a:bodyPr>
            <a:lstStyle/>
            <a:p>
              <a:pPr algn="r"/>
              <a:r>
                <a:rPr lang="en-US" sz="1050" dirty="0">
                  <a:solidFill>
                    <a:srgbClr val="6B7E9C"/>
                  </a:solidFill>
                  <a:latin typeface="+mn-lt"/>
                  <a:ea typeface="+mn-ea"/>
                  <a:cs typeface="+mn-cs"/>
                </a:rPr>
                <a:t>04 / 10</a:t>
              </a:r>
            </a:p>
          </p:txBody>
        </p:sp>
      </p:grpSp>
      <p:sp>
        <p:nvSpPr>
          <p:cNvPr id="46" name="cue_s04_c1_core_contribution_skinn_stellar_kine" title="cue_s04_c1_core_contribution_skinn_stellar_kine" descr="cue_s04_c1_core_contribution_skinn_stellar_kine The core contribution is SKiNN, the Stellar Kinematics Neural Network."/>
          <p:cNvSpPr/>
          <p:nvPr/>
        </p:nvSpPr>
        <p:spPr>
          <a:xfrm>
            <a:off x="762000" y="1676095"/>
            <a:ext cx="4667097" cy="11432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cue_s04_c2_first_time_strategy_replacing_expens" title="cue_s04_c2_first_time_strategy_replacing_expens" descr="cue_s04_c2_first_time_strategy_replacing_expens It is the first time the strategy of replacing an expensive model component with a neural network has been applied to the kinematic-modeling aspect of gravitational lens modeling."/>
          <p:cNvSpPr/>
          <p:nvPr/>
        </p:nvSpPr>
        <p:spPr>
          <a:xfrm>
            <a:off x="762000" y="2933852"/>
            <a:ext cx="4756099" cy="11432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cue_s04_c3_crucially_skinn_emulates_only_jam" title="cue_s04_c3_crucially_skinn_emulates_only_jam" descr="cue_s04_c3_crucially_skinn_emulates_only_jam Crucially, SKiNN emulates only the JAM physics calculation rather than being applied directly to observations. This design choice keeps the physics of the overall model intact while exploiting the speed and versatility of neural networks."/>
          <p:cNvSpPr/>
          <p:nvPr/>
        </p:nvSpPr>
        <p:spPr>
          <a:xfrm>
            <a:off x="762000" y="4190923"/>
            <a:ext cx="4667097" cy="11432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cue_s04_c4_result_roughly_300_fold_speedup" title="cue_s04_c4_result_roughly_300_fold_speedup" descr="cue_s04_c4_result_roughly_300_fold_speedup The result is a roughly 300-fold speedup at sub-percent accuracy, which finally makes joint lensing plus kinematics modeling computationally feasible."/>
          <p:cNvSpPr/>
          <p:nvPr/>
        </p:nvSpPr>
        <p:spPr>
          <a:xfrm>
            <a:off x="5676595" y="4686071"/>
            <a:ext cx="5753404" cy="11432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0">
              <a:schemeClr val="lt1"/>
            </a:gs>
            <a:gs pos="100000">
              <a:schemeClr val="accent5"/>
            </a:gs>
          </a:gsLst>
          <a:lin ang="4242597" scaled="1"/>
        </a:gradFill>
        <a:effectLst/>
      </p:bgPr>
    </p:bg>
    <p:spTree>
      <p:nvGrpSpPr>
        <p:cNvPr id="1" name=""/>
        <p:cNvGrpSpPr/>
        <p:nvPr/>
      </p:nvGrpSpPr>
      <p:grpSpPr>
        <a:xfrm>
          <a:off x="0" y="0"/>
          <a:ext cx="0" cy="0"/>
          <a:chOff x="0" y="0"/>
          <a:chExt cx="0" cy="0"/>
        </a:xfrm>
      </p:grpSpPr>
      <p:grpSp>
        <p:nvGrpSpPr>
          <p:cNvPr id="5" name="Group 5"/>
          <p:cNvGrpSpPr/>
          <p:nvPr/>
        </p:nvGrpSpPr>
        <p:grpSpPr>
          <a:xfrm>
            <a:off x="10096500" y="-1047750"/>
            <a:ext cx="2857500" cy="2857500"/>
            <a:chOff x="10096500" y="-1047750"/>
            <a:chExt cx="2857500" cy="2857500"/>
          </a:xfrm>
        </p:grpSpPr>
        <p:sp>
          <p:nvSpPr>
            <p:cNvPr id="2" name="Ellipse 2"/>
            <p:cNvSpPr/>
            <p:nvPr/>
          </p:nvSpPr>
          <p:spPr>
            <a:xfrm>
              <a:off x="10096500" y="-1047750"/>
              <a:ext cx="2857500" cy="2857500"/>
            </a:xfrm>
            <a:prstGeom prst="ellipse">
              <a:avLst/>
            </a:prstGeom>
            <a:noFill/>
            <a:ln w="14288">
              <a:solidFill>
                <a:srgbClr val="213556">
                  <a:alpha val="60000"/>
                </a:srgbClr>
              </a:solidFill>
            </a:ln>
          </p:spPr>
        </p:sp>
        <p:sp>
          <p:nvSpPr>
            <p:cNvPr id="3" name="Ellipse 3"/>
            <p:cNvSpPr/>
            <p:nvPr/>
          </p:nvSpPr>
          <p:spPr>
            <a:xfrm>
              <a:off x="10620375" y="-523875"/>
              <a:ext cx="1809750" cy="1809750"/>
            </a:xfrm>
            <a:prstGeom prst="ellipse">
              <a:avLst/>
            </a:prstGeom>
            <a:noFill/>
            <a:ln w="14288">
              <a:solidFill>
                <a:srgbClr val="213556">
                  <a:alpha val="45000"/>
                </a:srgbClr>
              </a:solidFill>
            </a:ln>
          </p:spPr>
        </p:sp>
        <p:sp>
          <p:nvSpPr>
            <p:cNvPr id="4" name="Ellipse 4"/>
            <p:cNvSpPr/>
            <p:nvPr/>
          </p:nvSpPr>
          <p:spPr>
            <a:xfrm>
              <a:off x="10582275" y="342900"/>
              <a:ext cx="76200" cy="76200"/>
            </a:xfrm>
            <a:prstGeom prst="ellipse">
              <a:avLst/>
            </a:prstGeom>
            <a:solidFill>
              <a:schemeClr val="accent3"/>
            </a:solidFill>
            <a:ln>
              <a:noFill/>
            </a:ln>
          </p:spPr>
        </p:sp>
      </p:grpSp>
      <p:grpSp>
        <p:nvGrpSpPr>
          <p:cNvPr id="11" name="Group 11"/>
          <p:cNvGrpSpPr/>
          <p:nvPr/>
        </p:nvGrpSpPr>
        <p:grpSpPr>
          <a:xfrm>
            <a:off x="762000" y="514350"/>
            <a:ext cx="7212349" cy="834390"/>
            <a:chOff x="762000" y="514350"/>
            <a:chExt cx="7212349" cy="834390"/>
          </a:xfrm>
        </p:grpSpPr>
        <p:sp>
          <p:nvSpPr>
            <p:cNvPr id="6" name="Rectangle 6"/>
            <p:cNvSpPr/>
            <p:nvPr/>
          </p:nvSpPr>
          <p:spPr>
            <a:xfrm>
              <a:off x="762000" y="514350"/>
              <a:ext cx="438150" cy="438150"/>
            </a:xfrm>
            <a:prstGeom prst="roundRect">
              <a:avLst>
                <a:gd name="adj" fmla="val 26087"/>
              </a:avLst>
            </a:prstGeom>
            <a:gradFill>
              <a:gsLst>
                <a:gs pos="0">
                  <a:srgbClr val="1B2C48"/>
                </a:gs>
                <a:gs pos="100000">
                  <a:srgbClr val="14223A"/>
                </a:gs>
              </a:gsLst>
              <a:lin ang="5400000" scaled="1"/>
            </a:gradFill>
            <a:ln w="9525">
              <a:solidFill>
                <a:schemeClr val="accent4"/>
              </a:solidFill>
            </a:ln>
          </p:spPr>
        </p:sp>
        <p:sp>
          <p:nvSpPr>
            <p:cNvPr id="7" name="TextBox 7"/>
            <p:cNvSpPr txBox="1"/>
            <p:nvPr/>
          </p:nvSpPr>
          <p:spPr>
            <a:xfrm>
              <a:off x="844417" y="641032"/>
              <a:ext cx="273316" cy="322707"/>
            </a:xfrm>
            <a:prstGeom prst="rect">
              <a:avLst/>
            </a:prstGeom>
            <a:noFill/>
            <a:ln>
              <a:noFill/>
            </a:ln>
          </p:spPr>
          <p:txBody>
            <a:bodyPr wrap="none" lIns="0" tIns="0" rIns="0" bIns="0" anchor="t" anchorCtr="0">
              <a:spAutoFit/>
            </a:bodyPr>
            <a:lstStyle/>
            <a:p>
              <a:pPr algn="ctr"/>
              <a:r>
                <a:rPr lang="en-US" sz="1650" b="1" dirty="0">
                  <a:solidFill>
                    <a:schemeClr val="accent1"/>
                  </a:solidFill>
                  <a:latin typeface="+mn-lt"/>
                  <a:ea typeface="+mn-ea"/>
                  <a:cs typeface="+mn-cs"/>
                </a:rPr>
                <a:t>05</a:t>
              </a:r>
            </a:p>
          </p:txBody>
        </p:sp>
        <p:sp>
          <p:nvSpPr>
            <p:cNvPr id="8" name="TextBox 8"/>
            <p:cNvSpPr txBox="1"/>
            <p:nvPr/>
          </p:nvSpPr>
          <p:spPr>
            <a:xfrm>
              <a:off x="1346073" y="548164"/>
              <a:ext cx="880305" cy="249364"/>
            </a:xfrm>
            <a:prstGeom prst="rect">
              <a:avLst/>
            </a:prstGeom>
            <a:noFill/>
            <a:ln>
              <a:noFill/>
            </a:ln>
          </p:spPr>
          <p:txBody>
            <a:bodyPr wrap="none" lIns="0" tIns="0" rIns="0" bIns="0" anchor="t" anchorCtr="0">
              <a:spAutoFit/>
            </a:bodyPr>
            <a:lstStyle/>
            <a:p>
              <a:pPr algn="l"/>
              <a:r>
                <a:rPr lang="en-US" sz="1280" b="1" spc="225" dirty="0">
                  <a:solidFill>
                    <a:schemeClr val="dk2"/>
                  </a:solidFill>
                  <a:latin typeface="+mn-lt"/>
                  <a:ea typeface="+mn-ea"/>
                  <a:cs typeface="+mn-cs"/>
                </a:rPr>
                <a:t>METHOD</a:t>
              </a:r>
            </a:p>
          </p:txBody>
        </p:sp>
        <p:sp>
          <p:nvSpPr>
            <p:cNvPr id="9" name="TextBox 9"/>
            <p:cNvSpPr txBox="1"/>
            <p:nvPr/>
          </p:nvSpPr>
          <p:spPr>
            <a:xfrm>
              <a:off x="1337310" y="762000"/>
              <a:ext cx="6637039" cy="586740"/>
            </a:xfrm>
            <a:prstGeom prst="rect">
              <a:avLst/>
            </a:prstGeom>
            <a:noFill/>
            <a:ln>
              <a:noFill/>
            </a:ln>
          </p:spPr>
          <p:txBody>
            <a:bodyPr wrap="none" lIns="0" tIns="0" rIns="0" bIns="0" anchor="t" anchorCtr="0">
              <a:spAutoFit/>
            </a:bodyPr>
            <a:lstStyle/>
            <a:p>
              <a:pPr algn="l"/>
              <a:r>
                <a:rPr lang="en-US" sz="3000" b="1" dirty="0">
                  <a:solidFill>
                    <a:schemeClr val="dk1"/>
                  </a:solidFill>
                  <a:latin typeface="+mn-lt"/>
                  <a:ea typeface="+mn-ea"/>
                  <a:cs typeface="+mn-cs"/>
                </a:rPr>
                <a:t>A convolutional emulator of JAM</a:t>
              </a:r>
            </a:p>
          </p:txBody>
        </p:sp>
        <p:sp>
          <p:nvSpPr>
            <p:cNvPr id="10" name="Rectangle 10"/>
            <p:cNvSpPr/>
            <p:nvPr/>
          </p:nvSpPr>
          <p:spPr>
            <a:xfrm>
              <a:off x="1352550" y="1219200"/>
              <a:ext cx="609600" cy="38100"/>
            </a:xfrm>
            <a:prstGeom prst="roundRect">
              <a:avLst>
                <a:gd name="adj" fmla="val 50000"/>
              </a:avLst>
            </a:prstGeom>
            <a:gradFill>
              <a:gsLst>
                <a:gs pos="0">
                  <a:schemeClr val="accent1"/>
                </a:gs>
                <a:gs pos="100000">
                  <a:schemeClr val="accent2"/>
                </a:gs>
              </a:gsLst>
              <a:lin ang="0" scaled="1"/>
            </a:gradFill>
            <a:ln>
              <a:noFill/>
            </a:ln>
          </p:spPr>
        </p:sp>
      </p:grpSp>
      <p:grpSp>
        <p:nvGrpSpPr>
          <p:cNvPr id="20" name="Group 20"/>
          <p:cNvGrpSpPr/>
          <p:nvPr/>
        </p:nvGrpSpPr>
        <p:grpSpPr>
          <a:xfrm>
            <a:off x="762000" y="1676400"/>
            <a:ext cx="2634386" cy="2019300"/>
            <a:chOff x="762000" y="1676400"/>
            <a:chExt cx="2634386" cy="2019300"/>
          </a:xfrm>
        </p:grpSpPr>
        <p:sp>
          <p:nvSpPr>
            <p:cNvPr id="12" name="Rectangle 12"/>
            <p:cNvSpPr/>
            <p:nvPr/>
          </p:nvSpPr>
          <p:spPr>
            <a:xfrm>
              <a:off x="762000" y="1676400"/>
              <a:ext cx="2590800" cy="2019300"/>
            </a:xfrm>
            <a:prstGeom prst="roundRect">
              <a:avLst>
                <a:gd name="adj" fmla="val 6604"/>
              </a:avLst>
            </a:prstGeom>
            <a:gradFill>
              <a:gsLst>
                <a:gs pos="0">
                  <a:srgbClr val="1B2C48"/>
                </a:gs>
                <a:gs pos="100000">
                  <a:srgbClr val="14223A"/>
                </a:gs>
              </a:gsLst>
              <a:lin ang="5400000" scaled="1"/>
            </a:gradFill>
            <a:ln w="9525">
              <a:solidFill>
                <a:schemeClr val="accent4"/>
              </a:solidFill>
            </a:ln>
          </p:spPr>
        </p:sp>
        <p:sp>
          <p:nvSpPr>
            <p:cNvPr id="13" name="Rectangle 13"/>
            <p:cNvSpPr/>
            <p:nvPr/>
          </p:nvSpPr>
          <p:spPr>
            <a:xfrm>
              <a:off x="762000" y="1676400"/>
              <a:ext cx="2590800" cy="47625"/>
            </a:xfrm>
            <a:prstGeom prst="roundRect">
              <a:avLst>
                <a:gd name="adj" fmla="val 50000"/>
              </a:avLst>
            </a:prstGeom>
            <a:solidFill>
              <a:schemeClr val="accent1"/>
            </a:solidFill>
            <a:ln>
              <a:noFill/>
            </a:ln>
          </p:spPr>
        </p:sp>
        <p:sp>
          <p:nvSpPr>
            <p:cNvPr id="14" name="TextBox 14"/>
            <p:cNvSpPr txBox="1"/>
            <p:nvPr/>
          </p:nvSpPr>
          <p:spPr>
            <a:xfrm>
              <a:off x="985647" y="1952149"/>
              <a:ext cx="661678" cy="190690"/>
            </a:xfrm>
            <a:prstGeom prst="rect">
              <a:avLst/>
            </a:prstGeom>
            <a:noFill/>
            <a:ln>
              <a:noFill/>
            </a:ln>
          </p:spPr>
          <p:txBody>
            <a:bodyPr wrap="none" lIns="0" tIns="0" rIns="0" bIns="0" anchor="t" anchorCtr="0">
              <a:spAutoFit/>
            </a:bodyPr>
            <a:lstStyle/>
            <a:p>
              <a:pPr algn="l"/>
              <a:r>
                <a:rPr lang="en-US" sz="980" b="1" spc="112" dirty="0">
                  <a:solidFill>
                    <a:schemeClr val="accent2"/>
                  </a:solidFill>
                  <a:latin typeface="+mn-lt"/>
                  <a:ea typeface="+mn-ea"/>
                  <a:cs typeface="+mn-cs"/>
                </a:rPr>
                <a:t>MAPPING</a:t>
              </a:r>
            </a:p>
          </p:txBody>
        </p:sp>
        <p:sp>
          <p:nvSpPr>
            <p:cNvPr id="15" name="TextBox 15"/>
            <p:cNvSpPr txBox="1"/>
            <p:nvPr/>
          </p:nvSpPr>
          <p:spPr>
            <a:xfrm>
              <a:off x="981837" y="2175986"/>
              <a:ext cx="1715931" cy="337376"/>
            </a:xfrm>
            <a:prstGeom prst="rect">
              <a:avLst/>
            </a:prstGeom>
            <a:noFill/>
            <a:ln>
              <a:noFill/>
            </a:ln>
          </p:spPr>
          <p:txBody>
            <a:bodyPr wrap="none" lIns="0" tIns="0" rIns="0" bIns="0" anchor="t" anchorCtr="0">
              <a:spAutoFit/>
            </a:bodyPr>
            <a:lstStyle/>
            <a:p>
              <a:pPr algn="l"/>
              <a:r>
                <a:rPr lang="en-US" sz="1720" b="1" dirty="0">
                  <a:solidFill>
                    <a:schemeClr val="dk1"/>
                  </a:solidFill>
                  <a:latin typeface="+mn-lt"/>
                  <a:ea typeface="+mn-ea"/>
                  <a:cs typeface="+mn-cs"/>
                </a:rPr>
                <a:t>Input → output</a:t>
              </a:r>
            </a:p>
          </p:txBody>
        </p:sp>
        <p:sp>
          <p:nvSpPr>
            <p:cNvPr id="16" name="TextBox 16"/>
            <p:cNvSpPr txBox="1"/>
            <p:nvPr/>
          </p:nvSpPr>
          <p:spPr>
            <a:xfrm>
              <a:off x="982218" y="2565082"/>
              <a:ext cx="1471421" cy="322707"/>
            </a:xfrm>
            <a:prstGeom prst="rect">
              <a:avLst/>
            </a:prstGeom>
            <a:noFill/>
            <a:ln>
              <a:noFill/>
            </a:ln>
          </p:spPr>
          <p:txBody>
            <a:bodyPr wrap="none" lIns="0" tIns="0" rIns="0" bIns="0" anchor="t" anchorCtr="0">
              <a:spAutoFit/>
            </a:bodyPr>
            <a:lstStyle/>
            <a:p>
              <a:pPr algn="l"/>
              <a:r>
                <a:rPr lang="en-US" sz="1650" b="1" dirty="0">
                  <a:solidFill>
                    <a:srgbClr val="7DBBFF"/>
                  </a:solidFill>
                  <a:latin typeface="+mn-lt"/>
                  <a:ea typeface="+mn-ea"/>
                  <a:cs typeface="+mn-cs"/>
                </a:rPr>
                <a:t>Ψθ : ℝ⁸ → d×d</a:t>
              </a:r>
            </a:p>
          </p:txBody>
        </p:sp>
        <p:sp>
          <p:nvSpPr>
            <p:cNvPr id="17" name="TextBox 17"/>
            <p:cNvSpPr txBox="1"/>
            <p:nvPr/>
          </p:nvSpPr>
          <p:spPr>
            <a:xfrm>
              <a:off x="983742" y="2921318"/>
              <a:ext cx="2226564"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An 8-D galaxy-parameter</a:t>
              </a:r>
            </a:p>
          </p:txBody>
        </p:sp>
        <p:sp>
          <p:nvSpPr>
            <p:cNvPr id="18" name="TextBox 18"/>
            <p:cNvSpPr txBox="1"/>
            <p:nvPr/>
          </p:nvSpPr>
          <p:spPr>
            <a:xfrm>
              <a:off x="983742" y="3149918"/>
              <a:ext cx="2412644"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vector maps to a d×d image</a:t>
              </a:r>
            </a:p>
          </p:txBody>
        </p:sp>
        <p:sp>
          <p:nvSpPr>
            <p:cNvPr id="19" name="TextBox 19"/>
            <p:cNvSpPr txBox="1"/>
            <p:nvPr/>
          </p:nvSpPr>
          <p:spPr>
            <a:xfrm>
              <a:off x="983742" y="3378518"/>
              <a:ext cx="904227"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of v_rms.</a:t>
              </a:r>
            </a:p>
          </p:txBody>
        </p:sp>
      </p:grpSp>
      <p:grpSp>
        <p:nvGrpSpPr>
          <p:cNvPr id="29" name="Group 29"/>
          <p:cNvGrpSpPr/>
          <p:nvPr/>
        </p:nvGrpSpPr>
        <p:grpSpPr>
          <a:xfrm>
            <a:off x="3448050" y="1676400"/>
            <a:ext cx="2894595" cy="2019300"/>
            <a:chOff x="3448050" y="1676400"/>
            <a:chExt cx="2894595" cy="2019300"/>
          </a:xfrm>
        </p:grpSpPr>
        <p:sp>
          <p:nvSpPr>
            <p:cNvPr id="21" name="Rectangle 21"/>
            <p:cNvSpPr/>
            <p:nvPr/>
          </p:nvSpPr>
          <p:spPr>
            <a:xfrm>
              <a:off x="3448050" y="1676400"/>
              <a:ext cx="2590800" cy="2019300"/>
            </a:xfrm>
            <a:prstGeom prst="roundRect">
              <a:avLst>
                <a:gd name="adj" fmla="val 6604"/>
              </a:avLst>
            </a:prstGeom>
            <a:gradFill>
              <a:gsLst>
                <a:gs pos="0">
                  <a:srgbClr val="1B2C48"/>
                </a:gs>
                <a:gs pos="100000">
                  <a:srgbClr val="14223A"/>
                </a:gs>
              </a:gsLst>
              <a:lin ang="5400000" scaled="1"/>
            </a:gradFill>
            <a:ln w="9525">
              <a:solidFill>
                <a:schemeClr val="accent4"/>
              </a:solidFill>
            </a:ln>
          </p:spPr>
        </p:sp>
        <p:sp>
          <p:nvSpPr>
            <p:cNvPr id="22" name="Rectangle 22"/>
            <p:cNvSpPr/>
            <p:nvPr/>
          </p:nvSpPr>
          <p:spPr>
            <a:xfrm>
              <a:off x="3448050" y="1676400"/>
              <a:ext cx="2590800" cy="47625"/>
            </a:xfrm>
            <a:prstGeom prst="roundRect">
              <a:avLst>
                <a:gd name="adj" fmla="val 50000"/>
              </a:avLst>
            </a:prstGeom>
            <a:solidFill>
              <a:schemeClr val="accent3"/>
            </a:solidFill>
            <a:ln>
              <a:noFill/>
            </a:ln>
          </p:spPr>
        </p:sp>
        <p:sp>
          <p:nvSpPr>
            <p:cNvPr id="23" name="TextBox 23"/>
            <p:cNvSpPr txBox="1"/>
            <p:nvPr/>
          </p:nvSpPr>
          <p:spPr>
            <a:xfrm>
              <a:off x="3671697" y="1952149"/>
              <a:ext cx="1041381" cy="190690"/>
            </a:xfrm>
            <a:prstGeom prst="rect">
              <a:avLst/>
            </a:prstGeom>
            <a:noFill/>
            <a:ln>
              <a:noFill/>
            </a:ln>
          </p:spPr>
          <p:txBody>
            <a:bodyPr wrap="none" lIns="0" tIns="0" rIns="0" bIns="0" anchor="t" anchorCtr="0">
              <a:spAutoFit/>
            </a:bodyPr>
            <a:lstStyle/>
            <a:p>
              <a:pPr algn="l"/>
              <a:r>
                <a:rPr lang="en-US" sz="980" b="1" spc="112" dirty="0">
                  <a:solidFill>
                    <a:srgbClr val="7DBBFF"/>
                  </a:solidFill>
                  <a:latin typeface="+mn-lt"/>
                  <a:ea typeface="+mn-ea"/>
                  <a:cs typeface="+mn-cs"/>
                </a:rPr>
                <a:t>THE 8 INPUTS</a:t>
              </a:r>
            </a:p>
          </p:txBody>
        </p:sp>
        <p:sp>
          <p:nvSpPr>
            <p:cNvPr id="24" name="TextBox 24"/>
            <p:cNvSpPr txBox="1"/>
            <p:nvPr/>
          </p:nvSpPr>
          <p:spPr>
            <a:xfrm>
              <a:off x="3667887" y="2175986"/>
              <a:ext cx="2225580" cy="337376"/>
            </a:xfrm>
            <a:prstGeom prst="rect">
              <a:avLst/>
            </a:prstGeom>
            <a:noFill/>
            <a:ln>
              <a:noFill/>
            </a:ln>
          </p:spPr>
          <p:txBody>
            <a:bodyPr wrap="none" lIns="0" tIns="0" rIns="0" bIns="0" anchor="t" anchorCtr="0">
              <a:spAutoFit/>
            </a:bodyPr>
            <a:lstStyle/>
            <a:p>
              <a:pPr algn="l"/>
              <a:r>
                <a:rPr lang="en-US" sz="1720" b="1" dirty="0">
                  <a:solidFill>
                    <a:schemeClr val="dk1"/>
                  </a:solidFill>
                  <a:latin typeface="+mn-lt"/>
                  <a:ea typeface="+mn-ea"/>
                  <a:cs typeface="+mn-cs"/>
                </a:rPr>
                <a:t>Galaxy parameters</a:t>
              </a:r>
            </a:p>
          </p:txBody>
        </p:sp>
        <p:sp>
          <p:nvSpPr>
            <p:cNvPr id="25" name="TextBox 25"/>
            <p:cNvSpPr txBox="1"/>
            <p:nvPr/>
          </p:nvSpPr>
          <p:spPr>
            <a:xfrm>
              <a:off x="3669792" y="2578418"/>
              <a:ext cx="2418817"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Power-law elliptical mass +</a:t>
              </a:r>
            </a:p>
          </p:txBody>
        </p:sp>
        <p:sp>
          <p:nvSpPr>
            <p:cNvPr id="26" name="TextBox 26"/>
            <p:cNvSpPr txBox="1"/>
            <p:nvPr/>
          </p:nvSpPr>
          <p:spPr>
            <a:xfrm>
              <a:off x="3669792" y="2807018"/>
              <a:ext cx="2672853"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elliptical Sérsic light (6 shape</a:t>
              </a:r>
            </a:p>
          </p:txBody>
        </p:sp>
        <p:sp>
          <p:nvSpPr>
            <p:cNvPr id="27" name="TextBox 27"/>
            <p:cNvSpPr txBox="1"/>
            <p:nvPr/>
          </p:nvSpPr>
          <p:spPr>
            <a:xfrm>
              <a:off x="3669792" y="3035618"/>
              <a:ext cx="2339950"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params), plus inclination i</a:t>
              </a:r>
            </a:p>
          </p:txBody>
        </p:sp>
        <p:sp>
          <p:nvSpPr>
            <p:cNvPr id="28" name="TextBox 28"/>
            <p:cNvSpPr txBox="1"/>
            <p:nvPr/>
          </p:nvSpPr>
          <p:spPr>
            <a:xfrm>
              <a:off x="3669792" y="3264218"/>
              <a:ext cx="1576654"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and anisotropy β.</a:t>
              </a:r>
            </a:p>
          </p:txBody>
        </p:sp>
      </p:grpSp>
      <p:grpSp>
        <p:nvGrpSpPr>
          <p:cNvPr id="38" name="Group 38"/>
          <p:cNvGrpSpPr/>
          <p:nvPr/>
        </p:nvGrpSpPr>
        <p:grpSpPr>
          <a:xfrm>
            <a:off x="6134100" y="1676400"/>
            <a:ext cx="2673083" cy="2019300"/>
            <a:chOff x="6134100" y="1676400"/>
            <a:chExt cx="2673083" cy="2019300"/>
          </a:xfrm>
        </p:grpSpPr>
        <p:sp>
          <p:nvSpPr>
            <p:cNvPr id="30" name="Rectangle 30"/>
            <p:cNvSpPr/>
            <p:nvPr/>
          </p:nvSpPr>
          <p:spPr>
            <a:xfrm>
              <a:off x="6134100" y="1676400"/>
              <a:ext cx="2590800" cy="2019300"/>
            </a:xfrm>
            <a:prstGeom prst="roundRect">
              <a:avLst>
                <a:gd name="adj" fmla="val 6604"/>
              </a:avLst>
            </a:prstGeom>
            <a:gradFill>
              <a:gsLst>
                <a:gs pos="0">
                  <a:srgbClr val="1B2C48"/>
                </a:gs>
                <a:gs pos="100000">
                  <a:srgbClr val="14223A"/>
                </a:gs>
              </a:gsLst>
              <a:lin ang="5400000" scaled="1"/>
            </a:gradFill>
            <a:ln w="9525">
              <a:solidFill>
                <a:schemeClr val="accent4"/>
              </a:solidFill>
            </a:ln>
          </p:spPr>
        </p:sp>
        <p:sp>
          <p:nvSpPr>
            <p:cNvPr id="31" name="Rectangle 31"/>
            <p:cNvSpPr/>
            <p:nvPr/>
          </p:nvSpPr>
          <p:spPr>
            <a:xfrm>
              <a:off x="6134100" y="1676400"/>
              <a:ext cx="2590800" cy="47625"/>
            </a:xfrm>
            <a:prstGeom prst="roundRect">
              <a:avLst>
                <a:gd name="adj" fmla="val 50000"/>
              </a:avLst>
            </a:prstGeom>
            <a:solidFill>
              <a:schemeClr val="accent1"/>
            </a:solidFill>
            <a:ln>
              <a:noFill/>
            </a:ln>
          </p:spPr>
        </p:sp>
        <p:sp>
          <p:nvSpPr>
            <p:cNvPr id="32" name="TextBox 32"/>
            <p:cNvSpPr txBox="1"/>
            <p:nvPr/>
          </p:nvSpPr>
          <p:spPr>
            <a:xfrm>
              <a:off x="6357747" y="1952149"/>
              <a:ext cx="1114563" cy="190690"/>
            </a:xfrm>
            <a:prstGeom prst="rect">
              <a:avLst/>
            </a:prstGeom>
            <a:noFill/>
            <a:ln>
              <a:noFill/>
            </a:ln>
          </p:spPr>
          <p:txBody>
            <a:bodyPr wrap="none" lIns="0" tIns="0" rIns="0" bIns="0" anchor="t" anchorCtr="0">
              <a:spAutoFit/>
            </a:bodyPr>
            <a:lstStyle/>
            <a:p>
              <a:pPr algn="l"/>
              <a:r>
                <a:rPr lang="en-US" sz="980" b="1" spc="112" dirty="0">
                  <a:solidFill>
                    <a:schemeClr val="accent2"/>
                  </a:solidFill>
                  <a:latin typeface="+mn-lt"/>
                  <a:ea typeface="+mn-ea"/>
                  <a:cs typeface="+mn-cs"/>
                </a:rPr>
                <a:t>ARCHITECTURE</a:t>
              </a:r>
            </a:p>
          </p:txBody>
        </p:sp>
        <p:sp>
          <p:nvSpPr>
            <p:cNvPr id="33" name="TextBox 33"/>
            <p:cNvSpPr txBox="1"/>
            <p:nvPr/>
          </p:nvSpPr>
          <p:spPr>
            <a:xfrm>
              <a:off x="6353937" y="2175986"/>
              <a:ext cx="1573518" cy="337376"/>
            </a:xfrm>
            <a:prstGeom prst="rect">
              <a:avLst/>
            </a:prstGeom>
            <a:noFill/>
            <a:ln>
              <a:noFill/>
            </a:ln>
          </p:spPr>
          <p:txBody>
            <a:bodyPr wrap="none" lIns="0" tIns="0" rIns="0" bIns="0" anchor="t" anchorCtr="0">
              <a:spAutoFit/>
            </a:bodyPr>
            <a:lstStyle/>
            <a:p>
              <a:pPr algn="l"/>
              <a:r>
                <a:rPr lang="en-US" sz="1720" b="1" dirty="0">
                  <a:solidFill>
                    <a:schemeClr val="dk1"/>
                  </a:solidFill>
                  <a:latin typeface="+mn-lt"/>
                  <a:ea typeface="+mn-ea"/>
                  <a:cs typeface="+mn-cs"/>
                </a:rPr>
                <a:t>5 conv blocks</a:t>
              </a:r>
            </a:p>
          </p:txBody>
        </p:sp>
        <p:sp>
          <p:nvSpPr>
            <p:cNvPr id="34" name="TextBox 34"/>
            <p:cNvSpPr txBox="1"/>
            <p:nvPr/>
          </p:nvSpPr>
          <p:spPr>
            <a:xfrm>
              <a:off x="6355842" y="2578418"/>
              <a:ext cx="2236525"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Each block: two 2-D conv</a:t>
              </a:r>
            </a:p>
          </p:txBody>
        </p:sp>
        <p:sp>
          <p:nvSpPr>
            <p:cNvPr id="35" name="TextBox 35"/>
            <p:cNvSpPr txBox="1"/>
            <p:nvPr/>
          </p:nvSpPr>
          <p:spPr>
            <a:xfrm>
              <a:off x="6355842" y="2807018"/>
              <a:ext cx="2451341"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layers → upsampling → ReLU.</a:t>
              </a:r>
            </a:p>
          </p:txBody>
        </p:sp>
        <p:sp>
          <p:nvSpPr>
            <p:cNvPr id="36" name="TextBox 36"/>
            <p:cNvSpPr txBox="1"/>
            <p:nvPr/>
          </p:nvSpPr>
          <p:spPr>
            <a:xfrm>
              <a:off x="6352794" y="3104198"/>
              <a:ext cx="1039139" cy="381381"/>
            </a:xfrm>
            <a:prstGeom prst="rect">
              <a:avLst/>
            </a:prstGeom>
            <a:noFill/>
            <a:ln>
              <a:noFill/>
            </a:ln>
          </p:spPr>
          <p:txBody>
            <a:bodyPr wrap="none" lIns="0" tIns="0" rIns="0" bIns="0" anchor="t" anchorCtr="0">
              <a:spAutoFit/>
            </a:bodyPr>
            <a:lstStyle/>
            <a:p>
              <a:pPr algn="l"/>
              <a:r>
                <a:rPr lang="en-US" sz="1950" b="1" dirty="0">
                  <a:solidFill>
                    <a:srgbClr val="35D0A5"/>
                  </a:solidFill>
                  <a:latin typeface="+mn-lt"/>
                  <a:ea typeface="+mn-ea"/>
                  <a:cs typeface="+mn-cs"/>
                </a:rPr>
                <a:t>~7.07M</a:t>
              </a:r>
            </a:p>
          </p:txBody>
        </p:sp>
        <p:sp>
          <p:nvSpPr>
            <p:cNvPr id="37" name="TextBox 37"/>
            <p:cNvSpPr txBox="1"/>
            <p:nvPr/>
          </p:nvSpPr>
          <p:spPr>
            <a:xfrm>
              <a:off x="7308342" y="3168968"/>
              <a:ext cx="1049617"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parameters</a:t>
              </a:r>
            </a:p>
          </p:txBody>
        </p:sp>
      </p:grpSp>
      <p:grpSp>
        <p:nvGrpSpPr>
          <p:cNvPr id="47" name="Group 47"/>
          <p:cNvGrpSpPr/>
          <p:nvPr/>
        </p:nvGrpSpPr>
        <p:grpSpPr>
          <a:xfrm>
            <a:off x="8820150" y="1676400"/>
            <a:ext cx="2609850" cy="2019300"/>
            <a:chOff x="8820150" y="1676400"/>
            <a:chExt cx="2609850" cy="2019300"/>
          </a:xfrm>
        </p:grpSpPr>
        <p:sp>
          <p:nvSpPr>
            <p:cNvPr id="39" name="Rectangle 39"/>
            <p:cNvSpPr/>
            <p:nvPr/>
          </p:nvSpPr>
          <p:spPr>
            <a:xfrm>
              <a:off x="8820150" y="1676400"/>
              <a:ext cx="2609850" cy="2019300"/>
            </a:xfrm>
            <a:prstGeom prst="roundRect">
              <a:avLst>
                <a:gd name="adj" fmla="val 6604"/>
              </a:avLst>
            </a:prstGeom>
            <a:gradFill>
              <a:gsLst>
                <a:gs pos="0">
                  <a:srgbClr val="1B2C48"/>
                </a:gs>
                <a:gs pos="100000">
                  <a:srgbClr val="14223A"/>
                </a:gs>
              </a:gsLst>
              <a:lin ang="5400000" scaled="1"/>
            </a:gradFill>
            <a:ln w="9525">
              <a:solidFill>
                <a:schemeClr val="accent4"/>
              </a:solidFill>
            </a:ln>
          </p:spPr>
        </p:sp>
        <p:sp>
          <p:nvSpPr>
            <p:cNvPr id="40" name="Rectangle 40"/>
            <p:cNvSpPr/>
            <p:nvPr/>
          </p:nvSpPr>
          <p:spPr>
            <a:xfrm>
              <a:off x="8820150" y="1676400"/>
              <a:ext cx="2609850" cy="47625"/>
            </a:xfrm>
            <a:prstGeom prst="roundRect">
              <a:avLst>
                <a:gd name="adj" fmla="val 50000"/>
              </a:avLst>
            </a:prstGeom>
            <a:solidFill>
              <a:schemeClr val="accent3"/>
            </a:solidFill>
            <a:ln>
              <a:noFill/>
            </a:ln>
          </p:spPr>
        </p:sp>
        <p:sp>
          <p:nvSpPr>
            <p:cNvPr id="41" name="TextBox 41"/>
            <p:cNvSpPr txBox="1"/>
            <p:nvPr/>
          </p:nvSpPr>
          <p:spPr>
            <a:xfrm>
              <a:off x="9043797" y="1952149"/>
              <a:ext cx="692246" cy="190690"/>
            </a:xfrm>
            <a:prstGeom prst="rect">
              <a:avLst/>
            </a:prstGeom>
            <a:noFill/>
            <a:ln>
              <a:noFill/>
            </a:ln>
          </p:spPr>
          <p:txBody>
            <a:bodyPr wrap="none" lIns="0" tIns="0" rIns="0" bIns="0" anchor="t" anchorCtr="0">
              <a:spAutoFit/>
            </a:bodyPr>
            <a:lstStyle/>
            <a:p>
              <a:pPr algn="l"/>
              <a:r>
                <a:rPr lang="en-US" sz="980" b="1" spc="112" dirty="0">
                  <a:solidFill>
                    <a:srgbClr val="7DBBFF"/>
                  </a:solidFill>
                  <a:latin typeface="+mn-lt"/>
                  <a:ea typeface="+mn-ea"/>
                  <a:cs typeface="+mn-cs"/>
                </a:rPr>
                <a:t>TRAINING</a:t>
              </a:r>
            </a:p>
          </p:txBody>
        </p:sp>
        <p:sp>
          <p:nvSpPr>
            <p:cNvPr id="42" name="TextBox 42"/>
            <p:cNvSpPr txBox="1"/>
            <p:nvPr/>
          </p:nvSpPr>
          <p:spPr>
            <a:xfrm>
              <a:off x="9039987" y="2175986"/>
              <a:ext cx="1372859" cy="337376"/>
            </a:xfrm>
            <a:prstGeom prst="rect">
              <a:avLst/>
            </a:prstGeom>
            <a:noFill/>
            <a:ln>
              <a:noFill/>
            </a:ln>
          </p:spPr>
          <p:txBody>
            <a:bodyPr wrap="none" lIns="0" tIns="0" rIns="0" bIns="0" anchor="t" anchorCtr="0">
              <a:spAutoFit/>
            </a:bodyPr>
            <a:lstStyle/>
            <a:p>
              <a:pPr algn="l"/>
              <a:r>
                <a:rPr lang="en-US" sz="1720" b="1" dirty="0">
                  <a:solidFill>
                    <a:schemeClr val="dk1"/>
                  </a:solidFill>
                  <a:latin typeface="+mn-lt"/>
                  <a:ea typeface="+mn-ea"/>
                  <a:cs typeface="+mn-cs"/>
                </a:rPr>
                <a:t>MSE + Adam</a:t>
              </a:r>
            </a:p>
          </p:txBody>
        </p:sp>
        <p:sp>
          <p:nvSpPr>
            <p:cNvPr id="43" name="TextBox 43"/>
            <p:cNvSpPr txBox="1"/>
            <p:nvPr/>
          </p:nvSpPr>
          <p:spPr>
            <a:xfrm>
              <a:off x="9041892" y="2578418"/>
              <a:ext cx="2300970"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Minimize a mean-squared-</a:t>
              </a:r>
            </a:p>
          </p:txBody>
        </p:sp>
        <p:sp>
          <p:nvSpPr>
            <p:cNvPr id="44" name="TextBox 44"/>
            <p:cNvSpPr txBox="1"/>
            <p:nvPr/>
          </p:nvSpPr>
          <p:spPr>
            <a:xfrm>
              <a:off x="9041892" y="2807018"/>
              <a:ext cx="2218957"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error loss with the Adam</a:t>
              </a:r>
            </a:p>
          </p:txBody>
        </p:sp>
        <p:sp>
          <p:nvSpPr>
            <p:cNvPr id="45" name="TextBox 45"/>
            <p:cNvSpPr txBox="1"/>
            <p:nvPr/>
          </p:nvSpPr>
          <p:spPr>
            <a:xfrm>
              <a:off x="9041892" y="3035618"/>
              <a:ext cx="2077545"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optimizer, on JAM data</a:t>
              </a:r>
            </a:p>
          </p:txBody>
        </p:sp>
        <p:sp>
          <p:nvSpPr>
            <p:cNvPr id="46" name="TextBox 46"/>
            <p:cNvSpPr txBox="1"/>
            <p:nvPr/>
          </p:nvSpPr>
          <p:spPr>
            <a:xfrm>
              <a:off x="9041892" y="3264218"/>
              <a:ext cx="1801511"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generated via GLEE.</a:t>
              </a:r>
            </a:p>
          </p:txBody>
        </p:sp>
      </p:grpSp>
      <p:grpSp>
        <p:nvGrpSpPr>
          <p:cNvPr id="68" name="Group 68"/>
          <p:cNvGrpSpPr/>
          <p:nvPr/>
        </p:nvGrpSpPr>
        <p:grpSpPr>
          <a:xfrm>
            <a:off x="762000" y="3905250"/>
            <a:ext cx="10668000" cy="1924050"/>
            <a:chOff x="762000" y="3905250"/>
            <a:chExt cx="10668000" cy="1924050"/>
          </a:xfrm>
        </p:grpSpPr>
        <p:sp>
          <p:nvSpPr>
            <p:cNvPr id="48" name="Rectangle 48"/>
            <p:cNvSpPr/>
            <p:nvPr/>
          </p:nvSpPr>
          <p:spPr>
            <a:xfrm>
              <a:off x="762000" y="3905250"/>
              <a:ext cx="10668000" cy="1924050"/>
            </a:xfrm>
            <a:prstGeom prst="roundRect">
              <a:avLst>
                <a:gd name="adj" fmla="val 7921"/>
              </a:avLst>
            </a:prstGeom>
            <a:solidFill>
              <a:srgbClr val="0E1A2E"/>
            </a:solidFill>
            <a:ln w="9525">
              <a:solidFill>
                <a:schemeClr val="accent4"/>
              </a:solidFill>
            </a:ln>
          </p:spPr>
        </p:sp>
        <p:sp>
          <p:nvSpPr>
            <p:cNvPr id="49" name="TextBox 49"/>
            <p:cNvSpPr txBox="1"/>
            <p:nvPr/>
          </p:nvSpPr>
          <p:spPr>
            <a:xfrm>
              <a:off x="1042035" y="4126706"/>
              <a:ext cx="2227814" cy="220028"/>
            </a:xfrm>
            <a:prstGeom prst="rect">
              <a:avLst/>
            </a:prstGeom>
            <a:noFill/>
            <a:ln>
              <a:noFill/>
            </a:ln>
          </p:spPr>
          <p:txBody>
            <a:bodyPr wrap="none" lIns="0" tIns="0" rIns="0" bIns="0" anchor="t" anchorCtr="0">
              <a:spAutoFit/>
            </a:bodyPr>
            <a:lstStyle/>
            <a:p>
              <a:pPr algn="l"/>
              <a:r>
                <a:rPr lang="en-US" sz="1120" b="1" spc="112" dirty="0">
                  <a:solidFill>
                    <a:schemeClr val="dk2"/>
                  </a:solidFill>
                  <a:latin typeface="+mn-lt"/>
                  <a:ea typeface="+mn-ea"/>
                  <a:cs typeface="+mn-cs"/>
                </a:rPr>
                <a:t>THE EMULATION PIPELINE</a:t>
              </a:r>
            </a:p>
          </p:txBody>
        </p:sp>
        <p:sp>
          <p:nvSpPr>
            <p:cNvPr id="50" name="Rectangle 50"/>
            <p:cNvSpPr/>
            <p:nvPr/>
          </p:nvSpPr>
          <p:spPr>
            <a:xfrm>
              <a:off x="1143000" y="4476750"/>
              <a:ext cx="1714500" cy="1047750"/>
            </a:xfrm>
            <a:prstGeom prst="roundRect">
              <a:avLst>
                <a:gd name="adj" fmla="val 10909"/>
              </a:avLst>
            </a:prstGeom>
            <a:gradFill>
              <a:gsLst>
                <a:gs pos="0">
                  <a:srgbClr val="1B2C48"/>
                </a:gs>
                <a:gs pos="100000">
                  <a:srgbClr val="14223A"/>
                </a:gs>
              </a:gsLst>
              <a:lin ang="5400000" scaled="1"/>
            </a:gradFill>
            <a:ln w="14288">
              <a:solidFill>
                <a:schemeClr val="accent3"/>
              </a:solidFill>
            </a:ln>
          </p:spPr>
        </p:sp>
        <p:sp>
          <p:nvSpPr>
            <p:cNvPr id="51" name="TextBox 51"/>
            <p:cNvSpPr txBox="1"/>
            <p:nvPr/>
          </p:nvSpPr>
          <p:spPr>
            <a:xfrm>
              <a:off x="1482673" y="4601528"/>
              <a:ext cx="1035154" cy="498729"/>
            </a:xfrm>
            <a:prstGeom prst="rect">
              <a:avLst/>
            </a:prstGeom>
            <a:noFill/>
            <a:ln>
              <a:noFill/>
            </a:ln>
          </p:spPr>
          <p:txBody>
            <a:bodyPr wrap="none" lIns="0" tIns="0" rIns="0" bIns="0" anchor="t" anchorCtr="0">
              <a:spAutoFit/>
            </a:bodyPr>
            <a:lstStyle/>
            <a:p>
              <a:pPr algn="ctr"/>
              <a:r>
                <a:rPr lang="en-US" sz="2550" b="1" dirty="0">
                  <a:solidFill>
                    <a:srgbClr val="7DBBFF"/>
                  </a:solidFill>
                  <a:latin typeface="+mn-lt"/>
                  <a:ea typeface="+mn-ea"/>
                  <a:cs typeface="+mn-cs"/>
                </a:rPr>
                <a:t>x ∈ ℝ⁸</a:t>
              </a:r>
            </a:p>
          </p:txBody>
        </p:sp>
        <p:sp>
          <p:nvSpPr>
            <p:cNvPr id="52" name="TextBox 52"/>
            <p:cNvSpPr txBox="1"/>
            <p:nvPr/>
          </p:nvSpPr>
          <p:spPr>
            <a:xfrm>
              <a:off x="1657761" y="5063014"/>
              <a:ext cx="684977" cy="249364"/>
            </a:xfrm>
            <a:prstGeom prst="rect">
              <a:avLst/>
            </a:prstGeom>
            <a:noFill/>
            <a:ln>
              <a:noFill/>
            </a:ln>
          </p:spPr>
          <p:txBody>
            <a:bodyPr wrap="none" lIns="0" tIns="0" rIns="0" bIns="0" anchor="t" anchorCtr="0">
              <a:spAutoFit/>
            </a:bodyPr>
            <a:lstStyle/>
            <a:p>
              <a:pPr algn="ctr"/>
              <a:r>
                <a:rPr lang="en-US" sz="1280" dirty="0">
                  <a:solidFill>
                    <a:schemeClr val="dk2"/>
                  </a:solidFill>
                  <a:latin typeface="+mn-lt"/>
                  <a:ea typeface="+mn-ea"/>
                  <a:cs typeface="+mn-cs"/>
                </a:rPr>
                <a:t>8 galaxy</a:t>
              </a:r>
            </a:p>
          </p:txBody>
        </p:sp>
        <p:sp>
          <p:nvSpPr>
            <p:cNvPr id="53" name="TextBox 53"/>
            <p:cNvSpPr txBox="1"/>
            <p:nvPr/>
          </p:nvSpPr>
          <p:spPr>
            <a:xfrm>
              <a:off x="1502679" y="5263039"/>
              <a:ext cx="995142" cy="249364"/>
            </a:xfrm>
            <a:prstGeom prst="rect">
              <a:avLst/>
            </a:prstGeom>
            <a:noFill/>
            <a:ln>
              <a:noFill/>
            </a:ln>
          </p:spPr>
          <p:txBody>
            <a:bodyPr wrap="none" lIns="0" tIns="0" rIns="0" bIns="0" anchor="t" anchorCtr="0">
              <a:spAutoFit/>
            </a:bodyPr>
            <a:lstStyle/>
            <a:p>
              <a:pPr algn="ctr"/>
              <a:r>
                <a:rPr lang="en-US" sz="1280" dirty="0">
                  <a:solidFill>
                    <a:schemeClr val="dk2"/>
                  </a:solidFill>
                  <a:latin typeface="+mn-lt"/>
                  <a:ea typeface="+mn-ea"/>
                  <a:cs typeface="+mn-cs"/>
                </a:rPr>
                <a:t>parameters</a:t>
              </a:r>
            </a:p>
          </p:txBody>
        </p:sp>
        <p:sp>
          <p:nvSpPr>
            <p:cNvPr id="54" name="Line 54"/>
            <p:cNvSpPr/>
            <p:nvPr/>
          </p:nvSpPr>
          <p:spPr>
            <a:xfrm>
              <a:off x="2933700" y="5000625"/>
              <a:ext cx="800100" cy="1"/>
            </a:xfrm>
            <a:prstGeom prst="line">
              <a:avLst/>
            </a:prstGeom>
            <a:noFill/>
            <a:ln w="23812">
              <a:solidFill>
                <a:srgbClr val="7DBBFF"/>
              </a:solidFill>
              <a:tailEnd type="triangle" w="lg" len="lg"/>
            </a:ln>
          </p:spPr>
        </p:sp>
        <p:sp>
          <p:nvSpPr>
            <p:cNvPr id="55" name="Rectangle 55"/>
            <p:cNvSpPr/>
            <p:nvPr/>
          </p:nvSpPr>
          <p:spPr>
            <a:xfrm>
              <a:off x="3810000" y="4476750"/>
              <a:ext cx="4572000" cy="1047750"/>
            </a:xfrm>
            <a:prstGeom prst="roundRect">
              <a:avLst>
                <a:gd name="adj" fmla="val 10909"/>
              </a:avLst>
            </a:prstGeom>
            <a:solidFill>
              <a:srgbClr val="1B2C48"/>
            </a:solidFill>
            <a:ln w="14288">
              <a:solidFill>
                <a:schemeClr val="accent1"/>
              </a:solidFill>
            </a:ln>
          </p:spPr>
        </p:sp>
        <p:sp>
          <p:nvSpPr>
            <p:cNvPr id="56" name="TextBox 56"/>
            <p:cNvSpPr txBox="1"/>
            <p:nvPr/>
          </p:nvSpPr>
          <p:spPr>
            <a:xfrm>
              <a:off x="4845596" y="4616768"/>
              <a:ext cx="2500809" cy="264033"/>
            </a:xfrm>
            <a:prstGeom prst="rect">
              <a:avLst/>
            </a:prstGeom>
            <a:noFill/>
            <a:ln>
              <a:noFill/>
            </a:ln>
          </p:spPr>
          <p:txBody>
            <a:bodyPr wrap="none" lIns="0" tIns="0" rIns="0" bIns="0" anchor="t" anchorCtr="0">
              <a:spAutoFit/>
            </a:bodyPr>
            <a:lstStyle/>
            <a:p>
              <a:pPr algn="ctr"/>
              <a:r>
                <a:rPr lang="en-US" sz="1350" b="1" dirty="0">
                  <a:solidFill>
                    <a:schemeClr val="accent2"/>
                  </a:solidFill>
                  <a:latin typeface="+mn-lt"/>
                  <a:ea typeface="+mn-ea"/>
                  <a:cs typeface="+mn-cs"/>
                </a:rPr>
                <a:t>Ψθ — convolutional network</a:t>
              </a:r>
            </a:p>
          </p:txBody>
        </p:sp>
        <p:sp>
          <p:nvSpPr>
            <p:cNvPr id="57" name="Rectangle 57"/>
            <p:cNvSpPr/>
            <p:nvPr/>
          </p:nvSpPr>
          <p:spPr>
            <a:xfrm>
              <a:off x="4038600" y="4914900"/>
              <a:ext cx="666750" cy="438150"/>
            </a:xfrm>
            <a:prstGeom prst="roundRect">
              <a:avLst>
                <a:gd name="adj" fmla="val 17391"/>
              </a:avLst>
            </a:prstGeom>
            <a:gradFill>
              <a:gsLst>
                <a:gs pos="0">
                  <a:schemeClr val="accent1"/>
                </a:gs>
                <a:gs pos="100000">
                  <a:schemeClr val="accent2"/>
                </a:gs>
              </a:gsLst>
              <a:lin ang="0" scaled="1"/>
            </a:gradFill>
            <a:ln>
              <a:noFill/>
            </a:ln>
          </p:spPr>
        </p:sp>
        <p:sp>
          <p:nvSpPr>
            <p:cNvPr id="58" name="Rectangle 58"/>
            <p:cNvSpPr/>
            <p:nvPr/>
          </p:nvSpPr>
          <p:spPr>
            <a:xfrm>
              <a:off x="4876800" y="4914900"/>
              <a:ext cx="666750" cy="438150"/>
            </a:xfrm>
            <a:prstGeom prst="roundRect">
              <a:avLst>
                <a:gd name="adj" fmla="val 17391"/>
              </a:avLst>
            </a:prstGeom>
            <a:gradFill>
              <a:gsLst>
                <a:gs pos="0">
                  <a:schemeClr val="accent1"/>
                </a:gs>
                <a:gs pos="100000">
                  <a:schemeClr val="accent2"/>
                </a:gs>
              </a:gsLst>
              <a:lin ang="0" scaled="1"/>
            </a:gradFill>
            <a:ln>
              <a:noFill/>
            </a:ln>
          </p:spPr>
        </p:sp>
        <p:sp>
          <p:nvSpPr>
            <p:cNvPr id="59" name="Rectangle 59"/>
            <p:cNvSpPr/>
            <p:nvPr/>
          </p:nvSpPr>
          <p:spPr>
            <a:xfrm>
              <a:off x="5715000" y="4914900"/>
              <a:ext cx="666750" cy="438150"/>
            </a:xfrm>
            <a:prstGeom prst="roundRect">
              <a:avLst>
                <a:gd name="adj" fmla="val 17391"/>
              </a:avLst>
            </a:prstGeom>
            <a:gradFill>
              <a:gsLst>
                <a:gs pos="0">
                  <a:schemeClr val="accent1"/>
                </a:gs>
                <a:gs pos="100000">
                  <a:schemeClr val="accent2"/>
                </a:gs>
              </a:gsLst>
              <a:lin ang="0" scaled="1"/>
            </a:gradFill>
            <a:ln>
              <a:noFill/>
            </a:ln>
          </p:spPr>
        </p:sp>
        <p:sp>
          <p:nvSpPr>
            <p:cNvPr id="60" name="Rectangle 60"/>
            <p:cNvSpPr/>
            <p:nvPr/>
          </p:nvSpPr>
          <p:spPr>
            <a:xfrm>
              <a:off x="6553200" y="4914900"/>
              <a:ext cx="666750" cy="438150"/>
            </a:xfrm>
            <a:prstGeom prst="roundRect">
              <a:avLst>
                <a:gd name="adj" fmla="val 17391"/>
              </a:avLst>
            </a:prstGeom>
            <a:gradFill>
              <a:gsLst>
                <a:gs pos="0">
                  <a:schemeClr val="accent1"/>
                </a:gs>
                <a:gs pos="100000">
                  <a:schemeClr val="accent2"/>
                </a:gs>
              </a:gsLst>
              <a:lin ang="0" scaled="1"/>
            </a:gradFill>
            <a:ln>
              <a:noFill/>
            </a:ln>
          </p:spPr>
        </p:sp>
        <p:sp>
          <p:nvSpPr>
            <p:cNvPr id="61" name="Rectangle 61"/>
            <p:cNvSpPr/>
            <p:nvPr/>
          </p:nvSpPr>
          <p:spPr>
            <a:xfrm>
              <a:off x="7391400" y="4914900"/>
              <a:ext cx="666750" cy="438150"/>
            </a:xfrm>
            <a:prstGeom prst="roundRect">
              <a:avLst>
                <a:gd name="adj" fmla="val 17391"/>
              </a:avLst>
            </a:prstGeom>
            <a:gradFill>
              <a:gsLst>
                <a:gs pos="0">
                  <a:schemeClr val="accent1"/>
                </a:gs>
                <a:gs pos="100000">
                  <a:schemeClr val="accent2"/>
                </a:gs>
              </a:gsLst>
              <a:lin ang="0" scaled="1"/>
            </a:gradFill>
            <a:ln>
              <a:noFill/>
            </a:ln>
          </p:spPr>
        </p:sp>
        <p:sp>
          <p:nvSpPr>
            <p:cNvPr id="62" name="TextBox 62"/>
            <p:cNvSpPr txBox="1"/>
            <p:nvPr/>
          </p:nvSpPr>
          <p:spPr>
            <a:xfrm>
              <a:off x="4719043" y="5498306"/>
              <a:ext cx="2753914" cy="220028"/>
            </a:xfrm>
            <a:prstGeom prst="rect">
              <a:avLst/>
            </a:prstGeom>
            <a:noFill/>
            <a:ln>
              <a:noFill/>
            </a:ln>
          </p:spPr>
          <p:txBody>
            <a:bodyPr wrap="none" lIns="0" tIns="0" rIns="0" bIns="0" anchor="t" anchorCtr="0">
              <a:spAutoFit/>
            </a:bodyPr>
            <a:lstStyle/>
            <a:p>
              <a:pPr algn="ctr"/>
              <a:r>
                <a:rPr lang="en-US" sz="1120" dirty="0">
                  <a:solidFill>
                    <a:schemeClr val="dk2"/>
                  </a:solidFill>
                  <a:latin typeface="+mn-lt"/>
                  <a:ea typeface="+mn-ea"/>
                  <a:cs typeface="+mn-cs"/>
                </a:rPr>
                <a:t>5 blocks × (2 conv → upsample → ReLU)</a:t>
              </a:r>
            </a:p>
          </p:txBody>
        </p:sp>
        <p:sp>
          <p:nvSpPr>
            <p:cNvPr id="63" name="Line 63"/>
            <p:cNvSpPr/>
            <p:nvPr/>
          </p:nvSpPr>
          <p:spPr>
            <a:xfrm>
              <a:off x="8458200" y="5000625"/>
              <a:ext cx="800100" cy="1"/>
            </a:xfrm>
            <a:prstGeom prst="line">
              <a:avLst/>
            </a:prstGeom>
            <a:noFill/>
            <a:ln w="23812">
              <a:solidFill>
                <a:schemeClr val="accent1"/>
              </a:solidFill>
              <a:tailEnd type="triangle" w="lg" len="lg"/>
            </a:ln>
          </p:spPr>
        </p:sp>
        <p:sp>
          <p:nvSpPr>
            <p:cNvPr id="64" name="Rectangle 64"/>
            <p:cNvSpPr/>
            <p:nvPr/>
          </p:nvSpPr>
          <p:spPr>
            <a:xfrm>
              <a:off x="9334500" y="4476750"/>
              <a:ext cx="1905000" cy="1047750"/>
            </a:xfrm>
            <a:prstGeom prst="roundRect">
              <a:avLst>
                <a:gd name="adj" fmla="val 10909"/>
              </a:avLst>
            </a:prstGeom>
            <a:gradFill>
              <a:gsLst>
                <a:gs pos="0">
                  <a:srgbClr val="1B2C48"/>
                </a:gs>
                <a:gs pos="100000">
                  <a:srgbClr val="14223A"/>
                </a:gs>
              </a:gsLst>
              <a:lin ang="5400000" scaled="1"/>
            </a:gradFill>
            <a:ln w="14288">
              <a:solidFill>
                <a:srgbClr val="35D0A5"/>
              </a:solidFill>
            </a:ln>
          </p:spPr>
        </p:sp>
        <p:sp>
          <p:nvSpPr>
            <p:cNvPr id="65" name="TextBox 65"/>
            <p:cNvSpPr txBox="1"/>
            <p:nvPr/>
          </p:nvSpPr>
          <p:spPr>
            <a:xfrm>
              <a:off x="9806461" y="4633912"/>
              <a:ext cx="961077" cy="440055"/>
            </a:xfrm>
            <a:prstGeom prst="rect">
              <a:avLst/>
            </a:prstGeom>
            <a:noFill/>
            <a:ln>
              <a:noFill/>
            </a:ln>
          </p:spPr>
          <p:txBody>
            <a:bodyPr wrap="none" lIns="0" tIns="0" rIns="0" bIns="0" anchor="t" anchorCtr="0">
              <a:spAutoFit/>
            </a:bodyPr>
            <a:lstStyle/>
            <a:p>
              <a:pPr algn="ctr"/>
              <a:r>
                <a:rPr lang="en-US" sz="2250" b="1" dirty="0">
                  <a:solidFill>
                    <a:srgbClr val="35D0A5"/>
                  </a:solidFill>
                  <a:latin typeface="+mn-lt"/>
                  <a:ea typeface="+mn-ea"/>
                  <a:cs typeface="+mn-cs"/>
                </a:rPr>
                <a:t>v_rms</a:t>
              </a:r>
            </a:p>
          </p:txBody>
        </p:sp>
        <p:sp>
          <p:nvSpPr>
            <p:cNvPr id="66" name="TextBox 66"/>
            <p:cNvSpPr txBox="1"/>
            <p:nvPr/>
          </p:nvSpPr>
          <p:spPr>
            <a:xfrm>
              <a:off x="9776506" y="5063014"/>
              <a:ext cx="1020989" cy="249364"/>
            </a:xfrm>
            <a:prstGeom prst="rect">
              <a:avLst/>
            </a:prstGeom>
            <a:noFill/>
            <a:ln>
              <a:noFill/>
            </a:ln>
          </p:spPr>
          <p:txBody>
            <a:bodyPr wrap="none" lIns="0" tIns="0" rIns="0" bIns="0" anchor="t" anchorCtr="0">
              <a:spAutoFit/>
            </a:bodyPr>
            <a:lstStyle/>
            <a:p>
              <a:pPr algn="ctr"/>
              <a:r>
                <a:rPr lang="en-US" sz="1280" dirty="0">
                  <a:solidFill>
                    <a:schemeClr val="dk2"/>
                  </a:solidFill>
                  <a:latin typeface="+mn-lt"/>
                  <a:ea typeface="+mn-ea"/>
                  <a:cs typeface="+mn-cs"/>
                </a:rPr>
                <a:t>d×d velocity</a:t>
              </a:r>
            </a:p>
          </p:txBody>
        </p:sp>
        <p:sp>
          <p:nvSpPr>
            <p:cNvPr id="67" name="TextBox 67"/>
            <p:cNvSpPr txBox="1"/>
            <p:nvPr/>
          </p:nvSpPr>
          <p:spPr>
            <a:xfrm>
              <a:off x="10047900" y="5263039"/>
              <a:ext cx="478201" cy="249364"/>
            </a:xfrm>
            <a:prstGeom prst="rect">
              <a:avLst/>
            </a:prstGeom>
            <a:noFill/>
            <a:ln>
              <a:noFill/>
            </a:ln>
          </p:spPr>
          <p:txBody>
            <a:bodyPr wrap="none" lIns="0" tIns="0" rIns="0" bIns="0" anchor="t" anchorCtr="0">
              <a:spAutoFit/>
            </a:bodyPr>
            <a:lstStyle/>
            <a:p>
              <a:pPr algn="ctr"/>
              <a:r>
                <a:rPr lang="en-US" sz="1280" dirty="0">
                  <a:solidFill>
                    <a:schemeClr val="dk2"/>
                  </a:solidFill>
                  <a:latin typeface="+mn-lt"/>
                  <a:ea typeface="+mn-ea"/>
                  <a:cs typeface="+mn-cs"/>
                </a:rPr>
                <a:t>image</a:t>
              </a:r>
            </a:p>
          </p:txBody>
        </p:sp>
      </p:grpSp>
      <p:grpSp>
        <p:nvGrpSpPr>
          <p:cNvPr id="72" name="Group 72"/>
          <p:cNvGrpSpPr/>
          <p:nvPr/>
        </p:nvGrpSpPr>
        <p:grpSpPr>
          <a:xfrm>
            <a:off x="756666" y="6477000"/>
            <a:ext cx="10678668" cy="301561"/>
            <a:chOff x="756666" y="6477000"/>
            <a:chExt cx="10678668" cy="301561"/>
          </a:xfrm>
        </p:grpSpPr>
        <p:sp>
          <p:nvSpPr>
            <p:cNvPr id="69" name="Line 69"/>
            <p:cNvSpPr/>
            <p:nvPr/>
          </p:nvSpPr>
          <p:spPr>
            <a:xfrm>
              <a:off x="762000" y="6477000"/>
              <a:ext cx="10668000" cy="9525"/>
            </a:xfrm>
            <a:custGeom>
              <a:avLst/>
              <a:gdLst/>
              <a:ahLst/>
              <a:cxnLst/>
              <a:rect l="l" t="t" r="r" b="b"/>
              <a:pathLst>
                <a:path w="10668000" h="9525">
                  <a:moveTo>
                    <a:pt x="0" y="0"/>
                  </a:moveTo>
                  <a:lnTo>
                    <a:pt x="10668000" y="0"/>
                  </a:lnTo>
                </a:path>
              </a:pathLst>
            </a:custGeom>
            <a:noFill/>
            <a:ln w="9525">
              <a:solidFill>
                <a:schemeClr val="accent4"/>
              </a:solidFill>
            </a:ln>
          </p:spPr>
        </p:sp>
        <p:sp>
          <p:nvSpPr>
            <p:cNvPr id="70" name="TextBox 70"/>
            <p:cNvSpPr txBox="1"/>
            <p:nvPr/>
          </p:nvSpPr>
          <p:spPr>
            <a:xfrm>
              <a:off x="756666" y="6573202"/>
              <a:ext cx="2902900" cy="205359"/>
            </a:xfrm>
            <a:prstGeom prst="rect">
              <a:avLst/>
            </a:prstGeom>
            <a:noFill/>
            <a:ln>
              <a:noFill/>
            </a:ln>
          </p:spPr>
          <p:txBody>
            <a:bodyPr wrap="none" lIns="0" tIns="0" rIns="0" bIns="0" anchor="t" anchorCtr="0">
              <a:spAutoFit/>
            </a:bodyPr>
            <a:lstStyle/>
            <a:p>
              <a:pPr algn="l"/>
              <a:r>
                <a:rPr lang="en-US" sz="1050" dirty="0">
                  <a:solidFill>
                    <a:srgbClr val="6B7E9C"/>
                  </a:solidFill>
                  <a:latin typeface="+mn-lt"/>
                  <a:ea typeface="+mn-ea"/>
                  <a:cs typeface="+mn-cs"/>
                </a:rPr>
                <a:t>SKiNN · Stellar Kinematics Neural Network</a:t>
              </a:r>
            </a:p>
          </p:txBody>
        </p:sp>
        <p:sp>
          <p:nvSpPr>
            <p:cNvPr id="71" name="TextBox 71"/>
            <p:cNvSpPr txBox="1"/>
            <p:nvPr/>
          </p:nvSpPr>
          <p:spPr>
            <a:xfrm>
              <a:off x="10951140" y="6573202"/>
              <a:ext cx="484194" cy="205359"/>
            </a:xfrm>
            <a:prstGeom prst="rect">
              <a:avLst/>
            </a:prstGeom>
            <a:noFill/>
            <a:ln>
              <a:noFill/>
            </a:ln>
          </p:spPr>
          <p:txBody>
            <a:bodyPr wrap="none" lIns="0" tIns="0" rIns="0" bIns="0" anchor="t" anchorCtr="0">
              <a:spAutoFit/>
            </a:bodyPr>
            <a:lstStyle/>
            <a:p>
              <a:pPr algn="r"/>
              <a:r>
                <a:rPr lang="en-US" sz="1050" dirty="0">
                  <a:solidFill>
                    <a:srgbClr val="6B7E9C"/>
                  </a:solidFill>
                  <a:latin typeface="+mn-lt"/>
                  <a:ea typeface="+mn-ea"/>
                  <a:cs typeface="+mn-cs"/>
                </a:rPr>
                <a:t>05 / 10</a:t>
              </a:r>
            </a:p>
          </p:txBody>
        </p:sp>
      </p:grpSp>
      <p:sp>
        <p:nvSpPr>
          <p:cNvPr id="73" name="cue_s05_c1_skinn_precalculates_jam_lensing_appl" title="cue_s05_c1_skinn_precalculates_jam_lensing_appl" descr="cue_s05_c1_skinn_precalculates_jam_lensing_appl SKiNN precalculates JAM for use in lensing applications. Formally, it is a function that maps an eight-dimensional vector of galaxy parameters into a d by d image of vrms, the quadratic sum of velocity dispersion and rotational velocity."/>
          <p:cNvSpPr/>
          <p:nvPr/>
        </p:nvSpPr>
        <p:spPr>
          <a:xfrm>
            <a:off x="762000" y="1676095"/>
            <a:ext cx="2634691" cy="20189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cue_s05_c2_eight_inputs_describe_power_law_elli" title="cue_s05_c2_eight_inputs_describe_power_law_elli" descr="cue_s05_c2_eight_inputs_describe_power_law_elli The eight inputs describe a power-law elliptical mass distribution and an elliptical Sérsic light profile, plus the galaxy inclination and orbital anisotropy."/>
          <p:cNvSpPr/>
          <p:nvPr/>
        </p:nvSpPr>
        <p:spPr>
          <a:xfrm>
            <a:off x="3447897" y="1676095"/>
            <a:ext cx="2894380" cy="20189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cue_s05_c3_architecture_consists_five_blocks_tw" title="cue_s05_c3_architecture_consists_five_blocks_tw" descr="cue_s05_c3_architecture_consists_five_blocks_tw The architecture consists of five blocks, each with two two-dimensional convolutional layers followed by an upsampling layer and a ReLU nonlinearity, for about seven million trainable parameters."/>
          <p:cNvSpPr/>
          <p:nvPr/>
        </p:nvSpPr>
        <p:spPr>
          <a:xfrm>
            <a:off x="6133795" y="1676095"/>
            <a:ext cx="2672486" cy="20189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cue_s05_c4_trained_minimizing_standard_mean_squ" title="cue_s05_c4_trained_minimizing_standard_mean_squ" descr="cue_s05_c4_trained_minimizing_standard_mean_squ It is trained by minimizing a standard mean-squared-error loss with the Adam optimizer, using a dataset generated by JAM through the GLEE software so the network learns to mimic the JAM procedure."/>
          <p:cNvSpPr/>
          <p:nvPr/>
        </p:nvSpPr>
        <p:spPr>
          <a:xfrm>
            <a:off x="8819692" y="1676095"/>
            <a:ext cx="2610307" cy="20189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0">
              <a:schemeClr val="lt1"/>
            </a:gs>
            <a:gs pos="100000">
              <a:schemeClr val="accent5"/>
            </a:gs>
          </a:gsLst>
          <a:lin ang="4242597" scaled="1"/>
        </a:gradFill>
        <a:effectLst/>
      </p:bgPr>
    </p:bg>
    <p:spTree>
      <p:nvGrpSpPr>
        <p:cNvPr id="1" name=""/>
        <p:cNvGrpSpPr/>
        <p:nvPr/>
      </p:nvGrpSpPr>
      <p:grpSpPr>
        <a:xfrm>
          <a:off x="0" y="0"/>
          <a:ext cx="0" cy="0"/>
          <a:chOff x="0" y="0"/>
          <a:chExt cx="0" cy="0"/>
        </a:xfrm>
      </p:grpSpPr>
      <p:grpSp>
        <p:nvGrpSpPr>
          <p:cNvPr id="5" name="Group 5"/>
          <p:cNvGrpSpPr/>
          <p:nvPr/>
        </p:nvGrpSpPr>
        <p:grpSpPr>
          <a:xfrm>
            <a:off x="10096500" y="-1047750"/>
            <a:ext cx="2857500" cy="2857500"/>
            <a:chOff x="10096500" y="-1047750"/>
            <a:chExt cx="2857500" cy="2857500"/>
          </a:xfrm>
        </p:grpSpPr>
        <p:sp>
          <p:nvSpPr>
            <p:cNvPr id="2" name="Ellipse 2"/>
            <p:cNvSpPr/>
            <p:nvPr/>
          </p:nvSpPr>
          <p:spPr>
            <a:xfrm>
              <a:off x="10096500" y="-1047750"/>
              <a:ext cx="2857500" cy="2857500"/>
            </a:xfrm>
            <a:prstGeom prst="ellipse">
              <a:avLst/>
            </a:prstGeom>
            <a:noFill/>
            <a:ln w="14288">
              <a:solidFill>
                <a:srgbClr val="213556">
                  <a:alpha val="60000"/>
                </a:srgbClr>
              </a:solidFill>
            </a:ln>
          </p:spPr>
        </p:sp>
        <p:sp>
          <p:nvSpPr>
            <p:cNvPr id="3" name="Ellipse 3"/>
            <p:cNvSpPr/>
            <p:nvPr/>
          </p:nvSpPr>
          <p:spPr>
            <a:xfrm>
              <a:off x="10620375" y="-523875"/>
              <a:ext cx="1809750" cy="1809750"/>
            </a:xfrm>
            <a:prstGeom prst="ellipse">
              <a:avLst/>
            </a:prstGeom>
            <a:noFill/>
            <a:ln w="14288">
              <a:solidFill>
                <a:srgbClr val="213556">
                  <a:alpha val="45000"/>
                </a:srgbClr>
              </a:solidFill>
            </a:ln>
          </p:spPr>
        </p:sp>
        <p:sp>
          <p:nvSpPr>
            <p:cNvPr id="4" name="Ellipse 4"/>
            <p:cNvSpPr/>
            <p:nvPr/>
          </p:nvSpPr>
          <p:spPr>
            <a:xfrm>
              <a:off x="10582275" y="342900"/>
              <a:ext cx="76200" cy="76200"/>
            </a:xfrm>
            <a:prstGeom prst="ellipse">
              <a:avLst/>
            </a:prstGeom>
            <a:solidFill>
              <a:schemeClr val="accent3"/>
            </a:solidFill>
            <a:ln>
              <a:noFill/>
            </a:ln>
          </p:spPr>
        </p:sp>
      </p:grpSp>
      <p:grpSp>
        <p:nvGrpSpPr>
          <p:cNvPr id="11" name="Group 11"/>
          <p:cNvGrpSpPr/>
          <p:nvPr/>
        </p:nvGrpSpPr>
        <p:grpSpPr>
          <a:xfrm>
            <a:off x="762000" y="514350"/>
            <a:ext cx="6935061" cy="834390"/>
            <a:chOff x="762000" y="514350"/>
            <a:chExt cx="6935061" cy="834390"/>
          </a:xfrm>
        </p:grpSpPr>
        <p:sp>
          <p:nvSpPr>
            <p:cNvPr id="6" name="Rectangle 6"/>
            <p:cNvSpPr/>
            <p:nvPr/>
          </p:nvSpPr>
          <p:spPr>
            <a:xfrm>
              <a:off x="762000" y="514350"/>
              <a:ext cx="438150" cy="438150"/>
            </a:xfrm>
            <a:prstGeom prst="roundRect">
              <a:avLst>
                <a:gd name="adj" fmla="val 26087"/>
              </a:avLst>
            </a:prstGeom>
            <a:gradFill>
              <a:gsLst>
                <a:gs pos="0">
                  <a:srgbClr val="1B2C48"/>
                </a:gs>
                <a:gs pos="100000">
                  <a:srgbClr val="14223A"/>
                </a:gs>
              </a:gsLst>
              <a:lin ang="5400000" scaled="1"/>
            </a:gradFill>
            <a:ln w="9525">
              <a:solidFill>
                <a:schemeClr val="accent4"/>
              </a:solidFill>
            </a:ln>
          </p:spPr>
        </p:sp>
        <p:sp>
          <p:nvSpPr>
            <p:cNvPr id="7" name="TextBox 7"/>
            <p:cNvSpPr txBox="1"/>
            <p:nvPr/>
          </p:nvSpPr>
          <p:spPr>
            <a:xfrm>
              <a:off x="844417" y="641032"/>
              <a:ext cx="273316" cy="322707"/>
            </a:xfrm>
            <a:prstGeom prst="rect">
              <a:avLst/>
            </a:prstGeom>
            <a:noFill/>
            <a:ln>
              <a:noFill/>
            </a:ln>
          </p:spPr>
          <p:txBody>
            <a:bodyPr wrap="none" lIns="0" tIns="0" rIns="0" bIns="0" anchor="t" anchorCtr="0">
              <a:spAutoFit/>
            </a:bodyPr>
            <a:lstStyle/>
            <a:p>
              <a:pPr algn="ctr"/>
              <a:r>
                <a:rPr lang="en-US" sz="1650" b="1" dirty="0">
                  <a:solidFill>
                    <a:schemeClr val="accent1"/>
                  </a:solidFill>
                  <a:latin typeface="+mn-lt"/>
                  <a:ea typeface="+mn-ea"/>
                  <a:cs typeface="+mn-cs"/>
                </a:rPr>
                <a:t>06</a:t>
              </a:r>
            </a:p>
          </p:txBody>
        </p:sp>
        <p:sp>
          <p:nvSpPr>
            <p:cNvPr id="8" name="TextBox 8"/>
            <p:cNvSpPr txBox="1"/>
            <p:nvPr/>
          </p:nvSpPr>
          <p:spPr>
            <a:xfrm>
              <a:off x="1346073" y="548164"/>
              <a:ext cx="2529407" cy="249364"/>
            </a:xfrm>
            <a:prstGeom prst="rect">
              <a:avLst/>
            </a:prstGeom>
            <a:noFill/>
            <a:ln>
              <a:noFill/>
            </a:ln>
          </p:spPr>
          <p:txBody>
            <a:bodyPr wrap="none" lIns="0" tIns="0" rIns="0" bIns="0" anchor="t" anchorCtr="0">
              <a:spAutoFit/>
            </a:bodyPr>
            <a:lstStyle/>
            <a:p>
              <a:pPr algn="l"/>
              <a:r>
                <a:rPr lang="en-US" sz="1280" b="1" spc="225" dirty="0">
                  <a:solidFill>
                    <a:schemeClr val="dk2"/>
                  </a:solidFill>
                  <a:latin typeface="+mn-lt"/>
                  <a:ea typeface="+mn-ea"/>
                  <a:cs typeface="+mn-cs"/>
                </a:rPr>
                <a:t>DATASET &amp; BENCHMARK</a:t>
              </a:r>
            </a:p>
          </p:txBody>
        </p:sp>
        <p:sp>
          <p:nvSpPr>
            <p:cNvPr id="9" name="TextBox 9"/>
            <p:cNvSpPr txBox="1"/>
            <p:nvPr/>
          </p:nvSpPr>
          <p:spPr>
            <a:xfrm>
              <a:off x="1337310" y="762000"/>
              <a:ext cx="6359751" cy="586740"/>
            </a:xfrm>
            <a:prstGeom prst="rect">
              <a:avLst/>
            </a:prstGeom>
            <a:noFill/>
            <a:ln>
              <a:noFill/>
            </a:ln>
          </p:spPr>
          <p:txBody>
            <a:bodyPr wrap="none" lIns="0" tIns="0" rIns="0" bIns="0" anchor="t" anchorCtr="0">
              <a:spAutoFit/>
            </a:bodyPr>
            <a:lstStyle/>
            <a:p>
              <a:pPr algn="l"/>
              <a:r>
                <a:rPr lang="en-US" sz="3000" b="1" dirty="0">
                  <a:solidFill>
                    <a:schemeClr val="dk1"/>
                  </a:solidFill>
                  <a:latin typeface="+mn-lt"/>
                  <a:ea typeface="+mn-ea"/>
                  <a:cs typeface="+mn-cs"/>
                </a:rPr>
                <a:t>5000 JAM images to learn from</a:t>
              </a:r>
            </a:p>
          </p:txBody>
        </p:sp>
        <p:sp>
          <p:nvSpPr>
            <p:cNvPr id="10" name="Rectangle 10"/>
            <p:cNvSpPr/>
            <p:nvPr/>
          </p:nvSpPr>
          <p:spPr>
            <a:xfrm>
              <a:off x="1352550" y="1219200"/>
              <a:ext cx="609600" cy="38100"/>
            </a:xfrm>
            <a:prstGeom prst="roundRect">
              <a:avLst>
                <a:gd name="adj" fmla="val 50000"/>
              </a:avLst>
            </a:prstGeom>
            <a:gradFill>
              <a:gsLst>
                <a:gs pos="0">
                  <a:schemeClr val="accent1"/>
                </a:gs>
                <a:gs pos="100000">
                  <a:schemeClr val="accent2"/>
                </a:gs>
              </a:gsLst>
              <a:lin ang="0" scaled="1"/>
            </a:gradFill>
            <a:ln>
              <a:noFill/>
            </a:ln>
          </p:spPr>
        </p:sp>
      </p:grpSp>
      <p:grpSp>
        <p:nvGrpSpPr>
          <p:cNvPr id="19" name="Group 19"/>
          <p:cNvGrpSpPr/>
          <p:nvPr/>
        </p:nvGrpSpPr>
        <p:grpSpPr>
          <a:xfrm>
            <a:off x="762000" y="1695450"/>
            <a:ext cx="5191125" cy="1905000"/>
            <a:chOff x="762000" y="1695450"/>
            <a:chExt cx="5191125" cy="1905000"/>
          </a:xfrm>
        </p:grpSpPr>
        <p:sp>
          <p:nvSpPr>
            <p:cNvPr id="12" name="Rectangle 12"/>
            <p:cNvSpPr/>
            <p:nvPr/>
          </p:nvSpPr>
          <p:spPr>
            <a:xfrm>
              <a:off x="762000" y="1695450"/>
              <a:ext cx="5191125" cy="1905000"/>
            </a:xfrm>
            <a:prstGeom prst="roundRect">
              <a:avLst>
                <a:gd name="adj" fmla="val 8000"/>
              </a:avLst>
            </a:prstGeom>
            <a:gradFill>
              <a:gsLst>
                <a:gs pos="0">
                  <a:srgbClr val="1B2C48"/>
                </a:gs>
                <a:gs pos="100000">
                  <a:srgbClr val="14223A"/>
                </a:gs>
              </a:gsLst>
              <a:lin ang="5400000" scaled="1"/>
            </a:gradFill>
            <a:ln w="9525">
              <a:solidFill>
                <a:schemeClr val="accent4"/>
              </a:solidFill>
            </a:ln>
          </p:spPr>
        </p:sp>
        <p:sp>
          <p:nvSpPr>
            <p:cNvPr id="13" name="Rectangle 13"/>
            <p:cNvSpPr/>
            <p:nvPr/>
          </p:nvSpPr>
          <p:spPr>
            <a:xfrm>
              <a:off x="762000" y="1695450"/>
              <a:ext cx="57150" cy="1905000"/>
            </a:xfrm>
            <a:prstGeom prst="roundRect">
              <a:avLst>
                <a:gd name="adj" fmla="val 50000"/>
              </a:avLst>
            </a:prstGeom>
            <a:solidFill>
              <a:schemeClr val="accent1"/>
            </a:solidFill>
            <a:ln>
              <a:noFill/>
            </a:ln>
          </p:spPr>
        </p:sp>
        <p:sp>
          <p:nvSpPr>
            <p:cNvPr id="14" name="TextBox 14"/>
            <p:cNvSpPr txBox="1"/>
            <p:nvPr/>
          </p:nvSpPr>
          <p:spPr>
            <a:xfrm>
              <a:off x="1061847" y="1990249"/>
              <a:ext cx="1143836" cy="190690"/>
            </a:xfrm>
            <a:prstGeom prst="rect">
              <a:avLst/>
            </a:prstGeom>
            <a:noFill/>
            <a:ln>
              <a:noFill/>
            </a:ln>
          </p:spPr>
          <p:txBody>
            <a:bodyPr wrap="none" lIns="0" tIns="0" rIns="0" bIns="0" anchor="t" anchorCtr="0">
              <a:spAutoFit/>
            </a:bodyPr>
            <a:lstStyle/>
            <a:p>
              <a:pPr algn="l"/>
              <a:r>
                <a:rPr lang="en-US" sz="980" b="1" spc="112" dirty="0">
                  <a:solidFill>
                    <a:schemeClr val="accent2"/>
                  </a:solidFill>
                  <a:latin typeface="+mn-lt"/>
                  <a:ea typeface="+mn-ea"/>
                  <a:cs typeface="+mn-cs"/>
                </a:rPr>
                <a:t>GROUND TRUTH</a:t>
              </a:r>
            </a:p>
          </p:txBody>
        </p:sp>
        <p:sp>
          <p:nvSpPr>
            <p:cNvPr id="15" name="TextBox 15"/>
            <p:cNvSpPr txBox="1"/>
            <p:nvPr/>
          </p:nvSpPr>
          <p:spPr>
            <a:xfrm>
              <a:off x="1057656" y="2205990"/>
              <a:ext cx="2925915"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Built entirely from JAM</a:t>
              </a:r>
            </a:p>
          </p:txBody>
        </p:sp>
        <p:sp>
          <p:nvSpPr>
            <p:cNvPr id="16" name="TextBox 16"/>
            <p:cNvSpPr txBox="1"/>
            <p:nvPr/>
          </p:nvSpPr>
          <p:spPr>
            <a:xfrm>
              <a:off x="1059561" y="2608421"/>
              <a:ext cx="4398904" cy="278702"/>
            </a:xfrm>
            <a:prstGeom prst="rect">
              <a:avLst/>
            </a:prstGeom>
            <a:noFill/>
            <a:ln>
              <a:noFill/>
            </a:ln>
          </p:spPr>
          <p:txBody>
            <a:bodyPr wrap="none" lIns="0" tIns="0" rIns="0" bIns="0" anchor="t" anchorCtr="0">
              <a:spAutoFit/>
            </a:bodyPr>
            <a:lstStyle/>
            <a:p>
              <a:pPr algn="l"/>
              <a:r>
                <a:rPr lang="en-US" sz="1420" dirty="0">
                  <a:solidFill>
                    <a:schemeClr val="dk2"/>
                  </a:solidFill>
                  <a:latin typeface="+mn-lt"/>
                  <a:ea typeface="+mn-ea"/>
                  <a:cs typeface="+mn-cs"/>
                </a:rPr>
                <a:t>The training set is generated entirely by JAM —</a:t>
              </a:r>
            </a:p>
          </p:txBody>
        </p:sp>
        <p:sp>
          <p:nvSpPr>
            <p:cNvPr id="17" name="TextBox 17"/>
            <p:cNvSpPr txBox="1"/>
            <p:nvPr/>
          </p:nvSpPr>
          <p:spPr>
            <a:xfrm>
              <a:off x="1059561" y="2856071"/>
              <a:ext cx="4542441" cy="278702"/>
            </a:xfrm>
            <a:prstGeom prst="rect">
              <a:avLst/>
            </a:prstGeom>
            <a:noFill/>
            <a:ln>
              <a:noFill/>
            </a:ln>
          </p:spPr>
          <p:txBody>
            <a:bodyPr wrap="none" lIns="0" tIns="0" rIns="0" bIns="0" anchor="t" anchorCtr="0">
              <a:spAutoFit/>
            </a:bodyPr>
            <a:lstStyle/>
            <a:p>
              <a:pPr algn="l"/>
              <a:r>
                <a:rPr lang="en-US" sz="1420" dirty="0">
                  <a:solidFill>
                    <a:schemeClr val="dk2"/>
                  </a:solidFill>
                  <a:latin typeface="+mn-lt"/>
                  <a:ea typeface="+mn-ea"/>
                  <a:cs typeface="+mn-cs"/>
                </a:rPr>
                <a:t>the very physics code SKiNN is meant to imitate.</a:t>
              </a:r>
            </a:p>
          </p:txBody>
        </p:sp>
        <p:sp>
          <p:nvSpPr>
            <p:cNvPr id="18" name="TextBox 18"/>
            <p:cNvSpPr txBox="1"/>
            <p:nvPr/>
          </p:nvSpPr>
          <p:spPr>
            <a:xfrm>
              <a:off x="1059561" y="3103721"/>
              <a:ext cx="4130714" cy="278702"/>
            </a:xfrm>
            <a:prstGeom prst="rect">
              <a:avLst/>
            </a:prstGeom>
            <a:noFill/>
            <a:ln>
              <a:noFill/>
            </a:ln>
          </p:spPr>
          <p:txBody>
            <a:bodyPr wrap="none" lIns="0" tIns="0" rIns="0" bIns="0" anchor="t" anchorCtr="0">
              <a:spAutoFit/>
            </a:bodyPr>
            <a:lstStyle/>
            <a:p>
              <a:pPr algn="l"/>
              <a:r>
                <a:rPr lang="en-US" sz="1420" dirty="0">
                  <a:solidFill>
                    <a:schemeClr val="dk2"/>
                  </a:solidFill>
                  <a:latin typeface="+mn-lt"/>
                  <a:ea typeface="+mn-ea"/>
                  <a:cs typeface="+mn-cs"/>
                </a:rPr>
                <a:t>Parameter ranges are physically motivated.</a:t>
              </a:r>
            </a:p>
          </p:txBody>
        </p:sp>
      </p:grpSp>
      <p:grpSp>
        <p:nvGrpSpPr>
          <p:cNvPr id="33" name="Group 33"/>
          <p:cNvGrpSpPr/>
          <p:nvPr/>
        </p:nvGrpSpPr>
        <p:grpSpPr>
          <a:xfrm>
            <a:off x="6238875" y="1695450"/>
            <a:ext cx="5191125" cy="1905000"/>
            <a:chOff x="6238875" y="1695450"/>
            <a:chExt cx="5191125" cy="1905000"/>
          </a:xfrm>
        </p:grpSpPr>
        <p:sp>
          <p:nvSpPr>
            <p:cNvPr id="20" name="Rectangle 20"/>
            <p:cNvSpPr/>
            <p:nvPr/>
          </p:nvSpPr>
          <p:spPr>
            <a:xfrm>
              <a:off x="6238875" y="1695450"/>
              <a:ext cx="5191125" cy="1905000"/>
            </a:xfrm>
            <a:prstGeom prst="roundRect">
              <a:avLst>
                <a:gd name="adj" fmla="val 8000"/>
              </a:avLst>
            </a:prstGeom>
            <a:gradFill>
              <a:gsLst>
                <a:gs pos="0">
                  <a:srgbClr val="1B2C48"/>
                </a:gs>
                <a:gs pos="100000">
                  <a:srgbClr val="14223A"/>
                </a:gs>
              </a:gsLst>
              <a:lin ang="5400000" scaled="1"/>
            </a:gradFill>
            <a:ln w="9525">
              <a:solidFill>
                <a:schemeClr val="accent4"/>
              </a:solidFill>
            </a:ln>
          </p:spPr>
        </p:sp>
        <p:sp>
          <p:nvSpPr>
            <p:cNvPr id="21" name="Rectangle 21"/>
            <p:cNvSpPr/>
            <p:nvPr/>
          </p:nvSpPr>
          <p:spPr>
            <a:xfrm>
              <a:off x="6238875" y="1695450"/>
              <a:ext cx="57150" cy="1905000"/>
            </a:xfrm>
            <a:prstGeom prst="roundRect">
              <a:avLst>
                <a:gd name="adj" fmla="val 50000"/>
              </a:avLst>
            </a:prstGeom>
            <a:solidFill>
              <a:schemeClr val="accent3"/>
            </a:solidFill>
            <a:ln>
              <a:noFill/>
            </a:ln>
          </p:spPr>
        </p:sp>
        <p:sp>
          <p:nvSpPr>
            <p:cNvPr id="22" name="TextBox 22"/>
            <p:cNvSpPr txBox="1"/>
            <p:nvPr/>
          </p:nvSpPr>
          <p:spPr>
            <a:xfrm>
              <a:off x="6538722" y="1990249"/>
              <a:ext cx="885109" cy="190690"/>
            </a:xfrm>
            <a:prstGeom prst="rect">
              <a:avLst/>
            </a:prstGeom>
            <a:noFill/>
            <a:ln>
              <a:noFill/>
            </a:ln>
          </p:spPr>
          <p:txBody>
            <a:bodyPr wrap="none" lIns="0" tIns="0" rIns="0" bIns="0" anchor="t" anchorCtr="0">
              <a:spAutoFit/>
            </a:bodyPr>
            <a:lstStyle/>
            <a:p>
              <a:pPr algn="l"/>
              <a:r>
                <a:rPr lang="en-US" sz="980" b="1" spc="112" dirty="0">
                  <a:solidFill>
                    <a:srgbClr val="7DBBFF"/>
                  </a:solidFill>
                  <a:latin typeface="+mn-lt"/>
                  <a:ea typeface="+mn-ea"/>
                  <a:cs typeface="+mn-cs"/>
                </a:rPr>
                <a:t>DATA SPLIT</a:t>
              </a:r>
            </a:p>
          </p:txBody>
        </p:sp>
        <p:sp>
          <p:nvSpPr>
            <p:cNvPr id="23" name="TextBox 23"/>
            <p:cNvSpPr txBox="1"/>
            <p:nvPr/>
          </p:nvSpPr>
          <p:spPr>
            <a:xfrm>
              <a:off x="6528435" y="2190750"/>
              <a:ext cx="963397" cy="586740"/>
            </a:xfrm>
            <a:prstGeom prst="rect">
              <a:avLst/>
            </a:prstGeom>
            <a:noFill/>
            <a:ln>
              <a:noFill/>
            </a:ln>
          </p:spPr>
          <p:txBody>
            <a:bodyPr wrap="none" lIns="0" tIns="0" rIns="0" bIns="0" anchor="t" anchorCtr="0">
              <a:spAutoFit/>
            </a:bodyPr>
            <a:lstStyle/>
            <a:p>
              <a:pPr algn="l"/>
              <a:r>
                <a:rPr lang="en-US" sz="3000" b="1" dirty="0">
                  <a:solidFill>
                    <a:schemeClr val="dk1"/>
                  </a:solidFill>
                  <a:latin typeface="+mn-lt"/>
                  <a:ea typeface="+mn-ea"/>
                  <a:cs typeface="+mn-cs"/>
                </a:rPr>
                <a:t>5000</a:t>
              </a:r>
            </a:p>
          </p:txBody>
        </p:sp>
        <p:sp>
          <p:nvSpPr>
            <p:cNvPr id="24" name="TextBox 24"/>
            <p:cNvSpPr txBox="1"/>
            <p:nvPr/>
          </p:nvSpPr>
          <p:spPr>
            <a:xfrm>
              <a:off x="7612380" y="2352675"/>
              <a:ext cx="1862900" cy="293370"/>
            </a:xfrm>
            <a:prstGeom prst="rect">
              <a:avLst/>
            </a:prstGeom>
            <a:noFill/>
            <a:ln>
              <a:noFill/>
            </a:ln>
          </p:spPr>
          <p:txBody>
            <a:bodyPr wrap="none" lIns="0" tIns="0" rIns="0" bIns="0" anchor="t" anchorCtr="0">
              <a:spAutoFit/>
            </a:bodyPr>
            <a:lstStyle/>
            <a:p>
              <a:pPr algn="l"/>
              <a:r>
                <a:rPr lang="en-US" sz="1500" dirty="0">
                  <a:solidFill>
                    <a:schemeClr val="dk2"/>
                  </a:solidFill>
                  <a:latin typeface="+mn-lt"/>
                  <a:ea typeface="+mn-ea"/>
                  <a:cs typeface="+mn-cs"/>
                </a:rPr>
                <a:t>input–output pairs</a:t>
              </a:r>
            </a:p>
          </p:txBody>
        </p:sp>
        <p:sp>
          <p:nvSpPr>
            <p:cNvPr id="25" name="Rectangle 25"/>
            <p:cNvSpPr/>
            <p:nvPr/>
          </p:nvSpPr>
          <p:spPr>
            <a:xfrm>
              <a:off x="6543675" y="2724150"/>
              <a:ext cx="3143250" cy="190500"/>
            </a:xfrm>
            <a:prstGeom prst="roundRect">
              <a:avLst>
                <a:gd name="adj" fmla="val 30000"/>
              </a:avLst>
            </a:prstGeom>
            <a:solidFill>
              <a:srgbClr val="0E1A2E"/>
            </a:solidFill>
            <a:ln>
              <a:noFill/>
            </a:ln>
          </p:spPr>
        </p:sp>
        <p:sp>
          <p:nvSpPr>
            <p:cNvPr id="26" name="Rectangle 26"/>
            <p:cNvSpPr/>
            <p:nvPr/>
          </p:nvSpPr>
          <p:spPr>
            <a:xfrm>
              <a:off x="6543675" y="2724150"/>
              <a:ext cx="2514600" cy="190500"/>
            </a:xfrm>
            <a:prstGeom prst="roundRect">
              <a:avLst>
                <a:gd name="adj" fmla="val 30000"/>
              </a:avLst>
            </a:prstGeom>
            <a:solidFill>
              <a:schemeClr val="accent3"/>
            </a:solidFill>
            <a:ln>
              <a:noFill/>
            </a:ln>
          </p:spPr>
        </p:sp>
        <p:sp>
          <p:nvSpPr>
            <p:cNvPr id="27" name="Rectangle 27"/>
            <p:cNvSpPr/>
            <p:nvPr/>
          </p:nvSpPr>
          <p:spPr>
            <a:xfrm>
              <a:off x="9058275" y="2724150"/>
              <a:ext cx="314325" cy="190500"/>
            </a:xfrm>
            <a:prstGeom prst="rect">
              <a:avLst/>
            </a:prstGeom>
            <a:solidFill>
              <a:schemeClr val="accent1"/>
            </a:solidFill>
            <a:ln>
              <a:noFill/>
            </a:ln>
          </p:spPr>
        </p:sp>
        <p:sp>
          <p:nvSpPr>
            <p:cNvPr id="28" name="Rectangle 28"/>
            <p:cNvSpPr/>
            <p:nvPr/>
          </p:nvSpPr>
          <p:spPr>
            <a:xfrm>
              <a:off x="9372600" y="2724150"/>
              <a:ext cx="314325" cy="190500"/>
            </a:xfrm>
            <a:prstGeom prst="roundRect">
              <a:avLst>
                <a:gd name="adj" fmla="val 30000"/>
              </a:avLst>
            </a:prstGeom>
            <a:solidFill>
              <a:srgbClr val="35D0A5"/>
            </a:solidFill>
            <a:ln>
              <a:noFill/>
            </a:ln>
          </p:spPr>
        </p:sp>
        <p:sp>
          <p:nvSpPr>
            <p:cNvPr id="29" name="TextBox 29"/>
            <p:cNvSpPr txBox="1"/>
            <p:nvPr/>
          </p:nvSpPr>
          <p:spPr>
            <a:xfrm>
              <a:off x="6536817" y="3054668"/>
              <a:ext cx="1068134" cy="264033"/>
            </a:xfrm>
            <a:prstGeom prst="rect">
              <a:avLst/>
            </a:prstGeom>
            <a:noFill/>
            <a:ln>
              <a:noFill/>
            </a:ln>
          </p:spPr>
          <p:txBody>
            <a:bodyPr wrap="none" lIns="0" tIns="0" rIns="0" bIns="0" anchor="t" anchorCtr="0">
              <a:spAutoFit/>
            </a:bodyPr>
            <a:lstStyle/>
            <a:p>
              <a:pPr algn="l" marL="145732" indent="-145732">
                <a:buClr>
                  <a:srgbClr val="7DBBFF"/>
                </a:buClr>
                <a:buSzTx/>
                <a:buFontTx/>
                <a:buChar char="■"/>
              </a:pPr>
              <a:r>
                <a:rPr lang="en-US" sz="1350" dirty="0">
                  <a:solidFill>
                    <a:srgbClr val="7DBBFF"/>
                  </a:solidFill>
                  <a:latin typeface="+mn-lt"/>
                  <a:ea typeface="+mn-ea"/>
                  <a:cs typeface="+mn-cs"/>
                </a:rPr>
                <a:t>4000 train</a:t>
              </a:r>
            </a:p>
          </p:txBody>
        </p:sp>
        <p:sp>
          <p:nvSpPr>
            <p:cNvPr id="30" name="TextBox 30"/>
            <p:cNvSpPr txBox="1"/>
            <p:nvPr/>
          </p:nvSpPr>
          <p:spPr>
            <a:xfrm>
              <a:off x="8060817" y="3054668"/>
              <a:ext cx="768267" cy="264033"/>
            </a:xfrm>
            <a:prstGeom prst="rect">
              <a:avLst/>
            </a:prstGeom>
            <a:noFill/>
            <a:ln>
              <a:noFill/>
            </a:ln>
          </p:spPr>
          <p:txBody>
            <a:bodyPr wrap="none" lIns="0" tIns="0" rIns="0" bIns="0" anchor="t" anchorCtr="0">
              <a:spAutoFit/>
            </a:bodyPr>
            <a:lstStyle/>
            <a:p>
              <a:pPr algn="l" marL="145732" indent="-145732">
                <a:buClr>
                  <a:schemeClr val="accent2"/>
                </a:buClr>
                <a:buSzTx/>
                <a:buFontTx/>
                <a:buChar char="■"/>
              </a:pPr>
              <a:r>
                <a:rPr lang="en-US" sz="1350" dirty="0">
                  <a:solidFill>
                    <a:schemeClr val="accent2"/>
                  </a:solidFill>
                  <a:latin typeface="+mn-lt"/>
                  <a:ea typeface="+mn-ea"/>
                  <a:cs typeface="+mn-cs"/>
                </a:rPr>
                <a:t>500 val</a:t>
              </a:r>
            </a:p>
          </p:txBody>
        </p:sp>
        <p:sp>
          <p:nvSpPr>
            <p:cNvPr id="31" name="TextBox 31"/>
            <p:cNvSpPr txBox="1"/>
            <p:nvPr/>
          </p:nvSpPr>
          <p:spPr>
            <a:xfrm>
              <a:off x="9203817" y="3054668"/>
              <a:ext cx="913657" cy="264033"/>
            </a:xfrm>
            <a:prstGeom prst="rect">
              <a:avLst/>
            </a:prstGeom>
            <a:noFill/>
            <a:ln>
              <a:noFill/>
            </a:ln>
          </p:spPr>
          <p:txBody>
            <a:bodyPr wrap="none" lIns="0" tIns="0" rIns="0" bIns="0" anchor="t" anchorCtr="0">
              <a:spAutoFit/>
            </a:bodyPr>
            <a:lstStyle/>
            <a:p>
              <a:pPr algn="l" marL="145732" indent="-145732">
                <a:buClr>
                  <a:srgbClr val="35D0A5"/>
                </a:buClr>
                <a:buSzTx/>
                <a:buFontTx/>
                <a:buChar char="■"/>
              </a:pPr>
              <a:r>
                <a:rPr lang="en-US" sz="1350" dirty="0">
                  <a:solidFill>
                    <a:srgbClr val="35D0A5"/>
                  </a:solidFill>
                  <a:latin typeface="+mn-lt"/>
                  <a:ea typeface="+mn-ea"/>
                  <a:cs typeface="+mn-cs"/>
                </a:rPr>
                <a:t>500 test</a:t>
              </a:r>
            </a:p>
          </p:txBody>
        </p:sp>
        <p:sp>
          <p:nvSpPr>
            <p:cNvPr id="32" name="TextBox 32"/>
            <p:cNvSpPr txBox="1"/>
            <p:nvPr/>
          </p:nvSpPr>
          <p:spPr>
            <a:xfrm>
              <a:off x="6537579" y="3337560"/>
              <a:ext cx="3509620" cy="234696"/>
            </a:xfrm>
            <a:prstGeom prst="rect">
              <a:avLst/>
            </a:prstGeom>
            <a:noFill/>
            <a:ln>
              <a:noFill/>
            </a:ln>
          </p:spPr>
          <p:txBody>
            <a:bodyPr wrap="none" lIns="0" tIns="0" rIns="0" bIns="0" anchor="t" anchorCtr="0">
              <a:spAutoFit/>
            </a:bodyPr>
            <a:lstStyle/>
            <a:p>
              <a:pPr algn="l"/>
              <a:r>
                <a:rPr lang="en-US" sz="1200" dirty="0">
                  <a:solidFill>
                    <a:srgbClr val="6B7E9C"/>
                  </a:solidFill>
                  <a:latin typeface="+mn-lt"/>
                  <a:ea typeface="+mn-ea"/>
                  <a:cs typeface="+mn-cs"/>
                </a:rPr>
                <a:t>500 test images are held out for evaluation.</a:t>
              </a:r>
            </a:p>
          </p:txBody>
        </p:sp>
      </p:grpSp>
      <p:grpSp>
        <p:nvGrpSpPr>
          <p:cNvPr id="41" name="Group 41"/>
          <p:cNvGrpSpPr/>
          <p:nvPr/>
        </p:nvGrpSpPr>
        <p:grpSpPr>
          <a:xfrm>
            <a:off x="762000" y="3829050"/>
            <a:ext cx="5291767" cy="1905000"/>
            <a:chOff x="762000" y="3829050"/>
            <a:chExt cx="5291767" cy="1905000"/>
          </a:xfrm>
        </p:grpSpPr>
        <p:sp>
          <p:nvSpPr>
            <p:cNvPr id="34" name="Rectangle 34"/>
            <p:cNvSpPr/>
            <p:nvPr/>
          </p:nvSpPr>
          <p:spPr>
            <a:xfrm>
              <a:off x="762000" y="3829050"/>
              <a:ext cx="5191125" cy="1905000"/>
            </a:xfrm>
            <a:prstGeom prst="roundRect">
              <a:avLst>
                <a:gd name="adj" fmla="val 8000"/>
              </a:avLst>
            </a:prstGeom>
            <a:gradFill>
              <a:gsLst>
                <a:gs pos="0">
                  <a:srgbClr val="1B2C48"/>
                </a:gs>
                <a:gs pos="100000">
                  <a:srgbClr val="14223A"/>
                </a:gs>
              </a:gsLst>
              <a:lin ang="5400000" scaled="1"/>
            </a:gradFill>
            <a:ln w="9525">
              <a:solidFill>
                <a:schemeClr val="accent4"/>
              </a:solidFill>
            </a:ln>
          </p:spPr>
        </p:sp>
        <p:sp>
          <p:nvSpPr>
            <p:cNvPr id="35" name="Rectangle 35"/>
            <p:cNvSpPr/>
            <p:nvPr/>
          </p:nvSpPr>
          <p:spPr>
            <a:xfrm>
              <a:off x="762000" y="3829050"/>
              <a:ext cx="57150" cy="1905000"/>
            </a:xfrm>
            <a:prstGeom prst="roundRect">
              <a:avLst>
                <a:gd name="adj" fmla="val 50000"/>
              </a:avLst>
            </a:prstGeom>
            <a:solidFill>
              <a:schemeClr val="accent3"/>
            </a:solidFill>
            <a:ln>
              <a:noFill/>
            </a:ln>
          </p:spPr>
        </p:sp>
        <p:sp>
          <p:nvSpPr>
            <p:cNvPr id="36" name="TextBox 36"/>
            <p:cNvSpPr txBox="1"/>
            <p:nvPr/>
          </p:nvSpPr>
          <p:spPr>
            <a:xfrm>
              <a:off x="1061847" y="4123849"/>
              <a:ext cx="877790" cy="190690"/>
            </a:xfrm>
            <a:prstGeom prst="rect">
              <a:avLst/>
            </a:prstGeom>
            <a:noFill/>
            <a:ln>
              <a:noFill/>
            </a:ln>
          </p:spPr>
          <p:txBody>
            <a:bodyPr wrap="none" lIns="0" tIns="0" rIns="0" bIns="0" anchor="t" anchorCtr="0">
              <a:spAutoFit/>
            </a:bodyPr>
            <a:lstStyle/>
            <a:p>
              <a:pPr algn="l"/>
              <a:r>
                <a:rPr lang="en-US" sz="980" b="1" spc="112" dirty="0">
                  <a:solidFill>
                    <a:srgbClr val="7DBBFF"/>
                  </a:solidFill>
                  <a:latin typeface="+mn-lt"/>
                  <a:ea typeface="+mn-ea"/>
                  <a:cs typeface="+mn-cs"/>
                </a:rPr>
                <a:t>IMAGE SIZE</a:t>
              </a:r>
            </a:p>
          </p:txBody>
        </p:sp>
        <p:sp>
          <p:nvSpPr>
            <p:cNvPr id="37" name="TextBox 37"/>
            <p:cNvSpPr txBox="1"/>
            <p:nvPr/>
          </p:nvSpPr>
          <p:spPr>
            <a:xfrm>
              <a:off x="1052322" y="4321492"/>
              <a:ext cx="2385631" cy="557403"/>
            </a:xfrm>
            <a:prstGeom prst="rect">
              <a:avLst/>
            </a:prstGeom>
            <a:noFill/>
            <a:ln>
              <a:noFill/>
            </a:ln>
          </p:spPr>
          <p:txBody>
            <a:bodyPr wrap="none" lIns="0" tIns="0" rIns="0" bIns="0" anchor="t" anchorCtr="0">
              <a:spAutoFit/>
            </a:bodyPr>
            <a:lstStyle/>
            <a:p>
              <a:pPr algn="l"/>
              <a:r>
                <a:rPr lang="en-US" sz="2850" b="1" dirty="0">
                  <a:solidFill>
                    <a:schemeClr val="dk1"/>
                  </a:solidFill>
                  <a:latin typeface="+mn-lt"/>
                  <a:ea typeface="+mn-ea"/>
                  <a:cs typeface="+mn-cs"/>
                </a:rPr>
                <a:t>551 × 551 px</a:t>
              </a:r>
            </a:p>
          </p:txBody>
        </p:sp>
        <p:sp>
          <p:nvSpPr>
            <p:cNvPr id="38" name="TextBox 38"/>
            <p:cNvSpPr txBox="1"/>
            <p:nvPr/>
          </p:nvSpPr>
          <p:spPr>
            <a:xfrm>
              <a:off x="1059561" y="4837271"/>
              <a:ext cx="4675660" cy="278702"/>
            </a:xfrm>
            <a:prstGeom prst="rect">
              <a:avLst/>
            </a:prstGeom>
            <a:noFill/>
            <a:ln>
              <a:noFill/>
            </a:ln>
          </p:spPr>
          <p:txBody>
            <a:bodyPr wrap="none" lIns="0" tIns="0" rIns="0" bIns="0" anchor="t" anchorCtr="0">
              <a:spAutoFit/>
            </a:bodyPr>
            <a:lstStyle/>
            <a:p>
              <a:pPr algn="l"/>
              <a:r>
                <a:rPr lang="en-US" sz="1420" dirty="0">
                  <a:solidFill>
                    <a:schemeClr val="dk2"/>
                  </a:solidFill>
                  <a:latin typeface="+mn-lt"/>
                  <a:ea typeface="+mn-ea"/>
                  <a:cs typeface="+mn-cs"/>
                </a:rPr>
                <a:t>Each v_rms image is rendered at higher resolution</a:t>
              </a:r>
            </a:p>
          </p:txBody>
        </p:sp>
        <p:sp>
          <p:nvSpPr>
            <p:cNvPr id="39" name="TextBox 39"/>
            <p:cNvSpPr txBox="1"/>
            <p:nvPr/>
          </p:nvSpPr>
          <p:spPr>
            <a:xfrm>
              <a:off x="1059561" y="5084921"/>
              <a:ext cx="4380373" cy="278702"/>
            </a:xfrm>
            <a:prstGeom prst="rect">
              <a:avLst/>
            </a:prstGeom>
            <a:noFill/>
            <a:ln>
              <a:noFill/>
            </a:ln>
          </p:spPr>
          <p:txBody>
            <a:bodyPr wrap="none" lIns="0" tIns="0" rIns="0" bIns="0" anchor="t" anchorCtr="0">
              <a:spAutoFit/>
            </a:bodyPr>
            <a:lstStyle/>
            <a:p>
              <a:pPr algn="l"/>
              <a:r>
                <a:rPr lang="en-US" sz="1420" dirty="0">
                  <a:solidFill>
                    <a:schemeClr val="dk2"/>
                  </a:solidFill>
                  <a:latin typeface="+mn-lt"/>
                  <a:ea typeface="+mn-ea"/>
                  <a:cs typeface="+mn-cs"/>
                </a:rPr>
                <a:t>than real data. A single JAM image takes about</a:t>
              </a:r>
            </a:p>
          </p:txBody>
        </p:sp>
        <p:sp>
          <p:nvSpPr>
            <p:cNvPr id="40" name="TextBox 40"/>
            <p:cNvSpPr txBox="1"/>
            <p:nvPr/>
          </p:nvSpPr>
          <p:spPr>
            <a:xfrm>
              <a:off x="1059561" y="5332571"/>
              <a:ext cx="4994206" cy="278702"/>
            </a:xfrm>
            <a:prstGeom prst="rect">
              <a:avLst/>
            </a:prstGeom>
            <a:noFill/>
            <a:ln>
              <a:noFill/>
            </a:ln>
          </p:spPr>
          <p:txBody>
            <a:bodyPr wrap="none" lIns="0" tIns="0" rIns="0" bIns="0" anchor="t" anchorCtr="0">
              <a:spAutoFit/>
            </a:bodyPr>
            <a:lstStyle/>
            <a:p>
              <a:pPr algn="l"/>
              <a:r>
                <a:rPr lang="en-US" sz="1420" dirty="0">
                  <a:solidFill>
                    <a:schemeClr val="dk2"/>
                  </a:solidFill>
                  <a:latin typeface="+mn-lt"/>
                  <a:ea typeface="+mn-ea"/>
                  <a:cs typeface="+mn-cs"/>
                </a:rPr>
                <a:t>15 seconds to create — hence the case for emulation.</a:t>
              </a:r>
            </a:p>
          </p:txBody>
        </p:sp>
      </p:grpSp>
      <p:grpSp>
        <p:nvGrpSpPr>
          <p:cNvPr id="49" name="Group 49"/>
          <p:cNvGrpSpPr/>
          <p:nvPr/>
        </p:nvGrpSpPr>
        <p:grpSpPr>
          <a:xfrm>
            <a:off x="6238875" y="3829050"/>
            <a:ext cx="5191125" cy="1905000"/>
            <a:chOff x="6238875" y="3829050"/>
            <a:chExt cx="5191125" cy="1905000"/>
          </a:xfrm>
        </p:grpSpPr>
        <p:sp>
          <p:nvSpPr>
            <p:cNvPr id="42" name="Rectangle 42"/>
            <p:cNvSpPr/>
            <p:nvPr/>
          </p:nvSpPr>
          <p:spPr>
            <a:xfrm>
              <a:off x="6238875" y="3829050"/>
              <a:ext cx="5191125" cy="1905000"/>
            </a:xfrm>
            <a:prstGeom prst="roundRect">
              <a:avLst>
                <a:gd name="adj" fmla="val 8000"/>
              </a:avLst>
            </a:prstGeom>
            <a:gradFill>
              <a:gsLst>
                <a:gs pos="0">
                  <a:srgbClr val="1B2C48"/>
                </a:gs>
                <a:gs pos="100000">
                  <a:srgbClr val="14223A"/>
                </a:gs>
              </a:gsLst>
              <a:lin ang="5400000" scaled="1"/>
            </a:gradFill>
            <a:ln w="9525">
              <a:solidFill>
                <a:schemeClr val="accent4"/>
              </a:solidFill>
            </a:ln>
          </p:spPr>
        </p:sp>
        <p:sp>
          <p:nvSpPr>
            <p:cNvPr id="43" name="Rectangle 43"/>
            <p:cNvSpPr/>
            <p:nvPr/>
          </p:nvSpPr>
          <p:spPr>
            <a:xfrm>
              <a:off x="6238875" y="3829050"/>
              <a:ext cx="57150" cy="1905000"/>
            </a:xfrm>
            <a:prstGeom prst="roundRect">
              <a:avLst>
                <a:gd name="adj" fmla="val 50000"/>
              </a:avLst>
            </a:prstGeom>
            <a:solidFill>
              <a:schemeClr val="accent1"/>
            </a:solidFill>
            <a:ln>
              <a:noFill/>
            </a:ln>
          </p:spPr>
        </p:sp>
        <p:sp>
          <p:nvSpPr>
            <p:cNvPr id="44" name="TextBox 44"/>
            <p:cNvSpPr txBox="1"/>
            <p:nvPr/>
          </p:nvSpPr>
          <p:spPr>
            <a:xfrm>
              <a:off x="6538722" y="4123849"/>
              <a:ext cx="1234244" cy="190690"/>
            </a:xfrm>
            <a:prstGeom prst="rect">
              <a:avLst/>
            </a:prstGeom>
            <a:noFill/>
            <a:ln>
              <a:noFill/>
            </a:ln>
          </p:spPr>
          <p:txBody>
            <a:bodyPr wrap="none" lIns="0" tIns="0" rIns="0" bIns="0" anchor="t" anchorCtr="0">
              <a:spAutoFit/>
            </a:bodyPr>
            <a:lstStyle/>
            <a:p>
              <a:pPr algn="l"/>
              <a:r>
                <a:rPr lang="en-US" sz="980" b="1" spc="112" dirty="0">
                  <a:solidFill>
                    <a:schemeClr val="accent2"/>
                  </a:solidFill>
                  <a:latin typeface="+mn-lt"/>
                  <a:ea typeface="+mn-ea"/>
                  <a:cs typeface="+mn-cs"/>
                </a:rPr>
                <a:t>TRAINING SETUP</a:t>
              </a:r>
            </a:p>
          </p:txBody>
        </p:sp>
        <p:sp>
          <p:nvSpPr>
            <p:cNvPr id="45" name="TextBox 45"/>
            <p:cNvSpPr txBox="1"/>
            <p:nvPr/>
          </p:nvSpPr>
          <p:spPr>
            <a:xfrm>
              <a:off x="6534531" y="4339590"/>
              <a:ext cx="2229624"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PyTorch Lightning</a:t>
              </a:r>
            </a:p>
          </p:txBody>
        </p:sp>
        <p:sp>
          <p:nvSpPr>
            <p:cNvPr id="46" name="TextBox 46"/>
            <p:cNvSpPr txBox="1"/>
            <p:nvPr/>
          </p:nvSpPr>
          <p:spPr>
            <a:xfrm>
              <a:off x="6536436" y="4742021"/>
              <a:ext cx="4477415" cy="278702"/>
            </a:xfrm>
            <a:prstGeom prst="rect">
              <a:avLst/>
            </a:prstGeom>
            <a:noFill/>
            <a:ln>
              <a:noFill/>
            </a:ln>
          </p:spPr>
          <p:txBody>
            <a:bodyPr wrap="none" lIns="0" tIns="0" rIns="0" bIns="0" anchor="t" anchorCtr="0">
              <a:spAutoFit/>
            </a:bodyPr>
            <a:lstStyle/>
            <a:p>
              <a:pPr algn="l"/>
              <a:r>
                <a:rPr lang="en-US" sz="1420" dirty="0">
                  <a:solidFill>
                    <a:schemeClr val="dk2"/>
                  </a:solidFill>
                  <a:latin typeface="+mn-lt"/>
                  <a:ea typeface="+mn-ea"/>
                  <a:cs typeface="+mn-cs"/>
                </a:rPr>
                <a:t>Implemented in PyTorch with PyTorch Lightning.</a:t>
              </a:r>
            </a:p>
          </p:txBody>
        </p:sp>
        <p:sp>
          <p:nvSpPr>
            <p:cNvPr id="47" name="TextBox 47"/>
            <p:cNvSpPr txBox="1"/>
            <p:nvPr/>
          </p:nvSpPr>
          <p:spPr>
            <a:xfrm>
              <a:off x="6532245" y="4957762"/>
              <a:ext cx="2193931" cy="440055"/>
            </a:xfrm>
            <a:prstGeom prst="rect">
              <a:avLst/>
            </a:prstGeom>
            <a:noFill/>
            <a:ln>
              <a:noFill/>
            </a:ln>
          </p:spPr>
          <p:txBody>
            <a:bodyPr wrap="none" lIns="0" tIns="0" rIns="0" bIns="0" anchor="t" anchorCtr="0">
              <a:spAutoFit/>
            </a:bodyPr>
            <a:lstStyle/>
            <a:p>
              <a:pPr algn="l"/>
              <a:r>
                <a:rPr lang="en-US" sz="2250" b="1" dirty="0">
                  <a:solidFill>
                    <a:srgbClr val="35D0A5"/>
                  </a:solidFill>
                  <a:latin typeface="+mn-lt"/>
                  <a:ea typeface="+mn-ea"/>
                  <a:cs typeface="+mn-cs"/>
                </a:rPr>
                <a:t>5 × Tesla P100</a:t>
              </a:r>
            </a:p>
          </p:txBody>
        </p:sp>
        <p:sp>
          <p:nvSpPr>
            <p:cNvPr id="48" name="TextBox 48"/>
            <p:cNvSpPr txBox="1"/>
            <p:nvPr/>
          </p:nvSpPr>
          <p:spPr>
            <a:xfrm>
              <a:off x="6536436" y="5351621"/>
              <a:ext cx="3909678" cy="278702"/>
            </a:xfrm>
            <a:prstGeom prst="rect">
              <a:avLst/>
            </a:prstGeom>
            <a:noFill/>
            <a:ln>
              <a:noFill/>
            </a:ln>
          </p:spPr>
          <p:txBody>
            <a:bodyPr wrap="none" lIns="0" tIns="0" rIns="0" bIns="0" anchor="t" anchorCtr="0">
              <a:spAutoFit/>
            </a:bodyPr>
            <a:lstStyle/>
            <a:p>
              <a:pPr algn="l"/>
              <a:r>
                <a:rPr lang="en-US" sz="1420" dirty="0">
                  <a:solidFill>
                    <a:schemeClr val="dk2"/>
                  </a:solidFill>
                  <a:latin typeface="+mn-lt"/>
                  <a:ea typeface="+mn-ea"/>
                  <a:cs typeface="+mn-cs"/>
                </a:rPr>
                <a:t>16 GB each, trained over roughly one day.</a:t>
              </a:r>
            </a:p>
          </p:txBody>
        </p:sp>
      </p:grpSp>
      <p:grpSp>
        <p:nvGrpSpPr>
          <p:cNvPr id="53" name="Group 53"/>
          <p:cNvGrpSpPr/>
          <p:nvPr/>
        </p:nvGrpSpPr>
        <p:grpSpPr>
          <a:xfrm>
            <a:off x="756666" y="6477000"/>
            <a:ext cx="10678668" cy="301561"/>
            <a:chOff x="756666" y="6477000"/>
            <a:chExt cx="10678668" cy="301561"/>
          </a:xfrm>
        </p:grpSpPr>
        <p:sp>
          <p:nvSpPr>
            <p:cNvPr id="50" name="Line 50"/>
            <p:cNvSpPr/>
            <p:nvPr/>
          </p:nvSpPr>
          <p:spPr>
            <a:xfrm>
              <a:off x="762000" y="6477000"/>
              <a:ext cx="10668000" cy="9525"/>
            </a:xfrm>
            <a:custGeom>
              <a:avLst/>
              <a:gdLst/>
              <a:ahLst/>
              <a:cxnLst/>
              <a:rect l="l" t="t" r="r" b="b"/>
              <a:pathLst>
                <a:path w="10668000" h="9525">
                  <a:moveTo>
                    <a:pt x="0" y="0"/>
                  </a:moveTo>
                  <a:lnTo>
                    <a:pt x="10668000" y="0"/>
                  </a:lnTo>
                </a:path>
              </a:pathLst>
            </a:custGeom>
            <a:noFill/>
            <a:ln w="9525">
              <a:solidFill>
                <a:schemeClr val="accent4"/>
              </a:solidFill>
            </a:ln>
          </p:spPr>
        </p:sp>
        <p:sp>
          <p:nvSpPr>
            <p:cNvPr id="51" name="TextBox 51"/>
            <p:cNvSpPr txBox="1"/>
            <p:nvPr/>
          </p:nvSpPr>
          <p:spPr>
            <a:xfrm>
              <a:off x="756666" y="6573202"/>
              <a:ext cx="2902900" cy="205359"/>
            </a:xfrm>
            <a:prstGeom prst="rect">
              <a:avLst/>
            </a:prstGeom>
            <a:noFill/>
            <a:ln>
              <a:noFill/>
            </a:ln>
          </p:spPr>
          <p:txBody>
            <a:bodyPr wrap="none" lIns="0" tIns="0" rIns="0" bIns="0" anchor="t" anchorCtr="0">
              <a:spAutoFit/>
            </a:bodyPr>
            <a:lstStyle/>
            <a:p>
              <a:pPr algn="l"/>
              <a:r>
                <a:rPr lang="en-US" sz="1050" dirty="0">
                  <a:solidFill>
                    <a:srgbClr val="6B7E9C"/>
                  </a:solidFill>
                  <a:latin typeface="+mn-lt"/>
                  <a:ea typeface="+mn-ea"/>
                  <a:cs typeface="+mn-cs"/>
                </a:rPr>
                <a:t>SKiNN · Stellar Kinematics Neural Network</a:t>
              </a:r>
            </a:p>
          </p:txBody>
        </p:sp>
        <p:sp>
          <p:nvSpPr>
            <p:cNvPr id="52" name="TextBox 52"/>
            <p:cNvSpPr txBox="1"/>
            <p:nvPr/>
          </p:nvSpPr>
          <p:spPr>
            <a:xfrm>
              <a:off x="10951140" y="6573202"/>
              <a:ext cx="484194" cy="205359"/>
            </a:xfrm>
            <a:prstGeom prst="rect">
              <a:avLst/>
            </a:prstGeom>
            <a:noFill/>
            <a:ln>
              <a:noFill/>
            </a:ln>
          </p:spPr>
          <p:txBody>
            <a:bodyPr wrap="none" lIns="0" tIns="0" rIns="0" bIns="0" anchor="t" anchorCtr="0">
              <a:spAutoFit/>
            </a:bodyPr>
            <a:lstStyle/>
            <a:p>
              <a:pPr algn="r"/>
              <a:r>
                <a:rPr lang="en-US" sz="1050" dirty="0">
                  <a:solidFill>
                    <a:srgbClr val="6B7E9C"/>
                  </a:solidFill>
                  <a:latin typeface="+mn-lt"/>
                  <a:ea typeface="+mn-ea"/>
                  <a:cs typeface="+mn-cs"/>
                </a:rPr>
                <a:t>06 / 10</a:t>
              </a:r>
            </a:p>
          </p:txBody>
        </p:sp>
      </p:grpSp>
      <p:sp>
        <p:nvSpPr>
          <p:cNvPr id="54" name="cue_s06_c1_set_constructed_entirely_jam_physics" title="cue_s06_c1_set_constructed_entirely_jam_physics" descr="cue_s06_c1_set_constructed_entirely_jam_physics The training set is constructed entirely with JAM, the physics code SKiNN is meant to imitate."/>
          <p:cNvSpPr/>
          <p:nvPr/>
        </p:nvSpPr>
        <p:spPr>
          <a:xfrm>
            <a:off x="762000" y="1695297"/>
            <a:ext cx="5191353" cy="19051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cue_s06_c2_authors_created_five_thousand_input" title="cue_s06_c2_authors_created_five_thousand_input" descr="cue_s06_c2_authors_created_five_thousand_input The authors created five thousand input-output pairs, using four thousand for training, five hundred for validation, and five hundred held out for testing."/>
          <p:cNvSpPr/>
          <p:nvPr/>
        </p:nvSpPr>
        <p:spPr>
          <a:xfrm>
            <a:off x="6238646" y="1695297"/>
            <a:ext cx="5191353" cy="19051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cue_s06_c3_velocity_image_551_551_pixels" title="cue_s06_c3_velocity_image_551_551_pixels" descr="cue_s06_c3_velocity_image_551_551_pixels Each velocity image is 551 by 551 pixels, generated at higher resolution than real data. Creating a single image with JAM takes about fifteen seconds, which underscores why emulation is worthwhile."/>
          <p:cNvSpPr/>
          <p:nvPr/>
        </p:nvSpPr>
        <p:spPr>
          <a:xfrm>
            <a:off x="762000" y="3828821"/>
            <a:ext cx="5291328" cy="19051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cue_s06_c4_network_implemented_pytorch_pytorch" title="cue_s06_c4_network_implemented_pytorch_pytorch" descr="cue_s06_c4_network_implemented_pytorch_pytorch The network is implemented in PyTorch with PyTorch Lightning and trained on five Tesla P100 GPUs, each with sixteen gigabytes of memory, over roughly one day."/>
          <p:cNvSpPr/>
          <p:nvPr/>
        </p:nvSpPr>
        <p:spPr>
          <a:xfrm>
            <a:off x="6238646" y="3828821"/>
            <a:ext cx="5191353" cy="19051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0">
              <a:schemeClr val="lt1"/>
            </a:gs>
            <a:gs pos="100000">
              <a:schemeClr val="accent5"/>
            </a:gs>
          </a:gsLst>
          <a:lin ang="4242597" scaled="1"/>
        </a:gradFill>
        <a:effectLst/>
      </p:bgPr>
    </p:bg>
    <p:spTree>
      <p:nvGrpSpPr>
        <p:cNvPr id="1" name=""/>
        <p:cNvGrpSpPr/>
        <p:nvPr/>
      </p:nvGrpSpPr>
      <p:grpSpPr>
        <a:xfrm>
          <a:off x="0" y="0"/>
          <a:ext cx="0" cy="0"/>
          <a:chOff x="0" y="0"/>
          <a:chExt cx="0" cy="0"/>
        </a:xfrm>
      </p:grpSpPr>
      <p:grpSp>
        <p:nvGrpSpPr>
          <p:cNvPr id="5" name="Group 5"/>
          <p:cNvGrpSpPr/>
          <p:nvPr/>
        </p:nvGrpSpPr>
        <p:grpSpPr>
          <a:xfrm>
            <a:off x="10096500" y="-1047750"/>
            <a:ext cx="2857500" cy="2857500"/>
            <a:chOff x="10096500" y="-1047750"/>
            <a:chExt cx="2857500" cy="2857500"/>
          </a:xfrm>
        </p:grpSpPr>
        <p:sp>
          <p:nvSpPr>
            <p:cNvPr id="2" name="Ellipse 2"/>
            <p:cNvSpPr/>
            <p:nvPr/>
          </p:nvSpPr>
          <p:spPr>
            <a:xfrm>
              <a:off x="10096500" y="-1047750"/>
              <a:ext cx="2857500" cy="2857500"/>
            </a:xfrm>
            <a:prstGeom prst="ellipse">
              <a:avLst/>
            </a:prstGeom>
            <a:noFill/>
            <a:ln w="14288">
              <a:solidFill>
                <a:srgbClr val="213556">
                  <a:alpha val="60000"/>
                </a:srgbClr>
              </a:solidFill>
            </a:ln>
          </p:spPr>
        </p:sp>
        <p:sp>
          <p:nvSpPr>
            <p:cNvPr id="3" name="Ellipse 3"/>
            <p:cNvSpPr/>
            <p:nvPr/>
          </p:nvSpPr>
          <p:spPr>
            <a:xfrm>
              <a:off x="10620375" y="-523875"/>
              <a:ext cx="1809750" cy="1809750"/>
            </a:xfrm>
            <a:prstGeom prst="ellipse">
              <a:avLst/>
            </a:prstGeom>
            <a:noFill/>
            <a:ln w="14288">
              <a:solidFill>
                <a:srgbClr val="213556">
                  <a:alpha val="45000"/>
                </a:srgbClr>
              </a:solidFill>
            </a:ln>
          </p:spPr>
        </p:sp>
        <p:sp>
          <p:nvSpPr>
            <p:cNvPr id="4" name="Ellipse 4"/>
            <p:cNvSpPr/>
            <p:nvPr/>
          </p:nvSpPr>
          <p:spPr>
            <a:xfrm>
              <a:off x="10582275" y="342900"/>
              <a:ext cx="76200" cy="76200"/>
            </a:xfrm>
            <a:prstGeom prst="ellipse">
              <a:avLst/>
            </a:prstGeom>
            <a:solidFill>
              <a:schemeClr val="accent3"/>
            </a:solidFill>
            <a:ln>
              <a:noFill/>
            </a:ln>
          </p:spPr>
        </p:sp>
      </p:grpSp>
      <p:grpSp>
        <p:nvGrpSpPr>
          <p:cNvPr id="11" name="Group 11"/>
          <p:cNvGrpSpPr/>
          <p:nvPr/>
        </p:nvGrpSpPr>
        <p:grpSpPr>
          <a:xfrm>
            <a:off x="762000" y="514350"/>
            <a:ext cx="8424139" cy="834390"/>
            <a:chOff x="762000" y="514350"/>
            <a:chExt cx="8424139" cy="834390"/>
          </a:xfrm>
        </p:grpSpPr>
        <p:sp>
          <p:nvSpPr>
            <p:cNvPr id="6" name="Rectangle 6"/>
            <p:cNvSpPr/>
            <p:nvPr/>
          </p:nvSpPr>
          <p:spPr>
            <a:xfrm>
              <a:off x="762000" y="514350"/>
              <a:ext cx="438150" cy="438150"/>
            </a:xfrm>
            <a:prstGeom prst="roundRect">
              <a:avLst>
                <a:gd name="adj" fmla="val 26087"/>
              </a:avLst>
            </a:prstGeom>
            <a:gradFill>
              <a:gsLst>
                <a:gs pos="0">
                  <a:srgbClr val="1B2C48"/>
                </a:gs>
                <a:gs pos="100000">
                  <a:srgbClr val="14223A"/>
                </a:gs>
              </a:gsLst>
              <a:lin ang="5400000" scaled="1"/>
            </a:gradFill>
            <a:ln w="9525">
              <a:solidFill>
                <a:schemeClr val="accent4"/>
              </a:solidFill>
            </a:ln>
          </p:spPr>
        </p:sp>
        <p:sp>
          <p:nvSpPr>
            <p:cNvPr id="7" name="TextBox 7"/>
            <p:cNvSpPr txBox="1"/>
            <p:nvPr/>
          </p:nvSpPr>
          <p:spPr>
            <a:xfrm>
              <a:off x="844417" y="641032"/>
              <a:ext cx="273316" cy="322707"/>
            </a:xfrm>
            <a:prstGeom prst="rect">
              <a:avLst/>
            </a:prstGeom>
            <a:noFill/>
            <a:ln>
              <a:noFill/>
            </a:ln>
          </p:spPr>
          <p:txBody>
            <a:bodyPr wrap="none" lIns="0" tIns="0" rIns="0" bIns="0" anchor="t" anchorCtr="0">
              <a:spAutoFit/>
            </a:bodyPr>
            <a:lstStyle/>
            <a:p>
              <a:pPr algn="ctr"/>
              <a:r>
                <a:rPr lang="en-US" sz="1650" b="1" dirty="0">
                  <a:solidFill>
                    <a:schemeClr val="accent1"/>
                  </a:solidFill>
                  <a:latin typeface="+mn-lt"/>
                  <a:ea typeface="+mn-ea"/>
                  <a:cs typeface="+mn-cs"/>
                </a:rPr>
                <a:t>07</a:t>
              </a:r>
            </a:p>
          </p:txBody>
        </p:sp>
        <p:sp>
          <p:nvSpPr>
            <p:cNvPr id="8" name="TextBox 8"/>
            <p:cNvSpPr txBox="1"/>
            <p:nvPr/>
          </p:nvSpPr>
          <p:spPr>
            <a:xfrm>
              <a:off x="1346073" y="548164"/>
              <a:ext cx="1304635" cy="249364"/>
            </a:xfrm>
            <a:prstGeom prst="rect">
              <a:avLst/>
            </a:prstGeom>
            <a:noFill/>
            <a:ln>
              <a:noFill/>
            </a:ln>
          </p:spPr>
          <p:txBody>
            <a:bodyPr wrap="none" lIns="0" tIns="0" rIns="0" bIns="0" anchor="t" anchorCtr="0">
              <a:spAutoFit/>
            </a:bodyPr>
            <a:lstStyle/>
            <a:p>
              <a:pPr algn="l"/>
              <a:r>
                <a:rPr lang="en-US" sz="1280" b="1" spc="225" dirty="0">
                  <a:solidFill>
                    <a:schemeClr val="dk2"/>
                  </a:solidFill>
                  <a:latin typeface="+mn-lt"/>
                  <a:ea typeface="+mn-ea"/>
                  <a:cs typeface="+mn-cs"/>
                </a:rPr>
                <a:t>KEY RESULT</a:t>
              </a:r>
            </a:p>
          </p:txBody>
        </p:sp>
        <p:sp>
          <p:nvSpPr>
            <p:cNvPr id="9" name="TextBox 9"/>
            <p:cNvSpPr txBox="1"/>
            <p:nvPr/>
          </p:nvSpPr>
          <p:spPr>
            <a:xfrm>
              <a:off x="1337310" y="762000"/>
              <a:ext cx="7848829" cy="586740"/>
            </a:xfrm>
            <a:prstGeom prst="rect">
              <a:avLst/>
            </a:prstGeom>
            <a:noFill/>
            <a:ln>
              <a:noFill/>
            </a:ln>
          </p:spPr>
          <p:txBody>
            <a:bodyPr wrap="none" lIns="0" tIns="0" rIns="0" bIns="0" anchor="t" anchorCtr="0">
              <a:spAutoFit/>
            </a:bodyPr>
            <a:lstStyle/>
            <a:p>
              <a:pPr algn="l"/>
              <a:r>
                <a:rPr lang="en-US" sz="3000" b="1" dirty="0">
                  <a:solidFill>
                    <a:schemeClr val="dk1"/>
                  </a:solidFill>
                  <a:latin typeface="+mn-lt"/>
                  <a:ea typeface="+mn-ea"/>
                  <a:cs typeface="+mn-cs"/>
                </a:rPr>
                <a:t>Within ±1% where the data constrains</a:t>
              </a:r>
            </a:p>
          </p:txBody>
        </p:sp>
        <p:sp>
          <p:nvSpPr>
            <p:cNvPr id="10" name="Rectangle 10"/>
            <p:cNvSpPr/>
            <p:nvPr/>
          </p:nvSpPr>
          <p:spPr>
            <a:xfrm>
              <a:off x="1352550" y="1219200"/>
              <a:ext cx="609600" cy="38100"/>
            </a:xfrm>
            <a:prstGeom prst="roundRect">
              <a:avLst>
                <a:gd name="adj" fmla="val 50000"/>
              </a:avLst>
            </a:prstGeom>
            <a:gradFill>
              <a:gsLst>
                <a:gs pos="0">
                  <a:schemeClr val="accent1"/>
                </a:gs>
                <a:gs pos="100000">
                  <a:schemeClr val="accent2"/>
                </a:gs>
              </a:gsLst>
              <a:lin ang="0" scaled="1"/>
            </a:gradFill>
            <a:ln>
              <a:noFill/>
            </a:ln>
          </p:spPr>
        </p:sp>
      </p:grpSp>
      <p:grpSp>
        <p:nvGrpSpPr>
          <p:cNvPr id="17" name="Group 17"/>
          <p:cNvGrpSpPr/>
          <p:nvPr/>
        </p:nvGrpSpPr>
        <p:grpSpPr>
          <a:xfrm>
            <a:off x="762000" y="1676400"/>
            <a:ext cx="7334250" cy="4152900"/>
            <a:chOff x="762000" y="1676400"/>
            <a:chExt cx="7334250" cy="4152900"/>
          </a:xfrm>
        </p:grpSpPr>
        <p:sp>
          <p:nvSpPr>
            <p:cNvPr id="12" name="Rectangle 12"/>
            <p:cNvSpPr/>
            <p:nvPr/>
          </p:nvSpPr>
          <p:spPr>
            <a:xfrm>
              <a:off x="762000" y="1676400"/>
              <a:ext cx="7334250" cy="4152900"/>
            </a:xfrm>
            <a:prstGeom prst="roundRect">
              <a:avLst>
                <a:gd name="adj" fmla="val 3670"/>
              </a:avLst>
            </a:prstGeom>
            <a:solidFill>
              <a:srgbClr val="0E1A2E"/>
            </a:solidFill>
            <a:ln w="9525">
              <a:solidFill>
                <a:schemeClr val="accent4"/>
              </a:solidFill>
            </a:ln>
          </p:spPr>
        </p:sp>
        <p:sp>
          <p:nvSpPr>
            <p:cNvPr id="13" name="Rectangle 13"/>
            <p:cNvSpPr/>
            <p:nvPr/>
          </p:nvSpPr>
          <p:spPr>
            <a:xfrm>
              <a:off x="914400" y="1828800"/>
              <a:ext cx="7029450" cy="3390900"/>
            </a:xfrm>
            <a:prstGeom prst="roundRect">
              <a:avLst>
                <a:gd name="adj" fmla="val 2247"/>
              </a:avLst>
            </a:prstGeom>
            <a:solidFill>
              <a:srgbClr val="FFFFFF"/>
            </a:solidFill>
            <a:ln>
              <a:noFill/>
            </a:ln>
          </p:spPr>
        </p:sp>
        <p:pic>
          <p:nvPicPr>
            <p:cNvPr id="14" name="Image 14"/>
            <p:cNvPicPr>
              <a:picLocks noChangeAspect="1"/>
            </p:cNvPicPr>
            <p:nvPr/>
          </p:nvPicPr>
          <p:blipFill>
            <a:blip r:embed="rId2"/>
            <a:stretch>
              <a:fillRect/>
            </a:stretch>
          </p:blipFill>
          <p:spPr>
            <a:xfrm>
              <a:off x="971550" y="1962243"/>
              <a:ext cx="6915150" cy="3124014"/>
            </a:xfrm>
            <a:prstGeom prst="rect">
              <a:avLst/>
            </a:prstGeom>
          </p:spPr>
        </p:pic>
        <p:sp>
          <p:nvSpPr>
            <p:cNvPr id="15" name="TextBox 15"/>
            <p:cNvSpPr txBox="1"/>
            <p:nvPr/>
          </p:nvSpPr>
          <p:spPr>
            <a:xfrm>
              <a:off x="1061085" y="5364956"/>
              <a:ext cx="5873829"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Figure 2 — SKiNN prediction vs JAM truth, the relative error, and its histogram</a:t>
              </a:r>
            </a:p>
          </p:txBody>
        </p:sp>
        <p:sp>
          <p:nvSpPr>
            <p:cNvPr id="16" name="TextBox 16"/>
            <p:cNvSpPr txBox="1"/>
            <p:nvPr/>
          </p:nvSpPr>
          <p:spPr>
            <a:xfrm>
              <a:off x="1061085" y="5555456"/>
              <a:ext cx="4662820"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inside the black 2″ circle where real data is most constraining.</a:t>
              </a:r>
            </a:p>
          </p:txBody>
        </p:sp>
      </p:grpSp>
      <p:grpSp>
        <p:nvGrpSpPr>
          <p:cNvPr id="23" name="Group 23"/>
          <p:cNvGrpSpPr/>
          <p:nvPr/>
        </p:nvGrpSpPr>
        <p:grpSpPr>
          <a:xfrm>
            <a:off x="8286750" y="1676400"/>
            <a:ext cx="3143250" cy="994601"/>
            <a:chOff x="8286750" y="1676400"/>
            <a:chExt cx="3143250" cy="994601"/>
          </a:xfrm>
        </p:grpSpPr>
        <p:sp>
          <p:nvSpPr>
            <p:cNvPr id="18" name="Rectangle 18"/>
            <p:cNvSpPr/>
            <p:nvPr/>
          </p:nvSpPr>
          <p:spPr>
            <a:xfrm>
              <a:off x="8286750" y="1676400"/>
              <a:ext cx="3143250" cy="971550"/>
            </a:xfrm>
            <a:prstGeom prst="roundRect">
              <a:avLst>
                <a:gd name="adj" fmla="val 13725"/>
              </a:avLst>
            </a:prstGeom>
            <a:gradFill>
              <a:gsLst>
                <a:gs pos="0">
                  <a:srgbClr val="1B2C48"/>
                </a:gs>
                <a:gs pos="100000">
                  <a:srgbClr val="14223A"/>
                </a:gs>
              </a:gsLst>
              <a:lin ang="5400000" scaled="1"/>
            </a:gradFill>
            <a:ln w="9525">
              <a:solidFill>
                <a:schemeClr val="accent4"/>
              </a:solidFill>
            </a:ln>
          </p:spPr>
        </p:sp>
        <p:sp>
          <p:nvSpPr>
            <p:cNvPr id="19" name="Rectangle 19"/>
            <p:cNvSpPr/>
            <p:nvPr/>
          </p:nvSpPr>
          <p:spPr>
            <a:xfrm>
              <a:off x="8286750" y="1676400"/>
              <a:ext cx="57150" cy="971550"/>
            </a:xfrm>
            <a:prstGeom prst="roundRect">
              <a:avLst>
                <a:gd name="adj" fmla="val 50000"/>
              </a:avLst>
            </a:prstGeom>
            <a:solidFill>
              <a:schemeClr val="accent1"/>
            </a:solidFill>
            <a:ln>
              <a:noFill/>
            </a:ln>
          </p:spPr>
        </p:sp>
        <p:sp>
          <p:nvSpPr>
            <p:cNvPr id="20" name="TextBox 20"/>
            <p:cNvSpPr txBox="1"/>
            <p:nvPr/>
          </p:nvSpPr>
          <p:spPr>
            <a:xfrm>
              <a:off x="8540496" y="1782128"/>
              <a:ext cx="1197354" cy="498729"/>
            </a:xfrm>
            <a:prstGeom prst="rect">
              <a:avLst/>
            </a:prstGeom>
            <a:noFill/>
            <a:ln>
              <a:noFill/>
            </a:ln>
          </p:spPr>
          <p:txBody>
            <a:bodyPr wrap="none" lIns="0" tIns="0" rIns="0" bIns="0" anchor="t" anchorCtr="0">
              <a:spAutoFit/>
            </a:bodyPr>
            <a:lstStyle/>
            <a:p>
              <a:pPr algn="l"/>
              <a:r>
                <a:rPr lang="en-US" sz="2550" b="1" dirty="0">
                  <a:solidFill>
                    <a:schemeClr val="accent2"/>
                  </a:solidFill>
                  <a:latin typeface="+mn-lt"/>
                  <a:ea typeface="+mn-ea"/>
                  <a:cs typeface="+mn-cs"/>
                </a:rPr>
                <a:t>~50 ms</a:t>
              </a:r>
            </a:p>
          </p:txBody>
        </p:sp>
        <p:sp>
          <p:nvSpPr>
            <p:cNvPr id="21" name="TextBox 21"/>
            <p:cNvSpPr txBox="1"/>
            <p:nvPr/>
          </p:nvSpPr>
          <p:spPr>
            <a:xfrm>
              <a:off x="8546592" y="2197418"/>
              <a:ext cx="1797947"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per image on a GPU —</a:t>
              </a:r>
            </a:p>
          </p:txBody>
        </p:sp>
        <p:sp>
          <p:nvSpPr>
            <p:cNvPr id="22" name="TextBox 22"/>
            <p:cNvSpPr txBox="1"/>
            <p:nvPr/>
          </p:nvSpPr>
          <p:spPr>
            <a:xfrm>
              <a:off x="8546592" y="2406968"/>
              <a:ext cx="2591210"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about 300× faster than JAM.</a:t>
              </a:r>
            </a:p>
          </p:txBody>
        </p:sp>
      </p:grpSp>
      <p:grpSp>
        <p:nvGrpSpPr>
          <p:cNvPr id="29" name="Group 29"/>
          <p:cNvGrpSpPr/>
          <p:nvPr/>
        </p:nvGrpSpPr>
        <p:grpSpPr>
          <a:xfrm>
            <a:off x="8286750" y="2743200"/>
            <a:ext cx="3143250" cy="975551"/>
            <a:chOff x="8286750" y="2743200"/>
            <a:chExt cx="3143250" cy="975551"/>
          </a:xfrm>
        </p:grpSpPr>
        <p:sp>
          <p:nvSpPr>
            <p:cNvPr id="24" name="Rectangle 24"/>
            <p:cNvSpPr/>
            <p:nvPr/>
          </p:nvSpPr>
          <p:spPr>
            <a:xfrm>
              <a:off x="8286750" y="2743200"/>
              <a:ext cx="3143250" cy="971550"/>
            </a:xfrm>
            <a:prstGeom prst="roundRect">
              <a:avLst>
                <a:gd name="adj" fmla="val 13725"/>
              </a:avLst>
            </a:prstGeom>
            <a:gradFill>
              <a:gsLst>
                <a:gs pos="0">
                  <a:srgbClr val="1B2C48"/>
                </a:gs>
                <a:gs pos="100000">
                  <a:srgbClr val="14223A"/>
                </a:gs>
              </a:gsLst>
              <a:lin ang="5400000" scaled="1"/>
            </a:gradFill>
            <a:ln w="9525">
              <a:solidFill>
                <a:schemeClr val="accent4"/>
              </a:solidFill>
            </a:ln>
          </p:spPr>
        </p:sp>
        <p:sp>
          <p:nvSpPr>
            <p:cNvPr id="25" name="Rectangle 25"/>
            <p:cNvSpPr/>
            <p:nvPr/>
          </p:nvSpPr>
          <p:spPr>
            <a:xfrm>
              <a:off x="8286750" y="2743200"/>
              <a:ext cx="57150" cy="971550"/>
            </a:xfrm>
            <a:prstGeom prst="roundRect">
              <a:avLst>
                <a:gd name="adj" fmla="val 50000"/>
              </a:avLst>
            </a:prstGeom>
            <a:solidFill>
              <a:schemeClr val="accent3"/>
            </a:solidFill>
            <a:ln>
              <a:noFill/>
            </a:ln>
          </p:spPr>
        </p:sp>
        <p:sp>
          <p:nvSpPr>
            <p:cNvPr id="26" name="TextBox 26"/>
            <p:cNvSpPr txBox="1"/>
            <p:nvPr/>
          </p:nvSpPr>
          <p:spPr>
            <a:xfrm>
              <a:off x="8544306" y="2910840"/>
              <a:ext cx="1977413"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500 test images</a:t>
              </a:r>
            </a:p>
          </p:txBody>
        </p:sp>
        <p:sp>
          <p:nvSpPr>
            <p:cNvPr id="27" name="TextBox 27"/>
            <p:cNvSpPr txBox="1"/>
            <p:nvPr/>
          </p:nvSpPr>
          <p:spPr>
            <a:xfrm>
              <a:off x="8546592" y="3245168"/>
              <a:ext cx="2491422"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Accuracy is assessed by the</a:t>
              </a:r>
            </a:p>
          </p:txBody>
        </p:sp>
        <p:sp>
          <p:nvSpPr>
            <p:cNvPr id="28" name="TextBox 28"/>
            <p:cNvSpPr txBox="1"/>
            <p:nvPr/>
          </p:nvSpPr>
          <p:spPr>
            <a:xfrm>
              <a:off x="8546592" y="3454718"/>
              <a:ext cx="2548947"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relative error at each pixel.</a:t>
              </a:r>
            </a:p>
          </p:txBody>
        </p:sp>
      </p:grpSp>
      <p:grpSp>
        <p:nvGrpSpPr>
          <p:cNvPr id="35" name="Group 35"/>
          <p:cNvGrpSpPr/>
          <p:nvPr/>
        </p:nvGrpSpPr>
        <p:grpSpPr>
          <a:xfrm>
            <a:off x="8286750" y="3810000"/>
            <a:ext cx="3143250" cy="994601"/>
            <a:chOff x="8286750" y="3810000"/>
            <a:chExt cx="3143250" cy="994601"/>
          </a:xfrm>
        </p:grpSpPr>
        <p:sp>
          <p:nvSpPr>
            <p:cNvPr id="30" name="Rectangle 30"/>
            <p:cNvSpPr/>
            <p:nvPr/>
          </p:nvSpPr>
          <p:spPr>
            <a:xfrm>
              <a:off x="8286750" y="3810000"/>
              <a:ext cx="3143250" cy="971550"/>
            </a:xfrm>
            <a:prstGeom prst="roundRect">
              <a:avLst>
                <a:gd name="adj" fmla="val 13725"/>
              </a:avLst>
            </a:prstGeom>
            <a:gradFill>
              <a:gsLst>
                <a:gs pos="0">
                  <a:srgbClr val="1B2C48"/>
                </a:gs>
                <a:gs pos="100000">
                  <a:srgbClr val="14223A"/>
                </a:gs>
              </a:gsLst>
              <a:lin ang="5400000" scaled="1"/>
            </a:gradFill>
            <a:ln w="9525">
              <a:solidFill>
                <a:schemeClr val="accent4"/>
              </a:solidFill>
            </a:ln>
          </p:spPr>
        </p:sp>
        <p:sp>
          <p:nvSpPr>
            <p:cNvPr id="31" name="Rectangle 31"/>
            <p:cNvSpPr/>
            <p:nvPr/>
          </p:nvSpPr>
          <p:spPr>
            <a:xfrm>
              <a:off x="8286750" y="3810000"/>
              <a:ext cx="57150" cy="971550"/>
            </a:xfrm>
            <a:prstGeom prst="roundRect">
              <a:avLst>
                <a:gd name="adj" fmla="val 50000"/>
              </a:avLst>
            </a:prstGeom>
            <a:solidFill>
              <a:srgbClr val="35D0A5"/>
            </a:solidFill>
            <a:ln>
              <a:noFill/>
            </a:ln>
          </p:spPr>
        </p:sp>
        <p:sp>
          <p:nvSpPr>
            <p:cNvPr id="32" name="TextBox 32"/>
            <p:cNvSpPr txBox="1"/>
            <p:nvPr/>
          </p:nvSpPr>
          <p:spPr>
            <a:xfrm>
              <a:off x="8540496" y="3915728"/>
              <a:ext cx="2314734" cy="498729"/>
            </a:xfrm>
            <a:prstGeom prst="rect">
              <a:avLst/>
            </a:prstGeom>
            <a:noFill/>
            <a:ln>
              <a:noFill/>
            </a:ln>
          </p:spPr>
          <p:txBody>
            <a:bodyPr wrap="none" lIns="0" tIns="0" rIns="0" bIns="0" anchor="t" anchorCtr="0">
              <a:spAutoFit/>
            </a:bodyPr>
            <a:lstStyle/>
            <a:p>
              <a:pPr algn="l"/>
              <a:r>
                <a:rPr lang="en-US" sz="2550" b="1" dirty="0">
                  <a:solidFill>
                    <a:srgbClr val="35D0A5"/>
                  </a:solidFill>
                  <a:latin typeface="+mn-lt"/>
                  <a:ea typeface="+mn-ea"/>
                  <a:cs typeface="+mn-cs"/>
                </a:rPr>
                <a:t>±1% inside 2″</a:t>
              </a:r>
            </a:p>
          </p:txBody>
        </p:sp>
        <p:sp>
          <p:nvSpPr>
            <p:cNvPr id="33" name="TextBox 33"/>
            <p:cNvSpPr txBox="1"/>
            <p:nvPr/>
          </p:nvSpPr>
          <p:spPr>
            <a:xfrm>
              <a:off x="8546592" y="4331018"/>
              <a:ext cx="2656005"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Outer regions reach a few %,</a:t>
              </a:r>
            </a:p>
          </p:txBody>
        </p:sp>
        <p:sp>
          <p:nvSpPr>
            <p:cNvPr id="34" name="TextBox 34"/>
            <p:cNvSpPr txBox="1"/>
            <p:nvPr/>
          </p:nvSpPr>
          <p:spPr>
            <a:xfrm>
              <a:off x="8546592" y="4540568"/>
              <a:ext cx="2839726"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but the constrained core holds.</a:t>
              </a:r>
            </a:p>
          </p:txBody>
        </p:sp>
      </p:grpSp>
      <p:grpSp>
        <p:nvGrpSpPr>
          <p:cNvPr id="41" name="Group 41"/>
          <p:cNvGrpSpPr/>
          <p:nvPr/>
        </p:nvGrpSpPr>
        <p:grpSpPr>
          <a:xfrm>
            <a:off x="8286750" y="4876800"/>
            <a:ext cx="3143250" cy="956501"/>
            <a:chOff x="8286750" y="4876800"/>
            <a:chExt cx="3143250" cy="956501"/>
          </a:xfrm>
        </p:grpSpPr>
        <p:sp>
          <p:nvSpPr>
            <p:cNvPr id="36" name="Rectangle 36"/>
            <p:cNvSpPr/>
            <p:nvPr/>
          </p:nvSpPr>
          <p:spPr>
            <a:xfrm>
              <a:off x="8286750" y="4876800"/>
              <a:ext cx="3143250" cy="952500"/>
            </a:xfrm>
            <a:prstGeom prst="roundRect">
              <a:avLst>
                <a:gd name="adj" fmla="val 14000"/>
              </a:avLst>
            </a:prstGeom>
            <a:gradFill>
              <a:gsLst>
                <a:gs pos="0">
                  <a:srgbClr val="1B2C48"/>
                </a:gs>
                <a:gs pos="100000">
                  <a:srgbClr val="14223A"/>
                </a:gs>
              </a:gsLst>
              <a:lin ang="5400000" scaled="1"/>
            </a:gradFill>
            <a:ln w="9525">
              <a:solidFill>
                <a:schemeClr val="accent4"/>
              </a:solidFill>
            </a:ln>
          </p:spPr>
        </p:sp>
        <p:sp>
          <p:nvSpPr>
            <p:cNvPr id="37" name="Rectangle 37"/>
            <p:cNvSpPr/>
            <p:nvPr/>
          </p:nvSpPr>
          <p:spPr>
            <a:xfrm>
              <a:off x="8286750" y="4876800"/>
              <a:ext cx="57150" cy="952500"/>
            </a:xfrm>
            <a:prstGeom prst="roundRect">
              <a:avLst>
                <a:gd name="adj" fmla="val 50000"/>
              </a:avLst>
            </a:prstGeom>
            <a:solidFill>
              <a:schemeClr val="accent3"/>
            </a:solidFill>
            <a:ln>
              <a:noFill/>
            </a:ln>
          </p:spPr>
        </p:sp>
        <p:sp>
          <p:nvSpPr>
            <p:cNvPr id="38" name="TextBox 38"/>
            <p:cNvSpPr txBox="1"/>
            <p:nvPr/>
          </p:nvSpPr>
          <p:spPr>
            <a:xfrm>
              <a:off x="8545068" y="5041582"/>
              <a:ext cx="2815514" cy="322707"/>
            </a:xfrm>
            <a:prstGeom prst="rect">
              <a:avLst/>
            </a:prstGeom>
            <a:noFill/>
            <a:ln>
              <a:noFill/>
            </a:ln>
          </p:spPr>
          <p:txBody>
            <a:bodyPr wrap="none" lIns="0" tIns="0" rIns="0" bIns="0" anchor="t" anchorCtr="0">
              <a:spAutoFit/>
            </a:bodyPr>
            <a:lstStyle/>
            <a:p>
              <a:pPr algn="l"/>
              <a:r>
                <a:rPr lang="en-US" sz="1650" b="1" dirty="0">
                  <a:solidFill>
                    <a:schemeClr val="dk1"/>
                  </a:solidFill>
                  <a:latin typeface="+mn-lt"/>
                  <a:ea typeface="+mn-ea"/>
                  <a:cs typeface="+mn-cs"/>
                </a:rPr>
                <a:t>median 0.47% · p90 1.1%</a:t>
              </a:r>
            </a:p>
          </p:txBody>
        </p:sp>
        <p:sp>
          <p:nvSpPr>
            <p:cNvPr id="39" name="TextBox 39"/>
            <p:cNvSpPr txBox="1"/>
            <p:nvPr/>
          </p:nvSpPr>
          <p:spPr>
            <a:xfrm>
              <a:off x="8546592" y="5359718"/>
              <a:ext cx="2736599"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Both are well below the typical</a:t>
              </a:r>
            </a:p>
          </p:txBody>
        </p:sp>
        <p:sp>
          <p:nvSpPr>
            <p:cNvPr id="40" name="TextBox 40"/>
            <p:cNvSpPr txBox="1"/>
            <p:nvPr/>
          </p:nvSpPr>
          <p:spPr>
            <a:xfrm>
              <a:off x="8546592" y="5569268"/>
              <a:ext cx="2603468"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≥2% systematic uncertainty.</a:t>
              </a:r>
            </a:p>
          </p:txBody>
        </p:sp>
      </p:grpSp>
      <p:grpSp>
        <p:nvGrpSpPr>
          <p:cNvPr id="45" name="Group 45"/>
          <p:cNvGrpSpPr/>
          <p:nvPr/>
        </p:nvGrpSpPr>
        <p:grpSpPr>
          <a:xfrm>
            <a:off x="756666" y="6477000"/>
            <a:ext cx="10678668" cy="301561"/>
            <a:chOff x="756666" y="6477000"/>
            <a:chExt cx="10678668" cy="301561"/>
          </a:xfrm>
        </p:grpSpPr>
        <p:sp>
          <p:nvSpPr>
            <p:cNvPr id="42" name="Line 42"/>
            <p:cNvSpPr/>
            <p:nvPr/>
          </p:nvSpPr>
          <p:spPr>
            <a:xfrm>
              <a:off x="762000" y="6477000"/>
              <a:ext cx="10668000" cy="9525"/>
            </a:xfrm>
            <a:custGeom>
              <a:avLst/>
              <a:gdLst/>
              <a:ahLst/>
              <a:cxnLst/>
              <a:rect l="l" t="t" r="r" b="b"/>
              <a:pathLst>
                <a:path w="10668000" h="9525">
                  <a:moveTo>
                    <a:pt x="0" y="0"/>
                  </a:moveTo>
                  <a:lnTo>
                    <a:pt x="10668000" y="0"/>
                  </a:lnTo>
                </a:path>
              </a:pathLst>
            </a:custGeom>
            <a:noFill/>
            <a:ln w="9525">
              <a:solidFill>
                <a:schemeClr val="accent4"/>
              </a:solidFill>
            </a:ln>
          </p:spPr>
        </p:sp>
        <p:sp>
          <p:nvSpPr>
            <p:cNvPr id="43" name="TextBox 43"/>
            <p:cNvSpPr txBox="1"/>
            <p:nvPr/>
          </p:nvSpPr>
          <p:spPr>
            <a:xfrm>
              <a:off x="756666" y="6573202"/>
              <a:ext cx="2902900" cy="205359"/>
            </a:xfrm>
            <a:prstGeom prst="rect">
              <a:avLst/>
            </a:prstGeom>
            <a:noFill/>
            <a:ln>
              <a:noFill/>
            </a:ln>
          </p:spPr>
          <p:txBody>
            <a:bodyPr wrap="none" lIns="0" tIns="0" rIns="0" bIns="0" anchor="t" anchorCtr="0">
              <a:spAutoFit/>
            </a:bodyPr>
            <a:lstStyle/>
            <a:p>
              <a:pPr algn="l"/>
              <a:r>
                <a:rPr lang="en-US" sz="1050" dirty="0">
                  <a:solidFill>
                    <a:srgbClr val="6B7E9C"/>
                  </a:solidFill>
                  <a:latin typeface="+mn-lt"/>
                  <a:ea typeface="+mn-ea"/>
                  <a:cs typeface="+mn-cs"/>
                </a:rPr>
                <a:t>SKiNN · Stellar Kinematics Neural Network</a:t>
              </a:r>
            </a:p>
          </p:txBody>
        </p:sp>
        <p:sp>
          <p:nvSpPr>
            <p:cNvPr id="44" name="TextBox 44"/>
            <p:cNvSpPr txBox="1"/>
            <p:nvPr/>
          </p:nvSpPr>
          <p:spPr>
            <a:xfrm>
              <a:off x="10951140" y="6573202"/>
              <a:ext cx="484194" cy="205359"/>
            </a:xfrm>
            <a:prstGeom prst="rect">
              <a:avLst/>
            </a:prstGeom>
            <a:noFill/>
            <a:ln>
              <a:noFill/>
            </a:ln>
          </p:spPr>
          <p:txBody>
            <a:bodyPr wrap="none" lIns="0" tIns="0" rIns="0" bIns="0" anchor="t" anchorCtr="0">
              <a:spAutoFit/>
            </a:bodyPr>
            <a:lstStyle/>
            <a:p>
              <a:pPr algn="r"/>
              <a:r>
                <a:rPr lang="en-US" sz="1050" dirty="0">
                  <a:solidFill>
                    <a:srgbClr val="6B7E9C"/>
                  </a:solidFill>
                  <a:latin typeface="+mn-lt"/>
                  <a:ea typeface="+mn-ea"/>
                  <a:cs typeface="+mn-cs"/>
                </a:rPr>
                <a:t>07 / 10</a:t>
              </a:r>
            </a:p>
          </p:txBody>
        </p:sp>
      </p:grpSp>
      <p:sp>
        <p:nvSpPr>
          <p:cNvPr id="46" name="cue_s07_c1_once_trained_skinn_produces_velocity" title="cue_s07_c1_once_trained_skinn_produces_velocity" descr="cue_s07_c1_once_trained_skinn_produces_velocity Once trained, SKiNN produces a velocity image from an input parameter vector in about fifty milliseconds on a single GPU, which is roughly three hundred times faster than JAM."/>
          <p:cNvSpPr/>
          <p:nvPr/>
        </p:nvSpPr>
        <p:spPr>
          <a:xfrm>
            <a:off x="8286902" y="1676095"/>
            <a:ext cx="3143097" cy="97177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cue_s07_c2_accuracy_assessed_five_hundred_held" title="cue_s07_c2_accuracy_assessed_five_hundred_held" descr="cue_s07_c2_accuracy_assessed_five_hundred_held Accuracy is assessed on the five hundred held-out test images by computing the relative error at each pixel."/>
          <p:cNvSpPr/>
          <p:nvPr/>
        </p:nvSpPr>
        <p:spPr>
          <a:xfrm>
            <a:off x="8286902" y="2743200"/>
            <a:ext cx="3143097" cy="97520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cue_s07_c3_while_some_outer_regions_show" title="cue_s07_c3_while_some_outer_regions_show" descr="cue_s07_c3_while_some_outer_regions_show While some outer regions can show errors of a few percent, the important innermost region, where real data actually constrains the model, is matched to within plus or minus one percent for almost all pixels."/>
          <p:cNvSpPr/>
          <p:nvPr/>
        </p:nvSpPr>
        <p:spPr>
          <a:xfrm>
            <a:off x="8286902" y="3810304"/>
            <a:ext cx="3143097" cy="994409"/>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cue_s07_c4_averaged_over_entire_images_median" title="cue_s07_c4_averaged_over_entire_images_median" descr="cue_s07_c4_averaged_over_entire_images_median Averaged over entire images, the median absolute error is about 0.47 percent and the ninetieth percentile is about 1.1 percent. Both are comfortably below the typical two-percent-or-greater systematic uncertainty in real velocity measurements."/>
          <p:cNvSpPr/>
          <p:nvPr/>
        </p:nvSpPr>
        <p:spPr>
          <a:xfrm>
            <a:off x="8286902" y="4876723"/>
            <a:ext cx="3143097" cy="95669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0">
              <a:schemeClr val="lt1"/>
            </a:gs>
            <a:gs pos="100000">
              <a:schemeClr val="accent5"/>
            </a:gs>
          </a:gsLst>
          <a:lin ang="4242597" scaled="1"/>
        </a:gradFill>
        <a:effectLst/>
      </p:bgPr>
    </p:bg>
    <p:spTree>
      <p:nvGrpSpPr>
        <p:cNvPr id="1" name=""/>
        <p:cNvGrpSpPr/>
        <p:nvPr/>
      </p:nvGrpSpPr>
      <p:grpSpPr>
        <a:xfrm>
          <a:off x="0" y="0"/>
          <a:ext cx="0" cy="0"/>
          <a:chOff x="0" y="0"/>
          <a:chExt cx="0" cy="0"/>
        </a:xfrm>
      </p:grpSpPr>
      <p:grpSp>
        <p:nvGrpSpPr>
          <p:cNvPr id="5" name="Group 5"/>
          <p:cNvGrpSpPr/>
          <p:nvPr/>
        </p:nvGrpSpPr>
        <p:grpSpPr>
          <a:xfrm>
            <a:off x="10096500" y="-1047750"/>
            <a:ext cx="2857500" cy="2857500"/>
            <a:chOff x="10096500" y="-1047750"/>
            <a:chExt cx="2857500" cy="2857500"/>
          </a:xfrm>
        </p:grpSpPr>
        <p:sp>
          <p:nvSpPr>
            <p:cNvPr id="2" name="Ellipse 2"/>
            <p:cNvSpPr/>
            <p:nvPr/>
          </p:nvSpPr>
          <p:spPr>
            <a:xfrm>
              <a:off x="10096500" y="-1047750"/>
              <a:ext cx="2857500" cy="2857500"/>
            </a:xfrm>
            <a:prstGeom prst="ellipse">
              <a:avLst/>
            </a:prstGeom>
            <a:noFill/>
            <a:ln w="14288">
              <a:solidFill>
                <a:srgbClr val="213556">
                  <a:alpha val="60000"/>
                </a:srgbClr>
              </a:solidFill>
            </a:ln>
          </p:spPr>
        </p:sp>
        <p:sp>
          <p:nvSpPr>
            <p:cNvPr id="3" name="Ellipse 3"/>
            <p:cNvSpPr/>
            <p:nvPr/>
          </p:nvSpPr>
          <p:spPr>
            <a:xfrm>
              <a:off x="10620375" y="-523875"/>
              <a:ext cx="1809750" cy="1809750"/>
            </a:xfrm>
            <a:prstGeom prst="ellipse">
              <a:avLst/>
            </a:prstGeom>
            <a:noFill/>
            <a:ln w="14288">
              <a:solidFill>
                <a:srgbClr val="213556">
                  <a:alpha val="45000"/>
                </a:srgbClr>
              </a:solidFill>
            </a:ln>
          </p:spPr>
        </p:sp>
        <p:sp>
          <p:nvSpPr>
            <p:cNvPr id="4" name="Ellipse 4"/>
            <p:cNvSpPr/>
            <p:nvPr/>
          </p:nvSpPr>
          <p:spPr>
            <a:xfrm>
              <a:off x="10582275" y="342900"/>
              <a:ext cx="76200" cy="76200"/>
            </a:xfrm>
            <a:prstGeom prst="ellipse">
              <a:avLst/>
            </a:prstGeom>
            <a:solidFill>
              <a:schemeClr val="accent3"/>
            </a:solidFill>
            <a:ln>
              <a:noFill/>
            </a:ln>
          </p:spPr>
        </p:sp>
      </p:grpSp>
      <p:grpSp>
        <p:nvGrpSpPr>
          <p:cNvPr id="11" name="Group 11"/>
          <p:cNvGrpSpPr/>
          <p:nvPr/>
        </p:nvGrpSpPr>
        <p:grpSpPr>
          <a:xfrm>
            <a:off x="762000" y="514350"/>
            <a:ext cx="8760775" cy="834390"/>
            <a:chOff x="762000" y="514350"/>
            <a:chExt cx="8760775" cy="834390"/>
          </a:xfrm>
        </p:grpSpPr>
        <p:sp>
          <p:nvSpPr>
            <p:cNvPr id="6" name="Rectangle 6"/>
            <p:cNvSpPr/>
            <p:nvPr/>
          </p:nvSpPr>
          <p:spPr>
            <a:xfrm>
              <a:off x="762000" y="514350"/>
              <a:ext cx="438150" cy="438150"/>
            </a:xfrm>
            <a:prstGeom prst="roundRect">
              <a:avLst>
                <a:gd name="adj" fmla="val 26087"/>
              </a:avLst>
            </a:prstGeom>
            <a:gradFill>
              <a:gsLst>
                <a:gs pos="0">
                  <a:srgbClr val="1B2C48"/>
                </a:gs>
                <a:gs pos="100000">
                  <a:srgbClr val="14223A"/>
                </a:gs>
              </a:gsLst>
              <a:lin ang="5400000" scaled="1"/>
            </a:gradFill>
            <a:ln w="9525">
              <a:solidFill>
                <a:schemeClr val="accent4"/>
              </a:solidFill>
            </a:ln>
          </p:spPr>
        </p:sp>
        <p:sp>
          <p:nvSpPr>
            <p:cNvPr id="7" name="TextBox 7"/>
            <p:cNvSpPr txBox="1"/>
            <p:nvPr/>
          </p:nvSpPr>
          <p:spPr>
            <a:xfrm>
              <a:off x="844417" y="641032"/>
              <a:ext cx="273316" cy="322707"/>
            </a:xfrm>
            <a:prstGeom prst="rect">
              <a:avLst/>
            </a:prstGeom>
            <a:noFill/>
            <a:ln>
              <a:noFill/>
            </a:ln>
          </p:spPr>
          <p:txBody>
            <a:bodyPr wrap="none" lIns="0" tIns="0" rIns="0" bIns="0" anchor="t" anchorCtr="0">
              <a:spAutoFit/>
            </a:bodyPr>
            <a:lstStyle/>
            <a:p>
              <a:pPr algn="ctr"/>
              <a:r>
                <a:rPr lang="en-US" sz="1650" b="1" dirty="0">
                  <a:solidFill>
                    <a:schemeClr val="accent1"/>
                  </a:solidFill>
                  <a:latin typeface="+mn-lt"/>
                  <a:ea typeface="+mn-ea"/>
                  <a:cs typeface="+mn-cs"/>
                </a:rPr>
                <a:t>08</a:t>
              </a:r>
            </a:p>
          </p:txBody>
        </p:sp>
        <p:sp>
          <p:nvSpPr>
            <p:cNvPr id="8" name="TextBox 8"/>
            <p:cNvSpPr txBox="1"/>
            <p:nvPr/>
          </p:nvSpPr>
          <p:spPr>
            <a:xfrm>
              <a:off x="1346073" y="548164"/>
              <a:ext cx="2433822" cy="249364"/>
            </a:xfrm>
            <a:prstGeom prst="rect">
              <a:avLst/>
            </a:prstGeom>
            <a:noFill/>
            <a:ln>
              <a:noFill/>
            </a:ln>
          </p:spPr>
          <p:txBody>
            <a:bodyPr wrap="none" lIns="0" tIns="0" rIns="0" bIns="0" anchor="t" anchorCtr="0">
              <a:spAutoFit/>
            </a:bodyPr>
            <a:lstStyle/>
            <a:p>
              <a:pPr algn="l"/>
              <a:r>
                <a:rPr lang="en-US" sz="1280" b="1" spc="225" dirty="0">
                  <a:solidFill>
                    <a:schemeClr val="dk2"/>
                  </a:solidFill>
                  <a:latin typeface="+mn-lt"/>
                  <a:ea typeface="+mn-ea"/>
                  <a:cs typeface="+mn-cs"/>
                </a:rPr>
                <a:t>ABLATION / ANALYSIS</a:t>
              </a:r>
            </a:p>
          </p:txBody>
        </p:sp>
        <p:sp>
          <p:nvSpPr>
            <p:cNvPr id="9" name="TextBox 9"/>
            <p:cNvSpPr txBox="1"/>
            <p:nvPr/>
          </p:nvSpPr>
          <p:spPr>
            <a:xfrm>
              <a:off x="1337310" y="762000"/>
              <a:ext cx="8185465" cy="586740"/>
            </a:xfrm>
            <a:prstGeom prst="rect">
              <a:avLst/>
            </a:prstGeom>
            <a:noFill/>
            <a:ln>
              <a:noFill/>
            </a:ln>
          </p:spPr>
          <p:txBody>
            <a:bodyPr wrap="none" lIns="0" tIns="0" rIns="0" bIns="0" anchor="t" anchorCtr="0">
              <a:spAutoFit/>
            </a:bodyPr>
            <a:lstStyle/>
            <a:p>
              <a:pPr algn="l"/>
              <a:r>
                <a:rPr lang="en-US" sz="3000" b="1" dirty="0">
                  <a:solidFill>
                    <a:schemeClr val="dk1"/>
                  </a:solidFill>
                  <a:latin typeface="+mn-lt"/>
                  <a:ea typeface="+mn-ea"/>
                  <a:cs typeface="+mn-cs"/>
                </a:rPr>
                <a:t>Characterized by its error distribution</a:t>
              </a:r>
            </a:p>
          </p:txBody>
        </p:sp>
        <p:sp>
          <p:nvSpPr>
            <p:cNvPr id="10" name="Rectangle 10"/>
            <p:cNvSpPr/>
            <p:nvPr/>
          </p:nvSpPr>
          <p:spPr>
            <a:xfrm>
              <a:off x="1352550" y="1219200"/>
              <a:ext cx="609600" cy="38100"/>
            </a:xfrm>
            <a:prstGeom prst="roundRect">
              <a:avLst>
                <a:gd name="adj" fmla="val 50000"/>
              </a:avLst>
            </a:prstGeom>
            <a:gradFill>
              <a:gsLst>
                <a:gs pos="0">
                  <a:schemeClr val="accent1"/>
                </a:gs>
                <a:gs pos="100000">
                  <a:schemeClr val="accent2"/>
                </a:gs>
              </a:gsLst>
              <a:lin ang="0" scaled="1"/>
            </a:gradFill>
            <a:ln>
              <a:noFill/>
            </a:ln>
          </p:spPr>
        </p:sp>
      </p:grpSp>
      <p:grpSp>
        <p:nvGrpSpPr>
          <p:cNvPr id="24" name="Group 24"/>
          <p:cNvGrpSpPr/>
          <p:nvPr/>
        </p:nvGrpSpPr>
        <p:grpSpPr>
          <a:xfrm>
            <a:off x="762000" y="1714500"/>
            <a:ext cx="3400425" cy="4000500"/>
            <a:chOff x="762000" y="1714500"/>
            <a:chExt cx="3400425" cy="4000500"/>
          </a:xfrm>
        </p:grpSpPr>
        <p:sp>
          <p:nvSpPr>
            <p:cNvPr id="12" name="Rectangle 12"/>
            <p:cNvSpPr/>
            <p:nvPr/>
          </p:nvSpPr>
          <p:spPr>
            <a:xfrm>
              <a:off x="762000" y="1714500"/>
              <a:ext cx="3400425" cy="4000500"/>
            </a:xfrm>
            <a:prstGeom prst="roundRect">
              <a:avLst>
                <a:gd name="adj" fmla="val 4482"/>
              </a:avLst>
            </a:prstGeom>
            <a:gradFill>
              <a:gsLst>
                <a:gs pos="0">
                  <a:srgbClr val="1B2C48"/>
                </a:gs>
                <a:gs pos="100000">
                  <a:srgbClr val="14223A"/>
                </a:gs>
              </a:gsLst>
              <a:lin ang="5400000" scaled="1"/>
            </a:gradFill>
            <a:ln w="9525">
              <a:solidFill>
                <a:schemeClr val="accent4"/>
              </a:solidFill>
            </a:ln>
          </p:spPr>
        </p:sp>
        <p:sp>
          <p:nvSpPr>
            <p:cNvPr id="13" name="Rectangle 13"/>
            <p:cNvSpPr/>
            <p:nvPr/>
          </p:nvSpPr>
          <p:spPr>
            <a:xfrm>
              <a:off x="762000" y="1714500"/>
              <a:ext cx="3400425" cy="47625"/>
            </a:xfrm>
            <a:prstGeom prst="roundRect">
              <a:avLst>
                <a:gd name="adj" fmla="val 50000"/>
              </a:avLst>
            </a:prstGeom>
            <a:solidFill>
              <a:schemeClr val="accent3"/>
            </a:solidFill>
            <a:ln>
              <a:noFill/>
            </a:ln>
          </p:spPr>
        </p:sp>
        <p:sp>
          <p:nvSpPr>
            <p:cNvPr id="14" name="Ellipse 14"/>
            <p:cNvSpPr/>
            <p:nvPr/>
          </p:nvSpPr>
          <p:spPr>
            <a:xfrm>
              <a:off x="1028700" y="2038350"/>
              <a:ext cx="381000" cy="381000"/>
            </a:xfrm>
            <a:prstGeom prst="ellipse">
              <a:avLst/>
            </a:prstGeom>
            <a:noFill/>
            <a:ln w="23812">
              <a:solidFill>
                <a:srgbClr val="7DBBFF"/>
              </a:solidFill>
            </a:ln>
          </p:spPr>
        </p:sp>
        <p:sp>
          <p:nvSpPr>
            <p:cNvPr id="15" name="TextBox 15"/>
            <p:cNvSpPr txBox="1"/>
            <p:nvPr/>
          </p:nvSpPr>
          <p:spPr>
            <a:xfrm>
              <a:off x="1171891" y="2110740"/>
              <a:ext cx="94618" cy="352044"/>
            </a:xfrm>
            <a:prstGeom prst="rect">
              <a:avLst/>
            </a:prstGeom>
            <a:noFill/>
            <a:ln>
              <a:noFill/>
            </a:ln>
          </p:spPr>
          <p:txBody>
            <a:bodyPr wrap="none" lIns="0" tIns="0" rIns="0" bIns="0" anchor="t" anchorCtr="0">
              <a:spAutoFit/>
            </a:bodyPr>
            <a:lstStyle/>
            <a:p>
              <a:pPr algn="ctr"/>
              <a:r>
                <a:rPr lang="en-US" sz="1800" b="1" dirty="0">
                  <a:solidFill>
                    <a:srgbClr val="7DBBFF"/>
                  </a:solidFill>
                  <a:latin typeface="+mn-lt"/>
                  <a:ea typeface="+mn-ea"/>
                  <a:cs typeface="+mn-cs"/>
                </a:rPr>
                <a:t>i</a:t>
              </a:r>
            </a:p>
          </p:txBody>
        </p:sp>
        <p:sp>
          <p:nvSpPr>
            <p:cNvPr id="16" name="TextBox 16"/>
            <p:cNvSpPr txBox="1"/>
            <p:nvPr/>
          </p:nvSpPr>
          <p:spPr>
            <a:xfrm>
              <a:off x="1552956" y="2110740"/>
              <a:ext cx="2277975"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No formal ablation</a:t>
              </a:r>
            </a:p>
          </p:txBody>
        </p:sp>
        <p:sp>
          <p:nvSpPr>
            <p:cNvPr id="17" name="TextBox 17"/>
            <p:cNvSpPr txBox="1"/>
            <p:nvPr/>
          </p:nvSpPr>
          <p:spPr>
            <a:xfrm>
              <a:off x="983361" y="2627471"/>
              <a:ext cx="2515845" cy="278702"/>
            </a:xfrm>
            <a:prstGeom prst="rect">
              <a:avLst/>
            </a:prstGeom>
            <a:noFill/>
            <a:ln>
              <a:noFill/>
            </a:ln>
          </p:spPr>
          <p:txBody>
            <a:bodyPr wrap="none" lIns="0" tIns="0" rIns="0" bIns="0" anchor="t" anchorCtr="0">
              <a:spAutoFit/>
            </a:bodyPr>
            <a:lstStyle/>
            <a:p>
              <a:pPr algn="l"/>
              <a:r>
                <a:rPr lang="en-US" sz="1420" dirty="0">
                  <a:solidFill>
                    <a:schemeClr val="dk2"/>
                  </a:solidFill>
                  <a:latin typeface="+mn-lt"/>
                  <a:ea typeface="+mn-ea"/>
                  <a:cs typeface="+mn-cs"/>
                </a:rPr>
                <a:t>This is a proof-of-concept</a:t>
              </a:r>
            </a:p>
          </p:txBody>
        </p:sp>
        <p:sp>
          <p:nvSpPr>
            <p:cNvPr id="18" name="TextBox 18"/>
            <p:cNvSpPr txBox="1"/>
            <p:nvPr/>
          </p:nvSpPr>
          <p:spPr>
            <a:xfrm>
              <a:off x="983361" y="2875121"/>
              <a:ext cx="2547353" cy="278702"/>
            </a:xfrm>
            <a:prstGeom prst="rect">
              <a:avLst/>
            </a:prstGeom>
            <a:noFill/>
            <a:ln>
              <a:noFill/>
            </a:ln>
          </p:spPr>
          <p:txBody>
            <a:bodyPr wrap="none" lIns="0" tIns="0" rIns="0" bIns="0" anchor="t" anchorCtr="0">
              <a:spAutoFit/>
            </a:bodyPr>
            <a:lstStyle/>
            <a:p>
              <a:pPr algn="l"/>
              <a:r>
                <a:rPr lang="en-US" sz="1420" dirty="0">
                  <a:solidFill>
                    <a:schemeClr val="dk2"/>
                  </a:solidFill>
                  <a:latin typeface="+mn-lt"/>
                  <a:ea typeface="+mn-ea"/>
                  <a:cs typeface="+mn-cs"/>
                </a:rPr>
                <a:t>workshop paper, so it does</a:t>
              </a:r>
            </a:p>
          </p:txBody>
        </p:sp>
        <p:sp>
          <p:nvSpPr>
            <p:cNvPr id="19" name="TextBox 19"/>
            <p:cNvSpPr txBox="1"/>
            <p:nvPr/>
          </p:nvSpPr>
          <p:spPr>
            <a:xfrm>
              <a:off x="983361" y="3122771"/>
              <a:ext cx="2767188" cy="278702"/>
            </a:xfrm>
            <a:prstGeom prst="rect">
              <a:avLst/>
            </a:prstGeom>
            <a:noFill/>
            <a:ln>
              <a:noFill/>
            </a:ln>
          </p:spPr>
          <p:txBody>
            <a:bodyPr wrap="none" lIns="0" tIns="0" rIns="0" bIns="0" anchor="t" anchorCtr="0">
              <a:spAutoFit/>
            </a:bodyPr>
            <a:lstStyle/>
            <a:p>
              <a:pPr algn="l"/>
              <a:r>
                <a:rPr lang="en-US" sz="1420" dirty="0">
                  <a:solidFill>
                    <a:schemeClr val="dk2"/>
                  </a:solidFill>
                  <a:latin typeface="+mn-lt"/>
                  <a:ea typeface="+mn-ea"/>
                  <a:cs typeface="+mn-cs"/>
                </a:rPr>
                <a:t>not present a formal ablation</a:t>
              </a:r>
            </a:p>
          </p:txBody>
        </p:sp>
        <p:sp>
          <p:nvSpPr>
            <p:cNvPr id="20" name="TextBox 20"/>
            <p:cNvSpPr txBox="1"/>
            <p:nvPr/>
          </p:nvSpPr>
          <p:spPr>
            <a:xfrm>
              <a:off x="983361" y="3370421"/>
              <a:ext cx="597517" cy="278702"/>
            </a:xfrm>
            <a:prstGeom prst="rect">
              <a:avLst/>
            </a:prstGeom>
            <a:noFill/>
            <a:ln>
              <a:noFill/>
            </a:ln>
          </p:spPr>
          <p:txBody>
            <a:bodyPr wrap="none" lIns="0" tIns="0" rIns="0" bIns="0" anchor="t" anchorCtr="0">
              <a:spAutoFit/>
            </a:bodyPr>
            <a:lstStyle/>
            <a:p>
              <a:pPr algn="l"/>
              <a:r>
                <a:rPr lang="en-US" sz="1420" dirty="0">
                  <a:solidFill>
                    <a:schemeClr val="dk2"/>
                  </a:solidFill>
                  <a:latin typeface="+mn-lt"/>
                  <a:ea typeface="+mn-ea"/>
                  <a:cs typeface="+mn-cs"/>
                </a:rPr>
                <a:t>table.</a:t>
              </a:r>
            </a:p>
          </p:txBody>
        </p:sp>
        <p:sp>
          <p:nvSpPr>
            <p:cNvPr id="21" name="TextBox 21"/>
            <p:cNvSpPr txBox="1"/>
            <p:nvPr/>
          </p:nvSpPr>
          <p:spPr>
            <a:xfrm>
              <a:off x="983361" y="3846671"/>
              <a:ext cx="2286140" cy="278702"/>
            </a:xfrm>
            <a:prstGeom prst="rect">
              <a:avLst/>
            </a:prstGeom>
            <a:noFill/>
            <a:ln>
              <a:noFill/>
            </a:ln>
          </p:spPr>
          <p:txBody>
            <a:bodyPr wrap="none" lIns="0" tIns="0" rIns="0" bIns="0" anchor="t" anchorCtr="0">
              <a:spAutoFit/>
            </a:bodyPr>
            <a:lstStyle/>
            <a:p>
              <a:pPr algn="l"/>
              <a:r>
                <a:rPr lang="en-US" sz="1420" dirty="0">
                  <a:solidFill>
                    <a:schemeClr val="dk2"/>
                  </a:solidFill>
                  <a:latin typeface="+mn-lt"/>
                  <a:ea typeface="+mn-ea"/>
                  <a:cs typeface="+mn-cs"/>
                </a:rPr>
                <a:t>Instead, performance is</a:t>
              </a:r>
            </a:p>
          </p:txBody>
        </p:sp>
        <p:sp>
          <p:nvSpPr>
            <p:cNvPr id="22" name="TextBox 22"/>
            <p:cNvSpPr txBox="1"/>
            <p:nvPr/>
          </p:nvSpPr>
          <p:spPr>
            <a:xfrm>
              <a:off x="983361" y="4094321"/>
              <a:ext cx="2872326" cy="278702"/>
            </a:xfrm>
            <a:prstGeom prst="rect">
              <a:avLst/>
            </a:prstGeom>
            <a:noFill/>
            <a:ln>
              <a:noFill/>
            </a:ln>
          </p:spPr>
          <p:txBody>
            <a:bodyPr wrap="none" lIns="0" tIns="0" rIns="0" bIns="0" anchor="t" anchorCtr="0">
              <a:spAutoFit/>
            </a:bodyPr>
            <a:lstStyle/>
            <a:p>
              <a:pPr algn="l"/>
              <a:r>
                <a:rPr lang="en-US" sz="1420" dirty="0">
                  <a:solidFill>
                    <a:schemeClr val="dk2"/>
                  </a:solidFill>
                  <a:latin typeface="+mn-lt"/>
                  <a:ea typeface="+mn-ea"/>
                  <a:cs typeface="+mn-cs"/>
                </a:rPr>
                <a:t>reported through the behavior</a:t>
              </a:r>
            </a:p>
          </p:txBody>
        </p:sp>
        <p:sp>
          <p:nvSpPr>
            <p:cNvPr id="23" name="TextBox 23"/>
            <p:cNvSpPr txBox="1"/>
            <p:nvPr/>
          </p:nvSpPr>
          <p:spPr>
            <a:xfrm>
              <a:off x="983361" y="4341971"/>
              <a:ext cx="2824536" cy="278702"/>
            </a:xfrm>
            <a:prstGeom prst="rect">
              <a:avLst/>
            </a:prstGeom>
            <a:noFill/>
            <a:ln>
              <a:noFill/>
            </a:ln>
          </p:spPr>
          <p:txBody>
            <a:bodyPr wrap="none" lIns="0" tIns="0" rIns="0" bIns="0" anchor="t" anchorCtr="0">
              <a:spAutoFit/>
            </a:bodyPr>
            <a:lstStyle/>
            <a:p>
              <a:pPr algn="l"/>
              <a:r>
                <a:rPr lang="en-US" sz="1420" dirty="0">
                  <a:solidFill>
                    <a:schemeClr val="dk2"/>
                  </a:solidFill>
                  <a:latin typeface="+mn-lt"/>
                  <a:ea typeface="+mn-ea"/>
                  <a:cs typeface="+mn-cs"/>
                </a:rPr>
                <a:t>of the emulation error itself.</a:t>
              </a:r>
            </a:p>
          </p:txBody>
        </p:sp>
      </p:grpSp>
      <p:grpSp>
        <p:nvGrpSpPr>
          <p:cNvPr id="45" name="Group 45"/>
          <p:cNvGrpSpPr/>
          <p:nvPr/>
        </p:nvGrpSpPr>
        <p:grpSpPr>
          <a:xfrm>
            <a:off x="4391025" y="1714500"/>
            <a:ext cx="3400425" cy="4000500"/>
            <a:chOff x="4391025" y="1714500"/>
            <a:chExt cx="3400425" cy="4000500"/>
          </a:xfrm>
        </p:grpSpPr>
        <p:sp>
          <p:nvSpPr>
            <p:cNvPr id="25" name="Rectangle 25"/>
            <p:cNvSpPr/>
            <p:nvPr/>
          </p:nvSpPr>
          <p:spPr>
            <a:xfrm>
              <a:off x="4391025" y="1714500"/>
              <a:ext cx="3400425" cy="4000500"/>
            </a:xfrm>
            <a:prstGeom prst="roundRect">
              <a:avLst>
                <a:gd name="adj" fmla="val 4482"/>
              </a:avLst>
            </a:prstGeom>
            <a:gradFill>
              <a:gsLst>
                <a:gs pos="0">
                  <a:srgbClr val="1B2C48"/>
                </a:gs>
                <a:gs pos="100000">
                  <a:srgbClr val="14223A"/>
                </a:gs>
              </a:gsLst>
              <a:lin ang="5400000" scaled="1"/>
            </a:gradFill>
            <a:ln w="9525">
              <a:solidFill>
                <a:schemeClr val="accent4"/>
              </a:solidFill>
            </a:ln>
          </p:spPr>
        </p:sp>
        <p:sp>
          <p:nvSpPr>
            <p:cNvPr id="26" name="Rectangle 26"/>
            <p:cNvSpPr/>
            <p:nvPr/>
          </p:nvSpPr>
          <p:spPr>
            <a:xfrm>
              <a:off x="4391025" y="1714500"/>
              <a:ext cx="3400425" cy="47625"/>
            </a:xfrm>
            <a:prstGeom prst="roundRect">
              <a:avLst>
                <a:gd name="adj" fmla="val 50000"/>
              </a:avLst>
            </a:prstGeom>
            <a:solidFill>
              <a:schemeClr val="accent1"/>
            </a:solidFill>
            <a:ln>
              <a:noFill/>
            </a:ln>
          </p:spPr>
        </p:sp>
        <p:sp>
          <p:nvSpPr>
            <p:cNvPr id="27" name="TextBox 27"/>
            <p:cNvSpPr txBox="1"/>
            <p:nvPr/>
          </p:nvSpPr>
          <p:spPr>
            <a:xfrm>
              <a:off x="4614672" y="2047399"/>
              <a:ext cx="1396540" cy="190690"/>
            </a:xfrm>
            <a:prstGeom prst="rect">
              <a:avLst/>
            </a:prstGeom>
            <a:noFill/>
            <a:ln>
              <a:noFill/>
            </a:ln>
          </p:spPr>
          <p:txBody>
            <a:bodyPr wrap="none" lIns="0" tIns="0" rIns="0" bIns="0" anchor="t" anchorCtr="0">
              <a:spAutoFit/>
            </a:bodyPr>
            <a:lstStyle/>
            <a:p>
              <a:pPr algn="l"/>
              <a:r>
                <a:rPr lang="en-US" sz="980" b="1" spc="112" dirty="0">
                  <a:solidFill>
                    <a:schemeClr val="accent2"/>
                  </a:solidFill>
                  <a:latin typeface="+mn-lt"/>
                  <a:ea typeface="+mn-ea"/>
                  <a:cs typeface="+mn-cs"/>
                </a:rPr>
                <a:t>PER-PIXEL ERROR</a:t>
              </a:r>
            </a:p>
          </p:txBody>
        </p:sp>
        <p:sp>
          <p:nvSpPr>
            <p:cNvPr id="28" name="TextBox 28"/>
            <p:cNvSpPr txBox="1"/>
            <p:nvPr/>
          </p:nvSpPr>
          <p:spPr>
            <a:xfrm>
              <a:off x="4610481" y="2263140"/>
              <a:ext cx="2290271"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Error distribution</a:t>
              </a:r>
            </a:p>
          </p:txBody>
        </p:sp>
        <p:grpSp>
          <p:nvGrpSpPr>
            <p:cNvPr id="41" name="Group 41"/>
            <p:cNvGrpSpPr/>
            <p:nvPr/>
          </p:nvGrpSpPr>
          <p:grpSpPr>
            <a:xfrm>
              <a:off x="4762500" y="3009900"/>
              <a:ext cx="2762250" cy="1235011"/>
              <a:chOff x="4762500" y="3009900"/>
              <a:chExt cx="2762250" cy="1235011"/>
            </a:xfrm>
          </p:grpSpPr>
          <p:sp>
            <p:nvSpPr>
              <p:cNvPr id="29" name="Line 29"/>
              <p:cNvSpPr/>
              <p:nvPr/>
            </p:nvSpPr>
            <p:spPr>
              <a:xfrm>
                <a:off x="4762500" y="3905250"/>
                <a:ext cx="2762250" cy="9525"/>
              </a:xfrm>
              <a:custGeom>
                <a:avLst/>
                <a:gdLst/>
                <a:ahLst/>
                <a:cxnLst/>
                <a:rect l="l" t="t" r="r" b="b"/>
                <a:pathLst>
                  <a:path w="2762250" h="9525">
                    <a:moveTo>
                      <a:pt x="0" y="0"/>
                    </a:moveTo>
                    <a:lnTo>
                      <a:pt x="2762250" y="0"/>
                    </a:lnTo>
                  </a:path>
                </a:pathLst>
              </a:custGeom>
              <a:noFill/>
              <a:ln w="14288">
                <a:solidFill>
                  <a:schemeClr val="accent4"/>
                </a:solidFill>
              </a:ln>
            </p:spPr>
          </p:sp>
          <p:sp>
            <p:nvSpPr>
              <p:cNvPr id="30" name="Rectangle 30"/>
              <p:cNvSpPr/>
              <p:nvPr/>
            </p:nvSpPr>
            <p:spPr>
              <a:xfrm>
                <a:off x="4876800" y="3752850"/>
                <a:ext cx="247650" cy="152400"/>
              </a:xfrm>
              <a:prstGeom prst="rect">
                <a:avLst/>
              </a:prstGeom>
              <a:solidFill>
                <a:srgbClr val="345680"/>
              </a:solidFill>
              <a:ln>
                <a:noFill/>
              </a:ln>
            </p:spPr>
          </p:sp>
          <p:sp>
            <p:nvSpPr>
              <p:cNvPr id="31" name="Rectangle 31"/>
              <p:cNvSpPr/>
              <p:nvPr/>
            </p:nvSpPr>
            <p:spPr>
              <a:xfrm>
                <a:off x="5181600" y="3619500"/>
                <a:ext cx="247650" cy="285750"/>
              </a:xfrm>
              <a:prstGeom prst="rect">
                <a:avLst/>
              </a:prstGeom>
              <a:solidFill>
                <a:srgbClr val="3E6BA0"/>
              </a:solidFill>
              <a:ln>
                <a:noFill/>
              </a:ln>
            </p:spPr>
          </p:sp>
          <p:sp>
            <p:nvSpPr>
              <p:cNvPr id="32" name="Rectangle 32"/>
              <p:cNvSpPr/>
              <p:nvPr/>
            </p:nvSpPr>
            <p:spPr>
              <a:xfrm>
                <a:off x="5486400" y="3352800"/>
                <a:ext cx="247650" cy="552450"/>
              </a:xfrm>
              <a:prstGeom prst="rect">
                <a:avLst/>
              </a:prstGeom>
              <a:solidFill>
                <a:schemeClr val="accent3"/>
              </a:solidFill>
              <a:ln>
                <a:noFill/>
              </a:ln>
            </p:spPr>
          </p:sp>
          <p:sp>
            <p:nvSpPr>
              <p:cNvPr id="33" name="Rectangle 33"/>
              <p:cNvSpPr/>
              <p:nvPr/>
            </p:nvSpPr>
            <p:spPr>
              <a:xfrm>
                <a:off x="5791200" y="3067050"/>
                <a:ext cx="247650" cy="838200"/>
              </a:xfrm>
              <a:prstGeom prst="rect">
                <a:avLst/>
              </a:prstGeom>
              <a:solidFill>
                <a:srgbClr val="7DBBFF"/>
              </a:solidFill>
              <a:ln>
                <a:noFill/>
              </a:ln>
            </p:spPr>
          </p:sp>
          <p:sp>
            <p:nvSpPr>
              <p:cNvPr id="34" name="Rectangle 34"/>
              <p:cNvSpPr/>
              <p:nvPr/>
            </p:nvSpPr>
            <p:spPr>
              <a:xfrm>
                <a:off x="6096000" y="3238500"/>
                <a:ext cx="247650" cy="666750"/>
              </a:xfrm>
              <a:prstGeom prst="rect">
                <a:avLst/>
              </a:prstGeom>
              <a:solidFill>
                <a:schemeClr val="accent3"/>
              </a:solidFill>
              <a:ln>
                <a:noFill/>
              </a:ln>
            </p:spPr>
          </p:sp>
          <p:sp>
            <p:nvSpPr>
              <p:cNvPr id="35" name="Rectangle 35"/>
              <p:cNvSpPr/>
              <p:nvPr/>
            </p:nvSpPr>
            <p:spPr>
              <a:xfrm>
                <a:off x="6400800" y="3543300"/>
                <a:ext cx="247650" cy="361950"/>
              </a:xfrm>
              <a:prstGeom prst="rect">
                <a:avLst/>
              </a:prstGeom>
              <a:solidFill>
                <a:srgbClr val="3E6BA0"/>
              </a:solidFill>
              <a:ln>
                <a:noFill/>
              </a:ln>
            </p:spPr>
          </p:sp>
          <p:sp>
            <p:nvSpPr>
              <p:cNvPr id="36" name="Rectangle 36"/>
              <p:cNvSpPr/>
              <p:nvPr/>
            </p:nvSpPr>
            <p:spPr>
              <a:xfrm>
                <a:off x="6705600" y="3733800"/>
                <a:ext cx="247650" cy="171450"/>
              </a:xfrm>
              <a:prstGeom prst="rect">
                <a:avLst/>
              </a:prstGeom>
              <a:solidFill>
                <a:srgbClr val="345680"/>
              </a:solidFill>
              <a:ln>
                <a:noFill/>
              </a:ln>
            </p:spPr>
          </p:sp>
          <p:sp>
            <p:nvSpPr>
              <p:cNvPr id="37" name="Line 37"/>
              <p:cNvSpPr/>
              <p:nvPr/>
            </p:nvSpPr>
            <p:spPr>
              <a:xfrm>
                <a:off x="5972175" y="3009900"/>
                <a:ext cx="9525" cy="971550"/>
              </a:xfrm>
              <a:custGeom>
                <a:avLst/>
                <a:gdLst/>
                <a:ahLst/>
                <a:cxnLst/>
                <a:rect l="l" t="t" r="r" b="b"/>
                <a:pathLst>
                  <a:path w="9525" h="971550">
                    <a:moveTo>
                      <a:pt x="0" y="0"/>
                    </a:moveTo>
                    <a:lnTo>
                      <a:pt x="0" y="971550"/>
                    </a:lnTo>
                  </a:path>
                </a:pathLst>
              </a:custGeom>
              <a:noFill/>
              <a:ln w="19050">
                <a:solidFill>
                  <a:srgbClr val="35D0A5"/>
                </a:solidFill>
                <a:custDash>
                  <a:ds d="200000" sp="150000"/>
                </a:custDash>
              </a:ln>
            </p:spPr>
          </p:sp>
          <p:sp>
            <p:nvSpPr>
              <p:cNvPr id="38" name="TextBox 38"/>
              <p:cNvSpPr txBox="1"/>
              <p:nvPr/>
            </p:nvSpPr>
            <p:spPr>
              <a:xfrm>
                <a:off x="5927969" y="4039552"/>
                <a:ext cx="88411" cy="205359"/>
              </a:xfrm>
              <a:prstGeom prst="rect">
                <a:avLst/>
              </a:prstGeom>
              <a:noFill/>
              <a:ln>
                <a:noFill/>
              </a:ln>
            </p:spPr>
            <p:txBody>
              <a:bodyPr wrap="none" lIns="0" tIns="0" rIns="0" bIns="0" anchor="t" anchorCtr="0">
                <a:spAutoFit/>
              </a:bodyPr>
              <a:lstStyle/>
              <a:p>
                <a:pPr algn="ctr"/>
                <a:r>
                  <a:rPr lang="en-US" sz="1050" dirty="0">
                    <a:solidFill>
                      <a:srgbClr val="35D0A5"/>
                    </a:solidFill>
                    <a:latin typeface="+mn-lt"/>
                    <a:ea typeface="+mn-ea"/>
                    <a:cs typeface="+mn-cs"/>
                  </a:rPr>
                  <a:t>0</a:t>
                </a:r>
              </a:p>
            </p:txBody>
          </p:sp>
          <p:sp>
            <p:nvSpPr>
              <p:cNvPr id="39" name="TextBox 39"/>
              <p:cNvSpPr txBox="1"/>
              <p:nvPr/>
            </p:nvSpPr>
            <p:spPr>
              <a:xfrm>
                <a:off x="4871847" y="4047649"/>
                <a:ext cx="253972" cy="190690"/>
              </a:xfrm>
              <a:prstGeom prst="rect">
                <a:avLst/>
              </a:prstGeom>
              <a:noFill/>
              <a:ln>
                <a:noFill/>
              </a:ln>
            </p:spPr>
            <p:txBody>
              <a:bodyPr wrap="none" lIns="0" tIns="0" rIns="0" bIns="0" anchor="t" anchorCtr="0">
                <a:spAutoFit/>
              </a:bodyPr>
              <a:lstStyle/>
              <a:p>
                <a:pPr algn="l"/>
                <a:r>
                  <a:rPr lang="en-US" sz="980" dirty="0">
                    <a:solidFill>
                      <a:srgbClr val="6B7E9C"/>
                    </a:solidFill>
                    <a:latin typeface="+mn-lt"/>
                    <a:ea typeface="+mn-ea"/>
                    <a:cs typeface="+mn-cs"/>
                  </a:rPr>
                  <a:t>−1%</a:t>
                </a:r>
              </a:p>
            </p:txBody>
          </p:sp>
          <p:sp>
            <p:nvSpPr>
              <p:cNvPr id="40" name="TextBox 40"/>
              <p:cNvSpPr txBox="1"/>
              <p:nvPr/>
            </p:nvSpPr>
            <p:spPr>
              <a:xfrm>
                <a:off x="6853047" y="4047649"/>
                <a:ext cx="253972" cy="190690"/>
              </a:xfrm>
              <a:prstGeom prst="rect">
                <a:avLst/>
              </a:prstGeom>
              <a:noFill/>
              <a:ln>
                <a:noFill/>
              </a:ln>
            </p:spPr>
            <p:txBody>
              <a:bodyPr wrap="none" lIns="0" tIns="0" rIns="0" bIns="0" anchor="t" anchorCtr="0">
                <a:spAutoFit/>
              </a:bodyPr>
              <a:lstStyle/>
              <a:p>
                <a:pPr algn="l"/>
                <a:r>
                  <a:rPr lang="en-US" sz="980" dirty="0">
                    <a:solidFill>
                      <a:srgbClr val="6B7E9C"/>
                    </a:solidFill>
                    <a:latin typeface="+mn-lt"/>
                    <a:ea typeface="+mn-ea"/>
                    <a:cs typeface="+mn-cs"/>
                  </a:rPr>
                  <a:t>+1%</a:t>
                </a:r>
              </a:p>
            </p:txBody>
          </p:sp>
        </p:grpSp>
        <p:sp>
          <p:nvSpPr>
            <p:cNvPr id="42" name="TextBox 42"/>
            <p:cNvSpPr txBox="1"/>
            <p:nvPr/>
          </p:nvSpPr>
          <p:spPr>
            <a:xfrm>
              <a:off x="4612386" y="4475321"/>
              <a:ext cx="2660351" cy="278702"/>
            </a:xfrm>
            <a:prstGeom prst="rect">
              <a:avLst/>
            </a:prstGeom>
            <a:noFill/>
            <a:ln>
              <a:noFill/>
            </a:ln>
          </p:spPr>
          <p:txBody>
            <a:bodyPr wrap="none" lIns="0" tIns="0" rIns="0" bIns="0" anchor="t" anchorCtr="0">
              <a:spAutoFit/>
            </a:bodyPr>
            <a:lstStyle/>
            <a:p>
              <a:pPr algn="l"/>
              <a:r>
                <a:rPr lang="en-US" sz="1420" dirty="0">
                  <a:solidFill>
                    <a:schemeClr val="dk2"/>
                  </a:solidFill>
                  <a:latin typeface="+mn-lt"/>
                  <a:ea typeface="+mn-ea"/>
                  <a:cs typeface="+mn-cs"/>
                </a:rPr>
                <a:t>Across the 500 test images:</a:t>
              </a:r>
            </a:p>
          </p:txBody>
        </p:sp>
        <p:sp>
          <p:nvSpPr>
            <p:cNvPr id="43" name="TextBox 43"/>
            <p:cNvSpPr txBox="1"/>
            <p:nvPr/>
          </p:nvSpPr>
          <p:spPr>
            <a:xfrm>
              <a:off x="4609719" y="4761548"/>
              <a:ext cx="1811436" cy="381381"/>
            </a:xfrm>
            <a:prstGeom prst="rect">
              <a:avLst/>
            </a:prstGeom>
            <a:noFill/>
            <a:ln>
              <a:noFill/>
            </a:ln>
          </p:spPr>
          <p:txBody>
            <a:bodyPr wrap="none" lIns="0" tIns="0" rIns="0" bIns="0" anchor="t" anchorCtr="0">
              <a:spAutoFit/>
            </a:bodyPr>
            <a:lstStyle/>
            <a:p>
              <a:pPr algn="l"/>
              <a:r>
                <a:rPr lang="en-US" sz="1950" b="1" dirty="0">
                  <a:solidFill>
                    <a:srgbClr val="35D0A5"/>
                  </a:solidFill>
                  <a:latin typeface="+mn-lt"/>
                  <a:ea typeface="+mn-ea"/>
                  <a:cs typeface="+mn-cs"/>
                </a:rPr>
                <a:t>median 0.47%</a:t>
              </a:r>
            </a:p>
          </p:txBody>
        </p:sp>
        <p:sp>
          <p:nvSpPr>
            <p:cNvPr id="44" name="TextBox 44"/>
            <p:cNvSpPr txBox="1"/>
            <p:nvPr/>
          </p:nvSpPr>
          <p:spPr>
            <a:xfrm>
              <a:off x="4611243" y="5117782"/>
              <a:ext cx="2593946" cy="322707"/>
            </a:xfrm>
            <a:prstGeom prst="rect">
              <a:avLst/>
            </a:prstGeom>
            <a:noFill/>
            <a:ln>
              <a:noFill/>
            </a:ln>
          </p:spPr>
          <p:txBody>
            <a:bodyPr wrap="none" lIns="0" tIns="0" rIns="0" bIns="0" anchor="t" anchorCtr="0">
              <a:spAutoFit/>
            </a:bodyPr>
            <a:lstStyle/>
            <a:p>
              <a:pPr algn="l"/>
              <a:r>
                <a:rPr lang="en-US" sz="1650" b="1" dirty="0">
                  <a:solidFill>
                    <a:schemeClr val="dk1"/>
                  </a:solidFill>
                  <a:latin typeface="+mn-lt"/>
                  <a:ea typeface="+mn-ea"/>
                  <a:cs typeface="+mn-cs"/>
                </a:rPr>
                <a:t>90th percentile ≈ 1.1%</a:t>
              </a:r>
            </a:p>
          </p:txBody>
        </p:sp>
      </p:grpSp>
      <p:grpSp>
        <p:nvGrpSpPr>
          <p:cNvPr id="59" name="Group 59"/>
          <p:cNvGrpSpPr/>
          <p:nvPr/>
        </p:nvGrpSpPr>
        <p:grpSpPr>
          <a:xfrm>
            <a:off x="8020050" y="1714500"/>
            <a:ext cx="3409950" cy="4000500"/>
            <a:chOff x="8020050" y="1714500"/>
            <a:chExt cx="3409950" cy="4000500"/>
          </a:xfrm>
        </p:grpSpPr>
        <p:sp>
          <p:nvSpPr>
            <p:cNvPr id="46" name="Rectangle 46"/>
            <p:cNvSpPr/>
            <p:nvPr/>
          </p:nvSpPr>
          <p:spPr>
            <a:xfrm>
              <a:off x="8020050" y="1714500"/>
              <a:ext cx="3409950" cy="4000500"/>
            </a:xfrm>
            <a:prstGeom prst="roundRect">
              <a:avLst>
                <a:gd name="adj" fmla="val 4469"/>
              </a:avLst>
            </a:prstGeom>
            <a:gradFill>
              <a:gsLst>
                <a:gs pos="0">
                  <a:srgbClr val="1B2C48"/>
                </a:gs>
                <a:gs pos="100000">
                  <a:srgbClr val="14223A"/>
                </a:gs>
              </a:gsLst>
              <a:lin ang="5400000" scaled="1"/>
            </a:gradFill>
            <a:ln w="9525">
              <a:solidFill>
                <a:schemeClr val="accent4"/>
              </a:solidFill>
            </a:ln>
          </p:spPr>
        </p:sp>
        <p:sp>
          <p:nvSpPr>
            <p:cNvPr id="47" name="Rectangle 47"/>
            <p:cNvSpPr/>
            <p:nvPr/>
          </p:nvSpPr>
          <p:spPr>
            <a:xfrm>
              <a:off x="8020050" y="1714500"/>
              <a:ext cx="3409950" cy="47625"/>
            </a:xfrm>
            <a:prstGeom prst="roundRect">
              <a:avLst>
                <a:gd name="adj" fmla="val 50000"/>
              </a:avLst>
            </a:prstGeom>
            <a:solidFill>
              <a:srgbClr val="35D0A5"/>
            </a:solidFill>
            <a:ln>
              <a:noFill/>
            </a:ln>
          </p:spPr>
        </p:sp>
        <p:sp>
          <p:nvSpPr>
            <p:cNvPr id="48" name="TextBox 48"/>
            <p:cNvSpPr txBox="1"/>
            <p:nvPr/>
          </p:nvSpPr>
          <p:spPr>
            <a:xfrm>
              <a:off x="8243697" y="2047399"/>
              <a:ext cx="1292790" cy="190690"/>
            </a:xfrm>
            <a:prstGeom prst="rect">
              <a:avLst/>
            </a:prstGeom>
            <a:noFill/>
            <a:ln>
              <a:noFill/>
            </a:ln>
          </p:spPr>
          <p:txBody>
            <a:bodyPr wrap="none" lIns="0" tIns="0" rIns="0" bIns="0" anchor="t" anchorCtr="0">
              <a:spAutoFit/>
            </a:bodyPr>
            <a:lstStyle/>
            <a:p>
              <a:pPr algn="l"/>
              <a:r>
                <a:rPr lang="en-US" sz="980" b="1" spc="112" dirty="0">
                  <a:solidFill>
                    <a:srgbClr val="35D0A5"/>
                  </a:solidFill>
                  <a:latin typeface="+mn-lt"/>
                  <a:ea typeface="+mn-ea"/>
                  <a:cs typeface="+mn-cs"/>
                </a:rPr>
                <a:t>WHERE IT HOLDS</a:t>
              </a:r>
            </a:p>
          </p:txBody>
        </p:sp>
        <p:sp>
          <p:nvSpPr>
            <p:cNvPr id="49" name="TextBox 49"/>
            <p:cNvSpPr txBox="1"/>
            <p:nvPr/>
          </p:nvSpPr>
          <p:spPr>
            <a:xfrm>
              <a:off x="8239506" y="2263140"/>
              <a:ext cx="2214659"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Core vs outskirts</a:t>
              </a:r>
            </a:p>
          </p:txBody>
        </p:sp>
        <p:sp>
          <p:nvSpPr>
            <p:cNvPr id="50" name="TextBox 50"/>
            <p:cNvSpPr txBox="1"/>
            <p:nvPr/>
          </p:nvSpPr>
          <p:spPr>
            <a:xfrm>
              <a:off x="8241411" y="2703671"/>
              <a:ext cx="2792841" cy="278702"/>
            </a:xfrm>
            <a:prstGeom prst="rect">
              <a:avLst/>
            </a:prstGeom>
            <a:noFill/>
            <a:ln>
              <a:noFill/>
            </a:ln>
          </p:spPr>
          <p:txBody>
            <a:bodyPr wrap="none" lIns="0" tIns="0" rIns="0" bIns="0" anchor="t" anchorCtr="0">
              <a:spAutoFit/>
            </a:bodyPr>
            <a:lstStyle/>
            <a:p>
              <a:pPr algn="l"/>
              <a:r>
                <a:rPr lang="en-US" sz="1420" dirty="0">
                  <a:solidFill>
                    <a:schemeClr val="dk2"/>
                  </a:solidFill>
                  <a:latin typeface="+mn-lt"/>
                  <a:ea typeface="+mn-ea"/>
                  <a:cs typeface="+mn-cs"/>
                </a:rPr>
                <a:t>The innermost two-arcsecond</a:t>
              </a:r>
            </a:p>
          </p:txBody>
        </p:sp>
        <p:sp>
          <p:nvSpPr>
            <p:cNvPr id="51" name="TextBox 51"/>
            <p:cNvSpPr txBox="1"/>
            <p:nvPr/>
          </p:nvSpPr>
          <p:spPr>
            <a:xfrm>
              <a:off x="8241411" y="2951321"/>
              <a:ext cx="2805420" cy="278702"/>
            </a:xfrm>
            <a:prstGeom prst="rect">
              <a:avLst/>
            </a:prstGeom>
            <a:noFill/>
            <a:ln>
              <a:noFill/>
            </a:ln>
          </p:spPr>
          <p:txBody>
            <a:bodyPr wrap="none" lIns="0" tIns="0" rIns="0" bIns="0" anchor="t" anchorCtr="0">
              <a:spAutoFit/>
            </a:bodyPr>
            <a:lstStyle/>
            <a:p>
              <a:pPr algn="l"/>
              <a:r>
                <a:rPr lang="en-US" sz="1420" dirty="0">
                  <a:solidFill>
                    <a:schemeClr val="dk2"/>
                  </a:solidFill>
                  <a:latin typeface="+mn-lt"/>
                  <a:ea typeface="+mn-ea"/>
                  <a:cs typeface="+mn-cs"/>
                </a:rPr>
                <a:t>region stays within 1%; outer</a:t>
              </a:r>
            </a:p>
          </p:txBody>
        </p:sp>
        <p:sp>
          <p:nvSpPr>
            <p:cNvPr id="52" name="TextBox 52"/>
            <p:cNvSpPr txBox="1"/>
            <p:nvPr/>
          </p:nvSpPr>
          <p:spPr>
            <a:xfrm>
              <a:off x="8241411" y="3198971"/>
              <a:ext cx="2843652" cy="278702"/>
            </a:xfrm>
            <a:prstGeom prst="rect">
              <a:avLst/>
            </a:prstGeom>
            <a:noFill/>
            <a:ln>
              <a:noFill/>
            </a:ln>
          </p:spPr>
          <p:txBody>
            <a:bodyPr wrap="none" lIns="0" tIns="0" rIns="0" bIns="0" anchor="t" anchorCtr="0">
              <a:spAutoFit/>
            </a:bodyPr>
            <a:lstStyle/>
            <a:p>
              <a:pPr algn="l"/>
              <a:r>
                <a:rPr lang="en-US" sz="1420" dirty="0">
                  <a:solidFill>
                    <a:schemeClr val="dk2"/>
                  </a:solidFill>
                  <a:latin typeface="+mn-lt"/>
                  <a:ea typeface="+mn-ea"/>
                  <a:cs typeface="+mn-cs"/>
                </a:rPr>
                <a:t>parts relax to a few %, where</a:t>
              </a:r>
            </a:p>
          </p:txBody>
        </p:sp>
        <p:sp>
          <p:nvSpPr>
            <p:cNvPr id="53" name="TextBox 53"/>
            <p:cNvSpPr txBox="1"/>
            <p:nvPr/>
          </p:nvSpPr>
          <p:spPr>
            <a:xfrm>
              <a:off x="8241411" y="3446621"/>
              <a:ext cx="2967906" cy="278702"/>
            </a:xfrm>
            <a:prstGeom prst="rect">
              <a:avLst/>
            </a:prstGeom>
            <a:noFill/>
            <a:ln>
              <a:noFill/>
            </a:ln>
          </p:spPr>
          <p:txBody>
            <a:bodyPr wrap="none" lIns="0" tIns="0" rIns="0" bIns="0" anchor="t" anchorCtr="0">
              <a:spAutoFit/>
            </a:bodyPr>
            <a:lstStyle/>
            <a:p>
              <a:pPr algn="l"/>
              <a:r>
                <a:rPr lang="en-US" sz="1420" dirty="0">
                  <a:solidFill>
                    <a:schemeClr val="dk2"/>
                  </a:solidFill>
                  <a:latin typeface="+mn-lt"/>
                  <a:ea typeface="+mn-ea"/>
                  <a:cs typeface="+mn-cs"/>
                </a:rPr>
                <a:t>data barely constrains anyway.</a:t>
              </a:r>
            </a:p>
          </p:txBody>
        </p:sp>
        <p:sp>
          <p:nvSpPr>
            <p:cNvPr id="54" name="Line 54"/>
            <p:cNvSpPr/>
            <p:nvPr/>
          </p:nvSpPr>
          <p:spPr>
            <a:xfrm>
              <a:off x="8248650" y="3905250"/>
              <a:ext cx="2952750" cy="9525"/>
            </a:xfrm>
            <a:custGeom>
              <a:avLst/>
              <a:gdLst/>
              <a:ahLst/>
              <a:cxnLst/>
              <a:rect l="l" t="t" r="r" b="b"/>
              <a:pathLst>
                <a:path w="2952750" h="9525">
                  <a:moveTo>
                    <a:pt x="0" y="0"/>
                  </a:moveTo>
                  <a:lnTo>
                    <a:pt x="2952750" y="0"/>
                  </a:lnTo>
                </a:path>
              </a:pathLst>
            </a:custGeom>
            <a:noFill/>
            <a:ln w="9525">
              <a:solidFill>
                <a:schemeClr val="accent4"/>
              </a:solidFill>
            </a:ln>
          </p:spPr>
        </p:sp>
        <p:sp>
          <p:nvSpPr>
            <p:cNvPr id="55" name="TextBox 55"/>
            <p:cNvSpPr txBox="1"/>
            <p:nvPr/>
          </p:nvSpPr>
          <p:spPr>
            <a:xfrm>
              <a:off x="8241411" y="4151471"/>
              <a:ext cx="2071510" cy="278702"/>
            </a:xfrm>
            <a:prstGeom prst="rect">
              <a:avLst/>
            </a:prstGeom>
            <a:noFill/>
            <a:ln>
              <a:noFill/>
            </a:ln>
          </p:spPr>
          <p:txBody>
            <a:bodyPr wrap="none" lIns="0" tIns="0" rIns="0" bIns="0" anchor="t" anchorCtr="0">
              <a:spAutoFit/>
            </a:bodyPr>
            <a:lstStyle/>
            <a:p>
              <a:pPr algn="l"/>
              <a:r>
                <a:rPr lang="en-US" sz="1420" dirty="0">
                  <a:solidFill>
                    <a:schemeClr val="dk2"/>
                  </a:solidFill>
                  <a:latin typeface="+mn-lt"/>
                  <a:ea typeface="+mn-ea"/>
                  <a:cs typeface="+mn-cs"/>
                </a:rPr>
                <a:t>GPU vs CPU inference:</a:t>
              </a:r>
            </a:p>
          </p:txBody>
        </p:sp>
        <p:sp>
          <p:nvSpPr>
            <p:cNvPr id="56" name="TextBox 56"/>
            <p:cNvSpPr txBox="1"/>
            <p:nvPr/>
          </p:nvSpPr>
          <p:spPr>
            <a:xfrm>
              <a:off x="8233410" y="4438650"/>
              <a:ext cx="963397" cy="586740"/>
            </a:xfrm>
            <a:prstGeom prst="rect">
              <a:avLst/>
            </a:prstGeom>
            <a:noFill/>
            <a:ln>
              <a:noFill/>
            </a:ln>
          </p:spPr>
          <p:txBody>
            <a:bodyPr wrap="none" lIns="0" tIns="0" rIns="0" bIns="0" anchor="t" anchorCtr="0">
              <a:spAutoFit/>
            </a:bodyPr>
            <a:lstStyle/>
            <a:p>
              <a:pPr algn="l"/>
              <a:r>
                <a:rPr lang="en-US" sz="3000" b="1" dirty="0">
                  <a:solidFill>
                    <a:schemeClr val="accent2"/>
                  </a:solidFill>
                  <a:latin typeface="+mn-lt"/>
                  <a:ea typeface="+mn-ea"/>
                  <a:cs typeface="+mn-cs"/>
                </a:rPr>
                <a:t>~10×</a:t>
              </a:r>
            </a:p>
          </p:txBody>
        </p:sp>
        <p:sp>
          <p:nvSpPr>
            <p:cNvPr id="57" name="TextBox 57"/>
            <p:cNvSpPr txBox="1"/>
            <p:nvPr/>
          </p:nvSpPr>
          <p:spPr>
            <a:xfrm>
              <a:off x="9251061" y="4608671"/>
              <a:ext cx="1305319" cy="278702"/>
            </a:xfrm>
            <a:prstGeom prst="rect">
              <a:avLst/>
            </a:prstGeom>
            <a:noFill/>
            <a:ln>
              <a:noFill/>
            </a:ln>
          </p:spPr>
          <p:txBody>
            <a:bodyPr wrap="none" lIns="0" tIns="0" rIns="0" bIns="0" anchor="t" anchorCtr="0">
              <a:spAutoFit/>
            </a:bodyPr>
            <a:lstStyle/>
            <a:p>
              <a:pPr algn="l"/>
              <a:r>
                <a:rPr lang="en-US" sz="1420" dirty="0">
                  <a:solidFill>
                    <a:schemeClr val="dk2"/>
                  </a:solidFill>
                  <a:latin typeface="+mn-lt"/>
                  <a:ea typeface="+mn-ea"/>
                  <a:cs typeface="+mn-cs"/>
                </a:rPr>
                <a:t>faster on GPU</a:t>
              </a:r>
            </a:p>
          </p:txBody>
        </p:sp>
        <p:sp>
          <p:nvSpPr>
            <p:cNvPr id="58" name="TextBox 58"/>
            <p:cNvSpPr txBox="1"/>
            <p:nvPr/>
          </p:nvSpPr>
          <p:spPr>
            <a:xfrm>
              <a:off x="8242554" y="5013960"/>
              <a:ext cx="2873248" cy="234696"/>
            </a:xfrm>
            <a:prstGeom prst="rect">
              <a:avLst/>
            </a:prstGeom>
            <a:noFill/>
            <a:ln>
              <a:noFill/>
            </a:ln>
          </p:spPr>
          <p:txBody>
            <a:bodyPr wrap="none" lIns="0" tIns="0" rIns="0" bIns="0" anchor="t" anchorCtr="0">
              <a:spAutoFit/>
            </a:bodyPr>
            <a:lstStyle/>
            <a:p>
              <a:pPr algn="l"/>
              <a:r>
                <a:rPr lang="en-US" sz="1200" dirty="0">
                  <a:solidFill>
                    <a:srgbClr val="6B7E9C"/>
                  </a:solidFill>
                  <a:latin typeface="+mn-lt"/>
                  <a:ea typeface="+mn-ea"/>
                  <a:cs typeface="+mn-cs"/>
                </a:rPr>
                <a:t>than the same forward pass on CPU.</a:t>
              </a:r>
            </a:p>
          </p:txBody>
        </p:sp>
      </p:grpSp>
      <p:grpSp>
        <p:nvGrpSpPr>
          <p:cNvPr id="63" name="Group 63"/>
          <p:cNvGrpSpPr/>
          <p:nvPr/>
        </p:nvGrpSpPr>
        <p:grpSpPr>
          <a:xfrm>
            <a:off x="756666" y="6477000"/>
            <a:ext cx="10678668" cy="301561"/>
            <a:chOff x="756666" y="6477000"/>
            <a:chExt cx="10678668" cy="301561"/>
          </a:xfrm>
        </p:grpSpPr>
        <p:sp>
          <p:nvSpPr>
            <p:cNvPr id="60" name="Line 60"/>
            <p:cNvSpPr/>
            <p:nvPr/>
          </p:nvSpPr>
          <p:spPr>
            <a:xfrm>
              <a:off x="762000" y="6477000"/>
              <a:ext cx="10668000" cy="9525"/>
            </a:xfrm>
            <a:custGeom>
              <a:avLst/>
              <a:gdLst/>
              <a:ahLst/>
              <a:cxnLst/>
              <a:rect l="l" t="t" r="r" b="b"/>
              <a:pathLst>
                <a:path w="10668000" h="9525">
                  <a:moveTo>
                    <a:pt x="0" y="0"/>
                  </a:moveTo>
                  <a:lnTo>
                    <a:pt x="10668000" y="0"/>
                  </a:lnTo>
                </a:path>
              </a:pathLst>
            </a:custGeom>
            <a:noFill/>
            <a:ln w="9525">
              <a:solidFill>
                <a:schemeClr val="accent4"/>
              </a:solidFill>
            </a:ln>
          </p:spPr>
        </p:sp>
        <p:sp>
          <p:nvSpPr>
            <p:cNvPr id="61" name="TextBox 61"/>
            <p:cNvSpPr txBox="1"/>
            <p:nvPr/>
          </p:nvSpPr>
          <p:spPr>
            <a:xfrm>
              <a:off x="756666" y="6573202"/>
              <a:ext cx="2902900" cy="205359"/>
            </a:xfrm>
            <a:prstGeom prst="rect">
              <a:avLst/>
            </a:prstGeom>
            <a:noFill/>
            <a:ln>
              <a:noFill/>
            </a:ln>
          </p:spPr>
          <p:txBody>
            <a:bodyPr wrap="none" lIns="0" tIns="0" rIns="0" bIns="0" anchor="t" anchorCtr="0">
              <a:spAutoFit/>
            </a:bodyPr>
            <a:lstStyle/>
            <a:p>
              <a:pPr algn="l"/>
              <a:r>
                <a:rPr lang="en-US" sz="1050" dirty="0">
                  <a:solidFill>
                    <a:srgbClr val="6B7E9C"/>
                  </a:solidFill>
                  <a:latin typeface="+mn-lt"/>
                  <a:ea typeface="+mn-ea"/>
                  <a:cs typeface="+mn-cs"/>
                </a:rPr>
                <a:t>SKiNN · Stellar Kinematics Neural Network</a:t>
              </a:r>
            </a:p>
          </p:txBody>
        </p:sp>
        <p:sp>
          <p:nvSpPr>
            <p:cNvPr id="62" name="TextBox 62"/>
            <p:cNvSpPr txBox="1"/>
            <p:nvPr/>
          </p:nvSpPr>
          <p:spPr>
            <a:xfrm>
              <a:off x="10951140" y="6573202"/>
              <a:ext cx="484194" cy="205359"/>
            </a:xfrm>
            <a:prstGeom prst="rect">
              <a:avLst/>
            </a:prstGeom>
            <a:noFill/>
            <a:ln>
              <a:noFill/>
            </a:ln>
          </p:spPr>
          <p:txBody>
            <a:bodyPr wrap="none" lIns="0" tIns="0" rIns="0" bIns="0" anchor="t" anchorCtr="0">
              <a:spAutoFit/>
            </a:bodyPr>
            <a:lstStyle/>
            <a:p>
              <a:pPr algn="r"/>
              <a:r>
                <a:rPr lang="en-US" sz="1050" dirty="0">
                  <a:solidFill>
                    <a:srgbClr val="6B7E9C"/>
                  </a:solidFill>
                  <a:latin typeface="+mn-lt"/>
                  <a:ea typeface="+mn-ea"/>
                  <a:cs typeface="+mn-cs"/>
                </a:rPr>
                <a:t>08 / 10</a:t>
              </a:r>
            </a:p>
          </p:txBody>
        </p:sp>
      </p:grpSp>
      <p:sp>
        <p:nvSpPr>
          <p:cNvPr id="64" name="cue_s08_c1_proof_of_concept_workshop_work_does" title="cue_s08_c1_proof_of_concept_workshop_work_does" descr="cue_s08_c1_proof_of_concept_workshop_work_does As a proof-of-concept workshop paper, this work does not present a formal ablation study."/>
          <p:cNvSpPr/>
          <p:nvPr/>
        </p:nvSpPr>
        <p:spPr>
          <a:xfrm>
            <a:off x="762000" y="1714500"/>
            <a:ext cx="3400348" cy="40002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cue_s08_c2_instead_performance_characterized_di" title="cue_s08_c2_instead_performance_characterized_di" descr="cue_s08_c2_instead_performance_characterized_di Instead, performance is characterized by the distribution of per-pixel errors across the five hundred test images, and by comparing inference on GPU versus CPU, where the GPU is about ten times faster."/>
          <p:cNvSpPr/>
          <p:nvPr/>
        </p:nvSpPr>
        <p:spPr>
          <a:xfrm>
            <a:off x="4391558" y="1714500"/>
            <a:ext cx="3400348" cy="40002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cue_s08_c3_analysis_also_distinguishes_innermos" title="cue_s08_c3_analysis_also_distinguishes_innermos" descr="cue_s08_c3_analysis_also_distinguishes_innermos The analysis also distinguishes the innermost two-arcsecond region, where errors stay within one percent, from the outer parts of the image, where errors can rise to a few percent but the data provides little constraint anyway."/>
          <p:cNvSpPr/>
          <p:nvPr/>
        </p:nvSpPr>
        <p:spPr>
          <a:xfrm>
            <a:off x="8019897" y="1714500"/>
            <a:ext cx="3410102" cy="40002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0">
              <a:schemeClr val="lt1"/>
            </a:gs>
            <a:gs pos="100000">
              <a:schemeClr val="accent5"/>
            </a:gs>
          </a:gsLst>
          <a:lin ang="4242597" scaled="1"/>
        </a:gradFill>
        <a:effectLst/>
      </p:bgPr>
    </p:bg>
    <p:spTree>
      <p:nvGrpSpPr>
        <p:cNvPr id="1" name=""/>
        <p:cNvGrpSpPr/>
        <p:nvPr/>
      </p:nvGrpSpPr>
      <p:grpSpPr>
        <a:xfrm>
          <a:off x="0" y="0"/>
          <a:ext cx="0" cy="0"/>
          <a:chOff x="0" y="0"/>
          <a:chExt cx="0" cy="0"/>
        </a:xfrm>
      </p:grpSpPr>
      <p:grpSp>
        <p:nvGrpSpPr>
          <p:cNvPr id="5" name="Group 5"/>
          <p:cNvGrpSpPr/>
          <p:nvPr/>
        </p:nvGrpSpPr>
        <p:grpSpPr>
          <a:xfrm>
            <a:off x="10096500" y="-1047750"/>
            <a:ext cx="2857500" cy="2857500"/>
            <a:chOff x="10096500" y="-1047750"/>
            <a:chExt cx="2857500" cy="2857500"/>
          </a:xfrm>
        </p:grpSpPr>
        <p:sp>
          <p:nvSpPr>
            <p:cNvPr id="2" name="Ellipse 2"/>
            <p:cNvSpPr/>
            <p:nvPr/>
          </p:nvSpPr>
          <p:spPr>
            <a:xfrm>
              <a:off x="10096500" y="-1047750"/>
              <a:ext cx="2857500" cy="2857500"/>
            </a:xfrm>
            <a:prstGeom prst="ellipse">
              <a:avLst/>
            </a:prstGeom>
            <a:noFill/>
            <a:ln w="14288">
              <a:solidFill>
                <a:srgbClr val="213556">
                  <a:alpha val="60000"/>
                </a:srgbClr>
              </a:solidFill>
            </a:ln>
          </p:spPr>
        </p:sp>
        <p:sp>
          <p:nvSpPr>
            <p:cNvPr id="3" name="Ellipse 3"/>
            <p:cNvSpPr/>
            <p:nvPr/>
          </p:nvSpPr>
          <p:spPr>
            <a:xfrm>
              <a:off x="10620375" y="-523875"/>
              <a:ext cx="1809750" cy="1809750"/>
            </a:xfrm>
            <a:prstGeom prst="ellipse">
              <a:avLst/>
            </a:prstGeom>
            <a:noFill/>
            <a:ln w="14288">
              <a:solidFill>
                <a:srgbClr val="213556">
                  <a:alpha val="45000"/>
                </a:srgbClr>
              </a:solidFill>
            </a:ln>
          </p:spPr>
        </p:sp>
        <p:sp>
          <p:nvSpPr>
            <p:cNvPr id="4" name="Ellipse 4"/>
            <p:cNvSpPr/>
            <p:nvPr/>
          </p:nvSpPr>
          <p:spPr>
            <a:xfrm>
              <a:off x="10582275" y="342900"/>
              <a:ext cx="76200" cy="76200"/>
            </a:xfrm>
            <a:prstGeom prst="ellipse">
              <a:avLst/>
            </a:prstGeom>
            <a:solidFill>
              <a:schemeClr val="accent3"/>
            </a:solidFill>
            <a:ln>
              <a:noFill/>
            </a:ln>
          </p:spPr>
        </p:sp>
      </p:grpSp>
      <p:grpSp>
        <p:nvGrpSpPr>
          <p:cNvPr id="11" name="Group 11"/>
          <p:cNvGrpSpPr/>
          <p:nvPr/>
        </p:nvGrpSpPr>
        <p:grpSpPr>
          <a:xfrm>
            <a:off x="762000" y="514350"/>
            <a:ext cx="5539459" cy="834390"/>
            <a:chOff x="762000" y="514350"/>
            <a:chExt cx="5539459" cy="834390"/>
          </a:xfrm>
        </p:grpSpPr>
        <p:sp>
          <p:nvSpPr>
            <p:cNvPr id="6" name="Rectangle 6"/>
            <p:cNvSpPr/>
            <p:nvPr/>
          </p:nvSpPr>
          <p:spPr>
            <a:xfrm>
              <a:off x="762000" y="514350"/>
              <a:ext cx="438150" cy="438150"/>
            </a:xfrm>
            <a:prstGeom prst="roundRect">
              <a:avLst>
                <a:gd name="adj" fmla="val 26087"/>
              </a:avLst>
            </a:prstGeom>
            <a:gradFill>
              <a:gsLst>
                <a:gs pos="0">
                  <a:srgbClr val="1B2C48"/>
                </a:gs>
                <a:gs pos="100000">
                  <a:srgbClr val="14223A"/>
                </a:gs>
              </a:gsLst>
              <a:lin ang="5400000" scaled="1"/>
            </a:gradFill>
            <a:ln w="9525">
              <a:solidFill>
                <a:schemeClr val="accent4"/>
              </a:solidFill>
            </a:ln>
          </p:spPr>
        </p:sp>
        <p:sp>
          <p:nvSpPr>
            <p:cNvPr id="7" name="TextBox 7"/>
            <p:cNvSpPr txBox="1"/>
            <p:nvPr/>
          </p:nvSpPr>
          <p:spPr>
            <a:xfrm>
              <a:off x="844417" y="641032"/>
              <a:ext cx="273316" cy="322707"/>
            </a:xfrm>
            <a:prstGeom prst="rect">
              <a:avLst/>
            </a:prstGeom>
            <a:noFill/>
            <a:ln>
              <a:noFill/>
            </a:ln>
          </p:spPr>
          <p:txBody>
            <a:bodyPr wrap="none" lIns="0" tIns="0" rIns="0" bIns="0" anchor="t" anchorCtr="0">
              <a:spAutoFit/>
            </a:bodyPr>
            <a:lstStyle/>
            <a:p>
              <a:pPr algn="ctr"/>
              <a:r>
                <a:rPr lang="en-US" sz="1650" b="1" dirty="0">
                  <a:solidFill>
                    <a:schemeClr val="accent1"/>
                  </a:solidFill>
                  <a:latin typeface="+mn-lt"/>
                  <a:ea typeface="+mn-ea"/>
                  <a:cs typeface="+mn-cs"/>
                </a:rPr>
                <a:t>09</a:t>
              </a:r>
            </a:p>
          </p:txBody>
        </p:sp>
        <p:sp>
          <p:nvSpPr>
            <p:cNvPr id="8" name="TextBox 8"/>
            <p:cNvSpPr txBox="1"/>
            <p:nvPr/>
          </p:nvSpPr>
          <p:spPr>
            <a:xfrm>
              <a:off x="1346073" y="548164"/>
              <a:ext cx="2117964" cy="249364"/>
            </a:xfrm>
            <a:prstGeom prst="rect">
              <a:avLst/>
            </a:prstGeom>
            <a:noFill/>
            <a:ln>
              <a:noFill/>
            </a:ln>
          </p:spPr>
          <p:txBody>
            <a:bodyPr wrap="none" lIns="0" tIns="0" rIns="0" bIns="0" anchor="t" anchorCtr="0">
              <a:spAutoFit/>
            </a:bodyPr>
            <a:lstStyle/>
            <a:p>
              <a:pPr algn="l"/>
              <a:r>
                <a:rPr lang="en-US" sz="1280" b="1" spc="225" dirty="0">
                  <a:solidFill>
                    <a:schemeClr val="dk2"/>
                  </a:solidFill>
                  <a:latin typeface="+mn-lt"/>
                  <a:ea typeface="+mn-ea"/>
                  <a:cs typeface="+mn-cs"/>
                </a:rPr>
                <a:t>HEADLINE NUMBERS</a:t>
              </a:r>
            </a:p>
          </p:txBody>
        </p:sp>
        <p:sp>
          <p:nvSpPr>
            <p:cNvPr id="9" name="TextBox 9"/>
            <p:cNvSpPr txBox="1"/>
            <p:nvPr/>
          </p:nvSpPr>
          <p:spPr>
            <a:xfrm>
              <a:off x="1337310" y="762000"/>
              <a:ext cx="4964149" cy="586740"/>
            </a:xfrm>
            <a:prstGeom prst="rect">
              <a:avLst/>
            </a:prstGeom>
            <a:noFill/>
            <a:ln>
              <a:noFill/>
            </a:ln>
          </p:spPr>
          <p:txBody>
            <a:bodyPr wrap="none" lIns="0" tIns="0" rIns="0" bIns="0" anchor="t" anchorCtr="0">
              <a:spAutoFit/>
            </a:bodyPr>
            <a:lstStyle/>
            <a:p>
              <a:pPr algn="l"/>
              <a:r>
                <a:rPr lang="en-US" sz="3000" b="1" dirty="0">
                  <a:solidFill>
                    <a:schemeClr val="dk1"/>
                  </a:solidFill>
                  <a:latin typeface="+mn-lt"/>
                  <a:ea typeface="+mn-ea"/>
                  <a:cs typeface="+mn-cs"/>
                </a:rPr>
                <a:t>The numbers at a glance</a:t>
              </a:r>
            </a:p>
          </p:txBody>
        </p:sp>
        <p:sp>
          <p:nvSpPr>
            <p:cNvPr id="10" name="Rectangle 10"/>
            <p:cNvSpPr/>
            <p:nvPr/>
          </p:nvSpPr>
          <p:spPr>
            <a:xfrm>
              <a:off x="1352550" y="1219200"/>
              <a:ext cx="609600" cy="38100"/>
            </a:xfrm>
            <a:prstGeom prst="roundRect">
              <a:avLst>
                <a:gd name="adj" fmla="val 50000"/>
              </a:avLst>
            </a:prstGeom>
            <a:gradFill>
              <a:gsLst>
                <a:gs pos="0">
                  <a:schemeClr val="accent1"/>
                </a:gs>
                <a:gs pos="100000">
                  <a:schemeClr val="accent2"/>
                </a:gs>
              </a:gsLst>
              <a:lin ang="0" scaled="1"/>
            </a:gradFill>
            <a:ln>
              <a:noFill/>
            </a:ln>
          </p:spPr>
        </p:sp>
      </p:grpSp>
      <p:grpSp>
        <p:nvGrpSpPr>
          <p:cNvPr id="19" name="Group 19"/>
          <p:cNvGrpSpPr/>
          <p:nvPr/>
        </p:nvGrpSpPr>
        <p:grpSpPr>
          <a:xfrm>
            <a:off x="762000" y="1676400"/>
            <a:ext cx="2590800" cy="2571750"/>
            <a:chOff x="762000" y="1676400"/>
            <a:chExt cx="2590800" cy="2571750"/>
          </a:xfrm>
        </p:grpSpPr>
        <p:sp>
          <p:nvSpPr>
            <p:cNvPr id="12" name="Rectangle 12"/>
            <p:cNvSpPr/>
            <p:nvPr/>
          </p:nvSpPr>
          <p:spPr>
            <a:xfrm>
              <a:off x="762000" y="1676400"/>
              <a:ext cx="2590800" cy="2571750"/>
            </a:xfrm>
            <a:prstGeom prst="roundRect">
              <a:avLst>
                <a:gd name="adj" fmla="val 5926"/>
              </a:avLst>
            </a:prstGeom>
            <a:gradFill>
              <a:gsLst>
                <a:gs pos="0">
                  <a:srgbClr val="1B2C48"/>
                </a:gs>
                <a:gs pos="100000">
                  <a:srgbClr val="14223A"/>
                </a:gs>
              </a:gsLst>
              <a:lin ang="5400000" scaled="1"/>
            </a:gradFill>
            <a:ln w="9525">
              <a:solidFill>
                <a:schemeClr val="accent4"/>
              </a:solidFill>
            </a:ln>
          </p:spPr>
        </p:sp>
        <p:sp>
          <p:nvSpPr>
            <p:cNvPr id="13" name="Rectangle 13"/>
            <p:cNvSpPr/>
            <p:nvPr/>
          </p:nvSpPr>
          <p:spPr>
            <a:xfrm>
              <a:off x="762000" y="1676400"/>
              <a:ext cx="2590800" cy="47625"/>
            </a:xfrm>
            <a:prstGeom prst="roundRect">
              <a:avLst>
                <a:gd name="adj" fmla="val 50000"/>
              </a:avLst>
            </a:prstGeom>
            <a:solidFill>
              <a:schemeClr val="accent1"/>
            </a:solidFill>
            <a:ln>
              <a:noFill/>
            </a:ln>
          </p:spPr>
        </p:sp>
        <p:sp>
          <p:nvSpPr>
            <p:cNvPr id="14" name="TextBox 14"/>
            <p:cNvSpPr txBox="1"/>
            <p:nvPr/>
          </p:nvSpPr>
          <p:spPr>
            <a:xfrm>
              <a:off x="985647" y="1952149"/>
              <a:ext cx="476133" cy="190690"/>
            </a:xfrm>
            <a:prstGeom prst="rect">
              <a:avLst/>
            </a:prstGeom>
            <a:noFill/>
            <a:ln>
              <a:noFill/>
            </a:ln>
          </p:spPr>
          <p:txBody>
            <a:bodyPr wrap="none" lIns="0" tIns="0" rIns="0" bIns="0" anchor="t" anchorCtr="0">
              <a:spAutoFit/>
            </a:bodyPr>
            <a:lstStyle/>
            <a:p>
              <a:pPr algn="l"/>
              <a:r>
                <a:rPr lang="en-US" sz="980" b="1" spc="112" dirty="0">
                  <a:solidFill>
                    <a:schemeClr val="accent2"/>
                  </a:solidFill>
                  <a:latin typeface="+mn-lt"/>
                  <a:ea typeface="+mn-ea"/>
                  <a:cs typeface="+mn-cs"/>
                </a:rPr>
                <a:t>SPEED</a:t>
              </a:r>
            </a:p>
          </p:txBody>
        </p:sp>
        <p:sp>
          <p:nvSpPr>
            <p:cNvPr id="15" name="TextBox 15"/>
            <p:cNvSpPr txBox="1"/>
            <p:nvPr/>
          </p:nvSpPr>
          <p:spPr>
            <a:xfrm>
              <a:off x="1163741" y="2371725"/>
              <a:ext cx="1787319" cy="876300"/>
            </a:xfrm>
            <a:prstGeom prst="rect">
              <a:avLst/>
            </a:prstGeom>
            <a:noFill/>
            <a:ln>
              <a:noFill/>
            </a:ln>
          </p:spPr>
          <p:txBody>
            <a:bodyPr wrap="none" lIns="0" tIns="0" rIns="0" bIns="0" anchor="t" anchorCtr="0">
              <a:spAutoFit/>
            </a:bodyPr>
            <a:lstStyle/>
            <a:p>
              <a:pPr algn="ctr"/>
              <a:r>
                <a:rPr lang="en-US" sz="4500" b="1" dirty="0">
                  <a:solidFill>
                    <a:schemeClr val="accent2"/>
                  </a:solidFill>
                  <a:latin typeface="+mn-lt"/>
                  <a:ea typeface="+mn-ea"/>
                  <a:cs typeface="+mn-cs"/>
                </a:rPr>
                <a:t>~300×</a:t>
              </a:r>
            </a:p>
          </p:txBody>
        </p:sp>
        <p:sp>
          <p:nvSpPr>
            <p:cNvPr id="16" name="TextBox 16"/>
            <p:cNvSpPr txBox="1"/>
            <p:nvPr/>
          </p:nvSpPr>
          <p:spPr>
            <a:xfrm>
              <a:off x="1236623" y="3038475"/>
              <a:ext cx="1641553" cy="293370"/>
            </a:xfrm>
            <a:prstGeom prst="rect">
              <a:avLst/>
            </a:prstGeom>
            <a:noFill/>
            <a:ln>
              <a:noFill/>
            </a:ln>
          </p:spPr>
          <p:txBody>
            <a:bodyPr wrap="none" lIns="0" tIns="0" rIns="0" bIns="0" anchor="t" anchorCtr="0">
              <a:spAutoFit/>
            </a:bodyPr>
            <a:lstStyle/>
            <a:p>
              <a:pPr algn="ctr"/>
              <a:r>
                <a:rPr lang="en-US" sz="1500" dirty="0">
                  <a:solidFill>
                    <a:schemeClr val="dk1"/>
                  </a:solidFill>
                  <a:latin typeface="+mn-lt"/>
                  <a:ea typeface="+mn-ea"/>
                  <a:cs typeface="+mn-cs"/>
                </a:rPr>
                <a:t>faster than JAM</a:t>
              </a:r>
            </a:p>
          </p:txBody>
        </p:sp>
        <p:sp>
          <p:nvSpPr>
            <p:cNvPr id="17" name="TextBox 17"/>
            <p:cNvSpPr txBox="1"/>
            <p:nvPr/>
          </p:nvSpPr>
          <p:spPr>
            <a:xfrm>
              <a:off x="961560" y="3588068"/>
              <a:ext cx="2191680" cy="264033"/>
            </a:xfrm>
            <a:prstGeom prst="rect">
              <a:avLst/>
            </a:prstGeom>
            <a:noFill/>
            <a:ln>
              <a:noFill/>
            </a:ln>
          </p:spPr>
          <p:txBody>
            <a:bodyPr wrap="none" lIns="0" tIns="0" rIns="0" bIns="0" anchor="t" anchorCtr="0">
              <a:spAutoFit/>
            </a:bodyPr>
            <a:lstStyle/>
            <a:p>
              <a:pPr algn="ctr"/>
              <a:r>
                <a:rPr lang="en-US" sz="1350" dirty="0">
                  <a:solidFill>
                    <a:schemeClr val="dk2"/>
                  </a:solidFill>
                  <a:latin typeface="+mn-lt"/>
                  <a:ea typeface="+mn-ea"/>
                  <a:cs typeface="+mn-cs"/>
                </a:rPr>
                <a:t>≈ 50 ms per image on GPU</a:t>
              </a:r>
            </a:p>
          </p:txBody>
        </p:sp>
        <p:sp>
          <p:nvSpPr>
            <p:cNvPr id="18" name="TextBox 18"/>
            <p:cNvSpPr txBox="1"/>
            <p:nvPr/>
          </p:nvSpPr>
          <p:spPr>
            <a:xfrm>
              <a:off x="1282103" y="3816668"/>
              <a:ext cx="1550594" cy="264033"/>
            </a:xfrm>
            <a:prstGeom prst="rect">
              <a:avLst/>
            </a:prstGeom>
            <a:noFill/>
            <a:ln>
              <a:noFill/>
            </a:ln>
          </p:spPr>
          <p:txBody>
            <a:bodyPr wrap="none" lIns="0" tIns="0" rIns="0" bIns="0" anchor="t" anchorCtr="0">
              <a:spAutoFit/>
            </a:bodyPr>
            <a:lstStyle/>
            <a:p>
              <a:pPr algn="ctr"/>
              <a:r>
                <a:rPr lang="en-US" sz="1350" dirty="0">
                  <a:solidFill>
                    <a:schemeClr val="dk2"/>
                  </a:solidFill>
                  <a:latin typeface="+mn-lt"/>
                  <a:ea typeface="+mn-ea"/>
                  <a:cs typeface="+mn-cs"/>
                </a:rPr>
                <a:t>vs ≈ 15 s for JAM</a:t>
              </a:r>
            </a:p>
          </p:txBody>
        </p:sp>
      </p:grpSp>
      <p:grpSp>
        <p:nvGrpSpPr>
          <p:cNvPr id="27" name="Group 27"/>
          <p:cNvGrpSpPr/>
          <p:nvPr/>
        </p:nvGrpSpPr>
        <p:grpSpPr>
          <a:xfrm>
            <a:off x="3448050" y="1676400"/>
            <a:ext cx="2590800" cy="2571750"/>
            <a:chOff x="3448050" y="1676400"/>
            <a:chExt cx="2590800" cy="2571750"/>
          </a:xfrm>
        </p:grpSpPr>
        <p:sp>
          <p:nvSpPr>
            <p:cNvPr id="20" name="Rectangle 20"/>
            <p:cNvSpPr/>
            <p:nvPr/>
          </p:nvSpPr>
          <p:spPr>
            <a:xfrm>
              <a:off x="3448050" y="1676400"/>
              <a:ext cx="2590800" cy="2571750"/>
            </a:xfrm>
            <a:prstGeom prst="roundRect">
              <a:avLst>
                <a:gd name="adj" fmla="val 5926"/>
              </a:avLst>
            </a:prstGeom>
            <a:gradFill>
              <a:gsLst>
                <a:gs pos="0">
                  <a:srgbClr val="1B2C48"/>
                </a:gs>
                <a:gs pos="100000">
                  <a:srgbClr val="14223A"/>
                </a:gs>
              </a:gsLst>
              <a:lin ang="5400000" scaled="1"/>
            </a:gradFill>
            <a:ln w="9525">
              <a:solidFill>
                <a:schemeClr val="accent4"/>
              </a:solidFill>
            </a:ln>
          </p:spPr>
        </p:sp>
        <p:sp>
          <p:nvSpPr>
            <p:cNvPr id="21" name="Rectangle 21"/>
            <p:cNvSpPr/>
            <p:nvPr/>
          </p:nvSpPr>
          <p:spPr>
            <a:xfrm>
              <a:off x="3448050" y="1676400"/>
              <a:ext cx="2590800" cy="47625"/>
            </a:xfrm>
            <a:prstGeom prst="roundRect">
              <a:avLst>
                <a:gd name="adj" fmla="val 50000"/>
              </a:avLst>
            </a:prstGeom>
            <a:solidFill>
              <a:srgbClr val="35D0A5"/>
            </a:solidFill>
            <a:ln>
              <a:noFill/>
            </a:ln>
          </p:spPr>
        </p:sp>
        <p:sp>
          <p:nvSpPr>
            <p:cNvPr id="22" name="TextBox 22"/>
            <p:cNvSpPr txBox="1"/>
            <p:nvPr/>
          </p:nvSpPr>
          <p:spPr>
            <a:xfrm>
              <a:off x="3671697" y="1952149"/>
              <a:ext cx="765428" cy="190690"/>
            </a:xfrm>
            <a:prstGeom prst="rect">
              <a:avLst/>
            </a:prstGeom>
            <a:noFill/>
            <a:ln>
              <a:noFill/>
            </a:ln>
          </p:spPr>
          <p:txBody>
            <a:bodyPr wrap="none" lIns="0" tIns="0" rIns="0" bIns="0" anchor="t" anchorCtr="0">
              <a:spAutoFit/>
            </a:bodyPr>
            <a:lstStyle/>
            <a:p>
              <a:pPr algn="l"/>
              <a:r>
                <a:rPr lang="en-US" sz="980" b="1" spc="112" dirty="0">
                  <a:solidFill>
                    <a:srgbClr val="35D0A5"/>
                  </a:solidFill>
                  <a:latin typeface="+mn-lt"/>
                  <a:ea typeface="+mn-ea"/>
                  <a:cs typeface="+mn-cs"/>
                </a:rPr>
                <a:t>ACCURACY</a:t>
              </a:r>
            </a:p>
          </p:txBody>
        </p:sp>
        <p:sp>
          <p:nvSpPr>
            <p:cNvPr id="23" name="TextBox 23"/>
            <p:cNvSpPr txBox="1"/>
            <p:nvPr/>
          </p:nvSpPr>
          <p:spPr>
            <a:xfrm>
              <a:off x="4040615" y="2371725"/>
              <a:ext cx="1405671" cy="876300"/>
            </a:xfrm>
            <a:prstGeom prst="rect">
              <a:avLst/>
            </a:prstGeom>
            <a:noFill/>
            <a:ln>
              <a:noFill/>
            </a:ln>
          </p:spPr>
          <p:txBody>
            <a:bodyPr wrap="none" lIns="0" tIns="0" rIns="0" bIns="0" anchor="t" anchorCtr="0">
              <a:spAutoFit/>
            </a:bodyPr>
            <a:lstStyle/>
            <a:p>
              <a:pPr algn="ctr"/>
              <a:r>
                <a:rPr lang="en-US" sz="4500" b="1" dirty="0">
                  <a:solidFill>
                    <a:srgbClr val="35D0A5"/>
                  </a:solidFill>
                  <a:latin typeface="+mn-lt"/>
                  <a:ea typeface="+mn-ea"/>
                  <a:cs typeface="+mn-cs"/>
                </a:rPr>
                <a:t>&lt; 1%</a:t>
              </a:r>
            </a:p>
          </p:txBody>
        </p:sp>
        <p:sp>
          <p:nvSpPr>
            <p:cNvPr id="24" name="TextBox 24"/>
            <p:cNvSpPr txBox="1"/>
            <p:nvPr/>
          </p:nvSpPr>
          <p:spPr>
            <a:xfrm>
              <a:off x="4008882" y="3038475"/>
              <a:ext cx="1469136" cy="293370"/>
            </a:xfrm>
            <a:prstGeom prst="rect">
              <a:avLst/>
            </a:prstGeom>
            <a:noFill/>
            <a:ln>
              <a:noFill/>
            </a:ln>
          </p:spPr>
          <p:txBody>
            <a:bodyPr wrap="none" lIns="0" tIns="0" rIns="0" bIns="0" anchor="t" anchorCtr="0">
              <a:spAutoFit/>
            </a:bodyPr>
            <a:lstStyle/>
            <a:p>
              <a:pPr algn="ctr"/>
              <a:r>
                <a:rPr lang="en-US" sz="1500" dirty="0">
                  <a:solidFill>
                    <a:schemeClr val="dk1"/>
                  </a:solidFill>
                  <a:latin typeface="+mn-lt"/>
                  <a:ea typeface="+mn-ea"/>
                  <a:cs typeface="+mn-cs"/>
                </a:rPr>
                <a:t>within inner 2″</a:t>
              </a:r>
            </a:p>
          </p:txBody>
        </p:sp>
        <p:sp>
          <p:nvSpPr>
            <p:cNvPr id="25" name="TextBox 25"/>
            <p:cNvSpPr txBox="1"/>
            <p:nvPr/>
          </p:nvSpPr>
          <p:spPr>
            <a:xfrm>
              <a:off x="4145947" y="3588068"/>
              <a:ext cx="1195006" cy="264033"/>
            </a:xfrm>
            <a:prstGeom prst="rect">
              <a:avLst/>
            </a:prstGeom>
            <a:noFill/>
            <a:ln>
              <a:noFill/>
            </a:ln>
          </p:spPr>
          <p:txBody>
            <a:bodyPr wrap="none" lIns="0" tIns="0" rIns="0" bIns="0" anchor="t" anchorCtr="0">
              <a:spAutoFit/>
            </a:bodyPr>
            <a:lstStyle/>
            <a:p>
              <a:pPr algn="ctr"/>
              <a:r>
                <a:rPr lang="en-US" sz="1350" dirty="0">
                  <a:solidFill>
                    <a:schemeClr val="dk2"/>
                  </a:solidFill>
                  <a:latin typeface="+mn-lt"/>
                  <a:ea typeface="+mn-ea"/>
                  <a:cs typeface="+mn-cs"/>
                </a:rPr>
                <a:t>median 0.47%</a:t>
              </a:r>
            </a:p>
          </p:txBody>
        </p:sp>
        <p:sp>
          <p:nvSpPr>
            <p:cNvPr id="26" name="TextBox 26"/>
            <p:cNvSpPr txBox="1"/>
            <p:nvPr/>
          </p:nvSpPr>
          <p:spPr>
            <a:xfrm>
              <a:off x="3732495" y="3816668"/>
              <a:ext cx="2021910" cy="264033"/>
            </a:xfrm>
            <a:prstGeom prst="rect">
              <a:avLst/>
            </a:prstGeom>
            <a:noFill/>
            <a:ln>
              <a:noFill/>
            </a:ln>
          </p:spPr>
          <p:txBody>
            <a:bodyPr wrap="none" lIns="0" tIns="0" rIns="0" bIns="0" anchor="t" anchorCtr="0">
              <a:spAutoFit/>
            </a:bodyPr>
            <a:lstStyle/>
            <a:p>
              <a:pPr algn="ctr"/>
              <a:r>
                <a:rPr lang="en-US" sz="1350" dirty="0">
                  <a:solidFill>
                    <a:schemeClr val="dk2"/>
                  </a:solidFill>
                  <a:latin typeface="+mn-lt"/>
                  <a:ea typeface="+mn-ea"/>
                  <a:cs typeface="+mn-cs"/>
                </a:rPr>
                <a:t>90th percentile ≈ 1.1%</a:t>
              </a:r>
            </a:p>
          </p:txBody>
        </p:sp>
      </p:grpSp>
      <p:grpSp>
        <p:nvGrpSpPr>
          <p:cNvPr id="35" name="Group 35"/>
          <p:cNvGrpSpPr/>
          <p:nvPr/>
        </p:nvGrpSpPr>
        <p:grpSpPr>
          <a:xfrm>
            <a:off x="6134100" y="1676400"/>
            <a:ext cx="2590800" cy="2571750"/>
            <a:chOff x="6134100" y="1676400"/>
            <a:chExt cx="2590800" cy="2571750"/>
          </a:xfrm>
        </p:grpSpPr>
        <p:sp>
          <p:nvSpPr>
            <p:cNvPr id="28" name="Rectangle 28"/>
            <p:cNvSpPr/>
            <p:nvPr/>
          </p:nvSpPr>
          <p:spPr>
            <a:xfrm>
              <a:off x="6134100" y="1676400"/>
              <a:ext cx="2590800" cy="2571750"/>
            </a:xfrm>
            <a:prstGeom prst="roundRect">
              <a:avLst>
                <a:gd name="adj" fmla="val 5926"/>
              </a:avLst>
            </a:prstGeom>
            <a:gradFill>
              <a:gsLst>
                <a:gs pos="0">
                  <a:srgbClr val="1B2C48"/>
                </a:gs>
                <a:gs pos="100000">
                  <a:srgbClr val="14223A"/>
                </a:gs>
              </a:gsLst>
              <a:lin ang="5400000" scaled="1"/>
            </a:gradFill>
            <a:ln w="9525">
              <a:solidFill>
                <a:schemeClr val="accent4"/>
              </a:solidFill>
            </a:ln>
          </p:spPr>
        </p:sp>
        <p:sp>
          <p:nvSpPr>
            <p:cNvPr id="29" name="Rectangle 29"/>
            <p:cNvSpPr/>
            <p:nvPr/>
          </p:nvSpPr>
          <p:spPr>
            <a:xfrm>
              <a:off x="6134100" y="1676400"/>
              <a:ext cx="2590800" cy="47625"/>
            </a:xfrm>
            <a:prstGeom prst="roundRect">
              <a:avLst>
                <a:gd name="adj" fmla="val 50000"/>
              </a:avLst>
            </a:prstGeom>
            <a:solidFill>
              <a:schemeClr val="accent3"/>
            </a:solidFill>
            <a:ln>
              <a:noFill/>
            </a:ln>
          </p:spPr>
        </p:sp>
        <p:sp>
          <p:nvSpPr>
            <p:cNvPr id="30" name="TextBox 30"/>
            <p:cNvSpPr txBox="1"/>
            <p:nvPr/>
          </p:nvSpPr>
          <p:spPr>
            <a:xfrm>
              <a:off x="6357747" y="1952149"/>
              <a:ext cx="534679" cy="190690"/>
            </a:xfrm>
            <a:prstGeom prst="rect">
              <a:avLst/>
            </a:prstGeom>
            <a:noFill/>
            <a:ln>
              <a:noFill/>
            </a:ln>
          </p:spPr>
          <p:txBody>
            <a:bodyPr wrap="none" lIns="0" tIns="0" rIns="0" bIns="0" anchor="t" anchorCtr="0">
              <a:spAutoFit/>
            </a:bodyPr>
            <a:lstStyle/>
            <a:p>
              <a:pPr algn="l"/>
              <a:r>
                <a:rPr lang="en-US" sz="980" b="1" spc="112" dirty="0">
                  <a:solidFill>
                    <a:srgbClr val="7DBBFF"/>
                  </a:solidFill>
                  <a:latin typeface="+mn-lt"/>
                  <a:ea typeface="+mn-ea"/>
                  <a:cs typeface="+mn-cs"/>
                </a:rPr>
                <a:t>MODEL</a:t>
              </a:r>
            </a:p>
          </p:txBody>
        </p:sp>
        <p:sp>
          <p:nvSpPr>
            <p:cNvPr id="31" name="TextBox 31"/>
            <p:cNvSpPr txBox="1"/>
            <p:nvPr/>
          </p:nvSpPr>
          <p:spPr>
            <a:xfrm>
              <a:off x="6595142" y="2446972"/>
              <a:ext cx="1668716" cy="674751"/>
            </a:xfrm>
            <a:prstGeom prst="rect">
              <a:avLst/>
            </a:prstGeom>
            <a:noFill/>
            <a:ln>
              <a:noFill/>
            </a:ln>
          </p:spPr>
          <p:txBody>
            <a:bodyPr wrap="none" lIns="0" tIns="0" rIns="0" bIns="0" anchor="t" anchorCtr="0">
              <a:spAutoFit/>
            </a:bodyPr>
            <a:lstStyle/>
            <a:p>
              <a:pPr algn="ctr"/>
              <a:r>
                <a:rPr lang="en-US" sz="3450" b="1" dirty="0">
                  <a:solidFill>
                    <a:srgbClr val="7DBBFF"/>
                  </a:solidFill>
                  <a:latin typeface="+mn-lt"/>
                  <a:ea typeface="+mn-ea"/>
                  <a:cs typeface="+mn-cs"/>
                </a:rPr>
                <a:t>8 → d×d</a:t>
              </a:r>
            </a:p>
          </p:txBody>
        </p:sp>
        <p:sp>
          <p:nvSpPr>
            <p:cNvPr id="32" name="TextBox 32"/>
            <p:cNvSpPr txBox="1"/>
            <p:nvPr/>
          </p:nvSpPr>
          <p:spPr>
            <a:xfrm>
              <a:off x="6679787" y="2981325"/>
              <a:ext cx="1499426" cy="293370"/>
            </a:xfrm>
            <a:prstGeom prst="rect">
              <a:avLst/>
            </a:prstGeom>
            <a:noFill/>
            <a:ln>
              <a:noFill/>
            </a:ln>
          </p:spPr>
          <p:txBody>
            <a:bodyPr wrap="none" lIns="0" tIns="0" rIns="0" bIns="0" anchor="t" anchorCtr="0">
              <a:spAutoFit/>
            </a:bodyPr>
            <a:lstStyle/>
            <a:p>
              <a:pPr algn="ctr"/>
              <a:r>
                <a:rPr lang="en-US" sz="1500" dirty="0">
                  <a:solidFill>
                    <a:schemeClr val="dk1"/>
                  </a:solidFill>
                  <a:latin typeface="+mn-lt"/>
                  <a:ea typeface="+mn-ea"/>
                  <a:cs typeface="+mn-cs"/>
                </a:rPr>
                <a:t>params → image</a:t>
              </a:r>
            </a:p>
          </p:txBody>
        </p:sp>
        <p:sp>
          <p:nvSpPr>
            <p:cNvPr id="33" name="TextBox 33"/>
            <p:cNvSpPr txBox="1"/>
            <p:nvPr/>
          </p:nvSpPr>
          <p:spPr>
            <a:xfrm>
              <a:off x="6829996" y="3452812"/>
              <a:ext cx="1199007" cy="440055"/>
            </a:xfrm>
            <a:prstGeom prst="rect">
              <a:avLst/>
            </a:prstGeom>
            <a:noFill/>
            <a:ln>
              <a:noFill/>
            </a:ln>
          </p:spPr>
          <p:txBody>
            <a:bodyPr wrap="none" lIns="0" tIns="0" rIns="0" bIns="0" anchor="t" anchorCtr="0">
              <a:spAutoFit/>
            </a:bodyPr>
            <a:lstStyle/>
            <a:p>
              <a:pPr algn="ctr"/>
              <a:r>
                <a:rPr lang="en-US" sz="2250" b="1" dirty="0">
                  <a:solidFill>
                    <a:schemeClr val="dk1"/>
                  </a:solidFill>
                  <a:latin typeface="+mn-lt"/>
                  <a:ea typeface="+mn-ea"/>
                  <a:cs typeface="+mn-cs"/>
                </a:rPr>
                <a:t>~7.07M</a:t>
              </a:r>
            </a:p>
          </p:txBody>
        </p:sp>
        <p:sp>
          <p:nvSpPr>
            <p:cNvPr id="34" name="TextBox 34"/>
            <p:cNvSpPr txBox="1"/>
            <p:nvPr/>
          </p:nvSpPr>
          <p:spPr>
            <a:xfrm>
              <a:off x="6473066" y="3816668"/>
              <a:ext cx="1912868" cy="264033"/>
            </a:xfrm>
            <a:prstGeom prst="rect">
              <a:avLst/>
            </a:prstGeom>
            <a:noFill/>
            <a:ln>
              <a:noFill/>
            </a:ln>
          </p:spPr>
          <p:txBody>
            <a:bodyPr wrap="none" lIns="0" tIns="0" rIns="0" bIns="0" anchor="t" anchorCtr="0">
              <a:spAutoFit/>
            </a:bodyPr>
            <a:lstStyle/>
            <a:p>
              <a:pPr algn="ctr"/>
              <a:r>
                <a:rPr lang="en-US" sz="1350" dirty="0">
                  <a:solidFill>
                    <a:schemeClr val="dk2"/>
                  </a:solidFill>
                  <a:latin typeface="+mn-lt"/>
                  <a:ea typeface="+mn-ea"/>
                  <a:cs typeface="+mn-cs"/>
                </a:rPr>
                <a:t>trainable parameters</a:t>
              </a:r>
            </a:p>
          </p:txBody>
        </p:sp>
      </p:grpSp>
      <p:grpSp>
        <p:nvGrpSpPr>
          <p:cNvPr id="43" name="Group 43"/>
          <p:cNvGrpSpPr/>
          <p:nvPr/>
        </p:nvGrpSpPr>
        <p:grpSpPr>
          <a:xfrm>
            <a:off x="8820150" y="1676400"/>
            <a:ext cx="2609850" cy="2571750"/>
            <a:chOff x="8820150" y="1676400"/>
            <a:chExt cx="2609850" cy="2571750"/>
          </a:xfrm>
        </p:grpSpPr>
        <p:sp>
          <p:nvSpPr>
            <p:cNvPr id="36" name="Rectangle 36"/>
            <p:cNvSpPr/>
            <p:nvPr/>
          </p:nvSpPr>
          <p:spPr>
            <a:xfrm>
              <a:off x="8820150" y="1676400"/>
              <a:ext cx="2609850" cy="2571750"/>
            </a:xfrm>
            <a:prstGeom prst="roundRect">
              <a:avLst>
                <a:gd name="adj" fmla="val 5926"/>
              </a:avLst>
            </a:prstGeom>
            <a:gradFill>
              <a:gsLst>
                <a:gs pos="0">
                  <a:srgbClr val="1B2C48"/>
                </a:gs>
                <a:gs pos="100000">
                  <a:srgbClr val="14223A"/>
                </a:gs>
              </a:gsLst>
              <a:lin ang="5400000" scaled="1"/>
            </a:gradFill>
            <a:ln w="9525">
              <a:solidFill>
                <a:schemeClr val="accent4"/>
              </a:solidFill>
            </a:ln>
          </p:spPr>
        </p:sp>
        <p:sp>
          <p:nvSpPr>
            <p:cNvPr id="37" name="Rectangle 37"/>
            <p:cNvSpPr/>
            <p:nvPr/>
          </p:nvSpPr>
          <p:spPr>
            <a:xfrm>
              <a:off x="8820150" y="1676400"/>
              <a:ext cx="2609850" cy="47625"/>
            </a:xfrm>
            <a:prstGeom prst="roundRect">
              <a:avLst>
                <a:gd name="adj" fmla="val 50000"/>
              </a:avLst>
            </a:prstGeom>
            <a:solidFill>
              <a:schemeClr val="accent1"/>
            </a:solidFill>
            <a:ln>
              <a:noFill/>
            </a:ln>
          </p:spPr>
        </p:sp>
        <p:sp>
          <p:nvSpPr>
            <p:cNvPr id="38" name="TextBox 38"/>
            <p:cNvSpPr txBox="1"/>
            <p:nvPr/>
          </p:nvSpPr>
          <p:spPr>
            <a:xfrm>
              <a:off x="9043797" y="1952149"/>
              <a:ext cx="692246" cy="190690"/>
            </a:xfrm>
            <a:prstGeom prst="rect">
              <a:avLst/>
            </a:prstGeom>
            <a:noFill/>
            <a:ln>
              <a:noFill/>
            </a:ln>
          </p:spPr>
          <p:txBody>
            <a:bodyPr wrap="none" lIns="0" tIns="0" rIns="0" bIns="0" anchor="t" anchorCtr="0">
              <a:spAutoFit/>
            </a:bodyPr>
            <a:lstStyle/>
            <a:p>
              <a:pPr algn="l"/>
              <a:r>
                <a:rPr lang="en-US" sz="980" b="1" spc="112" dirty="0">
                  <a:solidFill>
                    <a:schemeClr val="accent2"/>
                  </a:solidFill>
                  <a:latin typeface="+mn-lt"/>
                  <a:ea typeface="+mn-ea"/>
                  <a:cs typeface="+mn-cs"/>
                </a:rPr>
                <a:t>TRAINING</a:t>
              </a:r>
            </a:p>
          </p:txBody>
        </p:sp>
        <p:sp>
          <p:nvSpPr>
            <p:cNvPr id="39" name="TextBox 39"/>
            <p:cNvSpPr txBox="1"/>
            <p:nvPr/>
          </p:nvSpPr>
          <p:spPr>
            <a:xfrm>
              <a:off x="9452983" y="2366010"/>
              <a:ext cx="1344183" cy="819150"/>
            </a:xfrm>
            <a:prstGeom prst="rect">
              <a:avLst/>
            </a:prstGeom>
            <a:noFill/>
            <a:ln>
              <a:noFill/>
            </a:ln>
          </p:spPr>
          <p:txBody>
            <a:bodyPr wrap="none" lIns="0" tIns="0" rIns="0" bIns="0" anchor="t" anchorCtr="0">
              <a:spAutoFit/>
            </a:bodyPr>
            <a:lstStyle/>
            <a:p>
              <a:pPr algn="ctr"/>
              <a:r>
                <a:rPr lang="en-US" sz="4200" b="1" dirty="0">
                  <a:solidFill>
                    <a:schemeClr val="accent2"/>
                  </a:solidFill>
                  <a:latin typeface="+mn-lt"/>
                  <a:ea typeface="+mn-ea"/>
                  <a:cs typeface="+mn-cs"/>
                </a:rPr>
                <a:t>5000</a:t>
              </a:r>
            </a:p>
          </p:txBody>
        </p:sp>
        <p:sp>
          <p:nvSpPr>
            <p:cNvPr id="40" name="TextBox 40"/>
            <p:cNvSpPr txBox="1"/>
            <p:nvPr/>
          </p:nvSpPr>
          <p:spPr>
            <a:xfrm>
              <a:off x="8926068" y="2981325"/>
              <a:ext cx="2398014" cy="293370"/>
            </a:xfrm>
            <a:prstGeom prst="rect">
              <a:avLst/>
            </a:prstGeom>
            <a:noFill/>
            <a:ln>
              <a:noFill/>
            </a:ln>
          </p:spPr>
          <p:txBody>
            <a:bodyPr wrap="none" lIns="0" tIns="0" rIns="0" bIns="0" anchor="t" anchorCtr="0">
              <a:spAutoFit/>
            </a:bodyPr>
            <a:lstStyle/>
            <a:p>
              <a:pPr algn="ctr"/>
              <a:r>
                <a:rPr lang="en-US" sz="1500" dirty="0">
                  <a:solidFill>
                    <a:schemeClr val="dk1"/>
                  </a:solidFill>
                  <a:latin typeface="+mn-lt"/>
                  <a:ea typeface="+mn-ea"/>
                  <a:cs typeface="+mn-cs"/>
                </a:rPr>
                <a:t>samples (4000/500/500)</a:t>
              </a:r>
            </a:p>
          </p:txBody>
        </p:sp>
        <p:sp>
          <p:nvSpPr>
            <p:cNvPr id="41" name="TextBox 41"/>
            <p:cNvSpPr txBox="1"/>
            <p:nvPr/>
          </p:nvSpPr>
          <p:spPr>
            <a:xfrm>
              <a:off x="9727923" y="3501390"/>
              <a:ext cx="794305" cy="352044"/>
            </a:xfrm>
            <a:prstGeom prst="rect">
              <a:avLst/>
            </a:prstGeom>
            <a:noFill/>
            <a:ln>
              <a:noFill/>
            </a:ln>
          </p:spPr>
          <p:txBody>
            <a:bodyPr wrap="none" lIns="0" tIns="0" rIns="0" bIns="0" anchor="t" anchorCtr="0">
              <a:spAutoFit/>
            </a:bodyPr>
            <a:lstStyle/>
            <a:p>
              <a:pPr algn="ctr"/>
              <a:r>
                <a:rPr lang="en-US" sz="1800" b="1" dirty="0">
                  <a:solidFill>
                    <a:schemeClr val="dk1"/>
                  </a:solidFill>
                  <a:latin typeface="+mn-lt"/>
                  <a:ea typeface="+mn-ea"/>
                  <a:cs typeface="+mn-cs"/>
                </a:rPr>
                <a:t>~1 day</a:t>
              </a:r>
            </a:p>
          </p:txBody>
        </p:sp>
        <p:sp>
          <p:nvSpPr>
            <p:cNvPr id="42" name="TextBox 42"/>
            <p:cNvSpPr txBox="1"/>
            <p:nvPr/>
          </p:nvSpPr>
          <p:spPr>
            <a:xfrm>
              <a:off x="9371767" y="3816668"/>
              <a:ext cx="1506617" cy="264033"/>
            </a:xfrm>
            <a:prstGeom prst="rect">
              <a:avLst/>
            </a:prstGeom>
            <a:noFill/>
            <a:ln>
              <a:noFill/>
            </a:ln>
          </p:spPr>
          <p:txBody>
            <a:bodyPr wrap="none" lIns="0" tIns="0" rIns="0" bIns="0" anchor="t" anchorCtr="0">
              <a:spAutoFit/>
            </a:bodyPr>
            <a:lstStyle/>
            <a:p>
              <a:pPr algn="ctr"/>
              <a:r>
                <a:rPr lang="en-US" sz="1350" dirty="0">
                  <a:solidFill>
                    <a:schemeClr val="dk2"/>
                  </a:solidFill>
                  <a:latin typeface="+mn-lt"/>
                  <a:ea typeface="+mn-ea"/>
                  <a:cs typeface="+mn-cs"/>
                </a:rPr>
                <a:t>on 5 × Tesla P100</a:t>
              </a:r>
            </a:p>
          </p:txBody>
        </p:sp>
      </p:grpSp>
      <p:grpSp>
        <p:nvGrpSpPr>
          <p:cNvPr id="52" name="Group 52"/>
          <p:cNvGrpSpPr/>
          <p:nvPr/>
        </p:nvGrpSpPr>
        <p:grpSpPr>
          <a:xfrm>
            <a:off x="762000" y="4495800"/>
            <a:ext cx="10668000" cy="1333500"/>
            <a:chOff x="762000" y="4495800"/>
            <a:chExt cx="10668000" cy="1333500"/>
          </a:xfrm>
        </p:grpSpPr>
        <p:sp>
          <p:nvSpPr>
            <p:cNvPr id="44" name="Rectangle 44"/>
            <p:cNvSpPr/>
            <p:nvPr/>
          </p:nvSpPr>
          <p:spPr>
            <a:xfrm>
              <a:off x="762000" y="4495800"/>
              <a:ext cx="10668000" cy="1333500"/>
            </a:xfrm>
            <a:prstGeom prst="roundRect">
              <a:avLst>
                <a:gd name="adj" fmla="val 11429"/>
              </a:avLst>
            </a:prstGeom>
            <a:solidFill>
              <a:srgbClr val="0E1A2E"/>
            </a:solidFill>
            <a:ln w="9525">
              <a:solidFill>
                <a:schemeClr val="accent4"/>
              </a:solidFill>
            </a:ln>
          </p:spPr>
        </p:sp>
        <p:sp>
          <p:nvSpPr>
            <p:cNvPr id="45" name="TextBox 45"/>
            <p:cNvSpPr txBox="1"/>
            <p:nvPr/>
          </p:nvSpPr>
          <p:spPr>
            <a:xfrm>
              <a:off x="1042035" y="4717256"/>
              <a:ext cx="3986863" cy="220028"/>
            </a:xfrm>
            <a:prstGeom prst="rect">
              <a:avLst/>
            </a:prstGeom>
            <a:noFill/>
            <a:ln>
              <a:noFill/>
            </a:ln>
          </p:spPr>
          <p:txBody>
            <a:bodyPr wrap="none" lIns="0" tIns="0" rIns="0" bIns="0" anchor="t" anchorCtr="0">
              <a:spAutoFit/>
            </a:bodyPr>
            <a:lstStyle/>
            <a:p>
              <a:pPr algn="l"/>
              <a:r>
                <a:rPr lang="en-US" sz="1120" b="1" spc="112" dirty="0">
                  <a:solidFill>
                    <a:schemeClr val="dk2"/>
                  </a:solidFill>
                  <a:latin typeface="+mn-lt"/>
                  <a:ea typeface="+mn-ea"/>
                  <a:cs typeface="+mn-cs"/>
                </a:rPr>
                <a:t>TIME PER v_rms IMAGE (log-scale intuition)</a:t>
              </a:r>
            </a:p>
          </p:txBody>
        </p:sp>
        <p:sp>
          <p:nvSpPr>
            <p:cNvPr id="46" name="TextBox 46"/>
            <p:cNvSpPr txBox="1"/>
            <p:nvPr/>
          </p:nvSpPr>
          <p:spPr>
            <a:xfrm>
              <a:off x="1040892" y="5073968"/>
              <a:ext cx="488633" cy="264033"/>
            </a:xfrm>
            <a:prstGeom prst="rect">
              <a:avLst/>
            </a:prstGeom>
            <a:noFill/>
            <a:ln>
              <a:noFill/>
            </a:ln>
          </p:spPr>
          <p:txBody>
            <a:bodyPr wrap="none" lIns="0" tIns="0" rIns="0" bIns="0" anchor="t" anchorCtr="0">
              <a:spAutoFit/>
            </a:bodyPr>
            <a:lstStyle/>
            <a:p>
              <a:pPr algn="l"/>
              <a:r>
                <a:rPr lang="en-US" sz="1350" dirty="0">
                  <a:solidFill>
                    <a:srgbClr val="7DBBFF"/>
                  </a:solidFill>
                  <a:latin typeface="+mn-lt"/>
                  <a:ea typeface="+mn-ea"/>
                  <a:cs typeface="+mn-cs"/>
                </a:rPr>
                <a:t>SKiNN</a:t>
              </a:r>
            </a:p>
          </p:txBody>
        </p:sp>
        <p:sp>
          <p:nvSpPr>
            <p:cNvPr id="47" name="Rectangle 47"/>
            <p:cNvSpPr/>
            <p:nvPr/>
          </p:nvSpPr>
          <p:spPr>
            <a:xfrm>
              <a:off x="2286000" y="5086350"/>
              <a:ext cx="666750" cy="209550"/>
            </a:xfrm>
            <a:prstGeom prst="roundRect">
              <a:avLst>
                <a:gd name="adj" fmla="val 27273"/>
              </a:avLst>
            </a:prstGeom>
            <a:solidFill>
              <a:srgbClr val="35D0A5"/>
            </a:solidFill>
            <a:ln>
              <a:noFill/>
            </a:ln>
          </p:spPr>
        </p:sp>
        <p:sp>
          <p:nvSpPr>
            <p:cNvPr id="48" name="TextBox 48"/>
            <p:cNvSpPr txBox="1"/>
            <p:nvPr/>
          </p:nvSpPr>
          <p:spPr>
            <a:xfrm>
              <a:off x="3060192" y="5102542"/>
              <a:ext cx="691141" cy="264033"/>
            </a:xfrm>
            <a:prstGeom prst="rect">
              <a:avLst/>
            </a:prstGeom>
            <a:noFill/>
            <a:ln>
              <a:noFill/>
            </a:ln>
          </p:spPr>
          <p:txBody>
            <a:bodyPr wrap="none" lIns="0" tIns="0" rIns="0" bIns="0" anchor="t" anchorCtr="0">
              <a:spAutoFit/>
            </a:bodyPr>
            <a:lstStyle/>
            <a:p>
              <a:pPr algn="l"/>
              <a:r>
                <a:rPr lang="en-US" sz="1350" b="1" dirty="0">
                  <a:solidFill>
                    <a:srgbClr val="35D0A5"/>
                  </a:solidFill>
                  <a:latin typeface="+mn-lt"/>
                  <a:ea typeface="+mn-ea"/>
                  <a:cs typeface="+mn-cs"/>
                </a:rPr>
                <a:t>≈ 50 ms</a:t>
              </a:r>
            </a:p>
          </p:txBody>
        </p:sp>
        <p:sp>
          <p:nvSpPr>
            <p:cNvPr id="49" name="TextBox 49"/>
            <p:cNvSpPr txBox="1"/>
            <p:nvPr/>
          </p:nvSpPr>
          <p:spPr>
            <a:xfrm>
              <a:off x="1040892" y="5493068"/>
              <a:ext cx="368960" cy="264033"/>
            </a:xfrm>
            <a:prstGeom prst="rect">
              <a:avLst/>
            </a:prstGeom>
            <a:noFill/>
            <a:ln>
              <a:noFill/>
            </a:ln>
          </p:spPr>
          <p:txBody>
            <a:bodyPr wrap="none" lIns="0" tIns="0" rIns="0" bIns="0" anchor="t" anchorCtr="0">
              <a:spAutoFit/>
            </a:bodyPr>
            <a:lstStyle/>
            <a:p>
              <a:pPr algn="l"/>
              <a:r>
                <a:rPr lang="en-US" sz="1350" dirty="0">
                  <a:solidFill>
                    <a:schemeClr val="accent2"/>
                  </a:solidFill>
                  <a:latin typeface="+mn-lt"/>
                  <a:ea typeface="+mn-ea"/>
                  <a:cs typeface="+mn-cs"/>
                </a:rPr>
                <a:t>JAM</a:t>
              </a:r>
            </a:p>
          </p:txBody>
        </p:sp>
        <p:sp>
          <p:nvSpPr>
            <p:cNvPr id="50" name="Rectangle 50"/>
            <p:cNvSpPr/>
            <p:nvPr/>
          </p:nvSpPr>
          <p:spPr>
            <a:xfrm>
              <a:off x="2286000" y="5505450"/>
              <a:ext cx="7810500" cy="209550"/>
            </a:xfrm>
            <a:prstGeom prst="roundRect">
              <a:avLst>
                <a:gd name="adj" fmla="val 27273"/>
              </a:avLst>
            </a:prstGeom>
            <a:solidFill>
              <a:schemeClr val="accent1"/>
            </a:solidFill>
            <a:ln>
              <a:noFill/>
            </a:ln>
          </p:spPr>
        </p:sp>
        <p:sp>
          <p:nvSpPr>
            <p:cNvPr id="51" name="TextBox 51"/>
            <p:cNvSpPr txBox="1"/>
            <p:nvPr/>
          </p:nvSpPr>
          <p:spPr>
            <a:xfrm>
              <a:off x="10203942" y="5521642"/>
              <a:ext cx="548023" cy="264033"/>
            </a:xfrm>
            <a:prstGeom prst="rect">
              <a:avLst/>
            </a:prstGeom>
            <a:noFill/>
            <a:ln>
              <a:noFill/>
            </a:ln>
          </p:spPr>
          <p:txBody>
            <a:bodyPr wrap="none" lIns="0" tIns="0" rIns="0" bIns="0" anchor="t" anchorCtr="0">
              <a:spAutoFit/>
            </a:bodyPr>
            <a:lstStyle/>
            <a:p>
              <a:pPr algn="l"/>
              <a:r>
                <a:rPr lang="en-US" sz="1350" b="1" dirty="0">
                  <a:solidFill>
                    <a:schemeClr val="accent2"/>
                  </a:solidFill>
                  <a:latin typeface="+mn-lt"/>
                  <a:ea typeface="+mn-ea"/>
                  <a:cs typeface="+mn-cs"/>
                </a:rPr>
                <a:t>≈ 15 s</a:t>
              </a:r>
            </a:p>
          </p:txBody>
        </p:sp>
      </p:grpSp>
      <p:grpSp>
        <p:nvGrpSpPr>
          <p:cNvPr id="56" name="Group 56"/>
          <p:cNvGrpSpPr/>
          <p:nvPr/>
        </p:nvGrpSpPr>
        <p:grpSpPr>
          <a:xfrm>
            <a:off x="756666" y="6477000"/>
            <a:ext cx="10678668" cy="301561"/>
            <a:chOff x="756666" y="6477000"/>
            <a:chExt cx="10678668" cy="301561"/>
          </a:xfrm>
        </p:grpSpPr>
        <p:sp>
          <p:nvSpPr>
            <p:cNvPr id="53" name="Line 53"/>
            <p:cNvSpPr/>
            <p:nvPr/>
          </p:nvSpPr>
          <p:spPr>
            <a:xfrm>
              <a:off x="762000" y="6477000"/>
              <a:ext cx="10668000" cy="9525"/>
            </a:xfrm>
            <a:custGeom>
              <a:avLst/>
              <a:gdLst/>
              <a:ahLst/>
              <a:cxnLst/>
              <a:rect l="l" t="t" r="r" b="b"/>
              <a:pathLst>
                <a:path w="10668000" h="9525">
                  <a:moveTo>
                    <a:pt x="0" y="0"/>
                  </a:moveTo>
                  <a:lnTo>
                    <a:pt x="10668000" y="0"/>
                  </a:lnTo>
                </a:path>
              </a:pathLst>
            </a:custGeom>
            <a:noFill/>
            <a:ln w="9525">
              <a:solidFill>
                <a:schemeClr val="accent4"/>
              </a:solidFill>
            </a:ln>
          </p:spPr>
        </p:sp>
        <p:sp>
          <p:nvSpPr>
            <p:cNvPr id="54" name="TextBox 54"/>
            <p:cNvSpPr txBox="1"/>
            <p:nvPr/>
          </p:nvSpPr>
          <p:spPr>
            <a:xfrm>
              <a:off x="756666" y="6573202"/>
              <a:ext cx="2902900" cy="205359"/>
            </a:xfrm>
            <a:prstGeom prst="rect">
              <a:avLst/>
            </a:prstGeom>
            <a:noFill/>
            <a:ln>
              <a:noFill/>
            </a:ln>
          </p:spPr>
          <p:txBody>
            <a:bodyPr wrap="none" lIns="0" tIns="0" rIns="0" bIns="0" anchor="t" anchorCtr="0">
              <a:spAutoFit/>
            </a:bodyPr>
            <a:lstStyle/>
            <a:p>
              <a:pPr algn="l"/>
              <a:r>
                <a:rPr lang="en-US" sz="1050" dirty="0">
                  <a:solidFill>
                    <a:srgbClr val="6B7E9C"/>
                  </a:solidFill>
                  <a:latin typeface="+mn-lt"/>
                  <a:ea typeface="+mn-ea"/>
                  <a:cs typeface="+mn-cs"/>
                </a:rPr>
                <a:t>SKiNN · Stellar Kinematics Neural Network</a:t>
              </a:r>
            </a:p>
          </p:txBody>
        </p:sp>
        <p:sp>
          <p:nvSpPr>
            <p:cNvPr id="55" name="TextBox 55"/>
            <p:cNvSpPr txBox="1"/>
            <p:nvPr/>
          </p:nvSpPr>
          <p:spPr>
            <a:xfrm>
              <a:off x="10951140" y="6573202"/>
              <a:ext cx="484194" cy="205359"/>
            </a:xfrm>
            <a:prstGeom prst="rect">
              <a:avLst/>
            </a:prstGeom>
            <a:noFill/>
            <a:ln>
              <a:noFill/>
            </a:ln>
          </p:spPr>
          <p:txBody>
            <a:bodyPr wrap="none" lIns="0" tIns="0" rIns="0" bIns="0" anchor="t" anchorCtr="0">
              <a:spAutoFit/>
            </a:bodyPr>
            <a:lstStyle/>
            <a:p>
              <a:pPr algn="r"/>
              <a:r>
                <a:rPr lang="en-US" sz="1050" dirty="0">
                  <a:solidFill>
                    <a:srgbClr val="6B7E9C"/>
                  </a:solidFill>
                  <a:latin typeface="+mn-lt"/>
                  <a:ea typeface="+mn-ea"/>
                  <a:cs typeface="+mn-cs"/>
                </a:rPr>
                <a:t>09 / 10</a:t>
              </a:r>
            </a:p>
          </p:txBody>
        </p:sp>
      </p:grpSp>
      <p:sp>
        <p:nvSpPr>
          <p:cNvPr id="57" name="cue_s09_c1_headline_numbers_skinn_runs_about" title="cue_s09_c1_headline_numbers_skinn_runs_about" descr="cue_s09_c1_headline_numbers_skinn_runs_about Here are the headline numbers. SKiNN runs about three hundred times faster than JAM, taking roughly fifty milliseconds per image on a GPU compared to about fifteen seconds for JAM."/>
          <p:cNvSpPr/>
          <p:nvPr/>
        </p:nvSpPr>
        <p:spPr>
          <a:xfrm>
            <a:off x="762000" y="1676095"/>
            <a:ext cx="2590800" cy="257175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cue_s09_c2_its_error_under_one_percent" title="cue_s09_c2_its_error_under_one_percent" descr="cue_s09_c2_its_error_under_one_percent Its error is under one percent within the innermost two-arcsecond region, with a median absolute error around 0.47 percent and a ninetieth percentile of about 1.1 percent across five hundred test images."/>
          <p:cNvSpPr/>
          <p:nvPr/>
        </p:nvSpPr>
        <p:spPr>
          <a:xfrm>
            <a:off x="3447897" y="1676095"/>
            <a:ext cx="2590800" cy="257175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cue_s09_c3_network_maps_eight_dimensional_param" title="cue_s09_c3_network_maps_eight_dimensional_param" descr="cue_s09_c3_network_maps_eight_dimensional_param The network maps an eight-dimensional parameter vector to a velocity image and has about seven million trainable parameters."/>
          <p:cNvSpPr/>
          <p:nvPr/>
        </p:nvSpPr>
        <p:spPr>
          <a:xfrm>
            <a:off x="6133795" y="1676095"/>
            <a:ext cx="2590800" cy="257175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cue_s09_c4_trained_five_thousand_samples_split" title="cue_s09_c4_trained_five_thousand_samples_split" descr="cue_s09_c4_trained_five_thousand_samples_split It was trained on five thousand samples, split four thousand for training and five hundred each for validation and testing, over roughly one day on five Tesla P100 GPUs."/>
          <p:cNvSpPr/>
          <p:nvPr/>
        </p:nvSpPr>
        <p:spPr>
          <a:xfrm>
            <a:off x="8819692" y="1676095"/>
            <a:ext cx="2610307" cy="257175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gradFill>
          <a:gsLst>
            <a:gs pos="0">
              <a:schemeClr val="lt1"/>
            </a:gs>
            <a:gs pos="100000">
              <a:schemeClr val="accent5"/>
            </a:gs>
          </a:gsLst>
          <a:lin ang="4242597" scaled="1"/>
        </a:gradFill>
        <a:effectLst/>
      </p:bgPr>
    </p:bg>
    <p:spTree>
      <p:nvGrpSpPr>
        <p:cNvPr id="1" name=""/>
        <p:cNvGrpSpPr/>
        <p:nvPr/>
      </p:nvGrpSpPr>
      <p:grpSpPr>
        <a:xfrm>
          <a:off x="0" y="0"/>
          <a:ext cx="0" cy="0"/>
          <a:chOff x="0" y="0"/>
          <a:chExt cx="0" cy="0"/>
        </a:xfrm>
      </p:grpSpPr>
      <p:grpSp>
        <p:nvGrpSpPr>
          <p:cNvPr id="6" name="Group 6"/>
          <p:cNvGrpSpPr/>
          <p:nvPr/>
        </p:nvGrpSpPr>
        <p:grpSpPr>
          <a:xfrm>
            <a:off x="8763000" y="-1047750"/>
            <a:ext cx="4381500" cy="4381500"/>
            <a:chOff x="8763000" y="-1047750"/>
            <a:chExt cx="4381500" cy="4381500"/>
          </a:xfrm>
        </p:grpSpPr>
        <p:sp>
          <p:nvSpPr>
            <p:cNvPr id="2" name="Ellipse 2"/>
            <p:cNvSpPr/>
            <p:nvPr/>
          </p:nvSpPr>
          <p:spPr>
            <a:xfrm>
              <a:off x="8763000" y="-1047750"/>
              <a:ext cx="4381500" cy="4381500"/>
            </a:xfrm>
            <a:prstGeom prst="ellipse">
              <a:avLst/>
            </a:prstGeom>
            <a:noFill/>
            <a:ln w="14288">
              <a:solidFill>
                <a:srgbClr val="213556">
                  <a:alpha val="55000"/>
                </a:srgbClr>
              </a:solidFill>
            </a:ln>
          </p:spPr>
        </p:sp>
        <p:sp>
          <p:nvSpPr>
            <p:cNvPr id="3" name="Ellipse 3"/>
            <p:cNvSpPr/>
            <p:nvPr/>
          </p:nvSpPr>
          <p:spPr>
            <a:xfrm>
              <a:off x="9525000" y="-285750"/>
              <a:ext cx="2857500" cy="2857500"/>
            </a:xfrm>
            <a:prstGeom prst="ellipse">
              <a:avLst/>
            </a:prstGeom>
            <a:noFill/>
            <a:ln w="14288">
              <a:solidFill>
                <a:srgbClr val="213556">
                  <a:alpha val="40000"/>
                </a:srgbClr>
              </a:solidFill>
            </a:ln>
          </p:spPr>
        </p:sp>
        <p:sp>
          <p:nvSpPr>
            <p:cNvPr id="4" name="Ellipse 4"/>
            <p:cNvSpPr/>
            <p:nvPr/>
          </p:nvSpPr>
          <p:spPr>
            <a:xfrm>
              <a:off x="11811000" y="1095375"/>
              <a:ext cx="95250" cy="95250"/>
            </a:xfrm>
            <a:prstGeom prst="ellipse">
              <a:avLst/>
            </a:prstGeom>
            <a:solidFill>
              <a:schemeClr val="accent1"/>
            </a:solidFill>
            <a:ln>
              <a:noFill/>
            </a:ln>
          </p:spPr>
        </p:sp>
        <p:sp>
          <p:nvSpPr>
            <p:cNvPr id="5" name="Ellipse 5"/>
            <p:cNvSpPr/>
            <p:nvPr/>
          </p:nvSpPr>
          <p:spPr>
            <a:xfrm>
              <a:off x="9486900" y="1104900"/>
              <a:ext cx="76200" cy="76200"/>
            </a:xfrm>
            <a:prstGeom prst="ellipse">
              <a:avLst/>
            </a:prstGeom>
            <a:solidFill>
              <a:schemeClr val="accent3"/>
            </a:solidFill>
            <a:ln>
              <a:noFill/>
            </a:ln>
          </p:spPr>
        </p:sp>
      </p:grpSp>
      <p:grpSp>
        <p:nvGrpSpPr>
          <p:cNvPr id="12" name="Group 12"/>
          <p:cNvGrpSpPr/>
          <p:nvPr/>
        </p:nvGrpSpPr>
        <p:grpSpPr>
          <a:xfrm>
            <a:off x="762000" y="514350"/>
            <a:ext cx="8550060" cy="834390"/>
            <a:chOff x="762000" y="514350"/>
            <a:chExt cx="8550060" cy="834390"/>
          </a:xfrm>
        </p:grpSpPr>
        <p:sp>
          <p:nvSpPr>
            <p:cNvPr id="7" name="Rectangle 7"/>
            <p:cNvSpPr/>
            <p:nvPr/>
          </p:nvSpPr>
          <p:spPr>
            <a:xfrm>
              <a:off x="762000" y="514350"/>
              <a:ext cx="438150" cy="438150"/>
            </a:xfrm>
            <a:prstGeom prst="roundRect">
              <a:avLst>
                <a:gd name="adj" fmla="val 26087"/>
              </a:avLst>
            </a:prstGeom>
            <a:gradFill>
              <a:gsLst>
                <a:gs pos="0">
                  <a:srgbClr val="1B2C48"/>
                </a:gs>
                <a:gs pos="100000">
                  <a:srgbClr val="14223A"/>
                </a:gs>
              </a:gsLst>
              <a:lin ang="5400000" scaled="1"/>
            </a:gradFill>
            <a:ln w="9525">
              <a:solidFill>
                <a:schemeClr val="accent4"/>
              </a:solidFill>
            </a:ln>
          </p:spPr>
        </p:sp>
        <p:sp>
          <p:nvSpPr>
            <p:cNvPr id="8" name="TextBox 8"/>
            <p:cNvSpPr txBox="1"/>
            <p:nvPr/>
          </p:nvSpPr>
          <p:spPr>
            <a:xfrm>
              <a:off x="844417" y="641032"/>
              <a:ext cx="273316" cy="322707"/>
            </a:xfrm>
            <a:prstGeom prst="rect">
              <a:avLst/>
            </a:prstGeom>
            <a:noFill/>
            <a:ln>
              <a:noFill/>
            </a:ln>
          </p:spPr>
          <p:txBody>
            <a:bodyPr wrap="none" lIns="0" tIns="0" rIns="0" bIns="0" anchor="t" anchorCtr="0">
              <a:spAutoFit/>
            </a:bodyPr>
            <a:lstStyle/>
            <a:p>
              <a:pPr algn="ctr"/>
              <a:r>
                <a:rPr lang="en-US" sz="1650" b="1" dirty="0">
                  <a:solidFill>
                    <a:schemeClr val="accent1"/>
                  </a:solidFill>
                  <a:latin typeface="+mn-lt"/>
                  <a:ea typeface="+mn-ea"/>
                  <a:cs typeface="+mn-cs"/>
                </a:rPr>
                <a:t>10</a:t>
              </a:r>
            </a:p>
          </p:txBody>
        </p:sp>
        <p:sp>
          <p:nvSpPr>
            <p:cNvPr id="9" name="TextBox 9"/>
            <p:cNvSpPr txBox="1"/>
            <p:nvPr/>
          </p:nvSpPr>
          <p:spPr>
            <a:xfrm>
              <a:off x="1346073" y="548164"/>
              <a:ext cx="1116367" cy="249364"/>
            </a:xfrm>
            <a:prstGeom prst="rect">
              <a:avLst/>
            </a:prstGeom>
            <a:noFill/>
            <a:ln>
              <a:noFill/>
            </a:ln>
          </p:spPr>
          <p:txBody>
            <a:bodyPr wrap="none" lIns="0" tIns="0" rIns="0" bIns="0" anchor="t" anchorCtr="0">
              <a:spAutoFit/>
            </a:bodyPr>
            <a:lstStyle/>
            <a:p>
              <a:pPr algn="l"/>
              <a:r>
                <a:rPr lang="en-US" sz="1280" b="1" spc="225" dirty="0">
                  <a:solidFill>
                    <a:schemeClr val="dk2"/>
                  </a:solidFill>
                  <a:latin typeface="+mn-lt"/>
                  <a:ea typeface="+mn-ea"/>
                  <a:cs typeface="+mn-cs"/>
                </a:rPr>
                <a:t>TAKEAWAY</a:t>
              </a:r>
            </a:p>
          </p:txBody>
        </p:sp>
        <p:sp>
          <p:nvSpPr>
            <p:cNvPr id="10" name="TextBox 10"/>
            <p:cNvSpPr txBox="1"/>
            <p:nvPr/>
          </p:nvSpPr>
          <p:spPr>
            <a:xfrm>
              <a:off x="1337310" y="762000"/>
              <a:ext cx="7974750" cy="586740"/>
            </a:xfrm>
            <a:prstGeom prst="rect">
              <a:avLst/>
            </a:prstGeom>
            <a:noFill/>
            <a:ln>
              <a:noFill/>
            </a:ln>
          </p:spPr>
          <p:txBody>
            <a:bodyPr wrap="none" lIns="0" tIns="0" rIns="0" bIns="0" anchor="t" anchorCtr="0">
              <a:spAutoFit/>
            </a:bodyPr>
            <a:lstStyle/>
            <a:p>
              <a:pPr algn="l"/>
              <a:r>
                <a:rPr lang="en-US" sz="3000" b="1" dirty="0">
                  <a:solidFill>
                    <a:schemeClr val="dk1"/>
                  </a:solidFill>
                  <a:latin typeface="+mn-lt"/>
                  <a:ea typeface="+mn-ea"/>
                  <a:cs typeface="+mn-cs"/>
                </a:rPr>
                <a:t>Swap slow physics for a fast emulator</a:t>
              </a:r>
            </a:p>
          </p:txBody>
        </p:sp>
        <p:sp>
          <p:nvSpPr>
            <p:cNvPr id="11" name="Rectangle 11"/>
            <p:cNvSpPr/>
            <p:nvPr/>
          </p:nvSpPr>
          <p:spPr>
            <a:xfrm>
              <a:off x="1352550" y="1219200"/>
              <a:ext cx="609600" cy="38100"/>
            </a:xfrm>
            <a:prstGeom prst="roundRect">
              <a:avLst>
                <a:gd name="adj" fmla="val 50000"/>
              </a:avLst>
            </a:prstGeom>
            <a:gradFill>
              <a:gsLst>
                <a:gs pos="0">
                  <a:schemeClr val="accent1"/>
                </a:gs>
                <a:gs pos="100000">
                  <a:schemeClr val="accent2"/>
                </a:gs>
              </a:gsLst>
              <a:lin ang="0" scaled="1"/>
            </a:gradFill>
            <a:ln>
              <a:noFill/>
            </a:ln>
          </p:spPr>
        </p:sp>
      </p:grpSp>
      <p:grpSp>
        <p:nvGrpSpPr>
          <p:cNvPr id="18" name="Group 18"/>
          <p:cNvGrpSpPr/>
          <p:nvPr/>
        </p:nvGrpSpPr>
        <p:grpSpPr>
          <a:xfrm>
            <a:off x="762000" y="1676400"/>
            <a:ext cx="10668000" cy="1219200"/>
            <a:chOff x="762000" y="1676400"/>
            <a:chExt cx="10668000" cy="1219200"/>
          </a:xfrm>
        </p:grpSpPr>
        <p:sp>
          <p:nvSpPr>
            <p:cNvPr id="13" name="Rectangle 13"/>
            <p:cNvSpPr/>
            <p:nvPr/>
          </p:nvSpPr>
          <p:spPr>
            <a:xfrm>
              <a:off x="762000" y="1676400"/>
              <a:ext cx="10668000" cy="1219200"/>
            </a:xfrm>
            <a:prstGeom prst="roundRect">
              <a:avLst>
                <a:gd name="adj" fmla="val 12500"/>
              </a:avLst>
            </a:prstGeom>
            <a:gradFill>
              <a:gsLst>
                <a:gs pos="0">
                  <a:srgbClr val="3A1E12"/>
                </a:gs>
                <a:gs pos="100000">
                  <a:srgbClr val="2A1810"/>
                </a:gs>
              </a:gsLst>
              <a:lin ang="0" scaled="1"/>
            </a:gradFill>
            <a:ln w="14288">
              <a:solidFill>
                <a:schemeClr val="accent1"/>
              </a:solidFill>
            </a:ln>
            <a:effectLst>
              <a:outerShdw blurRad="190500" dist="57150" dir="5400000" algn="ctr" rotWithShape="0">
                <a:srgbClr val="000000">
                  <a:alpha val="26250"/>
                </a:srgbClr>
              </a:outerShdw>
            </a:effectLst>
          </p:spPr>
        </p:sp>
        <p:sp>
          <p:nvSpPr>
            <p:cNvPr id="14" name="Rectangle 14"/>
            <p:cNvSpPr/>
            <p:nvPr/>
          </p:nvSpPr>
          <p:spPr>
            <a:xfrm>
              <a:off x="762000" y="1676400"/>
              <a:ext cx="57150" cy="1219200"/>
            </a:xfrm>
            <a:prstGeom prst="roundRect">
              <a:avLst>
                <a:gd name="adj" fmla="val 50000"/>
              </a:avLst>
            </a:prstGeom>
            <a:solidFill>
              <a:schemeClr val="accent1"/>
            </a:solidFill>
            <a:ln>
              <a:noFill/>
            </a:ln>
          </p:spPr>
        </p:sp>
        <p:sp>
          <p:nvSpPr>
            <p:cNvPr id="15" name="TextBox 15"/>
            <p:cNvSpPr txBox="1"/>
            <p:nvPr/>
          </p:nvSpPr>
          <p:spPr>
            <a:xfrm>
              <a:off x="1118235" y="1955006"/>
              <a:ext cx="1341772" cy="220028"/>
            </a:xfrm>
            <a:prstGeom prst="rect">
              <a:avLst/>
            </a:prstGeom>
            <a:noFill/>
            <a:ln>
              <a:noFill/>
            </a:ln>
          </p:spPr>
          <p:txBody>
            <a:bodyPr wrap="none" lIns="0" tIns="0" rIns="0" bIns="0" anchor="t" anchorCtr="0">
              <a:spAutoFit/>
            </a:bodyPr>
            <a:lstStyle/>
            <a:p>
              <a:pPr algn="l"/>
              <a:r>
                <a:rPr lang="en-US" sz="1120" b="1" spc="150" dirty="0">
                  <a:solidFill>
                    <a:schemeClr val="accent2"/>
                  </a:solidFill>
                  <a:latin typeface="+mn-lt"/>
                  <a:ea typeface="+mn-ea"/>
                  <a:cs typeface="+mn-cs"/>
                </a:rPr>
                <a:t>THE TAKEAWAY</a:t>
              </a:r>
            </a:p>
          </p:txBody>
        </p:sp>
        <p:sp>
          <p:nvSpPr>
            <p:cNvPr id="16" name="TextBox 16"/>
            <p:cNvSpPr txBox="1"/>
            <p:nvPr/>
          </p:nvSpPr>
          <p:spPr>
            <a:xfrm>
              <a:off x="1112520" y="2214562"/>
              <a:ext cx="10307489"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Train a neural network to emulate JAM's slow kinematics physics.</a:t>
              </a:r>
            </a:p>
          </p:txBody>
        </p:sp>
        <p:sp>
          <p:nvSpPr>
            <p:cNvPr id="17" name="TextBox 17"/>
            <p:cNvSpPr txBox="1"/>
            <p:nvPr/>
          </p:nvSpPr>
          <p:spPr>
            <a:xfrm>
              <a:off x="1116330" y="2600325"/>
              <a:ext cx="8384921" cy="293370"/>
            </a:xfrm>
            <a:prstGeom prst="rect">
              <a:avLst/>
            </a:prstGeom>
            <a:noFill/>
            <a:ln>
              <a:noFill/>
            </a:ln>
          </p:spPr>
          <p:txBody>
            <a:bodyPr wrap="none" lIns="0" tIns="0" rIns="0" bIns="0" anchor="t" anchorCtr="0">
              <a:spAutoFit/>
            </a:bodyPr>
            <a:lstStyle/>
            <a:p>
              <a:pPr algn="l"/>
              <a:r>
                <a:rPr lang="en-US" sz="1500" dirty="0">
                  <a:solidFill>
                    <a:srgbClr val="C9D6E8"/>
                  </a:solidFill>
                  <a:latin typeface="+mn-lt"/>
                  <a:ea typeface="+mn-ea"/>
                  <a:cs typeface="+mn-cs"/>
                </a:rPr>
                <a:t>SKiNN achieves a ~300× speedup at sub-percent accuracy in the region that matters.</a:t>
              </a:r>
            </a:p>
          </p:txBody>
        </p:sp>
      </p:grpSp>
      <p:grpSp>
        <p:nvGrpSpPr>
          <p:cNvPr id="27" name="Group 27"/>
          <p:cNvGrpSpPr/>
          <p:nvPr/>
        </p:nvGrpSpPr>
        <p:grpSpPr>
          <a:xfrm>
            <a:off x="762000" y="3124200"/>
            <a:ext cx="3400425" cy="2590800"/>
            <a:chOff x="762000" y="3124200"/>
            <a:chExt cx="3400425" cy="2590800"/>
          </a:xfrm>
        </p:grpSpPr>
        <p:sp>
          <p:nvSpPr>
            <p:cNvPr id="19" name="Rectangle 19"/>
            <p:cNvSpPr/>
            <p:nvPr/>
          </p:nvSpPr>
          <p:spPr>
            <a:xfrm>
              <a:off x="762000" y="3124200"/>
              <a:ext cx="3400425" cy="2590800"/>
            </a:xfrm>
            <a:prstGeom prst="roundRect">
              <a:avLst>
                <a:gd name="adj" fmla="val 5882"/>
              </a:avLst>
            </a:prstGeom>
            <a:gradFill>
              <a:gsLst>
                <a:gs pos="0">
                  <a:srgbClr val="1B2C48"/>
                </a:gs>
                <a:gs pos="100000">
                  <a:srgbClr val="14223A"/>
                </a:gs>
              </a:gsLst>
              <a:lin ang="5400000" scaled="1"/>
            </a:gradFill>
            <a:ln w="9525">
              <a:solidFill>
                <a:schemeClr val="accent4"/>
              </a:solidFill>
            </a:ln>
          </p:spPr>
        </p:sp>
        <p:sp>
          <p:nvSpPr>
            <p:cNvPr id="20" name="Rectangle 20"/>
            <p:cNvSpPr/>
            <p:nvPr/>
          </p:nvSpPr>
          <p:spPr>
            <a:xfrm>
              <a:off x="762000" y="3124200"/>
              <a:ext cx="3400425" cy="47625"/>
            </a:xfrm>
            <a:prstGeom prst="roundRect">
              <a:avLst>
                <a:gd name="adj" fmla="val 50000"/>
              </a:avLst>
            </a:prstGeom>
            <a:solidFill>
              <a:srgbClr val="35D0A5"/>
            </a:solidFill>
            <a:ln>
              <a:noFill/>
            </a:ln>
          </p:spPr>
        </p:sp>
        <p:sp>
          <p:nvSpPr>
            <p:cNvPr id="21" name="TextBox 21"/>
            <p:cNvSpPr txBox="1"/>
            <p:nvPr/>
          </p:nvSpPr>
          <p:spPr>
            <a:xfrm>
              <a:off x="985647" y="3438049"/>
              <a:ext cx="921700" cy="190690"/>
            </a:xfrm>
            <a:prstGeom prst="rect">
              <a:avLst/>
            </a:prstGeom>
            <a:noFill/>
            <a:ln>
              <a:noFill/>
            </a:ln>
          </p:spPr>
          <p:txBody>
            <a:bodyPr wrap="none" lIns="0" tIns="0" rIns="0" bIns="0" anchor="t" anchorCtr="0">
              <a:spAutoFit/>
            </a:bodyPr>
            <a:lstStyle/>
            <a:p>
              <a:pPr algn="l"/>
              <a:r>
                <a:rPr lang="en-US" sz="980" b="1" spc="112" dirty="0">
                  <a:solidFill>
                    <a:srgbClr val="35D0A5"/>
                  </a:solidFill>
                  <a:latin typeface="+mn-lt"/>
                  <a:ea typeface="+mn-ea"/>
                  <a:cs typeface="+mn-cs"/>
                </a:rPr>
                <a:t>THE RESULT</a:t>
              </a:r>
            </a:p>
          </p:txBody>
        </p:sp>
        <p:sp>
          <p:nvSpPr>
            <p:cNvPr id="22" name="TextBox 22"/>
            <p:cNvSpPr txBox="1"/>
            <p:nvPr/>
          </p:nvSpPr>
          <p:spPr>
            <a:xfrm>
              <a:off x="981456" y="3710940"/>
              <a:ext cx="2278506"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Fast and accurate</a:t>
              </a:r>
            </a:p>
          </p:txBody>
        </p:sp>
        <p:sp>
          <p:nvSpPr>
            <p:cNvPr id="23" name="TextBox 23"/>
            <p:cNvSpPr txBox="1"/>
            <p:nvPr/>
          </p:nvSpPr>
          <p:spPr>
            <a:xfrm>
              <a:off x="983361" y="4151471"/>
              <a:ext cx="2859637" cy="278702"/>
            </a:xfrm>
            <a:prstGeom prst="rect">
              <a:avLst/>
            </a:prstGeom>
            <a:noFill/>
            <a:ln>
              <a:noFill/>
            </a:ln>
          </p:spPr>
          <p:txBody>
            <a:bodyPr wrap="none" lIns="0" tIns="0" rIns="0" bIns="0" anchor="t" anchorCtr="0">
              <a:spAutoFit/>
            </a:bodyPr>
            <a:lstStyle/>
            <a:p>
              <a:pPr algn="l"/>
              <a:r>
                <a:rPr lang="en-US" sz="1420" dirty="0">
                  <a:solidFill>
                    <a:schemeClr val="dk2"/>
                  </a:solidFill>
                  <a:latin typeface="+mn-lt"/>
                  <a:ea typeface="+mn-ea"/>
                  <a:cs typeface="+mn-cs"/>
                </a:rPr>
                <a:t>A neural network emulates the</a:t>
              </a:r>
            </a:p>
          </p:txBody>
        </p:sp>
        <p:sp>
          <p:nvSpPr>
            <p:cNvPr id="24" name="TextBox 24"/>
            <p:cNvSpPr txBox="1"/>
            <p:nvPr/>
          </p:nvSpPr>
          <p:spPr>
            <a:xfrm>
              <a:off x="983361" y="4399121"/>
              <a:ext cx="2614197" cy="278702"/>
            </a:xfrm>
            <a:prstGeom prst="rect">
              <a:avLst/>
            </a:prstGeom>
            <a:noFill/>
            <a:ln>
              <a:noFill/>
            </a:ln>
          </p:spPr>
          <p:txBody>
            <a:bodyPr wrap="none" lIns="0" tIns="0" rIns="0" bIns="0" anchor="t" anchorCtr="0">
              <a:spAutoFit/>
            </a:bodyPr>
            <a:lstStyle/>
            <a:p>
              <a:pPr algn="l"/>
              <a:r>
                <a:rPr lang="en-US" sz="1420" dirty="0">
                  <a:solidFill>
                    <a:schemeClr val="dk2"/>
                  </a:solidFill>
                  <a:latin typeface="+mn-lt"/>
                  <a:ea typeface="+mn-ea"/>
                  <a:cs typeface="+mn-cs"/>
                </a:rPr>
                <a:t>slow JAM physics at roughly</a:t>
              </a:r>
            </a:p>
          </p:txBody>
        </p:sp>
        <p:sp>
          <p:nvSpPr>
            <p:cNvPr id="25" name="TextBox 25"/>
            <p:cNvSpPr txBox="1"/>
            <p:nvPr/>
          </p:nvSpPr>
          <p:spPr>
            <a:xfrm>
              <a:off x="983361" y="4646771"/>
              <a:ext cx="2604701" cy="278702"/>
            </a:xfrm>
            <a:prstGeom prst="rect">
              <a:avLst/>
            </a:prstGeom>
            <a:noFill/>
            <a:ln>
              <a:noFill/>
            </a:ln>
          </p:spPr>
          <p:txBody>
            <a:bodyPr wrap="none" lIns="0" tIns="0" rIns="0" bIns="0" anchor="t" anchorCtr="0">
              <a:spAutoFit/>
            </a:bodyPr>
            <a:lstStyle/>
            <a:p>
              <a:pPr algn="l"/>
              <a:r>
                <a:rPr lang="en-US" sz="1420" dirty="0">
                  <a:solidFill>
                    <a:schemeClr val="dk2"/>
                  </a:solidFill>
                  <a:latin typeface="+mn-lt"/>
                  <a:ea typeface="+mn-ea"/>
                  <a:cs typeface="+mn-cs"/>
                </a:rPr>
                <a:t>300× speed and sub-percent</a:t>
              </a:r>
            </a:p>
          </p:txBody>
        </p:sp>
        <p:sp>
          <p:nvSpPr>
            <p:cNvPr id="26" name="TextBox 26"/>
            <p:cNvSpPr txBox="1"/>
            <p:nvPr/>
          </p:nvSpPr>
          <p:spPr>
            <a:xfrm>
              <a:off x="983361" y="4894421"/>
              <a:ext cx="2633375" cy="278702"/>
            </a:xfrm>
            <a:prstGeom prst="rect">
              <a:avLst/>
            </a:prstGeom>
            <a:noFill/>
            <a:ln>
              <a:noFill/>
            </a:ln>
          </p:spPr>
          <p:txBody>
            <a:bodyPr wrap="none" lIns="0" tIns="0" rIns="0" bIns="0" anchor="t" anchorCtr="0">
              <a:spAutoFit/>
            </a:bodyPr>
            <a:lstStyle/>
            <a:p>
              <a:pPr algn="l"/>
              <a:r>
                <a:rPr lang="en-US" sz="1420" dirty="0">
                  <a:solidFill>
                    <a:schemeClr val="dk2"/>
                  </a:solidFill>
                  <a:latin typeface="+mn-lt"/>
                  <a:ea typeface="+mn-ea"/>
                  <a:cs typeface="+mn-cs"/>
                </a:rPr>
                <a:t>accuracy where it matters.</a:t>
              </a:r>
            </a:p>
          </p:txBody>
        </p:sp>
      </p:grpSp>
      <p:grpSp>
        <p:nvGrpSpPr>
          <p:cNvPr id="37" name="Group 37"/>
          <p:cNvGrpSpPr/>
          <p:nvPr/>
        </p:nvGrpSpPr>
        <p:grpSpPr>
          <a:xfrm>
            <a:off x="4391025" y="3124200"/>
            <a:ext cx="3400425" cy="2590800"/>
            <a:chOff x="4391025" y="3124200"/>
            <a:chExt cx="3400425" cy="2590800"/>
          </a:xfrm>
        </p:grpSpPr>
        <p:sp>
          <p:nvSpPr>
            <p:cNvPr id="28" name="Rectangle 28"/>
            <p:cNvSpPr/>
            <p:nvPr/>
          </p:nvSpPr>
          <p:spPr>
            <a:xfrm>
              <a:off x="4391025" y="3124200"/>
              <a:ext cx="3400425" cy="2590800"/>
            </a:xfrm>
            <a:prstGeom prst="roundRect">
              <a:avLst>
                <a:gd name="adj" fmla="val 5882"/>
              </a:avLst>
            </a:prstGeom>
            <a:gradFill>
              <a:gsLst>
                <a:gs pos="0">
                  <a:srgbClr val="1B2C48"/>
                </a:gs>
                <a:gs pos="100000">
                  <a:srgbClr val="14223A"/>
                </a:gs>
              </a:gsLst>
              <a:lin ang="5400000" scaled="1"/>
            </a:gradFill>
            <a:ln w="9525">
              <a:solidFill>
                <a:schemeClr val="accent4"/>
              </a:solidFill>
            </a:ln>
          </p:spPr>
        </p:sp>
        <p:sp>
          <p:nvSpPr>
            <p:cNvPr id="29" name="Rectangle 29"/>
            <p:cNvSpPr/>
            <p:nvPr/>
          </p:nvSpPr>
          <p:spPr>
            <a:xfrm>
              <a:off x="4391025" y="3124200"/>
              <a:ext cx="3400425" cy="47625"/>
            </a:xfrm>
            <a:prstGeom prst="roundRect">
              <a:avLst>
                <a:gd name="adj" fmla="val 50000"/>
              </a:avLst>
            </a:prstGeom>
            <a:solidFill>
              <a:schemeClr val="accent1"/>
            </a:solidFill>
            <a:ln>
              <a:noFill/>
            </a:ln>
          </p:spPr>
        </p:sp>
        <p:sp>
          <p:nvSpPr>
            <p:cNvPr id="30" name="TextBox 30"/>
            <p:cNvSpPr txBox="1"/>
            <p:nvPr/>
          </p:nvSpPr>
          <p:spPr>
            <a:xfrm>
              <a:off x="4614672" y="3438049"/>
              <a:ext cx="1292790" cy="190690"/>
            </a:xfrm>
            <a:prstGeom prst="rect">
              <a:avLst/>
            </a:prstGeom>
            <a:noFill/>
            <a:ln>
              <a:noFill/>
            </a:ln>
          </p:spPr>
          <p:txBody>
            <a:bodyPr wrap="none" lIns="0" tIns="0" rIns="0" bIns="0" anchor="t" anchorCtr="0">
              <a:spAutoFit/>
            </a:bodyPr>
            <a:lstStyle/>
            <a:p>
              <a:pPr algn="l"/>
              <a:r>
                <a:rPr lang="en-US" sz="980" b="1" spc="112" dirty="0">
                  <a:solidFill>
                    <a:schemeClr val="accent2"/>
                  </a:solidFill>
                  <a:latin typeface="+mn-lt"/>
                  <a:ea typeface="+mn-ea"/>
                  <a:cs typeface="+mn-cs"/>
                </a:rPr>
                <a:t>WHY IT MATTERS</a:t>
              </a:r>
            </a:p>
          </p:txBody>
        </p:sp>
        <p:sp>
          <p:nvSpPr>
            <p:cNvPr id="31" name="TextBox 31"/>
            <p:cNvSpPr txBox="1"/>
            <p:nvPr/>
          </p:nvSpPr>
          <p:spPr>
            <a:xfrm>
              <a:off x="4610481" y="3710940"/>
              <a:ext cx="2643581"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Joint modeling for H₀</a:t>
              </a:r>
            </a:p>
          </p:txBody>
        </p:sp>
        <p:sp>
          <p:nvSpPr>
            <p:cNvPr id="32" name="TextBox 32"/>
            <p:cNvSpPr txBox="1"/>
            <p:nvPr/>
          </p:nvSpPr>
          <p:spPr>
            <a:xfrm>
              <a:off x="4612386" y="4151471"/>
              <a:ext cx="2754261" cy="278702"/>
            </a:xfrm>
            <a:prstGeom prst="rect">
              <a:avLst/>
            </a:prstGeom>
            <a:noFill/>
            <a:ln>
              <a:noFill/>
            </a:ln>
          </p:spPr>
          <p:txBody>
            <a:bodyPr wrap="none" lIns="0" tIns="0" rIns="0" bIns="0" anchor="t" anchorCtr="0">
              <a:spAutoFit/>
            </a:bodyPr>
            <a:lstStyle/>
            <a:p>
              <a:pPr algn="l"/>
              <a:r>
                <a:rPr lang="en-US" sz="1420" dirty="0">
                  <a:solidFill>
                    <a:schemeClr val="dk2"/>
                  </a:solidFill>
                  <a:latin typeface="+mn-lt"/>
                  <a:ea typeface="+mn-ea"/>
                  <a:cs typeface="+mn-cs"/>
                </a:rPr>
                <a:t>Removing the main bottleneck</a:t>
              </a:r>
            </a:p>
          </p:txBody>
        </p:sp>
        <p:sp>
          <p:nvSpPr>
            <p:cNvPr id="33" name="TextBox 33"/>
            <p:cNvSpPr txBox="1"/>
            <p:nvPr/>
          </p:nvSpPr>
          <p:spPr>
            <a:xfrm>
              <a:off x="4612386" y="4399121"/>
              <a:ext cx="2786304" cy="278702"/>
            </a:xfrm>
            <a:prstGeom prst="rect">
              <a:avLst/>
            </a:prstGeom>
            <a:noFill/>
            <a:ln>
              <a:noFill/>
            </a:ln>
          </p:spPr>
          <p:txBody>
            <a:bodyPr wrap="none" lIns="0" tIns="0" rIns="0" bIns="0" anchor="t" anchorCtr="0">
              <a:spAutoFit/>
            </a:bodyPr>
            <a:lstStyle/>
            <a:p>
              <a:pPr algn="l"/>
              <a:r>
                <a:rPr lang="en-US" sz="1420" dirty="0">
                  <a:solidFill>
                    <a:schemeClr val="dk2"/>
                  </a:solidFill>
                  <a:latin typeface="+mn-lt"/>
                  <a:ea typeface="+mn-ea"/>
                  <a:cs typeface="+mn-cs"/>
                </a:rPr>
                <a:t>makes joint lensing + spatially</a:t>
              </a:r>
            </a:p>
          </p:txBody>
        </p:sp>
        <p:sp>
          <p:nvSpPr>
            <p:cNvPr id="34" name="TextBox 34"/>
            <p:cNvSpPr txBox="1"/>
            <p:nvPr/>
          </p:nvSpPr>
          <p:spPr>
            <a:xfrm>
              <a:off x="4612386" y="4646771"/>
              <a:ext cx="2824536" cy="278702"/>
            </a:xfrm>
            <a:prstGeom prst="rect">
              <a:avLst/>
            </a:prstGeom>
            <a:noFill/>
            <a:ln>
              <a:noFill/>
            </a:ln>
          </p:spPr>
          <p:txBody>
            <a:bodyPr wrap="none" lIns="0" tIns="0" rIns="0" bIns="0" anchor="t" anchorCtr="0">
              <a:spAutoFit/>
            </a:bodyPr>
            <a:lstStyle/>
            <a:p>
              <a:pPr algn="l"/>
              <a:r>
                <a:rPr lang="en-US" sz="1420" dirty="0">
                  <a:solidFill>
                    <a:schemeClr val="dk2"/>
                  </a:solidFill>
                  <a:latin typeface="+mn-lt"/>
                  <a:ea typeface="+mn-ea"/>
                  <a:cs typeface="+mn-cs"/>
                </a:rPr>
                <a:t>resolved kinematics feasible —</a:t>
              </a:r>
            </a:p>
          </p:txBody>
        </p:sp>
        <p:sp>
          <p:nvSpPr>
            <p:cNvPr id="35" name="TextBox 35"/>
            <p:cNvSpPr txBox="1"/>
            <p:nvPr/>
          </p:nvSpPr>
          <p:spPr>
            <a:xfrm>
              <a:off x="4612386" y="4894421"/>
              <a:ext cx="3092160" cy="278702"/>
            </a:xfrm>
            <a:prstGeom prst="rect">
              <a:avLst/>
            </a:prstGeom>
            <a:noFill/>
            <a:ln>
              <a:noFill/>
            </a:ln>
          </p:spPr>
          <p:txBody>
            <a:bodyPr wrap="none" lIns="0" tIns="0" rIns="0" bIns="0" anchor="t" anchorCtr="0">
              <a:spAutoFit/>
            </a:bodyPr>
            <a:lstStyle/>
            <a:p>
              <a:pPr algn="l"/>
              <a:r>
                <a:rPr lang="en-US" sz="1420" dirty="0">
                  <a:solidFill>
                    <a:schemeClr val="dk2"/>
                  </a:solidFill>
                  <a:latin typeface="+mn-lt"/>
                  <a:ea typeface="+mn-ea"/>
                  <a:cs typeface="+mn-cs"/>
                </a:rPr>
                <a:t>correcting the largest source of</a:t>
              </a:r>
            </a:p>
          </p:txBody>
        </p:sp>
        <p:sp>
          <p:nvSpPr>
            <p:cNvPr id="36" name="TextBox 36"/>
            <p:cNvSpPr txBox="1"/>
            <p:nvPr/>
          </p:nvSpPr>
          <p:spPr>
            <a:xfrm>
              <a:off x="4612386" y="5142071"/>
              <a:ext cx="2716473" cy="278702"/>
            </a:xfrm>
            <a:prstGeom prst="rect">
              <a:avLst/>
            </a:prstGeom>
            <a:noFill/>
            <a:ln>
              <a:noFill/>
            </a:ln>
          </p:spPr>
          <p:txBody>
            <a:bodyPr wrap="none" lIns="0" tIns="0" rIns="0" bIns="0" anchor="t" anchorCtr="0">
              <a:spAutoFit/>
            </a:bodyPr>
            <a:lstStyle/>
            <a:p>
              <a:pPr algn="l"/>
              <a:r>
                <a:rPr lang="en-US" sz="1420" dirty="0">
                  <a:solidFill>
                    <a:schemeClr val="dk2"/>
                  </a:solidFill>
                  <a:latin typeface="+mn-lt"/>
                  <a:ea typeface="+mn-ea"/>
                  <a:cs typeface="+mn-cs"/>
                </a:rPr>
                <a:t>uncertainty in measuring H₀.</a:t>
              </a:r>
            </a:p>
          </p:txBody>
        </p:sp>
      </p:grpSp>
      <p:grpSp>
        <p:nvGrpSpPr>
          <p:cNvPr id="48" name="Group 48"/>
          <p:cNvGrpSpPr/>
          <p:nvPr/>
        </p:nvGrpSpPr>
        <p:grpSpPr>
          <a:xfrm>
            <a:off x="8020050" y="3124200"/>
            <a:ext cx="3409950" cy="2590800"/>
            <a:chOff x="8020050" y="3124200"/>
            <a:chExt cx="3409950" cy="2590800"/>
          </a:xfrm>
        </p:grpSpPr>
        <p:sp>
          <p:nvSpPr>
            <p:cNvPr id="38" name="Rectangle 38"/>
            <p:cNvSpPr/>
            <p:nvPr/>
          </p:nvSpPr>
          <p:spPr>
            <a:xfrm>
              <a:off x="8020050" y="3124200"/>
              <a:ext cx="3409950" cy="2590800"/>
            </a:xfrm>
            <a:prstGeom prst="roundRect">
              <a:avLst>
                <a:gd name="adj" fmla="val 5882"/>
              </a:avLst>
            </a:prstGeom>
            <a:gradFill>
              <a:gsLst>
                <a:gs pos="0">
                  <a:srgbClr val="1B2C48"/>
                </a:gs>
                <a:gs pos="100000">
                  <a:srgbClr val="14223A"/>
                </a:gs>
              </a:gsLst>
              <a:lin ang="5400000" scaled="1"/>
            </a:gradFill>
            <a:ln w="9525">
              <a:solidFill>
                <a:schemeClr val="accent4"/>
              </a:solidFill>
            </a:ln>
          </p:spPr>
        </p:sp>
        <p:sp>
          <p:nvSpPr>
            <p:cNvPr id="39" name="Rectangle 39"/>
            <p:cNvSpPr/>
            <p:nvPr/>
          </p:nvSpPr>
          <p:spPr>
            <a:xfrm>
              <a:off x="8020050" y="3124200"/>
              <a:ext cx="3409950" cy="47625"/>
            </a:xfrm>
            <a:prstGeom prst="roundRect">
              <a:avLst>
                <a:gd name="adj" fmla="val 50000"/>
              </a:avLst>
            </a:prstGeom>
            <a:solidFill>
              <a:schemeClr val="accent3"/>
            </a:solidFill>
            <a:ln>
              <a:noFill/>
            </a:ln>
          </p:spPr>
        </p:sp>
        <p:sp>
          <p:nvSpPr>
            <p:cNvPr id="40" name="TextBox 40"/>
            <p:cNvSpPr txBox="1"/>
            <p:nvPr/>
          </p:nvSpPr>
          <p:spPr>
            <a:xfrm>
              <a:off x="8243697" y="3438049"/>
              <a:ext cx="1715108" cy="190690"/>
            </a:xfrm>
            <a:prstGeom prst="rect">
              <a:avLst/>
            </a:prstGeom>
            <a:noFill/>
            <a:ln>
              <a:noFill/>
            </a:ln>
          </p:spPr>
          <p:txBody>
            <a:bodyPr wrap="none" lIns="0" tIns="0" rIns="0" bIns="0" anchor="t" anchorCtr="0">
              <a:spAutoFit/>
            </a:bodyPr>
            <a:lstStyle/>
            <a:p>
              <a:pPr algn="l"/>
              <a:r>
                <a:rPr lang="en-US" sz="980" b="1" spc="112" dirty="0">
                  <a:solidFill>
                    <a:srgbClr val="7DBBFF"/>
                  </a:solidFill>
                  <a:latin typeface="+mn-lt"/>
                  <a:ea typeface="+mn-ea"/>
                  <a:cs typeface="+mn-cs"/>
                </a:rPr>
                <a:t>THE BROADER LESSON</a:t>
              </a:r>
            </a:p>
          </p:txBody>
        </p:sp>
        <p:sp>
          <p:nvSpPr>
            <p:cNvPr id="41" name="TextBox 41"/>
            <p:cNvSpPr txBox="1"/>
            <p:nvPr/>
          </p:nvSpPr>
          <p:spPr>
            <a:xfrm>
              <a:off x="8239506" y="3710940"/>
              <a:ext cx="2710540"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A transferable recipe</a:t>
              </a:r>
            </a:p>
          </p:txBody>
        </p:sp>
        <p:sp>
          <p:nvSpPr>
            <p:cNvPr id="42" name="TextBox 42"/>
            <p:cNvSpPr txBox="1"/>
            <p:nvPr/>
          </p:nvSpPr>
          <p:spPr>
            <a:xfrm>
              <a:off x="8241411" y="4151471"/>
              <a:ext cx="2229324" cy="278702"/>
            </a:xfrm>
            <a:prstGeom prst="rect">
              <a:avLst/>
            </a:prstGeom>
            <a:noFill/>
            <a:ln>
              <a:noFill/>
            </a:ln>
          </p:spPr>
          <p:txBody>
            <a:bodyPr wrap="none" lIns="0" tIns="0" rIns="0" bIns="0" anchor="t" anchorCtr="0">
              <a:spAutoFit/>
            </a:bodyPr>
            <a:lstStyle/>
            <a:p>
              <a:pPr algn="l"/>
              <a:r>
                <a:rPr lang="en-US" sz="1420" dirty="0">
                  <a:solidFill>
                    <a:schemeClr val="dk2"/>
                  </a:solidFill>
                  <a:latin typeface="+mn-lt"/>
                  <a:ea typeface="+mn-ea"/>
                  <a:cs typeface="+mn-cs"/>
                </a:rPr>
                <a:t>Swap an expensive-but-</a:t>
              </a:r>
            </a:p>
          </p:txBody>
        </p:sp>
        <p:sp>
          <p:nvSpPr>
            <p:cNvPr id="43" name="TextBox 43"/>
            <p:cNvSpPr txBox="1"/>
            <p:nvPr/>
          </p:nvSpPr>
          <p:spPr>
            <a:xfrm>
              <a:off x="8241411" y="4399121"/>
              <a:ext cx="2566469" cy="278702"/>
            </a:xfrm>
            <a:prstGeom prst="rect">
              <a:avLst/>
            </a:prstGeom>
            <a:noFill/>
            <a:ln>
              <a:noFill/>
            </a:ln>
          </p:spPr>
          <p:txBody>
            <a:bodyPr wrap="none" lIns="0" tIns="0" rIns="0" bIns="0" anchor="t" anchorCtr="0">
              <a:spAutoFit/>
            </a:bodyPr>
            <a:lstStyle/>
            <a:p>
              <a:pPr algn="l"/>
              <a:r>
                <a:rPr lang="en-US" sz="1420" dirty="0">
                  <a:solidFill>
                    <a:schemeClr val="dk2"/>
                  </a:solidFill>
                  <a:latin typeface="+mn-lt"/>
                  <a:ea typeface="+mn-ea"/>
                  <a:cs typeface="+mn-cs"/>
                </a:rPr>
                <a:t>calculable model piece for a</a:t>
              </a:r>
            </a:p>
          </p:txBody>
        </p:sp>
        <p:sp>
          <p:nvSpPr>
            <p:cNvPr id="44" name="TextBox 44"/>
            <p:cNvSpPr txBox="1"/>
            <p:nvPr/>
          </p:nvSpPr>
          <p:spPr>
            <a:xfrm>
              <a:off x="8241411" y="4646771"/>
              <a:ext cx="2757630" cy="278702"/>
            </a:xfrm>
            <a:prstGeom prst="rect">
              <a:avLst/>
            </a:prstGeom>
            <a:noFill/>
            <a:ln>
              <a:noFill/>
            </a:ln>
          </p:spPr>
          <p:txBody>
            <a:bodyPr wrap="none" lIns="0" tIns="0" rIns="0" bIns="0" anchor="t" anchorCtr="0">
              <a:spAutoFit/>
            </a:bodyPr>
            <a:lstStyle/>
            <a:p>
              <a:pPr algn="l"/>
              <a:r>
                <a:rPr lang="en-US" sz="1420" dirty="0">
                  <a:solidFill>
                    <a:schemeClr val="dk2"/>
                  </a:solidFill>
                  <a:latin typeface="+mn-lt"/>
                  <a:ea typeface="+mn-ea"/>
                  <a:cs typeface="+mn-cs"/>
                </a:rPr>
                <a:t>trained neural network, keep</a:t>
              </a:r>
            </a:p>
          </p:txBody>
        </p:sp>
        <p:sp>
          <p:nvSpPr>
            <p:cNvPr id="45" name="TextBox 45"/>
            <p:cNvSpPr txBox="1"/>
            <p:nvPr/>
          </p:nvSpPr>
          <p:spPr>
            <a:xfrm>
              <a:off x="8241411" y="4894421"/>
              <a:ext cx="2566469" cy="278702"/>
            </a:xfrm>
            <a:prstGeom prst="rect">
              <a:avLst/>
            </a:prstGeom>
            <a:noFill/>
            <a:ln>
              <a:noFill/>
            </a:ln>
          </p:spPr>
          <p:txBody>
            <a:bodyPr wrap="none" lIns="0" tIns="0" rIns="0" bIns="0" anchor="t" anchorCtr="0">
              <a:spAutoFit/>
            </a:bodyPr>
            <a:lstStyle/>
            <a:p>
              <a:pPr algn="l"/>
              <a:r>
                <a:rPr lang="en-US" sz="1420" dirty="0">
                  <a:solidFill>
                    <a:schemeClr val="dk2"/>
                  </a:solidFill>
                  <a:latin typeface="+mn-lt"/>
                  <a:ea typeface="+mn-ea"/>
                  <a:cs typeface="+mn-cs"/>
                </a:rPr>
                <a:t>the surrounding physics — a</a:t>
              </a:r>
            </a:p>
          </p:txBody>
        </p:sp>
        <p:sp>
          <p:nvSpPr>
            <p:cNvPr id="46" name="TextBox 46"/>
            <p:cNvSpPr txBox="1"/>
            <p:nvPr/>
          </p:nvSpPr>
          <p:spPr>
            <a:xfrm>
              <a:off x="8241411" y="5142071"/>
              <a:ext cx="2623817" cy="278702"/>
            </a:xfrm>
            <a:prstGeom prst="rect">
              <a:avLst/>
            </a:prstGeom>
            <a:noFill/>
            <a:ln>
              <a:noFill/>
            </a:ln>
          </p:spPr>
          <p:txBody>
            <a:bodyPr wrap="none" lIns="0" tIns="0" rIns="0" bIns="0" anchor="t" anchorCtr="0">
              <a:spAutoFit/>
            </a:bodyPr>
            <a:lstStyle/>
            <a:p>
              <a:pPr algn="l"/>
              <a:r>
                <a:rPr lang="en-US" sz="1420" dirty="0">
                  <a:solidFill>
                    <a:schemeClr val="dk2"/>
                  </a:solidFill>
                  <a:latin typeface="+mn-lt"/>
                  <a:ea typeface="+mn-ea"/>
                  <a:cs typeface="+mn-cs"/>
                </a:rPr>
                <a:t>recipe that likely transfers</a:t>
              </a:r>
            </a:p>
          </p:txBody>
        </p:sp>
        <p:sp>
          <p:nvSpPr>
            <p:cNvPr id="47" name="TextBox 47"/>
            <p:cNvSpPr txBox="1"/>
            <p:nvPr/>
          </p:nvSpPr>
          <p:spPr>
            <a:xfrm>
              <a:off x="8241411" y="5389721"/>
              <a:ext cx="2576027" cy="278702"/>
            </a:xfrm>
            <a:prstGeom prst="rect">
              <a:avLst/>
            </a:prstGeom>
            <a:noFill/>
            <a:ln>
              <a:noFill/>
            </a:ln>
          </p:spPr>
          <p:txBody>
            <a:bodyPr wrap="none" lIns="0" tIns="0" rIns="0" bIns="0" anchor="t" anchorCtr="0">
              <a:spAutoFit/>
            </a:bodyPr>
            <a:lstStyle/>
            <a:p>
              <a:pPr algn="l"/>
              <a:r>
                <a:rPr lang="en-US" sz="1420" dirty="0">
                  <a:solidFill>
                    <a:schemeClr val="dk2"/>
                  </a:solidFill>
                  <a:latin typeface="+mn-lt"/>
                  <a:ea typeface="+mn-ea"/>
                  <a:cs typeface="+mn-cs"/>
                </a:rPr>
                <a:t>to many modeling problems.</a:t>
              </a:r>
            </a:p>
          </p:txBody>
        </p:sp>
      </p:grpSp>
      <p:grpSp>
        <p:nvGrpSpPr>
          <p:cNvPr id="52" name="Group 52"/>
          <p:cNvGrpSpPr/>
          <p:nvPr/>
        </p:nvGrpSpPr>
        <p:grpSpPr>
          <a:xfrm>
            <a:off x="756666" y="6477000"/>
            <a:ext cx="10678668" cy="301561"/>
            <a:chOff x="756666" y="6477000"/>
            <a:chExt cx="10678668" cy="301561"/>
          </a:xfrm>
        </p:grpSpPr>
        <p:sp>
          <p:nvSpPr>
            <p:cNvPr id="49" name="Line 49"/>
            <p:cNvSpPr/>
            <p:nvPr/>
          </p:nvSpPr>
          <p:spPr>
            <a:xfrm>
              <a:off x="762000" y="6477000"/>
              <a:ext cx="10668000" cy="9525"/>
            </a:xfrm>
            <a:custGeom>
              <a:avLst/>
              <a:gdLst/>
              <a:ahLst/>
              <a:cxnLst/>
              <a:rect l="l" t="t" r="r" b="b"/>
              <a:pathLst>
                <a:path w="10668000" h="9525">
                  <a:moveTo>
                    <a:pt x="0" y="0"/>
                  </a:moveTo>
                  <a:lnTo>
                    <a:pt x="10668000" y="0"/>
                  </a:lnTo>
                </a:path>
              </a:pathLst>
            </a:custGeom>
            <a:noFill/>
            <a:ln w="9525">
              <a:solidFill>
                <a:schemeClr val="accent4"/>
              </a:solidFill>
            </a:ln>
          </p:spPr>
        </p:sp>
        <p:sp>
          <p:nvSpPr>
            <p:cNvPr id="50" name="TextBox 50"/>
            <p:cNvSpPr txBox="1"/>
            <p:nvPr/>
          </p:nvSpPr>
          <p:spPr>
            <a:xfrm>
              <a:off x="756666" y="6573202"/>
              <a:ext cx="5123146" cy="205359"/>
            </a:xfrm>
            <a:prstGeom prst="rect">
              <a:avLst/>
            </a:prstGeom>
            <a:noFill/>
            <a:ln>
              <a:noFill/>
            </a:ln>
          </p:spPr>
          <p:txBody>
            <a:bodyPr wrap="none" lIns="0" tIns="0" rIns="0" bIns="0" anchor="t" anchorCtr="0">
              <a:spAutoFit/>
            </a:bodyPr>
            <a:lstStyle/>
            <a:p>
              <a:pPr algn="l"/>
              <a:r>
                <a:rPr lang="en-US" sz="1050" dirty="0">
                  <a:solidFill>
                    <a:srgbClr val="6B7E9C"/>
                  </a:solidFill>
                  <a:latin typeface="+mn-lt"/>
                  <a:ea typeface="+mn-ea"/>
                  <a:cs typeface="+mn-cs"/>
                </a:rPr>
                <a:t>SKiNN · Stellar Kinematics Neural Network · github.com/mattgomer/SKiNN</a:t>
              </a:r>
            </a:p>
          </p:txBody>
        </p:sp>
        <p:sp>
          <p:nvSpPr>
            <p:cNvPr id="51" name="TextBox 51"/>
            <p:cNvSpPr txBox="1"/>
            <p:nvPr/>
          </p:nvSpPr>
          <p:spPr>
            <a:xfrm>
              <a:off x="10951140" y="6573202"/>
              <a:ext cx="484194" cy="205359"/>
            </a:xfrm>
            <a:prstGeom prst="rect">
              <a:avLst/>
            </a:prstGeom>
            <a:noFill/>
            <a:ln>
              <a:noFill/>
            </a:ln>
          </p:spPr>
          <p:txBody>
            <a:bodyPr wrap="none" lIns="0" tIns="0" rIns="0" bIns="0" anchor="t" anchorCtr="0">
              <a:spAutoFit/>
            </a:bodyPr>
            <a:lstStyle/>
            <a:p>
              <a:pPr algn="r"/>
              <a:r>
                <a:rPr lang="en-US" sz="1050" dirty="0">
                  <a:solidFill>
                    <a:srgbClr val="6B7E9C"/>
                  </a:solidFill>
                  <a:latin typeface="+mn-lt"/>
                  <a:ea typeface="+mn-ea"/>
                  <a:cs typeface="+mn-cs"/>
                </a:rPr>
                <a:t>10 / 10</a:t>
              </a:r>
            </a:p>
          </p:txBody>
        </p:sp>
      </p:grpSp>
      <p:sp>
        <p:nvSpPr>
          <p:cNvPr id="53" name="cue_s10_c1_takeaway_simple" title="cue_s10_c1_takeaway_simple" descr="cue_s10_c1_takeaway_simple The takeaway is simple."/>
          <p:cNvSpPr/>
          <p:nvPr/>
        </p:nvSpPr>
        <p:spPr>
          <a:xfrm>
            <a:off x="762000" y="1676095"/>
            <a:ext cx="10668000" cy="12193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cue_s10_c2_neural_network_emulate_slow_kinemati" title="cue_s10_c2_neural_network_emulate_slow_kinemati" descr="cue_s10_c2_neural_network_emulate_slow_kinemati By training a neural network to emulate the slow kinematics physics of JAM, SKiNN achieves roughly a three-hundred-fold speedup at sub-percent accuracy in the region that matters."/>
          <p:cNvSpPr/>
          <p:nvPr/>
        </p:nvSpPr>
        <p:spPr>
          <a:xfrm>
            <a:off x="762000" y="3124504"/>
            <a:ext cx="3400348" cy="25909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cue_s10_c3_removes_main_computational_bottlenec" title="cue_s10_c3_removes_main_computational_bottlenec" descr="cue_s10_c3_removes_main_computational_bottlenec This removes the main computational bottleneck and makes it feasible to jointly model gravitational lensing together with spatially resolved kinematics, which corrects for the largest source of uncertainty in measuring the Hubble constant."/>
          <p:cNvSpPr/>
          <p:nvPr/>
        </p:nvSpPr>
        <p:spPr>
          <a:xfrm>
            <a:off x="4391558" y="3124504"/>
            <a:ext cx="3400348" cy="25909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cue_s10_c4_more_broadly_strategy_swapping_expen" title="cue_s10_c4_more_broadly_strategy_swapping_expen" descr="cue_s10_c4_more_broadly_strategy_swapping_expen More broadly, the strategy of swapping an expensive but calculable model piece for a trained neural network, while keeping the surrounding physics intact, likely transfers to many other scientific modeling problems."/>
          <p:cNvSpPr/>
          <p:nvPr/>
        </p:nvSpPr>
        <p:spPr>
          <a:xfrm>
            <a:off x="8019897" y="3124504"/>
            <a:ext cx="3410102" cy="25909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skinn_deck">
  <a:themeElements>
    <a:clrScheme name="skinn_deck">
      <a:dk1>
        <a:srgbClr val="EAF1FB"/>
      </a:dk1>
      <a:lt1>
        <a:srgbClr val="0B1220"/>
      </a:lt1>
      <a:dk2>
        <a:srgbClr val="9DB0CC"/>
      </a:dk2>
      <a:lt2>
        <a:srgbClr val="16233B"/>
      </a:lt2>
      <a:accent1>
        <a:srgbClr val="FF7A3D"/>
      </a:accent1>
      <a:accent2>
        <a:srgbClr val="FF9B66"/>
      </a:accent2>
      <a:accent3>
        <a:srgbClr val="4F9DFF"/>
      </a:accent3>
      <a:accent4>
        <a:srgbClr val="2A3B57"/>
      </a:accent4>
      <a:accent5>
        <a:srgbClr val="10203A"/>
      </a:accent5>
      <a:accent6>
        <a:srgbClr val="16233B"/>
      </a:accent6>
      <a:hlink>
        <a:srgbClr val="FF9B66"/>
      </a:hlink>
      <a:folHlink>
        <a:srgbClr val="4F9DFF"/>
      </a:folHlink>
    </a:clrScheme>
    <a:fontScheme name="skinn_deck">
      <a:majorFont>
        <a:latin typeface="Segoe UI"/>
        <a:ea typeface="Microsoft YaHei"/>
        <a:cs typeface="Segoe UI"/>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Microsoft YaHei"/>
        <a:cs typeface="Segoe UI"/>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kinn_deck">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skinn_deck">
  <a:themeElements>
    <a:clrScheme name="skinn_deck">
      <a:dk1>
        <a:srgbClr val="EAF1FB"/>
      </a:dk1>
      <a:lt1>
        <a:srgbClr val="0B1220"/>
      </a:lt1>
      <a:dk2>
        <a:srgbClr val="9DB0CC"/>
      </a:dk2>
      <a:lt2>
        <a:srgbClr val="16233B"/>
      </a:lt2>
      <a:accent1>
        <a:srgbClr val="FF7A3D"/>
      </a:accent1>
      <a:accent2>
        <a:srgbClr val="FF9B66"/>
      </a:accent2>
      <a:accent3>
        <a:srgbClr val="4F9DFF"/>
      </a:accent3>
      <a:accent4>
        <a:srgbClr val="2A3B57"/>
      </a:accent4>
      <a:accent5>
        <a:srgbClr val="10203A"/>
      </a:accent5>
      <a:accent6>
        <a:srgbClr val="16233B"/>
      </a:accent6>
      <a:hlink>
        <a:srgbClr val="FF9B66"/>
      </a:hlink>
      <a:folHlink>
        <a:srgbClr val="4F9DFF"/>
      </a:folHlink>
    </a:clrScheme>
    <a:fontScheme name="skinn_deck">
      <a:majorFont>
        <a:latin typeface="Segoe UI"/>
        <a:ea typeface="Microsoft YaHei"/>
        <a:cs typeface="Segoe UI"/>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Microsoft YaHei"/>
        <a:cs typeface="Segoe UI"/>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kinn_deck">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2026-07-15T01:23:17Z</dcterms:created>
  <dcterms:modified xsi:type="dcterms:W3CDTF">2026-07-15T01:23:17Z</dcterms:modified>
  <cp:category/>
  <cp:contentStatus/>
</cp:coreProperties>
</file>
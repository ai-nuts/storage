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ec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eck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2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4266" y="572452"/>
            <a:ext cx="9959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ICML 2023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33736" y="572452"/>
            <a:ext cx="20539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University of Michigan · LSE</a:t>
            </a:r>
          </a:p>
        </p:txBody>
      </p:sp>
      <p:sp>
        <p:nvSpPr>
          <p:cNvPr id="4" name="Line 4"/>
          <p:cNvSpPr/>
          <p:nvPr/>
        </p:nvSpPr>
        <p:spPr>
          <a:xfrm>
            <a:off x="609600" y="8382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 cap="rnd">
            <a:solidFill>
              <a:srgbClr val="26455F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94360" y="1104900"/>
            <a:ext cx="727429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 Robust Test for the Stationarity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4360" y="1562100"/>
            <a:ext cx="841552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Assumption in Sequential Decision Making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1599" y="2096929"/>
            <a:ext cx="7583130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b="1" dirty="0">
                <a:solidFill>
                  <a:srgbClr val="34D3C0"/>
                </a:solidFill>
                <a:latin typeface="+mn-lt"/>
                <a:ea typeface="+mn-ea"/>
                <a:cs typeface="+mn-cs"/>
              </a:rPr>
              <a:t>A doubly robust change-point test for offline reinforcement learning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3885" y="2507456"/>
            <a:ext cx="563919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Jitao Wang · Chengchun Shi · Zhenke Wu — U-M Biostatistics &amp; LSE Statistics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09600" y="2971800"/>
            <a:ext cx="5334000" cy="1123950"/>
            <a:chOff x="609600" y="2971800"/>
            <a:chExt cx="5334000" cy="1123950"/>
          </a:xfrm>
        </p:grpSpPr>
        <p:sp>
          <p:nvSpPr>
            <p:cNvPr id="9" name="Rectangle 9"/>
            <p:cNvSpPr/>
            <p:nvPr/>
          </p:nvSpPr>
          <p:spPr>
            <a:xfrm>
              <a:off x="609600" y="2971800"/>
              <a:ext cx="5334000" cy="1123950"/>
            </a:xfrm>
            <a:prstGeom prst="roundRect">
              <a:avLst>
                <a:gd name="adj" fmla="val 11864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2971800"/>
              <a:ext cx="57150" cy="11239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69442" y="3168968"/>
              <a:ext cx="20711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hidden assumption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1156" y="3453051"/>
              <a:ext cx="4671977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Almost every RL algorithm assumes the world never changes. In mobile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1156" y="3643551"/>
              <a:ext cx="4435987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health, traffic, and robotics that stationarity quietly breaks and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1156" y="3834051"/>
              <a:ext cx="126117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poisons the policy.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248400" y="2971800"/>
            <a:ext cx="5334000" cy="1123950"/>
            <a:chOff x="6248400" y="2971800"/>
            <a:chExt cx="5334000" cy="1123950"/>
          </a:xfrm>
        </p:grpSpPr>
        <p:sp>
          <p:nvSpPr>
            <p:cNvPr id="16" name="Rectangle 16"/>
            <p:cNvSpPr/>
            <p:nvPr/>
          </p:nvSpPr>
          <p:spPr>
            <a:xfrm>
              <a:off x="6248400" y="2971800"/>
              <a:ext cx="5334000" cy="1123950"/>
            </a:xfrm>
            <a:prstGeom prst="roundRect">
              <a:avLst>
                <a:gd name="adj" fmla="val 11864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248400" y="2971800"/>
              <a:ext cx="57150" cy="1123950"/>
            </a:xfrm>
            <a:prstGeom prst="roundRect">
              <a:avLst>
                <a:gd name="adj" fmla="val 5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08242" y="3168968"/>
              <a:ext cx="19283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doubly robust test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09956" y="3453051"/>
              <a:ext cx="477112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statistical test checks whether an offline Markov decision process is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09956" y="3643551"/>
              <a:ext cx="418444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actually stationary, and pinpoints where the dynamics change.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9600" y="4305300"/>
            <a:ext cx="5334000" cy="1123950"/>
            <a:chOff x="609600" y="4305300"/>
            <a:chExt cx="5334000" cy="1123950"/>
          </a:xfrm>
        </p:grpSpPr>
        <p:sp>
          <p:nvSpPr>
            <p:cNvPr id="22" name="Rectangle 22"/>
            <p:cNvSpPr/>
            <p:nvPr/>
          </p:nvSpPr>
          <p:spPr>
            <a:xfrm>
              <a:off x="609600" y="4305300"/>
              <a:ext cx="5334000" cy="1123950"/>
            </a:xfrm>
            <a:prstGeom prst="roundRect">
              <a:avLst>
                <a:gd name="adj" fmla="val 11864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09600" y="4305300"/>
              <a:ext cx="57150" cy="1123950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9442" y="4502468"/>
              <a:ext cx="25071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ML meets semiparametrics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71156" y="4786551"/>
              <a:ext cx="460553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It pairs flexible ML estimators with semiparametric statistics, so it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1156" y="4977051"/>
              <a:ext cx="437480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controls false alarms yet stays powerful even in high dimensions.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248400" y="4305300"/>
            <a:ext cx="5334000" cy="1123950"/>
            <a:chOff x="6248400" y="4305300"/>
            <a:chExt cx="5334000" cy="1123950"/>
          </a:xfrm>
        </p:grpSpPr>
        <p:sp>
          <p:nvSpPr>
            <p:cNvPr id="28" name="Rectangle 28"/>
            <p:cNvSpPr/>
            <p:nvPr/>
          </p:nvSpPr>
          <p:spPr>
            <a:xfrm>
              <a:off x="6248400" y="4305300"/>
              <a:ext cx="5334000" cy="1123950"/>
            </a:xfrm>
            <a:prstGeom prst="roundRect">
              <a:avLst>
                <a:gd name="adj" fmla="val 11864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48400" y="4305300"/>
              <a:ext cx="57150" cy="1123950"/>
            </a:xfrm>
            <a:prstGeom prst="roundRect">
              <a:avLst>
                <a:gd name="adj" fmla="val 50000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08242" y="4502468"/>
              <a:ext cx="20240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Detect, then recover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09956" y="4786551"/>
              <a:ext cx="470562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Across four simulations and a real intern health study, it finds change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09956" y="4977051"/>
              <a:ext cx="381734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points others miss and lets policies recover lost reward.</a:t>
              </a:r>
            </a:p>
          </p:txBody>
        </p:sp>
      </p:grpSp>
      <p:sp>
        <p:nvSpPr>
          <p:cNvPr id="34" name="Line 34"/>
          <p:cNvSpPr/>
          <p:nvPr/>
        </p:nvSpPr>
        <p:spPr>
          <a:xfrm>
            <a:off x="609600" y="5772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 cap="rnd">
            <a:solidFill>
              <a:srgbClr val="26455F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04266" y="6001702"/>
            <a:ext cx="28913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github.com/jtwang95/Double_CUSUM_RL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328666" y="6001702"/>
            <a:ext cx="540834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Is your offline MDP really stationary? Test it before you trust the policy.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75335" y="564356"/>
            <a:ext cx="88279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PROBLEM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6536999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One fragile assumption under every policy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609600" y="1504950"/>
            <a:ext cx="3848100" cy="3733800"/>
            <a:chOff x="609600" y="1504950"/>
            <a:chExt cx="3848100" cy="3733800"/>
          </a:xfrm>
        </p:grpSpPr>
        <p:sp>
          <p:nvSpPr>
            <p:cNvPr id="5" name="Rectangle 5"/>
            <p:cNvSpPr/>
            <p:nvPr/>
          </p:nvSpPr>
          <p:spPr>
            <a:xfrm>
              <a:off x="609600" y="1504950"/>
              <a:ext cx="3848100" cy="3733800"/>
            </a:xfrm>
            <a:prstGeom prst="roundRect">
              <a:avLst>
                <a:gd name="adj" fmla="val 3571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504950"/>
              <a:ext cx="57150" cy="37338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9442" y="1778318"/>
              <a:ext cx="26211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RL chases the optimal policy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70585" y="2164556"/>
              <a:ext cx="26173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Agents are trained to find the best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0585" y="2393156"/>
              <a:ext cx="2408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possible policy, but nearly every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70585" y="2621756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algorithm leans on one fragile premise.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76300" y="3200400"/>
              <a:ext cx="3276600" cy="1143000"/>
            </a:xfrm>
            <a:prstGeom prst="roundRect">
              <a:avLst>
                <a:gd name="adj" fmla="val 8333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62038" y="3346847"/>
              <a:ext cx="151748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b="1" dirty="0">
                  <a:solidFill>
                    <a:srgbClr val="6E869C"/>
                  </a:solidFill>
                  <a:latin typeface="+mn-lt"/>
                  <a:ea typeface="+mn-ea"/>
                  <a:cs typeface="+mn-cs"/>
                </a:rPr>
                <a:t>Assumed: a frozen MDP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1219200" y="3810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90453" y="386667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B1B2B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485900" y="3924300"/>
              <a:ext cx="723900" cy="9525"/>
            </a:xfrm>
            <a:custGeom>
              <a:avLst/>
              <a:gdLst/>
              <a:ahLst/>
              <a:cxnLst/>
              <a:rect l="l" t="t" r="r" b="b"/>
              <a:pathLst>
                <a:path w="723900" h="9525">
                  <a:moveTo>
                    <a:pt x="0" y="0"/>
                  </a:moveTo>
                  <a:lnTo>
                    <a:pt x="723900" y="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549709" y="3735943"/>
              <a:ext cx="596282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P, R fixed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2286000" y="3810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325569" y="387477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B1B2B"/>
                  </a:solidFill>
                  <a:latin typeface="+mn-lt"/>
                  <a:ea typeface="+mn-ea"/>
                  <a:cs typeface="+mn-cs"/>
                </a:rPr>
                <a:t>s'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2552700" y="3924300"/>
              <a:ext cx="723900" cy="9525"/>
            </a:xfrm>
            <a:custGeom>
              <a:avLst/>
              <a:gdLst/>
              <a:ahLst/>
              <a:cxnLst/>
              <a:rect l="l" t="t" r="r" b="b"/>
              <a:pathLst>
                <a:path w="723900" h="9525">
                  <a:moveTo>
                    <a:pt x="0" y="0"/>
                  </a:moveTo>
                  <a:lnTo>
                    <a:pt x="723900" y="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3352800" y="38100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71156" y="4672251"/>
              <a:ext cx="353003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Transition P and reward R never change with time.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762500" y="1504950"/>
            <a:ext cx="6819900" cy="1181147"/>
            <a:chOff x="4762500" y="1504950"/>
            <a:chExt cx="6819900" cy="1181147"/>
          </a:xfrm>
        </p:grpSpPr>
        <p:sp>
          <p:nvSpPr>
            <p:cNvPr id="23" name="Rectangle 23"/>
            <p:cNvSpPr/>
            <p:nvPr/>
          </p:nvSpPr>
          <p:spPr>
            <a:xfrm>
              <a:off x="4762500" y="1504950"/>
              <a:ext cx="6819900" cy="1181100"/>
            </a:xfrm>
            <a:prstGeom prst="roundRect">
              <a:avLst>
                <a:gd name="adj" fmla="val 11290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762500" y="1504950"/>
              <a:ext cx="57150" cy="1181100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022723" y="1729264"/>
              <a:ext cx="25154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The stationarity assumption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023676" y="2035254"/>
              <a:ext cx="4982903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It requires the state-transition function and the reward function to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023676" y="2244804"/>
              <a:ext cx="4713931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stay exactly the same at every time step over the whole horizon.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023676" y="2473404"/>
              <a:ext cx="2073587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b="1" dirty="0">
                  <a:solidFill>
                    <a:srgbClr val="F2C14E"/>
                  </a:solidFill>
                  <a:latin typeface="Consolas"/>
                  <a:ea typeface="Consolas"/>
                  <a:cs typeface="Consolas"/>
                </a:rPr>
                <a:t>P_t = P and R_t = R for all t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762500" y="2800350"/>
            <a:ext cx="6819900" cy="1047750"/>
            <a:chOff x="4762500" y="2800350"/>
            <a:chExt cx="6819900" cy="1047750"/>
          </a:xfrm>
        </p:grpSpPr>
        <p:sp>
          <p:nvSpPr>
            <p:cNvPr id="30" name="Rectangle 30"/>
            <p:cNvSpPr/>
            <p:nvPr/>
          </p:nvSpPr>
          <p:spPr>
            <a:xfrm>
              <a:off x="4762500" y="2800350"/>
              <a:ext cx="6819900" cy="1047750"/>
            </a:xfrm>
            <a:prstGeom prst="roundRect">
              <a:avLst>
                <a:gd name="adj" fmla="val 12727"/>
              </a:avLst>
            </a:prstGeom>
            <a:solidFill>
              <a:srgbClr val="2A1720"/>
            </a:solidFill>
            <a:ln w="14288">
              <a:solidFill>
                <a:srgbClr val="F2685C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4762500" y="2800350"/>
              <a:ext cx="57150" cy="1047750"/>
            </a:xfrm>
            <a:prstGeom prst="roundRect">
              <a:avLst>
                <a:gd name="adj" fmla="val 50000"/>
              </a:avLst>
            </a:prstGeom>
            <a:solidFill>
              <a:srgbClr val="F2685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023104" y="3032760"/>
              <a:ext cx="2621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2685C"/>
                  </a:solidFill>
                  <a:latin typeface="+mn-lt"/>
                  <a:ea typeface="+mn-ea"/>
                  <a:cs typeface="+mn-cs"/>
                </a:rPr>
                <a:t>In the real world it rarely holds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023676" y="3330654"/>
              <a:ext cx="5202973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Robotics, healthcare, and digital marketing all drift over long horizons,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023676" y="3540204"/>
              <a:ext cx="3664770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 a frozen policy turns suboptimal, even harmful.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762500" y="3962400"/>
            <a:ext cx="6819900" cy="1276350"/>
            <a:chOff x="4762500" y="3962400"/>
            <a:chExt cx="6819900" cy="1276350"/>
          </a:xfrm>
        </p:grpSpPr>
        <p:sp>
          <p:nvSpPr>
            <p:cNvPr id="36" name="Rectangle 36"/>
            <p:cNvSpPr/>
            <p:nvPr/>
          </p:nvSpPr>
          <p:spPr>
            <a:xfrm>
              <a:off x="4762500" y="3962400"/>
              <a:ext cx="6819900" cy="1276350"/>
            </a:xfrm>
            <a:prstGeom prst="roundRect">
              <a:avLst>
                <a:gd name="adj" fmla="val 10448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4762500" y="3962400"/>
              <a:ext cx="57150" cy="12763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023104" y="4194810"/>
              <a:ext cx="26893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question this paper answers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023676" y="4492704"/>
              <a:ext cx="5195709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Before you trust the policy an offline system produced, can you reliably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023676" y="4702254"/>
              <a:ext cx="4926698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tell whether that system was actually stationary in the first place?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023866" y="5030152"/>
              <a:ext cx="40232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Test stationarity -&gt; then trust (or relearn) the policy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75335" y="564356"/>
            <a:ext cx="118883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MOTIVATION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5424532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Why non-stationarity matters now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09600" y="1504950"/>
            <a:ext cx="5334000" cy="3733800"/>
            <a:chOff x="609600" y="1504950"/>
            <a:chExt cx="5334000" cy="3733800"/>
          </a:xfrm>
        </p:grpSpPr>
        <p:sp>
          <p:nvSpPr>
            <p:cNvPr id="5" name="Rectangle 5"/>
            <p:cNvSpPr/>
            <p:nvPr/>
          </p:nvSpPr>
          <p:spPr>
            <a:xfrm>
              <a:off x="609600" y="1504950"/>
              <a:ext cx="5334000" cy="3733800"/>
            </a:xfrm>
            <a:prstGeom prst="roundRect">
              <a:avLst>
                <a:gd name="adj" fmla="val 3571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504950"/>
              <a:ext cx="57150" cy="3733800"/>
            </a:xfrm>
            <a:prstGeom prst="roundRect">
              <a:avLst>
                <a:gd name="adj" fmla="val 5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9442" y="1740218"/>
              <a:ext cx="22137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The Intern Health Study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70776" y="2073354"/>
              <a:ext cx="3112043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year-long mobile-health trial that nudges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0776" y="2282904"/>
              <a:ext cx="3664770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first-year physicians toward healthier habits with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70776" y="2492454"/>
              <a:ext cx="1397702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push notifications.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76300" y="3028950"/>
              <a:ext cx="4800600" cy="1428750"/>
            </a:xfrm>
            <a:prstGeom prst="roundRect">
              <a:avLst>
                <a:gd name="adj" fmla="val 5333"/>
              </a:avLst>
            </a:prstGeom>
            <a:solidFill>
              <a:srgbClr val="0E2334"/>
            </a:solidFill>
            <a:ln w="14288">
              <a:solidFill>
                <a:srgbClr val="26455F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028700" y="4267200"/>
              <a:ext cx="4533900" cy="9525"/>
            </a:xfrm>
            <a:custGeom>
              <a:avLst/>
              <a:gdLst/>
              <a:ahLst/>
              <a:cxnLst/>
              <a:rect l="l" t="t" r="r" b="b"/>
              <a:pathLst>
                <a:path w="4533900" h="9525">
                  <a:moveTo>
                    <a:pt x="0" y="0"/>
                  </a:moveTo>
                  <a:lnTo>
                    <a:pt x="4533900" y="0"/>
                  </a:lnTo>
                </a:path>
              </a:pathLst>
            </a:custGeom>
            <a:noFill/>
            <a:ln w="14288" cap="rnd">
              <a:solidFill>
                <a:srgbClr val="26455F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028700" y="3162300"/>
              <a:ext cx="9525" cy="1104900"/>
            </a:xfrm>
            <a:custGeom>
              <a:avLst/>
              <a:gdLst/>
              <a:ahLst/>
              <a:cxnLst/>
              <a:rect l="l" t="t" r="r" b="b"/>
              <a:pathLst>
                <a:path w="9525" h="1104900">
                  <a:moveTo>
                    <a:pt x="0" y="0"/>
                  </a:moveTo>
                  <a:lnTo>
                    <a:pt x="0" y="1104900"/>
                  </a:lnTo>
                </a:path>
              </a:pathLst>
            </a:custGeom>
            <a:noFill/>
            <a:ln w="14288" cap="rnd">
              <a:solidFill>
                <a:srgbClr val="26455F"/>
              </a:solidFill>
            </a:ln>
          </p:spPr>
        </p:sp>
        <p:sp>
          <p:nvSpPr>
            <p:cNvPr id="14" name="Polyline 14"/>
            <p:cNvSpPr/>
            <p:nvPr/>
          </p:nvSpPr>
          <p:spPr>
            <a:xfrm>
              <a:off x="1085850" y="3238500"/>
              <a:ext cx="4381500" cy="881062"/>
            </a:xfrm>
            <a:custGeom>
              <a:avLst/>
              <a:gdLst/>
              <a:ahLst/>
              <a:cxnLst/>
              <a:rect l="l" t="t" r="r" b="b"/>
              <a:pathLst>
                <a:path w="4381500" h="881062">
                  <a:moveTo>
                    <a:pt x="0" y="0"/>
                  </a:moveTo>
                  <a:lnTo>
                    <a:pt x="95250" y="46672"/>
                  </a:lnTo>
                  <a:lnTo>
                    <a:pt x="190500" y="90488"/>
                  </a:lnTo>
                  <a:lnTo>
                    <a:pt x="285750" y="132397"/>
                  </a:lnTo>
                  <a:lnTo>
                    <a:pt x="381000" y="172403"/>
                  </a:lnTo>
                  <a:lnTo>
                    <a:pt x="476250" y="210503"/>
                  </a:lnTo>
                  <a:lnTo>
                    <a:pt x="571500" y="246697"/>
                  </a:lnTo>
                  <a:lnTo>
                    <a:pt x="666750" y="281940"/>
                  </a:lnTo>
                  <a:lnTo>
                    <a:pt x="762000" y="315278"/>
                  </a:lnTo>
                  <a:lnTo>
                    <a:pt x="857250" y="346710"/>
                  </a:lnTo>
                  <a:lnTo>
                    <a:pt x="952500" y="376238"/>
                  </a:lnTo>
                  <a:lnTo>
                    <a:pt x="1047750" y="404812"/>
                  </a:lnTo>
                  <a:lnTo>
                    <a:pt x="1143000" y="432435"/>
                  </a:lnTo>
                  <a:lnTo>
                    <a:pt x="1238250" y="459105"/>
                  </a:lnTo>
                  <a:lnTo>
                    <a:pt x="1333500" y="483870"/>
                  </a:lnTo>
                  <a:lnTo>
                    <a:pt x="1428750" y="506730"/>
                  </a:lnTo>
                  <a:lnTo>
                    <a:pt x="1524000" y="529590"/>
                  </a:lnTo>
                  <a:lnTo>
                    <a:pt x="1619250" y="551497"/>
                  </a:lnTo>
                  <a:lnTo>
                    <a:pt x="1714500" y="571500"/>
                  </a:lnTo>
                  <a:lnTo>
                    <a:pt x="1809750" y="591503"/>
                  </a:lnTo>
                  <a:lnTo>
                    <a:pt x="1905000" y="609600"/>
                  </a:lnTo>
                  <a:lnTo>
                    <a:pt x="2000250" y="627697"/>
                  </a:lnTo>
                  <a:lnTo>
                    <a:pt x="2095500" y="644842"/>
                  </a:lnTo>
                  <a:lnTo>
                    <a:pt x="2190750" y="661035"/>
                  </a:lnTo>
                  <a:lnTo>
                    <a:pt x="2286000" y="676275"/>
                  </a:lnTo>
                  <a:lnTo>
                    <a:pt x="2381250" y="690562"/>
                  </a:lnTo>
                  <a:lnTo>
                    <a:pt x="2476500" y="704850"/>
                  </a:lnTo>
                  <a:lnTo>
                    <a:pt x="2571750" y="718185"/>
                  </a:lnTo>
                  <a:lnTo>
                    <a:pt x="2667000" y="730567"/>
                  </a:lnTo>
                  <a:lnTo>
                    <a:pt x="2762250" y="742950"/>
                  </a:lnTo>
                  <a:lnTo>
                    <a:pt x="2857500" y="754380"/>
                  </a:lnTo>
                  <a:lnTo>
                    <a:pt x="2952750" y="765810"/>
                  </a:lnTo>
                  <a:lnTo>
                    <a:pt x="3048000" y="776288"/>
                  </a:lnTo>
                  <a:lnTo>
                    <a:pt x="3143250" y="785812"/>
                  </a:lnTo>
                  <a:lnTo>
                    <a:pt x="3238500" y="795338"/>
                  </a:lnTo>
                  <a:lnTo>
                    <a:pt x="3333750" y="804862"/>
                  </a:lnTo>
                  <a:lnTo>
                    <a:pt x="3429000" y="813435"/>
                  </a:lnTo>
                  <a:lnTo>
                    <a:pt x="3524250" y="822008"/>
                  </a:lnTo>
                  <a:lnTo>
                    <a:pt x="3619500" y="829628"/>
                  </a:lnTo>
                  <a:lnTo>
                    <a:pt x="3714750" y="837247"/>
                  </a:lnTo>
                  <a:lnTo>
                    <a:pt x="3810000" y="843915"/>
                  </a:lnTo>
                  <a:lnTo>
                    <a:pt x="3905250" y="851535"/>
                  </a:lnTo>
                  <a:lnTo>
                    <a:pt x="4000500" y="857250"/>
                  </a:lnTo>
                  <a:lnTo>
                    <a:pt x="4095750" y="863917"/>
                  </a:lnTo>
                  <a:lnTo>
                    <a:pt x="4191000" y="869633"/>
                  </a:lnTo>
                  <a:lnTo>
                    <a:pt x="4286250" y="875347"/>
                  </a:lnTo>
                  <a:lnTo>
                    <a:pt x="4381500" y="881062"/>
                  </a:lnTo>
                </a:path>
              </a:pathLst>
            </a:custGeom>
            <a:noFill/>
            <a:ln w="24765">
              <a:solidFill>
                <a:srgbClr val="F2C14E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3495675" y="3181350"/>
              <a:ext cx="9525" cy="1085850"/>
            </a:xfrm>
            <a:custGeom>
              <a:avLst/>
              <a:gdLst/>
              <a:ahLst/>
              <a:cxnLst/>
              <a:rect l="l" t="t" r="r" b="b"/>
              <a:pathLst>
                <a:path w="9525" h="1085850">
                  <a:moveTo>
                    <a:pt x="0" y="0"/>
                  </a:moveTo>
                  <a:lnTo>
                    <a:pt x="0" y="1085850"/>
                  </a:lnTo>
                </a:path>
              </a:pathLst>
            </a:custGeom>
            <a:noFill/>
            <a:ln w="15240" cap="rnd">
              <a:solidFill>
                <a:srgbClr val="F2685C"/>
              </a:solidFill>
              <a:prstDash val="dash"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99665" y="3054191"/>
              <a:ext cx="3920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F2685C"/>
                  </a:solidFill>
                  <a:latin typeface="+mn-lt"/>
                  <a:ea typeface="+mn-ea"/>
                  <a:cs typeface="+mn-cs"/>
                </a:rPr>
                <a:t>change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1088" y="3221593"/>
              <a:ext cx="781443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6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nudge effect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034588" y="4311491"/>
              <a:ext cx="5137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b="1" dirty="0">
                  <a:solidFill>
                    <a:srgbClr val="6E869C"/>
                  </a:solidFill>
                  <a:latin typeface="+mn-lt"/>
                  <a:ea typeface="+mn-ea"/>
                  <a:cs typeface="+mn-cs"/>
                </a:rPr>
                <a:t>weeks -&gt;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1156" y="4672251"/>
              <a:ext cx="315604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A textbook case of drift over a long horizon.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172200" y="1504950"/>
            <a:ext cx="5410200" cy="1162097"/>
            <a:chOff x="6172200" y="1504950"/>
            <a:chExt cx="5410200" cy="1162097"/>
          </a:xfrm>
        </p:grpSpPr>
        <p:sp>
          <p:nvSpPr>
            <p:cNvPr id="21" name="Rectangle 21"/>
            <p:cNvSpPr/>
            <p:nvPr/>
          </p:nvSpPr>
          <p:spPr>
            <a:xfrm>
              <a:off x="6172200" y="1504950"/>
              <a:ext cx="5410200" cy="1143000"/>
            </a:xfrm>
            <a:prstGeom prst="roundRect">
              <a:avLst>
                <a:gd name="adj" fmla="val 11667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172200" y="1504950"/>
              <a:ext cx="57150" cy="1143000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32804" y="1737360"/>
              <a:ext cx="22994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The effect wanes over time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33376" y="2035254"/>
              <a:ext cx="3435086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Nudge effectiveness fades as the year goes on.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33376" y="2244804"/>
              <a:ext cx="3904439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Traffic-signal control shows the same drift, swinging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33376" y="2454354"/>
              <a:ext cx="2388169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between peak and off-peak flow.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172200" y="2762250"/>
            <a:ext cx="5410200" cy="1104900"/>
            <a:chOff x="6172200" y="2762250"/>
            <a:chExt cx="5410200" cy="1104900"/>
          </a:xfrm>
        </p:grpSpPr>
        <p:sp>
          <p:nvSpPr>
            <p:cNvPr id="28" name="Rectangle 28"/>
            <p:cNvSpPr/>
            <p:nvPr/>
          </p:nvSpPr>
          <p:spPr>
            <a:xfrm>
              <a:off x="6172200" y="2762250"/>
              <a:ext cx="5410200" cy="1104900"/>
            </a:xfrm>
            <a:prstGeom prst="roundRect">
              <a:avLst>
                <a:gd name="adj" fmla="val 12069"/>
              </a:avLst>
            </a:prstGeom>
            <a:solidFill>
              <a:srgbClr val="2A1720"/>
            </a:solidFill>
            <a:ln w="14288">
              <a:solidFill>
                <a:srgbClr val="F2685C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172200" y="2762250"/>
              <a:ext cx="57150" cy="1104900"/>
            </a:xfrm>
            <a:prstGeom prst="roundRect">
              <a:avLst>
                <a:gd name="adj" fmla="val 50000"/>
              </a:avLst>
            </a:prstGeom>
            <a:solidFill>
              <a:srgbClr val="F2685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32804" y="2994660"/>
              <a:ext cx="22479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2685C"/>
                  </a:solidFill>
                  <a:latin typeface="+mn-lt"/>
                  <a:ea typeface="+mn-ea"/>
                  <a:cs typeface="+mn-cs"/>
                </a:rPr>
                <a:t>Ignoring the shift is costly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33376" y="3292554"/>
              <a:ext cx="4374137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stationary policy sends prompts at the wrong moments and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33376" y="3502104"/>
              <a:ext cx="4376439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steadily erodes the long-term reward it was meant to raise.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172200" y="3981450"/>
            <a:ext cx="5410200" cy="1257300"/>
            <a:chOff x="6172200" y="3981450"/>
            <a:chExt cx="5410200" cy="1257300"/>
          </a:xfrm>
        </p:grpSpPr>
        <p:sp>
          <p:nvSpPr>
            <p:cNvPr id="34" name="Rectangle 34"/>
            <p:cNvSpPr/>
            <p:nvPr/>
          </p:nvSpPr>
          <p:spPr>
            <a:xfrm>
              <a:off x="6172200" y="3981450"/>
              <a:ext cx="5410200" cy="1257300"/>
            </a:xfrm>
            <a:prstGeom prst="roundRect">
              <a:avLst>
                <a:gd name="adj" fmla="val 10606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172200" y="3981450"/>
              <a:ext cx="57150" cy="12573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32804" y="4213860"/>
              <a:ext cx="19091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Prior tests leave a gap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33376" y="4511754"/>
              <a:ext cx="4381381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Prior tests either need a fully known model, or lean on linear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33376" y="4721304"/>
              <a:ext cx="3297931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approximations that break in high dimensions.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33756" y="5034201"/>
              <a:ext cx="285451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known model X linear approx X (high-dim)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75335" y="564356"/>
            <a:ext cx="139286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CONTRIBUTION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5248892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 doubly robust stationarity test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09600" y="1714500"/>
            <a:ext cx="3505200" cy="3429000"/>
            <a:chOff x="609600" y="1714500"/>
            <a:chExt cx="3505200" cy="3429000"/>
          </a:xfrm>
        </p:grpSpPr>
        <p:sp>
          <p:nvSpPr>
            <p:cNvPr id="5" name="Rectangle 5"/>
            <p:cNvSpPr/>
            <p:nvPr/>
          </p:nvSpPr>
          <p:spPr>
            <a:xfrm>
              <a:off x="609600" y="1714500"/>
              <a:ext cx="3505200" cy="3429000"/>
            </a:xfrm>
            <a:prstGeom prst="roundRect">
              <a:avLst>
                <a:gd name="adj" fmla="val 3889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714500"/>
              <a:ext cx="3505200" cy="57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857250" y="2133600"/>
              <a:ext cx="495300" cy="495300"/>
            </a:xfrm>
            <a:prstGeom prst="ellipse">
              <a:avLst/>
            </a:pr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12602" y="22498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8680" y="2905125"/>
              <a:ext cx="1665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Test and detect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70585" y="3364706"/>
              <a:ext cx="29718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model-based, doubly robust procedure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0585" y="3583781"/>
              <a:ext cx="2928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that tests the stationarity assumption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0585" y="3802856"/>
              <a:ext cx="26198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and locates change points in offline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0585" y="4021931"/>
              <a:ext cx="17981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reinforcement learning.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343400" y="1714500"/>
            <a:ext cx="3505200" cy="3429000"/>
            <a:chOff x="4343400" y="1714500"/>
            <a:chExt cx="3505200" cy="3429000"/>
          </a:xfrm>
        </p:grpSpPr>
        <p:sp>
          <p:nvSpPr>
            <p:cNvPr id="15" name="Rectangle 15"/>
            <p:cNvSpPr/>
            <p:nvPr/>
          </p:nvSpPr>
          <p:spPr>
            <a:xfrm>
              <a:off x="4343400" y="1714500"/>
              <a:ext cx="3505200" cy="3429000"/>
            </a:xfrm>
            <a:prstGeom prst="roundRect">
              <a:avLst>
                <a:gd name="adj" fmla="val 3889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343400" y="1714500"/>
              <a:ext cx="3505200" cy="57150"/>
            </a:xfrm>
            <a:prstGeom prst="roundRect">
              <a:avLst>
                <a:gd name="adj" fmla="val 5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4591050" y="2133600"/>
              <a:ext cx="495300" cy="495300"/>
            </a:xfrm>
            <a:prstGeom prst="ellipse">
              <a:avLst/>
            </a:prstGeom>
            <a:noFill/>
            <a:ln w="23812">
              <a:solidFill>
                <a:srgbClr val="34D3C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746402" y="22498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02480" y="2905125"/>
              <a:ext cx="18983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Double robustness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04385" y="3364706"/>
              <a:ext cx="2961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Type-I error stays controlled as long as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04385" y="3583781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either the transition function or the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04385" y="3802856"/>
              <a:ext cx="27329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marginal state-action distribution is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04385" y="402193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correctly specified.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077200" y="1714500"/>
            <a:ext cx="3505200" cy="3429000"/>
            <a:chOff x="8077200" y="1714500"/>
            <a:chExt cx="3505200" cy="3429000"/>
          </a:xfrm>
        </p:grpSpPr>
        <p:sp>
          <p:nvSpPr>
            <p:cNvPr id="25" name="Rectangle 25"/>
            <p:cNvSpPr/>
            <p:nvPr/>
          </p:nvSpPr>
          <p:spPr>
            <a:xfrm>
              <a:off x="8077200" y="1714500"/>
              <a:ext cx="3505200" cy="3429000"/>
            </a:xfrm>
            <a:prstGeom prst="roundRect">
              <a:avLst>
                <a:gd name="adj" fmla="val 3889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8077200" y="1714500"/>
              <a:ext cx="3505200" cy="57150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8324850" y="2133600"/>
              <a:ext cx="495300" cy="495300"/>
            </a:xfrm>
            <a:prstGeom prst="ellipse">
              <a:avLst/>
            </a:prstGeom>
            <a:noFill/>
            <a:ln w="23812">
              <a:solidFill>
                <a:srgbClr val="F2C14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80202" y="224980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36280" y="2905125"/>
              <a:ext cx="18466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Theory + p-values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38185" y="3364706"/>
              <a:ext cx="30317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Size control and double robustness under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38185" y="3583781"/>
              <a:ext cx="30017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bidirectional asymptotic framework (N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38185" y="3802856"/>
              <a:ext cx="25630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or T may diverge), with a Gaussian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38185" y="4021931"/>
              <a:ext cx="2348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multiplier bootstrap for honest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38185" y="4241006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p-values.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603694" y="5437108"/>
            <a:ext cx="7461614" cy="2273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60" b="1" dirty="0">
                <a:solidFill>
                  <a:srgbClr val="34D3C0"/>
                </a:solidFill>
                <a:latin typeface="+mn-lt"/>
                <a:ea typeface="+mn-ea"/>
                <a:cs typeface="+mn-cs"/>
              </a:rPr>
              <a:t>Valid inference even when one nuisance model is wrong — that is what doubly robust buys you.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75335" y="564356"/>
            <a:ext cx="7640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METHOD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6088689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CUSUM comparison, made doubly robust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609600" y="1504950"/>
            <a:ext cx="5410200" cy="1958816"/>
            <a:chOff x="609600" y="1504950"/>
            <a:chExt cx="5410200" cy="1958816"/>
          </a:xfrm>
        </p:grpSpPr>
        <p:sp>
          <p:nvSpPr>
            <p:cNvPr id="5" name="Rectangle 5"/>
            <p:cNvSpPr/>
            <p:nvPr/>
          </p:nvSpPr>
          <p:spPr>
            <a:xfrm>
              <a:off x="609600" y="1504950"/>
              <a:ext cx="5410200" cy="1866900"/>
            </a:xfrm>
            <a:prstGeom prst="roundRect">
              <a:avLst>
                <a:gd name="adj" fmla="val 7143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504950"/>
              <a:ext cx="57150" cy="1866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014" y="1733312"/>
              <a:ext cx="2876298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Step 1 · compare before vs after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70966" y="2039302"/>
              <a:ext cx="36977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At each candidate change point t, compare the pooled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0966" y="2239328"/>
              <a:ext cx="40913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transition dynamics before and after t with a CUSUM-style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70966" y="24393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statistic.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76300" y="3181350"/>
              <a:ext cx="3733800" cy="9525"/>
            </a:xfrm>
            <a:custGeom>
              <a:avLst/>
              <a:gdLst/>
              <a:ahLst/>
              <a:cxnLst/>
              <a:rect l="l" t="t" r="r" b="b"/>
              <a:pathLst>
                <a:path w="3733800" h="9525">
                  <a:moveTo>
                    <a:pt x="0" y="0"/>
                  </a:moveTo>
                  <a:lnTo>
                    <a:pt x="3733800" y="0"/>
                  </a:lnTo>
                </a:path>
              </a:pathLst>
            </a:custGeom>
            <a:noFill/>
            <a:ln w="28575" cap="rnd">
              <a:solidFill>
                <a:srgbClr val="26455F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876300" y="3181350"/>
              <a:ext cx="2047875" cy="9525"/>
            </a:xfrm>
            <a:custGeom>
              <a:avLst/>
              <a:gdLst/>
              <a:ahLst/>
              <a:cxnLst/>
              <a:rect l="l" t="t" r="r" b="b"/>
              <a:pathLst>
                <a:path w="2047875" h="9525">
                  <a:moveTo>
                    <a:pt x="0" y="0"/>
                  </a:moveTo>
                  <a:lnTo>
                    <a:pt x="2047875" y="0"/>
                  </a:ln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2924175" y="3181350"/>
              <a:ext cx="1685925" cy="9525"/>
            </a:xfrm>
            <a:custGeom>
              <a:avLst/>
              <a:gdLst/>
              <a:ahLst/>
              <a:cxnLst/>
              <a:rect l="l" t="t" r="r" b="b"/>
              <a:pathLst>
                <a:path w="1685925" h="9525">
                  <a:moveTo>
                    <a:pt x="0" y="0"/>
                  </a:moveTo>
                  <a:lnTo>
                    <a:pt x="1685925" y="0"/>
                  </a:lnTo>
                </a:path>
              </a:pathLst>
            </a:custGeom>
            <a:noFill/>
            <a:ln w="38100" cap="rnd">
              <a:solidFill>
                <a:srgbClr val="F2C14E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2924175" y="2838450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17145" cap="rnd">
              <a:solidFill>
                <a:srgbClr val="F2685C"/>
              </a:solidFill>
              <a:prstDash val="dash"/>
            </a:ln>
          </p:spPr>
        </p:sp>
        <p:sp>
          <p:nvSpPr>
            <p:cNvPr id="15" name="Ellipse 15"/>
            <p:cNvSpPr/>
            <p:nvPr/>
          </p:nvSpPr>
          <p:spPr>
            <a:xfrm>
              <a:off x="2876550" y="3133725"/>
              <a:ext cx="95250" cy="95250"/>
            </a:xfrm>
            <a:prstGeom prst="ellipse">
              <a:avLst/>
            </a:prstGeom>
            <a:solidFill>
              <a:srgbClr val="F2685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613556" y="2874645"/>
              <a:ext cx="54174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 before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52753" y="2874645"/>
              <a:ext cx="4718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P after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97768" y="3301841"/>
              <a:ext cx="6528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F2685C"/>
                  </a:solidFill>
                  <a:latin typeface="+mn-lt"/>
                  <a:ea typeface="+mn-ea"/>
                  <a:cs typeface="+mn-cs"/>
                </a:rPr>
                <a:t>candidate 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57547" y="3114199"/>
              <a:ext cx="4185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same?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3524250"/>
            <a:ext cx="5410200" cy="1714500"/>
            <a:chOff x="609600" y="3524250"/>
            <a:chExt cx="5410200" cy="1714500"/>
          </a:xfrm>
        </p:grpSpPr>
        <p:sp>
          <p:nvSpPr>
            <p:cNvPr id="21" name="Rectangle 21"/>
            <p:cNvSpPr/>
            <p:nvPr/>
          </p:nvSpPr>
          <p:spPr>
            <a:xfrm>
              <a:off x="609600" y="3524250"/>
              <a:ext cx="5410200" cy="1714500"/>
            </a:xfrm>
            <a:prstGeom prst="roundRect">
              <a:avLst>
                <a:gd name="adj" fmla="val 7778"/>
              </a:avLst>
            </a:prstGeom>
            <a:solidFill>
              <a:srgbClr val="2A1720"/>
            </a:solidFill>
            <a:ln w="14288">
              <a:solidFill>
                <a:srgbClr val="F2685C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09600" y="3524250"/>
              <a:ext cx="57150" cy="1714500"/>
            </a:xfrm>
            <a:prstGeom prst="roundRect">
              <a:avLst>
                <a:gd name="adj" fmla="val 50000"/>
              </a:avLst>
            </a:prstGeom>
            <a:solidFill>
              <a:srgbClr val="F2685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70204" y="3756660"/>
              <a:ext cx="23082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2685C"/>
                  </a:solidFill>
                  <a:latin typeface="+mn-lt"/>
                  <a:ea typeface="+mn-ea"/>
                  <a:cs typeface="+mn-cs"/>
                </a:rPr>
                <a:t>Step 2 · kill the plug-in bias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70966" y="4058602"/>
              <a:ext cx="35367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Naively plugging ML estimators into the comparison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70966" y="4258628"/>
              <a:ext cx="39119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introduces heavy bias, so add a mean-zero augmentation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0966" y="4458652"/>
              <a:ext cx="36504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term to get a doubly robust estimating function psi.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76300" y="4819650"/>
              <a:ext cx="4876800" cy="419100"/>
            </a:xfrm>
            <a:prstGeom prst="roundRect">
              <a:avLst>
                <a:gd name="adj" fmla="val 18182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454636" y="4981099"/>
              <a:ext cx="37201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psi = naive + mean-zero correction (E psi = 0 under H0)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248400" y="1504950"/>
            <a:ext cx="5334000" cy="1476422"/>
            <a:chOff x="6248400" y="1504950"/>
            <a:chExt cx="5334000" cy="1476422"/>
          </a:xfrm>
        </p:grpSpPr>
        <p:sp>
          <p:nvSpPr>
            <p:cNvPr id="30" name="Rectangle 30"/>
            <p:cNvSpPr/>
            <p:nvPr/>
          </p:nvSpPr>
          <p:spPr>
            <a:xfrm>
              <a:off x="6248400" y="1504950"/>
              <a:ext cx="53340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48400" y="150495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09004" y="1737360"/>
              <a:ext cx="22103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Step 3 · plug in flexible ML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09766" y="2039302"/>
              <a:ext cx="36553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The correction lets neural nets, random forests, or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09766" y="2239328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lasso estimate the transition and state-action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09766" y="2439352"/>
              <a:ext cx="31133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distributions without spoiling the inference.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515100" y="2686050"/>
              <a:ext cx="4800600" cy="285750"/>
            </a:xfrm>
            <a:prstGeom prst="roundRect">
              <a:avLst>
                <a:gd name="adj" fmla="val 26667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6638925" y="2781300"/>
              <a:ext cx="95250" cy="95250"/>
            </a:xfrm>
            <a:prstGeom prst="ellipse">
              <a:avLst/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33426" y="2768679"/>
              <a:ext cx="2784356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neural nets · random forests · lasso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248400" y="3086100"/>
            <a:ext cx="5334000" cy="1238250"/>
            <a:chOff x="6248400" y="3086100"/>
            <a:chExt cx="5334000" cy="1238250"/>
          </a:xfrm>
        </p:grpSpPr>
        <p:sp>
          <p:nvSpPr>
            <p:cNvPr id="40" name="Rectangle 40"/>
            <p:cNvSpPr/>
            <p:nvPr/>
          </p:nvSpPr>
          <p:spPr>
            <a:xfrm>
              <a:off x="6248400" y="3086100"/>
              <a:ext cx="5334000" cy="1238250"/>
            </a:xfrm>
            <a:prstGeom prst="roundRect">
              <a:avLst>
                <a:gd name="adj" fmla="val 10769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48400" y="3086100"/>
              <a:ext cx="57150" cy="1238250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09004" y="3318510"/>
              <a:ext cx="29275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Step 4 · normalize, then bootstrap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09766" y="3620452"/>
              <a:ext cx="33439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Sample splitting and cross-fitting normalize the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09766" y="3820478"/>
              <a:ext cx="38624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statistic across candidate points and test functions; a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09766" y="4020502"/>
              <a:ext cx="33511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Gaussian multiplier bootstrap gives the p-value.</a:t>
              </a:r>
            </a:p>
          </p:txBody>
        </p:sp>
      </p:grpSp>
      <p:sp>
        <p:nvSpPr>
          <p:cNvPr id="47" name="Rectangle 47"/>
          <p:cNvSpPr/>
          <p:nvPr/>
        </p:nvSpPr>
        <p:spPr>
          <a:xfrm>
            <a:off x="6248400" y="4476750"/>
            <a:ext cx="5334000" cy="762000"/>
          </a:xfrm>
          <a:prstGeom prst="roundRect">
            <a:avLst>
              <a:gd name="adj" fmla="val 15000"/>
            </a:avLst>
          </a:prstGeom>
          <a:solidFill>
            <a:schemeClr val="accent6"/>
          </a:solidFill>
          <a:ln w="14288">
            <a:solidFill>
              <a:schemeClr val="accent2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6248400" y="4476750"/>
            <a:ext cx="57150" cy="762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6510338" y="4623197"/>
            <a:ext cx="936992" cy="1833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4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Test statistic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007986" y="4907756"/>
            <a:ext cx="381482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chemeClr val="dk1"/>
                </a:solidFill>
                <a:latin typeface="Consolas"/>
                <a:ea typeface="Consolas"/>
                <a:cs typeface="Consolas"/>
              </a:rPr>
              <a:t>Gamma = max_t max_h sqrt( t(T-t)/T^2 ) S(t,h)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75335" y="564356"/>
            <a:ext cx="219060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DATASET / BENCHMARK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534414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Four simulations and one real trial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09600" y="1504950"/>
            <a:ext cx="10972800" cy="552450"/>
            <a:chOff x="609600" y="1504950"/>
            <a:chExt cx="10972800" cy="552450"/>
          </a:xfrm>
        </p:grpSpPr>
        <p:sp>
          <p:nvSpPr>
            <p:cNvPr id="5" name="Rectangle 5"/>
            <p:cNvSpPr/>
            <p:nvPr/>
          </p:nvSpPr>
          <p:spPr>
            <a:xfrm>
              <a:off x="609600" y="1504950"/>
              <a:ext cx="10972800" cy="552450"/>
            </a:xfrm>
            <a:prstGeom prst="roundRect">
              <a:avLst>
                <a:gd name="adj" fmla="val 24138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504950"/>
              <a:ext cx="57150" cy="5524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204" y="1708785"/>
              <a:ext cx="97117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method is stress-tested across four numerical studies of rising difficulty, plus one real mobile-health dataset.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9600" y="2286000"/>
            <a:ext cx="5334000" cy="1428750"/>
            <a:chOff x="609600" y="2286000"/>
            <a:chExt cx="5334000" cy="1428750"/>
          </a:xfrm>
        </p:grpSpPr>
        <p:sp>
          <p:nvSpPr>
            <p:cNvPr id="9" name="Rectangle 9"/>
            <p:cNvSpPr/>
            <p:nvPr/>
          </p:nvSpPr>
          <p:spPr>
            <a:xfrm>
              <a:off x="609600" y="2286000"/>
              <a:ext cx="53340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228600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69823" y="2529364"/>
              <a:ext cx="29141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Toy example + high-dim synthetic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0966" y="2858452"/>
              <a:ext cx="43549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discrete-state toy shows double robustness; synthetic data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0966" y="3058478"/>
              <a:ext cx="30567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pushes the state dimension from 1 up to 30.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76300" y="3352800"/>
              <a:ext cx="4457700" cy="285750"/>
            </a:xfrm>
            <a:prstGeom prst="roundRect">
              <a:avLst>
                <a:gd name="adj" fmla="val 26667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000125" y="3448050"/>
              <a:ext cx="95250" cy="95250"/>
            </a:xfrm>
            <a:prstGeom prst="ellipse">
              <a:avLst/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94626" y="3435429"/>
              <a:ext cx="3104710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vs ODCP · vs CUSUM-RL state dim 1 -&gt; 30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248400" y="2286000"/>
            <a:ext cx="5334000" cy="1428750"/>
            <a:chOff x="6248400" y="2286000"/>
            <a:chExt cx="5334000" cy="1428750"/>
          </a:xfrm>
        </p:grpSpPr>
        <p:sp>
          <p:nvSpPr>
            <p:cNvPr id="18" name="Rectangle 18"/>
            <p:cNvSpPr/>
            <p:nvPr/>
          </p:nvSpPr>
          <p:spPr>
            <a:xfrm>
              <a:off x="6248400" y="2286000"/>
              <a:ext cx="53340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248400" y="228600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08623" y="2529364"/>
              <a:ext cx="22265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Grid world + batch-online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09766" y="2858452"/>
              <a:ext cx="39238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4x4 grid world shows change detection improving policy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09766" y="3058478"/>
              <a:ext cx="36221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learning; a batch-online study mimics the real trial.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515100" y="3352800"/>
              <a:ext cx="4457700" cy="285750"/>
            </a:xfrm>
            <a:prstGeom prst="roundRect">
              <a:avLst>
                <a:gd name="adj" fmla="val 26667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6638925" y="3448050"/>
              <a:ext cx="95250" cy="95250"/>
            </a:xfrm>
            <a:prstGeom prst="ellipse">
              <a:avLst/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833426" y="3435429"/>
              <a:ext cx="3339017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4x4 grid world · semi-synthetic online study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9600" y="3905250"/>
            <a:ext cx="10972800" cy="1333500"/>
            <a:chOff x="609600" y="3905250"/>
            <a:chExt cx="10972800" cy="1333500"/>
          </a:xfrm>
        </p:grpSpPr>
        <p:sp>
          <p:nvSpPr>
            <p:cNvPr id="27" name="Rectangle 27"/>
            <p:cNvSpPr/>
            <p:nvPr/>
          </p:nvSpPr>
          <p:spPr>
            <a:xfrm>
              <a:off x="609600" y="3905250"/>
              <a:ext cx="10972800" cy="1333500"/>
            </a:xfrm>
            <a:prstGeom prst="roundRect">
              <a:avLst>
                <a:gd name="adj" fmla="val 10000"/>
              </a:avLst>
            </a:prstGeom>
            <a:solidFill>
              <a:srgbClr val="0F2E2B"/>
            </a:solidFill>
            <a:ln w="14288">
              <a:solidFill>
                <a:srgbClr val="48C78E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09600" y="3905250"/>
              <a:ext cx="57150" cy="1333500"/>
            </a:xfrm>
            <a:prstGeom prst="roundRect">
              <a:avLst>
                <a:gd name="adj" fmla="val 50000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69823" y="4129564"/>
              <a:ext cx="36411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Real data · the Intern Health Study (IHS)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70776" y="4454604"/>
              <a:ext cx="7898790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21-week micro-randomized mobile-health trial of first-year medical interns in the United States, the study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70776" y="4673679"/>
              <a:ext cx="2461537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that motivated the whole method.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71156" y="4996101"/>
              <a:ext cx="499894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rgbClr val="48C78E"/>
                  </a:solidFill>
                  <a:latin typeface="Consolas"/>
                  <a:ea typeface="Consolas"/>
                  <a:cs typeface="Consolas"/>
                </a:rPr>
                <a:t>21 weeks · micro-randomized trial · Internal Medicine &amp; Family Practice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75335" y="564356"/>
            <a:ext cx="11302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KEY RESULT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723691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Robust where baselines break: high dimensions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09600" y="1428750"/>
            <a:ext cx="10972800" cy="476250"/>
            <a:chOff x="609600" y="1428750"/>
            <a:chExt cx="10972800" cy="476250"/>
          </a:xfrm>
        </p:grpSpPr>
        <p:sp>
          <p:nvSpPr>
            <p:cNvPr id="5" name="Rectangle 5"/>
            <p:cNvSpPr/>
            <p:nvPr/>
          </p:nvSpPr>
          <p:spPr>
            <a:xfrm>
              <a:off x="609600" y="1428750"/>
              <a:ext cx="10972800" cy="476250"/>
            </a:xfrm>
            <a:prstGeom prst="roundRect">
              <a:avLst>
                <a:gd name="adj" fmla="val 28000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428750"/>
              <a:ext cx="57150" cy="476250"/>
            </a:xfrm>
            <a:prstGeom prst="roundRect">
              <a:avLst>
                <a:gd name="adj" fmla="val 50000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014" y="1599962"/>
              <a:ext cx="8326498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headline finding is robustness to dimensionality: the test keeps working as the state grows.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09600" y="2038350"/>
            <a:ext cx="5334000" cy="2514600"/>
            <a:chOff x="609600" y="2038350"/>
            <a:chExt cx="5334000" cy="2514600"/>
          </a:xfrm>
        </p:grpSpPr>
        <p:sp>
          <p:nvSpPr>
            <p:cNvPr id="9" name="Rectangle 9"/>
            <p:cNvSpPr/>
            <p:nvPr/>
          </p:nvSpPr>
          <p:spPr>
            <a:xfrm>
              <a:off x="609600" y="2038350"/>
              <a:ext cx="5334000" cy="2514600"/>
            </a:xfrm>
            <a:prstGeom prst="roundRect">
              <a:avLst>
                <a:gd name="adj" fmla="val 5303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2038350"/>
              <a:ext cx="57150" cy="2514600"/>
            </a:xfrm>
            <a:prstGeom prst="roundRect">
              <a:avLst>
                <a:gd name="adj" fmla="val 5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70394" y="2255758"/>
              <a:ext cx="3599974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Correct change-point detection by state dim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14858" y="2637949"/>
              <a:ext cx="3232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dS=1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266286" y="2637949"/>
              <a:ext cx="4016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dS=10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56886" y="2637949"/>
              <a:ext cx="4016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dS=20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247486" y="2637949"/>
              <a:ext cx="4016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dS=30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7356" y="3027093"/>
              <a:ext cx="64289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Proposed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019300" y="2876550"/>
              <a:ext cx="914400" cy="419100"/>
            </a:xfrm>
            <a:prstGeom prst="roundRect">
              <a:avLst>
                <a:gd name="adj" fmla="val 18182"/>
              </a:avLst>
            </a:prstGeom>
            <a:solidFill>
              <a:srgbClr val="0F2E2B"/>
            </a:solidFill>
            <a:ln w="13335">
              <a:solidFill>
                <a:srgbClr val="48C78E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369233" y="3039809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OK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009900" y="2876550"/>
              <a:ext cx="914400" cy="419100"/>
            </a:xfrm>
            <a:prstGeom prst="roundRect">
              <a:avLst>
                <a:gd name="adj" fmla="val 18182"/>
              </a:avLst>
            </a:prstGeom>
            <a:solidFill>
              <a:srgbClr val="0F2E2B"/>
            </a:solidFill>
            <a:ln w="13335">
              <a:solidFill>
                <a:srgbClr val="48C78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359833" y="3039809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OK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000500" y="2876550"/>
              <a:ext cx="914400" cy="419100"/>
            </a:xfrm>
            <a:prstGeom prst="roundRect">
              <a:avLst>
                <a:gd name="adj" fmla="val 18182"/>
              </a:avLst>
            </a:prstGeom>
            <a:solidFill>
              <a:srgbClr val="0F2E2B"/>
            </a:solidFill>
            <a:ln w="13335">
              <a:solidFill>
                <a:srgbClr val="48C78E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350433" y="3039809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OK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991100" y="2876550"/>
              <a:ext cx="914400" cy="419100"/>
            </a:xfrm>
            <a:prstGeom prst="roundRect">
              <a:avLst>
                <a:gd name="adj" fmla="val 18182"/>
              </a:avLst>
            </a:prstGeom>
            <a:solidFill>
              <a:srgbClr val="0F2E2B"/>
            </a:solidFill>
            <a:ln w="13335">
              <a:solidFill>
                <a:srgbClr val="48C78E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341033" y="3039809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OK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7356" y="3522393"/>
              <a:ext cx="70417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CUSUM-RL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019300" y="3371850"/>
              <a:ext cx="914400" cy="419100"/>
            </a:xfrm>
            <a:prstGeom prst="roundRect">
              <a:avLst>
                <a:gd name="adj" fmla="val 18182"/>
              </a:avLst>
            </a:prstGeom>
            <a:solidFill>
              <a:srgbClr val="0F2E2B"/>
            </a:solidFill>
            <a:ln w="13335">
              <a:solidFill>
                <a:srgbClr val="48C78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369233" y="3535109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OK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009900" y="3371850"/>
              <a:ext cx="914400" cy="419100"/>
            </a:xfrm>
            <a:prstGeom prst="roundRect">
              <a:avLst>
                <a:gd name="adj" fmla="val 18182"/>
              </a:avLst>
            </a:prstGeom>
            <a:solidFill>
              <a:srgbClr val="2A1720"/>
            </a:solidFill>
            <a:ln w="13335">
              <a:solidFill>
                <a:srgbClr val="F2685C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335610" y="3535109"/>
              <a:ext cx="2629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2685C"/>
                  </a:solidFill>
                  <a:latin typeface="+mn-lt"/>
                  <a:ea typeface="+mn-ea"/>
                  <a:cs typeface="+mn-cs"/>
                </a:rPr>
                <a:t>fail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000500" y="3371850"/>
              <a:ext cx="914400" cy="419100"/>
            </a:xfrm>
            <a:prstGeom prst="roundRect">
              <a:avLst>
                <a:gd name="adj" fmla="val 18182"/>
              </a:avLst>
            </a:prstGeom>
            <a:solidFill>
              <a:srgbClr val="2A1720"/>
            </a:solidFill>
            <a:ln w="13335">
              <a:solidFill>
                <a:srgbClr val="F2685C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326210" y="3535109"/>
              <a:ext cx="2629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2685C"/>
                  </a:solidFill>
                  <a:latin typeface="+mn-lt"/>
                  <a:ea typeface="+mn-ea"/>
                  <a:cs typeface="+mn-cs"/>
                </a:rPr>
                <a:t>fail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991100" y="3371850"/>
              <a:ext cx="914400" cy="419100"/>
            </a:xfrm>
            <a:prstGeom prst="roundRect">
              <a:avLst>
                <a:gd name="adj" fmla="val 18182"/>
              </a:avLst>
            </a:prstGeom>
            <a:solidFill>
              <a:srgbClr val="2A1720"/>
            </a:solidFill>
            <a:ln w="13335">
              <a:solidFill>
                <a:srgbClr val="F2685C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316810" y="3535109"/>
              <a:ext cx="2629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2685C"/>
                  </a:solidFill>
                  <a:latin typeface="+mn-lt"/>
                  <a:ea typeface="+mn-ea"/>
                  <a:cs typeface="+mn-cs"/>
                </a:rPr>
                <a:t>fail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7356" y="4017693"/>
              <a:ext cx="37231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ODCP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019300" y="3867150"/>
              <a:ext cx="914400" cy="419100"/>
            </a:xfrm>
            <a:prstGeom prst="roundRect">
              <a:avLst>
                <a:gd name="adj" fmla="val 18182"/>
              </a:avLst>
            </a:prstGeom>
            <a:solidFill>
              <a:srgbClr val="2A1720"/>
            </a:solidFill>
            <a:ln w="13335">
              <a:solidFill>
                <a:srgbClr val="F2685C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345010" y="4030409"/>
              <a:ext cx="2629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2685C"/>
                  </a:solidFill>
                  <a:latin typeface="+mn-lt"/>
                  <a:ea typeface="+mn-ea"/>
                  <a:cs typeface="+mn-cs"/>
                </a:rPr>
                <a:t>fail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009900" y="3867150"/>
              <a:ext cx="914400" cy="419100"/>
            </a:xfrm>
            <a:prstGeom prst="roundRect">
              <a:avLst>
                <a:gd name="adj" fmla="val 18182"/>
              </a:avLst>
            </a:prstGeom>
            <a:solidFill>
              <a:srgbClr val="2A1720"/>
            </a:solidFill>
            <a:ln w="13335">
              <a:solidFill>
                <a:srgbClr val="F2685C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335610" y="4030409"/>
              <a:ext cx="2629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2685C"/>
                  </a:solidFill>
                  <a:latin typeface="+mn-lt"/>
                  <a:ea typeface="+mn-ea"/>
                  <a:cs typeface="+mn-cs"/>
                </a:rPr>
                <a:t>fail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000500" y="3867150"/>
              <a:ext cx="914400" cy="419100"/>
            </a:xfrm>
            <a:prstGeom prst="roundRect">
              <a:avLst>
                <a:gd name="adj" fmla="val 18182"/>
              </a:avLst>
            </a:prstGeom>
            <a:solidFill>
              <a:srgbClr val="2A1720"/>
            </a:solidFill>
            <a:ln w="13335">
              <a:solidFill>
                <a:srgbClr val="F2685C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326210" y="4030409"/>
              <a:ext cx="2629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2685C"/>
                  </a:solidFill>
                  <a:latin typeface="+mn-lt"/>
                  <a:ea typeface="+mn-ea"/>
                  <a:cs typeface="+mn-cs"/>
                </a:rPr>
                <a:t>fail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991100" y="3867150"/>
              <a:ext cx="914400" cy="419100"/>
            </a:xfrm>
            <a:prstGeom prst="roundRect">
              <a:avLst>
                <a:gd name="adj" fmla="val 18182"/>
              </a:avLst>
            </a:prstGeom>
            <a:solidFill>
              <a:srgbClr val="2A1720"/>
            </a:solidFill>
            <a:ln w="13335">
              <a:solidFill>
                <a:srgbClr val="F2685C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316810" y="4030409"/>
              <a:ext cx="2629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2685C"/>
                  </a:solidFill>
                  <a:latin typeface="+mn-lt"/>
                  <a:ea typeface="+mn-ea"/>
                  <a:cs typeface="+mn-cs"/>
                </a:rPr>
                <a:t>fail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248400" y="2038350"/>
            <a:ext cx="5334000" cy="2514600"/>
            <a:chOff x="6248400" y="2038350"/>
            <a:chExt cx="5334000" cy="2514600"/>
          </a:xfrm>
        </p:grpSpPr>
        <p:sp>
          <p:nvSpPr>
            <p:cNvPr id="44" name="Rectangle 44"/>
            <p:cNvSpPr/>
            <p:nvPr/>
          </p:nvSpPr>
          <p:spPr>
            <a:xfrm>
              <a:off x="6248400" y="2038350"/>
              <a:ext cx="5334000" cy="2514600"/>
            </a:xfrm>
            <a:prstGeom prst="roundRect">
              <a:avLst>
                <a:gd name="adj" fmla="val 5303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48400" y="2038350"/>
              <a:ext cx="57150" cy="2514600"/>
            </a:xfrm>
            <a:prstGeom prst="roundRect">
              <a:avLst>
                <a:gd name="adj" fmla="val 50000"/>
              </a:avLst>
            </a:prstGeom>
            <a:solidFill>
              <a:srgbClr val="F2685C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09004" y="2251710"/>
              <a:ext cx="21719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2685C"/>
                  </a:solidFill>
                  <a:latin typeface="+mn-lt"/>
                  <a:ea typeface="+mn-ea"/>
                  <a:cs typeface="+mn-cs"/>
                </a:rPr>
                <a:t>Where the baselines break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09766" y="2572702"/>
              <a:ext cx="39463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CUSUM-RL recovers the change point only when the state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09766" y="2772728"/>
              <a:ext cx="36038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is one-dimensional. ODCP fails to control the type-I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09766" y="2972752"/>
              <a:ext cx="21380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error at all in high dimensions.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515100" y="3352800"/>
              <a:ext cx="4800600" cy="476250"/>
            </a:xfrm>
            <a:prstGeom prst="roundRect">
              <a:avLst>
                <a:gd name="adj" fmla="val 20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6705600" y="3533775"/>
              <a:ext cx="114300" cy="114300"/>
            </a:xfrm>
            <a:prstGeom prst="ellipse">
              <a:avLst/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909816" y="3525202"/>
              <a:ext cx="23772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CUSUM-RL: works only at dim = 1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515100" y="3905250"/>
              <a:ext cx="4800600" cy="476250"/>
            </a:xfrm>
            <a:prstGeom prst="roundRect">
              <a:avLst>
                <a:gd name="adj" fmla="val 20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6705600" y="4086225"/>
              <a:ext cx="114300" cy="114300"/>
            </a:xfrm>
            <a:prstGeom prst="ellipse">
              <a:avLst/>
            </a:prstGeom>
            <a:solidFill>
              <a:srgbClr val="F2685C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909816" y="4077652"/>
              <a:ext cx="31601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ODCP: type-I error uncontrolled in high dim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09600" y="4686300"/>
            <a:ext cx="10972800" cy="1104900"/>
            <a:chOff x="609600" y="4686300"/>
            <a:chExt cx="10972800" cy="1104900"/>
          </a:xfrm>
        </p:grpSpPr>
        <p:sp>
          <p:nvSpPr>
            <p:cNvPr id="57" name="Rectangle 57"/>
            <p:cNvSpPr/>
            <p:nvPr/>
          </p:nvSpPr>
          <p:spPr>
            <a:xfrm>
              <a:off x="609600" y="4686300"/>
              <a:ext cx="10972800" cy="1104900"/>
            </a:xfrm>
            <a:prstGeom prst="roundRect">
              <a:avLst>
                <a:gd name="adj" fmla="val 12069"/>
              </a:avLst>
            </a:prstGeom>
            <a:solidFill>
              <a:srgbClr val="0F2E2B"/>
            </a:solidFill>
            <a:ln w="14288">
              <a:solidFill>
                <a:srgbClr val="48C78E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09600" y="4686300"/>
              <a:ext cx="57150" cy="1104900"/>
            </a:xfrm>
            <a:prstGeom prst="roundRect">
              <a:avLst>
                <a:gd name="adj" fmla="val 50000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70204" y="4880610"/>
              <a:ext cx="3452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Toy example · double robustness in action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70776" y="5178504"/>
              <a:ext cx="5188534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Size and power hold as long as at least one of the two nuisance models is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70776" y="5388054"/>
              <a:ext cx="4912025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correctly specified, with the strongest power when both are right.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377238" y="4787741"/>
              <a:ext cx="74761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6E869C"/>
                  </a:solidFill>
                  <a:latin typeface="+mn-lt"/>
                  <a:ea typeface="+mn-ea"/>
                  <a:cs typeface="+mn-cs"/>
                </a:rPr>
                <a:t>M1 / M2 spec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8382000" y="4953000"/>
              <a:ext cx="1428750" cy="285750"/>
            </a:xfrm>
            <a:prstGeom prst="roundRect">
              <a:avLst>
                <a:gd name="adj" fmla="val 23333"/>
              </a:avLst>
            </a:prstGeom>
            <a:solidFill>
              <a:srgbClr val="0F2E2B"/>
            </a:solidFill>
            <a:ln w="11430">
              <a:solidFill>
                <a:srgbClr val="48C78E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447335" y="5050393"/>
              <a:ext cx="129808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either correct = valid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382000" y="5295900"/>
              <a:ext cx="1428750" cy="285750"/>
            </a:xfrm>
            <a:prstGeom prst="roundRect">
              <a:avLst>
                <a:gd name="adj" fmla="val 23333"/>
              </a:avLst>
            </a:prstGeom>
            <a:solidFill>
              <a:schemeClr val="accent6"/>
            </a:solidFill>
            <a:ln w="11430">
              <a:solidFill>
                <a:schemeClr val="accent2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304499" y="5393293"/>
              <a:ext cx="1583751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both correct = best power</a:t>
              </a:r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604266" y="6039802"/>
            <a:ext cx="73922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Detection survives to state dimension 30, where the closest competitor only works at dimension one.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75335" y="564356"/>
            <a:ext cx="159689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ABLATION STUDY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553607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Double robustness, sweep by sweep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09600" y="1504950"/>
            <a:ext cx="5334000" cy="1143000"/>
            <a:chOff x="609600" y="1504950"/>
            <a:chExt cx="5334000" cy="1143000"/>
          </a:xfrm>
        </p:grpSpPr>
        <p:sp>
          <p:nvSpPr>
            <p:cNvPr id="5" name="Rectangle 5"/>
            <p:cNvSpPr/>
            <p:nvPr/>
          </p:nvSpPr>
          <p:spPr>
            <a:xfrm>
              <a:off x="609600" y="1504950"/>
              <a:ext cx="5334000" cy="1143000"/>
            </a:xfrm>
            <a:prstGeom prst="roundRect">
              <a:avLst>
                <a:gd name="adj" fmla="val 11667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504950"/>
              <a:ext cx="57150" cy="1143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014" y="1733312"/>
              <a:ext cx="2726707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Sweep 1 · vary misspecification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70776" y="2035254"/>
              <a:ext cx="3896885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Vary the model misspecification level lambda from mild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0776" y="2244804"/>
              <a:ext cx="3151195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to severe across five hundred replications.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71156" y="2443401"/>
              <a:ext cx="3258180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lambda in {0.1, 0.3, 0.5, 0.7, 0.9} · 500 reps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9600" y="2800350"/>
            <a:ext cx="5334000" cy="2438400"/>
            <a:chOff x="609600" y="2800350"/>
            <a:chExt cx="5334000" cy="2438400"/>
          </a:xfrm>
        </p:grpSpPr>
        <p:sp>
          <p:nvSpPr>
            <p:cNvPr id="12" name="Rectangle 12"/>
            <p:cNvSpPr/>
            <p:nvPr/>
          </p:nvSpPr>
          <p:spPr>
            <a:xfrm>
              <a:off x="609600" y="2800350"/>
              <a:ext cx="5334000" cy="2438400"/>
            </a:xfrm>
            <a:prstGeom prst="roundRect">
              <a:avLst>
                <a:gd name="adj" fmla="val 5469"/>
              </a:avLst>
            </a:prstGeom>
            <a:solidFill>
              <a:srgbClr val="0F2E2B"/>
            </a:solidFill>
            <a:ln w="14288">
              <a:solidFill>
                <a:srgbClr val="48C78E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9600" y="2800350"/>
              <a:ext cx="57150" cy="2438400"/>
            </a:xfrm>
            <a:prstGeom prst="roundRect">
              <a:avLst>
                <a:gd name="adj" fmla="val 50000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70966" y="3029902"/>
              <a:ext cx="39336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Empirical size stays at nominal if either model is right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03878" y="3625453"/>
              <a:ext cx="343935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6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M1 ok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79963" y="4311253"/>
              <a:ext cx="56784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6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M1 wrong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333108" y="3183493"/>
              <a:ext cx="343935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M2 ok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16600" y="3183493"/>
              <a:ext cx="56784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6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M2 wrong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695450" y="3352800"/>
              <a:ext cx="1619250" cy="609600"/>
            </a:xfrm>
            <a:prstGeom prst="roundRect">
              <a:avLst>
                <a:gd name="adj" fmla="val 14062"/>
              </a:avLst>
            </a:prstGeom>
            <a:solidFill>
              <a:srgbClr val="0F2E2B"/>
            </a:solidFill>
            <a:ln w="13335">
              <a:solidFill>
                <a:srgbClr val="48C78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024802" y="3617405"/>
              <a:ext cx="9605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valid+ (best)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390900" y="3352800"/>
              <a:ext cx="1619250" cy="609600"/>
            </a:xfrm>
            <a:prstGeom prst="roundRect">
              <a:avLst>
                <a:gd name="adj" fmla="val 14062"/>
              </a:avLst>
            </a:prstGeom>
            <a:solidFill>
              <a:srgbClr val="0F2E2B"/>
            </a:solidFill>
            <a:ln w="13335">
              <a:solidFill>
                <a:srgbClr val="48C78E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028220" y="3617405"/>
              <a:ext cx="3446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valid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695450" y="4038600"/>
              <a:ext cx="1619250" cy="609600"/>
            </a:xfrm>
            <a:prstGeom prst="roundRect">
              <a:avLst>
                <a:gd name="adj" fmla="val 14062"/>
              </a:avLst>
            </a:prstGeom>
            <a:solidFill>
              <a:srgbClr val="0F2E2B"/>
            </a:solidFill>
            <a:ln w="13335">
              <a:solidFill>
                <a:srgbClr val="48C78E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332770" y="4303204"/>
              <a:ext cx="3446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valid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390900" y="4038600"/>
              <a:ext cx="1619250" cy="609600"/>
            </a:xfrm>
            <a:prstGeom prst="roundRect">
              <a:avLst>
                <a:gd name="adj" fmla="val 14062"/>
              </a:avLst>
            </a:prstGeom>
            <a:solidFill>
              <a:srgbClr val="2A1720"/>
            </a:solidFill>
            <a:ln w="13335">
              <a:solidFill>
                <a:srgbClr val="F2685C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965142" y="4303204"/>
              <a:ext cx="4707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2685C"/>
                  </a:solidFill>
                  <a:latin typeface="+mn-lt"/>
                  <a:ea typeface="+mn-ea"/>
                  <a:cs typeface="+mn-cs"/>
                </a:rPr>
                <a:t>invalid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248400" y="1504950"/>
            <a:ext cx="5334000" cy="3733800"/>
            <a:chOff x="6248400" y="1504950"/>
            <a:chExt cx="5334000" cy="3733800"/>
          </a:xfrm>
        </p:grpSpPr>
        <p:sp>
          <p:nvSpPr>
            <p:cNvPr id="28" name="Rectangle 28"/>
            <p:cNvSpPr/>
            <p:nvPr/>
          </p:nvSpPr>
          <p:spPr>
            <a:xfrm>
              <a:off x="6248400" y="1504950"/>
              <a:ext cx="5334000" cy="3733800"/>
            </a:xfrm>
            <a:prstGeom prst="roundRect">
              <a:avLst>
                <a:gd name="adj" fmla="val 3571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48400" y="1504950"/>
              <a:ext cx="57150" cy="3733800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08814" y="1733312"/>
              <a:ext cx="2884812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Sweep 2 · locate the change point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09576" y="2035254"/>
              <a:ext cx="4129988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Sweep kappa, the length of the tested interval. The test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09576" y="2244804"/>
              <a:ext cx="3650097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holds its size while the null is true, then its power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09576" y="2454354"/>
              <a:ext cx="4126988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climbs once the interval crosses the true change point at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09576" y="2663904"/>
              <a:ext cx="253163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25.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515100" y="3028950"/>
              <a:ext cx="4800600" cy="1714500"/>
            </a:xfrm>
            <a:prstGeom prst="roundRect">
              <a:avLst>
                <a:gd name="adj" fmla="val 4444"/>
              </a:avLst>
            </a:prstGeom>
            <a:solidFill>
              <a:srgbClr val="0E2334"/>
            </a:solidFill>
            <a:ln w="14288">
              <a:solidFill>
                <a:srgbClr val="26455F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6743700" y="4533900"/>
              <a:ext cx="4457700" cy="9525"/>
            </a:xfrm>
            <a:custGeom>
              <a:avLst/>
              <a:gdLst/>
              <a:ahLst/>
              <a:cxnLst/>
              <a:rect l="l" t="t" r="r" b="b"/>
              <a:pathLst>
                <a:path w="4457700" h="9525">
                  <a:moveTo>
                    <a:pt x="0" y="0"/>
                  </a:moveTo>
                  <a:lnTo>
                    <a:pt x="4457700" y="0"/>
                  </a:lnTo>
                </a:path>
              </a:pathLst>
            </a:custGeom>
            <a:noFill/>
            <a:ln w="14288" cap="rnd">
              <a:solidFill>
                <a:srgbClr val="26455F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6743700" y="3143250"/>
              <a:ext cx="9525" cy="1390650"/>
            </a:xfrm>
            <a:custGeom>
              <a:avLst/>
              <a:gdLst/>
              <a:ahLst/>
              <a:cxnLst/>
              <a:rect l="l" t="t" r="r" b="b"/>
              <a:pathLst>
                <a:path w="9525" h="1390650">
                  <a:moveTo>
                    <a:pt x="0" y="0"/>
                  </a:moveTo>
                  <a:lnTo>
                    <a:pt x="0" y="1390650"/>
                  </a:lnTo>
                </a:path>
              </a:pathLst>
            </a:custGeom>
            <a:noFill/>
            <a:ln w="14288" cap="rnd">
              <a:solidFill>
                <a:srgbClr val="26455F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6743700" y="4448175"/>
              <a:ext cx="4457700" cy="9525"/>
            </a:xfrm>
            <a:custGeom>
              <a:avLst/>
              <a:gdLst/>
              <a:ahLst/>
              <a:cxnLst/>
              <a:rect l="l" t="t" r="r" b="b"/>
              <a:pathLst>
                <a:path w="4457700" h="9525">
                  <a:moveTo>
                    <a:pt x="0" y="0"/>
                  </a:moveTo>
                  <a:lnTo>
                    <a:pt x="4457700" y="0"/>
                  </a:lnTo>
                </a:path>
              </a:pathLst>
            </a:custGeom>
            <a:noFill/>
            <a:ln w="13335" cap="rnd">
              <a:solidFill>
                <a:schemeClr val="accent2"/>
              </a:solidFill>
              <a:custDash>
                <a:ds d="357143" sp="285714"/>
              </a:custDash>
            </a:ln>
          </p:spPr>
        </p:sp>
        <p:sp>
          <p:nvSpPr>
            <p:cNvPr id="39" name="Polyline 39"/>
            <p:cNvSpPr/>
            <p:nvPr/>
          </p:nvSpPr>
          <p:spPr>
            <a:xfrm>
              <a:off x="6743700" y="3310890"/>
              <a:ext cx="4343400" cy="1137285"/>
            </a:xfrm>
            <a:custGeom>
              <a:avLst/>
              <a:gdLst/>
              <a:ahLst/>
              <a:cxnLst/>
              <a:rect l="l" t="t" r="r" b="b"/>
              <a:pathLst>
                <a:path w="4343400" h="1137285">
                  <a:moveTo>
                    <a:pt x="0" y="1137285"/>
                  </a:moveTo>
                  <a:lnTo>
                    <a:pt x="76200" y="1137285"/>
                  </a:lnTo>
                  <a:lnTo>
                    <a:pt x="152400" y="1137285"/>
                  </a:lnTo>
                  <a:lnTo>
                    <a:pt x="228600" y="1137285"/>
                  </a:lnTo>
                  <a:lnTo>
                    <a:pt x="304800" y="1137285"/>
                  </a:lnTo>
                  <a:lnTo>
                    <a:pt x="381000" y="1137285"/>
                  </a:lnTo>
                  <a:lnTo>
                    <a:pt x="457200" y="1137285"/>
                  </a:lnTo>
                  <a:lnTo>
                    <a:pt x="533400" y="1137285"/>
                  </a:lnTo>
                  <a:lnTo>
                    <a:pt x="609600" y="1137285"/>
                  </a:lnTo>
                  <a:lnTo>
                    <a:pt x="685800" y="1137285"/>
                  </a:lnTo>
                  <a:lnTo>
                    <a:pt x="762000" y="1137285"/>
                  </a:lnTo>
                  <a:lnTo>
                    <a:pt x="838200" y="1137285"/>
                  </a:lnTo>
                  <a:lnTo>
                    <a:pt x="914400" y="1137285"/>
                  </a:lnTo>
                  <a:lnTo>
                    <a:pt x="990600" y="1137285"/>
                  </a:lnTo>
                  <a:lnTo>
                    <a:pt x="1066800" y="1137285"/>
                  </a:lnTo>
                  <a:lnTo>
                    <a:pt x="1143000" y="1137285"/>
                  </a:lnTo>
                  <a:lnTo>
                    <a:pt x="1219200" y="1137285"/>
                  </a:lnTo>
                  <a:lnTo>
                    <a:pt x="1295400" y="1137285"/>
                  </a:lnTo>
                  <a:lnTo>
                    <a:pt x="1371600" y="1137285"/>
                  </a:lnTo>
                  <a:lnTo>
                    <a:pt x="1447800" y="1137285"/>
                  </a:lnTo>
                  <a:lnTo>
                    <a:pt x="1524000" y="1137285"/>
                  </a:lnTo>
                  <a:lnTo>
                    <a:pt x="1600200" y="1137285"/>
                  </a:lnTo>
                  <a:lnTo>
                    <a:pt x="1676400" y="1137285"/>
                  </a:lnTo>
                  <a:lnTo>
                    <a:pt x="1752600" y="1137285"/>
                  </a:lnTo>
                  <a:lnTo>
                    <a:pt x="1828800" y="1137285"/>
                  </a:lnTo>
                  <a:lnTo>
                    <a:pt x="1905000" y="1137285"/>
                  </a:lnTo>
                  <a:lnTo>
                    <a:pt x="1981200" y="1137285"/>
                  </a:lnTo>
                  <a:lnTo>
                    <a:pt x="2057400" y="1137285"/>
                  </a:lnTo>
                  <a:lnTo>
                    <a:pt x="2133600" y="1137285"/>
                  </a:lnTo>
                  <a:lnTo>
                    <a:pt x="2209800" y="1106805"/>
                  </a:lnTo>
                  <a:lnTo>
                    <a:pt x="2286000" y="990600"/>
                  </a:lnTo>
                  <a:lnTo>
                    <a:pt x="2362200" y="885825"/>
                  </a:lnTo>
                  <a:lnTo>
                    <a:pt x="2438400" y="792480"/>
                  </a:lnTo>
                  <a:lnTo>
                    <a:pt x="2514600" y="707707"/>
                  </a:lnTo>
                  <a:lnTo>
                    <a:pt x="2590800" y="631507"/>
                  </a:lnTo>
                  <a:lnTo>
                    <a:pt x="2667000" y="561975"/>
                  </a:lnTo>
                  <a:lnTo>
                    <a:pt x="2743200" y="500062"/>
                  </a:lnTo>
                  <a:lnTo>
                    <a:pt x="2819400" y="444817"/>
                  </a:lnTo>
                  <a:lnTo>
                    <a:pt x="2895600" y="394335"/>
                  </a:lnTo>
                  <a:lnTo>
                    <a:pt x="2971800" y="348615"/>
                  </a:lnTo>
                  <a:lnTo>
                    <a:pt x="3048000" y="308610"/>
                  </a:lnTo>
                  <a:lnTo>
                    <a:pt x="3124200" y="271462"/>
                  </a:lnTo>
                  <a:lnTo>
                    <a:pt x="3200400" y="238125"/>
                  </a:lnTo>
                  <a:lnTo>
                    <a:pt x="3276600" y="208597"/>
                  </a:lnTo>
                  <a:lnTo>
                    <a:pt x="3352800" y="181927"/>
                  </a:lnTo>
                  <a:lnTo>
                    <a:pt x="3429000" y="157162"/>
                  </a:lnTo>
                  <a:lnTo>
                    <a:pt x="3505200" y="135255"/>
                  </a:lnTo>
                  <a:lnTo>
                    <a:pt x="3581400" y="116205"/>
                  </a:lnTo>
                  <a:lnTo>
                    <a:pt x="3657600" y="98107"/>
                  </a:lnTo>
                  <a:lnTo>
                    <a:pt x="3733800" y="81915"/>
                  </a:lnTo>
                  <a:lnTo>
                    <a:pt x="3810000" y="67627"/>
                  </a:lnTo>
                  <a:lnTo>
                    <a:pt x="3886200" y="55245"/>
                  </a:lnTo>
                  <a:lnTo>
                    <a:pt x="3962400" y="42862"/>
                  </a:lnTo>
                  <a:lnTo>
                    <a:pt x="4038600" y="32385"/>
                  </a:lnTo>
                  <a:lnTo>
                    <a:pt x="4114800" y="22860"/>
                  </a:lnTo>
                  <a:lnTo>
                    <a:pt x="4191000" y="14288"/>
                  </a:lnTo>
                  <a:lnTo>
                    <a:pt x="4267200" y="6667"/>
                  </a:lnTo>
                  <a:lnTo>
                    <a:pt x="4343400" y="0"/>
                  </a:lnTo>
                </a:path>
              </a:pathLst>
            </a:custGeom>
            <a:noFill/>
            <a:ln w="26670">
              <a:solidFill>
                <a:srgbClr val="F2C14E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8953500" y="3162300"/>
              <a:ext cx="9525" cy="1371600"/>
            </a:xfrm>
            <a:custGeom>
              <a:avLst/>
              <a:gdLst/>
              <a:ahLst/>
              <a:cxnLst/>
              <a:rect l="l" t="t" r="r" b="b"/>
              <a:pathLst>
                <a:path w="9525" h="1371600">
                  <a:moveTo>
                    <a:pt x="0" y="0"/>
                  </a:moveTo>
                  <a:lnTo>
                    <a:pt x="0" y="1371600"/>
                  </a:lnTo>
                </a:path>
              </a:pathLst>
            </a:custGeom>
            <a:noFill/>
            <a:ln w="15240" cap="rnd">
              <a:solidFill>
                <a:srgbClr val="F2685C"/>
              </a:solidFill>
              <a:prstDash val="dash"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693740" y="3035141"/>
              <a:ext cx="51951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F2685C"/>
                  </a:solidFill>
                  <a:latin typeface="+mn-lt"/>
                  <a:ea typeface="+mn-ea"/>
                  <a:cs typeface="+mn-cs"/>
                </a:rPr>
                <a:t>kappa=25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96088" y="3183493"/>
              <a:ext cx="854380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6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rejection rate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696570" y="4578191"/>
              <a:ext cx="49054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b="1" dirty="0">
                  <a:solidFill>
                    <a:srgbClr val="6E869C"/>
                  </a:solidFill>
                  <a:latin typeface="+mn-lt"/>
                  <a:ea typeface="+mn-ea"/>
                  <a:cs typeface="+mn-cs"/>
                </a:rPr>
                <a:t>kappa -&gt;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591334" y="4325064"/>
              <a:ext cx="595778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79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alpha=0.05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09956" y="4919901"/>
              <a:ext cx="4063690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Correct size for kappa &lt;= 25 · rising power for kappa &gt; 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75335" y="564356"/>
            <a:ext cx="183437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HEADLINE NUMBERS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3674721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The results in one place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09600" y="1562100"/>
            <a:ext cx="10972800" cy="1352550"/>
            <a:chOff x="609600" y="1562100"/>
            <a:chExt cx="10972800" cy="1352550"/>
          </a:xfrm>
        </p:grpSpPr>
        <p:sp>
          <p:nvSpPr>
            <p:cNvPr id="5" name="Rectangle 5"/>
            <p:cNvSpPr/>
            <p:nvPr/>
          </p:nvSpPr>
          <p:spPr>
            <a:xfrm>
              <a:off x="609600" y="1562100"/>
              <a:ext cx="10972800" cy="1352550"/>
            </a:xfrm>
            <a:prstGeom prst="roundRect">
              <a:avLst>
                <a:gd name="adj" fmla="val 9859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562100"/>
              <a:ext cx="57150" cy="1352550"/>
            </a:xfrm>
            <a:prstGeom prst="roundRect">
              <a:avLst>
                <a:gd name="adj" fmla="val 5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014" y="1790462"/>
              <a:ext cx="4627984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Change-point detection reaches far higher dimensions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76300" y="2095500"/>
              <a:ext cx="2381250" cy="704850"/>
            </a:xfrm>
            <a:prstGeom prst="roundRect">
              <a:avLst>
                <a:gd name="adj" fmla="val 16216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07702" y="2247328"/>
              <a:ext cx="111844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dS = 30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41343" y="2572274"/>
              <a:ext cx="145116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proposed still detects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67495" y="230409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810000" y="2095500"/>
              <a:ext cx="2381250" cy="704850"/>
            </a:xfrm>
            <a:prstGeom prst="roundRect">
              <a:avLst>
                <a:gd name="adj" fmla="val 16216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531338" y="2247328"/>
              <a:ext cx="93857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dS = 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49341" y="2572274"/>
              <a:ext cx="110256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CUSUM-RL ceiling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400800" y="2095500"/>
              <a:ext cx="5181600" cy="704850"/>
            </a:xfrm>
            <a:prstGeom prst="roundRect">
              <a:avLst>
                <a:gd name="adj" fmla="val 16216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86156" y="2252901"/>
              <a:ext cx="397156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Correct detection sustained all the way to a 30-dimensional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86156" y="2443401"/>
              <a:ext cx="442918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state, where the closest competitor works only at dimension one.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3067050"/>
            <a:ext cx="5334000" cy="1866900"/>
            <a:chOff x="609600" y="3067050"/>
            <a:chExt cx="5334000" cy="1866900"/>
          </a:xfrm>
        </p:grpSpPr>
        <p:sp>
          <p:nvSpPr>
            <p:cNvPr id="19" name="Rectangle 19"/>
            <p:cNvSpPr/>
            <p:nvPr/>
          </p:nvSpPr>
          <p:spPr>
            <a:xfrm>
              <a:off x="609600" y="3067050"/>
              <a:ext cx="5334000" cy="1866900"/>
            </a:xfrm>
            <a:prstGeom prst="roundRect">
              <a:avLst>
                <a:gd name="adj" fmla="val 7143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09600" y="3067050"/>
              <a:ext cx="57150" cy="1866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70014" y="3276362"/>
              <a:ext cx="2095183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Size control everywhere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76300" y="3600450"/>
              <a:ext cx="2381250" cy="914400"/>
            </a:xfrm>
            <a:prstGeom prst="roundRect">
              <a:avLst>
                <a:gd name="adj" fmla="val 125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705651" y="3869626"/>
              <a:ext cx="72254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0.05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90822" y="4249055"/>
              <a:ext cx="115220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nominal alpha held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524250" y="3600450"/>
              <a:ext cx="2381250" cy="914400"/>
            </a:xfrm>
            <a:prstGeom prst="roundRect">
              <a:avLst>
                <a:gd name="adj" fmla="val 125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345650" y="3869626"/>
              <a:ext cx="73844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4 + 2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89293" y="4249055"/>
              <a:ext cx="145116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sims + real specialties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71156" y="4672251"/>
              <a:ext cx="395312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Type-I error stays at the nominal level in every setting.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248400" y="3067050"/>
            <a:ext cx="5334000" cy="1866900"/>
            <a:chOff x="6248400" y="3067050"/>
            <a:chExt cx="5334000" cy="1866900"/>
          </a:xfrm>
        </p:grpSpPr>
        <p:sp>
          <p:nvSpPr>
            <p:cNvPr id="30" name="Rectangle 30"/>
            <p:cNvSpPr/>
            <p:nvPr/>
          </p:nvSpPr>
          <p:spPr>
            <a:xfrm>
              <a:off x="6248400" y="3067050"/>
              <a:ext cx="5334000" cy="1866900"/>
            </a:xfrm>
            <a:prstGeom prst="roundRect">
              <a:avLst>
                <a:gd name="adj" fmla="val 7143"/>
              </a:avLst>
            </a:prstGeom>
            <a:solidFill>
              <a:srgbClr val="0F2E2B"/>
            </a:solidFill>
            <a:ln w="14288">
              <a:solidFill>
                <a:srgbClr val="48C78E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48400" y="3067050"/>
              <a:ext cx="57150" cy="1866900"/>
            </a:xfrm>
            <a:prstGeom prst="roundRect">
              <a:avLst>
                <a:gd name="adj" fmla="val 50000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08814" y="3276362"/>
              <a:ext cx="2708797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On the real Intern Health Study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515100" y="3600450"/>
              <a:ext cx="2381250" cy="914400"/>
            </a:xfrm>
            <a:prstGeom prst="roundRect">
              <a:avLst>
                <a:gd name="adj" fmla="val 125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090019" y="3869626"/>
              <a:ext cx="123141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week 16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69591" y="4249055"/>
              <a:ext cx="167226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Internal Medicine: change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201150" y="3600450"/>
              <a:ext cx="2381250" cy="914400"/>
            </a:xfrm>
            <a:prstGeom prst="roundRect">
              <a:avLst>
                <a:gd name="adj" fmla="val 125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030501" y="3869626"/>
              <a:ext cx="72254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none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518914" y="4249055"/>
              <a:ext cx="174572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Family Practice: no change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09956" y="4672251"/>
              <a:ext cx="430531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genuine change point for one specialty, none for the other.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9600" y="5086350"/>
            <a:ext cx="10972800" cy="666750"/>
            <a:chOff x="609600" y="5086350"/>
            <a:chExt cx="10972800" cy="666750"/>
          </a:xfrm>
        </p:grpSpPr>
        <p:sp>
          <p:nvSpPr>
            <p:cNvPr id="41" name="Rectangle 41"/>
            <p:cNvSpPr/>
            <p:nvPr/>
          </p:nvSpPr>
          <p:spPr>
            <a:xfrm>
              <a:off x="609600" y="5086350"/>
              <a:ext cx="10972800" cy="666750"/>
            </a:xfrm>
            <a:prstGeom prst="roundRect">
              <a:avLst>
                <a:gd name="adj" fmla="val 17143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09600" y="5086350"/>
              <a:ext cx="57150" cy="666750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71347" y="5285899"/>
              <a:ext cx="9354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Evidence base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70776" y="5483304"/>
              <a:ext cx="7350093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Every number rests on thousands of bootstrap samples and hundreds of replications per setting.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176227" y="5377101"/>
              <a:ext cx="2144616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10" b="1" dirty="0">
                  <a:solidFill>
                    <a:srgbClr val="F2C14E"/>
                  </a:solidFill>
                  <a:latin typeface="Consolas"/>
                  <a:ea typeface="Consolas"/>
                  <a:cs typeface="Consolas"/>
                </a:rPr>
                <a:t>5000 bootstrap · 100-500 reps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75335" y="564356"/>
            <a:ext cx="96807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TAKEAWAY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6314602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Test stationarity, then trust the policy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09600" y="1676400"/>
            <a:ext cx="10972800" cy="1104900"/>
            <a:chOff x="609600" y="1676400"/>
            <a:chExt cx="10972800" cy="1104900"/>
          </a:xfrm>
        </p:grpSpPr>
        <p:sp>
          <p:nvSpPr>
            <p:cNvPr id="5" name="Rectangle 5"/>
            <p:cNvSpPr/>
            <p:nvPr/>
          </p:nvSpPr>
          <p:spPr>
            <a:xfrm>
              <a:off x="609600" y="1676400"/>
              <a:ext cx="10972800" cy="1104900"/>
            </a:xfrm>
            <a:prstGeom prst="roundRect">
              <a:avLst>
                <a:gd name="adj" fmla="val 12069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676400"/>
              <a:ext cx="57150" cy="1104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971550" y="213360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21511" y="1960721"/>
              <a:ext cx="18273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idea in one line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22844" y="2293858"/>
              <a:ext cx="6979852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doubly robust CUSUM test tells you, reliably, when an offline RL environment has stopped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22844" y="2522458"/>
              <a:ext cx="1354780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being stationary.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9600" y="2933700"/>
            <a:ext cx="10972800" cy="1302020"/>
            <a:chOff x="609600" y="2933700"/>
            <a:chExt cx="10972800" cy="1302020"/>
          </a:xfrm>
        </p:grpSpPr>
        <p:sp>
          <p:nvSpPr>
            <p:cNvPr id="12" name="Rectangle 12"/>
            <p:cNvSpPr/>
            <p:nvPr/>
          </p:nvSpPr>
          <p:spPr>
            <a:xfrm>
              <a:off x="609600" y="2933700"/>
              <a:ext cx="10972800" cy="1104900"/>
            </a:xfrm>
            <a:prstGeom prst="roundRect">
              <a:avLst>
                <a:gd name="adj" fmla="val 12069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9600" y="2933700"/>
              <a:ext cx="57150" cy="1104900"/>
            </a:xfrm>
            <a:prstGeom prst="roundRect">
              <a:avLst>
                <a:gd name="adj" fmla="val 5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971550" y="3390900"/>
              <a:ext cx="190500" cy="190500"/>
            </a:xfrm>
            <a:prstGeom prst="ellipse">
              <a:avLst/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421511" y="3218021"/>
              <a:ext cx="29370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ML flexibility, valid inference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22844" y="3551158"/>
              <a:ext cx="7051824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It marries flexible machine-learning estimators with semiparametric rigor, so it stays valid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22844" y="3779758"/>
              <a:ext cx="7078015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even in high dimensions, and policies can be relearned on the correct, stationary segment of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22844" y="4008358"/>
              <a:ext cx="44124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data.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9600" y="4191000"/>
            <a:ext cx="10972800" cy="1104900"/>
            <a:chOff x="609600" y="4191000"/>
            <a:chExt cx="10972800" cy="1104900"/>
          </a:xfrm>
        </p:grpSpPr>
        <p:sp>
          <p:nvSpPr>
            <p:cNvPr id="20" name="Rectangle 20"/>
            <p:cNvSpPr/>
            <p:nvPr/>
          </p:nvSpPr>
          <p:spPr>
            <a:xfrm>
              <a:off x="609600" y="4191000"/>
              <a:ext cx="10972800" cy="1104900"/>
            </a:xfrm>
            <a:prstGeom prst="roundRect">
              <a:avLst>
                <a:gd name="adj" fmla="val 12069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09600" y="4191000"/>
              <a:ext cx="57150" cy="1104900"/>
            </a:xfrm>
            <a:prstGeom prst="roundRect">
              <a:avLst>
                <a:gd name="adj" fmla="val 50000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971550" y="4648200"/>
              <a:ext cx="190500" cy="190500"/>
            </a:xfrm>
            <a:prstGeom prst="ellipse">
              <a:avLst/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421511" y="4475321"/>
              <a:ext cx="36342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Recover the reward left on the table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22844" y="4808458"/>
              <a:ext cx="6528915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When some homogeneity is present, detecting and adapting to change points recovers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22844" y="5037058"/>
              <a:ext cx="6180099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near-oracle reward that stationary or sliding-window strategies simply give up.</a:t>
              </a:r>
            </a:p>
          </p:txBody>
        </p:sp>
      </p:grpSp>
      <p:sp>
        <p:nvSpPr>
          <p:cNvPr id="27" name="Line 27"/>
          <p:cNvSpPr/>
          <p:nvPr/>
        </p:nvSpPr>
        <p:spPr>
          <a:xfrm>
            <a:off x="609600" y="56769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 cap="rnd">
            <a:solidFill>
              <a:srgbClr val="26455F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603694" y="5894308"/>
            <a:ext cx="6104350" cy="2273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6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 Robust Test for the Stationarity Assumption in Sequential Decision Making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04456" y="6177201"/>
            <a:ext cx="4840937" cy="198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10" b="1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ICML 2023 · Wang, Shi &amp; Wu · github.com/jtwang95/Double_CUSUM_RL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eck">
  <a:themeElements>
    <a:clrScheme name="deck">
      <a:dk1>
        <a:srgbClr val="EAF2FB"/>
      </a:dk1>
      <a:lt1>
        <a:srgbClr val="0B1B2B"/>
      </a:lt1>
      <a:dk2>
        <a:srgbClr val="9DB3C8"/>
      </a:dk2>
      <a:lt2>
        <a:srgbClr val="0B1B2B"/>
      </a:lt2>
      <a:accent1>
        <a:srgbClr val="4C9BE8"/>
      </a:accent1>
      <a:accent2>
        <a:srgbClr val="4C9BE8"/>
      </a:accent2>
      <a:accent3>
        <a:srgbClr val="4C9BE8"/>
      </a:accent3>
      <a:accent4>
        <a:srgbClr val="8064A2"/>
      </a:accent4>
      <a:accent5>
        <a:srgbClr val="12293D"/>
      </a:accent5>
      <a:accent6>
        <a:srgbClr val="16324A"/>
      </a:accent6>
      <a:hlink>
        <a:srgbClr val="4C9BE8"/>
      </a:hlink>
      <a:folHlink>
        <a:srgbClr val="4C9BE8"/>
      </a:folHlink>
    </a:clrScheme>
    <a:fontScheme name="deck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2026-07-16T06:30:21Z</dcterms:created>
  <dcterms:modified xsi:type="dcterms:W3CDTF">2026-07-16T06:30:21Z</dcterms:modified>
  <cp:category/>
  <cp:contentStatus/>
</cp:coreProperties>
</file>
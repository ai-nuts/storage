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298578"/>
          </a:xfrm>
          <a:prstGeom prst="roundRect">
            <a:avLst>
              <a:gd name="adj" fmla="val 2684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471920"/>
            <a:ext cx="16349682" cy="7575391"/>
          </a:xfrm>
          <a:prstGeom prst="roundRect">
            <a:avLst>
              <a:gd name="adj" fmla="val 938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6471920"/>
            <a:ext cx="16349682" cy="17031989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6471920"/>
            <a:ext cx="16349821" cy="11240015"/>
          </a:xfrm>
          <a:prstGeom prst="roundRect">
            <a:avLst>
              <a:gd name="adj" fmla="val 632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4379158"/>
            <a:ext cx="16349682" cy="15692794"/>
          </a:xfrm>
          <a:prstGeom prst="roundRect">
            <a:avLst>
              <a:gd name="adj" fmla="val 453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8043782"/>
            <a:ext cx="16349821" cy="4619606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2995235"/>
            <a:ext cx="16349821" cy="7076717"/>
          </a:xfrm>
          <a:prstGeom prst="roundRect">
            <a:avLst>
              <a:gd name="adj" fmla="val 1004"/>
            </a:avLst>
          </a:prstGeom>
          <a:solidFill>
            <a:srgbClr val="F7EDEE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2995235"/>
            <a:ext cx="53340" cy="7076717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428289" y="23835756"/>
            <a:ext cx="16349682" cy="6236196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uazhong-university-of-science-and-techn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7318" y="1431327"/>
            <a:ext cx="2352100" cy="1786815"/>
          </a:xfrm>
          <a:prstGeom prst="rect">
            <a:avLst/>
          </a:prstGeom>
        </p:spPr>
      </p:pic>
      <p:pic>
        <p:nvPicPr>
          <p:cNvPr id="12" name="Picture 11" descr="artificial-intelligence-research-institute-wuhan-jingce-electronic-group-co-l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6392" y="1431301"/>
            <a:ext cx="6295787" cy="1786867"/>
          </a:xfrm>
          <a:prstGeom prst="rect">
            <a:avLst/>
          </a:prstGeom>
        </p:spPr>
      </p:pic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256" y="2352951"/>
            <a:ext cx="6526649" cy="1896450"/>
          </a:xfrm>
          <a:prstGeom prst="rect">
            <a:avLst/>
          </a:prstGeom>
        </p:spPr>
      </p:pic>
      <p:pic>
        <p:nvPicPr>
          <p:cNvPr id="14" name="Picture 13" descr="university-of-tren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7654" y="3384050"/>
            <a:ext cx="5744190" cy="178685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9991" y="6860024"/>
            <a:ext cx="15573474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991" y="6860024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991" y="7867927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816393" y="6860024"/>
            <a:ext cx="15573474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816393" y="6860024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16393" y="7867927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592795" y="6860024"/>
            <a:ext cx="15573613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592795" y="6860024"/>
            <a:ext cx="15573613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592795" y="7867927"/>
            <a:ext cx="15573613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9991" y="11500187"/>
            <a:ext cx="15573474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9991" y="11500187"/>
            <a:ext cx="124460" cy="215902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9991" y="14767262"/>
            <a:ext cx="15573474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9991" y="14767262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9991" y="15775166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592795" y="18431887"/>
            <a:ext cx="15573613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592795" y="18431887"/>
            <a:ext cx="15573613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592795" y="19439790"/>
            <a:ext cx="15573613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39991" y="19511744"/>
            <a:ext cx="15573474" cy="2325985"/>
          </a:xfrm>
          <a:prstGeom prst="roundRect">
            <a:avLst>
              <a:gd name="adj" fmla="val 8969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592795" y="19786500"/>
            <a:ext cx="15573613" cy="2786460"/>
          </a:xfrm>
          <a:prstGeom prst="roundRect">
            <a:avLst>
              <a:gd name="adj" fmla="val 2552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637245" y="23264852"/>
            <a:ext cx="15529163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637245" y="23264852"/>
            <a:ext cx="15529163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637245" y="24272755"/>
            <a:ext cx="15529163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816393" y="24223860"/>
            <a:ext cx="15573474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816393" y="24223860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816393" y="25231764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4982150" y="11388090"/>
            <a:ext cx="14794904" cy="5545554"/>
          </a:xfrm>
          <a:prstGeom prst="roundRect">
            <a:avLst>
              <a:gd name="adj" fmla="val 64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igur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82229" y="11388090"/>
            <a:ext cx="14794746" cy="5545554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8134349" y="14828520"/>
            <a:ext cx="14937562" cy="7007959"/>
          </a:xfrm>
          <a:prstGeom prst="roundRect">
            <a:avLst>
              <a:gd name="adj" fmla="val 50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igur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34432" y="14828520"/>
            <a:ext cx="14937396" cy="7007959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43611561" y="19937630"/>
            <a:ext cx="6308983" cy="25079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611561" y="19937630"/>
            <a:ext cx="11557" cy="2507953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9991" y="22098456"/>
            <a:ext cx="15573474" cy="5793363"/>
          </a:xfrm>
          <a:prstGeom prst="roundRect">
            <a:avLst>
              <a:gd name="adj" fmla="val 61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figur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037" y="22098456"/>
            <a:ext cx="15573382" cy="5793363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4592795" y="8450917"/>
            <a:ext cx="6073259" cy="873581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592795" y="9315608"/>
            <a:ext cx="607325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666054" y="8450917"/>
            <a:ext cx="4773514" cy="873581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666054" y="9315608"/>
            <a:ext cx="477351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439568" y="8450917"/>
            <a:ext cx="4726840" cy="873581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439568" y="9315608"/>
            <a:ext cx="472684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592795" y="9324498"/>
            <a:ext cx="6073259" cy="8780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592795" y="10193635"/>
            <a:ext cx="607325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666054" y="9324498"/>
            <a:ext cx="4773514" cy="8780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666054" y="10193635"/>
            <a:ext cx="477351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439568" y="9324498"/>
            <a:ext cx="4726840" cy="8780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439568" y="10193635"/>
            <a:ext cx="472684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592795" y="10202525"/>
            <a:ext cx="6073259" cy="878026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592795" y="11071661"/>
            <a:ext cx="607325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0666054" y="10202525"/>
            <a:ext cx="4773514" cy="878026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666054" y="11071661"/>
            <a:ext cx="477351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439568" y="10202525"/>
            <a:ext cx="4726840" cy="878026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439568" y="11071661"/>
            <a:ext cx="472684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446402" y="983734"/>
            <a:ext cx="24740176" cy="37782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847"/>
              </a:lnSpc>
              <a:spcBef>
                <a:spcPts val="0"/>
              </a:spcBef>
              <a:spcAft>
                <a:spcPts val="0"/>
              </a:spcAft>
            </a:pPr>
            <a:r>
              <a:rPr sz="7134" b="1" spc="-78">
                <a:solidFill>
                  <a:srgbClr val="8F2437"/>
                </a:solidFill>
                <a:latin typeface="Arial"/>
              </a:rPr>
              <a:t>MuSc: Zero-Shot Industrial Anomaly Classification</a:t>
            </a:r>
          </a:p>
          <a:p>
            <a:pPr algn="ctr">
              <a:lnSpc>
                <a:spcPts val="7847"/>
              </a:lnSpc>
              <a:spcBef>
                <a:spcPts val="0"/>
              </a:spcBef>
              <a:spcAft>
                <a:spcPts val="0"/>
              </a:spcAft>
            </a:pPr>
            <a:r>
              <a:rPr sz="7134" b="1" spc="-78">
                <a:solidFill>
                  <a:srgbClr val="8F2437"/>
                </a:solidFill>
                <a:latin typeface="Arial"/>
              </a:rPr>
              <a:t>&amp; Segmentation with Mutual Scoring of the</a:t>
            </a:r>
          </a:p>
          <a:p>
            <a:pPr algn="ctr">
              <a:lnSpc>
                <a:spcPts val="7847"/>
              </a:lnSpc>
              <a:spcBef>
                <a:spcPts val="0"/>
              </a:spcBef>
              <a:spcAft>
                <a:spcPts val="0"/>
              </a:spcAft>
            </a:pPr>
            <a:r>
              <a:rPr sz="7134" b="1" spc="-78">
                <a:solidFill>
                  <a:srgbClr val="8F2437"/>
                </a:solidFill>
                <a:latin typeface="Arial"/>
              </a:rPr>
              <a:t>Unlabeled Images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446402" y="4468197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Xurui Li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Ziming Huang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Feng Xue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Yu Zhou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1,2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446402" y="5137447"/>
            <a:ext cx="24740176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Huazhong University of Science and Technology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Wuhan JingCe Electronic Group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Trento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991" y="6860024"/>
            <a:ext cx="16000194" cy="1189758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16393" y="6860024"/>
            <a:ext cx="16000194" cy="1189758"/>
          </a:xfrm>
          <a:prstGeom prst="rect">
            <a:avLst/>
          </a:prstGeom>
          <a:noFill/>
        </p:spPr>
        <p:txBody>
          <a:bodyPr wrap="non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592795" y="6860024"/>
            <a:ext cx="16000333" cy="1189758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9991" y="8214637"/>
            <a:ext cx="16000194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Industrial anomaly classification (AC) and segmentation (AS)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usually need many normal reference images (one-class methods)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or hand-crafted text prompts (CLIP-based zero-shot methods)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both limit real-world deployment.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9991" y="11500187"/>
            <a:ext cx="16000194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 true zero-shot setting has no training data, no text prompts,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and no normal reference images, yet defects must still be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flagged per-image and localized per-pixel.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816393" y="13265685"/>
            <a:ext cx="15554583" cy="1534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MSM score: mean nearest-patch distance over the K most-similar test images.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9991" y="14767262"/>
            <a:ext cx="16000194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592795" y="18431887"/>
            <a:ext cx="16000333" cy="1189758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9991" y="19511744"/>
            <a:ext cx="16000194" cy="2674882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A normal patch finds many similar patches across the other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unlabeled images; an abnormal patch finds only a few — a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discriminative, training-free signal.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637245" y="23264852"/>
            <a:ext cx="15955883" cy="1189758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816393" y="24223860"/>
            <a:ext cx="16000194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Ablation Study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637245" y="25031600"/>
            <a:ext cx="15955883" cy="5254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95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lasting idea: a batch of unlabeled test images can supervise</a:t>
            </a:r>
          </a:p>
          <a:p>
            <a:pPr algn="l">
              <a:lnSpc>
                <a:spcPts val="5995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itself. Letting the images score one another yields state-of-the-art</a:t>
            </a:r>
          </a:p>
          <a:p>
            <a:pPr algn="l">
              <a:lnSpc>
                <a:spcPts val="5995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zero-shot classification and segmentation with no training,</a:t>
            </a:r>
          </a:p>
          <a:p>
            <a:pPr algn="l">
              <a:lnSpc>
                <a:spcPts val="5995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prompts, or reference images — even rivalling few-shot and full-</a:t>
            </a:r>
          </a:p>
          <a:p>
            <a:pPr algn="l">
              <a:lnSpc>
                <a:spcPts val="5995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shot methods that use the entire normal set, all with no data</a:t>
            </a:r>
          </a:p>
          <a:p>
            <a:pPr algn="l">
              <a:lnSpc>
                <a:spcPts val="5995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collection or annotation.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816375" y="8214637"/>
            <a:ext cx="16000212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LNAMD</a:t>
            </a:r>
            <a:r>
              <a:rPr sz="4106" b="0">
                <a:solidFill>
                  <a:srgbClr val="1C1C1C"/>
                </a:solidFill>
                <a:latin typeface="Arial"/>
              </a:rPr>
              <a:t> aggregates frozen ViT patch tokens at multiple degrees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 i="1">
                <a:solidFill>
                  <a:srgbClr val="1C1C1C"/>
                </a:solidFill>
                <a:latin typeface="Arial"/>
              </a:rPr>
              <a:t>r</a:t>
            </a:r>
            <a:r>
              <a:rPr sz="4106" b="0">
                <a:solidFill>
                  <a:srgbClr val="1C1C1C"/>
                </a:solidFill>
                <a:latin typeface="Arial"/>
              </a:rPr>
              <a:t> for multi-size anomalies.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816375" y="9909571"/>
            <a:ext cx="16000212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MSM</a:t>
            </a:r>
            <a:r>
              <a:rPr sz="4106" b="0">
                <a:solidFill>
                  <a:srgbClr val="1C1C1C"/>
                </a:solidFill>
                <a:latin typeface="Arial"/>
              </a:rPr>
              <a:t> mutually scores patches across test images; </a:t>
            </a:r>
            <a:r>
              <a:rPr sz="4106" b="1">
                <a:solidFill>
                  <a:srgbClr val="111111"/>
                </a:solidFill>
                <a:latin typeface="Arial"/>
              </a:rPr>
              <a:t>RsCIN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refines the image-level decision.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9972" y="16121876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methods ignore the abundant normal and abnormal cues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already sitting inside the unlabeled test images themselves.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278270" y="17083246"/>
            <a:ext cx="10508600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Fig. 6 · Zero-shot segmentation on MVTec AD &amp; VisA.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9972" y="17816810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Those cues alone are enough to determine anomalies with no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labels, prompts, or normal references.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731785" y="21986081"/>
            <a:ext cx="14154827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Fig. 2 · MuSc architecture: LNAMD → MSM (segmentation) → RsCIN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(classification).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816375" y="25578474"/>
            <a:ext cx="1600021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All three degrees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r</a:t>
            </a:r>
            <a:r>
              <a:rPr sz="4106" b="0">
                <a:solidFill>
                  <a:srgbClr val="1C1C1C"/>
                </a:solidFill>
                <a:latin typeface="Arial"/>
              </a:rPr>
              <a:t>∈{1,3,5} in LNAMD give the best combined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AC/AS: small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r</a:t>
            </a:r>
            <a:r>
              <a:rPr sz="4106" b="0">
                <a:solidFill>
                  <a:srgbClr val="1C1C1C"/>
                </a:solidFill>
                <a:latin typeface="Arial"/>
              </a:rPr>
              <a:t> for tiny defects, large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r</a:t>
            </a:r>
            <a:r>
              <a:rPr sz="4106" b="0">
                <a:solidFill>
                  <a:srgbClr val="1C1C1C"/>
                </a:solidFill>
                <a:latin typeface="Arial"/>
              </a:rPr>
              <a:t> for big ones.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816375" y="27273408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Averaging the minimum 30% interval in MSM reaches </a:t>
            </a:r>
            <a:r>
              <a:rPr sz="4106" b="1">
                <a:solidFill>
                  <a:srgbClr val="111111"/>
                </a:solidFill>
                <a:latin typeface="Arial"/>
              </a:rPr>
              <a:t>97.8%</a:t>
            </a:r>
            <a:r>
              <a:rPr sz="4106" b="0">
                <a:solidFill>
                  <a:srgbClr val="1C1C1C"/>
                </a:solidFill>
                <a:latin typeface="Arial"/>
              </a:rPr>
              <a:t> AC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vs 83.8% for a max strategy; RsCIN lifts VisA AC from 90.0% to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92.8%.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62985" y="28041421"/>
            <a:ext cx="14754205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Fig. 1 · Prior paradigms need normal reference images (a) or text prompts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(b); MuSc (c) leverages only the unlabeled test images.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838659" y="19937630"/>
            <a:ext cx="8445196" cy="1787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2236"/>
              </a:lnSpc>
              <a:spcBef>
                <a:spcPts val="0"/>
              </a:spcBef>
              <a:spcAft>
                <a:spcPts val="0"/>
              </a:spcAft>
            </a:pPr>
            <a:r>
              <a:rPr sz="12880" b="1" spc="-257">
                <a:solidFill>
                  <a:srgbClr val="8F2437"/>
                </a:solidFill>
                <a:latin typeface="Arial"/>
              </a:rPr>
              <a:t>97.8%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838659" y="21515189"/>
            <a:ext cx="8445196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image-AUROC, MVTec AD (0-shot)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838659" y="22036643"/>
            <a:ext cx="8445196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new zero-shot SOTA — no training or prompts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592795" y="8450917"/>
            <a:ext cx="6255456" cy="1004618"/>
          </a:xfrm>
          <a:prstGeom prst="rect">
            <a:avLst/>
          </a:prstGeom>
          <a:noFill/>
        </p:spPr>
        <p:txBody>
          <a:bodyPr wrap="square" lIns="71120" rIns="71120" tIns="82973" bIns="82973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0-shot method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666054" y="8450917"/>
            <a:ext cx="4916719" cy="1004618"/>
          </a:xfrm>
          <a:prstGeom prst="rect">
            <a:avLst/>
          </a:prstGeom>
          <a:noFill/>
        </p:spPr>
        <p:txBody>
          <a:bodyPr wrap="square" lIns="71120" rIns="71120" tIns="82973" bIns="8297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AC AUROC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439568" y="8450917"/>
            <a:ext cx="4868645" cy="1004618"/>
          </a:xfrm>
          <a:prstGeom prst="rect">
            <a:avLst/>
          </a:prstGeom>
          <a:noFill/>
        </p:spPr>
        <p:txBody>
          <a:bodyPr wrap="square" lIns="71120" rIns="71120" tIns="82973" bIns="8297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AS AUROC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592795" y="9324498"/>
            <a:ext cx="6255456" cy="1009731"/>
          </a:xfrm>
          <a:prstGeom prst="rect">
            <a:avLst/>
          </a:prstGeom>
          <a:noFill/>
        </p:spPr>
        <p:txBody>
          <a:bodyPr wrap="square" lIns="71120" rIns="71120" tIns="82973" bIns="82973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WinCLIP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666054" y="9324498"/>
            <a:ext cx="4916719" cy="1009731"/>
          </a:xfrm>
          <a:prstGeom prst="rect">
            <a:avLst/>
          </a:prstGeom>
          <a:noFill/>
        </p:spPr>
        <p:txBody>
          <a:bodyPr wrap="none" lIns="71120" rIns="71120" tIns="82973" bIns="8297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91.8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439568" y="9324498"/>
            <a:ext cx="4868645" cy="1009731"/>
          </a:xfrm>
          <a:prstGeom prst="rect">
            <a:avLst/>
          </a:prstGeom>
          <a:noFill/>
        </p:spPr>
        <p:txBody>
          <a:bodyPr wrap="none" lIns="71120" rIns="71120" tIns="82973" bIns="8297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85.1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592795" y="10202525"/>
            <a:ext cx="6255456" cy="1009729"/>
          </a:xfrm>
          <a:prstGeom prst="rect">
            <a:avLst/>
          </a:prstGeom>
          <a:noFill/>
        </p:spPr>
        <p:txBody>
          <a:bodyPr wrap="square" lIns="71120" rIns="71120" tIns="82973" bIns="82973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MuSc (ours)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666054" y="10202525"/>
            <a:ext cx="4916719" cy="1009729"/>
          </a:xfrm>
          <a:prstGeom prst="rect">
            <a:avLst/>
          </a:prstGeom>
          <a:noFill/>
        </p:spPr>
        <p:txBody>
          <a:bodyPr wrap="none" lIns="71120" rIns="71120" tIns="82973" bIns="8297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97.8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439568" y="10202525"/>
            <a:ext cx="4868645" cy="1009729"/>
          </a:xfrm>
          <a:prstGeom prst="rect">
            <a:avLst/>
          </a:prstGeom>
          <a:noFill/>
        </p:spPr>
        <p:txBody>
          <a:bodyPr wrap="none" lIns="71120" rIns="71120" tIns="82973" bIns="8297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97.3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089816" y="19937630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97.3%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91000" y="20070980"/>
            <a:ext cx="425343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pixel-AUROC (MVTec AD)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089816" y="20860523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92.8%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91000" y="20993873"/>
            <a:ext cx="3534486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image-AUROC (VisA)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4089816" y="21783417"/>
            <a:ext cx="139296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+21.1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624730" y="21916767"/>
            <a:ext cx="358313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PRO gain vs 2nd-best</a:t>
            </a:r>
          </a:p>
        </p:txBody>
      </p:sp>
      <p:pic>
        <p:nvPicPr>
          <p:cNvPr id="108" name="Picture 107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16393" y="11679515"/>
            <a:ext cx="15573474" cy="14222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
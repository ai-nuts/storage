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108305"/>
          </a:xfrm>
          <a:prstGeom prst="roundRect">
            <a:avLst>
              <a:gd name="adj" fmla="val 4576"/>
            </a:avLst>
          </a:prstGeom>
          <a:solidFill>
            <a:srgbClr val="E6F0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281646"/>
            <a:ext cx="10804961" cy="9482852"/>
          </a:xfrm>
          <a:prstGeom prst="roundRect">
            <a:avLst>
              <a:gd name="adj" fmla="val 562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4281646"/>
            <a:ext cx="27439124" cy="16397188"/>
          </a:xfrm>
          <a:prstGeom prst="roundRect">
            <a:avLst>
              <a:gd name="adj" fmla="val 325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49412" y="4281646"/>
            <a:ext cx="10804962" cy="6629162"/>
          </a:xfrm>
          <a:prstGeom prst="roundRect">
            <a:avLst>
              <a:gd name="adj" fmla="val 804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11242655"/>
            <a:ext cx="10804962" cy="4829909"/>
          </a:xfrm>
          <a:prstGeom prst="roundRect">
            <a:avLst>
              <a:gd name="adj" fmla="val 1104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4096345"/>
            <a:ext cx="10804961" cy="15975607"/>
          </a:xfrm>
          <a:prstGeom prst="roundRect">
            <a:avLst>
              <a:gd name="adj" fmla="val 493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49412" y="16404411"/>
            <a:ext cx="10804962" cy="7644428"/>
          </a:xfrm>
          <a:prstGeom prst="roundRect">
            <a:avLst>
              <a:gd name="adj" fmla="val 697"/>
            </a:avLst>
          </a:prstGeom>
          <a:solidFill>
            <a:srgbClr val="ECF3EE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16404411"/>
            <a:ext cx="53340" cy="7644428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24380686"/>
            <a:ext cx="10804962" cy="5691266"/>
          </a:xfrm>
          <a:prstGeom prst="roundRect">
            <a:avLst>
              <a:gd name="adj" fmla="val 937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rnegie-mellon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8465" y="1180703"/>
            <a:ext cx="10542429" cy="942340"/>
          </a:xfrm>
          <a:prstGeom prst="rect">
            <a:avLst/>
          </a:prstGeom>
        </p:spPr>
      </p:pic>
      <p:pic>
        <p:nvPicPr>
          <p:cNvPr id="12" name="Picture 11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369" y="1257808"/>
            <a:ext cx="5620424" cy="1896462"/>
          </a:xfrm>
          <a:prstGeom prst="rect">
            <a:avLst/>
          </a:prstGeom>
        </p:spPr>
      </p:pic>
      <p:pic>
        <p:nvPicPr>
          <p:cNvPr id="13" name="Picture 12" descr="princeton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2156" y="2288897"/>
            <a:ext cx="3681016" cy="942340"/>
          </a:xfrm>
          <a:prstGeom prst="rect">
            <a:avLst/>
          </a:prstGeom>
        </p:spPr>
      </p:pic>
      <p:pic>
        <p:nvPicPr>
          <p:cNvPr id="14" name="Picture 13" descr="sony-computer-science-laboratories-inc-tokyo-jap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00146" y="2288905"/>
            <a:ext cx="5337056" cy="94232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9991" y="4669750"/>
            <a:ext cx="1002875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5629870"/>
            <a:ext cx="10028753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271672" y="4669750"/>
            <a:ext cx="26662916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271672" y="5629870"/>
            <a:ext cx="26662916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137516" y="4669750"/>
            <a:ext cx="1002875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37516" y="5629870"/>
            <a:ext cx="10028754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0278645"/>
            <a:ext cx="10028753" cy="28370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0278645"/>
            <a:ext cx="124460" cy="2837022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137516" y="11630759"/>
            <a:ext cx="1002875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37516" y="12590879"/>
            <a:ext cx="10028754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137516" y="12928699"/>
            <a:ext cx="10028754" cy="2814796"/>
          </a:xfrm>
          <a:prstGeom prst="roundRect">
            <a:avLst>
              <a:gd name="adj" fmla="val 2526"/>
            </a:avLst>
          </a:prstGeom>
          <a:gradFill rotWithShape="1" flip="none">
            <a:gsLst>
              <a:gs pos="0">
                <a:srgbClr val="E6ECE8"/>
              </a:gs>
              <a:gs pos="100000">
                <a:srgbClr val="F2F5F3"/>
              </a:gs>
            </a:gsLst>
            <a:lin ang="5400000" scaled="0"/>
          </a:gradFill>
          <a:ln w="8890">
            <a:solidFill>
              <a:srgbClr val="CAD7CF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9991" y="14484449"/>
            <a:ext cx="1002875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9991" y="15444569"/>
            <a:ext cx="10028753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181966" y="16792515"/>
            <a:ext cx="998430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81966" y="17752635"/>
            <a:ext cx="9984304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883568" y="21010681"/>
            <a:ext cx="13553639" cy="9061271"/>
          </a:xfrm>
          <a:prstGeom prst="roundRect">
            <a:avLst>
              <a:gd name="adj" fmla="val 588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5769054" y="21010681"/>
            <a:ext cx="13553638" cy="9061271"/>
          </a:xfrm>
          <a:prstGeom prst="roundRect">
            <a:avLst>
              <a:gd name="adj" fmla="val 588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181966" y="21179730"/>
            <a:ext cx="9984304" cy="2581156"/>
          </a:xfrm>
          <a:prstGeom prst="roundRect">
            <a:avLst>
              <a:gd name="adj" fmla="val 1377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181966" y="21179730"/>
            <a:ext cx="35560" cy="2581156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137516" y="7740828"/>
            <a:ext cx="3169007" cy="1604923"/>
          </a:xfrm>
          <a:prstGeom prst="roundRect">
            <a:avLst>
              <a:gd name="adj" fmla="val 16248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567250" y="7740828"/>
            <a:ext cx="3169146" cy="1604923"/>
          </a:xfrm>
          <a:prstGeom prst="roundRect">
            <a:avLst>
              <a:gd name="adj" fmla="val 16248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6997123" y="7740828"/>
            <a:ext cx="3169147" cy="1604923"/>
          </a:xfrm>
          <a:prstGeom prst="roundRect">
            <a:avLst>
              <a:gd name="adj" fmla="val 16248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2271672" y="9369782"/>
            <a:ext cx="26662916" cy="1015127"/>
          </a:xfrm>
          <a:prstGeom prst="roundRect">
            <a:avLst>
              <a:gd name="adj" fmla="val 22195"/>
            </a:avLst>
          </a:prstGeom>
          <a:solidFill>
            <a:srgbClr val="F2F5F3"/>
          </a:solidFill>
          <a:ln w="8890">
            <a:solidFill>
              <a:srgbClr val="B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4187" y="13150949"/>
            <a:ext cx="4196218" cy="24178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4187" y="13150949"/>
            <a:ext cx="11557" cy="2417802"/>
          </a:xfrm>
          <a:prstGeom prst="rect">
            <a:avLst/>
          </a:prstGeom>
          <a:solidFill>
            <a:srgbClr val="CAD7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39991" y="15782389"/>
            <a:ext cx="4568071" cy="5428317"/>
          </a:xfrm>
          <a:prstGeom prst="roundRect">
            <a:avLst>
              <a:gd name="adj" fmla="val 4566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00673" y="15782389"/>
            <a:ext cx="4568071" cy="3348752"/>
          </a:xfrm>
          <a:prstGeom prst="roundRect">
            <a:avLst>
              <a:gd name="adj" fmla="val 6229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271672" y="21398785"/>
            <a:ext cx="12777430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271672" y="22358905"/>
            <a:ext cx="12777430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157158" y="21398785"/>
            <a:ext cx="12777430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157158" y="22358905"/>
            <a:ext cx="12777430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255017" y="21471433"/>
            <a:ext cx="9598561" cy="6932950"/>
          </a:xfrm>
          <a:prstGeom prst="roundRect">
            <a:avLst>
              <a:gd name="adj" fmla="val 51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030" y="21471433"/>
            <a:ext cx="9598536" cy="693295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3650177" y="24768790"/>
            <a:ext cx="3003431" cy="515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650177" y="25266491"/>
            <a:ext cx="3003431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1199038" y="25497631"/>
            <a:ext cx="7905710" cy="4186217"/>
          </a:xfrm>
          <a:prstGeom prst="roundRect">
            <a:avLst>
              <a:gd name="adj" fmla="val 5096"/>
            </a:avLst>
          </a:prstGeom>
          <a:solidFill>
            <a:srgbClr val="E6F0EA"/>
          </a:solidFill>
          <a:ln w="17780">
            <a:solidFill>
              <a:srgbClr val="2D5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6157158" y="25628203"/>
            <a:ext cx="12777430" cy="1942187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157158" y="27851397"/>
            <a:ext cx="12777430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157158" y="27851397"/>
            <a:ext cx="12777430" cy="11557"/>
          </a:xfrm>
          <a:prstGeom prst="rect">
            <a:avLst/>
          </a:prstGeom>
          <a:solidFill>
            <a:srgbClr val="B6C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2831464" y="10786348"/>
            <a:ext cx="25543193" cy="8932227"/>
          </a:xfrm>
          <a:prstGeom prst="roundRect">
            <a:avLst>
              <a:gd name="adj" fmla="val 39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figur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1476" y="10786348"/>
            <a:ext cx="25543169" cy="8932227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2271672" y="26999207"/>
            <a:ext cx="2457946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CIFAR-10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886027" y="26999207"/>
            <a:ext cx="3197066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ImageNet-1K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39501" y="26999207"/>
            <a:ext cx="1250990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UCI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9646900" y="26999207"/>
            <a:ext cx="3836868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SVHN · far-OOD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271672" y="27975440"/>
            <a:ext cx="519189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CIFAR-100 · near-OOD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7619980" y="27975440"/>
            <a:ext cx="2975232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ImageNet-O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271672" y="28951674"/>
            <a:ext cx="4651276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vs Deep Ensembles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7079356" y="28951674"/>
            <a:ext cx="1447959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DDU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8683724" y="28951674"/>
            <a:ext cx="1472545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DUQ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312677" y="28951674"/>
            <a:ext cx="1423511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DUE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892597" y="28951674"/>
            <a:ext cx="1743829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SNGP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792834" y="28951674"/>
            <a:ext cx="1226543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VIB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2271672" y="596769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2271672" y="7159089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2271672" y="8350488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566431" y="25663624"/>
            <a:ext cx="1425317" cy="488116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6354960" y="25663624"/>
            <a:ext cx="1339195" cy="488116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667152" y="26293980"/>
            <a:ext cx="3224014" cy="3224014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pap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85685" y="26412513"/>
            <a:ext cx="2986948" cy="2986948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45412620" y="26293980"/>
            <a:ext cx="3224014" cy="3224014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31153" y="26412513"/>
            <a:ext cx="2986948" cy="2986948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26157158" y="22890638"/>
            <a:ext cx="6672639" cy="814408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157158" y="23696156"/>
            <a:ext cx="667263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829797" y="22890638"/>
            <a:ext cx="3090664" cy="814408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829797" y="23696156"/>
            <a:ext cx="30906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920461" y="22890638"/>
            <a:ext cx="3014127" cy="814408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5920461" y="23696156"/>
            <a:ext cx="301412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6157158" y="23705046"/>
            <a:ext cx="6672639" cy="818852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6157158" y="24515008"/>
            <a:ext cx="667263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2829797" y="23705046"/>
            <a:ext cx="3090664" cy="818852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2829797" y="24515008"/>
            <a:ext cx="30906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5920461" y="23705046"/>
            <a:ext cx="3014127" cy="818852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5920461" y="24515008"/>
            <a:ext cx="301412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157158" y="24523898"/>
            <a:ext cx="6672639" cy="818852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6157158" y="25333860"/>
            <a:ext cx="667263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829797" y="24523898"/>
            <a:ext cx="3090664" cy="818852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2829797" y="25333860"/>
            <a:ext cx="30906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5920461" y="24523898"/>
            <a:ext cx="3014127" cy="818852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5920461" y="25333860"/>
            <a:ext cx="301412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44176" y="16734035"/>
            <a:ext cx="3880723" cy="153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Distance-aware, but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3493" y="17301190"/>
            <a:ext cx="3791160" cy="4143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Fast, but need arch constraints (spectral norm) — hurting calibration.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69793" y="18246447"/>
            <a:ext cx="149225" cy="664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446402" y="983734"/>
            <a:ext cx="24740176" cy="12594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2D5F3E"/>
                </a:solidFill>
                <a:latin typeface="Arial"/>
              </a:rPr>
              <a:t>A Rate-Distortion View of Uncertainty Quantification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446402" y="2277923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Ifigeneia Apostolopoulou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Benjamin Eysenbach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Frank Nielsen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Artur Dubrawski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446402" y="2947173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Carnegie Mellon University  ·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Princeton University  ·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Sony Computer Science Laboratories, Tokyo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9991" y="4669750"/>
            <a:ext cx="10329615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Problem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271672" y="4669750"/>
            <a:ext cx="27089636" cy="1124585"/>
          </a:xfrm>
          <a:prstGeom prst="rect">
            <a:avLst/>
          </a:prstGeom>
          <a:noFill/>
        </p:spPr>
        <p:txBody>
          <a:bodyPr wrap="non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Method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137516" y="4669750"/>
            <a:ext cx="10329616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Ablation Study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137516" y="5967690"/>
            <a:ext cx="10329616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CIFAR-10 mistake prediction — Calibration AUROC↑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9991" y="6102290"/>
            <a:ext cx="10329615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Deep neural networks usually </a:t>
            </a:r>
            <a:r>
              <a:rPr sz="4106" b="1">
                <a:solidFill>
                  <a:srgbClr val="111111"/>
                </a:solidFill>
                <a:latin typeface="Arial"/>
              </a:rPr>
              <a:t>cannot tell how far a new input lies from their training data</a:t>
            </a:r>
            <a:r>
              <a:rPr sz="4106" b="0">
                <a:solidFill>
                  <a:srgbClr val="1C1C1C"/>
                </a:solidFill>
                <a:latin typeface="Arial"/>
              </a:rPr>
              <a:t>, so they give overconfident predictions on out-of-distribution or hard examples.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137516" y="9486463"/>
            <a:ext cx="10329616" cy="1565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DAB closes most of the single-pass→ensemble gap.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9991" y="10278645"/>
            <a:ext cx="10329615" cy="3262575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Gaussian Processes are naturally distance-aware — but reliable, efficient uncertainty for deep learning is still missing.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137516" y="11630759"/>
            <a:ext cx="10329616" cy="1124585"/>
          </a:xfrm>
          <a:prstGeom prst="rect">
            <a:avLst/>
          </a:prstGeom>
          <a:noFill/>
        </p:spPr>
        <p:txBody>
          <a:bodyPr wrap="square" lIns="0" rIns="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Headline Numbers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39991" y="14484449"/>
            <a:ext cx="10329615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Motivation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181966" y="16792515"/>
            <a:ext cx="10283833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Takeaway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181966" y="18229917"/>
            <a:ext cx="1028383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Compressing training data into a </a:t>
            </a:r>
            <a:r>
              <a:rPr sz="4106" b="1">
                <a:solidFill>
                  <a:srgbClr val="111111"/>
                </a:solidFill>
                <a:latin typeface="Arial"/>
              </a:rPr>
              <a:t>learned codebook</a:t>
            </a:r>
            <a:r>
              <a:rPr sz="4106" b="0">
                <a:solidFill>
                  <a:srgbClr val="1C1C1C"/>
                </a:solidFill>
                <a:latin typeface="Arial"/>
              </a:rPr>
              <a:t> gives a single deterministic network real distance-awareness.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181966" y="21179730"/>
            <a:ext cx="10283833" cy="2968329"/>
          </a:xfrm>
          <a:prstGeom prst="rect">
            <a:avLst/>
          </a:prstGeom>
          <a:noFill/>
        </p:spPr>
        <p:txBody>
          <a:bodyPr wrap="square" lIns="408892" rIns="408892" tIns="255558" bIns="255558">
            <a:spAutoFit/>
          </a:bodyPr>
          <a:lstStyle/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2D5F3E"/>
                </a:solidFill>
                <a:latin typeface="Arial"/>
              </a:rPr>
              <a:t>One forward pass; GP-like uncertainty for classification </a:t>
            </a:r>
            <a:r>
              <a:rPr sz="4024" b="1" i="1">
                <a:solidFill>
                  <a:srgbClr val="2D5F3E"/>
                </a:solidFill>
                <a:latin typeface="Arial"/>
              </a:rPr>
              <a:t>and</a:t>
            </a:r>
            <a:r>
              <a:rPr sz="4024" b="1">
                <a:solidFill>
                  <a:srgbClr val="2D5F3E"/>
                </a:solidFill>
                <a:latin typeface="Arial"/>
              </a:rPr>
              <a:t> regression.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271672" y="9369782"/>
            <a:ext cx="27089636" cy="1167396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8356" y="15782389"/>
            <a:ext cx="650983" cy="869635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2D5F3E"/>
                </a:solidFill>
                <a:latin typeface="Arial"/>
              </a:rPr>
              <a:t>vs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271672" y="21398785"/>
            <a:ext cx="13160752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Dataset / Benchmark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157158" y="21398785"/>
            <a:ext cx="13160752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Key Results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271672" y="22696725"/>
            <a:ext cx="1316075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Narrow </a:t>
            </a:r>
            <a:r>
              <a:rPr sz="4106" b="1">
                <a:solidFill>
                  <a:srgbClr val="111111"/>
                </a:solidFill>
                <a:latin typeface="Arial"/>
              </a:rPr>
              <a:t>8-dim bottleneck</a:t>
            </a:r>
            <a:r>
              <a:rPr sz="4106" b="0">
                <a:solidFill>
                  <a:srgbClr val="1C1C1C"/>
                </a:solidFill>
                <a:latin typeface="Arial"/>
              </a:rPr>
              <a:t>, only </a:t>
            </a:r>
            <a:r>
              <a:rPr sz="4106" b="1">
                <a:solidFill>
                  <a:srgbClr val="111111"/>
                </a:solidFill>
                <a:latin typeface="Arial"/>
              </a:rPr>
              <a:t>10 codes</a:t>
            </a:r>
            <a:r>
              <a:rPr sz="4106" b="0">
                <a:solidFill>
                  <a:srgbClr val="1C1C1C"/>
                </a:solidFill>
                <a:latin typeface="Arial"/>
              </a:rPr>
              <a:t> — classification &amp; regression OOD (incl. UCI energy). WideResNet-28 / ResNet-50 backbones, 10 seeds.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3650177" y="24768790"/>
            <a:ext cx="3093533" cy="5928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2D5F3E"/>
                </a:solidFill>
                <a:latin typeface="Arial"/>
              </a:rPr>
              <a:t>Scan to Read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271672" y="25226069"/>
            <a:ext cx="13160752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OOD splits probe </a:t>
            </a:r>
            <a:r>
              <a:rPr sz="4106" b="1">
                <a:solidFill>
                  <a:srgbClr val="111111"/>
                </a:solidFill>
                <a:latin typeface="Arial"/>
              </a:rPr>
              <a:t>far</a:t>
            </a:r>
            <a:r>
              <a:rPr sz="4106" b="0">
                <a:solidFill>
                  <a:srgbClr val="1C1C1C"/>
                </a:solidFill>
                <a:latin typeface="Arial"/>
              </a:rPr>
              <a:t> (SVHN) vs </a:t>
            </a:r>
            <a:r>
              <a:rPr sz="4106" b="1">
                <a:solidFill>
                  <a:srgbClr val="111111"/>
                </a:solidFill>
                <a:latin typeface="Arial"/>
              </a:rPr>
              <a:t>near</a:t>
            </a:r>
            <a:r>
              <a:rPr sz="4106" b="0">
                <a:solidFill>
                  <a:srgbClr val="1C1C1C"/>
                </a:solidFill>
                <a:latin typeface="Arial"/>
              </a:rPr>
              <a:t> (CIFAR-100) shift.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6157158" y="25628203"/>
            <a:ext cx="13160752" cy="2233515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2D5F3E"/>
                </a:solidFill>
                <a:latin typeface="Arial"/>
              </a:rPr>
              <a:t>Best on </a:t>
            </a:r>
            <a:r>
              <a:rPr sz="4024" b="1">
                <a:solidFill>
                  <a:srgbClr val="111111"/>
                </a:solidFill>
                <a:latin typeface="Arial"/>
              </a:rPr>
              <a:t>both</a:t>
            </a:r>
            <a:r>
              <a:rPr sz="4024" b="1">
                <a:solidFill>
                  <a:srgbClr val="2D5F3E"/>
                </a:solidFill>
                <a:latin typeface="Arial"/>
              </a:rPr>
              <a:t> OOD tasks — beating even a 5-model Deep Ensemble, single forward pass.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157158" y="27851397"/>
            <a:ext cx="13160752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One deterministic model matches or beats expensive ensembles.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38954" y="28553985"/>
            <a:ext cx="9095464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DAB uncertainty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widens away from the training data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(noisy regression).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233815" y="5967690"/>
            <a:ext cx="26127493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Embed</a:t>
            </a:r>
            <a:r>
              <a:rPr sz="4106" b="0">
                <a:solidFill>
                  <a:srgbClr val="1C1C1C"/>
                </a:solidFill>
                <a:latin typeface="Arial"/>
              </a:rPr>
              <a:t> each input via its encoder into a distribution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p(z | x; θ)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3233815" y="7159089"/>
            <a:ext cx="26127493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Compress</a:t>
            </a:r>
            <a:r>
              <a:rPr sz="4106" b="0">
                <a:solidFill>
                  <a:srgbClr val="1C1C1C"/>
                </a:solidFill>
                <a:latin typeface="Arial"/>
              </a:rPr>
              <a:t> into a codebook of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</a:t>
            </a:r>
            <a:r>
              <a:rPr sz="4106" b="0">
                <a:solidFill>
                  <a:srgbClr val="1C1C1C"/>
                </a:solidFill>
                <a:latin typeface="Arial"/>
              </a:rPr>
              <a:t> centroids — an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achievable rate</a:t>
            </a:r>
            <a:r>
              <a:rPr sz="4106" b="0">
                <a:solidFill>
                  <a:srgbClr val="1C1C1C"/>
                </a:solidFill>
                <a:latin typeface="Arial"/>
              </a:rPr>
              <a:t> replacing the IB rate term.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346014" y="7897237"/>
            <a:ext cx="2834571" cy="959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/>
              </a:rPr>
              <a:t>0.897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3775749" y="7897237"/>
            <a:ext cx="2834713" cy="959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/>
              </a:rPr>
              <a:t>0.930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205622" y="7897237"/>
            <a:ext cx="2834713" cy="959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/>
              </a:rPr>
              <a:t>0.951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3233815" y="8350488"/>
            <a:ext cx="26127493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Score</a:t>
            </a:r>
            <a:r>
              <a:rPr sz="4106" b="0">
                <a:solidFill>
                  <a:srgbClr val="1C1C1C"/>
                </a:solidFill>
                <a:latin typeface="Arial"/>
              </a:rPr>
              <a:t> uncertainty = expected KL distance to the codebook (one forward pass).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0346014" y="8799433"/>
            <a:ext cx="2834571" cy="4483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SNGP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3775749" y="8799433"/>
            <a:ext cx="2834713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DAB (ours)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7205622" y="8799433"/>
            <a:ext cx="2834713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Ensemble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0383380" y="13150949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2D5F3E"/>
                </a:solidFill>
                <a:latin typeface="Arial"/>
              </a:rPr>
              <a:t>0.986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383380" y="14525843"/>
            <a:ext cx="4910137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OOD AUROC, CIFAR-10→SVHN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283493" y="15999777"/>
            <a:ext cx="4203497" cy="1304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SINGLE-PASS DUMS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744176" y="15999777"/>
            <a:ext cx="4203496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ENSEMBLES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5316080" y="19868177"/>
            <a:ext cx="21000681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Learned CIFAR-10 codebook: each of the 10 centroids attracts one class over training (epoch 1→100→200).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202441" y="13150949"/>
            <a:ext cx="137722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0.922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722075" y="13284299"/>
            <a:ext cx="2264279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CIFAR-100 AUROC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202441" y="14490144"/>
            <a:ext cx="153274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36.5M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7873066" y="14623494"/>
            <a:ext cx="2108759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params (vs 182M)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6157158" y="22890638"/>
            <a:ext cx="6872818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CIFAR-10 OOD task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2829797" y="22890638"/>
            <a:ext cx="3183383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AUROC↑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5920461" y="22890638"/>
            <a:ext cx="3104550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AUPRC↑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6157158" y="23705046"/>
            <a:ext cx="6872818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→ SVHN (far)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2829797" y="23705046"/>
            <a:ext cx="318338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0.986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5920461" y="23705046"/>
            <a:ext cx="310455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0.994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6157158" y="24523898"/>
            <a:ext cx="6872818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→ CIFAR-100 (near)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2829797" y="24523898"/>
            <a:ext cx="318338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0.922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5920461" y="24523898"/>
            <a:ext cx="310455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0.915</a:t>
            </a:r>
          </a:p>
        </p:txBody>
      </p:sp>
      <p:pic>
        <p:nvPicPr>
          <p:cNvPr id="150" name="Picture 149" descr="eq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27128" y="9455070"/>
            <a:ext cx="17151866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
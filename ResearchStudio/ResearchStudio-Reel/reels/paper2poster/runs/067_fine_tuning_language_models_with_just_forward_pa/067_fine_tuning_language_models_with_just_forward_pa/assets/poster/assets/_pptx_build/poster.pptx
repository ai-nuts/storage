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641844"/>
          </a:xfrm>
          <a:prstGeom prst="roundRect">
            <a:avLst>
              <a:gd name="adj" fmla="val 3905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815185"/>
            <a:ext cx="10676056" cy="8124765"/>
          </a:xfrm>
          <a:prstGeom prst="roundRect">
            <a:avLst>
              <a:gd name="adj" fmla="val 1021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754663" y="4815185"/>
            <a:ext cx="13924935" cy="18527454"/>
          </a:xfrm>
          <a:prstGeom prst="roundRect">
            <a:avLst>
              <a:gd name="adj" fmla="val 595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106318" y="4815185"/>
            <a:ext cx="13345279" cy="8232695"/>
          </a:xfrm>
          <a:prstGeom prst="roundRect">
            <a:avLst>
              <a:gd name="adj" fmla="val 1007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878317" y="4815185"/>
            <a:ext cx="10676057" cy="12839799"/>
          </a:xfrm>
          <a:prstGeom prst="roundRect">
            <a:avLst>
              <a:gd name="adj" fmla="val 777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3271797"/>
            <a:ext cx="10676056" cy="16800155"/>
          </a:xfrm>
          <a:prstGeom prst="roundRect">
            <a:avLst>
              <a:gd name="adj" fmla="val 777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106318" y="13379727"/>
            <a:ext cx="13345279" cy="16692225"/>
          </a:xfrm>
          <a:prstGeom prst="roundRect">
            <a:avLst>
              <a:gd name="adj" fmla="val 621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878317" y="17986831"/>
            <a:ext cx="10676057" cy="6519426"/>
          </a:xfrm>
          <a:prstGeom prst="roundRect">
            <a:avLst>
              <a:gd name="adj" fmla="val 1272"/>
            </a:avLst>
          </a:prstGeom>
          <a:solidFill>
            <a:srgbClr val="F6ECF1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878317" y="17986831"/>
            <a:ext cx="53340" cy="6519426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54663" y="23674486"/>
            <a:ext cx="13924935" cy="6397466"/>
          </a:xfrm>
          <a:prstGeom prst="roundRect">
            <a:avLst>
              <a:gd name="adj" fmla="val 1296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878317" y="24838104"/>
            <a:ext cx="10676057" cy="5233848"/>
          </a:xfrm>
          <a:prstGeom prst="roundRect">
            <a:avLst>
              <a:gd name="adj" fmla="val 1585"/>
            </a:avLst>
          </a:prstGeom>
          <a:solidFill>
            <a:srgbClr val="F6F0F4"/>
          </a:solidFill>
          <a:ln w="8890">
            <a:solidFill>
              <a:srgbClr val="E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487" y="1149732"/>
            <a:ext cx="3475851" cy="151712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9991" y="10392826"/>
            <a:ext cx="9899848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10392826"/>
            <a:ext cx="124460" cy="21590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494422" y="10931227"/>
            <a:ext cx="12569071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94422" y="10931227"/>
            <a:ext cx="12569071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142767" y="14030364"/>
            <a:ext cx="13148727" cy="3753803"/>
          </a:xfrm>
          <a:prstGeom prst="roundRect">
            <a:avLst>
              <a:gd name="adj" fmla="val 6002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310871" y="22593935"/>
            <a:ext cx="9855399" cy="1668819"/>
          </a:xfrm>
          <a:prstGeom prst="roundRect">
            <a:avLst>
              <a:gd name="adj" fmla="val 125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142767" y="25173840"/>
            <a:ext cx="13148727" cy="4699615"/>
          </a:xfrm>
          <a:prstGeom prst="roundRect">
            <a:avLst>
              <a:gd name="adj" fmla="val 1513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494422" y="28045310"/>
            <a:ext cx="12569071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494422" y="28045310"/>
            <a:ext cx="12569071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princeton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1795" y="3093581"/>
            <a:ext cx="3299023" cy="84455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6494422" y="6388437"/>
            <a:ext cx="3774222" cy="1604923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529371" y="6388437"/>
            <a:ext cx="4499034" cy="1604923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89132" y="6388437"/>
            <a:ext cx="3774361" cy="1604923"/>
          </a:xfrm>
          <a:prstGeom prst="roundRect">
            <a:avLst>
              <a:gd name="adj" fmla="val 16248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494422" y="8076148"/>
            <a:ext cx="3705741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RoBERTa-large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6571" y="8076148"/>
            <a:ext cx="3517940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OPT 1.3B–66B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30920" y="8076148"/>
            <a:ext cx="1719381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SST-2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906710" y="8076148"/>
            <a:ext cx="149727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SNLI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494422" y="9052381"/>
            <a:ext cx="1570891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MNLI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221721" y="9052381"/>
            <a:ext cx="137420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52329" y="9052381"/>
            <a:ext cx="169424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TREC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02977" y="9052381"/>
            <a:ext cx="1817172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BoolQ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576557" y="9052381"/>
            <a:ext cx="1521718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WSC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54684" y="9052381"/>
            <a:ext cx="1349196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WIC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760288" y="9052381"/>
            <a:ext cx="2161659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MultiRC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494422" y="10028614"/>
            <a:ext cx="1735356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COPA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86186" y="10028614"/>
            <a:ext cx="2285286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ReCoRD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827880" y="10028614"/>
            <a:ext cx="2039005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SQuAD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023294" y="10028614"/>
            <a:ext cx="1768276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DROP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66421" y="12270283"/>
            <a:ext cx="9899849" cy="3118862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ur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6449" y="12270283"/>
            <a:ext cx="9899793" cy="311886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26497895" y="15789890"/>
            <a:ext cx="12561986" cy="3614618"/>
          </a:xfrm>
          <a:prstGeom prst="roundRect">
            <a:avLst>
              <a:gd name="adj" fmla="val 98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7918" y="15789890"/>
            <a:ext cx="12561940" cy="361461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062493" y="23197899"/>
            <a:ext cx="9854704" cy="5206484"/>
          </a:xfrm>
          <a:prstGeom prst="roundRect">
            <a:avLst>
              <a:gd name="adj" fmla="val 68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73" y="23197899"/>
            <a:ext cx="9854544" cy="520648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26494422" y="25391506"/>
            <a:ext cx="4015780" cy="1994833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0770929" y="25391506"/>
            <a:ext cx="4015918" cy="1994833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047574" y="25391506"/>
            <a:ext cx="4015919" cy="1994833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600" y="25396090"/>
            <a:ext cx="5569030" cy="43026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476600" y="25396090"/>
            <a:ext cx="11557" cy="4302621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2142767" y="8317984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142767" y="10239613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142767" y="1216124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225555" y="25226208"/>
            <a:ext cx="3791168" cy="3791168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4088" y="25344741"/>
            <a:ext cx="3554102" cy="355410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46374129" y="25226208"/>
            <a:ext cx="3791168" cy="3791168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92662" y="25344741"/>
            <a:ext cx="3554102" cy="355410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3493213" y="29159616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686098" y="29159616"/>
            <a:ext cx="1167369" cy="5242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7D2860"/>
                </a:solidFill>
                <a:latin typeface="Arial"/>
              </a:rPr>
              <a:t>Code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66421" y="27150476"/>
            <a:ext cx="1602700" cy="2291676"/>
          </a:xfrm>
          <a:prstGeom prst="roundRect">
            <a:avLst>
              <a:gd name="adj" fmla="val 8875"/>
            </a:avLst>
          </a:prstGeom>
          <a:solidFill>
            <a:srgbClr val="F4E6EF"/>
          </a:solidFill>
          <a:ln w="1778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15581" y="1007487"/>
            <a:ext cx="44340819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7D2860"/>
                </a:solidFill>
                <a:latin typeface="Arial"/>
              </a:rPr>
              <a:t>Fine-Tuning Language Models with Just Forward Passes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5581" y="2363350"/>
            <a:ext cx="44340819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Sadhika Malladi, Tianyu Gao, Eshaan Nichani, Alex Damian, Jason D. Lee, Danqi Chen, Sanjeev Arora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15581" y="3063577"/>
            <a:ext cx="44340819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Princeton University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5203289"/>
            <a:ext cx="101968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42767" y="5203289"/>
            <a:ext cx="13543188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494422" y="5203289"/>
            <a:ext cx="129461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Datasets &amp; Setup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66421" y="5203289"/>
            <a:ext cx="101968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Ablation Study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9991" y="6305649"/>
            <a:ext cx="10196843" cy="44004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As language models scale, </a:t>
            </a:r>
            <a:r>
              <a:rPr sz="4106" b="1">
                <a:solidFill>
                  <a:srgbClr val="111111"/>
                </a:solidFill>
                <a:latin typeface="Arial"/>
              </a:rPr>
              <a:t>fine-tuning with backpropagation</a:t>
            </a:r>
            <a:r>
              <a:rPr sz="4106" b="0">
                <a:solidFill>
                  <a:srgbClr val="1C1C1C"/>
                </a:solidFill>
                <a:latin typeface="Arial"/>
              </a:rPr>
              <a:t> needs prohibitive memory: it caches activations and stores gradients and optimizer states — up to </a:t>
            </a:r>
            <a:r>
              <a:rPr sz="4353" b="1">
                <a:solidFill>
                  <a:srgbClr val="111111"/>
                </a:solidFill>
                <a:latin typeface="Arial"/>
              </a:rPr>
              <a:t>12×</a:t>
            </a:r>
            <a:r>
              <a:rPr sz="4106" b="0">
                <a:solidFill>
                  <a:srgbClr val="1C1C1C"/>
                </a:solidFill>
                <a:latin typeface="Arial"/>
              </a:rPr>
              <a:t> the memory of plain inference.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42767" y="6425247"/>
            <a:ext cx="13543188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MeZO</a:t>
            </a:r>
            <a:r>
              <a:rPr sz="4106" b="0">
                <a:solidFill>
                  <a:srgbClr val="1C1C1C"/>
                </a:solidFill>
                <a:latin typeface="Arial"/>
              </a:rPr>
              <a:t> adapts zeroth-order SGD (SPSA) to run </a:t>
            </a:r>
            <a:r>
              <a:rPr sz="4106" b="1">
                <a:solidFill>
                  <a:srgbClr val="111111"/>
                </a:solidFill>
                <a:latin typeface="Arial"/>
              </a:rPr>
              <a:t>in place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step costs inference-level memory.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10392826"/>
            <a:ext cx="10196843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On a single 80GB A100, inference runs a 30B model — but Adam fine-tuning fits only a 2.7B one.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494422" y="10931227"/>
            <a:ext cx="1294614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Baselines: zero-shot, in-context learning (ICL), linear probing (LP), and full Adam fine-tuning (FT).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13659901"/>
            <a:ext cx="101968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494422" y="13767831"/>
            <a:ext cx="129461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829061" y="17343834"/>
            <a:ext cx="5949280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SPSA gradient estimate + the in-place SGD update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42767" y="18044477"/>
            <a:ext cx="13543188" cy="17915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Reusing the seed avoids the </a:t>
            </a:r>
            <a:r>
              <a:rPr sz="4353" b="1">
                <a:solidFill>
                  <a:srgbClr val="111111"/>
                </a:solidFill>
                <a:latin typeface="Arial"/>
              </a:rPr>
              <a:t>2×</a:t>
            </a:r>
            <a:r>
              <a:rPr sz="4106" b="0">
                <a:solidFill>
                  <a:srgbClr val="1C1C1C"/>
                </a:solidFill>
                <a:latin typeface="Arial"/>
              </a:rPr>
              <a:t> memory of vanilla ZO-SGD and plugs directly into SGD or Adam.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310871" y="18374935"/>
            <a:ext cx="10151060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310871" y="19770943"/>
            <a:ext cx="10151060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Fine-tune huge LMs with </a:t>
            </a:r>
            <a:r>
              <a:rPr sz="4106" b="1">
                <a:solidFill>
                  <a:srgbClr val="111111"/>
                </a:solidFill>
                <a:latin typeface="Arial"/>
              </a:rPr>
              <a:t>just forward passes</a:t>
            </a:r>
            <a:r>
              <a:rPr sz="4106" b="0">
                <a:solidFill>
                  <a:srgbClr val="1C1C1C"/>
                </a:solidFill>
                <a:latin typeface="Arial"/>
              </a:rPr>
              <a:t>: MeZO matches backprop quality at inference memory.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42767" y="19982636"/>
            <a:ext cx="13543188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Why it converges.</a:t>
            </a:r>
            <a:r>
              <a:rPr sz="4106" b="0">
                <a:solidFill>
                  <a:srgbClr val="1C1C1C"/>
                </a:solidFill>
                <a:latin typeface="Arial"/>
              </a:rPr>
              <a:t> Convergence tracks the loss's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effective local rank</a:t>
            </a:r>
            <a:r>
              <a:rPr sz="4106" b="0">
                <a:solidFill>
                  <a:srgbClr val="1C1C1C"/>
                </a:solidFill>
                <a:latin typeface="Arial"/>
              </a:rPr>
              <a:t>, not the raw parameter count — overturning classical ZO pessimism and keeping MeZO fast at billion-parameter scale.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310871" y="22593935"/>
            <a:ext cx="10151060" cy="1919141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Backprop is optional — train 10× larger models on one GPU.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42767" y="24062590"/>
            <a:ext cx="13543188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494422" y="28045310"/>
            <a:ext cx="1294614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MeZO beats zero-shot, ICL, and linear probing across the board.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66403" y="6305649"/>
            <a:ext cx="1019686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PEFT-ready.</a:t>
            </a:r>
            <a:r>
              <a:rPr sz="4106" b="0">
                <a:solidFill>
                  <a:srgbClr val="1C1C1C"/>
                </a:solidFill>
                <a:latin typeface="Arial"/>
              </a:rPr>
              <a:t> MeZO + </a:t>
            </a:r>
            <a:r>
              <a:rPr sz="4106" b="1">
                <a:solidFill>
                  <a:srgbClr val="111111"/>
                </a:solidFill>
                <a:latin typeface="Arial"/>
              </a:rPr>
              <a:t>LoRA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prefix-tuning</a:t>
            </a:r>
            <a:r>
              <a:rPr sz="4106" b="0">
                <a:solidFill>
                  <a:srgbClr val="1C1C1C"/>
                </a:solidFill>
                <a:latin typeface="Arial"/>
              </a:rPr>
              <a:t> match full-parameter MeZO.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66403" y="8000583"/>
            <a:ext cx="10196863" cy="44004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Beyond gradients.</a:t>
            </a:r>
            <a:r>
              <a:rPr sz="4106" b="0">
                <a:solidFill>
                  <a:srgbClr val="1C1C1C"/>
                </a:solidFill>
                <a:latin typeface="Arial"/>
              </a:rPr>
              <a:t> Optimizes non-differentiable accuracy / F1 directly, and beats prior ZO baseline BBTv2 by up to </a:t>
            </a:r>
            <a:r>
              <a:rPr sz="4353" b="1">
                <a:solidFill>
                  <a:srgbClr val="111111"/>
                </a:solidFill>
                <a:latin typeface="Arial"/>
              </a:rPr>
              <a:t>11%</a:t>
            </a:r>
            <a:r>
              <a:rPr sz="4106" b="0">
                <a:solidFill>
                  <a:srgbClr val="1C1C1C"/>
                </a:solidFill>
                <a:latin typeface="Arial"/>
              </a:rPr>
              <a:t>. Best with a single perturbation per step (n=1).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104910" y="8317984"/>
            <a:ext cx="12552181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Sample</a:t>
            </a:r>
            <a:r>
              <a:rPr sz="4106" b="0">
                <a:solidFill>
                  <a:srgbClr val="1C1C1C"/>
                </a:solidFill>
                <a:latin typeface="Arial"/>
              </a:rPr>
              <a:t> one random direction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z</a:t>
            </a:r>
            <a:r>
              <a:rPr sz="4106" b="0">
                <a:solidFill>
                  <a:srgbClr val="1C1C1C"/>
                </a:solidFill>
                <a:latin typeface="Arial"/>
              </a:rPr>
              <a:t> ∼ 𝒩(0, I) — regenerable from a stored random seed.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104910" y="10239613"/>
            <a:ext cx="12552181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Perturb ±.</a:t>
            </a:r>
            <a:r>
              <a:rPr sz="4106" b="0">
                <a:solidFill>
                  <a:srgbClr val="1C1C1C"/>
                </a:solidFill>
                <a:latin typeface="Arial"/>
              </a:rPr>
              <a:t> Evaluate the loss at θ+εz and θ−εz — just two forward passes.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104910" y="12161242"/>
            <a:ext cx="12552181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Update in place.</a:t>
            </a:r>
            <a:r>
              <a:rPr sz="4106" b="0">
                <a:solidFill>
                  <a:srgbClr val="1C1C1C"/>
                </a:solidFill>
                <a:latin typeface="Arial"/>
              </a:rPr>
              <a:t> Regenerate z from the same seed and step along it — store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only the seed</a:t>
            </a:r>
            <a:r>
              <a:rPr sz="4106" b="0">
                <a:solidFill>
                  <a:srgbClr val="1C1C1C"/>
                </a:solidFill>
                <a:latin typeface="Arial"/>
              </a:rPr>
              <a:t>, never z.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9972" y="15264268"/>
            <a:ext cx="10196863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Just forward passes.</a:t>
            </a:r>
            <a:r>
              <a:rPr sz="4106" b="0">
                <a:solidFill>
                  <a:srgbClr val="1C1C1C"/>
                </a:solidFill>
                <a:latin typeface="Arial"/>
              </a:rPr>
              <a:t> Zeroth-order (ZO) methods estimate a gradient from only </a:t>
            </a:r>
            <a:r>
              <a:rPr sz="4106" b="1">
                <a:solidFill>
                  <a:srgbClr val="111111"/>
                </a:solidFill>
                <a:latin typeface="Arial"/>
              </a:rPr>
              <a:t>two forward passes</a:t>
            </a:r>
            <a:r>
              <a:rPr sz="4106" b="0">
                <a:solidFill>
                  <a:srgbClr val="1C1C1C"/>
                </a:solidFill>
                <a:latin typeface="Arial"/>
              </a:rPr>
              <a:t> — no backprop, no activation cache.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662443" y="15538747"/>
            <a:ext cx="9381039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RoBERTa-large: MeZO (full / LoRA / prefix) approaches FT within ~5% at k=512.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72" y="18471614"/>
            <a:ext cx="10196863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The catch.</a:t>
            </a:r>
            <a:r>
              <a:rPr sz="4106" b="0">
                <a:solidFill>
                  <a:srgbClr val="1C1C1C"/>
                </a:solidFill>
                <a:latin typeface="Arial"/>
              </a:rPr>
              <a:t> Classical theory says ZO convergence slows ∝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number of parameters</a:t>
            </a:r>
            <a:r>
              <a:rPr sz="4106" b="0">
                <a:solidFill>
                  <a:srgbClr val="1C1C1C"/>
                </a:solidFill>
                <a:latin typeface="Arial"/>
              </a:rPr>
              <a:t> — seemingly hopeless at billions. Does that pessimism really hold for a strong pre-trained model?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000319" y="19554110"/>
            <a:ext cx="11903710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OPT-13B: MeZO beats zero-shot &amp; ICL and matches Adam FT (within 1%) on 7/11 tasks — using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1/12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the memory.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494422" y="21472961"/>
            <a:ext cx="3474251" cy="3598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7D2860"/>
                </a:solidFill>
                <a:latin typeface="Arial"/>
              </a:rPr>
              <a:t>7 / 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075981" y="22299731"/>
            <a:ext cx="9257137" cy="15651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OPT-13B tasks within </a:t>
            </a:r>
            <a:r>
              <a:rPr sz="3696" b="1">
                <a:solidFill>
                  <a:srgbClr val="111111"/>
                </a:solidFill>
                <a:latin typeface="Arial"/>
              </a:rPr>
              <a:t>1%</a:t>
            </a:r>
            <a:r>
              <a:rPr sz="3696" b="0">
                <a:solidFill>
                  <a:srgbClr val="555555"/>
                </a:solidFill>
                <a:latin typeface="Arial"/>
              </a:rPr>
              <a:t> of full Adam fine-tuning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56709" y="28553985"/>
            <a:ext cx="9338260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GPU memory (MultiRC): MeZO uses inference-level memory — up to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12×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less than full FT.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702920" y="6544845"/>
            <a:ext cx="345794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737869" y="6544845"/>
            <a:ext cx="4204499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350M–66B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497631" y="6544845"/>
            <a:ext cx="3458084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11+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702920" y="7447041"/>
            <a:ext cx="3457941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model families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737869" y="7447041"/>
            <a:ext cx="4204499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parameter scale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497631" y="7447041"/>
            <a:ext cx="3458084" cy="448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tasks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266421" y="25467766"/>
            <a:ext cx="1650781" cy="1717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7D2860"/>
                </a:solidFill>
                <a:latin typeface="Arial"/>
              </a:rPr>
              <a:t>Scan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7D2860"/>
                </a:solidFill>
                <a:latin typeface="Arial"/>
              </a:rPr>
              <a:t>to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7D2860"/>
                </a:solidFill>
                <a:latin typeface="Arial"/>
              </a:rPr>
              <a:t>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702920" y="25547915"/>
            <a:ext cx="370674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~5%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979427" y="25547915"/>
            <a:ext cx="3706889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2×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256073" y="25937825"/>
            <a:ext cx="3706889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66B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702920" y="26450111"/>
            <a:ext cx="3706746" cy="896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gap to FT on RoBERTa, k=512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979427" y="26450111"/>
            <a:ext cx="3706889" cy="896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fewer GPU-hours at 30B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388631" y="26599157"/>
            <a:ext cx="6709715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12×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256073" y="26840021"/>
            <a:ext cx="3706889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largest OPT optimized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388631" y="27974051"/>
            <a:ext cx="6709715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less memory vs Adam FT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954855" y="25396090"/>
            <a:ext cx="101338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30B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121250" y="25529440"/>
            <a:ext cx="4042111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on one 80GB A100 (vs 2.7B backprop)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9954855" y="26643607"/>
            <a:ext cx="103957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7/11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146670" y="26776957"/>
            <a:ext cx="4015928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OPT-13B tasks within 1% of FT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266421" y="27150476"/>
            <a:ext cx="1650781" cy="2635427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7D2860"/>
                </a:solidFill>
                <a:latin typeface="Arial"/>
              </a:rPr>
              <a:t>Code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github.com/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princeton-nl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p/MeZO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954855" y="27891124"/>
            <a:ext cx="62909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2×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748148" y="28024474"/>
            <a:ext cx="4426406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fewer GPU-hours at 30B scale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954855" y="29138641"/>
            <a:ext cx="139854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+11%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495186" y="29271991"/>
            <a:ext cx="360230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over prior ZO (BBTv2)</a:t>
            </a:r>
          </a:p>
        </p:txBody>
      </p:sp>
      <p:pic>
        <p:nvPicPr>
          <p:cNvPr id="120" name="Picture 119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45873" y="14122598"/>
            <a:ext cx="12342515" cy="31094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
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74562"/>
          </a:xfrm>
          <a:prstGeom prst="roundRect">
            <a:avLst>
              <a:gd name="adj" fmla="val 3882"/>
            </a:avLst>
          </a:prstGeom>
          <a:solidFill>
            <a:srgbClr val="FFFFFF"/>
          </a:solidFill>
          <a:ln w="35560">
            <a:solidFill>
              <a:srgbClr val="2D5F3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988178" y="1675070"/>
            <a:ext cx="6189385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447903"/>
            <a:ext cx="10804961" cy="9450903"/>
          </a:xfrm>
          <a:prstGeom prst="roundRect">
            <a:avLst>
              <a:gd name="adj" fmla="val 175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3568" y="5447903"/>
            <a:ext cx="27439124" cy="15346640"/>
          </a:xfrm>
          <a:prstGeom prst="roundRect">
            <a:avLst>
              <a:gd name="adj" fmla="val 108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447903"/>
            <a:ext cx="10804962" cy="7056437"/>
          </a:xfrm>
          <a:prstGeom prst="roundRect">
            <a:avLst>
              <a:gd name="adj" fmla="val 235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2682140"/>
            <a:ext cx="10804962" cy="5337334"/>
          </a:xfrm>
          <a:prstGeom prst="roundRect">
            <a:avLst>
              <a:gd name="adj" fmla="val 310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5230653"/>
            <a:ext cx="10804961" cy="14841299"/>
          </a:xfrm>
          <a:prstGeom prst="roundRect">
            <a:avLst>
              <a:gd name="adj" fmla="val 153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8197274"/>
            <a:ext cx="10804962" cy="7321332"/>
          </a:xfrm>
          <a:prstGeom prst="roundRect">
            <a:avLst>
              <a:gd name="adj" fmla="val 2266"/>
            </a:avLst>
          </a:prstGeom>
          <a:solidFill>
            <a:srgbClr val="ECF3EE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8197274"/>
            <a:ext cx="53340" cy="7321332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25696406"/>
            <a:ext cx="10804962" cy="4375546"/>
          </a:xfrm>
          <a:prstGeom prst="roundRect">
            <a:avLst>
              <a:gd name="adj" fmla="val 379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negie-mellon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48" y="1692711"/>
            <a:ext cx="11338084" cy="1013460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2658" y="1840936"/>
            <a:ext cx="5620425" cy="1896463"/>
          </a:xfrm>
          <a:prstGeom prst="rect">
            <a:avLst/>
          </a:prstGeom>
        </p:spPr>
      </p:pic>
      <p:pic>
        <p:nvPicPr>
          <p:cNvPr id="14" name="Picture 13" descr="amazon-a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451" y="2872043"/>
            <a:ext cx="1691878" cy="10134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777" y="5456793"/>
            <a:ext cx="10787181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92458" y="5456793"/>
            <a:ext cx="27421344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758302" y="5456793"/>
            <a:ext cx="10787182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019029" y="9807059"/>
            <a:ext cx="10265728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019029" y="9807059"/>
            <a:ext cx="10265728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0999013"/>
            <a:ext cx="10028753" cy="35150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0999013"/>
            <a:ext cx="124460" cy="3515023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758302" y="12691030"/>
            <a:ext cx="10787182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983469" y="14191495"/>
            <a:ext cx="10336848" cy="3632677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0777" y="15239543"/>
            <a:ext cx="10787181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802752" y="18206164"/>
            <a:ext cx="10742732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883568" y="21126390"/>
            <a:ext cx="13553639" cy="8945562"/>
          </a:xfrm>
          <a:prstGeom prst="roundRect">
            <a:avLst>
              <a:gd name="adj" fmla="val 185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769054" y="21126390"/>
            <a:ext cx="13553638" cy="8945562"/>
          </a:xfrm>
          <a:prstGeom prst="roundRect">
            <a:avLst>
              <a:gd name="adj" fmla="val 185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027919" y="22992179"/>
            <a:ext cx="10292398" cy="2346821"/>
          </a:xfrm>
          <a:prstGeom prst="roundRect">
            <a:avLst>
              <a:gd name="adj" fmla="val 8889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9991" y="26685140"/>
            <a:ext cx="10028753" cy="3003987"/>
          </a:xfrm>
          <a:prstGeom prst="roundRect">
            <a:avLst>
              <a:gd name="adj" fmla="val 6944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271672" y="10594518"/>
            <a:ext cx="26662916" cy="1336695"/>
          </a:xfrm>
          <a:prstGeom prst="roundRect">
            <a:avLst>
              <a:gd name="adj" fmla="val 12797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42661" y="14413745"/>
            <a:ext cx="4331791" cy="32356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42661" y="14413745"/>
            <a:ext cx="11557" cy="3235683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892458" y="21135280"/>
            <a:ext cx="13535859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777944" y="21135280"/>
            <a:ext cx="13535858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943798" y="26350515"/>
            <a:ext cx="13204150" cy="1942187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943798" y="28573710"/>
            <a:ext cx="13204150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943798" y="28573710"/>
            <a:ext cx="13204150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019029" y="8733174"/>
            <a:ext cx="10265728" cy="945118"/>
          </a:xfrm>
          <a:prstGeom prst="rect">
            <a:avLst/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923142" y="12298759"/>
            <a:ext cx="25359837" cy="7384117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3263" y="12298759"/>
            <a:ext cx="25359595" cy="7384117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43543636" y="25966023"/>
            <a:ext cx="3169841" cy="31698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2169" y="26084556"/>
            <a:ext cx="2932775" cy="293277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7099636" y="25966023"/>
            <a:ext cx="3169841" cy="316984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18169" y="26084556"/>
            <a:ext cx="2932775" cy="293277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2058312" y="29197399"/>
            <a:ext cx="3160534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WikiText-103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375255" y="29197399"/>
            <a:ext cx="2137211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Law-MT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668875" y="29197399"/>
            <a:ext cx="2161936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kNN-LM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987220" y="29197399"/>
            <a:ext cx="2457529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AdaptRet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500561" y="29278103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2D5F3E"/>
                </a:solidFill>
                <a:latin typeface="Arial"/>
              </a:rPr>
              <a:t>Paper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100872" y="29278103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2D5F3E"/>
                </a:solidFill>
                <a:latin typeface="Arial"/>
              </a:rPr>
              <a:t>Code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271672" y="695725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019029" y="7081579"/>
            <a:ext cx="4975066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019029" y="7779166"/>
            <a:ext cx="4975066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994095" y="7081579"/>
            <a:ext cx="3361948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994095" y="7779166"/>
            <a:ext cx="336194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56043" y="7081579"/>
            <a:ext cx="1928714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56043" y="7779166"/>
            <a:ext cx="192871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019029" y="7788056"/>
            <a:ext cx="497506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019029" y="8724284"/>
            <a:ext cx="4975066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994095" y="7788056"/>
            <a:ext cx="336194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994095" y="8724284"/>
            <a:ext cx="336194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356043" y="7788056"/>
            <a:ext cx="192871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356043" y="8724284"/>
            <a:ext cx="192871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019029" y="8733174"/>
            <a:ext cx="497506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019029" y="9669402"/>
            <a:ext cx="4975066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994095" y="8733174"/>
            <a:ext cx="336194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994095" y="9669402"/>
            <a:ext cx="336194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8356043" y="8733174"/>
            <a:ext cx="192871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356043" y="9669402"/>
            <a:ext cx="192871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2271672" y="887888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0019029" y="26809461"/>
            <a:ext cx="3153728" cy="1353225"/>
          </a:xfrm>
          <a:prstGeom prst="roundRect">
            <a:avLst>
              <a:gd name="adj" fmla="val 10511"/>
            </a:avLst>
          </a:prstGeom>
          <a:solidFill>
            <a:srgbClr val="E6F0EA"/>
          </a:solidFill>
          <a:ln w="1778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0019029" y="28292980"/>
            <a:ext cx="3153728" cy="1353225"/>
          </a:xfrm>
          <a:prstGeom prst="roundRect">
            <a:avLst>
              <a:gd name="adj" fmla="val 10511"/>
            </a:avLst>
          </a:prstGeom>
          <a:solidFill>
            <a:srgbClr val="E6F0EA"/>
          </a:solidFill>
          <a:ln w="1778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943798" y="22794098"/>
            <a:ext cx="5389284" cy="81440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943798" y="23599616"/>
            <a:ext cx="53892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333082" y="22794098"/>
            <a:ext cx="3395564" cy="81440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1333082" y="23599616"/>
            <a:ext cx="33955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4728646" y="22794098"/>
            <a:ext cx="4419302" cy="81440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728646" y="23599616"/>
            <a:ext cx="441930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943798" y="23608506"/>
            <a:ext cx="538928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5943798" y="24418468"/>
            <a:ext cx="53892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333082" y="23608506"/>
            <a:ext cx="339556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333082" y="24418468"/>
            <a:ext cx="33955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728646" y="23608506"/>
            <a:ext cx="441930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4728646" y="24418468"/>
            <a:ext cx="441930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943798" y="24427358"/>
            <a:ext cx="538928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943798" y="25237320"/>
            <a:ext cx="53892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1333082" y="24427358"/>
            <a:ext cx="339556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1333082" y="25237320"/>
            <a:ext cx="33955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4728646" y="24427358"/>
            <a:ext cx="441930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4728646" y="25237320"/>
            <a:ext cx="441930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5943798" y="25246210"/>
            <a:ext cx="5389284" cy="818853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5943798" y="26056173"/>
            <a:ext cx="538928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1333082" y="25246210"/>
            <a:ext cx="3395564" cy="818853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333082" y="26056173"/>
            <a:ext cx="33955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28646" y="25246210"/>
            <a:ext cx="4419302" cy="818853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4728646" y="26056173"/>
            <a:ext cx="441930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2D5F3E"/>
                </a:solidFill>
                <a:latin typeface="Arial"/>
              </a:rPr>
              <a:t>Neuro-Symbolic Language Modeling with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2D5F3E"/>
                </a:solidFill>
                <a:latin typeface="Arial"/>
              </a:rPr>
              <a:t>Automaton-augmented Retrieval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464460" y="3408620"/>
            <a:ext cx="24704060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Uri Alon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Frank F. Xu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Junxian He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Sudipta Sengupta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733" b="0">
                <a:solidFill>
                  <a:srgbClr val="1C1C1C"/>
                </a:solidFill>
                <a:latin typeface="Arial"/>
              </a:rPr>
              <a:t>, Dan Roth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3</a:t>
            </a:r>
            <a:r>
              <a:rPr sz="3733" b="0">
                <a:solidFill>
                  <a:srgbClr val="1C1C1C"/>
                </a:solidFill>
                <a:latin typeface="Arial"/>
              </a:rPr>
              <a:t>, Graham Neubig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464460" y="4077870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Carnegie Mellon University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Amazon AWS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3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AWS AI Labs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0777" y="5456793"/>
            <a:ext cx="11110796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892458" y="5456793"/>
            <a:ext cx="27848064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758302" y="5456793"/>
            <a:ext cx="11110797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Study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9991" y="6957258"/>
            <a:ext cx="1032961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Retrieval-based LMs improve quality by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searching an external datastore, but that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nearest-neighbor search runs as often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as every time step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dominant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computational cost at inference.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019029" y="9807059"/>
            <a:ext cx="10573699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Pointers drive most of the gain at low FoSS; clustering pays off at high FoSS (≥0.7), enabling longer search-free runs.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9991" y="10999013"/>
            <a:ext cx="10329615" cy="4042276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search is far slower than the LM's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forward pass, blocking retrieval LMs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from deployment despite their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accuracy, domain-adaptability,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provenance.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758302" y="12691030"/>
            <a:ext cx="11110797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0777" y="15239543"/>
            <a:ext cx="11110796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802752" y="18206164"/>
            <a:ext cx="1106501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027919" y="19706629"/>
            <a:ext cx="10601169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pointer-and-cluster automaton</a:t>
            </a:r>
            <a:r>
              <a:rPr sz="4106" b="0">
                <a:solidFill>
                  <a:srgbClr val="1C1C1C"/>
                </a:solidFill>
                <a:latin typeface="Arial"/>
              </a:rPr>
              <a:t> lets 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LM carry retrieval across time steps,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skipping most kNN searches with no loss in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perplexity.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027919" y="22992179"/>
            <a:ext cx="10601169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Unsupervised, model-agnostic, cross-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domain — unifying token, chunk,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sequence retrieval.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9991" y="26685140"/>
            <a:ext cx="10329615" cy="3454585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If a retrieved entry helps now, the entry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that </a:t>
            </a:r>
            <a:r>
              <a:rPr sz="4106" b="0" i="1">
                <a:solidFill>
                  <a:srgbClr val="2D5F3E"/>
                </a:solidFill>
                <a:latin typeface="Arial"/>
              </a:rPr>
              <a:t>followed</a:t>
            </a:r>
            <a:r>
              <a:rPr sz="4106" b="0">
                <a:solidFill>
                  <a:srgbClr val="2D5F3E"/>
                </a:solidFill>
                <a:latin typeface="Arial"/>
              </a:rPr>
              <a:t> it in the text is very likely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useful next — structure a flat datastore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throws away.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266380" y="11476990"/>
            <a:ext cx="4813562" cy="265811"/>
          </a:xfrm>
          <a:prstGeom prst="rect">
            <a:avLst/>
          </a:prstGeom>
          <a:noFill/>
        </p:spPr>
        <p:txBody>
          <a:bodyPr wrap="square" lIns="299368" rIns="299368" tIns="171067" bIns="171067">
            <a:spAutoFit/>
          </a:bodyPr>
          <a:lstStyle/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  </a:t>
            </a:r>
            <a:r>
              <a:rPr sz="1683" b="0" i="1">
                <a:solidFill>
                  <a:srgbClr val="555555"/>
                </a:solidFill>
                <a:latin typeface="Cambria Math"/>
              </a:rPr>
              <a:t>Automaton distribution interpolated with the base LM.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9972" y="16901556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kNN-LM treats the datastore as a </a:t>
            </a:r>
            <a:r>
              <a:rPr sz="4106" b="1">
                <a:solidFill>
                  <a:srgbClr val="111111"/>
                </a:solidFill>
                <a:latin typeface="Arial"/>
              </a:rPr>
              <a:t>flat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list</a:t>
            </a:r>
            <a:r>
              <a:rPr sz="4106" b="0">
                <a:solidFill>
                  <a:srgbClr val="1C1C1C"/>
                </a:solidFill>
                <a:latin typeface="Arial"/>
              </a:rPr>
              <a:t> and searches it token by token,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ignoring that consecutive retrieved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entries are highly correlated in time.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9972" y="20108902"/>
            <a:ext cx="1032963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Nearby key vectors tend to be followed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by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same</a:t>
            </a:r>
            <a:r>
              <a:rPr sz="4106" b="0">
                <a:solidFill>
                  <a:srgbClr val="1C1C1C"/>
                </a:solidFill>
                <a:latin typeface="Arial"/>
              </a:rPr>
              <a:t> token, yet a flat search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rediscovers those same neighbors from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scratch at every step.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892458" y="21135280"/>
            <a:ext cx="13941934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5777944" y="21135280"/>
            <a:ext cx="13941933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9972" y="23316247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search-saving work (AdaptRet)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skips searches but backs off to the base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LM alone — discarding the retrieval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signal exactly when it helps most.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943798" y="26350515"/>
            <a:ext cx="13600274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Matches kNN-LM while skipping </a:t>
            </a:r>
            <a:r>
              <a:rPr sz="4024" b="1">
                <a:solidFill>
                  <a:srgbClr val="111111"/>
                </a:solidFill>
                <a:latin typeface="Arial"/>
              </a:rPr>
              <a:t>81%</a:t>
            </a:r>
            <a:r>
              <a:rPr sz="4024" b="1">
                <a:solidFill>
                  <a:srgbClr val="2D5F3E"/>
                </a:solidFill>
                <a:latin typeface="Arial"/>
              </a:rPr>
              <a:t> of searches;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2D5F3E"/>
                </a:solidFill>
                <a:latin typeface="Arial"/>
              </a:rPr>
              <a:t>−17.5% PPL on fine-tuned Law-MT.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5943798" y="28573710"/>
            <a:ext cx="13600274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Degrades only gently as searches are saved. FoSS = fraction of saved kNN searches.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233815" y="6957258"/>
            <a:ext cx="26127493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Build the datastore.</a:t>
            </a:r>
            <a:r>
              <a:rPr sz="4106" b="0">
                <a:solidFill>
                  <a:srgbClr val="1C1C1C"/>
                </a:solidFill>
                <a:latin typeface="Arial"/>
              </a:rPr>
              <a:t> Store every entry as a triple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(key, value, pointer)</a:t>
            </a:r>
            <a:r>
              <a:rPr sz="4106" b="0">
                <a:solidFill>
                  <a:srgbClr val="1C1C1C"/>
                </a:solidFill>
                <a:latin typeface="Arial"/>
              </a:rPr>
              <a:t>, where the pointer references the entry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that followed it in the corpus.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233815" y="8878887"/>
            <a:ext cx="26127493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Cluster &amp; traverse.</a:t>
            </a:r>
            <a:r>
              <a:rPr sz="4106" b="0">
                <a:solidFill>
                  <a:srgbClr val="1C1C1C"/>
                </a:solidFill>
                <a:latin typeface="Arial"/>
              </a:rPr>
              <a:t> Group close keys into states that share pointers; at inference follow near-free pointers,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searching only when valid transitions fall below τ.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229333" y="14413745"/>
            <a:ext cx="5087834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83%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29333" y="15788640"/>
            <a:ext cx="5087834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kNN searches saved,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no PPL loss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29333" y="16831548"/>
            <a:ext cx="5087834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or up to −1.85 PPL when the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budget is kept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112736" y="19832478"/>
            <a:ext cx="23407370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RetoMaton at inference: parallel automaton traversals reuse datastore entries, skipping the full kNN search at most steps.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058294" y="22600185"/>
            <a:ext cx="1360029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In-domain:</a:t>
            </a:r>
            <a:r>
              <a:rPr sz="4106" b="0">
                <a:solidFill>
                  <a:srgbClr val="1C1C1C"/>
                </a:solidFill>
                <a:latin typeface="Arial"/>
              </a:rPr>
              <a:t> WikiText-103 — 103M tokens, 247M-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param Transformer LM; datastore of 103M entries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clustered into 1M states.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058294" y="25051325"/>
            <a:ext cx="1360029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Adaptation:</a:t>
            </a:r>
            <a:r>
              <a:rPr sz="4106" b="0">
                <a:solidFill>
                  <a:srgbClr val="1C1C1C"/>
                </a:solidFill>
                <a:latin typeface="Arial"/>
              </a:rPr>
              <a:t> Law-MT (English) — 19M tokens, 656M-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param LM; 19M entries clustered into 200K states.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019029" y="26122153"/>
            <a:ext cx="3248339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2D5F3E"/>
                </a:solidFill>
                <a:latin typeface="Arial"/>
              </a:rPr>
              <a:t>Scan to Read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058294" y="26746259"/>
            <a:ext cx="1360029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Average cluster size stays near </a:t>
            </a:r>
            <a:r>
              <a:rPr sz="4106" b="1">
                <a:solidFill>
                  <a:srgbClr val="111111"/>
                </a:solidFill>
                <a:latin typeface="Arial"/>
              </a:rPr>
              <a:t>100 entries</a:t>
            </a:r>
            <a:r>
              <a:rPr sz="4106" b="0">
                <a:solidFill>
                  <a:srgbClr val="1C1C1C"/>
                </a:solidFill>
                <a:latin typeface="Arial"/>
              </a:rPr>
              <a:t> in both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datastores; the automaton is built fully unsupervised,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with no extra training.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019029" y="7081579"/>
            <a:ext cx="5124317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WIKITEXT-103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994095" y="7081579"/>
            <a:ext cx="346280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PPL (FOSS=0)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356043" y="7081579"/>
            <a:ext cx="1986575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SAVED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019029" y="7788056"/>
            <a:ext cx="512431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Pointers only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994095" y="7788056"/>
            <a:ext cx="346280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16.12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356043" y="7788056"/>
            <a:ext cx="198657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&gt;60%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019029" y="8733174"/>
            <a:ext cx="5124317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+ Clustering (full)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994095" y="8733174"/>
            <a:ext cx="346280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16.08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356043" y="8733174"/>
            <a:ext cx="198657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81%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220915" y="14413745"/>
            <a:ext cx="110710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81%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478295" y="14547095"/>
            <a:ext cx="267404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saved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(WikiText-103)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220915" y="15661262"/>
            <a:ext cx="1377225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16.08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740550" y="15794612"/>
            <a:ext cx="216513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PPL vs 16.65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220915" y="16785709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7.10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7442874" y="16919059"/>
            <a:ext cx="211018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Law-MT PPL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19029" y="26809461"/>
            <a:ext cx="3248339" cy="155620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2D5F3E"/>
                </a:solidFill>
                <a:latin typeface="Arial"/>
              </a:rPr>
              <a:t>Paper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arxiv.org/abs/2201.12431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019029" y="28292980"/>
            <a:ext cx="3248339" cy="155620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2D5F3E"/>
                </a:solidFill>
                <a:latin typeface="Arial"/>
              </a:rPr>
              <a:t>Code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github.com/neulab/retomaton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5943798" y="22794098"/>
            <a:ext cx="5550962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PPL (FoSS=0)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1333082" y="22794098"/>
            <a:ext cx="3497430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WikiText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728646" y="22794098"/>
            <a:ext cx="4551881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Law-MT (ft)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943798" y="23608506"/>
            <a:ext cx="555096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kNN-LM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1333082" y="23608506"/>
            <a:ext cx="349743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16.65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728646" y="23608506"/>
            <a:ext cx="455188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7.93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5943798" y="24427358"/>
            <a:ext cx="555096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AdaptRet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1333082" y="24427358"/>
            <a:ext cx="349743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16.35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728646" y="24427358"/>
            <a:ext cx="455188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7.81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943798" y="25246210"/>
            <a:ext cx="5550962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RetoMaton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333082" y="25246210"/>
            <a:ext cx="3497430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16.08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4728646" y="25246210"/>
            <a:ext cx="455188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2D5F3E"/>
                </a:solidFill>
                <a:latin typeface="Arial"/>
              </a:rPr>
              <a:t>7.10</a:t>
            </a:r>
          </a:p>
        </p:txBody>
      </p:sp>
      <p:pic>
        <p:nvPicPr>
          <p:cNvPr id="159" name="Picture 158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00428" y="10774402"/>
            <a:ext cx="11005265" cy="613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
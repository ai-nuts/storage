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75585" y="1675070"/>
            <a:ext cx="7095609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16349682" cy="5547221"/>
          </a:xfrm>
          <a:prstGeom prst="roundRect">
            <a:avLst>
              <a:gd name="adj" fmla="val 299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5447903"/>
            <a:ext cx="16349682" cy="24624049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5447903"/>
            <a:ext cx="16349821" cy="18362156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1326971"/>
            <a:ext cx="16349682" cy="7319387"/>
          </a:xfrm>
          <a:prstGeom prst="roundRect">
            <a:avLst>
              <a:gd name="adj" fmla="val 2267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8978205"/>
            <a:ext cx="16349682" cy="11093747"/>
          </a:xfrm>
          <a:prstGeom prst="roundRect">
            <a:avLst>
              <a:gd name="adj" fmla="val 149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4141906"/>
            <a:ext cx="16349821" cy="5930046"/>
          </a:xfrm>
          <a:prstGeom prst="roundRect">
            <a:avLst>
              <a:gd name="adj" fmla="val 2798"/>
            </a:avLst>
          </a:prstGeom>
          <a:solidFill>
            <a:srgbClr val="EEF0F4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4141906"/>
            <a:ext cx="53340" cy="5930046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microsoft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053" y="1713418"/>
            <a:ext cx="7635816" cy="2151360"/>
          </a:xfrm>
          <a:prstGeom prst="rect">
            <a:avLst/>
          </a:prstGeom>
        </p:spPr>
      </p:pic>
      <p:pic>
        <p:nvPicPr>
          <p:cNvPr id="12" name="Picture 11" descr="national-university-of-singap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8843" y="1713446"/>
            <a:ext cx="1678821" cy="2151304"/>
          </a:xfrm>
          <a:prstGeom prst="rect">
            <a:avLst/>
          </a:prstGeom>
        </p:spPr>
      </p:pic>
      <p:pic>
        <p:nvPicPr>
          <p:cNvPr id="13" name="Picture 12" descr="institute-for-functional-intelligent-materi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4638" y="1713443"/>
            <a:ext cx="1505049" cy="2151310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065" y="1840943"/>
            <a:ext cx="6526649" cy="189644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437179" y="5456793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13581" y="5456793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92795" y="7027128"/>
            <a:ext cx="15573613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7027128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9180730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9180730"/>
            <a:ext cx="124460" cy="1481019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777" y="11335861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816393" y="16191468"/>
            <a:ext cx="15573474" cy="1605617"/>
          </a:xfrm>
          <a:prstGeom prst="roundRect">
            <a:avLst>
              <a:gd name="adj" fmla="val 14032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991" y="16685418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0777" y="1898709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92795" y="21815365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92795" y="21815365"/>
            <a:ext cx="15573613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58031" y="24150796"/>
            <a:ext cx="16287591" cy="1180425"/>
          </a:xfrm>
          <a:prstGeom prst="roundRect">
            <a:avLst>
              <a:gd name="adj" fmla="val 14058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26651108"/>
            <a:ext cx="15573474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26651108"/>
            <a:ext cx="15573474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816393" y="26668472"/>
            <a:ext cx="15573474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816393" y="26668472"/>
            <a:ext cx="15573474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637245" y="28073925"/>
            <a:ext cx="15529163" cy="1668820"/>
          </a:xfrm>
          <a:prstGeom prst="roundRect">
            <a:avLst>
              <a:gd name="adj" fmla="val 125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082301" y="7183536"/>
            <a:ext cx="2280702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THEOREM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92795" y="10030142"/>
            <a:ext cx="15573613" cy="10436027"/>
          </a:xfrm>
          <a:prstGeom prst="roundRect">
            <a:avLst>
              <a:gd name="adj" fmla="val 90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2888" y="10030142"/>
            <a:ext cx="15573428" cy="1043602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7816393" y="18883749"/>
            <a:ext cx="15573474" cy="5820171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6527" y="18883749"/>
            <a:ext cx="15573206" cy="582017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7816393" y="764248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16393" y="1029434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816393" y="1302648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991" y="22641302"/>
            <a:ext cx="11684238" cy="77884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9991" y="23411259"/>
            <a:ext cx="1168423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724229" y="22641302"/>
            <a:ext cx="3889236" cy="77884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724229" y="23411259"/>
            <a:ext cx="38892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9991" y="23420149"/>
            <a:ext cx="11684238" cy="783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9991" y="24194551"/>
            <a:ext cx="1168423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724229" y="23420149"/>
            <a:ext cx="3889236" cy="783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724229" y="24194551"/>
            <a:ext cx="38892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9991" y="24203441"/>
            <a:ext cx="11684238" cy="7832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9991" y="24977844"/>
            <a:ext cx="1168423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24229" y="24203441"/>
            <a:ext cx="3889236" cy="7832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724229" y="24977844"/>
            <a:ext cx="38892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9991" y="24986734"/>
            <a:ext cx="11684238" cy="783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9991" y="25761136"/>
            <a:ext cx="1168423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724229" y="24986734"/>
            <a:ext cx="3889236" cy="783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724229" y="25761136"/>
            <a:ext cx="38892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9991" y="25770026"/>
            <a:ext cx="11684238" cy="78329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9991" y="26544428"/>
            <a:ext cx="1168423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724229" y="25770026"/>
            <a:ext cx="3889236" cy="78329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724229" y="26544428"/>
            <a:ext cx="388923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3415E"/>
                </a:solidFill>
                <a:latin typeface="Arial"/>
              </a:rPr>
              <a:t>Inverse Approximation Theory for Nonlinear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3415E"/>
                </a:solidFill>
                <a:latin typeface="Arial"/>
              </a:rPr>
              <a:t>Recurrent Neural 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Zhong Li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Shida Wang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733" b="0">
                <a:solidFill>
                  <a:srgbClr val="1C1C1C"/>
                </a:solidFill>
                <a:latin typeface="Arial"/>
              </a:rPr>
              <a:t>, Qianxiao Li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2,3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Microsoft Research Asia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National University of Singapore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3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Institute for Functional Intelligent Materials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777" y="5456793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437179" y="5456793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13581" y="5456793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91" y="6651386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Recurrent neural networks (RNNs) fail to learn sequence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relationships with </a:t>
            </a:r>
            <a:r>
              <a:rPr sz="4106" b="1">
                <a:solidFill>
                  <a:srgbClr val="111111"/>
                </a:solidFill>
                <a:latin typeface="Arial"/>
              </a:rPr>
              <a:t>long-term memory</a:t>
            </a:r>
            <a:r>
              <a:rPr sz="4106" b="0">
                <a:solidFill>
                  <a:srgbClr val="1C1C1C"/>
                </a:solidFill>
                <a:latin typeface="Arial"/>
              </a:rPr>
              <a:t>. Is that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optimization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failure, or a </a:t>
            </a:r>
            <a:r>
              <a:rPr sz="4106" b="1">
                <a:solidFill>
                  <a:srgbClr val="111111"/>
                </a:solidFill>
                <a:latin typeface="Arial"/>
              </a:rPr>
              <a:t>fundamental limit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 RNN class?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9180730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inverse guarantees covered only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linear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RNNs —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nonlinear case was open.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777" y="11335861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991" y="16685418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An earlier Bernstein result forced linear-RNN-approximable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targets to decay exponentially, but only for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</a:t>
            </a:r>
            <a:r>
              <a:rPr sz="4106" b="0">
                <a:solidFill>
                  <a:srgbClr val="33415E"/>
                </a:solidFill>
                <a:latin typeface="Arial"/>
              </a:rPr>
              <a:t> RNNs.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54981" y="17347445"/>
            <a:ext cx="1184118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Stable approximation forces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— the memory must decay exponentially.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0777" y="18987095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Ablation: Reparameterization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20580905"/>
            <a:ext cx="1600019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Vary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only</a:t>
            </a:r>
            <a:r>
              <a:rPr sz="4106" b="0">
                <a:solidFill>
                  <a:srgbClr val="1C1C1C"/>
                </a:solidFill>
                <a:latin typeface="Arial"/>
              </a:rPr>
              <a:t> how the recurrent weight is parameterized on MNIST (10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epochs, 3 repeats); initialization held fixed: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592795" y="21815365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Polynomial-memory targets have no stability radius; stability-filtered teachers are all exponential-memory.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258031" y="24150796"/>
            <a:ext cx="1671431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637245" y="25544581"/>
            <a:ext cx="1595588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Nonlinear RNNs stably learn only targets with exponentially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decaying memory, so their long-term-dependency struggle is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fundamental architectural limit</a:t>
            </a:r>
            <a:r>
              <a:rPr sz="4106" b="0">
                <a:solidFill>
                  <a:srgbClr val="1C1C1C"/>
                </a:solidFill>
                <a:latin typeface="Arial"/>
              </a:rPr>
              <a:t>, not an optimizer artifact.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91" y="26651108"/>
            <a:ext cx="16000194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All three stable maps beat the direct baseline at unchanged capacity, a pure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stability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gain. On synthetic polynomial-decay targets, exp and softplus reparameterization also restore the continuous limiting perturbation curve.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16393" y="26668472"/>
            <a:ext cx="16000194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Proof sketch: stability drives hidden-state derivatives toward zero, and the Hartman–Grobman theorem then bounds the recurrent eigenvalues — forcing exponential decay. The framework extends toward GRU and LSTM.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637245" y="28073925"/>
            <a:ext cx="15955883" cy="1919142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principled stable reparameterization relaxes the curse of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memory: faster training, higher accuracy.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778535" y="7642482"/>
            <a:ext cx="15038052" cy="268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Memory function.</a:t>
            </a:r>
            <a:r>
              <a:rPr sz="4106" b="0">
                <a:solidFill>
                  <a:srgbClr val="1C1C1C"/>
                </a:solidFill>
                <a:latin typeface="Arial"/>
              </a:rPr>
              <a:t> Over Heaviside step inputs, measure how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strongly the output at time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still depends on the input — a task-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independent, </a:t>
            </a:r>
            <a:r>
              <a:rPr sz="4106" b="1">
                <a:solidFill>
                  <a:srgbClr val="111111"/>
                </a:solidFill>
                <a:latin typeface="Arial"/>
              </a:rPr>
              <a:t>numerically queryable</a:t>
            </a:r>
            <a:r>
              <a:rPr sz="4106" b="0">
                <a:solidFill>
                  <a:srgbClr val="1C1C1C"/>
                </a:solidFill>
                <a:latin typeface="Arial"/>
              </a:rPr>
              <a:t> notion of memory.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82301" y="8030725"/>
            <a:ext cx="1514578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Stable nonlinear-RNN approximation </a:t>
            </a:r>
            <a:r>
              <a:rPr sz="4106" b="1">
                <a:solidFill>
                  <a:srgbClr val="111111"/>
                </a:solidFill>
                <a:latin typeface="Arial"/>
              </a:rPr>
              <a:t>forces exponentially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decaying memory</a:t>
            </a:r>
            <a:r>
              <a:rPr sz="4106" b="0">
                <a:solidFill>
                  <a:srgbClr val="1C1C1C"/>
                </a:solidFill>
                <a:latin typeface="Arial"/>
              </a:rPr>
              <a:t>: the first Bernstein-type inverse result.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778535" y="10294342"/>
            <a:ext cx="15038052" cy="27822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Stable approximation.</a:t>
            </a:r>
            <a:r>
              <a:rPr sz="4106" b="0">
                <a:solidFill>
                  <a:srgbClr val="1C1C1C"/>
                </a:solidFill>
                <a:latin typeface="Arial"/>
              </a:rPr>
              <a:t> The worst-case perturbation error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under a weight ball of radius β must stay continuous up to some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positive β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0</a:t>
            </a:r>
            <a:r>
              <a:rPr sz="4106" b="0">
                <a:solidFill>
                  <a:srgbClr val="1C1C1C"/>
                </a:solidFill>
                <a:latin typeface="Arial"/>
              </a:rPr>
              <a:t> — exactly what gradient training needs.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72" y="12534900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Most ML approximation results are </a:t>
            </a:r>
            <a:r>
              <a:rPr sz="4106" b="1">
                <a:solidFill>
                  <a:srgbClr val="111111"/>
                </a:solidFill>
                <a:latin typeface="Arial"/>
              </a:rPr>
              <a:t>forward</a:t>
            </a:r>
            <a:r>
              <a:rPr sz="4106" b="0">
                <a:solidFill>
                  <a:srgbClr val="1C1C1C"/>
                </a:solidFill>
                <a:latin typeface="Arial"/>
              </a:rPr>
              <a:t> (Jackson-type): they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bound achievable error given a regular target.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78535" y="13026489"/>
            <a:ext cx="15038052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Stable reparameterization.</a:t>
            </a:r>
            <a:r>
              <a:rPr sz="4106" b="0">
                <a:solidFill>
                  <a:srgbClr val="1C1C1C"/>
                </a:solidFill>
                <a:latin typeface="Arial"/>
              </a:rPr>
              <a:t> Replace the recurrent weight with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map into stable, negative-real-part matrices (exp / softplus) to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escape the limit.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72" y="14229834"/>
            <a:ext cx="1600021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reverse, </a:t>
            </a:r>
            <a:r>
              <a:rPr sz="4106" b="1">
                <a:solidFill>
                  <a:srgbClr val="111111"/>
                </a:solidFill>
                <a:latin typeface="Arial"/>
              </a:rPr>
              <a:t>inverse</a:t>
            </a:r>
            <a:r>
              <a:rPr sz="4106" b="0">
                <a:solidFill>
                  <a:srgbClr val="1C1C1C"/>
                </a:solidFill>
                <a:latin typeface="Arial"/>
              </a:rPr>
              <a:t> (Bernstein-type) question — what a target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must</a:t>
            </a:r>
            <a:r>
              <a:rPr sz="4106" b="0">
                <a:solidFill>
                  <a:srgbClr val="1C1C1C"/>
                </a:solidFill>
                <a:latin typeface="Arial"/>
              </a:rPr>
              <a:t> look like to be efficiently and stably learnable — exposes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architectural limits far more directly.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215790" y="20615771"/>
            <a:ext cx="14754344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2 · Nonlinear functional with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polynomial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memory: intersections shift left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as m grows — no stability radius survives.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439387" y="24853522"/>
            <a:ext cx="1475420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3 · Filtering random RNN teachers (m=256) by stable approximability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leaves only those with exponentially decaying memory functions (right).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91" y="22641302"/>
            <a:ext cx="12034765" cy="895674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MNIST · recurrent param.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724229" y="22641302"/>
            <a:ext cx="4005913" cy="895674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Test acc.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23420149"/>
            <a:ext cx="12034765" cy="900785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Direct g(M)=M (unstable)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724229" y="23420149"/>
            <a:ext cx="4005913" cy="900785"/>
          </a:xfrm>
          <a:prstGeom prst="rect">
            <a:avLst/>
          </a:prstGeom>
          <a:noFill/>
        </p:spPr>
        <p:txBody>
          <a:bodyPr wrap="none" lIns="71120" rIns="71120" tIns="35560" bIns="3556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68.47%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9991" y="24203441"/>
            <a:ext cx="12034765" cy="900786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Exp reparameterization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724229" y="24203441"/>
            <a:ext cx="4005913" cy="900786"/>
          </a:xfrm>
          <a:prstGeom prst="rect">
            <a:avLst/>
          </a:prstGeom>
          <a:noFill/>
        </p:spPr>
        <p:txBody>
          <a:bodyPr wrap="none" lIns="71120" rIns="71120" tIns="35560" bIns="3556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70.55%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24986734"/>
            <a:ext cx="12034765" cy="900785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Inverse reparameterization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724229" y="24986734"/>
            <a:ext cx="4005913" cy="900785"/>
          </a:xfrm>
          <a:prstGeom prst="rect">
            <a:avLst/>
          </a:prstGeom>
          <a:noFill/>
        </p:spPr>
        <p:txBody>
          <a:bodyPr wrap="none" lIns="71120" rIns="71120" tIns="35560" bIns="3556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70.77%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91" y="25770026"/>
            <a:ext cx="12034765" cy="900785"/>
          </a:xfrm>
          <a:prstGeom prst="rect">
            <a:avLst/>
          </a:prstGeom>
          <a:noFill/>
        </p:spPr>
        <p:txBody>
          <a:bodyPr wrap="square" lIns="71120" rIns="71120" tIns="35560" bIns="3556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Softplus reparameterization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724229" y="25770026"/>
            <a:ext cx="4005913" cy="900785"/>
          </a:xfrm>
          <a:prstGeom prst="rect">
            <a:avLst/>
          </a:prstGeom>
          <a:noFill/>
        </p:spPr>
        <p:txBody>
          <a:bodyPr wrap="none" lIns="71120" rIns="71120" tIns="35560" bIns="3556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71.36%</a:t>
            </a:r>
          </a:p>
        </p:txBody>
      </p:sp>
      <p:pic>
        <p:nvPicPr>
          <p:cNvPr id="99" name="Picture 9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14773" y="16294536"/>
            <a:ext cx="10376575" cy="800100"/>
          </a:xfrm>
          <a:prstGeom prst="rect">
            <a:avLst/>
          </a:prstGeom>
        </p:spPr>
      </p:pic>
      <p:pic>
        <p:nvPicPr>
          <p:cNvPr id="100" name="Picture 99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95247" y="17285215"/>
            <a:ext cx="3572391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
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Contrast-Consistent Search, or CCS, is an unsupervised probe that reads a language model's sense of truth from its activations. But what does CCS actually optimize? This paper explains its target and derives a new loss, Midpoint-Displacement, that matches CCS and can beat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CCS recovers a direction in a model's activations encoding whether a statement is true or false, using no labels, only the constraint that a statement and its negation disagree. Yet nobody had pinned down what its loss really optimizes, or whether that target is best.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Safely deploying capable models means catching confident falsehoods, and probes that read a model's own truth representation could help, but only if we understand them. CCS was explained through clustering activations and learning probabilities. The authors argue both pictures mislead, motivating a cleaner account of its target.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it corrects two misconceptions: CCS classifies using only the displacement between a statement and its negation, needing no separating hyperplane, and succeeds even when probabilities cluster near one half. Second, it derives a new Midpoint-Displacement loss. Third, a comparison shows it proxies, and can beat, CCS.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CCS is described by two statistics along the probe direction: sigma-d-squared, how far a statement and its negation are pushed apart, and sigma-m-squared, how far their midpoint sits from origin. Its saturating sigmoid forces a trade-off between the two. Midpoint-Displacement makes this explicit with one knob, lambda, reproducing CCS or maximizing accuracy.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use hidden-state activations from four models: the encoder and decoder of UnifiedQA T5-Large, DeBERTa, and GPT-Neo, averaged over five datasets including BoolQ. Contrast pairs append two exclusive answers, each set normalized independently so the probe cannot detect the answer token.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Midpoint-Displacement tuned to imitate CCS gives probe directions averaging cosine similarity about zero point six three to real CCS probes, while CCS agrees with itself only at zero point seven eight. Other accurate losses like PCA sit near zero point one five, so the resemblance is specific to Midpoint-Displacement.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two Midpoint-Displacement variants differ only in lambda. Tuned to mimic CCS, cosine similarity is about zero point six three; tuned for accuracy, it drops to zero point three eight, showing the displacement-versus-midpoint trade-off defines CCS's target. Retuning lambda raises test accuracy to zero point seven six.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Midpoint-Displacement matched to CCS reaches average cosine similarity about zero point six three, versus CCS self-similarity zero point seven eight, while competing losses reach only zero point one five. The accuracy-tuned variant averages zero point seven six accuracy versus zero point seven one, winning on three of four models, across five datasets.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take-home: CCS succeeds because of the displacement information in its contrast-pair data, not its specific loss formula. A simple Midpoint-Displacement loss reproduces CCS and, retuned, beats it. The exact loss is interchangeable; the real lever is the displacement-versus-midpoint trade-off.</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cs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cs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81d3d95a6dc5c83.png"/>
  <Relationship Id="rId3" Type="http://schemas.openxmlformats.org/officeDocument/2006/relationships/image" Target="../media/image_de3e79bafe40c71e.png"/>
  <Relationship Id="rId4" Type="http://schemas.openxmlformats.org/officeDocument/2006/relationships/image" Target="../media/image_dc23167cecaaef1f.png"/>
  <Relationship Id="rId5" Type="http://schemas.openxmlformats.org/officeDocument/2006/relationships/image" Target="../media/image_921988bb1ff11ce2.pn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0bca773b5a3dd27.png"/>
  <Relationship Id="rId3" Type="http://schemas.openxmlformats.org/officeDocument/2006/relationships/image" Target="../media/image_57b6796293647ebc.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738c39b9e95eac4.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gradFill>
              <a:gsLst>
                <a:gs pos="0">
                  <a:schemeClr val="accent2"/>
                </a:gs>
                <a:gs pos="100000">
                  <a:schemeClr val="accent6"/>
                </a:gs>
              </a:gsLst>
              <a:lin ang="5400000" scaled="1"/>
            </a:gradFill>
            <a:ln>
              <a:noFill/>
            </a:ln>
          </p:spPr>
        </p:sp>
        <p:sp>
          <p:nvSpPr>
            <p:cNvPr id="4" name="Rectangle 4"/>
            <p:cNvSpPr/>
            <p:nvPr/>
          </p:nvSpPr>
          <p:spPr>
            <a:xfrm>
              <a:off x="7734300" y="1428750"/>
              <a:ext cx="3848100" cy="4476750"/>
            </a:xfrm>
            <a:prstGeom prst="roundRect">
              <a:avLst>
                <a:gd name="adj" fmla="val 3960"/>
              </a:avLst>
            </a:prstGeom>
            <a:solidFill>
              <a:schemeClr val="accent5"/>
            </a:solidFill>
            <a:ln w="14288">
              <a:solidFill>
                <a:schemeClr val="accent4"/>
              </a:solidFill>
            </a:ln>
          </p:spPr>
        </p:sp>
      </p:grpSp>
      <p:grpSp>
        <p:nvGrpSpPr>
          <p:cNvPr id="7" name="Group 7"/>
          <p:cNvGrpSpPr/>
          <p:nvPr/>
        </p:nvGrpSpPr>
        <p:grpSpPr>
          <a:xfrm>
            <a:off x="604266" y="877252"/>
            <a:ext cx="5304201" cy="205359"/>
            <a:chOff x="604266" y="877252"/>
            <a:chExt cx="5304201" cy="205359"/>
          </a:xfrm>
        </p:grpSpPr>
        <p:sp>
          <p:nvSpPr>
            <p:cNvPr id="6" name="TextBox 6"/>
            <p:cNvSpPr txBox="1"/>
            <p:nvPr/>
          </p:nvSpPr>
          <p:spPr>
            <a:xfrm>
              <a:off x="604266" y="877252"/>
              <a:ext cx="5304201"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NEURIPS 2023 · LATENT KNOWLEDGE / INTERPRETABILITY</a:t>
              </a:r>
            </a:p>
          </p:txBody>
        </p:sp>
      </p:grpSp>
      <p:grpSp>
        <p:nvGrpSpPr>
          <p:cNvPr id="10" name="Group 10"/>
          <p:cNvGrpSpPr/>
          <p:nvPr/>
        </p:nvGrpSpPr>
        <p:grpSpPr>
          <a:xfrm>
            <a:off x="591312" y="1211580"/>
            <a:ext cx="8706460" cy="1218438"/>
            <a:chOff x="591312" y="1211580"/>
            <a:chExt cx="8706460" cy="1218438"/>
          </a:xfrm>
        </p:grpSpPr>
        <p:sp>
          <p:nvSpPr>
            <p:cNvPr id="8" name="TextBox 8"/>
            <p:cNvSpPr txBox="1"/>
            <p:nvPr/>
          </p:nvSpPr>
          <p:spPr>
            <a:xfrm>
              <a:off x="591312" y="1211580"/>
              <a:ext cx="8616757" cy="704088"/>
            </a:xfrm>
            <a:prstGeom prst="rect">
              <a:avLst/>
            </a:prstGeom>
            <a:noFill/>
            <a:ln>
              <a:noFill/>
            </a:ln>
          </p:spPr>
          <p:txBody>
            <a:bodyPr wrap="none" lIns="0" tIns="0" rIns="0" bIns="0" anchor="t" anchorCtr="0">
              <a:spAutoFit/>
            </a:bodyPr>
            <a:lstStyle/>
            <a:p>
              <a:pPr algn="l"/>
              <a:r>
                <a:rPr lang="en-US" sz="3600" b="1" dirty="0">
                  <a:solidFill>
                    <a:schemeClr val="dk1"/>
                  </a:solidFill>
                  <a:latin typeface="+mj-lt"/>
                  <a:ea typeface="+mj-ea"/>
                  <a:cs typeface="+mj-cs"/>
                </a:rPr>
                <a:t>Comparing Optimization Targets</a:t>
              </a:r>
            </a:p>
          </p:txBody>
        </p:sp>
        <p:sp>
          <p:nvSpPr>
            <p:cNvPr id="9" name="TextBox 9"/>
            <p:cNvSpPr txBox="1"/>
            <p:nvPr/>
          </p:nvSpPr>
          <p:spPr>
            <a:xfrm>
              <a:off x="591312" y="1725930"/>
              <a:ext cx="8706460" cy="704088"/>
            </a:xfrm>
            <a:prstGeom prst="rect">
              <a:avLst/>
            </a:prstGeom>
            <a:noFill/>
            <a:ln>
              <a:noFill/>
            </a:ln>
          </p:spPr>
          <p:txBody>
            <a:bodyPr wrap="none" lIns="0" tIns="0" rIns="0" bIns="0" anchor="t" anchorCtr="0">
              <a:spAutoFit/>
            </a:bodyPr>
            <a:lstStyle/>
            <a:p>
              <a:pPr algn="l"/>
              <a:r>
                <a:rPr lang="en-US" sz="3600" b="1" dirty="0">
                  <a:solidFill>
                    <a:schemeClr val="dk1"/>
                  </a:solidFill>
                  <a:latin typeface="+mj-lt"/>
                  <a:ea typeface="+mj-ea"/>
                  <a:cs typeface="+mj-cs"/>
                </a:rPr>
                <a:t>for Contrast-Consistent Search</a:t>
              </a:r>
            </a:p>
          </p:txBody>
        </p:sp>
      </p:grpSp>
      <p:grpSp>
        <p:nvGrpSpPr>
          <p:cNvPr id="14" name="Group 14"/>
          <p:cNvGrpSpPr/>
          <p:nvPr/>
        </p:nvGrpSpPr>
        <p:grpSpPr>
          <a:xfrm>
            <a:off x="609600" y="2438400"/>
            <a:ext cx="7644434" cy="495300"/>
            <a:chOff x="609600" y="2438400"/>
            <a:chExt cx="7644434" cy="495300"/>
          </a:xfrm>
        </p:grpSpPr>
        <p:sp>
          <p:nvSpPr>
            <p:cNvPr id="11" name="Rectangle 11"/>
            <p:cNvSpPr/>
            <p:nvPr/>
          </p:nvSpPr>
          <p:spPr>
            <a:xfrm>
              <a:off x="609600" y="2438400"/>
              <a:ext cx="6667500" cy="495300"/>
            </a:xfrm>
            <a:prstGeom prst="roundRect">
              <a:avLst>
                <a:gd name="adj" fmla="val 15385"/>
              </a:avLst>
            </a:prstGeom>
            <a:solidFill>
              <a:srgbClr val="EEF2FF"/>
            </a:solidFill>
            <a:ln>
              <a:noFill/>
            </a:ln>
          </p:spPr>
        </p:sp>
        <p:sp>
          <p:nvSpPr>
            <p:cNvPr id="12" name="Rectangle 12"/>
            <p:cNvSpPr/>
            <p:nvPr/>
          </p:nvSpPr>
          <p:spPr>
            <a:xfrm>
              <a:off x="609600" y="2438400"/>
              <a:ext cx="47625" cy="495300"/>
            </a:xfrm>
            <a:prstGeom prst="rect">
              <a:avLst/>
            </a:prstGeom>
            <a:solidFill>
              <a:schemeClr val="accent2"/>
            </a:solidFill>
            <a:ln>
              <a:noFill/>
            </a:ln>
          </p:spPr>
        </p:sp>
        <p:sp>
          <p:nvSpPr>
            <p:cNvPr id="13" name="TextBox 13"/>
            <p:cNvSpPr txBox="1"/>
            <p:nvPr/>
          </p:nvSpPr>
          <p:spPr>
            <a:xfrm>
              <a:off x="812292" y="2597468"/>
              <a:ext cx="744174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CCS: an </a:t>
              </a:r>
              <a:r>
                <a:rPr lang="en-US" sz="1350" b="1" dirty="0">
                  <a:solidFill>
                    <a:schemeClr val="dk1"/>
                  </a:solidFill>
                  <a:latin typeface="+mn-lt"/>
                  <a:ea typeface="+mn-ea"/>
                  <a:cs typeface="+mn-cs"/>
                </a:rPr>
                <a:t>unsupervised</a:t>
              </a:r>
              <a:r>
                <a:rPr lang="en-US" sz="1350" dirty="0">
                  <a:solidFill>
                    <a:schemeClr val="dk1"/>
                  </a:solidFill>
                  <a:latin typeface="+mn-lt"/>
                  <a:ea typeface="+mn-ea"/>
                  <a:cs typeface="+mn-cs"/>
                </a:rPr>
                <a:t xml:space="preserve"> probe reading a model's sense of truth from its activations.</a:t>
              </a:r>
            </a:p>
          </p:txBody>
        </p:sp>
      </p:grpSp>
      <p:grpSp>
        <p:nvGrpSpPr>
          <p:cNvPr id="17" name="Group 17"/>
          <p:cNvGrpSpPr/>
          <p:nvPr/>
        </p:nvGrpSpPr>
        <p:grpSpPr>
          <a:xfrm>
            <a:off x="603123" y="3215164"/>
            <a:ext cx="5933630" cy="477297"/>
            <a:chOff x="603123" y="3215164"/>
            <a:chExt cx="5933630" cy="477297"/>
          </a:xfrm>
        </p:grpSpPr>
        <p:sp>
          <p:nvSpPr>
            <p:cNvPr id="15" name="TextBox 15"/>
            <p:cNvSpPr txBox="1"/>
            <p:nvPr/>
          </p:nvSpPr>
          <p:spPr>
            <a:xfrm>
              <a:off x="603123" y="3215164"/>
              <a:ext cx="593363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Hugo Fry · Seamus Fallows · Ian Fan · Jamie Wright · Nandi Schoots</a:t>
              </a:r>
            </a:p>
          </p:txBody>
        </p:sp>
        <p:sp>
          <p:nvSpPr>
            <p:cNvPr id="16" name="TextBox 16"/>
            <p:cNvSpPr txBox="1"/>
            <p:nvPr/>
          </p:nvSpPr>
          <p:spPr>
            <a:xfrm>
              <a:off x="604266" y="3487102"/>
              <a:ext cx="38844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Independent · Oxford University · King's College London</a:t>
              </a:r>
            </a:p>
          </p:txBody>
        </p:sp>
      </p:grpSp>
      <p:grpSp>
        <p:nvGrpSpPr>
          <p:cNvPr id="21" name="Group 21"/>
          <p:cNvGrpSpPr/>
          <p:nvPr/>
        </p:nvGrpSpPr>
        <p:grpSpPr>
          <a:xfrm>
            <a:off x="609600" y="3981450"/>
            <a:ext cx="6667500" cy="990600"/>
            <a:chOff x="609600" y="3981450"/>
            <a:chExt cx="6667500" cy="990600"/>
          </a:xfrm>
        </p:grpSpPr>
        <p:sp>
          <p:nvSpPr>
            <p:cNvPr id="18" name="Rectangle 18"/>
            <p:cNvSpPr/>
            <p:nvPr/>
          </p:nvSpPr>
          <p:spPr>
            <a:xfrm>
              <a:off x="609600" y="3981450"/>
              <a:ext cx="6667500" cy="990600"/>
            </a:xfrm>
            <a:prstGeom prst="roundRect">
              <a:avLst>
                <a:gd name="adj" fmla="val 13462"/>
              </a:avLst>
            </a:prstGeom>
            <a:solidFill>
              <a:schemeClr val="accent1"/>
            </a:solidFill>
            <a:ln>
              <a:noFill/>
            </a:ln>
            <a:effectLst>
              <a:outerShdw blurRad="95250" dist="28575" dir="5400000" algn="ctr" rotWithShape="0">
                <a:srgbClr val="12243B">
                  <a:alpha val="7500"/>
                </a:srgbClr>
              </a:outerShdw>
            </a:effectLst>
          </p:spPr>
        </p:sp>
        <p:sp>
          <p:nvSpPr>
            <p:cNvPr id="19" name="TextBox 19"/>
            <p:cNvSpPr txBox="1"/>
            <p:nvPr/>
          </p:nvSpPr>
          <p:spPr>
            <a:xfrm>
              <a:off x="833247" y="4238149"/>
              <a:ext cx="1900894" cy="190690"/>
            </a:xfrm>
            <a:prstGeom prst="rect">
              <a:avLst/>
            </a:prstGeom>
            <a:noFill/>
            <a:ln>
              <a:noFill/>
            </a:ln>
          </p:spPr>
          <p:txBody>
            <a:bodyPr wrap="none" lIns="0" tIns="0" rIns="0" bIns="0" anchor="t" anchorCtr="0">
              <a:spAutoFit/>
            </a:bodyPr>
            <a:lstStyle/>
            <a:p>
              <a:pPr algn="l"/>
              <a:r>
                <a:rPr lang="en-US" sz="980" b="1" spc="150" dirty="0">
                  <a:solidFill>
                    <a:srgbClr val="7CA9FF"/>
                  </a:solidFill>
                  <a:latin typeface="+mn-lt"/>
                  <a:ea typeface="+mn-ea"/>
                  <a:cs typeface="+mn-cs"/>
                </a:rPr>
                <a:t>THE DRIVING QUESTION</a:t>
              </a:r>
            </a:p>
          </p:txBody>
        </p:sp>
        <p:sp>
          <p:nvSpPr>
            <p:cNvPr id="20" name="TextBox 20"/>
            <p:cNvSpPr txBox="1"/>
            <p:nvPr/>
          </p:nvSpPr>
          <p:spPr>
            <a:xfrm>
              <a:off x="827913" y="4486751"/>
              <a:ext cx="5000871"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What does CCS actually optimize?</a:t>
              </a:r>
            </a:p>
          </p:txBody>
        </p:sp>
      </p:grpSp>
      <p:grpSp>
        <p:nvGrpSpPr>
          <p:cNvPr id="26" name="Group 26"/>
          <p:cNvGrpSpPr/>
          <p:nvPr/>
        </p:nvGrpSpPr>
        <p:grpSpPr>
          <a:xfrm>
            <a:off x="609600" y="5143500"/>
            <a:ext cx="7507755" cy="762000"/>
            <a:chOff x="609600" y="5143500"/>
            <a:chExt cx="7507755" cy="762000"/>
          </a:xfrm>
        </p:grpSpPr>
        <p:sp>
          <p:nvSpPr>
            <p:cNvPr id="22" name="Rectangle 22"/>
            <p:cNvSpPr/>
            <p:nvPr/>
          </p:nvSpPr>
          <p:spPr>
            <a:xfrm>
              <a:off x="609600" y="5143500"/>
              <a:ext cx="6667500" cy="762000"/>
            </a:xfrm>
            <a:prstGeom prst="roundRect">
              <a:avLst>
                <a:gd name="adj" fmla="val 17500"/>
              </a:avLst>
            </a:prstGeom>
            <a:solidFill>
              <a:srgbClr val="F3EEFE"/>
            </a:solidFill>
            <a:ln w="14288">
              <a:solidFill>
                <a:schemeClr val="accent6"/>
              </a:solidFill>
            </a:ln>
          </p:spPr>
        </p:sp>
        <p:sp>
          <p:nvSpPr>
            <p:cNvPr id="23" name="Rectangle 23"/>
            <p:cNvSpPr/>
            <p:nvPr/>
          </p:nvSpPr>
          <p:spPr>
            <a:xfrm>
              <a:off x="609600" y="5143500"/>
              <a:ext cx="47625" cy="762000"/>
            </a:xfrm>
            <a:prstGeom prst="rect">
              <a:avLst/>
            </a:prstGeom>
            <a:solidFill>
              <a:schemeClr val="accent6"/>
            </a:solidFill>
            <a:ln>
              <a:noFill/>
            </a:ln>
          </p:spPr>
        </p:sp>
        <p:sp>
          <p:nvSpPr>
            <p:cNvPr id="24" name="TextBox 24"/>
            <p:cNvSpPr txBox="1"/>
            <p:nvPr/>
          </p:nvSpPr>
          <p:spPr>
            <a:xfrm>
              <a:off x="833247" y="5343049"/>
              <a:ext cx="1136518"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CONTRIBUTION</a:t>
              </a:r>
            </a:p>
          </p:txBody>
        </p:sp>
        <p:sp>
          <p:nvSpPr>
            <p:cNvPr id="25" name="TextBox 25"/>
            <p:cNvSpPr txBox="1"/>
            <p:nvPr/>
          </p:nvSpPr>
          <p:spPr>
            <a:xfrm>
              <a:off x="831342" y="5569268"/>
              <a:ext cx="72860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A new </a:t>
              </a:r>
              <a:r>
                <a:rPr lang="en-US" sz="1350" b="1" dirty="0">
                  <a:solidFill>
                    <a:schemeClr val="accent6"/>
                  </a:solidFill>
                  <a:latin typeface="+mn-lt"/>
                  <a:ea typeface="+mn-ea"/>
                  <a:cs typeface="+mn-cs"/>
                </a:rPr>
                <a:t>Midpoint-Displacement</a:t>
              </a:r>
              <a:r>
                <a:rPr lang="en-US" sz="1350" dirty="0">
                  <a:solidFill>
                    <a:schemeClr val="dk1"/>
                  </a:solidFill>
                  <a:latin typeface="+mn-lt"/>
                  <a:ea typeface="+mn-ea"/>
                  <a:cs typeface="+mn-cs"/>
                </a:rPr>
                <a:t xml:space="preserve"> loss that reproduces CCS — and, retuned, beats it.</a:t>
              </a:r>
            </a:p>
          </p:txBody>
        </p:sp>
      </p:grpSp>
      <p:grpSp>
        <p:nvGrpSpPr>
          <p:cNvPr id="39" name="Group 39"/>
          <p:cNvGrpSpPr/>
          <p:nvPr/>
        </p:nvGrpSpPr>
        <p:grpSpPr>
          <a:xfrm>
            <a:off x="8248650" y="1723549"/>
            <a:ext cx="2819400" cy="3762851"/>
            <a:chOff x="8248650" y="1723549"/>
            <a:chExt cx="2819400" cy="3762851"/>
          </a:xfrm>
        </p:grpSpPr>
        <p:sp>
          <p:nvSpPr>
            <p:cNvPr id="27" name="TextBox 27"/>
            <p:cNvSpPr txBox="1"/>
            <p:nvPr/>
          </p:nvSpPr>
          <p:spPr>
            <a:xfrm>
              <a:off x="8692740" y="1723549"/>
              <a:ext cx="1931220" cy="190690"/>
            </a:xfrm>
            <a:prstGeom prst="rect">
              <a:avLst/>
            </a:prstGeom>
            <a:noFill/>
            <a:ln>
              <a:noFill/>
            </a:ln>
          </p:spPr>
          <p:txBody>
            <a:bodyPr wrap="none" lIns="0" tIns="0" rIns="0" bIns="0" anchor="t" anchorCtr="0">
              <a:spAutoFit/>
            </a:bodyPr>
            <a:lstStyle/>
            <a:p>
              <a:pPr algn="ctr"/>
              <a:r>
                <a:rPr lang="en-US" sz="980" b="1" spc="112" dirty="0">
                  <a:solidFill>
                    <a:schemeClr val="dk2"/>
                  </a:solidFill>
                  <a:latin typeface="+mn-lt"/>
                  <a:ea typeface="+mn-ea"/>
                  <a:cs typeface="+mn-cs"/>
                </a:rPr>
                <a:t>SCAN FOR PAPER &amp; CODE</a:t>
              </a:r>
            </a:p>
          </p:txBody>
        </p:sp>
        <p:grpSp>
          <p:nvGrpSpPr>
            <p:cNvPr id="31" name="Group 31"/>
            <p:cNvGrpSpPr/>
            <p:nvPr/>
          </p:nvGrpSpPr>
          <p:grpSpPr>
            <a:xfrm>
              <a:off x="8248650" y="2076450"/>
              <a:ext cx="1238250" cy="1514189"/>
              <a:chOff x="8248650" y="2076450"/>
              <a:chExt cx="1238250" cy="1514189"/>
            </a:xfrm>
          </p:grpSpPr>
          <p:sp>
            <p:nvSpPr>
              <p:cNvPr id="28" name="Rectangle 28"/>
              <p:cNvSpPr/>
              <p:nvPr/>
            </p:nvSpPr>
            <p:spPr>
              <a:xfrm>
                <a:off x="8248650" y="2076450"/>
                <a:ext cx="1238250" cy="1238250"/>
              </a:xfrm>
              <a:prstGeom prst="roundRect">
                <a:avLst>
                  <a:gd name="adj" fmla="val 7692"/>
                </a:avLst>
              </a:prstGeom>
              <a:solidFill>
                <a:schemeClr val="lt1"/>
              </a:solidFill>
              <a:ln w="14288">
                <a:solidFill>
                  <a:schemeClr val="accent4"/>
                </a:solidFill>
              </a:ln>
            </p:spPr>
          </p:sp>
          <p:pic>
            <p:nvPicPr>
              <p:cNvPr id="29" name="Image 29"/>
              <p:cNvPicPr>
                <a:picLocks noChangeAspect="1"/>
              </p:cNvPicPr>
              <p:nvPr/>
            </p:nvPicPr>
            <p:blipFill>
              <a:blip r:embed="rId2"/>
              <a:stretch>
                <a:fillRect/>
              </a:stretch>
            </p:blipFill>
            <p:spPr>
              <a:xfrm>
                <a:off x="8362950" y="2190750"/>
                <a:ext cx="1009650" cy="1009650"/>
              </a:xfrm>
              <a:prstGeom prst="rect">
                <a:avLst/>
              </a:prstGeom>
            </p:spPr>
          </p:pic>
          <p:sp>
            <p:nvSpPr>
              <p:cNvPr id="30" name="TextBox 30"/>
              <p:cNvSpPr txBox="1"/>
              <p:nvPr/>
            </p:nvSpPr>
            <p:spPr>
              <a:xfrm>
                <a:off x="8670195" y="3399949"/>
                <a:ext cx="395159"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Paper</a:t>
                </a:r>
              </a:p>
            </p:txBody>
          </p:sp>
        </p:grpSp>
        <p:grpSp>
          <p:nvGrpSpPr>
            <p:cNvPr id="35" name="Group 35"/>
            <p:cNvGrpSpPr/>
            <p:nvPr/>
          </p:nvGrpSpPr>
          <p:grpSpPr>
            <a:xfrm>
              <a:off x="9829800" y="2076450"/>
              <a:ext cx="1238250" cy="1514189"/>
              <a:chOff x="9829800" y="2076450"/>
              <a:chExt cx="1238250" cy="1514189"/>
            </a:xfrm>
          </p:grpSpPr>
          <p:sp>
            <p:nvSpPr>
              <p:cNvPr id="32" name="Rectangle 32"/>
              <p:cNvSpPr/>
              <p:nvPr/>
            </p:nvSpPr>
            <p:spPr>
              <a:xfrm>
                <a:off x="9829800" y="2076450"/>
                <a:ext cx="1238250" cy="1238250"/>
              </a:xfrm>
              <a:prstGeom prst="roundRect">
                <a:avLst>
                  <a:gd name="adj" fmla="val 7692"/>
                </a:avLst>
              </a:prstGeom>
              <a:solidFill>
                <a:schemeClr val="lt1"/>
              </a:solidFill>
              <a:ln w="14288">
                <a:solidFill>
                  <a:schemeClr val="accent4"/>
                </a:solidFill>
              </a:ln>
            </p:spPr>
          </p:sp>
          <p:pic>
            <p:nvPicPr>
              <p:cNvPr id="33" name="Image 33"/>
              <p:cNvPicPr>
                <a:picLocks noChangeAspect="1"/>
              </p:cNvPicPr>
              <p:nvPr/>
            </p:nvPicPr>
            <p:blipFill>
              <a:blip r:embed="rId3"/>
              <a:stretch>
                <a:fillRect/>
              </a:stretch>
            </p:blipFill>
            <p:spPr>
              <a:xfrm>
                <a:off x="9944100" y="2190750"/>
                <a:ext cx="1009650" cy="1009650"/>
              </a:xfrm>
              <a:prstGeom prst="rect">
                <a:avLst/>
              </a:prstGeom>
            </p:spPr>
          </p:pic>
          <p:sp>
            <p:nvSpPr>
              <p:cNvPr id="34" name="TextBox 34"/>
              <p:cNvSpPr txBox="1"/>
              <p:nvPr/>
            </p:nvSpPr>
            <p:spPr>
              <a:xfrm>
                <a:off x="10289439" y="3399949"/>
                <a:ext cx="318971"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mn-lt"/>
                    <a:ea typeface="+mn-ea"/>
                    <a:cs typeface="+mn-cs"/>
                  </a:rPr>
                  <a:t>Code</a:t>
                </a:r>
              </a:p>
            </p:txBody>
          </p:sp>
        </p:grpSp>
        <p:sp>
          <p:nvSpPr>
            <p:cNvPr id="36" name="Line 36"/>
            <p:cNvSpPr/>
            <p:nvPr/>
          </p:nvSpPr>
          <p:spPr>
            <a:xfrm>
              <a:off x="8248650" y="3905250"/>
              <a:ext cx="2819400" cy="9525"/>
            </a:xfrm>
            <a:custGeom>
              <a:avLst/>
              <a:gdLst/>
              <a:ahLst/>
              <a:cxnLst/>
              <a:rect l="l" t="t" r="r" b="b"/>
              <a:pathLst>
                <a:path w="2819400" h="9525">
                  <a:moveTo>
                    <a:pt x="0" y="0"/>
                  </a:moveTo>
                  <a:lnTo>
                    <a:pt x="2819400" y="0"/>
                  </a:lnTo>
                </a:path>
              </a:pathLst>
            </a:custGeom>
            <a:noFill/>
            <a:ln w="14288">
              <a:solidFill>
                <a:schemeClr val="accent4"/>
              </a:solidFill>
            </a:ln>
          </p:spPr>
        </p:sp>
        <p:pic>
          <p:nvPicPr>
            <p:cNvPr id="37" name="Image 37"/>
            <p:cNvPicPr>
              <a:picLocks noChangeAspect="1"/>
            </p:cNvPicPr>
            <p:nvPr/>
          </p:nvPicPr>
          <p:blipFill>
            <a:blip r:embed="rId4"/>
            <a:stretch>
              <a:fillRect/>
            </a:stretch>
          </p:blipFill>
          <p:spPr>
            <a:xfrm>
              <a:off x="8248650" y="4191000"/>
              <a:ext cx="1905000" cy="561975"/>
            </a:xfrm>
            <a:prstGeom prst="rect">
              <a:avLst/>
            </a:prstGeom>
          </p:spPr>
        </p:pic>
        <p:pic>
          <p:nvPicPr>
            <p:cNvPr id="38" name="Image 38"/>
            <p:cNvPicPr>
              <a:picLocks noChangeAspect="1"/>
            </p:cNvPicPr>
            <p:nvPr/>
          </p:nvPicPr>
          <p:blipFill>
            <a:blip r:embed="rId5"/>
            <a:stretch>
              <a:fillRect/>
            </a:stretch>
          </p:blipFill>
          <p:spPr>
            <a:xfrm>
              <a:off x="8248650" y="4914900"/>
              <a:ext cx="857250" cy="571500"/>
            </a:xfrm>
            <a:prstGeom prst="rect">
              <a:avLst/>
            </a:prstGeom>
          </p:spPr>
        </p:pic>
      </p:grpSp>
      <p:grpSp>
        <p:nvGrpSpPr>
          <p:cNvPr id="42" name="Group 42"/>
          <p:cNvGrpSpPr/>
          <p:nvPr/>
        </p:nvGrpSpPr>
        <p:grpSpPr>
          <a:xfrm>
            <a:off x="604838" y="6521291"/>
            <a:ext cx="10982324" cy="161925"/>
            <a:chOff x="604838" y="6521291"/>
            <a:chExt cx="10982324" cy="161925"/>
          </a:xfrm>
        </p:grpSpPr>
        <p:sp>
          <p:nvSpPr>
            <p:cNvPr id="40" name="TextBox 40"/>
            <p:cNvSpPr txBox="1"/>
            <p:nvPr/>
          </p:nvSpPr>
          <p:spPr>
            <a:xfrm>
              <a:off x="604838" y="6521291"/>
              <a:ext cx="562142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Fry, Fallows, Fan, Wright &amp; Schoots · Comparing Optimization Targets for Contrast-Consistent Search</a:t>
              </a:r>
            </a:p>
          </p:txBody>
        </p:sp>
        <p:sp>
          <p:nvSpPr>
            <p:cNvPr id="41" name="TextBox 41"/>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515087" cy="656939"/>
            <a:chOff x="571500" y="533400"/>
            <a:chExt cx="751508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29944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What CCS does — and the open question</a:t>
              </a:r>
            </a:p>
          </p:txBody>
        </p:sp>
        <p:sp>
          <p:nvSpPr>
            <p:cNvPr id="4" name="TextBox 4"/>
            <p:cNvSpPr txBox="1"/>
            <p:nvPr/>
          </p:nvSpPr>
          <p:spPr>
            <a:xfrm>
              <a:off x="795147" y="999649"/>
              <a:ext cx="343624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CONTRAST-CONSISTENT SEARCH</a:t>
              </a:r>
            </a:p>
          </p:txBody>
        </p:sp>
      </p:grpSp>
      <p:grpSp>
        <p:nvGrpSpPr>
          <p:cNvPr id="28" name="Group 28"/>
          <p:cNvGrpSpPr/>
          <p:nvPr/>
        </p:nvGrpSpPr>
        <p:grpSpPr>
          <a:xfrm>
            <a:off x="609600" y="1562100"/>
            <a:ext cx="5444627" cy="4514850"/>
            <a:chOff x="609600" y="1562100"/>
            <a:chExt cx="5444627" cy="4514850"/>
          </a:xfrm>
        </p:grpSpPr>
        <p:sp>
          <p:nvSpPr>
            <p:cNvPr id="6" name="Rectangle 6"/>
            <p:cNvSpPr/>
            <p:nvPr/>
          </p:nvSpPr>
          <p:spPr>
            <a:xfrm>
              <a:off x="609600" y="1562100"/>
              <a:ext cx="5334000" cy="4514850"/>
            </a:xfrm>
            <a:prstGeom prst="roundRect">
              <a:avLst>
                <a:gd name="adj" fmla="val 2954"/>
              </a:avLst>
            </a:prstGeom>
            <a:solidFill>
              <a:schemeClr val="accent5"/>
            </a:solidFill>
            <a:ln w="14288">
              <a:solidFill>
                <a:schemeClr val="accent4"/>
              </a:solidFill>
            </a:ln>
          </p:spPr>
        </p:sp>
        <p:sp>
          <p:nvSpPr>
            <p:cNvPr id="7" name="Rectangle 7"/>
            <p:cNvSpPr/>
            <p:nvPr/>
          </p:nvSpPr>
          <p:spPr>
            <a:xfrm>
              <a:off x="609600" y="1562100"/>
              <a:ext cx="5334000" cy="57150"/>
            </a:xfrm>
            <a:prstGeom prst="roundRect">
              <a:avLst>
                <a:gd name="adj" fmla="val 50000"/>
              </a:avLst>
            </a:prstGeom>
            <a:solidFill>
              <a:schemeClr val="accent2"/>
            </a:solidFill>
            <a:ln>
              <a:noFill/>
            </a:ln>
          </p:spPr>
        </p:sp>
        <p:sp>
          <p:nvSpPr>
            <p:cNvPr id="8" name="TextBox 8"/>
            <p:cNvSpPr txBox="1"/>
            <p:nvPr/>
          </p:nvSpPr>
          <p:spPr>
            <a:xfrm>
              <a:off x="871347" y="1914049"/>
              <a:ext cx="129149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HOW CCS WORKS</a:t>
              </a:r>
            </a:p>
          </p:txBody>
        </p:sp>
        <p:sp>
          <p:nvSpPr>
            <p:cNvPr id="9" name="TextBox 9"/>
            <p:cNvSpPr txBox="1"/>
            <p:nvPr/>
          </p:nvSpPr>
          <p:spPr>
            <a:xfrm>
              <a:off x="867537" y="2175986"/>
              <a:ext cx="518669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A truth direction, learned without labels</a:t>
              </a:r>
            </a:p>
          </p:txBody>
        </p:sp>
        <p:grpSp>
          <p:nvGrpSpPr>
            <p:cNvPr id="13" name="Group 13"/>
            <p:cNvGrpSpPr/>
            <p:nvPr/>
          </p:nvGrpSpPr>
          <p:grpSpPr>
            <a:xfrm>
              <a:off x="933450" y="2643664"/>
              <a:ext cx="4505203" cy="464820"/>
              <a:chOff x="933450" y="2643664"/>
              <a:chExt cx="4505203" cy="464820"/>
            </a:xfrm>
          </p:grpSpPr>
          <p:sp>
            <p:nvSpPr>
              <p:cNvPr id="10" name="Ellipse 10"/>
              <p:cNvSpPr/>
              <p:nvPr/>
            </p:nvSpPr>
            <p:spPr>
              <a:xfrm>
                <a:off x="933450" y="2781300"/>
                <a:ext cx="114300" cy="114300"/>
              </a:xfrm>
              <a:prstGeom prst="ellipse">
                <a:avLst/>
              </a:prstGeom>
              <a:solidFill>
                <a:schemeClr val="accent2"/>
              </a:solidFill>
              <a:ln>
                <a:noFill/>
              </a:ln>
            </p:spPr>
          </p:sp>
          <p:sp>
            <p:nvSpPr>
              <p:cNvPr id="11" name="TextBox 11"/>
              <p:cNvSpPr txBox="1"/>
              <p:nvPr/>
            </p:nvSpPr>
            <p:spPr>
              <a:xfrm>
                <a:off x="1174623" y="2643664"/>
                <a:ext cx="354678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Recovers a direction in activation space</a:t>
                </a:r>
              </a:p>
            </p:txBody>
          </p:sp>
          <p:sp>
            <p:nvSpPr>
              <p:cNvPr id="12" name="TextBox 12"/>
              <p:cNvSpPr txBox="1"/>
              <p:nvPr/>
            </p:nvSpPr>
            <p:spPr>
              <a:xfrm>
                <a:off x="1175385" y="2888456"/>
                <a:ext cx="4263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should encode whether a statement is true or false.</a:t>
                </a:r>
              </a:p>
            </p:txBody>
          </p:sp>
        </p:grpSp>
        <p:grpSp>
          <p:nvGrpSpPr>
            <p:cNvPr id="17" name="Group 17"/>
            <p:cNvGrpSpPr/>
            <p:nvPr/>
          </p:nvGrpSpPr>
          <p:grpSpPr>
            <a:xfrm>
              <a:off x="933450" y="3310414"/>
              <a:ext cx="3789025" cy="464820"/>
              <a:chOff x="933450" y="3310414"/>
              <a:chExt cx="3789025" cy="464820"/>
            </a:xfrm>
          </p:grpSpPr>
          <p:sp>
            <p:nvSpPr>
              <p:cNvPr id="14" name="Ellipse 14"/>
              <p:cNvSpPr/>
              <p:nvPr/>
            </p:nvSpPr>
            <p:spPr>
              <a:xfrm>
                <a:off x="933450" y="3448050"/>
                <a:ext cx="114300" cy="114300"/>
              </a:xfrm>
              <a:prstGeom prst="ellipse">
                <a:avLst/>
              </a:prstGeom>
              <a:solidFill>
                <a:schemeClr val="accent2"/>
              </a:solidFill>
              <a:ln>
                <a:noFill/>
              </a:ln>
            </p:spPr>
          </p:sp>
          <p:sp>
            <p:nvSpPr>
              <p:cNvPr id="15" name="TextBox 15"/>
              <p:cNvSpPr txBox="1"/>
              <p:nvPr/>
            </p:nvSpPr>
            <p:spPr>
              <a:xfrm>
                <a:off x="1174623" y="3310414"/>
                <a:ext cx="259703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Fully unsupervised — no labels</a:t>
                </a:r>
              </a:p>
            </p:txBody>
          </p:sp>
          <p:sp>
            <p:nvSpPr>
              <p:cNvPr id="16" name="TextBox 16"/>
              <p:cNvSpPr txBox="1"/>
              <p:nvPr/>
            </p:nvSpPr>
            <p:spPr>
              <a:xfrm>
                <a:off x="1175385" y="3555206"/>
                <a:ext cx="3547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probe never sees the ground-truth answer.</a:t>
                </a:r>
              </a:p>
            </p:txBody>
          </p:sp>
        </p:grpSp>
        <p:grpSp>
          <p:nvGrpSpPr>
            <p:cNvPr id="21" name="Group 21"/>
            <p:cNvGrpSpPr/>
            <p:nvPr/>
          </p:nvGrpSpPr>
          <p:grpSpPr>
            <a:xfrm>
              <a:off x="933450" y="3977164"/>
              <a:ext cx="4603206" cy="464820"/>
              <a:chOff x="933450" y="3977164"/>
              <a:chExt cx="4603206" cy="464820"/>
            </a:xfrm>
          </p:grpSpPr>
          <p:sp>
            <p:nvSpPr>
              <p:cNvPr id="18" name="Ellipse 18"/>
              <p:cNvSpPr/>
              <p:nvPr/>
            </p:nvSpPr>
            <p:spPr>
              <a:xfrm>
                <a:off x="933450" y="4114800"/>
                <a:ext cx="114300" cy="114300"/>
              </a:xfrm>
              <a:prstGeom prst="ellipse">
                <a:avLst/>
              </a:prstGeom>
              <a:solidFill>
                <a:schemeClr val="accent2"/>
              </a:solidFill>
              <a:ln>
                <a:noFill/>
              </a:ln>
            </p:spPr>
          </p:sp>
          <p:sp>
            <p:nvSpPr>
              <p:cNvPr id="19" name="TextBox 19"/>
              <p:cNvSpPr txBox="1"/>
              <p:nvPr/>
            </p:nvSpPr>
            <p:spPr>
              <a:xfrm>
                <a:off x="1174623" y="3977164"/>
                <a:ext cx="355618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One constraint: negation must disagree</a:t>
                </a:r>
              </a:p>
            </p:txBody>
          </p:sp>
          <p:sp>
            <p:nvSpPr>
              <p:cNvPr id="20" name="TextBox 20"/>
              <p:cNvSpPr txBox="1"/>
              <p:nvPr/>
            </p:nvSpPr>
            <p:spPr>
              <a:xfrm>
                <a:off x="1175385" y="4221956"/>
                <a:ext cx="43612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statement and its negation should get opposite verdicts.</a:t>
                </a:r>
              </a:p>
            </p:txBody>
          </p:sp>
        </p:grpSp>
        <p:sp>
          <p:nvSpPr>
            <p:cNvPr id="22" name="Rectangle 22"/>
            <p:cNvSpPr/>
            <p:nvPr/>
          </p:nvSpPr>
          <p:spPr>
            <a:xfrm>
              <a:off x="876300" y="4762500"/>
              <a:ext cx="4800600" cy="1066800"/>
            </a:xfrm>
            <a:prstGeom prst="roundRect">
              <a:avLst>
                <a:gd name="adj" fmla="val 8929"/>
              </a:avLst>
            </a:prstGeom>
            <a:solidFill>
              <a:schemeClr val="lt1"/>
            </a:solidFill>
            <a:ln w="14288">
              <a:solidFill>
                <a:schemeClr val="accent4"/>
              </a:solidFill>
            </a:ln>
          </p:spPr>
        </p:sp>
        <p:sp>
          <p:nvSpPr>
            <p:cNvPr id="23" name="Rectangle 23"/>
            <p:cNvSpPr/>
            <p:nvPr/>
          </p:nvSpPr>
          <p:spPr>
            <a:xfrm>
              <a:off x="1143000" y="5048250"/>
              <a:ext cx="1428750" cy="495300"/>
            </a:xfrm>
            <a:prstGeom prst="roundRect">
              <a:avLst>
                <a:gd name="adj" fmla="val 15385"/>
              </a:avLst>
            </a:prstGeom>
            <a:solidFill>
              <a:srgbClr val="EEF2FF"/>
            </a:solidFill>
            <a:ln w="14288">
              <a:solidFill>
                <a:schemeClr val="accent2"/>
              </a:solidFill>
            </a:ln>
          </p:spPr>
        </p:sp>
        <p:sp>
          <p:nvSpPr>
            <p:cNvPr id="24" name="TextBox 24"/>
            <p:cNvSpPr txBox="1"/>
            <p:nvPr/>
          </p:nvSpPr>
          <p:spPr>
            <a:xfrm>
              <a:off x="1323289" y="5191125"/>
              <a:ext cx="1068172"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j-lt"/>
                  <a:ea typeface="+mj-ea"/>
                  <a:cs typeface="+mj-cs"/>
                </a:rPr>
                <a:t>φ⁺ “true”</a:t>
              </a:r>
            </a:p>
          </p:txBody>
        </p:sp>
        <p:sp>
          <p:nvSpPr>
            <p:cNvPr id="25" name="TextBox 25"/>
            <p:cNvSpPr txBox="1"/>
            <p:nvPr/>
          </p:nvSpPr>
          <p:spPr>
            <a:xfrm>
              <a:off x="2525883" y="5231606"/>
              <a:ext cx="1044235" cy="220028"/>
            </a:xfrm>
            <a:prstGeom prst="rect">
              <a:avLst/>
            </a:prstGeom>
            <a:noFill/>
            <a:ln>
              <a:noFill/>
            </a:ln>
          </p:spPr>
          <p:txBody>
            <a:bodyPr wrap="none" lIns="0" tIns="0" rIns="0" bIns="0" anchor="t" anchorCtr="0">
              <a:spAutoFit/>
            </a:bodyPr>
            <a:lstStyle/>
            <a:p>
              <a:pPr algn="ctr"/>
              <a:r>
                <a:rPr lang="en-US" sz="1120" i="1" dirty="0">
                  <a:solidFill>
                    <a:schemeClr val="dk2"/>
                  </a:solidFill>
                  <a:latin typeface="+mn-lt"/>
                  <a:ea typeface="+mn-ea"/>
                  <a:cs typeface="+mn-cs"/>
                </a:rPr>
                <a:t>must disagree</a:t>
              </a:r>
            </a:p>
          </p:txBody>
        </p:sp>
        <p:sp>
          <p:nvSpPr>
            <p:cNvPr id="26" name="Rectangle 26"/>
            <p:cNvSpPr/>
            <p:nvPr/>
          </p:nvSpPr>
          <p:spPr>
            <a:xfrm>
              <a:off x="3981450" y="5048250"/>
              <a:ext cx="1428750" cy="495300"/>
            </a:xfrm>
            <a:prstGeom prst="roundRect">
              <a:avLst>
                <a:gd name="adj" fmla="val 15385"/>
              </a:avLst>
            </a:prstGeom>
            <a:solidFill>
              <a:srgbClr val="F3EEFE"/>
            </a:solidFill>
            <a:ln w="14288">
              <a:solidFill>
                <a:schemeClr val="accent6"/>
              </a:solidFill>
            </a:ln>
          </p:spPr>
        </p:sp>
        <p:sp>
          <p:nvSpPr>
            <p:cNvPr id="27" name="TextBox 27"/>
            <p:cNvSpPr txBox="1"/>
            <p:nvPr/>
          </p:nvSpPr>
          <p:spPr>
            <a:xfrm>
              <a:off x="4128135" y="5191125"/>
              <a:ext cx="1135380" cy="293370"/>
            </a:xfrm>
            <a:prstGeom prst="rect">
              <a:avLst/>
            </a:prstGeom>
            <a:noFill/>
            <a:ln>
              <a:noFill/>
            </a:ln>
          </p:spPr>
          <p:txBody>
            <a:bodyPr wrap="none" lIns="0" tIns="0" rIns="0" bIns="0" anchor="t" anchorCtr="0">
              <a:spAutoFit/>
            </a:bodyPr>
            <a:lstStyle/>
            <a:p>
              <a:pPr algn="ctr"/>
              <a:r>
                <a:rPr lang="en-US" sz="1500" b="1" dirty="0">
                  <a:solidFill>
                    <a:schemeClr val="accent6"/>
                  </a:solidFill>
                  <a:latin typeface="+mj-lt"/>
                  <a:ea typeface="+mj-ea"/>
                  <a:cs typeface="+mj-cs"/>
                </a:rPr>
                <a:t>φ⁻ “false”</a:t>
              </a:r>
            </a:p>
          </p:txBody>
        </p:sp>
      </p:grpSp>
      <p:grpSp>
        <p:nvGrpSpPr>
          <p:cNvPr id="44" name="Group 44"/>
          <p:cNvGrpSpPr/>
          <p:nvPr/>
        </p:nvGrpSpPr>
        <p:grpSpPr>
          <a:xfrm>
            <a:off x="6248400" y="1562100"/>
            <a:ext cx="5334000" cy="4514850"/>
            <a:chOff x="6248400" y="1562100"/>
            <a:chExt cx="5334000" cy="4514850"/>
          </a:xfrm>
        </p:grpSpPr>
        <p:sp>
          <p:nvSpPr>
            <p:cNvPr id="29" name="Rectangle 29"/>
            <p:cNvSpPr/>
            <p:nvPr/>
          </p:nvSpPr>
          <p:spPr>
            <a:xfrm>
              <a:off x="6248400" y="1562100"/>
              <a:ext cx="5334000" cy="4514850"/>
            </a:xfrm>
            <a:prstGeom prst="roundRect">
              <a:avLst>
                <a:gd name="adj" fmla="val 2954"/>
              </a:avLst>
            </a:prstGeom>
            <a:solidFill>
              <a:schemeClr val="accent1"/>
            </a:solidFill>
            <a:ln>
              <a:noFill/>
            </a:ln>
          </p:spPr>
        </p:sp>
        <p:sp>
          <p:nvSpPr>
            <p:cNvPr id="30" name="Rectangle 30"/>
            <p:cNvSpPr/>
            <p:nvPr/>
          </p:nvSpPr>
          <p:spPr>
            <a:xfrm>
              <a:off x="6248400" y="1562100"/>
              <a:ext cx="5334000" cy="57150"/>
            </a:xfrm>
            <a:prstGeom prst="roundRect">
              <a:avLst>
                <a:gd name="adj" fmla="val 50000"/>
              </a:avLst>
            </a:prstGeom>
            <a:solidFill>
              <a:schemeClr val="accent6"/>
            </a:solidFill>
            <a:ln>
              <a:noFill/>
            </a:ln>
          </p:spPr>
        </p:sp>
        <p:sp>
          <p:nvSpPr>
            <p:cNvPr id="31" name="TextBox 31"/>
            <p:cNvSpPr txBox="1"/>
            <p:nvPr/>
          </p:nvSpPr>
          <p:spPr>
            <a:xfrm>
              <a:off x="6510147" y="1914049"/>
              <a:ext cx="1611358"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THE OPEN QUESTION</a:t>
              </a:r>
            </a:p>
          </p:txBody>
        </p:sp>
        <p:sp>
          <p:nvSpPr>
            <p:cNvPr id="32" name="TextBox 32"/>
            <p:cNvSpPr txBox="1"/>
            <p:nvPr/>
          </p:nvSpPr>
          <p:spPr>
            <a:xfrm>
              <a:off x="6503670" y="2195512"/>
              <a:ext cx="367817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CCS works — but why?</a:t>
              </a:r>
            </a:p>
          </p:txBody>
        </p:sp>
        <p:sp>
          <p:nvSpPr>
            <p:cNvPr id="33" name="TextBox 33"/>
            <p:cNvSpPr txBox="1"/>
            <p:nvPr/>
          </p:nvSpPr>
          <p:spPr>
            <a:xfrm>
              <a:off x="6508242" y="2864168"/>
              <a:ext cx="4045033" cy="264033"/>
            </a:xfrm>
            <a:prstGeom prst="rect">
              <a:avLst/>
            </a:prstGeom>
            <a:noFill/>
            <a:ln>
              <a:noFill/>
            </a:ln>
          </p:spPr>
          <p:txBody>
            <a:bodyPr wrap="none" lIns="0" tIns="0" rIns="0" bIns="0" anchor="t" anchorCtr="0">
              <a:spAutoFit/>
            </a:bodyPr>
            <a:lstStyle/>
            <a:p>
              <a:pPr algn="l"/>
              <a:r>
                <a:rPr lang="en-US" sz="1350" dirty="0">
                  <a:solidFill>
                    <a:srgbClr val="E2E8F0"/>
                  </a:solidFill>
                  <a:latin typeface="+mn-lt"/>
                  <a:ea typeface="+mn-ea"/>
                  <a:cs typeface="+mn-cs"/>
                </a:rPr>
                <a:t>Despite working surprisingly well, nobody had</a:t>
              </a:r>
            </a:p>
          </p:txBody>
        </p:sp>
        <p:sp>
          <p:nvSpPr>
            <p:cNvPr id="34" name="TextBox 34"/>
            <p:cNvSpPr txBox="1"/>
            <p:nvPr/>
          </p:nvSpPr>
          <p:spPr>
            <a:xfrm>
              <a:off x="6508242" y="3111818"/>
              <a:ext cx="2158213" cy="264033"/>
            </a:xfrm>
            <a:prstGeom prst="rect">
              <a:avLst/>
            </a:prstGeom>
            <a:noFill/>
            <a:ln>
              <a:noFill/>
            </a:ln>
          </p:spPr>
          <p:txBody>
            <a:bodyPr wrap="none" lIns="0" tIns="0" rIns="0" bIns="0" anchor="t" anchorCtr="0">
              <a:spAutoFit/>
            </a:bodyPr>
            <a:lstStyle/>
            <a:p>
              <a:pPr algn="l"/>
              <a:r>
                <a:rPr lang="en-US" sz="1350" dirty="0">
                  <a:solidFill>
                    <a:srgbClr val="E2E8F0"/>
                  </a:solidFill>
                  <a:latin typeface="+mn-lt"/>
                  <a:ea typeface="+mn-ea"/>
                  <a:cs typeface="+mn-cs"/>
                </a:rPr>
                <a:t>pinned down two things:</a:t>
              </a:r>
            </a:p>
          </p:txBody>
        </p:sp>
        <p:sp>
          <p:nvSpPr>
            <p:cNvPr id="35" name="Rectangle 35"/>
            <p:cNvSpPr/>
            <p:nvPr/>
          </p:nvSpPr>
          <p:spPr>
            <a:xfrm>
              <a:off x="6515100" y="3600450"/>
              <a:ext cx="4800600" cy="914400"/>
            </a:xfrm>
            <a:prstGeom prst="roundRect">
              <a:avLst>
                <a:gd name="adj" fmla="val 10417"/>
              </a:avLst>
            </a:prstGeom>
            <a:solidFill>
              <a:srgbClr val="1B3350"/>
            </a:solidFill>
            <a:ln>
              <a:noFill/>
            </a:ln>
          </p:spPr>
        </p:sp>
        <p:sp>
          <p:nvSpPr>
            <p:cNvPr id="36" name="TextBox 36"/>
            <p:cNvSpPr txBox="1"/>
            <p:nvPr/>
          </p:nvSpPr>
          <p:spPr>
            <a:xfrm>
              <a:off x="6735318" y="3784282"/>
              <a:ext cx="145040" cy="322707"/>
            </a:xfrm>
            <a:prstGeom prst="rect">
              <a:avLst/>
            </a:prstGeom>
            <a:noFill/>
            <a:ln>
              <a:noFill/>
            </a:ln>
          </p:spPr>
          <p:txBody>
            <a:bodyPr wrap="none" lIns="0" tIns="0" rIns="0" bIns="0" anchor="t" anchorCtr="0">
              <a:spAutoFit/>
            </a:bodyPr>
            <a:lstStyle/>
            <a:p>
              <a:pPr algn="l"/>
              <a:r>
                <a:rPr lang="en-US" sz="1650" b="1" dirty="0">
                  <a:solidFill>
                    <a:srgbClr val="7CA9FF"/>
                  </a:solidFill>
                  <a:latin typeface="+mn-lt"/>
                  <a:ea typeface="+mn-ea"/>
                  <a:cs typeface="+mn-cs"/>
                </a:rPr>
                <a:t>1</a:t>
              </a:r>
            </a:p>
          </p:txBody>
        </p:sp>
        <p:sp>
          <p:nvSpPr>
            <p:cNvPr id="37" name="TextBox 37"/>
            <p:cNvSpPr txBox="1"/>
            <p:nvPr/>
          </p:nvSpPr>
          <p:spPr>
            <a:xfrm>
              <a:off x="7041642" y="3816668"/>
              <a:ext cx="3417299"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 xml:space="preserve">What is its loss really </a:t>
              </a:r>
              <a:r>
                <a:rPr lang="en-US" sz="1350" b="1" dirty="0">
                  <a:solidFill>
                    <a:srgbClr val="FFFFFF"/>
                  </a:solidFill>
                  <a:latin typeface="+mn-lt"/>
                  <a:ea typeface="+mn-ea"/>
                  <a:cs typeface="+mn-cs"/>
                </a:rPr>
                <a:t>optimizing for</a:t>
              </a:r>
              <a:r>
                <a:rPr lang="en-US" sz="1350" dirty="0">
                  <a:solidFill>
                    <a:srgbClr val="FFFFFF"/>
                  </a:solidFill>
                  <a:latin typeface="+mn-lt"/>
                  <a:ea typeface="+mn-ea"/>
                  <a:cs typeface="+mn-cs"/>
                </a:rPr>
                <a:t>?</a:t>
              </a:r>
            </a:p>
          </p:txBody>
        </p:sp>
        <p:sp>
          <p:nvSpPr>
            <p:cNvPr id="38" name="TextBox 38"/>
            <p:cNvSpPr txBox="1"/>
            <p:nvPr/>
          </p:nvSpPr>
          <p:spPr>
            <a:xfrm>
              <a:off x="7042785" y="4164806"/>
              <a:ext cx="3755674"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The mechanism behind its success was unexplained.</a:t>
              </a:r>
            </a:p>
          </p:txBody>
        </p:sp>
        <p:sp>
          <p:nvSpPr>
            <p:cNvPr id="39" name="Rectangle 39"/>
            <p:cNvSpPr/>
            <p:nvPr/>
          </p:nvSpPr>
          <p:spPr>
            <a:xfrm>
              <a:off x="6515100" y="4667250"/>
              <a:ext cx="4800600" cy="914400"/>
            </a:xfrm>
            <a:prstGeom prst="roundRect">
              <a:avLst>
                <a:gd name="adj" fmla="val 10417"/>
              </a:avLst>
            </a:prstGeom>
            <a:solidFill>
              <a:srgbClr val="1B3350"/>
            </a:solidFill>
            <a:ln>
              <a:noFill/>
            </a:ln>
          </p:spPr>
        </p:sp>
        <p:sp>
          <p:nvSpPr>
            <p:cNvPr id="40" name="TextBox 40"/>
            <p:cNvSpPr txBox="1"/>
            <p:nvPr/>
          </p:nvSpPr>
          <p:spPr>
            <a:xfrm>
              <a:off x="6735318" y="4851082"/>
              <a:ext cx="145040" cy="322707"/>
            </a:xfrm>
            <a:prstGeom prst="rect">
              <a:avLst/>
            </a:prstGeom>
            <a:noFill/>
            <a:ln>
              <a:noFill/>
            </a:ln>
          </p:spPr>
          <p:txBody>
            <a:bodyPr wrap="none" lIns="0" tIns="0" rIns="0" bIns="0" anchor="t" anchorCtr="0">
              <a:spAutoFit/>
            </a:bodyPr>
            <a:lstStyle/>
            <a:p>
              <a:pPr algn="l"/>
              <a:r>
                <a:rPr lang="en-US" sz="1650" b="1" dirty="0">
                  <a:solidFill>
                    <a:srgbClr val="7CA9FF"/>
                  </a:solidFill>
                  <a:latin typeface="+mn-lt"/>
                  <a:ea typeface="+mn-ea"/>
                  <a:cs typeface="+mn-cs"/>
                </a:rPr>
                <a:t>2</a:t>
              </a:r>
            </a:p>
          </p:txBody>
        </p:sp>
        <p:sp>
          <p:nvSpPr>
            <p:cNvPr id="41" name="TextBox 41"/>
            <p:cNvSpPr txBox="1"/>
            <p:nvPr/>
          </p:nvSpPr>
          <p:spPr>
            <a:xfrm>
              <a:off x="7041642" y="4883468"/>
              <a:ext cx="302072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 xml:space="preserve">Is that target even the </a:t>
              </a:r>
              <a:r>
                <a:rPr lang="en-US" sz="1350" b="1" dirty="0">
                  <a:solidFill>
                    <a:srgbClr val="FFFFFF"/>
                  </a:solidFill>
                  <a:latin typeface="+mn-lt"/>
                  <a:ea typeface="+mn-ea"/>
                  <a:cs typeface="+mn-cs"/>
                </a:rPr>
                <a:t>best</a:t>
              </a:r>
              <a:r>
                <a:rPr lang="en-US" sz="1350" dirty="0">
                  <a:solidFill>
                    <a:srgbClr val="FFFFFF"/>
                  </a:solidFill>
                  <a:latin typeface="+mn-lt"/>
                  <a:ea typeface="+mn-ea"/>
                  <a:cs typeface="+mn-cs"/>
                </a:rPr>
                <a:t xml:space="preserve"> one?</a:t>
              </a:r>
            </a:p>
          </p:txBody>
        </p:sp>
        <p:sp>
          <p:nvSpPr>
            <p:cNvPr id="42" name="TextBox 42"/>
            <p:cNvSpPr txBox="1"/>
            <p:nvPr/>
          </p:nvSpPr>
          <p:spPr>
            <a:xfrm>
              <a:off x="7042785" y="5231606"/>
              <a:ext cx="3702832"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Could a different objective recover truth better?</a:t>
              </a:r>
            </a:p>
          </p:txBody>
        </p:sp>
        <p:sp>
          <p:nvSpPr>
            <p:cNvPr id="43" name="TextBox 43"/>
            <p:cNvSpPr txBox="1"/>
            <p:nvPr/>
          </p:nvSpPr>
          <p:spPr>
            <a:xfrm>
              <a:off x="6509004" y="5737860"/>
              <a:ext cx="3721625" cy="234696"/>
            </a:xfrm>
            <a:prstGeom prst="rect">
              <a:avLst/>
            </a:prstGeom>
            <a:noFill/>
            <a:ln>
              <a:noFill/>
            </a:ln>
          </p:spPr>
          <p:txBody>
            <a:bodyPr wrap="none" lIns="0" tIns="0" rIns="0" bIns="0" anchor="t" anchorCtr="0">
              <a:spAutoFit/>
            </a:bodyPr>
            <a:lstStyle/>
            <a:p>
              <a:pPr algn="l"/>
              <a:r>
                <a:rPr lang="en-US" sz="1200" i="1" dirty="0">
                  <a:solidFill>
                    <a:srgbClr val="B79CF6"/>
                  </a:solidFill>
                  <a:latin typeface="+mj-lt"/>
                  <a:ea typeface="+mj-ea"/>
                  <a:cs typeface="+mj-cs"/>
                </a:rPr>
                <a:t>This paper sets out to answer exactly that.</a:t>
              </a:r>
            </a:p>
          </p:txBody>
        </p:sp>
      </p:grpSp>
      <p:grpSp>
        <p:nvGrpSpPr>
          <p:cNvPr id="47" name="Group 47"/>
          <p:cNvGrpSpPr/>
          <p:nvPr/>
        </p:nvGrpSpPr>
        <p:grpSpPr>
          <a:xfrm>
            <a:off x="604838" y="6521291"/>
            <a:ext cx="10982324" cy="161925"/>
            <a:chOff x="604838" y="6521291"/>
            <a:chExt cx="10982324" cy="161925"/>
          </a:xfrm>
        </p:grpSpPr>
        <p:sp>
          <p:nvSpPr>
            <p:cNvPr id="45" name="TextBox 45"/>
            <p:cNvSpPr txBox="1"/>
            <p:nvPr/>
          </p:nvSpPr>
          <p:spPr>
            <a:xfrm>
              <a:off x="604838" y="6521291"/>
              <a:ext cx="5254901"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Introduction · Contrast-Consistent Search (Burns et al. 2023) as analysed by Fry et al.</a:t>
              </a:r>
            </a:p>
          </p:txBody>
        </p:sp>
        <p:sp>
          <p:nvSpPr>
            <p:cNvPr id="46" name="TextBox 46"/>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280290" cy="656939"/>
            <a:chOff x="571500" y="533400"/>
            <a:chExt cx="628029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06464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Why understanding CCS matters</a:t>
              </a:r>
            </a:p>
          </p:txBody>
        </p:sp>
        <p:sp>
          <p:nvSpPr>
            <p:cNvPr id="4" name="TextBox 4"/>
            <p:cNvSpPr txBox="1"/>
            <p:nvPr/>
          </p:nvSpPr>
          <p:spPr>
            <a:xfrm>
              <a:off x="795147" y="999649"/>
              <a:ext cx="9729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a:t>
              </a:r>
            </a:p>
          </p:txBody>
        </p:sp>
      </p:grpSp>
      <p:grpSp>
        <p:nvGrpSpPr>
          <p:cNvPr id="11" name="Group 11"/>
          <p:cNvGrpSpPr/>
          <p:nvPr/>
        </p:nvGrpSpPr>
        <p:grpSpPr>
          <a:xfrm>
            <a:off x="609600" y="1524000"/>
            <a:ext cx="11008922" cy="1143000"/>
            <a:chOff x="609600" y="1524000"/>
            <a:chExt cx="11008922" cy="1143000"/>
          </a:xfrm>
        </p:grpSpPr>
        <p:sp>
          <p:nvSpPr>
            <p:cNvPr id="6" name="Rectangle 6"/>
            <p:cNvSpPr/>
            <p:nvPr/>
          </p:nvSpPr>
          <p:spPr>
            <a:xfrm>
              <a:off x="609600" y="1524000"/>
              <a:ext cx="10972800" cy="1143000"/>
            </a:xfrm>
            <a:prstGeom prst="roundRect">
              <a:avLst>
                <a:gd name="adj" fmla="val 11667"/>
              </a:avLst>
            </a:prstGeom>
            <a:solidFill>
              <a:srgbClr val="EEF2FF"/>
            </a:solidFill>
            <a:ln>
              <a:noFill/>
            </a:ln>
          </p:spPr>
        </p:sp>
        <p:sp>
          <p:nvSpPr>
            <p:cNvPr id="7" name="Rectangle 7"/>
            <p:cNvSpPr/>
            <p:nvPr/>
          </p:nvSpPr>
          <p:spPr>
            <a:xfrm>
              <a:off x="609600" y="1524000"/>
              <a:ext cx="57150" cy="1143000"/>
            </a:xfrm>
            <a:prstGeom prst="roundRect">
              <a:avLst>
                <a:gd name="adj" fmla="val 50000"/>
              </a:avLst>
            </a:prstGeom>
            <a:solidFill>
              <a:schemeClr val="accent2"/>
            </a:solidFill>
            <a:ln>
              <a:noFill/>
            </a:ln>
          </p:spPr>
        </p:sp>
        <p:sp>
          <p:nvSpPr>
            <p:cNvPr id="8" name="TextBox 8"/>
            <p:cNvSpPr txBox="1"/>
            <p:nvPr/>
          </p:nvSpPr>
          <p:spPr>
            <a:xfrm>
              <a:off x="909447" y="1799749"/>
              <a:ext cx="129279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WHY IT MATTERS</a:t>
              </a:r>
            </a:p>
          </p:txBody>
        </p:sp>
        <p:sp>
          <p:nvSpPr>
            <p:cNvPr id="9" name="TextBox 9"/>
            <p:cNvSpPr txBox="1"/>
            <p:nvPr/>
          </p:nvSpPr>
          <p:spPr>
            <a:xfrm>
              <a:off x="906780" y="2066925"/>
              <a:ext cx="107117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Capable models state falsehoods with confidence. Probes that read a model's </a:t>
              </a:r>
              <a:r>
                <a:rPr lang="en-US" sz="1500" b="1" dirty="0">
                  <a:solidFill>
                    <a:schemeClr val="dk1"/>
                  </a:solidFill>
                  <a:latin typeface="+mn-lt"/>
                  <a:ea typeface="+mn-ea"/>
                  <a:cs typeface="+mn-cs"/>
                </a:rPr>
                <a:t>own representation of truth</a:t>
              </a:r>
            </a:p>
          </p:txBody>
        </p:sp>
        <p:sp>
          <p:nvSpPr>
            <p:cNvPr id="10" name="TextBox 10"/>
            <p:cNvSpPr txBox="1"/>
            <p:nvPr/>
          </p:nvSpPr>
          <p:spPr>
            <a:xfrm>
              <a:off x="906780" y="2333625"/>
              <a:ext cx="77451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could help us catch this — but </a:t>
              </a:r>
              <a:r>
                <a:rPr lang="en-US" sz="1500" b="1" dirty="0">
                  <a:solidFill>
                    <a:schemeClr val="dk1"/>
                  </a:solidFill>
                  <a:latin typeface="+mn-lt"/>
                  <a:ea typeface="+mn-ea"/>
                  <a:cs typeface="+mn-cs"/>
                </a:rPr>
                <a:t>only if we actually understand how they work.</a:t>
              </a:r>
            </a:p>
          </p:txBody>
        </p:sp>
      </p:grpSp>
      <p:grpSp>
        <p:nvGrpSpPr>
          <p:cNvPr id="30" name="Group 30"/>
          <p:cNvGrpSpPr/>
          <p:nvPr/>
        </p:nvGrpSpPr>
        <p:grpSpPr>
          <a:xfrm>
            <a:off x="609600" y="2895600"/>
            <a:ext cx="7067550" cy="3181350"/>
            <a:chOff x="609600" y="2895600"/>
            <a:chExt cx="7067550" cy="3181350"/>
          </a:xfrm>
        </p:grpSpPr>
        <p:sp>
          <p:nvSpPr>
            <p:cNvPr id="12" name="Rectangle 12"/>
            <p:cNvSpPr/>
            <p:nvPr/>
          </p:nvSpPr>
          <p:spPr>
            <a:xfrm>
              <a:off x="609600" y="2895600"/>
              <a:ext cx="7067550" cy="3181350"/>
            </a:xfrm>
            <a:prstGeom prst="roundRect">
              <a:avLst>
                <a:gd name="adj" fmla="val 4192"/>
              </a:avLst>
            </a:prstGeom>
            <a:solidFill>
              <a:schemeClr val="accent5"/>
            </a:solidFill>
            <a:ln w="14288">
              <a:solidFill>
                <a:schemeClr val="accent4"/>
              </a:solidFill>
            </a:ln>
          </p:spPr>
        </p:sp>
        <p:sp>
          <p:nvSpPr>
            <p:cNvPr id="13" name="TextBox 13"/>
            <p:cNvSpPr txBox="1"/>
            <p:nvPr/>
          </p:nvSpPr>
          <p:spPr>
            <a:xfrm>
              <a:off x="871347" y="3190399"/>
              <a:ext cx="268803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TWO ORIGINAL EXPLANATIONS</a:t>
              </a:r>
            </a:p>
          </p:txBody>
        </p:sp>
        <p:sp>
          <p:nvSpPr>
            <p:cNvPr id="14" name="Rectangle 14"/>
            <p:cNvSpPr/>
            <p:nvPr/>
          </p:nvSpPr>
          <p:spPr>
            <a:xfrm>
              <a:off x="876300" y="3486150"/>
              <a:ext cx="3267075" cy="2362200"/>
            </a:xfrm>
            <a:prstGeom prst="roundRect">
              <a:avLst>
                <a:gd name="adj" fmla="val 4032"/>
              </a:avLst>
            </a:prstGeom>
            <a:solidFill>
              <a:schemeClr val="lt1"/>
            </a:solidFill>
            <a:ln w="14288">
              <a:solidFill>
                <a:schemeClr val="accent4"/>
              </a:solidFill>
            </a:ln>
          </p:spPr>
        </p:sp>
        <p:sp>
          <p:nvSpPr>
            <p:cNvPr id="15" name="TextBox 15"/>
            <p:cNvSpPr txBox="1"/>
            <p:nvPr/>
          </p:nvSpPr>
          <p:spPr>
            <a:xfrm>
              <a:off x="1059180" y="3686175"/>
              <a:ext cx="115938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Clustering</a:t>
              </a:r>
            </a:p>
          </p:txBody>
        </p:sp>
        <p:sp>
          <p:nvSpPr>
            <p:cNvPr id="16" name="TextBox 16"/>
            <p:cNvSpPr txBox="1"/>
            <p:nvPr/>
          </p:nvSpPr>
          <p:spPr>
            <a:xfrm>
              <a:off x="1059180" y="3914775"/>
              <a:ext cx="125859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activations</a:t>
              </a:r>
            </a:p>
          </p:txBody>
        </p:sp>
        <p:sp>
          <p:nvSpPr>
            <p:cNvPr id="17" name="TextBox 17"/>
            <p:cNvSpPr txBox="1"/>
            <p:nvPr/>
          </p:nvSpPr>
          <p:spPr>
            <a:xfrm>
              <a:off x="1061085" y="4317206"/>
              <a:ext cx="16771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CCS is said to split the</a:t>
              </a:r>
            </a:p>
          </p:txBody>
        </p:sp>
        <p:sp>
          <p:nvSpPr>
            <p:cNvPr id="18" name="TextBox 18"/>
            <p:cNvSpPr txBox="1"/>
            <p:nvPr/>
          </p:nvSpPr>
          <p:spPr>
            <a:xfrm>
              <a:off x="1061085" y="452675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activations into two clusters</a:t>
              </a:r>
            </a:p>
          </p:txBody>
        </p:sp>
        <p:sp>
          <p:nvSpPr>
            <p:cNvPr id="19" name="TextBox 19"/>
            <p:cNvSpPr txBox="1"/>
            <p:nvPr/>
          </p:nvSpPr>
          <p:spPr>
            <a:xfrm>
              <a:off x="1061085" y="4736306"/>
              <a:ext cx="22202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a separating hyperplane.</a:t>
              </a:r>
            </a:p>
          </p:txBody>
        </p:sp>
        <p:sp>
          <p:nvSpPr>
            <p:cNvPr id="20" name="Rectangle 20"/>
            <p:cNvSpPr/>
            <p:nvPr/>
          </p:nvSpPr>
          <p:spPr>
            <a:xfrm>
              <a:off x="1066800" y="5143500"/>
              <a:ext cx="2857500" cy="495300"/>
            </a:xfrm>
            <a:prstGeom prst="roundRect">
              <a:avLst>
                <a:gd name="adj" fmla="val 15385"/>
              </a:avLst>
            </a:prstGeom>
            <a:solidFill>
              <a:srgbClr val="FEF2F2"/>
            </a:solidFill>
            <a:ln>
              <a:noFill/>
            </a:ln>
          </p:spPr>
        </p:sp>
        <p:sp>
          <p:nvSpPr>
            <p:cNvPr id="21" name="TextBox 21"/>
            <p:cNvSpPr txBox="1"/>
            <p:nvPr/>
          </p:nvSpPr>
          <p:spPr>
            <a:xfrm>
              <a:off x="1213866" y="5334952"/>
              <a:ext cx="943535" cy="205359"/>
            </a:xfrm>
            <a:prstGeom prst="rect">
              <a:avLst/>
            </a:prstGeom>
            <a:noFill/>
            <a:ln>
              <a:noFill/>
            </a:ln>
          </p:spPr>
          <p:txBody>
            <a:bodyPr wrap="none" lIns="0" tIns="0" rIns="0" bIns="0" anchor="t" anchorCtr="0">
              <a:spAutoFit/>
            </a:bodyPr>
            <a:lstStyle/>
            <a:p>
              <a:pPr algn="l"/>
              <a:r>
                <a:rPr lang="en-US" sz="1050" b="1" dirty="0">
                  <a:solidFill>
                    <a:srgbClr val="DC2626"/>
                  </a:solidFill>
                  <a:latin typeface="+mn-lt"/>
                  <a:ea typeface="+mn-ea"/>
                  <a:cs typeface="+mn-cs"/>
                </a:rPr>
                <a:t>✕ Misleading</a:t>
              </a:r>
            </a:p>
          </p:txBody>
        </p:sp>
        <p:sp>
          <p:nvSpPr>
            <p:cNvPr id="22" name="Rectangle 22"/>
            <p:cNvSpPr/>
            <p:nvPr/>
          </p:nvSpPr>
          <p:spPr>
            <a:xfrm>
              <a:off x="4410075" y="3486150"/>
              <a:ext cx="3000375" cy="2362200"/>
            </a:xfrm>
            <a:prstGeom prst="roundRect">
              <a:avLst>
                <a:gd name="adj" fmla="val 4032"/>
              </a:avLst>
            </a:prstGeom>
            <a:solidFill>
              <a:schemeClr val="lt1"/>
            </a:solidFill>
            <a:ln w="14288">
              <a:solidFill>
                <a:schemeClr val="accent4"/>
              </a:solidFill>
            </a:ln>
          </p:spPr>
        </p:sp>
        <p:sp>
          <p:nvSpPr>
            <p:cNvPr id="23" name="TextBox 23"/>
            <p:cNvSpPr txBox="1"/>
            <p:nvPr/>
          </p:nvSpPr>
          <p:spPr>
            <a:xfrm>
              <a:off x="4592955" y="3686175"/>
              <a:ext cx="165483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Learning truth</a:t>
              </a:r>
            </a:p>
          </p:txBody>
        </p:sp>
        <p:sp>
          <p:nvSpPr>
            <p:cNvPr id="24" name="TextBox 24"/>
            <p:cNvSpPr txBox="1"/>
            <p:nvPr/>
          </p:nvSpPr>
          <p:spPr>
            <a:xfrm>
              <a:off x="4592955" y="3914775"/>
              <a:ext cx="139301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probabilities</a:t>
              </a:r>
            </a:p>
          </p:txBody>
        </p:sp>
        <p:sp>
          <p:nvSpPr>
            <p:cNvPr id="25" name="TextBox 25"/>
            <p:cNvSpPr txBox="1"/>
            <p:nvPr/>
          </p:nvSpPr>
          <p:spPr>
            <a:xfrm>
              <a:off x="4594860" y="4317206"/>
              <a:ext cx="154184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CCS is said to output</a:t>
              </a:r>
            </a:p>
          </p:txBody>
        </p:sp>
        <p:sp>
          <p:nvSpPr>
            <p:cNvPr id="26" name="TextBox 26"/>
            <p:cNvSpPr txBox="1"/>
            <p:nvPr/>
          </p:nvSpPr>
          <p:spPr>
            <a:xfrm>
              <a:off x="4594860" y="4526756"/>
              <a:ext cx="19488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calibrated probabilities of</a:t>
              </a:r>
            </a:p>
          </p:txBody>
        </p:sp>
        <p:sp>
          <p:nvSpPr>
            <p:cNvPr id="27" name="TextBox 27"/>
            <p:cNvSpPr txBox="1"/>
            <p:nvPr/>
          </p:nvSpPr>
          <p:spPr>
            <a:xfrm>
              <a:off x="4594860" y="4736306"/>
              <a:ext cx="1798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statement being true.</a:t>
              </a:r>
            </a:p>
          </p:txBody>
        </p:sp>
        <p:sp>
          <p:nvSpPr>
            <p:cNvPr id="28" name="Rectangle 28"/>
            <p:cNvSpPr/>
            <p:nvPr/>
          </p:nvSpPr>
          <p:spPr>
            <a:xfrm>
              <a:off x="4600575" y="5143500"/>
              <a:ext cx="2590800" cy="495300"/>
            </a:xfrm>
            <a:prstGeom prst="roundRect">
              <a:avLst>
                <a:gd name="adj" fmla="val 15385"/>
              </a:avLst>
            </a:prstGeom>
            <a:solidFill>
              <a:srgbClr val="FEF2F2"/>
            </a:solidFill>
            <a:ln>
              <a:noFill/>
            </a:ln>
          </p:spPr>
        </p:sp>
        <p:sp>
          <p:nvSpPr>
            <p:cNvPr id="29" name="TextBox 29"/>
            <p:cNvSpPr txBox="1"/>
            <p:nvPr/>
          </p:nvSpPr>
          <p:spPr>
            <a:xfrm>
              <a:off x="4747641" y="5334952"/>
              <a:ext cx="943535" cy="205359"/>
            </a:xfrm>
            <a:prstGeom prst="rect">
              <a:avLst/>
            </a:prstGeom>
            <a:noFill/>
            <a:ln>
              <a:noFill/>
            </a:ln>
          </p:spPr>
          <p:txBody>
            <a:bodyPr wrap="none" lIns="0" tIns="0" rIns="0" bIns="0" anchor="t" anchorCtr="0">
              <a:spAutoFit/>
            </a:bodyPr>
            <a:lstStyle/>
            <a:p>
              <a:pPr algn="l"/>
              <a:r>
                <a:rPr lang="en-US" sz="1050" b="1" dirty="0">
                  <a:solidFill>
                    <a:srgbClr val="DC2626"/>
                  </a:solidFill>
                  <a:latin typeface="+mn-lt"/>
                  <a:ea typeface="+mn-ea"/>
                  <a:cs typeface="+mn-cs"/>
                </a:rPr>
                <a:t>✕ Misleading</a:t>
              </a:r>
            </a:p>
          </p:txBody>
        </p:sp>
      </p:grpSp>
      <p:grpSp>
        <p:nvGrpSpPr>
          <p:cNvPr id="42" name="Group 42"/>
          <p:cNvGrpSpPr/>
          <p:nvPr/>
        </p:nvGrpSpPr>
        <p:grpSpPr>
          <a:xfrm>
            <a:off x="7886700" y="2895600"/>
            <a:ext cx="3695700" cy="3181350"/>
            <a:chOff x="7886700" y="2895600"/>
            <a:chExt cx="3695700" cy="3181350"/>
          </a:xfrm>
        </p:grpSpPr>
        <p:sp>
          <p:nvSpPr>
            <p:cNvPr id="31" name="Rectangle 31"/>
            <p:cNvSpPr/>
            <p:nvPr/>
          </p:nvSpPr>
          <p:spPr>
            <a:xfrm>
              <a:off x="7886700" y="2895600"/>
              <a:ext cx="3695700" cy="3181350"/>
            </a:xfrm>
            <a:prstGeom prst="roundRect">
              <a:avLst>
                <a:gd name="adj" fmla="val 4192"/>
              </a:avLst>
            </a:prstGeom>
            <a:solidFill>
              <a:schemeClr val="accent1"/>
            </a:solidFill>
            <a:ln>
              <a:noFill/>
            </a:ln>
          </p:spPr>
        </p:sp>
        <p:sp>
          <p:nvSpPr>
            <p:cNvPr id="32" name="Rectangle 32"/>
            <p:cNvSpPr/>
            <p:nvPr/>
          </p:nvSpPr>
          <p:spPr>
            <a:xfrm>
              <a:off x="7886700" y="2895600"/>
              <a:ext cx="3695700" cy="57150"/>
            </a:xfrm>
            <a:prstGeom prst="roundRect">
              <a:avLst>
                <a:gd name="adj" fmla="val 50000"/>
              </a:avLst>
            </a:prstGeom>
            <a:solidFill>
              <a:schemeClr val="accent6"/>
            </a:solidFill>
            <a:ln>
              <a:noFill/>
            </a:ln>
          </p:spPr>
        </p:sp>
        <p:sp>
          <p:nvSpPr>
            <p:cNvPr id="33" name="TextBox 33"/>
            <p:cNvSpPr txBox="1"/>
            <p:nvPr/>
          </p:nvSpPr>
          <p:spPr>
            <a:xfrm>
              <a:off x="8148447" y="3247549"/>
              <a:ext cx="1678516"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THE AUTHORS' CLAIM</a:t>
              </a:r>
            </a:p>
          </p:txBody>
        </p:sp>
        <p:sp>
          <p:nvSpPr>
            <p:cNvPr id="34" name="TextBox 34"/>
            <p:cNvSpPr txBox="1"/>
            <p:nvPr/>
          </p:nvSpPr>
          <p:spPr>
            <a:xfrm>
              <a:off x="8143113" y="3572351"/>
              <a:ext cx="2062645"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Both pictures</a:t>
              </a:r>
            </a:p>
          </p:txBody>
        </p:sp>
        <p:sp>
          <p:nvSpPr>
            <p:cNvPr id="35" name="TextBox 35"/>
            <p:cNvSpPr txBox="1"/>
            <p:nvPr/>
          </p:nvSpPr>
          <p:spPr>
            <a:xfrm>
              <a:off x="8143113" y="3877151"/>
              <a:ext cx="1257507"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mislead.</a:t>
              </a:r>
            </a:p>
          </p:txBody>
        </p:sp>
        <p:sp>
          <p:nvSpPr>
            <p:cNvPr id="36" name="TextBox 36"/>
            <p:cNvSpPr txBox="1"/>
            <p:nvPr/>
          </p:nvSpPr>
          <p:spPr>
            <a:xfrm>
              <a:off x="8146923" y="4434364"/>
              <a:ext cx="1887848"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Neither clustering nor</a:t>
              </a:r>
            </a:p>
          </p:txBody>
        </p:sp>
        <p:sp>
          <p:nvSpPr>
            <p:cNvPr id="37" name="TextBox 37"/>
            <p:cNvSpPr txBox="1"/>
            <p:nvPr/>
          </p:nvSpPr>
          <p:spPr>
            <a:xfrm>
              <a:off x="8146923" y="4662964"/>
              <a:ext cx="2253031"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probabilities capture what</a:t>
              </a:r>
            </a:p>
          </p:txBody>
        </p:sp>
        <p:sp>
          <p:nvSpPr>
            <p:cNvPr id="38" name="TextBox 38"/>
            <p:cNvSpPr txBox="1"/>
            <p:nvPr/>
          </p:nvSpPr>
          <p:spPr>
            <a:xfrm>
              <a:off x="8146923" y="4891564"/>
              <a:ext cx="1744600"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CCS truly optimizes.</a:t>
              </a:r>
            </a:p>
          </p:txBody>
        </p:sp>
        <p:sp>
          <p:nvSpPr>
            <p:cNvPr id="39" name="Rectangle 39"/>
            <p:cNvSpPr/>
            <p:nvPr/>
          </p:nvSpPr>
          <p:spPr>
            <a:xfrm>
              <a:off x="8153400" y="5295900"/>
              <a:ext cx="3162300" cy="552450"/>
            </a:xfrm>
            <a:prstGeom prst="roundRect">
              <a:avLst>
                <a:gd name="adj" fmla="val 17241"/>
              </a:avLst>
            </a:prstGeom>
            <a:solidFill>
              <a:schemeClr val="accent6"/>
            </a:solidFill>
            <a:ln>
              <a:noFill/>
            </a:ln>
          </p:spPr>
        </p:sp>
        <p:sp>
          <p:nvSpPr>
            <p:cNvPr id="40" name="TextBox 40"/>
            <p:cNvSpPr txBox="1"/>
            <p:nvPr/>
          </p:nvSpPr>
          <p:spPr>
            <a:xfrm>
              <a:off x="8300847" y="5438299"/>
              <a:ext cx="393186" cy="190690"/>
            </a:xfrm>
            <a:prstGeom prst="rect">
              <a:avLst/>
            </a:prstGeom>
            <a:noFill/>
            <a:ln>
              <a:noFill/>
            </a:ln>
          </p:spPr>
          <p:txBody>
            <a:bodyPr wrap="none" lIns="0" tIns="0" rIns="0" bIns="0" anchor="t" anchorCtr="0">
              <a:spAutoFit/>
            </a:bodyPr>
            <a:lstStyle/>
            <a:p>
              <a:pPr algn="l"/>
              <a:r>
                <a:rPr lang="en-US" sz="980" b="1" spc="75" dirty="0">
                  <a:solidFill>
                    <a:srgbClr val="F3EEFE"/>
                  </a:solidFill>
                  <a:latin typeface="+mn-lt"/>
                  <a:ea typeface="+mn-ea"/>
                  <a:cs typeface="+mn-cs"/>
                </a:rPr>
                <a:t>GOAL</a:t>
              </a:r>
            </a:p>
          </p:txBody>
        </p:sp>
        <p:sp>
          <p:nvSpPr>
            <p:cNvPr id="41" name="TextBox 41"/>
            <p:cNvSpPr txBox="1"/>
            <p:nvPr/>
          </p:nvSpPr>
          <p:spPr>
            <a:xfrm>
              <a:off x="8299704" y="5604510"/>
              <a:ext cx="270654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 cleaner account of its target.</a:t>
              </a:r>
            </a:p>
          </p:txBody>
        </p:sp>
      </p:grpSp>
      <p:grpSp>
        <p:nvGrpSpPr>
          <p:cNvPr id="45" name="Group 45"/>
          <p:cNvGrpSpPr/>
          <p:nvPr/>
        </p:nvGrpSpPr>
        <p:grpSpPr>
          <a:xfrm>
            <a:off x="604838" y="6521291"/>
            <a:ext cx="10982324" cy="161925"/>
            <a:chOff x="604838" y="6521291"/>
            <a:chExt cx="10982324" cy="161925"/>
          </a:xfrm>
        </p:grpSpPr>
        <p:sp>
          <p:nvSpPr>
            <p:cNvPr id="43" name="TextBox 43"/>
            <p:cNvSpPr txBox="1"/>
            <p:nvPr/>
          </p:nvSpPr>
          <p:spPr>
            <a:xfrm>
              <a:off x="604838" y="6521291"/>
              <a:ext cx="2008567"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§1 Introduction &amp; Motivation</a:t>
              </a:r>
            </a:p>
          </p:txBody>
        </p:sp>
        <p:sp>
          <p:nvSpPr>
            <p:cNvPr id="44" name="TextBox 44"/>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3979755" cy="656939"/>
            <a:chOff x="571500" y="533400"/>
            <a:chExt cx="3979755"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376410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Three contributions</a:t>
              </a:r>
            </a:p>
          </p:txBody>
        </p:sp>
        <p:sp>
          <p:nvSpPr>
            <p:cNvPr id="4" name="TextBox 4"/>
            <p:cNvSpPr txBox="1"/>
            <p:nvPr/>
          </p:nvSpPr>
          <p:spPr>
            <a:xfrm>
              <a:off x="795147" y="999649"/>
              <a:ext cx="113651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a:t>
              </a:r>
            </a:p>
          </p:txBody>
        </p:sp>
      </p:grpSp>
      <p:grpSp>
        <p:nvGrpSpPr>
          <p:cNvPr id="10" name="Group 10"/>
          <p:cNvGrpSpPr/>
          <p:nvPr/>
        </p:nvGrpSpPr>
        <p:grpSpPr>
          <a:xfrm>
            <a:off x="609600" y="1524000"/>
            <a:ext cx="10972800" cy="762000"/>
            <a:chOff x="609600" y="1524000"/>
            <a:chExt cx="10972800" cy="762000"/>
          </a:xfrm>
        </p:grpSpPr>
        <p:sp>
          <p:nvSpPr>
            <p:cNvPr id="6" name="Rectangle 6"/>
            <p:cNvSpPr/>
            <p:nvPr/>
          </p:nvSpPr>
          <p:spPr>
            <a:xfrm>
              <a:off x="609600" y="1524000"/>
              <a:ext cx="10972800" cy="762000"/>
            </a:xfrm>
            <a:prstGeom prst="roundRect">
              <a:avLst>
                <a:gd name="adj" fmla="val 17500"/>
              </a:avLst>
            </a:prstGeom>
            <a:solidFill>
              <a:srgbClr val="EEF2FF"/>
            </a:solidFill>
            <a:ln>
              <a:noFill/>
            </a:ln>
          </p:spPr>
        </p:sp>
        <p:sp>
          <p:nvSpPr>
            <p:cNvPr id="7" name="Rectangle 7"/>
            <p:cNvSpPr/>
            <p:nvPr/>
          </p:nvSpPr>
          <p:spPr>
            <a:xfrm>
              <a:off x="609600" y="1524000"/>
              <a:ext cx="57150" cy="762000"/>
            </a:xfrm>
            <a:prstGeom prst="roundRect">
              <a:avLst>
                <a:gd name="adj" fmla="val 50000"/>
              </a:avLst>
            </a:prstGeom>
            <a:solidFill>
              <a:schemeClr val="accent2"/>
            </a:solidFill>
            <a:ln>
              <a:noFill/>
            </a:ln>
          </p:spPr>
        </p:sp>
        <p:sp>
          <p:nvSpPr>
            <p:cNvPr id="8" name="TextBox 8"/>
            <p:cNvSpPr txBox="1"/>
            <p:nvPr/>
          </p:nvSpPr>
          <p:spPr>
            <a:xfrm>
              <a:off x="906780" y="1704975"/>
              <a:ext cx="873243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The paper makes </a:t>
              </a:r>
              <a:r>
                <a:rPr lang="en-US" sz="1500" b="1" dirty="0">
                  <a:solidFill>
                    <a:schemeClr val="dk1"/>
                  </a:solidFill>
                  <a:latin typeface="+mn-lt"/>
                  <a:ea typeface="+mn-ea"/>
                  <a:cs typeface="+mn-cs"/>
                </a:rPr>
                <a:t>three contributions</a:t>
              </a:r>
              <a:r>
                <a:rPr lang="en-US" sz="1500" dirty="0">
                  <a:solidFill>
                    <a:schemeClr val="dk1"/>
                  </a:solidFill>
                  <a:latin typeface="+mn-lt"/>
                  <a:ea typeface="+mn-ea"/>
                  <a:cs typeface="+mn-cs"/>
                </a:rPr>
                <a:t xml:space="preserve"> — clearing up misconceptions, deriving a new loss,</a:t>
              </a:r>
            </a:p>
          </p:txBody>
        </p:sp>
        <p:sp>
          <p:nvSpPr>
            <p:cNvPr id="9" name="TextBox 9"/>
            <p:cNvSpPr txBox="1"/>
            <p:nvPr/>
          </p:nvSpPr>
          <p:spPr>
            <a:xfrm>
              <a:off x="906780" y="1971675"/>
              <a:ext cx="51038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grounding both in a broad empirical comparison.</a:t>
              </a:r>
            </a:p>
          </p:txBody>
        </p:sp>
      </p:grpSp>
      <p:grpSp>
        <p:nvGrpSpPr>
          <p:cNvPr id="27" name="Group 27"/>
          <p:cNvGrpSpPr/>
          <p:nvPr/>
        </p:nvGrpSpPr>
        <p:grpSpPr>
          <a:xfrm>
            <a:off x="609600" y="2533650"/>
            <a:ext cx="3552825" cy="3543300"/>
            <a:chOff x="609600" y="2533650"/>
            <a:chExt cx="3552825" cy="3543300"/>
          </a:xfrm>
        </p:grpSpPr>
        <p:sp>
          <p:nvSpPr>
            <p:cNvPr id="11" name="Rectangle 11"/>
            <p:cNvSpPr/>
            <p:nvPr/>
          </p:nvSpPr>
          <p:spPr>
            <a:xfrm>
              <a:off x="609600" y="2533650"/>
              <a:ext cx="3552825" cy="3543300"/>
            </a:xfrm>
            <a:prstGeom prst="roundRect">
              <a:avLst>
                <a:gd name="adj" fmla="val 3763"/>
              </a:avLst>
            </a:prstGeom>
            <a:solidFill>
              <a:schemeClr val="accent5"/>
            </a:solidFill>
            <a:ln w="14288">
              <a:solidFill>
                <a:schemeClr val="accent4"/>
              </a:solidFill>
            </a:ln>
          </p:spPr>
        </p:sp>
        <p:sp>
          <p:nvSpPr>
            <p:cNvPr id="12" name="Rectangle 12"/>
            <p:cNvSpPr/>
            <p:nvPr/>
          </p:nvSpPr>
          <p:spPr>
            <a:xfrm>
              <a:off x="609600" y="2533650"/>
              <a:ext cx="3552825" cy="57150"/>
            </a:xfrm>
            <a:prstGeom prst="roundRect">
              <a:avLst>
                <a:gd name="adj" fmla="val 50000"/>
              </a:avLst>
            </a:prstGeom>
            <a:solidFill>
              <a:schemeClr val="accent2"/>
            </a:solidFill>
            <a:ln>
              <a:noFill/>
            </a:ln>
          </p:spPr>
        </p:sp>
        <p:sp>
          <p:nvSpPr>
            <p:cNvPr id="13" name="Ellipse 13"/>
            <p:cNvSpPr/>
            <p:nvPr/>
          </p:nvSpPr>
          <p:spPr>
            <a:xfrm>
              <a:off x="781050" y="2838450"/>
              <a:ext cx="342900" cy="342900"/>
            </a:xfrm>
            <a:prstGeom prst="ellipse">
              <a:avLst/>
            </a:prstGeom>
            <a:solidFill>
              <a:schemeClr val="accent2"/>
            </a:solidFill>
            <a:ln>
              <a:noFill/>
            </a:ln>
          </p:spPr>
        </p:sp>
        <p:sp>
          <p:nvSpPr>
            <p:cNvPr id="14" name="TextBox 14"/>
            <p:cNvSpPr txBox="1"/>
            <p:nvPr/>
          </p:nvSpPr>
          <p:spPr>
            <a:xfrm>
              <a:off x="883272"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1</a:t>
              </a:r>
            </a:p>
          </p:txBody>
        </p:sp>
        <p:sp>
          <p:nvSpPr>
            <p:cNvPr id="15" name="TextBox 15"/>
            <p:cNvSpPr txBox="1"/>
            <p:nvPr/>
          </p:nvSpPr>
          <p:spPr>
            <a:xfrm>
              <a:off x="1252538" y="2874645"/>
              <a:ext cx="557433"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CLARIFY</a:t>
              </a:r>
            </a:p>
          </p:txBody>
        </p:sp>
        <p:sp>
          <p:nvSpPr>
            <p:cNvPr id="16" name="TextBox 16"/>
            <p:cNvSpPr txBox="1"/>
            <p:nvPr/>
          </p:nvSpPr>
          <p:spPr>
            <a:xfrm>
              <a:off x="1249680" y="3000375"/>
              <a:ext cx="218167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Two misconceptions</a:t>
              </a:r>
            </a:p>
          </p:txBody>
        </p:sp>
        <p:sp>
          <p:nvSpPr>
            <p:cNvPr id="17" name="Rectangle 17"/>
            <p:cNvSpPr/>
            <p:nvPr/>
          </p:nvSpPr>
          <p:spPr>
            <a:xfrm>
              <a:off x="838200" y="3409950"/>
              <a:ext cx="3095625" cy="1162050"/>
            </a:xfrm>
            <a:prstGeom prst="roundRect">
              <a:avLst>
                <a:gd name="adj" fmla="val 8197"/>
              </a:avLst>
            </a:prstGeom>
            <a:solidFill>
              <a:schemeClr val="lt1"/>
            </a:solidFill>
            <a:ln w="14288">
              <a:solidFill>
                <a:schemeClr val="accent4"/>
              </a:solidFill>
            </a:ln>
          </p:spPr>
        </p:sp>
        <p:sp>
          <p:nvSpPr>
            <p:cNvPr id="18" name="TextBox 18"/>
            <p:cNvSpPr txBox="1"/>
            <p:nvPr/>
          </p:nvSpPr>
          <p:spPr>
            <a:xfrm>
              <a:off x="1003935" y="3555206"/>
              <a:ext cx="203468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Classifies by displacement</a:t>
              </a:r>
            </a:p>
          </p:txBody>
        </p:sp>
        <p:sp>
          <p:nvSpPr>
            <p:cNvPr id="19" name="TextBox 19"/>
            <p:cNvSpPr txBox="1"/>
            <p:nvPr/>
          </p:nvSpPr>
          <p:spPr>
            <a:xfrm>
              <a:off x="1004316" y="3791902"/>
              <a:ext cx="20017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Uses only the statement-vs-</a:t>
              </a:r>
            </a:p>
          </p:txBody>
        </p:sp>
        <p:sp>
          <p:nvSpPr>
            <p:cNvPr id="20" name="TextBox 20"/>
            <p:cNvSpPr txBox="1"/>
            <p:nvPr/>
          </p:nvSpPr>
          <p:spPr>
            <a:xfrm>
              <a:off x="1004316" y="3982402"/>
              <a:ext cx="18482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negation displacement — no</a:t>
              </a:r>
            </a:p>
          </p:txBody>
        </p:sp>
        <p:sp>
          <p:nvSpPr>
            <p:cNvPr id="21" name="TextBox 21"/>
            <p:cNvSpPr txBox="1"/>
            <p:nvPr/>
          </p:nvSpPr>
          <p:spPr>
            <a:xfrm>
              <a:off x="1004316" y="4172902"/>
              <a:ext cx="21238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separating hyperplane needed.</a:t>
              </a:r>
            </a:p>
          </p:txBody>
        </p:sp>
        <p:sp>
          <p:nvSpPr>
            <p:cNvPr id="22" name="Rectangle 22"/>
            <p:cNvSpPr/>
            <p:nvPr/>
          </p:nvSpPr>
          <p:spPr>
            <a:xfrm>
              <a:off x="838200" y="4705350"/>
              <a:ext cx="3095625" cy="1162050"/>
            </a:xfrm>
            <a:prstGeom prst="roundRect">
              <a:avLst>
                <a:gd name="adj" fmla="val 8197"/>
              </a:avLst>
            </a:prstGeom>
            <a:solidFill>
              <a:schemeClr val="lt1"/>
            </a:solidFill>
            <a:ln w="14288">
              <a:solidFill>
                <a:schemeClr val="accent4"/>
              </a:solidFill>
            </a:ln>
          </p:spPr>
        </p:sp>
        <p:sp>
          <p:nvSpPr>
            <p:cNvPr id="23" name="TextBox 23"/>
            <p:cNvSpPr txBox="1"/>
            <p:nvPr/>
          </p:nvSpPr>
          <p:spPr>
            <a:xfrm>
              <a:off x="1003935" y="4850606"/>
              <a:ext cx="209336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Probabilities near ½ are OK</a:t>
              </a:r>
            </a:p>
          </p:txBody>
        </p:sp>
        <p:sp>
          <p:nvSpPr>
            <p:cNvPr id="24" name="TextBox 24"/>
            <p:cNvSpPr txBox="1"/>
            <p:nvPr/>
          </p:nvSpPr>
          <p:spPr>
            <a:xfrm>
              <a:off x="1004316" y="5087302"/>
              <a:ext cx="20961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CCS can succeed even when its</a:t>
              </a:r>
            </a:p>
          </p:txBody>
        </p:sp>
        <p:sp>
          <p:nvSpPr>
            <p:cNvPr id="25" name="TextBox 25"/>
            <p:cNvSpPr txBox="1"/>
            <p:nvPr/>
          </p:nvSpPr>
          <p:spPr>
            <a:xfrm>
              <a:off x="1004316" y="5277802"/>
              <a:ext cx="1827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probability outputs pile up</a:t>
              </a:r>
            </a:p>
          </p:txBody>
        </p:sp>
        <p:sp>
          <p:nvSpPr>
            <p:cNvPr id="26" name="TextBox 26"/>
            <p:cNvSpPr txBox="1"/>
            <p:nvPr/>
          </p:nvSpPr>
          <p:spPr>
            <a:xfrm>
              <a:off x="1004316" y="5468302"/>
              <a:ext cx="11485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around one half.</a:t>
              </a:r>
            </a:p>
          </p:txBody>
        </p:sp>
      </p:grpSp>
      <p:grpSp>
        <p:nvGrpSpPr>
          <p:cNvPr id="42" name="Group 42"/>
          <p:cNvGrpSpPr/>
          <p:nvPr/>
        </p:nvGrpSpPr>
        <p:grpSpPr>
          <a:xfrm>
            <a:off x="4314825" y="2533650"/>
            <a:ext cx="3552825" cy="3543300"/>
            <a:chOff x="4314825" y="2533650"/>
            <a:chExt cx="3552825" cy="3543300"/>
          </a:xfrm>
        </p:grpSpPr>
        <p:sp>
          <p:nvSpPr>
            <p:cNvPr id="28" name="Rectangle 28"/>
            <p:cNvSpPr/>
            <p:nvPr/>
          </p:nvSpPr>
          <p:spPr>
            <a:xfrm>
              <a:off x="4314825" y="2533650"/>
              <a:ext cx="3552825" cy="3543300"/>
            </a:xfrm>
            <a:prstGeom prst="roundRect">
              <a:avLst>
                <a:gd name="adj" fmla="val 3763"/>
              </a:avLst>
            </a:prstGeom>
            <a:solidFill>
              <a:srgbClr val="F3EEFE"/>
            </a:solidFill>
            <a:ln w="14288">
              <a:solidFill>
                <a:schemeClr val="accent6"/>
              </a:solidFill>
            </a:ln>
          </p:spPr>
        </p:sp>
        <p:sp>
          <p:nvSpPr>
            <p:cNvPr id="29" name="Rectangle 29"/>
            <p:cNvSpPr/>
            <p:nvPr/>
          </p:nvSpPr>
          <p:spPr>
            <a:xfrm>
              <a:off x="4314825" y="2533650"/>
              <a:ext cx="3552825" cy="57150"/>
            </a:xfrm>
            <a:prstGeom prst="roundRect">
              <a:avLst>
                <a:gd name="adj" fmla="val 50000"/>
              </a:avLst>
            </a:prstGeom>
            <a:solidFill>
              <a:schemeClr val="accent6"/>
            </a:solidFill>
            <a:ln>
              <a:noFill/>
            </a:ln>
          </p:spPr>
        </p:sp>
        <p:sp>
          <p:nvSpPr>
            <p:cNvPr id="30" name="Ellipse 30"/>
            <p:cNvSpPr/>
            <p:nvPr/>
          </p:nvSpPr>
          <p:spPr>
            <a:xfrm>
              <a:off x="4486275" y="2838450"/>
              <a:ext cx="342900" cy="342900"/>
            </a:xfrm>
            <a:prstGeom prst="ellipse">
              <a:avLst/>
            </a:prstGeom>
            <a:solidFill>
              <a:schemeClr val="accent6"/>
            </a:solidFill>
            <a:ln>
              <a:noFill/>
            </a:ln>
          </p:spPr>
        </p:sp>
        <p:sp>
          <p:nvSpPr>
            <p:cNvPr id="31" name="TextBox 31"/>
            <p:cNvSpPr txBox="1"/>
            <p:nvPr/>
          </p:nvSpPr>
          <p:spPr>
            <a:xfrm>
              <a:off x="4588497"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2</a:t>
              </a:r>
            </a:p>
          </p:txBody>
        </p:sp>
        <p:sp>
          <p:nvSpPr>
            <p:cNvPr id="32" name="TextBox 32"/>
            <p:cNvSpPr txBox="1"/>
            <p:nvPr/>
          </p:nvSpPr>
          <p:spPr>
            <a:xfrm>
              <a:off x="4957762" y="2874645"/>
              <a:ext cx="472836" cy="176212"/>
            </a:xfrm>
            <a:prstGeom prst="rect">
              <a:avLst/>
            </a:prstGeom>
            <a:noFill/>
            <a:ln>
              <a:noFill/>
            </a:ln>
          </p:spPr>
          <p:txBody>
            <a:bodyPr wrap="none" lIns="0" tIns="0" rIns="0" bIns="0" anchor="t" anchorCtr="0">
              <a:spAutoFit/>
            </a:bodyPr>
            <a:lstStyle/>
            <a:p>
              <a:pPr algn="l"/>
              <a:r>
                <a:rPr lang="en-US" sz="900" b="1" spc="75" dirty="0">
                  <a:solidFill>
                    <a:schemeClr val="accent6"/>
                  </a:solidFill>
                  <a:latin typeface="+mn-lt"/>
                  <a:ea typeface="+mn-ea"/>
                  <a:cs typeface="+mn-cs"/>
                </a:rPr>
                <a:t>DERIVE</a:t>
              </a:r>
            </a:p>
          </p:txBody>
        </p:sp>
        <p:sp>
          <p:nvSpPr>
            <p:cNvPr id="33" name="TextBox 33"/>
            <p:cNvSpPr txBox="1"/>
            <p:nvPr/>
          </p:nvSpPr>
          <p:spPr>
            <a:xfrm>
              <a:off x="4954905" y="3000375"/>
              <a:ext cx="115388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A new loss</a:t>
              </a:r>
            </a:p>
          </p:txBody>
        </p:sp>
        <p:sp>
          <p:nvSpPr>
            <p:cNvPr id="34" name="TextBox 34"/>
            <p:cNvSpPr txBox="1"/>
            <p:nvPr/>
          </p:nvSpPr>
          <p:spPr>
            <a:xfrm>
              <a:off x="4575429" y="3604260"/>
              <a:ext cx="220650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From a heuristic account of</a:t>
              </a:r>
            </a:p>
          </p:txBody>
        </p:sp>
        <p:sp>
          <p:nvSpPr>
            <p:cNvPr id="35" name="TextBox 35"/>
            <p:cNvSpPr txBox="1"/>
            <p:nvPr/>
          </p:nvSpPr>
          <p:spPr>
            <a:xfrm>
              <a:off x="4575429" y="3813810"/>
              <a:ext cx="260564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what CCS optimizes, the authors</a:t>
              </a:r>
            </a:p>
          </p:txBody>
        </p:sp>
        <p:sp>
          <p:nvSpPr>
            <p:cNvPr id="36" name="TextBox 36"/>
            <p:cNvSpPr txBox="1"/>
            <p:nvPr/>
          </p:nvSpPr>
          <p:spPr>
            <a:xfrm>
              <a:off x="4575429" y="4023360"/>
              <a:ext cx="234650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derive a single new objective:</a:t>
              </a:r>
            </a:p>
          </p:txBody>
        </p:sp>
        <p:sp>
          <p:nvSpPr>
            <p:cNvPr id="37" name="Rectangle 37"/>
            <p:cNvSpPr/>
            <p:nvPr/>
          </p:nvSpPr>
          <p:spPr>
            <a:xfrm>
              <a:off x="4581525" y="4438650"/>
              <a:ext cx="3019425" cy="819150"/>
            </a:xfrm>
            <a:prstGeom prst="roundRect">
              <a:avLst>
                <a:gd name="adj" fmla="val 11628"/>
              </a:avLst>
            </a:prstGeom>
            <a:solidFill>
              <a:schemeClr val="lt1"/>
            </a:solidFill>
            <a:ln w="14288">
              <a:solidFill>
                <a:schemeClr val="accent6"/>
              </a:solidFill>
            </a:ln>
          </p:spPr>
        </p:sp>
        <p:sp>
          <p:nvSpPr>
            <p:cNvPr id="38" name="TextBox 38"/>
            <p:cNvSpPr txBox="1"/>
            <p:nvPr/>
          </p:nvSpPr>
          <p:spPr>
            <a:xfrm>
              <a:off x="5489794" y="4584382"/>
              <a:ext cx="1193361"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Midpoint-</a:t>
              </a:r>
            </a:p>
          </p:txBody>
        </p:sp>
        <p:sp>
          <p:nvSpPr>
            <p:cNvPr id="39" name="TextBox 39"/>
            <p:cNvSpPr txBox="1"/>
            <p:nvPr/>
          </p:nvSpPr>
          <p:spPr>
            <a:xfrm>
              <a:off x="5287974" y="4870132"/>
              <a:ext cx="1597002"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Displacement</a:t>
              </a:r>
            </a:p>
          </p:txBody>
        </p:sp>
        <p:sp>
          <p:nvSpPr>
            <p:cNvPr id="40" name="TextBox 40"/>
            <p:cNvSpPr txBox="1"/>
            <p:nvPr/>
          </p:nvSpPr>
          <p:spPr>
            <a:xfrm>
              <a:off x="4575810" y="5460206"/>
              <a:ext cx="19989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single knob λ controls its</a:t>
              </a:r>
            </a:p>
          </p:txBody>
        </p:sp>
        <p:sp>
          <p:nvSpPr>
            <p:cNvPr id="41" name="TextBox 41"/>
            <p:cNvSpPr txBox="1"/>
            <p:nvPr/>
          </p:nvSpPr>
          <p:spPr>
            <a:xfrm>
              <a:off x="4575810" y="5669756"/>
              <a:ext cx="8029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behaviour.</a:t>
              </a:r>
            </a:p>
          </p:txBody>
        </p:sp>
      </p:grpSp>
      <p:grpSp>
        <p:nvGrpSpPr>
          <p:cNvPr id="57" name="Group 57"/>
          <p:cNvGrpSpPr/>
          <p:nvPr/>
        </p:nvGrpSpPr>
        <p:grpSpPr>
          <a:xfrm>
            <a:off x="8020050" y="2533650"/>
            <a:ext cx="3562350" cy="3543300"/>
            <a:chOff x="8020050" y="2533650"/>
            <a:chExt cx="3562350" cy="3543300"/>
          </a:xfrm>
        </p:grpSpPr>
        <p:sp>
          <p:nvSpPr>
            <p:cNvPr id="43" name="Rectangle 43"/>
            <p:cNvSpPr/>
            <p:nvPr/>
          </p:nvSpPr>
          <p:spPr>
            <a:xfrm>
              <a:off x="8020050" y="2533650"/>
              <a:ext cx="3562350" cy="3543300"/>
            </a:xfrm>
            <a:prstGeom prst="roundRect">
              <a:avLst>
                <a:gd name="adj" fmla="val 3763"/>
              </a:avLst>
            </a:prstGeom>
            <a:solidFill>
              <a:schemeClr val="accent5"/>
            </a:solidFill>
            <a:ln w="14288">
              <a:solidFill>
                <a:schemeClr val="accent4"/>
              </a:solidFill>
            </a:ln>
          </p:spPr>
        </p:sp>
        <p:sp>
          <p:nvSpPr>
            <p:cNvPr id="44" name="Rectangle 44"/>
            <p:cNvSpPr/>
            <p:nvPr/>
          </p:nvSpPr>
          <p:spPr>
            <a:xfrm>
              <a:off x="8020050" y="2533650"/>
              <a:ext cx="3562350" cy="57150"/>
            </a:xfrm>
            <a:prstGeom prst="roundRect">
              <a:avLst>
                <a:gd name="adj" fmla="val 50000"/>
              </a:avLst>
            </a:prstGeom>
            <a:solidFill>
              <a:srgbClr val="059669"/>
            </a:solidFill>
            <a:ln>
              <a:noFill/>
            </a:ln>
          </p:spPr>
        </p:sp>
        <p:sp>
          <p:nvSpPr>
            <p:cNvPr id="45" name="Ellipse 45"/>
            <p:cNvSpPr/>
            <p:nvPr/>
          </p:nvSpPr>
          <p:spPr>
            <a:xfrm>
              <a:off x="8191500" y="2838450"/>
              <a:ext cx="342900" cy="342900"/>
            </a:xfrm>
            <a:prstGeom prst="ellipse">
              <a:avLst/>
            </a:prstGeom>
            <a:solidFill>
              <a:srgbClr val="059669"/>
            </a:solidFill>
            <a:ln>
              <a:noFill/>
            </a:ln>
          </p:spPr>
        </p:sp>
        <p:sp>
          <p:nvSpPr>
            <p:cNvPr id="46" name="TextBox 46"/>
            <p:cNvSpPr txBox="1"/>
            <p:nvPr/>
          </p:nvSpPr>
          <p:spPr>
            <a:xfrm>
              <a:off x="8293722"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3</a:t>
              </a:r>
            </a:p>
          </p:txBody>
        </p:sp>
        <p:sp>
          <p:nvSpPr>
            <p:cNvPr id="47" name="TextBox 47"/>
            <p:cNvSpPr txBox="1"/>
            <p:nvPr/>
          </p:nvSpPr>
          <p:spPr>
            <a:xfrm>
              <a:off x="8662988" y="2874645"/>
              <a:ext cx="644804" cy="176212"/>
            </a:xfrm>
            <a:prstGeom prst="rect">
              <a:avLst/>
            </a:prstGeom>
            <a:noFill/>
            <a:ln>
              <a:noFill/>
            </a:ln>
          </p:spPr>
          <p:txBody>
            <a:bodyPr wrap="none" lIns="0" tIns="0" rIns="0" bIns="0" anchor="t" anchorCtr="0">
              <a:spAutoFit/>
            </a:bodyPr>
            <a:lstStyle/>
            <a:p>
              <a:pPr algn="l"/>
              <a:r>
                <a:rPr lang="en-US" sz="900" b="1" spc="75" dirty="0">
                  <a:solidFill>
                    <a:srgbClr val="059669"/>
                  </a:solidFill>
                  <a:latin typeface="+mn-lt"/>
                  <a:ea typeface="+mn-ea"/>
                  <a:cs typeface="+mn-cs"/>
                </a:rPr>
                <a:t>COMPARE</a:t>
              </a:r>
            </a:p>
          </p:txBody>
        </p:sp>
        <p:sp>
          <p:nvSpPr>
            <p:cNvPr id="48" name="TextBox 48"/>
            <p:cNvSpPr txBox="1"/>
            <p:nvPr/>
          </p:nvSpPr>
          <p:spPr>
            <a:xfrm>
              <a:off x="8660130" y="3000375"/>
              <a:ext cx="184442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Broad evaluation</a:t>
              </a:r>
            </a:p>
          </p:txBody>
        </p:sp>
        <p:sp>
          <p:nvSpPr>
            <p:cNvPr id="49" name="TextBox 49"/>
            <p:cNvSpPr txBox="1"/>
            <p:nvPr/>
          </p:nvSpPr>
          <p:spPr>
            <a:xfrm>
              <a:off x="8280654" y="3604260"/>
              <a:ext cx="231962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Many losses compared across</a:t>
              </a:r>
            </a:p>
          </p:txBody>
        </p:sp>
        <p:sp>
          <p:nvSpPr>
            <p:cNvPr id="50" name="TextBox 50"/>
            <p:cNvSpPr txBox="1"/>
            <p:nvPr/>
          </p:nvSpPr>
          <p:spPr>
            <a:xfrm>
              <a:off x="8280654" y="3813810"/>
              <a:ext cx="265109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models and datasets. The result:</a:t>
              </a:r>
            </a:p>
          </p:txBody>
        </p:sp>
        <p:sp>
          <p:nvSpPr>
            <p:cNvPr id="51" name="Rectangle 51"/>
            <p:cNvSpPr/>
            <p:nvPr/>
          </p:nvSpPr>
          <p:spPr>
            <a:xfrm>
              <a:off x="8286750" y="4210050"/>
              <a:ext cx="3028950" cy="762000"/>
            </a:xfrm>
            <a:prstGeom prst="roundRect">
              <a:avLst>
                <a:gd name="adj" fmla="val 12500"/>
              </a:avLst>
            </a:prstGeom>
            <a:solidFill>
              <a:schemeClr val="lt1"/>
            </a:solidFill>
            <a:ln w="14288">
              <a:solidFill>
                <a:schemeClr val="accent4"/>
              </a:solidFill>
            </a:ln>
          </p:spPr>
        </p:sp>
        <p:sp>
          <p:nvSpPr>
            <p:cNvPr id="52" name="TextBox 52"/>
            <p:cNvSpPr txBox="1"/>
            <p:nvPr/>
          </p:nvSpPr>
          <p:spPr>
            <a:xfrm>
              <a:off x="8452104" y="4385310"/>
              <a:ext cx="2242231"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 A faithful proxy for CCS</a:t>
              </a:r>
            </a:p>
          </p:txBody>
        </p:sp>
        <p:sp>
          <p:nvSpPr>
            <p:cNvPr id="53" name="TextBox 53"/>
            <p:cNvSpPr txBox="1"/>
            <p:nvPr/>
          </p:nvSpPr>
          <p:spPr>
            <a:xfrm>
              <a:off x="8452866" y="4687252"/>
              <a:ext cx="24593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MD tracks CCS's learned direction.</a:t>
              </a:r>
            </a:p>
          </p:txBody>
        </p:sp>
        <p:sp>
          <p:nvSpPr>
            <p:cNvPr id="54" name="Rectangle 54"/>
            <p:cNvSpPr/>
            <p:nvPr/>
          </p:nvSpPr>
          <p:spPr>
            <a:xfrm>
              <a:off x="8286750" y="5086350"/>
              <a:ext cx="3028950" cy="762000"/>
            </a:xfrm>
            <a:prstGeom prst="roundRect">
              <a:avLst>
                <a:gd name="adj" fmla="val 12500"/>
              </a:avLst>
            </a:prstGeom>
            <a:solidFill>
              <a:srgbClr val="ECFDF5"/>
            </a:solidFill>
            <a:ln w="14288">
              <a:solidFill>
                <a:srgbClr val="059669"/>
              </a:solidFill>
            </a:ln>
          </p:spPr>
        </p:sp>
        <p:sp>
          <p:nvSpPr>
            <p:cNvPr id="55" name="TextBox 55"/>
            <p:cNvSpPr txBox="1"/>
            <p:nvPr/>
          </p:nvSpPr>
          <p:spPr>
            <a:xfrm>
              <a:off x="8452104" y="5261610"/>
              <a:ext cx="1469294"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 And can beat it</a:t>
              </a:r>
            </a:p>
          </p:txBody>
        </p:sp>
        <p:sp>
          <p:nvSpPr>
            <p:cNvPr id="56" name="TextBox 56"/>
            <p:cNvSpPr txBox="1"/>
            <p:nvPr/>
          </p:nvSpPr>
          <p:spPr>
            <a:xfrm>
              <a:off x="8452866" y="5563552"/>
              <a:ext cx="24850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Retuned, MD gives higher accuracy.</a:t>
              </a:r>
            </a:p>
          </p:txBody>
        </p:sp>
      </p:grpSp>
      <p:grpSp>
        <p:nvGrpSpPr>
          <p:cNvPr id="60" name="Group 60"/>
          <p:cNvGrpSpPr/>
          <p:nvPr/>
        </p:nvGrpSpPr>
        <p:grpSpPr>
          <a:xfrm>
            <a:off x="604838" y="6521291"/>
            <a:ext cx="10982324" cy="161925"/>
            <a:chOff x="604838" y="6521291"/>
            <a:chExt cx="10982324" cy="161925"/>
          </a:xfrm>
        </p:grpSpPr>
        <p:sp>
          <p:nvSpPr>
            <p:cNvPr id="58" name="TextBox 58"/>
            <p:cNvSpPr txBox="1"/>
            <p:nvPr/>
          </p:nvSpPr>
          <p:spPr>
            <a:xfrm>
              <a:off x="604838" y="6521291"/>
              <a:ext cx="1364288"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§1 Contributions</a:t>
              </a:r>
            </a:p>
          </p:txBody>
        </p:sp>
        <p:sp>
          <p:nvSpPr>
            <p:cNvPr id="59" name="TextBox 5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776940" cy="656939"/>
            <a:chOff x="571500" y="533400"/>
            <a:chExt cx="777694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56129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Two statistics, one trade-off, one loss</a:t>
              </a:r>
            </a:p>
          </p:txBody>
        </p:sp>
        <p:sp>
          <p:nvSpPr>
            <p:cNvPr id="4" name="TextBox 4"/>
            <p:cNvSpPr txBox="1"/>
            <p:nvPr/>
          </p:nvSpPr>
          <p:spPr>
            <a:xfrm>
              <a:off x="795147" y="999649"/>
              <a:ext cx="285033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MIDPOINT-DISPLACEMENT</a:t>
              </a:r>
            </a:p>
          </p:txBody>
        </p:sp>
      </p:grpSp>
      <p:grpSp>
        <p:nvGrpSpPr>
          <p:cNvPr id="14" name="Group 14"/>
          <p:cNvGrpSpPr/>
          <p:nvPr/>
        </p:nvGrpSpPr>
        <p:grpSpPr>
          <a:xfrm>
            <a:off x="609600" y="1485900"/>
            <a:ext cx="10972800" cy="1619250"/>
            <a:chOff x="609600" y="1485900"/>
            <a:chExt cx="10972800" cy="1619250"/>
          </a:xfrm>
        </p:grpSpPr>
        <p:sp>
          <p:nvSpPr>
            <p:cNvPr id="6" name="Rectangle 6"/>
            <p:cNvSpPr/>
            <p:nvPr/>
          </p:nvSpPr>
          <p:spPr>
            <a:xfrm>
              <a:off x="609600" y="1485900"/>
              <a:ext cx="10972800" cy="1619250"/>
            </a:xfrm>
            <a:prstGeom prst="roundRect">
              <a:avLst>
                <a:gd name="adj" fmla="val 8235"/>
              </a:avLst>
            </a:prstGeom>
            <a:solidFill>
              <a:schemeClr val="accent5"/>
            </a:solidFill>
            <a:ln w="14288">
              <a:solidFill>
                <a:schemeClr val="accent4"/>
              </a:solidFill>
            </a:ln>
          </p:spPr>
        </p:sp>
        <p:sp>
          <p:nvSpPr>
            <p:cNvPr id="7" name="Rectangle 7"/>
            <p:cNvSpPr/>
            <p:nvPr/>
          </p:nvSpPr>
          <p:spPr>
            <a:xfrm>
              <a:off x="609600" y="1485900"/>
              <a:ext cx="57150" cy="1619250"/>
            </a:xfrm>
            <a:prstGeom prst="roundRect">
              <a:avLst>
                <a:gd name="adj" fmla="val 50000"/>
              </a:avLst>
            </a:prstGeom>
            <a:solidFill>
              <a:schemeClr val="accent2"/>
            </a:solidFill>
            <a:ln>
              <a:noFill/>
            </a:ln>
          </p:spPr>
        </p:sp>
        <p:sp>
          <p:nvSpPr>
            <p:cNvPr id="8" name="TextBox 8"/>
            <p:cNvSpPr txBox="1"/>
            <p:nvPr/>
          </p:nvSpPr>
          <p:spPr>
            <a:xfrm>
              <a:off x="909447" y="1685449"/>
              <a:ext cx="381887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TWO STATISTICS ALONG THE PROBE DIRECTION θ̂</a:t>
              </a:r>
            </a:p>
          </p:txBody>
        </p:sp>
        <p:pic>
          <p:nvPicPr>
            <p:cNvPr id="9" name="Image 9"/>
            <p:cNvPicPr>
              <a:picLocks noChangeAspect="1"/>
            </p:cNvPicPr>
            <p:nvPr/>
          </p:nvPicPr>
          <p:blipFill>
            <a:blip r:embed="rId2"/>
            <a:stretch>
              <a:fillRect/>
            </a:stretch>
          </p:blipFill>
          <p:spPr>
            <a:xfrm>
              <a:off x="1149829" y="1905000"/>
              <a:ext cx="9892342" cy="685800"/>
            </a:xfrm>
            <a:prstGeom prst="rect">
              <a:avLst/>
            </a:prstGeom>
          </p:spPr>
        </p:pic>
        <p:sp>
          <p:nvSpPr>
            <p:cNvPr id="10" name="Rectangle 10"/>
            <p:cNvSpPr/>
            <p:nvPr/>
          </p:nvSpPr>
          <p:spPr>
            <a:xfrm>
              <a:off x="1143000" y="2686050"/>
              <a:ext cx="4876800" cy="323850"/>
            </a:xfrm>
            <a:prstGeom prst="roundRect">
              <a:avLst>
                <a:gd name="adj" fmla="val 23529"/>
              </a:avLst>
            </a:prstGeom>
            <a:solidFill>
              <a:srgbClr val="EEF2FF"/>
            </a:solidFill>
            <a:ln>
              <a:noFill/>
            </a:ln>
          </p:spPr>
        </p:sp>
        <p:sp>
          <p:nvSpPr>
            <p:cNvPr id="11" name="TextBox 11"/>
            <p:cNvSpPr txBox="1"/>
            <p:nvPr/>
          </p:nvSpPr>
          <p:spPr>
            <a:xfrm>
              <a:off x="1289685" y="2783681"/>
              <a:ext cx="5403123"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σ_d²</a:t>
              </a:r>
              <a:r>
                <a:rPr lang="en-US" sz="1120" dirty="0">
                  <a:solidFill>
                    <a:schemeClr val="dk1"/>
                  </a:solidFill>
                  <a:latin typeface="+mn-lt"/>
                  <a:ea typeface="+mn-ea"/>
                  <a:cs typeface="+mn-cs"/>
                </a:rPr>
                <a:t xml:space="preserve"> displacement — how far a statement &amp; its negation are pushed apart</a:t>
              </a:r>
            </a:p>
          </p:txBody>
        </p:sp>
        <p:sp>
          <p:nvSpPr>
            <p:cNvPr id="12" name="Rectangle 12"/>
            <p:cNvSpPr/>
            <p:nvPr/>
          </p:nvSpPr>
          <p:spPr>
            <a:xfrm>
              <a:off x="6172200" y="2686050"/>
              <a:ext cx="4876800" cy="323850"/>
            </a:xfrm>
            <a:prstGeom prst="roundRect">
              <a:avLst>
                <a:gd name="adj" fmla="val 23529"/>
              </a:avLst>
            </a:prstGeom>
            <a:solidFill>
              <a:srgbClr val="F3EEFE"/>
            </a:solidFill>
            <a:ln>
              <a:noFill/>
            </a:ln>
          </p:spPr>
        </p:sp>
        <p:sp>
          <p:nvSpPr>
            <p:cNvPr id="13" name="TextBox 13"/>
            <p:cNvSpPr txBox="1"/>
            <p:nvPr/>
          </p:nvSpPr>
          <p:spPr>
            <a:xfrm>
              <a:off x="6318885" y="2783681"/>
              <a:ext cx="4394442" cy="220028"/>
            </a:xfrm>
            <a:prstGeom prst="rect">
              <a:avLst/>
            </a:prstGeom>
            <a:noFill/>
            <a:ln>
              <a:noFill/>
            </a:ln>
          </p:spPr>
          <p:txBody>
            <a:bodyPr wrap="none" lIns="0" tIns="0" rIns="0" bIns="0" anchor="t" anchorCtr="0">
              <a:spAutoFit/>
            </a:bodyPr>
            <a:lstStyle/>
            <a:p>
              <a:pPr algn="l"/>
              <a:r>
                <a:rPr lang="en-US" sz="1120" b="1" dirty="0">
                  <a:solidFill>
                    <a:schemeClr val="accent6"/>
                  </a:solidFill>
                  <a:latin typeface="+mn-lt"/>
                  <a:ea typeface="+mn-ea"/>
                  <a:cs typeface="+mn-cs"/>
                </a:rPr>
                <a:t>σ_m²</a:t>
              </a:r>
              <a:r>
                <a:rPr lang="en-US" sz="1120" dirty="0">
                  <a:solidFill>
                    <a:schemeClr val="dk1"/>
                  </a:solidFill>
                  <a:latin typeface="+mn-lt"/>
                  <a:ea typeface="+mn-ea"/>
                  <a:cs typeface="+mn-cs"/>
                </a:rPr>
                <a:t xml:space="preserve"> midpoint — how far their midpoint sits from the origin</a:t>
              </a:r>
            </a:p>
          </p:txBody>
        </p:sp>
      </p:grpSp>
      <p:grpSp>
        <p:nvGrpSpPr>
          <p:cNvPr id="28" name="Group 28"/>
          <p:cNvGrpSpPr/>
          <p:nvPr/>
        </p:nvGrpSpPr>
        <p:grpSpPr>
          <a:xfrm>
            <a:off x="609600" y="3276600"/>
            <a:ext cx="5334000" cy="2800350"/>
            <a:chOff x="609600" y="3276600"/>
            <a:chExt cx="5334000" cy="2800350"/>
          </a:xfrm>
        </p:grpSpPr>
        <p:sp>
          <p:nvSpPr>
            <p:cNvPr id="15" name="Rectangle 15"/>
            <p:cNvSpPr/>
            <p:nvPr/>
          </p:nvSpPr>
          <p:spPr>
            <a:xfrm>
              <a:off x="609600" y="3276600"/>
              <a:ext cx="5334000" cy="2800350"/>
            </a:xfrm>
            <a:prstGeom prst="roundRect">
              <a:avLst>
                <a:gd name="adj" fmla="val 4762"/>
              </a:avLst>
            </a:prstGeom>
            <a:solidFill>
              <a:schemeClr val="lt1"/>
            </a:solidFill>
            <a:ln w="14288">
              <a:solidFill>
                <a:schemeClr val="accent4"/>
              </a:solidFill>
            </a:ln>
          </p:spPr>
        </p:sp>
        <p:sp>
          <p:nvSpPr>
            <p:cNvPr id="16" name="Rectangle 16"/>
            <p:cNvSpPr/>
            <p:nvPr/>
          </p:nvSpPr>
          <p:spPr>
            <a:xfrm>
              <a:off x="609600" y="3276600"/>
              <a:ext cx="5334000" cy="57150"/>
            </a:xfrm>
            <a:prstGeom prst="roundRect">
              <a:avLst>
                <a:gd name="adj" fmla="val 50000"/>
              </a:avLst>
            </a:prstGeom>
            <a:solidFill>
              <a:schemeClr val="accent2"/>
            </a:solidFill>
            <a:ln>
              <a:noFill/>
            </a:ln>
          </p:spPr>
        </p:sp>
        <p:sp>
          <p:nvSpPr>
            <p:cNvPr id="17" name="TextBox 17"/>
            <p:cNvSpPr txBox="1"/>
            <p:nvPr/>
          </p:nvSpPr>
          <p:spPr>
            <a:xfrm>
              <a:off x="871347" y="3571399"/>
              <a:ext cx="278446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SIGMOID FORCES A TRADE-OFF</a:t>
              </a:r>
            </a:p>
          </p:txBody>
        </p:sp>
        <p:sp>
          <p:nvSpPr>
            <p:cNvPr id="18" name="TextBox 18"/>
            <p:cNvSpPr txBox="1"/>
            <p:nvPr/>
          </p:nvSpPr>
          <p:spPr>
            <a:xfrm>
              <a:off x="870204" y="3870960"/>
              <a:ext cx="34693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CCS's double-saturating sigmoid pushes the</a:t>
              </a:r>
            </a:p>
          </p:txBody>
        </p:sp>
        <p:sp>
          <p:nvSpPr>
            <p:cNvPr id="19" name="TextBox 19"/>
            <p:cNvSpPr txBox="1"/>
            <p:nvPr/>
          </p:nvSpPr>
          <p:spPr>
            <a:xfrm>
              <a:off x="870204" y="4080510"/>
              <a:ext cx="34046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probe in two competing directions at once:</a:t>
              </a:r>
            </a:p>
          </p:txBody>
        </p:sp>
        <p:sp>
          <p:nvSpPr>
            <p:cNvPr id="20" name="Rectangle 20"/>
            <p:cNvSpPr/>
            <p:nvPr/>
          </p:nvSpPr>
          <p:spPr>
            <a:xfrm>
              <a:off x="876300" y="4438650"/>
              <a:ext cx="4800600" cy="628650"/>
            </a:xfrm>
            <a:prstGeom prst="roundRect">
              <a:avLst>
                <a:gd name="adj" fmla="val 15152"/>
              </a:avLst>
            </a:prstGeom>
            <a:solidFill>
              <a:srgbClr val="EEF2FF"/>
            </a:solidFill>
            <a:ln>
              <a:noFill/>
            </a:ln>
          </p:spPr>
        </p:sp>
        <p:sp>
          <p:nvSpPr>
            <p:cNvPr id="21" name="TextBox 21"/>
            <p:cNvSpPr txBox="1"/>
            <p:nvPr/>
          </p:nvSpPr>
          <p:spPr>
            <a:xfrm>
              <a:off x="1056894" y="4551998"/>
              <a:ext cx="908083"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j-lt"/>
                  <a:ea typeface="+mj-ea"/>
                  <a:cs typeface="+mj-cs"/>
                </a:rPr>
                <a:t>σ_d² ↑</a:t>
              </a:r>
            </a:p>
          </p:txBody>
        </p:sp>
        <p:sp>
          <p:nvSpPr>
            <p:cNvPr id="22" name="TextBox 22"/>
            <p:cNvSpPr txBox="1"/>
            <p:nvPr/>
          </p:nvSpPr>
          <p:spPr>
            <a:xfrm>
              <a:off x="2089404" y="4575810"/>
              <a:ext cx="186629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Maximize displacement</a:t>
              </a:r>
            </a:p>
          </p:txBody>
        </p:sp>
        <p:sp>
          <p:nvSpPr>
            <p:cNvPr id="23" name="TextBox 23"/>
            <p:cNvSpPr txBox="1"/>
            <p:nvPr/>
          </p:nvSpPr>
          <p:spPr>
            <a:xfrm>
              <a:off x="2090166" y="4820602"/>
              <a:ext cx="17775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spread the pair far apart</a:t>
              </a:r>
            </a:p>
          </p:txBody>
        </p:sp>
        <p:sp>
          <p:nvSpPr>
            <p:cNvPr id="24" name="Rectangle 24"/>
            <p:cNvSpPr/>
            <p:nvPr/>
          </p:nvSpPr>
          <p:spPr>
            <a:xfrm>
              <a:off x="876300" y="5181600"/>
              <a:ext cx="4800600" cy="628650"/>
            </a:xfrm>
            <a:prstGeom prst="roundRect">
              <a:avLst>
                <a:gd name="adj" fmla="val 15152"/>
              </a:avLst>
            </a:prstGeom>
            <a:solidFill>
              <a:srgbClr val="F3EEFE"/>
            </a:solidFill>
            <a:ln>
              <a:noFill/>
            </a:ln>
          </p:spPr>
        </p:sp>
        <p:sp>
          <p:nvSpPr>
            <p:cNvPr id="25" name="TextBox 25"/>
            <p:cNvSpPr txBox="1"/>
            <p:nvPr/>
          </p:nvSpPr>
          <p:spPr>
            <a:xfrm>
              <a:off x="1056894" y="5294948"/>
              <a:ext cx="966330" cy="381381"/>
            </a:xfrm>
            <a:prstGeom prst="rect">
              <a:avLst/>
            </a:prstGeom>
            <a:noFill/>
            <a:ln>
              <a:noFill/>
            </a:ln>
          </p:spPr>
          <p:txBody>
            <a:bodyPr wrap="none" lIns="0" tIns="0" rIns="0" bIns="0" anchor="t" anchorCtr="0">
              <a:spAutoFit/>
            </a:bodyPr>
            <a:lstStyle/>
            <a:p>
              <a:pPr algn="l"/>
              <a:r>
                <a:rPr lang="en-US" sz="1950" b="1" dirty="0">
                  <a:solidFill>
                    <a:schemeClr val="accent6"/>
                  </a:solidFill>
                  <a:latin typeface="+mj-lt"/>
                  <a:ea typeface="+mj-ea"/>
                  <a:cs typeface="+mj-cs"/>
                </a:rPr>
                <a:t>σ_m² ↓</a:t>
              </a:r>
            </a:p>
          </p:txBody>
        </p:sp>
        <p:sp>
          <p:nvSpPr>
            <p:cNvPr id="26" name="TextBox 26"/>
            <p:cNvSpPr txBox="1"/>
            <p:nvPr/>
          </p:nvSpPr>
          <p:spPr>
            <a:xfrm>
              <a:off x="2089404" y="5318760"/>
              <a:ext cx="145056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Minimize midpoint</a:t>
              </a:r>
            </a:p>
          </p:txBody>
        </p:sp>
        <p:sp>
          <p:nvSpPr>
            <p:cNvPr id="27" name="TextBox 27"/>
            <p:cNvSpPr txBox="1"/>
            <p:nvPr/>
          </p:nvSpPr>
          <p:spPr>
            <a:xfrm>
              <a:off x="2090166" y="5563552"/>
              <a:ext cx="22864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keep the midpoint near the origin</a:t>
              </a:r>
            </a:p>
          </p:txBody>
        </p:sp>
      </p:grpSp>
      <p:grpSp>
        <p:nvGrpSpPr>
          <p:cNvPr id="43" name="Group 43"/>
          <p:cNvGrpSpPr/>
          <p:nvPr/>
        </p:nvGrpSpPr>
        <p:grpSpPr>
          <a:xfrm>
            <a:off x="6248400" y="3276600"/>
            <a:ext cx="5334000" cy="2800350"/>
            <a:chOff x="6248400" y="3276600"/>
            <a:chExt cx="5334000" cy="2800350"/>
          </a:xfrm>
        </p:grpSpPr>
        <p:sp>
          <p:nvSpPr>
            <p:cNvPr id="29" name="Rectangle 29"/>
            <p:cNvSpPr/>
            <p:nvPr/>
          </p:nvSpPr>
          <p:spPr>
            <a:xfrm>
              <a:off x="6248400" y="3276600"/>
              <a:ext cx="5334000" cy="2800350"/>
            </a:xfrm>
            <a:prstGeom prst="roundRect">
              <a:avLst>
                <a:gd name="adj" fmla="val 4762"/>
              </a:avLst>
            </a:prstGeom>
            <a:solidFill>
              <a:schemeClr val="accent1"/>
            </a:solidFill>
            <a:ln>
              <a:noFill/>
            </a:ln>
          </p:spPr>
        </p:sp>
        <p:sp>
          <p:nvSpPr>
            <p:cNvPr id="30" name="Rectangle 30"/>
            <p:cNvSpPr/>
            <p:nvPr/>
          </p:nvSpPr>
          <p:spPr>
            <a:xfrm>
              <a:off x="6248400" y="3276600"/>
              <a:ext cx="5334000" cy="57150"/>
            </a:xfrm>
            <a:prstGeom prst="roundRect">
              <a:avLst>
                <a:gd name="adj" fmla="val 50000"/>
              </a:avLst>
            </a:prstGeom>
            <a:solidFill>
              <a:schemeClr val="accent6"/>
            </a:solidFill>
            <a:ln>
              <a:noFill/>
            </a:ln>
          </p:spPr>
        </p:sp>
        <p:sp>
          <p:nvSpPr>
            <p:cNvPr id="31" name="TextBox 31"/>
            <p:cNvSpPr txBox="1"/>
            <p:nvPr/>
          </p:nvSpPr>
          <p:spPr>
            <a:xfrm>
              <a:off x="6510147" y="3571399"/>
              <a:ext cx="3542579"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MIDPOINT-DISPLACEMENT MAKES IT EXPLICIT</a:t>
              </a:r>
            </a:p>
          </p:txBody>
        </p:sp>
        <p:sp>
          <p:nvSpPr>
            <p:cNvPr id="32" name="Rectangle 32"/>
            <p:cNvSpPr/>
            <p:nvPr/>
          </p:nvSpPr>
          <p:spPr>
            <a:xfrm>
              <a:off x="6515100" y="3848100"/>
              <a:ext cx="4800600" cy="628650"/>
            </a:xfrm>
            <a:prstGeom prst="roundRect">
              <a:avLst>
                <a:gd name="adj" fmla="val 15152"/>
              </a:avLst>
            </a:prstGeom>
            <a:solidFill>
              <a:schemeClr val="lt1"/>
            </a:solidFill>
            <a:ln>
              <a:noFill/>
            </a:ln>
          </p:spPr>
        </p:sp>
        <p:pic>
          <p:nvPicPr>
            <p:cNvPr id="33" name="Image 33"/>
            <p:cNvPicPr>
              <a:picLocks noChangeAspect="1"/>
            </p:cNvPicPr>
            <p:nvPr/>
          </p:nvPicPr>
          <p:blipFill>
            <a:blip r:embed="rId3"/>
            <a:stretch>
              <a:fillRect/>
            </a:stretch>
          </p:blipFill>
          <p:spPr>
            <a:xfrm>
              <a:off x="6705600" y="4038152"/>
              <a:ext cx="4419600" cy="248546"/>
            </a:xfrm>
            <a:prstGeom prst="rect">
              <a:avLst/>
            </a:prstGeom>
          </p:spPr>
        </p:pic>
        <p:sp>
          <p:nvSpPr>
            <p:cNvPr id="34" name="TextBox 34"/>
            <p:cNvSpPr txBox="1"/>
            <p:nvPr/>
          </p:nvSpPr>
          <p:spPr>
            <a:xfrm>
              <a:off x="6509004" y="4652010"/>
              <a:ext cx="3887428"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One knob, λ, sets the balance of the two terms:</a:t>
              </a:r>
            </a:p>
          </p:txBody>
        </p:sp>
        <p:sp>
          <p:nvSpPr>
            <p:cNvPr id="35" name="Rectangle 35"/>
            <p:cNvSpPr/>
            <p:nvPr/>
          </p:nvSpPr>
          <p:spPr>
            <a:xfrm>
              <a:off x="6515100" y="4972050"/>
              <a:ext cx="2343150" cy="857250"/>
            </a:xfrm>
            <a:prstGeom prst="roundRect">
              <a:avLst>
                <a:gd name="adj" fmla="val 11111"/>
              </a:avLst>
            </a:prstGeom>
            <a:solidFill>
              <a:srgbClr val="1B3350"/>
            </a:solidFill>
            <a:ln>
              <a:noFill/>
            </a:ln>
          </p:spPr>
        </p:sp>
        <p:sp>
          <p:nvSpPr>
            <p:cNvPr id="36" name="TextBox 36"/>
            <p:cNvSpPr txBox="1"/>
            <p:nvPr/>
          </p:nvSpPr>
          <p:spPr>
            <a:xfrm>
              <a:off x="6726555" y="5095875"/>
              <a:ext cx="1388212" cy="293370"/>
            </a:xfrm>
            <a:prstGeom prst="rect">
              <a:avLst/>
            </a:prstGeom>
            <a:noFill/>
            <a:ln>
              <a:noFill/>
            </a:ln>
          </p:spPr>
          <p:txBody>
            <a:bodyPr wrap="none" lIns="0" tIns="0" rIns="0" bIns="0" anchor="t" anchorCtr="0">
              <a:spAutoFit/>
            </a:bodyPr>
            <a:lstStyle/>
            <a:p>
              <a:pPr algn="l"/>
              <a:r>
                <a:rPr lang="en-US" sz="1500" b="1" dirty="0">
                  <a:solidFill>
                    <a:srgbClr val="7CA9FF"/>
                  </a:solidFill>
                  <a:latin typeface="+mj-lt"/>
                  <a:ea typeface="+mj-ea"/>
                  <a:cs typeface="+mj-cs"/>
                </a:rPr>
                <a:t>λ → MD-CCS</a:t>
              </a:r>
            </a:p>
          </p:txBody>
        </p:sp>
        <p:sp>
          <p:nvSpPr>
            <p:cNvPr id="37" name="TextBox 37"/>
            <p:cNvSpPr txBox="1"/>
            <p:nvPr/>
          </p:nvSpPr>
          <p:spPr>
            <a:xfrm>
              <a:off x="6728841" y="5392102"/>
              <a:ext cx="1417110" cy="205359"/>
            </a:xfrm>
            <a:prstGeom prst="rect">
              <a:avLst/>
            </a:prstGeom>
            <a:noFill/>
            <a:ln>
              <a:noFill/>
            </a:ln>
          </p:spPr>
          <p:txBody>
            <a:bodyPr wrap="none" lIns="0" tIns="0" rIns="0" bIns="0" anchor="t" anchorCtr="0">
              <a:spAutoFit/>
            </a:bodyPr>
            <a:lstStyle/>
            <a:p>
              <a:pPr algn="l"/>
              <a:r>
                <a:rPr lang="en-US" sz="1050" dirty="0">
                  <a:solidFill>
                    <a:srgbClr val="B7C4D6"/>
                  </a:solidFill>
                  <a:latin typeface="+mn-lt"/>
                  <a:ea typeface="+mn-ea"/>
                  <a:cs typeface="+mn-cs"/>
                </a:rPr>
                <a:t>chosen to reproduce</a:t>
              </a:r>
            </a:p>
          </p:txBody>
        </p:sp>
        <p:sp>
          <p:nvSpPr>
            <p:cNvPr id="38" name="TextBox 38"/>
            <p:cNvSpPr txBox="1"/>
            <p:nvPr/>
          </p:nvSpPr>
          <p:spPr>
            <a:xfrm>
              <a:off x="6728841" y="5582602"/>
              <a:ext cx="925182" cy="205359"/>
            </a:xfrm>
            <a:prstGeom prst="rect">
              <a:avLst/>
            </a:prstGeom>
            <a:noFill/>
            <a:ln>
              <a:noFill/>
            </a:ln>
          </p:spPr>
          <p:txBody>
            <a:bodyPr wrap="none" lIns="0" tIns="0" rIns="0" bIns="0" anchor="t" anchorCtr="0">
              <a:spAutoFit/>
            </a:bodyPr>
            <a:lstStyle/>
            <a:p>
              <a:pPr algn="l"/>
              <a:r>
                <a:rPr lang="en-US" sz="1050" dirty="0">
                  <a:solidFill>
                    <a:srgbClr val="B7C4D6"/>
                  </a:solidFill>
                  <a:latin typeface="+mn-lt"/>
                  <a:ea typeface="+mn-ea"/>
                  <a:cs typeface="+mn-cs"/>
                </a:rPr>
                <a:t>CCS's probe.</a:t>
              </a:r>
            </a:p>
          </p:txBody>
        </p:sp>
        <p:sp>
          <p:nvSpPr>
            <p:cNvPr id="39" name="Rectangle 39"/>
            <p:cNvSpPr/>
            <p:nvPr/>
          </p:nvSpPr>
          <p:spPr>
            <a:xfrm>
              <a:off x="8972550" y="4972050"/>
              <a:ext cx="2343150" cy="857250"/>
            </a:xfrm>
            <a:prstGeom prst="roundRect">
              <a:avLst>
                <a:gd name="adj" fmla="val 11111"/>
              </a:avLst>
            </a:prstGeom>
            <a:solidFill>
              <a:srgbClr val="3B2A66"/>
            </a:solidFill>
            <a:ln>
              <a:noFill/>
            </a:ln>
          </p:spPr>
        </p:sp>
        <p:sp>
          <p:nvSpPr>
            <p:cNvPr id="40" name="TextBox 40"/>
            <p:cNvSpPr txBox="1"/>
            <p:nvPr/>
          </p:nvSpPr>
          <p:spPr>
            <a:xfrm>
              <a:off x="9184005" y="5095875"/>
              <a:ext cx="1305001" cy="293370"/>
            </a:xfrm>
            <a:prstGeom prst="rect">
              <a:avLst/>
            </a:prstGeom>
            <a:noFill/>
            <a:ln>
              <a:noFill/>
            </a:ln>
          </p:spPr>
          <p:txBody>
            <a:bodyPr wrap="none" lIns="0" tIns="0" rIns="0" bIns="0" anchor="t" anchorCtr="0">
              <a:spAutoFit/>
            </a:bodyPr>
            <a:lstStyle/>
            <a:p>
              <a:pPr algn="l"/>
              <a:r>
                <a:rPr lang="en-US" sz="1500" b="1" dirty="0">
                  <a:solidFill>
                    <a:srgbClr val="C4B0F7"/>
                  </a:solidFill>
                  <a:latin typeface="+mj-lt"/>
                  <a:ea typeface="+mj-ea"/>
                  <a:cs typeface="+mj-cs"/>
                </a:rPr>
                <a:t>λ → MD-Acc</a:t>
              </a:r>
            </a:p>
          </p:txBody>
        </p:sp>
        <p:sp>
          <p:nvSpPr>
            <p:cNvPr id="41" name="TextBox 41"/>
            <p:cNvSpPr txBox="1"/>
            <p:nvPr/>
          </p:nvSpPr>
          <p:spPr>
            <a:xfrm>
              <a:off x="9186291" y="5392102"/>
              <a:ext cx="1311097" cy="205359"/>
            </a:xfrm>
            <a:prstGeom prst="rect">
              <a:avLst/>
            </a:prstGeom>
            <a:noFill/>
            <a:ln>
              <a:noFill/>
            </a:ln>
          </p:spPr>
          <p:txBody>
            <a:bodyPr wrap="none" lIns="0" tIns="0" rIns="0" bIns="0" anchor="t" anchorCtr="0">
              <a:spAutoFit/>
            </a:bodyPr>
            <a:lstStyle/>
            <a:p>
              <a:pPr algn="l"/>
              <a:r>
                <a:rPr lang="en-US" sz="1050" dirty="0">
                  <a:solidFill>
                    <a:srgbClr val="D9CCF7"/>
                  </a:solidFill>
                  <a:latin typeface="+mn-lt"/>
                  <a:ea typeface="+mn-ea"/>
                  <a:cs typeface="+mn-cs"/>
                </a:rPr>
                <a:t>tuned for maximum</a:t>
              </a:r>
            </a:p>
          </p:txBody>
        </p:sp>
        <p:sp>
          <p:nvSpPr>
            <p:cNvPr id="42" name="TextBox 42"/>
            <p:cNvSpPr txBox="1"/>
            <p:nvPr/>
          </p:nvSpPr>
          <p:spPr>
            <a:xfrm>
              <a:off x="9186291" y="5582602"/>
              <a:ext cx="710355" cy="205359"/>
            </a:xfrm>
            <a:prstGeom prst="rect">
              <a:avLst/>
            </a:prstGeom>
            <a:noFill/>
            <a:ln>
              <a:noFill/>
            </a:ln>
          </p:spPr>
          <p:txBody>
            <a:bodyPr wrap="none" lIns="0" tIns="0" rIns="0" bIns="0" anchor="t" anchorCtr="0">
              <a:spAutoFit/>
            </a:bodyPr>
            <a:lstStyle/>
            <a:p>
              <a:pPr algn="l"/>
              <a:r>
                <a:rPr lang="en-US" sz="1050" dirty="0">
                  <a:solidFill>
                    <a:srgbClr val="D9CCF7"/>
                  </a:solidFill>
                  <a:latin typeface="+mn-lt"/>
                  <a:ea typeface="+mn-ea"/>
                  <a:cs typeface="+mn-cs"/>
                </a:rPr>
                <a:t>accuracy.</a:t>
              </a:r>
            </a:p>
          </p:txBody>
        </p:sp>
      </p:grpSp>
      <p:grpSp>
        <p:nvGrpSpPr>
          <p:cNvPr id="46" name="Group 46"/>
          <p:cNvGrpSpPr/>
          <p:nvPr/>
        </p:nvGrpSpPr>
        <p:grpSpPr>
          <a:xfrm>
            <a:off x="604838" y="6521291"/>
            <a:ext cx="10982324" cy="161925"/>
            <a:chOff x="604838" y="6521291"/>
            <a:chExt cx="10982324" cy="161925"/>
          </a:xfrm>
        </p:grpSpPr>
        <p:sp>
          <p:nvSpPr>
            <p:cNvPr id="44" name="TextBox 44"/>
            <p:cNvSpPr txBox="1"/>
            <p:nvPr/>
          </p:nvSpPr>
          <p:spPr>
            <a:xfrm>
              <a:off x="604838" y="6521291"/>
              <a:ext cx="3524373"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§3 Optimization target &amp; the Midpoint-Displacement loss</a:t>
              </a:r>
            </a:p>
          </p:txBody>
        </p:sp>
        <p:sp>
          <p:nvSpPr>
            <p:cNvPr id="45" name="TextBox 45"/>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709767" cy="656939"/>
            <a:chOff x="571500" y="533400"/>
            <a:chExt cx="670976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49412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Models, datasets &amp; contrast pairs</a:t>
              </a:r>
            </a:p>
          </p:txBody>
        </p:sp>
        <p:sp>
          <p:nvSpPr>
            <p:cNvPr id="4" name="TextBox 4"/>
            <p:cNvSpPr txBox="1"/>
            <p:nvPr/>
          </p:nvSpPr>
          <p:spPr>
            <a:xfrm>
              <a:off x="795147" y="999649"/>
              <a:ext cx="178226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a:t>
              </a:r>
            </a:p>
          </p:txBody>
        </p:sp>
      </p:grpSp>
      <p:grpSp>
        <p:nvGrpSpPr>
          <p:cNvPr id="26" name="Group 26"/>
          <p:cNvGrpSpPr/>
          <p:nvPr/>
        </p:nvGrpSpPr>
        <p:grpSpPr>
          <a:xfrm>
            <a:off x="609600" y="1562100"/>
            <a:ext cx="5334000" cy="4514850"/>
            <a:chOff x="609600" y="1562100"/>
            <a:chExt cx="5334000" cy="4514850"/>
          </a:xfrm>
        </p:grpSpPr>
        <p:sp>
          <p:nvSpPr>
            <p:cNvPr id="6" name="Rectangle 6"/>
            <p:cNvSpPr/>
            <p:nvPr/>
          </p:nvSpPr>
          <p:spPr>
            <a:xfrm>
              <a:off x="609600" y="1562100"/>
              <a:ext cx="5334000" cy="4514850"/>
            </a:xfrm>
            <a:prstGeom prst="roundRect">
              <a:avLst>
                <a:gd name="adj" fmla="val 2954"/>
              </a:avLst>
            </a:prstGeom>
            <a:solidFill>
              <a:schemeClr val="accent5"/>
            </a:solidFill>
            <a:ln w="14288">
              <a:solidFill>
                <a:schemeClr val="accent4"/>
              </a:solidFill>
            </a:ln>
          </p:spPr>
        </p:sp>
        <p:sp>
          <p:nvSpPr>
            <p:cNvPr id="7" name="Rectangle 7"/>
            <p:cNvSpPr/>
            <p:nvPr/>
          </p:nvSpPr>
          <p:spPr>
            <a:xfrm>
              <a:off x="609600" y="1562100"/>
              <a:ext cx="5334000" cy="57150"/>
            </a:xfrm>
            <a:prstGeom prst="roundRect">
              <a:avLst>
                <a:gd name="adj" fmla="val 50000"/>
              </a:avLst>
            </a:prstGeom>
            <a:solidFill>
              <a:schemeClr val="accent2"/>
            </a:solidFill>
            <a:ln>
              <a:noFill/>
            </a:ln>
          </p:spPr>
        </p:sp>
        <p:sp>
          <p:nvSpPr>
            <p:cNvPr id="8" name="TextBox 8"/>
            <p:cNvSpPr txBox="1"/>
            <p:nvPr/>
          </p:nvSpPr>
          <p:spPr>
            <a:xfrm>
              <a:off x="871347" y="1875949"/>
              <a:ext cx="161867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MODELS &amp; DATASETS</a:t>
              </a:r>
            </a:p>
          </p:txBody>
        </p:sp>
        <p:sp>
          <p:nvSpPr>
            <p:cNvPr id="9" name="TextBox 9"/>
            <p:cNvSpPr txBox="1"/>
            <p:nvPr/>
          </p:nvSpPr>
          <p:spPr>
            <a:xfrm>
              <a:off x="868299" y="2135029"/>
              <a:ext cx="498912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j-lt"/>
                  <a:ea typeface="+mj-ea"/>
                  <a:cs typeface="+mj-cs"/>
                </a:rPr>
                <a:t>Hidden-state activations from four models</a:t>
              </a:r>
            </a:p>
          </p:txBody>
        </p:sp>
        <p:sp>
          <p:nvSpPr>
            <p:cNvPr id="10" name="Rectangle 10"/>
            <p:cNvSpPr/>
            <p:nvPr/>
          </p:nvSpPr>
          <p:spPr>
            <a:xfrm>
              <a:off x="876300" y="2533650"/>
              <a:ext cx="2362200" cy="838200"/>
            </a:xfrm>
            <a:prstGeom prst="roundRect">
              <a:avLst>
                <a:gd name="adj" fmla="val 11364"/>
              </a:avLst>
            </a:prstGeom>
            <a:solidFill>
              <a:schemeClr val="lt1"/>
            </a:solidFill>
            <a:ln w="14288">
              <a:solidFill>
                <a:schemeClr val="accent4"/>
              </a:solidFill>
            </a:ln>
          </p:spPr>
        </p:sp>
        <p:sp>
          <p:nvSpPr>
            <p:cNvPr id="11" name="TextBox 11"/>
            <p:cNvSpPr txBox="1"/>
            <p:nvPr/>
          </p:nvSpPr>
          <p:spPr>
            <a:xfrm>
              <a:off x="1060323" y="2719864"/>
              <a:ext cx="17365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UnifiedQA T5-Large</a:t>
              </a:r>
            </a:p>
          </p:txBody>
        </p:sp>
        <p:sp>
          <p:nvSpPr>
            <p:cNvPr id="12" name="TextBox 12"/>
            <p:cNvSpPr txBox="1"/>
            <p:nvPr/>
          </p:nvSpPr>
          <p:spPr>
            <a:xfrm>
              <a:off x="1061466" y="299180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encoder</a:t>
              </a:r>
            </a:p>
          </p:txBody>
        </p:sp>
        <p:sp>
          <p:nvSpPr>
            <p:cNvPr id="13" name="Rectangle 13"/>
            <p:cNvSpPr/>
            <p:nvPr/>
          </p:nvSpPr>
          <p:spPr>
            <a:xfrm>
              <a:off x="3314700" y="2533650"/>
              <a:ext cx="2362200" cy="838200"/>
            </a:xfrm>
            <a:prstGeom prst="roundRect">
              <a:avLst>
                <a:gd name="adj" fmla="val 11364"/>
              </a:avLst>
            </a:prstGeom>
            <a:solidFill>
              <a:schemeClr val="lt1"/>
            </a:solidFill>
            <a:ln w="14288">
              <a:solidFill>
                <a:schemeClr val="accent4"/>
              </a:solidFill>
            </a:ln>
          </p:spPr>
        </p:sp>
        <p:sp>
          <p:nvSpPr>
            <p:cNvPr id="14" name="TextBox 14"/>
            <p:cNvSpPr txBox="1"/>
            <p:nvPr/>
          </p:nvSpPr>
          <p:spPr>
            <a:xfrm>
              <a:off x="3498723" y="2719864"/>
              <a:ext cx="17365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UnifiedQA T5-Large</a:t>
              </a:r>
            </a:p>
          </p:txBody>
        </p:sp>
        <p:sp>
          <p:nvSpPr>
            <p:cNvPr id="15" name="TextBox 15"/>
            <p:cNvSpPr txBox="1"/>
            <p:nvPr/>
          </p:nvSpPr>
          <p:spPr>
            <a:xfrm>
              <a:off x="3499866" y="299180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decoder</a:t>
              </a:r>
            </a:p>
          </p:txBody>
        </p:sp>
        <p:sp>
          <p:nvSpPr>
            <p:cNvPr id="16" name="Rectangle 16"/>
            <p:cNvSpPr/>
            <p:nvPr/>
          </p:nvSpPr>
          <p:spPr>
            <a:xfrm>
              <a:off x="876300" y="3486150"/>
              <a:ext cx="2362200" cy="838200"/>
            </a:xfrm>
            <a:prstGeom prst="roundRect">
              <a:avLst>
                <a:gd name="adj" fmla="val 11364"/>
              </a:avLst>
            </a:prstGeom>
            <a:solidFill>
              <a:schemeClr val="lt1"/>
            </a:solidFill>
            <a:ln w="14288">
              <a:solidFill>
                <a:schemeClr val="accent4"/>
              </a:solidFill>
            </a:ln>
          </p:spPr>
        </p:sp>
        <p:sp>
          <p:nvSpPr>
            <p:cNvPr id="17" name="TextBox 17"/>
            <p:cNvSpPr txBox="1"/>
            <p:nvPr/>
          </p:nvSpPr>
          <p:spPr>
            <a:xfrm>
              <a:off x="1060323" y="3672364"/>
              <a:ext cx="73769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DeBERTa</a:t>
              </a:r>
            </a:p>
          </p:txBody>
        </p:sp>
        <p:sp>
          <p:nvSpPr>
            <p:cNvPr id="18" name="TextBox 18"/>
            <p:cNvSpPr txBox="1"/>
            <p:nvPr/>
          </p:nvSpPr>
          <p:spPr>
            <a:xfrm>
              <a:off x="1061466" y="3944302"/>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encoder model</a:t>
              </a:r>
            </a:p>
          </p:txBody>
        </p:sp>
        <p:sp>
          <p:nvSpPr>
            <p:cNvPr id="19" name="Rectangle 19"/>
            <p:cNvSpPr/>
            <p:nvPr/>
          </p:nvSpPr>
          <p:spPr>
            <a:xfrm>
              <a:off x="3314700" y="3486150"/>
              <a:ext cx="2362200" cy="838200"/>
            </a:xfrm>
            <a:prstGeom prst="roundRect">
              <a:avLst>
                <a:gd name="adj" fmla="val 11364"/>
              </a:avLst>
            </a:prstGeom>
            <a:solidFill>
              <a:schemeClr val="lt1"/>
            </a:solidFill>
            <a:ln w="14288">
              <a:solidFill>
                <a:schemeClr val="accent4"/>
              </a:solidFill>
            </a:ln>
          </p:spPr>
        </p:sp>
        <p:sp>
          <p:nvSpPr>
            <p:cNvPr id="20" name="TextBox 20"/>
            <p:cNvSpPr txBox="1"/>
            <p:nvPr/>
          </p:nvSpPr>
          <p:spPr>
            <a:xfrm>
              <a:off x="3498723" y="3672364"/>
              <a:ext cx="73581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GPT-Neo</a:t>
              </a:r>
            </a:p>
          </p:txBody>
        </p:sp>
        <p:sp>
          <p:nvSpPr>
            <p:cNvPr id="21" name="TextBox 21"/>
            <p:cNvSpPr txBox="1"/>
            <p:nvPr/>
          </p:nvSpPr>
          <p:spPr>
            <a:xfrm>
              <a:off x="3499866" y="3944302"/>
              <a:ext cx="1487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autoregressive model</a:t>
              </a:r>
            </a:p>
          </p:txBody>
        </p:sp>
        <p:sp>
          <p:nvSpPr>
            <p:cNvPr id="22" name="Rectangle 22"/>
            <p:cNvSpPr/>
            <p:nvPr/>
          </p:nvSpPr>
          <p:spPr>
            <a:xfrm>
              <a:off x="876300" y="4591050"/>
              <a:ext cx="4800600" cy="1238250"/>
            </a:xfrm>
            <a:prstGeom prst="roundRect">
              <a:avLst>
                <a:gd name="adj" fmla="val 7692"/>
              </a:avLst>
            </a:prstGeom>
            <a:solidFill>
              <a:schemeClr val="accent1"/>
            </a:solidFill>
            <a:ln>
              <a:noFill/>
            </a:ln>
          </p:spPr>
        </p:sp>
        <p:sp>
          <p:nvSpPr>
            <p:cNvPr id="23" name="TextBox 23"/>
            <p:cNvSpPr txBox="1"/>
            <p:nvPr/>
          </p:nvSpPr>
          <p:spPr>
            <a:xfrm>
              <a:off x="1049274" y="4599622"/>
              <a:ext cx="1252337"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5</a:t>
              </a:r>
              <a:r>
                <a:rPr lang="en-US" sz="1500" dirty="0">
                  <a:solidFill>
                    <a:srgbClr val="B7C4D6"/>
                  </a:solidFill>
                  <a:latin typeface="+mn-lt"/>
                  <a:ea typeface="+mn-ea"/>
                  <a:cs typeface="+mn-cs"/>
                </a:rPr>
                <a:t xml:space="preserve"> datasets</a:t>
              </a:r>
            </a:p>
          </p:txBody>
        </p:sp>
        <p:sp>
          <p:nvSpPr>
            <p:cNvPr id="24" name="TextBox 24"/>
            <p:cNvSpPr txBox="1"/>
            <p:nvPr/>
          </p:nvSpPr>
          <p:spPr>
            <a:xfrm>
              <a:off x="1060704" y="5204460"/>
              <a:ext cx="3288904"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Results are averaged over five datasets,</a:t>
              </a:r>
            </a:p>
          </p:txBody>
        </p:sp>
        <p:sp>
          <p:nvSpPr>
            <p:cNvPr id="25" name="TextBox 25"/>
            <p:cNvSpPr txBox="1"/>
            <p:nvPr/>
          </p:nvSpPr>
          <p:spPr>
            <a:xfrm>
              <a:off x="1060704" y="5433060"/>
              <a:ext cx="1296267"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 xml:space="preserve">including </a:t>
              </a:r>
              <a:r>
                <a:rPr lang="en-US" sz="1200" b="1" dirty="0">
                  <a:solidFill>
                    <a:srgbClr val="7CA9FF"/>
                  </a:solidFill>
                  <a:latin typeface="+mn-lt"/>
                  <a:ea typeface="+mn-ea"/>
                  <a:cs typeface="+mn-cs"/>
                </a:rPr>
                <a:t>BoolQ</a:t>
              </a:r>
              <a:r>
                <a:rPr lang="en-US" sz="1200" dirty="0">
                  <a:solidFill>
                    <a:srgbClr val="E2E8F0"/>
                  </a:solidFill>
                  <a:latin typeface="+mn-lt"/>
                  <a:ea typeface="+mn-ea"/>
                  <a:cs typeface="+mn-cs"/>
                </a:rPr>
                <a:t>.</a:t>
              </a:r>
            </a:p>
          </p:txBody>
        </p:sp>
      </p:grpSp>
      <p:grpSp>
        <p:nvGrpSpPr>
          <p:cNvPr id="47" name="Group 47"/>
          <p:cNvGrpSpPr/>
          <p:nvPr/>
        </p:nvGrpSpPr>
        <p:grpSpPr>
          <a:xfrm>
            <a:off x="6248400" y="1562100"/>
            <a:ext cx="5334000" cy="4514850"/>
            <a:chOff x="6248400" y="1562100"/>
            <a:chExt cx="5334000" cy="4514850"/>
          </a:xfrm>
        </p:grpSpPr>
        <p:sp>
          <p:nvSpPr>
            <p:cNvPr id="27" name="Rectangle 27"/>
            <p:cNvSpPr/>
            <p:nvPr/>
          </p:nvSpPr>
          <p:spPr>
            <a:xfrm>
              <a:off x="6248400" y="1562100"/>
              <a:ext cx="5334000" cy="4514850"/>
            </a:xfrm>
            <a:prstGeom prst="roundRect">
              <a:avLst>
                <a:gd name="adj" fmla="val 2954"/>
              </a:avLst>
            </a:prstGeom>
            <a:solidFill>
              <a:schemeClr val="lt1"/>
            </a:solidFill>
            <a:ln w="14288">
              <a:solidFill>
                <a:schemeClr val="accent4"/>
              </a:solidFill>
            </a:ln>
          </p:spPr>
        </p:sp>
        <p:sp>
          <p:nvSpPr>
            <p:cNvPr id="28" name="Rectangle 28"/>
            <p:cNvSpPr/>
            <p:nvPr/>
          </p:nvSpPr>
          <p:spPr>
            <a:xfrm>
              <a:off x="6248400" y="1562100"/>
              <a:ext cx="5334000" cy="57150"/>
            </a:xfrm>
            <a:prstGeom prst="roundRect">
              <a:avLst>
                <a:gd name="adj" fmla="val 50000"/>
              </a:avLst>
            </a:prstGeom>
            <a:solidFill>
              <a:schemeClr val="accent6"/>
            </a:solidFill>
            <a:ln>
              <a:noFill/>
            </a:ln>
          </p:spPr>
        </p:sp>
        <p:sp>
          <p:nvSpPr>
            <p:cNvPr id="29" name="TextBox 29"/>
            <p:cNvSpPr txBox="1"/>
            <p:nvPr/>
          </p:nvSpPr>
          <p:spPr>
            <a:xfrm>
              <a:off x="6510147" y="1875949"/>
              <a:ext cx="2479242"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CONTRAST-PAIR CONSTRUCTION</a:t>
              </a:r>
            </a:p>
          </p:txBody>
        </p:sp>
        <p:sp>
          <p:nvSpPr>
            <p:cNvPr id="30" name="Rectangle 30"/>
            <p:cNvSpPr/>
            <p:nvPr/>
          </p:nvSpPr>
          <p:spPr>
            <a:xfrm>
              <a:off x="6515100" y="2190750"/>
              <a:ext cx="4800600" cy="628650"/>
            </a:xfrm>
            <a:prstGeom prst="roundRect">
              <a:avLst>
                <a:gd name="adj" fmla="val 15152"/>
              </a:avLst>
            </a:prstGeom>
            <a:solidFill>
              <a:schemeClr val="lt2"/>
            </a:solidFill>
            <a:ln>
              <a:noFill/>
            </a:ln>
          </p:spPr>
        </p:sp>
        <p:sp>
          <p:nvSpPr>
            <p:cNvPr id="31" name="TextBox 31"/>
            <p:cNvSpPr txBox="1"/>
            <p:nvPr/>
          </p:nvSpPr>
          <p:spPr>
            <a:xfrm>
              <a:off x="6700647" y="2352199"/>
              <a:ext cx="750543"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QUESTION</a:t>
              </a:r>
            </a:p>
          </p:txBody>
        </p:sp>
        <p:sp>
          <p:nvSpPr>
            <p:cNvPr id="32" name="TextBox 32"/>
            <p:cNvSpPr txBox="1"/>
            <p:nvPr/>
          </p:nvSpPr>
          <p:spPr>
            <a:xfrm>
              <a:off x="6699123" y="2548414"/>
              <a:ext cx="35587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“Is the Earth flat?” → append each answer</a:t>
              </a:r>
            </a:p>
          </p:txBody>
        </p:sp>
        <p:sp>
          <p:nvSpPr>
            <p:cNvPr id="33" name="Rectangle 33"/>
            <p:cNvSpPr/>
            <p:nvPr/>
          </p:nvSpPr>
          <p:spPr>
            <a:xfrm>
              <a:off x="6515100" y="3009900"/>
              <a:ext cx="2324100" cy="1143000"/>
            </a:xfrm>
            <a:prstGeom prst="roundRect">
              <a:avLst>
                <a:gd name="adj" fmla="val 8333"/>
              </a:avLst>
            </a:prstGeom>
            <a:solidFill>
              <a:srgbClr val="EEF2FF"/>
            </a:solidFill>
            <a:ln w="14288">
              <a:solidFill>
                <a:schemeClr val="accent2"/>
              </a:solidFill>
            </a:ln>
          </p:spPr>
        </p:sp>
        <p:sp>
          <p:nvSpPr>
            <p:cNvPr id="34" name="TextBox 34"/>
            <p:cNvSpPr txBox="1"/>
            <p:nvPr/>
          </p:nvSpPr>
          <p:spPr>
            <a:xfrm>
              <a:off x="7533231" y="3136582"/>
              <a:ext cx="287838"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j-lt"/>
                  <a:ea typeface="+mj-ea"/>
                  <a:cs typeface="+mj-cs"/>
                </a:rPr>
                <a:t>φ⁺</a:t>
              </a:r>
            </a:p>
          </p:txBody>
        </p:sp>
        <p:sp>
          <p:nvSpPr>
            <p:cNvPr id="35" name="TextBox 35"/>
            <p:cNvSpPr txBox="1"/>
            <p:nvPr/>
          </p:nvSpPr>
          <p:spPr>
            <a:xfrm>
              <a:off x="7329526" y="3470910"/>
              <a:ext cx="695249"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 Yes.”</a:t>
              </a:r>
            </a:p>
          </p:txBody>
        </p:sp>
        <p:sp>
          <p:nvSpPr>
            <p:cNvPr id="36" name="TextBox 36"/>
            <p:cNvSpPr txBox="1"/>
            <p:nvPr/>
          </p:nvSpPr>
          <p:spPr>
            <a:xfrm>
              <a:off x="7155599" y="3799999"/>
              <a:ext cx="104310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activation set A</a:t>
              </a:r>
            </a:p>
          </p:txBody>
        </p:sp>
        <p:sp>
          <p:nvSpPr>
            <p:cNvPr id="37" name="Rectangle 37"/>
            <p:cNvSpPr/>
            <p:nvPr/>
          </p:nvSpPr>
          <p:spPr>
            <a:xfrm>
              <a:off x="8991600" y="3009900"/>
              <a:ext cx="2324100" cy="1143000"/>
            </a:xfrm>
            <a:prstGeom prst="roundRect">
              <a:avLst>
                <a:gd name="adj" fmla="val 8333"/>
              </a:avLst>
            </a:prstGeom>
            <a:solidFill>
              <a:srgbClr val="F3EEFE"/>
            </a:solidFill>
            <a:ln w="14288">
              <a:solidFill>
                <a:schemeClr val="accent6"/>
              </a:solidFill>
            </a:ln>
          </p:spPr>
        </p:sp>
        <p:sp>
          <p:nvSpPr>
            <p:cNvPr id="38" name="TextBox 38"/>
            <p:cNvSpPr txBox="1"/>
            <p:nvPr/>
          </p:nvSpPr>
          <p:spPr>
            <a:xfrm>
              <a:off x="10009731" y="3136582"/>
              <a:ext cx="287838"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φ⁻</a:t>
              </a:r>
            </a:p>
          </p:txBody>
        </p:sp>
        <p:sp>
          <p:nvSpPr>
            <p:cNvPr id="39" name="TextBox 39"/>
            <p:cNvSpPr txBox="1"/>
            <p:nvPr/>
          </p:nvSpPr>
          <p:spPr>
            <a:xfrm>
              <a:off x="9848545" y="3470910"/>
              <a:ext cx="610210"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 No.”</a:t>
              </a:r>
            </a:p>
          </p:txBody>
        </p:sp>
        <p:sp>
          <p:nvSpPr>
            <p:cNvPr id="40" name="TextBox 40"/>
            <p:cNvSpPr txBox="1"/>
            <p:nvPr/>
          </p:nvSpPr>
          <p:spPr>
            <a:xfrm>
              <a:off x="9632099" y="3799999"/>
              <a:ext cx="104310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activation set B</a:t>
              </a:r>
            </a:p>
          </p:txBody>
        </p:sp>
        <p:sp>
          <p:nvSpPr>
            <p:cNvPr id="41" name="Rectangle 41"/>
            <p:cNvSpPr/>
            <p:nvPr/>
          </p:nvSpPr>
          <p:spPr>
            <a:xfrm>
              <a:off x="6515100" y="4324350"/>
              <a:ext cx="4800600" cy="666750"/>
            </a:xfrm>
            <a:prstGeom prst="roundRect">
              <a:avLst>
                <a:gd name="adj" fmla="val 14286"/>
              </a:avLst>
            </a:prstGeom>
            <a:solidFill>
              <a:srgbClr val="ECFDF5"/>
            </a:solidFill>
            <a:ln w="14288">
              <a:solidFill>
                <a:srgbClr val="059669"/>
              </a:solidFill>
            </a:ln>
          </p:spPr>
        </p:sp>
        <p:sp>
          <p:nvSpPr>
            <p:cNvPr id="42" name="TextBox 42"/>
            <p:cNvSpPr txBox="1"/>
            <p:nvPr/>
          </p:nvSpPr>
          <p:spPr>
            <a:xfrm>
              <a:off x="6699504" y="4480560"/>
              <a:ext cx="2833217"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Each set normalized independently</a:t>
              </a:r>
            </a:p>
          </p:txBody>
        </p:sp>
        <p:sp>
          <p:nvSpPr>
            <p:cNvPr id="43" name="TextBox 43"/>
            <p:cNvSpPr txBox="1"/>
            <p:nvPr/>
          </p:nvSpPr>
          <p:spPr>
            <a:xfrm>
              <a:off x="6699885" y="4717256"/>
              <a:ext cx="3697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removes the mean of each answer set separately.</a:t>
              </a:r>
            </a:p>
          </p:txBody>
        </p:sp>
        <p:sp>
          <p:nvSpPr>
            <p:cNvPr id="44" name="Rectangle 44"/>
            <p:cNvSpPr/>
            <p:nvPr/>
          </p:nvSpPr>
          <p:spPr>
            <a:xfrm>
              <a:off x="6515100" y="5105400"/>
              <a:ext cx="4800600" cy="723900"/>
            </a:xfrm>
            <a:prstGeom prst="roundRect">
              <a:avLst>
                <a:gd name="adj" fmla="val 13158"/>
              </a:avLst>
            </a:prstGeom>
            <a:solidFill>
              <a:schemeClr val="accent1"/>
            </a:solidFill>
            <a:ln>
              <a:noFill/>
            </a:ln>
          </p:spPr>
        </p:sp>
        <p:sp>
          <p:nvSpPr>
            <p:cNvPr id="45" name="TextBox 45"/>
            <p:cNvSpPr txBox="1"/>
            <p:nvPr/>
          </p:nvSpPr>
          <p:spPr>
            <a:xfrm>
              <a:off x="6699504" y="5280660"/>
              <a:ext cx="208773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So the probe can't cheat</a:t>
              </a:r>
            </a:p>
          </p:txBody>
        </p:sp>
        <p:sp>
          <p:nvSpPr>
            <p:cNvPr id="46" name="TextBox 46"/>
            <p:cNvSpPr txBox="1"/>
            <p:nvPr/>
          </p:nvSpPr>
          <p:spPr>
            <a:xfrm>
              <a:off x="6699885" y="5536406"/>
              <a:ext cx="3863716"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it cannot simply detect which answer was appended.</a:t>
              </a:r>
            </a:p>
          </p:txBody>
        </p:sp>
      </p:grpSp>
      <p:grpSp>
        <p:nvGrpSpPr>
          <p:cNvPr id="50" name="Group 50"/>
          <p:cNvGrpSpPr/>
          <p:nvPr/>
        </p:nvGrpSpPr>
        <p:grpSpPr>
          <a:xfrm>
            <a:off x="604838" y="6521291"/>
            <a:ext cx="10982324" cy="161925"/>
            <a:chOff x="604838" y="6521291"/>
            <a:chExt cx="10982324" cy="161925"/>
          </a:xfrm>
        </p:grpSpPr>
        <p:sp>
          <p:nvSpPr>
            <p:cNvPr id="48" name="TextBox 48"/>
            <p:cNvSpPr txBox="1"/>
            <p:nvPr/>
          </p:nvSpPr>
          <p:spPr>
            <a:xfrm>
              <a:off x="604838" y="6521291"/>
              <a:ext cx="1662408"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§4 Experimental setup</a:t>
              </a:r>
            </a:p>
          </p:txBody>
        </p:sp>
        <p:sp>
          <p:nvSpPr>
            <p:cNvPr id="49" name="TextBox 4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904395" cy="656939"/>
            <a:chOff x="571500" y="533400"/>
            <a:chExt cx="6904395"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68874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MD recovers CCS's probe direction</a:t>
              </a:r>
            </a:p>
          </p:txBody>
        </p:sp>
        <p:sp>
          <p:nvSpPr>
            <p:cNvPr id="4" name="TextBox 4"/>
            <p:cNvSpPr txBox="1"/>
            <p:nvPr/>
          </p:nvSpPr>
          <p:spPr>
            <a:xfrm>
              <a:off x="795147" y="999649"/>
              <a:ext cx="328385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COSINE SIMILARITY TO CCS</a:t>
              </a:r>
            </a:p>
          </p:txBody>
        </p:sp>
      </p:grpSp>
      <p:grpSp>
        <p:nvGrpSpPr>
          <p:cNvPr id="18" name="Group 18"/>
          <p:cNvGrpSpPr/>
          <p:nvPr/>
        </p:nvGrpSpPr>
        <p:grpSpPr>
          <a:xfrm>
            <a:off x="609600" y="1524000"/>
            <a:ext cx="6705600" cy="4552950"/>
            <a:chOff x="609600" y="1524000"/>
            <a:chExt cx="6705600" cy="4552950"/>
          </a:xfrm>
        </p:grpSpPr>
        <p:sp>
          <p:nvSpPr>
            <p:cNvPr id="6" name="Rectangle 6"/>
            <p:cNvSpPr/>
            <p:nvPr/>
          </p:nvSpPr>
          <p:spPr>
            <a:xfrm>
              <a:off x="609600" y="1524000"/>
              <a:ext cx="6705600" cy="4552950"/>
            </a:xfrm>
            <a:prstGeom prst="roundRect">
              <a:avLst>
                <a:gd name="adj" fmla="val 2929"/>
              </a:avLst>
            </a:prstGeom>
            <a:solidFill>
              <a:schemeClr val="accent5"/>
            </a:solidFill>
            <a:ln w="14288">
              <a:solidFill>
                <a:schemeClr val="accent4"/>
              </a:solidFill>
            </a:ln>
          </p:spPr>
        </p:sp>
        <p:sp>
          <p:nvSpPr>
            <p:cNvPr id="7" name="TextBox 7"/>
            <p:cNvSpPr txBox="1"/>
            <p:nvPr/>
          </p:nvSpPr>
          <p:spPr>
            <a:xfrm>
              <a:off x="871347" y="1799749"/>
              <a:ext cx="515393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AVG. COSINE SIMILARITY OF LEARNED PROBE DIRECTIONS TO CCS</a:t>
              </a:r>
            </a:p>
          </p:txBody>
        </p:sp>
        <p:sp>
          <p:nvSpPr>
            <p:cNvPr id="8" name="Line 8"/>
            <p:cNvSpPr/>
            <p:nvPr/>
          </p:nvSpPr>
          <p:spPr>
            <a:xfrm>
              <a:off x="1428750" y="2590800"/>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9" name="Line 9"/>
            <p:cNvSpPr/>
            <p:nvPr/>
          </p:nvSpPr>
          <p:spPr>
            <a:xfrm>
              <a:off x="1428750" y="3305175"/>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0" name="Line 10"/>
            <p:cNvSpPr/>
            <p:nvPr/>
          </p:nvSpPr>
          <p:spPr>
            <a:xfrm>
              <a:off x="1428750" y="4019550"/>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1" name="Line 11"/>
            <p:cNvSpPr/>
            <p:nvPr/>
          </p:nvSpPr>
          <p:spPr>
            <a:xfrm>
              <a:off x="1428750" y="4733925"/>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2" name="Line 12"/>
            <p:cNvSpPr/>
            <p:nvPr/>
          </p:nvSpPr>
          <p:spPr>
            <a:xfrm>
              <a:off x="1428750" y="5448300"/>
              <a:ext cx="5619750" cy="9525"/>
            </a:xfrm>
            <a:custGeom>
              <a:avLst/>
              <a:gdLst/>
              <a:ahLst/>
              <a:cxnLst/>
              <a:rect l="l" t="t" r="r" b="b"/>
              <a:pathLst>
                <a:path w="5619750" h="9525">
                  <a:moveTo>
                    <a:pt x="0" y="0"/>
                  </a:moveTo>
                  <a:lnTo>
                    <a:pt x="5619750" y="0"/>
                  </a:lnTo>
                </a:path>
              </a:pathLst>
            </a:custGeom>
            <a:noFill/>
            <a:ln w="14288">
              <a:solidFill>
                <a:srgbClr val="94A3B8"/>
              </a:solidFill>
            </a:ln>
          </p:spPr>
        </p:sp>
        <p:sp>
          <p:nvSpPr>
            <p:cNvPr id="13" name="TextBox 13"/>
            <p:cNvSpPr txBox="1"/>
            <p:nvPr/>
          </p:nvSpPr>
          <p:spPr>
            <a:xfrm>
              <a:off x="1128827" y="2541270"/>
              <a:ext cx="209436"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1.0</a:t>
              </a:r>
            </a:p>
          </p:txBody>
        </p:sp>
        <p:sp>
          <p:nvSpPr>
            <p:cNvPr id="14" name="TextBox 14"/>
            <p:cNvSpPr txBox="1"/>
            <p:nvPr/>
          </p:nvSpPr>
          <p:spPr>
            <a:xfrm>
              <a:off x="1062190" y="325564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0.75</a:t>
              </a:r>
            </a:p>
          </p:txBody>
        </p:sp>
        <p:sp>
          <p:nvSpPr>
            <p:cNvPr id="15" name="TextBox 15"/>
            <p:cNvSpPr txBox="1"/>
            <p:nvPr/>
          </p:nvSpPr>
          <p:spPr>
            <a:xfrm>
              <a:off x="1128827" y="3970020"/>
              <a:ext cx="209436"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0.5</a:t>
              </a:r>
            </a:p>
          </p:txBody>
        </p:sp>
        <p:sp>
          <p:nvSpPr>
            <p:cNvPr id="16" name="TextBox 16"/>
            <p:cNvSpPr txBox="1"/>
            <p:nvPr/>
          </p:nvSpPr>
          <p:spPr>
            <a:xfrm>
              <a:off x="1062190" y="468439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0.25</a:t>
              </a:r>
            </a:p>
          </p:txBody>
        </p:sp>
        <p:sp>
          <p:nvSpPr>
            <p:cNvPr id="17" name="TextBox 17"/>
            <p:cNvSpPr txBox="1"/>
            <p:nvPr/>
          </p:nvSpPr>
          <p:spPr>
            <a:xfrm>
              <a:off x="1262101" y="5398770"/>
              <a:ext cx="76162"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a:t>
              </a:r>
            </a:p>
          </p:txBody>
        </p:sp>
      </p:grpSp>
      <p:grpSp>
        <p:nvGrpSpPr>
          <p:cNvPr id="27" name="Group 27"/>
          <p:cNvGrpSpPr/>
          <p:nvPr/>
        </p:nvGrpSpPr>
        <p:grpSpPr>
          <a:xfrm>
            <a:off x="1714500" y="2894648"/>
            <a:ext cx="2890020" cy="3051809"/>
            <a:chOff x="1714500" y="2894648"/>
            <a:chExt cx="2890020" cy="3051809"/>
          </a:xfrm>
        </p:grpSpPr>
        <p:sp>
          <p:nvSpPr>
            <p:cNvPr id="19" name="Rectangle 19"/>
            <p:cNvSpPr/>
            <p:nvPr/>
          </p:nvSpPr>
          <p:spPr>
            <a:xfrm>
              <a:off x="1714500" y="3219450"/>
              <a:ext cx="1123950" cy="2228850"/>
            </a:xfrm>
            <a:prstGeom prst="rect">
              <a:avLst/>
            </a:prstGeom>
            <a:solidFill>
              <a:schemeClr val="accent1"/>
            </a:solidFill>
            <a:ln>
              <a:noFill/>
            </a:ln>
          </p:spPr>
        </p:sp>
        <p:sp>
          <p:nvSpPr>
            <p:cNvPr id="20" name="TextBox 20"/>
            <p:cNvSpPr txBox="1"/>
            <p:nvPr/>
          </p:nvSpPr>
          <p:spPr>
            <a:xfrm>
              <a:off x="1946209" y="2894648"/>
              <a:ext cx="660532"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0.78</a:t>
              </a:r>
            </a:p>
          </p:txBody>
        </p:sp>
        <p:sp>
          <p:nvSpPr>
            <p:cNvPr id="21" name="TextBox 21"/>
            <p:cNvSpPr txBox="1"/>
            <p:nvPr/>
          </p:nvSpPr>
          <p:spPr>
            <a:xfrm>
              <a:off x="1922217" y="5563552"/>
              <a:ext cx="708515"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CCS ↔ CCS</a:t>
              </a:r>
            </a:p>
          </p:txBody>
        </p:sp>
        <p:sp>
          <p:nvSpPr>
            <p:cNvPr id="22" name="TextBox 22"/>
            <p:cNvSpPr txBox="1"/>
            <p:nvPr/>
          </p:nvSpPr>
          <p:spPr>
            <a:xfrm>
              <a:off x="1835544" y="5770245"/>
              <a:ext cx="881863"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self-similarity</a:t>
              </a:r>
            </a:p>
          </p:txBody>
        </p:sp>
        <p:sp>
          <p:nvSpPr>
            <p:cNvPr id="23" name="Rectangle 23"/>
            <p:cNvSpPr/>
            <p:nvPr/>
          </p:nvSpPr>
          <p:spPr>
            <a:xfrm>
              <a:off x="3429000" y="3648075"/>
              <a:ext cx="1123950" cy="1800225"/>
            </a:xfrm>
            <a:prstGeom prst="rect">
              <a:avLst/>
            </a:prstGeom>
            <a:solidFill>
              <a:schemeClr val="accent6"/>
            </a:solidFill>
            <a:ln>
              <a:noFill/>
            </a:ln>
          </p:spPr>
        </p:sp>
        <p:sp>
          <p:nvSpPr>
            <p:cNvPr id="24" name="TextBox 24"/>
            <p:cNvSpPr txBox="1"/>
            <p:nvPr/>
          </p:nvSpPr>
          <p:spPr>
            <a:xfrm>
              <a:off x="3609899" y="3290888"/>
              <a:ext cx="76215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j-lt"/>
                  <a:ea typeface="+mj-ea"/>
                  <a:cs typeface="+mj-cs"/>
                </a:rPr>
                <a:t>0.63</a:t>
              </a:r>
            </a:p>
          </p:txBody>
        </p:sp>
        <p:sp>
          <p:nvSpPr>
            <p:cNvPr id="25" name="TextBox 25"/>
            <p:cNvSpPr txBox="1"/>
            <p:nvPr/>
          </p:nvSpPr>
          <p:spPr>
            <a:xfrm>
              <a:off x="3711207" y="5563552"/>
              <a:ext cx="559537"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MD-CCS</a:t>
              </a:r>
            </a:p>
          </p:txBody>
        </p:sp>
        <p:sp>
          <p:nvSpPr>
            <p:cNvPr id="26" name="TextBox 26"/>
            <p:cNvSpPr txBox="1"/>
            <p:nvPr/>
          </p:nvSpPr>
          <p:spPr>
            <a:xfrm>
              <a:off x="3377431" y="5770245"/>
              <a:ext cx="1227089"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tuned to imitate CCS</a:t>
              </a:r>
            </a:p>
          </p:txBody>
        </p:sp>
      </p:grpSp>
      <p:grpSp>
        <p:nvGrpSpPr>
          <p:cNvPr id="32" name="Group 32"/>
          <p:cNvGrpSpPr/>
          <p:nvPr/>
        </p:nvGrpSpPr>
        <p:grpSpPr>
          <a:xfrm>
            <a:off x="5236959" y="4727258"/>
            <a:ext cx="1318031" cy="1219199"/>
            <a:chOff x="5236959" y="4727258"/>
            <a:chExt cx="1318031" cy="1219199"/>
          </a:xfrm>
        </p:grpSpPr>
        <p:sp>
          <p:nvSpPr>
            <p:cNvPr id="28" name="Rectangle 28"/>
            <p:cNvSpPr/>
            <p:nvPr/>
          </p:nvSpPr>
          <p:spPr>
            <a:xfrm>
              <a:off x="5334000" y="5019675"/>
              <a:ext cx="1123950" cy="428625"/>
            </a:xfrm>
            <a:prstGeom prst="rect">
              <a:avLst/>
            </a:prstGeom>
            <a:solidFill>
              <a:srgbClr val="94A3B8"/>
            </a:solidFill>
            <a:ln>
              <a:noFill/>
            </a:ln>
          </p:spPr>
        </p:sp>
        <p:sp>
          <p:nvSpPr>
            <p:cNvPr id="29" name="TextBox 29"/>
            <p:cNvSpPr txBox="1"/>
            <p:nvPr/>
          </p:nvSpPr>
          <p:spPr>
            <a:xfrm>
              <a:off x="5548751" y="4727258"/>
              <a:ext cx="694449"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j-lt"/>
                  <a:ea typeface="+mj-ea"/>
                  <a:cs typeface="+mj-cs"/>
                </a:rPr>
                <a:t>~0.15</a:t>
              </a:r>
            </a:p>
          </p:txBody>
        </p:sp>
        <p:sp>
          <p:nvSpPr>
            <p:cNvPr id="30" name="TextBox 30"/>
            <p:cNvSpPr txBox="1"/>
            <p:nvPr/>
          </p:nvSpPr>
          <p:spPr>
            <a:xfrm>
              <a:off x="5333931" y="5563552"/>
              <a:ext cx="1124087"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PCA / MA / SMR</a:t>
              </a:r>
            </a:p>
          </p:txBody>
        </p:sp>
        <p:sp>
          <p:nvSpPr>
            <p:cNvPr id="31" name="TextBox 31"/>
            <p:cNvSpPr txBox="1"/>
            <p:nvPr/>
          </p:nvSpPr>
          <p:spPr>
            <a:xfrm>
              <a:off x="5236959" y="5770245"/>
              <a:ext cx="1318031"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other accurate losses</a:t>
              </a:r>
            </a:p>
          </p:txBody>
        </p:sp>
      </p:grpSp>
      <p:grpSp>
        <p:nvGrpSpPr>
          <p:cNvPr id="39" name="Group 39"/>
          <p:cNvGrpSpPr/>
          <p:nvPr/>
        </p:nvGrpSpPr>
        <p:grpSpPr>
          <a:xfrm>
            <a:off x="7505700" y="1524000"/>
            <a:ext cx="4076700" cy="4552950"/>
            <a:chOff x="7505700" y="1524000"/>
            <a:chExt cx="4076700" cy="4552950"/>
          </a:xfrm>
        </p:grpSpPr>
        <p:sp>
          <p:nvSpPr>
            <p:cNvPr id="33" name="Rectangle 33"/>
            <p:cNvSpPr/>
            <p:nvPr/>
          </p:nvSpPr>
          <p:spPr>
            <a:xfrm>
              <a:off x="7505700" y="1524000"/>
              <a:ext cx="4076700" cy="4552950"/>
            </a:xfrm>
            <a:prstGeom prst="roundRect">
              <a:avLst>
                <a:gd name="adj" fmla="val 3271"/>
              </a:avLst>
            </a:prstGeom>
            <a:solidFill>
              <a:schemeClr val="lt1"/>
            </a:solidFill>
            <a:ln w="14288">
              <a:solidFill>
                <a:schemeClr val="accent4"/>
              </a:solidFill>
            </a:ln>
            <a:effectLst>
              <a:outerShdw blurRad="95250" dist="28575" dir="5400000" algn="ctr" rotWithShape="0">
                <a:srgbClr val="12243B">
                  <a:alpha val="7500"/>
                </a:srgbClr>
              </a:outerShdw>
            </a:effectLst>
          </p:spPr>
        </p:sp>
        <p:sp>
          <p:nvSpPr>
            <p:cNvPr id="34" name="TextBox 34"/>
            <p:cNvSpPr txBox="1"/>
            <p:nvPr/>
          </p:nvSpPr>
          <p:spPr>
            <a:xfrm>
              <a:off x="7729347" y="1761649"/>
              <a:ext cx="2087492"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FIGURE 1 · CCS GEOMETRY</a:t>
              </a:r>
            </a:p>
          </p:txBody>
        </p:sp>
        <p:pic>
          <p:nvPicPr>
            <p:cNvPr id="35" name="Image 35"/>
            <p:cNvPicPr>
              <a:picLocks noChangeAspect="1"/>
            </p:cNvPicPr>
            <p:nvPr/>
          </p:nvPicPr>
          <p:blipFill>
            <a:blip r:embed="rId2"/>
            <a:stretch>
              <a:fillRect/>
            </a:stretch>
          </p:blipFill>
          <p:spPr>
            <a:xfrm>
              <a:off x="7734300" y="2019300"/>
              <a:ext cx="3619500" cy="2886075"/>
            </a:xfrm>
            <a:prstGeom prst="rect">
              <a:avLst/>
            </a:prstGeom>
          </p:spPr>
        </p:pic>
        <p:sp>
          <p:nvSpPr>
            <p:cNvPr id="36" name="TextBox 36"/>
            <p:cNvSpPr txBox="1"/>
            <p:nvPr/>
          </p:nvSpPr>
          <p:spPr>
            <a:xfrm>
              <a:off x="7728966" y="5087302"/>
              <a:ext cx="29308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Datapoints projected onto PC1 (x) and the</a:t>
              </a:r>
            </a:p>
          </p:txBody>
        </p:sp>
        <p:sp>
          <p:nvSpPr>
            <p:cNvPr id="37" name="TextBox 37"/>
            <p:cNvSpPr txBox="1"/>
            <p:nvPr/>
          </p:nvSpPr>
          <p:spPr>
            <a:xfrm>
              <a:off x="7728966" y="5296852"/>
              <a:ext cx="30073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probe direction θ̂ (y); colour = truth label.</a:t>
              </a:r>
            </a:p>
          </p:txBody>
        </p:sp>
        <p:sp>
          <p:nvSpPr>
            <p:cNvPr id="38" name="TextBox 38"/>
            <p:cNvSpPr txBox="1"/>
            <p:nvPr/>
          </p:nvSpPr>
          <p:spPr>
            <a:xfrm>
              <a:off x="7728585" y="5650706"/>
              <a:ext cx="2820528" cy="220028"/>
            </a:xfrm>
            <a:prstGeom prst="rect">
              <a:avLst/>
            </a:prstGeom>
            <a:noFill/>
            <a:ln>
              <a:noFill/>
            </a:ln>
          </p:spPr>
          <p:txBody>
            <a:bodyPr wrap="none" lIns="0" tIns="0" rIns="0" bIns="0" anchor="t" anchorCtr="0">
              <a:spAutoFit/>
            </a:bodyPr>
            <a:lstStyle/>
            <a:p>
              <a:pPr algn="l"/>
              <a:r>
                <a:rPr lang="en-US" sz="1120" i="1" dirty="0">
                  <a:solidFill>
                    <a:schemeClr val="accent6"/>
                  </a:solidFill>
                  <a:latin typeface="+mj-lt"/>
                  <a:ea typeface="+mj-ea"/>
                  <a:cs typeface="+mj-cs"/>
                </a:rPr>
                <a:t>Chance of 0.63 at random ≈ 10⁻²³⁷.</a:t>
              </a:r>
            </a:p>
          </p:txBody>
        </p:sp>
      </p:grpSp>
      <p:grpSp>
        <p:nvGrpSpPr>
          <p:cNvPr id="42" name="Group 42"/>
          <p:cNvGrpSpPr/>
          <p:nvPr/>
        </p:nvGrpSpPr>
        <p:grpSpPr>
          <a:xfrm>
            <a:off x="604838" y="6521291"/>
            <a:ext cx="10982324" cy="161925"/>
            <a:chOff x="604838" y="6521291"/>
            <a:chExt cx="10982324" cy="161925"/>
          </a:xfrm>
        </p:grpSpPr>
        <p:sp>
          <p:nvSpPr>
            <p:cNvPr id="40" name="TextBox 40"/>
            <p:cNvSpPr txBox="1"/>
            <p:nvPr/>
          </p:nvSpPr>
          <p:spPr>
            <a:xfrm>
              <a:off x="604838" y="6521291"/>
              <a:ext cx="354949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Results · cosine similarity of learned probe directions</a:t>
              </a:r>
            </a:p>
          </p:txBody>
        </p:sp>
        <p:sp>
          <p:nvSpPr>
            <p:cNvPr id="41" name="TextBox 41"/>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500533" cy="656939"/>
            <a:chOff x="571500" y="533400"/>
            <a:chExt cx="6500533"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28488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One knob λ decides the trade-off</a:t>
              </a:r>
            </a:p>
          </p:txBody>
        </p:sp>
        <p:sp>
          <p:nvSpPr>
            <p:cNvPr id="4" name="TextBox 4"/>
            <p:cNvSpPr txBox="1"/>
            <p:nvPr/>
          </p:nvSpPr>
          <p:spPr>
            <a:xfrm>
              <a:off x="795147" y="999649"/>
              <a:ext cx="301847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STUDY · MD-CCS vs MD-Acc</a:t>
              </a:r>
            </a:p>
          </p:txBody>
        </p:sp>
      </p:grpSp>
      <p:grpSp>
        <p:nvGrpSpPr>
          <p:cNvPr id="11" name="Group 11"/>
          <p:cNvGrpSpPr/>
          <p:nvPr/>
        </p:nvGrpSpPr>
        <p:grpSpPr>
          <a:xfrm>
            <a:off x="609600" y="1524000"/>
            <a:ext cx="10972800" cy="1123950"/>
            <a:chOff x="609600" y="1524000"/>
            <a:chExt cx="10972800" cy="1123950"/>
          </a:xfrm>
        </p:grpSpPr>
        <p:sp>
          <p:nvSpPr>
            <p:cNvPr id="6" name="Rectangle 6"/>
            <p:cNvSpPr/>
            <p:nvPr/>
          </p:nvSpPr>
          <p:spPr>
            <a:xfrm>
              <a:off x="609600" y="1524000"/>
              <a:ext cx="10972800" cy="1123950"/>
            </a:xfrm>
            <a:prstGeom prst="roundRect">
              <a:avLst>
                <a:gd name="adj" fmla="val 11864"/>
              </a:avLst>
            </a:prstGeom>
            <a:solidFill>
              <a:srgbClr val="F3EEFE"/>
            </a:solidFill>
            <a:ln>
              <a:noFill/>
            </a:ln>
          </p:spPr>
        </p:sp>
        <p:sp>
          <p:nvSpPr>
            <p:cNvPr id="7" name="Rectangle 7"/>
            <p:cNvSpPr/>
            <p:nvPr/>
          </p:nvSpPr>
          <p:spPr>
            <a:xfrm>
              <a:off x="609600" y="1524000"/>
              <a:ext cx="57150" cy="1123950"/>
            </a:xfrm>
            <a:prstGeom prst="roundRect">
              <a:avLst>
                <a:gd name="adj" fmla="val 50000"/>
              </a:avLst>
            </a:prstGeom>
            <a:solidFill>
              <a:schemeClr val="accent6"/>
            </a:solidFill>
            <a:ln>
              <a:noFill/>
            </a:ln>
          </p:spPr>
        </p:sp>
        <p:sp>
          <p:nvSpPr>
            <p:cNvPr id="8" name="TextBox 8"/>
            <p:cNvSpPr txBox="1"/>
            <p:nvPr/>
          </p:nvSpPr>
          <p:spPr>
            <a:xfrm>
              <a:off x="909447" y="1780699"/>
              <a:ext cx="2985944"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A CLEAN, SINGLE-VARIABLE ABLATION</a:t>
              </a:r>
            </a:p>
          </p:txBody>
        </p:sp>
        <p:sp>
          <p:nvSpPr>
            <p:cNvPr id="9" name="TextBox 9"/>
            <p:cNvSpPr txBox="1"/>
            <p:nvPr/>
          </p:nvSpPr>
          <p:spPr>
            <a:xfrm>
              <a:off x="906780" y="2066925"/>
              <a:ext cx="835008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The two variants share everything but </a:t>
              </a:r>
              <a:r>
                <a:rPr lang="en-US" sz="1500" b="1" dirty="0">
                  <a:solidFill>
                    <a:schemeClr val="accent6"/>
                  </a:solidFill>
                  <a:latin typeface="+mn-lt"/>
                  <a:ea typeface="+mn-ea"/>
                  <a:cs typeface="+mn-cs"/>
                </a:rPr>
                <a:t>one hyper-parameter, λ</a:t>
              </a:r>
              <a:r>
                <a:rPr lang="en-US" sz="1500" dirty="0">
                  <a:solidFill>
                    <a:schemeClr val="dk1"/>
                  </a:solidFill>
                  <a:latin typeface="+mn-lt"/>
                  <a:ea typeface="+mn-ea"/>
                  <a:cs typeface="+mn-cs"/>
                </a:rPr>
                <a:t xml:space="preserve"> — so any difference</a:t>
              </a:r>
            </a:p>
          </p:txBody>
        </p:sp>
        <p:sp>
          <p:nvSpPr>
            <p:cNvPr id="10" name="TextBox 10"/>
            <p:cNvSpPr txBox="1"/>
            <p:nvPr/>
          </p:nvSpPr>
          <p:spPr>
            <a:xfrm>
              <a:off x="906780" y="2333625"/>
              <a:ext cx="702221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between them isolates the displacement-vs-midpoint trade-off itself.</a:t>
              </a:r>
            </a:p>
          </p:txBody>
        </p:sp>
      </p:grpSp>
      <p:grpSp>
        <p:nvGrpSpPr>
          <p:cNvPr id="24" name="Group 24"/>
          <p:cNvGrpSpPr/>
          <p:nvPr/>
        </p:nvGrpSpPr>
        <p:grpSpPr>
          <a:xfrm>
            <a:off x="609600" y="2876550"/>
            <a:ext cx="5334000" cy="3200400"/>
            <a:chOff x="609600" y="2876550"/>
            <a:chExt cx="5334000" cy="3200400"/>
          </a:xfrm>
        </p:grpSpPr>
        <p:sp>
          <p:nvSpPr>
            <p:cNvPr id="12" name="Rectangle 12"/>
            <p:cNvSpPr/>
            <p:nvPr/>
          </p:nvSpPr>
          <p:spPr>
            <a:xfrm>
              <a:off x="609600" y="2876550"/>
              <a:ext cx="5334000" cy="3200400"/>
            </a:xfrm>
            <a:prstGeom prst="roundRect">
              <a:avLst>
                <a:gd name="adj" fmla="val 4167"/>
              </a:avLst>
            </a:prstGeom>
            <a:solidFill>
              <a:schemeClr val="accent5"/>
            </a:solidFill>
            <a:ln w="14288">
              <a:solidFill>
                <a:schemeClr val="accent4"/>
              </a:solidFill>
            </a:ln>
          </p:spPr>
        </p:sp>
        <p:sp>
          <p:nvSpPr>
            <p:cNvPr id="13" name="Rectangle 13"/>
            <p:cNvSpPr/>
            <p:nvPr/>
          </p:nvSpPr>
          <p:spPr>
            <a:xfrm>
              <a:off x="609600" y="2876550"/>
              <a:ext cx="5334000" cy="57150"/>
            </a:xfrm>
            <a:prstGeom prst="roundRect">
              <a:avLst>
                <a:gd name="adj" fmla="val 50000"/>
              </a:avLst>
            </a:prstGeom>
            <a:solidFill>
              <a:schemeClr val="accent6"/>
            </a:solidFill>
            <a:ln>
              <a:noFill/>
            </a:ln>
          </p:spPr>
        </p:sp>
        <p:sp>
          <p:nvSpPr>
            <p:cNvPr id="14" name="TextBox 14"/>
            <p:cNvSpPr txBox="1"/>
            <p:nvPr/>
          </p:nvSpPr>
          <p:spPr>
            <a:xfrm>
              <a:off x="871347" y="3152299"/>
              <a:ext cx="214001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COSINE SIMILARITY TO CCS</a:t>
              </a:r>
            </a:p>
          </p:txBody>
        </p:sp>
        <p:sp>
          <p:nvSpPr>
            <p:cNvPr id="15" name="Line 15"/>
            <p:cNvSpPr/>
            <p:nvPr/>
          </p:nvSpPr>
          <p:spPr>
            <a:xfrm>
              <a:off x="1428750" y="5524500"/>
              <a:ext cx="4248150" cy="9525"/>
            </a:xfrm>
            <a:custGeom>
              <a:avLst/>
              <a:gdLst/>
              <a:ahLst/>
              <a:cxnLst/>
              <a:rect l="l" t="t" r="r" b="b"/>
              <a:pathLst>
                <a:path w="4248150" h="9525">
                  <a:moveTo>
                    <a:pt x="0" y="0"/>
                  </a:moveTo>
                  <a:lnTo>
                    <a:pt x="4248150" y="0"/>
                  </a:lnTo>
                </a:path>
              </a:pathLst>
            </a:custGeom>
            <a:noFill/>
            <a:ln w="14288">
              <a:solidFill>
                <a:srgbClr val="94A3B8"/>
              </a:solidFill>
            </a:ln>
          </p:spPr>
        </p:sp>
        <p:sp>
          <p:nvSpPr>
            <p:cNvPr id="16" name="Rectangle 16"/>
            <p:cNvSpPr/>
            <p:nvPr/>
          </p:nvSpPr>
          <p:spPr>
            <a:xfrm>
              <a:off x="1905000" y="4029075"/>
              <a:ext cx="1143000" cy="1495425"/>
            </a:xfrm>
            <a:prstGeom prst="rect">
              <a:avLst/>
            </a:prstGeom>
            <a:solidFill>
              <a:schemeClr val="accent6"/>
            </a:solidFill>
            <a:ln>
              <a:noFill/>
            </a:ln>
          </p:spPr>
        </p:sp>
        <p:sp>
          <p:nvSpPr>
            <p:cNvPr id="17" name="TextBox 17"/>
            <p:cNvSpPr txBox="1"/>
            <p:nvPr/>
          </p:nvSpPr>
          <p:spPr>
            <a:xfrm>
              <a:off x="2146234" y="3694748"/>
              <a:ext cx="660532"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j-lt"/>
                  <a:ea typeface="+mj-ea"/>
                  <a:cs typeface="+mj-cs"/>
                </a:rPr>
                <a:t>0.63</a:t>
              </a:r>
            </a:p>
          </p:txBody>
        </p:sp>
        <p:sp>
          <p:nvSpPr>
            <p:cNvPr id="18" name="TextBox 18"/>
            <p:cNvSpPr txBox="1"/>
            <p:nvPr/>
          </p:nvSpPr>
          <p:spPr>
            <a:xfrm>
              <a:off x="2178055" y="5631656"/>
              <a:ext cx="596890"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MD-CCS</a:t>
              </a:r>
            </a:p>
          </p:txBody>
        </p:sp>
        <p:sp>
          <p:nvSpPr>
            <p:cNvPr id="19" name="TextBox 19"/>
            <p:cNvSpPr txBox="1"/>
            <p:nvPr/>
          </p:nvSpPr>
          <p:spPr>
            <a:xfrm>
              <a:off x="2102091" y="5846445"/>
              <a:ext cx="748817"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λ mimics CCS</a:t>
              </a:r>
            </a:p>
          </p:txBody>
        </p:sp>
        <p:sp>
          <p:nvSpPr>
            <p:cNvPr id="20" name="Rectangle 20"/>
            <p:cNvSpPr/>
            <p:nvPr/>
          </p:nvSpPr>
          <p:spPr>
            <a:xfrm>
              <a:off x="3905250" y="4619625"/>
              <a:ext cx="1143000" cy="904875"/>
            </a:xfrm>
            <a:prstGeom prst="rect">
              <a:avLst/>
            </a:prstGeom>
            <a:solidFill>
              <a:srgbClr val="C4B0F7"/>
            </a:solidFill>
            <a:ln>
              <a:noFill/>
            </a:ln>
          </p:spPr>
        </p:sp>
        <p:sp>
          <p:nvSpPr>
            <p:cNvPr id="21" name="TextBox 21"/>
            <p:cNvSpPr txBox="1"/>
            <p:nvPr/>
          </p:nvSpPr>
          <p:spPr>
            <a:xfrm>
              <a:off x="4146484" y="4285298"/>
              <a:ext cx="660532"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j-lt"/>
                  <a:ea typeface="+mj-ea"/>
                  <a:cs typeface="+mj-cs"/>
                </a:rPr>
                <a:t>0.38</a:t>
              </a:r>
            </a:p>
          </p:txBody>
        </p:sp>
        <p:sp>
          <p:nvSpPr>
            <p:cNvPr id="22" name="TextBox 22"/>
            <p:cNvSpPr txBox="1"/>
            <p:nvPr/>
          </p:nvSpPr>
          <p:spPr>
            <a:xfrm>
              <a:off x="4184578" y="5631656"/>
              <a:ext cx="584344"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MD-Acc</a:t>
              </a:r>
            </a:p>
          </p:txBody>
        </p:sp>
        <p:sp>
          <p:nvSpPr>
            <p:cNvPr id="23" name="TextBox 23"/>
            <p:cNvSpPr txBox="1"/>
            <p:nvPr/>
          </p:nvSpPr>
          <p:spPr>
            <a:xfrm>
              <a:off x="3851053" y="5846445"/>
              <a:ext cx="1251395"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λ tuned for accuracy</a:t>
              </a:r>
            </a:p>
          </p:txBody>
        </p:sp>
      </p:grpSp>
      <p:grpSp>
        <p:nvGrpSpPr>
          <p:cNvPr id="40" name="Group 40"/>
          <p:cNvGrpSpPr/>
          <p:nvPr/>
        </p:nvGrpSpPr>
        <p:grpSpPr>
          <a:xfrm>
            <a:off x="6248400" y="2876550"/>
            <a:ext cx="5334000" cy="3200400"/>
            <a:chOff x="6248400" y="2876550"/>
            <a:chExt cx="5334000" cy="3200400"/>
          </a:xfrm>
        </p:grpSpPr>
        <p:sp>
          <p:nvSpPr>
            <p:cNvPr id="25" name="Rectangle 25"/>
            <p:cNvSpPr/>
            <p:nvPr/>
          </p:nvSpPr>
          <p:spPr>
            <a:xfrm>
              <a:off x="6248400" y="2876550"/>
              <a:ext cx="5334000" cy="3200400"/>
            </a:xfrm>
            <a:prstGeom prst="roundRect">
              <a:avLst>
                <a:gd name="adj" fmla="val 4167"/>
              </a:avLst>
            </a:prstGeom>
            <a:solidFill>
              <a:schemeClr val="lt1"/>
            </a:solidFill>
            <a:ln w="14288">
              <a:solidFill>
                <a:schemeClr val="accent4"/>
              </a:solidFill>
            </a:ln>
          </p:spPr>
        </p:sp>
        <p:sp>
          <p:nvSpPr>
            <p:cNvPr id="26" name="Rectangle 26"/>
            <p:cNvSpPr/>
            <p:nvPr/>
          </p:nvSpPr>
          <p:spPr>
            <a:xfrm>
              <a:off x="6248400" y="2876550"/>
              <a:ext cx="5334000" cy="57150"/>
            </a:xfrm>
            <a:prstGeom prst="roundRect">
              <a:avLst>
                <a:gd name="adj" fmla="val 50000"/>
              </a:avLst>
            </a:prstGeom>
            <a:solidFill>
              <a:srgbClr val="059669"/>
            </a:solidFill>
            <a:ln>
              <a:noFill/>
            </a:ln>
          </p:spPr>
        </p:sp>
        <p:sp>
          <p:nvSpPr>
            <p:cNvPr id="27" name="TextBox 27"/>
            <p:cNvSpPr txBox="1"/>
            <p:nvPr/>
          </p:nvSpPr>
          <p:spPr>
            <a:xfrm>
              <a:off x="6510147" y="3152299"/>
              <a:ext cx="1945856" cy="190690"/>
            </a:xfrm>
            <a:prstGeom prst="rect">
              <a:avLst/>
            </a:prstGeom>
            <a:noFill/>
            <a:ln>
              <a:noFill/>
            </a:ln>
          </p:spPr>
          <p:txBody>
            <a:bodyPr wrap="none" lIns="0" tIns="0" rIns="0" bIns="0" anchor="t" anchorCtr="0">
              <a:spAutoFit/>
            </a:bodyPr>
            <a:lstStyle/>
            <a:p>
              <a:pPr algn="l"/>
              <a:r>
                <a:rPr lang="en-US" sz="980" b="1" spc="112" dirty="0">
                  <a:solidFill>
                    <a:srgbClr val="059669"/>
                  </a:solidFill>
                  <a:latin typeface="+mn-lt"/>
                  <a:ea typeface="+mn-ea"/>
                  <a:cs typeface="+mn-cs"/>
                </a:rPr>
                <a:t>AVERAGE TEST ACCURACY</a:t>
              </a:r>
            </a:p>
          </p:txBody>
        </p:sp>
        <p:sp>
          <p:nvSpPr>
            <p:cNvPr id="28" name="Rectangle 28"/>
            <p:cNvSpPr/>
            <p:nvPr/>
          </p:nvSpPr>
          <p:spPr>
            <a:xfrm>
              <a:off x="6515100" y="3486150"/>
              <a:ext cx="2171700" cy="1428750"/>
            </a:xfrm>
            <a:prstGeom prst="roundRect">
              <a:avLst>
                <a:gd name="adj" fmla="val 8000"/>
              </a:avLst>
            </a:prstGeom>
            <a:solidFill>
              <a:schemeClr val="lt2"/>
            </a:solidFill>
            <a:ln>
              <a:noFill/>
            </a:ln>
          </p:spPr>
        </p:sp>
        <p:sp>
          <p:nvSpPr>
            <p:cNvPr id="29" name="TextBox 29"/>
            <p:cNvSpPr txBox="1"/>
            <p:nvPr/>
          </p:nvSpPr>
          <p:spPr>
            <a:xfrm>
              <a:off x="7042038" y="3606165"/>
              <a:ext cx="1117824" cy="645414"/>
            </a:xfrm>
            <a:prstGeom prst="rect">
              <a:avLst/>
            </a:prstGeom>
            <a:noFill/>
            <a:ln>
              <a:noFill/>
            </a:ln>
          </p:spPr>
          <p:txBody>
            <a:bodyPr wrap="none" lIns="0" tIns="0" rIns="0" bIns="0" anchor="t" anchorCtr="0">
              <a:spAutoFit/>
            </a:bodyPr>
            <a:lstStyle/>
            <a:p>
              <a:pPr algn="ctr"/>
              <a:r>
                <a:rPr lang="en-US" sz="3300" b="1" dirty="0">
                  <a:solidFill>
                    <a:schemeClr val="dk2"/>
                  </a:solidFill>
                  <a:latin typeface="+mj-lt"/>
                  <a:ea typeface="+mj-ea"/>
                  <a:cs typeface="+mj-cs"/>
                </a:rPr>
                <a:t>0.72</a:t>
              </a:r>
            </a:p>
          </p:txBody>
        </p:sp>
        <p:sp>
          <p:nvSpPr>
            <p:cNvPr id="30" name="TextBox 30"/>
            <p:cNvSpPr txBox="1"/>
            <p:nvPr/>
          </p:nvSpPr>
          <p:spPr>
            <a:xfrm>
              <a:off x="7281215" y="4175760"/>
              <a:ext cx="639470"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MD-CCS</a:t>
              </a:r>
            </a:p>
          </p:txBody>
        </p:sp>
        <p:sp>
          <p:nvSpPr>
            <p:cNvPr id="31" name="TextBox 31"/>
            <p:cNvSpPr txBox="1"/>
            <p:nvPr/>
          </p:nvSpPr>
          <p:spPr>
            <a:xfrm>
              <a:off x="7008475" y="4447699"/>
              <a:ext cx="1184951"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λ set to mimic CCS</a:t>
              </a:r>
            </a:p>
          </p:txBody>
        </p:sp>
        <p:sp>
          <p:nvSpPr>
            <p:cNvPr id="32" name="TextBox 32"/>
            <p:cNvSpPr txBox="1"/>
            <p:nvPr/>
          </p:nvSpPr>
          <p:spPr>
            <a:xfrm>
              <a:off x="8783545" y="3981450"/>
              <a:ext cx="263709" cy="586740"/>
            </a:xfrm>
            <a:prstGeom prst="rect">
              <a:avLst/>
            </a:prstGeom>
            <a:noFill/>
            <a:ln>
              <a:noFill/>
            </a:ln>
          </p:spPr>
          <p:txBody>
            <a:bodyPr wrap="none" lIns="0" tIns="0" rIns="0" bIns="0" anchor="t" anchorCtr="0">
              <a:spAutoFit/>
            </a:bodyPr>
            <a:lstStyle/>
            <a:p>
              <a:pPr algn="ctr"/>
              <a:r>
                <a:rPr lang="en-US" sz="3000" b="1" dirty="0">
                  <a:solidFill>
                    <a:srgbClr val="059669"/>
                  </a:solidFill>
                  <a:latin typeface="+mn-lt"/>
                  <a:ea typeface="+mn-ea"/>
                  <a:cs typeface="+mn-cs"/>
                </a:rPr>
                <a:t>→</a:t>
              </a:r>
            </a:p>
          </p:txBody>
        </p:sp>
        <p:sp>
          <p:nvSpPr>
            <p:cNvPr id="33" name="Rectangle 33"/>
            <p:cNvSpPr/>
            <p:nvPr/>
          </p:nvSpPr>
          <p:spPr>
            <a:xfrm>
              <a:off x="9144000" y="3486150"/>
              <a:ext cx="2171700" cy="1428750"/>
            </a:xfrm>
            <a:prstGeom prst="roundRect">
              <a:avLst>
                <a:gd name="adj" fmla="val 8000"/>
              </a:avLst>
            </a:prstGeom>
            <a:solidFill>
              <a:srgbClr val="ECFDF5"/>
            </a:solidFill>
            <a:ln w="19050">
              <a:solidFill>
                <a:srgbClr val="059669"/>
              </a:solidFill>
            </a:ln>
          </p:spPr>
        </p:sp>
        <p:sp>
          <p:nvSpPr>
            <p:cNvPr id="34" name="TextBox 34"/>
            <p:cNvSpPr txBox="1"/>
            <p:nvPr/>
          </p:nvSpPr>
          <p:spPr>
            <a:xfrm>
              <a:off x="9670938" y="3606165"/>
              <a:ext cx="1117824" cy="645414"/>
            </a:xfrm>
            <a:prstGeom prst="rect">
              <a:avLst/>
            </a:prstGeom>
            <a:noFill/>
            <a:ln>
              <a:noFill/>
            </a:ln>
          </p:spPr>
          <p:txBody>
            <a:bodyPr wrap="none" lIns="0" tIns="0" rIns="0" bIns="0" anchor="t" anchorCtr="0">
              <a:spAutoFit/>
            </a:bodyPr>
            <a:lstStyle/>
            <a:p>
              <a:pPr algn="ctr"/>
              <a:r>
                <a:rPr lang="en-US" sz="3300" b="1" dirty="0">
                  <a:solidFill>
                    <a:srgbClr val="059669"/>
                  </a:solidFill>
                  <a:latin typeface="+mj-lt"/>
                  <a:ea typeface="+mj-ea"/>
                  <a:cs typeface="+mj-cs"/>
                </a:rPr>
                <a:t>0.76</a:t>
              </a:r>
            </a:p>
          </p:txBody>
        </p:sp>
        <p:sp>
          <p:nvSpPr>
            <p:cNvPr id="35" name="TextBox 35"/>
            <p:cNvSpPr txBox="1"/>
            <p:nvPr/>
          </p:nvSpPr>
          <p:spPr>
            <a:xfrm>
              <a:off x="9916836" y="4175760"/>
              <a:ext cx="626029"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MD-Acc</a:t>
              </a:r>
            </a:p>
          </p:txBody>
        </p:sp>
        <p:sp>
          <p:nvSpPr>
            <p:cNvPr id="36" name="TextBox 36"/>
            <p:cNvSpPr txBox="1"/>
            <p:nvPr/>
          </p:nvSpPr>
          <p:spPr>
            <a:xfrm>
              <a:off x="9476208" y="4447699"/>
              <a:ext cx="1507284"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λ retuned for accuracy</a:t>
              </a:r>
            </a:p>
          </p:txBody>
        </p:sp>
        <p:sp>
          <p:nvSpPr>
            <p:cNvPr id="37" name="Rectangle 37"/>
            <p:cNvSpPr/>
            <p:nvPr/>
          </p:nvSpPr>
          <p:spPr>
            <a:xfrm>
              <a:off x="6515100" y="5105400"/>
              <a:ext cx="4800600" cy="723900"/>
            </a:xfrm>
            <a:prstGeom prst="roundRect">
              <a:avLst>
                <a:gd name="adj" fmla="val 13158"/>
              </a:avLst>
            </a:prstGeom>
            <a:solidFill>
              <a:schemeClr val="accent1"/>
            </a:solidFill>
            <a:ln>
              <a:noFill/>
            </a:ln>
          </p:spPr>
        </p:sp>
        <p:sp>
          <p:nvSpPr>
            <p:cNvPr id="38" name="TextBox 38"/>
            <p:cNvSpPr txBox="1"/>
            <p:nvPr/>
          </p:nvSpPr>
          <p:spPr>
            <a:xfrm>
              <a:off x="6699504" y="5280660"/>
              <a:ext cx="242739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The CCS-matching λ is robust</a:t>
              </a:r>
            </a:p>
          </p:txBody>
        </p:sp>
        <p:sp>
          <p:nvSpPr>
            <p:cNvPr id="39" name="TextBox 39"/>
            <p:cNvSpPr txBox="1"/>
            <p:nvPr/>
          </p:nvSpPr>
          <p:spPr>
            <a:xfrm>
              <a:off x="6699885" y="5536406"/>
              <a:ext cx="3434009"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it barely changes across datasets and models.</a:t>
              </a:r>
            </a:p>
          </p:txBody>
        </p:sp>
      </p:grpSp>
      <p:grpSp>
        <p:nvGrpSpPr>
          <p:cNvPr id="43" name="Group 43"/>
          <p:cNvGrpSpPr/>
          <p:nvPr/>
        </p:nvGrpSpPr>
        <p:grpSpPr>
          <a:xfrm>
            <a:off x="604838" y="6521291"/>
            <a:ext cx="10982324" cy="161925"/>
            <a:chOff x="604838" y="6521291"/>
            <a:chExt cx="10982324" cy="161925"/>
          </a:xfrm>
        </p:grpSpPr>
        <p:sp>
          <p:nvSpPr>
            <p:cNvPr id="41" name="TextBox 41"/>
            <p:cNvSpPr txBox="1"/>
            <p:nvPr/>
          </p:nvSpPr>
          <p:spPr>
            <a:xfrm>
              <a:off x="604838" y="6521291"/>
              <a:ext cx="324833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Ablation · varying λ between MD-CCS and MD-Acc</a:t>
              </a:r>
            </a:p>
          </p:txBody>
        </p:sp>
        <p:sp>
          <p:nvSpPr>
            <p:cNvPr id="42" name="TextBox 42"/>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4709211" cy="656939"/>
            <a:chOff x="571500" y="533400"/>
            <a:chExt cx="4709211"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44935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The numbers at a glance</a:t>
              </a:r>
            </a:p>
          </p:txBody>
        </p:sp>
        <p:sp>
          <p:nvSpPr>
            <p:cNvPr id="4" name="TextBox 4"/>
            <p:cNvSpPr txBox="1"/>
            <p:nvPr/>
          </p:nvSpPr>
          <p:spPr>
            <a:xfrm>
              <a:off x="795147" y="999649"/>
              <a:ext cx="36463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4 MODELS × 5 DATASETS</a:t>
              </a:r>
            </a:p>
          </p:txBody>
        </p:sp>
      </p:grpSp>
      <p:grpSp>
        <p:nvGrpSpPr>
          <p:cNvPr id="21" name="Group 21"/>
          <p:cNvGrpSpPr/>
          <p:nvPr/>
        </p:nvGrpSpPr>
        <p:grpSpPr>
          <a:xfrm>
            <a:off x="609600" y="1504950"/>
            <a:ext cx="10972800" cy="2038350"/>
            <a:chOff x="609600" y="1504950"/>
            <a:chExt cx="10972800" cy="2038350"/>
          </a:xfrm>
        </p:grpSpPr>
        <p:sp>
          <p:nvSpPr>
            <p:cNvPr id="6" name="Rectangle 6"/>
            <p:cNvSpPr/>
            <p:nvPr/>
          </p:nvSpPr>
          <p:spPr>
            <a:xfrm>
              <a:off x="609600" y="1504950"/>
              <a:ext cx="10972800" cy="2038350"/>
            </a:xfrm>
            <a:prstGeom prst="roundRect">
              <a:avLst>
                <a:gd name="adj" fmla="val 6542"/>
              </a:avLst>
            </a:prstGeom>
            <a:solidFill>
              <a:schemeClr val="accent5"/>
            </a:solidFill>
            <a:ln w="14288">
              <a:solidFill>
                <a:schemeClr val="accent4"/>
              </a:solidFill>
            </a:ln>
          </p:spPr>
        </p:sp>
        <p:sp>
          <p:nvSpPr>
            <p:cNvPr id="7" name="Rectangle 7"/>
            <p:cNvSpPr/>
            <p:nvPr/>
          </p:nvSpPr>
          <p:spPr>
            <a:xfrm>
              <a:off x="609600" y="1504950"/>
              <a:ext cx="57150" cy="2038350"/>
            </a:xfrm>
            <a:prstGeom prst="roundRect">
              <a:avLst>
                <a:gd name="adj" fmla="val 50000"/>
              </a:avLst>
            </a:prstGeom>
            <a:solidFill>
              <a:schemeClr val="accent6"/>
            </a:solidFill>
            <a:ln>
              <a:noFill/>
            </a:ln>
          </p:spPr>
        </p:sp>
        <p:sp>
          <p:nvSpPr>
            <p:cNvPr id="8" name="TextBox 8"/>
            <p:cNvSpPr txBox="1"/>
            <p:nvPr/>
          </p:nvSpPr>
          <p:spPr>
            <a:xfrm>
              <a:off x="909447" y="1761649"/>
              <a:ext cx="2080174"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PROBE SIMILARITY TO CCS</a:t>
              </a:r>
            </a:p>
          </p:txBody>
        </p:sp>
        <p:sp>
          <p:nvSpPr>
            <p:cNvPr id="9" name="Rectangle 9"/>
            <p:cNvSpPr/>
            <p:nvPr/>
          </p:nvSpPr>
          <p:spPr>
            <a:xfrm>
              <a:off x="914400" y="2019300"/>
              <a:ext cx="3352800" cy="1371600"/>
            </a:xfrm>
            <a:prstGeom prst="roundRect">
              <a:avLst>
                <a:gd name="adj" fmla="val 8333"/>
              </a:avLst>
            </a:prstGeom>
            <a:solidFill>
              <a:srgbClr val="F3EEFE"/>
            </a:solidFill>
            <a:ln w="19050">
              <a:solidFill>
                <a:schemeClr val="accent6"/>
              </a:solidFill>
            </a:ln>
          </p:spPr>
        </p:sp>
        <p:sp>
          <p:nvSpPr>
            <p:cNvPr id="10" name="TextBox 10"/>
            <p:cNvSpPr txBox="1"/>
            <p:nvPr/>
          </p:nvSpPr>
          <p:spPr>
            <a:xfrm>
              <a:off x="1857101" y="2273618"/>
              <a:ext cx="1467399" cy="847725"/>
            </a:xfrm>
            <a:prstGeom prst="rect">
              <a:avLst/>
            </a:prstGeom>
            <a:noFill/>
            <a:ln>
              <a:noFill/>
            </a:ln>
          </p:spPr>
          <p:txBody>
            <a:bodyPr wrap="none" lIns="0" tIns="0" rIns="0" bIns="0" anchor="t" anchorCtr="0">
              <a:spAutoFit/>
            </a:bodyPr>
            <a:lstStyle/>
            <a:p>
              <a:pPr algn="ctr"/>
              <a:r>
                <a:rPr lang="en-US" sz="4350" b="1" dirty="0">
                  <a:solidFill>
                    <a:schemeClr val="accent6"/>
                  </a:solidFill>
                  <a:latin typeface="+mj-lt"/>
                  <a:ea typeface="+mj-ea"/>
                  <a:cs typeface="+mj-cs"/>
                </a:rPr>
                <a:t>0.63</a:t>
              </a:r>
            </a:p>
          </p:txBody>
        </p:sp>
        <p:sp>
          <p:nvSpPr>
            <p:cNvPr id="11" name="TextBox 11"/>
            <p:cNvSpPr txBox="1"/>
            <p:nvPr/>
          </p:nvSpPr>
          <p:spPr>
            <a:xfrm>
              <a:off x="2020153" y="2937510"/>
              <a:ext cx="1141293"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MD-CCS ↔ CCS</a:t>
              </a:r>
            </a:p>
          </p:txBody>
        </p:sp>
        <p:sp>
          <p:nvSpPr>
            <p:cNvPr id="12" name="TextBox 12"/>
            <p:cNvSpPr txBox="1"/>
            <p:nvPr/>
          </p:nvSpPr>
          <p:spPr>
            <a:xfrm>
              <a:off x="1781089" y="3171349"/>
              <a:ext cx="1619423"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average cosine similarity</a:t>
              </a:r>
            </a:p>
          </p:txBody>
        </p:sp>
        <p:sp>
          <p:nvSpPr>
            <p:cNvPr id="13" name="Rectangle 13"/>
            <p:cNvSpPr/>
            <p:nvPr/>
          </p:nvSpPr>
          <p:spPr>
            <a:xfrm>
              <a:off x="4419600" y="2019300"/>
              <a:ext cx="3352800" cy="1371600"/>
            </a:xfrm>
            <a:prstGeom prst="roundRect">
              <a:avLst>
                <a:gd name="adj" fmla="val 8333"/>
              </a:avLst>
            </a:prstGeom>
            <a:solidFill>
              <a:schemeClr val="lt1"/>
            </a:solidFill>
            <a:ln w="14288">
              <a:solidFill>
                <a:schemeClr val="accent4"/>
              </a:solidFill>
            </a:ln>
          </p:spPr>
        </p:sp>
        <p:sp>
          <p:nvSpPr>
            <p:cNvPr id="14" name="TextBox 14"/>
            <p:cNvSpPr txBox="1"/>
            <p:nvPr/>
          </p:nvSpPr>
          <p:spPr>
            <a:xfrm>
              <a:off x="5362301" y="2273618"/>
              <a:ext cx="1467399" cy="847725"/>
            </a:xfrm>
            <a:prstGeom prst="rect">
              <a:avLst/>
            </a:prstGeom>
            <a:noFill/>
            <a:ln>
              <a:noFill/>
            </a:ln>
          </p:spPr>
          <p:txBody>
            <a:bodyPr wrap="none" lIns="0" tIns="0" rIns="0" bIns="0" anchor="t" anchorCtr="0">
              <a:spAutoFit/>
            </a:bodyPr>
            <a:lstStyle/>
            <a:p>
              <a:pPr algn="ctr"/>
              <a:r>
                <a:rPr lang="en-US" sz="4350" b="1" dirty="0">
                  <a:solidFill>
                    <a:schemeClr val="dk1"/>
                  </a:solidFill>
                  <a:latin typeface="+mj-lt"/>
                  <a:ea typeface="+mj-ea"/>
                  <a:cs typeface="+mj-cs"/>
                </a:rPr>
                <a:t>0.78</a:t>
              </a:r>
            </a:p>
          </p:txBody>
        </p:sp>
        <p:sp>
          <p:nvSpPr>
            <p:cNvPr id="15" name="TextBox 15"/>
            <p:cNvSpPr txBox="1"/>
            <p:nvPr/>
          </p:nvSpPr>
          <p:spPr>
            <a:xfrm>
              <a:off x="5691134" y="2937510"/>
              <a:ext cx="809732"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CCS ↔ CCS</a:t>
              </a:r>
            </a:p>
          </p:txBody>
        </p:sp>
        <p:sp>
          <p:nvSpPr>
            <p:cNvPr id="16" name="TextBox 16"/>
            <p:cNvSpPr txBox="1"/>
            <p:nvPr/>
          </p:nvSpPr>
          <p:spPr>
            <a:xfrm>
              <a:off x="5190641" y="3171349"/>
              <a:ext cx="1810718"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self-similarity (the ceiling)</a:t>
              </a:r>
            </a:p>
          </p:txBody>
        </p:sp>
        <p:sp>
          <p:nvSpPr>
            <p:cNvPr id="17" name="Rectangle 17"/>
            <p:cNvSpPr/>
            <p:nvPr/>
          </p:nvSpPr>
          <p:spPr>
            <a:xfrm>
              <a:off x="7924800" y="2019300"/>
              <a:ext cx="3352800" cy="1371600"/>
            </a:xfrm>
            <a:prstGeom prst="roundRect">
              <a:avLst>
                <a:gd name="adj" fmla="val 8333"/>
              </a:avLst>
            </a:prstGeom>
            <a:solidFill>
              <a:schemeClr val="lt1"/>
            </a:solidFill>
            <a:ln w="14288">
              <a:solidFill>
                <a:schemeClr val="accent4"/>
              </a:solidFill>
            </a:ln>
          </p:spPr>
        </p:sp>
        <p:sp>
          <p:nvSpPr>
            <p:cNvPr id="18" name="TextBox 18"/>
            <p:cNvSpPr txBox="1"/>
            <p:nvPr/>
          </p:nvSpPr>
          <p:spPr>
            <a:xfrm>
              <a:off x="8688838" y="2273618"/>
              <a:ext cx="1824723" cy="847725"/>
            </a:xfrm>
            <a:prstGeom prst="rect">
              <a:avLst/>
            </a:prstGeom>
            <a:noFill/>
            <a:ln>
              <a:noFill/>
            </a:ln>
          </p:spPr>
          <p:txBody>
            <a:bodyPr wrap="none" lIns="0" tIns="0" rIns="0" bIns="0" anchor="t" anchorCtr="0">
              <a:spAutoFit/>
            </a:bodyPr>
            <a:lstStyle/>
            <a:p>
              <a:pPr algn="ctr"/>
              <a:r>
                <a:rPr lang="en-US" sz="4350" b="1" dirty="0">
                  <a:solidFill>
                    <a:srgbClr val="94A3B8"/>
                  </a:solidFill>
                  <a:latin typeface="+mj-lt"/>
                  <a:ea typeface="+mj-ea"/>
                  <a:cs typeface="+mj-cs"/>
                </a:rPr>
                <a:t>~0.15</a:t>
              </a:r>
            </a:p>
          </p:txBody>
        </p:sp>
        <p:sp>
          <p:nvSpPr>
            <p:cNvPr id="19" name="TextBox 19"/>
            <p:cNvSpPr txBox="1"/>
            <p:nvPr/>
          </p:nvSpPr>
          <p:spPr>
            <a:xfrm>
              <a:off x="8958864" y="2937510"/>
              <a:ext cx="1284671"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PCA / MA / SMR</a:t>
              </a:r>
            </a:p>
          </p:txBody>
        </p:sp>
        <p:sp>
          <p:nvSpPr>
            <p:cNvPr id="20" name="TextBox 20"/>
            <p:cNvSpPr txBox="1"/>
            <p:nvPr/>
          </p:nvSpPr>
          <p:spPr>
            <a:xfrm>
              <a:off x="9052046" y="3171349"/>
              <a:ext cx="1098309"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competing losses</a:t>
              </a:r>
            </a:p>
          </p:txBody>
        </p:sp>
      </p:grpSp>
      <p:grpSp>
        <p:nvGrpSpPr>
          <p:cNvPr id="37" name="Group 37"/>
          <p:cNvGrpSpPr/>
          <p:nvPr/>
        </p:nvGrpSpPr>
        <p:grpSpPr>
          <a:xfrm>
            <a:off x="609600" y="3733800"/>
            <a:ext cx="10972800" cy="2038350"/>
            <a:chOff x="609600" y="3733800"/>
            <a:chExt cx="10972800" cy="2038350"/>
          </a:xfrm>
        </p:grpSpPr>
        <p:sp>
          <p:nvSpPr>
            <p:cNvPr id="22" name="Rectangle 22"/>
            <p:cNvSpPr/>
            <p:nvPr/>
          </p:nvSpPr>
          <p:spPr>
            <a:xfrm>
              <a:off x="609600" y="3733800"/>
              <a:ext cx="10972800" cy="2038350"/>
            </a:xfrm>
            <a:prstGeom prst="roundRect">
              <a:avLst>
                <a:gd name="adj" fmla="val 6542"/>
              </a:avLst>
            </a:prstGeom>
            <a:solidFill>
              <a:schemeClr val="accent1"/>
            </a:solidFill>
            <a:ln>
              <a:noFill/>
            </a:ln>
          </p:spPr>
        </p:sp>
        <p:sp>
          <p:nvSpPr>
            <p:cNvPr id="23" name="Rectangle 23"/>
            <p:cNvSpPr/>
            <p:nvPr/>
          </p:nvSpPr>
          <p:spPr>
            <a:xfrm>
              <a:off x="609600" y="3733800"/>
              <a:ext cx="57150" cy="2038350"/>
            </a:xfrm>
            <a:prstGeom prst="roundRect">
              <a:avLst>
                <a:gd name="adj" fmla="val 50000"/>
              </a:avLst>
            </a:prstGeom>
            <a:solidFill>
              <a:srgbClr val="059669"/>
            </a:solidFill>
            <a:ln>
              <a:noFill/>
            </a:ln>
          </p:spPr>
        </p:sp>
        <p:sp>
          <p:nvSpPr>
            <p:cNvPr id="24" name="TextBox 24"/>
            <p:cNvSpPr txBox="1"/>
            <p:nvPr/>
          </p:nvSpPr>
          <p:spPr>
            <a:xfrm>
              <a:off x="909447" y="3990499"/>
              <a:ext cx="2227833" cy="190690"/>
            </a:xfrm>
            <a:prstGeom prst="rect">
              <a:avLst/>
            </a:prstGeom>
            <a:noFill/>
            <a:ln>
              <a:noFill/>
            </a:ln>
          </p:spPr>
          <p:txBody>
            <a:bodyPr wrap="none" lIns="0" tIns="0" rIns="0" bIns="0" anchor="t" anchorCtr="0">
              <a:spAutoFit/>
            </a:bodyPr>
            <a:lstStyle/>
            <a:p>
              <a:pPr algn="l"/>
              <a:r>
                <a:rPr lang="en-US" sz="980" b="1" spc="112" dirty="0">
                  <a:solidFill>
                    <a:srgbClr val="6EE7B7"/>
                  </a:solidFill>
                  <a:latin typeface="+mn-lt"/>
                  <a:ea typeface="+mn-ea"/>
                  <a:cs typeface="+mn-cs"/>
                </a:rPr>
                <a:t>TEST ACCURACY &amp; COVERAGE</a:t>
              </a:r>
            </a:p>
          </p:txBody>
        </p:sp>
        <p:sp>
          <p:nvSpPr>
            <p:cNvPr id="25" name="Rectangle 25"/>
            <p:cNvSpPr/>
            <p:nvPr/>
          </p:nvSpPr>
          <p:spPr>
            <a:xfrm>
              <a:off x="914400" y="4248150"/>
              <a:ext cx="3352800" cy="1371600"/>
            </a:xfrm>
            <a:prstGeom prst="roundRect">
              <a:avLst>
                <a:gd name="adj" fmla="val 8333"/>
              </a:avLst>
            </a:prstGeom>
            <a:solidFill>
              <a:srgbClr val="0E3A2E"/>
            </a:solidFill>
            <a:ln w="19050">
              <a:solidFill>
                <a:srgbClr val="059669"/>
              </a:solidFill>
            </a:ln>
          </p:spPr>
        </p:sp>
        <p:sp>
          <p:nvSpPr>
            <p:cNvPr id="26" name="TextBox 26"/>
            <p:cNvSpPr txBox="1"/>
            <p:nvPr/>
          </p:nvSpPr>
          <p:spPr>
            <a:xfrm>
              <a:off x="1857101" y="4502468"/>
              <a:ext cx="1467399" cy="847725"/>
            </a:xfrm>
            <a:prstGeom prst="rect">
              <a:avLst/>
            </a:prstGeom>
            <a:noFill/>
            <a:ln>
              <a:noFill/>
            </a:ln>
          </p:spPr>
          <p:txBody>
            <a:bodyPr wrap="none" lIns="0" tIns="0" rIns="0" bIns="0" anchor="t" anchorCtr="0">
              <a:spAutoFit/>
            </a:bodyPr>
            <a:lstStyle/>
            <a:p>
              <a:pPr algn="ctr"/>
              <a:r>
                <a:rPr lang="en-US" sz="4350" b="1" dirty="0">
                  <a:solidFill>
                    <a:srgbClr val="6EE7B7"/>
                  </a:solidFill>
                  <a:latin typeface="+mj-lt"/>
                  <a:ea typeface="+mj-ea"/>
                  <a:cs typeface="+mj-cs"/>
                </a:rPr>
                <a:t>0.76</a:t>
              </a:r>
            </a:p>
          </p:txBody>
        </p:sp>
        <p:sp>
          <p:nvSpPr>
            <p:cNvPr id="27" name="TextBox 27"/>
            <p:cNvSpPr txBox="1"/>
            <p:nvPr/>
          </p:nvSpPr>
          <p:spPr>
            <a:xfrm>
              <a:off x="1880173" y="5166360"/>
              <a:ext cx="142125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MD-Acc accuracy</a:t>
              </a:r>
            </a:p>
          </p:txBody>
        </p:sp>
        <p:sp>
          <p:nvSpPr>
            <p:cNvPr id="28" name="TextBox 28"/>
            <p:cNvSpPr txBox="1"/>
            <p:nvPr/>
          </p:nvSpPr>
          <p:spPr>
            <a:xfrm>
              <a:off x="1820667" y="5400199"/>
              <a:ext cx="1540266"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accuracy-tuned variant</a:t>
              </a:r>
            </a:p>
          </p:txBody>
        </p:sp>
        <p:sp>
          <p:nvSpPr>
            <p:cNvPr id="29" name="Rectangle 29"/>
            <p:cNvSpPr/>
            <p:nvPr/>
          </p:nvSpPr>
          <p:spPr>
            <a:xfrm>
              <a:off x="4419600" y="4248150"/>
              <a:ext cx="3352800" cy="1371600"/>
            </a:xfrm>
            <a:prstGeom prst="roundRect">
              <a:avLst>
                <a:gd name="adj" fmla="val 8333"/>
              </a:avLst>
            </a:prstGeom>
            <a:solidFill>
              <a:srgbClr val="1B3350"/>
            </a:solidFill>
            <a:ln>
              <a:noFill/>
            </a:ln>
          </p:spPr>
        </p:sp>
        <p:sp>
          <p:nvSpPr>
            <p:cNvPr id="30" name="TextBox 30"/>
            <p:cNvSpPr txBox="1"/>
            <p:nvPr/>
          </p:nvSpPr>
          <p:spPr>
            <a:xfrm>
              <a:off x="5362301" y="4502468"/>
              <a:ext cx="1467399" cy="847725"/>
            </a:xfrm>
            <a:prstGeom prst="rect">
              <a:avLst/>
            </a:prstGeom>
            <a:noFill/>
            <a:ln>
              <a:noFill/>
            </a:ln>
          </p:spPr>
          <p:txBody>
            <a:bodyPr wrap="none" lIns="0" tIns="0" rIns="0" bIns="0" anchor="t" anchorCtr="0">
              <a:spAutoFit/>
            </a:bodyPr>
            <a:lstStyle/>
            <a:p>
              <a:pPr algn="ctr"/>
              <a:r>
                <a:rPr lang="en-US" sz="4350" b="1" dirty="0">
                  <a:solidFill>
                    <a:srgbClr val="B7C4D6"/>
                  </a:solidFill>
                  <a:latin typeface="+mj-lt"/>
                  <a:ea typeface="+mj-ea"/>
                  <a:cs typeface="+mj-cs"/>
                </a:rPr>
                <a:t>0.71</a:t>
              </a:r>
            </a:p>
          </p:txBody>
        </p:sp>
        <p:sp>
          <p:nvSpPr>
            <p:cNvPr id="31" name="TextBox 31"/>
            <p:cNvSpPr txBox="1"/>
            <p:nvPr/>
          </p:nvSpPr>
          <p:spPr>
            <a:xfrm>
              <a:off x="5543043" y="5166360"/>
              <a:ext cx="110591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CCS accuracy</a:t>
              </a:r>
            </a:p>
          </p:txBody>
        </p:sp>
        <p:sp>
          <p:nvSpPr>
            <p:cNvPr id="32" name="TextBox 32"/>
            <p:cNvSpPr txBox="1"/>
            <p:nvPr/>
          </p:nvSpPr>
          <p:spPr>
            <a:xfrm>
              <a:off x="5428111" y="5400199"/>
              <a:ext cx="1335778"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the baseline it beats</a:t>
              </a:r>
            </a:p>
          </p:txBody>
        </p:sp>
        <p:sp>
          <p:nvSpPr>
            <p:cNvPr id="33" name="Rectangle 33"/>
            <p:cNvSpPr/>
            <p:nvPr/>
          </p:nvSpPr>
          <p:spPr>
            <a:xfrm>
              <a:off x="7924800" y="4248150"/>
              <a:ext cx="3352800" cy="1371600"/>
            </a:xfrm>
            <a:prstGeom prst="roundRect">
              <a:avLst>
                <a:gd name="adj" fmla="val 8333"/>
              </a:avLst>
            </a:prstGeom>
            <a:solidFill>
              <a:srgbClr val="1B3350"/>
            </a:solidFill>
            <a:ln>
              <a:noFill/>
            </a:ln>
          </p:spPr>
        </p:sp>
        <p:sp>
          <p:nvSpPr>
            <p:cNvPr id="34" name="TextBox 34"/>
            <p:cNvSpPr txBox="1"/>
            <p:nvPr/>
          </p:nvSpPr>
          <p:spPr>
            <a:xfrm>
              <a:off x="8851259" y="4502468"/>
              <a:ext cx="1499883" cy="847725"/>
            </a:xfrm>
            <a:prstGeom prst="rect">
              <a:avLst/>
            </a:prstGeom>
            <a:noFill/>
            <a:ln>
              <a:noFill/>
            </a:ln>
          </p:spPr>
          <p:txBody>
            <a:bodyPr wrap="none" lIns="0" tIns="0" rIns="0" bIns="0" anchor="t" anchorCtr="0">
              <a:spAutoFit/>
            </a:bodyPr>
            <a:lstStyle/>
            <a:p>
              <a:pPr algn="ctr"/>
              <a:r>
                <a:rPr lang="en-US" sz="4350" b="1" dirty="0">
                  <a:solidFill>
                    <a:srgbClr val="6EE7B7"/>
                  </a:solidFill>
                  <a:latin typeface="+mj-lt"/>
                  <a:ea typeface="+mj-ea"/>
                  <a:cs typeface="+mj-cs"/>
                </a:rPr>
                <a:t>3 / 4</a:t>
              </a:r>
            </a:p>
          </p:txBody>
        </p:sp>
        <p:sp>
          <p:nvSpPr>
            <p:cNvPr id="35" name="TextBox 35"/>
            <p:cNvSpPr txBox="1"/>
            <p:nvPr/>
          </p:nvSpPr>
          <p:spPr>
            <a:xfrm>
              <a:off x="9137127" y="5166360"/>
              <a:ext cx="928146"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models won</a:t>
              </a:r>
            </a:p>
          </p:txBody>
        </p:sp>
        <p:sp>
          <p:nvSpPr>
            <p:cNvPr id="36" name="TextBox 36"/>
            <p:cNvSpPr txBox="1"/>
            <p:nvPr/>
          </p:nvSpPr>
          <p:spPr>
            <a:xfrm>
              <a:off x="8827769" y="5400199"/>
              <a:ext cx="1546863"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by roughly four percent</a:t>
              </a:r>
            </a:p>
          </p:txBody>
        </p:sp>
      </p:grpSp>
      <p:grpSp>
        <p:nvGrpSpPr>
          <p:cNvPr id="40" name="Group 40"/>
          <p:cNvGrpSpPr/>
          <p:nvPr/>
        </p:nvGrpSpPr>
        <p:grpSpPr>
          <a:xfrm>
            <a:off x="604838" y="6521291"/>
            <a:ext cx="10982324" cy="161925"/>
            <a:chOff x="604838" y="6521291"/>
            <a:chExt cx="10982324" cy="161925"/>
          </a:xfrm>
        </p:grpSpPr>
        <p:sp>
          <p:nvSpPr>
            <p:cNvPr id="38" name="TextBox 38"/>
            <p:cNvSpPr txBox="1"/>
            <p:nvPr/>
          </p:nvSpPr>
          <p:spPr>
            <a:xfrm>
              <a:off x="604838" y="6521291"/>
              <a:ext cx="3478907"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Results tables · averaged over 4 models × 5 datasets</a:t>
              </a:r>
            </a:p>
          </p:txBody>
        </p:sp>
        <p:sp>
          <p:nvSpPr>
            <p:cNvPr id="39" name="TextBox 3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844121" cy="656939"/>
            <a:chOff x="571500" y="533400"/>
            <a:chExt cx="6844121"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62847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It's the data, not the loss formula</a:t>
              </a:r>
            </a:p>
          </p:txBody>
        </p:sp>
        <p:sp>
          <p:nvSpPr>
            <p:cNvPr id="4" name="TextBox 4"/>
            <p:cNvSpPr txBox="1"/>
            <p:nvPr/>
          </p:nvSpPr>
          <p:spPr>
            <a:xfrm>
              <a:off x="795147" y="999649"/>
              <a:ext cx="79470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a:t>
              </a:r>
            </a:p>
          </p:txBody>
        </p:sp>
      </p:grpSp>
      <p:grpSp>
        <p:nvGrpSpPr>
          <p:cNvPr id="12" name="Group 12"/>
          <p:cNvGrpSpPr/>
          <p:nvPr/>
        </p:nvGrpSpPr>
        <p:grpSpPr>
          <a:xfrm>
            <a:off x="609600" y="1504950"/>
            <a:ext cx="10972800" cy="1943862"/>
            <a:chOff x="609600" y="1504950"/>
            <a:chExt cx="10972800" cy="1943862"/>
          </a:xfrm>
        </p:grpSpPr>
        <p:sp>
          <p:nvSpPr>
            <p:cNvPr id="6" name="Rectangle 6"/>
            <p:cNvSpPr/>
            <p:nvPr/>
          </p:nvSpPr>
          <p:spPr>
            <a:xfrm>
              <a:off x="609600" y="1504950"/>
              <a:ext cx="10972800" cy="1905000"/>
            </a:xfrm>
            <a:prstGeom prst="roundRect">
              <a:avLst>
                <a:gd name="adj" fmla="val 8000"/>
              </a:avLst>
            </a:prstGeom>
            <a:gradFill>
              <a:gsLst>
                <a:gs pos="0">
                  <a:schemeClr val="accent1"/>
                </a:gs>
                <a:gs pos="100000">
                  <a:srgbClr val="3B2A66"/>
                </a:gs>
              </a:gsLst>
              <a:lin ang="0" scaled="1"/>
            </a:gradFill>
            <a:ln>
              <a:noFill/>
            </a:ln>
          </p:spPr>
        </p:sp>
        <p:sp>
          <p:nvSpPr>
            <p:cNvPr id="7" name="Rectangle 7"/>
            <p:cNvSpPr/>
            <p:nvPr/>
          </p:nvSpPr>
          <p:spPr>
            <a:xfrm>
              <a:off x="609600" y="1504950"/>
              <a:ext cx="57150" cy="1905000"/>
            </a:xfrm>
            <a:prstGeom prst="roundRect">
              <a:avLst>
                <a:gd name="adj" fmla="val 50000"/>
              </a:avLst>
            </a:prstGeom>
            <a:solidFill>
              <a:schemeClr val="accent6"/>
            </a:solidFill>
            <a:ln>
              <a:noFill/>
            </a:ln>
          </p:spPr>
        </p:sp>
        <p:sp>
          <p:nvSpPr>
            <p:cNvPr id="8" name="TextBox 8"/>
            <p:cNvSpPr txBox="1"/>
            <p:nvPr/>
          </p:nvSpPr>
          <p:spPr>
            <a:xfrm>
              <a:off x="947547" y="1837849"/>
              <a:ext cx="2141778" cy="190690"/>
            </a:xfrm>
            <a:prstGeom prst="rect">
              <a:avLst/>
            </a:prstGeom>
            <a:noFill/>
            <a:ln>
              <a:noFill/>
            </a:ln>
          </p:spPr>
          <p:txBody>
            <a:bodyPr wrap="none" lIns="0" tIns="0" rIns="0" bIns="0" anchor="t" anchorCtr="0">
              <a:spAutoFit/>
            </a:bodyPr>
            <a:lstStyle/>
            <a:p>
              <a:pPr algn="l"/>
              <a:r>
                <a:rPr lang="en-US" sz="980" b="1" spc="150" dirty="0">
                  <a:solidFill>
                    <a:srgbClr val="B79CF6"/>
                  </a:solidFill>
                  <a:latin typeface="+mn-lt"/>
                  <a:ea typeface="+mn-ea"/>
                  <a:cs typeface="+mn-cs"/>
                </a:rPr>
                <a:t>THE TAKE-HOME MESSAGE</a:t>
              </a:r>
            </a:p>
          </p:txBody>
        </p:sp>
        <p:sp>
          <p:nvSpPr>
            <p:cNvPr id="9" name="TextBox 9"/>
            <p:cNvSpPr txBox="1"/>
            <p:nvPr/>
          </p:nvSpPr>
          <p:spPr>
            <a:xfrm>
              <a:off x="940308" y="2179320"/>
              <a:ext cx="9137664"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 xml:space="preserve">CCS works because of the </a:t>
              </a:r>
              <a:r>
                <a:rPr lang="en-US" sz="2400" b="1" dirty="0">
                  <a:solidFill>
                    <a:srgbClr val="C4B0F7"/>
                  </a:solidFill>
                  <a:latin typeface="+mj-lt"/>
                  <a:ea typeface="+mj-ea"/>
                  <a:cs typeface="+mj-cs"/>
                </a:rPr>
                <a:t>displacement information</a:t>
              </a:r>
            </a:p>
          </p:txBody>
        </p:sp>
        <p:sp>
          <p:nvSpPr>
            <p:cNvPr id="10" name="TextBox 10"/>
            <p:cNvSpPr txBox="1"/>
            <p:nvPr/>
          </p:nvSpPr>
          <p:spPr>
            <a:xfrm>
              <a:off x="940308" y="2579370"/>
              <a:ext cx="472001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in its contrast-pair data —</a:t>
              </a:r>
            </a:p>
          </p:txBody>
        </p:sp>
        <p:sp>
          <p:nvSpPr>
            <p:cNvPr id="11" name="TextBox 11"/>
            <p:cNvSpPr txBox="1"/>
            <p:nvPr/>
          </p:nvSpPr>
          <p:spPr>
            <a:xfrm>
              <a:off x="940308" y="2979420"/>
              <a:ext cx="520391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not its specific loss formula.</a:t>
              </a:r>
            </a:p>
          </p:txBody>
        </p:sp>
      </p:grpSp>
      <p:grpSp>
        <p:nvGrpSpPr>
          <p:cNvPr id="23" name="Group 23"/>
          <p:cNvGrpSpPr/>
          <p:nvPr/>
        </p:nvGrpSpPr>
        <p:grpSpPr>
          <a:xfrm>
            <a:off x="609600" y="3619500"/>
            <a:ext cx="5334000" cy="2457450"/>
            <a:chOff x="609600" y="3619500"/>
            <a:chExt cx="5334000" cy="2457450"/>
          </a:xfrm>
        </p:grpSpPr>
        <p:sp>
          <p:nvSpPr>
            <p:cNvPr id="13" name="Rectangle 13"/>
            <p:cNvSpPr/>
            <p:nvPr/>
          </p:nvSpPr>
          <p:spPr>
            <a:xfrm>
              <a:off x="609600" y="3619500"/>
              <a:ext cx="5334000" cy="2457450"/>
            </a:xfrm>
            <a:prstGeom prst="roundRect">
              <a:avLst>
                <a:gd name="adj" fmla="val 5426"/>
              </a:avLst>
            </a:prstGeom>
            <a:solidFill>
              <a:srgbClr val="F3EEFE"/>
            </a:solidFill>
            <a:ln w="14288">
              <a:solidFill>
                <a:schemeClr val="accent6"/>
              </a:solidFill>
            </a:ln>
          </p:spPr>
        </p:sp>
        <p:sp>
          <p:nvSpPr>
            <p:cNvPr id="14" name="Rectangle 14"/>
            <p:cNvSpPr/>
            <p:nvPr/>
          </p:nvSpPr>
          <p:spPr>
            <a:xfrm>
              <a:off x="609600" y="3619500"/>
              <a:ext cx="5334000" cy="57150"/>
            </a:xfrm>
            <a:prstGeom prst="roundRect">
              <a:avLst>
                <a:gd name="adj" fmla="val 50000"/>
              </a:avLst>
            </a:prstGeom>
            <a:solidFill>
              <a:schemeClr val="accent6"/>
            </a:solidFill>
            <a:ln>
              <a:noFill/>
            </a:ln>
          </p:spPr>
        </p:sp>
        <p:sp>
          <p:nvSpPr>
            <p:cNvPr id="15" name="TextBox 15"/>
            <p:cNvSpPr txBox="1"/>
            <p:nvPr/>
          </p:nvSpPr>
          <p:spPr>
            <a:xfrm>
              <a:off x="871347" y="3895249"/>
              <a:ext cx="1991060"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A SIMPLE LOSS SUFFICES</a:t>
              </a:r>
            </a:p>
          </p:txBody>
        </p:sp>
        <p:sp>
          <p:nvSpPr>
            <p:cNvPr id="16" name="TextBox 16"/>
            <p:cNvSpPr txBox="1"/>
            <p:nvPr/>
          </p:nvSpPr>
          <p:spPr>
            <a:xfrm>
              <a:off x="867537" y="4176236"/>
              <a:ext cx="4457551"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MD reproduces CCS — then beats it</a:t>
              </a:r>
            </a:p>
          </p:txBody>
        </p:sp>
        <p:grpSp>
          <p:nvGrpSpPr>
            <p:cNvPr id="19" name="Group 19"/>
            <p:cNvGrpSpPr/>
            <p:nvPr/>
          </p:nvGrpSpPr>
          <p:grpSpPr>
            <a:xfrm>
              <a:off x="869442" y="4635818"/>
              <a:ext cx="4184913" cy="492633"/>
              <a:chOff x="869442" y="4635818"/>
              <a:chExt cx="4184913" cy="492633"/>
            </a:xfrm>
          </p:grpSpPr>
          <p:sp>
            <p:nvSpPr>
              <p:cNvPr id="17" name="TextBox 17"/>
              <p:cNvSpPr txBox="1"/>
              <p:nvPr/>
            </p:nvSpPr>
            <p:spPr>
              <a:xfrm>
                <a:off x="869442" y="4635818"/>
                <a:ext cx="41849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Matched to CCS, it recovers the same probe</a:t>
                </a:r>
              </a:p>
            </p:txBody>
          </p:sp>
          <p:sp>
            <p:nvSpPr>
              <p:cNvPr id="18" name="TextBox 18"/>
              <p:cNvSpPr txBox="1"/>
              <p:nvPr/>
            </p:nvSpPr>
            <p:spPr>
              <a:xfrm>
                <a:off x="1059942" y="4864418"/>
                <a:ext cx="233995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direction (cosine ≈ 0.63).</a:t>
                </a:r>
              </a:p>
            </p:txBody>
          </p:sp>
        </p:grpSp>
        <p:grpSp>
          <p:nvGrpSpPr>
            <p:cNvPr id="22" name="Group 22"/>
            <p:cNvGrpSpPr/>
            <p:nvPr/>
          </p:nvGrpSpPr>
          <p:grpSpPr>
            <a:xfrm>
              <a:off x="869442" y="5245418"/>
              <a:ext cx="4095726" cy="492633"/>
              <a:chOff x="869442" y="5245418"/>
              <a:chExt cx="4095726" cy="492633"/>
            </a:xfrm>
          </p:grpSpPr>
          <p:sp>
            <p:nvSpPr>
              <p:cNvPr id="20" name="TextBox 20"/>
              <p:cNvSpPr txBox="1"/>
              <p:nvPr/>
            </p:nvSpPr>
            <p:spPr>
              <a:xfrm>
                <a:off x="869442" y="5245418"/>
                <a:ext cx="40957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 Retuned for accuracy, it </a:t>
                </a:r>
                <a:r>
                  <a:rPr lang="en-US" sz="1350" b="1" dirty="0">
                    <a:solidFill>
                      <a:schemeClr val="accent6"/>
                    </a:solidFill>
                    <a:latin typeface="+mn-lt"/>
                    <a:ea typeface="+mn-ea"/>
                    <a:cs typeface="+mn-cs"/>
                  </a:rPr>
                  <a:t>outperforms</a:t>
                </a:r>
                <a:r>
                  <a:rPr lang="en-US" sz="1350" dirty="0">
                    <a:solidFill>
                      <a:schemeClr val="dk1"/>
                    </a:solidFill>
                    <a:latin typeface="+mn-lt"/>
                    <a:ea typeface="+mn-ea"/>
                    <a:cs typeface="+mn-cs"/>
                  </a:rPr>
                  <a:t xml:space="preserve"> CCS</a:t>
                </a:r>
              </a:p>
            </p:txBody>
          </p:sp>
          <p:sp>
            <p:nvSpPr>
              <p:cNvPr id="21" name="TextBox 21"/>
              <p:cNvSpPr txBox="1"/>
              <p:nvPr/>
            </p:nvSpPr>
            <p:spPr>
              <a:xfrm>
                <a:off x="1059942" y="5474018"/>
                <a:ext cx="21763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(0.76 vs 0.71 average).</a:t>
                </a:r>
              </a:p>
            </p:txBody>
          </p:sp>
        </p:grpSp>
      </p:grpSp>
      <p:grpSp>
        <p:nvGrpSpPr>
          <p:cNvPr id="35" name="Group 35"/>
          <p:cNvGrpSpPr/>
          <p:nvPr/>
        </p:nvGrpSpPr>
        <p:grpSpPr>
          <a:xfrm>
            <a:off x="6248400" y="3619500"/>
            <a:ext cx="5334000" cy="2457450"/>
            <a:chOff x="6248400" y="3619500"/>
            <a:chExt cx="5334000" cy="2457450"/>
          </a:xfrm>
        </p:grpSpPr>
        <p:sp>
          <p:nvSpPr>
            <p:cNvPr id="24" name="Rectangle 24"/>
            <p:cNvSpPr/>
            <p:nvPr/>
          </p:nvSpPr>
          <p:spPr>
            <a:xfrm>
              <a:off x="6248400" y="3619500"/>
              <a:ext cx="5334000" cy="2457450"/>
            </a:xfrm>
            <a:prstGeom prst="roundRect">
              <a:avLst>
                <a:gd name="adj" fmla="val 5426"/>
              </a:avLst>
            </a:prstGeom>
            <a:solidFill>
              <a:schemeClr val="accent1"/>
            </a:solidFill>
            <a:ln>
              <a:noFill/>
            </a:ln>
          </p:spPr>
        </p:sp>
        <p:sp>
          <p:nvSpPr>
            <p:cNvPr id="25" name="Rectangle 25"/>
            <p:cNvSpPr/>
            <p:nvPr/>
          </p:nvSpPr>
          <p:spPr>
            <a:xfrm>
              <a:off x="6248400" y="3619500"/>
              <a:ext cx="5334000" cy="57150"/>
            </a:xfrm>
            <a:prstGeom prst="roundRect">
              <a:avLst>
                <a:gd name="adj" fmla="val 50000"/>
              </a:avLst>
            </a:prstGeom>
            <a:solidFill>
              <a:schemeClr val="accent2"/>
            </a:solidFill>
            <a:ln>
              <a:noFill/>
            </a:ln>
          </p:spPr>
        </p:sp>
        <p:sp>
          <p:nvSpPr>
            <p:cNvPr id="26" name="TextBox 26"/>
            <p:cNvSpPr txBox="1"/>
            <p:nvPr/>
          </p:nvSpPr>
          <p:spPr>
            <a:xfrm>
              <a:off x="6510147" y="3895249"/>
              <a:ext cx="1270835" cy="190690"/>
            </a:xfrm>
            <a:prstGeom prst="rect">
              <a:avLst/>
            </a:prstGeom>
            <a:noFill/>
            <a:ln>
              <a:noFill/>
            </a:ln>
          </p:spPr>
          <p:txBody>
            <a:bodyPr wrap="none" lIns="0" tIns="0" rIns="0" bIns="0" anchor="t" anchorCtr="0">
              <a:spAutoFit/>
            </a:bodyPr>
            <a:lstStyle/>
            <a:p>
              <a:pPr algn="l"/>
              <a:r>
                <a:rPr lang="en-US" sz="980" b="1" spc="112" dirty="0">
                  <a:solidFill>
                    <a:srgbClr val="7CA9FF"/>
                  </a:solidFill>
                  <a:latin typeface="+mn-lt"/>
                  <a:ea typeface="+mn-ea"/>
                  <a:cs typeface="+mn-cs"/>
                </a:rPr>
                <a:t>THE REAL LEVER</a:t>
              </a:r>
            </a:p>
          </p:txBody>
        </p:sp>
        <p:sp>
          <p:nvSpPr>
            <p:cNvPr id="27" name="TextBox 27"/>
            <p:cNvSpPr txBox="1"/>
            <p:nvPr/>
          </p:nvSpPr>
          <p:spPr>
            <a:xfrm>
              <a:off x="6506337" y="4176236"/>
              <a:ext cx="4466498"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j-lt"/>
                  <a:ea typeface="+mj-ea"/>
                  <a:cs typeface="+mj-cs"/>
                </a:rPr>
                <a:t>The loss formula is interchangeable</a:t>
              </a:r>
            </a:p>
          </p:txBody>
        </p:sp>
        <p:sp>
          <p:nvSpPr>
            <p:cNvPr id="28" name="TextBox 28"/>
            <p:cNvSpPr txBox="1"/>
            <p:nvPr/>
          </p:nvSpPr>
          <p:spPr>
            <a:xfrm>
              <a:off x="6508623" y="4586764"/>
              <a:ext cx="3732318"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Among high-accuracy probes, the exact loss</a:t>
              </a:r>
            </a:p>
          </p:txBody>
        </p:sp>
        <p:sp>
          <p:nvSpPr>
            <p:cNvPr id="29" name="TextBox 29"/>
            <p:cNvSpPr txBox="1"/>
            <p:nvPr/>
          </p:nvSpPr>
          <p:spPr>
            <a:xfrm>
              <a:off x="6508623" y="4815364"/>
              <a:ext cx="3585614"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barely matters. What actually defines the</a:t>
              </a:r>
            </a:p>
          </p:txBody>
        </p:sp>
        <p:sp>
          <p:nvSpPr>
            <p:cNvPr id="30" name="TextBox 30"/>
            <p:cNvSpPr txBox="1"/>
            <p:nvPr/>
          </p:nvSpPr>
          <p:spPr>
            <a:xfrm>
              <a:off x="6508623" y="5043964"/>
              <a:ext cx="3915857"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target is the balance between two quantities:</a:t>
              </a:r>
            </a:p>
          </p:txBody>
        </p:sp>
        <p:sp>
          <p:nvSpPr>
            <p:cNvPr id="31" name="Rectangle 31"/>
            <p:cNvSpPr/>
            <p:nvPr/>
          </p:nvSpPr>
          <p:spPr>
            <a:xfrm>
              <a:off x="6515100" y="5353050"/>
              <a:ext cx="2362200" cy="533400"/>
            </a:xfrm>
            <a:prstGeom prst="roundRect">
              <a:avLst>
                <a:gd name="adj" fmla="val 17857"/>
              </a:avLst>
            </a:prstGeom>
            <a:solidFill>
              <a:srgbClr val="1B3350"/>
            </a:solidFill>
            <a:ln>
              <a:noFill/>
            </a:ln>
          </p:spPr>
        </p:sp>
        <p:sp>
          <p:nvSpPr>
            <p:cNvPr id="32" name="TextBox 32"/>
            <p:cNvSpPr txBox="1"/>
            <p:nvPr/>
          </p:nvSpPr>
          <p:spPr>
            <a:xfrm>
              <a:off x="6755810" y="5523071"/>
              <a:ext cx="1880781" cy="278702"/>
            </a:xfrm>
            <a:prstGeom prst="rect">
              <a:avLst/>
            </a:prstGeom>
            <a:noFill/>
            <a:ln>
              <a:noFill/>
            </a:ln>
          </p:spPr>
          <p:txBody>
            <a:bodyPr wrap="none" lIns="0" tIns="0" rIns="0" bIns="0" anchor="t" anchorCtr="0">
              <a:spAutoFit/>
            </a:bodyPr>
            <a:lstStyle/>
            <a:p>
              <a:pPr algn="ctr"/>
              <a:r>
                <a:rPr lang="en-US" sz="1420" b="1" dirty="0">
                  <a:solidFill>
                    <a:srgbClr val="7CA9FF"/>
                  </a:solidFill>
                  <a:latin typeface="+mj-lt"/>
                  <a:ea typeface="+mj-ea"/>
                  <a:cs typeface="+mj-cs"/>
                </a:rPr>
                <a:t>σ_d² displacement</a:t>
              </a:r>
            </a:p>
          </p:txBody>
        </p:sp>
        <p:sp>
          <p:nvSpPr>
            <p:cNvPr id="33" name="Rectangle 33"/>
            <p:cNvSpPr/>
            <p:nvPr/>
          </p:nvSpPr>
          <p:spPr>
            <a:xfrm>
              <a:off x="9029700" y="5353050"/>
              <a:ext cx="2286000" cy="533400"/>
            </a:xfrm>
            <a:prstGeom prst="roundRect">
              <a:avLst>
                <a:gd name="adj" fmla="val 17857"/>
              </a:avLst>
            </a:prstGeom>
            <a:solidFill>
              <a:srgbClr val="3B2A66"/>
            </a:solidFill>
            <a:ln>
              <a:noFill/>
            </a:ln>
          </p:spPr>
        </p:sp>
        <p:sp>
          <p:nvSpPr>
            <p:cNvPr id="34" name="TextBox 34"/>
            <p:cNvSpPr txBox="1"/>
            <p:nvPr/>
          </p:nvSpPr>
          <p:spPr>
            <a:xfrm>
              <a:off x="9444390" y="5523071"/>
              <a:ext cx="1456621" cy="278702"/>
            </a:xfrm>
            <a:prstGeom prst="rect">
              <a:avLst/>
            </a:prstGeom>
            <a:noFill/>
            <a:ln>
              <a:noFill/>
            </a:ln>
          </p:spPr>
          <p:txBody>
            <a:bodyPr wrap="none" lIns="0" tIns="0" rIns="0" bIns="0" anchor="t" anchorCtr="0">
              <a:spAutoFit/>
            </a:bodyPr>
            <a:lstStyle/>
            <a:p>
              <a:pPr algn="ctr"/>
              <a:r>
                <a:rPr lang="en-US" sz="1420" b="1" dirty="0">
                  <a:solidFill>
                    <a:srgbClr val="C4B0F7"/>
                  </a:solidFill>
                  <a:latin typeface="+mj-lt"/>
                  <a:ea typeface="+mj-ea"/>
                  <a:cs typeface="+mj-cs"/>
                </a:rPr>
                <a:t>σ_m² midpoint</a:t>
              </a:r>
            </a:p>
          </p:txBody>
        </p:sp>
      </p:grpSp>
      <p:grpSp>
        <p:nvGrpSpPr>
          <p:cNvPr id="38" name="Group 38"/>
          <p:cNvGrpSpPr/>
          <p:nvPr/>
        </p:nvGrpSpPr>
        <p:grpSpPr>
          <a:xfrm>
            <a:off x="604838" y="6521291"/>
            <a:ext cx="10982324" cy="161925"/>
            <a:chOff x="604838" y="6521291"/>
            <a:chExt cx="10982324" cy="161925"/>
          </a:xfrm>
        </p:grpSpPr>
        <p:sp>
          <p:nvSpPr>
            <p:cNvPr id="36" name="TextBox 36"/>
            <p:cNvSpPr txBox="1"/>
            <p:nvPr/>
          </p:nvSpPr>
          <p:spPr>
            <a:xfrm>
              <a:off x="604838" y="6521291"/>
              <a:ext cx="526062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Fry et al. · Comparing Optimization Targets for Contrast-Consistent Search · arXiv:2311.00488</a:t>
              </a:r>
            </a:p>
          </p:txBody>
        </p:sp>
        <p:sp>
          <p:nvSpPr>
            <p:cNvPr id="37" name="TextBox 37"/>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cs_deck">
  <a:themeElements>
    <a:clrScheme name="ccs_deck">
      <a:dk1>
        <a:srgbClr val="12243B"/>
      </a:dk1>
      <a:lt1>
        <a:srgbClr val="FFFFFF"/>
      </a:lt1>
      <a:dk2>
        <a:srgbClr val="475569"/>
      </a:dk2>
      <a:lt2>
        <a:srgbClr val="F1F5F9"/>
      </a:lt2>
      <a:accent1>
        <a:srgbClr val="12243B"/>
      </a:accent1>
      <a:accent2>
        <a:srgbClr val="2563EB"/>
      </a:accent2>
      <a:accent3>
        <a:srgbClr val="2563EB"/>
      </a:accent3>
      <a:accent4>
        <a:srgbClr val="E2E8F0"/>
      </a:accent4>
      <a:accent5>
        <a:srgbClr val="F8FAFC"/>
      </a:accent5>
      <a:accent6>
        <a:srgbClr val="7C3AED"/>
      </a:accent6>
      <a:hlink>
        <a:srgbClr val="2563EB"/>
      </a:hlink>
      <a:folHlink>
        <a:srgbClr val="2563EB"/>
      </a:folHlink>
    </a:clrScheme>
    <a:fontScheme name="ccs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cs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cs_deck">
  <a:themeElements>
    <a:clrScheme name="ccs_deck">
      <a:dk1>
        <a:srgbClr val="12243B"/>
      </a:dk1>
      <a:lt1>
        <a:srgbClr val="FFFFFF"/>
      </a:lt1>
      <a:dk2>
        <a:srgbClr val="475569"/>
      </a:dk2>
      <a:lt2>
        <a:srgbClr val="F1F5F9"/>
      </a:lt2>
      <a:accent1>
        <a:srgbClr val="12243B"/>
      </a:accent1>
      <a:accent2>
        <a:srgbClr val="2563EB"/>
      </a:accent2>
      <a:accent3>
        <a:srgbClr val="2563EB"/>
      </a:accent3>
      <a:accent4>
        <a:srgbClr val="E2E8F0"/>
      </a:accent4>
      <a:accent5>
        <a:srgbClr val="F8FAFC"/>
      </a:accent5>
      <a:accent6>
        <a:srgbClr val="7C3AED"/>
      </a:accent6>
      <a:hlink>
        <a:srgbClr val="2563EB"/>
      </a:hlink>
      <a:folHlink>
        <a:srgbClr val="2563EB"/>
      </a:folHlink>
    </a:clrScheme>
    <a:fontScheme name="ccs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cs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2026-07-15T01:12:24Z</dcterms:created>
  <dcterms:modified xsi:type="dcterms:W3CDTF">2026-07-15T01:12:24Z</dcterms:modified>
  <cp:category/>
  <cp:contentStatus/>
</cp:coreProperties>
</file>
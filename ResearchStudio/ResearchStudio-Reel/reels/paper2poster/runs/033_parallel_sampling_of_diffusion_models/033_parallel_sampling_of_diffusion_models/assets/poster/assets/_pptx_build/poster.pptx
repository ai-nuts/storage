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1887" y="651887"/>
            <a:ext cx="49902625" cy="315275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3760192"/>
            <a:ext cx="49902625" cy="4445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4326096"/>
            <a:ext cx="10804961" cy="78284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887" y="4326096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3568" y="4326096"/>
            <a:ext cx="13506133" cy="25745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3568" y="4326096"/>
            <a:ext cx="13506133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816421" y="4326096"/>
            <a:ext cx="13506271" cy="58753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816421" y="4326096"/>
            <a:ext cx="1350627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4326096"/>
            <a:ext cx="10804962" cy="95332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4326096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816421" y="10533260"/>
            <a:ext cx="13506271" cy="478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816421" y="10533260"/>
            <a:ext cx="1350627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887" y="12486421"/>
            <a:ext cx="10804961" cy="175855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887" y="12486421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49412" y="14191218"/>
            <a:ext cx="10804962" cy="10623272"/>
          </a:xfrm>
          <a:prstGeom prst="rect">
            <a:avLst/>
          </a:prstGeom>
          <a:solidFill>
            <a:srgbClr val="F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49412" y="14191218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49412" y="14191218"/>
            <a:ext cx="53340" cy="10623272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816421" y="15645427"/>
            <a:ext cx="13506271" cy="14426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816421" y="15645427"/>
            <a:ext cx="1350627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749412" y="25146337"/>
            <a:ext cx="10804962" cy="49256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749412" y="25146337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185" y="1257799"/>
            <a:ext cx="4344988" cy="1896480"/>
          </a:xfrm>
          <a:prstGeom prst="rect">
            <a:avLst/>
          </a:prstGeom>
        </p:spPr>
      </p:pic>
      <p:pic>
        <p:nvPicPr>
          <p:cNvPr id="24" name="Picture 23" descr="stanford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741" y="1263633"/>
            <a:ext cx="8991680" cy="1884673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88861" y="9805947"/>
            <a:ext cx="1033101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861" y="9805947"/>
            <a:ext cx="124460" cy="215902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986386" y="11277798"/>
            <a:ext cx="10331014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986386" y="11277798"/>
            <a:ext cx="10331014" cy="11557"/>
          </a:xfrm>
          <a:prstGeom prst="rect">
            <a:avLst/>
          </a:prstGeom>
          <a:solidFill>
            <a:srgbClr val="BAB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6053395" y="11925935"/>
            <a:ext cx="13032323" cy="3223736"/>
          </a:xfrm>
          <a:prstGeom prst="roundRect">
            <a:avLst>
              <a:gd name="adj" fmla="val 2206"/>
            </a:avLst>
          </a:prstGeom>
          <a:gradFill rotWithShape="1" flip="none">
            <a:gsLst>
              <a:gs pos="0">
                <a:srgbClr val="E7E9EB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DD1D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120542" y="12818685"/>
            <a:ext cx="13032185" cy="2381548"/>
          </a:xfrm>
          <a:prstGeom prst="roundRect">
            <a:avLst>
              <a:gd name="adj" fmla="val 9460"/>
            </a:avLst>
          </a:prstGeom>
          <a:solidFill>
            <a:srgbClr val="F3F4F5"/>
          </a:solidFill>
          <a:ln w="8890">
            <a:solidFill>
              <a:srgbClr val="BF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0039726" y="19625647"/>
            <a:ext cx="10277674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0039726" y="19625647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88861" y="22585739"/>
            <a:ext cx="10331013" cy="2325985"/>
          </a:xfrm>
          <a:prstGeom prst="roundRect">
            <a:avLst>
              <a:gd name="adj" fmla="val 8969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039726" y="23054270"/>
            <a:ext cx="10277674" cy="1668820"/>
          </a:xfrm>
          <a:prstGeom prst="roundRect">
            <a:avLst>
              <a:gd name="adj" fmla="val 125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6053395" y="24415829"/>
            <a:ext cx="13032323" cy="1942187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053395" y="26815018"/>
            <a:ext cx="13032323" cy="29111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53395" y="26815018"/>
            <a:ext cx="13032323" cy="11557"/>
          </a:xfrm>
          <a:prstGeom prst="rect">
            <a:avLst/>
          </a:prstGeom>
          <a:solidFill>
            <a:srgbClr val="BAB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6053395" y="8248114"/>
            <a:ext cx="4280396" cy="819824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Robosuite Square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490199" y="8248114"/>
            <a:ext cx="1842036" cy="819824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PushT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488643" y="8248114"/>
            <a:ext cx="3566557" cy="819824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8465C"/>
                </a:solidFill>
                <a:latin typeface="Arial"/>
              </a:rPr>
              <a:t>FrankaKitchen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053395" y="9224347"/>
            <a:ext cx="437888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StableDiffusion-v2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588684" y="9224347"/>
            <a:ext cx="3368754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LSUN Church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113847" y="9224347"/>
            <a:ext cx="3762831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LSUN Bedroom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322081" y="12148185"/>
            <a:ext cx="5517773" cy="28267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322081" y="12148185"/>
            <a:ext cx="11557" cy="2826742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2120542" y="15782667"/>
            <a:ext cx="13032185" cy="6305788"/>
          </a:xfrm>
          <a:prstGeom prst="roundRect">
            <a:avLst>
              <a:gd name="adj" fmla="val 56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figur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0653" y="15782667"/>
            <a:ext cx="13031962" cy="630578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40529232" y="19782055"/>
            <a:ext cx="1473795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88861" y="25470961"/>
            <a:ext cx="10331013" cy="2413913"/>
          </a:xfrm>
          <a:prstGeom prst="roundRect">
            <a:avLst>
              <a:gd name="adj" fmla="val 147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figure_compgrap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76" y="25470961"/>
            <a:ext cx="10330783" cy="2413913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39986386" y="9303246"/>
            <a:ext cx="10331014" cy="945118"/>
          </a:xfrm>
          <a:prstGeom prst="rect">
            <a:avLst/>
          </a:prstGeom>
          <a:solidFill>
            <a:srgbClr val="EBE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2120542" y="24104679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120542" y="26026308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120542" y="27947937"/>
            <a:ext cx="703977" cy="703977"/>
          </a:xfrm>
          <a:prstGeom prst="roundRect">
            <a:avLst>
              <a:gd name="adj" fmla="val 50000"/>
            </a:avLst>
          </a:prstGeom>
          <a:solidFill>
            <a:srgbClr val="384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986386" y="7651650"/>
            <a:ext cx="3899932" cy="706477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9986386" y="8349237"/>
            <a:ext cx="389993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886318" y="7651650"/>
            <a:ext cx="1892875" cy="706477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886318" y="8349237"/>
            <a:ext cx="189287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5779193" y="7651650"/>
            <a:ext cx="1772305" cy="706477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779193" y="8349237"/>
            <a:ext cx="177230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551498" y="7651650"/>
            <a:ext cx="2765902" cy="706477"/>
          </a:xfrm>
          <a:prstGeom prst="rect">
            <a:avLst/>
          </a:prstGeom>
          <a:solidFill>
            <a:srgbClr val="F3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7551498" y="8349237"/>
            <a:ext cx="276590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986386" y="8358127"/>
            <a:ext cx="3899932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986386" y="9294356"/>
            <a:ext cx="389993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886318" y="8358127"/>
            <a:ext cx="189287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86318" y="9294356"/>
            <a:ext cx="189287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79193" y="8358127"/>
            <a:ext cx="177230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5779193" y="9294356"/>
            <a:ext cx="177230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7551498" y="8358127"/>
            <a:ext cx="2765902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551498" y="9294356"/>
            <a:ext cx="276590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9986386" y="9303246"/>
            <a:ext cx="389993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9986386" y="10239474"/>
            <a:ext cx="389993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886318" y="9303246"/>
            <a:ext cx="189287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886318" y="10239474"/>
            <a:ext cx="189287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5779193" y="9303246"/>
            <a:ext cx="17723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5779193" y="10239474"/>
            <a:ext cx="177230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7551498" y="9303246"/>
            <a:ext cx="276590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7551498" y="10239474"/>
            <a:ext cx="276590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9986386" y="10248364"/>
            <a:ext cx="389993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9986386" y="11184592"/>
            <a:ext cx="389993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886318" y="10248364"/>
            <a:ext cx="189287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886318" y="11184592"/>
            <a:ext cx="189287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5779193" y="10248364"/>
            <a:ext cx="177230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5779193" y="11184592"/>
            <a:ext cx="1772305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7551498" y="10248364"/>
            <a:ext cx="2765902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7551498" y="11184592"/>
            <a:ext cx="2765902" cy="11557"/>
          </a:xfrm>
          <a:prstGeom prst="rect">
            <a:avLst/>
          </a:prstGeom>
          <a:solidFill>
            <a:srgbClr val="E1E3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053395" y="17408009"/>
            <a:ext cx="6261477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053395" y="18213526"/>
            <a:ext cx="62614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2314872" y="17408009"/>
            <a:ext cx="1883291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314872" y="18213526"/>
            <a:ext cx="18832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198163" y="17408009"/>
            <a:ext cx="1845230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4198163" y="18213526"/>
            <a:ext cx="18452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043393" y="17408009"/>
            <a:ext cx="3042325" cy="814407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6043393" y="18213526"/>
            <a:ext cx="30423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6053395" y="18222416"/>
            <a:ext cx="626147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6053395" y="19032378"/>
            <a:ext cx="62614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2314872" y="18222416"/>
            <a:ext cx="188329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2314872" y="19032378"/>
            <a:ext cx="18832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4198163" y="18222416"/>
            <a:ext cx="184523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4198163" y="19032378"/>
            <a:ext cx="18452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6043393" y="18222416"/>
            <a:ext cx="304232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6043393" y="19032378"/>
            <a:ext cx="30423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6053395" y="19041268"/>
            <a:ext cx="6261477" cy="818853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053395" y="19851231"/>
            <a:ext cx="62614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2314872" y="19041268"/>
            <a:ext cx="1883291" cy="818853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2314872" y="19851231"/>
            <a:ext cx="18832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4198163" y="19041268"/>
            <a:ext cx="1845230" cy="818853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4198163" y="19851231"/>
            <a:ext cx="18452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6043393" y="19041268"/>
            <a:ext cx="3042325" cy="818853"/>
          </a:xfrm>
          <a:prstGeom prst="rect">
            <a:avLst/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6043393" y="19851231"/>
            <a:ext cx="30423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6053395" y="19860121"/>
            <a:ext cx="626147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26053395" y="20670083"/>
            <a:ext cx="62614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2314872" y="19860121"/>
            <a:ext cx="188329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2314872" y="20670083"/>
            <a:ext cx="18832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4198163" y="19860121"/>
            <a:ext cx="184523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4198163" y="20670083"/>
            <a:ext cx="18452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6043393" y="19860121"/>
            <a:ext cx="304232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6043393" y="20670083"/>
            <a:ext cx="30423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6053395" y="20678973"/>
            <a:ext cx="626147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6053395" y="21488935"/>
            <a:ext cx="62614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2314872" y="20678973"/>
            <a:ext cx="188329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2314872" y="21488935"/>
            <a:ext cx="18832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4198163" y="20678973"/>
            <a:ext cx="184523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4198163" y="21488935"/>
            <a:ext cx="18452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6043393" y="20678973"/>
            <a:ext cx="304232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6043393" y="21488935"/>
            <a:ext cx="30423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6053395" y="21497825"/>
            <a:ext cx="6261477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6053395" y="22307788"/>
            <a:ext cx="62614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2314872" y="21497825"/>
            <a:ext cx="1883291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2314872" y="22307788"/>
            <a:ext cx="18832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4198163" y="21497825"/>
            <a:ext cx="1845230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4198163" y="22307788"/>
            <a:ext cx="18452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6043393" y="21497825"/>
            <a:ext cx="3042325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6043393" y="22307788"/>
            <a:ext cx="30423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6053395" y="22316678"/>
            <a:ext cx="626147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6053395" y="23126640"/>
            <a:ext cx="62614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2314872" y="22316678"/>
            <a:ext cx="188329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2314872" y="23126640"/>
            <a:ext cx="18832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4198163" y="22316678"/>
            <a:ext cx="184523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34198163" y="23126640"/>
            <a:ext cx="18452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6043393" y="22316678"/>
            <a:ext cx="304232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6043393" y="23126640"/>
            <a:ext cx="30423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6053395" y="23135530"/>
            <a:ext cx="626147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6053395" y="23945492"/>
            <a:ext cx="626147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32314872" y="23135530"/>
            <a:ext cx="1883291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32314872" y="23945492"/>
            <a:ext cx="1883291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4198163" y="23135530"/>
            <a:ext cx="1845230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4198163" y="23945492"/>
            <a:ext cx="1845230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6043393" y="23135530"/>
            <a:ext cx="304232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6043393" y="23945492"/>
            <a:ext cx="304232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41773832" y="26159519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pap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2365" y="26278052"/>
            <a:ext cx="2844708" cy="2844708"/>
          </a:xfrm>
          <a:prstGeom prst="rect">
            <a:avLst/>
          </a:prstGeom>
        </p:spPr>
      </p:pic>
      <p:sp>
        <p:nvSpPr>
          <p:cNvPr id="153" name="Rounded Rectangle 152"/>
          <p:cNvSpPr/>
          <p:nvPr/>
        </p:nvSpPr>
        <p:spPr>
          <a:xfrm>
            <a:off x="45448180" y="26159519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6713" y="26278052"/>
            <a:ext cx="2844708" cy="2844708"/>
          </a:xfrm>
          <a:prstGeom prst="rect">
            <a:avLst/>
          </a:prstGeom>
        </p:spPr>
      </p:pic>
      <p:sp>
        <p:nvSpPr>
          <p:cNvPr id="155" name="Rounded Rectangle 154"/>
          <p:cNvSpPr/>
          <p:nvPr/>
        </p:nvSpPr>
        <p:spPr>
          <a:xfrm>
            <a:off x="42669638" y="29383533"/>
            <a:ext cx="1290022" cy="541596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38465C"/>
                </a:solidFill>
                <a:latin typeface="Arial"/>
              </a:rPr>
              <a:t>Paper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6390103" y="29383533"/>
            <a:ext cx="1197789" cy="541596"/>
          </a:xfrm>
          <a:prstGeom prst="roundRect">
            <a:avLst>
              <a:gd name="adj" fmla="val 50000"/>
            </a:avLst>
          </a:prstGeom>
          <a:solidFill>
            <a:srgbClr val="ECE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38465C"/>
                </a:solidFill>
                <a:latin typeface="Arial"/>
              </a:rPr>
              <a:t>Code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3446402" y="983734"/>
            <a:ext cx="24740176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111111"/>
                </a:solidFill>
                <a:latin typeface="Arial"/>
              </a:rPr>
              <a:t>Parallel Sampling of Diffusion Models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3446402" y="2277923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C1C1C"/>
                </a:solidFill>
                <a:latin typeface="Arial"/>
              </a:rPr>
              <a:t>Andy Shih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Suneel Belkhale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Stefano Ermon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Dorsa Sadigh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  <a:r>
              <a:rPr sz="3733" b="0">
                <a:solidFill>
                  <a:srgbClr val="1C1C1C"/>
                </a:solidFill>
                <a:latin typeface="Arial"/>
              </a:rPr>
              <a:t>, Nima Anari</a:t>
            </a:r>
            <a:r>
              <a:rPr sz="5226" b="0" baseline="30000">
                <a:solidFill>
                  <a:srgbClr val="1C1C1C"/>
                </a:solidFill>
                <a:latin typeface="Arial"/>
              </a:rPr>
              <a:t>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446402" y="2947173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A5A5A"/>
                </a:solidFill>
                <a:latin typeface="Arial"/>
              </a:rPr>
              <a:t>1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Stanford University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88861" y="4651970"/>
            <a:ext cx="106409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120542" y="4651970"/>
            <a:ext cx="13423150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6053395" y="4651970"/>
            <a:ext cx="1342329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Dataset / Benchmark 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9986386" y="4651970"/>
            <a:ext cx="1064094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Ablation Study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88861" y="5718770"/>
            <a:ext cx="10640943" cy="440041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Diffusion models generate high-quality samples but sample </a:t>
            </a:r>
            <a:r>
              <a:rPr sz="4106" b="1">
                <a:solidFill>
                  <a:srgbClr val="111111"/>
                </a:solidFill>
                <a:latin typeface="Arial"/>
              </a:rPr>
              <a:t>slowly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single sample can require up to </a:t>
            </a:r>
            <a:r>
              <a:rPr sz="4353" b="1">
                <a:solidFill>
                  <a:srgbClr val="111111"/>
                </a:solidFill>
                <a:latin typeface="Arial"/>
              </a:rPr>
              <a:t>1000</a:t>
            </a:r>
            <a:r>
              <a:rPr sz="4106" b="0">
                <a:solidFill>
                  <a:srgbClr val="1C1C1C"/>
                </a:solidFill>
                <a:latin typeface="Arial"/>
              </a:rPr>
              <a:t> sequential denoising steps, far too slow for interactive use.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6053395" y="5718770"/>
            <a:ext cx="1342329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Robotics diffusion policies scored by task reward over 200 episodes; image generation judged by CLIP score (COCO) and FID (LSUN).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9986386" y="5798641"/>
            <a:ext cx="10640944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Tolerance τ trades speed for fidelity on SD-v2 (200-step DDIM):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88861" y="9805947"/>
            <a:ext cx="10640943" cy="2482873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Fewer steps (DDIM, DPMSolver) buy speed only by paying with sample quality.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26053395" y="10859135"/>
            <a:ext cx="13423292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9986386" y="11277798"/>
            <a:ext cx="10640944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 relaxed tolerance preserves quality while delivering most of the speedup; gains come from parallelism, not fewer steps.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88861" y="12812295"/>
            <a:ext cx="106409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0039726" y="14517092"/>
            <a:ext cx="1058600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4425830" y="14759900"/>
            <a:ext cx="8674114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</a:t>
            </a:r>
            <a:r>
              <a:rPr sz="4435" b="0">
                <a:solidFill>
                  <a:srgbClr val="1C1C1C"/>
                </a:solidFill>
                <a:latin typeface="Cambria Math"/>
              </a:rPr>
              <a:t>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Picard update: every timestep refined in parallel from the cumulative drift.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0039726" y="15583892"/>
            <a:ext cx="10586004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By reformulating denoising as parallel Picard iteration, ParaDiGMS trades extra compute for </a:t>
            </a:r>
            <a:r>
              <a:rPr sz="4106" b="1">
                <a:solidFill>
                  <a:srgbClr val="111111"/>
                </a:solidFill>
                <a:latin typeface="Arial"/>
              </a:rPr>
              <a:t>2–4× lower sampling latency</a:t>
            </a:r>
            <a:r>
              <a:rPr sz="4106" b="0">
                <a:solidFill>
                  <a:srgbClr val="1C1C1C"/>
                </a:solidFill>
                <a:latin typeface="Arial"/>
              </a:rPr>
              <a:t> with no quality loss — and layers on top of DDIM and DPMSolver.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6053395" y="15971301"/>
            <a:ext cx="1342329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88861" y="22585739"/>
            <a:ext cx="10640943" cy="2674882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8465C"/>
                </a:solidFill>
                <a:latin typeface="Arial"/>
              </a:rPr>
              <a:t>Trade compute for speed, not quality for speed — an orthogonal axis to fewer-step samplers.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40039726" y="23054270"/>
            <a:ext cx="10586004" cy="1919142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 new axis for accelerating diffusion: spend compute, not quality.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6053395" y="24415829"/>
            <a:ext cx="13423292" cy="2233515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8465C"/>
                </a:solidFill>
                <a:latin typeface="Arial"/>
              </a:rPr>
              <a:t>2–4× faster sampling — no measurable quality loss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6053395" y="26815018"/>
            <a:ext cx="13423292" cy="3347876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A consistent 2–4× latency reduction across robotics control and image generation, holding task reward, FID, and CLIP score unchanged — the parallel iterations to converge are up to 20× fewer than the sequential steps.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2120524" y="5899765"/>
            <a:ext cx="1342316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Reframe denoising as solving an </a:t>
            </a:r>
            <a:r>
              <a:rPr sz="4106" b="1">
                <a:solidFill>
                  <a:srgbClr val="111111"/>
                </a:solidFill>
                <a:latin typeface="Arial"/>
              </a:rPr>
              <a:t>ODE by Picard iteration</a:t>
            </a:r>
            <a:r>
              <a:rPr sz="4106" b="0">
                <a:solidFill>
                  <a:srgbClr val="1C1C1C"/>
                </a:solidFill>
                <a:latin typeface="Arial"/>
              </a:rPr>
              <a:t>: guess the entire trajectory, then refine every timestep in parallel.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2120524" y="8350904"/>
            <a:ext cx="13423169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Iterate to a </a:t>
            </a:r>
            <a:r>
              <a:rPr sz="4106" b="1">
                <a:solidFill>
                  <a:srgbClr val="111111"/>
                </a:solidFill>
                <a:latin typeface="Arial"/>
              </a:rPr>
              <a:t>fixed point</a:t>
            </a:r>
            <a:r>
              <a:rPr sz="4106" b="0">
                <a:solidFill>
                  <a:srgbClr val="1C1C1C"/>
                </a:solidFill>
                <a:latin typeface="Arial"/>
              </a:rPr>
              <a:t> — empirically converging in far fewer iterations than there are denoising steps.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2120524" y="10045838"/>
            <a:ext cx="13423169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Process a sliding </a:t>
            </a:r>
            <a:r>
              <a:rPr sz="4106" b="1">
                <a:solidFill>
                  <a:srgbClr val="111111"/>
                </a:solidFill>
                <a:latin typeface="Arial"/>
              </a:rPr>
              <a:t>batch window</a:t>
            </a:r>
            <a:r>
              <a:rPr sz="4106" b="0">
                <a:solidFill>
                  <a:srgbClr val="1C1C1C"/>
                </a:solidFill>
                <a:latin typeface="Arial"/>
              </a:rPr>
              <a:t> of size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p</a:t>
            </a:r>
            <a:r>
              <a:rPr sz="4106" b="0">
                <a:solidFill>
                  <a:srgbClr val="1C1C1C"/>
                </a:solidFill>
                <a:latin typeface="Arial"/>
              </a:rPr>
              <a:t> to fit GPU memory, advancing it once the leading timesteps converge.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88842" y="14177605"/>
            <a:ext cx="10640962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Instead of trading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quality</a:t>
            </a:r>
            <a:r>
              <a:rPr sz="4106" b="0">
                <a:solidFill>
                  <a:srgbClr val="1C1C1C"/>
                </a:solidFill>
                <a:latin typeface="Arial"/>
              </a:rPr>
              <a:t> for speed by cutting steps, spend extra </a:t>
            </a:r>
            <a:r>
              <a:rPr sz="4106" b="1">
                <a:solidFill>
                  <a:srgbClr val="111111"/>
                </a:solidFill>
                <a:latin typeface="Arial"/>
              </a:rPr>
              <a:t>parallel compute</a:t>
            </a:r>
            <a:r>
              <a:rPr sz="4106" b="0">
                <a:solidFill>
                  <a:srgbClr val="1C1C1C"/>
                </a:solidFill>
                <a:latin typeface="Arial"/>
              </a:rPr>
              <a:t> to run all the steps in less wall-clock time.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88842" y="17384950"/>
            <a:ext cx="1064096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bottleneck is single-sample </a:t>
            </a:r>
            <a:r>
              <a:rPr sz="4106" b="1">
                <a:solidFill>
                  <a:srgbClr val="111111"/>
                </a:solidFill>
                <a:latin typeface="Arial"/>
              </a:rPr>
              <a:t>latency</a:t>
            </a:r>
            <a:r>
              <a:rPr sz="4106" b="0">
                <a:solidFill>
                  <a:srgbClr val="1C1C1C"/>
                </a:solidFill>
                <a:latin typeface="Arial"/>
              </a:rPr>
              <a:t>, not throughput — denoising is inherently sequential, so this looks hard.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88842" y="19836090"/>
            <a:ext cx="1064096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ParaDiGMS is </a:t>
            </a:r>
            <a:r>
              <a:rPr sz="4106" b="1">
                <a:solidFill>
                  <a:srgbClr val="111111"/>
                </a:solidFill>
                <a:latin typeface="Arial"/>
              </a:rPr>
              <a:t>complementary</a:t>
            </a:r>
            <a:r>
              <a:rPr sz="4106" b="0">
                <a:solidFill>
                  <a:srgbClr val="1C1C1C"/>
                </a:solidFill>
                <a:latin typeface="Arial"/>
              </a:rPr>
              <a:t> to fast samplers like DDIM and DPMSolver — the speedups compound.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0529232" y="20629245"/>
            <a:ext cx="9705815" cy="2608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first diffusion sampler to trade parallel compute for lower single-sample latency.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2641857" y="22238057"/>
            <a:ext cx="12349240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ParaDiGMS computes the drift at multiple timesteps in parallel over a batch window of size p, then slides the window forward once the error falls below tolerance.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3082685" y="24104679"/>
            <a:ext cx="12432143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Guess</a:t>
            </a:r>
            <a:r>
              <a:rPr sz="4106" b="0">
                <a:solidFill>
                  <a:srgbClr val="1C1C1C"/>
                </a:solidFill>
                <a:latin typeface="Arial"/>
              </a:rPr>
              <a:t> the entire denoising trajectory as an initial value.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43664346" y="25472211"/>
            <a:ext cx="3064203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-18">
                <a:solidFill>
                  <a:srgbClr val="38465C"/>
                </a:solidFill>
                <a:latin typeface="Arial"/>
              </a:rPr>
              <a:t>Scan to Read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3082685" y="26026308"/>
            <a:ext cx="12432143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Update</a:t>
            </a:r>
            <a:r>
              <a:rPr sz="4106" b="0">
                <a:solidFill>
                  <a:srgbClr val="1C1C1C"/>
                </a:solidFill>
                <a:latin typeface="Arial"/>
              </a:rPr>
              <a:t> every timestep in parallel from the cumulative drift.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3082685" y="27947937"/>
            <a:ext cx="12432143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Slide</a:t>
            </a:r>
            <a:r>
              <a:rPr sz="4106" b="0">
                <a:solidFill>
                  <a:srgbClr val="1C1C1C"/>
                </a:solidFill>
                <a:latin typeface="Arial"/>
              </a:rPr>
              <a:t> past converged timesteps and repeat until it stops changing.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No retraining.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302107" y="28034476"/>
            <a:ext cx="9789656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Sequential sampling (left) vs. Picard iterations (right), which add skip dependencies so information propagates down the chain in parallel.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6299259" y="12148185"/>
            <a:ext cx="6642613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8465C"/>
                </a:solidFill>
                <a:latin typeface="Arial"/>
              </a:rPr>
              <a:t>2–4×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6299259" y="13523079"/>
            <a:ext cx="6642613" cy="119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sampling speedup, no quality loss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26299259" y="14565987"/>
            <a:ext cx="6642613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across every task &amp; sampler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9986386" y="7651650"/>
            <a:ext cx="4016929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TOLERANCE Τ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3886318" y="7651650"/>
            <a:ext cx="1949661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ITERS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5779193" y="7651650"/>
            <a:ext cx="1825474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CLIP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47551498" y="7651650"/>
            <a:ext cx="2848879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SPEEDUP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9986386" y="8358127"/>
            <a:ext cx="4016929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sequential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3886318" y="8358127"/>
            <a:ext cx="1949661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200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5779193" y="8358127"/>
            <a:ext cx="1825474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31.9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7551498" y="8358127"/>
            <a:ext cx="2848879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9986386" y="9303246"/>
            <a:ext cx="401692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1e-1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43886318" y="9303246"/>
            <a:ext cx="194966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15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45779193" y="9303246"/>
            <a:ext cx="182547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31.9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7551498" y="9303246"/>
            <a:ext cx="284887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4.0×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9986386" y="10248364"/>
            <a:ext cx="401692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5e-1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3886318" y="10248364"/>
            <a:ext cx="1949661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13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45779193" y="10248364"/>
            <a:ext cx="182547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31.5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7551498" y="10248364"/>
            <a:ext cx="2848879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4.9×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3800335" y="12148185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14.6s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35319970" y="12281535"/>
            <a:ext cx="3093676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SD-v2 (from 50.0s)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3800335" y="13068161"/>
            <a:ext cx="108621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3.9×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5037434" y="13201511"/>
            <a:ext cx="3916492" cy="981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LSUN Church, FID 12.8→12.9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3800335" y="14315678"/>
            <a:ext cx="93584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20×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4891444" y="14449028"/>
            <a:ext cx="313459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fewer iters vs steps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6053395" y="17408009"/>
            <a:ext cx="6449321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Setting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2314872" y="17408009"/>
            <a:ext cx="1939789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Seq.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4198163" y="17408009"/>
            <a:ext cx="1900586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Ours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6043393" y="17408009"/>
            <a:ext cx="3133594" cy="936568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Speedup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6053395" y="18222416"/>
            <a:ext cx="6449321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SD-v2 · DDPM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2314872" y="18222416"/>
            <a:ext cx="193978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50.0s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4198163" y="18222416"/>
            <a:ext cx="190058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14.6s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6043393" y="18222416"/>
            <a:ext cx="313359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3.4×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26053395" y="19041268"/>
            <a:ext cx="6449321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SD-v2 · DPMSolver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2314872" y="19041268"/>
            <a:ext cx="1939789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10.3s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4198163" y="19041268"/>
            <a:ext cx="1900586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2.6s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6043393" y="19041268"/>
            <a:ext cx="313359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4.0×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26053395" y="19860121"/>
            <a:ext cx="6449321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Robosuite Square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32314872" y="19860121"/>
            <a:ext cx="193978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37.0s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4198163" y="19860121"/>
            <a:ext cx="190058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10.0s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36043393" y="19860121"/>
            <a:ext cx="313359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3.7×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6053395" y="20678973"/>
            <a:ext cx="644932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PushT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2314872" y="20678973"/>
            <a:ext cx="193978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32.3s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34198163" y="20678973"/>
            <a:ext cx="190058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8.3s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6043393" y="20678973"/>
            <a:ext cx="313359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3.9×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6053395" y="21497825"/>
            <a:ext cx="6449321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FrankaKitchen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314872" y="21497825"/>
            <a:ext cx="1939789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112s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34198163" y="21497825"/>
            <a:ext cx="1900586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33.3s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6043393" y="21497825"/>
            <a:ext cx="313359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3.4×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6053395" y="22316678"/>
            <a:ext cx="6449321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LSUN Church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2314872" y="22316678"/>
            <a:ext cx="193978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24.0s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34198163" y="22316678"/>
            <a:ext cx="190058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6.1s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36043393" y="22316678"/>
            <a:ext cx="313359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3.9×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6053395" y="23135530"/>
            <a:ext cx="6449321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SD-v2 · DDIM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2314872" y="23135530"/>
            <a:ext cx="1939789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10.3s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4198163" y="23135530"/>
            <a:ext cx="1900586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2.6s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36043393" y="23135530"/>
            <a:ext cx="313359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4.0×</a:t>
            </a:r>
          </a:p>
        </p:txBody>
      </p:sp>
      <p:pic>
        <p:nvPicPr>
          <p:cNvPr id="249" name="Picture 248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16815" y="12955369"/>
            <a:ext cx="10439638" cy="1692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
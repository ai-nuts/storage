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Deploying and training neural networks on edge devices is often bottlenecked by tight memory. Tensor rematerialization, recomputing intermediate tensors instead of storing them, trades extra compute for lower peak memory. This paper introduces Moccasin, a new constraint programming formulation for the problem of minimizing execution time under a memory budget. Unlike prior work that needs a quadratic number of Boolean variables, Moccasin uses only a linear number of integer variables, letting it scale to much larger compute graphs and run up to an order of magnitude faster.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Neural networks running on edge devices are constrained above all by memory. One way to fit a large model into a small memory footprint is rematerialization: instead of storing every intermediate tensor, you recompute some of them on demand. The catch is that recomputation costs time. So the core problem is a scheduling one: for a given compute graph and a fixed memory budget, decide which tensors to retain and which to recompute so that total execution time is as small as possible while peak memory never exceeds the budget. This is a hard combinatorial optimization, in general PSPACE-complete.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leading prior method, Checkmate, casts rematerialization as a mixed-integer linear program. It is expressive, but its number of Boolean decision variables grows with the square of the number of nodes in the graph. That quadratic growth becomes a wall: for graphs with a few hundred nodes and a few thousand edges, Checkmate either times out or runs out of memory during the solve. Because the trend toward on-device training and stricter latency targets keeps enlarging these graphs, we need a formulation whose complexity grows much more slowly, so realistic graphs can be solved within an acceptable compile time.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paper's main contribution is Moccasin, a constraint programming formulation of tensor rematerialization. Its central idea is to represent each node's decisions as a small number of retention intervals, defined by the start and end event of the tensor's lifetime, which reduces the count of discrete variables from quadratic to linear in the number of nodes. On top of this, the authors show how to encode the nonlinear memory and precedence constraints using standard CP building blocks, the cumulative and reservoir constraints, and they add an optional variant that enforces an input topological ordering to further reduce the search space. The payoff is up to an order-of-magnitude speedup over prior work on large graphs.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Moccasin represents the schedule with retention intervals. For each node in the graph, the method allows up to a small constant number of intervals, each specified by an integer start event and an integer end event, indicating when that node's output tensor is computed and how long it stays in memory. A Boolean flag marks whether each interval is actually active, so a node need not be recomputed a fixed number of times. The objective minimizes the total duration, a weighted sum over the active compute events where the weights are node execution times. The memory budget is enforced through the constraint programming cumulative constraint, treating tensor sizes as resource demands and the budget as capacity, while data dependencies between predecessors and successors are handled with the reservoir constraint. The whole model is handed to Google OR-Tools' CP-SAT solver. Because each node uses only a small constant number of intervals, the total number of integer variables stays linear in the graph size.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evaluation uses a range of compute graphs. The main scaling study is on four random layered graphs, G1 through G4, whose sizes grow from one hundred nodes and a couple hundred edges up to one thousand nodes and nearly six thousand edges. There is also a real-world compute graph with four hundred forty-two nodes and over twelve hundred edges used for the headline comparison. For every graph the memory budget is set to eighty and ninety percent of the peak memory of the initial schedule without rematerialization, so the solver is forced to actually recompute tensors. All experiments run on a sixteen-core workstation with thirty-two gigabytes of RAM.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Across the board, Moccasin solves the rematerialization problem substantially faster than Checkmate, up to an order of magnitude on the larger graphs. On the smallest graph the two are comparable, but the gap widens quickly. For the graph with two hundred fifty nodes and a tight memory budget, Checkmate fails to find any feasible solution within thirty minutes, and at the loosest budget it takes ten minutes, while Moccasin finishes in seconds. For the five hundred and one thousand node graphs, Checkmate times out entirely, finding no solution even given three hours, and it exits with an out-of-memory error, whereas Moccasin converges to a good, low-duration-increase solution in under an hour.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studies a few key knobs. The most important is the optional topological-ordering restriction: enforcing an input ordering enlarges the variable domain slightly but shrinks the overall search space, reducing solve time compared to the fully unrestricted formulation. The per-node interval budget, called C, is fixed at two throughout the experiments, which the authors note in every plot legend. The complexity table makes the contrast concrete: Checkmate's Boolean variable count grows quadratically in the number of nodes plus a node-edge term, while Moccasin's integer variable count grows only linearly in the number of nodes, with a constant factor C.</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few numbers capture the impact. Moccasin needs only a linear number of integer variables in the graph size, compared to a quadratic number of Boolean variables for the prior state of the art. This translates into solve times up to an order of magnitude, roughly ten times, faster on large graphs. And the solutions it finds are high quality: the total duration increase from rematerialization stays consistently below five percent. Crucially, Moccasin scales to graphs with up to one thousand nodes and nearly six thousand edges, a regime where the competing method simply times out or runs out of memory.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lasting takeaway is that the right problem formulation changes what is tractable. By expressing rematerialization decisions as a small set of retention intervals in a constraint program, Moccasin reduces the number of discrete variables from quadratic to linear in the graph size. That single change lets it scale to compute graphs far larger than prior methods could handle, solving them up to ten times faster while keeping the added runtime overhead under five percent. And because the output is just an execution sequence, the resulting schedule can run on any CPU or GPU.</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occasin_video_ppt169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occasin_video_ppt169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48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100" kern="1200">
          <a:solidFill>
            <a:schemeClr val="tx1"/>
          </a:solidFill>
          <a:latin typeface="+mn-lt"/>
          <a:ea typeface="+mn-ea"/>
          <a:cs typeface="+mn-cs"/>
        </a:defRPr>
      </a:lvl3pPr>
      <a:lvl4pPr marL="1371600" algn="l" defTabSz="457200" rtl="0" eaLnBrk="1" latinLnBrk="0" hangingPunct="1">
        <a:defRPr sz="1050" kern="1200">
          <a:solidFill>
            <a:schemeClr val="tx1"/>
          </a:solidFill>
          <a:latin typeface="+mn-lt"/>
          <a:ea typeface="+mn-ea"/>
          <a:cs typeface="+mn-cs"/>
        </a:defRPr>
      </a:lvl4pPr>
      <a:lvl5pPr marL="1828800" algn="l" defTabSz="457200" rtl="0" eaLnBrk="1" latinLnBrk="0" hangingPunct="1">
        <a:defRPr sz="950" kern="1200">
          <a:solidFill>
            <a:schemeClr val="tx1"/>
          </a:solidFill>
          <a:latin typeface="+mn-lt"/>
          <a:ea typeface="+mn-ea"/>
          <a:cs typeface="+mn-cs"/>
        </a:defRPr>
      </a:lvl5pPr>
      <a:lvl6pPr marL="2286000" algn="l" defTabSz="457200" rtl="0" eaLnBrk="1" latinLnBrk="0" hangingPunct="1">
        <a:defRPr sz="9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14c90c0232cd97ef.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762000" y="782002"/>
            <a:ext cx="4221389" cy="205359"/>
            <a:chOff x="762000" y="782002"/>
            <a:chExt cx="4221389" cy="205359"/>
          </a:xfrm>
        </p:grpSpPr>
        <p:sp>
          <p:nvSpPr>
            <p:cNvPr id="2" name="Rectangle 2"/>
            <p:cNvSpPr/>
            <p:nvPr/>
          </p:nvSpPr>
          <p:spPr>
            <a:xfrm>
              <a:off x="762000" y="819150"/>
              <a:ext cx="438150" cy="38100"/>
            </a:xfrm>
            <a:prstGeom prst="rect">
              <a:avLst/>
            </a:prstGeom>
            <a:solidFill>
              <a:schemeClr val="accent1"/>
            </a:solidFill>
            <a:ln>
              <a:noFill/>
            </a:ln>
          </p:spPr>
        </p:sp>
        <p:sp>
          <p:nvSpPr>
            <p:cNvPr id="3" name="TextBox 3"/>
            <p:cNvSpPr txBox="1"/>
            <p:nvPr/>
          </p:nvSpPr>
          <p:spPr>
            <a:xfrm>
              <a:off x="1309116" y="782002"/>
              <a:ext cx="3674273"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ICML 2023 · TENSOR REMATERIALIZATION</a:t>
              </a:r>
            </a:p>
          </p:txBody>
        </p:sp>
      </p:grpSp>
      <p:grpSp>
        <p:nvGrpSpPr>
          <p:cNvPr id="8" name="Group 8"/>
          <p:cNvGrpSpPr/>
          <p:nvPr/>
        </p:nvGrpSpPr>
        <p:grpSpPr>
          <a:xfrm>
            <a:off x="723900" y="1293495"/>
            <a:ext cx="4366519" cy="1671161"/>
            <a:chOff x="723900" y="1293495"/>
            <a:chExt cx="4366519" cy="1671161"/>
          </a:xfrm>
        </p:grpSpPr>
        <p:sp>
          <p:nvSpPr>
            <p:cNvPr id="5" name="TextBox 5"/>
            <p:cNvSpPr txBox="1"/>
            <p:nvPr/>
          </p:nvSpPr>
          <p:spPr>
            <a:xfrm>
              <a:off x="723900" y="1293495"/>
              <a:ext cx="4310769" cy="1333500"/>
            </a:xfrm>
            <a:prstGeom prst="rect">
              <a:avLst/>
            </a:prstGeom>
            <a:noFill/>
            <a:ln>
              <a:noFill/>
            </a:ln>
          </p:spPr>
          <p:txBody>
            <a:bodyPr wrap="none" lIns="0" tIns="0" rIns="0" bIns="0" anchor="t" anchorCtr="0">
              <a:spAutoFit/>
            </a:bodyPr>
            <a:lstStyle/>
            <a:p>
              <a:pPr algn="l"/>
              <a:r>
                <a:rPr lang="en-US" sz="6900" b="1" dirty="0">
                  <a:solidFill>
                    <a:schemeClr val="dk1"/>
                  </a:solidFill>
                  <a:latin typeface="+mn-lt"/>
                  <a:ea typeface="+mn-ea"/>
                  <a:cs typeface="+mn-cs"/>
                </a:rPr>
                <a:t>Moccasin</a:t>
              </a:r>
            </a:p>
          </p:txBody>
        </p:sp>
        <p:sp>
          <p:nvSpPr>
            <p:cNvPr id="6" name="TextBox 6"/>
            <p:cNvSpPr txBox="1"/>
            <p:nvPr/>
          </p:nvSpPr>
          <p:spPr>
            <a:xfrm>
              <a:off x="771525" y="2293144"/>
              <a:ext cx="4318894" cy="366712"/>
            </a:xfrm>
            <a:prstGeom prst="rect">
              <a:avLst/>
            </a:prstGeom>
            <a:noFill/>
            <a:ln>
              <a:noFill/>
            </a:ln>
          </p:spPr>
          <p:txBody>
            <a:bodyPr wrap="none" lIns="0" tIns="0" rIns="0" bIns="0" anchor="t" anchorCtr="0">
              <a:spAutoFit/>
            </a:bodyPr>
            <a:lstStyle/>
            <a:p>
              <a:pPr algn="l"/>
              <a:r>
                <a:rPr lang="en-US" sz="1880" dirty="0">
                  <a:solidFill>
                    <a:schemeClr val="dk2"/>
                  </a:solidFill>
                  <a:latin typeface="+mn-lt"/>
                  <a:ea typeface="+mn-ea"/>
                  <a:cs typeface="+mn-cs"/>
                </a:rPr>
                <a:t>Efficient Tensor Rematerialization</a:t>
              </a:r>
            </a:p>
          </p:txBody>
        </p:sp>
        <p:sp>
          <p:nvSpPr>
            <p:cNvPr id="7" name="TextBox 7"/>
            <p:cNvSpPr txBox="1"/>
            <p:nvPr/>
          </p:nvSpPr>
          <p:spPr>
            <a:xfrm>
              <a:off x="771525" y="2597944"/>
              <a:ext cx="2541283" cy="366712"/>
            </a:xfrm>
            <a:prstGeom prst="rect">
              <a:avLst/>
            </a:prstGeom>
            <a:noFill/>
            <a:ln>
              <a:noFill/>
            </a:ln>
          </p:spPr>
          <p:txBody>
            <a:bodyPr wrap="none" lIns="0" tIns="0" rIns="0" bIns="0" anchor="t" anchorCtr="0">
              <a:spAutoFit/>
            </a:bodyPr>
            <a:lstStyle/>
            <a:p>
              <a:pPr algn="l"/>
              <a:r>
                <a:rPr lang="en-US" sz="1880" dirty="0">
                  <a:solidFill>
                    <a:schemeClr val="dk2"/>
                  </a:solidFill>
                  <a:latin typeface="+mn-lt"/>
                  <a:ea typeface="+mn-ea"/>
                  <a:cs typeface="+mn-cs"/>
                </a:rPr>
                <a:t>for Neural Networks</a:t>
              </a:r>
            </a:p>
          </p:txBody>
        </p:sp>
      </p:grpSp>
      <p:grpSp>
        <p:nvGrpSpPr>
          <p:cNvPr id="11" name="Group 11"/>
          <p:cNvGrpSpPr/>
          <p:nvPr/>
        </p:nvGrpSpPr>
        <p:grpSpPr>
          <a:xfrm>
            <a:off x="775716" y="3182302"/>
            <a:ext cx="5332800" cy="414909"/>
            <a:chOff x="775716" y="3182302"/>
            <a:chExt cx="5332800" cy="414909"/>
          </a:xfrm>
        </p:grpSpPr>
        <p:sp>
          <p:nvSpPr>
            <p:cNvPr id="9" name="TextBox 9"/>
            <p:cNvSpPr txBox="1"/>
            <p:nvPr/>
          </p:nvSpPr>
          <p:spPr>
            <a:xfrm>
              <a:off x="775716" y="3182302"/>
              <a:ext cx="5332800"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Burak Bartan · Haoming Li · Harris Teague · Christopher Lott · Bistra Dilkina</a:t>
              </a:r>
            </a:p>
          </p:txBody>
        </p:sp>
        <p:sp>
          <p:nvSpPr>
            <p:cNvPr id="10" name="TextBox 10"/>
            <p:cNvSpPr txBox="1"/>
            <p:nvPr/>
          </p:nvSpPr>
          <p:spPr>
            <a:xfrm>
              <a:off x="775716" y="3391852"/>
              <a:ext cx="3986915"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Qualcomm AI Research · University of Southern California</a:t>
              </a:r>
            </a:p>
          </p:txBody>
        </p:sp>
      </p:grpSp>
      <p:grpSp>
        <p:nvGrpSpPr>
          <p:cNvPr id="16" name="Group 16"/>
          <p:cNvGrpSpPr/>
          <p:nvPr/>
        </p:nvGrpSpPr>
        <p:grpSpPr>
          <a:xfrm>
            <a:off x="776097" y="3790950"/>
            <a:ext cx="2024253" cy="2517457"/>
            <a:chOff x="776097" y="3790950"/>
            <a:chExt cx="2024253" cy="2517457"/>
          </a:xfrm>
        </p:grpSpPr>
        <p:sp>
          <p:nvSpPr>
            <p:cNvPr id="12" name="Rectangle 12"/>
            <p:cNvSpPr/>
            <p:nvPr/>
          </p:nvSpPr>
          <p:spPr>
            <a:xfrm>
              <a:off x="781050" y="3790950"/>
              <a:ext cx="2019300" cy="2019300"/>
            </a:xfrm>
            <a:prstGeom prst="rect">
              <a:avLst/>
            </a:prstGeom>
            <a:solidFill>
              <a:schemeClr val="lt1"/>
            </a:solidFill>
            <a:ln w="9525">
              <a:solidFill>
                <a:schemeClr val="accent4"/>
              </a:solidFill>
            </a:ln>
          </p:spPr>
        </p:sp>
        <p:pic>
          <p:nvPicPr>
            <p:cNvPr id="13" name="Image 13"/>
            <p:cNvPicPr>
              <a:picLocks noChangeAspect="1"/>
            </p:cNvPicPr>
            <p:nvPr/>
          </p:nvPicPr>
          <p:blipFill>
            <a:blip r:embed="rId2"/>
            <a:stretch>
              <a:fillRect/>
            </a:stretch>
          </p:blipFill>
          <p:spPr>
            <a:xfrm>
              <a:off x="838200" y="3848100"/>
              <a:ext cx="1905000" cy="1905000"/>
            </a:xfrm>
            <a:prstGeom prst="rect">
              <a:avLst/>
            </a:prstGeom>
          </p:spPr>
        </p:pic>
        <p:sp>
          <p:nvSpPr>
            <p:cNvPr id="14" name="TextBox 14"/>
            <p:cNvSpPr txBox="1"/>
            <p:nvPr/>
          </p:nvSpPr>
          <p:spPr>
            <a:xfrm>
              <a:off x="776097" y="5933599"/>
              <a:ext cx="395159"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Paper</a:t>
              </a:r>
            </a:p>
          </p:txBody>
        </p:sp>
        <p:sp>
          <p:nvSpPr>
            <p:cNvPr id="15" name="TextBox 15"/>
            <p:cNvSpPr txBox="1"/>
            <p:nvPr/>
          </p:nvSpPr>
          <p:spPr>
            <a:xfrm>
              <a:off x="776288" y="6132195"/>
              <a:ext cx="1578521"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arxiv.org/abs/2304.14463</a:t>
              </a:r>
            </a:p>
          </p:txBody>
        </p:sp>
      </p:grpSp>
      <p:grpSp>
        <p:nvGrpSpPr>
          <p:cNvPr id="23" name="Group 23"/>
          <p:cNvGrpSpPr/>
          <p:nvPr/>
        </p:nvGrpSpPr>
        <p:grpSpPr>
          <a:xfrm>
            <a:off x="3028950" y="3790950"/>
            <a:ext cx="2983638" cy="2019300"/>
            <a:chOff x="3028950" y="3790950"/>
            <a:chExt cx="2983638" cy="2019300"/>
          </a:xfrm>
        </p:grpSpPr>
        <p:sp>
          <p:nvSpPr>
            <p:cNvPr id="17" name="Rectangle 17"/>
            <p:cNvSpPr/>
            <p:nvPr/>
          </p:nvSpPr>
          <p:spPr>
            <a:xfrm>
              <a:off x="3028950" y="3790950"/>
              <a:ext cx="2838450" cy="2019300"/>
            </a:xfrm>
            <a:prstGeom prst="roundRect">
              <a:avLst>
                <a:gd name="adj" fmla="val 5660"/>
              </a:avLst>
            </a:prstGeom>
            <a:solidFill>
              <a:schemeClr val="accent6"/>
            </a:solidFill>
            <a:ln>
              <a:noFill/>
            </a:ln>
          </p:spPr>
        </p:sp>
        <p:sp>
          <p:nvSpPr>
            <p:cNvPr id="18" name="TextBox 18"/>
            <p:cNvSpPr txBox="1"/>
            <p:nvPr/>
          </p:nvSpPr>
          <p:spPr>
            <a:xfrm>
              <a:off x="3289935" y="4069556"/>
              <a:ext cx="1794864" cy="220028"/>
            </a:xfrm>
            <a:prstGeom prst="rect">
              <a:avLst/>
            </a:prstGeom>
            <a:noFill/>
            <a:ln>
              <a:noFill/>
            </a:ln>
          </p:spPr>
          <p:txBody>
            <a:bodyPr wrap="none" lIns="0" tIns="0" rIns="0" bIns="0" anchor="t" anchorCtr="0">
              <a:spAutoFit/>
            </a:bodyPr>
            <a:lstStyle/>
            <a:p>
              <a:pPr algn="l"/>
              <a:r>
                <a:rPr lang="en-US" sz="1120" b="1" spc="75" dirty="0">
                  <a:solidFill>
                    <a:schemeClr val="accent1"/>
                  </a:solidFill>
                  <a:latin typeface="+mn-lt"/>
                  <a:ea typeface="+mn-ea"/>
                  <a:cs typeface="+mn-cs"/>
                </a:rPr>
                <a:t>THE IDEA IN ONE LINE</a:t>
              </a:r>
            </a:p>
          </p:txBody>
        </p:sp>
        <p:sp>
          <p:nvSpPr>
            <p:cNvPr id="19" name="TextBox 19"/>
            <p:cNvSpPr txBox="1"/>
            <p:nvPr/>
          </p:nvSpPr>
          <p:spPr>
            <a:xfrm>
              <a:off x="3288411" y="4475321"/>
              <a:ext cx="231889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Retention intervals in a</a:t>
              </a:r>
            </a:p>
          </p:txBody>
        </p:sp>
        <p:sp>
          <p:nvSpPr>
            <p:cNvPr id="20" name="TextBox 20"/>
            <p:cNvSpPr txBox="1"/>
            <p:nvPr/>
          </p:nvSpPr>
          <p:spPr>
            <a:xfrm>
              <a:off x="3288411" y="4722971"/>
              <a:ext cx="272417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constraint program cut the</a:t>
              </a:r>
            </a:p>
          </p:txBody>
        </p:sp>
        <p:sp>
          <p:nvSpPr>
            <p:cNvPr id="21" name="TextBox 21"/>
            <p:cNvSpPr txBox="1"/>
            <p:nvPr/>
          </p:nvSpPr>
          <p:spPr>
            <a:xfrm>
              <a:off x="3288411" y="4970621"/>
              <a:ext cx="195141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variable count from</a:t>
              </a:r>
            </a:p>
          </p:txBody>
        </p:sp>
        <p:sp>
          <p:nvSpPr>
            <p:cNvPr id="22" name="TextBox 22"/>
            <p:cNvSpPr txBox="1"/>
            <p:nvPr/>
          </p:nvSpPr>
          <p:spPr>
            <a:xfrm>
              <a:off x="3287268" y="5270182"/>
              <a:ext cx="229074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quadratic to linear.</a:t>
              </a:r>
            </a:p>
          </p:txBody>
        </p:sp>
      </p:grpSp>
      <p:grpSp>
        <p:nvGrpSpPr>
          <p:cNvPr id="26" name="Group 26"/>
          <p:cNvGrpSpPr/>
          <p:nvPr/>
        </p:nvGrpSpPr>
        <p:grpSpPr>
          <a:xfrm>
            <a:off x="6172200" y="990600"/>
            <a:ext cx="5257800" cy="5391150"/>
            <a:chOff x="6172200" y="990600"/>
            <a:chExt cx="5257800" cy="5391150"/>
          </a:xfrm>
        </p:grpSpPr>
        <p:sp>
          <p:nvSpPr>
            <p:cNvPr id="24" name="Rectangle 24"/>
            <p:cNvSpPr/>
            <p:nvPr/>
          </p:nvSpPr>
          <p:spPr>
            <a:xfrm>
              <a:off x="6172200" y="990600"/>
              <a:ext cx="5257800" cy="5391150"/>
            </a:xfrm>
            <a:prstGeom prst="roundRect">
              <a:avLst>
                <a:gd name="adj" fmla="val 2536"/>
              </a:avLst>
            </a:prstGeom>
            <a:solidFill>
              <a:schemeClr val="lt2"/>
            </a:solidFill>
            <a:ln>
              <a:noFill/>
            </a:ln>
          </p:spPr>
        </p:sp>
        <p:sp>
          <p:nvSpPr>
            <p:cNvPr id="25" name="TextBox 25"/>
            <p:cNvSpPr txBox="1"/>
            <p:nvPr/>
          </p:nvSpPr>
          <p:spPr>
            <a:xfrm>
              <a:off x="6471666" y="1277302"/>
              <a:ext cx="1094377" cy="205359"/>
            </a:xfrm>
            <a:prstGeom prst="rect">
              <a:avLst/>
            </a:prstGeom>
            <a:noFill/>
            <a:ln>
              <a:noFill/>
            </a:ln>
          </p:spPr>
          <p:txBody>
            <a:bodyPr wrap="none" lIns="0" tIns="0" rIns="0" bIns="0" anchor="t" anchorCtr="0">
              <a:spAutoFit/>
            </a:bodyPr>
            <a:lstStyle/>
            <a:p>
              <a:pPr algn="l"/>
              <a:r>
                <a:rPr lang="en-US" sz="1050" b="1" spc="150" dirty="0">
                  <a:solidFill>
                    <a:schemeClr val="dk2"/>
                  </a:solidFill>
                  <a:latin typeface="+mn-lt"/>
                  <a:ea typeface="+mn-ea"/>
                  <a:cs typeface="+mn-cs"/>
                </a:rPr>
                <a:t>AT A GLANCE</a:t>
              </a:r>
            </a:p>
          </p:txBody>
        </p:sp>
      </p:grpSp>
      <p:grpSp>
        <p:nvGrpSpPr>
          <p:cNvPr id="32" name="Group 32"/>
          <p:cNvGrpSpPr/>
          <p:nvPr/>
        </p:nvGrpSpPr>
        <p:grpSpPr>
          <a:xfrm>
            <a:off x="6477000" y="1581150"/>
            <a:ext cx="4648200" cy="1066800"/>
            <a:chOff x="6477000" y="1581150"/>
            <a:chExt cx="4648200" cy="1066800"/>
          </a:xfrm>
        </p:grpSpPr>
        <p:sp>
          <p:nvSpPr>
            <p:cNvPr id="27" name="Rectangle 27"/>
            <p:cNvSpPr/>
            <p:nvPr/>
          </p:nvSpPr>
          <p:spPr>
            <a:xfrm>
              <a:off x="6477000" y="1581150"/>
              <a:ext cx="4648200" cy="1066800"/>
            </a:xfrm>
            <a:prstGeom prst="roundRect">
              <a:avLst>
                <a:gd name="adj" fmla="val 8929"/>
              </a:avLst>
            </a:prstGeom>
            <a:solidFill>
              <a:schemeClr val="lt1"/>
            </a:solidFill>
            <a:ln w="9525">
              <a:solidFill>
                <a:schemeClr val="accent4"/>
              </a:solidFill>
            </a:ln>
          </p:spPr>
        </p:sp>
        <p:sp>
          <p:nvSpPr>
            <p:cNvPr id="28" name="Rectangle 28"/>
            <p:cNvSpPr/>
            <p:nvPr/>
          </p:nvSpPr>
          <p:spPr>
            <a:xfrm>
              <a:off x="6477000" y="1581150"/>
              <a:ext cx="57150" cy="1066800"/>
            </a:xfrm>
            <a:prstGeom prst="roundRect">
              <a:avLst>
                <a:gd name="adj" fmla="val 50000"/>
              </a:avLst>
            </a:prstGeom>
            <a:solidFill>
              <a:schemeClr val="accent3"/>
            </a:solidFill>
            <a:ln>
              <a:noFill/>
            </a:ln>
          </p:spPr>
        </p:sp>
        <p:sp>
          <p:nvSpPr>
            <p:cNvPr id="29" name="TextBox 29"/>
            <p:cNvSpPr txBox="1"/>
            <p:nvPr/>
          </p:nvSpPr>
          <p:spPr>
            <a:xfrm>
              <a:off x="6736461" y="1751171"/>
              <a:ext cx="310248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Edge devices are memory-bound</a:t>
              </a:r>
            </a:p>
          </p:txBody>
        </p:sp>
        <p:sp>
          <p:nvSpPr>
            <p:cNvPr id="30" name="TextBox 30"/>
            <p:cNvSpPr txBox="1"/>
            <p:nvPr/>
          </p:nvSpPr>
          <p:spPr>
            <a:xfrm>
              <a:off x="6737604" y="2061210"/>
              <a:ext cx="337759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Training and inference on edge hardware is</a:t>
              </a:r>
            </a:p>
          </p:txBody>
        </p:sp>
        <p:sp>
          <p:nvSpPr>
            <p:cNvPr id="31" name="TextBox 31"/>
            <p:cNvSpPr txBox="1"/>
            <p:nvPr/>
          </p:nvSpPr>
          <p:spPr>
            <a:xfrm>
              <a:off x="6737604" y="2270760"/>
              <a:ext cx="317845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bottlenecked above all by tight memory.</a:t>
              </a:r>
            </a:p>
          </p:txBody>
        </p:sp>
      </p:grpSp>
      <p:grpSp>
        <p:nvGrpSpPr>
          <p:cNvPr id="38" name="Group 38"/>
          <p:cNvGrpSpPr/>
          <p:nvPr/>
        </p:nvGrpSpPr>
        <p:grpSpPr>
          <a:xfrm>
            <a:off x="6477000" y="2762250"/>
            <a:ext cx="4648200" cy="1066800"/>
            <a:chOff x="6477000" y="2762250"/>
            <a:chExt cx="4648200" cy="1066800"/>
          </a:xfrm>
        </p:grpSpPr>
        <p:sp>
          <p:nvSpPr>
            <p:cNvPr id="33" name="Rectangle 33"/>
            <p:cNvSpPr/>
            <p:nvPr/>
          </p:nvSpPr>
          <p:spPr>
            <a:xfrm>
              <a:off x="6477000" y="2762250"/>
              <a:ext cx="4648200" cy="1066800"/>
            </a:xfrm>
            <a:prstGeom prst="roundRect">
              <a:avLst>
                <a:gd name="adj" fmla="val 8929"/>
              </a:avLst>
            </a:prstGeom>
            <a:solidFill>
              <a:schemeClr val="lt1"/>
            </a:solidFill>
            <a:ln w="9525">
              <a:solidFill>
                <a:schemeClr val="accent4"/>
              </a:solidFill>
            </a:ln>
          </p:spPr>
        </p:sp>
        <p:sp>
          <p:nvSpPr>
            <p:cNvPr id="34" name="Rectangle 34"/>
            <p:cNvSpPr/>
            <p:nvPr/>
          </p:nvSpPr>
          <p:spPr>
            <a:xfrm>
              <a:off x="6477000" y="2762250"/>
              <a:ext cx="57150" cy="1066800"/>
            </a:xfrm>
            <a:prstGeom prst="roundRect">
              <a:avLst>
                <a:gd name="adj" fmla="val 50000"/>
              </a:avLst>
            </a:prstGeom>
            <a:solidFill>
              <a:schemeClr val="accent2"/>
            </a:solidFill>
            <a:ln>
              <a:noFill/>
            </a:ln>
          </p:spPr>
        </p:sp>
        <p:sp>
          <p:nvSpPr>
            <p:cNvPr id="35" name="TextBox 35"/>
            <p:cNvSpPr txBox="1"/>
            <p:nvPr/>
          </p:nvSpPr>
          <p:spPr>
            <a:xfrm>
              <a:off x="6736461" y="2932271"/>
              <a:ext cx="173633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Rematerialization</a:t>
              </a:r>
            </a:p>
          </p:txBody>
        </p:sp>
        <p:sp>
          <p:nvSpPr>
            <p:cNvPr id="36" name="TextBox 36"/>
            <p:cNvSpPr txBox="1"/>
            <p:nvPr/>
          </p:nvSpPr>
          <p:spPr>
            <a:xfrm>
              <a:off x="6737604" y="3242310"/>
              <a:ext cx="344216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Recompute intermediate tensors instead of</a:t>
              </a:r>
            </a:p>
          </p:txBody>
        </p:sp>
        <p:sp>
          <p:nvSpPr>
            <p:cNvPr id="37" name="TextBox 37"/>
            <p:cNvSpPr txBox="1"/>
            <p:nvPr/>
          </p:nvSpPr>
          <p:spPr>
            <a:xfrm>
              <a:off x="6737604" y="3451860"/>
              <a:ext cx="376809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storing them: trade compute for peak memory.</a:t>
              </a:r>
            </a:p>
          </p:txBody>
        </p:sp>
      </p:grpSp>
      <p:grpSp>
        <p:nvGrpSpPr>
          <p:cNvPr id="44" name="Group 44"/>
          <p:cNvGrpSpPr/>
          <p:nvPr/>
        </p:nvGrpSpPr>
        <p:grpSpPr>
          <a:xfrm>
            <a:off x="6477000" y="3943350"/>
            <a:ext cx="4648200" cy="1066800"/>
            <a:chOff x="6477000" y="3943350"/>
            <a:chExt cx="4648200" cy="1066800"/>
          </a:xfrm>
        </p:grpSpPr>
        <p:sp>
          <p:nvSpPr>
            <p:cNvPr id="39" name="Rectangle 39"/>
            <p:cNvSpPr/>
            <p:nvPr/>
          </p:nvSpPr>
          <p:spPr>
            <a:xfrm>
              <a:off x="6477000" y="3943350"/>
              <a:ext cx="4648200" cy="1066800"/>
            </a:xfrm>
            <a:prstGeom prst="roundRect">
              <a:avLst>
                <a:gd name="adj" fmla="val 8929"/>
              </a:avLst>
            </a:prstGeom>
            <a:solidFill>
              <a:schemeClr val="lt1"/>
            </a:solidFill>
            <a:ln w="9525">
              <a:solidFill>
                <a:schemeClr val="accent4"/>
              </a:solidFill>
            </a:ln>
          </p:spPr>
        </p:sp>
        <p:sp>
          <p:nvSpPr>
            <p:cNvPr id="40" name="Rectangle 40"/>
            <p:cNvSpPr/>
            <p:nvPr/>
          </p:nvSpPr>
          <p:spPr>
            <a:xfrm>
              <a:off x="6477000" y="3943350"/>
              <a:ext cx="57150" cy="1066800"/>
            </a:xfrm>
            <a:prstGeom prst="roundRect">
              <a:avLst>
                <a:gd name="adj" fmla="val 50000"/>
              </a:avLst>
            </a:prstGeom>
            <a:solidFill>
              <a:schemeClr val="accent1"/>
            </a:solidFill>
            <a:ln>
              <a:noFill/>
            </a:ln>
          </p:spPr>
        </p:sp>
        <p:sp>
          <p:nvSpPr>
            <p:cNvPr id="41" name="TextBox 41"/>
            <p:cNvSpPr txBox="1"/>
            <p:nvPr/>
          </p:nvSpPr>
          <p:spPr>
            <a:xfrm>
              <a:off x="6736461" y="4113371"/>
              <a:ext cx="2684412"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Moccasin: a CP formulation</a:t>
              </a:r>
            </a:p>
          </p:txBody>
        </p:sp>
        <p:sp>
          <p:nvSpPr>
            <p:cNvPr id="42" name="TextBox 42"/>
            <p:cNvSpPr txBox="1"/>
            <p:nvPr/>
          </p:nvSpPr>
          <p:spPr>
            <a:xfrm>
              <a:off x="6737604" y="4423410"/>
              <a:ext cx="295749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Minimize execution time under a fixed</a:t>
              </a:r>
            </a:p>
          </p:txBody>
        </p:sp>
        <p:sp>
          <p:nvSpPr>
            <p:cNvPr id="43" name="TextBox 43"/>
            <p:cNvSpPr txBox="1"/>
            <p:nvPr/>
          </p:nvSpPr>
          <p:spPr>
            <a:xfrm>
              <a:off x="6737604" y="4632960"/>
              <a:ext cx="359039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memory budget, via constraint programming.</a:t>
              </a:r>
            </a:p>
          </p:txBody>
        </p:sp>
      </p:grpSp>
      <p:grpSp>
        <p:nvGrpSpPr>
          <p:cNvPr id="50" name="Group 50"/>
          <p:cNvGrpSpPr/>
          <p:nvPr/>
        </p:nvGrpSpPr>
        <p:grpSpPr>
          <a:xfrm>
            <a:off x="6477000" y="5124450"/>
            <a:ext cx="4648200" cy="1066800"/>
            <a:chOff x="6477000" y="5124450"/>
            <a:chExt cx="4648200" cy="1066800"/>
          </a:xfrm>
        </p:grpSpPr>
        <p:sp>
          <p:nvSpPr>
            <p:cNvPr id="45" name="Rectangle 45"/>
            <p:cNvSpPr/>
            <p:nvPr/>
          </p:nvSpPr>
          <p:spPr>
            <a:xfrm>
              <a:off x="6477000" y="5124450"/>
              <a:ext cx="4648200" cy="1066800"/>
            </a:xfrm>
            <a:prstGeom prst="roundRect">
              <a:avLst>
                <a:gd name="adj" fmla="val 8929"/>
              </a:avLst>
            </a:prstGeom>
            <a:solidFill>
              <a:schemeClr val="accent6"/>
            </a:solidFill>
            <a:ln w="9525">
              <a:solidFill>
                <a:srgbClr val="C6D6FB"/>
              </a:solidFill>
            </a:ln>
          </p:spPr>
        </p:sp>
        <p:sp>
          <p:nvSpPr>
            <p:cNvPr id="46" name="Rectangle 46"/>
            <p:cNvSpPr/>
            <p:nvPr/>
          </p:nvSpPr>
          <p:spPr>
            <a:xfrm>
              <a:off x="6477000" y="5124450"/>
              <a:ext cx="57150" cy="1066800"/>
            </a:xfrm>
            <a:prstGeom prst="roundRect">
              <a:avLst>
                <a:gd name="adj" fmla="val 50000"/>
              </a:avLst>
            </a:prstGeom>
            <a:solidFill>
              <a:schemeClr val="accent1"/>
            </a:solidFill>
            <a:ln>
              <a:noFill/>
            </a:ln>
          </p:spPr>
        </p:sp>
        <p:sp>
          <p:nvSpPr>
            <p:cNvPr id="47" name="TextBox 47"/>
            <p:cNvSpPr txBox="1"/>
            <p:nvPr/>
          </p:nvSpPr>
          <p:spPr>
            <a:xfrm>
              <a:off x="6732270" y="5224462"/>
              <a:ext cx="3918847"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linear vars · ~10× faster</a:t>
              </a:r>
            </a:p>
          </p:txBody>
        </p:sp>
        <p:sp>
          <p:nvSpPr>
            <p:cNvPr id="48" name="TextBox 48"/>
            <p:cNvSpPr txBox="1"/>
            <p:nvPr/>
          </p:nvSpPr>
          <p:spPr>
            <a:xfrm>
              <a:off x="6737604" y="5642610"/>
              <a:ext cx="346333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Quadratic Boolean variables become a linear</a:t>
              </a:r>
            </a:p>
          </p:txBody>
        </p:sp>
        <p:sp>
          <p:nvSpPr>
            <p:cNvPr id="49" name="TextBox 49"/>
            <p:cNvSpPr txBox="1"/>
            <p:nvPr/>
          </p:nvSpPr>
          <p:spPr>
            <a:xfrm>
              <a:off x="6737604" y="5852160"/>
              <a:ext cx="368731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number of integer variables — scaling further.</a:t>
              </a:r>
            </a:p>
          </p:txBody>
        </p:sp>
      </p:grpSp>
      <p:grpSp>
        <p:nvGrpSpPr>
          <p:cNvPr id="53" name="Group 53"/>
          <p:cNvGrpSpPr/>
          <p:nvPr/>
        </p:nvGrpSpPr>
        <p:grpSpPr>
          <a:xfrm>
            <a:off x="757238" y="6570345"/>
            <a:ext cx="10677524" cy="176212"/>
            <a:chOff x="757238" y="6570345"/>
            <a:chExt cx="10677524" cy="176212"/>
          </a:xfrm>
        </p:grpSpPr>
        <p:sp>
          <p:nvSpPr>
            <p:cNvPr id="51" name="TextBox 51"/>
            <p:cNvSpPr txBox="1"/>
            <p:nvPr/>
          </p:nvSpPr>
          <p:spPr>
            <a:xfrm>
              <a:off x="757238" y="6570345"/>
              <a:ext cx="126828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Moccasin · ICML 2023</a:t>
              </a:r>
            </a:p>
          </p:txBody>
        </p:sp>
        <p:sp>
          <p:nvSpPr>
            <p:cNvPr id="52" name="TextBox 52"/>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01 / 10</a:t>
              </a:r>
            </a:p>
          </p:txBody>
        </p:sp>
      </p:grpSp>
      <p:sp>
        <p:nvSpPr>
          <p:cNvPr id="54" name="cue_s01_c1_deploying_neural_networks_edge_devic" title="cue_s01_c1_deploying_neural_networks_edge_devic" descr="cue_s01_c1_deploying_neural_networks_edge_devic Deploying and training neural networks on edge devices is often bottlenecked by tight memory."/>
          <p:cNvSpPr/>
          <p:nvPr/>
        </p:nvSpPr>
        <p:spPr>
          <a:xfrm>
            <a:off x="6476390" y="1581454"/>
            <a:ext cx="4647590"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1_c2_tensor_rematerialization_recomputing" title="cue_s01_c2_tensor_rematerialization_recomputing" descr="cue_s01_c2_tensor_rematerialization_recomputing Tensor rematerialization, recomputing intermediate tensors instead of storing them, trades extra compute for lower peak memory."/>
          <p:cNvSpPr/>
          <p:nvPr/>
        </p:nvSpPr>
        <p:spPr>
          <a:xfrm>
            <a:off x="6476390" y="2762402"/>
            <a:ext cx="4647590"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1_c3_introduces_moccasin_new_constraint_p" title="cue_s01_c3_introduces_moccasin_new_constraint_p" descr="cue_s01_c3_introduces_moccasin_new_constraint_p This paper introduces Moccasin, a new constraint programming formulation for the problem of minimizing execution time under a memory budget."/>
          <p:cNvSpPr/>
          <p:nvPr/>
        </p:nvSpPr>
        <p:spPr>
          <a:xfrm>
            <a:off x="6476390" y="3943349"/>
            <a:ext cx="4647590"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1_c4_unlike_prior_work_needs_quadratic" title="cue_s01_c4_unlike_prior_work_needs_quadratic" descr="cue_s01_c4_unlike_prior_work_needs_quadratic Unlike prior work that needs a quadratic number of Boolean variables, Moccasin uses only a linear number of integer variables, letting it scale to much larger compute graphs and run up to an order of magnitude faster."/>
          <p:cNvSpPr/>
          <p:nvPr/>
        </p:nvSpPr>
        <p:spPr>
          <a:xfrm>
            <a:off x="6476390" y="5124297"/>
            <a:ext cx="4647590"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427" y="572452"/>
            <a:ext cx="10680573" cy="865823"/>
            <a:chOff x="749427" y="572452"/>
            <a:chExt cx="10680573"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264691"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02 · PROBLEM</a:t>
              </a:r>
            </a:p>
          </p:txBody>
        </p:sp>
        <p:sp>
          <p:nvSpPr>
            <p:cNvPr id="4" name="TextBox 4"/>
            <p:cNvSpPr txBox="1"/>
            <p:nvPr/>
          </p:nvSpPr>
          <p:spPr>
            <a:xfrm>
              <a:off x="749427" y="875824"/>
              <a:ext cx="10641548"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Fit a big model in small memory — without paying too much time</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2" name="Group 12"/>
          <p:cNvGrpSpPr/>
          <p:nvPr/>
        </p:nvGrpSpPr>
        <p:grpSpPr>
          <a:xfrm>
            <a:off x="762000" y="1733550"/>
            <a:ext cx="5257800" cy="1143000"/>
            <a:chOff x="762000" y="1733550"/>
            <a:chExt cx="5257800" cy="1143000"/>
          </a:xfrm>
        </p:grpSpPr>
        <p:sp>
          <p:nvSpPr>
            <p:cNvPr id="7" name="Rectangle 7"/>
            <p:cNvSpPr/>
            <p:nvPr/>
          </p:nvSpPr>
          <p:spPr>
            <a:xfrm>
              <a:off x="762000" y="1733550"/>
              <a:ext cx="5257800" cy="1143000"/>
            </a:xfrm>
            <a:prstGeom prst="roundRect">
              <a:avLst>
                <a:gd name="adj" fmla="val 10000"/>
              </a:avLst>
            </a:prstGeom>
            <a:solidFill>
              <a:srgbClr val="FBE9E2"/>
            </a:solidFill>
            <a:ln w="9525">
              <a:solidFill>
                <a:srgbClr val="F2C6B4"/>
              </a:solidFill>
            </a:ln>
          </p:spPr>
        </p:sp>
        <p:sp>
          <p:nvSpPr>
            <p:cNvPr id="8" name="Rectangle 8"/>
            <p:cNvSpPr/>
            <p:nvPr/>
          </p:nvSpPr>
          <p:spPr>
            <a:xfrm>
              <a:off x="762000" y="1733550"/>
              <a:ext cx="57150" cy="1143000"/>
            </a:xfrm>
            <a:prstGeom prst="roundRect">
              <a:avLst>
                <a:gd name="adj" fmla="val 50000"/>
              </a:avLst>
            </a:prstGeom>
            <a:solidFill>
              <a:schemeClr val="accent3"/>
            </a:solidFill>
            <a:ln>
              <a:noFill/>
            </a:ln>
          </p:spPr>
        </p:sp>
        <p:sp>
          <p:nvSpPr>
            <p:cNvPr id="9" name="TextBox 9"/>
            <p:cNvSpPr txBox="1"/>
            <p:nvPr/>
          </p:nvSpPr>
          <p:spPr>
            <a:xfrm>
              <a:off x="1021461" y="1922621"/>
              <a:ext cx="323246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binding constraint is memory</a:t>
              </a:r>
            </a:p>
          </p:txBody>
        </p:sp>
        <p:sp>
          <p:nvSpPr>
            <p:cNvPr id="10" name="TextBox 10"/>
            <p:cNvSpPr txBox="1"/>
            <p:nvPr/>
          </p:nvSpPr>
          <p:spPr>
            <a:xfrm>
              <a:off x="1022604" y="2251710"/>
              <a:ext cx="350688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Neural networks running on edge devices are</a:t>
              </a:r>
            </a:p>
          </p:txBody>
        </p:sp>
        <p:sp>
          <p:nvSpPr>
            <p:cNvPr id="11" name="TextBox 11"/>
            <p:cNvSpPr txBox="1"/>
            <p:nvPr/>
          </p:nvSpPr>
          <p:spPr>
            <a:xfrm>
              <a:off x="1022604" y="2461260"/>
              <a:ext cx="390540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constrained, above all else, by available memory.</a:t>
              </a:r>
            </a:p>
          </p:txBody>
        </p:sp>
      </p:grpSp>
      <p:grpSp>
        <p:nvGrpSpPr>
          <p:cNvPr id="27" name="Group 27"/>
          <p:cNvGrpSpPr/>
          <p:nvPr/>
        </p:nvGrpSpPr>
        <p:grpSpPr>
          <a:xfrm>
            <a:off x="762000" y="3028950"/>
            <a:ext cx="5257800" cy="3048000"/>
            <a:chOff x="762000" y="3028950"/>
            <a:chExt cx="5257800" cy="3048000"/>
          </a:xfrm>
        </p:grpSpPr>
        <p:sp>
          <p:nvSpPr>
            <p:cNvPr id="13" name="Rectangle 13"/>
            <p:cNvSpPr/>
            <p:nvPr/>
          </p:nvSpPr>
          <p:spPr>
            <a:xfrm>
              <a:off x="762000" y="3028950"/>
              <a:ext cx="5257800" cy="3048000"/>
            </a:xfrm>
            <a:prstGeom prst="roundRect">
              <a:avLst>
                <a:gd name="adj" fmla="val 3750"/>
              </a:avLst>
            </a:prstGeom>
            <a:solidFill>
              <a:schemeClr val="accent5"/>
            </a:solidFill>
            <a:ln w="9525">
              <a:solidFill>
                <a:schemeClr val="accent4"/>
              </a:solidFill>
            </a:ln>
          </p:spPr>
        </p:sp>
        <p:sp>
          <p:nvSpPr>
            <p:cNvPr id="14" name="Rectangle 14"/>
            <p:cNvSpPr/>
            <p:nvPr/>
          </p:nvSpPr>
          <p:spPr>
            <a:xfrm>
              <a:off x="762000" y="3028950"/>
              <a:ext cx="57150" cy="3048000"/>
            </a:xfrm>
            <a:prstGeom prst="roundRect">
              <a:avLst>
                <a:gd name="adj" fmla="val 50000"/>
              </a:avLst>
            </a:prstGeom>
            <a:solidFill>
              <a:schemeClr val="accent1"/>
            </a:solidFill>
            <a:ln>
              <a:noFill/>
            </a:ln>
          </p:spPr>
        </p:sp>
        <p:sp>
          <p:nvSpPr>
            <p:cNvPr id="15" name="TextBox 15"/>
            <p:cNvSpPr txBox="1"/>
            <p:nvPr/>
          </p:nvSpPr>
          <p:spPr>
            <a:xfrm>
              <a:off x="1021461" y="3218021"/>
              <a:ext cx="3101734"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It is really a scheduling problem</a:t>
              </a:r>
            </a:p>
          </p:txBody>
        </p:sp>
        <p:sp>
          <p:nvSpPr>
            <p:cNvPr id="16" name="TextBox 16"/>
            <p:cNvSpPr txBox="1"/>
            <p:nvPr/>
          </p:nvSpPr>
          <p:spPr>
            <a:xfrm>
              <a:off x="1022604" y="3566160"/>
              <a:ext cx="33052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Given a compute graph and a fixed memory</a:t>
              </a:r>
            </a:p>
          </p:txBody>
        </p:sp>
        <p:sp>
          <p:nvSpPr>
            <p:cNvPr id="17" name="TextBox 17"/>
            <p:cNvSpPr txBox="1"/>
            <p:nvPr/>
          </p:nvSpPr>
          <p:spPr>
            <a:xfrm>
              <a:off x="1022604" y="3775710"/>
              <a:ext cx="327538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budget, decide which tensors to keep and</a:t>
              </a:r>
            </a:p>
          </p:txBody>
        </p:sp>
        <p:sp>
          <p:nvSpPr>
            <p:cNvPr id="18" name="TextBox 18"/>
            <p:cNvSpPr txBox="1"/>
            <p:nvPr/>
          </p:nvSpPr>
          <p:spPr>
            <a:xfrm>
              <a:off x="1022604" y="3985260"/>
              <a:ext cx="164378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which to recompute.</a:t>
              </a:r>
            </a:p>
          </p:txBody>
        </p:sp>
        <p:sp>
          <p:nvSpPr>
            <p:cNvPr id="19" name="Rectangle 19"/>
            <p:cNvSpPr/>
            <p:nvPr/>
          </p:nvSpPr>
          <p:spPr>
            <a:xfrm>
              <a:off x="1028700" y="4343400"/>
              <a:ext cx="4724400" cy="685800"/>
            </a:xfrm>
            <a:prstGeom prst="roundRect">
              <a:avLst>
                <a:gd name="adj" fmla="val 11111"/>
              </a:avLst>
            </a:prstGeom>
            <a:solidFill>
              <a:schemeClr val="lt1"/>
            </a:solidFill>
            <a:ln w="9525">
              <a:solidFill>
                <a:schemeClr val="accent4"/>
              </a:solidFill>
            </a:ln>
          </p:spPr>
        </p:sp>
        <p:sp>
          <p:nvSpPr>
            <p:cNvPr id="20" name="TextBox 20"/>
            <p:cNvSpPr txBox="1"/>
            <p:nvPr/>
          </p:nvSpPr>
          <p:spPr>
            <a:xfrm>
              <a:off x="1213485" y="4507706"/>
              <a:ext cx="652598"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minimize</a:t>
              </a:r>
            </a:p>
          </p:txBody>
        </p:sp>
        <p:sp>
          <p:nvSpPr>
            <p:cNvPr id="21" name="TextBox 21"/>
            <p:cNvSpPr txBox="1"/>
            <p:nvPr/>
          </p:nvSpPr>
          <p:spPr>
            <a:xfrm>
              <a:off x="1994535" y="4507706"/>
              <a:ext cx="151163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total execution time</a:t>
              </a:r>
            </a:p>
          </p:txBody>
        </p:sp>
        <p:sp>
          <p:nvSpPr>
            <p:cNvPr id="22" name="TextBox 22"/>
            <p:cNvSpPr txBox="1"/>
            <p:nvPr/>
          </p:nvSpPr>
          <p:spPr>
            <a:xfrm>
              <a:off x="1213485" y="4755356"/>
              <a:ext cx="802996"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subject to</a:t>
              </a:r>
            </a:p>
          </p:txBody>
        </p:sp>
        <p:sp>
          <p:nvSpPr>
            <p:cNvPr id="23" name="TextBox 23"/>
            <p:cNvSpPr txBox="1"/>
            <p:nvPr/>
          </p:nvSpPr>
          <p:spPr>
            <a:xfrm>
              <a:off x="2089785" y="4755356"/>
              <a:ext cx="223535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peak memory ≤ budget, always</a:t>
              </a:r>
            </a:p>
          </p:txBody>
        </p:sp>
        <p:sp>
          <p:nvSpPr>
            <p:cNvPr id="24" name="TextBox 24"/>
            <p:cNvSpPr txBox="1"/>
            <p:nvPr/>
          </p:nvSpPr>
          <p:spPr>
            <a:xfrm>
              <a:off x="1022604" y="5204460"/>
              <a:ext cx="365249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Keeping a tensor spends memory; recomputing</a:t>
              </a:r>
            </a:p>
          </p:txBody>
        </p:sp>
        <p:sp>
          <p:nvSpPr>
            <p:cNvPr id="25" name="TextBox 25"/>
            <p:cNvSpPr txBox="1"/>
            <p:nvPr/>
          </p:nvSpPr>
          <p:spPr>
            <a:xfrm>
              <a:off x="1022604" y="5414010"/>
              <a:ext cx="363631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it spends time. The schedule balances the two</a:t>
              </a:r>
            </a:p>
          </p:txBody>
        </p:sp>
        <p:sp>
          <p:nvSpPr>
            <p:cNvPr id="26" name="TextBox 26"/>
            <p:cNvSpPr txBox="1"/>
            <p:nvPr/>
          </p:nvSpPr>
          <p:spPr>
            <a:xfrm>
              <a:off x="1022604" y="5623560"/>
              <a:ext cx="192648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across the whole graph.</a:t>
              </a:r>
            </a:p>
          </p:txBody>
        </p:sp>
      </p:grpSp>
      <p:grpSp>
        <p:nvGrpSpPr>
          <p:cNvPr id="42" name="Group 42"/>
          <p:cNvGrpSpPr/>
          <p:nvPr/>
        </p:nvGrpSpPr>
        <p:grpSpPr>
          <a:xfrm>
            <a:off x="6286500" y="1733550"/>
            <a:ext cx="5143500" cy="2400300"/>
            <a:chOff x="6286500" y="1733550"/>
            <a:chExt cx="5143500" cy="2400300"/>
          </a:xfrm>
        </p:grpSpPr>
        <p:sp>
          <p:nvSpPr>
            <p:cNvPr id="28" name="Rectangle 28"/>
            <p:cNvSpPr/>
            <p:nvPr/>
          </p:nvSpPr>
          <p:spPr>
            <a:xfrm>
              <a:off x="6286500" y="1733550"/>
              <a:ext cx="5143500" cy="2400300"/>
            </a:xfrm>
            <a:prstGeom prst="roundRect">
              <a:avLst>
                <a:gd name="adj" fmla="val 4762"/>
              </a:avLst>
            </a:prstGeom>
            <a:solidFill>
              <a:schemeClr val="accent5"/>
            </a:solidFill>
            <a:ln w="9525">
              <a:solidFill>
                <a:schemeClr val="accent4"/>
              </a:solidFill>
            </a:ln>
          </p:spPr>
        </p:sp>
        <p:sp>
          <p:nvSpPr>
            <p:cNvPr id="29" name="TextBox 29"/>
            <p:cNvSpPr txBox="1"/>
            <p:nvPr/>
          </p:nvSpPr>
          <p:spPr>
            <a:xfrm>
              <a:off x="6547485" y="1935956"/>
              <a:ext cx="1853113"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STORE vs RECOMPUTE</a:t>
              </a:r>
            </a:p>
          </p:txBody>
        </p:sp>
        <p:sp>
          <p:nvSpPr>
            <p:cNvPr id="30" name="Rectangle 30"/>
            <p:cNvSpPr/>
            <p:nvPr/>
          </p:nvSpPr>
          <p:spPr>
            <a:xfrm>
              <a:off x="6553200" y="2266950"/>
              <a:ext cx="2266950" cy="1619250"/>
            </a:xfrm>
            <a:prstGeom prst="roundRect">
              <a:avLst>
                <a:gd name="adj" fmla="val 4706"/>
              </a:avLst>
            </a:prstGeom>
            <a:solidFill>
              <a:srgbClr val="E1F3F0"/>
            </a:solidFill>
            <a:ln w="9525">
              <a:solidFill>
                <a:srgbClr val="B7E2DA"/>
              </a:solidFill>
            </a:ln>
          </p:spPr>
        </p:sp>
        <p:sp>
          <p:nvSpPr>
            <p:cNvPr id="31" name="TextBox 31"/>
            <p:cNvSpPr txBox="1"/>
            <p:nvPr/>
          </p:nvSpPr>
          <p:spPr>
            <a:xfrm>
              <a:off x="6737223" y="2434114"/>
              <a:ext cx="1520334"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Store everything</a:t>
              </a:r>
            </a:p>
          </p:txBody>
        </p:sp>
        <p:sp>
          <p:nvSpPr>
            <p:cNvPr id="32" name="TextBox 32"/>
            <p:cNvSpPr txBox="1"/>
            <p:nvPr/>
          </p:nvSpPr>
          <p:spPr>
            <a:xfrm>
              <a:off x="6737985" y="2736056"/>
              <a:ext cx="18029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Keep every intermediate</a:t>
              </a:r>
            </a:p>
          </p:txBody>
        </p:sp>
        <p:sp>
          <p:nvSpPr>
            <p:cNvPr id="33" name="TextBox 33"/>
            <p:cNvSpPr txBox="1"/>
            <p:nvPr/>
          </p:nvSpPr>
          <p:spPr>
            <a:xfrm>
              <a:off x="6737985" y="2945606"/>
              <a:ext cx="136840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tensor in memory.</a:t>
              </a:r>
            </a:p>
          </p:txBody>
        </p:sp>
        <p:sp>
          <p:nvSpPr>
            <p:cNvPr id="34" name="TextBox 34"/>
            <p:cNvSpPr txBox="1"/>
            <p:nvPr/>
          </p:nvSpPr>
          <p:spPr>
            <a:xfrm>
              <a:off x="6738366" y="3296602"/>
              <a:ext cx="463345"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 fast</a:t>
              </a:r>
            </a:p>
          </p:txBody>
        </p:sp>
        <p:sp>
          <p:nvSpPr>
            <p:cNvPr id="35" name="TextBox 35"/>
            <p:cNvSpPr txBox="1"/>
            <p:nvPr/>
          </p:nvSpPr>
          <p:spPr>
            <a:xfrm>
              <a:off x="6738366" y="3525202"/>
              <a:ext cx="1390961" cy="205359"/>
            </a:xfrm>
            <a:prstGeom prst="rect">
              <a:avLst/>
            </a:prstGeom>
            <a:noFill/>
            <a:ln>
              <a:noFill/>
            </a:ln>
          </p:spPr>
          <p:txBody>
            <a:bodyPr wrap="none" lIns="0" tIns="0" rIns="0" bIns="0" anchor="t" anchorCtr="0">
              <a:spAutoFit/>
            </a:bodyPr>
            <a:lstStyle/>
            <a:p>
              <a:pPr algn="l"/>
              <a:r>
                <a:rPr lang="en-US" sz="1050" b="1" dirty="0">
                  <a:solidFill>
                    <a:schemeClr val="accent3"/>
                  </a:solidFill>
                  <a:latin typeface="+mn-lt"/>
                  <a:ea typeface="+mn-ea"/>
                  <a:cs typeface="+mn-cs"/>
                </a:rPr>
                <a:t>− high peak memory</a:t>
              </a:r>
            </a:p>
          </p:txBody>
        </p:sp>
        <p:sp>
          <p:nvSpPr>
            <p:cNvPr id="36" name="Rectangle 36"/>
            <p:cNvSpPr/>
            <p:nvPr/>
          </p:nvSpPr>
          <p:spPr>
            <a:xfrm>
              <a:off x="8896350" y="2266950"/>
              <a:ext cx="2266950" cy="1619250"/>
            </a:xfrm>
            <a:prstGeom prst="roundRect">
              <a:avLst>
                <a:gd name="adj" fmla="val 4706"/>
              </a:avLst>
            </a:prstGeom>
            <a:solidFill>
              <a:srgbClr val="FBE9E2"/>
            </a:solidFill>
            <a:ln w="9525">
              <a:solidFill>
                <a:srgbClr val="F2C6B4"/>
              </a:solidFill>
            </a:ln>
          </p:spPr>
        </p:sp>
        <p:sp>
          <p:nvSpPr>
            <p:cNvPr id="37" name="TextBox 37"/>
            <p:cNvSpPr txBox="1"/>
            <p:nvPr/>
          </p:nvSpPr>
          <p:spPr>
            <a:xfrm>
              <a:off x="9080373" y="2434114"/>
              <a:ext cx="1439433" cy="249364"/>
            </a:xfrm>
            <a:prstGeom prst="rect">
              <a:avLst/>
            </a:prstGeom>
            <a:noFill/>
            <a:ln>
              <a:noFill/>
            </a:ln>
          </p:spPr>
          <p:txBody>
            <a:bodyPr wrap="none" lIns="0" tIns="0" rIns="0" bIns="0" anchor="t" anchorCtr="0">
              <a:spAutoFit/>
            </a:bodyPr>
            <a:lstStyle/>
            <a:p>
              <a:pPr algn="l"/>
              <a:r>
                <a:rPr lang="en-US" sz="1280" b="1" dirty="0">
                  <a:solidFill>
                    <a:schemeClr val="accent3"/>
                  </a:solidFill>
                  <a:latin typeface="+mn-lt"/>
                  <a:ea typeface="+mn-ea"/>
                  <a:cs typeface="+mn-cs"/>
                </a:rPr>
                <a:t>Recompute some</a:t>
              </a:r>
            </a:p>
          </p:txBody>
        </p:sp>
        <p:sp>
          <p:nvSpPr>
            <p:cNvPr id="38" name="TextBox 38"/>
            <p:cNvSpPr txBox="1"/>
            <p:nvPr/>
          </p:nvSpPr>
          <p:spPr>
            <a:xfrm>
              <a:off x="9081135" y="2736056"/>
              <a:ext cx="193119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Rebuild tensors on demand</a:t>
              </a:r>
            </a:p>
          </p:txBody>
        </p:sp>
        <p:sp>
          <p:nvSpPr>
            <p:cNvPr id="39" name="TextBox 39"/>
            <p:cNvSpPr txBox="1"/>
            <p:nvPr/>
          </p:nvSpPr>
          <p:spPr>
            <a:xfrm>
              <a:off x="9081135" y="2945606"/>
              <a:ext cx="18433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instead of storing them.</a:t>
              </a:r>
            </a:p>
          </p:txBody>
        </p:sp>
        <p:sp>
          <p:nvSpPr>
            <p:cNvPr id="40" name="TextBox 40"/>
            <p:cNvSpPr txBox="1"/>
            <p:nvPr/>
          </p:nvSpPr>
          <p:spPr>
            <a:xfrm>
              <a:off x="9081516" y="3296602"/>
              <a:ext cx="1339014"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 low peak memory</a:t>
              </a:r>
            </a:p>
          </p:txBody>
        </p:sp>
        <p:sp>
          <p:nvSpPr>
            <p:cNvPr id="41" name="TextBox 41"/>
            <p:cNvSpPr txBox="1"/>
            <p:nvPr/>
          </p:nvSpPr>
          <p:spPr>
            <a:xfrm>
              <a:off x="9081516" y="3525202"/>
              <a:ext cx="1554221" cy="205359"/>
            </a:xfrm>
            <a:prstGeom prst="rect">
              <a:avLst/>
            </a:prstGeom>
            <a:noFill/>
            <a:ln>
              <a:noFill/>
            </a:ln>
          </p:spPr>
          <p:txBody>
            <a:bodyPr wrap="none" lIns="0" tIns="0" rIns="0" bIns="0" anchor="t" anchorCtr="0">
              <a:spAutoFit/>
            </a:bodyPr>
            <a:lstStyle/>
            <a:p>
              <a:pPr algn="l"/>
              <a:r>
                <a:rPr lang="en-US" sz="1050" b="1" dirty="0">
                  <a:solidFill>
                    <a:schemeClr val="accent3"/>
                  </a:solidFill>
                  <a:latin typeface="+mn-lt"/>
                  <a:ea typeface="+mn-ea"/>
                  <a:cs typeface="+mn-cs"/>
                </a:rPr>
                <a:t>− extra compute time</a:t>
              </a:r>
            </a:p>
          </p:txBody>
        </p:sp>
      </p:grpSp>
      <p:grpSp>
        <p:nvGrpSpPr>
          <p:cNvPr id="49" name="Group 49"/>
          <p:cNvGrpSpPr/>
          <p:nvPr/>
        </p:nvGrpSpPr>
        <p:grpSpPr>
          <a:xfrm>
            <a:off x="6286500" y="4286250"/>
            <a:ext cx="5143500" cy="1790700"/>
            <a:chOff x="6286500" y="4286250"/>
            <a:chExt cx="5143500" cy="1790700"/>
          </a:xfrm>
        </p:grpSpPr>
        <p:sp>
          <p:nvSpPr>
            <p:cNvPr id="43" name="Rectangle 43"/>
            <p:cNvSpPr/>
            <p:nvPr/>
          </p:nvSpPr>
          <p:spPr>
            <a:xfrm>
              <a:off x="6286500" y="4286250"/>
              <a:ext cx="5143500" cy="1790700"/>
            </a:xfrm>
            <a:prstGeom prst="roundRect">
              <a:avLst>
                <a:gd name="adj" fmla="val 6383"/>
              </a:avLst>
            </a:prstGeom>
            <a:solidFill>
              <a:schemeClr val="dk1"/>
            </a:solidFill>
            <a:ln>
              <a:noFill/>
            </a:ln>
          </p:spPr>
        </p:sp>
        <p:sp>
          <p:nvSpPr>
            <p:cNvPr id="44" name="TextBox 44"/>
            <p:cNvSpPr txBox="1"/>
            <p:nvPr/>
          </p:nvSpPr>
          <p:spPr>
            <a:xfrm>
              <a:off x="6547485" y="4545806"/>
              <a:ext cx="1262488" cy="220028"/>
            </a:xfrm>
            <a:prstGeom prst="rect">
              <a:avLst/>
            </a:prstGeom>
            <a:noFill/>
            <a:ln>
              <a:noFill/>
            </a:ln>
          </p:spPr>
          <p:txBody>
            <a:bodyPr wrap="none" lIns="0" tIns="0" rIns="0" bIns="0" anchor="t" anchorCtr="0">
              <a:spAutoFit/>
            </a:bodyPr>
            <a:lstStyle/>
            <a:p>
              <a:pPr algn="l"/>
              <a:r>
                <a:rPr lang="en-US" sz="1120" b="1" spc="75" dirty="0">
                  <a:solidFill>
                    <a:srgbClr val="7CA0EC"/>
                  </a:solidFill>
                  <a:latin typeface="+mn-lt"/>
                  <a:ea typeface="+mn-ea"/>
                  <a:cs typeface="+mn-cs"/>
                </a:rPr>
                <a:t>WHY IT IS HARD</a:t>
              </a:r>
            </a:p>
          </p:txBody>
        </p:sp>
        <p:sp>
          <p:nvSpPr>
            <p:cNvPr id="45" name="TextBox 45"/>
            <p:cNvSpPr txBox="1"/>
            <p:nvPr/>
          </p:nvSpPr>
          <p:spPr>
            <a:xfrm>
              <a:off x="6537960" y="4819650"/>
              <a:ext cx="3592068"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PSPACE-complete</a:t>
              </a:r>
            </a:p>
          </p:txBody>
        </p:sp>
        <p:sp>
          <p:nvSpPr>
            <p:cNvPr id="46" name="TextBox 46"/>
            <p:cNvSpPr txBox="1"/>
            <p:nvPr/>
          </p:nvSpPr>
          <p:spPr>
            <a:xfrm>
              <a:off x="6547104" y="5375910"/>
              <a:ext cx="3603674"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A hard combinatorial optimization in general —</a:t>
              </a:r>
            </a:p>
          </p:txBody>
        </p:sp>
        <p:sp>
          <p:nvSpPr>
            <p:cNvPr id="47" name="TextBox 47"/>
            <p:cNvSpPr txBox="1"/>
            <p:nvPr/>
          </p:nvSpPr>
          <p:spPr>
            <a:xfrm>
              <a:off x="6547104" y="5585460"/>
              <a:ext cx="3638855"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the search space explodes with graph size, so</a:t>
              </a:r>
            </a:p>
          </p:txBody>
        </p:sp>
        <p:sp>
          <p:nvSpPr>
            <p:cNvPr id="48" name="TextBox 48"/>
            <p:cNvSpPr txBox="1"/>
            <p:nvPr/>
          </p:nvSpPr>
          <p:spPr>
            <a:xfrm>
              <a:off x="6547104" y="5795010"/>
              <a:ext cx="3105760"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brute force is hopeless on real models.</a:t>
              </a:r>
            </a:p>
          </p:txBody>
        </p:sp>
      </p:grpSp>
      <p:grpSp>
        <p:nvGrpSpPr>
          <p:cNvPr id="52" name="Group 52"/>
          <p:cNvGrpSpPr/>
          <p:nvPr/>
        </p:nvGrpSpPr>
        <p:grpSpPr>
          <a:xfrm>
            <a:off x="757238" y="6570345"/>
            <a:ext cx="10677524" cy="176212"/>
            <a:chOff x="757238" y="6570345"/>
            <a:chExt cx="10677524" cy="176212"/>
          </a:xfrm>
        </p:grpSpPr>
        <p:sp>
          <p:nvSpPr>
            <p:cNvPr id="50" name="TextBox 50"/>
            <p:cNvSpPr txBox="1"/>
            <p:nvPr/>
          </p:nvSpPr>
          <p:spPr>
            <a:xfrm>
              <a:off x="757238" y="6570345"/>
              <a:ext cx="126828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Moccasin · ICML 2023</a:t>
              </a:r>
            </a:p>
          </p:txBody>
        </p:sp>
        <p:sp>
          <p:nvSpPr>
            <p:cNvPr id="51" name="TextBox 51"/>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02 / 10</a:t>
              </a:r>
            </a:p>
          </p:txBody>
        </p:sp>
      </p:grpSp>
      <p:sp>
        <p:nvSpPr>
          <p:cNvPr id="53" name="cue_s02_c1_neural_networks_running_edge_devices" title="cue_s02_c1_neural_networks_running_edge_devices" descr="cue_s02_c1_neural_networks_running_edge_devices Neural networks running on edge devices are constrained above all by memory."/>
          <p:cNvSpPr/>
          <p:nvPr/>
        </p:nvSpPr>
        <p:spPr>
          <a:xfrm>
            <a:off x="762000" y="1733702"/>
            <a:ext cx="5258409"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2_c2_one_way_fit_large_small" title="cue_s02_c2_one_way_fit_large_small" descr="cue_s02_c2_one_way_fit_large_small One way to fit a large model into a small memory footprint is rematerialization: instead of storing every intermediate tensor, you recompute some of them on demand. The catch is that recomputation costs time."/>
          <p:cNvSpPr/>
          <p:nvPr/>
        </p:nvSpPr>
        <p:spPr>
          <a:xfrm>
            <a:off x="6286195" y="1733702"/>
            <a:ext cx="5143804" cy="24003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2_c3_core_problem_scheduling_one_given" title="cue_s02_c3_core_problem_scheduling_one_given" descr="cue_s02_c3_core_problem_scheduling_one_given So the core problem is a scheduling one: for a given compute graph and a fixed memory budget, decide which tensors to retain and which to recompute so that total execution time is as small as possible while peak memory never exceeds the budget."/>
          <p:cNvSpPr/>
          <p:nvPr/>
        </p:nvSpPr>
        <p:spPr>
          <a:xfrm>
            <a:off x="762000" y="3029178"/>
            <a:ext cx="5258409"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2_c4_hard_combinatorial_optimization_gene" title="cue_s02_c4_hard_combinatorial_optimization_gene" descr="cue_s02_c4_hard_combinatorial_optimization_gene This is a hard combinatorial optimization, in general PSPACE-complete."/>
          <p:cNvSpPr/>
          <p:nvPr/>
        </p:nvSpPr>
        <p:spPr>
          <a:xfrm>
            <a:off x="6286195" y="4286250"/>
            <a:ext cx="5143804" cy="17906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427" y="572452"/>
            <a:ext cx="10680573" cy="865823"/>
            <a:chOff x="749427" y="572452"/>
            <a:chExt cx="10680573"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54040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03 · MOTIVATION</a:t>
              </a:r>
            </a:p>
          </p:txBody>
        </p:sp>
        <p:sp>
          <p:nvSpPr>
            <p:cNvPr id="4" name="TextBox 4"/>
            <p:cNvSpPr txBox="1"/>
            <p:nvPr/>
          </p:nvSpPr>
          <p:spPr>
            <a:xfrm>
              <a:off x="749427" y="875824"/>
              <a:ext cx="5207022"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Prior art hits a quadratic wall</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3" name="Group 13"/>
          <p:cNvGrpSpPr/>
          <p:nvPr/>
        </p:nvGrpSpPr>
        <p:grpSpPr>
          <a:xfrm>
            <a:off x="762000" y="1733550"/>
            <a:ext cx="4953000" cy="1238250"/>
            <a:chOff x="762000" y="1733550"/>
            <a:chExt cx="4953000" cy="1238250"/>
          </a:xfrm>
        </p:grpSpPr>
        <p:sp>
          <p:nvSpPr>
            <p:cNvPr id="7" name="Rectangle 7"/>
            <p:cNvSpPr/>
            <p:nvPr/>
          </p:nvSpPr>
          <p:spPr>
            <a:xfrm>
              <a:off x="762000" y="1733550"/>
              <a:ext cx="4953000" cy="1238250"/>
            </a:xfrm>
            <a:prstGeom prst="roundRect">
              <a:avLst>
                <a:gd name="adj" fmla="val 9231"/>
              </a:avLst>
            </a:prstGeom>
            <a:solidFill>
              <a:schemeClr val="accent5"/>
            </a:solidFill>
            <a:ln w="9525">
              <a:solidFill>
                <a:schemeClr val="accent4"/>
              </a:solidFill>
            </a:ln>
          </p:spPr>
        </p:sp>
        <p:sp>
          <p:nvSpPr>
            <p:cNvPr id="8" name="Rectangle 8"/>
            <p:cNvSpPr/>
            <p:nvPr/>
          </p:nvSpPr>
          <p:spPr>
            <a:xfrm>
              <a:off x="762000" y="1733550"/>
              <a:ext cx="57150" cy="1238250"/>
            </a:xfrm>
            <a:prstGeom prst="roundRect">
              <a:avLst>
                <a:gd name="adj" fmla="val 50000"/>
              </a:avLst>
            </a:prstGeom>
            <a:solidFill>
              <a:srgbClr val="8A97A8"/>
            </a:solidFill>
            <a:ln>
              <a:noFill/>
            </a:ln>
          </p:spPr>
        </p:sp>
        <p:sp>
          <p:nvSpPr>
            <p:cNvPr id="9" name="TextBox 9"/>
            <p:cNvSpPr txBox="1"/>
            <p:nvPr/>
          </p:nvSpPr>
          <p:spPr>
            <a:xfrm>
              <a:off x="1021461" y="1903571"/>
              <a:ext cx="201482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Baseline: Checkmate</a:t>
              </a:r>
            </a:p>
          </p:txBody>
        </p:sp>
        <p:sp>
          <p:nvSpPr>
            <p:cNvPr id="10" name="TextBox 10"/>
            <p:cNvSpPr txBox="1"/>
            <p:nvPr/>
          </p:nvSpPr>
          <p:spPr>
            <a:xfrm>
              <a:off x="1022604" y="2232660"/>
              <a:ext cx="386200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leading prior method casts rematerialization</a:t>
              </a:r>
            </a:p>
          </p:txBody>
        </p:sp>
        <p:sp>
          <p:nvSpPr>
            <p:cNvPr id="11" name="TextBox 11"/>
            <p:cNvSpPr txBox="1"/>
            <p:nvPr/>
          </p:nvSpPr>
          <p:spPr>
            <a:xfrm>
              <a:off x="1022604" y="2442210"/>
              <a:ext cx="342048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as a mixed-integer linear program (MILP) —</a:t>
              </a:r>
            </a:p>
          </p:txBody>
        </p:sp>
        <p:sp>
          <p:nvSpPr>
            <p:cNvPr id="12" name="TextBox 12"/>
            <p:cNvSpPr txBox="1"/>
            <p:nvPr/>
          </p:nvSpPr>
          <p:spPr>
            <a:xfrm>
              <a:off x="1022604" y="2651760"/>
              <a:ext cx="189418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expressive and general.</a:t>
              </a:r>
            </a:p>
          </p:txBody>
        </p:sp>
      </p:grpSp>
      <p:grpSp>
        <p:nvGrpSpPr>
          <p:cNvPr id="21" name="Group 21"/>
          <p:cNvGrpSpPr/>
          <p:nvPr/>
        </p:nvGrpSpPr>
        <p:grpSpPr>
          <a:xfrm>
            <a:off x="762000" y="3124200"/>
            <a:ext cx="4953000" cy="1390650"/>
            <a:chOff x="762000" y="3124200"/>
            <a:chExt cx="4953000" cy="1390650"/>
          </a:xfrm>
        </p:grpSpPr>
        <p:sp>
          <p:nvSpPr>
            <p:cNvPr id="14" name="Rectangle 14"/>
            <p:cNvSpPr/>
            <p:nvPr/>
          </p:nvSpPr>
          <p:spPr>
            <a:xfrm>
              <a:off x="762000" y="3124200"/>
              <a:ext cx="4953000" cy="1390650"/>
            </a:xfrm>
            <a:prstGeom prst="roundRect">
              <a:avLst>
                <a:gd name="adj" fmla="val 8219"/>
              </a:avLst>
            </a:prstGeom>
            <a:solidFill>
              <a:srgbClr val="FBE9E2"/>
            </a:solidFill>
            <a:ln w="9525">
              <a:solidFill>
                <a:srgbClr val="F2C6B4"/>
              </a:solidFill>
            </a:ln>
          </p:spPr>
        </p:sp>
        <p:sp>
          <p:nvSpPr>
            <p:cNvPr id="15" name="Rectangle 15"/>
            <p:cNvSpPr/>
            <p:nvPr/>
          </p:nvSpPr>
          <p:spPr>
            <a:xfrm>
              <a:off x="762000" y="3124200"/>
              <a:ext cx="57150" cy="1390650"/>
            </a:xfrm>
            <a:prstGeom prst="roundRect">
              <a:avLst>
                <a:gd name="adj" fmla="val 50000"/>
              </a:avLst>
            </a:prstGeom>
            <a:solidFill>
              <a:schemeClr val="accent3"/>
            </a:solidFill>
            <a:ln>
              <a:noFill/>
            </a:ln>
          </p:spPr>
        </p:sp>
        <p:sp>
          <p:nvSpPr>
            <p:cNvPr id="16" name="TextBox 16"/>
            <p:cNvSpPr txBox="1"/>
            <p:nvPr/>
          </p:nvSpPr>
          <p:spPr>
            <a:xfrm>
              <a:off x="1021461" y="3294221"/>
              <a:ext cx="246954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Boolean variables blow up</a:t>
              </a:r>
            </a:p>
          </p:txBody>
        </p:sp>
        <p:sp>
          <p:nvSpPr>
            <p:cNvPr id="17" name="TextBox 17"/>
            <p:cNvSpPr txBox="1"/>
            <p:nvPr/>
          </p:nvSpPr>
          <p:spPr>
            <a:xfrm>
              <a:off x="1017270" y="3529012"/>
              <a:ext cx="2402997"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O(n²) Booleans</a:t>
              </a:r>
            </a:p>
          </p:txBody>
        </p:sp>
        <p:sp>
          <p:nvSpPr>
            <p:cNvPr id="18" name="TextBox 18"/>
            <p:cNvSpPr txBox="1"/>
            <p:nvPr/>
          </p:nvSpPr>
          <p:spPr>
            <a:xfrm>
              <a:off x="3613785" y="3612356"/>
              <a:ext cx="16624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grows with the square</a:t>
              </a:r>
            </a:p>
          </p:txBody>
        </p:sp>
        <p:sp>
          <p:nvSpPr>
            <p:cNvPr id="19" name="TextBox 19"/>
            <p:cNvSpPr txBox="1"/>
            <p:nvPr/>
          </p:nvSpPr>
          <p:spPr>
            <a:xfrm>
              <a:off x="3613785" y="3802856"/>
              <a:ext cx="15191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of the node count n.</a:t>
              </a:r>
            </a:p>
          </p:txBody>
        </p:sp>
        <p:sp>
          <p:nvSpPr>
            <p:cNvPr id="20" name="TextBox 20"/>
            <p:cNvSpPr txBox="1"/>
            <p:nvPr/>
          </p:nvSpPr>
          <p:spPr>
            <a:xfrm>
              <a:off x="1022604" y="4137660"/>
              <a:ext cx="379767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More nodes means quadratically more decisions.</a:t>
              </a:r>
            </a:p>
          </p:txBody>
        </p:sp>
      </p:grpSp>
      <p:grpSp>
        <p:nvGrpSpPr>
          <p:cNvPr id="29" name="Group 29"/>
          <p:cNvGrpSpPr/>
          <p:nvPr/>
        </p:nvGrpSpPr>
        <p:grpSpPr>
          <a:xfrm>
            <a:off x="762000" y="4667250"/>
            <a:ext cx="4953000" cy="1409700"/>
            <a:chOff x="762000" y="4667250"/>
            <a:chExt cx="4953000" cy="1409700"/>
          </a:xfrm>
        </p:grpSpPr>
        <p:sp>
          <p:nvSpPr>
            <p:cNvPr id="22" name="Rectangle 22"/>
            <p:cNvSpPr/>
            <p:nvPr/>
          </p:nvSpPr>
          <p:spPr>
            <a:xfrm>
              <a:off x="762000" y="4667250"/>
              <a:ext cx="4953000" cy="1409700"/>
            </a:xfrm>
            <a:prstGeom prst="roundRect">
              <a:avLst>
                <a:gd name="adj" fmla="val 8108"/>
              </a:avLst>
            </a:prstGeom>
            <a:solidFill>
              <a:schemeClr val="accent6"/>
            </a:solidFill>
            <a:ln w="9525">
              <a:solidFill>
                <a:srgbClr val="C6D6FB"/>
              </a:solidFill>
            </a:ln>
          </p:spPr>
        </p:sp>
        <p:sp>
          <p:nvSpPr>
            <p:cNvPr id="23" name="Rectangle 23"/>
            <p:cNvSpPr/>
            <p:nvPr/>
          </p:nvSpPr>
          <p:spPr>
            <a:xfrm>
              <a:off x="762000" y="4667250"/>
              <a:ext cx="57150" cy="1409700"/>
            </a:xfrm>
            <a:prstGeom prst="roundRect">
              <a:avLst>
                <a:gd name="adj" fmla="val 50000"/>
              </a:avLst>
            </a:prstGeom>
            <a:solidFill>
              <a:schemeClr val="accent1"/>
            </a:solidFill>
            <a:ln>
              <a:noFill/>
            </a:ln>
          </p:spPr>
        </p:sp>
        <p:sp>
          <p:nvSpPr>
            <p:cNvPr id="24" name="TextBox 24"/>
            <p:cNvSpPr txBox="1"/>
            <p:nvPr/>
          </p:nvSpPr>
          <p:spPr>
            <a:xfrm>
              <a:off x="1021461" y="4837271"/>
              <a:ext cx="2399723"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The graphs keep growing</a:t>
              </a:r>
            </a:p>
          </p:txBody>
        </p:sp>
        <p:sp>
          <p:nvSpPr>
            <p:cNvPr id="25" name="TextBox 25"/>
            <p:cNvSpPr txBox="1"/>
            <p:nvPr/>
          </p:nvSpPr>
          <p:spPr>
            <a:xfrm>
              <a:off x="1022604" y="5166360"/>
              <a:ext cx="382180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On-device training and stricter latency targets</a:t>
              </a:r>
            </a:p>
          </p:txBody>
        </p:sp>
        <p:sp>
          <p:nvSpPr>
            <p:cNvPr id="26" name="TextBox 26"/>
            <p:cNvSpPr txBox="1"/>
            <p:nvPr/>
          </p:nvSpPr>
          <p:spPr>
            <a:xfrm>
              <a:off x="1022604" y="5375910"/>
              <a:ext cx="331334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keep enlarging compute graphs. We need a</a:t>
              </a:r>
            </a:p>
          </p:txBody>
        </p:sp>
        <p:sp>
          <p:nvSpPr>
            <p:cNvPr id="27" name="TextBox 27"/>
            <p:cNvSpPr txBox="1"/>
            <p:nvPr/>
          </p:nvSpPr>
          <p:spPr>
            <a:xfrm>
              <a:off x="1022604" y="5585460"/>
              <a:ext cx="375193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formulation whose complexity grows much more</a:t>
              </a:r>
            </a:p>
          </p:txBody>
        </p:sp>
        <p:sp>
          <p:nvSpPr>
            <p:cNvPr id="28" name="TextBox 28"/>
            <p:cNvSpPr txBox="1"/>
            <p:nvPr/>
          </p:nvSpPr>
          <p:spPr>
            <a:xfrm>
              <a:off x="1022604" y="5795010"/>
              <a:ext cx="388924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slowly to stay within an acceptable compile time.</a:t>
              </a:r>
            </a:p>
          </p:txBody>
        </p:sp>
      </p:grpSp>
      <p:grpSp>
        <p:nvGrpSpPr>
          <p:cNvPr id="46" name="Group 46"/>
          <p:cNvGrpSpPr/>
          <p:nvPr/>
        </p:nvGrpSpPr>
        <p:grpSpPr>
          <a:xfrm>
            <a:off x="6096000" y="1733550"/>
            <a:ext cx="6400691" cy="4346734"/>
            <a:chOff x="6096000" y="1733550"/>
            <a:chExt cx="6400691" cy="4346734"/>
          </a:xfrm>
        </p:grpSpPr>
        <p:sp>
          <p:nvSpPr>
            <p:cNvPr id="30" name="Rectangle 30"/>
            <p:cNvSpPr/>
            <p:nvPr/>
          </p:nvSpPr>
          <p:spPr>
            <a:xfrm>
              <a:off x="6096000" y="1733550"/>
              <a:ext cx="5334000" cy="4343400"/>
            </a:xfrm>
            <a:prstGeom prst="roundRect">
              <a:avLst>
                <a:gd name="adj" fmla="val 2632"/>
              </a:avLst>
            </a:prstGeom>
            <a:solidFill>
              <a:schemeClr val="accent5"/>
            </a:solidFill>
            <a:ln w="9525">
              <a:solidFill>
                <a:schemeClr val="accent4"/>
              </a:solidFill>
            </a:ln>
          </p:spPr>
        </p:sp>
        <p:sp>
          <p:nvSpPr>
            <p:cNvPr id="31" name="TextBox 31"/>
            <p:cNvSpPr txBox="1"/>
            <p:nvPr/>
          </p:nvSpPr>
          <p:spPr>
            <a:xfrm>
              <a:off x="6356985" y="1916906"/>
              <a:ext cx="2987637"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BOOLEAN VARIABLES vs GRAPH SIZE</a:t>
              </a:r>
            </a:p>
          </p:txBody>
        </p:sp>
        <p:sp>
          <p:nvSpPr>
            <p:cNvPr id="32" name="Line 32"/>
            <p:cNvSpPr/>
            <p:nvPr/>
          </p:nvSpPr>
          <p:spPr>
            <a:xfrm>
              <a:off x="6705600" y="5334000"/>
              <a:ext cx="4343400" cy="9525"/>
            </a:xfrm>
            <a:custGeom>
              <a:avLst/>
              <a:gdLst/>
              <a:ahLst/>
              <a:cxnLst/>
              <a:rect l="l" t="t" r="r" b="b"/>
              <a:pathLst>
                <a:path w="4343400" h="9525">
                  <a:moveTo>
                    <a:pt x="0" y="0"/>
                  </a:moveTo>
                  <a:lnTo>
                    <a:pt x="4343400" y="0"/>
                  </a:lnTo>
                </a:path>
              </a:pathLst>
            </a:custGeom>
            <a:noFill/>
            <a:ln w="14288">
              <a:solidFill>
                <a:srgbClr val="C6CED9"/>
              </a:solidFill>
            </a:ln>
          </p:spPr>
        </p:sp>
        <p:sp>
          <p:nvSpPr>
            <p:cNvPr id="33" name="Line 33"/>
            <p:cNvSpPr/>
            <p:nvPr/>
          </p:nvSpPr>
          <p:spPr>
            <a:xfrm>
              <a:off x="6705600" y="2381250"/>
              <a:ext cx="9525" cy="2952750"/>
            </a:xfrm>
            <a:custGeom>
              <a:avLst/>
              <a:gdLst/>
              <a:ahLst/>
              <a:cxnLst/>
              <a:rect l="l" t="t" r="r" b="b"/>
              <a:pathLst>
                <a:path w="9525" h="2952750">
                  <a:moveTo>
                    <a:pt x="0" y="0"/>
                  </a:moveTo>
                  <a:lnTo>
                    <a:pt x="0" y="2952750"/>
                  </a:lnTo>
                </a:path>
              </a:pathLst>
            </a:custGeom>
            <a:noFill/>
            <a:ln w="14288">
              <a:solidFill>
                <a:srgbClr val="C6CED9"/>
              </a:solidFill>
            </a:ln>
          </p:spPr>
        </p:sp>
        <p:sp>
          <p:nvSpPr>
            <p:cNvPr id="34" name="TextBox 34"/>
            <p:cNvSpPr txBox="1"/>
            <p:nvPr/>
          </p:nvSpPr>
          <p:spPr>
            <a:xfrm>
              <a:off x="8250022" y="5601652"/>
              <a:ext cx="1254557"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number of nodes →</a:t>
              </a:r>
            </a:p>
          </p:txBody>
        </p:sp>
        <p:sp>
          <p:nvSpPr>
            <p:cNvPr id="35" name="TextBox 35"/>
            <p:cNvSpPr txBox="1"/>
            <p:nvPr/>
          </p:nvSpPr>
          <p:spPr>
            <a:xfrm rot="-5400000">
              <a:off x="6143568" y="3754946"/>
              <a:ext cx="759828"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variables →</a:t>
              </a:r>
            </a:p>
          </p:txBody>
        </p:sp>
        <p:sp>
          <p:nvSpPr>
            <p:cNvPr id="36" name="Freeform 36"/>
            <p:cNvSpPr/>
            <p:nvPr/>
          </p:nvSpPr>
          <p:spPr>
            <a:xfrm>
              <a:off x="6705600" y="2495550"/>
              <a:ext cx="3962400" cy="2800350"/>
            </a:xfrm>
            <a:custGeom>
              <a:avLst/>
              <a:gdLst/>
              <a:ahLst/>
              <a:cxnLst/>
              <a:rect l="l" t="t" r="r" b="b"/>
              <a:pathLst>
                <a:path w="3962400" h="2800350">
                  <a:moveTo>
                    <a:pt x="0" y="2800350"/>
                  </a:moveTo>
                  <a:cubicBezTo>
                    <a:pt x="1752600" y="2749550"/>
                    <a:pt x="2832100" y="2349500"/>
                    <a:pt x="3238500" y="1600200"/>
                  </a:cubicBezTo>
                  <a:cubicBezTo>
                    <a:pt x="3644900" y="850900"/>
                    <a:pt x="3886200" y="317500"/>
                    <a:pt x="3962400" y="0"/>
                  </a:cubicBezTo>
                </a:path>
              </a:pathLst>
            </a:custGeom>
            <a:noFill/>
            <a:ln w="38100">
              <a:solidFill>
                <a:schemeClr val="accent3"/>
              </a:solidFill>
            </a:ln>
          </p:spPr>
        </p:sp>
        <p:sp>
          <p:nvSpPr>
            <p:cNvPr id="37" name="TextBox 37"/>
            <p:cNvSpPr txBox="1"/>
            <p:nvPr/>
          </p:nvSpPr>
          <p:spPr>
            <a:xfrm>
              <a:off x="9013969" y="2736056"/>
              <a:ext cx="1354946" cy="220028"/>
            </a:xfrm>
            <a:prstGeom prst="rect">
              <a:avLst/>
            </a:prstGeom>
            <a:noFill/>
            <a:ln>
              <a:noFill/>
            </a:ln>
          </p:spPr>
          <p:txBody>
            <a:bodyPr wrap="none" lIns="0" tIns="0" rIns="0" bIns="0" anchor="t" anchorCtr="0">
              <a:spAutoFit/>
            </a:bodyPr>
            <a:lstStyle/>
            <a:p>
              <a:pPr algn="r"/>
              <a:r>
                <a:rPr lang="en-US" sz="1120" b="1" dirty="0">
                  <a:solidFill>
                    <a:schemeClr val="accent3"/>
                  </a:solidFill>
                  <a:latin typeface="+mn-lt"/>
                  <a:ea typeface="+mn-ea"/>
                  <a:cs typeface="+mn-cs"/>
                </a:rPr>
                <a:t>Checkmate O(n²)</a:t>
              </a:r>
            </a:p>
          </p:txBody>
        </p:sp>
        <p:sp>
          <p:nvSpPr>
            <p:cNvPr id="38" name="Line 38"/>
            <p:cNvSpPr/>
            <p:nvPr/>
          </p:nvSpPr>
          <p:spPr>
            <a:xfrm>
              <a:off x="6705600" y="4876800"/>
              <a:ext cx="4248150" cy="419100"/>
            </a:xfrm>
            <a:custGeom>
              <a:avLst/>
              <a:gdLst/>
              <a:ahLst/>
              <a:cxnLst/>
              <a:rect l="l" t="t" r="r" b="b"/>
              <a:pathLst>
                <a:path w="4248150" h="419100">
                  <a:moveTo>
                    <a:pt x="0" y="419100"/>
                  </a:moveTo>
                  <a:lnTo>
                    <a:pt x="4248150" y="0"/>
                  </a:lnTo>
                </a:path>
              </a:pathLst>
            </a:custGeom>
            <a:noFill/>
            <a:ln w="28575">
              <a:solidFill>
                <a:schemeClr val="accent1"/>
              </a:solidFill>
              <a:custDash>
                <a:ds d="233333" sp="166667"/>
              </a:custDash>
            </a:ln>
          </p:spPr>
        </p:sp>
        <p:sp>
          <p:nvSpPr>
            <p:cNvPr id="39" name="TextBox 39"/>
            <p:cNvSpPr txBox="1"/>
            <p:nvPr/>
          </p:nvSpPr>
          <p:spPr>
            <a:xfrm>
              <a:off x="9819292" y="4641056"/>
              <a:ext cx="1140173" cy="220028"/>
            </a:xfrm>
            <a:prstGeom prst="rect">
              <a:avLst/>
            </a:prstGeom>
            <a:noFill/>
            <a:ln>
              <a:noFill/>
            </a:ln>
          </p:spPr>
          <p:txBody>
            <a:bodyPr wrap="none" lIns="0" tIns="0" rIns="0" bIns="0" anchor="t" anchorCtr="0">
              <a:spAutoFit/>
            </a:bodyPr>
            <a:lstStyle/>
            <a:p>
              <a:pPr algn="r"/>
              <a:r>
                <a:rPr lang="en-US" sz="1120" b="1" dirty="0">
                  <a:solidFill>
                    <a:schemeClr val="accent1"/>
                  </a:solidFill>
                  <a:latin typeface="+mn-lt"/>
                  <a:ea typeface="+mn-ea"/>
                  <a:cs typeface="+mn-cs"/>
                </a:rPr>
                <a:t>Moccasin O(n)</a:t>
              </a:r>
            </a:p>
          </p:txBody>
        </p:sp>
        <p:sp>
          <p:nvSpPr>
            <p:cNvPr id="40" name="Line 40"/>
            <p:cNvSpPr/>
            <p:nvPr/>
          </p:nvSpPr>
          <p:spPr>
            <a:xfrm>
              <a:off x="9601200" y="2381250"/>
              <a:ext cx="9525" cy="2952750"/>
            </a:xfrm>
            <a:custGeom>
              <a:avLst/>
              <a:gdLst/>
              <a:ahLst/>
              <a:cxnLst/>
              <a:rect l="l" t="t" r="r" b="b"/>
              <a:pathLst>
                <a:path w="9525" h="2952750">
                  <a:moveTo>
                    <a:pt x="0" y="0"/>
                  </a:moveTo>
                  <a:lnTo>
                    <a:pt x="0" y="2952750"/>
                  </a:lnTo>
                </a:path>
              </a:pathLst>
            </a:custGeom>
            <a:noFill/>
            <a:ln w="19050">
              <a:solidFill>
                <a:schemeClr val="dk1"/>
              </a:solidFill>
              <a:prstDash val="dash"/>
            </a:ln>
          </p:spPr>
        </p:sp>
        <p:sp>
          <p:nvSpPr>
            <p:cNvPr id="41" name="Rectangle 41"/>
            <p:cNvSpPr/>
            <p:nvPr/>
          </p:nvSpPr>
          <p:spPr>
            <a:xfrm>
              <a:off x="9639300" y="3143250"/>
              <a:ext cx="1333500" cy="819150"/>
            </a:xfrm>
            <a:prstGeom prst="roundRect">
              <a:avLst>
                <a:gd name="adj" fmla="val 9302"/>
              </a:avLst>
            </a:prstGeom>
            <a:solidFill>
              <a:schemeClr val="dk1"/>
            </a:solidFill>
            <a:ln>
              <a:noFill/>
            </a:ln>
          </p:spPr>
        </p:sp>
        <p:sp>
          <p:nvSpPr>
            <p:cNvPr id="42" name="TextBox 42"/>
            <p:cNvSpPr txBox="1"/>
            <p:nvPr/>
          </p:nvSpPr>
          <p:spPr>
            <a:xfrm>
              <a:off x="10015010" y="3315652"/>
              <a:ext cx="582079"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the wall</a:t>
              </a:r>
            </a:p>
          </p:txBody>
        </p:sp>
        <p:sp>
          <p:nvSpPr>
            <p:cNvPr id="43" name="TextBox 43"/>
            <p:cNvSpPr txBox="1"/>
            <p:nvPr/>
          </p:nvSpPr>
          <p:spPr>
            <a:xfrm>
              <a:off x="9719729" y="3541395"/>
              <a:ext cx="1172642" cy="176212"/>
            </a:xfrm>
            <a:prstGeom prst="rect">
              <a:avLst/>
            </a:prstGeom>
            <a:noFill/>
            <a:ln>
              <a:noFill/>
            </a:ln>
          </p:spPr>
          <p:txBody>
            <a:bodyPr wrap="none" lIns="0" tIns="0" rIns="0" bIns="0" anchor="t" anchorCtr="0">
              <a:spAutoFit/>
            </a:bodyPr>
            <a:lstStyle/>
            <a:p>
              <a:pPr algn="ctr"/>
              <a:r>
                <a:rPr lang="en-US" sz="900" dirty="0">
                  <a:solidFill>
                    <a:srgbClr val="C7CFDA"/>
                  </a:solidFill>
                  <a:latin typeface="+mn-lt"/>
                  <a:ea typeface="+mn-ea"/>
                  <a:cs typeface="+mn-cs"/>
                </a:rPr>
                <a:t>few hundred nodes,</a:t>
              </a:r>
            </a:p>
          </p:txBody>
        </p:sp>
        <p:sp>
          <p:nvSpPr>
            <p:cNvPr id="44" name="TextBox 44"/>
            <p:cNvSpPr txBox="1"/>
            <p:nvPr/>
          </p:nvSpPr>
          <p:spPr>
            <a:xfrm>
              <a:off x="9719729" y="3712845"/>
              <a:ext cx="1172642" cy="176212"/>
            </a:xfrm>
            <a:prstGeom prst="rect">
              <a:avLst/>
            </a:prstGeom>
            <a:noFill/>
            <a:ln>
              <a:noFill/>
            </a:ln>
          </p:spPr>
          <p:txBody>
            <a:bodyPr wrap="none" lIns="0" tIns="0" rIns="0" bIns="0" anchor="t" anchorCtr="0">
              <a:spAutoFit/>
            </a:bodyPr>
            <a:lstStyle/>
            <a:p>
              <a:pPr algn="ctr"/>
              <a:r>
                <a:rPr lang="en-US" sz="900" dirty="0">
                  <a:solidFill>
                    <a:srgbClr val="C7CFDA"/>
                  </a:solidFill>
                  <a:latin typeface="+mn-lt"/>
                  <a:ea typeface="+mn-ea"/>
                  <a:cs typeface="+mn-cs"/>
                </a:rPr>
                <a:t>few thousand edges</a:t>
              </a:r>
            </a:p>
          </p:txBody>
        </p:sp>
        <p:sp>
          <p:nvSpPr>
            <p:cNvPr id="45" name="TextBox 45"/>
            <p:cNvSpPr txBox="1"/>
            <p:nvPr/>
          </p:nvSpPr>
          <p:spPr>
            <a:xfrm>
              <a:off x="6699885" y="5860256"/>
              <a:ext cx="579680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Beyond the wall, Checkmate times out or runs out of memory during the solve.</a:t>
              </a:r>
            </a:p>
          </p:txBody>
        </p:sp>
      </p:grpSp>
      <p:grpSp>
        <p:nvGrpSpPr>
          <p:cNvPr id="49" name="Group 49"/>
          <p:cNvGrpSpPr/>
          <p:nvPr/>
        </p:nvGrpSpPr>
        <p:grpSpPr>
          <a:xfrm>
            <a:off x="757238" y="6570345"/>
            <a:ext cx="10677524" cy="176212"/>
            <a:chOff x="757238" y="6570345"/>
            <a:chExt cx="10677524" cy="176212"/>
          </a:xfrm>
        </p:grpSpPr>
        <p:sp>
          <p:nvSpPr>
            <p:cNvPr id="47" name="TextBox 47"/>
            <p:cNvSpPr txBox="1"/>
            <p:nvPr/>
          </p:nvSpPr>
          <p:spPr>
            <a:xfrm>
              <a:off x="757238" y="6570345"/>
              <a:ext cx="126828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Moccasin · ICML 2023</a:t>
              </a:r>
            </a:p>
          </p:txBody>
        </p:sp>
        <p:sp>
          <p:nvSpPr>
            <p:cNvPr id="48" name="TextBox 48"/>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03 / 10</a:t>
              </a:r>
            </a:p>
          </p:txBody>
        </p:sp>
      </p:grpSp>
      <p:sp>
        <p:nvSpPr>
          <p:cNvPr id="50" name="cue_s03_c1_leading_prior_method_checkmate_casts" title="cue_s03_c1_leading_prior_method_checkmate_casts" descr="cue_s03_c1_leading_prior_method_checkmate_casts The leading prior method, Checkmate, casts rematerialization as a mixed-integer linear program."/>
          <p:cNvSpPr/>
          <p:nvPr/>
        </p:nvSpPr>
        <p:spPr>
          <a:xfrm>
            <a:off x="762000" y="1733702"/>
            <a:ext cx="4952390" cy="12385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3_c2_expressive_but_its_number_boolean" title="cue_s03_c2_expressive_but_its_number_boolean" descr="cue_s03_c2_expressive_but_its_number_boolean It is expressive, but its number of Boolean decision variables grows with the square of the number of nodes in the graph."/>
          <p:cNvSpPr/>
          <p:nvPr/>
        </p:nvSpPr>
        <p:spPr>
          <a:xfrm>
            <a:off x="762000" y="3124504"/>
            <a:ext cx="4952390" cy="13908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3_c3_quadratic_growth_becomes_wall_graphs" title="cue_s03_c3_quadratic_growth_becomes_wall_graphs" descr="cue_s03_c3_quadratic_growth_becomes_wall_graphs That quadratic growth becomes a wall: for graphs with a few hundred nodes and a few thousand edges, Checkmate either times out or runs out of memory during the solve."/>
          <p:cNvSpPr/>
          <p:nvPr/>
        </p:nvSpPr>
        <p:spPr>
          <a:xfrm>
            <a:off x="6096000" y="1733702"/>
            <a:ext cx="5334000" cy="4343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3_c4_because_trend_toward_on_device_stric" title="cue_s03_c4_because_trend_toward_on_device_stric" descr="cue_s03_c4_because_trend_toward_on_device_stric Because the trend toward on-device training and stricter latency targets keeps enlarging these graphs, we need a formulation whose complexity grows much more slowly, so realistic graphs can be solved within an acceptable compile time."/>
          <p:cNvSpPr/>
          <p:nvPr/>
        </p:nvSpPr>
        <p:spPr>
          <a:xfrm>
            <a:off x="762000" y="4667554"/>
            <a:ext cx="4952390"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427" y="572452"/>
            <a:ext cx="10680573" cy="865823"/>
            <a:chOff x="749427" y="572452"/>
            <a:chExt cx="10680573"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72421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04 · CONTRIBUTION</a:t>
              </a:r>
            </a:p>
          </p:txBody>
        </p:sp>
        <p:sp>
          <p:nvSpPr>
            <p:cNvPr id="4" name="TextBox 4"/>
            <p:cNvSpPr txBox="1"/>
            <p:nvPr/>
          </p:nvSpPr>
          <p:spPr>
            <a:xfrm>
              <a:off x="749427" y="875824"/>
              <a:ext cx="9343714"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Moccasin: retention intervals in a constraint program</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733550"/>
            <a:ext cx="10668000" cy="876300"/>
            <a:chOff x="762000" y="1733550"/>
            <a:chExt cx="10668000" cy="876300"/>
          </a:xfrm>
        </p:grpSpPr>
        <p:sp>
          <p:nvSpPr>
            <p:cNvPr id="7" name="Rectangle 7"/>
            <p:cNvSpPr/>
            <p:nvPr/>
          </p:nvSpPr>
          <p:spPr>
            <a:xfrm>
              <a:off x="762000" y="1733550"/>
              <a:ext cx="10668000" cy="876300"/>
            </a:xfrm>
            <a:prstGeom prst="roundRect">
              <a:avLst>
                <a:gd name="adj" fmla="val 13043"/>
              </a:avLst>
            </a:prstGeom>
            <a:solidFill>
              <a:schemeClr val="accent6"/>
            </a:solidFill>
            <a:ln w="9525">
              <a:solidFill>
                <a:srgbClr val="C6D6FB"/>
              </a:solidFill>
            </a:ln>
          </p:spPr>
        </p:sp>
        <p:sp>
          <p:nvSpPr>
            <p:cNvPr id="8" name="Rectangle 8"/>
            <p:cNvSpPr/>
            <p:nvPr/>
          </p:nvSpPr>
          <p:spPr>
            <a:xfrm>
              <a:off x="762000" y="1733550"/>
              <a:ext cx="57150" cy="876300"/>
            </a:xfrm>
            <a:prstGeom prst="roundRect">
              <a:avLst>
                <a:gd name="adj" fmla="val 50000"/>
              </a:avLst>
            </a:prstGeom>
            <a:solidFill>
              <a:schemeClr val="accent1"/>
            </a:solidFill>
            <a:ln>
              <a:noFill/>
            </a:ln>
          </p:spPr>
        </p:sp>
        <p:sp>
          <p:nvSpPr>
            <p:cNvPr id="9" name="TextBox 9"/>
            <p:cNvSpPr txBox="1"/>
            <p:nvPr/>
          </p:nvSpPr>
          <p:spPr>
            <a:xfrm>
              <a:off x="1061085" y="1935956"/>
              <a:ext cx="1679222" cy="220028"/>
            </a:xfrm>
            <a:prstGeom prst="rect">
              <a:avLst/>
            </a:prstGeom>
            <a:noFill/>
            <a:ln>
              <a:noFill/>
            </a:ln>
          </p:spPr>
          <p:txBody>
            <a:bodyPr wrap="none" lIns="0" tIns="0" rIns="0" bIns="0" anchor="t" anchorCtr="0">
              <a:spAutoFit/>
            </a:bodyPr>
            <a:lstStyle/>
            <a:p>
              <a:pPr algn="l"/>
              <a:r>
                <a:rPr lang="en-US" sz="1120" b="1" spc="75" dirty="0">
                  <a:solidFill>
                    <a:schemeClr val="accent1"/>
                  </a:solidFill>
                  <a:latin typeface="+mn-lt"/>
                  <a:ea typeface="+mn-ea"/>
                  <a:cs typeface="+mn-cs"/>
                </a:rPr>
                <a:t>MAIN CONTRIBUTION</a:t>
              </a:r>
            </a:p>
          </p:txBody>
        </p:sp>
        <p:sp>
          <p:nvSpPr>
            <p:cNvPr id="10" name="TextBox 10"/>
            <p:cNvSpPr txBox="1"/>
            <p:nvPr/>
          </p:nvSpPr>
          <p:spPr>
            <a:xfrm>
              <a:off x="1058799" y="2211229"/>
              <a:ext cx="920678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Moccasin — a constraint programming (CP) formulation of tensor rematerialization.</a:t>
              </a:r>
            </a:p>
          </p:txBody>
        </p:sp>
      </p:grpSp>
      <p:grpSp>
        <p:nvGrpSpPr>
          <p:cNvPr id="23" name="Group 23"/>
          <p:cNvGrpSpPr/>
          <p:nvPr/>
        </p:nvGrpSpPr>
        <p:grpSpPr>
          <a:xfrm>
            <a:off x="762000" y="2762250"/>
            <a:ext cx="5257800" cy="2000250"/>
            <a:chOff x="762000" y="2762250"/>
            <a:chExt cx="5257800" cy="2000250"/>
          </a:xfrm>
        </p:grpSpPr>
        <p:sp>
          <p:nvSpPr>
            <p:cNvPr id="12" name="Rectangle 12"/>
            <p:cNvSpPr/>
            <p:nvPr/>
          </p:nvSpPr>
          <p:spPr>
            <a:xfrm>
              <a:off x="762000" y="2762250"/>
              <a:ext cx="5257800" cy="2000250"/>
            </a:xfrm>
            <a:prstGeom prst="roundRect">
              <a:avLst>
                <a:gd name="adj" fmla="val 5714"/>
              </a:avLst>
            </a:prstGeom>
            <a:solidFill>
              <a:schemeClr val="accent5"/>
            </a:solidFill>
            <a:ln w="9525">
              <a:solidFill>
                <a:schemeClr val="accent4"/>
              </a:solidFill>
            </a:ln>
          </p:spPr>
        </p:sp>
        <p:sp>
          <p:nvSpPr>
            <p:cNvPr id="13" name="Rectangle 13"/>
            <p:cNvSpPr/>
            <p:nvPr/>
          </p:nvSpPr>
          <p:spPr>
            <a:xfrm>
              <a:off x="762000" y="2762250"/>
              <a:ext cx="57150" cy="2000250"/>
            </a:xfrm>
            <a:prstGeom prst="roundRect">
              <a:avLst>
                <a:gd name="adj" fmla="val 50000"/>
              </a:avLst>
            </a:prstGeom>
            <a:solidFill>
              <a:schemeClr val="accent1"/>
            </a:solidFill>
            <a:ln>
              <a:noFill/>
            </a:ln>
          </p:spPr>
        </p:sp>
        <p:sp>
          <p:nvSpPr>
            <p:cNvPr id="14" name="TextBox 14"/>
            <p:cNvSpPr txBox="1"/>
            <p:nvPr/>
          </p:nvSpPr>
          <p:spPr>
            <a:xfrm>
              <a:off x="1021461" y="2932271"/>
              <a:ext cx="326240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Central idea: retention intervals</a:t>
              </a:r>
            </a:p>
          </p:txBody>
        </p:sp>
        <p:sp>
          <p:nvSpPr>
            <p:cNvPr id="15" name="TextBox 15"/>
            <p:cNvSpPr txBox="1"/>
            <p:nvPr/>
          </p:nvSpPr>
          <p:spPr>
            <a:xfrm>
              <a:off x="1022604" y="3261360"/>
              <a:ext cx="328097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Represent each node's decisions as a few</a:t>
              </a:r>
            </a:p>
          </p:txBody>
        </p:sp>
        <p:sp>
          <p:nvSpPr>
            <p:cNvPr id="16" name="TextBox 16"/>
            <p:cNvSpPr txBox="1"/>
            <p:nvPr/>
          </p:nvSpPr>
          <p:spPr>
            <a:xfrm>
              <a:off x="1022604" y="3470910"/>
              <a:ext cx="342884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retention intervals — a start and end event</a:t>
              </a:r>
            </a:p>
          </p:txBody>
        </p:sp>
        <p:sp>
          <p:nvSpPr>
            <p:cNvPr id="17" name="TextBox 17"/>
            <p:cNvSpPr txBox="1"/>
            <p:nvPr/>
          </p:nvSpPr>
          <p:spPr>
            <a:xfrm>
              <a:off x="1022604" y="3680460"/>
              <a:ext cx="251612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bounding the tensor's lifetime.</a:t>
              </a:r>
            </a:p>
          </p:txBody>
        </p:sp>
        <p:sp>
          <p:nvSpPr>
            <p:cNvPr id="18" name="Rectangle 18"/>
            <p:cNvSpPr/>
            <p:nvPr/>
          </p:nvSpPr>
          <p:spPr>
            <a:xfrm>
              <a:off x="1028700" y="4019550"/>
              <a:ext cx="4724400" cy="571500"/>
            </a:xfrm>
            <a:prstGeom prst="roundRect">
              <a:avLst>
                <a:gd name="adj" fmla="val 13333"/>
              </a:avLst>
            </a:prstGeom>
            <a:solidFill>
              <a:schemeClr val="lt1"/>
            </a:solidFill>
            <a:ln w="9525">
              <a:solidFill>
                <a:schemeClr val="accent4"/>
              </a:solidFill>
            </a:ln>
          </p:spPr>
        </p:sp>
        <p:sp>
          <p:nvSpPr>
            <p:cNvPr id="19" name="TextBox 19"/>
            <p:cNvSpPr txBox="1"/>
            <p:nvPr/>
          </p:nvSpPr>
          <p:spPr>
            <a:xfrm>
              <a:off x="1211580" y="4200525"/>
              <a:ext cx="658420"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mn-lt"/>
                  <a:ea typeface="+mn-ea"/>
                  <a:cs typeface="+mn-cs"/>
                </a:rPr>
                <a:t>O(n²)</a:t>
              </a:r>
            </a:p>
          </p:txBody>
        </p:sp>
        <p:sp>
          <p:nvSpPr>
            <p:cNvPr id="20" name="TextBox 20"/>
            <p:cNvSpPr txBox="1"/>
            <p:nvPr/>
          </p:nvSpPr>
          <p:spPr>
            <a:xfrm>
              <a:off x="1860042" y="4216718"/>
              <a:ext cx="11367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t>
              </a:r>
            </a:p>
          </p:txBody>
        </p:sp>
        <p:sp>
          <p:nvSpPr>
            <p:cNvPr id="21" name="TextBox 21"/>
            <p:cNvSpPr txBox="1"/>
            <p:nvPr/>
          </p:nvSpPr>
          <p:spPr>
            <a:xfrm>
              <a:off x="2125980" y="4200525"/>
              <a:ext cx="538505"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O(n)</a:t>
              </a:r>
            </a:p>
          </p:txBody>
        </p:sp>
        <p:sp>
          <p:nvSpPr>
            <p:cNvPr id="22" name="TextBox 22"/>
            <p:cNvSpPr txBox="1"/>
            <p:nvPr/>
          </p:nvSpPr>
          <p:spPr>
            <a:xfrm>
              <a:off x="2851785" y="4241006"/>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discrete variables in node count</a:t>
              </a:r>
            </a:p>
          </p:txBody>
        </p:sp>
      </p:grpSp>
      <p:grpSp>
        <p:nvGrpSpPr>
          <p:cNvPr id="35" name="Group 35"/>
          <p:cNvGrpSpPr/>
          <p:nvPr/>
        </p:nvGrpSpPr>
        <p:grpSpPr>
          <a:xfrm>
            <a:off x="6286500" y="2762250"/>
            <a:ext cx="5143500" cy="2000250"/>
            <a:chOff x="6286500" y="2762250"/>
            <a:chExt cx="5143500" cy="2000250"/>
          </a:xfrm>
        </p:grpSpPr>
        <p:sp>
          <p:nvSpPr>
            <p:cNvPr id="24" name="Rectangle 24"/>
            <p:cNvSpPr/>
            <p:nvPr/>
          </p:nvSpPr>
          <p:spPr>
            <a:xfrm>
              <a:off x="6286500" y="2762250"/>
              <a:ext cx="5143500" cy="2000250"/>
            </a:xfrm>
            <a:prstGeom prst="roundRect">
              <a:avLst>
                <a:gd name="adj" fmla="val 5714"/>
              </a:avLst>
            </a:prstGeom>
            <a:solidFill>
              <a:srgbClr val="E1F3F0"/>
            </a:solidFill>
            <a:ln w="9525">
              <a:solidFill>
                <a:srgbClr val="B7E2DA"/>
              </a:solidFill>
            </a:ln>
          </p:spPr>
        </p:sp>
        <p:sp>
          <p:nvSpPr>
            <p:cNvPr id="25" name="Rectangle 25"/>
            <p:cNvSpPr/>
            <p:nvPr/>
          </p:nvSpPr>
          <p:spPr>
            <a:xfrm>
              <a:off x="6286500" y="2762250"/>
              <a:ext cx="57150" cy="2000250"/>
            </a:xfrm>
            <a:prstGeom prst="roundRect">
              <a:avLst>
                <a:gd name="adj" fmla="val 50000"/>
              </a:avLst>
            </a:prstGeom>
            <a:solidFill>
              <a:schemeClr val="accent2"/>
            </a:solidFill>
            <a:ln>
              <a:noFill/>
            </a:ln>
          </p:spPr>
        </p:sp>
        <p:sp>
          <p:nvSpPr>
            <p:cNvPr id="26" name="TextBox 26"/>
            <p:cNvSpPr txBox="1"/>
            <p:nvPr/>
          </p:nvSpPr>
          <p:spPr>
            <a:xfrm>
              <a:off x="6545961" y="2932271"/>
              <a:ext cx="266249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Standard CP building blocks</a:t>
              </a:r>
            </a:p>
          </p:txBody>
        </p:sp>
        <p:sp>
          <p:nvSpPr>
            <p:cNvPr id="27" name="TextBox 27"/>
            <p:cNvSpPr txBox="1"/>
            <p:nvPr/>
          </p:nvSpPr>
          <p:spPr>
            <a:xfrm>
              <a:off x="6547104" y="3261360"/>
              <a:ext cx="316770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Memory and precedence constraints are</a:t>
              </a:r>
            </a:p>
          </p:txBody>
        </p:sp>
        <p:sp>
          <p:nvSpPr>
            <p:cNvPr id="28" name="TextBox 28"/>
            <p:cNvSpPr txBox="1"/>
            <p:nvPr/>
          </p:nvSpPr>
          <p:spPr>
            <a:xfrm>
              <a:off x="6547104" y="3470910"/>
              <a:ext cx="371476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encoded with two off-the-shelf CP primitives:</a:t>
              </a:r>
            </a:p>
          </p:txBody>
        </p:sp>
        <p:sp>
          <p:nvSpPr>
            <p:cNvPr id="29" name="Rectangle 29"/>
            <p:cNvSpPr/>
            <p:nvPr/>
          </p:nvSpPr>
          <p:spPr>
            <a:xfrm>
              <a:off x="6553200" y="3733800"/>
              <a:ext cx="2190750" cy="400050"/>
            </a:xfrm>
            <a:prstGeom prst="roundRect">
              <a:avLst>
                <a:gd name="adj" fmla="val 19048"/>
              </a:avLst>
            </a:prstGeom>
            <a:solidFill>
              <a:schemeClr val="lt1"/>
            </a:solidFill>
            <a:ln w="9525">
              <a:solidFill>
                <a:srgbClr val="B7E2DA"/>
              </a:solidFill>
            </a:ln>
          </p:spPr>
        </p:sp>
        <p:sp>
          <p:nvSpPr>
            <p:cNvPr id="30" name="TextBox 30"/>
            <p:cNvSpPr txBox="1"/>
            <p:nvPr/>
          </p:nvSpPr>
          <p:spPr>
            <a:xfrm>
              <a:off x="7201464" y="3861435"/>
              <a:ext cx="894222"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cumulative</a:t>
              </a:r>
            </a:p>
          </p:txBody>
        </p:sp>
        <p:sp>
          <p:nvSpPr>
            <p:cNvPr id="31" name="Rectangle 31"/>
            <p:cNvSpPr/>
            <p:nvPr/>
          </p:nvSpPr>
          <p:spPr>
            <a:xfrm>
              <a:off x="8877300" y="3733800"/>
              <a:ext cx="2286000" cy="400050"/>
            </a:xfrm>
            <a:prstGeom prst="roundRect">
              <a:avLst>
                <a:gd name="adj" fmla="val 19048"/>
              </a:avLst>
            </a:prstGeom>
            <a:solidFill>
              <a:schemeClr val="lt1"/>
            </a:solidFill>
            <a:ln w="9525">
              <a:solidFill>
                <a:srgbClr val="B7E2DA"/>
              </a:solidFill>
            </a:ln>
          </p:spPr>
        </p:sp>
        <p:sp>
          <p:nvSpPr>
            <p:cNvPr id="32" name="TextBox 32"/>
            <p:cNvSpPr txBox="1"/>
            <p:nvPr/>
          </p:nvSpPr>
          <p:spPr>
            <a:xfrm>
              <a:off x="9615594" y="3861435"/>
              <a:ext cx="809412"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reservoir</a:t>
              </a:r>
            </a:p>
          </p:txBody>
        </p:sp>
        <p:sp>
          <p:nvSpPr>
            <p:cNvPr id="33" name="TextBox 33"/>
            <p:cNvSpPr txBox="1"/>
            <p:nvPr/>
          </p:nvSpPr>
          <p:spPr>
            <a:xfrm>
              <a:off x="6547104" y="4271010"/>
              <a:ext cx="374092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Optional: enforce an input topological ordering</a:t>
              </a:r>
            </a:p>
          </p:txBody>
        </p:sp>
        <p:sp>
          <p:nvSpPr>
            <p:cNvPr id="34" name="TextBox 34"/>
            <p:cNvSpPr txBox="1"/>
            <p:nvPr/>
          </p:nvSpPr>
          <p:spPr>
            <a:xfrm>
              <a:off x="6547104" y="4480560"/>
              <a:ext cx="287959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to further shrink the search space.</a:t>
              </a:r>
            </a:p>
          </p:txBody>
        </p:sp>
      </p:grpSp>
      <p:grpSp>
        <p:nvGrpSpPr>
          <p:cNvPr id="41" name="Group 41"/>
          <p:cNvGrpSpPr/>
          <p:nvPr/>
        </p:nvGrpSpPr>
        <p:grpSpPr>
          <a:xfrm>
            <a:off x="762000" y="4914900"/>
            <a:ext cx="10668000" cy="1178623"/>
            <a:chOff x="762000" y="4914900"/>
            <a:chExt cx="10668000" cy="1178623"/>
          </a:xfrm>
        </p:grpSpPr>
        <p:sp>
          <p:nvSpPr>
            <p:cNvPr id="36" name="Rectangle 36"/>
            <p:cNvSpPr/>
            <p:nvPr/>
          </p:nvSpPr>
          <p:spPr>
            <a:xfrm>
              <a:off x="762000" y="4914900"/>
              <a:ext cx="10668000" cy="1162050"/>
            </a:xfrm>
            <a:prstGeom prst="roundRect">
              <a:avLst>
                <a:gd name="adj" fmla="val 9836"/>
              </a:avLst>
            </a:prstGeom>
            <a:solidFill>
              <a:schemeClr val="dk1"/>
            </a:solidFill>
            <a:ln>
              <a:noFill/>
            </a:ln>
          </p:spPr>
        </p:sp>
        <p:sp>
          <p:nvSpPr>
            <p:cNvPr id="37" name="TextBox 37"/>
            <p:cNvSpPr txBox="1"/>
            <p:nvPr/>
          </p:nvSpPr>
          <p:spPr>
            <a:xfrm>
              <a:off x="1061085" y="5174456"/>
              <a:ext cx="1019087" cy="220028"/>
            </a:xfrm>
            <a:prstGeom prst="rect">
              <a:avLst/>
            </a:prstGeom>
            <a:noFill/>
            <a:ln>
              <a:noFill/>
            </a:ln>
          </p:spPr>
          <p:txBody>
            <a:bodyPr wrap="none" lIns="0" tIns="0" rIns="0" bIns="0" anchor="t" anchorCtr="0">
              <a:spAutoFit/>
            </a:bodyPr>
            <a:lstStyle/>
            <a:p>
              <a:pPr algn="l"/>
              <a:r>
                <a:rPr lang="en-US" sz="1120" b="1" spc="75" dirty="0">
                  <a:solidFill>
                    <a:srgbClr val="7CA0EC"/>
                  </a:solidFill>
                  <a:latin typeface="+mn-lt"/>
                  <a:ea typeface="+mn-ea"/>
                  <a:cs typeface="+mn-cs"/>
                </a:rPr>
                <a:t>THE PAYOFF</a:t>
              </a:r>
            </a:p>
          </p:txBody>
        </p:sp>
        <p:sp>
          <p:nvSpPr>
            <p:cNvPr id="38" name="TextBox 38"/>
            <p:cNvSpPr txBox="1"/>
            <p:nvPr/>
          </p:nvSpPr>
          <p:spPr>
            <a:xfrm>
              <a:off x="1049274" y="5418772"/>
              <a:ext cx="3960723" cy="674751"/>
            </a:xfrm>
            <a:prstGeom prst="rect">
              <a:avLst/>
            </a:prstGeom>
            <a:noFill/>
            <a:ln>
              <a:noFill/>
            </a:ln>
          </p:spPr>
          <p:txBody>
            <a:bodyPr wrap="none" lIns="0" tIns="0" rIns="0" bIns="0" anchor="t" anchorCtr="0">
              <a:spAutoFit/>
            </a:bodyPr>
            <a:lstStyle/>
            <a:p>
              <a:pPr algn="l"/>
              <a:r>
                <a:rPr lang="en-US" sz="3450" b="1" dirty="0">
                  <a:solidFill>
                    <a:srgbClr val="FFFFFF"/>
                  </a:solidFill>
                  <a:latin typeface="+mn-lt"/>
                  <a:ea typeface="+mn-ea"/>
                  <a:cs typeface="+mn-cs"/>
                </a:rPr>
                <a:t>up to 10× faster</a:t>
              </a:r>
            </a:p>
          </p:txBody>
        </p:sp>
        <p:sp>
          <p:nvSpPr>
            <p:cNvPr id="39" name="TextBox 39"/>
            <p:cNvSpPr txBox="1"/>
            <p:nvPr/>
          </p:nvSpPr>
          <p:spPr>
            <a:xfrm>
              <a:off x="5327142" y="5474018"/>
              <a:ext cx="3782125" cy="264033"/>
            </a:xfrm>
            <a:prstGeom prst="rect">
              <a:avLst/>
            </a:prstGeom>
            <a:noFill/>
            <a:ln>
              <a:noFill/>
            </a:ln>
          </p:spPr>
          <p:txBody>
            <a:bodyPr wrap="none" lIns="0" tIns="0" rIns="0" bIns="0" anchor="t" anchorCtr="0">
              <a:spAutoFit/>
            </a:bodyPr>
            <a:lstStyle/>
            <a:p>
              <a:pPr algn="l"/>
              <a:r>
                <a:rPr lang="en-US" sz="1350" dirty="0">
                  <a:solidFill>
                    <a:srgbClr val="C7CFDA"/>
                  </a:solidFill>
                  <a:latin typeface="+mn-lt"/>
                  <a:ea typeface="+mn-ea"/>
                  <a:cs typeface="+mn-cs"/>
                </a:rPr>
                <a:t>Up to an order-of-magnitude speedup over</a:t>
              </a:r>
            </a:p>
          </p:txBody>
        </p:sp>
        <p:sp>
          <p:nvSpPr>
            <p:cNvPr id="40" name="TextBox 40"/>
            <p:cNvSpPr txBox="1"/>
            <p:nvPr/>
          </p:nvSpPr>
          <p:spPr>
            <a:xfrm>
              <a:off x="5327142" y="5721668"/>
              <a:ext cx="3266808" cy="264033"/>
            </a:xfrm>
            <a:prstGeom prst="rect">
              <a:avLst/>
            </a:prstGeom>
            <a:noFill/>
            <a:ln>
              <a:noFill/>
            </a:ln>
          </p:spPr>
          <p:txBody>
            <a:bodyPr wrap="none" lIns="0" tIns="0" rIns="0" bIns="0" anchor="t" anchorCtr="0">
              <a:spAutoFit/>
            </a:bodyPr>
            <a:lstStyle/>
            <a:p>
              <a:pPr algn="l"/>
              <a:r>
                <a:rPr lang="en-US" sz="1350" dirty="0">
                  <a:solidFill>
                    <a:srgbClr val="C7CFDA"/>
                  </a:solidFill>
                  <a:latin typeface="+mn-lt"/>
                  <a:ea typeface="+mn-ea"/>
                  <a:cs typeface="+mn-cs"/>
                </a:rPr>
                <a:t>prior work on large compute graphs.</a:t>
              </a:r>
            </a:p>
          </p:txBody>
        </p:sp>
      </p:grpSp>
      <p:grpSp>
        <p:nvGrpSpPr>
          <p:cNvPr id="44" name="Group 44"/>
          <p:cNvGrpSpPr/>
          <p:nvPr/>
        </p:nvGrpSpPr>
        <p:grpSpPr>
          <a:xfrm>
            <a:off x="757238" y="6570345"/>
            <a:ext cx="10677524" cy="176212"/>
            <a:chOff x="757238" y="6570345"/>
            <a:chExt cx="10677524" cy="176212"/>
          </a:xfrm>
        </p:grpSpPr>
        <p:sp>
          <p:nvSpPr>
            <p:cNvPr id="42" name="TextBox 42"/>
            <p:cNvSpPr txBox="1"/>
            <p:nvPr/>
          </p:nvSpPr>
          <p:spPr>
            <a:xfrm>
              <a:off x="757238" y="6570345"/>
              <a:ext cx="126828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Moccasin · ICML 2023</a:t>
              </a:r>
            </a:p>
          </p:txBody>
        </p:sp>
        <p:sp>
          <p:nvSpPr>
            <p:cNvPr id="43" name="TextBox 43"/>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04 / 10</a:t>
              </a:r>
            </a:p>
          </p:txBody>
        </p:sp>
      </p:grpSp>
      <p:sp>
        <p:nvSpPr>
          <p:cNvPr id="45" name="cue_s04_c1_main_contribution_moccasin_constrain" title="cue_s04_c1_main_contribution_moccasin_constrain" descr="cue_s04_c1_main_contribution_moccasin_constrain The paper's main contribution is Moccasin, a constraint programming formulation of tensor rematerialization."/>
          <p:cNvSpPr/>
          <p:nvPr/>
        </p:nvSpPr>
        <p:spPr>
          <a:xfrm>
            <a:off x="762000" y="1733702"/>
            <a:ext cx="106680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4_c2_its_central_idea_represent_node" title="cue_s04_c2_its_central_idea_represent_node" descr="cue_s04_c2_its_central_idea_represent_node Its central idea is to represent each node's decisions as a small number of retention intervals, defined by the start and end event of the tensor's lifetime, which reduces the count of discrete variables from quadratic to linear in the number of nodes."/>
          <p:cNvSpPr/>
          <p:nvPr/>
        </p:nvSpPr>
        <p:spPr>
          <a:xfrm>
            <a:off x="762000" y="2762402"/>
            <a:ext cx="5258409"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4_c3_top_authors_show_how_encode" title="cue_s04_c3_top_authors_show_how_encode" descr="cue_s04_c3_top_authors_show_how_encode On top of this, the authors show how to encode the nonlinear memory and precedence constraints using standard CP building blocks, the cumulative and reservoir constraints, and they add an optional variant that enforces an input topological ordering to further"/>
          <p:cNvSpPr/>
          <p:nvPr/>
        </p:nvSpPr>
        <p:spPr>
          <a:xfrm>
            <a:off x="6286195" y="2762402"/>
            <a:ext cx="5143804"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4_c4_payoff_order_of_magnitude_speedup_ov" title="cue_s04_c4_payoff_order_of_magnitude_speedup_ov" descr="cue_s04_c4_payoff_order_of_magnitude_speedup_ov The payoff is up to an order-of-magnitude speedup over prior work on large graphs."/>
          <p:cNvSpPr/>
          <p:nvPr/>
        </p:nvSpPr>
        <p:spPr>
          <a:xfrm>
            <a:off x="762000" y="4915128"/>
            <a:ext cx="10668000" cy="117889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427" y="572452"/>
            <a:ext cx="11237195" cy="865823"/>
            <a:chOff x="749427" y="572452"/>
            <a:chExt cx="11237195"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157105"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05 · METHOD</a:t>
              </a:r>
            </a:p>
          </p:txBody>
        </p:sp>
        <p:sp>
          <p:nvSpPr>
            <p:cNvPr id="4" name="TextBox 4"/>
            <p:cNvSpPr txBox="1"/>
            <p:nvPr/>
          </p:nvSpPr>
          <p:spPr>
            <a:xfrm>
              <a:off x="749427" y="875824"/>
              <a:ext cx="11237195"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How the model is built — intervals, objective, constraints, solver</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23" name="Group 23"/>
          <p:cNvGrpSpPr/>
          <p:nvPr/>
        </p:nvGrpSpPr>
        <p:grpSpPr>
          <a:xfrm>
            <a:off x="762000" y="1733550"/>
            <a:ext cx="5257800" cy="2133600"/>
            <a:chOff x="762000" y="1733550"/>
            <a:chExt cx="5257800" cy="2133600"/>
          </a:xfrm>
        </p:grpSpPr>
        <p:sp>
          <p:nvSpPr>
            <p:cNvPr id="7" name="Rectangle 7"/>
            <p:cNvSpPr/>
            <p:nvPr/>
          </p:nvSpPr>
          <p:spPr>
            <a:xfrm>
              <a:off x="762000" y="1733550"/>
              <a:ext cx="5257800" cy="2133600"/>
            </a:xfrm>
            <a:prstGeom prst="roundRect">
              <a:avLst>
                <a:gd name="adj" fmla="val 5357"/>
              </a:avLst>
            </a:prstGeom>
            <a:solidFill>
              <a:schemeClr val="accent5"/>
            </a:solidFill>
            <a:ln w="9525">
              <a:solidFill>
                <a:schemeClr val="accent4"/>
              </a:solidFill>
            </a:ln>
          </p:spPr>
        </p:sp>
        <p:sp>
          <p:nvSpPr>
            <p:cNvPr id="8" name="Rectangle 8"/>
            <p:cNvSpPr/>
            <p:nvPr/>
          </p:nvSpPr>
          <p:spPr>
            <a:xfrm>
              <a:off x="762000" y="1733550"/>
              <a:ext cx="57150" cy="2133600"/>
            </a:xfrm>
            <a:prstGeom prst="roundRect">
              <a:avLst>
                <a:gd name="adj" fmla="val 50000"/>
              </a:avLst>
            </a:prstGeom>
            <a:solidFill>
              <a:schemeClr val="accent1"/>
            </a:solidFill>
            <a:ln>
              <a:noFill/>
            </a:ln>
          </p:spPr>
        </p:sp>
        <p:sp>
          <p:nvSpPr>
            <p:cNvPr id="9" name="TextBox 9"/>
            <p:cNvSpPr txBox="1"/>
            <p:nvPr/>
          </p:nvSpPr>
          <p:spPr>
            <a:xfrm>
              <a:off x="1021461" y="1884521"/>
              <a:ext cx="315277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1 · Retention intervals per node</a:t>
              </a:r>
            </a:p>
          </p:txBody>
        </p:sp>
        <p:sp>
          <p:nvSpPr>
            <p:cNvPr id="10" name="TextBox 10"/>
            <p:cNvSpPr txBox="1"/>
            <p:nvPr/>
          </p:nvSpPr>
          <p:spPr>
            <a:xfrm>
              <a:off x="1022604" y="2194560"/>
              <a:ext cx="336172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Each node gets a small constant number of</a:t>
              </a:r>
            </a:p>
          </p:txBody>
        </p:sp>
        <p:sp>
          <p:nvSpPr>
            <p:cNvPr id="11" name="TextBox 11"/>
            <p:cNvSpPr txBox="1"/>
            <p:nvPr/>
          </p:nvSpPr>
          <p:spPr>
            <a:xfrm>
              <a:off x="1022604" y="2404110"/>
              <a:ext cx="333999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intervals — integer start and end events —</a:t>
              </a:r>
            </a:p>
          </p:txBody>
        </p:sp>
        <p:sp>
          <p:nvSpPr>
            <p:cNvPr id="12" name="TextBox 12"/>
            <p:cNvSpPr txBox="1"/>
            <p:nvPr/>
          </p:nvSpPr>
          <p:spPr>
            <a:xfrm>
              <a:off x="1022604" y="2613660"/>
              <a:ext cx="325114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marking when its tensor lives in memory.</a:t>
              </a:r>
            </a:p>
          </p:txBody>
        </p:sp>
        <p:sp>
          <p:nvSpPr>
            <p:cNvPr id="13" name="Line 13"/>
            <p:cNvSpPr/>
            <p:nvPr/>
          </p:nvSpPr>
          <p:spPr>
            <a:xfrm>
              <a:off x="1028700" y="3429000"/>
              <a:ext cx="4686300" cy="9525"/>
            </a:xfrm>
            <a:custGeom>
              <a:avLst/>
              <a:gdLst/>
              <a:ahLst/>
              <a:cxnLst/>
              <a:rect l="l" t="t" r="r" b="b"/>
              <a:pathLst>
                <a:path w="4686300" h="9525">
                  <a:moveTo>
                    <a:pt x="0" y="0"/>
                  </a:moveTo>
                  <a:lnTo>
                    <a:pt x="4686300" y="0"/>
                  </a:lnTo>
                </a:path>
              </a:pathLst>
            </a:custGeom>
            <a:noFill/>
            <a:ln w="14288">
              <a:solidFill>
                <a:srgbClr val="C6CED9"/>
              </a:solidFill>
            </a:ln>
          </p:spPr>
        </p:sp>
        <p:sp>
          <p:nvSpPr>
            <p:cNvPr id="14" name="TextBox 14"/>
            <p:cNvSpPr txBox="1"/>
            <p:nvPr/>
          </p:nvSpPr>
          <p:spPr>
            <a:xfrm>
              <a:off x="1023747" y="3628549"/>
              <a:ext cx="557406" cy="190690"/>
            </a:xfrm>
            <a:prstGeom prst="rect">
              <a:avLst/>
            </a:prstGeom>
            <a:noFill/>
            <a:ln>
              <a:noFill/>
            </a:ln>
          </p:spPr>
          <p:txBody>
            <a:bodyPr wrap="none" lIns="0" tIns="0" rIns="0" bIns="0" anchor="t" anchorCtr="0">
              <a:spAutoFit/>
            </a:bodyPr>
            <a:lstStyle/>
            <a:p>
              <a:pPr algn="l"/>
              <a:r>
                <a:rPr lang="en-US" sz="980" dirty="0">
                  <a:solidFill>
                    <a:srgbClr val="8A97A8"/>
                  </a:solidFill>
                  <a:latin typeface="+mn-lt"/>
                  <a:ea typeface="+mn-ea"/>
                  <a:cs typeface="+mn-cs"/>
                </a:rPr>
                <a:t>events →</a:t>
              </a:r>
            </a:p>
          </p:txBody>
        </p:sp>
        <p:sp>
          <p:nvSpPr>
            <p:cNvPr id="15" name="Rectangle 15"/>
            <p:cNvSpPr/>
            <p:nvPr/>
          </p:nvSpPr>
          <p:spPr>
            <a:xfrm>
              <a:off x="1428750" y="3143250"/>
              <a:ext cx="1428750" cy="209550"/>
            </a:xfrm>
            <a:prstGeom prst="roundRect">
              <a:avLst>
                <a:gd name="adj" fmla="val 22727"/>
              </a:avLst>
            </a:prstGeom>
            <a:solidFill>
              <a:schemeClr val="accent1"/>
            </a:solidFill>
            <a:ln>
              <a:noFill/>
            </a:ln>
          </p:spPr>
        </p:sp>
        <p:sp>
          <p:nvSpPr>
            <p:cNvPr id="16" name="TextBox 16"/>
            <p:cNvSpPr txBox="1"/>
            <p:nvPr/>
          </p:nvSpPr>
          <p:spPr>
            <a:xfrm>
              <a:off x="1809178" y="3190399"/>
              <a:ext cx="667895"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interval 1</a:t>
              </a:r>
            </a:p>
          </p:txBody>
        </p:sp>
        <p:sp>
          <p:nvSpPr>
            <p:cNvPr id="17" name="Rectangle 17"/>
            <p:cNvSpPr/>
            <p:nvPr/>
          </p:nvSpPr>
          <p:spPr>
            <a:xfrm>
              <a:off x="3810000" y="3143250"/>
              <a:ext cx="1143000" cy="209550"/>
            </a:xfrm>
            <a:prstGeom prst="roundRect">
              <a:avLst>
                <a:gd name="adj" fmla="val 22727"/>
              </a:avLst>
            </a:prstGeom>
            <a:solidFill>
              <a:srgbClr val="7CA0EC"/>
            </a:solidFill>
            <a:ln>
              <a:noFill/>
            </a:ln>
          </p:spPr>
        </p:sp>
        <p:sp>
          <p:nvSpPr>
            <p:cNvPr id="18" name="TextBox 18"/>
            <p:cNvSpPr txBox="1"/>
            <p:nvPr/>
          </p:nvSpPr>
          <p:spPr>
            <a:xfrm>
              <a:off x="4047553" y="3190399"/>
              <a:ext cx="667895"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interval 2</a:t>
              </a:r>
            </a:p>
          </p:txBody>
        </p:sp>
        <p:sp>
          <p:nvSpPr>
            <p:cNvPr id="19" name="Ellipse 19"/>
            <p:cNvSpPr/>
            <p:nvPr/>
          </p:nvSpPr>
          <p:spPr>
            <a:xfrm>
              <a:off x="1390650" y="3390900"/>
              <a:ext cx="76200" cy="76200"/>
            </a:xfrm>
            <a:prstGeom prst="ellipse">
              <a:avLst/>
            </a:prstGeom>
            <a:solidFill>
              <a:schemeClr val="dk1"/>
            </a:solidFill>
            <a:ln>
              <a:noFill/>
            </a:ln>
          </p:spPr>
        </p:sp>
        <p:sp>
          <p:nvSpPr>
            <p:cNvPr id="20" name="Ellipse 20"/>
            <p:cNvSpPr/>
            <p:nvPr/>
          </p:nvSpPr>
          <p:spPr>
            <a:xfrm>
              <a:off x="2819400" y="3390900"/>
              <a:ext cx="76200" cy="76200"/>
            </a:xfrm>
            <a:prstGeom prst="ellipse">
              <a:avLst/>
            </a:prstGeom>
            <a:solidFill>
              <a:schemeClr val="dk1"/>
            </a:solidFill>
            <a:ln>
              <a:noFill/>
            </a:ln>
          </p:spPr>
        </p:sp>
        <p:sp>
          <p:nvSpPr>
            <p:cNvPr id="21" name="Ellipse 21"/>
            <p:cNvSpPr/>
            <p:nvPr/>
          </p:nvSpPr>
          <p:spPr>
            <a:xfrm>
              <a:off x="3771900" y="3390900"/>
              <a:ext cx="76200" cy="76200"/>
            </a:xfrm>
            <a:prstGeom prst="ellipse">
              <a:avLst/>
            </a:prstGeom>
            <a:solidFill>
              <a:schemeClr val="dk1"/>
            </a:solidFill>
            <a:ln>
              <a:noFill/>
            </a:ln>
          </p:spPr>
        </p:sp>
        <p:sp>
          <p:nvSpPr>
            <p:cNvPr id="22" name="Ellipse 22"/>
            <p:cNvSpPr/>
            <p:nvPr/>
          </p:nvSpPr>
          <p:spPr>
            <a:xfrm>
              <a:off x="4914900" y="3390900"/>
              <a:ext cx="76200" cy="76200"/>
            </a:xfrm>
            <a:prstGeom prst="ellipse">
              <a:avLst/>
            </a:prstGeom>
            <a:solidFill>
              <a:schemeClr val="dk1"/>
            </a:solidFill>
            <a:ln>
              <a:noFill/>
            </a:ln>
          </p:spPr>
        </p:sp>
      </p:grpSp>
      <p:grpSp>
        <p:nvGrpSpPr>
          <p:cNvPr id="34" name="Group 34"/>
          <p:cNvGrpSpPr/>
          <p:nvPr/>
        </p:nvGrpSpPr>
        <p:grpSpPr>
          <a:xfrm>
            <a:off x="6286500" y="1733550"/>
            <a:ext cx="5226177" cy="2133600"/>
            <a:chOff x="6286500" y="1733550"/>
            <a:chExt cx="5226177" cy="2133600"/>
          </a:xfrm>
        </p:grpSpPr>
        <p:sp>
          <p:nvSpPr>
            <p:cNvPr id="24" name="Rectangle 24"/>
            <p:cNvSpPr/>
            <p:nvPr/>
          </p:nvSpPr>
          <p:spPr>
            <a:xfrm>
              <a:off x="6286500" y="1733550"/>
              <a:ext cx="5143500" cy="2133600"/>
            </a:xfrm>
            <a:prstGeom prst="roundRect">
              <a:avLst>
                <a:gd name="adj" fmla="val 5357"/>
              </a:avLst>
            </a:prstGeom>
            <a:solidFill>
              <a:srgbClr val="E1F3F0"/>
            </a:solidFill>
            <a:ln w="9525">
              <a:solidFill>
                <a:srgbClr val="B7E2DA"/>
              </a:solidFill>
            </a:ln>
          </p:spPr>
        </p:sp>
        <p:sp>
          <p:nvSpPr>
            <p:cNvPr id="25" name="Rectangle 25"/>
            <p:cNvSpPr/>
            <p:nvPr/>
          </p:nvSpPr>
          <p:spPr>
            <a:xfrm>
              <a:off x="6286500" y="1733550"/>
              <a:ext cx="57150" cy="2133600"/>
            </a:xfrm>
            <a:prstGeom prst="roundRect">
              <a:avLst>
                <a:gd name="adj" fmla="val 50000"/>
              </a:avLst>
            </a:prstGeom>
            <a:solidFill>
              <a:schemeClr val="accent2"/>
            </a:solidFill>
            <a:ln>
              <a:noFill/>
            </a:ln>
          </p:spPr>
        </p:sp>
        <p:sp>
          <p:nvSpPr>
            <p:cNvPr id="26" name="TextBox 26"/>
            <p:cNvSpPr txBox="1"/>
            <p:nvPr/>
          </p:nvSpPr>
          <p:spPr>
            <a:xfrm>
              <a:off x="6545961" y="1884521"/>
              <a:ext cx="255106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2 · Active flag &amp; objective</a:t>
              </a:r>
            </a:p>
          </p:txBody>
        </p:sp>
        <p:sp>
          <p:nvSpPr>
            <p:cNvPr id="27" name="TextBox 27"/>
            <p:cNvSpPr txBox="1"/>
            <p:nvPr/>
          </p:nvSpPr>
          <p:spPr>
            <a:xfrm>
              <a:off x="6547104" y="2194560"/>
              <a:ext cx="347981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 Boolean flag marks each interval active or</a:t>
              </a:r>
            </a:p>
          </p:txBody>
        </p:sp>
        <p:sp>
          <p:nvSpPr>
            <p:cNvPr id="28" name="TextBox 28"/>
            <p:cNvSpPr txBox="1"/>
            <p:nvPr/>
          </p:nvSpPr>
          <p:spPr>
            <a:xfrm>
              <a:off x="6547104" y="2404110"/>
              <a:ext cx="378424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not — so recompute count is flexible, not fixed.</a:t>
              </a:r>
            </a:p>
          </p:txBody>
        </p:sp>
        <p:sp>
          <p:nvSpPr>
            <p:cNvPr id="29" name="Rectangle 29"/>
            <p:cNvSpPr/>
            <p:nvPr/>
          </p:nvSpPr>
          <p:spPr>
            <a:xfrm>
              <a:off x="6553200" y="2724150"/>
              <a:ext cx="4610100" cy="952500"/>
            </a:xfrm>
            <a:prstGeom prst="roundRect">
              <a:avLst>
                <a:gd name="adj" fmla="val 8000"/>
              </a:avLst>
            </a:prstGeom>
            <a:solidFill>
              <a:schemeClr val="lt1"/>
            </a:solidFill>
            <a:ln w="9525">
              <a:solidFill>
                <a:srgbClr val="B7E2DA"/>
              </a:solidFill>
            </a:ln>
          </p:spPr>
        </p:sp>
        <p:sp>
          <p:nvSpPr>
            <p:cNvPr id="30" name="TextBox 30"/>
            <p:cNvSpPr txBox="1"/>
            <p:nvPr/>
          </p:nvSpPr>
          <p:spPr>
            <a:xfrm>
              <a:off x="6737985" y="2888456"/>
              <a:ext cx="916418"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OBJECTIVE</a:t>
              </a:r>
            </a:p>
          </p:txBody>
        </p:sp>
        <p:sp>
          <p:nvSpPr>
            <p:cNvPr id="31" name="TextBox 31"/>
            <p:cNvSpPr txBox="1"/>
            <p:nvPr/>
          </p:nvSpPr>
          <p:spPr>
            <a:xfrm>
              <a:off x="6736842" y="3168968"/>
              <a:ext cx="217002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minimize total duration</a:t>
              </a:r>
            </a:p>
          </p:txBody>
        </p:sp>
        <p:sp>
          <p:nvSpPr>
            <p:cNvPr id="32" name="TextBox 32"/>
            <p:cNvSpPr txBox="1"/>
            <p:nvPr/>
          </p:nvSpPr>
          <p:spPr>
            <a:xfrm>
              <a:off x="6737985" y="3440906"/>
              <a:ext cx="320030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 weighted sum over active compute events</a:t>
              </a:r>
            </a:p>
          </p:txBody>
        </p:sp>
        <p:sp>
          <p:nvSpPr>
            <p:cNvPr id="33" name="TextBox 33"/>
            <p:cNvSpPr txBox="1"/>
            <p:nvPr/>
          </p:nvSpPr>
          <p:spPr>
            <a:xfrm>
              <a:off x="9805035" y="3440906"/>
              <a:ext cx="170764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(weights = exec times)</a:t>
              </a:r>
            </a:p>
          </p:txBody>
        </p:sp>
      </p:grpSp>
      <p:grpSp>
        <p:nvGrpSpPr>
          <p:cNvPr id="50" name="Group 50"/>
          <p:cNvGrpSpPr/>
          <p:nvPr/>
        </p:nvGrpSpPr>
        <p:grpSpPr>
          <a:xfrm>
            <a:off x="762000" y="4019550"/>
            <a:ext cx="5257800" cy="2057400"/>
            <a:chOff x="762000" y="4019550"/>
            <a:chExt cx="5257800" cy="2057400"/>
          </a:xfrm>
        </p:grpSpPr>
        <p:sp>
          <p:nvSpPr>
            <p:cNvPr id="35" name="Rectangle 35"/>
            <p:cNvSpPr/>
            <p:nvPr/>
          </p:nvSpPr>
          <p:spPr>
            <a:xfrm>
              <a:off x="762000" y="4019550"/>
              <a:ext cx="5257800" cy="2057400"/>
            </a:xfrm>
            <a:prstGeom prst="roundRect">
              <a:avLst>
                <a:gd name="adj" fmla="val 5556"/>
              </a:avLst>
            </a:prstGeom>
            <a:solidFill>
              <a:schemeClr val="accent5"/>
            </a:solidFill>
            <a:ln w="9525">
              <a:solidFill>
                <a:schemeClr val="accent4"/>
              </a:solidFill>
            </a:ln>
          </p:spPr>
        </p:sp>
        <p:sp>
          <p:nvSpPr>
            <p:cNvPr id="36" name="Rectangle 36"/>
            <p:cNvSpPr/>
            <p:nvPr/>
          </p:nvSpPr>
          <p:spPr>
            <a:xfrm>
              <a:off x="762000" y="4019550"/>
              <a:ext cx="57150" cy="2057400"/>
            </a:xfrm>
            <a:prstGeom prst="roundRect">
              <a:avLst>
                <a:gd name="adj" fmla="val 50000"/>
              </a:avLst>
            </a:prstGeom>
            <a:solidFill>
              <a:schemeClr val="accent1"/>
            </a:solidFill>
            <a:ln>
              <a:noFill/>
            </a:ln>
          </p:spPr>
        </p:sp>
        <p:sp>
          <p:nvSpPr>
            <p:cNvPr id="37" name="TextBox 37"/>
            <p:cNvSpPr txBox="1"/>
            <p:nvPr/>
          </p:nvSpPr>
          <p:spPr>
            <a:xfrm>
              <a:off x="1021461" y="4170521"/>
              <a:ext cx="225595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3 · Two CP constraints</a:t>
              </a:r>
            </a:p>
          </p:txBody>
        </p:sp>
        <p:sp>
          <p:nvSpPr>
            <p:cNvPr id="38" name="Rectangle 38"/>
            <p:cNvSpPr/>
            <p:nvPr/>
          </p:nvSpPr>
          <p:spPr>
            <a:xfrm>
              <a:off x="1028700" y="4514850"/>
              <a:ext cx="2305050" cy="1333500"/>
            </a:xfrm>
            <a:prstGeom prst="roundRect">
              <a:avLst>
                <a:gd name="adj" fmla="val 5714"/>
              </a:avLst>
            </a:prstGeom>
            <a:solidFill>
              <a:schemeClr val="accent6"/>
            </a:solidFill>
            <a:ln w="9525">
              <a:solidFill>
                <a:srgbClr val="C6D6FB"/>
              </a:solidFill>
            </a:ln>
          </p:spPr>
        </p:sp>
        <p:sp>
          <p:nvSpPr>
            <p:cNvPr id="39" name="TextBox 39"/>
            <p:cNvSpPr txBox="1"/>
            <p:nvPr/>
          </p:nvSpPr>
          <p:spPr>
            <a:xfrm>
              <a:off x="1222248" y="4662964"/>
              <a:ext cx="953786"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cumulative</a:t>
              </a:r>
            </a:p>
          </p:txBody>
        </p:sp>
        <p:sp>
          <p:nvSpPr>
            <p:cNvPr id="40" name="TextBox 40"/>
            <p:cNvSpPr txBox="1"/>
            <p:nvPr/>
          </p:nvSpPr>
          <p:spPr>
            <a:xfrm>
              <a:off x="1223010" y="4945856"/>
              <a:ext cx="119500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memory budget:</a:t>
              </a:r>
            </a:p>
          </p:txBody>
        </p:sp>
        <p:sp>
          <p:nvSpPr>
            <p:cNvPr id="41" name="TextBox 41"/>
            <p:cNvSpPr txBox="1"/>
            <p:nvPr/>
          </p:nvSpPr>
          <p:spPr>
            <a:xfrm>
              <a:off x="1223010" y="5155406"/>
              <a:ext cx="105931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tensor sizes =</a:t>
              </a:r>
            </a:p>
          </p:txBody>
        </p:sp>
        <p:sp>
          <p:nvSpPr>
            <p:cNvPr id="42" name="TextBox 42"/>
            <p:cNvSpPr txBox="1"/>
            <p:nvPr/>
          </p:nvSpPr>
          <p:spPr>
            <a:xfrm>
              <a:off x="1223010" y="5364956"/>
              <a:ext cx="141363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resource demands,</a:t>
              </a:r>
            </a:p>
          </p:txBody>
        </p:sp>
        <p:sp>
          <p:nvSpPr>
            <p:cNvPr id="43" name="TextBox 43"/>
            <p:cNvSpPr txBox="1"/>
            <p:nvPr/>
          </p:nvSpPr>
          <p:spPr>
            <a:xfrm>
              <a:off x="1223010" y="5574506"/>
              <a:ext cx="130809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budget = capacity</a:t>
              </a:r>
            </a:p>
          </p:txBody>
        </p:sp>
        <p:sp>
          <p:nvSpPr>
            <p:cNvPr id="44" name="Rectangle 44"/>
            <p:cNvSpPr/>
            <p:nvPr/>
          </p:nvSpPr>
          <p:spPr>
            <a:xfrm>
              <a:off x="3448050" y="4514850"/>
              <a:ext cx="2305050" cy="1333500"/>
            </a:xfrm>
            <a:prstGeom prst="roundRect">
              <a:avLst>
                <a:gd name="adj" fmla="val 5714"/>
              </a:avLst>
            </a:prstGeom>
            <a:solidFill>
              <a:schemeClr val="accent6"/>
            </a:solidFill>
            <a:ln w="9525">
              <a:solidFill>
                <a:srgbClr val="C6D6FB"/>
              </a:solidFill>
            </a:ln>
          </p:spPr>
        </p:sp>
        <p:sp>
          <p:nvSpPr>
            <p:cNvPr id="45" name="TextBox 45"/>
            <p:cNvSpPr txBox="1"/>
            <p:nvPr/>
          </p:nvSpPr>
          <p:spPr>
            <a:xfrm>
              <a:off x="3641598" y="4662964"/>
              <a:ext cx="863322"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reservoir</a:t>
              </a:r>
            </a:p>
          </p:txBody>
        </p:sp>
        <p:sp>
          <p:nvSpPr>
            <p:cNvPr id="46" name="TextBox 46"/>
            <p:cNvSpPr txBox="1"/>
            <p:nvPr/>
          </p:nvSpPr>
          <p:spPr>
            <a:xfrm>
              <a:off x="3642360" y="4945856"/>
              <a:ext cx="134578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data dependencies</a:t>
              </a:r>
            </a:p>
          </p:txBody>
        </p:sp>
        <p:sp>
          <p:nvSpPr>
            <p:cNvPr id="47" name="TextBox 47"/>
            <p:cNvSpPr txBox="1"/>
            <p:nvPr/>
          </p:nvSpPr>
          <p:spPr>
            <a:xfrm>
              <a:off x="3642360" y="5155406"/>
              <a:ext cx="16624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between predecessors</a:t>
              </a:r>
            </a:p>
          </p:txBody>
        </p:sp>
        <p:sp>
          <p:nvSpPr>
            <p:cNvPr id="48" name="TextBox 48"/>
            <p:cNvSpPr txBox="1"/>
            <p:nvPr/>
          </p:nvSpPr>
          <p:spPr>
            <a:xfrm>
              <a:off x="3642360" y="5364956"/>
              <a:ext cx="142870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and successors are</a:t>
              </a:r>
            </a:p>
          </p:txBody>
        </p:sp>
        <p:sp>
          <p:nvSpPr>
            <p:cNvPr id="49" name="TextBox 49"/>
            <p:cNvSpPr txBox="1"/>
            <p:nvPr/>
          </p:nvSpPr>
          <p:spPr>
            <a:xfrm>
              <a:off x="3642360" y="5574506"/>
              <a:ext cx="75776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respected</a:t>
              </a:r>
            </a:p>
          </p:txBody>
        </p:sp>
      </p:grpSp>
      <p:grpSp>
        <p:nvGrpSpPr>
          <p:cNvPr id="60" name="Group 60"/>
          <p:cNvGrpSpPr/>
          <p:nvPr/>
        </p:nvGrpSpPr>
        <p:grpSpPr>
          <a:xfrm>
            <a:off x="6286500" y="4019550"/>
            <a:ext cx="5143500" cy="2057400"/>
            <a:chOff x="6286500" y="4019550"/>
            <a:chExt cx="5143500" cy="2057400"/>
          </a:xfrm>
        </p:grpSpPr>
        <p:sp>
          <p:nvSpPr>
            <p:cNvPr id="51" name="Rectangle 51"/>
            <p:cNvSpPr/>
            <p:nvPr/>
          </p:nvSpPr>
          <p:spPr>
            <a:xfrm>
              <a:off x="6286500" y="4019550"/>
              <a:ext cx="5143500" cy="2057400"/>
            </a:xfrm>
            <a:prstGeom prst="roundRect">
              <a:avLst>
                <a:gd name="adj" fmla="val 5556"/>
              </a:avLst>
            </a:prstGeom>
            <a:solidFill>
              <a:schemeClr val="dk1"/>
            </a:solidFill>
            <a:ln>
              <a:noFill/>
            </a:ln>
          </p:spPr>
        </p:sp>
        <p:sp>
          <p:nvSpPr>
            <p:cNvPr id="52" name="Rectangle 52"/>
            <p:cNvSpPr/>
            <p:nvPr/>
          </p:nvSpPr>
          <p:spPr>
            <a:xfrm>
              <a:off x="6286500" y="4019550"/>
              <a:ext cx="57150" cy="2057400"/>
            </a:xfrm>
            <a:prstGeom prst="roundRect">
              <a:avLst>
                <a:gd name="adj" fmla="val 50000"/>
              </a:avLst>
            </a:prstGeom>
            <a:solidFill>
              <a:srgbClr val="7CA0EC"/>
            </a:solidFill>
            <a:ln>
              <a:noFill/>
            </a:ln>
          </p:spPr>
        </p:sp>
        <p:sp>
          <p:nvSpPr>
            <p:cNvPr id="53" name="TextBox 53"/>
            <p:cNvSpPr txBox="1"/>
            <p:nvPr/>
          </p:nvSpPr>
          <p:spPr>
            <a:xfrm>
              <a:off x="6545961" y="4170521"/>
              <a:ext cx="1599036"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4 · Solve &amp; scale</a:t>
              </a:r>
            </a:p>
          </p:txBody>
        </p:sp>
        <p:sp>
          <p:nvSpPr>
            <p:cNvPr id="54" name="Rectangle 54"/>
            <p:cNvSpPr/>
            <p:nvPr/>
          </p:nvSpPr>
          <p:spPr>
            <a:xfrm>
              <a:off x="6553200" y="4514850"/>
              <a:ext cx="4610100" cy="628650"/>
            </a:xfrm>
            <a:prstGeom prst="roundRect">
              <a:avLst>
                <a:gd name="adj" fmla="val 12121"/>
              </a:avLst>
            </a:prstGeom>
            <a:solidFill>
              <a:srgbClr val="1E2740"/>
            </a:solidFill>
            <a:ln>
              <a:noFill/>
            </a:ln>
          </p:spPr>
        </p:sp>
        <p:sp>
          <p:nvSpPr>
            <p:cNvPr id="55" name="TextBox 55"/>
            <p:cNvSpPr txBox="1"/>
            <p:nvPr/>
          </p:nvSpPr>
          <p:spPr>
            <a:xfrm>
              <a:off x="6737985" y="4679156"/>
              <a:ext cx="650230" cy="220028"/>
            </a:xfrm>
            <a:prstGeom prst="rect">
              <a:avLst/>
            </a:prstGeom>
            <a:noFill/>
            <a:ln>
              <a:noFill/>
            </a:ln>
          </p:spPr>
          <p:txBody>
            <a:bodyPr wrap="none" lIns="0" tIns="0" rIns="0" bIns="0" anchor="t" anchorCtr="0">
              <a:spAutoFit/>
            </a:bodyPr>
            <a:lstStyle/>
            <a:p>
              <a:pPr algn="l"/>
              <a:r>
                <a:rPr lang="en-US" sz="1120" b="1" spc="75" dirty="0">
                  <a:solidFill>
                    <a:srgbClr val="7CA0EC"/>
                  </a:solidFill>
                  <a:latin typeface="+mn-lt"/>
                  <a:ea typeface="+mn-ea"/>
                  <a:cs typeface="+mn-cs"/>
                </a:rPr>
                <a:t>SOLVER</a:t>
              </a:r>
            </a:p>
          </p:txBody>
        </p:sp>
        <p:sp>
          <p:nvSpPr>
            <p:cNvPr id="56" name="TextBox 56"/>
            <p:cNvSpPr txBox="1"/>
            <p:nvPr/>
          </p:nvSpPr>
          <p:spPr>
            <a:xfrm>
              <a:off x="6736842" y="4902518"/>
              <a:ext cx="2397844"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Google OR-Tools · CP-SAT</a:t>
              </a:r>
            </a:p>
          </p:txBody>
        </p:sp>
        <p:sp>
          <p:nvSpPr>
            <p:cNvPr id="57" name="TextBox 57"/>
            <p:cNvSpPr txBox="1"/>
            <p:nvPr/>
          </p:nvSpPr>
          <p:spPr>
            <a:xfrm>
              <a:off x="6547104" y="5337810"/>
              <a:ext cx="3385680"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Constant intervals per node keep the total</a:t>
              </a:r>
            </a:p>
          </p:txBody>
        </p:sp>
        <p:sp>
          <p:nvSpPr>
            <p:cNvPr id="58" name="TextBox 58"/>
            <p:cNvSpPr txBox="1"/>
            <p:nvPr/>
          </p:nvSpPr>
          <p:spPr>
            <a:xfrm>
              <a:off x="6547104" y="5547360"/>
              <a:ext cx="2201113"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number of integer variables</a:t>
              </a:r>
            </a:p>
          </p:txBody>
        </p:sp>
        <p:sp>
          <p:nvSpPr>
            <p:cNvPr id="59" name="TextBox 59"/>
            <p:cNvSpPr txBox="1"/>
            <p:nvPr/>
          </p:nvSpPr>
          <p:spPr>
            <a:xfrm>
              <a:off x="9156954" y="5547360"/>
              <a:ext cx="1674480"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linear in graph size.</a:t>
              </a:r>
            </a:p>
          </p:txBody>
        </p:sp>
      </p:grpSp>
      <p:grpSp>
        <p:nvGrpSpPr>
          <p:cNvPr id="63" name="Group 63"/>
          <p:cNvGrpSpPr/>
          <p:nvPr/>
        </p:nvGrpSpPr>
        <p:grpSpPr>
          <a:xfrm>
            <a:off x="757238" y="6570345"/>
            <a:ext cx="10677524" cy="176212"/>
            <a:chOff x="757238" y="6570345"/>
            <a:chExt cx="10677524" cy="176212"/>
          </a:xfrm>
        </p:grpSpPr>
        <p:sp>
          <p:nvSpPr>
            <p:cNvPr id="61" name="TextBox 61"/>
            <p:cNvSpPr txBox="1"/>
            <p:nvPr/>
          </p:nvSpPr>
          <p:spPr>
            <a:xfrm>
              <a:off x="757238" y="6570345"/>
              <a:ext cx="126828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Moccasin · ICML 2023</a:t>
              </a:r>
            </a:p>
          </p:txBody>
        </p:sp>
        <p:sp>
          <p:nvSpPr>
            <p:cNvPr id="62" name="TextBox 62"/>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05 / 10</a:t>
              </a:r>
            </a:p>
          </p:txBody>
        </p:sp>
      </p:grpSp>
      <p:sp>
        <p:nvSpPr>
          <p:cNvPr id="64" name="cue_s05_c1_moccasin_represents_schedule_retenti" title="cue_s05_c1_moccasin_represents_schedule_retenti" descr="cue_s05_c1_moccasin_represents_schedule_retenti Moccasin represents the schedule with retention intervals. For each node in the graph, the method allows up to a small constant number of intervals, each specified by an integer start event and an integer end event, indicating when that node's output tensor is"/>
          <p:cNvSpPr/>
          <p:nvPr/>
        </p:nvSpPr>
        <p:spPr>
          <a:xfrm>
            <a:off x="762000" y="1733702"/>
            <a:ext cx="5258409"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5_c2_boolean_flag_marks_whether_interval" title="cue_s05_c2_boolean_flag_marks_whether_interval" descr="cue_s05_c2_boolean_flag_marks_whether_interval A Boolean flag marks whether each interval is actually active, so a node need not be recomputed a fixed number of times. The objective minimizes the total duration, a weighted sum over the active compute events where the weights are node execution times."/>
          <p:cNvSpPr/>
          <p:nvPr/>
        </p:nvSpPr>
        <p:spPr>
          <a:xfrm>
            <a:off x="6286195" y="1733702"/>
            <a:ext cx="5226710"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5_c3_memory_budget_enforced_through_const" title="cue_s05_c3_memory_budget_enforced_through_const" descr="cue_s05_c3_memory_budget_enforced_through_const The memory budget is enforced through the constraint programming cumulative constraint, treating tensor sizes as resource demands and the budget as capacity, while data dependencies between predecessors and successors are handled with the reservoir constraint."/>
          <p:cNvSpPr/>
          <p:nvPr/>
        </p:nvSpPr>
        <p:spPr>
          <a:xfrm>
            <a:off x="762000" y="4019473"/>
            <a:ext cx="5258409"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5_c4_whole_handed_google_or_tools_cp_sat" title="cue_s05_c4_whole_handed_google_or_tools_cp_sat" descr="cue_s05_c4_whole_handed_google_or_tools_cp_sat The whole model is handed to Google OR-Tools' CP-SAT solver. Because each node uses only a small constant number of intervals, the total number of integer variables stays linear in the graph size."/>
          <p:cNvSpPr/>
          <p:nvPr/>
        </p:nvSpPr>
        <p:spPr>
          <a:xfrm>
            <a:off x="6286195" y="4019473"/>
            <a:ext cx="51438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427" y="572452"/>
            <a:ext cx="10680573" cy="865823"/>
            <a:chOff x="749427" y="572452"/>
            <a:chExt cx="10680573"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244595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06 · DATASET / BENCHMARK</a:t>
              </a:r>
            </a:p>
          </p:txBody>
        </p:sp>
        <p:sp>
          <p:nvSpPr>
            <p:cNvPr id="4" name="TextBox 4"/>
            <p:cNvSpPr txBox="1"/>
            <p:nvPr/>
          </p:nvSpPr>
          <p:spPr>
            <a:xfrm>
              <a:off x="749427" y="875824"/>
              <a:ext cx="4482428"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How Moccasin is evaluated</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29" name="Group 29"/>
          <p:cNvGrpSpPr/>
          <p:nvPr/>
        </p:nvGrpSpPr>
        <p:grpSpPr>
          <a:xfrm>
            <a:off x="762000" y="1733550"/>
            <a:ext cx="5905500" cy="2743200"/>
            <a:chOff x="762000" y="1733550"/>
            <a:chExt cx="5905500" cy="2743200"/>
          </a:xfrm>
        </p:grpSpPr>
        <p:sp>
          <p:nvSpPr>
            <p:cNvPr id="7" name="Rectangle 7"/>
            <p:cNvSpPr/>
            <p:nvPr/>
          </p:nvSpPr>
          <p:spPr>
            <a:xfrm>
              <a:off x="762000" y="1733550"/>
              <a:ext cx="5905500" cy="2743200"/>
            </a:xfrm>
            <a:prstGeom prst="roundRect">
              <a:avLst>
                <a:gd name="adj" fmla="val 4167"/>
              </a:avLst>
            </a:prstGeom>
            <a:solidFill>
              <a:schemeClr val="accent5"/>
            </a:solidFill>
            <a:ln w="9525">
              <a:solidFill>
                <a:schemeClr val="accent4"/>
              </a:solidFill>
            </a:ln>
          </p:spPr>
        </p:sp>
        <p:sp>
          <p:nvSpPr>
            <p:cNvPr id="8" name="Rectangle 8"/>
            <p:cNvSpPr/>
            <p:nvPr/>
          </p:nvSpPr>
          <p:spPr>
            <a:xfrm>
              <a:off x="762000" y="1733550"/>
              <a:ext cx="57150" cy="2743200"/>
            </a:xfrm>
            <a:prstGeom prst="roundRect">
              <a:avLst>
                <a:gd name="adj" fmla="val 50000"/>
              </a:avLst>
            </a:prstGeom>
            <a:solidFill>
              <a:schemeClr val="accent1"/>
            </a:solidFill>
            <a:ln>
              <a:noFill/>
            </a:ln>
          </p:spPr>
        </p:sp>
        <p:sp>
          <p:nvSpPr>
            <p:cNvPr id="9" name="TextBox 9"/>
            <p:cNvSpPr txBox="1"/>
            <p:nvPr/>
          </p:nvSpPr>
          <p:spPr>
            <a:xfrm>
              <a:off x="1021461" y="1884521"/>
              <a:ext cx="405083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Scaling study: four layered graphs G1–G4</a:t>
              </a:r>
            </a:p>
          </p:txBody>
        </p:sp>
        <p:sp>
          <p:nvSpPr>
            <p:cNvPr id="10" name="Line 10"/>
            <p:cNvSpPr/>
            <p:nvPr/>
          </p:nvSpPr>
          <p:spPr>
            <a:xfrm>
              <a:off x="1028700" y="2209800"/>
              <a:ext cx="5372100" cy="9525"/>
            </a:xfrm>
            <a:custGeom>
              <a:avLst/>
              <a:gdLst/>
              <a:ahLst/>
              <a:cxnLst/>
              <a:rect l="l" t="t" r="r" b="b"/>
              <a:pathLst>
                <a:path w="5372100" h="9525">
                  <a:moveTo>
                    <a:pt x="0" y="0"/>
                  </a:moveTo>
                  <a:lnTo>
                    <a:pt x="5372100" y="0"/>
                  </a:lnTo>
                </a:path>
              </a:pathLst>
            </a:custGeom>
            <a:noFill/>
            <a:ln w="9525">
              <a:solidFill>
                <a:schemeClr val="accent4"/>
              </a:solidFill>
            </a:ln>
          </p:spPr>
        </p:sp>
        <p:sp>
          <p:nvSpPr>
            <p:cNvPr id="11" name="TextBox 11"/>
            <p:cNvSpPr txBox="1"/>
            <p:nvPr/>
          </p:nvSpPr>
          <p:spPr>
            <a:xfrm>
              <a:off x="1137285" y="2393156"/>
              <a:ext cx="514106"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GRAPH</a:t>
              </a:r>
            </a:p>
          </p:txBody>
        </p:sp>
        <p:sp>
          <p:nvSpPr>
            <p:cNvPr id="12" name="TextBox 12"/>
            <p:cNvSpPr txBox="1"/>
            <p:nvPr/>
          </p:nvSpPr>
          <p:spPr>
            <a:xfrm>
              <a:off x="2696654" y="2393156"/>
              <a:ext cx="547561" cy="220028"/>
            </a:xfrm>
            <a:prstGeom prst="rect">
              <a:avLst/>
            </a:prstGeom>
            <a:noFill/>
            <a:ln>
              <a:noFill/>
            </a:ln>
          </p:spPr>
          <p:txBody>
            <a:bodyPr wrap="none" lIns="0" tIns="0" rIns="0" bIns="0" anchor="t" anchorCtr="0">
              <a:spAutoFit/>
            </a:bodyPr>
            <a:lstStyle/>
            <a:p>
              <a:pPr algn="r"/>
              <a:r>
                <a:rPr lang="en-US" sz="1120" b="1" spc="75" dirty="0">
                  <a:solidFill>
                    <a:schemeClr val="dk2"/>
                  </a:solidFill>
                  <a:latin typeface="+mn-lt"/>
                  <a:ea typeface="+mn-ea"/>
                  <a:cs typeface="+mn-cs"/>
                </a:rPr>
                <a:t>NODES</a:t>
              </a:r>
            </a:p>
          </p:txBody>
        </p:sp>
        <p:sp>
          <p:nvSpPr>
            <p:cNvPr id="13" name="TextBox 13"/>
            <p:cNvSpPr txBox="1"/>
            <p:nvPr/>
          </p:nvSpPr>
          <p:spPr>
            <a:xfrm>
              <a:off x="5587609" y="2393156"/>
              <a:ext cx="514106" cy="220028"/>
            </a:xfrm>
            <a:prstGeom prst="rect">
              <a:avLst/>
            </a:prstGeom>
            <a:noFill/>
            <a:ln>
              <a:noFill/>
            </a:ln>
          </p:spPr>
          <p:txBody>
            <a:bodyPr wrap="none" lIns="0" tIns="0" rIns="0" bIns="0" anchor="t" anchorCtr="0">
              <a:spAutoFit/>
            </a:bodyPr>
            <a:lstStyle/>
            <a:p>
              <a:pPr algn="r"/>
              <a:r>
                <a:rPr lang="en-US" sz="1120" b="1" spc="75" dirty="0">
                  <a:solidFill>
                    <a:schemeClr val="dk2"/>
                  </a:solidFill>
                  <a:latin typeface="+mn-lt"/>
                  <a:ea typeface="+mn-ea"/>
                  <a:cs typeface="+mn-cs"/>
                </a:rPr>
                <a:t>EDGES</a:t>
              </a:r>
            </a:p>
          </p:txBody>
        </p:sp>
        <p:sp>
          <p:nvSpPr>
            <p:cNvPr id="14" name="Line 14"/>
            <p:cNvSpPr/>
            <p:nvPr/>
          </p:nvSpPr>
          <p:spPr>
            <a:xfrm>
              <a:off x="1028700" y="2647950"/>
              <a:ext cx="5372100" cy="9525"/>
            </a:xfrm>
            <a:custGeom>
              <a:avLst/>
              <a:gdLst/>
              <a:ahLst/>
              <a:cxnLst/>
              <a:rect l="l" t="t" r="r" b="b"/>
              <a:pathLst>
                <a:path w="5372100" h="9525">
                  <a:moveTo>
                    <a:pt x="0" y="0"/>
                  </a:moveTo>
                  <a:lnTo>
                    <a:pt x="5372100" y="0"/>
                  </a:lnTo>
                </a:path>
              </a:pathLst>
            </a:custGeom>
            <a:noFill/>
            <a:ln w="9525">
              <a:solidFill>
                <a:schemeClr val="accent4"/>
              </a:solidFill>
            </a:ln>
          </p:spPr>
        </p:sp>
        <p:sp>
          <p:nvSpPr>
            <p:cNvPr id="15" name="TextBox 15"/>
            <p:cNvSpPr txBox="1"/>
            <p:nvPr/>
          </p:nvSpPr>
          <p:spPr>
            <a:xfrm>
              <a:off x="1136523" y="2815114"/>
              <a:ext cx="223242"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G1</a:t>
              </a:r>
            </a:p>
          </p:txBody>
        </p:sp>
        <p:sp>
          <p:nvSpPr>
            <p:cNvPr id="16" name="TextBox 16"/>
            <p:cNvSpPr txBox="1"/>
            <p:nvPr/>
          </p:nvSpPr>
          <p:spPr>
            <a:xfrm>
              <a:off x="2852933" y="2815114"/>
              <a:ext cx="392044" cy="249364"/>
            </a:xfrm>
            <a:prstGeom prst="rect">
              <a:avLst/>
            </a:prstGeom>
            <a:noFill/>
            <a:ln>
              <a:noFill/>
            </a:ln>
          </p:spPr>
          <p:txBody>
            <a:bodyPr wrap="none" lIns="0" tIns="0" rIns="0" bIns="0" anchor="t" anchorCtr="0">
              <a:spAutoFit/>
            </a:bodyPr>
            <a:lstStyle/>
            <a:p>
              <a:pPr algn="r"/>
              <a:r>
                <a:rPr lang="en-US" sz="1280" dirty="0">
                  <a:solidFill>
                    <a:schemeClr val="dk1"/>
                  </a:solidFill>
                  <a:latin typeface="+mn-lt"/>
                  <a:ea typeface="+mn-ea"/>
                  <a:cs typeface="+mn-cs"/>
                </a:rPr>
                <a:t>~100</a:t>
              </a:r>
            </a:p>
          </p:txBody>
        </p:sp>
        <p:sp>
          <p:nvSpPr>
            <p:cNvPr id="17" name="TextBox 17"/>
            <p:cNvSpPr txBox="1"/>
            <p:nvPr/>
          </p:nvSpPr>
          <p:spPr>
            <a:xfrm>
              <a:off x="5710433" y="2815114"/>
              <a:ext cx="392044" cy="249364"/>
            </a:xfrm>
            <a:prstGeom prst="rect">
              <a:avLst/>
            </a:prstGeom>
            <a:noFill/>
            <a:ln>
              <a:noFill/>
            </a:ln>
          </p:spPr>
          <p:txBody>
            <a:bodyPr wrap="none" lIns="0" tIns="0" rIns="0" bIns="0" anchor="t" anchorCtr="0">
              <a:spAutoFit/>
            </a:bodyPr>
            <a:lstStyle/>
            <a:p>
              <a:pPr algn="r"/>
              <a:r>
                <a:rPr lang="en-US" sz="1280" dirty="0">
                  <a:solidFill>
                    <a:schemeClr val="dk1"/>
                  </a:solidFill>
                  <a:latin typeface="+mn-lt"/>
                  <a:ea typeface="+mn-ea"/>
                  <a:cs typeface="+mn-cs"/>
                </a:rPr>
                <a:t>~200</a:t>
              </a:r>
            </a:p>
          </p:txBody>
        </p:sp>
        <p:sp>
          <p:nvSpPr>
            <p:cNvPr id="18" name="TextBox 18"/>
            <p:cNvSpPr txBox="1"/>
            <p:nvPr/>
          </p:nvSpPr>
          <p:spPr>
            <a:xfrm>
              <a:off x="1136523" y="3138964"/>
              <a:ext cx="223242"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G2</a:t>
              </a:r>
            </a:p>
          </p:txBody>
        </p:sp>
        <p:sp>
          <p:nvSpPr>
            <p:cNvPr id="19" name="TextBox 19"/>
            <p:cNvSpPr txBox="1"/>
            <p:nvPr/>
          </p:nvSpPr>
          <p:spPr>
            <a:xfrm>
              <a:off x="2430765" y="3138964"/>
              <a:ext cx="814212" cy="249364"/>
            </a:xfrm>
            <a:prstGeom prst="rect">
              <a:avLst/>
            </a:prstGeom>
            <a:noFill/>
            <a:ln>
              <a:noFill/>
            </a:ln>
          </p:spPr>
          <p:txBody>
            <a:bodyPr wrap="none" lIns="0" tIns="0" rIns="0" bIns="0" anchor="t" anchorCtr="0">
              <a:spAutoFit/>
            </a:bodyPr>
            <a:lstStyle/>
            <a:p>
              <a:pPr algn="r"/>
              <a:r>
                <a:rPr lang="en-US" sz="1280" dirty="0">
                  <a:solidFill>
                    <a:srgbClr val="8A97A8"/>
                  </a:solidFill>
                  <a:latin typeface="+mn-lt"/>
                  <a:ea typeface="+mn-ea"/>
                  <a:cs typeface="+mn-cs"/>
                </a:rPr>
                <a:t>growing ↓</a:t>
              </a:r>
            </a:p>
          </p:txBody>
        </p:sp>
        <p:sp>
          <p:nvSpPr>
            <p:cNvPr id="20" name="TextBox 20"/>
            <p:cNvSpPr txBox="1"/>
            <p:nvPr/>
          </p:nvSpPr>
          <p:spPr>
            <a:xfrm>
              <a:off x="5288265" y="3138964"/>
              <a:ext cx="814212" cy="249364"/>
            </a:xfrm>
            <a:prstGeom prst="rect">
              <a:avLst/>
            </a:prstGeom>
            <a:noFill/>
            <a:ln>
              <a:noFill/>
            </a:ln>
          </p:spPr>
          <p:txBody>
            <a:bodyPr wrap="none" lIns="0" tIns="0" rIns="0" bIns="0" anchor="t" anchorCtr="0">
              <a:spAutoFit/>
            </a:bodyPr>
            <a:lstStyle/>
            <a:p>
              <a:pPr algn="r"/>
              <a:r>
                <a:rPr lang="en-US" sz="1280" dirty="0">
                  <a:solidFill>
                    <a:srgbClr val="8A97A8"/>
                  </a:solidFill>
                  <a:latin typeface="+mn-lt"/>
                  <a:ea typeface="+mn-ea"/>
                  <a:cs typeface="+mn-cs"/>
                </a:rPr>
                <a:t>growing ↓</a:t>
              </a:r>
            </a:p>
          </p:txBody>
        </p:sp>
        <p:sp>
          <p:nvSpPr>
            <p:cNvPr id="21" name="TextBox 21"/>
            <p:cNvSpPr txBox="1"/>
            <p:nvPr/>
          </p:nvSpPr>
          <p:spPr>
            <a:xfrm>
              <a:off x="1136523" y="3462814"/>
              <a:ext cx="223242"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G3</a:t>
              </a:r>
            </a:p>
          </p:txBody>
        </p:sp>
        <p:sp>
          <p:nvSpPr>
            <p:cNvPr id="22" name="TextBox 22"/>
            <p:cNvSpPr txBox="1"/>
            <p:nvPr/>
          </p:nvSpPr>
          <p:spPr>
            <a:xfrm>
              <a:off x="2430765" y="3462814"/>
              <a:ext cx="814212" cy="249364"/>
            </a:xfrm>
            <a:prstGeom prst="rect">
              <a:avLst/>
            </a:prstGeom>
            <a:noFill/>
            <a:ln>
              <a:noFill/>
            </a:ln>
          </p:spPr>
          <p:txBody>
            <a:bodyPr wrap="none" lIns="0" tIns="0" rIns="0" bIns="0" anchor="t" anchorCtr="0">
              <a:spAutoFit/>
            </a:bodyPr>
            <a:lstStyle/>
            <a:p>
              <a:pPr algn="r"/>
              <a:r>
                <a:rPr lang="en-US" sz="1280" dirty="0">
                  <a:solidFill>
                    <a:srgbClr val="8A97A8"/>
                  </a:solidFill>
                  <a:latin typeface="+mn-lt"/>
                  <a:ea typeface="+mn-ea"/>
                  <a:cs typeface="+mn-cs"/>
                </a:rPr>
                <a:t>growing ↓</a:t>
              </a:r>
            </a:p>
          </p:txBody>
        </p:sp>
        <p:sp>
          <p:nvSpPr>
            <p:cNvPr id="23" name="TextBox 23"/>
            <p:cNvSpPr txBox="1"/>
            <p:nvPr/>
          </p:nvSpPr>
          <p:spPr>
            <a:xfrm>
              <a:off x="5288265" y="3462814"/>
              <a:ext cx="814212" cy="249364"/>
            </a:xfrm>
            <a:prstGeom prst="rect">
              <a:avLst/>
            </a:prstGeom>
            <a:noFill/>
            <a:ln>
              <a:noFill/>
            </a:ln>
          </p:spPr>
          <p:txBody>
            <a:bodyPr wrap="none" lIns="0" tIns="0" rIns="0" bIns="0" anchor="t" anchorCtr="0">
              <a:spAutoFit/>
            </a:bodyPr>
            <a:lstStyle/>
            <a:p>
              <a:pPr algn="r"/>
              <a:r>
                <a:rPr lang="en-US" sz="1280" dirty="0">
                  <a:solidFill>
                    <a:srgbClr val="8A97A8"/>
                  </a:solidFill>
                  <a:latin typeface="+mn-lt"/>
                  <a:ea typeface="+mn-ea"/>
                  <a:cs typeface="+mn-cs"/>
                </a:rPr>
                <a:t>growing ↓</a:t>
              </a:r>
            </a:p>
          </p:txBody>
        </p:sp>
        <p:sp>
          <p:nvSpPr>
            <p:cNvPr id="24" name="Line 24"/>
            <p:cNvSpPr/>
            <p:nvPr/>
          </p:nvSpPr>
          <p:spPr>
            <a:xfrm>
              <a:off x="1028700" y="3771900"/>
              <a:ext cx="5372100" cy="9525"/>
            </a:xfrm>
            <a:custGeom>
              <a:avLst/>
              <a:gdLst/>
              <a:ahLst/>
              <a:cxnLst/>
              <a:rect l="l" t="t" r="r" b="b"/>
              <a:pathLst>
                <a:path w="5372100" h="9525">
                  <a:moveTo>
                    <a:pt x="0" y="0"/>
                  </a:moveTo>
                  <a:lnTo>
                    <a:pt x="5372100" y="0"/>
                  </a:lnTo>
                </a:path>
              </a:pathLst>
            </a:custGeom>
            <a:noFill/>
            <a:ln w="9525">
              <a:solidFill>
                <a:schemeClr val="accent4"/>
              </a:solidFill>
            </a:ln>
          </p:spPr>
        </p:sp>
        <p:sp>
          <p:nvSpPr>
            <p:cNvPr id="25" name="TextBox 25"/>
            <p:cNvSpPr txBox="1"/>
            <p:nvPr/>
          </p:nvSpPr>
          <p:spPr>
            <a:xfrm>
              <a:off x="1136523" y="3939064"/>
              <a:ext cx="223242"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G4</a:t>
              </a:r>
            </a:p>
          </p:txBody>
        </p:sp>
        <p:sp>
          <p:nvSpPr>
            <p:cNvPr id="26" name="TextBox 26"/>
            <p:cNvSpPr txBox="1"/>
            <p:nvPr/>
          </p:nvSpPr>
          <p:spPr>
            <a:xfrm>
              <a:off x="2734467" y="3939064"/>
              <a:ext cx="510510" cy="249364"/>
            </a:xfrm>
            <a:prstGeom prst="rect">
              <a:avLst/>
            </a:prstGeom>
            <a:noFill/>
            <a:ln>
              <a:noFill/>
            </a:ln>
          </p:spPr>
          <p:txBody>
            <a:bodyPr wrap="none" lIns="0" tIns="0" rIns="0" bIns="0" anchor="t" anchorCtr="0">
              <a:spAutoFit/>
            </a:bodyPr>
            <a:lstStyle/>
            <a:p>
              <a:pPr algn="r"/>
              <a:r>
                <a:rPr lang="en-US" sz="1280" b="1" dirty="0">
                  <a:solidFill>
                    <a:schemeClr val="dk1"/>
                  </a:solidFill>
                  <a:latin typeface="+mn-lt"/>
                  <a:ea typeface="+mn-ea"/>
                  <a:cs typeface="+mn-cs"/>
                </a:rPr>
                <a:t>1,000</a:t>
              </a:r>
            </a:p>
          </p:txBody>
        </p:sp>
        <p:sp>
          <p:nvSpPr>
            <p:cNvPr id="27" name="TextBox 27"/>
            <p:cNvSpPr txBox="1"/>
            <p:nvPr/>
          </p:nvSpPr>
          <p:spPr>
            <a:xfrm>
              <a:off x="5492456" y="3939064"/>
              <a:ext cx="610021" cy="249364"/>
            </a:xfrm>
            <a:prstGeom prst="rect">
              <a:avLst/>
            </a:prstGeom>
            <a:noFill/>
            <a:ln>
              <a:noFill/>
            </a:ln>
          </p:spPr>
          <p:txBody>
            <a:bodyPr wrap="none" lIns="0" tIns="0" rIns="0" bIns="0" anchor="t" anchorCtr="0">
              <a:spAutoFit/>
            </a:bodyPr>
            <a:lstStyle/>
            <a:p>
              <a:pPr algn="r"/>
              <a:r>
                <a:rPr lang="en-US" sz="1280" b="1" dirty="0">
                  <a:solidFill>
                    <a:schemeClr val="dk1"/>
                  </a:solidFill>
                  <a:latin typeface="+mn-lt"/>
                  <a:ea typeface="+mn-ea"/>
                  <a:cs typeface="+mn-cs"/>
                </a:rPr>
                <a:t>~5,900</a:t>
              </a:r>
            </a:p>
          </p:txBody>
        </p:sp>
        <p:sp>
          <p:nvSpPr>
            <p:cNvPr id="28" name="TextBox 28"/>
            <p:cNvSpPr txBox="1"/>
            <p:nvPr/>
          </p:nvSpPr>
          <p:spPr>
            <a:xfrm>
              <a:off x="1023366" y="4230052"/>
              <a:ext cx="390250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Sizes span an order of magnitude, stressing scalability.</a:t>
              </a:r>
            </a:p>
          </p:txBody>
        </p:sp>
      </p:grpSp>
      <p:grpSp>
        <p:nvGrpSpPr>
          <p:cNvPr id="38" name="Group 38"/>
          <p:cNvGrpSpPr/>
          <p:nvPr/>
        </p:nvGrpSpPr>
        <p:grpSpPr>
          <a:xfrm>
            <a:off x="762000" y="4629150"/>
            <a:ext cx="5905500" cy="1447800"/>
            <a:chOff x="762000" y="4629150"/>
            <a:chExt cx="5905500" cy="1447800"/>
          </a:xfrm>
        </p:grpSpPr>
        <p:sp>
          <p:nvSpPr>
            <p:cNvPr id="30" name="Rectangle 30"/>
            <p:cNvSpPr/>
            <p:nvPr/>
          </p:nvSpPr>
          <p:spPr>
            <a:xfrm>
              <a:off x="762000" y="4629150"/>
              <a:ext cx="5905500" cy="1447800"/>
            </a:xfrm>
            <a:prstGeom prst="roundRect">
              <a:avLst>
                <a:gd name="adj" fmla="val 7895"/>
              </a:avLst>
            </a:prstGeom>
            <a:solidFill>
              <a:schemeClr val="lt2"/>
            </a:solidFill>
            <a:ln>
              <a:noFill/>
            </a:ln>
          </p:spPr>
        </p:sp>
        <p:sp>
          <p:nvSpPr>
            <p:cNvPr id="31" name="TextBox 31"/>
            <p:cNvSpPr txBox="1"/>
            <p:nvPr/>
          </p:nvSpPr>
          <p:spPr>
            <a:xfrm>
              <a:off x="1022985" y="4850606"/>
              <a:ext cx="855568"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HARDWARE</a:t>
              </a:r>
            </a:p>
          </p:txBody>
        </p:sp>
        <p:sp>
          <p:nvSpPr>
            <p:cNvPr id="32" name="Rectangle 32"/>
            <p:cNvSpPr/>
            <p:nvPr/>
          </p:nvSpPr>
          <p:spPr>
            <a:xfrm>
              <a:off x="1028700" y="5124450"/>
              <a:ext cx="2647950" cy="781050"/>
            </a:xfrm>
            <a:prstGeom prst="roundRect">
              <a:avLst>
                <a:gd name="adj" fmla="val 9756"/>
              </a:avLst>
            </a:prstGeom>
            <a:solidFill>
              <a:schemeClr val="lt1"/>
            </a:solidFill>
            <a:ln w="9525">
              <a:solidFill>
                <a:schemeClr val="accent4"/>
              </a:solidFill>
            </a:ln>
          </p:spPr>
        </p:sp>
        <p:sp>
          <p:nvSpPr>
            <p:cNvPr id="33" name="TextBox 33"/>
            <p:cNvSpPr txBox="1"/>
            <p:nvPr/>
          </p:nvSpPr>
          <p:spPr>
            <a:xfrm>
              <a:off x="1591798" y="5211128"/>
              <a:ext cx="1521755" cy="498729"/>
            </a:xfrm>
            <a:prstGeom prst="rect">
              <a:avLst/>
            </a:prstGeom>
            <a:noFill/>
            <a:ln>
              <a:noFill/>
            </a:ln>
          </p:spPr>
          <p:txBody>
            <a:bodyPr wrap="none" lIns="0" tIns="0" rIns="0" bIns="0" anchor="t" anchorCtr="0">
              <a:spAutoFit/>
            </a:bodyPr>
            <a:lstStyle/>
            <a:p>
              <a:pPr algn="ctr"/>
              <a:r>
                <a:rPr lang="en-US" sz="2550" b="1" dirty="0">
                  <a:solidFill>
                    <a:schemeClr val="accent1"/>
                  </a:solidFill>
                  <a:latin typeface="+mn-lt"/>
                  <a:ea typeface="+mn-ea"/>
                  <a:cs typeface="+mn-cs"/>
                </a:rPr>
                <a:t>16 cores</a:t>
              </a:r>
            </a:p>
          </p:txBody>
        </p:sp>
        <p:sp>
          <p:nvSpPr>
            <p:cNvPr id="34" name="TextBox 34"/>
            <p:cNvSpPr txBox="1"/>
            <p:nvPr/>
          </p:nvSpPr>
          <p:spPr>
            <a:xfrm>
              <a:off x="1740362" y="5612606"/>
              <a:ext cx="1224625"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CPU workstation</a:t>
              </a:r>
            </a:p>
          </p:txBody>
        </p:sp>
        <p:sp>
          <p:nvSpPr>
            <p:cNvPr id="35" name="Rectangle 35"/>
            <p:cNvSpPr/>
            <p:nvPr/>
          </p:nvSpPr>
          <p:spPr>
            <a:xfrm>
              <a:off x="3790950" y="5124450"/>
              <a:ext cx="2647950" cy="781050"/>
            </a:xfrm>
            <a:prstGeom prst="roundRect">
              <a:avLst>
                <a:gd name="adj" fmla="val 9756"/>
              </a:avLst>
            </a:prstGeom>
            <a:solidFill>
              <a:schemeClr val="lt1"/>
            </a:solidFill>
            <a:ln w="9525">
              <a:solidFill>
                <a:schemeClr val="accent4"/>
              </a:solidFill>
            </a:ln>
          </p:spPr>
        </p:sp>
        <p:sp>
          <p:nvSpPr>
            <p:cNvPr id="36" name="TextBox 36"/>
            <p:cNvSpPr txBox="1"/>
            <p:nvPr/>
          </p:nvSpPr>
          <p:spPr>
            <a:xfrm>
              <a:off x="4625912" y="5211128"/>
              <a:ext cx="978027" cy="498729"/>
            </a:xfrm>
            <a:prstGeom prst="rect">
              <a:avLst/>
            </a:prstGeom>
            <a:noFill/>
            <a:ln>
              <a:noFill/>
            </a:ln>
          </p:spPr>
          <p:txBody>
            <a:bodyPr wrap="none" lIns="0" tIns="0" rIns="0" bIns="0" anchor="t" anchorCtr="0">
              <a:spAutoFit/>
            </a:bodyPr>
            <a:lstStyle/>
            <a:p>
              <a:pPr algn="ctr"/>
              <a:r>
                <a:rPr lang="en-US" sz="2550" b="1" dirty="0">
                  <a:solidFill>
                    <a:schemeClr val="accent1"/>
                  </a:solidFill>
                  <a:latin typeface="+mn-lt"/>
                  <a:ea typeface="+mn-ea"/>
                  <a:cs typeface="+mn-cs"/>
                </a:rPr>
                <a:t>32 GB</a:t>
              </a:r>
            </a:p>
          </p:txBody>
        </p:sp>
        <p:sp>
          <p:nvSpPr>
            <p:cNvPr id="37" name="TextBox 37"/>
            <p:cNvSpPr txBox="1"/>
            <p:nvPr/>
          </p:nvSpPr>
          <p:spPr>
            <a:xfrm>
              <a:off x="4675236" y="5612606"/>
              <a:ext cx="879378"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system RAM</a:t>
              </a:r>
            </a:p>
          </p:txBody>
        </p:sp>
      </p:grpSp>
      <p:grpSp>
        <p:nvGrpSpPr>
          <p:cNvPr id="50" name="Group 50"/>
          <p:cNvGrpSpPr/>
          <p:nvPr/>
        </p:nvGrpSpPr>
        <p:grpSpPr>
          <a:xfrm>
            <a:off x="6477000" y="1733550"/>
            <a:ext cx="4953000" cy="1885950"/>
            <a:chOff x="6477000" y="1733550"/>
            <a:chExt cx="4953000" cy="1885950"/>
          </a:xfrm>
        </p:grpSpPr>
        <p:sp>
          <p:nvSpPr>
            <p:cNvPr id="39" name="Rectangle 39"/>
            <p:cNvSpPr/>
            <p:nvPr/>
          </p:nvSpPr>
          <p:spPr>
            <a:xfrm>
              <a:off x="6477000" y="1733550"/>
              <a:ext cx="4953000" cy="1885950"/>
            </a:xfrm>
            <a:prstGeom prst="roundRect">
              <a:avLst>
                <a:gd name="adj" fmla="val 6061"/>
              </a:avLst>
            </a:prstGeom>
            <a:solidFill>
              <a:srgbClr val="E1F3F0"/>
            </a:solidFill>
            <a:ln w="9525">
              <a:solidFill>
                <a:srgbClr val="B7E2DA"/>
              </a:solidFill>
            </a:ln>
          </p:spPr>
        </p:sp>
        <p:sp>
          <p:nvSpPr>
            <p:cNvPr id="40" name="Rectangle 40"/>
            <p:cNvSpPr/>
            <p:nvPr/>
          </p:nvSpPr>
          <p:spPr>
            <a:xfrm>
              <a:off x="6477000" y="1733550"/>
              <a:ext cx="57150" cy="1885950"/>
            </a:xfrm>
            <a:prstGeom prst="roundRect">
              <a:avLst>
                <a:gd name="adj" fmla="val 50000"/>
              </a:avLst>
            </a:prstGeom>
            <a:solidFill>
              <a:schemeClr val="accent2"/>
            </a:solidFill>
            <a:ln>
              <a:noFill/>
            </a:ln>
          </p:spPr>
        </p:sp>
        <p:sp>
          <p:nvSpPr>
            <p:cNvPr id="41" name="TextBox 41"/>
            <p:cNvSpPr txBox="1"/>
            <p:nvPr/>
          </p:nvSpPr>
          <p:spPr>
            <a:xfrm>
              <a:off x="6736461" y="1903571"/>
              <a:ext cx="272108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real-world compute graph</a:t>
              </a:r>
            </a:p>
          </p:txBody>
        </p:sp>
        <p:sp>
          <p:nvSpPr>
            <p:cNvPr id="42" name="TextBox 42"/>
            <p:cNvSpPr txBox="1"/>
            <p:nvPr/>
          </p:nvSpPr>
          <p:spPr>
            <a:xfrm>
              <a:off x="6737604" y="2232660"/>
              <a:ext cx="324020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Used for the headline comparison against</a:t>
              </a:r>
            </a:p>
          </p:txBody>
        </p:sp>
        <p:sp>
          <p:nvSpPr>
            <p:cNvPr id="43" name="TextBox 43"/>
            <p:cNvSpPr txBox="1"/>
            <p:nvPr/>
          </p:nvSpPr>
          <p:spPr>
            <a:xfrm>
              <a:off x="6737604" y="2442210"/>
              <a:ext cx="93878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Checkmate.</a:t>
              </a:r>
            </a:p>
          </p:txBody>
        </p:sp>
        <p:sp>
          <p:nvSpPr>
            <p:cNvPr id="44" name="Rectangle 44"/>
            <p:cNvSpPr/>
            <p:nvPr/>
          </p:nvSpPr>
          <p:spPr>
            <a:xfrm>
              <a:off x="6743700" y="2762250"/>
              <a:ext cx="2190750" cy="685800"/>
            </a:xfrm>
            <a:prstGeom prst="roundRect">
              <a:avLst>
                <a:gd name="adj" fmla="val 11111"/>
              </a:avLst>
            </a:prstGeom>
            <a:solidFill>
              <a:schemeClr val="lt1"/>
            </a:solidFill>
            <a:ln w="9525">
              <a:solidFill>
                <a:srgbClr val="B7E2DA"/>
              </a:solidFill>
            </a:ln>
          </p:spPr>
        </p:sp>
        <p:sp>
          <p:nvSpPr>
            <p:cNvPr id="45" name="TextBox 45"/>
            <p:cNvSpPr txBox="1"/>
            <p:nvPr/>
          </p:nvSpPr>
          <p:spPr>
            <a:xfrm>
              <a:off x="7565262" y="2862262"/>
              <a:ext cx="547626"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442</a:t>
              </a:r>
            </a:p>
          </p:txBody>
        </p:sp>
        <p:sp>
          <p:nvSpPr>
            <p:cNvPr id="46" name="TextBox 46"/>
            <p:cNvSpPr txBox="1"/>
            <p:nvPr/>
          </p:nvSpPr>
          <p:spPr>
            <a:xfrm>
              <a:off x="7639383" y="3220402"/>
              <a:ext cx="399383"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nodes</a:t>
              </a:r>
            </a:p>
          </p:txBody>
        </p:sp>
        <p:sp>
          <p:nvSpPr>
            <p:cNvPr id="47" name="Rectangle 47"/>
            <p:cNvSpPr/>
            <p:nvPr/>
          </p:nvSpPr>
          <p:spPr>
            <a:xfrm>
              <a:off x="9048750" y="2762250"/>
              <a:ext cx="2190750" cy="685800"/>
            </a:xfrm>
            <a:prstGeom prst="roundRect">
              <a:avLst>
                <a:gd name="adj" fmla="val 11111"/>
              </a:avLst>
            </a:prstGeom>
            <a:solidFill>
              <a:schemeClr val="lt1"/>
            </a:solidFill>
            <a:ln w="9525">
              <a:solidFill>
                <a:srgbClr val="B7E2DA"/>
              </a:solidFill>
            </a:ln>
          </p:spPr>
        </p:sp>
        <p:sp>
          <p:nvSpPr>
            <p:cNvPr id="48" name="TextBox 48"/>
            <p:cNvSpPr txBox="1"/>
            <p:nvPr/>
          </p:nvSpPr>
          <p:spPr>
            <a:xfrm>
              <a:off x="9607929" y="2862262"/>
              <a:ext cx="1072391"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1,200+</a:t>
              </a:r>
            </a:p>
          </p:txBody>
        </p:sp>
        <p:sp>
          <p:nvSpPr>
            <p:cNvPr id="49" name="TextBox 49"/>
            <p:cNvSpPr txBox="1"/>
            <p:nvPr/>
          </p:nvSpPr>
          <p:spPr>
            <a:xfrm>
              <a:off x="9944433" y="3220402"/>
              <a:ext cx="399383"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edges</a:t>
              </a:r>
            </a:p>
          </p:txBody>
        </p:sp>
      </p:grpSp>
      <p:grpSp>
        <p:nvGrpSpPr>
          <p:cNvPr id="63" name="Group 63"/>
          <p:cNvGrpSpPr/>
          <p:nvPr/>
        </p:nvGrpSpPr>
        <p:grpSpPr>
          <a:xfrm>
            <a:off x="6477000" y="3771900"/>
            <a:ext cx="5863877" cy="2305050"/>
            <a:chOff x="6477000" y="3771900"/>
            <a:chExt cx="5863877" cy="2305050"/>
          </a:xfrm>
        </p:grpSpPr>
        <p:sp>
          <p:nvSpPr>
            <p:cNvPr id="51" name="Rectangle 51"/>
            <p:cNvSpPr/>
            <p:nvPr/>
          </p:nvSpPr>
          <p:spPr>
            <a:xfrm>
              <a:off x="6477000" y="3771900"/>
              <a:ext cx="4953000" cy="2305050"/>
            </a:xfrm>
            <a:prstGeom prst="roundRect">
              <a:avLst>
                <a:gd name="adj" fmla="val 4959"/>
              </a:avLst>
            </a:prstGeom>
            <a:solidFill>
              <a:schemeClr val="accent5"/>
            </a:solidFill>
            <a:ln w="9525">
              <a:solidFill>
                <a:schemeClr val="accent4"/>
              </a:solidFill>
            </a:ln>
          </p:spPr>
        </p:sp>
        <p:sp>
          <p:nvSpPr>
            <p:cNvPr id="52" name="Rectangle 52"/>
            <p:cNvSpPr/>
            <p:nvPr/>
          </p:nvSpPr>
          <p:spPr>
            <a:xfrm>
              <a:off x="6477000" y="3771900"/>
              <a:ext cx="57150" cy="2305050"/>
            </a:xfrm>
            <a:prstGeom prst="roundRect">
              <a:avLst>
                <a:gd name="adj" fmla="val 50000"/>
              </a:avLst>
            </a:prstGeom>
            <a:solidFill>
              <a:schemeClr val="accent3"/>
            </a:solidFill>
            <a:ln>
              <a:noFill/>
            </a:ln>
          </p:spPr>
        </p:sp>
        <p:sp>
          <p:nvSpPr>
            <p:cNvPr id="53" name="TextBox 53"/>
            <p:cNvSpPr txBox="1"/>
            <p:nvPr/>
          </p:nvSpPr>
          <p:spPr>
            <a:xfrm>
              <a:off x="6736461" y="3941921"/>
              <a:ext cx="386503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Tight memory budgets force recompute</a:t>
              </a:r>
            </a:p>
          </p:txBody>
        </p:sp>
        <p:sp>
          <p:nvSpPr>
            <p:cNvPr id="54" name="TextBox 54"/>
            <p:cNvSpPr txBox="1"/>
            <p:nvPr/>
          </p:nvSpPr>
          <p:spPr>
            <a:xfrm>
              <a:off x="6737604" y="4271010"/>
              <a:ext cx="367708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Budget = a fraction of the peak memory of the</a:t>
              </a:r>
            </a:p>
          </p:txBody>
        </p:sp>
        <p:sp>
          <p:nvSpPr>
            <p:cNvPr id="55" name="TextBox 55"/>
            <p:cNvSpPr txBox="1"/>
            <p:nvPr/>
          </p:nvSpPr>
          <p:spPr>
            <a:xfrm>
              <a:off x="6737604" y="4480560"/>
              <a:ext cx="311383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initial schedule (no rematerialization).</a:t>
              </a:r>
            </a:p>
          </p:txBody>
        </p:sp>
        <p:sp>
          <p:nvSpPr>
            <p:cNvPr id="56" name="Rectangle 56"/>
            <p:cNvSpPr/>
            <p:nvPr/>
          </p:nvSpPr>
          <p:spPr>
            <a:xfrm>
              <a:off x="6743700" y="4781550"/>
              <a:ext cx="2114550" cy="742950"/>
            </a:xfrm>
            <a:prstGeom prst="roundRect">
              <a:avLst>
                <a:gd name="adj" fmla="val 10256"/>
              </a:avLst>
            </a:prstGeom>
            <a:solidFill>
              <a:srgbClr val="FBE9E2"/>
            </a:solidFill>
            <a:ln w="9525">
              <a:solidFill>
                <a:srgbClr val="F2C6B4"/>
              </a:solidFill>
            </a:ln>
          </p:spPr>
        </p:sp>
        <p:sp>
          <p:nvSpPr>
            <p:cNvPr id="57" name="TextBox 57"/>
            <p:cNvSpPr txBox="1"/>
            <p:nvPr/>
          </p:nvSpPr>
          <p:spPr>
            <a:xfrm>
              <a:off x="7434235" y="4890135"/>
              <a:ext cx="733480" cy="528066"/>
            </a:xfrm>
            <a:prstGeom prst="rect">
              <a:avLst/>
            </a:prstGeom>
            <a:noFill/>
            <a:ln>
              <a:noFill/>
            </a:ln>
          </p:spPr>
          <p:txBody>
            <a:bodyPr wrap="none" lIns="0" tIns="0" rIns="0" bIns="0" anchor="t" anchorCtr="0">
              <a:spAutoFit/>
            </a:bodyPr>
            <a:lstStyle/>
            <a:p>
              <a:pPr algn="ctr"/>
              <a:r>
                <a:rPr lang="en-US" sz="2700" b="1" dirty="0">
                  <a:solidFill>
                    <a:schemeClr val="accent3"/>
                  </a:solidFill>
                  <a:latin typeface="+mn-lt"/>
                  <a:ea typeface="+mn-ea"/>
                  <a:cs typeface="+mn-cs"/>
                </a:rPr>
                <a:t>80%</a:t>
              </a:r>
            </a:p>
          </p:txBody>
        </p:sp>
        <p:sp>
          <p:nvSpPr>
            <p:cNvPr id="58" name="TextBox 58"/>
            <p:cNvSpPr txBox="1"/>
            <p:nvPr/>
          </p:nvSpPr>
          <p:spPr>
            <a:xfrm>
              <a:off x="7258507" y="5296852"/>
              <a:ext cx="108493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of peak memory</a:t>
              </a:r>
            </a:p>
          </p:txBody>
        </p:sp>
        <p:sp>
          <p:nvSpPr>
            <p:cNvPr id="59" name="Rectangle 59"/>
            <p:cNvSpPr/>
            <p:nvPr/>
          </p:nvSpPr>
          <p:spPr>
            <a:xfrm>
              <a:off x="8972550" y="4781550"/>
              <a:ext cx="2114550" cy="742950"/>
            </a:xfrm>
            <a:prstGeom prst="roundRect">
              <a:avLst>
                <a:gd name="adj" fmla="val 10256"/>
              </a:avLst>
            </a:prstGeom>
            <a:solidFill>
              <a:srgbClr val="FBE9E2"/>
            </a:solidFill>
            <a:ln w="9525">
              <a:solidFill>
                <a:srgbClr val="F2C6B4"/>
              </a:solidFill>
            </a:ln>
          </p:spPr>
        </p:sp>
        <p:sp>
          <p:nvSpPr>
            <p:cNvPr id="60" name="TextBox 60"/>
            <p:cNvSpPr txBox="1"/>
            <p:nvPr/>
          </p:nvSpPr>
          <p:spPr>
            <a:xfrm>
              <a:off x="9663085" y="4890135"/>
              <a:ext cx="733480" cy="528066"/>
            </a:xfrm>
            <a:prstGeom prst="rect">
              <a:avLst/>
            </a:prstGeom>
            <a:noFill/>
            <a:ln>
              <a:noFill/>
            </a:ln>
          </p:spPr>
          <p:txBody>
            <a:bodyPr wrap="none" lIns="0" tIns="0" rIns="0" bIns="0" anchor="t" anchorCtr="0">
              <a:spAutoFit/>
            </a:bodyPr>
            <a:lstStyle/>
            <a:p>
              <a:pPr algn="ctr"/>
              <a:r>
                <a:rPr lang="en-US" sz="2700" b="1" dirty="0">
                  <a:solidFill>
                    <a:schemeClr val="accent3"/>
                  </a:solidFill>
                  <a:latin typeface="+mn-lt"/>
                  <a:ea typeface="+mn-ea"/>
                  <a:cs typeface="+mn-cs"/>
                </a:rPr>
                <a:t>90%</a:t>
              </a:r>
            </a:p>
          </p:txBody>
        </p:sp>
        <p:sp>
          <p:nvSpPr>
            <p:cNvPr id="61" name="TextBox 61"/>
            <p:cNvSpPr txBox="1"/>
            <p:nvPr/>
          </p:nvSpPr>
          <p:spPr>
            <a:xfrm>
              <a:off x="9487357" y="5296852"/>
              <a:ext cx="108493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of peak memory</a:t>
              </a:r>
            </a:p>
          </p:txBody>
        </p:sp>
        <p:sp>
          <p:nvSpPr>
            <p:cNvPr id="62" name="TextBox 62"/>
            <p:cNvSpPr txBox="1"/>
            <p:nvPr/>
          </p:nvSpPr>
          <p:spPr>
            <a:xfrm>
              <a:off x="6737985" y="5707856"/>
              <a:ext cx="560289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Both settings force the solver to recompute tensors, not just store them.</a:t>
              </a:r>
            </a:p>
          </p:txBody>
        </p:sp>
      </p:grpSp>
      <p:grpSp>
        <p:nvGrpSpPr>
          <p:cNvPr id="66" name="Group 66"/>
          <p:cNvGrpSpPr/>
          <p:nvPr/>
        </p:nvGrpSpPr>
        <p:grpSpPr>
          <a:xfrm>
            <a:off x="757238" y="6570345"/>
            <a:ext cx="10677524" cy="176212"/>
            <a:chOff x="757238" y="6570345"/>
            <a:chExt cx="10677524" cy="176212"/>
          </a:xfrm>
        </p:grpSpPr>
        <p:sp>
          <p:nvSpPr>
            <p:cNvPr id="64" name="TextBox 64"/>
            <p:cNvSpPr txBox="1"/>
            <p:nvPr/>
          </p:nvSpPr>
          <p:spPr>
            <a:xfrm>
              <a:off x="757238" y="6570345"/>
              <a:ext cx="126828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Moccasin · ICML 2023</a:t>
              </a:r>
            </a:p>
          </p:txBody>
        </p:sp>
        <p:sp>
          <p:nvSpPr>
            <p:cNvPr id="65" name="TextBox 65"/>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06 / 10</a:t>
              </a:r>
            </a:p>
          </p:txBody>
        </p:sp>
      </p:grpSp>
      <p:sp>
        <p:nvSpPr>
          <p:cNvPr id="67" name="cue_s06_c1_evaluation_range_compute_graphs_main" title="cue_s06_c1_evaluation_range_compute_graphs_main" descr="cue_s06_c1_evaluation_range_compute_graphs_main The evaluation uses a range of compute graphs. The main scaling study is on four random layered graphs, G1 through G4, whose sizes grow from one hundred nodes and a couple hundred edges up to one thousand nodes and nearly six thousand edges."/>
          <p:cNvSpPr/>
          <p:nvPr/>
        </p:nvSpPr>
        <p:spPr>
          <a:xfrm>
            <a:off x="762000" y="1733702"/>
            <a:ext cx="5905804" cy="27432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6_c2_also_real_world_compute_graph_four" title="cue_s06_c2_also_real_world_compute_graph_four" descr="cue_s06_c2_also_real_world_compute_graph_four There is also a real-world compute graph with four hundred forty-two nodes and over twelve hundred edges used for the headline comparison."/>
          <p:cNvSpPr/>
          <p:nvPr/>
        </p:nvSpPr>
        <p:spPr>
          <a:xfrm>
            <a:off x="6476390" y="1733702"/>
            <a:ext cx="49523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ue_s06_c3_every_graph_memory_budget_set" title="cue_s06_c3_every_graph_memory_budget_set" descr="cue_s06_c3_every_graph_memory_budget_set For every graph the memory budget is set to eighty and ninety percent of the peak memory of the initial schedule without rematerialization, so the solver is forced to actually recompute tensors."/>
          <p:cNvSpPr/>
          <p:nvPr/>
        </p:nvSpPr>
        <p:spPr>
          <a:xfrm>
            <a:off x="6476390" y="3771900"/>
            <a:ext cx="4952390" cy="23049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6_c4_all_experiments_run_sixteen_core_wor" title="cue_s06_c4_all_experiments_run_sixteen_core_wor" descr="cue_s06_c4_all_experiments_run_sixteen_core_wor All experiments run on a sixteen-core workstation with thirty-two gigabytes of RAM."/>
          <p:cNvSpPr/>
          <p:nvPr/>
        </p:nvSpPr>
        <p:spPr>
          <a:xfrm>
            <a:off x="762000" y="4629150"/>
            <a:ext cx="5905804"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427" y="572452"/>
            <a:ext cx="10680573" cy="865823"/>
            <a:chOff x="749427" y="572452"/>
            <a:chExt cx="10680573"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48551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07 · KEY RESULT</a:t>
              </a:r>
            </a:p>
          </p:txBody>
        </p:sp>
        <p:sp>
          <p:nvSpPr>
            <p:cNvPr id="4" name="TextBox 4"/>
            <p:cNvSpPr txBox="1"/>
            <p:nvPr/>
          </p:nvSpPr>
          <p:spPr>
            <a:xfrm>
              <a:off x="749427" y="875824"/>
              <a:ext cx="8848258"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Up to an order of magnitude faster than Checkmate</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31" name="Group 31"/>
          <p:cNvGrpSpPr/>
          <p:nvPr/>
        </p:nvGrpSpPr>
        <p:grpSpPr>
          <a:xfrm>
            <a:off x="745551" y="1733550"/>
            <a:ext cx="5274249" cy="4343400"/>
            <a:chOff x="745551" y="1733550"/>
            <a:chExt cx="5274249" cy="4343400"/>
          </a:xfrm>
        </p:grpSpPr>
        <p:sp>
          <p:nvSpPr>
            <p:cNvPr id="7" name="Rectangle 7"/>
            <p:cNvSpPr/>
            <p:nvPr/>
          </p:nvSpPr>
          <p:spPr>
            <a:xfrm>
              <a:off x="762000" y="1733550"/>
              <a:ext cx="5257800" cy="4343400"/>
            </a:xfrm>
            <a:prstGeom prst="roundRect">
              <a:avLst>
                <a:gd name="adj" fmla="val 2632"/>
              </a:avLst>
            </a:prstGeom>
            <a:solidFill>
              <a:schemeClr val="accent5"/>
            </a:solidFill>
            <a:ln w="9525">
              <a:solidFill>
                <a:schemeClr val="accent4"/>
              </a:solidFill>
            </a:ln>
          </p:spPr>
        </p:sp>
        <p:sp>
          <p:nvSpPr>
            <p:cNvPr id="8" name="TextBox 8"/>
            <p:cNvSpPr txBox="1"/>
            <p:nvPr/>
          </p:nvSpPr>
          <p:spPr>
            <a:xfrm>
              <a:off x="1022985" y="1916906"/>
              <a:ext cx="3857228"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SOLVE TIME vs GRAPH SIZE (lower is better)</a:t>
              </a:r>
            </a:p>
          </p:txBody>
        </p:sp>
        <p:sp>
          <p:nvSpPr>
            <p:cNvPr id="9" name="Line 9"/>
            <p:cNvSpPr/>
            <p:nvPr/>
          </p:nvSpPr>
          <p:spPr>
            <a:xfrm>
              <a:off x="1257300" y="5334000"/>
              <a:ext cx="4533900" cy="9525"/>
            </a:xfrm>
            <a:custGeom>
              <a:avLst/>
              <a:gdLst/>
              <a:ahLst/>
              <a:cxnLst/>
              <a:rect l="l" t="t" r="r" b="b"/>
              <a:pathLst>
                <a:path w="4533900" h="9525">
                  <a:moveTo>
                    <a:pt x="0" y="0"/>
                  </a:moveTo>
                  <a:lnTo>
                    <a:pt x="4533900" y="0"/>
                  </a:lnTo>
                </a:path>
              </a:pathLst>
            </a:custGeom>
            <a:noFill/>
            <a:ln w="14288">
              <a:solidFill>
                <a:srgbClr val="C6CED9"/>
              </a:solidFill>
            </a:ln>
          </p:spPr>
        </p:sp>
        <p:sp>
          <p:nvSpPr>
            <p:cNvPr id="10" name="Line 10"/>
            <p:cNvSpPr/>
            <p:nvPr/>
          </p:nvSpPr>
          <p:spPr>
            <a:xfrm>
              <a:off x="1257300" y="2381250"/>
              <a:ext cx="9525" cy="2952750"/>
            </a:xfrm>
            <a:custGeom>
              <a:avLst/>
              <a:gdLst/>
              <a:ahLst/>
              <a:cxnLst/>
              <a:rect l="l" t="t" r="r" b="b"/>
              <a:pathLst>
                <a:path w="9525" h="2952750">
                  <a:moveTo>
                    <a:pt x="0" y="0"/>
                  </a:moveTo>
                  <a:lnTo>
                    <a:pt x="0" y="2952750"/>
                  </a:lnTo>
                </a:path>
              </a:pathLst>
            </a:custGeom>
            <a:noFill/>
            <a:ln w="14288">
              <a:solidFill>
                <a:srgbClr val="C6CED9"/>
              </a:solidFill>
            </a:ln>
          </p:spPr>
        </p:sp>
        <p:sp>
          <p:nvSpPr>
            <p:cNvPr id="11" name="TextBox 11"/>
            <p:cNvSpPr txBox="1"/>
            <p:nvPr/>
          </p:nvSpPr>
          <p:spPr>
            <a:xfrm rot="-5400000">
              <a:off x="745551" y="3762280"/>
              <a:ext cx="775086"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solve time →</a:t>
              </a:r>
            </a:p>
          </p:txBody>
        </p:sp>
        <p:sp>
          <p:nvSpPr>
            <p:cNvPr id="12" name="Rectangle 12"/>
            <p:cNvSpPr/>
            <p:nvPr/>
          </p:nvSpPr>
          <p:spPr>
            <a:xfrm>
              <a:off x="1600200" y="4876800"/>
              <a:ext cx="381000" cy="457200"/>
            </a:xfrm>
            <a:prstGeom prst="rect">
              <a:avLst/>
            </a:prstGeom>
            <a:solidFill>
              <a:srgbClr val="8A97A8"/>
            </a:solidFill>
            <a:ln>
              <a:noFill/>
            </a:ln>
          </p:spPr>
        </p:sp>
        <p:sp>
          <p:nvSpPr>
            <p:cNvPr id="13" name="Rectangle 13"/>
            <p:cNvSpPr/>
            <p:nvPr/>
          </p:nvSpPr>
          <p:spPr>
            <a:xfrm>
              <a:off x="2019300" y="4953000"/>
              <a:ext cx="381000" cy="381000"/>
            </a:xfrm>
            <a:prstGeom prst="rect">
              <a:avLst/>
            </a:prstGeom>
            <a:solidFill>
              <a:schemeClr val="accent1"/>
            </a:solidFill>
            <a:ln>
              <a:noFill/>
            </a:ln>
          </p:spPr>
        </p:sp>
        <p:sp>
          <p:nvSpPr>
            <p:cNvPr id="14" name="TextBox 14"/>
            <p:cNvSpPr txBox="1"/>
            <p:nvPr/>
          </p:nvSpPr>
          <p:spPr>
            <a:xfrm>
              <a:off x="1850177" y="5457349"/>
              <a:ext cx="300147"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~100</a:t>
              </a:r>
            </a:p>
          </p:txBody>
        </p:sp>
        <p:sp>
          <p:nvSpPr>
            <p:cNvPr id="15" name="Rectangle 15"/>
            <p:cNvSpPr/>
            <p:nvPr/>
          </p:nvSpPr>
          <p:spPr>
            <a:xfrm>
              <a:off x="2743200" y="3810000"/>
              <a:ext cx="381000" cy="1524000"/>
            </a:xfrm>
            <a:prstGeom prst="rect">
              <a:avLst/>
            </a:prstGeom>
            <a:solidFill>
              <a:srgbClr val="8A97A8"/>
            </a:solidFill>
            <a:ln>
              <a:noFill/>
            </a:ln>
          </p:spPr>
        </p:sp>
        <p:sp>
          <p:nvSpPr>
            <p:cNvPr id="16" name="Rectangle 16"/>
            <p:cNvSpPr/>
            <p:nvPr/>
          </p:nvSpPr>
          <p:spPr>
            <a:xfrm>
              <a:off x="3162300" y="4991100"/>
              <a:ext cx="381000" cy="342900"/>
            </a:xfrm>
            <a:prstGeom prst="rect">
              <a:avLst/>
            </a:prstGeom>
            <a:solidFill>
              <a:schemeClr val="accent1"/>
            </a:solidFill>
            <a:ln>
              <a:noFill/>
            </a:ln>
          </p:spPr>
        </p:sp>
        <p:sp>
          <p:nvSpPr>
            <p:cNvPr id="17" name="TextBox 17"/>
            <p:cNvSpPr txBox="1"/>
            <p:nvPr/>
          </p:nvSpPr>
          <p:spPr>
            <a:xfrm>
              <a:off x="3029457" y="5457349"/>
              <a:ext cx="227587"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250</a:t>
              </a:r>
            </a:p>
          </p:txBody>
        </p:sp>
        <p:sp>
          <p:nvSpPr>
            <p:cNvPr id="18" name="Rectangle 18"/>
            <p:cNvSpPr/>
            <p:nvPr/>
          </p:nvSpPr>
          <p:spPr>
            <a:xfrm>
              <a:off x="3886200" y="2762250"/>
              <a:ext cx="381000" cy="2571750"/>
            </a:xfrm>
            <a:prstGeom prst="rect">
              <a:avLst/>
            </a:prstGeom>
            <a:solidFill>
              <a:schemeClr val="accent3"/>
            </a:solidFill>
            <a:ln>
              <a:noFill/>
            </a:ln>
          </p:spPr>
        </p:sp>
        <p:sp>
          <p:nvSpPr>
            <p:cNvPr id="19" name="TextBox 19"/>
            <p:cNvSpPr txBox="1"/>
            <p:nvPr/>
          </p:nvSpPr>
          <p:spPr>
            <a:xfrm>
              <a:off x="3830227" y="2569845"/>
              <a:ext cx="492945" cy="176212"/>
            </a:xfrm>
            <a:prstGeom prst="rect">
              <a:avLst/>
            </a:prstGeom>
            <a:noFill/>
            <a:ln>
              <a:noFill/>
            </a:ln>
          </p:spPr>
          <p:txBody>
            <a:bodyPr wrap="none" lIns="0" tIns="0" rIns="0" bIns="0" anchor="t" anchorCtr="0">
              <a:spAutoFit/>
            </a:bodyPr>
            <a:lstStyle/>
            <a:p>
              <a:pPr algn="ctr"/>
              <a:r>
                <a:rPr lang="en-US" sz="900" b="1" dirty="0">
                  <a:solidFill>
                    <a:schemeClr val="accent3"/>
                  </a:solidFill>
                  <a:latin typeface="+mn-lt"/>
                  <a:ea typeface="+mn-ea"/>
                  <a:cs typeface="+mn-cs"/>
                </a:rPr>
                <a:t>timeout</a:t>
              </a:r>
            </a:p>
          </p:txBody>
        </p:sp>
        <p:sp>
          <p:nvSpPr>
            <p:cNvPr id="20" name="Rectangle 20"/>
            <p:cNvSpPr/>
            <p:nvPr/>
          </p:nvSpPr>
          <p:spPr>
            <a:xfrm>
              <a:off x="4305300" y="4762500"/>
              <a:ext cx="381000" cy="571500"/>
            </a:xfrm>
            <a:prstGeom prst="rect">
              <a:avLst/>
            </a:prstGeom>
            <a:solidFill>
              <a:schemeClr val="accent1"/>
            </a:solidFill>
            <a:ln>
              <a:noFill/>
            </a:ln>
          </p:spPr>
        </p:sp>
        <p:sp>
          <p:nvSpPr>
            <p:cNvPr id="21" name="TextBox 21"/>
            <p:cNvSpPr txBox="1"/>
            <p:nvPr/>
          </p:nvSpPr>
          <p:spPr>
            <a:xfrm>
              <a:off x="4172457" y="5457349"/>
              <a:ext cx="227587"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500</a:t>
              </a:r>
            </a:p>
          </p:txBody>
        </p:sp>
        <p:sp>
          <p:nvSpPr>
            <p:cNvPr id="22" name="Rectangle 22"/>
            <p:cNvSpPr/>
            <p:nvPr/>
          </p:nvSpPr>
          <p:spPr>
            <a:xfrm>
              <a:off x="5029200" y="2762250"/>
              <a:ext cx="381000" cy="2571750"/>
            </a:xfrm>
            <a:prstGeom prst="rect">
              <a:avLst/>
            </a:prstGeom>
            <a:solidFill>
              <a:schemeClr val="accent3"/>
            </a:solidFill>
            <a:ln>
              <a:noFill/>
            </a:ln>
          </p:spPr>
        </p:sp>
        <p:sp>
          <p:nvSpPr>
            <p:cNvPr id="23" name="TextBox 23"/>
            <p:cNvSpPr txBox="1"/>
            <p:nvPr/>
          </p:nvSpPr>
          <p:spPr>
            <a:xfrm>
              <a:off x="5063719" y="2569845"/>
              <a:ext cx="311963" cy="176212"/>
            </a:xfrm>
            <a:prstGeom prst="rect">
              <a:avLst/>
            </a:prstGeom>
            <a:noFill/>
            <a:ln>
              <a:noFill/>
            </a:ln>
          </p:spPr>
          <p:txBody>
            <a:bodyPr wrap="none" lIns="0" tIns="0" rIns="0" bIns="0" anchor="t" anchorCtr="0">
              <a:spAutoFit/>
            </a:bodyPr>
            <a:lstStyle/>
            <a:p>
              <a:pPr algn="ctr"/>
              <a:r>
                <a:rPr lang="en-US" sz="900" b="1" dirty="0">
                  <a:solidFill>
                    <a:schemeClr val="accent3"/>
                  </a:solidFill>
                  <a:latin typeface="+mn-lt"/>
                  <a:ea typeface="+mn-ea"/>
                  <a:cs typeface="+mn-cs"/>
                </a:rPr>
                <a:t>OOM</a:t>
              </a:r>
            </a:p>
          </p:txBody>
        </p:sp>
        <p:sp>
          <p:nvSpPr>
            <p:cNvPr id="24" name="Rectangle 24"/>
            <p:cNvSpPr/>
            <p:nvPr/>
          </p:nvSpPr>
          <p:spPr>
            <a:xfrm>
              <a:off x="5448300" y="4629150"/>
              <a:ext cx="381000" cy="704850"/>
            </a:xfrm>
            <a:prstGeom prst="rect">
              <a:avLst/>
            </a:prstGeom>
            <a:solidFill>
              <a:schemeClr val="accent1"/>
            </a:solidFill>
            <a:ln>
              <a:noFill/>
            </a:ln>
          </p:spPr>
        </p:sp>
        <p:sp>
          <p:nvSpPr>
            <p:cNvPr id="25" name="TextBox 25"/>
            <p:cNvSpPr txBox="1"/>
            <p:nvPr/>
          </p:nvSpPr>
          <p:spPr>
            <a:xfrm>
              <a:off x="5242897" y="5457349"/>
              <a:ext cx="372707"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1,000</a:t>
              </a:r>
            </a:p>
          </p:txBody>
        </p:sp>
        <p:sp>
          <p:nvSpPr>
            <p:cNvPr id="26" name="TextBox 26"/>
            <p:cNvSpPr txBox="1"/>
            <p:nvPr/>
          </p:nvSpPr>
          <p:spPr>
            <a:xfrm>
              <a:off x="2896972" y="5715952"/>
              <a:ext cx="1254557"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number of nodes →</a:t>
              </a:r>
            </a:p>
          </p:txBody>
        </p:sp>
        <p:sp>
          <p:nvSpPr>
            <p:cNvPr id="27" name="Rectangle 27"/>
            <p:cNvSpPr/>
            <p:nvPr/>
          </p:nvSpPr>
          <p:spPr>
            <a:xfrm>
              <a:off x="3429000" y="2019300"/>
              <a:ext cx="133350" cy="133350"/>
            </a:xfrm>
            <a:prstGeom prst="rect">
              <a:avLst/>
            </a:prstGeom>
            <a:solidFill>
              <a:srgbClr val="8A97A8"/>
            </a:solidFill>
            <a:ln>
              <a:noFill/>
            </a:ln>
          </p:spPr>
        </p:sp>
        <p:sp>
          <p:nvSpPr>
            <p:cNvPr id="28" name="TextBox 28"/>
            <p:cNvSpPr txBox="1"/>
            <p:nvPr/>
          </p:nvSpPr>
          <p:spPr>
            <a:xfrm>
              <a:off x="3614547" y="2028349"/>
              <a:ext cx="69360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Checkmate</a:t>
              </a:r>
            </a:p>
          </p:txBody>
        </p:sp>
        <p:sp>
          <p:nvSpPr>
            <p:cNvPr id="29" name="Rectangle 29"/>
            <p:cNvSpPr/>
            <p:nvPr/>
          </p:nvSpPr>
          <p:spPr>
            <a:xfrm>
              <a:off x="4476750" y="2019300"/>
              <a:ext cx="133350" cy="133350"/>
            </a:xfrm>
            <a:prstGeom prst="rect">
              <a:avLst/>
            </a:prstGeom>
            <a:solidFill>
              <a:schemeClr val="accent1"/>
            </a:solidFill>
            <a:ln>
              <a:noFill/>
            </a:ln>
          </p:spPr>
        </p:sp>
        <p:sp>
          <p:nvSpPr>
            <p:cNvPr id="30" name="TextBox 30"/>
            <p:cNvSpPr txBox="1"/>
            <p:nvPr/>
          </p:nvSpPr>
          <p:spPr>
            <a:xfrm>
              <a:off x="4662297" y="2028349"/>
              <a:ext cx="58785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Moccasin</a:t>
              </a:r>
            </a:p>
          </p:txBody>
        </p:sp>
      </p:grpSp>
      <p:grpSp>
        <p:nvGrpSpPr>
          <p:cNvPr id="37" name="Group 37"/>
          <p:cNvGrpSpPr/>
          <p:nvPr/>
        </p:nvGrpSpPr>
        <p:grpSpPr>
          <a:xfrm>
            <a:off x="6286500" y="1733550"/>
            <a:ext cx="5143500" cy="1123950"/>
            <a:chOff x="6286500" y="1733550"/>
            <a:chExt cx="5143500" cy="1123950"/>
          </a:xfrm>
        </p:grpSpPr>
        <p:sp>
          <p:nvSpPr>
            <p:cNvPr id="32" name="Rectangle 32"/>
            <p:cNvSpPr/>
            <p:nvPr/>
          </p:nvSpPr>
          <p:spPr>
            <a:xfrm>
              <a:off x="6286500" y="1733550"/>
              <a:ext cx="5143500" cy="1123950"/>
            </a:xfrm>
            <a:prstGeom prst="roundRect">
              <a:avLst>
                <a:gd name="adj" fmla="val 10169"/>
              </a:avLst>
            </a:prstGeom>
            <a:solidFill>
              <a:schemeClr val="accent5"/>
            </a:solidFill>
            <a:ln w="9525">
              <a:solidFill>
                <a:schemeClr val="accent4"/>
              </a:solidFill>
            </a:ln>
          </p:spPr>
        </p:sp>
        <p:sp>
          <p:nvSpPr>
            <p:cNvPr id="33" name="Rectangle 33"/>
            <p:cNvSpPr/>
            <p:nvPr/>
          </p:nvSpPr>
          <p:spPr>
            <a:xfrm>
              <a:off x="6286500" y="1733550"/>
              <a:ext cx="57150" cy="1123950"/>
            </a:xfrm>
            <a:prstGeom prst="roundRect">
              <a:avLst>
                <a:gd name="adj" fmla="val 50000"/>
              </a:avLst>
            </a:prstGeom>
            <a:solidFill>
              <a:srgbClr val="8A97A8"/>
            </a:solidFill>
            <a:ln>
              <a:noFill/>
            </a:ln>
          </p:spPr>
        </p:sp>
        <p:sp>
          <p:nvSpPr>
            <p:cNvPr id="34" name="TextBox 34"/>
            <p:cNvSpPr txBox="1"/>
            <p:nvPr/>
          </p:nvSpPr>
          <p:spPr>
            <a:xfrm>
              <a:off x="6545961" y="1903571"/>
              <a:ext cx="258053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Small graphs: a close race</a:t>
              </a:r>
            </a:p>
          </p:txBody>
        </p:sp>
        <p:sp>
          <p:nvSpPr>
            <p:cNvPr id="35" name="TextBox 35"/>
            <p:cNvSpPr txBox="1"/>
            <p:nvPr/>
          </p:nvSpPr>
          <p:spPr>
            <a:xfrm>
              <a:off x="6547104" y="2232660"/>
              <a:ext cx="379001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On the smallest graph the two are comparable —</a:t>
              </a:r>
            </a:p>
          </p:txBody>
        </p:sp>
        <p:sp>
          <p:nvSpPr>
            <p:cNvPr id="36" name="TextBox 36"/>
            <p:cNvSpPr txBox="1"/>
            <p:nvPr/>
          </p:nvSpPr>
          <p:spPr>
            <a:xfrm>
              <a:off x="6547104" y="2442210"/>
              <a:ext cx="340461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but the gap widens quickly as graphs grow.</a:t>
              </a:r>
            </a:p>
          </p:txBody>
        </p:sp>
      </p:grpSp>
      <p:grpSp>
        <p:nvGrpSpPr>
          <p:cNvPr id="46" name="Group 46"/>
          <p:cNvGrpSpPr/>
          <p:nvPr/>
        </p:nvGrpSpPr>
        <p:grpSpPr>
          <a:xfrm>
            <a:off x="6286500" y="3009900"/>
            <a:ext cx="5143500" cy="1466850"/>
            <a:chOff x="6286500" y="3009900"/>
            <a:chExt cx="5143500" cy="1466850"/>
          </a:xfrm>
        </p:grpSpPr>
        <p:sp>
          <p:nvSpPr>
            <p:cNvPr id="38" name="Rectangle 38"/>
            <p:cNvSpPr/>
            <p:nvPr/>
          </p:nvSpPr>
          <p:spPr>
            <a:xfrm>
              <a:off x="6286500" y="3009900"/>
              <a:ext cx="5143500" cy="1466850"/>
            </a:xfrm>
            <a:prstGeom prst="roundRect">
              <a:avLst>
                <a:gd name="adj" fmla="val 7792"/>
              </a:avLst>
            </a:prstGeom>
            <a:solidFill>
              <a:srgbClr val="FBE9E2"/>
            </a:solidFill>
            <a:ln w="9525">
              <a:solidFill>
                <a:srgbClr val="F2C6B4"/>
              </a:solidFill>
            </a:ln>
          </p:spPr>
        </p:sp>
        <p:sp>
          <p:nvSpPr>
            <p:cNvPr id="39" name="Rectangle 39"/>
            <p:cNvSpPr/>
            <p:nvPr/>
          </p:nvSpPr>
          <p:spPr>
            <a:xfrm>
              <a:off x="6286500" y="3009900"/>
              <a:ext cx="57150" cy="1466850"/>
            </a:xfrm>
            <a:prstGeom prst="roundRect">
              <a:avLst>
                <a:gd name="adj" fmla="val 50000"/>
              </a:avLst>
            </a:prstGeom>
            <a:solidFill>
              <a:schemeClr val="accent3"/>
            </a:solidFill>
            <a:ln>
              <a:noFill/>
            </a:ln>
          </p:spPr>
        </p:sp>
        <p:sp>
          <p:nvSpPr>
            <p:cNvPr id="40" name="TextBox 40"/>
            <p:cNvSpPr txBox="1"/>
            <p:nvPr/>
          </p:nvSpPr>
          <p:spPr>
            <a:xfrm>
              <a:off x="6545961" y="3179921"/>
              <a:ext cx="279223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250 nodes: Checkmate stalls</a:t>
              </a:r>
            </a:p>
          </p:txBody>
        </p:sp>
        <p:sp>
          <p:nvSpPr>
            <p:cNvPr id="41" name="TextBox 41"/>
            <p:cNvSpPr txBox="1"/>
            <p:nvPr/>
          </p:nvSpPr>
          <p:spPr>
            <a:xfrm>
              <a:off x="6547104" y="3509010"/>
              <a:ext cx="348308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Tight budget: no feasible solution in 30 min.</a:t>
              </a:r>
            </a:p>
          </p:txBody>
        </p:sp>
        <p:sp>
          <p:nvSpPr>
            <p:cNvPr id="42" name="TextBox 42"/>
            <p:cNvSpPr txBox="1"/>
            <p:nvPr/>
          </p:nvSpPr>
          <p:spPr>
            <a:xfrm>
              <a:off x="6547104" y="3718560"/>
              <a:ext cx="193326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Loosest budget: 10 min.</a:t>
              </a:r>
            </a:p>
          </p:txBody>
        </p:sp>
        <p:sp>
          <p:nvSpPr>
            <p:cNvPr id="43" name="TextBox 43"/>
            <p:cNvSpPr txBox="1"/>
            <p:nvPr/>
          </p:nvSpPr>
          <p:spPr>
            <a:xfrm>
              <a:off x="6547104" y="4023360"/>
              <a:ext cx="158409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Moccasin finishes in</a:t>
              </a:r>
            </a:p>
          </p:txBody>
        </p:sp>
        <p:sp>
          <p:nvSpPr>
            <p:cNvPr id="44" name="TextBox 44"/>
            <p:cNvSpPr txBox="1"/>
            <p:nvPr/>
          </p:nvSpPr>
          <p:spPr>
            <a:xfrm>
              <a:off x="8356092" y="4007168"/>
              <a:ext cx="853341"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seconds.</a:t>
              </a:r>
            </a:p>
          </p:txBody>
        </p:sp>
        <p:sp>
          <p:nvSpPr>
            <p:cNvPr id="45" name="TextBox 45"/>
            <p:cNvSpPr txBox="1"/>
            <p:nvPr/>
          </p:nvSpPr>
          <p:spPr>
            <a:xfrm>
              <a:off x="6547485" y="4241006"/>
              <a:ext cx="3160468" cy="220028"/>
            </a:xfrm>
            <a:prstGeom prst="rect">
              <a:avLst/>
            </a:prstGeom>
            <a:noFill/>
            <a:ln>
              <a:noFill/>
            </a:ln>
          </p:spPr>
          <p:txBody>
            <a:bodyPr wrap="none" lIns="0" tIns="0" rIns="0" bIns="0" anchor="t" anchorCtr="0">
              <a:spAutoFit/>
            </a:bodyPr>
            <a:lstStyle/>
            <a:p>
              <a:pPr algn="l"/>
              <a:r>
                <a:rPr lang="en-US" sz="1120" dirty="0">
                  <a:solidFill>
                    <a:srgbClr val="8A97A8"/>
                  </a:solidFill>
                  <a:latin typeface="+mn-lt"/>
                  <a:ea typeface="+mn-ea"/>
                  <a:cs typeface="+mn-cs"/>
                </a:rPr>
                <a:t>Same problem, orders of magnitude apart.</a:t>
              </a:r>
            </a:p>
          </p:txBody>
        </p:sp>
      </p:grpSp>
      <p:grpSp>
        <p:nvGrpSpPr>
          <p:cNvPr id="54" name="Group 54"/>
          <p:cNvGrpSpPr/>
          <p:nvPr/>
        </p:nvGrpSpPr>
        <p:grpSpPr>
          <a:xfrm>
            <a:off x="6286500" y="4629150"/>
            <a:ext cx="5143500" cy="1457706"/>
            <a:chOff x="6286500" y="4629150"/>
            <a:chExt cx="5143500" cy="1457706"/>
          </a:xfrm>
        </p:grpSpPr>
        <p:sp>
          <p:nvSpPr>
            <p:cNvPr id="47" name="Rectangle 47"/>
            <p:cNvSpPr/>
            <p:nvPr/>
          </p:nvSpPr>
          <p:spPr>
            <a:xfrm>
              <a:off x="6286500" y="4629150"/>
              <a:ext cx="5143500" cy="1447800"/>
            </a:xfrm>
            <a:prstGeom prst="roundRect">
              <a:avLst>
                <a:gd name="adj" fmla="val 7895"/>
              </a:avLst>
            </a:prstGeom>
            <a:solidFill>
              <a:srgbClr val="E1F3F0"/>
            </a:solidFill>
            <a:ln w="9525">
              <a:solidFill>
                <a:srgbClr val="B7E2DA"/>
              </a:solidFill>
            </a:ln>
          </p:spPr>
        </p:sp>
        <p:sp>
          <p:nvSpPr>
            <p:cNvPr id="48" name="Rectangle 48"/>
            <p:cNvSpPr/>
            <p:nvPr/>
          </p:nvSpPr>
          <p:spPr>
            <a:xfrm>
              <a:off x="6286500" y="4629150"/>
              <a:ext cx="57150" cy="1447800"/>
            </a:xfrm>
            <a:prstGeom prst="roundRect">
              <a:avLst>
                <a:gd name="adj" fmla="val 50000"/>
              </a:avLst>
            </a:prstGeom>
            <a:solidFill>
              <a:schemeClr val="accent2"/>
            </a:solidFill>
            <a:ln>
              <a:noFill/>
            </a:ln>
          </p:spPr>
        </p:sp>
        <p:sp>
          <p:nvSpPr>
            <p:cNvPr id="49" name="TextBox 49"/>
            <p:cNvSpPr txBox="1"/>
            <p:nvPr/>
          </p:nvSpPr>
          <p:spPr>
            <a:xfrm>
              <a:off x="6545961" y="4799171"/>
              <a:ext cx="408822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500 &amp; 1,000 nodes: only Moccasin finishes</a:t>
              </a:r>
            </a:p>
          </p:txBody>
        </p:sp>
        <p:sp>
          <p:nvSpPr>
            <p:cNvPr id="50" name="TextBox 50"/>
            <p:cNvSpPr txBox="1"/>
            <p:nvPr/>
          </p:nvSpPr>
          <p:spPr>
            <a:xfrm>
              <a:off x="6547104" y="5128260"/>
              <a:ext cx="333744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Checkmate finds no solution in 3 hours and</a:t>
              </a:r>
            </a:p>
          </p:txBody>
        </p:sp>
        <p:sp>
          <p:nvSpPr>
            <p:cNvPr id="51" name="TextBox 51"/>
            <p:cNvSpPr txBox="1"/>
            <p:nvPr/>
          </p:nvSpPr>
          <p:spPr>
            <a:xfrm>
              <a:off x="6547104" y="5337810"/>
              <a:ext cx="177302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exits out-of-memory.</a:t>
              </a:r>
            </a:p>
          </p:txBody>
        </p:sp>
        <p:sp>
          <p:nvSpPr>
            <p:cNvPr id="52" name="TextBox 52"/>
            <p:cNvSpPr txBox="1"/>
            <p:nvPr/>
          </p:nvSpPr>
          <p:spPr>
            <a:xfrm>
              <a:off x="6547104" y="5642610"/>
              <a:ext cx="353145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Moccasin converges to a good, low-overhead</a:t>
              </a:r>
            </a:p>
          </p:txBody>
        </p:sp>
        <p:sp>
          <p:nvSpPr>
            <p:cNvPr id="53" name="TextBox 53"/>
            <p:cNvSpPr txBox="1"/>
            <p:nvPr/>
          </p:nvSpPr>
          <p:spPr>
            <a:xfrm>
              <a:off x="6547104" y="5852160"/>
              <a:ext cx="203956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solution in under an hour.</a:t>
              </a:r>
            </a:p>
          </p:txBody>
        </p:sp>
      </p:grpSp>
      <p:grpSp>
        <p:nvGrpSpPr>
          <p:cNvPr id="57" name="Group 57"/>
          <p:cNvGrpSpPr/>
          <p:nvPr/>
        </p:nvGrpSpPr>
        <p:grpSpPr>
          <a:xfrm>
            <a:off x="757238" y="6570345"/>
            <a:ext cx="10677524" cy="176212"/>
            <a:chOff x="757238" y="6570345"/>
            <a:chExt cx="10677524" cy="176212"/>
          </a:xfrm>
        </p:grpSpPr>
        <p:sp>
          <p:nvSpPr>
            <p:cNvPr id="55" name="TextBox 55"/>
            <p:cNvSpPr txBox="1"/>
            <p:nvPr/>
          </p:nvSpPr>
          <p:spPr>
            <a:xfrm>
              <a:off x="757238" y="6570345"/>
              <a:ext cx="126828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Moccasin · ICML 2023</a:t>
              </a:r>
            </a:p>
          </p:txBody>
        </p:sp>
        <p:sp>
          <p:nvSpPr>
            <p:cNvPr id="56" name="TextBox 5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07 / 10</a:t>
              </a:r>
            </a:p>
          </p:txBody>
        </p:sp>
      </p:grpSp>
      <p:sp>
        <p:nvSpPr>
          <p:cNvPr id="58" name="cue_s07_c1_across_board_moccasin_solves_remater" title="cue_s07_c1_across_board_moccasin_solves_remater" descr="cue_s07_c1_across_board_moccasin_solves_remater Across the board, Moccasin solves the rematerialization problem substantially faster than Checkmate, up to an order of magnitude on the larger graphs."/>
          <p:cNvSpPr/>
          <p:nvPr/>
        </p:nvSpPr>
        <p:spPr>
          <a:xfrm>
            <a:off x="762000" y="1733702"/>
            <a:ext cx="5258409" cy="4343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7_c2_smallest_graph_two_comparable_but" title="cue_s07_c2_smallest_graph_two_comparable_but" descr="cue_s07_c2_smallest_graph_two_comparable_but On the smallest graph the two are comparable, but the gap widens quickly."/>
          <p:cNvSpPr/>
          <p:nvPr/>
        </p:nvSpPr>
        <p:spPr>
          <a:xfrm>
            <a:off x="6286195" y="1733702"/>
            <a:ext cx="5143804"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7_c3_graph_two_hundred_fifty_nodes" title="cue_s07_c3_graph_two_hundred_fifty_nodes" descr="cue_s07_c3_graph_two_hundred_fifty_nodes For the graph with two hundred fifty nodes and a tight memory budget, Checkmate fails to find any feasible solution within thirty minutes, and at the loosest budget it takes ten minutes, while Moccasin finishes in seconds."/>
          <p:cNvSpPr/>
          <p:nvPr/>
        </p:nvSpPr>
        <p:spPr>
          <a:xfrm>
            <a:off x="6286195" y="3009976"/>
            <a:ext cx="5143804" cy="14669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7_c4_five_hundred_one_thousand_node" title="cue_s07_c4_five_hundred_one_thousand_node" descr="cue_s07_c4_five_hundred_one_thousand_node For the five hundred and one thousand node graphs, Checkmate times out entirely, finding no solution even given three hours, and it exits with an out-of-memory error, whereas Moccasin converges to a good, low-duration-increase solution in under an hour."/>
          <p:cNvSpPr/>
          <p:nvPr/>
        </p:nvSpPr>
        <p:spPr>
          <a:xfrm>
            <a:off x="6286195" y="4629150"/>
            <a:ext cx="5143804" cy="145801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427" y="572452"/>
            <a:ext cx="10680573" cy="865823"/>
            <a:chOff x="749427" y="572452"/>
            <a:chExt cx="10680573"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908025"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08 · ABLATION STUDY</a:t>
              </a:r>
            </a:p>
          </p:txBody>
        </p:sp>
        <p:sp>
          <p:nvSpPr>
            <p:cNvPr id="4" name="TextBox 4"/>
            <p:cNvSpPr txBox="1"/>
            <p:nvPr/>
          </p:nvSpPr>
          <p:spPr>
            <a:xfrm>
              <a:off x="749427" y="875824"/>
              <a:ext cx="3806111"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What the key knobs do</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0" name="Group 10"/>
          <p:cNvGrpSpPr/>
          <p:nvPr/>
        </p:nvGrpSpPr>
        <p:grpSpPr>
          <a:xfrm>
            <a:off x="762000" y="1733550"/>
            <a:ext cx="12194075" cy="666750"/>
            <a:chOff x="762000" y="1733550"/>
            <a:chExt cx="12194075" cy="666750"/>
          </a:xfrm>
        </p:grpSpPr>
        <p:sp>
          <p:nvSpPr>
            <p:cNvPr id="7" name="Rectangle 7"/>
            <p:cNvSpPr/>
            <p:nvPr/>
          </p:nvSpPr>
          <p:spPr>
            <a:xfrm>
              <a:off x="762000" y="1733550"/>
              <a:ext cx="10668000" cy="666750"/>
            </a:xfrm>
            <a:prstGeom prst="roundRect">
              <a:avLst>
                <a:gd name="adj" fmla="val 17143"/>
              </a:avLst>
            </a:prstGeom>
            <a:solidFill>
              <a:schemeClr val="lt2"/>
            </a:solidFill>
            <a:ln>
              <a:noFill/>
            </a:ln>
          </p:spPr>
        </p:sp>
        <p:sp>
          <p:nvSpPr>
            <p:cNvPr id="8" name="Rectangle 8"/>
            <p:cNvSpPr/>
            <p:nvPr/>
          </p:nvSpPr>
          <p:spPr>
            <a:xfrm>
              <a:off x="762000" y="1733550"/>
              <a:ext cx="57150" cy="666750"/>
            </a:xfrm>
            <a:prstGeom prst="roundRect">
              <a:avLst>
                <a:gd name="adj" fmla="val 50000"/>
              </a:avLst>
            </a:prstGeom>
            <a:solidFill>
              <a:schemeClr val="accent1"/>
            </a:solidFill>
            <a:ln>
              <a:noFill/>
            </a:ln>
          </p:spPr>
        </p:sp>
        <p:sp>
          <p:nvSpPr>
            <p:cNvPr id="9" name="TextBox 9"/>
            <p:cNvSpPr txBox="1"/>
            <p:nvPr/>
          </p:nvSpPr>
          <p:spPr>
            <a:xfrm>
              <a:off x="1059942" y="1997392"/>
              <a:ext cx="1189613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paper studies a few key knobs — the topological-ordering option, the interval budget C, and the variable-count complexity.</a:t>
              </a:r>
            </a:p>
          </p:txBody>
        </p:sp>
      </p:grpSp>
      <p:grpSp>
        <p:nvGrpSpPr>
          <p:cNvPr id="23" name="Group 23"/>
          <p:cNvGrpSpPr/>
          <p:nvPr/>
        </p:nvGrpSpPr>
        <p:grpSpPr>
          <a:xfrm>
            <a:off x="762000" y="2552700"/>
            <a:ext cx="5257800" cy="1924050"/>
            <a:chOff x="762000" y="2552700"/>
            <a:chExt cx="5257800" cy="1924050"/>
          </a:xfrm>
        </p:grpSpPr>
        <p:sp>
          <p:nvSpPr>
            <p:cNvPr id="11" name="Rectangle 11"/>
            <p:cNvSpPr/>
            <p:nvPr/>
          </p:nvSpPr>
          <p:spPr>
            <a:xfrm>
              <a:off x="762000" y="2552700"/>
              <a:ext cx="5257800" cy="1924050"/>
            </a:xfrm>
            <a:prstGeom prst="roundRect">
              <a:avLst>
                <a:gd name="adj" fmla="val 5941"/>
              </a:avLst>
            </a:prstGeom>
            <a:solidFill>
              <a:srgbClr val="E1F3F0"/>
            </a:solidFill>
            <a:ln w="9525">
              <a:solidFill>
                <a:srgbClr val="B7E2DA"/>
              </a:solidFill>
            </a:ln>
          </p:spPr>
        </p:sp>
        <p:sp>
          <p:nvSpPr>
            <p:cNvPr id="12" name="Rectangle 12"/>
            <p:cNvSpPr/>
            <p:nvPr/>
          </p:nvSpPr>
          <p:spPr>
            <a:xfrm>
              <a:off x="762000" y="2552700"/>
              <a:ext cx="57150" cy="1924050"/>
            </a:xfrm>
            <a:prstGeom prst="roundRect">
              <a:avLst>
                <a:gd name="adj" fmla="val 50000"/>
              </a:avLst>
            </a:prstGeom>
            <a:solidFill>
              <a:schemeClr val="accent2"/>
            </a:solidFill>
            <a:ln>
              <a:noFill/>
            </a:ln>
          </p:spPr>
        </p:sp>
        <p:sp>
          <p:nvSpPr>
            <p:cNvPr id="13" name="TextBox 13"/>
            <p:cNvSpPr txBox="1"/>
            <p:nvPr/>
          </p:nvSpPr>
          <p:spPr>
            <a:xfrm>
              <a:off x="1021461" y="2722721"/>
              <a:ext cx="320186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Topological-ordering restriction</a:t>
              </a:r>
            </a:p>
          </p:txBody>
        </p:sp>
        <p:sp>
          <p:nvSpPr>
            <p:cNvPr id="14" name="TextBox 14"/>
            <p:cNvSpPr txBox="1"/>
            <p:nvPr/>
          </p:nvSpPr>
          <p:spPr>
            <a:xfrm>
              <a:off x="1022604" y="3051810"/>
              <a:ext cx="353087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Enforcing an input ordering trades a slightly</a:t>
              </a:r>
            </a:p>
          </p:txBody>
        </p:sp>
        <p:sp>
          <p:nvSpPr>
            <p:cNvPr id="15" name="TextBox 15"/>
            <p:cNvSpPr txBox="1"/>
            <p:nvPr/>
          </p:nvSpPr>
          <p:spPr>
            <a:xfrm>
              <a:off x="1022604" y="3261360"/>
              <a:ext cx="326730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larger variable domain for a much smaller</a:t>
              </a:r>
            </a:p>
          </p:txBody>
        </p:sp>
        <p:sp>
          <p:nvSpPr>
            <p:cNvPr id="16" name="TextBox 16"/>
            <p:cNvSpPr txBox="1"/>
            <p:nvPr/>
          </p:nvSpPr>
          <p:spPr>
            <a:xfrm>
              <a:off x="1022604" y="3470910"/>
              <a:ext cx="112684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search space.</a:t>
              </a:r>
            </a:p>
          </p:txBody>
        </p:sp>
        <p:sp>
          <p:nvSpPr>
            <p:cNvPr id="17" name="Rectangle 17"/>
            <p:cNvSpPr/>
            <p:nvPr/>
          </p:nvSpPr>
          <p:spPr>
            <a:xfrm>
              <a:off x="1028700" y="3771900"/>
              <a:ext cx="2190750" cy="533400"/>
            </a:xfrm>
            <a:prstGeom prst="roundRect">
              <a:avLst>
                <a:gd name="adj" fmla="val 14286"/>
              </a:avLst>
            </a:prstGeom>
            <a:solidFill>
              <a:schemeClr val="lt1"/>
            </a:solidFill>
            <a:ln w="9525">
              <a:solidFill>
                <a:srgbClr val="B7E2DA"/>
              </a:solidFill>
            </a:ln>
          </p:spPr>
        </p:sp>
        <p:sp>
          <p:nvSpPr>
            <p:cNvPr id="18" name="TextBox 18"/>
            <p:cNvSpPr txBox="1"/>
            <p:nvPr/>
          </p:nvSpPr>
          <p:spPr>
            <a:xfrm>
              <a:off x="1889046" y="3887152"/>
              <a:ext cx="47005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domain</a:t>
              </a:r>
            </a:p>
          </p:txBody>
        </p:sp>
        <p:sp>
          <p:nvSpPr>
            <p:cNvPr id="19" name="TextBox 19"/>
            <p:cNvSpPr txBox="1"/>
            <p:nvPr/>
          </p:nvSpPr>
          <p:spPr>
            <a:xfrm>
              <a:off x="1484346" y="4072414"/>
              <a:ext cx="1279459" cy="249364"/>
            </a:xfrm>
            <a:prstGeom prst="rect">
              <a:avLst/>
            </a:prstGeom>
            <a:noFill/>
            <a:ln>
              <a:noFill/>
            </a:ln>
          </p:spPr>
          <p:txBody>
            <a:bodyPr wrap="none" lIns="0" tIns="0" rIns="0" bIns="0" anchor="t" anchorCtr="0">
              <a:spAutoFit/>
            </a:bodyPr>
            <a:lstStyle/>
            <a:p>
              <a:pPr algn="ctr"/>
              <a:r>
                <a:rPr lang="en-US" sz="1280" b="1" dirty="0">
                  <a:solidFill>
                    <a:schemeClr val="accent3"/>
                  </a:solidFill>
                  <a:latin typeface="+mn-lt"/>
                  <a:ea typeface="+mn-ea"/>
                  <a:cs typeface="+mn-cs"/>
                </a:rPr>
                <a:t>slightly larger</a:t>
              </a:r>
            </a:p>
          </p:txBody>
        </p:sp>
        <p:sp>
          <p:nvSpPr>
            <p:cNvPr id="20" name="Rectangle 20"/>
            <p:cNvSpPr/>
            <p:nvPr/>
          </p:nvSpPr>
          <p:spPr>
            <a:xfrm>
              <a:off x="3333750" y="3771900"/>
              <a:ext cx="2419350" cy="533400"/>
            </a:xfrm>
            <a:prstGeom prst="roundRect">
              <a:avLst>
                <a:gd name="adj" fmla="val 14286"/>
              </a:avLst>
            </a:prstGeom>
            <a:solidFill>
              <a:schemeClr val="lt1"/>
            </a:solidFill>
            <a:ln w="9525">
              <a:solidFill>
                <a:srgbClr val="B7E2DA"/>
              </a:solidFill>
            </a:ln>
          </p:spPr>
        </p:sp>
        <p:sp>
          <p:nvSpPr>
            <p:cNvPr id="21" name="TextBox 21"/>
            <p:cNvSpPr txBox="1"/>
            <p:nvPr/>
          </p:nvSpPr>
          <p:spPr>
            <a:xfrm>
              <a:off x="3658181" y="3887152"/>
              <a:ext cx="1770488"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search space + solve time</a:t>
              </a:r>
            </a:p>
          </p:txBody>
        </p:sp>
        <p:sp>
          <p:nvSpPr>
            <p:cNvPr id="22" name="TextBox 22"/>
            <p:cNvSpPr txBox="1"/>
            <p:nvPr/>
          </p:nvSpPr>
          <p:spPr>
            <a:xfrm>
              <a:off x="3813231" y="4072414"/>
              <a:ext cx="1460388" cy="249364"/>
            </a:xfrm>
            <a:prstGeom prst="rect">
              <a:avLst/>
            </a:prstGeom>
            <a:noFill/>
            <a:ln>
              <a:noFill/>
            </a:ln>
          </p:spPr>
          <p:txBody>
            <a:bodyPr wrap="none" lIns="0" tIns="0" rIns="0" bIns="0" anchor="t" anchorCtr="0">
              <a:spAutoFit/>
            </a:bodyPr>
            <a:lstStyle/>
            <a:p>
              <a:pPr algn="ctr"/>
              <a:r>
                <a:rPr lang="en-US" sz="1280" b="1" dirty="0">
                  <a:solidFill>
                    <a:schemeClr val="accent2"/>
                  </a:solidFill>
                  <a:latin typeface="+mn-lt"/>
                  <a:ea typeface="+mn-ea"/>
                  <a:cs typeface="+mn-cs"/>
                </a:rPr>
                <a:t>smaller / faster</a:t>
              </a:r>
            </a:p>
          </p:txBody>
        </p:sp>
      </p:grpSp>
      <p:grpSp>
        <p:nvGrpSpPr>
          <p:cNvPr id="33" name="Group 33"/>
          <p:cNvGrpSpPr/>
          <p:nvPr/>
        </p:nvGrpSpPr>
        <p:grpSpPr>
          <a:xfrm>
            <a:off x="6286500" y="2552700"/>
            <a:ext cx="5143500" cy="1924050"/>
            <a:chOff x="6286500" y="2552700"/>
            <a:chExt cx="5143500" cy="1924050"/>
          </a:xfrm>
        </p:grpSpPr>
        <p:sp>
          <p:nvSpPr>
            <p:cNvPr id="24" name="Rectangle 24"/>
            <p:cNvSpPr/>
            <p:nvPr/>
          </p:nvSpPr>
          <p:spPr>
            <a:xfrm>
              <a:off x="6286500" y="2552700"/>
              <a:ext cx="5143500" cy="1924050"/>
            </a:xfrm>
            <a:prstGeom prst="roundRect">
              <a:avLst>
                <a:gd name="adj" fmla="val 5941"/>
              </a:avLst>
            </a:prstGeom>
            <a:solidFill>
              <a:schemeClr val="accent5"/>
            </a:solidFill>
            <a:ln w="9525">
              <a:solidFill>
                <a:schemeClr val="accent4"/>
              </a:solidFill>
            </a:ln>
          </p:spPr>
        </p:sp>
        <p:sp>
          <p:nvSpPr>
            <p:cNvPr id="25" name="Rectangle 25"/>
            <p:cNvSpPr/>
            <p:nvPr/>
          </p:nvSpPr>
          <p:spPr>
            <a:xfrm>
              <a:off x="6286500" y="2552700"/>
              <a:ext cx="57150" cy="1924050"/>
            </a:xfrm>
            <a:prstGeom prst="roundRect">
              <a:avLst>
                <a:gd name="adj" fmla="val 50000"/>
              </a:avLst>
            </a:prstGeom>
            <a:solidFill>
              <a:schemeClr val="accent1"/>
            </a:solidFill>
            <a:ln>
              <a:noFill/>
            </a:ln>
          </p:spPr>
        </p:sp>
        <p:sp>
          <p:nvSpPr>
            <p:cNvPr id="26" name="TextBox 26"/>
            <p:cNvSpPr txBox="1"/>
            <p:nvPr/>
          </p:nvSpPr>
          <p:spPr>
            <a:xfrm>
              <a:off x="6545961" y="2722721"/>
              <a:ext cx="170312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Interval budget C</a:t>
              </a:r>
            </a:p>
          </p:txBody>
        </p:sp>
        <p:sp>
          <p:nvSpPr>
            <p:cNvPr id="27" name="TextBox 27"/>
            <p:cNvSpPr txBox="1"/>
            <p:nvPr/>
          </p:nvSpPr>
          <p:spPr>
            <a:xfrm>
              <a:off x="6547104" y="3051810"/>
              <a:ext cx="344769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per-node interval budget C is held fixed</a:t>
              </a:r>
            </a:p>
          </p:txBody>
        </p:sp>
        <p:sp>
          <p:nvSpPr>
            <p:cNvPr id="28" name="TextBox 28"/>
            <p:cNvSpPr txBox="1"/>
            <p:nvPr/>
          </p:nvSpPr>
          <p:spPr>
            <a:xfrm>
              <a:off x="6547104" y="3261360"/>
              <a:ext cx="385693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across every experiment (noted in each legend).</a:t>
              </a:r>
            </a:p>
          </p:txBody>
        </p:sp>
        <p:sp>
          <p:nvSpPr>
            <p:cNvPr id="29" name="Rectangle 29"/>
            <p:cNvSpPr/>
            <p:nvPr/>
          </p:nvSpPr>
          <p:spPr>
            <a:xfrm>
              <a:off x="6553200" y="3600450"/>
              <a:ext cx="4610100" cy="704850"/>
            </a:xfrm>
            <a:prstGeom prst="roundRect">
              <a:avLst>
                <a:gd name="adj" fmla="val 10811"/>
              </a:avLst>
            </a:prstGeom>
            <a:solidFill>
              <a:schemeClr val="accent6"/>
            </a:solidFill>
            <a:ln w="9525">
              <a:solidFill>
                <a:srgbClr val="C6D6FB"/>
              </a:solidFill>
            </a:ln>
          </p:spPr>
        </p:sp>
        <p:sp>
          <p:nvSpPr>
            <p:cNvPr id="30" name="TextBox 30"/>
            <p:cNvSpPr txBox="1"/>
            <p:nvPr/>
          </p:nvSpPr>
          <p:spPr>
            <a:xfrm>
              <a:off x="7033260" y="3752850"/>
              <a:ext cx="103860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C = 2</a:t>
              </a:r>
            </a:p>
          </p:txBody>
        </p:sp>
        <p:sp>
          <p:nvSpPr>
            <p:cNvPr id="31" name="TextBox 31"/>
            <p:cNvSpPr txBox="1"/>
            <p:nvPr/>
          </p:nvSpPr>
          <p:spPr>
            <a:xfrm>
              <a:off x="8185404" y="3813810"/>
              <a:ext cx="188610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two retention intervals</a:t>
              </a:r>
            </a:p>
          </p:txBody>
        </p:sp>
        <p:sp>
          <p:nvSpPr>
            <p:cNvPr id="32" name="TextBox 32"/>
            <p:cNvSpPr txBox="1"/>
            <p:nvPr/>
          </p:nvSpPr>
          <p:spPr>
            <a:xfrm>
              <a:off x="8185404" y="4023360"/>
              <a:ext cx="130454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allowed per node</a:t>
              </a:r>
            </a:p>
          </p:txBody>
        </p:sp>
      </p:grpSp>
      <p:grpSp>
        <p:nvGrpSpPr>
          <p:cNvPr id="43" name="Group 43"/>
          <p:cNvGrpSpPr/>
          <p:nvPr/>
        </p:nvGrpSpPr>
        <p:grpSpPr>
          <a:xfrm>
            <a:off x="762000" y="4629150"/>
            <a:ext cx="10668000" cy="1447800"/>
            <a:chOff x="762000" y="4629150"/>
            <a:chExt cx="10668000" cy="1447800"/>
          </a:xfrm>
        </p:grpSpPr>
        <p:sp>
          <p:nvSpPr>
            <p:cNvPr id="34" name="Rectangle 34"/>
            <p:cNvSpPr/>
            <p:nvPr/>
          </p:nvSpPr>
          <p:spPr>
            <a:xfrm>
              <a:off x="762000" y="4629150"/>
              <a:ext cx="10668000" cy="1447800"/>
            </a:xfrm>
            <a:prstGeom prst="roundRect">
              <a:avLst>
                <a:gd name="adj" fmla="val 7895"/>
              </a:avLst>
            </a:prstGeom>
            <a:solidFill>
              <a:schemeClr val="dk1"/>
            </a:solidFill>
            <a:ln>
              <a:noFill/>
            </a:ln>
          </p:spPr>
        </p:sp>
        <p:sp>
          <p:nvSpPr>
            <p:cNvPr id="35" name="TextBox 35"/>
            <p:cNvSpPr txBox="1"/>
            <p:nvPr/>
          </p:nvSpPr>
          <p:spPr>
            <a:xfrm>
              <a:off x="1061085" y="4850606"/>
              <a:ext cx="2542392" cy="220028"/>
            </a:xfrm>
            <a:prstGeom prst="rect">
              <a:avLst/>
            </a:prstGeom>
            <a:noFill/>
            <a:ln>
              <a:noFill/>
            </a:ln>
          </p:spPr>
          <p:txBody>
            <a:bodyPr wrap="none" lIns="0" tIns="0" rIns="0" bIns="0" anchor="t" anchorCtr="0">
              <a:spAutoFit/>
            </a:bodyPr>
            <a:lstStyle/>
            <a:p>
              <a:pPr algn="l"/>
              <a:r>
                <a:rPr lang="en-US" sz="1120" b="1" spc="75" dirty="0">
                  <a:solidFill>
                    <a:srgbClr val="7CA0EC"/>
                  </a:solidFill>
                  <a:latin typeface="+mn-lt"/>
                  <a:ea typeface="+mn-ea"/>
                  <a:cs typeface="+mn-cs"/>
                </a:rPr>
                <a:t>VARIABLE-COUNT COMPLEXITY</a:t>
              </a:r>
            </a:p>
          </p:txBody>
        </p:sp>
        <p:sp>
          <p:nvSpPr>
            <p:cNvPr id="36" name="Rectangle 36"/>
            <p:cNvSpPr/>
            <p:nvPr/>
          </p:nvSpPr>
          <p:spPr>
            <a:xfrm>
              <a:off x="1066800" y="5105400"/>
              <a:ext cx="5048250" cy="819150"/>
            </a:xfrm>
            <a:prstGeom prst="roundRect">
              <a:avLst>
                <a:gd name="adj" fmla="val 9302"/>
              </a:avLst>
            </a:prstGeom>
            <a:solidFill>
              <a:srgbClr val="1E2740"/>
            </a:solidFill>
            <a:ln>
              <a:noFill/>
            </a:ln>
          </p:spPr>
        </p:sp>
        <p:sp>
          <p:nvSpPr>
            <p:cNvPr id="37" name="TextBox 37"/>
            <p:cNvSpPr txBox="1"/>
            <p:nvPr/>
          </p:nvSpPr>
          <p:spPr>
            <a:xfrm>
              <a:off x="1288923" y="5272564"/>
              <a:ext cx="950600" cy="249364"/>
            </a:xfrm>
            <a:prstGeom prst="rect">
              <a:avLst/>
            </a:prstGeom>
            <a:noFill/>
            <a:ln>
              <a:noFill/>
            </a:ln>
          </p:spPr>
          <p:txBody>
            <a:bodyPr wrap="none" lIns="0" tIns="0" rIns="0" bIns="0" anchor="t" anchorCtr="0">
              <a:spAutoFit/>
            </a:bodyPr>
            <a:lstStyle/>
            <a:p>
              <a:pPr algn="l"/>
              <a:r>
                <a:rPr lang="en-US" sz="1280" b="1" dirty="0">
                  <a:solidFill>
                    <a:srgbClr val="F2A488"/>
                  </a:solidFill>
                  <a:latin typeface="+mn-lt"/>
                  <a:ea typeface="+mn-ea"/>
                  <a:cs typeface="+mn-cs"/>
                </a:rPr>
                <a:t>Checkmate</a:t>
              </a:r>
            </a:p>
          </p:txBody>
        </p:sp>
        <p:sp>
          <p:nvSpPr>
            <p:cNvPr id="38" name="TextBox 38"/>
            <p:cNvSpPr txBox="1"/>
            <p:nvPr/>
          </p:nvSpPr>
          <p:spPr>
            <a:xfrm>
              <a:off x="1286256" y="5520690"/>
              <a:ext cx="2637975"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O(n² + n·e) Booleans</a:t>
              </a:r>
            </a:p>
          </p:txBody>
        </p:sp>
        <p:sp>
          <p:nvSpPr>
            <p:cNvPr id="39" name="Rectangle 39"/>
            <p:cNvSpPr/>
            <p:nvPr/>
          </p:nvSpPr>
          <p:spPr>
            <a:xfrm>
              <a:off x="6267450" y="5105400"/>
              <a:ext cx="5048250" cy="819150"/>
            </a:xfrm>
            <a:prstGeom prst="roundRect">
              <a:avLst>
                <a:gd name="adj" fmla="val 9302"/>
              </a:avLst>
            </a:prstGeom>
            <a:solidFill>
              <a:srgbClr val="1E2740"/>
            </a:solidFill>
            <a:ln>
              <a:noFill/>
            </a:ln>
          </p:spPr>
        </p:sp>
        <p:sp>
          <p:nvSpPr>
            <p:cNvPr id="40" name="TextBox 40"/>
            <p:cNvSpPr txBox="1"/>
            <p:nvPr/>
          </p:nvSpPr>
          <p:spPr>
            <a:xfrm>
              <a:off x="6489573" y="5272564"/>
              <a:ext cx="805565" cy="249364"/>
            </a:xfrm>
            <a:prstGeom prst="rect">
              <a:avLst/>
            </a:prstGeom>
            <a:noFill/>
            <a:ln>
              <a:noFill/>
            </a:ln>
          </p:spPr>
          <p:txBody>
            <a:bodyPr wrap="none" lIns="0" tIns="0" rIns="0" bIns="0" anchor="t" anchorCtr="0">
              <a:spAutoFit/>
            </a:bodyPr>
            <a:lstStyle/>
            <a:p>
              <a:pPr algn="l"/>
              <a:r>
                <a:rPr lang="en-US" sz="1280" b="1" dirty="0">
                  <a:solidFill>
                    <a:srgbClr val="7CA0EC"/>
                  </a:solidFill>
                  <a:latin typeface="+mn-lt"/>
                  <a:ea typeface="+mn-ea"/>
                  <a:cs typeface="+mn-cs"/>
                </a:rPr>
                <a:t>Moccasin</a:t>
              </a:r>
            </a:p>
          </p:txBody>
        </p:sp>
        <p:sp>
          <p:nvSpPr>
            <p:cNvPr id="41" name="TextBox 41"/>
            <p:cNvSpPr txBox="1"/>
            <p:nvPr/>
          </p:nvSpPr>
          <p:spPr>
            <a:xfrm>
              <a:off x="6486906" y="5520690"/>
              <a:ext cx="2061838"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O(C·n) integers</a:t>
              </a:r>
            </a:p>
          </p:txBody>
        </p:sp>
        <p:sp>
          <p:nvSpPr>
            <p:cNvPr id="42" name="TextBox 42"/>
            <p:cNvSpPr txBox="1"/>
            <p:nvPr/>
          </p:nvSpPr>
          <p:spPr>
            <a:xfrm>
              <a:off x="10113340" y="5593556"/>
              <a:ext cx="369875" cy="220028"/>
            </a:xfrm>
            <a:prstGeom prst="rect">
              <a:avLst/>
            </a:prstGeom>
            <a:noFill/>
            <a:ln>
              <a:noFill/>
            </a:ln>
          </p:spPr>
          <p:txBody>
            <a:bodyPr wrap="none" lIns="0" tIns="0" rIns="0" bIns="0" anchor="t" anchorCtr="0">
              <a:spAutoFit/>
            </a:bodyPr>
            <a:lstStyle/>
            <a:p>
              <a:pPr algn="r"/>
              <a:r>
                <a:rPr lang="en-US" sz="1120" dirty="0">
                  <a:solidFill>
                    <a:srgbClr val="C7CFDA"/>
                  </a:solidFill>
                  <a:latin typeface="+mn-lt"/>
                  <a:ea typeface="+mn-ea"/>
                  <a:cs typeface="+mn-cs"/>
                </a:rPr>
                <a:t>C = 2</a:t>
              </a:r>
            </a:p>
          </p:txBody>
        </p:sp>
      </p:grpSp>
      <p:grpSp>
        <p:nvGrpSpPr>
          <p:cNvPr id="46" name="Group 46"/>
          <p:cNvGrpSpPr/>
          <p:nvPr/>
        </p:nvGrpSpPr>
        <p:grpSpPr>
          <a:xfrm>
            <a:off x="757238" y="6570345"/>
            <a:ext cx="10677524" cy="176212"/>
            <a:chOff x="757238" y="6570345"/>
            <a:chExt cx="10677524" cy="176212"/>
          </a:xfrm>
        </p:grpSpPr>
        <p:sp>
          <p:nvSpPr>
            <p:cNvPr id="44" name="TextBox 44"/>
            <p:cNvSpPr txBox="1"/>
            <p:nvPr/>
          </p:nvSpPr>
          <p:spPr>
            <a:xfrm>
              <a:off x="757238" y="6570345"/>
              <a:ext cx="126828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Moccasin · ICML 2023</a:t>
              </a:r>
            </a:p>
          </p:txBody>
        </p:sp>
        <p:sp>
          <p:nvSpPr>
            <p:cNvPr id="45" name="TextBox 45"/>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08 / 10</a:t>
              </a:r>
            </a:p>
          </p:txBody>
        </p:sp>
      </p:grpSp>
      <p:sp>
        <p:nvSpPr>
          <p:cNvPr id="47" name="cue_s08_c1_studies_few_key_knobs" title="cue_s08_c1_studies_few_key_knobs" descr="cue_s08_c1_studies_few_key_knobs The paper studies a few key knobs."/>
          <p:cNvSpPr/>
          <p:nvPr/>
        </p:nvSpPr>
        <p:spPr>
          <a:xfrm>
            <a:off x="762000" y="1733702"/>
            <a:ext cx="114300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2_most_important_optional_topological" title="cue_s08_c2_most_important_optional_topological" descr="cue_s08_c2_most_important_optional_topological The most important is the optional topological-ordering restriction: enforcing an input ordering enlarges the variable domain slightly but shrinks the overall search space, reducing solve time compared to the fully unrestricted formulation."/>
          <p:cNvSpPr/>
          <p:nvPr/>
        </p:nvSpPr>
        <p:spPr>
          <a:xfrm>
            <a:off x="762000" y="2552547"/>
            <a:ext cx="5258409" cy="19243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8_c3_per_node_interval_budget_called_fixe" title="cue_s08_c3_per_node_interval_budget_called_fixe" descr="cue_s08_c3_per_node_interval_budget_called_fixe The per-node interval budget, called C, is fixed at two throughout the experiments, which the authors note in every plot legend."/>
          <p:cNvSpPr/>
          <p:nvPr/>
        </p:nvSpPr>
        <p:spPr>
          <a:xfrm>
            <a:off x="6286195" y="2552547"/>
            <a:ext cx="5143804" cy="19243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4_complexity_table_makes_contrast_conc" title="cue_s08_c4_complexity_table_makes_contrast_conc" descr="cue_s08_c4_complexity_table_makes_contrast_conc The complexity table makes the contrast concrete: Checkmate's Boolean variable count grows quadratically in the number of nodes plus a node-edge term, while Moccasin's integer variable count grows only linearly in the number of nodes, with a constant factor C."/>
          <p:cNvSpPr/>
          <p:nvPr/>
        </p:nvSpPr>
        <p:spPr>
          <a:xfrm>
            <a:off x="762000" y="4629150"/>
            <a:ext cx="10668000"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427" y="572452"/>
            <a:ext cx="10680573" cy="865823"/>
            <a:chOff x="749427" y="572452"/>
            <a:chExt cx="10680573"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212319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09 · HEADLINE NUMBERS</a:t>
              </a:r>
            </a:p>
          </p:txBody>
        </p:sp>
        <p:sp>
          <p:nvSpPr>
            <p:cNvPr id="4" name="TextBox 4"/>
            <p:cNvSpPr txBox="1"/>
            <p:nvPr/>
          </p:nvSpPr>
          <p:spPr>
            <a:xfrm>
              <a:off x="749427" y="875824"/>
              <a:ext cx="4664318"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The impact in four numbers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4" name="Group 14"/>
          <p:cNvGrpSpPr/>
          <p:nvPr/>
        </p:nvGrpSpPr>
        <p:grpSpPr>
          <a:xfrm>
            <a:off x="762000" y="1733550"/>
            <a:ext cx="5257800" cy="2171700"/>
            <a:chOff x="762000" y="1733550"/>
            <a:chExt cx="5257800" cy="2171700"/>
          </a:xfrm>
        </p:grpSpPr>
        <p:sp>
          <p:nvSpPr>
            <p:cNvPr id="7" name="Rectangle 7"/>
            <p:cNvSpPr/>
            <p:nvPr/>
          </p:nvSpPr>
          <p:spPr>
            <a:xfrm>
              <a:off x="762000" y="1733550"/>
              <a:ext cx="5257800" cy="2171700"/>
            </a:xfrm>
            <a:prstGeom prst="roundRect">
              <a:avLst>
                <a:gd name="adj" fmla="val 5263"/>
              </a:avLst>
            </a:prstGeom>
            <a:solidFill>
              <a:schemeClr val="accent5"/>
            </a:solidFill>
            <a:ln w="9525">
              <a:solidFill>
                <a:schemeClr val="accent4"/>
              </a:solidFill>
            </a:ln>
          </p:spPr>
        </p:sp>
        <p:sp>
          <p:nvSpPr>
            <p:cNvPr id="8" name="Rectangle 8"/>
            <p:cNvSpPr/>
            <p:nvPr/>
          </p:nvSpPr>
          <p:spPr>
            <a:xfrm>
              <a:off x="762000" y="1733550"/>
              <a:ext cx="57150" cy="2171700"/>
            </a:xfrm>
            <a:prstGeom prst="roundRect">
              <a:avLst>
                <a:gd name="adj" fmla="val 50000"/>
              </a:avLst>
            </a:prstGeom>
            <a:solidFill>
              <a:schemeClr val="accent1"/>
            </a:solidFill>
            <a:ln>
              <a:noFill/>
            </a:ln>
          </p:spPr>
        </p:sp>
        <p:sp>
          <p:nvSpPr>
            <p:cNvPr id="9" name="TextBox 9"/>
            <p:cNvSpPr txBox="1"/>
            <p:nvPr/>
          </p:nvSpPr>
          <p:spPr>
            <a:xfrm>
              <a:off x="1022985" y="1955006"/>
              <a:ext cx="1387943"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VARIABLE COUNT</a:t>
              </a:r>
            </a:p>
          </p:txBody>
        </p:sp>
        <p:sp>
          <p:nvSpPr>
            <p:cNvPr id="10" name="TextBox 10"/>
            <p:cNvSpPr txBox="1"/>
            <p:nvPr/>
          </p:nvSpPr>
          <p:spPr>
            <a:xfrm>
              <a:off x="1011174" y="2351722"/>
              <a:ext cx="4521533"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mn-lt"/>
                  <a:ea typeface="+mn-ea"/>
                  <a:cs typeface="+mn-cs"/>
                </a:rPr>
                <a:t>linear vs quadratic</a:t>
              </a:r>
            </a:p>
          </p:txBody>
        </p:sp>
        <p:sp>
          <p:nvSpPr>
            <p:cNvPr id="11" name="TextBox 11"/>
            <p:cNvSpPr txBox="1"/>
            <p:nvPr/>
          </p:nvSpPr>
          <p:spPr>
            <a:xfrm>
              <a:off x="1022223" y="3024664"/>
              <a:ext cx="393015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Moccasin needs only a linear number of integer</a:t>
              </a:r>
            </a:p>
          </p:txBody>
        </p:sp>
        <p:sp>
          <p:nvSpPr>
            <p:cNvPr id="12" name="TextBox 12"/>
            <p:cNvSpPr txBox="1"/>
            <p:nvPr/>
          </p:nvSpPr>
          <p:spPr>
            <a:xfrm>
              <a:off x="1022223" y="3253264"/>
              <a:ext cx="361430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variables in graph size, versus a quadratic</a:t>
              </a:r>
            </a:p>
          </p:txBody>
        </p:sp>
        <p:sp>
          <p:nvSpPr>
            <p:cNvPr id="13" name="TextBox 13"/>
            <p:cNvSpPr txBox="1"/>
            <p:nvPr/>
          </p:nvSpPr>
          <p:spPr>
            <a:xfrm>
              <a:off x="1022223" y="3481864"/>
              <a:ext cx="3594244"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number of Boolean variables in prior work.</a:t>
              </a:r>
            </a:p>
          </p:txBody>
        </p:sp>
      </p:grpSp>
      <p:grpSp>
        <p:nvGrpSpPr>
          <p:cNvPr id="21" name="Group 21"/>
          <p:cNvGrpSpPr/>
          <p:nvPr/>
        </p:nvGrpSpPr>
        <p:grpSpPr>
          <a:xfrm>
            <a:off x="6286500" y="1733550"/>
            <a:ext cx="5143500" cy="2171700"/>
            <a:chOff x="6286500" y="1733550"/>
            <a:chExt cx="5143500" cy="2171700"/>
          </a:xfrm>
        </p:grpSpPr>
        <p:sp>
          <p:nvSpPr>
            <p:cNvPr id="15" name="Rectangle 15"/>
            <p:cNvSpPr/>
            <p:nvPr/>
          </p:nvSpPr>
          <p:spPr>
            <a:xfrm>
              <a:off x="6286500" y="1733550"/>
              <a:ext cx="5143500" cy="2171700"/>
            </a:xfrm>
            <a:prstGeom prst="roundRect">
              <a:avLst>
                <a:gd name="adj" fmla="val 5263"/>
              </a:avLst>
            </a:prstGeom>
            <a:solidFill>
              <a:schemeClr val="dk1"/>
            </a:solidFill>
            <a:ln>
              <a:noFill/>
            </a:ln>
          </p:spPr>
        </p:sp>
        <p:sp>
          <p:nvSpPr>
            <p:cNvPr id="16" name="Rectangle 16"/>
            <p:cNvSpPr/>
            <p:nvPr/>
          </p:nvSpPr>
          <p:spPr>
            <a:xfrm>
              <a:off x="6286500" y="1733550"/>
              <a:ext cx="57150" cy="2171700"/>
            </a:xfrm>
            <a:prstGeom prst="roundRect">
              <a:avLst>
                <a:gd name="adj" fmla="val 50000"/>
              </a:avLst>
            </a:prstGeom>
            <a:solidFill>
              <a:srgbClr val="7CA0EC"/>
            </a:solidFill>
            <a:ln>
              <a:noFill/>
            </a:ln>
          </p:spPr>
        </p:sp>
        <p:sp>
          <p:nvSpPr>
            <p:cNvPr id="17" name="TextBox 17"/>
            <p:cNvSpPr txBox="1"/>
            <p:nvPr/>
          </p:nvSpPr>
          <p:spPr>
            <a:xfrm>
              <a:off x="6547485" y="1955006"/>
              <a:ext cx="1832074" cy="220028"/>
            </a:xfrm>
            <a:prstGeom prst="rect">
              <a:avLst/>
            </a:prstGeom>
            <a:noFill/>
            <a:ln>
              <a:noFill/>
            </a:ln>
          </p:spPr>
          <p:txBody>
            <a:bodyPr wrap="none" lIns="0" tIns="0" rIns="0" bIns="0" anchor="t" anchorCtr="0">
              <a:spAutoFit/>
            </a:bodyPr>
            <a:lstStyle/>
            <a:p>
              <a:pPr algn="l"/>
              <a:r>
                <a:rPr lang="en-US" sz="1120" b="1" spc="75" dirty="0">
                  <a:solidFill>
                    <a:srgbClr val="7CA0EC"/>
                  </a:solidFill>
                  <a:latin typeface="+mn-lt"/>
                  <a:ea typeface="+mn-ea"/>
                  <a:cs typeface="+mn-cs"/>
                </a:rPr>
                <a:t>SOLVE-TIME SPEEDUP</a:t>
              </a:r>
            </a:p>
          </p:txBody>
        </p:sp>
        <p:sp>
          <p:nvSpPr>
            <p:cNvPr id="18" name="TextBox 18"/>
            <p:cNvSpPr txBox="1"/>
            <p:nvPr/>
          </p:nvSpPr>
          <p:spPr>
            <a:xfrm>
              <a:off x="6534150" y="2274570"/>
              <a:ext cx="1717350" cy="1047750"/>
            </a:xfrm>
            <a:prstGeom prst="rect">
              <a:avLst/>
            </a:prstGeom>
            <a:noFill/>
            <a:ln>
              <a:noFill/>
            </a:ln>
          </p:spPr>
          <p:txBody>
            <a:bodyPr wrap="none" lIns="0" tIns="0" rIns="0" bIns="0" anchor="t" anchorCtr="0">
              <a:spAutoFit/>
            </a:bodyPr>
            <a:lstStyle/>
            <a:p>
              <a:pPr algn="l"/>
              <a:r>
                <a:rPr lang="en-US" sz="5400" b="1" dirty="0">
                  <a:solidFill>
                    <a:srgbClr val="FFFFFF"/>
                  </a:solidFill>
                  <a:latin typeface="+mn-lt"/>
                  <a:ea typeface="+mn-ea"/>
                  <a:cs typeface="+mn-cs"/>
                </a:rPr>
                <a:t>~10×</a:t>
              </a:r>
            </a:p>
          </p:txBody>
        </p:sp>
        <p:sp>
          <p:nvSpPr>
            <p:cNvPr id="19" name="TextBox 19"/>
            <p:cNvSpPr txBox="1"/>
            <p:nvPr/>
          </p:nvSpPr>
          <p:spPr>
            <a:xfrm>
              <a:off x="6546723" y="3138964"/>
              <a:ext cx="2974106" cy="249364"/>
            </a:xfrm>
            <a:prstGeom prst="rect">
              <a:avLst/>
            </a:prstGeom>
            <a:noFill/>
            <a:ln>
              <a:noFill/>
            </a:ln>
          </p:spPr>
          <p:txBody>
            <a:bodyPr wrap="none" lIns="0" tIns="0" rIns="0" bIns="0" anchor="t" anchorCtr="0">
              <a:spAutoFit/>
            </a:bodyPr>
            <a:lstStyle/>
            <a:p>
              <a:pPr algn="l"/>
              <a:r>
                <a:rPr lang="en-US" sz="1280" dirty="0">
                  <a:solidFill>
                    <a:srgbClr val="C7CFDA"/>
                  </a:solidFill>
                  <a:latin typeface="+mn-lt"/>
                  <a:ea typeface="+mn-ea"/>
                  <a:cs typeface="+mn-cs"/>
                </a:rPr>
                <a:t>Up to an order of magnitude faster</a:t>
              </a:r>
            </a:p>
          </p:txBody>
        </p:sp>
        <p:sp>
          <p:nvSpPr>
            <p:cNvPr id="20" name="TextBox 20"/>
            <p:cNvSpPr txBox="1"/>
            <p:nvPr/>
          </p:nvSpPr>
          <p:spPr>
            <a:xfrm>
              <a:off x="6546723" y="3367564"/>
              <a:ext cx="2149643" cy="249364"/>
            </a:xfrm>
            <a:prstGeom prst="rect">
              <a:avLst/>
            </a:prstGeom>
            <a:noFill/>
            <a:ln>
              <a:noFill/>
            </a:ln>
          </p:spPr>
          <p:txBody>
            <a:bodyPr wrap="none" lIns="0" tIns="0" rIns="0" bIns="0" anchor="t" anchorCtr="0">
              <a:spAutoFit/>
            </a:bodyPr>
            <a:lstStyle/>
            <a:p>
              <a:pPr algn="l"/>
              <a:r>
                <a:rPr lang="en-US" sz="1280" dirty="0">
                  <a:solidFill>
                    <a:srgbClr val="C7CFDA"/>
                  </a:solidFill>
                  <a:latin typeface="+mn-lt"/>
                  <a:ea typeface="+mn-ea"/>
                  <a:cs typeface="+mn-cs"/>
                </a:rPr>
                <a:t>on large compute graphs.</a:t>
              </a:r>
            </a:p>
          </p:txBody>
        </p:sp>
      </p:grpSp>
      <p:grpSp>
        <p:nvGrpSpPr>
          <p:cNvPr id="29" name="Group 29"/>
          <p:cNvGrpSpPr/>
          <p:nvPr/>
        </p:nvGrpSpPr>
        <p:grpSpPr>
          <a:xfrm>
            <a:off x="762000" y="4057650"/>
            <a:ext cx="5257800" cy="2019300"/>
            <a:chOff x="762000" y="4057650"/>
            <a:chExt cx="5257800" cy="2019300"/>
          </a:xfrm>
        </p:grpSpPr>
        <p:sp>
          <p:nvSpPr>
            <p:cNvPr id="22" name="Rectangle 22"/>
            <p:cNvSpPr/>
            <p:nvPr/>
          </p:nvSpPr>
          <p:spPr>
            <a:xfrm>
              <a:off x="762000" y="4057650"/>
              <a:ext cx="5257800" cy="2019300"/>
            </a:xfrm>
            <a:prstGeom prst="roundRect">
              <a:avLst>
                <a:gd name="adj" fmla="val 5660"/>
              </a:avLst>
            </a:prstGeom>
            <a:solidFill>
              <a:srgbClr val="E1F3F0"/>
            </a:solidFill>
            <a:ln w="9525">
              <a:solidFill>
                <a:srgbClr val="B7E2DA"/>
              </a:solidFill>
            </a:ln>
          </p:spPr>
        </p:sp>
        <p:sp>
          <p:nvSpPr>
            <p:cNvPr id="23" name="Rectangle 23"/>
            <p:cNvSpPr/>
            <p:nvPr/>
          </p:nvSpPr>
          <p:spPr>
            <a:xfrm>
              <a:off x="762000" y="4057650"/>
              <a:ext cx="57150" cy="2019300"/>
            </a:xfrm>
            <a:prstGeom prst="roundRect">
              <a:avLst>
                <a:gd name="adj" fmla="val 50000"/>
              </a:avLst>
            </a:prstGeom>
            <a:solidFill>
              <a:schemeClr val="accent2"/>
            </a:solidFill>
            <a:ln>
              <a:noFill/>
            </a:ln>
          </p:spPr>
        </p:sp>
        <p:sp>
          <p:nvSpPr>
            <p:cNvPr id="24" name="TextBox 24"/>
            <p:cNvSpPr txBox="1"/>
            <p:nvPr/>
          </p:nvSpPr>
          <p:spPr>
            <a:xfrm>
              <a:off x="1022985" y="4279106"/>
              <a:ext cx="1618372"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SOLUTION QUALITY</a:t>
              </a:r>
            </a:p>
          </p:txBody>
        </p:sp>
        <p:sp>
          <p:nvSpPr>
            <p:cNvPr id="25" name="TextBox 25"/>
            <p:cNvSpPr txBox="1"/>
            <p:nvPr/>
          </p:nvSpPr>
          <p:spPr>
            <a:xfrm>
              <a:off x="1009650" y="4619625"/>
              <a:ext cx="1405671" cy="876300"/>
            </a:xfrm>
            <a:prstGeom prst="rect">
              <a:avLst/>
            </a:prstGeom>
            <a:noFill/>
            <a:ln>
              <a:noFill/>
            </a:ln>
          </p:spPr>
          <p:txBody>
            <a:bodyPr wrap="none" lIns="0" tIns="0" rIns="0" bIns="0" anchor="t" anchorCtr="0">
              <a:spAutoFit/>
            </a:bodyPr>
            <a:lstStyle/>
            <a:p>
              <a:pPr algn="l"/>
              <a:r>
                <a:rPr lang="en-US" sz="4500" b="1" dirty="0">
                  <a:solidFill>
                    <a:schemeClr val="accent2"/>
                  </a:solidFill>
                  <a:latin typeface="+mn-lt"/>
                  <a:ea typeface="+mn-ea"/>
                  <a:cs typeface="+mn-cs"/>
                </a:rPr>
                <a:t>&lt; 5%</a:t>
              </a:r>
            </a:p>
          </p:txBody>
        </p:sp>
        <p:sp>
          <p:nvSpPr>
            <p:cNvPr id="26" name="TextBox 26"/>
            <p:cNvSpPr txBox="1"/>
            <p:nvPr/>
          </p:nvSpPr>
          <p:spPr>
            <a:xfrm>
              <a:off x="1022223" y="5367814"/>
              <a:ext cx="244807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Total duration increase from</a:t>
              </a:r>
            </a:p>
          </p:txBody>
        </p:sp>
        <p:sp>
          <p:nvSpPr>
            <p:cNvPr id="27" name="TextBox 27"/>
            <p:cNvSpPr txBox="1"/>
            <p:nvPr/>
          </p:nvSpPr>
          <p:spPr>
            <a:xfrm>
              <a:off x="1022223" y="5596414"/>
              <a:ext cx="3114599"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rematerialization stays consistently</a:t>
              </a:r>
            </a:p>
          </p:txBody>
        </p:sp>
        <p:sp>
          <p:nvSpPr>
            <p:cNvPr id="28" name="TextBox 28"/>
            <p:cNvSpPr txBox="1"/>
            <p:nvPr/>
          </p:nvSpPr>
          <p:spPr>
            <a:xfrm>
              <a:off x="1022223" y="5825014"/>
              <a:ext cx="167578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below five percent.</a:t>
              </a:r>
            </a:p>
          </p:txBody>
        </p:sp>
      </p:grpSp>
      <p:grpSp>
        <p:nvGrpSpPr>
          <p:cNvPr id="37" name="Group 37"/>
          <p:cNvGrpSpPr/>
          <p:nvPr/>
        </p:nvGrpSpPr>
        <p:grpSpPr>
          <a:xfrm>
            <a:off x="6286500" y="4057650"/>
            <a:ext cx="5143500" cy="2019300"/>
            <a:chOff x="6286500" y="4057650"/>
            <a:chExt cx="5143500" cy="2019300"/>
          </a:xfrm>
        </p:grpSpPr>
        <p:sp>
          <p:nvSpPr>
            <p:cNvPr id="30" name="Rectangle 30"/>
            <p:cNvSpPr/>
            <p:nvPr/>
          </p:nvSpPr>
          <p:spPr>
            <a:xfrm>
              <a:off x="6286500" y="4057650"/>
              <a:ext cx="5143500" cy="2019300"/>
            </a:xfrm>
            <a:prstGeom prst="roundRect">
              <a:avLst>
                <a:gd name="adj" fmla="val 5660"/>
              </a:avLst>
            </a:prstGeom>
            <a:solidFill>
              <a:schemeClr val="accent5"/>
            </a:solidFill>
            <a:ln w="9525">
              <a:solidFill>
                <a:schemeClr val="accent4"/>
              </a:solidFill>
            </a:ln>
          </p:spPr>
        </p:sp>
        <p:sp>
          <p:nvSpPr>
            <p:cNvPr id="31" name="Rectangle 31"/>
            <p:cNvSpPr/>
            <p:nvPr/>
          </p:nvSpPr>
          <p:spPr>
            <a:xfrm>
              <a:off x="6286500" y="4057650"/>
              <a:ext cx="57150" cy="2019300"/>
            </a:xfrm>
            <a:prstGeom prst="roundRect">
              <a:avLst>
                <a:gd name="adj" fmla="val 50000"/>
              </a:avLst>
            </a:prstGeom>
            <a:solidFill>
              <a:schemeClr val="accent1"/>
            </a:solidFill>
            <a:ln>
              <a:noFill/>
            </a:ln>
          </p:spPr>
        </p:sp>
        <p:sp>
          <p:nvSpPr>
            <p:cNvPr id="32" name="TextBox 32"/>
            <p:cNvSpPr txBox="1"/>
            <p:nvPr/>
          </p:nvSpPr>
          <p:spPr>
            <a:xfrm>
              <a:off x="6547485" y="4279106"/>
              <a:ext cx="1293638" cy="220028"/>
            </a:xfrm>
            <a:prstGeom prst="rect">
              <a:avLst/>
            </a:prstGeom>
            <a:noFill/>
            <a:ln>
              <a:noFill/>
            </a:ln>
          </p:spPr>
          <p:txBody>
            <a:bodyPr wrap="none" lIns="0" tIns="0" rIns="0" bIns="0" anchor="t" anchorCtr="0">
              <a:spAutoFit/>
            </a:bodyPr>
            <a:lstStyle/>
            <a:p>
              <a:pPr algn="l"/>
              <a:r>
                <a:rPr lang="en-US" sz="1120" b="1" spc="75" dirty="0">
                  <a:solidFill>
                    <a:schemeClr val="dk2"/>
                  </a:solidFill>
                  <a:latin typeface="+mn-lt"/>
                  <a:ea typeface="+mn-ea"/>
                  <a:cs typeface="+mn-cs"/>
                </a:rPr>
                <a:t>SCALE REACHED</a:t>
              </a:r>
            </a:p>
          </p:txBody>
        </p:sp>
        <p:sp>
          <p:nvSpPr>
            <p:cNvPr id="33" name="TextBox 33"/>
            <p:cNvSpPr txBox="1"/>
            <p:nvPr/>
          </p:nvSpPr>
          <p:spPr>
            <a:xfrm>
              <a:off x="6535674" y="4618672"/>
              <a:ext cx="2863486"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mn-lt"/>
                  <a:ea typeface="+mn-ea"/>
                  <a:cs typeface="+mn-cs"/>
                </a:rPr>
                <a:t>1,000 nodes</a:t>
              </a:r>
            </a:p>
          </p:txBody>
        </p:sp>
        <p:sp>
          <p:nvSpPr>
            <p:cNvPr id="34" name="TextBox 34"/>
            <p:cNvSpPr txBox="1"/>
            <p:nvPr/>
          </p:nvSpPr>
          <p:spPr>
            <a:xfrm>
              <a:off x="6545961" y="5142071"/>
              <a:ext cx="128904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~6,000 edges</a:t>
              </a:r>
            </a:p>
          </p:txBody>
        </p:sp>
        <p:sp>
          <p:nvSpPr>
            <p:cNvPr id="35" name="TextBox 35"/>
            <p:cNvSpPr txBox="1"/>
            <p:nvPr/>
          </p:nvSpPr>
          <p:spPr>
            <a:xfrm>
              <a:off x="6546723" y="5482114"/>
              <a:ext cx="317224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 regime where the competing method</a:t>
              </a:r>
            </a:p>
          </p:txBody>
        </p:sp>
        <p:sp>
          <p:nvSpPr>
            <p:cNvPr id="36" name="TextBox 36"/>
            <p:cNvSpPr txBox="1"/>
            <p:nvPr/>
          </p:nvSpPr>
          <p:spPr>
            <a:xfrm>
              <a:off x="6546723" y="5710714"/>
              <a:ext cx="341614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simply times out or runs out of memory.</a:t>
              </a:r>
            </a:p>
          </p:txBody>
        </p:sp>
      </p:grpSp>
      <p:grpSp>
        <p:nvGrpSpPr>
          <p:cNvPr id="40" name="Group 40"/>
          <p:cNvGrpSpPr/>
          <p:nvPr/>
        </p:nvGrpSpPr>
        <p:grpSpPr>
          <a:xfrm>
            <a:off x="757238" y="6570345"/>
            <a:ext cx="10677524" cy="176212"/>
            <a:chOff x="757238" y="6570345"/>
            <a:chExt cx="10677524" cy="176212"/>
          </a:xfrm>
        </p:grpSpPr>
        <p:sp>
          <p:nvSpPr>
            <p:cNvPr id="38" name="TextBox 38"/>
            <p:cNvSpPr txBox="1"/>
            <p:nvPr/>
          </p:nvSpPr>
          <p:spPr>
            <a:xfrm>
              <a:off x="757238" y="6570345"/>
              <a:ext cx="126828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Moccasin · ICML 2023</a:t>
              </a:r>
            </a:p>
          </p:txBody>
        </p:sp>
        <p:sp>
          <p:nvSpPr>
            <p:cNvPr id="39" name="TextBox 39"/>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09 / 10</a:t>
              </a:r>
            </a:p>
          </p:txBody>
        </p:sp>
      </p:grpSp>
      <p:sp>
        <p:nvSpPr>
          <p:cNvPr id="41" name="cue_s09_c1_few_numbers_capture_impact_moccasin" title="cue_s09_c1_few_numbers_capture_impact_moccasin" descr="cue_s09_c1_few_numbers_capture_impact_moccasin A few numbers capture the impact. Moccasin needs only a linear number of integer variables in the graph size, compared to a quadratic number of Boolean variables for the prior state of the art."/>
          <p:cNvSpPr/>
          <p:nvPr/>
        </p:nvSpPr>
        <p:spPr>
          <a:xfrm>
            <a:off x="762000" y="1733702"/>
            <a:ext cx="5258409" cy="21719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9_c2_translates_solve_times_order_magnitu" title="cue_s09_c2_translates_solve_times_order_magnitu" descr="cue_s09_c2_translates_solve_times_order_magnitu This translates into solve times up to an order of magnitude, roughly ten times, faster on large graphs."/>
          <p:cNvSpPr/>
          <p:nvPr/>
        </p:nvSpPr>
        <p:spPr>
          <a:xfrm>
            <a:off x="6286195" y="1733702"/>
            <a:ext cx="5143804" cy="21719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9_c3_solutions_finds_high_quality_total" title="cue_s09_c3_solutions_finds_high_quality_total" descr="cue_s09_c3_solutions_finds_high_quality_total And the solutions it finds are high quality: the total duration increase from rematerialization stays consistently below five percent."/>
          <p:cNvSpPr/>
          <p:nvPr/>
        </p:nvSpPr>
        <p:spPr>
          <a:xfrm>
            <a:off x="762000" y="4057878"/>
            <a:ext cx="5258409"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9_c4_crucially_moccasin_scales_graphs_one" title="cue_s09_c4_crucially_moccasin_scales_graphs_one" descr="cue_s09_c4_crucially_moccasin_scales_graphs_one Crucially, Moccasin scales to graphs with up to one thousand nodes and nearly six thousand edges, a regime where the competing method simply times out or runs out of memory."/>
          <p:cNvSpPr/>
          <p:nvPr/>
        </p:nvSpPr>
        <p:spPr>
          <a:xfrm>
            <a:off x="6286195" y="4057878"/>
            <a:ext cx="5143804"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762000" y="782002"/>
            <a:ext cx="1888030" cy="205359"/>
            <a:chOff x="762000" y="782002"/>
            <a:chExt cx="1888030" cy="205359"/>
          </a:xfrm>
        </p:grpSpPr>
        <p:sp>
          <p:nvSpPr>
            <p:cNvPr id="2" name="Rectangle 2"/>
            <p:cNvSpPr/>
            <p:nvPr/>
          </p:nvSpPr>
          <p:spPr>
            <a:xfrm>
              <a:off x="762000" y="819150"/>
              <a:ext cx="438150" cy="38100"/>
            </a:xfrm>
            <a:prstGeom prst="rect">
              <a:avLst/>
            </a:prstGeom>
            <a:solidFill>
              <a:schemeClr val="accent1"/>
            </a:solidFill>
            <a:ln>
              <a:noFill/>
            </a:ln>
          </p:spPr>
        </p:sp>
        <p:sp>
          <p:nvSpPr>
            <p:cNvPr id="3" name="TextBox 3"/>
            <p:cNvSpPr txBox="1"/>
            <p:nvPr/>
          </p:nvSpPr>
          <p:spPr>
            <a:xfrm>
              <a:off x="1309116" y="782002"/>
              <a:ext cx="1340914"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10 · TAKEAWAY</a:t>
              </a:r>
            </a:p>
          </p:txBody>
        </p:sp>
      </p:grpSp>
      <p:grpSp>
        <p:nvGrpSpPr>
          <p:cNvPr id="12" name="Group 12"/>
          <p:cNvGrpSpPr/>
          <p:nvPr/>
        </p:nvGrpSpPr>
        <p:grpSpPr>
          <a:xfrm>
            <a:off x="723900" y="1674495"/>
            <a:ext cx="7342413" cy="2552033"/>
            <a:chOff x="723900" y="1674495"/>
            <a:chExt cx="7342413" cy="2552033"/>
          </a:xfrm>
        </p:grpSpPr>
        <p:sp>
          <p:nvSpPr>
            <p:cNvPr id="5" name="TextBox 5"/>
            <p:cNvSpPr txBox="1"/>
            <p:nvPr/>
          </p:nvSpPr>
          <p:spPr>
            <a:xfrm>
              <a:off x="723900" y="1674495"/>
              <a:ext cx="5843668" cy="762000"/>
            </a:xfrm>
            <a:prstGeom prst="rect">
              <a:avLst/>
            </a:prstGeom>
            <a:noFill/>
            <a:ln>
              <a:noFill/>
            </a:ln>
          </p:spPr>
          <p:txBody>
            <a:bodyPr wrap="none" lIns="0" tIns="0" rIns="0" bIns="0" anchor="t" anchorCtr="0">
              <a:spAutoFit/>
            </a:bodyPr>
            <a:lstStyle/>
            <a:p>
              <a:pPr algn="l"/>
              <a:r>
                <a:rPr lang="en-US" sz="3900" b="1" dirty="0">
                  <a:solidFill>
                    <a:schemeClr val="dk1"/>
                  </a:solidFill>
                  <a:latin typeface="+mn-lt"/>
                  <a:ea typeface="+mn-ea"/>
                  <a:cs typeface="+mn-cs"/>
                </a:rPr>
                <a:t>The right formulation</a:t>
              </a:r>
            </a:p>
          </p:txBody>
        </p:sp>
        <p:sp>
          <p:nvSpPr>
            <p:cNvPr id="6" name="TextBox 6"/>
            <p:cNvSpPr txBox="1"/>
            <p:nvPr/>
          </p:nvSpPr>
          <p:spPr>
            <a:xfrm>
              <a:off x="723900" y="2284095"/>
              <a:ext cx="7342413" cy="762000"/>
            </a:xfrm>
            <a:prstGeom prst="rect">
              <a:avLst/>
            </a:prstGeom>
            <a:noFill/>
            <a:ln>
              <a:noFill/>
            </a:ln>
          </p:spPr>
          <p:txBody>
            <a:bodyPr wrap="none" lIns="0" tIns="0" rIns="0" bIns="0" anchor="t" anchorCtr="0">
              <a:spAutoFit/>
            </a:bodyPr>
            <a:lstStyle/>
            <a:p>
              <a:pPr algn="l"/>
              <a:r>
                <a:rPr lang="en-US" sz="3900" b="1" dirty="0">
                  <a:solidFill>
                    <a:schemeClr val="accent1"/>
                  </a:solidFill>
                  <a:latin typeface="+mn-lt"/>
                  <a:ea typeface="+mn-ea"/>
                  <a:cs typeface="+mn-cs"/>
                </a:rPr>
                <a:t>changes what is tractable.</a:t>
              </a:r>
            </a:p>
          </p:txBody>
        </p:sp>
        <p:sp>
          <p:nvSpPr>
            <p:cNvPr id="7" name="Rectangle 7"/>
            <p:cNvSpPr/>
            <p:nvPr/>
          </p:nvSpPr>
          <p:spPr>
            <a:xfrm>
              <a:off x="781050" y="3067050"/>
              <a:ext cx="4953000" cy="1143000"/>
            </a:xfrm>
            <a:prstGeom prst="roundRect">
              <a:avLst>
                <a:gd name="adj" fmla="val 10000"/>
              </a:avLst>
            </a:prstGeom>
            <a:solidFill>
              <a:schemeClr val="lt2"/>
            </a:solidFill>
            <a:ln>
              <a:noFill/>
            </a:ln>
          </p:spPr>
        </p:sp>
        <p:sp>
          <p:nvSpPr>
            <p:cNvPr id="8" name="TextBox 8"/>
            <p:cNvSpPr txBox="1"/>
            <p:nvPr/>
          </p:nvSpPr>
          <p:spPr>
            <a:xfrm>
              <a:off x="1022223" y="3291364"/>
              <a:ext cx="3603044"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Moccasin does not use a faster solver or a</a:t>
              </a:r>
            </a:p>
          </p:txBody>
        </p:sp>
        <p:sp>
          <p:nvSpPr>
            <p:cNvPr id="9" name="TextBox 9"/>
            <p:cNvSpPr txBox="1"/>
            <p:nvPr/>
          </p:nvSpPr>
          <p:spPr>
            <a:xfrm>
              <a:off x="1022223" y="3519964"/>
              <a:ext cx="357984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bigger machine — it re-expresses the same</a:t>
              </a:r>
            </a:p>
          </p:txBody>
        </p:sp>
        <p:sp>
          <p:nvSpPr>
            <p:cNvPr id="10" name="TextBox 10"/>
            <p:cNvSpPr txBox="1"/>
            <p:nvPr/>
          </p:nvSpPr>
          <p:spPr>
            <a:xfrm>
              <a:off x="1022223" y="3748564"/>
              <a:ext cx="407350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rematerialization problem so that a standard CP</a:t>
              </a:r>
            </a:p>
          </p:txBody>
        </p:sp>
        <p:sp>
          <p:nvSpPr>
            <p:cNvPr id="11" name="TextBox 11"/>
            <p:cNvSpPr txBox="1"/>
            <p:nvPr/>
          </p:nvSpPr>
          <p:spPr>
            <a:xfrm>
              <a:off x="1022223" y="3977164"/>
              <a:ext cx="302844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solver can reach far larger graphs.</a:t>
              </a:r>
            </a:p>
          </p:txBody>
        </p:sp>
      </p:grpSp>
      <p:grpSp>
        <p:nvGrpSpPr>
          <p:cNvPr id="20" name="Group 20"/>
          <p:cNvGrpSpPr/>
          <p:nvPr/>
        </p:nvGrpSpPr>
        <p:grpSpPr>
          <a:xfrm>
            <a:off x="6172200" y="1428750"/>
            <a:ext cx="5257800" cy="1428750"/>
            <a:chOff x="6172200" y="1428750"/>
            <a:chExt cx="5257800" cy="1428750"/>
          </a:xfrm>
        </p:grpSpPr>
        <p:sp>
          <p:nvSpPr>
            <p:cNvPr id="13" name="Rectangle 13"/>
            <p:cNvSpPr/>
            <p:nvPr/>
          </p:nvSpPr>
          <p:spPr>
            <a:xfrm>
              <a:off x="6172200" y="1428750"/>
              <a:ext cx="5257800" cy="1428750"/>
            </a:xfrm>
            <a:prstGeom prst="roundRect">
              <a:avLst>
                <a:gd name="adj" fmla="val 8000"/>
              </a:avLst>
            </a:prstGeom>
            <a:solidFill>
              <a:schemeClr val="lt1"/>
            </a:solidFill>
            <a:ln w="9525">
              <a:solidFill>
                <a:schemeClr val="accent4"/>
              </a:solidFill>
            </a:ln>
          </p:spPr>
        </p:sp>
        <p:sp>
          <p:nvSpPr>
            <p:cNvPr id="14" name="Rectangle 14"/>
            <p:cNvSpPr/>
            <p:nvPr/>
          </p:nvSpPr>
          <p:spPr>
            <a:xfrm>
              <a:off x="6172200" y="1428750"/>
              <a:ext cx="57150" cy="1428750"/>
            </a:xfrm>
            <a:prstGeom prst="roundRect">
              <a:avLst>
                <a:gd name="adj" fmla="val 50000"/>
              </a:avLst>
            </a:prstGeom>
            <a:solidFill>
              <a:schemeClr val="accent1"/>
            </a:solidFill>
            <a:ln>
              <a:noFill/>
            </a:ln>
          </p:spPr>
        </p:sp>
        <p:sp>
          <p:nvSpPr>
            <p:cNvPr id="15" name="TextBox 15"/>
            <p:cNvSpPr txBox="1"/>
            <p:nvPr/>
          </p:nvSpPr>
          <p:spPr>
            <a:xfrm>
              <a:off x="6469761" y="1636871"/>
              <a:ext cx="318242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One change: retention intervals</a:t>
              </a:r>
            </a:p>
          </p:txBody>
        </p:sp>
        <p:sp>
          <p:nvSpPr>
            <p:cNvPr id="16" name="TextBox 16"/>
            <p:cNvSpPr txBox="1"/>
            <p:nvPr/>
          </p:nvSpPr>
          <p:spPr>
            <a:xfrm>
              <a:off x="6470904" y="1985010"/>
              <a:ext cx="378945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Expressing decisions as a small set of retention</a:t>
              </a:r>
            </a:p>
          </p:txBody>
        </p:sp>
        <p:sp>
          <p:nvSpPr>
            <p:cNvPr id="17" name="TextBox 17"/>
            <p:cNvSpPr txBox="1"/>
            <p:nvPr/>
          </p:nvSpPr>
          <p:spPr>
            <a:xfrm>
              <a:off x="6470904" y="2194560"/>
              <a:ext cx="332384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intervals in a constraint program reduces</a:t>
              </a:r>
            </a:p>
          </p:txBody>
        </p:sp>
        <p:sp>
          <p:nvSpPr>
            <p:cNvPr id="18" name="TextBox 18"/>
            <p:cNvSpPr txBox="1"/>
            <p:nvPr/>
          </p:nvSpPr>
          <p:spPr>
            <a:xfrm>
              <a:off x="6470904" y="2404110"/>
              <a:ext cx="144993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discrete variables</a:t>
              </a:r>
            </a:p>
          </p:txBody>
        </p:sp>
        <p:sp>
          <p:nvSpPr>
            <p:cNvPr id="19" name="TextBox 19"/>
            <p:cNvSpPr txBox="1"/>
            <p:nvPr/>
          </p:nvSpPr>
          <p:spPr>
            <a:xfrm>
              <a:off x="8242554" y="2404110"/>
              <a:ext cx="2123976"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from quadratic to linear.</a:t>
              </a:r>
            </a:p>
          </p:txBody>
        </p:sp>
      </p:grpSp>
      <p:grpSp>
        <p:nvGrpSpPr>
          <p:cNvPr id="33" name="Group 33"/>
          <p:cNvGrpSpPr/>
          <p:nvPr/>
        </p:nvGrpSpPr>
        <p:grpSpPr>
          <a:xfrm>
            <a:off x="6172200" y="3009900"/>
            <a:ext cx="5257800" cy="1428750"/>
            <a:chOff x="6172200" y="3009900"/>
            <a:chExt cx="5257800" cy="1428750"/>
          </a:xfrm>
        </p:grpSpPr>
        <p:sp>
          <p:nvSpPr>
            <p:cNvPr id="21" name="Rectangle 21"/>
            <p:cNvSpPr/>
            <p:nvPr/>
          </p:nvSpPr>
          <p:spPr>
            <a:xfrm>
              <a:off x="6172200" y="3009900"/>
              <a:ext cx="5257800" cy="1428750"/>
            </a:xfrm>
            <a:prstGeom prst="roundRect">
              <a:avLst>
                <a:gd name="adj" fmla="val 8000"/>
              </a:avLst>
            </a:prstGeom>
            <a:solidFill>
              <a:schemeClr val="accent6"/>
            </a:solidFill>
            <a:ln w="9525">
              <a:solidFill>
                <a:srgbClr val="C6D6FB"/>
              </a:solidFill>
            </a:ln>
          </p:spPr>
        </p:sp>
        <p:sp>
          <p:nvSpPr>
            <p:cNvPr id="22" name="Rectangle 22"/>
            <p:cNvSpPr/>
            <p:nvPr/>
          </p:nvSpPr>
          <p:spPr>
            <a:xfrm>
              <a:off x="6172200" y="3009900"/>
              <a:ext cx="57150" cy="1428750"/>
            </a:xfrm>
            <a:prstGeom prst="roundRect">
              <a:avLst>
                <a:gd name="adj" fmla="val 50000"/>
              </a:avLst>
            </a:prstGeom>
            <a:solidFill>
              <a:schemeClr val="accent1"/>
            </a:solidFill>
            <a:ln>
              <a:noFill/>
            </a:ln>
          </p:spPr>
        </p:sp>
        <p:sp>
          <p:nvSpPr>
            <p:cNvPr id="23" name="TextBox 23"/>
            <p:cNvSpPr txBox="1"/>
            <p:nvPr/>
          </p:nvSpPr>
          <p:spPr>
            <a:xfrm>
              <a:off x="6469761" y="3218021"/>
              <a:ext cx="385520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Bigger graphs, faster, cheap overhead</a:t>
              </a:r>
            </a:p>
          </p:txBody>
        </p:sp>
        <p:sp>
          <p:nvSpPr>
            <p:cNvPr id="24" name="Rectangle 24"/>
            <p:cNvSpPr/>
            <p:nvPr/>
          </p:nvSpPr>
          <p:spPr>
            <a:xfrm>
              <a:off x="6477000" y="3543300"/>
              <a:ext cx="1428750" cy="685800"/>
            </a:xfrm>
            <a:prstGeom prst="roundRect">
              <a:avLst>
                <a:gd name="adj" fmla="val 11111"/>
              </a:avLst>
            </a:prstGeom>
            <a:solidFill>
              <a:schemeClr val="lt1"/>
            </a:solidFill>
            <a:ln>
              <a:noFill/>
            </a:ln>
          </p:spPr>
        </p:sp>
        <p:sp>
          <p:nvSpPr>
            <p:cNvPr id="25" name="TextBox 25"/>
            <p:cNvSpPr txBox="1"/>
            <p:nvPr/>
          </p:nvSpPr>
          <p:spPr>
            <a:xfrm>
              <a:off x="6878271" y="3694748"/>
              <a:ext cx="626208" cy="381381"/>
            </a:xfrm>
            <a:prstGeom prst="rect">
              <a:avLst/>
            </a:prstGeom>
            <a:noFill/>
            <a:ln>
              <a:noFill/>
            </a:ln>
          </p:spPr>
          <p:txBody>
            <a:bodyPr wrap="none" lIns="0" tIns="0" rIns="0" bIns="0" anchor="t" anchorCtr="0">
              <a:spAutoFit/>
            </a:bodyPr>
            <a:lstStyle/>
            <a:p>
              <a:pPr algn="ctr"/>
              <a:r>
                <a:rPr lang="en-US" sz="1950" b="1" dirty="0">
                  <a:solidFill>
                    <a:schemeClr val="accent1"/>
                  </a:solidFill>
                  <a:latin typeface="+mn-lt"/>
                  <a:ea typeface="+mn-ea"/>
                  <a:cs typeface="+mn-cs"/>
                </a:rPr>
                <a:t>~10×</a:t>
              </a:r>
            </a:p>
          </p:txBody>
        </p:sp>
        <p:sp>
          <p:nvSpPr>
            <p:cNvPr id="26" name="TextBox 26"/>
            <p:cNvSpPr txBox="1"/>
            <p:nvPr/>
          </p:nvSpPr>
          <p:spPr>
            <a:xfrm>
              <a:off x="6784043" y="4009549"/>
              <a:ext cx="81466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faster solve</a:t>
              </a:r>
            </a:p>
          </p:txBody>
        </p:sp>
        <p:sp>
          <p:nvSpPr>
            <p:cNvPr id="27" name="Rectangle 27"/>
            <p:cNvSpPr/>
            <p:nvPr/>
          </p:nvSpPr>
          <p:spPr>
            <a:xfrm>
              <a:off x="8039100" y="3543300"/>
              <a:ext cx="1428750" cy="685800"/>
            </a:xfrm>
            <a:prstGeom prst="roundRect">
              <a:avLst>
                <a:gd name="adj" fmla="val 11111"/>
              </a:avLst>
            </a:prstGeom>
            <a:solidFill>
              <a:schemeClr val="lt1"/>
            </a:solidFill>
            <a:ln>
              <a:noFill/>
            </a:ln>
          </p:spPr>
        </p:sp>
        <p:sp>
          <p:nvSpPr>
            <p:cNvPr id="28" name="TextBox 28"/>
            <p:cNvSpPr txBox="1"/>
            <p:nvPr/>
          </p:nvSpPr>
          <p:spPr>
            <a:xfrm>
              <a:off x="8447262" y="3694748"/>
              <a:ext cx="612426" cy="381381"/>
            </a:xfrm>
            <a:prstGeom prst="rect">
              <a:avLst/>
            </a:prstGeom>
            <a:noFill/>
            <a:ln>
              <a:noFill/>
            </a:ln>
          </p:spPr>
          <p:txBody>
            <a:bodyPr wrap="none" lIns="0" tIns="0" rIns="0" bIns="0" anchor="t" anchorCtr="0">
              <a:spAutoFit/>
            </a:bodyPr>
            <a:lstStyle/>
            <a:p>
              <a:pPr algn="ctr"/>
              <a:r>
                <a:rPr lang="en-US" sz="1950" b="1" dirty="0">
                  <a:solidFill>
                    <a:schemeClr val="accent2"/>
                  </a:solidFill>
                  <a:latin typeface="+mn-lt"/>
                  <a:ea typeface="+mn-ea"/>
                  <a:cs typeface="+mn-cs"/>
                </a:rPr>
                <a:t>&lt; 5%</a:t>
              </a:r>
            </a:p>
          </p:txBody>
        </p:sp>
        <p:sp>
          <p:nvSpPr>
            <p:cNvPr id="29" name="TextBox 29"/>
            <p:cNvSpPr txBox="1"/>
            <p:nvPr/>
          </p:nvSpPr>
          <p:spPr>
            <a:xfrm>
              <a:off x="8296670" y="4009549"/>
              <a:ext cx="913610"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added runtime</a:t>
              </a:r>
            </a:p>
          </p:txBody>
        </p:sp>
        <p:sp>
          <p:nvSpPr>
            <p:cNvPr id="30" name="Rectangle 30"/>
            <p:cNvSpPr/>
            <p:nvPr/>
          </p:nvSpPr>
          <p:spPr>
            <a:xfrm>
              <a:off x="9601200" y="3543300"/>
              <a:ext cx="1524000" cy="685800"/>
            </a:xfrm>
            <a:prstGeom prst="roundRect">
              <a:avLst>
                <a:gd name="adj" fmla="val 11111"/>
              </a:avLst>
            </a:prstGeom>
            <a:solidFill>
              <a:schemeClr val="lt1"/>
            </a:solidFill>
            <a:ln>
              <a:noFill/>
            </a:ln>
          </p:spPr>
        </p:sp>
        <p:sp>
          <p:nvSpPr>
            <p:cNvPr id="31" name="TextBox 31"/>
            <p:cNvSpPr txBox="1"/>
            <p:nvPr/>
          </p:nvSpPr>
          <p:spPr>
            <a:xfrm>
              <a:off x="9974297" y="3694748"/>
              <a:ext cx="777807" cy="381381"/>
            </a:xfrm>
            <a:prstGeom prst="rect">
              <a:avLst/>
            </a:prstGeom>
            <a:noFill/>
            <a:ln>
              <a:noFill/>
            </a:ln>
          </p:spPr>
          <p:txBody>
            <a:bodyPr wrap="none" lIns="0" tIns="0" rIns="0" bIns="0" anchor="t" anchorCtr="0">
              <a:spAutoFit/>
            </a:bodyPr>
            <a:lstStyle/>
            <a:p>
              <a:pPr algn="ctr"/>
              <a:r>
                <a:rPr lang="en-US" sz="1950" b="1" dirty="0">
                  <a:solidFill>
                    <a:schemeClr val="accent1"/>
                  </a:solidFill>
                  <a:latin typeface="+mn-lt"/>
                  <a:ea typeface="+mn-ea"/>
                  <a:cs typeface="+mn-cs"/>
                </a:rPr>
                <a:t>1,000</a:t>
              </a:r>
            </a:p>
          </p:txBody>
        </p:sp>
        <p:sp>
          <p:nvSpPr>
            <p:cNvPr id="32" name="TextBox 32"/>
            <p:cNvSpPr txBox="1"/>
            <p:nvPr/>
          </p:nvSpPr>
          <p:spPr>
            <a:xfrm>
              <a:off x="9903097" y="4009549"/>
              <a:ext cx="920206"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nodes reached</a:t>
              </a:r>
            </a:p>
          </p:txBody>
        </p:sp>
      </p:grpSp>
      <p:grpSp>
        <p:nvGrpSpPr>
          <p:cNvPr id="43" name="Group 43"/>
          <p:cNvGrpSpPr/>
          <p:nvPr/>
        </p:nvGrpSpPr>
        <p:grpSpPr>
          <a:xfrm>
            <a:off x="6172200" y="4591050"/>
            <a:ext cx="5257800" cy="1428750"/>
            <a:chOff x="6172200" y="4591050"/>
            <a:chExt cx="5257800" cy="1428750"/>
          </a:xfrm>
        </p:grpSpPr>
        <p:sp>
          <p:nvSpPr>
            <p:cNvPr id="34" name="Rectangle 34"/>
            <p:cNvSpPr/>
            <p:nvPr/>
          </p:nvSpPr>
          <p:spPr>
            <a:xfrm>
              <a:off x="6172200" y="4591050"/>
              <a:ext cx="5257800" cy="1428750"/>
            </a:xfrm>
            <a:prstGeom prst="roundRect">
              <a:avLst>
                <a:gd name="adj" fmla="val 8000"/>
              </a:avLst>
            </a:prstGeom>
            <a:solidFill>
              <a:schemeClr val="dk1"/>
            </a:solidFill>
            <a:ln>
              <a:noFill/>
            </a:ln>
          </p:spPr>
        </p:sp>
        <p:sp>
          <p:nvSpPr>
            <p:cNvPr id="35" name="Rectangle 35"/>
            <p:cNvSpPr/>
            <p:nvPr/>
          </p:nvSpPr>
          <p:spPr>
            <a:xfrm>
              <a:off x="6172200" y="4591050"/>
              <a:ext cx="57150" cy="1428750"/>
            </a:xfrm>
            <a:prstGeom prst="roundRect">
              <a:avLst>
                <a:gd name="adj" fmla="val 50000"/>
              </a:avLst>
            </a:prstGeom>
            <a:solidFill>
              <a:schemeClr val="accent2"/>
            </a:solidFill>
            <a:ln>
              <a:noFill/>
            </a:ln>
          </p:spPr>
        </p:sp>
        <p:sp>
          <p:nvSpPr>
            <p:cNvPr id="36" name="TextBox 36"/>
            <p:cNvSpPr txBox="1"/>
            <p:nvPr/>
          </p:nvSpPr>
          <p:spPr>
            <a:xfrm>
              <a:off x="6469761" y="4799171"/>
              <a:ext cx="1576335"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Portable output</a:t>
              </a:r>
            </a:p>
          </p:txBody>
        </p:sp>
        <p:sp>
          <p:nvSpPr>
            <p:cNvPr id="37" name="TextBox 37"/>
            <p:cNvSpPr txBox="1"/>
            <p:nvPr/>
          </p:nvSpPr>
          <p:spPr>
            <a:xfrm>
              <a:off x="6470904" y="5147310"/>
              <a:ext cx="3797808"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The result is just an execution sequence, so the</a:t>
              </a:r>
            </a:p>
          </p:txBody>
        </p:sp>
        <p:sp>
          <p:nvSpPr>
            <p:cNvPr id="38" name="TextBox 38"/>
            <p:cNvSpPr txBox="1"/>
            <p:nvPr/>
          </p:nvSpPr>
          <p:spPr>
            <a:xfrm>
              <a:off x="6470904" y="5356860"/>
              <a:ext cx="1538783"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schedule can run on</a:t>
              </a:r>
            </a:p>
          </p:txBody>
        </p:sp>
        <p:sp>
          <p:nvSpPr>
            <p:cNvPr id="39" name="Rectangle 39"/>
            <p:cNvSpPr/>
            <p:nvPr/>
          </p:nvSpPr>
          <p:spPr>
            <a:xfrm>
              <a:off x="6477000" y="5638800"/>
              <a:ext cx="1428750" cy="285750"/>
            </a:xfrm>
            <a:prstGeom prst="roundRect">
              <a:avLst>
                <a:gd name="adj" fmla="val 20000"/>
              </a:avLst>
            </a:prstGeom>
            <a:solidFill>
              <a:srgbClr val="1E2740"/>
            </a:solidFill>
            <a:ln>
              <a:noFill/>
            </a:ln>
          </p:spPr>
        </p:sp>
        <p:sp>
          <p:nvSpPr>
            <p:cNvPr id="40" name="TextBox 40"/>
            <p:cNvSpPr txBox="1"/>
            <p:nvPr/>
          </p:nvSpPr>
          <p:spPr>
            <a:xfrm>
              <a:off x="6892631" y="5717381"/>
              <a:ext cx="597487" cy="220028"/>
            </a:xfrm>
            <a:prstGeom prst="rect">
              <a:avLst/>
            </a:prstGeom>
            <a:noFill/>
            <a:ln>
              <a:noFill/>
            </a:ln>
          </p:spPr>
          <p:txBody>
            <a:bodyPr wrap="none" lIns="0" tIns="0" rIns="0" bIns="0" anchor="t" anchorCtr="0">
              <a:spAutoFit/>
            </a:bodyPr>
            <a:lstStyle/>
            <a:p>
              <a:pPr algn="ctr"/>
              <a:r>
                <a:rPr lang="en-US" sz="1120" b="1" dirty="0">
                  <a:solidFill>
                    <a:srgbClr val="7CA0EC"/>
                  </a:solidFill>
                  <a:latin typeface="+mn-lt"/>
                  <a:ea typeface="+mn-ea"/>
                  <a:cs typeface="+mn-cs"/>
                </a:rPr>
                <a:t>any CPU</a:t>
              </a:r>
            </a:p>
          </p:txBody>
        </p:sp>
        <p:sp>
          <p:nvSpPr>
            <p:cNvPr id="41" name="Rectangle 41"/>
            <p:cNvSpPr/>
            <p:nvPr/>
          </p:nvSpPr>
          <p:spPr>
            <a:xfrm>
              <a:off x="8039100" y="5638800"/>
              <a:ext cx="1428750" cy="285750"/>
            </a:xfrm>
            <a:prstGeom prst="roundRect">
              <a:avLst>
                <a:gd name="adj" fmla="val 20000"/>
              </a:avLst>
            </a:prstGeom>
            <a:solidFill>
              <a:srgbClr val="1E2740"/>
            </a:solidFill>
            <a:ln>
              <a:noFill/>
            </a:ln>
          </p:spPr>
        </p:sp>
        <p:sp>
          <p:nvSpPr>
            <p:cNvPr id="42" name="TextBox 42"/>
            <p:cNvSpPr txBox="1"/>
            <p:nvPr/>
          </p:nvSpPr>
          <p:spPr>
            <a:xfrm>
              <a:off x="8498133" y="5717381"/>
              <a:ext cx="510684" cy="220028"/>
            </a:xfrm>
            <a:prstGeom prst="rect">
              <a:avLst/>
            </a:prstGeom>
            <a:noFill/>
            <a:ln>
              <a:noFill/>
            </a:ln>
          </p:spPr>
          <p:txBody>
            <a:bodyPr wrap="none" lIns="0" tIns="0" rIns="0" bIns="0" anchor="t" anchorCtr="0">
              <a:spAutoFit/>
            </a:bodyPr>
            <a:lstStyle/>
            <a:p>
              <a:pPr algn="ctr"/>
              <a:r>
                <a:rPr lang="en-US" sz="1120" b="1" dirty="0">
                  <a:solidFill>
                    <a:schemeClr val="accent2"/>
                  </a:solidFill>
                  <a:latin typeface="+mn-lt"/>
                  <a:ea typeface="+mn-ea"/>
                  <a:cs typeface="+mn-cs"/>
                </a:rPr>
                <a:t>or GPU</a:t>
              </a:r>
            </a:p>
          </p:txBody>
        </p:sp>
      </p:grpSp>
      <p:grpSp>
        <p:nvGrpSpPr>
          <p:cNvPr id="46" name="Group 46"/>
          <p:cNvGrpSpPr/>
          <p:nvPr/>
        </p:nvGrpSpPr>
        <p:grpSpPr>
          <a:xfrm>
            <a:off x="757238" y="6570345"/>
            <a:ext cx="10677524" cy="176212"/>
            <a:chOff x="757238" y="6570345"/>
            <a:chExt cx="10677524" cy="176212"/>
          </a:xfrm>
        </p:grpSpPr>
        <p:sp>
          <p:nvSpPr>
            <p:cNvPr id="44" name="TextBox 44"/>
            <p:cNvSpPr txBox="1"/>
            <p:nvPr/>
          </p:nvSpPr>
          <p:spPr>
            <a:xfrm>
              <a:off x="757238" y="6570345"/>
              <a:ext cx="2983760"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Moccasin · ICML 2023 · arxiv.org/abs/2304.14463</a:t>
              </a:r>
            </a:p>
          </p:txBody>
        </p:sp>
        <p:sp>
          <p:nvSpPr>
            <p:cNvPr id="45" name="TextBox 45"/>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10 / 10</a:t>
              </a:r>
            </a:p>
          </p:txBody>
        </p:sp>
      </p:grpSp>
      <p:sp>
        <p:nvSpPr>
          <p:cNvPr id="47" name="cue_s10_c1_lasting_takeaway_right_problem_formu" title="cue_s10_c1_lasting_takeaway_right_problem_formu" descr="cue_s10_c1_lasting_takeaway_right_problem_formu The lasting takeaway is that the right problem formulation changes what is tractable."/>
          <p:cNvSpPr/>
          <p:nvPr/>
        </p:nvSpPr>
        <p:spPr>
          <a:xfrm>
            <a:off x="724204" y="1674723"/>
            <a:ext cx="7342022" cy="255186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10_c2_expressing_rematerialization_decisio" title="cue_s10_c2_expressing_rematerialization_decisio" descr="cue_s10_c2_expressing_rematerialization_decisio By expressing rematerialization decisions as a small set of retention intervals in a constraint program, Moccasin reduces the number of discrete variables from quadratic to linear in the graph size."/>
          <p:cNvSpPr/>
          <p:nvPr/>
        </p:nvSpPr>
        <p:spPr>
          <a:xfrm>
            <a:off x="6171590" y="1428521"/>
            <a:ext cx="5258409"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10_c3_single_change_lets_scale_compute" title="cue_s10_c3_single_change_lets_scale_compute" descr="cue_s10_c3_single_change_lets_scale_compute That single change lets it scale to compute graphs far larger than prior methods could handle, solving them up to ten times faster while keeping the added runtime overhead under five percent."/>
          <p:cNvSpPr/>
          <p:nvPr/>
        </p:nvSpPr>
        <p:spPr>
          <a:xfrm>
            <a:off x="6171590" y="3009976"/>
            <a:ext cx="5258409"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10_c4_because_output_just_execution_sequen" title="cue_s10_c4_because_output_just_execution_sequen" descr="cue_s10_c4_because_output_just_execution_sequen And because the output is just an execution sequence, the resulting schedule can run on any CPU or GPU."/>
          <p:cNvSpPr/>
          <p:nvPr/>
        </p:nvSpPr>
        <p:spPr>
          <a:xfrm>
            <a:off x="6171590" y="4590745"/>
            <a:ext cx="5258409"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occasin_video_ppt169">
  <a:themeElements>
    <a:clrScheme name="moccasin_video_ppt169">
      <a:dk1>
        <a:srgbClr val="12172A"/>
      </a:dk1>
      <a:lt1>
        <a:srgbClr val="FFFFFF"/>
      </a:lt1>
      <a:dk2>
        <a:srgbClr val="5A6675"/>
      </a:dk2>
      <a:lt2>
        <a:srgbClr val="F3F5FA"/>
      </a:lt2>
      <a:accent1>
        <a:srgbClr val="2453D6"/>
      </a:accent1>
      <a:accent2>
        <a:srgbClr val="0E9E8F"/>
      </a:accent2>
      <a:accent3>
        <a:srgbClr val="E4572E"/>
      </a:accent3>
      <a:accent4>
        <a:srgbClr val="E2E7EF"/>
      </a:accent4>
      <a:accent5>
        <a:srgbClr val="F7F9FC"/>
      </a:accent5>
      <a:accent6>
        <a:srgbClr val="E7EEFF"/>
      </a:accent6>
      <a:hlink>
        <a:srgbClr val="0E9E8F"/>
      </a:hlink>
      <a:folHlink>
        <a:srgbClr val="E4572E"/>
      </a:folHlink>
    </a:clrScheme>
    <a:fontScheme name="moccasin_video_ppt16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ccasin_video_ppt16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occasin_video_ppt169">
  <a:themeElements>
    <a:clrScheme name="moccasin_video_ppt169">
      <a:dk1>
        <a:srgbClr val="12172A"/>
      </a:dk1>
      <a:lt1>
        <a:srgbClr val="FFFFFF"/>
      </a:lt1>
      <a:dk2>
        <a:srgbClr val="5A6675"/>
      </a:dk2>
      <a:lt2>
        <a:srgbClr val="F3F5FA"/>
      </a:lt2>
      <a:accent1>
        <a:srgbClr val="2453D6"/>
      </a:accent1>
      <a:accent2>
        <a:srgbClr val="0E9E8F"/>
      </a:accent2>
      <a:accent3>
        <a:srgbClr val="E4572E"/>
      </a:accent3>
      <a:accent4>
        <a:srgbClr val="E2E7EF"/>
      </a:accent4>
      <a:accent5>
        <a:srgbClr val="F7F9FC"/>
      </a:accent5>
      <a:accent6>
        <a:srgbClr val="E7EEFF"/>
      </a:accent6>
      <a:hlink>
        <a:srgbClr val="0E9E8F"/>
      </a:hlink>
      <a:folHlink>
        <a:srgbClr val="E4572E"/>
      </a:folHlink>
    </a:clrScheme>
    <a:fontScheme name="moccasin_video_ppt16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ccasin_video_ppt16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2026-07-15T13:48:24Z</dcterms:created>
  <dcterms:modified xsi:type="dcterms:W3CDTF">2026-07-15T13:48:24Z</dcterms:modified>
  <cp:category/>
  <cp:contentStatus/>
</cp:coreProperties>
</file>
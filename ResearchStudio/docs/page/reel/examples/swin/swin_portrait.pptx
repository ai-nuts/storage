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66640" cy="427939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927" y="418988"/>
            <a:ext cx="29424707" cy="5174562"/>
          </a:xfrm>
          <a:prstGeom prst="roundRect">
            <a:avLst>
              <a:gd name="adj" fmla="val 1104"/>
            </a:avLst>
          </a:prstGeom>
          <a:solidFill>
            <a:srgbClr val="0E6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1846" y="1985581"/>
            <a:ext cx="2537315" cy="20412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0108" y="1985581"/>
            <a:ext cx="19053" cy="20412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0927" y="5898269"/>
            <a:ext cx="29424707" cy="9483623"/>
          </a:xfrm>
          <a:prstGeom prst="roundRect">
            <a:avLst>
              <a:gd name="adj" fmla="val 602"/>
            </a:avLst>
          </a:prstGeom>
          <a:solidFill>
            <a:srgbClr val="FAFAF7"/>
          </a:solidFill>
          <a:ln w="9526">
            <a:solidFill>
              <a:srgbClr val="B4C4C2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2811" y="6060151"/>
            <a:ext cx="29100940" cy="104747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2811" y="7088567"/>
            <a:ext cx="29100940" cy="19054"/>
          </a:xfrm>
          <a:prstGeom prst="rect">
            <a:avLst/>
          </a:prstGeom>
          <a:solidFill>
            <a:srgbClr val="B6D2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0927" y="15686611"/>
            <a:ext cx="14559993" cy="7370975"/>
          </a:xfrm>
          <a:prstGeom prst="roundRect">
            <a:avLst>
              <a:gd name="adj" fmla="val 775"/>
            </a:avLst>
          </a:prstGeom>
          <a:solidFill>
            <a:srgbClr val="FAFAF7"/>
          </a:solidFill>
          <a:ln w="9526">
            <a:solidFill>
              <a:srgbClr val="B4C4C2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285642" y="15686611"/>
            <a:ext cx="14559993" cy="5347455"/>
          </a:xfrm>
          <a:prstGeom prst="roundRect">
            <a:avLst>
              <a:gd name="adj" fmla="val 1068"/>
            </a:avLst>
          </a:prstGeom>
          <a:solidFill>
            <a:srgbClr val="FAFAF7"/>
          </a:solidFill>
          <a:ln w="9526">
            <a:solidFill>
              <a:srgbClr val="B4C4C2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5285642" y="21287898"/>
            <a:ext cx="14559993" cy="9348673"/>
          </a:xfrm>
          <a:prstGeom prst="roundRect">
            <a:avLst>
              <a:gd name="adj" fmla="val 611"/>
            </a:avLst>
          </a:prstGeom>
          <a:solidFill>
            <a:srgbClr val="FAFAF7"/>
          </a:solidFill>
          <a:ln w="9526">
            <a:solidFill>
              <a:srgbClr val="B4C4C2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0927" y="23311421"/>
            <a:ext cx="14559993" cy="10336923"/>
          </a:xfrm>
          <a:prstGeom prst="roundRect">
            <a:avLst>
              <a:gd name="adj" fmla="val 552"/>
            </a:avLst>
          </a:prstGeom>
          <a:solidFill>
            <a:srgbClr val="FAFAF7"/>
          </a:solidFill>
          <a:ln w="9526">
            <a:solidFill>
              <a:srgbClr val="B4C4C2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285642" y="30890403"/>
            <a:ext cx="14559993" cy="6249559"/>
          </a:xfrm>
          <a:prstGeom prst="roundRect">
            <a:avLst>
              <a:gd name="adj" fmla="val 914"/>
            </a:avLst>
          </a:prstGeom>
          <a:solidFill>
            <a:srgbClr val="FAFAF7"/>
          </a:solidFill>
          <a:ln w="9526">
            <a:solidFill>
              <a:srgbClr val="B4C4C2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0927" y="33902179"/>
            <a:ext cx="14559993" cy="8135452"/>
          </a:xfrm>
          <a:prstGeom prst="roundRect">
            <a:avLst>
              <a:gd name="adj" fmla="val 702"/>
            </a:avLst>
          </a:prstGeom>
          <a:solidFill>
            <a:srgbClr val="EAF2F2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927" y="33902179"/>
            <a:ext cx="14559993" cy="9527"/>
          </a:xfrm>
          <a:prstGeom prst="rect">
            <a:avLst/>
          </a:prstGeom>
          <a:solidFill>
            <a:srgbClr val="B4C4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971394" y="33902179"/>
            <a:ext cx="9526" cy="8135452"/>
          </a:xfrm>
          <a:prstGeom prst="rect">
            <a:avLst/>
          </a:prstGeom>
          <a:solidFill>
            <a:srgbClr val="B4C4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927" y="42028104"/>
            <a:ext cx="14559993" cy="9527"/>
          </a:xfrm>
          <a:prstGeom prst="rect">
            <a:avLst/>
          </a:prstGeom>
          <a:solidFill>
            <a:srgbClr val="B4C4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0927" y="33902179"/>
            <a:ext cx="57161" cy="8135452"/>
          </a:xfrm>
          <a:prstGeom prst="rect">
            <a:avLst/>
          </a:prstGeom>
          <a:solidFill>
            <a:srgbClr val="0E6A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5285642" y="37393794"/>
            <a:ext cx="14559993" cy="4775364"/>
          </a:xfrm>
          <a:prstGeom prst="roundRect">
            <a:avLst>
              <a:gd name="adj" fmla="val 1196"/>
            </a:avLst>
          </a:prstGeom>
          <a:solidFill>
            <a:srgbClr val="FAFAF7"/>
          </a:solidFill>
          <a:ln w="9526">
            <a:solidFill>
              <a:srgbClr val="B4C4C2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5567030" y="825180"/>
            <a:ext cx="2539250" cy="1396528"/>
          </a:xfrm>
          <a:prstGeom prst="roundRect">
            <a:avLst>
              <a:gd name="adj" fmla="val 727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microsoft-re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4864" y="1211749"/>
            <a:ext cx="2183582" cy="62339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582811" y="15797607"/>
            <a:ext cx="14236226" cy="104747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2811" y="16826023"/>
            <a:ext cx="14236226" cy="19054"/>
          </a:xfrm>
          <a:prstGeom prst="rect">
            <a:avLst/>
          </a:prstGeom>
          <a:solidFill>
            <a:srgbClr val="B6D2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5447526" y="15848493"/>
            <a:ext cx="14236225" cy="104747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5447526" y="16876910"/>
            <a:ext cx="14236225" cy="19053"/>
          </a:xfrm>
          <a:prstGeom prst="rect">
            <a:avLst/>
          </a:prstGeom>
          <a:solidFill>
            <a:srgbClr val="B6D2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5447526" y="21449780"/>
            <a:ext cx="14236225" cy="104747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5447526" y="22478198"/>
            <a:ext cx="14236225" cy="19053"/>
          </a:xfrm>
          <a:prstGeom prst="rect">
            <a:avLst/>
          </a:prstGeom>
          <a:solidFill>
            <a:srgbClr val="B6D2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2811" y="23473303"/>
            <a:ext cx="14236226" cy="104746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2811" y="24501718"/>
            <a:ext cx="14236226" cy="19054"/>
          </a:xfrm>
          <a:prstGeom prst="rect">
            <a:avLst/>
          </a:prstGeom>
          <a:solidFill>
            <a:srgbClr val="B6D2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5447526" y="26956587"/>
            <a:ext cx="14236225" cy="1097166"/>
          </a:xfrm>
          <a:prstGeom prst="roundRect">
            <a:avLst>
              <a:gd name="adj" fmla="val 50000"/>
            </a:avLst>
          </a:prstGeom>
          <a:solidFill>
            <a:srgbClr val="E3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447526" y="28299998"/>
            <a:ext cx="14236225" cy="19644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5447526" y="28299998"/>
            <a:ext cx="14236225" cy="9526"/>
          </a:xfrm>
          <a:prstGeom prst="rect">
            <a:avLst/>
          </a:prstGeom>
          <a:solidFill>
            <a:srgbClr val="ABCB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5447526" y="31052285"/>
            <a:ext cx="14236225" cy="104747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5447526" y="32080703"/>
            <a:ext cx="14236225" cy="19053"/>
          </a:xfrm>
          <a:prstGeom prst="rect">
            <a:avLst/>
          </a:prstGeom>
          <a:solidFill>
            <a:srgbClr val="B6D2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424" y="34064061"/>
            <a:ext cx="14188614" cy="104746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424" y="35092476"/>
            <a:ext cx="14188614" cy="19054"/>
          </a:xfrm>
          <a:prstGeom prst="rect">
            <a:avLst/>
          </a:prstGeom>
          <a:solidFill>
            <a:srgbClr val="B6D2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5447526" y="37555676"/>
            <a:ext cx="14236225" cy="10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5447526" y="38584094"/>
            <a:ext cx="14236225" cy="19054"/>
          </a:xfrm>
          <a:prstGeom prst="rect">
            <a:avLst/>
          </a:prstGeom>
          <a:solidFill>
            <a:srgbClr val="B6D2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5447526" y="38945955"/>
            <a:ext cx="14236225" cy="3061324"/>
          </a:xfrm>
          <a:prstGeom prst="roundRect">
            <a:avLst>
              <a:gd name="adj" fmla="val 2489"/>
            </a:avLst>
          </a:prstGeom>
          <a:gradFill rotWithShape="1" flip="none">
            <a:gsLst>
              <a:gs pos="0">
                <a:srgbClr val="E2EDEE"/>
              </a:gs>
              <a:gs pos="100000">
                <a:srgbClr val="F1F6F6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4538742" y="2450247"/>
            <a:ext cx="2158348" cy="2158324"/>
          </a:xfrm>
          <a:prstGeom prst="roundRect">
            <a:avLst>
              <a:gd name="adj" fmla="val 5296"/>
            </a:avLst>
          </a:prstGeom>
          <a:solidFill>
            <a:srgbClr val="FFFFFF"/>
          </a:solidFill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53064" y="2564567"/>
            <a:ext cx="1929705" cy="1929684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26976370" y="2450247"/>
            <a:ext cx="2158348" cy="2158324"/>
          </a:xfrm>
          <a:prstGeom prst="roundRect">
            <a:avLst>
              <a:gd name="adj" fmla="val 5296"/>
            </a:avLst>
          </a:prstGeom>
          <a:solidFill>
            <a:srgbClr val="FFFFFF"/>
          </a:solidFill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90692" y="2564567"/>
            <a:ext cx="1929704" cy="1929684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11962864" y="8231717"/>
            <a:ext cx="17720887" cy="5082314"/>
          </a:xfrm>
          <a:prstGeom prst="roundRect">
            <a:avLst>
              <a:gd name="adj" fmla="val 749"/>
            </a:avLst>
          </a:prstGeom>
          <a:solidFill>
            <a:srgbClr val="FFFFFF"/>
          </a:solidFill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page4_figur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63104" y="8231717"/>
            <a:ext cx="17720407" cy="5082314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1294622" y="28634176"/>
            <a:ext cx="12812604" cy="4845146"/>
          </a:xfrm>
          <a:prstGeom prst="roundRect">
            <a:avLst>
              <a:gd name="adj" fmla="val 786"/>
            </a:avLst>
          </a:prstGeom>
          <a:solidFill>
            <a:srgbClr val="FFFFFF"/>
          </a:solidFill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page2_figur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4622" y="28634176"/>
            <a:ext cx="12812604" cy="4845146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15701362" y="40652260"/>
            <a:ext cx="13728554" cy="132972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5701362" y="40652260"/>
            <a:ext cx="13728554" cy="9526"/>
          </a:xfrm>
          <a:prstGeom prst="rect">
            <a:avLst/>
          </a:prstGeom>
          <a:solidFill>
            <a:srgbClr val="C3DA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5447526" y="23009976"/>
            <a:ext cx="8375239" cy="735312"/>
          </a:xfrm>
          <a:prstGeom prst="rect">
            <a:avLst/>
          </a:prstGeom>
          <a:solidFill>
            <a:srgbClr val="E3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447526" y="23735761"/>
            <a:ext cx="8375239" cy="952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3822765" y="23009976"/>
            <a:ext cx="3571705" cy="735312"/>
          </a:xfrm>
          <a:prstGeom prst="rect">
            <a:avLst/>
          </a:prstGeom>
          <a:solidFill>
            <a:srgbClr val="E3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3822765" y="23735761"/>
            <a:ext cx="3571705" cy="952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7394470" y="23009976"/>
            <a:ext cx="2289281" cy="735312"/>
          </a:xfrm>
          <a:prstGeom prst="rect">
            <a:avLst/>
          </a:prstGeom>
          <a:solidFill>
            <a:srgbClr val="E3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7394470" y="23735761"/>
            <a:ext cx="2289281" cy="952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5447526" y="23745288"/>
            <a:ext cx="8375239" cy="7400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5447526" y="24475834"/>
            <a:ext cx="8375239" cy="9526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3822765" y="23745288"/>
            <a:ext cx="3571705" cy="7400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3822765" y="24475834"/>
            <a:ext cx="3571705" cy="9526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7394470" y="23745288"/>
            <a:ext cx="2289281" cy="7400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7394470" y="24475834"/>
            <a:ext cx="2289281" cy="9526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5447526" y="24485360"/>
            <a:ext cx="8375239" cy="7400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5447526" y="25215906"/>
            <a:ext cx="8375239" cy="952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3822765" y="24485360"/>
            <a:ext cx="3571705" cy="7400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3822765" y="25215906"/>
            <a:ext cx="3571705" cy="952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7394470" y="24485360"/>
            <a:ext cx="2289281" cy="7400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7394470" y="25215906"/>
            <a:ext cx="2289281" cy="952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5447526" y="25225433"/>
            <a:ext cx="8375239" cy="7400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5447526" y="25955981"/>
            <a:ext cx="8375239" cy="952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3822765" y="25225433"/>
            <a:ext cx="3571705" cy="7400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3822765" y="25955981"/>
            <a:ext cx="3571705" cy="952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7394470" y="25225433"/>
            <a:ext cx="2289281" cy="7400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7394470" y="25955981"/>
            <a:ext cx="2289281" cy="952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5447526" y="25965508"/>
            <a:ext cx="8375239" cy="740073"/>
          </a:xfrm>
          <a:prstGeom prst="rect">
            <a:avLst/>
          </a:prstGeom>
          <a:solidFill>
            <a:srgbClr val="E3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5447526" y="26696054"/>
            <a:ext cx="8375239" cy="952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3822765" y="25965508"/>
            <a:ext cx="3571705" cy="740073"/>
          </a:xfrm>
          <a:prstGeom prst="rect">
            <a:avLst/>
          </a:prstGeom>
          <a:solidFill>
            <a:srgbClr val="E3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3822765" y="26696054"/>
            <a:ext cx="3571705" cy="952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7394470" y="25965508"/>
            <a:ext cx="2289281" cy="740073"/>
          </a:xfrm>
          <a:prstGeom prst="rect">
            <a:avLst/>
          </a:prstGeom>
          <a:solidFill>
            <a:srgbClr val="E3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7394470" y="26696054"/>
            <a:ext cx="2289281" cy="952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278605" y="945103"/>
            <a:ext cx="19955552" cy="23547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8065"/>
              </a:lnSpc>
              <a:spcBef>
                <a:spcPts val="0"/>
              </a:spcBef>
              <a:spcAft>
                <a:spcPts val="0"/>
              </a:spcAft>
            </a:pPr>
            <a:r>
              <a:rPr sz="7201" b="1" spc="-72">
                <a:solidFill>
                  <a:srgbClr val="FFFFFF"/>
                </a:solidFill>
                <a:latin typeface="Arial"/>
              </a:rPr>
              <a:t>Swin Transformer: Hierarchical Vision Transformer using Shifted Windows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78605" y="3221268"/>
            <a:ext cx="19955552" cy="15242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22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FFFFFF"/>
                </a:solidFill>
                <a:latin typeface="Arial"/>
              </a:rPr>
              <a:t>Ze Liu</a:t>
            </a:r>
            <a:r>
              <a:rPr sz="5040" b="0" baseline="30000">
                <a:solidFill>
                  <a:srgbClr val="FFFFFF"/>
                </a:solidFill>
                <a:latin typeface="Arial"/>
              </a:rPr>
              <a:t>1</a:t>
            </a:r>
            <a:r>
              <a:rPr sz="3600" b="0">
                <a:solidFill>
                  <a:srgbClr val="FFFFFF"/>
                </a:solidFill>
                <a:latin typeface="Arial"/>
              </a:rPr>
              <a:t>, Yutong Lin</a:t>
            </a:r>
            <a:r>
              <a:rPr sz="5040" b="0" baseline="30000">
                <a:solidFill>
                  <a:srgbClr val="FFFFFF"/>
                </a:solidFill>
                <a:latin typeface="Arial"/>
              </a:rPr>
              <a:t>1</a:t>
            </a:r>
            <a:r>
              <a:rPr sz="3600" b="0">
                <a:solidFill>
                  <a:srgbClr val="FFFFFF"/>
                </a:solidFill>
                <a:latin typeface="Arial"/>
              </a:rPr>
              <a:t>, Yue Cao</a:t>
            </a:r>
            <a:r>
              <a:rPr sz="5040" b="0" baseline="30000">
                <a:solidFill>
                  <a:srgbClr val="FFFFFF"/>
                </a:solidFill>
                <a:latin typeface="Arial"/>
              </a:rPr>
              <a:t>1</a:t>
            </a:r>
            <a:r>
              <a:rPr sz="3600" b="0">
                <a:solidFill>
                  <a:srgbClr val="FFFFFF"/>
                </a:solidFill>
                <a:latin typeface="Arial"/>
              </a:rPr>
              <a:t>, Han Hu</a:t>
            </a:r>
            <a:r>
              <a:rPr sz="5040" b="0" baseline="30000">
                <a:solidFill>
                  <a:srgbClr val="FFFFFF"/>
                </a:solidFill>
                <a:latin typeface="Arial"/>
              </a:rPr>
              <a:t>1</a:t>
            </a:r>
            <a:r>
              <a:rPr sz="3600" b="0">
                <a:solidFill>
                  <a:srgbClr val="FFFFFF"/>
                </a:solidFill>
                <a:latin typeface="Arial"/>
              </a:rPr>
              <a:t>, Yixuan Wei</a:t>
            </a:r>
            <a:r>
              <a:rPr sz="5040" b="0" baseline="30000">
                <a:solidFill>
                  <a:srgbClr val="FFFFFF"/>
                </a:solidFill>
                <a:latin typeface="Arial"/>
              </a:rPr>
              <a:t>1</a:t>
            </a:r>
            <a:r>
              <a:rPr sz="3600" b="0">
                <a:solidFill>
                  <a:srgbClr val="FFFFFF"/>
                </a:solidFill>
                <a:latin typeface="Arial"/>
              </a:rPr>
              <a:t>, Zheng Zhang</a:t>
            </a:r>
            <a:r>
              <a:rPr sz="5040" b="0" baseline="30000">
                <a:solidFill>
                  <a:srgbClr val="FFFFFF"/>
                </a:solidFill>
                <a:latin typeface="Arial"/>
              </a:rPr>
              <a:t>1</a:t>
            </a:r>
            <a:r>
              <a:rPr sz="3600" b="0">
                <a:solidFill>
                  <a:srgbClr val="FFFFFF"/>
                </a:solidFill>
                <a:latin typeface="Arial"/>
              </a:rPr>
              <a:t>, Stephen Lin</a:t>
            </a:r>
            <a:r>
              <a:rPr sz="5040" b="0" baseline="30000">
                <a:solidFill>
                  <a:srgbClr val="FFFFFF"/>
                </a:solidFill>
                <a:latin typeface="Arial"/>
              </a:rPr>
              <a:t>1</a:t>
            </a:r>
            <a:r>
              <a:rPr sz="3600" b="0">
                <a:solidFill>
                  <a:srgbClr val="FFFFFF"/>
                </a:solidFill>
                <a:latin typeface="Arial"/>
              </a:rPr>
              <a:t>, Baining Guo</a:t>
            </a:r>
            <a:r>
              <a:rPr sz="5040" b="0" baseline="300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82811" y="6060151"/>
            <a:ext cx="29405797" cy="1204590"/>
          </a:xfrm>
          <a:prstGeom prst="rect">
            <a:avLst/>
          </a:prstGeom>
          <a:noFill/>
        </p:spPr>
        <p:txBody>
          <a:bodyPr wrap="none" lIns="0" rIns="4191791" tIns="0" bIns="190533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>
                <a:solidFill>
                  <a:srgbClr val="0E6A6E"/>
                </a:solidFill>
                <a:latin typeface="Arial"/>
              </a:rPr>
              <a:t>Method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31846" y="1985581"/>
            <a:ext cx="1943185" cy="9344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401"/>
              </a:lnSpc>
              <a:spcBef>
                <a:spcPts val="0"/>
              </a:spcBef>
              <a:spcAft>
                <a:spcPts val="0"/>
              </a:spcAft>
            </a:pPr>
            <a:r>
              <a:rPr sz="6401" b="1" spc="-64">
                <a:solidFill>
                  <a:srgbClr val="FFFFFF"/>
                </a:solidFill>
                <a:latin typeface="Arial"/>
              </a:rPr>
              <a:t>ICCV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569437" y="2858968"/>
            <a:ext cx="1052249" cy="6774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256">
                <a:solidFill>
                  <a:srgbClr val="FFFFFF"/>
                </a:solidFill>
                <a:latin typeface="Arial"/>
              </a:rPr>
              <a:t>2021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95217" y="3585056"/>
            <a:ext cx="1610561" cy="508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4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spc="432">
                <a:solidFill>
                  <a:srgbClr val="FFFFFF"/>
                </a:solidFill>
                <a:latin typeface="Arial"/>
              </a:rPr>
              <a:t>POSTER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278605" y="4595329"/>
            <a:ext cx="19955552" cy="5080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480"/>
              </a:lnSpc>
              <a:spcBef>
                <a:spcPts val="0"/>
              </a:spcBef>
              <a:spcAft>
                <a:spcPts val="0"/>
              </a:spcAft>
            </a:pPr>
            <a:r>
              <a:rPr sz="2184" b="0" spc="48" baseline="30000">
                <a:solidFill>
                  <a:srgbClr val="FFFFFF"/>
                </a:solidFill>
                <a:latin typeface="Arial"/>
              </a:rPr>
              <a:t>1</a:t>
            </a:r>
            <a:r>
              <a:rPr sz="2400" b="0" spc="48">
                <a:solidFill>
                  <a:srgbClr val="FFFFFF"/>
                </a:solidFill>
                <a:latin typeface="Arial"/>
              </a:rPr>
              <a:t> Microsoft Research Asia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82811" y="15797607"/>
            <a:ext cx="14492478" cy="1204590"/>
          </a:xfrm>
          <a:prstGeom prst="rect">
            <a:avLst/>
          </a:prstGeom>
          <a:noFill/>
        </p:spPr>
        <p:txBody>
          <a:bodyPr wrap="square" lIns="0" rIns="4191791" tIns="0" bIns="190533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>
                <a:solidFill>
                  <a:srgbClr val="0E6A6E"/>
                </a:solidFill>
                <a:latin typeface="Arial"/>
              </a:rPr>
              <a:t>Problem 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5447526" y="15848493"/>
            <a:ext cx="14492477" cy="1204590"/>
          </a:xfrm>
          <a:prstGeom prst="rect">
            <a:avLst/>
          </a:prstGeom>
          <a:noFill/>
        </p:spPr>
        <p:txBody>
          <a:bodyPr wrap="square" lIns="0" rIns="4191791" tIns="0" bIns="190533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>
                <a:solidFill>
                  <a:srgbClr val="0E6A6E"/>
                </a:solidFill>
                <a:latin typeface="Arial"/>
              </a:rPr>
              <a:t>Dataset / Benchmark 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82811" y="17187885"/>
            <a:ext cx="14492478" cy="30484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22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1C1C1C"/>
                </a:solidFill>
                <a:latin typeface="Arial"/>
              </a:rPr>
              <a:t>Standard vision Transformers like </a:t>
            </a:r>
            <a:r>
              <a:rPr sz="3600" b="1">
                <a:solidFill>
                  <a:srgbClr val="111111"/>
                </a:solidFill>
                <a:latin typeface="Arial"/>
              </a:rPr>
              <a:t>ViT</a:t>
            </a:r>
            <a:r>
              <a:rPr sz="3600" b="0">
                <a:solidFill>
                  <a:srgbClr val="1C1C1C"/>
                </a:solidFill>
                <a:latin typeface="Arial"/>
              </a:rPr>
              <a:t> compute </a:t>
            </a:r>
            <a:r>
              <a:rPr sz="3600" b="1">
                <a:solidFill>
                  <a:srgbClr val="111111"/>
                </a:solidFill>
                <a:latin typeface="Arial"/>
              </a:rPr>
              <a:t>global self-attention</a:t>
            </a:r>
            <a:r>
              <a:rPr sz="3600" b="0">
                <a:solidFill>
                  <a:srgbClr val="1C1C1C"/>
                </a:solidFill>
                <a:latin typeface="Arial"/>
              </a:rPr>
              <a:t> at a single low resolution, giving </a:t>
            </a:r>
            <a:r>
              <a:rPr sz="3600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quadratic cost</a:t>
            </a:r>
            <a:r>
              <a:rPr sz="3600" b="0">
                <a:solidFill>
                  <a:srgbClr val="1C1C1C"/>
                </a:solidFill>
                <a:latin typeface="Arial"/>
              </a:rPr>
              <a:t> in image size and feature maps unsuitable as a general-purpose backbone for dense prediction tasks.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82811" y="20067239"/>
            <a:ext cx="14492478" cy="30484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22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1C1C1C"/>
                </a:solidFill>
                <a:latin typeface="Arial"/>
              </a:rPr>
              <a:t>Visual elements vary enormously in scale and images carry </a:t>
            </a:r>
            <a:r>
              <a:rPr sz="3600" b="1">
                <a:solidFill>
                  <a:srgbClr val="111111"/>
                </a:solidFill>
                <a:latin typeface="Arial"/>
              </a:rPr>
              <a:t>far higher token counts</a:t>
            </a:r>
            <a:r>
              <a:rPr sz="3600" b="0">
                <a:solidFill>
                  <a:srgbClr val="1C1C1C"/>
                </a:solidFill>
                <a:latin typeface="Arial"/>
              </a:rPr>
              <a:t> than text, so per-pixel tasks like detection and segmentation are intractable for ViT-style global attention on high-resolution inputs.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5447526" y="21449780"/>
            <a:ext cx="14492477" cy="1204591"/>
          </a:xfrm>
          <a:prstGeom prst="rect">
            <a:avLst/>
          </a:prstGeom>
          <a:noFill/>
        </p:spPr>
        <p:txBody>
          <a:bodyPr wrap="square" lIns="0" rIns="4191791" tIns="0" bIns="190533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>
                <a:solidFill>
                  <a:srgbClr val="0E6A6E"/>
                </a:solidFill>
                <a:latin typeface="Arial"/>
              </a:rPr>
              <a:t>Key Results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82811" y="23473303"/>
            <a:ext cx="14492478" cy="1204589"/>
          </a:xfrm>
          <a:prstGeom prst="rect">
            <a:avLst/>
          </a:prstGeom>
          <a:noFill/>
        </p:spPr>
        <p:txBody>
          <a:bodyPr wrap="square" lIns="0" rIns="4191791" tIns="0" bIns="190533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>
                <a:solidFill>
                  <a:srgbClr val="0E6A6E"/>
                </a:solidFill>
                <a:latin typeface="Arial"/>
              </a:rPr>
              <a:t>Motivation 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82811" y="24863581"/>
            <a:ext cx="14492478" cy="38105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22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1C1C1C"/>
                </a:solidFill>
                <a:latin typeface="Arial"/>
              </a:rPr>
              <a:t>A general-purpose backbone needs </a:t>
            </a:r>
            <a:r>
              <a:rPr sz="3600" b="1">
                <a:solidFill>
                  <a:srgbClr val="111111"/>
                </a:solidFill>
                <a:latin typeface="Arial"/>
              </a:rPr>
              <a:t>hierarchical multi-scale features</a:t>
            </a:r>
            <a:r>
              <a:rPr sz="3600" b="0">
                <a:solidFill>
                  <a:srgbClr val="1C1C1C"/>
                </a:solidFill>
                <a:latin typeface="Arial"/>
              </a:rPr>
              <a:t> and </a:t>
            </a:r>
            <a:r>
              <a:rPr sz="3600" b="1">
                <a:solidFill>
                  <a:srgbClr val="111111"/>
                </a:solidFill>
                <a:latin typeface="Arial"/>
              </a:rPr>
              <a:t>linear complexity</a:t>
            </a:r>
            <a:r>
              <a:rPr sz="3600" b="0">
                <a:solidFill>
                  <a:srgbClr val="1C1C1C"/>
                </a:solidFill>
                <a:latin typeface="Arial"/>
              </a:rPr>
              <a:t> in image size. Plain non-overlapping windows give linear cost but </a:t>
            </a:r>
            <a:r>
              <a:rPr sz="3600" b="1">
                <a:solidFill>
                  <a:srgbClr val="111111"/>
                </a:solidFill>
                <a:latin typeface="Arial"/>
              </a:rPr>
              <a:t>cut off information flow between windows</a:t>
            </a:r>
            <a:r>
              <a:rPr sz="3600" b="0">
                <a:solidFill>
                  <a:srgbClr val="1C1C1C"/>
                </a:solidFill>
                <a:latin typeface="Arial"/>
              </a:rPr>
              <a:t>; alternating regular and shifted partitions fixes this without per-pixel sliding-window latency.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5447526" y="26956587"/>
            <a:ext cx="14492477" cy="1261740"/>
          </a:xfrm>
          <a:prstGeom prst="rect">
            <a:avLst/>
          </a:prstGeom>
          <a:noFill/>
        </p:spPr>
        <p:txBody>
          <a:bodyPr wrap="square" lIns="425733" rIns="425733" tIns="246474" bIns="246474">
            <a:spAutoFit/>
          </a:bodyPr>
          <a:lstStyle/>
          <a:p>
            <a:pPr algn="ctr">
              <a:lnSpc>
                <a:spcPts val="4763"/>
              </a:lnSpc>
              <a:spcBef>
                <a:spcPts val="0"/>
              </a:spcBef>
              <a:spcAft>
                <a:spcPts val="0"/>
              </a:spcAft>
            </a:pPr>
            <a:r>
              <a:rPr sz="3528" b="1">
                <a:solidFill>
                  <a:srgbClr val="0E6A6E"/>
                </a:solidFill>
                <a:latin typeface="Arial"/>
              </a:rPr>
              <a:t>+2.7 box AP · +2.6 mask AP · +3.2 mIoU vs. previous SOTA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5447526" y="28299998"/>
            <a:ext cx="14492477" cy="2259120"/>
          </a:xfrm>
          <a:prstGeom prst="rect">
            <a:avLst/>
          </a:prstGeom>
          <a:noFill/>
        </p:spPr>
        <p:txBody>
          <a:bodyPr wrap="square" lIns="0" rIns="0" tIns="189314" bIns="0">
            <a:spAutoFit/>
          </a:bodyPr>
          <a:lstStyle/>
          <a:p>
            <a:pPr algn="l">
              <a:lnSpc>
                <a:spcPts val="4637"/>
              </a:lnSpc>
              <a:spcBef>
                <a:spcPts val="0"/>
              </a:spcBef>
              <a:spcAft>
                <a:spcPts val="0"/>
              </a:spcAft>
            </a:pPr>
            <a:r>
              <a:rPr sz="2583" b="1" spc="155">
                <a:solidFill>
                  <a:srgbClr val="111111"/>
                </a:solidFill>
                <a:latin typeface="Arial"/>
              </a:rPr>
              <a:t>SO WHAT → </a:t>
            </a:r>
            <a:r>
              <a:rPr sz="3312" b="0" i="1">
                <a:solidFill>
                  <a:srgbClr val="1C1C1C"/>
                </a:solidFill>
                <a:latin typeface="Arial"/>
              </a:rPr>
              <a:t>A single backbone family sets new SOTA across all three tasks at unusually large margins; with ImageNet-1K only training, </a:t>
            </a:r>
            <a:r>
              <a:rPr sz="3312" b="1" i="1">
                <a:solidFill>
                  <a:srgbClr val="111111"/>
                </a:solidFill>
                <a:latin typeface="Arial"/>
              </a:rPr>
              <a:t>Swin-T (81.3%)</a:t>
            </a:r>
            <a:r>
              <a:rPr sz="3312" b="0" i="1">
                <a:solidFill>
                  <a:srgbClr val="1C1C1C"/>
                </a:solidFill>
                <a:latin typeface="Arial"/>
              </a:rPr>
              <a:t> still matches or beats DeiT, RegNet and EfficientNet.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5447526" y="31052285"/>
            <a:ext cx="14492477" cy="1204591"/>
          </a:xfrm>
          <a:prstGeom prst="rect">
            <a:avLst/>
          </a:prstGeom>
          <a:noFill/>
        </p:spPr>
        <p:txBody>
          <a:bodyPr wrap="square" lIns="0" rIns="4191791" tIns="0" bIns="190533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>
                <a:solidFill>
                  <a:srgbClr val="0E6A6E"/>
                </a:solidFill>
                <a:latin typeface="Arial"/>
              </a:rPr>
              <a:t>Ablation Study 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30424" y="34064061"/>
            <a:ext cx="14444009" cy="1204589"/>
          </a:xfrm>
          <a:prstGeom prst="rect">
            <a:avLst/>
          </a:prstGeom>
          <a:noFill/>
        </p:spPr>
        <p:txBody>
          <a:bodyPr wrap="square" lIns="0" rIns="4191791" tIns="0" bIns="190533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>
                <a:solidFill>
                  <a:srgbClr val="0E6A6E"/>
                </a:solidFill>
                <a:latin typeface="Arial"/>
              </a:rPr>
              <a:t>Takeaway 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0424" y="35454337"/>
            <a:ext cx="14444009" cy="38105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22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1C1C1C"/>
                </a:solidFill>
                <a:latin typeface="Arial"/>
              </a:rPr>
              <a:t>Shifting </a:t>
            </a:r>
            <a:r>
              <a:rPr sz="3600" b="1">
                <a:solidFill>
                  <a:srgbClr val="111111"/>
                </a:solidFill>
                <a:latin typeface="Arial"/>
              </a:rPr>
              <a:t>non-overlapping local windows</a:t>
            </a:r>
            <a:r>
              <a:rPr sz="3600" b="0">
                <a:solidFill>
                  <a:srgbClr val="1C1C1C"/>
                </a:solidFill>
                <a:latin typeface="Arial"/>
              </a:rPr>
              <a:t> between layers turns the Transformer into a </a:t>
            </a:r>
            <a:r>
              <a:rPr sz="3600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hierarchical, linear-complexity vision backbone</a:t>
            </a:r>
            <a:r>
              <a:rPr sz="3600" b="0">
                <a:solidFill>
                  <a:srgbClr val="1C1C1C"/>
                </a:solidFill>
                <a:latin typeface="Arial"/>
              </a:rPr>
              <a:t> — SOTA across classification, detection, and segmentation, and a </a:t>
            </a:r>
            <a:r>
              <a:rPr sz="3600" b="1">
                <a:solidFill>
                  <a:srgbClr val="111111"/>
                </a:solidFill>
                <a:latin typeface="Arial"/>
              </a:rPr>
              <a:t>drop-in alternative to ResNet</a:t>
            </a:r>
            <a:r>
              <a:rPr sz="3600" b="0">
                <a:solidFill>
                  <a:srgbClr val="1C1C1C"/>
                </a:solidFill>
                <a:latin typeface="Arial"/>
              </a:rPr>
              <a:t> for dense prediction pipelines.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5447526" y="37555676"/>
            <a:ext cx="14492477" cy="1204592"/>
          </a:xfrm>
          <a:prstGeom prst="rect">
            <a:avLst/>
          </a:prstGeom>
          <a:noFill/>
        </p:spPr>
        <p:txBody>
          <a:bodyPr wrap="square" lIns="0" rIns="0" tIns="0" bIns="190533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>
                <a:solidFill>
                  <a:srgbClr val="0E6A6E"/>
                </a:solidFill>
                <a:latin typeface="Arial"/>
              </a:rPr>
              <a:t>Headline Numbers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30424" y="38996394"/>
            <a:ext cx="14444009" cy="30484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22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1C1C1C"/>
                </a:solidFill>
                <a:latin typeface="Arial"/>
              </a:rPr>
              <a:t>The same recipe also lifts all-MLP backbones, suggesting </a:t>
            </a:r>
            <a:r>
              <a:rPr sz="3600" b="1">
                <a:solidFill>
                  <a:srgbClr val="111111"/>
                </a:solidFill>
                <a:latin typeface="Arial"/>
              </a:rPr>
              <a:t>hierarchy and local-window communication</a:t>
            </a:r>
            <a:r>
              <a:rPr sz="3600" b="0">
                <a:solidFill>
                  <a:srgbClr val="1C1C1C"/>
                </a:solidFill>
                <a:latin typeface="Arial"/>
              </a:rPr>
              <a:t> are general design primitives for vision modeling beyond attention alone — Swin is now the default Transformer backbone for high-resolution dense prediction.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5163959" y="4791283"/>
            <a:ext cx="924259" cy="455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spc="96">
                <a:solidFill>
                  <a:srgbClr val="FFFFFF"/>
                </a:solidFill>
                <a:latin typeface="Arial"/>
              </a:rPr>
              <a:t>Paper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7650240" y="4791283"/>
            <a:ext cx="825198" cy="455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spc="96">
                <a:solidFill>
                  <a:srgbClr val="FFFFFF"/>
                </a:solidFill>
                <a:latin typeface="Arial"/>
              </a:rPr>
              <a:t>Code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2671700" y="13445114"/>
            <a:ext cx="16596673" cy="11204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838"/>
              </a:lnSpc>
              <a:spcBef>
                <a:spcPts val="0"/>
              </a:spcBef>
              <a:spcAft>
                <a:spcPts val="0"/>
              </a:spcAft>
            </a:pPr>
            <a:r>
              <a:rPr sz="2952" b="0" i="1">
                <a:solidFill>
                  <a:srgbClr val="555555"/>
                </a:solidFill>
                <a:latin typeface="Arial"/>
              </a:rPr>
              <a:t>Swin-T architecture: 4 stages with patch merging between them; each block alternates W-MSA (window) and SW-MSA (shifted window) self-attention.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5447273" y="17238771"/>
            <a:ext cx="14492734" cy="15242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03014" indent="-503014">
              <a:lnSpc>
                <a:spcPts val="522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600" b="1">
                <a:solidFill>
                  <a:srgbClr val="111111"/>
                </a:solidFill>
                <a:latin typeface="Arial"/>
              </a:rPr>
              <a:t>ImageNet-1K</a:t>
            </a:r>
            <a:r>
              <a:rPr sz="3600" b="0">
                <a:solidFill>
                  <a:srgbClr val="1C1C1C"/>
                </a:solidFill>
                <a:latin typeface="Arial"/>
              </a:rPr>
              <a:t> (1.28M train / 50K val / 1000 classes) and </a:t>
            </a:r>
            <a:r>
              <a:rPr sz="3600" b="1">
                <a:solidFill>
                  <a:srgbClr val="111111"/>
                </a:solidFill>
                <a:latin typeface="Arial"/>
              </a:rPr>
              <a:t>ImageNet-22K</a:t>
            </a:r>
            <a:r>
              <a:rPr sz="3600" b="0">
                <a:solidFill>
                  <a:srgbClr val="1C1C1C"/>
                </a:solidFill>
                <a:latin typeface="Arial"/>
              </a:rPr>
              <a:t> (14.2M images / 22K classes) for classification.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5447273" y="18724126"/>
            <a:ext cx="14492734" cy="2286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03014" indent="-503014">
              <a:lnSpc>
                <a:spcPts val="522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600" b="1">
                <a:solidFill>
                  <a:srgbClr val="111111"/>
                </a:solidFill>
                <a:latin typeface="Arial"/>
              </a:rPr>
              <a:t>COCO 2017</a:t>
            </a:r>
            <a:r>
              <a:rPr sz="3600" b="0">
                <a:solidFill>
                  <a:srgbClr val="1C1C1C"/>
                </a:solidFill>
                <a:latin typeface="Arial"/>
              </a:rPr>
              <a:t> (118K train / 5K val / 20K test-dev) for detection &amp; instance segmentation; </a:t>
            </a:r>
            <a:r>
              <a:rPr sz="3600" b="1">
                <a:solidFill>
                  <a:srgbClr val="111111"/>
                </a:solidFill>
                <a:latin typeface="Arial"/>
              </a:rPr>
              <a:t>ADE20K</a:t>
            </a:r>
            <a:r>
              <a:rPr sz="3600" b="0">
                <a:solidFill>
                  <a:srgbClr val="1C1C1C"/>
                </a:solidFill>
                <a:latin typeface="Arial"/>
              </a:rPr>
              <a:t> (150 classes) for semantic segmentation.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5447273" y="32442564"/>
            <a:ext cx="14492734" cy="16155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03014" indent="-503014">
              <a:lnSpc>
                <a:spcPts val="522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600" b="0">
                <a:solidFill>
                  <a:srgbClr val="1C1C1C"/>
                </a:solidFill>
                <a:latin typeface="Arial"/>
              </a:rPr>
              <a:t>Removing the </a:t>
            </a:r>
            <a:r>
              <a:rPr sz="3600" b="1">
                <a:solidFill>
                  <a:srgbClr val="111111"/>
                </a:solidFill>
                <a:latin typeface="Arial"/>
              </a:rPr>
              <a:t>shifted-window scheme</a:t>
            </a:r>
            <a:r>
              <a:rPr sz="3600" b="0">
                <a:solidFill>
                  <a:srgbClr val="1C1C1C"/>
                </a:solidFill>
                <a:latin typeface="Arial"/>
              </a:rPr>
              <a:t> drops </a:t>
            </a:r>
            <a:r>
              <a:rPr sz="3816" b="1">
                <a:solidFill>
                  <a:srgbClr val="111111"/>
                </a:solidFill>
                <a:latin typeface="Arial"/>
              </a:rPr>
              <a:t>1.1%</a:t>
            </a:r>
            <a:r>
              <a:rPr sz="3600" b="0">
                <a:solidFill>
                  <a:srgbClr val="1C1C1C"/>
                </a:solidFill>
                <a:latin typeface="Arial"/>
              </a:rPr>
              <a:t> ImageNet, </a:t>
            </a:r>
            <a:r>
              <a:rPr sz="3816" b="1">
                <a:solidFill>
                  <a:srgbClr val="111111"/>
                </a:solidFill>
                <a:latin typeface="Arial"/>
              </a:rPr>
              <a:t>2.8</a:t>
            </a:r>
            <a:r>
              <a:rPr sz="3600" b="0">
                <a:solidFill>
                  <a:srgbClr val="1C1C1C"/>
                </a:solidFill>
                <a:latin typeface="Arial"/>
              </a:rPr>
              <a:t> box AP / </a:t>
            </a:r>
            <a:r>
              <a:rPr sz="3816" b="1">
                <a:solidFill>
                  <a:srgbClr val="111111"/>
                </a:solidFill>
                <a:latin typeface="Arial"/>
              </a:rPr>
              <a:t>2.2</a:t>
            </a:r>
            <a:r>
              <a:rPr sz="3600" b="0">
                <a:solidFill>
                  <a:srgbClr val="1C1C1C"/>
                </a:solidFill>
                <a:latin typeface="Arial"/>
              </a:rPr>
              <a:t> mask AP COCO, </a:t>
            </a:r>
            <a:r>
              <a:rPr sz="3816" b="1">
                <a:solidFill>
                  <a:srgbClr val="111111"/>
                </a:solidFill>
                <a:latin typeface="Arial"/>
              </a:rPr>
              <a:t>2.8</a:t>
            </a:r>
            <a:r>
              <a:rPr sz="3600" b="0">
                <a:solidFill>
                  <a:srgbClr val="1C1C1C"/>
                </a:solidFill>
                <a:latin typeface="Arial"/>
              </a:rPr>
              <a:t> mIoU ADE20K.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5447273" y="34007370"/>
            <a:ext cx="14492734" cy="1524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03014" indent="-503014">
              <a:lnSpc>
                <a:spcPts val="522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600" b="0">
                <a:solidFill>
                  <a:srgbClr val="1C1C1C"/>
                </a:solidFill>
                <a:latin typeface="Arial"/>
              </a:rPr>
              <a:t>Learned </a:t>
            </a:r>
            <a:r>
              <a:rPr sz="3600" b="1">
                <a:solidFill>
                  <a:srgbClr val="111111"/>
                </a:solidFill>
                <a:latin typeface="Arial"/>
              </a:rPr>
              <a:t>relative position bias</a:t>
            </a:r>
            <a:r>
              <a:rPr sz="3600" b="0">
                <a:solidFill>
                  <a:srgbClr val="1C1C1C"/>
                </a:solidFill>
                <a:latin typeface="Arial"/>
              </a:rPr>
              <a:t> beats no positional encoding and absolute position embeddings across all three tasks.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5447273" y="35492725"/>
            <a:ext cx="14492734" cy="15242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03014" indent="-503014">
              <a:lnSpc>
                <a:spcPts val="522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600" b="0">
                <a:solidFill>
                  <a:srgbClr val="1C1C1C"/>
                </a:solidFill>
                <a:latin typeface="Arial"/>
              </a:rPr>
              <a:t>Cyclic-shift keeps shifted attention as fast as plain windowed (3.0 vs 2.8 ms), </a:t>
            </a:r>
            <a:r>
              <a:rPr sz="3600" b="1">
                <a:solidFill>
                  <a:srgbClr val="111111"/>
                </a:solidFill>
                <a:latin typeface="Arial"/>
              </a:rPr>
              <a:t>~40× faster</a:t>
            </a:r>
            <a:r>
              <a:rPr sz="3600" b="0">
                <a:solidFill>
                  <a:srgbClr val="1C1C1C"/>
                </a:solidFill>
                <a:latin typeface="Arial"/>
              </a:rPr>
              <a:t> than naive sliding-window.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0481687" y="39022134"/>
            <a:ext cx="4242775" cy="16645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1402"/>
              </a:lnSpc>
              <a:spcBef>
                <a:spcPts val="0"/>
              </a:spcBef>
              <a:spcAft>
                <a:spcPts val="0"/>
              </a:spcAft>
            </a:pPr>
            <a:r>
              <a:rPr sz="12002" b="1" spc="-240">
                <a:solidFill>
                  <a:srgbClr val="0E6A6E"/>
                </a:solidFill>
                <a:latin typeface="Arial"/>
              </a:rPr>
              <a:t>87.3%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82557" y="7450429"/>
            <a:ext cx="11274946" cy="30484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03014" indent="-503014">
              <a:lnSpc>
                <a:spcPts val="522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600" b="0">
                <a:solidFill>
                  <a:srgbClr val="1C1C1C"/>
                </a:solidFill>
                <a:latin typeface="Arial"/>
              </a:rPr>
              <a:t>Partition the image into </a:t>
            </a:r>
            <a:r>
              <a:rPr sz="3600" b="1">
                <a:solidFill>
                  <a:srgbClr val="111111"/>
                </a:solidFill>
                <a:latin typeface="Arial"/>
              </a:rPr>
              <a:t>non-overlapping M×M windows</a:t>
            </a:r>
            <a:r>
              <a:rPr sz="3600" b="0">
                <a:solidFill>
                  <a:srgbClr val="1C1C1C"/>
                </a:solidFill>
                <a:latin typeface="Arial"/>
              </a:rPr>
              <a:t> and compute self-attention only inside each window, giving </a:t>
            </a:r>
            <a:r>
              <a:rPr sz="3600" b="1">
                <a:solidFill>
                  <a:srgbClr val="111111"/>
                </a:solidFill>
                <a:latin typeface="Arial"/>
              </a:rPr>
              <a:t>linear complexity</a:t>
            </a:r>
            <a:r>
              <a:rPr sz="3600" b="0">
                <a:solidFill>
                  <a:srgbClr val="1C1C1C"/>
                </a:solidFill>
                <a:latin typeface="Arial"/>
              </a:rPr>
              <a:t> in image size instead of ViT's quadratic.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82557" y="10261191"/>
            <a:ext cx="11274946" cy="22863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03014" indent="-503014">
              <a:lnSpc>
                <a:spcPts val="522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600" b="0">
                <a:solidFill>
                  <a:srgbClr val="1C1C1C"/>
                </a:solidFill>
                <a:latin typeface="Arial"/>
              </a:rPr>
              <a:t>Alternate consecutive blocks between a regular partition and one </a:t>
            </a:r>
            <a:r>
              <a:rPr sz="3600" b="1">
                <a:solidFill>
                  <a:srgbClr val="111111"/>
                </a:solidFill>
                <a:latin typeface="Arial"/>
              </a:rPr>
              <a:t>shifted by ⌊M/2⌋</a:t>
            </a:r>
            <a:r>
              <a:rPr sz="3600" b="0">
                <a:solidFill>
                  <a:srgbClr val="1C1C1C"/>
                </a:solidFill>
                <a:latin typeface="Arial"/>
              </a:rPr>
              <a:t>, so attention propagates across window boundaries every layer.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82557" y="12409248"/>
            <a:ext cx="11274946" cy="30484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03014" indent="-503014">
              <a:lnSpc>
                <a:spcPts val="522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600" b="0">
                <a:solidFill>
                  <a:srgbClr val="1C1C1C"/>
                </a:solidFill>
                <a:latin typeface="Arial"/>
              </a:rPr>
              <a:t>Use </a:t>
            </a:r>
            <a:r>
              <a:rPr sz="3600" b="1">
                <a:solidFill>
                  <a:srgbClr val="111111"/>
                </a:solidFill>
                <a:latin typeface="Arial"/>
              </a:rPr>
              <a:t>patch merging</a:t>
            </a:r>
            <a:r>
              <a:rPr sz="3600" b="0">
                <a:solidFill>
                  <a:srgbClr val="1C1C1C"/>
                </a:solidFill>
                <a:latin typeface="Arial"/>
              </a:rPr>
              <a:t> between four stages to halve resolution and double channels, producing a </a:t>
            </a:r>
            <a:r>
              <a:rPr sz="3600" b="1">
                <a:solidFill>
                  <a:srgbClr val="111111"/>
                </a:solidFill>
                <a:latin typeface="Arial"/>
              </a:rPr>
              <a:t>hierarchical pyramid</a:t>
            </a:r>
            <a:r>
              <a:rPr sz="3600" b="0">
                <a:solidFill>
                  <a:srgbClr val="1C1C1C"/>
                </a:solidFill>
                <a:latin typeface="Arial"/>
              </a:rPr>
              <a:t> at H/4, H/8, H/16, H/32 — drop-in for ResNet backbones.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5447526" y="23009976"/>
            <a:ext cx="8525993" cy="845608"/>
          </a:xfrm>
          <a:prstGeom prst="rect">
            <a:avLst/>
          </a:prstGeom>
          <a:noFill/>
        </p:spPr>
        <p:txBody>
          <a:bodyPr wrap="square" lIns="76214" rIns="76214" tIns="57160" bIns="57160">
            <a:spAutoFit/>
          </a:bodyPr>
          <a:lstStyle/>
          <a:p>
            <a:pPr algn="ctr">
              <a:lnSpc>
                <a:spcPts val="4855"/>
              </a:lnSpc>
              <a:spcBef>
                <a:spcPts val="0"/>
              </a:spcBef>
              <a:spcAft>
                <a:spcPts val="0"/>
              </a:spcAft>
            </a:pPr>
            <a:r>
              <a:rPr sz="3348" b="1">
                <a:solidFill>
                  <a:srgbClr val="0E6A6E"/>
                </a:solidFill>
                <a:latin typeface="Arial"/>
              </a:rPr>
              <a:t>Task / Metric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3822765" y="23009976"/>
            <a:ext cx="3635995" cy="845608"/>
          </a:xfrm>
          <a:prstGeom prst="rect">
            <a:avLst/>
          </a:prstGeom>
          <a:noFill/>
        </p:spPr>
        <p:txBody>
          <a:bodyPr wrap="square" lIns="76214" rIns="76214" tIns="57160" bIns="57160">
            <a:spAutoFit/>
          </a:bodyPr>
          <a:lstStyle/>
          <a:p>
            <a:pPr algn="ctr">
              <a:lnSpc>
                <a:spcPts val="4855"/>
              </a:lnSpc>
              <a:spcBef>
                <a:spcPts val="0"/>
              </a:spcBef>
              <a:spcAft>
                <a:spcPts val="0"/>
              </a:spcAft>
            </a:pPr>
            <a:r>
              <a:rPr sz="3348" b="1">
                <a:solidFill>
                  <a:srgbClr val="0E6A6E"/>
                </a:solidFill>
                <a:latin typeface="Arial"/>
              </a:rPr>
              <a:t>Prior SOTA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7394470" y="23009976"/>
            <a:ext cx="2330488" cy="845608"/>
          </a:xfrm>
          <a:prstGeom prst="rect">
            <a:avLst/>
          </a:prstGeom>
          <a:noFill/>
        </p:spPr>
        <p:txBody>
          <a:bodyPr wrap="none" lIns="76214" rIns="76214" tIns="57160" bIns="57160">
            <a:spAutoFit/>
          </a:bodyPr>
          <a:lstStyle/>
          <a:p>
            <a:pPr algn="ctr">
              <a:lnSpc>
                <a:spcPts val="4855"/>
              </a:lnSpc>
              <a:spcBef>
                <a:spcPts val="0"/>
              </a:spcBef>
              <a:spcAft>
                <a:spcPts val="0"/>
              </a:spcAft>
            </a:pPr>
            <a:r>
              <a:rPr sz="3348" b="1">
                <a:solidFill>
                  <a:srgbClr val="0E6A6E"/>
                </a:solidFill>
                <a:latin typeface="Arial"/>
              </a:rPr>
              <a:t>Swin-L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5447526" y="23745288"/>
            <a:ext cx="8525993" cy="851082"/>
          </a:xfrm>
          <a:prstGeom prst="rect">
            <a:avLst/>
          </a:prstGeom>
          <a:noFill/>
        </p:spPr>
        <p:txBody>
          <a:bodyPr wrap="square" lIns="76214" rIns="76214" tIns="57160" bIns="57160">
            <a:spAutoFit/>
          </a:bodyPr>
          <a:lstStyle/>
          <a:p>
            <a:pPr algn="l">
              <a:lnSpc>
                <a:spcPts val="4855"/>
              </a:lnSpc>
              <a:spcBef>
                <a:spcPts val="0"/>
              </a:spcBef>
              <a:spcAft>
                <a:spcPts val="0"/>
              </a:spcAft>
            </a:pPr>
            <a:r>
              <a:rPr sz="3348" b="1">
                <a:solidFill>
                  <a:srgbClr val="1C1C1C"/>
                </a:solidFill>
                <a:latin typeface="Arial"/>
              </a:rPr>
              <a:t>ImageNet-1K top-1 (IN-22K)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3822765" y="23745288"/>
            <a:ext cx="3635995" cy="851082"/>
          </a:xfrm>
          <a:prstGeom prst="rect">
            <a:avLst/>
          </a:prstGeom>
          <a:noFill/>
        </p:spPr>
        <p:txBody>
          <a:bodyPr wrap="none" lIns="76214" rIns="76214" tIns="57160" bIns="57160">
            <a:spAutoFit/>
          </a:bodyPr>
          <a:lstStyle/>
          <a:p>
            <a:pPr algn="ctr">
              <a:lnSpc>
                <a:spcPts val="4855"/>
              </a:lnSpc>
              <a:spcBef>
                <a:spcPts val="0"/>
              </a:spcBef>
              <a:spcAft>
                <a:spcPts val="0"/>
              </a:spcAft>
            </a:pPr>
            <a:r>
              <a:rPr sz="3348" b="0">
                <a:solidFill>
                  <a:srgbClr val="1C1C1C"/>
                </a:solidFill>
                <a:latin typeface="Arial"/>
              </a:rPr>
              <a:t>86.4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7394470" y="23745288"/>
            <a:ext cx="2330488" cy="851082"/>
          </a:xfrm>
          <a:prstGeom prst="rect">
            <a:avLst/>
          </a:prstGeom>
          <a:noFill/>
        </p:spPr>
        <p:txBody>
          <a:bodyPr wrap="none" lIns="76214" rIns="76214" tIns="57160" bIns="57160">
            <a:spAutoFit/>
          </a:bodyPr>
          <a:lstStyle/>
          <a:p>
            <a:pPr algn="ctr">
              <a:lnSpc>
                <a:spcPts val="4855"/>
              </a:lnSpc>
              <a:spcBef>
                <a:spcPts val="0"/>
              </a:spcBef>
              <a:spcAft>
                <a:spcPts val="0"/>
              </a:spcAft>
            </a:pPr>
            <a:r>
              <a:rPr sz="3348" b="0">
                <a:solidFill>
                  <a:srgbClr val="1C1C1C"/>
                </a:solidFill>
                <a:latin typeface="Arial"/>
              </a:rPr>
              <a:t>87.3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5447526" y="24485360"/>
            <a:ext cx="8525993" cy="851083"/>
          </a:xfrm>
          <a:prstGeom prst="rect">
            <a:avLst/>
          </a:prstGeom>
          <a:noFill/>
        </p:spPr>
        <p:txBody>
          <a:bodyPr wrap="square" lIns="76214" rIns="76214" tIns="57160" bIns="57160">
            <a:spAutoFit/>
          </a:bodyPr>
          <a:lstStyle/>
          <a:p>
            <a:pPr algn="l">
              <a:lnSpc>
                <a:spcPts val="4855"/>
              </a:lnSpc>
              <a:spcBef>
                <a:spcPts val="0"/>
              </a:spcBef>
              <a:spcAft>
                <a:spcPts val="0"/>
              </a:spcAft>
            </a:pPr>
            <a:r>
              <a:rPr sz="3348" b="1">
                <a:solidFill>
                  <a:srgbClr val="1C1C1C"/>
                </a:solidFill>
                <a:latin typeface="Arial"/>
              </a:rPr>
              <a:t>COCO box AP (test-dev)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3822765" y="24485360"/>
            <a:ext cx="3635995" cy="851083"/>
          </a:xfrm>
          <a:prstGeom prst="rect">
            <a:avLst/>
          </a:prstGeom>
          <a:noFill/>
        </p:spPr>
        <p:txBody>
          <a:bodyPr wrap="none" lIns="76214" rIns="76214" tIns="57160" bIns="57160">
            <a:spAutoFit/>
          </a:bodyPr>
          <a:lstStyle/>
          <a:p>
            <a:pPr algn="ctr">
              <a:lnSpc>
                <a:spcPts val="4855"/>
              </a:lnSpc>
              <a:spcBef>
                <a:spcPts val="0"/>
              </a:spcBef>
              <a:spcAft>
                <a:spcPts val="0"/>
              </a:spcAft>
            </a:pPr>
            <a:r>
              <a:rPr sz="3348" b="0">
                <a:solidFill>
                  <a:srgbClr val="1C1C1C"/>
                </a:solidFill>
                <a:latin typeface="Arial"/>
              </a:rPr>
              <a:t>56.0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7394470" y="24485360"/>
            <a:ext cx="2330488" cy="851083"/>
          </a:xfrm>
          <a:prstGeom prst="rect">
            <a:avLst/>
          </a:prstGeom>
          <a:noFill/>
        </p:spPr>
        <p:txBody>
          <a:bodyPr wrap="none" lIns="76214" rIns="76214" tIns="57160" bIns="57160">
            <a:spAutoFit/>
          </a:bodyPr>
          <a:lstStyle/>
          <a:p>
            <a:pPr algn="ctr">
              <a:lnSpc>
                <a:spcPts val="4855"/>
              </a:lnSpc>
              <a:spcBef>
                <a:spcPts val="0"/>
              </a:spcBef>
              <a:spcAft>
                <a:spcPts val="0"/>
              </a:spcAft>
            </a:pPr>
            <a:r>
              <a:rPr sz="3348" b="0">
                <a:solidFill>
                  <a:srgbClr val="1C1C1C"/>
                </a:solidFill>
                <a:latin typeface="Arial"/>
              </a:rPr>
              <a:t>58.7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5447526" y="25225433"/>
            <a:ext cx="8525993" cy="851086"/>
          </a:xfrm>
          <a:prstGeom prst="rect">
            <a:avLst/>
          </a:prstGeom>
          <a:noFill/>
        </p:spPr>
        <p:txBody>
          <a:bodyPr wrap="square" lIns="76214" rIns="76214" tIns="57160" bIns="57160">
            <a:spAutoFit/>
          </a:bodyPr>
          <a:lstStyle/>
          <a:p>
            <a:pPr algn="l">
              <a:lnSpc>
                <a:spcPts val="4855"/>
              </a:lnSpc>
              <a:spcBef>
                <a:spcPts val="0"/>
              </a:spcBef>
              <a:spcAft>
                <a:spcPts val="0"/>
              </a:spcAft>
            </a:pPr>
            <a:r>
              <a:rPr sz="3348" b="1">
                <a:solidFill>
                  <a:srgbClr val="1C1C1C"/>
                </a:solidFill>
                <a:latin typeface="Arial"/>
              </a:rPr>
              <a:t>COCO mask AP (test-dev)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3822765" y="25225433"/>
            <a:ext cx="3635995" cy="851086"/>
          </a:xfrm>
          <a:prstGeom prst="rect">
            <a:avLst/>
          </a:prstGeom>
          <a:noFill/>
        </p:spPr>
        <p:txBody>
          <a:bodyPr wrap="none" lIns="76214" rIns="76214" tIns="57160" bIns="57160">
            <a:spAutoFit/>
          </a:bodyPr>
          <a:lstStyle/>
          <a:p>
            <a:pPr algn="ctr">
              <a:lnSpc>
                <a:spcPts val="4855"/>
              </a:lnSpc>
              <a:spcBef>
                <a:spcPts val="0"/>
              </a:spcBef>
              <a:spcAft>
                <a:spcPts val="0"/>
              </a:spcAft>
            </a:pPr>
            <a:r>
              <a:rPr sz="3348" b="0">
                <a:solidFill>
                  <a:srgbClr val="1C1C1C"/>
                </a:solidFill>
                <a:latin typeface="Arial"/>
              </a:rPr>
              <a:t>48.5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7394470" y="25225433"/>
            <a:ext cx="2330488" cy="851086"/>
          </a:xfrm>
          <a:prstGeom prst="rect">
            <a:avLst/>
          </a:prstGeom>
          <a:noFill/>
        </p:spPr>
        <p:txBody>
          <a:bodyPr wrap="none" lIns="76214" rIns="76214" tIns="57160" bIns="57160">
            <a:spAutoFit/>
          </a:bodyPr>
          <a:lstStyle/>
          <a:p>
            <a:pPr algn="ctr">
              <a:lnSpc>
                <a:spcPts val="4855"/>
              </a:lnSpc>
              <a:spcBef>
                <a:spcPts val="0"/>
              </a:spcBef>
              <a:spcAft>
                <a:spcPts val="0"/>
              </a:spcAft>
            </a:pPr>
            <a:r>
              <a:rPr sz="3348" b="0">
                <a:solidFill>
                  <a:srgbClr val="1C1C1C"/>
                </a:solidFill>
                <a:latin typeface="Arial"/>
              </a:rPr>
              <a:t>51.1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5447526" y="25965508"/>
            <a:ext cx="8525993" cy="851083"/>
          </a:xfrm>
          <a:prstGeom prst="rect">
            <a:avLst/>
          </a:prstGeom>
          <a:noFill/>
        </p:spPr>
        <p:txBody>
          <a:bodyPr wrap="square" lIns="76214" rIns="76214" tIns="57160" bIns="57160">
            <a:spAutoFit/>
          </a:bodyPr>
          <a:lstStyle/>
          <a:p>
            <a:pPr algn="l">
              <a:lnSpc>
                <a:spcPts val="4855"/>
              </a:lnSpc>
              <a:spcBef>
                <a:spcPts val="0"/>
              </a:spcBef>
              <a:spcAft>
                <a:spcPts val="0"/>
              </a:spcAft>
            </a:pPr>
            <a:r>
              <a:rPr sz="3348" b="1">
                <a:solidFill>
                  <a:srgbClr val="0E6A6E"/>
                </a:solidFill>
                <a:latin typeface="Arial"/>
              </a:rPr>
              <a:t>ADE20K mIoU (val)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3822765" y="25965508"/>
            <a:ext cx="3635995" cy="851083"/>
          </a:xfrm>
          <a:prstGeom prst="rect">
            <a:avLst/>
          </a:prstGeom>
          <a:noFill/>
        </p:spPr>
        <p:txBody>
          <a:bodyPr wrap="none" lIns="76214" rIns="76214" tIns="57160" bIns="57160">
            <a:spAutoFit/>
          </a:bodyPr>
          <a:lstStyle/>
          <a:p>
            <a:pPr algn="ctr">
              <a:lnSpc>
                <a:spcPts val="4855"/>
              </a:lnSpc>
              <a:spcBef>
                <a:spcPts val="0"/>
              </a:spcBef>
              <a:spcAft>
                <a:spcPts val="0"/>
              </a:spcAft>
            </a:pPr>
            <a:r>
              <a:rPr sz="3348" b="1">
                <a:solidFill>
                  <a:srgbClr val="0E6A6E"/>
                </a:solidFill>
                <a:latin typeface="Arial"/>
              </a:rPr>
              <a:t>50.3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7394470" y="25965508"/>
            <a:ext cx="2330488" cy="851083"/>
          </a:xfrm>
          <a:prstGeom prst="rect">
            <a:avLst/>
          </a:prstGeom>
          <a:noFill/>
        </p:spPr>
        <p:txBody>
          <a:bodyPr wrap="none" lIns="76214" rIns="76214" tIns="57160" bIns="57160">
            <a:spAutoFit/>
          </a:bodyPr>
          <a:lstStyle/>
          <a:p>
            <a:pPr algn="ctr">
              <a:lnSpc>
                <a:spcPts val="4855"/>
              </a:lnSpc>
              <a:spcBef>
                <a:spcPts val="0"/>
              </a:spcBef>
              <a:spcAft>
                <a:spcPts val="0"/>
              </a:spcAft>
            </a:pPr>
            <a:r>
              <a:rPr sz="3348" b="1">
                <a:solidFill>
                  <a:srgbClr val="0E6A6E"/>
                </a:solidFill>
                <a:latin typeface="Arial"/>
              </a:rPr>
              <a:t>53.5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7159355" y="40821731"/>
            <a:ext cx="1379723" cy="8177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601"/>
              </a:lnSpc>
              <a:spcBef>
                <a:spcPts val="0"/>
              </a:spcBef>
              <a:spcAft>
                <a:spcPts val="0"/>
              </a:spcAft>
            </a:pPr>
            <a:r>
              <a:rPr sz="5601" b="1" spc="-56">
                <a:solidFill>
                  <a:srgbClr val="AE2622"/>
                </a:solidFill>
                <a:latin typeface="Arial"/>
              </a:rPr>
              <a:t>58.7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1887901" y="40821731"/>
            <a:ext cx="1379722" cy="8177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601"/>
              </a:lnSpc>
              <a:spcBef>
                <a:spcPts val="0"/>
              </a:spcBef>
              <a:spcAft>
                <a:spcPts val="0"/>
              </a:spcAft>
            </a:pPr>
            <a:r>
              <a:rPr sz="5601" b="1" spc="-56">
                <a:solidFill>
                  <a:srgbClr val="AE2622"/>
                </a:solidFill>
                <a:latin typeface="Arial"/>
              </a:rPr>
              <a:t>51.1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6616447" y="40821731"/>
            <a:ext cx="1379722" cy="8177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601"/>
              </a:lnSpc>
              <a:spcBef>
                <a:spcPts val="0"/>
              </a:spcBef>
              <a:spcAft>
                <a:spcPts val="0"/>
              </a:spcAft>
            </a:pPr>
            <a:r>
              <a:rPr sz="5601" b="1" spc="-56">
                <a:solidFill>
                  <a:srgbClr val="AE2622"/>
                </a:solidFill>
                <a:latin typeface="Arial"/>
              </a:rPr>
              <a:t>53.5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6854781" y="41616410"/>
            <a:ext cx="1999835" cy="420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555555"/>
                </a:solidFill>
                <a:latin typeface="Arial"/>
              </a:rPr>
              <a:t>COCO box AP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1465040" y="41616410"/>
            <a:ext cx="2240819" cy="420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555555"/>
                </a:solidFill>
                <a:latin typeface="Arial"/>
              </a:rPr>
              <a:t>COCO mask AP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6303393" y="41616410"/>
            <a:ext cx="2017100" cy="420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555555"/>
                </a:solidFill>
                <a:latin typeface="Arial"/>
              </a:rPr>
              <a:t>ADE20K mIoU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
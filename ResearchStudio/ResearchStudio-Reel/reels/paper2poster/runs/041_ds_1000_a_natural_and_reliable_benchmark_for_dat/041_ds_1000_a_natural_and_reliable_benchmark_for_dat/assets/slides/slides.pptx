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present DS-1000, a natural and reliable benchmark for data science code generation. DS-1000 gathers a thousand real problems across seven widely used Python libraries such as NumPy and Pandas, all drawn from StackOverflow. It pairs these realistic problems with reliable execution-based evaluation and a built-in defense against memorization, giving the community a trustworthy yardstick for data science coding models.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Data science coding is central to many fields, yet it demands fluency in specialized libraries that create real barriers for everyday users. Code generation models could lower those barriers, but the community lacked a benchmark to measure real progress. Most existing datasets focus on competitive or interview-style problems that test algorithms rather than real-world usage, and many score answers with surface-form metrics like BLEU that drift away from what programmers actually intend. There was no benchmark combining natural, richly contextual problems with a reliable, execution-based way to judge correctness.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Real data science questions rarely look like clean textbook prompts. On StackOverflow, users describe messy contexts: their broken code, the error they hit, and concrete input-output examples of what they want. Prior benchmarks strip that richness away. At the same time, as models get better, surface-form scores like BLEU become misleading, rewarding text that looks right but does not run. This motivates a benchmark built from natural problems and judged by actually executing the code.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DS-1000 makes three contributions. First, it provides a thousand realistic problems with diverse contexts, adapted from naturally occurring StackOverflow questions across seven popular Python libraries. Second, it implements reliable multi-criteria evaluation that runs test cases and checks surface-form constraints, so accepted solutions are almost always genuinely correct. Third, it proactively defends against memorization by perturbing problems so models cannot simply recall pre-training answers. The authors release the benchmark and use it to evaluate five state-of-the-art code models.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DS-1000 is built through a five-stage pipeline. Annotators first select high-vote, testable, useful, and representative StackOverflow problems and rewrite them for clarity. They add a code context with insertion markers showing exactly where the model must fill in code. They then implement automatic tests that check functional correctness by executing test cases and also enforce surface-form constraints, such as forbidding certain APIs or keywords in the syntax tree. To defend against memorization, they perturb each original problem, using surface perturbations that leave the reference solution unchanged and semantic perturbations that change it, plus deliberately difficult rewrites. Finally they red-team the evaluation, requiring it to reject known-wrong solutions. Every problem, solution, and metric is reviewed by at least three expert annotators.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DS-1000 contains a thousand problems originating from four hundred fifty-one unique StackOverflow posts, spanning seven widely used Python libraries: NumPy, Pandas, TensorFlow, PyTorch, SciPy, Scikit-learn, and Matplotlib. More than half of the problems are modified from their sources to resist memorization, including one hundred fifty-two surface perturbations, two hundred thirty-five semantic perturbations, and one hundred sixty-two difficult rewrites. On average each problem has one point six test cases, one hundred forty words, and a reference solution of three point six lines, and about one in five carry surface-form constraints. With a hundred forty average words per problem, DS-1000 is far richer in context than other data science datasets.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DS-1000 clearly separates models of different strength. The best public system, Codex-002 in the insertion format, reaches only forty-three point three percent average accuracy, nontrivial but far from solved, leaving substantial room for improvement. Across five models from three families, accuracy ranges from seven point four percent up to forty-three point three percent. Insertion format, which supplies right-hand context, gives Codex-002 a four point one percent boost over completion format, underscoring the value of infilling for data science coding. Weaker models such as CodeGen-6B and InCoder-6B fall below five percent on some libraries.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 show why memorization matters, the authors probe the popular numpy-100 problem set. Codex-002 scores seventy-two point five percent there, but accuracy collapses to forty point six percent after perturbation, and in thirty-six percent of semantic cases the model still returns the original, now-incorrect answer, evidence that it is recalling memorized solutions rather than reasoning. On DS-1000 the perturbation drop is much gentler, about three to nine percent, because these problems appear less often online. This confirms perturbation as a practical defense against memorization by future models.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few numbers capture DS-1000. It offers a thousand problems over seven libraries, drawn from four hundred fifty-one unique StackOverflow posts. The best model reaches only forty-three point three percent accuracy. The evaluation is highly reliable: among all solutions it accepts, just one point eight percent are actually incorrect, and only about half a percent of rejected ones are truly correct. And with a hundred forty words per problem on average, its contexts are far richer than comparable datasets.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DS-1000 gives the community a data science code benchmark that is realistic, reliably evaluated, and resistant to memorization. Because it is built from natural StackOverflow problems, judged by executing code against test cases and surface-form constraints, and defended by deliberate perturbation, its scores are trustworthy and hard to game. And because even the strongest model reaches only forty-three point three percent, it makes clear how much room remains for progress in data science code generation.</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s1000_vide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s1000_vide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100" kern="1200">
          <a:solidFill>
            <a:schemeClr val="tx1"/>
          </a:solidFill>
          <a:latin typeface="+mn-lt"/>
          <a:ea typeface="+mn-ea"/>
          <a:cs typeface="+mn-cs"/>
        </a:defRPr>
      </a:lvl3pPr>
      <a:lvl4pPr marL="1371600" algn="l" defTabSz="457200" rtl="0" eaLnBrk="1" latinLnBrk="0" hangingPunct="1">
        <a:defRPr sz="1050" kern="1200">
          <a:solidFill>
            <a:schemeClr val="tx1"/>
          </a:solidFill>
          <a:latin typeface="+mn-lt"/>
          <a:ea typeface="+mn-ea"/>
          <a:cs typeface="+mn-cs"/>
        </a:defRPr>
      </a:lvl4pPr>
      <a:lvl5pPr marL="1828800" algn="l" defTabSz="457200" rtl="0" eaLnBrk="1" latinLnBrk="0" hangingPunct="1">
        <a:defRPr sz="950" kern="1200">
          <a:solidFill>
            <a:schemeClr val="tx1"/>
          </a:solidFill>
          <a:latin typeface="+mn-lt"/>
          <a:ea typeface="+mn-ea"/>
          <a:cs typeface="+mn-cs"/>
        </a:defRPr>
      </a:lvl5pPr>
      <a:lvl6pPr marL="2286000" algn="l" defTabSz="457200" rtl="0" eaLnBrk="1" latinLnBrk="0" hangingPunct="1">
        <a:defRPr sz="9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5b2710166d471967.png"/><Relationship Id="rId3" Type="http://schemas.openxmlformats.org/officeDocument/2006/relationships/image" Target="../media/image_b0586bebe066229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cc5b8d2939ac070b.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5616c5c0241d708e.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762000" y="858202"/>
            <a:ext cx="2701679" cy="205359"/>
            <a:chOff x="762000" y="858202"/>
            <a:chExt cx="2701679" cy="205359"/>
          </a:xfrm>
        </p:grpSpPr>
        <p:sp>
          <p:nvSpPr>
            <p:cNvPr id="2" name="Rectangle 2"/>
            <p:cNvSpPr/>
            <p:nvPr/>
          </p:nvSpPr>
          <p:spPr>
            <a:xfrm>
              <a:off x="762000" y="895350"/>
              <a:ext cx="438150" cy="38100"/>
            </a:xfrm>
            <a:prstGeom prst="rect">
              <a:avLst/>
            </a:prstGeom>
            <a:solidFill>
              <a:schemeClr val="accent1"/>
            </a:solidFill>
            <a:ln>
              <a:noFill/>
            </a:ln>
          </p:spPr>
        </p:sp>
        <p:sp>
          <p:nvSpPr>
            <p:cNvPr id="3" name="TextBox 3"/>
            <p:cNvSpPr txBox="1"/>
            <p:nvPr/>
          </p:nvSpPr>
          <p:spPr>
            <a:xfrm>
              <a:off x="1309116" y="858202"/>
              <a:ext cx="2154563"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ICML 2023 · BENCHMARK</a:t>
              </a:r>
            </a:p>
          </p:txBody>
        </p:sp>
      </p:grpSp>
      <p:grpSp>
        <p:nvGrpSpPr>
          <p:cNvPr id="8" name="Group 8"/>
          <p:cNvGrpSpPr/>
          <p:nvPr/>
        </p:nvGrpSpPr>
        <p:grpSpPr>
          <a:xfrm>
            <a:off x="723900" y="1489710"/>
            <a:ext cx="4327627" cy="1729169"/>
            <a:chOff x="723900" y="1489710"/>
            <a:chExt cx="4327627" cy="1729169"/>
          </a:xfrm>
        </p:grpSpPr>
        <p:sp>
          <p:nvSpPr>
            <p:cNvPr id="5" name="TextBox 5"/>
            <p:cNvSpPr txBox="1"/>
            <p:nvPr/>
          </p:nvSpPr>
          <p:spPr>
            <a:xfrm>
              <a:off x="723900" y="1489710"/>
              <a:ext cx="4178137" cy="1390650"/>
            </a:xfrm>
            <a:prstGeom prst="rect">
              <a:avLst/>
            </a:prstGeom>
            <a:noFill/>
            <a:ln>
              <a:noFill/>
            </a:ln>
          </p:spPr>
          <p:txBody>
            <a:bodyPr wrap="none" lIns="0" tIns="0" rIns="0" bIns="0" anchor="t" anchorCtr="0">
              <a:spAutoFit/>
            </a:bodyPr>
            <a:lstStyle/>
            <a:p>
              <a:pPr algn="l"/>
              <a:r>
                <a:rPr lang="en-US" sz="7200" b="1" dirty="0">
                  <a:solidFill>
                    <a:schemeClr val="dk1"/>
                  </a:solidFill>
                  <a:latin typeface="+mn-lt"/>
                  <a:ea typeface="+mn-ea"/>
                  <a:cs typeface="+mn-cs"/>
                </a:rPr>
                <a:t>DS-1000</a:t>
              </a:r>
            </a:p>
          </p:txBody>
        </p:sp>
        <p:sp>
          <p:nvSpPr>
            <p:cNvPr id="6" name="TextBox 6"/>
            <p:cNvSpPr txBox="1"/>
            <p:nvPr/>
          </p:nvSpPr>
          <p:spPr>
            <a:xfrm>
              <a:off x="771144" y="2513648"/>
              <a:ext cx="4200993" cy="381381"/>
            </a:xfrm>
            <a:prstGeom prst="rect">
              <a:avLst/>
            </a:prstGeom>
            <a:noFill/>
            <a:ln>
              <a:noFill/>
            </a:ln>
          </p:spPr>
          <p:txBody>
            <a:bodyPr wrap="none" lIns="0" tIns="0" rIns="0" bIns="0" anchor="t" anchorCtr="0">
              <a:spAutoFit/>
            </a:bodyPr>
            <a:lstStyle/>
            <a:p>
              <a:pPr algn="l"/>
              <a:r>
                <a:rPr lang="en-US" sz="1950" dirty="0">
                  <a:solidFill>
                    <a:schemeClr val="dk2"/>
                  </a:solidFill>
                  <a:latin typeface="+mn-lt"/>
                  <a:ea typeface="+mn-ea"/>
                  <a:cs typeface="+mn-cs"/>
                </a:rPr>
                <a:t>A Natural and Reliable Benchmark</a:t>
              </a:r>
            </a:p>
          </p:txBody>
        </p:sp>
        <p:sp>
          <p:nvSpPr>
            <p:cNvPr id="7" name="TextBox 7"/>
            <p:cNvSpPr txBox="1"/>
            <p:nvPr/>
          </p:nvSpPr>
          <p:spPr>
            <a:xfrm>
              <a:off x="771144" y="2837498"/>
              <a:ext cx="4280383" cy="381381"/>
            </a:xfrm>
            <a:prstGeom prst="rect">
              <a:avLst/>
            </a:prstGeom>
            <a:noFill/>
            <a:ln>
              <a:noFill/>
            </a:ln>
          </p:spPr>
          <p:txBody>
            <a:bodyPr wrap="none" lIns="0" tIns="0" rIns="0" bIns="0" anchor="t" anchorCtr="0">
              <a:spAutoFit/>
            </a:bodyPr>
            <a:lstStyle/>
            <a:p>
              <a:pPr algn="l"/>
              <a:r>
                <a:rPr lang="en-US" sz="1950" dirty="0">
                  <a:solidFill>
                    <a:schemeClr val="dk2"/>
                  </a:solidFill>
                  <a:latin typeface="+mn-lt"/>
                  <a:ea typeface="+mn-ea"/>
                  <a:cs typeface="+mn-cs"/>
                </a:rPr>
                <a:t>for Data Science Code Generation</a:t>
              </a:r>
            </a:p>
          </p:txBody>
        </p:sp>
      </p:grpSp>
      <p:grpSp>
        <p:nvGrpSpPr>
          <p:cNvPr id="11" name="Group 11"/>
          <p:cNvGrpSpPr/>
          <p:nvPr/>
        </p:nvGrpSpPr>
        <p:grpSpPr>
          <a:xfrm>
            <a:off x="775716" y="3429952"/>
            <a:ext cx="6097143" cy="433959"/>
            <a:chOff x="775716" y="3429952"/>
            <a:chExt cx="6097143" cy="433959"/>
          </a:xfrm>
        </p:grpSpPr>
        <p:sp>
          <p:nvSpPr>
            <p:cNvPr id="9" name="TextBox 9"/>
            <p:cNvSpPr txBox="1"/>
            <p:nvPr/>
          </p:nvSpPr>
          <p:spPr>
            <a:xfrm>
              <a:off x="775716" y="3429952"/>
              <a:ext cx="6097143" cy="205359"/>
            </a:xfrm>
            <a:prstGeom prst="rect">
              <a:avLst/>
            </a:prstGeom>
            <a:noFill/>
            <a:ln>
              <a:noFill/>
            </a:ln>
          </p:spPr>
          <p:txBody>
            <a:bodyPr wrap="none" lIns="0" tIns="0" rIns="0" bIns="0" anchor="t" anchorCtr="0">
              <a:spAutoFit/>
            </a:bodyPr>
            <a:lstStyle/>
            <a:p>
              <a:pPr algn="l"/>
              <a:r>
                <a:rPr lang="en-US" sz="1050" dirty="0">
                  <a:solidFill>
                    <a:srgbClr val="8A97A8"/>
                  </a:solidFill>
                  <a:latin typeface="+mn-lt"/>
                  <a:ea typeface="+mn-ea"/>
                  <a:cs typeface="+mn-cs"/>
                </a:rPr>
                <a:t>Yuhang Lai · Chengxi Li · Yiming Wang · Tianyi Zhang · Ruiqi Zhong · Tao Yu +4 co-authors</a:t>
              </a:r>
            </a:p>
          </p:txBody>
        </p:sp>
        <p:sp>
          <p:nvSpPr>
            <p:cNvPr id="10" name="TextBox 10"/>
            <p:cNvSpPr txBox="1"/>
            <p:nvPr/>
          </p:nvSpPr>
          <p:spPr>
            <a:xfrm>
              <a:off x="775716" y="3658552"/>
              <a:ext cx="4880394" cy="205359"/>
            </a:xfrm>
            <a:prstGeom prst="rect">
              <a:avLst/>
            </a:prstGeom>
            <a:noFill/>
            <a:ln>
              <a:noFill/>
            </a:ln>
          </p:spPr>
          <p:txBody>
            <a:bodyPr wrap="none" lIns="0" tIns="0" rIns="0" bIns="0" anchor="t" anchorCtr="0">
              <a:spAutoFit/>
            </a:bodyPr>
            <a:lstStyle/>
            <a:p>
              <a:pPr algn="l"/>
              <a:r>
                <a:rPr lang="en-US" sz="1050" dirty="0">
                  <a:solidFill>
                    <a:srgbClr val="8A97A8"/>
                  </a:solidFill>
                  <a:latin typeface="+mn-lt"/>
                  <a:ea typeface="+mn-ea"/>
                  <a:cs typeface="+mn-cs"/>
                </a:rPr>
                <a:t>HKU · Peking · Stanford · UC Berkeley · U. Washington · Meta AI · CMU</a:t>
              </a:r>
            </a:p>
          </p:txBody>
        </p:sp>
      </p:grpSp>
      <p:grpSp>
        <p:nvGrpSpPr>
          <p:cNvPr id="20" name="Group 20"/>
          <p:cNvGrpSpPr/>
          <p:nvPr/>
        </p:nvGrpSpPr>
        <p:grpSpPr>
          <a:xfrm>
            <a:off x="776097" y="4305300"/>
            <a:ext cx="3655162" cy="2250757"/>
            <a:chOff x="776097" y="4305300"/>
            <a:chExt cx="3655162" cy="2250757"/>
          </a:xfrm>
        </p:grpSpPr>
        <p:sp>
          <p:nvSpPr>
            <p:cNvPr id="12" name="Rectangle 12"/>
            <p:cNvSpPr/>
            <p:nvPr/>
          </p:nvSpPr>
          <p:spPr>
            <a:xfrm>
              <a:off x="781050" y="4305300"/>
              <a:ext cx="1809750" cy="1809750"/>
            </a:xfrm>
            <a:prstGeom prst="rect">
              <a:avLst/>
            </a:prstGeom>
            <a:solidFill>
              <a:schemeClr val="lt1"/>
            </a:solidFill>
            <a:ln w="9525">
              <a:solidFill>
                <a:schemeClr val="accent4"/>
              </a:solidFill>
            </a:ln>
          </p:spPr>
        </p:sp>
        <p:pic>
          <p:nvPicPr>
            <p:cNvPr id="13" name="Image 13"/>
            <p:cNvPicPr>
              <a:picLocks noChangeAspect="1"/>
            </p:cNvPicPr>
            <p:nvPr/>
          </p:nvPicPr>
          <p:blipFill>
            <a:blip r:embed="rId2"/>
            <a:stretch>
              <a:fillRect/>
            </a:stretch>
          </p:blipFill>
          <p:spPr>
            <a:xfrm>
              <a:off x="838200" y="4362450"/>
              <a:ext cx="1695450" cy="1695450"/>
            </a:xfrm>
            <a:prstGeom prst="rect">
              <a:avLst/>
            </a:prstGeom>
          </p:spPr>
        </p:pic>
        <p:sp>
          <p:nvSpPr>
            <p:cNvPr id="14" name="TextBox 14"/>
            <p:cNvSpPr txBox="1"/>
            <p:nvPr/>
          </p:nvSpPr>
          <p:spPr>
            <a:xfrm>
              <a:off x="776097" y="6200299"/>
              <a:ext cx="784154"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Code + data</a:t>
              </a:r>
            </a:p>
          </p:txBody>
        </p:sp>
        <p:sp>
          <p:nvSpPr>
            <p:cNvPr id="15" name="TextBox 15"/>
            <p:cNvSpPr txBox="1"/>
            <p:nvPr/>
          </p:nvSpPr>
          <p:spPr>
            <a:xfrm>
              <a:off x="776288" y="6379845"/>
              <a:ext cx="1713604"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github.com/HKUNLP/DS-1000</a:t>
              </a:r>
            </a:p>
          </p:txBody>
        </p:sp>
        <p:sp>
          <p:nvSpPr>
            <p:cNvPr id="16" name="Rectangle 16"/>
            <p:cNvSpPr/>
            <p:nvPr/>
          </p:nvSpPr>
          <p:spPr>
            <a:xfrm>
              <a:off x="2857500" y="4857750"/>
              <a:ext cx="1238250" cy="1238250"/>
            </a:xfrm>
            <a:prstGeom prst="rect">
              <a:avLst/>
            </a:prstGeom>
            <a:solidFill>
              <a:schemeClr val="lt1"/>
            </a:solidFill>
            <a:ln w="9525">
              <a:solidFill>
                <a:schemeClr val="accent4"/>
              </a:solidFill>
            </a:ln>
          </p:spPr>
        </p:sp>
        <p:pic>
          <p:nvPicPr>
            <p:cNvPr id="17" name="Image 17"/>
            <p:cNvPicPr>
              <a:picLocks noChangeAspect="1"/>
            </p:cNvPicPr>
            <p:nvPr/>
          </p:nvPicPr>
          <p:blipFill>
            <a:blip r:embed="rId3"/>
            <a:stretch>
              <a:fillRect/>
            </a:stretch>
          </p:blipFill>
          <p:spPr>
            <a:xfrm>
              <a:off x="2905125" y="4905375"/>
              <a:ext cx="1143000" cy="1143000"/>
            </a:xfrm>
            <a:prstGeom prst="rect">
              <a:avLst/>
            </a:prstGeom>
          </p:spPr>
        </p:pic>
        <p:sp>
          <p:nvSpPr>
            <p:cNvPr id="18" name="TextBox 18"/>
            <p:cNvSpPr txBox="1"/>
            <p:nvPr/>
          </p:nvSpPr>
          <p:spPr>
            <a:xfrm>
              <a:off x="2852547" y="6200299"/>
              <a:ext cx="395159"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Paper</a:t>
              </a:r>
            </a:p>
          </p:txBody>
        </p:sp>
        <p:sp>
          <p:nvSpPr>
            <p:cNvPr id="19" name="TextBox 19"/>
            <p:cNvSpPr txBox="1"/>
            <p:nvPr/>
          </p:nvSpPr>
          <p:spPr>
            <a:xfrm>
              <a:off x="2852738" y="6379845"/>
              <a:ext cx="1578521"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arxiv.org/abs/2211.11501</a:t>
              </a:r>
            </a:p>
          </p:txBody>
        </p:sp>
      </p:grpSp>
      <p:grpSp>
        <p:nvGrpSpPr>
          <p:cNvPr id="23" name="Group 23"/>
          <p:cNvGrpSpPr/>
          <p:nvPr/>
        </p:nvGrpSpPr>
        <p:grpSpPr>
          <a:xfrm>
            <a:off x="7086600" y="1428750"/>
            <a:ext cx="4305300" cy="4095750"/>
            <a:chOff x="7086600" y="1428750"/>
            <a:chExt cx="4305300" cy="4095750"/>
          </a:xfrm>
        </p:grpSpPr>
        <p:sp>
          <p:nvSpPr>
            <p:cNvPr id="21" name="Rectangle 21"/>
            <p:cNvSpPr/>
            <p:nvPr/>
          </p:nvSpPr>
          <p:spPr>
            <a:xfrm>
              <a:off x="7086600" y="1428750"/>
              <a:ext cx="4305300" cy="4095750"/>
            </a:xfrm>
            <a:prstGeom prst="roundRect">
              <a:avLst>
                <a:gd name="adj" fmla="val 3256"/>
              </a:avLst>
            </a:prstGeom>
            <a:solidFill>
              <a:schemeClr val="lt2"/>
            </a:solidFill>
            <a:ln>
              <a:noFill/>
            </a:ln>
          </p:spPr>
        </p:sp>
        <p:sp>
          <p:nvSpPr>
            <p:cNvPr id="22" name="TextBox 22"/>
            <p:cNvSpPr txBox="1"/>
            <p:nvPr/>
          </p:nvSpPr>
          <p:spPr>
            <a:xfrm>
              <a:off x="7386066" y="1753552"/>
              <a:ext cx="1094377" cy="205359"/>
            </a:xfrm>
            <a:prstGeom prst="rect">
              <a:avLst/>
            </a:prstGeom>
            <a:noFill/>
            <a:ln>
              <a:noFill/>
            </a:ln>
          </p:spPr>
          <p:txBody>
            <a:bodyPr wrap="none" lIns="0" tIns="0" rIns="0" bIns="0" anchor="t" anchorCtr="0">
              <a:spAutoFit/>
            </a:bodyPr>
            <a:lstStyle/>
            <a:p>
              <a:pPr algn="l"/>
              <a:r>
                <a:rPr lang="en-US" sz="1050" b="1" spc="150" dirty="0">
                  <a:solidFill>
                    <a:schemeClr val="dk2"/>
                  </a:solidFill>
                  <a:latin typeface="+mn-lt"/>
                  <a:ea typeface="+mn-ea"/>
                  <a:cs typeface="+mn-cs"/>
                </a:rPr>
                <a:t>AT A GLANCE</a:t>
              </a:r>
            </a:p>
          </p:txBody>
        </p:sp>
      </p:grpSp>
      <p:grpSp>
        <p:nvGrpSpPr>
          <p:cNvPr id="32" name="Group 32"/>
          <p:cNvGrpSpPr/>
          <p:nvPr/>
        </p:nvGrpSpPr>
        <p:grpSpPr>
          <a:xfrm>
            <a:off x="7391400" y="2057400"/>
            <a:ext cx="3695700" cy="1428750"/>
            <a:chOff x="7391400" y="2057400"/>
            <a:chExt cx="3695700" cy="1428750"/>
          </a:xfrm>
        </p:grpSpPr>
        <p:sp>
          <p:nvSpPr>
            <p:cNvPr id="24" name="Rectangle 24"/>
            <p:cNvSpPr/>
            <p:nvPr/>
          </p:nvSpPr>
          <p:spPr>
            <a:xfrm>
              <a:off x="7391400" y="2057400"/>
              <a:ext cx="3695700" cy="1428750"/>
            </a:xfrm>
            <a:prstGeom prst="roundRect">
              <a:avLst>
                <a:gd name="adj" fmla="val 6667"/>
              </a:avLst>
            </a:prstGeom>
            <a:solidFill>
              <a:schemeClr val="lt1"/>
            </a:solidFill>
            <a:ln w="9525">
              <a:solidFill>
                <a:schemeClr val="accent4"/>
              </a:solidFill>
            </a:ln>
          </p:spPr>
        </p:sp>
        <p:sp>
          <p:nvSpPr>
            <p:cNvPr id="25" name="Rectangle 25"/>
            <p:cNvSpPr/>
            <p:nvPr/>
          </p:nvSpPr>
          <p:spPr>
            <a:xfrm>
              <a:off x="7391400" y="2057400"/>
              <a:ext cx="57150" cy="1428750"/>
            </a:xfrm>
            <a:prstGeom prst="roundRect">
              <a:avLst>
                <a:gd name="adj" fmla="val 50000"/>
              </a:avLst>
            </a:prstGeom>
            <a:solidFill>
              <a:schemeClr val="accent1"/>
            </a:solidFill>
            <a:ln>
              <a:noFill/>
            </a:ln>
          </p:spPr>
        </p:sp>
        <p:sp>
          <p:nvSpPr>
            <p:cNvPr id="26" name="TextBox 26"/>
            <p:cNvSpPr txBox="1"/>
            <p:nvPr/>
          </p:nvSpPr>
          <p:spPr>
            <a:xfrm>
              <a:off x="7642860" y="2076450"/>
              <a:ext cx="119662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1,000</a:t>
              </a:r>
            </a:p>
          </p:txBody>
        </p:sp>
        <p:sp>
          <p:nvSpPr>
            <p:cNvPr id="27" name="TextBox 27"/>
            <p:cNvSpPr txBox="1"/>
            <p:nvPr/>
          </p:nvSpPr>
          <p:spPr>
            <a:xfrm>
              <a:off x="9136761" y="2132171"/>
              <a:ext cx="133922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real problems</a:t>
              </a:r>
            </a:p>
          </p:txBody>
        </p:sp>
        <p:sp>
          <p:nvSpPr>
            <p:cNvPr id="28" name="TextBox 28"/>
            <p:cNvSpPr txBox="1"/>
            <p:nvPr/>
          </p:nvSpPr>
          <p:spPr>
            <a:xfrm>
              <a:off x="9138666" y="2401252"/>
              <a:ext cx="17468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across 7 Python libraries</a:t>
              </a:r>
            </a:p>
          </p:txBody>
        </p:sp>
        <p:sp>
          <p:nvSpPr>
            <p:cNvPr id="29" name="TextBox 29"/>
            <p:cNvSpPr txBox="1"/>
            <p:nvPr/>
          </p:nvSpPr>
          <p:spPr>
            <a:xfrm>
              <a:off x="7652766" y="2744152"/>
              <a:ext cx="273434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NumPy · Pandas · TensorFlow · PyTorch</a:t>
              </a:r>
            </a:p>
          </p:txBody>
        </p:sp>
        <p:sp>
          <p:nvSpPr>
            <p:cNvPr id="30" name="TextBox 30"/>
            <p:cNvSpPr txBox="1"/>
            <p:nvPr/>
          </p:nvSpPr>
          <p:spPr>
            <a:xfrm>
              <a:off x="7652766" y="2953702"/>
              <a:ext cx="223014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SciPy · scikit-learn · Matplotlib</a:t>
              </a:r>
            </a:p>
          </p:txBody>
        </p:sp>
        <p:sp>
          <p:nvSpPr>
            <p:cNvPr id="31" name="TextBox 31"/>
            <p:cNvSpPr txBox="1"/>
            <p:nvPr/>
          </p:nvSpPr>
          <p:spPr>
            <a:xfrm>
              <a:off x="7652766" y="3220402"/>
              <a:ext cx="320140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Sourced from real StackOverflow questions</a:t>
              </a:r>
            </a:p>
          </p:txBody>
        </p:sp>
      </p:grpSp>
      <p:grpSp>
        <p:nvGrpSpPr>
          <p:cNvPr id="40" name="Group 40"/>
          <p:cNvGrpSpPr/>
          <p:nvPr/>
        </p:nvGrpSpPr>
        <p:grpSpPr>
          <a:xfrm>
            <a:off x="7391400" y="3638550"/>
            <a:ext cx="3695700" cy="1619250"/>
            <a:chOff x="7391400" y="3638550"/>
            <a:chExt cx="3695700" cy="1619250"/>
          </a:xfrm>
        </p:grpSpPr>
        <p:sp>
          <p:nvSpPr>
            <p:cNvPr id="33" name="Rectangle 33"/>
            <p:cNvSpPr/>
            <p:nvPr/>
          </p:nvSpPr>
          <p:spPr>
            <a:xfrm>
              <a:off x="7391400" y="3638550"/>
              <a:ext cx="3695700" cy="1619250"/>
            </a:xfrm>
            <a:prstGeom prst="roundRect">
              <a:avLst>
                <a:gd name="adj" fmla="val 5882"/>
              </a:avLst>
            </a:prstGeom>
            <a:solidFill>
              <a:schemeClr val="lt1"/>
            </a:solidFill>
            <a:ln w="9525">
              <a:solidFill>
                <a:schemeClr val="accent4"/>
              </a:solidFill>
            </a:ln>
          </p:spPr>
        </p:sp>
        <p:sp>
          <p:nvSpPr>
            <p:cNvPr id="34" name="Rectangle 34"/>
            <p:cNvSpPr/>
            <p:nvPr/>
          </p:nvSpPr>
          <p:spPr>
            <a:xfrm>
              <a:off x="7391400" y="3638550"/>
              <a:ext cx="57150" cy="1619250"/>
            </a:xfrm>
            <a:prstGeom prst="roundRect">
              <a:avLst>
                <a:gd name="adj" fmla="val 50000"/>
              </a:avLst>
            </a:prstGeom>
            <a:solidFill>
              <a:schemeClr val="accent2"/>
            </a:solidFill>
            <a:ln>
              <a:noFill/>
            </a:ln>
          </p:spPr>
        </p:sp>
        <p:sp>
          <p:nvSpPr>
            <p:cNvPr id="35" name="TextBox 35"/>
            <p:cNvSpPr txBox="1"/>
            <p:nvPr/>
          </p:nvSpPr>
          <p:spPr>
            <a:xfrm>
              <a:off x="7650861" y="3827621"/>
              <a:ext cx="224945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Reliable + hard to game</a:t>
              </a:r>
            </a:p>
          </p:txBody>
        </p:sp>
        <p:sp>
          <p:nvSpPr>
            <p:cNvPr id="36" name="TextBox 36"/>
            <p:cNvSpPr txBox="1"/>
            <p:nvPr/>
          </p:nvSpPr>
          <p:spPr>
            <a:xfrm>
              <a:off x="7652385" y="4164806"/>
              <a:ext cx="319008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Execution-based, multi-criteria evaluation</a:t>
              </a:r>
            </a:p>
          </p:txBody>
        </p:sp>
        <p:sp>
          <p:nvSpPr>
            <p:cNvPr id="37" name="TextBox 37"/>
            <p:cNvSpPr txBox="1"/>
            <p:nvPr/>
          </p:nvSpPr>
          <p:spPr>
            <a:xfrm>
              <a:off x="7652385" y="4393406"/>
              <a:ext cx="279075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instead of surface metrics like BLEU.</a:t>
              </a:r>
            </a:p>
          </p:txBody>
        </p:sp>
        <p:sp>
          <p:nvSpPr>
            <p:cNvPr id="38" name="TextBox 38"/>
            <p:cNvSpPr txBox="1"/>
            <p:nvPr/>
          </p:nvSpPr>
          <p:spPr>
            <a:xfrm>
              <a:off x="7652385" y="4698206"/>
              <a:ext cx="247385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Built-in memorization defense via</a:t>
              </a:r>
            </a:p>
          </p:txBody>
        </p:sp>
        <p:sp>
          <p:nvSpPr>
            <p:cNvPr id="39" name="TextBox 39"/>
            <p:cNvSpPr txBox="1"/>
            <p:nvPr/>
          </p:nvSpPr>
          <p:spPr>
            <a:xfrm>
              <a:off x="7652385" y="4926806"/>
              <a:ext cx="246905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deliberate problem perturbation.</a:t>
              </a:r>
            </a:p>
          </p:txBody>
        </p:sp>
      </p:grpSp>
      <p:grpSp>
        <p:nvGrpSpPr>
          <p:cNvPr id="43" name="Group 43"/>
          <p:cNvGrpSpPr/>
          <p:nvPr/>
        </p:nvGrpSpPr>
        <p:grpSpPr>
          <a:xfrm>
            <a:off x="757238" y="6570345"/>
            <a:ext cx="10677524" cy="176212"/>
            <a:chOff x="757238" y="6570345"/>
            <a:chExt cx="10677524" cy="176212"/>
          </a:xfrm>
        </p:grpSpPr>
        <p:sp>
          <p:nvSpPr>
            <p:cNvPr id="41" name="TextBox 41"/>
            <p:cNvSpPr txBox="1"/>
            <p:nvPr/>
          </p:nvSpPr>
          <p:spPr>
            <a:xfrm>
              <a:off x="757238" y="6570345"/>
              <a:ext cx="1244879"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DS-1000 · ICML 2023</a:t>
              </a:r>
            </a:p>
          </p:txBody>
        </p:sp>
        <p:sp>
          <p:nvSpPr>
            <p:cNvPr id="42" name="TextBox 42"/>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01 / 10</a:t>
              </a:r>
            </a:p>
          </p:txBody>
        </p:sp>
      </p:grpSp>
      <p:sp>
        <p:nvSpPr>
          <p:cNvPr id="44" name="cue_s01_c1_present_ds_1000_natural_reliable_ben" title="cue_s01_c1_present_ds_1000_natural_reliable_ben" descr="cue_s01_c1_present_ds_1000_natural_reliable_ben We present DS-1000, a natural and reliable benchmark for data science code generation."/>
          <p:cNvSpPr/>
          <p:nvPr/>
        </p:nvSpPr>
        <p:spPr>
          <a:xfrm>
            <a:off x="724204" y="1489557"/>
            <a:ext cx="4328160" cy="172890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1_c2_ds_1000_gathers_thousand_real_proble" title="cue_s01_c2_ds_1000_gathers_thousand_real_proble" descr="cue_s01_c2_ds_1000_gathers_thousand_real_proble DS-1000 gathers a thousand real problems across seven widely used Python libraries such as NumPy and Pandas, all drawn from StackOverflow."/>
          <p:cNvSpPr/>
          <p:nvPr/>
        </p:nvSpPr>
        <p:spPr>
          <a:xfrm>
            <a:off x="7390790" y="2057400"/>
            <a:ext cx="3695395"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1_c3_pairs_these_realistic_problems_relia" title="cue_s01_c3_pairs_these_realistic_problems_relia" descr="cue_s01_c3_pairs_these_realistic_problems_relia It pairs these realistic problems with reliable execution-based evaluation and a built-in defense against memorization, giving the community a trustworthy yardstick for data science coding models."/>
          <p:cNvSpPr/>
          <p:nvPr/>
        </p:nvSpPr>
        <p:spPr>
          <a:xfrm>
            <a:off x="7390790" y="3638854"/>
            <a:ext cx="3695395"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264691"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02 · PROBLEM</a:t>
              </a:r>
            </a:p>
          </p:txBody>
        </p:sp>
        <p:sp>
          <p:nvSpPr>
            <p:cNvPr id="4" name="TextBox 4"/>
            <p:cNvSpPr txBox="1"/>
            <p:nvPr/>
          </p:nvSpPr>
          <p:spPr>
            <a:xfrm>
              <a:off x="749046" y="867728"/>
              <a:ext cx="9481717"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Why data science code generation needed a benchmark</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6" name="Group 16"/>
          <p:cNvGrpSpPr/>
          <p:nvPr/>
        </p:nvGrpSpPr>
        <p:grpSpPr>
          <a:xfrm>
            <a:off x="762000" y="1733550"/>
            <a:ext cx="5257800" cy="1905000"/>
            <a:chOff x="762000" y="1733550"/>
            <a:chExt cx="5257800" cy="1905000"/>
          </a:xfrm>
        </p:grpSpPr>
        <p:sp>
          <p:nvSpPr>
            <p:cNvPr id="7" name="Rectangle 7"/>
            <p:cNvSpPr/>
            <p:nvPr/>
          </p:nvSpPr>
          <p:spPr>
            <a:xfrm>
              <a:off x="762000" y="1733550"/>
              <a:ext cx="5257800" cy="1905000"/>
            </a:xfrm>
            <a:prstGeom prst="roundRect">
              <a:avLst>
                <a:gd name="adj" fmla="val 6000"/>
              </a:avLst>
            </a:prstGeom>
            <a:solidFill>
              <a:schemeClr val="accent5"/>
            </a:solidFill>
            <a:ln w="9525">
              <a:solidFill>
                <a:schemeClr val="accent4"/>
              </a:solidFill>
            </a:ln>
          </p:spPr>
        </p:sp>
        <p:sp>
          <p:nvSpPr>
            <p:cNvPr id="8" name="Rectangle 8"/>
            <p:cNvSpPr/>
            <p:nvPr/>
          </p:nvSpPr>
          <p:spPr>
            <a:xfrm>
              <a:off x="762000" y="1733550"/>
              <a:ext cx="57150" cy="1905000"/>
            </a:xfrm>
            <a:prstGeom prst="roundRect">
              <a:avLst>
                <a:gd name="adj" fmla="val 50000"/>
              </a:avLst>
            </a:prstGeom>
            <a:solidFill>
              <a:schemeClr val="accent1"/>
            </a:solidFill>
            <a:ln>
              <a:noFill/>
            </a:ln>
          </p:spPr>
        </p:sp>
        <p:sp>
          <p:nvSpPr>
            <p:cNvPr id="9" name="Ellipse 9"/>
            <p:cNvSpPr/>
            <p:nvPr/>
          </p:nvSpPr>
          <p:spPr>
            <a:xfrm>
              <a:off x="1028700" y="1981200"/>
              <a:ext cx="381000" cy="381000"/>
            </a:xfrm>
            <a:prstGeom prst="ellipse">
              <a:avLst/>
            </a:prstGeom>
            <a:solidFill>
              <a:schemeClr val="accent6"/>
            </a:solidFill>
            <a:ln>
              <a:noFill/>
            </a:ln>
          </p:spPr>
        </p:sp>
        <p:sp>
          <p:nvSpPr>
            <p:cNvPr id="10" name="TextBox 10"/>
            <p:cNvSpPr txBox="1"/>
            <p:nvPr/>
          </p:nvSpPr>
          <p:spPr>
            <a:xfrm>
              <a:off x="1159865" y="2092642"/>
              <a:ext cx="118669"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1</a:t>
              </a:r>
            </a:p>
          </p:txBody>
        </p:sp>
        <p:sp>
          <p:nvSpPr>
            <p:cNvPr id="11" name="TextBox 11"/>
            <p:cNvSpPr txBox="1"/>
            <p:nvPr/>
          </p:nvSpPr>
          <p:spPr>
            <a:xfrm>
              <a:off x="1592961" y="1960721"/>
              <a:ext cx="265009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Specialized, not accessible</a:t>
              </a:r>
            </a:p>
          </p:txBody>
        </p:sp>
        <p:sp>
          <p:nvSpPr>
            <p:cNvPr id="12" name="TextBox 12"/>
            <p:cNvSpPr txBox="1"/>
            <p:nvPr/>
          </p:nvSpPr>
          <p:spPr>
            <a:xfrm>
              <a:off x="1060323" y="2453164"/>
              <a:ext cx="3602712"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Data science coding is central across many</a:t>
              </a:r>
            </a:p>
          </p:txBody>
        </p:sp>
        <p:sp>
          <p:nvSpPr>
            <p:cNvPr id="13" name="TextBox 13"/>
            <p:cNvSpPr txBox="1"/>
            <p:nvPr/>
          </p:nvSpPr>
          <p:spPr>
            <a:xfrm>
              <a:off x="1060323" y="2700814"/>
              <a:ext cx="370908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fields, yet it demands fluency in specialized</a:t>
              </a:r>
            </a:p>
          </p:txBody>
        </p:sp>
        <p:sp>
          <p:nvSpPr>
            <p:cNvPr id="14" name="TextBox 14"/>
            <p:cNvSpPr txBox="1"/>
            <p:nvPr/>
          </p:nvSpPr>
          <p:spPr>
            <a:xfrm>
              <a:off x="1060323" y="2948464"/>
              <a:ext cx="376077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libraries — a real barrier for everyday users</a:t>
              </a:r>
            </a:p>
          </p:txBody>
        </p:sp>
        <p:sp>
          <p:nvSpPr>
            <p:cNvPr id="15" name="TextBox 15"/>
            <p:cNvSpPr txBox="1"/>
            <p:nvPr/>
          </p:nvSpPr>
          <p:spPr>
            <a:xfrm>
              <a:off x="1060323" y="3196114"/>
              <a:ext cx="2752740"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who just want to get work done.</a:t>
              </a:r>
            </a:p>
          </p:txBody>
        </p:sp>
      </p:grpSp>
      <p:grpSp>
        <p:nvGrpSpPr>
          <p:cNvPr id="26" name="Group 26"/>
          <p:cNvGrpSpPr/>
          <p:nvPr/>
        </p:nvGrpSpPr>
        <p:grpSpPr>
          <a:xfrm>
            <a:off x="6172200" y="1733550"/>
            <a:ext cx="5257800" cy="1905000"/>
            <a:chOff x="6172200" y="1733550"/>
            <a:chExt cx="5257800" cy="1905000"/>
          </a:xfrm>
        </p:grpSpPr>
        <p:sp>
          <p:nvSpPr>
            <p:cNvPr id="17" name="Rectangle 17"/>
            <p:cNvSpPr/>
            <p:nvPr/>
          </p:nvSpPr>
          <p:spPr>
            <a:xfrm>
              <a:off x="6172200" y="1733550"/>
              <a:ext cx="5257800" cy="1905000"/>
            </a:xfrm>
            <a:prstGeom prst="roundRect">
              <a:avLst>
                <a:gd name="adj" fmla="val 6000"/>
              </a:avLst>
            </a:prstGeom>
            <a:solidFill>
              <a:schemeClr val="accent5"/>
            </a:solidFill>
            <a:ln w="9525">
              <a:solidFill>
                <a:schemeClr val="accent4"/>
              </a:solidFill>
            </a:ln>
          </p:spPr>
        </p:sp>
        <p:sp>
          <p:nvSpPr>
            <p:cNvPr id="18" name="Rectangle 18"/>
            <p:cNvSpPr/>
            <p:nvPr/>
          </p:nvSpPr>
          <p:spPr>
            <a:xfrm>
              <a:off x="6172200" y="1733550"/>
              <a:ext cx="57150" cy="1905000"/>
            </a:xfrm>
            <a:prstGeom prst="roundRect">
              <a:avLst>
                <a:gd name="adj" fmla="val 50000"/>
              </a:avLst>
            </a:prstGeom>
            <a:solidFill>
              <a:schemeClr val="accent1"/>
            </a:solidFill>
            <a:ln>
              <a:noFill/>
            </a:ln>
          </p:spPr>
        </p:sp>
        <p:sp>
          <p:nvSpPr>
            <p:cNvPr id="19" name="Ellipse 19"/>
            <p:cNvSpPr/>
            <p:nvPr/>
          </p:nvSpPr>
          <p:spPr>
            <a:xfrm>
              <a:off x="6438900" y="1981200"/>
              <a:ext cx="381000" cy="381000"/>
            </a:xfrm>
            <a:prstGeom prst="ellipse">
              <a:avLst/>
            </a:prstGeom>
            <a:solidFill>
              <a:schemeClr val="accent6"/>
            </a:solidFill>
            <a:ln>
              <a:noFill/>
            </a:ln>
          </p:spPr>
        </p:sp>
        <p:sp>
          <p:nvSpPr>
            <p:cNvPr id="20" name="TextBox 20"/>
            <p:cNvSpPr txBox="1"/>
            <p:nvPr/>
          </p:nvSpPr>
          <p:spPr>
            <a:xfrm>
              <a:off x="6570065" y="2092642"/>
              <a:ext cx="118669"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2</a:t>
              </a:r>
            </a:p>
          </p:txBody>
        </p:sp>
        <p:sp>
          <p:nvSpPr>
            <p:cNvPr id="21" name="TextBox 21"/>
            <p:cNvSpPr txBox="1"/>
            <p:nvPr/>
          </p:nvSpPr>
          <p:spPr>
            <a:xfrm>
              <a:off x="7003161" y="1960721"/>
              <a:ext cx="306224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Models could help — unmeasured</a:t>
              </a:r>
            </a:p>
          </p:txBody>
        </p:sp>
        <p:sp>
          <p:nvSpPr>
            <p:cNvPr id="22" name="TextBox 22"/>
            <p:cNvSpPr txBox="1"/>
            <p:nvPr/>
          </p:nvSpPr>
          <p:spPr>
            <a:xfrm>
              <a:off x="6470523" y="2453164"/>
              <a:ext cx="3533836"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Code-generation models could lower those</a:t>
              </a:r>
            </a:p>
          </p:txBody>
        </p:sp>
        <p:sp>
          <p:nvSpPr>
            <p:cNvPr id="23" name="TextBox 23"/>
            <p:cNvSpPr txBox="1"/>
            <p:nvPr/>
          </p:nvSpPr>
          <p:spPr>
            <a:xfrm>
              <a:off x="6470523" y="2700814"/>
              <a:ext cx="3149062"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barriers, but the community lacked a</a:t>
              </a:r>
            </a:p>
          </p:txBody>
        </p:sp>
        <p:sp>
          <p:nvSpPr>
            <p:cNvPr id="24" name="TextBox 24"/>
            <p:cNvSpPr txBox="1"/>
            <p:nvPr/>
          </p:nvSpPr>
          <p:spPr>
            <a:xfrm>
              <a:off x="6470523" y="2948464"/>
              <a:ext cx="332999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benchmark to measure real progress on</a:t>
              </a:r>
            </a:p>
          </p:txBody>
        </p:sp>
        <p:sp>
          <p:nvSpPr>
            <p:cNvPr id="25" name="TextBox 25"/>
            <p:cNvSpPr txBox="1"/>
            <p:nvPr/>
          </p:nvSpPr>
          <p:spPr>
            <a:xfrm>
              <a:off x="6470523" y="3196114"/>
              <a:ext cx="2494270"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everyday data science tasks.</a:t>
              </a:r>
            </a:p>
          </p:txBody>
        </p:sp>
      </p:grpSp>
      <p:grpSp>
        <p:nvGrpSpPr>
          <p:cNvPr id="36" name="Group 36"/>
          <p:cNvGrpSpPr/>
          <p:nvPr/>
        </p:nvGrpSpPr>
        <p:grpSpPr>
          <a:xfrm>
            <a:off x="762000" y="3790950"/>
            <a:ext cx="5257800" cy="1905000"/>
            <a:chOff x="762000" y="3790950"/>
            <a:chExt cx="5257800" cy="1905000"/>
          </a:xfrm>
        </p:grpSpPr>
        <p:sp>
          <p:nvSpPr>
            <p:cNvPr id="27" name="Rectangle 27"/>
            <p:cNvSpPr/>
            <p:nvPr/>
          </p:nvSpPr>
          <p:spPr>
            <a:xfrm>
              <a:off x="762000" y="3790950"/>
              <a:ext cx="5257800" cy="1905000"/>
            </a:xfrm>
            <a:prstGeom prst="roundRect">
              <a:avLst>
                <a:gd name="adj" fmla="val 6000"/>
              </a:avLst>
            </a:prstGeom>
            <a:solidFill>
              <a:srgbClr val="FBE9E2"/>
            </a:solidFill>
            <a:ln w="9525">
              <a:solidFill>
                <a:srgbClr val="F2C6B4"/>
              </a:solidFill>
            </a:ln>
          </p:spPr>
        </p:sp>
        <p:sp>
          <p:nvSpPr>
            <p:cNvPr id="28" name="Rectangle 28"/>
            <p:cNvSpPr/>
            <p:nvPr/>
          </p:nvSpPr>
          <p:spPr>
            <a:xfrm>
              <a:off x="762000" y="3790950"/>
              <a:ext cx="57150" cy="1905000"/>
            </a:xfrm>
            <a:prstGeom prst="roundRect">
              <a:avLst>
                <a:gd name="adj" fmla="val 50000"/>
              </a:avLst>
            </a:prstGeom>
            <a:solidFill>
              <a:schemeClr val="accent3"/>
            </a:solidFill>
            <a:ln>
              <a:noFill/>
            </a:ln>
          </p:spPr>
        </p:sp>
        <p:sp>
          <p:nvSpPr>
            <p:cNvPr id="29" name="Ellipse 29"/>
            <p:cNvSpPr/>
            <p:nvPr/>
          </p:nvSpPr>
          <p:spPr>
            <a:xfrm>
              <a:off x="1028700" y="4038600"/>
              <a:ext cx="381000" cy="381000"/>
            </a:xfrm>
            <a:prstGeom prst="ellipse">
              <a:avLst/>
            </a:prstGeom>
            <a:solidFill>
              <a:srgbClr val="F7D3C5"/>
            </a:solidFill>
            <a:ln>
              <a:noFill/>
            </a:ln>
          </p:spPr>
        </p:sp>
        <p:sp>
          <p:nvSpPr>
            <p:cNvPr id="30" name="TextBox 30"/>
            <p:cNvSpPr txBox="1"/>
            <p:nvPr/>
          </p:nvSpPr>
          <p:spPr>
            <a:xfrm>
              <a:off x="1159865" y="4150042"/>
              <a:ext cx="118669"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3</a:t>
              </a:r>
            </a:p>
          </p:txBody>
        </p:sp>
        <p:sp>
          <p:nvSpPr>
            <p:cNvPr id="31" name="TextBox 31"/>
            <p:cNvSpPr txBox="1"/>
            <p:nvPr/>
          </p:nvSpPr>
          <p:spPr>
            <a:xfrm>
              <a:off x="1592961" y="4018121"/>
              <a:ext cx="319300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Wrong problems &amp; wrong metrics</a:t>
              </a:r>
            </a:p>
          </p:txBody>
        </p:sp>
        <p:sp>
          <p:nvSpPr>
            <p:cNvPr id="32" name="TextBox 32"/>
            <p:cNvSpPr txBox="1"/>
            <p:nvPr/>
          </p:nvSpPr>
          <p:spPr>
            <a:xfrm>
              <a:off x="1060323" y="4510564"/>
              <a:ext cx="3714892"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Most datasets test competitive / interview</a:t>
              </a:r>
            </a:p>
          </p:txBody>
        </p:sp>
        <p:sp>
          <p:nvSpPr>
            <p:cNvPr id="33" name="TextBox 33"/>
            <p:cNvSpPr txBox="1"/>
            <p:nvPr/>
          </p:nvSpPr>
          <p:spPr>
            <a:xfrm>
              <a:off x="1060323" y="4758214"/>
              <a:ext cx="329552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algorithms, not real-world usage — and</a:t>
              </a:r>
            </a:p>
          </p:txBody>
        </p:sp>
        <p:sp>
          <p:nvSpPr>
            <p:cNvPr id="34" name="TextBox 34"/>
            <p:cNvSpPr txBox="1"/>
            <p:nvPr/>
          </p:nvSpPr>
          <p:spPr>
            <a:xfrm>
              <a:off x="1060323" y="5005864"/>
              <a:ext cx="358846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score answers with surface-form metrics</a:t>
              </a:r>
            </a:p>
          </p:txBody>
        </p:sp>
        <p:sp>
          <p:nvSpPr>
            <p:cNvPr id="35" name="TextBox 35"/>
            <p:cNvSpPr txBox="1"/>
            <p:nvPr/>
          </p:nvSpPr>
          <p:spPr>
            <a:xfrm>
              <a:off x="1060323" y="5253514"/>
              <a:ext cx="2810467"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like BLEU that drift from intent.</a:t>
              </a:r>
            </a:p>
          </p:txBody>
        </p:sp>
      </p:grpSp>
      <p:grpSp>
        <p:nvGrpSpPr>
          <p:cNvPr id="46" name="Group 46"/>
          <p:cNvGrpSpPr/>
          <p:nvPr/>
        </p:nvGrpSpPr>
        <p:grpSpPr>
          <a:xfrm>
            <a:off x="6172200" y="3790950"/>
            <a:ext cx="5257800" cy="1905000"/>
            <a:chOff x="6172200" y="3790950"/>
            <a:chExt cx="5257800" cy="1905000"/>
          </a:xfrm>
        </p:grpSpPr>
        <p:sp>
          <p:nvSpPr>
            <p:cNvPr id="37" name="Rectangle 37"/>
            <p:cNvSpPr/>
            <p:nvPr/>
          </p:nvSpPr>
          <p:spPr>
            <a:xfrm>
              <a:off x="6172200" y="3790950"/>
              <a:ext cx="5257800" cy="1905000"/>
            </a:xfrm>
            <a:prstGeom prst="roundRect">
              <a:avLst>
                <a:gd name="adj" fmla="val 6000"/>
              </a:avLst>
            </a:prstGeom>
            <a:solidFill>
              <a:srgbClr val="E1F3F0"/>
            </a:solidFill>
            <a:ln w="9525">
              <a:solidFill>
                <a:srgbClr val="B7E2DA"/>
              </a:solidFill>
            </a:ln>
          </p:spPr>
        </p:sp>
        <p:sp>
          <p:nvSpPr>
            <p:cNvPr id="38" name="Rectangle 38"/>
            <p:cNvSpPr/>
            <p:nvPr/>
          </p:nvSpPr>
          <p:spPr>
            <a:xfrm>
              <a:off x="6172200" y="3790950"/>
              <a:ext cx="57150" cy="1905000"/>
            </a:xfrm>
            <a:prstGeom prst="roundRect">
              <a:avLst>
                <a:gd name="adj" fmla="val 50000"/>
              </a:avLst>
            </a:prstGeom>
            <a:solidFill>
              <a:schemeClr val="accent2"/>
            </a:solidFill>
            <a:ln>
              <a:noFill/>
            </a:ln>
          </p:spPr>
        </p:sp>
        <p:sp>
          <p:nvSpPr>
            <p:cNvPr id="39" name="Ellipse 39"/>
            <p:cNvSpPr/>
            <p:nvPr/>
          </p:nvSpPr>
          <p:spPr>
            <a:xfrm>
              <a:off x="6438900" y="4038600"/>
              <a:ext cx="381000" cy="381000"/>
            </a:xfrm>
            <a:prstGeom prst="ellipse">
              <a:avLst/>
            </a:prstGeom>
            <a:solidFill>
              <a:srgbClr val="C7E9E2"/>
            </a:solidFill>
            <a:ln>
              <a:noFill/>
            </a:ln>
          </p:spPr>
        </p:sp>
        <p:sp>
          <p:nvSpPr>
            <p:cNvPr id="40" name="TextBox 40"/>
            <p:cNvSpPr txBox="1"/>
            <p:nvPr/>
          </p:nvSpPr>
          <p:spPr>
            <a:xfrm>
              <a:off x="6570065" y="4150042"/>
              <a:ext cx="118669"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4</a:t>
              </a:r>
            </a:p>
          </p:txBody>
        </p:sp>
        <p:sp>
          <p:nvSpPr>
            <p:cNvPr id="41" name="TextBox 41"/>
            <p:cNvSpPr txBox="1"/>
            <p:nvPr/>
          </p:nvSpPr>
          <p:spPr>
            <a:xfrm>
              <a:off x="7003161" y="4018121"/>
              <a:ext cx="221889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missing benchmark</a:t>
              </a:r>
            </a:p>
          </p:txBody>
        </p:sp>
        <p:sp>
          <p:nvSpPr>
            <p:cNvPr id="42" name="TextBox 42"/>
            <p:cNvSpPr txBox="1"/>
            <p:nvPr/>
          </p:nvSpPr>
          <p:spPr>
            <a:xfrm>
              <a:off x="6470523" y="4510564"/>
              <a:ext cx="3249549"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No benchmark combined natural, richly</a:t>
              </a:r>
            </a:p>
          </p:txBody>
        </p:sp>
        <p:sp>
          <p:nvSpPr>
            <p:cNvPr id="43" name="TextBox 43"/>
            <p:cNvSpPr txBox="1"/>
            <p:nvPr/>
          </p:nvSpPr>
          <p:spPr>
            <a:xfrm>
              <a:off x="6470523" y="4758214"/>
              <a:ext cx="306290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contextual problems with a reliable,</a:t>
              </a:r>
            </a:p>
          </p:txBody>
        </p:sp>
        <p:sp>
          <p:nvSpPr>
            <p:cNvPr id="44" name="TextBox 44"/>
            <p:cNvSpPr txBox="1"/>
            <p:nvPr/>
          </p:nvSpPr>
          <p:spPr>
            <a:xfrm>
              <a:off x="6470523" y="5005864"/>
              <a:ext cx="3476457"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execution-based way to judge whether an</a:t>
              </a:r>
            </a:p>
          </p:txBody>
        </p:sp>
        <p:sp>
          <p:nvSpPr>
            <p:cNvPr id="45" name="TextBox 45"/>
            <p:cNvSpPr txBox="1"/>
            <p:nvPr/>
          </p:nvSpPr>
          <p:spPr>
            <a:xfrm>
              <a:off x="6470523" y="5253514"/>
              <a:ext cx="2347803"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answer is actually correct.</a:t>
              </a:r>
            </a:p>
          </p:txBody>
        </p:sp>
      </p:grpSp>
      <p:grpSp>
        <p:nvGrpSpPr>
          <p:cNvPr id="49" name="Group 49"/>
          <p:cNvGrpSpPr/>
          <p:nvPr/>
        </p:nvGrpSpPr>
        <p:grpSpPr>
          <a:xfrm>
            <a:off x="757238" y="6570345"/>
            <a:ext cx="10677524" cy="176212"/>
            <a:chOff x="757238" y="6570345"/>
            <a:chExt cx="10677524" cy="176212"/>
          </a:xfrm>
        </p:grpSpPr>
        <p:sp>
          <p:nvSpPr>
            <p:cNvPr id="47" name="TextBox 47"/>
            <p:cNvSpPr txBox="1"/>
            <p:nvPr/>
          </p:nvSpPr>
          <p:spPr>
            <a:xfrm>
              <a:off x="757238" y="6570345"/>
              <a:ext cx="1244879"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DS-1000 · ICML 2023</a:t>
              </a:r>
            </a:p>
          </p:txBody>
        </p:sp>
        <p:sp>
          <p:nvSpPr>
            <p:cNvPr id="48" name="TextBox 48"/>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02 / 10</a:t>
              </a:r>
            </a:p>
          </p:txBody>
        </p:sp>
      </p:grpSp>
      <p:sp>
        <p:nvSpPr>
          <p:cNvPr id="50" name="cue_s02_c1_science_coding_central_many_fields" title="cue_s02_c1_science_coding_central_many_fields" descr="cue_s02_c1_science_coding_central_many_fields Data science coding is central to many fields, yet it demands fluency in specialized libraries that create real barriers for everyday users."/>
          <p:cNvSpPr/>
          <p:nvPr/>
        </p:nvSpPr>
        <p:spPr>
          <a:xfrm>
            <a:off x="762000" y="1733702"/>
            <a:ext cx="525840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2_c2_code_generation_models_could_lower" title="cue_s02_c2_code_generation_models_could_lower" descr="cue_s02_c2_code_generation_models_could_lower Code generation models could lower those barriers, but the community lacked a benchmark to measure real progress."/>
          <p:cNvSpPr/>
          <p:nvPr/>
        </p:nvSpPr>
        <p:spPr>
          <a:xfrm>
            <a:off x="6171590" y="1733702"/>
            <a:ext cx="525840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2_c3_most_existing_datasets_focus_competi" title="cue_s02_c3_most_existing_datasets_focus_competi" descr="cue_s02_c3_most_existing_datasets_focus_competi Most existing datasets focus on competitive or interview-style problems that test algorithms rather than real-world usage, and many score answers with surface-form metrics like BLEU that drift away from what programmers actually intend."/>
          <p:cNvSpPr/>
          <p:nvPr/>
        </p:nvSpPr>
        <p:spPr>
          <a:xfrm>
            <a:off x="762000" y="3791102"/>
            <a:ext cx="525840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2_c4_benchmark_combining_natural_richly_c" title="cue_s02_c4_benchmark_combining_natural_richly_c" descr="cue_s02_c4_benchmark_combining_natural_richly_c There was no benchmark combining natural, richly contextual problems with a reliable, execution-based way to judge correctness."/>
          <p:cNvSpPr/>
          <p:nvPr/>
        </p:nvSpPr>
        <p:spPr>
          <a:xfrm>
            <a:off x="6171590" y="3791102"/>
            <a:ext cx="525840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540406"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03 · MOTIVATION</a:t>
              </a:r>
            </a:p>
          </p:txBody>
        </p:sp>
        <p:sp>
          <p:nvSpPr>
            <p:cNvPr id="4" name="TextBox 4"/>
            <p:cNvSpPr txBox="1"/>
            <p:nvPr/>
          </p:nvSpPr>
          <p:spPr>
            <a:xfrm>
              <a:off x="749046" y="867728"/>
              <a:ext cx="7931731"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Natural problems, judged by running the code</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3" name="Group 13"/>
          <p:cNvGrpSpPr/>
          <p:nvPr/>
        </p:nvGrpSpPr>
        <p:grpSpPr>
          <a:xfrm>
            <a:off x="762000" y="1733550"/>
            <a:ext cx="4552950" cy="1311878"/>
            <a:chOff x="762000" y="1733550"/>
            <a:chExt cx="4552950" cy="1311878"/>
          </a:xfrm>
        </p:grpSpPr>
        <p:sp>
          <p:nvSpPr>
            <p:cNvPr id="7" name="Rectangle 7"/>
            <p:cNvSpPr/>
            <p:nvPr/>
          </p:nvSpPr>
          <p:spPr>
            <a:xfrm>
              <a:off x="762000" y="1733550"/>
              <a:ext cx="4552950" cy="1257300"/>
            </a:xfrm>
            <a:prstGeom prst="roundRect">
              <a:avLst>
                <a:gd name="adj" fmla="val 9091"/>
              </a:avLst>
            </a:prstGeom>
            <a:solidFill>
              <a:schemeClr val="accent5"/>
            </a:solidFill>
            <a:ln w="9525">
              <a:solidFill>
                <a:schemeClr val="accent4"/>
              </a:solidFill>
            </a:ln>
          </p:spPr>
        </p:sp>
        <p:sp>
          <p:nvSpPr>
            <p:cNvPr id="8" name="Rectangle 8"/>
            <p:cNvSpPr/>
            <p:nvPr/>
          </p:nvSpPr>
          <p:spPr>
            <a:xfrm>
              <a:off x="762000" y="1733550"/>
              <a:ext cx="57150" cy="1257300"/>
            </a:xfrm>
            <a:prstGeom prst="roundRect">
              <a:avLst>
                <a:gd name="adj" fmla="val 50000"/>
              </a:avLst>
            </a:prstGeom>
            <a:solidFill>
              <a:schemeClr val="accent1"/>
            </a:solidFill>
            <a:ln>
              <a:noFill/>
            </a:ln>
          </p:spPr>
        </p:sp>
        <p:sp>
          <p:nvSpPr>
            <p:cNvPr id="9" name="TextBox 9"/>
            <p:cNvSpPr txBox="1"/>
            <p:nvPr/>
          </p:nvSpPr>
          <p:spPr>
            <a:xfrm>
              <a:off x="1040511" y="1960721"/>
              <a:ext cx="216891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Not textbook prompts</a:t>
              </a:r>
            </a:p>
          </p:txBody>
        </p:sp>
        <p:sp>
          <p:nvSpPr>
            <p:cNvPr id="10" name="TextBox 10"/>
            <p:cNvSpPr txBox="1"/>
            <p:nvPr/>
          </p:nvSpPr>
          <p:spPr>
            <a:xfrm>
              <a:off x="1041273" y="2300764"/>
              <a:ext cx="3283733"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Real data science questions rarely look</a:t>
              </a:r>
            </a:p>
          </p:txBody>
        </p:sp>
        <p:sp>
          <p:nvSpPr>
            <p:cNvPr id="11" name="TextBox 11"/>
            <p:cNvSpPr txBox="1"/>
            <p:nvPr/>
          </p:nvSpPr>
          <p:spPr>
            <a:xfrm>
              <a:off x="1041273" y="2548414"/>
              <a:ext cx="326106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like the clean, self-contained prompts</a:t>
              </a:r>
            </a:p>
          </p:txBody>
        </p:sp>
        <p:sp>
          <p:nvSpPr>
            <p:cNvPr id="12" name="TextBox 12"/>
            <p:cNvSpPr txBox="1"/>
            <p:nvPr/>
          </p:nvSpPr>
          <p:spPr>
            <a:xfrm>
              <a:off x="1041273" y="2796064"/>
              <a:ext cx="2390882"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used by earlier benchmarks.</a:t>
              </a:r>
            </a:p>
          </p:txBody>
        </p:sp>
      </p:grpSp>
      <p:grpSp>
        <p:nvGrpSpPr>
          <p:cNvPr id="20" name="Group 20"/>
          <p:cNvGrpSpPr/>
          <p:nvPr/>
        </p:nvGrpSpPr>
        <p:grpSpPr>
          <a:xfrm>
            <a:off x="762000" y="3105150"/>
            <a:ext cx="4552950" cy="1428750"/>
            <a:chOff x="762000" y="3105150"/>
            <a:chExt cx="4552950" cy="1428750"/>
          </a:xfrm>
        </p:grpSpPr>
        <p:sp>
          <p:nvSpPr>
            <p:cNvPr id="14" name="Rectangle 14"/>
            <p:cNvSpPr/>
            <p:nvPr/>
          </p:nvSpPr>
          <p:spPr>
            <a:xfrm>
              <a:off x="762000" y="3105150"/>
              <a:ext cx="4552950" cy="1428750"/>
            </a:xfrm>
            <a:prstGeom prst="roundRect">
              <a:avLst>
                <a:gd name="adj" fmla="val 8000"/>
              </a:avLst>
            </a:prstGeom>
            <a:solidFill>
              <a:srgbClr val="FBE9E2"/>
            </a:solidFill>
            <a:ln w="9525">
              <a:solidFill>
                <a:srgbClr val="F2C6B4"/>
              </a:solidFill>
            </a:ln>
          </p:spPr>
        </p:sp>
        <p:sp>
          <p:nvSpPr>
            <p:cNvPr id="15" name="Rectangle 15"/>
            <p:cNvSpPr/>
            <p:nvPr/>
          </p:nvSpPr>
          <p:spPr>
            <a:xfrm>
              <a:off x="762000" y="3105150"/>
              <a:ext cx="57150" cy="1428750"/>
            </a:xfrm>
            <a:prstGeom prst="roundRect">
              <a:avLst>
                <a:gd name="adj" fmla="val 50000"/>
              </a:avLst>
            </a:prstGeom>
            <a:solidFill>
              <a:schemeClr val="accent3"/>
            </a:solidFill>
            <a:ln>
              <a:noFill/>
            </a:ln>
          </p:spPr>
        </p:sp>
        <p:sp>
          <p:nvSpPr>
            <p:cNvPr id="16" name="TextBox 16"/>
            <p:cNvSpPr txBox="1"/>
            <p:nvPr/>
          </p:nvSpPr>
          <p:spPr>
            <a:xfrm>
              <a:off x="1040511" y="3332321"/>
              <a:ext cx="228901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Surface scores mislead</a:t>
              </a:r>
            </a:p>
          </p:txBody>
        </p:sp>
        <p:sp>
          <p:nvSpPr>
            <p:cNvPr id="17" name="TextBox 17"/>
            <p:cNvSpPr txBox="1"/>
            <p:nvPr/>
          </p:nvSpPr>
          <p:spPr>
            <a:xfrm>
              <a:off x="1041273" y="3672364"/>
              <a:ext cx="372352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Prior benchmarks strip that richness away,</a:t>
              </a:r>
            </a:p>
          </p:txBody>
        </p:sp>
        <p:sp>
          <p:nvSpPr>
            <p:cNvPr id="18" name="TextBox 18"/>
            <p:cNvSpPr txBox="1"/>
            <p:nvPr/>
          </p:nvSpPr>
          <p:spPr>
            <a:xfrm>
              <a:off x="1041273" y="3920014"/>
              <a:ext cx="3552269"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and as models improve, BLEU-style scores</a:t>
              </a:r>
            </a:p>
          </p:txBody>
        </p:sp>
        <p:sp>
          <p:nvSpPr>
            <p:cNvPr id="19" name="TextBox 19"/>
            <p:cNvSpPr txBox="1"/>
            <p:nvPr/>
          </p:nvSpPr>
          <p:spPr>
            <a:xfrm>
              <a:off x="1041273" y="4167664"/>
              <a:ext cx="3769390"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reward text that looks right but won't run.</a:t>
              </a:r>
            </a:p>
          </p:txBody>
        </p:sp>
      </p:grpSp>
      <p:grpSp>
        <p:nvGrpSpPr>
          <p:cNvPr id="27" name="Group 27"/>
          <p:cNvGrpSpPr/>
          <p:nvPr/>
        </p:nvGrpSpPr>
        <p:grpSpPr>
          <a:xfrm>
            <a:off x="762000" y="4648200"/>
            <a:ext cx="4552950" cy="1428750"/>
            <a:chOff x="762000" y="4648200"/>
            <a:chExt cx="4552950" cy="1428750"/>
          </a:xfrm>
        </p:grpSpPr>
        <p:sp>
          <p:nvSpPr>
            <p:cNvPr id="21" name="Rectangle 21"/>
            <p:cNvSpPr/>
            <p:nvPr/>
          </p:nvSpPr>
          <p:spPr>
            <a:xfrm>
              <a:off x="762000" y="4648200"/>
              <a:ext cx="4552950" cy="1428750"/>
            </a:xfrm>
            <a:prstGeom prst="roundRect">
              <a:avLst>
                <a:gd name="adj" fmla="val 8000"/>
              </a:avLst>
            </a:prstGeom>
            <a:solidFill>
              <a:srgbClr val="E1F3F0"/>
            </a:solidFill>
            <a:ln w="9525">
              <a:solidFill>
                <a:srgbClr val="B7E2DA"/>
              </a:solidFill>
            </a:ln>
          </p:spPr>
        </p:sp>
        <p:sp>
          <p:nvSpPr>
            <p:cNvPr id="22" name="Rectangle 22"/>
            <p:cNvSpPr/>
            <p:nvPr/>
          </p:nvSpPr>
          <p:spPr>
            <a:xfrm>
              <a:off x="762000" y="4648200"/>
              <a:ext cx="57150" cy="1428750"/>
            </a:xfrm>
            <a:prstGeom prst="roundRect">
              <a:avLst>
                <a:gd name="adj" fmla="val 50000"/>
              </a:avLst>
            </a:prstGeom>
            <a:solidFill>
              <a:schemeClr val="accent2"/>
            </a:solidFill>
            <a:ln>
              <a:noFill/>
            </a:ln>
          </p:spPr>
        </p:sp>
        <p:sp>
          <p:nvSpPr>
            <p:cNvPr id="23" name="TextBox 23"/>
            <p:cNvSpPr txBox="1"/>
            <p:nvPr/>
          </p:nvSpPr>
          <p:spPr>
            <a:xfrm>
              <a:off x="1040511" y="4875371"/>
              <a:ext cx="1927299" cy="278702"/>
            </a:xfrm>
            <a:prstGeom prst="rect">
              <a:avLst/>
            </a:prstGeom>
            <a:noFill/>
            <a:ln>
              <a:noFill/>
            </a:ln>
          </p:spPr>
          <p:txBody>
            <a:bodyPr wrap="none" lIns="0" tIns="0" rIns="0" bIns="0" anchor="t" anchorCtr="0">
              <a:spAutoFit/>
            </a:bodyPr>
            <a:lstStyle/>
            <a:p>
              <a:pPr algn="l"/>
              <a:r>
                <a:rPr lang="en-US" sz="1420" b="1" dirty="0">
                  <a:solidFill>
                    <a:schemeClr val="accent2"/>
                  </a:solidFill>
                  <a:latin typeface="+mn-lt"/>
                  <a:ea typeface="+mn-ea"/>
                  <a:cs typeface="+mn-cs"/>
                </a:rPr>
                <a:t>The design principle</a:t>
              </a:r>
            </a:p>
          </p:txBody>
        </p:sp>
        <p:sp>
          <p:nvSpPr>
            <p:cNvPr id="24" name="TextBox 24"/>
            <p:cNvSpPr txBox="1"/>
            <p:nvPr/>
          </p:nvSpPr>
          <p:spPr>
            <a:xfrm>
              <a:off x="1041273" y="5215414"/>
              <a:ext cx="353418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Build from natural, real-world problems —</a:t>
              </a:r>
            </a:p>
          </p:txBody>
        </p:sp>
        <p:sp>
          <p:nvSpPr>
            <p:cNvPr id="25" name="TextBox 25"/>
            <p:cNvSpPr txBox="1"/>
            <p:nvPr/>
          </p:nvSpPr>
          <p:spPr>
            <a:xfrm>
              <a:off x="1041273" y="5463064"/>
              <a:ext cx="2925054"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and judge every answer by actually</a:t>
              </a:r>
            </a:p>
          </p:txBody>
        </p:sp>
        <p:sp>
          <p:nvSpPr>
            <p:cNvPr id="26" name="TextBox 26"/>
            <p:cNvSpPr txBox="1"/>
            <p:nvPr/>
          </p:nvSpPr>
          <p:spPr>
            <a:xfrm>
              <a:off x="1041273" y="5710714"/>
              <a:ext cx="288197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executing the code against tests.</a:t>
              </a:r>
            </a:p>
          </p:txBody>
        </p:sp>
      </p:grpSp>
      <p:grpSp>
        <p:nvGrpSpPr>
          <p:cNvPr id="35" name="Group 35"/>
          <p:cNvGrpSpPr/>
          <p:nvPr/>
        </p:nvGrpSpPr>
        <p:grpSpPr>
          <a:xfrm>
            <a:off x="5581650" y="1733550"/>
            <a:ext cx="5848350" cy="4343400"/>
            <a:chOff x="5581650" y="1733550"/>
            <a:chExt cx="5848350" cy="4343400"/>
          </a:xfrm>
        </p:grpSpPr>
        <p:sp>
          <p:nvSpPr>
            <p:cNvPr id="28" name="Rectangle 28"/>
            <p:cNvSpPr/>
            <p:nvPr/>
          </p:nvSpPr>
          <p:spPr>
            <a:xfrm>
              <a:off x="5581650" y="1733550"/>
              <a:ext cx="5848350" cy="4343400"/>
            </a:xfrm>
            <a:prstGeom prst="roundRect">
              <a:avLst>
                <a:gd name="adj" fmla="val 2632"/>
              </a:avLst>
            </a:prstGeom>
            <a:solidFill>
              <a:schemeClr val="accent5"/>
            </a:solidFill>
            <a:ln w="9525">
              <a:solidFill>
                <a:schemeClr val="accent4"/>
              </a:solidFill>
            </a:ln>
          </p:spPr>
        </p:sp>
        <p:sp>
          <p:nvSpPr>
            <p:cNvPr id="29" name="TextBox 29"/>
            <p:cNvSpPr txBox="1"/>
            <p:nvPr/>
          </p:nvSpPr>
          <p:spPr>
            <a:xfrm>
              <a:off x="5823585" y="1955006"/>
              <a:ext cx="3162063"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A REAL DS-1000 PROBLEM (Figure 1)</a:t>
              </a:r>
            </a:p>
          </p:txBody>
        </p:sp>
        <p:sp>
          <p:nvSpPr>
            <p:cNvPr id="30" name="Rectangle 30"/>
            <p:cNvSpPr/>
            <p:nvPr/>
          </p:nvSpPr>
          <p:spPr>
            <a:xfrm>
              <a:off x="5829300" y="2228850"/>
              <a:ext cx="5353050" cy="3009900"/>
            </a:xfrm>
            <a:prstGeom prst="roundRect">
              <a:avLst>
                <a:gd name="adj" fmla="val 2532"/>
              </a:avLst>
            </a:prstGeom>
            <a:solidFill>
              <a:schemeClr val="lt1"/>
            </a:solidFill>
            <a:ln w="9525">
              <a:solidFill>
                <a:schemeClr val="accent4"/>
              </a:solidFill>
            </a:ln>
          </p:spPr>
        </p:sp>
        <p:pic>
          <p:nvPicPr>
            <p:cNvPr id="31" name="Image 31"/>
            <p:cNvPicPr>
              <a:picLocks noChangeAspect="1"/>
            </p:cNvPicPr>
            <p:nvPr/>
          </p:nvPicPr>
          <p:blipFill>
            <a:blip r:embed="rId2"/>
            <a:stretch>
              <a:fillRect/>
            </a:stretch>
          </p:blipFill>
          <p:spPr>
            <a:xfrm>
              <a:off x="5905500" y="2303621"/>
              <a:ext cx="5200650" cy="2860358"/>
            </a:xfrm>
            <a:prstGeom prst="rect">
              <a:avLst/>
            </a:prstGeom>
          </p:spPr>
        </p:pic>
        <p:sp>
          <p:nvSpPr>
            <p:cNvPr id="32" name="TextBox 32"/>
            <p:cNvSpPr txBox="1"/>
            <p:nvPr/>
          </p:nvSpPr>
          <p:spPr>
            <a:xfrm>
              <a:off x="5823585" y="5403056"/>
              <a:ext cx="481137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natural prompt with broken code, an error, and concrete input</a:t>
              </a:r>
            </a:p>
          </p:txBody>
        </p:sp>
        <p:sp>
          <p:nvSpPr>
            <p:cNvPr id="33" name="TextBox 33"/>
            <p:cNvSpPr txBox="1"/>
            <p:nvPr/>
          </p:nvSpPr>
          <p:spPr>
            <a:xfrm>
              <a:off x="5823585" y="5612606"/>
              <a:ext cx="496436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 xml:space="preserve">/output — the model fills in </a:t>
              </a:r>
              <a:r>
                <a:rPr lang="en-US" sz="1120" dirty="0">
                  <a:solidFill>
                    <a:schemeClr val="accent1"/>
                  </a:solidFill>
                  <a:latin typeface="Consolas"/>
                  <a:ea typeface="Consolas"/>
                  <a:cs typeface="Consolas"/>
                </a:rPr>
                <a:t>[insert]</a:t>
              </a:r>
              <a:r>
                <a:rPr lang="en-US" sz="1120" dirty="0">
                  <a:solidFill>
                    <a:schemeClr val="dk2"/>
                  </a:solidFill>
                  <a:latin typeface="+mn-lt"/>
                  <a:ea typeface="+mn-ea"/>
                  <a:cs typeface="+mn-cs"/>
                </a:rPr>
                <a:t>, then code is executed to pass</a:t>
              </a:r>
            </a:p>
          </p:txBody>
        </p:sp>
        <p:sp>
          <p:nvSpPr>
            <p:cNvPr id="34" name="TextBox 34"/>
            <p:cNvSpPr txBox="1"/>
            <p:nvPr/>
          </p:nvSpPr>
          <p:spPr>
            <a:xfrm>
              <a:off x="5823585" y="5822156"/>
              <a:ext cx="387879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multi-criteria tests and surface-form constraints.</a:t>
              </a:r>
            </a:p>
          </p:txBody>
        </p:sp>
      </p:grpSp>
      <p:grpSp>
        <p:nvGrpSpPr>
          <p:cNvPr id="38" name="Group 38"/>
          <p:cNvGrpSpPr/>
          <p:nvPr/>
        </p:nvGrpSpPr>
        <p:grpSpPr>
          <a:xfrm>
            <a:off x="757238" y="6570345"/>
            <a:ext cx="10677524" cy="176212"/>
            <a:chOff x="757238" y="6570345"/>
            <a:chExt cx="10677524" cy="176212"/>
          </a:xfrm>
        </p:grpSpPr>
        <p:sp>
          <p:nvSpPr>
            <p:cNvPr id="36" name="TextBox 36"/>
            <p:cNvSpPr txBox="1"/>
            <p:nvPr/>
          </p:nvSpPr>
          <p:spPr>
            <a:xfrm>
              <a:off x="757238" y="6570345"/>
              <a:ext cx="1244879"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DS-1000 · ICML 2023</a:t>
              </a:r>
            </a:p>
          </p:txBody>
        </p:sp>
        <p:sp>
          <p:nvSpPr>
            <p:cNvPr id="37" name="TextBox 37"/>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03 / 10</a:t>
              </a:r>
            </a:p>
          </p:txBody>
        </p:sp>
      </p:grpSp>
      <p:sp>
        <p:nvSpPr>
          <p:cNvPr id="39" name="cue_s03_c1_real_science_questions_rarely_look" title="cue_s03_c1_real_science_questions_rarely_look" descr="cue_s03_c1_real_science_questions_rarely_look Real data science questions rarely look like clean textbook prompts."/>
          <p:cNvSpPr/>
          <p:nvPr/>
        </p:nvSpPr>
        <p:spPr>
          <a:xfrm>
            <a:off x="762000" y="1733702"/>
            <a:ext cx="4552492" cy="131193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3_c2_stackoverflow_users_describe_messy_c" title="cue_s03_c2_stackoverflow_users_describe_messy_c" descr="cue_s03_c2_stackoverflow_users_describe_messy_c On StackOverflow, users describe messy contexts: their broken code, the error they hit, and concrete input-output examples of what they want."/>
          <p:cNvSpPr/>
          <p:nvPr/>
        </p:nvSpPr>
        <p:spPr>
          <a:xfrm>
            <a:off x="5581497" y="1733702"/>
            <a:ext cx="5848502" cy="4343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3_c3_prior_benchmarks_strip_richness_away" title="cue_s03_c3_prior_benchmarks_strip_richness_away" descr="cue_s03_c3_prior_benchmarks_strip_richness_away Prior benchmarks strip that richness away. At the same time, as models get better, surface-form scores like BLEU become misleading, rewarding text that looks right but does not run."/>
          <p:cNvSpPr/>
          <p:nvPr/>
        </p:nvSpPr>
        <p:spPr>
          <a:xfrm>
            <a:off x="762000" y="3105302"/>
            <a:ext cx="4552492"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3_c4_motivates_benchmark_built_natural_pr" title="cue_s03_c4_motivates_benchmark_built_natural_pr" descr="cue_s03_c4_motivates_benchmark_built_natural_pr This motivates a benchmark built from natural problems and judged by actually executing the code."/>
          <p:cNvSpPr/>
          <p:nvPr/>
        </p:nvSpPr>
        <p:spPr>
          <a:xfrm>
            <a:off x="762000" y="4648352"/>
            <a:ext cx="4552492"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724216"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04 · CONTRIBUTION</a:t>
              </a:r>
            </a:p>
          </p:txBody>
        </p:sp>
        <p:sp>
          <p:nvSpPr>
            <p:cNvPr id="4" name="TextBox 4"/>
            <p:cNvSpPr txBox="1"/>
            <p:nvPr/>
          </p:nvSpPr>
          <p:spPr>
            <a:xfrm>
              <a:off x="749046" y="867728"/>
              <a:ext cx="8021658"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Three contributions, then a public benchmark</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6" name="Group 16"/>
          <p:cNvGrpSpPr/>
          <p:nvPr/>
        </p:nvGrpSpPr>
        <p:grpSpPr>
          <a:xfrm>
            <a:off x="762000" y="1733550"/>
            <a:ext cx="3429000" cy="2724150"/>
            <a:chOff x="762000" y="1733550"/>
            <a:chExt cx="3429000" cy="2724150"/>
          </a:xfrm>
        </p:grpSpPr>
        <p:sp>
          <p:nvSpPr>
            <p:cNvPr id="7" name="Rectangle 7"/>
            <p:cNvSpPr/>
            <p:nvPr/>
          </p:nvSpPr>
          <p:spPr>
            <a:xfrm>
              <a:off x="762000" y="1733550"/>
              <a:ext cx="3429000" cy="2724150"/>
            </a:xfrm>
            <a:prstGeom prst="roundRect">
              <a:avLst>
                <a:gd name="adj" fmla="val 4196"/>
              </a:avLst>
            </a:prstGeom>
            <a:solidFill>
              <a:schemeClr val="accent5"/>
            </a:solidFill>
            <a:ln w="9525">
              <a:solidFill>
                <a:schemeClr val="accent4"/>
              </a:solidFill>
            </a:ln>
          </p:spPr>
        </p:sp>
        <p:sp>
          <p:nvSpPr>
            <p:cNvPr id="8" name="Rectangle 8"/>
            <p:cNvSpPr/>
            <p:nvPr/>
          </p:nvSpPr>
          <p:spPr>
            <a:xfrm>
              <a:off x="762000" y="1733550"/>
              <a:ext cx="3429000" cy="76200"/>
            </a:xfrm>
            <a:prstGeom prst="roundRect">
              <a:avLst>
                <a:gd name="adj" fmla="val 50000"/>
              </a:avLst>
            </a:prstGeom>
            <a:solidFill>
              <a:schemeClr val="accent1"/>
            </a:solidFill>
            <a:ln>
              <a:noFill/>
            </a:ln>
          </p:spPr>
        </p:sp>
        <p:sp>
          <p:nvSpPr>
            <p:cNvPr id="9" name="TextBox 9"/>
            <p:cNvSpPr txBox="1"/>
            <p:nvPr/>
          </p:nvSpPr>
          <p:spPr>
            <a:xfrm>
              <a:off x="1022985" y="2145506"/>
              <a:ext cx="1379580" cy="220028"/>
            </a:xfrm>
            <a:prstGeom prst="rect">
              <a:avLst/>
            </a:prstGeom>
            <a:noFill/>
            <a:ln>
              <a:noFill/>
            </a:ln>
          </p:spPr>
          <p:txBody>
            <a:bodyPr wrap="none" lIns="0" tIns="0" rIns="0" bIns="0" anchor="t" anchorCtr="0">
              <a:spAutoFit/>
            </a:bodyPr>
            <a:lstStyle/>
            <a:p>
              <a:pPr algn="l"/>
              <a:r>
                <a:rPr lang="en-US" sz="1120" b="1" spc="75" dirty="0">
                  <a:solidFill>
                    <a:schemeClr val="accent1"/>
                  </a:solidFill>
                  <a:latin typeface="+mn-lt"/>
                  <a:ea typeface="+mn-ea"/>
                  <a:cs typeface="+mn-cs"/>
                </a:rPr>
                <a:t>CONTRIBUTION 1</a:t>
              </a:r>
            </a:p>
          </p:txBody>
        </p:sp>
        <p:sp>
          <p:nvSpPr>
            <p:cNvPr id="10" name="TextBox 10"/>
            <p:cNvSpPr txBox="1"/>
            <p:nvPr/>
          </p:nvSpPr>
          <p:spPr>
            <a:xfrm>
              <a:off x="1020699" y="2477929"/>
              <a:ext cx="1635178"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1,000 realistic</a:t>
              </a:r>
            </a:p>
          </p:txBody>
        </p:sp>
        <p:sp>
          <p:nvSpPr>
            <p:cNvPr id="11" name="TextBox 11"/>
            <p:cNvSpPr txBox="1"/>
            <p:nvPr/>
          </p:nvSpPr>
          <p:spPr>
            <a:xfrm>
              <a:off x="1020699" y="2725579"/>
              <a:ext cx="987507"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problems</a:t>
              </a:r>
            </a:p>
          </p:txBody>
        </p:sp>
        <p:sp>
          <p:nvSpPr>
            <p:cNvPr id="12" name="TextBox 12"/>
            <p:cNvSpPr txBox="1"/>
            <p:nvPr/>
          </p:nvSpPr>
          <p:spPr>
            <a:xfrm>
              <a:off x="1022604" y="3147060"/>
              <a:ext cx="208504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Diverse, richly contextual</a:t>
              </a:r>
            </a:p>
          </p:txBody>
        </p:sp>
        <p:sp>
          <p:nvSpPr>
            <p:cNvPr id="13" name="TextBox 13"/>
            <p:cNvSpPr txBox="1"/>
            <p:nvPr/>
          </p:nvSpPr>
          <p:spPr>
            <a:xfrm>
              <a:off x="1022604" y="3375660"/>
              <a:ext cx="245150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problems adapted from natural</a:t>
              </a:r>
            </a:p>
          </p:txBody>
        </p:sp>
        <p:sp>
          <p:nvSpPr>
            <p:cNvPr id="14" name="TextBox 14"/>
            <p:cNvSpPr txBox="1"/>
            <p:nvPr/>
          </p:nvSpPr>
          <p:spPr>
            <a:xfrm>
              <a:off x="1022604" y="3604260"/>
              <a:ext cx="259112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StackOverflow questions across</a:t>
              </a:r>
            </a:p>
          </p:txBody>
        </p:sp>
        <p:sp>
          <p:nvSpPr>
            <p:cNvPr id="15" name="TextBox 15"/>
            <p:cNvSpPr txBox="1"/>
            <p:nvPr/>
          </p:nvSpPr>
          <p:spPr>
            <a:xfrm>
              <a:off x="1022604" y="3832860"/>
              <a:ext cx="248899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seven popular Python libraries.</a:t>
              </a:r>
            </a:p>
          </p:txBody>
        </p:sp>
      </p:grpSp>
      <p:grpSp>
        <p:nvGrpSpPr>
          <p:cNvPr id="26" name="Group 26"/>
          <p:cNvGrpSpPr/>
          <p:nvPr/>
        </p:nvGrpSpPr>
        <p:grpSpPr>
          <a:xfrm>
            <a:off x="4381500" y="1733550"/>
            <a:ext cx="3429000" cy="2724150"/>
            <a:chOff x="4381500" y="1733550"/>
            <a:chExt cx="3429000" cy="2724150"/>
          </a:xfrm>
        </p:grpSpPr>
        <p:sp>
          <p:nvSpPr>
            <p:cNvPr id="17" name="Rectangle 17"/>
            <p:cNvSpPr/>
            <p:nvPr/>
          </p:nvSpPr>
          <p:spPr>
            <a:xfrm>
              <a:off x="4381500" y="1733550"/>
              <a:ext cx="3429000" cy="2724150"/>
            </a:xfrm>
            <a:prstGeom prst="roundRect">
              <a:avLst>
                <a:gd name="adj" fmla="val 4196"/>
              </a:avLst>
            </a:prstGeom>
            <a:solidFill>
              <a:schemeClr val="accent5"/>
            </a:solidFill>
            <a:ln w="9525">
              <a:solidFill>
                <a:schemeClr val="accent4"/>
              </a:solidFill>
            </a:ln>
          </p:spPr>
        </p:sp>
        <p:sp>
          <p:nvSpPr>
            <p:cNvPr id="18" name="Rectangle 18"/>
            <p:cNvSpPr/>
            <p:nvPr/>
          </p:nvSpPr>
          <p:spPr>
            <a:xfrm>
              <a:off x="4381500" y="1733550"/>
              <a:ext cx="3429000" cy="76200"/>
            </a:xfrm>
            <a:prstGeom prst="roundRect">
              <a:avLst>
                <a:gd name="adj" fmla="val 50000"/>
              </a:avLst>
            </a:prstGeom>
            <a:solidFill>
              <a:schemeClr val="accent2"/>
            </a:solidFill>
            <a:ln>
              <a:noFill/>
            </a:ln>
          </p:spPr>
        </p:sp>
        <p:sp>
          <p:nvSpPr>
            <p:cNvPr id="19" name="TextBox 19"/>
            <p:cNvSpPr txBox="1"/>
            <p:nvPr/>
          </p:nvSpPr>
          <p:spPr>
            <a:xfrm>
              <a:off x="4642485" y="2145506"/>
              <a:ext cx="1379580" cy="220028"/>
            </a:xfrm>
            <a:prstGeom prst="rect">
              <a:avLst/>
            </a:prstGeom>
            <a:noFill/>
            <a:ln>
              <a:noFill/>
            </a:ln>
          </p:spPr>
          <p:txBody>
            <a:bodyPr wrap="none" lIns="0" tIns="0" rIns="0" bIns="0" anchor="t" anchorCtr="0">
              <a:spAutoFit/>
            </a:bodyPr>
            <a:lstStyle/>
            <a:p>
              <a:pPr algn="l"/>
              <a:r>
                <a:rPr lang="en-US" sz="1120" b="1" spc="75" dirty="0">
                  <a:solidFill>
                    <a:schemeClr val="accent2"/>
                  </a:solidFill>
                  <a:latin typeface="+mn-lt"/>
                  <a:ea typeface="+mn-ea"/>
                  <a:cs typeface="+mn-cs"/>
                </a:rPr>
                <a:t>CONTRIBUTION 2</a:t>
              </a:r>
            </a:p>
          </p:txBody>
        </p:sp>
        <p:sp>
          <p:nvSpPr>
            <p:cNvPr id="20" name="TextBox 20"/>
            <p:cNvSpPr txBox="1"/>
            <p:nvPr/>
          </p:nvSpPr>
          <p:spPr>
            <a:xfrm>
              <a:off x="4640199" y="2477929"/>
              <a:ext cx="83694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Reliable</a:t>
              </a:r>
            </a:p>
          </p:txBody>
        </p:sp>
        <p:sp>
          <p:nvSpPr>
            <p:cNvPr id="21" name="TextBox 21"/>
            <p:cNvSpPr txBox="1"/>
            <p:nvPr/>
          </p:nvSpPr>
          <p:spPr>
            <a:xfrm>
              <a:off x="4640199" y="2725579"/>
              <a:ext cx="1132675"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evaluation</a:t>
              </a:r>
            </a:p>
          </p:txBody>
        </p:sp>
        <p:sp>
          <p:nvSpPr>
            <p:cNvPr id="22" name="TextBox 22"/>
            <p:cNvSpPr txBox="1"/>
            <p:nvPr/>
          </p:nvSpPr>
          <p:spPr>
            <a:xfrm>
              <a:off x="4642104" y="3147060"/>
              <a:ext cx="243253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Multi-criteria checks that run</a:t>
              </a:r>
            </a:p>
          </p:txBody>
        </p:sp>
        <p:sp>
          <p:nvSpPr>
            <p:cNvPr id="23" name="TextBox 23"/>
            <p:cNvSpPr txBox="1"/>
            <p:nvPr/>
          </p:nvSpPr>
          <p:spPr>
            <a:xfrm>
              <a:off x="4642104" y="3375660"/>
              <a:ext cx="260497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test cases and enforce surface-</a:t>
              </a:r>
            </a:p>
          </p:txBody>
        </p:sp>
        <p:sp>
          <p:nvSpPr>
            <p:cNvPr id="24" name="TextBox 24"/>
            <p:cNvSpPr txBox="1"/>
            <p:nvPr/>
          </p:nvSpPr>
          <p:spPr>
            <a:xfrm>
              <a:off x="4642104" y="3604260"/>
              <a:ext cx="228188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form constraints — accepted</a:t>
              </a:r>
            </a:p>
          </p:txBody>
        </p:sp>
        <p:sp>
          <p:nvSpPr>
            <p:cNvPr id="25" name="TextBox 25"/>
            <p:cNvSpPr txBox="1"/>
            <p:nvPr/>
          </p:nvSpPr>
          <p:spPr>
            <a:xfrm>
              <a:off x="4642104" y="3832860"/>
              <a:ext cx="270190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solutions are nearly always right.</a:t>
              </a:r>
            </a:p>
          </p:txBody>
        </p:sp>
      </p:grpSp>
      <p:grpSp>
        <p:nvGrpSpPr>
          <p:cNvPr id="36" name="Group 36"/>
          <p:cNvGrpSpPr/>
          <p:nvPr/>
        </p:nvGrpSpPr>
        <p:grpSpPr>
          <a:xfrm>
            <a:off x="8001000" y="1733550"/>
            <a:ext cx="3429000" cy="2724150"/>
            <a:chOff x="8001000" y="1733550"/>
            <a:chExt cx="3429000" cy="2724150"/>
          </a:xfrm>
        </p:grpSpPr>
        <p:sp>
          <p:nvSpPr>
            <p:cNvPr id="27" name="Rectangle 27"/>
            <p:cNvSpPr/>
            <p:nvPr/>
          </p:nvSpPr>
          <p:spPr>
            <a:xfrm>
              <a:off x="8001000" y="1733550"/>
              <a:ext cx="3429000" cy="2724150"/>
            </a:xfrm>
            <a:prstGeom prst="roundRect">
              <a:avLst>
                <a:gd name="adj" fmla="val 4196"/>
              </a:avLst>
            </a:prstGeom>
            <a:solidFill>
              <a:schemeClr val="accent5"/>
            </a:solidFill>
            <a:ln w="9525">
              <a:solidFill>
                <a:schemeClr val="accent4"/>
              </a:solidFill>
            </a:ln>
          </p:spPr>
        </p:sp>
        <p:sp>
          <p:nvSpPr>
            <p:cNvPr id="28" name="Rectangle 28"/>
            <p:cNvSpPr/>
            <p:nvPr/>
          </p:nvSpPr>
          <p:spPr>
            <a:xfrm>
              <a:off x="8001000" y="1733550"/>
              <a:ext cx="3429000" cy="76200"/>
            </a:xfrm>
            <a:prstGeom prst="roundRect">
              <a:avLst>
                <a:gd name="adj" fmla="val 50000"/>
              </a:avLst>
            </a:prstGeom>
            <a:solidFill>
              <a:schemeClr val="accent3"/>
            </a:solidFill>
            <a:ln>
              <a:noFill/>
            </a:ln>
          </p:spPr>
        </p:sp>
        <p:sp>
          <p:nvSpPr>
            <p:cNvPr id="29" name="TextBox 29"/>
            <p:cNvSpPr txBox="1"/>
            <p:nvPr/>
          </p:nvSpPr>
          <p:spPr>
            <a:xfrm>
              <a:off x="8261985" y="2145506"/>
              <a:ext cx="1379580" cy="220028"/>
            </a:xfrm>
            <a:prstGeom prst="rect">
              <a:avLst/>
            </a:prstGeom>
            <a:noFill/>
            <a:ln>
              <a:noFill/>
            </a:ln>
          </p:spPr>
          <p:txBody>
            <a:bodyPr wrap="none" lIns="0" tIns="0" rIns="0" bIns="0" anchor="t" anchorCtr="0">
              <a:spAutoFit/>
            </a:bodyPr>
            <a:lstStyle/>
            <a:p>
              <a:pPr algn="l"/>
              <a:r>
                <a:rPr lang="en-US" sz="1120" b="1" spc="75" dirty="0">
                  <a:solidFill>
                    <a:schemeClr val="accent3"/>
                  </a:solidFill>
                  <a:latin typeface="+mn-lt"/>
                  <a:ea typeface="+mn-ea"/>
                  <a:cs typeface="+mn-cs"/>
                </a:rPr>
                <a:t>CONTRIBUTION 3</a:t>
              </a:r>
            </a:p>
          </p:txBody>
        </p:sp>
        <p:sp>
          <p:nvSpPr>
            <p:cNvPr id="30" name="TextBox 30"/>
            <p:cNvSpPr txBox="1"/>
            <p:nvPr/>
          </p:nvSpPr>
          <p:spPr>
            <a:xfrm>
              <a:off x="8259699" y="2477929"/>
              <a:ext cx="1474524"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Memorization</a:t>
              </a:r>
            </a:p>
          </p:txBody>
        </p:sp>
        <p:sp>
          <p:nvSpPr>
            <p:cNvPr id="31" name="TextBox 31"/>
            <p:cNvSpPr txBox="1"/>
            <p:nvPr/>
          </p:nvSpPr>
          <p:spPr>
            <a:xfrm>
              <a:off x="8259699" y="2725579"/>
              <a:ext cx="875840"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defense</a:t>
              </a:r>
            </a:p>
          </p:txBody>
        </p:sp>
        <p:sp>
          <p:nvSpPr>
            <p:cNvPr id="32" name="TextBox 32"/>
            <p:cNvSpPr txBox="1"/>
            <p:nvPr/>
          </p:nvSpPr>
          <p:spPr>
            <a:xfrm>
              <a:off x="8261604" y="3147060"/>
              <a:ext cx="224698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Problems are perturbed so a</a:t>
              </a:r>
            </a:p>
          </p:txBody>
        </p:sp>
        <p:sp>
          <p:nvSpPr>
            <p:cNvPr id="33" name="TextBox 33"/>
            <p:cNvSpPr txBox="1"/>
            <p:nvPr/>
          </p:nvSpPr>
          <p:spPr>
            <a:xfrm>
              <a:off x="8261604" y="3375660"/>
              <a:ext cx="220111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model cannot simply recall a</a:t>
              </a:r>
            </a:p>
          </p:txBody>
        </p:sp>
        <p:sp>
          <p:nvSpPr>
            <p:cNvPr id="34" name="TextBox 34"/>
            <p:cNvSpPr txBox="1"/>
            <p:nvPr/>
          </p:nvSpPr>
          <p:spPr>
            <a:xfrm>
              <a:off x="8261604" y="3604260"/>
              <a:ext cx="237073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pre-training answer — it must</a:t>
              </a:r>
            </a:p>
          </p:txBody>
        </p:sp>
        <p:sp>
          <p:nvSpPr>
            <p:cNvPr id="35" name="TextBox 35"/>
            <p:cNvSpPr txBox="1"/>
            <p:nvPr/>
          </p:nvSpPr>
          <p:spPr>
            <a:xfrm>
              <a:off x="8261604" y="3832860"/>
              <a:ext cx="190225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actually solve the task.</a:t>
              </a:r>
            </a:p>
          </p:txBody>
        </p:sp>
      </p:grpSp>
      <p:grpSp>
        <p:nvGrpSpPr>
          <p:cNvPr id="44" name="Group 44"/>
          <p:cNvGrpSpPr/>
          <p:nvPr/>
        </p:nvGrpSpPr>
        <p:grpSpPr>
          <a:xfrm>
            <a:off x="762000" y="4648200"/>
            <a:ext cx="10668000" cy="1428750"/>
            <a:chOff x="762000" y="4648200"/>
            <a:chExt cx="10668000" cy="1428750"/>
          </a:xfrm>
        </p:grpSpPr>
        <p:sp>
          <p:nvSpPr>
            <p:cNvPr id="37" name="Rectangle 37"/>
            <p:cNvSpPr/>
            <p:nvPr/>
          </p:nvSpPr>
          <p:spPr>
            <a:xfrm>
              <a:off x="762000" y="4648200"/>
              <a:ext cx="10668000" cy="1428750"/>
            </a:xfrm>
            <a:prstGeom prst="roundRect">
              <a:avLst>
                <a:gd name="adj" fmla="val 8000"/>
              </a:avLst>
            </a:prstGeom>
            <a:solidFill>
              <a:schemeClr val="dk1"/>
            </a:solidFill>
            <a:ln>
              <a:noFill/>
            </a:ln>
          </p:spPr>
        </p:sp>
        <p:sp>
          <p:nvSpPr>
            <p:cNvPr id="38" name="Rectangle 38"/>
            <p:cNvSpPr/>
            <p:nvPr/>
          </p:nvSpPr>
          <p:spPr>
            <a:xfrm>
              <a:off x="762000" y="4648200"/>
              <a:ext cx="57150" cy="1428750"/>
            </a:xfrm>
            <a:prstGeom prst="roundRect">
              <a:avLst>
                <a:gd name="adj" fmla="val 50000"/>
              </a:avLst>
            </a:prstGeom>
            <a:solidFill>
              <a:schemeClr val="accent1"/>
            </a:solidFill>
            <a:ln>
              <a:noFill/>
            </a:ln>
          </p:spPr>
        </p:sp>
        <p:sp>
          <p:nvSpPr>
            <p:cNvPr id="39" name="TextBox 39"/>
            <p:cNvSpPr txBox="1"/>
            <p:nvPr/>
          </p:nvSpPr>
          <p:spPr>
            <a:xfrm>
              <a:off x="1096518" y="4965382"/>
              <a:ext cx="4759437"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Released to the community &amp; benchmarked</a:t>
              </a:r>
            </a:p>
          </p:txBody>
        </p:sp>
        <p:sp>
          <p:nvSpPr>
            <p:cNvPr id="40" name="TextBox 40"/>
            <p:cNvSpPr txBox="1"/>
            <p:nvPr/>
          </p:nvSpPr>
          <p:spPr>
            <a:xfrm>
              <a:off x="1098423" y="5348764"/>
              <a:ext cx="6933015" cy="249364"/>
            </a:xfrm>
            <a:prstGeom prst="rect">
              <a:avLst/>
            </a:prstGeom>
            <a:noFill/>
            <a:ln>
              <a:noFill/>
            </a:ln>
          </p:spPr>
          <p:txBody>
            <a:bodyPr wrap="none" lIns="0" tIns="0" rIns="0" bIns="0" anchor="t" anchorCtr="0">
              <a:spAutoFit/>
            </a:bodyPr>
            <a:lstStyle/>
            <a:p>
              <a:pPr algn="l"/>
              <a:r>
                <a:rPr lang="en-US" sz="1280" dirty="0">
                  <a:solidFill>
                    <a:srgbClr val="C7CFDA"/>
                  </a:solidFill>
                  <a:latin typeface="+mn-lt"/>
                  <a:ea typeface="+mn-ea"/>
                  <a:cs typeface="+mn-cs"/>
                </a:rPr>
                <a:t>The authors publicly release DS-1000 and use it to evaluate five state-of-the-art</a:t>
              </a:r>
            </a:p>
          </p:txBody>
        </p:sp>
        <p:sp>
          <p:nvSpPr>
            <p:cNvPr id="41" name="TextBox 41"/>
            <p:cNvSpPr txBox="1"/>
            <p:nvPr/>
          </p:nvSpPr>
          <p:spPr>
            <a:xfrm>
              <a:off x="1098423" y="5596414"/>
              <a:ext cx="4475876" cy="249364"/>
            </a:xfrm>
            <a:prstGeom prst="rect">
              <a:avLst/>
            </a:prstGeom>
            <a:noFill/>
            <a:ln>
              <a:noFill/>
            </a:ln>
          </p:spPr>
          <p:txBody>
            <a:bodyPr wrap="none" lIns="0" tIns="0" rIns="0" bIns="0" anchor="t" anchorCtr="0">
              <a:spAutoFit/>
            </a:bodyPr>
            <a:lstStyle/>
            <a:p>
              <a:pPr algn="l"/>
              <a:r>
                <a:rPr lang="en-US" sz="1280" dirty="0">
                  <a:solidFill>
                    <a:srgbClr val="C7CFDA"/>
                  </a:solidFill>
                  <a:latin typeface="+mn-lt"/>
                  <a:ea typeface="+mn-ea"/>
                  <a:cs typeface="+mn-cs"/>
                </a:rPr>
                <a:t>code-generation models across three model families.</a:t>
              </a:r>
            </a:p>
          </p:txBody>
        </p:sp>
        <p:sp>
          <p:nvSpPr>
            <p:cNvPr id="42" name="TextBox 42"/>
            <p:cNvSpPr txBox="1"/>
            <p:nvPr/>
          </p:nvSpPr>
          <p:spPr>
            <a:xfrm>
              <a:off x="9373367" y="4961572"/>
              <a:ext cx="303266" cy="674751"/>
            </a:xfrm>
            <a:prstGeom prst="rect">
              <a:avLst/>
            </a:prstGeom>
            <a:noFill/>
            <a:ln>
              <a:noFill/>
            </a:ln>
          </p:spPr>
          <p:txBody>
            <a:bodyPr wrap="none" lIns="0" tIns="0" rIns="0" bIns="0" anchor="t" anchorCtr="0">
              <a:spAutoFit/>
            </a:bodyPr>
            <a:lstStyle/>
            <a:p>
              <a:pPr algn="ctr"/>
              <a:r>
                <a:rPr lang="en-US" sz="3450" b="1" dirty="0">
                  <a:solidFill>
                    <a:schemeClr val="accent1"/>
                  </a:solidFill>
                  <a:latin typeface="+mn-lt"/>
                  <a:ea typeface="+mn-ea"/>
                  <a:cs typeface="+mn-cs"/>
                </a:rPr>
                <a:t>5</a:t>
              </a:r>
            </a:p>
          </p:txBody>
        </p:sp>
        <p:sp>
          <p:nvSpPr>
            <p:cNvPr id="43" name="TextBox 43"/>
            <p:cNvSpPr txBox="1"/>
            <p:nvPr/>
          </p:nvSpPr>
          <p:spPr>
            <a:xfrm>
              <a:off x="9060575" y="5479256"/>
              <a:ext cx="928850" cy="220028"/>
            </a:xfrm>
            <a:prstGeom prst="rect">
              <a:avLst/>
            </a:prstGeom>
            <a:noFill/>
            <a:ln>
              <a:noFill/>
            </a:ln>
          </p:spPr>
          <p:txBody>
            <a:bodyPr wrap="none" lIns="0" tIns="0" rIns="0" bIns="0" anchor="t" anchorCtr="0">
              <a:spAutoFit/>
            </a:bodyPr>
            <a:lstStyle/>
            <a:p>
              <a:pPr algn="ctr"/>
              <a:r>
                <a:rPr lang="en-US" sz="1120" dirty="0">
                  <a:solidFill>
                    <a:srgbClr val="8A97A8"/>
                  </a:solidFill>
                  <a:latin typeface="+mn-lt"/>
                  <a:ea typeface="+mn-ea"/>
                  <a:cs typeface="+mn-cs"/>
                </a:rPr>
                <a:t>SOTA models</a:t>
              </a:r>
            </a:p>
          </p:txBody>
        </p:sp>
      </p:grpSp>
      <p:grpSp>
        <p:nvGrpSpPr>
          <p:cNvPr id="47" name="Group 47"/>
          <p:cNvGrpSpPr/>
          <p:nvPr/>
        </p:nvGrpSpPr>
        <p:grpSpPr>
          <a:xfrm>
            <a:off x="757238" y="6570345"/>
            <a:ext cx="10677524" cy="176212"/>
            <a:chOff x="757238" y="6570345"/>
            <a:chExt cx="10677524" cy="176212"/>
          </a:xfrm>
        </p:grpSpPr>
        <p:sp>
          <p:nvSpPr>
            <p:cNvPr id="45" name="TextBox 45"/>
            <p:cNvSpPr txBox="1"/>
            <p:nvPr/>
          </p:nvSpPr>
          <p:spPr>
            <a:xfrm>
              <a:off x="757238" y="6570345"/>
              <a:ext cx="1244879"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DS-1000 · ICML 2023</a:t>
              </a:r>
            </a:p>
          </p:txBody>
        </p:sp>
        <p:sp>
          <p:nvSpPr>
            <p:cNvPr id="46" name="TextBox 46"/>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04 / 10</a:t>
              </a:r>
            </a:p>
          </p:txBody>
        </p:sp>
      </p:grpSp>
      <p:sp>
        <p:nvSpPr>
          <p:cNvPr id="48" name="cue_s04_c1_ds_1000_makes_three_contributions_fi" title="cue_s04_c1_ds_1000_makes_three_contributions_fi" descr="cue_s04_c1_ds_1000_makes_three_contributions_fi DS-1000 makes three contributions. First, it provides a thousand realistic problems with diverse contexts, adapted from naturally occurring StackOverflow questions across seven popular Python libraries."/>
          <p:cNvSpPr/>
          <p:nvPr/>
        </p:nvSpPr>
        <p:spPr>
          <a:xfrm>
            <a:off x="762000" y="1733702"/>
            <a:ext cx="3428390" cy="27239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4_c2_second_implements_reliable_multi_cri" title="cue_s04_c2_second_implements_reliable_multi_cri" descr="cue_s04_c2_second_implements_reliable_multi_cri Second, it implements reliable multi-criteria evaluation that runs test cases and checks surface-form constraints, so accepted solutions are almost always genuinely correct."/>
          <p:cNvSpPr/>
          <p:nvPr/>
        </p:nvSpPr>
        <p:spPr>
          <a:xfrm>
            <a:off x="4381804" y="1733702"/>
            <a:ext cx="3428390" cy="27239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4_c3_third_proactively_defends_against_me" title="cue_s04_c3_third_proactively_defends_against_me" descr="cue_s04_c3_third_proactively_defends_against_me Third, it proactively defends against memorization by perturbing problems so models cannot simply recall pre-training answers."/>
          <p:cNvSpPr/>
          <p:nvPr/>
        </p:nvSpPr>
        <p:spPr>
          <a:xfrm>
            <a:off x="8000390" y="1733702"/>
            <a:ext cx="3428390" cy="27239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4_c4_authors_release_benchmark_evaluate_f" title="cue_s04_c4_authors_release_benchmark_evaluate_f" descr="cue_s04_c4_authors_release_benchmark_evaluate_f The authors release the benchmark and use it to evaluate five state-of-the-art code models."/>
          <p:cNvSpPr/>
          <p:nvPr/>
        </p:nvSpPr>
        <p:spPr>
          <a:xfrm>
            <a:off x="762000" y="4648352"/>
            <a:ext cx="10668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157105"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05 · METHOD</a:t>
              </a:r>
            </a:p>
          </p:txBody>
        </p:sp>
        <p:sp>
          <p:nvSpPr>
            <p:cNvPr id="4" name="TextBox 4"/>
            <p:cNvSpPr txBox="1"/>
            <p:nvPr/>
          </p:nvSpPr>
          <p:spPr>
            <a:xfrm>
              <a:off x="749046" y="867728"/>
              <a:ext cx="7535290"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A five-stage pipeline, reviewed by experts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1" name="Group 11"/>
          <p:cNvGrpSpPr/>
          <p:nvPr/>
        </p:nvGrpSpPr>
        <p:grpSpPr>
          <a:xfrm>
            <a:off x="762000" y="1619250"/>
            <a:ext cx="10668000" cy="2857500"/>
            <a:chOff x="762000" y="1619250"/>
            <a:chExt cx="10668000" cy="2857500"/>
          </a:xfrm>
        </p:grpSpPr>
        <p:sp>
          <p:nvSpPr>
            <p:cNvPr id="7" name="Rectangle 7"/>
            <p:cNvSpPr/>
            <p:nvPr/>
          </p:nvSpPr>
          <p:spPr>
            <a:xfrm>
              <a:off x="762000" y="1619250"/>
              <a:ext cx="10668000" cy="2857500"/>
            </a:xfrm>
            <a:prstGeom prst="roundRect">
              <a:avLst>
                <a:gd name="adj" fmla="val 4000"/>
              </a:avLst>
            </a:prstGeom>
            <a:solidFill>
              <a:schemeClr val="accent5"/>
            </a:solidFill>
            <a:ln w="9525">
              <a:solidFill>
                <a:schemeClr val="accent4"/>
              </a:solidFill>
            </a:ln>
          </p:spPr>
        </p:sp>
        <p:sp>
          <p:nvSpPr>
            <p:cNvPr id="8" name="TextBox 8"/>
            <p:cNvSpPr txBox="1"/>
            <p:nvPr/>
          </p:nvSpPr>
          <p:spPr>
            <a:xfrm>
              <a:off x="1022985" y="1821656"/>
              <a:ext cx="3657551"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THE FIVE-STAGE BUILD PIPELINE (Figure 2)</a:t>
              </a:r>
            </a:p>
          </p:txBody>
        </p:sp>
        <p:sp>
          <p:nvSpPr>
            <p:cNvPr id="9" name="Rectangle 9"/>
            <p:cNvSpPr/>
            <p:nvPr/>
          </p:nvSpPr>
          <p:spPr>
            <a:xfrm>
              <a:off x="2171700" y="2057400"/>
              <a:ext cx="7848600" cy="2266950"/>
            </a:xfrm>
            <a:prstGeom prst="roundRect">
              <a:avLst>
                <a:gd name="adj" fmla="val 3361"/>
              </a:avLst>
            </a:prstGeom>
            <a:solidFill>
              <a:schemeClr val="lt1"/>
            </a:solidFill>
            <a:ln w="9525">
              <a:solidFill>
                <a:schemeClr val="accent4"/>
              </a:solidFill>
            </a:ln>
          </p:spPr>
        </p:sp>
        <p:pic>
          <p:nvPicPr>
            <p:cNvPr id="10" name="Image 10"/>
            <p:cNvPicPr>
              <a:picLocks noChangeAspect="1"/>
            </p:cNvPicPr>
            <p:nvPr/>
          </p:nvPicPr>
          <p:blipFill>
            <a:blip r:embed="rId2"/>
            <a:stretch>
              <a:fillRect/>
            </a:stretch>
          </p:blipFill>
          <p:spPr>
            <a:xfrm>
              <a:off x="3215325" y="2114550"/>
              <a:ext cx="5761350" cy="2152650"/>
            </a:xfrm>
            <a:prstGeom prst="rect">
              <a:avLst/>
            </a:prstGeom>
          </p:spPr>
        </p:pic>
      </p:grpSp>
      <p:grpSp>
        <p:nvGrpSpPr>
          <p:cNvPr id="19" name="Group 19"/>
          <p:cNvGrpSpPr/>
          <p:nvPr/>
        </p:nvGrpSpPr>
        <p:grpSpPr>
          <a:xfrm>
            <a:off x="762000" y="4629150"/>
            <a:ext cx="3429000" cy="1504950"/>
            <a:chOff x="762000" y="4629150"/>
            <a:chExt cx="3429000" cy="1504950"/>
          </a:xfrm>
        </p:grpSpPr>
        <p:sp>
          <p:nvSpPr>
            <p:cNvPr id="12" name="Rectangle 12"/>
            <p:cNvSpPr/>
            <p:nvPr/>
          </p:nvSpPr>
          <p:spPr>
            <a:xfrm>
              <a:off x="762000" y="4629150"/>
              <a:ext cx="3429000" cy="1504950"/>
            </a:xfrm>
            <a:prstGeom prst="roundRect">
              <a:avLst>
                <a:gd name="adj" fmla="val 7595"/>
              </a:avLst>
            </a:prstGeom>
            <a:solidFill>
              <a:srgbClr val="E1F3F0"/>
            </a:solidFill>
            <a:ln w="9525">
              <a:solidFill>
                <a:srgbClr val="B7E2DA"/>
              </a:solidFill>
            </a:ln>
          </p:spPr>
        </p:sp>
        <p:sp>
          <p:nvSpPr>
            <p:cNvPr id="13" name="Rectangle 13"/>
            <p:cNvSpPr/>
            <p:nvPr/>
          </p:nvSpPr>
          <p:spPr>
            <a:xfrm>
              <a:off x="762000" y="4629150"/>
              <a:ext cx="57150" cy="1504950"/>
            </a:xfrm>
            <a:prstGeom prst="roundRect">
              <a:avLst>
                <a:gd name="adj" fmla="val 50000"/>
              </a:avLst>
            </a:prstGeom>
            <a:solidFill>
              <a:schemeClr val="accent2"/>
            </a:solidFill>
            <a:ln>
              <a:noFill/>
            </a:ln>
          </p:spPr>
        </p:sp>
        <p:sp>
          <p:nvSpPr>
            <p:cNvPr id="14" name="TextBox 14"/>
            <p:cNvSpPr txBox="1"/>
            <p:nvPr/>
          </p:nvSpPr>
          <p:spPr>
            <a:xfrm>
              <a:off x="1021842" y="4807268"/>
              <a:ext cx="1536899"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Automatic tests</a:t>
              </a:r>
            </a:p>
          </p:txBody>
        </p:sp>
        <p:sp>
          <p:nvSpPr>
            <p:cNvPr id="15" name="TextBox 15"/>
            <p:cNvSpPr txBox="1"/>
            <p:nvPr/>
          </p:nvSpPr>
          <p:spPr>
            <a:xfrm>
              <a:off x="1022985" y="5117306"/>
              <a:ext cx="23984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Check functional correctness by</a:t>
              </a:r>
            </a:p>
          </p:txBody>
        </p:sp>
        <p:sp>
          <p:nvSpPr>
            <p:cNvPr id="16" name="TextBox 16"/>
            <p:cNvSpPr txBox="1"/>
            <p:nvPr/>
          </p:nvSpPr>
          <p:spPr>
            <a:xfrm>
              <a:off x="1022985" y="5326856"/>
              <a:ext cx="255951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executing test cases, and enforce</a:t>
              </a:r>
            </a:p>
          </p:txBody>
        </p:sp>
        <p:sp>
          <p:nvSpPr>
            <p:cNvPr id="17" name="TextBox 17"/>
            <p:cNvSpPr txBox="1"/>
            <p:nvPr/>
          </p:nvSpPr>
          <p:spPr>
            <a:xfrm>
              <a:off x="1022985" y="5536406"/>
              <a:ext cx="246151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surface-form constraints — e.g.</a:t>
              </a:r>
            </a:p>
          </p:txBody>
        </p:sp>
        <p:sp>
          <p:nvSpPr>
            <p:cNvPr id="18" name="TextBox 18"/>
            <p:cNvSpPr txBox="1"/>
            <p:nvPr/>
          </p:nvSpPr>
          <p:spPr>
            <a:xfrm>
              <a:off x="1022985" y="5745956"/>
              <a:ext cx="254463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forbidden APIs in the syntax tree.</a:t>
              </a:r>
            </a:p>
          </p:txBody>
        </p:sp>
      </p:grpSp>
      <p:grpSp>
        <p:nvGrpSpPr>
          <p:cNvPr id="27" name="Group 27"/>
          <p:cNvGrpSpPr/>
          <p:nvPr/>
        </p:nvGrpSpPr>
        <p:grpSpPr>
          <a:xfrm>
            <a:off x="4381500" y="4629150"/>
            <a:ext cx="3429000" cy="1504950"/>
            <a:chOff x="4381500" y="4629150"/>
            <a:chExt cx="3429000" cy="1504950"/>
          </a:xfrm>
        </p:grpSpPr>
        <p:sp>
          <p:nvSpPr>
            <p:cNvPr id="20" name="Rectangle 20"/>
            <p:cNvSpPr/>
            <p:nvPr/>
          </p:nvSpPr>
          <p:spPr>
            <a:xfrm>
              <a:off x="4381500" y="4629150"/>
              <a:ext cx="3429000" cy="1504950"/>
            </a:xfrm>
            <a:prstGeom prst="roundRect">
              <a:avLst>
                <a:gd name="adj" fmla="val 7595"/>
              </a:avLst>
            </a:prstGeom>
            <a:solidFill>
              <a:srgbClr val="FBE9E2"/>
            </a:solidFill>
            <a:ln w="9525">
              <a:solidFill>
                <a:srgbClr val="F2C6B4"/>
              </a:solidFill>
            </a:ln>
          </p:spPr>
        </p:sp>
        <p:sp>
          <p:nvSpPr>
            <p:cNvPr id="21" name="Rectangle 21"/>
            <p:cNvSpPr/>
            <p:nvPr/>
          </p:nvSpPr>
          <p:spPr>
            <a:xfrm>
              <a:off x="4381500" y="4629150"/>
              <a:ext cx="57150" cy="1504950"/>
            </a:xfrm>
            <a:prstGeom prst="roundRect">
              <a:avLst>
                <a:gd name="adj" fmla="val 50000"/>
              </a:avLst>
            </a:prstGeom>
            <a:solidFill>
              <a:schemeClr val="accent3"/>
            </a:solidFill>
            <a:ln>
              <a:noFill/>
            </a:ln>
          </p:spPr>
        </p:sp>
        <p:sp>
          <p:nvSpPr>
            <p:cNvPr id="22" name="TextBox 22"/>
            <p:cNvSpPr txBox="1"/>
            <p:nvPr/>
          </p:nvSpPr>
          <p:spPr>
            <a:xfrm>
              <a:off x="4641342" y="4807268"/>
              <a:ext cx="1231163"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Perturbation</a:t>
              </a:r>
            </a:p>
          </p:txBody>
        </p:sp>
        <p:sp>
          <p:nvSpPr>
            <p:cNvPr id="23" name="TextBox 23"/>
            <p:cNvSpPr txBox="1"/>
            <p:nvPr/>
          </p:nvSpPr>
          <p:spPr>
            <a:xfrm>
              <a:off x="4642485" y="5117306"/>
              <a:ext cx="201433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Each problem is perturbed:</a:t>
              </a:r>
            </a:p>
          </p:txBody>
        </p:sp>
        <p:sp>
          <p:nvSpPr>
            <p:cNvPr id="24" name="TextBox 24"/>
            <p:cNvSpPr txBox="1"/>
            <p:nvPr/>
          </p:nvSpPr>
          <p:spPr>
            <a:xfrm>
              <a:off x="4642485" y="5326856"/>
              <a:ext cx="240120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surface edits keep the solution,</a:t>
              </a:r>
            </a:p>
          </p:txBody>
        </p:sp>
        <p:sp>
          <p:nvSpPr>
            <p:cNvPr id="25" name="TextBox 25"/>
            <p:cNvSpPr txBox="1"/>
            <p:nvPr/>
          </p:nvSpPr>
          <p:spPr>
            <a:xfrm>
              <a:off x="4642485" y="5536406"/>
              <a:ext cx="222781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semantic edits change it, plus</a:t>
              </a:r>
            </a:p>
          </p:txBody>
        </p:sp>
        <p:sp>
          <p:nvSpPr>
            <p:cNvPr id="26" name="TextBox 26"/>
            <p:cNvSpPr txBox="1"/>
            <p:nvPr/>
          </p:nvSpPr>
          <p:spPr>
            <a:xfrm>
              <a:off x="4642485" y="5745956"/>
              <a:ext cx="235597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deliberately difficult rewrites.</a:t>
              </a:r>
            </a:p>
          </p:txBody>
        </p:sp>
      </p:grpSp>
      <p:grpSp>
        <p:nvGrpSpPr>
          <p:cNvPr id="35" name="Group 35"/>
          <p:cNvGrpSpPr/>
          <p:nvPr/>
        </p:nvGrpSpPr>
        <p:grpSpPr>
          <a:xfrm>
            <a:off x="8001000" y="4629150"/>
            <a:ext cx="3429000" cy="1504950"/>
            <a:chOff x="8001000" y="4629150"/>
            <a:chExt cx="3429000" cy="1504950"/>
          </a:xfrm>
        </p:grpSpPr>
        <p:sp>
          <p:nvSpPr>
            <p:cNvPr id="28" name="Rectangle 28"/>
            <p:cNvSpPr/>
            <p:nvPr/>
          </p:nvSpPr>
          <p:spPr>
            <a:xfrm>
              <a:off x="8001000" y="4629150"/>
              <a:ext cx="3429000" cy="1504950"/>
            </a:xfrm>
            <a:prstGeom prst="roundRect">
              <a:avLst>
                <a:gd name="adj" fmla="val 7595"/>
              </a:avLst>
            </a:prstGeom>
            <a:solidFill>
              <a:schemeClr val="accent5"/>
            </a:solidFill>
            <a:ln w="9525">
              <a:solidFill>
                <a:schemeClr val="accent4"/>
              </a:solidFill>
            </a:ln>
          </p:spPr>
        </p:sp>
        <p:sp>
          <p:nvSpPr>
            <p:cNvPr id="29" name="Rectangle 29"/>
            <p:cNvSpPr/>
            <p:nvPr/>
          </p:nvSpPr>
          <p:spPr>
            <a:xfrm>
              <a:off x="8001000" y="4629150"/>
              <a:ext cx="57150" cy="1504950"/>
            </a:xfrm>
            <a:prstGeom prst="roundRect">
              <a:avLst>
                <a:gd name="adj" fmla="val 50000"/>
              </a:avLst>
            </a:prstGeom>
            <a:solidFill>
              <a:schemeClr val="accent1"/>
            </a:solidFill>
            <a:ln>
              <a:noFill/>
            </a:ln>
          </p:spPr>
        </p:sp>
        <p:sp>
          <p:nvSpPr>
            <p:cNvPr id="30" name="TextBox 30"/>
            <p:cNvSpPr txBox="1"/>
            <p:nvPr/>
          </p:nvSpPr>
          <p:spPr>
            <a:xfrm>
              <a:off x="8260842" y="4807268"/>
              <a:ext cx="1738609"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Red-team + review</a:t>
              </a:r>
            </a:p>
          </p:txBody>
        </p:sp>
        <p:sp>
          <p:nvSpPr>
            <p:cNvPr id="31" name="TextBox 31"/>
            <p:cNvSpPr txBox="1"/>
            <p:nvPr/>
          </p:nvSpPr>
          <p:spPr>
            <a:xfrm>
              <a:off x="8261985" y="5117306"/>
              <a:ext cx="225549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Evaluation must reject known-</a:t>
              </a:r>
            </a:p>
          </p:txBody>
        </p:sp>
        <p:sp>
          <p:nvSpPr>
            <p:cNvPr id="32" name="TextBox 32"/>
            <p:cNvSpPr txBox="1"/>
            <p:nvPr/>
          </p:nvSpPr>
          <p:spPr>
            <a:xfrm>
              <a:off x="8261985" y="5326856"/>
              <a:ext cx="242151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wrong solutions. Every problem,</a:t>
              </a:r>
            </a:p>
          </p:txBody>
        </p:sp>
        <p:sp>
          <p:nvSpPr>
            <p:cNvPr id="33" name="TextBox 33"/>
            <p:cNvSpPr txBox="1"/>
            <p:nvPr/>
          </p:nvSpPr>
          <p:spPr>
            <a:xfrm>
              <a:off x="8261985" y="5536406"/>
              <a:ext cx="251428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solution and metric is reviewed by</a:t>
              </a:r>
            </a:p>
          </p:txBody>
        </p:sp>
        <p:sp>
          <p:nvSpPr>
            <p:cNvPr id="34" name="TextBox 34"/>
            <p:cNvSpPr txBox="1"/>
            <p:nvPr/>
          </p:nvSpPr>
          <p:spPr>
            <a:xfrm>
              <a:off x="8261985" y="5745956"/>
              <a:ext cx="255951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at least three expert annotators.</a:t>
              </a:r>
            </a:p>
          </p:txBody>
        </p:sp>
      </p:grpSp>
      <p:grpSp>
        <p:nvGrpSpPr>
          <p:cNvPr id="38" name="Group 38"/>
          <p:cNvGrpSpPr/>
          <p:nvPr/>
        </p:nvGrpSpPr>
        <p:grpSpPr>
          <a:xfrm>
            <a:off x="757238" y="6570345"/>
            <a:ext cx="10677524" cy="176212"/>
            <a:chOff x="757238" y="6570345"/>
            <a:chExt cx="10677524" cy="176212"/>
          </a:xfrm>
        </p:grpSpPr>
        <p:sp>
          <p:nvSpPr>
            <p:cNvPr id="36" name="TextBox 36"/>
            <p:cNvSpPr txBox="1"/>
            <p:nvPr/>
          </p:nvSpPr>
          <p:spPr>
            <a:xfrm>
              <a:off x="757238" y="6570345"/>
              <a:ext cx="1244879"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DS-1000 · ICML 2023</a:t>
              </a:r>
            </a:p>
          </p:txBody>
        </p:sp>
        <p:sp>
          <p:nvSpPr>
            <p:cNvPr id="37" name="TextBox 37"/>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05 / 10</a:t>
              </a:r>
            </a:p>
          </p:txBody>
        </p:sp>
      </p:grpSp>
      <p:sp>
        <p:nvSpPr>
          <p:cNvPr id="39" name="cue_s05_c1_ds_1000_built_through_five_stage_pip" title="cue_s05_c1_ds_1000_built_through_five_stage_pip" descr="cue_s05_c1_ds_1000_built_through_five_stage_pip DS-1000 is built through a five-stage pipeline. Annotators first select high-vote, testable, useful, and representative StackOverflow problems and rewrite them for clarity. They add a code context with insertion markers showing exactly where the model must fil"/>
          <p:cNvSpPr/>
          <p:nvPr/>
        </p:nvSpPr>
        <p:spPr>
          <a:xfrm>
            <a:off x="762000" y="1619173"/>
            <a:ext cx="1066800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5_c2_they_implement_automatic_tests_check" title="cue_s05_c2_they_implement_automatic_tests_check" descr="cue_s05_c2_they_implement_automatic_tests_check They then implement automatic tests that check functional correctness by executing test cases and also enforce surface-form constraints, such as forbidding certain APIs or keywords in the syntax tree."/>
          <p:cNvSpPr/>
          <p:nvPr/>
        </p:nvSpPr>
        <p:spPr>
          <a:xfrm>
            <a:off x="762000" y="4629150"/>
            <a:ext cx="3428390"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5_c3_defend_against_memorization_they_per" title="cue_s05_c3_defend_against_memorization_they_per" descr="cue_s05_c3_defend_against_memorization_they_per To defend against memorization, they perturb each original problem, using surface perturbations that leave the reference solution unchanged and semantic perturbations that change it, plus deliberately difficult rewrites."/>
          <p:cNvSpPr/>
          <p:nvPr/>
        </p:nvSpPr>
        <p:spPr>
          <a:xfrm>
            <a:off x="4381804" y="4629150"/>
            <a:ext cx="3428390"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5_c4_finally_they_red_team_evaluation_req" title="cue_s05_c4_finally_they_red_team_evaluation_req" descr="cue_s05_c4_finally_they_red_team_evaluation_req Finally they red-team the evaluation, requiring it to reject known-wrong solutions. Every problem, solution, and metric is reviewed by at least three expert annotators."/>
          <p:cNvSpPr/>
          <p:nvPr/>
        </p:nvSpPr>
        <p:spPr>
          <a:xfrm>
            <a:off x="8000390" y="4629150"/>
            <a:ext cx="3428390"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201964"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06 · DATASET</a:t>
              </a:r>
            </a:p>
          </p:txBody>
        </p:sp>
        <p:sp>
          <p:nvSpPr>
            <p:cNvPr id="4" name="TextBox 4"/>
            <p:cNvSpPr txBox="1"/>
            <p:nvPr/>
          </p:nvSpPr>
          <p:spPr>
            <a:xfrm>
              <a:off x="749046" y="867728"/>
              <a:ext cx="3965932"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What is inside DS-1000</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5" name="Group 15"/>
          <p:cNvGrpSpPr/>
          <p:nvPr/>
        </p:nvGrpSpPr>
        <p:grpSpPr>
          <a:xfrm>
            <a:off x="762000" y="1733550"/>
            <a:ext cx="5257800" cy="1905000"/>
            <a:chOff x="762000" y="1733550"/>
            <a:chExt cx="5257800" cy="1905000"/>
          </a:xfrm>
        </p:grpSpPr>
        <p:sp>
          <p:nvSpPr>
            <p:cNvPr id="7" name="Rectangle 7"/>
            <p:cNvSpPr/>
            <p:nvPr/>
          </p:nvSpPr>
          <p:spPr>
            <a:xfrm>
              <a:off x="762000" y="1733550"/>
              <a:ext cx="5257800" cy="1905000"/>
            </a:xfrm>
            <a:prstGeom prst="roundRect">
              <a:avLst>
                <a:gd name="adj" fmla="val 6000"/>
              </a:avLst>
            </a:prstGeom>
            <a:solidFill>
              <a:schemeClr val="accent5"/>
            </a:solidFill>
            <a:ln w="9525">
              <a:solidFill>
                <a:schemeClr val="accent4"/>
              </a:solidFill>
            </a:ln>
          </p:spPr>
        </p:sp>
        <p:sp>
          <p:nvSpPr>
            <p:cNvPr id="8" name="Rectangle 8"/>
            <p:cNvSpPr/>
            <p:nvPr/>
          </p:nvSpPr>
          <p:spPr>
            <a:xfrm>
              <a:off x="762000" y="1733550"/>
              <a:ext cx="57150" cy="1905000"/>
            </a:xfrm>
            <a:prstGeom prst="roundRect">
              <a:avLst>
                <a:gd name="adj" fmla="val 50000"/>
              </a:avLst>
            </a:prstGeom>
            <a:solidFill>
              <a:schemeClr val="accent1"/>
            </a:solidFill>
            <a:ln>
              <a:noFill/>
            </a:ln>
          </p:spPr>
        </p:sp>
        <p:sp>
          <p:nvSpPr>
            <p:cNvPr id="9" name="TextBox 9"/>
            <p:cNvSpPr txBox="1"/>
            <p:nvPr/>
          </p:nvSpPr>
          <p:spPr>
            <a:xfrm>
              <a:off x="1049274" y="2027872"/>
              <a:ext cx="1376120"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mn-lt"/>
                  <a:ea typeface="+mn-ea"/>
                  <a:cs typeface="+mn-cs"/>
                </a:rPr>
                <a:t>1,000</a:t>
              </a:r>
            </a:p>
          </p:txBody>
        </p:sp>
        <p:sp>
          <p:nvSpPr>
            <p:cNvPr id="10" name="TextBox 10"/>
            <p:cNvSpPr txBox="1"/>
            <p:nvPr/>
          </p:nvSpPr>
          <p:spPr>
            <a:xfrm>
              <a:off x="2850642" y="2083118"/>
              <a:ext cx="1359024"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problems from</a:t>
              </a:r>
            </a:p>
          </p:txBody>
        </p:sp>
        <p:sp>
          <p:nvSpPr>
            <p:cNvPr id="11" name="TextBox 11"/>
            <p:cNvSpPr txBox="1"/>
            <p:nvPr/>
          </p:nvSpPr>
          <p:spPr>
            <a:xfrm>
              <a:off x="2850642" y="2330768"/>
              <a:ext cx="187120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451 unique SO posts</a:t>
              </a:r>
            </a:p>
          </p:txBody>
        </p:sp>
        <p:sp>
          <p:nvSpPr>
            <p:cNvPr id="12" name="TextBox 12"/>
            <p:cNvSpPr txBox="1"/>
            <p:nvPr/>
          </p:nvSpPr>
          <p:spPr>
            <a:xfrm>
              <a:off x="1060704" y="2804160"/>
              <a:ext cx="316500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Spanning 7 widely used Python libraries:</a:t>
              </a:r>
            </a:p>
          </p:txBody>
        </p:sp>
        <p:sp>
          <p:nvSpPr>
            <p:cNvPr id="13" name="TextBox 13"/>
            <p:cNvSpPr txBox="1"/>
            <p:nvPr/>
          </p:nvSpPr>
          <p:spPr>
            <a:xfrm>
              <a:off x="1060704" y="3070860"/>
              <a:ext cx="326421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NumPy · Pandas · TensorFlow · PyTorch ·</a:t>
              </a:r>
            </a:p>
          </p:txBody>
        </p:sp>
        <p:sp>
          <p:nvSpPr>
            <p:cNvPr id="14" name="TextBox 14"/>
            <p:cNvSpPr txBox="1"/>
            <p:nvPr/>
          </p:nvSpPr>
          <p:spPr>
            <a:xfrm>
              <a:off x="1060704" y="3299460"/>
              <a:ext cx="254873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SciPy · scikit-learn · Matplotlib</a:t>
              </a:r>
            </a:p>
          </p:txBody>
        </p:sp>
      </p:grpSp>
      <p:grpSp>
        <p:nvGrpSpPr>
          <p:cNvPr id="26" name="Group 26"/>
          <p:cNvGrpSpPr/>
          <p:nvPr/>
        </p:nvGrpSpPr>
        <p:grpSpPr>
          <a:xfrm>
            <a:off x="6172200" y="1733550"/>
            <a:ext cx="5257800" cy="1905000"/>
            <a:chOff x="6172200" y="1733550"/>
            <a:chExt cx="5257800" cy="1905000"/>
          </a:xfrm>
        </p:grpSpPr>
        <p:sp>
          <p:nvSpPr>
            <p:cNvPr id="16" name="Rectangle 16"/>
            <p:cNvSpPr/>
            <p:nvPr/>
          </p:nvSpPr>
          <p:spPr>
            <a:xfrm>
              <a:off x="6172200" y="1733550"/>
              <a:ext cx="5257800" cy="1905000"/>
            </a:xfrm>
            <a:prstGeom prst="roundRect">
              <a:avLst>
                <a:gd name="adj" fmla="val 6000"/>
              </a:avLst>
            </a:prstGeom>
            <a:solidFill>
              <a:schemeClr val="accent5"/>
            </a:solidFill>
            <a:ln w="9525">
              <a:solidFill>
                <a:schemeClr val="accent4"/>
              </a:solidFill>
            </a:ln>
          </p:spPr>
        </p:sp>
        <p:sp>
          <p:nvSpPr>
            <p:cNvPr id="17" name="Rectangle 17"/>
            <p:cNvSpPr/>
            <p:nvPr/>
          </p:nvSpPr>
          <p:spPr>
            <a:xfrm>
              <a:off x="6172200" y="1733550"/>
              <a:ext cx="57150" cy="1905000"/>
            </a:xfrm>
            <a:prstGeom prst="roundRect">
              <a:avLst>
                <a:gd name="adj" fmla="val 50000"/>
              </a:avLst>
            </a:prstGeom>
            <a:solidFill>
              <a:schemeClr val="accent3"/>
            </a:solidFill>
            <a:ln>
              <a:noFill/>
            </a:ln>
          </p:spPr>
        </p:sp>
        <p:sp>
          <p:nvSpPr>
            <p:cNvPr id="18" name="TextBox 18"/>
            <p:cNvSpPr txBox="1"/>
            <p:nvPr/>
          </p:nvSpPr>
          <p:spPr>
            <a:xfrm>
              <a:off x="6470142" y="1968818"/>
              <a:ext cx="395086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Over half modified to resist memorization</a:t>
              </a:r>
            </a:p>
          </p:txBody>
        </p:sp>
        <p:sp>
          <p:nvSpPr>
            <p:cNvPr id="19" name="TextBox 19"/>
            <p:cNvSpPr txBox="1"/>
            <p:nvPr/>
          </p:nvSpPr>
          <p:spPr>
            <a:xfrm>
              <a:off x="6416716" y="2533650"/>
              <a:ext cx="730167" cy="586740"/>
            </a:xfrm>
            <a:prstGeom prst="rect">
              <a:avLst/>
            </a:prstGeom>
            <a:noFill/>
            <a:ln>
              <a:noFill/>
            </a:ln>
          </p:spPr>
          <p:txBody>
            <a:bodyPr wrap="none" lIns="0" tIns="0" rIns="0" bIns="0" anchor="t" anchorCtr="0">
              <a:spAutoFit/>
            </a:bodyPr>
            <a:lstStyle/>
            <a:p>
              <a:pPr algn="ctr"/>
              <a:r>
                <a:rPr lang="en-US" sz="3000" b="1" dirty="0">
                  <a:solidFill>
                    <a:schemeClr val="accent3"/>
                  </a:solidFill>
                  <a:latin typeface="+mn-lt"/>
                  <a:ea typeface="+mn-ea"/>
                  <a:cs typeface="+mn-cs"/>
                </a:rPr>
                <a:t>152</a:t>
              </a:r>
            </a:p>
          </p:txBody>
        </p:sp>
        <p:sp>
          <p:nvSpPr>
            <p:cNvPr id="20" name="TextBox 20"/>
            <p:cNvSpPr txBox="1"/>
            <p:nvPr/>
          </p:nvSpPr>
          <p:spPr>
            <a:xfrm>
              <a:off x="6485844" y="2983706"/>
              <a:ext cx="591911"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surface</a:t>
              </a:r>
            </a:p>
          </p:txBody>
        </p:sp>
        <p:sp>
          <p:nvSpPr>
            <p:cNvPr id="21" name="TextBox 21"/>
            <p:cNvSpPr txBox="1"/>
            <p:nvPr/>
          </p:nvSpPr>
          <p:spPr>
            <a:xfrm>
              <a:off x="8436016" y="2533650"/>
              <a:ext cx="730167" cy="586740"/>
            </a:xfrm>
            <a:prstGeom prst="rect">
              <a:avLst/>
            </a:prstGeom>
            <a:noFill/>
            <a:ln>
              <a:noFill/>
            </a:ln>
          </p:spPr>
          <p:txBody>
            <a:bodyPr wrap="none" lIns="0" tIns="0" rIns="0" bIns="0" anchor="t" anchorCtr="0">
              <a:spAutoFit/>
            </a:bodyPr>
            <a:lstStyle/>
            <a:p>
              <a:pPr algn="ctr"/>
              <a:r>
                <a:rPr lang="en-US" sz="3000" b="1" dirty="0">
                  <a:solidFill>
                    <a:schemeClr val="accent3"/>
                  </a:solidFill>
                  <a:latin typeface="+mn-lt"/>
                  <a:ea typeface="+mn-ea"/>
                  <a:cs typeface="+mn-cs"/>
                </a:rPr>
                <a:t>235</a:t>
              </a:r>
            </a:p>
          </p:txBody>
        </p:sp>
        <p:sp>
          <p:nvSpPr>
            <p:cNvPr id="22" name="TextBox 22"/>
            <p:cNvSpPr txBox="1"/>
            <p:nvPr/>
          </p:nvSpPr>
          <p:spPr>
            <a:xfrm>
              <a:off x="8467451" y="2983706"/>
              <a:ext cx="667299"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semantic</a:t>
              </a:r>
            </a:p>
          </p:txBody>
        </p:sp>
        <p:sp>
          <p:nvSpPr>
            <p:cNvPr id="23" name="TextBox 23"/>
            <p:cNvSpPr txBox="1"/>
            <p:nvPr/>
          </p:nvSpPr>
          <p:spPr>
            <a:xfrm>
              <a:off x="10417216" y="2533650"/>
              <a:ext cx="730167" cy="586740"/>
            </a:xfrm>
            <a:prstGeom prst="rect">
              <a:avLst/>
            </a:prstGeom>
            <a:noFill/>
            <a:ln>
              <a:noFill/>
            </a:ln>
          </p:spPr>
          <p:txBody>
            <a:bodyPr wrap="none" lIns="0" tIns="0" rIns="0" bIns="0" anchor="t" anchorCtr="0">
              <a:spAutoFit/>
            </a:bodyPr>
            <a:lstStyle/>
            <a:p>
              <a:pPr algn="ctr"/>
              <a:r>
                <a:rPr lang="en-US" sz="3000" b="1" dirty="0">
                  <a:solidFill>
                    <a:schemeClr val="accent3"/>
                  </a:solidFill>
                  <a:latin typeface="+mn-lt"/>
                  <a:ea typeface="+mn-ea"/>
                  <a:cs typeface="+mn-cs"/>
                </a:rPr>
                <a:t>162</a:t>
              </a:r>
            </a:p>
          </p:txBody>
        </p:sp>
        <p:sp>
          <p:nvSpPr>
            <p:cNvPr id="24" name="TextBox 24"/>
            <p:cNvSpPr txBox="1"/>
            <p:nvPr/>
          </p:nvSpPr>
          <p:spPr>
            <a:xfrm>
              <a:off x="10459959" y="2983706"/>
              <a:ext cx="644682"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difficult</a:t>
              </a:r>
            </a:p>
          </p:txBody>
        </p:sp>
        <p:sp>
          <p:nvSpPr>
            <p:cNvPr id="25" name="TextBox 25"/>
            <p:cNvSpPr txBox="1"/>
            <p:nvPr/>
          </p:nvSpPr>
          <p:spPr>
            <a:xfrm>
              <a:off x="6471285" y="3326606"/>
              <a:ext cx="3868562" cy="220028"/>
            </a:xfrm>
            <a:prstGeom prst="rect">
              <a:avLst/>
            </a:prstGeom>
            <a:noFill/>
            <a:ln>
              <a:noFill/>
            </a:ln>
          </p:spPr>
          <p:txBody>
            <a:bodyPr wrap="none" lIns="0" tIns="0" rIns="0" bIns="0" anchor="t" anchorCtr="0">
              <a:spAutoFit/>
            </a:bodyPr>
            <a:lstStyle/>
            <a:p>
              <a:pPr algn="l"/>
              <a:r>
                <a:rPr lang="en-US" sz="1120" dirty="0">
                  <a:solidFill>
                    <a:srgbClr val="8A97A8"/>
                  </a:solidFill>
                  <a:latin typeface="+mn-lt"/>
                  <a:ea typeface="+mn-ea"/>
                  <a:cs typeface="+mn-cs"/>
                </a:rPr>
                <a:t>Perturbation types applied to the original problems.</a:t>
              </a:r>
            </a:p>
          </p:txBody>
        </p:sp>
      </p:grpSp>
      <p:grpSp>
        <p:nvGrpSpPr>
          <p:cNvPr id="37" name="Group 37"/>
          <p:cNvGrpSpPr/>
          <p:nvPr/>
        </p:nvGrpSpPr>
        <p:grpSpPr>
          <a:xfrm>
            <a:off x="762000" y="3790950"/>
            <a:ext cx="5257800" cy="1905000"/>
            <a:chOff x="762000" y="3790950"/>
            <a:chExt cx="5257800" cy="1905000"/>
          </a:xfrm>
        </p:grpSpPr>
        <p:sp>
          <p:nvSpPr>
            <p:cNvPr id="27" name="Rectangle 27"/>
            <p:cNvSpPr/>
            <p:nvPr/>
          </p:nvSpPr>
          <p:spPr>
            <a:xfrm>
              <a:off x="762000" y="3790950"/>
              <a:ext cx="5257800" cy="1905000"/>
            </a:xfrm>
            <a:prstGeom prst="roundRect">
              <a:avLst>
                <a:gd name="adj" fmla="val 6000"/>
              </a:avLst>
            </a:prstGeom>
            <a:solidFill>
              <a:schemeClr val="accent5"/>
            </a:solidFill>
            <a:ln w="9525">
              <a:solidFill>
                <a:schemeClr val="accent4"/>
              </a:solidFill>
            </a:ln>
          </p:spPr>
        </p:sp>
        <p:sp>
          <p:nvSpPr>
            <p:cNvPr id="28" name="Rectangle 28"/>
            <p:cNvSpPr/>
            <p:nvPr/>
          </p:nvSpPr>
          <p:spPr>
            <a:xfrm>
              <a:off x="762000" y="3790950"/>
              <a:ext cx="57150" cy="1905000"/>
            </a:xfrm>
            <a:prstGeom prst="roundRect">
              <a:avLst>
                <a:gd name="adj" fmla="val 50000"/>
              </a:avLst>
            </a:prstGeom>
            <a:solidFill>
              <a:schemeClr val="accent2"/>
            </a:solidFill>
            <a:ln>
              <a:noFill/>
            </a:ln>
          </p:spPr>
        </p:sp>
        <p:sp>
          <p:nvSpPr>
            <p:cNvPr id="29" name="TextBox 29"/>
            <p:cNvSpPr txBox="1"/>
            <p:nvPr/>
          </p:nvSpPr>
          <p:spPr>
            <a:xfrm>
              <a:off x="1059942" y="4026218"/>
              <a:ext cx="2329563"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Per-problem, on average</a:t>
              </a:r>
            </a:p>
          </p:txBody>
        </p:sp>
        <p:sp>
          <p:nvSpPr>
            <p:cNvPr id="30" name="TextBox 30"/>
            <p:cNvSpPr txBox="1"/>
            <p:nvPr/>
          </p:nvSpPr>
          <p:spPr>
            <a:xfrm>
              <a:off x="1118429" y="4487228"/>
              <a:ext cx="620642" cy="498729"/>
            </a:xfrm>
            <a:prstGeom prst="rect">
              <a:avLst/>
            </a:prstGeom>
            <a:noFill/>
            <a:ln>
              <a:noFill/>
            </a:ln>
          </p:spPr>
          <p:txBody>
            <a:bodyPr wrap="none" lIns="0" tIns="0" rIns="0" bIns="0" anchor="t" anchorCtr="0">
              <a:spAutoFit/>
            </a:bodyPr>
            <a:lstStyle/>
            <a:p>
              <a:pPr algn="ctr"/>
              <a:r>
                <a:rPr lang="en-US" sz="2550" b="1" dirty="0">
                  <a:solidFill>
                    <a:schemeClr val="accent2"/>
                  </a:solidFill>
                  <a:latin typeface="+mn-lt"/>
                  <a:ea typeface="+mn-ea"/>
                  <a:cs typeface="+mn-cs"/>
                </a:rPr>
                <a:t>1.6</a:t>
              </a:r>
            </a:p>
          </p:txBody>
        </p:sp>
        <p:sp>
          <p:nvSpPr>
            <p:cNvPr id="31" name="TextBox 31"/>
            <p:cNvSpPr txBox="1"/>
            <p:nvPr/>
          </p:nvSpPr>
          <p:spPr>
            <a:xfrm>
              <a:off x="1052370" y="4877752"/>
              <a:ext cx="752761"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test cases</a:t>
              </a:r>
            </a:p>
          </p:txBody>
        </p:sp>
        <p:sp>
          <p:nvSpPr>
            <p:cNvPr id="32" name="TextBox 32"/>
            <p:cNvSpPr txBox="1"/>
            <p:nvPr/>
          </p:nvSpPr>
          <p:spPr>
            <a:xfrm>
              <a:off x="2451929" y="4487228"/>
              <a:ext cx="620642" cy="498729"/>
            </a:xfrm>
            <a:prstGeom prst="rect">
              <a:avLst/>
            </a:prstGeom>
            <a:noFill/>
            <a:ln>
              <a:noFill/>
            </a:ln>
          </p:spPr>
          <p:txBody>
            <a:bodyPr wrap="none" lIns="0" tIns="0" rIns="0" bIns="0" anchor="t" anchorCtr="0">
              <a:spAutoFit/>
            </a:bodyPr>
            <a:lstStyle/>
            <a:p>
              <a:pPr algn="ctr"/>
              <a:r>
                <a:rPr lang="en-US" sz="2550" b="1" dirty="0">
                  <a:solidFill>
                    <a:schemeClr val="accent2"/>
                  </a:solidFill>
                  <a:latin typeface="+mn-lt"/>
                  <a:ea typeface="+mn-ea"/>
                  <a:cs typeface="+mn-cs"/>
                </a:rPr>
                <a:t>140</a:t>
              </a:r>
            </a:p>
          </p:txBody>
        </p:sp>
        <p:sp>
          <p:nvSpPr>
            <p:cNvPr id="33" name="TextBox 33"/>
            <p:cNvSpPr txBox="1"/>
            <p:nvPr/>
          </p:nvSpPr>
          <p:spPr>
            <a:xfrm>
              <a:off x="2548423" y="4877752"/>
              <a:ext cx="427653"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words</a:t>
              </a:r>
            </a:p>
          </p:txBody>
        </p:sp>
        <p:sp>
          <p:nvSpPr>
            <p:cNvPr id="34" name="TextBox 34"/>
            <p:cNvSpPr txBox="1"/>
            <p:nvPr/>
          </p:nvSpPr>
          <p:spPr>
            <a:xfrm>
              <a:off x="3785429" y="4487228"/>
              <a:ext cx="620642" cy="498729"/>
            </a:xfrm>
            <a:prstGeom prst="rect">
              <a:avLst/>
            </a:prstGeom>
            <a:noFill/>
            <a:ln>
              <a:noFill/>
            </a:ln>
          </p:spPr>
          <p:txBody>
            <a:bodyPr wrap="none" lIns="0" tIns="0" rIns="0" bIns="0" anchor="t" anchorCtr="0">
              <a:spAutoFit/>
            </a:bodyPr>
            <a:lstStyle/>
            <a:p>
              <a:pPr algn="ctr"/>
              <a:r>
                <a:rPr lang="en-US" sz="2550" b="1" dirty="0">
                  <a:solidFill>
                    <a:schemeClr val="accent2"/>
                  </a:solidFill>
                  <a:latin typeface="+mn-lt"/>
                  <a:ea typeface="+mn-ea"/>
                  <a:cs typeface="+mn-cs"/>
                </a:rPr>
                <a:t>3.6</a:t>
              </a:r>
            </a:p>
          </p:txBody>
        </p:sp>
        <p:sp>
          <p:nvSpPr>
            <p:cNvPr id="35" name="TextBox 35"/>
            <p:cNvSpPr txBox="1"/>
            <p:nvPr/>
          </p:nvSpPr>
          <p:spPr>
            <a:xfrm>
              <a:off x="3634559" y="4877752"/>
              <a:ext cx="922382"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solution lines</a:t>
              </a:r>
            </a:p>
          </p:txBody>
        </p:sp>
        <p:sp>
          <p:nvSpPr>
            <p:cNvPr id="36" name="TextBox 36"/>
            <p:cNvSpPr txBox="1"/>
            <p:nvPr/>
          </p:nvSpPr>
          <p:spPr>
            <a:xfrm>
              <a:off x="1060704" y="5261610"/>
              <a:ext cx="475125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About 1 in 5 problems also carry surface-form constraints.</a:t>
              </a:r>
            </a:p>
          </p:txBody>
        </p:sp>
      </p:grpSp>
      <p:grpSp>
        <p:nvGrpSpPr>
          <p:cNvPr id="45" name="Group 45"/>
          <p:cNvGrpSpPr/>
          <p:nvPr/>
        </p:nvGrpSpPr>
        <p:grpSpPr>
          <a:xfrm>
            <a:off x="6172200" y="3790950"/>
            <a:ext cx="5257800" cy="1991106"/>
            <a:chOff x="6172200" y="3790950"/>
            <a:chExt cx="5257800" cy="1991106"/>
          </a:xfrm>
        </p:grpSpPr>
        <p:sp>
          <p:nvSpPr>
            <p:cNvPr id="38" name="Rectangle 38"/>
            <p:cNvSpPr/>
            <p:nvPr/>
          </p:nvSpPr>
          <p:spPr>
            <a:xfrm>
              <a:off x="6172200" y="3790950"/>
              <a:ext cx="5257800" cy="1905000"/>
            </a:xfrm>
            <a:prstGeom prst="roundRect">
              <a:avLst>
                <a:gd name="adj" fmla="val 6000"/>
              </a:avLst>
            </a:prstGeom>
            <a:solidFill>
              <a:schemeClr val="accent6"/>
            </a:solidFill>
            <a:ln w="9525">
              <a:solidFill>
                <a:srgbClr val="C6D6FB"/>
              </a:solidFill>
            </a:ln>
          </p:spPr>
        </p:sp>
        <p:sp>
          <p:nvSpPr>
            <p:cNvPr id="39" name="Rectangle 39"/>
            <p:cNvSpPr/>
            <p:nvPr/>
          </p:nvSpPr>
          <p:spPr>
            <a:xfrm>
              <a:off x="6172200" y="3790950"/>
              <a:ext cx="57150" cy="1905000"/>
            </a:xfrm>
            <a:prstGeom prst="roundRect">
              <a:avLst>
                <a:gd name="adj" fmla="val 50000"/>
              </a:avLst>
            </a:prstGeom>
            <a:solidFill>
              <a:schemeClr val="accent1"/>
            </a:solidFill>
            <a:ln>
              <a:noFill/>
            </a:ln>
          </p:spPr>
        </p:sp>
        <p:sp>
          <p:nvSpPr>
            <p:cNvPr id="40" name="TextBox 40"/>
            <p:cNvSpPr txBox="1"/>
            <p:nvPr/>
          </p:nvSpPr>
          <p:spPr>
            <a:xfrm>
              <a:off x="6470142" y="4026218"/>
              <a:ext cx="176593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Far richer context</a:t>
              </a:r>
            </a:p>
          </p:txBody>
        </p:sp>
        <p:sp>
          <p:nvSpPr>
            <p:cNvPr id="41" name="TextBox 41"/>
            <p:cNvSpPr txBox="1"/>
            <p:nvPr/>
          </p:nvSpPr>
          <p:spPr>
            <a:xfrm>
              <a:off x="6764274" y="4466272"/>
              <a:ext cx="839693"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mn-lt"/>
                  <a:ea typeface="+mn-ea"/>
                  <a:cs typeface="+mn-cs"/>
                </a:rPr>
                <a:t>140</a:t>
              </a:r>
            </a:p>
          </p:txBody>
        </p:sp>
        <p:sp>
          <p:nvSpPr>
            <p:cNvPr id="42" name="TextBox 42"/>
            <p:cNvSpPr txBox="1"/>
            <p:nvPr/>
          </p:nvSpPr>
          <p:spPr>
            <a:xfrm>
              <a:off x="6776085" y="4983956"/>
              <a:ext cx="212227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words / problem, on average</a:t>
              </a:r>
            </a:p>
          </p:txBody>
        </p:sp>
        <p:sp>
          <p:nvSpPr>
            <p:cNvPr id="43" name="TextBox 43"/>
            <p:cNvSpPr txBox="1"/>
            <p:nvPr/>
          </p:nvSpPr>
          <p:spPr>
            <a:xfrm>
              <a:off x="6470904" y="5337810"/>
              <a:ext cx="322417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Several times the context of comparable</a:t>
              </a:r>
            </a:p>
          </p:txBody>
        </p:sp>
        <p:sp>
          <p:nvSpPr>
            <p:cNvPr id="44" name="TextBox 44"/>
            <p:cNvSpPr txBox="1"/>
            <p:nvPr/>
          </p:nvSpPr>
          <p:spPr>
            <a:xfrm>
              <a:off x="6470904" y="5547360"/>
              <a:ext cx="224957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data science code datasets.</a:t>
              </a:r>
            </a:p>
          </p:txBody>
        </p:sp>
      </p:grpSp>
      <p:grpSp>
        <p:nvGrpSpPr>
          <p:cNvPr id="48" name="Group 48"/>
          <p:cNvGrpSpPr/>
          <p:nvPr/>
        </p:nvGrpSpPr>
        <p:grpSpPr>
          <a:xfrm>
            <a:off x="757238" y="6570345"/>
            <a:ext cx="10677524" cy="176212"/>
            <a:chOff x="757238" y="6570345"/>
            <a:chExt cx="10677524" cy="176212"/>
          </a:xfrm>
        </p:grpSpPr>
        <p:sp>
          <p:nvSpPr>
            <p:cNvPr id="46" name="TextBox 46"/>
            <p:cNvSpPr txBox="1"/>
            <p:nvPr/>
          </p:nvSpPr>
          <p:spPr>
            <a:xfrm>
              <a:off x="757238" y="6570345"/>
              <a:ext cx="1244879"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DS-1000 · ICML 2023</a:t>
              </a:r>
            </a:p>
          </p:txBody>
        </p:sp>
        <p:sp>
          <p:nvSpPr>
            <p:cNvPr id="47" name="TextBox 47"/>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06 / 10</a:t>
              </a:r>
            </a:p>
          </p:txBody>
        </p:sp>
      </p:grpSp>
      <p:sp>
        <p:nvSpPr>
          <p:cNvPr id="49" name="cue_s06_c1_ds_1000_contains_thousand_problems_o" title="cue_s06_c1_ds_1000_contains_thousand_problems_o" descr="cue_s06_c1_ds_1000_contains_thousand_problems_o DS-1000 contains a thousand problems originating from four hundred fifty-one unique StackOverflow posts, spanning seven widely used Python libraries: NumPy, Pandas, TensorFlow, PyTorch, SciPy, Scikit-learn, and Matplotlib."/>
          <p:cNvSpPr/>
          <p:nvPr/>
        </p:nvSpPr>
        <p:spPr>
          <a:xfrm>
            <a:off x="762000" y="1733702"/>
            <a:ext cx="525840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6_c2_more_half_problems_modified_their" title="cue_s06_c2_more_half_problems_modified_their" descr="cue_s06_c2_more_half_problems_modified_their More than half of the problems are modified from their sources to resist memorization, including one hundred fifty-two surface perturbations, two hundred thirty-five semantic perturbations, and one hundred sixty-two difficult rewrites."/>
          <p:cNvSpPr/>
          <p:nvPr/>
        </p:nvSpPr>
        <p:spPr>
          <a:xfrm>
            <a:off x="6171590" y="1733702"/>
            <a:ext cx="525840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6_c3_average_problem_one_point_six" title="cue_s06_c3_average_problem_one_point_six" descr="cue_s06_c3_average_problem_one_point_six On average each problem has one point six test cases, one hundred forty words, and a reference solution of three point six lines, and about one in five carry surface-form constraints."/>
          <p:cNvSpPr/>
          <p:nvPr/>
        </p:nvSpPr>
        <p:spPr>
          <a:xfrm>
            <a:off x="762000" y="3791102"/>
            <a:ext cx="525840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6_c4_hundred_forty_average_words_per" title="cue_s06_c4_hundred_forty_average_words_per" descr="cue_s06_c4_hundred_forty_average_words_per With a hundred forty average words per problem, DS-1000 is far richer in context than other data science datasets."/>
          <p:cNvSpPr/>
          <p:nvPr/>
        </p:nvSpPr>
        <p:spPr>
          <a:xfrm>
            <a:off x="6171590" y="3791102"/>
            <a:ext cx="5258409" cy="199087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48551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07 · KEY RESULT</a:t>
              </a:r>
            </a:p>
          </p:txBody>
        </p:sp>
        <p:sp>
          <p:nvSpPr>
            <p:cNvPr id="4" name="TextBox 4"/>
            <p:cNvSpPr txBox="1"/>
            <p:nvPr/>
          </p:nvSpPr>
          <p:spPr>
            <a:xfrm>
              <a:off x="749046" y="867728"/>
              <a:ext cx="8619675"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Hard, but not solved — the best model hits 43.3%</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23" name="Group 23"/>
          <p:cNvGrpSpPr/>
          <p:nvPr/>
        </p:nvGrpSpPr>
        <p:grpSpPr>
          <a:xfrm>
            <a:off x="762000" y="1733550"/>
            <a:ext cx="5257800" cy="4343400"/>
            <a:chOff x="762000" y="1733550"/>
            <a:chExt cx="5257800" cy="4343400"/>
          </a:xfrm>
        </p:grpSpPr>
        <p:sp>
          <p:nvSpPr>
            <p:cNvPr id="7" name="Rectangle 7"/>
            <p:cNvSpPr/>
            <p:nvPr/>
          </p:nvSpPr>
          <p:spPr>
            <a:xfrm>
              <a:off x="762000" y="1733550"/>
              <a:ext cx="5257800" cy="4343400"/>
            </a:xfrm>
            <a:prstGeom prst="roundRect">
              <a:avLst>
                <a:gd name="adj" fmla="val 2632"/>
              </a:avLst>
            </a:prstGeom>
            <a:solidFill>
              <a:schemeClr val="accent5"/>
            </a:solidFill>
            <a:ln w="9525">
              <a:solidFill>
                <a:schemeClr val="accent4"/>
              </a:solidFill>
            </a:ln>
          </p:spPr>
        </p:sp>
        <p:sp>
          <p:nvSpPr>
            <p:cNvPr id="8" name="TextBox 8"/>
            <p:cNvSpPr txBox="1"/>
            <p:nvPr/>
          </p:nvSpPr>
          <p:spPr>
            <a:xfrm>
              <a:off x="1022985" y="1916906"/>
              <a:ext cx="3083131"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AVERAGE ACCURACY ON DS-1000 (%)</a:t>
              </a:r>
            </a:p>
          </p:txBody>
        </p:sp>
        <p:sp>
          <p:nvSpPr>
            <p:cNvPr id="9" name="Line 9"/>
            <p:cNvSpPr/>
            <p:nvPr/>
          </p:nvSpPr>
          <p:spPr>
            <a:xfrm>
              <a:off x="1257300" y="5448300"/>
              <a:ext cx="4533900" cy="9525"/>
            </a:xfrm>
            <a:custGeom>
              <a:avLst/>
              <a:gdLst/>
              <a:ahLst/>
              <a:cxnLst/>
              <a:rect l="l" t="t" r="r" b="b"/>
              <a:pathLst>
                <a:path w="4533900" h="9525">
                  <a:moveTo>
                    <a:pt x="0" y="0"/>
                  </a:moveTo>
                  <a:lnTo>
                    <a:pt x="4533900" y="0"/>
                  </a:lnTo>
                </a:path>
              </a:pathLst>
            </a:custGeom>
            <a:noFill/>
            <a:ln w="14288">
              <a:solidFill>
                <a:srgbClr val="C6CED9"/>
              </a:solidFill>
            </a:ln>
          </p:spPr>
        </p:sp>
        <p:sp>
          <p:nvSpPr>
            <p:cNvPr id="10" name="Line 10"/>
            <p:cNvSpPr/>
            <p:nvPr/>
          </p:nvSpPr>
          <p:spPr>
            <a:xfrm>
              <a:off x="1257300" y="2381250"/>
              <a:ext cx="9525" cy="3067050"/>
            </a:xfrm>
            <a:custGeom>
              <a:avLst/>
              <a:gdLst/>
              <a:ahLst/>
              <a:cxnLst/>
              <a:rect l="l" t="t" r="r" b="b"/>
              <a:pathLst>
                <a:path w="9525" h="3067050">
                  <a:moveTo>
                    <a:pt x="0" y="0"/>
                  </a:moveTo>
                  <a:lnTo>
                    <a:pt x="0" y="3067050"/>
                  </a:lnTo>
                </a:path>
              </a:pathLst>
            </a:custGeom>
            <a:noFill/>
            <a:ln w="14288">
              <a:solidFill>
                <a:srgbClr val="C6CED9"/>
              </a:solidFill>
            </a:ln>
          </p:spPr>
        </p:sp>
        <p:sp>
          <p:nvSpPr>
            <p:cNvPr id="11" name="Rectangle 11"/>
            <p:cNvSpPr/>
            <p:nvPr/>
          </p:nvSpPr>
          <p:spPr>
            <a:xfrm>
              <a:off x="1428750" y="2790825"/>
              <a:ext cx="914400" cy="2657475"/>
            </a:xfrm>
            <a:prstGeom prst="rect">
              <a:avLst/>
            </a:prstGeom>
            <a:solidFill>
              <a:schemeClr val="accent1"/>
            </a:solidFill>
            <a:ln>
              <a:noFill/>
            </a:ln>
          </p:spPr>
        </p:sp>
        <p:sp>
          <p:nvSpPr>
            <p:cNvPr id="12" name="TextBox 12"/>
            <p:cNvSpPr txBox="1"/>
            <p:nvPr/>
          </p:nvSpPr>
          <p:spPr>
            <a:xfrm>
              <a:off x="1621016" y="2507932"/>
              <a:ext cx="52986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43.3</a:t>
              </a:r>
            </a:p>
          </p:txBody>
        </p:sp>
        <p:sp>
          <p:nvSpPr>
            <p:cNvPr id="13" name="TextBox 13"/>
            <p:cNvSpPr txBox="1"/>
            <p:nvPr/>
          </p:nvSpPr>
          <p:spPr>
            <a:xfrm>
              <a:off x="1509122" y="5563552"/>
              <a:ext cx="753657"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Codex-002</a:t>
              </a:r>
            </a:p>
          </p:txBody>
        </p:sp>
        <p:sp>
          <p:nvSpPr>
            <p:cNvPr id="14" name="TextBox 14"/>
            <p:cNvSpPr txBox="1"/>
            <p:nvPr/>
          </p:nvSpPr>
          <p:spPr>
            <a:xfrm>
              <a:off x="1587458" y="5762149"/>
              <a:ext cx="59698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insertion</a:t>
              </a:r>
            </a:p>
          </p:txBody>
        </p:sp>
        <p:sp>
          <p:nvSpPr>
            <p:cNvPr id="15" name="Rectangle 15"/>
            <p:cNvSpPr/>
            <p:nvPr/>
          </p:nvSpPr>
          <p:spPr>
            <a:xfrm>
              <a:off x="2952750" y="3048000"/>
              <a:ext cx="914400" cy="2400300"/>
            </a:xfrm>
            <a:prstGeom prst="rect">
              <a:avLst/>
            </a:prstGeom>
            <a:solidFill>
              <a:srgbClr val="7CA0EC"/>
            </a:solidFill>
            <a:ln>
              <a:noFill/>
            </a:ln>
          </p:spPr>
        </p:sp>
        <p:sp>
          <p:nvSpPr>
            <p:cNvPr id="16" name="TextBox 16"/>
            <p:cNvSpPr txBox="1"/>
            <p:nvPr/>
          </p:nvSpPr>
          <p:spPr>
            <a:xfrm>
              <a:off x="3145016" y="2765108"/>
              <a:ext cx="529868" cy="322707"/>
            </a:xfrm>
            <a:prstGeom prst="rect">
              <a:avLst/>
            </a:prstGeom>
            <a:noFill/>
            <a:ln>
              <a:noFill/>
            </a:ln>
          </p:spPr>
          <p:txBody>
            <a:bodyPr wrap="none" lIns="0" tIns="0" rIns="0" bIns="0" anchor="t" anchorCtr="0">
              <a:spAutoFit/>
            </a:bodyPr>
            <a:lstStyle/>
            <a:p>
              <a:pPr algn="ctr"/>
              <a:r>
                <a:rPr lang="en-US" sz="1650" b="1" dirty="0">
                  <a:solidFill>
                    <a:srgbClr val="4A73D6"/>
                  </a:solidFill>
                  <a:latin typeface="+mn-lt"/>
                  <a:ea typeface="+mn-ea"/>
                  <a:cs typeface="+mn-cs"/>
                </a:rPr>
                <a:t>39.2</a:t>
              </a:r>
            </a:p>
          </p:txBody>
        </p:sp>
        <p:sp>
          <p:nvSpPr>
            <p:cNvPr id="17" name="TextBox 17"/>
            <p:cNvSpPr txBox="1"/>
            <p:nvPr/>
          </p:nvSpPr>
          <p:spPr>
            <a:xfrm>
              <a:off x="3033122" y="5563552"/>
              <a:ext cx="753657"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Codex-002</a:t>
              </a:r>
            </a:p>
          </p:txBody>
        </p:sp>
        <p:sp>
          <p:nvSpPr>
            <p:cNvPr id="18" name="TextBox 18"/>
            <p:cNvSpPr txBox="1"/>
            <p:nvPr/>
          </p:nvSpPr>
          <p:spPr>
            <a:xfrm>
              <a:off x="3061985" y="5762149"/>
              <a:ext cx="695930"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completion</a:t>
              </a:r>
            </a:p>
          </p:txBody>
        </p:sp>
        <p:sp>
          <p:nvSpPr>
            <p:cNvPr id="19" name="Rectangle 19"/>
            <p:cNvSpPr/>
            <p:nvPr/>
          </p:nvSpPr>
          <p:spPr>
            <a:xfrm>
              <a:off x="4476750" y="4991100"/>
              <a:ext cx="914400" cy="457200"/>
            </a:xfrm>
            <a:prstGeom prst="rect">
              <a:avLst/>
            </a:prstGeom>
            <a:solidFill>
              <a:srgbClr val="8A97A8"/>
            </a:solidFill>
            <a:ln>
              <a:noFill/>
            </a:ln>
          </p:spPr>
        </p:sp>
        <p:sp>
          <p:nvSpPr>
            <p:cNvPr id="20" name="TextBox 20"/>
            <p:cNvSpPr txBox="1"/>
            <p:nvPr/>
          </p:nvSpPr>
          <p:spPr>
            <a:xfrm>
              <a:off x="4733154" y="4708208"/>
              <a:ext cx="401592" cy="322707"/>
            </a:xfrm>
            <a:prstGeom prst="rect">
              <a:avLst/>
            </a:prstGeom>
            <a:noFill/>
            <a:ln>
              <a:noFill/>
            </a:ln>
          </p:spPr>
          <p:txBody>
            <a:bodyPr wrap="none" lIns="0" tIns="0" rIns="0" bIns="0" anchor="t" anchorCtr="0">
              <a:spAutoFit/>
            </a:bodyPr>
            <a:lstStyle/>
            <a:p>
              <a:pPr algn="ctr"/>
              <a:r>
                <a:rPr lang="en-US" sz="1650" b="1" dirty="0">
                  <a:solidFill>
                    <a:schemeClr val="dk2"/>
                  </a:solidFill>
                  <a:latin typeface="+mn-lt"/>
                  <a:ea typeface="+mn-ea"/>
                  <a:cs typeface="+mn-cs"/>
                </a:rPr>
                <a:t>7.4</a:t>
              </a:r>
            </a:p>
          </p:txBody>
        </p:sp>
        <p:sp>
          <p:nvSpPr>
            <p:cNvPr id="21" name="TextBox 21"/>
            <p:cNvSpPr txBox="1"/>
            <p:nvPr/>
          </p:nvSpPr>
          <p:spPr>
            <a:xfrm>
              <a:off x="4625638" y="5563552"/>
              <a:ext cx="616624"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Weakest</a:t>
              </a:r>
            </a:p>
          </p:txBody>
        </p:sp>
        <p:sp>
          <p:nvSpPr>
            <p:cNvPr id="22" name="TextBox 22"/>
            <p:cNvSpPr txBox="1"/>
            <p:nvPr/>
          </p:nvSpPr>
          <p:spPr>
            <a:xfrm>
              <a:off x="4655994" y="5762149"/>
              <a:ext cx="555912"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6B model</a:t>
              </a:r>
            </a:p>
          </p:txBody>
        </p:sp>
      </p:grpSp>
      <p:grpSp>
        <p:nvGrpSpPr>
          <p:cNvPr id="30" name="Group 30"/>
          <p:cNvGrpSpPr/>
          <p:nvPr/>
        </p:nvGrpSpPr>
        <p:grpSpPr>
          <a:xfrm>
            <a:off x="6286500" y="1733550"/>
            <a:ext cx="5143500" cy="1343406"/>
            <a:chOff x="6286500" y="1733550"/>
            <a:chExt cx="5143500" cy="1343406"/>
          </a:xfrm>
        </p:grpSpPr>
        <p:sp>
          <p:nvSpPr>
            <p:cNvPr id="24" name="Rectangle 24"/>
            <p:cNvSpPr/>
            <p:nvPr/>
          </p:nvSpPr>
          <p:spPr>
            <a:xfrm>
              <a:off x="6286500" y="1733550"/>
              <a:ext cx="5143500" cy="1314450"/>
            </a:xfrm>
            <a:prstGeom prst="roundRect">
              <a:avLst>
                <a:gd name="adj" fmla="val 8696"/>
              </a:avLst>
            </a:prstGeom>
            <a:solidFill>
              <a:schemeClr val="accent5"/>
            </a:solidFill>
            <a:ln w="9525">
              <a:solidFill>
                <a:schemeClr val="accent4"/>
              </a:solidFill>
            </a:ln>
          </p:spPr>
        </p:sp>
        <p:sp>
          <p:nvSpPr>
            <p:cNvPr id="25" name="Rectangle 25"/>
            <p:cNvSpPr/>
            <p:nvPr/>
          </p:nvSpPr>
          <p:spPr>
            <a:xfrm>
              <a:off x="6286500" y="1733550"/>
              <a:ext cx="57150" cy="1314450"/>
            </a:xfrm>
            <a:prstGeom prst="roundRect">
              <a:avLst>
                <a:gd name="adj" fmla="val 50000"/>
              </a:avLst>
            </a:prstGeom>
            <a:solidFill>
              <a:schemeClr val="accent1"/>
            </a:solidFill>
            <a:ln>
              <a:noFill/>
            </a:ln>
          </p:spPr>
        </p:sp>
        <p:sp>
          <p:nvSpPr>
            <p:cNvPr id="26" name="TextBox 26"/>
            <p:cNvSpPr txBox="1"/>
            <p:nvPr/>
          </p:nvSpPr>
          <p:spPr>
            <a:xfrm>
              <a:off x="6546342" y="1949768"/>
              <a:ext cx="219526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 wide spread of ability</a:t>
              </a:r>
            </a:p>
          </p:txBody>
        </p:sp>
        <p:sp>
          <p:nvSpPr>
            <p:cNvPr id="27" name="TextBox 27"/>
            <p:cNvSpPr txBox="1"/>
            <p:nvPr/>
          </p:nvSpPr>
          <p:spPr>
            <a:xfrm>
              <a:off x="6541770" y="2195512"/>
              <a:ext cx="2090118"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7.4% → 43.3%</a:t>
              </a:r>
            </a:p>
          </p:txBody>
        </p:sp>
        <p:sp>
          <p:nvSpPr>
            <p:cNvPr id="28" name="TextBox 28"/>
            <p:cNvSpPr txBox="1"/>
            <p:nvPr/>
          </p:nvSpPr>
          <p:spPr>
            <a:xfrm>
              <a:off x="6547104" y="2651760"/>
              <a:ext cx="390178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across five models from three families — DS-1000</a:t>
              </a:r>
            </a:p>
          </p:txBody>
        </p:sp>
        <p:sp>
          <p:nvSpPr>
            <p:cNvPr id="29" name="TextBox 29"/>
            <p:cNvSpPr txBox="1"/>
            <p:nvPr/>
          </p:nvSpPr>
          <p:spPr>
            <a:xfrm>
              <a:off x="6547104" y="2842260"/>
              <a:ext cx="364693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clearly separates weak from strong systems.</a:t>
              </a:r>
            </a:p>
          </p:txBody>
        </p:sp>
      </p:grpSp>
      <p:grpSp>
        <p:nvGrpSpPr>
          <p:cNvPr id="38" name="Group 38"/>
          <p:cNvGrpSpPr/>
          <p:nvPr/>
        </p:nvGrpSpPr>
        <p:grpSpPr>
          <a:xfrm>
            <a:off x="6286500" y="3200400"/>
            <a:ext cx="5143500" cy="1314450"/>
            <a:chOff x="6286500" y="3200400"/>
            <a:chExt cx="5143500" cy="1314450"/>
          </a:xfrm>
        </p:grpSpPr>
        <p:sp>
          <p:nvSpPr>
            <p:cNvPr id="31" name="Rectangle 31"/>
            <p:cNvSpPr/>
            <p:nvPr/>
          </p:nvSpPr>
          <p:spPr>
            <a:xfrm>
              <a:off x="6286500" y="3200400"/>
              <a:ext cx="5143500" cy="1314450"/>
            </a:xfrm>
            <a:prstGeom prst="roundRect">
              <a:avLst>
                <a:gd name="adj" fmla="val 8696"/>
              </a:avLst>
            </a:prstGeom>
            <a:solidFill>
              <a:srgbClr val="E1F3F0"/>
            </a:solidFill>
            <a:ln w="9525">
              <a:solidFill>
                <a:srgbClr val="B7E2DA"/>
              </a:solidFill>
            </a:ln>
          </p:spPr>
        </p:sp>
        <p:sp>
          <p:nvSpPr>
            <p:cNvPr id="32" name="Rectangle 32"/>
            <p:cNvSpPr/>
            <p:nvPr/>
          </p:nvSpPr>
          <p:spPr>
            <a:xfrm>
              <a:off x="6286500" y="3200400"/>
              <a:ext cx="57150" cy="1314450"/>
            </a:xfrm>
            <a:prstGeom prst="roundRect">
              <a:avLst>
                <a:gd name="adj" fmla="val 50000"/>
              </a:avLst>
            </a:prstGeom>
            <a:solidFill>
              <a:schemeClr val="accent2"/>
            </a:solidFill>
            <a:ln>
              <a:noFill/>
            </a:ln>
          </p:spPr>
        </p:sp>
        <p:sp>
          <p:nvSpPr>
            <p:cNvPr id="33" name="TextBox 33"/>
            <p:cNvSpPr txBox="1"/>
            <p:nvPr/>
          </p:nvSpPr>
          <p:spPr>
            <a:xfrm>
              <a:off x="6546342" y="3416618"/>
              <a:ext cx="125908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Infilling helps</a:t>
              </a:r>
            </a:p>
          </p:txBody>
        </p:sp>
        <p:sp>
          <p:nvSpPr>
            <p:cNvPr id="34" name="TextBox 34"/>
            <p:cNvSpPr txBox="1"/>
            <p:nvPr/>
          </p:nvSpPr>
          <p:spPr>
            <a:xfrm>
              <a:off x="6541770" y="3662362"/>
              <a:ext cx="961077"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+4.1%</a:t>
              </a:r>
            </a:p>
          </p:txBody>
        </p:sp>
        <p:sp>
          <p:nvSpPr>
            <p:cNvPr id="35" name="TextBox 35"/>
            <p:cNvSpPr txBox="1"/>
            <p:nvPr/>
          </p:nvSpPr>
          <p:spPr>
            <a:xfrm>
              <a:off x="7804404" y="3718560"/>
              <a:ext cx="291998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insertion format supplies right-hand</a:t>
              </a:r>
            </a:p>
          </p:txBody>
        </p:sp>
        <p:sp>
          <p:nvSpPr>
            <p:cNvPr id="36" name="TextBox 36"/>
            <p:cNvSpPr txBox="1"/>
            <p:nvPr/>
          </p:nvSpPr>
          <p:spPr>
            <a:xfrm>
              <a:off x="7804404" y="3909060"/>
              <a:ext cx="294421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context, beating completion format.</a:t>
              </a:r>
            </a:p>
          </p:txBody>
        </p:sp>
        <p:sp>
          <p:nvSpPr>
            <p:cNvPr id="37" name="TextBox 37"/>
            <p:cNvSpPr txBox="1"/>
            <p:nvPr/>
          </p:nvSpPr>
          <p:spPr>
            <a:xfrm>
              <a:off x="6547104" y="4175760"/>
              <a:ext cx="329669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Infilling matters for data science coding.</a:t>
              </a:r>
            </a:p>
          </p:txBody>
        </p:sp>
      </p:grpSp>
      <p:grpSp>
        <p:nvGrpSpPr>
          <p:cNvPr id="45" name="Group 45"/>
          <p:cNvGrpSpPr/>
          <p:nvPr/>
        </p:nvGrpSpPr>
        <p:grpSpPr>
          <a:xfrm>
            <a:off x="6286500" y="4667250"/>
            <a:ext cx="5143500" cy="1409700"/>
            <a:chOff x="6286500" y="4667250"/>
            <a:chExt cx="5143500" cy="1409700"/>
          </a:xfrm>
        </p:grpSpPr>
        <p:sp>
          <p:nvSpPr>
            <p:cNvPr id="39" name="Rectangle 39"/>
            <p:cNvSpPr/>
            <p:nvPr/>
          </p:nvSpPr>
          <p:spPr>
            <a:xfrm>
              <a:off x="6286500" y="4667250"/>
              <a:ext cx="5143500" cy="1409700"/>
            </a:xfrm>
            <a:prstGeom prst="roundRect">
              <a:avLst>
                <a:gd name="adj" fmla="val 8108"/>
              </a:avLst>
            </a:prstGeom>
            <a:solidFill>
              <a:srgbClr val="FBE9E2"/>
            </a:solidFill>
            <a:ln w="9525">
              <a:solidFill>
                <a:srgbClr val="F2C6B4"/>
              </a:solidFill>
            </a:ln>
          </p:spPr>
        </p:sp>
        <p:sp>
          <p:nvSpPr>
            <p:cNvPr id="40" name="Rectangle 40"/>
            <p:cNvSpPr/>
            <p:nvPr/>
          </p:nvSpPr>
          <p:spPr>
            <a:xfrm>
              <a:off x="6286500" y="4667250"/>
              <a:ext cx="57150" cy="1409700"/>
            </a:xfrm>
            <a:prstGeom prst="roundRect">
              <a:avLst>
                <a:gd name="adj" fmla="val 50000"/>
              </a:avLst>
            </a:prstGeom>
            <a:solidFill>
              <a:schemeClr val="accent3"/>
            </a:solidFill>
            <a:ln>
              <a:noFill/>
            </a:ln>
          </p:spPr>
        </p:sp>
        <p:sp>
          <p:nvSpPr>
            <p:cNvPr id="41" name="TextBox 41"/>
            <p:cNvSpPr txBox="1"/>
            <p:nvPr/>
          </p:nvSpPr>
          <p:spPr>
            <a:xfrm>
              <a:off x="6546342" y="4883468"/>
              <a:ext cx="253879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Weak models struggle badly</a:t>
              </a:r>
            </a:p>
          </p:txBody>
        </p:sp>
        <p:sp>
          <p:nvSpPr>
            <p:cNvPr id="42" name="TextBox 42"/>
            <p:cNvSpPr txBox="1"/>
            <p:nvPr/>
          </p:nvSpPr>
          <p:spPr>
            <a:xfrm>
              <a:off x="6547104" y="5261610"/>
              <a:ext cx="295525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CodeGen-6B and InCoder-6B fall below</a:t>
              </a:r>
            </a:p>
          </p:txBody>
        </p:sp>
        <p:sp>
          <p:nvSpPr>
            <p:cNvPr id="43" name="TextBox 43"/>
            <p:cNvSpPr txBox="1"/>
            <p:nvPr/>
          </p:nvSpPr>
          <p:spPr>
            <a:xfrm>
              <a:off x="6547104" y="5490210"/>
              <a:ext cx="327538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5% accuracy on some libraries — plenty of</a:t>
              </a:r>
            </a:p>
          </p:txBody>
        </p:sp>
        <p:sp>
          <p:nvSpPr>
            <p:cNvPr id="44" name="TextBox 44"/>
            <p:cNvSpPr txBox="1"/>
            <p:nvPr/>
          </p:nvSpPr>
          <p:spPr>
            <a:xfrm>
              <a:off x="6547104" y="5718810"/>
              <a:ext cx="297652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headroom remains for future models.</a:t>
              </a:r>
            </a:p>
          </p:txBody>
        </p:sp>
      </p:grpSp>
      <p:grpSp>
        <p:nvGrpSpPr>
          <p:cNvPr id="48" name="Group 48"/>
          <p:cNvGrpSpPr/>
          <p:nvPr/>
        </p:nvGrpSpPr>
        <p:grpSpPr>
          <a:xfrm>
            <a:off x="757238" y="6570345"/>
            <a:ext cx="10677524" cy="176212"/>
            <a:chOff x="757238" y="6570345"/>
            <a:chExt cx="10677524" cy="176212"/>
          </a:xfrm>
        </p:grpSpPr>
        <p:sp>
          <p:nvSpPr>
            <p:cNvPr id="46" name="TextBox 46"/>
            <p:cNvSpPr txBox="1"/>
            <p:nvPr/>
          </p:nvSpPr>
          <p:spPr>
            <a:xfrm>
              <a:off x="757238" y="6570345"/>
              <a:ext cx="1244879"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DS-1000 · ICML 2023</a:t>
              </a:r>
            </a:p>
          </p:txBody>
        </p:sp>
        <p:sp>
          <p:nvSpPr>
            <p:cNvPr id="47" name="TextBox 47"/>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07 / 10</a:t>
              </a:r>
            </a:p>
          </p:txBody>
        </p:sp>
      </p:grpSp>
      <p:sp>
        <p:nvSpPr>
          <p:cNvPr id="49" name="cue_s07_c1_ds_1000_clearly_separates_models_dif" title="cue_s07_c1_ds_1000_clearly_separates_models_dif" descr="cue_s07_c1_ds_1000_clearly_separates_models_dif DS-1000 clearly separates models of different strength. The best public system, Codex-002 in the insertion format, reaches only forty-three point three percent average accuracy, nontrivial but far from solved, leaving substantial room for improvement."/>
          <p:cNvSpPr/>
          <p:nvPr/>
        </p:nvSpPr>
        <p:spPr>
          <a:xfrm>
            <a:off x="762000" y="1733702"/>
            <a:ext cx="5258409" cy="4343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7_c2_across_five_models_three_families" title="cue_s07_c2_across_five_models_three_families" descr="cue_s07_c2_across_five_models_three_families Across five models from three families, accuracy ranges from seven point four percent up to forty-three point three percent."/>
          <p:cNvSpPr/>
          <p:nvPr/>
        </p:nvSpPr>
        <p:spPr>
          <a:xfrm>
            <a:off x="6286195" y="1733702"/>
            <a:ext cx="5143804" cy="134348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7_c3_insertion_format_which_supplies_righ" title="cue_s07_c3_insertion_format_which_supplies_righ" descr="cue_s07_c3_insertion_format_which_supplies_righ Insertion format, which supplies right-hand context, gives Codex-002 a four point one percent boost over completion format, underscoring the value of infilling for data science coding."/>
          <p:cNvSpPr/>
          <p:nvPr/>
        </p:nvSpPr>
        <p:spPr>
          <a:xfrm>
            <a:off x="6286195" y="3200628"/>
            <a:ext cx="5143804"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7_c4_weaker_models_such_codegen_6b_incode" title="cue_s07_c4_weaker_models_such_codegen_6b_incode" descr="cue_s07_c4_weaker_models_such_codegen_6b_incode Weaker models such as CodeGen-6B and InCoder-6B fall below five percent on some libraries."/>
          <p:cNvSpPr/>
          <p:nvPr/>
        </p:nvSpPr>
        <p:spPr>
          <a:xfrm>
            <a:off x="6286195" y="4667554"/>
            <a:ext cx="5143804"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30170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08 · ABLATION</a:t>
              </a:r>
            </a:p>
          </p:txBody>
        </p:sp>
        <p:sp>
          <p:nvSpPr>
            <p:cNvPr id="4" name="TextBox 4"/>
            <p:cNvSpPr txBox="1"/>
            <p:nvPr/>
          </p:nvSpPr>
          <p:spPr>
            <a:xfrm>
              <a:off x="749046" y="867728"/>
              <a:ext cx="6272993"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Perturbation exposes memorization</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3" name="Group 13"/>
          <p:cNvGrpSpPr/>
          <p:nvPr/>
        </p:nvGrpSpPr>
        <p:grpSpPr>
          <a:xfrm>
            <a:off x="762000" y="1733550"/>
            <a:ext cx="4953000" cy="1428750"/>
            <a:chOff x="762000" y="1733550"/>
            <a:chExt cx="4953000" cy="1428750"/>
          </a:xfrm>
        </p:grpSpPr>
        <p:sp>
          <p:nvSpPr>
            <p:cNvPr id="7" name="Rectangle 7"/>
            <p:cNvSpPr/>
            <p:nvPr/>
          </p:nvSpPr>
          <p:spPr>
            <a:xfrm>
              <a:off x="762000" y="1733550"/>
              <a:ext cx="4953000" cy="1428750"/>
            </a:xfrm>
            <a:prstGeom prst="roundRect">
              <a:avLst>
                <a:gd name="adj" fmla="val 8000"/>
              </a:avLst>
            </a:prstGeom>
            <a:solidFill>
              <a:schemeClr val="accent5"/>
            </a:solidFill>
            <a:ln w="9525">
              <a:solidFill>
                <a:schemeClr val="accent4"/>
              </a:solidFill>
            </a:ln>
          </p:spPr>
        </p:sp>
        <p:sp>
          <p:nvSpPr>
            <p:cNvPr id="8" name="Rectangle 8"/>
            <p:cNvSpPr/>
            <p:nvPr/>
          </p:nvSpPr>
          <p:spPr>
            <a:xfrm>
              <a:off x="762000" y="1733550"/>
              <a:ext cx="57150" cy="1428750"/>
            </a:xfrm>
            <a:prstGeom prst="roundRect">
              <a:avLst>
                <a:gd name="adj" fmla="val 50000"/>
              </a:avLst>
            </a:prstGeom>
            <a:solidFill>
              <a:schemeClr val="accent1"/>
            </a:solidFill>
            <a:ln>
              <a:noFill/>
            </a:ln>
          </p:spPr>
        </p:sp>
        <p:sp>
          <p:nvSpPr>
            <p:cNvPr id="9" name="TextBox 9"/>
            <p:cNvSpPr txBox="1"/>
            <p:nvPr/>
          </p:nvSpPr>
          <p:spPr>
            <a:xfrm>
              <a:off x="1040511" y="1960721"/>
              <a:ext cx="2771088"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memorization stress-test</a:t>
              </a:r>
            </a:p>
          </p:txBody>
        </p:sp>
        <p:sp>
          <p:nvSpPr>
            <p:cNvPr id="10" name="TextBox 10"/>
            <p:cNvSpPr txBox="1"/>
            <p:nvPr/>
          </p:nvSpPr>
          <p:spPr>
            <a:xfrm>
              <a:off x="1041273" y="2300764"/>
              <a:ext cx="411149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To show why memorization matters, the authors</a:t>
              </a:r>
            </a:p>
          </p:txBody>
        </p:sp>
        <p:sp>
          <p:nvSpPr>
            <p:cNvPr id="11" name="TextBox 11"/>
            <p:cNvSpPr txBox="1"/>
            <p:nvPr/>
          </p:nvSpPr>
          <p:spPr>
            <a:xfrm>
              <a:off x="1041273" y="2548414"/>
              <a:ext cx="3485073"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probe numpy-100 — a very popular, widely</a:t>
              </a:r>
            </a:p>
          </p:txBody>
        </p:sp>
        <p:sp>
          <p:nvSpPr>
            <p:cNvPr id="12" name="TextBox 12"/>
            <p:cNvSpPr txBox="1"/>
            <p:nvPr/>
          </p:nvSpPr>
          <p:spPr>
            <a:xfrm>
              <a:off x="1041273" y="2796064"/>
              <a:ext cx="3941704"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shared problem set likely seen in pre-training.</a:t>
              </a:r>
            </a:p>
          </p:txBody>
        </p:sp>
      </p:grpSp>
      <p:grpSp>
        <p:nvGrpSpPr>
          <p:cNvPr id="29" name="Group 29"/>
          <p:cNvGrpSpPr/>
          <p:nvPr/>
        </p:nvGrpSpPr>
        <p:grpSpPr>
          <a:xfrm>
            <a:off x="762000" y="3314700"/>
            <a:ext cx="5183109" cy="2762250"/>
            <a:chOff x="762000" y="3314700"/>
            <a:chExt cx="5183109" cy="2762250"/>
          </a:xfrm>
        </p:grpSpPr>
        <p:sp>
          <p:nvSpPr>
            <p:cNvPr id="14" name="Rectangle 14"/>
            <p:cNvSpPr/>
            <p:nvPr/>
          </p:nvSpPr>
          <p:spPr>
            <a:xfrm>
              <a:off x="762000" y="3314700"/>
              <a:ext cx="4953000" cy="2762250"/>
            </a:xfrm>
            <a:prstGeom prst="roundRect">
              <a:avLst>
                <a:gd name="adj" fmla="val 4138"/>
              </a:avLst>
            </a:prstGeom>
            <a:solidFill>
              <a:schemeClr val="accent5"/>
            </a:solidFill>
            <a:ln w="9525">
              <a:solidFill>
                <a:schemeClr val="accent4"/>
              </a:solidFill>
            </a:ln>
          </p:spPr>
        </p:sp>
        <p:sp>
          <p:nvSpPr>
            <p:cNvPr id="15" name="TextBox 15"/>
            <p:cNvSpPr txBox="1"/>
            <p:nvPr/>
          </p:nvSpPr>
          <p:spPr>
            <a:xfrm>
              <a:off x="1042035" y="3517106"/>
              <a:ext cx="2276204"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CODEX-002 ON NUMPY-100</a:t>
              </a:r>
            </a:p>
          </p:txBody>
        </p:sp>
        <p:sp>
          <p:nvSpPr>
            <p:cNvPr id="16" name="Line 16"/>
            <p:cNvSpPr/>
            <p:nvPr/>
          </p:nvSpPr>
          <p:spPr>
            <a:xfrm>
              <a:off x="1257300" y="5715000"/>
              <a:ext cx="1885950" cy="9525"/>
            </a:xfrm>
            <a:custGeom>
              <a:avLst/>
              <a:gdLst/>
              <a:ahLst/>
              <a:cxnLst/>
              <a:rect l="l" t="t" r="r" b="b"/>
              <a:pathLst>
                <a:path w="1885950" h="9525">
                  <a:moveTo>
                    <a:pt x="0" y="0"/>
                  </a:moveTo>
                  <a:lnTo>
                    <a:pt x="1885950" y="0"/>
                  </a:lnTo>
                </a:path>
              </a:pathLst>
            </a:custGeom>
            <a:noFill/>
            <a:ln w="14288">
              <a:solidFill>
                <a:srgbClr val="C6CED9"/>
              </a:solidFill>
            </a:ln>
          </p:spPr>
        </p:sp>
        <p:sp>
          <p:nvSpPr>
            <p:cNvPr id="17" name="Rectangle 17"/>
            <p:cNvSpPr/>
            <p:nvPr/>
          </p:nvSpPr>
          <p:spPr>
            <a:xfrm>
              <a:off x="1428750" y="3905250"/>
              <a:ext cx="762000" cy="1809750"/>
            </a:xfrm>
            <a:prstGeom prst="rect">
              <a:avLst/>
            </a:prstGeom>
            <a:solidFill>
              <a:srgbClr val="F2A488"/>
            </a:solidFill>
            <a:ln>
              <a:noFill/>
            </a:ln>
          </p:spPr>
        </p:sp>
        <p:sp>
          <p:nvSpPr>
            <p:cNvPr id="18" name="TextBox 18"/>
            <p:cNvSpPr txBox="1"/>
            <p:nvPr/>
          </p:nvSpPr>
          <p:spPr>
            <a:xfrm>
              <a:off x="1568901" y="3648075"/>
              <a:ext cx="481698" cy="293370"/>
            </a:xfrm>
            <a:prstGeom prst="rect">
              <a:avLst/>
            </a:prstGeom>
            <a:noFill/>
            <a:ln>
              <a:noFill/>
            </a:ln>
          </p:spPr>
          <p:txBody>
            <a:bodyPr wrap="none" lIns="0" tIns="0" rIns="0" bIns="0" anchor="t" anchorCtr="0">
              <a:spAutoFit/>
            </a:bodyPr>
            <a:lstStyle/>
            <a:p>
              <a:pPr algn="ctr"/>
              <a:r>
                <a:rPr lang="en-US" sz="1500" b="1" dirty="0">
                  <a:solidFill>
                    <a:srgbClr val="C4562F"/>
                  </a:solidFill>
                  <a:latin typeface="+mn-lt"/>
                  <a:ea typeface="+mn-ea"/>
                  <a:cs typeface="+mn-cs"/>
                </a:rPr>
                <a:t>72.5</a:t>
              </a:r>
            </a:p>
          </p:txBody>
        </p:sp>
        <p:sp>
          <p:nvSpPr>
            <p:cNvPr id="19" name="TextBox 19"/>
            <p:cNvSpPr txBox="1"/>
            <p:nvPr/>
          </p:nvSpPr>
          <p:spPr>
            <a:xfrm>
              <a:off x="1546450" y="5792152"/>
              <a:ext cx="52659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original</a:t>
              </a:r>
            </a:p>
          </p:txBody>
        </p:sp>
        <p:sp>
          <p:nvSpPr>
            <p:cNvPr id="20" name="Rectangle 20"/>
            <p:cNvSpPr/>
            <p:nvPr/>
          </p:nvSpPr>
          <p:spPr>
            <a:xfrm>
              <a:off x="2381250" y="4705350"/>
              <a:ext cx="762000" cy="1009650"/>
            </a:xfrm>
            <a:prstGeom prst="rect">
              <a:avLst/>
            </a:prstGeom>
            <a:solidFill>
              <a:schemeClr val="accent3"/>
            </a:solidFill>
            <a:ln>
              <a:noFill/>
            </a:ln>
          </p:spPr>
        </p:sp>
        <p:sp>
          <p:nvSpPr>
            <p:cNvPr id="21" name="TextBox 21"/>
            <p:cNvSpPr txBox="1"/>
            <p:nvPr/>
          </p:nvSpPr>
          <p:spPr>
            <a:xfrm>
              <a:off x="2521401" y="4448175"/>
              <a:ext cx="481698" cy="293370"/>
            </a:xfrm>
            <a:prstGeom prst="rect">
              <a:avLst/>
            </a:prstGeom>
            <a:noFill/>
            <a:ln>
              <a:noFill/>
            </a:ln>
          </p:spPr>
          <p:txBody>
            <a:bodyPr wrap="none" lIns="0" tIns="0" rIns="0" bIns="0" anchor="t" anchorCtr="0">
              <a:spAutoFit/>
            </a:bodyPr>
            <a:lstStyle/>
            <a:p>
              <a:pPr algn="ctr"/>
              <a:r>
                <a:rPr lang="en-US" sz="1500" b="1" dirty="0">
                  <a:solidFill>
                    <a:schemeClr val="accent3"/>
                  </a:solidFill>
                  <a:latin typeface="+mn-lt"/>
                  <a:ea typeface="+mn-ea"/>
                  <a:cs typeface="+mn-cs"/>
                </a:rPr>
                <a:t>40.6</a:t>
              </a:r>
            </a:p>
          </p:txBody>
        </p:sp>
        <p:sp>
          <p:nvSpPr>
            <p:cNvPr id="22" name="TextBox 22"/>
            <p:cNvSpPr txBox="1"/>
            <p:nvPr/>
          </p:nvSpPr>
          <p:spPr>
            <a:xfrm>
              <a:off x="2407072" y="5792152"/>
              <a:ext cx="710355"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perturbed</a:t>
              </a:r>
            </a:p>
          </p:txBody>
        </p:sp>
        <p:sp>
          <p:nvSpPr>
            <p:cNvPr id="23" name="TextBox 23"/>
            <p:cNvSpPr txBox="1"/>
            <p:nvPr/>
          </p:nvSpPr>
          <p:spPr>
            <a:xfrm>
              <a:off x="3423285" y="3974306"/>
              <a:ext cx="1464818" cy="220028"/>
            </a:xfrm>
            <a:prstGeom prst="rect">
              <a:avLst/>
            </a:prstGeom>
            <a:noFill/>
            <a:ln>
              <a:noFill/>
            </a:ln>
          </p:spPr>
          <p:txBody>
            <a:bodyPr wrap="none" lIns="0" tIns="0" rIns="0" bIns="0" anchor="t" anchorCtr="0">
              <a:spAutoFit/>
            </a:bodyPr>
            <a:lstStyle/>
            <a:p>
              <a:pPr algn="l"/>
              <a:r>
                <a:rPr lang="en-US" sz="1120" b="1" dirty="0">
                  <a:solidFill>
                    <a:srgbClr val="C4562F"/>
                  </a:solidFill>
                  <a:latin typeface="+mn-lt"/>
                  <a:ea typeface="+mn-ea"/>
                  <a:cs typeface="+mn-cs"/>
                </a:rPr>
                <a:t>Accuracy collapses</a:t>
              </a:r>
            </a:p>
          </p:txBody>
        </p:sp>
        <p:sp>
          <p:nvSpPr>
            <p:cNvPr id="24" name="TextBox 24"/>
            <p:cNvSpPr txBox="1"/>
            <p:nvPr/>
          </p:nvSpPr>
          <p:spPr>
            <a:xfrm>
              <a:off x="3423285" y="4183856"/>
              <a:ext cx="221273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once problems are perturbed.</a:t>
              </a:r>
            </a:p>
          </p:txBody>
        </p:sp>
        <p:sp>
          <p:nvSpPr>
            <p:cNvPr id="25" name="TextBox 25"/>
            <p:cNvSpPr txBox="1"/>
            <p:nvPr/>
          </p:nvSpPr>
          <p:spPr>
            <a:xfrm>
              <a:off x="4008138" y="4618672"/>
              <a:ext cx="937225" cy="674751"/>
            </a:xfrm>
            <a:prstGeom prst="rect">
              <a:avLst/>
            </a:prstGeom>
            <a:noFill/>
            <a:ln>
              <a:noFill/>
            </a:ln>
          </p:spPr>
          <p:txBody>
            <a:bodyPr wrap="none" lIns="0" tIns="0" rIns="0" bIns="0" anchor="t" anchorCtr="0">
              <a:spAutoFit/>
            </a:bodyPr>
            <a:lstStyle/>
            <a:p>
              <a:pPr algn="ctr"/>
              <a:r>
                <a:rPr lang="en-US" sz="3450" b="1" dirty="0">
                  <a:solidFill>
                    <a:schemeClr val="accent3"/>
                  </a:solidFill>
                  <a:latin typeface="+mn-lt"/>
                  <a:ea typeface="+mn-ea"/>
                  <a:cs typeface="+mn-cs"/>
                </a:rPr>
                <a:t>36%</a:t>
              </a:r>
            </a:p>
          </p:txBody>
        </p:sp>
        <p:sp>
          <p:nvSpPr>
            <p:cNvPr id="26" name="TextBox 26"/>
            <p:cNvSpPr txBox="1"/>
            <p:nvPr/>
          </p:nvSpPr>
          <p:spPr>
            <a:xfrm>
              <a:off x="3423285" y="5174456"/>
              <a:ext cx="252182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of semantic cases still return the</a:t>
              </a:r>
            </a:p>
          </p:txBody>
        </p:sp>
        <p:sp>
          <p:nvSpPr>
            <p:cNvPr id="27" name="TextBox 27"/>
            <p:cNvSpPr txBox="1"/>
            <p:nvPr/>
          </p:nvSpPr>
          <p:spPr>
            <a:xfrm>
              <a:off x="3423285" y="5384006"/>
              <a:ext cx="246151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original, now-incorrect answer —</a:t>
              </a:r>
            </a:p>
          </p:txBody>
        </p:sp>
        <p:sp>
          <p:nvSpPr>
            <p:cNvPr id="28" name="TextBox 28"/>
            <p:cNvSpPr txBox="1"/>
            <p:nvPr/>
          </p:nvSpPr>
          <p:spPr>
            <a:xfrm>
              <a:off x="3423285" y="5593556"/>
              <a:ext cx="164733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recall, not reasoning.</a:t>
              </a:r>
            </a:p>
          </p:txBody>
        </p:sp>
      </p:grpSp>
      <p:grpSp>
        <p:nvGrpSpPr>
          <p:cNvPr id="37" name="Group 37"/>
          <p:cNvGrpSpPr/>
          <p:nvPr/>
        </p:nvGrpSpPr>
        <p:grpSpPr>
          <a:xfrm>
            <a:off x="5943600" y="1733550"/>
            <a:ext cx="5486400" cy="2190750"/>
            <a:chOff x="5943600" y="1733550"/>
            <a:chExt cx="5486400" cy="2190750"/>
          </a:xfrm>
        </p:grpSpPr>
        <p:sp>
          <p:nvSpPr>
            <p:cNvPr id="30" name="Rectangle 30"/>
            <p:cNvSpPr/>
            <p:nvPr/>
          </p:nvSpPr>
          <p:spPr>
            <a:xfrm>
              <a:off x="5943600" y="1733550"/>
              <a:ext cx="5486400" cy="2190750"/>
            </a:xfrm>
            <a:prstGeom prst="roundRect">
              <a:avLst>
                <a:gd name="adj" fmla="val 5217"/>
              </a:avLst>
            </a:prstGeom>
            <a:solidFill>
              <a:srgbClr val="E1F3F0"/>
            </a:solidFill>
            <a:ln w="9525">
              <a:solidFill>
                <a:srgbClr val="B7E2DA"/>
              </a:solidFill>
            </a:ln>
          </p:spPr>
        </p:sp>
        <p:sp>
          <p:nvSpPr>
            <p:cNvPr id="31" name="Rectangle 31"/>
            <p:cNvSpPr/>
            <p:nvPr/>
          </p:nvSpPr>
          <p:spPr>
            <a:xfrm>
              <a:off x="5943600" y="1733550"/>
              <a:ext cx="57150" cy="2190750"/>
            </a:xfrm>
            <a:prstGeom prst="roundRect">
              <a:avLst>
                <a:gd name="adj" fmla="val 50000"/>
              </a:avLst>
            </a:prstGeom>
            <a:solidFill>
              <a:schemeClr val="accent2"/>
            </a:solidFill>
            <a:ln>
              <a:noFill/>
            </a:ln>
          </p:spPr>
        </p:sp>
        <p:sp>
          <p:nvSpPr>
            <p:cNvPr id="32" name="TextBox 32"/>
            <p:cNvSpPr txBox="1"/>
            <p:nvPr/>
          </p:nvSpPr>
          <p:spPr>
            <a:xfrm>
              <a:off x="6241161" y="1979771"/>
              <a:ext cx="213025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DS-1000 barely moves</a:t>
              </a:r>
            </a:p>
          </p:txBody>
        </p:sp>
        <p:sp>
          <p:nvSpPr>
            <p:cNvPr id="33" name="TextBox 33"/>
            <p:cNvSpPr txBox="1"/>
            <p:nvPr/>
          </p:nvSpPr>
          <p:spPr>
            <a:xfrm>
              <a:off x="6229350" y="2436495"/>
              <a:ext cx="1361145" cy="762000"/>
            </a:xfrm>
            <a:prstGeom prst="rect">
              <a:avLst/>
            </a:prstGeom>
            <a:noFill/>
            <a:ln>
              <a:noFill/>
            </a:ln>
          </p:spPr>
          <p:txBody>
            <a:bodyPr wrap="none" lIns="0" tIns="0" rIns="0" bIns="0" anchor="t" anchorCtr="0">
              <a:spAutoFit/>
            </a:bodyPr>
            <a:lstStyle/>
            <a:p>
              <a:pPr algn="l"/>
              <a:r>
                <a:rPr lang="en-US" sz="3900" b="1" dirty="0">
                  <a:solidFill>
                    <a:schemeClr val="accent2"/>
                  </a:solidFill>
                  <a:latin typeface="+mn-lt"/>
                  <a:ea typeface="+mn-ea"/>
                  <a:cs typeface="+mn-cs"/>
                </a:rPr>
                <a:t>3–9%</a:t>
              </a:r>
            </a:p>
          </p:txBody>
        </p:sp>
        <p:sp>
          <p:nvSpPr>
            <p:cNvPr id="34" name="TextBox 34"/>
            <p:cNvSpPr txBox="1"/>
            <p:nvPr/>
          </p:nvSpPr>
          <p:spPr>
            <a:xfrm>
              <a:off x="6242304" y="3013710"/>
              <a:ext cx="268574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drop after the same perturbation</a:t>
              </a:r>
            </a:p>
          </p:txBody>
        </p:sp>
        <p:sp>
          <p:nvSpPr>
            <p:cNvPr id="35" name="TextBox 35"/>
            <p:cNvSpPr txBox="1"/>
            <p:nvPr/>
          </p:nvSpPr>
          <p:spPr>
            <a:xfrm>
              <a:off x="6242304" y="3356610"/>
              <a:ext cx="370088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Its problems appear far less often online, so a</a:t>
              </a:r>
            </a:p>
          </p:txBody>
        </p:sp>
        <p:sp>
          <p:nvSpPr>
            <p:cNvPr id="36" name="TextBox 36"/>
            <p:cNvSpPr txBox="1"/>
            <p:nvPr/>
          </p:nvSpPr>
          <p:spPr>
            <a:xfrm>
              <a:off x="6242304" y="3566160"/>
              <a:ext cx="339653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model cannot lean on a memorized solution.</a:t>
              </a:r>
            </a:p>
          </p:txBody>
        </p:sp>
      </p:grpSp>
      <p:grpSp>
        <p:nvGrpSpPr>
          <p:cNvPr id="45" name="Group 45"/>
          <p:cNvGrpSpPr/>
          <p:nvPr/>
        </p:nvGrpSpPr>
        <p:grpSpPr>
          <a:xfrm>
            <a:off x="5943600" y="4076700"/>
            <a:ext cx="5954547" cy="2000250"/>
            <a:chOff x="5943600" y="4076700"/>
            <a:chExt cx="5954547" cy="2000250"/>
          </a:xfrm>
        </p:grpSpPr>
        <p:sp>
          <p:nvSpPr>
            <p:cNvPr id="38" name="Rectangle 38"/>
            <p:cNvSpPr/>
            <p:nvPr/>
          </p:nvSpPr>
          <p:spPr>
            <a:xfrm>
              <a:off x="5943600" y="4076700"/>
              <a:ext cx="5486400" cy="2000250"/>
            </a:xfrm>
            <a:prstGeom prst="roundRect">
              <a:avLst>
                <a:gd name="adj" fmla="val 5714"/>
              </a:avLst>
            </a:prstGeom>
            <a:solidFill>
              <a:schemeClr val="dk1"/>
            </a:solidFill>
            <a:ln>
              <a:noFill/>
            </a:ln>
          </p:spPr>
        </p:sp>
        <p:sp>
          <p:nvSpPr>
            <p:cNvPr id="39" name="Rectangle 39"/>
            <p:cNvSpPr/>
            <p:nvPr/>
          </p:nvSpPr>
          <p:spPr>
            <a:xfrm>
              <a:off x="5943600" y="4076700"/>
              <a:ext cx="57150" cy="2000250"/>
            </a:xfrm>
            <a:prstGeom prst="roundRect">
              <a:avLst>
                <a:gd name="adj" fmla="val 50000"/>
              </a:avLst>
            </a:prstGeom>
            <a:solidFill>
              <a:schemeClr val="accent2"/>
            </a:solidFill>
            <a:ln>
              <a:noFill/>
            </a:ln>
          </p:spPr>
        </p:sp>
        <p:sp>
          <p:nvSpPr>
            <p:cNvPr id="40" name="TextBox 40"/>
            <p:cNvSpPr txBox="1"/>
            <p:nvPr/>
          </p:nvSpPr>
          <p:spPr>
            <a:xfrm>
              <a:off x="6240399" y="4344829"/>
              <a:ext cx="3797986"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n-lt"/>
                  <a:ea typeface="+mn-ea"/>
                  <a:cs typeface="+mn-cs"/>
                </a:rPr>
                <a:t>A practical, future-proof defense</a:t>
              </a:r>
            </a:p>
          </p:txBody>
        </p:sp>
        <p:sp>
          <p:nvSpPr>
            <p:cNvPr id="41" name="TextBox 41"/>
            <p:cNvSpPr txBox="1"/>
            <p:nvPr/>
          </p:nvSpPr>
          <p:spPr>
            <a:xfrm>
              <a:off x="6241923" y="4758214"/>
              <a:ext cx="5644783" cy="249364"/>
            </a:xfrm>
            <a:prstGeom prst="rect">
              <a:avLst/>
            </a:prstGeom>
            <a:noFill/>
            <a:ln>
              <a:noFill/>
            </a:ln>
          </p:spPr>
          <p:txBody>
            <a:bodyPr wrap="none" lIns="0" tIns="0" rIns="0" bIns="0" anchor="t" anchorCtr="0">
              <a:spAutoFit/>
            </a:bodyPr>
            <a:lstStyle/>
            <a:p>
              <a:pPr algn="l"/>
              <a:r>
                <a:rPr lang="en-US" sz="1280" dirty="0">
                  <a:solidFill>
                    <a:srgbClr val="C7CFDA"/>
                  </a:solidFill>
                  <a:latin typeface="+mn-lt"/>
                  <a:ea typeface="+mn-ea"/>
                  <a:cs typeface="+mn-cs"/>
                </a:rPr>
                <a:t>Because the gentle drop tracks how rarely problems appear online,</a:t>
              </a:r>
            </a:p>
          </p:txBody>
        </p:sp>
        <p:sp>
          <p:nvSpPr>
            <p:cNvPr id="42" name="TextBox 42"/>
            <p:cNvSpPr txBox="1"/>
            <p:nvPr/>
          </p:nvSpPr>
          <p:spPr>
            <a:xfrm>
              <a:off x="6241923" y="5005864"/>
              <a:ext cx="5656224" cy="249364"/>
            </a:xfrm>
            <a:prstGeom prst="rect">
              <a:avLst/>
            </a:prstGeom>
            <a:noFill/>
            <a:ln>
              <a:noFill/>
            </a:ln>
          </p:spPr>
          <p:txBody>
            <a:bodyPr wrap="none" lIns="0" tIns="0" rIns="0" bIns="0" anchor="t" anchorCtr="0">
              <a:spAutoFit/>
            </a:bodyPr>
            <a:lstStyle/>
            <a:p>
              <a:pPr algn="l"/>
              <a:r>
                <a:rPr lang="en-US" sz="1280" dirty="0">
                  <a:solidFill>
                    <a:srgbClr val="C7CFDA"/>
                  </a:solidFill>
                  <a:latin typeface="+mn-lt"/>
                  <a:ea typeface="+mn-ea"/>
                  <a:cs typeface="+mn-cs"/>
                </a:rPr>
                <a:t>perturbation stays effective as models scale — a practical defense</a:t>
              </a:r>
            </a:p>
          </p:txBody>
        </p:sp>
        <p:sp>
          <p:nvSpPr>
            <p:cNvPr id="43" name="TextBox 43"/>
            <p:cNvSpPr txBox="1"/>
            <p:nvPr/>
          </p:nvSpPr>
          <p:spPr>
            <a:xfrm>
              <a:off x="6241923" y="5253514"/>
              <a:ext cx="3373069" cy="249364"/>
            </a:xfrm>
            <a:prstGeom prst="rect">
              <a:avLst/>
            </a:prstGeom>
            <a:noFill/>
            <a:ln>
              <a:noFill/>
            </a:ln>
          </p:spPr>
          <p:txBody>
            <a:bodyPr wrap="none" lIns="0" tIns="0" rIns="0" bIns="0" anchor="t" anchorCtr="0">
              <a:spAutoFit/>
            </a:bodyPr>
            <a:lstStyle/>
            <a:p>
              <a:pPr algn="l"/>
              <a:r>
                <a:rPr lang="en-US" sz="1280" dirty="0">
                  <a:solidFill>
                    <a:srgbClr val="C7CFDA"/>
                  </a:solidFill>
                  <a:latin typeface="+mn-lt"/>
                  <a:ea typeface="+mn-ea"/>
                  <a:cs typeface="+mn-cs"/>
                </a:rPr>
                <a:t>against memorization by future models.</a:t>
              </a:r>
            </a:p>
          </p:txBody>
        </p:sp>
        <p:sp>
          <p:nvSpPr>
            <p:cNvPr id="44" name="TextBox 44"/>
            <p:cNvSpPr txBox="1"/>
            <p:nvPr/>
          </p:nvSpPr>
          <p:spPr>
            <a:xfrm>
              <a:off x="6242685" y="5707856"/>
              <a:ext cx="3975002"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Trustworthy scores, even for models yet to come.</a:t>
              </a:r>
            </a:p>
          </p:txBody>
        </p:sp>
      </p:grpSp>
      <p:grpSp>
        <p:nvGrpSpPr>
          <p:cNvPr id="48" name="Group 48"/>
          <p:cNvGrpSpPr/>
          <p:nvPr/>
        </p:nvGrpSpPr>
        <p:grpSpPr>
          <a:xfrm>
            <a:off x="757238" y="6570345"/>
            <a:ext cx="10677524" cy="176212"/>
            <a:chOff x="757238" y="6570345"/>
            <a:chExt cx="10677524" cy="176212"/>
          </a:xfrm>
        </p:grpSpPr>
        <p:sp>
          <p:nvSpPr>
            <p:cNvPr id="46" name="TextBox 46"/>
            <p:cNvSpPr txBox="1"/>
            <p:nvPr/>
          </p:nvSpPr>
          <p:spPr>
            <a:xfrm>
              <a:off x="757238" y="6570345"/>
              <a:ext cx="1244879"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DS-1000 · ICML 2023</a:t>
              </a:r>
            </a:p>
          </p:txBody>
        </p:sp>
        <p:sp>
          <p:nvSpPr>
            <p:cNvPr id="47" name="TextBox 47"/>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08 / 10</a:t>
              </a:r>
            </a:p>
          </p:txBody>
        </p:sp>
      </p:grpSp>
      <p:sp>
        <p:nvSpPr>
          <p:cNvPr id="49" name="cue_s08_c1_show_why_memorization_matters_author" title="cue_s08_c1_show_why_memorization_matters_author" descr="cue_s08_c1_show_why_memorization_matters_author To show why memorization matters, the authors probe the popular numpy-100 problem set."/>
          <p:cNvSpPr/>
          <p:nvPr/>
        </p:nvSpPr>
        <p:spPr>
          <a:xfrm>
            <a:off x="762000" y="1733702"/>
            <a:ext cx="49523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2_codex_002_scores_seventy_two_point_f" title="cue_s08_c2_codex_002_scores_seventy_two_point_f" descr="cue_s08_c2_codex_002_scores_seventy_two_point_f Codex-002 scores seventy-two point five percent there, but accuracy collapses to forty point six percent after perturbation, and in thirty-six percent of semantic cases the model still returns the original, now-incorrect answer, evidence that it is recalling m"/>
          <p:cNvSpPr/>
          <p:nvPr/>
        </p:nvSpPr>
        <p:spPr>
          <a:xfrm>
            <a:off x="762000" y="3314471"/>
            <a:ext cx="5182819" cy="27624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8_c3_ds_1000_perturbation_drop_much_gentl" title="cue_s08_c3_ds_1000_perturbation_drop_much_gentl" descr="cue_s08_c3_ds_1000_perturbation_drop_much_gentl On DS-1000 the perturbation drop is much gentler, about three to nine percent, because these problems appear less often online."/>
          <p:cNvSpPr/>
          <p:nvPr/>
        </p:nvSpPr>
        <p:spPr>
          <a:xfrm>
            <a:off x="5943600" y="1733702"/>
            <a:ext cx="5486400"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8_c4_confirms_perturbation_practical_defe" title="cue_s08_c4_confirms_perturbation_practical_defe" descr="cue_s08_c4_confirms_perturbation_practical_defe This confirms perturbation as a practical defense against memorization by future models."/>
          <p:cNvSpPr/>
          <p:nvPr/>
        </p:nvSpPr>
        <p:spPr>
          <a:xfrm>
            <a:off x="5943600" y="4076395"/>
            <a:ext cx="5954572"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212319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09 · HEADLINE NUMBERS</a:t>
              </a:r>
            </a:p>
          </p:txBody>
        </p:sp>
        <p:sp>
          <p:nvSpPr>
            <p:cNvPr id="4" name="TextBox 4"/>
            <p:cNvSpPr txBox="1"/>
            <p:nvPr/>
          </p:nvSpPr>
          <p:spPr>
            <a:xfrm>
              <a:off x="749046" y="867728"/>
              <a:ext cx="4329418"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DS-1000 in four numbers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3" name="Group 13"/>
          <p:cNvGrpSpPr/>
          <p:nvPr/>
        </p:nvGrpSpPr>
        <p:grpSpPr>
          <a:xfrm>
            <a:off x="762000" y="1733550"/>
            <a:ext cx="5257800" cy="1905000"/>
            <a:chOff x="762000" y="1733550"/>
            <a:chExt cx="5257800" cy="1905000"/>
          </a:xfrm>
        </p:grpSpPr>
        <p:sp>
          <p:nvSpPr>
            <p:cNvPr id="7" name="Rectangle 7"/>
            <p:cNvSpPr/>
            <p:nvPr/>
          </p:nvSpPr>
          <p:spPr>
            <a:xfrm>
              <a:off x="762000" y="1733550"/>
              <a:ext cx="5257800" cy="1905000"/>
            </a:xfrm>
            <a:prstGeom prst="roundRect">
              <a:avLst>
                <a:gd name="adj" fmla="val 6000"/>
              </a:avLst>
            </a:prstGeom>
            <a:solidFill>
              <a:schemeClr val="accent5"/>
            </a:solidFill>
            <a:ln w="9525">
              <a:solidFill>
                <a:schemeClr val="accent4"/>
              </a:solidFill>
            </a:ln>
          </p:spPr>
        </p:sp>
        <p:sp>
          <p:nvSpPr>
            <p:cNvPr id="8" name="Rectangle 8"/>
            <p:cNvSpPr/>
            <p:nvPr/>
          </p:nvSpPr>
          <p:spPr>
            <a:xfrm>
              <a:off x="762000" y="1733550"/>
              <a:ext cx="57150" cy="1905000"/>
            </a:xfrm>
            <a:prstGeom prst="roundRect">
              <a:avLst>
                <a:gd name="adj" fmla="val 50000"/>
              </a:avLst>
            </a:prstGeom>
            <a:solidFill>
              <a:schemeClr val="accent1"/>
            </a:solidFill>
            <a:ln>
              <a:noFill/>
            </a:ln>
          </p:spPr>
        </p:sp>
        <p:sp>
          <p:nvSpPr>
            <p:cNvPr id="9" name="TextBox 9"/>
            <p:cNvSpPr txBox="1"/>
            <p:nvPr/>
          </p:nvSpPr>
          <p:spPr>
            <a:xfrm>
              <a:off x="1061085" y="1993106"/>
              <a:ext cx="514106"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SCALE</a:t>
              </a:r>
            </a:p>
          </p:txBody>
        </p:sp>
        <p:sp>
          <p:nvSpPr>
            <p:cNvPr id="10" name="TextBox 10"/>
            <p:cNvSpPr txBox="1"/>
            <p:nvPr/>
          </p:nvSpPr>
          <p:spPr>
            <a:xfrm>
              <a:off x="1028700" y="2350770"/>
              <a:ext cx="2137162"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n-lt"/>
                  <a:ea typeface="+mn-ea"/>
                  <a:cs typeface="+mn-cs"/>
                </a:rPr>
                <a:t>1,000</a:t>
              </a:r>
            </a:p>
          </p:txBody>
        </p:sp>
        <p:sp>
          <p:nvSpPr>
            <p:cNvPr id="11" name="TextBox 11"/>
            <p:cNvSpPr txBox="1"/>
            <p:nvPr/>
          </p:nvSpPr>
          <p:spPr>
            <a:xfrm>
              <a:off x="1059942" y="3130868"/>
              <a:ext cx="84380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problems</a:t>
              </a:r>
            </a:p>
          </p:txBody>
        </p:sp>
        <p:sp>
          <p:nvSpPr>
            <p:cNvPr id="12" name="TextBox 12"/>
            <p:cNvSpPr txBox="1"/>
            <p:nvPr/>
          </p:nvSpPr>
          <p:spPr>
            <a:xfrm>
              <a:off x="1060704" y="3375660"/>
              <a:ext cx="342552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over 7 libraries · from 451 unique SO posts</a:t>
              </a:r>
            </a:p>
          </p:txBody>
        </p:sp>
      </p:grpSp>
      <p:grpSp>
        <p:nvGrpSpPr>
          <p:cNvPr id="20" name="Group 20"/>
          <p:cNvGrpSpPr/>
          <p:nvPr/>
        </p:nvGrpSpPr>
        <p:grpSpPr>
          <a:xfrm>
            <a:off x="6172200" y="1733550"/>
            <a:ext cx="5257800" cy="1914906"/>
            <a:chOff x="6172200" y="1733550"/>
            <a:chExt cx="5257800" cy="1914906"/>
          </a:xfrm>
        </p:grpSpPr>
        <p:sp>
          <p:nvSpPr>
            <p:cNvPr id="14" name="Rectangle 14"/>
            <p:cNvSpPr/>
            <p:nvPr/>
          </p:nvSpPr>
          <p:spPr>
            <a:xfrm>
              <a:off x="6172200" y="1733550"/>
              <a:ext cx="5257800" cy="1905000"/>
            </a:xfrm>
            <a:prstGeom prst="roundRect">
              <a:avLst>
                <a:gd name="adj" fmla="val 6000"/>
              </a:avLst>
            </a:prstGeom>
            <a:solidFill>
              <a:schemeClr val="accent5"/>
            </a:solidFill>
            <a:ln w="9525">
              <a:solidFill>
                <a:schemeClr val="accent4"/>
              </a:solidFill>
            </a:ln>
          </p:spPr>
        </p:sp>
        <p:sp>
          <p:nvSpPr>
            <p:cNvPr id="15" name="Rectangle 15"/>
            <p:cNvSpPr/>
            <p:nvPr/>
          </p:nvSpPr>
          <p:spPr>
            <a:xfrm>
              <a:off x="6172200" y="1733550"/>
              <a:ext cx="57150" cy="1905000"/>
            </a:xfrm>
            <a:prstGeom prst="roundRect">
              <a:avLst>
                <a:gd name="adj" fmla="val 50000"/>
              </a:avLst>
            </a:prstGeom>
            <a:solidFill>
              <a:schemeClr val="accent3"/>
            </a:solidFill>
            <a:ln>
              <a:noFill/>
            </a:ln>
          </p:spPr>
        </p:sp>
        <p:sp>
          <p:nvSpPr>
            <p:cNvPr id="16" name="TextBox 16"/>
            <p:cNvSpPr txBox="1"/>
            <p:nvPr/>
          </p:nvSpPr>
          <p:spPr>
            <a:xfrm>
              <a:off x="6471285" y="1993106"/>
              <a:ext cx="922477"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HEADROOM</a:t>
              </a:r>
            </a:p>
          </p:txBody>
        </p:sp>
        <p:sp>
          <p:nvSpPr>
            <p:cNvPr id="17" name="TextBox 17"/>
            <p:cNvSpPr txBox="1"/>
            <p:nvPr/>
          </p:nvSpPr>
          <p:spPr>
            <a:xfrm>
              <a:off x="6438900" y="2388870"/>
              <a:ext cx="2289821" cy="1047750"/>
            </a:xfrm>
            <a:prstGeom prst="rect">
              <a:avLst/>
            </a:prstGeom>
            <a:noFill/>
            <a:ln>
              <a:noFill/>
            </a:ln>
          </p:spPr>
          <p:txBody>
            <a:bodyPr wrap="none" lIns="0" tIns="0" rIns="0" bIns="0" anchor="t" anchorCtr="0">
              <a:spAutoFit/>
            </a:bodyPr>
            <a:lstStyle/>
            <a:p>
              <a:pPr algn="l"/>
              <a:r>
                <a:rPr lang="en-US" sz="5400" b="1" dirty="0">
                  <a:solidFill>
                    <a:schemeClr val="accent3"/>
                  </a:solidFill>
                  <a:latin typeface="+mn-lt"/>
                  <a:ea typeface="+mn-ea"/>
                  <a:cs typeface="+mn-cs"/>
                </a:rPr>
                <a:t>43.3%</a:t>
              </a:r>
            </a:p>
          </p:txBody>
        </p:sp>
        <p:sp>
          <p:nvSpPr>
            <p:cNvPr id="18" name="TextBox 18"/>
            <p:cNvSpPr txBox="1"/>
            <p:nvPr/>
          </p:nvSpPr>
          <p:spPr>
            <a:xfrm>
              <a:off x="6470142" y="3168968"/>
              <a:ext cx="190287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best model accuracy</a:t>
              </a:r>
            </a:p>
          </p:txBody>
        </p:sp>
        <p:sp>
          <p:nvSpPr>
            <p:cNvPr id="19" name="TextBox 19"/>
            <p:cNvSpPr txBox="1"/>
            <p:nvPr/>
          </p:nvSpPr>
          <p:spPr>
            <a:xfrm>
              <a:off x="6470904" y="3413760"/>
              <a:ext cx="247573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nontrivial, but far from solved</a:t>
              </a:r>
            </a:p>
          </p:txBody>
        </p:sp>
      </p:grpSp>
      <p:grpSp>
        <p:nvGrpSpPr>
          <p:cNvPr id="29" name="Group 29"/>
          <p:cNvGrpSpPr/>
          <p:nvPr/>
        </p:nvGrpSpPr>
        <p:grpSpPr>
          <a:xfrm>
            <a:off x="697291" y="3886200"/>
            <a:ext cx="5322509" cy="2190750"/>
            <a:chOff x="697291" y="3886200"/>
            <a:chExt cx="5322509" cy="2190750"/>
          </a:xfrm>
        </p:grpSpPr>
        <p:sp>
          <p:nvSpPr>
            <p:cNvPr id="21" name="Rectangle 21"/>
            <p:cNvSpPr/>
            <p:nvPr/>
          </p:nvSpPr>
          <p:spPr>
            <a:xfrm>
              <a:off x="762000" y="3886200"/>
              <a:ext cx="5257800" cy="2190750"/>
            </a:xfrm>
            <a:prstGeom prst="roundRect">
              <a:avLst>
                <a:gd name="adj" fmla="val 5217"/>
              </a:avLst>
            </a:prstGeom>
            <a:solidFill>
              <a:srgbClr val="E1F3F0"/>
            </a:solidFill>
            <a:ln w="9525">
              <a:solidFill>
                <a:srgbClr val="B7E2DA"/>
              </a:solidFill>
            </a:ln>
          </p:spPr>
        </p:sp>
        <p:sp>
          <p:nvSpPr>
            <p:cNvPr id="22" name="Rectangle 22"/>
            <p:cNvSpPr/>
            <p:nvPr/>
          </p:nvSpPr>
          <p:spPr>
            <a:xfrm>
              <a:off x="762000" y="3886200"/>
              <a:ext cx="57150" cy="2190750"/>
            </a:xfrm>
            <a:prstGeom prst="roundRect">
              <a:avLst>
                <a:gd name="adj" fmla="val 50000"/>
              </a:avLst>
            </a:prstGeom>
            <a:solidFill>
              <a:schemeClr val="accent2"/>
            </a:solidFill>
            <a:ln>
              <a:noFill/>
            </a:ln>
          </p:spPr>
        </p:sp>
        <p:sp>
          <p:nvSpPr>
            <p:cNvPr id="23" name="TextBox 23"/>
            <p:cNvSpPr txBox="1"/>
            <p:nvPr/>
          </p:nvSpPr>
          <p:spPr>
            <a:xfrm>
              <a:off x="1061085" y="4145756"/>
              <a:ext cx="1004663"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RELIABILITY</a:t>
              </a:r>
            </a:p>
          </p:txBody>
        </p:sp>
        <p:sp>
          <p:nvSpPr>
            <p:cNvPr id="24" name="TextBox 24"/>
            <p:cNvSpPr txBox="1"/>
            <p:nvPr/>
          </p:nvSpPr>
          <p:spPr>
            <a:xfrm>
              <a:off x="697291" y="4652010"/>
              <a:ext cx="1462918" cy="819150"/>
            </a:xfrm>
            <a:prstGeom prst="rect">
              <a:avLst/>
            </a:prstGeom>
            <a:noFill/>
            <a:ln>
              <a:noFill/>
            </a:ln>
          </p:spPr>
          <p:txBody>
            <a:bodyPr wrap="none" lIns="0" tIns="0" rIns="0" bIns="0" anchor="t" anchorCtr="0">
              <a:spAutoFit/>
            </a:bodyPr>
            <a:lstStyle/>
            <a:p>
              <a:pPr algn="ctr"/>
              <a:r>
                <a:rPr lang="en-US" sz="4200" b="1" dirty="0">
                  <a:solidFill>
                    <a:schemeClr val="accent2"/>
                  </a:solidFill>
                  <a:latin typeface="+mn-lt"/>
                  <a:ea typeface="+mn-ea"/>
                  <a:cs typeface="+mn-cs"/>
                </a:rPr>
                <a:t>1.8%</a:t>
              </a:r>
            </a:p>
          </p:txBody>
        </p:sp>
        <p:sp>
          <p:nvSpPr>
            <p:cNvPr id="25" name="TextBox 25"/>
            <p:cNvSpPr txBox="1"/>
            <p:nvPr/>
          </p:nvSpPr>
          <p:spPr>
            <a:xfrm>
              <a:off x="699318" y="5269706"/>
              <a:ext cx="1458864"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accepted yet wrong</a:t>
              </a:r>
            </a:p>
          </p:txBody>
        </p:sp>
        <p:sp>
          <p:nvSpPr>
            <p:cNvPr id="26" name="TextBox 26"/>
            <p:cNvSpPr txBox="1"/>
            <p:nvPr/>
          </p:nvSpPr>
          <p:spPr>
            <a:xfrm>
              <a:off x="3364291" y="4652010"/>
              <a:ext cx="1462918" cy="819150"/>
            </a:xfrm>
            <a:prstGeom prst="rect">
              <a:avLst/>
            </a:prstGeom>
            <a:noFill/>
            <a:ln>
              <a:noFill/>
            </a:ln>
          </p:spPr>
          <p:txBody>
            <a:bodyPr wrap="none" lIns="0" tIns="0" rIns="0" bIns="0" anchor="t" anchorCtr="0">
              <a:spAutoFit/>
            </a:bodyPr>
            <a:lstStyle/>
            <a:p>
              <a:pPr algn="ctr"/>
              <a:r>
                <a:rPr lang="en-US" sz="4200" b="1" dirty="0">
                  <a:solidFill>
                    <a:schemeClr val="accent2"/>
                  </a:solidFill>
                  <a:latin typeface="+mn-lt"/>
                  <a:ea typeface="+mn-ea"/>
                  <a:cs typeface="+mn-cs"/>
                </a:rPr>
                <a:t>0.5%</a:t>
              </a:r>
            </a:p>
          </p:txBody>
        </p:sp>
        <p:sp>
          <p:nvSpPr>
            <p:cNvPr id="27" name="TextBox 27"/>
            <p:cNvSpPr txBox="1"/>
            <p:nvPr/>
          </p:nvSpPr>
          <p:spPr>
            <a:xfrm>
              <a:off x="3317316" y="5269706"/>
              <a:ext cx="1556868"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rejected yet correct</a:t>
              </a:r>
            </a:p>
          </p:txBody>
        </p:sp>
        <p:sp>
          <p:nvSpPr>
            <p:cNvPr id="28" name="TextBox 28"/>
            <p:cNvSpPr txBox="1"/>
            <p:nvPr/>
          </p:nvSpPr>
          <p:spPr>
            <a:xfrm>
              <a:off x="1060704" y="5699760"/>
              <a:ext cx="448415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Accepted solutions are almost always genuinely correct.</a:t>
              </a:r>
            </a:p>
          </p:txBody>
        </p:sp>
      </p:grpSp>
      <p:grpSp>
        <p:nvGrpSpPr>
          <p:cNvPr id="36" name="Group 36"/>
          <p:cNvGrpSpPr/>
          <p:nvPr/>
        </p:nvGrpSpPr>
        <p:grpSpPr>
          <a:xfrm>
            <a:off x="6172200" y="3886200"/>
            <a:ext cx="5257800" cy="2190750"/>
            <a:chOff x="6172200" y="3886200"/>
            <a:chExt cx="5257800" cy="2190750"/>
          </a:xfrm>
        </p:grpSpPr>
        <p:sp>
          <p:nvSpPr>
            <p:cNvPr id="30" name="Rectangle 30"/>
            <p:cNvSpPr/>
            <p:nvPr/>
          </p:nvSpPr>
          <p:spPr>
            <a:xfrm>
              <a:off x="6172200" y="3886200"/>
              <a:ext cx="5257800" cy="2190750"/>
            </a:xfrm>
            <a:prstGeom prst="roundRect">
              <a:avLst>
                <a:gd name="adj" fmla="val 5217"/>
              </a:avLst>
            </a:prstGeom>
            <a:solidFill>
              <a:schemeClr val="accent6"/>
            </a:solidFill>
            <a:ln w="9525">
              <a:solidFill>
                <a:srgbClr val="C6D6FB"/>
              </a:solidFill>
            </a:ln>
          </p:spPr>
        </p:sp>
        <p:sp>
          <p:nvSpPr>
            <p:cNvPr id="31" name="Rectangle 31"/>
            <p:cNvSpPr/>
            <p:nvPr/>
          </p:nvSpPr>
          <p:spPr>
            <a:xfrm>
              <a:off x="6172200" y="3886200"/>
              <a:ext cx="57150" cy="2190750"/>
            </a:xfrm>
            <a:prstGeom prst="roundRect">
              <a:avLst>
                <a:gd name="adj" fmla="val 50000"/>
              </a:avLst>
            </a:prstGeom>
            <a:solidFill>
              <a:schemeClr val="accent1"/>
            </a:solidFill>
            <a:ln>
              <a:noFill/>
            </a:ln>
          </p:spPr>
        </p:sp>
        <p:sp>
          <p:nvSpPr>
            <p:cNvPr id="32" name="TextBox 32"/>
            <p:cNvSpPr txBox="1"/>
            <p:nvPr/>
          </p:nvSpPr>
          <p:spPr>
            <a:xfrm>
              <a:off x="6471285" y="4145756"/>
              <a:ext cx="752899"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CONTEXT</a:t>
              </a:r>
            </a:p>
          </p:txBody>
        </p:sp>
        <p:sp>
          <p:nvSpPr>
            <p:cNvPr id="33" name="TextBox 33"/>
            <p:cNvSpPr txBox="1"/>
            <p:nvPr/>
          </p:nvSpPr>
          <p:spPr>
            <a:xfrm>
              <a:off x="6438900" y="4636770"/>
              <a:ext cx="1297537"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n-lt"/>
                  <a:ea typeface="+mn-ea"/>
                  <a:cs typeface="+mn-cs"/>
                </a:rPr>
                <a:t>140</a:t>
              </a:r>
            </a:p>
          </p:txBody>
        </p:sp>
        <p:sp>
          <p:nvSpPr>
            <p:cNvPr id="34" name="TextBox 34"/>
            <p:cNvSpPr txBox="1"/>
            <p:nvPr/>
          </p:nvSpPr>
          <p:spPr>
            <a:xfrm>
              <a:off x="6470142" y="5435918"/>
              <a:ext cx="289515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words per problem, on average</a:t>
              </a:r>
            </a:p>
          </p:txBody>
        </p:sp>
        <p:sp>
          <p:nvSpPr>
            <p:cNvPr id="35" name="TextBox 35"/>
            <p:cNvSpPr txBox="1"/>
            <p:nvPr/>
          </p:nvSpPr>
          <p:spPr>
            <a:xfrm>
              <a:off x="6470904" y="5699760"/>
              <a:ext cx="358231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far richer context than comparable datasets</a:t>
              </a:r>
            </a:p>
          </p:txBody>
        </p:sp>
      </p:grpSp>
      <p:grpSp>
        <p:nvGrpSpPr>
          <p:cNvPr id="39" name="Group 39"/>
          <p:cNvGrpSpPr/>
          <p:nvPr/>
        </p:nvGrpSpPr>
        <p:grpSpPr>
          <a:xfrm>
            <a:off x="757238" y="6570345"/>
            <a:ext cx="10677524" cy="176212"/>
            <a:chOff x="757238" y="6570345"/>
            <a:chExt cx="10677524" cy="176212"/>
          </a:xfrm>
        </p:grpSpPr>
        <p:sp>
          <p:nvSpPr>
            <p:cNvPr id="37" name="TextBox 37"/>
            <p:cNvSpPr txBox="1"/>
            <p:nvPr/>
          </p:nvSpPr>
          <p:spPr>
            <a:xfrm>
              <a:off x="757238" y="6570345"/>
              <a:ext cx="1244879"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DS-1000 · ICML 2023</a:t>
              </a:r>
            </a:p>
          </p:txBody>
        </p:sp>
        <p:sp>
          <p:nvSpPr>
            <p:cNvPr id="38" name="TextBox 38"/>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09 / 10</a:t>
              </a:r>
            </a:p>
          </p:txBody>
        </p:sp>
      </p:grpSp>
      <p:sp>
        <p:nvSpPr>
          <p:cNvPr id="40" name="cue_s09_c1_few_numbers_capture_ds_1000_offers" title="cue_s09_c1_few_numbers_capture_ds_1000_offers" descr="cue_s09_c1_few_numbers_capture_ds_1000_offers A few numbers capture DS-1000. It offers a thousand problems over seven libraries, drawn from four hundred fifty-one unique StackOverflow posts."/>
          <p:cNvSpPr/>
          <p:nvPr/>
        </p:nvSpPr>
        <p:spPr>
          <a:xfrm>
            <a:off x="762000" y="1733702"/>
            <a:ext cx="525840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9_c2_best_reaches_only_forty_three_point" title="cue_s09_c2_best_reaches_only_forty_three_point" descr="cue_s09_c2_best_reaches_only_forty_three_point The best model reaches only forty-three point three percent accuracy."/>
          <p:cNvSpPr/>
          <p:nvPr/>
        </p:nvSpPr>
        <p:spPr>
          <a:xfrm>
            <a:off x="6171590" y="1733702"/>
            <a:ext cx="5258409" cy="191475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9_c3_evaluation_highly_reliable_among_all" title="cue_s09_c3_evaluation_highly_reliable_among_all" descr="cue_s09_c3_evaluation_highly_reliable_among_all The evaluation is highly reliable: among all solutions it accepts, just one point eight percent are actually incorrect, and only about half a percent of rejected ones are truly correct."/>
          <p:cNvSpPr/>
          <p:nvPr/>
        </p:nvSpPr>
        <p:spPr>
          <a:xfrm>
            <a:off x="697382" y="3886428"/>
            <a:ext cx="5323027"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9_c4_hundred_forty_words_per_problem" title="cue_s09_c4_hundred_forty_words_per_problem" descr="cue_s09_c4_hundred_forty_words_per_problem And with a hundred forty words per problem on average, its contexts are far richer than comparable datasets."/>
          <p:cNvSpPr/>
          <p:nvPr/>
        </p:nvSpPr>
        <p:spPr>
          <a:xfrm>
            <a:off x="6171590" y="3886428"/>
            <a:ext cx="5258409"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8284" y="572452"/>
            <a:ext cx="10681716" cy="884873"/>
            <a:chOff x="748284" y="572452"/>
            <a:chExt cx="10681716" cy="88487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340914"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10 · TAKEAWAY</a:t>
              </a:r>
            </a:p>
          </p:txBody>
        </p:sp>
        <p:sp>
          <p:nvSpPr>
            <p:cNvPr id="4" name="TextBox 4"/>
            <p:cNvSpPr txBox="1"/>
            <p:nvPr/>
          </p:nvSpPr>
          <p:spPr>
            <a:xfrm>
              <a:off x="748284" y="870585"/>
              <a:ext cx="8379546"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A data science code benchmark you can trust</a:t>
              </a:r>
            </a:p>
          </p:txBody>
        </p:sp>
        <p:sp>
          <p:nvSpPr>
            <p:cNvPr id="5" name="Line 5"/>
            <p:cNvSpPr/>
            <p:nvPr/>
          </p:nvSpPr>
          <p:spPr>
            <a:xfrm>
              <a:off x="762000" y="144780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6" name="Group 16"/>
          <p:cNvGrpSpPr/>
          <p:nvPr/>
        </p:nvGrpSpPr>
        <p:grpSpPr>
          <a:xfrm>
            <a:off x="762000" y="1790700"/>
            <a:ext cx="3429000" cy="3105150"/>
            <a:chOff x="762000" y="1790700"/>
            <a:chExt cx="3429000" cy="3105150"/>
          </a:xfrm>
        </p:grpSpPr>
        <p:sp>
          <p:nvSpPr>
            <p:cNvPr id="7" name="Rectangle 7"/>
            <p:cNvSpPr/>
            <p:nvPr/>
          </p:nvSpPr>
          <p:spPr>
            <a:xfrm>
              <a:off x="762000" y="1790700"/>
              <a:ext cx="3429000" cy="3105150"/>
            </a:xfrm>
            <a:prstGeom prst="roundRect">
              <a:avLst>
                <a:gd name="adj" fmla="val 3681"/>
              </a:avLst>
            </a:prstGeom>
            <a:solidFill>
              <a:schemeClr val="accent5"/>
            </a:solidFill>
            <a:ln w="9525">
              <a:solidFill>
                <a:schemeClr val="accent4"/>
              </a:solidFill>
            </a:ln>
          </p:spPr>
        </p:sp>
        <p:sp>
          <p:nvSpPr>
            <p:cNvPr id="8" name="Rectangle 8"/>
            <p:cNvSpPr/>
            <p:nvPr/>
          </p:nvSpPr>
          <p:spPr>
            <a:xfrm>
              <a:off x="762000" y="1790700"/>
              <a:ext cx="3429000" cy="76200"/>
            </a:xfrm>
            <a:prstGeom prst="roundRect">
              <a:avLst>
                <a:gd name="adj" fmla="val 50000"/>
              </a:avLst>
            </a:prstGeom>
            <a:solidFill>
              <a:schemeClr val="accent1"/>
            </a:solidFill>
            <a:ln>
              <a:noFill/>
            </a:ln>
          </p:spPr>
        </p:sp>
        <p:sp>
          <p:nvSpPr>
            <p:cNvPr id="9" name="TextBox 9"/>
            <p:cNvSpPr txBox="1"/>
            <p:nvPr/>
          </p:nvSpPr>
          <p:spPr>
            <a:xfrm>
              <a:off x="1022985" y="2202656"/>
              <a:ext cx="893631" cy="220028"/>
            </a:xfrm>
            <a:prstGeom prst="rect">
              <a:avLst/>
            </a:prstGeom>
            <a:noFill/>
            <a:ln>
              <a:noFill/>
            </a:ln>
          </p:spPr>
          <p:txBody>
            <a:bodyPr wrap="none" lIns="0" tIns="0" rIns="0" bIns="0" anchor="t" anchorCtr="0">
              <a:spAutoFit/>
            </a:bodyPr>
            <a:lstStyle/>
            <a:p>
              <a:pPr algn="l"/>
              <a:r>
                <a:rPr lang="en-US" sz="1120" b="1" spc="75" dirty="0">
                  <a:solidFill>
                    <a:schemeClr val="accent1"/>
                  </a:solidFill>
                  <a:latin typeface="+mn-lt"/>
                  <a:ea typeface="+mn-ea"/>
                  <a:cs typeface="+mn-cs"/>
                </a:rPr>
                <a:t>WHAT IT IS</a:t>
              </a:r>
            </a:p>
          </p:txBody>
        </p:sp>
        <p:sp>
          <p:nvSpPr>
            <p:cNvPr id="10" name="TextBox 10"/>
            <p:cNvSpPr txBox="1"/>
            <p:nvPr/>
          </p:nvSpPr>
          <p:spPr>
            <a:xfrm>
              <a:off x="1019937" y="2556986"/>
              <a:ext cx="1253023"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Realistic ·</a:t>
              </a:r>
            </a:p>
          </p:txBody>
        </p:sp>
        <p:sp>
          <p:nvSpPr>
            <p:cNvPr id="11" name="TextBox 11"/>
            <p:cNvSpPr txBox="1"/>
            <p:nvPr/>
          </p:nvSpPr>
          <p:spPr>
            <a:xfrm>
              <a:off x="1019937" y="2842736"/>
              <a:ext cx="2002752"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Reliable · Robust</a:t>
              </a:r>
            </a:p>
          </p:txBody>
        </p:sp>
        <p:sp>
          <p:nvSpPr>
            <p:cNvPr id="12" name="TextBox 12"/>
            <p:cNvSpPr txBox="1"/>
            <p:nvPr/>
          </p:nvSpPr>
          <p:spPr>
            <a:xfrm>
              <a:off x="1022604" y="3356610"/>
              <a:ext cx="276362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 benchmark that is realistic in its</a:t>
              </a:r>
            </a:p>
          </p:txBody>
        </p:sp>
        <p:sp>
          <p:nvSpPr>
            <p:cNvPr id="13" name="TextBox 13"/>
            <p:cNvSpPr txBox="1"/>
            <p:nvPr/>
          </p:nvSpPr>
          <p:spPr>
            <a:xfrm>
              <a:off x="1022604" y="3585210"/>
              <a:ext cx="284728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problems, reliable in its evaluation,</a:t>
              </a:r>
            </a:p>
          </p:txBody>
        </p:sp>
        <p:sp>
          <p:nvSpPr>
            <p:cNvPr id="14" name="TextBox 14"/>
            <p:cNvSpPr txBox="1"/>
            <p:nvPr/>
          </p:nvSpPr>
          <p:spPr>
            <a:xfrm>
              <a:off x="1022604" y="3813810"/>
              <a:ext cx="254843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and resistant to memorization —</a:t>
              </a:r>
            </a:p>
          </p:txBody>
        </p:sp>
        <p:sp>
          <p:nvSpPr>
            <p:cNvPr id="15" name="TextBox 15"/>
            <p:cNvSpPr txBox="1"/>
            <p:nvPr/>
          </p:nvSpPr>
          <p:spPr>
            <a:xfrm>
              <a:off x="1022604" y="4042410"/>
              <a:ext cx="165994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all at the same time.</a:t>
              </a:r>
            </a:p>
          </p:txBody>
        </p:sp>
      </p:grpSp>
      <p:grpSp>
        <p:nvGrpSpPr>
          <p:cNvPr id="26" name="Group 26"/>
          <p:cNvGrpSpPr/>
          <p:nvPr/>
        </p:nvGrpSpPr>
        <p:grpSpPr>
          <a:xfrm>
            <a:off x="4381500" y="1790700"/>
            <a:ext cx="3429000" cy="3105150"/>
            <a:chOff x="4381500" y="1790700"/>
            <a:chExt cx="3429000" cy="3105150"/>
          </a:xfrm>
        </p:grpSpPr>
        <p:sp>
          <p:nvSpPr>
            <p:cNvPr id="17" name="Rectangle 17"/>
            <p:cNvSpPr/>
            <p:nvPr/>
          </p:nvSpPr>
          <p:spPr>
            <a:xfrm>
              <a:off x="4381500" y="1790700"/>
              <a:ext cx="3429000" cy="3105150"/>
            </a:xfrm>
            <a:prstGeom prst="roundRect">
              <a:avLst>
                <a:gd name="adj" fmla="val 3681"/>
              </a:avLst>
            </a:prstGeom>
            <a:solidFill>
              <a:schemeClr val="accent5"/>
            </a:solidFill>
            <a:ln w="9525">
              <a:solidFill>
                <a:schemeClr val="accent4"/>
              </a:solidFill>
            </a:ln>
          </p:spPr>
        </p:sp>
        <p:sp>
          <p:nvSpPr>
            <p:cNvPr id="18" name="Rectangle 18"/>
            <p:cNvSpPr/>
            <p:nvPr/>
          </p:nvSpPr>
          <p:spPr>
            <a:xfrm>
              <a:off x="4381500" y="1790700"/>
              <a:ext cx="3429000" cy="76200"/>
            </a:xfrm>
            <a:prstGeom prst="roundRect">
              <a:avLst>
                <a:gd name="adj" fmla="val 50000"/>
              </a:avLst>
            </a:prstGeom>
            <a:solidFill>
              <a:schemeClr val="accent2"/>
            </a:solidFill>
            <a:ln>
              <a:noFill/>
            </a:ln>
          </p:spPr>
        </p:sp>
        <p:sp>
          <p:nvSpPr>
            <p:cNvPr id="19" name="TextBox 19"/>
            <p:cNvSpPr txBox="1"/>
            <p:nvPr/>
          </p:nvSpPr>
          <p:spPr>
            <a:xfrm>
              <a:off x="4642485" y="2202656"/>
              <a:ext cx="1440430" cy="220028"/>
            </a:xfrm>
            <a:prstGeom prst="rect">
              <a:avLst/>
            </a:prstGeom>
            <a:noFill/>
            <a:ln>
              <a:noFill/>
            </a:ln>
          </p:spPr>
          <p:txBody>
            <a:bodyPr wrap="none" lIns="0" tIns="0" rIns="0" bIns="0" anchor="t" anchorCtr="0">
              <a:spAutoFit/>
            </a:bodyPr>
            <a:lstStyle/>
            <a:p>
              <a:pPr algn="l"/>
              <a:r>
                <a:rPr lang="en-US" sz="1120" b="1" spc="75" dirty="0">
                  <a:solidFill>
                    <a:schemeClr val="accent2"/>
                  </a:solidFill>
                  <a:latin typeface="+mn-lt"/>
                  <a:ea typeface="+mn-ea"/>
                  <a:cs typeface="+mn-cs"/>
                </a:rPr>
                <a:t>WHY IT HOLDS UP</a:t>
              </a:r>
            </a:p>
          </p:txBody>
        </p:sp>
        <p:sp>
          <p:nvSpPr>
            <p:cNvPr id="20" name="TextBox 20"/>
            <p:cNvSpPr txBox="1"/>
            <p:nvPr/>
          </p:nvSpPr>
          <p:spPr>
            <a:xfrm>
              <a:off x="4639437" y="2556986"/>
              <a:ext cx="1752587"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Trustworthy &amp;</a:t>
              </a:r>
            </a:p>
          </p:txBody>
        </p:sp>
        <p:sp>
          <p:nvSpPr>
            <p:cNvPr id="21" name="TextBox 21"/>
            <p:cNvSpPr txBox="1"/>
            <p:nvPr/>
          </p:nvSpPr>
          <p:spPr>
            <a:xfrm>
              <a:off x="4639437" y="2842736"/>
              <a:ext cx="1549205"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hard to game</a:t>
              </a:r>
            </a:p>
          </p:txBody>
        </p:sp>
        <p:sp>
          <p:nvSpPr>
            <p:cNvPr id="22" name="TextBox 22"/>
            <p:cNvSpPr txBox="1"/>
            <p:nvPr/>
          </p:nvSpPr>
          <p:spPr>
            <a:xfrm>
              <a:off x="4642104" y="3356610"/>
              <a:ext cx="267758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Natural StackOverflow problems,</a:t>
              </a:r>
            </a:p>
          </p:txBody>
        </p:sp>
        <p:sp>
          <p:nvSpPr>
            <p:cNvPr id="23" name="TextBox 23"/>
            <p:cNvSpPr txBox="1"/>
            <p:nvPr/>
          </p:nvSpPr>
          <p:spPr>
            <a:xfrm>
              <a:off x="4642104" y="3585210"/>
              <a:ext cx="257266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judged by executing code against</a:t>
              </a:r>
            </a:p>
          </p:txBody>
        </p:sp>
        <p:sp>
          <p:nvSpPr>
            <p:cNvPr id="24" name="TextBox 24"/>
            <p:cNvSpPr txBox="1"/>
            <p:nvPr/>
          </p:nvSpPr>
          <p:spPr>
            <a:xfrm>
              <a:off x="4642104" y="3813810"/>
              <a:ext cx="299267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tests and surface-form constraints,</a:t>
              </a:r>
            </a:p>
          </p:txBody>
        </p:sp>
        <p:sp>
          <p:nvSpPr>
            <p:cNvPr id="25" name="TextBox 25"/>
            <p:cNvSpPr txBox="1"/>
            <p:nvPr/>
          </p:nvSpPr>
          <p:spPr>
            <a:xfrm>
              <a:off x="4642104" y="4042410"/>
              <a:ext cx="296844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defended by deliberate perturbation.</a:t>
              </a:r>
            </a:p>
          </p:txBody>
        </p:sp>
      </p:grpSp>
      <p:grpSp>
        <p:nvGrpSpPr>
          <p:cNvPr id="36" name="Group 36"/>
          <p:cNvGrpSpPr/>
          <p:nvPr/>
        </p:nvGrpSpPr>
        <p:grpSpPr>
          <a:xfrm>
            <a:off x="8001000" y="1790700"/>
            <a:ext cx="3429000" cy="3105150"/>
            <a:chOff x="8001000" y="1790700"/>
            <a:chExt cx="3429000" cy="3105150"/>
          </a:xfrm>
        </p:grpSpPr>
        <p:sp>
          <p:nvSpPr>
            <p:cNvPr id="27" name="Rectangle 27"/>
            <p:cNvSpPr/>
            <p:nvPr/>
          </p:nvSpPr>
          <p:spPr>
            <a:xfrm>
              <a:off x="8001000" y="1790700"/>
              <a:ext cx="3429000" cy="3105150"/>
            </a:xfrm>
            <a:prstGeom prst="roundRect">
              <a:avLst>
                <a:gd name="adj" fmla="val 3681"/>
              </a:avLst>
            </a:prstGeom>
            <a:solidFill>
              <a:srgbClr val="FBE9E2"/>
            </a:solidFill>
            <a:ln w="9525">
              <a:solidFill>
                <a:srgbClr val="F2C6B4"/>
              </a:solidFill>
            </a:ln>
          </p:spPr>
        </p:sp>
        <p:sp>
          <p:nvSpPr>
            <p:cNvPr id="28" name="Rectangle 28"/>
            <p:cNvSpPr/>
            <p:nvPr/>
          </p:nvSpPr>
          <p:spPr>
            <a:xfrm>
              <a:off x="8001000" y="1790700"/>
              <a:ext cx="3429000" cy="76200"/>
            </a:xfrm>
            <a:prstGeom prst="roundRect">
              <a:avLst>
                <a:gd name="adj" fmla="val 50000"/>
              </a:avLst>
            </a:prstGeom>
            <a:solidFill>
              <a:schemeClr val="accent3"/>
            </a:solidFill>
            <a:ln>
              <a:noFill/>
            </a:ln>
          </p:spPr>
        </p:sp>
        <p:sp>
          <p:nvSpPr>
            <p:cNvPr id="29" name="TextBox 29"/>
            <p:cNvSpPr txBox="1"/>
            <p:nvPr/>
          </p:nvSpPr>
          <p:spPr>
            <a:xfrm>
              <a:off x="8261985" y="2202656"/>
              <a:ext cx="1140787" cy="220028"/>
            </a:xfrm>
            <a:prstGeom prst="rect">
              <a:avLst/>
            </a:prstGeom>
            <a:noFill/>
            <a:ln>
              <a:noFill/>
            </a:ln>
          </p:spPr>
          <p:txBody>
            <a:bodyPr wrap="none" lIns="0" tIns="0" rIns="0" bIns="0" anchor="t" anchorCtr="0">
              <a:spAutoFit/>
            </a:bodyPr>
            <a:lstStyle/>
            <a:p>
              <a:pPr algn="l"/>
              <a:r>
                <a:rPr lang="en-US" sz="1120" b="1" spc="75" dirty="0">
                  <a:solidFill>
                    <a:schemeClr val="accent3"/>
                  </a:solidFill>
                  <a:latin typeface="+mn-lt"/>
                  <a:ea typeface="+mn-ea"/>
                  <a:cs typeface="+mn-cs"/>
                </a:rPr>
                <a:t>WHAT IS NEXT</a:t>
              </a:r>
            </a:p>
          </p:txBody>
        </p:sp>
        <p:sp>
          <p:nvSpPr>
            <p:cNvPr id="30" name="TextBox 30"/>
            <p:cNvSpPr txBox="1"/>
            <p:nvPr/>
          </p:nvSpPr>
          <p:spPr>
            <a:xfrm>
              <a:off x="8248650" y="2404110"/>
              <a:ext cx="1789439" cy="819150"/>
            </a:xfrm>
            <a:prstGeom prst="rect">
              <a:avLst/>
            </a:prstGeom>
            <a:noFill/>
            <a:ln>
              <a:noFill/>
            </a:ln>
          </p:spPr>
          <p:txBody>
            <a:bodyPr wrap="none" lIns="0" tIns="0" rIns="0" bIns="0" anchor="t" anchorCtr="0">
              <a:spAutoFit/>
            </a:bodyPr>
            <a:lstStyle/>
            <a:p>
              <a:pPr algn="l"/>
              <a:r>
                <a:rPr lang="en-US" sz="4200" b="1" dirty="0">
                  <a:solidFill>
                    <a:schemeClr val="accent3"/>
                  </a:solidFill>
                  <a:latin typeface="+mn-lt"/>
                  <a:ea typeface="+mn-ea"/>
                  <a:cs typeface="+mn-cs"/>
                </a:rPr>
                <a:t>43.3%</a:t>
              </a:r>
            </a:p>
          </p:txBody>
        </p:sp>
        <p:sp>
          <p:nvSpPr>
            <p:cNvPr id="31" name="TextBox 31"/>
            <p:cNvSpPr txBox="1"/>
            <p:nvPr/>
          </p:nvSpPr>
          <p:spPr>
            <a:xfrm>
              <a:off x="8260461" y="3046571"/>
              <a:ext cx="175069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is the best so far</a:t>
              </a:r>
            </a:p>
          </p:txBody>
        </p:sp>
        <p:sp>
          <p:nvSpPr>
            <p:cNvPr id="32" name="TextBox 32"/>
            <p:cNvSpPr txBox="1"/>
            <p:nvPr/>
          </p:nvSpPr>
          <p:spPr>
            <a:xfrm>
              <a:off x="8261604" y="3470910"/>
              <a:ext cx="269115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Even the strongest model reaches</a:t>
              </a:r>
            </a:p>
          </p:txBody>
        </p:sp>
        <p:sp>
          <p:nvSpPr>
            <p:cNvPr id="33" name="TextBox 33"/>
            <p:cNvSpPr txBox="1"/>
            <p:nvPr/>
          </p:nvSpPr>
          <p:spPr>
            <a:xfrm>
              <a:off x="8261604" y="3699510"/>
              <a:ext cx="265343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only 43.3% — a clear signal of how</a:t>
              </a:r>
            </a:p>
          </p:txBody>
        </p:sp>
        <p:sp>
          <p:nvSpPr>
            <p:cNvPr id="34" name="TextBox 34"/>
            <p:cNvSpPr txBox="1"/>
            <p:nvPr/>
          </p:nvSpPr>
          <p:spPr>
            <a:xfrm>
              <a:off x="8261604" y="3928110"/>
              <a:ext cx="275844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much room remains for progress in</a:t>
              </a:r>
            </a:p>
          </p:txBody>
        </p:sp>
        <p:sp>
          <p:nvSpPr>
            <p:cNvPr id="35" name="TextBox 35"/>
            <p:cNvSpPr txBox="1"/>
            <p:nvPr/>
          </p:nvSpPr>
          <p:spPr>
            <a:xfrm>
              <a:off x="8261604" y="4156710"/>
              <a:ext cx="238688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data science code generation.</a:t>
              </a:r>
            </a:p>
          </p:txBody>
        </p:sp>
      </p:grpSp>
      <p:grpSp>
        <p:nvGrpSpPr>
          <p:cNvPr id="40" name="Group 40"/>
          <p:cNvGrpSpPr/>
          <p:nvPr/>
        </p:nvGrpSpPr>
        <p:grpSpPr>
          <a:xfrm>
            <a:off x="762000" y="5143500"/>
            <a:ext cx="10668000" cy="1066800"/>
            <a:chOff x="762000" y="5143500"/>
            <a:chExt cx="10668000" cy="1066800"/>
          </a:xfrm>
        </p:grpSpPr>
        <p:sp>
          <p:nvSpPr>
            <p:cNvPr id="37" name="Rectangle 37"/>
            <p:cNvSpPr/>
            <p:nvPr/>
          </p:nvSpPr>
          <p:spPr>
            <a:xfrm>
              <a:off x="762000" y="5143500"/>
              <a:ext cx="10668000" cy="1066800"/>
            </a:xfrm>
            <a:prstGeom prst="roundRect">
              <a:avLst>
                <a:gd name="adj" fmla="val 10714"/>
              </a:avLst>
            </a:prstGeom>
            <a:solidFill>
              <a:schemeClr val="dk1"/>
            </a:solidFill>
            <a:ln>
              <a:noFill/>
            </a:ln>
          </p:spPr>
        </p:sp>
        <p:sp>
          <p:nvSpPr>
            <p:cNvPr id="38" name="TextBox 38"/>
            <p:cNvSpPr txBox="1"/>
            <p:nvPr/>
          </p:nvSpPr>
          <p:spPr>
            <a:xfrm>
              <a:off x="1096518" y="5422582"/>
              <a:ext cx="8777561"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DS-1000 · A Natural and Reliable Benchmark for Data Science Code Generation</a:t>
              </a:r>
            </a:p>
          </p:txBody>
        </p:sp>
        <p:sp>
          <p:nvSpPr>
            <p:cNvPr id="39" name="TextBox 39"/>
            <p:cNvSpPr txBox="1"/>
            <p:nvPr/>
          </p:nvSpPr>
          <p:spPr>
            <a:xfrm>
              <a:off x="1098804" y="5795010"/>
              <a:ext cx="7179544"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Paper: arxiv.org/abs/2211.11501 · Code &amp; data: github.com/HKUNLP/DS-1000 · ICML 2023</a:t>
              </a:r>
            </a:p>
          </p:txBody>
        </p:sp>
      </p:grpSp>
      <p:sp>
        <p:nvSpPr>
          <p:cNvPr id="41" name="TextBox 41"/>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10 / 10</a:t>
            </a:r>
          </a:p>
        </p:txBody>
      </p:sp>
      <p:sp>
        <p:nvSpPr>
          <p:cNvPr id="42" name="cue_s10_c1_ds_1000_gives_community_science_code" title="cue_s10_c1_ds_1000_gives_community_science_code" descr="cue_s10_c1_ds_1000_gives_community_science_code DS-1000 gives the community a data science code benchmark that is realistic, reliably evaluated, and resistant to memorization."/>
          <p:cNvSpPr/>
          <p:nvPr/>
        </p:nvSpPr>
        <p:spPr>
          <a:xfrm>
            <a:off x="762000" y="1790623"/>
            <a:ext cx="3428390" cy="31053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10_c2_because_built_natural_stackoverflow" title="cue_s10_c2_because_built_natural_stackoverflow" descr="cue_s10_c2_because_built_natural_stackoverflow Because it is built from natural StackOverflow problems, judged by executing code against test cases and surface-form constraints, and defended by deliberate perturbation, its scores are trustworthy and hard to game."/>
          <p:cNvSpPr/>
          <p:nvPr/>
        </p:nvSpPr>
        <p:spPr>
          <a:xfrm>
            <a:off x="4381804" y="1790623"/>
            <a:ext cx="3428390" cy="31053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10_c3_because_even_strongest_reaches_only" title="cue_s10_c3_because_even_strongest_reaches_only" descr="cue_s10_c3_because_even_strongest_reaches_only And because even the strongest model reaches only forty-three point three percent, it makes clear how much room remains for progress in data science code generation."/>
          <p:cNvSpPr/>
          <p:nvPr/>
        </p:nvSpPr>
        <p:spPr>
          <a:xfrm>
            <a:off x="8000390" y="1790623"/>
            <a:ext cx="3428390" cy="31053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s1000_video">
  <a:themeElements>
    <a:clrScheme name="ds1000_video">
      <a:dk1>
        <a:srgbClr val="12172A"/>
      </a:dk1>
      <a:lt1>
        <a:srgbClr val="FFFFFF"/>
      </a:lt1>
      <a:dk2>
        <a:srgbClr val="5A6675"/>
      </a:dk2>
      <a:lt2>
        <a:srgbClr val="F3F5FA"/>
      </a:lt2>
      <a:accent1>
        <a:srgbClr val="2453D6"/>
      </a:accent1>
      <a:accent2>
        <a:srgbClr val="0E9E8F"/>
      </a:accent2>
      <a:accent3>
        <a:srgbClr val="E4572E"/>
      </a:accent3>
      <a:accent4>
        <a:srgbClr val="E2E7EF"/>
      </a:accent4>
      <a:accent5>
        <a:srgbClr val="F7F9FC"/>
      </a:accent5>
      <a:accent6>
        <a:srgbClr val="E7EEFF"/>
      </a:accent6>
      <a:hlink>
        <a:srgbClr val="0E9E8F"/>
      </a:hlink>
      <a:folHlink>
        <a:srgbClr val="E4572E"/>
      </a:folHlink>
    </a:clrScheme>
    <a:fontScheme name="ds1000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s1000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s1000_video">
  <a:themeElements>
    <a:clrScheme name="ds1000_video">
      <a:dk1>
        <a:srgbClr val="12172A"/>
      </a:dk1>
      <a:lt1>
        <a:srgbClr val="FFFFFF"/>
      </a:lt1>
      <a:dk2>
        <a:srgbClr val="5A6675"/>
      </a:dk2>
      <a:lt2>
        <a:srgbClr val="F3F5FA"/>
      </a:lt2>
      <a:accent1>
        <a:srgbClr val="2453D6"/>
      </a:accent1>
      <a:accent2>
        <a:srgbClr val="0E9E8F"/>
      </a:accent2>
      <a:accent3>
        <a:srgbClr val="E4572E"/>
      </a:accent3>
      <a:accent4>
        <a:srgbClr val="E2E7EF"/>
      </a:accent4>
      <a:accent5>
        <a:srgbClr val="F7F9FC"/>
      </a:accent5>
      <a:accent6>
        <a:srgbClr val="E7EEFF"/>
      </a:accent6>
      <a:hlink>
        <a:srgbClr val="0E9E8F"/>
      </a:hlink>
      <a:folHlink>
        <a:srgbClr val="E4572E"/>
      </a:folHlink>
    </a:clrScheme>
    <a:fontScheme name="ds1000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s1000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2026-07-15T08:25:36Z</dcterms:created>
  <dcterms:modified xsi:type="dcterms:W3CDTF">2026-07-15T08:25:36Z</dcterms:modified>
  <cp:category/>
  <cp:contentStatus/>
</cp:coreProperties>
</file>
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0804961" cy="7523024"/>
          </a:xfrm>
          <a:prstGeom prst="roundRect">
            <a:avLst>
              <a:gd name="adj" fmla="val 709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6254531"/>
            <a:ext cx="13506133" cy="23817421"/>
          </a:xfrm>
          <a:prstGeom prst="roundRect">
            <a:avLst>
              <a:gd name="adj" fmla="val 394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6254531"/>
            <a:ext cx="13506271" cy="10865386"/>
          </a:xfrm>
          <a:prstGeom prst="roundRect">
            <a:avLst>
              <a:gd name="adj" fmla="val 490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6254531"/>
            <a:ext cx="10804962" cy="6379131"/>
          </a:xfrm>
          <a:prstGeom prst="roundRect">
            <a:avLst>
              <a:gd name="adj" fmla="val 836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2965509"/>
            <a:ext cx="10804962" cy="11535331"/>
          </a:xfrm>
          <a:prstGeom prst="roundRect">
            <a:avLst>
              <a:gd name="adj" fmla="val 493"/>
            </a:avLst>
          </a:prstGeom>
          <a:solidFill>
            <a:srgbClr val="ECF3EE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2965509"/>
            <a:ext cx="53340" cy="11535331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4109402"/>
            <a:ext cx="10804961" cy="15962550"/>
          </a:xfrm>
          <a:prstGeom prst="roundRect">
            <a:avLst>
              <a:gd name="adj" fmla="val 493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816421" y="17451764"/>
            <a:ext cx="13506271" cy="12620188"/>
          </a:xfrm>
          <a:prstGeom prst="roundRect">
            <a:avLst>
              <a:gd name="adj" fmla="val 422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49412" y="24832687"/>
            <a:ext cx="10804962" cy="5239265"/>
          </a:xfrm>
          <a:prstGeom prst="roundRect">
            <a:avLst>
              <a:gd name="adj" fmla="val 1018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0765" y="3958133"/>
            <a:ext cx="4347210" cy="1466850"/>
          </a:xfrm>
          <a:prstGeom prst="rect">
            <a:avLst/>
          </a:prstGeom>
        </p:spPr>
      </p:pic>
      <p:pic>
        <p:nvPicPr>
          <p:cNvPr id="13" name="Picture 12" descr="institute-of-automation-chinese-academy-of-sci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4949" y="3958178"/>
            <a:ext cx="1634232" cy="1466760"/>
          </a:xfrm>
          <a:prstGeom prst="rect">
            <a:avLst/>
          </a:prstGeom>
        </p:spPr>
      </p:pic>
      <p:pic>
        <p:nvPicPr>
          <p:cNvPr id="14" name="Picture 13" descr="beijing-jiaotong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6155" y="3958133"/>
            <a:ext cx="1466850" cy="1466850"/>
          </a:xfrm>
          <a:prstGeom prst="rect">
            <a:avLst/>
          </a:prstGeom>
        </p:spPr>
      </p:pic>
      <p:pic>
        <p:nvPicPr>
          <p:cNvPr id="15" name="Picture 14" descr="tsinghua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9980" y="3958135"/>
            <a:ext cx="4641691" cy="1466847"/>
          </a:xfrm>
          <a:prstGeom prst="rect">
            <a:avLst/>
          </a:prstGeom>
        </p:spPr>
      </p:pic>
      <p:pic>
        <p:nvPicPr>
          <p:cNvPr id="16" name="Picture 15" descr="university-of-science-and-technology-of-chi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88645" y="3958133"/>
            <a:ext cx="1466850" cy="14668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39991" y="6642635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7602755"/>
            <a:ext cx="1002875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71672" y="6642635"/>
            <a:ext cx="12729925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71672" y="7602755"/>
            <a:ext cx="12729925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204525" y="6642635"/>
            <a:ext cx="127300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204525" y="7602755"/>
            <a:ext cx="1273006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137516" y="6642635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7602755"/>
            <a:ext cx="10028754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37516" y="7949465"/>
            <a:ext cx="10028754" cy="4305538"/>
          </a:xfrm>
          <a:prstGeom prst="roundRect">
            <a:avLst>
              <a:gd name="adj" fmla="val 1651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9991" y="11991220"/>
            <a:ext cx="10028753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9991" y="11991220"/>
            <a:ext cx="124460" cy="1481019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81966" y="13353613"/>
            <a:ext cx="998430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81966" y="14313733"/>
            <a:ext cx="9984304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14497506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5457626"/>
            <a:ext cx="1002875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271672" y="15724048"/>
            <a:ext cx="12729925" cy="2868970"/>
          </a:xfrm>
          <a:prstGeom prst="roundRect">
            <a:avLst>
              <a:gd name="adj" fmla="val 7853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204525" y="17839868"/>
            <a:ext cx="127300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204525" y="18799988"/>
            <a:ext cx="1273006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181966" y="19946242"/>
            <a:ext cx="9984304" cy="4184829"/>
          </a:xfrm>
          <a:prstGeom prst="roundRect">
            <a:avLst>
              <a:gd name="adj" fmla="val 4361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181966" y="19946242"/>
            <a:ext cx="124460" cy="4184829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204525" y="24883526"/>
            <a:ext cx="12730063" cy="2387521"/>
          </a:xfrm>
          <a:prstGeom prst="roundRect">
            <a:avLst>
              <a:gd name="adj" fmla="val 8737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27307857"/>
            <a:ext cx="12730063" cy="2312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204525" y="27307857"/>
            <a:ext cx="12730063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4187" y="8171715"/>
            <a:ext cx="4196218" cy="39085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4187" y="8171715"/>
            <a:ext cx="11557" cy="3908544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6204525" y="11490602"/>
            <a:ext cx="4879915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ASVspoof2019LA (S)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240849" y="11490602"/>
            <a:ext cx="4527093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ASVspoof2015 (T1)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204525" y="12466835"/>
            <a:ext cx="3345140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VCC2020 (T2)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706073" y="12466835"/>
            <a:ext cx="3708797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In-the-Wild (T3)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71279" y="12466835"/>
            <a:ext cx="3319998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MSP-Podcast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204525" y="13443069"/>
            <a:ext cx="2556291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IEMOCAP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917225" y="13443069"/>
            <a:ext cx="2654915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CLEAR-10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271672" y="18994457"/>
            <a:ext cx="12729925" cy="8277007"/>
          </a:xfrm>
          <a:prstGeom prst="roundRect">
            <a:avLst>
              <a:gd name="adj" fmla="val 42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1721" y="18994457"/>
            <a:ext cx="12729827" cy="8277007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0671472" y="20102651"/>
            <a:ext cx="2588101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NO REPLAY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9991" y="21929129"/>
            <a:ext cx="4495561" cy="4365685"/>
          </a:xfrm>
          <a:prstGeom prst="roundRect">
            <a:avLst>
              <a:gd name="adj" fmla="val 4778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73043" y="21929129"/>
            <a:ext cx="4495701" cy="4365685"/>
          </a:xfrm>
          <a:prstGeom prst="roundRect">
            <a:avLst>
              <a:gd name="adj" fmla="val 4778"/>
            </a:avLst>
          </a:prstGeom>
          <a:solidFill>
            <a:srgbClr val="F2F5F3"/>
          </a:solidFill>
          <a:ln w="8890">
            <a:solidFill>
              <a:srgbClr val="2D5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50177" y="25220791"/>
            <a:ext cx="3003431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50177" y="25718492"/>
            <a:ext cx="3003431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2271672" y="7940575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271672" y="10592435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271672" y="13244294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204525" y="21069577"/>
            <a:ext cx="6985039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204525" y="21767165"/>
            <a:ext cx="6985039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189564" y="21069577"/>
            <a:ext cx="3220264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89564" y="21767165"/>
            <a:ext cx="322026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09828" y="21069577"/>
            <a:ext cx="2524760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409828" y="21767165"/>
            <a:ext cx="252476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204525" y="21776055"/>
            <a:ext cx="6985039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204525" y="22789237"/>
            <a:ext cx="6985039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189564" y="21776055"/>
            <a:ext cx="3220264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189564" y="22789237"/>
            <a:ext cx="322026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409828" y="21776055"/>
            <a:ext cx="2524760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409828" y="22789237"/>
            <a:ext cx="252476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204525" y="22798127"/>
            <a:ext cx="6985039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204525" y="23811309"/>
            <a:ext cx="6985039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189564" y="22798127"/>
            <a:ext cx="3220264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189564" y="23811309"/>
            <a:ext cx="322026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409828" y="22798127"/>
            <a:ext cx="2524760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409828" y="23811309"/>
            <a:ext cx="252476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204525" y="23820199"/>
            <a:ext cx="6985039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204525" y="24833381"/>
            <a:ext cx="6985039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3189564" y="23820199"/>
            <a:ext cx="3220264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3189564" y="24833381"/>
            <a:ext cx="322026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409828" y="23820199"/>
            <a:ext cx="2524760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409828" y="24833381"/>
            <a:ext cx="252476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1773832" y="25925879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92365" y="26044412"/>
            <a:ext cx="2844708" cy="2844708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45448180" y="25925879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6713" y="26044412"/>
            <a:ext cx="2844708" cy="2844708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42669638" y="29149893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2D5F3E"/>
                </a:solidFill>
                <a:latin typeface="Arial"/>
              </a:rPr>
              <a:t>Paper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390103" y="29149893"/>
            <a:ext cx="1197789" cy="541595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2D5F3E"/>
                </a:solidFill>
                <a:latin typeface="Arial"/>
              </a:rPr>
              <a:t>Code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2D5F3E"/>
                </a:solidFill>
                <a:latin typeface="Arial"/>
              </a:rPr>
              <a:t>Do You Remember? Overcoming Catastrophic Forgetting for Fake Audio Detection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Xiaohui Zhang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4106" b="0">
                <a:solidFill>
                  <a:srgbClr val="1B2331"/>
                </a:solidFill>
                <a:latin typeface="Arial"/>
              </a:rPr>
              <a:t>   Jiangyan Yi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   Jianhua Tao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   Chenglong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1,4</a:t>
            </a:r>
            <a:r>
              <a:rPr sz="4106" b="0">
                <a:solidFill>
                  <a:srgbClr val="1B2331"/>
                </a:solidFill>
                <a:latin typeface="Arial"/>
              </a:rPr>
              <a:t>   Chuyuan Zhang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Institute of Automation, CAS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Beijing Jiaotong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Tsinghua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USTC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91" y="6642635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Problem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71672" y="6642635"/>
            <a:ext cx="13111822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Method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204525" y="6642635"/>
            <a:ext cx="1311196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Dataset / Benchmark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137516" y="6642635"/>
            <a:ext cx="10329616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Headline Numbers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91" y="7945020"/>
            <a:ext cx="1032961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Fake audio detectors are accurate on their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training set but degrade </a:t>
            </a:r>
            <a:r>
              <a:rPr sz="4106" b="1">
                <a:solidFill>
                  <a:srgbClr val="111111"/>
                </a:solidFill>
                <a:latin typeface="Arial"/>
              </a:rPr>
              <a:t>sharply</a:t>
            </a:r>
            <a:r>
              <a:rPr sz="4106" b="0">
                <a:solidFill>
                  <a:srgbClr val="1C1C1C"/>
                </a:solidFill>
                <a:latin typeface="Arial"/>
              </a:rPr>
              <a:t> on audio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from another dataset. Naively </a:t>
            </a:r>
            <a:r>
              <a:rPr sz="4106" b="1">
                <a:solidFill>
                  <a:srgbClr val="111111"/>
                </a:solidFill>
                <a:latin typeface="Arial"/>
              </a:rPr>
              <a:t>fine-tuning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 new data makes the network forget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old —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catastrophic forgetting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204525" y="8030309"/>
            <a:ext cx="13111964" cy="35763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Four fake-audio sets trained </a:t>
            </a:r>
            <a:r>
              <a:rPr sz="4106" b="1">
                <a:solidFill>
                  <a:srgbClr val="111111"/>
                </a:solidFill>
                <a:latin typeface="Arial"/>
              </a:rPr>
              <a:t>in sequence</a:t>
            </a:r>
            <a:r>
              <a:rPr sz="4106" b="0">
                <a:solidFill>
                  <a:srgbClr val="1C1C1C"/>
                </a:solidFill>
                <a:latin typeface="Arial"/>
              </a:rPr>
              <a:t> — source </a:t>
            </a:r>
            <a:r>
              <a:rPr sz="4106" b="1">
                <a:solidFill>
                  <a:srgbClr val="111111"/>
                </a:solidFill>
                <a:latin typeface="Arial"/>
              </a:rPr>
              <a:t>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then fine-tuned S→T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→T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2</a:t>
            </a:r>
            <a:r>
              <a:rPr sz="4106" b="0">
                <a:solidFill>
                  <a:srgbClr val="1C1C1C"/>
                </a:solidFill>
                <a:latin typeface="Arial"/>
              </a:rPr>
              <a:t>→T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4106" b="0">
                <a:solidFill>
                  <a:srgbClr val="1C1C1C"/>
                </a:solidFill>
                <a:latin typeface="Arial"/>
              </a:rPr>
              <a:t>, each a distinct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condition; scored by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Equal Error Rate (EER, %)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over Wav2vec 2.0 features.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9991" y="11991220"/>
            <a:ext cx="10329615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Prior fixes replay old samples —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unavailable for a released model.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181966" y="13353613"/>
            <a:ext cx="1028383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Takeaway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204525" y="14352627"/>
            <a:ext cx="1311196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Breadth is stress-tested beyond audio: 4-class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speech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emotion recognition</a:t>
            </a:r>
            <a:r>
              <a:rPr sz="4106" b="0">
                <a:solidFill>
                  <a:srgbClr val="1C1C1C"/>
                </a:solidFill>
                <a:latin typeface="Arial"/>
              </a:rPr>
              <a:t> (blue) and 10-experience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image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recognition</a:t>
            </a:r>
            <a:r>
              <a:rPr sz="4106" b="0">
                <a:solidFill>
                  <a:srgbClr val="1C1C1C"/>
                </a:solidFill>
                <a:latin typeface="Arial"/>
              </a:rPr>
              <a:t> (gray).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91" y="14497506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Motivation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181966" y="14899917"/>
            <a:ext cx="10283833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Adapt the weight-update direction to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genuine-vs-fake ratio</a:t>
            </a:r>
            <a:r>
              <a:rPr sz="4106" b="0">
                <a:solidFill>
                  <a:srgbClr val="1C1C1C"/>
                </a:solidFill>
                <a:latin typeface="Arial"/>
              </a:rPr>
              <a:t> and regularize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against the old inference distribution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a detector learns new datasets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without forgetting the old</a:t>
            </a:r>
            <a:r>
              <a:rPr sz="4106" b="0">
                <a:solidFill>
                  <a:srgbClr val="1C1C1C"/>
                </a:solidFill>
                <a:latin typeface="Arial"/>
              </a:rPr>
              <a:t>, keeping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none of the past data.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9991" y="16085204"/>
            <a:ext cx="10329615" cy="6087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Weight-modification methods like </a:t>
            </a:r>
            <a:r>
              <a:rPr sz="4106" b="1">
                <a:solidFill>
                  <a:srgbClr val="111111"/>
                </a:solidFill>
                <a:latin typeface="Arial"/>
              </a:rPr>
              <a:t>OWM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avoid forgetting without replay, but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constrain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every</a:t>
            </a:r>
            <a:r>
              <a:rPr sz="4106" b="0">
                <a:solidFill>
                  <a:srgbClr val="1C1C1C"/>
                </a:solidFill>
                <a:latin typeface="Arial"/>
              </a:rPr>
              <a:t> input the same way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ignoring a key regularity of fake audio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detection: genuine speech looks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similar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across datasets</a:t>
            </a:r>
            <a:r>
              <a:rPr sz="4106" b="0">
                <a:solidFill>
                  <a:srgbClr val="1C1C1C"/>
                </a:solidFill>
                <a:latin typeface="Arial"/>
              </a:rPr>
              <a:t> while the fake speech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varies widely.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6204525" y="17839868"/>
            <a:ext cx="1311196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Key Results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204525" y="19174618"/>
            <a:ext cx="13111964" cy="18370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Four-dataset sequence (S→T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→T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2</a:t>
            </a:r>
            <a:r>
              <a:rPr sz="4106" b="0">
                <a:solidFill>
                  <a:srgbClr val="1C1C1C"/>
                </a:solidFill>
                <a:latin typeface="Arial"/>
              </a:rPr>
              <a:t>→T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4106" b="0">
                <a:solidFill>
                  <a:srgbClr val="1C1C1C"/>
                </a:solidFill>
                <a:latin typeface="Arial"/>
              </a:rPr>
              <a:t>) at best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η = 0.50 — </a:t>
            </a:r>
            <a:r>
              <a:rPr sz="4106" b="1">
                <a:solidFill>
                  <a:srgbClr val="111111"/>
                </a:solidFill>
                <a:latin typeface="Arial"/>
              </a:rPr>
              <a:t>EER (%), lower is better</a:t>
            </a:r>
            <a:r>
              <a:rPr sz="4106" b="0">
                <a:solidFill>
                  <a:srgbClr val="1C1C1C"/>
                </a:solidFill>
                <a:latin typeface="Arial"/>
              </a:rPr>
              <a:t>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204525" y="24883526"/>
            <a:ext cx="13111964" cy="2745649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Forgetting cut to </a:t>
            </a:r>
            <a:r>
              <a:rPr sz="4353" b="1">
                <a:solidFill>
                  <a:srgbClr val="111111"/>
                </a:solidFill>
                <a:latin typeface="Arial"/>
              </a:rPr>
              <a:t>~1/10</a:t>
            </a:r>
            <a:r>
              <a:rPr sz="4106" b="1">
                <a:solidFill>
                  <a:srgbClr val="FFFFFF"/>
                </a:solidFill>
                <a:latin typeface="Arial"/>
              </a:rPr>
              <a:t> of fine-tuning and new-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dataset EER roughly </a:t>
            </a:r>
            <a:r>
              <a:rPr sz="4106" b="1">
                <a:solidFill>
                  <a:srgbClr val="111111"/>
                </a:solidFill>
                <a:latin typeface="Arial"/>
              </a:rPr>
              <a:t>halved</a:t>
            </a:r>
            <a:r>
              <a:rPr sz="4106" b="1">
                <a:solidFill>
                  <a:srgbClr val="FFFFFF"/>
                </a:solidFill>
                <a:latin typeface="Arial"/>
              </a:rPr>
              <a:t> — best on both old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and new sets vs EWC, LwF, OWM &amp; DFWF.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9991" y="26584572"/>
            <a:ext cx="1032961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Yet some sets record genuine audio under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conditions so different that a purely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adaptive rule backfires — motivating 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extra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regularization safeguard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204525" y="27307857"/>
            <a:ext cx="13111964" cy="2659387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RAWM stays low across all four datasets even as the baseline collapses to 91.5 EER on T</a:t>
            </a:r>
            <a:r>
              <a:rPr sz="5289" b="0" i="1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778" b="0" i="1">
                <a:solidFill>
                  <a:srgbClr val="1C1C1C"/>
                </a:solidFill>
                <a:latin typeface="Arial"/>
              </a:rPr>
              <a:t>, and holds the source at just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1.508</a:t>
            </a:r>
            <a:r>
              <a:rPr sz="3778" b="0" i="1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233815" y="7940575"/>
            <a:ext cx="12120815" cy="26898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Start from OWM's projector </a:t>
            </a:r>
            <a:r>
              <a:rPr sz="4106" b="1">
                <a:solidFill>
                  <a:srgbClr val="111111"/>
                </a:solidFill>
                <a:latin typeface="Arial"/>
              </a:rPr>
              <a:t>P</a:t>
            </a:r>
            <a:r>
              <a:rPr sz="4106" b="0">
                <a:solidFill>
                  <a:srgbClr val="1C1C1C"/>
                </a:solidFill>
                <a:latin typeface="Arial"/>
              </a:rPr>
              <a:t> (orthogonal to past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inputs); add a projector </a:t>
            </a:r>
            <a:r>
              <a:rPr sz="4106" b="1">
                <a:solidFill>
                  <a:srgbClr val="111111"/>
                </a:solidFill>
                <a:latin typeface="Arial"/>
              </a:rPr>
              <a:t>Q</a:t>
            </a:r>
            <a:r>
              <a:rPr sz="4106" b="0">
                <a:solidFill>
                  <a:srgbClr val="1C1C1C"/>
                </a:solidFill>
                <a:latin typeface="Arial"/>
              </a:rPr>
              <a:t> ⊥ P, scaled by </a:t>
            </a:r>
            <a:r>
              <a:rPr sz="4106" b="1">
                <a:solidFill>
                  <a:srgbClr val="111111"/>
                </a:solidFill>
                <a:latin typeface="Arial"/>
              </a:rPr>
              <a:t>β</a:t>
            </a:r>
            <a:r>
              <a:rPr sz="4106" b="0">
                <a:solidFill>
                  <a:srgbClr val="1C1C1C"/>
                </a:solidFill>
                <a:latin typeface="Arial"/>
              </a:rPr>
              <a:t>, the batch's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genuine-to-fake ratio.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233815" y="10592435"/>
            <a:ext cx="12120815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Combine into direction </a:t>
            </a:r>
            <a:r>
              <a:rPr sz="4106" b="1">
                <a:solidFill>
                  <a:srgbClr val="111111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; update </a:t>
            </a:r>
            <a:r>
              <a:rPr sz="4106" b="1">
                <a:solidFill>
                  <a:srgbClr val="111111"/>
                </a:solidFill>
                <a:latin typeface="Arial"/>
              </a:rPr>
              <a:t>W ← W + R·G</a:t>
            </a:r>
            <a:r>
              <a:rPr sz="4106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genuine-heavy batch preserves old knowledge, else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learns new.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233815" y="13244294"/>
            <a:ext cx="12120815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Regularize:</a:t>
            </a:r>
            <a:r>
              <a:rPr sz="4106" b="0">
                <a:solidFill>
                  <a:srgbClr val="1C1C1C"/>
                </a:solidFill>
                <a:latin typeface="Arial"/>
              </a:rPr>
              <a:t> a frozen teacher makes the student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match softened outputs, keeping the old distribution.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 replay.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671472" y="20949840"/>
            <a:ext cx="940364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Practical for released detectors that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can't reach their original data — and,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being general, it transfers to speech-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emotion &amp; image recognition.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65847" y="21929129"/>
            <a:ext cx="800209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2D5F3E"/>
                </a:solidFill>
                <a:latin typeface="Arial"/>
              </a:rPr>
              <a:t>vs.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650177" y="25220791"/>
            <a:ext cx="3093533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2D5F3E"/>
                </a:solidFill>
                <a:latin typeface="Arial"/>
              </a:rPr>
              <a:t>Scan to Read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780902" y="27421066"/>
            <a:ext cx="12062807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1 —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RAWM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finds weights strong on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both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old (blue) and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new (green) data via a projector orthogonal to OWM's P.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383380" y="8508146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10×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383380" y="9883040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less forgetting than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fine-tuning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383380" y="10925948"/>
            <a:ext cx="4910137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new-dataset EER roughly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halved — zero replayed data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83493" y="22146517"/>
            <a:ext cx="4128813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OWM (UNIFORM)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6546" y="22146517"/>
            <a:ext cx="4128955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RAWM (ADAPTIVE)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83493" y="22791876"/>
            <a:ext cx="412881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One update rule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for genuine &amp;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fake — wastes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shared structure.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16546" y="22791876"/>
            <a:ext cx="412895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Steer the update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the genuine-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to-fake ratio per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batch.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202441" y="8171715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0.50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424399" y="8305065"/>
            <a:ext cx="257088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optimal η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weight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202441" y="9419232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0.92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424399" y="9552582"/>
            <a:ext cx="257088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few-sample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EER, old set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202441" y="10666749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54.2%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903626" y="10800099"/>
            <a:ext cx="2077282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IEMOCAP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accuracy,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best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6204525" y="21069577"/>
            <a:ext cx="7194590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EVAL SET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89564" y="21069577"/>
            <a:ext cx="3316871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NAÏVE FT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409828" y="21069577"/>
            <a:ext cx="2600502" cy="81244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RAWM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204525" y="21776055"/>
            <a:ext cx="7194590" cy="117538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ASVspoof2015 (T</a:t>
            </a:r>
            <a:r>
              <a:rPr sz="5461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3901" b="0">
                <a:solidFill>
                  <a:srgbClr val="1C1C1C"/>
                </a:solidFill>
                <a:latin typeface="Arial"/>
              </a:rPr>
              <a:t>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89564" y="21776055"/>
            <a:ext cx="3316871" cy="117538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24.5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409828" y="21776055"/>
            <a:ext cx="2600502" cy="117538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0.641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04525" y="22798127"/>
            <a:ext cx="7194590" cy="117538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VCC2020 (T</a:t>
            </a:r>
            <a:r>
              <a:rPr sz="5461" b="0" baseline="-25000">
                <a:solidFill>
                  <a:srgbClr val="1C1C1C"/>
                </a:solidFill>
                <a:latin typeface="Arial"/>
              </a:rPr>
              <a:t>2</a:t>
            </a:r>
            <a:r>
              <a:rPr sz="3901" b="0">
                <a:solidFill>
                  <a:srgbClr val="1C1C1C"/>
                </a:solidFill>
                <a:latin typeface="Arial"/>
              </a:rPr>
              <a:t>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89564" y="22798127"/>
            <a:ext cx="3316871" cy="117538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46.5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409828" y="22798127"/>
            <a:ext cx="2600502" cy="117538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3.850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204525" y="23820199"/>
            <a:ext cx="7194590" cy="117538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In-the-Wild (T</a:t>
            </a:r>
            <a:r>
              <a:rPr sz="5461" b="0" baseline="-25000">
                <a:solidFill>
                  <a:srgbClr val="1C1C1C"/>
                </a:solidFill>
                <a:latin typeface="Arial"/>
              </a:rPr>
              <a:t>3</a:t>
            </a:r>
            <a:r>
              <a:rPr sz="3901" b="0">
                <a:solidFill>
                  <a:srgbClr val="1C1C1C"/>
                </a:solidFill>
                <a:latin typeface="Arial"/>
              </a:rPr>
              <a:t>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189564" y="23820199"/>
            <a:ext cx="3316871" cy="117538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91.5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409828" y="23820199"/>
            <a:ext cx="2600502" cy="117538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3.163</a:t>
            </a:r>
          </a:p>
        </p:txBody>
      </p:sp>
      <p:pic>
        <p:nvPicPr>
          <p:cNvPr id="141" name="Picture 140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74778" y="16363711"/>
            <a:ext cx="11923713" cy="15896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
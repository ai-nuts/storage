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414871"/>
          </a:xfrm>
          <a:prstGeom prst="roundRect">
            <a:avLst>
              <a:gd name="adj" fmla="val 4165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588212"/>
            <a:ext cx="16349682" cy="6790849"/>
          </a:xfrm>
          <a:prstGeom prst="roundRect">
            <a:avLst>
              <a:gd name="adj" fmla="val 2443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4588212"/>
            <a:ext cx="16349682" cy="17232431"/>
          </a:xfrm>
          <a:prstGeom prst="roundRect">
            <a:avLst>
              <a:gd name="adj" fmla="val 101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4588212"/>
            <a:ext cx="16349821" cy="11191121"/>
          </a:xfrm>
          <a:prstGeom prst="roundRect">
            <a:avLst>
              <a:gd name="adj" fmla="val 1482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1710908"/>
            <a:ext cx="16349682" cy="18361044"/>
          </a:xfrm>
          <a:prstGeom prst="roundRect">
            <a:avLst>
              <a:gd name="adj" fmla="val 101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6111180"/>
            <a:ext cx="16349821" cy="6050062"/>
          </a:xfrm>
          <a:prstGeom prst="roundRect">
            <a:avLst>
              <a:gd name="adj" fmla="val 2742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428289" y="22152490"/>
            <a:ext cx="16349682" cy="7919462"/>
          </a:xfrm>
          <a:prstGeom prst="roundRect">
            <a:avLst>
              <a:gd name="adj" fmla="val 209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04691" y="22493089"/>
            <a:ext cx="16349821" cy="7578863"/>
          </a:xfrm>
          <a:prstGeom prst="roundRect">
            <a:avLst>
              <a:gd name="adj" fmla="val 2189"/>
            </a:avLst>
          </a:prstGeom>
          <a:solidFill>
            <a:srgbClr val="F7EDEE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04691" y="22493089"/>
            <a:ext cx="53340" cy="7578863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9991" y="4976316"/>
            <a:ext cx="1557347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91" y="5886569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816393" y="4976316"/>
            <a:ext cx="1557347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16393" y="5886569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92795" y="4976316"/>
            <a:ext cx="1557361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92795" y="5886569"/>
            <a:ext cx="15573613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91" y="9509938"/>
            <a:ext cx="1557347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9509938"/>
            <a:ext cx="124460" cy="1481019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592795" y="10543401"/>
            <a:ext cx="15573613" cy="2632273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12099012"/>
            <a:ext cx="1557347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13009264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592795" y="13702545"/>
            <a:ext cx="1557361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592795" y="13702545"/>
            <a:ext cx="15573613" cy="11557"/>
          </a:xfrm>
          <a:prstGeom prst="rect">
            <a:avLst/>
          </a:prstGeom>
          <a:solidFill>
            <a:srgbClr val="D8B3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9991" y="15120223"/>
            <a:ext cx="15573474" cy="2672417"/>
          </a:xfrm>
          <a:prstGeom prst="roundRect">
            <a:avLst>
              <a:gd name="adj" fmla="val 6830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9991" y="15120223"/>
            <a:ext cx="124460" cy="2672417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592795" y="16499284"/>
            <a:ext cx="1557361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592795" y="17409537"/>
            <a:ext cx="15573613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592795" y="17747357"/>
            <a:ext cx="15573613" cy="4086066"/>
          </a:xfrm>
          <a:prstGeom prst="roundRect">
            <a:avLst>
              <a:gd name="adj" fmla="val 1740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816393" y="22540595"/>
            <a:ext cx="1557347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816393" y="23450847"/>
            <a:ext cx="1557347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637245" y="22881193"/>
            <a:ext cx="15529163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637245" y="23791445"/>
            <a:ext cx="15529163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816393" y="27357863"/>
            <a:ext cx="15573474" cy="2325985"/>
          </a:xfrm>
          <a:prstGeom prst="roundRect">
            <a:avLst>
              <a:gd name="adj" fmla="val 896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637245" y="27414815"/>
            <a:ext cx="15529163" cy="2346821"/>
          </a:xfrm>
          <a:prstGeom prst="roundRect">
            <a:avLst>
              <a:gd name="adj" fmla="val 8889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it-media-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9308" y="2573252"/>
            <a:ext cx="2081510" cy="113789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17816393" y="8879582"/>
            <a:ext cx="4704338" cy="3441402"/>
          </a:xfrm>
          <a:prstGeom prst="roundRect">
            <a:avLst>
              <a:gd name="adj" fmla="val 7577"/>
            </a:avLst>
          </a:prstGeom>
          <a:solidFill>
            <a:srgbClr val="F6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3250822" y="8879582"/>
            <a:ext cx="4704477" cy="3441402"/>
          </a:xfrm>
          <a:prstGeom prst="roundRect">
            <a:avLst>
              <a:gd name="adj" fmla="val 7577"/>
            </a:avLst>
          </a:prstGeom>
          <a:solidFill>
            <a:srgbClr val="F6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685390" y="8879582"/>
            <a:ext cx="4704477" cy="3441402"/>
          </a:xfrm>
          <a:prstGeom prst="roundRect">
            <a:avLst>
              <a:gd name="adj" fmla="val 7577"/>
            </a:avLst>
          </a:prstGeom>
          <a:solidFill>
            <a:srgbClr val="F6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7825839" y="12644635"/>
            <a:ext cx="15554583" cy="6952536"/>
          </a:xfrm>
          <a:prstGeom prst="roundRect">
            <a:avLst>
              <a:gd name="adj" fmla="val 51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figur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5939" y="12644635"/>
            <a:ext cx="15554382" cy="6952536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529496" y="15276631"/>
            <a:ext cx="2294454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SYMPTOM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84576" y="17969607"/>
            <a:ext cx="6635968" cy="3689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284576" y="17969607"/>
            <a:ext cx="11557" cy="3689072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63327" y="18053367"/>
            <a:ext cx="15526663" cy="10351016"/>
          </a:xfrm>
          <a:prstGeom prst="roundRect">
            <a:avLst>
              <a:gd name="adj" fmla="val 34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ig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396" y="18053367"/>
            <a:ext cx="15526524" cy="10351016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7816393" y="25561805"/>
            <a:ext cx="1767999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SFEW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740800" y="25561805"/>
            <a:ext cx="1349197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MMI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246405" y="25561805"/>
            <a:ext cx="1792863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DISFA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195676" y="25561805"/>
            <a:ext cx="2360156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FER2013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712241" y="25561805"/>
            <a:ext cx="1694239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FERA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562889" y="25561805"/>
            <a:ext cx="1386701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CK+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105998" y="25561805"/>
            <a:ext cx="2186802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MultiPie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816393" y="26538039"/>
            <a:ext cx="5242183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DFDC · 128,154 videos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214984" y="26538039"/>
            <a:ext cx="1250990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DDI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622382" y="26538039"/>
            <a:ext cx="3566974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Fitzpatrick 17k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592795" y="7176730"/>
            <a:ext cx="15573613" cy="945118"/>
          </a:xfrm>
          <a:prstGeom prst="rect">
            <a:avLst/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8155324" y="9046408"/>
            <a:ext cx="842189" cy="842189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3589753" y="9046408"/>
            <a:ext cx="842189" cy="842189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9024322" y="9046408"/>
            <a:ext cx="842188" cy="842189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592795" y="6470253"/>
            <a:ext cx="5682933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592795" y="7167840"/>
            <a:ext cx="5682933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0275728" y="6470253"/>
            <a:ext cx="5683905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275728" y="7167840"/>
            <a:ext cx="568390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959633" y="6470253"/>
            <a:ext cx="4206775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959633" y="7167840"/>
            <a:ext cx="420677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4592795" y="7176730"/>
            <a:ext cx="568293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592795" y="8112958"/>
            <a:ext cx="5682933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0275728" y="7176730"/>
            <a:ext cx="568390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0275728" y="8112958"/>
            <a:ext cx="568390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959633" y="7176730"/>
            <a:ext cx="420677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959633" y="8112958"/>
            <a:ext cx="420677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4592795" y="8121848"/>
            <a:ext cx="568293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592795" y="9058076"/>
            <a:ext cx="5682933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0275728" y="8121848"/>
            <a:ext cx="568390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0275728" y="9058076"/>
            <a:ext cx="568390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959633" y="8121848"/>
            <a:ext cx="420677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5959633" y="9058076"/>
            <a:ext cx="420677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592795" y="9066966"/>
            <a:ext cx="568293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592795" y="10003194"/>
            <a:ext cx="5682933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0275728" y="9066966"/>
            <a:ext cx="568390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0275728" y="10003194"/>
            <a:ext cx="568390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959633" y="9066966"/>
            <a:ext cx="420677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959633" y="10003194"/>
            <a:ext cx="420677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15581" y="1007487"/>
            <a:ext cx="44345820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8F2437"/>
                </a:solidFill>
                <a:latin typeface="Arial"/>
              </a:rPr>
              <a:t>Identifying the Context Shift between Test Benchmarks and Production Data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15581" y="2363350"/>
            <a:ext cx="44345820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Matthew Groh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15581" y="3063577"/>
            <a:ext cx="44345820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613" b="0" spc="52">
                <a:solidFill>
                  <a:srgbClr val="55617A"/>
                </a:solidFill>
                <a:latin typeface="Arial"/>
              </a:rPr>
              <a:t>MIT Media Lab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135488" y="1149727"/>
            <a:ext cx="3574975" cy="11463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849"/>
              </a:lnSpc>
              <a:spcBef>
                <a:spcPts val="0"/>
              </a:spcBef>
              <a:spcAft>
                <a:spcPts val="0"/>
              </a:spcAft>
            </a:pPr>
            <a:r>
              <a:rPr sz="5413" b="1" spc="54">
                <a:solidFill>
                  <a:srgbClr val="8F2437"/>
                </a:solidFill>
                <a:latin typeface="Arial"/>
              </a:rPr>
              <a:t>arXiv 2022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9991" y="4976316"/>
            <a:ext cx="16000194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Problem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816393" y="4976316"/>
            <a:ext cx="16000194" cy="1067237"/>
          </a:xfrm>
          <a:prstGeom prst="rect">
            <a:avLst/>
          </a:prstGeom>
          <a:noFill/>
        </p:spPr>
        <p:txBody>
          <a:bodyPr wrap="non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Method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592795" y="4976316"/>
            <a:ext cx="16000333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Key Results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91" y="6224389"/>
            <a:ext cx="1600019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Machine-learning models reach </a:t>
            </a:r>
            <a:r>
              <a:rPr sz="4106" b="1">
                <a:solidFill>
                  <a:srgbClr val="111111"/>
                </a:solidFill>
                <a:latin typeface="Arial"/>
              </a:rPr>
              <a:t>human-level accuracy</a:t>
            </a:r>
            <a:r>
              <a:rPr sz="4106" b="0">
                <a:solidFill>
                  <a:srgbClr val="1C1C1C"/>
                </a:solidFill>
                <a:latin typeface="Arial"/>
              </a:rPr>
              <a:t> on static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benchmarks, then break on production data. The field calls this gap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distribution shift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frame at once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over-specified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under-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specified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816393" y="6287313"/>
            <a:ext cx="1600019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Context shift</a:t>
            </a:r>
            <a:r>
              <a:rPr sz="4106" b="0">
                <a:solidFill>
                  <a:srgbClr val="1C1C1C"/>
                </a:solidFill>
                <a:latin typeface="Arial"/>
              </a:rPr>
              <a:t> names the semantically meaningful upstream factors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behind distribution shift —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sample selection bias</a:t>
            </a:r>
            <a:r>
              <a:rPr sz="4106" b="0">
                <a:solidFill>
                  <a:srgbClr val="1C1C1C"/>
                </a:solidFill>
                <a:latin typeface="Arial"/>
              </a:rPr>
              <a:t>,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adversarial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perturbations</a:t>
            </a:r>
            <a:r>
              <a:rPr sz="4106" b="0">
                <a:solidFill>
                  <a:srgbClr val="1C1C1C"/>
                </a:solidFill>
                <a:latin typeface="Arial"/>
              </a:rPr>
              <a:t>, and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non-stationarity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9991" y="9509938"/>
            <a:ext cx="16000194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Shift definitions compare two samples precisely, but say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nothing about the process that caused the mismatch.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92795" y="10543401"/>
            <a:ext cx="16000333" cy="3027113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8F2437"/>
                </a:solidFill>
                <a:latin typeface="Arial"/>
              </a:rPr>
              <a:t>Random baseline is 14.2% — yet one FER model reads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8F2437"/>
                </a:solidFill>
                <a:latin typeface="Arial"/>
              </a:rPr>
              <a:t>anywhere from 48.6% to 94.8% depending only on </a:t>
            </a:r>
            <a:r>
              <a:rPr sz="4024" b="1">
                <a:solidFill>
                  <a:srgbClr val="111111"/>
                </a:solidFill>
                <a:latin typeface="Arial"/>
              </a:rPr>
              <a:t>which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11111"/>
                </a:solidFill>
                <a:latin typeface="Arial"/>
              </a:rPr>
              <a:t>benchmark you pick</a:t>
            </a:r>
            <a:r>
              <a:rPr sz="4024" b="1">
                <a:solidFill>
                  <a:srgbClr val="8F2437"/>
                </a:solidFill>
                <a:latin typeface="Arial"/>
              </a:rPr>
              <a:t>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9991" y="12099012"/>
            <a:ext cx="16000194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Motivation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9991" y="13347084"/>
            <a:ext cx="16000194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Distribution shift is a </a:t>
            </a:r>
            <a:r>
              <a:rPr sz="4106" b="1">
                <a:solidFill>
                  <a:srgbClr val="111111"/>
                </a:solidFill>
                <a:latin typeface="Arial"/>
              </a:rPr>
              <a:t>symptom</a:t>
            </a:r>
            <a:r>
              <a:rPr sz="4106" b="0">
                <a:solidFill>
                  <a:srgbClr val="1C1C1C"/>
                </a:solidFill>
                <a:latin typeface="Arial"/>
              </a:rPr>
              <a:t>, not the disease — the cause lies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upstream in how data are created, collected, and curated.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592795" y="13702545"/>
            <a:ext cx="1600033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A single static benchmark badly predicts real-world performance — the gap is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context</a:t>
            </a:r>
            <a:r>
              <a:rPr sz="3778" b="0" i="1">
                <a:solidFill>
                  <a:srgbClr val="1C1C1C"/>
                </a:solidFill>
                <a:latin typeface="Arial"/>
              </a:rPr>
              <a:t>, not chance.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592795" y="16499284"/>
            <a:ext cx="16000333" cy="1067237"/>
          </a:xfrm>
          <a:prstGeom prst="rect">
            <a:avLst/>
          </a:prstGeom>
          <a:noFill/>
        </p:spPr>
        <p:txBody>
          <a:bodyPr wrap="square" lIns="0" rIns="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Headline Numbers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816393" y="22540595"/>
            <a:ext cx="16000194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Dataset / Benchmark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637245" y="22881193"/>
            <a:ext cx="15955883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Takeaway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816393" y="23788667"/>
            <a:ext cx="1600019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Three "model-organism" vision domains expose how implicit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benchmark assumptions cause real-world errors: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637245" y="24129265"/>
            <a:ext cx="15955883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Reframe robustness around </a:t>
            </a:r>
            <a:r>
              <a:rPr sz="4106" b="1">
                <a:solidFill>
                  <a:srgbClr val="111111"/>
                </a:solidFill>
                <a:latin typeface="Arial"/>
              </a:rPr>
              <a:t>context shift</a:t>
            </a:r>
            <a:r>
              <a:rPr sz="4106" b="0">
                <a:solidFill>
                  <a:srgbClr val="1C1C1C"/>
                </a:solidFill>
                <a:latin typeface="Arial"/>
              </a:rPr>
              <a:t> — the semantically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meaningful data-generation factors behind distribution shift —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close the benchmark-to-production gap by pairing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human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intuition</a:t>
            </a:r>
            <a:r>
              <a:rPr sz="4106" b="0">
                <a:solidFill>
                  <a:srgbClr val="1C1C1C"/>
                </a:solidFill>
                <a:latin typeface="Arial"/>
              </a:rPr>
              <a:t>,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dynamic benchmarking</a:t>
            </a:r>
            <a:r>
              <a:rPr sz="4106" b="0">
                <a:solidFill>
                  <a:srgbClr val="1C1C1C"/>
                </a:solidFill>
                <a:latin typeface="Arial"/>
              </a:rPr>
              <a:t>, and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honest limitations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7816393" y="27357863"/>
            <a:ext cx="16000194" cy="2674882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The way forward: </a:t>
            </a:r>
            <a:r>
              <a:rPr sz="4106" b="1">
                <a:solidFill>
                  <a:srgbClr val="111111"/>
                </a:solidFill>
                <a:latin typeface="Arial"/>
              </a:rPr>
              <a:t>context-aware benchmarks</a:t>
            </a:r>
            <a:r>
              <a:rPr sz="4106" b="0">
                <a:solidFill>
                  <a:srgbClr val="8F2437"/>
                </a:solidFill>
                <a:latin typeface="Arial"/>
              </a:rPr>
              <a:t> — BREEDS,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WILDS, Dynabench — that model the data-generating process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instead of a single static snapshot.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637245" y="27414815"/>
            <a:ext cx="15955883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The simplest fix available today: state plainly the contexts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 model was evaluated in — and the contexts where its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behavior is still unknown.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520731" y="8879582"/>
            <a:ext cx="751993" cy="39576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336"/>
              </a:lnSpc>
              <a:spcBef>
                <a:spcPts val="0"/>
              </a:spcBef>
              <a:spcAft>
                <a:spcPts val="0"/>
              </a:spcAft>
            </a:pPr>
            <a:r>
              <a:rPr sz="5749" b="1">
                <a:solidFill>
                  <a:srgbClr val="8F2437"/>
                </a:solidFill>
                <a:latin typeface="Arial"/>
              </a:rPr>
              <a:t>›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955299" y="8879582"/>
            <a:ext cx="751993" cy="39576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336"/>
              </a:lnSpc>
              <a:spcBef>
                <a:spcPts val="0"/>
              </a:spcBef>
              <a:spcAft>
                <a:spcPts val="0"/>
              </a:spcAft>
            </a:pPr>
            <a:r>
              <a:rPr sz="5749" b="1">
                <a:solidFill>
                  <a:srgbClr val="8F2437"/>
                </a:solidFill>
                <a:latin typeface="Arial"/>
              </a:rPr>
              <a:t>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29496" y="16123820"/>
            <a:ext cx="15145643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Distribution shift measures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that</a:t>
            </a:r>
            <a:r>
              <a:rPr sz="4106" b="0">
                <a:solidFill>
                  <a:srgbClr val="1C1C1C"/>
                </a:solidFill>
                <a:latin typeface="Arial"/>
              </a:rPr>
              <a:t> two datasets differ; </a:t>
            </a:r>
            <a:r>
              <a:rPr sz="4106" b="1">
                <a:solidFill>
                  <a:srgbClr val="111111"/>
                </a:solidFill>
                <a:latin typeface="Arial"/>
              </a:rPr>
              <a:t>context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shift</a:t>
            </a:r>
            <a:r>
              <a:rPr sz="4106" b="0">
                <a:solidFill>
                  <a:srgbClr val="1C1C1C"/>
                </a:solidFill>
                <a:latin typeface="Arial"/>
              </a:rPr>
              <a:t> explains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why</a:t>
            </a:r>
            <a:r>
              <a:rPr sz="4106" b="0">
                <a:solidFill>
                  <a:srgbClr val="1C1C1C"/>
                </a:solidFill>
                <a:latin typeface="Arial"/>
              </a:rPr>
              <a:t> — the upstream cause you can act on.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448000" y="19746773"/>
            <a:ext cx="14736842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Two context drivers made concrete: sample-selection bias (left) and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adversarial perturbation (right) reshape features and labels, so a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benchmark-tuned representation misclassifies production data.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684377" y="28553985"/>
            <a:ext cx="14711144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Google Scholar papers pairing "machine learning" with four shift terms,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2012–2021 — interest exploded, jargon stayed conflated.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155324" y="9046408"/>
            <a:ext cx="867454" cy="968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01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3589753" y="9046408"/>
            <a:ext cx="867454" cy="968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01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9024322" y="9046408"/>
            <a:ext cx="867453" cy="968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01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155324" y="9977219"/>
            <a:ext cx="4147270" cy="611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88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1C1C1C"/>
                </a:solidFill>
                <a:latin typeface="Arial"/>
              </a:rPr>
              <a:t>Human intuition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3589753" y="9977219"/>
            <a:ext cx="4147413" cy="1223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88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1C1C1C"/>
                </a:solidFill>
                <a:latin typeface="Arial"/>
              </a:rPr>
              <a:t>Dynamic</a:t>
            </a:r>
          </a:p>
          <a:p>
            <a:pPr algn="l">
              <a:lnSpc>
                <a:spcPts val="4188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1C1C1C"/>
                </a:solidFill>
                <a:latin typeface="Arial"/>
              </a:rPr>
              <a:t>benchmarking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024322" y="9977219"/>
            <a:ext cx="4147412" cy="611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88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1C1C1C"/>
                </a:solidFill>
                <a:latin typeface="Arial"/>
              </a:rPr>
              <a:t>Clarify limits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155324" y="10563820"/>
            <a:ext cx="4147270" cy="1825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2874" b="0" i="1">
                <a:solidFill>
                  <a:srgbClr val="555555"/>
                </a:solidFill>
                <a:latin typeface="Arial"/>
              </a:rPr>
              <a:t>expert knowledge</a:t>
            </a:r>
          </a:p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2874" b="0" i="1">
                <a:solidFill>
                  <a:srgbClr val="555555"/>
                </a:solidFill>
                <a:latin typeface="Arial"/>
              </a:rPr>
              <a:t>surfaces features</a:t>
            </a:r>
          </a:p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2874" b="0" i="1">
                <a:solidFill>
                  <a:srgbClr val="555555"/>
                </a:solidFill>
                <a:latin typeface="Arial"/>
              </a:rPr>
              <a:t>models fail 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9024322" y="10563820"/>
            <a:ext cx="4147412" cy="1825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2874" b="0" i="1">
                <a:solidFill>
                  <a:srgbClr val="555555"/>
                </a:solidFill>
                <a:latin typeface="Arial"/>
              </a:rPr>
              <a:t>state where</a:t>
            </a:r>
          </a:p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2874" b="0" i="1">
                <a:solidFill>
                  <a:srgbClr val="555555"/>
                </a:solidFill>
                <a:latin typeface="Arial"/>
              </a:rPr>
              <a:t>performance is known &amp;</a:t>
            </a:r>
          </a:p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2874" b="0" i="1">
                <a:solidFill>
                  <a:srgbClr val="555555"/>
                </a:solidFill>
                <a:latin typeface="Arial"/>
              </a:rPr>
              <a:t>unknown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3589753" y="11095692"/>
            <a:ext cx="4147413" cy="1217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2874" b="0" i="1">
                <a:solidFill>
                  <a:srgbClr val="555555"/>
                </a:solidFill>
                <a:latin typeface="Arial"/>
              </a:rPr>
              <a:t>continual eval →</a:t>
            </a:r>
          </a:p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2874" b="0" i="1">
                <a:solidFill>
                  <a:srgbClr val="555555"/>
                </a:solidFill>
                <a:latin typeface="Arial"/>
              </a:rPr>
              <a:t>corroborated accuracy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838659" y="18196302"/>
            <a:ext cx="8108401" cy="1553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8F2437"/>
                </a:solidFill>
                <a:latin typeface="Arial"/>
              </a:rPr>
              <a:t>48.6–94.8%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4838659" y="19571196"/>
            <a:ext cx="8108401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one FER model's accuracy across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7 benchmarks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838659" y="20614104"/>
            <a:ext cx="8108401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random baseline is just 14.2% — the benchmark,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not the model, tells the story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4592795" y="6470253"/>
            <a:ext cx="5853420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DOMAIN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275728" y="6470253"/>
            <a:ext cx="5854422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TEST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959633" y="6470253"/>
            <a:ext cx="4332978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RESULT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4592795" y="7176730"/>
            <a:ext cx="585342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FER (1 model, 7 sets)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275728" y="7176730"/>
            <a:ext cx="585442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SFEW → MultiPie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5959633" y="7176730"/>
            <a:ext cx="433297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48.6% → 94.8%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592795" y="8121848"/>
            <a:ext cx="585342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ImageNet / CIFAR-10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0275728" y="8121848"/>
            <a:ext cx="585442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faithful re-creation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959633" y="8121848"/>
            <a:ext cx="433297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−3 to −15%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4592795" y="9066966"/>
            <a:ext cx="585342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Deepfake (DFDC)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0275728" y="9066966"/>
            <a:ext cx="585442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real world-leader fakes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959633" y="9066966"/>
            <a:ext cx="433297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2% &amp; 8%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3762830" y="17969607"/>
            <a:ext cx="1111108" cy="1253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3–</a:t>
            </a:r>
          </a:p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15%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024099" y="18102957"/>
            <a:ext cx="5043338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SOTA drop on re-created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ImageNet &amp; CIFAR-10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3762830" y="19320748"/>
            <a:ext cx="1216696" cy="1253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2% /</a:t>
            </a:r>
          </a:p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126612" y="19454098"/>
            <a:ext cx="4937749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detector confidence on real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world-leader deepfakes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3762830" y="20671889"/>
            <a:ext cx="1990724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128,154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878095" y="20805239"/>
            <a:ext cx="4163722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DFDC videos from 960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consenting actors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
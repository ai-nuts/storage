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Free Design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Free Design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2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2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4266" y="572452"/>
            <a:ext cx="99591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spc="22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ICML 2024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927823" y="572452"/>
            <a:ext cx="265991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b="1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Rensselaer Polytechnic · IBM Watson</a:t>
            </a:r>
          </a:p>
        </p:txBody>
      </p:sp>
      <p:sp>
        <p:nvSpPr>
          <p:cNvPr id="4" name="Line 4"/>
          <p:cNvSpPr/>
          <p:nvPr/>
        </p:nvSpPr>
        <p:spPr>
          <a:xfrm>
            <a:off x="609600" y="8382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 cap="rnd">
            <a:solidFill>
              <a:srgbClr val="26455F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596646" y="1153478"/>
            <a:ext cx="7331161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5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How Do Nonlinear Transformers Learn and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96646" y="1553528"/>
            <a:ext cx="6092337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5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Generalize in In-Context Learning?</a:t>
            </a:r>
          </a:p>
        </p:txBody>
      </p:sp>
      <p:sp>
        <p:nvSpPr>
          <p:cNvPr id="7" name="Rectangle 7"/>
          <p:cNvSpPr/>
          <p:nvPr/>
        </p:nvSpPr>
        <p:spPr>
          <a:xfrm>
            <a:off x="609600" y="2057400"/>
            <a:ext cx="1866900" cy="285750"/>
          </a:xfrm>
          <a:prstGeom prst="roundRect">
            <a:avLst>
              <a:gd name="adj" fmla="val 50000"/>
            </a:avLst>
          </a:prstGeom>
          <a:solidFill>
            <a:srgbClr val="0F2E2B"/>
          </a:solidFill>
          <a:ln w="14288">
            <a:solidFill>
              <a:srgbClr val="34D3C0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864733" y="2118360"/>
            <a:ext cx="135663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34D3C0"/>
                </a:solidFill>
                <a:latin typeface="+mn-lt"/>
                <a:ea typeface="+mn-ea"/>
                <a:cs typeface="+mn-cs"/>
              </a:rPr>
              <a:t>First ICL theory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623185" y="2126456"/>
            <a:ext cx="503779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nonlinear attention + nonlinear MLP, trained by gradient descent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03885" y="2469356"/>
            <a:ext cx="488485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6E869C"/>
                </a:solidFill>
                <a:latin typeface="+mn-lt"/>
                <a:ea typeface="+mn-ea"/>
                <a:cs typeface="+mn-cs"/>
              </a:rPr>
              <a:t>Hongkang Li · Meng Wang · Songtao Lu · Xiaodong Cui · Pin-Yu Chen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609600" y="2857500"/>
            <a:ext cx="2609850" cy="2152650"/>
            <a:chOff x="609600" y="2857500"/>
            <a:chExt cx="2609850" cy="2152650"/>
          </a:xfrm>
        </p:grpSpPr>
        <p:sp>
          <p:nvSpPr>
            <p:cNvPr id="11" name="Rectangle 11"/>
            <p:cNvSpPr/>
            <p:nvPr/>
          </p:nvSpPr>
          <p:spPr>
            <a:xfrm>
              <a:off x="609600" y="2857500"/>
              <a:ext cx="2609850" cy="2152650"/>
            </a:xfrm>
            <a:prstGeom prst="roundRect">
              <a:avLst>
                <a:gd name="adj" fmla="val 6195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609600" y="2857500"/>
              <a:ext cx="2609850" cy="571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809625" y="324802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41654" y="3242310"/>
              <a:ext cx="16204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In-context learning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14006" y="3643551"/>
              <a:ext cx="2194542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 pretrained Transformer solves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14006" y="3853101"/>
              <a:ext cx="1900217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brand-new tasks from a few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14006" y="4062651"/>
              <a:ext cx="1893419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input-output examples in its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14006" y="4272201"/>
              <a:ext cx="1954604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prompt, with no fine-tuning.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3390900" y="2857500"/>
            <a:ext cx="2609850" cy="2152650"/>
            <a:chOff x="3390900" y="2857500"/>
            <a:chExt cx="2609850" cy="2152650"/>
          </a:xfrm>
        </p:grpSpPr>
        <p:sp>
          <p:nvSpPr>
            <p:cNvPr id="20" name="Rectangle 20"/>
            <p:cNvSpPr/>
            <p:nvPr/>
          </p:nvSpPr>
          <p:spPr>
            <a:xfrm>
              <a:off x="3390900" y="2857500"/>
              <a:ext cx="2609850" cy="2152650"/>
            </a:xfrm>
            <a:prstGeom prst="roundRect">
              <a:avLst>
                <a:gd name="adj" fmla="val 6195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3390900" y="2857500"/>
              <a:ext cx="2609850" cy="57150"/>
            </a:xfrm>
            <a:prstGeom prst="roundRect">
              <a:avLst>
                <a:gd name="adj" fmla="val 50000"/>
              </a:avLst>
            </a:prstGeom>
            <a:solidFill>
              <a:srgbClr val="F2C14E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3590925" y="3248025"/>
              <a:ext cx="133350" cy="133350"/>
            </a:xfrm>
            <a:prstGeom prst="ellipse">
              <a:avLst/>
            </a:prstGeom>
            <a:solidFill>
              <a:srgbClr val="F2C14E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822954" y="3242310"/>
              <a:ext cx="14764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 open question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595306" y="3643551"/>
              <a:ext cx="2047407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Why does training produce this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595306" y="3853101"/>
              <a:ext cx="1825436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ability, and how far does it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595306" y="4062651"/>
              <a:ext cx="2094775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generalize? Nonlinear attention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595306" y="4272201"/>
              <a:ext cx="1458327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makes the math hard.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172200" y="2857500"/>
            <a:ext cx="2609850" cy="2152650"/>
            <a:chOff x="6172200" y="2857500"/>
            <a:chExt cx="2609850" cy="2152650"/>
          </a:xfrm>
        </p:grpSpPr>
        <p:sp>
          <p:nvSpPr>
            <p:cNvPr id="29" name="Rectangle 29"/>
            <p:cNvSpPr/>
            <p:nvPr/>
          </p:nvSpPr>
          <p:spPr>
            <a:xfrm>
              <a:off x="6172200" y="2857500"/>
              <a:ext cx="2609850" cy="2152650"/>
            </a:xfrm>
            <a:prstGeom prst="roundRect">
              <a:avLst>
                <a:gd name="adj" fmla="val 6195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172200" y="2857500"/>
              <a:ext cx="2609850" cy="57150"/>
            </a:xfrm>
            <a:prstGeom prst="roundRect">
              <a:avLst>
                <a:gd name="adj" fmla="val 50000"/>
              </a:avLst>
            </a:prstGeom>
            <a:solidFill>
              <a:srgbClr val="34D3C0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6372225" y="3248025"/>
              <a:ext cx="133350" cy="133350"/>
            </a:xfrm>
            <a:prstGeom prst="ellipse">
              <a:avLst/>
            </a:prstGeom>
            <a:solidFill>
              <a:srgbClr val="34D3C0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604254" y="3242310"/>
              <a:ext cx="17644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First training theory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376606" y="3643551"/>
              <a:ext cx="2067681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The first analysis of training a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376606" y="3853101"/>
              <a:ext cx="1789211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Transformer with softmax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376606" y="4062651"/>
              <a:ext cx="2099324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attention and a ReLU MLP, with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376606" y="4272201"/>
              <a:ext cx="1471924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in- and out-of-domain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376606" y="4481751"/>
              <a:ext cx="832883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guarantees.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8953500" y="2857500"/>
            <a:ext cx="2609850" cy="2152650"/>
            <a:chOff x="8953500" y="2857500"/>
            <a:chExt cx="2609850" cy="2152650"/>
          </a:xfrm>
        </p:grpSpPr>
        <p:sp>
          <p:nvSpPr>
            <p:cNvPr id="39" name="Rectangle 39"/>
            <p:cNvSpPr/>
            <p:nvPr/>
          </p:nvSpPr>
          <p:spPr>
            <a:xfrm>
              <a:off x="8953500" y="2857500"/>
              <a:ext cx="2609850" cy="2152650"/>
            </a:xfrm>
            <a:prstGeom prst="roundRect">
              <a:avLst>
                <a:gd name="adj" fmla="val 6195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8953500" y="2857500"/>
              <a:ext cx="2609850" cy="57150"/>
            </a:xfrm>
            <a:prstGeom prst="roundRect">
              <a:avLst>
                <a:gd name="adj" fmla="val 50000"/>
              </a:avLst>
            </a:prstGeom>
            <a:solidFill>
              <a:srgbClr val="48C78E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9153525" y="3248025"/>
              <a:ext cx="133350" cy="133350"/>
            </a:xfrm>
            <a:prstGeom prst="ellipse">
              <a:avLst/>
            </a:prstGeom>
            <a:solidFill>
              <a:srgbClr val="48C78E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385554" y="3242310"/>
              <a:ext cx="20366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Pruning is (almost) free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157906" y="3643551"/>
              <a:ext cx="2095099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The first theory of pruning for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157906" y="3853101"/>
              <a:ext cx="1186899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ICL: removing the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157906" y="4062651"/>
              <a:ext cx="2104166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small-magnitude neurons barely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157906" y="4272201"/>
              <a:ext cx="1444730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hurts generalization.</a:t>
              </a:r>
            </a:p>
          </p:txBody>
        </p:sp>
      </p:grpSp>
      <p:sp>
        <p:nvSpPr>
          <p:cNvPr id="48" name="Line 48"/>
          <p:cNvSpPr/>
          <p:nvPr/>
        </p:nvSpPr>
        <p:spPr>
          <a:xfrm>
            <a:off x="609600" y="54292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 cap="rnd">
            <a:solidFill>
              <a:srgbClr val="26455F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604266" y="5658802"/>
            <a:ext cx="129401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arXiv:2402.15607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2852166" y="5658802"/>
            <a:ext cx="359791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One-layer Transformer, provably trained for ICL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7943564" y="5658802"/>
            <a:ext cx="364417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b="1" dirty="0">
                <a:solidFill>
                  <a:srgbClr val="34D3C0"/>
                </a:solidFill>
                <a:latin typeface="+mn-lt"/>
                <a:ea typeface="+mn-ea"/>
                <a:cs typeface="+mn-cs"/>
              </a:rPr>
              <a:t>Generalizes in-domain and under distribution shift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495300"/>
            <a:ext cx="47625" cy="24765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75335" y="564356"/>
            <a:ext cx="88279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88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PROBLEM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8170" y="804862"/>
            <a:ext cx="5582787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 powerful ability we cannot explain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609600" y="1447800"/>
            <a:ext cx="10972800" cy="1428750"/>
            <a:chOff x="609600" y="1447800"/>
            <a:chExt cx="10972800" cy="1428750"/>
          </a:xfrm>
        </p:grpSpPr>
        <p:sp>
          <p:nvSpPr>
            <p:cNvPr id="5" name="Rectangle 5"/>
            <p:cNvSpPr/>
            <p:nvPr/>
          </p:nvSpPr>
          <p:spPr>
            <a:xfrm>
              <a:off x="609600" y="1447800"/>
              <a:ext cx="10972800" cy="1428750"/>
            </a:xfrm>
            <a:prstGeom prst="roundRect">
              <a:avLst>
                <a:gd name="adj" fmla="val 9333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09600" y="1447800"/>
              <a:ext cx="57150" cy="14287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70014" y="1657112"/>
              <a:ext cx="3821864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In-context learning: no fine-tuning required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70585" y="1955006"/>
              <a:ext cx="73115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 pretrained Transformer handles a new task by simply padding the query with a handful of example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70585" y="2183606"/>
              <a:ext cx="64473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input-output pairs. No weights are updated; the answer comes from the prompt alone.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76300" y="2495550"/>
              <a:ext cx="2476500" cy="285750"/>
            </a:xfrm>
            <a:prstGeom prst="roundRect">
              <a:avLst>
                <a:gd name="adj" fmla="val 26667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1000125" y="2590800"/>
              <a:ext cx="95250" cy="95250"/>
            </a:xfrm>
            <a:prstGeom prst="ellipse">
              <a:avLst/>
            </a:prstGeom>
            <a:solidFill>
              <a:srgbClr val="34D3C0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95388" y="2584847"/>
              <a:ext cx="1218641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example 1 (x1, y1)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3467100" y="2495550"/>
              <a:ext cx="2476500" cy="285750"/>
            </a:xfrm>
            <a:prstGeom prst="roundRect">
              <a:avLst>
                <a:gd name="adj" fmla="val 26667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3590925" y="2590800"/>
              <a:ext cx="95250" cy="95250"/>
            </a:xfrm>
            <a:prstGeom prst="ellipse">
              <a:avLst/>
            </a:prstGeom>
            <a:solidFill>
              <a:srgbClr val="34D3C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786188" y="2584847"/>
              <a:ext cx="1218641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example 2 (x2, y2)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057900" y="2495550"/>
              <a:ext cx="1428750" cy="285750"/>
            </a:xfrm>
            <a:prstGeom prst="roundRect">
              <a:avLst>
                <a:gd name="adj" fmla="val 26667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6181725" y="2590800"/>
              <a:ext cx="95250" cy="9525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76988" y="2584847"/>
              <a:ext cx="22876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...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620000" y="2495550"/>
              <a:ext cx="2286000" cy="285750"/>
            </a:xfrm>
            <a:prstGeom prst="roundRect">
              <a:avLst>
                <a:gd name="adj" fmla="val 26667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7743825" y="2590800"/>
              <a:ext cx="95250" cy="95250"/>
            </a:xfrm>
            <a:prstGeom prst="ellipse">
              <a:avLst/>
            </a:prstGeom>
            <a:solidFill>
              <a:srgbClr val="F2C14E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939088" y="2584847"/>
              <a:ext cx="786814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query x -&gt; ?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09600" y="3048000"/>
            <a:ext cx="5334000" cy="2190750"/>
            <a:chOff x="609600" y="3048000"/>
            <a:chExt cx="5334000" cy="2190750"/>
          </a:xfrm>
        </p:grpSpPr>
        <p:sp>
          <p:nvSpPr>
            <p:cNvPr id="23" name="Rectangle 23"/>
            <p:cNvSpPr/>
            <p:nvPr/>
          </p:nvSpPr>
          <p:spPr>
            <a:xfrm>
              <a:off x="609600" y="3048000"/>
              <a:ext cx="5334000" cy="2190750"/>
            </a:xfrm>
            <a:prstGeom prst="roundRect">
              <a:avLst>
                <a:gd name="adj" fmla="val 6087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09600" y="3048000"/>
              <a:ext cx="57150" cy="2190750"/>
            </a:xfrm>
            <a:prstGeom prst="roundRect">
              <a:avLst>
                <a:gd name="adj" fmla="val 50000"/>
              </a:avLst>
            </a:prstGeom>
            <a:solidFill>
              <a:srgbClr val="F2C14E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69823" y="3272314"/>
              <a:ext cx="9232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F2C14E"/>
                  </a:solidFill>
                  <a:latin typeface="+mn-lt"/>
                  <a:ea typeface="+mn-ea"/>
                  <a:cs typeface="+mn-cs"/>
                </a:rPr>
                <a:t>The puzzle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70776" y="3597354"/>
              <a:ext cx="3747951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Despite its empirical success, how a Transformer is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70776" y="3816429"/>
              <a:ext cx="4046284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actually trained to acquire in-context learning, and how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70776" y="4035504"/>
              <a:ext cx="3275921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far that ability generalizes, remains elusive.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876300" y="4476750"/>
              <a:ext cx="4800600" cy="304800"/>
            </a:xfrm>
            <a:prstGeom prst="roundRect">
              <a:avLst>
                <a:gd name="adj" fmla="val 25000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1000125" y="458152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195006" y="4567476"/>
              <a:ext cx="2491561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How is ICL acquired during training?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76300" y="4857750"/>
              <a:ext cx="4800600" cy="304800"/>
            </a:xfrm>
            <a:prstGeom prst="roundRect">
              <a:avLst>
                <a:gd name="adj" fmla="val 25000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1000125" y="4962525"/>
              <a:ext cx="95250" cy="95250"/>
            </a:xfrm>
            <a:prstGeom prst="ellipse">
              <a:avLst/>
            </a:prstGeom>
            <a:solidFill>
              <a:srgbClr val="34D3C0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195006" y="4948476"/>
              <a:ext cx="3041403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Does it generalize under distribution shift?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248400" y="3048000"/>
            <a:ext cx="5334000" cy="2190750"/>
            <a:chOff x="6248400" y="3048000"/>
            <a:chExt cx="5334000" cy="2190750"/>
          </a:xfrm>
        </p:grpSpPr>
        <p:sp>
          <p:nvSpPr>
            <p:cNvPr id="36" name="Rectangle 36"/>
            <p:cNvSpPr/>
            <p:nvPr/>
          </p:nvSpPr>
          <p:spPr>
            <a:xfrm>
              <a:off x="6248400" y="3048000"/>
              <a:ext cx="5334000" cy="2190750"/>
            </a:xfrm>
            <a:prstGeom prst="roundRect">
              <a:avLst>
                <a:gd name="adj" fmla="val 6087"/>
              </a:avLst>
            </a:prstGeom>
            <a:solidFill>
              <a:srgbClr val="2A1720"/>
            </a:solidFill>
            <a:ln w="14288">
              <a:solidFill>
                <a:srgbClr val="F2685C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248400" y="3048000"/>
              <a:ext cx="57150" cy="2190750"/>
            </a:xfrm>
            <a:prstGeom prst="roundRect">
              <a:avLst>
                <a:gd name="adj" fmla="val 50000"/>
              </a:avLst>
            </a:prstGeom>
            <a:solidFill>
              <a:srgbClr val="F2685C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08814" y="3276362"/>
              <a:ext cx="2936805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b="1" dirty="0">
                  <a:solidFill>
                    <a:srgbClr val="F2685C"/>
                  </a:solidFill>
                  <a:latin typeface="+mn-lt"/>
                  <a:ea typeface="+mn-ea"/>
                  <a:cs typeface="+mn-cs"/>
                </a:rPr>
                <a:t>Why it is hard · two nonlinearities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509576" y="3597354"/>
              <a:ext cx="4065635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The training objective is nonconvex and resists the tools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509576" y="3816429"/>
              <a:ext cx="4266387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used for simpler models, because two layers are nonlinear: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515100" y="4305300"/>
              <a:ext cx="4800600" cy="304800"/>
            </a:xfrm>
            <a:prstGeom prst="roundRect">
              <a:avLst>
                <a:gd name="adj" fmla="val 25000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6638925" y="4410075"/>
              <a:ext cx="95250" cy="95250"/>
            </a:xfrm>
            <a:prstGeom prst="ellipse">
              <a:avLst/>
            </a:prstGeom>
            <a:solidFill>
              <a:srgbClr val="F2685C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833806" y="4396026"/>
              <a:ext cx="2537219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softmax self-attention -&gt; nonlinear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515100" y="4686300"/>
              <a:ext cx="4800600" cy="304800"/>
            </a:xfrm>
            <a:prstGeom prst="roundRect">
              <a:avLst>
                <a:gd name="adj" fmla="val 25000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45" name="Ellipse 45"/>
            <p:cNvSpPr/>
            <p:nvPr/>
          </p:nvSpPr>
          <p:spPr>
            <a:xfrm>
              <a:off x="6638925" y="4791075"/>
              <a:ext cx="95250" cy="95250"/>
            </a:xfrm>
            <a:prstGeom prst="ellipse">
              <a:avLst/>
            </a:prstGeom>
            <a:solidFill>
              <a:srgbClr val="F2C14E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833806" y="4777026"/>
              <a:ext cx="2283408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ReLU two-layer MLP -&gt; nonlinear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495300"/>
            <a:ext cx="47625" cy="24765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75335" y="564356"/>
            <a:ext cx="118883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88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MOTIVATION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8170" y="804862"/>
            <a:ext cx="6759977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Prior theory keeps only part of the picture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609600" y="1447800"/>
            <a:ext cx="10972800" cy="917734"/>
            <a:chOff x="609600" y="1447800"/>
            <a:chExt cx="10972800" cy="917734"/>
          </a:xfrm>
        </p:grpSpPr>
        <p:sp>
          <p:nvSpPr>
            <p:cNvPr id="5" name="Rectangle 5"/>
            <p:cNvSpPr/>
            <p:nvPr/>
          </p:nvSpPr>
          <p:spPr>
            <a:xfrm>
              <a:off x="609600" y="1447800"/>
              <a:ext cx="10972800" cy="876300"/>
            </a:xfrm>
            <a:prstGeom prst="roundRect">
              <a:avLst>
                <a:gd name="adj" fmla="val 15217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09600" y="1447800"/>
              <a:ext cx="57150" cy="876300"/>
            </a:xfrm>
            <a:prstGeom prst="roundRect">
              <a:avLst>
                <a:gd name="adj" fmla="val 50000"/>
              </a:avLst>
            </a:prstGeom>
            <a:solidFill>
              <a:srgbClr val="34D3C0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70585" y="1650206"/>
              <a:ext cx="29464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75" dirty="0">
                  <a:solidFill>
                    <a:srgbClr val="34D3C0"/>
                  </a:solidFill>
                  <a:latin typeface="+mn-lt"/>
                  <a:ea typeface="+mn-ea"/>
                  <a:cs typeface="+mn-cs"/>
                </a:rPr>
                <a:t>Recent works began to explain ICL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70585" y="1916906"/>
              <a:ext cx="73515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Each existing analysis simplifies away one of the hard parts, so none captures a genuinely nonlinear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70585" y="2145506"/>
              <a:ext cx="24290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Transformer trained end to end.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9600" y="2495550"/>
            <a:ext cx="3505200" cy="1905000"/>
            <a:chOff x="609600" y="2495550"/>
            <a:chExt cx="3505200" cy="1905000"/>
          </a:xfrm>
        </p:grpSpPr>
        <p:sp>
          <p:nvSpPr>
            <p:cNvPr id="11" name="Rectangle 11"/>
            <p:cNvSpPr/>
            <p:nvPr/>
          </p:nvSpPr>
          <p:spPr>
            <a:xfrm>
              <a:off x="609600" y="2495550"/>
              <a:ext cx="3505200" cy="1905000"/>
            </a:xfrm>
            <a:prstGeom prst="roundRect">
              <a:avLst>
                <a:gd name="adj" fmla="val 7000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609600" y="2495550"/>
              <a:ext cx="3505200" cy="57150"/>
            </a:xfrm>
            <a:prstGeom prst="roundRect">
              <a:avLst>
                <a:gd name="adj" fmla="val 50000"/>
              </a:avLst>
            </a:prstGeom>
            <a:solidFill>
              <a:srgbClr val="F2685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70014" y="2762012"/>
              <a:ext cx="1463709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b="1" dirty="0">
                  <a:solidFill>
                    <a:srgbClr val="F2685C"/>
                  </a:solidFill>
                  <a:latin typeface="+mn-lt"/>
                  <a:ea typeface="+mn-ea"/>
                  <a:cs typeface="+mn-cs"/>
                </a:rPr>
                <a:t>Simplified models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70776" y="3083004"/>
              <a:ext cx="2047941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Prior work ignores nonlinear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70776" y="3302079"/>
              <a:ext cx="2292791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self-attention, or replaces the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70776" y="3521154"/>
              <a:ext cx="2300309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nonlinear MLP with a linear one.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76300" y="3829050"/>
              <a:ext cx="2971800" cy="304800"/>
            </a:xfrm>
            <a:prstGeom prst="roundRect">
              <a:avLst>
                <a:gd name="adj" fmla="val 25000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1000125" y="3933825"/>
              <a:ext cx="95250" cy="95250"/>
            </a:xfrm>
            <a:prstGeom prst="ellipse">
              <a:avLst/>
            </a:prstGeom>
            <a:solidFill>
              <a:srgbClr val="F2685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195197" y="3923824"/>
              <a:ext cx="18532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drops softmax / linear MLP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343400" y="2495550"/>
            <a:ext cx="3505200" cy="1905000"/>
            <a:chOff x="4343400" y="2495550"/>
            <a:chExt cx="3505200" cy="1905000"/>
          </a:xfrm>
        </p:grpSpPr>
        <p:sp>
          <p:nvSpPr>
            <p:cNvPr id="21" name="Rectangle 21"/>
            <p:cNvSpPr/>
            <p:nvPr/>
          </p:nvSpPr>
          <p:spPr>
            <a:xfrm>
              <a:off x="4343400" y="2495550"/>
              <a:ext cx="3505200" cy="1905000"/>
            </a:xfrm>
            <a:prstGeom prst="roundRect">
              <a:avLst>
                <a:gd name="adj" fmla="val 7000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4343400" y="2495550"/>
              <a:ext cx="3505200" cy="57150"/>
            </a:xfrm>
            <a:prstGeom prst="roundRect">
              <a:avLst>
                <a:gd name="adj" fmla="val 50000"/>
              </a:avLst>
            </a:prstGeom>
            <a:solidFill>
              <a:srgbClr val="F2C14E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603814" y="2762012"/>
              <a:ext cx="1727552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b="1" dirty="0">
                  <a:solidFill>
                    <a:srgbClr val="F2C14E"/>
                  </a:solidFill>
                  <a:latin typeface="+mn-lt"/>
                  <a:ea typeface="+mn-ea"/>
                  <a:cs typeface="+mn-cs"/>
                </a:rPr>
                <a:t>No shift, no pruning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604576" y="3083004"/>
              <a:ext cx="2532480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Most study linear regression, none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604576" y="3302079"/>
              <a:ext cx="2909081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characterize training under distribution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04576" y="3521154"/>
              <a:ext cx="2571589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shift, and none analyze how pruning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04576" y="3740229"/>
              <a:ext cx="921337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changes ICL.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610100" y="3829050"/>
              <a:ext cx="2971800" cy="304800"/>
            </a:xfrm>
            <a:prstGeom prst="roundRect">
              <a:avLst>
                <a:gd name="adj" fmla="val 25000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4733925" y="3933825"/>
              <a:ext cx="95250" cy="95250"/>
            </a:xfrm>
            <a:prstGeom prst="ellipse">
              <a:avLst/>
            </a:prstGeom>
            <a:solidFill>
              <a:srgbClr val="F2C14E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928997" y="3923824"/>
              <a:ext cx="18245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shift + pruning unexplained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8077200" y="2495550"/>
            <a:ext cx="3505200" cy="1905000"/>
            <a:chOff x="8077200" y="2495550"/>
            <a:chExt cx="3505200" cy="1905000"/>
          </a:xfrm>
        </p:grpSpPr>
        <p:sp>
          <p:nvSpPr>
            <p:cNvPr id="32" name="Rectangle 32"/>
            <p:cNvSpPr/>
            <p:nvPr/>
          </p:nvSpPr>
          <p:spPr>
            <a:xfrm>
              <a:off x="8077200" y="2495550"/>
              <a:ext cx="3505200" cy="1905000"/>
            </a:xfrm>
            <a:prstGeom prst="roundRect">
              <a:avLst>
                <a:gd name="adj" fmla="val 7000"/>
              </a:avLst>
            </a:prstGeom>
            <a:solidFill>
              <a:srgbClr val="0F2E2B"/>
            </a:solidFill>
            <a:ln w="14288">
              <a:solidFill>
                <a:srgbClr val="34D3C0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8077200" y="2495550"/>
              <a:ext cx="3505200" cy="57150"/>
            </a:xfrm>
            <a:prstGeom prst="roundRect">
              <a:avLst>
                <a:gd name="adj" fmla="val 50000"/>
              </a:avLst>
            </a:prstGeom>
            <a:solidFill>
              <a:srgbClr val="48C78E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337614" y="2762012"/>
              <a:ext cx="1306923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b="1" dirty="0">
                  <a:solidFill>
                    <a:srgbClr val="48C78E"/>
                  </a:solidFill>
                  <a:latin typeface="+mn-lt"/>
                  <a:ea typeface="+mn-ea"/>
                  <a:cs typeface="+mn-cs"/>
                </a:rPr>
                <a:t>Why it matters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38376" y="3083004"/>
              <a:ext cx="2546719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Practitioners routinely prune large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38376" y="3302079"/>
              <a:ext cx="2755008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language models to save compute while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38376" y="3521154"/>
              <a:ext cx="2755008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hoping to keep their in-context skills.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343900" y="3829050"/>
              <a:ext cx="2971800" cy="304800"/>
            </a:xfrm>
            <a:prstGeom prst="roundRect">
              <a:avLst>
                <a:gd name="adj" fmla="val 25000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8467725" y="3933825"/>
              <a:ext cx="95250" cy="95250"/>
            </a:xfrm>
            <a:prstGeom prst="ellipse">
              <a:avLst/>
            </a:prstGeom>
            <a:solidFill>
              <a:srgbClr val="48C78E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662797" y="3923824"/>
              <a:ext cx="20462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close the theory-practice gap</a:t>
              </a:r>
            </a:p>
          </p:txBody>
        </p:sp>
      </p:grpSp>
      <p:sp>
        <p:nvSpPr>
          <p:cNvPr id="42" name="Rectangle 42"/>
          <p:cNvSpPr/>
          <p:nvPr/>
        </p:nvSpPr>
        <p:spPr>
          <a:xfrm>
            <a:off x="609600" y="4629150"/>
            <a:ext cx="10972800" cy="609600"/>
          </a:xfrm>
          <a:prstGeom prst="roundRect">
            <a:avLst>
              <a:gd name="adj" fmla="val 18750"/>
            </a:avLst>
          </a:prstGeom>
          <a:solidFill>
            <a:schemeClr val="accent6"/>
          </a:solidFill>
          <a:ln w="14288">
            <a:solidFill>
              <a:srgbClr val="26455F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870394" y="4865608"/>
            <a:ext cx="8745546" cy="2273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6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This paper keeps BOTH nonlinearities, trains by gradient descent, and covers distribution shift and pruning.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495300"/>
            <a:ext cx="47625" cy="24765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75335" y="564356"/>
            <a:ext cx="139286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88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CONTRIBUTION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8170" y="804862"/>
            <a:ext cx="4310487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Three firsts for ICL theory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609600" y="1447800"/>
            <a:ext cx="10972800" cy="609600"/>
            <a:chOff x="609600" y="1447800"/>
            <a:chExt cx="10972800" cy="609600"/>
          </a:xfrm>
        </p:grpSpPr>
        <p:sp>
          <p:nvSpPr>
            <p:cNvPr id="5" name="Rectangle 5"/>
            <p:cNvSpPr/>
            <p:nvPr/>
          </p:nvSpPr>
          <p:spPr>
            <a:xfrm>
              <a:off x="609600" y="1447800"/>
              <a:ext cx="10972800" cy="609600"/>
            </a:xfrm>
            <a:prstGeom prst="roundRect">
              <a:avLst>
                <a:gd name="adj" fmla="val 21875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09600" y="1447800"/>
              <a:ext cx="57150" cy="6096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69823" y="1691164"/>
              <a:ext cx="99311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training theory for genuinely nonlinear Transformers, a mechanism, and the first analysis of pruning for ICL.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9600" y="2286000"/>
            <a:ext cx="3505200" cy="2952750"/>
            <a:chOff x="609600" y="2286000"/>
            <a:chExt cx="3505200" cy="2952750"/>
          </a:xfrm>
        </p:grpSpPr>
        <p:sp>
          <p:nvSpPr>
            <p:cNvPr id="9" name="Rectangle 9"/>
            <p:cNvSpPr/>
            <p:nvPr/>
          </p:nvSpPr>
          <p:spPr>
            <a:xfrm>
              <a:off x="609600" y="2286000"/>
              <a:ext cx="3505200" cy="2952750"/>
            </a:xfrm>
            <a:prstGeom prst="roundRect">
              <a:avLst>
                <a:gd name="adj" fmla="val 4516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609600" y="2286000"/>
              <a:ext cx="3505200" cy="571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847725" y="2695575"/>
              <a:ext cx="514350" cy="514350"/>
            </a:xfrm>
            <a:prstGeom prst="ellipse">
              <a:avLst/>
            </a:prstGeom>
            <a:noFill/>
            <a:ln w="23812">
              <a:solidFill>
                <a:schemeClr val="accent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06009" y="28051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69061" y="3465671"/>
              <a:ext cx="17572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Train + generalize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70966" y="3887152"/>
              <a:ext cx="2799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First characterization of how to train a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70966" y="4106228"/>
              <a:ext cx="2269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Transformer with both nonlinear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70966" y="4325302"/>
              <a:ext cx="24916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self-attention and a nonlinear MLP,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70966" y="4544378"/>
              <a:ext cx="25691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proving it generalizes in-context and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70966" y="4763452"/>
              <a:ext cx="26044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quantifying the data, iterations, and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70966" y="4982528"/>
              <a:ext cx="17351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context length required.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343400" y="2286000"/>
            <a:ext cx="3505200" cy="2952750"/>
            <a:chOff x="4343400" y="2286000"/>
            <a:chExt cx="3505200" cy="2952750"/>
          </a:xfrm>
        </p:grpSpPr>
        <p:sp>
          <p:nvSpPr>
            <p:cNvPr id="21" name="Rectangle 21"/>
            <p:cNvSpPr/>
            <p:nvPr/>
          </p:nvSpPr>
          <p:spPr>
            <a:xfrm>
              <a:off x="4343400" y="2286000"/>
              <a:ext cx="3505200" cy="2952750"/>
            </a:xfrm>
            <a:prstGeom prst="roundRect">
              <a:avLst>
                <a:gd name="adj" fmla="val 4516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4343400" y="2286000"/>
              <a:ext cx="3505200" cy="57150"/>
            </a:xfrm>
            <a:prstGeom prst="roundRect">
              <a:avLst>
                <a:gd name="adj" fmla="val 50000"/>
              </a:avLst>
            </a:prstGeom>
            <a:solidFill>
              <a:srgbClr val="34D3C0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4581525" y="2695575"/>
              <a:ext cx="514350" cy="514350"/>
            </a:xfrm>
            <a:prstGeom prst="ellipse">
              <a:avLst/>
            </a:prstGeom>
            <a:noFill/>
            <a:ln w="23812">
              <a:solidFill>
                <a:srgbClr val="34D3C0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739809" y="28051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34D3C0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602861" y="3465671"/>
              <a:ext cx="14362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 mechanism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04766" y="3887152"/>
              <a:ext cx="24535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Explains how the ability arises: the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04766" y="4106228"/>
              <a:ext cx="23357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attention layer and the MLP layer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04766" y="4325302"/>
              <a:ext cx="29012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cooperate to make correct predictions on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04766" y="4544378"/>
              <a:ext cx="9859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unseen tasks.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8077200" y="2286000"/>
            <a:ext cx="3505200" cy="2952750"/>
            <a:chOff x="8077200" y="2286000"/>
            <a:chExt cx="3505200" cy="2952750"/>
          </a:xfrm>
        </p:grpSpPr>
        <p:sp>
          <p:nvSpPr>
            <p:cNvPr id="31" name="Rectangle 31"/>
            <p:cNvSpPr/>
            <p:nvPr/>
          </p:nvSpPr>
          <p:spPr>
            <a:xfrm>
              <a:off x="8077200" y="2286000"/>
              <a:ext cx="3505200" cy="2952750"/>
            </a:xfrm>
            <a:prstGeom prst="roundRect">
              <a:avLst>
                <a:gd name="adj" fmla="val 4516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8077200" y="2286000"/>
              <a:ext cx="3505200" cy="57150"/>
            </a:xfrm>
            <a:prstGeom prst="roundRect">
              <a:avLst>
                <a:gd name="adj" fmla="val 50000"/>
              </a:avLst>
            </a:prstGeom>
            <a:solidFill>
              <a:srgbClr val="F2C14E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8315325" y="2695575"/>
              <a:ext cx="514350" cy="514350"/>
            </a:xfrm>
            <a:prstGeom prst="ellipse">
              <a:avLst/>
            </a:prstGeom>
            <a:noFill/>
            <a:ln w="23812">
              <a:solidFill>
                <a:srgbClr val="F2C14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473609" y="28051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2C14E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36661" y="3465671"/>
              <a:ext cx="146594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Pruning theory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38566" y="3887152"/>
              <a:ext cx="19868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First theoretical analysis of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38566" y="4106228"/>
              <a:ext cx="28802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magnitude-based pruning for ICL, proving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338566" y="4325302"/>
              <a:ext cx="28800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that removing the low-magnitude neurons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338566" y="4544378"/>
              <a:ext cx="16574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is essentially harmless.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495300"/>
            <a:ext cx="47625" cy="24765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75335" y="564356"/>
            <a:ext cx="76405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88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METHOD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8170" y="804862"/>
            <a:ext cx="7173215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One nonlinear layer, tracked through training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609600" y="1447800"/>
            <a:ext cx="5410200" cy="1885950"/>
            <a:chOff x="609600" y="1447800"/>
            <a:chExt cx="5410200" cy="1885950"/>
          </a:xfrm>
        </p:grpSpPr>
        <p:sp>
          <p:nvSpPr>
            <p:cNvPr id="5" name="Rectangle 5"/>
            <p:cNvSpPr/>
            <p:nvPr/>
          </p:nvSpPr>
          <p:spPr>
            <a:xfrm>
              <a:off x="609600" y="1447800"/>
              <a:ext cx="5410200" cy="1885950"/>
            </a:xfrm>
            <a:prstGeom prst="roundRect">
              <a:avLst>
                <a:gd name="adj" fmla="val 7071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09600" y="1447800"/>
              <a:ext cx="57150" cy="18859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70014" y="1676162"/>
              <a:ext cx="2822856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The model · minimal but nonlinear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70776" y="1978104"/>
              <a:ext cx="3934052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One self-attention head with a softmax, followed by a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70776" y="2187654"/>
              <a:ext cx="3180750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two-layer perceptron with ReLU activation.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76300" y="2514600"/>
              <a:ext cx="4876800" cy="323850"/>
            </a:xfrm>
            <a:prstGeom prst="roundRect">
              <a:avLst>
                <a:gd name="adj" fmla="val 23529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1000125" y="2628900"/>
              <a:ext cx="95250" cy="95250"/>
            </a:xfrm>
            <a:prstGeom prst="ellipse">
              <a:avLst/>
            </a:prstGeom>
            <a:solidFill>
              <a:srgbClr val="34D3C0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95006" y="2614851"/>
              <a:ext cx="2494389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softmax self-attention (nonlinear)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76300" y="2914650"/>
              <a:ext cx="4876800" cy="323850"/>
            </a:xfrm>
            <a:prstGeom prst="roundRect">
              <a:avLst>
                <a:gd name="adj" fmla="val 23529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1000125" y="3028950"/>
              <a:ext cx="95250" cy="95250"/>
            </a:xfrm>
            <a:prstGeom prst="ellipse">
              <a:avLst/>
            </a:prstGeom>
            <a:solidFill>
              <a:srgbClr val="F2C14E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95006" y="3014901"/>
              <a:ext cx="2239972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two-layer ReLU MLP (nonlinear)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172200" y="1447800"/>
            <a:ext cx="5410200" cy="1885950"/>
            <a:chOff x="6172200" y="1447800"/>
            <a:chExt cx="5410200" cy="1885950"/>
          </a:xfrm>
        </p:grpSpPr>
        <p:sp>
          <p:nvSpPr>
            <p:cNvPr id="17" name="Rectangle 17"/>
            <p:cNvSpPr/>
            <p:nvPr/>
          </p:nvSpPr>
          <p:spPr>
            <a:xfrm>
              <a:off x="6172200" y="1447800"/>
              <a:ext cx="5410200" cy="1885950"/>
            </a:xfrm>
            <a:prstGeom prst="roundRect">
              <a:avLst>
                <a:gd name="adj" fmla="val 7071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6172200" y="1447800"/>
              <a:ext cx="57150" cy="1885950"/>
            </a:xfrm>
            <a:prstGeom prst="roundRect">
              <a:avLst>
                <a:gd name="adj" fmla="val 50000"/>
              </a:avLst>
            </a:prstGeom>
            <a:solidFill>
              <a:srgbClr val="34D3C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432614" y="1676162"/>
              <a:ext cx="2936805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b="1" dirty="0">
                  <a:solidFill>
                    <a:srgbClr val="34D3C0"/>
                  </a:solidFill>
                  <a:latin typeface="+mn-lt"/>
                  <a:ea typeface="+mn-ea"/>
                  <a:cs typeface="+mn-cs"/>
                </a:rPr>
                <a:t>Training · hinge loss over prompts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33566" y="1982152"/>
              <a:ext cx="42702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Augment each query with a length-l context of example pairs;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33566" y="2191702"/>
              <a:ext cx="38483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minimize hinge loss over a small subset of binary tasks.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438900" y="2571750"/>
              <a:ext cx="4876800" cy="552450"/>
            </a:xfrm>
            <a:prstGeom prst="roundRect">
              <a:avLst>
                <a:gd name="adj" fmla="val 13793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326838" y="2687002"/>
              <a:ext cx="31009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F = a^T ReLU( W_O sum_i W_V p_i attn(i) 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278798" y="2904649"/>
              <a:ext cx="31970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chemeClr val="dk2"/>
                  </a:solidFill>
                  <a:latin typeface="Consolas"/>
                  <a:ea typeface="Consolas"/>
                  <a:cs typeface="Consolas"/>
                </a:rPr>
                <a:t>attn(i) = softmax( (W_K p_i)^T W_Q p_query )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09600" y="3448050"/>
            <a:ext cx="5410200" cy="1885950"/>
            <a:chOff x="609600" y="3448050"/>
            <a:chExt cx="5410200" cy="1885950"/>
          </a:xfrm>
        </p:grpSpPr>
        <p:sp>
          <p:nvSpPr>
            <p:cNvPr id="26" name="Rectangle 26"/>
            <p:cNvSpPr/>
            <p:nvPr/>
          </p:nvSpPr>
          <p:spPr>
            <a:xfrm>
              <a:off x="609600" y="3448050"/>
              <a:ext cx="5410200" cy="1885950"/>
            </a:xfrm>
            <a:prstGeom prst="roundRect">
              <a:avLst>
                <a:gd name="adj" fmla="val 7071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09600" y="3448050"/>
              <a:ext cx="57150" cy="1885950"/>
            </a:xfrm>
            <a:prstGeom prst="roundRect">
              <a:avLst>
                <a:gd name="adj" fmla="val 50000"/>
              </a:avLst>
            </a:prstGeom>
            <a:solidFill>
              <a:srgbClr val="F2C14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70014" y="3676412"/>
              <a:ext cx="3000885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b="1" dirty="0">
                  <a:solidFill>
                    <a:srgbClr val="F2C14E"/>
                  </a:solidFill>
                  <a:latin typeface="+mn-lt"/>
                  <a:ea typeface="+mn-ea"/>
                  <a:cs typeface="+mn-cs"/>
                </a:rPr>
                <a:t>Analysis · follow the GD trajectory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70966" y="3982402"/>
              <a:ext cx="39462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Track gradient descent on the query, key, value and MLP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70966" y="4182428"/>
              <a:ext cx="40038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weights, then evaluate in-domain and under a distribution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70966" y="4382452"/>
              <a:ext cx="4417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shift.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76300" y="4572000"/>
              <a:ext cx="4876800" cy="304800"/>
            </a:xfrm>
            <a:prstGeom prst="roundRect">
              <a:avLst>
                <a:gd name="adj" fmla="val 25000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1000125" y="467677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195197" y="4666774"/>
              <a:ext cx="242022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in-domain -&gt; same task distribution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876300" y="4933950"/>
              <a:ext cx="4876800" cy="304800"/>
            </a:xfrm>
            <a:prstGeom prst="roundRect">
              <a:avLst>
                <a:gd name="adj" fmla="val 25000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1000125" y="5038725"/>
              <a:ext cx="95250" cy="95250"/>
            </a:xfrm>
            <a:prstGeom prst="ellipse">
              <a:avLst/>
            </a:prstGeom>
            <a:solidFill>
              <a:srgbClr val="34D3C0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195197" y="5028724"/>
              <a:ext cx="29119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out-of-domain -&gt; patterns = linear combos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6172200" y="3448050"/>
            <a:ext cx="5410200" cy="1885950"/>
            <a:chOff x="6172200" y="3448050"/>
            <a:chExt cx="5410200" cy="1885950"/>
          </a:xfrm>
        </p:grpSpPr>
        <p:sp>
          <p:nvSpPr>
            <p:cNvPr id="39" name="Rectangle 39"/>
            <p:cNvSpPr/>
            <p:nvPr/>
          </p:nvSpPr>
          <p:spPr>
            <a:xfrm>
              <a:off x="6172200" y="3448050"/>
              <a:ext cx="5410200" cy="1885950"/>
            </a:xfrm>
            <a:prstGeom prst="roundRect">
              <a:avLst>
                <a:gd name="adj" fmla="val 7071"/>
              </a:avLst>
            </a:prstGeom>
            <a:solidFill>
              <a:srgbClr val="0F2E2B"/>
            </a:solidFill>
            <a:ln w="14288">
              <a:solidFill>
                <a:srgbClr val="34D3C0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172200" y="3448050"/>
              <a:ext cx="57150" cy="1885950"/>
            </a:xfrm>
            <a:prstGeom prst="roundRect">
              <a:avLst>
                <a:gd name="adj" fmla="val 50000"/>
              </a:avLst>
            </a:prstGeom>
            <a:solidFill>
              <a:srgbClr val="48C78E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432614" y="3676412"/>
              <a:ext cx="3120609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b="1" dirty="0">
                  <a:solidFill>
                    <a:srgbClr val="48C78E"/>
                  </a:solidFill>
                  <a:latin typeface="+mn-lt"/>
                  <a:ea typeface="+mn-ea"/>
                  <a:cs typeface="+mn-cs"/>
                </a:rPr>
                <a:t>Two quantities drive the guarantees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438900" y="4038600"/>
              <a:ext cx="2457450" cy="1028700"/>
            </a:xfrm>
            <a:prstGeom prst="roundRect">
              <a:avLst>
                <a:gd name="adj" fmla="val 9259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313176" y="4228148"/>
              <a:ext cx="70889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alpha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759347" y="4623197"/>
              <a:ext cx="181655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4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fraction of context sharing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706199" y="4794647"/>
              <a:ext cx="1922852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4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the query's relevant pattern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9048750" y="4038600"/>
              <a:ext cx="2457450" cy="1028700"/>
            </a:xfrm>
            <a:prstGeom prst="roundRect">
              <a:avLst>
                <a:gd name="adj" fmla="val 9259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964371" y="4228148"/>
              <a:ext cx="62620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b="1" dirty="0">
                  <a:solidFill>
                    <a:srgbClr val="34D3C0"/>
                  </a:solidFill>
                  <a:latin typeface="Consolas"/>
                  <a:ea typeface="Consolas"/>
                  <a:cs typeface="Consolas"/>
                </a:rPr>
                <a:t>beta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724624" y="4623197"/>
              <a:ext cx="1105702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4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magnitude of the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684763" y="4794647"/>
              <a:ext cx="1185424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4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relevant features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495300"/>
            <a:ext cx="47625" cy="24765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75335" y="564356"/>
            <a:ext cx="219060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88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DATASET / BENCHMARK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8170" y="804862"/>
            <a:ext cx="6712496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 synthetic setup that matches the theory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609600" y="1447800"/>
            <a:ext cx="10972800" cy="917734"/>
            <a:chOff x="609600" y="1447800"/>
            <a:chExt cx="10972800" cy="917734"/>
          </a:xfrm>
        </p:grpSpPr>
        <p:sp>
          <p:nvSpPr>
            <p:cNvPr id="5" name="Rectangle 5"/>
            <p:cNvSpPr/>
            <p:nvPr/>
          </p:nvSpPr>
          <p:spPr>
            <a:xfrm>
              <a:off x="609600" y="1447800"/>
              <a:ext cx="10972800" cy="762000"/>
            </a:xfrm>
            <a:prstGeom prst="roundRect">
              <a:avLst>
                <a:gd name="adj" fmla="val 17500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09600" y="1447800"/>
              <a:ext cx="57150" cy="762000"/>
            </a:xfrm>
            <a:prstGeom prst="roundRect">
              <a:avLst>
                <a:gd name="adj" fmla="val 50000"/>
              </a:avLst>
            </a:prstGeom>
            <a:solidFill>
              <a:srgbClr val="34D3C0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70585" y="1650206"/>
              <a:ext cx="23352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75" dirty="0">
                  <a:solidFill>
                    <a:srgbClr val="34D3C0"/>
                  </a:solidFill>
                  <a:latin typeface="+mn-lt"/>
                  <a:ea typeface="+mn-ea"/>
                  <a:cs typeface="+mn-cs"/>
                </a:rPr>
                <a:t>Controlled synthetic tasks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70585" y="1916906"/>
              <a:ext cx="7223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Binary classification tasks built from a fixed pool of patterns, so every quantity in the theorems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70585" y="2145506"/>
              <a:ext cx="19262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can be measured directly.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9600" y="2400300"/>
            <a:ext cx="5334000" cy="1771650"/>
            <a:chOff x="609600" y="2400300"/>
            <a:chExt cx="5334000" cy="1771650"/>
          </a:xfrm>
        </p:grpSpPr>
        <p:sp>
          <p:nvSpPr>
            <p:cNvPr id="11" name="Rectangle 11"/>
            <p:cNvSpPr/>
            <p:nvPr/>
          </p:nvSpPr>
          <p:spPr>
            <a:xfrm>
              <a:off x="609600" y="2400300"/>
              <a:ext cx="5334000" cy="1771650"/>
            </a:xfrm>
            <a:prstGeom prst="roundRect">
              <a:avLst>
                <a:gd name="adj" fmla="val 7527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609600" y="2400300"/>
              <a:ext cx="57150" cy="17716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70014" y="2628662"/>
              <a:ext cx="1429243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The pattern pool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76300" y="2933700"/>
              <a:ext cx="2343150" cy="990600"/>
            </a:xfrm>
            <a:prstGeom prst="roundRect">
              <a:avLst>
                <a:gd name="adj" fmla="val 11538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935799" y="3173540"/>
              <a:ext cx="22415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5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22909" y="3620929"/>
              <a:ext cx="16499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in-domain relevant (M1)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3333750" y="2933700"/>
              <a:ext cx="2343150" cy="990600"/>
            </a:xfrm>
            <a:prstGeom prst="roundRect">
              <a:avLst>
                <a:gd name="adj" fmla="val 11538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294126" y="3173540"/>
              <a:ext cx="42239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550" b="1" dirty="0">
                  <a:solidFill>
                    <a:srgbClr val="F2C14E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638965" y="3620929"/>
              <a:ext cx="173272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irrelevant patterns (M2)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71347" y="3971449"/>
              <a:ext cx="37339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Only the relevant patterns determine an input's label.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248400" y="2400300"/>
            <a:ext cx="5334000" cy="1771650"/>
            <a:chOff x="6248400" y="2400300"/>
            <a:chExt cx="5334000" cy="1771650"/>
          </a:xfrm>
        </p:grpSpPr>
        <p:sp>
          <p:nvSpPr>
            <p:cNvPr id="22" name="Rectangle 22"/>
            <p:cNvSpPr/>
            <p:nvPr/>
          </p:nvSpPr>
          <p:spPr>
            <a:xfrm>
              <a:off x="6248400" y="2400300"/>
              <a:ext cx="5334000" cy="1771650"/>
            </a:xfrm>
            <a:prstGeom prst="roundRect">
              <a:avLst>
                <a:gd name="adj" fmla="val 7527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248400" y="2400300"/>
              <a:ext cx="57150" cy="1771650"/>
            </a:xfrm>
            <a:prstGeom prst="roundRect">
              <a:avLst>
                <a:gd name="adj" fmla="val 50000"/>
              </a:avLst>
            </a:prstGeom>
            <a:solidFill>
              <a:srgbClr val="F2C14E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508814" y="2628662"/>
              <a:ext cx="1648399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b="1" dirty="0">
                  <a:solidFill>
                    <a:srgbClr val="F2C14E"/>
                  </a:solidFill>
                  <a:latin typeface="+mn-lt"/>
                  <a:ea typeface="+mn-ea"/>
                  <a:cs typeface="+mn-cs"/>
                </a:rPr>
                <a:t>Two models trained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515100" y="2933700"/>
              <a:ext cx="4800600" cy="304800"/>
            </a:xfrm>
            <a:prstGeom prst="roundRect">
              <a:avLst>
                <a:gd name="adj" fmla="val 25000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6638925" y="3038475"/>
              <a:ext cx="95250" cy="95250"/>
            </a:xfrm>
            <a:prstGeom prst="ellipse">
              <a:avLst/>
            </a:prstGeom>
            <a:solidFill>
              <a:srgbClr val="34D3C0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833806" y="3024426"/>
              <a:ext cx="3197072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One-layer Transformer -&gt; the analyzed model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515100" y="3314700"/>
              <a:ext cx="4800600" cy="304800"/>
            </a:xfrm>
            <a:prstGeom prst="roundRect">
              <a:avLst>
                <a:gd name="adj" fmla="val 25000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6638925" y="341947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833806" y="3405426"/>
              <a:ext cx="2800367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GPT-2 -&gt; 3 layers, 2 heads (real-world)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510147" y="3838099"/>
              <a:ext cx="47292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The toy model the theory covers, plus a small practical Transformer.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09600" y="4362450"/>
            <a:ext cx="10972800" cy="876300"/>
            <a:chOff x="609600" y="4362450"/>
            <a:chExt cx="10972800" cy="876300"/>
          </a:xfrm>
        </p:grpSpPr>
        <p:sp>
          <p:nvSpPr>
            <p:cNvPr id="33" name="Rectangle 33"/>
            <p:cNvSpPr/>
            <p:nvPr/>
          </p:nvSpPr>
          <p:spPr>
            <a:xfrm>
              <a:off x="609600" y="4362450"/>
              <a:ext cx="10972800" cy="876300"/>
            </a:xfrm>
            <a:prstGeom prst="roundRect">
              <a:avLst>
                <a:gd name="adj" fmla="val 15217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09600" y="4362450"/>
              <a:ext cx="57150" cy="876300"/>
            </a:xfrm>
            <a:prstGeom prst="roundRect">
              <a:avLst>
                <a:gd name="adj" fmla="val 50000"/>
              </a:avLst>
            </a:prstGeom>
            <a:solidFill>
              <a:srgbClr val="48C78E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70204" y="4556760"/>
              <a:ext cx="53270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48C78E"/>
                  </a:solidFill>
                  <a:latin typeface="+mn-lt"/>
                  <a:ea typeface="+mn-ea"/>
                  <a:cs typeface="+mn-cs"/>
                </a:rPr>
                <a:t>Configuration · in-domain training and out-of-domain evaluation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76300" y="4819650"/>
              <a:ext cx="2857500" cy="304800"/>
            </a:xfrm>
            <a:prstGeom prst="roundRect">
              <a:avLst>
                <a:gd name="adj" fmla="val 25000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1000125" y="4924425"/>
              <a:ext cx="95250" cy="95250"/>
            </a:xfrm>
            <a:prstGeom prst="ellipse">
              <a:avLst/>
            </a:prstGeom>
            <a:solidFill>
              <a:srgbClr val="48C78E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195006" y="4910376"/>
              <a:ext cx="1445070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context length l = 20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3848100" y="4819650"/>
              <a:ext cx="2857500" cy="304800"/>
            </a:xfrm>
            <a:prstGeom prst="roundRect">
              <a:avLst>
                <a:gd name="adj" fmla="val 25000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3971925" y="492442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166806" y="4910376"/>
              <a:ext cx="2066096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relevant fraction alpha = 80%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819900" y="4819650"/>
              <a:ext cx="4000500" cy="304800"/>
            </a:xfrm>
            <a:prstGeom prst="roundRect">
              <a:avLst>
                <a:gd name="adj" fmla="val 25000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6943725" y="4924425"/>
              <a:ext cx="95250" cy="95250"/>
            </a:xfrm>
            <a:prstGeom prst="ellipse">
              <a:avLst/>
            </a:prstGeom>
            <a:solidFill>
              <a:srgbClr val="F2C14E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138606" y="4910376"/>
              <a:ext cx="2809445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OOD: relevant patterns = linear combos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495300"/>
            <a:ext cx="47625" cy="24765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75335" y="564356"/>
            <a:ext cx="113029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88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KEY RESULT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8170" y="804862"/>
            <a:ext cx="6156414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Provable ICL, in-domain and under shift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609600" y="1447800"/>
            <a:ext cx="10972800" cy="923972"/>
            <a:chOff x="609600" y="1447800"/>
            <a:chExt cx="10972800" cy="923972"/>
          </a:xfrm>
        </p:grpSpPr>
        <p:sp>
          <p:nvSpPr>
            <p:cNvPr id="5" name="Rectangle 5"/>
            <p:cNvSpPr/>
            <p:nvPr/>
          </p:nvSpPr>
          <p:spPr>
            <a:xfrm>
              <a:off x="609600" y="1447800"/>
              <a:ext cx="10972800" cy="914400"/>
            </a:xfrm>
            <a:prstGeom prst="roundRect">
              <a:avLst>
                <a:gd name="adj" fmla="val 14583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09600" y="1447800"/>
              <a:ext cx="57150" cy="914400"/>
            </a:xfrm>
            <a:prstGeom prst="roundRect">
              <a:avLst>
                <a:gd name="adj" fmla="val 50000"/>
              </a:avLst>
            </a:prstGeom>
            <a:solidFill>
              <a:srgbClr val="48C78E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70014" y="1638062"/>
              <a:ext cx="3497754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b="1" dirty="0">
                  <a:solidFill>
                    <a:srgbClr val="48C78E"/>
                  </a:solidFill>
                  <a:latin typeface="+mn-lt"/>
                  <a:ea typeface="+mn-ea"/>
                  <a:cs typeface="+mn-cs"/>
                </a:rPr>
                <a:t>Main theorem · polynomial cost is enough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70776" y="1940004"/>
              <a:ext cx="7543437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Iterations and a matching number of samples that grow only polynomially in the problem parameters drive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70776" y="2159079"/>
              <a:ext cx="4156335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the in-domain generalization error down to order epsilon.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382000" y="1600200"/>
              <a:ext cx="3048000" cy="609600"/>
            </a:xfrm>
            <a:prstGeom prst="roundRect">
              <a:avLst>
                <a:gd name="adj" fmla="val 12500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21289" y="1757601"/>
              <a:ext cx="1769422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1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T = Theta( M1 alpha^-2/3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811752" y="1948101"/>
              <a:ext cx="2188496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1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beta^-2/3 sqrt(log M1) / eta )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09600" y="2533650"/>
            <a:ext cx="5334000" cy="2705100"/>
            <a:chOff x="609600" y="2533650"/>
            <a:chExt cx="5334000" cy="2705100"/>
          </a:xfrm>
        </p:grpSpPr>
        <p:sp>
          <p:nvSpPr>
            <p:cNvPr id="14" name="Rectangle 14"/>
            <p:cNvSpPr/>
            <p:nvPr/>
          </p:nvSpPr>
          <p:spPr>
            <a:xfrm>
              <a:off x="609600" y="2533650"/>
              <a:ext cx="5334000" cy="2705100"/>
            </a:xfrm>
            <a:prstGeom prst="roundRect">
              <a:avLst>
                <a:gd name="adj" fmla="val 4930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609600" y="2533650"/>
              <a:ext cx="57150" cy="2705100"/>
            </a:xfrm>
            <a:prstGeom prst="roundRect">
              <a:avLst>
                <a:gd name="adj" fmla="val 50000"/>
              </a:avLst>
            </a:prstGeom>
            <a:solidFill>
              <a:srgbClr val="34D3C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70014" y="2762012"/>
              <a:ext cx="2638871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b="1" dirty="0">
                  <a:solidFill>
                    <a:srgbClr val="34D3C0"/>
                  </a:solidFill>
                  <a:latin typeface="+mn-lt"/>
                  <a:ea typeface="+mn-ea"/>
                  <a:cs typeface="+mn-cs"/>
                </a:rPr>
                <a:t>Generalizes out of domain, too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70776" y="3083004"/>
              <a:ext cx="4263958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The same trained model handles shifted tasks whenever the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70776" y="3302079"/>
              <a:ext cx="3826180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new relevant patterns are linear combinations of the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70776" y="3521154"/>
              <a:ext cx="1353682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training patterns.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76300" y="3943350"/>
              <a:ext cx="4800600" cy="571500"/>
            </a:xfrm>
            <a:prstGeom prst="roundRect">
              <a:avLst>
                <a:gd name="adj" fmla="val 13333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071290" y="4166235"/>
              <a:ext cx="24106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2C14E"/>
                  </a:solidFill>
                  <a:latin typeface="Consolas"/>
                  <a:ea typeface="Consolas"/>
                  <a:cs typeface="Consolas"/>
                </a:rPr>
                <a:t>combination strength S1 &gt;= 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71156" y="4710351"/>
              <a:ext cx="4118593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 single trained Transformer covers a whole family of shifted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71156" y="4900851"/>
              <a:ext cx="2158553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tasks, not just the ones it saw.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248400" y="2533650"/>
            <a:ext cx="5334000" cy="2705100"/>
            <a:chOff x="6248400" y="2533650"/>
            <a:chExt cx="5334000" cy="2705100"/>
          </a:xfrm>
        </p:grpSpPr>
        <p:sp>
          <p:nvSpPr>
            <p:cNvPr id="25" name="Rectangle 25"/>
            <p:cNvSpPr/>
            <p:nvPr/>
          </p:nvSpPr>
          <p:spPr>
            <a:xfrm>
              <a:off x="6248400" y="2533650"/>
              <a:ext cx="5334000" cy="2705100"/>
            </a:xfrm>
            <a:prstGeom prst="roundRect">
              <a:avLst>
                <a:gd name="adj" fmla="val 4930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248400" y="2533650"/>
              <a:ext cx="57150" cy="27051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09194" y="2770108"/>
              <a:ext cx="3238561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6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Out-of-domain error collapses at S1 = 1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667500" y="3105150"/>
              <a:ext cx="4629150" cy="1866900"/>
            </a:xfrm>
            <a:prstGeom prst="roundRect">
              <a:avLst>
                <a:gd name="adj" fmla="val 5102"/>
              </a:avLst>
            </a:prstGeom>
            <a:solidFill>
              <a:srgbClr val="0E2334"/>
            </a:solidFill>
            <a:ln w="14288">
              <a:solidFill>
                <a:srgbClr val="26455F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7162800" y="3238500"/>
              <a:ext cx="9525" cy="1409700"/>
            </a:xfrm>
            <a:custGeom>
              <a:avLst/>
              <a:gdLst/>
              <a:ahLst/>
              <a:cxnLst/>
              <a:rect l="l" t="t" r="r" b="b"/>
              <a:pathLst>
                <a:path w="9525" h="1409700">
                  <a:moveTo>
                    <a:pt x="0" y="0"/>
                  </a:moveTo>
                  <a:lnTo>
                    <a:pt x="0" y="1409700"/>
                  </a:lnTo>
                </a:path>
              </a:pathLst>
            </a:custGeom>
            <a:noFill/>
            <a:ln w="14288" cap="rnd">
              <a:solidFill>
                <a:srgbClr val="26455F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7162800" y="4648200"/>
              <a:ext cx="3829050" cy="9525"/>
            </a:xfrm>
            <a:custGeom>
              <a:avLst/>
              <a:gdLst/>
              <a:ahLst/>
              <a:cxnLst/>
              <a:rect l="l" t="t" r="r" b="b"/>
              <a:pathLst>
                <a:path w="3829050" h="9525">
                  <a:moveTo>
                    <a:pt x="0" y="0"/>
                  </a:moveTo>
                  <a:lnTo>
                    <a:pt x="3829050" y="0"/>
                  </a:lnTo>
                </a:path>
              </a:pathLst>
            </a:custGeom>
            <a:noFill/>
            <a:ln w="14288" cap="rnd">
              <a:solidFill>
                <a:srgbClr val="26455F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999038" y="4597241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b="1" dirty="0">
                  <a:solidFill>
                    <a:srgbClr val="6E869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871540" y="3206591"/>
              <a:ext cx="20077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b="1" dirty="0">
                  <a:solidFill>
                    <a:srgbClr val="6E869C"/>
                  </a:solidFill>
                  <a:latin typeface="+mn-lt"/>
                  <a:ea typeface="+mn-ea"/>
                  <a:cs typeface="+mn-cs"/>
                </a:rPr>
                <a:t>err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126163" y="4730591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6E869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37578" y="472249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2C14E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955213" y="4730591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6E869C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255020" y="4840843"/>
              <a:ext cx="1454110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6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combination strength S1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9077325" y="3238500"/>
              <a:ext cx="9525" cy="1409700"/>
            </a:xfrm>
            <a:custGeom>
              <a:avLst/>
              <a:gdLst/>
              <a:ahLst/>
              <a:cxnLst/>
              <a:rect l="l" t="t" r="r" b="b"/>
              <a:pathLst>
                <a:path w="9525" h="1409700">
                  <a:moveTo>
                    <a:pt x="0" y="0"/>
                  </a:moveTo>
                  <a:lnTo>
                    <a:pt x="0" y="1409700"/>
                  </a:lnTo>
                </a:path>
              </a:pathLst>
            </a:custGeom>
            <a:noFill/>
            <a:ln w="11430" cap="rnd">
              <a:solidFill>
                <a:srgbClr val="F2C14E"/>
              </a:solidFill>
              <a:prstDash val="dash"/>
            </a:ln>
          </p:spPr>
        </p:sp>
        <p:sp>
          <p:nvSpPr>
            <p:cNvPr id="38" name="Line 38"/>
            <p:cNvSpPr/>
            <p:nvPr/>
          </p:nvSpPr>
          <p:spPr>
            <a:xfrm>
              <a:off x="7162800" y="4572762"/>
              <a:ext cx="3829050" cy="9525"/>
            </a:xfrm>
            <a:custGeom>
              <a:avLst/>
              <a:gdLst/>
              <a:ahLst/>
              <a:cxnLst/>
              <a:rect l="l" t="t" r="r" b="b"/>
              <a:pathLst>
                <a:path w="3829050" h="9525">
                  <a:moveTo>
                    <a:pt x="0" y="0"/>
                  </a:moveTo>
                  <a:lnTo>
                    <a:pt x="3829050" y="0"/>
                  </a:lnTo>
                </a:path>
              </a:pathLst>
            </a:custGeom>
            <a:noFill/>
            <a:ln w="9525" cap="rnd">
              <a:solidFill>
                <a:srgbClr val="F2685C"/>
              </a:solidFill>
              <a:custDash>
                <a:ds d="300000" sp="300000"/>
              </a:custDash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633569" y="4445603"/>
              <a:ext cx="36304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b="1" dirty="0">
                  <a:solidFill>
                    <a:srgbClr val="F2685C"/>
                  </a:solidFill>
                  <a:latin typeface="+mn-lt"/>
                  <a:ea typeface="+mn-ea"/>
                  <a:cs typeface="+mn-cs"/>
                </a:rPr>
                <a:t>&lt; 0.01</a:t>
              </a:r>
            </a:p>
          </p:txBody>
        </p:sp>
        <p:sp>
          <p:nvSpPr>
            <p:cNvPr id="40" name="Polyline 40"/>
            <p:cNvSpPr/>
            <p:nvPr/>
          </p:nvSpPr>
          <p:spPr>
            <a:xfrm>
              <a:off x="7162800" y="3491484"/>
              <a:ext cx="3829050" cy="1097549"/>
            </a:xfrm>
            <a:custGeom>
              <a:avLst/>
              <a:gdLst/>
              <a:ahLst/>
              <a:cxnLst/>
              <a:rect l="l" t="t" r="r" b="b"/>
              <a:pathLst>
                <a:path w="3829050" h="1097549">
                  <a:moveTo>
                    <a:pt x="0" y="0"/>
                  </a:moveTo>
                  <a:lnTo>
                    <a:pt x="38290" y="3018"/>
                  </a:lnTo>
                  <a:lnTo>
                    <a:pt x="76581" y="6035"/>
                  </a:lnTo>
                  <a:lnTo>
                    <a:pt x="114871" y="9053"/>
                  </a:lnTo>
                  <a:lnTo>
                    <a:pt x="153162" y="12070"/>
                  </a:lnTo>
                  <a:lnTo>
                    <a:pt x="191453" y="15088"/>
                  </a:lnTo>
                  <a:lnTo>
                    <a:pt x="229743" y="18105"/>
                  </a:lnTo>
                  <a:lnTo>
                    <a:pt x="268033" y="21123"/>
                  </a:lnTo>
                  <a:lnTo>
                    <a:pt x="306324" y="24140"/>
                  </a:lnTo>
                  <a:lnTo>
                    <a:pt x="344614" y="27158"/>
                  </a:lnTo>
                  <a:lnTo>
                    <a:pt x="382905" y="30175"/>
                  </a:lnTo>
                  <a:lnTo>
                    <a:pt x="421196" y="33193"/>
                  </a:lnTo>
                  <a:lnTo>
                    <a:pt x="459486" y="36210"/>
                  </a:lnTo>
                  <a:lnTo>
                    <a:pt x="497776" y="39228"/>
                  </a:lnTo>
                  <a:lnTo>
                    <a:pt x="536067" y="42245"/>
                  </a:lnTo>
                  <a:lnTo>
                    <a:pt x="574357" y="45263"/>
                  </a:lnTo>
                  <a:lnTo>
                    <a:pt x="612648" y="48280"/>
                  </a:lnTo>
                  <a:lnTo>
                    <a:pt x="650939" y="51298"/>
                  </a:lnTo>
                  <a:lnTo>
                    <a:pt x="689229" y="54315"/>
                  </a:lnTo>
                  <a:lnTo>
                    <a:pt x="727520" y="57333"/>
                  </a:lnTo>
                  <a:lnTo>
                    <a:pt x="765810" y="60350"/>
                  </a:lnTo>
                  <a:lnTo>
                    <a:pt x="804100" y="63368"/>
                  </a:lnTo>
                  <a:lnTo>
                    <a:pt x="842391" y="66385"/>
                  </a:lnTo>
                  <a:lnTo>
                    <a:pt x="880682" y="69403"/>
                  </a:lnTo>
                  <a:lnTo>
                    <a:pt x="918972" y="72420"/>
                  </a:lnTo>
                  <a:lnTo>
                    <a:pt x="957262" y="75438"/>
                  </a:lnTo>
                  <a:lnTo>
                    <a:pt x="995553" y="78456"/>
                  </a:lnTo>
                  <a:lnTo>
                    <a:pt x="1033843" y="81473"/>
                  </a:lnTo>
                  <a:lnTo>
                    <a:pt x="1072134" y="84491"/>
                  </a:lnTo>
                  <a:lnTo>
                    <a:pt x="1110425" y="87508"/>
                  </a:lnTo>
                  <a:lnTo>
                    <a:pt x="1148715" y="90526"/>
                  </a:lnTo>
                  <a:lnTo>
                    <a:pt x="1187006" y="93543"/>
                  </a:lnTo>
                  <a:lnTo>
                    <a:pt x="1225296" y="96561"/>
                  </a:lnTo>
                  <a:lnTo>
                    <a:pt x="1263586" y="99578"/>
                  </a:lnTo>
                  <a:lnTo>
                    <a:pt x="1301877" y="102596"/>
                  </a:lnTo>
                  <a:lnTo>
                    <a:pt x="1340168" y="105613"/>
                  </a:lnTo>
                  <a:lnTo>
                    <a:pt x="1378458" y="108631"/>
                  </a:lnTo>
                  <a:lnTo>
                    <a:pt x="1416748" y="111648"/>
                  </a:lnTo>
                  <a:lnTo>
                    <a:pt x="1455039" y="114666"/>
                  </a:lnTo>
                  <a:lnTo>
                    <a:pt x="1493329" y="117683"/>
                  </a:lnTo>
                  <a:lnTo>
                    <a:pt x="1531620" y="120701"/>
                  </a:lnTo>
                  <a:lnTo>
                    <a:pt x="1569910" y="123718"/>
                  </a:lnTo>
                  <a:lnTo>
                    <a:pt x="1608201" y="126736"/>
                  </a:lnTo>
                  <a:lnTo>
                    <a:pt x="1646492" y="129753"/>
                  </a:lnTo>
                  <a:lnTo>
                    <a:pt x="1684782" y="132771"/>
                  </a:lnTo>
                  <a:lnTo>
                    <a:pt x="1723072" y="135788"/>
                  </a:lnTo>
                  <a:lnTo>
                    <a:pt x="1761363" y="138806"/>
                  </a:lnTo>
                  <a:lnTo>
                    <a:pt x="1799654" y="141823"/>
                  </a:lnTo>
                  <a:lnTo>
                    <a:pt x="1837944" y="144841"/>
                  </a:lnTo>
                  <a:lnTo>
                    <a:pt x="1876235" y="147858"/>
                  </a:lnTo>
                  <a:lnTo>
                    <a:pt x="1914525" y="150876"/>
                  </a:lnTo>
                  <a:lnTo>
                    <a:pt x="1952815" y="394716"/>
                  </a:lnTo>
                  <a:lnTo>
                    <a:pt x="1991106" y="543399"/>
                  </a:lnTo>
                  <a:lnTo>
                    <a:pt x="2029396" y="643532"/>
                  </a:lnTo>
                  <a:lnTo>
                    <a:pt x="2067687" y="715558"/>
                  </a:lnTo>
                  <a:lnTo>
                    <a:pt x="2105978" y="769854"/>
                  </a:lnTo>
                  <a:lnTo>
                    <a:pt x="2144268" y="812250"/>
                  </a:lnTo>
                  <a:lnTo>
                    <a:pt x="2182558" y="846272"/>
                  </a:lnTo>
                  <a:lnTo>
                    <a:pt x="2220849" y="874177"/>
                  </a:lnTo>
                  <a:lnTo>
                    <a:pt x="2259139" y="897479"/>
                  </a:lnTo>
                  <a:lnTo>
                    <a:pt x="2297430" y="917230"/>
                  </a:lnTo>
                  <a:lnTo>
                    <a:pt x="2335721" y="934185"/>
                  </a:lnTo>
                  <a:lnTo>
                    <a:pt x="2374011" y="948898"/>
                  </a:lnTo>
                  <a:lnTo>
                    <a:pt x="2412302" y="961786"/>
                  </a:lnTo>
                  <a:lnTo>
                    <a:pt x="2450592" y="973169"/>
                  </a:lnTo>
                  <a:lnTo>
                    <a:pt x="2488882" y="983295"/>
                  </a:lnTo>
                  <a:lnTo>
                    <a:pt x="2527173" y="992363"/>
                  </a:lnTo>
                  <a:lnTo>
                    <a:pt x="2565464" y="1000530"/>
                  </a:lnTo>
                  <a:lnTo>
                    <a:pt x="2603754" y="1007923"/>
                  </a:lnTo>
                  <a:lnTo>
                    <a:pt x="2642045" y="1014648"/>
                  </a:lnTo>
                  <a:lnTo>
                    <a:pt x="2680335" y="1020792"/>
                  </a:lnTo>
                  <a:lnTo>
                    <a:pt x="2718626" y="1026426"/>
                  </a:lnTo>
                  <a:lnTo>
                    <a:pt x="2756916" y="1031612"/>
                  </a:lnTo>
                  <a:lnTo>
                    <a:pt x="2795207" y="1036400"/>
                  </a:lnTo>
                  <a:lnTo>
                    <a:pt x="2833497" y="1040836"/>
                  </a:lnTo>
                  <a:lnTo>
                    <a:pt x="2871788" y="1044956"/>
                  </a:lnTo>
                  <a:lnTo>
                    <a:pt x="2910078" y="1048793"/>
                  </a:lnTo>
                  <a:lnTo>
                    <a:pt x="2948368" y="1052376"/>
                  </a:lnTo>
                  <a:lnTo>
                    <a:pt x="2986659" y="1055728"/>
                  </a:lnTo>
                  <a:lnTo>
                    <a:pt x="3024949" y="1058872"/>
                  </a:lnTo>
                  <a:lnTo>
                    <a:pt x="3063240" y="1061825"/>
                  </a:lnTo>
                  <a:lnTo>
                    <a:pt x="3101530" y="1064606"/>
                  </a:lnTo>
                  <a:lnTo>
                    <a:pt x="3139821" y="1067228"/>
                  </a:lnTo>
                  <a:lnTo>
                    <a:pt x="3178111" y="1069706"/>
                  </a:lnTo>
                  <a:lnTo>
                    <a:pt x="3216402" y="1072049"/>
                  </a:lnTo>
                  <a:lnTo>
                    <a:pt x="3254693" y="1074270"/>
                  </a:lnTo>
                  <a:lnTo>
                    <a:pt x="3292983" y="1076377"/>
                  </a:lnTo>
                  <a:lnTo>
                    <a:pt x="3331274" y="1078380"/>
                  </a:lnTo>
                  <a:lnTo>
                    <a:pt x="3369564" y="1080284"/>
                  </a:lnTo>
                  <a:lnTo>
                    <a:pt x="3407854" y="1082099"/>
                  </a:lnTo>
                  <a:lnTo>
                    <a:pt x="3446145" y="1083829"/>
                  </a:lnTo>
                  <a:lnTo>
                    <a:pt x="3484435" y="1085481"/>
                  </a:lnTo>
                  <a:lnTo>
                    <a:pt x="3522726" y="1087059"/>
                  </a:lnTo>
                  <a:lnTo>
                    <a:pt x="3561017" y="1088570"/>
                  </a:lnTo>
                  <a:lnTo>
                    <a:pt x="3599307" y="1090016"/>
                  </a:lnTo>
                  <a:lnTo>
                    <a:pt x="3637598" y="1091402"/>
                  </a:lnTo>
                  <a:lnTo>
                    <a:pt x="3675888" y="1092731"/>
                  </a:lnTo>
                  <a:lnTo>
                    <a:pt x="3714179" y="1094008"/>
                  </a:lnTo>
                  <a:lnTo>
                    <a:pt x="3752469" y="1095234"/>
                  </a:lnTo>
                  <a:lnTo>
                    <a:pt x="3790760" y="1096414"/>
                  </a:lnTo>
                  <a:lnTo>
                    <a:pt x="3829050" y="1097549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41" name="Ellipse 41"/>
            <p:cNvSpPr/>
            <p:nvPr/>
          </p:nvSpPr>
          <p:spPr>
            <a:xfrm>
              <a:off x="9029700" y="4580458"/>
              <a:ext cx="95250" cy="95250"/>
            </a:xfrm>
            <a:prstGeom prst="ellipse">
              <a:avLst/>
            </a:prstGeom>
            <a:solidFill>
              <a:srgbClr val="48C78E"/>
            </a:solidFill>
            <a:ln w="14288">
              <a:solidFill>
                <a:srgbClr val="FFFFFF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148762" y="4706426"/>
              <a:ext cx="903005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60" b="1" dirty="0">
                  <a:solidFill>
                    <a:srgbClr val="48C78E"/>
                  </a:solidFill>
                  <a:latin typeface="+mn-lt"/>
                  <a:ea typeface="+mn-ea"/>
                  <a:cs typeface="+mn-cs"/>
                </a:rPr>
                <a:t>drops below 1%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495300"/>
            <a:ext cx="47625" cy="24765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75335" y="564356"/>
            <a:ext cx="159689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88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ABLATION STUDY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8170" y="804862"/>
            <a:ext cx="4978746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Relevant fraction sets the cost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609600" y="1447800"/>
            <a:ext cx="10972800" cy="552450"/>
            <a:chOff x="609600" y="1447800"/>
            <a:chExt cx="10972800" cy="552450"/>
          </a:xfrm>
        </p:grpSpPr>
        <p:sp>
          <p:nvSpPr>
            <p:cNvPr id="5" name="Rectangle 5"/>
            <p:cNvSpPr/>
            <p:nvPr/>
          </p:nvSpPr>
          <p:spPr>
            <a:xfrm>
              <a:off x="609600" y="1447800"/>
              <a:ext cx="10972800" cy="552450"/>
            </a:xfrm>
            <a:prstGeom prst="roundRect">
              <a:avLst>
                <a:gd name="adj" fmla="val 24138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09600" y="1447800"/>
              <a:ext cx="57150" cy="5524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70204" y="1661160"/>
              <a:ext cx="73033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Vary alpha, the fraction of context examples that share the query's relevant pattern.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09600" y="2190750"/>
            <a:ext cx="5334000" cy="1714500"/>
            <a:chOff x="609600" y="2190750"/>
            <a:chExt cx="5334000" cy="1714500"/>
          </a:xfrm>
        </p:grpSpPr>
        <p:sp>
          <p:nvSpPr>
            <p:cNvPr id="9" name="Rectangle 9"/>
            <p:cNvSpPr/>
            <p:nvPr/>
          </p:nvSpPr>
          <p:spPr>
            <a:xfrm>
              <a:off x="609600" y="2190750"/>
              <a:ext cx="5334000" cy="1714500"/>
            </a:xfrm>
            <a:prstGeom prst="roundRect">
              <a:avLst>
                <a:gd name="adj" fmla="val 7778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609600" y="2190750"/>
              <a:ext cx="57150" cy="1714500"/>
            </a:xfrm>
            <a:prstGeom prst="roundRect">
              <a:avLst>
                <a:gd name="adj" fmla="val 50000"/>
              </a:avLst>
            </a:prstGeom>
            <a:solidFill>
              <a:srgbClr val="34D3C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70014" y="2419112"/>
              <a:ext cx="2305800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b="1" dirty="0">
                  <a:solidFill>
                    <a:srgbClr val="34D3C0"/>
                  </a:solidFill>
                  <a:latin typeface="+mn-lt"/>
                  <a:ea typeface="+mn-ea"/>
                  <a:cs typeface="+mn-cs"/>
                </a:rPr>
                <a:t>As predicted by the theory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876300" y="2724150"/>
              <a:ext cx="4800600" cy="323850"/>
            </a:xfrm>
            <a:prstGeom prst="roundRect">
              <a:avLst>
                <a:gd name="adj" fmla="val 23529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1000125" y="2838450"/>
              <a:ext cx="95250" cy="95250"/>
            </a:xfrm>
            <a:prstGeom prst="ellipse">
              <a:avLst/>
            </a:prstGeom>
            <a:solidFill>
              <a:srgbClr val="34D3C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94816" y="2820352"/>
              <a:ext cx="18733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context length ~ 1 / alpha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76300" y="3124200"/>
              <a:ext cx="4800600" cy="323850"/>
            </a:xfrm>
            <a:prstGeom prst="roundRect">
              <a:avLst>
                <a:gd name="adj" fmla="val 23529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1000125" y="3238500"/>
              <a:ext cx="95250" cy="95250"/>
            </a:xfrm>
            <a:prstGeom prst="ellipse">
              <a:avLst/>
            </a:prstGeom>
            <a:solidFill>
              <a:srgbClr val="F2C14E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194816" y="3220402"/>
              <a:ext cx="26005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iterations &amp; samples ~ alpha^(-2/3)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71156" y="3624501"/>
              <a:ext cx="4233852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Richer contexts converge faster and need shorter prompts.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248400" y="2190750"/>
            <a:ext cx="5334000" cy="1714500"/>
            <a:chOff x="6248400" y="2190750"/>
            <a:chExt cx="5334000" cy="1714500"/>
          </a:xfrm>
        </p:grpSpPr>
        <p:sp>
          <p:nvSpPr>
            <p:cNvPr id="20" name="Rectangle 20"/>
            <p:cNvSpPr/>
            <p:nvPr/>
          </p:nvSpPr>
          <p:spPr>
            <a:xfrm>
              <a:off x="6248400" y="2190750"/>
              <a:ext cx="5334000" cy="1714500"/>
            </a:xfrm>
            <a:prstGeom prst="roundRect">
              <a:avLst>
                <a:gd name="adj" fmla="val 7778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6248400" y="2190750"/>
              <a:ext cx="57150" cy="1714500"/>
            </a:xfrm>
            <a:prstGeom prst="roundRect">
              <a:avLst>
                <a:gd name="adj" fmla="val 50000"/>
              </a:avLst>
            </a:prstGeom>
            <a:solidFill>
              <a:srgbClr val="F2C14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508814" y="2419112"/>
              <a:ext cx="2237346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b="1" dirty="0">
                  <a:solidFill>
                    <a:srgbClr val="F2C14E"/>
                  </a:solidFill>
                  <a:latin typeface="+mn-lt"/>
                  <a:ea typeface="+mn-ea"/>
                  <a:cs typeface="+mn-cs"/>
                </a:rPr>
                <a:t>ICL vs. classical baselines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515100" y="2724150"/>
              <a:ext cx="2343150" cy="304800"/>
            </a:xfrm>
            <a:prstGeom prst="roundRect">
              <a:avLst>
                <a:gd name="adj" fmla="val 25000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6638925" y="2828925"/>
              <a:ext cx="95250" cy="9525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833997" y="2818924"/>
              <a:ext cx="1284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logistic regression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953500" y="2724150"/>
              <a:ext cx="2343150" cy="304800"/>
            </a:xfrm>
            <a:prstGeom prst="roundRect">
              <a:avLst>
                <a:gd name="adj" fmla="val 25000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9077325" y="2828925"/>
              <a:ext cx="95250" cy="9525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272397" y="2818924"/>
              <a:ext cx="74382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kernel SVM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515100" y="3105150"/>
              <a:ext cx="2343150" cy="304800"/>
            </a:xfrm>
            <a:prstGeom prst="roundRect">
              <a:avLst>
                <a:gd name="adj" fmla="val 25000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6638925" y="3209925"/>
              <a:ext cx="95250" cy="9525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833997" y="3199924"/>
              <a:ext cx="708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linear SVM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953500" y="3105150"/>
              <a:ext cx="2343150" cy="304800"/>
            </a:xfrm>
            <a:prstGeom prst="roundRect">
              <a:avLst>
                <a:gd name="adj" fmla="val 25000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9077325" y="3209925"/>
              <a:ext cx="95250" cy="9525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272397" y="3199924"/>
              <a:ext cx="11596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nearest neighbor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509956" y="3624501"/>
              <a:ext cx="4076629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Compared on sample efficiency across relevant fractions.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609600" y="4095750"/>
            <a:ext cx="10972800" cy="1162621"/>
            <a:chOff x="609600" y="4095750"/>
            <a:chExt cx="10972800" cy="1162621"/>
          </a:xfrm>
        </p:grpSpPr>
        <p:sp>
          <p:nvSpPr>
            <p:cNvPr id="37" name="Rectangle 37"/>
            <p:cNvSpPr/>
            <p:nvPr/>
          </p:nvSpPr>
          <p:spPr>
            <a:xfrm>
              <a:off x="609600" y="4095750"/>
              <a:ext cx="10972800" cy="1143000"/>
            </a:xfrm>
            <a:prstGeom prst="roundRect">
              <a:avLst>
                <a:gd name="adj" fmla="val 11667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09600" y="4095750"/>
              <a:ext cx="57150" cy="1143000"/>
            </a:xfrm>
            <a:prstGeom prst="roundRect">
              <a:avLst>
                <a:gd name="adj" fmla="val 50000"/>
              </a:avLst>
            </a:prstGeom>
            <a:solidFill>
              <a:srgbClr val="48C78E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70394" y="4275058"/>
              <a:ext cx="6748524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6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Hard low-fraction regime · samples needed for the same accuracy (lower is better)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3619500" y="4552950"/>
              <a:ext cx="5143500" cy="190500"/>
            </a:xfrm>
            <a:prstGeom prst="roundRect">
              <a:avLst>
                <a:gd name="adj" fmla="val 30000"/>
              </a:avLst>
            </a:prstGeom>
            <a:solidFill>
              <a:srgbClr val="0E2334"/>
            </a:solidFill>
            <a:ln w="9525">
              <a:solidFill>
                <a:srgbClr val="26455F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3619500" y="4552950"/>
              <a:ext cx="857250" cy="190500"/>
            </a:xfrm>
            <a:prstGeom prst="roundRect">
              <a:avLst>
                <a:gd name="adj" fmla="val 30000"/>
              </a:avLst>
            </a:prstGeom>
            <a:solidFill>
              <a:srgbClr val="48C78E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2092641" y="4576762"/>
              <a:ext cx="14178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In-context learning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566666" y="4576762"/>
              <a:ext cx="10718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48C78E"/>
                  </a:solidFill>
                  <a:latin typeface="+mn-lt"/>
                  <a:ea typeface="+mn-ea"/>
                  <a:cs typeface="+mn-cs"/>
                </a:rPr>
                <a:t>most efficient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3619500" y="4800600"/>
              <a:ext cx="5143500" cy="190500"/>
            </a:xfrm>
            <a:prstGeom prst="roundRect">
              <a:avLst>
                <a:gd name="adj" fmla="val 30000"/>
              </a:avLst>
            </a:prstGeom>
            <a:solidFill>
              <a:srgbClr val="0E2334"/>
            </a:solidFill>
            <a:ln w="9525">
              <a:solidFill>
                <a:srgbClr val="26455F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3619500" y="4800600"/>
              <a:ext cx="2914650" cy="190500"/>
            </a:xfrm>
            <a:prstGeom prst="roundRect">
              <a:avLst>
                <a:gd name="adj" fmla="val 30000"/>
              </a:avLst>
            </a:prstGeom>
            <a:solidFill>
              <a:schemeClr val="dk2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2040604" y="4824412"/>
              <a:ext cx="14699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kernel SVM / LogReg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3619500" y="5029200"/>
              <a:ext cx="5143500" cy="190500"/>
            </a:xfrm>
            <a:prstGeom prst="roundRect">
              <a:avLst>
                <a:gd name="adj" fmla="val 30000"/>
              </a:avLst>
            </a:prstGeom>
            <a:solidFill>
              <a:srgbClr val="0E2334"/>
            </a:solidFill>
            <a:ln w="9525">
              <a:solidFill>
                <a:srgbClr val="26455F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3619500" y="5029200"/>
              <a:ext cx="4972050" cy="190500"/>
            </a:xfrm>
            <a:prstGeom prst="roundRect">
              <a:avLst>
                <a:gd name="adj" fmla="val 30000"/>
              </a:avLst>
            </a:prstGeom>
            <a:solidFill>
              <a:srgbClr val="6E869C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2267992" y="5053012"/>
              <a:ext cx="12425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nearest neighbor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043988" y="4585097"/>
              <a:ext cx="1822651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b="1" dirty="0">
                  <a:solidFill>
                    <a:srgbClr val="48C78E"/>
                  </a:solidFill>
                  <a:latin typeface="+mn-lt"/>
                  <a:ea typeface="+mn-ea"/>
                  <a:cs typeface="+mn-cs"/>
                </a:rPr>
                <a:t>ICL removes irrelevant data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043988" y="4775597"/>
              <a:ext cx="1936139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and tolerates label noise best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495300"/>
            <a:ext cx="47625" cy="24765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75335" y="564356"/>
            <a:ext cx="183437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88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HEADLINE NUMBERS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8170" y="804862"/>
            <a:ext cx="4486374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The message in four numbers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609600" y="1447800"/>
            <a:ext cx="10972800" cy="704850"/>
            <a:chOff x="609600" y="1447800"/>
            <a:chExt cx="10972800" cy="704850"/>
          </a:xfrm>
        </p:grpSpPr>
        <p:sp>
          <p:nvSpPr>
            <p:cNvPr id="5" name="Rectangle 5"/>
            <p:cNvSpPr/>
            <p:nvPr/>
          </p:nvSpPr>
          <p:spPr>
            <a:xfrm>
              <a:off x="609600" y="1447800"/>
              <a:ext cx="10972800" cy="704850"/>
            </a:xfrm>
            <a:prstGeom prst="roundRect">
              <a:avLst>
                <a:gd name="adj" fmla="val 18919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09600" y="1447800"/>
              <a:ext cx="57150" cy="7048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70394" y="1608058"/>
              <a:ext cx="4493393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6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Training cost is governed by the relevant fraction alpha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876300" y="1828800"/>
              <a:ext cx="4476750" cy="285750"/>
            </a:xfrm>
            <a:prstGeom prst="roundRect">
              <a:avLst>
                <a:gd name="adj" fmla="val 26667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1000125" y="1924050"/>
              <a:ext cx="95250" cy="95250"/>
            </a:xfrm>
            <a:prstGeom prst="ellipse">
              <a:avLst/>
            </a:prstGeom>
            <a:solidFill>
              <a:srgbClr val="34D3C0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95006" y="1910001"/>
              <a:ext cx="2501528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iterations &amp; samples ~ alpha^(-2/3)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486400" y="1828800"/>
              <a:ext cx="4476750" cy="285750"/>
            </a:xfrm>
            <a:prstGeom prst="roundRect">
              <a:avLst>
                <a:gd name="adj" fmla="val 26667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5610225" y="1924050"/>
              <a:ext cx="95250" cy="95250"/>
            </a:xfrm>
            <a:prstGeom prst="ellipse">
              <a:avLst/>
            </a:prstGeom>
            <a:solidFill>
              <a:srgbClr val="F2C14E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805106" y="1910001"/>
              <a:ext cx="2437284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required context length ~ 1 / alpha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9600" y="2343150"/>
            <a:ext cx="3505200" cy="1905000"/>
            <a:chOff x="609600" y="2343150"/>
            <a:chExt cx="3505200" cy="1905000"/>
          </a:xfrm>
        </p:grpSpPr>
        <p:sp>
          <p:nvSpPr>
            <p:cNvPr id="15" name="Rectangle 15"/>
            <p:cNvSpPr/>
            <p:nvPr/>
          </p:nvSpPr>
          <p:spPr>
            <a:xfrm>
              <a:off x="609600" y="2343150"/>
              <a:ext cx="3505200" cy="1905000"/>
            </a:xfrm>
            <a:prstGeom prst="roundRect">
              <a:avLst>
                <a:gd name="adj" fmla="val 7000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609600" y="2343150"/>
              <a:ext cx="3505200" cy="57150"/>
            </a:xfrm>
            <a:prstGeom prst="roundRect">
              <a:avLst>
                <a:gd name="adj" fmla="val 50000"/>
              </a:avLst>
            </a:prstGeom>
            <a:solidFill>
              <a:srgbClr val="34D3C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269297" y="2960370"/>
              <a:ext cx="218580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34D3C0"/>
                  </a:solidFill>
                  <a:latin typeface="Consolas"/>
                  <a:ea typeface="Consolas"/>
                  <a:cs typeface="Consolas"/>
                </a:rPr>
                <a:t>1 / sqrt(M1)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65511" y="3457099"/>
              <a:ext cx="25933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vanishing fraction of tasks trained on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252518" y="3723799"/>
              <a:ext cx="22193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6E869C"/>
                  </a:solidFill>
                  <a:latin typeface="+mn-lt"/>
                  <a:ea typeface="+mn-ea"/>
                  <a:cs typeface="+mn-cs"/>
                </a:rPr>
                <a:t>yet it generalizes to all the rest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343400" y="2343150"/>
            <a:ext cx="3505200" cy="1905000"/>
            <a:chOff x="4343400" y="2343150"/>
            <a:chExt cx="3505200" cy="1905000"/>
          </a:xfrm>
        </p:grpSpPr>
        <p:sp>
          <p:nvSpPr>
            <p:cNvPr id="21" name="Rectangle 21"/>
            <p:cNvSpPr/>
            <p:nvPr/>
          </p:nvSpPr>
          <p:spPr>
            <a:xfrm>
              <a:off x="4343400" y="2343150"/>
              <a:ext cx="3505200" cy="1905000"/>
            </a:xfrm>
            <a:prstGeom prst="roundRect">
              <a:avLst>
                <a:gd name="adj" fmla="val 7000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4343400" y="2343150"/>
              <a:ext cx="3505200" cy="57150"/>
            </a:xfrm>
            <a:prstGeom prst="roundRect">
              <a:avLst>
                <a:gd name="adj" fmla="val 50000"/>
              </a:avLst>
            </a:prstGeom>
            <a:solidFill>
              <a:srgbClr val="48C78E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434079" y="2895600"/>
              <a:ext cx="132384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000" b="1" dirty="0">
                  <a:solidFill>
                    <a:srgbClr val="48C78E"/>
                  </a:solidFill>
                  <a:latin typeface="+mn-lt"/>
                  <a:ea typeface="+mn-ea"/>
                  <a:cs typeface="+mn-cs"/>
                </a:rPr>
                <a:t>&lt; 0.01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388038" y="3457099"/>
              <a:ext cx="14159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out-of-domain error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938586" y="3723799"/>
              <a:ext cx="23148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6E869C"/>
                  </a:solidFill>
                  <a:latin typeface="+mn-lt"/>
                  <a:ea typeface="+mn-ea"/>
                  <a:cs typeface="+mn-cs"/>
                </a:rPr>
                <a:t>once combination strength S1 &gt;= 1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8077200" y="2343150"/>
            <a:ext cx="3505200" cy="1905000"/>
            <a:chOff x="8077200" y="2343150"/>
            <a:chExt cx="3505200" cy="1905000"/>
          </a:xfrm>
        </p:grpSpPr>
        <p:sp>
          <p:nvSpPr>
            <p:cNvPr id="27" name="Rectangle 27"/>
            <p:cNvSpPr/>
            <p:nvPr/>
          </p:nvSpPr>
          <p:spPr>
            <a:xfrm>
              <a:off x="8077200" y="2343150"/>
              <a:ext cx="3505200" cy="1905000"/>
            </a:xfrm>
            <a:prstGeom prst="roundRect">
              <a:avLst>
                <a:gd name="adj" fmla="val 7000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8077200" y="2343150"/>
              <a:ext cx="3505200" cy="57150"/>
            </a:xfrm>
            <a:prstGeom prst="roundRect">
              <a:avLst>
                <a:gd name="adj" fmla="val 50000"/>
              </a:avLst>
            </a:prstGeom>
            <a:solidFill>
              <a:srgbClr val="F2C14E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305696" y="2895600"/>
              <a:ext cx="104820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000" b="1" dirty="0">
                  <a:solidFill>
                    <a:srgbClr val="F2C14E"/>
                  </a:solidFill>
                  <a:latin typeface="+mn-lt"/>
                  <a:ea typeface="+mn-ea"/>
                  <a:cs typeface="+mn-cs"/>
                </a:rPr>
                <a:t>~15%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633541" y="3457099"/>
              <a:ext cx="23925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of output neurons pruned, lossless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834401" y="3723799"/>
              <a:ext cx="19907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6E869C"/>
                  </a:solidFill>
                  <a:latin typeface="+mn-lt"/>
                  <a:ea typeface="+mn-ea"/>
                  <a:cs typeface="+mn-cs"/>
                </a:rPr>
                <a:t>small-magnitude neurons only</a:t>
              </a:r>
            </a:p>
          </p:txBody>
        </p:sp>
      </p:grpSp>
      <p:sp>
        <p:nvSpPr>
          <p:cNvPr id="33" name="Rectangle 33"/>
          <p:cNvSpPr/>
          <p:nvPr/>
        </p:nvSpPr>
        <p:spPr>
          <a:xfrm>
            <a:off x="609600" y="4438650"/>
            <a:ext cx="10972800" cy="800100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 w="14288">
            <a:solidFill>
              <a:srgbClr val="26455F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870776" y="4645104"/>
            <a:ext cx="7150345" cy="21269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90" b="1" dirty="0">
                <a:solidFill>
                  <a:srgbClr val="48C78E"/>
                </a:solidFill>
                <a:latin typeface="+mn-lt"/>
                <a:ea typeface="+mn-ea"/>
                <a:cs typeface="+mn-cs"/>
              </a:rPr>
              <a:t>Prune LOW-magnitude neurons -&gt; error stays O( epsilon + 1 / sqrt(M1) ), essentially lossless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70776" y="4930854"/>
            <a:ext cx="6321333" cy="21269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90" b="1" dirty="0">
                <a:solidFill>
                  <a:srgbClr val="F2685C"/>
                </a:solidFill>
                <a:latin typeface="+mn-lt"/>
                <a:ea typeface="+mn-ea"/>
                <a:cs typeface="+mn-cs"/>
              </a:rPr>
              <a:t>Prune LARGE-magnitude neurons -&gt; error grows at least linearly in the pruning rate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495300"/>
            <a:ext cx="47625" cy="24765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75335" y="564356"/>
            <a:ext cx="96807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88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TAKEAWAY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8170" y="804862"/>
            <a:ext cx="7507115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ICL in a nonlinear Transformer is not a black box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609600" y="1600200"/>
            <a:ext cx="10972800" cy="1298734"/>
            <a:chOff x="609600" y="1600200"/>
            <a:chExt cx="10972800" cy="1298734"/>
          </a:xfrm>
        </p:grpSpPr>
        <p:sp>
          <p:nvSpPr>
            <p:cNvPr id="5" name="Rectangle 5"/>
            <p:cNvSpPr/>
            <p:nvPr/>
          </p:nvSpPr>
          <p:spPr>
            <a:xfrm>
              <a:off x="609600" y="1600200"/>
              <a:ext cx="10972800" cy="1123950"/>
            </a:xfrm>
            <a:prstGeom prst="roundRect">
              <a:avLst>
                <a:gd name="adj" fmla="val 11864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09600" y="1600200"/>
              <a:ext cx="57150" cy="11239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971550" y="2066925"/>
              <a:ext cx="190500" cy="19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421511" y="1903571"/>
              <a:ext cx="18068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Provably trainable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23035" y="2240756"/>
              <a:ext cx="70579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With both nonlinear attention and a nonlinear MLP, a one-layer model can be provably trained to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23035" y="2459831"/>
              <a:ext cx="69772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generalize in-context, in-domain and under distribution shift, with effort set by how much of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23035" y="2678906"/>
              <a:ext cx="37280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the context shares the query's relevant pattern.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09600" y="2895600"/>
            <a:ext cx="10972800" cy="1123950"/>
            <a:chOff x="609600" y="2895600"/>
            <a:chExt cx="10972800" cy="1123950"/>
          </a:xfrm>
        </p:grpSpPr>
        <p:sp>
          <p:nvSpPr>
            <p:cNvPr id="13" name="Rectangle 13"/>
            <p:cNvSpPr/>
            <p:nvPr/>
          </p:nvSpPr>
          <p:spPr>
            <a:xfrm>
              <a:off x="609600" y="2895600"/>
              <a:ext cx="10972800" cy="1123950"/>
            </a:xfrm>
            <a:prstGeom prst="roundRect">
              <a:avLst>
                <a:gd name="adj" fmla="val 11864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609600" y="2895600"/>
              <a:ext cx="57150" cy="1123950"/>
            </a:xfrm>
            <a:prstGeom prst="roundRect">
              <a:avLst>
                <a:gd name="adj" fmla="val 50000"/>
              </a:avLst>
            </a:prstGeom>
            <a:solidFill>
              <a:srgbClr val="34D3C0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971550" y="3362325"/>
              <a:ext cx="190500" cy="190500"/>
            </a:xfrm>
            <a:prstGeom prst="ellipse">
              <a:avLst/>
            </a:prstGeom>
            <a:solidFill>
              <a:srgbClr val="34D3C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421511" y="3198971"/>
              <a:ext cx="127606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How it works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23035" y="3536156"/>
              <a:ext cx="70577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Attention focuses on the context examples that match the query's relevant pattern, while the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23035" y="3755231"/>
              <a:ext cx="40896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ReLU MLP amplifies their labels to make the prediction.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09600" y="4191000"/>
            <a:ext cx="10972800" cy="1123950"/>
            <a:chOff x="609600" y="4191000"/>
            <a:chExt cx="10972800" cy="1123950"/>
          </a:xfrm>
        </p:grpSpPr>
        <p:sp>
          <p:nvSpPr>
            <p:cNvPr id="20" name="Rectangle 20"/>
            <p:cNvSpPr/>
            <p:nvPr/>
          </p:nvSpPr>
          <p:spPr>
            <a:xfrm>
              <a:off x="609600" y="4191000"/>
              <a:ext cx="10972800" cy="1123950"/>
            </a:xfrm>
            <a:prstGeom prst="roundRect">
              <a:avLst>
                <a:gd name="adj" fmla="val 11864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609600" y="4191000"/>
              <a:ext cx="57150" cy="1123950"/>
            </a:xfrm>
            <a:prstGeom prst="roundRect">
              <a:avLst>
                <a:gd name="adj" fmla="val 50000"/>
              </a:avLst>
            </a:prstGeom>
            <a:solidFill>
              <a:srgbClr val="48C78E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971550" y="4657725"/>
              <a:ext cx="190500" cy="190500"/>
            </a:xfrm>
            <a:prstGeom prst="ellipse">
              <a:avLst/>
            </a:prstGeom>
            <a:solidFill>
              <a:srgbClr val="48C78E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421511" y="4494371"/>
              <a:ext cx="259979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Pruning is essentially free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423035" y="4831556"/>
              <a:ext cx="71707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Because only the large-magnitude neurons carry this signal, pruning the small ones barely hurts,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23035" y="5050631"/>
              <a:ext cx="52054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giving a principled reason why magnitude-based pruning preserves ICL.</a:t>
              </a:r>
            </a:p>
          </p:txBody>
        </p:sp>
      </p:grpSp>
      <p:sp>
        <p:nvSpPr>
          <p:cNvPr id="27" name="Line 27"/>
          <p:cNvSpPr/>
          <p:nvPr/>
        </p:nvSpPr>
        <p:spPr>
          <a:xfrm>
            <a:off x="609600" y="56769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 cap="rnd">
            <a:solidFill>
              <a:srgbClr val="26455F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603504" y="5890260"/>
            <a:ext cx="635602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How Do Nonlinear Transformers Learn and Generalize in In-Context Learning?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04456" y="6177201"/>
            <a:ext cx="5497629" cy="198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10" b="1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ICML 2024 · arXiv:2402.15607 · Rensselaer Polytechnic Institute · IBM Watson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Free Design">
  <a:themeElements>
    <a:clrScheme name="Free Design">
      <a:dk1>
        <a:srgbClr val="EAF2FB"/>
      </a:dk1>
      <a:lt1>
        <a:srgbClr val="0B1B2B"/>
      </a:lt1>
      <a:dk2>
        <a:srgbClr val="9DB3C8"/>
      </a:dk2>
      <a:lt2>
        <a:srgbClr val="0B1B2B"/>
      </a:lt2>
      <a:accent1>
        <a:srgbClr val="4C9BE8"/>
      </a:accent1>
      <a:accent2>
        <a:srgbClr val="4C9BE8"/>
      </a:accent2>
      <a:accent3>
        <a:srgbClr val="4C9BE8"/>
      </a:accent3>
      <a:accent4>
        <a:srgbClr val="8064A2"/>
      </a:accent4>
      <a:accent5>
        <a:srgbClr val="12293D"/>
      </a:accent5>
      <a:accent6>
        <a:srgbClr val="16324A"/>
      </a:accent6>
      <a:hlink>
        <a:srgbClr val="4C9BE8"/>
      </a:hlink>
      <a:folHlink>
        <a:srgbClr val="4C9BE8"/>
      </a:folHlink>
    </a:clrScheme>
    <a:fontScheme name="Free Design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ree 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2026-07-16T04:07:06Z</dcterms:created>
  <dcterms:modified xsi:type="dcterms:W3CDTF">2026-07-16T04:07:06Z</dcterms:modified>
  <cp:category/>
  <cp:contentStatus/>
</cp:coreProperties>
</file>
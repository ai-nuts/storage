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CE7F4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6349682" cy="7483157"/>
          </a:xfrm>
          <a:prstGeom prst="roundRect">
            <a:avLst>
              <a:gd name="adj" fmla="val 950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376783"/>
            <a:ext cx="16349682" cy="18851522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376783"/>
            <a:ext cx="16349821" cy="18639690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3191787"/>
            <a:ext cx="16349682" cy="16880165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24348320"/>
            <a:ext cx="16349821" cy="5723632"/>
          </a:xfrm>
          <a:prstGeom prst="roundRect">
            <a:avLst>
              <a:gd name="adj" fmla="val 1242"/>
            </a:avLst>
          </a:prstGeom>
          <a:solidFill>
            <a:srgbClr val="F0EDF5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24348320"/>
            <a:ext cx="53340" cy="572363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28289" y="24560152"/>
            <a:ext cx="16349682" cy="551180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urdue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567" y="1731193"/>
            <a:ext cx="11329889" cy="2044690"/>
          </a:xfrm>
          <a:prstGeom prst="rect">
            <a:avLst/>
          </a:prstGeom>
        </p:spPr>
      </p:pic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9467" y="1805376"/>
            <a:ext cx="5620425" cy="189646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39991" y="5764887"/>
            <a:ext cx="1557347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9991" y="6618327"/>
            <a:ext cx="15573474" cy="711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16393" y="5764887"/>
            <a:ext cx="1557347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16393" y="6618327"/>
            <a:ext cx="15573474" cy="711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2795" y="5764887"/>
            <a:ext cx="1557361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92795" y="6618327"/>
            <a:ext cx="15573613" cy="711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10312816"/>
            <a:ext cx="1557347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10312816"/>
            <a:ext cx="124460" cy="21590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3579891"/>
            <a:ext cx="1557347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4433331"/>
            <a:ext cx="15573474" cy="711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637245" y="24736425"/>
            <a:ext cx="1552916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637245" y="25589865"/>
            <a:ext cx="15529163" cy="711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816393" y="24948257"/>
            <a:ext cx="1557347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16393" y="25801697"/>
            <a:ext cx="15573474" cy="711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637245" y="25981025"/>
            <a:ext cx="15529163" cy="3702823"/>
          </a:xfrm>
          <a:prstGeom prst="roundRect">
            <a:avLst>
              <a:gd name="adj" fmla="val 5634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592795" y="11140142"/>
            <a:ext cx="15573613" cy="11506299"/>
          </a:xfrm>
          <a:prstGeom prst="roundRect">
            <a:avLst>
              <a:gd name="adj" fmla="val 30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800" y="11140142"/>
            <a:ext cx="15573604" cy="1150629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7823477" y="13175118"/>
            <a:ext cx="15559167" cy="9941521"/>
          </a:xfrm>
          <a:prstGeom prst="roundRect">
            <a:avLst>
              <a:gd name="adj" fmla="val 35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23522" y="13175118"/>
            <a:ext cx="15559078" cy="994152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65688" y="20326985"/>
            <a:ext cx="15521940" cy="8077398"/>
          </a:xfrm>
          <a:prstGeom prst="roundRect">
            <a:avLst>
              <a:gd name="adj" fmla="val 44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725" y="20326985"/>
            <a:ext cx="15521866" cy="807739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7816393" y="27887791"/>
            <a:ext cx="2457946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CIFAR-10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430747" y="27887791"/>
            <a:ext cx="2704505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CIFAR-100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291661" y="27887791"/>
            <a:ext cx="2482949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ImageNet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931018" y="27887791"/>
            <a:ext cx="3763248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Small Inception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850675" y="27887791"/>
            <a:ext cx="2507952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ResNet50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16393" y="28864024"/>
            <a:ext cx="2507952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ResNet18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4B2E83"/>
                </a:solidFill>
                <a:latin typeface="Arial"/>
              </a:rPr>
              <a:t>Unveiling Privacy, Memorization, and Input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4B2E83"/>
                </a:solidFill>
                <a:latin typeface="Arial"/>
              </a:rPr>
              <a:t>Curvature Links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Deepak Ravikumar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Efstathia Soufleri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Abolfazl Hashemi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Kaushik Roy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Purdue University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9991" y="5764887"/>
            <a:ext cx="16000194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Problem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16393" y="5764887"/>
            <a:ext cx="16000194" cy="1063244"/>
          </a:xfrm>
          <a:prstGeom prst="rect">
            <a:avLst/>
          </a:prstGeom>
          <a:noFill/>
        </p:spPr>
        <p:txBody>
          <a:bodyPr wrap="non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Method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92795" y="5764887"/>
            <a:ext cx="16000333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Key Results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9991" y="7018377"/>
            <a:ext cx="16000194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Input loss curvature — the trace of the loss Hessian w.r.t. the input — is a widely-used </a:t>
            </a:r>
            <a:r>
              <a:rPr sz="4106" b="1">
                <a:solidFill>
                  <a:srgbClr val="111111"/>
                </a:solidFill>
                <a:latin typeface="Arial"/>
              </a:rPr>
              <a:t>cheap proxy</a:t>
            </a:r>
            <a:r>
              <a:rPr sz="4106" b="0">
                <a:solidFill>
                  <a:srgbClr val="1C1C1C"/>
                </a:solidFill>
                <a:latin typeface="Arial"/>
              </a:rPr>
              <a:t> for memorization in deep nets. Yet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why</a:t>
            </a:r>
            <a:r>
              <a:rPr sz="4106" b="0">
                <a:solidFill>
                  <a:srgbClr val="1C1C1C"/>
                </a:solidFill>
                <a:latin typeface="Arial"/>
              </a:rPr>
              <a:t> curvature and memorization track together, and how either links to differential privacy, had no theory.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9991" y="10312816"/>
            <a:ext cx="16000194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Feldman’s memorization score is principled but compute-prohibitive; the curvature proxy was purely empirical — until now.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9991" y="13579891"/>
            <a:ext cx="16000194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Motivation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37245" y="24736425"/>
            <a:ext cx="15955883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Takeaway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16393" y="24948257"/>
            <a:ext cx="16000194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Dataset / Benchmark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637245" y="25981025"/>
            <a:ext cx="15955883" cy="4258246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Curvature </a:t>
            </a:r>
            <a:r>
              <a:rPr sz="4106" b="1">
                <a:solidFill>
                  <a:srgbClr val="111111"/>
                </a:solidFill>
                <a:latin typeface="Arial"/>
              </a:rPr>
              <a:t>provably upper-bounds memorization</a:t>
            </a:r>
            <a:r>
              <a:rPr sz="4106" b="1">
                <a:solidFill>
                  <a:srgbClr val="FFFFFF"/>
                </a:solidFill>
                <a:latin typeface="Arial"/>
              </a:rPr>
              <a:t> and is itself bounded by the privacy parameter — a cheap, assumption-light proxy that applies to real deep nets, with privacy provably suppressing both memorization and leakage.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92777" y="7249517"/>
            <a:ext cx="16000351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Memorization is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 in curvature</a:t>
            </a:r>
            <a:r>
              <a:rPr sz="4106" b="0">
                <a:solidFill>
                  <a:srgbClr val="1C1C1C"/>
                </a:solidFill>
                <a:latin typeface="Arial"/>
              </a:rPr>
              <a:t> (Thm 5.1), with the trend cleanest on ImageNet.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16375" y="7510799"/>
            <a:ext cx="1600021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second-order </a:t>
            </a:r>
            <a:r>
              <a:rPr sz="4106" b="1">
                <a:solidFill>
                  <a:srgbClr val="111111"/>
                </a:solidFill>
                <a:latin typeface="Arial"/>
              </a:rPr>
              <a:t>Nesterov–Polyak</a:t>
            </a:r>
            <a:r>
              <a:rPr sz="4106" b="0">
                <a:solidFill>
                  <a:srgbClr val="1C1C1C"/>
                </a:solidFill>
                <a:latin typeface="Arial"/>
              </a:rPr>
              <a:t> expansion with a zero-mean perturbation cancels first-order terms, leaving input curvature as the leading term.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92777" y="8944451"/>
            <a:ext cx="16000351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Curvature is </a:t>
            </a:r>
            <a:r>
              <a:rPr sz="4106" b="1">
                <a:solidFill>
                  <a:srgbClr val="111111"/>
                </a:solidFill>
                <a:latin typeface="Arial"/>
              </a:rPr>
              <a:t>~10³× cheaper</a:t>
            </a:r>
            <a:r>
              <a:rPr sz="4106" b="0">
                <a:solidFill>
                  <a:srgbClr val="1C1C1C"/>
                </a:solidFill>
                <a:latin typeface="Arial"/>
              </a:rPr>
              <a:t> than the memorization score; stronger privacy lowers both (Thms 5.3–5.4).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816375" y="9961939"/>
            <a:ext cx="1600021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Curvature is made cheap to measure by </a:t>
            </a:r>
            <a:r>
              <a:rPr sz="4106" b="1">
                <a:solidFill>
                  <a:srgbClr val="111111"/>
                </a:solidFill>
                <a:latin typeface="Arial"/>
              </a:rPr>
              <a:t>Hutchinson’s trace estimator</a:t>
            </a:r>
            <a:r>
              <a:rPr sz="4106" b="0">
                <a:solidFill>
                  <a:srgbClr val="1C1C1C"/>
                </a:solidFill>
                <a:latin typeface="Arial"/>
              </a:rPr>
              <a:t>; under stability, generalization &amp; adjacency assumptions, taking expectations yields the three bounds.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972" y="14994235"/>
            <a:ext cx="16000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rigorous curvature–memorization–privacy link would give a </a:t>
            </a:r>
            <a:r>
              <a:rPr sz="4106" b="1">
                <a:solidFill>
                  <a:srgbClr val="111111"/>
                </a:solidFill>
                <a:latin typeface="Arial"/>
              </a:rPr>
              <a:t>theoretical license</a:t>
            </a:r>
            <a:r>
              <a:rPr sz="4106" b="0">
                <a:solidFill>
                  <a:srgbClr val="1C1C1C"/>
                </a:solidFill>
                <a:latin typeface="Arial"/>
              </a:rPr>
              <a:t> to use cheap curvature as a memorization proxy, and explain how privacy mechanisms suppress leakage.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9972" y="17445374"/>
            <a:ext cx="16000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Influence functions assume Hessian convexity &amp; positive-definiteness — conditions that fail for deep nets, so input curvature needs none of them.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381894" y="22796043"/>
            <a:ext cx="10295278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Memorization vs. curvature (CIFAR100 &amp; ImageNet).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072105" y="23266241"/>
            <a:ext cx="13453625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Bounds (Thms 5.1/5.3/5.4) linking privacy, memorization &amp; curvature.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816375" y="26192857"/>
            <a:ext cx="16000212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Feldman &amp; Zhang (2020) memorization scores + ensembles: </a:t>
            </a:r>
            <a:r>
              <a:rPr sz="4106" b="1">
                <a:solidFill>
                  <a:srgbClr val="111111"/>
                </a:solidFill>
                <a:latin typeface="Arial"/>
              </a:rPr>
              <a:t>1000</a:t>
            </a:r>
            <a:r>
              <a:rPr sz="4106" b="0">
                <a:solidFill>
                  <a:srgbClr val="1C1C1C"/>
                </a:solidFill>
                <a:latin typeface="Arial"/>
              </a:rPr>
              <a:t> Small Inception (CIFAR100), </a:t>
            </a:r>
            <a:r>
              <a:rPr sz="4106" b="1">
                <a:solidFill>
                  <a:srgbClr val="111111"/>
                </a:solidFill>
                <a:latin typeface="Arial"/>
              </a:rPr>
              <a:t>100</a:t>
            </a:r>
            <a:r>
              <a:rPr sz="4106" b="0">
                <a:solidFill>
                  <a:srgbClr val="1C1C1C"/>
                </a:solidFill>
                <a:latin typeface="Arial"/>
              </a:rPr>
              <a:t> ResNet50 (ImageNet).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86599" y="28553985"/>
            <a:ext cx="14706838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ImageNet ranked by curvature: low (left) = prototypical, high (right) = memorized.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
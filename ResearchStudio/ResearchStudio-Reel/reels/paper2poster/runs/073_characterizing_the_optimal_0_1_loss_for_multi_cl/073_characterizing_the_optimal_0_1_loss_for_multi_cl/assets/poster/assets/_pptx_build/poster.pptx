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519370" cy="7178952"/>
          </a:xfrm>
          <a:prstGeom prst="roundRect">
            <a:avLst>
              <a:gd name="adj" fmla="val 231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97977" y="5376783"/>
            <a:ext cx="14416246" cy="24695169"/>
          </a:xfrm>
          <a:prstGeom prst="roundRect">
            <a:avLst>
              <a:gd name="adj" fmla="val 115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440943" y="5376783"/>
            <a:ext cx="13167340" cy="7612896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35003" y="5376783"/>
            <a:ext cx="10519509" cy="8286313"/>
          </a:xfrm>
          <a:prstGeom prst="roundRect">
            <a:avLst>
              <a:gd name="adj" fmla="val 200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2852022"/>
            <a:ext cx="10519370" cy="17219930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440943" y="13285966"/>
            <a:ext cx="13167340" cy="16785986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35003" y="13959383"/>
            <a:ext cx="10519509" cy="561042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35003" y="19866094"/>
            <a:ext cx="10519509" cy="6066730"/>
          </a:xfrm>
          <a:prstGeom prst="roundRect">
            <a:avLst>
              <a:gd name="adj" fmla="val 2735"/>
            </a:avLst>
          </a:prstGeom>
          <a:solidFill>
            <a:srgbClr val="F6ECF1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035003" y="19866094"/>
            <a:ext cx="53340" cy="606673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035003" y="26229111"/>
            <a:ext cx="10519509" cy="3842841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inceton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698" y="1301551"/>
            <a:ext cx="5347891" cy="1369060"/>
          </a:xfrm>
          <a:prstGeom prst="rect">
            <a:avLst/>
          </a:prstGeom>
        </p:spPr>
      </p:pic>
      <p:pic>
        <p:nvPicPr>
          <p:cNvPr id="14" name="Picture 13" descr="university-of-chic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63" y="1301553"/>
            <a:ext cx="5432762" cy="1369056"/>
          </a:xfrm>
          <a:prstGeom prst="rect">
            <a:avLst/>
          </a:prstGeom>
        </p:spPr>
      </p:pic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185" y="1805367"/>
            <a:ext cx="4344988" cy="1896481"/>
          </a:xfrm>
          <a:prstGeom prst="rect">
            <a:avLst/>
          </a:prstGeom>
        </p:spPr>
      </p:pic>
      <p:pic>
        <p:nvPicPr>
          <p:cNvPr id="16" name="Picture 15" descr="pennsylvania-state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697" y="2836469"/>
            <a:ext cx="9259768" cy="136905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97751" y="5622647"/>
            <a:ext cx="10027642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751" y="6532899"/>
            <a:ext cx="10027642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43841" y="5622647"/>
            <a:ext cx="13924518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43841" y="6532899"/>
            <a:ext cx="13924518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86807" y="5622647"/>
            <a:ext cx="12675612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686807" y="6532899"/>
            <a:ext cx="12675612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80867" y="5622647"/>
            <a:ext cx="10027781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80867" y="6532899"/>
            <a:ext cx="10027781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51" y="10156269"/>
            <a:ext cx="10027642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51" y="10156269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280867" y="11781889"/>
            <a:ext cx="10027781" cy="1647983"/>
          </a:xfrm>
          <a:prstGeom prst="roundRect">
            <a:avLst>
              <a:gd name="adj" fmla="val 1265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751" y="13097887"/>
            <a:ext cx="10027642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7751" y="14008139"/>
            <a:ext cx="10027642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686807" y="13531830"/>
            <a:ext cx="12675612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686807" y="14442082"/>
            <a:ext cx="12675612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280867" y="14205247"/>
            <a:ext cx="10027781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80867" y="15115500"/>
            <a:ext cx="10027781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280867" y="15453320"/>
            <a:ext cx="10027781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843841" y="18025586"/>
            <a:ext cx="13924518" cy="2891472"/>
          </a:xfrm>
          <a:prstGeom prst="roundRect">
            <a:avLst>
              <a:gd name="adj" fmla="val 7792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25317" y="20111958"/>
            <a:ext cx="9983331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25317" y="21022210"/>
            <a:ext cx="9983331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325317" y="24027169"/>
            <a:ext cx="9983331" cy="1668820"/>
          </a:xfrm>
          <a:prstGeom prst="roundRect">
            <a:avLst>
              <a:gd name="adj" fmla="val 125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686807" y="28350626"/>
            <a:ext cx="12675612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686807" y="28350626"/>
            <a:ext cx="12675612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686807" y="6961008"/>
            <a:ext cx="1866483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MNIST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709699" y="6961008"/>
            <a:ext cx="245794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CIFAR-10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324053" y="6961008"/>
            <a:ext cx="1990944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3-class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471405" y="6961008"/>
            <a:ext cx="314844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Full 10-class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686807" y="7937242"/>
            <a:ext cx="2828270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L2 attacker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671486" y="7937242"/>
            <a:ext cx="4706977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TRADES / APGD-CE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686807" y="15040629"/>
            <a:ext cx="12675612" cy="3460433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age8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6905" y="15040629"/>
            <a:ext cx="12675416" cy="3460433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45866982" y="15675570"/>
            <a:ext cx="4195802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866982" y="15675570"/>
            <a:ext cx="11557" cy="348182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43841" y="21502687"/>
            <a:ext cx="13924518" cy="6239808"/>
          </a:xfrm>
          <a:prstGeom prst="roundRect">
            <a:avLst>
              <a:gd name="adj" fmla="val 56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age4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3919" y="21502687"/>
            <a:ext cx="13924362" cy="6239808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6686807" y="22642135"/>
            <a:ext cx="12675612" cy="3727688"/>
          </a:xfrm>
          <a:prstGeom prst="roundRect">
            <a:avLst>
              <a:gd name="adj" fmla="val 95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ge9_figur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87001" y="22642135"/>
            <a:ext cx="12675225" cy="372768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97751" y="24906724"/>
            <a:ext cx="4495006" cy="4932838"/>
          </a:xfrm>
          <a:prstGeom prst="roundRect">
            <a:avLst>
              <a:gd name="adj" fmla="val 464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30248" y="24906724"/>
            <a:ext cx="4495145" cy="4932838"/>
          </a:xfrm>
          <a:prstGeom prst="roundRect">
            <a:avLst>
              <a:gd name="adj" fmla="val 4640"/>
            </a:avLst>
          </a:prstGeom>
          <a:solidFill>
            <a:srgbClr val="F7F2F5"/>
          </a:solidFill>
          <a:ln w="889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792973" y="26474975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792973" y="26972676"/>
            <a:ext cx="3003431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686807" y="21431845"/>
            <a:ext cx="12675612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686807" y="19780250"/>
            <a:ext cx="6663333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686807" y="20477837"/>
            <a:ext cx="66633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50140" y="19780250"/>
            <a:ext cx="2681863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350140" y="20477837"/>
            <a:ext cx="268186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032003" y="19780250"/>
            <a:ext cx="3330416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032003" y="20477837"/>
            <a:ext cx="33304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686807" y="20486727"/>
            <a:ext cx="66633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686807" y="21422955"/>
            <a:ext cx="66633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350140" y="20486727"/>
            <a:ext cx="26818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350140" y="21422955"/>
            <a:ext cx="268186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032003" y="20486727"/>
            <a:ext cx="33304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032003" y="21422955"/>
            <a:ext cx="33304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686807" y="21431845"/>
            <a:ext cx="66633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686807" y="22368073"/>
            <a:ext cx="66633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350140" y="21431845"/>
            <a:ext cx="26818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350140" y="22368073"/>
            <a:ext cx="268186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032003" y="21431845"/>
            <a:ext cx="333041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032003" y="22368073"/>
            <a:ext cx="333041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3030794" y="27180063"/>
            <a:ext cx="1967607" cy="1967607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pap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49327" y="27298596"/>
            <a:ext cx="1730541" cy="1730541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45590975" y="27180063"/>
            <a:ext cx="1967607" cy="1967607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c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09508" y="27298596"/>
            <a:ext cx="1730541" cy="1730541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43369587" y="29289910"/>
            <a:ext cx="1290022" cy="541596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975885" y="29289910"/>
            <a:ext cx="1197788" cy="541596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818"/>
              </a:lnSpc>
              <a:spcBef>
                <a:spcPts val="0"/>
              </a:spcBef>
              <a:spcAft>
                <a:spcPts val="0"/>
              </a:spcAft>
            </a:pPr>
            <a:r>
              <a:rPr sz="7107" b="1" spc="-78">
                <a:solidFill>
                  <a:srgbClr val="7D2860"/>
                </a:solidFill>
                <a:latin typeface="Arial"/>
              </a:rPr>
              <a:t>Characterizing the Optimal 0-1 Loss for Multi-class</a:t>
            </a:r>
          </a:p>
          <a:p>
            <a:pPr algn="ctr">
              <a:lnSpc>
                <a:spcPts val="7818"/>
              </a:lnSpc>
              <a:spcBef>
                <a:spcPts val="0"/>
              </a:spcBef>
              <a:spcAft>
                <a:spcPts val="0"/>
              </a:spcAft>
            </a:pPr>
            <a:r>
              <a:rPr sz="7107" b="1" spc="-78">
                <a:solidFill>
                  <a:srgbClr val="7D2860"/>
                </a:solidFill>
                <a:latin typeface="Arial"/>
              </a:rPr>
              <a:t>Classification with a Test-time Attacker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Sihui Dai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Wenxin Ding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Arjun Nitin Bhagoji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Daniel Cullina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Ben Y. Zhao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Haitao Zheng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Prateek Mittal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Princeton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Chicago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Pennsylvania State University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7751" y="5622647"/>
            <a:ext cx="10328471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843841" y="5622647"/>
            <a:ext cx="14342253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686807" y="5622647"/>
            <a:ext cx="13055880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 / Benchmark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80867" y="5622647"/>
            <a:ext cx="1032861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7751" y="6870719"/>
            <a:ext cx="10328471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method existed to compute the </a:t>
            </a:r>
            <a:r>
              <a:rPr sz="4106" b="1">
                <a:solidFill>
                  <a:srgbClr val="111111"/>
                </a:solidFill>
                <a:latin typeface="Arial"/>
              </a:rPr>
              <a:t>lowest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achievable 0-1 loss</a:t>
            </a:r>
            <a:r>
              <a:rPr sz="4106" b="0">
                <a:solidFill>
                  <a:srgbClr val="1C1C1C"/>
                </a:solidFill>
                <a:latin typeface="Arial"/>
              </a:rPr>
              <a:t> under a test-time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attacker for </a:t>
            </a:r>
            <a:r>
              <a:rPr sz="4106" b="1">
                <a:solidFill>
                  <a:srgbClr val="111111"/>
                </a:solidFill>
                <a:latin typeface="Arial"/>
              </a:rPr>
              <a:t>multi-class</a:t>
            </a:r>
            <a:r>
              <a:rPr sz="4106" b="0">
                <a:solidFill>
                  <a:srgbClr val="1C1C1C"/>
                </a:solidFill>
                <a:latin typeface="Arial"/>
              </a:rPr>
              <a:t> classification; prior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results covered the </a:t>
            </a:r>
            <a:r>
              <a:rPr sz="4106" b="1">
                <a:solidFill>
                  <a:srgbClr val="111111"/>
                </a:solidFill>
                <a:latin typeface="Arial"/>
              </a:rPr>
              <a:t>binary</a:t>
            </a:r>
            <a:r>
              <a:rPr sz="4106" b="0">
                <a:solidFill>
                  <a:srgbClr val="1C1C1C"/>
                </a:solidFill>
                <a:latin typeface="Arial"/>
              </a:rPr>
              <a:t> case alone.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686807" y="8847355"/>
            <a:ext cx="13055880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3-class studies use 1000 samples/class (MNIST digits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1·4·7; CIFAR-10 plane·bird·ship). Baselines: TRADES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adversarial training (3-layer CNN / WRN-28-10)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evaluated with strong APGD-CE. The full 10-class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bounds use the complete training sets.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7751" y="10156269"/>
            <a:ext cx="10328471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With no absolute optimum, one cannot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tell whether a robust model is near-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optimal.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280867" y="11781889"/>
            <a:ext cx="10328614" cy="1895180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Edge-only bounds pin the optimum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tightly.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7751" y="13097887"/>
            <a:ext cx="10328471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686807" y="13531830"/>
            <a:ext cx="13055880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80867" y="14205247"/>
            <a:ext cx="10328614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325317" y="20111958"/>
            <a:ext cx="10282830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529190" y="20476725"/>
            <a:ext cx="1087043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LP form: maximize correctly-classified mass p·q under the hyperedge-incidence constraints 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325317" y="21428928"/>
            <a:ext cx="10282830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Multi-class robustness has a </a:t>
            </a:r>
            <a:r>
              <a:rPr sz="4106" b="1">
                <a:solidFill>
                  <a:srgbClr val="111111"/>
                </a:solidFill>
                <a:latin typeface="Arial"/>
              </a:rPr>
              <a:t>large, now-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measurable gap</a:t>
            </a:r>
            <a:r>
              <a:rPr sz="4106" b="0">
                <a:solidFill>
                  <a:srgbClr val="1C1C1C"/>
                </a:solidFill>
                <a:latin typeface="Arial"/>
              </a:rPr>
              <a:t> to the optimum — far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worse than binary.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325317" y="24027169"/>
            <a:ext cx="10282830" cy="1919142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fast diagnostic for the robustness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headroom left on the table.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686807" y="28350626"/>
            <a:ext cx="13055880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gap is large even at small ε — far wider than the binary case.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280849" y="6875164"/>
            <a:ext cx="1032863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Higher-degree hyperedges barely move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it: </a:t>
            </a:r>
            <a:r>
              <a:rPr sz="4106" b="1">
                <a:solidFill>
                  <a:srgbClr val="111111"/>
                </a:solidFill>
                <a:latin typeface="Arial"/>
              </a:rPr>
              <a:t>L*(2), L*(3), L*(4) coincide</a:t>
            </a:r>
            <a:r>
              <a:rPr sz="4106" b="0">
                <a:solidFill>
                  <a:srgbClr val="1C1C1C"/>
                </a:solidFill>
                <a:latin typeface="Arial"/>
              </a:rPr>
              <a:t> until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loss passes ~0.4.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843823" y="7054909"/>
            <a:ext cx="143422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Build a </a:t>
            </a:r>
            <a:r>
              <a:rPr sz="4106" b="1">
                <a:solidFill>
                  <a:srgbClr val="111111"/>
                </a:solidFill>
                <a:latin typeface="Arial"/>
              </a:rPr>
              <a:t>conflict hypergraph</a:t>
            </a:r>
            <a:r>
              <a:rPr sz="4106" b="0">
                <a:solidFill>
                  <a:srgbClr val="1C1C1C"/>
                </a:solidFill>
                <a:latin typeface="Arial"/>
              </a:rPr>
              <a:t>: vertices are data points;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hyperedge links same-neighborhood examples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different</a:t>
            </a:r>
            <a:r>
              <a:rPr sz="4106" b="0">
                <a:solidFill>
                  <a:srgbClr val="1C1C1C"/>
                </a:solidFill>
                <a:latin typeface="Arial"/>
              </a:rPr>
              <a:t> classes that an attacker can collapse.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280849" y="9326304"/>
            <a:ext cx="1032863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At ε=3, the CIFAR-10 bound 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completely </a:t>
            </a:r>
            <a:r>
              <a:rPr sz="4106" b="1">
                <a:solidFill>
                  <a:srgbClr val="111111"/>
                </a:solidFill>
                <a:latin typeface="Arial"/>
              </a:rPr>
              <a:t>unchanged</a:t>
            </a:r>
            <a:r>
              <a:rPr sz="4106" b="0">
                <a:solidFill>
                  <a:srgbClr val="1C1C1C"/>
                </a:solidFill>
                <a:latin typeface="Arial"/>
              </a:rPr>
              <a:t> despite millions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 degree-3 and degree-4 hyperedges.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843823" y="9506049"/>
            <a:ext cx="1434227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optimal robust loss is a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program</a:t>
            </a:r>
            <a:r>
              <a:rPr sz="4106" b="0">
                <a:solidFill>
                  <a:srgbClr val="1C1C1C"/>
                </a:solidFill>
                <a:latin typeface="Arial"/>
              </a:rPr>
              <a:t> over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achievable correct-classification probabilities; its </a:t>
            </a:r>
            <a:r>
              <a:rPr sz="4106" b="1">
                <a:solidFill>
                  <a:srgbClr val="111111"/>
                </a:solidFill>
                <a:latin typeface="Arial"/>
              </a:rPr>
              <a:t>dual</a:t>
            </a:r>
            <a:r>
              <a:rPr sz="4106" b="0">
                <a:solidFill>
                  <a:srgbClr val="1C1C1C"/>
                </a:solidFill>
                <a:latin typeface="Arial"/>
              </a:rPr>
              <a:t> is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fractional vertex cover that gives the worst-case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attacker’s play.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43823" y="12713394"/>
            <a:ext cx="14342272" cy="2706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To scale, </a:t>
            </a:r>
            <a:r>
              <a:rPr sz="4106" b="1">
                <a:solidFill>
                  <a:srgbClr val="111111"/>
                </a:solidFill>
                <a:latin typeface="Arial"/>
              </a:rPr>
              <a:t>truncate</a:t>
            </a:r>
            <a:r>
              <a:rPr sz="4106" b="0">
                <a:solidFill>
                  <a:srgbClr val="1C1C1C"/>
                </a:solidFill>
                <a:latin typeface="Arial"/>
              </a:rPr>
              <a:t> the hypergraph to degree m for L*(m),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aggregate binary bounds into L*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CO</a:t>
            </a:r>
            <a:r>
              <a:rPr sz="4106" b="0">
                <a:solidFill>
                  <a:srgbClr val="1C1C1C"/>
                </a:solidFill>
                <a:latin typeface="Arial"/>
              </a:rPr>
              <a:t>(2), and add a </a:t>
            </a:r>
            <a:r>
              <a:rPr sz="4106" b="1">
                <a:solidFill>
                  <a:srgbClr val="111111"/>
                </a:solidFill>
                <a:latin typeface="Arial"/>
              </a:rPr>
              <a:t>Caro-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Wei</a:t>
            </a:r>
            <a:r>
              <a:rPr sz="4106" b="0">
                <a:solidFill>
                  <a:srgbClr val="1C1C1C"/>
                </a:solidFill>
                <a:latin typeface="Arial"/>
              </a:rPr>
              <a:t> upper bound.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7732" y="14345959"/>
            <a:ext cx="10328490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dataset- and attacker-specific lower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bound makes robustness an </a:t>
            </a:r>
            <a:r>
              <a:rPr sz="4106" b="1">
                <a:solidFill>
                  <a:srgbClr val="111111"/>
                </a:solidFill>
                <a:latin typeface="Arial"/>
              </a:rPr>
              <a:t>absolute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measure — progress against the true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optimum, not other defenses.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843823" y="15249544"/>
            <a:ext cx="143422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exact LP is intractable at 10 classes, so the efficient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lower and upper bounds</a:t>
            </a:r>
            <a:r>
              <a:rPr sz="4106" b="0">
                <a:solidFill>
                  <a:srgbClr val="1C1C1C"/>
                </a:solidFill>
                <a:latin typeface="Arial"/>
              </a:rPr>
              <a:t> bracket the range in which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true optimum must lie.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7732" y="17553305"/>
            <a:ext cx="10328490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With three or more classes, examples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interact in </a:t>
            </a:r>
            <a:r>
              <a:rPr sz="4106" b="1">
                <a:solidFill>
                  <a:srgbClr val="111111"/>
                </a:solidFill>
                <a:latin typeface="Arial"/>
              </a:rPr>
              <a:t>higher-order</a:t>
            </a:r>
            <a:r>
              <a:rPr sz="4106" b="0">
                <a:solidFill>
                  <a:srgbClr val="1C1C1C"/>
                </a:solidFill>
                <a:latin typeface="Arial"/>
              </a:rPr>
              <a:t> ways that binary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analysis cannot capture, changing what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optimal robustness looks like.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193815" y="18650664"/>
            <a:ext cx="1201130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2 · Optimal error L*(3) for 3-class MNIST &amp; CIFAR-10 vs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adversarially trained (AT) models.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7732" y="20760650"/>
            <a:ext cx="10328490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optimal-loss results were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characterized for the </a:t>
            </a:r>
            <a:r>
              <a:rPr sz="4106" b="1">
                <a:solidFill>
                  <a:srgbClr val="111111"/>
                </a:solidFill>
                <a:latin typeface="Arial"/>
              </a:rPr>
              <a:t>binary</a:t>
            </a:r>
            <a:r>
              <a:rPr sz="4106" b="0">
                <a:solidFill>
                  <a:srgbClr val="1C1C1C"/>
                </a:solidFill>
                <a:latin typeface="Arial"/>
              </a:rPr>
              <a:t> case only.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7732" y="22455584"/>
            <a:ext cx="10328490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It reveals whether the bottleneck is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training method</a:t>
            </a:r>
            <a:r>
              <a:rPr sz="4106" b="0">
                <a:solidFill>
                  <a:srgbClr val="1C1C1C"/>
                </a:solidFill>
                <a:latin typeface="Arial"/>
              </a:rPr>
              <a:t> or a fundamental limit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 the data.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23051" y="24906724"/>
            <a:ext cx="800210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vs.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3792973" y="26474975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Scan to Read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193815" y="26519425"/>
            <a:ext cx="12011300" cy="20852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3 · Lower bounds L*(2/3/4) and coupling L*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CO</a:t>
            </a:r>
            <a:r>
              <a:rPr sz="3367" b="0" i="1">
                <a:solidFill>
                  <a:srgbClr val="555555"/>
                </a:solidFill>
                <a:latin typeface="Arial"/>
              </a:rPr>
              <a:t>(2) vs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Caro-Wei upper bound L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CW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localize the true 10-class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optimum (grey band).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400855" y="27892097"/>
            <a:ext cx="13194804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1 · Two conflict structures over three examples of different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classes; the size-three hyperedge (right) changes the optimal loss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only when all example probabilities are near-balanced.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526731" y="16003111"/>
            <a:ext cx="490956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0.60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526731" y="17378005"/>
            <a:ext cx="4909565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AT loss · 3-class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CIFAR-10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526731" y="18420913"/>
            <a:ext cx="4909565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optimal L* ≈ 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41253" y="25124112"/>
            <a:ext cx="4128241" cy="1304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BINARY (PRIOR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WORK)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73750" y="25124112"/>
            <a:ext cx="4128384" cy="1304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MULTI-CLASS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(OURS)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41253" y="26336625"/>
            <a:ext cx="4128241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Optimal robust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loss known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but only two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classes.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3750" y="26336625"/>
            <a:ext cx="412838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Higher-order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conflicts;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optimum was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uncharacterized.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345236" y="15675570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0.44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567195" y="15808920"/>
            <a:ext cx="257045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MNIST cert ·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ε=2.0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345236" y="16923087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0.80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567195" y="17056437"/>
            <a:ext cx="257045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 cert ·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ε=2.0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345236" y="18170604"/>
            <a:ext cx="107562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13M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72056" y="18303954"/>
            <a:ext cx="256544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hyperedges, no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effect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686807" y="19780250"/>
            <a:ext cx="686323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BEST ROBUST MODEL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350140" y="19780250"/>
            <a:ext cx="276231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0-1 LOSS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032003" y="19780250"/>
            <a:ext cx="343032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OPTIMAL L*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686807" y="20486727"/>
            <a:ext cx="686323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MNIST cert · ε=2.0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350140" y="20486727"/>
            <a:ext cx="276231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0.44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032003" y="20486727"/>
            <a:ext cx="343032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≈0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686807" y="21431845"/>
            <a:ext cx="686323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CIFAR-10 cert · ε=2.0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350140" y="21431845"/>
            <a:ext cx="276231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0.80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032003" y="21431845"/>
            <a:ext cx="343032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≈0</a:t>
            </a:r>
          </a:p>
        </p:txBody>
      </p:sp>
      <p:pic>
        <p:nvPicPr>
          <p:cNvPr id="140" name="Picture 139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6947" y="18665249"/>
            <a:ext cx="13118306" cy="12037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
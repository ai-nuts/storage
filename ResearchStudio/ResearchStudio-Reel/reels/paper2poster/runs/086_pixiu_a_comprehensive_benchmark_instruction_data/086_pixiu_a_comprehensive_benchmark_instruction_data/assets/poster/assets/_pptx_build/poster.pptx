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376783"/>
            <a:ext cx="10331013" cy="11280993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09620" y="5376783"/>
            <a:ext cx="12913836" cy="2469516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50176" y="5376783"/>
            <a:ext cx="12913698" cy="766067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90594" y="5376783"/>
            <a:ext cx="12463780" cy="5497214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90594" y="11028045"/>
            <a:ext cx="12463780" cy="6750843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750176" y="13369309"/>
            <a:ext cx="12913698" cy="941242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6989623"/>
            <a:ext cx="10331013" cy="1308232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090594" y="17932935"/>
            <a:ext cx="12463780" cy="6893917"/>
          </a:xfrm>
          <a:prstGeom prst="rect">
            <a:avLst/>
          </a:prstGeom>
          <a:solidFill>
            <a:srgbClr val="F7EDEE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090594" y="17932935"/>
            <a:ext cx="12463780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18814" y="17932935"/>
            <a:ext cx="35560" cy="689391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090594" y="24791292"/>
            <a:ext cx="12463780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090594" y="17932935"/>
            <a:ext cx="53340" cy="6893917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750176" y="23113583"/>
            <a:ext cx="12913698" cy="6958369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90594" y="24980900"/>
            <a:ext cx="12463780" cy="5091052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uhan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0141" y="1301551"/>
            <a:ext cx="1369060" cy="1369060"/>
          </a:xfrm>
          <a:prstGeom prst="rect">
            <a:avLst/>
          </a:prstGeom>
        </p:spPr>
      </p:pic>
      <p:pic>
        <p:nvPicPr>
          <p:cNvPr id="18" name="Picture 17" descr="sun-yat-sen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6175" y="1301551"/>
            <a:ext cx="1369060" cy="1369060"/>
          </a:xfrm>
          <a:prstGeom prst="rect">
            <a:avLst/>
          </a:prstGeom>
        </p:spPr>
      </p:pic>
      <p:pic>
        <p:nvPicPr>
          <p:cNvPr id="19" name="Picture 18" descr="southwest-jiaotong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2210" y="1301612"/>
            <a:ext cx="1121112" cy="1368938"/>
          </a:xfrm>
          <a:prstGeom prst="rect">
            <a:avLst/>
          </a:prstGeom>
        </p:spPr>
      </p:pic>
      <p:pic>
        <p:nvPicPr>
          <p:cNvPr id="20" name="Picture 19" descr="_ven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87" y="1805367"/>
            <a:ext cx="4344988" cy="1896481"/>
          </a:xfrm>
          <a:prstGeom prst="rect">
            <a:avLst/>
          </a:prstGeom>
        </p:spPr>
      </p:pic>
      <p:pic>
        <p:nvPicPr>
          <p:cNvPr id="21" name="Picture 20" descr="university-of-flori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95477" y="2836474"/>
            <a:ext cx="7228543" cy="136904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8505368" y="6893917"/>
            <a:ext cx="11634232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6661" y="13422233"/>
            <a:ext cx="9501465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6661" y="13422233"/>
            <a:ext cx="124460" cy="2837021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64950" y="18636773"/>
            <a:ext cx="12084150" cy="1942187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523148" y="19530774"/>
            <a:ext cx="11616452" cy="1668820"/>
          </a:xfrm>
          <a:prstGeom prst="roundRect">
            <a:avLst>
              <a:gd name="adj" fmla="val 125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164950" y="20859968"/>
            <a:ext cx="1208415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164950" y="20859968"/>
            <a:ext cx="12084150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6661" y="26672222"/>
            <a:ext cx="9501465" cy="3003987"/>
          </a:xfrm>
          <a:prstGeom prst="roundRect">
            <a:avLst>
              <a:gd name="adj" fmla="val 6944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91039" y="7116167"/>
            <a:ext cx="4902696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91039" y="7116167"/>
            <a:ext cx="11557" cy="3235682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164950" y="11066105"/>
            <a:ext cx="1374200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FPB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695558" y="11066105"/>
            <a:ext cx="2309733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FiQA-SA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161700" y="11066105"/>
            <a:ext cx="2335014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Headline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653122" y="11066105"/>
            <a:ext cx="1423512" cy="819825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NER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233042" y="11066105"/>
            <a:ext cx="1817172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FinQA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164950" y="12042338"/>
            <a:ext cx="292522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ConvFinQA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246585" y="12042338"/>
            <a:ext cx="6456363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824394" y="16737091"/>
            <a:ext cx="12084288" cy="5889764"/>
          </a:xfrm>
          <a:prstGeom prst="roundRect">
            <a:avLst>
              <a:gd name="adj" fmla="val 60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4453" y="16737091"/>
            <a:ext cx="12084170" cy="588976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1824394" y="786376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24394" y="1051561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24394" y="13167479"/>
            <a:ext cx="703977" cy="703976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64950" y="27977246"/>
            <a:ext cx="12084150" cy="945118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164950" y="15080357"/>
            <a:ext cx="7612896" cy="814407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164950" y="15885874"/>
            <a:ext cx="761289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777846" y="15080357"/>
            <a:ext cx="2235557" cy="814407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777846" y="15885874"/>
            <a:ext cx="22355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013403" y="15080357"/>
            <a:ext cx="2235697" cy="814407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013403" y="15885874"/>
            <a:ext cx="2235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164950" y="15894764"/>
            <a:ext cx="7612896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164950" y="16704726"/>
            <a:ext cx="761289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777846" y="15894764"/>
            <a:ext cx="223555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777846" y="16704726"/>
            <a:ext cx="22355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013403" y="15894764"/>
            <a:ext cx="223569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3403" y="16704726"/>
            <a:ext cx="2235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64950" y="16713616"/>
            <a:ext cx="7612896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164950" y="17523579"/>
            <a:ext cx="761289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777846" y="16713616"/>
            <a:ext cx="2235557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777846" y="17523579"/>
            <a:ext cx="22355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013403" y="16713616"/>
            <a:ext cx="2235697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013403" y="17523579"/>
            <a:ext cx="2235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5164950" y="17532469"/>
            <a:ext cx="7612896" cy="81885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5164950" y="18342431"/>
            <a:ext cx="761289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777846" y="17532469"/>
            <a:ext cx="2235557" cy="81885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777846" y="18342431"/>
            <a:ext cx="223555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5013403" y="17532469"/>
            <a:ext cx="2235697" cy="818852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5013403" y="18342431"/>
            <a:ext cx="2235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505368" y="26082982"/>
            <a:ext cx="1659374" cy="3081774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3901" y="26912715"/>
            <a:ext cx="1422308" cy="1422308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40757316" y="26082982"/>
            <a:ext cx="1659374" cy="3081774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75849" y="26912715"/>
            <a:ext cx="1422308" cy="1422308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25164950" y="26325651"/>
            <a:ext cx="7423845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164950" y="27023238"/>
            <a:ext cx="742384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588795" y="26325651"/>
            <a:ext cx="4660305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588795" y="27023238"/>
            <a:ext cx="46603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5164950" y="27032128"/>
            <a:ext cx="742384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164950" y="27968356"/>
            <a:ext cx="742384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588795" y="27032128"/>
            <a:ext cx="46603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588795" y="27968356"/>
            <a:ext cx="46603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5164950" y="27977246"/>
            <a:ext cx="742384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164950" y="28913474"/>
            <a:ext cx="742384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588795" y="27977246"/>
            <a:ext cx="46603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2588795" y="28913474"/>
            <a:ext cx="46603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164950" y="28922364"/>
            <a:ext cx="742384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164950" y="29858592"/>
            <a:ext cx="742384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588795" y="28922364"/>
            <a:ext cx="46603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588795" y="29858592"/>
            <a:ext cx="466030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8689974" y="29306996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8F2437"/>
                </a:solidFill>
                <a:latin typeface="Arial"/>
              </a:rPr>
              <a:t>Paper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0988039" y="29306996"/>
            <a:ext cx="1197789" cy="541595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8F2437"/>
                </a:solidFill>
                <a:latin typeface="Arial"/>
              </a:rPr>
              <a:t>Code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76"/>
              </a:lnSpc>
              <a:spcBef>
                <a:spcPts val="0"/>
              </a:spcBef>
              <a:spcAft>
                <a:spcPts val="0"/>
              </a:spcAft>
            </a:pPr>
            <a:r>
              <a:rPr sz="7069" b="1" spc="-78">
                <a:solidFill>
                  <a:srgbClr val="8F2437"/>
                </a:solidFill>
                <a:latin typeface="Arial"/>
              </a:rPr>
              <a:t>PIXIU: An Open Large Language Model, Instruction</a:t>
            </a:r>
          </a:p>
          <a:p>
            <a:pPr algn="ctr">
              <a:lnSpc>
                <a:spcPts val="7776"/>
              </a:lnSpc>
              <a:spcBef>
                <a:spcPts val="0"/>
              </a:spcBef>
              <a:spcAft>
                <a:spcPts val="0"/>
              </a:spcAft>
            </a:pPr>
            <a:r>
              <a:rPr sz="7069" b="1" spc="-78">
                <a:solidFill>
                  <a:srgbClr val="8F2437"/>
                </a:solidFill>
                <a:latin typeface="Arial"/>
              </a:rPr>
              <a:t>Dataset &amp; Evaluation Benchmark for Finance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Qianqian Xie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Weiguang Han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Xiao Zhang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Yanzhao Lai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Min Peng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Alejandro Lopez-Lira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3733" b="0">
                <a:solidFill>
                  <a:srgbClr val="1B2331"/>
                </a:solidFill>
                <a:latin typeface="Arial"/>
              </a:rPr>
              <a:t>, Jimin Huang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Wuhan University 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Sun Yat-Sen University 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Southwest Jiaotong University 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University of Florida 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ChanceFocus AMC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6661" y="5791557"/>
            <a:ext cx="978650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824394" y="5791557"/>
            <a:ext cx="1244681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164950" y="5791557"/>
            <a:ext cx="12446674" cy="1799335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DATASET / BENCHMARK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505368" y="5791557"/>
            <a:ext cx="11983258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6661" y="6905724"/>
            <a:ext cx="9786508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Financial NLP advances fast, but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technical nature of financial text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demands domain-specific models —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almost nothing is </a:t>
            </a:r>
            <a:r>
              <a:rPr sz="4106" b="1">
                <a:solidFill>
                  <a:srgbClr val="111111"/>
                </a:solidFill>
                <a:latin typeface="Arial"/>
              </a:rPr>
              <a:t>open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505368" y="11442819"/>
            <a:ext cx="1198325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CONTRIBUTION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6661" y="13422233"/>
            <a:ext cx="9786508" cy="3262574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BloombergGPT (50B), the one large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financial model, is proprietary — no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weights, no data, not instruction-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tuned.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164950" y="13784083"/>
            <a:ext cx="1244667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6661" y="17404397"/>
            <a:ext cx="978650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523148" y="18347709"/>
            <a:ext cx="1196494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164950" y="18636773"/>
            <a:ext cx="12446674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+10% F1 over GPT-4 · +37% F1 over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BloombergGPT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523148" y="19530774"/>
            <a:ext cx="11964945" cy="1919142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30B open model on the right data beats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GPT-4 — the recipe is data, not size.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164950" y="20859968"/>
            <a:ext cx="12446674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SOTA on 3 NLP + 1 prediction task; QA stays hard (weak math).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523148" y="21398785"/>
            <a:ext cx="1196494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PIXIU gives financial AI its first fully open triad: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FinMA</a:t>
            </a:r>
            <a:r>
              <a:rPr sz="4106" b="0">
                <a:solidFill>
                  <a:srgbClr val="1C1C1C"/>
                </a:solidFill>
                <a:latin typeface="Arial"/>
              </a:rPr>
              <a:t> (model), </a:t>
            </a:r>
            <a:r>
              <a:rPr sz="4106" b="1">
                <a:solidFill>
                  <a:srgbClr val="111111"/>
                </a:solidFill>
                <a:latin typeface="Arial"/>
              </a:rPr>
              <a:t>FIT</a:t>
            </a:r>
            <a:r>
              <a:rPr sz="4106" b="0">
                <a:solidFill>
                  <a:srgbClr val="1C1C1C"/>
                </a:solidFill>
                <a:latin typeface="Arial"/>
              </a:rPr>
              <a:t> (data), and </a:t>
            </a:r>
            <a:r>
              <a:rPr sz="4106" b="1">
                <a:solidFill>
                  <a:srgbClr val="111111"/>
                </a:solidFill>
                <a:latin typeface="Arial"/>
              </a:rPr>
              <a:t>FLARE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(benchmark) — proving domain instruction tuning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beats far larger general models.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164950" y="23528357"/>
            <a:ext cx="1244667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ABLATION STUDY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6661" y="26672222"/>
            <a:ext cx="9786508" cy="3454585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Finance demands both language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understanding </a:t>
            </a:r>
            <a:r>
              <a:rPr sz="4106" b="0" i="1">
                <a:solidFill>
                  <a:srgbClr val="8F2437"/>
                </a:solidFill>
                <a:latin typeface="Arial"/>
              </a:rPr>
              <a:t>and</a:t>
            </a:r>
            <a:r>
              <a:rPr sz="4106" b="0">
                <a:solidFill>
                  <a:srgbClr val="8F2437"/>
                </a:solidFill>
                <a:latin typeface="Arial"/>
              </a:rPr>
              <a:t> time-series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prediction — PIXIU is the first to cover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both, in the open.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164932" y="7676237"/>
            <a:ext cx="1244669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FIT</a:t>
            </a:r>
            <a:r>
              <a:rPr sz="4106" b="0">
                <a:solidFill>
                  <a:srgbClr val="1C1C1C"/>
                </a:solidFill>
                <a:latin typeface="Arial"/>
              </a:rPr>
              <a:t>: 136,609 samples across 5 tasks, 9 datasets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(text, tables, time series).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786537" y="7863760"/>
            <a:ext cx="11455809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Collect</a:t>
            </a:r>
            <a:r>
              <a:rPr sz="4106" b="0">
                <a:solidFill>
                  <a:srgbClr val="1C1C1C"/>
                </a:solidFill>
                <a:latin typeface="Arial"/>
              </a:rPr>
              <a:t> open data across 5 financial tasks —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sentiment, headline classification, NER, question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answering, and stock-movement prediction.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164932" y="9371171"/>
            <a:ext cx="1244669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FLARE</a:t>
            </a:r>
            <a:r>
              <a:rPr sz="4106" b="0">
                <a:solidFill>
                  <a:srgbClr val="1C1C1C"/>
                </a:solidFill>
                <a:latin typeface="Arial"/>
              </a:rPr>
              <a:t>: 6 NLP + 3 prediction datasets, each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its standard metric.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66642" y="10203080"/>
            <a:ext cx="9786528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Financial PLMs (finBERT, FLANG) are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tiny (&lt;1B params); no open financial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instruction data</a:t>
            </a:r>
            <a:r>
              <a:rPr sz="4106" b="0">
                <a:solidFill>
                  <a:srgbClr val="1C1C1C"/>
                </a:solidFill>
                <a:latin typeface="Arial"/>
              </a:rPr>
              <a:t> or </a:t>
            </a:r>
            <a:r>
              <a:rPr sz="4106" b="1">
                <a:solidFill>
                  <a:srgbClr val="111111"/>
                </a:solidFill>
                <a:latin typeface="Arial"/>
              </a:rPr>
              <a:t>benchmarks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exist.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786537" y="10515619"/>
            <a:ext cx="11455809" cy="26898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Wrap</a:t>
            </a:r>
            <a:r>
              <a:rPr sz="4106" b="0">
                <a:solidFill>
                  <a:srgbClr val="1C1C1C"/>
                </a:solidFill>
                <a:latin typeface="Arial"/>
              </a:rPr>
              <a:t> each sample with domain-expert task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instructions to build </a:t>
            </a:r>
            <a:r>
              <a:rPr sz="4106" b="1">
                <a:solidFill>
                  <a:srgbClr val="111111"/>
                </a:solidFill>
                <a:latin typeface="Arial"/>
              </a:rPr>
              <a:t>FIT</a:t>
            </a:r>
            <a:r>
              <a:rPr sz="4106" b="0">
                <a:solidFill>
                  <a:srgbClr val="1C1C1C"/>
                </a:solidFill>
                <a:latin typeface="Arial"/>
              </a:rPr>
              <a:t>, spanning text, report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tables, and stock-price time series.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505349" y="12545179"/>
            <a:ext cx="11983278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FIT</a:t>
            </a:r>
            <a:r>
              <a:rPr sz="4106" b="0">
                <a:solidFill>
                  <a:srgbClr val="1C1C1C"/>
                </a:solidFill>
                <a:latin typeface="Arial"/>
              </a:rPr>
              <a:t> — first multi-modal financial instruction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dataset (136K).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786537" y="13167479"/>
            <a:ext cx="11455809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Fine-tune LLaMA</a:t>
            </a:r>
            <a:r>
              <a:rPr sz="4106" b="0">
                <a:solidFill>
                  <a:srgbClr val="1C1C1C"/>
                </a:solidFill>
                <a:latin typeface="Arial"/>
              </a:rPr>
              <a:t> (7B / 30B) with multi-task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instruction tuning → the </a:t>
            </a:r>
            <a:r>
              <a:rPr sz="4106" b="1">
                <a:solidFill>
                  <a:srgbClr val="111111"/>
                </a:solidFill>
                <a:latin typeface="Arial"/>
              </a:rPr>
              <a:t>FinMA</a:t>
            </a:r>
            <a:r>
              <a:rPr sz="4106" b="0">
                <a:solidFill>
                  <a:srgbClr val="1C1C1C"/>
                </a:solidFill>
                <a:latin typeface="Arial"/>
              </a:rPr>
              <a:t> family, then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evaluate on </a:t>
            </a:r>
            <a:r>
              <a:rPr sz="4106" b="1">
                <a:solidFill>
                  <a:srgbClr val="111111"/>
                </a:solidFill>
                <a:latin typeface="Arial"/>
              </a:rPr>
              <a:t>FLARE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505349" y="14240113"/>
            <a:ext cx="11983278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FinMA</a:t>
            </a:r>
            <a:r>
              <a:rPr sz="4106" b="0">
                <a:solidFill>
                  <a:srgbClr val="1C1C1C"/>
                </a:solidFill>
                <a:latin typeface="Arial"/>
              </a:rPr>
              <a:t> — first open instruction-tuned financial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LLM.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505349" y="15935047"/>
            <a:ext cx="11983278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FLARE</a:t>
            </a:r>
            <a:r>
              <a:rPr sz="4106" b="0">
                <a:solidFill>
                  <a:srgbClr val="1C1C1C"/>
                </a:solidFill>
                <a:latin typeface="Arial"/>
              </a:rPr>
              <a:t> — first NLP + prediction financial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benchmark.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66642" y="19004041"/>
            <a:ext cx="9786528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Instruction tuning is essential</a:t>
            </a:r>
            <a:r>
              <a:rPr sz="4106" b="0">
                <a:solidFill>
                  <a:srgbClr val="1C1C1C"/>
                </a:solidFill>
                <a:latin typeface="Arial"/>
              </a:rPr>
              <a:t>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zero-shot financial tasks — yet no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financial instruction data exists to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enable it.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66642" y="22211387"/>
            <a:ext cx="9786528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Real finance needs prediction.</a:t>
            </a:r>
            <a:r>
              <a:rPr sz="4106" b="0">
                <a:solidFill>
                  <a:srgbClr val="1C1C1C"/>
                </a:solidFill>
                <a:latin typeface="Arial"/>
              </a:rPr>
              <a:t> Prior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benchmarks (FLUE, BBT-CFLEB)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cover only NLP and ignore stock-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movement prediction aligned with real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trading.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307788" y="22776457"/>
            <a:ext cx="11451025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Multi-task, multi-modal instruction tuning of FinMA across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diverse financial tasks (NER, FPB sentiment, BigData22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stock prediction).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164932" y="24630717"/>
            <a:ext cx="1244669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Scale ≠ gain.</a:t>
            </a:r>
            <a:r>
              <a:rPr sz="4106" b="0">
                <a:solidFill>
                  <a:srgbClr val="1C1C1C"/>
                </a:solidFill>
                <a:latin typeface="Arial"/>
              </a:rPr>
              <a:t> FinMA-30B ≈ FinMA-7B on most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tasks — data quality &amp; diversity beat size.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494061" y="25395674"/>
            <a:ext cx="3766551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37">
                <a:solidFill>
                  <a:srgbClr val="8F2437"/>
                </a:solidFill>
                <a:latin typeface="Arial"/>
              </a:rPr>
              <a:t>SCAN TO READ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824376" y="25431928"/>
            <a:ext cx="1244683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Multi-modal inputs:</a:t>
            </a:r>
            <a:r>
              <a:rPr sz="4106" b="0">
                <a:solidFill>
                  <a:srgbClr val="1C1C1C"/>
                </a:solidFill>
                <a:latin typeface="Arial"/>
              </a:rPr>
              <a:t> reports, news, tweets,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SEC filings, plus tabular financial reports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historical stock-price time series.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824376" y="27883068"/>
            <a:ext cx="12446835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Model family:</a:t>
            </a:r>
            <a:r>
              <a:rPr sz="4106" b="0">
                <a:solidFill>
                  <a:srgbClr val="1C1C1C"/>
                </a:solidFill>
                <a:latin typeface="Arial"/>
              </a:rPr>
              <a:t> FinMA-7B and FinMA-30B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NLP; FinMA-7B-full also handles stock prediction.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8751232" y="7116167"/>
            <a:ext cx="5836108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136K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751232" y="8491061"/>
            <a:ext cx="5836108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instruction samples in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FIT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751232" y="9533969"/>
            <a:ext cx="5836108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first open financial instruction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dataset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009264" y="26082982"/>
            <a:ext cx="7344246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arxiv.org/abs/2306.05443 ·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github.com/chancefocus/PIXIU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469294" y="7116167"/>
            <a:ext cx="142944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039629" y="7249517"/>
            <a:ext cx="293972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F1 vs GPT-4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(FPB)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469294" y="8363684"/>
            <a:ext cx="142944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+37%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039629" y="8497034"/>
            <a:ext cx="293972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F1 vs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BloombergGPT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469294" y="9611201"/>
            <a:ext cx="18703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7B/30B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467738" y="9744551"/>
            <a:ext cx="207714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open LLaMA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164950" y="15080357"/>
            <a:ext cx="7841282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FPB sentiment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777846" y="15080357"/>
            <a:ext cx="2302623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F1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013403" y="15080357"/>
            <a:ext cx="2302767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Acc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164950" y="15894764"/>
            <a:ext cx="784128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BloombergGPT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777846" y="15894764"/>
            <a:ext cx="230262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0.51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013403" y="15894764"/>
            <a:ext cx="230276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164950" y="16713616"/>
            <a:ext cx="784128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GPT-4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2777846" y="16713616"/>
            <a:ext cx="2302623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0.78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013403" y="16713616"/>
            <a:ext cx="2302767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0.78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164950" y="17532469"/>
            <a:ext cx="784128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FinMA-30B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2777846" y="17532469"/>
            <a:ext cx="2302623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0.88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5013403" y="17532469"/>
            <a:ext cx="230276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8F2437"/>
                </a:solidFill>
                <a:latin typeface="Arial"/>
              </a:rPr>
              <a:t>0.87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5164950" y="26325651"/>
            <a:ext cx="7646560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CONVFINQA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588795" y="26325651"/>
            <a:ext cx="4800114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EM ACC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164950" y="27032128"/>
            <a:ext cx="764656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FinMA-7B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588795" y="27032128"/>
            <a:ext cx="480011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0.25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5164950" y="27977246"/>
            <a:ext cx="764656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FinMA-30B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588795" y="27977246"/>
            <a:ext cx="480011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0.40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5164950" y="28922364"/>
            <a:ext cx="764656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GPT-4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2588795" y="28922364"/>
            <a:ext cx="480011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
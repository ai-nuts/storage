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78a28efedde6e12e.png"/><Relationship Id="rId3" Type="http://schemas.openxmlformats.org/officeDocument/2006/relationships/image" Target="../media/image_40836ea8f57b616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2023</a:t>
            </a:r>
          </a:p>
        </p:txBody>
      </p:sp>
      <p:sp>
        <p:nvSpPr>
          <p:cNvPr id="3" name="TextBox 3"/>
          <p:cNvSpPr txBox="1"/>
          <p:nvPr/>
        </p:nvSpPr>
        <p:spPr>
          <a:xfrm>
            <a:off x="9992727" y="572452"/>
            <a:ext cx="159500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Google Research · MIT</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2074" y="1227772"/>
            <a:ext cx="5277407" cy="674751"/>
          </a:xfrm>
          <a:prstGeom prst="rect">
            <a:avLst/>
          </a:prstGeom>
          <a:noFill/>
          <a:ln>
            <a:noFill/>
          </a:ln>
        </p:spPr>
        <p:txBody>
          <a:bodyPr wrap="none" lIns="0" tIns="0" rIns="0" bIns="0" anchor="t" anchorCtr="0">
            <a:spAutoFit/>
          </a:bodyPr>
          <a:lstStyle/>
          <a:p>
            <a:pPr algn="l"/>
            <a:r>
              <a:rPr lang="en-US" sz="3450" b="1" dirty="0">
                <a:solidFill>
                  <a:srgbClr val="FFFFFF"/>
                </a:solidFill>
                <a:latin typeface="+mn-lt"/>
                <a:ea typeface="+mn-ea"/>
                <a:cs typeface="+mn-cs"/>
              </a:rPr>
              <a:t>Scaling Spherical CNNs</a:t>
            </a:r>
          </a:p>
        </p:txBody>
      </p:sp>
      <p:sp>
        <p:nvSpPr>
          <p:cNvPr id="6" name="TextBox 6"/>
          <p:cNvSpPr txBox="1"/>
          <p:nvPr/>
        </p:nvSpPr>
        <p:spPr>
          <a:xfrm>
            <a:off x="601599" y="1868329"/>
            <a:ext cx="7080912" cy="308039"/>
          </a:xfrm>
          <a:prstGeom prst="rect">
            <a:avLst/>
          </a:prstGeom>
          <a:noFill/>
          <a:ln>
            <a:noFill/>
          </a:ln>
        </p:spPr>
        <p:txBody>
          <a:bodyPr wrap="none" lIns="0" tIns="0" rIns="0" bIns="0" anchor="t" anchorCtr="0">
            <a:spAutoFit/>
          </a:bodyPr>
          <a:lstStyle/>
          <a:p>
            <a:pPr algn="l"/>
            <a:r>
              <a:rPr lang="en-US" sz="1580" b="1" dirty="0">
                <a:solidFill>
                  <a:schemeClr val="accent2"/>
                </a:solidFill>
                <a:latin typeface="+mn-lt"/>
                <a:ea typeface="+mn-ea"/>
                <a:cs typeface="+mn-cs"/>
              </a:rPr>
              <a:t>Rotation-equivariant deep nets, scaled by an order of magnitude</a:t>
            </a:r>
          </a:p>
        </p:txBody>
      </p:sp>
      <p:sp>
        <p:nvSpPr>
          <p:cNvPr id="7" name="TextBox 7"/>
          <p:cNvSpPr txBox="1"/>
          <p:nvPr/>
        </p:nvSpPr>
        <p:spPr>
          <a:xfrm>
            <a:off x="603504" y="2251710"/>
            <a:ext cx="633355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Carlos Esteves · Jean-Jacques Slotine · Ameesh Makadia — Google Research, MIT</a:t>
            </a:r>
          </a:p>
        </p:txBody>
      </p:sp>
      <p:grpSp>
        <p:nvGrpSpPr>
          <p:cNvPr id="16" name="Group 16"/>
          <p:cNvGrpSpPr/>
          <p:nvPr/>
        </p:nvGrpSpPr>
        <p:grpSpPr>
          <a:xfrm>
            <a:off x="609600" y="2781300"/>
            <a:ext cx="2590800" cy="1866900"/>
            <a:chOff x="609600" y="2781300"/>
            <a:chExt cx="2590800" cy="1866900"/>
          </a:xfrm>
        </p:grpSpPr>
        <p:sp>
          <p:nvSpPr>
            <p:cNvPr id="8" name="Rectangle 8"/>
            <p:cNvSpPr/>
            <p:nvPr/>
          </p:nvSpPr>
          <p:spPr>
            <a:xfrm>
              <a:off x="609600" y="2781300"/>
              <a:ext cx="2590800" cy="1866900"/>
            </a:xfrm>
            <a:prstGeom prst="roundRect">
              <a:avLst>
                <a:gd name="adj" fmla="val 7143"/>
              </a:avLst>
            </a:prstGeom>
            <a:solidFill>
              <a:schemeClr val="accent5"/>
            </a:solidFill>
            <a:ln w="14288">
              <a:solidFill>
                <a:srgbClr val="26455F"/>
              </a:solidFill>
            </a:ln>
          </p:spPr>
        </p:sp>
        <p:sp>
          <p:nvSpPr>
            <p:cNvPr id="9" name="Rectangle 9"/>
            <p:cNvSpPr/>
            <p:nvPr/>
          </p:nvSpPr>
          <p:spPr>
            <a:xfrm>
              <a:off x="609600" y="2781300"/>
              <a:ext cx="2590800" cy="57150"/>
            </a:xfrm>
            <a:prstGeom prst="roundRect">
              <a:avLst>
                <a:gd name="adj" fmla="val 50000"/>
              </a:avLst>
            </a:prstGeom>
            <a:solidFill>
              <a:schemeClr val="accent2"/>
            </a:solidFill>
            <a:ln>
              <a:noFill/>
            </a:ln>
          </p:spPr>
        </p:sp>
        <p:sp>
          <p:nvSpPr>
            <p:cNvPr id="10" name="Ellipse 10"/>
            <p:cNvSpPr/>
            <p:nvPr/>
          </p:nvSpPr>
          <p:spPr>
            <a:xfrm>
              <a:off x="790575" y="3114675"/>
              <a:ext cx="133350" cy="133350"/>
            </a:xfrm>
            <a:prstGeom prst="ellipse">
              <a:avLst/>
            </a:prstGeom>
            <a:solidFill>
              <a:schemeClr val="accent2"/>
            </a:solidFill>
            <a:ln>
              <a:noFill/>
            </a:ln>
          </p:spPr>
        </p:sp>
        <p:sp>
          <p:nvSpPr>
            <p:cNvPr id="11" name="TextBox 11"/>
            <p:cNvSpPr txBox="1"/>
            <p:nvPr/>
          </p:nvSpPr>
          <p:spPr>
            <a:xfrm>
              <a:off x="1022223" y="3100864"/>
              <a:ext cx="188238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Signals on the sphere</a:t>
              </a:r>
            </a:p>
          </p:txBody>
        </p:sp>
        <p:sp>
          <p:nvSpPr>
            <p:cNvPr id="12" name="TextBox 12"/>
            <p:cNvSpPr txBox="1"/>
            <p:nvPr/>
          </p:nvSpPr>
          <p:spPr>
            <a:xfrm>
              <a:off x="813816" y="3487102"/>
              <a:ext cx="175926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Spherical CNNs generalize</a:t>
              </a:r>
            </a:p>
          </p:txBody>
        </p:sp>
        <p:sp>
          <p:nvSpPr>
            <p:cNvPr id="13" name="TextBox 13"/>
            <p:cNvSpPr txBox="1"/>
            <p:nvPr/>
          </p:nvSpPr>
          <p:spPr>
            <a:xfrm>
              <a:off x="813816" y="3696652"/>
              <a:ext cx="213093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convnets to data on a sphere —</a:t>
              </a:r>
            </a:p>
          </p:txBody>
        </p:sp>
        <p:sp>
          <p:nvSpPr>
            <p:cNvPr id="14" name="TextBox 14"/>
            <p:cNvSpPr txBox="1"/>
            <p:nvPr/>
          </p:nvSpPr>
          <p:spPr>
            <a:xfrm>
              <a:off x="813816" y="3906202"/>
              <a:ext cx="18552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natural fit for molecules</a:t>
              </a:r>
            </a:p>
          </p:txBody>
        </p:sp>
        <p:sp>
          <p:nvSpPr>
            <p:cNvPr id="15" name="TextBox 15"/>
            <p:cNvSpPr txBox="1"/>
            <p:nvPr/>
          </p:nvSpPr>
          <p:spPr>
            <a:xfrm>
              <a:off x="813816" y="4115752"/>
              <a:ext cx="93651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weather.</a:t>
              </a:r>
            </a:p>
          </p:txBody>
        </p:sp>
      </p:grpSp>
      <p:grpSp>
        <p:nvGrpSpPr>
          <p:cNvPr id="25" name="Group 25"/>
          <p:cNvGrpSpPr/>
          <p:nvPr/>
        </p:nvGrpSpPr>
        <p:grpSpPr>
          <a:xfrm>
            <a:off x="3352800" y="2781300"/>
            <a:ext cx="2590800" cy="1866900"/>
            <a:chOff x="3352800" y="2781300"/>
            <a:chExt cx="2590800" cy="1866900"/>
          </a:xfrm>
        </p:grpSpPr>
        <p:sp>
          <p:nvSpPr>
            <p:cNvPr id="17" name="Rectangle 17"/>
            <p:cNvSpPr/>
            <p:nvPr/>
          </p:nvSpPr>
          <p:spPr>
            <a:xfrm>
              <a:off x="3352800" y="2781300"/>
              <a:ext cx="2590800" cy="1866900"/>
            </a:xfrm>
            <a:prstGeom prst="roundRect">
              <a:avLst>
                <a:gd name="adj" fmla="val 7143"/>
              </a:avLst>
            </a:prstGeom>
            <a:solidFill>
              <a:schemeClr val="accent5"/>
            </a:solidFill>
            <a:ln w="14288">
              <a:solidFill>
                <a:srgbClr val="26455F"/>
              </a:solidFill>
            </a:ln>
          </p:spPr>
        </p:sp>
        <p:sp>
          <p:nvSpPr>
            <p:cNvPr id="18" name="Rectangle 18"/>
            <p:cNvSpPr/>
            <p:nvPr/>
          </p:nvSpPr>
          <p:spPr>
            <a:xfrm>
              <a:off x="3352800" y="2781300"/>
              <a:ext cx="2590800" cy="57150"/>
            </a:xfrm>
            <a:prstGeom prst="roundRect">
              <a:avLst>
                <a:gd name="adj" fmla="val 50000"/>
              </a:avLst>
            </a:prstGeom>
            <a:solidFill>
              <a:srgbClr val="F2685C"/>
            </a:solidFill>
            <a:ln>
              <a:noFill/>
            </a:ln>
          </p:spPr>
        </p:sp>
        <p:sp>
          <p:nvSpPr>
            <p:cNvPr id="19" name="Ellipse 19"/>
            <p:cNvSpPr/>
            <p:nvPr/>
          </p:nvSpPr>
          <p:spPr>
            <a:xfrm>
              <a:off x="3533775" y="3114675"/>
              <a:ext cx="133350" cy="133350"/>
            </a:xfrm>
            <a:prstGeom prst="ellipse">
              <a:avLst/>
            </a:prstGeom>
            <a:solidFill>
              <a:srgbClr val="F2685C"/>
            </a:solidFill>
            <a:ln>
              <a:noFill/>
            </a:ln>
          </p:spPr>
        </p:sp>
        <p:sp>
          <p:nvSpPr>
            <p:cNvPr id="20" name="TextBox 20"/>
            <p:cNvSpPr txBox="1"/>
            <p:nvPr/>
          </p:nvSpPr>
          <p:spPr>
            <a:xfrm>
              <a:off x="3765423" y="3100864"/>
              <a:ext cx="101369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Stuck small</a:t>
              </a:r>
            </a:p>
          </p:txBody>
        </p:sp>
        <p:sp>
          <p:nvSpPr>
            <p:cNvPr id="21" name="TextBox 21"/>
            <p:cNvSpPr txBox="1"/>
            <p:nvPr/>
          </p:nvSpPr>
          <p:spPr>
            <a:xfrm>
              <a:off x="3557016" y="3487102"/>
              <a:ext cx="20861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Until now: low resolutions and</a:t>
              </a:r>
            </a:p>
          </p:txBody>
        </p:sp>
        <p:sp>
          <p:nvSpPr>
            <p:cNvPr id="22" name="TextBox 22"/>
            <p:cNvSpPr txBox="1"/>
            <p:nvPr/>
          </p:nvSpPr>
          <p:spPr>
            <a:xfrm>
              <a:off x="3557016" y="3696652"/>
              <a:ext cx="181066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shallow depth. They never</a:t>
              </a:r>
            </a:p>
          </p:txBody>
        </p:sp>
        <p:sp>
          <p:nvSpPr>
            <p:cNvPr id="23" name="TextBox 23"/>
            <p:cNvSpPr txBox="1"/>
            <p:nvPr/>
          </p:nvSpPr>
          <p:spPr>
            <a:xfrm>
              <a:off x="3557016" y="3906202"/>
              <a:ext cx="15725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competed on large real</a:t>
              </a:r>
            </a:p>
          </p:txBody>
        </p:sp>
        <p:sp>
          <p:nvSpPr>
            <p:cNvPr id="24" name="TextBox 24"/>
            <p:cNvSpPr txBox="1"/>
            <p:nvPr/>
          </p:nvSpPr>
          <p:spPr>
            <a:xfrm>
              <a:off x="3557016" y="4115752"/>
              <a:ext cx="7032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problems.</a:t>
              </a:r>
            </a:p>
          </p:txBody>
        </p:sp>
      </p:grpSp>
      <p:grpSp>
        <p:nvGrpSpPr>
          <p:cNvPr id="33" name="Group 33"/>
          <p:cNvGrpSpPr/>
          <p:nvPr/>
        </p:nvGrpSpPr>
        <p:grpSpPr>
          <a:xfrm>
            <a:off x="6096000" y="2781300"/>
            <a:ext cx="2590800" cy="1866900"/>
            <a:chOff x="6096000" y="2781300"/>
            <a:chExt cx="2590800" cy="1866900"/>
          </a:xfrm>
        </p:grpSpPr>
        <p:sp>
          <p:nvSpPr>
            <p:cNvPr id="26" name="Rectangle 26"/>
            <p:cNvSpPr/>
            <p:nvPr/>
          </p:nvSpPr>
          <p:spPr>
            <a:xfrm>
              <a:off x="6096000" y="2781300"/>
              <a:ext cx="2590800" cy="1866900"/>
            </a:xfrm>
            <a:prstGeom prst="roundRect">
              <a:avLst>
                <a:gd name="adj" fmla="val 7143"/>
              </a:avLst>
            </a:prstGeom>
            <a:solidFill>
              <a:schemeClr val="accent5"/>
            </a:solidFill>
            <a:ln w="14288">
              <a:solidFill>
                <a:srgbClr val="26455F"/>
              </a:solidFill>
            </a:ln>
          </p:spPr>
        </p:sp>
        <p:sp>
          <p:nvSpPr>
            <p:cNvPr id="27" name="Rectangle 27"/>
            <p:cNvSpPr/>
            <p:nvPr/>
          </p:nvSpPr>
          <p:spPr>
            <a:xfrm>
              <a:off x="6096000" y="2781300"/>
              <a:ext cx="2590800" cy="57150"/>
            </a:xfrm>
            <a:prstGeom prst="roundRect">
              <a:avLst>
                <a:gd name="adj" fmla="val 50000"/>
              </a:avLst>
            </a:prstGeom>
            <a:solidFill>
              <a:srgbClr val="34D3C0"/>
            </a:solidFill>
            <a:ln>
              <a:noFill/>
            </a:ln>
          </p:spPr>
        </p:sp>
        <p:sp>
          <p:nvSpPr>
            <p:cNvPr id="28" name="Ellipse 28"/>
            <p:cNvSpPr/>
            <p:nvPr/>
          </p:nvSpPr>
          <p:spPr>
            <a:xfrm>
              <a:off x="6276975" y="3114675"/>
              <a:ext cx="133350" cy="133350"/>
            </a:xfrm>
            <a:prstGeom prst="ellipse">
              <a:avLst/>
            </a:prstGeom>
            <a:solidFill>
              <a:srgbClr val="34D3C0"/>
            </a:solidFill>
            <a:ln>
              <a:noFill/>
            </a:ln>
          </p:spPr>
        </p:sp>
        <p:sp>
          <p:nvSpPr>
            <p:cNvPr id="29" name="TextBox 29"/>
            <p:cNvSpPr txBox="1"/>
            <p:nvPr/>
          </p:nvSpPr>
          <p:spPr>
            <a:xfrm>
              <a:off x="6508623" y="3100864"/>
              <a:ext cx="92491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Scaled x10</a:t>
              </a:r>
            </a:p>
          </p:txBody>
        </p:sp>
        <p:sp>
          <p:nvSpPr>
            <p:cNvPr id="30" name="TextBox 30"/>
            <p:cNvSpPr txBox="1"/>
            <p:nvPr/>
          </p:nvSpPr>
          <p:spPr>
            <a:xfrm>
              <a:off x="6300216" y="3487102"/>
              <a:ext cx="206916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Google Research and MIT scale</a:t>
              </a:r>
            </a:p>
          </p:txBody>
        </p:sp>
        <p:sp>
          <p:nvSpPr>
            <p:cNvPr id="31" name="TextBox 31"/>
            <p:cNvSpPr txBox="1"/>
            <p:nvPr/>
          </p:nvSpPr>
          <p:spPr>
            <a:xfrm>
              <a:off x="6300216" y="3696652"/>
              <a:ext cx="193304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these models by a full order</a:t>
              </a:r>
            </a:p>
          </p:txBody>
        </p:sp>
        <p:sp>
          <p:nvSpPr>
            <p:cNvPr id="32" name="TextBox 32"/>
            <p:cNvSpPr txBox="1"/>
            <p:nvPr/>
          </p:nvSpPr>
          <p:spPr>
            <a:xfrm>
              <a:off x="6300216" y="3906202"/>
              <a:ext cx="9789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 magnitude.</a:t>
              </a:r>
            </a:p>
          </p:txBody>
        </p:sp>
      </p:grpSp>
      <p:grpSp>
        <p:nvGrpSpPr>
          <p:cNvPr id="42" name="Group 42"/>
          <p:cNvGrpSpPr/>
          <p:nvPr/>
        </p:nvGrpSpPr>
        <p:grpSpPr>
          <a:xfrm>
            <a:off x="8839200" y="2781300"/>
            <a:ext cx="2590800" cy="1866900"/>
            <a:chOff x="8839200" y="2781300"/>
            <a:chExt cx="2590800" cy="1866900"/>
          </a:xfrm>
        </p:grpSpPr>
        <p:sp>
          <p:nvSpPr>
            <p:cNvPr id="34" name="Rectangle 34"/>
            <p:cNvSpPr/>
            <p:nvPr/>
          </p:nvSpPr>
          <p:spPr>
            <a:xfrm>
              <a:off x="8839200" y="2781300"/>
              <a:ext cx="2590800" cy="1866900"/>
            </a:xfrm>
            <a:prstGeom prst="roundRect">
              <a:avLst>
                <a:gd name="adj" fmla="val 7143"/>
              </a:avLst>
            </a:prstGeom>
            <a:solidFill>
              <a:schemeClr val="accent5"/>
            </a:solidFill>
            <a:ln w="14288">
              <a:solidFill>
                <a:srgbClr val="26455F"/>
              </a:solidFill>
            </a:ln>
          </p:spPr>
        </p:sp>
        <p:sp>
          <p:nvSpPr>
            <p:cNvPr id="35" name="Rectangle 35"/>
            <p:cNvSpPr/>
            <p:nvPr/>
          </p:nvSpPr>
          <p:spPr>
            <a:xfrm>
              <a:off x="8839200" y="2781300"/>
              <a:ext cx="2590800" cy="57150"/>
            </a:xfrm>
            <a:prstGeom prst="roundRect">
              <a:avLst>
                <a:gd name="adj" fmla="val 50000"/>
              </a:avLst>
            </a:prstGeom>
            <a:solidFill>
              <a:srgbClr val="F2C14E"/>
            </a:solidFill>
            <a:ln>
              <a:noFill/>
            </a:ln>
          </p:spPr>
        </p:sp>
        <p:sp>
          <p:nvSpPr>
            <p:cNvPr id="36" name="Ellipse 36"/>
            <p:cNvSpPr/>
            <p:nvPr/>
          </p:nvSpPr>
          <p:spPr>
            <a:xfrm>
              <a:off x="9020175" y="3114675"/>
              <a:ext cx="133350" cy="133350"/>
            </a:xfrm>
            <a:prstGeom prst="ellipse">
              <a:avLst/>
            </a:prstGeom>
            <a:solidFill>
              <a:srgbClr val="F2C14E"/>
            </a:solidFill>
            <a:ln>
              <a:noFill/>
            </a:ln>
          </p:spPr>
        </p:sp>
        <p:sp>
          <p:nvSpPr>
            <p:cNvPr id="37" name="TextBox 37"/>
            <p:cNvSpPr txBox="1"/>
            <p:nvPr/>
          </p:nvSpPr>
          <p:spPr>
            <a:xfrm>
              <a:off x="9251823" y="3100864"/>
              <a:ext cx="157509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New recipe, SOTA</a:t>
              </a:r>
            </a:p>
          </p:txBody>
        </p:sp>
        <p:sp>
          <p:nvSpPr>
            <p:cNvPr id="38" name="TextBox 38"/>
            <p:cNvSpPr txBox="1"/>
            <p:nvPr/>
          </p:nvSpPr>
          <p:spPr>
            <a:xfrm>
              <a:off x="9043416" y="3487102"/>
              <a:ext cx="11815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New activations,</a:t>
              </a:r>
            </a:p>
          </p:txBody>
        </p:sp>
        <p:sp>
          <p:nvSpPr>
            <p:cNvPr id="39" name="TextBox 39"/>
            <p:cNvSpPr txBox="1"/>
            <p:nvPr/>
          </p:nvSpPr>
          <p:spPr>
            <a:xfrm>
              <a:off x="9043416" y="3696652"/>
              <a:ext cx="208852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normalization, residual blocks</a:t>
              </a:r>
            </a:p>
          </p:txBody>
        </p:sp>
        <p:sp>
          <p:nvSpPr>
            <p:cNvPr id="40" name="TextBox 40"/>
            <p:cNvSpPr txBox="1"/>
            <p:nvPr/>
          </p:nvSpPr>
          <p:spPr>
            <a:xfrm>
              <a:off x="9043416" y="3906202"/>
              <a:ext cx="20964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TPU-tuned JAX -&gt; SOTA on</a:t>
              </a:r>
            </a:p>
          </p:txBody>
        </p:sp>
        <p:sp>
          <p:nvSpPr>
            <p:cNvPr id="41" name="TextBox 41"/>
            <p:cNvSpPr txBox="1"/>
            <p:nvPr/>
          </p:nvSpPr>
          <p:spPr>
            <a:xfrm>
              <a:off x="9043416" y="4115752"/>
              <a:ext cx="193681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QM9, competitive weather.</a:t>
              </a:r>
            </a:p>
          </p:txBody>
        </p:sp>
      </p:grpSp>
      <p:sp>
        <p:nvSpPr>
          <p:cNvPr id="43" name="Line 43"/>
          <p:cNvSpPr/>
          <p:nvPr/>
        </p:nvSpPr>
        <p:spPr>
          <a:xfrm>
            <a:off x="609600" y="52197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44" name="TextBox 44"/>
          <p:cNvSpPr txBox="1"/>
          <p:nvPr/>
        </p:nvSpPr>
        <p:spPr>
          <a:xfrm>
            <a:off x="603504" y="5452110"/>
            <a:ext cx="826500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State of the art on the QM9 molecular benchmark; the first viable spherical neural weather model.</a:t>
            </a:r>
          </a:p>
        </p:txBody>
      </p:sp>
      <p:sp>
        <p:nvSpPr>
          <p:cNvPr id="45" name="TextBox 45"/>
          <p:cNvSpPr txBox="1"/>
          <p:nvPr/>
        </p:nvSpPr>
        <p:spPr>
          <a:xfrm>
            <a:off x="604266" y="586835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arXiv:2306.05420</a:t>
            </a:r>
          </a:p>
        </p:txBody>
      </p:sp>
      <p:sp>
        <p:nvSpPr>
          <p:cNvPr id="46" name="TextBox 46"/>
          <p:cNvSpPr txBox="1"/>
          <p:nvPr/>
        </p:nvSpPr>
        <p:spPr>
          <a:xfrm>
            <a:off x="2204466" y="5868352"/>
            <a:ext cx="3157141"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github.com/google-research/spherical-cnn</a:t>
            </a:r>
          </a:p>
        </p:txBody>
      </p:sp>
      <p:sp>
        <p:nvSpPr>
          <p:cNvPr id="47" name="Rectangle 47"/>
          <p:cNvSpPr/>
          <p:nvPr/>
        </p:nvSpPr>
        <p:spPr>
          <a:xfrm>
            <a:off x="10134600" y="5391150"/>
            <a:ext cx="647700" cy="800100"/>
          </a:xfrm>
          <a:prstGeom prst="roundRect">
            <a:avLst>
              <a:gd name="adj" fmla="val 11765"/>
            </a:avLst>
          </a:prstGeom>
          <a:solidFill>
            <a:srgbClr val="FFFFFF"/>
          </a:solidFill>
          <a:ln>
            <a:noFill/>
          </a:ln>
        </p:spPr>
        <p:txBody>
          <a:bodyPr/>
          <a:p/>
        </p:txBody>
      </p:sp>
      <p:pic>
        <p:nvPicPr>
          <p:cNvPr id="48" name="Image 48"/>
          <p:cNvPicPr>
            <a:picLocks noChangeAspect="1"/>
          </p:cNvPicPr>
          <p:nvPr/>
        </p:nvPicPr>
        <p:blipFill>
          <a:blip r:embed="rId2"/>
          <a:stretch>
            <a:fillRect/>
          </a:stretch>
        </p:blipFill>
        <p:spPr>
          <a:xfrm>
            <a:off x="10210800" y="5448300"/>
            <a:ext cx="495300" cy="495300"/>
          </a:xfrm>
          <a:prstGeom prst="rect">
            <a:avLst/>
          </a:prstGeom>
        </p:spPr>
      </p:pic>
      <p:sp>
        <p:nvSpPr>
          <p:cNvPr id="49" name="TextBox 49"/>
          <p:cNvSpPr txBox="1"/>
          <p:nvPr/>
        </p:nvSpPr>
        <p:spPr>
          <a:xfrm>
            <a:off x="10292510" y="6006941"/>
            <a:ext cx="331880" cy="161925"/>
          </a:xfrm>
          <a:prstGeom prst="rect">
            <a:avLst/>
          </a:prstGeom>
          <a:noFill/>
          <a:ln>
            <a:noFill/>
          </a:ln>
        </p:spPr>
        <p:txBody>
          <a:bodyPr wrap="none" lIns="0" tIns="0" rIns="0" bIns="0" anchor="t" anchorCtr="0">
            <a:spAutoFit/>
          </a:bodyPr>
          <a:lstStyle/>
          <a:p>
            <a:pPr algn="ctr"/>
            <a:r>
              <a:rPr lang="en-US" sz="820" b="1" dirty="0">
                <a:solidFill>
                  <a:srgbClr val="6E869C"/>
                </a:solidFill>
                <a:latin typeface="+mn-lt"/>
                <a:ea typeface="+mn-ea"/>
                <a:cs typeface="+mn-cs"/>
              </a:rPr>
              <a:t>Paper</a:t>
            </a:r>
          </a:p>
        </p:txBody>
      </p:sp>
      <p:sp>
        <p:nvSpPr>
          <p:cNvPr id="50" name="Rectangle 50"/>
          <p:cNvSpPr/>
          <p:nvPr/>
        </p:nvSpPr>
        <p:spPr>
          <a:xfrm>
            <a:off x="10934700" y="5391150"/>
            <a:ext cx="647700" cy="800100"/>
          </a:xfrm>
          <a:prstGeom prst="roundRect">
            <a:avLst>
              <a:gd name="adj" fmla="val 11765"/>
            </a:avLst>
          </a:prstGeom>
          <a:solidFill>
            <a:srgbClr val="FFFFFF"/>
          </a:solidFill>
          <a:ln>
            <a:noFill/>
          </a:ln>
        </p:spPr>
        <p:txBody>
          <a:bodyPr/>
          <a:p/>
        </p:txBody>
      </p:sp>
      <p:pic>
        <p:nvPicPr>
          <p:cNvPr id="51" name="Image 51"/>
          <p:cNvPicPr>
            <a:picLocks noChangeAspect="1"/>
          </p:cNvPicPr>
          <p:nvPr/>
        </p:nvPicPr>
        <p:blipFill>
          <a:blip r:embed="rId3"/>
          <a:stretch>
            <a:fillRect/>
          </a:stretch>
        </p:blipFill>
        <p:spPr>
          <a:xfrm>
            <a:off x="11010900" y="5448300"/>
            <a:ext cx="495300" cy="495300"/>
          </a:xfrm>
          <a:prstGeom prst="rect">
            <a:avLst/>
          </a:prstGeom>
        </p:spPr>
      </p:pic>
      <p:sp>
        <p:nvSpPr>
          <p:cNvPr id="52" name="TextBox 52"/>
          <p:cNvSpPr txBox="1"/>
          <p:nvPr/>
        </p:nvSpPr>
        <p:spPr>
          <a:xfrm>
            <a:off x="11124485" y="6006941"/>
            <a:ext cx="268131" cy="161925"/>
          </a:xfrm>
          <a:prstGeom prst="rect">
            <a:avLst/>
          </a:prstGeom>
          <a:noFill/>
          <a:ln>
            <a:noFill/>
          </a:ln>
        </p:spPr>
        <p:txBody>
          <a:bodyPr wrap="none" lIns="0" tIns="0" rIns="0" bIns="0" anchor="t" anchorCtr="0">
            <a:spAutoFit/>
          </a:bodyPr>
          <a:lstStyle/>
          <a:p>
            <a:pPr algn="ctr"/>
            <a:r>
              <a:rPr lang="en-US" sz="820" b="1" dirty="0">
                <a:solidFill>
                  <a:srgbClr val="6E869C"/>
                </a:solidFill>
                <a:latin typeface="+mn-lt"/>
                <a:ea typeface="+mn-ea"/>
                <a:cs typeface="+mn-cs"/>
              </a:rPr>
              <a:t>Code</a:t>
            </a:r>
          </a:p>
        </p:txBody>
      </p:sp>
      <p:sp>
        <p:nvSpPr>
          <p:cNvPr id="53" name="cue_s01_c1_spherical_cnns_generalize_convolutio" title="cue_s01_c1_spherical_cnns_generalize_convolutio" descr="cue_s01_c1_spherical_cnns_generalize_convolutio Spherical CNNs generalize convolutional networks to signals living on the sphere, which makes them a natural fit for molecules and weather data."/>
          <p:cNvSpPr/>
          <p:nvPr/>
        </p:nvSpPr>
        <p:spPr>
          <a:xfrm>
            <a:off x="609600" y="2781604"/>
            <a:ext cx="25908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1_c2_but_until_now_they_stuck" title="cue_s01_c2_but_until_now_they_stuck" descr="cue_s01_c2_but_until_now_they_stuck But until now they were stuck at low resolutions and shallow depths, so they never really competed on large real-world problems."/>
          <p:cNvSpPr/>
          <p:nvPr/>
        </p:nvSpPr>
        <p:spPr>
          <a:xfrm>
            <a:off x="3352800" y="2781604"/>
            <a:ext cx="25908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1_c3_scaling_spherical_cnns_google_resear" title="cue_s01_c3_scaling_spherical_cnns_google_resear" descr="cue_s01_c3_scaling_spherical_cnns_google_resear This paper, Scaling Spherical CNNs from Google Research and MIT, shows how to scale these models by a full order of magnitude."/>
          <p:cNvSpPr/>
          <p:nvPr/>
        </p:nvSpPr>
        <p:spPr>
          <a:xfrm>
            <a:off x="6096000" y="2781604"/>
            <a:ext cx="25908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1_c4_new_activations_normalization_residu" title="cue_s01_c4_new_activations_normalization_residu" descr="cue_s01_c4_new_activations_normalization_residu With new activations, normalization, residual blocks, and a TPU-optimized implementation, the authors reach state of the art on the QM9 molecular benchmark and become competitive on several weather forecasting tasks."/>
          <p:cNvSpPr/>
          <p:nvPr/>
        </p:nvSpPr>
        <p:spPr>
          <a:xfrm>
            <a:off x="8839200" y="2781604"/>
            <a:ext cx="25908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74467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Accurate on the sphere, but far too costly</a:t>
            </a:r>
          </a:p>
        </p:txBody>
      </p:sp>
      <p:grpSp>
        <p:nvGrpSpPr>
          <p:cNvPr id="17" name="Group 17"/>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3848100" cy="57150"/>
            </a:xfrm>
            <a:prstGeom prst="roundRect">
              <a:avLst>
                <a:gd name="adj" fmla="val 50000"/>
              </a:avLst>
            </a:prstGeom>
            <a:solidFill>
              <a:schemeClr val="accent2"/>
            </a:solidFill>
            <a:ln>
              <a:noFill/>
            </a:ln>
          </p:spPr>
        </p:sp>
        <p:sp>
          <p:nvSpPr>
            <p:cNvPr id="7" name="TextBox 7"/>
            <p:cNvSpPr txBox="1"/>
            <p:nvPr/>
          </p:nvSpPr>
          <p:spPr>
            <a:xfrm>
              <a:off x="869061" y="1808321"/>
              <a:ext cx="240978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domain is the sphere</a:t>
              </a:r>
            </a:p>
          </p:txBody>
        </p:sp>
        <p:sp>
          <p:nvSpPr>
            <p:cNvPr id="8" name="TextBox 8"/>
            <p:cNvSpPr txBox="1"/>
            <p:nvPr/>
          </p:nvSpPr>
          <p:spPr>
            <a:xfrm>
              <a:off x="870394" y="2198608"/>
              <a:ext cx="289039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Spherical CNNs swap the plane for the</a:t>
              </a:r>
            </a:p>
          </p:txBody>
        </p:sp>
        <p:sp>
          <p:nvSpPr>
            <p:cNvPr id="9" name="TextBox 9"/>
            <p:cNvSpPr txBox="1"/>
            <p:nvPr/>
          </p:nvSpPr>
          <p:spPr>
            <a:xfrm>
              <a:off x="870394" y="2436733"/>
              <a:ext cx="274459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sphere as the domain of the signal -</a:t>
              </a:r>
            </a:p>
          </p:txBody>
        </p:sp>
        <p:sp>
          <p:nvSpPr>
            <p:cNvPr id="10" name="TextBox 10"/>
            <p:cNvSpPr txBox="1"/>
            <p:nvPr/>
          </p:nvSpPr>
          <p:spPr>
            <a:xfrm>
              <a:off x="870394" y="2674858"/>
              <a:ext cx="269774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exactly right for molecules and the</a:t>
              </a:r>
            </a:p>
          </p:txBody>
        </p:sp>
        <p:sp>
          <p:nvSpPr>
            <p:cNvPr id="11" name="TextBox 11"/>
            <p:cNvSpPr txBox="1"/>
            <p:nvPr/>
          </p:nvSpPr>
          <p:spPr>
            <a:xfrm>
              <a:off x="870394" y="2912983"/>
              <a:ext cx="98780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atmosphere.</a:t>
              </a:r>
            </a:p>
          </p:txBody>
        </p:sp>
        <p:sp>
          <p:nvSpPr>
            <p:cNvPr id="12" name="Ellipse 12"/>
            <p:cNvSpPr/>
            <p:nvPr/>
          </p:nvSpPr>
          <p:spPr>
            <a:xfrm>
              <a:off x="1828800" y="3200400"/>
              <a:ext cx="1409700" cy="1409700"/>
            </a:xfrm>
            <a:prstGeom prst="ellipse">
              <a:avLst/>
            </a:prstGeom>
            <a:solidFill>
              <a:schemeClr val="accent6"/>
            </a:solidFill>
            <a:ln w="19050">
              <a:solidFill>
                <a:schemeClr val="accent2"/>
              </a:solidFill>
            </a:ln>
          </p:spPr>
        </p:sp>
        <p:sp>
          <p:nvSpPr>
            <p:cNvPr id="13" name="Line 13"/>
            <p:cNvSpPr/>
            <p:nvPr/>
          </p:nvSpPr>
          <p:spPr>
            <a:xfrm>
              <a:off x="1828800" y="3905250"/>
              <a:ext cx="1409700" cy="9525"/>
            </a:xfrm>
            <a:custGeom>
              <a:avLst/>
              <a:gdLst/>
              <a:ahLst/>
              <a:cxnLst/>
              <a:rect l="l" t="t" r="r" b="b"/>
              <a:pathLst>
                <a:path w="1409700" h="9525">
                  <a:moveTo>
                    <a:pt x="0" y="0"/>
                  </a:moveTo>
                  <a:lnTo>
                    <a:pt x="1409700" y="0"/>
                  </a:lnTo>
                </a:path>
              </a:pathLst>
            </a:custGeom>
            <a:noFill/>
            <a:ln w="9525" cap="rnd">
              <a:solidFill>
                <a:schemeClr val="accent2"/>
              </a:solidFill>
              <a:prstDash val="dash"/>
            </a:ln>
          </p:spPr>
        </p:sp>
        <p:sp>
          <p:nvSpPr>
            <p:cNvPr id="14" name="Ellipse 14"/>
            <p:cNvSpPr/>
            <p:nvPr/>
          </p:nvSpPr>
          <p:spPr>
            <a:xfrm>
              <a:off x="1828800" y="3657600"/>
              <a:ext cx="1409700" cy="495300"/>
            </a:xfrm>
            <a:prstGeom prst="ellipse">
              <a:avLst/>
            </a:prstGeom>
            <a:noFill/>
            <a:ln w="9525">
              <a:solidFill>
                <a:schemeClr val="accent2">
                  <a:alpha val="60000"/>
                </a:schemeClr>
              </a:solidFill>
            </a:ln>
          </p:spPr>
        </p:sp>
        <p:sp>
          <p:nvSpPr>
            <p:cNvPr id="15" name="Ellipse 15"/>
            <p:cNvSpPr/>
            <p:nvPr/>
          </p:nvSpPr>
          <p:spPr>
            <a:xfrm>
              <a:off x="2247900" y="3200400"/>
              <a:ext cx="571500" cy="1409700"/>
            </a:xfrm>
            <a:prstGeom prst="ellipse">
              <a:avLst/>
            </a:prstGeom>
            <a:noFill/>
            <a:ln w="9525">
              <a:solidFill>
                <a:schemeClr val="accent2">
                  <a:alpha val="45000"/>
                </a:schemeClr>
              </a:solidFill>
            </a:ln>
          </p:spPr>
        </p:sp>
        <p:sp>
          <p:nvSpPr>
            <p:cNvPr id="16" name="TextBox 16"/>
            <p:cNvSpPr txBox="1"/>
            <p:nvPr/>
          </p:nvSpPr>
          <p:spPr>
            <a:xfrm>
              <a:off x="1923681" y="4714399"/>
              <a:ext cx="1219937" cy="190690"/>
            </a:xfrm>
            <a:prstGeom prst="rect">
              <a:avLst/>
            </a:prstGeom>
            <a:noFill/>
            <a:ln>
              <a:noFill/>
            </a:ln>
          </p:spPr>
          <p:txBody>
            <a:bodyPr wrap="none" lIns="0" tIns="0" rIns="0" bIns="0" anchor="t" anchorCtr="0">
              <a:spAutoFit/>
            </a:bodyPr>
            <a:lstStyle/>
            <a:p>
              <a:pPr algn="ctr"/>
              <a:r>
                <a:rPr lang="en-US" sz="980" b="1" dirty="0">
                  <a:solidFill>
                    <a:srgbClr val="34D3C0"/>
                  </a:solidFill>
                  <a:latin typeface="+mn-lt"/>
                  <a:ea typeface="+mn-ea"/>
                  <a:cs typeface="+mn-cs"/>
                </a:rPr>
                <a:t>signal lives on S^2</a:t>
              </a:r>
            </a:p>
          </p:txBody>
        </p:sp>
      </p:grpSp>
      <p:grpSp>
        <p:nvGrpSpPr>
          <p:cNvPr id="24" name="Group 24"/>
          <p:cNvGrpSpPr/>
          <p:nvPr/>
        </p:nvGrpSpPr>
        <p:grpSpPr>
          <a:xfrm>
            <a:off x="4762500" y="1504950"/>
            <a:ext cx="6819900" cy="1104900"/>
            <a:chOff x="4762500" y="1504950"/>
            <a:chExt cx="6819900" cy="1104900"/>
          </a:xfrm>
        </p:grpSpPr>
        <p:sp>
          <p:nvSpPr>
            <p:cNvPr id="18" name="Rectangle 18"/>
            <p:cNvSpPr/>
            <p:nvPr/>
          </p:nvSpPr>
          <p:spPr>
            <a:xfrm>
              <a:off x="4762500" y="1504950"/>
              <a:ext cx="6819900" cy="1104900"/>
            </a:xfrm>
            <a:prstGeom prst="roundRect">
              <a:avLst>
                <a:gd name="adj" fmla="val 12069"/>
              </a:avLst>
            </a:prstGeom>
            <a:solidFill>
              <a:schemeClr val="accent5"/>
            </a:solidFill>
            <a:ln w="14288">
              <a:solidFill>
                <a:srgbClr val="26455F"/>
              </a:solidFill>
            </a:ln>
          </p:spPr>
        </p:sp>
        <p:sp>
          <p:nvSpPr>
            <p:cNvPr id="19" name="TextBox 19"/>
            <p:cNvSpPr txBox="1"/>
            <p:nvPr/>
          </p:nvSpPr>
          <p:spPr>
            <a:xfrm>
              <a:off x="5022723" y="1729264"/>
              <a:ext cx="3095200"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1 · The core operation is expensive</a:t>
              </a:r>
            </a:p>
          </p:txBody>
        </p:sp>
        <p:sp>
          <p:nvSpPr>
            <p:cNvPr id="20" name="TextBox 20"/>
            <p:cNvSpPr txBox="1"/>
            <p:nvPr/>
          </p:nvSpPr>
          <p:spPr>
            <a:xfrm>
              <a:off x="5023485" y="2050256"/>
              <a:ext cx="495428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Spherical convolution is most accurate in the spectral domain - far</a:t>
              </a:r>
            </a:p>
          </p:txBody>
        </p:sp>
        <p:sp>
          <p:nvSpPr>
            <p:cNvPr id="21" name="TextBox 21"/>
            <p:cNvSpPr txBox="1"/>
            <p:nvPr/>
          </p:nvSpPr>
          <p:spPr>
            <a:xfrm>
              <a:off x="5023485" y="2278856"/>
              <a:ext cx="332846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costlier than an ordinary planar convolution.</a:t>
              </a:r>
            </a:p>
          </p:txBody>
        </p:sp>
        <p:sp>
          <p:nvSpPr>
            <p:cNvPr id="22" name="Rectangle 22"/>
            <p:cNvSpPr/>
            <p:nvPr/>
          </p:nvSpPr>
          <p:spPr>
            <a:xfrm>
              <a:off x="5029200" y="2324100"/>
              <a:ext cx="6286500" cy="247650"/>
            </a:xfrm>
            <a:prstGeom prst="roundRect">
              <a:avLst>
                <a:gd name="adj" fmla="val 23077"/>
              </a:avLst>
            </a:prstGeom>
            <a:solidFill>
              <a:schemeClr val="accent6"/>
            </a:solidFill>
            <a:ln w="14288">
              <a:solidFill>
                <a:srgbClr val="26455F"/>
              </a:solidFill>
            </a:ln>
          </p:spPr>
        </p:sp>
        <p:sp>
          <p:nvSpPr>
            <p:cNvPr id="23" name="TextBox 23"/>
            <p:cNvSpPr txBox="1"/>
            <p:nvPr/>
          </p:nvSpPr>
          <p:spPr>
            <a:xfrm>
              <a:off x="5176456" y="2386251"/>
              <a:ext cx="4007693"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Consolas"/>
                  <a:ea typeface="Consolas"/>
                  <a:cs typeface="Consolas"/>
                </a:rPr>
                <a:t>spectral-domain convolution &gt;&gt; planar convolution (cost)</a:t>
              </a:r>
            </a:p>
          </p:txBody>
        </p:sp>
      </p:grpSp>
      <p:grpSp>
        <p:nvGrpSpPr>
          <p:cNvPr id="29" name="Group 29"/>
          <p:cNvGrpSpPr/>
          <p:nvPr/>
        </p:nvGrpSpPr>
        <p:grpSpPr>
          <a:xfrm>
            <a:off x="4762500" y="2724150"/>
            <a:ext cx="6819900" cy="993934"/>
            <a:chOff x="4762500" y="2724150"/>
            <a:chExt cx="6819900" cy="993934"/>
          </a:xfrm>
        </p:grpSpPr>
        <p:sp>
          <p:nvSpPr>
            <p:cNvPr id="25" name="Rectangle 25"/>
            <p:cNvSpPr/>
            <p:nvPr/>
          </p:nvSpPr>
          <p:spPr>
            <a:xfrm>
              <a:off x="4762500" y="2724150"/>
              <a:ext cx="6819900" cy="990600"/>
            </a:xfrm>
            <a:prstGeom prst="roundRect">
              <a:avLst>
                <a:gd name="adj" fmla="val 13462"/>
              </a:avLst>
            </a:prstGeom>
            <a:solidFill>
              <a:schemeClr val="accent5"/>
            </a:solidFill>
            <a:ln w="14288">
              <a:solidFill>
                <a:srgbClr val="26455F"/>
              </a:solidFill>
            </a:ln>
          </p:spPr>
        </p:sp>
        <p:sp>
          <p:nvSpPr>
            <p:cNvPr id="26" name="TextBox 26"/>
            <p:cNvSpPr txBox="1"/>
            <p:nvPr/>
          </p:nvSpPr>
          <p:spPr>
            <a:xfrm>
              <a:off x="5022723" y="2948464"/>
              <a:ext cx="2670388"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2 · So the models stayed small</a:t>
              </a:r>
            </a:p>
          </p:txBody>
        </p:sp>
        <p:sp>
          <p:nvSpPr>
            <p:cNvPr id="27" name="TextBox 27"/>
            <p:cNvSpPr txBox="1"/>
            <p:nvPr/>
          </p:nvSpPr>
          <p:spPr>
            <a:xfrm>
              <a:off x="5023485" y="3269456"/>
              <a:ext cx="540648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cost confined spherical CNNs to small, low-resolution problems with</a:t>
              </a:r>
            </a:p>
          </p:txBody>
        </p:sp>
        <p:sp>
          <p:nvSpPr>
            <p:cNvPr id="28" name="TextBox 28"/>
            <p:cNvSpPr txBox="1"/>
            <p:nvPr/>
          </p:nvSpPr>
          <p:spPr>
            <a:xfrm>
              <a:off x="5023485" y="3498056"/>
              <a:ext cx="174533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modest model capacity.</a:t>
              </a:r>
            </a:p>
          </p:txBody>
        </p:sp>
      </p:grpSp>
      <p:grpSp>
        <p:nvGrpSpPr>
          <p:cNvPr id="36" name="Group 36"/>
          <p:cNvGrpSpPr/>
          <p:nvPr/>
        </p:nvGrpSpPr>
        <p:grpSpPr>
          <a:xfrm>
            <a:off x="4762500" y="3829050"/>
            <a:ext cx="6819900" cy="1409700"/>
            <a:chOff x="4762500" y="3829050"/>
            <a:chExt cx="6819900" cy="1409700"/>
          </a:xfrm>
        </p:grpSpPr>
        <p:sp>
          <p:nvSpPr>
            <p:cNvPr id="30" name="Rectangle 30"/>
            <p:cNvSpPr/>
            <p:nvPr/>
          </p:nvSpPr>
          <p:spPr>
            <a:xfrm>
              <a:off x="4762500" y="3829050"/>
              <a:ext cx="6819900" cy="1409700"/>
            </a:xfrm>
            <a:prstGeom prst="roundRect">
              <a:avLst>
                <a:gd name="adj" fmla="val 9459"/>
              </a:avLst>
            </a:prstGeom>
            <a:solidFill>
              <a:srgbClr val="2A1720"/>
            </a:solidFill>
            <a:ln w="14288">
              <a:solidFill>
                <a:srgbClr val="F2685C"/>
              </a:solidFill>
            </a:ln>
          </p:spPr>
        </p:sp>
        <p:sp>
          <p:nvSpPr>
            <p:cNvPr id="31" name="Rectangle 31"/>
            <p:cNvSpPr/>
            <p:nvPr/>
          </p:nvSpPr>
          <p:spPr>
            <a:xfrm>
              <a:off x="4762500" y="3829050"/>
              <a:ext cx="57150" cy="1409700"/>
            </a:xfrm>
            <a:prstGeom prst="roundRect">
              <a:avLst>
                <a:gd name="adj" fmla="val 50000"/>
              </a:avLst>
            </a:prstGeom>
            <a:solidFill>
              <a:srgbClr val="F2685C"/>
            </a:solidFill>
            <a:ln>
              <a:noFill/>
            </a:ln>
          </p:spPr>
        </p:sp>
        <p:sp>
          <p:nvSpPr>
            <p:cNvPr id="32" name="TextBox 32"/>
            <p:cNvSpPr txBox="1"/>
            <p:nvPr/>
          </p:nvSpPr>
          <p:spPr>
            <a:xfrm>
              <a:off x="5022723" y="4053364"/>
              <a:ext cx="3646808" cy="249364"/>
            </a:xfrm>
            <a:prstGeom prst="rect">
              <a:avLst/>
            </a:prstGeom>
            <a:noFill/>
            <a:ln>
              <a:noFill/>
            </a:ln>
          </p:spPr>
          <p:txBody>
            <a:bodyPr wrap="none" lIns="0" tIns="0" rIns="0" bIns="0" anchor="t" anchorCtr="0">
              <a:spAutoFit/>
            </a:bodyPr>
            <a:lstStyle/>
            <a:p>
              <a:pPr algn="l"/>
              <a:r>
                <a:rPr lang="en-US" sz="1280" b="1" dirty="0">
                  <a:solidFill>
                    <a:srgbClr val="F2685C"/>
                  </a:solidFill>
                  <a:latin typeface="+mn-lt"/>
                  <a:ea typeface="+mn-ea"/>
                  <a:cs typeface="+mn-cs"/>
                </a:rPr>
                <a:t>3 · No large-scale spherical architecture</a:t>
              </a:r>
            </a:p>
          </p:txBody>
        </p:sp>
        <p:sp>
          <p:nvSpPr>
            <p:cNvPr id="33" name="TextBox 33"/>
            <p:cNvSpPr txBox="1"/>
            <p:nvPr/>
          </p:nvSpPr>
          <p:spPr>
            <a:xfrm>
              <a:off x="5023485" y="4374356"/>
              <a:ext cx="535387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There was simply no spherical network analogous to the deep planar nets</a:t>
              </a:r>
            </a:p>
          </p:txBody>
        </p:sp>
        <p:sp>
          <p:nvSpPr>
            <p:cNvPr id="34" name="TextBox 34"/>
            <p:cNvSpPr txBox="1"/>
            <p:nvPr/>
          </p:nvSpPr>
          <p:spPr>
            <a:xfrm>
              <a:off x="5023485" y="4602956"/>
              <a:ext cx="393440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 VGG-19 scale - that power modern computer vision.</a:t>
              </a:r>
            </a:p>
          </p:txBody>
        </p:sp>
        <p:sp>
          <p:nvSpPr>
            <p:cNvPr id="35" name="TextBox 35"/>
            <p:cNvSpPr txBox="1"/>
            <p:nvPr/>
          </p:nvSpPr>
          <p:spPr>
            <a:xfrm>
              <a:off x="5023485" y="4964906"/>
              <a:ext cx="3366502" cy="220028"/>
            </a:xfrm>
            <a:prstGeom prst="rect">
              <a:avLst/>
            </a:prstGeom>
            <a:noFill/>
            <a:ln>
              <a:noFill/>
            </a:ln>
          </p:spPr>
          <p:txBody>
            <a:bodyPr wrap="none" lIns="0" tIns="0" rIns="0" bIns="0" anchor="t" anchorCtr="0">
              <a:spAutoFit/>
            </a:bodyPr>
            <a:lstStyle/>
            <a:p>
              <a:pPr algn="l"/>
              <a:r>
                <a:rPr lang="en-US" sz="1120" b="1" dirty="0">
                  <a:solidFill>
                    <a:srgbClr val="F2685C"/>
                  </a:solidFill>
                  <a:latin typeface="Consolas"/>
                  <a:ea typeface="Consolas"/>
                  <a:cs typeface="Consolas"/>
                </a:rPr>
                <a:t>spherical CNNs &lt;&lt; VGG-19-scale planar CNNs</a:t>
              </a:r>
            </a:p>
          </p:txBody>
        </p:sp>
      </p:grpSp>
      <p:sp>
        <p:nvSpPr>
          <p:cNvPr id="37" name="cue_s02_c1_spherical_cnns_replace_plane_sphere" title="cue_s02_c1_spherical_cnns_replace_plane_sphere" descr="cue_s02_c1_spherical_cnns_replace_plane_sphere Spherical CNNs replace the plane with the sphere as the domain of the signal, which is exactly right for data like molecules and the atmosphere."/>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2_c2_catch_their_core_operation_spherical" title="cue_s02_c2_catch_their_core_operation_spherical" descr="cue_s02_c2_catch_their_core_operation_spherical The catch is that their core operation, spherical convolution, is most accurate in the spectral domain, and that is far more expensive than an ordinary planar convolution."/>
          <p:cNvSpPr/>
          <p:nvPr/>
        </p:nvSpPr>
        <p:spPr>
          <a:xfrm>
            <a:off x="4762195" y="1504645"/>
            <a:ext cx="6820204"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2_c3_because_cost_spherical_cnns_had" title="cue_s02_c3_because_cost_spherical_cnns_had" descr="cue_s02_c3_because_cost_spherical_cnns_had Because of this cost, spherical CNNs had been limited to small, low-resolution problems with modest model capacity."/>
          <p:cNvSpPr/>
          <p:nvPr/>
        </p:nvSpPr>
        <p:spPr>
          <a:xfrm>
            <a:off x="4762195" y="2723997"/>
            <a:ext cx="6820204" cy="99372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2_c4_simply_large_scale_spherical_archite" title="cue_s02_c4_simply_large_scale_spherical_archite" descr="cue_s02_c4_simply_large_scale_spherical_archite There simply was no large-scale spherical architecture analogous to the deep planar networks that power modern computer vision."/>
          <p:cNvSpPr/>
          <p:nvPr/>
        </p:nvSpPr>
        <p:spPr>
          <a:xfrm>
            <a:off x="4762195" y="3828821"/>
            <a:ext cx="6820204"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26652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Spherical science problems demand scale</a:t>
            </a:r>
          </a:p>
        </p:txBody>
      </p:sp>
      <p:grpSp>
        <p:nvGrpSpPr>
          <p:cNvPr id="9" name="Group 9"/>
          <p:cNvGrpSpPr/>
          <p:nvPr/>
        </p:nvGrpSpPr>
        <p:grpSpPr>
          <a:xfrm>
            <a:off x="609600" y="1504950"/>
            <a:ext cx="10972800" cy="838200"/>
            <a:chOff x="609600" y="1504950"/>
            <a:chExt cx="10972800" cy="838200"/>
          </a:xfrm>
        </p:grpSpPr>
        <p:sp>
          <p:nvSpPr>
            <p:cNvPr id="5" name="Rectangle 5"/>
            <p:cNvSpPr/>
            <p:nvPr/>
          </p:nvSpPr>
          <p:spPr>
            <a:xfrm>
              <a:off x="609600" y="1504950"/>
              <a:ext cx="10972800" cy="838200"/>
            </a:xfrm>
            <a:prstGeom prst="roundRect">
              <a:avLst>
                <a:gd name="adj" fmla="val 15909"/>
              </a:avLst>
            </a:prstGeom>
            <a:solidFill>
              <a:schemeClr val="accent5"/>
            </a:solidFill>
            <a:ln w="14288">
              <a:solidFill>
                <a:srgbClr val="26455F"/>
              </a:solidFill>
            </a:ln>
          </p:spPr>
        </p:sp>
        <p:sp>
          <p:nvSpPr>
            <p:cNvPr id="6" name="Rectangle 6"/>
            <p:cNvSpPr/>
            <p:nvPr/>
          </p:nvSpPr>
          <p:spPr>
            <a:xfrm>
              <a:off x="609600" y="1504950"/>
              <a:ext cx="57150" cy="838200"/>
            </a:xfrm>
            <a:prstGeom prst="roundRect">
              <a:avLst>
                <a:gd name="adj" fmla="val 50000"/>
              </a:avLst>
            </a:prstGeom>
            <a:solidFill>
              <a:srgbClr val="34D3C0"/>
            </a:solidFill>
            <a:ln>
              <a:noFill/>
            </a:ln>
          </p:spPr>
        </p:sp>
        <p:sp>
          <p:nvSpPr>
            <p:cNvPr id="7" name="TextBox 7"/>
            <p:cNvSpPr txBox="1"/>
            <p:nvPr/>
          </p:nvSpPr>
          <p:spPr>
            <a:xfrm>
              <a:off x="870585" y="1745456"/>
              <a:ext cx="2248906" cy="220028"/>
            </a:xfrm>
            <a:prstGeom prst="rect">
              <a:avLst/>
            </a:prstGeom>
            <a:noFill/>
            <a:ln>
              <a:noFill/>
            </a:ln>
          </p:spPr>
          <p:txBody>
            <a:bodyPr wrap="none" lIns="0" tIns="0" rIns="0" bIns="0" anchor="t" anchorCtr="0">
              <a:spAutoFit/>
            </a:bodyPr>
            <a:lstStyle/>
            <a:p>
              <a:pPr algn="l"/>
              <a:r>
                <a:rPr lang="en-US" sz="1120" b="1" spc="112" dirty="0">
                  <a:solidFill>
                    <a:srgbClr val="34D3C0"/>
                  </a:solidFill>
                  <a:latin typeface="+mn-lt"/>
                  <a:ea typeface="+mn-ea"/>
                  <a:cs typeface="+mn-cs"/>
                </a:rPr>
                <a:t>Two motivating problems</a:t>
              </a:r>
            </a:p>
          </p:txBody>
        </p:sp>
        <p:sp>
          <p:nvSpPr>
            <p:cNvPr id="8" name="TextBox 8"/>
            <p:cNvSpPr txBox="1"/>
            <p:nvPr/>
          </p:nvSpPr>
          <p:spPr>
            <a:xfrm>
              <a:off x="869823" y="2015014"/>
              <a:ext cx="9716542"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Molecular property prediction and weather forecasting are both intrinsically spherical and tied to rotations.</a:t>
              </a:r>
            </a:p>
          </p:txBody>
        </p:sp>
      </p:grpSp>
      <p:grpSp>
        <p:nvGrpSpPr>
          <p:cNvPr id="22" name="Group 22"/>
          <p:cNvGrpSpPr/>
          <p:nvPr/>
        </p:nvGrpSpPr>
        <p:grpSpPr>
          <a:xfrm>
            <a:off x="609600" y="2533650"/>
            <a:ext cx="5334000" cy="1428750"/>
            <a:chOff x="609600" y="2533650"/>
            <a:chExt cx="5334000" cy="1428750"/>
          </a:xfrm>
        </p:grpSpPr>
        <p:sp>
          <p:nvSpPr>
            <p:cNvPr id="10" name="Rectangle 10"/>
            <p:cNvSpPr/>
            <p:nvPr/>
          </p:nvSpPr>
          <p:spPr>
            <a:xfrm>
              <a:off x="609600" y="2533650"/>
              <a:ext cx="5334000" cy="1428750"/>
            </a:xfrm>
            <a:prstGeom prst="roundRect">
              <a:avLst>
                <a:gd name="adj" fmla="val 9333"/>
              </a:avLst>
            </a:prstGeom>
            <a:solidFill>
              <a:schemeClr val="accent5"/>
            </a:solidFill>
            <a:ln w="14288">
              <a:solidFill>
                <a:srgbClr val="26455F"/>
              </a:solidFill>
            </a:ln>
          </p:spPr>
        </p:sp>
        <p:sp>
          <p:nvSpPr>
            <p:cNvPr id="11" name="Rectangle 11"/>
            <p:cNvSpPr/>
            <p:nvPr/>
          </p:nvSpPr>
          <p:spPr>
            <a:xfrm>
              <a:off x="609600" y="2533650"/>
              <a:ext cx="57150" cy="1428750"/>
            </a:xfrm>
            <a:prstGeom prst="roundRect">
              <a:avLst>
                <a:gd name="adj" fmla="val 50000"/>
              </a:avLst>
            </a:prstGeom>
            <a:solidFill>
              <a:schemeClr val="accent2"/>
            </a:solidFill>
            <a:ln>
              <a:noFill/>
            </a:ln>
          </p:spPr>
        </p:sp>
        <p:sp>
          <p:nvSpPr>
            <p:cNvPr id="12" name="TextBox 12"/>
            <p:cNvSpPr txBox="1"/>
            <p:nvPr/>
          </p:nvSpPr>
          <p:spPr>
            <a:xfrm>
              <a:off x="869823" y="2757964"/>
              <a:ext cx="1954665"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Rotations everywhere</a:t>
              </a:r>
            </a:p>
          </p:txBody>
        </p:sp>
        <p:sp>
          <p:nvSpPr>
            <p:cNvPr id="13" name="TextBox 13"/>
            <p:cNvSpPr txBox="1"/>
            <p:nvPr/>
          </p:nvSpPr>
          <p:spPr>
            <a:xfrm>
              <a:off x="870776" y="3083004"/>
              <a:ext cx="337643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molecule's properties don't change when you</a:t>
              </a:r>
            </a:p>
          </p:txBody>
        </p:sp>
        <p:sp>
          <p:nvSpPr>
            <p:cNvPr id="14" name="TextBox 14"/>
            <p:cNvSpPr txBox="1"/>
            <p:nvPr/>
          </p:nvSpPr>
          <p:spPr>
            <a:xfrm>
              <a:off x="870776" y="3302079"/>
              <a:ext cx="351577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rotate it; the Earth's atmosphere is naturally a</a:t>
              </a:r>
            </a:p>
          </p:txBody>
        </p:sp>
        <p:sp>
          <p:nvSpPr>
            <p:cNvPr id="15" name="TextBox 15"/>
            <p:cNvSpPr txBox="1"/>
            <p:nvPr/>
          </p:nvSpPr>
          <p:spPr>
            <a:xfrm>
              <a:off x="870776" y="3521154"/>
              <a:ext cx="13610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signal on a sphere.</a:t>
              </a:r>
            </a:p>
          </p:txBody>
        </p:sp>
        <p:sp>
          <p:nvSpPr>
            <p:cNvPr id="16" name="Ellipse 16"/>
            <p:cNvSpPr/>
            <p:nvPr/>
          </p:nvSpPr>
          <p:spPr>
            <a:xfrm>
              <a:off x="1352550" y="3657600"/>
              <a:ext cx="152400" cy="152400"/>
            </a:xfrm>
            <a:prstGeom prst="ellipse">
              <a:avLst/>
            </a:prstGeom>
            <a:solidFill>
              <a:srgbClr val="34D3C0"/>
            </a:solidFill>
            <a:ln>
              <a:noFill/>
            </a:ln>
          </p:spPr>
        </p:sp>
        <p:sp>
          <p:nvSpPr>
            <p:cNvPr id="17" name="Ellipse 17"/>
            <p:cNvSpPr/>
            <p:nvPr/>
          </p:nvSpPr>
          <p:spPr>
            <a:xfrm>
              <a:off x="1733550" y="3505200"/>
              <a:ext cx="152400" cy="152400"/>
            </a:xfrm>
            <a:prstGeom prst="ellipse">
              <a:avLst/>
            </a:prstGeom>
            <a:solidFill>
              <a:schemeClr val="accent2"/>
            </a:solidFill>
            <a:ln>
              <a:noFill/>
            </a:ln>
          </p:spPr>
        </p:sp>
        <p:sp>
          <p:nvSpPr>
            <p:cNvPr id="18" name="Ellipse 18"/>
            <p:cNvSpPr/>
            <p:nvPr/>
          </p:nvSpPr>
          <p:spPr>
            <a:xfrm>
              <a:off x="1971675" y="3771900"/>
              <a:ext cx="152400" cy="152400"/>
            </a:xfrm>
            <a:prstGeom prst="ellipse">
              <a:avLst/>
            </a:prstGeom>
            <a:solidFill>
              <a:srgbClr val="F2C14E"/>
            </a:solidFill>
            <a:ln>
              <a:noFill/>
            </a:ln>
          </p:spPr>
        </p:sp>
        <p:sp>
          <p:nvSpPr>
            <p:cNvPr id="19" name="Line 19"/>
            <p:cNvSpPr/>
            <p:nvPr/>
          </p:nvSpPr>
          <p:spPr>
            <a:xfrm>
              <a:off x="1428750" y="3581400"/>
              <a:ext cx="381000" cy="152400"/>
            </a:xfrm>
            <a:custGeom>
              <a:avLst/>
              <a:gdLst/>
              <a:ahLst/>
              <a:cxnLst/>
              <a:rect l="l" t="t" r="r" b="b"/>
              <a:pathLst>
                <a:path w="381000" h="152400">
                  <a:moveTo>
                    <a:pt x="0" y="152400"/>
                  </a:moveTo>
                  <a:lnTo>
                    <a:pt x="381000" y="0"/>
                  </a:lnTo>
                </a:path>
              </a:pathLst>
            </a:custGeom>
            <a:noFill/>
            <a:ln w="19050" cap="rnd">
              <a:solidFill>
                <a:srgbClr val="26455F"/>
              </a:solidFill>
            </a:ln>
          </p:spPr>
        </p:sp>
        <p:sp>
          <p:nvSpPr>
            <p:cNvPr id="20" name="Line 20"/>
            <p:cNvSpPr/>
            <p:nvPr/>
          </p:nvSpPr>
          <p:spPr>
            <a:xfrm>
              <a:off x="1809750" y="3581400"/>
              <a:ext cx="238125" cy="266700"/>
            </a:xfrm>
            <a:custGeom>
              <a:avLst/>
              <a:gdLst/>
              <a:ahLst/>
              <a:cxnLst/>
              <a:rect l="l" t="t" r="r" b="b"/>
              <a:pathLst>
                <a:path w="238125" h="266700">
                  <a:moveTo>
                    <a:pt x="0" y="0"/>
                  </a:moveTo>
                  <a:lnTo>
                    <a:pt x="238125" y="266700"/>
                  </a:lnTo>
                </a:path>
              </a:pathLst>
            </a:custGeom>
            <a:noFill/>
            <a:ln w="19050" cap="rnd">
              <a:solidFill>
                <a:srgbClr val="26455F"/>
              </a:solidFill>
            </a:ln>
          </p:spPr>
        </p:sp>
        <p:sp>
          <p:nvSpPr>
            <p:cNvPr id="21" name="TextBox 21"/>
            <p:cNvSpPr txBox="1"/>
            <p:nvPr/>
          </p:nvSpPr>
          <p:spPr>
            <a:xfrm>
              <a:off x="2376488" y="3689747"/>
              <a:ext cx="1962713"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rotation-invariant properties</a:t>
              </a:r>
            </a:p>
          </p:txBody>
        </p:sp>
      </p:grpSp>
      <p:grpSp>
        <p:nvGrpSpPr>
          <p:cNvPr id="30" name="Group 30"/>
          <p:cNvGrpSpPr/>
          <p:nvPr/>
        </p:nvGrpSpPr>
        <p:grpSpPr>
          <a:xfrm>
            <a:off x="6172200" y="2533650"/>
            <a:ext cx="5410200" cy="1428750"/>
            <a:chOff x="6172200" y="2533650"/>
            <a:chExt cx="5410200" cy="1428750"/>
          </a:xfrm>
        </p:grpSpPr>
        <p:sp>
          <p:nvSpPr>
            <p:cNvPr id="23" name="Rectangle 23"/>
            <p:cNvSpPr/>
            <p:nvPr/>
          </p:nvSpPr>
          <p:spPr>
            <a:xfrm>
              <a:off x="6172200" y="2533650"/>
              <a:ext cx="5410200" cy="1428750"/>
            </a:xfrm>
            <a:prstGeom prst="roundRect">
              <a:avLst>
                <a:gd name="adj" fmla="val 9333"/>
              </a:avLst>
            </a:prstGeom>
            <a:solidFill>
              <a:schemeClr val="accent5"/>
            </a:solidFill>
            <a:ln w="14288">
              <a:solidFill>
                <a:srgbClr val="26455F"/>
              </a:solidFill>
            </a:ln>
          </p:spPr>
        </p:sp>
        <p:sp>
          <p:nvSpPr>
            <p:cNvPr id="24" name="Rectangle 24"/>
            <p:cNvSpPr/>
            <p:nvPr/>
          </p:nvSpPr>
          <p:spPr>
            <a:xfrm>
              <a:off x="6172200" y="2533650"/>
              <a:ext cx="57150" cy="1428750"/>
            </a:xfrm>
            <a:prstGeom prst="roundRect">
              <a:avLst>
                <a:gd name="adj" fmla="val 50000"/>
              </a:avLst>
            </a:prstGeom>
            <a:solidFill>
              <a:srgbClr val="F2C14E"/>
            </a:solidFill>
            <a:ln>
              <a:noFill/>
            </a:ln>
          </p:spPr>
        </p:sp>
        <p:sp>
          <p:nvSpPr>
            <p:cNvPr id="25" name="TextBox 25"/>
            <p:cNvSpPr txBox="1"/>
            <p:nvPr/>
          </p:nvSpPr>
          <p:spPr>
            <a:xfrm>
              <a:off x="6432423" y="2757964"/>
              <a:ext cx="2525579"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A perfect match - at a price</a:t>
              </a:r>
            </a:p>
          </p:txBody>
        </p:sp>
        <p:sp>
          <p:nvSpPr>
            <p:cNvPr id="26" name="TextBox 26"/>
            <p:cNvSpPr txBox="1"/>
            <p:nvPr/>
          </p:nvSpPr>
          <p:spPr>
            <a:xfrm>
              <a:off x="6433376" y="3083004"/>
              <a:ext cx="349962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Rotation-equivariant spherical CNNs should excel</a:t>
              </a:r>
            </a:p>
          </p:txBody>
        </p:sp>
        <p:sp>
          <p:nvSpPr>
            <p:cNvPr id="27" name="TextBox 27"/>
            <p:cNvSpPr txBox="1"/>
            <p:nvPr/>
          </p:nvSpPr>
          <p:spPr>
            <a:xfrm>
              <a:off x="6433376" y="3302079"/>
              <a:ext cx="354516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here. But the standard benchmarks are large and</a:t>
              </a:r>
            </a:p>
          </p:txBody>
        </p:sp>
        <p:sp>
          <p:nvSpPr>
            <p:cNvPr id="28" name="TextBox 28"/>
            <p:cNvSpPr txBox="1"/>
            <p:nvPr/>
          </p:nvSpPr>
          <p:spPr>
            <a:xfrm>
              <a:off x="6433376" y="3521154"/>
              <a:ext cx="11922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high-resolution.</a:t>
              </a:r>
            </a:p>
          </p:txBody>
        </p:sp>
        <p:sp>
          <p:nvSpPr>
            <p:cNvPr id="29" name="TextBox 29"/>
            <p:cNvSpPr txBox="1"/>
            <p:nvPr/>
          </p:nvSpPr>
          <p:spPr>
            <a:xfrm>
              <a:off x="6433566" y="3696652"/>
              <a:ext cx="2912251"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Consolas"/>
                  <a:ea typeface="Consolas"/>
                  <a:cs typeface="Consolas"/>
                </a:rPr>
                <a:t>equivariance + scale = the real challenge</a:t>
              </a:r>
            </a:p>
          </p:txBody>
        </p:sp>
      </p:grpSp>
      <p:grpSp>
        <p:nvGrpSpPr>
          <p:cNvPr id="47" name="Group 47"/>
          <p:cNvGrpSpPr/>
          <p:nvPr/>
        </p:nvGrpSpPr>
        <p:grpSpPr>
          <a:xfrm>
            <a:off x="609600" y="4152900"/>
            <a:ext cx="10972800" cy="1085850"/>
            <a:chOff x="609600" y="4152900"/>
            <a:chExt cx="10972800" cy="1085850"/>
          </a:xfrm>
        </p:grpSpPr>
        <p:sp>
          <p:nvSpPr>
            <p:cNvPr id="31" name="Rectangle 31"/>
            <p:cNvSpPr/>
            <p:nvPr/>
          </p:nvSpPr>
          <p:spPr>
            <a:xfrm>
              <a:off x="609600" y="4152900"/>
              <a:ext cx="10972800" cy="1085850"/>
            </a:xfrm>
            <a:prstGeom prst="roundRect">
              <a:avLst>
                <a:gd name="adj" fmla="val 12281"/>
              </a:avLst>
            </a:prstGeom>
            <a:solidFill>
              <a:schemeClr val="accent5"/>
            </a:solidFill>
            <a:ln w="14288">
              <a:solidFill>
                <a:srgbClr val="26455F"/>
              </a:solidFill>
            </a:ln>
          </p:spPr>
        </p:sp>
        <p:sp>
          <p:nvSpPr>
            <p:cNvPr id="32" name="Rectangle 32"/>
            <p:cNvSpPr/>
            <p:nvPr/>
          </p:nvSpPr>
          <p:spPr>
            <a:xfrm>
              <a:off x="609600" y="4152900"/>
              <a:ext cx="57150" cy="1085850"/>
            </a:xfrm>
            <a:prstGeom prst="roundRect">
              <a:avLst>
                <a:gd name="adj" fmla="val 50000"/>
              </a:avLst>
            </a:prstGeom>
            <a:solidFill>
              <a:schemeClr val="accent2"/>
            </a:solidFill>
            <a:ln>
              <a:noFill/>
            </a:ln>
          </p:spPr>
        </p:sp>
        <p:sp>
          <p:nvSpPr>
            <p:cNvPr id="33" name="TextBox 33"/>
            <p:cNvSpPr txBox="1"/>
            <p:nvPr/>
          </p:nvSpPr>
          <p:spPr>
            <a:xfrm>
              <a:off x="870204" y="4366260"/>
              <a:ext cx="450371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benchmarks earlier spherical CNNs could not touch</a:t>
              </a:r>
            </a:p>
          </p:txBody>
        </p:sp>
        <p:sp>
          <p:nvSpPr>
            <p:cNvPr id="34" name="Rectangle 34"/>
            <p:cNvSpPr/>
            <p:nvPr/>
          </p:nvSpPr>
          <p:spPr>
            <a:xfrm>
              <a:off x="876300" y="4667250"/>
              <a:ext cx="2590800" cy="419100"/>
            </a:xfrm>
            <a:prstGeom prst="roundRect">
              <a:avLst>
                <a:gd name="adj" fmla="val 22727"/>
              </a:avLst>
            </a:prstGeom>
            <a:solidFill>
              <a:schemeClr val="accent6"/>
            </a:solidFill>
            <a:ln w="14288">
              <a:solidFill>
                <a:srgbClr val="26455F"/>
              </a:solidFill>
            </a:ln>
          </p:spPr>
        </p:sp>
        <p:sp>
          <p:nvSpPr>
            <p:cNvPr id="35" name="Rectangle 35"/>
            <p:cNvSpPr/>
            <p:nvPr/>
          </p:nvSpPr>
          <p:spPr>
            <a:xfrm>
              <a:off x="876300" y="4667250"/>
              <a:ext cx="47625" cy="419100"/>
            </a:xfrm>
            <a:prstGeom prst="roundRect">
              <a:avLst>
                <a:gd name="adj" fmla="val 40000"/>
              </a:avLst>
            </a:prstGeom>
            <a:solidFill>
              <a:schemeClr val="accent2"/>
            </a:solidFill>
            <a:ln>
              <a:noFill/>
            </a:ln>
          </p:spPr>
        </p:sp>
        <p:sp>
          <p:nvSpPr>
            <p:cNvPr id="36" name="TextBox 36"/>
            <p:cNvSpPr txBox="1"/>
            <p:nvPr/>
          </p:nvSpPr>
          <p:spPr>
            <a:xfrm>
              <a:off x="1061085" y="4745831"/>
              <a:ext cx="354342"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QM9</a:t>
              </a:r>
            </a:p>
          </p:txBody>
        </p:sp>
        <p:sp>
          <p:nvSpPr>
            <p:cNvPr id="37" name="TextBox 37"/>
            <p:cNvSpPr txBox="1"/>
            <p:nvPr/>
          </p:nvSpPr>
          <p:spPr>
            <a:xfrm>
              <a:off x="1062038" y="4927997"/>
              <a:ext cx="1178780"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134,000 molecules</a:t>
              </a:r>
            </a:p>
          </p:txBody>
        </p:sp>
        <p:sp>
          <p:nvSpPr>
            <p:cNvPr id="38" name="Rectangle 38"/>
            <p:cNvSpPr/>
            <p:nvPr/>
          </p:nvSpPr>
          <p:spPr>
            <a:xfrm>
              <a:off x="3733800" y="4667250"/>
              <a:ext cx="2590800" cy="419100"/>
            </a:xfrm>
            <a:prstGeom prst="roundRect">
              <a:avLst>
                <a:gd name="adj" fmla="val 22727"/>
              </a:avLst>
            </a:prstGeom>
            <a:solidFill>
              <a:schemeClr val="accent6"/>
            </a:solidFill>
            <a:ln w="14288">
              <a:solidFill>
                <a:srgbClr val="26455F"/>
              </a:solidFill>
            </a:ln>
          </p:spPr>
        </p:sp>
        <p:sp>
          <p:nvSpPr>
            <p:cNvPr id="39" name="Rectangle 39"/>
            <p:cNvSpPr/>
            <p:nvPr/>
          </p:nvSpPr>
          <p:spPr>
            <a:xfrm>
              <a:off x="3733800" y="4667250"/>
              <a:ext cx="47625" cy="419100"/>
            </a:xfrm>
            <a:prstGeom prst="roundRect">
              <a:avLst>
                <a:gd name="adj" fmla="val 40000"/>
              </a:avLst>
            </a:prstGeom>
            <a:solidFill>
              <a:srgbClr val="F2C14E"/>
            </a:solidFill>
            <a:ln>
              <a:noFill/>
            </a:ln>
          </p:spPr>
        </p:sp>
        <p:sp>
          <p:nvSpPr>
            <p:cNvPr id="40" name="TextBox 40"/>
            <p:cNvSpPr txBox="1"/>
            <p:nvPr/>
          </p:nvSpPr>
          <p:spPr>
            <a:xfrm>
              <a:off x="3918585" y="4745831"/>
              <a:ext cx="802996" cy="220028"/>
            </a:xfrm>
            <a:prstGeom prst="rect">
              <a:avLst/>
            </a:prstGeom>
            <a:noFill/>
            <a:ln>
              <a:noFill/>
            </a:ln>
          </p:spPr>
          <p:txBody>
            <a:bodyPr wrap="none" lIns="0" tIns="0" rIns="0" bIns="0" anchor="t" anchorCtr="0">
              <a:spAutoFit/>
            </a:bodyPr>
            <a:lstStyle/>
            <a:p>
              <a:pPr algn="l"/>
              <a:r>
                <a:rPr lang="en-US" sz="1120" b="1" dirty="0">
                  <a:solidFill>
                    <a:srgbClr val="F2C14E"/>
                  </a:solidFill>
                  <a:latin typeface="+mn-lt"/>
                  <a:ea typeface="+mn-ea"/>
                  <a:cs typeface="+mn-cs"/>
                </a:rPr>
                <a:t>18x bigger</a:t>
              </a:r>
            </a:p>
          </p:txBody>
        </p:sp>
        <p:sp>
          <p:nvSpPr>
            <p:cNvPr id="41" name="TextBox 41"/>
            <p:cNvSpPr txBox="1"/>
            <p:nvPr/>
          </p:nvSpPr>
          <p:spPr>
            <a:xfrm>
              <a:off x="3919538" y="4927997"/>
              <a:ext cx="1187304"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than QM7 (7,165)</a:t>
              </a:r>
            </a:p>
          </p:txBody>
        </p:sp>
        <p:sp>
          <p:nvSpPr>
            <p:cNvPr id="42" name="Rectangle 42"/>
            <p:cNvSpPr/>
            <p:nvPr/>
          </p:nvSpPr>
          <p:spPr>
            <a:xfrm>
              <a:off x="6591300" y="4667250"/>
              <a:ext cx="2590800" cy="419100"/>
            </a:xfrm>
            <a:prstGeom prst="roundRect">
              <a:avLst>
                <a:gd name="adj" fmla="val 22727"/>
              </a:avLst>
            </a:prstGeom>
            <a:solidFill>
              <a:schemeClr val="accent6"/>
            </a:solidFill>
            <a:ln w="14288">
              <a:solidFill>
                <a:srgbClr val="26455F"/>
              </a:solidFill>
            </a:ln>
          </p:spPr>
        </p:sp>
        <p:sp>
          <p:nvSpPr>
            <p:cNvPr id="43" name="Rectangle 43"/>
            <p:cNvSpPr/>
            <p:nvPr/>
          </p:nvSpPr>
          <p:spPr>
            <a:xfrm>
              <a:off x="6591300" y="4667250"/>
              <a:ext cx="47625" cy="419100"/>
            </a:xfrm>
            <a:prstGeom prst="roundRect">
              <a:avLst>
                <a:gd name="adj" fmla="val 40000"/>
              </a:avLst>
            </a:prstGeom>
            <a:solidFill>
              <a:srgbClr val="34D3C0"/>
            </a:solidFill>
            <a:ln>
              <a:noFill/>
            </a:ln>
          </p:spPr>
        </p:sp>
        <p:sp>
          <p:nvSpPr>
            <p:cNvPr id="44" name="TextBox 44"/>
            <p:cNvSpPr txBox="1"/>
            <p:nvPr/>
          </p:nvSpPr>
          <p:spPr>
            <a:xfrm>
              <a:off x="6776085" y="4745831"/>
              <a:ext cx="1065990" cy="220028"/>
            </a:xfrm>
            <a:prstGeom prst="rect">
              <a:avLst/>
            </a:prstGeom>
            <a:noFill/>
            <a:ln>
              <a:noFill/>
            </a:ln>
          </p:spPr>
          <p:txBody>
            <a:bodyPr wrap="none" lIns="0" tIns="0" rIns="0" bIns="0" anchor="t" anchorCtr="0">
              <a:spAutoFit/>
            </a:bodyPr>
            <a:lstStyle/>
            <a:p>
              <a:pPr algn="l"/>
              <a:r>
                <a:rPr lang="en-US" sz="1120" b="1" dirty="0">
                  <a:solidFill>
                    <a:srgbClr val="34D3C0"/>
                  </a:solidFill>
                  <a:latin typeface="+mn-lt"/>
                  <a:ea typeface="+mn-ea"/>
                  <a:cs typeface="+mn-cs"/>
                </a:rPr>
                <a:t>ERA5 weather</a:t>
              </a:r>
            </a:p>
          </p:txBody>
        </p:sp>
        <p:sp>
          <p:nvSpPr>
            <p:cNvPr id="45" name="TextBox 45"/>
            <p:cNvSpPr txBox="1"/>
            <p:nvPr/>
          </p:nvSpPr>
          <p:spPr>
            <a:xfrm>
              <a:off x="6777038" y="4927997"/>
              <a:ext cx="1378085" cy="183356"/>
            </a:xfrm>
            <a:prstGeom prst="rect">
              <a:avLst/>
            </a:prstGeom>
            <a:noFill/>
            <a:ln>
              <a:noFill/>
            </a:ln>
          </p:spPr>
          <p:txBody>
            <a:bodyPr wrap="none" lIns="0" tIns="0" rIns="0" bIns="0" anchor="t" anchorCtr="0">
              <a:spAutoFit/>
            </a:bodyPr>
            <a:lstStyle/>
            <a:p>
              <a:pPr algn="l"/>
              <a:r>
                <a:rPr lang="en-US" sz="940" b="1" dirty="0">
                  <a:solidFill>
                    <a:schemeClr val="dk2"/>
                  </a:solidFill>
                  <a:latin typeface="+mn-lt"/>
                  <a:ea typeface="+mn-ea"/>
                  <a:cs typeface="+mn-cs"/>
                </a:rPr>
                <a:t>high-resolution grids</a:t>
              </a:r>
            </a:p>
          </p:txBody>
        </p:sp>
        <p:sp>
          <p:nvSpPr>
            <p:cNvPr id="46" name="TextBox 46"/>
            <p:cNvSpPr txBox="1"/>
            <p:nvPr/>
          </p:nvSpPr>
          <p:spPr>
            <a:xfrm>
              <a:off x="9519666" y="4801552"/>
              <a:ext cx="1903005"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-&gt; the models had to scale</a:t>
              </a:r>
            </a:p>
          </p:txBody>
        </p:sp>
      </p:grpSp>
      <p:sp>
        <p:nvSpPr>
          <p:cNvPr id="48" name="cue_s03_c1_two_scientific_problems_motivate_wor" title="cue_s03_c1_two_scientific_problems_motivate_wor" descr="cue_s03_c1_two_scientific_problems_motivate_wor Two scientific problems motivate this work: predicting molecular properties and forecasting the weather. Both are intrinsically spherical and tied to rotations."/>
          <p:cNvSpPr/>
          <p:nvPr/>
        </p:nvSpPr>
        <p:spPr>
          <a:xfrm>
            <a:off x="609600" y="1504645"/>
            <a:ext cx="10972800" cy="838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3_c2_molecule_properties_don_change_when" title="cue_s03_c2_molecule_properties_don_change_when" descr="cue_s03_c2_molecule_properties_don_change_when A molecule's properties don't change when you rotate it in space, and the Earth's atmosphere is naturally a signal on a sphere."/>
          <p:cNvSpPr/>
          <p:nvPr/>
        </p:nvSpPr>
        <p:spPr>
          <a:xfrm>
            <a:off x="609600" y="25333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3_rotation_equivariant_spherical_cnns" title="cue_s03_c3_rotation_equivariant_spherical_cnns" descr="cue_s03_c3_rotation_equivariant_spherical_cnns Rotation-equivariant spherical CNNs should be a perfect match. But the standard benchmarks are large."/>
          <p:cNvSpPr/>
          <p:nvPr/>
        </p:nvSpPr>
        <p:spPr>
          <a:xfrm>
            <a:off x="6171590" y="2533345"/>
            <a:ext cx="540959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3_c4_qm9_one_hundred_thirty_four" title="cue_s03_c4_qm9_one_hundred_thirty_four" descr="cue_s03_c4_qm9_one_hundred_thirty_four QM9 has one hundred thirty four thousand molecules, over eighteen times bigger than the tiny QM7 set earlier spherical CNNs could handle, and weather grids demand high spatial resolution. To compete, these models had to scale."/>
          <p:cNvSpPr/>
          <p:nvPr/>
        </p:nvSpPr>
        <p:spPr>
          <a:xfrm>
            <a:off x="609600" y="4153204"/>
            <a:ext cx="10972800" cy="10856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56943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recipe to scale spherical CNNs 10x</a:t>
            </a:r>
          </a:p>
        </p:txBody>
      </p:sp>
      <p:grpSp>
        <p:nvGrpSpPr>
          <p:cNvPr id="8" name="Group 8"/>
          <p:cNvGrpSpPr/>
          <p:nvPr/>
        </p:nvGrpSpPr>
        <p:grpSpPr>
          <a:xfrm>
            <a:off x="609600" y="1504950"/>
            <a:ext cx="10972800" cy="628650"/>
            <a:chOff x="609600" y="1504950"/>
            <a:chExt cx="10972800" cy="628650"/>
          </a:xfrm>
        </p:grpSpPr>
        <p:sp>
          <p:nvSpPr>
            <p:cNvPr id="5" name="Rectangle 5"/>
            <p:cNvSpPr/>
            <p:nvPr/>
          </p:nvSpPr>
          <p:spPr>
            <a:xfrm>
              <a:off x="609600" y="1504950"/>
              <a:ext cx="10972800" cy="628650"/>
            </a:xfrm>
            <a:prstGeom prst="roundRect">
              <a:avLst>
                <a:gd name="adj" fmla="val 21212"/>
              </a:avLst>
            </a:prstGeom>
            <a:solidFill>
              <a:schemeClr val="accent5"/>
            </a:solidFill>
            <a:ln w="14288">
              <a:solidFill>
                <a:srgbClr val="26455F"/>
              </a:solidFill>
            </a:ln>
          </p:spPr>
        </p:sp>
        <p:sp>
          <p:nvSpPr>
            <p:cNvPr id="6" name="Rectangle 6"/>
            <p:cNvSpPr/>
            <p:nvPr/>
          </p:nvSpPr>
          <p:spPr>
            <a:xfrm>
              <a:off x="609600" y="1504950"/>
              <a:ext cx="57150" cy="628650"/>
            </a:xfrm>
            <a:prstGeom prst="roundRect">
              <a:avLst>
                <a:gd name="adj" fmla="val 50000"/>
              </a:avLst>
            </a:prstGeom>
            <a:solidFill>
              <a:schemeClr val="accent2"/>
            </a:solidFill>
            <a:ln>
              <a:noFill/>
            </a:ln>
          </p:spPr>
        </p:sp>
        <p:sp>
          <p:nvSpPr>
            <p:cNvPr id="7" name="TextBox 7"/>
            <p:cNvSpPr txBox="1"/>
            <p:nvPr/>
          </p:nvSpPr>
          <p:spPr>
            <a:xfrm>
              <a:off x="869823" y="1757839"/>
              <a:ext cx="836956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A systematic approach to scale spherical CNNs one order of magnitude larger - in three parts.</a:t>
              </a:r>
            </a:p>
          </p:txBody>
        </p:sp>
      </p:grpSp>
      <p:grpSp>
        <p:nvGrpSpPr>
          <p:cNvPr id="18" name="Group 18"/>
          <p:cNvGrpSpPr/>
          <p:nvPr/>
        </p:nvGrpSpPr>
        <p:grpSpPr>
          <a:xfrm>
            <a:off x="609600" y="2381250"/>
            <a:ext cx="3505200" cy="2857500"/>
            <a:chOff x="609600" y="2381250"/>
            <a:chExt cx="3505200" cy="2857500"/>
          </a:xfrm>
        </p:grpSpPr>
        <p:sp>
          <p:nvSpPr>
            <p:cNvPr id="9" name="Rectangle 9"/>
            <p:cNvSpPr/>
            <p:nvPr/>
          </p:nvSpPr>
          <p:spPr>
            <a:xfrm>
              <a:off x="609600" y="2381250"/>
              <a:ext cx="3505200" cy="2857500"/>
            </a:xfrm>
            <a:prstGeom prst="roundRect">
              <a:avLst>
                <a:gd name="adj" fmla="val 4667"/>
              </a:avLst>
            </a:prstGeom>
            <a:solidFill>
              <a:schemeClr val="accent5"/>
            </a:solidFill>
            <a:ln w="14288">
              <a:solidFill>
                <a:srgbClr val="26455F"/>
              </a:solidFill>
            </a:ln>
          </p:spPr>
        </p:sp>
        <p:sp>
          <p:nvSpPr>
            <p:cNvPr id="10" name="Rectangle 10"/>
            <p:cNvSpPr/>
            <p:nvPr/>
          </p:nvSpPr>
          <p:spPr>
            <a:xfrm>
              <a:off x="609600" y="2381250"/>
              <a:ext cx="3505200" cy="57150"/>
            </a:xfrm>
            <a:prstGeom prst="roundRect">
              <a:avLst>
                <a:gd name="adj" fmla="val 50000"/>
              </a:avLst>
            </a:prstGeom>
            <a:solidFill>
              <a:schemeClr val="accent2"/>
            </a:solidFill>
            <a:ln>
              <a:noFill/>
            </a:ln>
          </p:spPr>
        </p:sp>
        <p:sp>
          <p:nvSpPr>
            <p:cNvPr id="11" name="Ellipse 11"/>
            <p:cNvSpPr/>
            <p:nvPr/>
          </p:nvSpPr>
          <p:spPr>
            <a:xfrm>
              <a:off x="847725" y="2752725"/>
              <a:ext cx="514350" cy="514350"/>
            </a:xfrm>
            <a:prstGeom prst="ellipse">
              <a:avLst/>
            </a:prstGeom>
            <a:noFill/>
            <a:ln w="23812">
              <a:solidFill>
                <a:schemeClr val="accent2"/>
              </a:solidFill>
            </a:ln>
          </p:spPr>
        </p:sp>
        <p:sp>
          <p:nvSpPr>
            <p:cNvPr id="12" name="TextBox 12"/>
            <p:cNvSpPr txBox="1"/>
            <p:nvPr/>
          </p:nvSpPr>
          <p:spPr>
            <a:xfrm>
              <a:off x="1006009" y="2862262"/>
              <a:ext cx="19778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a:t>
              </a:r>
            </a:p>
          </p:txBody>
        </p:sp>
        <p:sp>
          <p:nvSpPr>
            <p:cNvPr id="13" name="TextBox 13"/>
            <p:cNvSpPr txBox="1"/>
            <p:nvPr/>
          </p:nvSpPr>
          <p:spPr>
            <a:xfrm>
              <a:off x="869061" y="3446621"/>
              <a:ext cx="247066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Fast transforms on TPUs</a:t>
              </a:r>
            </a:p>
          </p:txBody>
        </p:sp>
        <p:sp>
          <p:nvSpPr>
            <p:cNvPr id="14" name="TextBox 14"/>
            <p:cNvSpPr txBox="1"/>
            <p:nvPr/>
          </p:nvSpPr>
          <p:spPr>
            <a:xfrm>
              <a:off x="870585" y="3840956"/>
              <a:ext cx="25711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 efficient JAX implementation of</a:t>
              </a:r>
            </a:p>
          </p:txBody>
        </p:sp>
        <p:sp>
          <p:nvSpPr>
            <p:cNvPr id="15" name="TextBox 15"/>
            <p:cNvSpPr txBox="1"/>
            <p:nvPr/>
          </p:nvSpPr>
          <p:spPr>
            <a:xfrm>
              <a:off x="870585" y="4079081"/>
              <a:ext cx="24615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spin-weighted spherical harmonic</a:t>
              </a:r>
            </a:p>
          </p:txBody>
        </p:sp>
        <p:sp>
          <p:nvSpPr>
            <p:cNvPr id="16" name="TextBox 16"/>
            <p:cNvSpPr txBox="1"/>
            <p:nvPr/>
          </p:nvSpPr>
          <p:spPr>
            <a:xfrm>
              <a:off x="870585" y="4317206"/>
              <a:ext cx="258967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transforms, tuned to run fast and</a:t>
              </a:r>
            </a:p>
          </p:txBody>
        </p:sp>
        <p:sp>
          <p:nvSpPr>
            <p:cNvPr id="17" name="TextBox 17"/>
            <p:cNvSpPr txBox="1"/>
            <p:nvPr/>
          </p:nvSpPr>
          <p:spPr>
            <a:xfrm>
              <a:off x="870585" y="4555331"/>
              <a:ext cx="186575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distributed across TPUs.</a:t>
              </a:r>
            </a:p>
          </p:txBody>
        </p:sp>
      </p:grpSp>
      <p:grpSp>
        <p:nvGrpSpPr>
          <p:cNvPr id="29" name="Group 29"/>
          <p:cNvGrpSpPr/>
          <p:nvPr/>
        </p:nvGrpSpPr>
        <p:grpSpPr>
          <a:xfrm>
            <a:off x="4343400" y="2381250"/>
            <a:ext cx="3505200" cy="2857500"/>
            <a:chOff x="4343400" y="2381250"/>
            <a:chExt cx="3505200" cy="2857500"/>
          </a:xfrm>
        </p:grpSpPr>
        <p:sp>
          <p:nvSpPr>
            <p:cNvPr id="19" name="Rectangle 19"/>
            <p:cNvSpPr/>
            <p:nvPr/>
          </p:nvSpPr>
          <p:spPr>
            <a:xfrm>
              <a:off x="4343400" y="2381250"/>
              <a:ext cx="3505200" cy="2857500"/>
            </a:xfrm>
            <a:prstGeom prst="roundRect">
              <a:avLst>
                <a:gd name="adj" fmla="val 4667"/>
              </a:avLst>
            </a:prstGeom>
            <a:solidFill>
              <a:schemeClr val="accent5"/>
            </a:solidFill>
            <a:ln w="14288">
              <a:solidFill>
                <a:srgbClr val="26455F"/>
              </a:solidFill>
            </a:ln>
          </p:spPr>
        </p:sp>
        <p:sp>
          <p:nvSpPr>
            <p:cNvPr id="20" name="Rectangle 20"/>
            <p:cNvSpPr/>
            <p:nvPr/>
          </p:nvSpPr>
          <p:spPr>
            <a:xfrm>
              <a:off x="4343400" y="2381250"/>
              <a:ext cx="3505200" cy="57150"/>
            </a:xfrm>
            <a:prstGeom prst="roundRect">
              <a:avLst>
                <a:gd name="adj" fmla="val 50000"/>
              </a:avLst>
            </a:prstGeom>
            <a:solidFill>
              <a:srgbClr val="34D3C0"/>
            </a:solidFill>
            <a:ln>
              <a:noFill/>
            </a:ln>
          </p:spPr>
        </p:sp>
        <p:sp>
          <p:nvSpPr>
            <p:cNvPr id="21" name="Ellipse 21"/>
            <p:cNvSpPr/>
            <p:nvPr/>
          </p:nvSpPr>
          <p:spPr>
            <a:xfrm>
              <a:off x="4581525" y="2752725"/>
              <a:ext cx="514350" cy="514350"/>
            </a:xfrm>
            <a:prstGeom prst="ellipse">
              <a:avLst/>
            </a:prstGeom>
            <a:noFill/>
            <a:ln w="23812">
              <a:solidFill>
                <a:srgbClr val="34D3C0"/>
              </a:solidFill>
            </a:ln>
          </p:spPr>
        </p:sp>
        <p:sp>
          <p:nvSpPr>
            <p:cNvPr id="22" name="TextBox 22"/>
            <p:cNvSpPr txBox="1"/>
            <p:nvPr/>
          </p:nvSpPr>
          <p:spPr>
            <a:xfrm>
              <a:off x="4739809" y="2862262"/>
              <a:ext cx="197782"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2</a:t>
              </a:r>
            </a:p>
          </p:txBody>
        </p:sp>
        <p:sp>
          <p:nvSpPr>
            <p:cNvPr id="23" name="TextBox 23"/>
            <p:cNvSpPr txBox="1"/>
            <p:nvPr/>
          </p:nvSpPr>
          <p:spPr>
            <a:xfrm>
              <a:off x="4602861" y="3446621"/>
              <a:ext cx="2128649"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New layers and inputs</a:t>
              </a:r>
            </a:p>
          </p:txBody>
        </p:sp>
        <p:sp>
          <p:nvSpPr>
            <p:cNvPr id="24" name="TextBox 24"/>
            <p:cNvSpPr txBox="1"/>
            <p:nvPr/>
          </p:nvSpPr>
          <p:spPr>
            <a:xfrm>
              <a:off x="4604385" y="3840956"/>
              <a:ext cx="234596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New general-purpose layers and</a:t>
              </a:r>
            </a:p>
          </p:txBody>
        </p:sp>
        <p:sp>
          <p:nvSpPr>
            <p:cNvPr id="25" name="TextBox 25"/>
            <p:cNvSpPr txBox="1"/>
            <p:nvPr/>
          </p:nvSpPr>
          <p:spPr>
            <a:xfrm>
              <a:off x="4604385" y="4079081"/>
              <a:ext cx="240120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activations for expressivity and</a:t>
              </a:r>
            </a:p>
          </p:txBody>
        </p:sp>
        <p:sp>
          <p:nvSpPr>
            <p:cNvPr id="26" name="TextBox 26"/>
            <p:cNvSpPr txBox="1"/>
            <p:nvPr/>
          </p:nvSpPr>
          <p:spPr>
            <a:xfrm>
              <a:off x="4604385" y="4317206"/>
              <a:ext cx="27027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efficiency, plus application-specific</a:t>
              </a:r>
            </a:p>
          </p:txBody>
        </p:sp>
        <p:sp>
          <p:nvSpPr>
            <p:cNvPr id="27" name="TextBox 27"/>
            <p:cNvSpPr txBox="1"/>
            <p:nvPr/>
          </p:nvSpPr>
          <p:spPr>
            <a:xfrm>
              <a:off x="4604385" y="4555331"/>
              <a:ext cx="297414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input representations for molecules and</a:t>
              </a:r>
            </a:p>
          </p:txBody>
        </p:sp>
        <p:sp>
          <p:nvSpPr>
            <p:cNvPr id="28" name="TextBox 28"/>
            <p:cNvSpPr txBox="1"/>
            <p:nvPr/>
          </p:nvSpPr>
          <p:spPr>
            <a:xfrm>
              <a:off x="4604385" y="4793456"/>
              <a:ext cx="70499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weather.</a:t>
              </a:r>
            </a:p>
          </p:txBody>
        </p:sp>
      </p:grpSp>
      <p:grpSp>
        <p:nvGrpSpPr>
          <p:cNvPr id="40" name="Group 40"/>
          <p:cNvGrpSpPr/>
          <p:nvPr/>
        </p:nvGrpSpPr>
        <p:grpSpPr>
          <a:xfrm>
            <a:off x="8077200" y="2381250"/>
            <a:ext cx="3505200" cy="2857500"/>
            <a:chOff x="8077200" y="2381250"/>
            <a:chExt cx="3505200" cy="2857500"/>
          </a:xfrm>
        </p:grpSpPr>
        <p:sp>
          <p:nvSpPr>
            <p:cNvPr id="30" name="Rectangle 30"/>
            <p:cNvSpPr/>
            <p:nvPr/>
          </p:nvSpPr>
          <p:spPr>
            <a:xfrm>
              <a:off x="8077200" y="2381250"/>
              <a:ext cx="3505200" cy="2857500"/>
            </a:xfrm>
            <a:prstGeom prst="roundRect">
              <a:avLst>
                <a:gd name="adj" fmla="val 4667"/>
              </a:avLst>
            </a:prstGeom>
            <a:solidFill>
              <a:schemeClr val="accent5"/>
            </a:solidFill>
            <a:ln w="14288">
              <a:solidFill>
                <a:srgbClr val="26455F"/>
              </a:solidFill>
            </a:ln>
          </p:spPr>
        </p:sp>
        <p:sp>
          <p:nvSpPr>
            <p:cNvPr id="31" name="Rectangle 31"/>
            <p:cNvSpPr/>
            <p:nvPr/>
          </p:nvSpPr>
          <p:spPr>
            <a:xfrm>
              <a:off x="8077200" y="2381250"/>
              <a:ext cx="3505200" cy="57150"/>
            </a:xfrm>
            <a:prstGeom prst="roundRect">
              <a:avLst>
                <a:gd name="adj" fmla="val 50000"/>
              </a:avLst>
            </a:prstGeom>
            <a:solidFill>
              <a:srgbClr val="F2C14E"/>
            </a:solidFill>
            <a:ln>
              <a:noFill/>
            </a:ln>
          </p:spPr>
        </p:sp>
        <p:sp>
          <p:nvSpPr>
            <p:cNvPr id="32" name="Ellipse 32"/>
            <p:cNvSpPr/>
            <p:nvPr/>
          </p:nvSpPr>
          <p:spPr>
            <a:xfrm>
              <a:off x="8315325" y="2752725"/>
              <a:ext cx="514350" cy="514350"/>
            </a:xfrm>
            <a:prstGeom prst="ellipse">
              <a:avLst/>
            </a:prstGeom>
            <a:noFill/>
            <a:ln w="23812">
              <a:solidFill>
                <a:srgbClr val="F2C14E"/>
              </a:solidFill>
            </a:ln>
          </p:spPr>
        </p:sp>
        <p:sp>
          <p:nvSpPr>
            <p:cNvPr id="33" name="TextBox 33"/>
            <p:cNvSpPr txBox="1"/>
            <p:nvPr/>
          </p:nvSpPr>
          <p:spPr>
            <a:xfrm>
              <a:off x="8473609" y="2862262"/>
              <a:ext cx="197782"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3</a:t>
              </a:r>
            </a:p>
          </p:txBody>
        </p:sp>
        <p:sp>
          <p:nvSpPr>
            <p:cNvPr id="34" name="TextBox 34"/>
            <p:cNvSpPr txBox="1"/>
            <p:nvPr/>
          </p:nvSpPr>
          <p:spPr>
            <a:xfrm>
              <a:off x="8336661" y="3446621"/>
              <a:ext cx="202876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Redesign, don't just</a:t>
              </a:r>
            </a:p>
          </p:txBody>
        </p:sp>
        <p:sp>
          <p:nvSpPr>
            <p:cNvPr id="35" name="TextBox 35"/>
            <p:cNvSpPr txBox="1"/>
            <p:nvPr/>
          </p:nvSpPr>
          <p:spPr>
            <a:xfrm>
              <a:off x="8336661" y="3713321"/>
              <a:ext cx="737064"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enlarge</a:t>
              </a:r>
            </a:p>
          </p:txBody>
        </p:sp>
        <p:sp>
          <p:nvSpPr>
            <p:cNvPr id="36" name="TextBox 36"/>
            <p:cNvSpPr txBox="1"/>
            <p:nvPr/>
          </p:nvSpPr>
          <p:spPr>
            <a:xfrm>
              <a:off x="8338185" y="4107656"/>
              <a:ext cx="246665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key finding: naive scaling - just</a:t>
              </a:r>
            </a:p>
          </p:txBody>
        </p:sp>
        <p:sp>
          <p:nvSpPr>
            <p:cNvPr id="37" name="TextBox 37"/>
            <p:cNvSpPr txBox="1"/>
            <p:nvPr/>
          </p:nvSpPr>
          <p:spPr>
            <a:xfrm>
              <a:off x="8338185" y="4345781"/>
              <a:ext cx="28987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adding depth and width - is not enough.</a:t>
              </a:r>
            </a:p>
          </p:txBody>
        </p:sp>
        <p:sp>
          <p:nvSpPr>
            <p:cNvPr id="38" name="TextBox 38"/>
            <p:cNvSpPr txBox="1"/>
            <p:nvPr/>
          </p:nvSpPr>
          <p:spPr>
            <a:xfrm>
              <a:off x="8338185" y="4583906"/>
              <a:ext cx="313010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core components themselves had to be</a:t>
              </a:r>
            </a:p>
          </p:txBody>
        </p:sp>
        <p:sp>
          <p:nvSpPr>
            <p:cNvPr id="39" name="TextBox 39"/>
            <p:cNvSpPr txBox="1"/>
            <p:nvPr/>
          </p:nvSpPr>
          <p:spPr>
            <a:xfrm>
              <a:off x="8338185" y="4822031"/>
              <a:ext cx="8859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redesigned.</a:t>
              </a:r>
            </a:p>
          </p:txBody>
        </p:sp>
      </p:grpSp>
      <p:sp>
        <p:nvSpPr>
          <p:cNvPr id="41" name="cue_s04_c1_authors_contribute_systematic_recipe" title="cue_s04_c1_authors_contribute_systematic_recipe" descr="cue_s04_c1_authors_contribute_systematic_recipe The authors contribute a systematic recipe for scaling spherical CNNs by an order of magnitude. It has three parts."/>
          <p:cNvSpPr/>
          <p:nvPr/>
        </p:nvSpPr>
        <p:spPr>
          <a:xfrm>
            <a:off x="609600" y="1504645"/>
            <a:ext cx="10972800" cy="6288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4_c2_first_efficient_implementation_spin" title="cue_s04_c2_first_efficient_implementation_spin" descr="cue_s04_c2_first_efficient_implementation_spin First, an efficient implementation of spin-weighted spherical harmonic transforms in JAX, tuned to run fast and distributed on TPUs."/>
          <p:cNvSpPr/>
          <p:nvPr/>
        </p:nvSpPr>
        <p:spPr>
          <a:xfrm>
            <a:off x="609600" y="2381097"/>
            <a:ext cx="3505199"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4_c3_second_new_general_purpose_layers_ac" title="cue_s04_c3_second_new_general_purpose_layers_ac" descr="cue_s04_c3_second_new_general_purpose_layers_ac Second, new general-purpose layers and activations that improve both expressivity and efficiency. And third, application-specific input representations designed for molecules and for weather data."/>
          <p:cNvSpPr/>
          <p:nvPr/>
        </p:nvSpPr>
        <p:spPr>
          <a:xfrm>
            <a:off x="4344009" y="2381097"/>
            <a:ext cx="3505199"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4_c4_key_finding_naive_scaling_just" title="cue_s04_c4_key_finding_naive_scaling_just" descr="cue_s04_c4_key_finding_naive_scaling_just A key finding is that naive scaling, just adding depth and width, is not enough; the core components themselves had to be redesigned."/>
          <p:cNvSpPr/>
          <p:nvPr/>
        </p:nvSpPr>
        <p:spPr>
          <a:xfrm>
            <a:off x="8077200" y="2381097"/>
            <a:ext cx="3505199"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515403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New spectral-domain components</a:t>
            </a:r>
          </a:p>
        </p:txBody>
      </p:sp>
      <p:grpSp>
        <p:nvGrpSpPr>
          <p:cNvPr id="14" name="Group 14"/>
          <p:cNvGrpSpPr/>
          <p:nvPr/>
        </p:nvGrpSpPr>
        <p:grpSpPr>
          <a:xfrm>
            <a:off x="609600" y="1504950"/>
            <a:ext cx="5410200" cy="1828800"/>
            <a:chOff x="609600" y="1504950"/>
            <a:chExt cx="5410200" cy="1828800"/>
          </a:xfrm>
        </p:grpSpPr>
        <p:sp>
          <p:nvSpPr>
            <p:cNvPr id="5" name="Rectangle 5"/>
            <p:cNvSpPr/>
            <p:nvPr/>
          </p:nvSpPr>
          <p:spPr>
            <a:xfrm>
              <a:off x="609600" y="1504950"/>
              <a:ext cx="5410200" cy="1828800"/>
            </a:xfrm>
            <a:prstGeom prst="roundRect">
              <a:avLst>
                <a:gd name="adj" fmla="val 7292"/>
              </a:avLst>
            </a:prstGeom>
            <a:solidFill>
              <a:schemeClr val="accent5"/>
            </a:solidFill>
            <a:ln w="14288">
              <a:solidFill>
                <a:srgbClr val="26455F"/>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014" y="1733312"/>
              <a:ext cx="2901291"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Everything lives in spectral space</a:t>
              </a:r>
            </a:p>
          </p:txBody>
        </p:sp>
        <p:sp>
          <p:nvSpPr>
            <p:cNvPr id="8" name="TextBox 8"/>
            <p:cNvSpPr txBox="1"/>
            <p:nvPr/>
          </p:nvSpPr>
          <p:spPr>
            <a:xfrm>
              <a:off x="870776" y="2035254"/>
              <a:ext cx="414600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Building on spin-weighted spherical CNNs, the centerpiece</a:t>
              </a:r>
            </a:p>
          </p:txBody>
        </p:sp>
        <p:sp>
          <p:nvSpPr>
            <p:cNvPr id="9" name="TextBox 9"/>
            <p:cNvSpPr txBox="1"/>
            <p:nvPr/>
          </p:nvSpPr>
          <p:spPr>
            <a:xfrm>
              <a:off x="870776" y="2244804"/>
              <a:ext cx="359140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is a set of new components that all operate in the</a:t>
              </a:r>
            </a:p>
          </p:txBody>
        </p:sp>
        <p:sp>
          <p:nvSpPr>
            <p:cNvPr id="10" name="TextBox 10"/>
            <p:cNvSpPr txBox="1"/>
            <p:nvPr/>
          </p:nvSpPr>
          <p:spPr>
            <a:xfrm>
              <a:off x="870776" y="2454354"/>
              <a:ext cx="122161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spectral domain.</a:t>
              </a:r>
            </a:p>
          </p:txBody>
        </p:sp>
        <p:sp>
          <p:nvSpPr>
            <p:cNvPr id="11" name="Rectangle 11"/>
            <p:cNvSpPr/>
            <p:nvPr/>
          </p:nvSpPr>
          <p:spPr>
            <a:xfrm>
              <a:off x="876300" y="2724150"/>
              <a:ext cx="4876800" cy="381000"/>
            </a:xfrm>
            <a:prstGeom prst="roundRect">
              <a:avLst>
                <a:gd name="adj" fmla="val 20000"/>
              </a:avLst>
            </a:prstGeom>
            <a:solidFill>
              <a:schemeClr val="accent6"/>
            </a:solidFill>
            <a:ln w="14288">
              <a:solidFill>
                <a:srgbClr val="26455F"/>
              </a:solidFill>
            </a:ln>
          </p:spPr>
        </p:sp>
        <p:sp>
          <p:nvSpPr>
            <p:cNvPr id="12" name="Ellipse 12"/>
            <p:cNvSpPr/>
            <p:nvPr/>
          </p:nvSpPr>
          <p:spPr>
            <a:xfrm>
              <a:off x="1000125" y="2867025"/>
              <a:ext cx="95250" cy="95250"/>
            </a:xfrm>
            <a:prstGeom prst="ellipse">
              <a:avLst/>
            </a:prstGeom>
            <a:solidFill>
              <a:schemeClr val="accent2"/>
            </a:solidFill>
            <a:ln>
              <a:noFill/>
            </a:ln>
          </p:spPr>
        </p:sp>
        <p:sp>
          <p:nvSpPr>
            <p:cNvPr id="13" name="TextBox 13"/>
            <p:cNvSpPr txBox="1"/>
            <p:nvPr/>
          </p:nvSpPr>
          <p:spPr>
            <a:xfrm>
              <a:off x="1194816" y="2848928"/>
              <a:ext cx="3231351"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spin-weighted spherical harmonic transform</a:t>
              </a:r>
            </a:p>
          </p:txBody>
        </p:sp>
      </p:grpSp>
      <p:grpSp>
        <p:nvGrpSpPr>
          <p:cNvPr id="23" name="Group 23"/>
          <p:cNvGrpSpPr/>
          <p:nvPr/>
        </p:nvGrpSpPr>
        <p:grpSpPr>
          <a:xfrm>
            <a:off x="6172200" y="1504950"/>
            <a:ext cx="5410200" cy="1828800"/>
            <a:chOff x="6172200" y="1504950"/>
            <a:chExt cx="5410200" cy="1828800"/>
          </a:xfrm>
        </p:grpSpPr>
        <p:sp>
          <p:nvSpPr>
            <p:cNvPr id="15" name="Rectangle 15"/>
            <p:cNvSpPr/>
            <p:nvPr/>
          </p:nvSpPr>
          <p:spPr>
            <a:xfrm>
              <a:off x="6172200" y="1504950"/>
              <a:ext cx="5410200" cy="1828800"/>
            </a:xfrm>
            <a:prstGeom prst="roundRect">
              <a:avLst>
                <a:gd name="adj" fmla="val 7292"/>
              </a:avLst>
            </a:prstGeom>
            <a:solidFill>
              <a:schemeClr val="accent5"/>
            </a:solidFill>
            <a:ln w="14288">
              <a:solidFill>
                <a:srgbClr val="26455F"/>
              </a:solidFill>
            </a:ln>
          </p:spPr>
        </p:sp>
        <p:sp>
          <p:nvSpPr>
            <p:cNvPr id="16" name="Rectangle 16"/>
            <p:cNvSpPr/>
            <p:nvPr/>
          </p:nvSpPr>
          <p:spPr>
            <a:xfrm>
              <a:off x="6172200" y="1504950"/>
              <a:ext cx="57150" cy="1828800"/>
            </a:xfrm>
            <a:prstGeom prst="roundRect">
              <a:avLst>
                <a:gd name="adj" fmla="val 50000"/>
              </a:avLst>
            </a:prstGeom>
            <a:solidFill>
              <a:srgbClr val="34D3C0"/>
            </a:solidFill>
            <a:ln>
              <a:noFill/>
            </a:ln>
          </p:spPr>
        </p:sp>
        <p:sp>
          <p:nvSpPr>
            <p:cNvPr id="17" name="TextBox 17"/>
            <p:cNvSpPr txBox="1"/>
            <p:nvPr/>
          </p:nvSpPr>
          <p:spPr>
            <a:xfrm>
              <a:off x="6432614" y="1733312"/>
              <a:ext cx="2313877"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Phase collapse nonlinearity</a:t>
              </a:r>
            </a:p>
          </p:txBody>
        </p:sp>
        <p:sp>
          <p:nvSpPr>
            <p:cNvPr id="18" name="TextBox 18"/>
            <p:cNvSpPr txBox="1"/>
            <p:nvPr/>
          </p:nvSpPr>
          <p:spPr>
            <a:xfrm>
              <a:off x="6433376" y="2035254"/>
              <a:ext cx="400717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Take the modulus to collapse phase - restoring rotation</a:t>
              </a:r>
            </a:p>
          </p:txBody>
        </p:sp>
        <p:sp>
          <p:nvSpPr>
            <p:cNvPr id="19" name="TextBox 19"/>
            <p:cNvSpPr txBox="1"/>
            <p:nvPr/>
          </p:nvSpPr>
          <p:spPr>
            <a:xfrm>
              <a:off x="6433376" y="2244804"/>
              <a:ext cx="376014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invariance while losing no information in the nonzero</a:t>
              </a:r>
            </a:p>
          </p:txBody>
        </p:sp>
        <p:sp>
          <p:nvSpPr>
            <p:cNvPr id="20" name="TextBox 20"/>
            <p:cNvSpPr txBox="1"/>
            <p:nvPr/>
          </p:nvSpPr>
          <p:spPr>
            <a:xfrm>
              <a:off x="6433376" y="2454354"/>
              <a:ext cx="45859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spins.</a:t>
              </a:r>
            </a:p>
          </p:txBody>
        </p:sp>
        <p:sp>
          <p:nvSpPr>
            <p:cNvPr id="21" name="Rectangle 21"/>
            <p:cNvSpPr/>
            <p:nvPr/>
          </p:nvSpPr>
          <p:spPr>
            <a:xfrm>
              <a:off x="6438900" y="2724150"/>
              <a:ext cx="4876800" cy="400050"/>
            </a:xfrm>
            <a:prstGeom prst="roundRect">
              <a:avLst>
                <a:gd name="adj" fmla="val 19048"/>
              </a:avLst>
            </a:prstGeom>
            <a:solidFill>
              <a:schemeClr val="accent6"/>
            </a:solidFill>
            <a:ln w="14288">
              <a:solidFill>
                <a:srgbClr val="26455F"/>
              </a:solidFill>
            </a:ln>
          </p:spPr>
        </p:sp>
        <p:sp>
          <p:nvSpPr>
            <p:cNvPr id="22" name="TextBox 22"/>
            <p:cNvSpPr txBox="1"/>
            <p:nvPr/>
          </p:nvSpPr>
          <p:spPr>
            <a:xfrm>
              <a:off x="7847719" y="2843689"/>
              <a:ext cx="2059162" cy="249364"/>
            </a:xfrm>
            <a:prstGeom prst="rect">
              <a:avLst/>
            </a:prstGeom>
            <a:noFill/>
            <a:ln>
              <a:noFill/>
            </a:ln>
          </p:spPr>
          <p:txBody>
            <a:bodyPr wrap="none" lIns="0" tIns="0" rIns="0" bIns="0" anchor="t" anchorCtr="0">
              <a:spAutoFit/>
            </a:bodyPr>
            <a:lstStyle/>
            <a:p>
              <a:pPr algn="ctr"/>
              <a:r>
                <a:rPr lang="en-US" sz="1280" b="1" dirty="0">
                  <a:solidFill>
                    <a:schemeClr val="dk1"/>
                  </a:solidFill>
                  <a:latin typeface="Consolas"/>
                  <a:ea typeface="Consolas"/>
                  <a:cs typeface="Consolas"/>
                </a:rPr>
                <a:t>x0 &lt;- W1 x0 + W2 |x| + b</a:t>
              </a:r>
            </a:p>
          </p:txBody>
        </p:sp>
      </p:grpSp>
      <p:grpSp>
        <p:nvGrpSpPr>
          <p:cNvPr id="36" name="Group 36"/>
          <p:cNvGrpSpPr/>
          <p:nvPr/>
        </p:nvGrpSpPr>
        <p:grpSpPr>
          <a:xfrm>
            <a:off x="609600" y="3448050"/>
            <a:ext cx="5410200" cy="1828800"/>
            <a:chOff x="609600" y="3448050"/>
            <a:chExt cx="5410200" cy="1828800"/>
          </a:xfrm>
        </p:grpSpPr>
        <p:sp>
          <p:nvSpPr>
            <p:cNvPr id="24" name="Rectangle 24"/>
            <p:cNvSpPr/>
            <p:nvPr/>
          </p:nvSpPr>
          <p:spPr>
            <a:xfrm>
              <a:off x="609600" y="3448050"/>
              <a:ext cx="5410200" cy="1828800"/>
            </a:xfrm>
            <a:prstGeom prst="roundRect">
              <a:avLst>
                <a:gd name="adj" fmla="val 7292"/>
              </a:avLst>
            </a:prstGeom>
            <a:solidFill>
              <a:schemeClr val="accent5"/>
            </a:solidFill>
            <a:ln w="14288">
              <a:solidFill>
                <a:srgbClr val="26455F"/>
              </a:solidFill>
            </a:ln>
          </p:spPr>
        </p:sp>
        <p:sp>
          <p:nvSpPr>
            <p:cNvPr id="25" name="Rectangle 25"/>
            <p:cNvSpPr/>
            <p:nvPr/>
          </p:nvSpPr>
          <p:spPr>
            <a:xfrm>
              <a:off x="609600" y="3448050"/>
              <a:ext cx="57150" cy="1828800"/>
            </a:xfrm>
            <a:prstGeom prst="roundRect">
              <a:avLst>
                <a:gd name="adj" fmla="val 50000"/>
              </a:avLst>
            </a:prstGeom>
            <a:solidFill>
              <a:srgbClr val="F2C14E"/>
            </a:solidFill>
            <a:ln>
              <a:noFill/>
            </a:ln>
          </p:spPr>
        </p:sp>
        <p:sp>
          <p:nvSpPr>
            <p:cNvPr id="26" name="TextBox 26"/>
            <p:cNvSpPr txBox="1"/>
            <p:nvPr/>
          </p:nvSpPr>
          <p:spPr>
            <a:xfrm>
              <a:off x="870014" y="3676412"/>
              <a:ext cx="3191041"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Norm, pool and residual - all spectral</a:t>
              </a:r>
            </a:p>
          </p:txBody>
        </p:sp>
        <p:sp>
          <p:nvSpPr>
            <p:cNvPr id="27" name="Rectangle 27"/>
            <p:cNvSpPr/>
            <p:nvPr/>
          </p:nvSpPr>
          <p:spPr>
            <a:xfrm>
              <a:off x="876300" y="4000500"/>
              <a:ext cx="4876800" cy="323850"/>
            </a:xfrm>
            <a:prstGeom prst="roundRect">
              <a:avLst>
                <a:gd name="adj" fmla="val 23529"/>
              </a:avLst>
            </a:prstGeom>
            <a:solidFill>
              <a:schemeClr val="accent6"/>
            </a:solidFill>
            <a:ln w="14288">
              <a:solidFill>
                <a:srgbClr val="26455F"/>
              </a:solidFill>
            </a:ln>
          </p:spPr>
        </p:sp>
        <p:sp>
          <p:nvSpPr>
            <p:cNvPr id="28" name="Ellipse 28"/>
            <p:cNvSpPr/>
            <p:nvPr/>
          </p:nvSpPr>
          <p:spPr>
            <a:xfrm>
              <a:off x="1000125" y="4114800"/>
              <a:ext cx="95250" cy="95250"/>
            </a:xfrm>
            <a:prstGeom prst="ellipse">
              <a:avLst/>
            </a:prstGeom>
            <a:solidFill>
              <a:schemeClr val="accent2"/>
            </a:solidFill>
            <a:ln>
              <a:noFill/>
            </a:ln>
          </p:spPr>
        </p:sp>
        <p:sp>
          <p:nvSpPr>
            <p:cNvPr id="29" name="TextBox 29"/>
            <p:cNvSpPr txBox="1"/>
            <p:nvPr/>
          </p:nvSpPr>
          <p:spPr>
            <a:xfrm>
              <a:off x="1194626" y="4092654"/>
              <a:ext cx="218820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Spectral batch normalization</a:t>
              </a:r>
            </a:p>
          </p:txBody>
        </p:sp>
        <p:sp>
          <p:nvSpPr>
            <p:cNvPr id="30" name="Rectangle 30"/>
            <p:cNvSpPr/>
            <p:nvPr/>
          </p:nvSpPr>
          <p:spPr>
            <a:xfrm>
              <a:off x="876300" y="4400550"/>
              <a:ext cx="4876800" cy="323850"/>
            </a:xfrm>
            <a:prstGeom prst="roundRect">
              <a:avLst>
                <a:gd name="adj" fmla="val 23529"/>
              </a:avLst>
            </a:prstGeom>
            <a:solidFill>
              <a:schemeClr val="accent6"/>
            </a:solidFill>
            <a:ln w="14288">
              <a:solidFill>
                <a:srgbClr val="26455F"/>
              </a:solidFill>
            </a:ln>
          </p:spPr>
        </p:sp>
        <p:sp>
          <p:nvSpPr>
            <p:cNvPr id="31" name="Ellipse 31"/>
            <p:cNvSpPr/>
            <p:nvPr/>
          </p:nvSpPr>
          <p:spPr>
            <a:xfrm>
              <a:off x="1000125" y="4514850"/>
              <a:ext cx="95250" cy="95250"/>
            </a:xfrm>
            <a:prstGeom prst="ellipse">
              <a:avLst/>
            </a:prstGeom>
            <a:solidFill>
              <a:srgbClr val="34D3C0"/>
            </a:solidFill>
            <a:ln>
              <a:noFill/>
            </a:ln>
          </p:spPr>
        </p:sp>
        <p:sp>
          <p:nvSpPr>
            <p:cNvPr id="32" name="TextBox 32"/>
            <p:cNvSpPr txBox="1"/>
            <p:nvPr/>
          </p:nvSpPr>
          <p:spPr>
            <a:xfrm>
              <a:off x="1194626" y="4492704"/>
              <a:ext cx="121735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Spectral pooling</a:t>
              </a:r>
            </a:p>
          </p:txBody>
        </p:sp>
        <p:sp>
          <p:nvSpPr>
            <p:cNvPr id="33" name="Rectangle 33"/>
            <p:cNvSpPr/>
            <p:nvPr/>
          </p:nvSpPr>
          <p:spPr>
            <a:xfrm>
              <a:off x="876300" y="4800600"/>
              <a:ext cx="4876800" cy="323850"/>
            </a:xfrm>
            <a:prstGeom prst="roundRect">
              <a:avLst>
                <a:gd name="adj" fmla="val 23529"/>
              </a:avLst>
            </a:prstGeom>
            <a:solidFill>
              <a:schemeClr val="accent6"/>
            </a:solidFill>
            <a:ln w="14288">
              <a:solidFill>
                <a:srgbClr val="26455F"/>
              </a:solidFill>
            </a:ln>
          </p:spPr>
        </p:sp>
        <p:sp>
          <p:nvSpPr>
            <p:cNvPr id="34" name="Ellipse 34"/>
            <p:cNvSpPr/>
            <p:nvPr/>
          </p:nvSpPr>
          <p:spPr>
            <a:xfrm>
              <a:off x="1000125" y="4914900"/>
              <a:ext cx="95250" cy="95250"/>
            </a:xfrm>
            <a:prstGeom prst="ellipse">
              <a:avLst/>
            </a:prstGeom>
            <a:solidFill>
              <a:srgbClr val="F2C14E"/>
            </a:solidFill>
            <a:ln>
              <a:noFill/>
            </a:ln>
          </p:spPr>
        </p:sp>
        <p:sp>
          <p:nvSpPr>
            <p:cNvPr id="35" name="TextBox 35"/>
            <p:cNvSpPr txBox="1"/>
            <p:nvPr/>
          </p:nvSpPr>
          <p:spPr>
            <a:xfrm>
              <a:off x="1194626" y="4892754"/>
              <a:ext cx="3225306"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Residual skip between Fourier coefficients</a:t>
              </a:r>
            </a:p>
          </p:txBody>
        </p:sp>
      </p:grpSp>
      <p:grpSp>
        <p:nvGrpSpPr>
          <p:cNvPr id="45" name="Group 45"/>
          <p:cNvGrpSpPr/>
          <p:nvPr/>
        </p:nvGrpSpPr>
        <p:grpSpPr>
          <a:xfrm>
            <a:off x="6172200" y="3448050"/>
            <a:ext cx="5410200" cy="1828800"/>
            <a:chOff x="6172200" y="3448050"/>
            <a:chExt cx="5410200" cy="1828800"/>
          </a:xfrm>
        </p:grpSpPr>
        <p:sp>
          <p:nvSpPr>
            <p:cNvPr id="37" name="Rectangle 37"/>
            <p:cNvSpPr/>
            <p:nvPr/>
          </p:nvSpPr>
          <p:spPr>
            <a:xfrm>
              <a:off x="6172200" y="3448050"/>
              <a:ext cx="5410200" cy="1828800"/>
            </a:xfrm>
            <a:prstGeom prst="roundRect">
              <a:avLst>
                <a:gd name="adj" fmla="val 7292"/>
              </a:avLst>
            </a:prstGeom>
            <a:solidFill>
              <a:schemeClr val="accent5"/>
            </a:solidFill>
            <a:ln w="14288">
              <a:solidFill>
                <a:srgbClr val="26455F"/>
              </a:solidFill>
            </a:ln>
          </p:spPr>
        </p:sp>
        <p:sp>
          <p:nvSpPr>
            <p:cNvPr id="38" name="Rectangle 38"/>
            <p:cNvSpPr/>
            <p:nvPr/>
          </p:nvSpPr>
          <p:spPr>
            <a:xfrm>
              <a:off x="6172200" y="3448050"/>
              <a:ext cx="57150" cy="1828800"/>
            </a:xfrm>
            <a:prstGeom prst="roundRect">
              <a:avLst>
                <a:gd name="adj" fmla="val 50000"/>
              </a:avLst>
            </a:prstGeom>
            <a:solidFill>
              <a:srgbClr val="F2685C"/>
            </a:solidFill>
            <a:ln>
              <a:noFill/>
            </a:ln>
          </p:spPr>
        </p:sp>
        <p:sp>
          <p:nvSpPr>
            <p:cNvPr id="39" name="TextBox 39"/>
            <p:cNvSpPr txBox="1"/>
            <p:nvPr/>
          </p:nvSpPr>
          <p:spPr>
            <a:xfrm>
              <a:off x="6432614" y="3676412"/>
              <a:ext cx="2557702"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DFT as dense matmul, not FFT</a:t>
              </a:r>
            </a:p>
          </p:txBody>
        </p:sp>
        <p:sp>
          <p:nvSpPr>
            <p:cNvPr id="40" name="TextBox 40"/>
            <p:cNvSpPr txBox="1"/>
            <p:nvPr/>
          </p:nvSpPr>
          <p:spPr>
            <a:xfrm>
              <a:off x="6433566" y="3982402"/>
              <a:ext cx="42604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Compute Fourier transforms as dense matrix multiplications:</a:t>
              </a:r>
            </a:p>
          </p:txBody>
        </p:sp>
        <p:sp>
          <p:nvSpPr>
            <p:cNvPr id="41" name="TextBox 41"/>
            <p:cNvSpPr txBox="1"/>
            <p:nvPr/>
          </p:nvSpPr>
          <p:spPr>
            <a:xfrm>
              <a:off x="6433566" y="4191952"/>
              <a:ext cx="41736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on TPUs matmul is extremely fast, while memory reshuffling</a:t>
              </a:r>
            </a:p>
          </p:txBody>
        </p:sp>
        <p:sp>
          <p:nvSpPr>
            <p:cNvPr id="42" name="TextBox 42"/>
            <p:cNvSpPr txBox="1"/>
            <p:nvPr/>
          </p:nvSpPr>
          <p:spPr>
            <a:xfrm>
              <a:off x="6433566" y="4401502"/>
              <a:ext cx="12686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is the bottleneck.</a:t>
              </a:r>
            </a:p>
          </p:txBody>
        </p:sp>
        <p:sp>
          <p:nvSpPr>
            <p:cNvPr id="43" name="Rectangle 43"/>
            <p:cNvSpPr/>
            <p:nvPr/>
          </p:nvSpPr>
          <p:spPr>
            <a:xfrm>
              <a:off x="6438900" y="4800600"/>
              <a:ext cx="4876800" cy="361950"/>
            </a:xfrm>
            <a:prstGeom prst="roundRect">
              <a:avLst>
                <a:gd name="adj" fmla="val 21053"/>
              </a:avLst>
            </a:prstGeom>
            <a:solidFill>
              <a:schemeClr val="accent6"/>
            </a:solidFill>
            <a:ln w="14288">
              <a:solidFill>
                <a:srgbClr val="26455F"/>
              </a:solidFill>
            </a:ln>
          </p:spPr>
        </p:sp>
        <p:sp>
          <p:nvSpPr>
            <p:cNvPr id="44" name="TextBox 44"/>
            <p:cNvSpPr txBox="1"/>
            <p:nvPr/>
          </p:nvSpPr>
          <p:spPr>
            <a:xfrm>
              <a:off x="7654655" y="4917281"/>
              <a:ext cx="2445290"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FFT reshuffle -&gt; matmul on TPU</a:t>
              </a:r>
            </a:p>
          </p:txBody>
        </p:sp>
      </p:grpSp>
      <p:sp>
        <p:nvSpPr>
          <p:cNvPr id="46" name="cue_s05_c1_method_builds_spin_weighted_spherica" title="cue_s05_c1_method_builds_spin_weighted_spherica" descr="cue_s05_c1_method_builds_spin_weighted_spherica The method builds on spin-weighted spherical CNNs. Its centerpiece is a set of new components that all live in the spectral domain."/>
          <p:cNvSpPr/>
          <p:nvPr/>
        </p:nvSpPr>
        <p:spPr>
          <a:xfrm>
            <a:off x="60960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2_phase_collapse_nonlinearity_takes_mo" title="cue_s05_c2_phase_collapse_nonlinearity_takes_mo" descr="cue_s05_c2_phase_collapse_nonlinearity_takes_mo A phase collapse nonlinearity takes the modulus of the features to collapse their phase, which restores rotation invariance while losing no information in the nonzero spins."/>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3_batch_normalization_pooling_also_mov" title="cue_s05_c3_batch_normalization_pooling_also_mov" descr="cue_s05_c3_batch_normalization_pooling_also_mov Batch normalization and pooling are also moved into the spectral domain, and the residual block adds its skip connection directly between Fourier coefficients."/>
          <p:cNvSpPr/>
          <p:nvPr/>
        </p:nvSpPr>
        <p:spPr>
          <a:xfrm>
            <a:off x="609600" y="3448202"/>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4_implementation_side_authors_compute" title="cue_s05_c4_implementation_side_authors_compute" descr="cue_s05_c4_implementation_side_authors_compute On the implementation side, the authors compute the Fourier transforms as dense matrix multiplications rather than fast Fourier transforms, because on TPUs matrix multiplies are extremely fast while memory reshuffling is the bottleneck."/>
          <p:cNvSpPr/>
          <p:nvPr/>
        </p:nvSpPr>
        <p:spPr>
          <a:xfrm>
            <a:off x="6171590" y="3448202"/>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82142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very different spherical domains</a:t>
            </a:r>
          </a:p>
        </p:txBody>
      </p:sp>
      <p:grpSp>
        <p:nvGrpSpPr>
          <p:cNvPr id="8" name="Group 8"/>
          <p:cNvGrpSpPr/>
          <p:nvPr/>
        </p:nvGrpSpPr>
        <p:grpSpPr>
          <a:xfrm>
            <a:off x="609600" y="1504950"/>
            <a:ext cx="10972800" cy="609600"/>
            <a:chOff x="609600" y="1504950"/>
            <a:chExt cx="10972800" cy="609600"/>
          </a:xfrm>
        </p:grpSpPr>
        <p:sp>
          <p:nvSpPr>
            <p:cNvPr id="5" name="Rectangle 5"/>
            <p:cNvSpPr/>
            <p:nvPr/>
          </p:nvSpPr>
          <p:spPr>
            <a:xfrm>
              <a:off x="609600" y="1504950"/>
              <a:ext cx="10972800" cy="609600"/>
            </a:xfrm>
            <a:prstGeom prst="roundRect">
              <a:avLst>
                <a:gd name="adj" fmla="val 21875"/>
              </a:avLst>
            </a:prstGeom>
            <a:solidFill>
              <a:schemeClr val="accent5"/>
            </a:solidFill>
            <a:ln w="14288">
              <a:solidFill>
                <a:srgbClr val="26455F"/>
              </a:solidFill>
            </a:ln>
          </p:spPr>
        </p:sp>
        <p:sp>
          <p:nvSpPr>
            <p:cNvPr id="6" name="Rectangle 6"/>
            <p:cNvSpPr/>
            <p:nvPr/>
          </p:nvSpPr>
          <p:spPr>
            <a:xfrm>
              <a:off x="609600" y="1504950"/>
              <a:ext cx="57150" cy="609600"/>
            </a:xfrm>
            <a:prstGeom prst="roundRect">
              <a:avLst>
                <a:gd name="adj" fmla="val 50000"/>
              </a:avLst>
            </a:prstGeom>
            <a:solidFill>
              <a:schemeClr val="accent2"/>
            </a:solidFill>
            <a:ln>
              <a:noFill/>
            </a:ln>
          </p:spPr>
        </p:sp>
        <p:sp>
          <p:nvSpPr>
            <p:cNvPr id="7" name="TextBox 7"/>
            <p:cNvSpPr txBox="1"/>
            <p:nvPr/>
          </p:nvSpPr>
          <p:spPr>
            <a:xfrm>
              <a:off x="870014" y="1742837"/>
              <a:ext cx="8081161"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experiments span two very different domains: small molecules and the global atmosphere.</a:t>
              </a:r>
            </a:p>
          </p:txBody>
        </p:sp>
      </p:grpSp>
      <p:grpSp>
        <p:nvGrpSpPr>
          <p:cNvPr id="25" name="Group 25"/>
          <p:cNvGrpSpPr/>
          <p:nvPr/>
        </p:nvGrpSpPr>
        <p:grpSpPr>
          <a:xfrm>
            <a:off x="609600" y="2324100"/>
            <a:ext cx="5334000" cy="2914650"/>
            <a:chOff x="609600" y="2324100"/>
            <a:chExt cx="5334000" cy="2914650"/>
          </a:xfrm>
        </p:grpSpPr>
        <p:sp>
          <p:nvSpPr>
            <p:cNvPr id="9" name="Rectangle 9"/>
            <p:cNvSpPr/>
            <p:nvPr/>
          </p:nvSpPr>
          <p:spPr>
            <a:xfrm>
              <a:off x="609600" y="2324100"/>
              <a:ext cx="5334000" cy="2914650"/>
            </a:xfrm>
            <a:prstGeom prst="roundRect">
              <a:avLst>
                <a:gd name="adj" fmla="val 4575"/>
              </a:avLst>
            </a:prstGeom>
            <a:solidFill>
              <a:schemeClr val="accent5"/>
            </a:solidFill>
            <a:ln w="14288">
              <a:solidFill>
                <a:srgbClr val="26455F"/>
              </a:solidFill>
            </a:ln>
          </p:spPr>
        </p:sp>
        <p:sp>
          <p:nvSpPr>
            <p:cNvPr id="10" name="Rectangle 10"/>
            <p:cNvSpPr/>
            <p:nvPr/>
          </p:nvSpPr>
          <p:spPr>
            <a:xfrm>
              <a:off x="609600" y="2324100"/>
              <a:ext cx="57150" cy="2914650"/>
            </a:xfrm>
            <a:prstGeom prst="roundRect">
              <a:avLst>
                <a:gd name="adj" fmla="val 50000"/>
              </a:avLst>
            </a:prstGeom>
            <a:solidFill>
              <a:schemeClr val="accent2"/>
            </a:solidFill>
            <a:ln>
              <a:noFill/>
            </a:ln>
          </p:spPr>
        </p:sp>
        <p:sp>
          <p:nvSpPr>
            <p:cNvPr id="11" name="TextBox 11"/>
            <p:cNvSpPr txBox="1"/>
            <p:nvPr/>
          </p:nvSpPr>
          <p:spPr>
            <a:xfrm>
              <a:off x="869823" y="2586514"/>
              <a:ext cx="3300558"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QM9 · molecular property regression</a:t>
              </a:r>
            </a:p>
          </p:txBody>
        </p:sp>
        <p:sp>
          <p:nvSpPr>
            <p:cNvPr id="12" name="TextBox 12"/>
            <p:cNvSpPr txBox="1"/>
            <p:nvPr/>
          </p:nvSpPr>
          <p:spPr>
            <a:xfrm>
              <a:off x="870776" y="2930604"/>
              <a:ext cx="386047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Small organic molecules, each mapped onto the sphere</a:t>
              </a:r>
            </a:p>
          </p:txBody>
        </p:sp>
        <p:sp>
          <p:nvSpPr>
            <p:cNvPr id="13" name="TextBox 13"/>
            <p:cNvSpPr txBox="1"/>
            <p:nvPr/>
          </p:nvSpPr>
          <p:spPr>
            <a:xfrm>
              <a:off x="870776" y="3140154"/>
              <a:ext cx="269631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for rotation-equivariant regression.</a:t>
              </a:r>
            </a:p>
          </p:txBody>
        </p:sp>
        <p:sp>
          <p:nvSpPr>
            <p:cNvPr id="14" name="Rectangle 14"/>
            <p:cNvSpPr/>
            <p:nvPr/>
          </p:nvSpPr>
          <p:spPr>
            <a:xfrm>
              <a:off x="876300" y="3448050"/>
              <a:ext cx="1600200" cy="952500"/>
            </a:xfrm>
            <a:prstGeom prst="roundRect">
              <a:avLst>
                <a:gd name="adj" fmla="val 12000"/>
              </a:avLst>
            </a:prstGeom>
            <a:solidFill>
              <a:schemeClr val="accent6"/>
            </a:solidFill>
            <a:ln w="14288">
              <a:solidFill>
                <a:srgbClr val="26455F"/>
              </a:solidFill>
            </a:ln>
          </p:spPr>
        </p:sp>
        <p:sp>
          <p:nvSpPr>
            <p:cNvPr id="15" name="TextBox 15"/>
            <p:cNvSpPr txBox="1"/>
            <p:nvPr/>
          </p:nvSpPr>
          <p:spPr>
            <a:xfrm>
              <a:off x="1295324" y="3719512"/>
              <a:ext cx="762152"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134K</a:t>
              </a:r>
            </a:p>
          </p:txBody>
        </p:sp>
        <p:sp>
          <p:nvSpPr>
            <p:cNvPr id="16" name="TextBox 16"/>
            <p:cNvSpPr txBox="1"/>
            <p:nvPr/>
          </p:nvSpPr>
          <p:spPr>
            <a:xfrm>
              <a:off x="1362715" y="4127897"/>
              <a:ext cx="62737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molecules</a:t>
              </a:r>
            </a:p>
          </p:txBody>
        </p:sp>
        <p:sp>
          <p:nvSpPr>
            <p:cNvPr id="17" name="Rectangle 17"/>
            <p:cNvSpPr/>
            <p:nvPr/>
          </p:nvSpPr>
          <p:spPr>
            <a:xfrm>
              <a:off x="2590800" y="3448050"/>
              <a:ext cx="1600200" cy="952500"/>
            </a:xfrm>
            <a:prstGeom prst="roundRect">
              <a:avLst>
                <a:gd name="adj" fmla="val 12000"/>
              </a:avLst>
            </a:prstGeom>
            <a:solidFill>
              <a:schemeClr val="accent6"/>
            </a:solidFill>
            <a:ln w="14288">
              <a:solidFill>
                <a:srgbClr val="26455F"/>
              </a:solidFill>
            </a:ln>
          </p:spPr>
        </p:sp>
        <p:sp>
          <p:nvSpPr>
            <p:cNvPr id="18" name="TextBox 18"/>
            <p:cNvSpPr txBox="1"/>
            <p:nvPr/>
          </p:nvSpPr>
          <p:spPr>
            <a:xfrm>
              <a:off x="3029626" y="3719512"/>
              <a:ext cx="722547"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&lt;=29</a:t>
              </a:r>
            </a:p>
          </p:txBody>
        </p:sp>
        <p:sp>
          <p:nvSpPr>
            <p:cNvPr id="19" name="TextBox 19"/>
            <p:cNvSpPr txBox="1"/>
            <p:nvPr/>
          </p:nvSpPr>
          <p:spPr>
            <a:xfrm>
              <a:off x="3024067" y="4127897"/>
              <a:ext cx="73366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atoms each</a:t>
              </a:r>
            </a:p>
          </p:txBody>
        </p:sp>
        <p:sp>
          <p:nvSpPr>
            <p:cNvPr id="20" name="Rectangle 20"/>
            <p:cNvSpPr/>
            <p:nvPr/>
          </p:nvSpPr>
          <p:spPr>
            <a:xfrm>
              <a:off x="4305300" y="3448050"/>
              <a:ext cx="1600200" cy="952500"/>
            </a:xfrm>
            <a:prstGeom prst="roundRect">
              <a:avLst>
                <a:gd name="adj" fmla="val 12000"/>
              </a:avLst>
            </a:prstGeom>
            <a:solidFill>
              <a:schemeClr val="accent6"/>
            </a:solidFill>
            <a:ln w="14288">
              <a:solidFill>
                <a:srgbClr val="26455F"/>
              </a:solidFill>
            </a:ln>
          </p:spPr>
        </p:sp>
        <p:sp>
          <p:nvSpPr>
            <p:cNvPr id="21" name="TextBox 21"/>
            <p:cNvSpPr txBox="1"/>
            <p:nvPr/>
          </p:nvSpPr>
          <p:spPr>
            <a:xfrm>
              <a:off x="4919048" y="3719512"/>
              <a:ext cx="372704"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12</a:t>
              </a:r>
            </a:p>
          </p:txBody>
        </p:sp>
        <p:sp>
          <p:nvSpPr>
            <p:cNvPr id="22" name="TextBox 22"/>
            <p:cNvSpPr txBox="1"/>
            <p:nvPr/>
          </p:nvSpPr>
          <p:spPr>
            <a:xfrm>
              <a:off x="4476149" y="4127897"/>
              <a:ext cx="125850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regression targets</a:t>
              </a:r>
            </a:p>
          </p:txBody>
        </p:sp>
        <p:sp>
          <p:nvSpPr>
            <p:cNvPr id="23" name="Rectangle 23"/>
            <p:cNvSpPr/>
            <p:nvPr/>
          </p:nvSpPr>
          <p:spPr>
            <a:xfrm>
              <a:off x="876300" y="4552950"/>
              <a:ext cx="4800600" cy="457200"/>
            </a:xfrm>
            <a:prstGeom prst="roundRect">
              <a:avLst>
                <a:gd name="adj" fmla="val 16667"/>
              </a:avLst>
            </a:prstGeom>
            <a:solidFill>
              <a:schemeClr val="accent6"/>
            </a:solidFill>
            <a:ln w="14288">
              <a:solidFill>
                <a:srgbClr val="26455F"/>
              </a:solidFill>
            </a:ln>
          </p:spPr>
        </p:sp>
        <p:sp>
          <p:nvSpPr>
            <p:cNvPr id="24" name="TextBox 24"/>
            <p:cNvSpPr txBox="1"/>
            <p:nvPr/>
          </p:nvSpPr>
          <p:spPr>
            <a:xfrm>
              <a:off x="1061466" y="4715828"/>
              <a:ext cx="4396436"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targets: energetic · electronic · thermodynamic properties</a:t>
              </a:r>
            </a:p>
          </p:txBody>
        </p:sp>
      </p:grpSp>
      <p:grpSp>
        <p:nvGrpSpPr>
          <p:cNvPr id="41" name="Group 41"/>
          <p:cNvGrpSpPr/>
          <p:nvPr/>
        </p:nvGrpSpPr>
        <p:grpSpPr>
          <a:xfrm>
            <a:off x="6248400" y="2324100"/>
            <a:ext cx="5334000" cy="2914650"/>
            <a:chOff x="6248400" y="2324100"/>
            <a:chExt cx="5334000" cy="2914650"/>
          </a:xfrm>
        </p:grpSpPr>
        <p:sp>
          <p:nvSpPr>
            <p:cNvPr id="26" name="Rectangle 26"/>
            <p:cNvSpPr/>
            <p:nvPr/>
          </p:nvSpPr>
          <p:spPr>
            <a:xfrm>
              <a:off x="6248400" y="2324100"/>
              <a:ext cx="5334000" cy="2914650"/>
            </a:xfrm>
            <a:prstGeom prst="roundRect">
              <a:avLst>
                <a:gd name="adj" fmla="val 4575"/>
              </a:avLst>
            </a:prstGeom>
            <a:solidFill>
              <a:schemeClr val="accent5"/>
            </a:solidFill>
            <a:ln w="14288">
              <a:solidFill>
                <a:srgbClr val="26455F"/>
              </a:solidFill>
            </a:ln>
          </p:spPr>
        </p:sp>
        <p:sp>
          <p:nvSpPr>
            <p:cNvPr id="27" name="Rectangle 27"/>
            <p:cNvSpPr/>
            <p:nvPr/>
          </p:nvSpPr>
          <p:spPr>
            <a:xfrm>
              <a:off x="6248400" y="2324100"/>
              <a:ext cx="57150" cy="2914650"/>
            </a:xfrm>
            <a:prstGeom prst="roundRect">
              <a:avLst>
                <a:gd name="adj" fmla="val 50000"/>
              </a:avLst>
            </a:prstGeom>
            <a:solidFill>
              <a:srgbClr val="34D3C0"/>
            </a:solidFill>
            <a:ln>
              <a:noFill/>
            </a:ln>
          </p:spPr>
        </p:sp>
        <p:sp>
          <p:nvSpPr>
            <p:cNvPr id="28" name="TextBox 28"/>
            <p:cNvSpPr txBox="1"/>
            <p:nvPr/>
          </p:nvSpPr>
          <p:spPr>
            <a:xfrm>
              <a:off x="6508623" y="2586514"/>
              <a:ext cx="3140523" cy="249364"/>
            </a:xfrm>
            <a:prstGeom prst="rect">
              <a:avLst/>
            </a:prstGeom>
            <a:noFill/>
            <a:ln>
              <a:noFill/>
            </a:ln>
          </p:spPr>
          <p:txBody>
            <a:bodyPr wrap="none" lIns="0" tIns="0" rIns="0" bIns="0" anchor="t" anchorCtr="0">
              <a:spAutoFit/>
            </a:bodyPr>
            <a:lstStyle/>
            <a:p>
              <a:pPr algn="l"/>
              <a:r>
                <a:rPr lang="en-US" sz="1280" b="1" dirty="0">
                  <a:solidFill>
                    <a:srgbClr val="34D3C0"/>
                  </a:solidFill>
                  <a:latin typeface="+mn-lt"/>
                  <a:ea typeface="+mn-ea"/>
                  <a:cs typeface="+mn-cs"/>
                </a:rPr>
                <a:t>WeatherBench / ERA5 · forecasting</a:t>
              </a:r>
            </a:p>
          </p:txBody>
        </p:sp>
        <p:sp>
          <p:nvSpPr>
            <p:cNvPr id="29" name="TextBox 29"/>
            <p:cNvSpPr txBox="1"/>
            <p:nvPr/>
          </p:nvSpPr>
          <p:spPr>
            <a:xfrm>
              <a:off x="6509576" y="2930604"/>
              <a:ext cx="353050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Models train on ERA5 reanalysis data through the</a:t>
              </a:r>
            </a:p>
          </p:txBody>
        </p:sp>
        <p:sp>
          <p:nvSpPr>
            <p:cNvPr id="30" name="TextBox 30"/>
            <p:cNvSpPr txBox="1"/>
            <p:nvPr/>
          </p:nvSpPr>
          <p:spPr>
            <a:xfrm>
              <a:off x="6509576" y="3140154"/>
              <a:ext cx="189939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WeatherBench benchmark.</a:t>
              </a:r>
            </a:p>
          </p:txBody>
        </p:sp>
        <p:sp>
          <p:nvSpPr>
            <p:cNvPr id="31" name="Rectangle 31"/>
            <p:cNvSpPr/>
            <p:nvPr/>
          </p:nvSpPr>
          <p:spPr>
            <a:xfrm>
              <a:off x="6515100" y="3543300"/>
              <a:ext cx="4800600" cy="342900"/>
            </a:xfrm>
            <a:prstGeom prst="roundRect">
              <a:avLst>
                <a:gd name="adj" fmla="val 22222"/>
              </a:avLst>
            </a:prstGeom>
            <a:solidFill>
              <a:schemeClr val="accent6"/>
            </a:solidFill>
            <a:ln w="14288">
              <a:solidFill>
                <a:srgbClr val="26455F"/>
              </a:solidFill>
            </a:ln>
          </p:spPr>
        </p:sp>
        <p:sp>
          <p:nvSpPr>
            <p:cNvPr id="32" name="Ellipse 32"/>
            <p:cNvSpPr/>
            <p:nvPr/>
          </p:nvSpPr>
          <p:spPr>
            <a:xfrm>
              <a:off x="6638925" y="3667125"/>
              <a:ext cx="95250" cy="95250"/>
            </a:xfrm>
            <a:prstGeom prst="ellipse">
              <a:avLst/>
            </a:prstGeom>
            <a:solidFill>
              <a:schemeClr val="accent2"/>
            </a:solidFill>
            <a:ln>
              <a:noFill/>
            </a:ln>
          </p:spPr>
        </p:sp>
        <p:sp>
          <p:nvSpPr>
            <p:cNvPr id="33" name="TextBox 33"/>
            <p:cNvSpPr txBox="1"/>
            <p:nvPr/>
          </p:nvSpPr>
          <p:spPr>
            <a:xfrm>
              <a:off x="6833806" y="3653076"/>
              <a:ext cx="322397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Geopotential Z500 and temperature T850, T2M</a:t>
              </a:r>
            </a:p>
          </p:txBody>
        </p:sp>
        <p:sp>
          <p:nvSpPr>
            <p:cNvPr id="34" name="Rectangle 34"/>
            <p:cNvSpPr/>
            <p:nvPr/>
          </p:nvSpPr>
          <p:spPr>
            <a:xfrm>
              <a:off x="6515100" y="3962400"/>
              <a:ext cx="4800600" cy="342900"/>
            </a:xfrm>
            <a:prstGeom prst="roundRect">
              <a:avLst>
                <a:gd name="adj" fmla="val 22222"/>
              </a:avLst>
            </a:prstGeom>
            <a:solidFill>
              <a:schemeClr val="accent6"/>
            </a:solidFill>
            <a:ln w="14288">
              <a:solidFill>
                <a:srgbClr val="26455F"/>
              </a:solidFill>
            </a:ln>
          </p:spPr>
        </p:sp>
        <p:sp>
          <p:nvSpPr>
            <p:cNvPr id="35" name="Ellipse 35"/>
            <p:cNvSpPr/>
            <p:nvPr/>
          </p:nvSpPr>
          <p:spPr>
            <a:xfrm>
              <a:off x="6638925" y="4086225"/>
              <a:ext cx="95250" cy="95250"/>
            </a:xfrm>
            <a:prstGeom prst="ellipse">
              <a:avLst/>
            </a:prstGeom>
            <a:solidFill>
              <a:srgbClr val="34D3C0"/>
            </a:solidFill>
            <a:ln>
              <a:noFill/>
            </a:ln>
          </p:spPr>
        </p:sp>
        <p:sp>
          <p:nvSpPr>
            <p:cNvPr id="36" name="TextBox 36"/>
            <p:cNvSpPr txBox="1"/>
            <p:nvPr/>
          </p:nvSpPr>
          <p:spPr>
            <a:xfrm>
              <a:off x="6833806" y="4072176"/>
              <a:ext cx="263001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3- and 5-day horizons, out to 28 days</a:t>
              </a:r>
            </a:p>
          </p:txBody>
        </p:sp>
        <p:sp>
          <p:nvSpPr>
            <p:cNvPr id="37" name="Rectangle 37"/>
            <p:cNvSpPr/>
            <p:nvPr/>
          </p:nvSpPr>
          <p:spPr>
            <a:xfrm>
              <a:off x="6515100" y="4381500"/>
              <a:ext cx="4800600" cy="342900"/>
            </a:xfrm>
            <a:prstGeom prst="roundRect">
              <a:avLst>
                <a:gd name="adj" fmla="val 22222"/>
              </a:avLst>
            </a:prstGeom>
            <a:solidFill>
              <a:schemeClr val="accent6"/>
            </a:solidFill>
            <a:ln w="14288">
              <a:solidFill>
                <a:srgbClr val="26455F"/>
              </a:solidFill>
            </a:ln>
          </p:spPr>
        </p:sp>
        <p:sp>
          <p:nvSpPr>
            <p:cNvPr id="38" name="Ellipse 38"/>
            <p:cNvSpPr/>
            <p:nvPr/>
          </p:nvSpPr>
          <p:spPr>
            <a:xfrm>
              <a:off x="6638925" y="4505325"/>
              <a:ext cx="95250" cy="95250"/>
            </a:xfrm>
            <a:prstGeom prst="ellipse">
              <a:avLst/>
            </a:prstGeom>
            <a:solidFill>
              <a:srgbClr val="F2C14E"/>
            </a:solidFill>
            <a:ln>
              <a:noFill/>
            </a:ln>
          </p:spPr>
        </p:sp>
        <p:sp>
          <p:nvSpPr>
            <p:cNvPr id="39" name="TextBox 39"/>
            <p:cNvSpPr txBox="1"/>
            <p:nvPr/>
          </p:nvSpPr>
          <p:spPr>
            <a:xfrm>
              <a:off x="6833806" y="4491276"/>
              <a:ext cx="2634377"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Iterative high-resolution forecasting</a:t>
              </a:r>
            </a:p>
          </p:txBody>
        </p:sp>
        <p:sp>
          <p:nvSpPr>
            <p:cNvPr id="40" name="TextBox 40"/>
            <p:cNvSpPr txBox="1"/>
            <p:nvPr/>
          </p:nvSpPr>
          <p:spPr>
            <a:xfrm>
              <a:off x="6509956" y="4862751"/>
              <a:ext cx="4143320" cy="198025"/>
            </a:xfrm>
            <a:prstGeom prst="rect">
              <a:avLst/>
            </a:prstGeom>
            <a:noFill/>
            <a:ln>
              <a:noFill/>
            </a:ln>
          </p:spPr>
          <p:txBody>
            <a:bodyPr wrap="none" lIns="0" tIns="0" rIns="0" bIns="0" anchor="t" anchorCtr="0">
              <a:spAutoFit/>
            </a:bodyPr>
            <a:lstStyle/>
            <a:p>
              <a:pPr algn="l"/>
              <a:r>
                <a:rPr lang="en-US" sz="1010" b="1" dirty="0">
                  <a:solidFill>
                    <a:srgbClr val="6E869C"/>
                  </a:solidFill>
                  <a:latin typeface="+mn-lt"/>
                  <a:ea typeface="+mn-ea"/>
                  <a:cs typeface="+mn-cs"/>
                </a:rPr>
                <a:t>from short-range nowcasts to long-range global forecasts</a:t>
              </a:r>
            </a:p>
          </p:txBody>
        </p:sp>
      </p:grpSp>
      <p:sp>
        <p:nvSpPr>
          <p:cNvPr id="42" name="cue_s06_c1_experiments_span_two_very_different" title="cue_s06_c1_experiments_span_two_very_different" descr="cue_s06_c1_experiments_span_two_very_different The experiments span two very different domains."/>
          <p:cNvSpPr/>
          <p:nvPr/>
        </p:nvSpPr>
        <p:spPr>
          <a:xfrm>
            <a:off x="609600" y="1504645"/>
            <a:ext cx="10972800" cy="609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6_c2_molecules_benchmark_qm9_one_hundred" title="cue_s06_c2_molecules_benchmark_qm9_one_hundred" descr="cue_s06_c2_molecules_benchmark_qm9_one_hundred For molecules, the benchmark is QM9, with one hundred thirty four thousand molecules, up to twenty nine atoms each, and twelve regression targets covering energetic, electronic, and thermodynamic properties."/>
          <p:cNvSpPr/>
          <p:nvPr/>
        </p:nvSpPr>
        <p:spPr>
          <a:xfrm>
            <a:off x="609600" y="2324176"/>
            <a:ext cx="5334000" cy="29146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6_c3_weather_models_trained_era5_reanalys" title="cue_s06_c3_weather_models_trained_era5_reanalys" descr="cue_s06_c3_weather_models_trained_era5_reanalys For weather, the models are trained on ERA5 reanalysis data through the WeatherBench benchmark, forecasting quantities like geopotential height and temperature at three and five day horizons, plus longer tasks reaching out to twenty eight days and iterative hi"/>
          <p:cNvSpPr/>
          <p:nvPr/>
        </p:nvSpPr>
        <p:spPr>
          <a:xfrm>
            <a:off x="6248399" y="2324176"/>
            <a:ext cx="5334000" cy="29146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61724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State of the art on molecules and weather</a:t>
            </a:r>
          </a:p>
        </p:txBody>
      </p:sp>
      <p:grpSp>
        <p:nvGrpSpPr>
          <p:cNvPr id="8" name="Group 8"/>
          <p:cNvGrpSpPr/>
          <p:nvPr/>
        </p:nvGrpSpPr>
        <p:grpSpPr>
          <a:xfrm>
            <a:off x="609600" y="1428750"/>
            <a:ext cx="10972800" cy="476250"/>
            <a:chOff x="609600" y="1428750"/>
            <a:chExt cx="10972800" cy="476250"/>
          </a:xfrm>
        </p:grpSpPr>
        <p:sp>
          <p:nvSpPr>
            <p:cNvPr id="5" name="Rectangle 5"/>
            <p:cNvSpPr/>
            <p:nvPr/>
          </p:nvSpPr>
          <p:spPr>
            <a:xfrm>
              <a:off x="609600" y="1428750"/>
              <a:ext cx="10972800" cy="476250"/>
            </a:xfrm>
            <a:prstGeom prst="roundRect">
              <a:avLst>
                <a:gd name="adj" fmla="val 28000"/>
              </a:avLst>
            </a:prstGeom>
            <a:solidFill>
              <a:schemeClr val="accent5"/>
            </a:solidFill>
            <a:ln w="14288">
              <a:solidFill>
                <a:srgbClr val="26455F"/>
              </a:solidFill>
            </a:ln>
          </p:spPr>
        </p:sp>
        <p:sp>
          <p:nvSpPr>
            <p:cNvPr id="6" name="Rectangle 6"/>
            <p:cNvSpPr/>
            <p:nvPr/>
          </p:nvSpPr>
          <p:spPr>
            <a:xfrm>
              <a:off x="609600" y="1428750"/>
              <a:ext cx="57150" cy="476250"/>
            </a:xfrm>
            <a:prstGeom prst="roundRect">
              <a:avLst>
                <a:gd name="adj" fmla="val 50000"/>
              </a:avLst>
            </a:prstGeom>
            <a:solidFill>
              <a:srgbClr val="48C78E"/>
            </a:solidFill>
            <a:ln>
              <a:noFill/>
            </a:ln>
          </p:spPr>
        </p:sp>
        <p:sp>
          <p:nvSpPr>
            <p:cNvPr id="7" name="TextBox 7"/>
            <p:cNvSpPr txBox="1"/>
            <p:nvPr/>
          </p:nvSpPr>
          <p:spPr>
            <a:xfrm>
              <a:off x="870014" y="1599962"/>
              <a:ext cx="8493243"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scaled spherical CNN is strong on both fronts - molecular regression and weather forecasting.</a:t>
              </a:r>
            </a:p>
          </p:txBody>
        </p:sp>
      </p:grpSp>
      <p:grpSp>
        <p:nvGrpSpPr>
          <p:cNvPr id="32" name="Group 32"/>
          <p:cNvGrpSpPr/>
          <p:nvPr/>
        </p:nvGrpSpPr>
        <p:grpSpPr>
          <a:xfrm>
            <a:off x="609600" y="2038350"/>
            <a:ext cx="5334000" cy="3200400"/>
            <a:chOff x="609600" y="2038350"/>
            <a:chExt cx="5334000" cy="3200400"/>
          </a:xfrm>
        </p:grpSpPr>
        <p:sp>
          <p:nvSpPr>
            <p:cNvPr id="9" name="Rectangle 9"/>
            <p:cNvSpPr/>
            <p:nvPr/>
          </p:nvSpPr>
          <p:spPr>
            <a:xfrm>
              <a:off x="609600" y="2038350"/>
              <a:ext cx="5334000" cy="3200400"/>
            </a:xfrm>
            <a:prstGeom prst="roundRect">
              <a:avLst>
                <a:gd name="adj" fmla="val 4167"/>
              </a:avLst>
            </a:prstGeom>
            <a:solidFill>
              <a:schemeClr val="accent5"/>
            </a:solidFill>
            <a:ln w="14288">
              <a:solidFill>
                <a:srgbClr val="26455F"/>
              </a:solidFill>
            </a:ln>
          </p:spPr>
        </p:sp>
        <p:sp>
          <p:nvSpPr>
            <p:cNvPr id="10" name="Rectangle 10"/>
            <p:cNvSpPr/>
            <p:nvPr/>
          </p:nvSpPr>
          <p:spPr>
            <a:xfrm>
              <a:off x="609600" y="2038350"/>
              <a:ext cx="57150" cy="3200400"/>
            </a:xfrm>
            <a:prstGeom prst="roundRect">
              <a:avLst>
                <a:gd name="adj" fmla="val 50000"/>
              </a:avLst>
            </a:prstGeom>
            <a:solidFill>
              <a:schemeClr val="accent2"/>
            </a:solidFill>
            <a:ln>
              <a:noFill/>
            </a:ln>
          </p:spPr>
        </p:sp>
        <p:sp>
          <p:nvSpPr>
            <p:cNvPr id="11" name="TextBox 11"/>
            <p:cNvSpPr txBox="1"/>
            <p:nvPr/>
          </p:nvSpPr>
          <p:spPr>
            <a:xfrm>
              <a:off x="870014" y="2247662"/>
              <a:ext cx="237392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QM9 · molecular regression</a:t>
              </a:r>
            </a:p>
          </p:txBody>
        </p:sp>
        <p:sp>
          <p:nvSpPr>
            <p:cNvPr id="12" name="TextBox 12"/>
            <p:cNvSpPr txBox="1"/>
            <p:nvPr/>
          </p:nvSpPr>
          <p:spPr>
            <a:xfrm>
              <a:off x="870966" y="2572702"/>
              <a:ext cx="339373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Reaches state of the art, beating the previously</a:t>
              </a:r>
            </a:p>
          </p:txBody>
        </p:sp>
        <p:sp>
          <p:nvSpPr>
            <p:cNvPr id="13" name="TextBox 13"/>
            <p:cNvSpPr txBox="1"/>
            <p:nvPr/>
          </p:nvSpPr>
          <p:spPr>
            <a:xfrm>
              <a:off x="870966" y="2772728"/>
              <a:ext cx="32405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dominant graph neural nets and transformers.</a:t>
              </a:r>
            </a:p>
          </p:txBody>
        </p:sp>
        <p:sp>
          <p:nvSpPr>
            <p:cNvPr id="14" name="Rectangle 14"/>
            <p:cNvSpPr/>
            <p:nvPr/>
          </p:nvSpPr>
          <p:spPr>
            <a:xfrm>
              <a:off x="876300" y="3105150"/>
              <a:ext cx="1600200" cy="952500"/>
            </a:xfrm>
            <a:prstGeom prst="roundRect">
              <a:avLst>
                <a:gd name="adj" fmla="val 12000"/>
              </a:avLst>
            </a:prstGeom>
            <a:solidFill>
              <a:schemeClr val="accent6"/>
            </a:solidFill>
            <a:ln w="14288">
              <a:solidFill>
                <a:srgbClr val="26455F"/>
              </a:solidFill>
            </a:ln>
          </p:spPr>
        </p:sp>
        <p:sp>
          <p:nvSpPr>
            <p:cNvPr id="15" name="TextBox 15"/>
            <p:cNvSpPr txBox="1"/>
            <p:nvPr/>
          </p:nvSpPr>
          <p:spPr>
            <a:xfrm>
              <a:off x="1219714" y="3376612"/>
              <a:ext cx="913371"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8 / 12</a:t>
              </a:r>
            </a:p>
          </p:txBody>
        </p:sp>
        <p:sp>
          <p:nvSpPr>
            <p:cNvPr id="16" name="TextBox 16"/>
            <p:cNvSpPr txBox="1"/>
            <p:nvPr/>
          </p:nvSpPr>
          <p:spPr>
            <a:xfrm>
              <a:off x="1151000" y="3784997"/>
              <a:ext cx="105079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targets, Split 1</a:t>
              </a:r>
            </a:p>
          </p:txBody>
        </p:sp>
        <p:sp>
          <p:nvSpPr>
            <p:cNvPr id="17" name="Rectangle 17"/>
            <p:cNvSpPr/>
            <p:nvPr/>
          </p:nvSpPr>
          <p:spPr>
            <a:xfrm>
              <a:off x="2590800" y="3105150"/>
              <a:ext cx="1600200" cy="952500"/>
            </a:xfrm>
            <a:prstGeom prst="roundRect">
              <a:avLst>
                <a:gd name="adj" fmla="val 12000"/>
              </a:avLst>
            </a:prstGeom>
            <a:solidFill>
              <a:schemeClr val="accent6"/>
            </a:solidFill>
            <a:ln w="14288">
              <a:solidFill>
                <a:srgbClr val="26455F"/>
              </a:solidFill>
            </a:ln>
          </p:spPr>
        </p:sp>
        <p:sp>
          <p:nvSpPr>
            <p:cNvPr id="18" name="TextBox 18"/>
            <p:cNvSpPr txBox="1"/>
            <p:nvPr/>
          </p:nvSpPr>
          <p:spPr>
            <a:xfrm>
              <a:off x="2934214" y="3376612"/>
              <a:ext cx="913371"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9 / 12</a:t>
              </a:r>
            </a:p>
          </p:txBody>
        </p:sp>
        <p:sp>
          <p:nvSpPr>
            <p:cNvPr id="19" name="TextBox 19"/>
            <p:cNvSpPr txBox="1"/>
            <p:nvPr/>
          </p:nvSpPr>
          <p:spPr>
            <a:xfrm>
              <a:off x="2865500" y="3784997"/>
              <a:ext cx="105079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targets, Split 2</a:t>
              </a:r>
            </a:p>
          </p:txBody>
        </p:sp>
        <p:sp>
          <p:nvSpPr>
            <p:cNvPr id="20" name="TextBox 20"/>
            <p:cNvSpPr txBox="1"/>
            <p:nvPr/>
          </p:nvSpPr>
          <p:spPr>
            <a:xfrm>
              <a:off x="4754606" y="3177540"/>
              <a:ext cx="663489" cy="352044"/>
            </a:xfrm>
            <a:prstGeom prst="rect">
              <a:avLst/>
            </a:prstGeom>
            <a:noFill/>
            <a:ln>
              <a:noFill/>
            </a:ln>
          </p:spPr>
          <p:txBody>
            <a:bodyPr wrap="none" lIns="0" tIns="0" rIns="0" bIns="0" anchor="t" anchorCtr="0">
              <a:spAutoFit/>
            </a:bodyPr>
            <a:lstStyle/>
            <a:p>
              <a:pPr algn="ctr"/>
              <a:r>
                <a:rPr lang="en-US" sz="1800" b="1" dirty="0">
                  <a:solidFill>
                    <a:srgbClr val="48C78E"/>
                  </a:solidFill>
                  <a:latin typeface="+mn-lt"/>
                  <a:ea typeface="+mn-ea"/>
                  <a:cs typeface="+mn-cs"/>
                </a:rPr>
                <a:t>SOTA</a:t>
              </a:r>
            </a:p>
          </p:txBody>
        </p:sp>
        <p:sp>
          <p:nvSpPr>
            <p:cNvPr id="21" name="TextBox 21"/>
            <p:cNvSpPr txBox="1"/>
            <p:nvPr/>
          </p:nvSpPr>
          <p:spPr>
            <a:xfrm>
              <a:off x="4777585" y="3499247"/>
              <a:ext cx="61753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vs GNNs &amp;</a:t>
              </a:r>
            </a:p>
          </p:txBody>
        </p:sp>
        <p:sp>
          <p:nvSpPr>
            <p:cNvPr id="22" name="TextBox 22"/>
            <p:cNvSpPr txBox="1"/>
            <p:nvPr/>
          </p:nvSpPr>
          <p:spPr>
            <a:xfrm>
              <a:off x="4629830" y="3670697"/>
              <a:ext cx="91304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transformers</a:t>
              </a:r>
            </a:p>
          </p:txBody>
        </p:sp>
        <p:sp>
          <p:nvSpPr>
            <p:cNvPr id="23" name="TextBox 23"/>
            <p:cNvSpPr txBox="1"/>
            <p:nvPr/>
          </p:nvSpPr>
          <p:spPr>
            <a:xfrm>
              <a:off x="871156" y="4310301"/>
              <a:ext cx="3177785"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State-of-the-art targets (higher is better)</a:t>
              </a:r>
            </a:p>
          </p:txBody>
        </p:sp>
        <p:sp>
          <p:nvSpPr>
            <p:cNvPr id="24" name="Rectangle 24"/>
            <p:cNvSpPr/>
            <p:nvPr/>
          </p:nvSpPr>
          <p:spPr>
            <a:xfrm>
              <a:off x="2286000" y="4572000"/>
              <a:ext cx="2857500" cy="209550"/>
            </a:xfrm>
            <a:prstGeom prst="roundRect">
              <a:avLst>
                <a:gd name="adj" fmla="val 27273"/>
              </a:avLst>
            </a:prstGeom>
            <a:solidFill>
              <a:srgbClr val="0E2334"/>
            </a:solidFill>
            <a:ln w="9525">
              <a:solidFill>
                <a:srgbClr val="26455F"/>
              </a:solidFill>
            </a:ln>
          </p:spPr>
        </p:sp>
        <p:sp>
          <p:nvSpPr>
            <p:cNvPr id="25" name="Rectangle 25"/>
            <p:cNvSpPr/>
            <p:nvPr/>
          </p:nvSpPr>
          <p:spPr>
            <a:xfrm>
              <a:off x="2286000" y="4572000"/>
              <a:ext cx="2143125" cy="209550"/>
            </a:xfrm>
            <a:prstGeom prst="roundRect">
              <a:avLst>
                <a:gd name="adj" fmla="val 27273"/>
              </a:avLst>
            </a:prstGeom>
            <a:solidFill>
              <a:srgbClr val="48C78E"/>
            </a:solidFill>
            <a:ln>
              <a:noFill/>
            </a:ln>
          </p:spPr>
        </p:sp>
        <p:sp>
          <p:nvSpPr>
            <p:cNvPr id="26" name="TextBox 26"/>
            <p:cNvSpPr txBox="1"/>
            <p:nvPr/>
          </p:nvSpPr>
          <p:spPr>
            <a:xfrm>
              <a:off x="1701060" y="4609528"/>
              <a:ext cx="47597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Split 2</a:t>
              </a:r>
            </a:p>
          </p:txBody>
        </p:sp>
        <p:sp>
          <p:nvSpPr>
            <p:cNvPr id="27" name="TextBox 27"/>
            <p:cNvSpPr txBox="1"/>
            <p:nvPr/>
          </p:nvSpPr>
          <p:spPr>
            <a:xfrm>
              <a:off x="4519041" y="4609528"/>
              <a:ext cx="426240"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9 / 12</a:t>
              </a:r>
            </a:p>
          </p:txBody>
        </p:sp>
        <p:sp>
          <p:nvSpPr>
            <p:cNvPr id="28" name="Rectangle 28"/>
            <p:cNvSpPr/>
            <p:nvPr/>
          </p:nvSpPr>
          <p:spPr>
            <a:xfrm>
              <a:off x="2286000" y="4876800"/>
              <a:ext cx="2857500" cy="209550"/>
            </a:xfrm>
            <a:prstGeom prst="roundRect">
              <a:avLst>
                <a:gd name="adj" fmla="val 27273"/>
              </a:avLst>
            </a:prstGeom>
            <a:solidFill>
              <a:srgbClr val="0E2334"/>
            </a:solidFill>
            <a:ln w="9525">
              <a:solidFill>
                <a:srgbClr val="26455F"/>
              </a:solidFill>
            </a:ln>
          </p:spPr>
        </p:sp>
        <p:sp>
          <p:nvSpPr>
            <p:cNvPr id="29" name="Rectangle 29"/>
            <p:cNvSpPr/>
            <p:nvPr/>
          </p:nvSpPr>
          <p:spPr>
            <a:xfrm>
              <a:off x="2286000" y="4876800"/>
              <a:ext cx="1905000" cy="209550"/>
            </a:xfrm>
            <a:prstGeom prst="roundRect">
              <a:avLst>
                <a:gd name="adj" fmla="val 27273"/>
              </a:avLst>
            </a:prstGeom>
            <a:solidFill>
              <a:schemeClr val="accent2"/>
            </a:solidFill>
            <a:ln>
              <a:noFill/>
            </a:ln>
          </p:spPr>
        </p:sp>
        <p:sp>
          <p:nvSpPr>
            <p:cNvPr id="30" name="TextBox 30"/>
            <p:cNvSpPr txBox="1"/>
            <p:nvPr/>
          </p:nvSpPr>
          <p:spPr>
            <a:xfrm>
              <a:off x="1701060" y="4914329"/>
              <a:ext cx="47597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Split 1</a:t>
              </a:r>
            </a:p>
          </p:txBody>
        </p:sp>
        <p:sp>
          <p:nvSpPr>
            <p:cNvPr id="31" name="TextBox 31"/>
            <p:cNvSpPr txBox="1"/>
            <p:nvPr/>
          </p:nvSpPr>
          <p:spPr>
            <a:xfrm>
              <a:off x="4280916" y="4914329"/>
              <a:ext cx="426240"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8 / 12</a:t>
              </a:r>
            </a:p>
          </p:txBody>
        </p:sp>
      </p:grpSp>
      <p:grpSp>
        <p:nvGrpSpPr>
          <p:cNvPr id="47" name="Group 47"/>
          <p:cNvGrpSpPr/>
          <p:nvPr/>
        </p:nvGrpSpPr>
        <p:grpSpPr>
          <a:xfrm>
            <a:off x="6248400" y="2038350"/>
            <a:ext cx="5334000" cy="3200400"/>
            <a:chOff x="6248400" y="2038350"/>
            <a:chExt cx="5334000" cy="3200400"/>
          </a:xfrm>
        </p:grpSpPr>
        <p:sp>
          <p:nvSpPr>
            <p:cNvPr id="33" name="Rectangle 33"/>
            <p:cNvSpPr/>
            <p:nvPr/>
          </p:nvSpPr>
          <p:spPr>
            <a:xfrm>
              <a:off x="6248400" y="2038350"/>
              <a:ext cx="5334000" cy="3200400"/>
            </a:xfrm>
            <a:prstGeom prst="roundRect">
              <a:avLst>
                <a:gd name="adj" fmla="val 4167"/>
              </a:avLst>
            </a:prstGeom>
            <a:solidFill>
              <a:schemeClr val="accent5"/>
            </a:solidFill>
            <a:ln w="14288">
              <a:solidFill>
                <a:srgbClr val="26455F"/>
              </a:solidFill>
            </a:ln>
          </p:spPr>
        </p:sp>
        <p:sp>
          <p:nvSpPr>
            <p:cNvPr id="34" name="Rectangle 34"/>
            <p:cNvSpPr/>
            <p:nvPr/>
          </p:nvSpPr>
          <p:spPr>
            <a:xfrm>
              <a:off x="6248400" y="2038350"/>
              <a:ext cx="57150" cy="3200400"/>
            </a:xfrm>
            <a:prstGeom prst="roundRect">
              <a:avLst>
                <a:gd name="adj" fmla="val 50000"/>
              </a:avLst>
            </a:prstGeom>
            <a:solidFill>
              <a:srgbClr val="34D3C0"/>
            </a:solidFill>
            <a:ln>
              <a:noFill/>
            </a:ln>
          </p:spPr>
        </p:sp>
        <p:sp>
          <p:nvSpPr>
            <p:cNvPr id="35" name="TextBox 35"/>
            <p:cNvSpPr txBox="1"/>
            <p:nvPr/>
          </p:nvSpPr>
          <p:spPr>
            <a:xfrm>
              <a:off x="6508814" y="2247662"/>
              <a:ext cx="2434470"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WeatherBench · forecasting</a:t>
              </a:r>
            </a:p>
          </p:txBody>
        </p:sp>
        <p:sp>
          <p:nvSpPr>
            <p:cNvPr id="36" name="TextBox 36"/>
            <p:cNvSpPr txBox="1"/>
            <p:nvPr/>
          </p:nvSpPr>
          <p:spPr>
            <a:xfrm>
              <a:off x="6509766" y="2572702"/>
              <a:ext cx="385542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Beats the WeatherBench baseline on every metric in the</a:t>
              </a:r>
            </a:p>
          </p:txBody>
        </p:sp>
        <p:sp>
          <p:nvSpPr>
            <p:cNvPr id="37" name="TextBox 37"/>
            <p:cNvSpPr txBox="1"/>
            <p:nvPr/>
          </p:nvSpPr>
          <p:spPr>
            <a:xfrm>
              <a:off x="6509766" y="2772728"/>
              <a:ext cx="218747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simpler two-predictor setting.</a:t>
              </a:r>
            </a:p>
          </p:txBody>
        </p:sp>
        <p:sp>
          <p:nvSpPr>
            <p:cNvPr id="38" name="Rectangle 38"/>
            <p:cNvSpPr/>
            <p:nvPr/>
          </p:nvSpPr>
          <p:spPr>
            <a:xfrm>
              <a:off x="6515100" y="3143250"/>
              <a:ext cx="4800600" cy="381000"/>
            </a:xfrm>
            <a:prstGeom prst="roundRect">
              <a:avLst>
                <a:gd name="adj" fmla="val 20000"/>
              </a:avLst>
            </a:prstGeom>
            <a:solidFill>
              <a:schemeClr val="accent6"/>
            </a:solidFill>
            <a:ln w="14288">
              <a:solidFill>
                <a:srgbClr val="26455F"/>
              </a:solidFill>
            </a:ln>
          </p:spPr>
        </p:sp>
        <p:sp>
          <p:nvSpPr>
            <p:cNvPr id="39" name="Ellipse 39"/>
            <p:cNvSpPr/>
            <p:nvPr/>
          </p:nvSpPr>
          <p:spPr>
            <a:xfrm>
              <a:off x="6638925" y="3286125"/>
              <a:ext cx="95250" cy="95250"/>
            </a:xfrm>
            <a:prstGeom prst="ellipse">
              <a:avLst/>
            </a:prstGeom>
            <a:solidFill>
              <a:srgbClr val="48C78E"/>
            </a:solidFill>
            <a:ln>
              <a:noFill/>
            </a:ln>
          </p:spPr>
        </p:sp>
        <p:sp>
          <p:nvSpPr>
            <p:cNvPr id="40" name="TextBox 40"/>
            <p:cNvSpPr txBox="1"/>
            <p:nvPr/>
          </p:nvSpPr>
          <p:spPr>
            <a:xfrm>
              <a:off x="6833616" y="3268028"/>
              <a:ext cx="3622727"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Outperforms baseline on ALL 2-predictor metrics</a:t>
              </a:r>
            </a:p>
          </p:txBody>
        </p:sp>
        <p:sp>
          <p:nvSpPr>
            <p:cNvPr id="41" name="Rectangle 41"/>
            <p:cNvSpPr/>
            <p:nvPr/>
          </p:nvSpPr>
          <p:spPr>
            <a:xfrm>
              <a:off x="6515100" y="3638550"/>
              <a:ext cx="4800600" cy="381000"/>
            </a:xfrm>
            <a:prstGeom prst="roundRect">
              <a:avLst>
                <a:gd name="adj" fmla="val 20000"/>
              </a:avLst>
            </a:prstGeom>
            <a:solidFill>
              <a:schemeClr val="accent6"/>
            </a:solidFill>
            <a:ln w="14288">
              <a:solidFill>
                <a:srgbClr val="26455F"/>
              </a:solidFill>
            </a:ln>
          </p:spPr>
        </p:sp>
        <p:sp>
          <p:nvSpPr>
            <p:cNvPr id="42" name="Ellipse 42"/>
            <p:cNvSpPr/>
            <p:nvPr/>
          </p:nvSpPr>
          <p:spPr>
            <a:xfrm>
              <a:off x="6638925" y="3781425"/>
              <a:ext cx="95250" cy="95250"/>
            </a:xfrm>
            <a:prstGeom prst="ellipse">
              <a:avLst/>
            </a:prstGeom>
            <a:solidFill>
              <a:schemeClr val="accent2"/>
            </a:solidFill>
            <a:ln>
              <a:noFill/>
            </a:ln>
          </p:spPr>
        </p:sp>
        <p:sp>
          <p:nvSpPr>
            <p:cNvPr id="43" name="TextBox 43"/>
            <p:cNvSpPr txBox="1"/>
            <p:nvPr/>
          </p:nvSpPr>
          <p:spPr>
            <a:xfrm>
              <a:off x="6833616" y="3763328"/>
              <a:ext cx="3770488"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Beats simulation-pretrained models on temperature</a:t>
              </a:r>
            </a:p>
          </p:txBody>
        </p:sp>
        <p:sp>
          <p:nvSpPr>
            <p:cNvPr id="44" name="Rectangle 44"/>
            <p:cNvSpPr/>
            <p:nvPr/>
          </p:nvSpPr>
          <p:spPr>
            <a:xfrm>
              <a:off x="6515100" y="4210050"/>
              <a:ext cx="4800600" cy="476250"/>
            </a:xfrm>
            <a:prstGeom prst="roundRect">
              <a:avLst>
                <a:gd name="adj" fmla="val 20000"/>
              </a:avLst>
            </a:prstGeom>
            <a:solidFill>
              <a:srgbClr val="0F2E2B"/>
            </a:solidFill>
            <a:ln w="14288">
              <a:solidFill>
                <a:srgbClr val="34D3C0"/>
              </a:solidFill>
            </a:ln>
          </p:spPr>
        </p:sp>
        <p:sp>
          <p:nvSpPr>
            <p:cNvPr id="45" name="TextBox 45"/>
            <p:cNvSpPr txBox="1"/>
            <p:nvPr/>
          </p:nvSpPr>
          <p:spPr>
            <a:xfrm>
              <a:off x="6661785" y="4374356"/>
              <a:ext cx="3348885" cy="220028"/>
            </a:xfrm>
            <a:prstGeom prst="rect">
              <a:avLst/>
            </a:prstGeom>
            <a:noFill/>
            <a:ln>
              <a:noFill/>
            </a:ln>
          </p:spPr>
          <p:txBody>
            <a:bodyPr wrap="none" lIns="0" tIns="0" rIns="0" bIns="0" anchor="t" anchorCtr="0">
              <a:spAutoFit/>
            </a:bodyPr>
            <a:lstStyle/>
            <a:p>
              <a:pPr algn="l"/>
              <a:r>
                <a:rPr lang="en-US" sz="1120" b="1" dirty="0">
                  <a:solidFill>
                    <a:srgbClr val="34D3C0"/>
                  </a:solidFill>
                  <a:latin typeface="+mn-lt"/>
                  <a:ea typeface="+mn-ea"/>
                  <a:cs typeface="+mn-cs"/>
                </a:rPr>
                <a:t>First viable spherical neural weather model</a:t>
              </a:r>
            </a:p>
          </p:txBody>
        </p:sp>
        <p:sp>
          <p:nvSpPr>
            <p:cNvPr id="46" name="TextBox 46"/>
            <p:cNvSpPr txBox="1"/>
            <p:nvPr/>
          </p:nvSpPr>
          <p:spPr>
            <a:xfrm>
              <a:off x="6509956" y="4881801"/>
              <a:ext cx="3929173" cy="198025"/>
            </a:xfrm>
            <a:prstGeom prst="rect">
              <a:avLst/>
            </a:prstGeom>
            <a:noFill/>
            <a:ln>
              <a:noFill/>
            </a:ln>
          </p:spPr>
          <p:txBody>
            <a:bodyPr wrap="none" lIns="0" tIns="0" rIns="0" bIns="0" anchor="t" anchorCtr="0">
              <a:spAutoFit/>
            </a:bodyPr>
            <a:lstStyle/>
            <a:p>
              <a:pPr algn="l"/>
              <a:r>
                <a:rPr lang="en-US" sz="1010" b="1" dirty="0">
                  <a:solidFill>
                    <a:srgbClr val="6E869C"/>
                  </a:solidFill>
                  <a:latin typeface="+mn-lt"/>
                  <a:ea typeface="+mn-ea"/>
                  <a:cs typeface="+mn-cs"/>
                </a:rPr>
                <a:t>even rivaling models trained on large simulated datasets</a:t>
              </a:r>
            </a:p>
          </p:txBody>
        </p:sp>
      </p:grpSp>
      <p:grpSp>
        <p:nvGrpSpPr>
          <p:cNvPr id="53" name="Group 53"/>
          <p:cNvGrpSpPr/>
          <p:nvPr/>
        </p:nvGrpSpPr>
        <p:grpSpPr>
          <a:xfrm>
            <a:off x="609600" y="5372100"/>
            <a:ext cx="10972800" cy="1104900"/>
            <a:chOff x="609600" y="5372100"/>
            <a:chExt cx="10972800" cy="1104900"/>
          </a:xfrm>
        </p:grpSpPr>
        <p:sp>
          <p:nvSpPr>
            <p:cNvPr id="48" name="Rectangle 48"/>
            <p:cNvSpPr/>
            <p:nvPr/>
          </p:nvSpPr>
          <p:spPr>
            <a:xfrm>
              <a:off x="609600" y="5372100"/>
              <a:ext cx="10972800" cy="1104900"/>
            </a:xfrm>
            <a:prstGeom prst="roundRect">
              <a:avLst>
                <a:gd name="adj" fmla="val 12069"/>
              </a:avLst>
            </a:prstGeom>
            <a:solidFill>
              <a:srgbClr val="0F2E2B"/>
            </a:solidFill>
            <a:ln w="14288">
              <a:solidFill>
                <a:srgbClr val="34D3C0"/>
              </a:solidFill>
            </a:ln>
          </p:spPr>
        </p:sp>
        <p:sp>
          <p:nvSpPr>
            <p:cNvPr id="49" name="Rectangle 49"/>
            <p:cNvSpPr/>
            <p:nvPr/>
          </p:nvSpPr>
          <p:spPr>
            <a:xfrm>
              <a:off x="609600" y="5372100"/>
              <a:ext cx="57150" cy="1104900"/>
            </a:xfrm>
            <a:prstGeom prst="roundRect">
              <a:avLst>
                <a:gd name="adj" fmla="val 50000"/>
              </a:avLst>
            </a:prstGeom>
            <a:solidFill>
              <a:srgbClr val="34D3C0"/>
            </a:solidFill>
            <a:ln>
              <a:noFill/>
            </a:ln>
          </p:spPr>
        </p:sp>
        <p:sp>
          <p:nvSpPr>
            <p:cNvPr id="50" name="TextBox 50"/>
            <p:cNvSpPr txBox="1"/>
            <p:nvPr/>
          </p:nvSpPr>
          <p:spPr>
            <a:xfrm>
              <a:off x="870204" y="5585460"/>
              <a:ext cx="1680015"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A first for the field</a:t>
              </a:r>
            </a:p>
          </p:txBody>
        </p:sp>
        <p:sp>
          <p:nvSpPr>
            <p:cNvPr id="51" name="TextBox 51"/>
            <p:cNvSpPr txBox="1"/>
            <p:nvPr/>
          </p:nvSpPr>
          <p:spPr>
            <a:xfrm>
              <a:off x="870585" y="5898356"/>
              <a:ext cx="838445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This is the first demonstration that spherical CNNs are viable neural weather models - a domain long dominated by</a:t>
              </a:r>
            </a:p>
          </p:txBody>
        </p:sp>
        <p:sp>
          <p:nvSpPr>
            <p:cNvPr id="52" name="TextBox 52"/>
            <p:cNvSpPr txBox="1"/>
            <p:nvPr/>
          </p:nvSpPr>
          <p:spPr>
            <a:xfrm>
              <a:off x="870585" y="6126956"/>
              <a:ext cx="1594561"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other architectures.</a:t>
              </a:r>
            </a:p>
          </p:txBody>
        </p:sp>
      </p:grpSp>
      <p:sp>
        <p:nvSpPr>
          <p:cNvPr id="54" name="cue_s07_c1_results_strong_both_fronts" title="cue_s07_c1_results_strong_both_fronts" descr="cue_s07_c1_results_strong_both_fronts The results are strong on both fronts."/>
          <p:cNvSpPr/>
          <p:nvPr/>
        </p:nvSpPr>
        <p:spPr>
          <a:xfrm>
            <a:off x="609600" y="1428521"/>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2_qm9_scaled_spherical_cnn_reaches" title="cue_s07_c2_qm9_scaled_spherical_cnn_reaches" descr="cue_s07_c2_qm9_scaled_spherical_cnn_reaches On QM9, the scaled spherical CNN reaches state of the art, beating the previously dominant graph neural networks and transformers on eight of twelve targets under the first data split and nine of twelve under the second."/>
          <p:cNvSpPr/>
          <p:nvPr/>
        </p:nvSpPr>
        <p:spPr>
          <a:xfrm>
            <a:off x="609600" y="2038197"/>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3_weather_outperforms_weatherbench_bas" title="cue_s07_c3_weather_outperforms_weatherbench_bas" descr="cue_s07_c3_weather_outperforms_weatherbench_bas On weather, it outperforms the WeatherBench baseline on every metric in the simpler two-predictor setting, and it even beats models that were pre-trained on large amounts of simulated data on several temperature metrics."/>
          <p:cNvSpPr/>
          <p:nvPr/>
        </p:nvSpPr>
        <p:spPr>
          <a:xfrm>
            <a:off x="6248399" y="2038197"/>
            <a:ext cx="5334000" cy="32006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4_first_demonstration_spherical_cnns_v" title="cue_s07_c4_first_demonstration_spherical_cnns_v" descr="cue_s07_c4_first_demonstration_spherical_cnns_v This is the first demonstration that spherical CNNs are viable neural weather models."/>
          <p:cNvSpPr/>
          <p:nvPr/>
        </p:nvSpPr>
        <p:spPr>
          <a:xfrm>
            <a:off x="609600" y="5371871"/>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663256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Each redesigned component earns its place</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chemeClr val="accent2"/>
            </a:solidFill>
            <a:ln>
              <a:noFill/>
            </a:ln>
          </p:spPr>
        </p:sp>
        <p:sp>
          <p:nvSpPr>
            <p:cNvPr id="7" name="TextBox 7"/>
            <p:cNvSpPr txBox="1"/>
            <p:nvPr/>
          </p:nvSpPr>
          <p:spPr>
            <a:xfrm>
              <a:off x="870014" y="1704737"/>
              <a:ext cx="8383099"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 careful ablation isolates the effect of each change on a QM9 model - error and speed together.</a:t>
              </a:r>
            </a:p>
          </p:txBody>
        </p:sp>
      </p:grpSp>
      <p:grpSp>
        <p:nvGrpSpPr>
          <p:cNvPr id="29" name="Group 29"/>
          <p:cNvGrpSpPr/>
          <p:nvPr/>
        </p:nvGrpSpPr>
        <p:grpSpPr>
          <a:xfrm>
            <a:off x="609600" y="2266950"/>
            <a:ext cx="6477000" cy="3022426"/>
            <a:chOff x="609600" y="2266950"/>
            <a:chExt cx="6477000" cy="3022426"/>
          </a:xfrm>
        </p:grpSpPr>
        <p:sp>
          <p:nvSpPr>
            <p:cNvPr id="9" name="Rectangle 9"/>
            <p:cNvSpPr/>
            <p:nvPr/>
          </p:nvSpPr>
          <p:spPr>
            <a:xfrm>
              <a:off x="609600" y="2266950"/>
              <a:ext cx="6477000" cy="2971800"/>
            </a:xfrm>
            <a:prstGeom prst="roundRect">
              <a:avLst>
                <a:gd name="adj" fmla="val 4487"/>
              </a:avLst>
            </a:prstGeom>
            <a:solidFill>
              <a:schemeClr val="accent5"/>
            </a:solidFill>
            <a:ln w="14288">
              <a:solidFill>
                <a:srgbClr val="26455F"/>
              </a:solidFill>
            </a:ln>
          </p:spPr>
        </p:sp>
        <p:sp>
          <p:nvSpPr>
            <p:cNvPr id="10" name="Rectangle 10"/>
            <p:cNvSpPr/>
            <p:nvPr/>
          </p:nvSpPr>
          <p:spPr>
            <a:xfrm>
              <a:off x="609600" y="2266950"/>
              <a:ext cx="57150" cy="2971800"/>
            </a:xfrm>
            <a:prstGeom prst="roundRect">
              <a:avLst>
                <a:gd name="adj" fmla="val 50000"/>
              </a:avLst>
            </a:prstGeom>
            <a:solidFill>
              <a:srgbClr val="34D3C0"/>
            </a:solidFill>
            <a:ln>
              <a:noFill/>
            </a:ln>
          </p:spPr>
        </p:sp>
        <p:sp>
          <p:nvSpPr>
            <p:cNvPr id="11" name="TextBox 11"/>
            <p:cNvSpPr txBox="1"/>
            <p:nvPr/>
          </p:nvSpPr>
          <p:spPr>
            <a:xfrm>
              <a:off x="870204" y="2499360"/>
              <a:ext cx="426525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Cumulative RMSE reduction (from the JAX baseline)</a:t>
              </a:r>
            </a:p>
          </p:txBody>
        </p:sp>
        <p:sp>
          <p:nvSpPr>
            <p:cNvPr id="12" name="TextBox 12"/>
            <p:cNvSpPr txBox="1"/>
            <p:nvPr/>
          </p:nvSpPr>
          <p:spPr>
            <a:xfrm>
              <a:off x="985266" y="3106102"/>
              <a:ext cx="892320"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JAX baseline</a:t>
              </a:r>
            </a:p>
          </p:txBody>
        </p:sp>
        <p:sp>
          <p:nvSpPr>
            <p:cNvPr id="13" name="Rectangle 13"/>
            <p:cNvSpPr/>
            <p:nvPr/>
          </p:nvSpPr>
          <p:spPr>
            <a:xfrm>
              <a:off x="2705100" y="3048000"/>
              <a:ext cx="4000500" cy="285750"/>
            </a:xfrm>
            <a:prstGeom prst="roundRect">
              <a:avLst>
                <a:gd name="adj" fmla="val 20000"/>
              </a:avLst>
            </a:prstGeom>
            <a:solidFill>
              <a:srgbClr val="0E2334"/>
            </a:solidFill>
            <a:ln w="9525">
              <a:solidFill>
                <a:srgbClr val="26455F"/>
              </a:solidFill>
            </a:ln>
          </p:spPr>
        </p:sp>
        <p:sp>
          <p:nvSpPr>
            <p:cNvPr id="14" name="Rectangle 14"/>
            <p:cNvSpPr/>
            <p:nvPr/>
          </p:nvSpPr>
          <p:spPr>
            <a:xfrm>
              <a:off x="2705100" y="3048000"/>
              <a:ext cx="28575" cy="285750"/>
            </a:xfrm>
            <a:prstGeom prst="roundRect">
              <a:avLst>
                <a:gd name="adj" fmla="val 50000"/>
              </a:avLst>
            </a:prstGeom>
            <a:solidFill>
              <a:schemeClr val="dk2"/>
            </a:solidFill>
            <a:ln>
              <a:noFill/>
            </a:ln>
          </p:spPr>
        </p:sp>
        <p:sp>
          <p:nvSpPr>
            <p:cNvPr id="15" name="TextBox 15"/>
            <p:cNvSpPr txBox="1"/>
            <p:nvPr/>
          </p:nvSpPr>
          <p:spPr>
            <a:xfrm>
              <a:off x="2842641" y="3134678"/>
              <a:ext cx="589500"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baseline</a:t>
              </a:r>
            </a:p>
          </p:txBody>
        </p:sp>
        <p:sp>
          <p:nvSpPr>
            <p:cNvPr id="16" name="TextBox 16"/>
            <p:cNvSpPr txBox="1"/>
            <p:nvPr/>
          </p:nvSpPr>
          <p:spPr>
            <a:xfrm>
              <a:off x="985266" y="3601402"/>
              <a:ext cx="1173373"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 Phase collapse</a:t>
              </a:r>
            </a:p>
          </p:txBody>
        </p:sp>
        <p:sp>
          <p:nvSpPr>
            <p:cNvPr id="17" name="Rectangle 17"/>
            <p:cNvSpPr/>
            <p:nvPr/>
          </p:nvSpPr>
          <p:spPr>
            <a:xfrm>
              <a:off x="2705100" y="3543300"/>
              <a:ext cx="4000500" cy="285750"/>
            </a:xfrm>
            <a:prstGeom prst="roundRect">
              <a:avLst>
                <a:gd name="adj" fmla="val 20000"/>
              </a:avLst>
            </a:prstGeom>
            <a:solidFill>
              <a:srgbClr val="0E2334"/>
            </a:solidFill>
            <a:ln w="9525">
              <a:solidFill>
                <a:srgbClr val="26455F"/>
              </a:solidFill>
            </a:ln>
          </p:spPr>
        </p:sp>
        <p:sp>
          <p:nvSpPr>
            <p:cNvPr id="18" name="Rectangle 18"/>
            <p:cNvSpPr/>
            <p:nvPr/>
          </p:nvSpPr>
          <p:spPr>
            <a:xfrm>
              <a:off x="2705100" y="3543300"/>
              <a:ext cx="2457450" cy="285750"/>
            </a:xfrm>
            <a:prstGeom prst="roundRect">
              <a:avLst>
                <a:gd name="adj" fmla="val 20000"/>
              </a:avLst>
            </a:prstGeom>
            <a:solidFill>
              <a:schemeClr val="accent2"/>
            </a:solidFill>
            <a:ln>
              <a:noFill/>
            </a:ln>
          </p:spPr>
        </p:sp>
        <p:sp>
          <p:nvSpPr>
            <p:cNvPr id="19" name="TextBox 19"/>
            <p:cNvSpPr txBox="1"/>
            <p:nvPr/>
          </p:nvSpPr>
          <p:spPr>
            <a:xfrm>
              <a:off x="5271516" y="3629978"/>
              <a:ext cx="448503"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-8.0%</a:t>
              </a:r>
            </a:p>
          </p:txBody>
        </p:sp>
        <p:sp>
          <p:nvSpPr>
            <p:cNvPr id="20" name="TextBox 20"/>
            <p:cNvSpPr txBox="1"/>
            <p:nvPr/>
          </p:nvSpPr>
          <p:spPr>
            <a:xfrm>
              <a:off x="985266" y="4096702"/>
              <a:ext cx="1648708"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 Spectral batch-norm</a:t>
              </a:r>
            </a:p>
          </p:txBody>
        </p:sp>
        <p:sp>
          <p:nvSpPr>
            <p:cNvPr id="21" name="Rectangle 21"/>
            <p:cNvSpPr/>
            <p:nvPr/>
          </p:nvSpPr>
          <p:spPr>
            <a:xfrm>
              <a:off x="2705100" y="4038600"/>
              <a:ext cx="4000500" cy="285750"/>
            </a:xfrm>
            <a:prstGeom prst="roundRect">
              <a:avLst>
                <a:gd name="adj" fmla="val 20000"/>
              </a:avLst>
            </a:prstGeom>
            <a:solidFill>
              <a:srgbClr val="0E2334"/>
            </a:solidFill>
            <a:ln w="9525">
              <a:solidFill>
                <a:srgbClr val="26455F"/>
              </a:solidFill>
            </a:ln>
          </p:spPr>
        </p:sp>
        <p:sp>
          <p:nvSpPr>
            <p:cNvPr id="22" name="Rectangle 22"/>
            <p:cNvSpPr/>
            <p:nvPr/>
          </p:nvSpPr>
          <p:spPr>
            <a:xfrm>
              <a:off x="2705100" y="4038600"/>
              <a:ext cx="2886075" cy="285750"/>
            </a:xfrm>
            <a:prstGeom prst="roundRect">
              <a:avLst>
                <a:gd name="adj" fmla="val 20000"/>
              </a:avLst>
            </a:prstGeom>
            <a:solidFill>
              <a:srgbClr val="34D3C0"/>
            </a:solidFill>
            <a:ln>
              <a:noFill/>
            </a:ln>
          </p:spPr>
        </p:sp>
        <p:sp>
          <p:nvSpPr>
            <p:cNvPr id="23" name="TextBox 23"/>
            <p:cNvSpPr txBox="1"/>
            <p:nvPr/>
          </p:nvSpPr>
          <p:spPr>
            <a:xfrm>
              <a:off x="5700141" y="4125278"/>
              <a:ext cx="448503"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-9.4%</a:t>
              </a:r>
            </a:p>
          </p:txBody>
        </p:sp>
        <p:sp>
          <p:nvSpPr>
            <p:cNvPr id="24" name="TextBox 24"/>
            <p:cNvSpPr txBox="1"/>
            <p:nvPr/>
          </p:nvSpPr>
          <p:spPr>
            <a:xfrm>
              <a:off x="985266" y="4592002"/>
              <a:ext cx="1425339"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 Efficient residual</a:t>
              </a:r>
            </a:p>
          </p:txBody>
        </p:sp>
        <p:sp>
          <p:nvSpPr>
            <p:cNvPr id="25" name="Rectangle 25"/>
            <p:cNvSpPr/>
            <p:nvPr/>
          </p:nvSpPr>
          <p:spPr>
            <a:xfrm>
              <a:off x="2705100" y="4533900"/>
              <a:ext cx="4000500" cy="285750"/>
            </a:xfrm>
            <a:prstGeom prst="roundRect">
              <a:avLst>
                <a:gd name="adj" fmla="val 20000"/>
              </a:avLst>
            </a:prstGeom>
            <a:solidFill>
              <a:srgbClr val="0E2334"/>
            </a:solidFill>
            <a:ln w="9525">
              <a:solidFill>
                <a:srgbClr val="26455F"/>
              </a:solidFill>
            </a:ln>
          </p:spPr>
        </p:sp>
        <p:sp>
          <p:nvSpPr>
            <p:cNvPr id="26" name="Rectangle 26"/>
            <p:cNvSpPr/>
            <p:nvPr/>
          </p:nvSpPr>
          <p:spPr>
            <a:xfrm>
              <a:off x="2705100" y="4533900"/>
              <a:ext cx="3629025" cy="285750"/>
            </a:xfrm>
            <a:prstGeom prst="roundRect">
              <a:avLst>
                <a:gd name="adj" fmla="val 20000"/>
              </a:avLst>
            </a:prstGeom>
            <a:solidFill>
              <a:srgbClr val="F2C14E"/>
            </a:solidFill>
            <a:ln>
              <a:noFill/>
            </a:ln>
          </p:spPr>
        </p:sp>
        <p:sp>
          <p:nvSpPr>
            <p:cNvPr id="27" name="TextBox 27"/>
            <p:cNvSpPr txBox="1"/>
            <p:nvPr/>
          </p:nvSpPr>
          <p:spPr>
            <a:xfrm>
              <a:off x="6443091" y="4620578"/>
              <a:ext cx="530133"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-11.8%</a:t>
              </a:r>
            </a:p>
          </p:txBody>
        </p:sp>
        <p:sp>
          <p:nvSpPr>
            <p:cNvPr id="28" name="TextBox 28"/>
            <p:cNvSpPr txBox="1"/>
            <p:nvPr/>
          </p:nvSpPr>
          <p:spPr>
            <a:xfrm>
              <a:off x="985456" y="5091351"/>
              <a:ext cx="2308796"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mn-lt"/>
                  <a:ea typeface="+mn-ea"/>
                  <a:cs typeface="+mn-cs"/>
                </a:rPr>
                <a:t>all while improving training speed</a:t>
              </a:r>
            </a:p>
          </p:txBody>
        </p:sp>
      </p:grpSp>
      <p:grpSp>
        <p:nvGrpSpPr>
          <p:cNvPr id="48" name="Group 48"/>
          <p:cNvGrpSpPr/>
          <p:nvPr/>
        </p:nvGrpSpPr>
        <p:grpSpPr>
          <a:xfrm>
            <a:off x="7277100" y="2266950"/>
            <a:ext cx="4305300" cy="2971800"/>
            <a:chOff x="7277100" y="2266950"/>
            <a:chExt cx="4305300" cy="2971800"/>
          </a:xfrm>
        </p:grpSpPr>
        <p:sp>
          <p:nvSpPr>
            <p:cNvPr id="30" name="Rectangle 30"/>
            <p:cNvSpPr/>
            <p:nvPr/>
          </p:nvSpPr>
          <p:spPr>
            <a:xfrm>
              <a:off x="7277100" y="2266950"/>
              <a:ext cx="4305300" cy="2971800"/>
            </a:xfrm>
            <a:prstGeom prst="roundRect">
              <a:avLst>
                <a:gd name="adj" fmla="val 4487"/>
              </a:avLst>
            </a:prstGeom>
            <a:solidFill>
              <a:schemeClr val="accent5"/>
            </a:solidFill>
            <a:ln w="14288">
              <a:solidFill>
                <a:srgbClr val="26455F"/>
              </a:solidFill>
            </a:ln>
          </p:spPr>
        </p:sp>
        <p:sp>
          <p:nvSpPr>
            <p:cNvPr id="31" name="Rectangle 31"/>
            <p:cNvSpPr/>
            <p:nvPr/>
          </p:nvSpPr>
          <p:spPr>
            <a:xfrm>
              <a:off x="7277100" y="2266950"/>
              <a:ext cx="57150" cy="2971800"/>
            </a:xfrm>
            <a:prstGeom prst="roundRect">
              <a:avLst>
                <a:gd name="adj" fmla="val 50000"/>
              </a:avLst>
            </a:prstGeom>
            <a:solidFill>
              <a:srgbClr val="F2C14E"/>
            </a:solidFill>
            <a:ln>
              <a:noFill/>
            </a:ln>
          </p:spPr>
        </p:sp>
        <p:sp>
          <p:nvSpPr>
            <p:cNvPr id="32" name="TextBox 32"/>
            <p:cNvSpPr txBox="1"/>
            <p:nvPr/>
          </p:nvSpPr>
          <p:spPr>
            <a:xfrm>
              <a:off x="7537704" y="2499360"/>
              <a:ext cx="2044381"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Beats prior alternatives</a:t>
              </a:r>
            </a:p>
          </p:txBody>
        </p:sp>
        <p:sp>
          <p:nvSpPr>
            <p:cNvPr id="33" name="TextBox 33"/>
            <p:cNvSpPr txBox="1"/>
            <p:nvPr/>
          </p:nvSpPr>
          <p:spPr>
            <a:xfrm>
              <a:off x="7538466" y="2820352"/>
              <a:ext cx="28848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separate comparison confirms each new</a:t>
              </a:r>
            </a:p>
          </p:txBody>
        </p:sp>
        <p:sp>
          <p:nvSpPr>
            <p:cNvPr id="34" name="TextBox 34"/>
            <p:cNvSpPr txBox="1"/>
            <p:nvPr/>
          </p:nvSpPr>
          <p:spPr>
            <a:xfrm>
              <a:off x="7538466" y="3029902"/>
              <a:ext cx="17704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piece beats earlier work.</a:t>
              </a:r>
            </a:p>
          </p:txBody>
        </p:sp>
        <p:sp>
          <p:nvSpPr>
            <p:cNvPr id="35" name="Rectangle 35"/>
            <p:cNvSpPr/>
            <p:nvPr/>
          </p:nvSpPr>
          <p:spPr>
            <a:xfrm>
              <a:off x="7543800" y="3352800"/>
              <a:ext cx="3771900" cy="323850"/>
            </a:xfrm>
            <a:prstGeom prst="roundRect">
              <a:avLst>
                <a:gd name="adj" fmla="val 23529"/>
              </a:avLst>
            </a:prstGeom>
            <a:solidFill>
              <a:schemeClr val="accent6"/>
            </a:solidFill>
            <a:ln w="14288">
              <a:solidFill>
                <a:srgbClr val="26455F"/>
              </a:solidFill>
            </a:ln>
          </p:spPr>
        </p:sp>
        <p:sp>
          <p:nvSpPr>
            <p:cNvPr id="36" name="Ellipse 36"/>
            <p:cNvSpPr/>
            <p:nvPr/>
          </p:nvSpPr>
          <p:spPr>
            <a:xfrm>
              <a:off x="7667625" y="3467100"/>
              <a:ext cx="95250" cy="95250"/>
            </a:xfrm>
            <a:prstGeom prst="ellipse">
              <a:avLst/>
            </a:prstGeom>
            <a:solidFill>
              <a:schemeClr val="accent2"/>
            </a:solidFill>
            <a:ln>
              <a:noFill/>
            </a:ln>
          </p:spPr>
        </p:sp>
        <p:sp>
          <p:nvSpPr>
            <p:cNvPr id="37" name="TextBox 37"/>
            <p:cNvSpPr txBox="1"/>
            <p:nvPr/>
          </p:nvSpPr>
          <p:spPr>
            <a:xfrm>
              <a:off x="7862506" y="3453051"/>
              <a:ext cx="2406104"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Phase collapse &gt; prior nonlinearity</a:t>
              </a:r>
            </a:p>
          </p:txBody>
        </p:sp>
        <p:sp>
          <p:nvSpPr>
            <p:cNvPr id="38" name="Rectangle 38"/>
            <p:cNvSpPr/>
            <p:nvPr/>
          </p:nvSpPr>
          <p:spPr>
            <a:xfrm>
              <a:off x="7543800" y="3733800"/>
              <a:ext cx="3771900" cy="323850"/>
            </a:xfrm>
            <a:prstGeom prst="roundRect">
              <a:avLst>
                <a:gd name="adj" fmla="val 23529"/>
              </a:avLst>
            </a:prstGeom>
            <a:solidFill>
              <a:schemeClr val="accent6"/>
            </a:solidFill>
            <a:ln w="14288">
              <a:solidFill>
                <a:srgbClr val="26455F"/>
              </a:solidFill>
            </a:ln>
          </p:spPr>
        </p:sp>
        <p:sp>
          <p:nvSpPr>
            <p:cNvPr id="39" name="Ellipse 39"/>
            <p:cNvSpPr/>
            <p:nvPr/>
          </p:nvSpPr>
          <p:spPr>
            <a:xfrm>
              <a:off x="7667625" y="3848100"/>
              <a:ext cx="95250" cy="95250"/>
            </a:xfrm>
            <a:prstGeom prst="ellipse">
              <a:avLst/>
            </a:prstGeom>
            <a:solidFill>
              <a:srgbClr val="34D3C0"/>
            </a:solidFill>
            <a:ln>
              <a:noFill/>
            </a:ln>
          </p:spPr>
        </p:sp>
        <p:sp>
          <p:nvSpPr>
            <p:cNvPr id="40" name="TextBox 40"/>
            <p:cNvSpPr txBox="1"/>
            <p:nvPr/>
          </p:nvSpPr>
          <p:spPr>
            <a:xfrm>
              <a:off x="7862506" y="3834051"/>
              <a:ext cx="2170550"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Spectral pooling &gt; prior pooling</a:t>
              </a:r>
            </a:p>
          </p:txBody>
        </p:sp>
        <p:sp>
          <p:nvSpPr>
            <p:cNvPr id="41" name="Rectangle 41"/>
            <p:cNvSpPr/>
            <p:nvPr/>
          </p:nvSpPr>
          <p:spPr>
            <a:xfrm>
              <a:off x="7543800" y="4114800"/>
              <a:ext cx="3771900" cy="323850"/>
            </a:xfrm>
            <a:prstGeom prst="roundRect">
              <a:avLst>
                <a:gd name="adj" fmla="val 23529"/>
              </a:avLst>
            </a:prstGeom>
            <a:solidFill>
              <a:schemeClr val="accent6"/>
            </a:solidFill>
            <a:ln w="14288">
              <a:solidFill>
                <a:srgbClr val="26455F"/>
              </a:solidFill>
            </a:ln>
          </p:spPr>
        </p:sp>
        <p:sp>
          <p:nvSpPr>
            <p:cNvPr id="42" name="Ellipse 42"/>
            <p:cNvSpPr/>
            <p:nvPr/>
          </p:nvSpPr>
          <p:spPr>
            <a:xfrm>
              <a:off x="7667625" y="4229100"/>
              <a:ext cx="95250" cy="95250"/>
            </a:xfrm>
            <a:prstGeom prst="ellipse">
              <a:avLst/>
            </a:prstGeom>
            <a:solidFill>
              <a:srgbClr val="48C78E"/>
            </a:solidFill>
            <a:ln>
              <a:noFill/>
            </a:ln>
          </p:spPr>
        </p:sp>
        <p:sp>
          <p:nvSpPr>
            <p:cNvPr id="43" name="TextBox 43"/>
            <p:cNvSpPr txBox="1"/>
            <p:nvPr/>
          </p:nvSpPr>
          <p:spPr>
            <a:xfrm>
              <a:off x="7862506" y="4215051"/>
              <a:ext cx="2477621"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Spherical molecule rep &gt; prior input</a:t>
              </a:r>
            </a:p>
          </p:txBody>
        </p:sp>
        <p:sp>
          <p:nvSpPr>
            <p:cNvPr id="44" name="Rectangle 44"/>
            <p:cNvSpPr/>
            <p:nvPr/>
          </p:nvSpPr>
          <p:spPr>
            <a:xfrm>
              <a:off x="7543800" y="4572000"/>
              <a:ext cx="3771900" cy="476250"/>
            </a:xfrm>
            <a:prstGeom prst="roundRect">
              <a:avLst>
                <a:gd name="adj" fmla="val 20000"/>
              </a:avLst>
            </a:prstGeom>
            <a:solidFill>
              <a:schemeClr val="accent6"/>
            </a:solidFill>
            <a:ln w="14288">
              <a:solidFill>
                <a:srgbClr val="F2C14E"/>
              </a:solidFill>
            </a:ln>
          </p:spPr>
        </p:sp>
        <p:sp>
          <p:nvSpPr>
            <p:cNvPr id="45" name="TextBox 45"/>
            <p:cNvSpPr txBox="1"/>
            <p:nvPr/>
          </p:nvSpPr>
          <p:spPr>
            <a:xfrm>
              <a:off x="7729156" y="4691301"/>
              <a:ext cx="1272085"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QM9 enthalpy MAE</a:t>
              </a:r>
            </a:p>
          </p:txBody>
        </p:sp>
        <p:sp>
          <p:nvSpPr>
            <p:cNvPr id="46" name="TextBox 46"/>
            <p:cNvSpPr txBox="1"/>
            <p:nvPr/>
          </p:nvSpPr>
          <p:spPr>
            <a:xfrm>
              <a:off x="10165663" y="4654868"/>
              <a:ext cx="966395" cy="264033"/>
            </a:xfrm>
            <a:prstGeom prst="rect">
              <a:avLst/>
            </a:prstGeom>
            <a:noFill/>
            <a:ln>
              <a:noFill/>
            </a:ln>
          </p:spPr>
          <p:txBody>
            <a:bodyPr wrap="none" lIns="0" tIns="0" rIns="0" bIns="0" anchor="t" anchorCtr="0">
              <a:spAutoFit/>
            </a:bodyPr>
            <a:lstStyle/>
            <a:p>
              <a:pPr algn="r"/>
              <a:r>
                <a:rPr lang="en-US" sz="1350" b="1" dirty="0">
                  <a:solidFill>
                    <a:srgbClr val="F2C14E"/>
                  </a:solidFill>
                  <a:latin typeface="+mn-lt"/>
                  <a:ea typeface="+mn-ea"/>
                  <a:cs typeface="+mn-cs"/>
                </a:rPr>
                <a:t>15.25 meV</a:t>
              </a:r>
            </a:p>
          </p:txBody>
        </p:sp>
        <p:sp>
          <p:nvSpPr>
            <p:cNvPr id="47" name="TextBox 47"/>
            <p:cNvSpPr txBox="1"/>
            <p:nvPr/>
          </p:nvSpPr>
          <p:spPr>
            <a:xfrm>
              <a:off x="7729538" y="4874895"/>
              <a:ext cx="2801914" cy="176212"/>
            </a:xfrm>
            <a:prstGeom prst="rect">
              <a:avLst/>
            </a:prstGeom>
            <a:noFill/>
            <a:ln>
              <a:noFill/>
            </a:ln>
          </p:spPr>
          <p:txBody>
            <a:bodyPr wrap="none" lIns="0" tIns="0" rIns="0" bIns="0" anchor="t" anchorCtr="0">
              <a:spAutoFit/>
            </a:bodyPr>
            <a:lstStyle/>
            <a:p>
              <a:pPr algn="l"/>
              <a:r>
                <a:rPr lang="en-US" sz="900" b="1" dirty="0">
                  <a:solidFill>
                    <a:srgbClr val="6E869C"/>
                  </a:solidFill>
                  <a:latin typeface="+mn-lt"/>
                  <a:ea typeface="+mn-ea"/>
                  <a:cs typeface="+mn-cs"/>
                </a:rPr>
                <a:t>driven down together by the new components</a:t>
              </a:r>
            </a:p>
          </p:txBody>
        </p:sp>
      </p:grpSp>
      <p:sp>
        <p:nvSpPr>
          <p:cNvPr id="49" name="cue_s08_c1_careful_ablation_isolates_effect_cha" title="cue_s08_c1_careful_ablation_isolates_effect_cha" descr="cue_s08_c1_careful_ablation_isolates_effect_cha A careful ablation isolates the effect of each change."/>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2_starting_jax_implementation_phase_co" title="cue_s08_c2_starting_jax_implementation_phase_co" descr="cue_s08_c2_starting_jax_implementation_phase_co Starting from the JAX implementation, the phase collapse activation cuts error by eight percent, spectral batch normalization trims a further one and a half percent, and the efficient residual block another two and a half percent, all while improving speed."/>
          <p:cNvSpPr/>
          <p:nvPr/>
        </p:nvSpPr>
        <p:spPr>
          <a:xfrm>
            <a:off x="609600" y="2267254"/>
            <a:ext cx="6476390" cy="29715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3_separate_comparison_confirms_phase_c" title="cue_s08_c3_separate_comparison_confirms_phase_c" descr="cue_s08_c3_separate_comparison_confirms_phase_c A separate comparison confirms that the phase collapse activation, spectral pooling, and the new spherical molecule representation each beat the prior alternatives from earlier work, together driving the QM9 enthalpy error down to about fifteen point two five"/>
          <p:cNvSpPr/>
          <p:nvPr/>
        </p:nvSpPr>
        <p:spPr>
          <a:xfrm>
            <a:off x="7277404" y="2267254"/>
            <a:ext cx="4304995" cy="29715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423178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four numbers</a:t>
            </a:r>
          </a:p>
        </p:txBody>
      </p:sp>
      <p:grpSp>
        <p:nvGrpSpPr>
          <p:cNvPr id="11" name="Group 11"/>
          <p:cNvGrpSpPr/>
          <p:nvPr/>
        </p:nvGrpSpPr>
        <p:grpSpPr>
          <a:xfrm>
            <a:off x="609600" y="1600200"/>
            <a:ext cx="5334000" cy="1676400"/>
            <a:chOff x="609600" y="1600200"/>
            <a:chExt cx="5334000" cy="1676400"/>
          </a:xfrm>
        </p:grpSpPr>
        <p:sp>
          <p:nvSpPr>
            <p:cNvPr id="5" name="Rectangle 5"/>
            <p:cNvSpPr/>
            <p:nvPr/>
          </p:nvSpPr>
          <p:spPr>
            <a:xfrm>
              <a:off x="609600" y="1600200"/>
              <a:ext cx="5334000" cy="1676400"/>
            </a:xfrm>
            <a:prstGeom prst="roundRect">
              <a:avLst>
                <a:gd name="adj" fmla="val 7955"/>
              </a:avLst>
            </a:prstGeom>
            <a:solidFill>
              <a:schemeClr val="accent5"/>
            </a:solidFill>
            <a:ln w="14288">
              <a:solidFill>
                <a:srgbClr val="26455F"/>
              </a:solidFill>
            </a:ln>
          </p:spPr>
        </p:sp>
        <p:sp>
          <p:nvSpPr>
            <p:cNvPr id="6" name="Rectangle 6"/>
            <p:cNvSpPr/>
            <p:nvPr/>
          </p:nvSpPr>
          <p:spPr>
            <a:xfrm>
              <a:off x="609600" y="1600200"/>
              <a:ext cx="57150" cy="1676400"/>
            </a:xfrm>
            <a:prstGeom prst="roundRect">
              <a:avLst>
                <a:gd name="adj" fmla="val 50000"/>
              </a:avLst>
            </a:prstGeom>
            <a:solidFill>
              <a:schemeClr val="accent2"/>
            </a:solidFill>
            <a:ln>
              <a:noFill/>
            </a:ln>
          </p:spPr>
        </p:sp>
        <p:sp>
          <p:nvSpPr>
            <p:cNvPr id="7" name="TextBox 7"/>
            <p:cNvSpPr txBox="1"/>
            <p:nvPr/>
          </p:nvSpPr>
          <p:spPr>
            <a:xfrm>
              <a:off x="878586" y="1986915"/>
              <a:ext cx="803184" cy="645414"/>
            </a:xfrm>
            <a:prstGeom prst="rect">
              <a:avLst/>
            </a:prstGeom>
            <a:noFill/>
            <a:ln>
              <a:noFill/>
            </a:ln>
          </p:spPr>
          <p:txBody>
            <a:bodyPr wrap="none" lIns="0" tIns="0" rIns="0" bIns="0" anchor="t" anchorCtr="0">
              <a:spAutoFit/>
            </a:bodyPr>
            <a:lstStyle/>
            <a:p>
              <a:pPr algn="l"/>
              <a:r>
                <a:rPr lang="en-US" sz="3300" b="1" dirty="0">
                  <a:solidFill>
                    <a:schemeClr val="accent2"/>
                  </a:solidFill>
                  <a:latin typeface="+mn-lt"/>
                  <a:ea typeface="+mn-ea"/>
                  <a:cs typeface="+mn-cs"/>
                </a:rPr>
                <a:t>10x</a:t>
              </a:r>
            </a:p>
          </p:txBody>
        </p:sp>
        <p:sp>
          <p:nvSpPr>
            <p:cNvPr id="8" name="TextBox 8"/>
            <p:cNvSpPr txBox="1"/>
            <p:nvPr/>
          </p:nvSpPr>
          <p:spPr>
            <a:xfrm>
              <a:off x="888873" y="2529364"/>
              <a:ext cx="1704643"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order of magnitude</a:t>
              </a:r>
            </a:p>
          </p:txBody>
        </p:sp>
        <p:sp>
          <p:nvSpPr>
            <p:cNvPr id="9" name="TextBox 9"/>
            <p:cNvSpPr txBox="1"/>
            <p:nvPr/>
          </p:nvSpPr>
          <p:spPr>
            <a:xfrm>
              <a:off x="889826" y="2835354"/>
              <a:ext cx="463063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Scaled up in both operations and feature resolution versus prior</a:t>
              </a:r>
            </a:p>
          </p:txBody>
        </p:sp>
        <p:sp>
          <p:nvSpPr>
            <p:cNvPr id="10" name="TextBox 10"/>
            <p:cNvSpPr txBox="1"/>
            <p:nvPr/>
          </p:nvSpPr>
          <p:spPr>
            <a:xfrm>
              <a:off x="889826" y="3044904"/>
              <a:ext cx="112594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spherical CNNs.</a:t>
              </a:r>
            </a:p>
          </p:txBody>
        </p:sp>
      </p:grpSp>
      <p:grpSp>
        <p:nvGrpSpPr>
          <p:cNvPr id="17" name="Group 17"/>
          <p:cNvGrpSpPr/>
          <p:nvPr/>
        </p:nvGrpSpPr>
        <p:grpSpPr>
          <a:xfrm>
            <a:off x="6248400" y="1600200"/>
            <a:ext cx="5334000" cy="1676400"/>
            <a:chOff x="6248400" y="1600200"/>
            <a:chExt cx="5334000" cy="1676400"/>
          </a:xfrm>
        </p:grpSpPr>
        <p:sp>
          <p:nvSpPr>
            <p:cNvPr id="12" name="Rectangle 12"/>
            <p:cNvSpPr/>
            <p:nvPr/>
          </p:nvSpPr>
          <p:spPr>
            <a:xfrm>
              <a:off x="6248400" y="1600200"/>
              <a:ext cx="5334000" cy="1676400"/>
            </a:xfrm>
            <a:prstGeom prst="roundRect">
              <a:avLst>
                <a:gd name="adj" fmla="val 7955"/>
              </a:avLst>
            </a:prstGeom>
            <a:solidFill>
              <a:schemeClr val="accent5"/>
            </a:solidFill>
            <a:ln w="14288">
              <a:solidFill>
                <a:srgbClr val="26455F"/>
              </a:solidFill>
            </a:ln>
          </p:spPr>
        </p:sp>
        <p:sp>
          <p:nvSpPr>
            <p:cNvPr id="13" name="Rectangle 13"/>
            <p:cNvSpPr/>
            <p:nvPr/>
          </p:nvSpPr>
          <p:spPr>
            <a:xfrm>
              <a:off x="6248400" y="1600200"/>
              <a:ext cx="57150" cy="1676400"/>
            </a:xfrm>
            <a:prstGeom prst="roundRect">
              <a:avLst>
                <a:gd name="adj" fmla="val 50000"/>
              </a:avLst>
            </a:prstGeom>
            <a:solidFill>
              <a:srgbClr val="48C78E"/>
            </a:solidFill>
            <a:ln>
              <a:noFill/>
            </a:ln>
          </p:spPr>
        </p:sp>
        <p:sp>
          <p:nvSpPr>
            <p:cNvPr id="14" name="TextBox 14"/>
            <p:cNvSpPr txBox="1"/>
            <p:nvPr/>
          </p:nvSpPr>
          <p:spPr>
            <a:xfrm>
              <a:off x="6517386" y="1986915"/>
              <a:ext cx="2622372" cy="645414"/>
            </a:xfrm>
            <a:prstGeom prst="rect">
              <a:avLst/>
            </a:prstGeom>
            <a:noFill/>
            <a:ln>
              <a:noFill/>
            </a:ln>
          </p:spPr>
          <p:txBody>
            <a:bodyPr wrap="none" lIns="0" tIns="0" rIns="0" bIns="0" anchor="t" anchorCtr="0">
              <a:spAutoFit/>
            </a:bodyPr>
            <a:lstStyle/>
            <a:p>
              <a:pPr algn="l"/>
              <a:r>
                <a:rPr lang="en-US" sz="3300" b="1" dirty="0">
                  <a:solidFill>
                    <a:srgbClr val="48C78E"/>
                  </a:solidFill>
                  <a:latin typeface="+mn-lt"/>
                  <a:ea typeface="+mn-ea"/>
                  <a:cs typeface="+mn-cs"/>
                </a:rPr>
                <a:t>8/12 · 9/12</a:t>
              </a:r>
            </a:p>
          </p:txBody>
        </p:sp>
        <p:sp>
          <p:nvSpPr>
            <p:cNvPr id="15" name="TextBox 15"/>
            <p:cNvSpPr txBox="1"/>
            <p:nvPr/>
          </p:nvSpPr>
          <p:spPr>
            <a:xfrm>
              <a:off x="6527673" y="2529364"/>
              <a:ext cx="279541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QM9 state-of-the-art targets</a:t>
              </a:r>
            </a:p>
          </p:txBody>
        </p:sp>
        <p:sp>
          <p:nvSpPr>
            <p:cNvPr id="16" name="TextBox 16"/>
            <p:cNvSpPr txBox="1"/>
            <p:nvPr/>
          </p:nvSpPr>
          <p:spPr>
            <a:xfrm>
              <a:off x="6528626" y="2835354"/>
              <a:ext cx="399026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SOTA on 8 of 12 targets in Split 1 and 9 of 12 in Split 2.</a:t>
              </a:r>
            </a:p>
          </p:txBody>
        </p:sp>
      </p:grpSp>
      <p:grpSp>
        <p:nvGrpSpPr>
          <p:cNvPr id="24" name="Group 24"/>
          <p:cNvGrpSpPr/>
          <p:nvPr/>
        </p:nvGrpSpPr>
        <p:grpSpPr>
          <a:xfrm>
            <a:off x="609600" y="3429000"/>
            <a:ext cx="5334000" cy="1676400"/>
            <a:chOff x="609600" y="3429000"/>
            <a:chExt cx="5334000" cy="1676400"/>
          </a:xfrm>
        </p:grpSpPr>
        <p:sp>
          <p:nvSpPr>
            <p:cNvPr id="18" name="Rectangle 18"/>
            <p:cNvSpPr/>
            <p:nvPr/>
          </p:nvSpPr>
          <p:spPr>
            <a:xfrm>
              <a:off x="609600" y="3429000"/>
              <a:ext cx="5334000" cy="1676400"/>
            </a:xfrm>
            <a:prstGeom prst="roundRect">
              <a:avLst>
                <a:gd name="adj" fmla="val 7955"/>
              </a:avLst>
            </a:prstGeom>
            <a:solidFill>
              <a:schemeClr val="accent5"/>
            </a:solidFill>
            <a:ln w="14288">
              <a:solidFill>
                <a:srgbClr val="26455F"/>
              </a:solidFill>
            </a:ln>
          </p:spPr>
        </p:sp>
        <p:sp>
          <p:nvSpPr>
            <p:cNvPr id="19" name="Rectangle 19"/>
            <p:cNvSpPr/>
            <p:nvPr/>
          </p:nvSpPr>
          <p:spPr>
            <a:xfrm>
              <a:off x="609600" y="3429000"/>
              <a:ext cx="57150" cy="1676400"/>
            </a:xfrm>
            <a:prstGeom prst="roundRect">
              <a:avLst>
                <a:gd name="adj" fmla="val 50000"/>
              </a:avLst>
            </a:prstGeom>
            <a:solidFill>
              <a:srgbClr val="34D3C0"/>
            </a:solidFill>
            <a:ln>
              <a:noFill/>
            </a:ln>
          </p:spPr>
        </p:sp>
        <p:sp>
          <p:nvSpPr>
            <p:cNvPr id="20" name="TextBox 20"/>
            <p:cNvSpPr txBox="1"/>
            <p:nvPr/>
          </p:nvSpPr>
          <p:spPr>
            <a:xfrm>
              <a:off x="878586" y="3815715"/>
              <a:ext cx="2365820" cy="645414"/>
            </a:xfrm>
            <a:prstGeom prst="rect">
              <a:avLst/>
            </a:prstGeom>
            <a:noFill/>
            <a:ln>
              <a:noFill/>
            </a:ln>
          </p:spPr>
          <p:txBody>
            <a:bodyPr wrap="none" lIns="0" tIns="0" rIns="0" bIns="0" anchor="t" anchorCtr="0">
              <a:spAutoFit/>
            </a:bodyPr>
            <a:lstStyle/>
            <a:p>
              <a:pPr algn="l"/>
              <a:r>
                <a:rPr lang="en-US" sz="3300" b="1" dirty="0">
                  <a:solidFill>
                    <a:srgbClr val="34D3C0"/>
                  </a:solidFill>
                  <a:latin typeface="+mn-lt"/>
                  <a:ea typeface="+mn-ea"/>
                  <a:cs typeface="+mn-cs"/>
                </a:rPr>
                <a:t>3x -&gt; 100x</a:t>
              </a:r>
            </a:p>
          </p:txBody>
        </p:sp>
        <p:sp>
          <p:nvSpPr>
            <p:cNvPr id="21" name="TextBox 21"/>
            <p:cNvSpPr txBox="1"/>
            <p:nvPr/>
          </p:nvSpPr>
          <p:spPr>
            <a:xfrm>
              <a:off x="888873" y="4358164"/>
              <a:ext cx="61002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faster</a:t>
              </a:r>
            </a:p>
          </p:txBody>
        </p:sp>
        <p:sp>
          <p:nvSpPr>
            <p:cNvPr id="22" name="TextBox 22"/>
            <p:cNvSpPr txBox="1"/>
            <p:nvPr/>
          </p:nvSpPr>
          <p:spPr>
            <a:xfrm>
              <a:off x="889826" y="4664154"/>
              <a:ext cx="459437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About 3x faster than the original in JAX; up to 100x on 32 TPUs,</a:t>
              </a:r>
            </a:p>
          </p:txBody>
        </p:sp>
        <p:sp>
          <p:nvSpPr>
            <p:cNvPr id="23" name="TextBox 23"/>
            <p:cNvSpPr txBox="1"/>
            <p:nvPr/>
          </p:nvSpPr>
          <p:spPr>
            <a:xfrm>
              <a:off x="889826" y="4873704"/>
              <a:ext cx="90613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distributed.</a:t>
              </a:r>
            </a:p>
          </p:txBody>
        </p:sp>
      </p:grpSp>
      <p:grpSp>
        <p:nvGrpSpPr>
          <p:cNvPr id="31" name="Group 31"/>
          <p:cNvGrpSpPr/>
          <p:nvPr/>
        </p:nvGrpSpPr>
        <p:grpSpPr>
          <a:xfrm>
            <a:off x="6248400" y="3429000"/>
            <a:ext cx="5334000" cy="1676400"/>
            <a:chOff x="6248400" y="3429000"/>
            <a:chExt cx="5334000" cy="1676400"/>
          </a:xfrm>
        </p:grpSpPr>
        <p:sp>
          <p:nvSpPr>
            <p:cNvPr id="25" name="Rectangle 25"/>
            <p:cNvSpPr/>
            <p:nvPr/>
          </p:nvSpPr>
          <p:spPr>
            <a:xfrm>
              <a:off x="6248400" y="3429000"/>
              <a:ext cx="5334000" cy="1676400"/>
            </a:xfrm>
            <a:prstGeom prst="roundRect">
              <a:avLst>
                <a:gd name="adj" fmla="val 7955"/>
              </a:avLst>
            </a:prstGeom>
            <a:solidFill>
              <a:schemeClr val="accent5"/>
            </a:solidFill>
            <a:ln w="14288">
              <a:solidFill>
                <a:srgbClr val="26455F"/>
              </a:solidFill>
            </a:ln>
          </p:spPr>
        </p:sp>
        <p:sp>
          <p:nvSpPr>
            <p:cNvPr id="26" name="Rectangle 26"/>
            <p:cNvSpPr/>
            <p:nvPr/>
          </p:nvSpPr>
          <p:spPr>
            <a:xfrm>
              <a:off x="6248400" y="3429000"/>
              <a:ext cx="57150" cy="1676400"/>
            </a:xfrm>
            <a:prstGeom prst="roundRect">
              <a:avLst>
                <a:gd name="adj" fmla="val 50000"/>
              </a:avLst>
            </a:prstGeom>
            <a:solidFill>
              <a:srgbClr val="F2C14E"/>
            </a:solidFill>
            <a:ln>
              <a:noFill/>
            </a:ln>
          </p:spPr>
        </p:sp>
        <p:sp>
          <p:nvSpPr>
            <p:cNvPr id="27" name="TextBox 27"/>
            <p:cNvSpPr txBox="1"/>
            <p:nvPr/>
          </p:nvSpPr>
          <p:spPr>
            <a:xfrm>
              <a:off x="6517386" y="3815715"/>
              <a:ext cx="1409580" cy="645414"/>
            </a:xfrm>
            <a:prstGeom prst="rect">
              <a:avLst/>
            </a:prstGeom>
            <a:noFill/>
            <a:ln>
              <a:noFill/>
            </a:ln>
          </p:spPr>
          <p:txBody>
            <a:bodyPr wrap="none" lIns="0" tIns="0" rIns="0" bIns="0" anchor="t" anchorCtr="0">
              <a:spAutoFit/>
            </a:bodyPr>
            <a:lstStyle/>
            <a:p>
              <a:pPr algn="l"/>
              <a:r>
                <a:rPr lang="en-US" sz="3300" b="1" dirty="0">
                  <a:solidFill>
                    <a:srgbClr val="F2C14E"/>
                  </a:solidFill>
                  <a:latin typeface="+mn-lt"/>
                  <a:ea typeface="+mn-ea"/>
                  <a:cs typeface="+mn-cs"/>
                </a:rPr>
                <a:t>-8.0%</a:t>
              </a:r>
            </a:p>
          </p:txBody>
        </p:sp>
        <p:sp>
          <p:nvSpPr>
            <p:cNvPr id="28" name="TextBox 28"/>
            <p:cNvSpPr txBox="1"/>
            <p:nvPr/>
          </p:nvSpPr>
          <p:spPr>
            <a:xfrm>
              <a:off x="6527673" y="4358164"/>
              <a:ext cx="950616"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QM9 error</a:t>
              </a:r>
            </a:p>
          </p:txBody>
        </p:sp>
        <p:sp>
          <p:nvSpPr>
            <p:cNvPr id="29" name="TextBox 29"/>
            <p:cNvSpPr txBox="1"/>
            <p:nvPr/>
          </p:nvSpPr>
          <p:spPr>
            <a:xfrm>
              <a:off x="6528626" y="4664154"/>
              <a:ext cx="466248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phase collapse nonlinearity alone reduces QM9 error by eight</a:t>
              </a:r>
            </a:p>
          </p:txBody>
        </p:sp>
        <p:sp>
          <p:nvSpPr>
            <p:cNvPr id="30" name="TextBox 30"/>
            <p:cNvSpPr txBox="1"/>
            <p:nvPr/>
          </p:nvSpPr>
          <p:spPr>
            <a:xfrm>
              <a:off x="6528626" y="4873704"/>
              <a:ext cx="65668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percent.</a:t>
              </a:r>
            </a:p>
          </p:txBody>
        </p:sp>
      </p:grpSp>
      <p:sp>
        <p:nvSpPr>
          <p:cNvPr id="32" name="cue_s09_c1_numbers_summarize_impact_models_scal" title="cue_s09_c1_numbers_summarize_impact_models_scal" descr="cue_s09_c1_numbers_summarize_impact_models_scal Here are the numbers that summarize the impact. The models scale by one full order of magnitude in both operations and feature resolution compared to prior spherical CNNs."/>
          <p:cNvSpPr/>
          <p:nvPr/>
        </p:nvSpPr>
        <p:spPr>
          <a:xfrm>
            <a:off x="609600" y="1599971"/>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09_c2_they_set_state_art_eight" title="cue_s09_c2_they_set_state_art_eight" descr="cue_s09_c2_they_set_state_art_eight They set state of the art on eight of twelve QM9 targets in the first split and nine of twelve in the second."/>
          <p:cNvSpPr/>
          <p:nvPr/>
        </p:nvSpPr>
        <p:spPr>
          <a:xfrm>
            <a:off x="6248399" y="1599971"/>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9_c3_new_jax_implementation_about_three" title="cue_s09_c3_new_jax_implementation_about_three" descr="cue_s09_c3_new_jax_implementation_about_three The new JAX implementation is about three times faster than the original, and running distributed across thirty two TPUs speeds it up by a hundred times or more."/>
          <p:cNvSpPr/>
          <p:nvPr/>
        </p:nvSpPr>
        <p:spPr>
          <a:xfrm>
            <a:off x="609600" y="3429000"/>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9_c4_phase_collapse_nonlinearity_alone_re" title="cue_s09_c4_phase_collapse_nonlinearity_alone_re" descr="cue_s09_c4_phase_collapse_nonlinearity_alone_re And the phase collapse nonlinearity alone reduces QM9 error by eight percent."/>
          <p:cNvSpPr/>
          <p:nvPr/>
        </p:nvSpPr>
        <p:spPr>
          <a:xfrm>
            <a:off x="6248399" y="3429000"/>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481977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Not limited - just poorly scaled</a:t>
            </a:r>
          </a:p>
        </p:txBody>
      </p:sp>
      <p:grpSp>
        <p:nvGrpSpPr>
          <p:cNvPr id="10" name="Group 10"/>
          <p:cNvGrpSpPr/>
          <p:nvPr/>
        </p:nvGrpSpPr>
        <p:grpSpPr>
          <a:xfrm>
            <a:off x="609600" y="1600200"/>
            <a:ext cx="10972800" cy="838200"/>
            <a:chOff x="609600" y="1600200"/>
            <a:chExt cx="10972800" cy="838200"/>
          </a:xfrm>
        </p:grpSpPr>
        <p:sp>
          <p:nvSpPr>
            <p:cNvPr id="5" name="Rectangle 5"/>
            <p:cNvSpPr/>
            <p:nvPr/>
          </p:nvSpPr>
          <p:spPr>
            <a:xfrm>
              <a:off x="609600" y="1600200"/>
              <a:ext cx="10972800" cy="838200"/>
            </a:xfrm>
            <a:prstGeom prst="roundRect">
              <a:avLst>
                <a:gd name="adj" fmla="val 15909"/>
              </a:avLst>
            </a:prstGeom>
            <a:solidFill>
              <a:schemeClr val="accent5"/>
            </a:solidFill>
            <a:ln w="14288">
              <a:solidFill>
                <a:srgbClr val="26455F"/>
              </a:solidFill>
            </a:ln>
          </p:spPr>
        </p:sp>
        <p:sp>
          <p:nvSpPr>
            <p:cNvPr id="6" name="Rectangle 6"/>
            <p:cNvSpPr/>
            <p:nvPr/>
          </p:nvSpPr>
          <p:spPr>
            <a:xfrm>
              <a:off x="609600" y="1600200"/>
              <a:ext cx="57150" cy="838200"/>
            </a:xfrm>
            <a:prstGeom prst="roundRect">
              <a:avLst>
                <a:gd name="adj" fmla="val 50000"/>
              </a:avLst>
            </a:prstGeom>
            <a:solidFill>
              <a:schemeClr val="accent2"/>
            </a:solidFill>
            <a:ln>
              <a:noFill/>
            </a:ln>
          </p:spPr>
        </p:sp>
        <p:sp>
          <p:nvSpPr>
            <p:cNvPr id="7" name="Ellipse 7"/>
            <p:cNvSpPr/>
            <p:nvPr/>
          </p:nvSpPr>
          <p:spPr>
            <a:xfrm>
              <a:off x="971550" y="1924050"/>
              <a:ext cx="190500" cy="190500"/>
            </a:xfrm>
            <a:prstGeom prst="ellipse">
              <a:avLst/>
            </a:prstGeom>
            <a:solidFill>
              <a:schemeClr val="accent2"/>
            </a:solidFill>
            <a:ln>
              <a:noFill/>
            </a:ln>
          </p:spPr>
        </p:sp>
        <p:sp>
          <p:nvSpPr>
            <p:cNvPr id="8" name="TextBox 8"/>
            <p:cNvSpPr txBox="1"/>
            <p:nvPr/>
          </p:nvSpPr>
          <p:spPr>
            <a:xfrm>
              <a:off x="1421511" y="1827371"/>
              <a:ext cx="2730312"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Never fundamentally limited</a:t>
              </a:r>
            </a:p>
          </p:txBody>
        </p:sp>
        <p:sp>
          <p:nvSpPr>
            <p:cNvPr id="9" name="TextBox 9"/>
            <p:cNvSpPr txBox="1"/>
            <p:nvPr/>
          </p:nvSpPr>
          <p:spPr>
            <a:xfrm>
              <a:off x="1422844" y="2141458"/>
              <a:ext cx="692733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Spherical CNNs were not held back by any inherent ceiling - they were simply poorly scaled.</a:t>
              </a:r>
            </a:p>
          </p:txBody>
        </p:sp>
      </p:grpSp>
      <p:grpSp>
        <p:nvGrpSpPr>
          <p:cNvPr id="18" name="Group 18"/>
          <p:cNvGrpSpPr/>
          <p:nvPr/>
        </p:nvGrpSpPr>
        <p:grpSpPr>
          <a:xfrm>
            <a:off x="609600" y="2609850"/>
            <a:ext cx="10972800" cy="1295400"/>
            <a:chOff x="609600" y="2609850"/>
            <a:chExt cx="10972800" cy="1295400"/>
          </a:xfrm>
        </p:grpSpPr>
        <p:sp>
          <p:nvSpPr>
            <p:cNvPr id="11" name="Rectangle 11"/>
            <p:cNvSpPr/>
            <p:nvPr/>
          </p:nvSpPr>
          <p:spPr>
            <a:xfrm>
              <a:off x="609600" y="2609850"/>
              <a:ext cx="10972800" cy="1295400"/>
            </a:xfrm>
            <a:prstGeom prst="roundRect">
              <a:avLst>
                <a:gd name="adj" fmla="val 10294"/>
              </a:avLst>
            </a:prstGeom>
            <a:solidFill>
              <a:schemeClr val="accent5"/>
            </a:solidFill>
            <a:ln w="14288">
              <a:solidFill>
                <a:srgbClr val="26455F"/>
              </a:solidFill>
            </a:ln>
          </p:spPr>
        </p:sp>
        <p:sp>
          <p:nvSpPr>
            <p:cNvPr id="12" name="Rectangle 12"/>
            <p:cNvSpPr/>
            <p:nvPr/>
          </p:nvSpPr>
          <p:spPr>
            <a:xfrm>
              <a:off x="609600" y="2609850"/>
              <a:ext cx="57150" cy="1295400"/>
            </a:xfrm>
            <a:prstGeom prst="roundRect">
              <a:avLst>
                <a:gd name="adj" fmla="val 50000"/>
              </a:avLst>
            </a:prstGeom>
            <a:solidFill>
              <a:srgbClr val="34D3C0"/>
            </a:solidFill>
            <a:ln>
              <a:noFill/>
            </a:ln>
          </p:spPr>
        </p:sp>
        <p:sp>
          <p:nvSpPr>
            <p:cNvPr id="13" name="Ellipse 13"/>
            <p:cNvSpPr/>
            <p:nvPr/>
          </p:nvSpPr>
          <p:spPr>
            <a:xfrm>
              <a:off x="971550" y="3162300"/>
              <a:ext cx="190500" cy="190500"/>
            </a:xfrm>
            <a:prstGeom prst="ellipse">
              <a:avLst/>
            </a:prstGeom>
            <a:solidFill>
              <a:srgbClr val="34D3C0"/>
            </a:solidFill>
            <a:ln>
              <a:noFill/>
            </a:ln>
          </p:spPr>
        </p:sp>
        <p:sp>
          <p:nvSpPr>
            <p:cNvPr id="14" name="TextBox 14"/>
            <p:cNvSpPr txBox="1"/>
            <p:nvPr/>
          </p:nvSpPr>
          <p:spPr>
            <a:xfrm>
              <a:off x="1421511" y="2837021"/>
              <a:ext cx="301169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Redesign plus hardware-tuning</a:t>
              </a:r>
            </a:p>
          </p:txBody>
        </p:sp>
        <p:sp>
          <p:nvSpPr>
            <p:cNvPr id="15" name="TextBox 15"/>
            <p:cNvSpPr txBox="1"/>
            <p:nvPr/>
          </p:nvSpPr>
          <p:spPr>
            <a:xfrm>
              <a:off x="1422844" y="3151108"/>
              <a:ext cx="703613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Redesigning the nonlinearity, normalization and residual block, plus an implementation tuned</a:t>
              </a:r>
            </a:p>
          </p:txBody>
        </p:sp>
        <p:sp>
          <p:nvSpPr>
            <p:cNvPr id="16" name="TextBox 16"/>
            <p:cNvSpPr txBox="1"/>
            <p:nvPr/>
          </p:nvSpPr>
          <p:spPr>
            <a:xfrm>
              <a:off x="1422844" y="3379708"/>
              <a:ext cx="680473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to modern accelerators, lets them finally scale - state of the art on molecular property</a:t>
              </a:r>
            </a:p>
          </p:txBody>
        </p:sp>
        <p:sp>
          <p:nvSpPr>
            <p:cNvPr id="17" name="TextBox 17"/>
            <p:cNvSpPr txBox="1"/>
            <p:nvPr/>
          </p:nvSpPr>
          <p:spPr>
            <a:xfrm>
              <a:off x="1422844" y="3608308"/>
              <a:ext cx="4844938"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prediction and genuinely competitive as neural weather models.</a:t>
              </a:r>
            </a:p>
          </p:txBody>
        </p:sp>
      </p:grpSp>
      <p:grpSp>
        <p:nvGrpSpPr>
          <p:cNvPr id="25" name="Group 25"/>
          <p:cNvGrpSpPr/>
          <p:nvPr/>
        </p:nvGrpSpPr>
        <p:grpSpPr>
          <a:xfrm>
            <a:off x="609600" y="4076700"/>
            <a:ext cx="10972800" cy="1066800"/>
            <a:chOff x="609600" y="4076700"/>
            <a:chExt cx="10972800" cy="1066800"/>
          </a:xfrm>
        </p:grpSpPr>
        <p:sp>
          <p:nvSpPr>
            <p:cNvPr id="19" name="Rectangle 19"/>
            <p:cNvSpPr/>
            <p:nvPr/>
          </p:nvSpPr>
          <p:spPr>
            <a:xfrm>
              <a:off x="609600" y="4076700"/>
              <a:ext cx="10972800" cy="1066800"/>
            </a:xfrm>
            <a:prstGeom prst="roundRect">
              <a:avLst>
                <a:gd name="adj" fmla="val 12500"/>
              </a:avLst>
            </a:prstGeom>
            <a:solidFill>
              <a:schemeClr val="accent5"/>
            </a:solidFill>
            <a:ln w="14288">
              <a:solidFill>
                <a:srgbClr val="26455F"/>
              </a:solidFill>
            </a:ln>
          </p:spPr>
        </p:sp>
        <p:sp>
          <p:nvSpPr>
            <p:cNvPr id="20" name="Rectangle 20"/>
            <p:cNvSpPr/>
            <p:nvPr/>
          </p:nvSpPr>
          <p:spPr>
            <a:xfrm>
              <a:off x="609600" y="4076700"/>
              <a:ext cx="57150" cy="1066800"/>
            </a:xfrm>
            <a:prstGeom prst="roundRect">
              <a:avLst>
                <a:gd name="adj" fmla="val 50000"/>
              </a:avLst>
            </a:prstGeom>
            <a:solidFill>
              <a:srgbClr val="48C78E"/>
            </a:solidFill>
            <a:ln>
              <a:noFill/>
            </a:ln>
          </p:spPr>
        </p:sp>
        <p:sp>
          <p:nvSpPr>
            <p:cNvPr id="21" name="Ellipse 21"/>
            <p:cNvSpPr/>
            <p:nvPr/>
          </p:nvSpPr>
          <p:spPr>
            <a:xfrm>
              <a:off x="971550" y="4514850"/>
              <a:ext cx="190500" cy="190500"/>
            </a:xfrm>
            <a:prstGeom prst="ellipse">
              <a:avLst/>
            </a:prstGeom>
            <a:solidFill>
              <a:srgbClr val="48C78E"/>
            </a:solidFill>
            <a:ln>
              <a:noFill/>
            </a:ln>
          </p:spPr>
        </p:sp>
        <p:sp>
          <p:nvSpPr>
            <p:cNvPr id="22" name="TextBox 22"/>
            <p:cNvSpPr txBox="1"/>
            <p:nvPr/>
          </p:nvSpPr>
          <p:spPr>
            <a:xfrm>
              <a:off x="1421511" y="4303871"/>
              <a:ext cx="1677100"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An open platform</a:t>
              </a:r>
            </a:p>
          </p:txBody>
        </p:sp>
        <p:sp>
          <p:nvSpPr>
            <p:cNvPr id="23" name="TextBox 23"/>
            <p:cNvSpPr txBox="1"/>
            <p:nvPr/>
          </p:nvSpPr>
          <p:spPr>
            <a:xfrm>
              <a:off x="1422844" y="4617958"/>
              <a:ext cx="720789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authors release their JAX implementation as a platform for further research on spherical</a:t>
              </a:r>
            </a:p>
          </p:txBody>
        </p:sp>
        <p:sp>
          <p:nvSpPr>
            <p:cNvPr id="24" name="TextBox 24"/>
            <p:cNvSpPr txBox="1"/>
            <p:nvPr/>
          </p:nvSpPr>
          <p:spPr>
            <a:xfrm>
              <a:off x="1422844" y="4846558"/>
              <a:ext cx="44124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data.</a:t>
              </a:r>
            </a:p>
          </p:txBody>
        </p:sp>
      </p:grpSp>
      <p:sp>
        <p:nvSpPr>
          <p:cNvPr id="26" name="Line 26"/>
          <p:cNvSpPr/>
          <p:nvPr/>
        </p:nvSpPr>
        <p:spPr>
          <a:xfrm>
            <a:off x="609600" y="53721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7" name="TextBox 27"/>
          <p:cNvSpPr txBox="1"/>
          <p:nvPr/>
        </p:nvSpPr>
        <p:spPr>
          <a:xfrm>
            <a:off x="603504" y="5566410"/>
            <a:ext cx="183562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Scaling Spherical CNNs</a:t>
            </a:r>
          </a:p>
        </p:txBody>
      </p:sp>
      <p:sp>
        <p:nvSpPr>
          <p:cNvPr id="28" name="TextBox 28"/>
          <p:cNvSpPr txBox="1"/>
          <p:nvPr/>
        </p:nvSpPr>
        <p:spPr>
          <a:xfrm>
            <a:off x="604456" y="5834301"/>
            <a:ext cx="5283446"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ICML 2023 · arXiv:2306.05420 · github.com/google-research/spherical-cnn</a:t>
            </a:r>
          </a:p>
        </p:txBody>
      </p:sp>
      <p:sp>
        <p:nvSpPr>
          <p:cNvPr id="29" name="cue_s10_c1_takeaway_spherical_cnns_never_fundam" title="cue_s10_c1_takeaway_spherical_cnns_never_fundam" descr="cue_s10_c1_takeaway_spherical_cnns_never_fundam The takeaway is that spherical CNNs were never fundamentally limited, they were just poorly scaled."/>
          <p:cNvSpPr/>
          <p:nvPr/>
        </p:nvSpPr>
        <p:spPr>
          <a:xfrm>
            <a:off x="609600" y="1599971"/>
            <a:ext cx="10972800" cy="838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ue_s10_c2_redesign_nonlinearity_normalization" title="cue_s10_c2_redesign_nonlinearity_normalization" descr="cue_s10_c2_redesign_nonlinearity_normalization With a redesign of the nonlinearity, normalization, and residual block, plus an implementation tuned to modern accelerators, these models finally scale to real problems, reaching state of the art on molecular property prediction and becoming genuinely competit"/>
          <p:cNvSpPr/>
          <p:nvPr/>
        </p:nvSpPr>
        <p:spPr>
          <a:xfrm>
            <a:off x="609600" y="2610154"/>
            <a:ext cx="10972800" cy="12954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3_authors_release_their_jax_implementa" title="cue_s10_c3_authors_release_their_jax_implementa" descr="cue_s10_c3_authors_release_their_jax_implementa The authors release their JAX implementation as a platform for further research on spherical data."/>
          <p:cNvSpPr/>
          <p:nvPr/>
        </p:nvSpPr>
        <p:spPr>
          <a:xfrm>
            <a:off x="609600" y="4076395"/>
            <a:ext cx="10972800" cy="10671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ppt_projec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2026-07-16T13:51:49Z</dcterms:created>
  <dcterms:modified xsi:type="dcterms:W3CDTF">2026-07-16T13:51:49Z</dcterms:modified>
  <cp:category/>
  <cp:contentStatus/>
</cp:coreProperties>
</file>
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3263741"/>
          </a:xfrm>
          <a:prstGeom prst="roundRect">
            <a:avLst>
              <a:gd name="adj" fmla="val 4358"/>
            </a:avLst>
          </a:prstGeom>
          <a:solidFill>
            <a:srgbClr val="E8EDF7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4437082"/>
            <a:ext cx="10804961" cy="9231987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3568" y="4437082"/>
            <a:ext cx="27439124" cy="14524176"/>
          </a:xfrm>
          <a:prstGeom prst="roundRect">
            <a:avLst>
              <a:gd name="adj" fmla="val 571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9749412" y="4437082"/>
            <a:ext cx="10804962" cy="7454682"/>
          </a:xfrm>
          <a:prstGeom prst="roundRect">
            <a:avLst>
              <a:gd name="adj" fmla="val 1113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749412" y="12223611"/>
            <a:ext cx="10804962" cy="5356641"/>
          </a:xfrm>
          <a:prstGeom prst="roundRect">
            <a:avLst>
              <a:gd name="adj" fmla="val 1548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1887" y="14000916"/>
            <a:ext cx="10804961" cy="16071036"/>
          </a:xfrm>
          <a:prstGeom prst="roundRect">
            <a:avLst>
              <a:gd name="adj" fmla="val 767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49412" y="17912099"/>
            <a:ext cx="10804962" cy="7185343"/>
          </a:xfrm>
          <a:prstGeom prst="roundRect">
            <a:avLst>
              <a:gd name="adj" fmla="val 1154"/>
            </a:avLst>
          </a:prstGeom>
          <a:solidFill>
            <a:srgbClr val="EDF1F7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749412" y="17912099"/>
            <a:ext cx="53340" cy="7185343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749412" y="25429289"/>
            <a:ext cx="10804962" cy="4642663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9991" y="4825186"/>
            <a:ext cx="3442791" cy="924560"/>
          </a:xfrm>
          <a:prstGeom prst="roundRect">
            <a:avLst>
              <a:gd name="adj" fmla="val 10256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271672" y="4825186"/>
            <a:ext cx="3125391" cy="924560"/>
          </a:xfrm>
          <a:prstGeom prst="roundRect">
            <a:avLst>
              <a:gd name="adj" fmla="val 10256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0137516" y="4825186"/>
            <a:ext cx="4863108" cy="924560"/>
          </a:xfrm>
          <a:prstGeom prst="roundRect">
            <a:avLst>
              <a:gd name="adj" fmla="val 10256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0137516" y="9808725"/>
            <a:ext cx="10028754" cy="1695629"/>
          </a:xfrm>
          <a:prstGeom prst="roundRect">
            <a:avLst>
              <a:gd name="adj" fmla="val 9527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137516" y="9808725"/>
            <a:ext cx="106680" cy="1695629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9991" y="10603408"/>
            <a:ext cx="10028753" cy="268061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39991" y="10603408"/>
            <a:ext cx="115570" cy="2680613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0137516" y="12611715"/>
            <a:ext cx="6841827" cy="924560"/>
          </a:xfrm>
          <a:prstGeom prst="roundRect">
            <a:avLst>
              <a:gd name="adj" fmla="val 10256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0137516" y="13856315"/>
            <a:ext cx="10028754" cy="3336250"/>
          </a:xfrm>
          <a:prstGeom prst="roundRect">
            <a:avLst>
              <a:gd name="adj" fmla="val 2131"/>
            </a:avLst>
          </a:prstGeom>
          <a:gradFill rotWithShape="1" flip="none">
            <a:gsLst>
              <a:gs pos="0">
                <a:srgbClr val="E4E7F1"/>
              </a:gs>
              <a:gs pos="100000">
                <a:srgbClr val="F1F3F8"/>
              </a:gs>
            </a:gsLst>
            <a:lin ang="5400000" scaled="0"/>
          </a:gradFill>
          <a:ln w="8890">
            <a:solidFill>
              <a:srgbClr val="C6CEE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39991" y="14389020"/>
            <a:ext cx="4153019" cy="924560"/>
          </a:xfrm>
          <a:prstGeom prst="roundRect">
            <a:avLst>
              <a:gd name="adj" fmla="val 10256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0181966" y="18300203"/>
            <a:ext cx="3905349" cy="924560"/>
          </a:xfrm>
          <a:prstGeom prst="roundRect">
            <a:avLst>
              <a:gd name="adj" fmla="val 10256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883568" y="19293105"/>
            <a:ext cx="13553639" cy="10778847"/>
          </a:xfrm>
          <a:prstGeom prst="roundRect">
            <a:avLst>
              <a:gd name="adj" fmla="val 769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5769054" y="19293105"/>
            <a:ext cx="13553638" cy="10778847"/>
          </a:xfrm>
          <a:prstGeom prst="roundRect">
            <a:avLst>
              <a:gd name="adj" fmla="val 769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0181966" y="21897042"/>
            <a:ext cx="9984304" cy="2812851"/>
          </a:xfrm>
          <a:prstGeom prst="roundRect">
            <a:avLst>
              <a:gd name="adj" fmla="val 6897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39991" y="26850994"/>
            <a:ext cx="10028753" cy="2838411"/>
          </a:xfrm>
          <a:prstGeom prst="roundRect">
            <a:avLst>
              <a:gd name="adj" fmla="val 6945"/>
            </a:avLst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litis-lab-university-of-rouen-norman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47059" y="2573257"/>
            <a:ext cx="2729508" cy="986752"/>
          </a:xfrm>
          <a:prstGeom prst="rect">
            <a:avLst/>
          </a:prstGeom>
        </p:spPr>
      </p:pic>
      <p:pic>
        <p:nvPicPr>
          <p:cNvPr id="27" name="Picture 26" descr="lifat-lab-university-of-tou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13541" y="2573246"/>
            <a:ext cx="3777277" cy="986774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12271672" y="8518425"/>
            <a:ext cx="26662916" cy="3661847"/>
          </a:xfrm>
          <a:prstGeom prst="roundRect">
            <a:avLst>
              <a:gd name="adj" fmla="val 5537"/>
            </a:avLst>
          </a:prstGeom>
          <a:solidFill>
            <a:srgbClr val="F1F3F8"/>
          </a:solidFill>
          <a:ln w="8890">
            <a:solidFill>
              <a:srgbClr val="B6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0567292" y="9947076"/>
            <a:ext cx="1304330" cy="565071"/>
          </a:xfrm>
          <a:prstGeom prst="roundRect">
            <a:avLst>
              <a:gd name="adj" fmla="val 14294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544" b="1">
                <a:solidFill>
                  <a:srgbClr val="FFFFFF"/>
                </a:solidFill>
                <a:latin typeface="Arial"/>
              </a:rPr>
              <a:t>FIRST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4187" y="14078565"/>
            <a:ext cx="4196218" cy="29392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4187" y="14078565"/>
            <a:ext cx="11557" cy="2939256"/>
          </a:xfrm>
          <a:prstGeom prst="rect">
            <a:avLst/>
          </a:prstGeom>
          <a:solidFill>
            <a:srgbClr val="C6C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2271672" y="19681209"/>
            <a:ext cx="7633315" cy="924560"/>
          </a:xfrm>
          <a:prstGeom prst="roundRect">
            <a:avLst>
              <a:gd name="adj" fmla="val 10256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6157158" y="19681209"/>
            <a:ext cx="4668639" cy="924560"/>
          </a:xfrm>
          <a:prstGeom prst="roundRect">
            <a:avLst>
              <a:gd name="adj" fmla="val 10256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6157158" y="23857287"/>
            <a:ext cx="12777430" cy="1942187"/>
          </a:xfrm>
          <a:prstGeom prst="roundRect">
            <a:avLst>
              <a:gd name="adj" fmla="val 50000"/>
            </a:avLst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6157158" y="26080481"/>
            <a:ext cx="12777430" cy="291119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6157158" y="26080481"/>
            <a:ext cx="12777430" cy="11557"/>
          </a:xfrm>
          <a:prstGeom prst="rect">
            <a:avLst/>
          </a:prstGeom>
          <a:solidFill>
            <a:srgbClr val="B0BA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2271672" y="27612340"/>
            <a:ext cx="12777430" cy="156797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271672" y="27612340"/>
            <a:ext cx="12777430" cy="11557"/>
          </a:xfrm>
          <a:prstGeom prst="rect">
            <a:avLst/>
          </a:prstGeom>
          <a:solidFill>
            <a:srgbClr val="B0BA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2271672" y="12541567"/>
            <a:ext cx="26662916" cy="4614882"/>
          </a:xfrm>
          <a:prstGeom prst="roundRect">
            <a:avLst>
              <a:gd name="adj" fmla="val 770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figur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71744" y="12541567"/>
            <a:ext cx="26662772" cy="4614882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12271672" y="24211359"/>
            <a:ext cx="5389840" cy="819825"/>
          </a:xfrm>
          <a:prstGeom prst="roundRect">
            <a:avLst>
              <a:gd name="adj" fmla="val 50000"/>
            </a:avLst>
          </a:prstGeom>
          <a:solidFill>
            <a:srgbClr val="E8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7817921" y="24211359"/>
            <a:ext cx="2079704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MUTAG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0054034" y="24211359"/>
            <a:ext cx="1374199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PTC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1584642" y="24211359"/>
            <a:ext cx="2261116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Proteins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2271672" y="25187592"/>
            <a:ext cx="1497548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NCI1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925629" y="25187592"/>
            <a:ext cx="2087900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IMDB-B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6169937" y="25187592"/>
            <a:ext cx="2137073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IMDB-M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8463418" y="25187592"/>
            <a:ext cx="4576683" cy="819825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555555"/>
                </a:solidFill>
                <a:latin typeface="Arial"/>
              </a:rPr>
              <a:t>Spectral · 900-node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410008" y="25817393"/>
            <a:ext cx="3199984" cy="3199983"/>
          </a:xfrm>
          <a:prstGeom prst="roundRect">
            <a:avLst>
              <a:gd name="adj" fmla="val 4815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pap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28541" y="25935926"/>
            <a:ext cx="2962918" cy="2962917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46966008" y="25817393"/>
            <a:ext cx="3199984" cy="3199983"/>
          </a:xfrm>
          <a:prstGeom prst="roundRect">
            <a:avLst>
              <a:gd name="adj" fmla="val 4815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co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84541" y="25935926"/>
            <a:ext cx="2962918" cy="2962917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12271672" y="26007417"/>
            <a:ext cx="2998708" cy="1604923"/>
          </a:xfrm>
          <a:prstGeom prst="roundRect">
            <a:avLst>
              <a:gd name="adj" fmla="val 16248"/>
            </a:avLst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5531107" y="26007417"/>
            <a:ext cx="2998847" cy="1604923"/>
          </a:xfrm>
          <a:prstGeom prst="roundRect">
            <a:avLst>
              <a:gd name="adj" fmla="val 16248"/>
            </a:avLst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8790681" y="26007417"/>
            <a:ext cx="2998847" cy="1604923"/>
          </a:xfrm>
          <a:prstGeom prst="roundRect">
            <a:avLst>
              <a:gd name="adj" fmla="val 16248"/>
            </a:avLst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22050255" y="26007417"/>
            <a:ext cx="2998847" cy="1604923"/>
          </a:xfrm>
          <a:prstGeom prst="roundRect">
            <a:avLst>
              <a:gd name="adj" fmla="val 16248"/>
            </a:avLst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44382074" y="29159616"/>
            <a:ext cx="1255991" cy="524232"/>
          </a:xfrm>
          <a:prstGeom prst="roundRect">
            <a:avLst>
              <a:gd name="adj" fmla="val 50000"/>
            </a:avLst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333" b="1">
                <a:solidFill>
                  <a:srgbClr val="1D3A87"/>
                </a:solidFill>
                <a:latin typeface="Arial"/>
              </a:rPr>
              <a:t>Paper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7982385" y="29159616"/>
            <a:ext cx="1167369" cy="524232"/>
          </a:xfrm>
          <a:prstGeom prst="roundRect">
            <a:avLst>
              <a:gd name="adj" fmla="val 50000"/>
            </a:avLst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333" b="1">
                <a:solidFill>
                  <a:srgbClr val="1D3A87"/>
                </a:solidFill>
                <a:latin typeface="Arial"/>
              </a:rPr>
              <a:t>Code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157158" y="21119722"/>
            <a:ext cx="6508174" cy="814408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6157158" y="21925240"/>
            <a:ext cx="6508174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2665332" y="21119722"/>
            <a:ext cx="3645595" cy="814408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2665332" y="21925240"/>
            <a:ext cx="364559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6310927" y="21119722"/>
            <a:ext cx="2623661" cy="814408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6310927" y="21925240"/>
            <a:ext cx="2623661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6157158" y="21934130"/>
            <a:ext cx="6508174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6157158" y="22744092"/>
            <a:ext cx="6508174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2665332" y="21934130"/>
            <a:ext cx="3645595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2665332" y="22744092"/>
            <a:ext cx="364559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6310927" y="21934130"/>
            <a:ext cx="2623661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6310927" y="22744092"/>
            <a:ext cx="2623661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6157158" y="22752982"/>
            <a:ext cx="6508174" cy="818853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6157158" y="23562945"/>
            <a:ext cx="6508174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2665332" y="22752982"/>
            <a:ext cx="3645595" cy="818853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2665332" y="23562945"/>
            <a:ext cx="364559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6310927" y="22752982"/>
            <a:ext cx="2623661" cy="818853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6310927" y="23562945"/>
            <a:ext cx="2623661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315581" y="1007487"/>
            <a:ext cx="41641871" cy="12953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8870"/>
              </a:lnSpc>
              <a:spcBef>
                <a:spcPts val="0"/>
              </a:spcBef>
              <a:spcAft>
                <a:spcPts val="0"/>
              </a:spcAft>
            </a:pPr>
            <a:r>
              <a:rPr sz="8213" b="1" spc="-82">
                <a:solidFill>
                  <a:srgbClr val="1D3A87"/>
                </a:solidFill>
                <a:latin typeface="Arial"/>
              </a:rPr>
              <a:t>G²N²: Weisfeiler and Lehman Go Grammatical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315581" y="2363350"/>
            <a:ext cx="41641871" cy="744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095"/>
              </a:lnSpc>
              <a:spcBef>
                <a:spcPts val="0"/>
              </a:spcBef>
              <a:spcAft>
                <a:spcPts val="0"/>
              </a:spcAft>
            </a:pPr>
            <a:r>
              <a:rPr sz="3920" b="0">
                <a:solidFill>
                  <a:srgbClr val="1B2331"/>
                </a:solidFill>
                <a:latin typeface="Arial"/>
              </a:rPr>
              <a:t>Jason Piquenot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920" b="0">
                <a:solidFill>
                  <a:srgbClr val="1B2331"/>
                </a:solidFill>
                <a:latin typeface="Arial"/>
              </a:rPr>
              <a:t>, Aldo Moscatelli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920" b="0">
                <a:solidFill>
                  <a:srgbClr val="1B2331"/>
                </a:solidFill>
                <a:latin typeface="Arial"/>
              </a:rPr>
              <a:t>, Maxime Bérar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920" b="0">
                <a:solidFill>
                  <a:srgbClr val="1B2331"/>
                </a:solidFill>
                <a:latin typeface="Arial"/>
              </a:rPr>
              <a:t>, Pierre Héroux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920" b="0">
                <a:solidFill>
                  <a:srgbClr val="1B2331"/>
                </a:solidFill>
                <a:latin typeface="Arial"/>
              </a:rPr>
              <a:t>, Jean-Yves Ramel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920" b="0">
                <a:solidFill>
                  <a:srgbClr val="1B2331"/>
                </a:solidFill>
                <a:latin typeface="Arial"/>
              </a:rPr>
              <a:t>, Romain Raveaux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920" b="0">
                <a:solidFill>
                  <a:srgbClr val="1B2331"/>
                </a:solidFill>
                <a:latin typeface="Arial"/>
              </a:rPr>
              <a:t>, Sébastien Adam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315581" y="3063577"/>
            <a:ext cx="41641871" cy="5533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LITIS Lab, University of Rouen Normandy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LIFAT Lab, University of Tours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6220221" y="1149727"/>
            <a:ext cx="3487700" cy="11463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849"/>
              </a:lnSpc>
              <a:spcBef>
                <a:spcPts val="0"/>
              </a:spcBef>
              <a:spcAft>
                <a:spcPts val="0"/>
              </a:spcAft>
            </a:pPr>
            <a:r>
              <a:rPr sz="5413" b="1" spc="54">
                <a:solidFill>
                  <a:srgbClr val="1D3A87"/>
                </a:solidFill>
                <a:latin typeface="Arial"/>
              </a:rPr>
              <a:t>ICLR 2024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39991" y="4825186"/>
            <a:ext cx="3546074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Problem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271672" y="4825186"/>
            <a:ext cx="3219152" cy="1063244"/>
          </a:xfrm>
          <a:prstGeom prst="rect">
            <a:avLst/>
          </a:prstGeom>
          <a:noFill/>
        </p:spPr>
        <p:txBody>
          <a:bodyPr wrap="non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Method 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0137516" y="4825186"/>
            <a:ext cx="5009001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Contribution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39991" y="6069786"/>
            <a:ext cx="10329615" cy="49302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627"/>
              </a:lnSpc>
              <a:spcBef>
                <a:spcPts val="0"/>
              </a:spcBef>
              <a:spcAft>
                <a:spcPts val="0"/>
              </a:spcAft>
            </a:pPr>
            <a:r>
              <a:rPr sz="3880" b="0">
                <a:solidFill>
                  <a:srgbClr val="1C1C1C"/>
                </a:solidFill>
                <a:latin typeface="Arial"/>
              </a:rPr>
              <a:t>Building GNNs with </a:t>
            </a:r>
            <a:r>
              <a:rPr sz="3880" b="1">
                <a:solidFill>
                  <a:srgbClr val="111111"/>
                </a:solidFill>
                <a:latin typeface="Arial"/>
              </a:rPr>
              <a:t>guaranteed expressive</a:t>
            </a:r>
          </a:p>
          <a:p>
            <a:pPr algn="l">
              <a:lnSpc>
                <a:spcPts val="5627"/>
              </a:lnSpc>
              <a:spcBef>
                <a:spcPts val="0"/>
              </a:spcBef>
              <a:spcAft>
                <a:spcPts val="0"/>
              </a:spcAft>
            </a:pPr>
            <a:r>
              <a:rPr sz="3880" b="1">
                <a:solidFill>
                  <a:srgbClr val="111111"/>
                </a:solidFill>
                <a:latin typeface="Arial"/>
              </a:rPr>
              <a:t>power</a:t>
            </a:r>
            <a:r>
              <a:rPr sz="3880" b="0">
                <a:solidFill>
                  <a:srgbClr val="1C1C1C"/>
                </a:solidFill>
                <a:latin typeface="Arial"/>
              </a:rPr>
              <a:t> usually means </a:t>
            </a:r>
            <a:r>
              <a:rPr sz="3880" b="0" i="1">
                <a:solidFill>
                  <a:srgbClr val="1C1C1C"/>
                </a:solidFill>
                <a:latin typeface="Arial"/>
              </a:rPr>
              <a:t>proving</a:t>
            </a:r>
            <a:r>
              <a:rPr sz="3880" b="0">
                <a:solidFill>
                  <a:srgbClr val="1C1C1C"/>
                </a:solidFill>
                <a:latin typeface="Arial"/>
              </a:rPr>
              <a:t> a model</a:t>
            </a:r>
          </a:p>
          <a:p>
            <a:pPr algn="l">
              <a:lnSpc>
                <a:spcPts val="5627"/>
              </a:lnSpc>
              <a:spcBef>
                <a:spcPts val="0"/>
              </a:spcBef>
              <a:spcAft>
                <a:spcPts val="0"/>
              </a:spcAft>
            </a:pPr>
            <a:r>
              <a:rPr sz="3880" b="0">
                <a:solidFill>
                  <a:srgbClr val="1C1C1C"/>
                </a:solidFill>
                <a:latin typeface="Arial"/>
              </a:rPr>
              <a:t>matches the k-Weisfeiler-Lehman test </a:t>
            </a:r>
            <a:r>
              <a:rPr sz="3880" b="0" i="1">
                <a:solidFill>
                  <a:srgbClr val="1C1C1C"/>
                </a:solidFill>
                <a:latin typeface="Arial"/>
              </a:rPr>
              <a:t>after</a:t>
            </a:r>
            <a:r>
              <a:rPr sz="3880" b="0">
                <a:solidFill>
                  <a:srgbClr val="1C1C1C"/>
                </a:solidFill>
                <a:latin typeface="Arial"/>
              </a:rPr>
              <a:t> it</a:t>
            </a:r>
          </a:p>
          <a:p>
            <a:pPr algn="l">
              <a:lnSpc>
                <a:spcPts val="5627"/>
              </a:lnSpc>
              <a:spcBef>
                <a:spcPts val="0"/>
              </a:spcBef>
              <a:spcAft>
                <a:spcPts val="0"/>
              </a:spcAft>
            </a:pPr>
            <a:r>
              <a:rPr sz="3880" b="0">
                <a:solidFill>
                  <a:srgbClr val="1C1C1C"/>
                </a:solidFill>
                <a:latin typeface="Arial"/>
              </a:rPr>
              <a:t>is designed — no systematic procedure</a:t>
            </a:r>
          </a:p>
          <a:p>
            <a:pPr algn="l">
              <a:lnSpc>
                <a:spcPts val="5627"/>
              </a:lnSpc>
              <a:spcBef>
                <a:spcPts val="0"/>
              </a:spcBef>
              <a:spcAft>
                <a:spcPts val="0"/>
              </a:spcAft>
            </a:pPr>
            <a:r>
              <a:rPr sz="3880" b="0">
                <a:solidFill>
                  <a:srgbClr val="1C1C1C"/>
                </a:solidFill>
                <a:latin typeface="Arial"/>
              </a:rPr>
              <a:t>derives a GNN from a given expressive</a:t>
            </a:r>
          </a:p>
          <a:p>
            <a:pPr algn="l">
              <a:lnSpc>
                <a:spcPts val="5627"/>
              </a:lnSpc>
              <a:spcBef>
                <a:spcPts val="0"/>
              </a:spcBef>
              <a:spcAft>
                <a:spcPts val="0"/>
              </a:spcAft>
            </a:pPr>
            <a:r>
              <a:rPr sz="3880" b="0">
                <a:solidFill>
                  <a:srgbClr val="1C1C1C"/>
                </a:solidFill>
                <a:latin typeface="Arial"/>
              </a:rPr>
              <a:t>language fragment.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39991" y="10603408"/>
            <a:ext cx="10329615" cy="3082704"/>
          </a:xfrm>
          <a:prstGeom prst="rect">
            <a:avLst/>
          </a:prstGeom>
          <a:noFill/>
        </p:spPr>
        <p:txBody>
          <a:bodyPr wrap="none" lIns="345003" rIns="345003" tIns="59143" bIns="59143">
            <a:spAutoFit/>
          </a:bodyPr>
          <a:lstStyle/>
          <a:p>
            <a:pPr algn="l">
              <a:lnSpc>
                <a:spcPts val="5045"/>
              </a:lnSpc>
              <a:spcBef>
                <a:spcPts val="0"/>
              </a:spcBef>
              <a:spcAft>
                <a:spcPts val="0"/>
              </a:spcAft>
            </a:pPr>
            <a:r>
              <a:rPr sz="3880" b="0" i="1">
                <a:solidFill>
                  <a:srgbClr val="1C1C1C"/>
                </a:solidFill>
                <a:latin typeface="Arial"/>
              </a:rPr>
              <a:t>Expressiveness is proved after the fact,</a:t>
            </a:r>
          </a:p>
          <a:p>
            <a:pPr algn="l">
              <a:lnSpc>
                <a:spcPts val="5045"/>
              </a:lnSpc>
              <a:spcBef>
                <a:spcPts val="0"/>
              </a:spcBef>
              <a:spcAft>
                <a:spcPts val="0"/>
              </a:spcAft>
            </a:pPr>
            <a:r>
              <a:rPr sz="3880" b="0" i="1">
                <a:solidFill>
                  <a:srgbClr val="1C1C1C"/>
                </a:solidFill>
                <a:latin typeface="Arial"/>
              </a:rPr>
              <a:t>never built in — 3-IGN is memory-heavy</a:t>
            </a:r>
          </a:p>
          <a:p>
            <a:pPr algn="l">
              <a:lnSpc>
                <a:spcPts val="5045"/>
              </a:lnSpc>
              <a:spcBef>
                <a:spcPts val="0"/>
              </a:spcBef>
              <a:spcAft>
                <a:spcPts val="0"/>
              </a:spcAft>
            </a:pPr>
            <a:r>
              <a:rPr sz="3880" b="0" i="1">
                <a:solidFill>
                  <a:srgbClr val="1C1C1C"/>
                </a:solidFill>
                <a:latin typeface="Arial"/>
              </a:rPr>
              <a:t>(Bell-number basis) and PPGN only</a:t>
            </a:r>
          </a:p>
          <a:p>
            <a:pPr algn="l">
              <a:lnSpc>
                <a:spcPts val="5045"/>
              </a:lnSpc>
              <a:spcBef>
                <a:spcPts val="0"/>
              </a:spcBef>
              <a:spcAft>
                <a:spcPts val="0"/>
              </a:spcAft>
            </a:pPr>
            <a:r>
              <a:rPr sz="3880" b="0" i="1">
                <a:solidFill>
                  <a:srgbClr val="1C1C1C"/>
                </a:solidFill>
                <a:latin typeface="Arial"/>
              </a:rPr>
              <a:t>mimics 2-FWL.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0137516" y="12611715"/>
            <a:ext cx="7047081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Headline Numbers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39991" y="14389020"/>
            <a:ext cx="4277609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Motivation 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0181966" y="18300203"/>
            <a:ext cx="4022509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Takeaway 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0181966" y="19544803"/>
            <a:ext cx="10283833" cy="24263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Reduce a matrix-language fragment to a clean</a:t>
            </a:r>
          </a:p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grammar and read the network off its rules —</a:t>
            </a:r>
          </a:p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expressive </a:t>
            </a:r>
            <a:r>
              <a:rPr sz="3819" b="0" i="1">
                <a:solidFill>
                  <a:srgbClr val="1C1C1C"/>
                </a:solidFill>
                <a:latin typeface="Arial"/>
              </a:rPr>
              <a:t>by construction</a:t>
            </a:r>
            <a:r>
              <a:rPr sz="3819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0181966" y="21897042"/>
            <a:ext cx="10283833" cy="3234778"/>
          </a:xfrm>
          <a:prstGeom prst="rect">
            <a:avLst/>
          </a:prstGeom>
          <a:noFill/>
        </p:spPr>
        <p:txBody>
          <a:bodyPr wrap="none" lIns="339526" rIns="339526" tIns="145511" bIns="145511">
            <a:spAutoFit/>
          </a:bodyPr>
          <a:lstStyle/>
          <a:p>
            <a:pPr algn="l">
              <a:lnSpc>
                <a:spcPts val="4964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FFFFFF"/>
                </a:solidFill>
                <a:latin typeface="Arial"/>
              </a:rPr>
              <a:t>G²N² is a provably 3-WL GNN — faster</a:t>
            </a:r>
          </a:p>
          <a:p>
            <a:pPr algn="l">
              <a:lnSpc>
                <a:spcPts val="4964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FFFFFF"/>
                </a:solidFill>
                <a:latin typeface="Arial"/>
              </a:rPr>
              <a:t>and more accurate than prior 3-WL</a:t>
            </a:r>
          </a:p>
          <a:p>
            <a:pPr algn="l">
              <a:lnSpc>
                <a:spcPts val="4964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FFFFFF"/>
                </a:solidFill>
                <a:latin typeface="Arial"/>
              </a:rPr>
              <a:t>models — and the grammatical route</a:t>
            </a:r>
          </a:p>
          <a:p>
            <a:pPr algn="l">
              <a:lnSpc>
                <a:spcPts val="4964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FFFFFF"/>
                </a:solidFill>
                <a:latin typeface="Arial"/>
              </a:rPr>
              <a:t>generalizes to any algebraic fragment.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39991" y="26850994"/>
            <a:ext cx="10329615" cy="3264172"/>
          </a:xfrm>
          <a:prstGeom prst="rect">
            <a:avLst/>
          </a:prstGeom>
          <a:noFill/>
        </p:spPr>
        <p:txBody>
          <a:bodyPr wrap="none" lIns="320360" rIns="320360" tIns="138001" bIns="138001">
            <a:spAutoFit/>
          </a:bodyPr>
          <a:lstStyle/>
          <a:p>
            <a:pPr algn="l">
              <a:lnSpc>
                <a:spcPts val="5045"/>
              </a:lnSpc>
              <a:spcBef>
                <a:spcPts val="0"/>
              </a:spcBef>
              <a:spcAft>
                <a:spcPts val="0"/>
              </a:spcAft>
            </a:pPr>
            <a:r>
              <a:rPr sz="3880" b="0">
                <a:solidFill>
                  <a:srgbClr val="1D3A87"/>
                </a:solidFill>
                <a:latin typeface="Arial"/>
              </a:rPr>
              <a:t>GNNML3 came from the same view but</a:t>
            </a:r>
          </a:p>
          <a:p>
            <a:pPr algn="l">
              <a:lnSpc>
                <a:spcPts val="5045"/>
              </a:lnSpc>
              <a:spcBef>
                <a:spcPts val="0"/>
              </a:spcBef>
              <a:spcAft>
                <a:spcPts val="0"/>
              </a:spcAft>
            </a:pPr>
            <a:r>
              <a:rPr sz="3880" b="0">
                <a:solidFill>
                  <a:srgbClr val="1D3A87"/>
                </a:solidFill>
                <a:latin typeface="Arial"/>
              </a:rPr>
              <a:t>was only shown &gt; 1-WL, not provably 3-</a:t>
            </a:r>
          </a:p>
          <a:p>
            <a:pPr algn="l">
              <a:lnSpc>
                <a:spcPts val="5045"/>
              </a:lnSpc>
              <a:spcBef>
                <a:spcPts val="0"/>
              </a:spcBef>
              <a:spcAft>
                <a:spcPts val="0"/>
              </a:spcAft>
            </a:pPr>
            <a:r>
              <a:rPr sz="3880" b="0">
                <a:solidFill>
                  <a:srgbClr val="1D3A87"/>
                </a:solidFill>
                <a:latin typeface="Arial"/>
              </a:rPr>
              <a:t>WL — a bridge between algebra and</a:t>
            </a:r>
          </a:p>
          <a:p>
            <a:pPr algn="l">
              <a:lnSpc>
                <a:spcPts val="5045"/>
              </a:lnSpc>
              <a:spcBef>
                <a:spcPts val="0"/>
              </a:spcBef>
              <a:spcAft>
                <a:spcPts val="0"/>
              </a:spcAft>
            </a:pPr>
            <a:r>
              <a:rPr sz="3880" b="0">
                <a:solidFill>
                  <a:srgbClr val="1D3A87"/>
                </a:solidFill>
                <a:latin typeface="Arial"/>
              </a:rPr>
              <a:t>combinatorics, not yet a road to a network.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0137493" y="6069786"/>
            <a:ext cx="10329640" cy="23089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07725" indent="-507725">
              <a:lnSpc>
                <a:spcPts val="5269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634" b="1">
                <a:solidFill>
                  <a:srgbClr val="111111"/>
                </a:solidFill>
                <a:latin typeface="Arial"/>
              </a:rPr>
              <a:t>Generic framework</a:t>
            </a:r>
            <a:r>
              <a:rPr sz="3634" b="0">
                <a:solidFill>
                  <a:srgbClr val="1C1C1C"/>
                </a:solidFill>
                <a:latin typeface="Arial"/>
              </a:rPr>
              <a:t>: any algebraic-language</a:t>
            </a:r>
          </a:p>
          <a:p>
            <a:pPr algn="l" marL="507725" indent="0">
              <a:lnSpc>
                <a:spcPts val="52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34" b="0">
                <a:solidFill>
                  <a:srgbClr val="1C1C1C"/>
                </a:solidFill>
                <a:latin typeface="Arial"/>
              </a:rPr>
              <a:t>fragment → a GNN, via context-free</a:t>
            </a:r>
          </a:p>
          <a:p>
            <a:pPr algn="l" marL="507725" indent="0">
              <a:lnSpc>
                <a:spcPts val="52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34" b="0">
                <a:solidFill>
                  <a:srgbClr val="1C1C1C"/>
                </a:solidFill>
                <a:latin typeface="Arial"/>
              </a:rPr>
              <a:t>grammars.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0137493" y="8239085"/>
            <a:ext cx="10329640" cy="1619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07725" indent="-507725">
              <a:lnSpc>
                <a:spcPts val="5269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634" b="1">
                <a:solidFill>
                  <a:srgbClr val="111111"/>
                </a:solidFill>
                <a:latin typeface="Arial"/>
              </a:rPr>
              <a:t>G²N²</a:t>
            </a:r>
            <a:r>
              <a:rPr sz="3634" b="0">
                <a:solidFill>
                  <a:srgbClr val="1C1C1C"/>
                </a:solidFill>
                <a:latin typeface="Arial"/>
              </a:rPr>
              <a:t>: the ML(L</a:t>
            </a:r>
            <a:r>
              <a:rPr sz="5088" b="0" baseline="-25000">
                <a:solidFill>
                  <a:srgbClr val="1C1C1C"/>
                </a:solidFill>
                <a:latin typeface="Arial"/>
              </a:rPr>
              <a:t>3</a:t>
            </a:r>
            <a:r>
              <a:rPr sz="3634" b="0">
                <a:solidFill>
                  <a:srgbClr val="1C1C1C"/>
                </a:solidFill>
                <a:latin typeface="Arial"/>
              </a:rPr>
              <a:t>) instantiation — a </a:t>
            </a:r>
            <a:r>
              <a:rPr sz="3634" b="1">
                <a:solidFill>
                  <a:srgbClr val="111111"/>
                </a:solidFill>
                <a:latin typeface="Arial"/>
              </a:rPr>
              <a:t>provably</a:t>
            </a:r>
          </a:p>
          <a:p>
            <a:pPr algn="l" marL="507725" indent="0">
              <a:lnSpc>
                <a:spcPts val="52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34" b="1">
                <a:solidFill>
                  <a:srgbClr val="111111"/>
                </a:solidFill>
                <a:latin typeface="Arial"/>
              </a:rPr>
              <a:t>3-WL</a:t>
            </a:r>
            <a:r>
              <a:rPr sz="3634" b="0">
                <a:solidFill>
                  <a:srgbClr val="1C1C1C"/>
                </a:solidFill>
                <a:latin typeface="Arial"/>
              </a:rPr>
              <a:t> GNN beating prior 3-WL GNNs.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0567292" y="10696753"/>
            <a:ext cx="9554158" cy="7696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269"/>
              </a:lnSpc>
              <a:spcBef>
                <a:spcPts val="0"/>
              </a:spcBef>
              <a:spcAft>
                <a:spcPts val="0"/>
              </a:spcAft>
            </a:pPr>
            <a:r>
              <a:rPr sz="3634" b="0">
                <a:solidFill>
                  <a:srgbClr val="1C1C1C"/>
                </a:solidFill>
                <a:latin typeface="Arial"/>
              </a:rPr>
              <a:t>Expressiveness guaranteed </a:t>
            </a:r>
            <a:r>
              <a:rPr sz="3634" b="0" i="1">
                <a:solidFill>
                  <a:srgbClr val="1C1C1C"/>
                </a:solidFill>
                <a:latin typeface="Arial"/>
              </a:rPr>
              <a:t>by design</a:t>
            </a:r>
            <a:r>
              <a:rPr sz="3634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2016501" y="11744801"/>
            <a:ext cx="7388455" cy="375234"/>
          </a:xfrm>
          <a:prstGeom prst="rect">
            <a:avLst/>
          </a:prstGeom>
          <a:noFill/>
        </p:spPr>
        <p:txBody>
          <a:bodyPr wrap="square" lIns="354860" rIns="354860" tIns="60833" bIns="60833">
            <a:spAutoFit/>
          </a:bodyPr>
          <a:lstStyle/>
          <a:p>
            <a:pPr algn="ctr">
              <a:lnSpc>
                <a:spcPts val="2893"/>
              </a:lnSpc>
              <a:spcBef>
                <a:spcPts val="0"/>
              </a:spcBef>
              <a:spcAft>
                <a:spcPts val="0"/>
              </a:spcAft>
            </a:pPr>
            <a:r>
              <a:rPr sz="1995" b="0" i="1">
                <a:solidFill>
                  <a:srgbClr val="555555"/>
                </a:solidFill>
                <a:latin typeface="Cambria Math"/>
              </a:rPr>
              <a:t>Reduced rules (M⊙M), (MM), diag(V</a:t>
            </a:r>
            <a:r>
              <a:rPr sz="2794" b="0" i="1" baseline="-25000">
                <a:solidFill>
                  <a:srgbClr val="555555"/>
                </a:solidFill>
                <a:latin typeface="Cambria Math"/>
              </a:rPr>
              <a:t>c</a:t>
            </a:r>
            <a:r>
              <a:rPr sz="1995" b="0" i="1">
                <a:solidFill>
                  <a:srgbClr val="555555"/>
                </a:solidFill>
                <a:latin typeface="Cambria Math"/>
              </a:rPr>
              <a:t>), (MV</a:t>
            </a:r>
            <a:r>
              <a:rPr sz="2794" b="0" i="1" baseline="-25000">
                <a:solidFill>
                  <a:srgbClr val="555555"/>
                </a:solidFill>
                <a:latin typeface="Cambria Math"/>
              </a:rPr>
              <a:t>c</a:t>
            </a:r>
            <a:r>
              <a:rPr sz="1995" b="0" i="1">
                <a:solidFill>
                  <a:srgbClr val="555555"/>
                </a:solidFill>
                <a:latin typeface="Cambria Math"/>
              </a:rPr>
              <a:t>) become the G²N² layer.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39855" y="15904765"/>
            <a:ext cx="10329755" cy="419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42147" indent="-542147">
              <a:lnSpc>
                <a:spcPts val="5627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3880" b="0">
                <a:solidFill>
                  <a:srgbClr val="1C1C1C"/>
                </a:solidFill>
                <a:latin typeface="Arial"/>
              </a:rPr>
              <a:t>The Weisfeiler-Lehman hierarchy</a:t>
            </a:r>
          </a:p>
          <a:p>
            <a:pPr algn="l" marL="542147" indent="0">
              <a:lnSpc>
                <a:spcPts val="56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80" b="0">
                <a:solidFill>
                  <a:srgbClr val="1C1C1C"/>
                </a:solidFill>
                <a:latin typeface="Arial"/>
              </a:rPr>
              <a:t>characterizes GNN expressiveness: prior</a:t>
            </a:r>
          </a:p>
          <a:p>
            <a:pPr algn="l" marL="542147" indent="0">
              <a:lnSpc>
                <a:spcPts val="56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80" b="0">
                <a:solidFill>
                  <a:srgbClr val="1C1C1C"/>
                </a:solidFill>
                <a:latin typeface="Arial"/>
              </a:rPr>
              <a:t>work recast the </a:t>
            </a:r>
            <a:r>
              <a:rPr sz="3880" b="1">
                <a:solidFill>
                  <a:srgbClr val="111111"/>
                </a:solidFill>
                <a:latin typeface="Arial"/>
              </a:rPr>
              <a:t>1-WL</a:t>
            </a:r>
            <a:r>
              <a:rPr sz="3880" b="0">
                <a:solidFill>
                  <a:srgbClr val="1C1C1C"/>
                </a:solidFill>
                <a:latin typeface="Arial"/>
              </a:rPr>
              <a:t> and </a:t>
            </a:r>
            <a:r>
              <a:rPr sz="3880" b="1">
                <a:solidFill>
                  <a:srgbClr val="111111"/>
                </a:solidFill>
                <a:latin typeface="Arial"/>
              </a:rPr>
              <a:t>3-WL</a:t>
            </a:r>
            <a:r>
              <a:rPr sz="3880" b="0">
                <a:solidFill>
                  <a:srgbClr val="1C1C1C"/>
                </a:solidFill>
                <a:latin typeface="Arial"/>
              </a:rPr>
              <a:t> tests as</a:t>
            </a:r>
          </a:p>
          <a:p>
            <a:pPr algn="l" marL="542147" indent="0">
              <a:lnSpc>
                <a:spcPts val="56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80" b="0">
                <a:solidFill>
                  <a:srgbClr val="1C1C1C"/>
                </a:solidFill>
                <a:latin typeface="Arial"/>
              </a:rPr>
              <a:t>fragments ML(L</a:t>
            </a:r>
            <a:r>
              <a:rPr sz="5433" b="0" baseline="-25000">
                <a:solidFill>
                  <a:srgbClr val="1C1C1C"/>
                </a:solidFill>
                <a:latin typeface="Arial"/>
              </a:rPr>
              <a:t>1</a:t>
            </a:r>
            <a:r>
              <a:rPr sz="3880" b="0">
                <a:solidFill>
                  <a:srgbClr val="1C1C1C"/>
                </a:solidFill>
                <a:latin typeface="Arial"/>
              </a:rPr>
              <a:t>) and ML(L</a:t>
            </a:r>
            <a:r>
              <a:rPr sz="5433" b="0" baseline="-25000">
                <a:solidFill>
                  <a:srgbClr val="1C1C1C"/>
                </a:solidFill>
                <a:latin typeface="Arial"/>
              </a:rPr>
              <a:t>3</a:t>
            </a:r>
            <a:r>
              <a:rPr sz="3880" b="0">
                <a:solidFill>
                  <a:srgbClr val="1C1C1C"/>
                </a:solidFill>
                <a:latin typeface="Arial"/>
              </a:rPr>
              <a:t>) of the matrix</a:t>
            </a:r>
          </a:p>
          <a:p>
            <a:pPr algn="l" marL="542147" indent="0">
              <a:lnSpc>
                <a:spcPts val="56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80" b="0">
                <a:solidFill>
                  <a:srgbClr val="1C1C1C"/>
                </a:solidFill>
                <a:latin typeface="Arial"/>
              </a:rPr>
              <a:t>language </a:t>
            </a:r>
            <a:r>
              <a:rPr sz="3880" b="1">
                <a:solidFill>
                  <a:srgbClr val="111111"/>
                </a:solidFill>
                <a:latin typeface="Arial"/>
              </a:rPr>
              <a:t>MATLANG</a:t>
            </a:r>
            <a:r>
              <a:rPr sz="3880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2271672" y="19681209"/>
            <a:ext cx="7862314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Dataset / Benchmark 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6157158" y="19681209"/>
            <a:ext cx="4808698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Key Results 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39855" y="19727048"/>
            <a:ext cx="10329755" cy="419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42147" indent="-542147">
              <a:lnSpc>
                <a:spcPts val="5627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3880" b="0">
                <a:solidFill>
                  <a:srgbClr val="1C1C1C"/>
                </a:solidFill>
                <a:latin typeface="Arial"/>
              </a:rPr>
              <a:t>Two graphs are 3-WL-equivalent </a:t>
            </a:r>
            <a:r>
              <a:rPr sz="3880" b="0" i="1">
                <a:solidFill>
                  <a:srgbClr val="1C1C1C"/>
                </a:solidFill>
                <a:latin typeface="Arial"/>
              </a:rPr>
              <a:t>iff</a:t>
            </a:r>
            <a:r>
              <a:rPr sz="3880" b="0">
                <a:solidFill>
                  <a:srgbClr val="1C1C1C"/>
                </a:solidFill>
                <a:latin typeface="Arial"/>
              </a:rPr>
              <a:t> every</a:t>
            </a:r>
          </a:p>
          <a:p>
            <a:pPr algn="l" marL="542147" indent="0">
              <a:lnSpc>
                <a:spcPts val="56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80" b="0">
                <a:solidFill>
                  <a:srgbClr val="1C1C1C"/>
                </a:solidFill>
                <a:latin typeface="Arial"/>
              </a:rPr>
              <a:t>sentence of ML(L</a:t>
            </a:r>
            <a:r>
              <a:rPr sz="5433" b="0" baseline="-25000">
                <a:solidFill>
                  <a:srgbClr val="1C1C1C"/>
                </a:solidFill>
                <a:latin typeface="Arial"/>
              </a:rPr>
              <a:t>3</a:t>
            </a:r>
            <a:r>
              <a:rPr sz="3880" b="0">
                <a:solidFill>
                  <a:srgbClr val="1C1C1C"/>
                </a:solidFill>
                <a:latin typeface="Arial"/>
              </a:rPr>
              <a:t>) gives them the same</a:t>
            </a:r>
          </a:p>
          <a:p>
            <a:pPr algn="l" marL="542147" indent="0">
              <a:lnSpc>
                <a:spcPts val="56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80" b="0">
                <a:solidFill>
                  <a:srgbClr val="1C1C1C"/>
                </a:solidFill>
                <a:latin typeface="Arial"/>
              </a:rPr>
              <a:t>value — yet turning a fragment into a</a:t>
            </a:r>
          </a:p>
          <a:p>
            <a:pPr algn="l" marL="542147" indent="0">
              <a:lnSpc>
                <a:spcPts val="56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80" b="0">
                <a:solidFill>
                  <a:srgbClr val="1C1C1C"/>
                </a:solidFill>
                <a:latin typeface="Arial"/>
              </a:rPr>
              <a:t>provably equivalent GNN was still done</a:t>
            </a:r>
          </a:p>
          <a:p>
            <a:pPr algn="l" marL="542147" indent="0">
              <a:lnSpc>
                <a:spcPts val="56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80" b="0">
                <a:solidFill>
                  <a:srgbClr val="1C1C1C"/>
                </a:solidFill>
                <a:latin typeface="Arial"/>
              </a:rPr>
              <a:t>case by case.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2271672" y="20925809"/>
            <a:ext cx="13160752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Regression:</a:t>
            </a:r>
            <a:r>
              <a:rPr sz="4106" b="0">
                <a:solidFill>
                  <a:srgbClr val="1C1C1C"/>
                </a:solidFill>
                <a:latin typeface="Arial"/>
              </a:rPr>
              <a:t> QM9 (130K molecules, 12 targets, split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0.8/0.1/0.1). </a:t>
            </a:r>
            <a:r>
              <a:rPr sz="4106" b="1">
                <a:solidFill>
                  <a:srgbClr val="111111"/>
                </a:solidFill>
                <a:latin typeface="Arial"/>
              </a:rPr>
              <a:t>Classification:</a:t>
            </a:r>
            <a:r>
              <a:rPr sz="4106" b="0">
                <a:solidFill>
                  <a:srgbClr val="1C1C1C"/>
                </a:solidFill>
                <a:latin typeface="Arial"/>
              </a:rPr>
              <a:t> TUD suite, standard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protocol. </a:t>
            </a:r>
            <a:r>
              <a:rPr sz="4106" b="1">
                <a:solidFill>
                  <a:srgbClr val="111111"/>
                </a:solidFill>
                <a:latin typeface="Arial"/>
              </a:rPr>
              <a:t>Spectral:</a:t>
            </a:r>
            <a:r>
              <a:rPr sz="4106" b="0">
                <a:solidFill>
                  <a:srgbClr val="1C1C1C"/>
                </a:solidFill>
                <a:latin typeface="Arial"/>
              </a:rPr>
              <a:t> band-pass filter learning on 900-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node graphs — the setup that stresses PPGN.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39855" y="23549332"/>
            <a:ext cx="10329755" cy="32868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42147" indent="-542147">
              <a:lnSpc>
                <a:spcPts val="5627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3880" b="0">
                <a:solidFill>
                  <a:srgbClr val="1C1C1C"/>
                </a:solidFill>
                <a:latin typeface="Arial"/>
              </a:rPr>
              <a:t>MATLANG's operations (matrix product,</a:t>
            </a:r>
          </a:p>
          <a:p>
            <a:pPr algn="l" marL="542147" indent="0">
              <a:lnSpc>
                <a:spcPts val="56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80" b="0">
                <a:solidFill>
                  <a:srgbClr val="1C1C1C"/>
                </a:solidFill>
                <a:latin typeface="Arial"/>
              </a:rPr>
              <a:t>transpose, diag, ⊙, all-ones) are exactly</a:t>
            </a:r>
          </a:p>
          <a:p>
            <a:pPr algn="l" marL="542147" indent="0">
              <a:lnSpc>
                <a:spcPts val="56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80" b="0">
                <a:solidFill>
                  <a:srgbClr val="1C1C1C"/>
                </a:solidFill>
                <a:latin typeface="Arial"/>
              </a:rPr>
              <a:t>the primitives a message-passing layer can</a:t>
            </a:r>
          </a:p>
          <a:p>
            <a:pPr algn="l" marL="542147" indent="0">
              <a:lnSpc>
                <a:spcPts val="56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80" b="0">
                <a:solidFill>
                  <a:srgbClr val="1C1C1C"/>
                </a:solidFill>
                <a:latin typeface="Arial"/>
              </a:rPr>
              <a:t>implement.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6157158" y="23857287"/>
            <a:ext cx="13160752" cy="2233515"/>
          </a:xfrm>
          <a:prstGeom prst="rect">
            <a:avLst/>
          </a:prstGeom>
          <a:noFill/>
        </p:spPr>
        <p:txBody>
          <a:bodyPr wrap="none" lIns="485560" rIns="485560" tIns="281113" bIns="281113">
            <a:spAutoFit/>
          </a:bodyPr>
          <a:lstStyle/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1D3A87"/>
                </a:solidFill>
                <a:latin typeface="Arial"/>
              </a:rPr>
              <a:t>Best MAE on </a:t>
            </a:r>
            <a:r>
              <a:rPr sz="4024" b="1">
                <a:solidFill>
                  <a:srgbClr val="111111"/>
                </a:solidFill>
                <a:latin typeface="Arial"/>
              </a:rPr>
              <a:t>every</a:t>
            </a:r>
            <a:r>
              <a:rPr sz="4024" b="1">
                <a:solidFill>
                  <a:srgbClr val="1D3A87"/>
                </a:solidFill>
                <a:latin typeface="Arial"/>
              </a:rPr>
              <a:t> QM9 target — ≈ 11× lower R²</a:t>
            </a:r>
          </a:p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1D3A87"/>
                </a:solidFill>
                <a:latin typeface="Arial"/>
              </a:rPr>
              <a:t>error than PPGN, at 98 s vs 129 s per epoch.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6157158" y="26080481"/>
            <a:ext cx="13160752" cy="3347877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On TUD it ranks better than 2nd on 5 of 6 datasets (MUTAG 92.5%, Proteins 80.1%); on spectral filtering it learns band-pass filters (R² 0.82) where PPGN collapses (0.10).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2271672" y="27612340"/>
            <a:ext cx="13160752" cy="1803168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Metrics: MAE for regression (↓), accuracy for classification (↑), R² for spectral filtering (↑).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2271655" y="6069786"/>
            <a:ext cx="27089653" cy="892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16331" indent="-516331">
              <a:lnSpc>
                <a:spcPts val="480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696" b="1">
                <a:solidFill>
                  <a:srgbClr val="111111"/>
                </a:solidFill>
                <a:latin typeface="Arial"/>
              </a:rPr>
              <a:t>Generate.</a:t>
            </a:r>
            <a:r>
              <a:rPr sz="3696" b="0">
                <a:solidFill>
                  <a:srgbClr val="1C1C1C"/>
                </a:solidFill>
                <a:latin typeface="Arial"/>
              </a:rPr>
              <a:t> From L</a:t>
            </a:r>
            <a:r>
              <a:rPr sz="5174" b="0" baseline="-25000">
                <a:solidFill>
                  <a:srgbClr val="1C1C1C"/>
                </a:solidFill>
                <a:latin typeface="Arial"/>
              </a:rPr>
              <a:t>3</a:t>
            </a:r>
            <a:r>
              <a:rPr sz="3696" b="0">
                <a:solidFill>
                  <a:srgbClr val="1C1C1C"/>
                </a:solidFill>
                <a:latin typeface="Arial"/>
              </a:rPr>
              <a:t> = {·, </a:t>
            </a:r>
            <a:r>
              <a:rPr sz="5174" b="0" baseline="30000">
                <a:solidFill>
                  <a:srgbClr val="1C1C1C"/>
                </a:solidFill>
                <a:latin typeface="Arial"/>
              </a:rPr>
              <a:t>T</a:t>
            </a:r>
            <a:r>
              <a:rPr sz="3696" b="0">
                <a:solidFill>
                  <a:srgbClr val="1C1C1C"/>
                </a:solidFill>
                <a:latin typeface="Arial"/>
              </a:rPr>
              <a:t>, 𝟙, diag, ⊙} build an exhaustive CFG whose sentences are exactly ML(L</a:t>
            </a:r>
            <a:r>
              <a:rPr sz="5174" b="0" baseline="-25000">
                <a:solidFill>
                  <a:srgbClr val="1C1C1C"/>
                </a:solidFill>
                <a:latin typeface="Arial"/>
              </a:rPr>
              <a:t>3</a:t>
            </a:r>
            <a:r>
              <a:rPr sz="3696" b="0">
                <a:solidFill>
                  <a:srgbClr val="1C1C1C"/>
                </a:solidFill>
                <a:latin typeface="Arial"/>
              </a:rPr>
              <a:t>).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2271655" y="6930588"/>
            <a:ext cx="27089653" cy="7844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16331" indent="-516331">
              <a:lnSpc>
                <a:spcPts val="480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696" b="1">
                <a:solidFill>
                  <a:srgbClr val="111111"/>
                </a:solidFill>
                <a:latin typeface="Arial"/>
              </a:rPr>
              <a:t>Reduce.</a:t>
            </a:r>
            <a:r>
              <a:rPr sz="3696" b="0">
                <a:solidFill>
                  <a:srgbClr val="1C1C1C"/>
                </a:solidFill>
                <a:latin typeface="Arial"/>
              </a:rPr>
              <a:t> Prune it to a compact grammar r-G(L</a:t>
            </a:r>
            <a:r>
              <a:rPr sz="5174" b="0" baseline="-25000">
                <a:solidFill>
                  <a:srgbClr val="1C1C1C"/>
                </a:solidFill>
                <a:latin typeface="Arial"/>
              </a:rPr>
              <a:t>3</a:t>
            </a:r>
            <a:r>
              <a:rPr sz="3696" b="0">
                <a:solidFill>
                  <a:srgbClr val="1C1C1C"/>
                </a:solidFill>
                <a:latin typeface="Arial"/>
              </a:rPr>
              <a:t>) — each step provably keeps the 3-WL guarantee.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2271655" y="7697212"/>
            <a:ext cx="27089653" cy="7015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16331" indent="-516331">
              <a:lnSpc>
                <a:spcPts val="480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696" b="1">
                <a:solidFill>
                  <a:srgbClr val="111111"/>
                </a:solidFill>
                <a:latin typeface="Arial"/>
              </a:rPr>
              <a:t>Read off the network.</a:t>
            </a:r>
            <a:r>
              <a:rPr sz="3696" b="0">
                <a:solidFill>
                  <a:srgbClr val="1C1C1C"/>
                </a:solidFill>
                <a:latin typeface="Arial"/>
              </a:rPr>
              <a:t> Variables become inputs (edge memory C, node memory H); rules become the layer updates → </a:t>
            </a:r>
            <a:r>
              <a:rPr sz="3696" b="1">
                <a:solidFill>
                  <a:srgbClr val="111111"/>
                </a:solidFill>
                <a:latin typeface="Arial"/>
              </a:rPr>
              <a:t>G²N²</a:t>
            </a:r>
            <a:r>
              <a:rPr sz="369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0383380" y="14078565"/>
            <a:ext cx="4910137" cy="16833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1526"/>
              </a:lnSpc>
              <a:spcBef>
                <a:spcPts val="0"/>
              </a:spcBef>
              <a:spcAft>
                <a:spcPts val="0"/>
              </a:spcAft>
            </a:pPr>
            <a:r>
              <a:rPr sz="12133" b="1" spc="-242">
                <a:solidFill>
                  <a:srgbClr val="1D3A87"/>
                </a:solidFill>
                <a:latin typeface="Arial"/>
              </a:rPr>
              <a:t>0.342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0383380" y="15565973"/>
            <a:ext cx="4910137" cy="1199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QM9 R² MAE ·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single-target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0383380" y="16608881"/>
            <a:ext cx="4910137" cy="47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≈ 11× lower than PPGN (3.78)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3338194" y="17291050"/>
            <a:ext cx="24956592" cy="1150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939"/>
              </a:lnSpc>
              <a:spcBef>
                <a:spcPts val="0"/>
              </a:spcBef>
              <a:spcAft>
                <a:spcPts val="0"/>
              </a:spcAft>
            </a:pPr>
            <a:r>
              <a:rPr sz="3030" b="0" i="1">
                <a:solidFill>
                  <a:srgbClr val="555555"/>
                </a:solidFill>
                <a:latin typeface="Arial"/>
              </a:rPr>
              <a:t>Overview of the framework instantiated on ML(L₃): the language fragment → exhaustive CFG → reduced grammar r-G(L₃), whose rules become</a:t>
            </a:r>
          </a:p>
          <a:p>
            <a:pPr algn="ctr">
              <a:lnSpc>
                <a:spcPts val="3939"/>
              </a:lnSpc>
              <a:spcBef>
                <a:spcPts val="0"/>
              </a:spcBef>
              <a:spcAft>
                <a:spcPts val="0"/>
              </a:spcAft>
            </a:pPr>
            <a:r>
              <a:rPr sz="3030" b="0" i="1">
                <a:solidFill>
                  <a:srgbClr val="555555"/>
                </a:solidFill>
                <a:latin typeface="Arial"/>
              </a:rPr>
              <a:t>the G²N² layer.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0137516" y="25916016"/>
            <a:ext cx="3004256" cy="1253657"/>
          </a:xfrm>
          <a:prstGeom prst="rect">
            <a:avLst/>
          </a:prstGeom>
          <a:noFill/>
        </p:spPr>
        <p:txBody>
          <a:bodyPr wrap="none" lIns="199136" rIns="199136" tIns="47413" bIns="47413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D3A87"/>
                </a:solidFill>
                <a:latin typeface="Arial"/>
              </a:rPr>
              <a:t>Scan to</a:t>
            </a:r>
          </a:p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D3A87"/>
                </a:solidFill>
                <a:latin typeface="Arial"/>
              </a:rPr>
              <a:t>Read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0137516" y="27195760"/>
            <a:ext cx="3004256" cy="27478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136"/>
              </a:lnSpc>
              <a:spcBef>
                <a:spcPts val="0"/>
              </a:spcBef>
              <a:spcAft>
                <a:spcPts val="0"/>
              </a:spcAft>
            </a:pPr>
            <a:r>
              <a:rPr sz="2240" b="0">
                <a:solidFill>
                  <a:srgbClr val="555555"/>
                </a:solidFill>
                <a:latin typeface="Arial"/>
              </a:rPr>
              <a:t>Full paper on </a:t>
            </a:r>
            <a:r>
              <a:rPr sz="2240" b="1">
                <a:solidFill>
                  <a:srgbClr val="111111"/>
                </a:solidFill>
                <a:latin typeface="Arial"/>
              </a:rPr>
              <a:t>arXiv</a:t>
            </a:r>
          </a:p>
          <a:p>
            <a:pPr algn="l">
              <a:lnSpc>
                <a:spcPts val="3136"/>
              </a:lnSpc>
              <a:spcBef>
                <a:spcPts val="0"/>
              </a:spcBef>
              <a:spcAft>
                <a:spcPts val="0"/>
              </a:spcAft>
            </a:pPr>
            <a:r>
              <a:rPr sz="2240" b="0">
                <a:solidFill>
                  <a:srgbClr val="555555"/>
                </a:solidFill>
                <a:latin typeface="Arial"/>
              </a:rPr>
              <a:t>and the reference</a:t>
            </a:r>
          </a:p>
          <a:p>
            <a:pPr algn="l">
              <a:lnSpc>
                <a:spcPts val="3136"/>
              </a:lnSpc>
              <a:spcBef>
                <a:spcPts val="0"/>
              </a:spcBef>
              <a:spcAft>
                <a:spcPts val="0"/>
              </a:spcAft>
            </a:pPr>
            <a:r>
              <a:rPr sz="2240" b="0">
                <a:solidFill>
                  <a:srgbClr val="555555"/>
                </a:solidFill>
                <a:latin typeface="Arial"/>
              </a:rPr>
              <a:t>implementation on</a:t>
            </a:r>
          </a:p>
          <a:p>
            <a:pPr algn="l">
              <a:lnSpc>
                <a:spcPts val="3136"/>
              </a:lnSpc>
              <a:spcBef>
                <a:spcPts val="0"/>
              </a:spcBef>
              <a:spcAft>
                <a:spcPts val="0"/>
              </a:spcAft>
            </a:pPr>
            <a:r>
              <a:rPr sz="2240" b="1">
                <a:solidFill>
                  <a:srgbClr val="111111"/>
                </a:solidFill>
                <a:latin typeface="Arial"/>
              </a:rPr>
              <a:t>GitHub</a:t>
            </a:r>
            <a:r>
              <a:rPr sz="2240" b="0">
                <a:solidFill>
                  <a:srgbClr val="555555"/>
                </a:solidFill>
                <a:latin typeface="Arial"/>
              </a:rPr>
              <a:t>. Scan a code</a:t>
            </a:r>
          </a:p>
          <a:p>
            <a:pPr algn="l">
              <a:lnSpc>
                <a:spcPts val="3136"/>
              </a:lnSpc>
              <a:spcBef>
                <a:spcPts val="0"/>
              </a:spcBef>
              <a:spcAft>
                <a:spcPts val="0"/>
              </a:spcAft>
            </a:pPr>
            <a:r>
              <a:rPr sz="2240" b="0">
                <a:solidFill>
                  <a:srgbClr val="555555"/>
                </a:solidFill>
                <a:latin typeface="Arial"/>
              </a:rPr>
              <a:t>to open the paper or</a:t>
            </a:r>
          </a:p>
          <a:p>
            <a:pPr algn="l">
              <a:lnSpc>
                <a:spcPts val="3136"/>
              </a:lnSpc>
              <a:spcBef>
                <a:spcPts val="0"/>
              </a:spcBef>
              <a:spcAft>
                <a:spcPts val="0"/>
              </a:spcAft>
            </a:pPr>
            <a:r>
              <a:rPr sz="2240" b="0">
                <a:solidFill>
                  <a:srgbClr val="555555"/>
                </a:solidFill>
                <a:latin typeface="Arial"/>
              </a:rPr>
              <a:t>the source.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6202441" y="14078565"/>
            <a:ext cx="1070618" cy="6269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98 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7424399" y="14211915"/>
            <a:ext cx="2463724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epoch vs 129 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202441" y="15054798"/>
            <a:ext cx="1377224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0.821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7722075" y="15188148"/>
            <a:ext cx="2264279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spectral R²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(PPGN 0.10)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6202441" y="16302315"/>
            <a:ext cx="1064752" cy="6269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5 / 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7418704" y="16435665"/>
            <a:ext cx="2188164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TUD &gt; rank 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2480170" y="26163825"/>
            <a:ext cx="2659163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1D3A87"/>
                </a:solidFill>
                <a:latin typeface="Arial"/>
              </a:rPr>
              <a:t>130K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5739606" y="26163825"/>
            <a:ext cx="2659305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1D3A87"/>
                </a:solidFill>
                <a:latin typeface="Arial"/>
              </a:rPr>
              <a:t>12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8999180" y="26163825"/>
            <a:ext cx="2659305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1D3A87"/>
                </a:solidFill>
                <a:latin typeface="Arial"/>
              </a:rPr>
              <a:t>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2258754" y="26163825"/>
            <a:ext cx="2659305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1D3A87"/>
                </a:solidFill>
                <a:latin typeface="Arial"/>
              </a:rPr>
              <a:t>900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2480170" y="27066021"/>
            <a:ext cx="2659163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QM9 molecules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5739606" y="27066021"/>
            <a:ext cx="2659305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QM9 targets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8999180" y="27066021"/>
            <a:ext cx="2659305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TUD datasets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2258754" y="27066021"/>
            <a:ext cx="2659305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spectral nodes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6157158" y="21119722"/>
            <a:ext cx="6703419" cy="93656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D3A87"/>
                </a:solidFill>
                <a:latin typeface="Arial"/>
              </a:rPr>
              <a:t>QM9 R² MAE ↓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2665332" y="21119722"/>
            <a:ext cx="3754962" cy="93656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D3A87"/>
                </a:solidFill>
                <a:latin typeface="Arial"/>
              </a:rPr>
              <a:t>1-target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6310927" y="21119722"/>
            <a:ext cx="2702370" cy="93656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D3A87"/>
                </a:solidFill>
                <a:latin typeface="Arial"/>
              </a:rPr>
              <a:t>all-12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6157158" y="21934130"/>
            <a:ext cx="6703419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PPGN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2665332" y="21934130"/>
            <a:ext cx="3754962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3.78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310927" y="21934130"/>
            <a:ext cx="2702370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16.07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6157158" y="22752982"/>
            <a:ext cx="6703419" cy="941680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D3A87"/>
                </a:solidFill>
                <a:latin typeface="Arial"/>
              </a:rPr>
              <a:t>G²N² (ours)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2665332" y="22752982"/>
            <a:ext cx="3754962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D3A87"/>
                </a:solidFill>
                <a:latin typeface="Arial"/>
              </a:rPr>
              <a:t>0.342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6310927" y="22752982"/>
            <a:ext cx="2702370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D3A87"/>
                </a:solidFill>
                <a:latin typeface="Arial"/>
              </a:rPr>
              <a:t>1.19</a:t>
            </a:r>
          </a:p>
        </p:txBody>
      </p:sp>
      <p:pic>
        <p:nvPicPr>
          <p:cNvPr id="137" name="Picture 136" descr="eq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35329" y="9094886"/>
            <a:ext cx="25935602" cy="795933"/>
          </a:xfrm>
          <a:prstGeom prst="rect">
            <a:avLst/>
          </a:prstGeom>
        </p:spPr>
      </p:pic>
      <p:pic>
        <p:nvPicPr>
          <p:cNvPr id="138" name="Picture 137" descr="eq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35329" y="10397688"/>
            <a:ext cx="25935602" cy="7957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
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081190"/>
          </a:xfrm>
          <a:prstGeom prst="roundRect">
            <a:avLst>
              <a:gd name="adj" fmla="val 2799"/>
            </a:avLst>
          </a:prstGeom>
          <a:solidFill>
            <a:srgbClr val="ECE7F4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6254531"/>
            <a:ext cx="16349682" cy="7329389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6254531"/>
            <a:ext cx="160020" cy="7329389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428289" y="6254531"/>
            <a:ext cx="16349682" cy="17061577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28289" y="6254531"/>
            <a:ext cx="160020" cy="17061577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204691" y="6254531"/>
            <a:ext cx="16349821" cy="13378200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04691" y="6254531"/>
            <a:ext cx="160020" cy="13378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1887" y="13915767"/>
            <a:ext cx="16349682" cy="16156185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887" y="13915767"/>
            <a:ext cx="160020" cy="16156185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04691" y="19964578"/>
            <a:ext cx="16349821" cy="4668778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04691" y="19964578"/>
            <a:ext cx="160020" cy="4668778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428289" y="23647955"/>
            <a:ext cx="16349682" cy="6423997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428289" y="23647955"/>
            <a:ext cx="160020" cy="6423997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04691" y="24965203"/>
            <a:ext cx="16349821" cy="5106749"/>
          </a:xfrm>
          <a:prstGeom prst="rect">
            <a:avLst/>
          </a:prstGeom>
          <a:solidFill>
            <a:srgbClr val="F0EDF5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04691" y="24965203"/>
            <a:ext cx="53340" cy="5106749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9073" y="3958140"/>
            <a:ext cx="5048131" cy="1466836"/>
          </a:xfrm>
          <a:prstGeom prst="rect">
            <a:avLst/>
          </a:prstGeom>
        </p:spPr>
      </p:pic>
      <p:pic>
        <p:nvPicPr>
          <p:cNvPr id="18" name="Picture 17" descr="university-of-michig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4178" y="3958139"/>
            <a:ext cx="7300079" cy="1466838"/>
          </a:xfrm>
          <a:prstGeom prst="rect">
            <a:avLst/>
          </a:prstGeom>
        </p:spPr>
      </p:pic>
      <p:pic>
        <p:nvPicPr>
          <p:cNvPr id="19" name="Picture 18" descr="lawrence-livermore-national-labora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31231" y="3958140"/>
            <a:ext cx="8766095" cy="146683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262241" y="11039435"/>
            <a:ext cx="15351224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62241" y="11039435"/>
            <a:ext cx="124460" cy="215902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038643" y="13095942"/>
            <a:ext cx="15351224" cy="2693114"/>
          </a:xfrm>
          <a:prstGeom prst="roundRect">
            <a:avLst>
              <a:gd name="adj" fmla="val 5577"/>
            </a:avLst>
          </a:prstGeom>
          <a:solidFill>
            <a:srgbClr val="F4F2F8"/>
          </a:solidFill>
          <a:ln w="8890">
            <a:solidFill>
              <a:srgbClr val="C5B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815045" y="17583169"/>
            <a:ext cx="15351363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815045" y="17583169"/>
            <a:ext cx="15351363" cy="11557"/>
          </a:xfrm>
          <a:prstGeom prst="rect">
            <a:avLst/>
          </a:prstGeom>
          <a:solidFill>
            <a:srgbClr val="C0B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815045" y="21455042"/>
            <a:ext cx="15351363" cy="3111222"/>
          </a:xfrm>
          <a:prstGeom prst="roundRect">
            <a:avLst>
              <a:gd name="adj" fmla="val 2285"/>
            </a:avLst>
          </a:prstGeom>
          <a:gradFill rotWithShape="1" flip="none">
            <a:gsLst>
              <a:gs pos="0">
                <a:srgbClr val="E9E6F0"/>
              </a:gs>
              <a:gs pos="100000">
                <a:srgbClr val="F4F2F8"/>
              </a:gs>
            </a:gsLst>
            <a:lin ang="5400000" scaled="0"/>
          </a:gradFill>
          <a:ln w="8890">
            <a:solidFill>
              <a:srgbClr val="D2CBE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708365" y="26455667"/>
            <a:ext cx="15458043" cy="3554194"/>
          </a:xfrm>
          <a:prstGeom prst="roundRect">
            <a:avLst>
              <a:gd name="adj" fmla="val 5634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262241" y="28041977"/>
            <a:ext cx="15351224" cy="1647983"/>
          </a:xfrm>
          <a:prstGeom prst="roundRect">
            <a:avLst>
              <a:gd name="adj" fmla="val 12659"/>
            </a:avLst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815045" y="13320275"/>
            <a:ext cx="15351363" cy="2221528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igur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15497" y="13320275"/>
            <a:ext cx="15350460" cy="222152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8051283" y="16298287"/>
            <a:ext cx="15325805" cy="5350252"/>
          </a:xfrm>
          <a:prstGeom prst="roundRect">
            <a:avLst>
              <a:gd name="adj" fmla="val 66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igur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51400" y="16298287"/>
            <a:ext cx="15325571" cy="535025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262241" y="17681376"/>
            <a:ext cx="7156866" cy="4365685"/>
          </a:xfrm>
          <a:prstGeom prst="roundRect">
            <a:avLst>
              <a:gd name="adj" fmla="val 4778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456598" y="17681376"/>
            <a:ext cx="7156867" cy="4365685"/>
          </a:xfrm>
          <a:prstGeom prst="roundRect">
            <a:avLst>
              <a:gd name="adj" fmla="val 4778"/>
            </a:avLst>
          </a:prstGeom>
          <a:solidFill>
            <a:srgbClr val="F4F2F8"/>
          </a:solidFill>
          <a:ln w="8890">
            <a:solidFill>
              <a:srgbClr val="4B2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062840" y="21677292"/>
            <a:ext cx="3857704" cy="27142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062840" y="21677292"/>
            <a:ext cx="11557" cy="2714228"/>
          </a:xfrm>
          <a:prstGeom prst="rect">
            <a:avLst/>
          </a:prstGeom>
          <a:solidFill>
            <a:srgbClr val="D2C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262241" y="22558791"/>
            <a:ext cx="15351224" cy="3952994"/>
          </a:xfrm>
          <a:prstGeom prst="roundRect">
            <a:avLst>
              <a:gd name="adj" fmla="val 89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2339" y="22558791"/>
            <a:ext cx="15351027" cy="3952994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8038643" y="26911557"/>
            <a:ext cx="6053395" cy="819825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4248447" y="26911557"/>
            <a:ext cx="1447959" cy="819825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4B2E83"/>
                </a:solidFill>
                <a:latin typeface="Arial"/>
              </a:rPr>
              <a:t>D&amp;D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852814" y="26911557"/>
            <a:ext cx="1497548" cy="819825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4B2E83"/>
                </a:solidFill>
                <a:latin typeface="Arial"/>
              </a:rPr>
              <a:t>NCI1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506771" y="26911557"/>
            <a:ext cx="1990526" cy="819825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4B2E83"/>
                </a:solidFill>
                <a:latin typeface="Arial"/>
              </a:rPr>
              <a:t>NCI109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653706" y="26911557"/>
            <a:ext cx="2753399" cy="819825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4B2E83"/>
                </a:solidFill>
                <a:latin typeface="Arial"/>
              </a:rPr>
              <a:t>PROTEINS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038643" y="27887791"/>
            <a:ext cx="4747816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GOODCMNIST-color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2942867" y="27887791"/>
            <a:ext cx="4181495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GOODMotif-basis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280770" y="27887791"/>
            <a:ext cx="3885764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GOODMotif-size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038643" y="28864024"/>
            <a:ext cx="4427776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GOODSST2-length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15581" y="1007487"/>
            <a:ext cx="49001957" cy="1379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4B2E83"/>
                </a:solidFill>
                <a:latin typeface="Arial"/>
              </a:rPr>
              <a:t>Accurate and Scalable Estimation of Epistemic Uncertainty for Graph Neural Networks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15581" y="2446972"/>
            <a:ext cx="49001957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Puja Trivedi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Mark Heimann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Rushil Anirudh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Danai Koutra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Jayaraman J. Thiagarajan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15581" y="3181786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University of Michigan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Lawrence Livermore National Laboratory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62241" y="6642635"/>
            <a:ext cx="15777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Problem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038643" y="6642635"/>
            <a:ext cx="15777944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Method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815045" y="6642635"/>
            <a:ext cx="1577808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Key Results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62241" y="7749440"/>
            <a:ext cx="15777944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Under distribution shift, graph neural networks emit </a:t>
            </a:r>
            <a:r>
              <a:rPr sz="4106" b="1">
                <a:solidFill>
                  <a:srgbClr val="111111"/>
                </a:solidFill>
                <a:latin typeface="Arial"/>
              </a:rPr>
              <a:t>unreliable confidence indicators</a:t>
            </a:r>
            <a:r>
              <a:rPr sz="4106" b="0">
                <a:solidFill>
                  <a:srgbClr val="1C1C1C"/>
                </a:solidFill>
                <a:latin typeface="Arial"/>
              </a:rPr>
              <a:t> — miscalibrated softmax / entropy scores — yet how and why GNN confidence degrades is far less studied than in vision.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62241" y="11039435"/>
            <a:ext cx="15777944" cy="2482873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Safety-critical GNNs lean on these scores for calibration, OOD rejection, and generalization-gap estimates — so their degradation directly undermines safe deployment.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62241" y="14303871"/>
            <a:ext cx="15777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Motivation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011348" y="15453181"/>
            <a:ext cx="5567845" cy="288494"/>
          </a:xfrm>
          <a:prstGeom prst="rect">
            <a:avLst/>
          </a:prstGeom>
          <a:noFill/>
        </p:spPr>
        <p:txBody>
          <a:bodyPr wrap="square" lIns="262859" rIns="262859" tIns="45061" bIns="45061">
            <a:spAutoFit/>
          </a:bodyPr>
          <a:lstStyle/>
          <a:p>
            <a:pPr algn="ctr">
              <a:lnSpc>
                <a:spcPts val="2143"/>
              </a:lnSpc>
              <a:spcBef>
                <a:spcPts val="0"/>
              </a:spcBef>
              <a:spcAft>
                <a:spcPts val="0"/>
              </a:spcAft>
            </a:pPr>
            <a:r>
              <a:rPr sz="1478" b="0" i="1">
                <a:solidFill>
                  <a:srgbClr val="555555"/>
                </a:solidFill>
                <a:latin typeface="Cambria Math"/>
              </a:rPr>
              <a:t>Uncertainty = spread over K anchors; calibrated score μ</a:t>
            </a:r>
            <a:r>
              <a:rPr sz="2069" b="0" i="1" baseline="-25000">
                <a:solidFill>
                  <a:srgbClr val="555555"/>
                </a:solidFill>
                <a:latin typeface="Cambria Math"/>
              </a:rPr>
              <a:t>calib</a:t>
            </a:r>
            <a:r>
              <a:rPr sz="1478" b="0" i="1">
                <a:solidFill>
                  <a:srgbClr val="555555"/>
                </a:solidFill>
                <a:latin typeface="Cambria Math"/>
              </a:rPr>
              <a:t> = μ(1−σ).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62241" y="15657234"/>
            <a:ext cx="15777944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more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expressive</a:t>
            </a:r>
            <a:r>
              <a:rPr sz="4106" b="0">
                <a:solidFill>
                  <a:srgbClr val="1C1C1C"/>
                </a:solidFill>
                <a:latin typeface="Arial"/>
              </a:rPr>
              <a:t> architecture does </a:t>
            </a:r>
            <a:r>
              <a:rPr sz="4106" b="1">
                <a:solidFill>
                  <a:srgbClr val="111111"/>
                </a:solidFill>
                <a:latin typeface="Arial"/>
              </a:rPr>
              <a:t>not</a:t>
            </a:r>
            <a:r>
              <a:rPr sz="4106" b="0">
                <a:solidFill>
                  <a:srgbClr val="1C1C1C"/>
                </a:solidFill>
                <a:latin typeface="Arial"/>
              </a:rPr>
              <a:t> fix calibration under structural distribution shift.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815045" y="17583169"/>
            <a:ext cx="15778083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Reliable confidence estimates yield concrete gains on the safety tasks that use them.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815045" y="20352682"/>
            <a:ext cx="15778083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Headline Numbers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038643" y="24036059"/>
            <a:ext cx="15777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Dataset / Benchmark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038643" y="25138419"/>
            <a:ext cx="15777944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Three shift regimes — structural, size, and concept/covariate — with GCN · GIN · PNA backbones: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708365" y="25353307"/>
            <a:ext cx="1588476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Takeaway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708365" y="26455667"/>
            <a:ext cx="15884763" cy="4087323"/>
          </a:xfrm>
          <a:prstGeom prst="rect">
            <a:avLst/>
          </a:prstGeom>
          <a:noFill/>
        </p:spPr>
        <p:txBody>
          <a:bodyPr wrap="square" lIns="350479" rIns="350479" tIns="150205" bIns="150205">
            <a:spAutoFit/>
          </a:bodyPr>
          <a:lstStyle/>
          <a:p>
            <a:pPr algn="l">
              <a:lnSpc>
                <a:spcPts val="5125"/>
              </a:lnSpc>
              <a:spcBef>
                <a:spcPts val="0"/>
              </a:spcBef>
              <a:spcAft>
                <a:spcPts val="0"/>
              </a:spcAft>
            </a:pPr>
            <a:r>
              <a:rPr sz="3942" b="1">
                <a:solidFill>
                  <a:srgbClr val="FFFFFF"/>
                </a:solidFill>
                <a:latin typeface="Arial"/>
              </a:rPr>
              <a:t>More expressive GNNs don't fix calibration under shift. Extending stochastic centering to graphs with partial stochasticity (G-∆UQ) is a scalable, single-model route to well-calibrated uncertainty — cheap to add to pretrained models.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62241" y="28041977"/>
            <a:ext cx="15777944" cy="1895180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4B2E83"/>
                </a:solidFill>
                <a:latin typeface="Arial"/>
              </a:rPr>
              <a:t>Scaling width or depth can even </a:t>
            </a:r>
            <a:r>
              <a:rPr sz="4106" b="0" i="1">
                <a:solidFill>
                  <a:srgbClr val="4B2E83"/>
                </a:solidFill>
                <a:latin typeface="Arial"/>
              </a:rPr>
              <a:t>worsen</a:t>
            </a:r>
            <a:r>
              <a:rPr sz="4106" b="0">
                <a:solidFill>
                  <a:srgbClr val="4B2E83"/>
                </a:solidFill>
                <a:latin typeface="Arial"/>
              </a:rPr>
              <a:t> calibration — expressivity is no substitute for epistemic uncertainty.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038625" y="7899737"/>
            <a:ext cx="15777962" cy="266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Stochastic anchoring for graphs.</a:t>
            </a:r>
            <a:r>
              <a:rPr sz="4106" b="0">
                <a:solidFill>
                  <a:srgbClr val="1C1C1C"/>
                </a:solidFill>
                <a:latin typeface="Arial"/>
              </a:rPr>
              <a:t> Anchor each input against a random training sample: relative representation </a:t>
            </a:r>
            <a:r>
              <a:rPr sz="4353" b="1">
                <a:solidFill>
                  <a:srgbClr val="111111"/>
                </a:solidFill>
                <a:latin typeface="Arial"/>
              </a:rPr>
              <a:t>[X − c ‖ c]</a:t>
            </a:r>
            <a:r>
              <a:rPr sz="4106" b="0">
                <a:solidFill>
                  <a:srgbClr val="1C1C1C"/>
                </a:solidFill>
                <a:latin typeface="Arial"/>
              </a:rPr>
              <a:t>; variance over K anchors = epistemic uncertainty.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815027" y="7951132"/>
            <a:ext cx="15778101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Better-calibrated CIs</a:t>
            </a:r>
            <a:r>
              <a:rPr sz="4106" b="0">
                <a:solidFill>
                  <a:srgbClr val="1C1C1C"/>
                </a:solidFill>
                <a:latin typeface="Arial"/>
              </a:rPr>
              <a:t> than popular single-model UQ methods across size, concept, and covariate shifts — accuracy maintained or improved.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038625" y="10396299"/>
            <a:ext cx="1577796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Three sites + pretrained variant.</a:t>
            </a:r>
            <a:r>
              <a:rPr sz="4106" b="0">
                <a:solidFill>
                  <a:srgbClr val="1C1C1C"/>
                </a:solidFill>
                <a:latin typeface="Arial"/>
              </a:rPr>
              <a:t> Node features, intermediate MPNN, or READOUT; a frozen backbone trains only an anchored head — cheap partial stochasticity.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815027" y="10402272"/>
            <a:ext cx="15778101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Downstream wins.</a:t>
            </a:r>
            <a:r>
              <a:rPr sz="4106" b="0">
                <a:solidFill>
                  <a:srgbClr val="1C1C1C"/>
                </a:solidFill>
                <a:latin typeface="Arial"/>
              </a:rPr>
              <a:t> Lowest-MAE single-model estimator for generalization-gap prediction; the pretrained variant is often strongest, notably under covariate shift.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429150" y="15691405"/>
            <a:ext cx="14546848" cy="19178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 4 — Size shift (D&amp;D · NCI1 · NCI109 · PROTEINS; GCN/GIN/PNA): G-∆UQ (blue) lowers ECE while maintaining or improving accuracy vs Base.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49401" y="17681376"/>
            <a:ext cx="800210" cy="869636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4B2E83"/>
                </a:solidFill>
                <a:latin typeface="Arial"/>
              </a:rPr>
              <a:t>vs.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664277" y="21798141"/>
            <a:ext cx="14522669" cy="1278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 2 — G-∆UQ anchors at node, intermediate-MPNN, or READOUT; inference averages over K anchors.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76345" y="26661387"/>
            <a:ext cx="14546705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 1 — Under structural distortion, ECE grows sharply for every architecture; G-∆UQ (blue) cuts ECE with minimal accuracy loss.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05743" y="17898764"/>
            <a:ext cx="6869957" cy="6522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SCALE EXPRESSIVITY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00101" y="17898764"/>
            <a:ext cx="6869956" cy="6522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MODEL UNCERTAINTY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05743" y="18544123"/>
            <a:ext cx="6869957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Graph transformers, positional encodings, wider / deeper nets — calibration stays poor.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00101" y="18544123"/>
            <a:ext cx="6869956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Quantify epistemic uncertainty directly to modulate the model's confidence indicators.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060909" y="21677292"/>
            <a:ext cx="10741095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4B2E83"/>
                </a:solidFill>
                <a:latin typeface="Arial"/>
              </a:rPr>
              <a:t>3×3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060909" y="23052186"/>
            <a:ext cx="10741095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shift regimes × safety tasks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60909" y="23573640"/>
            <a:ext cx="10741095" cy="9405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covered by a single model — no ensembles, no extra training or inference passes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536371" y="21677292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014765" y="21810642"/>
            <a:ext cx="219875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UQ baselines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536371" y="22667972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014765" y="22801322"/>
            <a:ext cx="299295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anchoring variants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536371" y="23658790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014765" y="23792140"/>
            <a:ext cx="209674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extra models</a:t>
            </a:r>
          </a:p>
        </p:txBody>
      </p:sp>
      <p:pic>
        <p:nvPicPr>
          <p:cNvPr id="86" name="Picture 85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10344" y="13525301"/>
            <a:ext cx="14807823" cy="15257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
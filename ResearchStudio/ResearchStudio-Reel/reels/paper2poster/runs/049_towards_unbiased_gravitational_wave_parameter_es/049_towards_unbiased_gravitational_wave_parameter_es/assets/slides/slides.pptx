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74486059f9f644d.png"/><Relationship Id="rId3" Type="http://schemas.openxmlformats.org/officeDocument/2006/relationships/image" Target="../media/image_c6a5f11f0169470a.png"/><Relationship Id="rId4" Type="http://schemas.openxmlformats.org/officeDocument/2006/relationships/image" Target="../media/image_d2b7067f535ebeed.png"/><Relationship Id="rId5" Type="http://schemas.openxmlformats.org/officeDocument/2006/relationships/image" Target="../media/image_59f8424600b2f2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421521862f335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24ab08343a9f63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74486059f9f644d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>
            <a:off x="7239000" y="0"/>
            <a:ext cx="4953000" cy="6858000"/>
            <a:chOff x="7239000" y="0"/>
            <a:chExt cx="4953000" cy="6858000"/>
          </a:xfrm>
        </p:grpSpPr>
        <p:sp>
          <p:nvSpPr>
            <p:cNvPr id="2" name="Rectangle 2"/>
            <p:cNvSpPr/>
            <p:nvPr/>
          </p:nvSpPr>
          <p:spPr>
            <a:xfrm>
              <a:off x="7239000" y="0"/>
              <a:ext cx="4953000" cy="6858000"/>
            </a:xfrm>
            <a:prstGeom prst="rect">
              <a:avLst/>
            </a:prstGeom>
            <a:gradFill>
              <a:gsLst>
                <a:gs pos="0">
                  <a:srgbClr val="0E1E38"/>
                </a:gs>
                <a:gs pos="100000">
                  <a:srgbClr val="14294A"/>
                </a:gs>
              </a:gsLst>
              <a:lin ang="5400000" scaled="1"/>
            </a:gra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715250" y="476250"/>
              <a:ext cx="3810000" cy="3810000"/>
              <a:chOff x="7715250" y="476250"/>
              <a:chExt cx="3810000" cy="381000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7715250" y="476250"/>
                <a:ext cx="3810000" cy="38100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16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9096375" y="1857375"/>
                <a:ext cx="1047750" cy="1047750"/>
              </a:xfrm>
              <a:prstGeom prst="ellipse">
                <a:avLst/>
              </a:prstGeom>
              <a:noFill/>
              <a:ln w="13335">
                <a:solidFill>
                  <a:srgbClr val="7FA8D6">
                    <a:alpha val="55000"/>
                  </a:srgbClr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8667750" y="1428750"/>
                <a:ext cx="1905000" cy="1905000"/>
              </a:xfrm>
              <a:prstGeom prst="ellipse">
                <a:avLst/>
              </a:prstGeom>
              <a:noFill/>
              <a:ln w="13335">
                <a:solidFill>
                  <a:srgbClr val="7FA8D6">
                    <a:alpha val="40000"/>
                  </a:srgbClr>
                </a:solidFill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8239125" y="1000125"/>
                <a:ext cx="2762250" cy="2762250"/>
              </a:xfrm>
              <a:prstGeom prst="ellipse">
                <a:avLst/>
              </a:prstGeom>
              <a:noFill/>
              <a:ln w="13335">
                <a:solidFill>
                  <a:srgbClr val="7FA8D6">
                    <a:alpha val="26000"/>
                  </a:srgbClr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7858125" y="619125"/>
                <a:ext cx="3524250" cy="3524250"/>
              </a:xfrm>
              <a:prstGeom prst="ellipse">
                <a:avLst/>
              </a:prstGeom>
              <a:noFill/>
              <a:ln w="13335">
                <a:solidFill>
                  <a:srgbClr val="7FA8D6">
                    <a:alpha val="15000"/>
                  </a:srgbClr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201150" y="2247900"/>
                <a:ext cx="266700" cy="266700"/>
              </a:xfrm>
              <a:prstGeom prst="ellipse">
                <a:avLst/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9810750" y="2286000"/>
                <a:ext cx="190500" cy="190500"/>
              </a:xfrm>
              <a:prstGeom prst="ellipse">
                <a:avLst/>
              </a:prstGeom>
              <a:solidFill>
                <a:srgbClr val="7FA8D6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34500" y="2095500"/>
                <a:ext cx="571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85750">
                    <a:moveTo>
                      <a:pt x="0" y="285750"/>
                    </a:moveTo>
                    <a:cubicBezTo>
                      <a:pt x="0" y="127935"/>
                      <a:pt x="127935" y="0"/>
                      <a:pt x="285750" y="0"/>
                    </a:cubicBezTo>
                    <a:cubicBezTo>
                      <a:pt x="443565" y="0"/>
                      <a:pt x="571500" y="127935"/>
                      <a:pt x="571500" y="285750"/>
                    </a:cubicBezTo>
                  </a:path>
                </a:pathLst>
              </a:custGeom>
              <a:noFill/>
              <a:ln w="19050">
                <a:solidFill>
                  <a:srgbClr val="F3C39A">
                    <a:alpha val="70000"/>
                  </a:srgbClr>
                </a:solidFill>
                <a:custDash>
                  <a:ds d="150000" sp="250000"/>
                </a:custDash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811125" y="904399"/>
              <a:ext cx="3618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12" dirty="0">
                  <a:solidFill>
                    <a:srgbClr val="7FA8D6"/>
                  </a:solidFill>
                  <a:latin typeface="+mn-lt"/>
                  <a:ea typeface="+mn-ea"/>
                  <a:cs typeface="+mn-cs"/>
                </a:rPr>
                <a:t>RIPPLES IN SPACETIME · REAL DETECTOR NOISE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53450" y="4476750"/>
              <a:ext cx="2133600" cy="21336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72525" y="4591050"/>
              <a:ext cx="1695450" cy="16954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905580" y="6409849"/>
              <a:ext cx="1429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spc="38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Scan · Paper &amp; Code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7047" y="819150"/>
            <a:ext cx="3085860" cy="485489"/>
            <a:chOff x="757047" y="819150"/>
            <a:chExt cx="3085860" cy="485489"/>
          </a:xfrm>
        </p:grpSpPr>
        <p:sp>
          <p:nvSpPr>
            <p:cNvPr id="17" name="Rectangle 17"/>
            <p:cNvSpPr/>
            <p:nvPr/>
          </p:nvSpPr>
          <p:spPr>
            <a:xfrm>
              <a:off x="762000" y="819150"/>
              <a:ext cx="4381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7047" y="1113949"/>
              <a:ext cx="30858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ICML 2023 · ML4ASTRO WORKSHOP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42950" y="1462088"/>
            <a:ext cx="6137389" cy="1800225"/>
            <a:chOff x="742950" y="1462088"/>
            <a:chExt cx="6137389" cy="1800225"/>
          </a:xfrm>
        </p:grpSpPr>
        <p:sp>
          <p:nvSpPr>
            <p:cNvPr id="20" name="TextBox 20"/>
            <p:cNvSpPr txBox="1"/>
            <p:nvPr/>
          </p:nvSpPr>
          <p:spPr>
            <a:xfrm>
              <a:off x="742950" y="1462088"/>
              <a:ext cx="493471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Towards Unbiased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950" y="1995488"/>
              <a:ext cx="5406771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Gravitational-Wave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950" y="2528888"/>
              <a:ext cx="613738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Parameter Estimation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3200400"/>
            <a:ext cx="5715000" cy="524256"/>
            <a:chOff x="762000" y="3200400"/>
            <a:chExt cx="5715000" cy="524256"/>
          </a:xfrm>
        </p:grpSpPr>
        <p:sp>
          <p:nvSpPr>
            <p:cNvPr id="24" name="Rectangle 24"/>
            <p:cNvSpPr/>
            <p:nvPr/>
          </p:nvSpPr>
          <p:spPr>
            <a:xfrm>
              <a:off x="762000" y="3200400"/>
              <a:ext cx="5715000" cy="495300"/>
            </a:xfrm>
            <a:prstGeom prst="roundRect">
              <a:avLst>
                <a:gd name="adj" fmla="val 15385"/>
              </a:avLst>
            </a:pr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3200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4885" y="3307556"/>
              <a:ext cx="369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SLIC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3489960"/>
              <a:ext cx="3209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Score-based Likelihood Characterization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5523" y="3958114"/>
            <a:ext cx="6007091" cy="477964"/>
            <a:chOff x="755523" y="3958114"/>
            <a:chExt cx="6007091" cy="477964"/>
          </a:xfrm>
        </p:grpSpPr>
        <p:sp>
          <p:nvSpPr>
            <p:cNvPr id="29" name="TextBox 29"/>
            <p:cNvSpPr txBox="1"/>
            <p:nvPr/>
          </p:nvSpPr>
          <p:spPr>
            <a:xfrm>
              <a:off x="755523" y="3958114"/>
              <a:ext cx="5564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inference assumes Gaussian, stationary noise — but real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523" y="4186714"/>
              <a:ext cx="6007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LIGO, Virgo and KAGRA data break that with glitches and drifting lines.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4572000"/>
            <a:ext cx="5715000" cy="381000"/>
            <a:chOff x="762000" y="4572000"/>
            <a:chExt cx="5715000" cy="381000"/>
          </a:xfrm>
        </p:grpSpPr>
        <p:sp>
          <p:nvSpPr>
            <p:cNvPr id="32" name="Rectangle 32"/>
            <p:cNvSpPr/>
            <p:nvPr/>
          </p:nvSpPr>
          <p:spPr>
            <a:xfrm>
              <a:off x="762000" y="4572000"/>
              <a:ext cx="2762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7166" y="4696778"/>
              <a:ext cx="1937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Diffusion model learns noise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4542" y="46643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771900" y="4572000"/>
              <a:ext cx="27051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57066" y="4696778"/>
              <a:ext cx="1718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Differentiable waveform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5904" y="5295900"/>
            <a:ext cx="6403640" cy="580739"/>
            <a:chOff x="755904" y="5295900"/>
            <a:chExt cx="6403640" cy="580739"/>
          </a:xfrm>
        </p:grpSpPr>
        <p:sp>
          <p:nvSpPr>
            <p:cNvPr id="38" name="Line 38"/>
            <p:cNvSpPr/>
            <p:nvPr/>
          </p:nvSpPr>
          <p:spPr>
            <a:xfrm>
              <a:off x="762000" y="52959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5904" y="5433060"/>
              <a:ext cx="6403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R. Legin, M. Isi, K. Wong, A. Adam, L. Perreault-Levasseur, Y. Hezaveh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5685949"/>
              <a:ext cx="5071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Université de Montréal · Mila · Ciela · Flatiron Institute · Perimeter Institute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6019800"/>
            <a:ext cx="5768421" cy="323850"/>
            <a:chOff x="762000" y="6019800"/>
            <a:chExt cx="5768421" cy="323850"/>
          </a:xfrm>
        </p:grpSpPr>
        <p:sp>
          <p:nvSpPr>
            <p:cNvPr id="42" name="Rectangle 42"/>
            <p:cNvSpPr/>
            <p:nvPr/>
          </p:nvSpPr>
          <p:spPr>
            <a:xfrm>
              <a:off x="762000" y="6019800"/>
              <a:ext cx="1066800" cy="32385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1506" y="6096000"/>
              <a:ext cx="447787" cy="171450"/>
            </a:xfrm>
            <a:prstGeom prst="rect">
              <a:avLst/>
            </a:prstGeom>
          </p:spPr>
        </p:pic>
        <p:sp>
          <p:nvSpPr>
            <p:cNvPr id="44" name="Rectangle 44"/>
            <p:cNvSpPr/>
            <p:nvPr/>
          </p:nvSpPr>
          <p:spPr>
            <a:xfrm>
              <a:off x="1943100" y="6019800"/>
              <a:ext cx="1143000" cy="32385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24314" y="6096000"/>
              <a:ext cx="580571" cy="17145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3200400" y="6019800"/>
              <a:ext cx="1333500" cy="32385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99372" y="6086475"/>
              <a:ext cx="535557" cy="190500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4719638" y="6122670"/>
              <a:ext cx="1810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github.com/RonanLegin/slicgw</a:t>
              </a:r>
            </a:p>
          </p:txBody>
        </p:sp>
      </p:grpSp>
      <p:sp>
        <p:nvSpPr>
          <p:cNvPr id="50" name="cue_s01_c1_gravitational_wave_inference_usually" title="cue_s01_c1_gravitational_wave_inference_usually" descr="cue_s01_c1_gravitational_wave_inference_usually Gravitational-wave inference usually assumes detector noise is Gaussian and stationary, but real LIGO, Virgo, and KAGRA data break that with glitches and drifting spectral lines."/>
          <p:cNvSpPr/>
          <p:nvPr/>
        </p:nvSpPr>
        <p:spPr>
          <a:xfrm>
            <a:off x="755904" y="3958437"/>
            <a:ext cx="6006998" cy="4780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1_c2_work_introduces_slic_score_based_lik" title="cue_s01_c2_work_introduces_slic_score_based_lik" descr="cue_s01_c2_work_introduces_slic_score_based_lik This work introduces SLIC, Score-based Likelihood Characterization."/>
          <p:cNvSpPr/>
          <p:nvPr/>
        </p:nvSpPr>
        <p:spPr>
          <a:xfrm>
            <a:off x="762000" y="3200628"/>
            <a:ext cx="5715609" cy="4951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1_c3_learns_true_noise_distribution_diffu" title="cue_s01_c3_learns_true_noise_distribution_diffu" descr="cue_s01_c3_learns_true_noise_distribution_diffu It learns the true noise distribution with a diffusion model and couples it to a differentiable waveform for unbiased parameter estimation."/>
          <p:cNvSpPr/>
          <p:nvPr/>
        </p:nvSpPr>
        <p:spPr>
          <a:xfrm>
            <a:off x="762000" y="4572228"/>
            <a:ext cx="5715609" cy="3813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11847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9154955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Gaussian noise assumption breaks on real data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762000" y="1752600"/>
            <a:ext cx="5191125" cy="2095500"/>
            <a:chOff x="762000" y="1752600"/>
            <a:chExt cx="5191125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752600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526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1847" y="2028349"/>
              <a:ext cx="1165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01 · INFERENCE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8418" y="2279332"/>
              <a:ext cx="33472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Inference needs a likelihood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0704" y="2689860"/>
              <a:ext cx="3983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Extracting astrophysics from gravitational waves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0704" y="2918460"/>
              <a:ext cx="3943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means Bayesian inference over masses and spins 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704" y="3147060"/>
              <a:ext cx="3663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that inference requires a noise likelihood.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38875" y="1752600"/>
            <a:ext cx="5191125" cy="2095500"/>
            <a:chOff x="6238875" y="1752600"/>
            <a:chExt cx="5191125" cy="2095500"/>
          </a:xfrm>
        </p:grpSpPr>
        <p:sp>
          <p:nvSpPr>
            <p:cNvPr id="14" name="Rectangle 14"/>
            <p:cNvSpPr/>
            <p:nvPr/>
          </p:nvSpPr>
          <p:spPr>
            <a:xfrm>
              <a:off x="6238875" y="1752600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38875" y="17526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7FA8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38722" y="2028349"/>
              <a:ext cx="1643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02 · THE ASSUMPTION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35293" y="2279332"/>
              <a:ext cx="29667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convenient assumption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191750" y="1936750"/>
              <a:ext cx="571500" cy="444500"/>
            </a:xfrm>
            <a:custGeom>
              <a:avLst/>
              <a:gdLst/>
              <a:ahLst/>
              <a:cxnLst/>
              <a:rect l="l" t="t" r="r" b="b"/>
              <a:pathLst>
                <a:path w="571500" h="444500">
                  <a:moveTo>
                    <a:pt x="0" y="444500"/>
                  </a:moveTo>
                  <a:cubicBezTo>
                    <a:pt x="190500" y="0"/>
                    <a:pt x="381000" y="0"/>
                    <a:pt x="571500" y="444500"/>
                  </a:cubicBezTo>
                </a:path>
              </a:pathLst>
            </a:custGeom>
            <a:noFill/>
            <a:ln w="23812">
              <a:solidFill>
                <a:srgbClr val="7FA8D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37579" y="2689860"/>
              <a:ext cx="3781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decades the field assumed detector noise 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37579" y="2918460"/>
              <a:ext cx="3684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Gaussian and stationary, because it makes the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37579" y="314706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likelihood tractable and cheap to evaluate.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038600"/>
            <a:ext cx="5191125" cy="2095500"/>
            <a:chOff x="762000" y="4038600"/>
            <a:chExt cx="5191125" cy="2095500"/>
          </a:xfrm>
        </p:grpSpPr>
        <p:sp>
          <p:nvSpPr>
            <p:cNvPr id="23" name="Rectangle 23"/>
            <p:cNvSpPr/>
            <p:nvPr/>
          </p:nvSpPr>
          <p:spPr>
            <a:xfrm>
              <a:off x="762000" y="4038600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40386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61847" y="4314349"/>
              <a:ext cx="9834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03 · REALITY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8418" y="4565332"/>
              <a:ext cx="35846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But real detectors are messy</a:t>
              </a:r>
            </a:p>
          </p:txBody>
        </p:sp>
        <p:sp>
          <p:nvSpPr>
            <p:cNvPr id="27" name="Polyline 27"/>
            <p:cNvSpPr/>
            <p:nvPr/>
          </p:nvSpPr>
          <p:spPr>
            <a:xfrm>
              <a:off x="4476750" y="4152900"/>
              <a:ext cx="1143000" cy="304800"/>
            </a:xfrm>
            <a:custGeom>
              <a:avLst/>
              <a:gdLst/>
              <a:ahLst/>
              <a:cxnLst/>
              <a:rect l="l" t="t" r="r" b="b"/>
              <a:pathLst>
                <a:path w="1143000" h="304800">
                  <a:moveTo>
                    <a:pt x="0" y="152400"/>
                  </a:moveTo>
                  <a:lnTo>
                    <a:pt x="152400" y="152400"/>
                  </a:lnTo>
                  <a:lnTo>
                    <a:pt x="209550" y="0"/>
                  </a:lnTo>
                  <a:lnTo>
                    <a:pt x="285750" y="304800"/>
                  </a:lnTo>
                  <a:lnTo>
                    <a:pt x="361950" y="76200"/>
                  </a:lnTo>
                  <a:lnTo>
                    <a:pt x="476250" y="152400"/>
                  </a:lnTo>
                  <a:lnTo>
                    <a:pt x="1143000" y="152400"/>
                  </a:lnTo>
                </a:path>
              </a:pathLst>
            </a:custGeom>
            <a:noFill/>
            <a:ln w="20955">
              <a:solidFill>
                <a:srgbClr val="E883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0704" y="4975860"/>
              <a:ext cx="3514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Sensitivity drifts over time, and data carry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0704" y="5204460"/>
              <a:ext cx="4026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transient glitches and narrow, wandering spectral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0704" y="5433060"/>
              <a:ext cx="2981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lines that violate the Gaussian model.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38875" y="4038600"/>
            <a:ext cx="5191125" cy="2095500"/>
            <a:chOff x="6238875" y="4038600"/>
            <a:chExt cx="5191125" cy="2095500"/>
          </a:xfrm>
        </p:grpSpPr>
        <p:sp>
          <p:nvSpPr>
            <p:cNvPr id="32" name="Rectangle 32"/>
            <p:cNvSpPr/>
            <p:nvPr/>
          </p:nvSpPr>
          <p:spPr>
            <a:xfrm>
              <a:off x="6238875" y="4038600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38875" y="40386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8722" y="4314349"/>
              <a:ext cx="11039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04 · THE COST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5293" y="4565332"/>
              <a:ext cx="41005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Costly fixes that can bias results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7579" y="4975860"/>
              <a:ext cx="3813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no generative model, artifacts are handled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7579" y="5204460"/>
              <a:ext cx="4129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segment-by-segment with bespoke fixes. Famously,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37579" y="5433060"/>
              <a:ext cx="3500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GW170817 landed right on a loud LIGO glitch.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43" name="cue_s02_c1_extracting_astrophysics_gravitationa" title="cue_s02_c1_extracting_astrophysics_gravitationa" descr="cue_s02_c1_extracting_astrophysics_gravitationa Extracting astrophysics from gravitational waves needs Bayesian inference, and that needs a likelihood."/>
          <p:cNvSpPr/>
          <p:nvPr/>
        </p:nvSpPr>
        <p:spPr>
          <a:xfrm>
            <a:off x="762000" y="1752904"/>
            <a:ext cx="5191353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2_c2_decades_field_assumed_noise_gaussian" title="cue_s02_c2_decades_field_assumed_noise_gaussian" descr="cue_s02_c2_decades_field_assumed_noise_gaussian For decades the field assumed noise is Gaussian and stationary because it makes the likelihood cheap."/>
          <p:cNvSpPr/>
          <p:nvPr/>
        </p:nvSpPr>
        <p:spPr>
          <a:xfrm>
            <a:off x="6238646" y="1752904"/>
            <a:ext cx="5191353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2_c3_but_real_detectors_drift_over" title="cue_s02_c3_but_real_detectors_drift_over" descr="cue_s02_c3_but_real_detectors_drift_over But real detectors drift over time and carry transient glitches and wandering spectral lines."/>
          <p:cNvSpPr/>
          <p:nvPr/>
        </p:nvSpPr>
        <p:spPr>
          <a:xfrm>
            <a:off x="762000" y="4038676"/>
            <a:ext cx="5191353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2_c4_these_handled_segment_segment_costly" title="cue_s02_c4_these_handled_segment_segment_costly" descr="cue_s02_c4_these_handled_segment_segment_costly These are handled segment by segment with costly custom fixes that can bias results. Famously, GW170817 landed right on a loud LIGO glitch."/>
          <p:cNvSpPr/>
          <p:nvPr/>
        </p:nvSpPr>
        <p:spPr>
          <a:xfrm>
            <a:off x="6238646" y="4038676"/>
            <a:ext cx="5191353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10702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8774873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Gravitational-wave astronomy is scaling up fast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762000" y="1752600"/>
            <a:ext cx="10668000" cy="895350"/>
            <a:chOff x="762000" y="1752600"/>
            <a:chExt cx="10668000" cy="895350"/>
          </a:xfrm>
        </p:grpSpPr>
        <p:sp>
          <p:nvSpPr>
            <p:cNvPr id="6" name="Rectangle 6"/>
            <p:cNvSpPr/>
            <p:nvPr/>
          </p:nvSpPr>
          <p:spPr>
            <a:xfrm>
              <a:off x="762000" y="1752600"/>
              <a:ext cx="10668000" cy="895350"/>
            </a:xfrm>
            <a:prstGeom prst="roundRect">
              <a:avLst>
                <a:gd name="adj" fmla="val 106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3846" y="2029778"/>
              <a:ext cx="1820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Why now?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857500" y="1952625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36773" y="2034064"/>
              <a:ext cx="54553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E6"/>
                  </a:solidFill>
                  <a:latin typeface="+mn-lt"/>
                  <a:ea typeface="+mn-ea"/>
                  <a:cs typeface="+mn-cs"/>
                </a:rPr>
                <a:t>More events, more sensitivity — and small noise errors no longer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6773" y="2262664"/>
              <a:ext cx="5386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E6"/>
                  </a:solidFill>
                  <a:latin typeface="+mn-lt"/>
                  <a:ea typeface="+mn-ea"/>
                  <a:cs typeface="+mn-cs"/>
                </a:rPr>
                <a:t>stay small. The idealized-noise shortcut is running out of road.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2857500"/>
            <a:ext cx="5191125" cy="3276600"/>
            <a:chOff x="762000" y="2857500"/>
            <a:chExt cx="5191125" cy="3276600"/>
          </a:xfrm>
        </p:grpSpPr>
        <p:sp>
          <p:nvSpPr>
            <p:cNvPr id="12" name="Rectangle 12"/>
            <p:cNvSpPr/>
            <p:nvPr/>
          </p:nvSpPr>
          <p:spPr>
            <a:xfrm>
              <a:off x="762000" y="2857500"/>
              <a:ext cx="5191125" cy="3276600"/>
            </a:xfrm>
            <a:prstGeom prst="roundRect">
              <a:avLst>
                <a:gd name="adj" fmla="val 290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857500"/>
              <a:ext cx="57150" cy="327660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847" y="3152299"/>
              <a:ext cx="1414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BIAS ACCUMULATES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037" y="3395186"/>
              <a:ext cx="29124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Tiny departures pile up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704" y="3794760"/>
              <a:ext cx="3870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Analyzing large catalogs makes the whole pipeline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704" y="4023360"/>
              <a:ext cx="3821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sensitive to even tiny departures from Gaussian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704" y="4251960"/>
              <a:ext cx="4252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noise, which quietly accumulate into systematic bias.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138238" y="4762500"/>
              <a:ext cx="3624262" cy="1279207"/>
              <a:chOff x="1138238" y="4762500"/>
              <a:chExt cx="3624262" cy="1279207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143000" y="5600700"/>
                <a:ext cx="438150" cy="171450"/>
              </a:xfrm>
              <a:prstGeom prst="rect">
                <a:avLst/>
              </a:prstGeom>
              <a:solidFill>
                <a:srgbClr val="F3C39A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733550" y="5467350"/>
                <a:ext cx="438150" cy="304800"/>
              </a:xfrm>
              <a:prstGeom prst="rect">
                <a:avLst/>
              </a:prstGeom>
              <a:solidFill>
                <a:srgbClr val="EEA766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324100" y="5295900"/>
                <a:ext cx="438150" cy="476250"/>
              </a:xfrm>
              <a:prstGeom prst="rect">
                <a:avLst/>
              </a:prstGeom>
              <a:solidFill>
                <a:srgbClr val="E8933F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914650" y="5067300"/>
                <a:ext cx="438150" cy="704850"/>
              </a:xfrm>
              <a:prstGeom prst="rect">
                <a:avLst/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3505200" y="4762500"/>
                <a:ext cx="438150" cy="1009650"/>
              </a:xfrm>
              <a:prstGeom prst="rect">
                <a:avLst/>
              </a:prstGeom>
              <a:solidFill>
                <a:srgbClr val="DC6F27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095750" y="5334000"/>
                <a:ext cx="666750" cy="438150"/>
              </a:xfrm>
              <a:prstGeom prst="roundRect">
                <a:avLst>
                  <a:gd name="adj" fmla="val 8696"/>
                </a:avLst>
              </a:prstGeom>
              <a:noFill/>
              <a:ln w="13335">
                <a:solidFill>
                  <a:srgbClr val="DC6F27"/>
                </a:solidFill>
                <a:custDash>
                  <a:ds d="214286" sp="214286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06233" y="5503545"/>
                <a:ext cx="2457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C9772F"/>
                    </a:solidFill>
                    <a:latin typeface="+mn-lt"/>
                    <a:ea typeface="+mn-ea"/>
                    <a:cs typeface="+mn-cs"/>
                  </a:rPr>
                  <a:t>bias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1143000" y="57721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38238" y="5865495"/>
                <a:ext cx="105148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93A2B6"/>
                    </a:solidFill>
                    <a:latin typeface="+mn-lt"/>
                    <a:ea typeface="+mn-ea"/>
                    <a:cs typeface="+mn-cs"/>
                  </a:rPr>
                  <a:t>events analyzed →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238875" y="2857500"/>
            <a:ext cx="5191125" cy="3276600"/>
            <a:chOff x="6238875" y="2857500"/>
            <a:chExt cx="5191125" cy="3276600"/>
          </a:xfrm>
        </p:grpSpPr>
        <p:sp>
          <p:nvSpPr>
            <p:cNvPr id="30" name="Rectangle 30"/>
            <p:cNvSpPr/>
            <p:nvPr/>
          </p:nvSpPr>
          <p:spPr>
            <a:xfrm>
              <a:off x="6238875" y="2857500"/>
              <a:ext cx="5191125" cy="3276600"/>
            </a:xfrm>
            <a:prstGeom prst="roundRect">
              <a:avLst>
                <a:gd name="adj" fmla="val 2907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38875" y="2857500"/>
              <a:ext cx="57150" cy="3276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722" y="3152299"/>
              <a:ext cx="7212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GOAL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34912" y="3395186"/>
              <a:ext cx="488035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Keep the physics, drop the assumption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37579" y="3813810"/>
              <a:ext cx="4096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Retain the trusted deterministic waveform models,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7579" y="4042410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but stop assuming idealized noise — analyzing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7579" y="4271010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artifact-contaminated signals without data surgery.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8341" y="4801552"/>
              <a:ext cx="30211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Built for the next-generation detectors: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43675" y="5105400"/>
              <a:ext cx="219075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143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705600" y="5229225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66585" y="5241131"/>
              <a:ext cx="1181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Cosmic Explorer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886825" y="5105400"/>
              <a:ext cx="222885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1430">
              <a:solidFill>
                <a:schemeClr val="accent2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058275" y="523875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0" y="152400"/>
                  </a:moveTo>
                  <a:lnTo>
                    <a:pt x="85725" y="0"/>
                  </a:lnTo>
                  <a:lnTo>
                    <a:pt x="171450" y="1524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09735" y="5241131"/>
              <a:ext cx="1362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Einstein Telescope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48" name="cue_s03_c1_why_now" title="cue_s03_c1_why_now" descr="cue_s03_c1_why_now Why now?"/>
          <p:cNvSpPr/>
          <p:nvPr/>
        </p:nvSpPr>
        <p:spPr>
          <a:xfrm>
            <a:off x="762000" y="1752904"/>
            <a:ext cx="10668000" cy="8956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3_c2_gravitational_wave_astronomy_scaling" title="cue_s03_c2_gravitational_wave_astronomy_scaling" descr="cue_s03_c2_gravitational_wave_astronomy_scaling Gravitational-wave astronomy is scaling fast, and analyzing large catalogs makes the pipeline sensitive to tiny departures from Gaussian noise that quietly accumulate into bias."/>
          <p:cNvSpPr/>
          <p:nvPr/>
        </p:nvSpPr>
        <p:spPr>
          <a:xfrm>
            <a:off x="762000" y="2857728"/>
            <a:ext cx="5191353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3_c3_authors_wanted_keep_trusted_determin" title="cue_s03_c3_authors_wanted_keep_trusted_determin" descr="cue_s03_c3_authors_wanted_keep_trusted_determin The authors wanted to keep the trusted deterministic waveform models while dropping the unrealistic noise assumption, and to prepare for next-generation detectors like Cosmic Explorer and the Einstein Telescope."/>
          <p:cNvSpPr/>
          <p:nvPr/>
        </p:nvSpPr>
        <p:spPr>
          <a:xfrm>
            <a:off x="6238646" y="2857728"/>
            <a:ext cx="5191353" cy="32767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1255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8468121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Bringing SLIC to gravitational-wave inference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>
            <a:off x="762000" y="1733550"/>
            <a:ext cx="12750430" cy="800100"/>
            <a:chOff x="762000" y="1733550"/>
            <a:chExt cx="12750430" cy="800100"/>
          </a:xfrm>
        </p:grpSpPr>
        <p:sp>
          <p:nvSpPr>
            <p:cNvPr id="6" name="Rectangle 6"/>
            <p:cNvSpPr/>
            <p:nvPr/>
          </p:nvSpPr>
          <p:spPr>
            <a:xfrm>
              <a:off x="762000" y="1733550"/>
              <a:ext cx="10668000" cy="800100"/>
            </a:xfrm>
            <a:prstGeom prst="roundRect">
              <a:avLst>
                <a:gd name="adj" fmla="val 11905"/>
              </a:avLst>
            </a:pr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33550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1847" y="1952149"/>
              <a:ext cx="11039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CORE IDEA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8799" y="2192179"/>
              <a:ext cx="124536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Adapt Score-based Likelihood Characterization (SLIC) to learn real detector noise instead of assuming it.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2743200"/>
            <a:ext cx="3429000" cy="3390900"/>
            <a:chOff x="762000" y="2743200"/>
            <a:chExt cx="3429000" cy="3390900"/>
          </a:xfrm>
        </p:grpSpPr>
        <p:sp>
          <p:nvSpPr>
            <p:cNvPr id="11" name="Rectangle 11"/>
            <p:cNvSpPr/>
            <p:nvPr/>
          </p:nvSpPr>
          <p:spPr>
            <a:xfrm>
              <a:off x="762000" y="2743200"/>
              <a:ext cx="3429000" cy="3390900"/>
            </a:xfrm>
            <a:prstGeom prst="roundRect">
              <a:avLst>
                <a:gd name="adj" fmla="val 280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81075" y="29622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2235" y="30313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130" y="2990850"/>
              <a:ext cx="232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Learn, don't assume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985" y="3517106"/>
              <a:ext cx="17724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Originally developed for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985" y="374570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astronomical imaging with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985" y="3974306"/>
              <a:ext cx="21304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Hubble and Webb, SLIC learns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985" y="420290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score of the noise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985" y="44315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distribution — instead of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985" y="466010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assuming its functional form.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81500" y="2743200"/>
            <a:ext cx="3429000" cy="3390900"/>
            <a:chOff x="4381500" y="2743200"/>
            <a:chExt cx="3429000" cy="3390900"/>
          </a:xfrm>
        </p:grpSpPr>
        <p:sp>
          <p:nvSpPr>
            <p:cNvPr id="22" name="Rectangle 22"/>
            <p:cNvSpPr/>
            <p:nvPr/>
          </p:nvSpPr>
          <p:spPr>
            <a:xfrm>
              <a:off x="4381500" y="2743200"/>
              <a:ext cx="3429000" cy="3390900"/>
            </a:xfrm>
            <a:prstGeom prst="roundRect">
              <a:avLst>
                <a:gd name="adj" fmla="val 280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600575" y="29622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91735" y="30313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40630" y="2990850"/>
              <a:ext cx="204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Unbiased likelihood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2485" y="3517106"/>
              <a:ext cx="18631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Couple that learned noise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2485" y="374570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score with a differentiable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2485" y="397430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physical waveform model 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2485" y="4202906"/>
              <a:ext cx="2175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produce an unbiased estimate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42485" y="443150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of the likelihood — no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42485" y="4660106"/>
              <a:ext cx="2262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Gaussian assumption required.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01000" y="2743200"/>
            <a:ext cx="3429000" cy="3390900"/>
            <a:chOff x="8001000" y="2743200"/>
            <a:chExt cx="3429000" cy="3390900"/>
          </a:xfrm>
        </p:grpSpPr>
        <p:sp>
          <p:nvSpPr>
            <p:cNvPr id="33" name="Rectangle 33"/>
            <p:cNvSpPr/>
            <p:nvPr/>
          </p:nvSpPr>
          <p:spPr>
            <a:xfrm>
              <a:off x="8001000" y="2743200"/>
              <a:ext cx="3429000" cy="3390900"/>
            </a:xfrm>
            <a:prstGeom prst="roundRect">
              <a:avLst>
                <a:gd name="adj" fmla="val 2809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220075" y="2962275"/>
              <a:ext cx="285750" cy="285750"/>
            </a:xfrm>
            <a:prstGeom prst="ellipse">
              <a:avLst/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11235" y="30313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60130" y="2990850"/>
              <a:ext cx="2007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Shown end-to-end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267700" y="3562350"/>
              <a:ext cx="2895600" cy="10668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1430">
              <a:solidFill>
                <a:srgbClr val="F3C3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420100" y="3771900"/>
              <a:ext cx="152400" cy="152400"/>
            </a:xfrm>
            <a:prstGeom prst="ellipse">
              <a:avLst/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467725" y="3819525"/>
              <a:ext cx="71438" cy="57150"/>
            </a:xfrm>
            <a:custGeom>
              <a:avLst/>
              <a:gdLst/>
              <a:ahLst/>
              <a:cxnLst/>
              <a:rect l="l" t="t" r="r" b="b"/>
              <a:pathLst>
                <a:path w="71438" h="57150">
                  <a:moveTo>
                    <a:pt x="0" y="28575"/>
                  </a:moveTo>
                  <a:lnTo>
                    <a:pt x="23812" y="57150"/>
                  </a:lnTo>
                  <a:lnTo>
                    <a:pt x="71438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62035" y="3688556"/>
              <a:ext cx="1512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Generates realistic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62035" y="3898106"/>
              <a:ext cx="814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LIGO noise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62797" y="4257199"/>
              <a:ext cx="13621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capturing even sharp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62797" y="4428649"/>
              <a:ext cx="8938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spectral lines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267700" y="4762500"/>
              <a:ext cx="2895600" cy="10668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1430">
              <a:solidFill>
                <a:srgbClr val="F3C3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420100" y="4972050"/>
              <a:ext cx="152400" cy="152400"/>
            </a:xfrm>
            <a:prstGeom prst="ellipse">
              <a:avLst/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467725" y="5019675"/>
              <a:ext cx="71438" cy="57150"/>
            </a:xfrm>
            <a:custGeom>
              <a:avLst/>
              <a:gdLst/>
              <a:ahLst/>
              <a:cxnLst/>
              <a:rect l="l" t="t" r="r" b="b"/>
              <a:pathLst>
                <a:path w="71438" h="57150">
                  <a:moveTo>
                    <a:pt x="0" y="28575"/>
                  </a:moveTo>
                  <a:lnTo>
                    <a:pt x="23812" y="57150"/>
                  </a:lnTo>
                  <a:lnTo>
                    <a:pt x="71438" y="0"/>
                  </a:lnTo>
                </a:path>
              </a:pathLst>
            </a:custGeom>
            <a:noFill/>
            <a:ln w="15240" cap="rnd">
              <a:solidFill>
                <a:srgbClr val="FFFF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62035" y="4888706"/>
              <a:ext cx="14177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Recovers the true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62035" y="5098256"/>
              <a:ext cx="1578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injected parameters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62797" y="5457349"/>
              <a:ext cx="1296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from a signal in real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2797" y="5628799"/>
              <a:ext cx="1299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LIGO detector noise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53" name="TextBox 53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55" name="cue_s04_c1_core_contribution_brings_score_based" title="cue_s04_c1_core_contribution_brings_score_based" descr="cue_s04_c1_core_contribution_brings_score_based The core contribution brings Score-based Likelihood Characterization, or SLIC, to gravitational waves."/>
          <p:cNvSpPr/>
          <p:nvPr/>
        </p:nvSpPr>
        <p:spPr>
          <a:xfrm>
            <a:off x="762000" y="1733702"/>
            <a:ext cx="11430000" cy="8003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4_c2_originally_developed_astronomical_im" title="cue_s04_c2_originally_developed_astronomical_im" descr="cue_s04_c2_originally_developed_astronomical_im Originally developed for astronomical imaging, it learns the score of the noise distribution with a diffusion model instead of assuming its form."/>
          <p:cNvSpPr/>
          <p:nvPr/>
        </p:nvSpPr>
        <p:spPr>
          <a:xfrm>
            <a:off x="762000" y="2743200"/>
            <a:ext cx="3428390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4_c3_coupled_differentiable_waveform_yiel" title="cue_s04_c3_coupled_differentiable_waveform_yiel" descr="cue_s04_c3_coupled_differentiable_waveform_yiel Coupled with a differentiable waveform, it yields an unbiased likelihood."/>
          <p:cNvSpPr/>
          <p:nvPr/>
        </p:nvSpPr>
        <p:spPr>
          <a:xfrm>
            <a:off x="4381804" y="2743200"/>
            <a:ext cx="3428390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4_c4_they_show_both_generates_realistic" title="cue_s04_c4_they_show_both_generates_realistic" descr="cue_s04_c4_they_show_both_generates_realistic They show it both generates realistic LIGO noise and recovers the true parameters of an injected signal."/>
          <p:cNvSpPr/>
          <p:nvPr/>
        </p:nvSpPr>
        <p:spPr>
          <a:xfrm>
            <a:off x="8000390" y="2743200"/>
            <a:ext cx="3428390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68516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2990605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How SLIC works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762000" y="1676400"/>
            <a:ext cx="10668000" cy="704850"/>
            <a:chOff x="762000" y="1676400"/>
            <a:chExt cx="10668000" cy="704850"/>
          </a:xfrm>
        </p:grpSpPr>
        <p:sp>
          <p:nvSpPr>
            <p:cNvPr id="6" name="Rectangle 6"/>
            <p:cNvSpPr/>
            <p:nvPr/>
          </p:nvSpPr>
          <p:spPr>
            <a:xfrm>
              <a:off x="762000" y="1676400"/>
              <a:ext cx="10668000" cy="704850"/>
            </a:xfrm>
            <a:prstGeom prst="roundRect">
              <a:avLst>
                <a:gd name="adj" fmla="val 1351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76400"/>
              <a:ext cx="57150" cy="704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1847" y="1856899"/>
              <a:ext cx="4107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THE SETTING · INVERSE PROBLEM WITH ADDITIVE NOISE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0323" y="2091214"/>
              <a:ext cx="4808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observation is a deterministic signal model plus noise: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49999" y="206835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67347" y="2180749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599" y="2068354"/>
              <a:ext cx="11423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= M(θ) + x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2495550"/>
            <a:ext cx="10668000" cy="1104900"/>
            <a:chOff x="762000" y="2495550"/>
            <a:chExt cx="10668000" cy="1104900"/>
          </a:xfrm>
        </p:grpSpPr>
        <p:sp>
          <p:nvSpPr>
            <p:cNvPr id="14" name="Rectangle 14"/>
            <p:cNvSpPr/>
            <p:nvPr/>
          </p:nvSpPr>
          <p:spPr>
            <a:xfrm>
              <a:off x="762000" y="2495550"/>
              <a:ext cx="10668000" cy="11049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1847" y="2733199"/>
              <a:ext cx="42649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7FA8D6"/>
                  </a:solidFill>
                  <a:latin typeface="+mn-lt"/>
                  <a:ea typeface="+mn-ea"/>
                  <a:cs typeface="+mn-cs"/>
                </a:rPr>
                <a:t>LEARN THE NOISE SCORE → BUILD THE LIKELIHOOD SCORE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3417570" y="3109912"/>
              <a:ext cx="5788152" cy="440055"/>
              <a:chOff x="3417570" y="3109912"/>
              <a:chExt cx="5788152" cy="44005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417570" y="3109912"/>
                <a:ext cx="1988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∇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641217" y="3283268"/>
                <a:ext cx="1193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θ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79520" y="3109912"/>
                <a:ext cx="11910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log p( x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869942" y="3283268"/>
                <a:ext cx="1885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79670" y="3109912"/>
                <a:ext cx="6629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| θ 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665470" y="3109912"/>
                <a:ext cx="1988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=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70270" y="3109912"/>
                <a:ext cx="1988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−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36970" y="3109912"/>
                <a:ext cx="1988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0617" y="3283268"/>
                <a:ext cx="1193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x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89395" y="3109912"/>
                <a:ext cx="139126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log Q(x)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80020" y="3109912"/>
                <a:ext cx="1988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·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970520" y="3109912"/>
                <a:ext cx="1988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94167" y="3283268"/>
                <a:ext cx="1193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32470" y="3109912"/>
                <a:ext cx="87325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M(θ)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62000" y="3752850"/>
            <a:ext cx="10668000" cy="1562100"/>
            <a:chOff x="762000" y="3752850"/>
            <a:chExt cx="10668000" cy="1562100"/>
          </a:xfrm>
        </p:grpSpPr>
        <p:sp>
          <p:nvSpPr>
            <p:cNvPr id="32" name="Rectangle 32"/>
            <p:cNvSpPr/>
            <p:nvPr/>
          </p:nvSpPr>
          <p:spPr>
            <a:xfrm>
              <a:off x="762000" y="3752850"/>
              <a:ext cx="4991100" cy="1562100"/>
            </a:xfrm>
            <a:prstGeom prst="roundRect">
              <a:avLst>
                <a:gd name="adj" fmla="val 6098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5647" y="3933349"/>
              <a:ext cx="16689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A · LEARN NOISE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742" y="4197668"/>
              <a:ext cx="2820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Score-based diffusion model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5266" y="4496752"/>
              <a:ext cx="2040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Trained on real LIGO noise via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5266" y="4706302"/>
              <a:ext cx="23217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denoising score matching to learn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4885" y="4964906"/>
              <a:ext cx="890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∇x log Q(x)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38900" y="3752850"/>
              <a:ext cx="4991100" cy="1562100"/>
            </a:xfrm>
            <a:prstGeom prst="roundRect">
              <a:avLst>
                <a:gd name="adj" fmla="val 6098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62547" y="3933349"/>
              <a:ext cx="17854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STEP B · CHAIN PHYSICS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642" y="4197668"/>
              <a:ext cx="338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Differentiable waveform Jacobian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2166" y="4496752"/>
              <a:ext cx="2514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IMRPhenomD from the ripple package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2166" y="4706302"/>
              <a:ext cx="1994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gives the waveform Jacobian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4964906"/>
              <a:ext cx="624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C9772F"/>
                  </a:solidFill>
                  <a:latin typeface="Consolas"/>
                  <a:ea typeface="Consolas"/>
                  <a:cs typeface="Consolas"/>
                </a:rPr>
                <a:t>∇θ M(θ)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753100" y="45339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93A2B6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362700" y="44767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3A2B6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762000" y="5448300"/>
            <a:ext cx="10668000" cy="723900"/>
            <a:chOff x="762000" y="5448300"/>
            <a:chExt cx="10668000" cy="723900"/>
          </a:xfrm>
        </p:grpSpPr>
        <p:sp>
          <p:nvSpPr>
            <p:cNvPr id="47" name="Rectangle 47"/>
            <p:cNvSpPr/>
            <p:nvPr/>
          </p:nvSpPr>
          <p:spPr>
            <a:xfrm>
              <a:off x="762000" y="5448300"/>
              <a:ext cx="10668000" cy="723900"/>
            </a:xfrm>
            <a:prstGeom prst="roundRect">
              <a:avLst>
                <a:gd name="adj" fmla="val 1315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2000" y="54483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2E8B6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66800" y="5657850"/>
              <a:ext cx="304800" cy="304800"/>
            </a:xfrm>
            <a:prstGeom prst="ellipse">
              <a:avLst/>
            </a:prstGeom>
            <a:solidFill>
              <a:srgbClr val="2E8B6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143000" y="5721350"/>
              <a:ext cx="152400" cy="177800"/>
            </a:xfrm>
            <a:custGeom>
              <a:avLst/>
              <a:gdLst/>
              <a:ahLst/>
              <a:cxnLst/>
              <a:rect l="l" t="t" r="r" b="b"/>
              <a:pathLst>
                <a:path w="152400" h="177800">
                  <a:moveTo>
                    <a:pt x="0" y="88900"/>
                  </a:moveTo>
                  <a:cubicBezTo>
                    <a:pt x="50800" y="0"/>
                    <a:pt x="101600" y="0"/>
                    <a:pt x="152400" y="88900"/>
                  </a:cubicBezTo>
                  <a:cubicBezTo>
                    <a:pt x="101600" y="177800"/>
                    <a:pt x="50800" y="177800"/>
                    <a:pt x="0" y="88900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17142" y="5616892"/>
              <a:ext cx="3236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Sample the posterior with MALA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8285" y="5879306"/>
              <a:ext cx="8447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likelihood score drives a Metropolis-adjusted Langevin algorithm to draw samples of the source parameters θ.</a:t>
              </a:r>
            </a:p>
          </p:txBody>
        </p:sp>
      </p:grpSp>
      <p:sp>
        <p:nvSpPr>
          <p:cNvPr id="54" name="Line 54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57" name="cue_s05_c1_how_slic_works_setting_inverse" title="cue_s05_c1_how_slic_works_setting_inverse" descr="cue_s05_c1_how_slic_works_setting_inverse Here is how SLIC works. The setting is an inverse problem with additive noise: an observation equals a deterministic signal model plus noise."/>
          <p:cNvSpPr/>
          <p:nvPr/>
        </p:nvSpPr>
        <p:spPr>
          <a:xfrm>
            <a:off x="762000" y="1676095"/>
            <a:ext cx="10668000" cy="7050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5_c2_learn_score_noise_distribution_you" title="cue_s05_c2_learn_score_noise_distribution_you" descr="cue_s05_c2_learn_score_noise_distribution_you Learn the score of the noise distribution and you can build the score of the likelihood."/>
          <p:cNvSpPr/>
          <p:nvPr/>
        </p:nvSpPr>
        <p:spPr>
          <a:xfrm>
            <a:off x="762000" y="2495626"/>
            <a:ext cx="10668000" cy="11048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e_s05_c3_they_train_score_based_diffusion_rea" title="cue_s05_c3_they_train_score_based_diffusion_rea" descr="cue_s05_c3_they_train_score_based_diffusion_rea So they train a score-based diffusion model on real LIGO noise using denoising score matching, then chain it with the Jacobian of a differentiable IMRPhenomD waveform from the ripple package."/>
          <p:cNvSpPr/>
          <p:nvPr/>
        </p:nvSpPr>
        <p:spPr>
          <a:xfrm>
            <a:off x="762000" y="3752697"/>
            <a:ext cx="10668000" cy="15622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5_c4_sampling_metropolis_adjusted_langevi" title="cue_s05_c4_sampling_metropolis_adjusted_langevi" descr="cue_s05_c4_sampling_metropolis_adjusted_langevi Sampling uses a Metropolis-adjusted Langevin algorithm, MALA."/>
          <p:cNvSpPr/>
          <p:nvPr/>
        </p:nvSpPr>
        <p:spPr>
          <a:xfrm>
            <a:off x="762000" y="5447995"/>
            <a:ext cx="10668000" cy="7242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19768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DATASET &amp;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6834424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Trained and tested on real LIGO data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762000" y="1676400"/>
            <a:ext cx="10668000" cy="628650"/>
            <a:chOff x="762000" y="1676400"/>
            <a:chExt cx="10668000" cy="628650"/>
          </a:xfrm>
        </p:grpSpPr>
        <p:sp>
          <p:nvSpPr>
            <p:cNvPr id="6" name="Rectangle 6"/>
            <p:cNvSpPr/>
            <p:nvPr/>
          </p:nvSpPr>
          <p:spPr>
            <a:xfrm>
              <a:off x="762000" y="1676400"/>
              <a:ext cx="1066800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76400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9180" y="1895475"/>
              <a:ext cx="7235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demonstration uses real detector data — not simulated noise.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2476500"/>
            <a:ext cx="5191125" cy="3657600"/>
            <a:chOff x="762000" y="2476500"/>
            <a:chExt cx="5191125" cy="3657600"/>
          </a:xfrm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5191125" cy="3657600"/>
            </a:xfrm>
            <a:prstGeom prst="roundRect">
              <a:avLst>
                <a:gd name="adj" fmla="val 260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2476500"/>
              <a:ext cx="57150" cy="3657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1847" y="2733199"/>
              <a:ext cx="10746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TRAINING DATA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2965132"/>
              <a:ext cx="3994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Score network on LIGO-Hanford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109662" y="3394710"/>
              <a:ext cx="3770034" cy="1149096"/>
              <a:chOff x="1109662" y="3394710"/>
              <a:chExt cx="3770034" cy="114909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1109662" y="3433762"/>
                <a:ext cx="66675" cy="666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89304" y="3394710"/>
                <a:ext cx="28606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11 hours of real LIGO-Hanford noise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1109662" y="3738562"/>
                <a:ext cx="66675" cy="666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89304" y="3699510"/>
                <a:ext cx="29174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recorded around the GW150914 event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109662" y="4043362"/>
                <a:ext cx="66675" cy="666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89304" y="4004310"/>
                <a:ext cx="3419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sampled at 4096 Hz, split into 4 s segments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109662" y="4348162"/>
                <a:ext cx="66675" cy="666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89304" y="4309110"/>
                <a:ext cx="35903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the segment with the true signal is discarded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1066800" y="4762500"/>
              <a:ext cx="1428750" cy="10668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96895" y="5020628"/>
              <a:ext cx="76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11 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93011" y="5476399"/>
              <a:ext cx="976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real LIGO noise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47950" y="4762500"/>
              <a:ext cx="1428750" cy="10668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26619" y="5031105"/>
              <a:ext cx="12714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4096 Hz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78080" y="5476399"/>
              <a:ext cx="7684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sample rate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29100" y="4762500"/>
              <a:ext cx="1428750" cy="10668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3928" y="5020628"/>
              <a:ext cx="5590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 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50390" y="5476399"/>
              <a:ext cx="986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segment length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38875" y="2476500"/>
            <a:ext cx="5191125" cy="1143000"/>
            <a:chOff x="6238875" y="2476500"/>
            <a:chExt cx="5191125" cy="1143000"/>
          </a:xfrm>
        </p:grpSpPr>
        <p:sp>
          <p:nvSpPr>
            <p:cNvPr id="33" name="Rectangle 33"/>
            <p:cNvSpPr/>
            <p:nvPr/>
          </p:nvSpPr>
          <p:spPr>
            <a:xfrm>
              <a:off x="6238875" y="2476500"/>
              <a:ext cx="5191125" cy="1143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8875" y="24765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7FA8D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38722" y="2714149"/>
              <a:ext cx="1268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PRE-PROCESSING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36055" y="2943225"/>
              <a:ext cx="3239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Trained in the Fourier domain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7960" y="3269456"/>
              <a:ext cx="38013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after applying a Tukey window to each 4 s segment.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38875" y="3771900"/>
            <a:ext cx="5191125" cy="2362200"/>
            <a:chOff x="6238875" y="3771900"/>
            <a:chExt cx="5191125" cy="2362200"/>
          </a:xfrm>
        </p:grpSpPr>
        <p:sp>
          <p:nvSpPr>
            <p:cNvPr id="39" name="Rectangle 39"/>
            <p:cNvSpPr/>
            <p:nvPr/>
          </p:nvSpPr>
          <p:spPr>
            <a:xfrm>
              <a:off x="6238875" y="3771900"/>
              <a:ext cx="5191125" cy="2362200"/>
            </a:xfrm>
            <a:prstGeom prst="roundRect">
              <a:avLst>
                <a:gd name="adj" fmla="val 4032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38875" y="377190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38722" y="4009549"/>
              <a:ext cx="1851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TEST SETUP · INJECTION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35293" y="4241482"/>
              <a:ext cx="4309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Inject a known signal into real noise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37960" y="4622006"/>
              <a:ext cx="36769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simulated GW150914-like signal is injected into 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37960" y="4831556"/>
              <a:ext cx="3793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held-out stretch of real LIGO noise recorded after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37960" y="5041106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training window — never seen during training.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43675" y="535305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9525">
              <a:solidFill>
                <a:srgbClr val="F3C3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20671" y="5454968"/>
              <a:ext cx="67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833A"/>
                  </a:solidFill>
                  <a:latin typeface="+mj-lt"/>
                  <a:ea typeface="+mj-ea"/>
                  <a:cs typeface="+mj-cs"/>
                </a:rPr>
                <a:t>29 M⊙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38277" y="5694045"/>
              <a:ext cx="6395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chirp mass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086725" y="535305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9525">
              <a:solidFill>
                <a:srgbClr val="F3C3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83791" y="5454968"/>
              <a:ext cx="834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833A"/>
                  </a:solidFill>
                  <a:latin typeface="+mj-lt"/>
                  <a:ea typeface="+mj-ea"/>
                  <a:cs typeface="+mj-cs"/>
                </a:rPr>
                <a:t>400 Mpc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44935" y="5694045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distance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629775" y="535305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9525">
              <a:solidFill>
                <a:srgbClr val="F3C39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10464" y="5454968"/>
              <a:ext cx="467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833A"/>
                  </a:solidFill>
                  <a:latin typeface="+mj-lt"/>
                  <a:ea typeface="+mj-ea"/>
                  <a:cs typeface="+mj-cs"/>
                </a:rPr>
                <a:t>χ = 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36492" y="56940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zero spins</a:t>
              </a:r>
            </a:p>
          </p:txBody>
        </p:sp>
      </p:grpSp>
      <p:sp>
        <p:nvSpPr>
          <p:cNvPr id="56" name="Line 56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57" name="TextBox 57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59" name="cue_s06_c1_demonstration_real" title="cue_s06_c1_demonstration_real" descr="cue_s06_c1_demonstration_real The demonstration uses real data."/>
          <p:cNvSpPr/>
          <p:nvPr/>
        </p:nvSpPr>
        <p:spPr>
          <a:xfrm>
            <a:off x="762000" y="1676095"/>
            <a:ext cx="10668000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e_s06_c2_they_train_score_network_eleven" title="cue_s06_c2_they_train_score_network_eleven" descr="cue_s06_c2_they_train_score_network_eleven They train the score network on eleven hours of real LIGO-Hanford data around GW150914, sampled at four thousand ninety-six hertz in four-second segments, discarding the segment holding the true signal."/>
          <p:cNvSpPr/>
          <p:nvPr/>
        </p:nvSpPr>
        <p:spPr>
          <a:xfrm>
            <a:off x="762000" y="2476423"/>
            <a:ext cx="5191353" cy="36573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ue_s06_c3_runs_fourier_domain_after_tukey" title="cue_s06_c3_runs_fourier_domain_after_tukey" descr="cue_s06_c3_runs_fourier_domain_after_tukey Training runs in the Fourier domain after a Tukey window."/>
          <p:cNvSpPr/>
          <p:nvPr/>
        </p:nvSpPr>
        <p:spPr>
          <a:xfrm>
            <a:off x="6238646" y="2476423"/>
            <a:ext cx="5191353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ue_s06_c4_test_they_inject_simulated_gw150914" title="cue_s06_c4_test_they_inject_simulated_gw150914" descr="cue_s06_c4_test_they_inject_simulated_gw150914 To test, they inject a simulated GW150914-like signal into held-out real noise never seen during training."/>
          <p:cNvSpPr/>
          <p:nvPr/>
        </p:nvSpPr>
        <p:spPr>
          <a:xfrm>
            <a:off x="6238646" y="3771900"/>
            <a:ext cx="5191353" cy="23618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101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8053965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Reproduces LIGO noise, recovers the signal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762000" y="1638300"/>
            <a:ext cx="10668000" cy="514350"/>
            <a:chOff x="762000" y="1638300"/>
            <a:chExt cx="10668000" cy="514350"/>
          </a:xfrm>
        </p:grpSpPr>
        <p:sp>
          <p:nvSpPr>
            <p:cNvPr id="6" name="Rectangle 6"/>
            <p:cNvSpPr/>
            <p:nvPr/>
          </p:nvSpPr>
          <p:spPr>
            <a:xfrm>
              <a:off x="762000" y="1638300"/>
              <a:ext cx="10668000" cy="514350"/>
            </a:xfrm>
            <a:prstGeom prst="roundRect">
              <a:avLst>
                <a:gd name="adj" fmla="val 18519"/>
              </a:avLst>
            </a:pr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383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9942" y="1806892"/>
              <a:ext cx="8649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results are encouraging — on both the learned noise and the recovered parameters.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2305050"/>
            <a:ext cx="7015346" cy="3829050"/>
            <a:chOff x="762000" y="2305050"/>
            <a:chExt cx="7015346" cy="3829050"/>
          </a:xfrm>
        </p:grpSpPr>
        <p:sp>
          <p:nvSpPr>
            <p:cNvPr id="10" name="Rectangle 10"/>
            <p:cNvSpPr/>
            <p:nvPr/>
          </p:nvSpPr>
          <p:spPr>
            <a:xfrm>
              <a:off x="762000" y="2305050"/>
              <a:ext cx="6667500" cy="3829050"/>
            </a:xfrm>
            <a:prstGeom prst="roundRect">
              <a:avLst>
                <a:gd name="adj" fmla="val 248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5647" y="2504599"/>
              <a:ext cx="23250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FIGURE 1 · LEARNED NOISE PSD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943600" y="2457450"/>
              <a:ext cx="12192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17311" y="2531745"/>
              <a:ext cx="10717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1024 realizations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2762250"/>
              <a:ext cx="6134100" cy="2933700"/>
            </a:xfrm>
            <a:prstGeom prst="roundRect">
              <a:avLst>
                <a:gd name="adj" fmla="val 1948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5199" y="2857500"/>
              <a:ext cx="4201103" cy="27432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985266" y="5811202"/>
              <a:ext cx="6792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SLIC (blue) matches the Welch estimate (gray), resolving narrow spectral lines even more finely.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0" y="2305050"/>
            <a:ext cx="3810000" cy="3829050"/>
            <a:chOff x="7620000" y="2305050"/>
            <a:chExt cx="3810000" cy="3829050"/>
          </a:xfrm>
        </p:grpSpPr>
        <p:sp>
          <p:nvSpPr>
            <p:cNvPr id="18" name="Rectangle 18"/>
            <p:cNvSpPr/>
            <p:nvPr/>
          </p:nvSpPr>
          <p:spPr>
            <a:xfrm>
              <a:off x="7620000" y="2305050"/>
              <a:ext cx="3810000" cy="3829050"/>
            </a:xfrm>
            <a:prstGeom prst="roundRect">
              <a:avLst>
                <a:gd name="adj" fmla="val 2500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0" y="2305050"/>
              <a:ext cx="57150" cy="382905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19847" y="2542699"/>
              <a:ext cx="1662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PARAMETER RECOVERY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6037" y="2785586"/>
              <a:ext cx="275823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Recovers the injected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16037" y="3052286"/>
              <a:ext cx="73680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signal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98637" y="3512820"/>
              <a:ext cx="185272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E8833A"/>
                  </a:solidFill>
                  <a:latin typeface="+mj-lt"/>
                  <a:ea typeface="+mj-ea"/>
                  <a:cs typeface="+mj-cs"/>
                </a:rPr>
                <a:t>5 / 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1248" y="427910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varied parameters recovered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4260" y="4488656"/>
              <a:ext cx="1481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high credibility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924800" y="4876800"/>
              <a:ext cx="3200400" cy="9906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11430">
              <a:solidFill>
                <a:srgbClr val="F3C3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47685" y="5098256"/>
              <a:ext cx="1377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Tighter posterior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8066" y="5392102"/>
              <a:ext cx="24394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Smaller variance than the standard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8066" y="5582602"/>
              <a:ext cx="2099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Gaussian-likelihood posterior.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4" name="cue_s07_c1_results_encouraging" title="cue_s07_c1_results_encouraging" descr="cue_s07_c1_results_encouraging The results are encouraging."/>
          <p:cNvSpPr/>
          <p:nvPr/>
        </p:nvSpPr>
        <p:spPr>
          <a:xfrm>
            <a:off x="762000" y="1638376"/>
            <a:ext cx="10668000" cy="5143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7_c2_drawing_one_thousand_twenty_four_noi" title="cue_s07_c2_drawing_one_thousand_twenty_four_noi" descr="cue_s07_c2_drawing_one_thousand_twenty_four_noi Drawing one thousand twenty-four noise realizations from SLIC, its power spectrum matches a Welch estimate from real LIGO data, and it resolves narrow spectral lines even more finely thanks to more training data."/>
          <p:cNvSpPr/>
          <p:nvPr/>
        </p:nvSpPr>
        <p:spPr>
          <a:xfrm>
            <a:off x="762000" y="2304973"/>
            <a:ext cx="6667804" cy="38288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7_c3_injecting_known_signal_slic_recovers" title="cue_s07_c3_injecting_known_signal_slic_recovers" descr="cue_s07_c3_injecting_known_signal_slic_recovers Injecting a known signal, SLIC recovers all five varied parameters with high credibility, and its posterior is tighter than the Gaussian-likelihood one."/>
          <p:cNvSpPr/>
          <p:nvPr/>
        </p:nvSpPr>
        <p:spPr>
          <a:xfrm>
            <a:off x="7620000" y="2304973"/>
            <a:ext cx="3810000" cy="38288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23985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ABLATION · HEAD-TO-HEAD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7373478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SLIC vs the standard Gaussian likelihood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762000" y="1638300"/>
            <a:ext cx="10668000" cy="514350"/>
            <a:chOff x="762000" y="1638300"/>
            <a:chExt cx="10668000" cy="514350"/>
          </a:xfrm>
        </p:grpSpPr>
        <p:sp>
          <p:nvSpPr>
            <p:cNvPr id="6" name="Rectangle 6"/>
            <p:cNvSpPr/>
            <p:nvPr/>
          </p:nvSpPr>
          <p:spPr>
            <a:xfrm>
              <a:off x="762000" y="1638300"/>
              <a:ext cx="10668000" cy="514350"/>
            </a:xfrm>
            <a:prstGeom prst="roundRect">
              <a:avLst>
                <a:gd name="adj" fmla="val 18519"/>
              </a:avLst>
            </a:pr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383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9942" y="1806892"/>
              <a:ext cx="7623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key comparison is against the conventional Gaussian-likelihood approach.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305050"/>
            <a:ext cx="3810000" cy="3829050"/>
            <a:chOff x="762000" y="2305050"/>
            <a:chExt cx="3810000" cy="3829050"/>
          </a:xfrm>
        </p:grpSpPr>
        <p:sp>
          <p:nvSpPr>
            <p:cNvPr id="10" name="Rectangle 10"/>
            <p:cNvSpPr/>
            <p:nvPr/>
          </p:nvSpPr>
          <p:spPr>
            <a:xfrm>
              <a:off x="762000" y="2305050"/>
              <a:ext cx="3810000" cy="3829050"/>
            </a:xfrm>
            <a:prstGeom prst="roundRect">
              <a:avLst>
                <a:gd name="adj" fmla="val 25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2305050"/>
              <a:ext cx="57150" cy="3829050"/>
            </a:xfrm>
            <a:prstGeom prst="roundRect">
              <a:avLst>
                <a:gd name="adj" fmla="val 50000"/>
              </a:avLst>
            </a:prstGeom>
            <a:solidFill>
              <a:srgbClr val="7FA8D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1847" y="2561749"/>
              <a:ext cx="7831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THE SETUP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2812732"/>
              <a:ext cx="24247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Run inference twice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085" y="3212306"/>
              <a:ext cx="1946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injected signal 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1085" y="34218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analyzed with both likelihoods,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085" y="3631406"/>
              <a:ext cx="260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isolating the noise model's effect.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66800" y="4038600"/>
              <a:ext cx="3200400" cy="6858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3335">
              <a:solidFill>
                <a:srgbClr val="F3C3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57300" y="4305300"/>
              <a:ext cx="152400" cy="152400"/>
            </a:xfrm>
            <a:prstGeom prst="rect">
              <a:avLst/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17904" y="4242435"/>
              <a:ext cx="1175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SLIC likelihood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19047" y="4476274"/>
              <a:ext cx="2087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learned score-based noise model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66800" y="4857750"/>
              <a:ext cx="3200400" cy="6858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333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57300" y="5124450"/>
              <a:ext cx="152400" cy="152400"/>
            </a:xfrm>
            <a:prstGeom prst="rect">
              <a:avLst/>
            </a:prstGeom>
            <a:solidFill>
              <a:srgbClr val="7FA8D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17904" y="5061585"/>
              <a:ext cx="1535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Gaussian likelihood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9047" y="5295424"/>
              <a:ext cx="22834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standard baseline from a Welch PSD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1847" y="5762149"/>
              <a:ext cx="2692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Black lines mark the true injected values.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62500" y="2305050"/>
            <a:ext cx="6667500" cy="3829050"/>
            <a:chOff x="4762500" y="2305050"/>
            <a:chExt cx="6667500" cy="3829050"/>
          </a:xfrm>
        </p:grpSpPr>
        <p:sp>
          <p:nvSpPr>
            <p:cNvPr id="27" name="Rectangle 27"/>
            <p:cNvSpPr/>
            <p:nvPr/>
          </p:nvSpPr>
          <p:spPr>
            <a:xfrm>
              <a:off x="4762500" y="2305050"/>
              <a:ext cx="6667500" cy="3829050"/>
            </a:xfrm>
            <a:prstGeom prst="roundRect">
              <a:avLst>
                <a:gd name="adj" fmla="val 248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86147" y="2504599"/>
              <a:ext cx="2715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FIGURE 2 · POSTERIOR COMPARISON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91100" y="2724150"/>
              <a:ext cx="3505200" cy="3143250"/>
            </a:xfrm>
            <a:prstGeom prst="roundRect">
              <a:avLst>
                <a:gd name="adj" fmla="val 1818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57503" y="2819400"/>
              <a:ext cx="2972394" cy="295275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8719947" y="2961799"/>
              <a:ext cx="16875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GLITCH-FREE SEGMENT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16518" y="3250882"/>
              <a:ext cx="1612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Both recover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6518" y="3517582"/>
              <a:ext cx="1174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truth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9185" y="3917156"/>
              <a:ext cx="1967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this clean case, SLIC is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19185" y="4126706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validated against the trusted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19185" y="433625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baseline.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724900" y="4686300"/>
              <a:ext cx="2438400" cy="1066800"/>
            </a:xfrm>
            <a:prstGeom prst="roundRect">
              <a:avLst>
                <a:gd name="adj" fmla="val 7143"/>
              </a:avLst>
            </a:prstGeom>
            <a:solidFill>
              <a:srgbClr val="FBEFE6"/>
            </a:solidFill>
            <a:ln w="11430">
              <a:solidFill>
                <a:srgbClr val="E883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8161" y="4875371"/>
              <a:ext cx="1596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E8833A"/>
                  </a:solidFill>
                  <a:latin typeface="+mj-lt"/>
                  <a:ea typeface="+mj-ea"/>
                  <a:cs typeface="+mj-cs"/>
                </a:rPr>
                <a:t>SLIC is tighter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10066" y="5201602"/>
              <a:ext cx="1965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Smaller-variance posterior,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10066" y="539210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hinting at larger gains once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10066" y="5582602"/>
              <a:ext cx="1944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noise is truly non-Gaussian.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46" name="cue_s08_c1_key_comparison_against_conventional" title="cue_s08_c1_key_comparison_against_conventional" descr="cue_s08_c1_key_comparison_against_conventional The key comparison is against the conventional approach."/>
          <p:cNvSpPr/>
          <p:nvPr/>
        </p:nvSpPr>
        <p:spPr>
          <a:xfrm>
            <a:off x="762000" y="1638376"/>
            <a:ext cx="10668000" cy="5143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8_c2_injected_signal_they_run_inference" title="cue_s08_c2_injected_signal_they_run_inference" descr="cue_s08_c2_injected_signal_they_run_inference For the injected signal they run inference twice: once with the learned SLIC likelihood, and once with a standard Gaussian likelihood from a Welch spectrum."/>
          <p:cNvSpPr/>
          <p:nvPr/>
        </p:nvSpPr>
        <p:spPr>
          <a:xfrm>
            <a:off x="762000" y="2304973"/>
            <a:ext cx="3810000" cy="38288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8_c3_they_pick_glitch_free_segment_both" title="cue_s08_c3_they_pick_glitch_free_segment_both" descr="cue_s08_c3_they_pick_glitch_free_segment_both They pick a glitch-free segment, so both recover the true parameters, but SLIC's posterior comes out tighter, hinting at gains on noisy, glitch-contaminated data."/>
          <p:cNvSpPr/>
          <p:nvPr/>
        </p:nvSpPr>
        <p:spPr>
          <a:xfrm>
            <a:off x="4762195" y="2304973"/>
            <a:ext cx="6667804" cy="38288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165512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6481983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demonstration, by the numbers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762000" y="1771650"/>
            <a:ext cx="5191125" cy="2038350"/>
            <a:chOff x="762000" y="1771650"/>
            <a:chExt cx="5191125" cy="2038350"/>
          </a:xfrm>
        </p:grpSpPr>
        <p:sp>
          <p:nvSpPr>
            <p:cNvPr id="6" name="Rectangle 6"/>
            <p:cNvSpPr/>
            <p:nvPr/>
          </p:nvSpPr>
          <p:spPr>
            <a:xfrm>
              <a:off x="762000" y="1771650"/>
              <a:ext cx="5191125" cy="2038350"/>
            </a:xfrm>
            <a:prstGeom prst="roundRect">
              <a:avLst>
                <a:gd name="adj" fmla="val 46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716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1847" y="2066449"/>
              <a:ext cx="1158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TRAINING NOISE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7750" y="2443162"/>
              <a:ext cx="1567091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11 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942" y="3245168"/>
              <a:ext cx="2406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real LIGO-Hanford noise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085" y="3517106"/>
              <a:ext cx="2680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used to train the score-based model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38875" y="1771650"/>
            <a:ext cx="5191125" cy="2038350"/>
            <a:chOff x="6238875" y="1771650"/>
            <a:chExt cx="5191125" cy="2038350"/>
          </a:xfrm>
        </p:grpSpPr>
        <p:sp>
          <p:nvSpPr>
            <p:cNvPr id="13" name="Rectangle 13"/>
            <p:cNvSpPr/>
            <p:nvPr/>
          </p:nvSpPr>
          <p:spPr>
            <a:xfrm>
              <a:off x="6238875" y="1771650"/>
              <a:ext cx="5191125" cy="2038350"/>
            </a:xfrm>
            <a:prstGeom prst="roundRect">
              <a:avLst>
                <a:gd name="adj" fmla="val 46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38875" y="177165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38722" y="2066449"/>
              <a:ext cx="1195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PSD VALIDATION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24625" y="2443162"/>
              <a:ext cx="1763116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1024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36817" y="324516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synthetic noise realizations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37960" y="3517106"/>
              <a:ext cx="2710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validate the learned power spectrum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38600"/>
            <a:ext cx="5191125" cy="2038350"/>
            <a:chOff x="762000" y="4038600"/>
            <a:chExt cx="5191125" cy="2038350"/>
          </a:xfrm>
        </p:grpSpPr>
        <p:sp>
          <p:nvSpPr>
            <p:cNvPr id="20" name="Rectangle 20"/>
            <p:cNvSpPr/>
            <p:nvPr/>
          </p:nvSpPr>
          <p:spPr>
            <a:xfrm>
              <a:off x="762000" y="4038600"/>
              <a:ext cx="5191125" cy="2038350"/>
            </a:xfrm>
            <a:prstGeom prst="roundRect">
              <a:avLst>
                <a:gd name="adj" fmla="val 4673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40386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1847" y="4333399"/>
              <a:ext cx="1844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PARAMETERS RECOVERED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7750" y="4710112"/>
              <a:ext cx="46935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6994" y="5066348"/>
              <a:ext cx="27283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8833A"/>
                  </a:solidFill>
                  <a:latin typeface="+mj-lt"/>
                  <a:ea typeface="+mj-ea"/>
                  <a:cs typeface="+mj-cs"/>
                </a:rPr>
                <a:t>source parameters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9942" y="5493068"/>
              <a:ext cx="671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M, η, 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09788" y="5589270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21992" y="5493068"/>
              <a:ext cx="268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, 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6038" y="5589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79192" y="5493068"/>
              <a:ext cx="268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, 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3238" y="5589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1466" y="5773102"/>
              <a:ext cx="32405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chirp mass, mass ratio, distance, time, phase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38875" y="4038600"/>
            <a:ext cx="5191125" cy="2038350"/>
            <a:chOff x="6238875" y="4038600"/>
            <a:chExt cx="5191125" cy="2038350"/>
          </a:xfrm>
        </p:grpSpPr>
        <p:sp>
          <p:nvSpPr>
            <p:cNvPr id="33" name="Rectangle 33"/>
            <p:cNvSpPr/>
            <p:nvPr/>
          </p:nvSpPr>
          <p:spPr>
            <a:xfrm>
              <a:off x="6238875" y="4038600"/>
              <a:ext cx="5191125" cy="2038350"/>
            </a:xfrm>
            <a:prstGeom prst="roundRect">
              <a:avLst>
                <a:gd name="adj" fmla="val 46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8875" y="4038600"/>
              <a:ext cx="57150" cy="2038350"/>
            </a:xfrm>
            <a:prstGeom prst="roundRect">
              <a:avLst>
                <a:gd name="adj" fmla="val 50000"/>
              </a:avLst>
            </a:prstGeom>
            <a:solidFill>
              <a:srgbClr val="7FA8D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38722" y="4333399"/>
              <a:ext cx="10240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DATA FORMAT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4625" y="4798695"/>
              <a:ext cx="235967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4096 Hz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6817" y="545496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sampling rate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953500" y="447675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39250" y="4798695"/>
              <a:ext cx="8535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 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51442" y="5454968"/>
              <a:ext cx="135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segment length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757238" y="6597491"/>
            <a:ext cx="3116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SLIC · Unbiased Gravitational-Wave Parameter Estimation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5" name="cue_s09_c1_few_numbers_anchor_demonstration_ele" title="cue_s09_c1_few_numbers_anchor_demonstration_ele" descr="cue_s09_c1_few_numbers_anchor_demonstration_ele A few numbers anchor the demonstration. Eleven hours of real LIGO-Hanford noise train the score model."/>
          <p:cNvSpPr/>
          <p:nvPr/>
        </p:nvSpPr>
        <p:spPr>
          <a:xfrm>
            <a:off x="762000" y="1771421"/>
            <a:ext cx="5191353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9_c2_one_thousand_twenty_four_synthetic_r" title="cue_s09_c2_one_thousand_twenty_four_synthetic_r" descr="cue_s09_c2_one_thousand_twenty_four_synthetic_r One thousand twenty-four synthetic realizations validate the learned power spectrum."/>
          <p:cNvSpPr/>
          <p:nvPr/>
        </p:nvSpPr>
        <p:spPr>
          <a:xfrm>
            <a:off x="6238646" y="1771421"/>
            <a:ext cx="5191353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9_c3_inference_recovers_five_source_param" title="cue_s09_c3_inference_recovers_five_source_param" descr="cue_s09_c3_inference_recovers_five_source_param Inference recovers five source parameters: chirp mass, mass ratio, luminosity distance, coalescence time, and phase."/>
          <p:cNvSpPr/>
          <p:nvPr/>
        </p:nvSpPr>
        <p:spPr>
          <a:xfrm>
            <a:off x="762000" y="4038676"/>
            <a:ext cx="5191353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9_c4_sampled_four_thousand_ninety_six_her" title="cue_s09_c4_sampled_four_thousand_ninety_six_her" descr="cue_s09_c4_sampled_four_thousand_ninety_six_her Data are sampled at four thousand ninety-six hertz in four-second segments."/>
          <p:cNvSpPr/>
          <p:nvPr/>
        </p:nvSpPr>
        <p:spPr>
          <a:xfrm>
            <a:off x="6238646" y="4038676"/>
            <a:ext cx="5191353" cy="20381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43815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57047" y="732949"/>
            <a:ext cx="8703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88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427" y="932974"/>
            <a:ext cx="8106835" cy="48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8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Unbiased likelihoods, learned from real noise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4097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0" name="Group 10"/>
          <p:cNvGrpSpPr/>
          <p:nvPr/>
        </p:nvGrpSpPr>
        <p:grpSpPr>
          <a:xfrm>
            <a:off x="762000" y="1638300"/>
            <a:ext cx="10668000" cy="971550"/>
            <a:chOff x="762000" y="1638300"/>
            <a:chExt cx="10668000" cy="971550"/>
          </a:xfrm>
        </p:grpSpPr>
        <p:sp>
          <p:nvSpPr>
            <p:cNvPr id="6" name="Rectangle 6"/>
            <p:cNvSpPr/>
            <p:nvPr/>
          </p:nvSpPr>
          <p:spPr>
            <a:xfrm>
              <a:off x="762000" y="1638300"/>
              <a:ext cx="10668000" cy="971550"/>
            </a:xfrm>
            <a:prstGeom prst="roundRect">
              <a:avLst>
                <a:gd name="adj" fmla="val 9804"/>
              </a:avLst>
            </a:prstGeom>
            <a:gradFill>
              <a:gsLst>
                <a:gs pos="0">
                  <a:srgbClr val="0E1E38"/>
                </a:gs>
                <a:gs pos="100000">
                  <a:srgbClr val="16305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38300"/>
              <a:ext cx="57150" cy="971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6894" y="1846898"/>
              <a:ext cx="95601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You no longer have to assume the noise is Gaussian and stationary.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0704" y="2251710"/>
              <a:ext cx="6753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E6"/>
                  </a:solidFill>
                  <a:latin typeface="+mn-lt"/>
                  <a:ea typeface="+mn-ea"/>
                  <a:cs typeface="+mn-cs"/>
                </a:rPr>
                <a:t>SLIC produces an unbiased gravitational-wave likelihood directly from detector data.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2762250"/>
            <a:ext cx="4953000" cy="3067050"/>
            <a:chOff x="762000" y="2762250"/>
            <a:chExt cx="4953000" cy="3067050"/>
          </a:xfrm>
        </p:grpSpPr>
        <p:sp>
          <p:nvSpPr>
            <p:cNvPr id="11" name="Rectangle 11"/>
            <p:cNvSpPr/>
            <p:nvPr/>
          </p:nvSpPr>
          <p:spPr>
            <a:xfrm>
              <a:off x="762000" y="2762250"/>
              <a:ext cx="4953000" cy="3067050"/>
            </a:xfrm>
            <a:prstGeom prst="roundRect">
              <a:avLst>
                <a:gd name="adj" fmla="val 3106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762250"/>
              <a:ext cx="57150" cy="30670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1847" y="3018949"/>
              <a:ext cx="1869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RECIPE, IN ONE 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8799" y="3297079"/>
              <a:ext cx="39167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Learn the noise, keep the physics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704" y="3699510"/>
              <a:ext cx="3886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 the real noise distribution with a diffusion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704" y="3928110"/>
              <a:ext cx="4026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model, couple it to a differentiable waveform, and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704" y="415671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get an unbiased likelihood straight from data 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704" y="4385310"/>
              <a:ext cx="3781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recovering true parameters on real LIGO noise.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66800" y="5105400"/>
              <a:ext cx="2133600" cy="4381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1430">
              <a:solidFill>
                <a:schemeClr val="accent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66825" y="5257800"/>
              <a:ext cx="180975" cy="133350"/>
            </a:xfrm>
            <a:custGeom>
              <a:avLst/>
              <a:gdLst/>
              <a:ahLst/>
              <a:cxnLst/>
              <a:rect l="l" t="t" r="r" b="b"/>
              <a:pathLst>
                <a:path w="180975" h="133350">
                  <a:moveTo>
                    <a:pt x="0" y="66675"/>
                  </a:moveTo>
                  <a:lnTo>
                    <a:pt x="66675" y="133350"/>
                  </a:lnTo>
                  <a:lnTo>
                    <a:pt x="180975" y="0"/>
                  </a:lnTo>
                </a:path>
              </a:pathLst>
            </a:custGeom>
            <a:noFill/>
            <a:ln w="23812" cap="rnd">
              <a:solidFill>
                <a:srgbClr val="2E8B6F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56385" y="5260181"/>
              <a:ext cx="1758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Assumption-free noise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05500" y="2762250"/>
            <a:ext cx="3429000" cy="3067050"/>
            <a:chOff x="5905500" y="2762250"/>
            <a:chExt cx="3429000" cy="3067050"/>
          </a:xfrm>
        </p:grpSpPr>
        <p:sp>
          <p:nvSpPr>
            <p:cNvPr id="23" name="Rectangle 23"/>
            <p:cNvSpPr/>
            <p:nvPr/>
          </p:nvSpPr>
          <p:spPr>
            <a:xfrm>
              <a:off x="5905500" y="2762250"/>
              <a:ext cx="3429000" cy="3067050"/>
            </a:xfrm>
            <a:prstGeom prst="roundRect">
              <a:avLst>
                <a:gd name="adj" fmla="val 3106"/>
              </a:avLst>
            </a:prstGeom>
            <a:solidFill>
              <a:srgbClr val="FBEFE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905500" y="2762250"/>
              <a:ext cx="57150" cy="306705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05347" y="3018949"/>
              <a:ext cx="20668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C9772F"/>
                  </a:solidFill>
                  <a:latin typeface="+mn-lt"/>
                  <a:ea typeface="+mn-ea"/>
                  <a:cs typeface="+mn-cs"/>
                </a:rPr>
                <a:t>PROOF OF CONCEPT · NEXT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02299" y="3297079"/>
              <a:ext cx="30408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Toward scalable inference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04585" y="3669506"/>
              <a:ext cx="2665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Today: single-detector, 4 s, MALA.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10300" y="3962400"/>
              <a:ext cx="2857500" cy="381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11430">
              <a:solidFill>
                <a:srgbClr val="F3C3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7366" y="4087178"/>
              <a:ext cx="1622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Longer segments (BNS)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10300" y="4419600"/>
              <a:ext cx="2857500" cy="381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11430">
              <a:solidFill>
                <a:srgbClr val="F3C39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7366" y="4544378"/>
              <a:ext cx="172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Multi-detector coherent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10300" y="4876800"/>
              <a:ext cx="2857500" cy="381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11430">
              <a:solidFill>
                <a:srgbClr val="F3C3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7366" y="5001578"/>
              <a:ext cx="1990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Advanced samplers (flowMC)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04966" y="5468302"/>
              <a:ext cx="2489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Fast, scalable, unbiased inference.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25000" y="2762250"/>
            <a:ext cx="1905000" cy="3067050"/>
            <a:chOff x="9525000" y="2762250"/>
            <a:chExt cx="1905000" cy="3067050"/>
          </a:xfrm>
        </p:grpSpPr>
        <p:sp>
          <p:nvSpPr>
            <p:cNvPr id="36" name="Rectangle 36"/>
            <p:cNvSpPr/>
            <p:nvPr/>
          </p:nvSpPr>
          <p:spPr>
            <a:xfrm>
              <a:off x="9525000" y="2762250"/>
              <a:ext cx="1905000" cy="3067050"/>
            </a:xfrm>
            <a:prstGeom prst="roundRect">
              <a:avLst>
                <a:gd name="adj" fmla="val 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77966" y="3037999"/>
              <a:ext cx="1199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spc="75" dirty="0">
                  <a:solidFill>
                    <a:srgbClr val="93A2B6"/>
                  </a:solidFill>
                  <a:latin typeface="+mn-lt"/>
                  <a:ea typeface="+mn-ea"/>
                  <a:cs typeface="+mn-cs"/>
                </a:rPr>
                <a:t>CODE &amp; MODELS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72625" y="3276600"/>
              <a:ext cx="1809750" cy="1809750"/>
            </a:xfrm>
            <a:prstGeom prst="roundRect">
              <a:avLst>
                <a:gd name="adj" fmla="val 421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9775" y="3333750"/>
              <a:ext cx="1695450" cy="169545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9913173" y="5239702"/>
              <a:ext cx="1128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Scan to explore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87163" y="5484495"/>
              <a:ext cx="13806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github.com/RonanLegin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53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7144">
            <a:solidFill>
              <a:srgbClr val="93A2B6"/>
            </a:solidFill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757238" y="6589395"/>
            <a:ext cx="29103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i="1" dirty="0">
                <a:solidFill>
                  <a:srgbClr val="93A2B6"/>
                </a:solidFill>
                <a:latin typeface="+mj-lt"/>
                <a:ea typeface="+mj-ea"/>
                <a:cs typeface="+mj-cs"/>
              </a:rPr>
              <a:t>Legin et al. · ICML 2023 ML4Astro Workshop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38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3A2B6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6" name="cue_s10_c1_takeaway_you_longer_assume_gaussian" title="cue_s10_c1_takeaway_you_longer_assume_gaussian" descr="cue_s10_c1_takeaway_you_longer_assume_gaussian The takeaway: you no longer have to assume Gaussian, stationary noise."/>
          <p:cNvSpPr/>
          <p:nvPr/>
        </p:nvSpPr>
        <p:spPr>
          <a:xfrm>
            <a:off x="762000" y="1638376"/>
            <a:ext cx="10668000" cy="9717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10_c2_learning_real_noise_distribution_dif" title="cue_s10_c2_learning_real_noise_distribution_dif" descr="cue_s10_c2_learning_real_noise_distribution_dif By learning the real noise distribution with a diffusion model and coupling it to a differentiable waveform, SLIC produces an unbiased likelihood straight from detector data."/>
          <p:cNvSpPr/>
          <p:nvPr/>
        </p:nvSpPr>
        <p:spPr>
          <a:xfrm>
            <a:off x="762000" y="2762402"/>
            <a:ext cx="4952390" cy="30668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10_c3_proof_concept_currently_single_detec" title="cue_s10_c3_proof_concept_currently_single_detec" descr="cue_s10_c3_proof_concept_currently_single_detec This proof of concept, currently single-detector and four-second segments, points toward fast, scalable, unbiased inference for future gravitational-wave observations."/>
          <p:cNvSpPr/>
          <p:nvPr/>
        </p:nvSpPr>
        <p:spPr>
          <a:xfrm>
            <a:off x="5905804" y="2762402"/>
            <a:ext cx="3428390" cy="30668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project">
  <a:themeElements>
    <a:clrScheme name="ppt_project">
      <a:dk1>
        <a:srgbClr val="172234"/>
      </a:dk1>
      <a:lt1>
        <a:srgbClr val="FFFFFF"/>
      </a:lt1>
      <a:dk2>
        <a:srgbClr val="53627A"/>
      </a:dk2>
      <a:lt2>
        <a:srgbClr val="FFFFFF"/>
      </a:lt2>
      <a:accent1>
        <a:srgbClr val="10213B"/>
      </a:accent1>
      <a:accent2>
        <a:srgbClr val="2F6FB8"/>
      </a:accent2>
      <a:accent3>
        <a:srgbClr val="2F6FB8"/>
      </a:accent3>
      <a:accent4>
        <a:srgbClr val="D8E2EE"/>
      </a:accent4>
      <a:accent5>
        <a:srgbClr val="F2F6FC"/>
      </a:accent5>
      <a:accent6>
        <a:srgbClr val="EAF1FA"/>
      </a:accent6>
      <a:hlink>
        <a:srgbClr val="2F6FB8"/>
      </a:hlink>
      <a:folHlink>
        <a:srgbClr val="2F6FB8"/>
      </a:folHlink>
    </a:clrScheme>
    <a:fontScheme name="ppt_project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2026-07-15T01:35:38Z</dcterms:created>
  <dcterms:modified xsi:type="dcterms:W3CDTF">2026-07-15T01:35:38Z</dcterms:modified>
  <cp:category/>
  <cp:contentStatus/>
</cp:coreProperties>
</file>
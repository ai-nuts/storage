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3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400" kern="1200">
          <a:solidFill>
            <a:schemeClr val="tx1"/>
          </a:solidFill>
          <a:latin typeface="+mn-lt"/>
          <a:ea typeface="+mn-ea"/>
          <a:cs typeface="+mn-cs"/>
        </a:defRPr>
      </a:lvl1pPr>
      <a:lvl2pPr marL="457200" algn="l" defTabSz="457200" rtl="0" eaLnBrk="1" latinLnBrk="0" hangingPunct="1">
        <a:defRPr sz="1350" kern="1200">
          <a:solidFill>
            <a:schemeClr val="tx1"/>
          </a:solidFill>
          <a:latin typeface="+mn-lt"/>
          <a:ea typeface="+mn-ea"/>
          <a:cs typeface="+mn-cs"/>
        </a:defRPr>
      </a:lvl2pPr>
      <a:lvl3pPr marL="914400" algn="l" defTabSz="457200" rtl="0" eaLnBrk="1" latinLnBrk="0" hangingPunct="1">
        <a:defRPr sz="1250" kern="1200">
          <a:solidFill>
            <a:schemeClr val="tx1"/>
          </a:solidFill>
          <a:latin typeface="+mn-lt"/>
          <a:ea typeface="+mn-ea"/>
          <a:cs typeface="+mn-cs"/>
        </a:defRPr>
      </a:lvl3pPr>
      <a:lvl4pPr marL="1371600" algn="l" defTabSz="457200" rtl="0" eaLnBrk="1" latinLnBrk="0" hangingPunct="1">
        <a:defRPr sz="1150" kern="1200">
          <a:solidFill>
            <a:schemeClr val="tx1"/>
          </a:solidFill>
          <a:latin typeface="+mn-lt"/>
          <a:ea typeface="+mn-ea"/>
          <a:cs typeface="+mn-cs"/>
        </a:defRPr>
      </a:lvl4pPr>
      <a:lvl5pPr marL="1828800" algn="l" defTabSz="457200" rtl="0" eaLnBrk="1" latinLnBrk="0" hangingPunct="1">
        <a:defRPr sz="1050" kern="1200">
          <a:solidFill>
            <a:schemeClr val="tx1"/>
          </a:solidFill>
          <a:latin typeface="+mn-lt"/>
          <a:ea typeface="+mn-ea"/>
          <a:cs typeface="+mn-cs"/>
        </a:defRPr>
      </a:lvl5pPr>
      <a:lvl6pPr marL="2286000" algn="l" defTabSz="457200" rtl="0" eaLnBrk="1" latinLnBrk="0" hangingPunct="1">
        <a:defRPr sz="1000" kern="1200">
          <a:solidFill>
            <a:schemeClr val="tx1"/>
          </a:solidFill>
          <a:latin typeface="+mn-lt"/>
          <a:ea typeface="+mn-ea"/>
          <a:cs typeface="+mn-cs"/>
        </a:defRPr>
      </a:lvl6pPr>
      <a:lvl7pPr marL="2743200" algn="l" defTabSz="457200" rtl="0" eaLnBrk="1" latinLnBrk="0" hangingPunct="1">
        <a:defRPr sz="9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10e50728b8ca168.png"/><Relationship Id="rId3" Type="http://schemas.openxmlformats.org/officeDocument/2006/relationships/image" Target="../media/image_cacc8b3a292a9a9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10e50728b8ca16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1b535109470746c.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solidFill>
              <a:schemeClr val="accent2"/>
            </a:solidFill>
            <a:ln>
              <a:noFill/>
            </a:ln>
          </p:spPr>
        </p:sp>
      </p:grpSp>
      <p:grpSp>
        <p:nvGrpSpPr>
          <p:cNvPr id="7" name="Group 7"/>
          <p:cNvGrpSpPr/>
          <p:nvPr/>
        </p:nvGrpSpPr>
        <p:grpSpPr>
          <a:xfrm>
            <a:off x="757047" y="1018699"/>
            <a:ext cx="5881382" cy="412908"/>
            <a:chOff x="757047" y="1018699"/>
            <a:chExt cx="5881382" cy="412908"/>
          </a:xfrm>
        </p:grpSpPr>
        <p:sp>
          <p:nvSpPr>
            <p:cNvPr id="5" name="TextBox 5"/>
            <p:cNvSpPr txBox="1"/>
            <p:nvPr/>
          </p:nvSpPr>
          <p:spPr>
            <a:xfrm>
              <a:off x="757047" y="1018699"/>
              <a:ext cx="1780709" cy="190690"/>
            </a:xfrm>
            <a:prstGeom prst="rect">
              <a:avLst/>
            </a:prstGeom>
            <a:noFill/>
            <a:ln>
              <a:noFill/>
            </a:ln>
          </p:spPr>
          <p:txBody>
            <a:bodyPr wrap="none" lIns="0" tIns="0" rIns="0" bIns="0" anchor="t" anchorCtr="0">
              <a:spAutoFit/>
            </a:bodyPr>
            <a:lstStyle/>
            <a:p>
              <a:pPr algn="l"/>
              <a:r>
                <a:rPr lang="en-US" sz="980" b="1" spc="225" dirty="0">
                  <a:solidFill>
                    <a:schemeClr val="accent2"/>
                  </a:solidFill>
                  <a:latin typeface="+mn-lt"/>
                  <a:ea typeface="+mn-ea"/>
                  <a:cs typeface="+mn-cs"/>
                </a:rPr>
                <a:t>PAPER · DEEP READ</a:t>
              </a:r>
            </a:p>
          </p:txBody>
        </p:sp>
        <p:sp>
          <p:nvSpPr>
            <p:cNvPr id="6" name="TextBox 6"/>
            <p:cNvSpPr txBox="1"/>
            <p:nvPr/>
          </p:nvSpPr>
          <p:spPr>
            <a:xfrm>
              <a:off x="757238" y="1255395"/>
              <a:ext cx="5881191" cy="176212"/>
            </a:xfrm>
            <a:prstGeom prst="rect">
              <a:avLst/>
            </a:prstGeom>
            <a:noFill/>
            <a:ln>
              <a:noFill/>
            </a:ln>
          </p:spPr>
          <p:txBody>
            <a:bodyPr wrap="none" lIns="0" tIns="0" rIns="0" bIns="0" anchor="t" anchorCtr="0">
              <a:spAutoFit/>
            </a:bodyPr>
            <a:lstStyle/>
            <a:p>
              <a:pPr algn="l"/>
              <a:r>
                <a:rPr lang="en-US" sz="900" spc="112" dirty="0">
                  <a:solidFill>
                    <a:schemeClr val="dk2"/>
                  </a:solidFill>
                  <a:latin typeface="+mn-lt"/>
                  <a:ea typeface="+mn-ea"/>
                  <a:cs typeface="+mn-cs"/>
                </a:rPr>
                <a:t>TABLE REPRESENTATION LEARNING WORKSHOP · NeurIPS 2022 · arXiv:2211.04128</a:t>
              </a:r>
            </a:p>
          </p:txBody>
        </p:sp>
      </p:grpSp>
      <p:grpSp>
        <p:nvGrpSpPr>
          <p:cNvPr id="10" name="Group 10"/>
          <p:cNvGrpSpPr/>
          <p:nvPr/>
        </p:nvGrpSpPr>
        <p:grpSpPr>
          <a:xfrm>
            <a:off x="742950" y="1797368"/>
            <a:ext cx="7972497" cy="1495425"/>
            <a:chOff x="742950" y="1797368"/>
            <a:chExt cx="7972497" cy="1495425"/>
          </a:xfrm>
        </p:grpSpPr>
        <p:sp>
          <p:nvSpPr>
            <p:cNvPr id="8" name="TextBox 8"/>
            <p:cNvSpPr txBox="1"/>
            <p:nvPr/>
          </p:nvSpPr>
          <p:spPr>
            <a:xfrm>
              <a:off x="742950" y="1797368"/>
              <a:ext cx="6656341" cy="847725"/>
            </a:xfrm>
            <a:prstGeom prst="rect">
              <a:avLst/>
            </a:prstGeom>
            <a:noFill/>
            <a:ln>
              <a:noFill/>
            </a:ln>
          </p:spPr>
          <p:txBody>
            <a:bodyPr wrap="none" lIns="0" tIns="0" rIns="0" bIns="0" anchor="t" anchorCtr="0">
              <a:spAutoFit/>
            </a:bodyPr>
            <a:lstStyle/>
            <a:p>
              <a:pPr algn="l"/>
              <a:r>
                <a:rPr lang="en-US" sz="4350" b="1" dirty="0">
                  <a:solidFill>
                    <a:schemeClr val="accent1"/>
                  </a:solidFill>
                  <a:latin typeface="+mj-lt"/>
                  <a:ea typeface="+mj-ea"/>
                  <a:cs typeface="+mj-cs"/>
                </a:rPr>
                <a:t>Active Learning with</a:t>
              </a:r>
            </a:p>
          </p:txBody>
        </p:sp>
        <p:sp>
          <p:nvSpPr>
            <p:cNvPr id="9" name="TextBox 9"/>
            <p:cNvSpPr txBox="1"/>
            <p:nvPr/>
          </p:nvSpPr>
          <p:spPr>
            <a:xfrm>
              <a:off x="742950" y="2445068"/>
              <a:ext cx="7972497" cy="847725"/>
            </a:xfrm>
            <a:prstGeom prst="rect">
              <a:avLst/>
            </a:prstGeom>
            <a:noFill/>
            <a:ln>
              <a:noFill/>
            </a:ln>
          </p:spPr>
          <p:txBody>
            <a:bodyPr wrap="none" lIns="0" tIns="0" rIns="0" bIns="0" anchor="t" anchorCtr="0">
              <a:spAutoFit/>
            </a:bodyPr>
            <a:lstStyle/>
            <a:p>
              <a:pPr algn="l"/>
              <a:r>
                <a:rPr lang="en-US" sz="4350" b="1" dirty="0">
                  <a:solidFill>
                    <a:schemeClr val="accent1"/>
                  </a:solidFill>
                  <a:latin typeface="+mj-lt"/>
                  <a:ea typeface="+mj-ea"/>
                  <a:cs typeface="+mj-cs"/>
                </a:rPr>
                <a:t>Tabular Language Models</a:t>
              </a:r>
            </a:p>
          </p:txBody>
        </p:sp>
      </p:grpSp>
      <p:grpSp>
        <p:nvGrpSpPr>
          <p:cNvPr id="14" name="Group 14"/>
          <p:cNvGrpSpPr/>
          <p:nvPr/>
        </p:nvGrpSpPr>
        <p:grpSpPr>
          <a:xfrm>
            <a:off x="753999" y="3352800"/>
            <a:ext cx="5651188" cy="785718"/>
            <a:chOff x="753999" y="3352800"/>
            <a:chExt cx="5651188" cy="785718"/>
          </a:xfrm>
        </p:grpSpPr>
        <p:sp>
          <p:nvSpPr>
            <p:cNvPr id="11" name="Line 11"/>
            <p:cNvSpPr/>
            <p:nvPr/>
          </p:nvSpPr>
          <p:spPr>
            <a:xfrm>
              <a:off x="781050" y="3352800"/>
              <a:ext cx="952500" cy="9525"/>
            </a:xfrm>
            <a:custGeom>
              <a:avLst/>
              <a:gdLst/>
              <a:ahLst/>
              <a:cxnLst/>
              <a:rect l="l" t="t" r="r" b="b"/>
              <a:pathLst>
                <a:path w="952500" h="9525">
                  <a:moveTo>
                    <a:pt x="0" y="0"/>
                  </a:moveTo>
                  <a:lnTo>
                    <a:pt x="952500" y="0"/>
                  </a:lnTo>
                </a:path>
              </a:pathLst>
            </a:custGeom>
            <a:noFill/>
            <a:ln w="19050">
              <a:solidFill>
                <a:schemeClr val="accent1"/>
              </a:solidFill>
            </a:ln>
          </p:spPr>
        </p:sp>
        <p:sp>
          <p:nvSpPr>
            <p:cNvPr id="12" name="TextBox 12"/>
            <p:cNvSpPr txBox="1"/>
            <p:nvPr/>
          </p:nvSpPr>
          <p:spPr>
            <a:xfrm>
              <a:off x="753999" y="3563779"/>
              <a:ext cx="5651188" cy="308039"/>
            </a:xfrm>
            <a:prstGeom prst="rect">
              <a:avLst/>
            </a:prstGeom>
            <a:noFill/>
            <a:ln>
              <a:noFill/>
            </a:ln>
          </p:spPr>
          <p:txBody>
            <a:bodyPr wrap="none" lIns="0" tIns="0" rIns="0" bIns="0" anchor="t" anchorCtr="0">
              <a:spAutoFit/>
            </a:bodyPr>
            <a:lstStyle/>
            <a:p>
              <a:pPr algn="l"/>
              <a:r>
                <a:rPr lang="en-US" sz="1580" i="1" dirty="0">
                  <a:solidFill>
                    <a:schemeClr val="dk1"/>
                  </a:solidFill>
                  <a:latin typeface="+mj-lt"/>
                  <a:ea typeface="+mj-ea"/>
                  <a:cs typeface="+mj-cs"/>
                </a:rPr>
                <a:t>Reading the mountains of industrial spreadsheets —</a:t>
              </a:r>
            </a:p>
          </p:txBody>
        </p:sp>
        <p:sp>
          <p:nvSpPr>
            <p:cNvPr id="13" name="TextBox 13"/>
            <p:cNvSpPr txBox="1"/>
            <p:nvPr/>
          </p:nvSpPr>
          <p:spPr>
            <a:xfrm>
              <a:off x="753999" y="3830479"/>
              <a:ext cx="5241188" cy="308039"/>
            </a:xfrm>
            <a:prstGeom prst="rect">
              <a:avLst/>
            </a:prstGeom>
            <a:noFill/>
            <a:ln>
              <a:noFill/>
            </a:ln>
          </p:spPr>
          <p:txBody>
            <a:bodyPr wrap="none" lIns="0" tIns="0" rIns="0" bIns="0" anchor="t" anchorCtr="0">
              <a:spAutoFit/>
            </a:bodyPr>
            <a:lstStyle/>
            <a:p>
              <a:pPr algn="l"/>
              <a:r>
                <a:rPr lang="en-US" sz="1580" i="1" dirty="0">
                  <a:solidFill>
                    <a:schemeClr val="dk1"/>
                  </a:solidFill>
                  <a:latin typeface="+mj-lt"/>
                  <a:ea typeface="+mj-ea"/>
                  <a:cs typeface="+mj-cs"/>
                </a:rPr>
                <a:t>without paying for a mountain of expert labels.</a:t>
              </a:r>
            </a:p>
          </p:txBody>
        </p:sp>
      </p:grpSp>
      <p:grpSp>
        <p:nvGrpSpPr>
          <p:cNvPr id="18" name="Group 18"/>
          <p:cNvGrpSpPr/>
          <p:nvPr/>
        </p:nvGrpSpPr>
        <p:grpSpPr>
          <a:xfrm>
            <a:off x="762000" y="4305300"/>
            <a:ext cx="3361607" cy="549211"/>
            <a:chOff x="762000" y="4305300"/>
            <a:chExt cx="3361607" cy="549211"/>
          </a:xfrm>
        </p:grpSpPr>
        <p:sp>
          <p:nvSpPr>
            <p:cNvPr id="15" name="Rectangle 15"/>
            <p:cNvSpPr/>
            <p:nvPr/>
          </p:nvSpPr>
          <p:spPr>
            <a:xfrm>
              <a:off x="762000" y="4305300"/>
              <a:ext cx="57150" cy="495300"/>
            </a:xfrm>
            <a:prstGeom prst="rect">
              <a:avLst/>
            </a:prstGeom>
            <a:solidFill>
              <a:schemeClr val="accent2"/>
            </a:solidFill>
            <a:ln>
              <a:noFill/>
            </a:ln>
          </p:spPr>
        </p:sp>
        <p:sp>
          <p:nvSpPr>
            <p:cNvPr id="16" name="TextBox 16"/>
            <p:cNvSpPr txBox="1"/>
            <p:nvPr/>
          </p:nvSpPr>
          <p:spPr>
            <a:xfrm>
              <a:off x="964692" y="4388168"/>
              <a:ext cx="315891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Martin Ringsquandl · Aneta Koleva</a:t>
              </a:r>
            </a:p>
          </p:txBody>
        </p:sp>
        <p:sp>
          <p:nvSpPr>
            <p:cNvPr id="17" name="TextBox 17"/>
            <p:cNvSpPr txBox="1"/>
            <p:nvPr/>
          </p:nvSpPr>
          <p:spPr>
            <a:xfrm>
              <a:off x="966216" y="4649152"/>
              <a:ext cx="17081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Siemens AG · LMU Munich</a:t>
              </a:r>
            </a:p>
          </p:txBody>
        </p:sp>
      </p:grpSp>
      <p:grpSp>
        <p:nvGrpSpPr>
          <p:cNvPr id="24" name="Group 24"/>
          <p:cNvGrpSpPr/>
          <p:nvPr/>
        </p:nvGrpSpPr>
        <p:grpSpPr>
          <a:xfrm>
            <a:off x="762000" y="5295900"/>
            <a:ext cx="7048500" cy="914400"/>
            <a:chOff x="762000" y="5295900"/>
            <a:chExt cx="7048500" cy="914400"/>
          </a:xfrm>
        </p:grpSpPr>
        <p:sp>
          <p:nvSpPr>
            <p:cNvPr id="19" name="Rectangle 19"/>
            <p:cNvSpPr/>
            <p:nvPr/>
          </p:nvSpPr>
          <p:spPr>
            <a:xfrm>
              <a:off x="762000" y="5295900"/>
              <a:ext cx="7048500" cy="914400"/>
            </a:xfrm>
            <a:prstGeom prst="roundRect">
              <a:avLst>
                <a:gd name="adj" fmla="val 10417"/>
              </a:avLst>
            </a:prstGeom>
            <a:solidFill>
              <a:schemeClr val="accent5"/>
            </a:solidFill>
            <a:ln w="9525">
              <a:solidFill>
                <a:schemeClr val="accent3"/>
              </a:solidFill>
            </a:ln>
          </p:spPr>
        </p:sp>
        <p:sp>
          <p:nvSpPr>
            <p:cNvPr id="20" name="Rectangle 20"/>
            <p:cNvSpPr/>
            <p:nvPr/>
          </p:nvSpPr>
          <p:spPr>
            <a:xfrm>
              <a:off x="762000" y="5295900"/>
              <a:ext cx="57150" cy="914400"/>
            </a:xfrm>
            <a:prstGeom prst="roundRect">
              <a:avLst>
                <a:gd name="adj" fmla="val 50000"/>
              </a:avLst>
            </a:prstGeom>
            <a:solidFill>
              <a:srgbClr val="2E9E5B"/>
            </a:solidFill>
            <a:ln>
              <a:noFill/>
            </a:ln>
          </p:spPr>
        </p:sp>
        <p:sp>
          <p:nvSpPr>
            <p:cNvPr id="21" name="TextBox 21"/>
            <p:cNvSpPr txBox="1"/>
            <p:nvPr/>
          </p:nvSpPr>
          <p:spPr>
            <a:xfrm>
              <a:off x="985647" y="5476399"/>
              <a:ext cx="139051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HEADLINE FINDING</a:t>
              </a:r>
            </a:p>
          </p:txBody>
        </p:sp>
        <p:sp>
          <p:nvSpPr>
            <p:cNvPr id="22" name="TextBox 22"/>
            <p:cNvSpPr txBox="1"/>
            <p:nvPr/>
          </p:nvSpPr>
          <p:spPr>
            <a:xfrm>
              <a:off x="984504" y="5718810"/>
              <a:ext cx="4357448" cy="234696"/>
            </a:xfrm>
            <a:prstGeom prst="rect">
              <a:avLst/>
            </a:prstGeom>
            <a:noFill/>
            <a:ln>
              <a:noFill/>
            </a:ln>
          </p:spPr>
          <p:txBody>
            <a:bodyPr wrap="none" lIns="0" tIns="0" rIns="0" bIns="0" anchor="t" anchorCtr="0">
              <a:spAutoFit/>
            </a:bodyPr>
            <a:lstStyle/>
            <a:p>
              <a:pPr algn="l"/>
              <a:r>
                <a:rPr lang="en-US" sz="1200" b="1" dirty="0">
                  <a:solidFill>
                    <a:srgbClr val="2E9E5B"/>
                  </a:solidFill>
                  <a:latin typeface="+mn-lt"/>
                  <a:ea typeface="+mn-ea"/>
                  <a:cs typeface="+mn-cs"/>
                </a:rPr>
                <a:t>BADGE</a:t>
              </a:r>
              <a:r>
                <a:rPr lang="en-US" sz="1200" dirty="0">
                  <a:solidFill>
                    <a:schemeClr val="dk1"/>
                  </a:solidFill>
                  <a:latin typeface="+mn-lt"/>
                  <a:ea typeface="+mn-ea"/>
                  <a:cs typeface="+mn-cs"/>
                </a:rPr>
                <a:t xml:space="preserve"> matches full-training F1 with far fewer labels —</a:t>
              </a:r>
            </a:p>
          </p:txBody>
        </p:sp>
        <p:sp>
          <p:nvSpPr>
            <p:cNvPr id="23" name="TextBox 23"/>
            <p:cNvSpPr txBox="1"/>
            <p:nvPr/>
          </p:nvSpPr>
          <p:spPr>
            <a:xfrm>
              <a:off x="984504" y="5947410"/>
              <a:ext cx="433955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 xml:space="preserve">while forcing </a:t>
              </a:r>
              <a:r>
                <a:rPr lang="en-US" sz="1200" b="1" dirty="0">
                  <a:solidFill>
                    <a:srgbClr val="C0392B"/>
                  </a:solidFill>
                  <a:latin typeface="+mn-lt"/>
                  <a:ea typeface="+mn-ea"/>
                  <a:cs typeface="+mn-cs"/>
                </a:rPr>
                <a:t>maximum table diversity</a:t>
              </a:r>
              <a:r>
                <a:rPr lang="en-US" sz="1200" dirty="0">
                  <a:solidFill>
                    <a:schemeClr val="dk1"/>
                  </a:solidFill>
                  <a:latin typeface="+mn-lt"/>
                  <a:ea typeface="+mn-ea"/>
                  <a:cs typeface="+mn-cs"/>
                </a:rPr>
                <a:t xml:space="preserve"> actually hurts.</a:t>
              </a:r>
            </a:p>
          </p:txBody>
        </p:sp>
      </p:grpSp>
      <p:grpSp>
        <p:nvGrpSpPr>
          <p:cNvPr id="43" name="Group 43"/>
          <p:cNvGrpSpPr/>
          <p:nvPr/>
        </p:nvGrpSpPr>
        <p:grpSpPr>
          <a:xfrm>
            <a:off x="8153400" y="1428750"/>
            <a:ext cx="3467100" cy="4476750"/>
            <a:chOff x="8153400" y="1428750"/>
            <a:chExt cx="3467100" cy="4476750"/>
          </a:xfrm>
        </p:grpSpPr>
        <p:sp>
          <p:nvSpPr>
            <p:cNvPr id="25" name="Rectangle 25"/>
            <p:cNvSpPr/>
            <p:nvPr/>
          </p:nvSpPr>
          <p:spPr>
            <a:xfrm>
              <a:off x="8153400" y="1428750"/>
              <a:ext cx="3467100" cy="4476750"/>
            </a:xfrm>
            <a:prstGeom prst="roundRect">
              <a:avLst>
                <a:gd name="adj" fmla="val 3846"/>
              </a:avLst>
            </a:prstGeom>
            <a:solidFill>
              <a:schemeClr val="lt2"/>
            </a:solidFill>
            <a:ln w="9525">
              <a:solidFill>
                <a:schemeClr val="accent4"/>
              </a:solidFill>
            </a:ln>
          </p:spPr>
        </p:sp>
        <p:sp>
          <p:nvSpPr>
            <p:cNvPr id="26" name="TextBox 26"/>
            <p:cNvSpPr txBox="1"/>
            <p:nvPr/>
          </p:nvSpPr>
          <p:spPr>
            <a:xfrm>
              <a:off x="8377238" y="1693545"/>
              <a:ext cx="2044873" cy="176212"/>
            </a:xfrm>
            <a:prstGeom prst="rect">
              <a:avLst/>
            </a:prstGeom>
            <a:noFill/>
            <a:ln>
              <a:noFill/>
            </a:ln>
          </p:spPr>
          <p:txBody>
            <a:bodyPr wrap="none" lIns="0" tIns="0" rIns="0" bIns="0" anchor="t" anchorCtr="0">
              <a:spAutoFit/>
            </a:bodyPr>
            <a:lstStyle/>
            <a:p>
              <a:pPr algn="l"/>
              <a:r>
                <a:rPr lang="en-US" sz="900" b="1" spc="150" dirty="0">
                  <a:solidFill>
                    <a:schemeClr val="accent2"/>
                  </a:solidFill>
                  <a:latin typeface="+mn-lt"/>
                  <a:ea typeface="+mn-ea"/>
                  <a:cs typeface="+mn-cs"/>
                </a:rPr>
                <a:t>THE TASK · SUB-CELL NER</a:t>
              </a:r>
            </a:p>
          </p:txBody>
        </p:sp>
        <p:sp>
          <p:nvSpPr>
            <p:cNvPr id="27" name="Rectangle 27"/>
            <p:cNvSpPr/>
            <p:nvPr/>
          </p:nvSpPr>
          <p:spPr>
            <a:xfrm>
              <a:off x="8382000" y="1905000"/>
              <a:ext cx="3009900" cy="2019300"/>
            </a:xfrm>
            <a:prstGeom prst="roundRect">
              <a:avLst>
                <a:gd name="adj" fmla="val 3774"/>
              </a:avLst>
            </a:prstGeom>
            <a:solidFill>
              <a:schemeClr val="lt1"/>
            </a:solidFill>
            <a:ln w="9525">
              <a:solidFill>
                <a:schemeClr val="accent4"/>
              </a:solidFill>
            </a:ln>
          </p:spPr>
        </p:sp>
        <p:pic>
          <p:nvPicPr>
            <p:cNvPr id="28" name="Image 28"/>
            <p:cNvPicPr>
              <a:picLocks noChangeAspect="1"/>
            </p:cNvPicPr>
            <p:nvPr/>
          </p:nvPicPr>
          <p:blipFill>
            <a:blip r:embed="rId2"/>
            <a:stretch>
              <a:fillRect/>
            </a:stretch>
          </p:blipFill>
          <p:spPr>
            <a:xfrm>
              <a:off x="8500724" y="2000250"/>
              <a:ext cx="2772452" cy="1828800"/>
            </a:xfrm>
            <a:prstGeom prst="rect">
              <a:avLst/>
            </a:prstGeom>
          </p:spPr>
        </p:pic>
        <p:sp>
          <p:nvSpPr>
            <p:cNvPr id="29" name="TextBox 29"/>
            <p:cNvSpPr txBox="1"/>
            <p:nvPr/>
          </p:nvSpPr>
          <p:spPr>
            <a:xfrm>
              <a:off x="8377238" y="4055745"/>
              <a:ext cx="3216517"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Figure 1 · An oracle labels the most informative cells.</a:t>
              </a:r>
            </a:p>
          </p:txBody>
        </p:sp>
        <p:grpSp>
          <p:nvGrpSpPr>
            <p:cNvPr id="38" name="Group 38"/>
            <p:cNvGrpSpPr/>
            <p:nvPr/>
          </p:nvGrpSpPr>
          <p:grpSpPr>
            <a:xfrm>
              <a:off x="8382000" y="4305300"/>
              <a:ext cx="3009900" cy="250507"/>
              <a:chOff x="8382000" y="4305300"/>
              <a:chExt cx="3009900" cy="250507"/>
            </a:xfrm>
          </p:grpSpPr>
          <p:sp>
            <p:nvSpPr>
              <p:cNvPr id="30" name="Rectangle 30"/>
              <p:cNvSpPr/>
              <p:nvPr/>
            </p:nvSpPr>
            <p:spPr>
              <a:xfrm>
                <a:off x="8382000" y="4305300"/>
                <a:ext cx="666750" cy="247650"/>
              </a:xfrm>
              <a:prstGeom prst="roundRect">
                <a:avLst>
                  <a:gd name="adj" fmla="val 19231"/>
                </a:avLst>
              </a:prstGeom>
              <a:noFill/>
              <a:ln w="19050">
                <a:solidFill>
                  <a:srgbClr val="E08A1E"/>
                </a:solidFill>
              </a:ln>
            </p:spPr>
          </p:sp>
          <p:sp>
            <p:nvSpPr>
              <p:cNvPr id="31" name="TextBox 31"/>
              <p:cNvSpPr txBox="1"/>
              <p:nvPr/>
            </p:nvSpPr>
            <p:spPr>
              <a:xfrm>
                <a:off x="8623242" y="4379595"/>
                <a:ext cx="184267" cy="176212"/>
              </a:xfrm>
              <a:prstGeom prst="rect">
                <a:avLst/>
              </a:prstGeom>
              <a:noFill/>
              <a:ln>
                <a:noFill/>
              </a:ln>
            </p:spPr>
            <p:txBody>
              <a:bodyPr wrap="none" lIns="0" tIns="0" rIns="0" bIns="0" anchor="t" anchorCtr="0">
                <a:spAutoFit/>
              </a:bodyPr>
              <a:lstStyle/>
              <a:p>
                <a:pPr algn="ctr"/>
                <a:r>
                  <a:rPr lang="en-US" sz="900" b="1" dirty="0">
                    <a:solidFill>
                      <a:schemeClr val="accent1"/>
                    </a:solidFill>
                    <a:latin typeface="+mn-lt"/>
                    <a:ea typeface="+mn-ea"/>
                    <a:cs typeface="+mn-cs"/>
                  </a:rPr>
                  <a:t>EQ</a:t>
                </a:r>
              </a:p>
            </p:txBody>
          </p:sp>
          <p:sp>
            <p:nvSpPr>
              <p:cNvPr id="32" name="Rectangle 32"/>
              <p:cNvSpPr/>
              <p:nvPr/>
            </p:nvSpPr>
            <p:spPr>
              <a:xfrm>
                <a:off x="9144000" y="4305300"/>
                <a:ext cx="666750" cy="247650"/>
              </a:xfrm>
              <a:prstGeom prst="roundRect">
                <a:avLst>
                  <a:gd name="adj" fmla="val 19231"/>
                </a:avLst>
              </a:prstGeom>
              <a:noFill/>
              <a:ln w="19050">
                <a:solidFill>
                  <a:srgbClr val="2E9E5B"/>
                </a:solidFill>
              </a:ln>
            </p:spPr>
          </p:sp>
          <p:sp>
            <p:nvSpPr>
              <p:cNvPr id="33" name="TextBox 33"/>
              <p:cNvSpPr txBox="1"/>
              <p:nvPr/>
            </p:nvSpPr>
            <p:spPr>
              <a:xfrm>
                <a:off x="9361719" y="4379595"/>
                <a:ext cx="231313" cy="176212"/>
              </a:xfrm>
              <a:prstGeom prst="rect">
                <a:avLst/>
              </a:prstGeom>
              <a:noFill/>
              <a:ln>
                <a:noFill/>
              </a:ln>
            </p:spPr>
            <p:txBody>
              <a:bodyPr wrap="none" lIns="0" tIns="0" rIns="0" bIns="0" anchor="t" anchorCtr="0">
                <a:spAutoFit/>
              </a:bodyPr>
              <a:lstStyle/>
              <a:p>
                <a:pPr algn="ctr"/>
                <a:r>
                  <a:rPr lang="en-US" sz="900" b="1" dirty="0">
                    <a:solidFill>
                      <a:schemeClr val="accent1"/>
                    </a:solidFill>
                    <a:latin typeface="+mn-lt"/>
                    <a:ea typeface="+mn-ea"/>
                    <a:cs typeface="+mn-cs"/>
                  </a:rPr>
                  <a:t>TAG</a:t>
                </a:r>
              </a:p>
            </p:txBody>
          </p:sp>
          <p:sp>
            <p:nvSpPr>
              <p:cNvPr id="34" name="Rectangle 34"/>
              <p:cNvSpPr/>
              <p:nvPr/>
            </p:nvSpPr>
            <p:spPr>
              <a:xfrm>
                <a:off x="9906000" y="4305300"/>
                <a:ext cx="666750" cy="247650"/>
              </a:xfrm>
              <a:prstGeom prst="roundRect">
                <a:avLst>
                  <a:gd name="adj" fmla="val 19231"/>
                </a:avLst>
              </a:prstGeom>
              <a:noFill/>
              <a:ln w="19050">
                <a:solidFill>
                  <a:srgbClr val="3B7DD8"/>
                </a:solidFill>
              </a:ln>
            </p:spPr>
          </p:sp>
          <p:sp>
            <p:nvSpPr>
              <p:cNvPr id="35" name="TextBox 35"/>
              <p:cNvSpPr txBox="1"/>
              <p:nvPr/>
            </p:nvSpPr>
            <p:spPr>
              <a:xfrm>
                <a:off x="10036348" y="4379595"/>
                <a:ext cx="406055" cy="176212"/>
              </a:xfrm>
              <a:prstGeom prst="rect">
                <a:avLst/>
              </a:prstGeom>
              <a:noFill/>
              <a:ln>
                <a:noFill/>
              </a:ln>
            </p:spPr>
            <p:txBody>
              <a:bodyPr wrap="none" lIns="0" tIns="0" rIns="0" bIns="0" anchor="t" anchorCtr="0">
                <a:spAutoFit/>
              </a:bodyPr>
              <a:lstStyle/>
              <a:p>
                <a:pPr algn="ctr"/>
                <a:r>
                  <a:rPr lang="en-US" sz="900" b="1" dirty="0">
                    <a:solidFill>
                      <a:schemeClr val="accent1"/>
                    </a:solidFill>
                    <a:latin typeface="+mn-lt"/>
                    <a:ea typeface="+mn-ea"/>
                    <a:cs typeface="+mn-cs"/>
                  </a:rPr>
                  <a:t>QUANT</a:t>
                </a:r>
              </a:p>
            </p:txBody>
          </p:sp>
          <p:sp>
            <p:nvSpPr>
              <p:cNvPr id="36" name="Rectangle 36"/>
              <p:cNvSpPr/>
              <p:nvPr/>
            </p:nvSpPr>
            <p:spPr>
              <a:xfrm>
                <a:off x="10668000" y="4305300"/>
                <a:ext cx="723900" cy="247650"/>
              </a:xfrm>
              <a:prstGeom prst="roundRect">
                <a:avLst>
                  <a:gd name="adj" fmla="val 19231"/>
                </a:avLst>
              </a:prstGeom>
              <a:noFill/>
              <a:ln w="19050">
                <a:solidFill>
                  <a:srgbClr val="9B59B6"/>
                </a:solidFill>
              </a:ln>
            </p:spPr>
          </p:sp>
          <p:sp>
            <p:nvSpPr>
              <p:cNvPr id="37" name="TextBox 37"/>
              <p:cNvSpPr txBox="1"/>
              <p:nvPr/>
            </p:nvSpPr>
            <p:spPr>
              <a:xfrm>
                <a:off x="10903072" y="4379595"/>
                <a:ext cx="253756" cy="176212"/>
              </a:xfrm>
              <a:prstGeom prst="rect">
                <a:avLst/>
              </a:prstGeom>
              <a:noFill/>
              <a:ln>
                <a:noFill/>
              </a:ln>
            </p:spPr>
            <p:txBody>
              <a:bodyPr wrap="none" lIns="0" tIns="0" rIns="0" bIns="0" anchor="t" anchorCtr="0">
                <a:spAutoFit/>
              </a:bodyPr>
              <a:lstStyle/>
              <a:p>
                <a:pPr algn="ctr"/>
                <a:r>
                  <a:rPr lang="en-US" sz="900" b="1" dirty="0">
                    <a:solidFill>
                      <a:schemeClr val="accent1"/>
                    </a:solidFill>
                    <a:latin typeface="+mn-lt"/>
                    <a:ea typeface="+mn-ea"/>
                    <a:cs typeface="+mn-cs"/>
                  </a:rPr>
                  <a:t>UoM</a:t>
                </a:r>
              </a:p>
            </p:txBody>
          </p:sp>
        </p:grpSp>
        <p:pic>
          <p:nvPicPr>
            <p:cNvPr id="39" name="Image 39"/>
            <p:cNvPicPr>
              <a:picLocks noChangeAspect="1"/>
            </p:cNvPicPr>
            <p:nvPr/>
          </p:nvPicPr>
          <p:blipFill>
            <a:blip r:embed="rId3"/>
            <a:stretch>
              <a:fillRect/>
            </a:stretch>
          </p:blipFill>
          <p:spPr>
            <a:xfrm>
              <a:off x="8382000" y="4762500"/>
              <a:ext cx="762000" cy="762000"/>
            </a:xfrm>
            <a:prstGeom prst="rect">
              <a:avLst/>
            </a:prstGeom>
          </p:spPr>
        </p:pic>
        <p:sp>
          <p:nvSpPr>
            <p:cNvPr id="40" name="TextBox 40"/>
            <p:cNvSpPr txBox="1"/>
            <p:nvPr/>
          </p:nvSpPr>
          <p:spPr>
            <a:xfrm>
              <a:off x="9291638" y="4970145"/>
              <a:ext cx="1116010" cy="176212"/>
            </a:xfrm>
            <a:prstGeom prst="rect">
              <a:avLst/>
            </a:prstGeom>
            <a:noFill/>
            <a:ln>
              <a:noFill/>
            </a:ln>
          </p:spPr>
          <p:txBody>
            <a:bodyPr wrap="none" lIns="0" tIns="0" rIns="0" bIns="0" anchor="t" anchorCtr="0">
              <a:spAutoFit/>
            </a:bodyPr>
            <a:lstStyle/>
            <a:p>
              <a:pPr algn="l"/>
              <a:r>
                <a:rPr lang="en-US" sz="900" b="1" spc="75" dirty="0">
                  <a:solidFill>
                    <a:schemeClr val="accent1"/>
                  </a:solidFill>
                  <a:latin typeface="+mn-lt"/>
                  <a:ea typeface="+mn-ea"/>
                  <a:cs typeface="+mn-cs"/>
                </a:rPr>
                <a:t>READ THE PAPER</a:t>
              </a:r>
            </a:p>
          </p:txBody>
        </p:sp>
        <p:sp>
          <p:nvSpPr>
            <p:cNvPr id="41" name="TextBox 41"/>
            <p:cNvSpPr txBox="1"/>
            <p:nvPr/>
          </p:nvSpPr>
          <p:spPr>
            <a:xfrm>
              <a:off x="9291638" y="5187791"/>
              <a:ext cx="964031"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arXiv:2211.04128</a:t>
              </a:r>
            </a:p>
          </p:txBody>
        </p:sp>
        <p:sp>
          <p:nvSpPr>
            <p:cNvPr id="42" name="TextBox 42"/>
            <p:cNvSpPr txBox="1"/>
            <p:nvPr/>
          </p:nvSpPr>
          <p:spPr>
            <a:xfrm>
              <a:off x="9291638" y="5378291"/>
              <a:ext cx="686706"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Scan to open</a:t>
              </a:r>
            </a:p>
          </p:txBody>
        </p:sp>
      </p:grpSp>
      <p:grpSp>
        <p:nvGrpSpPr>
          <p:cNvPr id="46" name="Group 46"/>
          <p:cNvGrpSpPr/>
          <p:nvPr/>
        </p:nvGrpSpPr>
        <p:grpSpPr>
          <a:xfrm>
            <a:off x="762000" y="6559391"/>
            <a:ext cx="10672762" cy="161925"/>
            <a:chOff x="762000" y="6559391"/>
            <a:chExt cx="10672762" cy="161925"/>
          </a:xfrm>
        </p:grpSpPr>
        <p:sp>
          <p:nvSpPr>
            <p:cNvPr id="44" name="Line 44"/>
            <p:cNvSpPr/>
            <p:nvPr/>
          </p:nvSpPr>
          <p:spPr>
            <a:xfrm>
              <a:off x="762000" y="6610350"/>
              <a:ext cx="381000" cy="9525"/>
            </a:xfrm>
            <a:custGeom>
              <a:avLst/>
              <a:gdLst/>
              <a:ahLst/>
              <a:cxnLst/>
              <a:rect l="l" t="t" r="r" b="b"/>
              <a:pathLst>
                <a:path w="381000" h="9525">
                  <a:moveTo>
                    <a:pt x="0" y="0"/>
                  </a:moveTo>
                  <a:lnTo>
                    <a:pt x="381000" y="0"/>
                  </a:lnTo>
                </a:path>
              </a:pathLst>
            </a:custGeom>
            <a:noFill/>
            <a:ln w="4762">
              <a:solidFill>
                <a:srgbClr val="94A3B8"/>
              </a:solidFill>
            </a:ln>
          </p:spPr>
        </p:sp>
        <p:sp>
          <p:nvSpPr>
            <p:cNvPr id="45" name="TextBox 45"/>
            <p:cNvSpPr txBox="1"/>
            <p:nvPr/>
          </p:nvSpPr>
          <p:spPr>
            <a:xfrm>
              <a:off x="11303810" y="65593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01</a:t>
              </a:r>
            </a:p>
          </p:txBody>
        </p:sp>
      </p:grpSp>
      <p:sp>
        <p:nvSpPr>
          <p:cNvPr id="47" name="cue_s01_c1_tabular_language_models_could_unlock" title="cue_s01_c1_tabular_language_models_could_unlock" descr="cue_s01_c1_tabular_language_models_could_unlock Tabular language models could unlock the spreadsheets buried inside industrial companies, but they need labeled data, and only scarce experts can annotate these technical tables."/>
          <p:cNvSpPr/>
          <p:nvPr/>
        </p:nvSpPr>
        <p:spPr>
          <a:xfrm>
            <a:off x="753465" y="3352876"/>
            <a:ext cx="5650992" cy="7859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1_c2_presented_neurips_2022_ringsquandl_k" title="cue_s01_c2_presented_neurips_2022_ringsquandl_k" descr="cue_s01_c2_presented_neurips_2022_ringsquandl_k Presented at NeurIPS 2022 by Ringsquandl and Koleva from Siemens, this paper asks: can active learning cut that labeling cost for sub-cell entity recognition?"/>
          <p:cNvSpPr/>
          <p:nvPr/>
        </p:nvSpPr>
        <p:spPr>
          <a:xfrm>
            <a:off x="762000" y="4305452"/>
            <a:ext cx="3361334" cy="54932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1_c3_their_headline_finding_batch_diverse" title="cue_s01_c3_their_headline_finding_batch_diverse" descr="cue_s01_c3_their_headline_finding_batch_diverse Their headline finding is that a batch-diverse gradient method, BADGE, matches full-training performance with far fewer labels, while forcing maximum table diversity actually hurts."/>
          <p:cNvSpPr/>
          <p:nvPr/>
        </p:nvSpPr>
        <p:spPr>
          <a:xfrm>
            <a:off x="762000" y="5295747"/>
            <a:ext cx="7048195"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421050" cy="656939"/>
            <a:chOff x="571500" y="533400"/>
            <a:chExt cx="842105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820540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problem: cheap tables, expensive labels</a:t>
              </a:r>
            </a:p>
          </p:txBody>
        </p:sp>
        <p:sp>
          <p:nvSpPr>
            <p:cNvPr id="4" name="TextBox 4"/>
            <p:cNvSpPr txBox="1"/>
            <p:nvPr/>
          </p:nvSpPr>
          <p:spPr>
            <a:xfrm>
              <a:off x="795147" y="999649"/>
              <a:ext cx="452153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EXTRACTING STRUCTURE FROM INDUSTRIAL SPREADSHEETS</a:t>
              </a:r>
            </a:p>
          </p:txBody>
        </p:sp>
      </p:grpSp>
      <p:grpSp>
        <p:nvGrpSpPr>
          <p:cNvPr id="13" name="Group 13"/>
          <p:cNvGrpSpPr/>
          <p:nvPr/>
        </p:nvGrpSpPr>
        <p:grpSpPr>
          <a:xfrm>
            <a:off x="571500" y="1447800"/>
            <a:ext cx="5429250" cy="2057400"/>
            <a:chOff x="571500" y="1447800"/>
            <a:chExt cx="5429250" cy="2057400"/>
          </a:xfrm>
        </p:grpSpPr>
        <p:sp>
          <p:nvSpPr>
            <p:cNvPr id="6" name="Rectangle 6"/>
            <p:cNvSpPr/>
            <p:nvPr/>
          </p:nvSpPr>
          <p:spPr>
            <a:xfrm>
              <a:off x="571500" y="1447800"/>
              <a:ext cx="5429250" cy="2057400"/>
            </a:xfrm>
            <a:prstGeom prst="roundRect">
              <a:avLst>
                <a:gd name="adj" fmla="val 5556"/>
              </a:avLst>
            </a:prstGeom>
            <a:solidFill>
              <a:schemeClr val="lt2"/>
            </a:solidFill>
            <a:ln w="9525">
              <a:solidFill>
                <a:schemeClr val="accent4"/>
              </a:solidFill>
            </a:ln>
          </p:spPr>
        </p:sp>
        <p:sp>
          <p:nvSpPr>
            <p:cNvPr id="7" name="Rectangle 7"/>
            <p:cNvSpPr/>
            <p:nvPr/>
          </p:nvSpPr>
          <p:spPr>
            <a:xfrm>
              <a:off x="571500" y="1447800"/>
              <a:ext cx="57150" cy="2057400"/>
            </a:xfrm>
            <a:prstGeom prst="roundRect">
              <a:avLst>
                <a:gd name="adj" fmla="val 50000"/>
              </a:avLst>
            </a:prstGeom>
            <a:solidFill>
              <a:schemeClr val="accent1"/>
            </a:solidFill>
            <a:ln>
              <a:noFill/>
            </a:ln>
          </p:spPr>
        </p:sp>
        <p:sp>
          <p:nvSpPr>
            <p:cNvPr id="8" name="TextBox 8"/>
            <p:cNvSpPr txBox="1"/>
            <p:nvPr/>
          </p:nvSpPr>
          <p:spPr>
            <a:xfrm>
              <a:off x="852297" y="1723549"/>
              <a:ext cx="98154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SETTING</a:t>
              </a:r>
            </a:p>
          </p:txBody>
        </p:sp>
        <p:sp>
          <p:nvSpPr>
            <p:cNvPr id="9" name="TextBox 9"/>
            <p:cNvSpPr txBox="1"/>
            <p:nvPr/>
          </p:nvSpPr>
          <p:spPr>
            <a:xfrm>
              <a:off x="846963" y="2010251"/>
              <a:ext cx="4568028" cy="396050"/>
            </a:xfrm>
            <a:prstGeom prst="rect">
              <a:avLst/>
            </a:prstGeom>
            <a:noFill/>
            <a:ln>
              <a:noFill/>
            </a:ln>
          </p:spPr>
          <p:txBody>
            <a:bodyPr wrap="none" lIns="0" tIns="0" rIns="0" bIns="0" anchor="t" anchorCtr="0">
              <a:spAutoFit/>
            </a:bodyPr>
            <a:lstStyle/>
            <a:p>
              <a:pPr algn="l"/>
              <a:r>
                <a:rPr lang="en-US" sz="2020" b="1" dirty="0">
                  <a:solidFill>
                    <a:schemeClr val="accent1"/>
                  </a:solidFill>
                  <a:latin typeface="+mj-lt"/>
                  <a:ea typeface="+mj-ea"/>
                  <a:cs typeface="+mj-cs"/>
                </a:rPr>
                <a:t>Industry runs on spreadsheets</a:t>
              </a:r>
            </a:p>
          </p:txBody>
        </p:sp>
        <p:sp>
          <p:nvSpPr>
            <p:cNvPr id="10" name="TextBox 10"/>
            <p:cNvSpPr txBox="1"/>
            <p:nvPr/>
          </p:nvSpPr>
          <p:spPr>
            <a:xfrm>
              <a:off x="850773" y="2510314"/>
              <a:ext cx="333535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Plant records live in loosely structured</a:t>
              </a:r>
            </a:p>
          </p:txBody>
        </p:sp>
        <p:sp>
          <p:nvSpPr>
            <p:cNvPr id="11" name="TextBox 11"/>
            <p:cNvSpPr txBox="1"/>
            <p:nvPr/>
          </p:nvSpPr>
          <p:spPr>
            <a:xfrm>
              <a:off x="850773" y="2757964"/>
              <a:ext cx="357123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tables — the raw material for automation,</a:t>
              </a:r>
            </a:p>
          </p:txBody>
        </p:sp>
        <p:sp>
          <p:nvSpPr>
            <p:cNvPr id="12" name="TextBox 12"/>
            <p:cNvSpPr txBox="1"/>
            <p:nvPr/>
          </p:nvSpPr>
          <p:spPr>
            <a:xfrm>
              <a:off x="850773" y="3005614"/>
              <a:ext cx="214964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if a model can read them.</a:t>
              </a:r>
            </a:p>
          </p:txBody>
        </p:sp>
      </p:grpSp>
      <p:grpSp>
        <p:nvGrpSpPr>
          <p:cNvPr id="21" name="Group 21"/>
          <p:cNvGrpSpPr/>
          <p:nvPr/>
        </p:nvGrpSpPr>
        <p:grpSpPr>
          <a:xfrm>
            <a:off x="6191250" y="1447800"/>
            <a:ext cx="5429250" cy="2057400"/>
            <a:chOff x="6191250" y="1447800"/>
            <a:chExt cx="5429250" cy="2057400"/>
          </a:xfrm>
        </p:grpSpPr>
        <p:sp>
          <p:nvSpPr>
            <p:cNvPr id="14" name="Rectangle 14"/>
            <p:cNvSpPr/>
            <p:nvPr/>
          </p:nvSpPr>
          <p:spPr>
            <a:xfrm>
              <a:off x="6191250" y="1447800"/>
              <a:ext cx="5429250" cy="2057400"/>
            </a:xfrm>
            <a:prstGeom prst="roundRect">
              <a:avLst>
                <a:gd name="adj" fmla="val 5556"/>
              </a:avLst>
            </a:prstGeom>
            <a:solidFill>
              <a:schemeClr val="lt2"/>
            </a:solidFill>
            <a:ln w="9525">
              <a:solidFill>
                <a:schemeClr val="accent4"/>
              </a:solidFill>
            </a:ln>
          </p:spPr>
        </p:sp>
        <p:sp>
          <p:nvSpPr>
            <p:cNvPr id="15" name="Rectangle 15"/>
            <p:cNvSpPr/>
            <p:nvPr/>
          </p:nvSpPr>
          <p:spPr>
            <a:xfrm>
              <a:off x="6191250" y="1447800"/>
              <a:ext cx="57150" cy="2057400"/>
            </a:xfrm>
            <a:prstGeom prst="roundRect">
              <a:avLst>
                <a:gd name="adj" fmla="val 50000"/>
              </a:avLst>
            </a:prstGeom>
            <a:solidFill>
              <a:schemeClr val="accent2"/>
            </a:solidFill>
            <a:ln>
              <a:noFill/>
            </a:ln>
          </p:spPr>
        </p:sp>
        <p:sp>
          <p:nvSpPr>
            <p:cNvPr id="16" name="TextBox 16"/>
            <p:cNvSpPr txBox="1"/>
            <p:nvPr/>
          </p:nvSpPr>
          <p:spPr>
            <a:xfrm>
              <a:off x="6472047" y="1723549"/>
              <a:ext cx="135994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WHAT IS TRACKED</a:t>
              </a:r>
            </a:p>
          </p:txBody>
        </p:sp>
        <p:sp>
          <p:nvSpPr>
            <p:cNvPr id="17" name="TextBox 17"/>
            <p:cNvSpPr txBox="1"/>
            <p:nvPr/>
          </p:nvSpPr>
          <p:spPr>
            <a:xfrm>
              <a:off x="6466713" y="2010251"/>
              <a:ext cx="4481526" cy="396050"/>
            </a:xfrm>
            <a:prstGeom prst="rect">
              <a:avLst/>
            </a:prstGeom>
            <a:noFill/>
            <a:ln>
              <a:noFill/>
            </a:ln>
          </p:spPr>
          <p:txBody>
            <a:bodyPr wrap="none" lIns="0" tIns="0" rIns="0" bIns="0" anchor="t" anchorCtr="0">
              <a:spAutoFit/>
            </a:bodyPr>
            <a:lstStyle/>
            <a:p>
              <a:pPr algn="l"/>
              <a:r>
                <a:rPr lang="en-US" sz="2020" b="1" dirty="0">
                  <a:solidFill>
                    <a:schemeClr val="accent1"/>
                  </a:solidFill>
                  <a:latin typeface="+mj-lt"/>
                  <a:ea typeface="+mj-ea"/>
                  <a:cs typeface="+mj-cs"/>
                </a:rPr>
                <a:t>Equipment · sensors · vessels</a:t>
              </a:r>
            </a:p>
          </p:txBody>
        </p:sp>
        <p:sp>
          <p:nvSpPr>
            <p:cNvPr id="18" name="TextBox 18"/>
            <p:cNvSpPr txBox="1"/>
            <p:nvPr/>
          </p:nvSpPr>
          <p:spPr>
            <a:xfrm>
              <a:off x="6470523" y="2510314"/>
              <a:ext cx="285304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Reading them automatically means</a:t>
              </a:r>
            </a:p>
          </p:txBody>
        </p:sp>
        <p:sp>
          <p:nvSpPr>
            <p:cNvPr id="19" name="TextBox 19"/>
            <p:cNvSpPr txBox="1"/>
            <p:nvPr/>
          </p:nvSpPr>
          <p:spPr>
            <a:xfrm>
              <a:off x="6470523" y="2757964"/>
              <a:ext cx="301982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fine-tuning tabular language models</a:t>
              </a:r>
            </a:p>
          </p:txBody>
        </p:sp>
        <p:sp>
          <p:nvSpPr>
            <p:cNvPr id="20" name="TextBox 20"/>
            <p:cNvSpPr txBox="1"/>
            <p:nvPr/>
          </p:nvSpPr>
          <p:spPr>
            <a:xfrm>
              <a:off x="6470523" y="3005614"/>
              <a:ext cx="172747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on labeled examples.</a:t>
              </a:r>
            </a:p>
          </p:txBody>
        </p:sp>
      </p:grpSp>
      <p:grpSp>
        <p:nvGrpSpPr>
          <p:cNvPr id="29" name="Group 29"/>
          <p:cNvGrpSpPr/>
          <p:nvPr/>
        </p:nvGrpSpPr>
        <p:grpSpPr>
          <a:xfrm>
            <a:off x="571500" y="3733800"/>
            <a:ext cx="5429250" cy="2057400"/>
            <a:chOff x="571500" y="3733800"/>
            <a:chExt cx="5429250" cy="2057400"/>
          </a:xfrm>
        </p:grpSpPr>
        <p:sp>
          <p:nvSpPr>
            <p:cNvPr id="22" name="Rectangle 22"/>
            <p:cNvSpPr/>
            <p:nvPr/>
          </p:nvSpPr>
          <p:spPr>
            <a:xfrm>
              <a:off x="571500" y="3733800"/>
              <a:ext cx="5429250" cy="2057400"/>
            </a:xfrm>
            <a:prstGeom prst="roundRect">
              <a:avLst>
                <a:gd name="adj" fmla="val 5556"/>
              </a:avLst>
            </a:prstGeom>
            <a:solidFill>
              <a:srgbClr val="FBEEEC"/>
            </a:solidFill>
            <a:ln w="9525">
              <a:solidFill>
                <a:srgbClr val="E7B6AE"/>
              </a:solidFill>
            </a:ln>
          </p:spPr>
        </p:sp>
        <p:sp>
          <p:nvSpPr>
            <p:cNvPr id="23" name="Rectangle 23"/>
            <p:cNvSpPr/>
            <p:nvPr/>
          </p:nvSpPr>
          <p:spPr>
            <a:xfrm>
              <a:off x="571500" y="3733800"/>
              <a:ext cx="57150" cy="2057400"/>
            </a:xfrm>
            <a:prstGeom prst="roundRect">
              <a:avLst>
                <a:gd name="adj" fmla="val 50000"/>
              </a:avLst>
            </a:prstGeom>
            <a:solidFill>
              <a:srgbClr val="C0392B"/>
            </a:solidFill>
            <a:ln>
              <a:noFill/>
            </a:ln>
          </p:spPr>
        </p:sp>
        <p:sp>
          <p:nvSpPr>
            <p:cNvPr id="24" name="TextBox 24"/>
            <p:cNvSpPr txBox="1"/>
            <p:nvPr/>
          </p:nvSpPr>
          <p:spPr>
            <a:xfrm>
              <a:off x="852297" y="4009549"/>
              <a:ext cx="1456380" cy="190690"/>
            </a:xfrm>
            <a:prstGeom prst="rect">
              <a:avLst/>
            </a:prstGeom>
            <a:noFill/>
            <a:ln>
              <a:noFill/>
            </a:ln>
          </p:spPr>
          <p:txBody>
            <a:bodyPr wrap="none" lIns="0" tIns="0" rIns="0" bIns="0" anchor="t" anchorCtr="0">
              <a:spAutoFit/>
            </a:bodyPr>
            <a:lstStyle/>
            <a:p>
              <a:pPr algn="l"/>
              <a:r>
                <a:rPr lang="en-US" sz="980" b="1" spc="112" dirty="0">
                  <a:solidFill>
                    <a:srgbClr val="C0392B"/>
                  </a:solidFill>
                  <a:latin typeface="+mn-lt"/>
                  <a:ea typeface="+mn-ea"/>
                  <a:cs typeface="+mn-cs"/>
                </a:rPr>
                <a:t>THE CATCH · COST</a:t>
              </a:r>
            </a:p>
          </p:txBody>
        </p:sp>
        <p:sp>
          <p:nvSpPr>
            <p:cNvPr id="25" name="TextBox 25"/>
            <p:cNvSpPr txBox="1"/>
            <p:nvPr/>
          </p:nvSpPr>
          <p:spPr>
            <a:xfrm>
              <a:off x="846963" y="4296251"/>
              <a:ext cx="3965527" cy="396050"/>
            </a:xfrm>
            <a:prstGeom prst="rect">
              <a:avLst/>
            </a:prstGeom>
            <a:noFill/>
            <a:ln>
              <a:noFill/>
            </a:ln>
          </p:spPr>
          <p:txBody>
            <a:bodyPr wrap="none" lIns="0" tIns="0" rIns="0" bIns="0" anchor="t" anchorCtr="0">
              <a:spAutoFit/>
            </a:bodyPr>
            <a:lstStyle/>
            <a:p>
              <a:pPr algn="l"/>
              <a:r>
                <a:rPr lang="en-US" sz="2020" b="1" dirty="0">
                  <a:solidFill>
                    <a:schemeClr val="accent1"/>
                  </a:solidFill>
                  <a:latin typeface="+mj-lt"/>
                  <a:ea typeface="+mj-ea"/>
                  <a:cs typeface="+mj-cs"/>
                </a:rPr>
                <a:t>Only experts can annotate</a:t>
              </a:r>
            </a:p>
          </p:txBody>
        </p:sp>
        <p:sp>
          <p:nvSpPr>
            <p:cNvPr id="26" name="TextBox 26"/>
            <p:cNvSpPr txBox="1"/>
            <p:nvPr/>
          </p:nvSpPr>
          <p:spPr>
            <a:xfrm>
              <a:off x="850773" y="4796314"/>
              <a:ext cx="279261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Highly technical, domain-specific</a:t>
              </a:r>
            </a:p>
          </p:txBody>
        </p:sp>
        <p:sp>
          <p:nvSpPr>
            <p:cNvPr id="27" name="TextBox 27"/>
            <p:cNvSpPr txBox="1"/>
            <p:nvPr/>
          </p:nvSpPr>
          <p:spPr>
            <a:xfrm>
              <a:off x="850773" y="5043964"/>
              <a:ext cx="320937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language means a handful of experts —</a:t>
              </a:r>
            </a:p>
          </p:txBody>
        </p:sp>
        <p:sp>
          <p:nvSpPr>
            <p:cNvPr id="28" name="TextBox 28"/>
            <p:cNvSpPr txBox="1"/>
            <p:nvPr/>
          </p:nvSpPr>
          <p:spPr>
            <a:xfrm>
              <a:off x="850773" y="5291614"/>
              <a:ext cx="270104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so labeling gets expensive fast.</a:t>
              </a:r>
            </a:p>
          </p:txBody>
        </p:sp>
      </p:grpSp>
      <p:grpSp>
        <p:nvGrpSpPr>
          <p:cNvPr id="37" name="Group 37"/>
          <p:cNvGrpSpPr/>
          <p:nvPr/>
        </p:nvGrpSpPr>
        <p:grpSpPr>
          <a:xfrm>
            <a:off x="6191250" y="3733800"/>
            <a:ext cx="5429250" cy="2057400"/>
            <a:chOff x="6191250" y="3733800"/>
            <a:chExt cx="5429250" cy="2057400"/>
          </a:xfrm>
        </p:grpSpPr>
        <p:sp>
          <p:nvSpPr>
            <p:cNvPr id="30" name="Rectangle 30"/>
            <p:cNvSpPr/>
            <p:nvPr/>
          </p:nvSpPr>
          <p:spPr>
            <a:xfrm>
              <a:off x="6191250" y="3733800"/>
              <a:ext cx="5429250" cy="2057400"/>
            </a:xfrm>
            <a:prstGeom prst="roundRect">
              <a:avLst>
                <a:gd name="adj" fmla="val 5556"/>
              </a:avLst>
            </a:prstGeom>
            <a:solidFill>
              <a:schemeClr val="accent5"/>
            </a:solidFill>
            <a:ln w="9525">
              <a:solidFill>
                <a:schemeClr val="accent3"/>
              </a:solidFill>
            </a:ln>
          </p:spPr>
        </p:sp>
        <p:sp>
          <p:nvSpPr>
            <p:cNvPr id="31" name="Rectangle 31"/>
            <p:cNvSpPr/>
            <p:nvPr/>
          </p:nvSpPr>
          <p:spPr>
            <a:xfrm>
              <a:off x="6191250" y="3733800"/>
              <a:ext cx="57150" cy="2057400"/>
            </a:xfrm>
            <a:prstGeom prst="roundRect">
              <a:avLst>
                <a:gd name="adj" fmla="val 50000"/>
              </a:avLst>
            </a:prstGeom>
            <a:solidFill>
              <a:srgbClr val="2E9E5B"/>
            </a:solidFill>
            <a:ln>
              <a:noFill/>
            </a:ln>
          </p:spPr>
        </p:sp>
        <p:sp>
          <p:nvSpPr>
            <p:cNvPr id="32" name="TextBox 32"/>
            <p:cNvSpPr txBox="1"/>
            <p:nvPr/>
          </p:nvSpPr>
          <p:spPr>
            <a:xfrm>
              <a:off x="6472047" y="4009549"/>
              <a:ext cx="1953175"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A NEW KIND OF PROBLEM</a:t>
              </a:r>
            </a:p>
          </p:txBody>
        </p:sp>
        <p:sp>
          <p:nvSpPr>
            <p:cNvPr id="33" name="TextBox 33"/>
            <p:cNvSpPr txBox="1"/>
            <p:nvPr/>
          </p:nvSpPr>
          <p:spPr>
            <a:xfrm>
              <a:off x="6466713" y="4296251"/>
              <a:ext cx="1936743" cy="396050"/>
            </a:xfrm>
            <a:prstGeom prst="rect">
              <a:avLst/>
            </a:prstGeom>
            <a:noFill/>
            <a:ln>
              <a:noFill/>
            </a:ln>
          </p:spPr>
          <p:txBody>
            <a:bodyPr wrap="none" lIns="0" tIns="0" rIns="0" bIns="0" anchor="t" anchorCtr="0">
              <a:spAutoFit/>
            </a:bodyPr>
            <a:lstStyle/>
            <a:p>
              <a:pPr algn="l"/>
              <a:r>
                <a:rPr lang="en-US" sz="2020" b="1" dirty="0">
                  <a:solidFill>
                    <a:schemeClr val="accent1"/>
                  </a:solidFill>
                  <a:latin typeface="+mj-lt"/>
                  <a:ea typeface="+mj-ea"/>
                  <a:cs typeface="+mj-cs"/>
                </a:rPr>
                <a:t>Sub-cell NER</a:t>
              </a:r>
            </a:p>
          </p:txBody>
        </p:sp>
        <p:sp>
          <p:nvSpPr>
            <p:cNvPr id="34" name="TextBox 34"/>
            <p:cNvSpPr txBox="1"/>
            <p:nvPr/>
          </p:nvSpPr>
          <p:spPr>
            <a:xfrm>
              <a:off x="6470523" y="4796314"/>
              <a:ext cx="344770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 genuinely new active-learning problem:</a:t>
              </a:r>
            </a:p>
          </p:txBody>
        </p:sp>
        <p:sp>
          <p:nvSpPr>
            <p:cNvPr id="35" name="TextBox 35"/>
            <p:cNvSpPr txBox="1"/>
            <p:nvPr/>
          </p:nvSpPr>
          <p:spPr>
            <a:xfrm>
              <a:off x="6470523" y="5043964"/>
              <a:ext cx="346784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each table holds many cells, and each cell</a:t>
              </a:r>
            </a:p>
          </p:txBody>
        </p:sp>
        <p:sp>
          <p:nvSpPr>
            <p:cNvPr id="36" name="TextBox 36"/>
            <p:cNvSpPr txBox="1"/>
            <p:nvPr/>
          </p:nvSpPr>
          <p:spPr>
            <a:xfrm>
              <a:off x="6470523" y="5291614"/>
              <a:ext cx="361430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carries several token-level labels at once.</a:t>
              </a:r>
            </a:p>
          </p:txBody>
        </p:sp>
      </p:grpSp>
      <p:grpSp>
        <p:nvGrpSpPr>
          <p:cNvPr id="40" name="Group 40"/>
          <p:cNvGrpSpPr/>
          <p:nvPr/>
        </p:nvGrpSpPr>
        <p:grpSpPr>
          <a:xfrm>
            <a:off x="566738" y="6597491"/>
            <a:ext cx="11058524" cy="161925"/>
            <a:chOff x="566738" y="6597491"/>
            <a:chExt cx="11058524" cy="161925"/>
          </a:xfrm>
        </p:grpSpPr>
        <p:sp>
          <p:nvSpPr>
            <p:cNvPr id="38" name="TextBox 38"/>
            <p:cNvSpPr txBox="1"/>
            <p:nvPr/>
          </p:nvSpPr>
          <p:spPr>
            <a:xfrm>
              <a:off x="566738" y="6597491"/>
              <a:ext cx="3678117"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Active Learning with Tabular Language Models · Ringsquandl &amp; Koleva</a:t>
              </a:r>
            </a:p>
          </p:txBody>
        </p:sp>
        <p:sp>
          <p:nvSpPr>
            <p:cNvPr id="39" name="TextBox 39"/>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02</a:t>
              </a:r>
            </a:p>
          </p:txBody>
        </p:sp>
      </p:grpSp>
      <p:sp>
        <p:nvSpPr>
          <p:cNvPr id="41" name="cue_s02_c1_industry_runs_spreadsheets" title="cue_s02_c1_industry_runs_spreadsheets" descr="cue_s02_c1_industry_runs_spreadsheets Industry runs on spreadsheets."/>
          <p:cNvSpPr/>
          <p:nvPr/>
        </p:nvSpPr>
        <p:spPr>
          <a:xfrm>
            <a:off x="571804" y="1447723"/>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2_c2_operators_track_equipment_sensors_ve" title="cue_s02_c2_operators_track_equipment_sensors_ve" descr="cue_s02_c2_operators_track_equipment_sensors_ve Operators track equipment, sensors, and vessels in loosely structured tables, and extracting that information automatically means fine-tuning tabular language models on labeled examples."/>
          <p:cNvSpPr/>
          <p:nvPr/>
        </p:nvSpPr>
        <p:spPr>
          <a:xfrm>
            <a:off x="6191097" y="1447723"/>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3_but_these_tables_highly_technical" title="cue_s02_c3_but_these_tables_highly_technical" descr="cue_s02_c3_but_these_tables_highly_technical But these tables use highly technical language only a few experts can annotate, so labeling gets expensive fast."/>
          <p:cNvSpPr/>
          <p:nvPr/>
        </p:nvSpPr>
        <p:spPr>
          <a:xfrm>
            <a:off x="571804" y="3733495"/>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4_frames_sub_cell_named_entity_recogni" title="cue_s02_c4_frames_sub_cell_named_entity_recogni" descr="cue_s02_c4_frames_sub_cell_named_entity_recogni The paper frames this as sub-cell named entity recognition, a genuinely new active learning problem, since each cell carries multiple token-level labels at once."/>
          <p:cNvSpPr/>
          <p:nvPr/>
        </p:nvSpPr>
        <p:spPr>
          <a:xfrm>
            <a:off x="6191097" y="3733495"/>
            <a:ext cx="5429097"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537386" cy="656939"/>
            <a:chOff x="571500" y="533400"/>
            <a:chExt cx="8537386"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832174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Why active learning — and why it is hard here</a:t>
              </a:r>
            </a:p>
          </p:txBody>
        </p:sp>
        <p:sp>
          <p:nvSpPr>
            <p:cNvPr id="4" name="TextBox 4"/>
            <p:cNvSpPr txBox="1"/>
            <p:nvPr/>
          </p:nvSpPr>
          <p:spPr>
            <a:xfrm>
              <a:off x="795147" y="999649"/>
              <a:ext cx="351933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SPEND EVERY ANNOTATION WHERE IT COUNTS</a:t>
              </a:r>
            </a:p>
          </p:txBody>
        </p:sp>
      </p:grpSp>
      <p:grpSp>
        <p:nvGrpSpPr>
          <p:cNvPr id="16" name="Group 16"/>
          <p:cNvGrpSpPr/>
          <p:nvPr/>
        </p:nvGrpSpPr>
        <p:grpSpPr>
          <a:xfrm>
            <a:off x="571500" y="1485900"/>
            <a:ext cx="3543300" cy="3143250"/>
            <a:chOff x="571500" y="1485900"/>
            <a:chExt cx="3543300" cy="3143250"/>
          </a:xfrm>
        </p:grpSpPr>
        <p:sp>
          <p:nvSpPr>
            <p:cNvPr id="6" name="Rectangle 6"/>
            <p:cNvSpPr/>
            <p:nvPr/>
          </p:nvSpPr>
          <p:spPr>
            <a:xfrm>
              <a:off x="571500" y="1485900"/>
              <a:ext cx="3543300" cy="3143250"/>
            </a:xfrm>
            <a:prstGeom prst="roundRect">
              <a:avLst>
                <a:gd name="adj" fmla="val 3636"/>
              </a:avLst>
            </a:prstGeom>
            <a:solidFill>
              <a:schemeClr val="lt2"/>
            </a:solidFill>
            <a:ln w="9525">
              <a:solidFill>
                <a:schemeClr val="accent4"/>
              </a:solidFill>
            </a:ln>
          </p:spPr>
        </p:sp>
        <p:sp>
          <p:nvSpPr>
            <p:cNvPr id="7" name="Ellipse 7"/>
            <p:cNvSpPr/>
            <p:nvPr/>
          </p:nvSpPr>
          <p:spPr>
            <a:xfrm>
              <a:off x="762000" y="1733550"/>
              <a:ext cx="342900" cy="342900"/>
            </a:xfrm>
            <a:prstGeom prst="ellipse">
              <a:avLst/>
            </a:prstGeom>
            <a:solidFill>
              <a:schemeClr val="accent5"/>
            </a:solidFill>
            <a:ln>
              <a:noFill/>
            </a:ln>
          </p:spPr>
        </p:sp>
        <p:sp>
          <p:nvSpPr>
            <p:cNvPr id="8" name="TextBox 8"/>
            <p:cNvSpPr txBox="1"/>
            <p:nvPr/>
          </p:nvSpPr>
          <p:spPr>
            <a:xfrm>
              <a:off x="871145" y="1816418"/>
              <a:ext cx="124610"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j-lt"/>
                  <a:ea typeface="+mj-ea"/>
                  <a:cs typeface="+mj-cs"/>
                </a:rPr>
                <a:t>1</a:t>
              </a:r>
            </a:p>
          </p:txBody>
        </p:sp>
        <p:sp>
          <p:nvSpPr>
            <p:cNvPr id="9" name="TextBox 9"/>
            <p:cNvSpPr txBox="1"/>
            <p:nvPr/>
          </p:nvSpPr>
          <p:spPr>
            <a:xfrm>
              <a:off x="1233297" y="1856899"/>
              <a:ext cx="110122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RIGHT FIT</a:t>
              </a:r>
            </a:p>
          </p:txBody>
        </p:sp>
        <p:sp>
          <p:nvSpPr>
            <p:cNvPr id="10" name="TextBox 10"/>
            <p:cNvSpPr txBox="1"/>
            <p:nvPr/>
          </p:nvSpPr>
          <p:spPr>
            <a:xfrm>
              <a:off x="829437" y="2214086"/>
              <a:ext cx="1978571"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Plenty of data,</a:t>
              </a:r>
            </a:p>
          </p:txBody>
        </p:sp>
        <p:sp>
          <p:nvSpPr>
            <p:cNvPr id="11" name="TextBox 11"/>
            <p:cNvSpPr txBox="1"/>
            <p:nvPr/>
          </p:nvSpPr>
          <p:spPr>
            <a:xfrm>
              <a:off x="829437" y="2499836"/>
              <a:ext cx="1597371"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costly labels</a:t>
              </a:r>
            </a:p>
          </p:txBody>
        </p:sp>
        <p:sp>
          <p:nvSpPr>
            <p:cNvPr id="12" name="TextBox 12"/>
            <p:cNvSpPr txBox="1"/>
            <p:nvPr/>
          </p:nvSpPr>
          <p:spPr>
            <a:xfrm>
              <a:off x="832104" y="3013710"/>
              <a:ext cx="210102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Active learning is built for</a:t>
              </a:r>
            </a:p>
          </p:txBody>
        </p:sp>
        <p:sp>
          <p:nvSpPr>
            <p:cNvPr id="13" name="TextBox 13"/>
            <p:cNvSpPr txBox="1"/>
            <p:nvPr/>
          </p:nvSpPr>
          <p:spPr>
            <a:xfrm>
              <a:off x="832104" y="3261360"/>
              <a:ext cx="246766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exactly this: squeeze the most</a:t>
              </a:r>
            </a:p>
          </p:txBody>
        </p:sp>
        <p:sp>
          <p:nvSpPr>
            <p:cNvPr id="14" name="TextBox 14"/>
            <p:cNvSpPr txBox="1"/>
            <p:nvPr/>
          </p:nvSpPr>
          <p:spPr>
            <a:xfrm>
              <a:off x="832104" y="3509010"/>
              <a:ext cx="204764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model performance out of</a:t>
              </a:r>
            </a:p>
          </p:txBody>
        </p:sp>
        <p:sp>
          <p:nvSpPr>
            <p:cNvPr id="15" name="TextBox 15"/>
            <p:cNvSpPr txBox="1"/>
            <p:nvPr/>
          </p:nvSpPr>
          <p:spPr>
            <a:xfrm>
              <a:off x="832104" y="3756660"/>
              <a:ext cx="194264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every single annotation.</a:t>
              </a:r>
            </a:p>
          </p:txBody>
        </p:sp>
      </p:grpSp>
      <p:grpSp>
        <p:nvGrpSpPr>
          <p:cNvPr id="27" name="Group 27"/>
          <p:cNvGrpSpPr/>
          <p:nvPr/>
        </p:nvGrpSpPr>
        <p:grpSpPr>
          <a:xfrm>
            <a:off x="4305300" y="1485900"/>
            <a:ext cx="3543300" cy="3143250"/>
            <a:chOff x="4305300" y="1485900"/>
            <a:chExt cx="3543300" cy="3143250"/>
          </a:xfrm>
        </p:grpSpPr>
        <p:sp>
          <p:nvSpPr>
            <p:cNvPr id="17" name="Rectangle 17"/>
            <p:cNvSpPr/>
            <p:nvPr/>
          </p:nvSpPr>
          <p:spPr>
            <a:xfrm>
              <a:off x="4305300" y="1485900"/>
              <a:ext cx="3543300" cy="3143250"/>
            </a:xfrm>
            <a:prstGeom prst="roundRect">
              <a:avLst>
                <a:gd name="adj" fmla="val 3636"/>
              </a:avLst>
            </a:prstGeom>
            <a:solidFill>
              <a:schemeClr val="lt2"/>
            </a:solidFill>
            <a:ln w="9525">
              <a:solidFill>
                <a:schemeClr val="accent4"/>
              </a:solidFill>
            </a:ln>
          </p:spPr>
        </p:sp>
        <p:sp>
          <p:nvSpPr>
            <p:cNvPr id="18" name="Ellipse 18"/>
            <p:cNvSpPr/>
            <p:nvPr/>
          </p:nvSpPr>
          <p:spPr>
            <a:xfrm>
              <a:off x="4495800" y="1733550"/>
              <a:ext cx="342900" cy="342900"/>
            </a:xfrm>
            <a:prstGeom prst="ellipse">
              <a:avLst/>
            </a:prstGeom>
            <a:solidFill>
              <a:schemeClr val="accent5"/>
            </a:solidFill>
            <a:ln>
              <a:noFill/>
            </a:ln>
          </p:spPr>
        </p:sp>
        <p:sp>
          <p:nvSpPr>
            <p:cNvPr id="19" name="TextBox 19"/>
            <p:cNvSpPr txBox="1"/>
            <p:nvPr/>
          </p:nvSpPr>
          <p:spPr>
            <a:xfrm>
              <a:off x="4604945" y="1816418"/>
              <a:ext cx="124610"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j-lt"/>
                  <a:ea typeface="+mj-ea"/>
                  <a:cs typeface="+mj-cs"/>
                </a:rPr>
                <a:t>2</a:t>
              </a:r>
            </a:p>
          </p:txBody>
        </p:sp>
        <p:sp>
          <p:nvSpPr>
            <p:cNvPr id="20" name="TextBox 20"/>
            <p:cNvSpPr txBox="1"/>
            <p:nvPr/>
          </p:nvSpPr>
          <p:spPr>
            <a:xfrm>
              <a:off x="4967097" y="1856899"/>
              <a:ext cx="98024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BATCH MODE</a:t>
              </a:r>
            </a:p>
          </p:txBody>
        </p:sp>
        <p:sp>
          <p:nvSpPr>
            <p:cNvPr id="21" name="TextBox 21"/>
            <p:cNvSpPr txBox="1"/>
            <p:nvPr/>
          </p:nvSpPr>
          <p:spPr>
            <a:xfrm>
              <a:off x="4563237" y="2214086"/>
              <a:ext cx="1539389"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Pick a whole</a:t>
              </a:r>
            </a:p>
          </p:txBody>
        </p:sp>
        <p:sp>
          <p:nvSpPr>
            <p:cNvPr id="22" name="TextBox 22"/>
            <p:cNvSpPr txBox="1"/>
            <p:nvPr/>
          </p:nvSpPr>
          <p:spPr>
            <a:xfrm>
              <a:off x="4563237" y="2499836"/>
              <a:ext cx="1725814"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batch at once</a:t>
              </a:r>
            </a:p>
          </p:txBody>
        </p:sp>
        <p:sp>
          <p:nvSpPr>
            <p:cNvPr id="23" name="TextBox 23"/>
            <p:cNvSpPr txBox="1"/>
            <p:nvPr/>
          </p:nvSpPr>
          <p:spPr>
            <a:xfrm>
              <a:off x="4565904" y="3013710"/>
              <a:ext cx="233581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Big transformers can't learn</a:t>
              </a:r>
            </a:p>
          </p:txBody>
        </p:sp>
        <p:sp>
          <p:nvSpPr>
            <p:cNvPr id="24" name="TextBox 24"/>
            <p:cNvSpPr txBox="1"/>
            <p:nvPr/>
          </p:nvSpPr>
          <p:spPr>
            <a:xfrm>
              <a:off x="4565904" y="3261360"/>
              <a:ext cx="219891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one example at a time. They</a:t>
              </a:r>
            </a:p>
          </p:txBody>
        </p:sp>
        <p:sp>
          <p:nvSpPr>
            <p:cNvPr id="25" name="TextBox 25"/>
            <p:cNvSpPr txBox="1"/>
            <p:nvPr/>
          </p:nvSpPr>
          <p:spPr>
            <a:xfrm>
              <a:off x="4565904" y="3509010"/>
              <a:ext cx="234650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train in batches over epochs,</a:t>
              </a:r>
            </a:p>
          </p:txBody>
        </p:sp>
        <p:sp>
          <p:nvSpPr>
            <p:cNvPr id="26" name="TextBox 26"/>
            <p:cNvSpPr txBox="1"/>
            <p:nvPr/>
          </p:nvSpPr>
          <p:spPr>
            <a:xfrm>
              <a:off x="4565904" y="3756660"/>
              <a:ext cx="231419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so acquisition is batch-level.</a:t>
              </a:r>
            </a:p>
          </p:txBody>
        </p:sp>
      </p:grpSp>
      <p:grpSp>
        <p:nvGrpSpPr>
          <p:cNvPr id="38" name="Group 38"/>
          <p:cNvGrpSpPr/>
          <p:nvPr/>
        </p:nvGrpSpPr>
        <p:grpSpPr>
          <a:xfrm>
            <a:off x="8039100" y="1485900"/>
            <a:ext cx="3543300" cy="3143250"/>
            <a:chOff x="8039100" y="1485900"/>
            <a:chExt cx="3543300" cy="3143250"/>
          </a:xfrm>
        </p:grpSpPr>
        <p:sp>
          <p:nvSpPr>
            <p:cNvPr id="28" name="Rectangle 28"/>
            <p:cNvSpPr/>
            <p:nvPr/>
          </p:nvSpPr>
          <p:spPr>
            <a:xfrm>
              <a:off x="8039100" y="1485900"/>
              <a:ext cx="3543300" cy="3143250"/>
            </a:xfrm>
            <a:prstGeom prst="roundRect">
              <a:avLst>
                <a:gd name="adj" fmla="val 3636"/>
              </a:avLst>
            </a:prstGeom>
            <a:solidFill>
              <a:srgbClr val="FBEEEC"/>
            </a:solidFill>
            <a:ln w="9525">
              <a:solidFill>
                <a:srgbClr val="E7B6AE"/>
              </a:solidFill>
            </a:ln>
          </p:spPr>
        </p:sp>
        <p:sp>
          <p:nvSpPr>
            <p:cNvPr id="29" name="Ellipse 29"/>
            <p:cNvSpPr/>
            <p:nvPr/>
          </p:nvSpPr>
          <p:spPr>
            <a:xfrm>
              <a:off x="8229600" y="1733550"/>
              <a:ext cx="342900" cy="342900"/>
            </a:xfrm>
            <a:prstGeom prst="ellipse">
              <a:avLst/>
            </a:prstGeom>
            <a:solidFill>
              <a:srgbClr val="F6D9D4"/>
            </a:solidFill>
            <a:ln>
              <a:noFill/>
            </a:ln>
          </p:spPr>
        </p:sp>
        <p:sp>
          <p:nvSpPr>
            <p:cNvPr id="30" name="TextBox 30"/>
            <p:cNvSpPr txBox="1"/>
            <p:nvPr/>
          </p:nvSpPr>
          <p:spPr>
            <a:xfrm>
              <a:off x="8363948" y="1816418"/>
              <a:ext cx="74204" cy="264033"/>
            </a:xfrm>
            <a:prstGeom prst="rect">
              <a:avLst/>
            </a:prstGeom>
            <a:noFill/>
            <a:ln>
              <a:noFill/>
            </a:ln>
          </p:spPr>
          <p:txBody>
            <a:bodyPr wrap="none" lIns="0" tIns="0" rIns="0" bIns="0" anchor="t" anchorCtr="0">
              <a:spAutoFit/>
            </a:bodyPr>
            <a:lstStyle/>
            <a:p>
              <a:pPr algn="ctr"/>
              <a:r>
                <a:rPr lang="en-US" sz="1350" b="1" dirty="0">
                  <a:solidFill>
                    <a:srgbClr val="C0392B"/>
                  </a:solidFill>
                  <a:latin typeface="+mj-lt"/>
                  <a:ea typeface="+mj-ea"/>
                  <a:cs typeface="+mj-cs"/>
                </a:rPr>
                <a:t>!</a:t>
              </a:r>
            </a:p>
          </p:txBody>
        </p:sp>
        <p:sp>
          <p:nvSpPr>
            <p:cNvPr id="31" name="TextBox 31"/>
            <p:cNvSpPr txBox="1"/>
            <p:nvPr/>
          </p:nvSpPr>
          <p:spPr>
            <a:xfrm>
              <a:off x="8700897" y="1856899"/>
              <a:ext cx="981540" cy="190690"/>
            </a:xfrm>
            <a:prstGeom prst="rect">
              <a:avLst/>
            </a:prstGeom>
            <a:noFill/>
            <a:ln>
              <a:noFill/>
            </a:ln>
          </p:spPr>
          <p:txBody>
            <a:bodyPr wrap="none" lIns="0" tIns="0" rIns="0" bIns="0" anchor="t" anchorCtr="0">
              <a:spAutoFit/>
            </a:bodyPr>
            <a:lstStyle/>
            <a:p>
              <a:pPr algn="l"/>
              <a:r>
                <a:rPr lang="en-US" sz="980" b="1" spc="112" dirty="0">
                  <a:solidFill>
                    <a:srgbClr val="C0392B"/>
                  </a:solidFill>
                  <a:latin typeface="+mn-lt"/>
                  <a:ea typeface="+mn-ea"/>
                  <a:cs typeface="+mn-cs"/>
                </a:rPr>
                <a:t>THE PITFALL</a:t>
              </a:r>
            </a:p>
          </p:txBody>
        </p:sp>
        <p:sp>
          <p:nvSpPr>
            <p:cNvPr id="32" name="TextBox 32"/>
            <p:cNvSpPr txBox="1"/>
            <p:nvPr/>
          </p:nvSpPr>
          <p:spPr>
            <a:xfrm>
              <a:off x="8297037" y="2214086"/>
              <a:ext cx="1395074"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Correlated</a:t>
              </a:r>
            </a:p>
          </p:txBody>
        </p:sp>
        <p:sp>
          <p:nvSpPr>
            <p:cNvPr id="33" name="TextBox 33"/>
            <p:cNvSpPr txBox="1"/>
            <p:nvPr/>
          </p:nvSpPr>
          <p:spPr>
            <a:xfrm>
              <a:off x="8297037" y="2499836"/>
              <a:ext cx="2419405"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picks waste budget</a:t>
              </a:r>
            </a:p>
          </p:txBody>
        </p:sp>
        <p:sp>
          <p:nvSpPr>
            <p:cNvPr id="34" name="TextBox 34"/>
            <p:cNvSpPr txBox="1"/>
            <p:nvPr/>
          </p:nvSpPr>
          <p:spPr>
            <a:xfrm>
              <a:off x="8299704" y="3013710"/>
              <a:ext cx="206885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Pure uncertainty sampling</a:t>
              </a:r>
            </a:p>
          </p:txBody>
        </p:sp>
        <p:sp>
          <p:nvSpPr>
            <p:cNvPr id="35" name="TextBox 35"/>
            <p:cNvSpPr txBox="1"/>
            <p:nvPr/>
          </p:nvSpPr>
          <p:spPr>
            <a:xfrm>
              <a:off x="8299704" y="3261360"/>
              <a:ext cx="217688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grabs near-identical cells —</a:t>
              </a:r>
            </a:p>
          </p:txBody>
        </p:sp>
        <p:sp>
          <p:nvSpPr>
            <p:cNvPr id="36" name="TextBox 36"/>
            <p:cNvSpPr txBox="1"/>
            <p:nvPr/>
          </p:nvSpPr>
          <p:spPr>
            <a:xfrm>
              <a:off x="8299704" y="3509010"/>
              <a:ext cx="223342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often from the same table —</a:t>
              </a:r>
            </a:p>
          </p:txBody>
        </p:sp>
        <p:sp>
          <p:nvSpPr>
            <p:cNvPr id="37" name="TextBox 37"/>
            <p:cNvSpPr txBox="1"/>
            <p:nvPr/>
          </p:nvSpPr>
          <p:spPr>
            <a:xfrm>
              <a:off x="8299704" y="3756660"/>
              <a:ext cx="247573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burning the annotation budget.</a:t>
              </a:r>
            </a:p>
          </p:txBody>
        </p:sp>
      </p:grpSp>
      <p:grpSp>
        <p:nvGrpSpPr>
          <p:cNvPr id="44" name="Group 44"/>
          <p:cNvGrpSpPr/>
          <p:nvPr/>
        </p:nvGrpSpPr>
        <p:grpSpPr>
          <a:xfrm>
            <a:off x="571500" y="4914900"/>
            <a:ext cx="11228639" cy="1447800"/>
            <a:chOff x="571500" y="4914900"/>
            <a:chExt cx="11228639" cy="1447800"/>
          </a:xfrm>
        </p:grpSpPr>
        <p:sp>
          <p:nvSpPr>
            <p:cNvPr id="39" name="Rectangle 39"/>
            <p:cNvSpPr/>
            <p:nvPr/>
          </p:nvSpPr>
          <p:spPr>
            <a:xfrm>
              <a:off x="571500" y="4914900"/>
              <a:ext cx="11010900" cy="1447800"/>
            </a:xfrm>
            <a:prstGeom prst="roundRect">
              <a:avLst>
                <a:gd name="adj" fmla="val 7895"/>
              </a:avLst>
            </a:prstGeom>
            <a:solidFill>
              <a:schemeClr val="accent1"/>
            </a:solidFill>
            <a:ln>
              <a:noFill/>
            </a:ln>
          </p:spPr>
        </p:sp>
        <p:sp>
          <p:nvSpPr>
            <p:cNvPr id="40" name="Rectangle 40"/>
            <p:cNvSpPr/>
            <p:nvPr/>
          </p:nvSpPr>
          <p:spPr>
            <a:xfrm>
              <a:off x="571500" y="4914900"/>
              <a:ext cx="57150" cy="1447800"/>
            </a:xfrm>
            <a:prstGeom prst="roundRect">
              <a:avLst>
                <a:gd name="adj" fmla="val 50000"/>
              </a:avLst>
            </a:prstGeom>
            <a:solidFill>
              <a:schemeClr val="accent2"/>
            </a:solidFill>
            <a:ln>
              <a:noFill/>
            </a:ln>
          </p:spPr>
        </p:sp>
        <p:sp>
          <p:nvSpPr>
            <p:cNvPr id="41" name="TextBox 41"/>
            <p:cNvSpPr txBox="1"/>
            <p:nvPr/>
          </p:nvSpPr>
          <p:spPr>
            <a:xfrm>
              <a:off x="871347" y="5190649"/>
              <a:ext cx="2169813" cy="190690"/>
            </a:xfrm>
            <a:prstGeom prst="rect">
              <a:avLst/>
            </a:prstGeom>
            <a:noFill/>
            <a:ln>
              <a:noFill/>
            </a:ln>
          </p:spPr>
          <p:txBody>
            <a:bodyPr wrap="none" lIns="0" tIns="0" rIns="0" bIns="0" anchor="t" anchorCtr="0">
              <a:spAutoFit/>
            </a:bodyPr>
            <a:lstStyle/>
            <a:p>
              <a:pPr algn="l"/>
              <a:r>
                <a:rPr lang="en-US" sz="980" b="1" spc="150" dirty="0">
                  <a:solidFill>
                    <a:schemeClr val="accent3"/>
                  </a:solidFill>
                  <a:latin typeface="+mn-lt"/>
                  <a:ea typeface="+mn-ea"/>
                  <a:cs typeface="+mn-cs"/>
                </a:rPr>
                <a:t>THE GAP THIS WORK FILLS</a:t>
              </a:r>
            </a:p>
          </p:txBody>
        </p:sp>
        <p:sp>
          <p:nvSpPr>
            <p:cNvPr id="42" name="TextBox 42"/>
            <p:cNvSpPr txBox="1"/>
            <p:nvPr/>
          </p:nvSpPr>
          <p:spPr>
            <a:xfrm>
              <a:off x="866013" y="5496401"/>
              <a:ext cx="10934126"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No one had studied active learning together with tabular language models.</a:t>
              </a:r>
            </a:p>
          </p:txBody>
        </p:sp>
        <p:sp>
          <p:nvSpPr>
            <p:cNvPr id="43" name="TextBox 43"/>
            <p:cNvSpPr txBox="1"/>
            <p:nvPr/>
          </p:nvSpPr>
          <p:spPr>
            <a:xfrm>
              <a:off x="869823" y="5920264"/>
              <a:ext cx="7419723" cy="249364"/>
            </a:xfrm>
            <a:prstGeom prst="rect">
              <a:avLst/>
            </a:prstGeom>
            <a:noFill/>
            <a:ln>
              <a:noFill/>
            </a:ln>
          </p:spPr>
          <p:txBody>
            <a:bodyPr wrap="none" lIns="0" tIns="0" rIns="0" bIns="0" anchor="t" anchorCtr="0">
              <a:spAutoFit/>
            </a:bodyPr>
            <a:lstStyle/>
            <a:p>
              <a:pPr algn="l"/>
              <a:r>
                <a:rPr lang="en-US" sz="1280" dirty="0">
                  <a:solidFill>
                    <a:srgbClr val="CBD5E1"/>
                  </a:solidFill>
                  <a:latin typeface="+mn-lt"/>
                  <a:ea typeface="+mn-ea"/>
                  <a:cs typeface="+mn-cs"/>
                </a:rPr>
                <a:t>Despite the obvious fit, the pairing was unexplored — this paper is the first to close it.</a:t>
              </a:r>
            </a:p>
          </p:txBody>
        </p:sp>
      </p:grpSp>
      <p:grpSp>
        <p:nvGrpSpPr>
          <p:cNvPr id="47" name="Group 47"/>
          <p:cNvGrpSpPr/>
          <p:nvPr/>
        </p:nvGrpSpPr>
        <p:grpSpPr>
          <a:xfrm>
            <a:off x="566738" y="6597491"/>
            <a:ext cx="11058524" cy="161925"/>
            <a:chOff x="566738" y="6597491"/>
            <a:chExt cx="11058524" cy="161925"/>
          </a:xfrm>
        </p:grpSpPr>
        <p:sp>
          <p:nvSpPr>
            <p:cNvPr id="45" name="TextBox 45"/>
            <p:cNvSpPr txBox="1"/>
            <p:nvPr/>
          </p:nvSpPr>
          <p:spPr>
            <a:xfrm>
              <a:off x="566738" y="6597491"/>
              <a:ext cx="3678117"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Active Learning with Tabular Language Models · Ringsquandl &amp; Koleva</a:t>
              </a:r>
            </a:p>
          </p:txBody>
        </p:sp>
        <p:sp>
          <p:nvSpPr>
            <p:cNvPr id="46" name="TextBox 46"/>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03</a:t>
              </a:r>
            </a:p>
          </p:txBody>
        </p:sp>
      </p:grpSp>
      <p:sp>
        <p:nvSpPr>
          <p:cNvPr id="48" name="cue_s03_c1_active_learning_built_setting_plenti" title="cue_s03_c1_active_learning_built_setting_plenti" descr="cue_s03_c1_active_learning_built_setting_plenti Active learning is built for this setting: plentiful unlabeled data and expensive labels, squeezing the most performance from every annotation."/>
          <p:cNvSpPr/>
          <p:nvPr/>
        </p:nvSpPr>
        <p:spPr>
          <a:xfrm>
            <a:off x="571804" y="1486128"/>
            <a:ext cx="3542995" cy="31430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3_c2_but_big_transformer_models_learn" title="cue_s03_c2_but_big_transformer_models_learn" descr="cue_s03_c2_but_big_transformer_models_learn But big transformer models can't learn one example at a time; they train in batches over several epochs, so the acquisition function must choose a whole batch at once."/>
          <p:cNvSpPr/>
          <p:nvPr/>
        </p:nvSpPr>
        <p:spPr>
          <a:xfrm>
            <a:off x="4304995" y="1486128"/>
            <a:ext cx="3542995" cy="31430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3_pure_uncertainty_sampling_grabs_very" title="cue_s03_c3_pure_uncertainty_sampling_grabs_very" descr="cue_s03_c3_pure_uncertainty_sampling_grabs_very Pure uncertainty sampling grabs very similar, correlated cells, often from the same table, wasting budget."/>
          <p:cNvSpPr/>
          <p:nvPr/>
        </p:nvSpPr>
        <p:spPr>
          <a:xfrm>
            <a:off x="8039404" y="1486128"/>
            <a:ext cx="3542995" cy="31430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3_c4_yet_one_had_studied_active" title="cue_s03_c4_yet_one_had_studied_active" descr="cue_s03_c4_yet_one_had_studied_active Yet no one had studied active learning with tabular language models, the gap this work fills."/>
          <p:cNvSpPr/>
          <p:nvPr/>
        </p:nvSpPr>
        <p:spPr>
          <a:xfrm>
            <a:off x="571804" y="4915128"/>
            <a:ext cx="11228832"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166925" cy="656939"/>
            <a:chOff x="571500" y="533400"/>
            <a:chExt cx="8166925"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95127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Method: a table-aware model in an AL loop</a:t>
              </a:r>
            </a:p>
          </p:txBody>
        </p:sp>
        <p:sp>
          <p:nvSpPr>
            <p:cNvPr id="4" name="TextBox 4"/>
            <p:cNvSpPr txBox="1"/>
            <p:nvPr/>
          </p:nvSpPr>
          <p:spPr>
            <a:xfrm>
              <a:off x="795147" y="999649"/>
              <a:ext cx="442510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TABULAR LM · IO DECODER · POOL-BASED ACQUISITION</a:t>
              </a:r>
            </a:p>
          </p:txBody>
        </p:sp>
      </p:grpSp>
      <p:grpSp>
        <p:nvGrpSpPr>
          <p:cNvPr id="7" name="Group 7"/>
          <p:cNvGrpSpPr/>
          <p:nvPr/>
        </p:nvGrpSpPr>
        <p:grpSpPr>
          <a:xfrm>
            <a:off x="566547" y="1323499"/>
            <a:ext cx="1041381" cy="190690"/>
            <a:chOff x="566547" y="1323499"/>
            <a:chExt cx="1041381" cy="190690"/>
          </a:xfrm>
        </p:grpSpPr>
        <p:sp>
          <p:nvSpPr>
            <p:cNvPr id="6" name="TextBox 6"/>
            <p:cNvSpPr txBox="1"/>
            <p:nvPr/>
          </p:nvSpPr>
          <p:spPr>
            <a:xfrm>
              <a:off x="566547" y="1323499"/>
              <a:ext cx="104138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PIPELINE</a:t>
              </a:r>
            </a:p>
          </p:txBody>
        </p:sp>
      </p:grpSp>
      <p:grpSp>
        <p:nvGrpSpPr>
          <p:cNvPr id="13" name="Group 13"/>
          <p:cNvGrpSpPr/>
          <p:nvPr/>
        </p:nvGrpSpPr>
        <p:grpSpPr>
          <a:xfrm>
            <a:off x="571500" y="1543050"/>
            <a:ext cx="5295900" cy="1257300"/>
            <a:chOff x="571500" y="1543050"/>
            <a:chExt cx="5295900" cy="1257300"/>
          </a:xfrm>
        </p:grpSpPr>
        <p:sp>
          <p:nvSpPr>
            <p:cNvPr id="8" name="Rectangle 8"/>
            <p:cNvSpPr/>
            <p:nvPr/>
          </p:nvSpPr>
          <p:spPr>
            <a:xfrm>
              <a:off x="571500" y="1543050"/>
              <a:ext cx="5295900" cy="1257300"/>
            </a:xfrm>
            <a:prstGeom prst="roundRect">
              <a:avLst>
                <a:gd name="adj" fmla="val 9091"/>
              </a:avLst>
            </a:prstGeom>
            <a:solidFill>
              <a:schemeClr val="accent1"/>
            </a:solidFill>
            <a:ln>
              <a:noFill/>
            </a:ln>
          </p:spPr>
        </p:sp>
        <p:sp>
          <p:nvSpPr>
            <p:cNvPr id="9" name="TextBox 9"/>
            <p:cNvSpPr txBox="1"/>
            <p:nvPr/>
          </p:nvSpPr>
          <p:spPr>
            <a:xfrm>
              <a:off x="795338" y="1769745"/>
              <a:ext cx="2815351"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ENCODER · TABULAR LANGUAGE MODEL</a:t>
              </a:r>
            </a:p>
          </p:txBody>
        </p:sp>
        <p:sp>
          <p:nvSpPr>
            <p:cNvPr id="10" name="TextBox 10"/>
            <p:cNvSpPr txBox="1"/>
            <p:nvPr/>
          </p:nvSpPr>
          <p:spPr>
            <a:xfrm>
              <a:off x="792099" y="2001679"/>
              <a:ext cx="3630290"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j-lt"/>
                  <a:ea typeface="+mj-ea"/>
                  <a:cs typeface="+mj-cs"/>
                </a:rPr>
                <a:t>Row–column visibility attention</a:t>
              </a:r>
            </a:p>
          </p:txBody>
        </p:sp>
        <p:sp>
          <p:nvSpPr>
            <p:cNvPr id="11" name="TextBox 11"/>
            <p:cNvSpPr txBox="1"/>
            <p:nvPr/>
          </p:nvSpPr>
          <p:spPr>
            <a:xfrm>
              <a:off x="794385" y="2316956"/>
              <a:ext cx="4004429" cy="220028"/>
            </a:xfrm>
            <a:prstGeom prst="rect">
              <a:avLst/>
            </a:prstGeom>
            <a:noFill/>
            <a:ln>
              <a:noFill/>
            </a:ln>
          </p:spPr>
          <p:txBody>
            <a:bodyPr wrap="none" lIns="0" tIns="0" rIns="0" bIns="0" anchor="t" anchorCtr="0">
              <a:spAutoFit/>
            </a:bodyPr>
            <a:lstStyle/>
            <a:p>
              <a:pPr algn="l"/>
              <a:r>
                <a:rPr lang="en-US" sz="1120" dirty="0">
                  <a:solidFill>
                    <a:srgbClr val="CBD5E1"/>
                  </a:solidFill>
                  <a:latin typeface="+mn-lt"/>
                  <a:ea typeface="+mn-ea"/>
                  <a:cs typeface="+mn-cs"/>
                </a:rPr>
                <a:t>Replaces vanilla attention with a row/column mask and</a:t>
              </a:r>
            </a:p>
          </p:txBody>
        </p:sp>
        <p:sp>
          <p:nvSpPr>
            <p:cNvPr id="12" name="TextBox 12"/>
            <p:cNvSpPr txBox="1"/>
            <p:nvPr/>
          </p:nvSpPr>
          <p:spPr>
            <a:xfrm>
              <a:off x="794385" y="2526506"/>
              <a:ext cx="4195420" cy="220028"/>
            </a:xfrm>
            <a:prstGeom prst="rect">
              <a:avLst/>
            </a:prstGeom>
            <a:noFill/>
            <a:ln>
              <a:noFill/>
            </a:ln>
          </p:spPr>
          <p:txBody>
            <a:bodyPr wrap="none" lIns="0" tIns="0" rIns="0" bIns="0" anchor="t" anchorCtr="0">
              <a:spAutoFit/>
            </a:bodyPr>
            <a:lstStyle/>
            <a:p>
              <a:pPr algn="l"/>
              <a:r>
                <a:rPr lang="en-US" sz="1120" dirty="0">
                  <a:solidFill>
                    <a:srgbClr val="CBD5E1"/>
                  </a:solidFill>
                  <a:latin typeface="+mn-lt"/>
                  <a:ea typeface="+mn-ea"/>
                  <a:cs typeface="+mn-cs"/>
                </a:rPr>
                <a:t>within-cell positions — every token sees the whole table.</a:t>
              </a:r>
            </a:p>
          </p:txBody>
        </p:sp>
      </p:grpSp>
      <p:grpSp>
        <p:nvGrpSpPr>
          <p:cNvPr id="16" name="Group 16"/>
          <p:cNvGrpSpPr/>
          <p:nvPr/>
        </p:nvGrpSpPr>
        <p:grpSpPr>
          <a:xfrm>
            <a:off x="3162300" y="2800350"/>
            <a:ext cx="114300" cy="247650"/>
            <a:chOff x="3162300" y="2800350"/>
            <a:chExt cx="114300" cy="247650"/>
          </a:xfrm>
        </p:grpSpPr>
        <p:sp>
          <p:nvSpPr>
            <p:cNvPr id="14" name="Line 14"/>
            <p:cNvSpPr/>
            <p:nvPr/>
          </p:nvSpPr>
          <p:spPr>
            <a:xfrm>
              <a:off x="3219450" y="2800350"/>
              <a:ext cx="9525" cy="209550"/>
            </a:xfrm>
            <a:custGeom>
              <a:avLst/>
              <a:gdLst/>
              <a:ahLst/>
              <a:cxnLst/>
              <a:rect l="l" t="t" r="r" b="b"/>
              <a:pathLst>
                <a:path w="9525" h="209550">
                  <a:moveTo>
                    <a:pt x="0" y="0"/>
                  </a:moveTo>
                  <a:lnTo>
                    <a:pt x="0" y="209550"/>
                  </a:lnTo>
                </a:path>
              </a:pathLst>
            </a:custGeom>
            <a:noFill/>
            <a:ln w="19050">
              <a:solidFill>
                <a:srgbClr val="94A3B8"/>
              </a:solidFill>
            </a:ln>
          </p:spPr>
        </p:sp>
        <p:sp>
          <p:nvSpPr>
            <p:cNvPr id="15" name="Freeform 15"/>
            <p:cNvSpPr/>
            <p:nvPr/>
          </p:nvSpPr>
          <p:spPr>
            <a:xfrm>
              <a:off x="3162300" y="2952750"/>
              <a:ext cx="114300" cy="95250"/>
            </a:xfrm>
            <a:custGeom>
              <a:avLst/>
              <a:gdLst/>
              <a:ahLst/>
              <a:cxnLst/>
              <a:rect l="l" t="t" r="r" b="b"/>
              <a:pathLst>
                <a:path w="114300" h="95250">
                  <a:moveTo>
                    <a:pt x="0" y="0"/>
                  </a:moveTo>
                  <a:lnTo>
                    <a:pt x="57150" y="95250"/>
                  </a:lnTo>
                  <a:lnTo>
                    <a:pt x="114300" y="0"/>
                  </a:lnTo>
                  <a:close/>
                </a:path>
              </a:pathLst>
            </a:custGeom>
            <a:solidFill>
              <a:srgbClr val="94A3B8"/>
            </a:solidFill>
            <a:ln>
              <a:noFill/>
            </a:ln>
          </p:spPr>
        </p:sp>
      </p:grpSp>
      <p:grpSp>
        <p:nvGrpSpPr>
          <p:cNvPr id="30" name="Group 30"/>
          <p:cNvGrpSpPr/>
          <p:nvPr/>
        </p:nvGrpSpPr>
        <p:grpSpPr>
          <a:xfrm>
            <a:off x="571500" y="3067050"/>
            <a:ext cx="5295900" cy="1143000"/>
            <a:chOff x="571500" y="3067050"/>
            <a:chExt cx="5295900" cy="1143000"/>
          </a:xfrm>
        </p:grpSpPr>
        <p:sp>
          <p:nvSpPr>
            <p:cNvPr id="17" name="Rectangle 17"/>
            <p:cNvSpPr/>
            <p:nvPr/>
          </p:nvSpPr>
          <p:spPr>
            <a:xfrm>
              <a:off x="571500" y="3067050"/>
              <a:ext cx="5295900" cy="1143000"/>
            </a:xfrm>
            <a:prstGeom prst="roundRect">
              <a:avLst>
                <a:gd name="adj" fmla="val 10000"/>
              </a:avLst>
            </a:prstGeom>
            <a:solidFill>
              <a:schemeClr val="lt2"/>
            </a:solidFill>
            <a:ln w="9525">
              <a:solidFill>
                <a:schemeClr val="accent4"/>
              </a:solidFill>
            </a:ln>
          </p:spPr>
        </p:sp>
        <p:sp>
          <p:nvSpPr>
            <p:cNvPr id="18" name="Rectangle 18"/>
            <p:cNvSpPr/>
            <p:nvPr/>
          </p:nvSpPr>
          <p:spPr>
            <a:xfrm>
              <a:off x="571500" y="3067050"/>
              <a:ext cx="57150" cy="1143000"/>
            </a:xfrm>
            <a:prstGeom prst="roundRect">
              <a:avLst>
                <a:gd name="adj" fmla="val 50000"/>
              </a:avLst>
            </a:prstGeom>
            <a:solidFill>
              <a:schemeClr val="accent2"/>
            </a:solidFill>
            <a:ln>
              <a:noFill/>
            </a:ln>
          </p:spPr>
        </p:sp>
        <p:sp>
          <p:nvSpPr>
            <p:cNvPr id="19" name="TextBox 19"/>
            <p:cNvSpPr txBox="1"/>
            <p:nvPr/>
          </p:nvSpPr>
          <p:spPr>
            <a:xfrm>
              <a:off x="795338" y="3255645"/>
              <a:ext cx="2208982"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DECODER · IO TOKEN TAGGING</a:t>
              </a:r>
            </a:p>
          </p:txBody>
        </p:sp>
        <p:sp>
          <p:nvSpPr>
            <p:cNvPr id="20" name="TextBox 20"/>
            <p:cNvSpPr txBox="1"/>
            <p:nvPr/>
          </p:nvSpPr>
          <p:spPr>
            <a:xfrm>
              <a:off x="792480" y="3476625"/>
              <a:ext cx="1969404"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Four entity types</a:t>
              </a:r>
            </a:p>
          </p:txBody>
        </p:sp>
        <p:grpSp>
          <p:nvGrpSpPr>
            <p:cNvPr id="29" name="Group 29"/>
            <p:cNvGrpSpPr/>
            <p:nvPr/>
          </p:nvGrpSpPr>
          <p:grpSpPr>
            <a:xfrm>
              <a:off x="800100" y="3790950"/>
              <a:ext cx="4781550" cy="285750"/>
              <a:chOff x="800100" y="3790950"/>
              <a:chExt cx="4781550" cy="285750"/>
            </a:xfrm>
          </p:grpSpPr>
          <p:sp>
            <p:nvSpPr>
              <p:cNvPr id="21" name="Rectangle 21"/>
              <p:cNvSpPr/>
              <p:nvPr/>
            </p:nvSpPr>
            <p:spPr>
              <a:xfrm>
                <a:off x="800100" y="3790950"/>
                <a:ext cx="1123950" cy="285750"/>
              </a:xfrm>
              <a:prstGeom prst="roundRect">
                <a:avLst>
                  <a:gd name="adj" fmla="val 16667"/>
                </a:avLst>
              </a:prstGeom>
              <a:noFill/>
              <a:ln w="19050">
                <a:solidFill>
                  <a:srgbClr val="E08A1E"/>
                </a:solidFill>
              </a:ln>
            </p:spPr>
          </p:sp>
          <p:sp>
            <p:nvSpPr>
              <p:cNvPr id="22" name="TextBox 22"/>
              <p:cNvSpPr txBox="1"/>
              <p:nvPr/>
            </p:nvSpPr>
            <p:spPr>
              <a:xfrm>
                <a:off x="1126924" y="3876199"/>
                <a:ext cx="470302"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EQ tag</a:t>
                </a:r>
              </a:p>
            </p:txBody>
          </p:sp>
          <p:sp>
            <p:nvSpPr>
              <p:cNvPr id="23" name="Rectangle 23"/>
              <p:cNvSpPr/>
              <p:nvPr/>
            </p:nvSpPr>
            <p:spPr>
              <a:xfrm>
                <a:off x="2019300" y="3790950"/>
                <a:ext cx="1123950" cy="285750"/>
              </a:xfrm>
              <a:prstGeom prst="roundRect">
                <a:avLst>
                  <a:gd name="adj" fmla="val 16667"/>
                </a:avLst>
              </a:prstGeom>
              <a:noFill/>
              <a:ln w="19050">
                <a:solidFill>
                  <a:srgbClr val="2E9E5B"/>
                </a:solidFill>
              </a:ln>
            </p:spPr>
          </p:sp>
          <p:sp>
            <p:nvSpPr>
              <p:cNvPr id="24" name="TextBox 24"/>
              <p:cNvSpPr txBox="1"/>
              <p:nvPr/>
            </p:nvSpPr>
            <p:spPr>
              <a:xfrm>
                <a:off x="2294047" y="3876199"/>
                <a:ext cx="574457"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EQ name</a:t>
                </a:r>
              </a:p>
            </p:txBody>
          </p:sp>
          <p:sp>
            <p:nvSpPr>
              <p:cNvPr id="25" name="Rectangle 25"/>
              <p:cNvSpPr/>
              <p:nvPr/>
            </p:nvSpPr>
            <p:spPr>
              <a:xfrm>
                <a:off x="3238500" y="3790950"/>
                <a:ext cx="1123950" cy="285750"/>
              </a:xfrm>
              <a:prstGeom prst="roundRect">
                <a:avLst>
                  <a:gd name="adj" fmla="val 16667"/>
                </a:avLst>
              </a:prstGeom>
              <a:noFill/>
              <a:ln w="19050">
                <a:solidFill>
                  <a:srgbClr val="3B7DD8"/>
                </a:solidFill>
              </a:ln>
            </p:spPr>
          </p:sp>
          <p:sp>
            <p:nvSpPr>
              <p:cNvPr id="26" name="TextBox 26"/>
              <p:cNvSpPr txBox="1"/>
              <p:nvPr/>
            </p:nvSpPr>
            <p:spPr>
              <a:xfrm>
                <a:off x="3492101" y="3876199"/>
                <a:ext cx="616749"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Quantity</a:t>
                </a:r>
              </a:p>
            </p:txBody>
          </p:sp>
          <p:sp>
            <p:nvSpPr>
              <p:cNvPr id="27" name="Rectangle 27"/>
              <p:cNvSpPr/>
              <p:nvPr/>
            </p:nvSpPr>
            <p:spPr>
              <a:xfrm>
                <a:off x="4457700" y="3790950"/>
                <a:ext cx="1123950" cy="285750"/>
              </a:xfrm>
              <a:prstGeom prst="roundRect">
                <a:avLst>
                  <a:gd name="adj" fmla="val 16667"/>
                </a:avLst>
              </a:prstGeom>
              <a:noFill/>
              <a:ln w="19050">
                <a:solidFill>
                  <a:srgbClr val="9B59B6"/>
                </a:solidFill>
              </a:ln>
            </p:spPr>
          </p:sp>
          <p:sp>
            <p:nvSpPr>
              <p:cNvPr id="28" name="TextBox 28"/>
              <p:cNvSpPr txBox="1"/>
              <p:nvPr/>
            </p:nvSpPr>
            <p:spPr>
              <a:xfrm>
                <a:off x="4877750" y="3876199"/>
                <a:ext cx="283850"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Unit</a:t>
                </a:r>
              </a:p>
            </p:txBody>
          </p:sp>
        </p:grpSp>
      </p:grpSp>
      <p:grpSp>
        <p:nvGrpSpPr>
          <p:cNvPr id="33" name="Group 33"/>
          <p:cNvGrpSpPr/>
          <p:nvPr/>
        </p:nvGrpSpPr>
        <p:grpSpPr>
          <a:xfrm>
            <a:off x="3162300" y="4210050"/>
            <a:ext cx="114300" cy="247650"/>
            <a:chOff x="3162300" y="4210050"/>
            <a:chExt cx="114300" cy="247650"/>
          </a:xfrm>
        </p:grpSpPr>
        <p:sp>
          <p:nvSpPr>
            <p:cNvPr id="31" name="Line 31"/>
            <p:cNvSpPr/>
            <p:nvPr/>
          </p:nvSpPr>
          <p:spPr>
            <a:xfrm>
              <a:off x="3219450" y="4210050"/>
              <a:ext cx="9525" cy="209550"/>
            </a:xfrm>
            <a:custGeom>
              <a:avLst/>
              <a:gdLst/>
              <a:ahLst/>
              <a:cxnLst/>
              <a:rect l="l" t="t" r="r" b="b"/>
              <a:pathLst>
                <a:path w="9525" h="209550">
                  <a:moveTo>
                    <a:pt x="0" y="0"/>
                  </a:moveTo>
                  <a:lnTo>
                    <a:pt x="0" y="209550"/>
                  </a:lnTo>
                </a:path>
              </a:pathLst>
            </a:custGeom>
            <a:noFill/>
            <a:ln w="19050">
              <a:solidFill>
                <a:srgbClr val="94A3B8"/>
              </a:solidFill>
            </a:ln>
          </p:spPr>
        </p:sp>
        <p:sp>
          <p:nvSpPr>
            <p:cNvPr id="32" name="Freeform 32"/>
            <p:cNvSpPr/>
            <p:nvPr/>
          </p:nvSpPr>
          <p:spPr>
            <a:xfrm>
              <a:off x="3162300" y="4362450"/>
              <a:ext cx="114300" cy="95250"/>
            </a:xfrm>
            <a:custGeom>
              <a:avLst/>
              <a:gdLst/>
              <a:ahLst/>
              <a:cxnLst/>
              <a:rect l="l" t="t" r="r" b="b"/>
              <a:pathLst>
                <a:path w="114300" h="95250">
                  <a:moveTo>
                    <a:pt x="0" y="0"/>
                  </a:moveTo>
                  <a:lnTo>
                    <a:pt x="57150" y="95250"/>
                  </a:lnTo>
                  <a:lnTo>
                    <a:pt x="114300" y="0"/>
                  </a:lnTo>
                  <a:close/>
                </a:path>
              </a:pathLst>
            </a:custGeom>
            <a:solidFill>
              <a:srgbClr val="94A3B8"/>
            </a:solidFill>
            <a:ln>
              <a:noFill/>
            </a:ln>
          </p:spPr>
        </p:sp>
      </p:grpSp>
      <p:grpSp>
        <p:nvGrpSpPr>
          <p:cNvPr id="40" name="Group 40"/>
          <p:cNvGrpSpPr/>
          <p:nvPr/>
        </p:nvGrpSpPr>
        <p:grpSpPr>
          <a:xfrm>
            <a:off x="571500" y="4476750"/>
            <a:ext cx="5295900" cy="1165384"/>
            <a:chOff x="571500" y="4476750"/>
            <a:chExt cx="5295900" cy="1165384"/>
          </a:xfrm>
        </p:grpSpPr>
        <p:sp>
          <p:nvSpPr>
            <p:cNvPr id="34" name="Rectangle 34"/>
            <p:cNvSpPr/>
            <p:nvPr/>
          </p:nvSpPr>
          <p:spPr>
            <a:xfrm>
              <a:off x="571500" y="4476750"/>
              <a:ext cx="5295900" cy="1143000"/>
            </a:xfrm>
            <a:prstGeom prst="roundRect">
              <a:avLst>
                <a:gd name="adj" fmla="val 10000"/>
              </a:avLst>
            </a:prstGeom>
            <a:solidFill>
              <a:schemeClr val="accent5"/>
            </a:solidFill>
            <a:ln w="9525">
              <a:solidFill>
                <a:schemeClr val="accent3"/>
              </a:solidFill>
            </a:ln>
          </p:spPr>
        </p:sp>
        <p:sp>
          <p:nvSpPr>
            <p:cNvPr id="35" name="Rectangle 35"/>
            <p:cNvSpPr/>
            <p:nvPr/>
          </p:nvSpPr>
          <p:spPr>
            <a:xfrm>
              <a:off x="571500" y="4476750"/>
              <a:ext cx="57150" cy="1143000"/>
            </a:xfrm>
            <a:prstGeom prst="roundRect">
              <a:avLst>
                <a:gd name="adj" fmla="val 50000"/>
              </a:avLst>
            </a:prstGeom>
            <a:solidFill>
              <a:srgbClr val="2E9E5B"/>
            </a:solidFill>
            <a:ln>
              <a:noFill/>
            </a:ln>
          </p:spPr>
        </p:sp>
        <p:sp>
          <p:nvSpPr>
            <p:cNvPr id="36" name="TextBox 36"/>
            <p:cNvSpPr txBox="1"/>
            <p:nvPr/>
          </p:nvSpPr>
          <p:spPr>
            <a:xfrm>
              <a:off x="795338" y="4665345"/>
              <a:ext cx="2249307"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POOL-BASED ACTIVE LEARNING</a:t>
              </a:r>
            </a:p>
          </p:txBody>
        </p:sp>
        <p:sp>
          <p:nvSpPr>
            <p:cNvPr id="37" name="TextBox 37"/>
            <p:cNvSpPr txBox="1"/>
            <p:nvPr/>
          </p:nvSpPr>
          <p:spPr>
            <a:xfrm>
              <a:off x="792480" y="4905375"/>
              <a:ext cx="344749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Pick the most informative cells</a:t>
              </a:r>
            </a:p>
          </p:txBody>
        </p:sp>
        <p:sp>
          <p:nvSpPr>
            <p:cNvPr id="38" name="TextBox 38"/>
            <p:cNvSpPr txBox="1"/>
            <p:nvPr/>
          </p:nvSpPr>
          <p:spPr>
            <a:xfrm>
              <a:off x="794385" y="5231606"/>
              <a:ext cx="438883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Each round, an acquisition function selects a batch of cells</a:t>
              </a:r>
            </a:p>
          </p:txBody>
        </p:sp>
        <p:sp>
          <p:nvSpPr>
            <p:cNvPr id="39" name="TextBox 39"/>
            <p:cNvSpPr txBox="1"/>
            <p:nvPr/>
          </p:nvSpPr>
          <p:spPr>
            <a:xfrm>
              <a:off x="794385" y="5422106"/>
              <a:ext cx="415772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for the expert oracle to label, then the model retrains.</a:t>
              </a:r>
            </a:p>
          </p:txBody>
        </p:sp>
      </p:grpSp>
      <p:grpSp>
        <p:nvGrpSpPr>
          <p:cNvPr id="79" name="Group 79"/>
          <p:cNvGrpSpPr/>
          <p:nvPr/>
        </p:nvGrpSpPr>
        <p:grpSpPr>
          <a:xfrm>
            <a:off x="6191250" y="1543050"/>
            <a:ext cx="5391150" cy="4076700"/>
            <a:chOff x="6191250" y="1543050"/>
            <a:chExt cx="5391150" cy="4076700"/>
          </a:xfrm>
        </p:grpSpPr>
        <p:sp>
          <p:nvSpPr>
            <p:cNvPr id="41" name="Rectangle 41"/>
            <p:cNvSpPr/>
            <p:nvPr/>
          </p:nvSpPr>
          <p:spPr>
            <a:xfrm>
              <a:off x="6191250" y="1543050"/>
              <a:ext cx="5391150" cy="4076700"/>
            </a:xfrm>
            <a:prstGeom prst="roundRect">
              <a:avLst>
                <a:gd name="adj" fmla="val 2804"/>
              </a:avLst>
            </a:prstGeom>
            <a:solidFill>
              <a:schemeClr val="lt2"/>
            </a:solidFill>
            <a:ln w="9525">
              <a:solidFill>
                <a:schemeClr val="accent4"/>
              </a:solidFill>
            </a:ln>
          </p:spPr>
        </p:sp>
        <p:sp>
          <p:nvSpPr>
            <p:cNvPr id="42" name="TextBox 42"/>
            <p:cNvSpPr txBox="1"/>
            <p:nvPr/>
          </p:nvSpPr>
          <p:spPr>
            <a:xfrm>
              <a:off x="6414897" y="1761649"/>
              <a:ext cx="319214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FOUR ACQUISITION FUNCTIONS COMPETE</a:t>
              </a:r>
            </a:p>
          </p:txBody>
        </p:sp>
        <p:grpSp>
          <p:nvGrpSpPr>
            <p:cNvPr id="51" name="Group 51"/>
            <p:cNvGrpSpPr/>
            <p:nvPr/>
          </p:nvGrpSpPr>
          <p:grpSpPr>
            <a:xfrm>
              <a:off x="6419850" y="2038350"/>
              <a:ext cx="2476500" cy="1676400"/>
              <a:chOff x="6419850" y="2038350"/>
              <a:chExt cx="2476500" cy="1676400"/>
            </a:xfrm>
          </p:grpSpPr>
          <p:sp>
            <p:nvSpPr>
              <p:cNvPr id="43" name="Rectangle 43"/>
              <p:cNvSpPr/>
              <p:nvPr/>
            </p:nvSpPr>
            <p:spPr>
              <a:xfrm>
                <a:off x="6419850" y="2038350"/>
                <a:ext cx="2476500" cy="1676400"/>
              </a:xfrm>
              <a:prstGeom prst="roundRect">
                <a:avLst>
                  <a:gd name="adj" fmla="val 5682"/>
                </a:avLst>
              </a:prstGeom>
              <a:solidFill>
                <a:schemeClr val="lt1"/>
              </a:solidFill>
              <a:ln w="9525">
                <a:solidFill>
                  <a:schemeClr val="accent4"/>
                </a:solidFill>
              </a:ln>
            </p:spPr>
          </p:sp>
          <p:sp>
            <p:nvSpPr>
              <p:cNvPr id="44" name="Rectangle 44"/>
              <p:cNvSpPr/>
              <p:nvPr/>
            </p:nvSpPr>
            <p:spPr>
              <a:xfrm>
                <a:off x="6419850" y="2038350"/>
                <a:ext cx="2476500" cy="381000"/>
              </a:xfrm>
              <a:prstGeom prst="roundRect">
                <a:avLst>
                  <a:gd name="adj" fmla="val 25000"/>
                </a:avLst>
              </a:prstGeom>
              <a:solidFill>
                <a:srgbClr val="3B7DD8"/>
              </a:solidFill>
              <a:ln>
                <a:noFill/>
              </a:ln>
            </p:spPr>
          </p:sp>
          <p:sp>
            <p:nvSpPr>
              <p:cNvPr id="45" name="Rectangle 45"/>
              <p:cNvSpPr/>
              <p:nvPr/>
            </p:nvSpPr>
            <p:spPr>
              <a:xfrm>
                <a:off x="6419850" y="2228850"/>
                <a:ext cx="2476500" cy="190500"/>
              </a:xfrm>
              <a:prstGeom prst="rect">
                <a:avLst/>
              </a:prstGeom>
              <a:solidFill>
                <a:srgbClr val="3B7DD8"/>
              </a:solidFill>
              <a:ln>
                <a:noFill/>
              </a:ln>
            </p:spPr>
          </p:sp>
          <p:sp>
            <p:nvSpPr>
              <p:cNvPr id="46" name="TextBox 46"/>
              <p:cNvSpPr txBox="1"/>
              <p:nvPr/>
            </p:nvSpPr>
            <p:spPr>
              <a:xfrm>
                <a:off x="6565773" y="2157889"/>
                <a:ext cx="471763"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Consolas"/>
                    <a:ea typeface="Consolas"/>
                    <a:cs typeface="Consolas"/>
                  </a:rPr>
                  <a:t>MNLP</a:t>
                </a:r>
              </a:p>
            </p:txBody>
          </p:sp>
          <p:sp>
            <p:nvSpPr>
              <p:cNvPr id="47" name="TextBox 47"/>
              <p:cNvSpPr txBox="1"/>
              <p:nvPr/>
            </p:nvSpPr>
            <p:spPr>
              <a:xfrm>
                <a:off x="6566916" y="2610802"/>
                <a:ext cx="875925"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Uncertainty</a:t>
                </a:r>
              </a:p>
            </p:txBody>
          </p:sp>
          <p:sp>
            <p:nvSpPr>
              <p:cNvPr id="48" name="TextBox 48"/>
              <p:cNvSpPr txBox="1"/>
              <p:nvPr/>
            </p:nvSpPr>
            <p:spPr>
              <a:xfrm>
                <a:off x="6566916" y="2877502"/>
                <a:ext cx="173958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Score cells by normalized</a:t>
                </a:r>
              </a:p>
            </p:txBody>
          </p:sp>
          <p:sp>
            <p:nvSpPr>
              <p:cNvPr id="49" name="TextBox 49"/>
              <p:cNvSpPr txBox="1"/>
              <p:nvPr/>
            </p:nvSpPr>
            <p:spPr>
              <a:xfrm>
                <a:off x="6566916" y="3087052"/>
                <a:ext cx="174928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log-probability — pick the</a:t>
                </a:r>
              </a:p>
            </p:txBody>
          </p:sp>
          <p:sp>
            <p:nvSpPr>
              <p:cNvPr id="50" name="TextBox 50"/>
              <p:cNvSpPr txBox="1"/>
              <p:nvPr/>
            </p:nvSpPr>
            <p:spPr>
              <a:xfrm>
                <a:off x="6566916" y="3296602"/>
                <a:ext cx="150898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least confident cells.</a:t>
                </a:r>
              </a:p>
            </p:txBody>
          </p:sp>
        </p:grpSp>
        <p:grpSp>
          <p:nvGrpSpPr>
            <p:cNvPr id="60" name="Group 60"/>
            <p:cNvGrpSpPr/>
            <p:nvPr/>
          </p:nvGrpSpPr>
          <p:grpSpPr>
            <a:xfrm>
              <a:off x="8972550" y="2038350"/>
              <a:ext cx="2476500" cy="1676400"/>
              <a:chOff x="8972550" y="2038350"/>
              <a:chExt cx="2476500" cy="1676400"/>
            </a:xfrm>
          </p:grpSpPr>
          <p:sp>
            <p:nvSpPr>
              <p:cNvPr id="52" name="Rectangle 52"/>
              <p:cNvSpPr/>
              <p:nvPr/>
            </p:nvSpPr>
            <p:spPr>
              <a:xfrm>
                <a:off x="8972550" y="2038350"/>
                <a:ext cx="2476500" cy="1676400"/>
              </a:xfrm>
              <a:prstGeom prst="roundRect">
                <a:avLst>
                  <a:gd name="adj" fmla="val 5682"/>
                </a:avLst>
              </a:prstGeom>
              <a:solidFill>
                <a:schemeClr val="lt1"/>
              </a:solidFill>
              <a:ln w="9525">
                <a:solidFill>
                  <a:schemeClr val="accent4"/>
                </a:solidFill>
              </a:ln>
            </p:spPr>
          </p:sp>
          <p:sp>
            <p:nvSpPr>
              <p:cNvPr id="53" name="Rectangle 53"/>
              <p:cNvSpPr/>
              <p:nvPr/>
            </p:nvSpPr>
            <p:spPr>
              <a:xfrm>
                <a:off x="8972550" y="2038350"/>
                <a:ext cx="2476500" cy="381000"/>
              </a:xfrm>
              <a:prstGeom prst="roundRect">
                <a:avLst>
                  <a:gd name="adj" fmla="val 25000"/>
                </a:avLst>
              </a:prstGeom>
              <a:solidFill>
                <a:srgbClr val="9B59B6"/>
              </a:solidFill>
              <a:ln>
                <a:noFill/>
              </a:ln>
            </p:spPr>
          </p:sp>
          <p:sp>
            <p:nvSpPr>
              <p:cNvPr id="54" name="Rectangle 54"/>
              <p:cNvSpPr/>
              <p:nvPr/>
            </p:nvSpPr>
            <p:spPr>
              <a:xfrm>
                <a:off x="8972550" y="2228850"/>
                <a:ext cx="2476500" cy="190500"/>
              </a:xfrm>
              <a:prstGeom prst="rect">
                <a:avLst/>
              </a:prstGeom>
              <a:solidFill>
                <a:srgbClr val="9B59B6"/>
              </a:solidFill>
              <a:ln>
                <a:noFill/>
              </a:ln>
            </p:spPr>
          </p:sp>
          <p:sp>
            <p:nvSpPr>
              <p:cNvPr id="55" name="TextBox 55"/>
              <p:cNvSpPr txBox="1"/>
              <p:nvPr/>
            </p:nvSpPr>
            <p:spPr>
              <a:xfrm>
                <a:off x="9118473" y="2157889"/>
                <a:ext cx="576907"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Consolas"/>
                    <a:ea typeface="Consolas"/>
                    <a:cs typeface="Consolas"/>
                  </a:rPr>
                  <a:t>MNLP+</a:t>
                </a:r>
              </a:p>
            </p:txBody>
          </p:sp>
          <p:sp>
            <p:nvSpPr>
              <p:cNvPr id="56" name="TextBox 56"/>
              <p:cNvSpPr txBox="1"/>
              <p:nvPr/>
            </p:nvSpPr>
            <p:spPr>
              <a:xfrm>
                <a:off x="9119616" y="2610802"/>
                <a:ext cx="1209946"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Forced diversity</a:t>
                </a:r>
              </a:p>
            </p:txBody>
          </p:sp>
          <p:sp>
            <p:nvSpPr>
              <p:cNvPr id="57" name="TextBox 57"/>
              <p:cNvSpPr txBox="1"/>
              <p:nvPr/>
            </p:nvSpPr>
            <p:spPr>
              <a:xfrm>
                <a:off x="9119616" y="2877502"/>
                <a:ext cx="166987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MNLP plus a round-robin</a:t>
                </a:r>
              </a:p>
            </p:txBody>
          </p:sp>
          <p:sp>
            <p:nvSpPr>
              <p:cNvPr id="58" name="TextBox 58"/>
              <p:cNvSpPr txBox="1"/>
              <p:nvPr/>
            </p:nvSpPr>
            <p:spPr>
              <a:xfrm>
                <a:off x="9119616" y="3087052"/>
                <a:ext cx="179875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across tables to maximize</a:t>
                </a:r>
              </a:p>
            </p:txBody>
          </p:sp>
          <p:sp>
            <p:nvSpPr>
              <p:cNvPr id="59" name="TextBox 59"/>
              <p:cNvSpPr txBox="1"/>
              <p:nvPr/>
            </p:nvSpPr>
            <p:spPr>
              <a:xfrm>
                <a:off x="9119616" y="3296602"/>
                <a:ext cx="111320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table diversity.</a:t>
                </a:r>
              </a:p>
            </p:txBody>
          </p:sp>
        </p:grpSp>
        <p:grpSp>
          <p:nvGrpSpPr>
            <p:cNvPr id="69" name="Group 69"/>
            <p:cNvGrpSpPr/>
            <p:nvPr/>
          </p:nvGrpSpPr>
          <p:grpSpPr>
            <a:xfrm>
              <a:off x="6419850" y="3848100"/>
              <a:ext cx="2476500" cy="1619250"/>
              <a:chOff x="6419850" y="3848100"/>
              <a:chExt cx="2476500" cy="1619250"/>
            </a:xfrm>
          </p:grpSpPr>
          <p:sp>
            <p:nvSpPr>
              <p:cNvPr id="61" name="Rectangle 61"/>
              <p:cNvSpPr/>
              <p:nvPr/>
            </p:nvSpPr>
            <p:spPr>
              <a:xfrm>
                <a:off x="6419850" y="3848100"/>
                <a:ext cx="2476500" cy="1619250"/>
              </a:xfrm>
              <a:prstGeom prst="roundRect">
                <a:avLst>
                  <a:gd name="adj" fmla="val 5882"/>
                </a:avLst>
              </a:prstGeom>
              <a:solidFill>
                <a:schemeClr val="lt1"/>
              </a:solidFill>
              <a:ln w="19050">
                <a:solidFill>
                  <a:srgbClr val="2E9E5B"/>
                </a:solidFill>
              </a:ln>
            </p:spPr>
          </p:sp>
          <p:sp>
            <p:nvSpPr>
              <p:cNvPr id="62" name="Rectangle 62"/>
              <p:cNvSpPr/>
              <p:nvPr/>
            </p:nvSpPr>
            <p:spPr>
              <a:xfrm>
                <a:off x="6419850" y="3848100"/>
                <a:ext cx="2476500" cy="381000"/>
              </a:xfrm>
              <a:prstGeom prst="roundRect">
                <a:avLst>
                  <a:gd name="adj" fmla="val 25000"/>
                </a:avLst>
              </a:prstGeom>
              <a:solidFill>
                <a:srgbClr val="2E9E5B"/>
              </a:solidFill>
              <a:ln>
                <a:noFill/>
              </a:ln>
            </p:spPr>
          </p:sp>
          <p:sp>
            <p:nvSpPr>
              <p:cNvPr id="63" name="Rectangle 63"/>
              <p:cNvSpPr/>
              <p:nvPr/>
            </p:nvSpPr>
            <p:spPr>
              <a:xfrm>
                <a:off x="6419850" y="4038600"/>
                <a:ext cx="2476500" cy="190500"/>
              </a:xfrm>
              <a:prstGeom prst="rect">
                <a:avLst/>
              </a:prstGeom>
              <a:solidFill>
                <a:srgbClr val="2E9E5B"/>
              </a:solidFill>
              <a:ln>
                <a:noFill/>
              </a:ln>
            </p:spPr>
          </p:sp>
          <p:sp>
            <p:nvSpPr>
              <p:cNvPr id="64" name="TextBox 64"/>
              <p:cNvSpPr txBox="1"/>
              <p:nvPr/>
            </p:nvSpPr>
            <p:spPr>
              <a:xfrm>
                <a:off x="6565773" y="3967639"/>
                <a:ext cx="538673"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Consolas"/>
                    <a:ea typeface="Consolas"/>
                    <a:cs typeface="Consolas"/>
                  </a:rPr>
                  <a:t>BADGE</a:t>
                </a:r>
              </a:p>
            </p:txBody>
          </p:sp>
          <p:sp>
            <p:nvSpPr>
              <p:cNvPr id="65" name="TextBox 65"/>
              <p:cNvSpPr txBox="1"/>
              <p:nvPr/>
            </p:nvSpPr>
            <p:spPr>
              <a:xfrm>
                <a:off x="6566916" y="4420552"/>
                <a:ext cx="1418185"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Uncertain + diverse</a:t>
                </a:r>
              </a:p>
            </p:txBody>
          </p:sp>
          <p:sp>
            <p:nvSpPr>
              <p:cNvPr id="66" name="TextBox 66"/>
              <p:cNvSpPr txBox="1"/>
              <p:nvPr/>
            </p:nvSpPr>
            <p:spPr>
              <a:xfrm>
                <a:off x="6566916" y="4687252"/>
                <a:ext cx="153019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k-means++ on per-cell</a:t>
                </a:r>
              </a:p>
            </p:txBody>
          </p:sp>
          <p:sp>
            <p:nvSpPr>
              <p:cNvPr id="67" name="TextBox 67"/>
              <p:cNvSpPr txBox="1"/>
              <p:nvPr/>
            </p:nvSpPr>
            <p:spPr>
              <a:xfrm>
                <a:off x="6566916" y="4896802"/>
                <a:ext cx="180582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gradient embeddings for a</a:t>
                </a:r>
              </a:p>
            </p:txBody>
          </p:sp>
          <p:sp>
            <p:nvSpPr>
              <p:cNvPr id="68" name="TextBox 68"/>
              <p:cNvSpPr txBox="1"/>
              <p:nvPr/>
            </p:nvSpPr>
            <p:spPr>
              <a:xfrm>
                <a:off x="6566916" y="5106352"/>
                <a:ext cx="110613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balanced batch.</a:t>
                </a:r>
              </a:p>
            </p:txBody>
          </p:sp>
        </p:grpSp>
        <p:grpSp>
          <p:nvGrpSpPr>
            <p:cNvPr id="78" name="Group 78"/>
            <p:cNvGrpSpPr/>
            <p:nvPr/>
          </p:nvGrpSpPr>
          <p:grpSpPr>
            <a:xfrm>
              <a:off x="8972550" y="3848100"/>
              <a:ext cx="2476500" cy="1619250"/>
              <a:chOff x="8972550" y="3848100"/>
              <a:chExt cx="2476500" cy="1619250"/>
            </a:xfrm>
          </p:grpSpPr>
          <p:sp>
            <p:nvSpPr>
              <p:cNvPr id="70" name="Rectangle 70"/>
              <p:cNvSpPr/>
              <p:nvPr/>
            </p:nvSpPr>
            <p:spPr>
              <a:xfrm>
                <a:off x="8972550" y="3848100"/>
                <a:ext cx="2476500" cy="1619250"/>
              </a:xfrm>
              <a:prstGeom prst="roundRect">
                <a:avLst>
                  <a:gd name="adj" fmla="val 5882"/>
                </a:avLst>
              </a:prstGeom>
              <a:solidFill>
                <a:schemeClr val="lt1"/>
              </a:solidFill>
              <a:ln w="9525">
                <a:solidFill>
                  <a:schemeClr val="accent4"/>
                </a:solidFill>
              </a:ln>
            </p:spPr>
          </p:sp>
          <p:sp>
            <p:nvSpPr>
              <p:cNvPr id="71" name="Rectangle 71"/>
              <p:cNvSpPr/>
              <p:nvPr/>
            </p:nvSpPr>
            <p:spPr>
              <a:xfrm>
                <a:off x="8972550" y="3848100"/>
                <a:ext cx="2476500" cy="381000"/>
              </a:xfrm>
              <a:prstGeom prst="roundRect">
                <a:avLst>
                  <a:gd name="adj" fmla="val 25000"/>
                </a:avLst>
              </a:prstGeom>
              <a:solidFill>
                <a:srgbClr val="E23B3B"/>
              </a:solidFill>
              <a:ln>
                <a:noFill/>
              </a:ln>
            </p:spPr>
          </p:sp>
          <p:sp>
            <p:nvSpPr>
              <p:cNvPr id="72" name="Rectangle 72"/>
              <p:cNvSpPr/>
              <p:nvPr/>
            </p:nvSpPr>
            <p:spPr>
              <a:xfrm>
                <a:off x="8972550" y="4038600"/>
                <a:ext cx="2476500" cy="190500"/>
              </a:xfrm>
              <a:prstGeom prst="rect">
                <a:avLst/>
              </a:prstGeom>
              <a:solidFill>
                <a:srgbClr val="E23B3B"/>
              </a:solidFill>
              <a:ln>
                <a:noFill/>
              </a:ln>
            </p:spPr>
          </p:sp>
          <p:sp>
            <p:nvSpPr>
              <p:cNvPr id="73" name="TextBox 73"/>
              <p:cNvSpPr txBox="1"/>
              <p:nvPr/>
            </p:nvSpPr>
            <p:spPr>
              <a:xfrm>
                <a:off x="9118473" y="3967639"/>
                <a:ext cx="416631"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Consolas"/>
                    <a:ea typeface="Consolas"/>
                    <a:cs typeface="Consolas"/>
                  </a:rPr>
                  <a:t>Rand</a:t>
                </a:r>
              </a:p>
            </p:txBody>
          </p:sp>
          <p:sp>
            <p:nvSpPr>
              <p:cNvPr id="74" name="TextBox 74"/>
              <p:cNvSpPr txBox="1"/>
              <p:nvPr/>
            </p:nvSpPr>
            <p:spPr>
              <a:xfrm>
                <a:off x="9119616" y="4420552"/>
                <a:ext cx="593596"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Baseline</a:t>
                </a:r>
              </a:p>
            </p:txBody>
          </p:sp>
          <p:sp>
            <p:nvSpPr>
              <p:cNvPr id="75" name="TextBox 75"/>
              <p:cNvSpPr txBox="1"/>
              <p:nvPr/>
            </p:nvSpPr>
            <p:spPr>
              <a:xfrm>
                <a:off x="9119616" y="4687252"/>
                <a:ext cx="153449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Sample cells uniformly</a:t>
                </a:r>
              </a:p>
            </p:txBody>
          </p:sp>
          <p:sp>
            <p:nvSpPr>
              <p:cNvPr id="76" name="TextBox 76"/>
              <p:cNvSpPr txBox="1"/>
              <p:nvPr/>
            </p:nvSpPr>
            <p:spPr>
              <a:xfrm>
                <a:off x="9119616" y="4896802"/>
                <a:ext cx="165034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at random — the control</a:t>
                </a:r>
              </a:p>
            </p:txBody>
          </p:sp>
          <p:sp>
            <p:nvSpPr>
              <p:cNvPr id="77" name="TextBox 77"/>
              <p:cNvSpPr txBox="1"/>
              <p:nvPr/>
            </p:nvSpPr>
            <p:spPr>
              <a:xfrm>
                <a:off x="9119616" y="5106352"/>
                <a:ext cx="59727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to beat.</a:t>
                </a:r>
              </a:p>
            </p:txBody>
          </p:sp>
        </p:grpSp>
      </p:grpSp>
      <p:grpSp>
        <p:nvGrpSpPr>
          <p:cNvPr id="82" name="Group 82"/>
          <p:cNvGrpSpPr/>
          <p:nvPr/>
        </p:nvGrpSpPr>
        <p:grpSpPr>
          <a:xfrm>
            <a:off x="566738" y="6597491"/>
            <a:ext cx="11058524" cy="161925"/>
            <a:chOff x="566738" y="6597491"/>
            <a:chExt cx="11058524" cy="161925"/>
          </a:xfrm>
        </p:grpSpPr>
        <p:sp>
          <p:nvSpPr>
            <p:cNvPr id="80" name="TextBox 80"/>
            <p:cNvSpPr txBox="1"/>
            <p:nvPr/>
          </p:nvSpPr>
          <p:spPr>
            <a:xfrm>
              <a:off x="566738" y="6597491"/>
              <a:ext cx="3678117"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Active Learning with Tabular Language Models · Ringsquandl &amp; Koleva</a:t>
              </a:r>
            </a:p>
          </p:txBody>
        </p:sp>
        <p:sp>
          <p:nvSpPr>
            <p:cNvPr id="81" name="TextBox 81"/>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04</a:t>
              </a:r>
            </a:p>
          </p:txBody>
        </p:sp>
      </p:grpSp>
      <p:sp>
        <p:nvSpPr>
          <p:cNvPr id="83" name="cue_s04_c1_tabular_language_transformer_encoder" title="cue_s04_c1_tabular_language_transformer_encoder" descr="cue_s04_c1_tabular_language_transformer_encoder The model is a tabular language model: a transformer encoder that swaps vanilla attention for a row-column visibility matrix with within-cell positional encoding, so every token is aware of the whole table."/>
          <p:cNvSpPr/>
          <p:nvPr/>
        </p:nvSpPr>
        <p:spPr>
          <a:xfrm>
            <a:off x="571804" y="1543050"/>
            <a:ext cx="5296204"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ue_s04_c2_decoder_tags_token_over_four" title="cue_s04_c2_decoder_tags_token_over_four" descr="cue_s04_c2_decoder_tags_token_over_four A decoder tags each token over four entity types: equipment tags, equipment names, physical quantities, and units."/>
          <p:cNvSpPr/>
          <p:nvPr/>
        </p:nvSpPr>
        <p:spPr>
          <a:xfrm>
            <a:off x="571804" y="3066897"/>
            <a:ext cx="5296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ue_s04_c3_top_sits_pool_based_active_learning" title="cue_s04_c3_top_sits_pool_based_active_learning" descr="cue_s04_c3_top_sits_pool_based_active_learning On top sits pool-based active learning, repeatedly picking the most informative cells for an expert to label."/>
          <p:cNvSpPr/>
          <p:nvPr/>
        </p:nvSpPr>
        <p:spPr>
          <a:xfrm>
            <a:off x="571804" y="4476902"/>
            <a:ext cx="5296204" cy="116517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ue_s04_c4_four_acquisition_functions_compete_m" title="cue_s04_c4_four_acquisition_functions_compete_m" descr="cue_s04_c4_four_acquisition_functions_compete_m Four acquisition functions compete: MNLP scores normalized log-probability uncertainty; MNLP-plus forces round-robin table diversity; BADGE clusters per-cell gradient embeddings with k-means-plus-plus for uncertain, diverse batches; and Rand samples uniformly."/>
          <p:cNvSpPr/>
          <p:nvPr/>
        </p:nvSpPr>
        <p:spPr>
          <a:xfrm>
            <a:off x="6191097" y="1543050"/>
            <a:ext cx="5391302" cy="40763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173366" cy="656939"/>
            <a:chOff x="571500" y="533400"/>
            <a:chExt cx="8173366"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95772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 real industrial dataset — and it is sparse</a:t>
              </a:r>
            </a:p>
          </p:txBody>
        </p:sp>
        <p:sp>
          <p:nvSpPr>
            <p:cNvPr id="4" name="TextBox 4"/>
            <p:cNvSpPr txBox="1"/>
            <p:nvPr/>
          </p:nvSpPr>
          <p:spPr>
            <a:xfrm>
              <a:off x="795147" y="999649"/>
              <a:ext cx="332517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EXPERT-ANNOTATED PLANT SPREADSHEETS</a:t>
              </a:r>
            </a:p>
          </p:txBody>
        </p:sp>
      </p:grpSp>
      <p:grpSp>
        <p:nvGrpSpPr>
          <p:cNvPr id="10" name="Group 10"/>
          <p:cNvGrpSpPr/>
          <p:nvPr/>
        </p:nvGrpSpPr>
        <p:grpSpPr>
          <a:xfrm>
            <a:off x="571500" y="1428750"/>
            <a:ext cx="5943600" cy="4476750"/>
            <a:chOff x="571500" y="1428750"/>
            <a:chExt cx="5943600" cy="4476750"/>
          </a:xfrm>
        </p:grpSpPr>
        <p:sp>
          <p:nvSpPr>
            <p:cNvPr id="6" name="Rectangle 6"/>
            <p:cNvSpPr/>
            <p:nvPr/>
          </p:nvSpPr>
          <p:spPr>
            <a:xfrm>
              <a:off x="571500" y="1428750"/>
              <a:ext cx="5943600" cy="4476750"/>
            </a:xfrm>
            <a:prstGeom prst="roundRect">
              <a:avLst>
                <a:gd name="adj" fmla="val 2553"/>
              </a:avLst>
            </a:prstGeom>
            <a:solidFill>
              <a:schemeClr val="lt2"/>
            </a:solidFill>
            <a:ln w="9525">
              <a:solidFill>
                <a:schemeClr val="accent4"/>
              </a:solidFill>
            </a:ln>
          </p:spPr>
        </p:sp>
        <p:pic>
          <p:nvPicPr>
            <p:cNvPr id="7" name="Image 7"/>
            <p:cNvPicPr>
              <a:picLocks noChangeAspect="1"/>
            </p:cNvPicPr>
            <p:nvPr/>
          </p:nvPicPr>
          <p:blipFill>
            <a:blip r:embed="rId2"/>
            <a:stretch>
              <a:fillRect/>
            </a:stretch>
          </p:blipFill>
          <p:spPr>
            <a:xfrm>
              <a:off x="762000" y="1603889"/>
              <a:ext cx="5562600" cy="3669273"/>
            </a:xfrm>
            <a:prstGeom prst="rect">
              <a:avLst/>
            </a:prstGeom>
          </p:spPr>
        </p:pic>
        <p:sp>
          <p:nvSpPr>
            <p:cNvPr id="8" name="TextBox 8"/>
            <p:cNvSpPr txBox="1"/>
            <p:nvPr/>
          </p:nvSpPr>
          <p:spPr>
            <a:xfrm>
              <a:off x="757047" y="5476399"/>
              <a:ext cx="2784711"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Figure 1 · Sub-cell NER over a plant table</a:t>
              </a:r>
            </a:p>
          </p:txBody>
        </p:sp>
        <p:sp>
          <p:nvSpPr>
            <p:cNvPr id="9" name="TextBox 9"/>
            <p:cNvSpPr txBox="1"/>
            <p:nvPr/>
          </p:nvSpPr>
          <p:spPr>
            <a:xfrm>
              <a:off x="757238" y="5674995"/>
              <a:ext cx="4642235"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Color-coded spans feed the table NER model; an oracle labels the chosen cells.</a:t>
              </a:r>
            </a:p>
          </p:txBody>
        </p:sp>
      </p:grpSp>
      <p:grpSp>
        <p:nvGrpSpPr>
          <p:cNvPr id="15" name="Group 15"/>
          <p:cNvGrpSpPr/>
          <p:nvPr/>
        </p:nvGrpSpPr>
        <p:grpSpPr>
          <a:xfrm>
            <a:off x="6705600" y="1428750"/>
            <a:ext cx="4914900" cy="762000"/>
            <a:chOff x="6705600" y="1428750"/>
            <a:chExt cx="4914900" cy="762000"/>
          </a:xfrm>
        </p:grpSpPr>
        <p:sp>
          <p:nvSpPr>
            <p:cNvPr id="11" name="Rectangle 11"/>
            <p:cNvSpPr/>
            <p:nvPr/>
          </p:nvSpPr>
          <p:spPr>
            <a:xfrm>
              <a:off x="6705600" y="1428750"/>
              <a:ext cx="4914900" cy="762000"/>
            </a:xfrm>
            <a:prstGeom prst="roundRect">
              <a:avLst>
                <a:gd name="adj" fmla="val 12500"/>
              </a:avLst>
            </a:prstGeom>
            <a:solidFill>
              <a:schemeClr val="accent1"/>
            </a:solidFill>
            <a:ln>
              <a:noFill/>
            </a:ln>
          </p:spPr>
        </p:sp>
        <p:sp>
          <p:nvSpPr>
            <p:cNvPr id="12" name="Rectangle 12"/>
            <p:cNvSpPr/>
            <p:nvPr/>
          </p:nvSpPr>
          <p:spPr>
            <a:xfrm>
              <a:off x="6705600" y="1428750"/>
              <a:ext cx="57150" cy="762000"/>
            </a:xfrm>
            <a:prstGeom prst="roundRect">
              <a:avLst>
                <a:gd name="adj" fmla="val 50000"/>
              </a:avLst>
            </a:prstGeom>
            <a:solidFill>
              <a:schemeClr val="accent2"/>
            </a:solidFill>
            <a:ln>
              <a:noFill/>
            </a:ln>
          </p:spPr>
        </p:sp>
        <p:sp>
          <p:nvSpPr>
            <p:cNvPr id="13" name="TextBox 13"/>
            <p:cNvSpPr txBox="1"/>
            <p:nvPr/>
          </p:nvSpPr>
          <p:spPr>
            <a:xfrm>
              <a:off x="6967538" y="1655445"/>
              <a:ext cx="678871"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THE DATA</a:t>
              </a:r>
            </a:p>
          </p:txBody>
        </p:sp>
        <p:sp>
          <p:nvSpPr>
            <p:cNvPr id="14" name="TextBox 14"/>
            <p:cNvSpPr txBox="1"/>
            <p:nvPr/>
          </p:nvSpPr>
          <p:spPr>
            <a:xfrm>
              <a:off x="6964299" y="1849279"/>
              <a:ext cx="4600840"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j-lt"/>
                  <a:ea typeface="+mj-ea"/>
                  <a:cs typeface="+mj-cs"/>
                </a:rPr>
                <a:t>Real plants, not an academic benchmark</a:t>
              </a:r>
            </a:p>
          </p:txBody>
        </p:sp>
      </p:grpSp>
      <p:grpSp>
        <p:nvGrpSpPr>
          <p:cNvPr id="22" name="Group 22"/>
          <p:cNvGrpSpPr/>
          <p:nvPr/>
        </p:nvGrpSpPr>
        <p:grpSpPr>
          <a:xfrm>
            <a:off x="6705600" y="2324100"/>
            <a:ext cx="4914900" cy="1162050"/>
            <a:chOff x="6705600" y="2324100"/>
            <a:chExt cx="4914900" cy="1162050"/>
          </a:xfrm>
        </p:grpSpPr>
        <p:sp>
          <p:nvSpPr>
            <p:cNvPr id="16" name="Rectangle 16"/>
            <p:cNvSpPr/>
            <p:nvPr/>
          </p:nvSpPr>
          <p:spPr>
            <a:xfrm>
              <a:off x="6705600" y="2324100"/>
              <a:ext cx="4914900" cy="1162050"/>
            </a:xfrm>
            <a:prstGeom prst="roundRect">
              <a:avLst>
                <a:gd name="adj" fmla="val 8197"/>
              </a:avLst>
            </a:prstGeom>
            <a:solidFill>
              <a:schemeClr val="lt2"/>
            </a:solidFill>
            <a:ln w="9525">
              <a:solidFill>
                <a:schemeClr val="accent4"/>
              </a:solidFill>
            </a:ln>
          </p:spPr>
        </p:sp>
        <p:sp>
          <p:nvSpPr>
            <p:cNvPr id="17" name="Rectangle 17"/>
            <p:cNvSpPr/>
            <p:nvPr/>
          </p:nvSpPr>
          <p:spPr>
            <a:xfrm>
              <a:off x="6705600" y="2324100"/>
              <a:ext cx="57150" cy="1162050"/>
            </a:xfrm>
            <a:prstGeom prst="roundRect">
              <a:avLst>
                <a:gd name="adj" fmla="val 50000"/>
              </a:avLst>
            </a:prstGeom>
            <a:solidFill>
              <a:schemeClr val="accent2"/>
            </a:solidFill>
            <a:ln>
              <a:noFill/>
            </a:ln>
          </p:spPr>
        </p:sp>
        <p:sp>
          <p:nvSpPr>
            <p:cNvPr id="18" name="TextBox 18"/>
            <p:cNvSpPr txBox="1"/>
            <p:nvPr/>
          </p:nvSpPr>
          <p:spPr>
            <a:xfrm>
              <a:off x="6967538" y="2531745"/>
              <a:ext cx="912358"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ANNOTATION</a:t>
              </a:r>
            </a:p>
          </p:txBody>
        </p:sp>
        <p:sp>
          <p:nvSpPr>
            <p:cNvPr id="19" name="TextBox 19"/>
            <p:cNvSpPr txBox="1"/>
            <p:nvPr/>
          </p:nvSpPr>
          <p:spPr>
            <a:xfrm>
              <a:off x="6966204" y="2785110"/>
              <a:ext cx="277998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Spreadsheets from several plants,</a:t>
              </a:r>
            </a:p>
          </p:txBody>
        </p:sp>
        <p:sp>
          <p:nvSpPr>
            <p:cNvPr id="20" name="TextBox 20"/>
            <p:cNvSpPr txBox="1"/>
            <p:nvPr/>
          </p:nvSpPr>
          <p:spPr>
            <a:xfrm>
              <a:off x="6966204" y="3013710"/>
              <a:ext cx="319460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downsampled to at most five rows each,</a:t>
              </a:r>
            </a:p>
          </p:txBody>
        </p:sp>
        <p:sp>
          <p:nvSpPr>
            <p:cNvPr id="21" name="TextBox 21"/>
            <p:cNvSpPr txBox="1"/>
            <p:nvPr/>
          </p:nvSpPr>
          <p:spPr>
            <a:xfrm>
              <a:off x="6966204" y="3242310"/>
              <a:ext cx="330492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labeled cell-by-cell with the Prodigy tool.</a:t>
              </a:r>
            </a:p>
          </p:txBody>
        </p:sp>
      </p:grpSp>
      <p:grpSp>
        <p:nvGrpSpPr>
          <p:cNvPr id="29" name="Group 29"/>
          <p:cNvGrpSpPr/>
          <p:nvPr/>
        </p:nvGrpSpPr>
        <p:grpSpPr>
          <a:xfrm>
            <a:off x="6705600" y="3619500"/>
            <a:ext cx="2381250" cy="2286000"/>
            <a:chOff x="6705600" y="3619500"/>
            <a:chExt cx="2381250" cy="2286000"/>
          </a:xfrm>
        </p:grpSpPr>
        <p:sp>
          <p:nvSpPr>
            <p:cNvPr id="23" name="Rectangle 23"/>
            <p:cNvSpPr/>
            <p:nvPr/>
          </p:nvSpPr>
          <p:spPr>
            <a:xfrm>
              <a:off x="6705600" y="3619500"/>
              <a:ext cx="2381250" cy="2286000"/>
            </a:xfrm>
            <a:prstGeom prst="roundRect">
              <a:avLst>
                <a:gd name="adj" fmla="val 4167"/>
              </a:avLst>
            </a:prstGeom>
            <a:solidFill>
              <a:schemeClr val="accent5"/>
            </a:solidFill>
            <a:ln w="9525">
              <a:solidFill>
                <a:schemeClr val="accent3"/>
              </a:solidFill>
            </a:ln>
          </p:spPr>
        </p:sp>
        <p:sp>
          <p:nvSpPr>
            <p:cNvPr id="24" name="TextBox 24"/>
            <p:cNvSpPr txBox="1"/>
            <p:nvPr/>
          </p:nvSpPr>
          <p:spPr>
            <a:xfrm>
              <a:off x="6967538" y="3827145"/>
              <a:ext cx="735127"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 SPLIT</a:t>
              </a:r>
            </a:p>
          </p:txBody>
        </p:sp>
        <p:sp>
          <p:nvSpPr>
            <p:cNvPr id="25" name="TextBox 25"/>
            <p:cNvSpPr txBox="1"/>
            <p:nvPr/>
          </p:nvSpPr>
          <p:spPr>
            <a:xfrm>
              <a:off x="6953250" y="4150995"/>
              <a:ext cx="644496" cy="762000"/>
            </a:xfrm>
            <a:prstGeom prst="rect">
              <a:avLst/>
            </a:prstGeom>
            <a:noFill/>
            <a:ln>
              <a:noFill/>
            </a:ln>
          </p:spPr>
          <p:txBody>
            <a:bodyPr wrap="none" lIns="0" tIns="0" rIns="0" bIns="0" anchor="t" anchorCtr="0">
              <a:spAutoFit/>
            </a:bodyPr>
            <a:lstStyle/>
            <a:p>
              <a:pPr algn="l"/>
              <a:r>
                <a:rPr lang="en-US" sz="3900" b="1" dirty="0">
                  <a:solidFill>
                    <a:schemeClr val="accent1"/>
                  </a:solidFill>
                  <a:latin typeface="Consolas"/>
                  <a:ea typeface="Consolas"/>
                  <a:cs typeface="Consolas"/>
                </a:rPr>
                <a:t>55</a:t>
              </a:r>
            </a:p>
          </p:txBody>
        </p:sp>
        <p:sp>
          <p:nvSpPr>
            <p:cNvPr id="26" name="TextBox 26"/>
            <p:cNvSpPr txBox="1"/>
            <p:nvPr/>
          </p:nvSpPr>
          <p:spPr>
            <a:xfrm>
              <a:off x="6966585" y="4698206"/>
              <a:ext cx="110454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training tables</a:t>
              </a:r>
            </a:p>
          </p:txBody>
        </p:sp>
        <p:sp>
          <p:nvSpPr>
            <p:cNvPr id="27" name="TextBox 27"/>
            <p:cNvSpPr txBox="1"/>
            <p:nvPr/>
          </p:nvSpPr>
          <p:spPr>
            <a:xfrm>
              <a:off x="6957060" y="5010150"/>
              <a:ext cx="496938"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Consolas"/>
                  <a:ea typeface="Consolas"/>
                  <a:cs typeface="Consolas"/>
                </a:rPr>
                <a:t>24</a:t>
              </a:r>
            </a:p>
          </p:txBody>
        </p:sp>
        <p:sp>
          <p:nvSpPr>
            <p:cNvPr id="28" name="TextBox 28"/>
            <p:cNvSpPr txBox="1"/>
            <p:nvPr/>
          </p:nvSpPr>
          <p:spPr>
            <a:xfrm>
              <a:off x="6966585" y="5460206"/>
              <a:ext cx="84822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test tables</a:t>
              </a:r>
            </a:p>
          </p:txBody>
        </p:sp>
      </p:grpSp>
      <p:grpSp>
        <p:nvGrpSpPr>
          <p:cNvPr id="37" name="Group 37"/>
          <p:cNvGrpSpPr/>
          <p:nvPr/>
        </p:nvGrpSpPr>
        <p:grpSpPr>
          <a:xfrm>
            <a:off x="9239250" y="3619500"/>
            <a:ext cx="2381250" cy="2286000"/>
            <a:chOff x="9239250" y="3619500"/>
            <a:chExt cx="2381250" cy="2286000"/>
          </a:xfrm>
        </p:grpSpPr>
        <p:sp>
          <p:nvSpPr>
            <p:cNvPr id="30" name="Rectangle 30"/>
            <p:cNvSpPr/>
            <p:nvPr/>
          </p:nvSpPr>
          <p:spPr>
            <a:xfrm>
              <a:off x="9239250" y="3619500"/>
              <a:ext cx="2381250" cy="2286000"/>
            </a:xfrm>
            <a:prstGeom prst="roundRect">
              <a:avLst>
                <a:gd name="adj" fmla="val 4167"/>
              </a:avLst>
            </a:prstGeom>
            <a:solidFill>
              <a:srgbClr val="FBEEEC"/>
            </a:solidFill>
            <a:ln w="9525">
              <a:solidFill>
                <a:srgbClr val="E7B6AE"/>
              </a:solidFill>
            </a:ln>
          </p:spPr>
        </p:sp>
        <p:sp>
          <p:nvSpPr>
            <p:cNvPr id="31" name="TextBox 31"/>
            <p:cNvSpPr txBox="1"/>
            <p:nvPr/>
          </p:nvSpPr>
          <p:spPr>
            <a:xfrm>
              <a:off x="9501188" y="3827145"/>
              <a:ext cx="1391031" cy="176212"/>
            </a:xfrm>
            <a:prstGeom prst="rect">
              <a:avLst/>
            </a:prstGeom>
            <a:noFill/>
            <a:ln>
              <a:noFill/>
            </a:ln>
          </p:spPr>
          <p:txBody>
            <a:bodyPr wrap="none" lIns="0" tIns="0" rIns="0" bIns="0" anchor="t" anchorCtr="0">
              <a:spAutoFit/>
            </a:bodyPr>
            <a:lstStyle/>
            <a:p>
              <a:pPr algn="l"/>
              <a:r>
                <a:rPr lang="en-US" sz="900" b="1" spc="112" dirty="0">
                  <a:solidFill>
                    <a:srgbClr val="C0392B"/>
                  </a:solidFill>
                  <a:latin typeface="+mn-lt"/>
                  <a:ea typeface="+mn-ea"/>
                  <a:cs typeface="+mn-cs"/>
                </a:rPr>
                <a:t>EXTREME SPARSITY</a:t>
              </a:r>
            </a:p>
          </p:txBody>
        </p:sp>
        <p:sp>
          <p:nvSpPr>
            <p:cNvPr id="32" name="TextBox 32"/>
            <p:cNvSpPr txBox="1"/>
            <p:nvPr/>
          </p:nvSpPr>
          <p:spPr>
            <a:xfrm>
              <a:off x="9494520" y="4062412"/>
              <a:ext cx="1708471"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Consolas"/>
                  <a:ea typeface="Consolas"/>
                  <a:cs typeface="Consolas"/>
                </a:rPr>
                <a:t>4,774 cells</a:t>
              </a:r>
            </a:p>
          </p:txBody>
        </p:sp>
        <p:sp>
          <p:nvSpPr>
            <p:cNvPr id="33" name="TextBox 33"/>
            <p:cNvSpPr txBox="1"/>
            <p:nvPr/>
          </p:nvSpPr>
          <p:spPr>
            <a:xfrm>
              <a:off x="9500235" y="4450556"/>
              <a:ext cx="152671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 1,100 entity labels</a:t>
              </a:r>
            </a:p>
          </p:txBody>
        </p:sp>
        <p:sp>
          <p:nvSpPr>
            <p:cNvPr id="34" name="TextBox 34"/>
            <p:cNvSpPr txBox="1"/>
            <p:nvPr/>
          </p:nvSpPr>
          <p:spPr>
            <a:xfrm>
              <a:off x="9494520" y="4748212"/>
              <a:ext cx="722547" cy="440055"/>
            </a:xfrm>
            <a:prstGeom prst="rect">
              <a:avLst/>
            </a:prstGeom>
            <a:noFill/>
            <a:ln>
              <a:noFill/>
            </a:ln>
          </p:spPr>
          <p:txBody>
            <a:bodyPr wrap="none" lIns="0" tIns="0" rIns="0" bIns="0" anchor="t" anchorCtr="0">
              <a:spAutoFit/>
            </a:bodyPr>
            <a:lstStyle/>
            <a:p>
              <a:pPr algn="l"/>
              <a:r>
                <a:rPr lang="en-US" sz="2250" b="1" dirty="0">
                  <a:solidFill>
                    <a:srgbClr val="C0392B"/>
                  </a:solidFill>
                  <a:latin typeface="Consolas"/>
                  <a:ea typeface="Consolas"/>
                  <a:cs typeface="Consolas"/>
                </a:rPr>
                <a:t>0.23</a:t>
              </a:r>
            </a:p>
          </p:txBody>
        </p:sp>
        <p:sp>
          <p:nvSpPr>
            <p:cNvPr id="35" name="TextBox 35"/>
            <p:cNvSpPr txBox="1"/>
            <p:nvPr/>
          </p:nvSpPr>
          <p:spPr>
            <a:xfrm>
              <a:off x="9500235" y="5098256"/>
              <a:ext cx="102915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labels per cell</a:t>
              </a:r>
            </a:p>
          </p:txBody>
        </p:sp>
        <p:sp>
          <p:nvSpPr>
            <p:cNvPr id="36" name="TextBox 36"/>
            <p:cNvSpPr txBox="1"/>
            <p:nvPr/>
          </p:nvSpPr>
          <p:spPr>
            <a:xfrm>
              <a:off x="9499854" y="5509260"/>
              <a:ext cx="1878025" cy="234696"/>
            </a:xfrm>
            <a:prstGeom prst="rect">
              <a:avLst/>
            </a:prstGeom>
            <a:noFill/>
            <a:ln>
              <a:noFill/>
            </a:ln>
          </p:spPr>
          <p:txBody>
            <a:bodyPr wrap="none" lIns="0" tIns="0" rIns="0" bIns="0" anchor="t" anchorCtr="0">
              <a:spAutoFit/>
            </a:bodyPr>
            <a:lstStyle/>
            <a:p>
              <a:pPr algn="l"/>
              <a:r>
                <a:rPr lang="en-US" sz="1200" b="1" dirty="0">
                  <a:solidFill>
                    <a:srgbClr val="C0392B"/>
                  </a:solidFill>
                  <a:latin typeface="+mn-lt"/>
                  <a:ea typeface="+mn-ea"/>
                  <a:cs typeface="+mn-cs"/>
                </a:rPr>
                <a:t>77% of cells are empty</a:t>
              </a:r>
            </a:p>
          </p:txBody>
        </p:sp>
      </p:grpSp>
      <p:grpSp>
        <p:nvGrpSpPr>
          <p:cNvPr id="40" name="Group 40"/>
          <p:cNvGrpSpPr/>
          <p:nvPr/>
        </p:nvGrpSpPr>
        <p:grpSpPr>
          <a:xfrm>
            <a:off x="566738" y="6597491"/>
            <a:ext cx="11058524" cy="161925"/>
            <a:chOff x="566738" y="6597491"/>
            <a:chExt cx="11058524" cy="161925"/>
          </a:xfrm>
        </p:grpSpPr>
        <p:sp>
          <p:nvSpPr>
            <p:cNvPr id="38" name="TextBox 38"/>
            <p:cNvSpPr txBox="1"/>
            <p:nvPr/>
          </p:nvSpPr>
          <p:spPr>
            <a:xfrm>
              <a:off x="566738" y="6597491"/>
              <a:ext cx="3678117"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Active Learning with Tabular Language Models · Ringsquandl &amp; Koleva</a:t>
              </a:r>
            </a:p>
          </p:txBody>
        </p:sp>
        <p:sp>
          <p:nvSpPr>
            <p:cNvPr id="39" name="TextBox 39"/>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05</a:t>
              </a:r>
            </a:p>
          </p:txBody>
        </p:sp>
      </p:grpSp>
      <p:sp>
        <p:nvSpPr>
          <p:cNvPr id="41" name="cue_s05_c1_evaluation_real_industrial_dataset_n" title="cue_s05_c1_evaluation_real_industrial_dataset_n" descr="cue_s05_c1_evaluation_real_industrial_dataset_n Evaluation uses a real industrial dataset, not an academic benchmark."/>
          <p:cNvSpPr/>
          <p:nvPr/>
        </p:nvSpPr>
        <p:spPr>
          <a:xfrm>
            <a:off x="6705600" y="1428521"/>
            <a:ext cx="4914595" cy="761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2_spreadsheets_several_plants_downsamp" title="cue_s05_c2_spreadsheets_several_plants_downsamp" descr="cue_s05_c2_spreadsheets_several_plants_downsamp Spreadsheets from several plants were downsampled to at most five rows each, and expert annotators labeled every cell with the Prodigy span-based tool."/>
          <p:cNvSpPr/>
          <p:nvPr/>
        </p:nvSpPr>
        <p:spPr>
          <a:xfrm>
            <a:off x="6705600" y="2324176"/>
            <a:ext cx="4914595" cy="11617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5_c3_random_split_gives_55_tables" title="cue_s05_c3_random_split_gives_55_tables" descr="cue_s05_c3_random_split_gives_55_tables A random split gives 55 training tables and 24 for testing."/>
          <p:cNvSpPr/>
          <p:nvPr/>
        </p:nvSpPr>
        <p:spPr>
          <a:xfrm>
            <a:off x="6705600" y="3619652"/>
            <a:ext cx="2381097"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5_c4_set_holds_4_774_cells" title="cue_s05_c4_set_holds_4_774_cells" descr="cue_s05_c4_set_holds_4_774_cells The training set holds 4,774 cells but only about 1,100 entity labels, just 0.23 per cell, meaning roughly 77 percent of cells contain no entity, an extreme imbalance typical of industrial data."/>
          <p:cNvSpPr/>
          <p:nvPr/>
        </p:nvSpPr>
        <p:spPr>
          <a:xfrm>
            <a:off x="9239097" y="3619652"/>
            <a:ext cx="2381097"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812831" cy="656939"/>
            <a:chOff x="571500" y="533400"/>
            <a:chExt cx="8812831"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859718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Key result: BADGE beats the full-data ceiling</a:t>
              </a:r>
            </a:p>
          </p:txBody>
        </p:sp>
        <p:sp>
          <p:nvSpPr>
            <p:cNvPr id="4" name="TextBox 4"/>
            <p:cNvSpPr txBox="1"/>
            <p:nvPr/>
          </p:nvSpPr>
          <p:spPr>
            <a:xfrm>
              <a:off x="795147" y="999649"/>
              <a:ext cx="503555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FIGURE 2 · MICRO-F1 PER ITERATION, AVERAGED OVER 5 SEEDS</a:t>
              </a:r>
            </a:p>
          </p:txBody>
        </p:sp>
      </p:grpSp>
      <p:grpSp>
        <p:nvGrpSpPr>
          <p:cNvPr id="9" name="Group 9"/>
          <p:cNvGrpSpPr/>
          <p:nvPr/>
        </p:nvGrpSpPr>
        <p:grpSpPr>
          <a:xfrm>
            <a:off x="571500" y="1428750"/>
            <a:ext cx="6534150" cy="4476750"/>
            <a:chOff x="571500" y="1428750"/>
            <a:chExt cx="6534150" cy="4476750"/>
          </a:xfrm>
        </p:grpSpPr>
        <p:sp>
          <p:nvSpPr>
            <p:cNvPr id="6" name="Rectangle 6"/>
            <p:cNvSpPr/>
            <p:nvPr/>
          </p:nvSpPr>
          <p:spPr>
            <a:xfrm>
              <a:off x="571500" y="1428750"/>
              <a:ext cx="6534150" cy="4476750"/>
            </a:xfrm>
            <a:prstGeom prst="roundRect">
              <a:avLst>
                <a:gd name="adj" fmla="val 2553"/>
              </a:avLst>
            </a:prstGeom>
            <a:solidFill>
              <a:schemeClr val="lt2"/>
            </a:solidFill>
            <a:ln w="9525">
              <a:solidFill>
                <a:schemeClr val="accent4"/>
              </a:solidFill>
            </a:ln>
          </p:spPr>
        </p:sp>
        <p:pic>
          <p:nvPicPr>
            <p:cNvPr id="7" name="Image 7"/>
            <p:cNvPicPr>
              <a:picLocks noChangeAspect="1"/>
            </p:cNvPicPr>
            <p:nvPr/>
          </p:nvPicPr>
          <p:blipFill>
            <a:blip r:embed="rId2"/>
            <a:stretch>
              <a:fillRect/>
            </a:stretch>
          </p:blipFill>
          <p:spPr>
            <a:xfrm>
              <a:off x="745963" y="1581150"/>
              <a:ext cx="6185225" cy="4019550"/>
            </a:xfrm>
            <a:prstGeom prst="rect">
              <a:avLst/>
            </a:prstGeom>
          </p:spPr>
        </p:pic>
        <p:sp>
          <p:nvSpPr>
            <p:cNvPr id="8" name="TextBox 8"/>
            <p:cNvSpPr txBox="1"/>
            <p:nvPr/>
          </p:nvSpPr>
          <p:spPr>
            <a:xfrm>
              <a:off x="738188" y="5694045"/>
              <a:ext cx="5759802"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Green = BADGE · Blue = MNLP · Red = Rand · Purple = MNLP+ · Orange dashed = full-training ceiling</a:t>
              </a:r>
            </a:p>
          </p:txBody>
        </p:sp>
      </p:grpSp>
      <p:grpSp>
        <p:nvGrpSpPr>
          <p:cNvPr id="14" name="Group 14"/>
          <p:cNvGrpSpPr/>
          <p:nvPr/>
        </p:nvGrpSpPr>
        <p:grpSpPr>
          <a:xfrm>
            <a:off x="7296150" y="1428750"/>
            <a:ext cx="4324350" cy="742950"/>
            <a:chOff x="7296150" y="1428750"/>
            <a:chExt cx="4324350" cy="742950"/>
          </a:xfrm>
        </p:grpSpPr>
        <p:sp>
          <p:nvSpPr>
            <p:cNvPr id="10" name="Rectangle 10"/>
            <p:cNvSpPr/>
            <p:nvPr/>
          </p:nvSpPr>
          <p:spPr>
            <a:xfrm>
              <a:off x="7296150" y="1428750"/>
              <a:ext cx="4324350" cy="742950"/>
            </a:xfrm>
            <a:prstGeom prst="roundRect">
              <a:avLst>
                <a:gd name="adj" fmla="val 12821"/>
              </a:avLst>
            </a:prstGeom>
            <a:solidFill>
              <a:schemeClr val="accent1"/>
            </a:solidFill>
            <a:ln>
              <a:noFill/>
            </a:ln>
          </p:spPr>
        </p:sp>
        <p:sp>
          <p:nvSpPr>
            <p:cNvPr id="11" name="Rectangle 11"/>
            <p:cNvSpPr/>
            <p:nvPr/>
          </p:nvSpPr>
          <p:spPr>
            <a:xfrm>
              <a:off x="7296150" y="1428750"/>
              <a:ext cx="57150" cy="742950"/>
            </a:xfrm>
            <a:prstGeom prst="roundRect">
              <a:avLst>
                <a:gd name="adj" fmla="val 50000"/>
              </a:avLst>
            </a:prstGeom>
            <a:solidFill>
              <a:schemeClr val="accent2"/>
            </a:solidFill>
            <a:ln>
              <a:noFill/>
            </a:ln>
          </p:spPr>
        </p:sp>
        <p:sp>
          <p:nvSpPr>
            <p:cNvPr id="12" name="TextBox 12"/>
            <p:cNvSpPr txBox="1"/>
            <p:nvPr/>
          </p:nvSpPr>
          <p:spPr>
            <a:xfrm>
              <a:off x="7539038" y="1636395"/>
              <a:ext cx="1197869"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HOW TO READ IT</a:t>
              </a:r>
            </a:p>
          </p:txBody>
        </p:sp>
        <p:sp>
          <p:nvSpPr>
            <p:cNvPr id="13" name="TextBox 13"/>
            <p:cNvSpPr txBox="1"/>
            <p:nvPr/>
          </p:nvSpPr>
          <p:spPr>
            <a:xfrm>
              <a:off x="7537704" y="1870710"/>
              <a:ext cx="3610410"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Micro-F1 on held-out tables vs. labels spent.</a:t>
              </a:r>
            </a:p>
          </p:txBody>
        </p:sp>
      </p:grpSp>
      <p:grpSp>
        <p:nvGrpSpPr>
          <p:cNvPr id="21" name="Group 21"/>
          <p:cNvGrpSpPr/>
          <p:nvPr/>
        </p:nvGrpSpPr>
        <p:grpSpPr>
          <a:xfrm>
            <a:off x="7296150" y="2305050"/>
            <a:ext cx="4324350" cy="1238250"/>
            <a:chOff x="7296150" y="2305050"/>
            <a:chExt cx="4324350" cy="1238250"/>
          </a:xfrm>
        </p:grpSpPr>
        <p:sp>
          <p:nvSpPr>
            <p:cNvPr id="15" name="Rectangle 15"/>
            <p:cNvSpPr/>
            <p:nvPr/>
          </p:nvSpPr>
          <p:spPr>
            <a:xfrm>
              <a:off x="7296150" y="2305050"/>
              <a:ext cx="4324350" cy="1238250"/>
            </a:xfrm>
            <a:prstGeom prst="roundRect">
              <a:avLst>
                <a:gd name="adj" fmla="val 7692"/>
              </a:avLst>
            </a:prstGeom>
            <a:solidFill>
              <a:schemeClr val="accent5"/>
            </a:solidFill>
            <a:ln w="19050">
              <a:solidFill>
                <a:srgbClr val="2E9E5B"/>
              </a:solidFill>
            </a:ln>
          </p:spPr>
        </p:sp>
        <p:sp>
          <p:nvSpPr>
            <p:cNvPr id="16" name="Rectangle 16"/>
            <p:cNvSpPr/>
            <p:nvPr/>
          </p:nvSpPr>
          <p:spPr>
            <a:xfrm>
              <a:off x="7296150" y="2305050"/>
              <a:ext cx="57150" cy="1238250"/>
            </a:xfrm>
            <a:prstGeom prst="roundRect">
              <a:avLst>
                <a:gd name="adj" fmla="val 50000"/>
              </a:avLst>
            </a:prstGeom>
            <a:solidFill>
              <a:srgbClr val="2E9E5B"/>
            </a:solidFill>
            <a:ln>
              <a:noFill/>
            </a:ln>
          </p:spPr>
        </p:sp>
        <p:sp>
          <p:nvSpPr>
            <p:cNvPr id="17" name="TextBox 17"/>
            <p:cNvSpPr txBox="1"/>
            <p:nvPr/>
          </p:nvSpPr>
          <p:spPr>
            <a:xfrm>
              <a:off x="7539038" y="2493645"/>
              <a:ext cx="1177707" cy="176212"/>
            </a:xfrm>
            <a:prstGeom prst="rect">
              <a:avLst/>
            </a:prstGeom>
            <a:noFill/>
            <a:ln>
              <a:noFill/>
            </a:ln>
          </p:spPr>
          <p:txBody>
            <a:bodyPr wrap="none" lIns="0" tIns="0" rIns="0" bIns="0" anchor="t" anchorCtr="0">
              <a:spAutoFit/>
            </a:bodyPr>
            <a:lstStyle/>
            <a:p>
              <a:pPr algn="l"/>
              <a:r>
                <a:rPr lang="en-US" sz="900" b="1" spc="112" dirty="0">
                  <a:solidFill>
                    <a:srgbClr val="2E9E5B"/>
                  </a:solidFill>
                  <a:latin typeface="+mn-lt"/>
                  <a:ea typeface="+mn-ea"/>
                  <a:cs typeface="+mn-cs"/>
                </a:rPr>
                <a:t>WINNER · BADGE</a:t>
              </a:r>
            </a:p>
          </p:txBody>
        </p:sp>
        <p:sp>
          <p:nvSpPr>
            <p:cNvPr id="18" name="TextBox 18"/>
            <p:cNvSpPr txBox="1"/>
            <p:nvPr/>
          </p:nvSpPr>
          <p:spPr>
            <a:xfrm>
              <a:off x="7536180" y="2714625"/>
              <a:ext cx="304401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Passes the full-data ceiling</a:t>
              </a:r>
            </a:p>
          </p:txBody>
        </p:sp>
        <p:sp>
          <p:nvSpPr>
            <p:cNvPr id="19" name="TextBox 19"/>
            <p:cNvSpPr txBox="1"/>
            <p:nvPr/>
          </p:nvSpPr>
          <p:spPr>
            <a:xfrm>
              <a:off x="7538085" y="3040856"/>
              <a:ext cx="294147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Beats random and even the full-training</a:t>
              </a:r>
            </a:p>
          </p:txBody>
        </p:sp>
        <p:sp>
          <p:nvSpPr>
            <p:cNvPr id="20" name="TextBox 20"/>
            <p:cNvSpPr txBox="1"/>
            <p:nvPr/>
          </p:nvSpPr>
          <p:spPr>
            <a:xfrm>
              <a:off x="7538085" y="3269456"/>
              <a:ext cx="206776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F1 — using far fewer labels.</a:t>
              </a:r>
            </a:p>
          </p:txBody>
        </p:sp>
      </p:grpSp>
      <p:grpSp>
        <p:nvGrpSpPr>
          <p:cNvPr id="27" name="Group 27"/>
          <p:cNvGrpSpPr/>
          <p:nvPr/>
        </p:nvGrpSpPr>
        <p:grpSpPr>
          <a:xfrm>
            <a:off x="7296150" y="3676650"/>
            <a:ext cx="4324350" cy="1009650"/>
            <a:chOff x="7296150" y="3676650"/>
            <a:chExt cx="4324350" cy="1009650"/>
          </a:xfrm>
        </p:grpSpPr>
        <p:sp>
          <p:nvSpPr>
            <p:cNvPr id="22" name="Rectangle 22"/>
            <p:cNvSpPr/>
            <p:nvPr/>
          </p:nvSpPr>
          <p:spPr>
            <a:xfrm>
              <a:off x="7296150" y="3676650"/>
              <a:ext cx="4324350" cy="1009650"/>
            </a:xfrm>
            <a:prstGeom prst="roundRect">
              <a:avLst>
                <a:gd name="adj" fmla="val 9434"/>
              </a:avLst>
            </a:prstGeom>
            <a:solidFill>
              <a:schemeClr val="lt2"/>
            </a:solidFill>
            <a:ln w="14288">
              <a:solidFill>
                <a:srgbClr val="3B7DD8"/>
              </a:solidFill>
            </a:ln>
          </p:spPr>
        </p:sp>
        <p:sp>
          <p:nvSpPr>
            <p:cNvPr id="23" name="Rectangle 23"/>
            <p:cNvSpPr/>
            <p:nvPr/>
          </p:nvSpPr>
          <p:spPr>
            <a:xfrm>
              <a:off x="7296150" y="3676650"/>
              <a:ext cx="57150" cy="1009650"/>
            </a:xfrm>
            <a:prstGeom prst="roundRect">
              <a:avLst>
                <a:gd name="adj" fmla="val 50000"/>
              </a:avLst>
            </a:prstGeom>
            <a:solidFill>
              <a:srgbClr val="3B7DD8"/>
            </a:solidFill>
            <a:ln>
              <a:noFill/>
            </a:ln>
          </p:spPr>
        </p:sp>
        <p:sp>
          <p:nvSpPr>
            <p:cNvPr id="24" name="TextBox 24"/>
            <p:cNvSpPr txBox="1"/>
            <p:nvPr/>
          </p:nvSpPr>
          <p:spPr>
            <a:xfrm>
              <a:off x="7539038" y="3865245"/>
              <a:ext cx="1979727" cy="176212"/>
            </a:xfrm>
            <a:prstGeom prst="rect">
              <a:avLst/>
            </a:prstGeom>
            <a:noFill/>
            <a:ln>
              <a:noFill/>
            </a:ln>
          </p:spPr>
          <p:txBody>
            <a:bodyPr wrap="none" lIns="0" tIns="0" rIns="0" bIns="0" anchor="t" anchorCtr="0">
              <a:spAutoFit/>
            </a:bodyPr>
            <a:lstStyle/>
            <a:p>
              <a:pPr algn="l"/>
              <a:r>
                <a:rPr lang="en-US" sz="900" b="1" spc="112" dirty="0">
                  <a:solidFill>
                    <a:srgbClr val="3B7DD8"/>
                  </a:solidFill>
                  <a:latin typeface="+mn-lt"/>
                  <a:ea typeface="+mn-ea"/>
                  <a:cs typeface="+mn-cs"/>
                </a:rPr>
                <a:t>MNLP · UNCERTAINTY ONLY</a:t>
              </a:r>
            </a:p>
          </p:txBody>
        </p:sp>
        <p:sp>
          <p:nvSpPr>
            <p:cNvPr id="25" name="TextBox 25"/>
            <p:cNvSpPr txBox="1"/>
            <p:nvPr/>
          </p:nvSpPr>
          <p:spPr>
            <a:xfrm>
              <a:off x="7538085" y="4126706"/>
              <a:ext cx="313834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Only edges past random after ~500 labels,</a:t>
              </a:r>
            </a:p>
          </p:txBody>
        </p:sp>
        <p:sp>
          <p:nvSpPr>
            <p:cNvPr id="26" name="TextBox 26"/>
            <p:cNvSpPr txBox="1"/>
            <p:nvPr/>
          </p:nvSpPr>
          <p:spPr>
            <a:xfrm>
              <a:off x="7538085" y="4355306"/>
              <a:ext cx="239366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with noticeably higher variance.</a:t>
              </a:r>
            </a:p>
          </p:txBody>
        </p:sp>
      </p:grpSp>
      <p:grpSp>
        <p:nvGrpSpPr>
          <p:cNvPr id="34" name="Group 34"/>
          <p:cNvGrpSpPr/>
          <p:nvPr/>
        </p:nvGrpSpPr>
        <p:grpSpPr>
          <a:xfrm>
            <a:off x="7296150" y="4819650"/>
            <a:ext cx="4324350" cy="1146334"/>
            <a:chOff x="7296150" y="4819650"/>
            <a:chExt cx="4324350" cy="1146334"/>
          </a:xfrm>
        </p:grpSpPr>
        <p:sp>
          <p:nvSpPr>
            <p:cNvPr id="28" name="Rectangle 28"/>
            <p:cNvSpPr/>
            <p:nvPr/>
          </p:nvSpPr>
          <p:spPr>
            <a:xfrm>
              <a:off x="7296150" y="4819650"/>
              <a:ext cx="4324350" cy="1085850"/>
            </a:xfrm>
            <a:prstGeom prst="roundRect">
              <a:avLst>
                <a:gd name="adj" fmla="val 8772"/>
              </a:avLst>
            </a:prstGeom>
            <a:solidFill>
              <a:srgbClr val="FBEEEC"/>
            </a:solidFill>
            <a:ln w="14288">
              <a:solidFill>
                <a:srgbClr val="9B59B6"/>
              </a:solidFill>
            </a:ln>
          </p:spPr>
        </p:sp>
        <p:sp>
          <p:nvSpPr>
            <p:cNvPr id="29" name="Rectangle 29"/>
            <p:cNvSpPr/>
            <p:nvPr/>
          </p:nvSpPr>
          <p:spPr>
            <a:xfrm>
              <a:off x="7296150" y="4819650"/>
              <a:ext cx="57150" cy="1085850"/>
            </a:xfrm>
            <a:prstGeom prst="roundRect">
              <a:avLst>
                <a:gd name="adj" fmla="val 50000"/>
              </a:avLst>
            </a:prstGeom>
            <a:solidFill>
              <a:srgbClr val="9B59B6"/>
            </a:solidFill>
            <a:ln>
              <a:noFill/>
            </a:ln>
          </p:spPr>
        </p:sp>
        <p:sp>
          <p:nvSpPr>
            <p:cNvPr id="30" name="TextBox 30"/>
            <p:cNvSpPr txBox="1"/>
            <p:nvPr/>
          </p:nvSpPr>
          <p:spPr>
            <a:xfrm>
              <a:off x="7539038" y="5008245"/>
              <a:ext cx="2035983" cy="176212"/>
            </a:xfrm>
            <a:prstGeom prst="rect">
              <a:avLst/>
            </a:prstGeom>
            <a:noFill/>
            <a:ln>
              <a:noFill/>
            </a:ln>
          </p:spPr>
          <p:txBody>
            <a:bodyPr wrap="none" lIns="0" tIns="0" rIns="0" bIns="0" anchor="t" anchorCtr="0">
              <a:spAutoFit/>
            </a:bodyPr>
            <a:lstStyle/>
            <a:p>
              <a:pPr algn="l"/>
              <a:r>
                <a:rPr lang="en-US" sz="900" b="1" spc="112" dirty="0">
                  <a:solidFill>
                    <a:srgbClr val="9B59B6"/>
                  </a:solidFill>
                  <a:latin typeface="+mn-lt"/>
                  <a:ea typeface="+mn-ea"/>
                  <a:cs typeface="+mn-cs"/>
                </a:rPr>
                <a:t>MNLP+ · FORCED DIVERSITY</a:t>
              </a:r>
            </a:p>
          </p:txBody>
        </p:sp>
        <p:sp>
          <p:nvSpPr>
            <p:cNvPr id="31" name="TextBox 31"/>
            <p:cNvSpPr txBox="1"/>
            <p:nvPr/>
          </p:nvSpPr>
          <p:spPr>
            <a:xfrm>
              <a:off x="7536180" y="5229225"/>
              <a:ext cx="1342446" cy="293370"/>
            </a:xfrm>
            <a:prstGeom prst="rect">
              <a:avLst/>
            </a:prstGeom>
            <a:noFill/>
            <a:ln>
              <a:noFill/>
            </a:ln>
          </p:spPr>
          <p:txBody>
            <a:bodyPr wrap="none" lIns="0" tIns="0" rIns="0" bIns="0" anchor="t" anchorCtr="0">
              <a:spAutoFit/>
            </a:bodyPr>
            <a:lstStyle/>
            <a:p>
              <a:pPr algn="l"/>
              <a:r>
                <a:rPr lang="en-US" sz="1500" b="1" dirty="0">
                  <a:solidFill>
                    <a:srgbClr val="C0392B"/>
                  </a:solidFill>
                  <a:latin typeface="+mj-lt"/>
                  <a:ea typeface="+mj-ea"/>
                  <a:cs typeface="+mj-cs"/>
                </a:rPr>
                <a:t>Worst of all</a:t>
              </a:r>
            </a:p>
          </p:txBody>
        </p:sp>
        <p:sp>
          <p:nvSpPr>
            <p:cNvPr id="32" name="TextBox 32"/>
            <p:cNvSpPr txBox="1"/>
            <p:nvPr/>
          </p:nvSpPr>
          <p:spPr>
            <a:xfrm>
              <a:off x="7538085" y="5555456"/>
              <a:ext cx="301655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Maximizing table diversity drops it below</a:t>
              </a:r>
            </a:p>
          </p:txBody>
        </p:sp>
        <p:sp>
          <p:nvSpPr>
            <p:cNvPr id="33" name="TextBox 33"/>
            <p:cNvSpPr txBox="1"/>
            <p:nvPr/>
          </p:nvSpPr>
          <p:spPr>
            <a:xfrm>
              <a:off x="7538085" y="5745956"/>
              <a:ext cx="166241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even random sampling.</a:t>
              </a:r>
            </a:p>
          </p:txBody>
        </p:sp>
      </p:grpSp>
      <p:grpSp>
        <p:nvGrpSpPr>
          <p:cNvPr id="37" name="Group 37"/>
          <p:cNvGrpSpPr/>
          <p:nvPr/>
        </p:nvGrpSpPr>
        <p:grpSpPr>
          <a:xfrm>
            <a:off x="566738" y="6597491"/>
            <a:ext cx="11058524" cy="161925"/>
            <a:chOff x="566738" y="6597491"/>
            <a:chExt cx="11058524" cy="161925"/>
          </a:xfrm>
        </p:grpSpPr>
        <p:sp>
          <p:nvSpPr>
            <p:cNvPr id="35" name="TextBox 35"/>
            <p:cNvSpPr txBox="1"/>
            <p:nvPr/>
          </p:nvSpPr>
          <p:spPr>
            <a:xfrm>
              <a:off x="566738" y="6597491"/>
              <a:ext cx="3678117"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Active Learning with Tabular Language Models · Ringsquandl &amp; Koleva</a:t>
              </a:r>
            </a:p>
          </p:txBody>
        </p:sp>
        <p:sp>
          <p:nvSpPr>
            <p:cNvPr id="36" name="TextBox 36"/>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06</a:t>
              </a:r>
            </a:p>
          </p:txBody>
        </p:sp>
      </p:grpSp>
      <p:sp>
        <p:nvSpPr>
          <p:cNvPr id="38" name="cue_s06_c1_performance_micro_averaged_1_held_ou" title="cue_s06_c1_performance_micro_averaged_1_held_ou" descr="cue_s06_c1_performance_micro_averaged_1_held_ou Performance is micro-averaged F1 on the held-out test set across active learning iterations."/>
          <p:cNvSpPr/>
          <p:nvPr/>
        </p:nvSpPr>
        <p:spPr>
          <a:xfrm>
            <a:off x="7295692" y="1428521"/>
            <a:ext cx="4324502" cy="7427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6_c2_badge_standout_beats_random_selectio" title="cue_s06_c2_badge_standout_beats_random_selectio" descr="cue_s06_c2_badge_standout_beats_random_selectio BADGE is the standout: it beats random selection and even surpasses the ceiling from training on the full dataset, using far fewer labels."/>
          <p:cNvSpPr/>
          <p:nvPr/>
        </p:nvSpPr>
        <p:spPr>
          <a:xfrm>
            <a:off x="7295692" y="2304973"/>
            <a:ext cx="4324502" cy="12385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6_c3_pure_uncertainty_sampling_mnlp_disap" title="cue_s06_c3_pure_uncertainty_sampling_mnlp_disap" descr="cue_s06_c3_pure_uncertainty_sampling_mnlp_disap Pure uncertainty sampling with MNLP disappoints, edging past random only after around 500 labels, and with high variance."/>
          <p:cNvSpPr/>
          <p:nvPr/>
        </p:nvSpPr>
        <p:spPr>
          <a:xfrm>
            <a:off x="7295692" y="3676573"/>
            <a:ext cx="4324502"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6_c4_most_striking_mnlp_plus_which_forces" title="cue_s06_c4_most_striking_mnlp_plus_which_forces" descr="cue_s06_c4_most_striking_mnlp_plus_which_forces Most striking, MNLP-plus, which forces maximum table diversity, is the worst of all."/>
          <p:cNvSpPr/>
          <p:nvPr/>
        </p:nvSpPr>
        <p:spPr>
          <a:xfrm>
            <a:off x="7295692" y="4819802"/>
            <a:ext cx="4324502" cy="114665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582144" cy="656939"/>
            <a:chOff x="571500" y="533400"/>
            <a:chExt cx="7582144"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366498"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Ablation: the right amount of diversity</a:t>
              </a:r>
            </a:p>
          </p:txBody>
        </p:sp>
        <p:sp>
          <p:nvSpPr>
            <p:cNvPr id="4" name="TextBox 4"/>
            <p:cNvSpPr txBox="1"/>
            <p:nvPr/>
          </p:nvSpPr>
          <p:spPr>
            <a:xfrm>
              <a:off x="795147" y="999649"/>
              <a:ext cx="332776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DISTINCT TABLES SAMPLED PER ITERATION</a:t>
              </a:r>
            </a:p>
          </p:txBody>
        </p:sp>
      </p:grpSp>
      <p:grpSp>
        <p:nvGrpSpPr>
          <p:cNvPr id="14" name="Group 14"/>
          <p:cNvGrpSpPr/>
          <p:nvPr/>
        </p:nvGrpSpPr>
        <p:grpSpPr>
          <a:xfrm>
            <a:off x="571500" y="1485900"/>
            <a:ext cx="4095750" cy="1870234"/>
            <a:chOff x="571500" y="1485900"/>
            <a:chExt cx="4095750" cy="1870234"/>
          </a:xfrm>
        </p:grpSpPr>
        <p:sp>
          <p:nvSpPr>
            <p:cNvPr id="6" name="Rectangle 6"/>
            <p:cNvSpPr/>
            <p:nvPr/>
          </p:nvSpPr>
          <p:spPr>
            <a:xfrm>
              <a:off x="571500" y="1485900"/>
              <a:ext cx="4095750" cy="1866900"/>
            </a:xfrm>
            <a:prstGeom prst="roundRect">
              <a:avLst>
                <a:gd name="adj" fmla="val 6122"/>
              </a:avLst>
            </a:prstGeom>
            <a:solidFill>
              <a:schemeClr val="accent1"/>
            </a:solidFill>
            <a:ln>
              <a:noFill/>
            </a:ln>
          </p:spPr>
        </p:sp>
        <p:sp>
          <p:nvSpPr>
            <p:cNvPr id="7" name="Rectangle 7"/>
            <p:cNvSpPr/>
            <p:nvPr/>
          </p:nvSpPr>
          <p:spPr>
            <a:xfrm>
              <a:off x="571500" y="1485900"/>
              <a:ext cx="57150" cy="1866900"/>
            </a:xfrm>
            <a:prstGeom prst="roundRect">
              <a:avLst>
                <a:gd name="adj" fmla="val 50000"/>
              </a:avLst>
            </a:prstGeom>
            <a:solidFill>
              <a:schemeClr val="accent2"/>
            </a:solidFill>
            <a:ln>
              <a:noFill/>
            </a:ln>
          </p:spPr>
        </p:sp>
        <p:sp>
          <p:nvSpPr>
            <p:cNvPr id="8" name="TextBox 8"/>
            <p:cNvSpPr txBox="1"/>
            <p:nvPr/>
          </p:nvSpPr>
          <p:spPr>
            <a:xfrm>
              <a:off x="814388" y="1712595"/>
              <a:ext cx="1031591" cy="176212"/>
            </a:xfrm>
            <a:prstGeom prst="rect">
              <a:avLst/>
            </a:prstGeom>
            <a:noFill/>
            <a:ln>
              <a:noFill/>
            </a:ln>
          </p:spPr>
          <p:txBody>
            <a:bodyPr wrap="none" lIns="0" tIns="0" rIns="0" bIns="0" anchor="t" anchorCtr="0">
              <a:spAutoFit/>
            </a:bodyPr>
            <a:lstStyle/>
            <a:p>
              <a:pPr algn="l"/>
              <a:r>
                <a:rPr lang="en-US" sz="900" b="1" spc="112" dirty="0">
                  <a:solidFill>
                    <a:schemeClr val="accent3"/>
                  </a:solidFill>
                  <a:latin typeface="+mn-lt"/>
                  <a:ea typeface="+mn-ea"/>
                  <a:cs typeface="+mn-cs"/>
                </a:rPr>
                <a:t>THE ABLATION</a:t>
              </a:r>
            </a:p>
          </p:txBody>
        </p:sp>
        <p:sp>
          <p:nvSpPr>
            <p:cNvPr id="9" name="TextBox 9"/>
            <p:cNvSpPr txBox="1"/>
            <p:nvPr/>
          </p:nvSpPr>
          <p:spPr>
            <a:xfrm>
              <a:off x="810006" y="1977390"/>
              <a:ext cx="221807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Four functions =</a:t>
              </a:r>
            </a:p>
          </p:txBody>
        </p:sp>
        <p:sp>
          <p:nvSpPr>
            <p:cNvPr id="10" name="TextBox 10"/>
            <p:cNvSpPr txBox="1"/>
            <p:nvPr/>
          </p:nvSpPr>
          <p:spPr>
            <a:xfrm>
              <a:off x="810006" y="2263140"/>
              <a:ext cx="1980773"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a diversity dial</a:t>
              </a:r>
            </a:p>
          </p:txBody>
        </p:sp>
        <p:sp>
          <p:nvSpPr>
            <p:cNvPr id="11" name="TextBox 11"/>
            <p:cNvSpPr txBox="1"/>
            <p:nvPr/>
          </p:nvSpPr>
          <p:spPr>
            <a:xfrm>
              <a:off x="813435" y="2717006"/>
              <a:ext cx="2828507" cy="220028"/>
            </a:xfrm>
            <a:prstGeom prst="rect">
              <a:avLst/>
            </a:prstGeom>
            <a:noFill/>
            <a:ln>
              <a:noFill/>
            </a:ln>
          </p:spPr>
          <p:txBody>
            <a:bodyPr wrap="none" lIns="0" tIns="0" rIns="0" bIns="0" anchor="t" anchorCtr="0">
              <a:spAutoFit/>
            </a:bodyPr>
            <a:lstStyle/>
            <a:p>
              <a:pPr algn="l"/>
              <a:r>
                <a:rPr lang="en-US" sz="1120" dirty="0">
                  <a:solidFill>
                    <a:srgbClr val="CBD5E1"/>
                  </a:solidFill>
                  <a:latin typeface="+mn-lt"/>
                  <a:ea typeface="+mn-ea"/>
                  <a:cs typeface="+mn-cs"/>
                </a:rPr>
                <a:t>The methods differ mainly in how much</a:t>
              </a:r>
            </a:p>
          </p:txBody>
        </p:sp>
        <p:sp>
          <p:nvSpPr>
            <p:cNvPr id="12" name="TextBox 12"/>
            <p:cNvSpPr txBox="1"/>
            <p:nvPr/>
          </p:nvSpPr>
          <p:spPr>
            <a:xfrm>
              <a:off x="813435" y="2926556"/>
              <a:ext cx="2657521" cy="220028"/>
            </a:xfrm>
            <a:prstGeom prst="rect">
              <a:avLst/>
            </a:prstGeom>
            <a:noFill/>
            <a:ln>
              <a:noFill/>
            </a:ln>
          </p:spPr>
          <p:txBody>
            <a:bodyPr wrap="none" lIns="0" tIns="0" rIns="0" bIns="0" anchor="t" anchorCtr="0">
              <a:spAutoFit/>
            </a:bodyPr>
            <a:lstStyle/>
            <a:p>
              <a:pPr algn="l"/>
              <a:r>
                <a:rPr lang="en-US" sz="1120" dirty="0">
                  <a:solidFill>
                    <a:srgbClr val="CBD5E1"/>
                  </a:solidFill>
                  <a:latin typeface="+mn-lt"/>
                  <a:ea typeface="+mn-ea"/>
                  <a:cs typeface="+mn-cs"/>
                </a:rPr>
                <a:t>diversity they force — and the right</a:t>
              </a:r>
            </a:p>
          </p:txBody>
        </p:sp>
        <p:sp>
          <p:nvSpPr>
            <p:cNvPr id="13" name="TextBox 13"/>
            <p:cNvSpPr txBox="1"/>
            <p:nvPr/>
          </p:nvSpPr>
          <p:spPr>
            <a:xfrm>
              <a:off x="813435" y="3136106"/>
              <a:ext cx="2144888" cy="220028"/>
            </a:xfrm>
            <a:prstGeom prst="rect">
              <a:avLst/>
            </a:prstGeom>
            <a:noFill/>
            <a:ln>
              <a:noFill/>
            </a:ln>
          </p:spPr>
          <p:txBody>
            <a:bodyPr wrap="none" lIns="0" tIns="0" rIns="0" bIns="0" anchor="t" anchorCtr="0">
              <a:spAutoFit/>
            </a:bodyPr>
            <a:lstStyle/>
            <a:p>
              <a:pPr algn="l"/>
              <a:r>
                <a:rPr lang="en-US" sz="1120" dirty="0">
                  <a:solidFill>
                    <a:srgbClr val="CBD5E1"/>
                  </a:solidFill>
                  <a:latin typeface="+mn-lt"/>
                  <a:ea typeface="+mn-ea"/>
                  <a:cs typeface="+mn-cs"/>
                </a:rPr>
                <a:t>amount matters enormously.</a:t>
              </a:r>
            </a:p>
          </p:txBody>
        </p:sp>
      </p:grpSp>
      <p:grpSp>
        <p:nvGrpSpPr>
          <p:cNvPr id="21" name="Group 21"/>
          <p:cNvGrpSpPr/>
          <p:nvPr/>
        </p:nvGrpSpPr>
        <p:grpSpPr>
          <a:xfrm>
            <a:off x="571500" y="3505200"/>
            <a:ext cx="4095750" cy="1619250"/>
            <a:chOff x="571500" y="3505200"/>
            <a:chExt cx="4095750" cy="1619250"/>
          </a:xfrm>
        </p:grpSpPr>
        <p:sp>
          <p:nvSpPr>
            <p:cNvPr id="15" name="Rectangle 15"/>
            <p:cNvSpPr/>
            <p:nvPr/>
          </p:nvSpPr>
          <p:spPr>
            <a:xfrm>
              <a:off x="571500" y="3505200"/>
              <a:ext cx="4095750" cy="1619250"/>
            </a:xfrm>
            <a:prstGeom prst="roundRect">
              <a:avLst>
                <a:gd name="adj" fmla="val 7059"/>
              </a:avLst>
            </a:prstGeom>
            <a:solidFill>
              <a:schemeClr val="lt2"/>
            </a:solidFill>
            <a:ln w="9525">
              <a:solidFill>
                <a:schemeClr val="accent4"/>
              </a:solidFill>
            </a:ln>
          </p:spPr>
        </p:sp>
        <p:sp>
          <p:nvSpPr>
            <p:cNvPr id="16" name="Rectangle 16"/>
            <p:cNvSpPr/>
            <p:nvPr/>
          </p:nvSpPr>
          <p:spPr>
            <a:xfrm>
              <a:off x="571500" y="3505200"/>
              <a:ext cx="57150" cy="1619250"/>
            </a:xfrm>
            <a:prstGeom prst="roundRect">
              <a:avLst>
                <a:gd name="adj" fmla="val 50000"/>
              </a:avLst>
            </a:prstGeom>
            <a:solidFill>
              <a:schemeClr val="accent2"/>
            </a:solidFill>
            <a:ln>
              <a:noFill/>
            </a:ln>
          </p:spPr>
        </p:sp>
        <p:sp>
          <p:nvSpPr>
            <p:cNvPr id="17" name="TextBox 17"/>
            <p:cNvSpPr txBox="1"/>
            <p:nvPr/>
          </p:nvSpPr>
          <p:spPr>
            <a:xfrm>
              <a:off x="814388" y="3712845"/>
              <a:ext cx="1262995"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HELPS vs. HURTS</a:t>
              </a:r>
            </a:p>
          </p:txBody>
        </p:sp>
        <p:sp>
          <p:nvSpPr>
            <p:cNvPr id="18" name="TextBox 18"/>
            <p:cNvSpPr txBox="1"/>
            <p:nvPr/>
          </p:nvSpPr>
          <p:spPr>
            <a:xfrm>
              <a:off x="813054" y="4004310"/>
              <a:ext cx="3252474" cy="234696"/>
            </a:xfrm>
            <a:prstGeom prst="rect">
              <a:avLst/>
            </a:prstGeom>
            <a:noFill/>
            <a:ln>
              <a:noFill/>
            </a:ln>
          </p:spPr>
          <p:txBody>
            <a:bodyPr wrap="none" lIns="0" tIns="0" rIns="0" bIns="0" anchor="t" anchorCtr="0">
              <a:spAutoFit/>
            </a:bodyPr>
            <a:lstStyle/>
            <a:p>
              <a:pPr algn="l" marL="129540" indent="-129540">
                <a:buClr>
                  <a:schemeClr val="dk1"/>
                </a:buClr>
                <a:buSzTx/>
                <a:buFontTx/>
                <a:buChar char="•"/>
              </a:pPr>
              <a:r>
                <a:rPr lang="en-US" sz="1200" b="1" dirty="0">
                  <a:solidFill>
                    <a:srgbClr val="2E9E5B"/>
                  </a:solidFill>
                  <a:latin typeface="+mn-lt"/>
                  <a:ea typeface="+mn-ea"/>
                  <a:cs typeface="+mn-cs"/>
                </a:rPr>
                <a:t>BADGE</a:t>
              </a:r>
              <a:r>
                <a:rPr lang="en-US" sz="1200" dirty="0">
                  <a:solidFill>
                    <a:schemeClr val="dk1"/>
                  </a:solidFill>
                  <a:latin typeface="+mn-lt"/>
                  <a:ea typeface="+mn-ea"/>
                  <a:cs typeface="+mn-cs"/>
                </a:rPr>
                <a:t>'s built-in batch diversity helps.</a:t>
              </a:r>
            </a:p>
          </p:txBody>
        </p:sp>
        <p:sp>
          <p:nvSpPr>
            <p:cNvPr id="19" name="TextBox 19"/>
            <p:cNvSpPr txBox="1"/>
            <p:nvPr/>
          </p:nvSpPr>
          <p:spPr>
            <a:xfrm>
              <a:off x="813054" y="4309110"/>
              <a:ext cx="2918747" cy="234696"/>
            </a:xfrm>
            <a:prstGeom prst="rect">
              <a:avLst/>
            </a:prstGeom>
            <a:noFill/>
            <a:ln>
              <a:noFill/>
            </a:ln>
          </p:spPr>
          <p:txBody>
            <a:bodyPr wrap="none" lIns="0" tIns="0" rIns="0" bIns="0" anchor="t" anchorCtr="0">
              <a:spAutoFit/>
            </a:bodyPr>
            <a:lstStyle/>
            <a:p>
              <a:pPr algn="l" marL="129540" indent="-129540">
                <a:buClr>
                  <a:schemeClr val="dk1"/>
                </a:buClr>
                <a:buSzTx/>
                <a:buFontTx/>
                <a:buChar char="•"/>
              </a:pPr>
              <a:r>
                <a:rPr lang="en-US" sz="1200" b="1" dirty="0">
                  <a:solidFill>
                    <a:srgbClr val="9B59B6"/>
                  </a:solidFill>
                  <a:latin typeface="+mn-lt"/>
                  <a:ea typeface="+mn-ea"/>
                  <a:cs typeface="+mn-cs"/>
                </a:rPr>
                <a:t>MNLP+</a:t>
              </a:r>
              <a:r>
                <a:rPr lang="en-US" sz="1200" dirty="0">
                  <a:solidFill>
                    <a:schemeClr val="dk1"/>
                  </a:solidFill>
                  <a:latin typeface="+mn-lt"/>
                  <a:ea typeface="+mn-ea"/>
                  <a:cs typeface="+mn-cs"/>
                </a:rPr>
                <a:t>'s forced maximum diversity</a:t>
              </a:r>
            </a:p>
          </p:txBody>
        </p:sp>
        <p:sp>
          <p:nvSpPr>
            <p:cNvPr id="20" name="TextBox 20"/>
            <p:cNvSpPr txBox="1"/>
            <p:nvPr/>
          </p:nvSpPr>
          <p:spPr>
            <a:xfrm>
              <a:off x="1022604" y="4537710"/>
              <a:ext cx="249997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hurts — dropping below random.</a:t>
              </a:r>
            </a:p>
          </p:txBody>
        </p:sp>
      </p:grpSp>
      <p:grpSp>
        <p:nvGrpSpPr>
          <p:cNvPr id="41" name="Group 41"/>
          <p:cNvGrpSpPr/>
          <p:nvPr/>
        </p:nvGrpSpPr>
        <p:grpSpPr>
          <a:xfrm>
            <a:off x="4953000" y="1485900"/>
            <a:ext cx="6629400" cy="3638550"/>
            <a:chOff x="4953000" y="1485900"/>
            <a:chExt cx="6629400" cy="3638550"/>
          </a:xfrm>
        </p:grpSpPr>
        <p:sp>
          <p:nvSpPr>
            <p:cNvPr id="22" name="Rectangle 22"/>
            <p:cNvSpPr/>
            <p:nvPr/>
          </p:nvSpPr>
          <p:spPr>
            <a:xfrm>
              <a:off x="4953000" y="1485900"/>
              <a:ext cx="6629400" cy="3638550"/>
            </a:xfrm>
            <a:prstGeom prst="roundRect">
              <a:avLst>
                <a:gd name="adj" fmla="val 3141"/>
              </a:avLst>
            </a:prstGeom>
            <a:solidFill>
              <a:schemeClr val="lt2"/>
            </a:solidFill>
            <a:ln w="9525">
              <a:solidFill>
                <a:schemeClr val="accent4"/>
              </a:solidFill>
            </a:ln>
          </p:spPr>
        </p:sp>
        <p:sp>
          <p:nvSpPr>
            <p:cNvPr id="23" name="TextBox 23"/>
            <p:cNvSpPr txBox="1"/>
            <p:nvPr/>
          </p:nvSpPr>
          <p:spPr>
            <a:xfrm>
              <a:off x="5195888" y="1712595"/>
              <a:ext cx="2831282"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TABLES DRAWN FROM · PER ITERATION</a:t>
              </a:r>
            </a:p>
          </p:txBody>
        </p:sp>
        <p:sp>
          <p:nvSpPr>
            <p:cNvPr id="24" name="Line 24"/>
            <p:cNvSpPr/>
            <p:nvPr/>
          </p:nvSpPr>
          <p:spPr>
            <a:xfrm>
              <a:off x="5334000" y="4476750"/>
              <a:ext cx="5905500" cy="9525"/>
            </a:xfrm>
            <a:custGeom>
              <a:avLst/>
              <a:gdLst/>
              <a:ahLst/>
              <a:cxnLst/>
              <a:rect l="l" t="t" r="r" b="b"/>
              <a:pathLst>
                <a:path w="5905500" h="9525">
                  <a:moveTo>
                    <a:pt x="0" y="0"/>
                  </a:moveTo>
                  <a:lnTo>
                    <a:pt x="5905500" y="0"/>
                  </a:lnTo>
                </a:path>
              </a:pathLst>
            </a:custGeom>
            <a:noFill/>
            <a:ln w="14288">
              <a:solidFill>
                <a:srgbClr val="94A3B8"/>
              </a:solidFill>
            </a:ln>
          </p:spPr>
        </p:sp>
        <p:sp>
          <p:nvSpPr>
            <p:cNvPr id="25" name="TextBox 25"/>
            <p:cNvSpPr txBox="1"/>
            <p:nvPr/>
          </p:nvSpPr>
          <p:spPr>
            <a:xfrm>
              <a:off x="5195888" y="2101691"/>
              <a:ext cx="274457"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many</a:t>
              </a:r>
            </a:p>
          </p:txBody>
        </p:sp>
        <p:sp>
          <p:nvSpPr>
            <p:cNvPr id="26" name="TextBox 26"/>
            <p:cNvSpPr txBox="1"/>
            <p:nvPr/>
          </p:nvSpPr>
          <p:spPr>
            <a:xfrm>
              <a:off x="5195888" y="4349591"/>
              <a:ext cx="213744"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few</a:t>
              </a:r>
            </a:p>
          </p:txBody>
        </p:sp>
        <p:grpSp>
          <p:nvGrpSpPr>
            <p:cNvPr id="30" name="Group 30"/>
            <p:cNvGrpSpPr/>
            <p:nvPr/>
          </p:nvGrpSpPr>
          <p:grpSpPr>
            <a:xfrm>
              <a:off x="5715000" y="3307556"/>
              <a:ext cx="1238250" cy="1483233"/>
              <a:chOff x="5715000" y="3307556"/>
              <a:chExt cx="1238250" cy="1483233"/>
            </a:xfrm>
          </p:grpSpPr>
          <p:sp>
            <p:nvSpPr>
              <p:cNvPr id="27" name="Rectangle 27"/>
              <p:cNvSpPr/>
              <p:nvPr/>
            </p:nvSpPr>
            <p:spPr>
              <a:xfrm>
                <a:off x="5715000" y="3600450"/>
                <a:ext cx="1238250" cy="876300"/>
              </a:xfrm>
              <a:prstGeom prst="rect">
                <a:avLst/>
              </a:prstGeom>
              <a:solidFill>
                <a:srgbClr val="3B7DD8"/>
              </a:solidFill>
              <a:ln>
                <a:noFill/>
              </a:ln>
            </p:spPr>
          </p:sp>
          <p:sp>
            <p:nvSpPr>
              <p:cNvPr id="28" name="TextBox 28"/>
              <p:cNvSpPr txBox="1"/>
              <p:nvPr/>
            </p:nvSpPr>
            <p:spPr>
              <a:xfrm>
                <a:off x="6127681" y="3307556"/>
                <a:ext cx="412888"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Consolas"/>
                    <a:ea typeface="Consolas"/>
                    <a:cs typeface="Consolas"/>
                  </a:rPr>
                  <a:t>MNLP</a:t>
                </a:r>
              </a:p>
            </p:txBody>
          </p:sp>
          <p:sp>
            <p:nvSpPr>
              <p:cNvPr id="29" name="TextBox 29"/>
              <p:cNvSpPr txBox="1"/>
              <p:nvPr/>
            </p:nvSpPr>
            <p:spPr>
              <a:xfrm>
                <a:off x="5801462" y="4600099"/>
                <a:ext cx="106532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fixates on a few</a:t>
                </a:r>
              </a:p>
            </p:txBody>
          </p:sp>
        </p:grpSp>
        <p:grpSp>
          <p:nvGrpSpPr>
            <p:cNvPr id="35" name="Group 35"/>
            <p:cNvGrpSpPr/>
            <p:nvPr/>
          </p:nvGrpSpPr>
          <p:grpSpPr>
            <a:xfrm>
              <a:off x="7667625" y="2857500"/>
              <a:ext cx="1238250" cy="1933289"/>
              <a:chOff x="7667625" y="2857500"/>
              <a:chExt cx="1238250" cy="1933289"/>
            </a:xfrm>
          </p:grpSpPr>
          <p:sp>
            <p:nvSpPr>
              <p:cNvPr id="31" name="Rectangle 31"/>
              <p:cNvSpPr/>
              <p:nvPr/>
            </p:nvSpPr>
            <p:spPr>
              <a:xfrm>
                <a:off x="7667625" y="2857500"/>
                <a:ext cx="1238250" cy="1619250"/>
              </a:xfrm>
              <a:prstGeom prst="rect">
                <a:avLst/>
              </a:prstGeom>
              <a:solidFill>
                <a:srgbClr val="2E9E5B"/>
              </a:solidFill>
              <a:ln>
                <a:noFill/>
              </a:ln>
            </p:spPr>
          </p:sp>
          <p:sp>
            <p:nvSpPr>
              <p:cNvPr id="32" name="Rectangle 32"/>
              <p:cNvSpPr/>
              <p:nvPr/>
            </p:nvSpPr>
            <p:spPr>
              <a:xfrm>
                <a:off x="7667625" y="2857500"/>
                <a:ext cx="1238250" cy="1619250"/>
              </a:xfrm>
              <a:prstGeom prst="rect">
                <a:avLst/>
              </a:prstGeom>
              <a:noFill/>
              <a:ln w="19050">
                <a:solidFill>
                  <a:schemeClr val="accent1"/>
                </a:solidFill>
              </a:ln>
            </p:spPr>
          </p:sp>
          <p:sp>
            <p:nvSpPr>
              <p:cNvPr id="33" name="TextBox 33"/>
              <p:cNvSpPr txBox="1"/>
              <p:nvPr/>
            </p:nvSpPr>
            <p:spPr>
              <a:xfrm>
                <a:off x="8051033" y="3307556"/>
                <a:ext cx="471434"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Consolas"/>
                    <a:ea typeface="Consolas"/>
                    <a:cs typeface="Consolas"/>
                  </a:rPr>
                  <a:t>BADGE</a:t>
                </a:r>
              </a:p>
            </p:txBody>
          </p:sp>
          <p:sp>
            <p:nvSpPr>
              <p:cNvPr id="34" name="TextBox 34"/>
              <p:cNvSpPr txBox="1"/>
              <p:nvPr/>
            </p:nvSpPr>
            <p:spPr>
              <a:xfrm>
                <a:off x="7904319" y="4600099"/>
                <a:ext cx="764862" cy="190690"/>
              </a:xfrm>
              <a:prstGeom prst="rect">
                <a:avLst/>
              </a:prstGeom>
              <a:noFill/>
              <a:ln>
                <a:noFill/>
              </a:ln>
            </p:spPr>
            <p:txBody>
              <a:bodyPr wrap="none" lIns="0" tIns="0" rIns="0" bIns="0" anchor="t" anchorCtr="0">
                <a:spAutoFit/>
              </a:bodyPr>
              <a:lstStyle/>
              <a:p>
                <a:pPr algn="ctr"/>
                <a:r>
                  <a:rPr lang="en-US" sz="980" b="1" dirty="0">
                    <a:solidFill>
                      <a:srgbClr val="2E9E5B"/>
                    </a:solidFill>
                    <a:latin typeface="+mn-lt"/>
                    <a:ea typeface="+mn-ea"/>
                    <a:cs typeface="+mn-cs"/>
                  </a:rPr>
                  <a:t>balanced ✓</a:t>
                </a:r>
              </a:p>
            </p:txBody>
          </p:sp>
        </p:grpSp>
        <p:grpSp>
          <p:nvGrpSpPr>
            <p:cNvPr id="39" name="Group 39"/>
            <p:cNvGrpSpPr/>
            <p:nvPr/>
          </p:nvGrpSpPr>
          <p:grpSpPr>
            <a:xfrm>
              <a:off x="9620250" y="2000250"/>
              <a:ext cx="1238250" cy="2790539"/>
              <a:chOff x="9620250" y="2000250"/>
              <a:chExt cx="1238250" cy="2790539"/>
            </a:xfrm>
          </p:grpSpPr>
          <p:sp>
            <p:nvSpPr>
              <p:cNvPr id="36" name="Rectangle 36"/>
              <p:cNvSpPr/>
              <p:nvPr/>
            </p:nvSpPr>
            <p:spPr>
              <a:xfrm>
                <a:off x="9620250" y="2000250"/>
                <a:ext cx="1238250" cy="2476500"/>
              </a:xfrm>
              <a:prstGeom prst="rect">
                <a:avLst/>
              </a:prstGeom>
              <a:solidFill>
                <a:srgbClr val="9B59B6"/>
              </a:solidFill>
              <a:ln>
                <a:noFill/>
              </a:ln>
            </p:spPr>
          </p:sp>
          <p:sp>
            <p:nvSpPr>
              <p:cNvPr id="37" name="TextBox 37"/>
              <p:cNvSpPr txBox="1"/>
              <p:nvPr/>
            </p:nvSpPr>
            <p:spPr>
              <a:xfrm>
                <a:off x="9986930" y="3307556"/>
                <a:ext cx="504889"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Consolas"/>
                    <a:ea typeface="Consolas"/>
                    <a:cs typeface="Consolas"/>
                  </a:rPr>
                  <a:t>MNLP+</a:t>
                </a:r>
              </a:p>
            </p:txBody>
          </p:sp>
          <p:sp>
            <p:nvSpPr>
              <p:cNvPr id="38" name="TextBox 38"/>
              <p:cNvSpPr txBox="1"/>
              <p:nvPr/>
            </p:nvSpPr>
            <p:spPr>
              <a:xfrm>
                <a:off x="9723203" y="4600099"/>
                <a:ext cx="1032345"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spreads too far</a:t>
                </a:r>
              </a:p>
            </p:txBody>
          </p:sp>
        </p:grpSp>
        <p:sp>
          <p:nvSpPr>
            <p:cNvPr id="40" name="TextBox 40"/>
            <p:cNvSpPr txBox="1"/>
            <p:nvPr/>
          </p:nvSpPr>
          <p:spPr>
            <a:xfrm>
              <a:off x="7904319" y="2618899"/>
              <a:ext cx="764862"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sweet spot</a:t>
              </a:r>
            </a:p>
          </p:txBody>
        </p:sp>
      </p:grpSp>
      <p:grpSp>
        <p:nvGrpSpPr>
          <p:cNvPr id="47" name="Group 47"/>
          <p:cNvGrpSpPr/>
          <p:nvPr/>
        </p:nvGrpSpPr>
        <p:grpSpPr>
          <a:xfrm>
            <a:off x="571500" y="5295900"/>
            <a:ext cx="11010900" cy="1066800"/>
            <a:chOff x="571500" y="5295900"/>
            <a:chExt cx="11010900" cy="1066800"/>
          </a:xfrm>
        </p:grpSpPr>
        <p:sp>
          <p:nvSpPr>
            <p:cNvPr id="42" name="Rectangle 42"/>
            <p:cNvSpPr/>
            <p:nvPr/>
          </p:nvSpPr>
          <p:spPr>
            <a:xfrm>
              <a:off x="571500" y="5295900"/>
              <a:ext cx="11010900" cy="1066800"/>
            </a:xfrm>
            <a:prstGeom prst="roundRect">
              <a:avLst>
                <a:gd name="adj" fmla="val 10714"/>
              </a:avLst>
            </a:prstGeom>
            <a:solidFill>
              <a:schemeClr val="accent5"/>
            </a:solidFill>
            <a:ln w="9525">
              <a:solidFill>
                <a:schemeClr val="accent3"/>
              </a:solidFill>
            </a:ln>
          </p:spPr>
        </p:sp>
        <p:sp>
          <p:nvSpPr>
            <p:cNvPr id="43" name="Rectangle 43"/>
            <p:cNvSpPr/>
            <p:nvPr/>
          </p:nvSpPr>
          <p:spPr>
            <a:xfrm>
              <a:off x="571500" y="5295900"/>
              <a:ext cx="57150" cy="1066800"/>
            </a:xfrm>
            <a:prstGeom prst="roundRect">
              <a:avLst>
                <a:gd name="adj" fmla="val 50000"/>
              </a:avLst>
            </a:prstGeom>
            <a:solidFill>
              <a:srgbClr val="2E9E5B"/>
            </a:solidFill>
            <a:ln>
              <a:noFill/>
            </a:ln>
          </p:spPr>
        </p:sp>
        <p:sp>
          <p:nvSpPr>
            <p:cNvPr id="44" name="TextBox 44"/>
            <p:cNvSpPr txBox="1"/>
            <p:nvPr/>
          </p:nvSpPr>
          <p:spPr>
            <a:xfrm>
              <a:off x="871347" y="5533549"/>
              <a:ext cx="95097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LESSON</a:t>
              </a:r>
            </a:p>
          </p:txBody>
        </p:sp>
        <p:sp>
          <p:nvSpPr>
            <p:cNvPr id="45" name="TextBox 45"/>
            <p:cNvSpPr txBox="1"/>
            <p:nvPr/>
          </p:nvSpPr>
          <p:spPr>
            <a:xfrm>
              <a:off x="867156" y="5787390"/>
              <a:ext cx="947632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Not maximum diversity — a careful trade-off with per-cell uncertainty.</a:t>
              </a:r>
            </a:p>
          </p:txBody>
        </p:sp>
        <p:sp>
          <p:nvSpPr>
            <p:cNvPr id="46" name="TextBox 46"/>
            <p:cNvSpPr txBox="1"/>
            <p:nvPr/>
          </p:nvSpPr>
          <p:spPr>
            <a:xfrm>
              <a:off x="870585" y="6126956"/>
              <a:ext cx="502821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BADGE sits in the middle of the dial, and that is exactly why it wins.</a:t>
              </a:r>
            </a:p>
          </p:txBody>
        </p:sp>
      </p:grpSp>
      <p:grpSp>
        <p:nvGrpSpPr>
          <p:cNvPr id="50" name="Group 50"/>
          <p:cNvGrpSpPr/>
          <p:nvPr/>
        </p:nvGrpSpPr>
        <p:grpSpPr>
          <a:xfrm>
            <a:off x="566738" y="6597491"/>
            <a:ext cx="11058524" cy="161925"/>
            <a:chOff x="566738" y="6597491"/>
            <a:chExt cx="11058524" cy="161925"/>
          </a:xfrm>
        </p:grpSpPr>
        <p:sp>
          <p:nvSpPr>
            <p:cNvPr id="48" name="TextBox 48"/>
            <p:cNvSpPr txBox="1"/>
            <p:nvPr/>
          </p:nvSpPr>
          <p:spPr>
            <a:xfrm>
              <a:off x="566738" y="6597491"/>
              <a:ext cx="3678117"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Active Learning with Tabular Language Models · Ringsquandl &amp; Koleva</a:t>
              </a:r>
            </a:p>
          </p:txBody>
        </p:sp>
        <p:sp>
          <p:nvSpPr>
            <p:cNvPr id="49" name="TextBox 49"/>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07</a:t>
              </a:r>
            </a:p>
          </p:txBody>
        </p:sp>
      </p:grpSp>
      <p:sp>
        <p:nvSpPr>
          <p:cNvPr id="51" name="cue_s07_c1_four_acquisition_functions_effective" title="cue_s07_c1_four_acquisition_functions_effective" descr="cue_s07_c1_four_acquisition_functions_effective The four acquisition functions effectively ablate diversity, and the lesson is that the right amount matters enormously."/>
          <p:cNvSpPr/>
          <p:nvPr/>
        </p:nvSpPr>
        <p:spPr>
          <a:xfrm>
            <a:off x="571804" y="1486128"/>
            <a:ext cx="4095292" cy="1870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2_badge_built_in_batch_diversity_helps" title="cue_s07_c2_badge_built_in_batch_diversity_helps" descr="cue_s07_c2_badge_built_in_batch_diversity_helps BADGE's built-in batch diversity helps, but MNLP-plus's forced maximum diversity hurts, falling below even random."/>
          <p:cNvSpPr/>
          <p:nvPr/>
        </p:nvSpPr>
        <p:spPr>
          <a:xfrm>
            <a:off x="571804" y="3505123"/>
            <a:ext cx="4095292"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7_c3_tracking_how_many_distinct_tables" title="cue_s07_c3_tracking_how_many_distinct_tables" descr="cue_s07_c3_tracking_how_many_distinct_tables Tracking how many distinct tables each method draws from explains why: MNLP fixates on a few tables, MNLP-plus spreads across as many as possible, and BADGE lands in between."/>
          <p:cNvSpPr/>
          <p:nvPr/>
        </p:nvSpPr>
        <p:spPr>
          <a:xfrm>
            <a:off x="4952390" y="1486128"/>
            <a:ext cx="6628790" cy="36388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7_c4_goal_isn_maximum_diversity_but" title="cue_s07_c4_goal_isn_maximum_diversity_but" descr="cue_s07_c4_goal_isn_maximum_diversity_but The goal isn't maximum diversity but a careful trade-off with per-cell uncertainty."/>
          <p:cNvSpPr/>
          <p:nvPr/>
        </p:nvSpPr>
        <p:spPr>
          <a:xfrm>
            <a:off x="571804" y="5295747"/>
            <a:ext cx="11010595"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973171" cy="656939"/>
            <a:chOff x="571500" y="533400"/>
            <a:chExt cx="6973171"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75752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Takeaway: balance beats maximizing</a:t>
              </a:r>
            </a:p>
          </p:txBody>
        </p:sp>
        <p:sp>
          <p:nvSpPr>
            <p:cNvPr id="4" name="TextBox 4"/>
            <p:cNvSpPr txBox="1"/>
            <p:nvPr/>
          </p:nvSpPr>
          <p:spPr>
            <a:xfrm>
              <a:off x="795147" y="999649"/>
              <a:ext cx="375739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WHAT TO REMEMBER — AND WHAT IS STILL OPEN</a:t>
              </a:r>
            </a:p>
          </p:txBody>
        </p:sp>
      </p:grpSp>
      <p:grpSp>
        <p:nvGrpSpPr>
          <p:cNvPr id="11" name="Group 11"/>
          <p:cNvGrpSpPr/>
          <p:nvPr/>
        </p:nvGrpSpPr>
        <p:grpSpPr>
          <a:xfrm>
            <a:off x="571500" y="1428750"/>
            <a:ext cx="11010900" cy="1257300"/>
            <a:chOff x="571500" y="1428750"/>
            <a:chExt cx="11010900" cy="1257300"/>
          </a:xfrm>
        </p:grpSpPr>
        <p:sp>
          <p:nvSpPr>
            <p:cNvPr id="6" name="Rectangle 6"/>
            <p:cNvSpPr/>
            <p:nvPr/>
          </p:nvSpPr>
          <p:spPr>
            <a:xfrm>
              <a:off x="571500" y="1428750"/>
              <a:ext cx="11010900" cy="1257300"/>
            </a:xfrm>
            <a:prstGeom prst="roundRect">
              <a:avLst>
                <a:gd name="adj" fmla="val 9091"/>
              </a:avLst>
            </a:prstGeom>
            <a:solidFill>
              <a:schemeClr val="accent1"/>
            </a:solidFill>
            <a:ln>
              <a:noFill/>
            </a:ln>
          </p:spPr>
        </p:sp>
        <p:sp>
          <p:nvSpPr>
            <p:cNvPr id="7" name="Rectangle 7"/>
            <p:cNvSpPr/>
            <p:nvPr/>
          </p:nvSpPr>
          <p:spPr>
            <a:xfrm>
              <a:off x="571500" y="1428750"/>
              <a:ext cx="57150" cy="1257300"/>
            </a:xfrm>
            <a:prstGeom prst="roundRect">
              <a:avLst>
                <a:gd name="adj" fmla="val 50000"/>
              </a:avLst>
            </a:prstGeom>
            <a:solidFill>
              <a:schemeClr val="accent2"/>
            </a:solidFill>
            <a:ln>
              <a:noFill/>
            </a:ln>
          </p:spPr>
        </p:sp>
        <p:sp>
          <p:nvSpPr>
            <p:cNvPr id="8" name="TextBox 8"/>
            <p:cNvSpPr txBox="1"/>
            <p:nvPr/>
          </p:nvSpPr>
          <p:spPr>
            <a:xfrm>
              <a:off x="871347" y="1685449"/>
              <a:ext cx="1842967" cy="190690"/>
            </a:xfrm>
            <a:prstGeom prst="rect">
              <a:avLst/>
            </a:prstGeom>
            <a:noFill/>
            <a:ln>
              <a:noFill/>
            </a:ln>
          </p:spPr>
          <p:txBody>
            <a:bodyPr wrap="none" lIns="0" tIns="0" rIns="0" bIns="0" anchor="t" anchorCtr="0">
              <a:spAutoFit/>
            </a:bodyPr>
            <a:lstStyle/>
            <a:p>
              <a:pPr algn="l"/>
              <a:r>
                <a:rPr lang="en-US" sz="980" b="1" spc="150" dirty="0">
                  <a:solidFill>
                    <a:schemeClr val="accent3"/>
                  </a:solidFill>
                  <a:latin typeface="+mn-lt"/>
                  <a:ea typeface="+mn-ea"/>
                  <a:cs typeface="+mn-cs"/>
                </a:rPr>
                <a:t>THE LASTING MESSAGE</a:t>
              </a:r>
            </a:p>
          </p:txBody>
        </p:sp>
        <p:sp>
          <p:nvSpPr>
            <p:cNvPr id="9" name="TextBox 9"/>
            <p:cNvSpPr txBox="1"/>
            <p:nvPr/>
          </p:nvSpPr>
          <p:spPr>
            <a:xfrm>
              <a:off x="865632" y="1945005"/>
              <a:ext cx="9327567"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j-lt"/>
                  <a:ea typeface="+mj-ea"/>
                  <a:cs typeface="+mj-cs"/>
                </a:rPr>
                <a:t>Active learning can slash the expert-labeling cost of tabular</a:t>
              </a:r>
            </a:p>
          </p:txBody>
        </p:sp>
        <p:sp>
          <p:nvSpPr>
            <p:cNvPr id="10" name="TextBox 10"/>
            <p:cNvSpPr txBox="1"/>
            <p:nvPr/>
          </p:nvSpPr>
          <p:spPr>
            <a:xfrm>
              <a:off x="865632" y="2268855"/>
              <a:ext cx="9179601"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j-lt"/>
                  <a:ea typeface="+mj-ea"/>
                  <a:cs typeface="+mj-cs"/>
                </a:rPr>
                <a:t>language models — but only if diversity is handled with care.</a:t>
              </a:r>
            </a:p>
          </p:txBody>
        </p:sp>
      </p:grpSp>
      <p:grpSp>
        <p:nvGrpSpPr>
          <p:cNvPr id="19" name="Group 19"/>
          <p:cNvGrpSpPr/>
          <p:nvPr/>
        </p:nvGrpSpPr>
        <p:grpSpPr>
          <a:xfrm>
            <a:off x="571500" y="2838450"/>
            <a:ext cx="5391150" cy="1866900"/>
            <a:chOff x="571500" y="2838450"/>
            <a:chExt cx="5391150" cy="1866900"/>
          </a:xfrm>
        </p:grpSpPr>
        <p:sp>
          <p:nvSpPr>
            <p:cNvPr id="12" name="Rectangle 12"/>
            <p:cNvSpPr/>
            <p:nvPr/>
          </p:nvSpPr>
          <p:spPr>
            <a:xfrm>
              <a:off x="571500" y="2838450"/>
              <a:ext cx="5391150" cy="1866900"/>
            </a:xfrm>
            <a:prstGeom prst="roundRect">
              <a:avLst>
                <a:gd name="adj" fmla="val 6122"/>
              </a:avLst>
            </a:prstGeom>
            <a:solidFill>
              <a:schemeClr val="accent5"/>
            </a:solidFill>
            <a:ln w="19050">
              <a:solidFill>
                <a:srgbClr val="2E9E5B"/>
              </a:solidFill>
            </a:ln>
          </p:spPr>
        </p:sp>
        <p:sp>
          <p:nvSpPr>
            <p:cNvPr id="13" name="Rectangle 13"/>
            <p:cNvSpPr/>
            <p:nvPr/>
          </p:nvSpPr>
          <p:spPr>
            <a:xfrm>
              <a:off x="571500" y="2838450"/>
              <a:ext cx="57150" cy="1866900"/>
            </a:xfrm>
            <a:prstGeom prst="roundRect">
              <a:avLst>
                <a:gd name="adj" fmla="val 50000"/>
              </a:avLst>
            </a:prstGeom>
            <a:solidFill>
              <a:srgbClr val="2E9E5B"/>
            </a:solidFill>
            <a:ln>
              <a:noFill/>
            </a:ln>
          </p:spPr>
        </p:sp>
        <p:sp>
          <p:nvSpPr>
            <p:cNvPr id="14" name="TextBox 14"/>
            <p:cNvSpPr txBox="1"/>
            <p:nvPr/>
          </p:nvSpPr>
          <p:spPr>
            <a:xfrm>
              <a:off x="852488" y="3065145"/>
              <a:ext cx="939241" cy="176212"/>
            </a:xfrm>
            <a:prstGeom prst="rect">
              <a:avLst/>
            </a:prstGeom>
            <a:noFill/>
            <a:ln>
              <a:noFill/>
            </a:ln>
          </p:spPr>
          <p:txBody>
            <a:bodyPr wrap="none" lIns="0" tIns="0" rIns="0" bIns="0" anchor="t" anchorCtr="0">
              <a:spAutoFit/>
            </a:bodyPr>
            <a:lstStyle/>
            <a:p>
              <a:pPr algn="l"/>
              <a:r>
                <a:rPr lang="en-US" sz="900" b="1" spc="112" dirty="0">
                  <a:solidFill>
                    <a:srgbClr val="2E9E5B"/>
                  </a:solidFill>
                  <a:latin typeface="+mn-lt"/>
                  <a:ea typeface="+mn-ea"/>
                  <a:cs typeface="+mn-cs"/>
                </a:rPr>
                <a:t>WHAT WORKS</a:t>
              </a:r>
            </a:p>
          </p:txBody>
        </p:sp>
        <p:sp>
          <p:nvSpPr>
            <p:cNvPr id="15" name="TextBox 15"/>
            <p:cNvSpPr txBox="1"/>
            <p:nvPr/>
          </p:nvSpPr>
          <p:spPr>
            <a:xfrm>
              <a:off x="848487" y="3318986"/>
              <a:ext cx="3427042"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Cell-level + batch diversity</a:t>
              </a:r>
            </a:p>
          </p:txBody>
        </p:sp>
        <p:sp>
          <p:nvSpPr>
            <p:cNvPr id="16" name="TextBox 16"/>
            <p:cNvSpPr txBox="1"/>
            <p:nvPr/>
          </p:nvSpPr>
          <p:spPr>
            <a:xfrm>
              <a:off x="851154" y="3756660"/>
              <a:ext cx="318655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BADGE reaches full-training F1 with only</a:t>
              </a:r>
            </a:p>
          </p:txBody>
        </p:sp>
        <p:sp>
          <p:nvSpPr>
            <p:cNvPr id="17" name="TextBox 17"/>
            <p:cNvSpPr txBox="1"/>
            <p:nvPr/>
          </p:nvSpPr>
          <p:spPr>
            <a:xfrm>
              <a:off x="851154" y="3985260"/>
              <a:ext cx="303306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fraction of the labels — while bluntly</a:t>
              </a:r>
            </a:p>
          </p:txBody>
        </p:sp>
        <p:sp>
          <p:nvSpPr>
            <p:cNvPr id="18" name="TextBox 18"/>
            <p:cNvSpPr txBox="1"/>
            <p:nvPr/>
          </p:nvSpPr>
          <p:spPr>
            <a:xfrm>
              <a:off x="851154" y="4213860"/>
              <a:ext cx="296037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maximizing table diversity backfires.</a:t>
              </a:r>
            </a:p>
          </p:txBody>
        </p:sp>
      </p:grpSp>
      <p:grpSp>
        <p:nvGrpSpPr>
          <p:cNvPr id="27" name="Group 27"/>
          <p:cNvGrpSpPr/>
          <p:nvPr/>
        </p:nvGrpSpPr>
        <p:grpSpPr>
          <a:xfrm>
            <a:off x="6191250" y="2838450"/>
            <a:ext cx="5391150" cy="1866900"/>
            <a:chOff x="6191250" y="2838450"/>
            <a:chExt cx="5391150" cy="1866900"/>
          </a:xfrm>
        </p:grpSpPr>
        <p:sp>
          <p:nvSpPr>
            <p:cNvPr id="20" name="Rectangle 20"/>
            <p:cNvSpPr/>
            <p:nvPr/>
          </p:nvSpPr>
          <p:spPr>
            <a:xfrm>
              <a:off x="6191250" y="2838450"/>
              <a:ext cx="5391150" cy="1866900"/>
            </a:xfrm>
            <a:prstGeom prst="roundRect">
              <a:avLst>
                <a:gd name="adj" fmla="val 6122"/>
              </a:avLst>
            </a:prstGeom>
            <a:solidFill>
              <a:schemeClr val="lt2"/>
            </a:solidFill>
            <a:ln w="9525">
              <a:solidFill>
                <a:schemeClr val="accent4"/>
              </a:solidFill>
            </a:ln>
          </p:spPr>
        </p:sp>
        <p:sp>
          <p:nvSpPr>
            <p:cNvPr id="21" name="Rectangle 21"/>
            <p:cNvSpPr/>
            <p:nvPr/>
          </p:nvSpPr>
          <p:spPr>
            <a:xfrm>
              <a:off x="6191250" y="2838450"/>
              <a:ext cx="57150" cy="1866900"/>
            </a:xfrm>
            <a:prstGeom prst="roundRect">
              <a:avLst>
                <a:gd name="adj" fmla="val 50000"/>
              </a:avLst>
            </a:prstGeom>
            <a:solidFill>
              <a:schemeClr val="accent2"/>
            </a:solidFill>
            <a:ln>
              <a:noFill/>
            </a:ln>
          </p:spPr>
        </p:sp>
        <p:sp>
          <p:nvSpPr>
            <p:cNvPr id="22" name="TextBox 22"/>
            <p:cNvSpPr txBox="1"/>
            <p:nvPr/>
          </p:nvSpPr>
          <p:spPr>
            <a:xfrm>
              <a:off x="6472238" y="3065145"/>
              <a:ext cx="824987"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 RECIPE</a:t>
              </a:r>
            </a:p>
          </p:txBody>
        </p:sp>
        <p:sp>
          <p:nvSpPr>
            <p:cNvPr id="23" name="TextBox 23"/>
            <p:cNvSpPr txBox="1"/>
            <p:nvPr/>
          </p:nvSpPr>
          <p:spPr>
            <a:xfrm>
              <a:off x="6468237" y="3318986"/>
              <a:ext cx="3082961"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Balance, don't maximize</a:t>
              </a:r>
            </a:p>
          </p:txBody>
        </p:sp>
        <p:sp>
          <p:nvSpPr>
            <p:cNvPr id="24" name="TextBox 24"/>
            <p:cNvSpPr txBox="1"/>
            <p:nvPr/>
          </p:nvSpPr>
          <p:spPr>
            <a:xfrm>
              <a:off x="6470904" y="3756660"/>
              <a:ext cx="285246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Trade diversity off against per-cell</a:t>
              </a:r>
            </a:p>
          </p:txBody>
        </p:sp>
        <p:sp>
          <p:nvSpPr>
            <p:cNvPr id="25" name="TextBox 25"/>
            <p:cNvSpPr txBox="1"/>
            <p:nvPr/>
          </p:nvSpPr>
          <p:spPr>
            <a:xfrm>
              <a:off x="6470904" y="3985260"/>
              <a:ext cx="319460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uncertainty, rather than pushing either</a:t>
              </a:r>
            </a:p>
          </p:txBody>
        </p:sp>
        <p:sp>
          <p:nvSpPr>
            <p:cNvPr id="26" name="TextBox 26"/>
            <p:cNvSpPr txBox="1"/>
            <p:nvPr/>
          </p:nvSpPr>
          <p:spPr>
            <a:xfrm>
              <a:off x="6470904" y="4213860"/>
              <a:ext cx="157109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one to its extreme.</a:t>
              </a:r>
            </a:p>
          </p:txBody>
        </p:sp>
      </p:grpSp>
      <p:grpSp>
        <p:nvGrpSpPr>
          <p:cNvPr id="40" name="Group 40"/>
          <p:cNvGrpSpPr/>
          <p:nvPr/>
        </p:nvGrpSpPr>
        <p:grpSpPr>
          <a:xfrm>
            <a:off x="571500" y="4857750"/>
            <a:ext cx="11010900" cy="1504950"/>
            <a:chOff x="571500" y="4857750"/>
            <a:chExt cx="11010900" cy="1504950"/>
          </a:xfrm>
        </p:grpSpPr>
        <p:sp>
          <p:nvSpPr>
            <p:cNvPr id="28" name="Rectangle 28"/>
            <p:cNvSpPr/>
            <p:nvPr/>
          </p:nvSpPr>
          <p:spPr>
            <a:xfrm>
              <a:off x="571500" y="4857750"/>
              <a:ext cx="11010900" cy="1504950"/>
            </a:xfrm>
            <a:prstGeom prst="roundRect">
              <a:avLst>
                <a:gd name="adj" fmla="val 7595"/>
              </a:avLst>
            </a:prstGeom>
            <a:solidFill>
              <a:schemeClr val="lt2"/>
            </a:solidFill>
            <a:ln w="9525">
              <a:solidFill>
                <a:schemeClr val="accent4"/>
              </a:solidFill>
            </a:ln>
          </p:spPr>
        </p:sp>
        <p:sp>
          <p:nvSpPr>
            <p:cNvPr id="29" name="TextBox 29"/>
            <p:cNvSpPr txBox="1"/>
            <p:nvPr/>
          </p:nvSpPr>
          <p:spPr>
            <a:xfrm>
              <a:off x="852488" y="5084445"/>
              <a:ext cx="3121025" cy="176212"/>
            </a:xfrm>
            <a:prstGeom prst="rect">
              <a:avLst/>
            </a:prstGeom>
            <a:noFill/>
            <a:ln>
              <a:noFill/>
            </a:ln>
          </p:spPr>
          <p:txBody>
            <a:bodyPr wrap="none" lIns="0" tIns="0" rIns="0" bIns="0" anchor="t" anchorCtr="0">
              <a:spAutoFit/>
            </a:bodyPr>
            <a:lstStyle/>
            <a:p>
              <a:pPr algn="l"/>
              <a:r>
                <a:rPr lang="en-US" sz="900" b="1" spc="112" dirty="0">
                  <a:solidFill>
                    <a:srgbClr val="E08A1E"/>
                  </a:solidFill>
                  <a:latin typeface="+mn-lt"/>
                  <a:ea typeface="+mn-ea"/>
                  <a:cs typeface="+mn-cs"/>
                </a:rPr>
                <a:t>FIRST WORK HERE · TWO OPEN FRONTIERS</a:t>
              </a:r>
            </a:p>
          </p:txBody>
        </p:sp>
        <p:grpSp>
          <p:nvGrpSpPr>
            <p:cNvPr id="34" name="Group 34"/>
            <p:cNvGrpSpPr/>
            <p:nvPr/>
          </p:nvGrpSpPr>
          <p:grpSpPr>
            <a:xfrm>
              <a:off x="857250" y="5334000"/>
              <a:ext cx="5143500" cy="838200"/>
              <a:chOff x="857250" y="5334000"/>
              <a:chExt cx="5143500" cy="838200"/>
            </a:xfrm>
          </p:grpSpPr>
          <p:sp>
            <p:nvSpPr>
              <p:cNvPr id="30" name="Rectangle 30"/>
              <p:cNvSpPr/>
              <p:nvPr/>
            </p:nvSpPr>
            <p:spPr>
              <a:xfrm>
                <a:off x="857250" y="5334000"/>
                <a:ext cx="5143500" cy="838200"/>
              </a:xfrm>
              <a:prstGeom prst="roundRect">
                <a:avLst>
                  <a:gd name="adj" fmla="val 11364"/>
                </a:avLst>
              </a:prstGeom>
              <a:solidFill>
                <a:schemeClr val="lt1"/>
              </a:solidFill>
              <a:ln w="9525">
                <a:solidFill>
                  <a:schemeClr val="accent4"/>
                </a:solidFill>
              </a:ln>
            </p:spPr>
          </p:sp>
          <p:sp>
            <p:nvSpPr>
              <p:cNvPr id="31" name="Rectangle 31"/>
              <p:cNvSpPr/>
              <p:nvPr/>
            </p:nvSpPr>
            <p:spPr>
              <a:xfrm>
                <a:off x="857250" y="5334000"/>
                <a:ext cx="57150" cy="838200"/>
              </a:xfrm>
              <a:prstGeom prst="roundRect">
                <a:avLst>
                  <a:gd name="adj" fmla="val 50000"/>
                </a:avLst>
              </a:prstGeom>
              <a:solidFill>
                <a:srgbClr val="E08A1E"/>
              </a:solidFill>
              <a:ln>
                <a:noFill/>
              </a:ln>
            </p:spPr>
          </p:sp>
          <p:sp>
            <p:nvSpPr>
              <p:cNvPr id="32" name="TextBox 32"/>
              <p:cNvSpPr txBox="1"/>
              <p:nvPr/>
            </p:nvSpPr>
            <p:spPr>
              <a:xfrm>
                <a:off x="1097661" y="5523071"/>
                <a:ext cx="2980394"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1 · Acquisition compute cost</a:t>
                </a:r>
              </a:p>
            </p:txBody>
          </p:sp>
          <p:sp>
            <p:nvSpPr>
              <p:cNvPr id="33" name="TextBox 33"/>
              <p:cNvSpPr txBox="1"/>
              <p:nvPr/>
            </p:nvSpPr>
            <p:spPr>
              <a:xfrm>
                <a:off x="1099185" y="5841206"/>
                <a:ext cx="365742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Table-diverse selection is computationally heavy.</a:t>
                </a:r>
              </a:p>
            </p:txBody>
          </p:sp>
        </p:grpSp>
        <p:grpSp>
          <p:nvGrpSpPr>
            <p:cNvPr id="39" name="Group 39"/>
            <p:cNvGrpSpPr/>
            <p:nvPr/>
          </p:nvGrpSpPr>
          <p:grpSpPr>
            <a:xfrm>
              <a:off x="6153150" y="5334000"/>
              <a:ext cx="5143500" cy="838200"/>
              <a:chOff x="6153150" y="5334000"/>
              <a:chExt cx="5143500" cy="838200"/>
            </a:xfrm>
          </p:grpSpPr>
          <p:sp>
            <p:nvSpPr>
              <p:cNvPr id="35" name="Rectangle 35"/>
              <p:cNvSpPr/>
              <p:nvPr/>
            </p:nvSpPr>
            <p:spPr>
              <a:xfrm>
                <a:off x="6153150" y="5334000"/>
                <a:ext cx="5143500" cy="838200"/>
              </a:xfrm>
              <a:prstGeom prst="roundRect">
                <a:avLst>
                  <a:gd name="adj" fmla="val 11364"/>
                </a:avLst>
              </a:prstGeom>
              <a:solidFill>
                <a:schemeClr val="lt1"/>
              </a:solidFill>
              <a:ln w="9525">
                <a:solidFill>
                  <a:schemeClr val="accent4"/>
                </a:solidFill>
              </a:ln>
            </p:spPr>
          </p:sp>
          <p:sp>
            <p:nvSpPr>
              <p:cNvPr id="36" name="Rectangle 36"/>
              <p:cNvSpPr/>
              <p:nvPr/>
            </p:nvSpPr>
            <p:spPr>
              <a:xfrm>
                <a:off x="6153150" y="5334000"/>
                <a:ext cx="57150" cy="838200"/>
              </a:xfrm>
              <a:prstGeom prst="roundRect">
                <a:avLst>
                  <a:gd name="adj" fmla="val 50000"/>
                </a:avLst>
              </a:prstGeom>
              <a:solidFill>
                <a:srgbClr val="E08A1E"/>
              </a:solidFill>
              <a:ln>
                <a:noFill/>
              </a:ln>
            </p:spPr>
          </p:sp>
          <p:sp>
            <p:nvSpPr>
              <p:cNvPr id="37" name="TextBox 37"/>
              <p:cNvSpPr txBox="1"/>
              <p:nvPr/>
            </p:nvSpPr>
            <p:spPr>
              <a:xfrm>
                <a:off x="6393561" y="5523071"/>
                <a:ext cx="293756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2 · Annotator cognitive load</a:t>
                </a:r>
              </a:p>
            </p:txBody>
          </p:sp>
          <p:sp>
            <p:nvSpPr>
              <p:cNvPr id="38" name="TextBox 38"/>
              <p:cNvSpPr txBox="1"/>
              <p:nvPr/>
            </p:nvSpPr>
            <p:spPr>
              <a:xfrm>
                <a:off x="6395085" y="5841206"/>
                <a:ext cx="399699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Every new table demands fresh human interpretation.</a:t>
                </a:r>
              </a:p>
            </p:txBody>
          </p:sp>
        </p:grpSp>
      </p:grpSp>
      <p:grpSp>
        <p:nvGrpSpPr>
          <p:cNvPr id="43" name="Group 43"/>
          <p:cNvGrpSpPr/>
          <p:nvPr/>
        </p:nvGrpSpPr>
        <p:grpSpPr>
          <a:xfrm>
            <a:off x="566738" y="6597491"/>
            <a:ext cx="11058524" cy="161925"/>
            <a:chOff x="566738" y="6597491"/>
            <a:chExt cx="11058524" cy="161925"/>
          </a:xfrm>
        </p:grpSpPr>
        <p:sp>
          <p:nvSpPr>
            <p:cNvPr id="41" name="TextBox 41"/>
            <p:cNvSpPr txBox="1"/>
            <p:nvPr/>
          </p:nvSpPr>
          <p:spPr>
            <a:xfrm>
              <a:off x="566738" y="6597491"/>
              <a:ext cx="475810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Active Learning with Tabular Language Models · Ringsquandl &amp; Koleva · arXiv:2211.04128</a:t>
              </a:r>
            </a:p>
          </p:txBody>
        </p:sp>
        <p:sp>
          <p:nvSpPr>
            <p:cNvPr id="42" name="TextBox 42"/>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08</a:t>
              </a:r>
            </a:p>
          </p:txBody>
        </p:sp>
      </p:grpSp>
      <p:sp>
        <p:nvSpPr>
          <p:cNvPr id="44" name="cue_s08_c1_lasting_message_active_learning_real" title="cue_s08_c1_lasting_message_active_learning_real" descr="cue_s08_c1_lasting_message_active_learning_real The lasting message: active learning really can slash the expert-labeling cost of tabular language models, but only if diversity is handled with care."/>
          <p:cNvSpPr/>
          <p:nvPr/>
        </p:nvSpPr>
        <p:spPr>
          <a:xfrm>
            <a:off x="571804" y="1428521"/>
            <a:ext cx="11010595"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8_c2_cell_level_acquisition_built_in_batc" title="cue_s08_c2_cell_level_acquisition_built_in_batc" descr="cue_s08_c2_cell_level_acquisition_built_in_batc Cell-level acquisition with built-in batch diversity, like BADGE, reaches full-training performance using a fraction of the labels, while bluntly maximizing table diversity backfires."/>
          <p:cNvSpPr/>
          <p:nvPr/>
        </p:nvSpPr>
        <p:spPr>
          <a:xfrm>
            <a:off x="571804" y="2838526"/>
            <a:ext cx="5391302"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3_balance_diversity_against_uncertaint" title="cue_s08_c3_balance_diversity_against_uncertaint" descr="cue_s08_c3_balance_diversity_against_uncertaint Balance diversity against uncertainty rather than maximize either alone."/>
          <p:cNvSpPr/>
          <p:nvPr/>
        </p:nvSpPr>
        <p:spPr>
          <a:xfrm>
            <a:off x="6191097" y="2838526"/>
            <a:ext cx="5391302"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8_c4_first_work_flags_two_frontiers" title="cue_s08_c4_first_work_flags_two_frontiers" descr="cue_s08_c4_first_work_flags_two_frontiers As the first work here, it flags two frontiers: acquisition compute cost, and annotator cognitive load."/>
          <p:cNvSpPr/>
          <p:nvPr/>
        </p:nvSpPr>
        <p:spPr>
          <a:xfrm>
            <a:off x="571804" y="4857521"/>
            <a:ext cx="11010595"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A202C"/>
      </a:dk1>
      <a:lt1>
        <a:srgbClr val="FFFFFF"/>
      </a:lt1>
      <a:dk2>
        <a:srgbClr val="4A5568"/>
      </a:dk2>
      <a:lt2>
        <a:srgbClr val="F4F6F9"/>
      </a:lt2>
      <a:accent1>
        <a:srgbClr val="16324F"/>
      </a:accent1>
      <a:accent2>
        <a:srgbClr val="1F9E8F"/>
      </a:accent2>
      <a:accent3>
        <a:srgbClr val="5FB0A6"/>
      </a:accent3>
      <a:accent4>
        <a:srgbClr val="E2E8F0"/>
      </a:accent4>
      <a:accent5>
        <a:srgbClr val="E7F4F1"/>
      </a:accent5>
      <a:accent6>
        <a:srgbClr val="94A3B8"/>
      </a:accent6>
      <a:hlink>
        <a:srgbClr val="1F9E8F"/>
      </a:hlink>
      <a:folHlink>
        <a:srgbClr val="5FB0A6"/>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2026-07-15T04:23:24Z</dcterms:created>
  <dcterms:modified xsi:type="dcterms:W3CDTF">2026-07-15T04:23:24Z</dcterms:modified>
  <cp:category/>
  <cp:contentStatus/>
</cp:coreProperties>
</file>
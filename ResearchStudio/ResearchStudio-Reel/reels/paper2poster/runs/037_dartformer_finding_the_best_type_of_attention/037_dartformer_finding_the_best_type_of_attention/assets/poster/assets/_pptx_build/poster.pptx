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108305"/>
          </a:xfrm>
          <a:prstGeom prst="roundRect">
            <a:avLst>
              <a:gd name="adj" fmla="val 4576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4281646"/>
            <a:ext cx="10804961" cy="11525746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4281646"/>
            <a:ext cx="160020" cy="11525746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3568" y="4281646"/>
            <a:ext cx="27439124" cy="17875567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3568" y="4281646"/>
            <a:ext cx="160020" cy="17875567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49412" y="4281646"/>
            <a:ext cx="10804962" cy="7083524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49412" y="4281646"/>
            <a:ext cx="160020" cy="7083524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49412" y="11697017"/>
            <a:ext cx="10804962" cy="6029365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49412" y="11697017"/>
            <a:ext cx="160020" cy="6029365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887" y="16139239"/>
            <a:ext cx="10804961" cy="13932713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887" y="16139239"/>
            <a:ext cx="160020" cy="13932713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49412" y="18058229"/>
            <a:ext cx="10804962" cy="7015321"/>
          </a:xfrm>
          <a:prstGeom prst="rect">
            <a:avLst/>
          </a:prstGeom>
          <a:solidFill>
            <a:srgbClr val="F6ECF1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49412" y="18058229"/>
            <a:ext cx="53340" cy="7015321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49412" y="25405397"/>
            <a:ext cx="10804962" cy="4666555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49412" y="25405397"/>
            <a:ext cx="160020" cy="4666555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university-of-cam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8480" y="1180715"/>
            <a:ext cx="4642108" cy="942315"/>
          </a:xfrm>
          <a:prstGeom prst="rect">
            <a:avLst/>
          </a:prstGeom>
        </p:spPr>
      </p:pic>
      <p:pic>
        <p:nvPicPr>
          <p:cNvPr id="18" name="Picture 17" descr="university-of-oxf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7562" y="1180716"/>
            <a:ext cx="3203317" cy="942313"/>
          </a:xfrm>
          <a:prstGeom prst="rect">
            <a:avLst/>
          </a:prstGeom>
        </p:spPr>
      </p:pic>
      <p:pic>
        <p:nvPicPr>
          <p:cNvPr id="19" name="Picture 18" descr="imperial-college-lond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0393" y="2288903"/>
            <a:ext cx="8578711" cy="94232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0359766" y="9735661"/>
            <a:ext cx="9806504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359766" y="9735661"/>
            <a:ext cx="9806504" cy="11557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62241" y="9813865"/>
            <a:ext cx="9806503" cy="28370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62241" y="9813865"/>
            <a:ext cx="124460" cy="2837021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359766" y="13187481"/>
            <a:ext cx="9806504" cy="2814796"/>
          </a:xfrm>
          <a:prstGeom prst="roundRect">
            <a:avLst>
              <a:gd name="adj" fmla="val 2526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359766" y="16002277"/>
            <a:ext cx="9806504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359766" y="16002277"/>
            <a:ext cx="9806504" cy="11557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253086" y="19548693"/>
            <a:ext cx="9913184" cy="5697240"/>
          </a:xfrm>
          <a:prstGeom prst="roundRect">
            <a:avLst>
              <a:gd name="adj" fmla="val 320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253086" y="19548693"/>
            <a:ext cx="124460" cy="5697240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2493922" y="20074036"/>
            <a:ext cx="26440666" cy="1554361"/>
          </a:xfrm>
          <a:prstGeom prst="roundRect">
            <a:avLst>
              <a:gd name="adj" fmla="val 14495"/>
            </a:avLst>
          </a:prstGeom>
          <a:solidFill>
            <a:srgbClr val="F7F2F5"/>
          </a:solidFill>
          <a:ln w="8890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3568" y="22489060"/>
            <a:ext cx="13553639" cy="7582892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883568" y="22489060"/>
            <a:ext cx="160020" cy="7582892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769054" y="22489060"/>
            <a:ext cx="13553638" cy="7582892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769054" y="22489060"/>
            <a:ext cx="160020" cy="7582892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262241" y="27341750"/>
            <a:ext cx="9806503" cy="2346821"/>
          </a:xfrm>
          <a:prstGeom prst="roundRect">
            <a:avLst>
              <a:gd name="adj" fmla="val 8889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62241" y="12650886"/>
            <a:ext cx="2038727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Bigbird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57376" y="12650886"/>
            <a:ext cx="1817866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Linear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31651" y="12650886"/>
            <a:ext cx="2556291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Linformer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44351" y="12650886"/>
            <a:ext cx="1645344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Local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143253" y="13409731"/>
            <a:ext cx="2777152" cy="24178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143253" y="13409731"/>
            <a:ext cx="11557" cy="2417802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262241" y="13627119"/>
            <a:ext cx="2974677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Longformer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93326" y="13627119"/>
            <a:ext cx="2606298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Performer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56033" y="13627119"/>
            <a:ext cx="2458224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Reformer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62241" y="14603352"/>
            <a:ext cx="1966079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Sparse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84728" y="14603352"/>
            <a:ext cx="2975650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Synthesizer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742592" y="19705101"/>
            <a:ext cx="2481838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TAKEAWAY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379408" y="28234917"/>
            <a:ext cx="12555180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379408" y="28234917"/>
            <a:ext cx="12555180" cy="11557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3287077" y="9007097"/>
            <a:ext cx="24854217" cy="10937340"/>
          </a:xfrm>
          <a:prstGeom prst="roundRect">
            <a:avLst>
              <a:gd name="adj" fmla="val 32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page2_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87173" y="9007097"/>
            <a:ext cx="24854025" cy="1093734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46785014" y="25793501"/>
            <a:ext cx="3206511" cy="3206512"/>
          </a:xfrm>
          <a:prstGeom prst="roundRect">
            <a:avLst>
              <a:gd name="adj" fmla="val 4805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pa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3547" y="25912034"/>
            <a:ext cx="2969445" cy="2969446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26379408" y="26629995"/>
            <a:ext cx="4011195" cy="1604922"/>
          </a:xfrm>
          <a:prstGeom prst="roundRect">
            <a:avLst>
              <a:gd name="adj" fmla="val 16248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0651330" y="26629995"/>
            <a:ext cx="4011335" cy="1604922"/>
          </a:xfrm>
          <a:prstGeom prst="roundRect">
            <a:avLst>
              <a:gd name="adj" fmla="val 16248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4923392" y="26629995"/>
            <a:ext cx="4011196" cy="1604922"/>
          </a:xfrm>
          <a:prstGeom prst="roundRect">
            <a:avLst>
              <a:gd name="adj" fmla="val 16248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2493922" y="28881804"/>
            <a:ext cx="2187079" cy="819824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IMDb 1k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837410" y="28881804"/>
            <a:ext cx="2753816" cy="819824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ListOps 2k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7747634" y="28881804"/>
            <a:ext cx="3394313" cy="819824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Doc-match 4k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7743189" y="29142253"/>
            <a:ext cx="1290022" cy="541595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7D2860"/>
                </a:solidFill>
                <a:latin typeface="Arial"/>
              </a:rPr>
              <a:t>Paper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379408" y="24173437"/>
            <a:ext cx="4494728" cy="81440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6379408" y="24978955"/>
            <a:ext cx="44947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874136" y="24173437"/>
            <a:ext cx="4042450" cy="81440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0874136" y="24978955"/>
            <a:ext cx="404245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4916586" y="24173437"/>
            <a:ext cx="1956911" cy="81440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4916586" y="24978955"/>
            <a:ext cx="195691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6873497" y="24173437"/>
            <a:ext cx="2061091" cy="81440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6873497" y="24978955"/>
            <a:ext cx="206109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379408" y="24987845"/>
            <a:ext cx="4494728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379408" y="25797807"/>
            <a:ext cx="44947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874136" y="24987845"/>
            <a:ext cx="4042450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874136" y="25797807"/>
            <a:ext cx="404245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4916586" y="24987845"/>
            <a:ext cx="1956911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4916586" y="25797807"/>
            <a:ext cx="195691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6873497" y="24987845"/>
            <a:ext cx="2061091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873497" y="25797807"/>
            <a:ext cx="206109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6379408" y="25806697"/>
            <a:ext cx="4494728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6379408" y="26616660"/>
            <a:ext cx="44947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0874136" y="25806697"/>
            <a:ext cx="4042450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0874136" y="26616660"/>
            <a:ext cx="404245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4916586" y="25806697"/>
            <a:ext cx="1956911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4916586" y="26616660"/>
            <a:ext cx="195691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6873497" y="25806697"/>
            <a:ext cx="2061091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6873497" y="26616660"/>
            <a:ext cx="206109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4288591" y="20364628"/>
            <a:ext cx="773454" cy="715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431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Tinos"/>
              </a:rPr>
              <a:t>·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20847" y="983734"/>
            <a:ext cx="12104012" cy="28113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5973" b="1" spc="59">
                <a:solidFill>
                  <a:srgbClr val="7D2860"/>
                </a:solidFill>
                <a:latin typeface="Arial"/>
              </a:rPr>
              <a:t>arXiv 2022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446402" y="983734"/>
            <a:ext cx="24740176" cy="12594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7D2860"/>
                </a:solidFill>
                <a:latin typeface="Arial"/>
              </a:rPr>
              <a:t>DARTFormer: Finding the Best Type of Attention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446402" y="2277923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Jason Ross Brown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Yiren Zhao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2,1</a:t>
            </a:r>
            <a:r>
              <a:rPr sz="3733" b="0">
                <a:solidFill>
                  <a:srgbClr val="1B2331"/>
                </a:solidFill>
                <a:latin typeface="Arial"/>
              </a:rPr>
              <a:t>, Ilia Shumailov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733" b="0">
                <a:solidFill>
                  <a:srgbClr val="1B2331"/>
                </a:solidFill>
                <a:latin typeface="Arial"/>
              </a:rPr>
              <a:t>, Robert D Mullins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446402" y="2947173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Cambridge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Imperial College London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Oxford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62241" y="4669750"/>
            <a:ext cx="10100698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Problem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493922" y="4669750"/>
            <a:ext cx="26867386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Method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359766" y="4669750"/>
            <a:ext cx="10100699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Ablation Study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62241" y="5772110"/>
            <a:ext cx="10100698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Efficient Transformer attention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mechanisms have proliferated, but </a:t>
            </a:r>
            <a:r>
              <a:rPr sz="4106" b="1">
                <a:solidFill>
                  <a:srgbClr val="111111"/>
                </a:solidFill>
                <a:latin typeface="Arial"/>
              </a:rPr>
              <a:t>no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single one is best across tasks</a:t>
            </a:r>
            <a:r>
              <a:rPr sz="4106" b="0">
                <a:solidFill>
                  <a:srgbClr val="1C1C1C"/>
                </a:solidFill>
                <a:latin typeface="Arial"/>
              </a:rPr>
              <a:t> — so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practitioners lack a cheap way to pick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right attention for a long-range task.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359766" y="9735661"/>
            <a:ext cx="10100699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Once good attentions are found, cheap one-shot selection suffices.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62241" y="9813865"/>
            <a:ext cx="10100698" cy="3262574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Attention performance is highly task-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dependent when models train from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scratch, without pretraining —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choice stays unclear.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359766" y="12085121"/>
            <a:ext cx="10100699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Headline Numbers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359766" y="16002277"/>
            <a:ext cx="10100699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Decisive on ListOps; heterogeneous never ahead.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62241" y="16527343"/>
            <a:ext cx="10100698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Motivation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253086" y="18446333"/>
            <a:ext cx="10210579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Takeaway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999138" y="20364628"/>
            <a:ext cx="7652997" cy="129407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6431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Tinos"/>
              </a:rPr>
              <a:t>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Tinos"/>
              </a:rPr>
              <a:t>  ·  </a:t>
            </a:r>
            <a:r>
              <a:rPr sz="4435" b="0">
                <a:solidFill>
                  <a:srgbClr val="1C1C1C"/>
                </a:solidFill>
                <a:latin typeface="Tinos"/>
              </a:rPr>
              <a:t>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Tinos"/>
              </a:rPr>
              <a:t>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Score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    </a:t>
            </a:r>
            <a:r>
              <a:rPr sz="2217" b="0" i="1">
                <a:solidFill>
                  <a:srgbClr val="555555"/>
                </a:solidFill>
                <a:latin typeface="Tinos"/>
              </a:rPr>
              <a:t> = validation-accuracy drop when block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  </a:t>
            </a:r>
            <a:r>
              <a:rPr sz="2217" b="0" i="1">
                <a:solidFill>
                  <a:srgbClr val="555555"/>
                </a:solidFill>
                <a:latin typeface="Tinos"/>
              </a:rPr>
              <a:t> is masked out.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62241" y="27341750"/>
            <a:ext cx="10100698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Is the best attention for a task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actually a mixture? DARTFormer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tests this directly.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359748" y="5772110"/>
            <a:ext cx="10100717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NAS Prune</a:t>
            </a:r>
            <a:r>
              <a:rPr sz="4106" b="0">
                <a:solidFill>
                  <a:srgbClr val="1C1C1C"/>
                </a:solidFill>
                <a:latin typeface="Arial"/>
              </a:rPr>
              <a:t> (worst-first pruning) gives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no consistent gain</a:t>
            </a:r>
            <a:r>
              <a:rPr sz="4106" b="0">
                <a:solidFill>
                  <a:srgbClr val="1C1C1C"/>
                </a:solidFill>
                <a:latin typeface="Arial"/>
              </a:rPr>
              <a:t> over cheaper </a:t>
            </a:r>
            <a:r>
              <a:rPr sz="4106" b="1">
                <a:solidFill>
                  <a:srgbClr val="111111"/>
                </a:solidFill>
                <a:latin typeface="Arial"/>
              </a:rPr>
              <a:t>NAS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One-shot</a:t>
            </a:r>
            <a:r>
              <a:rPr sz="4106" b="0">
                <a:solidFill>
                  <a:srgbClr val="1C1C1C"/>
                </a:solidFill>
                <a:latin typeface="Arial"/>
              </a:rPr>
              <a:t> (top-4, one pass); heavier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weighting of strong attentions also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failed.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62222" y="17674709"/>
            <a:ext cx="10100717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Attention heads are widely believed to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learn </a:t>
            </a:r>
            <a:r>
              <a:rPr sz="4106" b="1">
                <a:solidFill>
                  <a:srgbClr val="111111"/>
                </a:solidFill>
                <a:latin typeface="Arial"/>
              </a:rPr>
              <a:t>different relational biases</a:t>
            </a:r>
            <a:r>
              <a:rPr sz="4106" b="0">
                <a:solidFill>
                  <a:srgbClr val="1C1C1C"/>
                </a:solidFill>
                <a:latin typeface="Arial"/>
              </a:rPr>
              <a:t> — so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mixture</a:t>
            </a:r>
            <a:r>
              <a:rPr sz="4106" b="0">
                <a:solidFill>
                  <a:srgbClr val="1C1C1C"/>
                </a:solidFill>
                <a:latin typeface="Arial"/>
              </a:rPr>
              <a:t> of attention types might beat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any single one.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742592" y="20552290"/>
            <a:ext cx="9330390" cy="52178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cheap masked-validation-drop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search reliably finds the best single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attention — but combining types beats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only the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average</a:t>
            </a:r>
            <a:r>
              <a:rPr sz="4106" b="0">
                <a:solidFill>
                  <a:srgbClr val="1C1C1C"/>
                </a:solidFill>
                <a:latin typeface="Arial"/>
              </a:rPr>
              <a:t> homogeneous model,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never the best. Prefer one well-suited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attention over a mixture.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62222" y="20882054"/>
            <a:ext cx="10100717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Brute-force training of every attention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(and every combination) is prohibitively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expensive, motivating a cheap </a:t>
            </a:r>
            <a:r>
              <a:rPr sz="4106" b="1">
                <a:solidFill>
                  <a:srgbClr val="111111"/>
                </a:solidFill>
                <a:latin typeface="Arial"/>
              </a:rPr>
              <a:t>search-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based</a:t>
            </a:r>
            <a:r>
              <a:rPr sz="4106" b="0">
                <a:solidFill>
                  <a:srgbClr val="1C1C1C"/>
                </a:solidFill>
                <a:latin typeface="Arial"/>
              </a:rPr>
              <a:t> selection.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493922" y="22877164"/>
            <a:ext cx="1293183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Dataset / Benchmark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379408" y="22877164"/>
            <a:ext cx="1293183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Key Results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62222" y="24089399"/>
            <a:ext cx="10100717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Much as convolutional kernels learn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different features, specialized heads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could compound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complementary</a:t>
            </a:r>
            <a:r>
              <a:rPr sz="4106" b="0">
                <a:solidFill>
                  <a:srgbClr val="1C1C1C"/>
                </a:solidFill>
                <a:latin typeface="Arial"/>
              </a:rPr>
              <a:t> biases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into a richer model.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6379408" y="28234917"/>
            <a:ext cx="12931835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Search reliably finds the best single attention, but mixing types beats only the average — never the best.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493904" y="5846841"/>
            <a:ext cx="26867404" cy="1559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Build a single-layer </a:t>
            </a:r>
            <a:r>
              <a:rPr sz="4106" b="1">
                <a:solidFill>
                  <a:srgbClr val="111111"/>
                </a:solidFill>
                <a:latin typeface="Arial"/>
              </a:rPr>
              <a:t>supernetwork</a:t>
            </a:r>
            <a:r>
              <a:rPr sz="4106" b="0">
                <a:solidFill>
                  <a:srgbClr val="1C1C1C"/>
                </a:solidFill>
                <a:latin typeface="Arial"/>
              </a:rPr>
              <a:t> holding one candidate block per efficient attention type, trained to</a:t>
            </a:r>
          </a:p>
          <a:p>
            <a:pPr algn="l" marL="573701" indent="0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convergence.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493904" y="7296606"/>
            <a:ext cx="26867404" cy="1559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Fixed-α DARTS</a:t>
            </a:r>
            <a:r>
              <a:rPr sz="4106" b="0">
                <a:solidFill>
                  <a:srgbClr val="1C1C1C"/>
                </a:solidFill>
                <a:latin typeface="Arial"/>
              </a:rPr>
              <a:t>: average the block outputs (no softmax edges, no bi-level optimization), then score each by its</a:t>
            </a:r>
          </a:p>
          <a:p>
            <a:pPr algn="l" marL="573701" indent="0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masked validation accuracy drop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0605630" y="13409731"/>
            <a:ext cx="6142858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11.85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605630" y="14784625"/>
            <a:ext cx="6142858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Reformer drop-score ·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ListOps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4663360" y="20094039"/>
            <a:ext cx="22528232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Figure 1: Supernetwork searched over (left); an example derived architecture (right) — heterogeneous across heads.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493904" y="23979524"/>
            <a:ext cx="1293185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Three </a:t>
            </a:r>
            <a:r>
              <a:rPr sz="4106" b="1">
                <a:solidFill>
                  <a:srgbClr val="111111"/>
                </a:solidFill>
                <a:latin typeface="Arial"/>
              </a:rPr>
              <a:t>Long Range Arena</a:t>
            </a:r>
            <a:r>
              <a:rPr sz="4106" b="0">
                <a:solidFill>
                  <a:srgbClr val="1C1C1C"/>
                </a:solidFill>
                <a:latin typeface="Arial"/>
              </a:rPr>
              <a:t> tasks: IMDb byte-level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classification, ListOps 10-way, and document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matching.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493904" y="26430664"/>
            <a:ext cx="1293185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Search space of </a:t>
            </a:r>
            <a:r>
              <a:rPr sz="4106" b="1">
                <a:solidFill>
                  <a:srgbClr val="111111"/>
                </a:solidFill>
                <a:latin typeface="Arial"/>
              </a:rPr>
              <a:t>9 efficient attentions</a:t>
            </a:r>
            <a:r>
              <a:rPr sz="4106" b="0">
                <a:solidFill>
                  <a:srgbClr val="1C1C1C"/>
                </a:solidFill>
                <a:latin typeface="Arial"/>
              </a:rPr>
              <a:t> (Bigbird,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Performer, Reformer, Linformer, …); each model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trained 3× and averaged.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0359766" y="26975454"/>
            <a:ext cx="6071751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7D2860"/>
                </a:solidFill>
                <a:latin typeface="Arial"/>
              </a:rPr>
              <a:t>Questions? Get in touch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359766" y="27639010"/>
            <a:ext cx="6071751" cy="9923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97"/>
              </a:lnSpc>
              <a:spcBef>
                <a:spcPts val="0"/>
              </a:spcBef>
              <a:spcAft>
                <a:spcPts val="0"/>
              </a:spcAft>
            </a:pPr>
            <a:r>
              <a:rPr sz="2426" b="0">
                <a:solidFill>
                  <a:srgbClr val="555555"/>
                </a:solidFill>
                <a:latin typeface="Arial"/>
              </a:rPr>
              <a:t>Email: jrb239@cam.ac.uk</a:t>
            </a:r>
          </a:p>
          <a:p>
            <a:pPr algn="l">
              <a:lnSpc>
                <a:spcPts val="3397"/>
              </a:lnSpc>
              <a:spcBef>
                <a:spcPts val="0"/>
              </a:spcBef>
              <a:spcAft>
                <a:spcPts val="0"/>
              </a:spcAft>
            </a:pPr>
            <a:r>
              <a:rPr sz="2426" b="0">
                <a:solidFill>
                  <a:srgbClr val="555555"/>
                </a:solidFill>
                <a:latin typeface="Arial"/>
              </a:rPr>
              <a:t>Paper: arxiv.org/abs/2210.00641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7621507" y="13409731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101845" y="13543081"/>
            <a:ext cx="158840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attentions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7621507" y="14302482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101845" y="14435832"/>
            <a:ext cx="164892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LRA tasks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621507" y="15195371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8101845" y="15328721"/>
            <a:ext cx="1873116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hetero wins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6587906" y="26786403"/>
            <a:ext cx="3702024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64.5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0859829" y="26786403"/>
            <a:ext cx="3702168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37.8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131890" y="26786403"/>
            <a:ext cx="370202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71.1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6587906" y="27688599"/>
            <a:ext cx="3702024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text · Performer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0859829" y="27688599"/>
            <a:ext cx="3702168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ListOps · Reformer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5131890" y="27688599"/>
            <a:ext cx="3702026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doc · Synthesizer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6379408" y="24173437"/>
            <a:ext cx="4629569" cy="93656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Task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0874136" y="24173437"/>
            <a:ext cx="4163723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Best Homog.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916586" y="24173437"/>
            <a:ext cx="2015618" cy="93656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Prune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873497" y="24173437"/>
            <a:ext cx="2122923" cy="93656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1-shot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6379408" y="24987845"/>
            <a:ext cx="4629569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Text classif.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0874136" y="24987845"/>
            <a:ext cx="4163723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64.5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916586" y="24987845"/>
            <a:ext cx="2015618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63.9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6873497" y="24987845"/>
            <a:ext cx="2122923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64.4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6379408" y="25806697"/>
            <a:ext cx="4629569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Doc. matching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0874136" y="25806697"/>
            <a:ext cx="4163723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71.1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4916586" y="25806697"/>
            <a:ext cx="2015618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67.0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6873497" y="25806697"/>
            <a:ext cx="2122923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64.7</a:t>
            </a:r>
          </a:p>
        </p:txBody>
      </p:sp>
      <p:pic>
        <p:nvPicPr>
          <p:cNvPr id="142" name="Picture 141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54741" y="20249058"/>
            <a:ext cx="4133850" cy="800100"/>
          </a:xfrm>
          <a:prstGeom prst="rect">
            <a:avLst/>
          </a:prstGeom>
        </p:spPr>
      </p:pic>
      <p:pic>
        <p:nvPicPr>
          <p:cNvPr id="143" name="Picture 142" descr="eq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39518" y="20249058"/>
            <a:ext cx="6234251" cy="800100"/>
          </a:xfrm>
          <a:prstGeom prst="rect">
            <a:avLst/>
          </a:prstGeom>
        </p:spPr>
      </p:pic>
      <p:pic>
        <p:nvPicPr>
          <p:cNvPr id="144" name="Picture 143" descr="eq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700198" y="21116528"/>
            <a:ext cx="288369" cy="400050"/>
          </a:xfrm>
          <a:prstGeom prst="rect">
            <a:avLst/>
          </a:prstGeom>
        </p:spPr>
      </p:pic>
      <p:pic>
        <p:nvPicPr>
          <p:cNvPr id="145" name="Picture 144" descr="eq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93865" y="21116528"/>
            <a:ext cx="161687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
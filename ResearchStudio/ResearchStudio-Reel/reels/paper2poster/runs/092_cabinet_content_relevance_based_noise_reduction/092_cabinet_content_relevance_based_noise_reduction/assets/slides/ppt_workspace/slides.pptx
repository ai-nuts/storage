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  <Relationship Id="rId1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CABINET, a framework for table question answering published at ICLR 2024 by researchers at Adobe's MDSR Lab together with IIT Kharagpur and IIT Roorkee. Large language models reason over tables, but only a few cells usually matter for any given question, and the irrelevant cells act as noise that hurts accuracy. CABINET tackles this by teaching the model to focus on relevant table content and suppress the rest, rather than deleting parts of the table outright. It sets new state of the art on three challenging table QA benchmarks.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Tables organize information across rows and columns, but for any single question only a small number of cells actually contain the answer. Everything else is irrelevant to that question and behaves like noise. Large language models are known to be susceptible to such distracting information, so their table reasoning degrades, and the problem gets worse as tables grow larger and carry even more irrelevant content. CABINET is built to address exactly this vulnerability.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natural way to reduce noise is to shrink the table before answering, and methods like DATER do this by decomposing the table into a smaller sub-table. The trouble is that hard decomposition is unforgiving: if the wrong sub-table is extracted, useful information is permanently lost and the reasoner answers incorrectly with no way to recover. CABINET argues for a softer approach that weighs relevant parts higher without ever explicitly removing content, so the answering model retains access to the whole table while being steered toward what matters.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paper contributes CABINET, short for Content Relevance-Based Noise Reduction. It has two cooperating parts. First, an Unsupervised Relevance Scorer assigns a soft relevance weight to every table token and is trained differentiably alongside the question-answering model. Second, a weakly-supervised module generates a parsing statement describing which rows and columns matter, then highlights the corresponding cells to produce a cell-based relevance signal. Together they let the model focus without discarding content, and they deliver new state of the art on three benchmarks along with stronger robustness to noise and to large tables.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CABINET works in a sequence of steps. The table is flattened into a linear string with header and row markers and embedded together with the question. An Unsupervised Relevance Scorer, a transformer encoder, reads this and predicts a relevance score for each table token. Because there are no ground-truth annotations for which cells are relevant, relevance is treated as a latent variable estimated through variational inference, and the encoder's representation space is shaped by a clustering loss that groups tokens into relevant and non-relevant, a separation loss that pushes the two cluster centroids apart, and a sparsification loss that drives irrelevant scores toward zero and relevant scores toward one. Each table token's embedding is multiplied by its relevance score, so noisy cells are softly suppressed rather than deleted, and the whole system trains end-to-end through the answer-generation cross-entropy loss. In parallel a weakly-supervised Parsing Statement Generator, a fine-tuned Flan T5-xl bootstrapped from only about three hundred manual annotations, writes a natural-language description of which rows and columns are relevant, and a cell highlighter turns that into a cell-based relevance score. The unsupervised and cell-based scores are linearly combined into the final weight applied to the table.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CABINET is evaluated on three challenging table question-answering benchmarks. WikiTableQuestions, or WikiTQ, requires compositional reasoning over tables and uses short one-to-two-word answers scored by exact-match accuracy. WikiSQL similarly uses exact-match accuracy. FeTaQA asks for long, free-form descriptive answers, which are scored with Sacre-BLEU. The authors additionally release a small dataset of about three hundred manually written parsing statements used to bootstrap the weakly-supervised cell-highlighting module.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CABINET establishes new state of the art on all three benchmarks. On WikiTQ it reaches sixty-nine point one percent exact-match accuracy, outperforming the strongest baseline in each category, including OmniTab, DATER, and fine-tuned Flan T5-xl by six point four, three point two, and four point seven absolute percentage points, and it beats much larger GPT-3 and Codex based in-context learning methods. On FeTaQA it achieves a Sacre-BLEU of forty point five, and on WikiSQL it reaches eighty-nine point five percent accuracy, pushing past the previous best. Notably all of this is achieved with a compact five hundred sixty million parameter model.</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Ablations confirm both components are needed. For the Unsupervised Relevance Scorer, applying clustering, centroid-separation, and sparsification losses together lifts WikiTQ accuracy from sixty point eight to sixty-five point six percent, whereas any subset gives little benefit, showing the three losses only help in combination. For the two relevance signals, fusing the unsupervised score at weight zero point seven with the cell-based score at weight zero point three is optimal, giving sixty-nine point one percent on WikiTQ. Relying on the cell-based signal alone collapses accuracy to thirty-seven point six percent, confirming the unsupervised scorer is the primary driver and the parsing-statement module is a complementary aid.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headline numbers are sixty-nine point one percent accuracy on WikiTQ, a Sacre-BLEU of forty point five on FeTaQA, and eighty-nine point five percent accuracy on WikiSQL, each a new state of the art achieved with just five hundred sixty million parameters. Beyond raw accuracy, CABINET is markedly more robust: under table perturbations such as row and column permutation and cell replacement it degrades far less than baselines, with roughly an eleven and a half percent smaller performance drop than OmniTab on WikiTQ, and it holds its advantage as tables grow larger.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core lesson of CABINET is that you do not need to cut a table down to answer questions about it. By softly weighting every cell according to a learned relevance score, instead of hard-decomposing the table and risking the loss of useful information, the model keeps full access to the data while being steered toward what matters. Pairing a differentiable unsupervised relevance scorer with a weakly-supervised parsing-statement cell highlighter yields both higher accuracy and greater robustness to noise, setting new state of the art on three table QA benchmarks with a compact five hundred sixty million parameter model.</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abinet_video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abinet_video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7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500" kern="1200">
          <a:solidFill>
            <a:schemeClr val="tx1"/>
          </a:solidFill>
          <a:latin typeface="+mn-lt"/>
          <a:ea typeface="+mn-ea"/>
          <a:cs typeface="+mn-cs"/>
        </a:defRPr>
      </a:lvl1pPr>
      <a:lvl2pPr marL="457200" algn="l" defTabSz="457200" rtl="0" eaLnBrk="1" latinLnBrk="0" hangingPunct="1">
        <a:defRPr sz="1400" kern="1200">
          <a:solidFill>
            <a:schemeClr val="tx1"/>
          </a:solidFill>
          <a:latin typeface="+mn-lt"/>
          <a:ea typeface="+mn-ea"/>
          <a:cs typeface="+mn-cs"/>
        </a:defRPr>
      </a:lvl2pPr>
      <a:lvl3pPr marL="914400" algn="l" defTabSz="457200" rtl="0" eaLnBrk="1" latinLnBrk="0" hangingPunct="1">
        <a:defRPr sz="13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100" kern="1200">
          <a:solidFill>
            <a:schemeClr val="tx1"/>
          </a:solidFill>
          <a:latin typeface="+mn-lt"/>
          <a:ea typeface="+mn-ea"/>
          <a:cs typeface="+mn-cs"/>
        </a:defRPr>
      </a:lvl5pPr>
      <a:lvl6pPr marL="2286000" algn="l" defTabSz="457200" rtl="0" eaLnBrk="1" latinLnBrk="0" hangingPunct="1">
        <a:defRPr sz="1050" kern="1200">
          <a:solidFill>
            <a:schemeClr val="tx1"/>
          </a:solidFill>
          <a:latin typeface="+mn-lt"/>
          <a:ea typeface="+mn-ea"/>
          <a:cs typeface="+mn-cs"/>
        </a:defRPr>
      </a:lvl6pPr>
      <a:lvl7pPr marL="2743200" algn="l" defTabSz="457200" rtl="0" eaLnBrk="1" latinLnBrk="0" hangingPunct="1">
        <a:defRPr sz="950" kern="1200">
          <a:solidFill>
            <a:schemeClr val="tx1"/>
          </a:solidFill>
          <a:latin typeface="+mn-lt"/>
          <a:ea typeface="+mn-ea"/>
          <a:cs typeface="+mn-cs"/>
        </a:defRPr>
      </a:lvl7pPr>
      <a:lvl8pPr marL="3200400" algn="l" defTabSz="457200" rtl="0" eaLnBrk="1" latinLnBrk="0" hangingPunct="1">
        <a:defRPr sz="8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f0d50a3c0d87673.png"/>
  <Relationship Id="rId3" Type="http://schemas.openxmlformats.org/officeDocument/2006/relationships/image" Target="../media/image_4c810e4800f54272.png"/>
  <Relationship Id="rId4" Type="http://schemas.openxmlformats.org/officeDocument/2006/relationships/image" Target="../media/image_b8e9d2135b36435a.png"/>
  <Relationship Id="rId5" Type="http://schemas.openxmlformats.org/officeDocument/2006/relationships/image" Target="../media/image_0d09a8bdc79e730d.png"/>
  <Relationship Id="rId6" Type="http://schemas.openxmlformats.org/officeDocument/2006/relationships/image" Target="../media/image_af056c11153cca38.png"/>
  <Relationship Id="rId7"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c810e4800f54272.png"/>
  <Relationship Id="rId3"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sp>
      <p:sp>
        <p:nvSpPr>
          <p:cNvPr id="3" name="Rectangle 3"/>
          <p:cNvSpPr/>
          <p:nvPr/>
        </p:nvSpPr>
        <p:spPr>
          <a:xfrm>
            <a:off x="0" y="0"/>
            <a:ext cx="12192000" cy="57150"/>
          </a:xfrm>
          <a:prstGeom prst="rect">
            <a:avLst/>
          </a:prstGeom>
          <a:solidFill>
            <a:schemeClr val="accent2"/>
          </a:solidFill>
          <a:ln>
            <a:noFill/>
          </a:ln>
        </p:spPr>
      </p:sp>
      <p:sp>
        <p:nvSpPr>
          <p:cNvPr id="4" name="TextBox 4"/>
          <p:cNvSpPr txBox="1"/>
          <p:nvPr/>
        </p:nvSpPr>
        <p:spPr>
          <a:xfrm>
            <a:off x="660654" y="689610"/>
            <a:ext cx="6132210" cy="234696"/>
          </a:xfrm>
          <a:prstGeom prst="rect">
            <a:avLst/>
          </a:prstGeom>
          <a:noFill/>
          <a:ln>
            <a:noFill/>
          </a:ln>
        </p:spPr>
        <p:txBody>
          <a:bodyPr wrap="none" lIns="0" tIns="0" rIns="0" bIns="0" anchor="t" anchorCtr="0">
            <a:spAutoFit/>
          </a:bodyPr>
          <a:lstStyle/>
          <a:p>
            <a:pPr algn="l"/>
            <a:r>
              <a:rPr lang="en-US" sz="1200" b="1" spc="150" dirty="0">
                <a:solidFill>
                  <a:schemeClr val="accent3"/>
                </a:solidFill>
                <a:latin typeface="+mn-lt"/>
                <a:ea typeface="+mn-ea"/>
                <a:cs typeface="+mn-cs"/>
              </a:rPr>
              <a:t>ICLR 2024 · ADOBE MDSR LAB × IIT KHARAGPUR × IIT ROORKEE</a:t>
            </a:r>
          </a:p>
        </p:txBody>
      </p:sp>
      <p:grpSp>
        <p:nvGrpSpPr>
          <p:cNvPr id="7" name="Group 7"/>
          <p:cNvGrpSpPr/>
          <p:nvPr/>
        </p:nvGrpSpPr>
        <p:grpSpPr>
          <a:xfrm>
            <a:off x="628650" y="1203008"/>
            <a:ext cx="8501497" cy="1221676"/>
            <a:chOff x="628650" y="1203008"/>
            <a:chExt cx="8501497" cy="1221676"/>
          </a:xfrm>
        </p:grpSpPr>
        <p:sp>
          <p:nvSpPr>
            <p:cNvPr id="5" name="TextBox 5"/>
            <p:cNvSpPr txBox="1"/>
            <p:nvPr/>
          </p:nvSpPr>
          <p:spPr>
            <a:xfrm>
              <a:off x="628650" y="1203008"/>
              <a:ext cx="3344753" cy="1190625"/>
            </a:xfrm>
            <a:prstGeom prst="rect">
              <a:avLst/>
            </a:prstGeom>
            <a:noFill/>
            <a:ln>
              <a:noFill/>
            </a:ln>
          </p:spPr>
          <p:txBody>
            <a:bodyPr wrap="none" lIns="0" tIns="0" rIns="0" bIns="0" anchor="t" anchorCtr="0">
              <a:spAutoFit/>
            </a:bodyPr>
            <a:lstStyle/>
            <a:p>
              <a:pPr algn="l"/>
              <a:r>
                <a:rPr lang="en-US" sz="6150" b="1" dirty="0">
                  <a:solidFill>
                    <a:schemeClr val="accent1"/>
                  </a:solidFill>
                  <a:latin typeface="+mn-lt"/>
                  <a:ea typeface="+mn-ea"/>
                  <a:cs typeface="+mn-cs"/>
                </a:rPr>
                <a:t>CABINET</a:t>
              </a:r>
            </a:p>
          </p:txBody>
        </p:sp>
        <p:sp>
          <p:nvSpPr>
            <p:cNvPr id="6" name="TextBox 6"/>
            <p:cNvSpPr txBox="1"/>
            <p:nvPr/>
          </p:nvSpPr>
          <p:spPr>
            <a:xfrm>
              <a:off x="676656" y="2072640"/>
              <a:ext cx="8453491"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Content Relevance-Based Noise Reduction for Table Question Answering</a:t>
              </a:r>
            </a:p>
          </p:txBody>
        </p:sp>
      </p:grpSp>
      <p:grpSp>
        <p:nvGrpSpPr>
          <p:cNvPr id="12" name="Group 12"/>
          <p:cNvGrpSpPr/>
          <p:nvPr/>
        </p:nvGrpSpPr>
        <p:grpSpPr>
          <a:xfrm>
            <a:off x="666750" y="2830354"/>
            <a:ext cx="6303215" cy="529399"/>
            <a:chOff x="666750" y="2830354"/>
            <a:chExt cx="6303215" cy="529399"/>
          </a:xfrm>
        </p:grpSpPr>
        <p:sp>
          <p:nvSpPr>
            <p:cNvPr id="8" name="Rectangle 8"/>
            <p:cNvSpPr/>
            <p:nvPr/>
          </p:nvSpPr>
          <p:spPr>
            <a:xfrm>
              <a:off x="666750" y="2857500"/>
              <a:ext cx="323850" cy="323850"/>
            </a:xfrm>
            <a:prstGeom prst="roundRect">
              <a:avLst>
                <a:gd name="adj" fmla="val 23529"/>
              </a:avLst>
            </a:prstGeom>
            <a:solidFill>
              <a:srgbClr val="EEF3FA"/>
            </a:solidFill>
            <a:ln>
              <a:noFill/>
            </a:ln>
          </p:spPr>
        </p:sp>
        <p:sp>
          <p:nvSpPr>
            <p:cNvPr id="9" name="Freeform 9"/>
            <p:cNvSpPr/>
            <p:nvPr/>
          </p:nvSpPr>
          <p:spPr>
            <a:xfrm>
              <a:off x="742950" y="2933700"/>
              <a:ext cx="190500" cy="161925"/>
            </a:xfrm>
            <a:custGeom>
              <a:avLst/>
              <a:gdLst/>
              <a:ahLst/>
              <a:cxnLst/>
              <a:rect l="l" t="t" r="r" b="b"/>
              <a:pathLst>
                <a:path w="190500" h="161925">
                  <a:moveTo>
                    <a:pt x="0" y="85725"/>
                  </a:moveTo>
                  <a:lnTo>
                    <a:pt x="76200" y="161925"/>
                  </a:lnTo>
                  <a:lnTo>
                    <a:pt x="190500" y="0"/>
                  </a:lnTo>
                </a:path>
              </a:pathLst>
            </a:custGeom>
            <a:noFill/>
            <a:ln w="33338" cap="rnd">
              <a:solidFill>
                <a:schemeClr val="accent1"/>
              </a:solidFill>
              <a:round/>
            </a:ln>
          </p:spPr>
        </p:sp>
        <p:sp>
          <p:nvSpPr>
            <p:cNvPr id="10" name="TextBox 10"/>
            <p:cNvSpPr txBox="1"/>
            <p:nvPr/>
          </p:nvSpPr>
          <p:spPr>
            <a:xfrm>
              <a:off x="1134999" y="2830354"/>
              <a:ext cx="5834966"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LLMs reason over tables, but only a few cells matter</a:t>
              </a:r>
            </a:p>
          </p:txBody>
        </p:sp>
        <p:sp>
          <p:nvSpPr>
            <p:cNvPr id="11" name="TextBox 11"/>
            <p:cNvSpPr txBox="1"/>
            <p:nvPr/>
          </p:nvSpPr>
          <p:spPr>
            <a:xfrm>
              <a:off x="1136523" y="3110389"/>
              <a:ext cx="4475876"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the irrelevant cells act as noise that hurts accuracy</a:t>
              </a:r>
            </a:p>
          </p:txBody>
        </p:sp>
      </p:grpSp>
      <p:grpSp>
        <p:nvGrpSpPr>
          <p:cNvPr id="17" name="Group 17"/>
          <p:cNvGrpSpPr/>
          <p:nvPr/>
        </p:nvGrpSpPr>
        <p:grpSpPr>
          <a:xfrm>
            <a:off x="666750" y="3478054"/>
            <a:ext cx="5798602" cy="529399"/>
            <a:chOff x="666750" y="3478054"/>
            <a:chExt cx="5798602" cy="529399"/>
          </a:xfrm>
        </p:grpSpPr>
        <p:sp>
          <p:nvSpPr>
            <p:cNvPr id="13" name="Rectangle 13"/>
            <p:cNvSpPr/>
            <p:nvPr/>
          </p:nvSpPr>
          <p:spPr>
            <a:xfrm>
              <a:off x="666750" y="3505200"/>
              <a:ext cx="323850" cy="323850"/>
            </a:xfrm>
            <a:prstGeom prst="roundRect">
              <a:avLst>
                <a:gd name="adj" fmla="val 23529"/>
              </a:avLst>
            </a:prstGeom>
            <a:solidFill>
              <a:srgbClr val="FDF3E0"/>
            </a:solidFill>
            <a:ln>
              <a:noFill/>
            </a:ln>
          </p:spPr>
        </p:sp>
        <p:sp>
          <p:nvSpPr>
            <p:cNvPr id="14" name="Freeform 14"/>
            <p:cNvSpPr/>
            <p:nvPr/>
          </p:nvSpPr>
          <p:spPr>
            <a:xfrm>
              <a:off x="742950" y="3581400"/>
              <a:ext cx="190500" cy="161925"/>
            </a:xfrm>
            <a:custGeom>
              <a:avLst/>
              <a:gdLst/>
              <a:ahLst/>
              <a:cxnLst/>
              <a:rect l="l" t="t" r="r" b="b"/>
              <a:pathLst>
                <a:path w="190500" h="161925">
                  <a:moveTo>
                    <a:pt x="0" y="85725"/>
                  </a:moveTo>
                  <a:lnTo>
                    <a:pt x="76200" y="161925"/>
                  </a:lnTo>
                  <a:lnTo>
                    <a:pt x="190500" y="0"/>
                  </a:lnTo>
                </a:path>
              </a:pathLst>
            </a:custGeom>
            <a:noFill/>
            <a:ln w="33338" cap="rnd">
              <a:solidFill>
                <a:schemeClr val="accent2"/>
              </a:solidFill>
              <a:round/>
            </a:ln>
          </p:spPr>
        </p:sp>
        <p:sp>
          <p:nvSpPr>
            <p:cNvPr id="15" name="TextBox 15"/>
            <p:cNvSpPr txBox="1"/>
            <p:nvPr/>
          </p:nvSpPr>
          <p:spPr>
            <a:xfrm>
              <a:off x="1134999" y="3478054"/>
              <a:ext cx="4680059"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Focus on relevant cells, suppress the rest</a:t>
              </a:r>
            </a:p>
          </p:txBody>
        </p:sp>
        <p:sp>
          <p:nvSpPr>
            <p:cNvPr id="16" name="TextBox 16"/>
            <p:cNvSpPr txBox="1"/>
            <p:nvPr/>
          </p:nvSpPr>
          <p:spPr>
            <a:xfrm>
              <a:off x="1136523" y="3758089"/>
              <a:ext cx="5328829"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soft relevance weighting instead of deleting parts of the table</a:t>
              </a:r>
            </a:p>
          </p:txBody>
        </p:sp>
      </p:grpSp>
      <p:grpSp>
        <p:nvGrpSpPr>
          <p:cNvPr id="20" name="Group 20"/>
          <p:cNvGrpSpPr/>
          <p:nvPr/>
        </p:nvGrpSpPr>
        <p:grpSpPr>
          <a:xfrm>
            <a:off x="666750" y="4191000"/>
            <a:ext cx="5104531" cy="495300"/>
            <a:chOff x="666750" y="4191000"/>
            <a:chExt cx="5104531" cy="495300"/>
          </a:xfrm>
        </p:grpSpPr>
        <p:sp>
          <p:nvSpPr>
            <p:cNvPr id="18" name="Rectangle 18"/>
            <p:cNvSpPr/>
            <p:nvPr/>
          </p:nvSpPr>
          <p:spPr>
            <a:xfrm>
              <a:off x="666750" y="4191000"/>
              <a:ext cx="4476750" cy="495300"/>
            </a:xfrm>
            <a:prstGeom prst="roundRect">
              <a:avLst>
                <a:gd name="adj" fmla="val 19231"/>
              </a:avLst>
            </a:prstGeom>
            <a:solidFill>
              <a:schemeClr val="accent1"/>
            </a:solidFill>
            <a:ln>
              <a:noFill/>
            </a:ln>
          </p:spPr>
        </p:sp>
        <p:sp>
          <p:nvSpPr>
            <p:cNvPr id="19" name="TextBox 19"/>
            <p:cNvSpPr txBox="1"/>
            <p:nvPr/>
          </p:nvSpPr>
          <p:spPr>
            <a:xfrm>
              <a:off x="887730" y="4343400"/>
              <a:ext cx="4883551"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New state of the art on 3 table QA benchmarks</a:t>
              </a:r>
            </a:p>
          </p:txBody>
        </p:sp>
      </p:grpSp>
      <p:sp>
        <p:nvSpPr>
          <p:cNvPr id="21" name="Rectangle 21"/>
          <p:cNvSpPr/>
          <p:nvPr/>
        </p:nvSpPr>
        <p:spPr>
          <a:xfrm>
            <a:off x="8229600" y="1123950"/>
            <a:ext cx="3352800" cy="3733800"/>
          </a:xfrm>
          <a:prstGeom prst="roundRect">
            <a:avLst>
              <a:gd name="adj" fmla="val 4545"/>
            </a:avLst>
          </a:prstGeom>
          <a:solidFill>
            <a:schemeClr val="lt2"/>
          </a:solidFill>
          <a:ln w="14288">
            <a:solidFill>
              <a:schemeClr val="accent4"/>
            </a:solidFill>
          </a:ln>
        </p:spPr>
      </p:sp>
      <p:sp>
        <p:nvSpPr>
          <p:cNvPr id="22" name="TextBox 22"/>
          <p:cNvSpPr txBox="1"/>
          <p:nvPr/>
        </p:nvSpPr>
        <p:spPr>
          <a:xfrm>
            <a:off x="8471154" y="1356360"/>
            <a:ext cx="2961681" cy="234696"/>
          </a:xfrm>
          <a:prstGeom prst="rect">
            <a:avLst/>
          </a:prstGeom>
          <a:noFill/>
          <a:ln>
            <a:noFill/>
          </a:ln>
        </p:spPr>
        <p:txBody>
          <a:bodyPr wrap="none" lIns="0" tIns="0" rIns="0" bIns="0" anchor="t" anchorCtr="0">
            <a:spAutoFit/>
          </a:bodyPr>
          <a:lstStyle/>
          <a:p>
            <a:pPr algn="l"/>
            <a:r>
              <a:rPr lang="en-US" sz="1200" b="1" spc="75" dirty="0">
                <a:solidFill>
                  <a:schemeClr val="accent1"/>
                </a:solidFill>
                <a:latin typeface="+mn-lt"/>
                <a:ea typeface="+mn-ea"/>
                <a:cs typeface="+mn-cs"/>
              </a:rPr>
              <a:t>UNSUPERVISED RELEVANCE SCORE</a:t>
            </a:r>
          </a:p>
        </p:txBody>
      </p:sp>
      <p:sp>
        <p:nvSpPr>
          <p:cNvPr id="23" name="TextBox 23"/>
          <p:cNvSpPr txBox="1"/>
          <p:nvPr/>
        </p:nvSpPr>
        <p:spPr>
          <a:xfrm>
            <a:off x="8472297" y="1609249"/>
            <a:ext cx="1810718"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high = relevant · low = noise</a:t>
            </a:r>
          </a:p>
        </p:txBody>
      </p:sp>
      <p:grpSp>
        <p:nvGrpSpPr>
          <p:cNvPr id="42" name="Group 42"/>
          <p:cNvGrpSpPr/>
          <p:nvPr/>
        </p:nvGrpSpPr>
        <p:grpSpPr>
          <a:xfrm>
            <a:off x="8477250" y="1905000"/>
            <a:ext cx="2857500" cy="1619250"/>
            <a:chOff x="8477250" y="1905000"/>
            <a:chExt cx="2857500" cy="1619250"/>
          </a:xfrm>
        </p:grpSpPr>
        <p:sp>
          <p:nvSpPr>
            <p:cNvPr id="24" name="Rectangle 24"/>
            <p:cNvSpPr/>
            <p:nvPr/>
          </p:nvSpPr>
          <p:spPr>
            <a:xfrm>
              <a:off x="8477250" y="1905000"/>
              <a:ext cx="1143000" cy="190500"/>
            </a:xfrm>
            <a:prstGeom prst="roundRect">
              <a:avLst>
                <a:gd name="adj" fmla="val 20000"/>
              </a:avLst>
            </a:prstGeom>
            <a:solidFill>
              <a:srgbClr val="E4EAF2"/>
            </a:solidFill>
            <a:ln>
              <a:noFill/>
            </a:ln>
          </p:spPr>
        </p:sp>
        <p:sp>
          <p:nvSpPr>
            <p:cNvPr id="25" name="Rectangle 25"/>
            <p:cNvSpPr/>
            <p:nvPr/>
          </p:nvSpPr>
          <p:spPr>
            <a:xfrm>
              <a:off x="9696450" y="1905000"/>
              <a:ext cx="1638300" cy="190500"/>
            </a:xfrm>
            <a:prstGeom prst="roundRect">
              <a:avLst>
                <a:gd name="adj" fmla="val 50000"/>
              </a:avLst>
            </a:prstGeom>
            <a:solidFill>
              <a:srgbClr val="E4EAF2"/>
            </a:solidFill>
            <a:ln>
              <a:noFill/>
            </a:ln>
          </p:spPr>
        </p:sp>
        <p:sp>
          <p:nvSpPr>
            <p:cNvPr id="26" name="Rectangle 26"/>
            <p:cNvSpPr/>
            <p:nvPr/>
          </p:nvSpPr>
          <p:spPr>
            <a:xfrm>
              <a:off x="9696450" y="1905000"/>
              <a:ext cx="1428750" cy="190500"/>
            </a:xfrm>
            <a:prstGeom prst="roundRect">
              <a:avLst>
                <a:gd name="adj" fmla="val 50000"/>
              </a:avLst>
            </a:prstGeom>
            <a:gradFill>
              <a:gsLst>
                <a:gs pos="0">
                  <a:schemeClr val="accent2"/>
                </a:gs>
                <a:gs pos="100000">
                  <a:srgbClr val="FBBF24"/>
                </a:gs>
              </a:gsLst>
              <a:lin ang="0" scaled="1"/>
            </a:gradFill>
            <a:ln>
              <a:noFill/>
            </a:ln>
          </p:spPr>
        </p:sp>
        <p:sp>
          <p:nvSpPr>
            <p:cNvPr id="27" name="Rectangle 27"/>
            <p:cNvSpPr/>
            <p:nvPr/>
          </p:nvSpPr>
          <p:spPr>
            <a:xfrm>
              <a:off x="8477250" y="2190750"/>
              <a:ext cx="1143000" cy="190500"/>
            </a:xfrm>
            <a:prstGeom prst="roundRect">
              <a:avLst>
                <a:gd name="adj" fmla="val 20000"/>
              </a:avLst>
            </a:prstGeom>
            <a:solidFill>
              <a:srgbClr val="E4EAF2"/>
            </a:solidFill>
            <a:ln>
              <a:noFill/>
            </a:ln>
          </p:spPr>
        </p:sp>
        <p:sp>
          <p:nvSpPr>
            <p:cNvPr id="28" name="Rectangle 28"/>
            <p:cNvSpPr/>
            <p:nvPr/>
          </p:nvSpPr>
          <p:spPr>
            <a:xfrm>
              <a:off x="9696450" y="2190750"/>
              <a:ext cx="1638300" cy="190500"/>
            </a:xfrm>
            <a:prstGeom prst="roundRect">
              <a:avLst>
                <a:gd name="adj" fmla="val 50000"/>
              </a:avLst>
            </a:prstGeom>
            <a:solidFill>
              <a:srgbClr val="E4EAF2"/>
            </a:solidFill>
            <a:ln>
              <a:noFill/>
            </a:ln>
          </p:spPr>
        </p:sp>
        <p:sp>
          <p:nvSpPr>
            <p:cNvPr id="29" name="Rectangle 29"/>
            <p:cNvSpPr/>
            <p:nvPr/>
          </p:nvSpPr>
          <p:spPr>
            <a:xfrm>
              <a:off x="9696450" y="2190750"/>
              <a:ext cx="381000" cy="190500"/>
            </a:xfrm>
            <a:prstGeom prst="roundRect">
              <a:avLst>
                <a:gd name="adj" fmla="val 50000"/>
              </a:avLst>
            </a:prstGeom>
            <a:solidFill>
              <a:srgbClr val="C7D2DE"/>
            </a:solidFill>
            <a:ln>
              <a:noFill/>
            </a:ln>
          </p:spPr>
        </p:sp>
        <p:sp>
          <p:nvSpPr>
            <p:cNvPr id="30" name="Rectangle 30"/>
            <p:cNvSpPr/>
            <p:nvPr/>
          </p:nvSpPr>
          <p:spPr>
            <a:xfrm>
              <a:off x="8477250" y="2476500"/>
              <a:ext cx="1143000" cy="190500"/>
            </a:xfrm>
            <a:prstGeom prst="roundRect">
              <a:avLst>
                <a:gd name="adj" fmla="val 20000"/>
              </a:avLst>
            </a:prstGeom>
            <a:solidFill>
              <a:srgbClr val="FDF3E0"/>
            </a:solidFill>
            <a:ln>
              <a:noFill/>
            </a:ln>
          </p:spPr>
        </p:sp>
        <p:sp>
          <p:nvSpPr>
            <p:cNvPr id="31" name="Rectangle 31"/>
            <p:cNvSpPr/>
            <p:nvPr/>
          </p:nvSpPr>
          <p:spPr>
            <a:xfrm>
              <a:off x="9696450" y="2476500"/>
              <a:ext cx="1638300" cy="190500"/>
            </a:xfrm>
            <a:prstGeom prst="roundRect">
              <a:avLst>
                <a:gd name="adj" fmla="val 50000"/>
              </a:avLst>
            </a:prstGeom>
            <a:solidFill>
              <a:srgbClr val="E4EAF2"/>
            </a:solidFill>
            <a:ln>
              <a:noFill/>
            </a:ln>
          </p:spPr>
        </p:sp>
        <p:sp>
          <p:nvSpPr>
            <p:cNvPr id="32" name="Rectangle 32"/>
            <p:cNvSpPr/>
            <p:nvPr/>
          </p:nvSpPr>
          <p:spPr>
            <a:xfrm>
              <a:off x="9696450" y="2476500"/>
              <a:ext cx="1562100" cy="190500"/>
            </a:xfrm>
            <a:prstGeom prst="roundRect">
              <a:avLst>
                <a:gd name="adj" fmla="val 50000"/>
              </a:avLst>
            </a:prstGeom>
            <a:gradFill>
              <a:gsLst>
                <a:gs pos="0">
                  <a:schemeClr val="accent2"/>
                </a:gs>
                <a:gs pos="100000">
                  <a:srgbClr val="FBBF24"/>
                </a:gs>
              </a:gsLst>
              <a:lin ang="0" scaled="1"/>
            </a:gradFill>
            <a:ln>
              <a:noFill/>
            </a:ln>
          </p:spPr>
        </p:sp>
        <p:sp>
          <p:nvSpPr>
            <p:cNvPr id="33" name="Rectangle 33"/>
            <p:cNvSpPr/>
            <p:nvPr/>
          </p:nvSpPr>
          <p:spPr>
            <a:xfrm>
              <a:off x="8477250" y="2762250"/>
              <a:ext cx="1143000" cy="190500"/>
            </a:xfrm>
            <a:prstGeom prst="roundRect">
              <a:avLst>
                <a:gd name="adj" fmla="val 20000"/>
              </a:avLst>
            </a:prstGeom>
            <a:solidFill>
              <a:srgbClr val="E4EAF2"/>
            </a:solidFill>
            <a:ln>
              <a:noFill/>
            </a:ln>
          </p:spPr>
        </p:sp>
        <p:sp>
          <p:nvSpPr>
            <p:cNvPr id="34" name="Rectangle 34"/>
            <p:cNvSpPr/>
            <p:nvPr/>
          </p:nvSpPr>
          <p:spPr>
            <a:xfrm>
              <a:off x="9696450" y="2762250"/>
              <a:ext cx="1638300" cy="190500"/>
            </a:xfrm>
            <a:prstGeom prst="roundRect">
              <a:avLst>
                <a:gd name="adj" fmla="val 50000"/>
              </a:avLst>
            </a:prstGeom>
            <a:solidFill>
              <a:srgbClr val="E4EAF2"/>
            </a:solidFill>
            <a:ln>
              <a:noFill/>
            </a:ln>
          </p:spPr>
        </p:sp>
        <p:sp>
          <p:nvSpPr>
            <p:cNvPr id="35" name="Rectangle 35"/>
            <p:cNvSpPr/>
            <p:nvPr/>
          </p:nvSpPr>
          <p:spPr>
            <a:xfrm>
              <a:off x="9696450" y="2762250"/>
              <a:ext cx="285750" cy="190500"/>
            </a:xfrm>
            <a:prstGeom prst="roundRect">
              <a:avLst>
                <a:gd name="adj" fmla="val 50000"/>
              </a:avLst>
            </a:prstGeom>
            <a:solidFill>
              <a:srgbClr val="C7D2DE"/>
            </a:solidFill>
            <a:ln>
              <a:noFill/>
            </a:ln>
          </p:spPr>
        </p:sp>
        <p:sp>
          <p:nvSpPr>
            <p:cNvPr id="36" name="Rectangle 36"/>
            <p:cNvSpPr/>
            <p:nvPr/>
          </p:nvSpPr>
          <p:spPr>
            <a:xfrm>
              <a:off x="8477250" y="3048000"/>
              <a:ext cx="1143000" cy="190500"/>
            </a:xfrm>
            <a:prstGeom prst="roundRect">
              <a:avLst>
                <a:gd name="adj" fmla="val 20000"/>
              </a:avLst>
            </a:prstGeom>
            <a:solidFill>
              <a:srgbClr val="FDF3E0"/>
            </a:solidFill>
            <a:ln>
              <a:noFill/>
            </a:ln>
          </p:spPr>
        </p:sp>
        <p:sp>
          <p:nvSpPr>
            <p:cNvPr id="37" name="Rectangle 37"/>
            <p:cNvSpPr/>
            <p:nvPr/>
          </p:nvSpPr>
          <p:spPr>
            <a:xfrm>
              <a:off x="9696450" y="3048000"/>
              <a:ext cx="1638300" cy="190500"/>
            </a:xfrm>
            <a:prstGeom prst="roundRect">
              <a:avLst>
                <a:gd name="adj" fmla="val 50000"/>
              </a:avLst>
            </a:prstGeom>
            <a:solidFill>
              <a:srgbClr val="E4EAF2"/>
            </a:solidFill>
            <a:ln>
              <a:noFill/>
            </a:ln>
          </p:spPr>
        </p:sp>
        <p:sp>
          <p:nvSpPr>
            <p:cNvPr id="38" name="Rectangle 38"/>
            <p:cNvSpPr/>
            <p:nvPr/>
          </p:nvSpPr>
          <p:spPr>
            <a:xfrm>
              <a:off x="9696450" y="3048000"/>
              <a:ext cx="1333500" cy="190500"/>
            </a:xfrm>
            <a:prstGeom prst="roundRect">
              <a:avLst>
                <a:gd name="adj" fmla="val 50000"/>
              </a:avLst>
            </a:prstGeom>
            <a:gradFill>
              <a:gsLst>
                <a:gs pos="0">
                  <a:schemeClr val="accent2"/>
                </a:gs>
                <a:gs pos="100000">
                  <a:srgbClr val="FBBF24"/>
                </a:gs>
              </a:gsLst>
              <a:lin ang="0" scaled="1"/>
            </a:gradFill>
            <a:ln>
              <a:noFill/>
            </a:ln>
          </p:spPr>
        </p:sp>
        <p:sp>
          <p:nvSpPr>
            <p:cNvPr id="39" name="Rectangle 39"/>
            <p:cNvSpPr/>
            <p:nvPr/>
          </p:nvSpPr>
          <p:spPr>
            <a:xfrm>
              <a:off x="8477250" y="3333750"/>
              <a:ext cx="1143000" cy="190500"/>
            </a:xfrm>
            <a:prstGeom prst="roundRect">
              <a:avLst>
                <a:gd name="adj" fmla="val 20000"/>
              </a:avLst>
            </a:prstGeom>
            <a:solidFill>
              <a:srgbClr val="E4EAF2"/>
            </a:solidFill>
            <a:ln>
              <a:noFill/>
            </a:ln>
          </p:spPr>
        </p:sp>
        <p:sp>
          <p:nvSpPr>
            <p:cNvPr id="40" name="Rectangle 40"/>
            <p:cNvSpPr/>
            <p:nvPr/>
          </p:nvSpPr>
          <p:spPr>
            <a:xfrm>
              <a:off x="9696450" y="3333750"/>
              <a:ext cx="1638300" cy="190500"/>
            </a:xfrm>
            <a:prstGeom prst="roundRect">
              <a:avLst>
                <a:gd name="adj" fmla="val 50000"/>
              </a:avLst>
            </a:prstGeom>
            <a:solidFill>
              <a:srgbClr val="E4EAF2"/>
            </a:solidFill>
            <a:ln>
              <a:noFill/>
            </a:ln>
          </p:spPr>
        </p:sp>
        <p:sp>
          <p:nvSpPr>
            <p:cNvPr id="41" name="Rectangle 41"/>
            <p:cNvSpPr/>
            <p:nvPr/>
          </p:nvSpPr>
          <p:spPr>
            <a:xfrm>
              <a:off x="9696450" y="3333750"/>
              <a:ext cx="495300" cy="190500"/>
            </a:xfrm>
            <a:prstGeom prst="roundRect">
              <a:avLst>
                <a:gd name="adj" fmla="val 50000"/>
              </a:avLst>
            </a:prstGeom>
            <a:solidFill>
              <a:srgbClr val="C7D2DE"/>
            </a:solidFill>
            <a:ln>
              <a:noFill/>
            </a:ln>
          </p:spPr>
        </p:sp>
      </p:grpSp>
      <p:sp>
        <p:nvSpPr>
          <p:cNvPr id="43" name="TextBox 43"/>
          <p:cNvSpPr txBox="1"/>
          <p:nvPr/>
        </p:nvSpPr>
        <p:spPr>
          <a:xfrm>
            <a:off x="8472297" y="3742849"/>
            <a:ext cx="315434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Every cell kept — relevant rows weighted higher,</a:t>
            </a:r>
          </a:p>
        </p:txBody>
      </p:sp>
      <p:sp>
        <p:nvSpPr>
          <p:cNvPr id="44" name="TextBox 44"/>
          <p:cNvSpPr txBox="1"/>
          <p:nvPr/>
        </p:nvSpPr>
        <p:spPr>
          <a:xfrm>
            <a:off x="8472297" y="3933349"/>
            <a:ext cx="2721018"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noise softly suppressed, nothing deleted.</a:t>
            </a:r>
          </a:p>
        </p:txBody>
      </p:sp>
      <p:pic>
        <p:nvPicPr>
          <p:cNvPr id="45" name="Image 45"/>
          <p:cNvPicPr>
            <a:picLocks noChangeAspect="1"/>
          </p:cNvPicPr>
          <p:nvPr/>
        </p:nvPicPr>
        <p:blipFill>
          <a:blip r:embed="rId2"/>
          <a:stretch>
            <a:fillRect/>
          </a:stretch>
        </p:blipFill>
        <p:spPr>
          <a:xfrm>
            <a:off x="8496300" y="4191000"/>
            <a:ext cx="495300" cy="495300"/>
          </a:xfrm>
          <a:prstGeom prst="rect">
            <a:avLst/>
          </a:prstGeom>
        </p:spPr>
      </p:pic>
      <p:sp>
        <p:nvSpPr>
          <p:cNvPr id="46" name="TextBox 46"/>
          <p:cNvSpPr txBox="1"/>
          <p:nvPr/>
        </p:nvSpPr>
        <p:spPr>
          <a:xfrm>
            <a:off x="9063038" y="4265295"/>
            <a:ext cx="363329"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mn-lt"/>
                <a:ea typeface="+mn-ea"/>
                <a:cs typeface="+mn-cs"/>
              </a:rPr>
              <a:t>Paper</a:t>
            </a:r>
          </a:p>
        </p:txBody>
      </p:sp>
      <p:sp>
        <p:nvSpPr>
          <p:cNvPr id="47" name="TextBox 47"/>
          <p:cNvSpPr txBox="1"/>
          <p:nvPr/>
        </p:nvSpPr>
        <p:spPr>
          <a:xfrm>
            <a:off x="9063038" y="4425791"/>
            <a:ext cx="1439055" cy="161925"/>
          </a:xfrm>
          <a:prstGeom prst="rect">
            <a:avLst/>
          </a:prstGeom>
          <a:noFill/>
          <a:ln>
            <a:noFill/>
          </a:ln>
        </p:spPr>
        <p:txBody>
          <a:bodyPr wrap="none" lIns="0" tIns="0" rIns="0" bIns="0" anchor="t" anchorCtr="0">
            <a:spAutoFit/>
          </a:bodyPr>
          <a:lstStyle/>
          <a:p>
            <a:pPr algn="l"/>
            <a:r>
              <a:rPr lang="en-US" sz="820" dirty="0">
                <a:solidFill>
                  <a:schemeClr val="dk2"/>
                </a:solidFill>
                <a:latin typeface="+mn-lt"/>
                <a:ea typeface="+mn-ea"/>
                <a:cs typeface="+mn-cs"/>
              </a:rPr>
              <a:t>arxiv.org/abs/2402.01155</a:t>
            </a:r>
          </a:p>
        </p:txBody>
      </p:sp>
      <p:pic>
        <p:nvPicPr>
          <p:cNvPr id="48" name="Image 48"/>
          <p:cNvPicPr>
            <a:picLocks noChangeAspect="1"/>
          </p:cNvPicPr>
          <p:nvPr/>
        </p:nvPicPr>
        <p:blipFill>
          <a:blip r:embed="rId3"/>
          <a:stretch>
            <a:fillRect/>
          </a:stretch>
        </p:blipFill>
        <p:spPr>
          <a:xfrm>
            <a:off x="10096500" y="4191000"/>
            <a:ext cx="495300" cy="495300"/>
          </a:xfrm>
          <a:prstGeom prst="rect">
            <a:avLst/>
          </a:prstGeom>
        </p:spPr>
      </p:pic>
      <p:sp>
        <p:nvSpPr>
          <p:cNvPr id="49" name="TextBox 49"/>
          <p:cNvSpPr txBox="1"/>
          <p:nvPr/>
        </p:nvSpPr>
        <p:spPr>
          <a:xfrm>
            <a:off x="10663238" y="4265295"/>
            <a:ext cx="293360"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mn-lt"/>
                <a:ea typeface="+mn-ea"/>
                <a:cs typeface="+mn-cs"/>
              </a:rPr>
              <a:t>Code</a:t>
            </a:r>
          </a:p>
        </p:txBody>
      </p:sp>
      <p:sp>
        <p:nvSpPr>
          <p:cNvPr id="50" name="TextBox 50"/>
          <p:cNvSpPr txBox="1"/>
          <p:nvPr/>
        </p:nvSpPr>
        <p:spPr>
          <a:xfrm>
            <a:off x="10663238" y="4425791"/>
            <a:ext cx="671855" cy="161925"/>
          </a:xfrm>
          <a:prstGeom prst="rect">
            <a:avLst/>
          </a:prstGeom>
          <a:noFill/>
          <a:ln>
            <a:noFill/>
          </a:ln>
        </p:spPr>
        <p:txBody>
          <a:bodyPr wrap="none" lIns="0" tIns="0" rIns="0" bIns="0" anchor="t" anchorCtr="0">
            <a:spAutoFit/>
          </a:bodyPr>
          <a:lstStyle/>
          <a:p>
            <a:pPr algn="l"/>
            <a:r>
              <a:rPr lang="en-US" sz="820" dirty="0">
                <a:solidFill>
                  <a:schemeClr val="dk2"/>
                </a:solidFill>
                <a:latin typeface="+mn-lt"/>
                <a:ea typeface="+mn-ea"/>
                <a:cs typeface="+mn-cs"/>
              </a:rPr>
              <a:t>github.com/</a:t>
            </a:r>
          </a:p>
        </p:txBody>
      </p:sp>
      <p:sp>
        <p:nvSpPr>
          <p:cNvPr id="51" name="TextBox 51"/>
          <p:cNvSpPr txBox="1"/>
          <p:nvPr/>
        </p:nvSpPr>
        <p:spPr>
          <a:xfrm>
            <a:off x="10663238" y="4559141"/>
            <a:ext cx="896798" cy="161925"/>
          </a:xfrm>
          <a:prstGeom prst="rect">
            <a:avLst/>
          </a:prstGeom>
          <a:noFill/>
          <a:ln>
            <a:noFill/>
          </a:ln>
        </p:spPr>
        <p:txBody>
          <a:bodyPr wrap="none" lIns="0" tIns="0" rIns="0" bIns="0" anchor="t" anchorCtr="0">
            <a:spAutoFit/>
          </a:bodyPr>
          <a:lstStyle/>
          <a:p>
            <a:pPr algn="l"/>
            <a:r>
              <a:rPr lang="en-US" sz="820" dirty="0">
                <a:solidFill>
                  <a:schemeClr val="dk2"/>
                </a:solidFill>
                <a:latin typeface="+mn-lt"/>
                <a:ea typeface="+mn-ea"/>
                <a:cs typeface="+mn-cs"/>
              </a:rPr>
              <a:t>Sohanpatnaik106</a:t>
            </a:r>
          </a:p>
        </p:txBody>
      </p:sp>
      <p:sp>
        <p:nvSpPr>
          <p:cNvPr id="52" name="TextBox 52"/>
          <p:cNvSpPr txBox="1"/>
          <p:nvPr/>
        </p:nvSpPr>
        <p:spPr>
          <a:xfrm>
            <a:off x="660654" y="5166360"/>
            <a:ext cx="819274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Sohan Patnaik, Heril Changwal, Milan Aggarwal, Sumit Bhatia, Yaman Kumar Singla, Balaji Krishnamurthy</a:t>
            </a:r>
          </a:p>
        </p:txBody>
      </p:sp>
      <p:sp>
        <p:nvSpPr>
          <p:cNvPr id="53" name="Line 53"/>
          <p:cNvSpPr/>
          <p:nvPr/>
        </p:nvSpPr>
        <p:spPr>
          <a:xfrm>
            <a:off x="666750" y="5638800"/>
            <a:ext cx="10858500" cy="9525"/>
          </a:xfrm>
          <a:custGeom>
            <a:avLst/>
            <a:gdLst/>
            <a:ahLst/>
            <a:cxnLst/>
            <a:rect l="l" t="t" r="r" b="b"/>
            <a:pathLst>
              <a:path w="10858500" h="9525">
                <a:moveTo>
                  <a:pt x="0" y="0"/>
                </a:moveTo>
                <a:lnTo>
                  <a:pt x="10858500" y="0"/>
                </a:lnTo>
              </a:path>
            </a:pathLst>
          </a:custGeom>
          <a:noFill/>
          <a:ln w="14288">
            <a:solidFill>
              <a:schemeClr val="accent4"/>
            </a:solidFill>
          </a:ln>
        </p:spPr>
      </p:sp>
      <p:pic>
        <p:nvPicPr>
          <p:cNvPr id="54" name="Image 54"/>
          <p:cNvPicPr>
            <a:picLocks noChangeAspect="1"/>
          </p:cNvPicPr>
          <p:nvPr/>
        </p:nvPicPr>
        <p:blipFill>
          <a:blip r:embed="rId4"/>
          <a:stretch>
            <a:fillRect/>
          </a:stretch>
        </p:blipFill>
        <p:spPr>
          <a:xfrm>
            <a:off x="666750" y="5829300"/>
            <a:ext cx="495300" cy="685800"/>
          </a:xfrm>
          <a:prstGeom prst="rect">
            <a:avLst/>
          </a:prstGeom>
        </p:spPr>
      </p:pic>
      <p:pic>
        <p:nvPicPr>
          <p:cNvPr id="55" name="Image 55"/>
          <p:cNvPicPr>
            <a:picLocks noChangeAspect="1"/>
          </p:cNvPicPr>
          <p:nvPr/>
        </p:nvPicPr>
        <p:blipFill>
          <a:blip r:embed="rId5"/>
          <a:stretch>
            <a:fillRect/>
          </a:stretch>
        </p:blipFill>
        <p:spPr>
          <a:xfrm>
            <a:off x="1428750" y="6019800"/>
            <a:ext cx="2095500" cy="419100"/>
          </a:xfrm>
          <a:prstGeom prst="rect">
            <a:avLst/>
          </a:prstGeom>
        </p:spPr>
      </p:pic>
      <p:pic>
        <p:nvPicPr>
          <p:cNvPr id="56" name="Image 56"/>
          <p:cNvPicPr>
            <a:picLocks noChangeAspect="1"/>
          </p:cNvPicPr>
          <p:nvPr/>
        </p:nvPicPr>
        <p:blipFill>
          <a:blip r:embed="rId6"/>
          <a:stretch>
            <a:fillRect/>
          </a:stretch>
        </p:blipFill>
        <p:spPr>
          <a:xfrm>
            <a:off x="3810000" y="6096000"/>
            <a:ext cx="1714500" cy="352425"/>
          </a:xfrm>
          <a:prstGeom prst="rect">
            <a:avLst/>
          </a:prstGeom>
        </p:spPr>
      </p:pic>
      <p:sp>
        <p:nvSpPr>
          <p:cNvPr id="57" name="TextBox 57"/>
          <p:cNvSpPr txBox="1"/>
          <p:nvPr/>
        </p:nvSpPr>
        <p:spPr>
          <a:xfrm>
            <a:off x="9729069" y="6295549"/>
            <a:ext cx="1801134"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CABINET · ICLR 2024 01 / 10</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sp>
      <p:sp>
        <p:nvSpPr>
          <p:cNvPr id="3" name="Rectangle 3"/>
          <p:cNvSpPr/>
          <p:nvPr/>
        </p:nvSpPr>
        <p:spPr>
          <a:xfrm>
            <a:off x="0" y="0"/>
            <a:ext cx="12192000" cy="57150"/>
          </a:xfrm>
          <a:prstGeom prst="rect">
            <a:avLst/>
          </a:prstGeom>
          <a:solidFill>
            <a:schemeClr val="accent2"/>
          </a:solidFill>
          <a:ln>
            <a:noFill/>
          </a:ln>
        </p:spPr>
      </p:sp>
      <p:sp>
        <p:nvSpPr>
          <p:cNvPr id="4" name="TextBox 4"/>
          <p:cNvSpPr txBox="1"/>
          <p:nvPr/>
        </p:nvSpPr>
        <p:spPr>
          <a:xfrm>
            <a:off x="661035" y="450056"/>
            <a:ext cx="850362"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PROBLEM</a:t>
            </a:r>
          </a:p>
        </p:txBody>
      </p:sp>
      <p:sp>
        <p:nvSpPr>
          <p:cNvPr id="5" name="TextBox 5"/>
          <p:cNvSpPr txBox="1"/>
          <p:nvPr/>
        </p:nvSpPr>
        <p:spPr>
          <a:xfrm>
            <a:off x="634746" y="715328"/>
            <a:ext cx="5947033"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Noise in Table Question Answering</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sp>
      <p:grpSp>
        <p:nvGrpSpPr>
          <p:cNvPr id="37" name="Group 37"/>
          <p:cNvGrpSpPr/>
          <p:nvPr/>
        </p:nvGrpSpPr>
        <p:grpSpPr>
          <a:xfrm>
            <a:off x="571500" y="1428750"/>
            <a:ext cx="5219700" cy="2895600"/>
            <a:chOff x="571500" y="1428750"/>
            <a:chExt cx="5219700" cy="2895600"/>
          </a:xfrm>
        </p:grpSpPr>
        <p:sp>
          <p:nvSpPr>
            <p:cNvPr id="7" name="Rectangle 7"/>
            <p:cNvSpPr/>
            <p:nvPr/>
          </p:nvSpPr>
          <p:spPr>
            <a:xfrm>
              <a:off x="571500" y="1428750"/>
              <a:ext cx="5219700" cy="2895600"/>
            </a:xfrm>
            <a:prstGeom prst="roundRect">
              <a:avLst>
                <a:gd name="adj" fmla="val 4605"/>
              </a:avLst>
            </a:prstGeom>
            <a:solidFill>
              <a:schemeClr val="lt2"/>
            </a:solidFill>
            <a:ln w="14288">
              <a:solidFill>
                <a:schemeClr val="accent4"/>
              </a:solidFill>
            </a:ln>
          </p:spPr>
        </p:sp>
        <p:sp>
          <p:nvSpPr>
            <p:cNvPr id="8" name="TextBox 8"/>
            <p:cNvSpPr txBox="1"/>
            <p:nvPr/>
          </p:nvSpPr>
          <p:spPr>
            <a:xfrm>
              <a:off x="794004" y="1623060"/>
              <a:ext cx="4391998"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Q: Highest points an opponent scored in a lost game?</a:t>
              </a:r>
            </a:p>
          </p:txBody>
        </p:sp>
        <p:sp>
          <p:nvSpPr>
            <p:cNvPr id="9" name="Rectangle 9"/>
            <p:cNvSpPr/>
            <p:nvPr/>
          </p:nvSpPr>
          <p:spPr>
            <a:xfrm>
              <a:off x="800100" y="1905000"/>
              <a:ext cx="4762500" cy="381000"/>
            </a:xfrm>
            <a:prstGeom prst="rect">
              <a:avLst/>
            </a:prstGeom>
            <a:solidFill>
              <a:schemeClr val="accent1"/>
            </a:solidFill>
            <a:ln>
              <a:noFill/>
            </a:ln>
          </p:spPr>
        </p:sp>
        <p:sp>
          <p:nvSpPr>
            <p:cNvPr id="10" name="TextBox 10"/>
            <p:cNvSpPr txBox="1"/>
            <p:nvPr/>
          </p:nvSpPr>
          <p:spPr>
            <a:xfrm>
              <a:off x="928116" y="2029778"/>
              <a:ext cx="366873" cy="205359"/>
            </a:xfrm>
            <a:prstGeom prst="rect">
              <a:avLst/>
            </a:prstGeom>
            <a:noFill/>
            <a:ln>
              <a:noFill/>
            </a:ln>
          </p:spPr>
          <p:txBody>
            <a:bodyPr wrap="none" lIns="0" tIns="0" rIns="0" bIns="0" anchor="t" anchorCtr="0">
              <a:spAutoFit/>
            </a:bodyPr>
            <a:lstStyle/>
            <a:p>
              <a:pPr algn="l"/>
              <a:r>
                <a:rPr lang="en-US" sz="1050" b="1" dirty="0">
                  <a:solidFill>
                    <a:srgbClr val="FFFFFF"/>
                  </a:solidFill>
                  <a:latin typeface="+mn-lt"/>
                  <a:ea typeface="+mn-ea"/>
                  <a:cs typeface="+mn-cs"/>
                </a:rPr>
                <a:t>week</a:t>
              </a:r>
            </a:p>
          </p:txBody>
        </p:sp>
        <p:sp>
          <p:nvSpPr>
            <p:cNvPr id="11" name="TextBox 11"/>
            <p:cNvSpPr txBox="1"/>
            <p:nvPr/>
          </p:nvSpPr>
          <p:spPr>
            <a:xfrm>
              <a:off x="1671066" y="2029778"/>
              <a:ext cx="663710" cy="205359"/>
            </a:xfrm>
            <a:prstGeom prst="rect">
              <a:avLst/>
            </a:prstGeom>
            <a:noFill/>
            <a:ln>
              <a:noFill/>
            </a:ln>
          </p:spPr>
          <p:txBody>
            <a:bodyPr wrap="none" lIns="0" tIns="0" rIns="0" bIns="0" anchor="t" anchorCtr="0">
              <a:spAutoFit/>
            </a:bodyPr>
            <a:lstStyle/>
            <a:p>
              <a:pPr algn="l"/>
              <a:r>
                <a:rPr lang="en-US" sz="1050" b="1" dirty="0">
                  <a:solidFill>
                    <a:srgbClr val="FFFFFF"/>
                  </a:solidFill>
                  <a:latin typeface="+mn-lt"/>
                  <a:ea typeface="+mn-ea"/>
                  <a:cs typeface="+mn-cs"/>
                </a:rPr>
                <a:t>opponent</a:t>
              </a:r>
            </a:p>
          </p:txBody>
        </p:sp>
        <p:sp>
          <p:nvSpPr>
            <p:cNvPr id="12" name="TextBox 12"/>
            <p:cNvSpPr txBox="1"/>
            <p:nvPr/>
          </p:nvSpPr>
          <p:spPr>
            <a:xfrm>
              <a:off x="4033266" y="2029778"/>
              <a:ext cx="418819" cy="205359"/>
            </a:xfrm>
            <a:prstGeom prst="rect">
              <a:avLst/>
            </a:prstGeom>
            <a:noFill/>
            <a:ln>
              <a:noFill/>
            </a:ln>
          </p:spPr>
          <p:txBody>
            <a:bodyPr wrap="none" lIns="0" tIns="0" rIns="0" bIns="0" anchor="t" anchorCtr="0">
              <a:spAutoFit/>
            </a:bodyPr>
            <a:lstStyle/>
            <a:p>
              <a:pPr algn="l"/>
              <a:r>
                <a:rPr lang="en-US" sz="1050" b="1" dirty="0">
                  <a:solidFill>
                    <a:srgbClr val="FFFFFF"/>
                  </a:solidFill>
                  <a:latin typeface="+mn-lt"/>
                  <a:ea typeface="+mn-ea"/>
                  <a:cs typeface="+mn-cs"/>
                </a:rPr>
                <a:t>score</a:t>
              </a:r>
            </a:p>
          </p:txBody>
        </p:sp>
        <p:sp>
          <p:nvSpPr>
            <p:cNvPr id="13" name="TextBox 13"/>
            <p:cNvSpPr txBox="1"/>
            <p:nvPr/>
          </p:nvSpPr>
          <p:spPr>
            <a:xfrm>
              <a:off x="4871466" y="2029778"/>
              <a:ext cx="463345" cy="205359"/>
            </a:xfrm>
            <a:prstGeom prst="rect">
              <a:avLst/>
            </a:prstGeom>
            <a:noFill/>
            <a:ln>
              <a:noFill/>
            </a:ln>
          </p:spPr>
          <p:txBody>
            <a:bodyPr wrap="none" lIns="0" tIns="0" rIns="0" bIns="0" anchor="t" anchorCtr="0">
              <a:spAutoFit/>
            </a:bodyPr>
            <a:lstStyle/>
            <a:p>
              <a:pPr algn="l"/>
              <a:r>
                <a:rPr lang="en-US" sz="1050" b="1" dirty="0">
                  <a:solidFill>
                    <a:srgbClr val="FFFFFF"/>
                  </a:solidFill>
                  <a:latin typeface="+mn-lt"/>
                  <a:ea typeface="+mn-ea"/>
                  <a:cs typeface="+mn-cs"/>
                </a:rPr>
                <a:t>result</a:t>
              </a:r>
            </a:p>
          </p:txBody>
        </p:sp>
        <p:sp>
          <p:nvSpPr>
            <p:cNvPr id="14" name="Rectangle 14"/>
            <p:cNvSpPr/>
            <p:nvPr/>
          </p:nvSpPr>
          <p:spPr>
            <a:xfrm>
              <a:off x="800100" y="2286000"/>
              <a:ext cx="4762500" cy="381000"/>
            </a:xfrm>
            <a:prstGeom prst="rect">
              <a:avLst/>
            </a:prstGeom>
            <a:solidFill>
              <a:schemeClr val="lt1"/>
            </a:solidFill>
            <a:ln>
              <a:noFill/>
            </a:ln>
          </p:spPr>
        </p:sp>
        <p:sp>
          <p:nvSpPr>
            <p:cNvPr id="15" name="TextBox 15"/>
            <p:cNvSpPr txBox="1"/>
            <p:nvPr/>
          </p:nvSpPr>
          <p:spPr>
            <a:xfrm>
              <a:off x="928116" y="2410778"/>
              <a:ext cx="88411"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1</a:t>
              </a:r>
            </a:p>
          </p:txBody>
        </p:sp>
        <p:sp>
          <p:nvSpPr>
            <p:cNvPr id="16" name="TextBox 16"/>
            <p:cNvSpPr txBox="1"/>
            <p:nvPr/>
          </p:nvSpPr>
          <p:spPr>
            <a:xfrm>
              <a:off x="1671066" y="2410778"/>
              <a:ext cx="1296962"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toronto argonauts</a:t>
              </a:r>
            </a:p>
          </p:txBody>
        </p:sp>
        <p:sp>
          <p:nvSpPr>
            <p:cNvPr id="17" name="TextBox 17"/>
            <p:cNvSpPr txBox="1"/>
            <p:nvPr/>
          </p:nvSpPr>
          <p:spPr>
            <a:xfrm>
              <a:off x="4033266" y="2410778"/>
              <a:ext cx="321640"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13-6</a:t>
              </a:r>
            </a:p>
          </p:txBody>
        </p:sp>
        <p:sp>
          <p:nvSpPr>
            <p:cNvPr id="18" name="TextBox 18"/>
            <p:cNvSpPr txBox="1"/>
            <p:nvPr/>
          </p:nvSpPr>
          <p:spPr>
            <a:xfrm>
              <a:off x="4871466" y="2410778"/>
              <a:ext cx="236830"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win</a:t>
              </a:r>
            </a:p>
          </p:txBody>
        </p:sp>
        <p:sp>
          <p:nvSpPr>
            <p:cNvPr id="19" name="Rectangle 19"/>
            <p:cNvSpPr/>
            <p:nvPr/>
          </p:nvSpPr>
          <p:spPr>
            <a:xfrm>
              <a:off x="800100" y="2667000"/>
              <a:ext cx="4762500" cy="381000"/>
            </a:xfrm>
            <a:prstGeom prst="rect">
              <a:avLst/>
            </a:prstGeom>
            <a:solidFill>
              <a:srgbClr val="E7F2EC"/>
            </a:solidFill>
            <a:ln>
              <a:noFill/>
            </a:ln>
          </p:spPr>
        </p:sp>
        <p:sp>
          <p:nvSpPr>
            <p:cNvPr id="20" name="TextBox 20"/>
            <p:cNvSpPr txBox="1"/>
            <p:nvPr/>
          </p:nvSpPr>
          <p:spPr>
            <a:xfrm>
              <a:off x="928116" y="2791778"/>
              <a:ext cx="92298" cy="205359"/>
            </a:xfrm>
            <a:prstGeom prst="rect">
              <a:avLst/>
            </a:prstGeom>
            <a:noFill/>
            <a:ln>
              <a:noFill/>
            </a:ln>
          </p:spPr>
          <p:txBody>
            <a:bodyPr wrap="none" lIns="0" tIns="0" rIns="0" bIns="0" anchor="t" anchorCtr="0">
              <a:spAutoFit/>
            </a:bodyPr>
            <a:lstStyle/>
            <a:p>
              <a:pPr algn="l"/>
              <a:r>
                <a:rPr lang="en-US" sz="1050" b="1" dirty="0">
                  <a:solidFill>
                    <a:schemeClr val="accent6"/>
                  </a:solidFill>
                  <a:latin typeface="+mn-lt"/>
                  <a:ea typeface="+mn-ea"/>
                  <a:cs typeface="+mn-cs"/>
                </a:rPr>
                <a:t>6</a:t>
              </a:r>
            </a:p>
          </p:txBody>
        </p:sp>
        <p:sp>
          <p:nvSpPr>
            <p:cNvPr id="21" name="TextBox 21"/>
            <p:cNvSpPr txBox="1"/>
            <p:nvPr/>
          </p:nvSpPr>
          <p:spPr>
            <a:xfrm>
              <a:off x="1671066" y="2791778"/>
              <a:ext cx="1442907" cy="205359"/>
            </a:xfrm>
            <a:prstGeom prst="rect">
              <a:avLst/>
            </a:prstGeom>
            <a:noFill/>
            <a:ln>
              <a:noFill/>
            </a:ln>
          </p:spPr>
          <p:txBody>
            <a:bodyPr wrap="none" lIns="0" tIns="0" rIns="0" bIns="0" anchor="t" anchorCtr="0">
              <a:spAutoFit/>
            </a:bodyPr>
            <a:lstStyle/>
            <a:p>
              <a:pPr algn="l"/>
              <a:r>
                <a:rPr lang="en-US" sz="1050" b="1" dirty="0">
                  <a:solidFill>
                    <a:schemeClr val="accent6"/>
                  </a:solidFill>
                  <a:latin typeface="+mn-lt"/>
                  <a:ea typeface="+mn-ea"/>
                  <a:cs typeface="+mn-cs"/>
                </a:rPr>
                <a:t>hamilton tiger-cats</a:t>
              </a:r>
            </a:p>
          </p:txBody>
        </p:sp>
        <p:sp>
          <p:nvSpPr>
            <p:cNvPr id="22" name="TextBox 22"/>
            <p:cNvSpPr txBox="1"/>
            <p:nvPr/>
          </p:nvSpPr>
          <p:spPr>
            <a:xfrm>
              <a:off x="4033266" y="2791778"/>
              <a:ext cx="337189" cy="205359"/>
            </a:xfrm>
            <a:prstGeom prst="rect">
              <a:avLst/>
            </a:prstGeom>
            <a:noFill/>
            <a:ln>
              <a:noFill/>
            </a:ln>
          </p:spPr>
          <p:txBody>
            <a:bodyPr wrap="none" lIns="0" tIns="0" rIns="0" bIns="0" anchor="t" anchorCtr="0">
              <a:spAutoFit/>
            </a:bodyPr>
            <a:lstStyle/>
            <a:p>
              <a:pPr algn="l"/>
              <a:r>
                <a:rPr lang="en-US" sz="1050" b="1" dirty="0">
                  <a:solidFill>
                    <a:schemeClr val="accent6"/>
                  </a:solidFill>
                  <a:latin typeface="+mn-lt"/>
                  <a:ea typeface="+mn-ea"/>
                  <a:cs typeface="+mn-cs"/>
                </a:rPr>
                <a:t>45-0</a:t>
              </a:r>
            </a:p>
          </p:txBody>
        </p:sp>
        <p:sp>
          <p:nvSpPr>
            <p:cNvPr id="23" name="TextBox 23"/>
            <p:cNvSpPr txBox="1"/>
            <p:nvPr/>
          </p:nvSpPr>
          <p:spPr>
            <a:xfrm>
              <a:off x="4871466" y="2791778"/>
              <a:ext cx="300084" cy="205359"/>
            </a:xfrm>
            <a:prstGeom prst="rect">
              <a:avLst/>
            </a:prstGeom>
            <a:noFill/>
            <a:ln>
              <a:noFill/>
            </a:ln>
          </p:spPr>
          <p:txBody>
            <a:bodyPr wrap="none" lIns="0" tIns="0" rIns="0" bIns="0" anchor="t" anchorCtr="0">
              <a:spAutoFit/>
            </a:bodyPr>
            <a:lstStyle/>
            <a:p>
              <a:pPr algn="l"/>
              <a:r>
                <a:rPr lang="en-US" sz="1050" b="1" dirty="0">
                  <a:solidFill>
                    <a:schemeClr val="accent6"/>
                  </a:solidFill>
                  <a:latin typeface="+mn-lt"/>
                  <a:ea typeface="+mn-ea"/>
                  <a:cs typeface="+mn-cs"/>
                </a:rPr>
                <a:t>loss</a:t>
              </a:r>
            </a:p>
          </p:txBody>
        </p:sp>
        <p:sp>
          <p:nvSpPr>
            <p:cNvPr id="24" name="Rectangle 24"/>
            <p:cNvSpPr/>
            <p:nvPr/>
          </p:nvSpPr>
          <p:spPr>
            <a:xfrm>
              <a:off x="800100" y="3048000"/>
              <a:ext cx="4762500" cy="381000"/>
            </a:xfrm>
            <a:prstGeom prst="rect">
              <a:avLst/>
            </a:prstGeom>
            <a:solidFill>
              <a:schemeClr val="lt1"/>
            </a:solidFill>
            <a:ln>
              <a:noFill/>
            </a:ln>
          </p:spPr>
        </p:sp>
        <p:sp>
          <p:nvSpPr>
            <p:cNvPr id="25" name="TextBox 25"/>
            <p:cNvSpPr txBox="1"/>
            <p:nvPr/>
          </p:nvSpPr>
          <p:spPr>
            <a:xfrm>
              <a:off x="928116" y="3172778"/>
              <a:ext cx="88411"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7</a:t>
              </a:r>
            </a:p>
          </p:txBody>
        </p:sp>
        <p:sp>
          <p:nvSpPr>
            <p:cNvPr id="26" name="TextBox 26"/>
            <p:cNvSpPr txBox="1"/>
            <p:nvPr/>
          </p:nvSpPr>
          <p:spPr>
            <a:xfrm>
              <a:off x="1671066" y="3172778"/>
              <a:ext cx="1332300"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montreal alouettes</a:t>
              </a:r>
            </a:p>
          </p:txBody>
        </p:sp>
        <p:sp>
          <p:nvSpPr>
            <p:cNvPr id="27" name="TextBox 27"/>
            <p:cNvSpPr txBox="1"/>
            <p:nvPr/>
          </p:nvSpPr>
          <p:spPr>
            <a:xfrm>
              <a:off x="4033266" y="3172778"/>
              <a:ext cx="399383"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25-11</a:t>
              </a:r>
            </a:p>
          </p:txBody>
        </p:sp>
        <p:sp>
          <p:nvSpPr>
            <p:cNvPr id="28" name="TextBox 28"/>
            <p:cNvSpPr txBox="1"/>
            <p:nvPr/>
          </p:nvSpPr>
          <p:spPr>
            <a:xfrm>
              <a:off x="4871466" y="3172778"/>
              <a:ext cx="286302"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loss</a:t>
              </a:r>
            </a:p>
          </p:txBody>
        </p:sp>
        <p:sp>
          <p:nvSpPr>
            <p:cNvPr id="29" name="Rectangle 29"/>
            <p:cNvSpPr/>
            <p:nvPr/>
          </p:nvSpPr>
          <p:spPr>
            <a:xfrm>
              <a:off x="800100" y="3429000"/>
              <a:ext cx="4762500" cy="381000"/>
            </a:xfrm>
            <a:prstGeom prst="rect">
              <a:avLst/>
            </a:prstGeom>
            <a:solidFill>
              <a:schemeClr val="lt1"/>
            </a:solidFill>
            <a:ln>
              <a:noFill/>
            </a:ln>
          </p:spPr>
        </p:sp>
        <p:sp>
          <p:nvSpPr>
            <p:cNvPr id="30" name="TextBox 30"/>
            <p:cNvSpPr txBox="1"/>
            <p:nvPr/>
          </p:nvSpPr>
          <p:spPr>
            <a:xfrm>
              <a:off x="928116" y="3553778"/>
              <a:ext cx="166154"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13</a:t>
              </a:r>
            </a:p>
          </p:txBody>
        </p:sp>
        <p:sp>
          <p:nvSpPr>
            <p:cNvPr id="31" name="TextBox 31"/>
            <p:cNvSpPr txBox="1"/>
            <p:nvPr/>
          </p:nvSpPr>
          <p:spPr>
            <a:xfrm>
              <a:off x="1671066" y="3553778"/>
              <a:ext cx="1332300"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montreal alouettes</a:t>
              </a:r>
            </a:p>
          </p:txBody>
        </p:sp>
        <p:sp>
          <p:nvSpPr>
            <p:cNvPr id="32" name="TextBox 32"/>
            <p:cNvSpPr txBox="1"/>
            <p:nvPr/>
          </p:nvSpPr>
          <p:spPr>
            <a:xfrm>
              <a:off x="4033266" y="3553778"/>
              <a:ext cx="399383"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14-12</a:t>
              </a:r>
            </a:p>
          </p:txBody>
        </p:sp>
        <p:sp>
          <p:nvSpPr>
            <p:cNvPr id="33" name="TextBox 33"/>
            <p:cNvSpPr txBox="1"/>
            <p:nvPr/>
          </p:nvSpPr>
          <p:spPr>
            <a:xfrm>
              <a:off x="4871466" y="3553778"/>
              <a:ext cx="236830"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win</a:t>
              </a:r>
            </a:p>
          </p:txBody>
        </p:sp>
        <p:sp>
          <p:nvSpPr>
            <p:cNvPr id="34" name="Rectangle 34"/>
            <p:cNvSpPr/>
            <p:nvPr/>
          </p:nvSpPr>
          <p:spPr>
            <a:xfrm>
              <a:off x="800100" y="1905000"/>
              <a:ext cx="4762500" cy="1905000"/>
            </a:xfrm>
            <a:prstGeom prst="rect">
              <a:avLst/>
            </a:prstGeom>
            <a:noFill/>
            <a:ln w="9525">
              <a:solidFill>
                <a:srgbClr val="C7D2DE"/>
              </a:solidFill>
            </a:ln>
          </p:spPr>
        </p:sp>
        <p:sp>
          <p:nvSpPr>
            <p:cNvPr id="35" name="TextBox 35"/>
            <p:cNvSpPr txBox="1"/>
            <p:nvPr/>
          </p:nvSpPr>
          <p:spPr>
            <a:xfrm>
              <a:off x="794385" y="3974306"/>
              <a:ext cx="1016718" cy="220028"/>
            </a:xfrm>
            <a:prstGeom prst="rect">
              <a:avLst/>
            </a:prstGeom>
            <a:noFill/>
            <a:ln>
              <a:noFill/>
            </a:ln>
          </p:spPr>
          <p:txBody>
            <a:bodyPr wrap="none" lIns="0" tIns="0" rIns="0" bIns="0" anchor="t" anchorCtr="0">
              <a:spAutoFit/>
            </a:bodyPr>
            <a:lstStyle/>
            <a:p>
              <a:pPr algn="l"/>
              <a:r>
                <a:rPr lang="en-US" sz="1120" b="1" dirty="0">
                  <a:solidFill>
                    <a:schemeClr val="accent6"/>
                  </a:solidFill>
                  <a:latin typeface="+mn-lt"/>
                  <a:ea typeface="+mn-ea"/>
                  <a:cs typeface="+mn-cs"/>
                </a:rPr>
                <a:t>1 answer cell</a:t>
              </a:r>
            </a:p>
          </p:txBody>
        </p:sp>
        <p:sp>
          <p:nvSpPr>
            <p:cNvPr id="36" name="TextBox 36"/>
            <p:cNvSpPr txBox="1"/>
            <p:nvPr/>
          </p:nvSpPr>
          <p:spPr>
            <a:xfrm>
              <a:off x="2185035" y="3974306"/>
              <a:ext cx="2024553" cy="220028"/>
            </a:xfrm>
            <a:prstGeom prst="rect">
              <a:avLst/>
            </a:prstGeom>
            <a:noFill/>
            <a:ln>
              <a:noFill/>
            </a:ln>
          </p:spPr>
          <p:txBody>
            <a:bodyPr wrap="none" lIns="0" tIns="0" rIns="0" bIns="0" anchor="t" anchorCtr="0">
              <a:spAutoFit/>
            </a:bodyPr>
            <a:lstStyle/>
            <a:p>
              <a:pPr algn="l" marL="120904" indent="-120904">
                <a:buClr>
                  <a:srgbClr val="94A3B8"/>
                </a:buClr>
                <a:buSzTx/>
                <a:buFontTx/>
                <a:buChar char="•"/>
              </a:pPr>
              <a:r>
                <a:rPr lang="en-US" sz="1120" dirty="0">
                  <a:solidFill>
                    <a:srgbClr val="94A3B8"/>
                  </a:solidFill>
                  <a:latin typeface="+mn-lt"/>
                  <a:ea typeface="+mn-ea"/>
                  <a:cs typeface="+mn-cs"/>
                </a:rPr>
                <a:t>dozens of irrelevant cells</a:t>
              </a:r>
            </a:p>
          </p:txBody>
        </p:sp>
      </p:grpSp>
      <p:grpSp>
        <p:nvGrpSpPr>
          <p:cNvPr id="41" name="Group 41"/>
          <p:cNvGrpSpPr/>
          <p:nvPr/>
        </p:nvGrpSpPr>
        <p:grpSpPr>
          <a:xfrm>
            <a:off x="571500" y="4495800"/>
            <a:ext cx="5219700" cy="552450"/>
            <a:chOff x="571500" y="4495800"/>
            <a:chExt cx="5219700" cy="552450"/>
          </a:xfrm>
        </p:grpSpPr>
        <p:sp>
          <p:nvSpPr>
            <p:cNvPr id="38" name="Rectangle 38"/>
            <p:cNvSpPr/>
            <p:nvPr/>
          </p:nvSpPr>
          <p:spPr>
            <a:xfrm>
              <a:off x="571500" y="4495800"/>
              <a:ext cx="5219700" cy="552450"/>
            </a:xfrm>
            <a:prstGeom prst="roundRect">
              <a:avLst>
                <a:gd name="adj" fmla="val 20690"/>
              </a:avLst>
            </a:prstGeom>
            <a:solidFill>
              <a:srgbClr val="FDF3E0"/>
            </a:solidFill>
            <a:ln w="14288">
              <a:solidFill>
                <a:schemeClr val="accent2"/>
              </a:solidFill>
            </a:ln>
          </p:spPr>
        </p:sp>
        <p:sp>
          <p:nvSpPr>
            <p:cNvPr id="39" name="TextBox 39"/>
            <p:cNvSpPr txBox="1"/>
            <p:nvPr/>
          </p:nvSpPr>
          <p:spPr>
            <a:xfrm>
              <a:off x="793623" y="4605814"/>
              <a:ext cx="2036325" cy="249364"/>
            </a:xfrm>
            <a:prstGeom prst="rect">
              <a:avLst/>
            </a:prstGeom>
            <a:noFill/>
            <a:ln>
              <a:noFill/>
            </a:ln>
          </p:spPr>
          <p:txBody>
            <a:bodyPr wrap="none" lIns="0" tIns="0" rIns="0" bIns="0" anchor="t" anchorCtr="0">
              <a:spAutoFit/>
            </a:bodyPr>
            <a:lstStyle/>
            <a:p>
              <a:pPr algn="l"/>
              <a:r>
                <a:rPr lang="en-US" sz="1280" b="1" dirty="0">
                  <a:solidFill>
                    <a:srgbClr val="B45309"/>
                  </a:solidFill>
                  <a:latin typeface="+mn-lt"/>
                  <a:ea typeface="+mn-ea"/>
                  <a:cs typeface="+mn-cs"/>
                </a:rPr>
                <a:t>Everything else = noise</a:t>
              </a:r>
            </a:p>
          </p:txBody>
        </p:sp>
        <p:sp>
          <p:nvSpPr>
            <p:cNvPr id="40" name="TextBox 40"/>
            <p:cNvSpPr txBox="1"/>
            <p:nvPr/>
          </p:nvSpPr>
          <p:spPr>
            <a:xfrm>
              <a:off x="794766" y="4830128"/>
              <a:ext cx="3982631" cy="205359"/>
            </a:xfrm>
            <a:prstGeom prst="rect">
              <a:avLst/>
            </a:prstGeom>
            <a:noFill/>
            <a:ln>
              <a:noFill/>
            </a:ln>
          </p:spPr>
          <p:txBody>
            <a:bodyPr wrap="none" lIns="0" tIns="0" rIns="0" bIns="0" anchor="t" anchorCtr="0">
              <a:spAutoFit/>
            </a:bodyPr>
            <a:lstStyle/>
            <a:p>
              <a:pPr algn="l"/>
              <a:r>
                <a:rPr lang="en-US" sz="1050" dirty="0">
                  <a:solidFill>
                    <a:srgbClr val="92400E"/>
                  </a:solidFill>
                  <a:latin typeface="+mn-lt"/>
                  <a:ea typeface="+mn-ea"/>
                  <a:cs typeface="+mn-cs"/>
                </a:rPr>
                <a:t>irrelevant cells distract the model away from the answer</a:t>
              </a:r>
            </a:p>
          </p:txBody>
        </p:sp>
      </p:grpSp>
      <p:grpSp>
        <p:nvGrpSpPr>
          <p:cNvPr id="57" name="Group 57"/>
          <p:cNvGrpSpPr/>
          <p:nvPr/>
        </p:nvGrpSpPr>
        <p:grpSpPr>
          <a:xfrm>
            <a:off x="6172200" y="1428750"/>
            <a:ext cx="5353050" cy="2438400"/>
            <a:chOff x="6172200" y="1428750"/>
            <a:chExt cx="5353050" cy="2438400"/>
          </a:xfrm>
        </p:grpSpPr>
        <p:sp>
          <p:nvSpPr>
            <p:cNvPr id="42" name="Rectangle 42"/>
            <p:cNvSpPr/>
            <p:nvPr/>
          </p:nvSpPr>
          <p:spPr>
            <a:xfrm>
              <a:off x="6172200" y="1428750"/>
              <a:ext cx="5353050" cy="2438400"/>
            </a:xfrm>
            <a:prstGeom prst="roundRect">
              <a:avLst>
                <a:gd name="adj" fmla="val 5469"/>
              </a:avLst>
            </a:prstGeom>
            <a:solidFill>
              <a:schemeClr val="lt1"/>
            </a:solidFill>
            <a:ln w="14288">
              <a:solidFill>
                <a:schemeClr val="accent4"/>
              </a:solidFill>
            </a:ln>
          </p:spPr>
        </p:sp>
        <p:sp>
          <p:nvSpPr>
            <p:cNvPr id="43" name="TextBox 43"/>
            <p:cNvSpPr txBox="1"/>
            <p:nvPr/>
          </p:nvSpPr>
          <p:spPr>
            <a:xfrm>
              <a:off x="6431280" y="1628775"/>
              <a:ext cx="2972585"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LLMs are vulnerable to noise</a:t>
              </a:r>
            </a:p>
          </p:txBody>
        </p:sp>
        <p:sp>
          <p:nvSpPr>
            <p:cNvPr id="44" name="TextBox 44"/>
            <p:cNvSpPr txBox="1"/>
            <p:nvPr/>
          </p:nvSpPr>
          <p:spPr>
            <a:xfrm>
              <a:off x="6432804" y="1927860"/>
              <a:ext cx="374901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Reasoning quality drops with distracting cells —</a:t>
              </a:r>
            </a:p>
          </p:txBody>
        </p:sp>
        <p:sp>
          <p:nvSpPr>
            <p:cNvPr id="45" name="TextBox 45"/>
            <p:cNvSpPr txBox="1"/>
            <p:nvPr/>
          </p:nvSpPr>
          <p:spPr>
            <a:xfrm>
              <a:off x="6432804" y="2137410"/>
              <a:ext cx="353385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and the drop worsens as tables grow larger.</a:t>
              </a:r>
            </a:p>
          </p:txBody>
        </p:sp>
        <p:sp>
          <p:nvSpPr>
            <p:cNvPr id="46" name="TextBox 46"/>
            <p:cNvSpPr txBox="1"/>
            <p:nvPr/>
          </p:nvSpPr>
          <p:spPr>
            <a:xfrm>
              <a:off x="6433947" y="2523649"/>
              <a:ext cx="1625395" cy="190690"/>
            </a:xfrm>
            <a:prstGeom prst="rect">
              <a:avLst/>
            </a:prstGeom>
            <a:noFill/>
            <a:ln>
              <a:noFill/>
            </a:ln>
          </p:spPr>
          <p:txBody>
            <a:bodyPr wrap="none" lIns="0" tIns="0" rIns="0" bIns="0" anchor="t" anchorCtr="0">
              <a:spAutoFit/>
            </a:bodyPr>
            <a:lstStyle/>
            <a:p>
              <a:pPr algn="l"/>
              <a:r>
                <a:rPr lang="en-US" sz="980" b="1" dirty="0">
                  <a:solidFill>
                    <a:srgbClr val="94A3B8"/>
                  </a:solidFill>
                  <a:latin typeface="+mn-lt"/>
                  <a:ea typeface="+mn-ea"/>
                  <a:cs typeface="+mn-cs"/>
                </a:rPr>
                <a:t>ACCURACY vs TABLE SIZE</a:t>
              </a:r>
            </a:p>
          </p:txBody>
        </p:sp>
        <p:sp>
          <p:nvSpPr>
            <p:cNvPr id="47" name="Rectangle 47"/>
            <p:cNvSpPr/>
            <p:nvPr/>
          </p:nvSpPr>
          <p:spPr>
            <a:xfrm>
              <a:off x="6438900" y="2762250"/>
              <a:ext cx="1143000" cy="762000"/>
            </a:xfrm>
            <a:prstGeom prst="roundRect">
              <a:avLst>
                <a:gd name="adj" fmla="val 7500"/>
              </a:avLst>
            </a:prstGeom>
            <a:solidFill>
              <a:srgbClr val="E4EAF2"/>
            </a:solidFill>
            <a:ln>
              <a:noFill/>
            </a:ln>
          </p:spPr>
        </p:sp>
        <p:sp>
          <p:nvSpPr>
            <p:cNvPr id="48" name="Rectangle 48"/>
            <p:cNvSpPr/>
            <p:nvPr/>
          </p:nvSpPr>
          <p:spPr>
            <a:xfrm>
              <a:off x="6438900" y="2762250"/>
              <a:ext cx="1143000" cy="762000"/>
            </a:xfrm>
            <a:prstGeom prst="roundRect">
              <a:avLst>
                <a:gd name="adj" fmla="val 7500"/>
              </a:avLst>
            </a:prstGeom>
            <a:solidFill>
              <a:schemeClr val="accent1"/>
            </a:solidFill>
            <a:ln>
              <a:noFill/>
            </a:ln>
          </p:spPr>
        </p:sp>
        <p:sp>
          <p:nvSpPr>
            <p:cNvPr id="49" name="TextBox 49"/>
            <p:cNvSpPr txBox="1"/>
            <p:nvPr/>
          </p:nvSpPr>
          <p:spPr>
            <a:xfrm>
              <a:off x="6796054" y="3038475"/>
              <a:ext cx="428692"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high</a:t>
              </a:r>
            </a:p>
          </p:txBody>
        </p:sp>
        <p:sp>
          <p:nvSpPr>
            <p:cNvPr id="50" name="TextBox 50"/>
            <p:cNvSpPr txBox="1"/>
            <p:nvPr/>
          </p:nvSpPr>
          <p:spPr>
            <a:xfrm>
              <a:off x="6659137" y="3590449"/>
              <a:ext cx="702526"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small table</a:t>
              </a:r>
            </a:p>
          </p:txBody>
        </p:sp>
        <p:sp>
          <p:nvSpPr>
            <p:cNvPr id="51" name="Rectangle 51"/>
            <p:cNvSpPr/>
            <p:nvPr/>
          </p:nvSpPr>
          <p:spPr>
            <a:xfrm>
              <a:off x="7772400" y="3067050"/>
              <a:ext cx="1143000" cy="457200"/>
            </a:xfrm>
            <a:prstGeom prst="roundRect">
              <a:avLst>
                <a:gd name="adj" fmla="val 12500"/>
              </a:avLst>
            </a:prstGeom>
            <a:solidFill>
              <a:srgbClr val="94A3B8"/>
            </a:solidFill>
            <a:ln>
              <a:noFill/>
            </a:ln>
          </p:spPr>
        </p:sp>
        <p:sp>
          <p:nvSpPr>
            <p:cNvPr id="52" name="TextBox 52"/>
            <p:cNvSpPr txBox="1"/>
            <p:nvPr/>
          </p:nvSpPr>
          <p:spPr>
            <a:xfrm>
              <a:off x="8079430" y="3207068"/>
              <a:ext cx="528940"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lower</a:t>
              </a:r>
            </a:p>
          </p:txBody>
        </p:sp>
        <p:sp>
          <p:nvSpPr>
            <p:cNvPr id="53" name="TextBox 53"/>
            <p:cNvSpPr txBox="1"/>
            <p:nvPr/>
          </p:nvSpPr>
          <p:spPr>
            <a:xfrm>
              <a:off x="7989339" y="3590449"/>
              <a:ext cx="709122"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large table</a:t>
              </a:r>
            </a:p>
          </p:txBody>
        </p:sp>
        <p:sp>
          <p:nvSpPr>
            <p:cNvPr id="54" name="Freeform 54"/>
            <p:cNvSpPr/>
            <p:nvPr/>
          </p:nvSpPr>
          <p:spPr>
            <a:xfrm>
              <a:off x="9105900" y="2857500"/>
              <a:ext cx="2133600" cy="9525"/>
            </a:xfrm>
            <a:custGeom>
              <a:avLst/>
              <a:gdLst/>
              <a:ahLst/>
              <a:cxnLst/>
              <a:rect l="l" t="t" r="r" b="b"/>
              <a:pathLst>
                <a:path w="2133600" h="9525">
                  <a:moveTo>
                    <a:pt x="0" y="0"/>
                  </a:moveTo>
                  <a:lnTo>
                    <a:pt x="2133600" y="0"/>
                  </a:lnTo>
                </a:path>
              </a:pathLst>
            </a:custGeom>
            <a:noFill/>
            <a:ln w="23812">
              <a:solidFill>
                <a:schemeClr val="accent5"/>
              </a:solidFill>
              <a:custDash>
                <a:ds d="240000" sp="200000"/>
              </a:custDash>
            </a:ln>
          </p:spPr>
        </p:sp>
        <p:sp>
          <p:nvSpPr>
            <p:cNvPr id="55" name="Freeform 55"/>
            <p:cNvSpPr/>
            <p:nvPr/>
          </p:nvSpPr>
          <p:spPr>
            <a:xfrm>
              <a:off x="9105900" y="2857500"/>
              <a:ext cx="1562100" cy="571500"/>
            </a:xfrm>
            <a:custGeom>
              <a:avLst/>
              <a:gdLst/>
              <a:ahLst/>
              <a:cxnLst/>
              <a:rect l="l" t="t" r="r" b="b"/>
              <a:pathLst>
                <a:path w="1562100" h="571500">
                  <a:moveTo>
                    <a:pt x="0" y="0"/>
                  </a:moveTo>
                  <a:lnTo>
                    <a:pt x="1562100" y="571500"/>
                  </a:lnTo>
                </a:path>
              </a:pathLst>
            </a:custGeom>
            <a:noFill/>
            <a:ln w="28575">
              <a:solidFill>
                <a:schemeClr val="accent5"/>
              </a:solidFill>
            </a:ln>
          </p:spPr>
        </p:sp>
        <p:sp>
          <p:nvSpPr>
            <p:cNvPr id="56" name="TextBox 56"/>
            <p:cNvSpPr txBox="1"/>
            <p:nvPr/>
          </p:nvSpPr>
          <p:spPr>
            <a:xfrm>
              <a:off x="10243947" y="3247549"/>
              <a:ext cx="619412" cy="190690"/>
            </a:xfrm>
            <a:prstGeom prst="rect">
              <a:avLst/>
            </a:prstGeom>
            <a:noFill/>
            <a:ln>
              <a:noFill/>
            </a:ln>
          </p:spPr>
          <p:txBody>
            <a:bodyPr wrap="none" lIns="0" tIns="0" rIns="0" bIns="0" anchor="t" anchorCtr="0">
              <a:spAutoFit/>
            </a:bodyPr>
            <a:lstStyle/>
            <a:p>
              <a:pPr algn="l"/>
              <a:r>
                <a:rPr lang="en-US" sz="980" b="1" dirty="0">
                  <a:solidFill>
                    <a:schemeClr val="accent5"/>
                  </a:solidFill>
                  <a:latin typeface="+mn-lt"/>
                  <a:ea typeface="+mn-ea"/>
                  <a:cs typeface="+mn-cs"/>
                </a:rPr>
                <a:t>degrades</a:t>
              </a:r>
            </a:p>
          </p:txBody>
        </p:sp>
      </p:grpSp>
      <p:grpSp>
        <p:nvGrpSpPr>
          <p:cNvPr id="61" name="Group 61"/>
          <p:cNvGrpSpPr/>
          <p:nvPr/>
        </p:nvGrpSpPr>
        <p:grpSpPr>
          <a:xfrm>
            <a:off x="6172200" y="4095750"/>
            <a:ext cx="5353050" cy="952500"/>
            <a:chOff x="6172200" y="4095750"/>
            <a:chExt cx="5353050" cy="952500"/>
          </a:xfrm>
        </p:grpSpPr>
        <p:sp>
          <p:nvSpPr>
            <p:cNvPr id="58" name="Rectangle 58"/>
            <p:cNvSpPr/>
            <p:nvPr/>
          </p:nvSpPr>
          <p:spPr>
            <a:xfrm>
              <a:off x="6172200" y="4095750"/>
              <a:ext cx="5353050" cy="952500"/>
            </a:xfrm>
            <a:prstGeom prst="roundRect">
              <a:avLst>
                <a:gd name="adj" fmla="val 14000"/>
              </a:avLst>
            </a:prstGeom>
            <a:solidFill>
              <a:schemeClr val="accent1"/>
            </a:solidFill>
            <a:ln>
              <a:noFill/>
            </a:ln>
          </p:spPr>
        </p:sp>
        <p:sp>
          <p:nvSpPr>
            <p:cNvPr id="59" name="TextBox 59"/>
            <p:cNvSpPr txBox="1"/>
            <p:nvPr/>
          </p:nvSpPr>
          <p:spPr>
            <a:xfrm>
              <a:off x="6430518" y="4336732"/>
              <a:ext cx="5092639"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CABINET is built to address this vulnerability</a:t>
              </a:r>
            </a:p>
          </p:txBody>
        </p:sp>
        <p:sp>
          <p:nvSpPr>
            <p:cNvPr id="60" name="TextBox 60"/>
            <p:cNvSpPr txBox="1"/>
            <p:nvPr/>
          </p:nvSpPr>
          <p:spPr>
            <a:xfrm>
              <a:off x="6432804" y="4671060"/>
              <a:ext cx="4882744" cy="234696"/>
            </a:xfrm>
            <a:prstGeom prst="rect">
              <a:avLst/>
            </a:prstGeom>
            <a:noFill/>
            <a:ln>
              <a:noFill/>
            </a:ln>
          </p:spPr>
          <p:txBody>
            <a:bodyPr wrap="none" lIns="0" tIns="0" rIns="0" bIns="0" anchor="t" anchorCtr="0">
              <a:spAutoFit/>
            </a:bodyPr>
            <a:lstStyle/>
            <a:p>
              <a:pPr algn="l"/>
              <a:r>
                <a:rPr lang="en-US" sz="1200" dirty="0">
                  <a:solidFill>
                    <a:srgbClr val="BFD0E8"/>
                  </a:solidFill>
                  <a:latin typeface="+mn-lt"/>
                  <a:ea typeface="+mn-ea"/>
                  <a:cs typeface="+mn-cs"/>
                </a:rPr>
                <a:t>teach the model what to focus on — without deleting the table</a:t>
              </a:r>
            </a:p>
          </p:txBody>
        </p:sp>
      </p:grpSp>
      <p:sp>
        <p:nvSpPr>
          <p:cNvPr id="62" name="Line 62"/>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sp>
      <p:sp>
        <p:nvSpPr>
          <p:cNvPr id="63" name="TextBox 63"/>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64" name="TextBox 64"/>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02 / 10</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sp>
      <p:sp>
        <p:nvSpPr>
          <p:cNvPr id="3" name="Rectangle 3"/>
          <p:cNvSpPr/>
          <p:nvPr/>
        </p:nvSpPr>
        <p:spPr>
          <a:xfrm>
            <a:off x="0" y="0"/>
            <a:ext cx="12192000" cy="57150"/>
          </a:xfrm>
          <a:prstGeom prst="rect">
            <a:avLst/>
          </a:prstGeom>
          <a:solidFill>
            <a:schemeClr val="accent2"/>
          </a:solidFill>
          <a:ln>
            <a:noFill/>
          </a:ln>
        </p:spPr>
      </p:sp>
      <p:sp>
        <p:nvSpPr>
          <p:cNvPr id="4" name="TextBox 4"/>
          <p:cNvSpPr txBox="1"/>
          <p:nvPr/>
        </p:nvSpPr>
        <p:spPr>
          <a:xfrm>
            <a:off x="661035" y="450056"/>
            <a:ext cx="1140190"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MOTIVATION</a:t>
            </a:r>
          </a:p>
        </p:txBody>
      </p:sp>
      <p:sp>
        <p:nvSpPr>
          <p:cNvPr id="5" name="TextBox 5"/>
          <p:cNvSpPr txBox="1"/>
          <p:nvPr/>
        </p:nvSpPr>
        <p:spPr>
          <a:xfrm>
            <a:off x="634746" y="715328"/>
            <a:ext cx="547810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Why Not Just Shrink the Table?</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sp>
      <p:sp>
        <p:nvSpPr>
          <p:cNvPr id="7" name="Rectangle 7"/>
          <p:cNvSpPr/>
          <p:nvPr/>
        </p:nvSpPr>
        <p:spPr>
          <a:xfrm>
            <a:off x="666750" y="3028950"/>
            <a:ext cx="1600200" cy="1066800"/>
          </a:xfrm>
          <a:prstGeom prst="roundRect">
            <a:avLst>
              <a:gd name="adj" fmla="val 12500"/>
            </a:avLst>
          </a:prstGeom>
          <a:solidFill>
            <a:schemeClr val="lt2"/>
          </a:solidFill>
          <a:ln w="19050">
            <a:solidFill>
              <a:schemeClr val="accent1"/>
            </a:solidFill>
          </a:ln>
        </p:spPr>
      </p:sp>
      <p:sp>
        <p:nvSpPr>
          <p:cNvPr id="8" name="TextBox 8"/>
          <p:cNvSpPr txBox="1"/>
          <p:nvPr/>
        </p:nvSpPr>
        <p:spPr>
          <a:xfrm>
            <a:off x="1064067" y="3348514"/>
            <a:ext cx="805565" cy="249364"/>
          </a:xfrm>
          <a:prstGeom prst="rect">
            <a:avLst/>
          </a:prstGeom>
          <a:noFill/>
          <a:ln>
            <a:noFill/>
          </a:ln>
        </p:spPr>
        <p:txBody>
          <a:bodyPr wrap="none" lIns="0" tIns="0" rIns="0" bIns="0" anchor="t" anchorCtr="0">
            <a:spAutoFit/>
          </a:bodyPr>
          <a:lstStyle/>
          <a:p>
            <a:pPr algn="ctr"/>
            <a:r>
              <a:rPr lang="en-US" sz="1280" b="1" dirty="0">
                <a:solidFill>
                  <a:schemeClr val="accent1"/>
                </a:solidFill>
                <a:latin typeface="+mn-lt"/>
                <a:ea typeface="+mn-ea"/>
                <a:cs typeface="+mn-cs"/>
              </a:rPr>
              <a:t>Question</a:t>
            </a:r>
          </a:p>
        </p:txBody>
      </p:sp>
      <p:sp>
        <p:nvSpPr>
          <p:cNvPr id="9" name="TextBox 9"/>
          <p:cNvSpPr txBox="1"/>
          <p:nvPr/>
        </p:nvSpPr>
        <p:spPr>
          <a:xfrm>
            <a:off x="973343" y="3596164"/>
            <a:ext cx="987014" cy="249364"/>
          </a:xfrm>
          <a:prstGeom prst="rect">
            <a:avLst/>
          </a:prstGeom>
          <a:noFill/>
          <a:ln>
            <a:noFill/>
          </a:ln>
        </p:spPr>
        <p:txBody>
          <a:bodyPr wrap="none" lIns="0" tIns="0" rIns="0" bIns="0" anchor="t" anchorCtr="0">
            <a:spAutoFit/>
          </a:bodyPr>
          <a:lstStyle/>
          <a:p>
            <a:pPr algn="ctr"/>
            <a:r>
              <a:rPr lang="en-US" sz="1280" b="1" dirty="0">
                <a:solidFill>
                  <a:schemeClr val="accent1"/>
                </a:solidFill>
                <a:latin typeface="+mn-lt"/>
                <a:ea typeface="+mn-ea"/>
                <a:cs typeface="+mn-cs"/>
              </a:rPr>
              <a:t>+ full Table</a:t>
            </a:r>
          </a:p>
        </p:txBody>
      </p:sp>
      <p:sp>
        <p:nvSpPr>
          <p:cNvPr id="10" name="Freeform 10"/>
          <p:cNvSpPr/>
          <p:nvPr/>
        </p:nvSpPr>
        <p:spPr>
          <a:xfrm>
            <a:off x="2266950" y="2152650"/>
            <a:ext cx="590550" cy="1181100"/>
          </a:xfrm>
          <a:custGeom>
            <a:avLst/>
            <a:gdLst/>
            <a:ahLst/>
            <a:cxnLst/>
            <a:rect l="l" t="t" r="r" b="b"/>
            <a:pathLst>
              <a:path w="590550" h="1181100">
                <a:moveTo>
                  <a:pt x="0" y="1181100"/>
                </a:moveTo>
                <a:cubicBezTo>
                  <a:pt x="285750" y="704850"/>
                  <a:pt x="285750" y="133350"/>
                  <a:pt x="590550" y="0"/>
                </a:cubicBezTo>
              </a:path>
            </a:pathLst>
          </a:custGeom>
          <a:noFill/>
          <a:ln w="23812">
            <a:solidFill>
              <a:srgbClr val="64748B"/>
            </a:solidFill>
            <a:tailEnd type="triangle" w="lg" len="lg"/>
          </a:ln>
        </p:spPr>
      </p:sp>
      <p:sp>
        <p:nvSpPr>
          <p:cNvPr id="11" name="Freeform 11"/>
          <p:cNvSpPr/>
          <p:nvPr/>
        </p:nvSpPr>
        <p:spPr>
          <a:xfrm>
            <a:off x="2266950" y="3810000"/>
            <a:ext cx="590550" cy="895350"/>
          </a:xfrm>
          <a:custGeom>
            <a:avLst/>
            <a:gdLst/>
            <a:ahLst/>
            <a:cxnLst/>
            <a:rect l="l" t="t" r="r" b="b"/>
            <a:pathLst>
              <a:path w="590550" h="895350">
                <a:moveTo>
                  <a:pt x="0" y="0"/>
                </a:moveTo>
                <a:cubicBezTo>
                  <a:pt x="285750" y="495300"/>
                  <a:pt x="285750" y="895350"/>
                  <a:pt x="590550" y="762000"/>
                </a:cubicBezTo>
              </a:path>
            </a:pathLst>
          </a:custGeom>
          <a:noFill/>
          <a:ln w="23812">
            <a:solidFill>
              <a:schemeClr val="accent6"/>
            </a:solidFill>
            <a:tailEnd type="triangle" w="lg" len="lg"/>
          </a:ln>
        </p:spPr>
      </p:sp>
      <p:sp>
        <p:nvSpPr>
          <p:cNvPr id="12" name="TextBox 12"/>
          <p:cNvSpPr txBox="1"/>
          <p:nvPr/>
        </p:nvSpPr>
        <p:spPr>
          <a:xfrm>
            <a:off x="2852166" y="1486852"/>
            <a:ext cx="2920863" cy="205359"/>
          </a:xfrm>
          <a:prstGeom prst="rect">
            <a:avLst/>
          </a:prstGeom>
          <a:noFill/>
          <a:ln>
            <a:noFill/>
          </a:ln>
        </p:spPr>
        <p:txBody>
          <a:bodyPr wrap="none" lIns="0" tIns="0" rIns="0" bIns="0" anchor="t" anchorCtr="0">
            <a:spAutoFit/>
          </a:bodyPr>
          <a:lstStyle/>
          <a:p>
            <a:pPr algn="l"/>
            <a:r>
              <a:rPr lang="en-US" sz="1050" b="1" spc="75" dirty="0">
                <a:solidFill>
                  <a:schemeClr val="accent5"/>
                </a:solidFill>
                <a:latin typeface="+mn-lt"/>
                <a:ea typeface="+mn-ea"/>
                <a:cs typeface="+mn-cs"/>
              </a:rPr>
              <a:t>HARD DECOMPOSITION (e.g. DATER)</a:t>
            </a:r>
          </a:p>
        </p:txBody>
      </p:sp>
      <p:grpSp>
        <p:nvGrpSpPr>
          <p:cNvPr id="16" name="Group 16"/>
          <p:cNvGrpSpPr/>
          <p:nvPr/>
        </p:nvGrpSpPr>
        <p:grpSpPr>
          <a:xfrm>
            <a:off x="2857500" y="1771650"/>
            <a:ext cx="2857500" cy="819150"/>
            <a:chOff x="2857500" y="1771650"/>
            <a:chExt cx="2857500" cy="819150"/>
          </a:xfrm>
        </p:grpSpPr>
        <p:sp>
          <p:nvSpPr>
            <p:cNvPr id="13" name="Rectangle 13"/>
            <p:cNvSpPr/>
            <p:nvPr/>
          </p:nvSpPr>
          <p:spPr>
            <a:xfrm>
              <a:off x="2857500" y="1771650"/>
              <a:ext cx="2857500" cy="819150"/>
            </a:xfrm>
            <a:prstGeom prst="roundRect">
              <a:avLst>
                <a:gd name="adj" fmla="val 13953"/>
              </a:avLst>
            </a:prstGeom>
            <a:solidFill>
              <a:srgbClr val="FCEBEA"/>
            </a:solidFill>
            <a:ln w="14288">
              <a:solidFill>
                <a:schemeClr val="accent5"/>
              </a:solidFill>
            </a:ln>
          </p:spPr>
        </p:sp>
        <p:sp>
          <p:nvSpPr>
            <p:cNvPr id="14" name="TextBox 14"/>
            <p:cNvSpPr txBox="1"/>
            <p:nvPr/>
          </p:nvSpPr>
          <p:spPr>
            <a:xfrm>
              <a:off x="3003423" y="1976914"/>
              <a:ext cx="2009803" cy="249364"/>
            </a:xfrm>
            <a:prstGeom prst="rect">
              <a:avLst/>
            </a:prstGeom>
            <a:noFill/>
            <a:ln>
              <a:noFill/>
            </a:ln>
          </p:spPr>
          <p:txBody>
            <a:bodyPr wrap="none" lIns="0" tIns="0" rIns="0" bIns="0" anchor="t" anchorCtr="0">
              <a:spAutoFit/>
            </a:bodyPr>
            <a:lstStyle/>
            <a:p>
              <a:pPr algn="l"/>
              <a:r>
                <a:rPr lang="en-US" sz="1280" b="1" dirty="0">
                  <a:solidFill>
                    <a:srgbClr val="B91C1C"/>
                  </a:solidFill>
                  <a:latin typeface="+mn-lt"/>
                  <a:ea typeface="+mn-ea"/>
                  <a:cs typeface="+mn-cs"/>
                </a:rPr>
                <a:t>Decompose → sub-table</a:t>
              </a:r>
            </a:p>
          </p:txBody>
        </p:sp>
        <p:sp>
          <p:nvSpPr>
            <p:cNvPr id="15" name="TextBox 15"/>
            <p:cNvSpPr txBox="1"/>
            <p:nvPr/>
          </p:nvSpPr>
          <p:spPr>
            <a:xfrm>
              <a:off x="3004185" y="2240756"/>
              <a:ext cx="2710292" cy="220028"/>
            </a:xfrm>
            <a:prstGeom prst="rect">
              <a:avLst/>
            </a:prstGeom>
            <a:noFill/>
            <a:ln>
              <a:noFill/>
            </a:ln>
          </p:spPr>
          <p:txBody>
            <a:bodyPr wrap="none" lIns="0" tIns="0" rIns="0" bIns="0" anchor="t" anchorCtr="0">
              <a:spAutoFit/>
            </a:bodyPr>
            <a:lstStyle/>
            <a:p>
              <a:pPr algn="l"/>
              <a:r>
                <a:rPr lang="en-US" sz="1120" dirty="0">
                  <a:solidFill>
                    <a:srgbClr val="7F1D1D"/>
                  </a:solidFill>
                  <a:latin typeface="+mn-lt"/>
                  <a:ea typeface="+mn-ea"/>
                  <a:cs typeface="+mn-cs"/>
                </a:rPr>
                <a:t>cut the table down before answering</a:t>
              </a:r>
            </a:p>
          </p:txBody>
        </p:sp>
      </p:grpSp>
      <p:sp>
        <p:nvSpPr>
          <p:cNvPr id="17" name="Freeform 17"/>
          <p:cNvSpPr/>
          <p:nvPr/>
        </p:nvSpPr>
        <p:spPr>
          <a:xfrm>
            <a:off x="5715000" y="2181225"/>
            <a:ext cx="438150" cy="9525"/>
          </a:xfrm>
          <a:custGeom>
            <a:avLst/>
            <a:gdLst/>
            <a:ahLst/>
            <a:cxnLst/>
            <a:rect l="l" t="t" r="r" b="b"/>
            <a:pathLst>
              <a:path w="438150" h="9525">
                <a:moveTo>
                  <a:pt x="0" y="0"/>
                </a:moveTo>
                <a:lnTo>
                  <a:pt x="438150" y="0"/>
                </a:lnTo>
              </a:path>
            </a:pathLst>
          </a:custGeom>
          <a:noFill/>
          <a:ln w="23812">
            <a:solidFill>
              <a:schemeClr val="accent5"/>
            </a:solidFill>
            <a:tailEnd type="triangle" w="lg" len="lg"/>
          </a:ln>
        </p:spPr>
      </p:sp>
      <p:sp>
        <p:nvSpPr>
          <p:cNvPr id="18" name="Rectangle 18"/>
          <p:cNvSpPr/>
          <p:nvPr/>
        </p:nvSpPr>
        <p:spPr>
          <a:xfrm>
            <a:off x="6172200" y="1866900"/>
            <a:ext cx="1143000" cy="628650"/>
          </a:xfrm>
          <a:prstGeom prst="roundRect">
            <a:avLst>
              <a:gd name="adj" fmla="val 18182"/>
            </a:avLst>
          </a:prstGeom>
          <a:solidFill>
            <a:schemeClr val="lt1"/>
          </a:solidFill>
          <a:ln w="14288">
            <a:solidFill>
              <a:schemeClr val="accent5"/>
            </a:solidFill>
          </a:ln>
        </p:spPr>
      </p:sp>
      <p:sp>
        <p:nvSpPr>
          <p:cNvPr id="19" name="TextBox 19"/>
          <p:cNvSpPr txBox="1"/>
          <p:nvPr/>
        </p:nvSpPr>
        <p:spPr>
          <a:xfrm>
            <a:off x="6361797" y="2108835"/>
            <a:ext cx="763806" cy="234696"/>
          </a:xfrm>
          <a:prstGeom prst="rect">
            <a:avLst/>
          </a:prstGeom>
          <a:noFill/>
          <a:ln>
            <a:noFill/>
          </a:ln>
        </p:spPr>
        <p:txBody>
          <a:bodyPr wrap="none" lIns="0" tIns="0" rIns="0" bIns="0" anchor="t" anchorCtr="0">
            <a:spAutoFit/>
          </a:bodyPr>
          <a:lstStyle/>
          <a:p>
            <a:pPr algn="ctr"/>
            <a:r>
              <a:rPr lang="en-US" sz="1200" b="1" dirty="0">
                <a:solidFill>
                  <a:srgbClr val="B91C1C"/>
                </a:solidFill>
                <a:latin typeface="+mn-lt"/>
                <a:ea typeface="+mn-ea"/>
                <a:cs typeface="+mn-cs"/>
              </a:rPr>
              <a:t>Reasoner</a:t>
            </a:r>
          </a:p>
        </p:txBody>
      </p:sp>
      <p:sp>
        <p:nvSpPr>
          <p:cNvPr id="20" name="Freeform 20"/>
          <p:cNvSpPr/>
          <p:nvPr/>
        </p:nvSpPr>
        <p:spPr>
          <a:xfrm>
            <a:off x="7315200" y="2181225"/>
            <a:ext cx="361950" cy="9525"/>
          </a:xfrm>
          <a:custGeom>
            <a:avLst/>
            <a:gdLst/>
            <a:ahLst/>
            <a:cxnLst/>
            <a:rect l="l" t="t" r="r" b="b"/>
            <a:pathLst>
              <a:path w="361950" h="9525">
                <a:moveTo>
                  <a:pt x="0" y="0"/>
                </a:moveTo>
                <a:lnTo>
                  <a:pt x="361950" y="0"/>
                </a:lnTo>
              </a:path>
            </a:pathLst>
          </a:custGeom>
          <a:noFill/>
          <a:ln w="23812">
            <a:solidFill>
              <a:schemeClr val="accent5"/>
            </a:solidFill>
            <a:tailEnd type="triangle" w="lg" len="lg"/>
          </a:ln>
        </p:spPr>
      </p:sp>
      <p:grpSp>
        <p:nvGrpSpPr>
          <p:cNvPr id="26" name="Group 26"/>
          <p:cNvGrpSpPr/>
          <p:nvPr/>
        </p:nvGrpSpPr>
        <p:grpSpPr>
          <a:xfrm>
            <a:off x="7696200" y="1676400"/>
            <a:ext cx="3352800" cy="1009650"/>
            <a:chOff x="7696200" y="1676400"/>
            <a:chExt cx="3352800" cy="1009650"/>
          </a:xfrm>
        </p:grpSpPr>
        <p:sp>
          <p:nvSpPr>
            <p:cNvPr id="21" name="Rectangle 21"/>
            <p:cNvSpPr/>
            <p:nvPr/>
          </p:nvSpPr>
          <p:spPr>
            <a:xfrm>
              <a:off x="7696200" y="1676400"/>
              <a:ext cx="3352800" cy="1009650"/>
            </a:xfrm>
            <a:prstGeom prst="roundRect">
              <a:avLst>
                <a:gd name="adj" fmla="val 11321"/>
              </a:avLst>
            </a:prstGeom>
            <a:solidFill>
              <a:schemeClr val="accent1"/>
            </a:solidFill>
            <a:ln>
              <a:noFill/>
            </a:ln>
          </p:spPr>
        </p:sp>
        <p:sp>
          <p:nvSpPr>
            <p:cNvPr id="22" name="TextBox 22"/>
            <p:cNvSpPr txBox="1"/>
            <p:nvPr/>
          </p:nvSpPr>
          <p:spPr>
            <a:xfrm>
              <a:off x="7913370" y="1814512"/>
              <a:ext cx="1595957" cy="440055"/>
            </a:xfrm>
            <a:prstGeom prst="rect">
              <a:avLst/>
            </a:prstGeom>
            <a:noFill/>
            <a:ln>
              <a:noFill/>
            </a:ln>
          </p:spPr>
          <p:txBody>
            <a:bodyPr wrap="none" lIns="0" tIns="0" rIns="0" bIns="0" anchor="t" anchorCtr="0">
              <a:spAutoFit/>
            </a:bodyPr>
            <a:lstStyle/>
            <a:p>
              <a:pPr algn="l"/>
              <a:r>
                <a:rPr lang="en-US" sz="2250" b="1" dirty="0">
                  <a:solidFill>
                    <a:srgbClr val="FCA5A5"/>
                  </a:solidFill>
                  <a:latin typeface="+mn-lt"/>
                  <a:ea typeface="+mn-ea"/>
                  <a:cs typeface="+mn-cs"/>
                </a:rPr>
                <a:t>Answer 38</a:t>
              </a:r>
            </a:p>
          </p:txBody>
        </p:sp>
        <p:sp>
          <p:nvSpPr>
            <p:cNvPr id="23" name="TextBox 23"/>
            <p:cNvSpPr txBox="1"/>
            <p:nvPr/>
          </p:nvSpPr>
          <p:spPr>
            <a:xfrm>
              <a:off x="9323070" y="1814512"/>
              <a:ext cx="340900" cy="440055"/>
            </a:xfrm>
            <a:prstGeom prst="rect">
              <a:avLst/>
            </a:prstGeom>
            <a:noFill/>
            <a:ln>
              <a:noFill/>
            </a:ln>
          </p:spPr>
          <p:txBody>
            <a:bodyPr wrap="none" lIns="0" tIns="0" rIns="0" bIns="0" anchor="t" anchorCtr="0">
              <a:spAutoFit/>
            </a:bodyPr>
            <a:lstStyle/>
            <a:p>
              <a:pPr algn="l"/>
              <a:r>
                <a:rPr lang="en-US" sz="2250" b="1" dirty="0">
                  <a:solidFill>
                    <a:schemeClr val="accent5"/>
                  </a:solidFill>
                  <a:latin typeface="+mn-lt"/>
                  <a:ea typeface="+mn-ea"/>
                  <a:cs typeface="+mn-cs"/>
                </a:rPr>
                <a:t>✗</a:t>
              </a:r>
            </a:p>
          </p:txBody>
        </p:sp>
        <p:sp>
          <p:nvSpPr>
            <p:cNvPr id="24" name="TextBox 24"/>
            <p:cNvSpPr txBox="1"/>
            <p:nvPr/>
          </p:nvSpPr>
          <p:spPr>
            <a:xfrm>
              <a:off x="7919466" y="2229802"/>
              <a:ext cx="2588110" cy="205359"/>
            </a:xfrm>
            <a:prstGeom prst="rect">
              <a:avLst/>
            </a:prstGeom>
            <a:noFill/>
            <a:ln>
              <a:noFill/>
            </a:ln>
          </p:spPr>
          <p:txBody>
            <a:bodyPr wrap="none" lIns="0" tIns="0" rIns="0" bIns="0" anchor="t" anchorCtr="0">
              <a:spAutoFit/>
            </a:bodyPr>
            <a:lstStyle/>
            <a:p>
              <a:pPr algn="l"/>
              <a:r>
                <a:rPr lang="en-US" sz="1050" dirty="0">
                  <a:solidFill>
                    <a:srgbClr val="E2E8F0"/>
                  </a:solidFill>
                  <a:latin typeface="+mn-lt"/>
                  <a:ea typeface="+mn-ea"/>
                  <a:cs typeface="+mn-cs"/>
                </a:rPr>
                <a:t>Wrong sub-table → useful information</a:t>
              </a:r>
            </a:p>
          </p:txBody>
        </p:sp>
        <p:sp>
          <p:nvSpPr>
            <p:cNvPr id="25" name="TextBox 25"/>
            <p:cNvSpPr txBox="1"/>
            <p:nvPr/>
          </p:nvSpPr>
          <p:spPr>
            <a:xfrm>
              <a:off x="7919466" y="2420302"/>
              <a:ext cx="2618594" cy="205359"/>
            </a:xfrm>
            <a:prstGeom prst="rect">
              <a:avLst/>
            </a:prstGeom>
            <a:noFill/>
            <a:ln>
              <a:noFill/>
            </a:ln>
          </p:spPr>
          <p:txBody>
            <a:bodyPr wrap="none" lIns="0" tIns="0" rIns="0" bIns="0" anchor="t" anchorCtr="0">
              <a:spAutoFit/>
            </a:bodyPr>
            <a:lstStyle/>
            <a:p>
              <a:pPr algn="l"/>
              <a:r>
                <a:rPr lang="en-US" sz="1050" dirty="0">
                  <a:solidFill>
                    <a:srgbClr val="E2E8F0"/>
                  </a:solidFill>
                  <a:latin typeface="+mn-lt"/>
                  <a:ea typeface="+mn-ea"/>
                  <a:cs typeface="+mn-cs"/>
                </a:rPr>
                <a:t>permanently lost, no way to recover.</a:t>
              </a:r>
            </a:p>
          </p:txBody>
        </p:sp>
      </p:grpSp>
      <p:sp>
        <p:nvSpPr>
          <p:cNvPr id="27" name="TextBox 27"/>
          <p:cNvSpPr txBox="1"/>
          <p:nvPr/>
        </p:nvSpPr>
        <p:spPr>
          <a:xfrm>
            <a:off x="2852166" y="3868102"/>
            <a:ext cx="3122737" cy="205359"/>
          </a:xfrm>
          <a:prstGeom prst="rect">
            <a:avLst/>
          </a:prstGeom>
          <a:noFill/>
          <a:ln>
            <a:noFill/>
          </a:ln>
        </p:spPr>
        <p:txBody>
          <a:bodyPr wrap="none" lIns="0" tIns="0" rIns="0" bIns="0" anchor="t" anchorCtr="0">
            <a:spAutoFit/>
          </a:bodyPr>
          <a:lstStyle/>
          <a:p>
            <a:pPr algn="l"/>
            <a:r>
              <a:rPr lang="en-US" sz="1050" b="1" spc="75" dirty="0">
                <a:solidFill>
                  <a:schemeClr val="accent6"/>
                </a:solidFill>
                <a:latin typeface="+mn-lt"/>
                <a:ea typeface="+mn-ea"/>
                <a:cs typeface="+mn-cs"/>
              </a:rPr>
              <a:t>SOFT RELEVANCE WEIGHTING (CABINET)</a:t>
            </a:r>
          </a:p>
        </p:txBody>
      </p:sp>
      <p:grpSp>
        <p:nvGrpSpPr>
          <p:cNvPr id="31" name="Group 31"/>
          <p:cNvGrpSpPr/>
          <p:nvPr/>
        </p:nvGrpSpPr>
        <p:grpSpPr>
          <a:xfrm>
            <a:off x="2857500" y="4152900"/>
            <a:ext cx="3580694" cy="819150"/>
            <a:chOff x="2857500" y="4152900"/>
            <a:chExt cx="3580694" cy="819150"/>
          </a:xfrm>
        </p:grpSpPr>
        <p:sp>
          <p:nvSpPr>
            <p:cNvPr id="28" name="Rectangle 28"/>
            <p:cNvSpPr/>
            <p:nvPr/>
          </p:nvSpPr>
          <p:spPr>
            <a:xfrm>
              <a:off x="2857500" y="4152900"/>
              <a:ext cx="2857500" cy="819150"/>
            </a:xfrm>
            <a:prstGeom prst="roundRect">
              <a:avLst>
                <a:gd name="adj" fmla="val 13953"/>
              </a:avLst>
            </a:prstGeom>
            <a:solidFill>
              <a:srgbClr val="E7F2EC"/>
            </a:solidFill>
            <a:ln w="14288">
              <a:solidFill>
                <a:schemeClr val="accent6"/>
              </a:solidFill>
            </a:ln>
          </p:spPr>
        </p:sp>
        <p:sp>
          <p:nvSpPr>
            <p:cNvPr id="29" name="TextBox 29"/>
            <p:cNvSpPr txBox="1"/>
            <p:nvPr/>
          </p:nvSpPr>
          <p:spPr>
            <a:xfrm>
              <a:off x="3003423" y="4358164"/>
              <a:ext cx="2325738" cy="249364"/>
            </a:xfrm>
            <a:prstGeom prst="rect">
              <a:avLst/>
            </a:prstGeom>
            <a:noFill/>
            <a:ln>
              <a:noFill/>
            </a:ln>
          </p:spPr>
          <p:txBody>
            <a:bodyPr wrap="none" lIns="0" tIns="0" rIns="0" bIns="0" anchor="t" anchorCtr="0">
              <a:spAutoFit/>
            </a:bodyPr>
            <a:lstStyle/>
            <a:p>
              <a:pPr algn="l"/>
              <a:r>
                <a:rPr lang="en-US" sz="1280" b="1" dirty="0">
                  <a:solidFill>
                    <a:srgbClr val="166534"/>
                  </a:solidFill>
                  <a:latin typeface="+mn-lt"/>
                  <a:ea typeface="+mn-ea"/>
                  <a:cs typeface="+mn-cs"/>
                </a:rPr>
                <a:t>Weight relevance, keep all</a:t>
              </a:r>
            </a:p>
          </p:txBody>
        </p:sp>
        <p:sp>
          <p:nvSpPr>
            <p:cNvPr id="30" name="TextBox 30"/>
            <p:cNvSpPr txBox="1"/>
            <p:nvPr/>
          </p:nvSpPr>
          <p:spPr>
            <a:xfrm>
              <a:off x="3004185" y="4622006"/>
              <a:ext cx="3434009" cy="220028"/>
            </a:xfrm>
            <a:prstGeom prst="rect">
              <a:avLst/>
            </a:prstGeom>
            <a:noFill/>
            <a:ln>
              <a:noFill/>
            </a:ln>
          </p:spPr>
          <p:txBody>
            <a:bodyPr wrap="none" lIns="0" tIns="0" rIns="0" bIns="0" anchor="t" anchorCtr="0">
              <a:spAutoFit/>
            </a:bodyPr>
            <a:lstStyle/>
            <a:p>
              <a:pPr algn="l"/>
              <a:r>
                <a:rPr lang="en-US" sz="1120" dirty="0">
                  <a:solidFill>
                    <a:srgbClr val="14532D"/>
                  </a:solidFill>
                  <a:latin typeface="+mn-lt"/>
                  <a:ea typeface="+mn-ea"/>
                  <a:cs typeface="+mn-cs"/>
                </a:rPr>
                <a:t>nothing removed — steer toward what matters</a:t>
              </a:r>
            </a:p>
          </p:txBody>
        </p:sp>
      </p:grpSp>
      <p:sp>
        <p:nvSpPr>
          <p:cNvPr id="32" name="Freeform 32"/>
          <p:cNvSpPr/>
          <p:nvPr/>
        </p:nvSpPr>
        <p:spPr>
          <a:xfrm>
            <a:off x="5715000" y="4562475"/>
            <a:ext cx="438150" cy="9525"/>
          </a:xfrm>
          <a:custGeom>
            <a:avLst/>
            <a:gdLst/>
            <a:ahLst/>
            <a:cxnLst/>
            <a:rect l="l" t="t" r="r" b="b"/>
            <a:pathLst>
              <a:path w="438150" h="9525">
                <a:moveTo>
                  <a:pt x="0" y="0"/>
                </a:moveTo>
                <a:lnTo>
                  <a:pt x="438150" y="0"/>
                </a:lnTo>
              </a:path>
            </a:pathLst>
          </a:custGeom>
          <a:noFill/>
          <a:ln w="23812">
            <a:solidFill>
              <a:schemeClr val="accent6"/>
            </a:solidFill>
            <a:tailEnd type="triangle" w="lg" len="lg"/>
          </a:ln>
        </p:spPr>
      </p:sp>
      <p:sp>
        <p:nvSpPr>
          <p:cNvPr id="33" name="Rectangle 33"/>
          <p:cNvSpPr/>
          <p:nvPr/>
        </p:nvSpPr>
        <p:spPr>
          <a:xfrm>
            <a:off x="6172200" y="4248150"/>
            <a:ext cx="1143000" cy="628650"/>
          </a:xfrm>
          <a:prstGeom prst="roundRect">
            <a:avLst>
              <a:gd name="adj" fmla="val 18182"/>
            </a:avLst>
          </a:prstGeom>
          <a:solidFill>
            <a:schemeClr val="lt1"/>
          </a:solidFill>
          <a:ln w="14288">
            <a:solidFill>
              <a:schemeClr val="accent6"/>
            </a:solidFill>
          </a:ln>
        </p:spPr>
      </p:sp>
      <p:sp>
        <p:nvSpPr>
          <p:cNvPr id="34" name="TextBox 34"/>
          <p:cNvSpPr txBox="1"/>
          <p:nvPr/>
        </p:nvSpPr>
        <p:spPr>
          <a:xfrm>
            <a:off x="6428445" y="4490085"/>
            <a:ext cx="630509" cy="234696"/>
          </a:xfrm>
          <a:prstGeom prst="rect">
            <a:avLst/>
          </a:prstGeom>
          <a:noFill/>
          <a:ln>
            <a:noFill/>
          </a:ln>
        </p:spPr>
        <p:txBody>
          <a:bodyPr wrap="none" lIns="0" tIns="0" rIns="0" bIns="0" anchor="t" anchorCtr="0">
            <a:spAutoFit/>
          </a:bodyPr>
          <a:lstStyle/>
          <a:p>
            <a:pPr algn="ctr"/>
            <a:r>
              <a:rPr lang="en-US" sz="1200" b="1" dirty="0">
                <a:solidFill>
                  <a:srgbClr val="166534"/>
                </a:solidFill>
                <a:latin typeface="+mn-lt"/>
                <a:ea typeface="+mn-ea"/>
                <a:cs typeface="+mn-cs"/>
              </a:rPr>
              <a:t>QA LLM</a:t>
            </a:r>
          </a:p>
        </p:txBody>
      </p:sp>
      <p:sp>
        <p:nvSpPr>
          <p:cNvPr id="35" name="Freeform 35"/>
          <p:cNvSpPr/>
          <p:nvPr/>
        </p:nvSpPr>
        <p:spPr>
          <a:xfrm>
            <a:off x="7315200" y="4562475"/>
            <a:ext cx="361950" cy="9525"/>
          </a:xfrm>
          <a:custGeom>
            <a:avLst/>
            <a:gdLst/>
            <a:ahLst/>
            <a:cxnLst/>
            <a:rect l="l" t="t" r="r" b="b"/>
            <a:pathLst>
              <a:path w="361950" h="9525">
                <a:moveTo>
                  <a:pt x="0" y="0"/>
                </a:moveTo>
                <a:lnTo>
                  <a:pt x="361950" y="0"/>
                </a:lnTo>
              </a:path>
            </a:pathLst>
          </a:custGeom>
          <a:noFill/>
          <a:ln w="23812">
            <a:solidFill>
              <a:schemeClr val="accent6"/>
            </a:solidFill>
            <a:tailEnd type="triangle" w="lg" len="lg"/>
          </a:ln>
        </p:spPr>
      </p:sp>
      <p:sp>
        <p:nvSpPr>
          <p:cNvPr id="36" name="Rectangle 36"/>
          <p:cNvSpPr/>
          <p:nvPr/>
        </p:nvSpPr>
        <p:spPr>
          <a:xfrm>
            <a:off x="7696200" y="4057650"/>
            <a:ext cx="3352800" cy="1009650"/>
          </a:xfrm>
          <a:prstGeom prst="roundRect">
            <a:avLst>
              <a:gd name="adj" fmla="val 11321"/>
            </a:avLst>
          </a:prstGeom>
          <a:solidFill>
            <a:schemeClr val="accent1"/>
          </a:solidFill>
          <a:ln>
            <a:noFill/>
          </a:ln>
        </p:spPr>
      </p:sp>
      <p:sp>
        <p:nvSpPr>
          <p:cNvPr id="37" name="TextBox 37"/>
          <p:cNvSpPr txBox="1"/>
          <p:nvPr/>
        </p:nvSpPr>
        <p:spPr>
          <a:xfrm>
            <a:off x="7913370" y="4195762"/>
            <a:ext cx="1595957" cy="440055"/>
          </a:xfrm>
          <a:prstGeom prst="rect">
            <a:avLst/>
          </a:prstGeom>
          <a:noFill/>
          <a:ln>
            <a:noFill/>
          </a:ln>
        </p:spPr>
        <p:txBody>
          <a:bodyPr wrap="none" lIns="0" tIns="0" rIns="0" bIns="0" anchor="t" anchorCtr="0">
            <a:spAutoFit/>
          </a:bodyPr>
          <a:lstStyle/>
          <a:p>
            <a:pPr algn="l"/>
            <a:r>
              <a:rPr lang="en-US" sz="2250" b="1" dirty="0">
                <a:solidFill>
                  <a:srgbClr val="86EFAC"/>
                </a:solidFill>
                <a:latin typeface="+mn-lt"/>
                <a:ea typeface="+mn-ea"/>
                <a:cs typeface="+mn-cs"/>
              </a:rPr>
              <a:t>Answer 45</a:t>
            </a:r>
          </a:p>
        </p:txBody>
      </p:sp>
      <p:sp>
        <p:nvSpPr>
          <p:cNvPr id="38" name="TextBox 38"/>
          <p:cNvSpPr txBox="1"/>
          <p:nvPr/>
        </p:nvSpPr>
        <p:spPr>
          <a:xfrm>
            <a:off x="9323070" y="4195762"/>
            <a:ext cx="340900" cy="440055"/>
          </a:xfrm>
          <a:prstGeom prst="rect">
            <a:avLst/>
          </a:prstGeom>
          <a:noFill/>
          <a:ln>
            <a:noFill/>
          </a:ln>
        </p:spPr>
        <p:txBody>
          <a:bodyPr wrap="none" lIns="0" tIns="0" rIns="0" bIns="0" anchor="t" anchorCtr="0">
            <a:spAutoFit/>
          </a:bodyPr>
          <a:lstStyle/>
          <a:p>
            <a:pPr algn="l"/>
            <a:r>
              <a:rPr lang="en-US" sz="2250" b="1" dirty="0">
                <a:solidFill>
                  <a:srgbClr val="22C55E"/>
                </a:solidFill>
                <a:latin typeface="+mn-lt"/>
                <a:ea typeface="+mn-ea"/>
                <a:cs typeface="+mn-cs"/>
              </a:rPr>
              <a:t>✓</a:t>
            </a:r>
          </a:p>
        </p:txBody>
      </p:sp>
      <p:sp>
        <p:nvSpPr>
          <p:cNvPr id="39" name="TextBox 39"/>
          <p:cNvSpPr txBox="1"/>
          <p:nvPr/>
        </p:nvSpPr>
        <p:spPr>
          <a:xfrm>
            <a:off x="7919466" y="4611052"/>
            <a:ext cx="2891950" cy="205359"/>
          </a:xfrm>
          <a:prstGeom prst="rect">
            <a:avLst/>
          </a:prstGeom>
          <a:noFill/>
          <a:ln>
            <a:noFill/>
          </a:ln>
        </p:spPr>
        <p:txBody>
          <a:bodyPr wrap="none" lIns="0" tIns="0" rIns="0" bIns="0" anchor="t" anchorCtr="0">
            <a:spAutoFit/>
          </a:bodyPr>
          <a:lstStyle/>
          <a:p>
            <a:pPr algn="l"/>
            <a:r>
              <a:rPr lang="en-US" sz="1050" dirty="0">
                <a:solidFill>
                  <a:srgbClr val="E2E8F0"/>
                </a:solidFill>
                <a:latin typeface="+mn-lt"/>
                <a:ea typeface="+mn-ea"/>
                <a:cs typeface="+mn-cs"/>
              </a:rPr>
              <a:t>Relevant rows weighted higher; the whole</a:t>
            </a:r>
          </a:p>
        </p:txBody>
      </p:sp>
      <p:sp>
        <p:nvSpPr>
          <p:cNvPr id="40" name="TextBox 40"/>
          <p:cNvSpPr txBox="1"/>
          <p:nvPr/>
        </p:nvSpPr>
        <p:spPr>
          <a:xfrm>
            <a:off x="7919466" y="4801552"/>
            <a:ext cx="2406567" cy="205359"/>
          </a:xfrm>
          <a:prstGeom prst="rect">
            <a:avLst/>
          </a:prstGeom>
          <a:noFill/>
          <a:ln>
            <a:noFill/>
          </a:ln>
        </p:spPr>
        <p:txBody>
          <a:bodyPr wrap="none" lIns="0" tIns="0" rIns="0" bIns="0" anchor="t" anchorCtr="0">
            <a:spAutoFit/>
          </a:bodyPr>
          <a:lstStyle/>
          <a:p>
            <a:pPr algn="l"/>
            <a:r>
              <a:rPr lang="en-US" sz="1050" dirty="0">
                <a:solidFill>
                  <a:srgbClr val="E2E8F0"/>
                </a:solidFill>
                <a:latin typeface="+mn-lt"/>
                <a:ea typeface="+mn-ea"/>
                <a:cs typeface="+mn-cs"/>
              </a:rPr>
              <a:t>table stays available to the model.</a:t>
            </a:r>
          </a:p>
        </p:txBody>
      </p:sp>
      <p:sp>
        <p:nvSpPr>
          <p:cNvPr id="41" name="TextBox 41"/>
          <p:cNvSpPr txBox="1"/>
          <p:nvPr/>
        </p:nvSpPr>
        <p:spPr>
          <a:xfrm>
            <a:off x="660654" y="5585460"/>
            <a:ext cx="989393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Hard decomposition can throw away the answer. Soft weighting never removes content — so the model can always recover it.</a:t>
            </a:r>
          </a:p>
        </p:txBody>
      </p:sp>
      <p:sp>
        <p:nvSpPr>
          <p:cNvPr id="42" name="Line 42"/>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sp>
      <p:sp>
        <p:nvSpPr>
          <p:cNvPr id="43" name="TextBox 43"/>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44" name="TextBox 44"/>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03 / 10</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sp>
      <p:sp>
        <p:nvSpPr>
          <p:cNvPr id="3" name="Rectangle 3"/>
          <p:cNvSpPr/>
          <p:nvPr/>
        </p:nvSpPr>
        <p:spPr>
          <a:xfrm>
            <a:off x="0" y="0"/>
            <a:ext cx="12192000" cy="57150"/>
          </a:xfrm>
          <a:prstGeom prst="rect">
            <a:avLst/>
          </a:prstGeom>
          <a:solidFill>
            <a:schemeClr val="accent2"/>
          </a:solidFill>
          <a:ln>
            <a:noFill/>
          </a:ln>
        </p:spPr>
      </p:sp>
      <p:sp>
        <p:nvSpPr>
          <p:cNvPr id="4" name="TextBox 4"/>
          <p:cNvSpPr txBox="1"/>
          <p:nvPr/>
        </p:nvSpPr>
        <p:spPr>
          <a:xfrm>
            <a:off x="661035" y="450056"/>
            <a:ext cx="1333409"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CONTRIBUTION</a:t>
            </a:r>
          </a:p>
        </p:txBody>
      </p:sp>
      <p:sp>
        <p:nvSpPr>
          <p:cNvPr id="5" name="TextBox 5"/>
          <p:cNvSpPr txBox="1"/>
          <p:nvPr/>
        </p:nvSpPr>
        <p:spPr>
          <a:xfrm>
            <a:off x="634746" y="715328"/>
            <a:ext cx="4171133"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The CABINET Framework</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sp>
      <p:grpSp>
        <p:nvGrpSpPr>
          <p:cNvPr id="10" name="Group 10"/>
          <p:cNvGrpSpPr/>
          <p:nvPr/>
        </p:nvGrpSpPr>
        <p:grpSpPr>
          <a:xfrm>
            <a:off x="571500" y="1390650"/>
            <a:ext cx="10953750" cy="876300"/>
            <a:chOff x="571500" y="1390650"/>
            <a:chExt cx="10953750" cy="876300"/>
          </a:xfrm>
        </p:grpSpPr>
        <p:sp>
          <p:nvSpPr>
            <p:cNvPr id="7" name="Rectangle 7"/>
            <p:cNvSpPr/>
            <p:nvPr/>
          </p:nvSpPr>
          <p:spPr>
            <a:xfrm>
              <a:off x="571500" y="1390650"/>
              <a:ext cx="10953750" cy="876300"/>
            </a:xfrm>
            <a:prstGeom prst="roundRect">
              <a:avLst>
                <a:gd name="adj" fmla="val 15217"/>
              </a:avLst>
            </a:prstGeom>
            <a:solidFill>
              <a:schemeClr val="accent1"/>
            </a:solidFill>
            <a:ln>
              <a:noFill/>
            </a:ln>
          </p:spPr>
        </p:sp>
        <p:sp>
          <p:nvSpPr>
            <p:cNvPr id="8" name="TextBox 8"/>
            <p:cNvSpPr txBox="1"/>
            <p:nvPr/>
          </p:nvSpPr>
          <p:spPr>
            <a:xfrm>
              <a:off x="810768" y="1612582"/>
              <a:ext cx="5870690"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CABINET = Content Relevance-Based Noise Reduction</a:t>
              </a:r>
            </a:p>
          </p:txBody>
        </p:sp>
        <p:sp>
          <p:nvSpPr>
            <p:cNvPr id="9" name="TextBox 9"/>
            <p:cNvSpPr txBox="1"/>
            <p:nvPr/>
          </p:nvSpPr>
          <p:spPr>
            <a:xfrm>
              <a:off x="813054" y="1927860"/>
              <a:ext cx="10380826" cy="234696"/>
            </a:xfrm>
            <a:prstGeom prst="rect">
              <a:avLst/>
            </a:prstGeom>
            <a:noFill/>
            <a:ln>
              <a:noFill/>
            </a:ln>
          </p:spPr>
          <p:txBody>
            <a:bodyPr wrap="none" lIns="0" tIns="0" rIns="0" bIns="0" anchor="t" anchorCtr="0">
              <a:spAutoFit/>
            </a:bodyPr>
            <a:lstStyle/>
            <a:p>
              <a:pPr algn="l"/>
              <a:r>
                <a:rPr lang="en-US" sz="1200" dirty="0">
                  <a:solidFill>
                    <a:srgbClr val="BFD0E8"/>
                  </a:solidFill>
                  <a:latin typeface="+mn-lt"/>
                  <a:ea typeface="+mn-ea"/>
                  <a:cs typeface="+mn-cs"/>
                </a:rPr>
                <a:t>Two cooperating relevance signals, trained end-to-end with the question-answering model — suppress noise, never delete content.</a:t>
              </a:r>
            </a:p>
          </p:txBody>
        </p:sp>
      </p:grpSp>
      <p:grpSp>
        <p:nvGrpSpPr>
          <p:cNvPr id="21" name="Group 21"/>
          <p:cNvGrpSpPr/>
          <p:nvPr/>
        </p:nvGrpSpPr>
        <p:grpSpPr>
          <a:xfrm>
            <a:off x="571500" y="2457450"/>
            <a:ext cx="5353050" cy="2190750"/>
            <a:chOff x="571500" y="2457450"/>
            <a:chExt cx="5353050" cy="2190750"/>
          </a:xfrm>
        </p:grpSpPr>
        <p:sp>
          <p:nvSpPr>
            <p:cNvPr id="11" name="Rectangle 11"/>
            <p:cNvSpPr/>
            <p:nvPr/>
          </p:nvSpPr>
          <p:spPr>
            <a:xfrm>
              <a:off x="571500" y="2457450"/>
              <a:ext cx="5353050" cy="2190750"/>
            </a:xfrm>
            <a:prstGeom prst="roundRect">
              <a:avLst>
                <a:gd name="adj" fmla="val 6087"/>
              </a:avLst>
            </a:prstGeom>
            <a:solidFill>
              <a:schemeClr val="lt1"/>
            </a:solidFill>
            <a:ln w="14288">
              <a:solidFill>
                <a:schemeClr val="accent4"/>
              </a:solidFill>
            </a:ln>
          </p:spPr>
        </p:sp>
        <p:sp>
          <p:nvSpPr>
            <p:cNvPr id="12" name="Rectangle 12"/>
            <p:cNvSpPr/>
            <p:nvPr/>
          </p:nvSpPr>
          <p:spPr>
            <a:xfrm>
              <a:off x="571500" y="2457450"/>
              <a:ext cx="5353050" cy="76200"/>
            </a:xfrm>
            <a:prstGeom prst="roundRect">
              <a:avLst>
                <a:gd name="adj" fmla="val 50000"/>
              </a:avLst>
            </a:prstGeom>
            <a:solidFill>
              <a:schemeClr val="accent2"/>
            </a:solidFill>
            <a:ln>
              <a:noFill/>
            </a:ln>
          </p:spPr>
        </p:sp>
        <p:sp>
          <p:nvSpPr>
            <p:cNvPr id="13" name="Ellipse 13"/>
            <p:cNvSpPr/>
            <p:nvPr/>
          </p:nvSpPr>
          <p:spPr>
            <a:xfrm>
              <a:off x="742950" y="2743200"/>
              <a:ext cx="381000" cy="381000"/>
            </a:xfrm>
            <a:prstGeom prst="ellipse">
              <a:avLst/>
            </a:prstGeom>
            <a:solidFill>
              <a:srgbClr val="FDF3E0"/>
            </a:solidFill>
            <a:ln>
              <a:noFill/>
            </a:ln>
          </p:spPr>
        </p:sp>
        <p:sp>
          <p:nvSpPr>
            <p:cNvPr id="14" name="TextBox 14"/>
            <p:cNvSpPr txBox="1"/>
            <p:nvPr/>
          </p:nvSpPr>
          <p:spPr>
            <a:xfrm>
              <a:off x="867523" y="2838450"/>
              <a:ext cx="131855" cy="293370"/>
            </a:xfrm>
            <a:prstGeom prst="rect">
              <a:avLst/>
            </a:prstGeom>
            <a:noFill/>
            <a:ln>
              <a:noFill/>
            </a:ln>
          </p:spPr>
          <p:txBody>
            <a:bodyPr wrap="none" lIns="0" tIns="0" rIns="0" bIns="0" anchor="t" anchorCtr="0">
              <a:spAutoFit/>
            </a:bodyPr>
            <a:lstStyle/>
            <a:p>
              <a:pPr algn="ctr"/>
              <a:r>
                <a:rPr lang="en-US" sz="1500" b="1" dirty="0">
                  <a:solidFill>
                    <a:srgbClr val="B45309"/>
                  </a:solidFill>
                  <a:latin typeface="+mn-lt"/>
                  <a:ea typeface="+mn-ea"/>
                  <a:cs typeface="+mn-cs"/>
                </a:rPr>
                <a:t>1</a:t>
              </a:r>
            </a:p>
          </p:txBody>
        </p:sp>
        <p:sp>
          <p:nvSpPr>
            <p:cNvPr id="15" name="TextBox 15"/>
            <p:cNvSpPr txBox="1"/>
            <p:nvPr/>
          </p:nvSpPr>
          <p:spPr>
            <a:xfrm>
              <a:off x="1249299" y="2725579"/>
              <a:ext cx="2564514"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n-lt"/>
                  <a:ea typeface="+mn-ea"/>
                  <a:cs typeface="+mn-cs"/>
                </a:rPr>
                <a:t>Unsupervised Relevance</a:t>
              </a:r>
            </a:p>
          </p:txBody>
        </p:sp>
        <p:sp>
          <p:nvSpPr>
            <p:cNvPr id="16" name="TextBox 16"/>
            <p:cNvSpPr txBox="1"/>
            <p:nvPr/>
          </p:nvSpPr>
          <p:spPr>
            <a:xfrm>
              <a:off x="1249299" y="2973229"/>
              <a:ext cx="1469854"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n-lt"/>
                  <a:ea typeface="+mn-ea"/>
                  <a:cs typeface="+mn-cs"/>
                </a:rPr>
                <a:t>Scorer (URS)</a:t>
              </a:r>
            </a:p>
          </p:txBody>
        </p:sp>
        <p:sp>
          <p:nvSpPr>
            <p:cNvPr id="17" name="TextBox 17"/>
            <p:cNvSpPr txBox="1"/>
            <p:nvPr/>
          </p:nvSpPr>
          <p:spPr>
            <a:xfrm>
              <a:off x="832104" y="3451860"/>
              <a:ext cx="3636421" cy="234696"/>
            </a:xfrm>
            <a:prstGeom prst="rect">
              <a:avLst/>
            </a:prstGeom>
            <a:noFill/>
            <a:ln>
              <a:noFill/>
            </a:ln>
          </p:spPr>
          <p:txBody>
            <a:bodyPr wrap="none" lIns="0" tIns="0" rIns="0" bIns="0" anchor="t" anchorCtr="0">
              <a:spAutoFit/>
            </a:bodyPr>
            <a:lstStyle/>
            <a:p>
              <a:pPr algn="l" marL="129540" indent="-129540">
                <a:buClr>
                  <a:srgbClr val="334155"/>
                </a:buClr>
                <a:buSzTx/>
                <a:buFontTx/>
                <a:buChar char="•"/>
              </a:pPr>
              <a:r>
                <a:rPr lang="en-US" sz="1200" dirty="0">
                  <a:solidFill>
                    <a:srgbClr val="334155"/>
                  </a:solidFill>
                  <a:latin typeface="+mn-lt"/>
                  <a:ea typeface="+mn-ea"/>
                  <a:cs typeface="+mn-cs"/>
                </a:rPr>
                <a:t>Soft relevance weight for every table token</a:t>
              </a:r>
            </a:p>
          </p:txBody>
        </p:sp>
        <p:sp>
          <p:nvSpPr>
            <p:cNvPr id="18" name="TextBox 18"/>
            <p:cNvSpPr txBox="1"/>
            <p:nvPr/>
          </p:nvSpPr>
          <p:spPr>
            <a:xfrm>
              <a:off x="832104" y="3718560"/>
              <a:ext cx="3453219" cy="234696"/>
            </a:xfrm>
            <a:prstGeom prst="rect">
              <a:avLst/>
            </a:prstGeom>
            <a:noFill/>
            <a:ln>
              <a:noFill/>
            </a:ln>
          </p:spPr>
          <p:txBody>
            <a:bodyPr wrap="none" lIns="0" tIns="0" rIns="0" bIns="0" anchor="t" anchorCtr="0">
              <a:spAutoFit/>
            </a:bodyPr>
            <a:lstStyle/>
            <a:p>
              <a:pPr algn="l" marL="129540" indent="-129540">
                <a:buClr>
                  <a:srgbClr val="334155"/>
                </a:buClr>
                <a:buSzTx/>
                <a:buFontTx/>
                <a:buChar char="•"/>
              </a:pPr>
              <a:r>
                <a:rPr lang="en-US" sz="1200" dirty="0">
                  <a:solidFill>
                    <a:srgbClr val="334155"/>
                  </a:solidFill>
                  <a:latin typeface="+mn-lt"/>
                  <a:ea typeface="+mn-ea"/>
                  <a:cs typeface="+mn-cs"/>
                </a:rPr>
                <a:t>Differentiable, trained with the QA model</a:t>
              </a:r>
            </a:p>
          </p:txBody>
        </p:sp>
        <p:sp>
          <p:nvSpPr>
            <p:cNvPr id="19" name="TextBox 19"/>
            <p:cNvSpPr txBox="1"/>
            <p:nvPr/>
          </p:nvSpPr>
          <p:spPr>
            <a:xfrm>
              <a:off x="832104" y="3985260"/>
              <a:ext cx="3402108" cy="234696"/>
            </a:xfrm>
            <a:prstGeom prst="rect">
              <a:avLst/>
            </a:prstGeom>
            <a:noFill/>
            <a:ln>
              <a:noFill/>
            </a:ln>
          </p:spPr>
          <p:txBody>
            <a:bodyPr wrap="none" lIns="0" tIns="0" rIns="0" bIns="0" anchor="t" anchorCtr="0">
              <a:spAutoFit/>
            </a:bodyPr>
            <a:lstStyle/>
            <a:p>
              <a:pPr algn="l" marL="129540" indent="-129540">
                <a:buClr>
                  <a:srgbClr val="334155"/>
                </a:buClr>
                <a:buSzTx/>
                <a:buFontTx/>
                <a:buChar char="•"/>
              </a:pPr>
              <a:r>
                <a:rPr lang="en-US" sz="1200" dirty="0">
                  <a:solidFill>
                    <a:srgbClr val="334155"/>
                  </a:solidFill>
                  <a:latin typeface="+mn-lt"/>
                  <a:ea typeface="+mn-ea"/>
                  <a:cs typeface="+mn-cs"/>
                </a:rPr>
                <a:t>No cell-level labels needed (latent signal)</a:t>
              </a:r>
            </a:p>
          </p:txBody>
        </p:sp>
        <p:sp>
          <p:nvSpPr>
            <p:cNvPr id="20" name="TextBox 20"/>
            <p:cNvSpPr txBox="1"/>
            <p:nvPr/>
          </p:nvSpPr>
          <p:spPr>
            <a:xfrm>
              <a:off x="832104" y="4251960"/>
              <a:ext cx="2035878" cy="234696"/>
            </a:xfrm>
            <a:prstGeom prst="rect">
              <a:avLst/>
            </a:prstGeom>
            <a:noFill/>
            <a:ln>
              <a:noFill/>
            </a:ln>
          </p:spPr>
          <p:txBody>
            <a:bodyPr wrap="none" lIns="0" tIns="0" rIns="0" bIns="0" anchor="t" anchorCtr="0">
              <a:spAutoFit/>
            </a:bodyPr>
            <a:lstStyle/>
            <a:p>
              <a:pPr algn="l"/>
              <a:r>
                <a:rPr lang="en-US" sz="1200" b="1" dirty="0">
                  <a:solidFill>
                    <a:srgbClr val="B45309"/>
                  </a:solidFill>
                  <a:latin typeface="+mn-lt"/>
                  <a:ea typeface="+mn-ea"/>
                  <a:cs typeface="+mn-cs"/>
                </a:rPr>
                <a:t>Primary relevance signal</a:t>
              </a:r>
            </a:p>
          </p:txBody>
        </p:sp>
      </p:grpSp>
      <p:grpSp>
        <p:nvGrpSpPr>
          <p:cNvPr id="32" name="Group 32"/>
          <p:cNvGrpSpPr/>
          <p:nvPr/>
        </p:nvGrpSpPr>
        <p:grpSpPr>
          <a:xfrm>
            <a:off x="6172200" y="2457450"/>
            <a:ext cx="5353050" cy="2190750"/>
            <a:chOff x="6172200" y="2457450"/>
            <a:chExt cx="5353050" cy="2190750"/>
          </a:xfrm>
        </p:grpSpPr>
        <p:sp>
          <p:nvSpPr>
            <p:cNvPr id="22" name="Rectangle 22"/>
            <p:cNvSpPr/>
            <p:nvPr/>
          </p:nvSpPr>
          <p:spPr>
            <a:xfrm>
              <a:off x="6172200" y="2457450"/>
              <a:ext cx="5353050" cy="2190750"/>
            </a:xfrm>
            <a:prstGeom prst="roundRect">
              <a:avLst>
                <a:gd name="adj" fmla="val 6087"/>
              </a:avLst>
            </a:prstGeom>
            <a:solidFill>
              <a:schemeClr val="lt1"/>
            </a:solidFill>
            <a:ln w="14288">
              <a:solidFill>
                <a:schemeClr val="accent4"/>
              </a:solidFill>
            </a:ln>
          </p:spPr>
        </p:sp>
        <p:sp>
          <p:nvSpPr>
            <p:cNvPr id="23" name="Rectangle 23"/>
            <p:cNvSpPr/>
            <p:nvPr/>
          </p:nvSpPr>
          <p:spPr>
            <a:xfrm>
              <a:off x="6172200" y="2457450"/>
              <a:ext cx="5353050" cy="76200"/>
            </a:xfrm>
            <a:prstGeom prst="roundRect">
              <a:avLst>
                <a:gd name="adj" fmla="val 50000"/>
              </a:avLst>
            </a:prstGeom>
            <a:solidFill>
              <a:schemeClr val="accent3"/>
            </a:solidFill>
            <a:ln>
              <a:noFill/>
            </a:ln>
          </p:spPr>
        </p:sp>
        <p:sp>
          <p:nvSpPr>
            <p:cNvPr id="24" name="Ellipse 24"/>
            <p:cNvSpPr/>
            <p:nvPr/>
          </p:nvSpPr>
          <p:spPr>
            <a:xfrm>
              <a:off x="6343650" y="2743200"/>
              <a:ext cx="381000" cy="381000"/>
            </a:xfrm>
            <a:prstGeom prst="ellipse">
              <a:avLst/>
            </a:prstGeom>
            <a:solidFill>
              <a:srgbClr val="E4F1EF"/>
            </a:solidFill>
            <a:ln>
              <a:noFill/>
            </a:ln>
          </p:spPr>
        </p:sp>
        <p:sp>
          <p:nvSpPr>
            <p:cNvPr id="25" name="TextBox 25"/>
            <p:cNvSpPr txBox="1"/>
            <p:nvPr/>
          </p:nvSpPr>
          <p:spPr>
            <a:xfrm>
              <a:off x="6468223" y="2838450"/>
              <a:ext cx="131855" cy="293370"/>
            </a:xfrm>
            <a:prstGeom prst="rect">
              <a:avLst/>
            </a:prstGeom>
            <a:noFill/>
            <a:ln>
              <a:noFill/>
            </a:ln>
          </p:spPr>
          <p:txBody>
            <a:bodyPr wrap="none" lIns="0" tIns="0" rIns="0" bIns="0" anchor="t" anchorCtr="0">
              <a:spAutoFit/>
            </a:bodyPr>
            <a:lstStyle/>
            <a:p>
              <a:pPr algn="ctr"/>
              <a:r>
                <a:rPr lang="en-US" sz="1500" b="1" dirty="0">
                  <a:solidFill>
                    <a:schemeClr val="accent3"/>
                  </a:solidFill>
                  <a:latin typeface="+mn-lt"/>
                  <a:ea typeface="+mn-ea"/>
                  <a:cs typeface="+mn-cs"/>
                </a:rPr>
                <a:t>2</a:t>
              </a:r>
            </a:p>
          </p:txBody>
        </p:sp>
        <p:sp>
          <p:nvSpPr>
            <p:cNvPr id="26" name="TextBox 26"/>
            <p:cNvSpPr txBox="1"/>
            <p:nvPr/>
          </p:nvSpPr>
          <p:spPr>
            <a:xfrm>
              <a:off x="6849999" y="2725579"/>
              <a:ext cx="2051481"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n-lt"/>
                  <a:ea typeface="+mn-ea"/>
                  <a:cs typeface="+mn-cs"/>
                </a:rPr>
                <a:t>Weakly-Supervised</a:t>
              </a:r>
            </a:p>
          </p:txBody>
        </p:sp>
        <p:sp>
          <p:nvSpPr>
            <p:cNvPr id="27" name="TextBox 27"/>
            <p:cNvSpPr txBox="1"/>
            <p:nvPr/>
          </p:nvSpPr>
          <p:spPr>
            <a:xfrm>
              <a:off x="6849999" y="2973229"/>
              <a:ext cx="2908003"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n-lt"/>
                  <a:ea typeface="+mn-ea"/>
                  <a:cs typeface="+mn-cs"/>
                </a:rPr>
                <a:t>Parsing-Statement Module</a:t>
              </a:r>
            </a:p>
          </p:txBody>
        </p:sp>
        <p:sp>
          <p:nvSpPr>
            <p:cNvPr id="28" name="TextBox 28"/>
            <p:cNvSpPr txBox="1"/>
            <p:nvPr/>
          </p:nvSpPr>
          <p:spPr>
            <a:xfrm>
              <a:off x="6432804" y="3451860"/>
              <a:ext cx="3240948" cy="234696"/>
            </a:xfrm>
            <a:prstGeom prst="rect">
              <a:avLst/>
            </a:prstGeom>
            <a:noFill/>
            <a:ln>
              <a:noFill/>
            </a:ln>
          </p:spPr>
          <p:txBody>
            <a:bodyPr wrap="none" lIns="0" tIns="0" rIns="0" bIns="0" anchor="t" anchorCtr="0">
              <a:spAutoFit/>
            </a:bodyPr>
            <a:lstStyle/>
            <a:p>
              <a:pPr algn="l" marL="129540" indent="-129540">
                <a:buClr>
                  <a:srgbClr val="334155"/>
                </a:buClr>
                <a:buSzTx/>
                <a:buFontTx/>
                <a:buChar char="•"/>
              </a:pPr>
              <a:r>
                <a:rPr lang="en-US" sz="1200" dirty="0">
                  <a:solidFill>
                    <a:srgbClr val="334155"/>
                  </a:solidFill>
                  <a:latin typeface="+mn-lt"/>
                  <a:ea typeface="+mn-ea"/>
                  <a:cs typeface="+mn-cs"/>
                </a:rPr>
                <a:t>Describes which rows &amp; columns matter</a:t>
              </a:r>
            </a:p>
          </p:txBody>
        </p:sp>
        <p:sp>
          <p:nvSpPr>
            <p:cNvPr id="29" name="TextBox 29"/>
            <p:cNvSpPr txBox="1"/>
            <p:nvPr/>
          </p:nvSpPr>
          <p:spPr>
            <a:xfrm>
              <a:off x="6432804" y="3718560"/>
              <a:ext cx="2803983" cy="234696"/>
            </a:xfrm>
            <a:prstGeom prst="rect">
              <a:avLst/>
            </a:prstGeom>
            <a:noFill/>
            <a:ln>
              <a:noFill/>
            </a:ln>
          </p:spPr>
          <p:txBody>
            <a:bodyPr wrap="none" lIns="0" tIns="0" rIns="0" bIns="0" anchor="t" anchorCtr="0">
              <a:spAutoFit/>
            </a:bodyPr>
            <a:lstStyle/>
            <a:p>
              <a:pPr algn="l" marL="129540" indent="-129540">
                <a:buClr>
                  <a:srgbClr val="334155"/>
                </a:buClr>
                <a:buSzTx/>
                <a:buFontTx/>
                <a:buChar char="•"/>
              </a:pPr>
              <a:r>
                <a:rPr lang="en-US" sz="1200" dirty="0">
                  <a:solidFill>
                    <a:srgbClr val="334155"/>
                  </a:solidFill>
                  <a:latin typeface="+mn-lt"/>
                  <a:ea typeface="+mn-ea"/>
                  <a:cs typeface="+mn-cs"/>
                </a:rPr>
                <a:t>Highlights the corresponding cells</a:t>
              </a:r>
            </a:p>
          </p:txBody>
        </p:sp>
        <p:sp>
          <p:nvSpPr>
            <p:cNvPr id="30" name="TextBox 30"/>
            <p:cNvSpPr txBox="1"/>
            <p:nvPr/>
          </p:nvSpPr>
          <p:spPr>
            <a:xfrm>
              <a:off x="6432804" y="3985260"/>
              <a:ext cx="2893162" cy="234696"/>
            </a:xfrm>
            <a:prstGeom prst="rect">
              <a:avLst/>
            </a:prstGeom>
            <a:noFill/>
            <a:ln>
              <a:noFill/>
            </a:ln>
          </p:spPr>
          <p:txBody>
            <a:bodyPr wrap="none" lIns="0" tIns="0" rIns="0" bIns="0" anchor="t" anchorCtr="0">
              <a:spAutoFit/>
            </a:bodyPr>
            <a:lstStyle/>
            <a:p>
              <a:pPr algn="l" marL="129540" indent="-129540">
                <a:buClr>
                  <a:srgbClr val="334155"/>
                </a:buClr>
                <a:buSzTx/>
                <a:buFontTx/>
                <a:buChar char="•"/>
              </a:pPr>
              <a:r>
                <a:rPr lang="en-US" sz="1200" dirty="0">
                  <a:solidFill>
                    <a:srgbClr val="334155"/>
                  </a:solidFill>
                  <a:latin typeface="+mn-lt"/>
                  <a:ea typeface="+mn-ea"/>
                  <a:cs typeface="+mn-cs"/>
                </a:rPr>
                <a:t>Yields a cell-based relevance score</a:t>
              </a:r>
            </a:p>
          </p:txBody>
        </p:sp>
        <p:sp>
          <p:nvSpPr>
            <p:cNvPr id="31" name="TextBox 31"/>
            <p:cNvSpPr txBox="1"/>
            <p:nvPr/>
          </p:nvSpPr>
          <p:spPr>
            <a:xfrm>
              <a:off x="6432804" y="4251960"/>
              <a:ext cx="1544183"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Complementary aid</a:t>
              </a:r>
            </a:p>
          </p:txBody>
        </p:sp>
      </p:grpSp>
      <p:grpSp>
        <p:nvGrpSpPr>
          <p:cNvPr id="36" name="Group 36"/>
          <p:cNvGrpSpPr/>
          <p:nvPr/>
        </p:nvGrpSpPr>
        <p:grpSpPr>
          <a:xfrm>
            <a:off x="571500" y="4838700"/>
            <a:ext cx="10953750" cy="990600"/>
            <a:chOff x="571500" y="4838700"/>
            <a:chExt cx="10953750" cy="990600"/>
          </a:xfrm>
        </p:grpSpPr>
        <p:sp>
          <p:nvSpPr>
            <p:cNvPr id="33" name="Rectangle 33"/>
            <p:cNvSpPr/>
            <p:nvPr/>
          </p:nvSpPr>
          <p:spPr>
            <a:xfrm>
              <a:off x="571500" y="4838700"/>
              <a:ext cx="10953750" cy="990600"/>
            </a:xfrm>
            <a:prstGeom prst="roundRect">
              <a:avLst>
                <a:gd name="adj" fmla="val 13462"/>
              </a:avLst>
            </a:prstGeom>
            <a:solidFill>
              <a:schemeClr val="lt2"/>
            </a:solidFill>
            <a:ln w="14288">
              <a:solidFill>
                <a:schemeClr val="accent4"/>
              </a:solidFill>
            </a:ln>
          </p:spPr>
        </p:sp>
        <p:sp>
          <p:nvSpPr>
            <p:cNvPr id="34" name="TextBox 34"/>
            <p:cNvSpPr txBox="1"/>
            <p:nvPr/>
          </p:nvSpPr>
          <p:spPr>
            <a:xfrm>
              <a:off x="811530" y="5057775"/>
              <a:ext cx="8164739"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Focus without discarding → new state of the art on 3 benchmarks + robustness</a:t>
              </a:r>
            </a:p>
          </p:txBody>
        </p:sp>
        <p:sp>
          <p:nvSpPr>
            <p:cNvPr id="35" name="TextBox 35"/>
            <p:cNvSpPr txBox="1"/>
            <p:nvPr/>
          </p:nvSpPr>
          <p:spPr>
            <a:xfrm>
              <a:off x="813054" y="5394960"/>
              <a:ext cx="1036482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The two scores are fused, applied to the table, and the whole system trains end-to-end — stronger against noise and large tables.</a:t>
              </a:r>
            </a:p>
          </p:txBody>
        </p:sp>
      </p:grpSp>
      <p:sp>
        <p:nvSpPr>
          <p:cNvPr id="37" name="Line 37"/>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sp>
      <p:sp>
        <p:nvSpPr>
          <p:cNvPr id="38" name="TextBox 38"/>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39" name="TextBox 39"/>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04 / 10</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sp>
      <p:sp>
        <p:nvSpPr>
          <p:cNvPr id="3" name="Rectangle 3"/>
          <p:cNvSpPr/>
          <p:nvPr/>
        </p:nvSpPr>
        <p:spPr>
          <a:xfrm>
            <a:off x="0" y="0"/>
            <a:ext cx="12192000" cy="57150"/>
          </a:xfrm>
          <a:prstGeom prst="rect">
            <a:avLst/>
          </a:prstGeom>
          <a:solidFill>
            <a:schemeClr val="accent2"/>
          </a:solidFill>
          <a:ln>
            <a:noFill/>
          </a:ln>
        </p:spPr>
      </p:sp>
      <p:sp>
        <p:nvSpPr>
          <p:cNvPr id="4" name="TextBox 4"/>
          <p:cNvSpPr txBox="1"/>
          <p:nvPr/>
        </p:nvSpPr>
        <p:spPr>
          <a:xfrm>
            <a:off x="661035" y="450056"/>
            <a:ext cx="737025"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METHOD</a:t>
            </a:r>
          </a:p>
        </p:txBody>
      </p:sp>
      <p:sp>
        <p:nvSpPr>
          <p:cNvPr id="5" name="TextBox 5"/>
          <p:cNvSpPr txBox="1"/>
          <p:nvPr/>
        </p:nvSpPr>
        <p:spPr>
          <a:xfrm>
            <a:off x="634746" y="715328"/>
            <a:ext cx="338008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How CABINET Works</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sp>
      <p:sp>
        <p:nvSpPr>
          <p:cNvPr id="7" name="Rectangle 7"/>
          <p:cNvSpPr/>
          <p:nvPr/>
        </p:nvSpPr>
        <p:spPr>
          <a:xfrm>
            <a:off x="571500" y="2533650"/>
            <a:ext cx="1390650" cy="819150"/>
          </a:xfrm>
          <a:prstGeom prst="roundRect">
            <a:avLst>
              <a:gd name="adj" fmla="val 13953"/>
            </a:avLst>
          </a:prstGeom>
          <a:solidFill>
            <a:schemeClr val="lt2"/>
          </a:solidFill>
          <a:ln w="14288">
            <a:solidFill>
              <a:schemeClr val="accent1"/>
            </a:solidFill>
          </a:ln>
        </p:spPr>
      </p:sp>
      <p:sp>
        <p:nvSpPr>
          <p:cNvPr id="8" name="TextBox 8"/>
          <p:cNvSpPr txBox="1"/>
          <p:nvPr/>
        </p:nvSpPr>
        <p:spPr>
          <a:xfrm>
            <a:off x="872872" y="2763202"/>
            <a:ext cx="787905"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Question +</a:t>
            </a:r>
          </a:p>
        </p:txBody>
      </p:sp>
      <p:sp>
        <p:nvSpPr>
          <p:cNvPr id="9" name="TextBox 9"/>
          <p:cNvSpPr txBox="1"/>
          <p:nvPr/>
        </p:nvSpPr>
        <p:spPr>
          <a:xfrm>
            <a:off x="702671" y="2953702"/>
            <a:ext cx="1128308"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flattened Table</a:t>
            </a:r>
          </a:p>
        </p:txBody>
      </p:sp>
      <p:sp>
        <p:nvSpPr>
          <p:cNvPr id="10" name="Freeform 10"/>
          <p:cNvSpPr/>
          <p:nvPr/>
        </p:nvSpPr>
        <p:spPr>
          <a:xfrm>
            <a:off x="1962150" y="2943225"/>
            <a:ext cx="247650" cy="9525"/>
          </a:xfrm>
          <a:custGeom>
            <a:avLst/>
            <a:gdLst/>
            <a:ahLst/>
            <a:cxnLst/>
            <a:rect l="l" t="t" r="r" b="b"/>
            <a:pathLst>
              <a:path w="247650" h="9525">
                <a:moveTo>
                  <a:pt x="0" y="0"/>
                </a:moveTo>
                <a:lnTo>
                  <a:pt x="247650" y="0"/>
                </a:lnTo>
              </a:path>
            </a:pathLst>
          </a:custGeom>
          <a:noFill/>
          <a:ln w="23812">
            <a:solidFill>
              <a:srgbClr val="64748B"/>
            </a:solidFill>
            <a:tailEnd type="triangle" w="lg" len="lg"/>
          </a:ln>
        </p:spPr>
      </p:sp>
      <p:sp>
        <p:nvSpPr>
          <p:cNvPr id="11" name="Rectangle 11"/>
          <p:cNvSpPr/>
          <p:nvPr/>
        </p:nvSpPr>
        <p:spPr>
          <a:xfrm>
            <a:off x="2228850" y="2647950"/>
            <a:ext cx="990600" cy="590550"/>
          </a:xfrm>
          <a:prstGeom prst="roundRect">
            <a:avLst>
              <a:gd name="adj" fmla="val 19355"/>
            </a:avLst>
          </a:prstGeom>
          <a:solidFill>
            <a:srgbClr val="EEF3FA"/>
          </a:solidFill>
          <a:ln w="14288">
            <a:solidFill>
              <a:schemeClr val="accent1"/>
            </a:solidFill>
          </a:ln>
        </p:spPr>
      </p:sp>
      <p:sp>
        <p:nvSpPr>
          <p:cNvPr id="12" name="TextBox 12"/>
          <p:cNvSpPr txBox="1"/>
          <p:nvPr/>
        </p:nvSpPr>
        <p:spPr>
          <a:xfrm>
            <a:off x="2488476" y="2885599"/>
            <a:ext cx="471348" cy="190690"/>
          </a:xfrm>
          <a:prstGeom prst="rect">
            <a:avLst/>
          </a:prstGeom>
          <a:noFill/>
          <a:ln>
            <a:noFill/>
          </a:ln>
        </p:spPr>
        <p:txBody>
          <a:bodyPr wrap="none" lIns="0" tIns="0" rIns="0" bIns="0" anchor="t" anchorCtr="0">
            <a:spAutoFit/>
          </a:bodyPr>
          <a:lstStyle/>
          <a:p>
            <a:pPr algn="ctr"/>
            <a:r>
              <a:rPr lang="en-US" sz="980" b="1" dirty="0">
                <a:solidFill>
                  <a:schemeClr val="accent1"/>
                </a:solidFill>
                <a:latin typeface="+mn-lt"/>
                <a:ea typeface="+mn-ea"/>
                <a:cs typeface="+mn-cs"/>
              </a:rPr>
              <a:t>Shared</a:t>
            </a:r>
          </a:p>
        </p:txBody>
      </p:sp>
      <p:sp>
        <p:nvSpPr>
          <p:cNvPr id="13" name="TextBox 13"/>
          <p:cNvSpPr txBox="1"/>
          <p:nvPr/>
        </p:nvSpPr>
        <p:spPr>
          <a:xfrm>
            <a:off x="2377679" y="3037999"/>
            <a:ext cx="692942" cy="190690"/>
          </a:xfrm>
          <a:prstGeom prst="rect">
            <a:avLst/>
          </a:prstGeom>
          <a:noFill/>
          <a:ln>
            <a:noFill/>
          </a:ln>
        </p:spPr>
        <p:txBody>
          <a:bodyPr wrap="none" lIns="0" tIns="0" rIns="0" bIns="0" anchor="t" anchorCtr="0">
            <a:spAutoFit/>
          </a:bodyPr>
          <a:lstStyle/>
          <a:p>
            <a:pPr algn="ctr"/>
            <a:r>
              <a:rPr lang="en-US" sz="980" b="1" dirty="0">
                <a:solidFill>
                  <a:schemeClr val="accent1"/>
                </a:solidFill>
                <a:latin typeface="+mn-lt"/>
                <a:ea typeface="+mn-ea"/>
                <a:cs typeface="+mn-cs"/>
              </a:rPr>
              <a:t>Embedding</a:t>
            </a:r>
          </a:p>
        </p:txBody>
      </p:sp>
      <p:sp>
        <p:nvSpPr>
          <p:cNvPr id="14" name="Freeform 14"/>
          <p:cNvSpPr/>
          <p:nvPr/>
        </p:nvSpPr>
        <p:spPr>
          <a:xfrm>
            <a:off x="3219450" y="2209800"/>
            <a:ext cx="323850" cy="609600"/>
          </a:xfrm>
          <a:custGeom>
            <a:avLst/>
            <a:gdLst/>
            <a:ahLst/>
            <a:cxnLst/>
            <a:rect l="l" t="t" r="r" b="b"/>
            <a:pathLst>
              <a:path w="323850" h="609600">
                <a:moveTo>
                  <a:pt x="0" y="609600"/>
                </a:moveTo>
                <a:cubicBezTo>
                  <a:pt x="171450" y="171450"/>
                  <a:pt x="171450" y="0"/>
                  <a:pt x="323850" y="0"/>
                </a:cubicBezTo>
              </a:path>
            </a:pathLst>
          </a:custGeom>
          <a:noFill/>
          <a:ln w="23812">
            <a:solidFill>
              <a:srgbClr val="64748B"/>
            </a:solidFill>
            <a:tailEnd type="triangle" w="lg" len="lg"/>
          </a:ln>
        </p:spPr>
      </p:sp>
      <p:sp>
        <p:nvSpPr>
          <p:cNvPr id="15" name="Freeform 15"/>
          <p:cNvSpPr/>
          <p:nvPr/>
        </p:nvSpPr>
        <p:spPr>
          <a:xfrm>
            <a:off x="3219450" y="3067050"/>
            <a:ext cx="323850" cy="762000"/>
          </a:xfrm>
          <a:custGeom>
            <a:avLst/>
            <a:gdLst/>
            <a:ahLst/>
            <a:cxnLst/>
            <a:rect l="l" t="t" r="r" b="b"/>
            <a:pathLst>
              <a:path w="323850" h="762000">
                <a:moveTo>
                  <a:pt x="0" y="0"/>
                </a:moveTo>
                <a:cubicBezTo>
                  <a:pt x="171450" y="628650"/>
                  <a:pt x="171450" y="762000"/>
                  <a:pt x="323850" y="762000"/>
                </a:cubicBezTo>
              </a:path>
            </a:pathLst>
          </a:custGeom>
          <a:noFill/>
          <a:ln w="23812">
            <a:solidFill>
              <a:srgbClr val="64748B"/>
            </a:solidFill>
            <a:tailEnd type="triangle" w="lg" len="lg"/>
          </a:ln>
        </p:spPr>
      </p:sp>
      <p:grpSp>
        <p:nvGrpSpPr>
          <p:cNvPr id="19" name="Group 19"/>
          <p:cNvGrpSpPr/>
          <p:nvPr/>
        </p:nvGrpSpPr>
        <p:grpSpPr>
          <a:xfrm>
            <a:off x="3543300" y="1885950"/>
            <a:ext cx="2684506" cy="723900"/>
            <a:chOff x="3543300" y="1885950"/>
            <a:chExt cx="2684506" cy="723900"/>
          </a:xfrm>
        </p:grpSpPr>
        <p:sp>
          <p:nvSpPr>
            <p:cNvPr id="16" name="Rectangle 16"/>
            <p:cNvSpPr/>
            <p:nvPr/>
          </p:nvSpPr>
          <p:spPr>
            <a:xfrm>
              <a:off x="3543300" y="1885950"/>
              <a:ext cx="2266950" cy="723900"/>
            </a:xfrm>
            <a:prstGeom prst="roundRect">
              <a:avLst>
                <a:gd name="adj" fmla="val 15789"/>
              </a:avLst>
            </a:prstGeom>
            <a:solidFill>
              <a:srgbClr val="FDF3E0"/>
            </a:solidFill>
            <a:ln w="19050">
              <a:solidFill>
                <a:schemeClr val="accent2"/>
              </a:solidFill>
            </a:ln>
          </p:spPr>
        </p:sp>
        <p:sp>
          <p:nvSpPr>
            <p:cNvPr id="17" name="TextBox 17"/>
            <p:cNvSpPr txBox="1"/>
            <p:nvPr/>
          </p:nvSpPr>
          <p:spPr>
            <a:xfrm>
              <a:off x="3670935" y="2069306"/>
              <a:ext cx="2393097" cy="220028"/>
            </a:xfrm>
            <a:prstGeom prst="rect">
              <a:avLst/>
            </a:prstGeom>
            <a:noFill/>
            <a:ln>
              <a:noFill/>
            </a:ln>
          </p:spPr>
          <p:txBody>
            <a:bodyPr wrap="none" lIns="0" tIns="0" rIns="0" bIns="0" anchor="t" anchorCtr="0">
              <a:spAutoFit/>
            </a:bodyPr>
            <a:lstStyle/>
            <a:p>
              <a:pPr algn="l"/>
              <a:r>
                <a:rPr lang="en-US" sz="1120" b="1" dirty="0">
                  <a:solidFill>
                    <a:srgbClr val="B45309"/>
                  </a:solidFill>
                  <a:latin typeface="+mn-lt"/>
                  <a:ea typeface="+mn-ea"/>
                  <a:cs typeface="+mn-cs"/>
                </a:rPr>
                <a:t>Unsupervised Relevance Scorer</a:t>
              </a:r>
            </a:p>
          </p:txBody>
        </p:sp>
        <p:sp>
          <p:nvSpPr>
            <p:cNvPr id="18" name="TextBox 18"/>
            <p:cNvSpPr txBox="1"/>
            <p:nvPr/>
          </p:nvSpPr>
          <p:spPr>
            <a:xfrm>
              <a:off x="3671697" y="2314099"/>
              <a:ext cx="2556109" cy="190690"/>
            </a:xfrm>
            <a:prstGeom prst="rect">
              <a:avLst/>
            </a:prstGeom>
            <a:noFill/>
            <a:ln>
              <a:noFill/>
            </a:ln>
          </p:spPr>
          <p:txBody>
            <a:bodyPr wrap="none" lIns="0" tIns="0" rIns="0" bIns="0" anchor="t" anchorCtr="0">
              <a:spAutoFit/>
            </a:bodyPr>
            <a:lstStyle/>
            <a:p>
              <a:pPr algn="l"/>
              <a:r>
                <a:rPr lang="en-US" sz="980" dirty="0">
                  <a:solidFill>
                    <a:srgbClr val="92400E"/>
                  </a:solidFill>
                  <a:latin typeface="+mn-lt"/>
                  <a:ea typeface="+mn-ea"/>
                  <a:cs typeface="+mn-cs"/>
                </a:rPr>
                <a:t>transformer encoder → score per token</a:t>
              </a:r>
            </a:p>
          </p:txBody>
        </p:sp>
      </p:grpSp>
      <p:grpSp>
        <p:nvGrpSpPr>
          <p:cNvPr id="27" name="Group 27"/>
          <p:cNvGrpSpPr/>
          <p:nvPr/>
        </p:nvGrpSpPr>
        <p:grpSpPr>
          <a:xfrm>
            <a:off x="3543300" y="3486150"/>
            <a:ext cx="3790950" cy="723900"/>
            <a:chOff x="3543300" y="3486150"/>
            <a:chExt cx="3790950" cy="723900"/>
          </a:xfrm>
        </p:grpSpPr>
        <p:sp>
          <p:nvSpPr>
            <p:cNvPr id="20" name="Rectangle 20"/>
            <p:cNvSpPr/>
            <p:nvPr/>
          </p:nvSpPr>
          <p:spPr>
            <a:xfrm>
              <a:off x="3543300" y="3486150"/>
              <a:ext cx="2266950" cy="723900"/>
            </a:xfrm>
            <a:prstGeom prst="roundRect">
              <a:avLst>
                <a:gd name="adj" fmla="val 15789"/>
              </a:avLst>
            </a:prstGeom>
            <a:solidFill>
              <a:srgbClr val="E4F1EF"/>
            </a:solidFill>
            <a:ln w="19050">
              <a:solidFill>
                <a:schemeClr val="accent3"/>
              </a:solidFill>
            </a:ln>
          </p:spPr>
        </p:sp>
        <p:sp>
          <p:nvSpPr>
            <p:cNvPr id="21" name="TextBox 21"/>
            <p:cNvSpPr txBox="1"/>
            <p:nvPr/>
          </p:nvSpPr>
          <p:spPr>
            <a:xfrm>
              <a:off x="3670935" y="3650456"/>
              <a:ext cx="2290685" cy="220028"/>
            </a:xfrm>
            <a:prstGeom prst="rect">
              <a:avLst/>
            </a:prstGeom>
            <a:noFill/>
            <a:ln>
              <a:noFill/>
            </a:ln>
          </p:spPr>
          <p:txBody>
            <a:bodyPr wrap="none" lIns="0" tIns="0" rIns="0" bIns="0" anchor="t" anchorCtr="0">
              <a:spAutoFit/>
            </a:bodyPr>
            <a:lstStyle/>
            <a:p>
              <a:pPr algn="l"/>
              <a:r>
                <a:rPr lang="en-US" sz="1120" b="1" dirty="0">
                  <a:solidFill>
                    <a:schemeClr val="accent3"/>
                  </a:solidFill>
                  <a:latin typeface="+mn-lt"/>
                  <a:ea typeface="+mn-ea"/>
                  <a:cs typeface="+mn-cs"/>
                </a:rPr>
                <a:t>Parsing Statement Generator</a:t>
              </a:r>
            </a:p>
          </p:txBody>
        </p:sp>
        <p:sp>
          <p:nvSpPr>
            <p:cNvPr id="22" name="TextBox 22"/>
            <p:cNvSpPr txBox="1"/>
            <p:nvPr/>
          </p:nvSpPr>
          <p:spPr>
            <a:xfrm>
              <a:off x="3671697" y="3876199"/>
              <a:ext cx="1895060" cy="190690"/>
            </a:xfrm>
            <a:prstGeom prst="rect">
              <a:avLst/>
            </a:prstGeom>
            <a:noFill/>
            <a:ln>
              <a:noFill/>
            </a:ln>
          </p:spPr>
          <p:txBody>
            <a:bodyPr wrap="none" lIns="0" tIns="0" rIns="0" bIns="0" anchor="t" anchorCtr="0">
              <a:spAutoFit/>
            </a:bodyPr>
            <a:lstStyle/>
            <a:p>
              <a:pPr algn="l"/>
              <a:r>
                <a:rPr lang="en-US" sz="980" dirty="0">
                  <a:solidFill>
                    <a:srgbClr val="115E59"/>
                  </a:solidFill>
                  <a:latin typeface="+mn-lt"/>
                  <a:ea typeface="+mn-ea"/>
                  <a:cs typeface="+mn-cs"/>
                </a:rPr>
                <a:t>Flan T5-xl · ~300 annotations</a:t>
              </a:r>
            </a:p>
          </p:txBody>
        </p:sp>
        <p:sp>
          <p:nvSpPr>
            <p:cNvPr id="23" name="Freeform 23"/>
            <p:cNvSpPr/>
            <p:nvPr/>
          </p:nvSpPr>
          <p:spPr>
            <a:xfrm>
              <a:off x="5810250" y="3848100"/>
              <a:ext cx="247650" cy="9525"/>
            </a:xfrm>
            <a:custGeom>
              <a:avLst/>
              <a:gdLst/>
              <a:ahLst/>
              <a:cxnLst/>
              <a:rect l="l" t="t" r="r" b="b"/>
              <a:pathLst>
                <a:path w="247650" h="9525">
                  <a:moveTo>
                    <a:pt x="0" y="0"/>
                  </a:moveTo>
                  <a:lnTo>
                    <a:pt x="247650" y="0"/>
                  </a:lnTo>
                </a:path>
              </a:pathLst>
            </a:custGeom>
            <a:noFill/>
            <a:ln w="23812">
              <a:solidFill>
                <a:schemeClr val="accent3"/>
              </a:solidFill>
              <a:tailEnd type="triangle" w="lg" len="lg"/>
            </a:ln>
          </p:spPr>
        </p:sp>
        <p:sp>
          <p:nvSpPr>
            <p:cNvPr id="24" name="Rectangle 24"/>
            <p:cNvSpPr/>
            <p:nvPr/>
          </p:nvSpPr>
          <p:spPr>
            <a:xfrm>
              <a:off x="6076950" y="3505200"/>
              <a:ext cx="1257300" cy="685800"/>
            </a:xfrm>
            <a:prstGeom prst="roundRect">
              <a:avLst>
                <a:gd name="adj" fmla="val 16667"/>
              </a:avLst>
            </a:prstGeom>
            <a:solidFill>
              <a:schemeClr val="lt1"/>
            </a:solidFill>
            <a:ln w="14288">
              <a:solidFill>
                <a:schemeClr val="accent3"/>
              </a:solidFill>
            </a:ln>
          </p:spPr>
        </p:sp>
        <p:sp>
          <p:nvSpPr>
            <p:cNvPr id="25" name="TextBox 25"/>
            <p:cNvSpPr txBox="1"/>
            <p:nvPr/>
          </p:nvSpPr>
          <p:spPr>
            <a:xfrm>
              <a:off x="6154450" y="3696652"/>
              <a:ext cx="1102300" cy="205359"/>
            </a:xfrm>
            <a:prstGeom prst="rect">
              <a:avLst/>
            </a:prstGeom>
            <a:noFill/>
            <a:ln>
              <a:noFill/>
            </a:ln>
          </p:spPr>
          <p:txBody>
            <a:bodyPr wrap="none" lIns="0" tIns="0" rIns="0" bIns="0" anchor="t" anchorCtr="0">
              <a:spAutoFit/>
            </a:bodyPr>
            <a:lstStyle/>
            <a:p>
              <a:pPr algn="ctr"/>
              <a:r>
                <a:rPr lang="en-US" sz="1050" b="1" dirty="0">
                  <a:solidFill>
                    <a:schemeClr val="accent3"/>
                  </a:solidFill>
                  <a:latin typeface="+mn-lt"/>
                  <a:ea typeface="+mn-ea"/>
                  <a:cs typeface="+mn-cs"/>
                </a:rPr>
                <a:t>Cell Highlighter</a:t>
              </a:r>
            </a:p>
          </p:txBody>
        </p:sp>
        <p:sp>
          <p:nvSpPr>
            <p:cNvPr id="26" name="TextBox 26"/>
            <p:cNvSpPr txBox="1"/>
            <p:nvPr/>
          </p:nvSpPr>
          <p:spPr>
            <a:xfrm>
              <a:off x="6331250" y="3895249"/>
              <a:ext cx="748701" cy="190690"/>
            </a:xfrm>
            <a:prstGeom prst="rect">
              <a:avLst/>
            </a:prstGeom>
            <a:noFill/>
            <a:ln>
              <a:noFill/>
            </a:ln>
          </p:spPr>
          <p:txBody>
            <a:bodyPr wrap="none" lIns="0" tIns="0" rIns="0" bIns="0" anchor="t" anchorCtr="0">
              <a:spAutoFit/>
            </a:bodyPr>
            <a:lstStyle/>
            <a:p>
              <a:pPr algn="ctr"/>
              <a:r>
                <a:rPr lang="en-US" sz="980" dirty="0">
                  <a:solidFill>
                    <a:srgbClr val="115E59"/>
                  </a:solidFill>
                  <a:latin typeface="+mn-lt"/>
                  <a:ea typeface="+mn-ea"/>
                  <a:cs typeface="+mn-cs"/>
                </a:rPr>
                <a:t>→ cell score</a:t>
              </a:r>
            </a:p>
          </p:txBody>
        </p:sp>
      </p:grpSp>
      <p:sp>
        <p:nvSpPr>
          <p:cNvPr id="28" name="Freeform 28"/>
          <p:cNvSpPr/>
          <p:nvPr/>
        </p:nvSpPr>
        <p:spPr>
          <a:xfrm>
            <a:off x="5810250" y="2247900"/>
            <a:ext cx="1771650" cy="666750"/>
          </a:xfrm>
          <a:custGeom>
            <a:avLst/>
            <a:gdLst/>
            <a:ahLst/>
            <a:cxnLst/>
            <a:rect l="l" t="t" r="r" b="b"/>
            <a:pathLst>
              <a:path w="1771650" h="666750">
                <a:moveTo>
                  <a:pt x="0" y="0"/>
                </a:moveTo>
                <a:cubicBezTo>
                  <a:pt x="476250" y="133350"/>
                  <a:pt x="857250" y="609600"/>
                  <a:pt x="1771650" y="666750"/>
                </a:cubicBezTo>
              </a:path>
            </a:pathLst>
          </a:custGeom>
          <a:noFill/>
          <a:ln w="23812">
            <a:solidFill>
              <a:schemeClr val="accent2"/>
            </a:solidFill>
            <a:tailEnd type="triangle" w="lg" len="lg"/>
          </a:ln>
        </p:spPr>
      </p:sp>
      <p:sp>
        <p:nvSpPr>
          <p:cNvPr id="29" name="Freeform 29"/>
          <p:cNvSpPr/>
          <p:nvPr/>
        </p:nvSpPr>
        <p:spPr>
          <a:xfrm>
            <a:off x="7334250" y="3067050"/>
            <a:ext cx="285750" cy="781050"/>
          </a:xfrm>
          <a:custGeom>
            <a:avLst/>
            <a:gdLst/>
            <a:ahLst/>
            <a:cxnLst/>
            <a:rect l="l" t="t" r="r" b="b"/>
            <a:pathLst>
              <a:path w="285750" h="781050">
                <a:moveTo>
                  <a:pt x="0" y="781050"/>
                </a:moveTo>
                <a:cubicBezTo>
                  <a:pt x="285750" y="742950"/>
                  <a:pt x="190500" y="171450"/>
                  <a:pt x="247650" y="0"/>
                </a:cubicBezTo>
              </a:path>
            </a:pathLst>
          </a:custGeom>
          <a:noFill/>
          <a:ln w="23812">
            <a:solidFill>
              <a:schemeClr val="accent3"/>
            </a:solidFill>
            <a:tailEnd type="triangle" w="lg" len="lg"/>
          </a:ln>
        </p:spPr>
      </p:sp>
      <p:sp>
        <p:nvSpPr>
          <p:cNvPr id="30" name="Rectangle 30"/>
          <p:cNvSpPr/>
          <p:nvPr/>
        </p:nvSpPr>
        <p:spPr>
          <a:xfrm>
            <a:off x="7600950" y="2724150"/>
            <a:ext cx="1143000" cy="609600"/>
          </a:xfrm>
          <a:prstGeom prst="roundRect">
            <a:avLst>
              <a:gd name="adj" fmla="val 18750"/>
            </a:avLst>
          </a:prstGeom>
          <a:solidFill>
            <a:schemeClr val="accent1"/>
          </a:solidFill>
          <a:ln>
            <a:noFill/>
          </a:ln>
        </p:spPr>
      </p:sp>
      <p:sp>
        <p:nvSpPr>
          <p:cNvPr id="31" name="TextBox 31"/>
          <p:cNvSpPr txBox="1"/>
          <p:nvPr/>
        </p:nvSpPr>
        <p:spPr>
          <a:xfrm>
            <a:off x="8001545" y="2877502"/>
            <a:ext cx="341809"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Fuse</a:t>
            </a:r>
          </a:p>
        </p:txBody>
      </p:sp>
      <p:sp>
        <p:nvSpPr>
          <p:cNvPr id="32" name="TextBox 32"/>
          <p:cNvSpPr txBox="1"/>
          <p:nvPr/>
        </p:nvSpPr>
        <p:spPr>
          <a:xfrm>
            <a:off x="7882966" y="3084195"/>
            <a:ext cx="578968" cy="176212"/>
          </a:xfrm>
          <a:prstGeom prst="rect">
            <a:avLst/>
          </a:prstGeom>
          <a:noFill/>
          <a:ln>
            <a:noFill/>
          </a:ln>
        </p:spPr>
        <p:txBody>
          <a:bodyPr wrap="none" lIns="0" tIns="0" rIns="0" bIns="0" anchor="t" anchorCtr="0">
            <a:spAutoFit/>
          </a:bodyPr>
          <a:lstStyle/>
          <a:p>
            <a:pPr algn="ctr"/>
            <a:r>
              <a:rPr lang="en-US" sz="900" dirty="0">
                <a:solidFill>
                  <a:srgbClr val="BFD0E8"/>
                </a:solidFill>
                <a:latin typeface="+mn-lt"/>
                <a:ea typeface="+mn-ea"/>
                <a:cs typeface="+mn-cs"/>
              </a:rPr>
              <a:t>relevance</a:t>
            </a:r>
          </a:p>
        </p:txBody>
      </p:sp>
      <p:sp>
        <p:nvSpPr>
          <p:cNvPr id="33" name="Freeform 33"/>
          <p:cNvSpPr/>
          <p:nvPr/>
        </p:nvSpPr>
        <p:spPr>
          <a:xfrm>
            <a:off x="8743950" y="3028950"/>
            <a:ext cx="247650" cy="9525"/>
          </a:xfrm>
          <a:custGeom>
            <a:avLst/>
            <a:gdLst/>
            <a:ahLst/>
            <a:cxnLst/>
            <a:rect l="l" t="t" r="r" b="b"/>
            <a:pathLst>
              <a:path w="247650" h="9525">
                <a:moveTo>
                  <a:pt x="0" y="0"/>
                </a:moveTo>
                <a:lnTo>
                  <a:pt x="247650" y="0"/>
                </a:lnTo>
              </a:path>
            </a:pathLst>
          </a:custGeom>
          <a:noFill/>
          <a:ln w="23812">
            <a:solidFill>
              <a:srgbClr val="64748B"/>
            </a:solidFill>
            <a:tailEnd type="triangle" w="lg" len="lg"/>
          </a:ln>
        </p:spPr>
      </p:sp>
      <p:sp>
        <p:nvSpPr>
          <p:cNvPr id="34" name="Rectangle 34"/>
          <p:cNvSpPr/>
          <p:nvPr/>
        </p:nvSpPr>
        <p:spPr>
          <a:xfrm>
            <a:off x="9010650" y="2724150"/>
            <a:ext cx="1143000" cy="609600"/>
          </a:xfrm>
          <a:prstGeom prst="roundRect">
            <a:avLst>
              <a:gd name="adj" fmla="val 18750"/>
            </a:avLst>
          </a:prstGeom>
          <a:solidFill>
            <a:schemeClr val="accent2"/>
          </a:solidFill>
          <a:ln>
            <a:noFill/>
          </a:ln>
        </p:spPr>
      </p:sp>
      <p:sp>
        <p:nvSpPr>
          <p:cNvPr id="35" name="TextBox 35"/>
          <p:cNvSpPr txBox="1"/>
          <p:nvPr/>
        </p:nvSpPr>
        <p:spPr>
          <a:xfrm>
            <a:off x="9248831" y="2869406"/>
            <a:ext cx="666637"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Weight ⊙</a:t>
            </a:r>
          </a:p>
        </p:txBody>
      </p:sp>
      <p:sp>
        <p:nvSpPr>
          <p:cNvPr id="36" name="TextBox 36"/>
          <p:cNvSpPr txBox="1"/>
          <p:nvPr/>
        </p:nvSpPr>
        <p:spPr>
          <a:xfrm>
            <a:off x="9144248" y="3084195"/>
            <a:ext cx="875805" cy="176212"/>
          </a:xfrm>
          <a:prstGeom prst="rect">
            <a:avLst/>
          </a:prstGeom>
          <a:noFill/>
          <a:ln>
            <a:noFill/>
          </a:ln>
        </p:spPr>
        <p:txBody>
          <a:bodyPr wrap="none" lIns="0" tIns="0" rIns="0" bIns="0" anchor="t" anchorCtr="0">
            <a:spAutoFit/>
          </a:bodyPr>
          <a:lstStyle/>
          <a:p>
            <a:pPr algn="ctr"/>
            <a:r>
              <a:rPr lang="en-US" sz="900" dirty="0">
                <a:solidFill>
                  <a:srgbClr val="7C2D12"/>
                </a:solidFill>
                <a:latin typeface="+mn-lt"/>
                <a:ea typeface="+mn-ea"/>
                <a:cs typeface="+mn-cs"/>
              </a:rPr>
              <a:t>soft-suppress</a:t>
            </a:r>
          </a:p>
        </p:txBody>
      </p:sp>
      <p:sp>
        <p:nvSpPr>
          <p:cNvPr id="37" name="Freeform 37"/>
          <p:cNvSpPr/>
          <p:nvPr/>
        </p:nvSpPr>
        <p:spPr>
          <a:xfrm>
            <a:off x="10153650" y="3028950"/>
            <a:ext cx="247650" cy="9525"/>
          </a:xfrm>
          <a:custGeom>
            <a:avLst/>
            <a:gdLst/>
            <a:ahLst/>
            <a:cxnLst/>
            <a:rect l="l" t="t" r="r" b="b"/>
            <a:pathLst>
              <a:path w="247650" h="9525">
                <a:moveTo>
                  <a:pt x="0" y="0"/>
                </a:moveTo>
                <a:lnTo>
                  <a:pt x="247650" y="0"/>
                </a:lnTo>
              </a:path>
            </a:pathLst>
          </a:custGeom>
          <a:noFill/>
          <a:ln w="23812">
            <a:solidFill>
              <a:srgbClr val="64748B"/>
            </a:solidFill>
            <a:tailEnd type="triangle" w="lg" len="lg"/>
          </a:ln>
        </p:spPr>
      </p:sp>
      <p:sp>
        <p:nvSpPr>
          <p:cNvPr id="38" name="Rectangle 38"/>
          <p:cNvSpPr/>
          <p:nvPr/>
        </p:nvSpPr>
        <p:spPr>
          <a:xfrm>
            <a:off x="10420350" y="2724150"/>
            <a:ext cx="1104900" cy="609600"/>
          </a:xfrm>
          <a:prstGeom prst="roundRect">
            <a:avLst>
              <a:gd name="adj" fmla="val 18750"/>
            </a:avLst>
          </a:prstGeom>
          <a:solidFill>
            <a:schemeClr val="lt2"/>
          </a:solidFill>
          <a:ln w="14288">
            <a:solidFill>
              <a:schemeClr val="accent1"/>
            </a:solidFill>
          </a:ln>
        </p:spPr>
      </p:sp>
      <p:sp>
        <p:nvSpPr>
          <p:cNvPr id="39" name="TextBox 39"/>
          <p:cNvSpPr txBox="1"/>
          <p:nvPr/>
        </p:nvSpPr>
        <p:spPr>
          <a:xfrm>
            <a:off x="10696952" y="2877502"/>
            <a:ext cx="551696"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QA LLM</a:t>
            </a:r>
          </a:p>
        </p:txBody>
      </p:sp>
      <p:sp>
        <p:nvSpPr>
          <p:cNvPr id="40" name="TextBox 40"/>
          <p:cNvSpPr txBox="1"/>
          <p:nvPr/>
        </p:nvSpPr>
        <p:spPr>
          <a:xfrm>
            <a:off x="10702033" y="3084195"/>
            <a:ext cx="541534" cy="176212"/>
          </a:xfrm>
          <a:prstGeom prst="rect">
            <a:avLst/>
          </a:prstGeom>
          <a:noFill/>
          <a:ln>
            <a:noFill/>
          </a:ln>
        </p:spPr>
        <p:txBody>
          <a:bodyPr wrap="none" lIns="0" tIns="0" rIns="0" bIns="0" anchor="t" anchorCtr="0">
            <a:spAutoFit/>
          </a:bodyPr>
          <a:lstStyle/>
          <a:p>
            <a:pPr algn="ctr"/>
            <a:r>
              <a:rPr lang="en-US" sz="900" dirty="0">
                <a:solidFill>
                  <a:schemeClr val="dk2"/>
                </a:solidFill>
                <a:latin typeface="+mn-lt"/>
                <a:ea typeface="+mn-ea"/>
                <a:cs typeface="+mn-cs"/>
              </a:rPr>
              <a:t>→ Answer</a:t>
            </a:r>
          </a:p>
        </p:txBody>
      </p:sp>
      <p:grpSp>
        <p:nvGrpSpPr>
          <p:cNvPr id="50" name="Group 50"/>
          <p:cNvGrpSpPr/>
          <p:nvPr/>
        </p:nvGrpSpPr>
        <p:grpSpPr>
          <a:xfrm>
            <a:off x="571500" y="4305300"/>
            <a:ext cx="5488707" cy="1828800"/>
            <a:chOff x="571500" y="4305300"/>
            <a:chExt cx="5488707" cy="1828800"/>
          </a:xfrm>
        </p:grpSpPr>
        <p:sp>
          <p:nvSpPr>
            <p:cNvPr id="41" name="Rectangle 41"/>
            <p:cNvSpPr/>
            <p:nvPr/>
          </p:nvSpPr>
          <p:spPr>
            <a:xfrm>
              <a:off x="571500" y="4305300"/>
              <a:ext cx="5334000" cy="1828800"/>
            </a:xfrm>
            <a:prstGeom prst="roundRect">
              <a:avLst>
                <a:gd name="adj" fmla="val 7292"/>
              </a:avLst>
            </a:prstGeom>
            <a:solidFill>
              <a:schemeClr val="lt1"/>
            </a:solidFill>
            <a:ln w="14288">
              <a:solidFill>
                <a:schemeClr val="accent4"/>
              </a:solidFill>
            </a:ln>
          </p:spPr>
        </p:sp>
        <p:sp>
          <p:nvSpPr>
            <p:cNvPr id="42" name="TextBox 42"/>
            <p:cNvSpPr txBox="1"/>
            <p:nvPr/>
          </p:nvSpPr>
          <p:spPr>
            <a:xfrm>
              <a:off x="793623" y="4491514"/>
              <a:ext cx="3872127"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Training URS: relevance as a latent variable</a:t>
              </a:r>
            </a:p>
          </p:txBody>
        </p:sp>
        <p:sp>
          <p:nvSpPr>
            <p:cNvPr id="43" name="TextBox 43"/>
            <p:cNvSpPr txBox="1"/>
            <p:nvPr/>
          </p:nvSpPr>
          <p:spPr>
            <a:xfrm>
              <a:off x="795147" y="4752499"/>
              <a:ext cx="526506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No cell labels — estimated by variational inference; three losses shape the space:</a:t>
              </a:r>
            </a:p>
          </p:txBody>
        </p:sp>
        <p:sp>
          <p:nvSpPr>
            <p:cNvPr id="44" name="Rectangle 44"/>
            <p:cNvSpPr/>
            <p:nvPr/>
          </p:nvSpPr>
          <p:spPr>
            <a:xfrm>
              <a:off x="800100" y="4991100"/>
              <a:ext cx="4857750" cy="323850"/>
            </a:xfrm>
            <a:prstGeom prst="roundRect">
              <a:avLst>
                <a:gd name="adj" fmla="val 23529"/>
              </a:avLst>
            </a:prstGeom>
            <a:solidFill>
              <a:srgbClr val="FDF3E0"/>
            </a:solidFill>
            <a:ln>
              <a:noFill/>
            </a:ln>
          </p:spPr>
        </p:sp>
        <p:sp>
          <p:nvSpPr>
            <p:cNvPr id="45" name="TextBox 45"/>
            <p:cNvSpPr txBox="1"/>
            <p:nvPr/>
          </p:nvSpPr>
          <p:spPr>
            <a:xfrm>
              <a:off x="928116" y="5087302"/>
              <a:ext cx="4060050" cy="205359"/>
            </a:xfrm>
            <a:prstGeom prst="rect">
              <a:avLst/>
            </a:prstGeom>
            <a:noFill/>
            <a:ln>
              <a:noFill/>
            </a:ln>
          </p:spPr>
          <p:txBody>
            <a:bodyPr wrap="none" lIns="0" tIns="0" rIns="0" bIns="0" anchor="t" anchorCtr="0">
              <a:spAutoFit/>
            </a:bodyPr>
            <a:lstStyle/>
            <a:p>
              <a:pPr algn="l"/>
              <a:r>
                <a:rPr lang="en-US" sz="1050" b="1" dirty="0">
                  <a:solidFill>
                    <a:srgbClr val="92400E"/>
                  </a:solidFill>
                  <a:latin typeface="+mn-lt"/>
                  <a:ea typeface="+mn-ea"/>
                  <a:cs typeface="+mn-cs"/>
                </a:rPr>
                <a:t>Clustering — group tokens into relevant vs non-relevant</a:t>
              </a:r>
            </a:p>
          </p:txBody>
        </p:sp>
        <p:sp>
          <p:nvSpPr>
            <p:cNvPr id="46" name="Rectangle 46"/>
            <p:cNvSpPr/>
            <p:nvPr/>
          </p:nvSpPr>
          <p:spPr>
            <a:xfrm>
              <a:off x="800100" y="5372100"/>
              <a:ext cx="4857750" cy="323850"/>
            </a:xfrm>
            <a:prstGeom prst="roundRect">
              <a:avLst>
                <a:gd name="adj" fmla="val 23529"/>
              </a:avLst>
            </a:prstGeom>
            <a:solidFill>
              <a:srgbClr val="FDF3E0"/>
            </a:solidFill>
            <a:ln>
              <a:noFill/>
            </a:ln>
          </p:spPr>
        </p:sp>
        <p:sp>
          <p:nvSpPr>
            <p:cNvPr id="47" name="TextBox 47"/>
            <p:cNvSpPr txBox="1"/>
            <p:nvPr/>
          </p:nvSpPr>
          <p:spPr>
            <a:xfrm>
              <a:off x="928116" y="5468302"/>
              <a:ext cx="3674236" cy="205359"/>
            </a:xfrm>
            <a:prstGeom prst="rect">
              <a:avLst/>
            </a:prstGeom>
            <a:noFill/>
            <a:ln>
              <a:noFill/>
            </a:ln>
          </p:spPr>
          <p:txBody>
            <a:bodyPr wrap="none" lIns="0" tIns="0" rIns="0" bIns="0" anchor="t" anchorCtr="0">
              <a:spAutoFit/>
            </a:bodyPr>
            <a:lstStyle/>
            <a:p>
              <a:pPr algn="l"/>
              <a:r>
                <a:rPr lang="en-US" sz="1050" b="1" dirty="0">
                  <a:solidFill>
                    <a:srgbClr val="92400E"/>
                  </a:solidFill>
                  <a:latin typeface="+mn-lt"/>
                  <a:ea typeface="+mn-ea"/>
                  <a:cs typeface="+mn-cs"/>
                </a:rPr>
                <a:t>Separation — push the two cluster centroids apart</a:t>
              </a:r>
            </a:p>
          </p:txBody>
        </p:sp>
        <p:sp>
          <p:nvSpPr>
            <p:cNvPr id="48" name="Rectangle 48"/>
            <p:cNvSpPr/>
            <p:nvPr/>
          </p:nvSpPr>
          <p:spPr>
            <a:xfrm>
              <a:off x="800100" y="5753100"/>
              <a:ext cx="4857750" cy="323850"/>
            </a:xfrm>
            <a:prstGeom prst="roundRect">
              <a:avLst>
                <a:gd name="adj" fmla="val 23529"/>
              </a:avLst>
            </a:prstGeom>
            <a:solidFill>
              <a:srgbClr val="FDF3E0"/>
            </a:solidFill>
            <a:ln>
              <a:noFill/>
            </a:ln>
          </p:spPr>
        </p:sp>
        <p:sp>
          <p:nvSpPr>
            <p:cNvPr id="49" name="TextBox 49"/>
            <p:cNvSpPr txBox="1"/>
            <p:nvPr/>
          </p:nvSpPr>
          <p:spPr>
            <a:xfrm>
              <a:off x="928116" y="5849302"/>
              <a:ext cx="3370681" cy="205359"/>
            </a:xfrm>
            <a:prstGeom prst="rect">
              <a:avLst/>
            </a:prstGeom>
            <a:noFill/>
            <a:ln>
              <a:noFill/>
            </a:ln>
          </p:spPr>
          <p:txBody>
            <a:bodyPr wrap="none" lIns="0" tIns="0" rIns="0" bIns="0" anchor="t" anchorCtr="0">
              <a:spAutoFit/>
            </a:bodyPr>
            <a:lstStyle/>
            <a:p>
              <a:pPr algn="l"/>
              <a:r>
                <a:rPr lang="en-US" sz="1050" b="1" dirty="0">
                  <a:solidFill>
                    <a:srgbClr val="92400E"/>
                  </a:solidFill>
                  <a:latin typeface="+mn-lt"/>
                  <a:ea typeface="+mn-ea"/>
                  <a:cs typeface="+mn-cs"/>
                </a:rPr>
                <a:t>Sparsification — noise scores → 0, relevant → 1</a:t>
              </a:r>
            </a:p>
          </p:txBody>
        </p:sp>
      </p:grpSp>
      <p:grpSp>
        <p:nvGrpSpPr>
          <p:cNvPr id="57" name="Group 57"/>
          <p:cNvGrpSpPr/>
          <p:nvPr/>
        </p:nvGrpSpPr>
        <p:grpSpPr>
          <a:xfrm>
            <a:off x="6172200" y="4305300"/>
            <a:ext cx="5564487" cy="1828800"/>
            <a:chOff x="6172200" y="4305300"/>
            <a:chExt cx="5564487" cy="1828800"/>
          </a:xfrm>
        </p:grpSpPr>
        <p:sp>
          <p:nvSpPr>
            <p:cNvPr id="51" name="Rectangle 51"/>
            <p:cNvSpPr/>
            <p:nvPr/>
          </p:nvSpPr>
          <p:spPr>
            <a:xfrm>
              <a:off x="6172200" y="4305300"/>
              <a:ext cx="5353050" cy="1828800"/>
            </a:xfrm>
            <a:prstGeom prst="roundRect">
              <a:avLst>
                <a:gd name="adj" fmla="val 7292"/>
              </a:avLst>
            </a:prstGeom>
            <a:solidFill>
              <a:schemeClr val="dk1"/>
            </a:solidFill>
            <a:ln>
              <a:noFill/>
            </a:ln>
          </p:spPr>
        </p:sp>
        <p:sp>
          <p:nvSpPr>
            <p:cNvPr id="52" name="TextBox 52"/>
            <p:cNvSpPr txBox="1"/>
            <p:nvPr/>
          </p:nvSpPr>
          <p:spPr>
            <a:xfrm>
              <a:off x="6413373" y="4491514"/>
              <a:ext cx="3167977" cy="249364"/>
            </a:xfrm>
            <a:prstGeom prst="rect">
              <a:avLst/>
            </a:prstGeom>
            <a:noFill/>
            <a:ln>
              <a:noFill/>
            </a:ln>
          </p:spPr>
          <p:txBody>
            <a:bodyPr wrap="none" lIns="0" tIns="0" rIns="0" bIns="0" anchor="t" anchorCtr="0">
              <a:spAutoFit/>
            </a:bodyPr>
            <a:lstStyle/>
            <a:p>
              <a:pPr algn="l"/>
              <a:r>
                <a:rPr lang="en-US" sz="1280" b="1" dirty="0">
                  <a:solidFill>
                    <a:srgbClr val="FBBF24"/>
                  </a:solidFill>
                  <a:latin typeface="+mn-lt"/>
                  <a:ea typeface="+mn-ea"/>
                  <a:cs typeface="+mn-cs"/>
                </a:rPr>
                <a:t>Fuse, weight, and train end-to-end</a:t>
              </a:r>
            </a:p>
          </p:txBody>
        </p:sp>
        <p:sp>
          <p:nvSpPr>
            <p:cNvPr id="53" name="TextBox 53"/>
            <p:cNvSpPr txBox="1"/>
            <p:nvPr/>
          </p:nvSpPr>
          <p:spPr>
            <a:xfrm>
              <a:off x="6413754" y="4861560"/>
              <a:ext cx="2637282" cy="234696"/>
            </a:xfrm>
            <a:prstGeom prst="rect">
              <a:avLst/>
            </a:prstGeom>
            <a:noFill/>
            <a:ln>
              <a:noFill/>
            </a:ln>
          </p:spPr>
          <p:txBody>
            <a:bodyPr wrap="none" lIns="0" tIns="0" rIns="0" bIns="0" anchor="t" anchorCtr="0">
              <a:spAutoFit/>
            </a:bodyPr>
            <a:lstStyle/>
            <a:p>
              <a:pPr algn="l"/>
              <a:r>
                <a:rPr lang="en-US" sz="1200" dirty="0">
                  <a:solidFill>
                    <a:srgbClr val="E2E8F0"/>
                  </a:solidFill>
                  <a:latin typeface="Consolas"/>
                  <a:ea typeface="Consolas"/>
                  <a:cs typeface="Consolas"/>
                </a:rPr>
                <a:t>η = λ_uns · η_uns + λ_cell · η_cell</a:t>
              </a:r>
            </a:p>
          </p:txBody>
        </p:sp>
        <p:sp>
          <p:nvSpPr>
            <p:cNvPr id="54" name="TextBox 54"/>
            <p:cNvSpPr txBox="1"/>
            <p:nvPr/>
          </p:nvSpPr>
          <p:spPr>
            <a:xfrm>
              <a:off x="6413754" y="5166360"/>
              <a:ext cx="3243072" cy="234696"/>
            </a:xfrm>
            <a:prstGeom prst="rect">
              <a:avLst/>
            </a:prstGeom>
            <a:noFill/>
            <a:ln>
              <a:noFill/>
            </a:ln>
          </p:spPr>
          <p:txBody>
            <a:bodyPr wrap="none" lIns="0" tIns="0" rIns="0" bIns="0" anchor="t" anchorCtr="0">
              <a:spAutoFit/>
            </a:bodyPr>
            <a:lstStyle/>
            <a:p>
              <a:pPr algn="l"/>
              <a:r>
                <a:rPr lang="en-US" sz="1200" dirty="0">
                  <a:solidFill>
                    <a:srgbClr val="7DD3FC"/>
                  </a:solidFill>
                  <a:latin typeface="Consolas"/>
                  <a:ea typeface="Consolas"/>
                  <a:cs typeface="Consolas"/>
                </a:rPr>
                <a:t>e' = η · e (soft-suppress, never delete)</a:t>
              </a:r>
            </a:p>
          </p:txBody>
        </p:sp>
        <p:sp>
          <p:nvSpPr>
            <p:cNvPr id="55" name="TextBox 55"/>
            <p:cNvSpPr txBox="1"/>
            <p:nvPr/>
          </p:nvSpPr>
          <p:spPr>
            <a:xfrm>
              <a:off x="6414135" y="5555456"/>
              <a:ext cx="3884042" cy="220028"/>
            </a:xfrm>
            <a:prstGeom prst="rect">
              <a:avLst/>
            </a:prstGeom>
            <a:noFill/>
            <a:ln>
              <a:noFill/>
            </a:ln>
          </p:spPr>
          <p:txBody>
            <a:bodyPr wrap="none" lIns="0" tIns="0" rIns="0" bIns="0" anchor="t" anchorCtr="0">
              <a:spAutoFit/>
            </a:bodyPr>
            <a:lstStyle/>
            <a:p>
              <a:pPr algn="l"/>
              <a:r>
                <a:rPr lang="en-US" sz="1120" dirty="0">
                  <a:solidFill>
                    <a:srgbClr val="E2E8F0"/>
                  </a:solidFill>
                  <a:latin typeface="Consolas"/>
                  <a:ea typeface="Consolas"/>
                  <a:cs typeface="Consolas"/>
                </a:rPr>
                <a:t>L = L_CE + λ_clu L_clu + λ_sep L_sep + λ_spar L_spar</a:t>
              </a:r>
            </a:p>
          </p:txBody>
        </p:sp>
        <p:sp>
          <p:nvSpPr>
            <p:cNvPr id="56" name="TextBox 56"/>
            <p:cNvSpPr txBox="1"/>
            <p:nvPr/>
          </p:nvSpPr>
          <p:spPr>
            <a:xfrm>
              <a:off x="6414897" y="5876449"/>
              <a:ext cx="5321790"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backbone: OmniTab (560M) · everything trains through the answer cross-entropy</a:t>
              </a:r>
            </a:p>
          </p:txBody>
        </p:sp>
      </p:grpSp>
      <p:sp>
        <p:nvSpPr>
          <p:cNvPr id="58" name="Line 58"/>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sp>
      <p:sp>
        <p:nvSpPr>
          <p:cNvPr id="59" name="TextBox 59"/>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60" name="TextBox 60"/>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05 / 10</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sp>
      <p:sp>
        <p:nvSpPr>
          <p:cNvPr id="3" name="Rectangle 3"/>
          <p:cNvSpPr/>
          <p:nvPr/>
        </p:nvSpPr>
        <p:spPr>
          <a:xfrm>
            <a:off x="0" y="0"/>
            <a:ext cx="12192000" cy="57150"/>
          </a:xfrm>
          <a:prstGeom prst="rect">
            <a:avLst/>
          </a:prstGeom>
          <a:solidFill>
            <a:schemeClr val="accent2"/>
          </a:solidFill>
          <a:ln>
            <a:noFill/>
          </a:ln>
        </p:spPr>
      </p:sp>
      <p:sp>
        <p:nvSpPr>
          <p:cNvPr id="4" name="TextBox 4"/>
          <p:cNvSpPr txBox="1"/>
          <p:nvPr/>
        </p:nvSpPr>
        <p:spPr>
          <a:xfrm>
            <a:off x="661035" y="450056"/>
            <a:ext cx="2093312"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DATASET / BENCHMARK</a:t>
            </a:r>
          </a:p>
        </p:txBody>
      </p:sp>
      <p:sp>
        <p:nvSpPr>
          <p:cNvPr id="5" name="TextBox 5"/>
          <p:cNvSpPr txBox="1"/>
          <p:nvPr/>
        </p:nvSpPr>
        <p:spPr>
          <a:xfrm>
            <a:off x="634746" y="715328"/>
            <a:ext cx="3314313"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Benchmarks &amp; Data</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sp>
      <p:grpSp>
        <p:nvGrpSpPr>
          <p:cNvPr id="9" name="Group 9"/>
          <p:cNvGrpSpPr/>
          <p:nvPr/>
        </p:nvGrpSpPr>
        <p:grpSpPr>
          <a:xfrm>
            <a:off x="571500" y="1390650"/>
            <a:ext cx="10953750" cy="571500"/>
            <a:chOff x="571500" y="1390650"/>
            <a:chExt cx="10953750" cy="571500"/>
          </a:xfrm>
        </p:grpSpPr>
        <p:sp>
          <p:nvSpPr>
            <p:cNvPr id="7" name="Rectangle 7"/>
            <p:cNvSpPr/>
            <p:nvPr/>
          </p:nvSpPr>
          <p:spPr>
            <a:xfrm>
              <a:off x="571500" y="1390650"/>
              <a:ext cx="10953750" cy="571500"/>
            </a:xfrm>
            <a:prstGeom prst="roundRect">
              <a:avLst>
                <a:gd name="adj" fmla="val 20000"/>
              </a:avLst>
            </a:prstGeom>
            <a:solidFill>
              <a:schemeClr val="accent1"/>
            </a:solidFill>
            <a:ln>
              <a:noFill/>
            </a:ln>
          </p:spPr>
        </p:sp>
        <p:sp>
          <p:nvSpPr>
            <p:cNvPr id="8" name="TextBox 8"/>
            <p:cNvSpPr txBox="1"/>
            <p:nvPr/>
          </p:nvSpPr>
          <p:spPr>
            <a:xfrm>
              <a:off x="811530" y="1590675"/>
              <a:ext cx="5368286"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Evaluated on three challenging table QA benchmarks</a:t>
              </a:r>
            </a:p>
          </p:txBody>
        </p:sp>
      </p:grpSp>
      <p:grpSp>
        <p:nvGrpSpPr>
          <p:cNvPr id="18" name="Group 18"/>
          <p:cNvGrpSpPr/>
          <p:nvPr/>
        </p:nvGrpSpPr>
        <p:grpSpPr>
          <a:xfrm>
            <a:off x="571500" y="2190750"/>
            <a:ext cx="3486150" cy="2095500"/>
            <a:chOff x="571500" y="2190750"/>
            <a:chExt cx="3486150" cy="2095500"/>
          </a:xfrm>
        </p:grpSpPr>
        <p:sp>
          <p:nvSpPr>
            <p:cNvPr id="10" name="Rectangle 10"/>
            <p:cNvSpPr/>
            <p:nvPr/>
          </p:nvSpPr>
          <p:spPr>
            <a:xfrm>
              <a:off x="571500" y="2190750"/>
              <a:ext cx="3486150" cy="2095500"/>
            </a:xfrm>
            <a:prstGeom prst="roundRect">
              <a:avLst>
                <a:gd name="adj" fmla="val 6364"/>
              </a:avLst>
            </a:prstGeom>
            <a:solidFill>
              <a:schemeClr val="lt1"/>
            </a:solidFill>
            <a:ln w="14288">
              <a:solidFill>
                <a:schemeClr val="accent4"/>
              </a:solidFill>
            </a:ln>
          </p:spPr>
        </p:sp>
        <p:sp>
          <p:nvSpPr>
            <p:cNvPr id="11" name="Rectangle 11"/>
            <p:cNvSpPr/>
            <p:nvPr/>
          </p:nvSpPr>
          <p:spPr>
            <a:xfrm>
              <a:off x="571500" y="2190750"/>
              <a:ext cx="3486150" cy="76200"/>
            </a:xfrm>
            <a:prstGeom prst="roundRect">
              <a:avLst>
                <a:gd name="adj" fmla="val 50000"/>
              </a:avLst>
            </a:prstGeom>
            <a:solidFill>
              <a:schemeClr val="accent1"/>
            </a:solidFill>
            <a:ln>
              <a:noFill/>
            </a:ln>
          </p:spPr>
        </p:sp>
        <p:sp>
          <p:nvSpPr>
            <p:cNvPr id="12" name="TextBox 12"/>
            <p:cNvSpPr txBox="1"/>
            <p:nvPr/>
          </p:nvSpPr>
          <p:spPr>
            <a:xfrm>
              <a:off x="809244" y="2475548"/>
              <a:ext cx="926805"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WikiTQ</a:t>
              </a:r>
            </a:p>
          </p:txBody>
        </p:sp>
        <p:sp>
          <p:nvSpPr>
            <p:cNvPr id="13" name="Rectangle 13"/>
            <p:cNvSpPr/>
            <p:nvPr/>
          </p:nvSpPr>
          <p:spPr>
            <a:xfrm>
              <a:off x="819150" y="2838450"/>
              <a:ext cx="1714500" cy="285750"/>
            </a:xfrm>
            <a:prstGeom prst="roundRect">
              <a:avLst>
                <a:gd name="adj" fmla="val 50000"/>
              </a:avLst>
            </a:prstGeom>
            <a:solidFill>
              <a:srgbClr val="EEF3FA"/>
            </a:solidFill>
            <a:ln>
              <a:noFill/>
            </a:ln>
          </p:spPr>
        </p:sp>
        <p:sp>
          <p:nvSpPr>
            <p:cNvPr id="14" name="TextBox 14"/>
            <p:cNvSpPr txBox="1"/>
            <p:nvPr/>
          </p:nvSpPr>
          <p:spPr>
            <a:xfrm>
              <a:off x="850808" y="2925128"/>
              <a:ext cx="1651183"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Exact-Match Accuracy</a:t>
              </a:r>
            </a:p>
          </p:txBody>
        </p:sp>
        <p:sp>
          <p:nvSpPr>
            <p:cNvPr id="15" name="TextBox 15"/>
            <p:cNvSpPr txBox="1"/>
            <p:nvPr/>
          </p:nvSpPr>
          <p:spPr>
            <a:xfrm>
              <a:off x="813435" y="3307556"/>
              <a:ext cx="2141977"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Compositional reasoning over</a:t>
              </a:r>
            </a:p>
          </p:txBody>
        </p:sp>
        <p:sp>
          <p:nvSpPr>
            <p:cNvPr id="16" name="TextBox 16"/>
            <p:cNvSpPr txBox="1"/>
            <p:nvPr/>
          </p:nvSpPr>
          <p:spPr>
            <a:xfrm>
              <a:off x="813435" y="3517106"/>
              <a:ext cx="2453975"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tables; short 1–2 word answers.</a:t>
              </a:r>
            </a:p>
          </p:txBody>
        </p:sp>
        <p:sp>
          <p:nvSpPr>
            <p:cNvPr id="17" name="TextBox 17"/>
            <p:cNvSpPr txBox="1"/>
            <p:nvPr/>
          </p:nvSpPr>
          <p:spPr>
            <a:xfrm>
              <a:off x="813816" y="3887152"/>
              <a:ext cx="2786879" cy="205359"/>
            </a:xfrm>
            <a:prstGeom prst="rect">
              <a:avLst/>
            </a:prstGeom>
            <a:noFill/>
            <a:ln>
              <a:noFill/>
            </a:ln>
          </p:spPr>
          <p:txBody>
            <a:bodyPr wrap="none" lIns="0" tIns="0" rIns="0" bIns="0" anchor="t" anchorCtr="0">
              <a:spAutoFit/>
            </a:bodyPr>
            <a:lstStyle/>
            <a:p>
              <a:pPr algn="l"/>
              <a:r>
                <a:rPr lang="en-US" sz="1050" b="1" dirty="0">
                  <a:solidFill>
                    <a:schemeClr val="accent3"/>
                  </a:solidFill>
                  <a:latin typeface="+mn-lt"/>
                  <a:ea typeface="+mn-ea"/>
                  <a:cs typeface="+mn-cs"/>
                </a:rPr>
                <a:t>Among the most complex table QA sets</a:t>
              </a:r>
            </a:p>
          </p:txBody>
        </p:sp>
      </p:grpSp>
      <p:grpSp>
        <p:nvGrpSpPr>
          <p:cNvPr id="33" name="Group 33"/>
          <p:cNvGrpSpPr/>
          <p:nvPr/>
        </p:nvGrpSpPr>
        <p:grpSpPr>
          <a:xfrm>
            <a:off x="4229100" y="2190750"/>
            <a:ext cx="7296150" cy="2095500"/>
            <a:chOff x="4229100" y="2190750"/>
            <a:chExt cx="7296150" cy="2095500"/>
          </a:xfrm>
        </p:grpSpPr>
        <p:sp>
          <p:nvSpPr>
            <p:cNvPr id="19" name="Rectangle 19"/>
            <p:cNvSpPr/>
            <p:nvPr/>
          </p:nvSpPr>
          <p:spPr>
            <a:xfrm>
              <a:off x="4229100" y="2190750"/>
              <a:ext cx="3486150" cy="2095500"/>
            </a:xfrm>
            <a:prstGeom prst="roundRect">
              <a:avLst>
                <a:gd name="adj" fmla="val 6364"/>
              </a:avLst>
            </a:prstGeom>
            <a:solidFill>
              <a:schemeClr val="lt1"/>
            </a:solidFill>
            <a:ln w="14288">
              <a:solidFill>
                <a:schemeClr val="accent4"/>
              </a:solidFill>
            </a:ln>
          </p:spPr>
        </p:sp>
        <p:sp>
          <p:nvSpPr>
            <p:cNvPr id="20" name="Rectangle 20"/>
            <p:cNvSpPr/>
            <p:nvPr/>
          </p:nvSpPr>
          <p:spPr>
            <a:xfrm>
              <a:off x="4229100" y="2190750"/>
              <a:ext cx="3486150" cy="76200"/>
            </a:xfrm>
            <a:prstGeom prst="roundRect">
              <a:avLst>
                <a:gd name="adj" fmla="val 50000"/>
              </a:avLst>
            </a:prstGeom>
            <a:solidFill>
              <a:schemeClr val="accent3"/>
            </a:solidFill>
            <a:ln>
              <a:noFill/>
            </a:ln>
          </p:spPr>
        </p:sp>
        <p:sp>
          <p:nvSpPr>
            <p:cNvPr id="21" name="TextBox 21"/>
            <p:cNvSpPr txBox="1"/>
            <p:nvPr/>
          </p:nvSpPr>
          <p:spPr>
            <a:xfrm>
              <a:off x="4466844" y="2475548"/>
              <a:ext cx="1086874"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WikiSQL</a:t>
              </a:r>
            </a:p>
          </p:txBody>
        </p:sp>
        <p:sp>
          <p:nvSpPr>
            <p:cNvPr id="22" name="Rectangle 22"/>
            <p:cNvSpPr/>
            <p:nvPr/>
          </p:nvSpPr>
          <p:spPr>
            <a:xfrm>
              <a:off x="4476750" y="2838450"/>
              <a:ext cx="1714500" cy="285750"/>
            </a:xfrm>
            <a:prstGeom prst="roundRect">
              <a:avLst>
                <a:gd name="adj" fmla="val 50000"/>
              </a:avLst>
            </a:prstGeom>
            <a:solidFill>
              <a:srgbClr val="E4F1EF"/>
            </a:solidFill>
            <a:ln>
              <a:noFill/>
            </a:ln>
          </p:spPr>
        </p:sp>
        <p:sp>
          <p:nvSpPr>
            <p:cNvPr id="23" name="TextBox 23"/>
            <p:cNvSpPr txBox="1"/>
            <p:nvPr/>
          </p:nvSpPr>
          <p:spPr>
            <a:xfrm>
              <a:off x="4508408" y="2925128"/>
              <a:ext cx="1651183" cy="205359"/>
            </a:xfrm>
            <a:prstGeom prst="rect">
              <a:avLst/>
            </a:prstGeom>
            <a:noFill/>
            <a:ln>
              <a:noFill/>
            </a:ln>
          </p:spPr>
          <p:txBody>
            <a:bodyPr wrap="none" lIns="0" tIns="0" rIns="0" bIns="0" anchor="t" anchorCtr="0">
              <a:spAutoFit/>
            </a:bodyPr>
            <a:lstStyle/>
            <a:p>
              <a:pPr algn="ctr"/>
              <a:r>
                <a:rPr lang="en-US" sz="1050" b="1" dirty="0">
                  <a:solidFill>
                    <a:schemeClr val="accent3"/>
                  </a:solidFill>
                  <a:latin typeface="+mn-lt"/>
                  <a:ea typeface="+mn-ea"/>
                  <a:cs typeface="+mn-cs"/>
                </a:rPr>
                <a:t>Exact-Match Accuracy</a:t>
              </a:r>
            </a:p>
          </p:txBody>
        </p:sp>
        <p:sp>
          <p:nvSpPr>
            <p:cNvPr id="24" name="TextBox 24"/>
            <p:cNvSpPr txBox="1"/>
            <p:nvPr/>
          </p:nvSpPr>
          <p:spPr>
            <a:xfrm>
              <a:off x="4471035" y="3307556"/>
              <a:ext cx="1690810"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Large-scale SQL-style</a:t>
              </a:r>
            </a:p>
          </p:txBody>
        </p:sp>
        <p:sp>
          <p:nvSpPr>
            <p:cNvPr id="25" name="TextBox 25"/>
            <p:cNvSpPr txBox="1"/>
            <p:nvPr/>
          </p:nvSpPr>
          <p:spPr>
            <a:xfrm>
              <a:off x="4471035" y="3517106"/>
              <a:ext cx="1225164"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table questions.</a:t>
              </a:r>
            </a:p>
          </p:txBody>
        </p:sp>
        <p:sp>
          <p:nvSpPr>
            <p:cNvPr id="26" name="Rectangle 26"/>
            <p:cNvSpPr/>
            <p:nvPr/>
          </p:nvSpPr>
          <p:spPr>
            <a:xfrm>
              <a:off x="7886700" y="2190750"/>
              <a:ext cx="3638550" cy="2095500"/>
            </a:xfrm>
            <a:prstGeom prst="roundRect">
              <a:avLst>
                <a:gd name="adj" fmla="val 6364"/>
              </a:avLst>
            </a:prstGeom>
            <a:solidFill>
              <a:schemeClr val="lt1"/>
            </a:solidFill>
            <a:ln w="14288">
              <a:solidFill>
                <a:schemeClr val="accent4"/>
              </a:solidFill>
            </a:ln>
          </p:spPr>
        </p:sp>
        <p:sp>
          <p:nvSpPr>
            <p:cNvPr id="27" name="Rectangle 27"/>
            <p:cNvSpPr/>
            <p:nvPr/>
          </p:nvSpPr>
          <p:spPr>
            <a:xfrm>
              <a:off x="7886700" y="2190750"/>
              <a:ext cx="3638550" cy="76200"/>
            </a:xfrm>
            <a:prstGeom prst="roundRect">
              <a:avLst>
                <a:gd name="adj" fmla="val 50000"/>
              </a:avLst>
            </a:prstGeom>
            <a:solidFill>
              <a:schemeClr val="accent2"/>
            </a:solidFill>
            <a:ln>
              <a:noFill/>
            </a:ln>
          </p:spPr>
        </p:sp>
        <p:sp>
          <p:nvSpPr>
            <p:cNvPr id="28" name="TextBox 28"/>
            <p:cNvSpPr txBox="1"/>
            <p:nvPr/>
          </p:nvSpPr>
          <p:spPr>
            <a:xfrm>
              <a:off x="8124444" y="2475548"/>
              <a:ext cx="1020937"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FeTaQA</a:t>
              </a:r>
            </a:p>
          </p:txBody>
        </p:sp>
        <p:sp>
          <p:nvSpPr>
            <p:cNvPr id="29" name="Rectangle 29"/>
            <p:cNvSpPr/>
            <p:nvPr/>
          </p:nvSpPr>
          <p:spPr>
            <a:xfrm>
              <a:off x="8134350" y="2838450"/>
              <a:ext cx="1428750" cy="285750"/>
            </a:xfrm>
            <a:prstGeom prst="roundRect">
              <a:avLst>
                <a:gd name="adj" fmla="val 50000"/>
              </a:avLst>
            </a:prstGeom>
            <a:solidFill>
              <a:srgbClr val="FDF3E0"/>
            </a:solidFill>
            <a:ln>
              <a:noFill/>
            </a:ln>
          </p:spPr>
        </p:sp>
        <p:sp>
          <p:nvSpPr>
            <p:cNvPr id="30" name="TextBox 30"/>
            <p:cNvSpPr txBox="1"/>
            <p:nvPr/>
          </p:nvSpPr>
          <p:spPr>
            <a:xfrm>
              <a:off x="8422405" y="2925128"/>
              <a:ext cx="852640" cy="205359"/>
            </a:xfrm>
            <a:prstGeom prst="rect">
              <a:avLst/>
            </a:prstGeom>
            <a:noFill/>
            <a:ln>
              <a:noFill/>
            </a:ln>
          </p:spPr>
          <p:txBody>
            <a:bodyPr wrap="none" lIns="0" tIns="0" rIns="0" bIns="0" anchor="t" anchorCtr="0">
              <a:spAutoFit/>
            </a:bodyPr>
            <a:lstStyle/>
            <a:p>
              <a:pPr algn="ctr"/>
              <a:r>
                <a:rPr lang="en-US" sz="1050" b="1" dirty="0">
                  <a:solidFill>
                    <a:srgbClr val="B45309"/>
                  </a:solidFill>
                  <a:latin typeface="+mn-lt"/>
                  <a:ea typeface="+mn-ea"/>
                  <a:cs typeface="+mn-cs"/>
                </a:rPr>
                <a:t>Sacre-BLEU</a:t>
              </a:r>
            </a:p>
          </p:txBody>
        </p:sp>
        <p:sp>
          <p:nvSpPr>
            <p:cNvPr id="31" name="TextBox 31"/>
            <p:cNvSpPr txBox="1"/>
            <p:nvPr/>
          </p:nvSpPr>
          <p:spPr>
            <a:xfrm>
              <a:off x="8128635" y="3307556"/>
              <a:ext cx="2135024"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Long, free-form descriptive</a:t>
              </a:r>
            </a:p>
          </p:txBody>
        </p:sp>
        <p:sp>
          <p:nvSpPr>
            <p:cNvPr id="32" name="TextBox 32"/>
            <p:cNvSpPr txBox="1"/>
            <p:nvPr/>
          </p:nvSpPr>
          <p:spPr>
            <a:xfrm>
              <a:off x="8128635" y="3517106"/>
              <a:ext cx="1587022"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answers over tables.</a:t>
              </a:r>
            </a:p>
          </p:txBody>
        </p:sp>
      </p:grpSp>
      <p:grpSp>
        <p:nvGrpSpPr>
          <p:cNvPr id="40" name="Group 40"/>
          <p:cNvGrpSpPr/>
          <p:nvPr/>
        </p:nvGrpSpPr>
        <p:grpSpPr>
          <a:xfrm>
            <a:off x="571500" y="4476750"/>
            <a:ext cx="10953750" cy="1257300"/>
            <a:chOff x="571500" y="4476750"/>
            <a:chExt cx="10953750" cy="1257300"/>
          </a:xfrm>
        </p:grpSpPr>
        <p:sp>
          <p:nvSpPr>
            <p:cNvPr id="34" name="Rectangle 34"/>
            <p:cNvSpPr/>
            <p:nvPr/>
          </p:nvSpPr>
          <p:spPr>
            <a:xfrm>
              <a:off x="571500" y="4476750"/>
              <a:ext cx="10953750" cy="1257300"/>
            </a:xfrm>
            <a:prstGeom prst="roundRect">
              <a:avLst>
                <a:gd name="adj" fmla="val 10606"/>
              </a:avLst>
            </a:prstGeom>
            <a:solidFill>
              <a:schemeClr val="lt2"/>
            </a:solidFill>
            <a:ln w="14288">
              <a:solidFill>
                <a:schemeClr val="accent4"/>
              </a:solidFill>
            </a:ln>
          </p:spPr>
        </p:sp>
        <p:sp>
          <p:nvSpPr>
            <p:cNvPr id="35" name="Rectangle 35"/>
            <p:cNvSpPr/>
            <p:nvPr/>
          </p:nvSpPr>
          <p:spPr>
            <a:xfrm>
              <a:off x="800100" y="4705350"/>
              <a:ext cx="1428750" cy="800100"/>
            </a:xfrm>
            <a:prstGeom prst="roundRect">
              <a:avLst>
                <a:gd name="adj" fmla="val 14286"/>
              </a:avLst>
            </a:prstGeom>
            <a:solidFill>
              <a:schemeClr val="accent1"/>
            </a:solidFill>
            <a:ln>
              <a:noFill/>
            </a:ln>
          </p:spPr>
        </p:sp>
        <p:sp>
          <p:nvSpPr>
            <p:cNvPr id="36" name="TextBox 36"/>
            <p:cNvSpPr txBox="1"/>
            <p:nvPr/>
          </p:nvSpPr>
          <p:spPr>
            <a:xfrm>
              <a:off x="1129116" y="4884420"/>
              <a:ext cx="770717" cy="469392"/>
            </a:xfrm>
            <a:prstGeom prst="rect">
              <a:avLst/>
            </a:prstGeom>
            <a:noFill/>
            <a:ln>
              <a:noFill/>
            </a:ln>
          </p:spPr>
          <p:txBody>
            <a:bodyPr wrap="none" lIns="0" tIns="0" rIns="0" bIns="0" anchor="t" anchorCtr="0">
              <a:spAutoFit/>
            </a:bodyPr>
            <a:lstStyle/>
            <a:p>
              <a:pPr algn="ctr"/>
              <a:r>
                <a:rPr lang="en-US" sz="2400" b="1" dirty="0">
                  <a:solidFill>
                    <a:srgbClr val="FBBF24"/>
                  </a:solidFill>
                  <a:latin typeface="+mn-lt"/>
                  <a:ea typeface="+mn-ea"/>
                  <a:cs typeface="+mn-cs"/>
                </a:rPr>
                <a:t>~300</a:t>
              </a:r>
            </a:p>
          </p:txBody>
        </p:sp>
        <p:sp>
          <p:nvSpPr>
            <p:cNvPr id="37" name="TextBox 37"/>
            <p:cNvSpPr txBox="1"/>
            <p:nvPr/>
          </p:nvSpPr>
          <p:spPr>
            <a:xfrm>
              <a:off x="1126932" y="5266849"/>
              <a:ext cx="775086" cy="190690"/>
            </a:xfrm>
            <a:prstGeom prst="rect">
              <a:avLst/>
            </a:prstGeom>
            <a:noFill/>
            <a:ln>
              <a:noFill/>
            </a:ln>
          </p:spPr>
          <p:txBody>
            <a:bodyPr wrap="none" lIns="0" tIns="0" rIns="0" bIns="0" anchor="t" anchorCtr="0">
              <a:spAutoFit/>
            </a:bodyPr>
            <a:lstStyle/>
            <a:p>
              <a:pPr algn="ctr"/>
              <a:r>
                <a:rPr lang="en-US" sz="980" dirty="0">
                  <a:solidFill>
                    <a:srgbClr val="BFD0E8"/>
                  </a:solidFill>
                  <a:latin typeface="+mn-lt"/>
                  <a:ea typeface="+mn-ea"/>
                  <a:cs typeface="+mn-cs"/>
                </a:rPr>
                <a:t>annotations</a:t>
              </a:r>
            </a:p>
          </p:txBody>
        </p:sp>
        <p:sp>
          <p:nvSpPr>
            <p:cNvPr id="38" name="TextBox 38"/>
            <p:cNvSpPr txBox="1"/>
            <p:nvPr/>
          </p:nvSpPr>
          <p:spPr>
            <a:xfrm>
              <a:off x="2487930" y="4829175"/>
              <a:ext cx="6160356"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A released dataset of manually written parsing statements</a:t>
              </a:r>
            </a:p>
          </p:txBody>
        </p:sp>
        <p:sp>
          <p:nvSpPr>
            <p:cNvPr id="39" name="TextBox 39"/>
            <p:cNvSpPr txBox="1"/>
            <p:nvPr/>
          </p:nvSpPr>
          <p:spPr>
            <a:xfrm>
              <a:off x="2489454" y="5166360"/>
              <a:ext cx="785255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Used to bootstrap the weakly-supervised cell-highlighting module — a small, one-time labeling cost.</a:t>
              </a:r>
            </a:p>
          </p:txBody>
        </p:sp>
      </p:grpSp>
      <p:sp>
        <p:nvSpPr>
          <p:cNvPr id="41" name="Line 41"/>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sp>
      <p:sp>
        <p:nvSpPr>
          <p:cNvPr id="42" name="TextBox 42"/>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43" name="TextBox 43"/>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06 / 10</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sp>
      <p:sp>
        <p:nvSpPr>
          <p:cNvPr id="3" name="Rectangle 3"/>
          <p:cNvSpPr/>
          <p:nvPr/>
        </p:nvSpPr>
        <p:spPr>
          <a:xfrm>
            <a:off x="0" y="0"/>
            <a:ext cx="12192000" cy="57150"/>
          </a:xfrm>
          <a:prstGeom prst="rect">
            <a:avLst/>
          </a:prstGeom>
          <a:solidFill>
            <a:schemeClr val="accent2"/>
          </a:solidFill>
          <a:ln>
            <a:noFill/>
          </a:ln>
        </p:spPr>
      </p:sp>
      <p:sp>
        <p:nvSpPr>
          <p:cNvPr id="4" name="TextBox 4"/>
          <p:cNvSpPr txBox="1"/>
          <p:nvPr/>
        </p:nvSpPr>
        <p:spPr>
          <a:xfrm>
            <a:off x="661035" y="450056"/>
            <a:ext cx="1081644"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KEY RESULT</a:t>
            </a:r>
          </a:p>
        </p:txBody>
      </p:sp>
      <p:sp>
        <p:nvSpPr>
          <p:cNvPr id="5" name="TextBox 5"/>
          <p:cNvSpPr txBox="1"/>
          <p:nvPr/>
        </p:nvSpPr>
        <p:spPr>
          <a:xfrm>
            <a:off x="634746" y="715328"/>
            <a:ext cx="374146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New State of the Art</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sp>
      <p:grpSp>
        <p:nvGrpSpPr>
          <p:cNvPr id="9" name="Group 9"/>
          <p:cNvGrpSpPr/>
          <p:nvPr/>
        </p:nvGrpSpPr>
        <p:grpSpPr>
          <a:xfrm>
            <a:off x="571500" y="1390650"/>
            <a:ext cx="10953750" cy="552450"/>
            <a:chOff x="571500" y="1390650"/>
            <a:chExt cx="10953750" cy="552450"/>
          </a:xfrm>
        </p:grpSpPr>
        <p:sp>
          <p:nvSpPr>
            <p:cNvPr id="7" name="Rectangle 7"/>
            <p:cNvSpPr/>
            <p:nvPr/>
          </p:nvSpPr>
          <p:spPr>
            <a:xfrm>
              <a:off x="571500" y="1390650"/>
              <a:ext cx="10953750" cy="552450"/>
            </a:xfrm>
            <a:prstGeom prst="roundRect">
              <a:avLst>
                <a:gd name="adj" fmla="val 20690"/>
              </a:avLst>
            </a:prstGeom>
            <a:solidFill>
              <a:schemeClr val="accent1"/>
            </a:solidFill>
            <a:ln>
              <a:noFill/>
            </a:ln>
          </p:spPr>
        </p:sp>
        <p:sp>
          <p:nvSpPr>
            <p:cNvPr id="8" name="TextBox 8"/>
            <p:cNvSpPr txBox="1"/>
            <p:nvPr/>
          </p:nvSpPr>
          <p:spPr>
            <a:xfrm>
              <a:off x="811530" y="1581150"/>
              <a:ext cx="7727937"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New state of the art on all three benchmarks — with a compact 560M model</a:t>
              </a:r>
            </a:p>
          </p:txBody>
        </p:sp>
      </p:grpSp>
      <p:grpSp>
        <p:nvGrpSpPr>
          <p:cNvPr id="32" name="Group 32"/>
          <p:cNvGrpSpPr/>
          <p:nvPr/>
        </p:nvGrpSpPr>
        <p:grpSpPr>
          <a:xfrm>
            <a:off x="571500" y="2133600"/>
            <a:ext cx="5334000" cy="4152900"/>
            <a:chOff x="571500" y="2133600"/>
            <a:chExt cx="5334000" cy="4152900"/>
          </a:xfrm>
        </p:grpSpPr>
        <p:sp>
          <p:nvSpPr>
            <p:cNvPr id="10" name="Rectangle 10"/>
            <p:cNvSpPr/>
            <p:nvPr/>
          </p:nvSpPr>
          <p:spPr>
            <a:xfrm>
              <a:off x="571500" y="2133600"/>
              <a:ext cx="5334000" cy="4152900"/>
            </a:xfrm>
            <a:prstGeom prst="roundRect">
              <a:avLst>
                <a:gd name="adj" fmla="val 3211"/>
              </a:avLst>
            </a:prstGeom>
            <a:solidFill>
              <a:schemeClr val="lt1"/>
            </a:solidFill>
            <a:ln w="14288">
              <a:solidFill>
                <a:schemeClr val="accent4"/>
              </a:solidFill>
            </a:ln>
          </p:spPr>
        </p:sp>
        <p:sp>
          <p:nvSpPr>
            <p:cNvPr id="11" name="TextBox 11"/>
            <p:cNvSpPr txBox="1"/>
            <p:nvPr/>
          </p:nvSpPr>
          <p:spPr>
            <a:xfrm>
              <a:off x="812292" y="2368868"/>
              <a:ext cx="2953978" cy="264033"/>
            </a:xfrm>
            <a:prstGeom prst="rect">
              <a:avLst/>
            </a:prstGeom>
            <a:noFill/>
            <a:ln>
              <a:noFill/>
            </a:ln>
          </p:spPr>
          <p:txBody>
            <a:bodyPr wrap="none" lIns="0" tIns="0" rIns="0" bIns="0" anchor="t" anchorCtr="0">
              <a:spAutoFit/>
            </a:bodyPr>
            <a:lstStyle/>
            <a:p>
              <a:pPr algn="l"/>
              <a:r>
                <a:rPr lang="en-US" sz="1350" b="1" dirty="0">
                  <a:solidFill>
                    <a:schemeClr val="dk2"/>
                  </a:solidFill>
                  <a:latin typeface="+mn-lt"/>
                  <a:ea typeface="+mn-ea"/>
                  <a:cs typeface="+mn-cs"/>
                </a:rPr>
                <a:t>WikiTQ · exact-match accuracy</a:t>
              </a:r>
            </a:p>
          </p:txBody>
        </p:sp>
        <p:sp>
          <p:nvSpPr>
            <p:cNvPr id="12" name="TextBox 12"/>
            <p:cNvSpPr txBox="1"/>
            <p:nvPr/>
          </p:nvSpPr>
          <p:spPr>
            <a:xfrm>
              <a:off x="800100" y="2580322"/>
              <a:ext cx="2727656" cy="1247775"/>
            </a:xfrm>
            <a:prstGeom prst="rect">
              <a:avLst/>
            </a:prstGeom>
            <a:noFill/>
            <a:ln>
              <a:noFill/>
            </a:ln>
          </p:spPr>
          <p:txBody>
            <a:bodyPr wrap="none" lIns="0" tIns="0" rIns="0" bIns="0" anchor="t" anchorCtr="0">
              <a:spAutoFit/>
            </a:bodyPr>
            <a:lstStyle/>
            <a:p>
              <a:pPr algn="l"/>
              <a:r>
                <a:rPr lang="en-US" sz="6450" b="1" dirty="0">
                  <a:solidFill>
                    <a:schemeClr val="accent1"/>
                  </a:solidFill>
                  <a:latin typeface="+mn-lt"/>
                  <a:ea typeface="+mn-ea"/>
                  <a:cs typeface="+mn-cs"/>
                </a:rPr>
                <a:t>69.1%</a:t>
              </a:r>
            </a:p>
          </p:txBody>
        </p:sp>
        <p:sp>
          <p:nvSpPr>
            <p:cNvPr id="13" name="Rectangle 13"/>
            <p:cNvSpPr/>
            <p:nvPr/>
          </p:nvSpPr>
          <p:spPr>
            <a:xfrm>
              <a:off x="3429000" y="2857500"/>
              <a:ext cx="1428750" cy="323850"/>
            </a:xfrm>
            <a:prstGeom prst="roundRect">
              <a:avLst>
                <a:gd name="adj" fmla="val 50000"/>
              </a:avLst>
            </a:prstGeom>
            <a:solidFill>
              <a:srgbClr val="E7F2EC"/>
            </a:solidFill>
            <a:ln>
              <a:noFill/>
            </a:ln>
          </p:spPr>
        </p:sp>
        <p:sp>
          <p:nvSpPr>
            <p:cNvPr id="14" name="TextBox 14"/>
            <p:cNvSpPr txBox="1"/>
            <p:nvPr/>
          </p:nvSpPr>
          <p:spPr>
            <a:xfrm>
              <a:off x="3784976" y="2955131"/>
              <a:ext cx="716798" cy="220028"/>
            </a:xfrm>
            <a:prstGeom prst="rect">
              <a:avLst/>
            </a:prstGeom>
            <a:noFill/>
            <a:ln>
              <a:noFill/>
            </a:ln>
          </p:spPr>
          <p:txBody>
            <a:bodyPr wrap="none" lIns="0" tIns="0" rIns="0" bIns="0" anchor="t" anchorCtr="0">
              <a:spAutoFit/>
            </a:bodyPr>
            <a:lstStyle/>
            <a:p>
              <a:pPr algn="ctr"/>
              <a:r>
                <a:rPr lang="en-US" sz="1120" b="1" dirty="0">
                  <a:solidFill>
                    <a:schemeClr val="accent6"/>
                  </a:solidFill>
                  <a:latin typeface="+mn-lt"/>
                  <a:ea typeface="+mn-ea"/>
                  <a:cs typeface="+mn-cs"/>
                </a:rPr>
                <a:t>new SoTA</a:t>
              </a:r>
            </a:p>
          </p:txBody>
        </p:sp>
        <p:sp>
          <p:nvSpPr>
            <p:cNvPr id="15" name="TextBox 15"/>
            <p:cNvSpPr txBox="1"/>
            <p:nvPr/>
          </p:nvSpPr>
          <p:spPr>
            <a:xfrm>
              <a:off x="813435" y="3612356"/>
              <a:ext cx="2863456" cy="220028"/>
            </a:xfrm>
            <a:prstGeom prst="rect">
              <a:avLst/>
            </a:prstGeom>
            <a:noFill/>
            <a:ln>
              <a:noFill/>
            </a:ln>
          </p:spPr>
          <p:txBody>
            <a:bodyPr wrap="none" lIns="0" tIns="0" rIns="0" bIns="0" anchor="t" anchorCtr="0">
              <a:spAutoFit/>
            </a:bodyPr>
            <a:lstStyle/>
            <a:p>
              <a:pPr algn="l"/>
              <a:r>
                <a:rPr lang="en-US" sz="1120" b="1" dirty="0">
                  <a:solidFill>
                    <a:srgbClr val="94A3B8"/>
                  </a:solidFill>
                  <a:latin typeface="+mn-lt"/>
                  <a:ea typeface="+mn-ea"/>
                  <a:cs typeface="+mn-cs"/>
                </a:rPr>
                <a:t>ABSOLUTE GAIN OVER BEST BASELINES</a:t>
              </a:r>
            </a:p>
          </p:txBody>
        </p:sp>
        <p:sp>
          <p:nvSpPr>
            <p:cNvPr id="16" name="TextBox 16"/>
            <p:cNvSpPr txBox="1"/>
            <p:nvPr/>
          </p:nvSpPr>
          <p:spPr>
            <a:xfrm>
              <a:off x="813435" y="3917156"/>
              <a:ext cx="624281"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OmniTab</a:t>
              </a:r>
            </a:p>
          </p:txBody>
        </p:sp>
        <p:sp>
          <p:nvSpPr>
            <p:cNvPr id="17" name="Rectangle 17"/>
            <p:cNvSpPr/>
            <p:nvPr/>
          </p:nvSpPr>
          <p:spPr>
            <a:xfrm>
              <a:off x="2190750" y="3905250"/>
              <a:ext cx="2857500" cy="171450"/>
            </a:xfrm>
            <a:prstGeom prst="roundRect">
              <a:avLst>
                <a:gd name="adj" fmla="val 50000"/>
              </a:avLst>
            </a:prstGeom>
            <a:solidFill>
              <a:srgbClr val="EEF3FA"/>
            </a:solidFill>
            <a:ln>
              <a:noFill/>
            </a:ln>
          </p:spPr>
        </p:sp>
        <p:sp>
          <p:nvSpPr>
            <p:cNvPr id="18" name="Rectangle 18"/>
            <p:cNvSpPr/>
            <p:nvPr/>
          </p:nvSpPr>
          <p:spPr>
            <a:xfrm>
              <a:off x="2190750" y="3905250"/>
              <a:ext cx="2438400" cy="171450"/>
            </a:xfrm>
            <a:prstGeom prst="roundRect">
              <a:avLst>
                <a:gd name="adj" fmla="val 50000"/>
              </a:avLst>
            </a:prstGeom>
            <a:solidFill>
              <a:schemeClr val="accent2"/>
            </a:solidFill>
            <a:ln>
              <a:noFill/>
            </a:ln>
          </p:spPr>
        </p:sp>
        <p:sp>
          <p:nvSpPr>
            <p:cNvPr id="19" name="TextBox 19"/>
            <p:cNvSpPr txBox="1"/>
            <p:nvPr/>
          </p:nvSpPr>
          <p:spPr>
            <a:xfrm>
              <a:off x="4811645" y="3925252"/>
              <a:ext cx="337189" cy="205359"/>
            </a:xfrm>
            <a:prstGeom prst="rect">
              <a:avLst/>
            </a:prstGeom>
            <a:noFill/>
            <a:ln>
              <a:noFill/>
            </a:ln>
          </p:spPr>
          <p:txBody>
            <a:bodyPr wrap="none" lIns="0" tIns="0" rIns="0" bIns="0" anchor="t" anchorCtr="0">
              <a:spAutoFit/>
            </a:bodyPr>
            <a:lstStyle/>
            <a:p>
              <a:pPr algn="r"/>
              <a:r>
                <a:rPr lang="en-US" sz="1050" b="1" dirty="0">
                  <a:solidFill>
                    <a:srgbClr val="B45309"/>
                  </a:solidFill>
                  <a:latin typeface="+mn-lt"/>
                  <a:ea typeface="+mn-ea"/>
                  <a:cs typeface="+mn-cs"/>
                </a:rPr>
                <a:t>+6.4</a:t>
              </a:r>
            </a:p>
          </p:txBody>
        </p:sp>
        <p:sp>
          <p:nvSpPr>
            <p:cNvPr id="20" name="TextBox 20"/>
            <p:cNvSpPr txBox="1"/>
            <p:nvPr/>
          </p:nvSpPr>
          <p:spPr>
            <a:xfrm>
              <a:off x="813435" y="4221956"/>
              <a:ext cx="739191"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Flan T5-xl</a:t>
              </a:r>
            </a:p>
          </p:txBody>
        </p:sp>
        <p:sp>
          <p:nvSpPr>
            <p:cNvPr id="21" name="Rectangle 21"/>
            <p:cNvSpPr/>
            <p:nvPr/>
          </p:nvSpPr>
          <p:spPr>
            <a:xfrm>
              <a:off x="2190750" y="4210050"/>
              <a:ext cx="2857500" cy="171450"/>
            </a:xfrm>
            <a:prstGeom prst="roundRect">
              <a:avLst>
                <a:gd name="adj" fmla="val 50000"/>
              </a:avLst>
            </a:prstGeom>
            <a:solidFill>
              <a:srgbClr val="EEF3FA"/>
            </a:solidFill>
            <a:ln>
              <a:noFill/>
            </a:ln>
          </p:spPr>
        </p:sp>
        <p:sp>
          <p:nvSpPr>
            <p:cNvPr id="22" name="Rectangle 22"/>
            <p:cNvSpPr/>
            <p:nvPr/>
          </p:nvSpPr>
          <p:spPr>
            <a:xfrm>
              <a:off x="2190750" y="4210050"/>
              <a:ext cx="1790700" cy="171450"/>
            </a:xfrm>
            <a:prstGeom prst="roundRect">
              <a:avLst>
                <a:gd name="adj" fmla="val 50000"/>
              </a:avLst>
            </a:prstGeom>
            <a:solidFill>
              <a:schemeClr val="accent2"/>
            </a:solidFill>
            <a:ln>
              <a:noFill/>
            </a:ln>
          </p:spPr>
        </p:sp>
        <p:sp>
          <p:nvSpPr>
            <p:cNvPr id="23" name="TextBox 23"/>
            <p:cNvSpPr txBox="1"/>
            <p:nvPr/>
          </p:nvSpPr>
          <p:spPr>
            <a:xfrm>
              <a:off x="4811645" y="4230052"/>
              <a:ext cx="337189" cy="205359"/>
            </a:xfrm>
            <a:prstGeom prst="rect">
              <a:avLst/>
            </a:prstGeom>
            <a:noFill/>
            <a:ln>
              <a:noFill/>
            </a:ln>
          </p:spPr>
          <p:txBody>
            <a:bodyPr wrap="none" lIns="0" tIns="0" rIns="0" bIns="0" anchor="t" anchorCtr="0">
              <a:spAutoFit/>
            </a:bodyPr>
            <a:lstStyle/>
            <a:p>
              <a:pPr algn="r"/>
              <a:r>
                <a:rPr lang="en-US" sz="1050" b="1" dirty="0">
                  <a:solidFill>
                    <a:srgbClr val="B45309"/>
                  </a:solidFill>
                  <a:latin typeface="+mn-lt"/>
                  <a:ea typeface="+mn-ea"/>
                  <a:cs typeface="+mn-cs"/>
                </a:rPr>
                <a:t>+4.7</a:t>
              </a:r>
            </a:p>
          </p:txBody>
        </p:sp>
        <p:sp>
          <p:nvSpPr>
            <p:cNvPr id="24" name="TextBox 24"/>
            <p:cNvSpPr txBox="1"/>
            <p:nvPr/>
          </p:nvSpPr>
          <p:spPr>
            <a:xfrm>
              <a:off x="813435" y="4526756"/>
              <a:ext cx="449529"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DATER</a:t>
              </a:r>
            </a:p>
          </p:txBody>
        </p:sp>
        <p:sp>
          <p:nvSpPr>
            <p:cNvPr id="25" name="Rectangle 25"/>
            <p:cNvSpPr/>
            <p:nvPr/>
          </p:nvSpPr>
          <p:spPr>
            <a:xfrm>
              <a:off x="2190750" y="4514850"/>
              <a:ext cx="2857500" cy="171450"/>
            </a:xfrm>
            <a:prstGeom prst="roundRect">
              <a:avLst>
                <a:gd name="adj" fmla="val 50000"/>
              </a:avLst>
            </a:prstGeom>
            <a:solidFill>
              <a:srgbClr val="EEF3FA"/>
            </a:solidFill>
            <a:ln>
              <a:noFill/>
            </a:ln>
          </p:spPr>
        </p:sp>
        <p:sp>
          <p:nvSpPr>
            <p:cNvPr id="26" name="Rectangle 26"/>
            <p:cNvSpPr/>
            <p:nvPr/>
          </p:nvSpPr>
          <p:spPr>
            <a:xfrm>
              <a:off x="2190750" y="4514850"/>
              <a:ext cx="1219200" cy="171450"/>
            </a:xfrm>
            <a:prstGeom prst="roundRect">
              <a:avLst>
                <a:gd name="adj" fmla="val 50000"/>
              </a:avLst>
            </a:prstGeom>
            <a:solidFill>
              <a:schemeClr val="accent2"/>
            </a:solidFill>
            <a:ln>
              <a:noFill/>
            </a:ln>
          </p:spPr>
        </p:sp>
        <p:sp>
          <p:nvSpPr>
            <p:cNvPr id="27" name="TextBox 27"/>
            <p:cNvSpPr txBox="1"/>
            <p:nvPr/>
          </p:nvSpPr>
          <p:spPr>
            <a:xfrm>
              <a:off x="4811645" y="4534852"/>
              <a:ext cx="337189" cy="205359"/>
            </a:xfrm>
            <a:prstGeom prst="rect">
              <a:avLst/>
            </a:prstGeom>
            <a:noFill/>
            <a:ln>
              <a:noFill/>
            </a:ln>
          </p:spPr>
          <p:txBody>
            <a:bodyPr wrap="none" lIns="0" tIns="0" rIns="0" bIns="0" anchor="t" anchorCtr="0">
              <a:spAutoFit/>
            </a:bodyPr>
            <a:lstStyle/>
            <a:p>
              <a:pPr algn="r"/>
              <a:r>
                <a:rPr lang="en-US" sz="1050" b="1" dirty="0">
                  <a:solidFill>
                    <a:srgbClr val="B45309"/>
                  </a:solidFill>
                  <a:latin typeface="+mn-lt"/>
                  <a:ea typeface="+mn-ea"/>
                  <a:cs typeface="+mn-cs"/>
                </a:rPr>
                <a:t>+3.2</a:t>
              </a:r>
            </a:p>
          </p:txBody>
        </p:sp>
        <p:sp>
          <p:nvSpPr>
            <p:cNvPr id="28" name="Rectangle 28"/>
            <p:cNvSpPr/>
            <p:nvPr/>
          </p:nvSpPr>
          <p:spPr>
            <a:xfrm>
              <a:off x="819150" y="4914900"/>
              <a:ext cx="4838700" cy="1143000"/>
            </a:xfrm>
            <a:prstGeom prst="roundRect">
              <a:avLst>
                <a:gd name="adj" fmla="val 10000"/>
              </a:avLst>
            </a:prstGeom>
            <a:solidFill>
              <a:schemeClr val="lt2"/>
            </a:solidFill>
            <a:ln>
              <a:noFill/>
            </a:ln>
          </p:spPr>
        </p:sp>
        <p:sp>
          <p:nvSpPr>
            <p:cNvPr id="29" name="TextBox 29"/>
            <p:cNvSpPr txBox="1"/>
            <p:nvPr/>
          </p:nvSpPr>
          <p:spPr>
            <a:xfrm>
              <a:off x="1003554" y="5128260"/>
              <a:ext cx="3927493"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Beats the strongest baseline in every category</a:t>
              </a:r>
            </a:p>
          </p:txBody>
        </p:sp>
        <p:sp>
          <p:nvSpPr>
            <p:cNvPr id="30" name="TextBox 30"/>
            <p:cNvSpPr txBox="1"/>
            <p:nvPr/>
          </p:nvSpPr>
          <p:spPr>
            <a:xfrm>
              <a:off x="1003935" y="5403056"/>
              <a:ext cx="325128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including much larger GPT-3 and Codex based</a:t>
              </a:r>
            </a:p>
          </p:txBody>
        </p:sp>
        <p:sp>
          <p:nvSpPr>
            <p:cNvPr id="31" name="TextBox 31"/>
            <p:cNvSpPr txBox="1"/>
            <p:nvPr/>
          </p:nvSpPr>
          <p:spPr>
            <a:xfrm>
              <a:off x="1003935" y="5612606"/>
              <a:ext cx="217504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in-context learning methods.</a:t>
              </a:r>
            </a:p>
          </p:txBody>
        </p:sp>
      </p:grpSp>
      <p:grpSp>
        <p:nvGrpSpPr>
          <p:cNvPr id="44" name="Group 44"/>
          <p:cNvGrpSpPr/>
          <p:nvPr/>
        </p:nvGrpSpPr>
        <p:grpSpPr>
          <a:xfrm>
            <a:off x="6172200" y="2133600"/>
            <a:ext cx="5353050" cy="2571750"/>
            <a:chOff x="6172200" y="2133600"/>
            <a:chExt cx="5353050" cy="2571750"/>
          </a:xfrm>
        </p:grpSpPr>
        <p:sp>
          <p:nvSpPr>
            <p:cNvPr id="33" name="Rectangle 33"/>
            <p:cNvSpPr/>
            <p:nvPr/>
          </p:nvSpPr>
          <p:spPr>
            <a:xfrm>
              <a:off x="6172200" y="2133600"/>
              <a:ext cx="5353050" cy="2571750"/>
            </a:xfrm>
            <a:prstGeom prst="roundRect">
              <a:avLst>
                <a:gd name="adj" fmla="val 5185"/>
              </a:avLst>
            </a:prstGeom>
            <a:solidFill>
              <a:schemeClr val="lt1"/>
            </a:solidFill>
            <a:ln w="14288">
              <a:solidFill>
                <a:schemeClr val="accent4"/>
              </a:solidFill>
            </a:ln>
          </p:spPr>
        </p:sp>
        <p:sp>
          <p:nvSpPr>
            <p:cNvPr id="34" name="Rectangle 34"/>
            <p:cNvSpPr/>
            <p:nvPr/>
          </p:nvSpPr>
          <p:spPr>
            <a:xfrm>
              <a:off x="6419850" y="2400300"/>
              <a:ext cx="2266950" cy="2019300"/>
            </a:xfrm>
            <a:prstGeom prst="roundRect">
              <a:avLst>
                <a:gd name="adj" fmla="val 5660"/>
              </a:avLst>
            </a:prstGeom>
            <a:solidFill>
              <a:srgbClr val="FDF3E0"/>
            </a:solidFill>
            <a:ln>
              <a:noFill/>
            </a:ln>
          </p:spPr>
        </p:sp>
        <p:sp>
          <p:nvSpPr>
            <p:cNvPr id="35" name="TextBox 35"/>
            <p:cNvSpPr txBox="1"/>
            <p:nvPr/>
          </p:nvSpPr>
          <p:spPr>
            <a:xfrm>
              <a:off x="7218274" y="2643664"/>
              <a:ext cx="670103" cy="249364"/>
            </a:xfrm>
            <a:prstGeom prst="rect">
              <a:avLst/>
            </a:prstGeom>
            <a:noFill/>
            <a:ln>
              <a:noFill/>
            </a:ln>
          </p:spPr>
          <p:txBody>
            <a:bodyPr wrap="none" lIns="0" tIns="0" rIns="0" bIns="0" anchor="t" anchorCtr="0">
              <a:spAutoFit/>
            </a:bodyPr>
            <a:lstStyle/>
            <a:p>
              <a:pPr algn="ctr"/>
              <a:r>
                <a:rPr lang="en-US" sz="1280" b="1" dirty="0">
                  <a:solidFill>
                    <a:srgbClr val="B45309"/>
                  </a:solidFill>
                  <a:latin typeface="+mn-lt"/>
                  <a:ea typeface="+mn-ea"/>
                  <a:cs typeface="+mn-cs"/>
                </a:rPr>
                <a:t>FeTaQA</a:t>
              </a:r>
            </a:p>
          </p:txBody>
        </p:sp>
        <p:sp>
          <p:nvSpPr>
            <p:cNvPr id="36" name="TextBox 36"/>
            <p:cNvSpPr txBox="1"/>
            <p:nvPr/>
          </p:nvSpPr>
          <p:spPr>
            <a:xfrm>
              <a:off x="6787942" y="3025140"/>
              <a:ext cx="1530767" cy="933450"/>
            </a:xfrm>
            <a:prstGeom prst="rect">
              <a:avLst/>
            </a:prstGeom>
            <a:noFill/>
            <a:ln>
              <a:noFill/>
            </a:ln>
          </p:spPr>
          <p:txBody>
            <a:bodyPr wrap="none" lIns="0" tIns="0" rIns="0" bIns="0" anchor="t" anchorCtr="0">
              <a:spAutoFit/>
            </a:bodyPr>
            <a:lstStyle/>
            <a:p>
              <a:pPr algn="ctr"/>
              <a:r>
                <a:rPr lang="en-US" sz="4800" b="1" dirty="0">
                  <a:solidFill>
                    <a:schemeClr val="accent1"/>
                  </a:solidFill>
                  <a:latin typeface="+mn-lt"/>
                  <a:ea typeface="+mn-ea"/>
                  <a:cs typeface="+mn-cs"/>
                </a:rPr>
                <a:t>40.5</a:t>
              </a:r>
            </a:p>
          </p:txBody>
        </p:sp>
        <p:sp>
          <p:nvSpPr>
            <p:cNvPr id="37" name="TextBox 37"/>
            <p:cNvSpPr txBox="1"/>
            <p:nvPr/>
          </p:nvSpPr>
          <p:spPr>
            <a:xfrm>
              <a:off x="7119942" y="3783806"/>
              <a:ext cx="866767" cy="220028"/>
            </a:xfrm>
            <a:prstGeom prst="rect">
              <a:avLst/>
            </a:prstGeom>
            <a:noFill/>
            <a:ln>
              <a:noFill/>
            </a:ln>
          </p:spPr>
          <p:txBody>
            <a:bodyPr wrap="none" lIns="0" tIns="0" rIns="0" bIns="0" anchor="t" anchorCtr="0">
              <a:spAutoFit/>
            </a:bodyPr>
            <a:lstStyle/>
            <a:p>
              <a:pPr algn="ctr"/>
              <a:r>
                <a:rPr lang="en-US" sz="1120" dirty="0">
                  <a:solidFill>
                    <a:srgbClr val="92400E"/>
                  </a:solidFill>
                  <a:latin typeface="+mn-lt"/>
                  <a:ea typeface="+mn-ea"/>
                  <a:cs typeface="+mn-cs"/>
                </a:rPr>
                <a:t>Sacre-BLEU</a:t>
              </a:r>
            </a:p>
          </p:txBody>
        </p:sp>
        <p:sp>
          <p:nvSpPr>
            <p:cNvPr id="38" name="TextBox 38"/>
            <p:cNvSpPr txBox="1"/>
            <p:nvPr/>
          </p:nvSpPr>
          <p:spPr>
            <a:xfrm>
              <a:off x="7217350" y="4077652"/>
              <a:ext cx="671951" cy="205359"/>
            </a:xfrm>
            <a:prstGeom prst="rect">
              <a:avLst/>
            </a:prstGeom>
            <a:noFill/>
            <a:ln>
              <a:noFill/>
            </a:ln>
          </p:spPr>
          <p:txBody>
            <a:bodyPr wrap="none" lIns="0" tIns="0" rIns="0" bIns="0" anchor="t" anchorCtr="0">
              <a:spAutoFit/>
            </a:bodyPr>
            <a:lstStyle/>
            <a:p>
              <a:pPr algn="ctr"/>
              <a:r>
                <a:rPr lang="en-US" sz="1050" b="1" dirty="0">
                  <a:solidFill>
                    <a:schemeClr val="accent6"/>
                  </a:solidFill>
                  <a:latin typeface="+mn-lt"/>
                  <a:ea typeface="+mn-ea"/>
                  <a:cs typeface="+mn-cs"/>
                </a:rPr>
                <a:t>new SoTA</a:t>
              </a:r>
            </a:p>
          </p:txBody>
        </p:sp>
        <p:sp>
          <p:nvSpPr>
            <p:cNvPr id="39" name="Rectangle 39"/>
            <p:cNvSpPr/>
            <p:nvPr/>
          </p:nvSpPr>
          <p:spPr>
            <a:xfrm>
              <a:off x="9010650" y="2400300"/>
              <a:ext cx="2266950" cy="2019300"/>
            </a:xfrm>
            <a:prstGeom prst="roundRect">
              <a:avLst>
                <a:gd name="adj" fmla="val 5660"/>
              </a:avLst>
            </a:prstGeom>
            <a:solidFill>
              <a:srgbClr val="E4F1EF"/>
            </a:solidFill>
            <a:ln>
              <a:noFill/>
            </a:ln>
          </p:spPr>
        </p:sp>
        <p:sp>
          <p:nvSpPr>
            <p:cNvPr id="40" name="TextBox 40"/>
            <p:cNvSpPr txBox="1"/>
            <p:nvPr/>
          </p:nvSpPr>
          <p:spPr>
            <a:xfrm>
              <a:off x="9787433" y="2643664"/>
              <a:ext cx="713384" cy="249364"/>
            </a:xfrm>
            <a:prstGeom prst="rect">
              <a:avLst/>
            </a:prstGeom>
            <a:noFill/>
            <a:ln>
              <a:noFill/>
            </a:ln>
          </p:spPr>
          <p:txBody>
            <a:bodyPr wrap="none" lIns="0" tIns="0" rIns="0" bIns="0" anchor="t" anchorCtr="0">
              <a:spAutoFit/>
            </a:bodyPr>
            <a:lstStyle/>
            <a:p>
              <a:pPr algn="ctr"/>
              <a:r>
                <a:rPr lang="en-US" sz="1280" b="1" dirty="0">
                  <a:solidFill>
                    <a:schemeClr val="accent3"/>
                  </a:solidFill>
                  <a:latin typeface="+mn-lt"/>
                  <a:ea typeface="+mn-ea"/>
                  <a:cs typeface="+mn-cs"/>
                </a:rPr>
                <a:t>WikiSQL</a:t>
              </a:r>
            </a:p>
          </p:txBody>
        </p:sp>
        <p:sp>
          <p:nvSpPr>
            <p:cNvPr id="41" name="TextBox 41"/>
            <p:cNvSpPr txBox="1"/>
            <p:nvPr/>
          </p:nvSpPr>
          <p:spPr>
            <a:xfrm>
              <a:off x="9186858" y="3057525"/>
              <a:ext cx="1914535" cy="876300"/>
            </a:xfrm>
            <a:prstGeom prst="rect">
              <a:avLst/>
            </a:prstGeom>
            <a:noFill/>
            <a:ln>
              <a:noFill/>
            </a:ln>
          </p:spPr>
          <p:txBody>
            <a:bodyPr wrap="none" lIns="0" tIns="0" rIns="0" bIns="0" anchor="t" anchorCtr="0">
              <a:spAutoFit/>
            </a:bodyPr>
            <a:lstStyle/>
            <a:p>
              <a:pPr algn="ctr"/>
              <a:r>
                <a:rPr lang="en-US" sz="4500" b="1" dirty="0">
                  <a:solidFill>
                    <a:schemeClr val="accent1"/>
                  </a:solidFill>
                  <a:latin typeface="+mn-lt"/>
                  <a:ea typeface="+mn-ea"/>
                  <a:cs typeface="+mn-cs"/>
                </a:rPr>
                <a:t>89.5%</a:t>
              </a:r>
            </a:p>
          </p:txBody>
        </p:sp>
        <p:sp>
          <p:nvSpPr>
            <p:cNvPr id="42" name="TextBox 42"/>
            <p:cNvSpPr txBox="1"/>
            <p:nvPr/>
          </p:nvSpPr>
          <p:spPr>
            <a:xfrm>
              <a:off x="9806706" y="3783806"/>
              <a:ext cx="674837" cy="220028"/>
            </a:xfrm>
            <a:prstGeom prst="rect">
              <a:avLst/>
            </a:prstGeom>
            <a:noFill/>
            <a:ln>
              <a:noFill/>
            </a:ln>
          </p:spPr>
          <p:txBody>
            <a:bodyPr wrap="none" lIns="0" tIns="0" rIns="0" bIns="0" anchor="t" anchorCtr="0">
              <a:spAutoFit/>
            </a:bodyPr>
            <a:lstStyle/>
            <a:p>
              <a:pPr algn="ctr"/>
              <a:r>
                <a:rPr lang="en-US" sz="1120" dirty="0">
                  <a:solidFill>
                    <a:srgbClr val="115E59"/>
                  </a:solidFill>
                  <a:latin typeface="+mn-lt"/>
                  <a:ea typeface="+mn-ea"/>
                  <a:cs typeface="+mn-cs"/>
                </a:rPr>
                <a:t>accuracy</a:t>
              </a:r>
            </a:p>
          </p:txBody>
        </p:sp>
        <p:sp>
          <p:nvSpPr>
            <p:cNvPr id="43" name="TextBox 43"/>
            <p:cNvSpPr txBox="1"/>
            <p:nvPr/>
          </p:nvSpPr>
          <p:spPr>
            <a:xfrm>
              <a:off x="9808150" y="4077652"/>
              <a:ext cx="671951" cy="205359"/>
            </a:xfrm>
            <a:prstGeom prst="rect">
              <a:avLst/>
            </a:prstGeom>
            <a:noFill/>
            <a:ln>
              <a:noFill/>
            </a:ln>
          </p:spPr>
          <p:txBody>
            <a:bodyPr wrap="none" lIns="0" tIns="0" rIns="0" bIns="0" anchor="t" anchorCtr="0">
              <a:spAutoFit/>
            </a:bodyPr>
            <a:lstStyle/>
            <a:p>
              <a:pPr algn="ctr"/>
              <a:r>
                <a:rPr lang="en-US" sz="1050" b="1" dirty="0">
                  <a:solidFill>
                    <a:schemeClr val="accent6"/>
                  </a:solidFill>
                  <a:latin typeface="+mn-lt"/>
                  <a:ea typeface="+mn-ea"/>
                  <a:cs typeface="+mn-cs"/>
                </a:rPr>
                <a:t>new SoTA</a:t>
              </a:r>
            </a:p>
          </p:txBody>
        </p:sp>
      </p:grpSp>
      <p:grpSp>
        <p:nvGrpSpPr>
          <p:cNvPr id="50" name="Group 50"/>
          <p:cNvGrpSpPr/>
          <p:nvPr/>
        </p:nvGrpSpPr>
        <p:grpSpPr>
          <a:xfrm>
            <a:off x="6172200" y="4876800"/>
            <a:ext cx="5353050" cy="1409700"/>
            <a:chOff x="6172200" y="4876800"/>
            <a:chExt cx="5353050" cy="1409700"/>
          </a:xfrm>
        </p:grpSpPr>
        <p:sp>
          <p:nvSpPr>
            <p:cNvPr id="45" name="Rectangle 45"/>
            <p:cNvSpPr/>
            <p:nvPr/>
          </p:nvSpPr>
          <p:spPr>
            <a:xfrm>
              <a:off x="6172200" y="4876800"/>
              <a:ext cx="5353050" cy="1409700"/>
            </a:xfrm>
            <a:prstGeom prst="roundRect">
              <a:avLst>
                <a:gd name="adj" fmla="val 9459"/>
              </a:avLst>
            </a:prstGeom>
            <a:solidFill>
              <a:schemeClr val="accent1"/>
            </a:solidFill>
            <a:ln>
              <a:noFill/>
            </a:ln>
          </p:spPr>
        </p:sp>
        <p:sp>
          <p:nvSpPr>
            <p:cNvPr id="46" name="TextBox 46"/>
            <p:cNvSpPr txBox="1"/>
            <p:nvPr/>
          </p:nvSpPr>
          <p:spPr>
            <a:xfrm>
              <a:off x="6400800" y="4905375"/>
              <a:ext cx="1651102" cy="876300"/>
            </a:xfrm>
            <a:prstGeom prst="rect">
              <a:avLst/>
            </a:prstGeom>
            <a:noFill/>
            <a:ln>
              <a:noFill/>
            </a:ln>
          </p:spPr>
          <p:txBody>
            <a:bodyPr wrap="none" lIns="0" tIns="0" rIns="0" bIns="0" anchor="t" anchorCtr="0">
              <a:spAutoFit/>
            </a:bodyPr>
            <a:lstStyle/>
            <a:p>
              <a:pPr algn="l"/>
              <a:r>
                <a:rPr lang="en-US" sz="4500" b="1" dirty="0">
                  <a:solidFill>
                    <a:srgbClr val="FBBF24"/>
                  </a:solidFill>
                  <a:latin typeface="+mn-lt"/>
                  <a:ea typeface="+mn-ea"/>
                  <a:cs typeface="+mn-cs"/>
                </a:rPr>
                <a:t>560M</a:t>
              </a:r>
            </a:p>
          </p:txBody>
        </p:sp>
        <p:sp>
          <p:nvSpPr>
            <p:cNvPr id="47" name="TextBox 47"/>
            <p:cNvSpPr txBox="1"/>
            <p:nvPr/>
          </p:nvSpPr>
          <p:spPr>
            <a:xfrm>
              <a:off x="8793480" y="5133975"/>
              <a:ext cx="1223791"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parameters</a:t>
              </a:r>
            </a:p>
          </p:txBody>
        </p:sp>
        <p:sp>
          <p:nvSpPr>
            <p:cNvPr id="48" name="TextBox 48"/>
            <p:cNvSpPr txBox="1"/>
            <p:nvPr/>
          </p:nvSpPr>
          <p:spPr>
            <a:xfrm>
              <a:off x="8795385" y="5460206"/>
              <a:ext cx="2215995" cy="220028"/>
            </a:xfrm>
            <a:prstGeom prst="rect">
              <a:avLst/>
            </a:prstGeom>
            <a:noFill/>
            <a:ln>
              <a:noFill/>
            </a:ln>
          </p:spPr>
          <p:txBody>
            <a:bodyPr wrap="none" lIns="0" tIns="0" rIns="0" bIns="0" anchor="t" anchorCtr="0">
              <a:spAutoFit/>
            </a:bodyPr>
            <a:lstStyle/>
            <a:p>
              <a:pPr algn="l"/>
              <a:r>
                <a:rPr lang="en-US" sz="1120" dirty="0">
                  <a:solidFill>
                    <a:srgbClr val="BFD0E8"/>
                  </a:solidFill>
                  <a:latin typeface="+mn-lt"/>
                  <a:ea typeface="+mn-ea"/>
                  <a:cs typeface="+mn-cs"/>
                </a:rPr>
                <a:t>OmniTab backbone — beats far</a:t>
              </a:r>
            </a:p>
          </p:txBody>
        </p:sp>
        <p:sp>
          <p:nvSpPr>
            <p:cNvPr id="49" name="TextBox 49"/>
            <p:cNvSpPr txBox="1"/>
            <p:nvPr/>
          </p:nvSpPr>
          <p:spPr>
            <a:xfrm>
              <a:off x="8795385" y="5669756"/>
              <a:ext cx="2198370" cy="220028"/>
            </a:xfrm>
            <a:prstGeom prst="rect">
              <a:avLst/>
            </a:prstGeom>
            <a:noFill/>
            <a:ln>
              <a:noFill/>
            </a:ln>
          </p:spPr>
          <p:txBody>
            <a:bodyPr wrap="none" lIns="0" tIns="0" rIns="0" bIns="0" anchor="t" anchorCtr="0">
              <a:spAutoFit/>
            </a:bodyPr>
            <a:lstStyle/>
            <a:p>
              <a:pPr algn="l"/>
              <a:r>
                <a:rPr lang="en-US" sz="1120" dirty="0">
                  <a:solidFill>
                    <a:srgbClr val="BFD0E8"/>
                  </a:solidFill>
                  <a:latin typeface="+mn-lt"/>
                  <a:ea typeface="+mn-ea"/>
                  <a:cs typeface="+mn-cs"/>
                </a:rPr>
                <a:t>larger GPT-3 / Codex methods</a:t>
              </a:r>
            </a:p>
          </p:txBody>
        </p:sp>
      </p:grpSp>
      <p:sp>
        <p:nvSpPr>
          <p:cNvPr id="51" name="Line 51"/>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sp>
      <p:sp>
        <p:nvSpPr>
          <p:cNvPr id="52" name="TextBox 52"/>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53" name="TextBox 53"/>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07 / 10</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sp>
      <p:sp>
        <p:nvSpPr>
          <p:cNvPr id="3" name="Rectangle 3"/>
          <p:cNvSpPr/>
          <p:nvPr/>
        </p:nvSpPr>
        <p:spPr>
          <a:xfrm>
            <a:off x="0" y="0"/>
            <a:ext cx="12192000" cy="57150"/>
          </a:xfrm>
          <a:prstGeom prst="rect">
            <a:avLst/>
          </a:prstGeom>
          <a:solidFill>
            <a:schemeClr val="accent2"/>
          </a:solidFill>
          <a:ln>
            <a:noFill/>
          </a:ln>
        </p:spPr>
      </p:sp>
      <p:sp>
        <p:nvSpPr>
          <p:cNvPr id="4" name="TextBox 4"/>
          <p:cNvSpPr txBox="1"/>
          <p:nvPr/>
        </p:nvSpPr>
        <p:spPr>
          <a:xfrm>
            <a:off x="661035" y="450056"/>
            <a:ext cx="1526627"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ABLATION STUDY</a:t>
            </a:r>
          </a:p>
        </p:txBody>
      </p:sp>
      <p:sp>
        <p:nvSpPr>
          <p:cNvPr id="5" name="TextBox 5"/>
          <p:cNvSpPr txBox="1"/>
          <p:nvPr/>
        </p:nvSpPr>
        <p:spPr>
          <a:xfrm>
            <a:off x="634746" y="715328"/>
            <a:ext cx="3324864"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Both Parts Matter</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sp>
      <p:grpSp>
        <p:nvGrpSpPr>
          <p:cNvPr id="9" name="Group 9"/>
          <p:cNvGrpSpPr/>
          <p:nvPr/>
        </p:nvGrpSpPr>
        <p:grpSpPr>
          <a:xfrm>
            <a:off x="571500" y="1390650"/>
            <a:ext cx="10953750" cy="552450"/>
            <a:chOff x="571500" y="1390650"/>
            <a:chExt cx="10953750" cy="552450"/>
          </a:xfrm>
        </p:grpSpPr>
        <p:sp>
          <p:nvSpPr>
            <p:cNvPr id="7" name="Rectangle 7"/>
            <p:cNvSpPr/>
            <p:nvPr/>
          </p:nvSpPr>
          <p:spPr>
            <a:xfrm>
              <a:off x="571500" y="1390650"/>
              <a:ext cx="10953750" cy="552450"/>
            </a:xfrm>
            <a:prstGeom prst="roundRect">
              <a:avLst>
                <a:gd name="adj" fmla="val 20690"/>
              </a:avLst>
            </a:prstGeom>
            <a:solidFill>
              <a:schemeClr val="accent1"/>
            </a:solidFill>
            <a:ln>
              <a:noFill/>
            </a:ln>
          </p:spPr>
        </p:sp>
        <p:sp>
          <p:nvSpPr>
            <p:cNvPr id="8" name="TextBox 8"/>
            <p:cNvSpPr txBox="1"/>
            <p:nvPr/>
          </p:nvSpPr>
          <p:spPr>
            <a:xfrm>
              <a:off x="811530" y="1581150"/>
              <a:ext cx="7104788"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Ablations confirm both components are needed (accuracy on WikiTQ)</a:t>
              </a:r>
            </a:p>
          </p:txBody>
        </p:sp>
      </p:grpSp>
      <p:grpSp>
        <p:nvGrpSpPr>
          <p:cNvPr id="23" name="Group 23"/>
          <p:cNvGrpSpPr/>
          <p:nvPr/>
        </p:nvGrpSpPr>
        <p:grpSpPr>
          <a:xfrm>
            <a:off x="571500" y="2133600"/>
            <a:ext cx="3390900" cy="4187761"/>
            <a:chOff x="571500" y="2133600"/>
            <a:chExt cx="3390900" cy="4187761"/>
          </a:xfrm>
        </p:grpSpPr>
        <p:sp>
          <p:nvSpPr>
            <p:cNvPr id="10" name="Rectangle 10"/>
            <p:cNvSpPr/>
            <p:nvPr/>
          </p:nvSpPr>
          <p:spPr>
            <a:xfrm>
              <a:off x="571500" y="2133600"/>
              <a:ext cx="3390900" cy="4152900"/>
            </a:xfrm>
            <a:prstGeom prst="roundRect">
              <a:avLst>
                <a:gd name="adj" fmla="val 3933"/>
              </a:avLst>
            </a:prstGeom>
            <a:solidFill>
              <a:schemeClr val="lt1"/>
            </a:solidFill>
            <a:ln w="14288">
              <a:solidFill>
                <a:schemeClr val="accent4"/>
              </a:solidFill>
            </a:ln>
          </p:spPr>
        </p:sp>
        <p:sp>
          <p:nvSpPr>
            <p:cNvPr id="11" name="Rectangle 11"/>
            <p:cNvSpPr/>
            <p:nvPr/>
          </p:nvSpPr>
          <p:spPr>
            <a:xfrm>
              <a:off x="571500" y="2133600"/>
              <a:ext cx="3390900" cy="76200"/>
            </a:xfrm>
            <a:prstGeom prst="roundRect">
              <a:avLst>
                <a:gd name="adj" fmla="val 50000"/>
              </a:avLst>
            </a:prstGeom>
            <a:solidFill>
              <a:schemeClr val="accent2"/>
            </a:solidFill>
            <a:ln>
              <a:noFill/>
            </a:ln>
          </p:spPr>
        </p:sp>
        <p:sp>
          <p:nvSpPr>
            <p:cNvPr id="12" name="TextBox 12"/>
            <p:cNvSpPr txBox="1"/>
            <p:nvPr/>
          </p:nvSpPr>
          <p:spPr>
            <a:xfrm>
              <a:off x="811911" y="2398871"/>
              <a:ext cx="2261369"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URS structuring losses</a:t>
              </a:r>
            </a:p>
          </p:txBody>
        </p:sp>
        <p:sp>
          <p:nvSpPr>
            <p:cNvPr id="13" name="TextBox 13"/>
            <p:cNvSpPr txBox="1"/>
            <p:nvPr/>
          </p:nvSpPr>
          <p:spPr>
            <a:xfrm>
              <a:off x="813816" y="2667952"/>
              <a:ext cx="276701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clustering + separation + sparsification</a:t>
              </a:r>
            </a:p>
          </p:txBody>
        </p:sp>
        <p:sp>
          <p:nvSpPr>
            <p:cNvPr id="14" name="TextBox 14"/>
            <p:cNvSpPr txBox="1"/>
            <p:nvPr/>
          </p:nvSpPr>
          <p:spPr>
            <a:xfrm>
              <a:off x="1108910" y="5601652"/>
              <a:ext cx="639680"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no losses</a:t>
              </a:r>
            </a:p>
          </p:txBody>
        </p:sp>
        <p:sp>
          <p:nvSpPr>
            <p:cNvPr id="15" name="Rectangle 15"/>
            <p:cNvSpPr/>
            <p:nvPr/>
          </p:nvSpPr>
          <p:spPr>
            <a:xfrm>
              <a:off x="1047750" y="4476750"/>
              <a:ext cx="762000" cy="1123950"/>
            </a:xfrm>
            <a:prstGeom prst="roundRect">
              <a:avLst>
                <a:gd name="adj" fmla="val 7500"/>
              </a:avLst>
            </a:prstGeom>
            <a:solidFill>
              <a:srgbClr val="C7D2DE"/>
            </a:solidFill>
            <a:ln>
              <a:noFill/>
            </a:ln>
          </p:spPr>
        </p:sp>
        <p:sp>
          <p:nvSpPr>
            <p:cNvPr id="16" name="TextBox 16"/>
            <p:cNvSpPr txBox="1"/>
            <p:nvPr/>
          </p:nvSpPr>
          <p:spPr>
            <a:xfrm>
              <a:off x="1187901" y="4200525"/>
              <a:ext cx="481698" cy="293370"/>
            </a:xfrm>
            <a:prstGeom prst="rect">
              <a:avLst/>
            </a:prstGeom>
            <a:noFill/>
            <a:ln>
              <a:noFill/>
            </a:ln>
          </p:spPr>
          <p:txBody>
            <a:bodyPr wrap="none" lIns="0" tIns="0" rIns="0" bIns="0" anchor="t" anchorCtr="0">
              <a:spAutoFit/>
            </a:bodyPr>
            <a:lstStyle/>
            <a:p>
              <a:pPr algn="ctr"/>
              <a:r>
                <a:rPr lang="en-US" sz="1500" b="1" dirty="0">
                  <a:solidFill>
                    <a:schemeClr val="dk2"/>
                  </a:solidFill>
                  <a:latin typeface="+mn-lt"/>
                  <a:ea typeface="+mn-ea"/>
                  <a:cs typeface="+mn-cs"/>
                </a:rPr>
                <a:t>60.8</a:t>
              </a:r>
            </a:p>
          </p:txBody>
        </p:sp>
        <p:sp>
          <p:nvSpPr>
            <p:cNvPr id="17" name="TextBox 17"/>
            <p:cNvSpPr txBox="1"/>
            <p:nvPr/>
          </p:nvSpPr>
          <p:spPr>
            <a:xfrm>
              <a:off x="2802979" y="5601652"/>
              <a:ext cx="604342" cy="205359"/>
            </a:xfrm>
            <a:prstGeom prst="rect">
              <a:avLst/>
            </a:prstGeom>
            <a:noFill/>
            <a:ln>
              <a:noFill/>
            </a:ln>
          </p:spPr>
          <p:txBody>
            <a:bodyPr wrap="none" lIns="0" tIns="0" rIns="0" bIns="0" anchor="t" anchorCtr="0">
              <a:spAutoFit/>
            </a:bodyPr>
            <a:lstStyle/>
            <a:p>
              <a:pPr algn="ctr"/>
              <a:r>
                <a:rPr lang="en-US" sz="1050" dirty="0">
                  <a:solidFill>
                    <a:srgbClr val="B45309"/>
                  </a:solidFill>
                  <a:latin typeface="+mn-lt"/>
                  <a:ea typeface="+mn-ea"/>
                  <a:cs typeface="+mn-cs"/>
                </a:rPr>
                <a:t>all three</a:t>
              </a:r>
            </a:p>
          </p:txBody>
        </p:sp>
        <p:sp>
          <p:nvSpPr>
            <p:cNvPr id="18" name="Rectangle 18"/>
            <p:cNvSpPr/>
            <p:nvPr/>
          </p:nvSpPr>
          <p:spPr>
            <a:xfrm>
              <a:off x="2724150" y="3429000"/>
              <a:ext cx="762000" cy="2171700"/>
            </a:xfrm>
            <a:prstGeom prst="roundRect">
              <a:avLst>
                <a:gd name="adj" fmla="val 7500"/>
              </a:avLst>
            </a:prstGeom>
            <a:solidFill>
              <a:schemeClr val="accent2"/>
            </a:solidFill>
            <a:ln>
              <a:noFill/>
            </a:ln>
          </p:spPr>
        </p:sp>
        <p:sp>
          <p:nvSpPr>
            <p:cNvPr id="19" name="TextBox 19"/>
            <p:cNvSpPr txBox="1"/>
            <p:nvPr/>
          </p:nvSpPr>
          <p:spPr>
            <a:xfrm>
              <a:off x="2864301" y="3152775"/>
              <a:ext cx="481698" cy="293370"/>
            </a:xfrm>
            <a:prstGeom prst="rect">
              <a:avLst/>
            </a:prstGeom>
            <a:noFill/>
            <a:ln>
              <a:noFill/>
            </a:ln>
          </p:spPr>
          <p:txBody>
            <a:bodyPr wrap="none" lIns="0" tIns="0" rIns="0" bIns="0" anchor="t" anchorCtr="0">
              <a:spAutoFit/>
            </a:bodyPr>
            <a:lstStyle/>
            <a:p>
              <a:pPr algn="ctr"/>
              <a:r>
                <a:rPr lang="en-US" sz="1500" b="1" dirty="0">
                  <a:solidFill>
                    <a:srgbClr val="B45309"/>
                  </a:solidFill>
                  <a:latin typeface="+mn-lt"/>
                  <a:ea typeface="+mn-ea"/>
                  <a:cs typeface="+mn-cs"/>
                </a:rPr>
                <a:t>65.6</a:t>
              </a:r>
            </a:p>
          </p:txBody>
        </p:sp>
        <p:sp>
          <p:nvSpPr>
            <p:cNvPr id="20" name="Freeform 20"/>
            <p:cNvSpPr/>
            <p:nvPr/>
          </p:nvSpPr>
          <p:spPr>
            <a:xfrm>
              <a:off x="1905000" y="3543300"/>
              <a:ext cx="762000" cy="457200"/>
            </a:xfrm>
            <a:custGeom>
              <a:avLst/>
              <a:gdLst/>
              <a:ahLst/>
              <a:cxnLst/>
              <a:rect l="l" t="t" r="r" b="b"/>
              <a:pathLst>
                <a:path w="762000" h="457200">
                  <a:moveTo>
                    <a:pt x="0" y="457200"/>
                  </a:moveTo>
                  <a:lnTo>
                    <a:pt x="762000" y="0"/>
                  </a:lnTo>
                </a:path>
              </a:pathLst>
            </a:custGeom>
            <a:noFill/>
            <a:ln w="23812">
              <a:solidFill>
                <a:schemeClr val="accent6"/>
              </a:solidFill>
            </a:ln>
          </p:spPr>
        </p:sp>
        <p:sp>
          <p:nvSpPr>
            <p:cNvPr id="21" name="TextBox 21"/>
            <p:cNvSpPr txBox="1"/>
            <p:nvPr/>
          </p:nvSpPr>
          <p:spPr>
            <a:xfrm>
              <a:off x="813816" y="5944552"/>
              <a:ext cx="2503140" cy="205359"/>
            </a:xfrm>
            <a:prstGeom prst="rect">
              <a:avLst/>
            </a:prstGeom>
            <a:noFill/>
            <a:ln>
              <a:noFill/>
            </a:ln>
          </p:spPr>
          <p:txBody>
            <a:bodyPr wrap="none" lIns="0" tIns="0" rIns="0" bIns="0" anchor="t" anchorCtr="0">
              <a:spAutoFit/>
            </a:bodyPr>
            <a:lstStyle/>
            <a:p>
              <a:pPr algn="l"/>
              <a:r>
                <a:rPr lang="en-US" sz="1050" dirty="0">
                  <a:solidFill>
                    <a:srgbClr val="334155"/>
                  </a:solidFill>
                  <a:latin typeface="+mn-lt"/>
                  <a:ea typeface="+mn-ea"/>
                  <a:cs typeface="+mn-cs"/>
                </a:rPr>
                <a:t>Any subset gives little benefit — the</a:t>
              </a:r>
            </a:p>
          </p:txBody>
        </p:sp>
        <p:sp>
          <p:nvSpPr>
            <p:cNvPr id="22" name="TextBox 22"/>
            <p:cNvSpPr txBox="1"/>
            <p:nvPr/>
          </p:nvSpPr>
          <p:spPr>
            <a:xfrm>
              <a:off x="813816" y="6116002"/>
              <a:ext cx="2130933" cy="205359"/>
            </a:xfrm>
            <a:prstGeom prst="rect">
              <a:avLst/>
            </a:prstGeom>
            <a:noFill/>
            <a:ln>
              <a:noFill/>
            </a:ln>
          </p:spPr>
          <p:txBody>
            <a:bodyPr wrap="none" lIns="0" tIns="0" rIns="0" bIns="0" anchor="t" anchorCtr="0">
              <a:spAutoFit/>
            </a:bodyPr>
            <a:lstStyle/>
            <a:p>
              <a:pPr algn="l"/>
              <a:r>
                <a:rPr lang="en-US" sz="1050" dirty="0">
                  <a:solidFill>
                    <a:srgbClr val="334155"/>
                  </a:solidFill>
                  <a:latin typeface="+mn-lt"/>
                  <a:ea typeface="+mn-ea"/>
                  <a:cs typeface="+mn-cs"/>
                </a:rPr>
                <a:t>three only help in combination.</a:t>
              </a:r>
            </a:p>
          </p:txBody>
        </p:sp>
      </p:grpSp>
      <p:grpSp>
        <p:nvGrpSpPr>
          <p:cNvPr id="38" name="Group 38"/>
          <p:cNvGrpSpPr/>
          <p:nvPr/>
        </p:nvGrpSpPr>
        <p:grpSpPr>
          <a:xfrm>
            <a:off x="4191000" y="2133600"/>
            <a:ext cx="3390900" cy="4152900"/>
            <a:chOff x="4191000" y="2133600"/>
            <a:chExt cx="3390900" cy="4152900"/>
          </a:xfrm>
        </p:grpSpPr>
        <p:sp>
          <p:nvSpPr>
            <p:cNvPr id="24" name="Rectangle 24"/>
            <p:cNvSpPr/>
            <p:nvPr/>
          </p:nvSpPr>
          <p:spPr>
            <a:xfrm>
              <a:off x="4191000" y="2133600"/>
              <a:ext cx="3390900" cy="4152900"/>
            </a:xfrm>
            <a:prstGeom prst="roundRect">
              <a:avLst>
                <a:gd name="adj" fmla="val 3933"/>
              </a:avLst>
            </a:prstGeom>
            <a:solidFill>
              <a:schemeClr val="lt1"/>
            </a:solidFill>
            <a:ln w="14288">
              <a:solidFill>
                <a:schemeClr val="accent4"/>
              </a:solidFill>
            </a:ln>
          </p:spPr>
        </p:sp>
        <p:sp>
          <p:nvSpPr>
            <p:cNvPr id="25" name="Rectangle 25"/>
            <p:cNvSpPr/>
            <p:nvPr/>
          </p:nvSpPr>
          <p:spPr>
            <a:xfrm>
              <a:off x="4191000" y="2133600"/>
              <a:ext cx="3390900" cy="76200"/>
            </a:xfrm>
            <a:prstGeom prst="roundRect">
              <a:avLst>
                <a:gd name="adj" fmla="val 50000"/>
              </a:avLst>
            </a:prstGeom>
            <a:solidFill>
              <a:schemeClr val="accent3"/>
            </a:solidFill>
            <a:ln>
              <a:noFill/>
            </a:ln>
          </p:spPr>
        </p:sp>
        <p:sp>
          <p:nvSpPr>
            <p:cNvPr id="26" name="TextBox 26"/>
            <p:cNvSpPr txBox="1"/>
            <p:nvPr/>
          </p:nvSpPr>
          <p:spPr>
            <a:xfrm>
              <a:off x="4431411" y="2398871"/>
              <a:ext cx="2188695"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Fusing the two signals</a:t>
              </a:r>
            </a:p>
          </p:txBody>
        </p:sp>
        <p:sp>
          <p:nvSpPr>
            <p:cNvPr id="27" name="TextBox 27"/>
            <p:cNvSpPr txBox="1"/>
            <p:nvPr/>
          </p:nvSpPr>
          <p:spPr>
            <a:xfrm>
              <a:off x="4433316" y="2667952"/>
              <a:ext cx="219454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optimal mix of relevance scores</a:t>
              </a:r>
            </a:p>
          </p:txBody>
        </p:sp>
        <p:sp>
          <p:nvSpPr>
            <p:cNvPr id="28" name="Rectangle 28"/>
            <p:cNvSpPr/>
            <p:nvPr/>
          </p:nvSpPr>
          <p:spPr>
            <a:xfrm>
              <a:off x="4438650" y="3143250"/>
              <a:ext cx="2895600" cy="419100"/>
            </a:xfrm>
            <a:prstGeom prst="roundRect">
              <a:avLst>
                <a:gd name="adj" fmla="val 18182"/>
              </a:avLst>
            </a:prstGeom>
            <a:solidFill>
              <a:schemeClr val="accent3"/>
            </a:solidFill>
            <a:ln>
              <a:noFill/>
            </a:ln>
          </p:spPr>
        </p:sp>
        <p:sp>
          <p:nvSpPr>
            <p:cNvPr id="29" name="Rectangle 29"/>
            <p:cNvSpPr/>
            <p:nvPr/>
          </p:nvSpPr>
          <p:spPr>
            <a:xfrm>
              <a:off x="4438650" y="3143250"/>
              <a:ext cx="2028825" cy="419100"/>
            </a:xfrm>
            <a:prstGeom prst="roundRect">
              <a:avLst>
                <a:gd name="adj" fmla="val 18182"/>
              </a:avLst>
            </a:prstGeom>
            <a:solidFill>
              <a:schemeClr val="accent2"/>
            </a:solidFill>
            <a:ln>
              <a:noFill/>
            </a:ln>
          </p:spPr>
        </p:sp>
        <p:sp>
          <p:nvSpPr>
            <p:cNvPr id="30" name="TextBox 30"/>
            <p:cNvSpPr txBox="1"/>
            <p:nvPr/>
          </p:nvSpPr>
          <p:spPr>
            <a:xfrm>
              <a:off x="5003266" y="3288506"/>
              <a:ext cx="890068"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λ_uns = 0.7</a:t>
              </a:r>
            </a:p>
          </p:txBody>
        </p:sp>
        <p:sp>
          <p:nvSpPr>
            <p:cNvPr id="31" name="TextBox 31"/>
            <p:cNvSpPr txBox="1"/>
            <p:nvPr/>
          </p:nvSpPr>
          <p:spPr>
            <a:xfrm>
              <a:off x="6768321" y="3296602"/>
              <a:ext cx="255559"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0.3</a:t>
              </a:r>
            </a:p>
          </p:txBody>
        </p:sp>
        <p:sp>
          <p:nvSpPr>
            <p:cNvPr id="32" name="TextBox 32"/>
            <p:cNvSpPr txBox="1"/>
            <p:nvPr/>
          </p:nvSpPr>
          <p:spPr>
            <a:xfrm>
              <a:off x="4433697" y="3704749"/>
              <a:ext cx="1659001"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unsupervised · cell-based</a:t>
              </a:r>
            </a:p>
          </p:txBody>
        </p:sp>
        <p:sp>
          <p:nvSpPr>
            <p:cNvPr id="33" name="Rectangle 33"/>
            <p:cNvSpPr/>
            <p:nvPr/>
          </p:nvSpPr>
          <p:spPr>
            <a:xfrm>
              <a:off x="4438650" y="4038600"/>
              <a:ext cx="2895600" cy="1143000"/>
            </a:xfrm>
            <a:prstGeom prst="roundRect">
              <a:avLst>
                <a:gd name="adj" fmla="val 10000"/>
              </a:avLst>
            </a:prstGeom>
            <a:solidFill>
              <a:schemeClr val="lt2"/>
            </a:solidFill>
            <a:ln>
              <a:noFill/>
            </a:ln>
          </p:spPr>
        </p:sp>
        <p:sp>
          <p:nvSpPr>
            <p:cNvPr id="34" name="TextBox 34"/>
            <p:cNvSpPr txBox="1"/>
            <p:nvPr/>
          </p:nvSpPr>
          <p:spPr>
            <a:xfrm>
              <a:off x="5332497" y="4199572"/>
              <a:ext cx="1107906" cy="674751"/>
            </a:xfrm>
            <a:prstGeom prst="rect">
              <a:avLst/>
            </a:prstGeom>
            <a:noFill/>
            <a:ln>
              <a:noFill/>
            </a:ln>
          </p:spPr>
          <p:txBody>
            <a:bodyPr wrap="none" lIns="0" tIns="0" rIns="0" bIns="0" anchor="t" anchorCtr="0">
              <a:spAutoFit/>
            </a:bodyPr>
            <a:lstStyle/>
            <a:p>
              <a:pPr algn="ctr"/>
              <a:r>
                <a:rPr lang="en-US" sz="3450" b="1" dirty="0">
                  <a:solidFill>
                    <a:schemeClr val="accent1"/>
                  </a:solidFill>
                  <a:latin typeface="+mn-lt"/>
                  <a:ea typeface="+mn-ea"/>
                  <a:cs typeface="+mn-cs"/>
                </a:rPr>
                <a:t>69.1</a:t>
              </a:r>
            </a:p>
          </p:txBody>
        </p:sp>
        <p:sp>
          <p:nvSpPr>
            <p:cNvPr id="35" name="TextBox 35"/>
            <p:cNvSpPr txBox="1"/>
            <p:nvPr/>
          </p:nvSpPr>
          <p:spPr>
            <a:xfrm>
              <a:off x="5089312" y="4812506"/>
              <a:ext cx="1594277"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best WikiTQ accuracy</a:t>
              </a:r>
            </a:p>
          </p:txBody>
        </p:sp>
        <p:sp>
          <p:nvSpPr>
            <p:cNvPr id="36" name="TextBox 36"/>
            <p:cNvSpPr txBox="1"/>
            <p:nvPr/>
          </p:nvSpPr>
          <p:spPr>
            <a:xfrm>
              <a:off x="4433316" y="5525452"/>
              <a:ext cx="1979895" cy="205359"/>
            </a:xfrm>
            <a:prstGeom prst="rect">
              <a:avLst/>
            </a:prstGeom>
            <a:noFill/>
            <a:ln>
              <a:noFill/>
            </a:ln>
          </p:spPr>
          <p:txBody>
            <a:bodyPr wrap="none" lIns="0" tIns="0" rIns="0" bIns="0" anchor="t" anchorCtr="0">
              <a:spAutoFit/>
            </a:bodyPr>
            <a:lstStyle/>
            <a:p>
              <a:pPr algn="l"/>
              <a:r>
                <a:rPr lang="en-US" sz="1050" dirty="0">
                  <a:solidFill>
                    <a:srgbClr val="334155"/>
                  </a:solidFill>
                  <a:latin typeface="+mn-lt"/>
                  <a:ea typeface="+mn-ea"/>
                  <a:cs typeface="+mn-cs"/>
                </a:rPr>
                <a:t>Beats using either relevance</a:t>
              </a:r>
            </a:p>
          </p:txBody>
        </p:sp>
        <p:sp>
          <p:nvSpPr>
            <p:cNvPr id="37" name="TextBox 37"/>
            <p:cNvSpPr txBox="1"/>
            <p:nvPr/>
          </p:nvSpPr>
          <p:spPr>
            <a:xfrm>
              <a:off x="4433316" y="5696902"/>
              <a:ext cx="1226287" cy="205359"/>
            </a:xfrm>
            <a:prstGeom prst="rect">
              <a:avLst/>
            </a:prstGeom>
            <a:noFill/>
            <a:ln>
              <a:noFill/>
            </a:ln>
          </p:spPr>
          <p:txBody>
            <a:bodyPr wrap="none" lIns="0" tIns="0" rIns="0" bIns="0" anchor="t" anchorCtr="0">
              <a:spAutoFit/>
            </a:bodyPr>
            <a:lstStyle/>
            <a:p>
              <a:pPr algn="l"/>
              <a:r>
                <a:rPr lang="en-US" sz="1050" dirty="0">
                  <a:solidFill>
                    <a:srgbClr val="334155"/>
                  </a:solidFill>
                  <a:latin typeface="+mn-lt"/>
                  <a:ea typeface="+mn-ea"/>
                  <a:cs typeface="+mn-cs"/>
                </a:rPr>
                <a:t>signal on its own.</a:t>
              </a:r>
            </a:p>
          </p:txBody>
        </p:sp>
      </p:grpSp>
      <p:grpSp>
        <p:nvGrpSpPr>
          <p:cNvPr id="50" name="Group 50"/>
          <p:cNvGrpSpPr/>
          <p:nvPr/>
        </p:nvGrpSpPr>
        <p:grpSpPr>
          <a:xfrm>
            <a:off x="7810500" y="2133600"/>
            <a:ext cx="3714750" cy="4152900"/>
            <a:chOff x="7810500" y="2133600"/>
            <a:chExt cx="3714750" cy="4152900"/>
          </a:xfrm>
        </p:grpSpPr>
        <p:sp>
          <p:nvSpPr>
            <p:cNvPr id="39" name="Rectangle 39"/>
            <p:cNvSpPr/>
            <p:nvPr/>
          </p:nvSpPr>
          <p:spPr>
            <a:xfrm>
              <a:off x="7810500" y="2133600"/>
              <a:ext cx="3714750" cy="4152900"/>
            </a:xfrm>
            <a:prstGeom prst="roundRect">
              <a:avLst>
                <a:gd name="adj" fmla="val 3590"/>
              </a:avLst>
            </a:prstGeom>
            <a:solidFill>
              <a:schemeClr val="lt1"/>
            </a:solidFill>
            <a:ln w="14288">
              <a:solidFill>
                <a:schemeClr val="accent4"/>
              </a:solidFill>
            </a:ln>
          </p:spPr>
        </p:sp>
        <p:sp>
          <p:nvSpPr>
            <p:cNvPr id="40" name="Rectangle 40"/>
            <p:cNvSpPr/>
            <p:nvPr/>
          </p:nvSpPr>
          <p:spPr>
            <a:xfrm>
              <a:off x="7810500" y="2133600"/>
              <a:ext cx="3714750" cy="76200"/>
            </a:xfrm>
            <a:prstGeom prst="roundRect">
              <a:avLst>
                <a:gd name="adj" fmla="val 50000"/>
              </a:avLst>
            </a:prstGeom>
            <a:solidFill>
              <a:schemeClr val="accent5"/>
            </a:solidFill>
            <a:ln>
              <a:noFill/>
            </a:ln>
          </p:spPr>
        </p:sp>
        <p:sp>
          <p:nvSpPr>
            <p:cNvPr id="41" name="TextBox 41"/>
            <p:cNvSpPr txBox="1"/>
            <p:nvPr/>
          </p:nvSpPr>
          <p:spPr>
            <a:xfrm>
              <a:off x="8050911" y="2398871"/>
              <a:ext cx="2208501"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Cell-based signal alone</a:t>
              </a:r>
            </a:p>
          </p:txBody>
        </p:sp>
        <p:sp>
          <p:nvSpPr>
            <p:cNvPr id="42" name="TextBox 42"/>
            <p:cNvSpPr txBox="1"/>
            <p:nvPr/>
          </p:nvSpPr>
          <p:spPr>
            <a:xfrm>
              <a:off x="8052816" y="2667952"/>
              <a:ext cx="168453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λ_uns = 0 — drop the URS</a:t>
              </a:r>
            </a:p>
          </p:txBody>
        </p:sp>
        <p:sp>
          <p:nvSpPr>
            <p:cNvPr id="43" name="Rectangle 43"/>
            <p:cNvSpPr/>
            <p:nvPr/>
          </p:nvSpPr>
          <p:spPr>
            <a:xfrm>
              <a:off x="8058150" y="3143250"/>
              <a:ext cx="3219450" cy="1428750"/>
            </a:xfrm>
            <a:prstGeom prst="roundRect">
              <a:avLst>
                <a:gd name="adj" fmla="val 8000"/>
              </a:avLst>
            </a:prstGeom>
            <a:solidFill>
              <a:srgbClr val="FCEBEA"/>
            </a:solidFill>
            <a:ln>
              <a:noFill/>
            </a:ln>
          </p:spPr>
        </p:sp>
        <p:sp>
          <p:nvSpPr>
            <p:cNvPr id="44" name="TextBox 44"/>
            <p:cNvSpPr txBox="1"/>
            <p:nvPr/>
          </p:nvSpPr>
          <p:spPr>
            <a:xfrm>
              <a:off x="8809200" y="3379470"/>
              <a:ext cx="1717350" cy="1047750"/>
            </a:xfrm>
            <a:prstGeom prst="rect">
              <a:avLst/>
            </a:prstGeom>
            <a:noFill/>
            <a:ln>
              <a:noFill/>
            </a:ln>
          </p:spPr>
          <p:txBody>
            <a:bodyPr wrap="none" lIns="0" tIns="0" rIns="0" bIns="0" anchor="t" anchorCtr="0">
              <a:spAutoFit/>
            </a:bodyPr>
            <a:lstStyle/>
            <a:p>
              <a:pPr algn="ctr"/>
              <a:r>
                <a:rPr lang="en-US" sz="5400" b="1" dirty="0">
                  <a:solidFill>
                    <a:schemeClr val="accent5"/>
                  </a:solidFill>
                  <a:latin typeface="+mn-lt"/>
                  <a:ea typeface="+mn-ea"/>
                  <a:cs typeface="+mn-cs"/>
                </a:rPr>
                <a:t>37.6</a:t>
              </a:r>
            </a:p>
          </p:txBody>
        </p:sp>
        <p:sp>
          <p:nvSpPr>
            <p:cNvPr id="45" name="TextBox 45"/>
            <p:cNvSpPr txBox="1"/>
            <p:nvPr/>
          </p:nvSpPr>
          <p:spPr>
            <a:xfrm>
              <a:off x="8885762" y="4175760"/>
              <a:ext cx="1564226" cy="234696"/>
            </a:xfrm>
            <a:prstGeom prst="rect">
              <a:avLst/>
            </a:prstGeom>
            <a:noFill/>
            <a:ln>
              <a:noFill/>
            </a:ln>
          </p:spPr>
          <p:txBody>
            <a:bodyPr wrap="none" lIns="0" tIns="0" rIns="0" bIns="0" anchor="t" anchorCtr="0">
              <a:spAutoFit/>
            </a:bodyPr>
            <a:lstStyle/>
            <a:p>
              <a:pPr algn="ctr"/>
              <a:r>
                <a:rPr lang="en-US" sz="1200" b="1" dirty="0">
                  <a:solidFill>
                    <a:srgbClr val="B91C1C"/>
                  </a:solidFill>
                  <a:latin typeface="+mn-lt"/>
                  <a:ea typeface="+mn-ea"/>
                  <a:cs typeface="+mn-cs"/>
                </a:rPr>
                <a:t>accuracy collapses</a:t>
              </a:r>
            </a:p>
          </p:txBody>
        </p:sp>
        <p:sp>
          <p:nvSpPr>
            <p:cNvPr id="46" name="TextBox 46"/>
            <p:cNvSpPr txBox="1"/>
            <p:nvPr/>
          </p:nvSpPr>
          <p:spPr>
            <a:xfrm>
              <a:off x="8052435" y="4831556"/>
              <a:ext cx="2277970"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The unsupervised scorer is the</a:t>
              </a:r>
            </a:p>
          </p:txBody>
        </p:sp>
        <p:sp>
          <p:nvSpPr>
            <p:cNvPr id="47" name="TextBox 47"/>
            <p:cNvSpPr txBox="1"/>
            <p:nvPr/>
          </p:nvSpPr>
          <p:spPr>
            <a:xfrm>
              <a:off x="8052435" y="5041106"/>
              <a:ext cx="2137349"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primary driver; the parsing-</a:t>
              </a:r>
            </a:p>
          </p:txBody>
        </p:sp>
        <p:sp>
          <p:nvSpPr>
            <p:cNvPr id="48" name="TextBox 48"/>
            <p:cNvSpPr txBox="1"/>
            <p:nvPr/>
          </p:nvSpPr>
          <p:spPr>
            <a:xfrm>
              <a:off x="8052435" y="5250656"/>
              <a:ext cx="1624716"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statement module is a</a:t>
              </a:r>
            </a:p>
          </p:txBody>
        </p:sp>
        <p:sp>
          <p:nvSpPr>
            <p:cNvPr id="49" name="TextBox 49"/>
            <p:cNvSpPr txBox="1"/>
            <p:nvPr/>
          </p:nvSpPr>
          <p:spPr>
            <a:xfrm>
              <a:off x="8052435" y="5460206"/>
              <a:ext cx="1451326"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complementary aid.</a:t>
              </a:r>
            </a:p>
          </p:txBody>
        </p:sp>
      </p:grpSp>
      <p:sp>
        <p:nvSpPr>
          <p:cNvPr id="51" name="Line 51"/>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sp>
      <p:sp>
        <p:nvSpPr>
          <p:cNvPr id="52" name="TextBox 52"/>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53" name="TextBox 53"/>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08 / 10</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sp>
      <p:sp>
        <p:nvSpPr>
          <p:cNvPr id="3" name="Rectangle 3"/>
          <p:cNvSpPr/>
          <p:nvPr/>
        </p:nvSpPr>
        <p:spPr>
          <a:xfrm>
            <a:off x="0" y="0"/>
            <a:ext cx="12192000" cy="57150"/>
          </a:xfrm>
          <a:prstGeom prst="rect">
            <a:avLst/>
          </a:prstGeom>
          <a:solidFill>
            <a:schemeClr val="accent2"/>
          </a:solidFill>
          <a:ln>
            <a:noFill/>
          </a:ln>
        </p:spPr>
      </p:sp>
      <p:sp>
        <p:nvSpPr>
          <p:cNvPr id="4" name="TextBox 4"/>
          <p:cNvSpPr txBox="1"/>
          <p:nvPr/>
        </p:nvSpPr>
        <p:spPr>
          <a:xfrm>
            <a:off x="661035" y="450056"/>
            <a:ext cx="1753301"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HEADLINE NUMBERS</a:t>
            </a:r>
          </a:p>
        </p:txBody>
      </p:sp>
      <p:sp>
        <p:nvSpPr>
          <p:cNvPr id="5" name="TextBox 5"/>
          <p:cNvSpPr txBox="1"/>
          <p:nvPr/>
        </p:nvSpPr>
        <p:spPr>
          <a:xfrm>
            <a:off x="634746" y="715328"/>
            <a:ext cx="2718365"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By the Numbers</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sp>
      <p:grpSp>
        <p:nvGrpSpPr>
          <p:cNvPr id="27" name="Group 27"/>
          <p:cNvGrpSpPr/>
          <p:nvPr/>
        </p:nvGrpSpPr>
        <p:grpSpPr>
          <a:xfrm>
            <a:off x="571500" y="1428750"/>
            <a:ext cx="10953750" cy="1905000"/>
            <a:chOff x="571500" y="1428750"/>
            <a:chExt cx="10953750" cy="1905000"/>
          </a:xfrm>
        </p:grpSpPr>
        <p:sp>
          <p:nvSpPr>
            <p:cNvPr id="7" name="Rectangle 7"/>
            <p:cNvSpPr/>
            <p:nvPr/>
          </p:nvSpPr>
          <p:spPr>
            <a:xfrm>
              <a:off x="571500" y="1428750"/>
              <a:ext cx="2552700" cy="1905000"/>
            </a:xfrm>
            <a:prstGeom prst="roundRect">
              <a:avLst>
                <a:gd name="adj" fmla="val 7000"/>
              </a:avLst>
            </a:prstGeom>
            <a:solidFill>
              <a:schemeClr val="accent1"/>
            </a:solidFill>
            <a:ln>
              <a:noFill/>
            </a:ln>
          </p:spPr>
        </p:sp>
        <p:sp>
          <p:nvSpPr>
            <p:cNvPr id="8" name="TextBox 8"/>
            <p:cNvSpPr txBox="1"/>
            <p:nvPr/>
          </p:nvSpPr>
          <p:spPr>
            <a:xfrm>
              <a:off x="1015678" y="1750695"/>
              <a:ext cx="1664343" cy="762000"/>
            </a:xfrm>
            <a:prstGeom prst="rect">
              <a:avLst/>
            </a:prstGeom>
            <a:noFill/>
            <a:ln>
              <a:noFill/>
            </a:ln>
          </p:spPr>
          <p:txBody>
            <a:bodyPr wrap="none" lIns="0" tIns="0" rIns="0" bIns="0" anchor="t" anchorCtr="0">
              <a:spAutoFit/>
            </a:bodyPr>
            <a:lstStyle/>
            <a:p>
              <a:pPr algn="ctr"/>
              <a:r>
                <a:rPr lang="en-US" sz="3900" b="1" dirty="0">
                  <a:solidFill>
                    <a:srgbClr val="FFFFFF"/>
                  </a:solidFill>
                  <a:latin typeface="+mn-lt"/>
                  <a:ea typeface="+mn-ea"/>
                  <a:cs typeface="+mn-cs"/>
                </a:rPr>
                <a:t>69.1%</a:t>
              </a:r>
            </a:p>
          </p:txBody>
        </p:sp>
        <p:sp>
          <p:nvSpPr>
            <p:cNvPr id="9" name="TextBox 9"/>
            <p:cNvSpPr txBox="1"/>
            <p:nvPr/>
          </p:nvSpPr>
          <p:spPr>
            <a:xfrm>
              <a:off x="1543693" y="2357914"/>
              <a:ext cx="608314" cy="249364"/>
            </a:xfrm>
            <a:prstGeom prst="rect">
              <a:avLst/>
            </a:prstGeom>
            <a:noFill/>
            <a:ln>
              <a:noFill/>
            </a:ln>
          </p:spPr>
          <p:txBody>
            <a:bodyPr wrap="none" lIns="0" tIns="0" rIns="0" bIns="0" anchor="t" anchorCtr="0">
              <a:spAutoFit/>
            </a:bodyPr>
            <a:lstStyle/>
            <a:p>
              <a:pPr algn="ctr"/>
              <a:r>
                <a:rPr lang="en-US" sz="1280" b="1" dirty="0">
                  <a:solidFill>
                    <a:srgbClr val="FBBF24"/>
                  </a:solidFill>
                  <a:latin typeface="+mn-lt"/>
                  <a:ea typeface="+mn-ea"/>
                  <a:cs typeface="+mn-cs"/>
                </a:rPr>
                <a:t>WikiTQ</a:t>
              </a:r>
            </a:p>
          </p:txBody>
        </p:sp>
        <p:sp>
          <p:nvSpPr>
            <p:cNvPr id="10" name="TextBox 10"/>
            <p:cNvSpPr txBox="1"/>
            <p:nvPr/>
          </p:nvSpPr>
          <p:spPr>
            <a:xfrm>
              <a:off x="1068619" y="2744152"/>
              <a:ext cx="1558461" cy="205359"/>
            </a:xfrm>
            <a:prstGeom prst="rect">
              <a:avLst/>
            </a:prstGeom>
            <a:noFill/>
            <a:ln>
              <a:noFill/>
            </a:ln>
          </p:spPr>
          <p:txBody>
            <a:bodyPr wrap="none" lIns="0" tIns="0" rIns="0" bIns="0" anchor="t" anchorCtr="0">
              <a:spAutoFit/>
            </a:bodyPr>
            <a:lstStyle/>
            <a:p>
              <a:pPr algn="ctr"/>
              <a:r>
                <a:rPr lang="en-US" sz="1050" dirty="0">
                  <a:solidFill>
                    <a:srgbClr val="BFD0E8"/>
                  </a:solidFill>
                  <a:latin typeface="+mn-lt"/>
                  <a:ea typeface="+mn-ea"/>
                  <a:cs typeface="+mn-cs"/>
                </a:rPr>
                <a:t>exact-match accuracy</a:t>
              </a:r>
            </a:p>
          </p:txBody>
        </p:sp>
        <p:sp>
          <p:nvSpPr>
            <p:cNvPr id="11" name="TextBox 11"/>
            <p:cNvSpPr txBox="1"/>
            <p:nvPr/>
          </p:nvSpPr>
          <p:spPr>
            <a:xfrm>
              <a:off x="1548994" y="2999899"/>
              <a:ext cx="597713" cy="190690"/>
            </a:xfrm>
            <a:prstGeom prst="rect">
              <a:avLst/>
            </a:prstGeom>
            <a:noFill/>
            <a:ln>
              <a:noFill/>
            </a:ln>
          </p:spPr>
          <p:txBody>
            <a:bodyPr wrap="none" lIns="0" tIns="0" rIns="0" bIns="0" anchor="t" anchorCtr="0">
              <a:spAutoFit/>
            </a:bodyPr>
            <a:lstStyle/>
            <a:p>
              <a:pPr algn="ctr"/>
              <a:r>
                <a:rPr lang="en-US" sz="980" dirty="0">
                  <a:solidFill>
                    <a:srgbClr val="93B4E0"/>
                  </a:solidFill>
                  <a:latin typeface="+mn-lt"/>
                  <a:ea typeface="+mn-ea"/>
                  <a:cs typeface="+mn-cs"/>
                </a:rPr>
                <a:t>new SoTA</a:t>
              </a:r>
            </a:p>
          </p:txBody>
        </p:sp>
        <p:sp>
          <p:nvSpPr>
            <p:cNvPr id="12" name="Rectangle 12"/>
            <p:cNvSpPr/>
            <p:nvPr/>
          </p:nvSpPr>
          <p:spPr>
            <a:xfrm>
              <a:off x="3371850" y="1428750"/>
              <a:ext cx="2552700" cy="1905000"/>
            </a:xfrm>
            <a:prstGeom prst="roundRect">
              <a:avLst>
                <a:gd name="adj" fmla="val 7000"/>
              </a:avLst>
            </a:prstGeom>
            <a:solidFill>
              <a:schemeClr val="lt2"/>
            </a:solidFill>
            <a:ln w="14288">
              <a:solidFill>
                <a:schemeClr val="accent4"/>
              </a:solidFill>
            </a:ln>
          </p:spPr>
        </p:sp>
        <p:sp>
          <p:nvSpPr>
            <p:cNvPr id="13" name="TextBox 13"/>
            <p:cNvSpPr txBox="1"/>
            <p:nvPr/>
          </p:nvSpPr>
          <p:spPr>
            <a:xfrm>
              <a:off x="4022754" y="1750695"/>
              <a:ext cx="1250892" cy="762000"/>
            </a:xfrm>
            <a:prstGeom prst="rect">
              <a:avLst/>
            </a:prstGeom>
            <a:noFill/>
            <a:ln>
              <a:noFill/>
            </a:ln>
          </p:spPr>
          <p:txBody>
            <a:bodyPr wrap="none" lIns="0" tIns="0" rIns="0" bIns="0" anchor="t" anchorCtr="0">
              <a:spAutoFit/>
            </a:bodyPr>
            <a:lstStyle/>
            <a:p>
              <a:pPr algn="ctr"/>
              <a:r>
                <a:rPr lang="en-US" sz="3900" b="1" dirty="0">
                  <a:solidFill>
                    <a:schemeClr val="accent1"/>
                  </a:solidFill>
                  <a:latin typeface="+mn-lt"/>
                  <a:ea typeface="+mn-ea"/>
                  <a:cs typeface="+mn-cs"/>
                </a:rPr>
                <a:t>40.5</a:t>
              </a:r>
            </a:p>
          </p:txBody>
        </p:sp>
        <p:sp>
          <p:nvSpPr>
            <p:cNvPr id="14" name="TextBox 14"/>
            <p:cNvSpPr txBox="1"/>
            <p:nvPr/>
          </p:nvSpPr>
          <p:spPr>
            <a:xfrm>
              <a:off x="4313149" y="2357914"/>
              <a:ext cx="670103" cy="249364"/>
            </a:xfrm>
            <a:prstGeom prst="rect">
              <a:avLst/>
            </a:prstGeom>
            <a:noFill/>
            <a:ln>
              <a:noFill/>
            </a:ln>
          </p:spPr>
          <p:txBody>
            <a:bodyPr wrap="none" lIns="0" tIns="0" rIns="0" bIns="0" anchor="t" anchorCtr="0">
              <a:spAutoFit/>
            </a:bodyPr>
            <a:lstStyle/>
            <a:p>
              <a:pPr algn="ctr"/>
              <a:r>
                <a:rPr lang="en-US" sz="1280" b="1" dirty="0">
                  <a:solidFill>
                    <a:srgbClr val="B45309"/>
                  </a:solidFill>
                  <a:latin typeface="+mn-lt"/>
                  <a:ea typeface="+mn-ea"/>
                  <a:cs typeface="+mn-cs"/>
                </a:rPr>
                <a:t>FeTaQA</a:t>
              </a:r>
            </a:p>
          </p:txBody>
        </p:sp>
        <p:sp>
          <p:nvSpPr>
            <p:cNvPr id="15" name="TextBox 15"/>
            <p:cNvSpPr txBox="1"/>
            <p:nvPr/>
          </p:nvSpPr>
          <p:spPr>
            <a:xfrm>
              <a:off x="4241927" y="2744152"/>
              <a:ext cx="812546"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Sacre-BLEU</a:t>
              </a:r>
            </a:p>
          </p:txBody>
        </p:sp>
        <p:sp>
          <p:nvSpPr>
            <p:cNvPr id="16" name="TextBox 16"/>
            <p:cNvSpPr txBox="1"/>
            <p:nvPr/>
          </p:nvSpPr>
          <p:spPr>
            <a:xfrm>
              <a:off x="4349344" y="2999899"/>
              <a:ext cx="597713" cy="190690"/>
            </a:xfrm>
            <a:prstGeom prst="rect">
              <a:avLst/>
            </a:prstGeom>
            <a:noFill/>
            <a:ln>
              <a:noFill/>
            </a:ln>
          </p:spPr>
          <p:txBody>
            <a:bodyPr wrap="none" lIns="0" tIns="0" rIns="0" bIns="0" anchor="t" anchorCtr="0">
              <a:spAutoFit/>
            </a:bodyPr>
            <a:lstStyle/>
            <a:p>
              <a:pPr algn="ctr"/>
              <a:r>
                <a:rPr lang="en-US" sz="980" dirty="0">
                  <a:solidFill>
                    <a:schemeClr val="accent6"/>
                  </a:solidFill>
                  <a:latin typeface="+mn-lt"/>
                  <a:ea typeface="+mn-ea"/>
                  <a:cs typeface="+mn-cs"/>
                </a:rPr>
                <a:t>new SoTA</a:t>
              </a:r>
            </a:p>
          </p:txBody>
        </p:sp>
        <p:sp>
          <p:nvSpPr>
            <p:cNvPr id="17" name="Rectangle 17"/>
            <p:cNvSpPr/>
            <p:nvPr/>
          </p:nvSpPr>
          <p:spPr>
            <a:xfrm>
              <a:off x="6172200" y="1428750"/>
              <a:ext cx="2552700" cy="1905000"/>
            </a:xfrm>
            <a:prstGeom prst="roundRect">
              <a:avLst>
                <a:gd name="adj" fmla="val 7000"/>
              </a:avLst>
            </a:prstGeom>
            <a:solidFill>
              <a:schemeClr val="lt2"/>
            </a:solidFill>
            <a:ln w="14288">
              <a:solidFill>
                <a:schemeClr val="accent4"/>
              </a:solidFill>
            </a:ln>
          </p:spPr>
        </p:sp>
        <p:sp>
          <p:nvSpPr>
            <p:cNvPr id="18" name="TextBox 18"/>
            <p:cNvSpPr txBox="1"/>
            <p:nvPr/>
          </p:nvSpPr>
          <p:spPr>
            <a:xfrm>
              <a:off x="6679688" y="1783080"/>
              <a:ext cx="1537724" cy="704088"/>
            </a:xfrm>
            <a:prstGeom prst="rect">
              <a:avLst/>
            </a:prstGeom>
            <a:noFill/>
            <a:ln>
              <a:noFill/>
            </a:ln>
          </p:spPr>
          <p:txBody>
            <a:bodyPr wrap="none" lIns="0" tIns="0" rIns="0" bIns="0" anchor="t" anchorCtr="0">
              <a:spAutoFit/>
            </a:bodyPr>
            <a:lstStyle/>
            <a:p>
              <a:pPr algn="ctr"/>
              <a:r>
                <a:rPr lang="en-US" sz="3600" b="1" dirty="0">
                  <a:solidFill>
                    <a:schemeClr val="accent1"/>
                  </a:solidFill>
                  <a:latin typeface="+mn-lt"/>
                  <a:ea typeface="+mn-ea"/>
                  <a:cs typeface="+mn-cs"/>
                </a:rPr>
                <a:t>89.5%</a:t>
              </a:r>
            </a:p>
          </p:txBody>
        </p:sp>
        <p:sp>
          <p:nvSpPr>
            <p:cNvPr id="19" name="TextBox 19"/>
            <p:cNvSpPr txBox="1"/>
            <p:nvPr/>
          </p:nvSpPr>
          <p:spPr>
            <a:xfrm>
              <a:off x="7091858" y="2357914"/>
              <a:ext cx="713384" cy="249364"/>
            </a:xfrm>
            <a:prstGeom prst="rect">
              <a:avLst/>
            </a:prstGeom>
            <a:noFill/>
            <a:ln>
              <a:noFill/>
            </a:ln>
          </p:spPr>
          <p:txBody>
            <a:bodyPr wrap="none" lIns="0" tIns="0" rIns="0" bIns="0" anchor="t" anchorCtr="0">
              <a:spAutoFit/>
            </a:bodyPr>
            <a:lstStyle/>
            <a:p>
              <a:pPr algn="ctr"/>
              <a:r>
                <a:rPr lang="en-US" sz="1280" b="1" dirty="0">
                  <a:solidFill>
                    <a:schemeClr val="accent3"/>
                  </a:solidFill>
                  <a:latin typeface="+mn-lt"/>
                  <a:ea typeface="+mn-ea"/>
                  <a:cs typeface="+mn-cs"/>
                </a:rPr>
                <a:t>WikiSQL</a:t>
              </a:r>
            </a:p>
          </p:txBody>
        </p:sp>
        <p:sp>
          <p:nvSpPr>
            <p:cNvPr id="20" name="TextBox 20"/>
            <p:cNvSpPr txBox="1"/>
            <p:nvPr/>
          </p:nvSpPr>
          <p:spPr>
            <a:xfrm>
              <a:off x="6669319" y="2744152"/>
              <a:ext cx="1558461"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exact-match accuracy</a:t>
              </a:r>
            </a:p>
          </p:txBody>
        </p:sp>
        <p:sp>
          <p:nvSpPr>
            <p:cNvPr id="21" name="TextBox 21"/>
            <p:cNvSpPr txBox="1"/>
            <p:nvPr/>
          </p:nvSpPr>
          <p:spPr>
            <a:xfrm>
              <a:off x="7149694" y="2999899"/>
              <a:ext cx="597713" cy="190690"/>
            </a:xfrm>
            <a:prstGeom prst="rect">
              <a:avLst/>
            </a:prstGeom>
            <a:noFill/>
            <a:ln>
              <a:noFill/>
            </a:ln>
          </p:spPr>
          <p:txBody>
            <a:bodyPr wrap="none" lIns="0" tIns="0" rIns="0" bIns="0" anchor="t" anchorCtr="0">
              <a:spAutoFit/>
            </a:bodyPr>
            <a:lstStyle/>
            <a:p>
              <a:pPr algn="ctr"/>
              <a:r>
                <a:rPr lang="en-US" sz="980" dirty="0">
                  <a:solidFill>
                    <a:schemeClr val="accent6"/>
                  </a:solidFill>
                  <a:latin typeface="+mn-lt"/>
                  <a:ea typeface="+mn-ea"/>
                  <a:cs typeface="+mn-cs"/>
                </a:rPr>
                <a:t>new SoTA</a:t>
              </a:r>
            </a:p>
          </p:txBody>
        </p:sp>
        <p:sp>
          <p:nvSpPr>
            <p:cNvPr id="22" name="Rectangle 22"/>
            <p:cNvSpPr/>
            <p:nvPr/>
          </p:nvSpPr>
          <p:spPr>
            <a:xfrm>
              <a:off x="8972550" y="1428750"/>
              <a:ext cx="2552700" cy="1905000"/>
            </a:xfrm>
            <a:prstGeom prst="roundRect">
              <a:avLst>
                <a:gd name="adj" fmla="val 7000"/>
              </a:avLst>
            </a:prstGeom>
            <a:solidFill>
              <a:schemeClr val="accent3"/>
            </a:solidFill>
            <a:ln>
              <a:noFill/>
            </a:ln>
          </p:spPr>
        </p:sp>
        <p:sp>
          <p:nvSpPr>
            <p:cNvPr id="23" name="TextBox 23"/>
            <p:cNvSpPr txBox="1"/>
            <p:nvPr/>
          </p:nvSpPr>
          <p:spPr>
            <a:xfrm>
              <a:off x="9530883" y="1750695"/>
              <a:ext cx="1436035" cy="762000"/>
            </a:xfrm>
            <a:prstGeom prst="rect">
              <a:avLst/>
            </a:prstGeom>
            <a:noFill/>
            <a:ln>
              <a:noFill/>
            </a:ln>
          </p:spPr>
          <p:txBody>
            <a:bodyPr wrap="none" lIns="0" tIns="0" rIns="0" bIns="0" anchor="t" anchorCtr="0">
              <a:spAutoFit/>
            </a:bodyPr>
            <a:lstStyle/>
            <a:p>
              <a:pPr algn="ctr"/>
              <a:r>
                <a:rPr lang="en-US" sz="3900" b="1" dirty="0">
                  <a:solidFill>
                    <a:srgbClr val="FFFFFF"/>
                  </a:solidFill>
                  <a:latin typeface="+mn-lt"/>
                  <a:ea typeface="+mn-ea"/>
                  <a:cs typeface="+mn-cs"/>
                </a:rPr>
                <a:t>560M</a:t>
              </a:r>
            </a:p>
          </p:txBody>
        </p:sp>
        <p:sp>
          <p:nvSpPr>
            <p:cNvPr id="24" name="TextBox 24"/>
            <p:cNvSpPr txBox="1"/>
            <p:nvPr/>
          </p:nvSpPr>
          <p:spPr>
            <a:xfrm>
              <a:off x="9726775" y="2357914"/>
              <a:ext cx="1044251" cy="249364"/>
            </a:xfrm>
            <a:prstGeom prst="rect">
              <a:avLst/>
            </a:prstGeom>
            <a:noFill/>
            <a:ln>
              <a:noFill/>
            </a:ln>
          </p:spPr>
          <p:txBody>
            <a:bodyPr wrap="none" lIns="0" tIns="0" rIns="0" bIns="0" anchor="t" anchorCtr="0">
              <a:spAutoFit/>
            </a:bodyPr>
            <a:lstStyle/>
            <a:p>
              <a:pPr algn="ctr"/>
              <a:r>
                <a:rPr lang="en-US" sz="1280" b="1" dirty="0">
                  <a:solidFill>
                    <a:srgbClr val="FBBF24"/>
                  </a:solidFill>
                  <a:latin typeface="+mn-lt"/>
                  <a:ea typeface="+mn-ea"/>
                  <a:cs typeface="+mn-cs"/>
                </a:rPr>
                <a:t>parameters</a:t>
              </a:r>
            </a:p>
          </p:txBody>
        </p:sp>
        <p:sp>
          <p:nvSpPr>
            <p:cNvPr id="25" name="TextBox 25"/>
            <p:cNvSpPr txBox="1"/>
            <p:nvPr/>
          </p:nvSpPr>
          <p:spPr>
            <a:xfrm>
              <a:off x="9624049" y="2744152"/>
              <a:ext cx="1249703" cy="205359"/>
            </a:xfrm>
            <a:prstGeom prst="rect">
              <a:avLst/>
            </a:prstGeom>
            <a:noFill/>
            <a:ln>
              <a:noFill/>
            </a:ln>
          </p:spPr>
          <p:txBody>
            <a:bodyPr wrap="none" lIns="0" tIns="0" rIns="0" bIns="0" anchor="t" anchorCtr="0">
              <a:spAutoFit/>
            </a:bodyPr>
            <a:lstStyle/>
            <a:p>
              <a:pPr algn="ctr"/>
              <a:r>
                <a:rPr lang="en-US" sz="1050" dirty="0">
                  <a:solidFill>
                    <a:srgbClr val="CFF0EA"/>
                  </a:solidFill>
                  <a:latin typeface="+mn-lt"/>
                  <a:ea typeface="+mn-ea"/>
                  <a:cs typeface="+mn-cs"/>
                </a:rPr>
                <a:t>OmniTab backbone</a:t>
              </a:r>
            </a:p>
          </p:txBody>
        </p:sp>
        <p:sp>
          <p:nvSpPr>
            <p:cNvPr id="26" name="TextBox 26"/>
            <p:cNvSpPr txBox="1"/>
            <p:nvPr/>
          </p:nvSpPr>
          <p:spPr>
            <a:xfrm>
              <a:off x="9778902" y="2999899"/>
              <a:ext cx="939996" cy="190690"/>
            </a:xfrm>
            <a:prstGeom prst="rect">
              <a:avLst/>
            </a:prstGeom>
            <a:noFill/>
            <a:ln>
              <a:noFill/>
            </a:ln>
          </p:spPr>
          <p:txBody>
            <a:bodyPr wrap="none" lIns="0" tIns="0" rIns="0" bIns="0" anchor="t" anchorCtr="0">
              <a:spAutoFit/>
            </a:bodyPr>
            <a:lstStyle/>
            <a:p>
              <a:pPr algn="ctr"/>
              <a:r>
                <a:rPr lang="en-US" sz="980" dirty="0">
                  <a:solidFill>
                    <a:srgbClr val="CFF0EA"/>
                  </a:solidFill>
                  <a:latin typeface="+mn-lt"/>
                  <a:ea typeface="+mn-ea"/>
                  <a:cs typeface="+mn-cs"/>
                </a:rPr>
                <a:t>compact model</a:t>
              </a:r>
            </a:p>
          </p:txBody>
        </p:sp>
      </p:grpSp>
      <p:grpSp>
        <p:nvGrpSpPr>
          <p:cNvPr id="45" name="Group 45"/>
          <p:cNvGrpSpPr/>
          <p:nvPr/>
        </p:nvGrpSpPr>
        <p:grpSpPr>
          <a:xfrm>
            <a:off x="571500" y="3543300"/>
            <a:ext cx="10953750" cy="2743200"/>
            <a:chOff x="571500" y="3543300"/>
            <a:chExt cx="10953750" cy="2743200"/>
          </a:xfrm>
        </p:grpSpPr>
        <p:sp>
          <p:nvSpPr>
            <p:cNvPr id="28" name="Rectangle 28"/>
            <p:cNvSpPr/>
            <p:nvPr/>
          </p:nvSpPr>
          <p:spPr>
            <a:xfrm>
              <a:off x="571500" y="3543300"/>
              <a:ext cx="10953750" cy="2743200"/>
            </a:xfrm>
            <a:prstGeom prst="roundRect">
              <a:avLst>
                <a:gd name="adj" fmla="val 4861"/>
              </a:avLst>
            </a:prstGeom>
            <a:solidFill>
              <a:schemeClr val="lt1"/>
            </a:solidFill>
            <a:ln w="14288">
              <a:solidFill>
                <a:schemeClr val="accent4"/>
              </a:solidFill>
            </a:ln>
          </p:spPr>
        </p:sp>
        <p:sp>
          <p:nvSpPr>
            <p:cNvPr id="29" name="TextBox 29"/>
            <p:cNvSpPr txBox="1"/>
            <p:nvPr/>
          </p:nvSpPr>
          <p:spPr>
            <a:xfrm>
              <a:off x="810768" y="3765232"/>
              <a:ext cx="4782800"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Not just accurate — markedly more robust</a:t>
              </a:r>
            </a:p>
          </p:txBody>
        </p:sp>
        <p:sp>
          <p:nvSpPr>
            <p:cNvPr id="30" name="TextBox 30"/>
            <p:cNvSpPr txBox="1"/>
            <p:nvPr/>
          </p:nvSpPr>
          <p:spPr>
            <a:xfrm>
              <a:off x="813054" y="4099560"/>
              <a:ext cx="755135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Under row/column permutation and cell replacement, CABINET degrades far less than baselines.</a:t>
              </a:r>
            </a:p>
          </p:txBody>
        </p:sp>
        <p:sp>
          <p:nvSpPr>
            <p:cNvPr id="31" name="TextBox 31"/>
            <p:cNvSpPr txBox="1"/>
            <p:nvPr/>
          </p:nvSpPr>
          <p:spPr>
            <a:xfrm>
              <a:off x="813816" y="4572952"/>
              <a:ext cx="5106956" cy="205359"/>
            </a:xfrm>
            <a:prstGeom prst="rect">
              <a:avLst/>
            </a:prstGeom>
            <a:noFill/>
            <a:ln>
              <a:noFill/>
            </a:ln>
          </p:spPr>
          <p:txBody>
            <a:bodyPr wrap="none" lIns="0" tIns="0" rIns="0" bIns="0" anchor="t" anchorCtr="0">
              <a:spAutoFit/>
            </a:bodyPr>
            <a:lstStyle/>
            <a:p>
              <a:pPr algn="l"/>
              <a:r>
                <a:rPr lang="en-US" sz="1050" b="1" dirty="0">
                  <a:solidFill>
                    <a:srgbClr val="94A3B8"/>
                  </a:solidFill>
                  <a:latin typeface="+mn-lt"/>
                  <a:ea typeface="+mn-ea"/>
                  <a:cs typeface="+mn-cs"/>
                </a:rPr>
                <a:t>PERFORMANCE DROP UNDER PERTURBATION (WikiTQ) — smaller is better</a:t>
              </a:r>
            </a:p>
          </p:txBody>
        </p:sp>
        <p:sp>
          <p:nvSpPr>
            <p:cNvPr id="32" name="TextBox 32"/>
            <p:cNvSpPr txBox="1"/>
            <p:nvPr/>
          </p:nvSpPr>
          <p:spPr>
            <a:xfrm>
              <a:off x="813054" y="4899660"/>
              <a:ext cx="668818" cy="234696"/>
            </a:xfrm>
            <a:prstGeom prst="rect">
              <a:avLst/>
            </a:prstGeom>
            <a:noFill/>
            <a:ln>
              <a:noFill/>
            </a:ln>
          </p:spPr>
          <p:txBody>
            <a:bodyPr wrap="none" lIns="0" tIns="0" rIns="0" bIns="0" anchor="t" anchorCtr="0">
              <a:spAutoFit/>
            </a:bodyPr>
            <a:lstStyle/>
            <a:p>
              <a:pPr algn="l"/>
              <a:r>
                <a:rPr lang="en-US" sz="1200" dirty="0">
                  <a:solidFill>
                    <a:srgbClr val="334155"/>
                  </a:solidFill>
                  <a:latin typeface="+mn-lt"/>
                  <a:ea typeface="+mn-ea"/>
                  <a:cs typeface="+mn-cs"/>
                </a:rPr>
                <a:t>OmniTab</a:t>
              </a:r>
            </a:p>
          </p:txBody>
        </p:sp>
        <p:sp>
          <p:nvSpPr>
            <p:cNvPr id="33" name="Rectangle 33"/>
            <p:cNvSpPr/>
            <p:nvPr/>
          </p:nvSpPr>
          <p:spPr>
            <a:xfrm>
              <a:off x="2190750" y="4895850"/>
              <a:ext cx="6858000" cy="228600"/>
            </a:xfrm>
            <a:prstGeom prst="roundRect">
              <a:avLst>
                <a:gd name="adj" fmla="val 50000"/>
              </a:avLst>
            </a:prstGeom>
            <a:solidFill>
              <a:srgbClr val="EEF3FA"/>
            </a:solidFill>
            <a:ln>
              <a:noFill/>
            </a:ln>
          </p:spPr>
        </p:sp>
        <p:sp>
          <p:nvSpPr>
            <p:cNvPr id="34" name="Rectangle 34"/>
            <p:cNvSpPr/>
            <p:nvPr/>
          </p:nvSpPr>
          <p:spPr>
            <a:xfrm>
              <a:off x="2190750" y="4895850"/>
              <a:ext cx="5334000" cy="228600"/>
            </a:xfrm>
            <a:prstGeom prst="roundRect">
              <a:avLst>
                <a:gd name="adj" fmla="val 50000"/>
              </a:avLst>
            </a:prstGeom>
            <a:solidFill>
              <a:schemeClr val="accent5"/>
            </a:solidFill>
            <a:ln>
              <a:noFill/>
            </a:ln>
          </p:spPr>
        </p:sp>
        <p:sp>
          <p:nvSpPr>
            <p:cNvPr id="35" name="TextBox 35"/>
            <p:cNvSpPr txBox="1"/>
            <p:nvPr/>
          </p:nvSpPr>
          <p:spPr>
            <a:xfrm>
              <a:off x="7671816" y="4953952"/>
              <a:ext cx="834391" cy="205359"/>
            </a:xfrm>
            <a:prstGeom prst="rect">
              <a:avLst/>
            </a:prstGeom>
            <a:noFill/>
            <a:ln>
              <a:noFill/>
            </a:ln>
          </p:spPr>
          <p:txBody>
            <a:bodyPr wrap="none" lIns="0" tIns="0" rIns="0" bIns="0" anchor="t" anchorCtr="0">
              <a:spAutoFit/>
            </a:bodyPr>
            <a:lstStyle/>
            <a:p>
              <a:pPr algn="l"/>
              <a:r>
                <a:rPr lang="en-US" sz="1050" b="1" dirty="0">
                  <a:solidFill>
                    <a:srgbClr val="B91C1C"/>
                  </a:solidFill>
                  <a:latin typeface="+mn-lt"/>
                  <a:ea typeface="+mn-ea"/>
                  <a:cs typeface="+mn-cs"/>
                </a:rPr>
                <a:t>larger drop</a:t>
              </a:r>
            </a:p>
          </p:txBody>
        </p:sp>
        <p:sp>
          <p:nvSpPr>
            <p:cNvPr id="36" name="TextBox 36"/>
            <p:cNvSpPr txBox="1"/>
            <p:nvPr/>
          </p:nvSpPr>
          <p:spPr>
            <a:xfrm>
              <a:off x="813054" y="5280660"/>
              <a:ext cx="626669" cy="234696"/>
            </a:xfrm>
            <a:prstGeom prst="rect">
              <a:avLst/>
            </a:prstGeom>
            <a:noFill/>
            <a:ln>
              <a:noFill/>
            </a:ln>
          </p:spPr>
          <p:txBody>
            <a:bodyPr wrap="none" lIns="0" tIns="0" rIns="0" bIns="0" anchor="t" anchorCtr="0">
              <a:spAutoFit/>
            </a:bodyPr>
            <a:lstStyle/>
            <a:p>
              <a:pPr algn="l"/>
              <a:r>
                <a:rPr lang="en-US" sz="1200" dirty="0">
                  <a:solidFill>
                    <a:srgbClr val="334155"/>
                  </a:solidFill>
                  <a:latin typeface="+mn-lt"/>
                  <a:ea typeface="+mn-ea"/>
                  <a:cs typeface="+mn-cs"/>
                </a:rPr>
                <a:t>CABINET</a:t>
              </a:r>
            </a:p>
          </p:txBody>
        </p:sp>
        <p:sp>
          <p:nvSpPr>
            <p:cNvPr id="37" name="Rectangle 37"/>
            <p:cNvSpPr/>
            <p:nvPr/>
          </p:nvSpPr>
          <p:spPr>
            <a:xfrm>
              <a:off x="2190750" y="5276850"/>
              <a:ext cx="6858000" cy="228600"/>
            </a:xfrm>
            <a:prstGeom prst="roundRect">
              <a:avLst>
                <a:gd name="adj" fmla="val 50000"/>
              </a:avLst>
            </a:prstGeom>
            <a:solidFill>
              <a:srgbClr val="EEF3FA"/>
            </a:solidFill>
            <a:ln>
              <a:noFill/>
            </a:ln>
          </p:spPr>
        </p:sp>
        <p:sp>
          <p:nvSpPr>
            <p:cNvPr id="38" name="Rectangle 38"/>
            <p:cNvSpPr/>
            <p:nvPr/>
          </p:nvSpPr>
          <p:spPr>
            <a:xfrm>
              <a:off x="2190750" y="5276850"/>
              <a:ext cx="3143250" cy="228600"/>
            </a:xfrm>
            <a:prstGeom prst="roundRect">
              <a:avLst>
                <a:gd name="adj" fmla="val 50000"/>
              </a:avLst>
            </a:prstGeom>
            <a:solidFill>
              <a:schemeClr val="accent6"/>
            </a:solidFill>
            <a:ln>
              <a:noFill/>
            </a:ln>
          </p:spPr>
        </p:sp>
        <p:sp>
          <p:nvSpPr>
            <p:cNvPr id="39" name="TextBox 39"/>
            <p:cNvSpPr txBox="1"/>
            <p:nvPr/>
          </p:nvSpPr>
          <p:spPr>
            <a:xfrm>
              <a:off x="5481066" y="5334952"/>
              <a:ext cx="1472591" cy="205359"/>
            </a:xfrm>
            <a:prstGeom prst="rect">
              <a:avLst/>
            </a:prstGeom>
            <a:noFill/>
            <a:ln>
              <a:noFill/>
            </a:ln>
          </p:spPr>
          <p:txBody>
            <a:bodyPr wrap="none" lIns="0" tIns="0" rIns="0" bIns="0" anchor="t" anchorCtr="0">
              <a:spAutoFit/>
            </a:bodyPr>
            <a:lstStyle/>
            <a:p>
              <a:pPr algn="l"/>
              <a:r>
                <a:rPr lang="en-US" sz="1050" b="1" dirty="0">
                  <a:solidFill>
                    <a:schemeClr val="accent6"/>
                  </a:solidFill>
                  <a:latin typeface="+mn-lt"/>
                  <a:ea typeface="+mn-ea"/>
                  <a:cs typeface="+mn-cs"/>
                </a:rPr>
                <a:t>~11.5% smaller drop</a:t>
              </a:r>
            </a:p>
          </p:txBody>
        </p:sp>
        <p:sp>
          <p:nvSpPr>
            <p:cNvPr id="40" name="Rectangle 40"/>
            <p:cNvSpPr/>
            <p:nvPr/>
          </p:nvSpPr>
          <p:spPr>
            <a:xfrm>
              <a:off x="9391650" y="4629150"/>
              <a:ext cx="1905000" cy="1428750"/>
            </a:xfrm>
            <a:prstGeom prst="roundRect">
              <a:avLst>
                <a:gd name="adj" fmla="val 8000"/>
              </a:avLst>
            </a:prstGeom>
            <a:solidFill>
              <a:schemeClr val="lt2"/>
            </a:solidFill>
            <a:ln>
              <a:noFill/>
            </a:ln>
          </p:spPr>
        </p:sp>
        <p:sp>
          <p:nvSpPr>
            <p:cNvPr id="41" name="TextBox 41"/>
            <p:cNvSpPr txBox="1"/>
            <p:nvPr/>
          </p:nvSpPr>
          <p:spPr>
            <a:xfrm>
              <a:off x="9722491" y="4850606"/>
              <a:ext cx="1243317" cy="220028"/>
            </a:xfrm>
            <a:prstGeom prst="rect">
              <a:avLst/>
            </a:prstGeom>
            <a:noFill/>
            <a:ln>
              <a:noFill/>
            </a:ln>
          </p:spPr>
          <p:txBody>
            <a:bodyPr wrap="none" lIns="0" tIns="0" rIns="0" bIns="0" anchor="t" anchorCtr="0">
              <a:spAutoFit/>
            </a:bodyPr>
            <a:lstStyle/>
            <a:p>
              <a:pPr algn="ctr"/>
              <a:r>
                <a:rPr lang="en-US" sz="1120" b="1" dirty="0">
                  <a:solidFill>
                    <a:schemeClr val="accent1"/>
                  </a:solidFill>
                  <a:latin typeface="+mn-lt"/>
                  <a:ea typeface="+mn-ea"/>
                  <a:cs typeface="+mn-cs"/>
                </a:rPr>
                <a:t>Scales with size</a:t>
              </a:r>
            </a:p>
          </p:txBody>
        </p:sp>
        <p:sp>
          <p:nvSpPr>
            <p:cNvPr id="42" name="TextBox 42"/>
            <p:cNvSpPr txBox="1"/>
            <p:nvPr/>
          </p:nvSpPr>
          <p:spPr>
            <a:xfrm>
              <a:off x="9668709" y="5182552"/>
              <a:ext cx="1350883"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Holds its advantage</a:t>
              </a:r>
            </a:p>
          </p:txBody>
        </p:sp>
        <p:sp>
          <p:nvSpPr>
            <p:cNvPr id="43" name="TextBox 43"/>
            <p:cNvSpPr txBox="1"/>
            <p:nvPr/>
          </p:nvSpPr>
          <p:spPr>
            <a:xfrm>
              <a:off x="9833486" y="5392102"/>
              <a:ext cx="1021328"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as tables grow</a:t>
              </a:r>
            </a:p>
          </p:txBody>
        </p:sp>
        <p:sp>
          <p:nvSpPr>
            <p:cNvPr id="44" name="TextBox 44"/>
            <p:cNvSpPr txBox="1"/>
            <p:nvPr/>
          </p:nvSpPr>
          <p:spPr>
            <a:xfrm>
              <a:off x="10084384" y="5601652"/>
              <a:ext cx="519532"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larger.</a:t>
              </a:r>
            </a:p>
          </p:txBody>
        </p:sp>
      </p:grpSp>
      <p:sp>
        <p:nvSpPr>
          <p:cNvPr id="46" name="Line 46"/>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sp>
      <p:sp>
        <p:nvSpPr>
          <p:cNvPr id="47" name="TextBox 47"/>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48" name="TextBox 48"/>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09 / 10</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sp>
      <p:sp>
        <p:nvSpPr>
          <p:cNvPr id="3" name="Rectangle 3"/>
          <p:cNvSpPr/>
          <p:nvPr/>
        </p:nvSpPr>
        <p:spPr>
          <a:xfrm>
            <a:off x="0" y="0"/>
            <a:ext cx="12192000" cy="57150"/>
          </a:xfrm>
          <a:prstGeom prst="rect">
            <a:avLst/>
          </a:prstGeom>
          <a:solidFill>
            <a:schemeClr val="accent2"/>
          </a:solidFill>
          <a:ln>
            <a:noFill/>
          </a:ln>
        </p:spPr>
      </p:sp>
      <p:sp>
        <p:nvSpPr>
          <p:cNvPr id="4" name="TextBox 4"/>
          <p:cNvSpPr txBox="1"/>
          <p:nvPr/>
        </p:nvSpPr>
        <p:spPr>
          <a:xfrm>
            <a:off x="661035" y="450056"/>
            <a:ext cx="930244"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TAKEAWAY</a:t>
            </a:r>
          </a:p>
        </p:txBody>
      </p:sp>
      <p:sp>
        <p:nvSpPr>
          <p:cNvPr id="5" name="TextBox 5"/>
          <p:cNvSpPr txBox="1"/>
          <p:nvPr/>
        </p:nvSpPr>
        <p:spPr>
          <a:xfrm>
            <a:off x="634746" y="715328"/>
            <a:ext cx="323925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Weight, Don’t Cut</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sp>
      <p:grpSp>
        <p:nvGrpSpPr>
          <p:cNvPr id="11" name="Group 11"/>
          <p:cNvGrpSpPr/>
          <p:nvPr/>
        </p:nvGrpSpPr>
        <p:grpSpPr>
          <a:xfrm>
            <a:off x="571500" y="1390650"/>
            <a:ext cx="10953750" cy="1238250"/>
            <a:chOff x="571500" y="1390650"/>
            <a:chExt cx="10953750" cy="1238250"/>
          </a:xfrm>
        </p:grpSpPr>
        <p:sp>
          <p:nvSpPr>
            <p:cNvPr id="7" name="Rectangle 7"/>
            <p:cNvSpPr/>
            <p:nvPr/>
          </p:nvSpPr>
          <p:spPr>
            <a:xfrm>
              <a:off x="571500" y="1390650"/>
              <a:ext cx="10953750" cy="1238250"/>
            </a:xfrm>
            <a:prstGeom prst="roundRect">
              <a:avLst>
                <a:gd name="adj" fmla="val 10769"/>
              </a:avLst>
            </a:prstGeom>
            <a:solidFill>
              <a:schemeClr val="accent1"/>
            </a:solidFill>
            <a:ln>
              <a:noFill/>
            </a:ln>
          </p:spPr>
        </p:sp>
        <p:sp>
          <p:nvSpPr>
            <p:cNvPr id="8" name="TextBox 8"/>
            <p:cNvSpPr txBox="1"/>
            <p:nvPr/>
          </p:nvSpPr>
          <p:spPr>
            <a:xfrm>
              <a:off x="858774" y="1570672"/>
              <a:ext cx="571479" cy="674751"/>
            </a:xfrm>
            <a:prstGeom prst="rect">
              <a:avLst/>
            </a:prstGeom>
            <a:noFill/>
            <a:ln>
              <a:noFill/>
            </a:ln>
          </p:spPr>
          <p:txBody>
            <a:bodyPr wrap="none" lIns="0" tIns="0" rIns="0" bIns="0" anchor="t" anchorCtr="0">
              <a:spAutoFit/>
            </a:bodyPr>
            <a:lstStyle/>
            <a:p>
              <a:pPr algn="l"/>
              <a:r>
                <a:rPr lang="en-US" sz="3450" b="1" dirty="0">
                  <a:solidFill>
                    <a:srgbClr val="FBBF24"/>
                  </a:solidFill>
                  <a:latin typeface="+mn-lt"/>
                  <a:ea typeface="+mn-ea"/>
                  <a:cs typeface="+mn-cs"/>
                </a:rPr>
                <a:t>01</a:t>
              </a:r>
            </a:p>
          </p:txBody>
        </p:sp>
        <p:sp>
          <p:nvSpPr>
            <p:cNvPr id="9" name="TextBox 9"/>
            <p:cNvSpPr txBox="1"/>
            <p:nvPr/>
          </p:nvSpPr>
          <p:spPr>
            <a:xfrm>
              <a:off x="1723644" y="1656398"/>
              <a:ext cx="8656937" cy="381381"/>
            </a:xfrm>
            <a:prstGeom prst="rect">
              <a:avLst/>
            </a:prstGeom>
            <a:noFill/>
            <a:ln>
              <a:noFill/>
            </a:ln>
          </p:spPr>
          <p:txBody>
            <a:bodyPr wrap="none" lIns="0" tIns="0" rIns="0" bIns="0" anchor="t" anchorCtr="0">
              <a:spAutoFit/>
            </a:bodyPr>
            <a:lstStyle/>
            <a:p>
              <a:pPr algn="l"/>
              <a:r>
                <a:rPr lang="en-US" sz="1950" b="1" dirty="0">
                  <a:solidFill>
                    <a:srgbClr val="FFFFFF"/>
                  </a:solidFill>
                  <a:latin typeface="+mn-lt"/>
                  <a:ea typeface="+mn-ea"/>
                  <a:cs typeface="+mn-cs"/>
                </a:rPr>
                <a:t>You don’t need to cut a table down to answer questions about it</a:t>
              </a:r>
            </a:p>
          </p:txBody>
        </p:sp>
        <p:sp>
          <p:nvSpPr>
            <p:cNvPr id="10" name="TextBox 10"/>
            <p:cNvSpPr txBox="1"/>
            <p:nvPr/>
          </p:nvSpPr>
          <p:spPr>
            <a:xfrm>
              <a:off x="1727073" y="2072164"/>
              <a:ext cx="6135763" cy="249364"/>
            </a:xfrm>
            <a:prstGeom prst="rect">
              <a:avLst/>
            </a:prstGeom>
            <a:noFill/>
            <a:ln>
              <a:noFill/>
            </a:ln>
          </p:spPr>
          <p:txBody>
            <a:bodyPr wrap="none" lIns="0" tIns="0" rIns="0" bIns="0" anchor="t" anchorCtr="0">
              <a:spAutoFit/>
            </a:bodyPr>
            <a:lstStyle/>
            <a:p>
              <a:pPr algn="l"/>
              <a:r>
                <a:rPr lang="en-US" sz="1280" dirty="0">
                  <a:solidFill>
                    <a:srgbClr val="BFD0E8"/>
                  </a:solidFill>
                  <a:latin typeface="+mn-lt"/>
                  <a:ea typeface="+mn-ea"/>
                  <a:cs typeface="+mn-cs"/>
                </a:rPr>
                <a:t>Hard decomposition risks discarding the very cells that hold the answer.</a:t>
              </a:r>
            </a:p>
          </p:txBody>
        </p:sp>
      </p:grpSp>
      <p:grpSp>
        <p:nvGrpSpPr>
          <p:cNvPr id="16" name="Group 16"/>
          <p:cNvGrpSpPr/>
          <p:nvPr/>
        </p:nvGrpSpPr>
        <p:grpSpPr>
          <a:xfrm>
            <a:off x="571500" y="2781300"/>
            <a:ext cx="10953750" cy="1238250"/>
            <a:chOff x="571500" y="2781300"/>
            <a:chExt cx="10953750" cy="1238250"/>
          </a:xfrm>
        </p:grpSpPr>
        <p:sp>
          <p:nvSpPr>
            <p:cNvPr id="12" name="Rectangle 12"/>
            <p:cNvSpPr/>
            <p:nvPr/>
          </p:nvSpPr>
          <p:spPr>
            <a:xfrm>
              <a:off x="571500" y="2781300"/>
              <a:ext cx="10953750" cy="1238250"/>
            </a:xfrm>
            <a:prstGeom prst="roundRect">
              <a:avLst>
                <a:gd name="adj" fmla="val 10769"/>
              </a:avLst>
            </a:prstGeom>
            <a:solidFill>
              <a:schemeClr val="lt2"/>
            </a:solidFill>
            <a:ln w="14288">
              <a:solidFill>
                <a:schemeClr val="accent4"/>
              </a:solidFill>
            </a:ln>
          </p:spPr>
        </p:sp>
        <p:sp>
          <p:nvSpPr>
            <p:cNvPr id="13" name="TextBox 13"/>
            <p:cNvSpPr txBox="1"/>
            <p:nvPr/>
          </p:nvSpPr>
          <p:spPr>
            <a:xfrm>
              <a:off x="858774" y="2961322"/>
              <a:ext cx="571479" cy="674751"/>
            </a:xfrm>
            <a:prstGeom prst="rect">
              <a:avLst/>
            </a:prstGeom>
            <a:noFill/>
            <a:ln>
              <a:noFill/>
            </a:ln>
          </p:spPr>
          <p:txBody>
            <a:bodyPr wrap="none" lIns="0" tIns="0" rIns="0" bIns="0" anchor="t" anchorCtr="0">
              <a:spAutoFit/>
            </a:bodyPr>
            <a:lstStyle/>
            <a:p>
              <a:pPr algn="l"/>
              <a:r>
                <a:rPr lang="en-US" sz="3450" b="1" dirty="0">
                  <a:solidFill>
                    <a:schemeClr val="accent2"/>
                  </a:solidFill>
                  <a:latin typeface="+mn-lt"/>
                  <a:ea typeface="+mn-ea"/>
                  <a:cs typeface="+mn-cs"/>
                </a:rPr>
                <a:t>02</a:t>
              </a:r>
            </a:p>
          </p:txBody>
        </p:sp>
        <p:sp>
          <p:nvSpPr>
            <p:cNvPr id="14" name="TextBox 14"/>
            <p:cNvSpPr txBox="1"/>
            <p:nvPr/>
          </p:nvSpPr>
          <p:spPr>
            <a:xfrm>
              <a:off x="1723644" y="3047048"/>
              <a:ext cx="6078769"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Softly weight every cell by learned relevance</a:t>
              </a:r>
            </a:p>
          </p:txBody>
        </p:sp>
        <p:sp>
          <p:nvSpPr>
            <p:cNvPr id="15" name="TextBox 15"/>
            <p:cNvSpPr txBox="1"/>
            <p:nvPr/>
          </p:nvSpPr>
          <p:spPr>
            <a:xfrm>
              <a:off x="1727073" y="3462814"/>
              <a:ext cx="7523111"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The model keeps full access to the whole table while being steered toward what matters.</a:t>
              </a:r>
            </a:p>
          </p:txBody>
        </p:sp>
      </p:grpSp>
      <p:grpSp>
        <p:nvGrpSpPr>
          <p:cNvPr id="21" name="Group 21"/>
          <p:cNvGrpSpPr/>
          <p:nvPr/>
        </p:nvGrpSpPr>
        <p:grpSpPr>
          <a:xfrm>
            <a:off x="571500" y="4171950"/>
            <a:ext cx="10953750" cy="1238250"/>
            <a:chOff x="571500" y="4171950"/>
            <a:chExt cx="10953750" cy="1238250"/>
          </a:xfrm>
        </p:grpSpPr>
        <p:sp>
          <p:nvSpPr>
            <p:cNvPr id="17" name="Rectangle 17"/>
            <p:cNvSpPr/>
            <p:nvPr/>
          </p:nvSpPr>
          <p:spPr>
            <a:xfrm>
              <a:off x="571500" y="4171950"/>
              <a:ext cx="10953750" cy="1238250"/>
            </a:xfrm>
            <a:prstGeom prst="roundRect">
              <a:avLst>
                <a:gd name="adj" fmla="val 10769"/>
              </a:avLst>
            </a:prstGeom>
            <a:solidFill>
              <a:schemeClr val="lt2"/>
            </a:solidFill>
            <a:ln w="14288">
              <a:solidFill>
                <a:schemeClr val="accent4"/>
              </a:solidFill>
            </a:ln>
          </p:spPr>
        </p:sp>
        <p:sp>
          <p:nvSpPr>
            <p:cNvPr id="18" name="TextBox 18"/>
            <p:cNvSpPr txBox="1"/>
            <p:nvPr/>
          </p:nvSpPr>
          <p:spPr>
            <a:xfrm>
              <a:off x="858774" y="4351972"/>
              <a:ext cx="571479" cy="674751"/>
            </a:xfrm>
            <a:prstGeom prst="rect">
              <a:avLst/>
            </a:prstGeom>
            <a:noFill/>
            <a:ln>
              <a:noFill/>
            </a:ln>
          </p:spPr>
          <p:txBody>
            <a:bodyPr wrap="none" lIns="0" tIns="0" rIns="0" bIns="0" anchor="t" anchorCtr="0">
              <a:spAutoFit/>
            </a:bodyPr>
            <a:lstStyle/>
            <a:p>
              <a:pPr algn="l"/>
              <a:r>
                <a:rPr lang="en-US" sz="3450" b="1" dirty="0">
                  <a:solidFill>
                    <a:schemeClr val="accent3"/>
                  </a:solidFill>
                  <a:latin typeface="+mn-lt"/>
                  <a:ea typeface="+mn-ea"/>
                  <a:cs typeface="+mn-cs"/>
                </a:rPr>
                <a:t>03</a:t>
              </a:r>
            </a:p>
          </p:txBody>
        </p:sp>
        <p:sp>
          <p:nvSpPr>
            <p:cNvPr id="19" name="TextBox 19"/>
            <p:cNvSpPr txBox="1"/>
            <p:nvPr/>
          </p:nvSpPr>
          <p:spPr>
            <a:xfrm>
              <a:off x="1723644" y="4437698"/>
              <a:ext cx="7291527"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Differentiable scorer + weakly-supervised highlighter</a:t>
              </a:r>
            </a:p>
          </p:txBody>
        </p:sp>
        <p:sp>
          <p:nvSpPr>
            <p:cNvPr id="20" name="TextBox 20"/>
            <p:cNvSpPr txBox="1"/>
            <p:nvPr/>
          </p:nvSpPr>
          <p:spPr>
            <a:xfrm>
              <a:off x="1727073" y="4853464"/>
              <a:ext cx="8489055"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More accurate and more robust than removal-based methods — new SoTA with a compact 560M model.</a:t>
              </a:r>
            </a:p>
          </p:txBody>
        </p:sp>
      </p:grpSp>
      <p:sp>
        <p:nvSpPr>
          <p:cNvPr id="22" name="Rectangle 22"/>
          <p:cNvSpPr/>
          <p:nvPr/>
        </p:nvSpPr>
        <p:spPr>
          <a:xfrm>
            <a:off x="571500" y="5562600"/>
            <a:ext cx="10953750" cy="819150"/>
          </a:xfrm>
          <a:prstGeom prst="roundRect">
            <a:avLst>
              <a:gd name="adj" fmla="val 16279"/>
            </a:avLst>
          </a:prstGeom>
          <a:solidFill>
            <a:schemeClr val="accent1"/>
          </a:solidFill>
          <a:ln>
            <a:noFill/>
          </a:ln>
        </p:spPr>
      </p:sp>
      <p:pic>
        <p:nvPicPr>
          <p:cNvPr id="23" name="Image 23"/>
          <p:cNvPicPr>
            <a:picLocks noChangeAspect="1"/>
          </p:cNvPicPr>
          <p:nvPr/>
        </p:nvPicPr>
        <p:blipFill>
          <a:blip r:embed="rId2"/>
          <a:stretch>
            <a:fillRect/>
          </a:stretch>
        </p:blipFill>
        <p:spPr>
          <a:xfrm>
            <a:off x="781050" y="5715000"/>
            <a:ext cx="514350" cy="514350"/>
          </a:xfrm>
          <a:prstGeom prst="rect">
            <a:avLst/>
          </a:prstGeom>
        </p:spPr>
      </p:pic>
      <p:sp>
        <p:nvSpPr>
          <p:cNvPr id="24" name="TextBox 24"/>
          <p:cNvSpPr txBox="1"/>
          <p:nvPr/>
        </p:nvSpPr>
        <p:spPr>
          <a:xfrm>
            <a:off x="1422654" y="5795010"/>
            <a:ext cx="1053389"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Code &amp; paper</a:t>
            </a:r>
          </a:p>
        </p:txBody>
      </p:sp>
      <p:sp>
        <p:nvSpPr>
          <p:cNvPr id="25" name="TextBox 25"/>
          <p:cNvSpPr txBox="1"/>
          <p:nvPr/>
        </p:nvSpPr>
        <p:spPr>
          <a:xfrm>
            <a:off x="1423416" y="6039802"/>
            <a:ext cx="4897282" cy="205359"/>
          </a:xfrm>
          <a:prstGeom prst="rect">
            <a:avLst/>
          </a:prstGeom>
          <a:noFill/>
          <a:ln>
            <a:noFill/>
          </a:ln>
        </p:spPr>
        <p:txBody>
          <a:bodyPr wrap="none" lIns="0" tIns="0" rIns="0" bIns="0" anchor="t" anchorCtr="0">
            <a:spAutoFit/>
          </a:bodyPr>
          <a:lstStyle/>
          <a:p>
            <a:pPr algn="l"/>
            <a:r>
              <a:rPr lang="en-US" sz="1050" dirty="0">
                <a:solidFill>
                  <a:srgbClr val="BFD0E8"/>
                </a:solidFill>
                <a:latin typeface="+mn-lt"/>
                <a:ea typeface="+mn-ea"/>
                <a:cs typeface="+mn-cs"/>
              </a:rPr>
              <a:t>github.com/Sohanpatnaik106/CABINET_QA · arxiv.org/abs/2402.01155</a:t>
            </a:r>
          </a:p>
        </p:txBody>
      </p:sp>
      <p:sp>
        <p:nvSpPr>
          <p:cNvPr id="26" name="TextBox 26"/>
          <p:cNvSpPr txBox="1"/>
          <p:nvPr/>
        </p:nvSpPr>
        <p:spPr>
          <a:xfrm>
            <a:off x="8022462" y="5778818"/>
            <a:ext cx="3300096" cy="264033"/>
          </a:xfrm>
          <a:prstGeom prst="rect">
            <a:avLst/>
          </a:prstGeom>
          <a:noFill/>
          <a:ln>
            <a:noFill/>
          </a:ln>
        </p:spPr>
        <p:txBody>
          <a:bodyPr wrap="none" lIns="0" tIns="0" rIns="0" bIns="0" anchor="t" anchorCtr="0">
            <a:spAutoFit/>
          </a:bodyPr>
          <a:lstStyle/>
          <a:p>
            <a:pPr algn="r"/>
            <a:r>
              <a:rPr lang="en-US" sz="1350" b="1" dirty="0">
                <a:solidFill>
                  <a:srgbClr val="FBBF24"/>
                </a:solidFill>
                <a:latin typeface="+mn-lt"/>
                <a:ea typeface="+mn-ea"/>
                <a:cs typeface="+mn-cs"/>
              </a:rPr>
              <a:t>New SoTA on 3 table QA benchmarks</a:t>
            </a:r>
          </a:p>
        </p:txBody>
      </p:sp>
      <p:sp>
        <p:nvSpPr>
          <p:cNvPr id="27" name="TextBox 27"/>
          <p:cNvSpPr txBox="1"/>
          <p:nvPr/>
        </p:nvSpPr>
        <p:spPr>
          <a:xfrm>
            <a:off x="6961861" y="6039802"/>
            <a:ext cx="4359173" cy="205359"/>
          </a:xfrm>
          <a:prstGeom prst="rect">
            <a:avLst/>
          </a:prstGeom>
          <a:noFill/>
          <a:ln>
            <a:noFill/>
          </a:ln>
        </p:spPr>
        <p:txBody>
          <a:bodyPr wrap="none" lIns="0" tIns="0" rIns="0" bIns="0" anchor="t" anchorCtr="0">
            <a:spAutoFit/>
          </a:bodyPr>
          <a:lstStyle/>
          <a:p>
            <a:pPr algn="r"/>
            <a:r>
              <a:rPr lang="en-US" sz="1050" dirty="0">
                <a:solidFill>
                  <a:srgbClr val="BFD0E8"/>
                </a:solidFill>
                <a:latin typeface="+mn-lt"/>
                <a:ea typeface="+mn-ea"/>
                <a:cs typeface="+mn-cs"/>
              </a:rPr>
              <a:t>CABINET · ICLR 2024 · Adobe MDSR × IIT Kharagpur × IIT Roorkee</a:t>
            </a:r>
          </a:p>
        </p:txBody>
      </p:sp>
      <p:sp>
        <p:nvSpPr>
          <p:cNvPr id="28" name="TextBox 28"/>
          <p:cNvSpPr txBox="1"/>
          <p:nvPr/>
        </p:nvSpPr>
        <p:spPr>
          <a:xfrm>
            <a:off x="11078340" y="66003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10 / 10</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abinet_video">
  <a:themeElements>
    <a:clrScheme name="cabinet_video">
      <a:dk1>
        <a:srgbClr val="0F172A"/>
      </a:dk1>
      <a:lt1>
        <a:srgbClr val="FFFFFF"/>
      </a:lt1>
      <a:dk2>
        <a:srgbClr val="52627A"/>
      </a:dk2>
      <a:lt2>
        <a:srgbClr val="F5F8FC"/>
      </a:lt2>
      <a:accent1>
        <a:srgbClr val="16305B"/>
      </a:accent1>
      <a:accent2>
        <a:srgbClr val="F59E0B"/>
      </a:accent2>
      <a:accent3>
        <a:srgbClr val="0F766E"/>
      </a:accent3>
      <a:accent4>
        <a:srgbClr val="DCE3ED"/>
      </a:accent4>
      <a:accent5>
        <a:srgbClr val="DC2626"/>
      </a:accent5>
      <a:accent6>
        <a:srgbClr val="15803D"/>
      </a:accent6>
      <a:hlink>
        <a:srgbClr val="F59E0B"/>
      </a:hlink>
      <a:folHlink>
        <a:srgbClr val="0F766E"/>
      </a:folHlink>
    </a:clrScheme>
    <a:fontScheme name="cabinet_video">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abinet_vide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abinet_video">
  <a:themeElements>
    <a:clrScheme name="cabinet_video">
      <a:dk1>
        <a:srgbClr val="0F172A"/>
      </a:dk1>
      <a:lt1>
        <a:srgbClr val="FFFFFF"/>
      </a:lt1>
      <a:dk2>
        <a:srgbClr val="52627A"/>
      </a:dk2>
      <a:lt2>
        <a:srgbClr val="F5F8FC"/>
      </a:lt2>
      <a:accent1>
        <a:srgbClr val="16305B"/>
      </a:accent1>
      <a:accent2>
        <a:srgbClr val="F59E0B"/>
      </a:accent2>
      <a:accent3>
        <a:srgbClr val="0F766E"/>
      </a:accent3>
      <a:accent4>
        <a:srgbClr val="DCE3ED"/>
      </a:accent4>
      <a:accent5>
        <a:srgbClr val="DC2626"/>
      </a:accent5>
      <a:accent6>
        <a:srgbClr val="15803D"/>
      </a:accent6>
      <a:hlink>
        <a:srgbClr val="F59E0B"/>
      </a:hlink>
      <a:folHlink>
        <a:srgbClr val="0F766E"/>
      </a:folHlink>
    </a:clrScheme>
    <a:fontScheme name="cabinet_video">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abinet_vide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2026-07-15T03:33:08Z</dcterms:created>
  <dcterms:modified xsi:type="dcterms:W3CDTF">2026-07-15T03:33:08Z</dcterms:modified>
  <cp:category/>
  <cp:contentStatus/>
</cp:coreProperties>
</file>
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nfinitygan_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nfinitygan_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d2c8258025137ea.png"/><Relationship Id="rId3" Type="http://schemas.openxmlformats.org/officeDocument/2006/relationships/image" Target="../media/image_5b71adf30c837ee7.png"/><Relationship Id="rId4" Type="http://schemas.openxmlformats.org/officeDocument/2006/relationships/image" Target="../media/image_81b1f7858eb3eabf.png"/><Relationship Id="rId5" Type="http://schemas.openxmlformats.org/officeDocument/2006/relationships/image" Target="../media/image_50ed4e9ad962f769.png"/><Relationship Id="rId6" Type="http://schemas.openxmlformats.org/officeDocument/2006/relationships/image" Target="../media/image_facef3f6998d3c53.png"/><Relationship Id="rId7" Type="http://schemas.openxmlformats.org/officeDocument/2006/relationships/image" Target="../media/image_7cf05f8e5dd2558f.png"/><Relationship Id="rId8" Type="http://schemas.openxmlformats.org/officeDocument/2006/relationships/image" Target="../media/image_b282266759e9c7dd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f8991d5d3fabde4f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5066c079544f01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fe418e60c1b64bd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4647" y="666750"/>
            <a:ext cx="4718547" cy="447389"/>
            <a:chOff x="604647" y="666750"/>
            <a:chExt cx="4718547" cy="447389"/>
          </a:xfrm>
        </p:grpSpPr>
        <p:sp>
          <p:nvSpPr>
            <p:cNvPr id="5" name="Rectangle 5"/>
            <p:cNvSpPr/>
            <p:nvPr/>
          </p:nvSpPr>
          <p:spPr>
            <a:xfrm>
              <a:off x="609600" y="666750"/>
              <a:ext cx="609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4647" y="923449"/>
              <a:ext cx="47185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PAPER · DEEP READ · ICLR 2022 · arXiv:2104.03963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381125"/>
            <a:ext cx="6621294" cy="1504664"/>
            <a:chOff x="590550" y="1381125"/>
            <a:chExt cx="6621294" cy="1504664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1381125"/>
              <a:ext cx="387770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InfinityGAN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2053590"/>
              <a:ext cx="4983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i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Towards Infinite-Pixel Image Synthesis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469356"/>
              <a:ext cx="66079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Chieh Hubert Lin · Hsin-Ying Lee · Yen-Chi Cheng · Sergey Tulyakov · Ming-Hsuan Yang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647" y="2695099"/>
              <a:ext cx="5711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UC Merced · Snap Inc. · Carnegie Mellon University · Yonsei University · Google Research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3105150"/>
            <a:ext cx="5905500" cy="933450"/>
            <a:chOff x="609600" y="3105150"/>
            <a:chExt cx="5905500" cy="933450"/>
          </a:xfrm>
        </p:grpSpPr>
        <p:sp>
          <p:nvSpPr>
            <p:cNvPr id="13" name="Rectangle 13"/>
            <p:cNvSpPr/>
            <p:nvPr/>
          </p:nvSpPr>
          <p:spPr>
            <a:xfrm>
              <a:off x="609600" y="3105150"/>
              <a:ext cx="5905500" cy="933450"/>
            </a:xfrm>
            <a:prstGeom prst="roundRect">
              <a:avLst>
                <a:gd name="adj" fmla="val 10204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09600" y="3105150"/>
              <a:ext cx="57150" cy="933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247" y="3304699"/>
              <a:ext cx="113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3514725"/>
              <a:ext cx="4276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Images of arbitrary, even infinite size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3783806"/>
              <a:ext cx="462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while training only on small patches, on a single consumer GPU.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4171950"/>
            <a:ext cx="5905500" cy="933450"/>
            <a:chOff x="609600" y="4171950"/>
            <a:chExt cx="5905500" cy="933450"/>
          </a:xfrm>
        </p:grpSpPr>
        <p:sp>
          <p:nvSpPr>
            <p:cNvPr id="19" name="Rectangle 19"/>
            <p:cNvSpPr/>
            <p:nvPr/>
          </p:nvSpPr>
          <p:spPr>
            <a:xfrm>
              <a:off x="609600" y="4171950"/>
              <a:ext cx="5905500" cy="933450"/>
            </a:xfrm>
            <a:prstGeom prst="roundRect">
              <a:avLst>
                <a:gd name="adj" fmla="val 10204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09600" y="4171950"/>
              <a:ext cx="57150" cy="9334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247" y="4371499"/>
              <a:ext cx="758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WALL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81525"/>
              <a:ext cx="3748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Existing high-resolution GANs fail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485" y="4850606"/>
              <a:ext cx="513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compute, memory, and training data all scale with output resolution.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238750"/>
            <a:ext cx="6853311" cy="1009650"/>
            <a:chOff x="609600" y="5238750"/>
            <a:chExt cx="6853311" cy="1009650"/>
          </a:xfrm>
        </p:grpSpPr>
        <p:sp>
          <p:nvSpPr>
            <p:cNvPr id="25" name="Rectangle 25"/>
            <p:cNvSpPr/>
            <p:nvPr/>
          </p:nvSpPr>
          <p:spPr>
            <a:xfrm>
              <a:off x="609600" y="5238750"/>
              <a:ext cx="5905500" cy="1009650"/>
            </a:xfrm>
            <a:prstGeom prst="roundRect">
              <a:avLst>
                <a:gd name="adj" fmla="val 9434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609600" y="5238750"/>
              <a:ext cx="57150" cy="1009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3247" y="5438299"/>
              <a:ext cx="6922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IDEA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0580" y="5648325"/>
              <a:ext cx="6338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Disentangle global appearance · local structure · texture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485" y="5917406"/>
              <a:ext cx="6630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generate any region patch-by-patch from continuous coordinates — seamless, unbounded.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15150" y="914400"/>
            <a:ext cx="4667250" cy="4514850"/>
            <a:chOff x="6915150" y="914400"/>
            <a:chExt cx="4667250" cy="4514850"/>
          </a:xfrm>
        </p:grpSpPr>
        <p:sp>
          <p:nvSpPr>
            <p:cNvPr id="31" name="Rectangle 31"/>
            <p:cNvSpPr/>
            <p:nvPr/>
          </p:nvSpPr>
          <p:spPr>
            <a:xfrm>
              <a:off x="6915150" y="914400"/>
              <a:ext cx="4667250" cy="4514850"/>
            </a:xfrm>
            <a:prstGeom prst="roundRect">
              <a:avLst>
                <a:gd name="adj" fmla="val 253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6009" r="0" b="6009"/>
            <a:stretch>
              <a:fillRect/>
            </a:stretch>
          </p:blipFill>
          <p:spPr>
            <a:xfrm>
              <a:off x="7029450" y="1028700"/>
              <a:ext cx="4438650" cy="3905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368329" y="5114449"/>
              <a:ext cx="3760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Synthesis at extended size — globally consistent landscape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915150" y="5619750"/>
            <a:ext cx="3635424" cy="628650"/>
            <a:chOff x="6915150" y="5619750"/>
            <a:chExt cx="3635424" cy="628650"/>
          </a:xfrm>
        </p:grpSpPr>
        <p:sp>
          <p:nvSpPr>
            <p:cNvPr id="35" name="Rectangle 35"/>
            <p:cNvSpPr/>
            <p:nvPr/>
          </p:nvSpPr>
          <p:spPr>
            <a:xfrm>
              <a:off x="6915150" y="561975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1350" y="5638800"/>
              <a:ext cx="590550" cy="5905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672388" y="577024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72388" y="59497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github.com/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72388" y="6083141"/>
              <a:ext cx="6166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hubert0527</a:t>
              </a:r>
            </a:p>
          </p:txBody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1734" y="5676900"/>
              <a:ext cx="224433" cy="247650"/>
            </a:xfrm>
            <a:prstGeom prst="rect">
              <a:avLst/>
            </a:prstGeom>
          </p:spPr>
        </p:pic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000" y="5718347"/>
              <a:ext cx="666750" cy="164757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85325" y="5715000"/>
              <a:ext cx="565249" cy="171450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96300" y="6059390"/>
              <a:ext cx="819150" cy="73220"/>
            </a:xfrm>
            <a:prstGeom prst="rect">
              <a:avLst/>
            </a:prstGeom>
          </p:spPr>
        </p:pic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48800" y="6027968"/>
              <a:ext cx="590550" cy="117013"/>
            </a:xfrm>
            <a:prstGeom prst="rect">
              <a:avLst/>
            </a:prstGeom>
          </p:spPr>
        </p:pic>
      </p:grpSp>
      <p:sp>
        <p:nvSpPr>
          <p:cNvPr id="46" name="TextBox 46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47" name="cue_s01_c1_infinitygan_asks_bold_question_synth" title="cue_s01_c1_infinitygan_asks_bold_question_synth" descr="cue_s01_c1_infinitygan_asks_bold_question_synth InfinityGAN asks a bold question: can a model synthesize images of arbitrary, even infinite size, while training only on small patches on a single consumer GPU?"/>
          <p:cNvSpPr/>
          <p:nvPr/>
        </p:nvSpPr>
        <p:spPr>
          <a:xfrm>
            <a:off x="609600" y="3105302"/>
            <a:ext cx="5905804" cy="9333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1_c2_existing_high_resolution_gans_fail_b" title="cue_s01_c2_existing_high_resolution_gans_fail_b" descr="cue_s01_c2_existing_high_resolution_gans_fail_b Existing high-resolution GANs fail because compute, memory, and data all scale with output resolution."/>
          <p:cNvSpPr/>
          <p:nvPr/>
        </p:nvSpPr>
        <p:spPr>
          <a:xfrm>
            <a:off x="609600" y="4171721"/>
            <a:ext cx="5905804" cy="9333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1_c3_infinitygan_breaks_coupling_disentan" title="cue_s01_c3_infinitygan_breaks_coupling_disentan" descr="cue_s01_c3_infinitygan_breaks_coupling_disentan InfinityGAN breaks that coupling, disentangling an image into global appearance, local structure, and fine texture, and generating any region patch-by-patch from continuous coordinates, seamless, globally consistent, and unbounded in size."/>
          <p:cNvSpPr/>
          <p:nvPr/>
        </p:nvSpPr>
        <p:spPr>
          <a:xfrm>
            <a:off x="609600" y="5238826"/>
            <a:ext cx="5905804" cy="10094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7697140" cy="675989"/>
            <a:chOff x="609600" y="533400"/>
            <a:chExt cx="7697140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74814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Every gain in resolution comes at a cost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57910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PROBLEM · GENERATION IS LOCKED TO A FIXED OUTPUT RESOLUTION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428750"/>
            <a:ext cx="10972800" cy="1123950"/>
            <a:chOff x="609600" y="1428750"/>
            <a:chExt cx="10972800" cy="11239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1123950"/>
            </a:xfrm>
            <a:prstGeom prst="roundRect">
              <a:avLst>
                <a:gd name="adj" fmla="val 847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57250" y="178117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7572" y="18954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39418" y="1688782"/>
              <a:ext cx="47417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Progress keeps getting more expensive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1704" y="2023110"/>
              <a:ext cx="7351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Modern generative models keep improving in resolution and detail — but every gain costs more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1704" y="2251710"/>
              <a:ext cx="6861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training time, a bigger model, and large field-of-view images that are hard to collect.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724150"/>
            <a:ext cx="5353050" cy="1123950"/>
            <a:chOff x="609600" y="2724150"/>
            <a:chExt cx="5353050" cy="1123950"/>
          </a:xfrm>
        </p:grpSpPr>
        <p:sp>
          <p:nvSpPr>
            <p:cNvPr id="14" name="Rectangle 14"/>
            <p:cNvSpPr/>
            <p:nvPr/>
          </p:nvSpPr>
          <p:spPr>
            <a:xfrm>
              <a:off x="609600" y="2724150"/>
              <a:ext cx="5353050" cy="1123950"/>
            </a:xfrm>
            <a:prstGeom prst="roundRect">
              <a:avLst>
                <a:gd name="adj" fmla="val 847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09600" y="272415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57250" y="307657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7572" y="31908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39418" y="2984182"/>
              <a:ext cx="29916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Locked to one resolution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1704" y="3318510"/>
              <a:ext cx="2804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Existing generators are tied to the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1704" y="3547110"/>
              <a:ext cx="2661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exact resolution they trained at.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29350" y="2724150"/>
            <a:ext cx="5353050" cy="1123950"/>
            <a:chOff x="6229350" y="2724150"/>
            <a:chExt cx="5353050" cy="1123950"/>
          </a:xfrm>
        </p:grpSpPr>
        <p:sp>
          <p:nvSpPr>
            <p:cNvPr id="22" name="Rectangle 22"/>
            <p:cNvSpPr/>
            <p:nvPr/>
          </p:nvSpPr>
          <p:spPr>
            <a:xfrm>
              <a:off x="6229350" y="2724150"/>
              <a:ext cx="5353050" cy="1123950"/>
            </a:xfrm>
            <a:prstGeom prst="roundRect">
              <a:avLst>
                <a:gd name="adj" fmla="val 847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229350" y="272415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77000" y="3076575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17322" y="31908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9168" y="2984182"/>
              <a:ext cx="3005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Push larger — it explodes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1454" y="3318510"/>
              <a:ext cx="2263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Compute and memory explode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61454" y="354711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quadratically; global structure falls apart.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019550"/>
            <a:ext cx="10972800" cy="1066800"/>
            <a:chOff x="609600" y="4019550"/>
            <a:chExt cx="10972800" cy="1066800"/>
          </a:xfrm>
        </p:grpSpPr>
        <p:sp>
          <p:nvSpPr>
            <p:cNvPr id="30" name="Rectangle 30"/>
            <p:cNvSpPr/>
            <p:nvPr/>
          </p:nvSpPr>
          <p:spPr>
            <a:xfrm>
              <a:off x="609600" y="4019550"/>
              <a:ext cx="10972800" cy="1066800"/>
            </a:xfrm>
            <a:prstGeom prst="roundRect">
              <a:avLst>
                <a:gd name="adj" fmla="val 8929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609600" y="4019550"/>
              <a:ext cx="57150" cy="10668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9447" y="4257199"/>
              <a:ext cx="758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GOAL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256" y="4472940"/>
              <a:ext cx="9621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Escape the coupling entirely — synthesize arbitrary, even infinite images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304" y="4804410"/>
              <a:ext cx="4285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from finite-sized training data, on modest hardware.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37" name="cue_s02_c1_modern_generative_models_keep_improv" title="cue_s02_c1_modern_generative_models_keep_improv" descr="cue_s02_c1_modern_generative_models_keep_improv Modern generative models keep improving in resolution and detail, but every gain costs more training time, a bigger model, and large field-of-view images that are hard to collect."/>
          <p:cNvSpPr/>
          <p:nvPr/>
        </p:nvSpPr>
        <p:spPr>
          <a:xfrm>
            <a:off x="609600" y="1428521"/>
            <a:ext cx="10972800" cy="11240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2_c2_worse_existing_generators_locked_the" title="cue_s02_c2_worse_existing_generators_locked_the" descr="cue_s02_c2_worse_existing_generators_locked_the Worse, existing generators are locked to their training resolution."/>
          <p:cNvSpPr/>
          <p:nvPr/>
        </p:nvSpPr>
        <p:spPr>
          <a:xfrm>
            <a:off x="609600" y="2723997"/>
            <a:ext cx="5353507" cy="11240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2_c3_push_them_larger_compute_memory" title="cue_s02_c3_push_them_larger_compute_memory" descr="cue_s02_c3_push_them_larger_compute_memory Push them larger, and compute and memory explode quadratically while global structure falls apart."/>
          <p:cNvSpPr/>
          <p:nvPr/>
        </p:nvSpPr>
        <p:spPr>
          <a:xfrm>
            <a:off x="6228892" y="2723997"/>
            <a:ext cx="5353507" cy="11240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2_c4_infinitygan_asks_how_escape_coupling" title="cue_s02_c4_infinitygan_asks_how_escape_coupling" descr="cue_s02_c4_infinitygan_asks_how_escape_coupling InfinityGAN asks how to escape this coupling and synthesize arbitrary, even infinite images from finite data on modest hardware."/>
          <p:cNvSpPr/>
          <p:nvPr/>
        </p:nvSpPr>
        <p:spPr>
          <a:xfrm>
            <a:off x="609600" y="4019473"/>
            <a:ext cx="10972800" cy="10671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9505089" cy="675989"/>
            <a:chOff x="609600" y="533400"/>
            <a:chExt cx="9505089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92894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hidden culprit: zero-padding encodes position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56640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MOTIVATION · WHY EXISTING GENERATORS BREAK WHEN ASKED TO GROW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390650"/>
            <a:ext cx="10972800" cy="1869757"/>
            <a:chOff x="609600" y="1390650"/>
            <a:chExt cx="10972800" cy="1869757"/>
          </a:xfrm>
        </p:grpSpPr>
        <p:sp>
          <p:nvSpPr>
            <p:cNvPr id="6" name="Rectangle 6"/>
            <p:cNvSpPr/>
            <p:nvPr/>
          </p:nvSpPr>
          <p:spPr>
            <a:xfrm>
              <a:off x="609600" y="1390650"/>
              <a:ext cx="10972800" cy="18669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6500" y="1485900"/>
              <a:ext cx="4779000" cy="15430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497868" y="3084195"/>
              <a:ext cx="7196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Fig. 1 · Conventional padding produces inconsistent pixels; a padding-free design keeps neighbouring patches consistent.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3390900"/>
            <a:ext cx="5353050" cy="1336834"/>
            <a:chOff x="609600" y="3390900"/>
            <a:chExt cx="5353050" cy="1336834"/>
          </a:xfrm>
        </p:grpSpPr>
        <p:sp>
          <p:nvSpPr>
            <p:cNvPr id="10" name="Rectangle 10"/>
            <p:cNvSpPr/>
            <p:nvPr/>
          </p:nvSpPr>
          <p:spPr>
            <a:xfrm>
              <a:off x="609600" y="3390900"/>
              <a:ext cx="5353050" cy="13335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33909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3571399"/>
              <a:ext cx="9136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INSIGHT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3781425"/>
              <a:ext cx="3715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Padding secretly encodes position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4088606"/>
              <a:ext cx="3474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Generators like StyleGAN2 rely on zero-padding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4298156"/>
              <a:ext cx="3170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the image borders to encode where each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45077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feature sits in the frame.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9350" y="3390900"/>
            <a:ext cx="5353050" cy="1336834"/>
            <a:chOff x="6229350" y="3390900"/>
            <a:chExt cx="5353050" cy="1336834"/>
          </a:xfrm>
        </p:grpSpPr>
        <p:sp>
          <p:nvSpPr>
            <p:cNvPr id="18" name="Rectangle 18"/>
            <p:cNvSpPr/>
            <p:nvPr/>
          </p:nvSpPr>
          <p:spPr>
            <a:xfrm>
              <a:off x="6229350" y="3390900"/>
              <a:ext cx="5353050" cy="13335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6229350" y="33909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52997" y="3571399"/>
              <a:ext cx="12502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DURING TRAINING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0330" y="3781425"/>
              <a:ext cx="311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pattern gets memorized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2235" y="4088606"/>
              <a:ext cx="2948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padding pattern is fixed throughout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2235" y="4298156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training, so the network memorizes it as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2235" y="4507706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its only cue to position.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4857750"/>
            <a:ext cx="5353050" cy="1390650"/>
            <a:chOff x="609600" y="4857750"/>
            <a:chExt cx="5353050" cy="1390650"/>
          </a:xfrm>
        </p:grpSpPr>
        <p:sp>
          <p:nvSpPr>
            <p:cNvPr id="26" name="Rectangle 26"/>
            <p:cNvSpPr/>
            <p:nvPr/>
          </p:nvSpPr>
          <p:spPr>
            <a:xfrm>
              <a:off x="609600" y="4857750"/>
              <a:ext cx="5353050" cy="1390650"/>
            </a:xfrm>
            <a:prstGeom prst="roundRect">
              <a:avLst>
                <a:gd name="adj" fmla="val 684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609600" y="4857750"/>
              <a:ext cx="57150" cy="13906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3247" y="5038249"/>
              <a:ext cx="1016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WHAT BREAKS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248275"/>
              <a:ext cx="3773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Grow it and the center falls apart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5555456"/>
              <a:ext cx="3529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larger image changes the feature size, so the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5765006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padding-derived position shifts — the center no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974556"/>
              <a:ext cx="3916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longer gets sensible position, giving broken content.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29350" y="4857750"/>
            <a:ext cx="5353050" cy="1390650"/>
            <a:chOff x="6229350" y="4857750"/>
            <a:chExt cx="5353050" cy="1390650"/>
          </a:xfrm>
        </p:grpSpPr>
        <p:sp>
          <p:nvSpPr>
            <p:cNvPr id="34" name="Rectangle 34"/>
            <p:cNvSpPr/>
            <p:nvPr/>
          </p:nvSpPr>
          <p:spPr>
            <a:xfrm>
              <a:off x="6229350" y="4857750"/>
              <a:ext cx="5353050" cy="1390650"/>
            </a:xfrm>
            <a:prstGeom prst="roundRect">
              <a:avLst>
                <a:gd name="adj" fmla="val 6849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6229350" y="4857750"/>
              <a:ext cx="57150" cy="1390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52997" y="5038249"/>
              <a:ext cx="13820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REQUIREMENT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0330" y="5248275"/>
              <a:ext cx="3157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Position that never runs out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2235" y="5555456"/>
              <a:ext cx="29635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Truly infinite synthesis needs positional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2235" y="5765006"/>
              <a:ext cx="36073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information valid infinitely far from any border,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2235" y="5974556"/>
              <a:ext cx="2838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plus patches that combine seamlessly.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43" name="cue_s03_c1_why_existing_models_fail_when" title="cue_s03_c1_why_existing_models_fail_when" descr="cue_s03_c1_why_existing_models_fail_when Why do existing models fail when asked to grow? The insight: generators like StyleGAN2 secretly rely on zero-padding at the borders to encode position."/>
          <p:cNvSpPr/>
          <p:nvPr/>
        </p:nvSpPr>
        <p:spPr>
          <a:xfrm>
            <a:off x="609600" y="3390595"/>
            <a:ext cx="5353507" cy="133662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3_c2_during_padding_pattern_fixed_network" title="cue_s03_c2_during_padding_pattern_fixed_network" descr="cue_s03_c2_during_padding_pattern_fixed_network During training the padding pattern is fixed, so the network memorizes it."/>
          <p:cNvSpPr/>
          <p:nvPr/>
        </p:nvSpPr>
        <p:spPr>
          <a:xfrm>
            <a:off x="6228892" y="3390595"/>
            <a:ext cx="5353507" cy="133662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3_c3_but_synthesize_larger_image_feature" title="cue_s03_c3_but_synthesize_larger_image_feature" descr="cue_s03_c3_but_synthesize_larger_image_feature But synthesize a larger image, and the feature size changes, the padding-derived position shifts, and the image center no longer gets sensible positional information, producing repetitive, broken content."/>
          <p:cNvSpPr/>
          <p:nvPr/>
        </p:nvSpPr>
        <p:spPr>
          <a:xfrm>
            <a:off x="609600" y="4857521"/>
            <a:ext cx="5353507" cy="13908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3_c4_truly_infinite_synthesis_needs_posit" title="cue_s03_c4_truly_infinite_synthesis_needs_posit" descr="cue_s03_c4_truly_infinite_synthesis_needs_posit Truly infinite synthesis needs position valid infinitely far from any border, plus patches that combine seamlessly."/>
          <p:cNvSpPr/>
          <p:nvPr/>
        </p:nvSpPr>
        <p:spPr>
          <a:xfrm>
            <a:off x="6228892" y="4857521"/>
            <a:ext cx="5353507" cy="13908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8054657" cy="675989"/>
            <a:chOff x="609600" y="533400"/>
            <a:chExt cx="8054657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78390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Four building blocks for infinite synthesis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38917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CONTRIBUTIONS · WHAT INFINITYGAN INTRODUCES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390650"/>
            <a:ext cx="5353050" cy="1676400"/>
            <a:chOff x="609600" y="1390650"/>
            <a:chExt cx="5353050" cy="1676400"/>
          </a:xfrm>
        </p:grpSpPr>
        <p:sp>
          <p:nvSpPr>
            <p:cNvPr id="6" name="Rectangle 6"/>
            <p:cNvSpPr/>
            <p:nvPr/>
          </p:nvSpPr>
          <p:spPr>
            <a:xfrm>
              <a:off x="609600" y="1390650"/>
              <a:ext cx="5353050" cy="1676400"/>
            </a:xfrm>
            <a:prstGeom prst="roundRect">
              <a:avLst>
                <a:gd name="adj" fmla="val 56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390650"/>
              <a:ext cx="57150" cy="1676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76300" y="1600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04495" y="17116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2649" y="1677829"/>
              <a:ext cx="290982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Disentangled formulation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137410"/>
              <a:ext cx="3498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Reframe image generation as disentangling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2366010"/>
              <a:ext cx="3792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global holistic appearance, local structure, and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2594610"/>
              <a:ext cx="3848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fine texture — each with a dedicated component.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29350" y="1390650"/>
            <a:ext cx="5353050" cy="1676400"/>
            <a:chOff x="6229350" y="1390650"/>
            <a:chExt cx="5353050" cy="1676400"/>
          </a:xfrm>
        </p:grpSpPr>
        <p:sp>
          <p:nvSpPr>
            <p:cNvPr id="15" name="Rectangle 15"/>
            <p:cNvSpPr/>
            <p:nvPr/>
          </p:nvSpPr>
          <p:spPr>
            <a:xfrm>
              <a:off x="6229350" y="1390650"/>
              <a:ext cx="5353050" cy="1676400"/>
            </a:xfrm>
            <a:prstGeom prst="roundRect">
              <a:avLst>
                <a:gd name="adj" fmla="val 56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229350" y="1390650"/>
              <a:ext cx="57150" cy="1676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96050" y="16002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4245" y="17116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02399" y="1677829"/>
              <a:ext cx="265147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Structure synthesizer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51854" y="2137410"/>
              <a:ext cx="36600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neural implicit function driven by continuous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51854" y="236601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coordinates, so any sub-region of the image can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1854" y="2594610"/>
              <a:ext cx="1587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 queried directly.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295650"/>
            <a:ext cx="5353050" cy="1676400"/>
            <a:chOff x="609600" y="3295650"/>
            <a:chExt cx="535305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09600" y="3295650"/>
              <a:ext cx="5353050" cy="1676400"/>
            </a:xfrm>
            <a:prstGeom prst="roundRect">
              <a:avLst>
                <a:gd name="adj" fmla="val 56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609600" y="3295650"/>
              <a:ext cx="57150" cy="1676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6300" y="35052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4495" y="36166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2649" y="3582829"/>
              <a:ext cx="27826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Padding-free generator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104" y="4042410"/>
              <a:ext cx="32403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Remove all zero-padding, letting patches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271010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synthesize independently yet combine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104" y="44996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seamlessly into one image.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29350" y="3295650"/>
            <a:ext cx="5353050" cy="1676400"/>
            <a:chOff x="6229350" y="3295650"/>
            <a:chExt cx="5353050" cy="1676400"/>
          </a:xfrm>
        </p:grpSpPr>
        <p:sp>
          <p:nvSpPr>
            <p:cNvPr id="33" name="Rectangle 33"/>
            <p:cNvSpPr/>
            <p:nvPr/>
          </p:nvSpPr>
          <p:spPr>
            <a:xfrm>
              <a:off x="6229350" y="3295650"/>
              <a:ext cx="5353050" cy="1676400"/>
            </a:xfrm>
            <a:prstGeom prst="roundRect">
              <a:avLst>
                <a:gd name="adj" fmla="val 568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6229350" y="3295650"/>
              <a:ext cx="57150" cy="16764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496050" y="3505200"/>
              <a:ext cx="381000" cy="381000"/>
            </a:xfrm>
            <a:prstGeom prst="ellipse">
              <a:avLst/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4245" y="36166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2399" y="3582829"/>
              <a:ext cx="22964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Scale-invariant FID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1854" y="4042410"/>
              <a:ext cx="3773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new metric to evaluate synthesis at sizes for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1854" y="4271010"/>
              <a:ext cx="3000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which no real reference images exist.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5162550"/>
            <a:ext cx="10972800" cy="1085850"/>
            <a:chOff x="609600" y="5162550"/>
            <a:chExt cx="109728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09600" y="5162550"/>
              <a:ext cx="10972800" cy="1085850"/>
            </a:xfrm>
            <a:prstGeom prst="roundRect">
              <a:avLst>
                <a:gd name="adj" fmla="val 8772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162550"/>
              <a:ext cx="57150" cy="1085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9447" y="5400199"/>
              <a:ext cx="40260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AND FINALLY · APPLICATIONS THE DESIGN UNLOCKS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6018" y="5651182"/>
              <a:ext cx="9473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Spatial style fusion · multi-modal outpainting · arbitrary-length inbetweening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685" y="5974556"/>
              <a:ext cx="662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One framework, many capabilities that fixed-resolution generators simply cannot offer.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48" name="cue_s04_c1_infinitygan_makes_five_contributions" title="cue_s04_c1_infinitygan_makes_five_contributions" descr="cue_s04_c1_infinitygan_makes_five_contributions InfinityGAN makes five contributions. First, it reframes generation as disentangling global appearance, local structure, and fine texture, each with a dedicated component."/>
          <p:cNvSpPr/>
          <p:nvPr/>
        </p:nvSpPr>
        <p:spPr>
          <a:xfrm>
            <a:off x="609600" y="1390802"/>
            <a:ext cx="5353507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4_c2_second_structure_synthesizer_built_n" title="cue_s04_c2_second_structure_synthesizer_built_n" descr="cue_s04_c2_second_structure_synthesizer_built_n Second, a structure synthesizer built as a neural implicit function driven by continuous coordinates, so any sub-region can be queried directly."/>
          <p:cNvSpPr/>
          <p:nvPr/>
        </p:nvSpPr>
        <p:spPr>
          <a:xfrm>
            <a:off x="6228892" y="1390802"/>
            <a:ext cx="5353507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4_c3_third_padding_free_generator_removin" title="cue_s04_c3_third_padding_free_generator_removin" descr="cue_s04_c3_third_padding_free_generator_removin Third, a padding-free generator removing all zero-padding, letting patches synthesize independently yet combine seamlessly."/>
          <p:cNvSpPr/>
          <p:nvPr/>
        </p:nvSpPr>
        <p:spPr>
          <a:xfrm>
            <a:off x="609600" y="3295954"/>
            <a:ext cx="5353507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4_c4_fourth_scale_invariant_fid_metric_si" title="cue_s04_c4_fourth_scale_invariant_fid_metric_si" descr="cue_s04_c4_fourth_scale_invariant_fid_metric_si Fourth, a scale-invariant FID metric for sizes where no real reference images exist. Finally, applications the design unlocks, from spatial style fusion to outpainting."/>
          <p:cNvSpPr/>
          <p:nvPr/>
        </p:nvSpPr>
        <p:spPr>
          <a:xfrm>
            <a:off x="6228892" y="3295954"/>
            <a:ext cx="5353507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95300"/>
            <a:ext cx="10862120" cy="637889"/>
            <a:chOff x="609600" y="495300"/>
            <a:chExt cx="10862120" cy="637889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57150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6008" y="521970"/>
              <a:ext cx="106457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modules: structure synthesizer + padding-free texture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2924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METHOD · GENERATOR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200150"/>
            <a:ext cx="10972800" cy="1869757"/>
            <a:chOff x="609600" y="1200150"/>
            <a:chExt cx="10972800" cy="1869757"/>
          </a:xfrm>
        </p:grpSpPr>
        <p:sp>
          <p:nvSpPr>
            <p:cNvPr id="6" name="Rectangle 6"/>
            <p:cNvSpPr/>
            <p:nvPr/>
          </p:nvSpPr>
          <p:spPr>
            <a:xfrm>
              <a:off x="609600" y="1200150"/>
              <a:ext cx="10972800" cy="18669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5031" y="1295400"/>
              <a:ext cx="4781939" cy="15621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345418" y="2893695"/>
              <a:ext cx="750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Overview · a structure synthesizer (neural implicit function) feeds a fully-convolutional, padding-free texture synthesizer.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3181350"/>
            <a:ext cx="5353050" cy="1489234"/>
            <a:chOff x="609600" y="3181350"/>
            <a:chExt cx="5353050" cy="1489234"/>
          </a:xfrm>
        </p:grpSpPr>
        <p:sp>
          <p:nvSpPr>
            <p:cNvPr id="10" name="Rectangle 10"/>
            <p:cNvSpPr/>
            <p:nvPr/>
          </p:nvSpPr>
          <p:spPr>
            <a:xfrm>
              <a:off x="609600" y="318135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31813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3342799"/>
              <a:ext cx="18832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STRUCTURE SYNTHESIZER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3541871"/>
              <a:ext cx="26366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neural implicit function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485" y="3821906"/>
              <a:ext cx="37556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Takes a global latent for scene appearance, a local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4031456"/>
              <a:ext cx="33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latent tensor for variation, and a continuous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4241006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coordinate grid — outputs a structural latent for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445055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any requested region.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29350" y="3181350"/>
            <a:ext cx="5353050" cy="1489234"/>
            <a:chOff x="6229350" y="3181350"/>
            <a:chExt cx="5353050" cy="1489234"/>
          </a:xfrm>
        </p:grpSpPr>
        <p:sp>
          <p:nvSpPr>
            <p:cNvPr id="19" name="Rectangle 19"/>
            <p:cNvSpPr/>
            <p:nvPr/>
          </p:nvSpPr>
          <p:spPr>
            <a:xfrm>
              <a:off x="6229350" y="318135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229350" y="31813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2997" y="3342799"/>
              <a:ext cx="17478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COORDINATE ENCODING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711" y="3541871"/>
              <a:ext cx="25092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Queryable infinitely far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2235" y="3821906"/>
              <a:ext cx="31671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Sine-cosine horizontally exploits landscape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2235" y="4031456"/>
              <a:ext cx="3449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self-similarity; a tanh vertically captures the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2235" y="4241006"/>
              <a:ext cx="3366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ground-to-sky gradient — so it can be queried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2235" y="4450556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infinitely far from the origin.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724400"/>
            <a:ext cx="5353050" cy="1524000"/>
            <a:chOff x="609600" y="4724400"/>
            <a:chExt cx="5353050" cy="1524000"/>
          </a:xfrm>
        </p:grpSpPr>
        <p:sp>
          <p:nvSpPr>
            <p:cNvPr id="28" name="Rectangle 28"/>
            <p:cNvSpPr/>
            <p:nvPr/>
          </p:nvSpPr>
          <p:spPr>
            <a:xfrm>
              <a:off x="609600" y="4724400"/>
              <a:ext cx="5353050" cy="15240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09600" y="47244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247" y="4885849"/>
              <a:ext cx="1696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TEXTURE SYNTHESIZER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0961" y="5084921"/>
              <a:ext cx="2557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Padding-free StyleGAN2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364956"/>
              <a:ext cx="2892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fully-convolutional StyleGAN2 with all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574506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zero-padding removed — turns the structural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485" y="5784056"/>
              <a:ext cx="3253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latent, global style, and noise into a patch.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866" y="6039802"/>
              <a:ext cx="485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Losses: adversarial · R1 · path-length · diversity · coord-regression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29350" y="4724400"/>
            <a:ext cx="5353050" cy="1524000"/>
            <a:chOff x="6229350" y="4724400"/>
            <a:chExt cx="5353050" cy="1524000"/>
          </a:xfrm>
        </p:grpSpPr>
        <p:sp>
          <p:nvSpPr>
            <p:cNvPr id="37" name="Rectangle 37"/>
            <p:cNvSpPr/>
            <p:nvPr/>
          </p:nvSpPr>
          <p:spPr>
            <a:xfrm>
              <a:off x="6229350" y="4724400"/>
              <a:ext cx="5353050" cy="1524000"/>
            </a:xfrm>
            <a:prstGeom prst="roundRect">
              <a:avLst>
                <a:gd name="adj" fmla="val 625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229350" y="47244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2997" y="4885849"/>
              <a:ext cx="999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IT TILES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711" y="5084921"/>
              <a:ext cx="2860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Consistent by construction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2235" y="5364956"/>
              <a:ext cx="32959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no padding, the same coordinate always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2235" y="5574506"/>
              <a:ext cx="296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yields identical pixels — so independently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2235" y="5784056"/>
              <a:ext cx="3064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generated patches tile seamlessly into an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2235" y="5993606"/>
              <a:ext cx="3373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arbitrarily large image, at constant memory.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47" name="cue_s05_c1_infinitygan_generator_two_modules_st" title="cue_s05_c1_infinitygan_generator_two_modules_st" descr="cue_s05_c1_infinitygan_generator_two_modules_st InfinityGAN's generator has two modules. The structure synthesizer is a neural implicit function: it takes a global latent for scene appearance, a local latent tensor for variation, and a continuous coordinate grid, and outputs a structural latent for any regi"/>
          <p:cNvSpPr/>
          <p:nvPr/>
        </p:nvSpPr>
        <p:spPr>
          <a:xfrm>
            <a:off x="609600" y="3181426"/>
            <a:ext cx="5353507" cy="148955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5_c2_coordinates_sine_cosine_horizontally" title="cue_s05_c2_coordinates_sine_cosine_horizontally" descr="cue_s05_c2_coordinates_sine_cosine_horizontally Coordinates use sine-cosine horizontally to exploit landscape self-similarity and a tanh vertically for the ground-to-sky gradient, so it can be queried infinitely far from the origin."/>
          <p:cNvSpPr/>
          <p:nvPr/>
        </p:nvSpPr>
        <p:spPr>
          <a:xfrm>
            <a:off x="6228892" y="3181426"/>
            <a:ext cx="5353507" cy="148955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5_c3_texture_synthesizer_fully_convolutio" title="cue_s05_c3_texture_synthesizer_fully_convolutio" descr="cue_s05_c3_texture_synthesizer_fully_convolutio The texture synthesizer is a fully-convolutional StyleGAN2 with all zero-padding removed, turning the structural latent, global style, and noise into a patch."/>
          <p:cNvSpPr/>
          <p:nvPr/>
        </p:nvSpPr>
        <p:spPr>
          <a:xfrm>
            <a:off x="609600" y="4724476"/>
            <a:ext cx="5353507" cy="15238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5_c4_padding_same_coordinate_always_yield" title="cue_s05_c4_padding_same_coordinate_always_yield" descr="cue_s05_c4_padding_same_coordinate_always_yield With no padding, the same coordinate always yields identical pixels, so independent patches tile seamlessly at constant memory. Training combines adversarial, R1, path-length, diversity, and vertical-coordinate regression losses."/>
          <p:cNvSpPr/>
          <p:nvPr/>
        </p:nvSpPr>
        <p:spPr>
          <a:xfrm>
            <a:off x="6228892" y="4724476"/>
            <a:ext cx="5353507" cy="15238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7353585" cy="675989"/>
            <a:chOff x="609600" y="533400"/>
            <a:chExt cx="7353585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7137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Big benchmarks, tiny training patches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46325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DATASETS &amp; BENCHMARK · TRAINED ON ONE CONSUMER GPU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562100"/>
            <a:ext cx="3505200" cy="3390900"/>
            <a:chOff x="609600" y="1562100"/>
            <a:chExt cx="3505200" cy="339090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350520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5621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952149"/>
              <a:ext cx="1016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NEW DATASET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2167890"/>
              <a:ext cx="2313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Flickr-Landscape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874" y="2770822"/>
              <a:ext cx="141154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450K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304" y="3280410"/>
              <a:ext cx="2338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high-quality landscape images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685" y="3783806"/>
              <a:ext cx="2350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Crawled from Flickr to evaluate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685" y="3993356"/>
              <a:ext cx="2687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synthesis at extended output sizes,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4202906"/>
              <a:ext cx="2612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far beyond the training resolution.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43400" y="1562100"/>
            <a:ext cx="3505200" cy="3390900"/>
            <a:chOff x="4343400" y="1562100"/>
            <a:chExt cx="3505200" cy="3390900"/>
          </a:xfrm>
        </p:grpSpPr>
        <p:sp>
          <p:nvSpPr>
            <p:cNvPr id="16" name="Rectangle 16"/>
            <p:cNvSpPr/>
            <p:nvPr/>
          </p:nvSpPr>
          <p:spPr>
            <a:xfrm>
              <a:off x="4343400" y="1562100"/>
              <a:ext cx="350520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4343400" y="15621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43247" y="1952149"/>
              <a:ext cx="1345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 OUTPAINTING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9056" y="2167890"/>
              <a:ext cx="2201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Scenery subsets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4484" y="2718435"/>
              <a:ext cx="135815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62,500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2485" y="3136106"/>
              <a:ext cx="1886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Places365 scenery images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4484" y="3442335"/>
              <a:ext cx="15799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~54,000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2485" y="3860006"/>
              <a:ext cx="1641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Flickr-Scenery images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2485" y="4317206"/>
              <a:ext cx="2650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Paired with In&amp;Out for outpainting.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77200" y="1562100"/>
            <a:ext cx="3505200" cy="3390900"/>
            <a:chOff x="8077200" y="1562100"/>
            <a:chExt cx="3505200" cy="3390900"/>
          </a:xfrm>
        </p:grpSpPr>
        <p:sp>
          <p:nvSpPr>
            <p:cNvPr id="26" name="Rectangle 26"/>
            <p:cNvSpPr/>
            <p:nvPr/>
          </p:nvSpPr>
          <p:spPr>
            <a:xfrm>
              <a:off x="8077200" y="1562100"/>
              <a:ext cx="3505200" cy="3390900"/>
            </a:xfrm>
            <a:prstGeom prst="roundRect">
              <a:avLst>
                <a:gd name="adj" fmla="val 3371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8077200" y="15621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7047" y="1952149"/>
              <a:ext cx="1725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REMARKABLE PART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72856" y="2167890"/>
              <a:ext cx="31158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Trained on tiny patches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5998" y="2803208"/>
              <a:ext cx="18432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101×101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5904" y="3280410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pixel patches (from 197px images)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6285" y="3783806"/>
              <a:ext cx="251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Training and inference at ANY size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6285" y="3993356"/>
              <a:ext cx="2399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run on a single GTX TITAN X GPU 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6285" y="4202906"/>
              <a:ext cx="263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one consumer card, any resolution.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5219700"/>
            <a:ext cx="10972800" cy="914400"/>
            <a:chOff x="609600" y="5219700"/>
            <a:chExt cx="10972800" cy="914400"/>
          </a:xfrm>
        </p:grpSpPr>
        <p:sp>
          <p:nvSpPr>
            <p:cNvPr id="36" name="Rectangle 36"/>
            <p:cNvSpPr/>
            <p:nvPr/>
          </p:nvSpPr>
          <p:spPr>
            <a:xfrm>
              <a:off x="609600" y="5219700"/>
              <a:ext cx="10972800" cy="914400"/>
            </a:xfrm>
            <a:prstGeom prst="roundRect">
              <a:avLst>
                <a:gd name="adj" fmla="val 1041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52197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9447" y="5476399"/>
              <a:ext cx="16199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HEADLINE SETUP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6018" y="5689282"/>
              <a:ext cx="9537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Train small, synthesize huge — the same patch model scales to any output size.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42" name="cue_s06_c1_authors_introduce_flickr_landscape_f" title="cue_s06_c1_authors_introduce_flickr_landscape_f" descr="cue_s06_c1_authors_introduce_flickr_landscape_f The authors introduce Flickr-Landscape, four hundred fifty thousand high-quality landscape images crawled from Flickr, to evaluate synthesis at extended sizes."/>
          <p:cNvSpPr/>
          <p:nvPr/>
        </p:nvSpPr>
        <p:spPr>
          <a:xfrm>
            <a:off x="609600" y="1562252"/>
            <a:ext cx="3505199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6_c2_outpainting_they_scenery_subsets_pla" title="cue_s06_c2_outpainting_they_scenery_subsets_pla" descr="cue_s06_c2_outpainting_they_scenery_subsets_pla For outpainting they use scenery subsets of Places365, sixty-two thousand five hundred images, and Flickr-Scenery, about fifty-four thousand."/>
          <p:cNvSpPr/>
          <p:nvPr/>
        </p:nvSpPr>
        <p:spPr>
          <a:xfrm>
            <a:off x="4344009" y="1562252"/>
            <a:ext cx="3505199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6_c3_remarkably_every_infinitygan_trains" title="cue_s06_c3_remarkably_every_infinitygan_trains" descr="cue_s06_c3_remarkably_every_infinitygan_trains Remarkably, every InfinityGAN model trains on tiny one-hundred-one-pixel patches, and both training and any-size inference run on a single GTX TITAN X GPU."/>
          <p:cNvSpPr/>
          <p:nvPr/>
        </p:nvSpPr>
        <p:spPr>
          <a:xfrm>
            <a:off x="8077200" y="1562252"/>
            <a:ext cx="3505199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6364284" cy="675989"/>
            <a:chOff x="609600" y="533400"/>
            <a:chExt cx="6364284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61486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Quality holds as the image grows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6134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KEY RESULT · FLICKR-LANDSCAPE, SCALE-INVARIANT FID (LOWER IS BETTER)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428750"/>
            <a:ext cx="5353050" cy="4095750"/>
            <a:chOff x="609600" y="1428750"/>
            <a:chExt cx="5353050" cy="4095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53050" cy="4095750"/>
            </a:xfrm>
            <a:prstGeom prst="roundRect">
              <a:avLst>
                <a:gd name="adj" fmla="val 279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06399" y="1639729"/>
              <a:ext cx="3809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Scale-invariant FID vs extension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962150"/>
              <a:ext cx="1524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8997" y="1961674"/>
              <a:ext cx="7235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InfinityGAN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171700" y="1962150"/>
              <a:ext cx="152400" cy="114300"/>
            </a:xfrm>
            <a:prstGeom prst="rect">
              <a:avLst/>
            </a:prstGeom>
            <a:solidFill>
              <a:srgbClr val="93A2B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76297" y="1961674"/>
              <a:ext cx="10350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StyleGAN2 (NCI)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066800" y="49530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4181475"/>
              <a:ext cx="628650" cy="771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4429" y="3959542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61.4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152650" y="3943350"/>
              <a:ext cx="628650" cy="1009650"/>
            </a:xfrm>
            <a:prstGeom prst="rect">
              <a:avLst/>
            </a:prstGeom>
            <a:solidFill>
              <a:srgbClr val="93A2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238329" y="3721418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79.8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6455" y="50601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4× extension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33800" y="3429000"/>
              <a:ext cx="628650" cy="152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4926" y="32070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121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457700" y="2571750"/>
              <a:ext cx="628650" cy="2381250"/>
            </a:xfrm>
            <a:prstGeom prst="rect">
              <a:avLst/>
            </a:prstGeom>
            <a:solidFill>
              <a:srgbClr val="93A2B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98826" y="234981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>189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21505" y="5060156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8× extension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066" y="5315902"/>
              <a:ext cx="4706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Beyond 4× extension, InfinityGAN surpasses the strongest baseline.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29350" y="1428750"/>
            <a:ext cx="5353050" cy="1355884"/>
            <a:chOff x="6229350" y="1428750"/>
            <a:chExt cx="5353050" cy="1355884"/>
          </a:xfrm>
        </p:grpSpPr>
        <p:sp>
          <p:nvSpPr>
            <p:cNvPr id="25" name="Rectangle 25"/>
            <p:cNvSpPr/>
            <p:nvPr/>
          </p:nvSpPr>
          <p:spPr>
            <a:xfrm>
              <a:off x="6229350" y="1428750"/>
              <a:ext cx="5353050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6229350" y="1428750"/>
              <a:ext cx="57150" cy="12858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2997" y="1628299"/>
              <a:ext cx="11094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STEADY SLOPE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1838325"/>
              <a:ext cx="3022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Graceful, not catastrophic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2235" y="2145506"/>
              <a:ext cx="3559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On Flickr-Landscape, InfinityGAN holds a steady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2235" y="2355056"/>
              <a:ext cx="3441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quality slope as output grows — while baselines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2235" y="2564606"/>
              <a:ext cx="3109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drift far from realistic global structure.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29350" y="2867025"/>
            <a:ext cx="5353050" cy="1355884"/>
            <a:chOff x="6229350" y="2867025"/>
            <a:chExt cx="5353050" cy="1355884"/>
          </a:xfrm>
        </p:grpSpPr>
        <p:sp>
          <p:nvSpPr>
            <p:cNvPr id="33" name="Rectangle 33"/>
            <p:cNvSpPr/>
            <p:nvPr/>
          </p:nvSpPr>
          <p:spPr>
            <a:xfrm>
              <a:off x="6229350" y="2867025"/>
              <a:ext cx="5353050" cy="1285875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6229350" y="2867025"/>
              <a:ext cx="57150" cy="1285875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52997" y="3066574"/>
              <a:ext cx="1477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CONSTANT MEMORY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0330" y="3276600"/>
              <a:ext cx="2285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Memory never grows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2235" y="3583781"/>
              <a:ext cx="3755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Memory stays constant regardless of output size,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2235" y="3793331"/>
              <a:ext cx="3146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while StyleGAN2 runs out of memory at the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2235" y="400288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16× setting.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29350" y="4305300"/>
            <a:ext cx="5353050" cy="1219200"/>
            <a:chOff x="6229350" y="4305300"/>
            <a:chExt cx="5353050" cy="1219200"/>
          </a:xfrm>
        </p:grpSpPr>
        <p:sp>
          <p:nvSpPr>
            <p:cNvPr id="41" name="Rectangle 41"/>
            <p:cNvSpPr/>
            <p:nvPr/>
          </p:nvSpPr>
          <p:spPr>
            <a:xfrm>
              <a:off x="6229350" y="4305300"/>
              <a:ext cx="5353050" cy="1219200"/>
            </a:xfrm>
            <a:prstGeom prst="roundRect">
              <a:avLst>
                <a:gd name="adj" fmla="val 78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6229350" y="430530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92974" y="4599622"/>
              <a:ext cx="1426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&gt; 90%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4785" y="5098256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human preference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2997" y="4581049"/>
              <a:ext cx="893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USER STUDY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24035" y="4736306"/>
              <a:ext cx="12822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of 50 CV-literate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24035" y="494585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participants preferred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24035" y="5155406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it over every method.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51" name="cue_s07_c1_flickr_landscape_benchmark_infinityg" title="cue_s07_c1_flickr_landscape_benchmark_infinityg" descr="cue_s07_c1_flickr_landscape_benchmark_infinityg On the Flickr-Landscape benchmark, InfinityGAN holds a steady quality slope as output grows, while baselines drift far from realistic structure."/>
          <p:cNvSpPr/>
          <p:nvPr/>
        </p:nvSpPr>
        <p:spPr>
          <a:xfrm>
            <a:off x="6228892" y="1428521"/>
            <a:ext cx="5353507" cy="1355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7_c2_beyond_four_times_extension_beats_st" title="cue_s07_c2_beyond_four_times_extension_beats_st" descr="cue_s07_c2_beyond_four_times_extension_beats_st Beyond four-times extension it beats the strongest baseline, scoring a scale-invariant FID of sixty-one point four at four-times versus seventy-nine point eight for StyleGAN2, and one twenty-one versus one eighty-nine at eight-times."/>
          <p:cNvSpPr/>
          <p:nvPr/>
        </p:nvSpPr>
        <p:spPr>
          <a:xfrm>
            <a:off x="609600" y="1428521"/>
            <a:ext cx="5353507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ue_s07_c3_its_memory_stays_constant_while" title="cue_s07_c3_its_memory_stays_constant_while" descr="cue_s07_c3_its_memory_stays_constant_while Its memory stays constant, while StyleGAN2 runs out of memory at sixteen-times."/>
          <p:cNvSpPr/>
          <p:nvPr/>
        </p:nvSpPr>
        <p:spPr>
          <a:xfrm>
            <a:off x="6228892" y="2867329"/>
            <a:ext cx="5353507" cy="13558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7_c4_over_ninety_percent_preferred_over" title="cue_s07_c4_over_ninety_percent_preferred_over" descr="cue_s07_c4_over_ninety_percent_preferred_over And over ninety percent preferred it over every method."/>
          <p:cNvSpPr/>
          <p:nvPr/>
        </p:nvSpPr>
        <p:spPr>
          <a:xfrm>
            <a:off x="6228892" y="4305452"/>
            <a:ext cx="5353507" cy="12193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6990805" cy="675989"/>
            <a:chOff x="609600" y="533400"/>
            <a:chExt cx="6990805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6775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Isolating where position comes from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39295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ABLATION · PADDING VERSUS IMPLICIT STRUCTURE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428750"/>
            <a:ext cx="10972800" cy="876300"/>
            <a:chOff x="609600" y="1428750"/>
            <a:chExt cx="10972800" cy="876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647349"/>
              <a:ext cx="113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018" y="1879282"/>
              <a:ext cx="95836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central ablation isolates exactly where positional information comes from.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590800"/>
            <a:ext cx="3390900" cy="3390900"/>
            <a:chOff x="609600" y="2590800"/>
            <a:chExt cx="3390900" cy="3390900"/>
          </a:xfrm>
        </p:grpSpPr>
        <p:sp>
          <p:nvSpPr>
            <p:cNvPr id="11" name="Rectangle 11"/>
            <p:cNvSpPr/>
            <p:nvPr/>
          </p:nvSpPr>
          <p:spPr>
            <a:xfrm>
              <a:off x="609600" y="2590800"/>
              <a:ext cx="339090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09600" y="2590800"/>
              <a:ext cx="3390900" cy="762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00100" y="2876550"/>
              <a:ext cx="381000" cy="3810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295" y="2987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7399" y="2954179"/>
              <a:ext cx="20145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Strip the padding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3451860"/>
              <a:ext cx="2124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Start from StyleGAN2 with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104" y="368046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non-constant input, then remove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104" y="3909060"/>
              <a:ext cx="13610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all zero-padding.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4347210"/>
              <a:ext cx="2126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result: a padding-free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4575810"/>
              <a:ext cx="2031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variant with no positional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104" y="4804410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cues at all.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866" y="5373052"/>
              <a:ext cx="1852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Position removed entirely.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021045" y="4057650"/>
            <a:ext cx="263709" cy="586740"/>
            <a:chOff x="4021045" y="4057650"/>
            <a:chExt cx="263709" cy="586740"/>
          </a:xfrm>
        </p:grpSpPr>
        <p:sp>
          <p:nvSpPr>
            <p:cNvPr id="24" name="TextBox 24"/>
            <p:cNvSpPr txBox="1"/>
            <p:nvPr/>
          </p:nvSpPr>
          <p:spPr>
            <a:xfrm>
              <a:off x="4021045" y="405765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305300" y="2590800"/>
            <a:ext cx="3390900" cy="3390900"/>
            <a:chOff x="4305300" y="2590800"/>
            <a:chExt cx="3390900" cy="3390900"/>
          </a:xfrm>
        </p:grpSpPr>
        <p:sp>
          <p:nvSpPr>
            <p:cNvPr id="26" name="Rectangle 26"/>
            <p:cNvSpPr/>
            <p:nvPr/>
          </p:nvSpPr>
          <p:spPr>
            <a:xfrm>
              <a:off x="4305300" y="2590800"/>
              <a:ext cx="339090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4305300" y="2590800"/>
              <a:ext cx="3390900" cy="762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495800" y="2876550"/>
              <a:ext cx="381000" cy="38100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23995" y="2987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3099" y="2954179"/>
              <a:ext cx="156522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It falls apart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7804" y="3451860"/>
              <a:ext cx="2529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 predicted, the model fails to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27804" y="3680460"/>
              <a:ext cx="2467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generate reasonable structure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7804" y="390906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degrades sharply across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27804" y="4137660"/>
              <a:ext cx="146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every FID setting.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27804" y="4575810"/>
              <a:ext cx="2246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confirms the generator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27804" y="4804410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leaned entirely on padding.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28566" y="5373052"/>
              <a:ext cx="177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Padding was the position.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16745" y="4057650"/>
            <a:ext cx="263709" cy="586740"/>
            <a:chOff x="7716745" y="4057650"/>
            <a:chExt cx="263709" cy="586740"/>
          </a:xfrm>
        </p:grpSpPr>
        <p:sp>
          <p:nvSpPr>
            <p:cNvPr id="39" name="TextBox 39"/>
            <p:cNvSpPr txBox="1"/>
            <p:nvPr/>
          </p:nvSpPr>
          <p:spPr>
            <a:xfrm>
              <a:off x="7716745" y="405765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›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01000" y="2590800"/>
            <a:ext cx="3390900" cy="3390900"/>
            <a:chOff x="8001000" y="2590800"/>
            <a:chExt cx="3390900" cy="3390900"/>
          </a:xfrm>
        </p:grpSpPr>
        <p:sp>
          <p:nvSpPr>
            <p:cNvPr id="41" name="Rectangle 41"/>
            <p:cNvSpPr/>
            <p:nvPr/>
          </p:nvSpPr>
          <p:spPr>
            <a:xfrm>
              <a:off x="8001000" y="2590800"/>
              <a:ext cx="3390900" cy="3390900"/>
            </a:xfrm>
            <a:prstGeom prst="roundRect">
              <a:avLst>
                <a:gd name="adj" fmla="val 3371"/>
              </a:avLst>
            </a:prstGeom>
            <a:solidFill>
              <a:schemeClr val="lt1"/>
            </a:solidFill>
            <a:ln w="14288">
              <a:solidFill>
                <a:srgbClr val="1F7A46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8001000" y="2590800"/>
              <a:ext cx="3390900" cy="762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191500" y="2876550"/>
              <a:ext cx="381000" cy="381000"/>
            </a:xfrm>
            <a:prstGeom prst="ellipse">
              <a:avLst/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19695" y="29879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78799" y="2954179"/>
              <a:ext cx="22638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Add structure back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3504" y="3451860"/>
              <a:ext cx="2521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Add the structure synthesizer,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3504" y="3680460"/>
              <a:ext cx="2168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position is now supplied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23504" y="3909060"/>
              <a:ext cx="2427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through the coordinate-driven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3504" y="41376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structural latent.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23504" y="4575810"/>
              <a:ext cx="22629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Generation quality returns 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23504" y="480441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validating the design.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4266" y="5373052"/>
              <a:ext cx="2404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Padding-free + implicit structure.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55" name="cue_s08_c1_central_ablation_isolates_where_posi" title="cue_s08_c1_central_ablation_isolates_where_posi" descr="cue_s08_c1_central_ablation_isolates_where_posi The central ablation isolates where positional information comes from."/>
          <p:cNvSpPr/>
          <p:nvPr/>
        </p:nvSpPr>
        <p:spPr>
          <a:xfrm>
            <a:off x="609600" y="1428521"/>
            <a:ext cx="10972800" cy="876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8_c2_starting_stylegan2_non_constant_inpu" title="cue_s08_c2_starting_stylegan2_non_constant_inpu" descr="cue_s08_c2_starting_stylegan2_non_constant_inpu Starting from StyleGAN2 with non-constant input, the authors strip out all zero-padding, creating a padding-free variant with no positional cues."/>
          <p:cNvSpPr/>
          <p:nvPr/>
        </p:nvSpPr>
        <p:spPr>
          <a:xfrm>
            <a:off x="609600" y="2590952"/>
            <a:ext cx="3390595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8_c3_fails_generate_reasonable_structure" title="cue_s08_c3_fails_generate_reasonable_structure" descr="cue_s08_c3_fails_generate_reasonable_structure It fails to generate reasonable structure and degrades sharply across every FID setting, confirming the original generator leaned entirely on padding for position."/>
          <p:cNvSpPr/>
          <p:nvPr/>
        </p:nvSpPr>
        <p:spPr>
          <a:xfrm>
            <a:off x="4304995" y="2590952"/>
            <a:ext cx="3390595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8_c4_add_structure_synthesizer_back_posit" title="cue_s08_c4_add_structure_synthesizer_back_posit" descr="cue_s08_c4_add_structure_synthesizer_back_posit Add the structure synthesizer back, and position is now supplied through the coordinate-driven structural latent, so quality returns, validating the design."/>
          <p:cNvSpPr/>
          <p:nvPr/>
        </p:nvSpPr>
        <p:spPr>
          <a:xfrm>
            <a:off x="8000390" y="2590952"/>
            <a:ext cx="3390595" cy="33905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755993" cy="675989"/>
            <a:chOff x="609600" y="533400"/>
            <a:chExt cx="5755993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39567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headline numbers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55323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RESULTS AT A GLANCE · QUALITY, PREFERENCE, SPEED, OUTPAINTING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28750"/>
            <a:ext cx="5353050" cy="2171700"/>
            <a:chOff x="609600" y="1428750"/>
            <a:chExt cx="5353050" cy="21717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53050" cy="2171700"/>
            </a:xfrm>
            <a:prstGeom prst="roundRect">
              <a:avLst>
                <a:gd name="adj" fmla="val 52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704499"/>
              <a:ext cx="31583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SCALE-INVARIANT FID (LOWER = BETTER)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5350" y="2105025"/>
              <a:ext cx="143267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61</a:t>
              </a:r>
              <a:r>
                <a:rPr lang="en-US" sz="195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 xml:space="preserve"> @ 4×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874" y="2789872"/>
              <a:ext cx="149011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121</a:t>
              </a:r>
              <a:r>
                <a:rPr lang="en-US" sz="180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 xml:space="preserve"> @ 8×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3345656"/>
              <a:ext cx="25268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Both beat the strongest baseline.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29350" y="1428750"/>
            <a:ext cx="5353050" cy="2171700"/>
            <a:chOff x="6229350" y="1428750"/>
            <a:chExt cx="5353050" cy="2171700"/>
          </a:xfrm>
        </p:grpSpPr>
        <p:sp>
          <p:nvSpPr>
            <p:cNvPr id="13" name="Rectangle 13"/>
            <p:cNvSpPr/>
            <p:nvPr/>
          </p:nvSpPr>
          <p:spPr>
            <a:xfrm>
              <a:off x="6229350" y="1428750"/>
              <a:ext cx="5353050" cy="2171700"/>
            </a:xfrm>
            <a:prstGeom prst="roundRect">
              <a:avLst>
                <a:gd name="adj" fmla="val 5263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229350" y="142875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29197" y="1704499"/>
              <a:ext cx="1482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HUMAN PREFERENCE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5100" y="2133600"/>
              <a:ext cx="245760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&gt; 90%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7673" y="3062764"/>
              <a:ext cx="3195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of participants preferred InfinityGAN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27673" y="3291364"/>
              <a:ext cx="21927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across every comparison.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810000"/>
            <a:ext cx="5353050" cy="2171700"/>
            <a:chOff x="609600" y="3810000"/>
            <a:chExt cx="5353050" cy="217170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5353050" cy="2171700"/>
            </a:xfrm>
            <a:prstGeom prst="roundRect">
              <a:avLst>
                <a:gd name="adj" fmla="val 52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609600" y="38100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9447" y="4085749"/>
              <a:ext cx="30431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INFERENCE SPEED · PARALLEL BATCHING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5350" y="4391025"/>
              <a:ext cx="15166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7.2×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79142" y="47310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faster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7923" y="5196364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8000-pixel-square synthesis: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5256" y="5444490"/>
              <a:ext cx="1325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 xml:space="preserve">137s </a:t>
              </a:r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1800" b="1" dirty="0">
                  <a:solidFill>
                    <a:srgbClr val="C0392B"/>
                  </a:solidFill>
                  <a:latin typeface="Georgia"/>
                  <a:ea typeface="Georgia"/>
                  <a:cs typeface="Georgia"/>
                </a:rPr>
                <a:t xml:space="preserve"> </a:t>
              </a:r>
              <a:r>
                <a:rPr lang="en-US" sz="180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19s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29350" y="3810000"/>
            <a:ext cx="5353050" cy="2171700"/>
            <a:chOff x="6229350" y="3810000"/>
            <a:chExt cx="5353050" cy="2171700"/>
          </a:xfrm>
        </p:grpSpPr>
        <p:sp>
          <p:nvSpPr>
            <p:cNvPr id="28" name="Rectangle 28"/>
            <p:cNvSpPr/>
            <p:nvPr/>
          </p:nvSpPr>
          <p:spPr>
            <a:xfrm>
              <a:off x="6229350" y="3810000"/>
              <a:ext cx="5353050" cy="2171700"/>
            </a:xfrm>
            <a:prstGeom prst="roundRect">
              <a:avLst>
                <a:gd name="adj" fmla="val 52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29350" y="38100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29197" y="4085749"/>
              <a:ext cx="2197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OUTPAINTING (WITH IN&amp;OUT)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5100" y="4391025"/>
              <a:ext cx="266594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9</a:t>
              </a:r>
              <a:r>
                <a:rPr lang="en-US" sz="180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 xml:space="preserve"> FID · Places365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6624" y="4961572"/>
              <a:ext cx="328227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15</a:t>
              </a:r>
              <a:r>
                <a:rPr lang="en-US" sz="1650" b="1" dirty="0">
                  <a:solidFill>
                    <a:schemeClr val="dk2"/>
                  </a:solidFill>
                  <a:latin typeface="Georgia"/>
                  <a:ea typeface="Georgia"/>
                  <a:cs typeface="Georgia"/>
                </a:rPr>
                <a:t xml:space="preserve"> FID · Flickr-Scenery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8435" y="5555456"/>
              <a:ext cx="2534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Roughly halving the previous best.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36" name="cue_s09_c1_headline_numbers_scale_invariant_fid" title="cue_s09_c1_headline_numbers_scale_invariant_fid" descr="cue_s09_c1_headline_numbers_scale_invariant_fid The headline numbers: scale-invariant FID of sixty-one at four-times and one twenty-one at eight-times, both beating the strongest baseline."/>
          <p:cNvSpPr/>
          <p:nvPr/>
        </p:nvSpPr>
        <p:spPr>
          <a:xfrm>
            <a:off x="609600" y="1428521"/>
            <a:ext cx="5353507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9_c2_over_ninety_percent_human_preference" title="cue_s09_c2_over_ninety_percent_human_preference" descr="cue_s09_c2_over_ninety_percent_human_preference Over ninety percent human preference."/>
          <p:cNvSpPr/>
          <p:nvPr/>
        </p:nvSpPr>
        <p:spPr>
          <a:xfrm>
            <a:off x="6228892" y="1428521"/>
            <a:ext cx="5353507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ue_s09_c3_seven_point_two_times_faster" title="cue_s09_c3_seven_point_two_times_faster" descr="cue_s09_c3_seven_point_two_times_faster Up to seven point two times faster inference through parallel batching, cutting eight-thousand-pixel synthesis from one hundred thirty-seven seconds to nineteen."/>
          <p:cNvSpPr/>
          <p:nvPr/>
        </p:nvSpPr>
        <p:spPr>
          <a:xfrm>
            <a:off x="609600" y="3810304"/>
            <a:ext cx="5353507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ue_s09_c4_paired_in_and_out_outpainting_fid_dr" title="cue_s09_c4_paired_in_and_out_outpainting_fid_dr" descr="cue_s09_c4_paired_in_and_out_outpainting_fid_dr Paired with In-and-Out for outpainting, FID drops to nine on Places365 and fifteen on Flickr-Scenery, halving previous best."/>
          <p:cNvSpPr/>
          <p:nvPr/>
        </p:nvSpPr>
        <p:spPr>
          <a:xfrm>
            <a:off x="6228892" y="3810304"/>
            <a:ext cx="5353507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95300"/>
            <a:ext cx="7400765" cy="637889"/>
            <a:chOff x="609600" y="495300"/>
            <a:chExt cx="7400765" cy="637889"/>
          </a:xfrm>
        </p:grpSpPr>
        <p:sp>
          <p:nvSpPr>
            <p:cNvPr id="2" name="Rectangle 2"/>
            <p:cNvSpPr/>
            <p:nvPr/>
          </p:nvSpPr>
          <p:spPr>
            <a:xfrm>
              <a:off x="609600" y="495300"/>
              <a:ext cx="57150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6008" y="521970"/>
              <a:ext cx="7184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Infinite images from a patch-sized model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942499"/>
              <a:ext cx="7947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219200"/>
            <a:ext cx="12418730" cy="876300"/>
            <a:chOff x="609600" y="1219200"/>
            <a:chExt cx="12418730" cy="876300"/>
          </a:xfrm>
        </p:grpSpPr>
        <p:sp>
          <p:nvSpPr>
            <p:cNvPr id="6" name="Rectangle 6"/>
            <p:cNvSpPr/>
            <p:nvPr/>
          </p:nvSpPr>
          <p:spPr>
            <a:xfrm>
              <a:off x="609600" y="121920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2192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437799"/>
              <a:ext cx="1004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BIG IDEA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637" y="1680686"/>
              <a:ext cx="1212269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Infinite-pixel synthesis becomes tractable once you stop tying generation to a fixed resolution.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324100"/>
            <a:ext cx="5353050" cy="2114550"/>
            <a:chOff x="609600" y="2324100"/>
            <a:chExt cx="5353050" cy="2114550"/>
          </a:xfrm>
        </p:grpSpPr>
        <p:sp>
          <p:nvSpPr>
            <p:cNvPr id="11" name="Rectangle 11"/>
            <p:cNvSpPr/>
            <p:nvPr/>
          </p:nvSpPr>
          <p:spPr>
            <a:xfrm>
              <a:off x="609600" y="2324100"/>
              <a:ext cx="5353050" cy="211455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09600" y="232410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447" y="2580799"/>
              <a:ext cx="1124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HOW IT WORKS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" y="2809875"/>
              <a:ext cx="2878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Separate, then recombine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304" y="3147060"/>
              <a:ext cx="3926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Separate global appearance, local structure via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3375660"/>
              <a:ext cx="4139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coordinate-driven implicit function, and texture via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3604260"/>
              <a:ext cx="3539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padding-free generator. Patches come out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304" y="3832860"/>
              <a:ext cx="3929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independent yet perfectly consistent — tiling into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06146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any size, at constant memory, generated in parallel.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29350" y="2324100"/>
            <a:ext cx="5353050" cy="2114550"/>
            <a:chOff x="6229350" y="2324100"/>
            <a:chExt cx="5353050" cy="2114550"/>
          </a:xfrm>
        </p:grpSpPr>
        <p:sp>
          <p:nvSpPr>
            <p:cNvPr id="21" name="Rectangle 21"/>
            <p:cNvSpPr/>
            <p:nvPr/>
          </p:nvSpPr>
          <p:spPr>
            <a:xfrm>
              <a:off x="6229350" y="2324100"/>
              <a:ext cx="5353050" cy="2114550"/>
            </a:xfrm>
            <a:prstGeom prst="roundRect">
              <a:avLst>
                <a:gd name="adj" fmla="val 5405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6229350" y="2324100"/>
              <a:ext cx="57150" cy="2114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197" y="2580799"/>
              <a:ext cx="13454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WHAT IT UNLOCKS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26530" y="2809875"/>
              <a:ext cx="3306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One framework, many powers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023" y="3215164"/>
              <a:ext cx="18826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7584" indent="-227584">
                <a:buClr>
                  <a:schemeClr val="dk1"/>
                </a:buClr>
                <a:buSzTx/>
                <a:buFontTx/>
                <a:buChar char="●"/>
              </a:pP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Spatial style fusion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023" y="3519964"/>
              <a:ext cx="2236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7584" indent="-227584">
                <a:buClr>
                  <a:schemeClr val="dk1"/>
                </a:buClr>
                <a:buSzTx/>
                <a:buFontTx/>
                <a:buChar char="●"/>
              </a:pP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Multi-modal outpainting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023" y="3824764"/>
              <a:ext cx="3899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27584" indent="-227584">
                <a:buClr>
                  <a:schemeClr val="dk1"/>
                </a:buClr>
                <a:buSzTx/>
                <a:buFontTx/>
                <a:buChar char="●"/>
              </a:pP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Arbitrary-length panoramas &amp; inbetweening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28435" y="4164806"/>
              <a:ext cx="3024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All from a model trained on tiny patches.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4667250"/>
            <a:ext cx="10972800" cy="1590389"/>
            <a:chOff x="609600" y="4667250"/>
            <a:chExt cx="10972800" cy="1590389"/>
          </a:xfrm>
        </p:grpSpPr>
        <p:sp>
          <p:nvSpPr>
            <p:cNvPr id="30" name="Rectangle 30"/>
            <p:cNvSpPr/>
            <p:nvPr/>
          </p:nvSpPr>
          <p:spPr>
            <a:xfrm>
              <a:off x="609600" y="4667250"/>
              <a:ext cx="10972800" cy="1581150"/>
            </a:xfrm>
            <a:prstGeom prst="roundRect">
              <a:avLst>
                <a:gd name="adj" fmla="val 7229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29495" r="0" b="29495"/>
            <a:stretch>
              <a:fillRect/>
            </a:stretch>
          </p:blipFill>
          <p:spPr>
            <a:xfrm>
              <a:off x="685800" y="4743450"/>
              <a:ext cx="10820400" cy="12573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2415492" y="6066949"/>
              <a:ext cx="736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Fig. 5 · Arbitrary-length panorama synthesis and inbetweening — a single patch-trained model, unbounded output.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 / 10</a:t>
            </a:r>
          </a:p>
        </p:txBody>
      </p:sp>
      <p:sp>
        <p:nvSpPr>
          <p:cNvPr id="35" name="cue_s10_c1_takeaway_infinite_pixel_synthesis_be" title="cue_s10_c1_takeaway_infinite_pixel_synthesis_be" descr="cue_s10_c1_takeaway_infinite_pixel_synthesis_be The takeaway: infinite-pixel synthesis becomes tractable once you stop tying generation to a fixed resolution."/>
          <p:cNvSpPr/>
          <p:nvPr/>
        </p:nvSpPr>
        <p:spPr>
          <a:xfrm>
            <a:off x="609600" y="1219352"/>
            <a:ext cx="11582400" cy="876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10_c2_separating_global_appearance_local_s" title="cue_s10_c2_separating_global_appearance_local_s" descr="cue_s10_c2_separating_global_appearance_local_s By separating global appearance, local structure via a coordinate-driven implicit function, and texture via a padding-free generator, InfinityGAN produces patches that are independent yet perfectly consistent, tiling into images of any size at constant memory"/>
          <p:cNvSpPr/>
          <p:nvPr/>
        </p:nvSpPr>
        <p:spPr>
          <a:xfrm>
            <a:off x="609600" y="2324176"/>
            <a:ext cx="5353507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10_c3_same_framework_unlocks_spatial_style" title="cue_s10_c3_same_framework_unlocks_spatial_style" descr="cue_s10_c3_same_framework_unlocks_spatial_style The same framework unlocks spatial style fusion, multi-modal outpainting, and arbitrary-length panoramas, all from tiny patches."/>
          <p:cNvSpPr/>
          <p:nvPr/>
        </p:nvSpPr>
        <p:spPr>
          <a:xfrm>
            <a:off x="6228892" y="2324176"/>
            <a:ext cx="5353507" cy="21143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nfinitygan_video">
  <a:themeElements>
    <a:clrScheme name="infinitygan_video">
      <a:dk1>
        <a:srgbClr val="12202E"/>
      </a:dk1>
      <a:lt1>
        <a:srgbClr val="FFFFFF"/>
      </a:lt1>
      <a:dk2>
        <a:srgbClr val="46586A"/>
      </a:dk2>
      <a:lt2>
        <a:srgbClr val="F4F7FB"/>
      </a:lt2>
      <a:accent1>
        <a:srgbClr val="0B2E52"/>
      </a:accent1>
      <a:accent2>
        <a:srgbClr val="2C6FE0"/>
      </a:accent2>
      <a:accent3>
        <a:srgbClr val="6FA5EC"/>
      </a:accent3>
      <a:accent4>
        <a:srgbClr val="DBE3EE"/>
      </a:accent4>
      <a:accent5>
        <a:srgbClr val="93A2B2"/>
      </a:accent5>
      <a:accent6>
        <a:srgbClr val="E9F1FC"/>
      </a:accent6>
      <a:hlink>
        <a:srgbClr val="2C6FE0"/>
      </a:hlink>
      <a:folHlink>
        <a:srgbClr val="6FA5EC"/>
      </a:folHlink>
    </a:clrScheme>
    <a:fontScheme name="infinitygan_video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finitygan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2026-07-15T05:35:52Z</dcterms:created>
  <dcterms:modified xsi:type="dcterms:W3CDTF">2026-07-15T05:35:52Z</dcterms:modified>
  <cp:category/>
  <cp:contentStatus/>
</cp:coreProperties>
</file>
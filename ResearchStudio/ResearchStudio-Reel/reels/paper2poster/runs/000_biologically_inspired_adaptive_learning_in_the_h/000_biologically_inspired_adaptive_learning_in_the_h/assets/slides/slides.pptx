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_projec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_projec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1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381000" y="381000"/>
            <a:ext cx="11430000" cy="6096000"/>
          </a:xfrm>
          <a:prstGeom prst="roundRect">
            <a:avLst>
              <a:gd name="adj" fmla="val 2812"/>
            </a:avLst>
          </a:prstGeom>
          <a:noFill/>
          <a:ln w="14288">
            <a:solidFill>
              <a:schemeClr val="accent4"/>
            </a:solidFill>
          </a:ln>
        </p:spPr>
        <p:txBody>
          <a:bodyPr/>
          <a:p/>
        </p:txBody>
      </p:sp>
      <p:sp>
        <p:nvSpPr>
          <p:cNvPr id="3" name="TextBox 3"/>
          <p:cNvSpPr txBox="1"/>
          <p:nvPr/>
        </p:nvSpPr>
        <p:spPr>
          <a:xfrm>
            <a:off x="755904" y="975360"/>
            <a:ext cx="3940150" cy="234696"/>
          </a:xfrm>
          <a:prstGeom prst="rect">
            <a:avLst/>
          </a:prstGeom>
          <a:noFill/>
          <a:ln>
            <a:noFill/>
          </a:ln>
        </p:spPr>
        <p:txBody>
          <a:bodyPr wrap="none" lIns="0" tIns="0" rIns="0" bIns="0" anchor="t" anchorCtr="0">
            <a:spAutoFit/>
          </a:bodyPr>
          <a:lstStyle/>
          <a:p>
            <a:pPr algn="l"/>
            <a:r>
              <a:rPr lang="en-US" sz="1200" b="1" spc="150" dirty="0">
                <a:solidFill>
                  <a:srgbClr val="7BE0C8"/>
                </a:solidFill>
                <a:latin typeface="+mn-lt"/>
                <a:ea typeface="+mn-ea"/>
                <a:cs typeface="+mn-cs"/>
              </a:rPr>
              <a:t>NEURIPS 2023 · BIO-INSPIRED LEARNING</a:t>
            </a:r>
          </a:p>
        </p:txBody>
      </p:sp>
      <p:sp>
        <p:nvSpPr>
          <p:cNvPr id="4" name="TextBox 4"/>
          <p:cNvSpPr txBox="1"/>
          <p:nvPr/>
        </p:nvSpPr>
        <p:spPr>
          <a:xfrm>
            <a:off x="746760" y="1314450"/>
            <a:ext cx="7866559"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Biologically-inspired adaptive learning</a:t>
            </a:r>
          </a:p>
        </p:txBody>
      </p:sp>
      <p:sp>
        <p:nvSpPr>
          <p:cNvPr id="5" name="TextBox 5"/>
          <p:cNvSpPr txBox="1"/>
          <p:nvPr/>
        </p:nvSpPr>
        <p:spPr>
          <a:xfrm>
            <a:off x="746760" y="1771650"/>
            <a:ext cx="9988251"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in the Hopfield-network self-optimization model</a:t>
            </a:r>
          </a:p>
        </p:txBody>
      </p:sp>
      <p:sp>
        <p:nvSpPr>
          <p:cNvPr id="6" name="TextBox 6"/>
          <p:cNvSpPr txBox="1"/>
          <p:nvPr/>
        </p:nvSpPr>
        <p:spPr>
          <a:xfrm>
            <a:off x="754380" y="2333625"/>
            <a:ext cx="8724905" cy="293370"/>
          </a:xfrm>
          <a:prstGeom prst="rect">
            <a:avLst/>
          </a:prstGeom>
          <a:noFill/>
          <a:ln>
            <a:noFill/>
          </a:ln>
        </p:spPr>
        <p:txBody>
          <a:bodyPr wrap="none" lIns="0" tIns="0" rIns="0" bIns="0" anchor="t" anchorCtr="0">
            <a:spAutoFit/>
          </a:bodyPr>
          <a:lstStyle/>
          <a:p>
            <a:pPr algn="l"/>
            <a:r>
              <a:rPr lang="en-US" sz="1500" dirty="0">
                <a:solidFill>
                  <a:schemeClr val="dk2"/>
                </a:solidFill>
                <a:latin typeface="+mn-lt"/>
                <a:ea typeface="+mn-ea"/>
                <a:cs typeface="+mn-cs"/>
              </a:rPr>
              <a:t>Borrowing metaplasticity, homeostasis, and inhibition from biology for machine learning</a:t>
            </a:r>
          </a:p>
        </p:txBody>
      </p:sp>
      <p:sp>
        <p:nvSpPr>
          <p:cNvPr id="7" name="Line 7"/>
          <p:cNvSpPr/>
          <p:nvPr/>
        </p:nvSpPr>
        <p:spPr>
          <a:xfrm>
            <a:off x="762000" y="2762250"/>
            <a:ext cx="10668000" cy="9525"/>
          </a:xfrm>
          <a:custGeom>
            <a:avLst/>
            <a:gdLst/>
            <a:ahLst/>
            <a:cxnLst/>
            <a:rect l="l" t="t" r="r" b="b"/>
            <a:pathLst>
              <a:path w="10668000" h="9525">
                <a:moveTo>
                  <a:pt x="0" y="0"/>
                </a:moveTo>
                <a:lnTo>
                  <a:pt x="10668000" y="0"/>
                </a:lnTo>
              </a:path>
            </a:pathLst>
          </a:custGeom>
          <a:noFill/>
          <a:ln w="14288">
            <a:solidFill>
              <a:schemeClr val="accent4"/>
            </a:solidFill>
          </a:ln>
        </p:spPr>
        <p:txBody>
          <a:bodyPr/>
          <a:p/>
        </p:txBody>
      </p:sp>
      <p:grpSp>
        <p:nvGrpSpPr>
          <p:cNvPr id="15" name="Group 15"/>
          <p:cNvGrpSpPr/>
          <p:nvPr/>
        </p:nvGrpSpPr>
        <p:grpSpPr>
          <a:xfrm>
            <a:off x="762000" y="3048000"/>
            <a:ext cx="3403600" cy="2857500"/>
            <a:chOff x="762000" y="3048000"/>
            <a:chExt cx="3403600" cy="2857500"/>
          </a:xfrm>
        </p:grpSpPr>
        <p:sp>
          <p:nvSpPr>
            <p:cNvPr id="8" name="Rectangle 8"/>
            <p:cNvSpPr/>
            <p:nvPr/>
          </p:nvSpPr>
          <p:spPr>
            <a:xfrm>
              <a:off x="762000" y="3048000"/>
              <a:ext cx="3403600" cy="2857500"/>
            </a:xfrm>
            <a:prstGeom prst="roundRect">
              <a:avLst>
                <a:gd name="adj" fmla="val 4000"/>
              </a:avLst>
            </a:prstGeom>
            <a:solidFill>
              <a:schemeClr val="accent5"/>
            </a:solidFill>
            <a:ln w="14288">
              <a:solidFill>
                <a:schemeClr val="accent4"/>
              </a:solidFill>
            </a:ln>
          </p:spPr>
        </p:sp>
        <p:sp>
          <p:nvSpPr>
            <p:cNvPr id="9" name="Rectangle 9"/>
            <p:cNvSpPr/>
            <p:nvPr/>
          </p:nvSpPr>
          <p:spPr>
            <a:xfrm>
              <a:off x="762000" y="3200400"/>
              <a:ext cx="47625" cy="247650"/>
            </a:xfrm>
            <a:prstGeom prst="roundRect">
              <a:avLst>
                <a:gd name="adj" fmla="val 50000"/>
              </a:avLst>
            </a:prstGeom>
            <a:solidFill>
              <a:schemeClr val="accent2"/>
            </a:solidFill>
            <a:ln>
              <a:noFill/>
            </a:ln>
          </p:spPr>
        </p:sp>
        <p:sp>
          <p:nvSpPr>
            <p:cNvPr id="10" name="TextBox 10"/>
            <p:cNvSpPr txBox="1"/>
            <p:nvPr/>
          </p:nvSpPr>
          <p:spPr>
            <a:xfrm>
              <a:off x="965073" y="3253264"/>
              <a:ext cx="670444"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The gap</a:t>
              </a:r>
            </a:p>
          </p:txBody>
        </p:sp>
        <p:sp>
          <p:nvSpPr>
            <p:cNvPr id="11" name="TextBox 11"/>
            <p:cNvSpPr txBox="1"/>
            <p:nvPr/>
          </p:nvSpPr>
          <p:spPr>
            <a:xfrm>
              <a:off x="964692" y="3530918"/>
              <a:ext cx="297291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Living systems learn from sparse</a:t>
              </a:r>
            </a:p>
          </p:txBody>
        </p:sp>
        <p:sp>
          <p:nvSpPr>
            <p:cNvPr id="12" name="TextBox 12"/>
            <p:cNvSpPr txBox="1"/>
            <p:nvPr/>
          </p:nvSpPr>
          <p:spPr>
            <a:xfrm>
              <a:off x="964692" y="3778568"/>
              <a:ext cx="303963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data with little energy; deep nets</a:t>
              </a:r>
            </a:p>
          </p:txBody>
        </p:sp>
        <p:sp>
          <p:nvSpPr>
            <p:cNvPr id="13" name="TextBox 13"/>
            <p:cNvSpPr txBox="1"/>
            <p:nvPr/>
          </p:nvSpPr>
          <p:spPr>
            <a:xfrm>
              <a:off x="964692" y="4026218"/>
              <a:ext cx="282155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need massive data and constant</a:t>
              </a:r>
            </a:p>
          </p:txBody>
        </p:sp>
        <p:sp>
          <p:nvSpPr>
            <p:cNvPr id="14" name="TextBox 14"/>
            <p:cNvSpPr txBox="1"/>
            <p:nvPr/>
          </p:nvSpPr>
          <p:spPr>
            <a:xfrm>
              <a:off x="964692" y="4273868"/>
              <a:ext cx="102235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retraining.</a:t>
              </a:r>
            </a:p>
          </p:txBody>
        </p:sp>
      </p:grpSp>
      <p:grpSp>
        <p:nvGrpSpPr>
          <p:cNvPr id="23" name="Group 23"/>
          <p:cNvGrpSpPr/>
          <p:nvPr/>
        </p:nvGrpSpPr>
        <p:grpSpPr>
          <a:xfrm>
            <a:off x="4394200" y="3048000"/>
            <a:ext cx="3403600" cy="2857500"/>
            <a:chOff x="4394200" y="3048000"/>
            <a:chExt cx="3403600" cy="2857500"/>
          </a:xfrm>
        </p:grpSpPr>
        <p:sp>
          <p:nvSpPr>
            <p:cNvPr id="16" name="Rectangle 16"/>
            <p:cNvSpPr/>
            <p:nvPr/>
          </p:nvSpPr>
          <p:spPr>
            <a:xfrm>
              <a:off x="4394200" y="3048000"/>
              <a:ext cx="3403600" cy="2857500"/>
            </a:xfrm>
            <a:prstGeom prst="roundRect">
              <a:avLst>
                <a:gd name="adj" fmla="val 4000"/>
              </a:avLst>
            </a:prstGeom>
            <a:solidFill>
              <a:schemeClr val="accent5"/>
            </a:solidFill>
            <a:ln w="14288">
              <a:solidFill>
                <a:schemeClr val="accent4"/>
              </a:solidFill>
            </a:ln>
          </p:spPr>
        </p:sp>
        <p:sp>
          <p:nvSpPr>
            <p:cNvPr id="17" name="Rectangle 17"/>
            <p:cNvSpPr/>
            <p:nvPr/>
          </p:nvSpPr>
          <p:spPr>
            <a:xfrm>
              <a:off x="4394200" y="3200400"/>
              <a:ext cx="47625" cy="247650"/>
            </a:xfrm>
            <a:prstGeom prst="roundRect">
              <a:avLst>
                <a:gd name="adj" fmla="val 50000"/>
              </a:avLst>
            </a:prstGeom>
            <a:solidFill>
              <a:srgbClr val="7BE0C8"/>
            </a:solidFill>
            <a:ln>
              <a:noFill/>
            </a:ln>
          </p:spPr>
        </p:sp>
        <p:sp>
          <p:nvSpPr>
            <p:cNvPr id="18" name="TextBox 18"/>
            <p:cNvSpPr txBox="1"/>
            <p:nvPr/>
          </p:nvSpPr>
          <p:spPr>
            <a:xfrm>
              <a:off x="4597273" y="3253264"/>
              <a:ext cx="860228"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This work</a:t>
              </a:r>
            </a:p>
          </p:txBody>
        </p:sp>
        <p:sp>
          <p:nvSpPr>
            <p:cNvPr id="19" name="TextBox 19"/>
            <p:cNvSpPr txBox="1"/>
            <p:nvPr/>
          </p:nvSpPr>
          <p:spPr>
            <a:xfrm>
              <a:off x="4596892" y="3530918"/>
              <a:ext cx="289922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Aisha Belhadi (Okinawa Institute</a:t>
              </a:r>
            </a:p>
          </p:txBody>
        </p:sp>
        <p:sp>
          <p:nvSpPr>
            <p:cNvPr id="20" name="TextBox 20"/>
            <p:cNvSpPr txBox="1"/>
            <p:nvPr/>
          </p:nvSpPr>
          <p:spPr>
            <a:xfrm>
              <a:off x="4596892" y="3778568"/>
              <a:ext cx="290632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of Science and Technology) looks</a:t>
              </a:r>
            </a:p>
          </p:txBody>
        </p:sp>
        <p:sp>
          <p:nvSpPr>
            <p:cNvPr id="21" name="TextBox 21"/>
            <p:cNvSpPr txBox="1"/>
            <p:nvPr/>
          </p:nvSpPr>
          <p:spPr>
            <a:xfrm>
              <a:off x="4596892" y="4026218"/>
              <a:ext cx="231268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to biology for what makes</a:t>
              </a:r>
            </a:p>
          </p:txBody>
        </p:sp>
        <p:sp>
          <p:nvSpPr>
            <p:cNvPr id="22" name="TextBox 22"/>
            <p:cNvSpPr txBox="1"/>
            <p:nvPr/>
          </p:nvSpPr>
          <p:spPr>
            <a:xfrm>
              <a:off x="4596892" y="4273868"/>
              <a:ext cx="193104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adaptation efficient.</a:t>
              </a:r>
            </a:p>
          </p:txBody>
        </p:sp>
      </p:grpSp>
      <p:grpSp>
        <p:nvGrpSpPr>
          <p:cNvPr id="31" name="Group 31"/>
          <p:cNvGrpSpPr/>
          <p:nvPr/>
        </p:nvGrpSpPr>
        <p:grpSpPr>
          <a:xfrm>
            <a:off x="8026400" y="3048000"/>
            <a:ext cx="3403600" cy="2857500"/>
            <a:chOff x="8026400" y="3048000"/>
            <a:chExt cx="3403600" cy="2857500"/>
          </a:xfrm>
        </p:grpSpPr>
        <p:sp>
          <p:nvSpPr>
            <p:cNvPr id="24" name="Rectangle 24"/>
            <p:cNvSpPr/>
            <p:nvPr/>
          </p:nvSpPr>
          <p:spPr>
            <a:xfrm>
              <a:off x="8026400" y="3048000"/>
              <a:ext cx="3403600" cy="2857500"/>
            </a:xfrm>
            <a:prstGeom prst="roundRect">
              <a:avLst>
                <a:gd name="adj" fmla="val 4000"/>
              </a:avLst>
            </a:prstGeom>
            <a:solidFill>
              <a:schemeClr val="accent5"/>
            </a:solidFill>
            <a:ln w="14288">
              <a:solidFill>
                <a:schemeClr val="accent4"/>
              </a:solidFill>
            </a:ln>
          </p:spPr>
        </p:sp>
        <p:sp>
          <p:nvSpPr>
            <p:cNvPr id="25" name="Rectangle 25"/>
            <p:cNvSpPr/>
            <p:nvPr/>
          </p:nvSpPr>
          <p:spPr>
            <a:xfrm>
              <a:off x="8026400" y="3200400"/>
              <a:ext cx="47625" cy="247650"/>
            </a:xfrm>
            <a:prstGeom prst="roundRect">
              <a:avLst>
                <a:gd name="adj" fmla="val 50000"/>
              </a:avLst>
            </a:prstGeom>
            <a:solidFill>
              <a:srgbClr val="7BE0C8"/>
            </a:solidFill>
            <a:ln>
              <a:noFill/>
            </a:ln>
          </p:spPr>
        </p:sp>
        <p:sp>
          <p:nvSpPr>
            <p:cNvPr id="26" name="TextBox 26"/>
            <p:cNvSpPr txBox="1"/>
            <p:nvPr/>
          </p:nvSpPr>
          <p:spPr>
            <a:xfrm>
              <a:off x="8229473" y="3253264"/>
              <a:ext cx="1122302"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The proposal</a:t>
              </a:r>
            </a:p>
          </p:txBody>
        </p:sp>
        <p:sp>
          <p:nvSpPr>
            <p:cNvPr id="27" name="TextBox 27"/>
            <p:cNvSpPr txBox="1"/>
            <p:nvPr/>
          </p:nvSpPr>
          <p:spPr>
            <a:xfrm>
              <a:off x="8229092" y="3530918"/>
              <a:ext cx="232771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Distill three mechanisms —</a:t>
              </a:r>
            </a:p>
          </p:txBody>
        </p:sp>
        <p:sp>
          <p:nvSpPr>
            <p:cNvPr id="28" name="TextBox 28"/>
            <p:cNvSpPr txBox="1"/>
            <p:nvPr/>
          </p:nvSpPr>
          <p:spPr>
            <a:xfrm>
              <a:off x="8229092" y="3778568"/>
              <a:ext cx="265798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metaplasticity, homeostasis,</a:t>
              </a:r>
            </a:p>
          </p:txBody>
        </p:sp>
        <p:sp>
          <p:nvSpPr>
            <p:cNvPr id="29" name="TextBox 29"/>
            <p:cNvSpPr txBox="1"/>
            <p:nvPr/>
          </p:nvSpPr>
          <p:spPr>
            <a:xfrm>
              <a:off x="8229092" y="4026218"/>
              <a:ext cx="280337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inhibition — and fold them into a</a:t>
              </a:r>
            </a:p>
          </p:txBody>
        </p:sp>
        <p:sp>
          <p:nvSpPr>
            <p:cNvPr id="30" name="TextBox 30"/>
            <p:cNvSpPr txBox="1"/>
            <p:nvPr/>
          </p:nvSpPr>
          <p:spPr>
            <a:xfrm>
              <a:off x="8229092" y="4273868"/>
              <a:ext cx="298181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Hopfield self-optimization model.</a:t>
              </a:r>
            </a:p>
          </p:txBody>
        </p:sp>
      </p:grpSp>
      <p:sp>
        <p:nvSpPr>
          <p:cNvPr id="32" name="TextBox 32"/>
          <p:cNvSpPr txBox="1"/>
          <p:nvPr/>
        </p:nvSpPr>
        <p:spPr>
          <a:xfrm>
            <a:off x="756285" y="6241256"/>
            <a:ext cx="4797212" cy="220028"/>
          </a:xfrm>
          <a:prstGeom prst="rect">
            <a:avLst/>
          </a:prstGeom>
          <a:noFill/>
          <a:ln>
            <a:noFill/>
          </a:ln>
        </p:spPr>
        <p:txBody>
          <a:bodyPr wrap="none" lIns="0" tIns="0" rIns="0" bIns="0" anchor="t" anchorCtr="0">
            <a:spAutoFit/>
          </a:bodyPr>
          <a:lstStyle/>
          <a:p>
            <a:pPr algn="l"/>
            <a:r>
              <a:rPr lang="en-US" sz="1120" dirty="0">
                <a:solidFill>
                  <a:srgbClr val="6D7C96"/>
                </a:solidFill>
                <a:latin typeface="+mn-lt"/>
                <a:ea typeface="+mn-ea"/>
                <a:cs typeface="+mn-cs"/>
              </a:rPr>
              <a:t>Okinawa Institute of Science and Technology Graduate University</a:t>
            </a:r>
          </a:p>
        </p:txBody>
      </p:sp>
      <p:sp>
        <p:nvSpPr>
          <p:cNvPr id="33" name="TextBox 33"/>
          <p:cNvSpPr txBox="1"/>
          <p:nvPr/>
        </p:nvSpPr>
        <p:spPr>
          <a:xfrm>
            <a:off x="8633878" y="6241256"/>
            <a:ext cx="2801837" cy="220028"/>
          </a:xfrm>
          <a:prstGeom prst="rect">
            <a:avLst/>
          </a:prstGeom>
          <a:noFill/>
          <a:ln>
            <a:noFill/>
          </a:ln>
        </p:spPr>
        <p:txBody>
          <a:bodyPr wrap="none" lIns="0" tIns="0" rIns="0" bIns="0" anchor="t" anchorCtr="0">
            <a:spAutoFit/>
          </a:bodyPr>
          <a:lstStyle/>
          <a:p>
            <a:pPr algn="r"/>
            <a:r>
              <a:rPr lang="en-US" sz="1120" dirty="0">
                <a:solidFill>
                  <a:srgbClr val="6D7C96"/>
                </a:solidFill>
                <a:latin typeface="+mn-lt"/>
                <a:ea typeface="+mn-ea"/>
                <a:cs typeface="+mn-cs"/>
              </a:rPr>
              <a:t>openreview.net/forum?id=WjHYgEfXiV</a:t>
            </a:r>
          </a:p>
        </p:txBody>
      </p:sp>
      <p:sp>
        <p:nvSpPr>
          <p:cNvPr id="34" name="cue_s01_c1_how_living_systems_learn_much" title="cue_s01_c1_how_living_systems_learn_much" descr="cue_s01_c1_how_living_systems_learn_much How do living systems learn so much from so little, adapting with sparse data and minimal energy while artificial deep networks demand massive datasets and constant retraining?"/>
          <p:cNvSpPr/>
          <p:nvPr/>
        </p:nvSpPr>
        <p:spPr>
          <a:xfrm>
            <a:off x="762000" y="3047695"/>
            <a:ext cx="3404006"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1_c2_work_aisha_belhadi_okinawa_institute" title="cue_s01_c2_work_aisha_belhadi_okinawa_institute" descr="cue_s01_c2_work_aisha_belhadi_okinawa_institute This work by Aisha Belhadi at the Okinawa Institute of Science and Technology looks to biology for answers."/>
          <p:cNvSpPr/>
          <p:nvPr/>
        </p:nvSpPr>
        <p:spPr>
          <a:xfrm>
            <a:off x="4393996" y="3047695"/>
            <a:ext cx="3404006"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1_c3_distills_three_mechanisms_biological" title="cue_s01_c3_distills_three_mechanisms_biological" descr="cue_s01_c3_distills_three_mechanisms_biological It distills three mechanisms of biological adaptation — metaplasticity, homeostasis, and inhibition — and proposes concrete ways to fold them into the Hopfield-network self-optimization model, aiming for deep learning tools that learn the way living systems do"/>
          <p:cNvSpPr/>
          <p:nvPr/>
        </p:nvSpPr>
        <p:spPr>
          <a:xfrm>
            <a:off x="8025993" y="3047695"/>
            <a:ext cx="3404006"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69106"/>
            <a:ext cx="850362" cy="220028"/>
          </a:xfrm>
          <a:prstGeom prst="rect">
            <a:avLst/>
          </a:prstGeom>
          <a:noFill/>
          <a:ln>
            <a:noFill/>
          </a:ln>
        </p:spPr>
        <p:txBody>
          <a:bodyPr wrap="none" lIns="0" tIns="0" rIns="0" bIns="0" anchor="t" anchorCtr="0">
            <a:spAutoFit/>
          </a:bodyPr>
          <a:lstStyle/>
          <a:p>
            <a:pPr algn="l"/>
            <a:r>
              <a:rPr lang="en-US" sz="1120" b="1" spc="150" dirty="0">
                <a:solidFill>
                  <a:schemeClr val="accent2"/>
                </a:solidFill>
                <a:latin typeface="+mn-lt"/>
                <a:ea typeface="+mn-ea"/>
                <a:cs typeface="+mn-cs"/>
              </a:rPr>
              <a:t>PROBLEM</a:t>
            </a:r>
          </a:p>
        </p:txBody>
      </p:sp>
      <p:sp>
        <p:nvSpPr>
          <p:cNvPr id="4" name="TextBox 4"/>
          <p:cNvSpPr txBox="1"/>
          <p:nvPr/>
        </p:nvSpPr>
        <p:spPr>
          <a:xfrm>
            <a:off x="789432" y="630555"/>
            <a:ext cx="711044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Powerful deep learning, yet unlike living systems</a:t>
            </a:r>
          </a:p>
        </p:txBody>
      </p:sp>
      <p:sp>
        <p:nvSpPr>
          <p:cNvPr id="5" name="Line 5"/>
          <p:cNvSpPr/>
          <p:nvPr/>
        </p:nvSpPr>
        <p:spPr>
          <a:xfrm>
            <a:off x="609600" y="1028700"/>
            <a:ext cx="10972800" cy="9525"/>
          </a:xfrm>
          <a:custGeom>
            <a:avLst/>
            <a:gdLst/>
            <a:ahLst/>
            <a:cxnLst/>
            <a:rect l="l" t="t" r="r" b="b"/>
            <a:pathLst>
              <a:path w="10972800" h="9525">
                <a:moveTo>
                  <a:pt x="0" y="0"/>
                </a:moveTo>
                <a:lnTo>
                  <a:pt x="10972800" y="0"/>
                </a:lnTo>
              </a:path>
            </a:pathLst>
          </a:custGeom>
          <a:noFill/>
          <a:ln w="14288">
            <a:solidFill>
              <a:schemeClr val="accent4"/>
            </a:solidFill>
          </a:ln>
        </p:spPr>
        <p:txBody>
          <a:bodyPr/>
          <a:p/>
        </p:txBody>
      </p:sp>
      <p:sp>
        <p:nvSpPr>
          <p:cNvPr id="6" name="TextBox 6"/>
          <p:cNvSpPr txBox="1"/>
          <p:nvPr/>
        </p:nvSpPr>
        <p:spPr>
          <a:xfrm>
            <a:off x="11103540" y="477202"/>
            <a:ext cx="484194" cy="205359"/>
          </a:xfrm>
          <a:prstGeom prst="rect">
            <a:avLst/>
          </a:prstGeom>
          <a:noFill/>
          <a:ln>
            <a:noFill/>
          </a:ln>
        </p:spPr>
        <p:txBody>
          <a:bodyPr wrap="none" lIns="0" tIns="0" rIns="0" bIns="0" anchor="t" anchorCtr="0">
            <a:spAutoFit/>
          </a:bodyPr>
          <a:lstStyle/>
          <a:p>
            <a:pPr algn="r"/>
            <a:r>
              <a:rPr lang="en-US" sz="1050" dirty="0">
                <a:solidFill>
                  <a:srgbClr val="6D7C96"/>
                </a:solidFill>
                <a:latin typeface="+mn-lt"/>
                <a:ea typeface="+mn-ea"/>
                <a:cs typeface="+mn-cs"/>
              </a:rPr>
              <a:t>02 / 10</a:t>
            </a:r>
          </a:p>
        </p:txBody>
      </p:sp>
      <p:grpSp>
        <p:nvGrpSpPr>
          <p:cNvPr id="14" name="Group 14"/>
          <p:cNvGrpSpPr/>
          <p:nvPr/>
        </p:nvGrpSpPr>
        <p:grpSpPr>
          <a:xfrm>
            <a:off x="609600" y="1257300"/>
            <a:ext cx="5372100" cy="2457450"/>
            <a:chOff x="609600" y="1257300"/>
            <a:chExt cx="5372100" cy="2457450"/>
          </a:xfrm>
        </p:grpSpPr>
        <p:sp>
          <p:nvSpPr>
            <p:cNvPr id="7" name="Rectangle 7"/>
            <p:cNvSpPr/>
            <p:nvPr/>
          </p:nvSpPr>
          <p:spPr>
            <a:xfrm>
              <a:off x="609600" y="1257300"/>
              <a:ext cx="5372100" cy="2457450"/>
            </a:xfrm>
            <a:prstGeom prst="roundRect">
              <a:avLst>
                <a:gd name="adj" fmla="val 4651"/>
              </a:avLst>
            </a:prstGeom>
            <a:solidFill>
              <a:schemeClr val="accent5"/>
            </a:solidFill>
            <a:ln w="14288">
              <a:solidFill>
                <a:schemeClr val="accent4"/>
              </a:solidFill>
            </a:ln>
          </p:spPr>
        </p:sp>
        <p:sp>
          <p:nvSpPr>
            <p:cNvPr id="8" name="Rectangle 8"/>
            <p:cNvSpPr/>
            <p:nvPr/>
          </p:nvSpPr>
          <p:spPr>
            <a:xfrm>
              <a:off x="609600" y="1409700"/>
              <a:ext cx="47625" cy="247650"/>
            </a:xfrm>
            <a:prstGeom prst="roundRect">
              <a:avLst>
                <a:gd name="adj" fmla="val 50000"/>
              </a:avLst>
            </a:prstGeom>
            <a:solidFill>
              <a:schemeClr val="accent2"/>
            </a:solidFill>
            <a:ln>
              <a:noFill/>
            </a:ln>
          </p:spPr>
        </p:sp>
        <p:sp>
          <p:nvSpPr>
            <p:cNvPr id="9" name="TextBox 9"/>
            <p:cNvSpPr txBox="1"/>
            <p:nvPr/>
          </p:nvSpPr>
          <p:spPr>
            <a:xfrm>
              <a:off x="812673" y="1462564"/>
              <a:ext cx="2090766"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Deep learning + big data</a:t>
              </a:r>
            </a:p>
          </p:txBody>
        </p:sp>
        <p:sp>
          <p:nvSpPr>
            <p:cNvPr id="10" name="TextBox 10"/>
            <p:cNvSpPr txBox="1"/>
            <p:nvPr/>
          </p:nvSpPr>
          <p:spPr>
            <a:xfrm>
              <a:off x="812292" y="1740218"/>
              <a:ext cx="291236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Recent AI progress leans on deep</a:t>
              </a:r>
            </a:p>
          </p:txBody>
        </p:sp>
        <p:sp>
          <p:nvSpPr>
            <p:cNvPr id="11" name="TextBox 11"/>
            <p:cNvSpPr txBox="1"/>
            <p:nvPr/>
          </p:nvSpPr>
          <p:spPr>
            <a:xfrm>
              <a:off x="812292" y="1987868"/>
              <a:ext cx="303055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networks trained on large data by</a:t>
              </a:r>
            </a:p>
          </p:txBody>
        </p:sp>
        <p:sp>
          <p:nvSpPr>
            <p:cNvPr id="12" name="TextBox 12"/>
            <p:cNvSpPr txBox="1"/>
            <p:nvPr/>
          </p:nvSpPr>
          <p:spPr>
            <a:xfrm>
              <a:off x="812292" y="2235518"/>
              <a:ext cx="256712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supervised or reinforcement</a:t>
              </a:r>
            </a:p>
          </p:txBody>
        </p:sp>
        <p:sp>
          <p:nvSpPr>
            <p:cNvPr id="13" name="TextBox 13"/>
            <p:cNvSpPr txBox="1"/>
            <p:nvPr/>
          </p:nvSpPr>
          <p:spPr>
            <a:xfrm>
              <a:off x="812292" y="2483168"/>
              <a:ext cx="72249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signals.</a:t>
              </a:r>
            </a:p>
          </p:txBody>
        </p:sp>
      </p:grpSp>
      <p:grpSp>
        <p:nvGrpSpPr>
          <p:cNvPr id="22" name="Group 22"/>
          <p:cNvGrpSpPr/>
          <p:nvPr/>
        </p:nvGrpSpPr>
        <p:grpSpPr>
          <a:xfrm>
            <a:off x="6210300" y="1257300"/>
            <a:ext cx="5372100" cy="2457450"/>
            <a:chOff x="6210300" y="1257300"/>
            <a:chExt cx="5372100" cy="2457450"/>
          </a:xfrm>
        </p:grpSpPr>
        <p:sp>
          <p:nvSpPr>
            <p:cNvPr id="15" name="Rectangle 15"/>
            <p:cNvSpPr/>
            <p:nvPr/>
          </p:nvSpPr>
          <p:spPr>
            <a:xfrm>
              <a:off x="6210300" y="1257300"/>
              <a:ext cx="5372100" cy="2457450"/>
            </a:xfrm>
            <a:prstGeom prst="roundRect">
              <a:avLst>
                <a:gd name="adj" fmla="val 4651"/>
              </a:avLst>
            </a:prstGeom>
            <a:solidFill>
              <a:schemeClr val="accent5"/>
            </a:solidFill>
            <a:ln w="14288">
              <a:solidFill>
                <a:schemeClr val="accent4"/>
              </a:solidFill>
            </a:ln>
          </p:spPr>
        </p:sp>
        <p:sp>
          <p:nvSpPr>
            <p:cNvPr id="16" name="Rectangle 16"/>
            <p:cNvSpPr/>
            <p:nvPr/>
          </p:nvSpPr>
          <p:spPr>
            <a:xfrm>
              <a:off x="6210300" y="1409700"/>
              <a:ext cx="47625" cy="247650"/>
            </a:xfrm>
            <a:prstGeom prst="roundRect">
              <a:avLst>
                <a:gd name="adj" fmla="val 50000"/>
              </a:avLst>
            </a:prstGeom>
            <a:solidFill>
              <a:srgbClr val="7BE0C8"/>
            </a:solidFill>
            <a:ln>
              <a:noFill/>
            </a:ln>
          </p:spPr>
        </p:sp>
        <p:sp>
          <p:nvSpPr>
            <p:cNvPr id="17" name="TextBox 17"/>
            <p:cNvSpPr txBox="1"/>
            <p:nvPr/>
          </p:nvSpPr>
          <p:spPr>
            <a:xfrm>
              <a:off x="6413373" y="1462564"/>
              <a:ext cx="1918371"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Living systems differ</a:t>
              </a:r>
            </a:p>
          </p:txBody>
        </p:sp>
        <p:sp>
          <p:nvSpPr>
            <p:cNvPr id="18" name="TextBox 18"/>
            <p:cNvSpPr txBox="1"/>
            <p:nvPr/>
          </p:nvSpPr>
          <p:spPr>
            <a:xfrm>
              <a:off x="6412992" y="1740218"/>
              <a:ext cx="280034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Biology learns, associates, and</a:t>
              </a:r>
            </a:p>
          </p:txBody>
        </p:sp>
        <p:sp>
          <p:nvSpPr>
            <p:cNvPr id="19" name="TextBox 19"/>
            <p:cNvSpPr txBox="1"/>
            <p:nvPr/>
          </p:nvSpPr>
          <p:spPr>
            <a:xfrm>
              <a:off x="6412992" y="1987868"/>
              <a:ext cx="275794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adapts from sparse data, with</a:t>
              </a:r>
            </a:p>
          </p:txBody>
        </p:sp>
        <p:sp>
          <p:nvSpPr>
            <p:cNvPr id="20" name="TextBox 20"/>
            <p:cNvSpPr txBox="1"/>
            <p:nvPr/>
          </p:nvSpPr>
          <p:spPr>
            <a:xfrm>
              <a:off x="6412992" y="2235518"/>
              <a:ext cx="267616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efficient energy and very few</a:t>
              </a:r>
            </a:p>
          </p:txBody>
        </p:sp>
        <p:sp>
          <p:nvSpPr>
            <p:cNvPr id="21" name="TextBox 21"/>
            <p:cNvSpPr txBox="1"/>
            <p:nvPr/>
          </p:nvSpPr>
          <p:spPr>
            <a:xfrm>
              <a:off x="6412992" y="2483168"/>
              <a:ext cx="178565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training iterations.</a:t>
              </a:r>
            </a:p>
          </p:txBody>
        </p:sp>
      </p:grpSp>
      <p:grpSp>
        <p:nvGrpSpPr>
          <p:cNvPr id="29" name="Group 29"/>
          <p:cNvGrpSpPr/>
          <p:nvPr/>
        </p:nvGrpSpPr>
        <p:grpSpPr>
          <a:xfrm>
            <a:off x="609600" y="3943350"/>
            <a:ext cx="5372100" cy="2457450"/>
            <a:chOff x="609600" y="3943350"/>
            <a:chExt cx="5372100" cy="2457450"/>
          </a:xfrm>
        </p:grpSpPr>
        <p:sp>
          <p:nvSpPr>
            <p:cNvPr id="23" name="Rectangle 23"/>
            <p:cNvSpPr/>
            <p:nvPr/>
          </p:nvSpPr>
          <p:spPr>
            <a:xfrm>
              <a:off x="609600" y="3943350"/>
              <a:ext cx="5372100" cy="2457450"/>
            </a:xfrm>
            <a:prstGeom prst="roundRect">
              <a:avLst>
                <a:gd name="adj" fmla="val 4651"/>
              </a:avLst>
            </a:prstGeom>
            <a:solidFill>
              <a:schemeClr val="accent5"/>
            </a:solidFill>
            <a:ln w="14288">
              <a:solidFill>
                <a:schemeClr val="accent4"/>
              </a:solidFill>
            </a:ln>
          </p:spPr>
        </p:sp>
        <p:sp>
          <p:nvSpPr>
            <p:cNvPr id="24" name="Rectangle 24"/>
            <p:cNvSpPr/>
            <p:nvPr/>
          </p:nvSpPr>
          <p:spPr>
            <a:xfrm>
              <a:off x="609600" y="4095750"/>
              <a:ext cx="47625" cy="247650"/>
            </a:xfrm>
            <a:prstGeom prst="roundRect">
              <a:avLst>
                <a:gd name="adj" fmla="val 50000"/>
              </a:avLst>
            </a:prstGeom>
            <a:solidFill>
              <a:srgbClr val="7BE0C8"/>
            </a:solidFill>
            <a:ln>
              <a:noFill/>
            </a:ln>
          </p:spPr>
        </p:sp>
        <p:sp>
          <p:nvSpPr>
            <p:cNvPr id="25" name="TextBox 25"/>
            <p:cNvSpPr txBox="1"/>
            <p:nvPr/>
          </p:nvSpPr>
          <p:spPr>
            <a:xfrm>
              <a:off x="812673" y="4148614"/>
              <a:ext cx="2171552"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Catastrophic forgetting</a:t>
              </a:r>
            </a:p>
          </p:txBody>
        </p:sp>
        <p:sp>
          <p:nvSpPr>
            <p:cNvPr id="26" name="TextBox 26"/>
            <p:cNvSpPr txBox="1"/>
            <p:nvPr/>
          </p:nvSpPr>
          <p:spPr>
            <a:xfrm>
              <a:off x="812292" y="4426268"/>
              <a:ext cx="264600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Trained on tasks in sequence,</a:t>
              </a:r>
            </a:p>
          </p:txBody>
        </p:sp>
        <p:sp>
          <p:nvSpPr>
            <p:cNvPr id="27" name="TextBox 27"/>
            <p:cNvSpPr txBox="1"/>
            <p:nvPr/>
          </p:nvSpPr>
          <p:spPr>
            <a:xfrm>
              <a:off x="812292" y="4673918"/>
              <a:ext cx="270342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these networks overwrite and</a:t>
              </a:r>
            </a:p>
          </p:txBody>
        </p:sp>
        <p:sp>
          <p:nvSpPr>
            <p:cNvPr id="28" name="TextBox 28"/>
            <p:cNvSpPr txBox="1"/>
            <p:nvPr/>
          </p:nvSpPr>
          <p:spPr>
            <a:xfrm>
              <a:off x="812292" y="4921568"/>
              <a:ext cx="302146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forget what they learned before.</a:t>
              </a:r>
            </a:p>
          </p:txBody>
        </p:sp>
      </p:grpSp>
      <p:grpSp>
        <p:nvGrpSpPr>
          <p:cNvPr id="37" name="Group 37"/>
          <p:cNvGrpSpPr/>
          <p:nvPr/>
        </p:nvGrpSpPr>
        <p:grpSpPr>
          <a:xfrm>
            <a:off x="6210300" y="3943350"/>
            <a:ext cx="5372100" cy="2457450"/>
            <a:chOff x="6210300" y="3943350"/>
            <a:chExt cx="5372100" cy="2457450"/>
          </a:xfrm>
        </p:grpSpPr>
        <p:sp>
          <p:nvSpPr>
            <p:cNvPr id="30" name="Rectangle 30"/>
            <p:cNvSpPr/>
            <p:nvPr/>
          </p:nvSpPr>
          <p:spPr>
            <a:xfrm>
              <a:off x="6210300" y="3943350"/>
              <a:ext cx="5372100" cy="2457450"/>
            </a:xfrm>
            <a:prstGeom prst="roundRect">
              <a:avLst>
                <a:gd name="adj" fmla="val 4651"/>
              </a:avLst>
            </a:prstGeom>
            <a:solidFill>
              <a:schemeClr val="accent5"/>
            </a:solidFill>
            <a:ln w="14288">
              <a:solidFill>
                <a:schemeClr val="accent4"/>
              </a:solidFill>
            </a:ln>
          </p:spPr>
        </p:sp>
        <p:sp>
          <p:nvSpPr>
            <p:cNvPr id="31" name="Rectangle 31"/>
            <p:cNvSpPr/>
            <p:nvPr/>
          </p:nvSpPr>
          <p:spPr>
            <a:xfrm>
              <a:off x="6210300" y="4095750"/>
              <a:ext cx="47625" cy="247650"/>
            </a:xfrm>
            <a:prstGeom prst="roundRect">
              <a:avLst>
                <a:gd name="adj" fmla="val 50000"/>
              </a:avLst>
            </a:prstGeom>
            <a:solidFill>
              <a:srgbClr val="F2A65A"/>
            </a:solidFill>
            <a:ln>
              <a:noFill/>
            </a:ln>
          </p:spPr>
        </p:sp>
        <p:sp>
          <p:nvSpPr>
            <p:cNvPr id="32" name="TextBox 32"/>
            <p:cNvSpPr txBox="1"/>
            <p:nvPr/>
          </p:nvSpPr>
          <p:spPr>
            <a:xfrm>
              <a:off x="6413373" y="4148614"/>
              <a:ext cx="1610764" cy="249364"/>
            </a:xfrm>
            <a:prstGeom prst="rect">
              <a:avLst/>
            </a:prstGeom>
            <a:noFill/>
            <a:ln>
              <a:noFill/>
            </a:ln>
          </p:spPr>
          <p:txBody>
            <a:bodyPr wrap="none" lIns="0" tIns="0" rIns="0" bIns="0" anchor="t" anchorCtr="0">
              <a:spAutoFit/>
            </a:bodyPr>
            <a:lstStyle/>
            <a:p>
              <a:pPr algn="l"/>
              <a:r>
                <a:rPr lang="en-US" sz="1280" b="1" dirty="0">
                  <a:solidFill>
                    <a:srgbClr val="F2A65A"/>
                  </a:solidFill>
                  <a:latin typeface="+mn-lt"/>
                  <a:ea typeface="+mn-ea"/>
                  <a:cs typeface="+mn-cs"/>
                </a:rPr>
                <a:t>Hopfield networks</a:t>
              </a:r>
            </a:p>
          </p:txBody>
        </p:sp>
        <p:sp>
          <p:nvSpPr>
            <p:cNvPr id="33" name="TextBox 33"/>
            <p:cNvSpPr txBox="1"/>
            <p:nvPr/>
          </p:nvSpPr>
          <p:spPr>
            <a:xfrm>
              <a:off x="6412992" y="4426268"/>
              <a:ext cx="311838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Unsupervised associative memory —</a:t>
              </a:r>
            </a:p>
          </p:txBody>
        </p:sp>
        <p:sp>
          <p:nvSpPr>
            <p:cNvPr id="34" name="TextBox 34"/>
            <p:cNvSpPr txBox="1"/>
            <p:nvPr/>
          </p:nvSpPr>
          <p:spPr>
            <a:xfrm>
              <a:off x="6412992" y="4673918"/>
              <a:ext cx="285790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biologically plausible, but simple</a:t>
              </a:r>
            </a:p>
          </p:txBody>
        </p:sp>
        <p:sp>
          <p:nvSpPr>
            <p:cNvPr id="35" name="TextBox 35"/>
            <p:cNvSpPr txBox="1"/>
            <p:nvPr/>
          </p:nvSpPr>
          <p:spPr>
            <a:xfrm>
              <a:off x="6412992" y="4921568"/>
              <a:ext cx="302886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forms store only ~0.14N patterns</a:t>
              </a:r>
            </a:p>
          </p:txBody>
        </p:sp>
        <p:sp>
          <p:nvSpPr>
            <p:cNvPr id="36" name="TextBox 36"/>
            <p:cNvSpPr txBox="1"/>
            <p:nvPr/>
          </p:nvSpPr>
          <p:spPr>
            <a:xfrm>
              <a:off x="6412992" y="5169218"/>
              <a:ext cx="239447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and ignore their bio roots.</a:t>
              </a:r>
            </a:p>
          </p:txBody>
        </p:sp>
      </p:grpSp>
      <p:sp>
        <p:nvSpPr>
          <p:cNvPr id="38" name="cue_s02_c1_large_part_recent_progress_comes" title="cue_s02_c1_large_part_recent_progress_comes" descr="cue_s02_c1_large_part_recent_progress_comes A large part of recent AI progress comes from deep learning paired with big data, trained by supervised or reinforcement signals."/>
          <p:cNvSpPr/>
          <p:nvPr/>
        </p:nvSpPr>
        <p:spPr>
          <a:xfrm>
            <a:off x="609600" y="12570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2_c2_these_systems_powerful_but_they" title="cue_s02_c2_these_systems_powerful_but_they" descr="cue_s02_c2_these_systems_powerful_but_they These systems are powerful, but they behave very differently from living systems, which learn, make associations, and adapt using sparse data, efficient energy use, and few training iterations."/>
          <p:cNvSpPr/>
          <p:nvPr/>
        </p:nvSpPr>
        <p:spPr>
          <a:xfrm>
            <a:off x="6210604" y="12570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2_c3_they_also_forget_previous_tasks" title="cue_s02_c3_they_also_forget_previous_tasks" descr="cue_s02_c3_they_also_forget_previous_tasks They also forget previous tasks when trained sequentially, a problem known as catastrophic forgetting."/>
          <p:cNvSpPr/>
          <p:nvPr/>
        </p:nvSpPr>
        <p:spPr>
          <a:xfrm>
            <a:off x="609600" y="3943349"/>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2_c4_hopfield_networks_unsupervised_learn" title="cue_s02_c4_hopfield_networks_unsupervised_learn" descr="cue_s02_c4_hopfield_networks_unsupervised_learn Hopfield networks, with unsupervised learning and an associative memory, offer a more biologically plausible alternative, but their simplest forms are limited, storing only about zero point one four times the number of nodes in patterns, and rarely exploit the"/>
          <p:cNvSpPr/>
          <p:nvPr/>
        </p:nvSpPr>
        <p:spPr>
          <a:xfrm>
            <a:off x="6210604" y="3943349"/>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69106"/>
            <a:ext cx="1140190" cy="220028"/>
          </a:xfrm>
          <a:prstGeom prst="rect">
            <a:avLst/>
          </a:prstGeom>
          <a:noFill/>
          <a:ln>
            <a:noFill/>
          </a:ln>
        </p:spPr>
        <p:txBody>
          <a:bodyPr wrap="none" lIns="0" tIns="0" rIns="0" bIns="0" anchor="t" anchorCtr="0">
            <a:spAutoFit/>
          </a:bodyPr>
          <a:lstStyle/>
          <a:p>
            <a:pPr algn="l"/>
            <a:r>
              <a:rPr lang="en-US" sz="1120" b="1" spc="150" dirty="0">
                <a:solidFill>
                  <a:schemeClr val="accent2"/>
                </a:solidFill>
                <a:latin typeface="+mn-lt"/>
                <a:ea typeface="+mn-ea"/>
                <a:cs typeface="+mn-cs"/>
              </a:rPr>
              <a:t>MOTIVATION</a:t>
            </a:r>
          </a:p>
        </p:txBody>
      </p:sp>
      <p:sp>
        <p:nvSpPr>
          <p:cNvPr id="4" name="TextBox 4"/>
          <p:cNvSpPr txBox="1"/>
          <p:nvPr/>
        </p:nvSpPr>
        <p:spPr>
          <a:xfrm>
            <a:off x="789432" y="630555"/>
            <a:ext cx="727327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Biology balances new information against stability</a:t>
            </a:r>
          </a:p>
        </p:txBody>
      </p:sp>
      <p:sp>
        <p:nvSpPr>
          <p:cNvPr id="5" name="Line 5"/>
          <p:cNvSpPr/>
          <p:nvPr/>
        </p:nvSpPr>
        <p:spPr>
          <a:xfrm>
            <a:off x="609600" y="1028700"/>
            <a:ext cx="10972800" cy="9525"/>
          </a:xfrm>
          <a:custGeom>
            <a:avLst/>
            <a:gdLst/>
            <a:ahLst/>
            <a:cxnLst/>
            <a:rect l="l" t="t" r="r" b="b"/>
            <a:pathLst>
              <a:path w="10972800" h="9525">
                <a:moveTo>
                  <a:pt x="0" y="0"/>
                </a:moveTo>
                <a:lnTo>
                  <a:pt x="10972800" y="0"/>
                </a:lnTo>
              </a:path>
            </a:pathLst>
          </a:custGeom>
          <a:noFill/>
          <a:ln w="14288">
            <a:solidFill>
              <a:schemeClr val="accent4"/>
            </a:solidFill>
          </a:ln>
        </p:spPr>
        <p:txBody>
          <a:bodyPr/>
          <a:p/>
        </p:txBody>
      </p:sp>
      <p:sp>
        <p:nvSpPr>
          <p:cNvPr id="6" name="TextBox 6"/>
          <p:cNvSpPr txBox="1"/>
          <p:nvPr/>
        </p:nvSpPr>
        <p:spPr>
          <a:xfrm>
            <a:off x="11103540" y="477202"/>
            <a:ext cx="484194" cy="205359"/>
          </a:xfrm>
          <a:prstGeom prst="rect">
            <a:avLst/>
          </a:prstGeom>
          <a:noFill/>
          <a:ln>
            <a:noFill/>
          </a:ln>
        </p:spPr>
        <p:txBody>
          <a:bodyPr wrap="none" lIns="0" tIns="0" rIns="0" bIns="0" anchor="t" anchorCtr="0">
            <a:spAutoFit/>
          </a:bodyPr>
          <a:lstStyle/>
          <a:p>
            <a:pPr algn="r"/>
            <a:r>
              <a:rPr lang="en-US" sz="1050" dirty="0">
                <a:solidFill>
                  <a:srgbClr val="6D7C96"/>
                </a:solidFill>
                <a:latin typeface="+mn-lt"/>
                <a:ea typeface="+mn-ea"/>
                <a:cs typeface="+mn-cs"/>
              </a:rPr>
              <a:t>03 / 10</a:t>
            </a:r>
          </a:p>
        </p:txBody>
      </p:sp>
      <p:grpSp>
        <p:nvGrpSpPr>
          <p:cNvPr id="14" name="Group 14"/>
          <p:cNvGrpSpPr/>
          <p:nvPr/>
        </p:nvGrpSpPr>
        <p:grpSpPr>
          <a:xfrm>
            <a:off x="609600" y="1257300"/>
            <a:ext cx="5372100" cy="2457450"/>
            <a:chOff x="609600" y="1257300"/>
            <a:chExt cx="5372100" cy="2457450"/>
          </a:xfrm>
        </p:grpSpPr>
        <p:sp>
          <p:nvSpPr>
            <p:cNvPr id="7" name="Rectangle 7"/>
            <p:cNvSpPr/>
            <p:nvPr/>
          </p:nvSpPr>
          <p:spPr>
            <a:xfrm>
              <a:off x="609600" y="1257300"/>
              <a:ext cx="5372100" cy="2457450"/>
            </a:xfrm>
            <a:prstGeom prst="roundRect">
              <a:avLst>
                <a:gd name="adj" fmla="val 4651"/>
              </a:avLst>
            </a:prstGeom>
            <a:solidFill>
              <a:schemeClr val="accent5"/>
            </a:solidFill>
            <a:ln w="14288">
              <a:solidFill>
                <a:schemeClr val="accent4"/>
              </a:solidFill>
            </a:ln>
          </p:spPr>
        </p:sp>
        <p:sp>
          <p:nvSpPr>
            <p:cNvPr id="8" name="Rectangle 8"/>
            <p:cNvSpPr/>
            <p:nvPr/>
          </p:nvSpPr>
          <p:spPr>
            <a:xfrm>
              <a:off x="609600" y="1409700"/>
              <a:ext cx="47625" cy="247650"/>
            </a:xfrm>
            <a:prstGeom prst="roundRect">
              <a:avLst>
                <a:gd name="adj" fmla="val 50000"/>
              </a:avLst>
            </a:prstGeom>
            <a:solidFill>
              <a:schemeClr val="accent2"/>
            </a:solidFill>
            <a:ln>
              <a:noFill/>
            </a:ln>
          </p:spPr>
        </p:sp>
        <p:sp>
          <p:nvSpPr>
            <p:cNvPr id="9" name="TextBox 9"/>
            <p:cNvSpPr txBox="1"/>
            <p:nvPr/>
          </p:nvSpPr>
          <p:spPr>
            <a:xfrm>
              <a:off x="812673" y="1462564"/>
              <a:ext cx="2380156"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Integrate, yet stay stable</a:t>
              </a:r>
            </a:p>
          </p:txBody>
        </p:sp>
        <p:sp>
          <p:nvSpPr>
            <p:cNvPr id="10" name="TextBox 10"/>
            <p:cNvSpPr txBox="1"/>
            <p:nvPr/>
          </p:nvSpPr>
          <p:spPr>
            <a:xfrm>
              <a:off x="812292" y="1740218"/>
              <a:ext cx="264600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To adapt in a changing world a</a:t>
              </a:r>
            </a:p>
          </p:txBody>
        </p:sp>
        <p:sp>
          <p:nvSpPr>
            <p:cNvPr id="11" name="TextBox 11"/>
            <p:cNvSpPr txBox="1"/>
            <p:nvPr/>
          </p:nvSpPr>
          <p:spPr>
            <a:xfrm>
              <a:off x="812292" y="1987868"/>
              <a:ext cx="218547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system must absorb new</a:t>
              </a:r>
            </a:p>
          </p:txBody>
        </p:sp>
        <p:sp>
          <p:nvSpPr>
            <p:cNvPr id="12" name="TextBox 12"/>
            <p:cNvSpPr txBox="1"/>
            <p:nvPr/>
          </p:nvSpPr>
          <p:spPr>
            <a:xfrm>
              <a:off x="812292" y="2235518"/>
              <a:ext cx="245807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information while remaining</a:t>
              </a:r>
            </a:p>
          </p:txBody>
        </p:sp>
        <p:sp>
          <p:nvSpPr>
            <p:cNvPr id="13" name="TextBox 13"/>
            <p:cNvSpPr txBox="1"/>
            <p:nvPr/>
          </p:nvSpPr>
          <p:spPr>
            <a:xfrm>
              <a:off x="812292" y="2483168"/>
              <a:ext cx="106779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consistent.</a:t>
              </a:r>
            </a:p>
          </p:txBody>
        </p:sp>
      </p:grpSp>
      <p:grpSp>
        <p:nvGrpSpPr>
          <p:cNvPr id="21" name="Group 21"/>
          <p:cNvGrpSpPr/>
          <p:nvPr/>
        </p:nvGrpSpPr>
        <p:grpSpPr>
          <a:xfrm>
            <a:off x="6210300" y="1257300"/>
            <a:ext cx="5372100" cy="2457450"/>
            <a:chOff x="6210300" y="1257300"/>
            <a:chExt cx="5372100" cy="2457450"/>
          </a:xfrm>
        </p:grpSpPr>
        <p:sp>
          <p:nvSpPr>
            <p:cNvPr id="15" name="Rectangle 15"/>
            <p:cNvSpPr/>
            <p:nvPr/>
          </p:nvSpPr>
          <p:spPr>
            <a:xfrm>
              <a:off x="6210300" y="1257300"/>
              <a:ext cx="5372100" cy="2457450"/>
            </a:xfrm>
            <a:prstGeom prst="roundRect">
              <a:avLst>
                <a:gd name="adj" fmla="val 4651"/>
              </a:avLst>
            </a:prstGeom>
            <a:solidFill>
              <a:schemeClr val="accent5"/>
            </a:solidFill>
            <a:ln w="14288">
              <a:solidFill>
                <a:schemeClr val="accent4"/>
              </a:solidFill>
            </a:ln>
          </p:spPr>
        </p:sp>
        <p:sp>
          <p:nvSpPr>
            <p:cNvPr id="16" name="Rectangle 16"/>
            <p:cNvSpPr/>
            <p:nvPr/>
          </p:nvSpPr>
          <p:spPr>
            <a:xfrm>
              <a:off x="6210300" y="1409700"/>
              <a:ext cx="47625" cy="247650"/>
            </a:xfrm>
            <a:prstGeom prst="roundRect">
              <a:avLst>
                <a:gd name="adj" fmla="val 50000"/>
              </a:avLst>
            </a:prstGeom>
            <a:solidFill>
              <a:srgbClr val="7BE0C8"/>
            </a:solidFill>
            <a:ln>
              <a:noFill/>
            </a:ln>
          </p:spPr>
        </p:sp>
        <p:sp>
          <p:nvSpPr>
            <p:cNvPr id="17" name="TextBox 17"/>
            <p:cNvSpPr txBox="1"/>
            <p:nvPr/>
          </p:nvSpPr>
          <p:spPr>
            <a:xfrm>
              <a:off x="6413373" y="1462564"/>
              <a:ext cx="1602059"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Two failure modes</a:t>
              </a:r>
            </a:p>
          </p:txBody>
        </p:sp>
        <p:sp>
          <p:nvSpPr>
            <p:cNvPr id="18" name="TextBox 18"/>
            <p:cNvSpPr txBox="1"/>
            <p:nvPr/>
          </p:nvSpPr>
          <p:spPr>
            <a:xfrm>
              <a:off x="6412992" y="1740218"/>
              <a:ext cx="2790808"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Too much destabilization blocks</a:t>
              </a:r>
            </a:p>
          </p:txBody>
        </p:sp>
        <p:sp>
          <p:nvSpPr>
            <p:cNvPr id="19" name="TextBox 19"/>
            <p:cNvSpPr txBox="1"/>
            <p:nvPr/>
          </p:nvSpPr>
          <p:spPr>
            <a:xfrm>
              <a:off x="6412992" y="1987868"/>
              <a:ext cx="303963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learning; too much reliance on the</a:t>
              </a:r>
            </a:p>
          </p:txBody>
        </p:sp>
        <p:sp>
          <p:nvSpPr>
            <p:cNvPr id="20" name="TextBox 20"/>
            <p:cNvSpPr txBox="1"/>
            <p:nvPr/>
          </p:nvSpPr>
          <p:spPr>
            <a:xfrm>
              <a:off x="6412992" y="2235518"/>
              <a:ext cx="293968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past locks in outdated patterns.</a:t>
              </a:r>
            </a:p>
          </p:txBody>
        </p:sp>
      </p:grpSp>
      <p:grpSp>
        <p:nvGrpSpPr>
          <p:cNvPr id="29" name="Group 29"/>
          <p:cNvGrpSpPr/>
          <p:nvPr/>
        </p:nvGrpSpPr>
        <p:grpSpPr>
          <a:xfrm>
            <a:off x="609600" y="3943350"/>
            <a:ext cx="5372100" cy="2457450"/>
            <a:chOff x="609600" y="3943350"/>
            <a:chExt cx="5372100" cy="2457450"/>
          </a:xfrm>
        </p:grpSpPr>
        <p:sp>
          <p:nvSpPr>
            <p:cNvPr id="22" name="Rectangle 22"/>
            <p:cNvSpPr/>
            <p:nvPr/>
          </p:nvSpPr>
          <p:spPr>
            <a:xfrm>
              <a:off x="609600" y="3943350"/>
              <a:ext cx="5372100" cy="2457450"/>
            </a:xfrm>
            <a:prstGeom prst="roundRect">
              <a:avLst>
                <a:gd name="adj" fmla="val 4651"/>
              </a:avLst>
            </a:prstGeom>
            <a:solidFill>
              <a:schemeClr val="accent5"/>
            </a:solidFill>
            <a:ln w="14288">
              <a:solidFill>
                <a:schemeClr val="accent4"/>
              </a:solidFill>
            </a:ln>
          </p:spPr>
        </p:sp>
        <p:sp>
          <p:nvSpPr>
            <p:cNvPr id="23" name="Rectangle 23"/>
            <p:cNvSpPr/>
            <p:nvPr/>
          </p:nvSpPr>
          <p:spPr>
            <a:xfrm>
              <a:off x="609600" y="4095750"/>
              <a:ext cx="47625" cy="247650"/>
            </a:xfrm>
            <a:prstGeom prst="roundRect">
              <a:avLst>
                <a:gd name="adj" fmla="val 50000"/>
              </a:avLst>
            </a:prstGeom>
            <a:solidFill>
              <a:srgbClr val="7BE0C8"/>
            </a:solidFill>
            <a:ln>
              <a:noFill/>
            </a:ln>
          </p:spPr>
        </p:sp>
        <p:sp>
          <p:nvSpPr>
            <p:cNvPr id="24" name="TextBox 24"/>
            <p:cNvSpPr txBox="1"/>
            <p:nvPr/>
          </p:nvSpPr>
          <p:spPr>
            <a:xfrm>
              <a:off x="812673" y="4148614"/>
              <a:ext cx="1484011"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Biology's toolkit</a:t>
              </a:r>
            </a:p>
          </p:txBody>
        </p:sp>
        <p:sp>
          <p:nvSpPr>
            <p:cNvPr id="25" name="TextBox 25"/>
            <p:cNvSpPr txBox="1"/>
            <p:nvPr/>
          </p:nvSpPr>
          <p:spPr>
            <a:xfrm>
              <a:off x="812292" y="4426268"/>
              <a:ext cx="275481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Metaplasticity tunes how much</a:t>
              </a:r>
            </a:p>
          </p:txBody>
        </p:sp>
        <p:sp>
          <p:nvSpPr>
            <p:cNvPr id="26" name="TextBox 26"/>
            <p:cNvSpPr txBox="1"/>
            <p:nvPr/>
          </p:nvSpPr>
          <p:spPr>
            <a:xfrm>
              <a:off x="812292" y="4673918"/>
              <a:ext cx="322137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synapses change; homeostasis holds</a:t>
              </a:r>
            </a:p>
          </p:txBody>
        </p:sp>
        <p:sp>
          <p:nvSpPr>
            <p:cNvPr id="27" name="TextBox 27"/>
            <p:cNvSpPr txBox="1"/>
            <p:nvPr/>
          </p:nvSpPr>
          <p:spPr>
            <a:xfrm>
              <a:off x="812292" y="4921568"/>
              <a:ext cx="295785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 set point; inhibition and resets</a:t>
              </a:r>
            </a:p>
          </p:txBody>
        </p:sp>
        <p:sp>
          <p:nvSpPr>
            <p:cNvPr id="28" name="TextBox 28"/>
            <p:cNvSpPr txBox="1"/>
            <p:nvPr/>
          </p:nvSpPr>
          <p:spPr>
            <a:xfrm>
              <a:off x="812292" y="5169218"/>
              <a:ext cx="167661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enable forgetting.</a:t>
              </a:r>
            </a:p>
          </p:txBody>
        </p:sp>
      </p:grpSp>
      <p:grpSp>
        <p:nvGrpSpPr>
          <p:cNvPr id="37" name="Group 37"/>
          <p:cNvGrpSpPr/>
          <p:nvPr/>
        </p:nvGrpSpPr>
        <p:grpSpPr>
          <a:xfrm>
            <a:off x="6210300" y="3943350"/>
            <a:ext cx="5372100" cy="2457450"/>
            <a:chOff x="6210300" y="3943350"/>
            <a:chExt cx="5372100" cy="2457450"/>
          </a:xfrm>
        </p:grpSpPr>
        <p:sp>
          <p:nvSpPr>
            <p:cNvPr id="30" name="Rectangle 30"/>
            <p:cNvSpPr/>
            <p:nvPr/>
          </p:nvSpPr>
          <p:spPr>
            <a:xfrm>
              <a:off x="6210300" y="3943350"/>
              <a:ext cx="5372100" cy="2457450"/>
            </a:xfrm>
            <a:prstGeom prst="roundRect">
              <a:avLst>
                <a:gd name="adj" fmla="val 4651"/>
              </a:avLst>
            </a:prstGeom>
            <a:solidFill>
              <a:schemeClr val="accent5"/>
            </a:solidFill>
            <a:ln w="14288">
              <a:solidFill>
                <a:schemeClr val="accent4"/>
              </a:solidFill>
            </a:ln>
          </p:spPr>
        </p:sp>
        <p:sp>
          <p:nvSpPr>
            <p:cNvPr id="31" name="Rectangle 31"/>
            <p:cNvSpPr/>
            <p:nvPr/>
          </p:nvSpPr>
          <p:spPr>
            <a:xfrm>
              <a:off x="6210300" y="4095750"/>
              <a:ext cx="47625" cy="247650"/>
            </a:xfrm>
            <a:prstGeom prst="roundRect">
              <a:avLst>
                <a:gd name="adj" fmla="val 50000"/>
              </a:avLst>
            </a:prstGeom>
            <a:solidFill>
              <a:srgbClr val="F2A65A"/>
            </a:solidFill>
            <a:ln>
              <a:noFill/>
            </a:ln>
          </p:spPr>
        </p:sp>
        <p:sp>
          <p:nvSpPr>
            <p:cNvPr id="32" name="TextBox 32"/>
            <p:cNvSpPr txBox="1"/>
            <p:nvPr/>
          </p:nvSpPr>
          <p:spPr>
            <a:xfrm>
              <a:off x="6413373" y="4148614"/>
              <a:ext cx="1162964" cy="249364"/>
            </a:xfrm>
            <a:prstGeom prst="rect">
              <a:avLst/>
            </a:prstGeom>
            <a:noFill/>
            <a:ln>
              <a:noFill/>
            </a:ln>
          </p:spPr>
          <p:txBody>
            <a:bodyPr wrap="none" lIns="0" tIns="0" rIns="0" bIns="0" anchor="t" anchorCtr="0">
              <a:spAutoFit/>
            </a:bodyPr>
            <a:lstStyle/>
            <a:p>
              <a:pPr algn="l"/>
              <a:r>
                <a:rPr lang="en-US" sz="1280" b="1" dirty="0">
                  <a:solidFill>
                    <a:srgbClr val="F2A65A"/>
                  </a:solidFill>
                  <a:latin typeface="+mn-lt"/>
                  <a:ea typeface="+mn-ea"/>
                  <a:cs typeface="+mn-cs"/>
                </a:rPr>
                <a:t>The SO model</a:t>
              </a:r>
            </a:p>
          </p:txBody>
        </p:sp>
        <p:sp>
          <p:nvSpPr>
            <p:cNvPr id="33" name="TextBox 33"/>
            <p:cNvSpPr txBox="1"/>
            <p:nvPr/>
          </p:nvSpPr>
          <p:spPr>
            <a:xfrm>
              <a:off x="6412992" y="4426268"/>
              <a:ext cx="240289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 Hopfield net with Hebbian</a:t>
              </a:r>
            </a:p>
          </p:txBody>
        </p:sp>
        <p:sp>
          <p:nvSpPr>
            <p:cNvPr id="34" name="TextBox 34"/>
            <p:cNvSpPr txBox="1"/>
            <p:nvPr/>
          </p:nvSpPr>
          <p:spPr>
            <a:xfrm>
              <a:off x="6412992" y="4673918"/>
              <a:ext cx="294876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learning and periodic resets that</a:t>
              </a:r>
            </a:p>
          </p:txBody>
        </p:sp>
        <p:sp>
          <p:nvSpPr>
            <p:cNvPr id="35" name="TextBox 35"/>
            <p:cNvSpPr txBox="1"/>
            <p:nvPr/>
          </p:nvSpPr>
          <p:spPr>
            <a:xfrm>
              <a:off x="6412992" y="4921568"/>
              <a:ext cx="305781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remembers visited attractors and</a:t>
              </a:r>
            </a:p>
          </p:txBody>
        </p:sp>
        <p:sp>
          <p:nvSpPr>
            <p:cNvPr id="36" name="TextBox 36"/>
            <p:cNvSpPr txBox="1"/>
            <p:nvPr/>
          </p:nvSpPr>
          <p:spPr>
            <a:xfrm>
              <a:off x="6412992" y="5169218"/>
              <a:ext cx="294876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widens the global-minimum basin.</a:t>
              </a:r>
            </a:p>
          </p:txBody>
        </p:sp>
      </p:grpSp>
      <p:sp>
        <p:nvSpPr>
          <p:cNvPr id="38" name="cue_s03_c1_adapt_uncertain_changing_world_compl" title="cue_s03_c1_adapt_uncertain_changing_world_compl" descr="cue_s03_c1_adapt_uncertain_changing_world_compl To adapt in an uncertain, changing world, complex systems must integrate new information while maintaining stability."/>
          <p:cNvSpPr/>
          <p:nvPr/>
        </p:nvSpPr>
        <p:spPr>
          <a:xfrm>
            <a:off x="609600" y="12570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3_c2_too_much_destabilization_prevents_co" title="cue_s03_c2_too_much_destabilization_prevents_co" descr="cue_s03_c2_too_much_destabilization_prevents_co Too much destabilization prevents consistent learning; too much reliance on past memory locks in outdated patterns."/>
          <p:cNvSpPr/>
          <p:nvPr/>
        </p:nvSpPr>
        <p:spPr>
          <a:xfrm>
            <a:off x="6210604" y="12570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3_c3_biology_solves_interplay_mechanisms" title="cue_s03_c3_biology_solves_interplay_mechanisms" descr="cue_s03_c3_biology_solves_interplay_mechanisms Biology solves this with an interplay of mechanisms — metaplasticity that tunes how much synapses change, homeostasis that regulates the system around a set point, inhibition, and resets that enable forgetting."/>
          <p:cNvSpPr/>
          <p:nvPr/>
        </p:nvSpPr>
        <p:spPr>
          <a:xfrm>
            <a:off x="609600" y="3943349"/>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3_c4_self_optimization_hopfield_network_h" title="cue_s03_c4_self_optimization_hopfield_network_h" descr="cue_s03_c4_self_optimization_hopfield_network_h The self-optimization model is a Hopfield network with Hebbian learning and periodic resets that already builds a memory of visited attractors and enlarges the basin of the global energy minimum, making it a promising candidate to be enriched with more of thes"/>
          <p:cNvSpPr/>
          <p:nvPr/>
        </p:nvSpPr>
        <p:spPr>
          <a:xfrm>
            <a:off x="6210604" y="3943349"/>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69106"/>
            <a:ext cx="1333409" cy="220028"/>
          </a:xfrm>
          <a:prstGeom prst="rect">
            <a:avLst/>
          </a:prstGeom>
          <a:noFill/>
          <a:ln>
            <a:noFill/>
          </a:ln>
        </p:spPr>
        <p:txBody>
          <a:bodyPr wrap="none" lIns="0" tIns="0" rIns="0" bIns="0" anchor="t" anchorCtr="0">
            <a:spAutoFit/>
          </a:bodyPr>
          <a:lstStyle/>
          <a:p>
            <a:pPr algn="l"/>
            <a:r>
              <a:rPr lang="en-US" sz="1120" b="1" spc="150" dirty="0">
                <a:solidFill>
                  <a:schemeClr val="accent2"/>
                </a:solidFill>
                <a:latin typeface="+mn-lt"/>
                <a:ea typeface="+mn-ea"/>
                <a:cs typeface="+mn-cs"/>
              </a:rPr>
              <a:t>CONTRIBUTION</a:t>
            </a:r>
          </a:p>
        </p:txBody>
      </p:sp>
      <p:sp>
        <p:nvSpPr>
          <p:cNvPr id="4" name="TextBox 4"/>
          <p:cNvSpPr txBox="1"/>
          <p:nvPr/>
        </p:nvSpPr>
        <p:spPr>
          <a:xfrm>
            <a:off x="789432" y="630555"/>
            <a:ext cx="3562786"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Two linked contributions</a:t>
            </a:r>
          </a:p>
        </p:txBody>
      </p:sp>
      <p:sp>
        <p:nvSpPr>
          <p:cNvPr id="5" name="Line 5"/>
          <p:cNvSpPr/>
          <p:nvPr/>
        </p:nvSpPr>
        <p:spPr>
          <a:xfrm>
            <a:off x="609600" y="1028700"/>
            <a:ext cx="10972800" cy="9525"/>
          </a:xfrm>
          <a:custGeom>
            <a:avLst/>
            <a:gdLst/>
            <a:ahLst/>
            <a:cxnLst/>
            <a:rect l="l" t="t" r="r" b="b"/>
            <a:pathLst>
              <a:path w="10972800" h="9525">
                <a:moveTo>
                  <a:pt x="0" y="0"/>
                </a:moveTo>
                <a:lnTo>
                  <a:pt x="10972800" y="0"/>
                </a:lnTo>
              </a:path>
            </a:pathLst>
          </a:custGeom>
          <a:noFill/>
          <a:ln w="14288">
            <a:solidFill>
              <a:schemeClr val="accent4"/>
            </a:solidFill>
          </a:ln>
        </p:spPr>
        <p:txBody>
          <a:bodyPr/>
          <a:p/>
        </p:txBody>
      </p:sp>
      <p:sp>
        <p:nvSpPr>
          <p:cNvPr id="6" name="TextBox 6"/>
          <p:cNvSpPr txBox="1"/>
          <p:nvPr/>
        </p:nvSpPr>
        <p:spPr>
          <a:xfrm>
            <a:off x="11103540" y="477202"/>
            <a:ext cx="484194" cy="205359"/>
          </a:xfrm>
          <a:prstGeom prst="rect">
            <a:avLst/>
          </a:prstGeom>
          <a:noFill/>
          <a:ln>
            <a:noFill/>
          </a:ln>
        </p:spPr>
        <p:txBody>
          <a:bodyPr wrap="none" lIns="0" tIns="0" rIns="0" bIns="0" anchor="t" anchorCtr="0">
            <a:spAutoFit/>
          </a:bodyPr>
          <a:lstStyle/>
          <a:p>
            <a:pPr algn="r"/>
            <a:r>
              <a:rPr lang="en-US" sz="1050" dirty="0">
                <a:solidFill>
                  <a:srgbClr val="6D7C96"/>
                </a:solidFill>
                <a:latin typeface="+mn-lt"/>
                <a:ea typeface="+mn-ea"/>
                <a:cs typeface="+mn-cs"/>
              </a:rPr>
              <a:t>04 / 10</a:t>
            </a:r>
          </a:p>
        </p:txBody>
      </p:sp>
      <p:grpSp>
        <p:nvGrpSpPr>
          <p:cNvPr id="14" name="Group 14"/>
          <p:cNvGrpSpPr/>
          <p:nvPr/>
        </p:nvGrpSpPr>
        <p:grpSpPr>
          <a:xfrm>
            <a:off x="609600" y="1257300"/>
            <a:ext cx="5372100" cy="2457450"/>
            <a:chOff x="609600" y="1257300"/>
            <a:chExt cx="5372100" cy="2457450"/>
          </a:xfrm>
        </p:grpSpPr>
        <p:sp>
          <p:nvSpPr>
            <p:cNvPr id="7" name="Rectangle 7"/>
            <p:cNvSpPr/>
            <p:nvPr/>
          </p:nvSpPr>
          <p:spPr>
            <a:xfrm>
              <a:off x="609600" y="1257300"/>
              <a:ext cx="5372100" cy="2457450"/>
            </a:xfrm>
            <a:prstGeom prst="roundRect">
              <a:avLst>
                <a:gd name="adj" fmla="val 4651"/>
              </a:avLst>
            </a:prstGeom>
            <a:solidFill>
              <a:schemeClr val="accent5"/>
            </a:solidFill>
            <a:ln w="14288">
              <a:solidFill>
                <a:schemeClr val="accent4"/>
              </a:solidFill>
            </a:ln>
          </p:spPr>
        </p:sp>
        <p:sp>
          <p:nvSpPr>
            <p:cNvPr id="8" name="Rectangle 8"/>
            <p:cNvSpPr/>
            <p:nvPr/>
          </p:nvSpPr>
          <p:spPr>
            <a:xfrm>
              <a:off x="609600" y="1409700"/>
              <a:ext cx="47625" cy="247650"/>
            </a:xfrm>
            <a:prstGeom prst="roundRect">
              <a:avLst>
                <a:gd name="adj" fmla="val 50000"/>
              </a:avLst>
            </a:prstGeom>
            <a:solidFill>
              <a:schemeClr val="accent2"/>
            </a:solidFill>
            <a:ln>
              <a:noFill/>
            </a:ln>
          </p:spPr>
        </p:sp>
        <p:sp>
          <p:nvSpPr>
            <p:cNvPr id="9" name="TextBox 9"/>
            <p:cNvSpPr txBox="1"/>
            <p:nvPr/>
          </p:nvSpPr>
          <p:spPr>
            <a:xfrm>
              <a:off x="812673" y="1462564"/>
              <a:ext cx="1475323"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The through-line</a:t>
              </a:r>
            </a:p>
          </p:txBody>
        </p:sp>
        <p:sp>
          <p:nvSpPr>
            <p:cNvPr id="10" name="TextBox 10"/>
            <p:cNvSpPr txBox="1"/>
            <p:nvPr/>
          </p:nvSpPr>
          <p:spPr>
            <a:xfrm>
              <a:off x="812292" y="1740218"/>
              <a:ext cx="280969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The paper makes two connected</a:t>
              </a:r>
            </a:p>
          </p:txBody>
        </p:sp>
        <p:sp>
          <p:nvSpPr>
            <p:cNvPr id="11" name="TextBox 11"/>
            <p:cNvSpPr txBox="1"/>
            <p:nvPr/>
          </p:nvSpPr>
          <p:spPr>
            <a:xfrm>
              <a:off x="812292" y="1987868"/>
              <a:ext cx="3094158"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contributions: survey the biology,</a:t>
              </a:r>
            </a:p>
          </p:txBody>
        </p:sp>
        <p:sp>
          <p:nvSpPr>
            <p:cNvPr id="12" name="TextBox 12"/>
            <p:cNvSpPr txBox="1"/>
            <p:nvPr/>
          </p:nvSpPr>
          <p:spPr>
            <a:xfrm>
              <a:off x="812292" y="2235518"/>
              <a:ext cx="294876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then translate it into a concrete</a:t>
              </a:r>
            </a:p>
          </p:txBody>
        </p:sp>
        <p:sp>
          <p:nvSpPr>
            <p:cNvPr id="13" name="TextBox 13"/>
            <p:cNvSpPr txBox="1"/>
            <p:nvPr/>
          </p:nvSpPr>
          <p:spPr>
            <a:xfrm>
              <a:off x="812292" y="2483168"/>
              <a:ext cx="121318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model design.</a:t>
              </a:r>
            </a:p>
          </p:txBody>
        </p:sp>
      </p:grpSp>
      <p:grpSp>
        <p:nvGrpSpPr>
          <p:cNvPr id="22" name="Group 22"/>
          <p:cNvGrpSpPr/>
          <p:nvPr/>
        </p:nvGrpSpPr>
        <p:grpSpPr>
          <a:xfrm>
            <a:off x="6210300" y="1257300"/>
            <a:ext cx="5372100" cy="2457450"/>
            <a:chOff x="6210300" y="1257300"/>
            <a:chExt cx="5372100" cy="2457450"/>
          </a:xfrm>
        </p:grpSpPr>
        <p:sp>
          <p:nvSpPr>
            <p:cNvPr id="15" name="Rectangle 15"/>
            <p:cNvSpPr/>
            <p:nvPr/>
          </p:nvSpPr>
          <p:spPr>
            <a:xfrm>
              <a:off x="6210300" y="1257300"/>
              <a:ext cx="5372100" cy="2457450"/>
            </a:xfrm>
            <a:prstGeom prst="roundRect">
              <a:avLst>
                <a:gd name="adj" fmla="val 4651"/>
              </a:avLst>
            </a:prstGeom>
            <a:solidFill>
              <a:schemeClr val="accent5"/>
            </a:solidFill>
            <a:ln w="14288">
              <a:solidFill>
                <a:schemeClr val="accent4"/>
              </a:solidFill>
            </a:ln>
          </p:spPr>
        </p:sp>
        <p:sp>
          <p:nvSpPr>
            <p:cNvPr id="16" name="Rectangle 16"/>
            <p:cNvSpPr/>
            <p:nvPr/>
          </p:nvSpPr>
          <p:spPr>
            <a:xfrm>
              <a:off x="6210300" y="1409700"/>
              <a:ext cx="47625" cy="247650"/>
            </a:xfrm>
            <a:prstGeom prst="roundRect">
              <a:avLst>
                <a:gd name="adj" fmla="val 50000"/>
              </a:avLst>
            </a:prstGeom>
            <a:solidFill>
              <a:srgbClr val="7BE0C8"/>
            </a:solidFill>
            <a:ln>
              <a:noFill/>
            </a:ln>
          </p:spPr>
        </p:sp>
        <p:sp>
          <p:nvSpPr>
            <p:cNvPr id="17" name="TextBox 17"/>
            <p:cNvSpPr txBox="1"/>
            <p:nvPr/>
          </p:nvSpPr>
          <p:spPr>
            <a:xfrm>
              <a:off x="6413373" y="1462564"/>
              <a:ext cx="1919037"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1 · Distill mechanisms</a:t>
              </a:r>
            </a:p>
          </p:txBody>
        </p:sp>
        <p:sp>
          <p:nvSpPr>
            <p:cNvPr id="18" name="TextBox 18"/>
            <p:cNvSpPr txBox="1"/>
            <p:nvPr/>
          </p:nvSpPr>
          <p:spPr>
            <a:xfrm>
              <a:off x="6412992" y="1740218"/>
              <a:ext cx="252736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Key mechanisms of biological</a:t>
              </a:r>
            </a:p>
          </p:txBody>
        </p:sp>
        <p:sp>
          <p:nvSpPr>
            <p:cNvPr id="19" name="TextBox 19"/>
            <p:cNvSpPr txBox="1"/>
            <p:nvPr/>
          </p:nvSpPr>
          <p:spPr>
            <a:xfrm>
              <a:off x="6412992" y="1987868"/>
              <a:ext cx="283064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adaptation — metaplasticity and</a:t>
              </a:r>
            </a:p>
          </p:txBody>
        </p:sp>
        <p:sp>
          <p:nvSpPr>
            <p:cNvPr id="20" name="TextBox 20"/>
            <p:cNvSpPr txBox="1"/>
            <p:nvPr/>
          </p:nvSpPr>
          <p:spPr>
            <a:xfrm>
              <a:off x="6412992" y="2235518"/>
              <a:ext cx="283972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homeostasis, plus inhibition and</a:t>
              </a:r>
            </a:p>
          </p:txBody>
        </p:sp>
        <p:sp>
          <p:nvSpPr>
            <p:cNvPr id="21" name="TextBox 21"/>
            <p:cNvSpPr txBox="1"/>
            <p:nvPr/>
          </p:nvSpPr>
          <p:spPr>
            <a:xfrm>
              <a:off x="6412992" y="2483168"/>
              <a:ext cx="106779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forgetting.</a:t>
              </a:r>
            </a:p>
          </p:txBody>
        </p:sp>
      </p:grpSp>
      <p:grpSp>
        <p:nvGrpSpPr>
          <p:cNvPr id="30" name="Group 30"/>
          <p:cNvGrpSpPr/>
          <p:nvPr/>
        </p:nvGrpSpPr>
        <p:grpSpPr>
          <a:xfrm>
            <a:off x="609600" y="3943350"/>
            <a:ext cx="5372100" cy="2457450"/>
            <a:chOff x="609600" y="3943350"/>
            <a:chExt cx="5372100" cy="2457450"/>
          </a:xfrm>
        </p:grpSpPr>
        <p:sp>
          <p:nvSpPr>
            <p:cNvPr id="23" name="Rectangle 23"/>
            <p:cNvSpPr/>
            <p:nvPr/>
          </p:nvSpPr>
          <p:spPr>
            <a:xfrm>
              <a:off x="609600" y="3943350"/>
              <a:ext cx="5372100" cy="2457450"/>
            </a:xfrm>
            <a:prstGeom prst="roundRect">
              <a:avLst>
                <a:gd name="adj" fmla="val 4651"/>
              </a:avLst>
            </a:prstGeom>
            <a:solidFill>
              <a:schemeClr val="accent5"/>
            </a:solidFill>
            <a:ln w="14288">
              <a:solidFill>
                <a:schemeClr val="accent4"/>
              </a:solidFill>
            </a:ln>
          </p:spPr>
        </p:sp>
        <p:sp>
          <p:nvSpPr>
            <p:cNvPr id="24" name="Rectangle 24"/>
            <p:cNvSpPr/>
            <p:nvPr/>
          </p:nvSpPr>
          <p:spPr>
            <a:xfrm>
              <a:off x="609600" y="4095750"/>
              <a:ext cx="47625" cy="247650"/>
            </a:xfrm>
            <a:prstGeom prst="roundRect">
              <a:avLst>
                <a:gd name="adj" fmla="val 50000"/>
              </a:avLst>
            </a:prstGeom>
            <a:solidFill>
              <a:srgbClr val="7BE0C8"/>
            </a:solidFill>
            <a:ln>
              <a:noFill/>
            </a:ln>
          </p:spPr>
        </p:sp>
        <p:sp>
          <p:nvSpPr>
            <p:cNvPr id="25" name="TextBox 25"/>
            <p:cNvSpPr txBox="1"/>
            <p:nvPr/>
          </p:nvSpPr>
          <p:spPr>
            <a:xfrm>
              <a:off x="812673" y="4148614"/>
              <a:ext cx="1874477"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2 · Concrete avenues</a:t>
              </a:r>
            </a:p>
          </p:txBody>
        </p:sp>
        <p:sp>
          <p:nvSpPr>
            <p:cNvPr id="26" name="TextBox 26"/>
            <p:cNvSpPr txBox="1"/>
            <p:nvPr/>
          </p:nvSpPr>
          <p:spPr>
            <a:xfrm>
              <a:off x="812292" y="4426268"/>
              <a:ext cx="306854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Fold them into the SO model: make</a:t>
              </a:r>
            </a:p>
          </p:txBody>
        </p:sp>
        <p:sp>
          <p:nvSpPr>
            <p:cNvPr id="27" name="TextBox 27"/>
            <p:cNvSpPr txBox="1"/>
            <p:nvPr/>
          </p:nvSpPr>
          <p:spPr>
            <a:xfrm>
              <a:off x="812292" y="4673918"/>
              <a:ext cx="319411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the learning rate adaptive, enhance</a:t>
              </a:r>
            </a:p>
          </p:txBody>
        </p:sp>
        <p:sp>
          <p:nvSpPr>
            <p:cNvPr id="28" name="TextBox 28"/>
            <p:cNvSpPr txBox="1"/>
            <p:nvPr/>
          </p:nvSpPr>
          <p:spPr>
            <a:xfrm>
              <a:off x="812292" y="4921568"/>
              <a:ext cx="312141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modular structure, and change the</a:t>
              </a:r>
            </a:p>
          </p:txBody>
        </p:sp>
        <p:sp>
          <p:nvSpPr>
            <p:cNvPr id="29" name="TextBox 29"/>
            <p:cNvSpPr txBox="1"/>
            <p:nvPr/>
          </p:nvSpPr>
          <p:spPr>
            <a:xfrm>
              <a:off x="812292" y="5169218"/>
              <a:ext cx="143126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activation rule.</a:t>
              </a:r>
            </a:p>
          </p:txBody>
        </p:sp>
      </p:grpSp>
      <p:grpSp>
        <p:nvGrpSpPr>
          <p:cNvPr id="38" name="Group 38"/>
          <p:cNvGrpSpPr/>
          <p:nvPr/>
        </p:nvGrpSpPr>
        <p:grpSpPr>
          <a:xfrm>
            <a:off x="6210300" y="3943350"/>
            <a:ext cx="5372100" cy="2457450"/>
            <a:chOff x="6210300" y="3943350"/>
            <a:chExt cx="5372100" cy="2457450"/>
          </a:xfrm>
        </p:grpSpPr>
        <p:sp>
          <p:nvSpPr>
            <p:cNvPr id="31" name="Rectangle 31"/>
            <p:cNvSpPr/>
            <p:nvPr/>
          </p:nvSpPr>
          <p:spPr>
            <a:xfrm>
              <a:off x="6210300" y="3943350"/>
              <a:ext cx="5372100" cy="2457450"/>
            </a:xfrm>
            <a:prstGeom prst="roundRect">
              <a:avLst>
                <a:gd name="adj" fmla="val 4651"/>
              </a:avLst>
            </a:prstGeom>
            <a:solidFill>
              <a:schemeClr val="accent5"/>
            </a:solidFill>
            <a:ln w="14288">
              <a:solidFill>
                <a:schemeClr val="accent4"/>
              </a:solidFill>
            </a:ln>
          </p:spPr>
        </p:sp>
        <p:sp>
          <p:nvSpPr>
            <p:cNvPr id="32" name="Rectangle 32"/>
            <p:cNvSpPr/>
            <p:nvPr/>
          </p:nvSpPr>
          <p:spPr>
            <a:xfrm>
              <a:off x="6210300" y="4095750"/>
              <a:ext cx="47625" cy="247650"/>
            </a:xfrm>
            <a:prstGeom prst="roundRect">
              <a:avLst>
                <a:gd name="adj" fmla="val 50000"/>
              </a:avLst>
            </a:prstGeom>
            <a:solidFill>
              <a:srgbClr val="F2A65A"/>
            </a:solidFill>
            <a:ln>
              <a:noFill/>
            </a:ln>
          </p:spPr>
        </p:sp>
        <p:sp>
          <p:nvSpPr>
            <p:cNvPr id="33" name="TextBox 33"/>
            <p:cNvSpPr txBox="1"/>
            <p:nvPr/>
          </p:nvSpPr>
          <p:spPr>
            <a:xfrm>
              <a:off x="6413373" y="4148614"/>
              <a:ext cx="661312" cy="249364"/>
            </a:xfrm>
            <a:prstGeom prst="rect">
              <a:avLst/>
            </a:prstGeom>
            <a:noFill/>
            <a:ln>
              <a:noFill/>
            </a:ln>
          </p:spPr>
          <p:txBody>
            <a:bodyPr wrap="none" lIns="0" tIns="0" rIns="0" bIns="0" anchor="t" anchorCtr="0">
              <a:spAutoFit/>
            </a:bodyPr>
            <a:lstStyle/>
            <a:p>
              <a:pPr algn="l"/>
              <a:r>
                <a:rPr lang="en-US" sz="1280" b="1" dirty="0">
                  <a:solidFill>
                    <a:srgbClr val="F2A65A"/>
                  </a:solidFill>
                  <a:latin typeface="+mn-lt"/>
                  <a:ea typeface="+mn-ea"/>
                  <a:cs typeface="+mn-cs"/>
                </a:rPr>
                <a:t>The aim</a:t>
              </a:r>
            </a:p>
          </p:txBody>
        </p:sp>
        <p:sp>
          <p:nvSpPr>
            <p:cNvPr id="34" name="TextBox 34"/>
            <p:cNvSpPr txBox="1"/>
            <p:nvPr/>
          </p:nvSpPr>
          <p:spPr>
            <a:xfrm>
              <a:off x="6412992" y="4426268"/>
              <a:ext cx="219132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Deep-learning tools that</a:t>
              </a:r>
            </a:p>
          </p:txBody>
        </p:sp>
        <p:sp>
          <p:nvSpPr>
            <p:cNvPr id="35" name="TextBox 35"/>
            <p:cNvSpPr txBox="1"/>
            <p:nvPr/>
          </p:nvSpPr>
          <p:spPr>
            <a:xfrm>
              <a:off x="6412992" y="4673918"/>
              <a:ext cx="303963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recapitulate biology's advantages</a:t>
              </a:r>
            </a:p>
          </p:txBody>
        </p:sp>
        <p:sp>
          <p:nvSpPr>
            <p:cNvPr id="36" name="TextBox 36"/>
            <p:cNvSpPr txBox="1"/>
            <p:nvPr/>
          </p:nvSpPr>
          <p:spPr>
            <a:xfrm>
              <a:off x="6412992" y="4921568"/>
              <a:ext cx="263981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and can model living, adaptive</a:t>
              </a:r>
            </a:p>
          </p:txBody>
        </p:sp>
        <p:sp>
          <p:nvSpPr>
            <p:cNvPr id="37" name="TextBox 37"/>
            <p:cNvSpPr txBox="1"/>
            <p:nvPr/>
          </p:nvSpPr>
          <p:spPr>
            <a:xfrm>
              <a:off x="6412992" y="5169218"/>
              <a:ext cx="2112778"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systems across scales.</a:t>
              </a:r>
            </a:p>
          </p:txBody>
        </p:sp>
      </p:grpSp>
      <p:sp>
        <p:nvSpPr>
          <p:cNvPr id="39" name="cue_s04_c1_work_makes_two_linked_contributions" title="cue_s04_c1_work_makes_two_linked_contributions" descr="cue_s04_c1_work_makes_two_linked_contributions This work makes two linked contributions."/>
          <p:cNvSpPr/>
          <p:nvPr/>
        </p:nvSpPr>
        <p:spPr>
          <a:xfrm>
            <a:off x="609600" y="12570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4_c2_first_distills_key_mechanisms_adapta" title="cue_s04_c2_first_distills_key_mechanisms_adapta" descr="cue_s04_c2_first_distills_key_mechanisms_adapta First, it distills key mechanisms of adaptation in biological systems, with a special focus on metaplasticity and homeostatic regulation, plus inhibition and forgetting."/>
          <p:cNvSpPr/>
          <p:nvPr/>
        </p:nvSpPr>
        <p:spPr>
          <a:xfrm>
            <a:off x="6210604" y="12570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4_c3_second_proposes_concrete_avenues_inc" title="cue_s04_c3_second_proposes_concrete_avenues_inc" descr="cue_s04_c3_second_proposes_concrete_avenues_inc Second, it proposes concrete avenues to incorporate these features into the self-optimization model and Hopfield networks more broadly — by making the learning rate adaptive with respect to synaptic weights or the energy landscape, by enhancing modular structu"/>
          <p:cNvSpPr/>
          <p:nvPr/>
        </p:nvSpPr>
        <p:spPr>
          <a:xfrm>
            <a:off x="609600" y="3943349"/>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4_c4_aim_deep_learning_tools_recapitulate" title="cue_s04_c4_aim_deep_learning_tools_recapitulate" descr="cue_s04_c4_aim_deep_learning_tools_recapitulate The aim is deep learning tools that recapitulate the advantages of biological systems and can plausibly model living and adaptive systems across levels of complexity."/>
          <p:cNvSpPr/>
          <p:nvPr/>
        </p:nvSpPr>
        <p:spPr>
          <a:xfrm>
            <a:off x="6210604" y="3943349"/>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69106"/>
            <a:ext cx="737025" cy="220028"/>
          </a:xfrm>
          <a:prstGeom prst="rect">
            <a:avLst/>
          </a:prstGeom>
          <a:noFill/>
          <a:ln>
            <a:noFill/>
          </a:ln>
        </p:spPr>
        <p:txBody>
          <a:bodyPr wrap="none" lIns="0" tIns="0" rIns="0" bIns="0" anchor="t" anchorCtr="0">
            <a:spAutoFit/>
          </a:bodyPr>
          <a:lstStyle/>
          <a:p>
            <a:pPr algn="l"/>
            <a:r>
              <a:rPr lang="en-US" sz="1120" b="1" spc="150" dirty="0">
                <a:solidFill>
                  <a:schemeClr val="accent2"/>
                </a:solidFill>
                <a:latin typeface="+mn-lt"/>
                <a:ea typeface="+mn-ea"/>
                <a:cs typeface="+mn-cs"/>
              </a:rPr>
              <a:t>METHOD</a:t>
            </a:r>
          </a:p>
        </p:txBody>
      </p:sp>
      <p:sp>
        <p:nvSpPr>
          <p:cNvPr id="4" name="TextBox 4"/>
          <p:cNvSpPr txBox="1"/>
          <p:nvPr/>
        </p:nvSpPr>
        <p:spPr>
          <a:xfrm>
            <a:off x="789432" y="630555"/>
            <a:ext cx="734847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Raise degrees of freedom without new parameters</a:t>
            </a:r>
          </a:p>
        </p:txBody>
      </p:sp>
      <p:sp>
        <p:nvSpPr>
          <p:cNvPr id="5" name="Line 5"/>
          <p:cNvSpPr/>
          <p:nvPr/>
        </p:nvSpPr>
        <p:spPr>
          <a:xfrm>
            <a:off x="609600" y="1028700"/>
            <a:ext cx="10972800" cy="9525"/>
          </a:xfrm>
          <a:custGeom>
            <a:avLst/>
            <a:gdLst/>
            <a:ahLst/>
            <a:cxnLst/>
            <a:rect l="l" t="t" r="r" b="b"/>
            <a:pathLst>
              <a:path w="10972800" h="9525">
                <a:moveTo>
                  <a:pt x="0" y="0"/>
                </a:moveTo>
                <a:lnTo>
                  <a:pt x="10972800" y="0"/>
                </a:lnTo>
              </a:path>
            </a:pathLst>
          </a:custGeom>
          <a:noFill/>
          <a:ln w="14288">
            <a:solidFill>
              <a:schemeClr val="accent4"/>
            </a:solidFill>
          </a:ln>
        </p:spPr>
        <p:txBody>
          <a:bodyPr/>
          <a:p/>
        </p:txBody>
      </p:sp>
      <p:sp>
        <p:nvSpPr>
          <p:cNvPr id="6" name="TextBox 6"/>
          <p:cNvSpPr txBox="1"/>
          <p:nvPr/>
        </p:nvSpPr>
        <p:spPr>
          <a:xfrm>
            <a:off x="11103540" y="477202"/>
            <a:ext cx="484194" cy="205359"/>
          </a:xfrm>
          <a:prstGeom prst="rect">
            <a:avLst/>
          </a:prstGeom>
          <a:noFill/>
          <a:ln>
            <a:noFill/>
          </a:ln>
        </p:spPr>
        <p:txBody>
          <a:bodyPr wrap="none" lIns="0" tIns="0" rIns="0" bIns="0" anchor="t" anchorCtr="0">
            <a:spAutoFit/>
          </a:bodyPr>
          <a:lstStyle/>
          <a:p>
            <a:pPr algn="r"/>
            <a:r>
              <a:rPr lang="en-US" sz="1050" dirty="0">
                <a:solidFill>
                  <a:srgbClr val="6D7C96"/>
                </a:solidFill>
                <a:latin typeface="+mn-lt"/>
                <a:ea typeface="+mn-ea"/>
                <a:cs typeface="+mn-cs"/>
              </a:rPr>
              <a:t>05 / 10</a:t>
            </a:r>
          </a:p>
        </p:txBody>
      </p:sp>
      <p:grpSp>
        <p:nvGrpSpPr>
          <p:cNvPr id="11" name="Group 11"/>
          <p:cNvGrpSpPr/>
          <p:nvPr/>
        </p:nvGrpSpPr>
        <p:grpSpPr>
          <a:xfrm>
            <a:off x="609600" y="1257300"/>
            <a:ext cx="10972800" cy="971550"/>
            <a:chOff x="609600" y="1257300"/>
            <a:chExt cx="10972800" cy="971550"/>
          </a:xfrm>
        </p:grpSpPr>
        <p:sp>
          <p:nvSpPr>
            <p:cNvPr id="7" name="Rectangle 7"/>
            <p:cNvSpPr/>
            <p:nvPr/>
          </p:nvSpPr>
          <p:spPr>
            <a:xfrm>
              <a:off x="609600" y="1257300"/>
              <a:ext cx="10972800" cy="971550"/>
            </a:xfrm>
            <a:prstGeom prst="roundRect">
              <a:avLst>
                <a:gd name="adj" fmla="val 11765"/>
              </a:avLst>
            </a:prstGeom>
            <a:solidFill>
              <a:schemeClr val="accent5"/>
            </a:solidFill>
            <a:ln w="14288">
              <a:solidFill>
                <a:schemeClr val="accent4"/>
              </a:solidFill>
            </a:ln>
          </p:spPr>
        </p:sp>
        <p:sp>
          <p:nvSpPr>
            <p:cNvPr id="8" name="Rectangle 8"/>
            <p:cNvSpPr/>
            <p:nvPr/>
          </p:nvSpPr>
          <p:spPr>
            <a:xfrm>
              <a:off x="609600" y="1409700"/>
              <a:ext cx="47625" cy="247650"/>
            </a:xfrm>
            <a:prstGeom prst="roundRect">
              <a:avLst>
                <a:gd name="adj" fmla="val 50000"/>
              </a:avLst>
            </a:prstGeom>
            <a:solidFill>
              <a:schemeClr val="accent2"/>
            </a:solidFill>
            <a:ln>
              <a:noFill/>
            </a:ln>
          </p:spPr>
        </p:sp>
        <p:sp>
          <p:nvSpPr>
            <p:cNvPr id="9" name="TextBox 9"/>
            <p:cNvSpPr txBox="1"/>
            <p:nvPr/>
          </p:nvSpPr>
          <p:spPr>
            <a:xfrm>
              <a:off x="812673" y="1462564"/>
              <a:ext cx="4307201"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Core idea: let existing components do more work</a:t>
              </a:r>
            </a:p>
          </p:txBody>
        </p:sp>
        <p:sp>
          <p:nvSpPr>
            <p:cNvPr id="10" name="TextBox 10"/>
            <p:cNvSpPr txBox="1"/>
            <p:nvPr/>
          </p:nvSpPr>
          <p:spPr>
            <a:xfrm>
              <a:off x="810768" y="1822132"/>
              <a:ext cx="627109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Hebbian update: Δwᵢⱼ = f(wᵢⱼ) · sᵢ sⱼ with α = f(wᵢⱼ)</a:t>
              </a:r>
            </a:p>
          </p:txBody>
        </p:sp>
      </p:grpSp>
      <p:grpSp>
        <p:nvGrpSpPr>
          <p:cNvPr id="20" name="Group 20"/>
          <p:cNvGrpSpPr/>
          <p:nvPr/>
        </p:nvGrpSpPr>
        <p:grpSpPr>
          <a:xfrm>
            <a:off x="609600" y="2419350"/>
            <a:ext cx="3530600" cy="3981450"/>
            <a:chOff x="609600" y="2419350"/>
            <a:chExt cx="3530600" cy="3981450"/>
          </a:xfrm>
        </p:grpSpPr>
        <p:sp>
          <p:nvSpPr>
            <p:cNvPr id="12" name="Rectangle 12"/>
            <p:cNvSpPr/>
            <p:nvPr/>
          </p:nvSpPr>
          <p:spPr>
            <a:xfrm>
              <a:off x="609600" y="2419350"/>
              <a:ext cx="3530600" cy="3981450"/>
            </a:xfrm>
            <a:prstGeom prst="roundRect">
              <a:avLst>
                <a:gd name="adj" fmla="val 3237"/>
              </a:avLst>
            </a:prstGeom>
            <a:solidFill>
              <a:schemeClr val="accent5"/>
            </a:solidFill>
            <a:ln w="14288">
              <a:solidFill>
                <a:schemeClr val="accent4"/>
              </a:solidFill>
            </a:ln>
          </p:spPr>
        </p:sp>
        <p:sp>
          <p:nvSpPr>
            <p:cNvPr id="13" name="Rectangle 13"/>
            <p:cNvSpPr/>
            <p:nvPr/>
          </p:nvSpPr>
          <p:spPr>
            <a:xfrm>
              <a:off x="609600" y="2571750"/>
              <a:ext cx="47625" cy="247650"/>
            </a:xfrm>
            <a:prstGeom prst="roundRect">
              <a:avLst>
                <a:gd name="adj" fmla="val 50000"/>
              </a:avLst>
            </a:prstGeom>
            <a:solidFill>
              <a:srgbClr val="7BE0C8"/>
            </a:solidFill>
            <a:ln>
              <a:noFill/>
            </a:ln>
          </p:spPr>
        </p:sp>
        <p:sp>
          <p:nvSpPr>
            <p:cNvPr id="14" name="TextBox 14"/>
            <p:cNvSpPr txBox="1"/>
            <p:nvPr/>
          </p:nvSpPr>
          <p:spPr>
            <a:xfrm>
              <a:off x="812673" y="2624614"/>
              <a:ext cx="1818564"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Local metaplasticity</a:t>
              </a:r>
            </a:p>
          </p:txBody>
        </p:sp>
        <p:sp>
          <p:nvSpPr>
            <p:cNvPr id="15" name="TextBox 15"/>
            <p:cNvSpPr txBox="1"/>
            <p:nvPr/>
          </p:nvSpPr>
          <p:spPr>
            <a:xfrm>
              <a:off x="812673" y="2910364"/>
              <a:ext cx="2767118"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The learning rate α is no longer a</a:t>
              </a:r>
            </a:p>
          </p:txBody>
        </p:sp>
        <p:sp>
          <p:nvSpPr>
            <p:cNvPr id="16" name="TextBox 16"/>
            <p:cNvSpPr txBox="1"/>
            <p:nvPr/>
          </p:nvSpPr>
          <p:spPr>
            <a:xfrm>
              <a:off x="812673" y="3148489"/>
              <a:ext cx="2744125"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fixed constant but a function of</a:t>
              </a:r>
            </a:p>
          </p:txBody>
        </p:sp>
        <p:sp>
          <p:nvSpPr>
            <p:cNvPr id="17" name="TextBox 17"/>
            <p:cNvSpPr txBox="1"/>
            <p:nvPr/>
          </p:nvSpPr>
          <p:spPr>
            <a:xfrm>
              <a:off x="812673" y="3386614"/>
              <a:ext cx="2537348"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the connection weight, so the</a:t>
              </a:r>
            </a:p>
          </p:txBody>
        </p:sp>
        <p:sp>
          <p:nvSpPr>
            <p:cNvPr id="18" name="TextBox 18"/>
            <p:cNvSpPr txBox="1"/>
            <p:nvPr/>
          </p:nvSpPr>
          <p:spPr>
            <a:xfrm>
              <a:off x="812673" y="3624739"/>
              <a:ext cx="1776080"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Hebbian rule becomes</a:t>
              </a:r>
            </a:p>
          </p:txBody>
        </p:sp>
        <p:sp>
          <p:nvSpPr>
            <p:cNvPr id="19" name="TextBox 19"/>
            <p:cNvSpPr txBox="1"/>
            <p:nvPr/>
          </p:nvSpPr>
          <p:spPr>
            <a:xfrm>
              <a:off x="812673" y="3862864"/>
              <a:ext cx="1615470"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weight-dependent.</a:t>
              </a:r>
            </a:p>
          </p:txBody>
        </p:sp>
      </p:grpSp>
      <p:grpSp>
        <p:nvGrpSpPr>
          <p:cNvPr id="29" name="Group 29"/>
          <p:cNvGrpSpPr/>
          <p:nvPr/>
        </p:nvGrpSpPr>
        <p:grpSpPr>
          <a:xfrm>
            <a:off x="4330700" y="2419350"/>
            <a:ext cx="3530600" cy="3981450"/>
            <a:chOff x="4330700" y="2419350"/>
            <a:chExt cx="3530600" cy="3981450"/>
          </a:xfrm>
        </p:grpSpPr>
        <p:sp>
          <p:nvSpPr>
            <p:cNvPr id="21" name="Rectangle 21"/>
            <p:cNvSpPr/>
            <p:nvPr/>
          </p:nvSpPr>
          <p:spPr>
            <a:xfrm>
              <a:off x="4330700" y="2419350"/>
              <a:ext cx="3530600" cy="3981450"/>
            </a:xfrm>
            <a:prstGeom prst="roundRect">
              <a:avLst>
                <a:gd name="adj" fmla="val 3237"/>
              </a:avLst>
            </a:prstGeom>
            <a:solidFill>
              <a:schemeClr val="accent5"/>
            </a:solidFill>
            <a:ln w="14288">
              <a:solidFill>
                <a:schemeClr val="accent4"/>
              </a:solidFill>
            </a:ln>
          </p:spPr>
        </p:sp>
        <p:sp>
          <p:nvSpPr>
            <p:cNvPr id="22" name="Rectangle 22"/>
            <p:cNvSpPr/>
            <p:nvPr/>
          </p:nvSpPr>
          <p:spPr>
            <a:xfrm>
              <a:off x="4330700" y="2571750"/>
              <a:ext cx="47625" cy="247650"/>
            </a:xfrm>
            <a:prstGeom prst="roundRect">
              <a:avLst>
                <a:gd name="adj" fmla="val 50000"/>
              </a:avLst>
            </a:prstGeom>
            <a:solidFill>
              <a:srgbClr val="7BE0C8"/>
            </a:solidFill>
            <a:ln>
              <a:noFill/>
            </a:ln>
          </p:spPr>
        </p:sp>
        <p:sp>
          <p:nvSpPr>
            <p:cNvPr id="23" name="TextBox 23"/>
            <p:cNvSpPr txBox="1"/>
            <p:nvPr/>
          </p:nvSpPr>
          <p:spPr>
            <a:xfrm>
              <a:off x="4533773" y="2624614"/>
              <a:ext cx="1873654"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Potentiate &amp; depress</a:t>
              </a:r>
            </a:p>
          </p:txBody>
        </p:sp>
        <p:sp>
          <p:nvSpPr>
            <p:cNvPr id="24" name="TextBox 24"/>
            <p:cNvSpPr txBox="1"/>
            <p:nvPr/>
          </p:nvSpPr>
          <p:spPr>
            <a:xfrm>
              <a:off x="4533773" y="2910364"/>
              <a:ext cx="2835977"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This can strengthen co-activated</a:t>
              </a:r>
            </a:p>
          </p:txBody>
        </p:sp>
        <p:sp>
          <p:nvSpPr>
            <p:cNvPr id="25" name="TextBox 25"/>
            <p:cNvSpPr txBox="1"/>
            <p:nvPr/>
          </p:nvSpPr>
          <p:spPr>
            <a:xfrm>
              <a:off x="4533773" y="3148489"/>
              <a:ext cx="2382266"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synapses faster and weaken</a:t>
              </a:r>
            </a:p>
          </p:txBody>
        </p:sp>
        <p:sp>
          <p:nvSpPr>
            <p:cNvPr id="26" name="TextBox 26"/>
            <p:cNvSpPr txBox="1"/>
            <p:nvPr/>
          </p:nvSpPr>
          <p:spPr>
            <a:xfrm>
              <a:off x="4533773" y="3386614"/>
              <a:ext cx="2675199"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opposing ones more slowly — and</a:t>
              </a:r>
            </a:p>
          </p:txBody>
        </p:sp>
        <p:sp>
          <p:nvSpPr>
            <p:cNvPr id="27" name="TextBox 27"/>
            <p:cNvSpPr txBox="1"/>
            <p:nvPr/>
          </p:nvSpPr>
          <p:spPr>
            <a:xfrm>
              <a:off x="4533773" y="3624739"/>
              <a:ext cx="2740251"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network-level α = f(ΔE) slows in</a:t>
              </a:r>
            </a:p>
          </p:txBody>
        </p:sp>
        <p:sp>
          <p:nvSpPr>
            <p:cNvPr id="28" name="TextBox 28"/>
            <p:cNvSpPr txBox="1"/>
            <p:nvPr/>
          </p:nvSpPr>
          <p:spPr>
            <a:xfrm>
              <a:off x="4533773" y="3862864"/>
              <a:ext cx="2778587"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shallow, speeds on steep slopes.</a:t>
              </a:r>
            </a:p>
          </p:txBody>
        </p:sp>
      </p:grpSp>
      <p:grpSp>
        <p:nvGrpSpPr>
          <p:cNvPr id="39" name="Group 39"/>
          <p:cNvGrpSpPr/>
          <p:nvPr/>
        </p:nvGrpSpPr>
        <p:grpSpPr>
          <a:xfrm>
            <a:off x="8051800" y="2419350"/>
            <a:ext cx="3530600" cy="3981450"/>
            <a:chOff x="8051800" y="2419350"/>
            <a:chExt cx="3530600" cy="3981450"/>
          </a:xfrm>
        </p:grpSpPr>
        <p:sp>
          <p:nvSpPr>
            <p:cNvPr id="30" name="Rectangle 30"/>
            <p:cNvSpPr/>
            <p:nvPr/>
          </p:nvSpPr>
          <p:spPr>
            <a:xfrm>
              <a:off x="8051800" y="2419350"/>
              <a:ext cx="3530600" cy="3981450"/>
            </a:xfrm>
            <a:prstGeom prst="roundRect">
              <a:avLst>
                <a:gd name="adj" fmla="val 3237"/>
              </a:avLst>
            </a:prstGeom>
            <a:solidFill>
              <a:schemeClr val="accent5"/>
            </a:solidFill>
            <a:ln w="14288">
              <a:solidFill>
                <a:schemeClr val="accent4"/>
              </a:solidFill>
            </a:ln>
          </p:spPr>
        </p:sp>
        <p:sp>
          <p:nvSpPr>
            <p:cNvPr id="31" name="Rectangle 31"/>
            <p:cNvSpPr/>
            <p:nvPr/>
          </p:nvSpPr>
          <p:spPr>
            <a:xfrm>
              <a:off x="8051800" y="2571750"/>
              <a:ext cx="47625" cy="247650"/>
            </a:xfrm>
            <a:prstGeom prst="roundRect">
              <a:avLst>
                <a:gd name="adj" fmla="val 50000"/>
              </a:avLst>
            </a:prstGeom>
            <a:solidFill>
              <a:srgbClr val="F2A65A"/>
            </a:solidFill>
            <a:ln>
              <a:noFill/>
            </a:ln>
          </p:spPr>
        </p:sp>
        <p:sp>
          <p:nvSpPr>
            <p:cNvPr id="32" name="TextBox 32"/>
            <p:cNvSpPr txBox="1"/>
            <p:nvPr/>
          </p:nvSpPr>
          <p:spPr>
            <a:xfrm>
              <a:off x="8254873" y="2624614"/>
              <a:ext cx="2253453" cy="249364"/>
            </a:xfrm>
            <a:prstGeom prst="rect">
              <a:avLst/>
            </a:prstGeom>
            <a:noFill/>
            <a:ln>
              <a:noFill/>
            </a:ln>
          </p:spPr>
          <p:txBody>
            <a:bodyPr wrap="none" lIns="0" tIns="0" rIns="0" bIns="0" anchor="t" anchorCtr="0">
              <a:spAutoFit/>
            </a:bodyPr>
            <a:lstStyle/>
            <a:p>
              <a:pPr algn="l"/>
              <a:r>
                <a:rPr lang="en-US" sz="1280" b="1" dirty="0">
                  <a:solidFill>
                    <a:srgbClr val="F2A65A"/>
                  </a:solidFill>
                  <a:latin typeface="+mn-lt"/>
                  <a:ea typeface="+mn-ea"/>
                  <a:cs typeface="+mn-cs"/>
                </a:rPr>
                <a:t>Homeostasis &amp; modularity</a:t>
              </a:r>
            </a:p>
          </p:txBody>
        </p:sp>
        <p:sp>
          <p:nvSpPr>
            <p:cNvPr id="33" name="TextBox 33"/>
            <p:cNvSpPr txBox="1"/>
            <p:nvPr/>
          </p:nvSpPr>
          <p:spPr>
            <a:xfrm>
              <a:off x="8254873" y="2910364"/>
              <a:ext cx="2819146"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Oscillatory (e.g. trigonometric)</a:t>
              </a:r>
            </a:p>
          </p:txBody>
        </p:sp>
        <p:sp>
          <p:nvSpPr>
            <p:cNvPr id="34" name="TextBox 34"/>
            <p:cNvSpPr txBox="1"/>
            <p:nvPr/>
          </p:nvSpPr>
          <p:spPr>
            <a:xfrm>
              <a:off x="8254873" y="3148489"/>
              <a:ext cx="2054870"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activations approximate</a:t>
              </a:r>
            </a:p>
          </p:txBody>
        </p:sp>
        <p:sp>
          <p:nvSpPr>
            <p:cNvPr id="35" name="TextBox 35"/>
            <p:cNvSpPr txBox="1"/>
            <p:nvPr/>
          </p:nvSpPr>
          <p:spPr>
            <a:xfrm>
              <a:off x="8254873" y="3386614"/>
              <a:ext cx="3088752"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homeostasis; strengthening modules</a:t>
              </a:r>
            </a:p>
          </p:txBody>
        </p:sp>
        <p:sp>
          <p:nvSpPr>
            <p:cNvPr id="36" name="TextBox 36"/>
            <p:cNvSpPr txBox="1"/>
            <p:nvPr/>
          </p:nvSpPr>
          <p:spPr>
            <a:xfrm>
              <a:off x="8254873" y="3624739"/>
              <a:ext cx="2433960"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get an automatic boost while</a:t>
              </a:r>
            </a:p>
          </p:txBody>
        </p:sp>
        <p:sp>
          <p:nvSpPr>
            <p:cNvPr id="37" name="TextBox 37"/>
            <p:cNvSpPr txBox="1"/>
            <p:nvPr/>
          </p:nvSpPr>
          <p:spPr>
            <a:xfrm>
              <a:off x="8254873" y="3862864"/>
              <a:ext cx="2451191"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inter-module inhibition curbs</a:t>
              </a:r>
            </a:p>
          </p:txBody>
        </p:sp>
        <p:sp>
          <p:nvSpPr>
            <p:cNvPr id="38" name="TextBox 38"/>
            <p:cNvSpPr txBox="1"/>
            <p:nvPr/>
          </p:nvSpPr>
          <p:spPr>
            <a:xfrm>
              <a:off x="8254873" y="4100989"/>
              <a:ext cx="676361"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energy.</a:t>
              </a:r>
            </a:p>
          </p:txBody>
        </p:sp>
      </p:grpSp>
      <p:sp>
        <p:nvSpPr>
          <p:cNvPr id="40" name="cue_s05_c1_core_idea_raise_network_degrees" title="cue_s05_c1_core_idea_raise_network_degrees" descr="cue_s05_c1_core_idea_raise_network_degrees The core idea is to raise the network's degrees of freedom without adding new parameters, by letting existing components do more work, as biology does."/>
          <p:cNvSpPr/>
          <p:nvPr/>
        </p:nvSpPr>
        <p:spPr>
          <a:xfrm>
            <a:off x="609600" y="1257071"/>
            <a:ext cx="10972800" cy="9717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5_c2_local_metaplasticity_learning_rate_a" title="cue_s05_c2_local_metaplasticity_learning_rate_a" descr="cue_s05_c2_local_metaplasticity_learning_rate_a For local metaplasticity, the learning rate alpha is no longer a user-defined constant but a function of the connection weight between two nodes, so the Hebbian update becomes weight-dependent: the change in a weight equals a function of that weight times the"/>
          <p:cNvSpPr/>
          <p:nvPr/>
        </p:nvSpPr>
        <p:spPr>
          <a:xfrm>
            <a:off x="609600" y="2419502"/>
            <a:ext cx="3530803" cy="3981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5_c3_potentiate_co_activated_synapses_fas" title="cue_s05_c3_potentiate_co_activated_synapses_fas" descr="cue_s05_c3_potentiate_co_activated_synapses_fas This can potentiate co-activated synapses faster and depress opposing ones more slowly. For network-level metaplasticity, alpha is instead tied to the change in the network's energy, so learning slows in shallow parts of the energy landscape and speeds up on s"/>
          <p:cNvSpPr/>
          <p:nvPr/>
        </p:nvSpPr>
        <p:spPr>
          <a:xfrm>
            <a:off x="4330598" y="2419502"/>
            <a:ext cx="3530803" cy="3981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5_c4_homeostasis_approximated_oscillatory" title="cue_s05_c4_homeostasis_approximated_oscillatory" descr="cue_s05_c4_homeostasis_approximated_oscillatory Homeostasis is approximated by oscillatory activation functions, such as trigonometric ones, and adaptivity is further supported by modular structure, where modules that consistently strengthen their internal connections receive an automatic boost, and inter-m"/>
          <p:cNvSpPr/>
          <p:nvPr/>
        </p:nvSpPr>
        <p:spPr>
          <a:xfrm>
            <a:off x="8051596" y="2419502"/>
            <a:ext cx="3530803" cy="3981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69106"/>
            <a:ext cx="556778" cy="220028"/>
          </a:xfrm>
          <a:prstGeom prst="rect">
            <a:avLst/>
          </a:prstGeom>
          <a:noFill/>
          <a:ln>
            <a:noFill/>
          </a:ln>
        </p:spPr>
        <p:txBody>
          <a:bodyPr wrap="none" lIns="0" tIns="0" rIns="0" bIns="0" anchor="t" anchorCtr="0">
            <a:spAutoFit/>
          </a:bodyPr>
          <a:lstStyle/>
          <a:p>
            <a:pPr algn="l"/>
            <a:r>
              <a:rPr lang="en-US" sz="1120" b="1" spc="150" dirty="0">
                <a:solidFill>
                  <a:schemeClr val="accent2"/>
                </a:solidFill>
                <a:latin typeface="+mn-lt"/>
                <a:ea typeface="+mn-ea"/>
                <a:cs typeface="+mn-cs"/>
              </a:rPr>
              <a:t>SETUP</a:t>
            </a:r>
          </a:p>
        </p:txBody>
      </p:sp>
      <p:sp>
        <p:nvSpPr>
          <p:cNvPr id="4" name="TextBox 4"/>
          <p:cNvSpPr txBox="1"/>
          <p:nvPr/>
        </p:nvSpPr>
        <p:spPr>
          <a:xfrm>
            <a:off x="789432" y="630555"/>
            <a:ext cx="7190575"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A conceptual proposal, grounded in prior SO work</a:t>
            </a:r>
          </a:p>
        </p:txBody>
      </p:sp>
      <p:sp>
        <p:nvSpPr>
          <p:cNvPr id="5" name="Line 5"/>
          <p:cNvSpPr/>
          <p:nvPr/>
        </p:nvSpPr>
        <p:spPr>
          <a:xfrm>
            <a:off x="609600" y="1028700"/>
            <a:ext cx="10972800" cy="9525"/>
          </a:xfrm>
          <a:custGeom>
            <a:avLst/>
            <a:gdLst/>
            <a:ahLst/>
            <a:cxnLst/>
            <a:rect l="l" t="t" r="r" b="b"/>
            <a:pathLst>
              <a:path w="10972800" h="9525">
                <a:moveTo>
                  <a:pt x="0" y="0"/>
                </a:moveTo>
                <a:lnTo>
                  <a:pt x="10972800" y="0"/>
                </a:lnTo>
              </a:path>
            </a:pathLst>
          </a:custGeom>
          <a:noFill/>
          <a:ln w="14288">
            <a:solidFill>
              <a:schemeClr val="accent4"/>
            </a:solidFill>
          </a:ln>
        </p:spPr>
        <p:txBody>
          <a:bodyPr/>
          <a:p/>
        </p:txBody>
      </p:sp>
      <p:sp>
        <p:nvSpPr>
          <p:cNvPr id="6" name="TextBox 6"/>
          <p:cNvSpPr txBox="1"/>
          <p:nvPr/>
        </p:nvSpPr>
        <p:spPr>
          <a:xfrm>
            <a:off x="11103540" y="477202"/>
            <a:ext cx="484194" cy="205359"/>
          </a:xfrm>
          <a:prstGeom prst="rect">
            <a:avLst/>
          </a:prstGeom>
          <a:noFill/>
          <a:ln>
            <a:noFill/>
          </a:ln>
        </p:spPr>
        <p:txBody>
          <a:bodyPr wrap="none" lIns="0" tIns="0" rIns="0" bIns="0" anchor="t" anchorCtr="0">
            <a:spAutoFit/>
          </a:bodyPr>
          <a:lstStyle/>
          <a:p>
            <a:pPr algn="r"/>
            <a:r>
              <a:rPr lang="en-US" sz="1050" dirty="0">
                <a:solidFill>
                  <a:srgbClr val="6D7C96"/>
                </a:solidFill>
                <a:latin typeface="+mn-lt"/>
                <a:ea typeface="+mn-ea"/>
                <a:cs typeface="+mn-cs"/>
              </a:rPr>
              <a:t>06 / 10</a:t>
            </a:r>
          </a:p>
        </p:txBody>
      </p:sp>
      <p:grpSp>
        <p:nvGrpSpPr>
          <p:cNvPr id="9" name="Group 9"/>
          <p:cNvGrpSpPr/>
          <p:nvPr/>
        </p:nvGrpSpPr>
        <p:grpSpPr>
          <a:xfrm>
            <a:off x="609600" y="1257300"/>
            <a:ext cx="10972800" cy="685800"/>
            <a:chOff x="609600" y="1257300"/>
            <a:chExt cx="10972800" cy="685800"/>
          </a:xfrm>
        </p:grpSpPr>
        <p:sp>
          <p:nvSpPr>
            <p:cNvPr id="7" name="Rectangle 7"/>
            <p:cNvSpPr/>
            <p:nvPr/>
          </p:nvSpPr>
          <p:spPr>
            <a:xfrm>
              <a:off x="609600" y="1257300"/>
              <a:ext cx="10972800" cy="685800"/>
            </a:xfrm>
            <a:prstGeom prst="roundRect">
              <a:avLst>
                <a:gd name="adj" fmla="val 16667"/>
              </a:avLst>
            </a:prstGeom>
            <a:solidFill>
              <a:schemeClr val="accent6"/>
            </a:solidFill>
            <a:ln w="14288">
              <a:solidFill>
                <a:schemeClr val="accent4"/>
              </a:solidFill>
            </a:ln>
          </p:spPr>
        </p:sp>
        <p:sp>
          <p:nvSpPr>
            <p:cNvPr id="8" name="TextBox 8"/>
            <p:cNvSpPr txBox="1"/>
            <p:nvPr/>
          </p:nvSpPr>
          <p:spPr>
            <a:xfrm>
              <a:off x="830580" y="1514475"/>
              <a:ext cx="742272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 conceptual &amp; position piece — no new dataset, no benchmarks are run.</a:t>
              </a:r>
            </a:p>
          </p:txBody>
        </p:sp>
      </p:grpSp>
      <p:grpSp>
        <p:nvGrpSpPr>
          <p:cNvPr id="17" name="Group 17"/>
          <p:cNvGrpSpPr/>
          <p:nvPr/>
        </p:nvGrpSpPr>
        <p:grpSpPr>
          <a:xfrm>
            <a:off x="609600" y="2095500"/>
            <a:ext cx="5391150" cy="3048000"/>
            <a:chOff x="609600" y="2095500"/>
            <a:chExt cx="5391150" cy="3048000"/>
          </a:xfrm>
        </p:grpSpPr>
        <p:sp>
          <p:nvSpPr>
            <p:cNvPr id="10" name="Rectangle 10"/>
            <p:cNvSpPr/>
            <p:nvPr/>
          </p:nvSpPr>
          <p:spPr>
            <a:xfrm>
              <a:off x="609600" y="2095500"/>
              <a:ext cx="5391150" cy="3048000"/>
            </a:xfrm>
            <a:prstGeom prst="roundRect">
              <a:avLst>
                <a:gd name="adj" fmla="val 3750"/>
              </a:avLst>
            </a:prstGeom>
            <a:solidFill>
              <a:schemeClr val="accent5"/>
            </a:solidFill>
            <a:ln w="14288">
              <a:solidFill>
                <a:schemeClr val="accent4"/>
              </a:solidFill>
            </a:ln>
          </p:spPr>
        </p:sp>
        <p:sp>
          <p:nvSpPr>
            <p:cNvPr id="11" name="Rectangle 11"/>
            <p:cNvSpPr/>
            <p:nvPr/>
          </p:nvSpPr>
          <p:spPr>
            <a:xfrm>
              <a:off x="609600" y="2247900"/>
              <a:ext cx="47625" cy="247650"/>
            </a:xfrm>
            <a:prstGeom prst="roundRect">
              <a:avLst>
                <a:gd name="adj" fmla="val 50000"/>
              </a:avLst>
            </a:prstGeom>
            <a:solidFill>
              <a:schemeClr val="accent2"/>
            </a:solidFill>
            <a:ln>
              <a:noFill/>
            </a:ln>
          </p:spPr>
        </p:sp>
        <p:sp>
          <p:nvSpPr>
            <p:cNvPr id="12" name="TextBox 12"/>
            <p:cNvSpPr txBox="1"/>
            <p:nvPr/>
          </p:nvSpPr>
          <p:spPr>
            <a:xfrm>
              <a:off x="812673" y="2300764"/>
              <a:ext cx="2328492"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Builds on existing SO work</a:t>
              </a:r>
            </a:p>
          </p:txBody>
        </p:sp>
        <p:sp>
          <p:nvSpPr>
            <p:cNvPr id="13" name="TextBox 13"/>
            <p:cNvSpPr txBox="1"/>
            <p:nvPr/>
          </p:nvSpPr>
          <p:spPr>
            <a:xfrm>
              <a:off x="812673" y="2586514"/>
              <a:ext cx="2810512"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Rather than measuring a system,</a:t>
              </a:r>
            </a:p>
          </p:txBody>
        </p:sp>
        <p:sp>
          <p:nvSpPr>
            <p:cNvPr id="14" name="TextBox 14"/>
            <p:cNvSpPr txBox="1"/>
            <p:nvPr/>
          </p:nvSpPr>
          <p:spPr>
            <a:xfrm>
              <a:off x="812673" y="2824639"/>
              <a:ext cx="2511501"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the paper grounds its ideas in</a:t>
              </a:r>
            </a:p>
          </p:txBody>
        </p:sp>
        <p:sp>
          <p:nvSpPr>
            <p:cNvPr id="15" name="TextBox 15"/>
            <p:cNvSpPr txBox="1"/>
            <p:nvPr/>
          </p:nvSpPr>
          <p:spPr>
            <a:xfrm>
              <a:off x="812673" y="3062764"/>
              <a:ext cx="2589042"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prior computational studies of</a:t>
              </a:r>
            </a:p>
          </p:txBody>
        </p:sp>
        <p:sp>
          <p:nvSpPr>
            <p:cNvPr id="16" name="TextBox 16"/>
            <p:cNvSpPr txBox="1"/>
            <p:nvPr/>
          </p:nvSpPr>
          <p:spPr>
            <a:xfrm>
              <a:off x="812673" y="3300889"/>
              <a:ext cx="2433960"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the self-optimization model.</a:t>
              </a:r>
            </a:p>
          </p:txBody>
        </p:sp>
      </p:grpSp>
      <p:grpSp>
        <p:nvGrpSpPr>
          <p:cNvPr id="26" name="Group 26"/>
          <p:cNvGrpSpPr/>
          <p:nvPr/>
        </p:nvGrpSpPr>
        <p:grpSpPr>
          <a:xfrm>
            <a:off x="6191250" y="2095500"/>
            <a:ext cx="5391150" cy="3048000"/>
            <a:chOff x="6191250" y="2095500"/>
            <a:chExt cx="5391150" cy="3048000"/>
          </a:xfrm>
        </p:grpSpPr>
        <p:sp>
          <p:nvSpPr>
            <p:cNvPr id="18" name="Rectangle 18"/>
            <p:cNvSpPr/>
            <p:nvPr/>
          </p:nvSpPr>
          <p:spPr>
            <a:xfrm>
              <a:off x="6191250" y="2095500"/>
              <a:ext cx="5391150" cy="3048000"/>
            </a:xfrm>
            <a:prstGeom prst="roundRect">
              <a:avLst>
                <a:gd name="adj" fmla="val 3750"/>
              </a:avLst>
            </a:prstGeom>
            <a:solidFill>
              <a:schemeClr val="accent5"/>
            </a:solidFill>
            <a:ln w="14288">
              <a:solidFill>
                <a:schemeClr val="accent4"/>
              </a:solidFill>
            </a:ln>
          </p:spPr>
        </p:sp>
        <p:sp>
          <p:nvSpPr>
            <p:cNvPr id="19" name="Rectangle 19"/>
            <p:cNvSpPr/>
            <p:nvPr/>
          </p:nvSpPr>
          <p:spPr>
            <a:xfrm>
              <a:off x="6191250" y="2247900"/>
              <a:ext cx="47625" cy="247650"/>
            </a:xfrm>
            <a:prstGeom prst="roundRect">
              <a:avLst>
                <a:gd name="adj" fmla="val 50000"/>
              </a:avLst>
            </a:prstGeom>
            <a:solidFill>
              <a:srgbClr val="7BE0C8"/>
            </a:solidFill>
            <a:ln>
              <a:noFill/>
            </a:ln>
          </p:spPr>
        </p:sp>
        <p:sp>
          <p:nvSpPr>
            <p:cNvPr id="20" name="TextBox 20"/>
            <p:cNvSpPr txBox="1"/>
            <p:nvPr/>
          </p:nvSpPr>
          <p:spPr>
            <a:xfrm>
              <a:off x="6394323" y="2300764"/>
              <a:ext cx="2156454"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C. elegans &amp; SAT solvers</a:t>
              </a:r>
            </a:p>
          </p:txBody>
        </p:sp>
        <p:sp>
          <p:nvSpPr>
            <p:cNvPr id="21" name="TextBox 21"/>
            <p:cNvSpPr txBox="1"/>
            <p:nvPr/>
          </p:nvSpPr>
          <p:spPr>
            <a:xfrm>
              <a:off x="6394323" y="2586514"/>
              <a:ext cx="2511102"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An SO model of the C. elegans</a:t>
              </a:r>
            </a:p>
          </p:txBody>
        </p:sp>
        <p:sp>
          <p:nvSpPr>
            <p:cNvPr id="22" name="TextBox 22"/>
            <p:cNvSpPr txBox="1"/>
            <p:nvPr/>
          </p:nvSpPr>
          <p:spPr>
            <a:xfrm>
              <a:off x="6394323" y="2824639"/>
              <a:ext cx="2347803"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connectome using inhibitory</a:t>
              </a:r>
            </a:p>
          </p:txBody>
        </p:sp>
        <p:sp>
          <p:nvSpPr>
            <p:cNvPr id="23" name="TextBox 23"/>
            <p:cNvSpPr txBox="1"/>
            <p:nvPr/>
          </p:nvSpPr>
          <p:spPr>
            <a:xfrm>
              <a:off x="6394323" y="3062764"/>
              <a:ext cx="2928177"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inter-cluster connections, and SO</a:t>
              </a:r>
            </a:p>
          </p:txBody>
        </p:sp>
        <p:sp>
          <p:nvSpPr>
            <p:cNvPr id="24" name="TextBox 24"/>
            <p:cNvSpPr txBox="1"/>
            <p:nvPr/>
          </p:nvSpPr>
          <p:spPr>
            <a:xfrm>
              <a:off x="6394323" y="3300889"/>
              <a:ext cx="2675199"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models that solve combinatorial</a:t>
              </a:r>
            </a:p>
          </p:txBody>
        </p:sp>
        <p:sp>
          <p:nvSpPr>
            <p:cNvPr id="25" name="TextBox 25"/>
            <p:cNvSpPr txBox="1"/>
            <p:nvPr/>
          </p:nvSpPr>
          <p:spPr>
            <a:xfrm>
              <a:off x="6394323" y="3539014"/>
              <a:ext cx="2020407"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satisfiability problems.</a:t>
              </a:r>
            </a:p>
          </p:txBody>
        </p:sp>
      </p:grpSp>
      <p:grpSp>
        <p:nvGrpSpPr>
          <p:cNvPr id="31" name="Group 31"/>
          <p:cNvGrpSpPr/>
          <p:nvPr/>
        </p:nvGrpSpPr>
        <p:grpSpPr>
          <a:xfrm>
            <a:off x="609600" y="5295900"/>
            <a:ext cx="10972800" cy="838200"/>
            <a:chOff x="609600" y="5295900"/>
            <a:chExt cx="10972800" cy="838200"/>
          </a:xfrm>
        </p:grpSpPr>
        <p:sp>
          <p:nvSpPr>
            <p:cNvPr id="27" name="Rectangle 27"/>
            <p:cNvSpPr/>
            <p:nvPr/>
          </p:nvSpPr>
          <p:spPr>
            <a:xfrm>
              <a:off x="609600" y="5295900"/>
              <a:ext cx="10972800" cy="838200"/>
            </a:xfrm>
            <a:prstGeom prst="roundRect">
              <a:avLst>
                <a:gd name="adj" fmla="val 13636"/>
              </a:avLst>
            </a:prstGeom>
            <a:solidFill>
              <a:schemeClr val="accent5"/>
            </a:solidFill>
            <a:ln w="14288">
              <a:solidFill>
                <a:schemeClr val="accent4"/>
              </a:solidFill>
            </a:ln>
          </p:spPr>
        </p:sp>
        <p:sp>
          <p:nvSpPr>
            <p:cNvPr id="28" name="Rectangle 28"/>
            <p:cNvSpPr/>
            <p:nvPr/>
          </p:nvSpPr>
          <p:spPr>
            <a:xfrm>
              <a:off x="609600" y="5448300"/>
              <a:ext cx="47625" cy="247650"/>
            </a:xfrm>
            <a:prstGeom prst="roundRect">
              <a:avLst>
                <a:gd name="adj" fmla="val 50000"/>
              </a:avLst>
            </a:prstGeom>
            <a:solidFill>
              <a:srgbClr val="7BE0C8"/>
            </a:solidFill>
            <a:ln>
              <a:noFill/>
            </a:ln>
          </p:spPr>
        </p:sp>
        <p:sp>
          <p:nvSpPr>
            <p:cNvPr id="29" name="TextBox 29"/>
            <p:cNvSpPr txBox="1"/>
            <p:nvPr/>
          </p:nvSpPr>
          <p:spPr>
            <a:xfrm>
              <a:off x="812673" y="5501164"/>
              <a:ext cx="1674314"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The target setting</a:t>
              </a:r>
            </a:p>
          </p:txBody>
        </p:sp>
        <p:sp>
          <p:nvSpPr>
            <p:cNvPr id="30" name="TextBox 30"/>
            <p:cNvSpPr txBox="1"/>
            <p:nvPr/>
          </p:nvSpPr>
          <p:spPr>
            <a:xfrm>
              <a:off x="812292" y="5797868"/>
              <a:ext cx="855230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These prior systems define where the proposed biological mechanisms would be built and tested.</a:t>
              </a:r>
            </a:p>
          </p:txBody>
        </p:sp>
      </p:grpSp>
      <p:sp>
        <p:nvSpPr>
          <p:cNvPr id="32" name="cue_s06_c1_conceptual_position_piece_rather_emp" title="cue_s06_c1_conceptual_position_piece_rather_emp" descr="cue_s06_c1_conceptual_position_piece_rather_emp This paper is a conceptual and position piece rather than an empirical study, so it does not introduce a dataset or run benchmarks."/>
          <p:cNvSpPr/>
          <p:nvPr/>
        </p:nvSpPr>
        <p:spPr>
          <a:xfrm>
            <a:off x="609600" y="1257071"/>
            <a:ext cx="10972800" cy="6858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ue_s06_c2_instead_builds_existing_computationa" title="cue_s06_c2_instead_builds_existing_computationa" descr="cue_s06_c2_instead_builds_existing_computationa Instead, it builds on existing computational work with the self-optimization model — including a model of the C."/>
          <p:cNvSpPr/>
          <p:nvPr/>
        </p:nvSpPr>
        <p:spPr>
          <a:xfrm>
            <a:off x="609600" y="2095804"/>
            <a:ext cx="5391302"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6_c3_elegans_connectome_used_inhibitory_i" title="cue_s06_c3_elegans_connectome_used_inhibitory_i" descr="cue_s06_c3_elegans_connectome_used_inhibitory_i elegans connectome that used inhibitory inter-cluster connections, and SO models that solve combinatorial satisfiability problems."/>
          <p:cNvSpPr/>
          <p:nvPr/>
        </p:nvSpPr>
        <p:spPr>
          <a:xfrm>
            <a:off x="6191097" y="2095804"/>
            <a:ext cx="5391302"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6_c4_these_prior_systems_define_setting" title="cue_s06_c4_these_prior_systems_define_setting" descr="cue_s06_c4_these_prior_systems_define_setting These prior systems define the setting in which the proposed biological mechanisms would eventually be implemented and evaluated."/>
          <p:cNvSpPr/>
          <p:nvPr/>
        </p:nvSpPr>
        <p:spPr>
          <a:xfrm>
            <a:off x="609600" y="5295747"/>
            <a:ext cx="10972800" cy="8380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69106"/>
            <a:ext cx="1081644" cy="220028"/>
          </a:xfrm>
          <a:prstGeom prst="rect">
            <a:avLst/>
          </a:prstGeom>
          <a:noFill/>
          <a:ln>
            <a:noFill/>
          </a:ln>
        </p:spPr>
        <p:txBody>
          <a:bodyPr wrap="none" lIns="0" tIns="0" rIns="0" bIns="0" anchor="t" anchorCtr="0">
            <a:spAutoFit/>
          </a:bodyPr>
          <a:lstStyle/>
          <a:p>
            <a:pPr algn="l"/>
            <a:r>
              <a:rPr lang="en-US" sz="1120" b="1" spc="150" dirty="0">
                <a:solidFill>
                  <a:schemeClr val="accent2"/>
                </a:solidFill>
                <a:latin typeface="+mn-lt"/>
                <a:ea typeface="+mn-ea"/>
                <a:cs typeface="+mn-cs"/>
              </a:rPr>
              <a:t>KEY RESULT</a:t>
            </a:r>
          </a:p>
        </p:txBody>
      </p:sp>
      <p:sp>
        <p:nvSpPr>
          <p:cNvPr id="4" name="TextBox 4"/>
          <p:cNvSpPr txBox="1"/>
          <p:nvPr/>
        </p:nvSpPr>
        <p:spPr>
          <a:xfrm>
            <a:off x="789432" y="630555"/>
            <a:ext cx="4602211"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A unified conceptual framework</a:t>
            </a:r>
          </a:p>
        </p:txBody>
      </p:sp>
      <p:sp>
        <p:nvSpPr>
          <p:cNvPr id="5" name="Line 5"/>
          <p:cNvSpPr/>
          <p:nvPr/>
        </p:nvSpPr>
        <p:spPr>
          <a:xfrm>
            <a:off x="609600" y="1028700"/>
            <a:ext cx="10972800" cy="9525"/>
          </a:xfrm>
          <a:custGeom>
            <a:avLst/>
            <a:gdLst/>
            <a:ahLst/>
            <a:cxnLst/>
            <a:rect l="l" t="t" r="r" b="b"/>
            <a:pathLst>
              <a:path w="10972800" h="9525">
                <a:moveTo>
                  <a:pt x="0" y="0"/>
                </a:moveTo>
                <a:lnTo>
                  <a:pt x="10972800" y="0"/>
                </a:lnTo>
              </a:path>
            </a:pathLst>
          </a:custGeom>
          <a:noFill/>
          <a:ln w="14288">
            <a:solidFill>
              <a:schemeClr val="accent4"/>
            </a:solidFill>
          </a:ln>
        </p:spPr>
        <p:txBody>
          <a:bodyPr/>
          <a:p/>
        </p:txBody>
      </p:sp>
      <p:sp>
        <p:nvSpPr>
          <p:cNvPr id="6" name="TextBox 6"/>
          <p:cNvSpPr txBox="1"/>
          <p:nvPr/>
        </p:nvSpPr>
        <p:spPr>
          <a:xfrm>
            <a:off x="11103540" y="477202"/>
            <a:ext cx="484194" cy="205359"/>
          </a:xfrm>
          <a:prstGeom prst="rect">
            <a:avLst/>
          </a:prstGeom>
          <a:noFill/>
          <a:ln>
            <a:noFill/>
          </a:ln>
        </p:spPr>
        <p:txBody>
          <a:bodyPr wrap="none" lIns="0" tIns="0" rIns="0" bIns="0" anchor="t" anchorCtr="0">
            <a:spAutoFit/>
          </a:bodyPr>
          <a:lstStyle/>
          <a:p>
            <a:pPr algn="r"/>
            <a:r>
              <a:rPr lang="en-US" sz="1050" dirty="0">
                <a:solidFill>
                  <a:srgbClr val="6D7C96"/>
                </a:solidFill>
                <a:latin typeface="+mn-lt"/>
                <a:ea typeface="+mn-ea"/>
                <a:cs typeface="+mn-cs"/>
              </a:rPr>
              <a:t>07 / 10</a:t>
            </a:r>
          </a:p>
        </p:txBody>
      </p:sp>
      <p:grpSp>
        <p:nvGrpSpPr>
          <p:cNvPr id="10" name="Group 10"/>
          <p:cNvGrpSpPr/>
          <p:nvPr/>
        </p:nvGrpSpPr>
        <p:grpSpPr>
          <a:xfrm>
            <a:off x="609600" y="1257300"/>
            <a:ext cx="10972800" cy="666750"/>
            <a:chOff x="609600" y="1257300"/>
            <a:chExt cx="10972800" cy="666750"/>
          </a:xfrm>
        </p:grpSpPr>
        <p:sp>
          <p:nvSpPr>
            <p:cNvPr id="7" name="Rectangle 7"/>
            <p:cNvSpPr/>
            <p:nvPr/>
          </p:nvSpPr>
          <p:spPr>
            <a:xfrm>
              <a:off x="609600" y="1257300"/>
              <a:ext cx="10972800" cy="666750"/>
            </a:xfrm>
            <a:prstGeom prst="roundRect">
              <a:avLst>
                <a:gd name="adj" fmla="val 17143"/>
              </a:avLst>
            </a:prstGeom>
            <a:solidFill>
              <a:schemeClr val="accent6"/>
            </a:solidFill>
            <a:ln w="14288">
              <a:solidFill>
                <a:schemeClr val="accent4"/>
              </a:solidFill>
            </a:ln>
          </p:spPr>
        </p:sp>
        <p:sp>
          <p:nvSpPr>
            <p:cNvPr id="8" name="Ellipse 8"/>
            <p:cNvSpPr/>
            <p:nvPr/>
          </p:nvSpPr>
          <p:spPr>
            <a:xfrm>
              <a:off x="847725" y="1504950"/>
              <a:ext cx="171450" cy="171450"/>
            </a:xfrm>
            <a:prstGeom prst="ellipse">
              <a:avLst/>
            </a:prstGeom>
            <a:solidFill>
              <a:srgbClr val="7BE0C8"/>
            </a:solidFill>
            <a:ln>
              <a:noFill/>
            </a:ln>
          </p:spPr>
        </p:sp>
        <p:sp>
          <p:nvSpPr>
            <p:cNvPr id="9" name="TextBox 9"/>
            <p:cNvSpPr txBox="1"/>
            <p:nvPr/>
          </p:nvSpPr>
          <p:spPr>
            <a:xfrm>
              <a:off x="1173099" y="1496854"/>
              <a:ext cx="8175404"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The main result is conceptual, not numerical — a unified design framework.</a:t>
              </a:r>
            </a:p>
          </p:txBody>
        </p:sp>
      </p:grpSp>
      <p:grpSp>
        <p:nvGrpSpPr>
          <p:cNvPr id="31" name="Group 31"/>
          <p:cNvGrpSpPr/>
          <p:nvPr/>
        </p:nvGrpSpPr>
        <p:grpSpPr>
          <a:xfrm>
            <a:off x="609600" y="2076450"/>
            <a:ext cx="5905500" cy="4324350"/>
            <a:chOff x="609600" y="2076450"/>
            <a:chExt cx="5905500" cy="4324350"/>
          </a:xfrm>
        </p:grpSpPr>
        <p:sp>
          <p:nvSpPr>
            <p:cNvPr id="11" name="Rectangle 11"/>
            <p:cNvSpPr/>
            <p:nvPr/>
          </p:nvSpPr>
          <p:spPr>
            <a:xfrm>
              <a:off x="609600" y="2076450"/>
              <a:ext cx="5905500" cy="4324350"/>
            </a:xfrm>
            <a:prstGeom prst="roundRect">
              <a:avLst>
                <a:gd name="adj" fmla="val 2643"/>
              </a:avLst>
            </a:prstGeom>
            <a:solidFill>
              <a:schemeClr val="accent5"/>
            </a:solidFill>
            <a:ln w="14288">
              <a:solidFill>
                <a:schemeClr val="accent4"/>
              </a:solidFill>
            </a:ln>
          </p:spPr>
        </p:sp>
        <p:sp>
          <p:nvSpPr>
            <p:cNvPr id="12" name="Rectangle 12"/>
            <p:cNvSpPr/>
            <p:nvPr/>
          </p:nvSpPr>
          <p:spPr>
            <a:xfrm>
              <a:off x="819150" y="2228850"/>
              <a:ext cx="47625" cy="247650"/>
            </a:xfrm>
            <a:prstGeom prst="roundRect">
              <a:avLst>
                <a:gd name="adj" fmla="val 50000"/>
              </a:avLst>
            </a:prstGeom>
            <a:solidFill>
              <a:schemeClr val="accent2"/>
            </a:solidFill>
            <a:ln>
              <a:noFill/>
            </a:ln>
          </p:spPr>
        </p:sp>
        <p:sp>
          <p:nvSpPr>
            <p:cNvPr id="13" name="TextBox 13"/>
            <p:cNvSpPr txBox="1"/>
            <p:nvPr/>
          </p:nvSpPr>
          <p:spPr>
            <a:xfrm>
              <a:off x="1022223" y="2281714"/>
              <a:ext cx="3506459"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Each mechanism → a concrete SO change</a:t>
              </a:r>
            </a:p>
          </p:txBody>
        </p:sp>
        <p:sp>
          <p:nvSpPr>
            <p:cNvPr id="14" name="Rectangle 14"/>
            <p:cNvSpPr/>
            <p:nvPr/>
          </p:nvSpPr>
          <p:spPr>
            <a:xfrm>
              <a:off x="895350" y="2647950"/>
              <a:ext cx="76200" cy="76200"/>
            </a:xfrm>
            <a:prstGeom prst="roundRect">
              <a:avLst>
                <a:gd name="adj" fmla="val 25000"/>
              </a:avLst>
            </a:prstGeom>
            <a:solidFill>
              <a:srgbClr val="7BE0C8"/>
            </a:solidFill>
            <a:ln>
              <a:noFill/>
            </a:ln>
          </p:spPr>
        </p:sp>
        <p:sp>
          <p:nvSpPr>
            <p:cNvPr id="15" name="TextBox 15"/>
            <p:cNvSpPr txBox="1"/>
            <p:nvPr/>
          </p:nvSpPr>
          <p:spPr>
            <a:xfrm>
              <a:off x="1079373" y="2586514"/>
              <a:ext cx="1311829"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Metaplasticity</a:t>
              </a:r>
            </a:p>
          </p:txBody>
        </p:sp>
        <p:sp>
          <p:nvSpPr>
            <p:cNvPr id="16" name="TextBox 16"/>
            <p:cNvSpPr txBox="1"/>
            <p:nvPr/>
          </p:nvSpPr>
          <p:spPr>
            <a:xfrm>
              <a:off x="1079754" y="2842260"/>
              <a:ext cx="320747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adaptive learning rate α = f(w) or f(ΔE)</a:t>
              </a:r>
            </a:p>
          </p:txBody>
        </p:sp>
        <p:sp>
          <p:nvSpPr>
            <p:cNvPr id="17" name="Line 17"/>
            <p:cNvSpPr/>
            <p:nvPr/>
          </p:nvSpPr>
          <p:spPr>
            <a:xfrm>
              <a:off x="895350" y="3143250"/>
              <a:ext cx="5334000" cy="9525"/>
            </a:xfrm>
            <a:custGeom>
              <a:avLst/>
              <a:gdLst/>
              <a:ahLst/>
              <a:cxnLst/>
              <a:rect l="l" t="t" r="r" b="b"/>
              <a:pathLst>
                <a:path w="5334000" h="9525">
                  <a:moveTo>
                    <a:pt x="0" y="0"/>
                  </a:moveTo>
                  <a:lnTo>
                    <a:pt x="5334000" y="0"/>
                  </a:lnTo>
                </a:path>
              </a:pathLst>
            </a:custGeom>
            <a:noFill/>
            <a:ln w="9525">
              <a:solidFill>
                <a:schemeClr val="accent4"/>
              </a:solidFill>
            </a:ln>
          </p:spPr>
        </p:sp>
        <p:sp>
          <p:nvSpPr>
            <p:cNvPr id="18" name="Rectangle 18"/>
            <p:cNvSpPr/>
            <p:nvPr/>
          </p:nvSpPr>
          <p:spPr>
            <a:xfrm>
              <a:off x="895350" y="3390900"/>
              <a:ext cx="76200" cy="76200"/>
            </a:xfrm>
            <a:prstGeom prst="roundRect">
              <a:avLst>
                <a:gd name="adj" fmla="val 25000"/>
              </a:avLst>
            </a:prstGeom>
            <a:solidFill>
              <a:srgbClr val="7BE0C8"/>
            </a:solidFill>
            <a:ln>
              <a:noFill/>
            </a:ln>
          </p:spPr>
        </p:sp>
        <p:sp>
          <p:nvSpPr>
            <p:cNvPr id="19" name="TextBox 19"/>
            <p:cNvSpPr txBox="1"/>
            <p:nvPr/>
          </p:nvSpPr>
          <p:spPr>
            <a:xfrm>
              <a:off x="1079373" y="3329464"/>
              <a:ext cx="1104116"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Homeostasis</a:t>
              </a:r>
            </a:p>
          </p:txBody>
        </p:sp>
        <p:sp>
          <p:nvSpPr>
            <p:cNvPr id="20" name="TextBox 20"/>
            <p:cNvSpPr txBox="1"/>
            <p:nvPr/>
          </p:nvSpPr>
          <p:spPr>
            <a:xfrm>
              <a:off x="1079754" y="3585210"/>
              <a:ext cx="253227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oscillatory activation functions</a:t>
              </a:r>
            </a:p>
          </p:txBody>
        </p:sp>
        <p:sp>
          <p:nvSpPr>
            <p:cNvPr id="21" name="Line 21"/>
            <p:cNvSpPr/>
            <p:nvPr/>
          </p:nvSpPr>
          <p:spPr>
            <a:xfrm>
              <a:off x="895350" y="3886200"/>
              <a:ext cx="5334000" cy="9525"/>
            </a:xfrm>
            <a:custGeom>
              <a:avLst/>
              <a:gdLst/>
              <a:ahLst/>
              <a:cxnLst/>
              <a:rect l="l" t="t" r="r" b="b"/>
              <a:pathLst>
                <a:path w="5334000" h="9525">
                  <a:moveTo>
                    <a:pt x="0" y="0"/>
                  </a:moveTo>
                  <a:lnTo>
                    <a:pt x="5334000" y="0"/>
                  </a:lnTo>
                </a:path>
              </a:pathLst>
            </a:custGeom>
            <a:noFill/>
            <a:ln w="9525">
              <a:solidFill>
                <a:schemeClr val="accent4"/>
              </a:solidFill>
            </a:ln>
          </p:spPr>
        </p:sp>
        <p:sp>
          <p:nvSpPr>
            <p:cNvPr id="22" name="Rectangle 22"/>
            <p:cNvSpPr/>
            <p:nvPr/>
          </p:nvSpPr>
          <p:spPr>
            <a:xfrm>
              <a:off x="895350" y="4133850"/>
              <a:ext cx="76200" cy="76200"/>
            </a:xfrm>
            <a:prstGeom prst="roundRect">
              <a:avLst>
                <a:gd name="adj" fmla="val 25000"/>
              </a:avLst>
            </a:prstGeom>
            <a:solidFill>
              <a:srgbClr val="F2A65A"/>
            </a:solidFill>
            <a:ln>
              <a:noFill/>
            </a:ln>
          </p:spPr>
        </p:sp>
        <p:sp>
          <p:nvSpPr>
            <p:cNvPr id="23" name="TextBox 23"/>
            <p:cNvSpPr txBox="1"/>
            <p:nvPr/>
          </p:nvSpPr>
          <p:spPr>
            <a:xfrm>
              <a:off x="1079373" y="4072414"/>
              <a:ext cx="959112"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Modularity</a:t>
              </a:r>
            </a:p>
          </p:txBody>
        </p:sp>
        <p:sp>
          <p:nvSpPr>
            <p:cNvPr id="24" name="TextBox 24"/>
            <p:cNvSpPr txBox="1"/>
            <p:nvPr/>
          </p:nvSpPr>
          <p:spPr>
            <a:xfrm>
              <a:off x="1079754" y="4328160"/>
              <a:ext cx="246766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adaptive intra-module boosting</a:t>
              </a:r>
            </a:p>
          </p:txBody>
        </p:sp>
        <p:sp>
          <p:nvSpPr>
            <p:cNvPr id="25" name="Line 25"/>
            <p:cNvSpPr/>
            <p:nvPr/>
          </p:nvSpPr>
          <p:spPr>
            <a:xfrm>
              <a:off x="895350" y="4629150"/>
              <a:ext cx="5334000" cy="9525"/>
            </a:xfrm>
            <a:custGeom>
              <a:avLst/>
              <a:gdLst/>
              <a:ahLst/>
              <a:cxnLst/>
              <a:rect l="l" t="t" r="r" b="b"/>
              <a:pathLst>
                <a:path w="5334000" h="9525">
                  <a:moveTo>
                    <a:pt x="0" y="0"/>
                  </a:moveTo>
                  <a:lnTo>
                    <a:pt x="5334000" y="0"/>
                  </a:lnTo>
                </a:path>
              </a:pathLst>
            </a:custGeom>
            <a:noFill/>
            <a:ln w="9525">
              <a:solidFill>
                <a:schemeClr val="accent4"/>
              </a:solidFill>
            </a:ln>
          </p:spPr>
        </p:sp>
        <p:sp>
          <p:nvSpPr>
            <p:cNvPr id="26" name="Rectangle 26"/>
            <p:cNvSpPr/>
            <p:nvPr/>
          </p:nvSpPr>
          <p:spPr>
            <a:xfrm>
              <a:off x="895350" y="4876800"/>
              <a:ext cx="76200" cy="76200"/>
            </a:xfrm>
            <a:prstGeom prst="roundRect">
              <a:avLst>
                <a:gd name="adj" fmla="val 25000"/>
              </a:avLst>
            </a:prstGeom>
            <a:solidFill>
              <a:srgbClr val="F2768F"/>
            </a:solidFill>
            <a:ln>
              <a:noFill/>
            </a:ln>
          </p:spPr>
        </p:sp>
        <p:sp>
          <p:nvSpPr>
            <p:cNvPr id="27" name="TextBox 27"/>
            <p:cNvSpPr txBox="1"/>
            <p:nvPr/>
          </p:nvSpPr>
          <p:spPr>
            <a:xfrm>
              <a:off x="1079373" y="4815364"/>
              <a:ext cx="1990665"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Inhibition + forgetting</a:t>
              </a:r>
            </a:p>
          </p:txBody>
        </p:sp>
        <p:sp>
          <p:nvSpPr>
            <p:cNvPr id="28" name="TextBox 28"/>
            <p:cNvSpPr txBox="1"/>
            <p:nvPr/>
          </p:nvSpPr>
          <p:spPr>
            <a:xfrm>
              <a:off x="1079754" y="5071110"/>
              <a:ext cx="252420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inter-module inhibition &amp; resets</a:t>
              </a:r>
            </a:p>
          </p:txBody>
        </p:sp>
        <p:sp>
          <p:nvSpPr>
            <p:cNvPr id="29" name="Line 29"/>
            <p:cNvSpPr/>
            <p:nvPr/>
          </p:nvSpPr>
          <p:spPr>
            <a:xfrm>
              <a:off x="895350" y="5372100"/>
              <a:ext cx="5334000" cy="9525"/>
            </a:xfrm>
            <a:custGeom>
              <a:avLst/>
              <a:gdLst/>
              <a:ahLst/>
              <a:cxnLst/>
              <a:rect l="l" t="t" r="r" b="b"/>
              <a:pathLst>
                <a:path w="5334000" h="9525">
                  <a:moveTo>
                    <a:pt x="0" y="0"/>
                  </a:moveTo>
                  <a:lnTo>
                    <a:pt x="5334000" y="0"/>
                  </a:lnTo>
                </a:path>
              </a:pathLst>
            </a:custGeom>
            <a:noFill/>
            <a:ln w="9525">
              <a:solidFill>
                <a:schemeClr val="accent4"/>
              </a:solidFill>
            </a:ln>
          </p:spPr>
        </p:sp>
        <p:sp>
          <p:nvSpPr>
            <p:cNvPr id="30" name="TextBox 30"/>
            <p:cNvSpPr txBox="1"/>
            <p:nvPr/>
          </p:nvSpPr>
          <p:spPr>
            <a:xfrm>
              <a:off x="1022985" y="6069806"/>
              <a:ext cx="4863816" cy="220028"/>
            </a:xfrm>
            <a:prstGeom prst="rect">
              <a:avLst/>
            </a:prstGeom>
            <a:noFill/>
            <a:ln>
              <a:noFill/>
            </a:ln>
          </p:spPr>
          <p:txBody>
            <a:bodyPr wrap="none" lIns="0" tIns="0" rIns="0" bIns="0" anchor="t" anchorCtr="0">
              <a:spAutoFit/>
            </a:bodyPr>
            <a:lstStyle/>
            <a:p>
              <a:pPr algn="l"/>
              <a:r>
                <a:rPr lang="en-US" sz="1120" dirty="0">
                  <a:solidFill>
                    <a:srgbClr val="6D7C96"/>
                  </a:solidFill>
                  <a:latin typeface="+mn-lt"/>
                  <a:ea typeface="+mn-ea"/>
                  <a:cs typeface="+mn-cs"/>
                </a:rPr>
                <a:t>Metaplasticity, homeostasis, inhibition, and forgetting, unified.</a:t>
              </a:r>
            </a:p>
          </p:txBody>
        </p:sp>
      </p:grpSp>
      <p:grpSp>
        <p:nvGrpSpPr>
          <p:cNvPr id="40" name="Group 40"/>
          <p:cNvGrpSpPr/>
          <p:nvPr/>
        </p:nvGrpSpPr>
        <p:grpSpPr>
          <a:xfrm>
            <a:off x="6705600" y="2076450"/>
            <a:ext cx="4876800" cy="2057400"/>
            <a:chOff x="6705600" y="2076450"/>
            <a:chExt cx="4876800" cy="2057400"/>
          </a:xfrm>
        </p:grpSpPr>
        <p:sp>
          <p:nvSpPr>
            <p:cNvPr id="32" name="Rectangle 32"/>
            <p:cNvSpPr/>
            <p:nvPr/>
          </p:nvSpPr>
          <p:spPr>
            <a:xfrm>
              <a:off x="6705600" y="2076450"/>
              <a:ext cx="4876800" cy="2057400"/>
            </a:xfrm>
            <a:prstGeom prst="roundRect">
              <a:avLst>
                <a:gd name="adj" fmla="val 5556"/>
              </a:avLst>
            </a:prstGeom>
            <a:solidFill>
              <a:schemeClr val="accent5"/>
            </a:solidFill>
            <a:ln w="14288">
              <a:solidFill>
                <a:schemeClr val="accent4"/>
              </a:solidFill>
            </a:ln>
          </p:spPr>
        </p:sp>
        <p:sp>
          <p:nvSpPr>
            <p:cNvPr id="33" name="Rectangle 33"/>
            <p:cNvSpPr/>
            <p:nvPr/>
          </p:nvSpPr>
          <p:spPr>
            <a:xfrm>
              <a:off x="6705600" y="2228850"/>
              <a:ext cx="47625" cy="247650"/>
            </a:xfrm>
            <a:prstGeom prst="roundRect">
              <a:avLst>
                <a:gd name="adj" fmla="val 50000"/>
              </a:avLst>
            </a:prstGeom>
            <a:solidFill>
              <a:srgbClr val="7BE0C8"/>
            </a:solidFill>
            <a:ln>
              <a:noFill/>
            </a:ln>
          </p:spPr>
        </p:sp>
        <p:sp>
          <p:nvSpPr>
            <p:cNvPr id="34" name="TextBox 34"/>
            <p:cNvSpPr txBox="1"/>
            <p:nvPr/>
          </p:nvSpPr>
          <p:spPr>
            <a:xfrm>
              <a:off x="6908673" y="2281714"/>
              <a:ext cx="1737187"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The unifying insight</a:t>
              </a:r>
            </a:p>
          </p:txBody>
        </p:sp>
        <p:sp>
          <p:nvSpPr>
            <p:cNvPr id="35" name="TextBox 35"/>
            <p:cNvSpPr txBox="1"/>
            <p:nvPr/>
          </p:nvSpPr>
          <p:spPr>
            <a:xfrm>
              <a:off x="6908673" y="2567464"/>
              <a:ext cx="2310365"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Constraints and degrees of</a:t>
              </a:r>
            </a:p>
          </p:txBody>
        </p:sp>
        <p:sp>
          <p:nvSpPr>
            <p:cNvPr id="36" name="TextBox 36"/>
            <p:cNvSpPr txBox="1"/>
            <p:nvPr/>
          </p:nvSpPr>
          <p:spPr>
            <a:xfrm>
              <a:off x="6908673" y="2805589"/>
              <a:ext cx="2589042"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freedom are not in opposition:</a:t>
              </a:r>
            </a:p>
          </p:txBody>
        </p:sp>
        <p:sp>
          <p:nvSpPr>
            <p:cNvPr id="37" name="TextBox 37"/>
            <p:cNvSpPr txBox="1"/>
            <p:nvPr/>
          </p:nvSpPr>
          <p:spPr>
            <a:xfrm>
              <a:off x="6908673" y="3043714"/>
              <a:ext cx="3045673"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the architecture is the framework,</a:t>
              </a:r>
            </a:p>
          </p:txBody>
        </p:sp>
        <p:sp>
          <p:nvSpPr>
            <p:cNvPr id="38" name="TextBox 38"/>
            <p:cNvSpPr txBox="1"/>
            <p:nvPr/>
          </p:nvSpPr>
          <p:spPr>
            <a:xfrm>
              <a:off x="6908673" y="3281839"/>
              <a:ext cx="2278878"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and within it more freedom</a:t>
              </a:r>
            </a:p>
          </p:txBody>
        </p:sp>
        <p:sp>
          <p:nvSpPr>
            <p:cNvPr id="39" name="TextBox 39"/>
            <p:cNvSpPr txBox="1"/>
            <p:nvPr/>
          </p:nvSpPr>
          <p:spPr>
            <a:xfrm>
              <a:off x="6908673" y="3519964"/>
              <a:ext cx="2304725"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expands adaptive behavior.</a:t>
              </a:r>
            </a:p>
          </p:txBody>
        </p:sp>
      </p:grpSp>
      <p:grpSp>
        <p:nvGrpSpPr>
          <p:cNvPr id="49" name="Group 49"/>
          <p:cNvGrpSpPr/>
          <p:nvPr/>
        </p:nvGrpSpPr>
        <p:grpSpPr>
          <a:xfrm>
            <a:off x="6705600" y="4343400"/>
            <a:ext cx="4876800" cy="2057400"/>
            <a:chOff x="6705600" y="4343400"/>
            <a:chExt cx="4876800" cy="2057400"/>
          </a:xfrm>
        </p:grpSpPr>
        <p:sp>
          <p:nvSpPr>
            <p:cNvPr id="41" name="Rectangle 41"/>
            <p:cNvSpPr/>
            <p:nvPr/>
          </p:nvSpPr>
          <p:spPr>
            <a:xfrm>
              <a:off x="6705600" y="4343400"/>
              <a:ext cx="4876800" cy="2057400"/>
            </a:xfrm>
            <a:prstGeom prst="roundRect">
              <a:avLst>
                <a:gd name="adj" fmla="val 5556"/>
              </a:avLst>
            </a:prstGeom>
            <a:solidFill>
              <a:schemeClr val="accent5"/>
            </a:solidFill>
            <a:ln w="14288">
              <a:solidFill>
                <a:schemeClr val="accent4"/>
              </a:solidFill>
            </a:ln>
          </p:spPr>
        </p:sp>
        <p:sp>
          <p:nvSpPr>
            <p:cNvPr id="42" name="Rectangle 42"/>
            <p:cNvSpPr/>
            <p:nvPr/>
          </p:nvSpPr>
          <p:spPr>
            <a:xfrm>
              <a:off x="6705600" y="4495800"/>
              <a:ext cx="47625" cy="247650"/>
            </a:xfrm>
            <a:prstGeom prst="roundRect">
              <a:avLst>
                <a:gd name="adj" fmla="val 50000"/>
              </a:avLst>
            </a:prstGeom>
            <a:solidFill>
              <a:srgbClr val="F2A65A"/>
            </a:solidFill>
            <a:ln>
              <a:noFill/>
            </a:ln>
          </p:spPr>
        </p:sp>
        <p:sp>
          <p:nvSpPr>
            <p:cNvPr id="43" name="TextBox 43"/>
            <p:cNvSpPr txBox="1"/>
            <p:nvPr/>
          </p:nvSpPr>
          <p:spPr>
            <a:xfrm>
              <a:off x="6908673" y="4548664"/>
              <a:ext cx="1809787" cy="249364"/>
            </a:xfrm>
            <a:prstGeom prst="rect">
              <a:avLst/>
            </a:prstGeom>
            <a:noFill/>
            <a:ln>
              <a:noFill/>
            </a:ln>
          </p:spPr>
          <p:txBody>
            <a:bodyPr wrap="none" lIns="0" tIns="0" rIns="0" bIns="0" anchor="t" anchorCtr="0">
              <a:spAutoFit/>
            </a:bodyPr>
            <a:lstStyle/>
            <a:p>
              <a:pPr algn="l"/>
              <a:r>
                <a:rPr lang="en-US" sz="1280" b="1" dirty="0">
                  <a:solidFill>
                    <a:srgbClr val="F2A65A"/>
                  </a:solidFill>
                  <a:latin typeface="+mn-lt"/>
                  <a:ea typeface="+mn-ea"/>
                  <a:cs typeface="+mn-cs"/>
                </a:rPr>
                <a:t>Without constraints</a:t>
              </a:r>
            </a:p>
          </p:txBody>
        </p:sp>
        <p:sp>
          <p:nvSpPr>
            <p:cNvPr id="44" name="TextBox 44"/>
            <p:cNvSpPr txBox="1"/>
            <p:nvPr/>
          </p:nvSpPr>
          <p:spPr>
            <a:xfrm>
              <a:off x="6908673" y="4834414"/>
              <a:ext cx="2861678"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Strip the constraining framework</a:t>
              </a:r>
            </a:p>
          </p:txBody>
        </p:sp>
        <p:sp>
          <p:nvSpPr>
            <p:cNvPr id="45" name="TextBox 45"/>
            <p:cNvSpPr txBox="1"/>
            <p:nvPr/>
          </p:nvSpPr>
          <p:spPr>
            <a:xfrm>
              <a:off x="6908673" y="5072539"/>
              <a:ext cx="2580427"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away and the added degrees of</a:t>
              </a:r>
            </a:p>
          </p:txBody>
        </p:sp>
        <p:sp>
          <p:nvSpPr>
            <p:cNvPr id="46" name="TextBox 46"/>
            <p:cNvSpPr txBox="1"/>
            <p:nvPr/>
          </p:nvSpPr>
          <p:spPr>
            <a:xfrm>
              <a:off x="6908673" y="5310664"/>
              <a:ext cx="2580427"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freedom have nothing to shape</a:t>
              </a:r>
            </a:p>
          </p:txBody>
        </p:sp>
        <p:sp>
          <p:nvSpPr>
            <p:cNvPr id="47" name="TextBox 47"/>
            <p:cNvSpPr txBox="1"/>
            <p:nvPr/>
          </p:nvSpPr>
          <p:spPr>
            <a:xfrm>
              <a:off x="6908673" y="5548789"/>
              <a:ext cx="2296109"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them — they simply collapse</a:t>
              </a:r>
            </a:p>
          </p:txBody>
        </p:sp>
        <p:sp>
          <p:nvSpPr>
            <p:cNvPr id="48" name="TextBox 48"/>
            <p:cNvSpPr txBox="1"/>
            <p:nvPr/>
          </p:nvSpPr>
          <p:spPr>
            <a:xfrm>
              <a:off x="6908673" y="5786914"/>
              <a:ext cx="926216"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into noise.</a:t>
              </a:r>
            </a:p>
          </p:txBody>
        </p:sp>
      </p:grpSp>
      <p:sp>
        <p:nvSpPr>
          <p:cNvPr id="50" name="cue_s07_c1_because_proposal_its_main_result" title="cue_s07_c1_because_proposal_its_main_result" descr="cue_s07_c1_because_proposal_its_main_result Because this is a proposal paper, its main result is conceptual rather than numerical."/>
          <p:cNvSpPr/>
          <p:nvPr/>
        </p:nvSpPr>
        <p:spPr>
          <a:xfrm>
            <a:off x="609600" y="1257071"/>
            <a:ext cx="10972800" cy="6665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7_c2_delivers_unified_framework_showing_h" title="cue_s07_c2_delivers_unified_framework_showing_h" descr="cue_s07_c2_delivers_unified_framework_showing_h It delivers a unified framework showing how metaplasticity, homeostasis, inhibition, and forgetting can each map onto specific changes in the self-optimization model — an adaptive learning rate driven by weights or energy, oscillatory activation functions, and"/>
          <p:cNvSpPr/>
          <p:nvPr/>
        </p:nvSpPr>
        <p:spPr>
          <a:xfrm>
            <a:off x="609600" y="2076602"/>
            <a:ext cx="5905804" cy="43246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7_c3_unifying_insight_constraints_degrees" title="cue_s07_c3_unifying_insight_constraints_degrees" descr="cue_s07_c3_unifying_insight_constraints_degrees The unifying insight is that constraints and degrees of freedom are not in opposition: the network architecture provides the constraining framework, and within it, higher degrees of freedom can expand the space of adaptive behavior."/>
          <p:cNvSpPr/>
          <p:nvPr/>
        </p:nvSpPr>
        <p:spPr>
          <a:xfrm>
            <a:off x="6705600" y="2076602"/>
            <a:ext cx="4876800"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7_c4_without_those_constraints_added_free" title="cue_s07_c4_without_those_constraints_added_free" descr="cue_s07_c4_without_those_constraints_added_free Without those constraints, the added freedom would simply collapse into noise."/>
          <p:cNvSpPr/>
          <p:nvPr/>
        </p:nvSpPr>
        <p:spPr>
          <a:xfrm>
            <a:off x="6705600" y="4343171"/>
            <a:ext cx="4876800"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69106"/>
            <a:ext cx="1266499" cy="220028"/>
          </a:xfrm>
          <a:prstGeom prst="rect">
            <a:avLst/>
          </a:prstGeom>
          <a:noFill/>
          <a:ln>
            <a:noFill/>
          </a:ln>
        </p:spPr>
        <p:txBody>
          <a:bodyPr wrap="none" lIns="0" tIns="0" rIns="0" bIns="0" anchor="t" anchorCtr="0">
            <a:spAutoFit/>
          </a:bodyPr>
          <a:lstStyle/>
          <a:p>
            <a:pPr algn="l"/>
            <a:r>
              <a:rPr lang="en-US" sz="1120" b="1" spc="150" dirty="0">
                <a:solidFill>
                  <a:schemeClr val="accent2"/>
                </a:solidFill>
                <a:latin typeface="+mn-lt"/>
                <a:ea typeface="+mn-ea"/>
                <a:cs typeface="+mn-cs"/>
              </a:rPr>
              <a:t>DESIGN SPACE</a:t>
            </a:r>
          </a:p>
        </p:txBody>
      </p:sp>
      <p:sp>
        <p:nvSpPr>
          <p:cNvPr id="4" name="TextBox 4"/>
          <p:cNvSpPr txBox="1"/>
          <p:nvPr/>
        </p:nvSpPr>
        <p:spPr>
          <a:xfrm>
            <a:off x="789432" y="630555"/>
            <a:ext cx="668094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No experiments — but a clear menu of variants</a:t>
            </a:r>
          </a:p>
        </p:txBody>
      </p:sp>
      <p:sp>
        <p:nvSpPr>
          <p:cNvPr id="5" name="Line 5"/>
          <p:cNvSpPr/>
          <p:nvPr/>
        </p:nvSpPr>
        <p:spPr>
          <a:xfrm>
            <a:off x="609600" y="1028700"/>
            <a:ext cx="10972800" cy="9525"/>
          </a:xfrm>
          <a:custGeom>
            <a:avLst/>
            <a:gdLst/>
            <a:ahLst/>
            <a:cxnLst/>
            <a:rect l="l" t="t" r="r" b="b"/>
            <a:pathLst>
              <a:path w="10972800" h="9525">
                <a:moveTo>
                  <a:pt x="0" y="0"/>
                </a:moveTo>
                <a:lnTo>
                  <a:pt x="10972800" y="0"/>
                </a:lnTo>
              </a:path>
            </a:pathLst>
          </a:custGeom>
          <a:noFill/>
          <a:ln w="14288">
            <a:solidFill>
              <a:schemeClr val="accent4"/>
            </a:solidFill>
          </a:ln>
        </p:spPr>
        <p:txBody>
          <a:bodyPr/>
          <a:p/>
        </p:txBody>
      </p:sp>
      <p:sp>
        <p:nvSpPr>
          <p:cNvPr id="6" name="TextBox 6"/>
          <p:cNvSpPr txBox="1"/>
          <p:nvPr/>
        </p:nvSpPr>
        <p:spPr>
          <a:xfrm>
            <a:off x="11103540" y="477202"/>
            <a:ext cx="484194" cy="205359"/>
          </a:xfrm>
          <a:prstGeom prst="rect">
            <a:avLst/>
          </a:prstGeom>
          <a:noFill/>
          <a:ln>
            <a:noFill/>
          </a:ln>
        </p:spPr>
        <p:txBody>
          <a:bodyPr wrap="none" lIns="0" tIns="0" rIns="0" bIns="0" anchor="t" anchorCtr="0">
            <a:spAutoFit/>
          </a:bodyPr>
          <a:lstStyle/>
          <a:p>
            <a:pPr algn="r"/>
            <a:r>
              <a:rPr lang="en-US" sz="1050" dirty="0">
                <a:solidFill>
                  <a:srgbClr val="6D7C96"/>
                </a:solidFill>
                <a:latin typeface="+mn-lt"/>
                <a:ea typeface="+mn-ea"/>
                <a:cs typeface="+mn-cs"/>
              </a:rPr>
              <a:t>08 / 10</a:t>
            </a:r>
          </a:p>
        </p:txBody>
      </p:sp>
      <p:grpSp>
        <p:nvGrpSpPr>
          <p:cNvPr id="9" name="Group 9"/>
          <p:cNvGrpSpPr/>
          <p:nvPr/>
        </p:nvGrpSpPr>
        <p:grpSpPr>
          <a:xfrm>
            <a:off x="609600" y="1257300"/>
            <a:ext cx="10972800" cy="685800"/>
            <a:chOff x="609600" y="1257300"/>
            <a:chExt cx="10972800" cy="685800"/>
          </a:xfrm>
        </p:grpSpPr>
        <p:sp>
          <p:nvSpPr>
            <p:cNvPr id="7" name="Rectangle 7"/>
            <p:cNvSpPr/>
            <p:nvPr/>
          </p:nvSpPr>
          <p:spPr>
            <a:xfrm>
              <a:off x="609600" y="1257300"/>
              <a:ext cx="10972800" cy="685800"/>
            </a:xfrm>
            <a:prstGeom prst="roundRect">
              <a:avLst>
                <a:gd name="adj" fmla="val 16667"/>
              </a:avLst>
            </a:prstGeom>
            <a:solidFill>
              <a:schemeClr val="accent6"/>
            </a:solidFill>
            <a:ln w="14288">
              <a:solidFill>
                <a:schemeClr val="accent4"/>
              </a:solidFill>
            </a:ln>
          </p:spPr>
        </p:sp>
        <p:sp>
          <p:nvSpPr>
            <p:cNvPr id="8" name="TextBox 8"/>
            <p:cNvSpPr txBox="1"/>
            <p:nvPr/>
          </p:nvSpPr>
          <p:spPr>
            <a:xfrm>
              <a:off x="830580" y="1514475"/>
              <a:ext cx="872628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No ablations — no model is trained; instead the paper sketches variants to compare.</a:t>
              </a:r>
            </a:p>
          </p:txBody>
        </p:sp>
      </p:grpSp>
      <p:grpSp>
        <p:nvGrpSpPr>
          <p:cNvPr id="18" name="Group 18"/>
          <p:cNvGrpSpPr/>
          <p:nvPr/>
        </p:nvGrpSpPr>
        <p:grpSpPr>
          <a:xfrm>
            <a:off x="609600" y="2133600"/>
            <a:ext cx="3530600" cy="4267200"/>
            <a:chOff x="609600" y="2133600"/>
            <a:chExt cx="3530600" cy="4267200"/>
          </a:xfrm>
        </p:grpSpPr>
        <p:sp>
          <p:nvSpPr>
            <p:cNvPr id="10" name="Rectangle 10"/>
            <p:cNvSpPr/>
            <p:nvPr/>
          </p:nvSpPr>
          <p:spPr>
            <a:xfrm>
              <a:off x="609600" y="2133600"/>
              <a:ext cx="3530600" cy="4267200"/>
            </a:xfrm>
            <a:prstGeom prst="roundRect">
              <a:avLst>
                <a:gd name="adj" fmla="val 3237"/>
              </a:avLst>
            </a:prstGeom>
            <a:solidFill>
              <a:schemeClr val="accent5"/>
            </a:solidFill>
            <a:ln w="14288">
              <a:solidFill>
                <a:schemeClr val="accent4"/>
              </a:solidFill>
            </a:ln>
          </p:spPr>
        </p:sp>
        <p:sp>
          <p:nvSpPr>
            <p:cNvPr id="11" name="Rectangle 11"/>
            <p:cNvSpPr/>
            <p:nvPr/>
          </p:nvSpPr>
          <p:spPr>
            <a:xfrm>
              <a:off x="609600" y="2286000"/>
              <a:ext cx="47625" cy="247650"/>
            </a:xfrm>
            <a:prstGeom prst="roundRect">
              <a:avLst>
                <a:gd name="adj" fmla="val 50000"/>
              </a:avLst>
            </a:prstGeom>
            <a:solidFill>
              <a:schemeClr val="accent2"/>
            </a:solidFill>
            <a:ln>
              <a:noFill/>
            </a:ln>
          </p:spPr>
        </p:sp>
        <p:sp>
          <p:nvSpPr>
            <p:cNvPr id="12" name="TextBox 12"/>
            <p:cNvSpPr txBox="1"/>
            <p:nvPr/>
          </p:nvSpPr>
          <p:spPr>
            <a:xfrm>
              <a:off x="812673" y="2338864"/>
              <a:ext cx="960443"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Forms of f</a:t>
              </a:r>
            </a:p>
          </p:txBody>
        </p:sp>
        <p:sp>
          <p:nvSpPr>
            <p:cNvPr id="13" name="TextBox 13"/>
            <p:cNvSpPr txBox="1"/>
            <p:nvPr/>
          </p:nvSpPr>
          <p:spPr>
            <a:xfrm>
              <a:off x="812673" y="2624614"/>
              <a:ext cx="2714925"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The function linking the learning</a:t>
              </a:r>
            </a:p>
          </p:txBody>
        </p:sp>
        <p:sp>
          <p:nvSpPr>
            <p:cNvPr id="14" name="TextBox 14"/>
            <p:cNvSpPr txBox="1"/>
            <p:nvPr/>
          </p:nvSpPr>
          <p:spPr>
            <a:xfrm>
              <a:off x="812673" y="2862739"/>
              <a:ext cx="2442576"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rate to weights or to energy</a:t>
              </a:r>
            </a:p>
          </p:txBody>
        </p:sp>
        <p:sp>
          <p:nvSpPr>
            <p:cNvPr id="15" name="TextBox 15"/>
            <p:cNvSpPr txBox="1"/>
            <p:nvPr/>
          </p:nvSpPr>
          <p:spPr>
            <a:xfrm>
              <a:off x="812673" y="3100864"/>
              <a:ext cx="2339188"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changes, from simple linear</a:t>
              </a:r>
            </a:p>
          </p:txBody>
        </p:sp>
        <p:sp>
          <p:nvSpPr>
            <p:cNvPr id="16" name="TextBox 16"/>
            <p:cNvSpPr txBox="1"/>
            <p:nvPr/>
          </p:nvSpPr>
          <p:spPr>
            <a:xfrm>
              <a:off x="812673" y="3338989"/>
              <a:ext cx="2701046"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approximations to more complex</a:t>
              </a:r>
            </a:p>
          </p:txBody>
        </p:sp>
        <p:sp>
          <p:nvSpPr>
            <p:cNvPr id="17" name="TextBox 17"/>
            <p:cNvSpPr txBox="1"/>
            <p:nvPr/>
          </p:nvSpPr>
          <p:spPr>
            <a:xfrm>
              <a:off x="812673" y="3577114"/>
              <a:ext cx="1305306"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nonlinear ones.</a:t>
              </a:r>
            </a:p>
          </p:txBody>
        </p:sp>
      </p:grpSp>
      <p:grpSp>
        <p:nvGrpSpPr>
          <p:cNvPr id="27" name="Group 27"/>
          <p:cNvGrpSpPr/>
          <p:nvPr/>
        </p:nvGrpSpPr>
        <p:grpSpPr>
          <a:xfrm>
            <a:off x="4330700" y="2133600"/>
            <a:ext cx="3530600" cy="4267200"/>
            <a:chOff x="4330700" y="2133600"/>
            <a:chExt cx="3530600" cy="4267200"/>
          </a:xfrm>
        </p:grpSpPr>
        <p:sp>
          <p:nvSpPr>
            <p:cNvPr id="19" name="Rectangle 19"/>
            <p:cNvSpPr/>
            <p:nvPr/>
          </p:nvSpPr>
          <p:spPr>
            <a:xfrm>
              <a:off x="4330700" y="2133600"/>
              <a:ext cx="3530600" cy="4267200"/>
            </a:xfrm>
            <a:prstGeom prst="roundRect">
              <a:avLst>
                <a:gd name="adj" fmla="val 3237"/>
              </a:avLst>
            </a:prstGeom>
            <a:solidFill>
              <a:schemeClr val="accent5"/>
            </a:solidFill>
            <a:ln w="14288">
              <a:solidFill>
                <a:schemeClr val="accent4"/>
              </a:solidFill>
            </a:ln>
          </p:spPr>
        </p:sp>
        <p:sp>
          <p:nvSpPr>
            <p:cNvPr id="20" name="Rectangle 20"/>
            <p:cNvSpPr/>
            <p:nvPr/>
          </p:nvSpPr>
          <p:spPr>
            <a:xfrm>
              <a:off x="4330700" y="2286000"/>
              <a:ext cx="47625" cy="247650"/>
            </a:xfrm>
            <a:prstGeom prst="roundRect">
              <a:avLst>
                <a:gd name="adj" fmla="val 50000"/>
              </a:avLst>
            </a:prstGeom>
            <a:solidFill>
              <a:srgbClr val="7BE0C8"/>
            </a:solidFill>
            <a:ln>
              <a:noFill/>
            </a:ln>
          </p:spPr>
        </p:sp>
        <p:sp>
          <p:nvSpPr>
            <p:cNvPr id="21" name="TextBox 21"/>
            <p:cNvSpPr txBox="1"/>
            <p:nvPr/>
          </p:nvSpPr>
          <p:spPr>
            <a:xfrm>
              <a:off x="4533773" y="2338864"/>
              <a:ext cx="1827637"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Activation functions</a:t>
              </a:r>
            </a:p>
          </p:txBody>
        </p:sp>
        <p:sp>
          <p:nvSpPr>
            <p:cNvPr id="22" name="TextBox 22"/>
            <p:cNvSpPr txBox="1"/>
            <p:nvPr/>
          </p:nvSpPr>
          <p:spPr>
            <a:xfrm>
              <a:off x="4533773" y="2624614"/>
              <a:ext cx="2370582"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Different activation rules —</a:t>
              </a:r>
            </a:p>
          </p:txBody>
        </p:sp>
        <p:sp>
          <p:nvSpPr>
            <p:cNvPr id="23" name="TextBox 23"/>
            <p:cNvSpPr txBox="1"/>
            <p:nvPr/>
          </p:nvSpPr>
          <p:spPr>
            <a:xfrm>
              <a:off x="4533773" y="2862739"/>
              <a:ext cx="2835977"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sigmoid, Heaviside threshold, and</a:t>
              </a:r>
            </a:p>
          </p:txBody>
        </p:sp>
        <p:sp>
          <p:nvSpPr>
            <p:cNvPr id="24" name="TextBox 24"/>
            <p:cNvSpPr txBox="1"/>
            <p:nvPr/>
          </p:nvSpPr>
          <p:spPr>
            <a:xfrm>
              <a:off x="4533773" y="3100864"/>
              <a:ext cx="2632121"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trigonometric functions — each</a:t>
              </a:r>
            </a:p>
          </p:txBody>
        </p:sp>
        <p:sp>
          <p:nvSpPr>
            <p:cNvPr id="25" name="TextBox 25"/>
            <p:cNvSpPr txBox="1"/>
            <p:nvPr/>
          </p:nvSpPr>
          <p:spPr>
            <a:xfrm>
              <a:off x="4533773" y="3338989"/>
              <a:ext cx="2468423"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giving qualitatively different</a:t>
              </a:r>
            </a:p>
          </p:txBody>
        </p:sp>
        <p:sp>
          <p:nvSpPr>
            <p:cNvPr id="26" name="TextBox 26"/>
            <p:cNvSpPr txBox="1"/>
            <p:nvPr/>
          </p:nvSpPr>
          <p:spPr>
            <a:xfrm>
              <a:off x="4533773" y="3577114"/>
              <a:ext cx="857291"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dynamics.</a:t>
              </a:r>
            </a:p>
          </p:txBody>
        </p:sp>
      </p:grpSp>
      <p:grpSp>
        <p:nvGrpSpPr>
          <p:cNvPr id="36" name="Group 36"/>
          <p:cNvGrpSpPr/>
          <p:nvPr/>
        </p:nvGrpSpPr>
        <p:grpSpPr>
          <a:xfrm>
            <a:off x="8051800" y="2133600"/>
            <a:ext cx="3530600" cy="4267200"/>
            <a:chOff x="8051800" y="2133600"/>
            <a:chExt cx="3530600" cy="4267200"/>
          </a:xfrm>
        </p:grpSpPr>
        <p:sp>
          <p:nvSpPr>
            <p:cNvPr id="28" name="Rectangle 28"/>
            <p:cNvSpPr/>
            <p:nvPr/>
          </p:nvSpPr>
          <p:spPr>
            <a:xfrm>
              <a:off x="8051800" y="2133600"/>
              <a:ext cx="3530600" cy="4267200"/>
            </a:xfrm>
            <a:prstGeom prst="roundRect">
              <a:avLst>
                <a:gd name="adj" fmla="val 3237"/>
              </a:avLst>
            </a:prstGeom>
            <a:solidFill>
              <a:schemeClr val="accent5"/>
            </a:solidFill>
            <a:ln w="14288">
              <a:solidFill>
                <a:schemeClr val="accent4"/>
              </a:solidFill>
            </a:ln>
          </p:spPr>
        </p:sp>
        <p:sp>
          <p:nvSpPr>
            <p:cNvPr id="29" name="Rectangle 29"/>
            <p:cNvSpPr/>
            <p:nvPr/>
          </p:nvSpPr>
          <p:spPr>
            <a:xfrm>
              <a:off x="8051800" y="2286000"/>
              <a:ext cx="47625" cy="247650"/>
            </a:xfrm>
            <a:prstGeom prst="roundRect">
              <a:avLst>
                <a:gd name="adj" fmla="val 50000"/>
              </a:avLst>
            </a:prstGeom>
            <a:solidFill>
              <a:srgbClr val="F2A65A"/>
            </a:solidFill>
            <a:ln>
              <a:noFill/>
            </a:ln>
          </p:spPr>
        </p:sp>
        <p:sp>
          <p:nvSpPr>
            <p:cNvPr id="30" name="TextBox 30"/>
            <p:cNvSpPr txBox="1"/>
            <p:nvPr/>
          </p:nvSpPr>
          <p:spPr>
            <a:xfrm>
              <a:off x="8254873" y="2338864"/>
              <a:ext cx="1349057" cy="249364"/>
            </a:xfrm>
            <a:prstGeom prst="rect">
              <a:avLst/>
            </a:prstGeom>
            <a:noFill/>
            <a:ln>
              <a:noFill/>
            </a:ln>
          </p:spPr>
          <p:txBody>
            <a:bodyPr wrap="none" lIns="0" tIns="0" rIns="0" bIns="0" anchor="t" anchorCtr="0">
              <a:spAutoFit/>
            </a:bodyPr>
            <a:lstStyle/>
            <a:p>
              <a:pPr algn="l"/>
              <a:r>
                <a:rPr lang="en-US" sz="1280" b="1" dirty="0">
                  <a:solidFill>
                    <a:srgbClr val="F2A65A"/>
                  </a:solidFill>
                  <a:latin typeface="+mn-lt"/>
                  <a:ea typeface="+mn-ea"/>
                  <a:cs typeface="+mn-cs"/>
                </a:rPr>
                <a:t>Why it matters</a:t>
              </a:r>
            </a:p>
          </p:txBody>
        </p:sp>
        <p:sp>
          <p:nvSpPr>
            <p:cNvPr id="31" name="TextBox 31"/>
            <p:cNvSpPr txBox="1"/>
            <p:nvPr/>
          </p:nvSpPr>
          <p:spPr>
            <a:xfrm>
              <a:off x="8254873" y="2624614"/>
              <a:ext cx="2792618"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These variations could reproduce</a:t>
              </a:r>
            </a:p>
          </p:txBody>
        </p:sp>
        <p:sp>
          <p:nvSpPr>
            <p:cNvPr id="32" name="TextBox 32"/>
            <p:cNvSpPr txBox="1"/>
            <p:nvPr/>
          </p:nvSpPr>
          <p:spPr>
            <a:xfrm>
              <a:off x="8254873" y="2862739"/>
              <a:ext cx="2830281"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different normal and pathological</a:t>
              </a:r>
            </a:p>
          </p:txBody>
        </p:sp>
        <p:sp>
          <p:nvSpPr>
            <p:cNvPr id="33" name="TextBox 33"/>
            <p:cNvSpPr txBox="1"/>
            <p:nvPr/>
          </p:nvSpPr>
          <p:spPr>
            <a:xfrm>
              <a:off x="8254873" y="3100864"/>
              <a:ext cx="2856128"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behavioral modes, worth studying</a:t>
              </a:r>
            </a:p>
          </p:txBody>
        </p:sp>
        <p:sp>
          <p:nvSpPr>
            <p:cNvPr id="34" name="TextBox 34"/>
            <p:cNvSpPr txBox="1"/>
            <p:nvPr/>
          </p:nvSpPr>
          <p:spPr>
            <a:xfrm>
              <a:off x="8254873" y="3338989"/>
              <a:ext cx="3037058"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systematically once the mechanisms</a:t>
              </a:r>
            </a:p>
          </p:txBody>
        </p:sp>
        <p:sp>
          <p:nvSpPr>
            <p:cNvPr id="35" name="TextBox 35"/>
            <p:cNvSpPr txBox="1"/>
            <p:nvPr/>
          </p:nvSpPr>
          <p:spPr>
            <a:xfrm>
              <a:off x="8254873" y="3577114"/>
              <a:ext cx="1469004"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are implemented.</a:t>
              </a:r>
            </a:p>
          </p:txBody>
        </p:sp>
      </p:grpSp>
      <p:sp>
        <p:nvSpPr>
          <p:cNvPr id="37" name="cue_s08_c1_ablation_experiments_work_since_trai" title="cue_s08_c1_ablation_experiments_work_since_trai" descr="cue_s08_c1_ablation_experiments_work_since_trai There are no ablation experiments in this work, since no model is trained."/>
          <p:cNvSpPr/>
          <p:nvPr/>
        </p:nvSpPr>
        <p:spPr>
          <a:xfrm>
            <a:off x="609600" y="1257071"/>
            <a:ext cx="10972800" cy="6858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8_c2_does_however_sketch_variations_futur" title="cue_s08_c2_does_however_sketch_variations_futur" descr="cue_s08_c2_does_however_sketch_variations_futur The paper does, however, sketch the variations that a future empirical study should compare."/>
          <p:cNvSpPr/>
          <p:nvPr/>
        </p:nvSpPr>
        <p:spPr>
          <a:xfrm>
            <a:off x="609600" y="2133523"/>
            <a:ext cx="3530803" cy="42670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8_c3_these_include_different_forms_functi" title="cue_s08_c3_these_include_different_forms_functi" descr="cue_s08_c3_these_include_different_forms_functi These include different forms of the function that links the learning rate to weights or to energy changes, ranging from simple linear approximations to more complex nonlinear ones, and different activation functions such as sigmoid, Heaviside threshold, and t"/>
          <p:cNvSpPr/>
          <p:nvPr/>
        </p:nvSpPr>
        <p:spPr>
          <a:xfrm>
            <a:off x="4330598" y="2133523"/>
            <a:ext cx="3530803" cy="42670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8_c4_author_suggests_these_variations_cou" title="cue_s08_c4_author_suggests_these_variations_cou" descr="cue_s08_c4_author_suggests_these_variations_cou The author suggests these variations could reproduce different normal and pathological behavioral modes in biological systems, and are worth exploring systematically once the mechanisms are implemented."/>
          <p:cNvSpPr/>
          <p:nvPr/>
        </p:nvSpPr>
        <p:spPr>
          <a:xfrm>
            <a:off x="8051596" y="2133523"/>
            <a:ext cx="3530803" cy="42670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69106"/>
            <a:ext cx="1526627" cy="220028"/>
          </a:xfrm>
          <a:prstGeom prst="rect">
            <a:avLst/>
          </a:prstGeom>
          <a:noFill/>
          <a:ln>
            <a:noFill/>
          </a:ln>
        </p:spPr>
        <p:txBody>
          <a:bodyPr wrap="none" lIns="0" tIns="0" rIns="0" bIns="0" anchor="t" anchorCtr="0">
            <a:spAutoFit/>
          </a:bodyPr>
          <a:lstStyle/>
          <a:p>
            <a:pPr algn="l"/>
            <a:r>
              <a:rPr lang="en-US" sz="1120" b="1" spc="150" dirty="0">
                <a:solidFill>
                  <a:schemeClr val="accent2"/>
                </a:solidFill>
                <a:latin typeface="+mn-lt"/>
                <a:ea typeface="+mn-ea"/>
                <a:cs typeface="+mn-cs"/>
              </a:rPr>
              <a:t>BY THE NUMBERS</a:t>
            </a:r>
          </a:p>
        </p:txBody>
      </p:sp>
      <p:sp>
        <p:nvSpPr>
          <p:cNvPr id="4" name="TextBox 4"/>
          <p:cNvSpPr txBox="1"/>
          <p:nvPr/>
        </p:nvSpPr>
        <p:spPr>
          <a:xfrm>
            <a:off x="789432" y="630555"/>
            <a:ext cx="2925134"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The study in figures</a:t>
            </a:r>
          </a:p>
        </p:txBody>
      </p:sp>
      <p:sp>
        <p:nvSpPr>
          <p:cNvPr id="5" name="Line 5"/>
          <p:cNvSpPr/>
          <p:nvPr/>
        </p:nvSpPr>
        <p:spPr>
          <a:xfrm>
            <a:off x="609600" y="1028700"/>
            <a:ext cx="10972800" cy="9525"/>
          </a:xfrm>
          <a:custGeom>
            <a:avLst/>
            <a:gdLst/>
            <a:ahLst/>
            <a:cxnLst/>
            <a:rect l="l" t="t" r="r" b="b"/>
            <a:pathLst>
              <a:path w="10972800" h="9525">
                <a:moveTo>
                  <a:pt x="0" y="0"/>
                </a:moveTo>
                <a:lnTo>
                  <a:pt x="10972800" y="0"/>
                </a:lnTo>
              </a:path>
            </a:pathLst>
          </a:custGeom>
          <a:noFill/>
          <a:ln w="14288">
            <a:solidFill>
              <a:schemeClr val="accent4"/>
            </a:solidFill>
          </a:ln>
        </p:spPr>
        <p:txBody>
          <a:bodyPr/>
          <a:p/>
        </p:txBody>
      </p:sp>
      <p:sp>
        <p:nvSpPr>
          <p:cNvPr id="6" name="TextBox 6"/>
          <p:cNvSpPr txBox="1"/>
          <p:nvPr/>
        </p:nvSpPr>
        <p:spPr>
          <a:xfrm>
            <a:off x="11103540" y="477202"/>
            <a:ext cx="484194" cy="205359"/>
          </a:xfrm>
          <a:prstGeom prst="rect">
            <a:avLst/>
          </a:prstGeom>
          <a:noFill/>
          <a:ln>
            <a:noFill/>
          </a:ln>
        </p:spPr>
        <p:txBody>
          <a:bodyPr wrap="none" lIns="0" tIns="0" rIns="0" bIns="0" anchor="t" anchorCtr="0">
            <a:spAutoFit/>
          </a:bodyPr>
          <a:lstStyle/>
          <a:p>
            <a:pPr algn="r"/>
            <a:r>
              <a:rPr lang="en-US" sz="1050" dirty="0">
                <a:solidFill>
                  <a:srgbClr val="6D7C96"/>
                </a:solidFill>
                <a:latin typeface="+mn-lt"/>
                <a:ea typeface="+mn-ea"/>
                <a:cs typeface="+mn-cs"/>
              </a:rPr>
              <a:t>09 / 10</a:t>
            </a:r>
          </a:p>
        </p:txBody>
      </p:sp>
      <p:grpSp>
        <p:nvGrpSpPr>
          <p:cNvPr id="13" name="Group 13"/>
          <p:cNvGrpSpPr/>
          <p:nvPr/>
        </p:nvGrpSpPr>
        <p:grpSpPr>
          <a:xfrm>
            <a:off x="609600" y="1428750"/>
            <a:ext cx="3505200" cy="4000500"/>
            <a:chOff x="609600" y="1428750"/>
            <a:chExt cx="3505200" cy="4000500"/>
          </a:xfrm>
        </p:grpSpPr>
        <p:sp>
          <p:nvSpPr>
            <p:cNvPr id="7" name="Rectangle 7"/>
            <p:cNvSpPr/>
            <p:nvPr/>
          </p:nvSpPr>
          <p:spPr>
            <a:xfrm>
              <a:off x="609600" y="1428750"/>
              <a:ext cx="3505200" cy="4000500"/>
            </a:xfrm>
            <a:prstGeom prst="roundRect">
              <a:avLst>
                <a:gd name="adj" fmla="val 3804"/>
              </a:avLst>
            </a:prstGeom>
            <a:solidFill>
              <a:schemeClr val="accent5"/>
            </a:solidFill>
            <a:ln w="14288">
              <a:solidFill>
                <a:schemeClr val="accent4"/>
              </a:solidFill>
            </a:ln>
          </p:spPr>
        </p:sp>
        <p:sp>
          <p:nvSpPr>
            <p:cNvPr id="8" name="Rectangle 8"/>
            <p:cNvSpPr/>
            <p:nvPr/>
          </p:nvSpPr>
          <p:spPr>
            <a:xfrm>
              <a:off x="609600" y="1428750"/>
              <a:ext cx="3505200" cy="57150"/>
            </a:xfrm>
            <a:prstGeom prst="roundRect">
              <a:avLst>
                <a:gd name="adj" fmla="val 50000"/>
              </a:avLst>
            </a:prstGeom>
            <a:solidFill>
              <a:schemeClr val="accent2"/>
            </a:solidFill>
            <a:ln>
              <a:noFill/>
            </a:ln>
          </p:spPr>
        </p:sp>
        <p:sp>
          <p:nvSpPr>
            <p:cNvPr id="9" name="TextBox 9"/>
            <p:cNvSpPr txBox="1"/>
            <p:nvPr/>
          </p:nvSpPr>
          <p:spPr>
            <a:xfrm>
              <a:off x="1540459" y="2609850"/>
              <a:ext cx="1643482" cy="586740"/>
            </a:xfrm>
            <a:prstGeom prst="rect">
              <a:avLst/>
            </a:prstGeom>
            <a:noFill/>
            <a:ln>
              <a:noFill/>
            </a:ln>
          </p:spPr>
          <p:txBody>
            <a:bodyPr wrap="none" lIns="0" tIns="0" rIns="0" bIns="0" anchor="t" anchorCtr="0">
              <a:spAutoFit/>
            </a:bodyPr>
            <a:lstStyle/>
            <a:p>
              <a:pPr algn="ctr"/>
              <a:r>
                <a:rPr lang="en-US" sz="3000" b="1" dirty="0">
                  <a:solidFill>
                    <a:schemeClr val="accent2"/>
                  </a:solidFill>
                  <a:latin typeface="+mn-lt"/>
                  <a:ea typeface="+mn-ea"/>
                  <a:cs typeface="+mn-cs"/>
                </a:rPr>
                <a:t>≈0.14 N</a:t>
              </a:r>
            </a:p>
          </p:txBody>
        </p:sp>
        <p:sp>
          <p:nvSpPr>
            <p:cNvPr id="10" name="TextBox 10"/>
            <p:cNvSpPr txBox="1"/>
            <p:nvPr/>
          </p:nvSpPr>
          <p:spPr>
            <a:xfrm>
              <a:off x="1632264" y="3378518"/>
              <a:ext cx="1459873"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Capacity ceiling</a:t>
              </a:r>
            </a:p>
          </p:txBody>
        </p:sp>
        <p:sp>
          <p:nvSpPr>
            <p:cNvPr id="11" name="TextBox 11"/>
            <p:cNvSpPr txBox="1"/>
            <p:nvPr/>
          </p:nvSpPr>
          <p:spPr>
            <a:xfrm>
              <a:off x="1289756" y="3802856"/>
              <a:ext cx="2144888"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distinct patterns a standard</a:t>
              </a:r>
            </a:p>
          </p:txBody>
        </p:sp>
        <p:sp>
          <p:nvSpPr>
            <p:cNvPr id="12" name="TextBox 12"/>
            <p:cNvSpPr txBox="1"/>
            <p:nvPr/>
          </p:nvSpPr>
          <p:spPr>
            <a:xfrm>
              <a:off x="1238415" y="4050506"/>
              <a:ext cx="2247569"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Hopfield net can reliably store</a:t>
              </a:r>
            </a:p>
          </p:txBody>
        </p:sp>
      </p:grpSp>
      <p:grpSp>
        <p:nvGrpSpPr>
          <p:cNvPr id="20" name="Group 20"/>
          <p:cNvGrpSpPr/>
          <p:nvPr/>
        </p:nvGrpSpPr>
        <p:grpSpPr>
          <a:xfrm>
            <a:off x="4343400" y="1428750"/>
            <a:ext cx="3505200" cy="4000500"/>
            <a:chOff x="4343400" y="1428750"/>
            <a:chExt cx="3505200" cy="4000500"/>
          </a:xfrm>
        </p:grpSpPr>
        <p:sp>
          <p:nvSpPr>
            <p:cNvPr id="14" name="Rectangle 14"/>
            <p:cNvSpPr/>
            <p:nvPr/>
          </p:nvSpPr>
          <p:spPr>
            <a:xfrm>
              <a:off x="4343400" y="1428750"/>
              <a:ext cx="3505200" cy="4000500"/>
            </a:xfrm>
            <a:prstGeom prst="roundRect">
              <a:avLst>
                <a:gd name="adj" fmla="val 3804"/>
              </a:avLst>
            </a:prstGeom>
            <a:solidFill>
              <a:schemeClr val="accent5"/>
            </a:solidFill>
            <a:ln w="14288">
              <a:solidFill>
                <a:schemeClr val="accent4"/>
              </a:solidFill>
            </a:ln>
          </p:spPr>
        </p:sp>
        <p:sp>
          <p:nvSpPr>
            <p:cNvPr id="15" name="Rectangle 15"/>
            <p:cNvSpPr/>
            <p:nvPr/>
          </p:nvSpPr>
          <p:spPr>
            <a:xfrm>
              <a:off x="4343400" y="1428750"/>
              <a:ext cx="3505200" cy="57150"/>
            </a:xfrm>
            <a:prstGeom prst="roundRect">
              <a:avLst>
                <a:gd name="adj" fmla="val 50000"/>
              </a:avLst>
            </a:prstGeom>
            <a:solidFill>
              <a:srgbClr val="7BE0C8"/>
            </a:solidFill>
            <a:ln>
              <a:noFill/>
            </a:ln>
          </p:spPr>
        </p:sp>
        <p:sp>
          <p:nvSpPr>
            <p:cNvPr id="16" name="TextBox 16"/>
            <p:cNvSpPr txBox="1"/>
            <p:nvPr/>
          </p:nvSpPr>
          <p:spPr>
            <a:xfrm>
              <a:off x="5190249" y="2609850"/>
              <a:ext cx="1811503" cy="586740"/>
            </a:xfrm>
            <a:prstGeom prst="rect">
              <a:avLst/>
            </a:prstGeom>
            <a:noFill/>
            <a:ln>
              <a:noFill/>
            </a:ln>
          </p:spPr>
          <p:txBody>
            <a:bodyPr wrap="none" lIns="0" tIns="0" rIns="0" bIns="0" anchor="t" anchorCtr="0">
              <a:spAutoFit/>
            </a:bodyPr>
            <a:lstStyle/>
            <a:p>
              <a:pPr algn="ctr"/>
              <a:r>
                <a:rPr lang="en-US" sz="3000" b="1" dirty="0">
                  <a:solidFill>
                    <a:srgbClr val="7BE0C8"/>
                  </a:solidFill>
                  <a:latin typeface="+mn-lt"/>
                  <a:ea typeface="+mn-ea"/>
                  <a:cs typeface="+mn-cs"/>
                </a:rPr>
                <a:t>→ biology</a:t>
              </a:r>
            </a:p>
          </p:txBody>
        </p:sp>
        <p:sp>
          <p:nvSpPr>
            <p:cNvPr id="17" name="TextBox 17"/>
            <p:cNvSpPr txBox="1"/>
            <p:nvPr/>
          </p:nvSpPr>
          <p:spPr>
            <a:xfrm>
              <a:off x="5002990" y="3378518"/>
              <a:ext cx="2186019"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Why it drives the paper</a:t>
              </a:r>
            </a:p>
          </p:txBody>
        </p:sp>
        <p:sp>
          <p:nvSpPr>
            <p:cNvPr id="18" name="TextBox 18"/>
            <p:cNvSpPr txBox="1"/>
            <p:nvPr/>
          </p:nvSpPr>
          <p:spPr>
            <a:xfrm>
              <a:off x="4914245" y="3802856"/>
              <a:ext cx="2363511"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the low ceiling is the key reason</a:t>
              </a:r>
            </a:p>
          </p:txBody>
        </p:sp>
        <p:sp>
          <p:nvSpPr>
            <p:cNvPr id="19" name="TextBox 19"/>
            <p:cNvSpPr txBox="1"/>
            <p:nvPr/>
          </p:nvSpPr>
          <p:spPr>
            <a:xfrm>
              <a:off x="4910475" y="4050506"/>
              <a:ext cx="2371049"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to borrow biological mechanisms</a:t>
              </a:r>
            </a:p>
          </p:txBody>
        </p:sp>
      </p:grpSp>
      <p:grpSp>
        <p:nvGrpSpPr>
          <p:cNvPr id="27" name="Group 27"/>
          <p:cNvGrpSpPr/>
          <p:nvPr/>
        </p:nvGrpSpPr>
        <p:grpSpPr>
          <a:xfrm>
            <a:off x="8077200" y="1428750"/>
            <a:ext cx="3505200" cy="4000500"/>
            <a:chOff x="8077200" y="1428750"/>
            <a:chExt cx="3505200" cy="4000500"/>
          </a:xfrm>
        </p:grpSpPr>
        <p:sp>
          <p:nvSpPr>
            <p:cNvPr id="21" name="Rectangle 21"/>
            <p:cNvSpPr/>
            <p:nvPr/>
          </p:nvSpPr>
          <p:spPr>
            <a:xfrm>
              <a:off x="8077200" y="1428750"/>
              <a:ext cx="3505200" cy="4000500"/>
            </a:xfrm>
            <a:prstGeom prst="roundRect">
              <a:avLst>
                <a:gd name="adj" fmla="val 3804"/>
              </a:avLst>
            </a:prstGeom>
            <a:solidFill>
              <a:schemeClr val="accent5"/>
            </a:solidFill>
            <a:ln w="14288">
              <a:solidFill>
                <a:schemeClr val="accent4"/>
              </a:solidFill>
            </a:ln>
          </p:spPr>
        </p:sp>
        <p:sp>
          <p:nvSpPr>
            <p:cNvPr id="22" name="Rectangle 22"/>
            <p:cNvSpPr/>
            <p:nvPr/>
          </p:nvSpPr>
          <p:spPr>
            <a:xfrm>
              <a:off x="8077200" y="1428750"/>
              <a:ext cx="3505200" cy="57150"/>
            </a:xfrm>
            <a:prstGeom prst="roundRect">
              <a:avLst>
                <a:gd name="adj" fmla="val 50000"/>
              </a:avLst>
            </a:prstGeom>
            <a:solidFill>
              <a:srgbClr val="F2A65A"/>
            </a:solidFill>
            <a:ln>
              <a:noFill/>
            </a:ln>
          </p:spPr>
        </p:sp>
        <p:sp>
          <p:nvSpPr>
            <p:cNvPr id="23" name="TextBox 23"/>
            <p:cNvSpPr txBox="1"/>
            <p:nvPr/>
          </p:nvSpPr>
          <p:spPr>
            <a:xfrm>
              <a:off x="9040663" y="2609850"/>
              <a:ext cx="1578273" cy="586740"/>
            </a:xfrm>
            <a:prstGeom prst="rect">
              <a:avLst/>
            </a:prstGeom>
            <a:noFill/>
            <a:ln>
              <a:noFill/>
            </a:ln>
          </p:spPr>
          <p:txBody>
            <a:bodyPr wrap="none" lIns="0" tIns="0" rIns="0" bIns="0" anchor="t" anchorCtr="0">
              <a:spAutoFit/>
            </a:bodyPr>
            <a:lstStyle/>
            <a:p>
              <a:pPr algn="ctr"/>
              <a:r>
                <a:rPr lang="en-US" sz="3000" b="1" dirty="0">
                  <a:solidFill>
                    <a:srgbClr val="F2A65A"/>
                  </a:solidFill>
                  <a:latin typeface="+mn-lt"/>
                  <a:ea typeface="+mn-ea"/>
                  <a:cs typeface="+mn-cs"/>
                </a:rPr>
                <a:t>3 fields</a:t>
              </a:r>
            </a:p>
          </p:txBody>
        </p:sp>
        <p:sp>
          <p:nvSpPr>
            <p:cNvPr id="24" name="TextBox 24"/>
            <p:cNvSpPr txBox="1"/>
            <p:nvPr/>
          </p:nvSpPr>
          <p:spPr>
            <a:xfrm>
              <a:off x="8302590" y="3378518"/>
              <a:ext cx="3054421"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One synthesis, zero benchmarks</a:t>
              </a:r>
            </a:p>
          </p:txBody>
        </p:sp>
        <p:sp>
          <p:nvSpPr>
            <p:cNvPr id="25" name="TextBox 25"/>
            <p:cNvSpPr txBox="1"/>
            <p:nvPr/>
          </p:nvSpPr>
          <p:spPr>
            <a:xfrm>
              <a:off x="8632967" y="3802856"/>
              <a:ext cx="2393666"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neuroscience · molecular biology</a:t>
              </a:r>
            </a:p>
          </p:txBody>
        </p:sp>
        <p:sp>
          <p:nvSpPr>
            <p:cNvPr id="26" name="TextBox 26"/>
            <p:cNvSpPr txBox="1"/>
            <p:nvPr/>
          </p:nvSpPr>
          <p:spPr>
            <a:xfrm>
              <a:off x="8580054" y="4050506"/>
              <a:ext cx="2499492" cy="220028"/>
            </a:xfrm>
            <a:prstGeom prst="rect">
              <a:avLst/>
            </a:prstGeom>
            <a:noFill/>
            <a:ln>
              <a:noFill/>
            </a:ln>
          </p:spPr>
          <p:txBody>
            <a:bodyPr wrap="none" lIns="0" tIns="0" rIns="0" bIns="0" anchor="t" anchorCtr="0">
              <a:spAutoFit/>
            </a:bodyPr>
            <a:lstStyle/>
            <a:p>
              <a:pPr algn="ctr" marL="120904" indent="-120904">
                <a:buClr>
                  <a:schemeClr val="dk2"/>
                </a:buClr>
                <a:buSzTx/>
                <a:buFontTx/>
                <a:buChar char="•"/>
              </a:pPr>
              <a:r>
                <a:rPr lang="en-US" sz="1120" dirty="0">
                  <a:solidFill>
                    <a:schemeClr val="dk2"/>
                  </a:solidFill>
                  <a:latin typeface="+mn-lt"/>
                  <a:ea typeface="+mn-ea"/>
                  <a:cs typeface="+mn-cs"/>
                </a:rPr>
                <a:t>machine learning — not measured</a:t>
              </a:r>
            </a:p>
          </p:txBody>
        </p:sp>
      </p:grpSp>
      <p:sp>
        <p:nvSpPr>
          <p:cNvPr id="28" name="cue_s09_c1_one_quantitative_anchor_classic_capa" title="cue_s09_c1_one_quantitative_anchor_classic_capa" descr="cue_s09_c1_one_quantitative_anchor_classic_capa The one quantitative anchor in this paper is the classic capacity limit of a standard Hopfield network: it can reliably store only about zero point one four times the number of nodes in the network in distinct memory patterns."/>
          <p:cNvSpPr/>
          <p:nvPr/>
        </p:nvSpPr>
        <p:spPr>
          <a:xfrm>
            <a:off x="609600" y="1428521"/>
            <a:ext cx="3505199" cy="4000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ue_s09_c2_ceiling_key_reason_looks_biological" title="cue_s09_c2_ceiling_key_reason_looks_biological" descr="cue_s09_c2_ceiling_key_reason_looks_biological This ceiling is a key reason the paper looks to biological mechanisms to extend the network's capabilities."/>
          <p:cNvSpPr/>
          <p:nvPr/>
        </p:nvSpPr>
        <p:spPr>
          <a:xfrm>
            <a:off x="4344009" y="1428521"/>
            <a:ext cx="3505199" cy="4000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ue_s09_c3_beyond_figure_work_reports_experimen" title="cue_s09_c3_beyond_figure_work_reports_experimen" descr="cue_s09_c3_beyond_figure_work_reports_experimen Beyond that figure, the work reports no experimental numbers, because it is a conceptual proposal that synthesizes ideas across neuroscience, molecular biology, and machine learning rather than measuring a system."/>
          <p:cNvSpPr/>
          <p:nvPr/>
        </p:nvSpPr>
        <p:spPr>
          <a:xfrm>
            <a:off x="8077200" y="1428521"/>
            <a:ext cx="3505199" cy="4000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381000" y="381000"/>
            <a:ext cx="11430000" cy="6096000"/>
          </a:xfrm>
          <a:prstGeom prst="roundRect">
            <a:avLst>
              <a:gd name="adj" fmla="val 2812"/>
            </a:avLst>
          </a:prstGeom>
          <a:noFill/>
          <a:ln w="14288">
            <a:solidFill>
              <a:schemeClr val="accent4"/>
            </a:solidFill>
          </a:ln>
        </p:spPr>
        <p:txBody>
          <a:bodyPr/>
          <a:p/>
        </p:txBody>
      </p:sp>
      <p:sp>
        <p:nvSpPr>
          <p:cNvPr id="3" name="TextBox 3"/>
          <p:cNvSpPr txBox="1"/>
          <p:nvPr/>
        </p:nvSpPr>
        <p:spPr>
          <a:xfrm>
            <a:off x="755904" y="1013460"/>
            <a:ext cx="1060643" cy="234696"/>
          </a:xfrm>
          <a:prstGeom prst="rect">
            <a:avLst/>
          </a:prstGeom>
          <a:noFill/>
          <a:ln>
            <a:noFill/>
          </a:ln>
        </p:spPr>
        <p:txBody>
          <a:bodyPr wrap="none" lIns="0" tIns="0" rIns="0" bIns="0" anchor="t" anchorCtr="0">
            <a:spAutoFit/>
          </a:bodyPr>
          <a:lstStyle/>
          <a:p>
            <a:pPr algn="l"/>
            <a:r>
              <a:rPr lang="en-US" sz="1200" b="1" spc="225" dirty="0">
                <a:solidFill>
                  <a:srgbClr val="7BE0C8"/>
                </a:solidFill>
                <a:latin typeface="+mn-lt"/>
                <a:ea typeface="+mn-ea"/>
                <a:cs typeface="+mn-cs"/>
              </a:rPr>
              <a:t>TAKEAWAY</a:t>
            </a:r>
          </a:p>
        </p:txBody>
      </p:sp>
      <p:sp>
        <p:nvSpPr>
          <p:cNvPr id="4" name="TextBox 4"/>
          <p:cNvSpPr txBox="1"/>
          <p:nvPr/>
        </p:nvSpPr>
        <p:spPr>
          <a:xfrm>
            <a:off x="748284" y="1384935"/>
            <a:ext cx="8512000"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Constraints and flexibility, working together</a:t>
            </a:r>
          </a:p>
        </p:txBody>
      </p:sp>
      <p:sp>
        <p:nvSpPr>
          <p:cNvPr id="5" name="Line 5"/>
          <p:cNvSpPr/>
          <p:nvPr/>
        </p:nvSpPr>
        <p:spPr>
          <a:xfrm>
            <a:off x="762000" y="1905000"/>
            <a:ext cx="10668000" cy="9525"/>
          </a:xfrm>
          <a:custGeom>
            <a:avLst/>
            <a:gdLst/>
            <a:ahLst/>
            <a:cxnLst/>
            <a:rect l="l" t="t" r="r" b="b"/>
            <a:pathLst>
              <a:path w="10668000" h="9525">
                <a:moveTo>
                  <a:pt x="0" y="0"/>
                </a:moveTo>
                <a:lnTo>
                  <a:pt x="10668000" y="0"/>
                </a:lnTo>
              </a:path>
            </a:pathLst>
          </a:custGeom>
          <a:noFill/>
          <a:ln w="14288">
            <a:solidFill>
              <a:schemeClr val="accent4"/>
            </a:solidFill>
          </a:ln>
        </p:spPr>
        <p:txBody>
          <a:bodyPr/>
          <a:p/>
        </p:txBody>
      </p:sp>
      <p:grpSp>
        <p:nvGrpSpPr>
          <p:cNvPr id="13" name="Group 13"/>
          <p:cNvGrpSpPr/>
          <p:nvPr/>
        </p:nvGrpSpPr>
        <p:grpSpPr>
          <a:xfrm>
            <a:off x="762000" y="2247900"/>
            <a:ext cx="3433153" cy="3048000"/>
            <a:chOff x="762000" y="2247900"/>
            <a:chExt cx="3433153" cy="3048000"/>
          </a:xfrm>
        </p:grpSpPr>
        <p:sp>
          <p:nvSpPr>
            <p:cNvPr id="6" name="Rectangle 6"/>
            <p:cNvSpPr/>
            <p:nvPr/>
          </p:nvSpPr>
          <p:spPr>
            <a:xfrm>
              <a:off x="762000" y="2247900"/>
              <a:ext cx="3403600" cy="3048000"/>
            </a:xfrm>
            <a:prstGeom prst="roundRect">
              <a:avLst>
                <a:gd name="adj" fmla="val 3750"/>
              </a:avLst>
            </a:prstGeom>
            <a:solidFill>
              <a:schemeClr val="accent5"/>
            </a:solidFill>
            <a:ln w="14288">
              <a:solidFill>
                <a:schemeClr val="accent4"/>
              </a:solidFill>
            </a:ln>
          </p:spPr>
        </p:sp>
        <p:sp>
          <p:nvSpPr>
            <p:cNvPr id="7" name="Rectangle 7"/>
            <p:cNvSpPr/>
            <p:nvPr/>
          </p:nvSpPr>
          <p:spPr>
            <a:xfrm>
              <a:off x="762000" y="2400300"/>
              <a:ext cx="47625" cy="247650"/>
            </a:xfrm>
            <a:prstGeom prst="roundRect">
              <a:avLst>
                <a:gd name="adj" fmla="val 50000"/>
              </a:avLst>
            </a:prstGeom>
            <a:solidFill>
              <a:schemeClr val="accent2"/>
            </a:solidFill>
            <a:ln>
              <a:noFill/>
            </a:ln>
          </p:spPr>
        </p:sp>
        <p:sp>
          <p:nvSpPr>
            <p:cNvPr id="8" name="TextBox 8"/>
            <p:cNvSpPr txBox="1"/>
            <p:nvPr/>
          </p:nvSpPr>
          <p:spPr>
            <a:xfrm>
              <a:off x="965073" y="2453164"/>
              <a:ext cx="1529058"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Translate biology</a:t>
              </a:r>
            </a:p>
          </p:txBody>
        </p:sp>
        <p:sp>
          <p:nvSpPr>
            <p:cNvPr id="9" name="TextBox 9"/>
            <p:cNvSpPr txBox="1"/>
            <p:nvPr/>
          </p:nvSpPr>
          <p:spPr>
            <a:xfrm>
              <a:off x="964692" y="2730818"/>
              <a:ext cx="3018438"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Metaplasticity, homeostasis, and</a:t>
              </a:r>
            </a:p>
          </p:txBody>
        </p:sp>
        <p:sp>
          <p:nvSpPr>
            <p:cNvPr id="10" name="TextBox 10"/>
            <p:cNvSpPr txBox="1"/>
            <p:nvPr/>
          </p:nvSpPr>
          <p:spPr>
            <a:xfrm>
              <a:off x="964692" y="2978468"/>
              <a:ext cx="258529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inhibition become an adaptive</a:t>
              </a:r>
            </a:p>
          </p:txBody>
        </p:sp>
        <p:sp>
          <p:nvSpPr>
            <p:cNvPr id="11" name="TextBox 11"/>
            <p:cNvSpPr txBox="1"/>
            <p:nvPr/>
          </p:nvSpPr>
          <p:spPr>
            <a:xfrm>
              <a:off x="964692" y="3226118"/>
              <a:ext cx="323046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learning rate, enhanced modularity,</a:t>
              </a:r>
            </a:p>
          </p:txBody>
        </p:sp>
        <p:sp>
          <p:nvSpPr>
            <p:cNvPr id="12" name="TextBox 12"/>
            <p:cNvSpPr txBox="1"/>
            <p:nvPr/>
          </p:nvSpPr>
          <p:spPr>
            <a:xfrm>
              <a:off x="964692" y="3473768"/>
              <a:ext cx="273977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and a modified activation rule.</a:t>
              </a:r>
            </a:p>
          </p:txBody>
        </p:sp>
      </p:grpSp>
      <p:grpSp>
        <p:nvGrpSpPr>
          <p:cNvPr id="21" name="Group 21"/>
          <p:cNvGrpSpPr/>
          <p:nvPr/>
        </p:nvGrpSpPr>
        <p:grpSpPr>
          <a:xfrm>
            <a:off x="4394200" y="2247900"/>
            <a:ext cx="3403600" cy="3048000"/>
            <a:chOff x="4394200" y="2247900"/>
            <a:chExt cx="3403600" cy="3048000"/>
          </a:xfrm>
        </p:grpSpPr>
        <p:sp>
          <p:nvSpPr>
            <p:cNvPr id="14" name="Rectangle 14"/>
            <p:cNvSpPr/>
            <p:nvPr/>
          </p:nvSpPr>
          <p:spPr>
            <a:xfrm>
              <a:off x="4394200" y="2247900"/>
              <a:ext cx="3403600" cy="3048000"/>
            </a:xfrm>
            <a:prstGeom prst="roundRect">
              <a:avLst>
                <a:gd name="adj" fmla="val 3750"/>
              </a:avLst>
            </a:prstGeom>
            <a:solidFill>
              <a:schemeClr val="accent5"/>
            </a:solidFill>
            <a:ln w="14288">
              <a:solidFill>
                <a:schemeClr val="accent4"/>
              </a:solidFill>
            </a:ln>
          </p:spPr>
        </p:sp>
        <p:sp>
          <p:nvSpPr>
            <p:cNvPr id="15" name="Rectangle 15"/>
            <p:cNvSpPr/>
            <p:nvPr/>
          </p:nvSpPr>
          <p:spPr>
            <a:xfrm>
              <a:off x="4394200" y="2400300"/>
              <a:ext cx="47625" cy="247650"/>
            </a:xfrm>
            <a:prstGeom prst="roundRect">
              <a:avLst>
                <a:gd name="adj" fmla="val 50000"/>
              </a:avLst>
            </a:prstGeom>
            <a:solidFill>
              <a:srgbClr val="7BE0C8"/>
            </a:solidFill>
            <a:ln>
              <a:noFill/>
            </a:ln>
          </p:spPr>
        </p:sp>
        <p:sp>
          <p:nvSpPr>
            <p:cNvPr id="16" name="TextBox 16"/>
            <p:cNvSpPr txBox="1"/>
            <p:nvPr/>
          </p:nvSpPr>
          <p:spPr>
            <a:xfrm>
              <a:off x="4597273" y="2453164"/>
              <a:ext cx="968807"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The payoff</a:t>
              </a:r>
            </a:p>
          </p:txBody>
        </p:sp>
        <p:sp>
          <p:nvSpPr>
            <p:cNvPr id="17" name="TextBox 17"/>
            <p:cNvSpPr txBox="1"/>
            <p:nvPr/>
          </p:nvSpPr>
          <p:spPr>
            <a:xfrm>
              <a:off x="4596892" y="2730818"/>
              <a:ext cx="304575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Associative-memory systems that</a:t>
              </a:r>
            </a:p>
          </p:txBody>
        </p:sp>
        <p:sp>
          <p:nvSpPr>
            <p:cNvPr id="18" name="TextBox 18"/>
            <p:cNvSpPr txBox="1"/>
            <p:nvPr/>
          </p:nvSpPr>
          <p:spPr>
            <a:xfrm>
              <a:off x="4596892" y="2978468"/>
              <a:ext cx="283064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learn complex adaptive behavior</a:t>
              </a:r>
            </a:p>
          </p:txBody>
        </p:sp>
        <p:sp>
          <p:nvSpPr>
            <p:cNvPr id="19" name="TextBox 19"/>
            <p:cNvSpPr txBox="1"/>
            <p:nvPr/>
          </p:nvSpPr>
          <p:spPr>
            <a:xfrm>
              <a:off x="4596892" y="3226118"/>
              <a:ext cx="296694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from sparse data — closer to how</a:t>
              </a:r>
            </a:p>
          </p:txBody>
        </p:sp>
        <p:sp>
          <p:nvSpPr>
            <p:cNvPr id="20" name="TextBox 20"/>
            <p:cNvSpPr txBox="1"/>
            <p:nvPr/>
          </p:nvSpPr>
          <p:spPr>
            <a:xfrm>
              <a:off x="4596892" y="3473768"/>
              <a:ext cx="293968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living systems adjust and thrive.</a:t>
              </a:r>
            </a:p>
          </p:txBody>
        </p:sp>
      </p:grpSp>
      <p:grpSp>
        <p:nvGrpSpPr>
          <p:cNvPr id="29" name="Group 29"/>
          <p:cNvGrpSpPr/>
          <p:nvPr/>
        </p:nvGrpSpPr>
        <p:grpSpPr>
          <a:xfrm>
            <a:off x="8026400" y="2247900"/>
            <a:ext cx="3403600" cy="3048000"/>
            <a:chOff x="8026400" y="2247900"/>
            <a:chExt cx="3403600" cy="3048000"/>
          </a:xfrm>
        </p:grpSpPr>
        <p:sp>
          <p:nvSpPr>
            <p:cNvPr id="22" name="Rectangle 22"/>
            <p:cNvSpPr/>
            <p:nvPr/>
          </p:nvSpPr>
          <p:spPr>
            <a:xfrm>
              <a:off x="8026400" y="2247900"/>
              <a:ext cx="3403600" cy="3048000"/>
            </a:xfrm>
            <a:prstGeom prst="roundRect">
              <a:avLst>
                <a:gd name="adj" fmla="val 3750"/>
              </a:avLst>
            </a:prstGeom>
            <a:solidFill>
              <a:schemeClr val="accent5"/>
            </a:solidFill>
            <a:ln w="14288">
              <a:solidFill>
                <a:schemeClr val="accent4"/>
              </a:solidFill>
            </a:ln>
          </p:spPr>
        </p:sp>
        <p:sp>
          <p:nvSpPr>
            <p:cNvPr id="23" name="Rectangle 23"/>
            <p:cNvSpPr/>
            <p:nvPr/>
          </p:nvSpPr>
          <p:spPr>
            <a:xfrm>
              <a:off x="8026400" y="2400300"/>
              <a:ext cx="47625" cy="247650"/>
            </a:xfrm>
            <a:prstGeom prst="roundRect">
              <a:avLst>
                <a:gd name="adj" fmla="val 50000"/>
              </a:avLst>
            </a:prstGeom>
            <a:solidFill>
              <a:srgbClr val="7BE0C8"/>
            </a:solidFill>
            <a:ln>
              <a:noFill/>
            </a:ln>
          </p:spPr>
        </p:sp>
        <p:sp>
          <p:nvSpPr>
            <p:cNvPr id="24" name="TextBox 24"/>
            <p:cNvSpPr txBox="1"/>
            <p:nvPr/>
          </p:nvSpPr>
          <p:spPr>
            <a:xfrm>
              <a:off x="8229473" y="2453164"/>
              <a:ext cx="1855501"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The broader message</a:t>
              </a:r>
            </a:p>
          </p:txBody>
        </p:sp>
        <p:sp>
          <p:nvSpPr>
            <p:cNvPr id="25" name="TextBox 25"/>
            <p:cNvSpPr txBox="1"/>
            <p:nvPr/>
          </p:nvSpPr>
          <p:spPr>
            <a:xfrm>
              <a:off x="8229092" y="2730818"/>
              <a:ext cx="284524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Constraints and flexibility work</a:t>
              </a:r>
            </a:p>
          </p:txBody>
        </p:sp>
        <p:sp>
          <p:nvSpPr>
            <p:cNvPr id="26" name="TextBox 26"/>
            <p:cNvSpPr txBox="1"/>
            <p:nvPr/>
          </p:nvSpPr>
          <p:spPr>
            <a:xfrm>
              <a:off x="8229092" y="2978468"/>
              <a:ext cx="319411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together: the right constraints let</a:t>
              </a:r>
            </a:p>
          </p:txBody>
        </p:sp>
        <p:sp>
          <p:nvSpPr>
            <p:cNvPr id="27" name="TextBox 27"/>
            <p:cNvSpPr txBox="1"/>
            <p:nvPr/>
          </p:nvSpPr>
          <p:spPr>
            <a:xfrm>
              <a:off x="8229092" y="3226118"/>
              <a:ext cx="315776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added degrees of freedom open new</a:t>
              </a:r>
            </a:p>
          </p:txBody>
        </p:sp>
        <p:sp>
          <p:nvSpPr>
            <p:cNvPr id="28" name="TextBox 28"/>
            <p:cNvSpPr txBox="1"/>
            <p:nvPr/>
          </p:nvSpPr>
          <p:spPr>
            <a:xfrm>
              <a:off x="8229092" y="3473768"/>
              <a:ext cx="265798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possibilities instead of noise.</a:t>
              </a:r>
            </a:p>
          </p:txBody>
        </p:sp>
      </p:grpSp>
      <p:sp>
        <p:nvSpPr>
          <p:cNvPr id="30" name="TextBox 30"/>
          <p:cNvSpPr txBox="1"/>
          <p:nvPr/>
        </p:nvSpPr>
        <p:spPr>
          <a:xfrm>
            <a:off x="754380" y="5743575"/>
            <a:ext cx="9755153" cy="293370"/>
          </a:xfrm>
          <a:prstGeom prst="rect">
            <a:avLst/>
          </a:prstGeom>
          <a:noFill/>
          <a:ln>
            <a:noFill/>
          </a:ln>
        </p:spPr>
        <p:txBody>
          <a:bodyPr wrap="none" lIns="0" tIns="0" rIns="0" bIns="0" anchor="t" anchorCtr="0">
            <a:spAutoFit/>
          </a:bodyPr>
          <a:lstStyle/>
          <a:p>
            <a:pPr algn="l"/>
            <a:r>
              <a:rPr lang="en-US" sz="1500" dirty="0">
                <a:solidFill>
                  <a:schemeClr val="dk2"/>
                </a:solidFill>
                <a:latin typeface="+mn-lt"/>
                <a:ea typeface="+mn-ea"/>
                <a:cs typeface="+mn-cs"/>
              </a:rPr>
              <a:t>Adjust the learning rate, enhance modularity, modify activation — learn the way living systems do.</a:t>
            </a:r>
          </a:p>
        </p:txBody>
      </p:sp>
      <p:sp>
        <p:nvSpPr>
          <p:cNvPr id="31" name="TextBox 31"/>
          <p:cNvSpPr txBox="1"/>
          <p:nvPr/>
        </p:nvSpPr>
        <p:spPr>
          <a:xfrm>
            <a:off x="756666" y="6211252"/>
            <a:ext cx="7028736" cy="205359"/>
          </a:xfrm>
          <a:prstGeom prst="rect">
            <a:avLst/>
          </a:prstGeom>
          <a:noFill/>
          <a:ln>
            <a:noFill/>
          </a:ln>
        </p:spPr>
        <p:txBody>
          <a:bodyPr wrap="none" lIns="0" tIns="0" rIns="0" bIns="0" anchor="t" anchorCtr="0">
            <a:spAutoFit/>
          </a:bodyPr>
          <a:lstStyle/>
          <a:p>
            <a:pPr algn="l"/>
            <a:r>
              <a:rPr lang="en-US" sz="1050" dirty="0">
                <a:solidFill>
                  <a:srgbClr val="6D7C96"/>
                </a:solidFill>
                <a:latin typeface="+mn-lt"/>
                <a:ea typeface="+mn-ea"/>
                <a:cs typeface="+mn-cs"/>
              </a:rPr>
              <a:t>Biologically-inspired adaptive learning in the Hopfield-network self-optimization model · NeurIPS 2023</a:t>
            </a:r>
          </a:p>
        </p:txBody>
      </p:sp>
      <p:sp>
        <p:nvSpPr>
          <p:cNvPr id="32" name="cue_s10_c1_takeaway_mechanisms_biology_adapt_me" title="cue_s10_c1_takeaway_mechanisms_biology_adapt_me" descr="cue_s10_c1_takeaway_mechanisms_biology_adapt_me The takeaway is that the mechanisms biology uses to adapt — metaplasticity, homeostasis, and inhibition — can be translated into machine learning by adjusting the learning rate according to synaptic weights or the system's energy, by enhancing modular structur"/>
          <p:cNvSpPr/>
          <p:nvPr/>
        </p:nvSpPr>
        <p:spPr>
          <a:xfrm>
            <a:off x="762000" y="2248052"/>
            <a:ext cx="3404006"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ue_s10_c2_doing_could_yield_associative_memory" title="cue_s10_c2_doing_could_yield_associative_memory" descr="cue_s10_c2_doing_could_yield_associative_memory Doing so could yield associative-memory systems capable of complex adaptive learning from sparse data, closer to how living systems continually adjust and thrive."/>
          <p:cNvSpPr/>
          <p:nvPr/>
        </p:nvSpPr>
        <p:spPr>
          <a:xfrm>
            <a:off x="4393996" y="2248052"/>
            <a:ext cx="3404006"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10_c3_broader_message_constraints_flexibil" title="cue_s10_c3_broader_message_constraints_flexibil" descr="cue_s10_c3_broader_message_constraints_flexibil The broader message is that constraints and flexibility work together: the right constraints let increased degrees of freedom open up new adaptive possibilities instead of collapsing into noise."/>
          <p:cNvSpPr/>
          <p:nvPr/>
        </p:nvSpPr>
        <p:spPr>
          <a:xfrm>
            <a:off x="8025993" y="2248052"/>
            <a:ext cx="3404006"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ppt_project">
  <a:themeElements>
    <a:clrScheme name="ppt_project">
      <a:dk1>
        <a:srgbClr val="E8EDF6"/>
      </a:dk1>
      <a:lt1>
        <a:srgbClr val="0B1220"/>
      </a:lt1>
      <a:dk2>
        <a:srgbClr val="A9B6CC"/>
      </a:dk2>
      <a:lt2>
        <a:srgbClr val="131C2E"/>
      </a:lt2>
      <a:accent1>
        <a:srgbClr val="E8EDF6"/>
      </a:accent1>
      <a:accent2>
        <a:srgbClr val="5AA0F2"/>
      </a:accent2>
      <a:accent3>
        <a:srgbClr val="5AA0F2"/>
      </a:accent3>
      <a:accent4>
        <a:srgbClr val="2A3852"/>
      </a:accent4>
      <a:accent5>
        <a:srgbClr val="172236"/>
      </a:accent5>
      <a:accent6>
        <a:srgbClr val="1E2B42"/>
      </a:accent6>
      <a:hlink>
        <a:srgbClr val="5AA0F2"/>
      </a:hlink>
      <a:folHlink>
        <a:srgbClr val="5AA0F2"/>
      </a:folHlink>
    </a:clrScheme>
    <a:fontScheme name="ppt_project">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_proj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2026-07-17T15:26:04Z</dcterms:created>
  <dcterms:modified xsi:type="dcterms:W3CDTF">2026-07-17T15:26:04Z</dcterms:modified>
  <cp:category/>
  <cp:contentStatus/>
</cp:coreProperties>
</file>
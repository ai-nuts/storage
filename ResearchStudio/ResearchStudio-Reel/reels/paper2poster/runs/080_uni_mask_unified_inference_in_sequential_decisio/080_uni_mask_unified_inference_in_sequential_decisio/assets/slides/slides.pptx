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12892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NeurIPS 2022</a:t>
            </a:r>
          </a:p>
        </p:txBody>
      </p:sp>
      <p:sp>
        <p:nvSpPr>
          <p:cNvPr id="3" name="TextBox 3"/>
          <p:cNvSpPr txBox="1"/>
          <p:nvPr/>
        </p:nvSpPr>
        <p:spPr>
          <a:xfrm>
            <a:off x="8669351" y="572452"/>
            <a:ext cx="291838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UC Berkeley · Microsoft Research · CMU</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B3D5A"/>
            </a:solidFill>
          </a:ln>
        </p:spPr>
        <p:txBody>
          <a:bodyPr/>
          <a:p/>
        </p:txBody>
      </p:sp>
      <p:sp>
        <p:nvSpPr>
          <p:cNvPr id="5" name="TextBox 5"/>
          <p:cNvSpPr txBox="1"/>
          <p:nvPr/>
        </p:nvSpPr>
        <p:spPr>
          <a:xfrm>
            <a:off x="594741" y="1170146"/>
            <a:ext cx="6423838" cy="572072"/>
          </a:xfrm>
          <a:prstGeom prst="rect">
            <a:avLst/>
          </a:prstGeom>
          <a:noFill/>
          <a:ln>
            <a:noFill/>
          </a:ln>
        </p:spPr>
        <p:txBody>
          <a:bodyPr wrap="none" lIns="0" tIns="0" rIns="0" bIns="0" anchor="t" anchorCtr="0">
            <a:spAutoFit/>
          </a:bodyPr>
          <a:lstStyle/>
          <a:p>
            <a:pPr algn="l"/>
            <a:r>
              <a:rPr lang="en-US" sz="2920" b="1" dirty="0">
                <a:solidFill>
                  <a:srgbClr val="FFFFFF"/>
                </a:solidFill>
                <a:latin typeface="+mn-lt"/>
                <a:ea typeface="+mn-ea"/>
                <a:cs typeface="+mn-cs"/>
              </a:rPr>
              <a:t>Uni[MASK]: Unified Inference in</a:t>
            </a:r>
          </a:p>
        </p:txBody>
      </p:sp>
      <p:sp>
        <p:nvSpPr>
          <p:cNvPr id="6" name="TextBox 6"/>
          <p:cNvSpPr txBox="1"/>
          <p:nvPr/>
        </p:nvSpPr>
        <p:spPr>
          <a:xfrm>
            <a:off x="594741" y="1608296"/>
            <a:ext cx="5783571" cy="572072"/>
          </a:xfrm>
          <a:prstGeom prst="rect">
            <a:avLst/>
          </a:prstGeom>
          <a:noFill/>
          <a:ln>
            <a:noFill/>
          </a:ln>
        </p:spPr>
        <p:txBody>
          <a:bodyPr wrap="none" lIns="0" tIns="0" rIns="0" bIns="0" anchor="t" anchorCtr="0">
            <a:spAutoFit/>
          </a:bodyPr>
          <a:lstStyle/>
          <a:p>
            <a:pPr algn="l"/>
            <a:r>
              <a:rPr lang="en-US" sz="2920" b="1" dirty="0">
                <a:solidFill>
                  <a:schemeClr val="accent2"/>
                </a:solidFill>
                <a:latin typeface="+mn-lt"/>
                <a:ea typeface="+mn-ea"/>
                <a:cs typeface="+mn-cs"/>
              </a:rPr>
              <a:t>Sequential Decision Problems</a:t>
            </a:r>
          </a:p>
        </p:txBody>
      </p:sp>
      <p:sp>
        <p:nvSpPr>
          <p:cNvPr id="7" name="Rectangle 7"/>
          <p:cNvSpPr/>
          <p:nvPr/>
        </p:nvSpPr>
        <p:spPr>
          <a:xfrm>
            <a:off x="609600" y="2171700"/>
            <a:ext cx="2209800" cy="285750"/>
          </a:xfrm>
          <a:prstGeom prst="roundRect">
            <a:avLst>
              <a:gd name="adj" fmla="val 50000"/>
            </a:avLst>
          </a:prstGeom>
          <a:solidFill>
            <a:srgbClr val="241A34"/>
          </a:solidFill>
          <a:ln w="14288">
            <a:solidFill>
              <a:srgbClr val="A487F0"/>
            </a:solidFill>
          </a:ln>
        </p:spPr>
        <p:txBody>
          <a:bodyPr/>
          <a:p/>
        </p:txBody>
      </p:sp>
      <p:sp>
        <p:nvSpPr>
          <p:cNvPr id="8" name="TextBox 8"/>
          <p:cNvSpPr txBox="1"/>
          <p:nvPr/>
        </p:nvSpPr>
        <p:spPr>
          <a:xfrm>
            <a:off x="572690" y="2244804"/>
            <a:ext cx="2283620" cy="212693"/>
          </a:xfrm>
          <a:prstGeom prst="rect">
            <a:avLst/>
          </a:prstGeom>
          <a:noFill/>
          <a:ln>
            <a:noFill/>
          </a:ln>
        </p:spPr>
        <p:txBody>
          <a:bodyPr wrap="none" lIns="0" tIns="0" rIns="0" bIns="0" anchor="t" anchorCtr="0">
            <a:spAutoFit/>
          </a:bodyPr>
          <a:lstStyle/>
          <a:p>
            <a:pPr algn="ctr"/>
            <a:r>
              <a:rPr lang="en-US" sz="1090" b="1" dirty="0">
                <a:solidFill>
                  <a:srgbClr val="A487F0"/>
                </a:solidFill>
                <a:latin typeface="+mn-lt"/>
                <a:ea typeface="+mn-ea"/>
                <a:cs typeface="+mn-cs"/>
              </a:rPr>
              <a:t>one masked model, many tasks</a:t>
            </a:r>
          </a:p>
        </p:txBody>
      </p:sp>
      <p:sp>
        <p:nvSpPr>
          <p:cNvPr id="9" name="TextBox 9"/>
          <p:cNvSpPr txBox="1"/>
          <p:nvPr/>
        </p:nvSpPr>
        <p:spPr>
          <a:xfrm>
            <a:off x="604456" y="2633901"/>
            <a:ext cx="6661674" cy="198025"/>
          </a:xfrm>
          <a:prstGeom prst="rect">
            <a:avLst/>
          </a:prstGeom>
          <a:noFill/>
          <a:ln>
            <a:noFill/>
          </a:ln>
        </p:spPr>
        <p:txBody>
          <a:bodyPr wrap="none" lIns="0" tIns="0" rIns="0" bIns="0" anchor="t" anchorCtr="0">
            <a:spAutoFit/>
          </a:bodyPr>
          <a:lstStyle/>
          <a:p>
            <a:pPr algn="l"/>
            <a:r>
              <a:rPr lang="en-US" sz="1010" dirty="0">
                <a:solidFill>
                  <a:srgbClr val="6B819C"/>
                </a:solidFill>
                <a:latin typeface="+mn-lt"/>
                <a:ea typeface="+mn-ea"/>
                <a:cs typeface="+mn-cs"/>
              </a:rPr>
              <a:t>Carroll · Paradise · Lin · Georgescu · Sun · Bignell · Milani · Hofmann · Hausknecht · Dragan · Devlin</a:t>
            </a:r>
          </a:p>
        </p:txBody>
      </p:sp>
      <p:grpSp>
        <p:nvGrpSpPr>
          <p:cNvPr id="18" name="Group 18"/>
          <p:cNvGrpSpPr/>
          <p:nvPr/>
        </p:nvGrpSpPr>
        <p:grpSpPr>
          <a:xfrm>
            <a:off x="609600" y="2971800"/>
            <a:ext cx="2609850" cy="2038350"/>
            <a:chOff x="609600" y="2971800"/>
            <a:chExt cx="2609850" cy="2038350"/>
          </a:xfrm>
        </p:grpSpPr>
        <p:sp>
          <p:nvSpPr>
            <p:cNvPr id="10" name="Rectangle 10"/>
            <p:cNvSpPr/>
            <p:nvPr/>
          </p:nvSpPr>
          <p:spPr>
            <a:xfrm>
              <a:off x="609600" y="2971800"/>
              <a:ext cx="2609850" cy="2038350"/>
            </a:xfrm>
            <a:prstGeom prst="roundRect">
              <a:avLst>
                <a:gd name="adj" fmla="val 6542"/>
              </a:avLst>
            </a:prstGeom>
            <a:solidFill>
              <a:schemeClr val="accent5"/>
            </a:solidFill>
            <a:ln w="14288">
              <a:solidFill>
                <a:srgbClr val="2B3D5A"/>
              </a:solidFill>
            </a:ln>
          </p:spPr>
        </p:sp>
        <p:sp>
          <p:nvSpPr>
            <p:cNvPr id="11" name="Rectangle 11"/>
            <p:cNvSpPr/>
            <p:nvPr/>
          </p:nvSpPr>
          <p:spPr>
            <a:xfrm>
              <a:off x="609600" y="2971800"/>
              <a:ext cx="2609850" cy="57150"/>
            </a:xfrm>
            <a:prstGeom prst="roundRect">
              <a:avLst>
                <a:gd name="adj" fmla="val 50000"/>
              </a:avLst>
            </a:prstGeom>
            <a:solidFill>
              <a:schemeClr val="accent2"/>
            </a:solidFill>
            <a:ln>
              <a:noFill/>
            </a:ln>
          </p:spPr>
        </p:sp>
        <p:sp>
          <p:nvSpPr>
            <p:cNvPr id="12" name="Ellipse 12"/>
            <p:cNvSpPr/>
            <p:nvPr/>
          </p:nvSpPr>
          <p:spPr>
            <a:xfrm>
              <a:off x="809625" y="3362325"/>
              <a:ext cx="133350" cy="133350"/>
            </a:xfrm>
            <a:prstGeom prst="ellipse">
              <a:avLst/>
            </a:prstGeom>
            <a:solidFill>
              <a:schemeClr val="accent2"/>
            </a:solidFill>
            <a:ln>
              <a:noFill/>
            </a:ln>
          </p:spPr>
        </p:sp>
        <p:sp>
          <p:nvSpPr>
            <p:cNvPr id="13" name="TextBox 13"/>
            <p:cNvSpPr txBox="1"/>
            <p:nvPr/>
          </p:nvSpPr>
          <p:spPr>
            <a:xfrm>
              <a:off x="1041273" y="3348514"/>
              <a:ext cx="72428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idea</a:t>
              </a:r>
            </a:p>
          </p:txBody>
        </p:sp>
        <p:sp>
          <p:nvSpPr>
            <p:cNvPr id="14" name="TextBox 14"/>
            <p:cNvSpPr txBox="1"/>
            <p:nvPr/>
          </p:nvSpPr>
          <p:spPr>
            <a:xfrm>
              <a:off x="813816" y="3734752"/>
              <a:ext cx="191632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Predicting randomly masked</a:t>
              </a:r>
            </a:p>
          </p:txBody>
        </p:sp>
        <p:sp>
          <p:nvSpPr>
            <p:cNvPr id="15" name="TextBox 15"/>
            <p:cNvSpPr txBox="1"/>
            <p:nvPr/>
          </p:nvSpPr>
          <p:spPr>
            <a:xfrm>
              <a:off x="813816" y="3953828"/>
              <a:ext cx="15584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tokens is what powers</a:t>
              </a:r>
            </a:p>
          </p:txBody>
        </p:sp>
        <p:sp>
          <p:nvSpPr>
            <p:cNvPr id="16" name="TextBox 16"/>
            <p:cNvSpPr txBox="1"/>
            <p:nvPr/>
          </p:nvSpPr>
          <p:spPr>
            <a:xfrm>
              <a:off x="813816" y="4172902"/>
              <a:ext cx="15867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pretraining in language</a:t>
              </a:r>
            </a:p>
          </p:txBody>
        </p:sp>
        <p:sp>
          <p:nvSpPr>
            <p:cNvPr id="17" name="TextBox 17"/>
            <p:cNvSpPr txBox="1"/>
            <p:nvPr/>
          </p:nvSpPr>
          <p:spPr>
            <a:xfrm>
              <a:off x="813816" y="4391978"/>
              <a:ext cx="6679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modeling.</a:t>
              </a:r>
            </a:p>
          </p:txBody>
        </p:sp>
      </p:grpSp>
      <p:grpSp>
        <p:nvGrpSpPr>
          <p:cNvPr id="26" name="Group 26"/>
          <p:cNvGrpSpPr/>
          <p:nvPr/>
        </p:nvGrpSpPr>
        <p:grpSpPr>
          <a:xfrm>
            <a:off x="3390900" y="2971800"/>
            <a:ext cx="2609850" cy="2038350"/>
            <a:chOff x="3390900" y="2971800"/>
            <a:chExt cx="2609850" cy="2038350"/>
          </a:xfrm>
        </p:grpSpPr>
        <p:sp>
          <p:nvSpPr>
            <p:cNvPr id="19" name="Rectangle 19"/>
            <p:cNvSpPr/>
            <p:nvPr/>
          </p:nvSpPr>
          <p:spPr>
            <a:xfrm>
              <a:off x="3390900" y="2971800"/>
              <a:ext cx="2609850" cy="2038350"/>
            </a:xfrm>
            <a:prstGeom prst="roundRect">
              <a:avLst>
                <a:gd name="adj" fmla="val 6542"/>
              </a:avLst>
            </a:prstGeom>
            <a:solidFill>
              <a:schemeClr val="accent5"/>
            </a:solidFill>
            <a:ln w="14288">
              <a:solidFill>
                <a:srgbClr val="2B3D5A"/>
              </a:solidFill>
            </a:ln>
          </p:spPr>
        </p:sp>
        <p:sp>
          <p:nvSpPr>
            <p:cNvPr id="20" name="Rectangle 20"/>
            <p:cNvSpPr/>
            <p:nvPr/>
          </p:nvSpPr>
          <p:spPr>
            <a:xfrm>
              <a:off x="3390900" y="2971800"/>
              <a:ext cx="2609850" cy="57150"/>
            </a:xfrm>
            <a:prstGeom prst="roundRect">
              <a:avLst>
                <a:gd name="adj" fmla="val 50000"/>
              </a:avLst>
            </a:prstGeom>
            <a:solidFill>
              <a:srgbClr val="A487F0"/>
            </a:solidFill>
            <a:ln>
              <a:noFill/>
            </a:ln>
          </p:spPr>
        </p:sp>
        <p:sp>
          <p:nvSpPr>
            <p:cNvPr id="21" name="Ellipse 21"/>
            <p:cNvSpPr/>
            <p:nvPr/>
          </p:nvSpPr>
          <p:spPr>
            <a:xfrm>
              <a:off x="3590925" y="3362325"/>
              <a:ext cx="133350" cy="133350"/>
            </a:xfrm>
            <a:prstGeom prst="ellipse">
              <a:avLst/>
            </a:prstGeom>
            <a:solidFill>
              <a:srgbClr val="A487F0"/>
            </a:solidFill>
            <a:ln>
              <a:noFill/>
            </a:ln>
          </p:spPr>
        </p:sp>
        <p:sp>
          <p:nvSpPr>
            <p:cNvPr id="22" name="TextBox 22"/>
            <p:cNvSpPr txBox="1"/>
            <p:nvPr/>
          </p:nvSpPr>
          <p:spPr>
            <a:xfrm>
              <a:off x="3822573" y="3348514"/>
              <a:ext cx="116776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transfer</a:t>
              </a:r>
            </a:p>
          </p:txBody>
        </p:sp>
        <p:sp>
          <p:nvSpPr>
            <p:cNvPr id="23" name="TextBox 23"/>
            <p:cNvSpPr txBox="1"/>
            <p:nvPr/>
          </p:nvSpPr>
          <p:spPr>
            <a:xfrm>
              <a:off x="3595116" y="3734752"/>
              <a:ext cx="21999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Uni[MASK] shows the very same</a:t>
              </a:r>
            </a:p>
          </p:txBody>
        </p:sp>
        <p:sp>
          <p:nvSpPr>
            <p:cNvPr id="24" name="TextBox 24"/>
            <p:cNvSpPr txBox="1"/>
            <p:nvPr/>
          </p:nvSpPr>
          <p:spPr>
            <a:xfrm>
              <a:off x="3595116" y="3953828"/>
              <a:ext cx="19047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recipe applies to sequential</a:t>
              </a:r>
            </a:p>
          </p:txBody>
        </p:sp>
        <p:sp>
          <p:nvSpPr>
            <p:cNvPr id="25" name="TextBox 25"/>
            <p:cNvSpPr txBox="1"/>
            <p:nvPr/>
          </p:nvSpPr>
          <p:spPr>
            <a:xfrm>
              <a:off x="3595116" y="4172902"/>
              <a:ext cx="114147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decision making.</a:t>
              </a:r>
            </a:p>
          </p:txBody>
        </p:sp>
      </p:grpSp>
      <p:grpSp>
        <p:nvGrpSpPr>
          <p:cNvPr id="35" name="Group 35"/>
          <p:cNvGrpSpPr/>
          <p:nvPr/>
        </p:nvGrpSpPr>
        <p:grpSpPr>
          <a:xfrm>
            <a:off x="6172200" y="2971800"/>
            <a:ext cx="2609850" cy="2038350"/>
            <a:chOff x="6172200" y="2971800"/>
            <a:chExt cx="2609850" cy="2038350"/>
          </a:xfrm>
        </p:grpSpPr>
        <p:sp>
          <p:nvSpPr>
            <p:cNvPr id="27" name="Rectangle 27"/>
            <p:cNvSpPr/>
            <p:nvPr/>
          </p:nvSpPr>
          <p:spPr>
            <a:xfrm>
              <a:off x="6172200" y="2971800"/>
              <a:ext cx="2609850" cy="2038350"/>
            </a:xfrm>
            <a:prstGeom prst="roundRect">
              <a:avLst>
                <a:gd name="adj" fmla="val 6542"/>
              </a:avLst>
            </a:prstGeom>
            <a:solidFill>
              <a:schemeClr val="accent5"/>
            </a:solidFill>
            <a:ln w="14288">
              <a:solidFill>
                <a:srgbClr val="2B3D5A"/>
              </a:solidFill>
            </a:ln>
          </p:spPr>
        </p:sp>
        <p:sp>
          <p:nvSpPr>
            <p:cNvPr id="28" name="Rectangle 28"/>
            <p:cNvSpPr/>
            <p:nvPr/>
          </p:nvSpPr>
          <p:spPr>
            <a:xfrm>
              <a:off x="6172200" y="2971800"/>
              <a:ext cx="2609850" cy="57150"/>
            </a:xfrm>
            <a:prstGeom prst="roundRect">
              <a:avLst>
                <a:gd name="adj" fmla="val 50000"/>
              </a:avLst>
            </a:prstGeom>
            <a:solidFill>
              <a:srgbClr val="35D0C4"/>
            </a:solidFill>
            <a:ln>
              <a:noFill/>
            </a:ln>
          </p:spPr>
        </p:sp>
        <p:sp>
          <p:nvSpPr>
            <p:cNvPr id="29" name="Ellipse 29"/>
            <p:cNvSpPr/>
            <p:nvPr/>
          </p:nvSpPr>
          <p:spPr>
            <a:xfrm>
              <a:off x="6372225" y="3362325"/>
              <a:ext cx="133350" cy="133350"/>
            </a:xfrm>
            <a:prstGeom prst="ellipse">
              <a:avLst/>
            </a:prstGeom>
            <a:solidFill>
              <a:srgbClr val="35D0C4"/>
            </a:solidFill>
            <a:ln>
              <a:noFill/>
            </a:ln>
          </p:spPr>
        </p:sp>
        <p:sp>
          <p:nvSpPr>
            <p:cNvPr id="30" name="TextBox 30"/>
            <p:cNvSpPr txBox="1"/>
            <p:nvPr/>
          </p:nvSpPr>
          <p:spPr>
            <a:xfrm>
              <a:off x="6603873" y="3348514"/>
              <a:ext cx="86933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tasks</a:t>
              </a:r>
            </a:p>
          </p:txBody>
        </p:sp>
        <p:sp>
          <p:nvSpPr>
            <p:cNvPr id="31" name="TextBox 31"/>
            <p:cNvSpPr txBox="1"/>
            <p:nvPr/>
          </p:nvSpPr>
          <p:spPr>
            <a:xfrm>
              <a:off x="6376416" y="3734752"/>
              <a:ext cx="19964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Behavior cloning, offline RL,</a:t>
              </a:r>
            </a:p>
          </p:txBody>
        </p:sp>
        <p:sp>
          <p:nvSpPr>
            <p:cNvPr id="32" name="TextBox 32"/>
            <p:cNvSpPr txBox="1"/>
            <p:nvPr/>
          </p:nvSpPr>
          <p:spPr>
            <a:xfrm>
              <a:off x="6376416" y="3953828"/>
              <a:ext cx="21874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inverse dynamics, and waypoint</a:t>
              </a:r>
            </a:p>
          </p:txBody>
        </p:sp>
        <p:sp>
          <p:nvSpPr>
            <p:cNvPr id="33" name="TextBox 33"/>
            <p:cNvSpPr txBox="1"/>
            <p:nvPr/>
          </p:nvSpPr>
          <p:spPr>
            <a:xfrm>
              <a:off x="6376416" y="4172902"/>
              <a:ext cx="18694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conditioning are all studied</a:t>
              </a:r>
            </a:p>
          </p:txBody>
        </p:sp>
        <p:sp>
          <p:nvSpPr>
            <p:cNvPr id="34" name="TextBox 34"/>
            <p:cNvSpPr txBox="1"/>
            <p:nvPr/>
          </p:nvSpPr>
          <p:spPr>
            <a:xfrm>
              <a:off x="6376416" y="4391978"/>
              <a:ext cx="3993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here.</a:t>
              </a:r>
            </a:p>
          </p:txBody>
        </p:sp>
      </p:grpSp>
      <p:grpSp>
        <p:nvGrpSpPr>
          <p:cNvPr id="43" name="Group 43"/>
          <p:cNvGrpSpPr/>
          <p:nvPr/>
        </p:nvGrpSpPr>
        <p:grpSpPr>
          <a:xfrm>
            <a:off x="8953500" y="2971800"/>
            <a:ext cx="2609850" cy="2038350"/>
            <a:chOff x="8953500" y="2971800"/>
            <a:chExt cx="2609850" cy="2038350"/>
          </a:xfrm>
        </p:grpSpPr>
        <p:sp>
          <p:nvSpPr>
            <p:cNvPr id="36" name="Rectangle 36"/>
            <p:cNvSpPr/>
            <p:nvPr/>
          </p:nvSpPr>
          <p:spPr>
            <a:xfrm>
              <a:off x="8953500" y="2971800"/>
              <a:ext cx="2609850" cy="2038350"/>
            </a:xfrm>
            <a:prstGeom prst="roundRect">
              <a:avLst>
                <a:gd name="adj" fmla="val 6542"/>
              </a:avLst>
            </a:prstGeom>
            <a:solidFill>
              <a:schemeClr val="accent5"/>
            </a:solidFill>
            <a:ln w="14288">
              <a:solidFill>
                <a:srgbClr val="2B3D5A"/>
              </a:solidFill>
            </a:ln>
          </p:spPr>
        </p:sp>
        <p:sp>
          <p:nvSpPr>
            <p:cNvPr id="37" name="Rectangle 37"/>
            <p:cNvSpPr/>
            <p:nvPr/>
          </p:nvSpPr>
          <p:spPr>
            <a:xfrm>
              <a:off x="8953500" y="2971800"/>
              <a:ext cx="2609850" cy="57150"/>
            </a:xfrm>
            <a:prstGeom prst="roundRect">
              <a:avLst>
                <a:gd name="adj" fmla="val 50000"/>
              </a:avLst>
            </a:prstGeom>
            <a:solidFill>
              <a:srgbClr val="45C88A"/>
            </a:solidFill>
            <a:ln>
              <a:noFill/>
            </a:ln>
          </p:spPr>
        </p:sp>
        <p:sp>
          <p:nvSpPr>
            <p:cNvPr id="38" name="Ellipse 38"/>
            <p:cNvSpPr/>
            <p:nvPr/>
          </p:nvSpPr>
          <p:spPr>
            <a:xfrm>
              <a:off x="9153525" y="3362325"/>
              <a:ext cx="133350" cy="133350"/>
            </a:xfrm>
            <a:prstGeom prst="ellipse">
              <a:avLst/>
            </a:prstGeom>
            <a:solidFill>
              <a:srgbClr val="45C88A"/>
            </a:solidFill>
            <a:ln>
              <a:noFill/>
            </a:ln>
          </p:spPr>
        </p:sp>
        <p:sp>
          <p:nvSpPr>
            <p:cNvPr id="39" name="TextBox 39"/>
            <p:cNvSpPr txBox="1"/>
            <p:nvPr/>
          </p:nvSpPr>
          <p:spPr>
            <a:xfrm>
              <a:off x="9385173" y="3348514"/>
              <a:ext cx="96880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payoff</a:t>
              </a:r>
            </a:p>
          </p:txBody>
        </p:sp>
        <p:sp>
          <p:nvSpPr>
            <p:cNvPr id="40" name="TextBox 40"/>
            <p:cNvSpPr txBox="1"/>
            <p:nvPr/>
          </p:nvSpPr>
          <p:spPr>
            <a:xfrm>
              <a:off x="9157716" y="3734752"/>
              <a:ext cx="21713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One framework unifies them; a</a:t>
              </a:r>
            </a:p>
          </p:txBody>
        </p:sp>
        <p:sp>
          <p:nvSpPr>
            <p:cNvPr id="41" name="TextBox 41"/>
            <p:cNvSpPr txBox="1"/>
            <p:nvPr/>
          </p:nvSpPr>
          <p:spPr>
            <a:xfrm>
              <a:off x="9157716" y="3953828"/>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single model matches or beats</a:t>
              </a:r>
            </a:p>
          </p:txBody>
        </p:sp>
        <p:sp>
          <p:nvSpPr>
            <p:cNvPr id="42" name="TextBox 42"/>
            <p:cNvSpPr txBox="1"/>
            <p:nvPr/>
          </p:nvSpPr>
          <p:spPr>
            <a:xfrm>
              <a:off x="9157716" y="4172902"/>
              <a:ext cx="11909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specialized ones.</a:t>
              </a:r>
            </a:p>
          </p:txBody>
        </p:sp>
      </p:grpSp>
      <p:sp>
        <p:nvSpPr>
          <p:cNvPr id="44" name="Line 44"/>
          <p:cNvSpPr/>
          <p:nvPr/>
        </p:nvSpPr>
        <p:spPr>
          <a:xfrm>
            <a:off x="609600" y="5391150"/>
            <a:ext cx="10972800" cy="9525"/>
          </a:xfrm>
          <a:custGeom>
            <a:avLst/>
            <a:gdLst/>
            <a:ahLst/>
            <a:cxnLst/>
            <a:rect l="l" t="t" r="r" b="b"/>
            <a:pathLst>
              <a:path w="10972800" h="9525">
                <a:moveTo>
                  <a:pt x="0" y="0"/>
                </a:moveTo>
                <a:lnTo>
                  <a:pt x="10972800" y="0"/>
                </a:lnTo>
              </a:path>
            </a:pathLst>
          </a:custGeom>
          <a:noFill/>
          <a:ln w="9525" cap="rnd">
            <a:solidFill>
              <a:srgbClr val="2B3D5A"/>
            </a:solidFill>
          </a:ln>
        </p:spPr>
        <p:txBody>
          <a:bodyPr/>
          <a:p/>
        </p:txBody>
      </p:sp>
      <p:sp>
        <p:nvSpPr>
          <p:cNvPr id="45" name="TextBox 45"/>
          <p:cNvSpPr txBox="1"/>
          <p:nvPr/>
        </p:nvSpPr>
        <p:spPr>
          <a:xfrm>
            <a:off x="604266" y="56207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arXiv:2211.10869</a:t>
            </a:r>
          </a:p>
        </p:txBody>
      </p:sp>
      <p:sp>
        <p:nvSpPr>
          <p:cNvPr id="46" name="TextBox 46"/>
          <p:cNvSpPr txBox="1"/>
          <p:nvPr/>
        </p:nvSpPr>
        <p:spPr>
          <a:xfrm>
            <a:off x="2852166" y="5620702"/>
            <a:ext cx="2464415"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github.com/micahcarroll/uniMASK</a:t>
            </a:r>
          </a:p>
        </p:txBody>
      </p:sp>
      <p:sp>
        <p:nvSpPr>
          <p:cNvPr id="47" name="TextBox 47"/>
          <p:cNvSpPr txBox="1"/>
          <p:nvPr/>
        </p:nvSpPr>
        <p:spPr>
          <a:xfrm>
            <a:off x="8529565" y="5620702"/>
            <a:ext cx="3058169" cy="205359"/>
          </a:xfrm>
          <a:prstGeom prst="rect">
            <a:avLst/>
          </a:prstGeom>
          <a:noFill/>
          <a:ln>
            <a:noFill/>
          </a:ln>
        </p:spPr>
        <p:txBody>
          <a:bodyPr wrap="none" lIns="0" tIns="0" rIns="0" bIns="0" anchor="t" anchorCtr="0">
            <a:spAutoFit/>
          </a:bodyPr>
          <a:lstStyle/>
          <a:p>
            <a:pPr algn="r"/>
            <a:r>
              <a:rPr lang="en-US" sz="1050" b="1" dirty="0">
                <a:solidFill>
                  <a:srgbClr val="35D0C4"/>
                </a:solidFill>
                <a:latin typeface="+mn-lt"/>
                <a:ea typeface="+mn-ea"/>
                <a:cs typeface="+mn-cs"/>
              </a:rPr>
              <a:t>Tasks are just maskings of one trajectory</a:t>
            </a:r>
          </a:p>
        </p:txBody>
      </p:sp>
      <p:sp>
        <p:nvSpPr>
          <p:cNvPr id="48" name="cue_s01_c1_randomly_masking_predicting_tokens_p" title="cue_s01_c1_randomly_masking_predicting_tokens_p" descr="cue_s01_c1_randomly_masking_predicting_tokens_p Randomly masking and predicting tokens has powered pretraining in language modeling."/>
          <p:cNvSpPr/>
          <p:nvPr/>
        </p:nvSpPr>
        <p:spPr>
          <a:xfrm>
            <a:off x="609600" y="2971571"/>
            <a:ext cx="26103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1_c2_uni_mask_shows_same_idea_applies" title="cue_s01_c2_uni_mask_shows_same_idea_applies" descr="cue_s01_c2_uni_mask_shows_same_idea_applies This paper, Uni-MASK, shows the same idea applies naturally to sequential decision making."/>
          <p:cNvSpPr/>
          <p:nvPr/>
        </p:nvSpPr>
        <p:spPr>
          <a:xfrm>
            <a:off x="3390595" y="2971571"/>
            <a:ext cx="26103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1_c3_many_well_studied_tasks_behavior_clo" title="cue_s01_c3_many_well_studied_tasks_behavior_clo" descr="cue_s01_c3_many_well_studied_tasks_behavior_clo Many well-studied tasks, behavior cloning, offline reinforcement learning, inverse dynamics, and waypoint conditioning, all correspond to different maskings over a sequence of states, actions, and returns."/>
          <p:cNvSpPr/>
          <p:nvPr/>
        </p:nvSpPr>
        <p:spPr>
          <a:xfrm>
            <a:off x="6171590" y="2971571"/>
            <a:ext cx="26103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1_c4_uni_mask_unifies_them_one_framework" title="cue_s01_c4_uni_mask_unifies_them_one_framework" descr="cue_s01_c4_uni_mask_unifies_them_one_framework Uni-MASK unifies them into one framework, and a single model trained this way often matches or beats specialized single-task models, and consistently outperforms them after fine-tuning."/>
          <p:cNvSpPr/>
          <p:nvPr/>
        </p:nvSpPr>
        <p:spPr>
          <a:xfrm>
            <a:off x="8953804" y="2971571"/>
            <a:ext cx="26103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53568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trajectory, many siloed models</a:t>
            </a:r>
          </a:p>
        </p:txBody>
      </p:sp>
      <p:grpSp>
        <p:nvGrpSpPr>
          <p:cNvPr id="24" name="Group 24"/>
          <p:cNvGrpSpPr/>
          <p:nvPr/>
        </p:nvGrpSpPr>
        <p:grpSpPr>
          <a:xfrm>
            <a:off x="609600" y="1428750"/>
            <a:ext cx="10972800" cy="1485662"/>
            <a:chOff x="609600" y="1428750"/>
            <a:chExt cx="10972800" cy="1485662"/>
          </a:xfrm>
        </p:grpSpPr>
        <p:sp>
          <p:nvSpPr>
            <p:cNvPr id="5" name="Rectangle 5"/>
            <p:cNvSpPr/>
            <p:nvPr/>
          </p:nvSpPr>
          <p:spPr>
            <a:xfrm>
              <a:off x="609600" y="1428750"/>
              <a:ext cx="10972800" cy="1428750"/>
            </a:xfrm>
            <a:prstGeom prst="roundRect">
              <a:avLst>
                <a:gd name="adj" fmla="val 9333"/>
              </a:avLst>
            </a:prstGeom>
            <a:solidFill>
              <a:schemeClr val="accent5"/>
            </a:solidFill>
            <a:ln w="14288">
              <a:solidFill>
                <a:srgbClr val="2B3D5A"/>
              </a:solidFill>
            </a:ln>
          </p:spPr>
        </p:sp>
        <p:sp>
          <p:nvSpPr>
            <p:cNvPr id="6" name="Rectangle 6"/>
            <p:cNvSpPr/>
            <p:nvPr/>
          </p:nvSpPr>
          <p:spPr>
            <a:xfrm>
              <a:off x="609600" y="1428750"/>
              <a:ext cx="57150" cy="1428750"/>
            </a:xfrm>
            <a:prstGeom prst="roundRect">
              <a:avLst>
                <a:gd name="adj" fmla="val 50000"/>
              </a:avLst>
            </a:prstGeom>
            <a:solidFill>
              <a:srgbClr val="F0655C"/>
            </a:solidFill>
            <a:ln>
              <a:noFill/>
            </a:ln>
          </p:spPr>
        </p:sp>
        <p:sp>
          <p:nvSpPr>
            <p:cNvPr id="7" name="TextBox 7"/>
            <p:cNvSpPr txBox="1"/>
            <p:nvPr/>
          </p:nvSpPr>
          <p:spPr>
            <a:xfrm>
              <a:off x="870014" y="1638062"/>
              <a:ext cx="4925949" cy="242030"/>
            </a:xfrm>
            <a:prstGeom prst="rect">
              <a:avLst/>
            </a:prstGeom>
            <a:noFill/>
            <a:ln>
              <a:noFill/>
            </a:ln>
          </p:spPr>
          <p:txBody>
            <a:bodyPr wrap="none" lIns="0" tIns="0" rIns="0" bIns="0" anchor="t" anchorCtr="0">
              <a:spAutoFit/>
            </a:bodyPr>
            <a:lstStyle/>
            <a:p>
              <a:pPr algn="l"/>
              <a:r>
                <a:rPr lang="en-US" sz="1240" b="1" dirty="0">
                  <a:solidFill>
                    <a:srgbClr val="F0655C"/>
                  </a:solidFill>
                  <a:latin typeface="+mn-lt"/>
                  <a:ea typeface="+mn-ea"/>
                  <a:cs typeface="+mn-cs"/>
                </a:rPr>
                <a:t>Every inference task gets its own specially trained model</a:t>
              </a:r>
            </a:p>
          </p:txBody>
        </p:sp>
        <p:sp>
          <p:nvSpPr>
            <p:cNvPr id="8" name="Rectangle 8"/>
            <p:cNvSpPr/>
            <p:nvPr/>
          </p:nvSpPr>
          <p:spPr>
            <a:xfrm>
              <a:off x="990600" y="2038350"/>
              <a:ext cx="2247900" cy="666750"/>
            </a:xfrm>
            <a:prstGeom prst="roundRect">
              <a:avLst>
                <a:gd name="adj" fmla="val 14286"/>
              </a:avLst>
            </a:prstGeom>
            <a:solidFill>
              <a:schemeClr val="accent6"/>
            </a:solidFill>
            <a:ln w="14288">
              <a:solidFill>
                <a:srgbClr val="2B3D5A"/>
              </a:solidFill>
            </a:ln>
          </p:spPr>
        </p:sp>
        <p:sp>
          <p:nvSpPr>
            <p:cNvPr id="9" name="TextBox 9"/>
            <p:cNvSpPr txBox="1"/>
            <p:nvPr/>
          </p:nvSpPr>
          <p:spPr>
            <a:xfrm>
              <a:off x="1787063" y="2187654"/>
              <a:ext cx="654974"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Behavior</a:t>
              </a:r>
            </a:p>
          </p:txBody>
        </p:sp>
        <p:sp>
          <p:nvSpPr>
            <p:cNvPr id="10" name="TextBox 10"/>
            <p:cNvSpPr txBox="1"/>
            <p:nvPr/>
          </p:nvSpPr>
          <p:spPr>
            <a:xfrm>
              <a:off x="1850954" y="2378154"/>
              <a:ext cx="527192" cy="212693"/>
            </a:xfrm>
            <a:prstGeom prst="rect">
              <a:avLst/>
            </a:prstGeom>
            <a:noFill/>
            <a:ln>
              <a:noFill/>
            </a:ln>
          </p:spPr>
          <p:txBody>
            <a:bodyPr wrap="none" lIns="0" tIns="0" rIns="0" bIns="0" anchor="t" anchorCtr="0">
              <a:spAutoFit/>
            </a:bodyPr>
            <a:lstStyle/>
            <a:p>
              <a:pPr algn="ctr"/>
              <a:r>
                <a:rPr lang="en-US" sz="1090" b="1" dirty="0">
                  <a:solidFill>
                    <a:schemeClr val="dk2"/>
                  </a:solidFill>
                  <a:latin typeface="+mn-lt"/>
                  <a:ea typeface="+mn-ea"/>
                  <a:cs typeface="+mn-cs"/>
                </a:rPr>
                <a:t>cloning</a:t>
              </a:r>
            </a:p>
          </p:txBody>
        </p:sp>
        <p:sp>
          <p:nvSpPr>
            <p:cNvPr id="11" name="TextBox 11"/>
            <p:cNvSpPr txBox="1"/>
            <p:nvPr/>
          </p:nvSpPr>
          <p:spPr>
            <a:xfrm>
              <a:off x="1660009" y="2745343"/>
              <a:ext cx="909083" cy="169069"/>
            </a:xfrm>
            <a:prstGeom prst="rect">
              <a:avLst/>
            </a:prstGeom>
            <a:noFill/>
            <a:ln>
              <a:noFill/>
            </a:ln>
          </p:spPr>
          <p:txBody>
            <a:bodyPr wrap="none" lIns="0" tIns="0" rIns="0" bIns="0" anchor="t" anchorCtr="0">
              <a:spAutoFit/>
            </a:bodyPr>
            <a:lstStyle/>
            <a:p>
              <a:pPr algn="ctr"/>
              <a:r>
                <a:rPr lang="en-US" sz="860" b="1" dirty="0">
                  <a:solidFill>
                    <a:srgbClr val="6B819C"/>
                  </a:solidFill>
                  <a:latin typeface="+mn-lt"/>
                  <a:ea typeface="+mn-ea"/>
                  <a:cs typeface="+mn-cs"/>
                </a:rPr>
                <a:t>separate model</a:t>
              </a:r>
            </a:p>
          </p:txBody>
        </p:sp>
        <p:sp>
          <p:nvSpPr>
            <p:cNvPr id="12" name="Rectangle 12"/>
            <p:cNvSpPr/>
            <p:nvPr/>
          </p:nvSpPr>
          <p:spPr>
            <a:xfrm>
              <a:off x="3581400" y="2038350"/>
              <a:ext cx="2247900" cy="666750"/>
            </a:xfrm>
            <a:prstGeom prst="roundRect">
              <a:avLst>
                <a:gd name="adj" fmla="val 14286"/>
              </a:avLst>
            </a:prstGeom>
            <a:solidFill>
              <a:schemeClr val="accent6"/>
            </a:solidFill>
            <a:ln w="14288">
              <a:solidFill>
                <a:srgbClr val="2B3D5A"/>
              </a:solidFill>
            </a:ln>
          </p:spPr>
        </p:sp>
        <p:sp>
          <p:nvSpPr>
            <p:cNvPr id="13" name="TextBox 13"/>
            <p:cNvSpPr txBox="1"/>
            <p:nvPr/>
          </p:nvSpPr>
          <p:spPr>
            <a:xfrm>
              <a:off x="4424135" y="2187654"/>
              <a:ext cx="562430"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Offline</a:t>
              </a:r>
            </a:p>
          </p:txBody>
        </p:sp>
        <p:sp>
          <p:nvSpPr>
            <p:cNvPr id="14" name="TextBox 14"/>
            <p:cNvSpPr txBox="1"/>
            <p:nvPr/>
          </p:nvSpPr>
          <p:spPr>
            <a:xfrm>
              <a:off x="4610289" y="2378154"/>
              <a:ext cx="190122" cy="212693"/>
            </a:xfrm>
            <a:prstGeom prst="rect">
              <a:avLst/>
            </a:prstGeom>
            <a:noFill/>
            <a:ln>
              <a:noFill/>
            </a:ln>
          </p:spPr>
          <p:txBody>
            <a:bodyPr wrap="none" lIns="0" tIns="0" rIns="0" bIns="0" anchor="t" anchorCtr="0">
              <a:spAutoFit/>
            </a:bodyPr>
            <a:lstStyle/>
            <a:p>
              <a:pPr algn="ctr"/>
              <a:r>
                <a:rPr lang="en-US" sz="1090" b="1" dirty="0">
                  <a:solidFill>
                    <a:schemeClr val="dk2"/>
                  </a:solidFill>
                  <a:latin typeface="+mn-lt"/>
                  <a:ea typeface="+mn-ea"/>
                  <a:cs typeface="+mn-cs"/>
                </a:rPr>
                <a:t>RL</a:t>
              </a:r>
            </a:p>
          </p:txBody>
        </p:sp>
        <p:sp>
          <p:nvSpPr>
            <p:cNvPr id="15" name="TextBox 15"/>
            <p:cNvSpPr txBox="1"/>
            <p:nvPr/>
          </p:nvSpPr>
          <p:spPr>
            <a:xfrm>
              <a:off x="4250809" y="2745343"/>
              <a:ext cx="909083" cy="169069"/>
            </a:xfrm>
            <a:prstGeom prst="rect">
              <a:avLst/>
            </a:prstGeom>
            <a:noFill/>
            <a:ln>
              <a:noFill/>
            </a:ln>
          </p:spPr>
          <p:txBody>
            <a:bodyPr wrap="none" lIns="0" tIns="0" rIns="0" bIns="0" anchor="t" anchorCtr="0">
              <a:spAutoFit/>
            </a:bodyPr>
            <a:lstStyle/>
            <a:p>
              <a:pPr algn="ctr"/>
              <a:r>
                <a:rPr lang="en-US" sz="860" b="1" dirty="0">
                  <a:solidFill>
                    <a:srgbClr val="6B819C"/>
                  </a:solidFill>
                  <a:latin typeface="+mn-lt"/>
                  <a:ea typeface="+mn-ea"/>
                  <a:cs typeface="+mn-cs"/>
                </a:rPr>
                <a:t>separate model</a:t>
              </a:r>
            </a:p>
          </p:txBody>
        </p:sp>
        <p:sp>
          <p:nvSpPr>
            <p:cNvPr id="16" name="Rectangle 16"/>
            <p:cNvSpPr/>
            <p:nvPr/>
          </p:nvSpPr>
          <p:spPr>
            <a:xfrm>
              <a:off x="6172200" y="2038350"/>
              <a:ext cx="2247900" cy="666750"/>
            </a:xfrm>
            <a:prstGeom prst="roundRect">
              <a:avLst>
                <a:gd name="adj" fmla="val 14286"/>
              </a:avLst>
            </a:prstGeom>
            <a:solidFill>
              <a:schemeClr val="accent6"/>
            </a:solidFill>
            <a:ln w="14288">
              <a:solidFill>
                <a:srgbClr val="2B3D5A"/>
              </a:solidFill>
            </a:ln>
          </p:spPr>
        </p:sp>
        <p:sp>
          <p:nvSpPr>
            <p:cNvPr id="17" name="TextBox 17"/>
            <p:cNvSpPr txBox="1"/>
            <p:nvPr/>
          </p:nvSpPr>
          <p:spPr>
            <a:xfrm>
              <a:off x="7011052" y="2187654"/>
              <a:ext cx="570195"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Inverse</a:t>
              </a:r>
            </a:p>
          </p:txBody>
        </p:sp>
        <p:sp>
          <p:nvSpPr>
            <p:cNvPr id="18" name="TextBox 18"/>
            <p:cNvSpPr txBox="1"/>
            <p:nvPr/>
          </p:nvSpPr>
          <p:spPr>
            <a:xfrm>
              <a:off x="6955518" y="2378154"/>
              <a:ext cx="681265" cy="212693"/>
            </a:xfrm>
            <a:prstGeom prst="rect">
              <a:avLst/>
            </a:prstGeom>
            <a:noFill/>
            <a:ln>
              <a:noFill/>
            </a:ln>
          </p:spPr>
          <p:txBody>
            <a:bodyPr wrap="none" lIns="0" tIns="0" rIns="0" bIns="0" anchor="t" anchorCtr="0">
              <a:spAutoFit/>
            </a:bodyPr>
            <a:lstStyle/>
            <a:p>
              <a:pPr algn="ctr"/>
              <a:r>
                <a:rPr lang="en-US" sz="1090" b="1" dirty="0">
                  <a:solidFill>
                    <a:schemeClr val="dk2"/>
                  </a:solidFill>
                  <a:latin typeface="+mn-lt"/>
                  <a:ea typeface="+mn-ea"/>
                  <a:cs typeface="+mn-cs"/>
                </a:rPr>
                <a:t>dynamics</a:t>
              </a:r>
            </a:p>
          </p:txBody>
        </p:sp>
        <p:sp>
          <p:nvSpPr>
            <p:cNvPr id="19" name="TextBox 19"/>
            <p:cNvSpPr txBox="1"/>
            <p:nvPr/>
          </p:nvSpPr>
          <p:spPr>
            <a:xfrm>
              <a:off x="6841609" y="2745343"/>
              <a:ext cx="909083" cy="169069"/>
            </a:xfrm>
            <a:prstGeom prst="rect">
              <a:avLst/>
            </a:prstGeom>
            <a:noFill/>
            <a:ln>
              <a:noFill/>
            </a:ln>
          </p:spPr>
          <p:txBody>
            <a:bodyPr wrap="none" lIns="0" tIns="0" rIns="0" bIns="0" anchor="t" anchorCtr="0">
              <a:spAutoFit/>
            </a:bodyPr>
            <a:lstStyle/>
            <a:p>
              <a:pPr algn="ctr"/>
              <a:r>
                <a:rPr lang="en-US" sz="860" b="1" dirty="0">
                  <a:solidFill>
                    <a:srgbClr val="6B819C"/>
                  </a:solidFill>
                  <a:latin typeface="+mn-lt"/>
                  <a:ea typeface="+mn-ea"/>
                  <a:cs typeface="+mn-cs"/>
                </a:rPr>
                <a:t>separate model</a:t>
              </a:r>
            </a:p>
          </p:txBody>
        </p:sp>
        <p:sp>
          <p:nvSpPr>
            <p:cNvPr id="20" name="Rectangle 20"/>
            <p:cNvSpPr/>
            <p:nvPr/>
          </p:nvSpPr>
          <p:spPr>
            <a:xfrm>
              <a:off x="8763000" y="2038350"/>
              <a:ext cx="2247900" cy="666750"/>
            </a:xfrm>
            <a:prstGeom prst="roundRect">
              <a:avLst>
                <a:gd name="adj" fmla="val 14286"/>
              </a:avLst>
            </a:prstGeom>
            <a:solidFill>
              <a:schemeClr val="accent6"/>
            </a:solidFill>
            <a:ln w="14288">
              <a:solidFill>
                <a:srgbClr val="2B3D5A"/>
              </a:solidFill>
            </a:ln>
          </p:spPr>
        </p:sp>
        <p:sp>
          <p:nvSpPr>
            <p:cNvPr id="21" name="TextBox 21"/>
            <p:cNvSpPr txBox="1"/>
            <p:nvPr/>
          </p:nvSpPr>
          <p:spPr>
            <a:xfrm>
              <a:off x="9304798" y="2187654"/>
              <a:ext cx="1164304"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Goal / waypoint</a:t>
              </a:r>
            </a:p>
          </p:txBody>
        </p:sp>
        <p:sp>
          <p:nvSpPr>
            <p:cNvPr id="22" name="TextBox 22"/>
            <p:cNvSpPr txBox="1"/>
            <p:nvPr/>
          </p:nvSpPr>
          <p:spPr>
            <a:xfrm>
              <a:off x="9430763" y="2378154"/>
              <a:ext cx="912374" cy="212693"/>
            </a:xfrm>
            <a:prstGeom prst="rect">
              <a:avLst/>
            </a:prstGeom>
            <a:noFill/>
            <a:ln>
              <a:noFill/>
            </a:ln>
          </p:spPr>
          <p:txBody>
            <a:bodyPr wrap="none" lIns="0" tIns="0" rIns="0" bIns="0" anchor="t" anchorCtr="0">
              <a:spAutoFit/>
            </a:bodyPr>
            <a:lstStyle/>
            <a:p>
              <a:pPr algn="ctr"/>
              <a:r>
                <a:rPr lang="en-US" sz="1090" b="1" dirty="0">
                  <a:solidFill>
                    <a:schemeClr val="dk2"/>
                  </a:solidFill>
                  <a:latin typeface="+mn-lt"/>
                  <a:ea typeface="+mn-ea"/>
                  <a:cs typeface="+mn-cs"/>
                </a:rPr>
                <a:t>conditioning</a:t>
              </a:r>
            </a:p>
          </p:txBody>
        </p:sp>
        <p:sp>
          <p:nvSpPr>
            <p:cNvPr id="23" name="TextBox 23"/>
            <p:cNvSpPr txBox="1"/>
            <p:nvPr/>
          </p:nvSpPr>
          <p:spPr>
            <a:xfrm>
              <a:off x="9432409" y="2745343"/>
              <a:ext cx="909083" cy="169069"/>
            </a:xfrm>
            <a:prstGeom prst="rect">
              <a:avLst/>
            </a:prstGeom>
            <a:noFill/>
            <a:ln>
              <a:noFill/>
            </a:ln>
          </p:spPr>
          <p:txBody>
            <a:bodyPr wrap="none" lIns="0" tIns="0" rIns="0" bIns="0" anchor="t" anchorCtr="0">
              <a:spAutoFit/>
            </a:bodyPr>
            <a:lstStyle/>
            <a:p>
              <a:pPr algn="ctr"/>
              <a:r>
                <a:rPr lang="en-US" sz="860" b="1" dirty="0">
                  <a:solidFill>
                    <a:srgbClr val="6B819C"/>
                  </a:solidFill>
                  <a:latin typeface="+mn-lt"/>
                  <a:ea typeface="+mn-ea"/>
                  <a:cs typeface="+mn-cs"/>
                </a:rPr>
                <a:t>separate model</a:t>
              </a:r>
            </a:p>
          </p:txBody>
        </p:sp>
      </p:grpSp>
      <p:grpSp>
        <p:nvGrpSpPr>
          <p:cNvPr id="30" name="Group 30"/>
          <p:cNvGrpSpPr/>
          <p:nvPr/>
        </p:nvGrpSpPr>
        <p:grpSpPr>
          <a:xfrm>
            <a:off x="609600" y="3028950"/>
            <a:ext cx="6858000" cy="1257300"/>
            <a:chOff x="609600" y="3028950"/>
            <a:chExt cx="6858000" cy="1257300"/>
          </a:xfrm>
        </p:grpSpPr>
        <p:sp>
          <p:nvSpPr>
            <p:cNvPr id="25" name="Rectangle 25"/>
            <p:cNvSpPr/>
            <p:nvPr/>
          </p:nvSpPr>
          <p:spPr>
            <a:xfrm>
              <a:off x="609600" y="3028950"/>
              <a:ext cx="6858000" cy="1257300"/>
            </a:xfrm>
            <a:prstGeom prst="roundRect">
              <a:avLst>
                <a:gd name="adj" fmla="val 10606"/>
              </a:avLst>
            </a:prstGeom>
            <a:solidFill>
              <a:schemeClr val="accent5"/>
            </a:solidFill>
            <a:ln w="14288">
              <a:solidFill>
                <a:srgbClr val="35D0C4"/>
              </a:solidFill>
            </a:ln>
          </p:spPr>
        </p:sp>
        <p:sp>
          <p:nvSpPr>
            <p:cNvPr id="26" name="Rectangle 26"/>
            <p:cNvSpPr/>
            <p:nvPr/>
          </p:nvSpPr>
          <p:spPr>
            <a:xfrm>
              <a:off x="609600" y="3028950"/>
              <a:ext cx="57150" cy="1257300"/>
            </a:xfrm>
            <a:prstGeom prst="roundRect">
              <a:avLst>
                <a:gd name="adj" fmla="val 50000"/>
              </a:avLst>
            </a:prstGeom>
            <a:solidFill>
              <a:srgbClr val="35D0C4"/>
            </a:solidFill>
            <a:ln>
              <a:noFill/>
            </a:ln>
          </p:spPr>
        </p:sp>
        <p:sp>
          <p:nvSpPr>
            <p:cNvPr id="27" name="TextBox 27"/>
            <p:cNvSpPr txBox="1"/>
            <p:nvPr/>
          </p:nvSpPr>
          <p:spPr>
            <a:xfrm>
              <a:off x="870014" y="3238262"/>
              <a:ext cx="3375031" cy="242030"/>
            </a:xfrm>
            <a:prstGeom prst="rect">
              <a:avLst/>
            </a:prstGeom>
            <a:noFill/>
            <a:ln>
              <a:noFill/>
            </a:ln>
          </p:spPr>
          <p:txBody>
            <a:bodyPr wrap="none" lIns="0" tIns="0" rIns="0" bIns="0" anchor="t" anchorCtr="0">
              <a:spAutoFit/>
            </a:bodyPr>
            <a:lstStyle/>
            <a:p>
              <a:pPr algn="l"/>
              <a:r>
                <a:rPr lang="en-US" sz="1240" b="1" dirty="0">
                  <a:solidFill>
                    <a:srgbClr val="35D0C4"/>
                  </a:solidFill>
                  <a:latin typeface="+mn-lt"/>
                  <a:ea typeface="+mn-ea"/>
                  <a:cs typeface="+mn-cs"/>
                </a:rPr>
                <a:t>Yet all operate on the very same object</a:t>
              </a:r>
            </a:p>
          </p:txBody>
        </p:sp>
        <p:sp>
          <p:nvSpPr>
            <p:cNvPr id="28" name="TextBox 28"/>
            <p:cNvSpPr txBox="1"/>
            <p:nvPr/>
          </p:nvSpPr>
          <p:spPr>
            <a:xfrm>
              <a:off x="870204" y="3661410"/>
              <a:ext cx="509737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Consolas"/>
                  <a:ea typeface="Consolas"/>
                  <a:cs typeface="Consolas"/>
                </a:rPr>
                <a:t>trajectory = ( s0 , a0 , p0 ) ( s1 , a1 , p1 ) … ( sT , aT , pT )</a:t>
              </a:r>
            </a:p>
          </p:txBody>
        </p:sp>
        <p:sp>
          <p:nvSpPr>
            <p:cNvPr id="29" name="TextBox 29"/>
            <p:cNvSpPr txBox="1"/>
            <p:nvPr/>
          </p:nvSpPr>
          <p:spPr>
            <a:xfrm>
              <a:off x="870966" y="3963352"/>
              <a:ext cx="416638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states, actions, and returns — shared across every task</a:t>
              </a:r>
            </a:p>
          </p:txBody>
        </p:sp>
      </p:grpSp>
      <p:grpSp>
        <p:nvGrpSpPr>
          <p:cNvPr id="37" name="Group 37"/>
          <p:cNvGrpSpPr/>
          <p:nvPr/>
        </p:nvGrpSpPr>
        <p:grpSpPr>
          <a:xfrm>
            <a:off x="7620000" y="3028950"/>
            <a:ext cx="3962400" cy="1257300"/>
            <a:chOff x="7620000" y="3028950"/>
            <a:chExt cx="3962400" cy="1257300"/>
          </a:xfrm>
        </p:grpSpPr>
        <p:sp>
          <p:nvSpPr>
            <p:cNvPr id="31" name="Rectangle 31"/>
            <p:cNvSpPr/>
            <p:nvPr/>
          </p:nvSpPr>
          <p:spPr>
            <a:xfrm>
              <a:off x="7620000" y="3028950"/>
              <a:ext cx="3962400" cy="1257300"/>
            </a:xfrm>
            <a:prstGeom prst="roundRect">
              <a:avLst>
                <a:gd name="adj" fmla="val 10606"/>
              </a:avLst>
            </a:prstGeom>
            <a:solidFill>
              <a:srgbClr val="2A1720"/>
            </a:solidFill>
            <a:ln w="14288">
              <a:solidFill>
                <a:srgbClr val="F0655C"/>
              </a:solidFill>
            </a:ln>
          </p:spPr>
        </p:sp>
        <p:sp>
          <p:nvSpPr>
            <p:cNvPr id="32" name="Rectangle 32"/>
            <p:cNvSpPr/>
            <p:nvPr/>
          </p:nvSpPr>
          <p:spPr>
            <a:xfrm>
              <a:off x="7620000" y="3028950"/>
              <a:ext cx="57150" cy="1257300"/>
            </a:xfrm>
            <a:prstGeom prst="roundRect">
              <a:avLst>
                <a:gd name="adj" fmla="val 50000"/>
              </a:avLst>
            </a:prstGeom>
            <a:solidFill>
              <a:srgbClr val="F0655C"/>
            </a:solidFill>
            <a:ln>
              <a:noFill/>
            </a:ln>
          </p:spPr>
        </p:sp>
        <p:sp>
          <p:nvSpPr>
            <p:cNvPr id="33" name="TextBox 33"/>
            <p:cNvSpPr txBox="1"/>
            <p:nvPr/>
          </p:nvSpPr>
          <p:spPr>
            <a:xfrm>
              <a:off x="7880414" y="3238262"/>
              <a:ext cx="1586836" cy="242030"/>
            </a:xfrm>
            <a:prstGeom prst="rect">
              <a:avLst/>
            </a:prstGeom>
            <a:noFill/>
            <a:ln>
              <a:noFill/>
            </a:ln>
          </p:spPr>
          <p:txBody>
            <a:bodyPr wrap="none" lIns="0" tIns="0" rIns="0" bIns="0" anchor="t" anchorCtr="0">
              <a:spAutoFit/>
            </a:bodyPr>
            <a:lstStyle/>
            <a:p>
              <a:pPr algn="l"/>
              <a:r>
                <a:rPr lang="en-US" sz="1240" b="1" dirty="0">
                  <a:solidFill>
                    <a:srgbClr val="F0655C"/>
                  </a:solidFill>
                  <a:latin typeface="+mn-lt"/>
                  <a:ea typeface="+mn-ea"/>
                  <a:cs typeface="+mn-cs"/>
                </a:rPr>
                <a:t>The cost of siloing</a:t>
              </a:r>
            </a:p>
          </p:txBody>
        </p:sp>
        <p:sp>
          <p:nvSpPr>
            <p:cNvPr id="34" name="TextBox 34"/>
            <p:cNvSpPr txBox="1"/>
            <p:nvPr/>
          </p:nvSpPr>
          <p:spPr>
            <a:xfrm>
              <a:off x="7881176" y="3578304"/>
              <a:ext cx="270841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distinct model per task ignores this</a:t>
              </a:r>
            </a:p>
          </p:txBody>
        </p:sp>
        <p:sp>
          <p:nvSpPr>
            <p:cNvPr id="35" name="TextBox 35"/>
            <p:cNvSpPr txBox="1"/>
            <p:nvPr/>
          </p:nvSpPr>
          <p:spPr>
            <a:xfrm>
              <a:off x="7881176" y="3797379"/>
              <a:ext cx="28063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shared structure and misses reusable,</a:t>
              </a:r>
            </a:p>
          </p:txBody>
        </p:sp>
        <p:sp>
          <p:nvSpPr>
            <p:cNvPr id="36" name="TextBox 36"/>
            <p:cNvSpPr txBox="1"/>
            <p:nvPr/>
          </p:nvSpPr>
          <p:spPr>
            <a:xfrm>
              <a:off x="7881176" y="4016454"/>
              <a:ext cx="17572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richer representations.</a:t>
              </a:r>
            </a:p>
          </p:txBody>
        </p:sp>
      </p:grpSp>
      <p:sp>
        <p:nvSpPr>
          <p:cNvPr id="38" name="Line 38"/>
          <p:cNvSpPr/>
          <p:nvPr/>
        </p:nvSpPr>
        <p:spPr>
          <a:xfrm>
            <a:off x="609600" y="4629150"/>
            <a:ext cx="10972800" cy="9525"/>
          </a:xfrm>
          <a:custGeom>
            <a:avLst/>
            <a:gdLst/>
            <a:ahLst/>
            <a:cxnLst/>
            <a:rect l="l" t="t" r="r" b="b"/>
            <a:pathLst>
              <a:path w="10972800" h="9525">
                <a:moveTo>
                  <a:pt x="0" y="0"/>
                </a:moveTo>
                <a:lnTo>
                  <a:pt x="10972800" y="0"/>
                </a:lnTo>
              </a:path>
            </a:pathLst>
          </a:custGeom>
          <a:noFill/>
          <a:ln w="9525" cap="rnd">
            <a:solidFill>
              <a:srgbClr val="2B3D5A"/>
            </a:solidFill>
          </a:ln>
        </p:spPr>
        <p:txBody>
          <a:bodyPr/>
          <a:p/>
        </p:txBody>
      </p:sp>
      <p:sp>
        <p:nvSpPr>
          <p:cNvPr id="39" name="TextBox 39"/>
          <p:cNvSpPr txBox="1"/>
          <p:nvPr/>
        </p:nvSpPr>
        <p:spPr>
          <a:xfrm>
            <a:off x="604076" y="4835604"/>
            <a:ext cx="5925127"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The waste: shared trajectory structure is thrown away by per-task training.</a:t>
            </a:r>
          </a:p>
        </p:txBody>
      </p:sp>
      <p:sp>
        <p:nvSpPr>
          <p:cNvPr id="40" name="cue_s02_c1_sequential_decision_making_tasks_lik" title="cue_s02_c1_sequential_decision_making_tasks_lik" descr="cue_s02_c1_sequential_decision_making_tasks_lik In sequential decision making, tasks like behavior cloning, offline reinforcement learning, inverse dynamics, and goal or waypoint conditioning are typically each handled by a separate, specially trained model."/>
          <p:cNvSpPr/>
          <p:nvPr/>
        </p:nvSpPr>
        <p:spPr>
          <a:xfrm>
            <a:off x="609600" y="1428521"/>
            <a:ext cx="10972800" cy="148544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2_c2_yet_all_these_tasks_operate" title="cue_s02_c2_yet_all_these_tasks_operate" descr="cue_s02_c2_yet_all_these_tasks_operate Yet all of these tasks operate over the very same object: a trajectory of states, actions, and returns."/>
          <p:cNvSpPr/>
          <p:nvPr/>
        </p:nvSpPr>
        <p:spPr>
          <a:xfrm>
            <a:off x="609600" y="3029178"/>
            <a:ext cx="68580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3_distinct_per_task_ignores_shared" title="cue_s02_c3_distinct_per_task_ignores_shared" descr="cue_s02_c3_distinct_per_task_ignores_shared Training a distinct model per task ignores this shared structure and misses the chance to build richer, reusable representations across tasks."/>
          <p:cNvSpPr/>
          <p:nvPr/>
        </p:nvSpPr>
        <p:spPr>
          <a:xfrm>
            <a:off x="7620000" y="3029178"/>
            <a:ext cx="39624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rgbClr val="A487F0"/>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26344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Masked prediction, borrowed from BERT</a:t>
            </a:r>
          </a:p>
        </p:txBody>
      </p:sp>
      <p:grpSp>
        <p:nvGrpSpPr>
          <p:cNvPr id="21" name="Group 21"/>
          <p:cNvGrpSpPr/>
          <p:nvPr/>
        </p:nvGrpSpPr>
        <p:grpSpPr>
          <a:xfrm>
            <a:off x="609600" y="1428750"/>
            <a:ext cx="5334000" cy="1673161"/>
            <a:chOff x="609600" y="1428750"/>
            <a:chExt cx="5334000" cy="1673161"/>
          </a:xfrm>
        </p:grpSpPr>
        <p:sp>
          <p:nvSpPr>
            <p:cNvPr id="5" name="Rectangle 5"/>
            <p:cNvSpPr/>
            <p:nvPr/>
          </p:nvSpPr>
          <p:spPr>
            <a:xfrm>
              <a:off x="609600" y="1428750"/>
              <a:ext cx="5334000" cy="1428750"/>
            </a:xfrm>
            <a:prstGeom prst="roundRect">
              <a:avLst>
                <a:gd name="adj" fmla="val 9333"/>
              </a:avLst>
            </a:prstGeom>
            <a:solidFill>
              <a:schemeClr val="accent5"/>
            </a:solidFill>
            <a:ln w="14288">
              <a:solidFill>
                <a:srgbClr val="A487F0"/>
              </a:solidFill>
            </a:ln>
          </p:spPr>
        </p:sp>
        <p:sp>
          <p:nvSpPr>
            <p:cNvPr id="6" name="Rectangle 6"/>
            <p:cNvSpPr/>
            <p:nvPr/>
          </p:nvSpPr>
          <p:spPr>
            <a:xfrm>
              <a:off x="609600" y="1428750"/>
              <a:ext cx="57150" cy="1428750"/>
            </a:xfrm>
            <a:prstGeom prst="roundRect">
              <a:avLst>
                <a:gd name="adj" fmla="val 50000"/>
              </a:avLst>
            </a:prstGeom>
            <a:solidFill>
              <a:srgbClr val="A487F0"/>
            </a:solidFill>
            <a:ln>
              <a:noFill/>
            </a:ln>
          </p:spPr>
        </p:sp>
        <p:sp>
          <p:nvSpPr>
            <p:cNvPr id="7" name="TextBox 7"/>
            <p:cNvSpPr txBox="1"/>
            <p:nvPr/>
          </p:nvSpPr>
          <p:spPr>
            <a:xfrm>
              <a:off x="870014" y="1638062"/>
              <a:ext cx="2838645" cy="242030"/>
            </a:xfrm>
            <a:prstGeom prst="rect">
              <a:avLst/>
            </a:prstGeom>
            <a:noFill/>
            <a:ln>
              <a:noFill/>
            </a:ln>
          </p:spPr>
          <p:txBody>
            <a:bodyPr wrap="none" lIns="0" tIns="0" rIns="0" bIns="0" anchor="t" anchorCtr="0">
              <a:spAutoFit/>
            </a:bodyPr>
            <a:lstStyle/>
            <a:p>
              <a:pPr algn="l"/>
              <a:r>
                <a:rPr lang="en-US" sz="1240" b="1" dirty="0">
                  <a:solidFill>
                    <a:srgbClr val="A487F0"/>
                  </a:solidFill>
                  <a:latin typeface="+mn-lt"/>
                  <a:ea typeface="+mn-ea"/>
                  <a:cs typeface="+mn-cs"/>
                </a:rPr>
                <a:t>Masked language modeling (BERT)</a:t>
              </a:r>
            </a:p>
          </p:txBody>
        </p:sp>
        <p:sp>
          <p:nvSpPr>
            <p:cNvPr id="8" name="Rectangle 8"/>
            <p:cNvSpPr/>
            <p:nvPr/>
          </p:nvSpPr>
          <p:spPr>
            <a:xfrm>
              <a:off x="876300" y="1943100"/>
              <a:ext cx="400050" cy="323850"/>
            </a:xfrm>
            <a:prstGeom prst="roundRect">
              <a:avLst>
                <a:gd name="adj" fmla="val 17647"/>
              </a:avLst>
            </a:prstGeom>
            <a:solidFill>
              <a:schemeClr val="accent6"/>
            </a:solidFill>
            <a:ln w="13335">
              <a:solidFill>
                <a:schemeClr val="dk2"/>
              </a:solidFill>
            </a:ln>
          </p:spPr>
        </p:sp>
        <p:sp>
          <p:nvSpPr>
            <p:cNvPr id="9" name="TextBox 9"/>
            <p:cNvSpPr txBox="1"/>
            <p:nvPr/>
          </p:nvSpPr>
          <p:spPr>
            <a:xfrm>
              <a:off x="957090" y="2051590"/>
              <a:ext cx="23847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Consolas"/>
                  <a:ea typeface="Consolas"/>
                  <a:cs typeface="Consolas"/>
                </a:rPr>
                <a:t>the</a:t>
              </a:r>
            </a:p>
          </p:txBody>
        </p:sp>
        <p:sp>
          <p:nvSpPr>
            <p:cNvPr id="10" name="Rectangle 10"/>
            <p:cNvSpPr/>
            <p:nvPr/>
          </p:nvSpPr>
          <p:spPr>
            <a:xfrm>
              <a:off x="1333500" y="1943100"/>
              <a:ext cx="400050" cy="323850"/>
            </a:xfrm>
            <a:prstGeom prst="roundRect">
              <a:avLst>
                <a:gd name="adj" fmla="val 17647"/>
              </a:avLst>
            </a:prstGeom>
            <a:solidFill>
              <a:schemeClr val="accent6"/>
            </a:solidFill>
            <a:ln w="13335">
              <a:solidFill>
                <a:schemeClr val="dk2"/>
              </a:solidFill>
            </a:ln>
          </p:spPr>
        </p:sp>
        <p:sp>
          <p:nvSpPr>
            <p:cNvPr id="11" name="TextBox 11"/>
            <p:cNvSpPr txBox="1"/>
            <p:nvPr/>
          </p:nvSpPr>
          <p:spPr>
            <a:xfrm>
              <a:off x="1414290" y="2051590"/>
              <a:ext cx="23847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Consolas"/>
                  <a:ea typeface="Consolas"/>
                  <a:cs typeface="Consolas"/>
                </a:rPr>
                <a:t>cat</a:t>
              </a:r>
            </a:p>
          </p:txBody>
        </p:sp>
        <p:sp>
          <p:nvSpPr>
            <p:cNvPr id="12" name="Rectangle 12"/>
            <p:cNvSpPr/>
            <p:nvPr/>
          </p:nvSpPr>
          <p:spPr>
            <a:xfrm>
              <a:off x="1790700" y="1943100"/>
              <a:ext cx="400050" cy="323850"/>
            </a:xfrm>
            <a:prstGeom prst="roundRect">
              <a:avLst>
                <a:gd name="adj" fmla="val 17647"/>
              </a:avLst>
            </a:prstGeom>
            <a:solidFill>
              <a:srgbClr val="241A34"/>
            </a:solidFill>
            <a:ln w="15240">
              <a:solidFill>
                <a:srgbClr val="A487F0"/>
              </a:solidFill>
            </a:ln>
          </p:spPr>
        </p:sp>
        <p:sp>
          <p:nvSpPr>
            <p:cNvPr id="13" name="TextBox 13"/>
            <p:cNvSpPr txBox="1"/>
            <p:nvPr/>
          </p:nvSpPr>
          <p:spPr>
            <a:xfrm>
              <a:off x="1931390" y="2017586"/>
              <a:ext cx="118669" cy="264033"/>
            </a:xfrm>
            <a:prstGeom prst="rect">
              <a:avLst/>
            </a:prstGeom>
            <a:noFill/>
            <a:ln>
              <a:noFill/>
            </a:ln>
          </p:spPr>
          <p:txBody>
            <a:bodyPr wrap="none" lIns="0" tIns="0" rIns="0" bIns="0" anchor="t" anchorCtr="0">
              <a:spAutoFit/>
            </a:bodyPr>
            <a:lstStyle/>
            <a:p>
              <a:pPr algn="ctr"/>
              <a:r>
                <a:rPr lang="en-US" sz="1350" b="1" dirty="0">
                  <a:solidFill>
                    <a:srgbClr val="A487F0"/>
                  </a:solidFill>
                  <a:latin typeface="Consolas"/>
                  <a:ea typeface="Consolas"/>
                  <a:cs typeface="Consolas"/>
                </a:rPr>
                <a:t>?</a:t>
              </a:r>
            </a:p>
          </p:txBody>
        </p:sp>
        <p:sp>
          <p:nvSpPr>
            <p:cNvPr id="14" name="Rectangle 14"/>
            <p:cNvSpPr/>
            <p:nvPr/>
          </p:nvSpPr>
          <p:spPr>
            <a:xfrm>
              <a:off x="2247900" y="1943100"/>
              <a:ext cx="400050" cy="323850"/>
            </a:xfrm>
            <a:prstGeom prst="roundRect">
              <a:avLst>
                <a:gd name="adj" fmla="val 17647"/>
              </a:avLst>
            </a:prstGeom>
            <a:solidFill>
              <a:schemeClr val="accent6"/>
            </a:solidFill>
            <a:ln w="13335">
              <a:solidFill>
                <a:schemeClr val="dk2"/>
              </a:solidFill>
            </a:ln>
          </p:spPr>
        </p:sp>
        <p:sp>
          <p:nvSpPr>
            <p:cNvPr id="15" name="TextBox 15"/>
            <p:cNvSpPr txBox="1"/>
            <p:nvPr/>
          </p:nvSpPr>
          <p:spPr>
            <a:xfrm>
              <a:off x="2366784" y="2051590"/>
              <a:ext cx="162282"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Consolas"/>
                  <a:ea typeface="Consolas"/>
                  <a:cs typeface="Consolas"/>
                </a:rPr>
                <a:t>on</a:t>
              </a:r>
            </a:p>
          </p:txBody>
        </p:sp>
        <p:sp>
          <p:nvSpPr>
            <p:cNvPr id="16" name="Rectangle 16"/>
            <p:cNvSpPr/>
            <p:nvPr/>
          </p:nvSpPr>
          <p:spPr>
            <a:xfrm>
              <a:off x="2705100" y="1943100"/>
              <a:ext cx="400050" cy="323850"/>
            </a:xfrm>
            <a:prstGeom prst="roundRect">
              <a:avLst>
                <a:gd name="adj" fmla="val 17647"/>
              </a:avLst>
            </a:prstGeom>
            <a:solidFill>
              <a:srgbClr val="241A34"/>
            </a:solidFill>
            <a:ln w="15240">
              <a:solidFill>
                <a:srgbClr val="A487F0"/>
              </a:solidFill>
            </a:ln>
          </p:spPr>
        </p:sp>
        <p:sp>
          <p:nvSpPr>
            <p:cNvPr id="17" name="TextBox 17"/>
            <p:cNvSpPr txBox="1"/>
            <p:nvPr/>
          </p:nvSpPr>
          <p:spPr>
            <a:xfrm>
              <a:off x="2845790" y="2017586"/>
              <a:ext cx="118669" cy="264033"/>
            </a:xfrm>
            <a:prstGeom prst="rect">
              <a:avLst/>
            </a:prstGeom>
            <a:noFill/>
            <a:ln>
              <a:noFill/>
            </a:ln>
          </p:spPr>
          <p:txBody>
            <a:bodyPr wrap="none" lIns="0" tIns="0" rIns="0" bIns="0" anchor="t" anchorCtr="0">
              <a:spAutoFit/>
            </a:bodyPr>
            <a:lstStyle/>
            <a:p>
              <a:pPr algn="ctr"/>
              <a:r>
                <a:rPr lang="en-US" sz="1350" b="1" dirty="0">
                  <a:solidFill>
                    <a:srgbClr val="A487F0"/>
                  </a:solidFill>
                  <a:latin typeface="Consolas"/>
                  <a:ea typeface="Consolas"/>
                  <a:cs typeface="Consolas"/>
                </a:rPr>
                <a:t>?</a:t>
              </a:r>
            </a:p>
          </p:txBody>
        </p:sp>
        <p:sp>
          <p:nvSpPr>
            <p:cNvPr id="18" name="TextBox 18"/>
            <p:cNvSpPr txBox="1"/>
            <p:nvPr/>
          </p:nvSpPr>
          <p:spPr>
            <a:xfrm>
              <a:off x="870966" y="2477452"/>
              <a:ext cx="30050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Predict randomly masked tokens; the model</a:t>
              </a:r>
            </a:p>
          </p:txBody>
        </p:sp>
        <p:sp>
          <p:nvSpPr>
            <p:cNvPr id="19" name="TextBox 19"/>
            <p:cNvSpPr txBox="1"/>
            <p:nvPr/>
          </p:nvSpPr>
          <p:spPr>
            <a:xfrm>
              <a:off x="870966" y="2687002"/>
              <a:ext cx="28800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learns bidirectional representations that</a:t>
              </a:r>
            </a:p>
          </p:txBody>
        </p:sp>
        <p:sp>
          <p:nvSpPr>
            <p:cNvPr id="20" name="TextBox 20"/>
            <p:cNvSpPr txBox="1"/>
            <p:nvPr/>
          </p:nvSpPr>
          <p:spPr>
            <a:xfrm>
              <a:off x="870966" y="2896552"/>
              <a:ext cx="117681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transfer widely.</a:t>
              </a:r>
            </a:p>
          </p:txBody>
        </p:sp>
      </p:grpSp>
      <p:grpSp>
        <p:nvGrpSpPr>
          <p:cNvPr id="37" name="Group 37"/>
          <p:cNvGrpSpPr/>
          <p:nvPr/>
        </p:nvGrpSpPr>
        <p:grpSpPr>
          <a:xfrm>
            <a:off x="6172200" y="1428750"/>
            <a:ext cx="5410200" cy="1673161"/>
            <a:chOff x="6172200" y="1428750"/>
            <a:chExt cx="5410200" cy="1673161"/>
          </a:xfrm>
        </p:grpSpPr>
        <p:sp>
          <p:nvSpPr>
            <p:cNvPr id="22" name="Rectangle 22"/>
            <p:cNvSpPr/>
            <p:nvPr/>
          </p:nvSpPr>
          <p:spPr>
            <a:xfrm>
              <a:off x="6172200" y="1428750"/>
              <a:ext cx="5410200" cy="1428750"/>
            </a:xfrm>
            <a:prstGeom prst="roundRect">
              <a:avLst>
                <a:gd name="adj" fmla="val 9333"/>
              </a:avLst>
            </a:prstGeom>
            <a:solidFill>
              <a:schemeClr val="accent5"/>
            </a:solidFill>
            <a:ln w="14288">
              <a:solidFill>
                <a:srgbClr val="2B3D5A"/>
              </a:solidFill>
            </a:ln>
          </p:spPr>
        </p:sp>
        <p:sp>
          <p:nvSpPr>
            <p:cNvPr id="23" name="Rectangle 23"/>
            <p:cNvSpPr/>
            <p:nvPr/>
          </p:nvSpPr>
          <p:spPr>
            <a:xfrm>
              <a:off x="6172200" y="1428750"/>
              <a:ext cx="57150" cy="1428750"/>
            </a:xfrm>
            <a:prstGeom prst="roundRect">
              <a:avLst>
                <a:gd name="adj" fmla="val 50000"/>
              </a:avLst>
            </a:prstGeom>
            <a:solidFill>
              <a:schemeClr val="accent2"/>
            </a:solidFill>
            <a:ln>
              <a:noFill/>
            </a:ln>
          </p:spPr>
        </p:sp>
        <p:sp>
          <p:nvSpPr>
            <p:cNvPr id="24" name="TextBox 24"/>
            <p:cNvSpPr txBox="1"/>
            <p:nvPr/>
          </p:nvSpPr>
          <p:spPr>
            <a:xfrm>
              <a:off x="6432614" y="1638062"/>
              <a:ext cx="291924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The same idea maps onto decisions</a:t>
              </a:r>
            </a:p>
          </p:txBody>
        </p:sp>
        <p:sp>
          <p:nvSpPr>
            <p:cNvPr id="25" name="Rectangle 25"/>
            <p:cNvSpPr/>
            <p:nvPr/>
          </p:nvSpPr>
          <p:spPr>
            <a:xfrm>
              <a:off x="6438900" y="1943100"/>
              <a:ext cx="400050" cy="323850"/>
            </a:xfrm>
            <a:prstGeom prst="roundRect">
              <a:avLst>
                <a:gd name="adj" fmla="val 17647"/>
              </a:avLst>
            </a:prstGeom>
            <a:solidFill>
              <a:schemeClr val="accent6"/>
            </a:solidFill>
            <a:ln w="13335">
              <a:solidFill>
                <a:srgbClr val="35D0C4"/>
              </a:solidFill>
            </a:ln>
          </p:spPr>
        </p:sp>
        <p:sp>
          <p:nvSpPr>
            <p:cNvPr id="26" name="TextBox 26"/>
            <p:cNvSpPr txBox="1"/>
            <p:nvPr/>
          </p:nvSpPr>
          <p:spPr>
            <a:xfrm>
              <a:off x="6557784" y="2051590"/>
              <a:ext cx="162282" cy="190690"/>
            </a:xfrm>
            <a:prstGeom prst="rect">
              <a:avLst/>
            </a:prstGeom>
            <a:noFill/>
            <a:ln>
              <a:noFill/>
            </a:ln>
          </p:spPr>
          <p:txBody>
            <a:bodyPr wrap="none" lIns="0" tIns="0" rIns="0" bIns="0" anchor="t" anchorCtr="0">
              <a:spAutoFit/>
            </a:bodyPr>
            <a:lstStyle/>
            <a:p>
              <a:pPr algn="ctr"/>
              <a:r>
                <a:rPr lang="en-US" sz="980" b="1" dirty="0">
                  <a:solidFill>
                    <a:srgbClr val="35D0C4"/>
                  </a:solidFill>
                  <a:latin typeface="Consolas"/>
                  <a:ea typeface="Consolas"/>
                  <a:cs typeface="Consolas"/>
                </a:rPr>
                <a:t>s0</a:t>
              </a:r>
            </a:p>
          </p:txBody>
        </p:sp>
        <p:sp>
          <p:nvSpPr>
            <p:cNvPr id="27" name="Rectangle 27"/>
            <p:cNvSpPr/>
            <p:nvPr/>
          </p:nvSpPr>
          <p:spPr>
            <a:xfrm>
              <a:off x="6896100" y="1943100"/>
              <a:ext cx="400050" cy="323850"/>
            </a:xfrm>
            <a:prstGeom prst="roundRect">
              <a:avLst>
                <a:gd name="adj" fmla="val 17647"/>
              </a:avLst>
            </a:prstGeom>
            <a:solidFill>
              <a:schemeClr val="accent6"/>
            </a:solidFill>
            <a:ln w="13335">
              <a:solidFill>
                <a:srgbClr val="F3C24B"/>
              </a:solidFill>
            </a:ln>
          </p:spPr>
        </p:sp>
        <p:sp>
          <p:nvSpPr>
            <p:cNvPr id="28" name="TextBox 28"/>
            <p:cNvSpPr txBox="1"/>
            <p:nvPr/>
          </p:nvSpPr>
          <p:spPr>
            <a:xfrm>
              <a:off x="7014984" y="2051590"/>
              <a:ext cx="162282" cy="190690"/>
            </a:xfrm>
            <a:prstGeom prst="rect">
              <a:avLst/>
            </a:prstGeom>
            <a:noFill/>
            <a:ln>
              <a:noFill/>
            </a:ln>
          </p:spPr>
          <p:txBody>
            <a:bodyPr wrap="none" lIns="0" tIns="0" rIns="0" bIns="0" anchor="t" anchorCtr="0">
              <a:spAutoFit/>
            </a:bodyPr>
            <a:lstStyle/>
            <a:p>
              <a:pPr algn="ctr"/>
              <a:r>
                <a:rPr lang="en-US" sz="980" b="1" dirty="0">
                  <a:solidFill>
                    <a:srgbClr val="F3C24B"/>
                  </a:solidFill>
                  <a:latin typeface="Consolas"/>
                  <a:ea typeface="Consolas"/>
                  <a:cs typeface="Consolas"/>
                </a:rPr>
                <a:t>a0</a:t>
              </a:r>
            </a:p>
          </p:txBody>
        </p:sp>
        <p:sp>
          <p:nvSpPr>
            <p:cNvPr id="29" name="Rectangle 29"/>
            <p:cNvSpPr/>
            <p:nvPr/>
          </p:nvSpPr>
          <p:spPr>
            <a:xfrm>
              <a:off x="7353300" y="1943100"/>
              <a:ext cx="400050" cy="323850"/>
            </a:xfrm>
            <a:prstGeom prst="roundRect">
              <a:avLst>
                <a:gd name="adj" fmla="val 17647"/>
              </a:avLst>
            </a:prstGeom>
            <a:solidFill>
              <a:schemeClr val="accent6"/>
            </a:solidFill>
            <a:ln w="13335">
              <a:solidFill>
                <a:srgbClr val="35D0C4"/>
              </a:solidFill>
            </a:ln>
          </p:spPr>
        </p:sp>
        <p:sp>
          <p:nvSpPr>
            <p:cNvPr id="30" name="TextBox 30"/>
            <p:cNvSpPr txBox="1"/>
            <p:nvPr/>
          </p:nvSpPr>
          <p:spPr>
            <a:xfrm>
              <a:off x="7472184" y="2051590"/>
              <a:ext cx="162282" cy="190690"/>
            </a:xfrm>
            <a:prstGeom prst="rect">
              <a:avLst/>
            </a:prstGeom>
            <a:noFill/>
            <a:ln>
              <a:noFill/>
            </a:ln>
          </p:spPr>
          <p:txBody>
            <a:bodyPr wrap="none" lIns="0" tIns="0" rIns="0" bIns="0" anchor="t" anchorCtr="0">
              <a:spAutoFit/>
            </a:bodyPr>
            <a:lstStyle/>
            <a:p>
              <a:pPr algn="ctr"/>
              <a:r>
                <a:rPr lang="en-US" sz="980" b="1" dirty="0">
                  <a:solidFill>
                    <a:srgbClr val="35D0C4"/>
                  </a:solidFill>
                  <a:latin typeface="Consolas"/>
                  <a:ea typeface="Consolas"/>
                  <a:cs typeface="Consolas"/>
                </a:rPr>
                <a:t>s1</a:t>
              </a:r>
            </a:p>
          </p:txBody>
        </p:sp>
        <p:sp>
          <p:nvSpPr>
            <p:cNvPr id="31" name="Rectangle 31"/>
            <p:cNvSpPr/>
            <p:nvPr/>
          </p:nvSpPr>
          <p:spPr>
            <a:xfrm>
              <a:off x="7810500" y="1943100"/>
              <a:ext cx="400050" cy="323850"/>
            </a:xfrm>
            <a:prstGeom prst="roundRect">
              <a:avLst>
                <a:gd name="adj" fmla="val 17647"/>
              </a:avLst>
            </a:prstGeom>
            <a:solidFill>
              <a:srgbClr val="241A34"/>
            </a:solidFill>
            <a:ln w="15240">
              <a:solidFill>
                <a:srgbClr val="A487F0"/>
              </a:solidFill>
            </a:ln>
          </p:spPr>
        </p:sp>
        <p:sp>
          <p:nvSpPr>
            <p:cNvPr id="32" name="TextBox 32"/>
            <p:cNvSpPr txBox="1"/>
            <p:nvPr/>
          </p:nvSpPr>
          <p:spPr>
            <a:xfrm>
              <a:off x="7951190" y="2017586"/>
              <a:ext cx="118669" cy="264033"/>
            </a:xfrm>
            <a:prstGeom prst="rect">
              <a:avLst/>
            </a:prstGeom>
            <a:noFill/>
            <a:ln>
              <a:noFill/>
            </a:ln>
          </p:spPr>
          <p:txBody>
            <a:bodyPr wrap="none" lIns="0" tIns="0" rIns="0" bIns="0" anchor="t" anchorCtr="0">
              <a:spAutoFit/>
            </a:bodyPr>
            <a:lstStyle/>
            <a:p>
              <a:pPr algn="ctr"/>
              <a:r>
                <a:rPr lang="en-US" sz="1350" b="1" dirty="0">
                  <a:solidFill>
                    <a:srgbClr val="A487F0"/>
                  </a:solidFill>
                  <a:latin typeface="Consolas"/>
                  <a:ea typeface="Consolas"/>
                  <a:cs typeface="Consolas"/>
                </a:rPr>
                <a:t>?</a:t>
              </a:r>
            </a:p>
          </p:txBody>
        </p:sp>
        <p:sp>
          <p:nvSpPr>
            <p:cNvPr id="33" name="TextBox 33"/>
            <p:cNvSpPr txBox="1"/>
            <p:nvPr/>
          </p:nvSpPr>
          <p:spPr>
            <a:xfrm>
              <a:off x="8376856" y="2043351"/>
              <a:ext cx="1430794"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mask the last action</a:t>
              </a:r>
            </a:p>
          </p:txBody>
        </p:sp>
        <p:sp>
          <p:nvSpPr>
            <p:cNvPr id="34" name="TextBox 34"/>
            <p:cNvSpPr txBox="1"/>
            <p:nvPr/>
          </p:nvSpPr>
          <p:spPr>
            <a:xfrm>
              <a:off x="6433566" y="2477452"/>
              <a:ext cx="28002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Treat states and actions as tokens; the</a:t>
              </a:r>
            </a:p>
          </p:txBody>
        </p:sp>
        <p:sp>
          <p:nvSpPr>
            <p:cNvPr id="35" name="TextBox 35"/>
            <p:cNvSpPr txBox="1"/>
            <p:nvPr/>
          </p:nvSpPr>
          <p:spPr>
            <a:xfrm>
              <a:off x="6433566" y="2687002"/>
              <a:ext cx="27599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authors observe decision tasks are just</a:t>
              </a:r>
            </a:p>
          </p:txBody>
        </p:sp>
        <p:sp>
          <p:nvSpPr>
            <p:cNvPr id="36" name="TextBox 36"/>
            <p:cNvSpPr txBox="1"/>
            <p:nvPr/>
          </p:nvSpPr>
          <p:spPr>
            <a:xfrm>
              <a:off x="6433566" y="2896552"/>
              <a:ext cx="7032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maskings.</a:t>
              </a:r>
            </a:p>
          </p:txBody>
        </p:sp>
      </p:grpSp>
      <p:grpSp>
        <p:nvGrpSpPr>
          <p:cNvPr id="44" name="Group 44"/>
          <p:cNvGrpSpPr/>
          <p:nvPr/>
        </p:nvGrpSpPr>
        <p:grpSpPr>
          <a:xfrm>
            <a:off x="609600" y="3028950"/>
            <a:ext cx="6858000" cy="1349311"/>
            <a:chOff x="609600" y="3028950"/>
            <a:chExt cx="6858000" cy="1349311"/>
          </a:xfrm>
        </p:grpSpPr>
        <p:sp>
          <p:nvSpPr>
            <p:cNvPr id="38" name="Rectangle 38"/>
            <p:cNvSpPr/>
            <p:nvPr/>
          </p:nvSpPr>
          <p:spPr>
            <a:xfrm>
              <a:off x="609600" y="3028950"/>
              <a:ext cx="6858000" cy="1314450"/>
            </a:xfrm>
            <a:prstGeom prst="roundRect">
              <a:avLst>
                <a:gd name="adj" fmla="val 10145"/>
              </a:avLst>
            </a:prstGeom>
            <a:solidFill>
              <a:schemeClr val="accent6"/>
            </a:solidFill>
            <a:ln w="14288">
              <a:solidFill>
                <a:srgbClr val="2B3D5A"/>
              </a:solidFill>
            </a:ln>
          </p:spPr>
        </p:sp>
        <p:sp>
          <p:nvSpPr>
            <p:cNvPr id="39" name="Rectangle 39"/>
            <p:cNvSpPr/>
            <p:nvPr/>
          </p:nvSpPr>
          <p:spPr>
            <a:xfrm>
              <a:off x="609600" y="3028950"/>
              <a:ext cx="57150" cy="1314450"/>
            </a:xfrm>
            <a:prstGeom prst="roundRect">
              <a:avLst>
                <a:gd name="adj" fmla="val 50000"/>
              </a:avLst>
            </a:prstGeom>
            <a:solidFill>
              <a:srgbClr val="F3C24B"/>
            </a:solidFill>
            <a:ln>
              <a:noFill/>
            </a:ln>
          </p:spPr>
        </p:sp>
        <p:sp>
          <p:nvSpPr>
            <p:cNvPr id="40" name="TextBox 40"/>
            <p:cNvSpPr txBox="1"/>
            <p:nvPr/>
          </p:nvSpPr>
          <p:spPr>
            <a:xfrm>
              <a:off x="870014" y="3238262"/>
              <a:ext cx="4400360" cy="242030"/>
            </a:xfrm>
            <a:prstGeom prst="rect">
              <a:avLst/>
            </a:prstGeom>
            <a:noFill/>
            <a:ln>
              <a:noFill/>
            </a:ln>
          </p:spPr>
          <p:txBody>
            <a:bodyPr wrap="none" lIns="0" tIns="0" rIns="0" bIns="0" anchor="t" anchorCtr="0">
              <a:spAutoFit/>
            </a:bodyPr>
            <a:lstStyle/>
            <a:p>
              <a:pPr algn="l"/>
              <a:r>
                <a:rPr lang="en-US" sz="1240" b="1" dirty="0">
                  <a:solidFill>
                    <a:srgbClr val="F3C24B"/>
                  </a:solidFill>
                  <a:latin typeface="+mn-lt"/>
                  <a:ea typeface="+mn-ea"/>
                  <a:cs typeface="+mn-cs"/>
                </a:rPr>
                <a:t>Mask the last action = a behavior-cloning inference</a:t>
              </a:r>
            </a:p>
          </p:txBody>
        </p:sp>
        <p:sp>
          <p:nvSpPr>
            <p:cNvPr id="41" name="TextBox 41"/>
            <p:cNvSpPr txBox="1"/>
            <p:nvPr/>
          </p:nvSpPr>
          <p:spPr>
            <a:xfrm>
              <a:off x="869823" y="3653314"/>
              <a:ext cx="298019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Consolas"/>
                  <a:ea typeface="Consolas"/>
                  <a:cs typeface="Consolas"/>
                </a:rPr>
                <a:t>predict a_t given s_0:t , a_0:t-1</a:t>
              </a:r>
            </a:p>
          </p:txBody>
        </p:sp>
        <p:sp>
          <p:nvSpPr>
            <p:cNvPr id="42" name="TextBox 42"/>
            <p:cNvSpPr txBox="1"/>
            <p:nvPr/>
          </p:nvSpPr>
          <p:spPr>
            <a:xfrm>
              <a:off x="870966" y="3963352"/>
              <a:ext cx="42559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 one masked-prediction objective can, in principle, express</a:t>
              </a:r>
            </a:p>
          </p:txBody>
        </p:sp>
        <p:sp>
          <p:nvSpPr>
            <p:cNvPr id="43" name="TextBox 43"/>
            <p:cNvSpPr txBox="1"/>
            <p:nvPr/>
          </p:nvSpPr>
          <p:spPr>
            <a:xfrm>
              <a:off x="870966" y="4172902"/>
              <a:ext cx="18906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entire family of tasks.</a:t>
              </a:r>
            </a:p>
          </p:txBody>
        </p:sp>
      </p:grpSp>
      <p:grpSp>
        <p:nvGrpSpPr>
          <p:cNvPr id="51" name="Group 51"/>
          <p:cNvGrpSpPr/>
          <p:nvPr/>
        </p:nvGrpSpPr>
        <p:grpSpPr>
          <a:xfrm>
            <a:off x="7620000" y="3028950"/>
            <a:ext cx="3962400" cy="1314450"/>
            <a:chOff x="7620000" y="3028950"/>
            <a:chExt cx="3962400" cy="1314450"/>
          </a:xfrm>
        </p:grpSpPr>
        <p:sp>
          <p:nvSpPr>
            <p:cNvPr id="45" name="Rectangle 45"/>
            <p:cNvSpPr/>
            <p:nvPr/>
          </p:nvSpPr>
          <p:spPr>
            <a:xfrm>
              <a:off x="7620000" y="3028950"/>
              <a:ext cx="3962400" cy="1314450"/>
            </a:xfrm>
            <a:prstGeom prst="roundRect">
              <a:avLst>
                <a:gd name="adj" fmla="val 10145"/>
              </a:avLst>
            </a:prstGeom>
            <a:solidFill>
              <a:schemeClr val="accent5"/>
            </a:solidFill>
            <a:ln w="14288">
              <a:solidFill>
                <a:srgbClr val="35D0C4"/>
              </a:solidFill>
            </a:ln>
          </p:spPr>
        </p:sp>
        <p:sp>
          <p:nvSpPr>
            <p:cNvPr id="46" name="Rectangle 46"/>
            <p:cNvSpPr/>
            <p:nvPr/>
          </p:nvSpPr>
          <p:spPr>
            <a:xfrm>
              <a:off x="7620000" y="3028950"/>
              <a:ext cx="57150" cy="1314450"/>
            </a:xfrm>
            <a:prstGeom prst="roundRect">
              <a:avLst>
                <a:gd name="adj" fmla="val 50000"/>
              </a:avLst>
            </a:prstGeom>
            <a:solidFill>
              <a:srgbClr val="35D0C4"/>
            </a:solidFill>
            <a:ln>
              <a:noFill/>
            </a:ln>
          </p:spPr>
        </p:sp>
        <p:sp>
          <p:nvSpPr>
            <p:cNvPr id="47" name="TextBox 47"/>
            <p:cNvSpPr txBox="1"/>
            <p:nvPr/>
          </p:nvSpPr>
          <p:spPr>
            <a:xfrm>
              <a:off x="7880414" y="3238262"/>
              <a:ext cx="2279718" cy="242030"/>
            </a:xfrm>
            <a:prstGeom prst="rect">
              <a:avLst/>
            </a:prstGeom>
            <a:noFill/>
            <a:ln>
              <a:noFill/>
            </a:ln>
          </p:spPr>
          <p:txBody>
            <a:bodyPr wrap="none" lIns="0" tIns="0" rIns="0" bIns="0" anchor="t" anchorCtr="0">
              <a:spAutoFit/>
            </a:bodyPr>
            <a:lstStyle/>
            <a:p>
              <a:pPr algn="l"/>
              <a:r>
                <a:rPr lang="en-US" sz="1240" b="1" dirty="0">
                  <a:solidFill>
                    <a:srgbClr val="35D0C4"/>
                  </a:solidFill>
                  <a:latin typeface="+mn-lt"/>
                  <a:ea typeface="+mn-ea"/>
                  <a:cs typeface="+mn-cs"/>
                </a:rPr>
                <a:t>One objective, many tasks</a:t>
              </a:r>
            </a:p>
          </p:txBody>
        </p:sp>
        <p:sp>
          <p:nvSpPr>
            <p:cNvPr id="48" name="TextBox 48"/>
            <p:cNvSpPr txBox="1"/>
            <p:nvPr/>
          </p:nvSpPr>
          <p:spPr>
            <a:xfrm>
              <a:off x="7881176" y="3578304"/>
              <a:ext cx="265696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Different tasks are simply different</a:t>
              </a:r>
            </a:p>
          </p:txBody>
        </p:sp>
        <p:sp>
          <p:nvSpPr>
            <p:cNvPr id="49" name="TextBox 49"/>
            <p:cNvSpPr txBox="1"/>
            <p:nvPr/>
          </p:nvSpPr>
          <p:spPr>
            <a:xfrm>
              <a:off x="7881176" y="3797379"/>
              <a:ext cx="230746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masking patterns over the same</a:t>
              </a:r>
            </a:p>
          </p:txBody>
        </p:sp>
        <p:sp>
          <p:nvSpPr>
            <p:cNvPr id="50" name="TextBox 50"/>
            <p:cNvSpPr txBox="1"/>
            <p:nvPr/>
          </p:nvSpPr>
          <p:spPr>
            <a:xfrm>
              <a:off x="7881176" y="4016454"/>
              <a:ext cx="159579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trajectory of tokens.</a:t>
              </a:r>
            </a:p>
          </p:txBody>
        </p:sp>
      </p:grpSp>
      <p:sp>
        <p:nvSpPr>
          <p:cNvPr id="52" name="Line 52"/>
          <p:cNvSpPr/>
          <p:nvPr/>
        </p:nvSpPr>
        <p:spPr>
          <a:xfrm>
            <a:off x="609600" y="4686300"/>
            <a:ext cx="10972800" cy="9525"/>
          </a:xfrm>
          <a:custGeom>
            <a:avLst/>
            <a:gdLst/>
            <a:ahLst/>
            <a:cxnLst/>
            <a:rect l="l" t="t" r="r" b="b"/>
            <a:pathLst>
              <a:path w="10972800" h="9525">
                <a:moveTo>
                  <a:pt x="0" y="0"/>
                </a:moveTo>
                <a:lnTo>
                  <a:pt x="10972800" y="0"/>
                </a:lnTo>
              </a:path>
            </a:pathLst>
          </a:custGeom>
          <a:noFill/>
          <a:ln w="9525" cap="rnd">
            <a:solidFill>
              <a:srgbClr val="2B3D5A"/>
            </a:solidFill>
          </a:ln>
        </p:spPr>
        <p:txBody>
          <a:bodyPr/>
          <a:p/>
        </p:txBody>
      </p:sp>
      <p:sp>
        <p:nvSpPr>
          <p:cNvPr id="53" name="TextBox 53"/>
          <p:cNvSpPr txBox="1"/>
          <p:nvPr/>
        </p:nvSpPr>
        <p:spPr>
          <a:xfrm>
            <a:off x="604076" y="4892754"/>
            <a:ext cx="5947931" cy="212693"/>
          </a:xfrm>
          <a:prstGeom prst="rect">
            <a:avLst/>
          </a:prstGeom>
          <a:noFill/>
          <a:ln>
            <a:noFill/>
          </a:ln>
        </p:spPr>
        <p:txBody>
          <a:bodyPr wrap="none" lIns="0" tIns="0" rIns="0" bIns="0" anchor="t" anchorCtr="0">
            <a:spAutoFit/>
          </a:bodyPr>
          <a:lstStyle/>
          <a:p>
            <a:pPr algn="l"/>
            <a:r>
              <a:rPr lang="en-US" sz="1090" b="1" dirty="0">
                <a:solidFill>
                  <a:srgbClr val="A487F0"/>
                </a:solidFill>
                <a:latin typeface="+mn-lt"/>
                <a:ea typeface="+mn-ea"/>
                <a:cs typeface="+mn-cs"/>
              </a:rPr>
              <a:t>Insight: decision-making inferences are different maskings of one trajectory.</a:t>
            </a:r>
          </a:p>
        </p:txBody>
      </p:sp>
      <p:sp>
        <p:nvSpPr>
          <p:cNvPr id="54" name="cue_s03_c1_masked_language_modeling_technique_b" title="cue_s03_c1_masked_language_modeling_technique_b" descr="cue_s03_c1_masked_language_modeling_technique_b Masked language modeling, the technique behind BERT, trains models to predict randomly masked tokens in a sequence, producing rich bidirectional representations that transfer to many tasks."/>
          <p:cNvSpPr/>
          <p:nvPr/>
        </p:nvSpPr>
        <p:spPr>
          <a:xfrm>
            <a:off x="609600" y="1428521"/>
            <a:ext cx="5334000" cy="1673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3_c2_authors_observe_idea_maps_directly" title="cue_s03_c2_authors_observe_idea_maps_directly" descr="cue_s03_c2_authors_observe_idea_maps_directly The authors observe that this idea maps directly onto decision making."/>
          <p:cNvSpPr/>
          <p:nvPr/>
        </p:nvSpPr>
        <p:spPr>
          <a:xfrm>
            <a:off x="6171590" y="1428521"/>
            <a:ext cx="5409590" cy="1673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3_c3_you_treat_states_actions_tokens" title="cue_s03_c3_you_treat_states_actions_tokens" descr="cue_s03_c3_you_treat_states_actions_tokens If you treat states and actions as tokens and mask the last action, predicting it is exactly a behavior cloning inference."/>
          <p:cNvSpPr/>
          <p:nvPr/>
        </p:nvSpPr>
        <p:spPr>
          <a:xfrm>
            <a:off x="609600" y="3029178"/>
            <a:ext cx="6858000"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3_c4_different_tasks_simply_different_mas" title="cue_s03_c4_different_tasks_simply_different_mas" descr="cue_s03_c4_different_tasks_simply_different_mas Different tasks are simply different masking patterns over the same trajectory, so a single masked-prediction objective can, in principle, express them all."/>
          <p:cNvSpPr/>
          <p:nvPr/>
        </p:nvSpPr>
        <p:spPr>
          <a:xfrm>
            <a:off x="7620000" y="3029178"/>
            <a:ext cx="3962400"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629730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Uni[MASK]: inference tasks as maskings</a:t>
            </a:r>
          </a:p>
        </p:txBody>
      </p:sp>
      <p:grpSp>
        <p:nvGrpSpPr>
          <p:cNvPr id="11" name="Group 11"/>
          <p:cNvGrpSpPr/>
          <p:nvPr/>
        </p:nvGrpSpPr>
        <p:grpSpPr>
          <a:xfrm>
            <a:off x="609600" y="1447800"/>
            <a:ext cx="10972800" cy="952547"/>
            <a:chOff x="609600" y="1447800"/>
            <a:chExt cx="10972800" cy="952547"/>
          </a:xfrm>
        </p:grpSpPr>
        <p:sp>
          <p:nvSpPr>
            <p:cNvPr id="5" name="Rectangle 5"/>
            <p:cNvSpPr/>
            <p:nvPr/>
          </p:nvSpPr>
          <p:spPr>
            <a:xfrm>
              <a:off x="609600" y="1447800"/>
              <a:ext cx="10972800" cy="952500"/>
            </a:xfrm>
            <a:prstGeom prst="roundRect">
              <a:avLst>
                <a:gd name="adj" fmla="val 14000"/>
              </a:avLst>
            </a:prstGeom>
            <a:solidFill>
              <a:schemeClr val="accent5"/>
            </a:solidFill>
            <a:ln w="14288">
              <a:solidFill>
                <a:srgbClr val="2B3D5A"/>
              </a:solidFill>
            </a:ln>
          </p:spPr>
        </p:sp>
        <p:sp>
          <p:nvSpPr>
            <p:cNvPr id="6" name="Rectangle 6"/>
            <p:cNvSpPr/>
            <p:nvPr/>
          </p:nvSpPr>
          <p:spPr>
            <a:xfrm>
              <a:off x="609600" y="1447800"/>
              <a:ext cx="57150" cy="952500"/>
            </a:xfrm>
            <a:prstGeom prst="roundRect">
              <a:avLst>
                <a:gd name="adj" fmla="val 50000"/>
              </a:avLst>
            </a:prstGeom>
            <a:solidFill>
              <a:schemeClr val="accent2"/>
            </a:solidFill>
            <a:ln>
              <a:noFill/>
            </a:ln>
          </p:spPr>
        </p:sp>
        <p:sp>
          <p:nvSpPr>
            <p:cNvPr id="7" name="Ellipse 7"/>
            <p:cNvSpPr/>
            <p:nvPr/>
          </p:nvSpPr>
          <p:spPr>
            <a:xfrm>
              <a:off x="971550" y="1828800"/>
              <a:ext cx="190500" cy="190500"/>
            </a:xfrm>
            <a:prstGeom prst="ellipse">
              <a:avLst/>
            </a:prstGeom>
            <a:solidFill>
              <a:schemeClr val="accent2"/>
            </a:solidFill>
            <a:ln>
              <a:noFill/>
            </a:ln>
          </p:spPr>
        </p:sp>
        <p:sp>
          <p:nvSpPr>
            <p:cNvPr id="8" name="TextBox 8"/>
            <p:cNvSpPr txBox="1"/>
            <p:nvPr/>
          </p:nvSpPr>
          <p:spPr>
            <a:xfrm>
              <a:off x="1421892" y="1683068"/>
              <a:ext cx="200452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unifying framework</a:t>
              </a:r>
            </a:p>
          </p:txBody>
        </p:sp>
        <p:sp>
          <p:nvSpPr>
            <p:cNvPr id="9" name="TextBox 9"/>
            <p:cNvSpPr txBox="1"/>
            <p:nvPr/>
          </p:nvSpPr>
          <p:spPr>
            <a:xfrm>
              <a:off x="1423225" y="1978104"/>
              <a:ext cx="723568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Cast each inference task as a masking scheme over a trajectory of state, action, and reward-to-go</a:t>
              </a:r>
            </a:p>
          </p:txBody>
        </p:sp>
        <p:sp>
          <p:nvSpPr>
            <p:cNvPr id="10" name="TextBox 10"/>
            <p:cNvSpPr txBox="1"/>
            <p:nvPr/>
          </p:nvSpPr>
          <p:spPr>
            <a:xfrm>
              <a:off x="1423225" y="2187654"/>
              <a:ext cx="5759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tokens.</a:t>
              </a:r>
            </a:p>
          </p:txBody>
        </p:sp>
      </p:grpSp>
      <p:grpSp>
        <p:nvGrpSpPr>
          <p:cNvPr id="18" name="Group 18"/>
          <p:cNvGrpSpPr/>
          <p:nvPr/>
        </p:nvGrpSpPr>
        <p:grpSpPr>
          <a:xfrm>
            <a:off x="609600" y="2524125"/>
            <a:ext cx="10972800" cy="952547"/>
            <a:chOff x="609600" y="2524125"/>
            <a:chExt cx="10972800" cy="952547"/>
          </a:xfrm>
        </p:grpSpPr>
        <p:sp>
          <p:nvSpPr>
            <p:cNvPr id="12" name="Rectangle 12"/>
            <p:cNvSpPr/>
            <p:nvPr/>
          </p:nvSpPr>
          <p:spPr>
            <a:xfrm>
              <a:off x="609600" y="2524125"/>
              <a:ext cx="10972800" cy="952500"/>
            </a:xfrm>
            <a:prstGeom prst="roundRect">
              <a:avLst>
                <a:gd name="adj" fmla="val 14000"/>
              </a:avLst>
            </a:prstGeom>
            <a:solidFill>
              <a:schemeClr val="accent5"/>
            </a:solidFill>
            <a:ln w="14288">
              <a:solidFill>
                <a:srgbClr val="2B3D5A"/>
              </a:solidFill>
            </a:ln>
          </p:spPr>
        </p:sp>
        <p:sp>
          <p:nvSpPr>
            <p:cNvPr id="13" name="Rectangle 13"/>
            <p:cNvSpPr/>
            <p:nvPr/>
          </p:nvSpPr>
          <p:spPr>
            <a:xfrm>
              <a:off x="609600" y="2524125"/>
              <a:ext cx="57150" cy="952500"/>
            </a:xfrm>
            <a:prstGeom prst="roundRect">
              <a:avLst>
                <a:gd name="adj" fmla="val 50000"/>
              </a:avLst>
            </a:prstGeom>
            <a:solidFill>
              <a:srgbClr val="35D0C4"/>
            </a:solidFill>
            <a:ln>
              <a:noFill/>
            </a:ln>
          </p:spPr>
        </p:sp>
        <p:sp>
          <p:nvSpPr>
            <p:cNvPr id="14" name="Ellipse 14"/>
            <p:cNvSpPr/>
            <p:nvPr/>
          </p:nvSpPr>
          <p:spPr>
            <a:xfrm>
              <a:off x="971550" y="2905125"/>
              <a:ext cx="190500" cy="190500"/>
            </a:xfrm>
            <a:prstGeom prst="ellipse">
              <a:avLst/>
            </a:prstGeom>
            <a:solidFill>
              <a:srgbClr val="35D0C4"/>
            </a:solidFill>
            <a:ln>
              <a:noFill/>
            </a:ln>
          </p:spPr>
        </p:sp>
        <p:sp>
          <p:nvSpPr>
            <p:cNvPr id="15" name="TextBox 15"/>
            <p:cNvSpPr txBox="1"/>
            <p:nvPr/>
          </p:nvSpPr>
          <p:spPr>
            <a:xfrm>
              <a:off x="1421892" y="2759392"/>
              <a:ext cx="214848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One model, many tasks</a:t>
              </a:r>
            </a:p>
          </p:txBody>
        </p:sp>
        <p:sp>
          <p:nvSpPr>
            <p:cNvPr id="16" name="TextBox 16"/>
            <p:cNvSpPr txBox="1"/>
            <p:nvPr/>
          </p:nvSpPr>
          <p:spPr>
            <a:xfrm>
              <a:off x="1423225" y="3054429"/>
              <a:ext cx="69345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Because tasks are just maskings, a single model trains on behavior cloning, reward conditioning,</a:t>
              </a:r>
            </a:p>
          </p:txBody>
        </p:sp>
        <p:sp>
          <p:nvSpPr>
            <p:cNvPr id="17" name="TextBox 17"/>
            <p:cNvSpPr txBox="1"/>
            <p:nvPr/>
          </p:nvSpPr>
          <p:spPr>
            <a:xfrm>
              <a:off x="1423225" y="3263979"/>
              <a:ext cx="382618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dynamics, and goal / waypoint conditioning together.</a:t>
              </a:r>
            </a:p>
          </p:txBody>
        </p:sp>
      </p:grpSp>
      <p:grpSp>
        <p:nvGrpSpPr>
          <p:cNvPr id="25" name="Group 25"/>
          <p:cNvGrpSpPr/>
          <p:nvPr/>
        </p:nvGrpSpPr>
        <p:grpSpPr>
          <a:xfrm>
            <a:off x="609600" y="3600450"/>
            <a:ext cx="10972800" cy="952547"/>
            <a:chOff x="609600" y="3600450"/>
            <a:chExt cx="10972800" cy="952547"/>
          </a:xfrm>
        </p:grpSpPr>
        <p:sp>
          <p:nvSpPr>
            <p:cNvPr id="19" name="Rectangle 19"/>
            <p:cNvSpPr/>
            <p:nvPr/>
          </p:nvSpPr>
          <p:spPr>
            <a:xfrm>
              <a:off x="609600" y="3600450"/>
              <a:ext cx="10972800" cy="952500"/>
            </a:xfrm>
            <a:prstGeom prst="roundRect">
              <a:avLst>
                <a:gd name="adj" fmla="val 14000"/>
              </a:avLst>
            </a:prstGeom>
            <a:solidFill>
              <a:schemeClr val="accent5"/>
            </a:solidFill>
            <a:ln w="14288">
              <a:solidFill>
                <a:srgbClr val="2B3D5A"/>
              </a:solidFill>
            </a:ln>
          </p:spPr>
        </p:sp>
        <p:sp>
          <p:nvSpPr>
            <p:cNvPr id="20" name="Rectangle 20"/>
            <p:cNvSpPr/>
            <p:nvPr/>
          </p:nvSpPr>
          <p:spPr>
            <a:xfrm>
              <a:off x="609600" y="3600450"/>
              <a:ext cx="57150" cy="952500"/>
            </a:xfrm>
            <a:prstGeom prst="roundRect">
              <a:avLst>
                <a:gd name="adj" fmla="val 50000"/>
              </a:avLst>
            </a:prstGeom>
            <a:solidFill>
              <a:srgbClr val="45C88A"/>
            </a:solidFill>
            <a:ln>
              <a:noFill/>
            </a:ln>
          </p:spPr>
        </p:sp>
        <p:sp>
          <p:nvSpPr>
            <p:cNvPr id="21" name="Ellipse 21"/>
            <p:cNvSpPr/>
            <p:nvPr/>
          </p:nvSpPr>
          <p:spPr>
            <a:xfrm>
              <a:off x="971550" y="3981450"/>
              <a:ext cx="190500" cy="190500"/>
            </a:xfrm>
            <a:prstGeom prst="ellipse">
              <a:avLst/>
            </a:prstGeom>
            <a:solidFill>
              <a:srgbClr val="45C88A"/>
            </a:solidFill>
            <a:ln>
              <a:noFill/>
            </a:ln>
          </p:spPr>
        </p:sp>
        <p:sp>
          <p:nvSpPr>
            <p:cNvPr id="22" name="TextBox 22"/>
            <p:cNvSpPr txBox="1"/>
            <p:nvPr/>
          </p:nvSpPr>
          <p:spPr>
            <a:xfrm>
              <a:off x="1421892" y="3835718"/>
              <a:ext cx="281537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Matches and beats specialists</a:t>
              </a:r>
            </a:p>
          </p:txBody>
        </p:sp>
        <p:sp>
          <p:nvSpPr>
            <p:cNvPr id="23" name="TextBox 23"/>
            <p:cNvSpPr txBox="1"/>
            <p:nvPr/>
          </p:nvSpPr>
          <p:spPr>
            <a:xfrm>
              <a:off x="1423225" y="4130754"/>
              <a:ext cx="69197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single model often matches or exceeds specialized single-task models, and consistently wins</a:t>
              </a:r>
            </a:p>
          </p:txBody>
        </p:sp>
        <p:sp>
          <p:nvSpPr>
            <p:cNvPr id="24" name="TextBox 24"/>
            <p:cNvSpPr txBox="1"/>
            <p:nvPr/>
          </p:nvSpPr>
          <p:spPr>
            <a:xfrm>
              <a:off x="1423225" y="4340304"/>
              <a:ext cx="13536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after fine-tuning.</a:t>
              </a:r>
            </a:p>
          </p:txBody>
        </p:sp>
      </p:grpSp>
      <p:grpSp>
        <p:nvGrpSpPr>
          <p:cNvPr id="31" name="Group 31"/>
          <p:cNvGrpSpPr/>
          <p:nvPr/>
        </p:nvGrpSpPr>
        <p:grpSpPr>
          <a:xfrm>
            <a:off x="609600" y="4676775"/>
            <a:ext cx="10972800" cy="952500"/>
            <a:chOff x="609600" y="4676775"/>
            <a:chExt cx="10972800" cy="952500"/>
          </a:xfrm>
        </p:grpSpPr>
        <p:sp>
          <p:nvSpPr>
            <p:cNvPr id="26" name="Rectangle 26"/>
            <p:cNvSpPr/>
            <p:nvPr/>
          </p:nvSpPr>
          <p:spPr>
            <a:xfrm>
              <a:off x="609600" y="4676775"/>
              <a:ext cx="10972800" cy="952500"/>
            </a:xfrm>
            <a:prstGeom prst="roundRect">
              <a:avLst>
                <a:gd name="adj" fmla="val 14000"/>
              </a:avLst>
            </a:prstGeom>
            <a:solidFill>
              <a:schemeClr val="accent5"/>
            </a:solidFill>
            <a:ln w="14288">
              <a:solidFill>
                <a:srgbClr val="2B3D5A"/>
              </a:solidFill>
            </a:ln>
          </p:spPr>
        </p:sp>
        <p:sp>
          <p:nvSpPr>
            <p:cNvPr id="27" name="Rectangle 27"/>
            <p:cNvSpPr/>
            <p:nvPr/>
          </p:nvSpPr>
          <p:spPr>
            <a:xfrm>
              <a:off x="609600" y="4676775"/>
              <a:ext cx="57150" cy="952500"/>
            </a:xfrm>
            <a:prstGeom prst="roundRect">
              <a:avLst>
                <a:gd name="adj" fmla="val 50000"/>
              </a:avLst>
            </a:prstGeom>
            <a:solidFill>
              <a:srgbClr val="F3C24B"/>
            </a:solidFill>
            <a:ln>
              <a:noFill/>
            </a:ln>
          </p:spPr>
        </p:sp>
        <p:sp>
          <p:nvSpPr>
            <p:cNvPr id="28" name="Ellipse 28"/>
            <p:cNvSpPr/>
            <p:nvPr/>
          </p:nvSpPr>
          <p:spPr>
            <a:xfrm>
              <a:off x="971550" y="5057775"/>
              <a:ext cx="190500" cy="190500"/>
            </a:xfrm>
            <a:prstGeom prst="ellipse">
              <a:avLst/>
            </a:prstGeom>
            <a:solidFill>
              <a:srgbClr val="F3C24B"/>
            </a:solidFill>
            <a:ln>
              <a:noFill/>
            </a:ln>
          </p:spPr>
        </p:sp>
        <p:sp>
          <p:nvSpPr>
            <p:cNvPr id="29" name="TextBox 29"/>
            <p:cNvSpPr txBox="1"/>
            <p:nvPr/>
          </p:nvSpPr>
          <p:spPr>
            <a:xfrm>
              <a:off x="1421892" y="4912042"/>
              <a:ext cx="200262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Decision-GPT baseline</a:t>
              </a:r>
            </a:p>
          </p:txBody>
        </p:sp>
        <p:sp>
          <p:nvSpPr>
            <p:cNvPr id="30" name="TextBox 30"/>
            <p:cNvSpPr txBox="1"/>
            <p:nvPr/>
          </p:nvSpPr>
          <p:spPr>
            <a:xfrm>
              <a:off x="1423225" y="5207079"/>
              <a:ext cx="723442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Along the way, the authors introduce Decision-GPT, an improved GPT-based baseline for comparison.</a:t>
              </a:r>
            </a:p>
          </p:txBody>
        </p:sp>
      </p:grpSp>
      <p:sp>
        <p:nvSpPr>
          <p:cNvPr id="32" name="TextBox 32"/>
          <p:cNvSpPr txBox="1"/>
          <p:nvPr/>
        </p:nvSpPr>
        <p:spPr>
          <a:xfrm>
            <a:off x="604076" y="5845254"/>
            <a:ext cx="4499849" cy="212693"/>
          </a:xfrm>
          <a:prstGeom prst="rect">
            <a:avLst/>
          </a:prstGeom>
          <a:noFill/>
          <a:ln>
            <a:noFill/>
          </a:ln>
        </p:spPr>
        <p:txBody>
          <a:bodyPr wrap="none" lIns="0" tIns="0" rIns="0" bIns="0" anchor="t" anchorCtr="0">
            <a:spAutoFit/>
          </a:bodyPr>
          <a:lstStyle/>
          <a:p>
            <a:pPr algn="l"/>
            <a:r>
              <a:rPr lang="en-US" sz="1090" b="1" dirty="0">
                <a:solidFill>
                  <a:schemeClr val="accent2"/>
                </a:solidFill>
                <a:latin typeface="+mn-lt"/>
                <a:ea typeface="+mn-ea"/>
                <a:cs typeface="+mn-cs"/>
              </a:rPr>
              <a:t>A single masked model replaces a zoo of task-specific ones.</a:t>
            </a:r>
          </a:p>
        </p:txBody>
      </p:sp>
      <p:sp>
        <p:nvSpPr>
          <p:cNvPr id="33" name="cue_s04_c1_main_contribution_uni_mask_framework" title="cue_s04_c1_main_contribution_uni_mask_framework" descr="cue_s04_c1_main_contribution_uni_mask_framework The main contribution is the Uni-MASK framework, a unified way to specify models for sequential decision making by casting each inference task as a masking scheme over a trajectory of states, actions, and reward-to-go tokens."/>
          <p:cNvSpPr/>
          <p:nvPr/>
        </p:nvSpPr>
        <p:spPr>
          <a:xfrm>
            <a:off x="609600" y="1447723"/>
            <a:ext cx="109728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4_c2_because_tasks_just_maskings_single" title="cue_s04_c2_because_tasks_just_maskings_single" descr="cue_s04_c2_because_tasks_just_maskings_single Because tasks are just maskings, a single model can be trained to perform behavior cloning, reward conditioning, dynamics modeling, and goal or waypoint conditioning together."/>
          <p:cNvSpPr/>
          <p:nvPr/>
        </p:nvSpPr>
        <p:spPr>
          <a:xfrm>
            <a:off x="609600" y="2524429"/>
            <a:ext cx="109728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3_authors_show_single_often_matches" title="cue_s04_c3_authors_show_single_often_matches" descr="cue_s04_c3_authors_show_single_often_matches The authors show this single model often matches or exceeds specialized single-task models, and consistently outperforms them after fine-tuning."/>
          <p:cNvSpPr/>
          <p:nvPr/>
        </p:nvSpPr>
        <p:spPr>
          <a:xfrm>
            <a:off x="609600" y="3600450"/>
            <a:ext cx="109728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4_along_way_they_also_introduce" title="cue_s04_c4_along_way_they_also_introduce" descr="cue_s04_c4_along_way_they_also_introduce Along the way they also introduce Decision-GPT, an improved GPT-based baseline."/>
          <p:cNvSpPr/>
          <p:nvPr/>
        </p:nvSpPr>
        <p:spPr>
          <a:xfrm>
            <a:off x="609600" y="4676470"/>
            <a:ext cx="109728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556755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Tokenize the trajectory, then mask</a:t>
            </a:r>
          </a:p>
        </p:txBody>
      </p:sp>
      <p:grpSp>
        <p:nvGrpSpPr>
          <p:cNvPr id="36" name="Group 36"/>
          <p:cNvGrpSpPr/>
          <p:nvPr/>
        </p:nvGrpSpPr>
        <p:grpSpPr>
          <a:xfrm>
            <a:off x="609600" y="1409700"/>
            <a:ext cx="10972800" cy="1263253"/>
            <a:chOff x="609600" y="1409700"/>
            <a:chExt cx="10972800" cy="1263253"/>
          </a:xfrm>
        </p:grpSpPr>
        <p:sp>
          <p:nvSpPr>
            <p:cNvPr id="5" name="Rectangle 5"/>
            <p:cNvSpPr/>
            <p:nvPr/>
          </p:nvSpPr>
          <p:spPr>
            <a:xfrm>
              <a:off x="609600" y="1409700"/>
              <a:ext cx="10972800" cy="1257300"/>
            </a:xfrm>
            <a:prstGeom prst="roundRect">
              <a:avLst>
                <a:gd name="adj" fmla="val 10606"/>
              </a:avLst>
            </a:prstGeom>
            <a:solidFill>
              <a:schemeClr val="accent5"/>
            </a:solidFill>
            <a:ln w="14288">
              <a:solidFill>
                <a:srgbClr val="2B3D5A"/>
              </a:solidFill>
            </a:ln>
          </p:spPr>
        </p:sp>
        <p:sp>
          <p:nvSpPr>
            <p:cNvPr id="6" name="Rectangle 6"/>
            <p:cNvSpPr/>
            <p:nvPr/>
          </p:nvSpPr>
          <p:spPr>
            <a:xfrm>
              <a:off x="609600" y="1409700"/>
              <a:ext cx="57150" cy="1257300"/>
            </a:xfrm>
            <a:prstGeom prst="roundRect">
              <a:avLst>
                <a:gd name="adj" fmla="val 50000"/>
              </a:avLst>
            </a:prstGeom>
            <a:solidFill>
              <a:schemeClr val="accent2"/>
            </a:solidFill>
            <a:ln>
              <a:noFill/>
            </a:ln>
          </p:spPr>
        </p:sp>
        <p:sp>
          <p:nvSpPr>
            <p:cNvPr id="7" name="TextBox 7"/>
            <p:cNvSpPr txBox="1"/>
            <p:nvPr/>
          </p:nvSpPr>
          <p:spPr>
            <a:xfrm>
              <a:off x="870204" y="1604010"/>
              <a:ext cx="7083163"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A trajectory becomes per-timestep tokens: state, action, property (return-to-go)</a:t>
              </a:r>
            </a:p>
          </p:txBody>
        </p:sp>
        <p:sp>
          <p:nvSpPr>
            <p:cNvPr id="8" name="Rectangle 8"/>
            <p:cNvSpPr/>
            <p:nvPr/>
          </p:nvSpPr>
          <p:spPr>
            <a:xfrm>
              <a:off x="952500" y="1943100"/>
              <a:ext cx="400050" cy="323850"/>
            </a:xfrm>
            <a:prstGeom prst="roundRect">
              <a:avLst>
                <a:gd name="adj" fmla="val 17647"/>
              </a:avLst>
            </a:prstGeom>
            <a:solidFill>
              <a:schemeClr val="accent6"/>
            </a:solidFill>
            <a:ln w="13335">
              <a:solidFill>
                <a:srgbClr val="35D0C4"/>
              </a:solidFill>
            </a:ln>
          </p:spPr>
        </p:sp>
        <p:sp>
          <p:nvSpPr>
            <p:cNvPr id="9" name="TextBox 9"/>
            <p:cNvSpPr txBox="1"/>
            <p:nvPr/>
          </p:nvSpPr>
          <p:spPr>
            <a:xfrm>
              <a:off x="1071384" y="2051590"/>
              <a:ext cx="162282" cy="190690"/>
            </a:xfrm>
            <a:prstGeom prst="rect">
              <a:avLst/>
            </a:prstGeom>
            <a:noFill/>
            <a:ln>
              <a:noFill/>
            </a:ln>
          </p:spPr>
          <p:txBody>
            <a:bodyPr wrap="none" lIns="0" tIns="0" rIns="0" bIns="0" anchor="t" anchorCtr="0">
              <a:spAutoFit/>
            </a:bodyPr>
            <a:lstStyle/>
            <a:p>
              <a:pPr algn="ctr"/>
              <a:r>
                <a:rPr lang="en-US" sz="980" b="1" dirty="0">
                  <a:solidFill>
                    <a:srgbClr val="35D0C4"/>
                  </a:solidFill>
                  <a:latin typeface="Consolas"/>
                  <a:ea typeface="Consolas"/>
                  <a:cs typeface="Consolas"/>
                </a:rPr>
                <a:t>s0</a:t>
              </a:r>
            </a:p>
          </p:txBody>
        </p:sp>
        <p:sp>
          <p:nvSpPr>
            <p:cNvPr id="10" name="Rectangle 10"/>
            <p:cNvSpPr/>
            <p:nvPr/>
          </p:nvSpPr>
          <p:spPr>
            <a:xfrm>
              <a:off x="1390650" y="1943100"/>
              <a:ext cx="400050" cy="323850"/>
            </a:xfrm>
            <a:prstGeom prst="roundRect">
              <a:avLst>
                <a:gd name="adj" fmla="val 17647"/>
              </a:avLst>
            </a:prstGeom>
            <a:solidFill>
              <a:schemeClr val="accent6"/>
            </a:solidFill>
            <a:ln w="13335">
              <a:solidFill>
                <a:srgbClr val="F3C24B"/>
              </a:solidFill>
            </a:ln>
          </p:spPr>
        </p:sp>
        <p:sp>
          <p:nvSpPr>
            <p:cNvPr id="11" name="TextBox 11"/>
            <p:cNvSpPr txBox="1"/>
            <p:nvPr/>
          </p:nvSpPr>
          <p:spPr>
            <a:xfrm>
              <a:off x="1509534" y="2051590"/>
              <a:ext cx="162282" cy="190690"/>
            </a:xfrm>
            <a:prstGeom prst="rect">
              <a:avLst/>
            </a:prstGeom>
            <a:noFill/>
            <a:ln>
              <a:noFill/>
            </a:ln>
          </p:spPr>
          <p:txBody>
            <a:bodyPr wrap="none" lIns="0" tIns="0" rIns="0" bIns="0" anchor="t" anchorCtr="0">
              <a:spAutoFit/>
            </a:bodyPr>
            <a:lstStyle/>
            <a:p>
              <a:pPr algn="ctr"/>
              <a:r>
                <a:rPr lang="en-US" sz="980" b="1" dirty="0">
                  <a:solidFill>
                    <a:srgbClr val="F3C24B"/>
                  </a:solidFill>
                  <a:latin typeface="Consolas"/>
                  <a:ea typeface="Consolas"/>
                  <a:cs typeface="Consolas"/>
                </a:rPr>
                <a:t>a0</a:t>
              </a:r>
            </a:p>
          </p:txBody>
        </p:sp>
        <p:sp>
          <p:nvSpPr>
            <p:cNvPr id="12" name="Rectangle 12"/>
            <p:cNvSpPr/>
            <p:nvPr/>
          </p:nvSpPr>
          <p:spPr>
            <a:xfrm>
              <a:off x="1828800" y="1943100"/>
              <a:ext cx="400050" cy="323850"/>
            </a:xfrm>
            <a:prstGeom prst="roundRect">
              <a:avLst>
                <a:gd name="adj" fmla="val 17647"/>
              </a:avLst>
            </a:prstGeom>
            <a:solidFill>
              <a:schemeClr val="accent6"/>
            </a:solidFill>
            <a:ln w="13335">
              <a:solidFill>
                <a:srgbClr val="A487F0"/>
              </a:solidFill>
            </a:ln>
          </p:spPr>
        </p:sp>
        <p:sp>
          <p:nvSpPr>
            <p:cNvPr id="13" name="TextBox 13"/>
            <p:cNvSpPr txBox="1"/>
            <p:nvPr/>
          </p:nvSpPr>
          <p:spPr>
            <a:xfrm>
              <a:off x="1947684" y="2051590"/>
              <a:ext cx="162282" cy="190690"/>
            </a:xfrm>
            <a:prstGeom prst="rect">
              <a:avLst/>
            </a:prstGeom>
            <a:noFill/>
            <a:ln>
              <a:noFill/>
            </a:ln>
          </p:spPr>
          <p:txBody>
            <a:bodyPr wrap="none" lIns="0" tIns="0" rIns="0" bIns="0" anchor="t" anchorCtr="0">
              <a:spAutoFit/>
            </a:bodyPr>
            <a:lstStyle/>
            <a:p>
              <a:pPr algn="ctr"/>
              <a:r>
                <a:rPr lang="en-US" sz="980" b="1" dirty="0">
                  <a:solidFill>
                    <a:srgbClr val="A487F0"/>
                  </a:solidFill>
                  <a:latin typeface="Consolas"/>
                  <a:ea typeface="Consolas"/>
                  <a:cs typeface="Consolas"/>
                </a:rPr>
                <a:t>p0</a:t>
              </a:r>
            </a:p>
          </p:txBody>
        </p:sp>
        <p:sp>
          <p:nvSpPr>
            <p:cNvPr id="14" name="Rectangle 14"/>
            <p:cNvSpPr/>
            <p:nvPr/>
          </p:nvSpPr>
          <p:spPr>
            <a:xfrm>
              <a:off x="2266950" y="1943100"/>
              <a:ext cx="400050" cy="323850"/>
            </a:xfrm>
            <a:prstGeom prst="roundRect">
              <a:avLst>
                <a:gd name="adj" fmla="val 17647"/>
              </a:avLst>
            </a:prstGeom>
            <a:solidFill>
              <a:schemeClr val="accent6"/>
            </a:solidFill>
            <a:ln w="13335">
              <a:solidFill>
                <a:srgbClr val="35D0C4"/>
              </a:solidFill>
            </a:ln>
          </p:spPr>
        </p:sp>
        <p:sp>
          <p:nvSpPr>
            <p:cNvPr id="15" name="TextBox 15"/>
            <p:cNvSpPr txBox="1"/>
            <p:nvPr/>
          </p:nvSpPr>
          <p:spPr>
            <a:xfrm>
              <a:off x="2385834" y="2051590"/>
              <a:ext cx="162282" cy="190690"/>
            </a:xfrm>
            <a:prstGeom prst="rect">
              <a:avLst/>
            </a:prstGeom>
            <a:noFill/>
            <a:ln>
              <a:noFill/>
            </a:ln>
          </p:spPr>
          <p:txBody>
            <a:bodyPr wrap="none" lIns="0" tIns="0" rIns="0" bIns="0" anchor="t" anchorCtr="0">
              <a:spAutoFit/>
            </a:bodyPr>
            <a:lstStyle/>
            <a:p>
              <a:pPr algn="ctr"/>
              <a:r>
                <a:rPr lang="en-US" sz="980" b="1" dirty="0">
                  <a:solidFill>
                    <a:srgbClr val="35D0C4"/>
                  </a:solidFill>
                  <a:latin typeface="Consolas"/>
                  <a:ea typeface="Consolas"/>
                  <a:cs typeface="Consolas"/>
                </a:rPr>
                <a:t>s1</a:t>
              </a:r>
            </a:p>
          </p:txBody>
        </p:sp>
        <p:sp>
          <p:nvSpPr>
            <p:cNvPr id="16" name="Rectangle 16"/>
            <p:cNvSpPr/>
            <p:nvPr/>
          </p:nvSpPr>
          <p:spPr>
            <a:xfrm>
              <a:off x="2705100" y="1943100"/>
              <a:ext cx="400050" cy="323850"/>
            </a:xfrm>
            <a:prstGeom prst="roundRect">
              <a:avLst>
                <a:gd name="adj" fmla="val 17647"/>
              </a:avLst>
            </a:prstGeom>
            <a:solidFill>
              <a:schemeClr val="accent6"/>
            </a:solidFill>
            <a:ln w="13335">
              <a:solidFill>
                <a:srgbClr val="F3C24B"/>
              </a:solidFill>
            </a:ln>
          </p:spPr>
        </p:sp>
        <p:sp>
          <p:nvSpPr>
            <p:cNvPr id="17" name="TextBox 17"/>
            <p:cNvSpPr txBox="1"/>
            <p:nvPr/>
          </p:nvSpPr>
          <p:spPr>
            <a:xfrm>
              <a:off x="2823984" y="2051590"/>
              <a:ext cx="162282" cy="190690"/>
            </a:xfrm>
            <a:prstGeom prst="rect">
              <a:avLst/>
            </a:prstGeom>
            <a:noFill/>
            <a:ln>
              <a:noFill/>
            </a:ln>
          </p:spPr>
          <p:txBody>
            <a:bodyPr wrap="none" lIns="0" tIns="0" rIns="0" bIns="0" anchor="t" anchorCtr="0">
              <a:spAutoFit/>
            </a:bodyPr>
            <a:lstStyle/>
            <a:p>
              <a:pPr algn="ctr"/>
              <a:r>
                <a:rPr lang="en-US" sz="980" b="1" dirty="0">
                  <a:solidFill>
                    <a:srgbClr val="F3C24B"/>
                  </a:solidFill>
                  <a:latin typeface="Consolas"/>
                  <a:ea typeface="Consolas"/>
                  <a:cs typeface="Consolas"/>
                </a:rPr>
                <a:t>a1</a:t>
              </a:r>
            </a:p>
          </p:txBody>
        </p:sp>
        <p:sp>
          <p:nvSpPr>
            <p:cNvPr id="18" name="Rectangle 18"/>
            <p:cNvSpPr/>
            <p:nvPr/>
          </p:nvSpPr>
          <p:spPr>
            <a:xfrm>
              <a:off x="3143250" y="1943100"/>
              <a:ext cx="400050" cy="323850"/>
            </a:xfrm>
            <a:prstGeom prst="roundRect">
              <a:avLst>
                <a:gd name="adj" fmla="val 17647"/>
              </a:avLst>
            </a:prstGeom>
            <a:solidFill>
              <a:schemeClr val="accent6"/>
            </a:solidFill>
            <a:ln w="13335">
              <a:solidFill>
                <a:srgbClr val="A487F0"/>
              </a:solidFill>
            </a:ln>
          </p:spPr>
        </p:sp>
        <p:sp>
          <p:nvSpPr>
            <p:cNvPr id="19" name="TextBox 19"/>
            <p:cNvSpPr txBox="1"/>
            <p:nvPr/>
          </p:nvSpPr>
          <p:spPr>
            <a:xfrm>
              <a:off x="3262134" y="2051590"/>
              <a:ext cx="162282" cy="190690"/>
            </a:xfrm>
            <a:prstGeom prst="rect">
              <a:avLst/>
            </a:prstGeom>
            <a:noFill/>
            <a:ln>
              <a:noFill/>
            </a:ln>
          </p:spPr>
          <p:txBody>
            <a:bodyPr wrap="none" lIns="0" tIns="0" rIns="0" bIns="0" anchor="t" anchorCtr="0">
              <a:spAutoFit/>
            </a:bodyPr>
            <a:lstStyle/>
            <a:p>
              <a:pPr algn="ctr"/>
              <a:r>
                <a:rPr lang="en-US" sz="980" b="1" dirty="0">
                  <a:solidFill>
                    <a:srgbClr val="A487F0"/>
                  </a:solidFill>
                  <a:latin typeface="Consolas"/>
                  <a:ea typeface="Consolas"/>
                  <a:cs typeface="Consolas"/>
                </a:rPr>
                <a:t>p1</a:t>
              </a:r>
            </a:p>
          </p:txBody>
        </p:sp>
        <p:sp>
          <p:nvSpPr>
            <p:cNvPr id="20" name="Rectangle 20"/>
            <p:cNvSpPr/>
            <p:nvPr/>
          </p:nvSpPr>
          <p:spPr>
            <a:xfrm>
              <a:off x="3581400" y="1943100"/>
              <a:ext cx="400050" cy="323850"/>
            </a:xfrm>
            <a:prstGeom prst="roundRect">
              <a:avLst>
                <a:gd name="adj" fmla="val 17647"/>
              </a:avLst>
            </a:prstGeom>
            <a:solidFill>
              <a:schemeClr val="accent6"/>
            </a:solidFill>
            <a:ln w="13335">
              <a:solidFill>
                <a:srgbClr val="35D0C4"/>
              </a:solidFill>
            </a:ln>
          </p:spPr>
        </p:sp>
        <p:sp>
          <p:nvSpPr>
            <p:cNvPr id="21" name="TextBox 21"/>
            <p:cNvSpPr txBox="1"/>
            <p:nvPr/>
          </p:nvSpPr>
          <p:spPr>
            <a:xfrm>
              <a:off x="3700284" y="2051590"/>
              <a:ext cx="162282" cy="190690"/>
            </a:xfrm>
            <a:prstGeom prst="rect">
              <a:avLst/>
            </a:prstGeom>
            <a:noFill/>
            <a:ln>
              <a:noFill/>
            </a:ln>
          </p:spPr>
          <p:txBody>
            <a:bodyPr wrap="none" lIns="0" tIns="0" rIns="0" bIns="0" anchor="t" anchorCtr="0">
              <a:spAutoFit/>
            </a:bodyPr>
            <a:lstStyle/>
            <a:p>
              <a:pPr algn="ctr"/>
              <a:r>
                <a:rPr lang="en-US" sz="980" b="1" dirty="0">
                  <a:solidFill>
                    <a:srgbClr val="35D0C4"/>
                  </a:solidFill>
                  <a:latin typeface="Consolas"/>
                  <a:ea typeface="Consolas"/>
                  <a:cs typeface="Consolas"/>
                </a:rPr>
                <a:t>s2</a:t>
              </a:r>
            </a:p>
          </p:txBody>
        </p:sp>
        <p:sp>
          <p:nvSpPr>
            <p:cNvPr id="22" name="Rectangle 22"/>
            <p:cNvSpPr/>
            <p:nvPr/>
          </p:nvSpPr>
          <p:spPr>
            <a:xfrm>
              <a:off x="4019550" y="1943100"/>
              <a:ext cx="400050" cy="323850"/>
            </a:xfrm>
            <a:prstGeom prst="roundRect">
              <a:avLst>
                <a:gd name="adj" fmla="val 17647"/>
              </a:avLst>
            </a:prstGeom>
            <a:solidFill>
              <a:schemeClr val="accent6"/>
            </a:solidFill>
            <a:ln w="13335">
              <a:solidFill>
                <a:srgbClr val="F3C24B"/>
              </a:solidFill>
            </a:ln>
          </p:spPr>
        </p:sp>
        <p:sp>
          <p:nvSpPr>
            <p:cNvPr id="23" name="TextBox 23"/>
            <p:cNvSpPr txBox="1"/>
            <p:nvPr/>
          </p:nvSpPr>
          <p:spPr>
            <a:xfrm>
              <a:off x="4138434" y="2051590"/>
              <a:ext cx="162282" cy="190690"/>
            </a:xfrm>
            <a:prstGeom prst="rect">
              <a:avLst/>
            </a:prstGeom>
            <a:noFill/>
            <a:ln>
              <a:noFill/>
            </a:ln>
          </p:spPr>
          <p:txBody>
            <a:bodyPr wrap="none" lIns="0" tIns="0" rIns="0" bIns="0" anchor="t" anchorCtr="0">
              <a:spAutoFit/>
            </a:bodyPr>
            <a:lstStyle/>
            <a:p>
              <a:pPr algn="ctr"/>
              <a:r>
                <a:rPr lang="en-US" sz="980" b="1" dirty="0">
                  <a:solidFill>
                    <a:srgbClr val="F3C24B"/>
                  </a:solidFill>
                  <a:latin typeface="Consolas"/>
                  <a:ea typeface="Consolas"/>
                  <a:cs typeface="Consolas"/>
                </a:rPr>
                <a:t>a2</a:t>
              </a:r>
            </a:p>
          </p:txBody>
        </p:sp>
        <p:sp>
          <p:nvSpPr>
            <p:cNvPr id="24" name="Rectangle 24"/>
            <p:cNvSpPr/>
            <p:nvPr/>
          </p:nvSpPr>
          <p:spPr>
            <a:xfrm>
              <a:off x="4457700" y="1943100"/>
              <a:ext cx="400050" cy="323850"/>
            </a:xfrm>
            <a:prstGeom prst="roundRect">
              <a:avLst>
                <a:gd name="adj" fmla="val 17647"/>
              </a:avLst>
            </a:prstGeom>
            <a:solidFill>
              <a:schemeClr val="accent6"/>
            </a:solidFill>
            <a:ln w="13335">
              <a:solidFill>
                <a:srgbClr val="A487F0"/>
              </a:solidFill>
            </a:ln>
          </p:spPr>
        </p:sp>
        <p:sp>
          <p:nvSpPr>
            <p:cNvPr id="25" name="TextBox 25"/>
            <p:cNvSpPr txBox="1"/>
            <p:nvPr/>
          </p:nvSpPr>
          <p:spPr>
            <a:xfrm>
              <a:off x="4576584" y="2051590"/>
              <a:ext cx="162282" cy="190690"/>
            </a:xfrm>
            <a:prstGeom prst="rect">
              <a:avLst/>
            </a:prstGeom>
            <a:noFill/>
            <a:ln>
              <a:noFill/>
            </a:ln>
          </p:spPr>
          <p:txBody>
            <a:bodyPr wrap="none" lIns="0" tIns="0" rIns="0" bIns="0" anchor="t" anchorCtr="0">
              <a:spAutoFit/>
            </a:bodyPr>
            <a:lstStyle/>
            <a:p>
              <a:pPr algn="ctr"/>
              <a:r>
                <a:rPr lang="en-US" sz="980" b="1" dirty="0">
                  <a:solidFill>
                    <a:srgbClr val="A487F0"/>
                  </a:solidFill>
                  <a:latin typeface="Consolas"/>
                  <a:ea typeface="Consolas"/>
                  <a:cs typeface="Consolas"/>
                </a:rPr>
                <a:t>p2</a:t>
              </a:r>
            </a:p>
          </p:txBody>
        </p:sp>
        <p:sp>
          <p:nvSpPr>
            <p:cNvPr id="26" name="TextBox 26"/>
            <p:cNvSpPr txBox="1"/>
            <p:nvPr/>
          </p:nvSpPr>
          <p:spPr>
            <a:xfrm>
              <a:off x="4874615" y="2025968"/>
              <a:ext cx="118669"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a:t>
              </a:r>
            </a:p>
          </p:txBody>
        </p:sp>
        <p:sp>
          <p:nvSpPr>
            <p:cNvPr id="27" name="Rectangle 27"/>
            <p:cNvSpPr/>
            <p:nvPr/>
          </p:nvSpPr>
          <p:spPr>
            <a:xfrm>
              <a:off x="5029200" y="1943100"/>
              <a:ext cx="400050" cy="323850"/>
            </a:xfrm>
            <a:prstGeom prst="roundRect">
              <a:avLst>
                <a:gd name="adj" fmla="val 17647"/>
              </a:avLst>
            </a:prstGeom>
            <a:solidFill>
              <a:schemeClr val="accent6"/>
            </a:solidFill>
            <a:ln w="13335">
              <a:solidFill>
                <a:srgbClr val="35D0C4"/>
              </a:solidFill>
            </a:ln>
          </p:spPr>
        </p:sp>
        <p:sp>
          <p:nvSpPr>
            <p:cNvPr id="28" name="TextBox 28"/>
            <p:cNvSpPr txBox="1"/>
            <p:nvPr/>
          </p:nvSpPr>
          <p:spPr>
            <a:xfrm>
              <a:off x="5145928" y="2051590"/>
              <a:ext cx="166595" cy="190690"/>
            </a:xfrm>
            <a:prstGeom prst="rect">
              <a:avLst/>
            </a:prstGeom>
            <a:noFill/>
            <a:ln>
              <a:noFill/>
            </a:ln>
          </p:spPr>
          <p:txBody>
            <a:bodyPr wrap="none" lIns="0" tIns="0" rIns="0" bIns="0" anchor="t" anchorCtr="0">
              <a:spAutoFit/>
            </a:bodyPr>
            <a:lstStyle/>
            <a:p>
              <a:pPr algn="ctr"/>
              <a:r>
                <a:rPr lang="en-US" sz="980" b="1" dirty="0">
                  <a:solidFill>
                    <a:srgbClr val="35D0C4"/>
                  </a:solidFill>
                  <a:latin typeface="Consolas"/>
                  <a:ea typeface="Consolas"/>
                  <a:cs typeface="Consolas"/>
                </a:rPr>
                <a:t>sT</a:t>
              </a:r>
            </a:p>
          </p:txBody>
        </p:sp>
        <p:sp>
          <p:nvSpPr>
            <p:cNvPr id="29" name="Rectangle 29"/>
            <p:cNvSpPr/>
            <p:nvPr/>
          </p:nvSpPr>
          <p:spPr>
            <a:xfrm>
              <a:off x="5334000" y="1943100"/>
              <a:ext cx="400050" cy="323850"/>
            </a:xfrm>
            <a:prstGeom prst="roundRect">
              <a:avLst>
                <a:gd name="adj" fmla="val 17647"/>
              </a:avLst>
            </a:prstGeom>
            <a:solidFill>
              <a:schemeClr val="accent6"/>
            </a:solidFill>
            <a:ln w="13335">
              <a:solidFill>
                <a:srgbClr val="F3C24B"/>
              </a:solidFill>
            </a:ln>
          </p:spPr>
        </p:sp>
        <p:sp>
          <p:nvSpPr>
            <p:cNvPr id="30" name="TextBox 30"/>
            <p:cNvSpPr txBox="1"/>
            <p:nvPr/>
          </p:nvSpPr>
          <p:spPr>
            <a:xfrm>
              <a:off x="5450728" y="2051590"/>
              <a:ext cx="166595" cy="190690"/>
            </a:xfrm>
            <a:prstGeom prst="rect">
              <a:avLst/>
            </a:prstGeom>
            <a:noFill/>
            <a:ln>
              <a:noFill/>
            </a:ln>
          </p:spPr>
          <p:txBody>
            <a:bodyPr wrap="none" lIns="0" tIns="0" rIns="0" bIns="0" anchor="t" anchorCtr="0">
              <a:spAutoFit/>
            </a:bodyPr>
            <a:lstStyle/>
            <a:p>
              <a:pPr algn="ctr"/>
              <a:r>
                <a:rPr lang="en-US" sz="980" b="1" dirty="0">
                  <a:solidFill>
                    <a:srgbClr val="F3C24B"/>
                  </a:solidFill>
                  <a:latin typeface="Consolas"/>
                  <a:ea typeface="Consolas"/>
                  <a:cs typeface="Consolas"/>
                </a:rPr>
                <a:t>aT</a:t>
              </a:r>
            </a:p>
          </p:txBody>
        </p:sp>
        <p:sp>
          <p:nvSpPr>
            <p:cNvPr id="31" name="Rectangle 31"/>
            <p:cNvSpPr/>
            <p:nvPr/>
          </p:nvSpPr>
          <p:spPr>
            <a:xfrm>
              <a:off x="5772150" y="1943100"/>
              <a:ext cx="400050" cy="323850"/>
            </a:xfrm>
            <a:prstGeom prst="roundRect">
              <a:avLst>
                <a:gd name="adj" fmla="val 17647"/>
              </a:avLst>
            </a:prstGeom>
            <a:solidFill>
              <a:schemeClr val="accent6"/>
            </a:solidFill>
            <a:ln w="13335">
              <a:solidFill>
                <a:srgbClr val="A487F0"/>
              </a:solidFill>
            </a:ln>
          </p:spPr>
        </p:sp>
        <p:sp>
          <p:nvSpPr>
            <p:cNvPr id="32" name="TextBox 32"/>
            <p:cNvSpPr txBox="1"/>
            <p:nvPr/>
          </p:nvSpPr>
          <p:spPr>
            <a:xfrm>
              <a:off x="5888878" y="2051590"/>
              <a:ext cx="166595" cy="190690"/>
            </a:xfrm>
            <a:prstGeom prst="rect">
              <a:avLst/>
            </a:prstGeom>
            <a:noFill/>
            <a:ln>
              <a:noFill/>
            </a:ln>
          </p:spPr>
          <p:txBody>
            <a:bodyPr wrap="none" lIns="0" tIns="0" rIns="0" bIns="0" anchor="t" anchorCtr="0">
              <a:spAutoFit/>
            </a:bodyPr>
            <a:lstStyle/>
            <a:p>
              <a:pPr algn="ctr"/>
              <a:r>
                <a:rPr lang="en-US" sz="980" b="1" dirty="0">
                  <a:solidFill>
                    <a:srgbClr val="A487F0"/>
                  </a:solidFill>
                  <a:latin typeface="Consolas"/>
                  <a:ea typeface="Consolas"/>
                  <a:cs typeface="Consolas"/>
                </a:rPr>
                <a:t>pT</a:t>
              </a:r>
            </a:p>
          </p:txBody>
        </p:sp>
        <p:sp>
          <p:nvSpPr>
            <p:cNvPr id="33" name="TextBox 33"/>
            <p:cNvSpPr txBox="1"/>
            <p:nvPr/>
          </p:nvSpPr>
          <p:spPr>
            <a:xfrm>
              <a:off x="947738" y="2489597"/>
              <a:ext cx="374917" cy="183356"/>
            </a:xfrm>
            <a:prstGeom prst="rect">
              <a:avLst/>
            </a:prstGeom>
            <a:noFill/>
            <a:ln>
              <a:noFill/>
            </a:ln>
          </p:spPr>
          <p:txBody>
            <a:bodyPr wrap="none" lIns="0" tIns="0" rIns="0" bIns="0" anchor="t" anchorCtr="0">
              <a:spAutoFit/>
            </a:bodyPr>
            <a:lstStyle/>
            <a:p>
              <a:pPr algn="l"/>
              <a:r>
                <a:rPr lang="en-US" sz="940" b="1" dirty="0">
                  <a:solidFill>
                    <a:srgbClr val="35D0C4"/>
                  </a:solidFill>
                  <a:latin typeface="+mn-lt"/>
                  <a:ea typeface="+mn-ea"/>
                  <a:cs typeface="+mn-cs"/>
                </a:rPr>
                <a:t>state</a:t>
              </a:r>
            </a:p>
          </p:txBody>
        </p:sp>
        <p:sp>
          <p:nvSpPr>
            <p:cNvPr id="34" name="TextBox 34"/>
            <p:cNvSpPr txBox="1"/>
            <p:nvPr/>
          </p:nvSpPr>
          <p:spPr>
            <a:xfrm>
              <a:off x="2262188" y="2489597"/>
              <a:ext cx="414778" cy="183356"/>
            </a:xfrm>
            <a:prstGeom prst="rect">
              <a:avLst/>
            </a:prstGeom>
            <a:noFill/>
            <a:ln>
              <a:noFill/>
            </a:ln>
          </p:spPr>
          <p:txBody>
            <a:bodyPr wrap="none" lIns="0" tIns="0" rIns="0" bIns="0" anchor="t" anchorCtr="0">
              <a:spAutoFit/>
            </a:bodyPr>
            <a:lstStyle/>
            <a:p>
              <a:pPr algn="l"/>
              <a:r>
                <a:rPr lang="en-US" sz="940" b="1" dirty="0">
                  <a:solidFill>
                    <a:srgbClr val="F3C24B"/>
                  </a:solidFill>
                  <a:latin typeface="+mn-lt"/>
                  <a:ea typeface="+mn-ea"/>
                  <a:cs typeface="+mn-cs"/>
                </a:rPr>
                <a:t>action</a:t>
              </a:r>
            </a:p>
          </p:txBody>
        </p:sp>
        <p:sp>
          <p:nvSpPr>
            <p:cNvPr id="35" name="TextBox 35"/>
            <p:cNvSpPr txBox="1"/>
            <p:nvPr/>
          </p:nvSpPr>
          <p:spPr>
            <a:xfrm>
              <a:off x="3729038" y="2489597"/>
              <a:ext cx="886467" cy="183356"/>
            </a:xfrm>
            <a:prstGeom prst="rect">
              <a:avLst/>
            </a:prstGeom>
            <a:noFill/>
            <a:ln>
              <a:noFill/>
            </a:ln>
          </p:spPr>
          <p:txBody>
            <a:bodyPr wrap="none" lIns="0" tIns="0" rIns="0" bIns="0" anchor="t" anchorCtr="0">
              <a:spAutoFit/>
            </a:bodyPr>
            <a:lstStyle/>
            <a:p>
              <a:pPr algn="l"/>
              <a:r>
                <a:rPr lang="en-US" sz="940" b="1" dirty="0">
                  <a:solidFill>
                    <a:srgbClr val="A487F0"/>
                  </a:solidFill>
                  <a:latin typeface="+mn-lt"/>
                  <a:ea typeface="+mn-ea"/>
                  <a:cs typeface="+mn-cs"/>
                </a:rPr>
                <a:t>return-to-go</a:t>
              </a:r>
            </a:p>
          </p:txBody>
        </p:sp>
      </p:grpSp>
      <p:grpSp>
        <p:nvGrpSpPr>
          <p:cNvPr id="48" name="Group 48"/>
          <p:cNvGrpSpPr/>
          <p:nvPr/>
        </p:nvGrpSpPr>
        <p:grpSpPr>
          <a:xfrm>
            <a:off x="609600" y="2838450"/>
            <a:ext cx="5334000" cy="1504950"/>
            <a:chOff x="609600" y="2838450"/>
            <a:chExt cx="5334000" cy="1504950"/>
          </a:xfrm>
        </p:grpSpPr>
        <p:sp>
          <p:nvSpPr>
            <p:cNvPr id="37" name="Rectangle 37"/>
            <p:cNvSpPr/>
            <p:nvPr/>
          </p:nvSpPr>
          <p:spPr>
            <a:xfrm>
              <a:off x="609600" y="2838450"/>
              <a:ext cx="5334000" cy="1504950"/>
            </a:xfrm>
            <a:prstGeom prst="roundRect">
              <a:avLst>
                <a:gd name="adj" fmla="val 8861"/>
              </a:avLst>
            </a:prstGeom>
            <a:solidFill>
              <a:schemeClr val="accent6"/>
            </a:solidFill>
            <a:ln w="14288">
              <a:solidFill>
                <a:srgbClr val="2B3D5A"/>
              </a:solidFill>
            </a:ln>
          </p:spPr>
        </p:sp>
        <p:sp>
          <p:nvSpPr>
            <p:cNvPr id="38" name="Rectangle 38"/>
            <p:cNvSpPr/>
            <p:nvPr/>
          </p:nvSpPr>
          <p:spPr>
            <a:xfrm>
              <a:off x="609600" y="2838450"/>
              <a:ext cx="57150" cy="1504950"/>
            </a:xfrm>
            <a:prstGeom prst="roundRect">
              <a:avLst>
                <a:gd name="adj" fmla="val 50000"/>
              </a:avLst>
            </a:prstGeom>
            <a:solidFill>
              <a:srgbClr val="35D0C4"/>
            </a:solidFill>
            <a:ln>
              <a:noFill/>
            </a:ln>
          </p:spPr>
        </p:sp>
        <p:sp>
          <p:nvSpPr>
            <p:cNvPr id="39" name="TextBox 39"/>
            <p:cNvSpPr txBox="1"/>
            <p:nvPr/>
          </p:nvSpPr>
          <p:spPr>
            <a:xfrm>
              <a:off x="870204" y="3032760"/>
              <a:ext cx="2808310" cy="234696"/>
            </a:xfrm>
            <a:prstGeom prst="rect">
              <a:avLst/>
            </a:prstGeom>
            <a:noFill/>
            <a:ln>
              <a:noFill/>
            </a:ln>
          </p:spPr>
          <p:txBody>
            <a:bodyPr wrap="none" lIns="0" tIns="0" rIns="0" bIns="0" anchor="t" anchorCtr="0">
              <a:spAutoFit/>
            </a:bodyPr>
            <a:lstStyle/>
            <a:p>
              <a:pPr algn="l"/>
              <a:r>
                <a:rPr lang="en-US" sz="1200" b="1" dirty="0">
                  <a:solidFill>
                    <a:srgbClr val="35D0C4"/>
                  </a:solidFill>
                  <a:latin typeface="+mn-lt"/>
                  <a:ea typeface="+mn-ea"/>
                  <a:cs typeface="+mn-cs"/>
                </a:rPr>
                <a:t>A masking scheme sets two things</a:t>
              </a:r>
            </a:p>
          </p:txBody>
        </p:sp>
        <p:sp>
          <p:nvSpPr>
            <p:cNvPr id="40" name="Rectangle 40"/>
            <p:cNvSpPr/>
            <p:nvPr/>
          </p:nvSpPr>
          <p:spPr>
            <a:xfrm>
              <a:off x="876300" y="3333750"/>
              <a:ext cx="2286000" cy="285750"/>
            </a:xfrm>
            <a:prstGeom prst="roundRect">
              <a:avLst>
                <a:gd name="adj" fmla="val 26667"/>
              </a:avLst>
            </a:prstGeom>
            <a:solidFill>
              <a:schemeClr val="accent6"/>
            </a:solidFill>
            <a:ln w="14288">
              <a:solidFill>
                <a:srgbClr val="2B3D5A"/>
              </a:solidFill>
            </a:ln>
          </p:spPr>
        </p:sp>
        <p:sp>
          <p:nvSpPr>
            <p:cNvPr id="41" name="Ellipse 41"/>
            <p:cNvSpPr/>
            <p:nvPr/>
          </p:nvSpPr>
          <p:spPr>
            <a:xfrm>
              <a:off x="990600" y="3429000"/>
              <a:ext cx="95250" cy="95250"/>
            </a:xfrm>
            <a:prstGeom prst="ellipse">
              <a:avLst/>
            </a:prstGeom>
            <a:solidFill>
              <a:schemeClr val="accent2"/>
            </a:solidFill>
            <a:ln>
              <a:noFill/>
            </a:ln>
          </p:spPr>
        </p:sp>
        <p:sp>
          <p:nvSpPr>
            <p:cNvPr id="42" name="TextBox 42"/>
            <p:cNvSpPr txBox="1"/>
            <p:nvPr/>
          </p:nvSpPr>
          <p:spPr>
            <a:xfrm>
              <a:off x="1175766" y="3410902"/>
              <a:ext cx="1702639"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which inputs are visible</a:t>
              </a:r>
            </a:p>
          </p:txBody>
        </p:sp>
        <p:sp>
          <p:nvSpPr>
            <p:cNvPr id="43" name="Rectangle 43"/>
            <p:cNvSpPr/>
            <p:nvPr/>
          </p:nvSpPr>
          <p:spPr>
            <a:xfrm>
              <a:off x="3314700" y="3333750"/>
              <a:ext cx="2247900" cy="285750"/>
            </a:xfrm>
            <a:prstGeom prst="roundRect">
              <a:avLst>
                <a:gd name="adj" fmla="val 26667"/>
              </a:avLst>
            </a:prstGeom>
            <a:solidFill>
              <a:schemeClr val="accent6"/>
            </a:solidFill>
            <a:ln w="14288">
              <a:solidFill>
                <a:srgbClr val="2B3D5A"/>
              </a:solidFill>
            </a:ln>
          </p:spPr>
        </p:sp>
        <p:sp>
          <p:nvSpPr>
            <p:cNvPr id="44" name="Ellipse 44"/>
            <p:cNvSpPr/>
            <p:nvPr/>
          </p:nvSpPr>
          <p:spPr>
            <a:xfrm>
              <a:off x="3429000" y="3429000"/>
              <a:ext cx="95250" cy="95250"/>
            </a:xfrm>
            <a:prstGeom prst="ellipse">
              <a:avLst/>
            </a:prstGeom>
            <a:solidFill>
              <a:srgbClr val="F3C24B"/>
            </a:solidFill>
            <a:ln>
              <a:noFill/>
            </a:ln>
          </p:spPr>
        </p:sp>
        <p:sp>
          <p:nvSpPr>
            <p:cNvPr id="45" name="TextBox 45"/>
            <p:cNvSpPr txBox="1"/>
            <p:nvPr/>
          </p:nvSpPr>
          <p:spPr>
            <a:xfrm>
              <a:off x="3614166" y="3410902"/>
              <a:ext cx="1851058"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which outputs are scored</a:t>
              </a:r>
            </a:p>
          </p:txBody>
        </p:sp>
        <p:sp>
          <p:nvSpPr>
            <p:cNvPr id="46" name="TextBox 46"/>
            <p:cNvSpPr txBox="1"/>
            <p:nvPr/>
          </p:nvSpPr>
          <p:spPr>
            <a:xfrm>
              <a:off x="870966" y="3791902"/>
              <a:ext cx="30117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Different visible / predicted splits recover</a:t>
              </a:r>
            </a:p>
          </p:txBody>
        </p:sp>
        <p:sp>
          <p:nvSpPr>
            <p:cNvPr id="47" name="TextBox 47"/>
            <p:cNvSpPr txBox="1"/>
            <p:nvPr/>
          </p:nvSpPr>
          <p:spPr>
            <a:xfrm>
              <a:off x="870966" y="4001452"/>
              <a:ext cx="29719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different inference tasks from one model.</a:t>
              </a:r>
            </a:p>
          </p:txBody>
        </p:sp>
      </p:grpSp>
      <p:grpSp>
        <p:nvGrpSpPr>
          <p:cNvPr id="56" name="Group 56"/>
          <p:cNvGrpSpPr/>
          <p:nvPr/>
        </p:nvGrpSpPr>
        <p:grpSpPr>
          <a:xfrm>
            <a:off x="6172200" y="2838450"/>
            <a:ext cx="5410200" cy="1504950"/>
            <a:chOff x="6172200" y="2838450"/>
            <a:chExt cx="5410200" cy="1504950"/>
          </a:xfrm>
        </p:grpSpPr>
        <p:sp>
          <p:nvSpPr>
            <p:cNvPr id="49" name="Rectangle 49"/>
            <p:cNvSpPr/>
            <p:nvPr/>
          </p:nvSpPr>
          <p:spPr>
            <a:xfrm>
              <a:off x="6172200" y="2838450"/>
              <a:ext cx="5410200" cy="1504950"/>
            </a:xfrm>
            <a:prstGeom prst="roundRect">
              <a:avLst>
                <a:gd name="adj" fmla="val 8861"/>
              </a:avLst>
            </a:prstGeom>
            <a:solidFill>
              <a:schemeClr val="accent5"/>
            </a:solidFill>
            <a:ln w="14288">
              <a:solidFill>
                <a:srgbClr val="2B3D5A"/>
              </a:solidFill>
            </a:ln>
          </p:spPr>
        </p:sp>
        <p:sp>
          <p:nvSpPr>
            <p:cNvPr id="50" name="Rectangle 50"/>
            <p:cNvSpPr/>
            <p:nvPr/>
          </p:nvSpPr>
          <p:spPr>
            <a:xfrm>
              <a:off x="6172200" y="2838450"/>
              <a:ext cx="57150" cy="1504950"/>
            </a:xfrm>
            <a:prstGeom prst="roundRect">
              <a:avLst>
                <a:gd name="adj" fmla="val 50000"/>
              </a:avLst>
            </a:prstGeom>
            <a:solidFill>
              <a:srgbClr val="F3C24B"/>
            </a:solidFill>
            <a:ln>
              <a:noFill/>
            </a:ln>
          </p:spPr>
        </p:sp>
        <p:sp>
          <p:nvSpPr>
            <p:cNvPr id="51" name="TextBox 51"/>
            <p:cNvSpPr txBox="1"/>
            <p:nvPr/>
          </p:nvSpPr>
          <p:spPr>
            <a:xfrm>
              <a:off x="6432804" y="3032760"/>
              <a:ext cx="2851033" cy="234696"/>
            </a:xfrm>
            <a:prstGeom prst="rect">
              <a:avLst/>
            </a:prstGeom>
            <a:noFill/>
            <a:ln>
              <a:noFill/>
            </a:ln>
          </p:spPr>
          <p:txBody>
            <a:bodyPr wrap="none" lIns="0" tIns="0" rIns="0" bIns="0" anchor="t" anchorCtr="0">
              <a:spAutoFit/>
            </a:bodyPr>
            <a:lstStyle/>
            <a:p>
              <a:pPr algn="l"/>
              <a:r>
                <a:rPr lang="en-US" sz="1200" b="1" dirty="0">
                  <a:solidFill>
                    <a:srgbClr val="F3C24B"/>
                  </a:solidFill>
                  <a:latin typeface="+mn-lt"/>
                  <a:ea typeface="+mn-ea"/>
                  <a:cs typeface="+mn-cs"/>
                </a:rPr>
                <a:t>Reveal / predict = choose the task</a:t>
              </a:r>
            </a:p>
          </p:txBody>
        </p:sp>
        <p:sp>
          <p:nvSpPr>
            <p:cNvPr id="52" name="TextBox 52"/>
            <p:cNvSpPr txBox="1"/>
            <p:nvPr/>
          </p:nvSpPr>
          <p:spPr>
            <a:xfrm>
              <a:off x="6433756" y="3338751"/>
              <a:ext cx="264649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BC: see s_0:t , a_0:t-1 → predict a_t</a:t>
              </a:r>
            </a:p>
          </p:txBody>
        </p:sp>
        <p:sp>
          <p:nvSpPr>
            <p:cNvPr id="53" name="TextBox 53"/>
            <p:cNvSpPr txBox="1"/>
            <p:nvPr/>
          </p:nvSpPr>
          <p:spPr>
            <a:xfrm>
              <a:off x="6433756" y="3586401"/>
              <a:ext cx="276307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Goal: additionally reveal a future state</a:t>
              </a:r>
            </a:p>
          </p:txBody>
        </p:sp>
        <p:sp>
          <p:nvSpPr>
            <p:cNvPr id="54" name="TextBox 54"/>
            <p:cNvSpPr txBox="1"/>
            <p:nvPr/>
          </p:nvSpPr>
          <p:spPr>
            <a:xfrm>
              <a:off x="6433756" y="3834051"/>
              <a:ext cx="249244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Reward: reveal return-to-go token</a:t>
              </a:r>
            </a:p>
          </p:txBody>
        </p:sp>
        <p:sp>
          <p:nvSpPr>
            <p:cNvPr id="55" name="TextBox 55"/>
            <p:cNvSpPr txBox="1"/>
            <p:nvPr/>
          </p:nvSpPr>
          <p:spPr>
            <a:xfrm>
              <a:off x="6434138" y="4089797"/>
              <a:ext cx="2830237" cy="183356"/>
            </a:xfrm>
            <a:prstGeom prst="rect">
              <a:avLst/>
            </a:prstGeom>
            <a:noFill/>
            <a:ln>
              <a:noFill/>
            </a:ln>
          </p:spPr>
          <p:txBody>
            <a:bodyPr wrap="none" lIns="0" tIns="0" rIns="0" bIns="0" anchor="t" anchorCtr="0">
              <a:spAutoFit/>
            </a:bodyPr>
            <a:lstStyle/>
            <a:p>
              <a:pPr algn="l"/>
              <a:r>
                <a:rPr lang="en-US" sz="940" b="1" dirty="0">
                  <a:solidFill>
                    <a:schemeClr val="accent2"/>
                  </a:solidFill>
                  <a:latin typeface="+mn-lt"/>
                  <a:ea typeface="+mn-ea"/>
                  <a:cs typeface="+mn-cs"/>
                </a:rPr>
                <a:t>backbone: bidirectional BERT-style encoder</a:t>
              </a:r>
            </a:p>
          </p:txBody>
        </p:sp>
      </p:grpSp>
      <p:grpSp>
        <p:nvGrpSpPr>
          <p:cNvPr id="72" name="Group 72"/>
          <p:cNvGrpSpPr/>
          <p:nvPr/>
        </p:nvGrpSpPr>
        <p:grpSpPr>
          <a:xfrm>
            <a:off x="609600" y="4495800"/>
            <a:ext cx="10972800" cy="819150"/>
            <a:chOff x="609600" y="4495800"/>
            <a:chExt cx="10972800" cy="819150"/>
          </a:xfrm>
        </p:grpSpPr>
        <p:sp>
          <p:nvSpPr>
            <p:cNvPr id="57" name="Rectangle 57"/>
            <p:cNvSpPr/>
            <p:nvPr/>
          </p:nvSpPr>
          <p:spPr>
            <a:xfrm>
              <a:off x="609600" y="4495800"/>
              <a:ext cx="10972800" cy="819150"/>
            </a:xfrm>
            <a:prstGeom prst="roundRect">
              <a:avLst>
                <a:gd name="adj" fmla="val 16279"/>
              </a:avLst>
            </a:prstGeom>
            <a:solidFill>
              <a:schemeClr val="accent5"/>
            </a:solidFill>
            <a:ln w="14288">
              <a:solidFill>
                <a:srgbClr val="2B3D5A"/>
              </a:solidFill>
            </a:ln>
          </p:spPr>
        </p:sp>
        <p:sp>
          <p:nvSpPr>
            <p:cNvPr id="58" name="Rectangle 58"/>
            <p:cNvSpPr/>
            <p:nvPr/>
          </p:nvSpPr>
          <p:spPr>
            <a:xfrm>
              <a:off x="609600" y="4495800"/>
              <a:ext cx="57150" cy="819150"/>
            </a:xfrm>
            <a:prstGeom prst="roundRect">
              <a:avLst>
                <a:gd name="adj" fmla="val 50000"/>
              </a:avLst>
            </a:prstGeom>
            <a:solidFill>
              <a:srgbClr val="45C88A"/>
            </a:solidFill>
            <a:ln>
              <a:noFill/>
            </a:ln>
          </p:spPr>
        </p:sp>
        <p:sp>
          <p:nvSpPr>
            <p:cNvPr id="59" name="TextBox 59"/>
            <p:cNvSpPr txBox="1"/>
            <p:nvPr/>
          </p:nvSpPr>
          <p:spPr>
            <a:xfrm>
              <a:off x="870394" y="4656058"/>
              <a:ext cx="2542199" cy="227362"/>
            </a:xfrm>
            <a:prstGeom prst="rect">
              <a:avLst/>
            </a:prstGeom>
            <a:noFill/>
            <a:ln>
              <a:noFill/>
            </a:ln>
          </p:spPr>
          <p:txBody>
            <a:bodyPr wrap="none" lIns="0" tIns="0" rIns="0" bIns="0" anchor="t" anchorCtr="0">
              <a:spAutoFit/>
            </a:bodyPr>
            <a:lstStyle/>
            <a:p>
              <a:pPr algn="l"/>
              <a:r>
                <a:rPr lang="en-US" sz="1160" b="1" dirty="0">
                  <a:solidFill>
                    <a:srgbClr val="45C88A"/>
                  </a:solidFill>
                  <a:latin typeface="+mn-lt"/>
                  <a:ea typeface="+mn-ea"/>
                  <a:cs typeface="+mn-cs"/>
                </a:rPr>
                <a:t>Four training regimes compared</a:t>
              </a:r>
            </a:p>
          </p:txBody>
        </p:sp>
        <p:sp>
          <p:nvSpPr>
            <p:cNvPr id="60" name="Rectangle 60"/>
            <p:cNvSpPr/>
            <p:nvPr/>
          </p:nvSpPr>
          <p:spPr>
            <a:xfrm>
              <a:off x="4000500" y="4610100"/>
              <a:ext cx="1714500" cy="514350"/>
            </a:xfrm>
            <a:prstGeom prst="roundRect">
              <a:avLst>
                <a:gd name="adj" fmla="val 18519"/>
              </a:avLst>
            </a:prstGeom>
            <a:solidFill>
              <a:schemeClr val="accent6"/>
            </a:solidFill>
            <a:ln w="13335">
              <a:solidFill>
                <a:srgbClr val="F0655C"/>
              </a:solidFill>
            </a:ln>
          </p:spPr>
        </p:sp>
        <p:sp>
          <p:nvSpPr>
            <p:cNvPr id="61" name="TextBox 61"/>
            <p:cNvSpPr txBox="1"/>
            <p:nvPr/>
          </p:nvSpPr>
          <p:spPr>
            <a:xfrm>
              <a:off x="4410229" y="4736306"/>
              <a:ext cx="895041" cy="220028"/>
            </a:xfrm>
            <a:prstGeom prst="rect">
              <a:avLst/>
            </a:prstGeom>
            <a:noFill/>
            <a:ln>
              <a:noFill/>
            </a:ln>
          </p:spPr>
          <p:txBody>
            <a:bodyPr wrap="none" lIns="0" tIns="0" rIns="0" bIns="0" anchor="t" anchorCtr="0">
              <a:spAutoFit/>
            </a:bodyPr>
            <a:lstStyle/>
            <a:p>
              <a:pPr algn="ctr"/>
              <a:r>
                <a:rPr lang="en-US" sz="1120" b="1" dirty="0">
                  <a:solidFill>
                    <a:srgbClr val="F0655C"/>
                  </a:solidFill>
                  <a:latin typeface="+mn-lt"/>
                  <a:ea typeface="+mn-ea"/>
                  <a:cs typeface="+mn-cs"/>
                </a:rPr>
                <a:t>Single-task</a:t>
              </a:r>
            </a:p>
          </p:txBody>
        </p:sp>
        <p:sp>
          <p:nvSpPr>
            <p:cNvPr id="62" name="TextBox 62"/>
            <p:cNvSpPr txBox="1"/>
            <p:nvPr/>
          </p:nvSpPr>
          <p:spPr>
            <a:xfrm>
              <a:off x="4463990" y="4936093"/>
              <a:ext cx="787521"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one task only</a:t>
              </a:r>
            </a:p>
          </p:txBody>
        </p:sp>
        <p:sp>
          <p:nvSpPr>
            <p:cNvPr id="63" name="Rectangle 63"/>
            <p:cNvSpPr/>
            <p:nvPr/>
          </p:nvSpPr>
          <p:spPr>
            <a:xfrm>
              <a:off x="5867400" y="4610100"/>
              <a:ext cx="1714500" cy="514350"/>
            </a:xfrm>
            <a:prstGeom prst="roundRect">
              <a:avLst>
                <a:gd name="adj" fmla="val 18519"/>
              </a:avLst>
            </a:prstGeom>
            <a:solidFill>
              <a:schemeClr val="accent6"/>
            </a:solidFill>
            <a:ln w="13335">
              <a:solidFill>
                <a:srgbClr val="F3C24B"/>
              </a:solidFill>
            </a:ln>
          </p:spPr>
        </p:sp>
        <p:sp>
          <p:nvSpPr>
            <p:cNvPr id="64" name="TextBox 64"/>
            <p:cNvSpPr txBox="1"/>
            <p:nvPr/>
          </p:nvSpPr>
          <p:spPr>
            <a:xfrm>
              <a:off x="6304732" y="4736306"/>
              <a:ext cx="839836" cy="220028"/>
            </a:xfrm>
            <a:prstGeom prst="rect">
              <a:avLst/>
            </a:prstGeom>
            <a:noFill/>
            <a:ln>
              <a:noFill/>
            </a:ln>
          </p:spPr>
          <p:txBody>
            <a:bodyPr wrap="none" lIns="0" tIns="0" rIns="0" bIns="0" anchor="t" anchorCtr="0">
              <a:spAutoFit/>
            </a:bodyPr>
            <a:lstStyle/>
            <a:p>
              <a:pPr algn="ctr"/>
              <a:r>
                <a:rPr lang="en-US" sz="1120" b="1" dirty="0">
                  <a:solidFill>
                    <a:srgbClr val="F3C24B"/>
                  </a:solidFill>
                  <a:latin typeface="+mn-lt"/>
                  <a:ea typeface="+mn-ea"/>
                  <a:cs typeface="+mn-cs"/>
                </a:rPr>
                <a:t>Multi-task</a:t>
              </a:r>
            </a:p>
          </p:txBody>
        </p:sp>
        <p:sp>
          <p:nvSpPr>
            <p:cNvPr id="65" name="TextBox 65"/>
            <p:cNvSpPr txBox="1"/>
            <p:nvPr/>
          </p:nvSpPr>
          <p:spPr>
            <a:xfrm>
              <a:off x="6276187" y="4936093"/>
              <a:ext cx="896927"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random scheme</a:t>
              </a:r>
            </a:p>
          </p:txBody>
        </p:sp>
        <p:sp>
          <p:nvSpPr>
            <p:cNvPr id="66" name="Rectangle 66"/>
            <p:cNvSpPr/>
            <p:nvPr/>
          </p:nvSpPr>
          <p:spPr>
            <a:xfrm>
              <a:off x="7734300" y="4610100"/>
              <a:ext cx="1714500" cy="514350"/>
            </a:xfrm>
            <a:prstGeom prst="roundRect">
              <a:avLst>
                <a:gd name="adj" fmla="val 18519"/>
              </a:avLst>
            </a:prstGeom>
            <a:solidFill>
              <a:schemeClr val="accent6"/>
            </a:solidFill>
            <a:ln w="13335">
              <a:solidFill>
                <a:srgbClr val="35D0C4"/>
              </a:solidFill>
            </a:ln>
          </p:spPr>
        </p:sp>
        <p:sp>
          <p:nvSpPr>
            <p:cNvPr id="67" name="TextBox 67"/>
            <p:cNvSpPr txBox="1"/>
            <p:nvPr/>
          </p:nvSpPr>
          <p:spPr>
            <a:xfrm>
              <a:off x="8072385" y="4736306"/>
              <a:ext cx="1038330" cy="220028"/>
            </a:xfrm>
            <a:prstGeom prst="rect">
              <a:avLst/>
            </a:prstGeom>
            <a:noFill/>
            <a:ln>
              <a:noFill/>
            </a:ln>
          </p:spPr>
          <p:txBody>
            <a:bodyPr wrap="none" lIns="0" tIns="0" rIns="0" bIns="0" anchor="t" anchorCtr="0">
              <a:spAutoFit/>
            </a:bodyPr>
            <a:lstStyle/>
            <a:p>
              <a:pPr algn="ctr"/>
              <a:r>
                <a:rPr lang="en-US" sz="1120" b="1" dirty="0">
                  <a:solidFill>
                    <a:srgbClr val="35D0C4"/>
                  </a:solidFill>
                  <a:latin typeface="+mn-lt"/>
                  <a:ea typeface="+mn-ea"/>
                  <a:cs typeface="+mn-cs"/>
                </a:rPr>
                <a:t>Random-mask</a:t>
              </a:r>
            </a:p>
          </p:txBody>
        </p:sp>
        <p:sp>
          <p:nvSpPr>
            <p:cNvPr id="68" name="TextBox 68"/>
            <p:cNvSpPr txBox="1"/>
            <p:nvPr/>
          </p:nvSpPr>
          <p:spPr>
            <a:xfrm>
              <a:off x="8051915" y="4936093"/>
              <a:ext cx="1079269"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arbitrary masking</a:t>
              </a:r>
            </a:p>
          </p:txBody>
        </p:sp>
        <p:sp>
          <p:nvSpPr>
            <p:cNvPr id="69" name="Rectangle 69"/>
            <p:cNvSpPr/>
            <p:nvPr/>
          </p:nvSpPr>
          <p:spPr>
            <a:xfrm>
              <a:off x="9601200" y="4610100"/>
              <a:ext cx="1714500" cy="514350"/>
            </a:xfrm>
            <a:prstGeom prst="roundRect">
              <a:avLst>
                <a:gd name="adj" fmla="val 18519"/>
              </a:avLst>
            </a:prstGeom>
            <a:solidFill>
              <a:schemeClr val="accent6"/>
            </a:solidFill>
            <a:ln w="13335">
              <a:solidFill>
                <a:srgbClr val="45C88A"/>
              </a:solidFill>
            </a:ln>
          </p:spPr>
        </p:sp>
        <p:sp>
          <p:nvSpPr>
            <p:cNvPr id="70" name="TextBox 70"/>
            <p:cNvSpPr txBox="1"/>
            <p:nvPr/>
          </p:nvSpPr>
          <p:spPr>
            <a:xfrm>
              <a:off x="10078067" y="4736306"/>
              <a:ext cx="760766" cy="220028"/>
            </a:xfrm>
            <a:prstGeom prst="rect">
              <a:avLst/>
            </a:prstGeom>
            <a:noFill/>
            <a:ln>
              <a:noFill/>
            </a:ln>
          </p:spPr>
          <p:txBody>
            <a:bodyPr wrap="none" lIns="0" tIns="0" rIns="0" bIns="0" anchor="t" anchorCtr="0">
              <a:spAutoFit/>
            </a:bodyPr>
            <a:lstStyle/>
            <a:p>
              <a:pPr algn="ctr"/>
              <a:r>
                <a:rPr lang="en-US" sz="1120" b="1" dirty="0">
                  <a:solidFill>
                    <a:srgbClr val="45C88A"/>
                  </a:solidFill>
                  <a:latin typeface="+mn-lt"/>
                  <a:ea typeface="+mn-ea"/>
                  <a:cs typeface="+mn-cs"/>
                </a:rPr>
                <a:t>Fine-tune</a:t>
              </a:r>
            </a:p>
          </p:txBody>
        </p:sp>
        <p:sp>
          <p:nvSpPr>
            <p:cNvPr id="71" name="TextBox 71"/>
            <p:cNvSpPr txBox="1"/>
            <p:nvPr/>
          </p:nvSpPr>
          <p:spPr>
            <a:xfrm>
              <a:off x="9879308" y="4936093"/>
              <a:ext cx="1158285"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pretrain + finetune</a:t>
              </a:r>
            </a:p>
          </p:txBody>
        </p:sp>
      </p:grpSp>
      <p:sp>
        <p:nvSpPr>
          <p:cNvPr id="73" name="TextBox 73"/>
          <p:cNvSpPr txBox="1"/>
          <p:nvPr/>
        </p:nvSpPr>
        <p:spPr>
          <a:xfrm>
            <a:off x="604456" y="5529501"/>
            <a:ext cx="650376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Random masking during pretraining, then task-specific fine-tuning, is the strongest recipe.</a:t>
            </a:r>
          </a:p>
        </p:txBody>
      </p:sp>
      <p:sp>
        <p:nvSpPr>
          <p:cNvPr id="74" name="cue_s05_c1_uni_mask_represents_trajectory_seque" title="cue_s05_c1_uni_mask_represents_trajectory_seque" descr="cue_s05_c1_uni_mask_represents_trajectory_seque Uni-MASK represents a trajectory as a sequence of per-timestep tokens: a state, an action, and optionally a property token such as return-to-go, the sum of future rewards."/>
          <p:cNvSpPr/>
          <p:nvPr/>
        </p:nvSpPr>
        <p:spPr>
          <a:xfrm>
            <a:off x="609600" y="1410004"/>
            <a:ext cx="10972800" cy="126324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5_c2_masking_scheme_specifies_two_things" title="cue_s05_c2_masking_scheme_specifies_two_things" descr="cue_s05_c2_masking_scheme_specifies_two_things A masking scheme specifies two things: which input tokens are visible to the model, and which output tokens the model must predict and be scored on. Different schemes recover different tasks."/>
          <p:cNvSpPr/>
          <p:nvPr/>
        </p:nvSpPr>
        <p:spPr>
          <a:xfrm>
            <a:off x="609600" y="2838526"/>
            <a:ext cx="53340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5_c3_behavior_cloning_conditions_past_sta" title="cue_s05_c3_behavior_cloning_conditions_past_sta" descr="cue_s05_c3_behavior_cloning_conditions_past_sta Behavior cloning conditions on past states and actions and predicts the next action; goal conditioning additionally reveals a future state; reward conditioning reveals return-to-go. The model itself is a bidirectional BERT-style transformer encoder that stacks"/>
          <p:cNvSpPr/>
          <p:nvPr/>
        </p:nvSpPr>
        <p:spPr>
          <a:xfrm>
            <a:off x="6171590" y="2838526"/>
            <a:ext cx="540959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ue_s05_c4_authors_compare_four_regimes_single" title="cue_s05_c4_authors_compare_four_regimes_single" descr="cue_s05_c4_authors_compare_four_regimes_single The authors compare four training regimes: single-task, multi-task with a random scheme per snippet, fully random masking, and random-mask pretraining followed by task-specific fine-tuning."/>
          <p:cNvSpPr/>
          <p:nvPr/>
        </p:nvSpPr>
        <p:spPr>
          <a:xfrm>
            <a:off x="609600" y="4496104"/>
            <a:ext cx="10972800"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086821"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BENCHMARK</a:t>
            </a:r>
          </a:p>
        </p:txBody>
      </p:sp>
      <p:sp>
        <p:nvSpPr>
          <p:cNvPr id="4" name="TextBox 4"/>
          <p:cNvSpPr txBox="1"/>
          <p:nvPr/>
        </p:nvSpPr>
        <p:spPr>
          <a:xfrm>
            <a:off x="598170" y="804862"/>
            <a:ext cx="534449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decision-making environments</a:t>
            </a:r>
          </a:p>
        </p:txBody>
      </p:sp>
      <p:grpSp>
        <p:nvGrpSpPr>
          <p:cNvPr id="8" name="Group 8"/>
          <p:cNvGrpSpPr/>
          <p:nvPr/>
        </p:nvGrpSpPr>
        <p:grpSpPr>
          <a:xfrm>
            <a:off x="609600" y="1428750"/>
            <a:ext cx="10972800" cy="571500"/>
            <a:chOff x="609600" y="1428750"/>
            <a:chExt cx="10972800" cy="571500"/>
          </a:xfrm>
        </p:grpSpPr>
        <p:sp>
          <p:nvSpPr>
            <p:cNvPr id="5" name="Rectangle 5"/>
            <p:cNvSpPr/>
            <p:nvPr/>
          </p:nvSpPr>
          <p:spPr>
            <a:xfrm>
              <a:off x="609600" y="1428750"/>
              <a:ext cx="10972800" cy="571500"/>
            </a:xfrm>
            <a:prstGeom prst="roundRect">
              <a:avLst>
                <a:gd name="adj" fmla="val 20000"/>
              </a:avLst>
            </a:prstGeom>
            <a:solidFill>
              <a:schemeClr val="accent6"/>
            </a:solidFill>
            <a:ln w="14288">
              <a:solidFill>
                <a:srgbClr val="2B3D5A"/>
              </a:solidFill>
            </a:ln>
          </p:spPr>
        </p:sp>
        <p:sp>
          <p:nvSpPr>
            <p:cNvPr id="6" name="Rectangle 6"/>
            <p:cNvSpPr/>
            <p:nvPr/>
          </p:nvSpPr>
          <p:spPr>
            <a:xfrm>
              <a:off x="609600" y="1428750"/>
              <a:ext cx="57150" cy="571500"/>
            </a:xfrm>
            <a:prstGeom prst="roundRect">
              <a:avLst>
                <a:gd name="adj" fmla="val 50000"/>
              </a:avLst>
            </a:prstGeom>
            <a:solidFill>
              <a:schemeClr val="accent2"/>
            </a:solidFill>
            <a:ln>
              <a:noFill/>
            </a:ln>
          </p:spPr>
        </p:sp>
        <p:sp>
          <p:nvSpPr>
            <p:cNvPr id="7" name="TextBox 7"/>
            <p:cNvSpPr txBox="1"/>
            <p:nvPr/>
          </p:nvSpPr>
          <p:spPr>
            <a:xfrm>
              <a:off x="870204" y="1651635"/>
              <a:ext cx="665873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The framework is evaluated on two environments — one discrete, one continuous</a:t>
              </a:r>
            </a:p>
          </p:txBody>
        </p:sp>
      </p:grpSp>
      <p:grpSp>
        <p:nvGrpSpPr>
          <p:cNvPr id="31" name="Group 31"/>
          <p:cNvGrpSpPr/>
          <p:nvPr/>
        </p:nvGrpSpPr>
        <p:grpSpPr>
          <a:xfrm>
            <a:off x="609600" y="2171700"/>
            <a:ext cx="5334000" cy="2247900"/>
            <a:chOff x="609600" y="2171700"/>
            <a:chExt cx="5334000" cy="2247900"/>
          </a:xfrm>
        </p:grpSpPr>
        <p:sp>
          <p:nvSpPr>
            <p:cNvPr id="9" name="Rectangle 9"/>
            <p:cNvSpPr/>
            <p:nvPr/>
          </p:nvSpPr>
          <p:spPr>
            <a:xfrm>
              <a:off x="609600" y="2171700"/>
              <a:ext cx="5334000" cy="2247900"/>
            </a:xfrm>
            <a:prstGeom prst="roundRect">
              <a:avLst>
                <a:gd name="adj" fmla="val 5932"/>
              </a:avLst>
            </a:prstGeom>
            <a:solidFill>
              <a:schemeClr val="accent5"/>
            </a:solidFill>
            <a:ln w="14288">
              <a:solidFill>
                <a:srgbClr val="35D0C4"/>
              </a:solidFill>
            </a:ln>
          </p:spPr>
        </p:sp>
        <p:sp>
          <p:nvSpPr>
            <p:cNvPr id="10" name="Rectangle 10"/>
            <p:cNvSpPr/>
            <p:nvPr/>
          </p:nvSpPr>
          <p:spPr>
            <a:xfrm>
              <a:off x="609600" y="2171700"/>
              <a:ext cx="57150" cy="2247900"/>
            </a:xfrm>
            <a:prstGeom prst="roundRect">
              <a:avLst>
                <a:gd name="adj" fmla="val 50000"/>
              </a:avLst>
            </a:prstGeom>
            <a:solidFill>
              <a:srgbClr val="35D0C4"/>
            </a:solidFill>
            <a:ln>
              <a:noFill/>
            </a:ln>
          </p:spPr>
        </p:sp>
        <p:sp>
          <p:nvSpPr>
            <p:cNvPr id="11" name="TextBox 11"/>
            <p:cNvSpPr txBox="1"/>
            <p:nvPr/>
          </p:nvSpPr>
          <p:spPr>
            <a:xfrm>
              <a:off x="869061" y="2360771"/>
              <a:ext cx="798179" cy="278702"/>
            </a:xfrm>
            <a:prstGeom prst="rect">
              <a:avLst/>
            </a:prstGeom>
            <a:noFill/>
            <a:ln>
              <a:noFill/>
            </a:ln>
          </p:spPr>
          <p:txBody>
            <a:bodyPr wrap="none" lIns="0" tIns="0" rIns="0" bIns="0" anchor="t" anchorCtr="0">
              <a:spAutoFit/>
            </a:bodyPr>
            <a:lstStyle/>
            <a:p>
              <a:pPr algn="l"/>
              <a:r>
                <a:rPr lang="en-US" sz="1420" b="1" dirty="0">
                  <a:solidFill>
                    <a:srgbClr val="35D0C4"/>
                  </a:solidFill>
                  <a:latin typeface="+mn-lt"/>
                  <a:ea typeface="+mn-ea"/>
                  <a:cs typeface="+mn-cs"/>
                </a:rPr>
                <a:t>MiniGrid</a:t>
              </a:r>
            </a:p>
          </p:txBody>
        </p:sp>
        <p:sp>
          <p:nvSpPr>
            <p:cNvPr id="12" name="TextBox 12"/>
            <p:cNvSpPr txBox="1"/>
            <p:nvPr/>
          </p:nvSpPr>
          <p:spPr>
            <a:xfrm>
              <a:off x="2033206" y="2405301"/>
              <a:ext cx="1309444"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discrete gridworld</a:t>
              </a:r>
            </a:p>
          </p:txBody>
        </p:sp>
        <p:sp>
          <p:nvSpPr>
            <p:cNvPr id="13" name="Rectangle 13"/>
            <p:cNvSpPr/>
            <p:nvPr/>
          </p:nvSpPr>
          <p:spPr>
            <a:xfrm>
              <a:off x="876300" y="2724150"/>
              <a:ext cx="1428750" cy="1428750"/>
            </a:xfrm>
            <a:prstGeom prst="roundRect">
              <a:avLst>
                <a:gd name="adj" fmla="val 5333"/>
              </a:avLst>
            </a:prstGeom>
            <a:solidFill>
              <a:srgbClr val="0E1B2E"/>
            </a:solidFill>
            <a:ln w="14288">
              <a:solidFill>
                <a:srgbClr val="2B3D5A"/>
              </a:solidFill>
            </a:ln>
          </p:spPr>
        </p:sp>
        <p:sp>
          <p:nvSpPr>
            <p:cNvPr id="14" name="Line 14"/>
            <p:cNvSpPr/>
            <p:nvPr/>
          </p:nvSpPr>
          <p:spPr>
            <a:xfrm>
              <a:off x="1114425" y="2962275"/>
              <a:ext cx="952500" cy="9525"/>
            </a:xfrm>
            <a:custGeom>
              <a:avLst/>
              <a:gdLst/>
              <a:ahLst/>
              <a:cxnLst/>
              <a:rect l="l" t="t" r="r" b="b"/>
              <a:pathLst>
                <a:path w="952500" h="9525">
                  <a:moveTo>
                    <a:pt x="0" y="0"/>
                  </a:moveTo>
                  <a:lnTo>
                    <a:pt x="952500" y="0"/>
                  </a:lnTo>
                </a:path>
              </a:pathLst>
            </a:custGeom>
            <a:noFill/>
            <a:ln w="9525" cap="rnd">
              <a:solidFill>
                <a:srgbClr val="2B3D5A"/>
              </a:solidFill>
            </a:ln>
          </p:spPr>
        </p:sp>
        <p:sp>
          <p:nvSpPr>
            <p:cNvPr id="15" name="Line 15"/>
            <p:cNvSpPr/>
            <p:nvPr/>
          </p:nvSpPr>
          <p:spPr>
            <a:xfrm>
              <a:off x="1114425" y="3200400"/>
              <a:ext cx="952500" cy="9525"/>
            </a:xfrm>
            <a:custGeom>
              <a:avLst/>
              <a:gdLst/>
              <a:ahLst/>
              <a:cxnLst/>
              <a:rect l="l" t="t" r="r" b="b"/>
              <a:pathLst>
                <a:path w="952500" h="9525">
                  <a:moveTo>
                    <a:pt x="0" y="0"/>
                  </a:moveTo>
                  <a:lnTo>
                    <a:pt x="952500" y="0"/>
                  </a:lnTo>
                </a:path>
              </a:pathLst>
            </a:custGeom>
            <a:noFill/>
            <a:ln w="9525" cap="rnd">
              <a:solidFill>
                <a:srgbClr val="2B3D5A"/>
              </a:solidFill>
            </a:ln>
          </p:spPr>
        </p:sp>
        <p:sp>
          <p:nvSpPr>
            <p:cNvPr id="16" name="Line 16"/>
            <p:cNvSpPr/>
            <p:nvPr/>
          </p:nvSpPr>
          <p:spPr>
            <a:xfrm>
              <a:off x="1114425" y="3438525"/>
              <a:ext cx="952500" cy="9525"/>
            </a:xfrm>
            <a:custGeom>
              <a:avLst/>
              <a:gdLst/>
              <a:ahLst/>
              <a:cxnLst/>
              <a:rect l="l" t="t" r="r" b="b"/>
              <a:pathLst>
                <a:path w="952500" h="9525">
                  <a:moveTo>
                    <a:pt x="0" y="0"/>
                  </a:moveTo>
                  <a:lnTo>
                    <a:pt x="952500" y="0"/>
                  </a:lnTo>
                </a:path>
              </a:pathLst>
            </a:custGeom>
            <a:noFill/>
            <a:ln w="9525" cap="rnd">
              <a:solidFill>
                <a:srgbClr val="2B3D5A"/>
              </a:solidFill>
            </a:ln>
          </p:spPr>
        </p:sp>
        <p:sp>
          <p:nvSpPr>
            <p:cNvPr id="17" name="Line 17"/>
            <p:cNvSpPr/>
            <p:nvPr/>
          </p:nvSpPr>
          <p:spPr>
            <a:xfrm>
              <a:off x="1114425" y="3676650"/>
              <a:ext cx="952500" cy="9525"/>
            </a:xfrm>
            <a:custGeom>
              <a:avLst/>
              <a:gdLst/>
              <a:ahLst/>
              <a:cxnLst/>
              <a:rect l="l" t="t" r="r" b="b"/>
              <a:pathLst>
                <a:path w="952500" h="9525">
                  <a:moveTo>
                    <a:pt x="0" y="0"/>
                  </a:moveTo>
                  <a:lnTo>
                    <a:pt x="952500" y="0"/>
                  </a:lnTo>
                </a:path>
              </a:pathLst>
            </a:custGeom>
            <a:noFill/>
            <a:ln w="9525" cap="rnd">
              <a:solidFill>
                <a:srgbClr val="2B3D5A"/>
              </a:solidFill>
            </a:ln>
          </p:spPr>
        </p:sp>
        <p:sp>
          <p:nvSpPr>
            <p:cNvPr id="18" name="Line 18"/>
            <p:cNvSpPr/>
            <p:nvPr/>
          </p:nvSpPr>
          <p:spPr>
            <a:xfrm>
              <a:off x="1352550" y="2724150"/>
              <a:ext cx="9525" cy="1428750"/>
            </a:xfrm>
            <a:custGeom>
              <a:avLst/>
              <a:gdLst/>
              <a:ahLst/>
              <a:cxnLst/>
              <a:rect l="l" t="t" r="r" b="b"/>
              <a:pathLst>
                <a:path w="9525" h="1428750">
                  <a:moveTo>
                    <a:pt x="0" y="0"/>
                  </a:moveTo>
                  <a:lnTo>
                    <a:pt x="0" y="1428750"/>
                  </a:lnTo>
                </a:path>
              </a:pathLst>
            </a:custGeom>
            <a:noFill/>
            <a:ln w="9525" cap="rnd">
              <a:solidFill>
                <a:srgbClr val="2B3D5A"/>
              </a:solidFill>
            </a:ln>
          </p:spPr>
        </p:sp>
        <p:sp>
          <p:nvSpPr>
            <p:cNvPr id="19" name="Line 19"/>
            <p:cNvSpPr/>
            <p:nvPr/>
          </p:nvSpPr>
          <p:spPr>
            <a:xfrm>
              <a:off x="1590675" y="2724150"/>
              <a:ext cx="9525" cy="1428750"/>
            </a:xfrm>
            <a:custGeom>
              <a:avLst/>
              <a:gdLst/>
              <a:ahLst/>
              <a:cxnLst/>
              <a:rect l="l" t="t" r="r" b="b"/>
              <a:pathLst>
                <a:path w="9525" h="1428750">
                  <a:moveTo>
                    <a:pt x="0" y="0"/>
                  </a:moveTo>
                  <a:lnTo>
                    <a:pt x="0" y="1428750"/>
                  </a:lnTo>
                </a:path>
              </a:pathLst>
            </a:custGeom>
            <a:noFill/>
            <a:ln w="9525" cap="rnd">
              <a:solidFill>
                <a:srgbClr val="2B3D5A"/>
              </a:solidFill>
            </a:ln>
          </p:spPr>
        </p:sp>
        <p:sp>
          <p:nvSpPr>
            <p:cNvPr id="20" name="Line 20"/>
            <p:cNvSpPr/>
            <p:nvPr/>
          </p:nvSpPr>
          <p:spPr>
            <a:xfrm>
              <a:off x="1828800" y="2724150"/>
              <a:ext cx="9525" cy="1428750"/>
            </a:xfrm>
            <a:custGeom>
              <a:avLst/>
              <a:gdLst/>
              <a:ahLst/>
              <a:cxnLst/>
              <a:rect l="l" t="t" r="r" b="b"/>
              <a:pathLst>
                <a:path w="9525" h="1428750">
                  <a:moveTo>
                    <a:pt x="0" y="0"/>
                  </a:moveTo>
                  <a:lnTo>
                    <a:pt x="0" y="1428750"/>
                  </a:lnTo>
                </a:path>
              </a:pathLst>
            </a:custGeom>
            <a:noFill/>
            <a:ln w="9525" cap="rnd">
              <a:solidFill>
                <a:srgbClr val="2B3D5A"/>
              </a:solidFill>
            </a:ln>
          </p:spPr>
        </p:sp>
        <p:sp>
          <p:nvSpPr>
            <p:cNvPr id="21" name="Rectangle 21"/>
            <p:cNvSpPr/>
            <p:nvPr/>
          </p:nvSpPr>
          <p:spPr>
            <a:xfrm>
              <a:off x="923925" y="2771775"/>
              <a:ext cx="381000" cy="381000"/>
            </a:xfrm>
            <a:prstGeom prst="roundRect">
              <a:avLst>
                <a:gd name="adj" fmla="val 10000"/>
              </a:avLst>
            </a:prstGeom>
            <a:solidFill>
              <a:schemeClr val="accent2">
                <a:alpha val="90000"/>
              </a:schemeClr>
            </a:solidFill>
            <a:ln>
              <a:noFill/>
            </a:ln>
          </p:spPr>
        </p:sp>
        <p:sp>
          <p:nvSpPr>
            <p:cNvPr id="22" name="TextBox 22"/>
            <p:cNvSpPr txBox="1"/>
            <p:nvPr/>
          </p:nvSpPr>
          <p:spPr>
            <a:xfrm>
              <a:off x="1065966" y="2896552"/>
              <a:ext cx="969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A</a:t>
              </a:r>
            </a:p>
          </p:txBody>
        </p:sp>
        <p:sp>
          <p:nvSpPr>
            <p:cNvPr id="23" name="Rectangle 23"/>
            <p:cNvSpPr/>
            <p:nvPr/>
          </p:nvSpPr>
          <p:spPr>
            <a:xfrm>
              <a:off x="1638300" y="3724275"/>
              <a:ext cx="381000" cy="381000"/>
            </a:xfrm>
            <a:prstGeom prst="roundRect">
              <a:avLst>
                <a:gd name="adj" fmla="val 10000"/>
              </a:avLst>
            </a:prstGeom>
            <a:solidFill>
              <a:srgbClr val="45C88A">
                <a:alpha val="90000"/>
              </a:srgbClr>
            </a:solidFill>
            <a:ln>
              <a:noFill/>
            </a:ln>
          </p:spPr>
        </p:sp>
        <p:sp>
          <p:nvSpPr>
            <p:cNvPr id="24" name="TextBox 24"/>
            <p:cNvSpPr txBox="1"/>
            <p:nvPr/>
          </p:nvSpPr>
          <p:spPr>
            <a:xfrm>
              <a:off x="1780341" y="3849052"/>
              <a:ext cx="969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G</a:t>
              </a:r>
            </a:p>
          </p:txBody>
        </p:sp>
        <p:sp>
          <p:nvSpPr>
            <p:cNvPr id="25" name="Rectangle 25"/>
            <p:cNvSpPr/>
            <p:nvPr/>
          </p:nvSpPr>
          <p:spPr>
            <a:xfrm>
              <a:off x="1400175" y="3248025"/>
              <a:ext cx="190500" cy="190500"/>
            </a:xfrm>
            <a:prstGeom prst="roundRect">
              <a:avLst>
                <a:gd name="adj" fmla="val 15000"/>
              </a:avLst>
            </a:prstGeom>
            <a:solidFill>
              <a:srgbClr val="F3C24B"/>
            </a:solidFill>
            <a:ln>
              <a:noFill/>
            </a:ln>
          </p:spPr>
        </p:sp>
        <p:sp>
          <p:nvSpPr>
            <p:cNvPr id="26" name="TextBox 26"/>
            <p:cNvSpPr txBox="1"/>
            <p:nvPr/>
          </p:nvSpPr>
          <p:spPr>
            <a:xfrm>
              <a:off x="2490406" y="2881551"/>
              <a:ext cx="197281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Agent must reach a fixed goal</a:t>
              </a:r>
            </a:p>
          </p:txBody>
        </p:sp>
        <p:sp>
          <p:nvSpPr>
            <p:cNvPr id="27" name="TextBox 27"/>
            <p:cNvSpPr txBox="1"/>
            <p:nvPr/>
          </p:nvSpPr>
          <p:spPr>
            <a:xfrm>
              <a:off x="2490406" y="3081576"/>
              <a:ext cx="194575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behind a locked door. Used to</a:t>
              </a:r>
            </a:p>
          </p:txBody>
        </p:sp>
        <p:sp>
          <p:nvSpPr>
            <p:cNvPr id="28" name="TextBox 28"/>
            <p:cNvSpPr txBox="1"/>
            <p:nvPr/>
          </p:nvSpPr>
          <p:spPr>
            <a:xfrm>
              <a:off x="2490406" y="3281601"/>
              <a:ext cx="206337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show the many inference tasks</a:t>
              </a:r>
            </a:p>
          </p:txBody>
        </p:sp>
        <p:sp>
          <p:nvSpPr>
            <p:cNvPr id="29" name="TextBox 29"/>
            <p:cNvSpPr txBox="1"/>
            <p:nvPr/>
          </p:nvSpPr>
          <p:spPr>
            <a:xfrm>
              <a:off x="2490406" y="3481626"/>
              <a:ext cx="22197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one model can do, and to compare</a:t>
              </a:r>
            </a:p>
          </p:txBody>
        </p:sp>
        <p:sp>
          <p:nvSpPr>
            <p:cNvPr id="30" name="TextBox 30"/>
            <p:cNvSpPr txBox="1"/>
            <p:nvPr/>
          </p:nvSpPr>
          <p:spPr>
            <a:xfrm>
              <a:off x="2490406" y="3681651"/>
              <a:ext cx="213136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task-specific validation losses.</a:t>
              </a:r>
            </a:p>
          </p:txBody>
        </p:sp>
      </p:grpSp>
      <p:grpSp>
        <p:nvGrpSpPr>
          <p:cNvPr id="49" name="Group 49"/>
          <p:cNvGrpSpPr/>
          <p:nvPr/>
        </p:nvGrpSpPr>
        <p:grpSpPr>
          <a:xfrm>
            <a:off x="6172200" y="2171700"/>
            <a:ext cx="5410200" cy="2247900"/>
            <a:chOff x="6172200" y="2171700"/>
            <a:chExt cx="5410200" cy="2247900"/>
          </a:xfrm>
        </p:grpSpPr>
        <p:sp>
          <p:nvSpPr>
            <p:cNvPr id="32" name="Rectangle 32"/>
            <p:cNvSpPr/>
            <p:nvPr/>
          </p:nvSpPr>
          <p:spPr>
            <a:xfrm>
              <a:off x="6172200" y="2171700"/>
              <a:ext cx="5410200" cy="2247900"/>
            </a:xfrm>
            <a:prstGeom prst="roundRect">
              <a:avLst>
                <a:gd name="adj" fmla="val 5932"/>
              </a:avLst>
            </a:prstGeom>
            <a:solidFill>
              <a:schemeClr val="accent5"/>
            </a:solidFill>
            <a:ln w="14288">
              <a:solidFill>
                <a:srgbClr val="F3C24B"/>
              </a:solidFill>
            </a:ln>
          </p:spPr>
        </p:sp>
        <p:sp>
          <p:nvSpPr>
            <p:cNvPr id="33" name="Rectangle 33"/>
            <p:cNvSpPr/>
            <p:nvPr/>
          </p:nvSpPr>
          <p:spPr>
            <a:xfrm>
              <a:off x="6172200" y="2171700"/>
              <a:ext cx="57150" cy="2247900"/>
            </a:xfrm>
            <a:prstGeom prst="roundRect">
              <a:avLst>
                <a:gd name="adj" fmla="val 50000"/>
              </a:avLst>
            </a:prstGeom>
            <a:solidFill>
              <a:srgbClr val="F3C24B"/>
            </a:solidFill>
            <a:ln>
              <a:noFill/>
            </a:ln>
          </p:spPr>
        </p:sp>
        <p:sp>
          <p:nvSpPr>
            <p:cNvPr id="34" name="TextBox 34"/>
            <p:cNvSpPr txBox="1"/>
            <p:nvPr/>
          </p:nvSpPr>
          <p:spPr>
            <a:xfrm>
              <a:off x="6431661" y="2360771"/>
              <a:ext cx="732898" cy="278702"/>
            </a:xfrm>
            <a:prstGeom prst="rect">
              <a:avLst/>
            </a:prstGeom>
            <a:noFill/>
            <a:ln>
              <a:noFill/>
            </a:ln>
          </p:spPr>
          <p:txBody>
            <a:bodyPr wrap="none" lIns="0" tIns="0" rIns="0" bIns="0" anchor="t" anchorCtr="0">
              <a:spAutoFit/>
            </a:bodyPr>
            <a:lstStyle/>
            <a:p>
              <a:pPr algn="l"/>
              <a:r>
                <a:rPr lang="en-US" sz="1420" b="1" dirty="0">
                  <a:solidFill>
                    <a:srgbClr val="F3C24B"/>
                  </a:solidFill>
                  <a:latin typeface="+mn-lt"/>
                  <a:ea typeface="+mn-ea"/>
                  <a:cs typeface="+mn-cs"/>
                </a:rPr>
                <a:t>Maze2D</a:t>
              </a:r>
            </a:p>
          </p:txBody>
        </p:sp>
        <p:sp>
          <p:nvSpPr>
            <p:cNvPr id="35" name="TextBox 35"/>
            <p:cNvSpPr txBox="1"/>
            <p:nvPr/>
          </p:nvSpPr>
          <p:spPr>
            <a:xfrm>
              <a:off x="7672006" y="2405301"/>
              <a:ext cx="1809995"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continuous control · D4RL</a:t>
              </a:r>
            </a:p>
          </p:txBody>
        </p:sp>
        <p:sp>
          <p:nvSpPr>
            <p:cNvPr id="36" name="TextBox 36"/>
            <p:cNvSpPr txBox="1"/>
            <p:nvPr/>
          </p:nvSpPr>
          <p:spPr>
            <a:xfrm>
              <a:off x="6433756" y="2748201"/>
              <a:ext cx="319635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MuJoCo-physics maze. Test-time reward over</a:t>
              </a:r>
            </a:p>
          </p:txBody>
        </p:sp>
        <p:sp>
          <p:nvSpPr>
            <p:cNvPr id="37" name="TextBox 37"/>
            <p:cNvSpPr txBox="1"/>
            <p:nvPr/>
          </p:nvSpPr>
          <p:spPr>
            <a:xfrm>
              <a:off x="6433756" y="2948226"/>
              <a:ext cx="197499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1000 rollouts across 5 seeds.</a:t>
              </a:r>
            </a:p>
          </p:txBody>
        </p:sp>
        <p:sp>
          <p:nvSpPr>
            <p:cNvPr id="38" name="TextBox 38"/>
            <p:cNvSpPr txBox="1"/>
            <p:nvPr/>
          </p:nvSpPr>
          <p:spPr>
            <a:xfrm>
              <a:off x="6433756" y="3243501"/>
              <a:ext cx="64958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Baselines</a:t>
              </a:r>
            </a:p>
          </p:txBody>
        </p:sp>
        <p:sp>
          <p:nvSpPr>
            <p:cNvPr id="39" name="Rectangle 39"/>
            <p:cNvSpPr/>
            <p:nvPr/>
          </p:nvSpPr>
          <p:spPr>
            <a:xfrm>
              <a:off x="6438900" y="3467100"/>
              <a:ext cx="1600200" cy="285750"/>
            </a:xfrm>
            <a:prstGeom prst="roundRect">
              <a:avLst>
                <a:gd name="adj" fmla="val 26667"/>
              </a:avLst>
            </a:prstGeom>
            <a:solidFill>
              <a:schemeClr val="accent6"/>
            </a:solidFill>
            <a:ln w="14288">
              <a:solidFill>
                <a:srgbClr val="2B3D5A"/>
              </a:solidFill>
            </a:ln>
          </p:spPr>
        </p:sp>
        <p:sp>
          <p:nvSpPr>
            <p:cNvPr id="40" name="Ellipse 40"/>
            <p:cNvSpPr/>
            <p:nvPr/>
          </p:nvSpPr>
          <p:spPr>
            <a:xfrm>
              <a:off x="6553200" y="3562350"/>
              <a:ext cx="95250" cy="95250"/>
            </a:xfrm>
            <a:prstGeom prst="ellipse">
              <a:avLst/>
            </a:prstGeom>
            <a:solidFill>
              <a:schemeClr val="dk2"/>
            </a:solidFill>
            <a:ln>
              <a:noFill/>
            </a:ln>
          </p:spPr>
        </p:sp>
        <p:sp>
          <p:nvSpPr>
            <p:cNvPr id="41" name="TextBox 41"/>
            <p:cNvSpPr txBox="1"/>
            <p:nvPr/>
          </p:nvSpPr>
          <p:spPr>
            <a:xfrm>
              <a:off x="6738938" y="3556397"/>
              <a:ext cx="1103464"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Feedforward net</a:t>
              </a:r>
            </a:p>
          </p:txBody>
        </p:sp>
        <p:sp>
          <p:nvSpPr>
            <p:cNvPr id="42" name="Rectangle 42"/>
            <p:cNvSpPr/>
            <p:nvPr/>
          </p:nvSpPr>
          <p:spPr>
            <a:xfrm>
              <a:off x="8115300" y="3467100"/>
              <a:ext cx="1866900" cy="285750"/>
            </a:xfrm>
            <a:prstGeom prst="roundRect">
              <a:avLst>
                <a:gd name="adj" fmla="val 26667"/>
              </a:avLst>
            </a:prstGeom>
            <a:solidFill>
              <a:schemeClr val="accent6"/>
            </a:solidFill>
            <a:ln w="14288">
              <a:solidFill>
                <a:srgbClr val="2B3D5A"/>
              </a:solidFill>
            </a:ln>
          </p:spPr>
        </p:sp>
        <p:sp>
          <p:nvSpPr>
            <p:cNvPr id="43" name="Ellipse 43"/>
            <p:cNvSpPr/>
            <p:nvPr/>
          </p:nvSpPr>
          <p:spPr>
            <a:xfrm>
              <a:off x="8229600" y="3562350"/>
              <a:ext cx="95250" cy="95250"/>
            </a:xfrm>
            <a:prstGeom prst="ellipse">
              <a:avLst/>
            </a:prstGeom>
            <a:solidFill>
              <a:schemeClr val="accent2"/>
            </a:solidFill>
            <a:ln>
              <a:noFill/>
            </a:ln>
          </p:spPr>
        </p:sp>
        <p:sp>
          <p:nvSpPr>
            <p:cNvPr id="44" name="TextBox 44"/>
            <p:cNvSpPr txBox="1"/>
            <p:nvPr/>
          </p:nvSpPr>
          <p:spPr>
            <a:xfrm>
              <a:off x="8415338" y="3556397"/>
              <a:ext cx="1406289"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Decision Transformer</a:t>
              </a:r>
            </a:p>
          </p:txBody>
        </p:sp>
        <p:sp>
          <p:nvSpPr>
            <p:cNvPr id="45" name="Rectangle 45"/>
            <p:cNvSpPr/>
            <p:nvPr/>
          </p:nvSpPr>
          <p:spPr>
            <a:xfrm>
              <a:off x="6438900" y="3829050"/>
              <a:ext cx="1600200" cy="285750"/>
            </a:xfrm>
            <a:prstGeom prst="roundRect">
              <a:avLst>
                <a:gd name="adj" fmla="val 26667"/>
              </a:avLst>
            </a:prstGeom>
            <a:solidFill>
              <a:schemeClr val="accent6"/>
            </a:solidFill>
            <a:ln w="14288">
              <a:solidFill>
                <a:srgbClr val="2B3D5A"/>
              </a:solidFill>
            </a:ln>
          </p:spPr>
        </p:sp>
        <p:sp>
          <p:nvSpPr>
            <p:cNvPr id="46" name="Ellipse 46"/>
            <p:cNvSpPr/>
            <p:nvPr/>
          </p:nvSpPr>
          <p:spPr>
            <a:xfrm>
              <a:off x="6553200" y="3924300"/>
              <a:ext cx="95250" cy="95250"/>
            </a:xfrm>
            <a:prstGeom prst="ellipse">
              <a:avLst/>
            </a:prstGeom>
            <a:solidFill>
              <a:srgbClr val="45C88A"/>
            </a:solidFill>
            <a:ln>
              <a:noFill/>
            </a:ln>
          </p:spPr>
        </p:sp>
        <p:sp>
          <p:nvSpPr>
            <p:cNvPr id="47" name="TextBox 47"/>
            <p:cNvSpPr txBox="1"/>
            <p:nvPr/>
          </p:nvSpPr>
          <p:spPr>
            <a:xfrm>
              <a:off x="6738938" y="3918347"/>
              <a:ext cx="1317818"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Decision-GPT (ours)</a:t>
              </a:r>
            </a:p>
          </p:txBody>
        </p:sp>
        <p:sp>
          <p:nvSpPr>
            <p:cNvPr id="48" name="TextBox 48"/>
            <p:cNvSpPr txBox="1"/>
            <p:nvPr/>
          </p:nvSpPr>
          <p:spPr>
            <a:xfrm>
              <a:off x="8186738" y="3927872"/>
              <a:ext cx="159732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context lengths 5 and 10</a:t>
              </a:r>
            </a:p>
          </p:txBody>
        </p:sp>
      </p:grpSp>
      <p:sp>
        <p:nvSpPr>
          <p:cNvPr id="50" name="Line 50"/>
          <p:cNvSpPr/>
          <p:nvPr/>
        </p:nvSpPr>
        <p:spPr>
          <a:xfrm>
            <a:off x="609600" y="4648200"/>
            <a:ext cx="10972800" cy="9525"/>
          </a:xfrm>
          <a:custGeom>
            <a:avLst/>
            <a:gdLst/>
            <a:ahLst/>
            <a:cxnLst/>
            <a:rect l="l" t="t" r="r" b="b"/>
            <a:pathLst>
              <a:path w="10972800" h="9525">
                <a:moveTo>
                  <a:pt x="0" y="0"/>
                </a:moveTo>
                <a:lnTo>
                  <a:pt x="10972800" y="0"/>
                </a:lnTo>
              </a:path>
            </a:pathLst>
          </a:custGeom>
          <a:noFill/>
          <a:ln w="9525" cap="rnd">
            <a:solidFill>
              <a:srgbClr val="2B3D5A"/>
            </a:solidFill>
          </a:ln>
        </p:spPr>
        <p:txBody>
          <a:bodyPr/>
          <a:p/>
        </p:txBody>
      </p:sp>
      <p:sp>
        <p:nvSpPr>
          <p:cNvPr id="51" name="TextBox 51"/>
          <p:cNvSpPr txBox="1"/>
          <p:nvPr/>
        </p:nvSpPr>
        <p:spPr>
          <a:xfrm>
            <a:off x="604266" y="4858702"/>
            <a:ext cx="6657832"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MiniGrid probes task breadth; Maze2D measures reward against strong sequence baselines.</a:t>
            </a:r>
          </a:p>
        </p:txBody>
      </p:sp>
      <p:sp>
        <p:nvSpPr>
          <p:cNvPr id="52" name="cue_s06_c1_framework_evaluated_two_environments" title="cue_s06_c1_framework_evaluated_two_environments" descr="cue_s06_c1_framework_evaluated_two_environments The framework is evaluated on two environments."/>
          <p:cNvSpPr/>
          <p:nvPr/>
        </p:nvSpPr>
        <p:spPr>
          <a:xfrm>
            <a:off x="609600" y="1428521"/>
            <a:ext cx="1097280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2_first_minigrid_gridworld_where_agent" title="cue_s06_c2_first_minigrid_gridworld_where_agent" descr="cue_s06_c2_first_minigrid_gridworld_where_agent The first is MiniGrid, a gridworld where an agent must reach a fixed goal behind a locked door; it is used to qualitatively demonstrate the many inference tasks a single model can perform and to compare task-specific validation losses."/>
          <p:cNvSpPr/>
          <p:nvPr/>
        </p:nvSpPr>
        <p:spPr>
          <a:xfrm>
            <a:off x="609600" y="2171928"/>
            <a:ext cx="5334000"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6_c3_second_maze2d_continuous_control_maz" title="cue_s06_c3_second_maze2d_continuous_control_maz" descr="cue_s06_c3_second_maze2d_continuous_control_maz The second is Maze2D, a continuous-control maze from the MuJoCo-based D4RL benchmark, where the authors measure test-time reward over one thousand rollouts across five seeds, comparing Uni-MASK against a feedforward network, Decision Transformer, and their own"/>
          <p:cNvSpPr/>
          <p:nvPr/>
        </p:nvSpPr>
        <p:spPr>
          <a:xfrm>
            <a:off x="6171590" y="2171928"/>
            <a:ext cx="5409590"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415313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Train on many, win on each</a:t>
            </a:r>
          </a:p>
        </p:txBody>
      </p:sp>
      <p:grpSp>
        <p:nvGrpSpPr>
          <p:cNvPr id="18" name="Group 18"/>
          <p:cNvGrpSpPr/>
          <p:nvPr/>
        </p:nvGrpSpPr>
        <p:grpSpPr>
          <a:xfrm>
            <a:off x="609600" y="1428750"/>
            <a:ext cx="5334000" cy="1428750"/>
            <a:chOff x="609600" y="1428750"/>
            <a:chExt cx="5334000" cy="1428750"/>
          </a:xfrm>
        </p:grpSpPr>
        <p:sp>
          <p:nvSpPr>
            <p:cNvPr id="5" name="Rectangle 5"/>
            <p:cNvSpPr/>
            <p:nvPr/>
          </p:nvSpPr>
          <p:spPr>
            <a:xfrm>
              <a:off x="609600" y="1428750"/>
              <a:ext cx="5334000" cy="1428750"/>
            </a:xfrm>
            <a:prstGeom prst="roundRect">
              <a:avLst>
                <a:gd name="adj" fmla="val 9333"/>
              </a:avLst>
            </a:prstGeom>
            <a:solidFill>
              <a:schemeClr val="accent5"/>
            </a:solidFill>
            <a:ln w="14288">
              <a:solidFill>
                <a:srgbClr val="35D0C4"/>
              </a:solidFill>
            </a:ln>
          </p:spPr>
        </p:sp>
        <p:sp>
          <p:nvSpPr>
            <p:cNvPr id="6" name="Rectangle 6"/>
            <p:cNvSpPr/>
            <p:nvPr/>
          </p:nvSpPr>
          <p:spPr>
            <a:xfrm>
              <a:off x="609600" y="1428750"/>
              <a:ext cx="57150" cy="1428750"/>
            </a:xfrm>
            <a:prstGeom prst="roundRect">
              <a:avLst>
                <a:gd name="adj" fmla="val 50000"/>
              </a:avLst>
            </a:prstGeom>
            <a:solidFill>
              <a:srgbClr val="35D0C4"/>
            </a:solidFill>
            <a:ln>
              <a:noFill/>
            </a:ln>
          </p:spPr>
        </p:sp>
        <p:sp>
          <p:nvSpPr>
            <p:cNvPr id="7" name="TextBox 7"/>
            <p:cNvSpPr txBox="1"/>
            <p:nvPr/>
          </p:nvSpPr>
          <p:spPr>
            <a:xfrm>
              <a:off x="870014" y="1619012"/>
              <a:ext cx="696932" cy="242030"/>
            </a:xfrm>
            <a:prstGeom prst="rect">
              <a:avLst/>
            </a:prstGeom>
            <a:noFill/>
            <a:ln>
              <a:noFill/>
            </a:ln>
          </p:spPr>
          <p:txBody>
            <a:bodyPr wrap="none" lIns="0" tIns="0" rIns="0" bIns="0" anchor="t" anchorCtr="0">
              <a:spAutoFit/>
            </a:bodyPr>
            <a:lstStyle/>
            <a:p>
              <a:pPr algn="l"/>
              <a:r>
                <a:rPr lang="en-US" sz="1240" b="1" dirty="0">
                  <a:solidFill>
                    <a:srgbClr val="35D0C4"/>
                  </a:solidFill>
                  <a:latin typeface="+mn-lt"/>
                  <a:ea typeface="+mn-ea"/>
                  <a:cs typeface="+mn-cs"/>
                </a:rPr>
                <a:t>MiniGrid</a:t>
              </a:r>
            </a:p>
          </p:txBody>
        </p:sp>
        <p:sp>
          <p:nvSpPr>
            <p:cNvPr id="8" name="TextBox 8"/>
            <p:cNvSpPr txBox="1"/>
            <p:nvPr/>
          </p:nvSpPr>
          <p:spPr>
            <a:xfrm>
              <a:off x="870966" y="1925002"/>
              <a:ext cx="29767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Random-mask training beats single-task on</a:t>
              </a:r>
            </a:p>
          </p:txBody>
        </p:sp>
        <p:sp>
          <p:nvSpPr>
            <p:cNvPr id="9" name="TextBox 9"/>
            <p:cNvSpPr txBox="1"/>
            <p:nvPr/>
          </p:nvSpPr>
          <p:spPr>
            <a:xfrm>
              <a:off x="870966" y="2134552"/>
              <a:ext cx="29059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all tasks. Adding fine-tuning is best of all</a:t>
              </a:r>
            </a:p>
          </p:txBody>
        </p:sp>
        <p:sp>
          <p:nvSpPr>
            <p:cNvPr id="10" name="TextBox 10"/>
            <p:cNvSpPr txBox="1"/>
            <p:nvPr/>
          </p:nvSpPr>
          <p:spPr>
            <a:xfrm>
              <a:off x="870966" y="2344102"/>
              <a:ext cx="27528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 winning on every task except behavior</a:t>
              </a:r>
            </a:p>
          </p:txBody>
        </p:sp>
        <p:sp>
          <p:nvSpPr>
            <p:cNvPr id="11" name="TextBox 11"/>
            <p:cNvSpPr txBox="1"/>
            <p:nvPr/>
          </p:nvSpPr>
          <p:spPr>
            <a:xfrm>
              <a:off x="870966" y="2553652"/>
              <a:ext cx="5619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cloning.</a:t>
              </a:r>
            </a:p>
          </p:txBody>
        </p:sp>
        <p:sp>
          <p:nvSpPr>
            <p:cNvPr id="12" name="Rectangle 12"/>
            <p:cNvSpPr/>
            <p:nvPr/>
          </p:nvSpPr>
          <p:spPr>
            <a:xfrm>
              <a:off x="876300" y="2552700"/>
              <a:ext cx="2247900" cy="266700"/>
            </a:xfrm>
            <a:prstGeom prst="roundRect">
              <a:avLst>
                <a:gd name="adj" fmla="val 28571"/>
              </a:avLst>
            </a:prstGeom>
            <a:solidFill>
              <a:schemeClr val="accent6"/>
            </a:solidFill>
            <a:ln w="14288">
              <a:solidFill>
                <a:srgbClr val="2B3D5A"/>
              </a:solidFill>
            </a:ln>
          </p:spPr>
        </p:sp>
        <p:sp>
          <p:nvSpPr>
            <p:cNvPr id="13" name="Ellipse 13"/>
            <p:cNvSpPr/>
            <p:nvPr/>
          </p:nvSpPr>
          <p:spPr>
            <a:xfrm>
              <a:off x="990600" y="2638425"/>
              <a:ext cx="95250" cy="95250"/>
            </a:xfrm>
            <a:prstGeom prst="ellipse">
              <a:avLst/>
            </a:prstGeom>
            <a:solidFill>
              <a:srgbClr val="35D0C4"/>
            </a:solidFill>
            <a:ln>
              <a:noFill/>
            </a:ln>
          </p:spPr>
        </p:sp>
        <p:sp>
          <p:nvSpPr>
            <p:cNvPr id="14" name="TextBox 14"/>
            <p:cNvSpPr txBox="1"/>
            <p:nvPr/>
          </p:nvSpPr>
          <p:spPr>
            <a:xfrm>
              <a:off x="1176338" y="2632472"/>
              <a:ext cx="2095583"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random-mask &gt; single-task (all)</a:t>
              </a:r>
            </a:p>
          </p:txBody>
        </p:sp>
        <p:sp>
          <p:nvSpPr>
            <p:cNvPr id="15" name="Rectangle 15"/>
            <p:cNvSpPr/>
            <p:nvPr/>
          </p:nvSpPr>
          <p:spPr>
            <a:xfrm>
              <a:off x="3238500" y="2552700"/>
              <a:ext cx="1714500" cy="266700"/>
            </a:xfrm>
            <a:prstGeom prst="roundRect">
              <a:avLst>
                <a:gd name="adj" fmla="val 28571"/>
              </a:avLst>
            </a:prstGeom>
            <a:solidFill>
              <a:schemeClr val="accent6"/>
            </a:solidFill>
            <a:ln w="14288">
              <a:solidFill>
                <a:srgbClr val="2B3D5A"/>
              </a:solidFill>
            </a:ln>
          </p:spPr>
        </p:sp>
        <p:sp>
          <p:nvSpPr>
            <p:cNvPr id="16" name="Ellipse 16"/>
            <p:cNvSpPr/>
            <p:nvPr/>
          </p:nvSpPr>
          <p:spPr>
            <a:xfrm>
              <a:off x="3352800" y="2638425"/>
              <a:ext cx="95250" cy="95250"/>
            </a:xfrm>
            <a:prstGeom prst="ellipse">
              <a:avLst/>
            </a:prstGeom>
            <a:solidFill>
              <a:srgbClr val="45C88A"/>
            </a:solidFill>
            <a:ln>
              <a:noFill/>
            </a:ln>
          </p:spPr>
        </p:sp>
        <p:sp>
          <p:nvSpPr>
            <p:cNvPr id="17" name="TextBox 17"/>
            <p:cNvSpPr txBox="1"/>
            <p:nvPr/>
          </p:nvSpPr>
          <p:spPr>
            <a:xfrm>
              <a:off x="3538538" y="2632472"/>
              <a:ext cx="1118989"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 finetune = best</a:t>
              </a:r>
            </a:p>
          </p:txBody>
        </p:sp>
      </p:grpSp>
      <p:grpSp>
        <p:nvGrpSpPr>
          <p:cNvPr id="25" name="Group 25"/>
          <p:cNvGrpSpPr/>
          <p:nvPr/>
        </p:nvGrpSpPr>
        <p:grpSpPr>
          <a:xfrm>
            <a:off x="6172200" y="1428750"/>
            <a:ext cx="5410200" cy="1428750"/>
            <a:chOff x="6172200" y="1428750"/>
            <a:chExt cx="5410200" cy="1428750"/>
          </a:xfrm>
        </p:grpSpPr>
        <p:sp>
          <p:nvSpPr>
            <p:cNvPr id="19" name="Rectangle 19"/>
            <p:cNvSpPr/>
            <p:nvPr/>
          </p:nvSpPr>
          <p:spPr>
            <a:xfrm>
              <a:off x="6172200" y="1428750"/>
              <a:ext cx="5410200" cy="1428750"/>
            </a:xfrm>
            <a:prstGeom prst="roundRect">
              <a:avLst>
                <a:gd name="adj" fmla="val 9333"/>
              </a:avLst>
            </a:prstGeom>
            <a:solidFill>
              <a:schemeClr val="accent6"/>
            </a:solidFill>
            <a:ln w="14288">
              <a:solidFill>
                <a:srgbClr val="2B3D5A"/>
              </a:solidFill>
            </a:ln>
          </p:spPr>
        </p:sp>
        <p:sp>
          <p:nvSpPr>
            <p:cNvPr id="20" name="Rectangle 20"/>
            <p:cNvSpPr/>
            <p:nvPr/>
          </p:nvSpPr>
          <p:spPr>
            <a:xfrm>
              <a:off x="6172200" y="1428750"/>
              <a:ext cx="57150" cy="1428750"/>
            </a:xfrm>
            <a:prstGeom prst="roundRect">
              <a:avLst>
                <a:gd name="adj" fmla="val 50000"/>
              </a:avLst>
            </a:prstGeom>
            <a:solidFill>
              <a:srgbClr val="F3C24B"/>
            </a:solidFill>
            <a:ln>
              <a:noFill/>
            </a:ln>
          </p:spPr>
        </p:sp>
        <p:sp>
          <p:nvSpPr>
            <p:cNvPr id="21" name="TextBox 21"/>
            <p:cNvSpPr txBox="1"/>
            <p:nvPr/>
          </p:nvSpPr>
          <p:spPr>
            <a:xfrm>
              <a:off x="6432614" y="1619012"/>
              <a:ext cx="1306923" cy="242030"/>
            </a:xfrm>
            <a:prstGeom prst="rect">
              <a:avLst/>
            </a:prstGeom>
            <a:noFill/>
            <a:ln>
              <a:noFill/>
            </a:ln>
          </p:spPr>
          <p:txBody>
            <a:bodyPr wrap="none" lIns="0" tIns="0" rIns="0" bIns="0" anchor="t" anchorCtr="0">
              <a:spAutoFit/>
            </a:bodyPr>
            <a:lstStyle/>
            <a:p>
              <a:pPr algn="l"/>
              <a:r>
                <a:rPr lang="en-US" sz="1240" b="1" dirty="0">
                  <a:solidFill>
                    <a:srgbClr val="F3C24B"/>
                  </a:solidFill>
                  <a:latin typeface="+mn-lt"/>
                  <a:ea typeface="+mn-ea"/>
                  <a:cs typeface="+mn-cs"/>
                </a:rPr>
                <a:t>Why it matters</a:t>
              </a:r>
            </a:p>
          </p:txBody>
        </p:sp>
        <p:sp>
          <p:nvSpPr>
            <p:cNvPr id="22" name="TextBox 22"/>
            <p:cNvSpPr txBox="1"/>
            <p:nvPr/>
          </p:nvSpPr>
          <p:spPr>
            <a:xfrm>
              <a:off x="6433185" y="1974056"/>
              <a:ext cx="30394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Even if you care about only one inference</a:t>
              </a:r>
            </a:p>
          </p:txBody>
        </p:sp>
        <p:sp>
          <p:nvSpPr>
            <p:cNvPr id="23" name="TextBox 23"/>
            <p:cNvSpPr txBox="1"/>
            <p:nvPr/>
          </p:nvSpPr>
          <p:spPr>
            <a:xfrm>
              <a:off x="6433185" y="2202656"/>
              <a:ext cx="32756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task, first training on many tasks generally</a:t>
              </a:r>
            </a:p>
          </p:txBody>
        </p:sp>
        <p:sp>
          <p:nvSpPr>
            <p:cNvPr id="24" name="TextBox 24"/>
            <p:cNvSpPr txBox="1"/>
            <p:nvPr/>
          </p:nvSpPr>
          <p:spPr>
            <a:xfrm>
              <a:off x="6433185" y="2431256"/>
              <a:ext cx="15191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helps that one task.</a:t>
              </a:r>
            </a:p>
          </p:txBody>
        </p:sp>
      </p:grpSp>
      <p:grpSp>
        <p:nvGrpSpPr>
          <p:cNvPr id="51" name="Group 51"/>
          <p:cNvGrpSpPr/>
          <p:nvPr/>
        </p:nvGrpSpPr>
        <p:grpSpPr>
          <a:xfrm>
            <a:off x="609600" y="3028950"/>
            <a:ext cx="10972800" cy="1943100"/>
            <a:chOff x="609600" y="3028950"/>
            <a:chExt cx="10972800" cy="1943100"/>
          </a:xfrm>
        </p:grpSpPr>
        <p:sp>
          <p:nvSpPr>
            <p:cNvPr id="26" name="Rectangle 26"/>
            <p:cNvSpPr/>
            <p:nvPr/>
          </p:nvSpPr>
          <p:spPr>
            <a:xfrm>
              <a:off x="609600" y="3028950"/>
              <a:ext cx="10972800" cy="1943100"/>
            </a:xfrm>
            <a:prstGeom prst="roundRect">
              <a:avLst>
                <a:gd name="adj" fmla="val 6863"/>
              </a:avLst>
            </a:prstGeom>
            <a:solidFill>
              <a:schemeClr val="accent5"/>
            </a:solidFill>
            <a:ln w="14288">
              <a:solidFill>
                <a:srgbClr val="F3C24B"/>
              </a:solidFill>
            </a:ln>
          </p:spPr>
        </p:sp>
        <p:sp>
          <p:nvSpPr>
            <p:cNvPr id="27" name="Rectangle 27"/>
            <p:cNvSpPr/>
            <p:nvPr/>
          </p:nvSpPr>
          <p:spPr>
            <a:xfrm>
              <a:off x="609600" y="3028950"/>
              <a:ext cx="57150" cy="1943100"/>
            </a:xfrm>
            <a:prstGeom prst="roundRect">
              <a:avLst>
                <a:gd name="adj" fmla="val 50000"/>
              </a:avLst>
            </a:prstGeom>
            <a:solidFill>
              <a:srgbClr val="F3C24B"/>
            </a:solidFill>
            <a:ln>
              <a:noFill/>
            </a:ln>
          </p:spPr>
        </p:sp>
        <p:sp>
          <p:nvSpPr>
            <p:cNvPr id="28" name="TextBox 28"/>
            <p:cNvSpPr txBox="1"/>
            <p:nvPr/>
          </p:nvSpPr>
          <p:spPr>
            <a:xfrm>
              <a:off x="870014" y="3219212"/>
              <a:ext cx="5029556" cy="242030"/>
            </a:xfrm>
            <a:prstGeom prst="rect">
              <a:avLst/>
            </a:prstGeom>
            <a:noFill/>
            <a:ln>
              <a:noFill/>
            </a:ln>
          </p:spPr>
          <p:txBody>
            <a:bodyPr wrap="none" lIns="0" tIns="0" rIns="0" bIns="0" anchor="t" anchorCtr="0">
              <a:spAutoFit/>
            </a:bodyPr>
            <a:lstStyle/>
            <a:p>
              <a:pPr algn="l"/>
              <a:r>
                <a:rPr lang="en-US" sz="1240" b="1" dirty="0">
                  <a:solidFill>
                    <a:srgbClr val="F3C24B"/>
                  </a:solidFill>
                  <a:latin typeface="+mn-lt"/>
                  <a:ea typeface="+mn-ea"/>
                  <a:cs typeface="+mn-cs"/>
                </a:rPr>
                <a:t>Maze2D reward — fine-tuning is critical (context length 5)</a:t>
              </a:r>
            </a:p>
          </p:txBody>
        </p:sp>
        <p:sp>
          <p:nvSpPr>
            <p:cNvPr id="29" name="Rectangle 29"/>
            <p:cNvSpPr/>
            <p:nvPr/>
          </p:nvSpPr>
          <p:spPr>
            <a:xfrm>
              <a:off x="3238500" y="3543300"/>
              <a:ext cx="6858000" cy="209550"/>
            </a:xfrm>
            <a:prstGeom prst="roundRect">
              <a:avLst>
                <a:gd name="adj" fmla="val 27273"/>
              </a:avLst>
            </a:prstGeom>
            <a:solidFill>
              <a:srgbClr val="0E1B2E"/>
            </a:solidFill>
            <a:ln w="9525">
              <a:solidFill>
                <a:srgbClr val="2B3D5A"/>
              </a:solidFill>
            </a:ln>
          </p:spPr>
        </p:sp>
        <p:sp>
          <p:nvSpPr>
            <p:cNvPr id="30" name="Rectangle 30"/>
            <p:cNvSpPr/>
            <p:nvPr/>
          </p:nvSpPr>
          <p:spPr>
            <a:xfrm>
              <a:off x="3238500" y="3543300"/>
              <a:ext cx="6240780" cy="209550"/>
            </a:xfrm>
            <a:prstGeom prst="roundRect">
              <a:avLst>
                <a:gd name="adj" fmla="val 27273"/>
              </a:avLst>
            </a:prstGeom>
            <a:solidFill>
              <a:srgbClr val="45C88A"/>
            </a:solidFill>
            <a:ln>
              <a:noFill/>
            </a:ln>
          </p:spPr>
        </p:sp>
        <p:sp>
          <p:nvSpPr>
            <p:cNvPr id="31" name="TextBox 31"/>
            <p:cNvSpPr txBox="1"/>
            <p:nvPr/>
          </p:nvSpPr>
          <p:spPr>
            <a:xfrm>
              <a:off x="832172" y="3580686"/>
              <a:ext cx="2278121"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Uni[MASK] multi-task + finetune</a:t>
              </a:r>
            </a:p>
          </p:txBody>
        </p:sp>
        <p:sp>
          <p:nvSpPr>
            <p:cNvPr id="32" name="TextBox 32"/>
            <p:cNvSpPr txBox="1"/>
            <p:nvPr/>
          </p:nvSpPr>
          <p:spPr>
            <a:xfrm>
              <a:off x="9569386" y="3580686"/>
              <a:ext cx="324369" cy="198025"/>
            </a:xfrm>
            <a:prstGeom prst="rect">
              <a:avLst/>
            </a:prstGeom>
            <a:noFill/>
            <a:ln>
              <a:noFill/>
            </a:ln>
          </p:spPr>
          <p:txBody>
            <a:bodyPr wrap="none" lIns="0" tIns="0" rIns="0" bIns="0" anchor="t" anchorCtr="0">
              <a:spAutoFit/>
            </a:bodyPr>
            <a:lstStyle/>
            <a:p>
              <a:pPr algn="l"/>
              <a:r>
                <a:rPr lang="en-US" sz="1010" b="1" dirty="0">
                  <a:solidFill>
                    <a:srgbClr val="45C88A"/>
                  </a:solidFill>
                  <a:latin typeface="+mn-lt"/>
                  <a:ea typeface="+mn-ea"/>
                  <a:cs typeface="+mn-cs"/>
                </a:rPr>
                <a:t>2.73</a:t>
              </a:r>
            </a:p>
          </p:txBody>
        </p:sp>
        <p:sp>
          <p:nvSpPr>
            <p:cNvPr id="33" name="Rectangle 33"/>
            <p:cNvSpPr/>
            <p:nvPr/>
          </p:nvSpPr>
          <p:spPr>
            <a:xfrm>
              <a:off x="3238500" y="3810000"/>
              <a:ext cx="6858000" cy="209550"/>
            </a:xfrm>
            <a:prstGeom prst="roundRect">
              <a:avLst>
                <a:gd name="adj" fmla="val 27273"/>
              </a:avLst>
            </a:prstGeom>
            <a:solidFill>
              <a:srgbClr val="0E1B2E"/>
            </a:solidFill>
            <a:ln w="9525">
              <a:solidFill>
                <a:srgbClr val="2B3D5A"/>
              </a:solidFill>
            </a:ln>
          </p:spPr>
        </p:sp>
        <p:sp>
          <p:nvSpPr>
            <p:cNvPr id="34" name="Rectangle 34"/>
            <p:cNvSpPr/>
            <p:nvPr/>
          </p:nvSpPr>
          <p:spPr>
            <a:xfrm>
              <a:off x="3238500" y="3810000"/>
              <a:ext cx="6263640" cy="209550"/>
            </a:xfrm>
            <a:prstGeom prst="roundRect">
              <a:avLst>
                <a:gd name="adj" fmla="val 27273"/>
              </a:avLst>
            </a:prstGeom>
            <a:solidFill>
              <a:srgbClr val="35D0C4"/>
            </a:solidFill>
            <a:ln>
              <a:noFill/>
            </a:ln>
          </p:spPr>
        </p:sp>
        <p:sp>
          <p:nvSpPr>
            <p:cNvPr id="35" name="TextBox 35"/>
            <p:cNvSpPr txBox="1"/>
            <p:nvPr/>
          </p:nvSpPr>
          <p:spPr>
            <a:xfrm>
              <a:off x="652753" y="3847386"/>
              <a:ext cx="2457540"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Uni[MASK] random-mask + finetune</a:t>
              </a:r>
            </a:p>
          </p:txBody>
        </p:sp>
        <p:sp>
          <p:nvSpPr>
            <p:cNvPr id="36" name="TextBox 36"/>
            <p:cNvSpPr txBox="1"/>
            <p:nvPr/>
          </p:nvSpPr>
          <p:spPr>
            <a:xfrm>
              <a:off x="9592246" y="3847386"/>
              <a:ext cx="324369" cy="198025"/>
            </a:xfrm>
            <a:prstGeom prst="rect">
              <a:avLst/>
            </a:prstGeom>
            <a:noFill/>
            <a:ln>
              <a:noFill/>
            </a:ln>
          </p:spPr>
          <p:txBody>
            <a:bodyPr wrap="none" lIns="0" tIns="0" rIns="0" bIns="0" anchor="t" anchorCtr="0">
              <a:spAutoFit/>
            </a:bodyPr>
            <a:lstStyle/>
            <a:p>
              <a:pPr algn="l"/>
              <a:r>
                <a:rPr lang="en-US" sz="1010" b="1" dirty="0">
                  <a:solidFill>
                    <a:srgbClr val="35D0C4"/>
                  </a:solidFill>
                  <a:latin typeface="+mn-lt"/>
                  <a:ea typeface="+mn-ea"/>
                  <a:cs typeface="+mn-cs"/>
                </a:rPr>
                <a:t>2.74</a:t>
              </a:r>
            </a:p>
          </p:txBody>
        </p:sp>
        <p:sp>
          <p:nvSpPr>
            <p:cNvPr id="37" name="Rectangle 37"/>
            <p:cNvSpPr/>
            <p:nvPr/>
          </p:nvSpPr>
          <p:spPr>
            <a:xfrm>
              <a:off x="3238500" y="4076700"/>
              <a:ext cx="6858000" cy="209550"/>
            </a:xfrm>
            <a:prstGeom prst="roundRect">
              <a:avLst>
                <a:gd name="adj" fmla="val 27273"/>
              </a:avLst>
            </a:prstGeom>
            <a:solidFill>
              <a:srgbClr val="0E1B2E"/>
            </a:solidFill>
            <a:ln w="9525">
              <a:solidFill>
                <a:srgbClr val="2B3D5A"/>
              </a:solidFill>
            </a:ln>
          </p:spPr>
        </p:sp>
        <p:sp>
          <p:nvSpPr>
            <p:cNvPr id="38" name="Rectangle 38"/>
            <p:cNvSpPr/>
            <p:nvPr/>
          </p:nvSpPr>
          <p:spPr>
            <a:xfrm>
              <a:off x="3238500" y="4076700"/>
              <a:ext cx="3406140" cy="209550"/>
            </a:xfrm>
            <a:prstGeom prst="roundRect">
              <a:avLst>
                <a:gd name="adj" fmla="val 27273"/>
              </a:avLst>
            </a:prstGeom>
            <a:solidFill>
              <a:schemeClr val="accent2"/>
            </a:solidFill>
            <a:ln>
              <a:noFill/>
            </a:ln>
          </p:spPr>
        </p:sp>
        <p:sp>
          <p:nvSpPr>
            <p:cNvPr id="39" name="TextBox 39"/>
            <p:cNvSpPr txBox="1"/>
            <p:nvPr/>
          </p:nvSpPr>
          <p:spPr>
            <a:xfrm>
              <a:off x="1599228" y="4114086"/>
              <a:ext cx="1511065"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Decision Transformer</a:t>
              </a:r>
            </a:p>
          </p:txBody>
        </p:sp>
        <p:sp>
          <p:nvSpPr>
            <p:cNvPr id="40" name="TextBox 40"/>
            <p:cNvSpPr txBox="1"/>
            <p:nvPr/>
          </p:nvSpPr>
          <p:spPr>
            <a:xfrm>
              <a:off x="6734746" y="4114086"/>
              <a:ext cx="324369"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1.49</a:t>
              </a:r>
            </a:p>
          </p:txBody>
        </p:sp>
        <p:sp>
          <p:nvSpPr>
            <p:cNvPr id="41" name="Rectangle 41"/>
            <p:cNvSpPr/>
            <p:nvPr/>
          </p:nvSpPr>
          <p:spPr>
            <a:xfrm>
              <a:off x="3238500" y="4343400"/>
              <a:ext cx="6858000" cy="209550"/>
            </a:xfrm>
            <a:prstGeom prst="roundRect">
              <a:avLst>
                <a:gd name="adj" fmla="val 27273"/>
              </a:avLst>
            </a:prstGeom>
            <a:solidFill>
              <a:srgbClr val="0E1B2E"/>
            </a:solidFill>
            <a:ln w="9525">
              <a:solidFill>
                <a:srgbClr val="2B3D5A"/>
              </a:solidFill>
            </a:ln>
          </p:spPr>
        </p:sp>
        <p:sp>
          <p:nvSpPr>
            <p:cNvPr id="42" name="Rectangle 42"/>
            <p:cNvSpPr/>
            <p:nvPr/>
          </p:nvSpPr>
          <p:spPr>
            <a:xfrm>
              <a:off x="3238500" y="4343400"/>
              <a:ext cx="3657600" cy="209550"/>
            </a:xfrm>
            <a:prstGeom prst="roundRect">
              <a:avLst>
                <a:gd name="adj" fmla="val 27273"/>
              </a:avLst>
            </a:prstGeom>
            <a:solidFill>
              <a:schemeClr val="dk2"/>
            </a:solidFill>
            <a:ln>
              <a:noFill/>
            </a:ln>
          </p:spPr>
        </p:sp>
        <p:sp>
          <p:nvSpPr>
            <p:cNvPr id="43" name="TextBox 43"/>
            <p:cNvSpPr txBox="1"/>
            <p:nvPr/>
          </p:nvSpPr>
          <p:spPr>
            <a:xfrm>
              <a:off x="2203137" y="4380786"/>
              <a:ext cx="907157"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Feedforward</a:t>
              </a:r>
            </a:p>
          </p:txBody>
        </p:sp>
        <p:sp>
          <p:nvSpPr>
            <p:cNvPr id="44" name="TextBox 44"/>
            <p:cNvSpPr txBox="1"/>
            <p:nvPr/>
          </p:nvSpPr>
          <p:spPr>
            <a:xfrm>
              <a:off x="6986206" y="4380786"/>
              <a:ext cx="32436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1.60</a:t>
              </a:r>
            </a:p>
          </p:txBody>
        </p:sp>
        <p:sp>
          <p:nvSpPr>
            <p:cNvPr id="45" name="Rectangle 45"/>
            <p:cNvSpPr/>
            <p:nvPr/>
          </p:nvSpPr>
          <p:spPr>
            <a:xfrm>
              <a:off x="3238500" y="4610100"/>
              <a:ext cx="6858000" cy="209550"/>
            </a:xfrm>
            <a:prstGeom prst="roundRect">
              <a:avLst>
                <a:gd name="adj" fmla="val 27273"/>
              </a:avLst>
            </a:prstGeom>
            <a:solidFill>
              <a:srgbClr val="0E1B2E"/>
            </a:solidFill>
            <a:ln w="9525">
              <a:solidFill>
                <a:srgbClr val="2B3D5A"/>
              </a:solidFill>
            </a:ln>
          </p:spPr>
        </p:sp>
        <p:sp>
          <p:nvSpPr>
            <p:cNvPr id="46" name="Rectangle 46"/>
            <p:cNvSpPr/>
            <p:nvPr/>
          </p:nvSpPr>
          <p:spPr>
            <a:xfrm>
              <a:off x="3238500" y="4610100"/>
              <a:ext cx="2583180" cy="209550"/>
            </a:xfrm>
            <a:prstGeom prst="roundRect">
              <a:avLst>
                <a:gd name="adj" fmla="val 27273"/>
              </a:avLst>
            </a:prstGeom>
            <a:solidFill>
              <a:srgbClr val="F0655C"/>
            </a:solidFill>
            <a:ln>
              <a:noFill/>
            </a:ln>
          </p:spPr>
        </p:sp>
        <p:sp>
          <p:nvSpPr>
            <p:cNvPr id="47" name="TextBox 47"/>
            <p:cNvSpPr txBox="1"/>
            <p:nvPr/>
          </p:nvSpPr>
          <p:spPr>
            <a:xfrm>
              <a:off x="1231273" y="4647486"/>
              <a:ext cx="1879021"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Decision Transformer (BC)</a:t>
              </a:r>
            </a:p>
          </p:txBody>
        </p:sp>
        <p:sp>
          <p:nvSpPr>
            <p:cNvPr id="48" name="TextBox 48"/>
            <p:cNvSpPr txBox="1"/>
            <p:nvPr/>
          </p:nvSpPr>
          <p:spPr>
            <a:xfrm>
              <a:off x="5911787" y="4647486"/>
              <a:ext cx="324369" cy="198025"/>
            </a:xfrm>
            <a:prstGeom prst="rect">
              <a:avLst/>
            </a:prstGeom>
            <a:noFill/>
            <a:ln>
              <a:noFill/>
            </a:ln>
          </p:spPr>
          <p:txBody>
            <a:bodyPr wrap="none" lIns="0" tIns="0" rIns="0" bIns="0" anchor="t" anchorCtr="0">
              <a:spAutoFit/>
            </a:bodyPr>
            <a:lstStyle/>
            <a:p>
              <a:pPr algn="l"/>
              <a:r>
                <a:rPr lang="en-US" sz="1010" b="1" dirty="0">
                  <a:solidFill>
                    <a:srgbClr val="F0655C"/>
                  </a:solidFill>
                  <a:latin typeface="+mn-lt"/>
                  <a:ea typeface="+mn-ea"/>
                  <a:cs typeface="+mn-cs"/>
                </a:rPr>
                <a:t>1.13</a:t>
              </a:r>
            </a:p>
          </p:txBody>
        </p:sp>
        <p:sp>
          <p:nvSpPr>
            <p:cNvPr id="49" name="Line 49"/>
            <p:cNvSpPr/>
            <p:nvPr/>
          </p:nvSpPr>
          <p:spPr>
            <a:xfrm>
              <a:off x="7810500" y="3505200"/>
              <a:ext cx="9525" cy="1333500"/>
            </a:xfrm>
            <a:custGeom>
              <a:avLst/>
              <a:gdLst/>
              <a:ahLst/>
              <a:cxnLst/>
              <a:rect l="l" t="t" r="r" b="b"/>
              <a:pathLst>
                <a:path w="9525" h="1333500">
                  <a:moveTo>
                    <a:pt x="0" y="0"/>
                  </a:moveTo>
                  <a:lnTo>
                    <a:pt x="0" y="1333500"/>
                  </a:lnTo>
                </a:path>
              </a:pathLst>
            </a:custGeom>
            <a:noFill/>
            <a:ln w="9525" cap="rnd">
              <a:solidFill>
                <a:srgbClr val="6B819C"/>
              </a:solidFill>
              <a:custDash>
                <a:ds d="300000" sp="400000"/>
              </a:custDash>
            </a:ln>
          </p:spPr>
        </p:sp>
        <p:sp>
          <p:nvSpPr>
            <p:cNvPr id="50" name="TextBox 50"/>
            <p:cNvSpPr txBox="1"/>
            <p:nvPr/>
          </p:nvSpPr>
          <p:spPr>
            <a:xfrm>
              <a:off x="7710114" y="3397091"/>
              <a:ext cx="200773" cy="161925"/>
            </a:xfrm>
            <a:prstGeom prst="rect">
              <a:avLst/>
            </a:prstGeom>
            <a:noFill/>
            <a:ln>
              <a:noFill/>
            </a:ln>
          </p:spPr>
          <p:txBody>
            <a:bodyPr wrap="none" lIns="0" tIns="0" rIns="0" bIns="0" anchor="t" anchorCtr="0">
              <a:spAutoFit/>
            </a:bodyPr>
            <a:lstStyle/>
            <a:p>
              <a:pPr algn="ctr"/>
              <a:r>
                <a:rPr lang="en-US" sz="820" b="1" dirty="0">
                  <a:solidFill>
                    <a:srgbClr val="6B819C"/>
                  </a:solidFill>
                  <a:latin typeface="+mn-lt"/>
                  <a:ea typeface="+mn-ea"/>
                  <a:cs typeface="+mn-cs"/>
                </a:rPr>
                <a:t>2.0</a:t>
              </a:r>
            </a:p>
          </p:txBody>
        </p:sp>
      </p:grpSp>
      <p:sp>
        <p:nvSpPr>
          <p:cNvPr id="52" name="TextBox 52"/>
          <p:cNvSpPr txBox="1"/>
          <p:nvPr/>
        </p:nvSpPr>
        <p:spPr>
          <a:xfrm>
            <a:off x="604266" y="5144452"/>
            <a:ext cx="6366850"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Fine-tuned Uni[MASK] reaches ~2.7, outperforming every baseline at context length 5.</a:t>
            </a:r>
          </a:p>
        </p:txBody>
      </p:sp>
      <p:sp>
        <p:nvSpPr>
          <p:cNvPr id="53" name="cue_s07_c1_minigrid_environment_single_trained" title="cue_s07_c1_minigrid_environment_single_trained" descr="cue_s07_c1_minigrid_environment_single_trained In the MiniGrid environment, a single model trained with random masking outperforms single-task models on all tasks, and adding task-specific fine-tuning on top of random-mask pretraining gives the best performance of all, beating single-task models on every t"/>
          <p:cNvSpPr/>
          <p:nvPr/>
        </p:nvSpPr>
        <p:spPr>
          <a:xfrm>
            <a:off x="609600" y="142852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7_c2_means_even_you_only_care" title="cue_s07_c2_means_even_you_only_care" descr="cue_s07_c2_means_even_you_only_care This means that even if you only care about one inference task, first training on many tasks generally helps."/>
          <p:cNvSpPr/>
          <p:nvPr/>
        </p:nvSpPr>
        <p:spPr>
          <a:xfrm>
            <a:off x="6171590" y="1428521"/>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3_harder_maze2d_environment_fine_tunin" title="cue_s07_c3_harder_maze2d_environment_fine_tunin" descr="cue_s07_c3_harder_maze2d_environment_fine_tunin In the harder Maze2D environment, fine-tuning becomes critical: the fine-tuned Uni-MASK models reach rewards around two point seven, outperforming every baseline at context length five, including a Decision Transformer that scores only around one point one to"/>
          <p:cNvSpPr/>
          <p:nvPr/>
        </p:nvSpPr>
        <p:spPr>
          <a:xfrm>
            <a:off x="609600" y="3029178"/>
            <a:ext cx="109728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26261"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a:t>
            </a:r>
          </a:p>
        </p:txBody>
      </p:sp>
      <p:sp>
        <p:nvSpPr>
          <p:cNvPr id="4" name="TextBox 4"/>
          <p:cNvSpPr txBox="1"/>
          <p:nvPr/>
        </p:nvSpPr>
        <p:spPr>
          <a:xfrm>
            <a:off x="598170" y="804862"/>
            <a:ext cx="431058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controlled comparisons</a:t>
            </a:r>
          </a:p>
        </p:txBody>
      </p:sp>
      <p:grpSp>
        <p:nvGrpSpPr>
          <p:cNvPr id="15" name="Group 15"/>
          <p:cNvGrpSpPr/>
          <p:nvPr/>
        </p:nvGrpSpPr>
        <p:grpSpPr>
          <a:xfrm>
            <a:off x="609600" y="1428750"/>
            <a:ext cx="5334000" cy="1428750"/>
            <a:chOff x="609600" y="1428750"/>
            <a:chExt cx="5334000" cy="1428750"/>
          </a:xfrm>
        </p:grpSpPr>
        <p:sp>
          <p:nvSpPr>
            <p:cNvPr id="5" name="Rectangle 5"/>
            <p:cNvSpPr/>
            <p:nvPr/>
          </p:nvSpPr>
          <p:spPr>
            <a:xfrm>
              <a:off x="609600" y="1428750"/>
              <a:ext cx="5334000" cy="1428750"/>
            </a:xfrm>
            <a:prstGeom prst="roundRect">
              <a:avLst>
                <a:gd name="adj" fmla="val 9333"/>
              </a:avLst>
            </a:prstGeom>
            <a:solidFill>
              <a:schemeClr val="accent5"/>
            </a:solidFill>
            <a:ln w="14288">
              <a:solidFill>
                <a:srgbClr val="2B3D5A"/>
              </a:solidFill>
            </a:ln>
          </p:spPr>
        </p:sp>
        <p:sp>
          <p:nvSpPr>
            <p:cNvPr id="6" name="Rectangle 6"/>
            <p:cNvSpPr/>
            <p:nvPr/>
          </p:nvSpPr>
          <p:spPr>
            <a:xfrm>
              <a:off x="609600" y="1428750"/>
              <a:ext cx="57150" cy="1428750"/>
            </a:xfrm>
            <a:prstGeom prst="roundRect">
              <a:avLst>
                <a:gd name="adj" fmla="val 50000"/>
              </a:avLst>
            </a:prstGeom>
            <a:solidFill>
              <a:schemeClr val="accent2"/>
            </a:solidFill>
            <a:ln>
              <a:noFill/>
            </a:ln>
          </p:spPr>
        </p:sp>
        <p:sp>
          <p:nvSpPr>
            <p:cNvPr id="7" name="TextBox 7"/>
            <p:cNvSpPr txBox="1"/>
            <p:nvPr/>
          </p:nvSpPr>
          <p:spPr>
            <a:xfrm>
              <a:off x="870014" y="1619012"/>
              <a:ext cx="2578176"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1 · Which ingredient matters?</a:t>
              </a:r>
            </a:p>
          </p:txBody>
        </p:sp>
        <p:sp>
          <p:nvSpPr>
            <p:cNvPr id="8" name="TextBox 8"/>
            <p:cNvSpPr txBox="1"/>
            <p:nvPr/>
          </p:nvSpPr>
          <p:spPr>
            <a:xfrm>
              <a:off x="870966" y="1925002"/>
              <a:ext cx="31036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Comparing the four training regimes isolates</a:t>
              </a:r>
            </a:p>
          </p:txBody>
        </p:sp>
        <p:sp>
          <p:nvSpPr>
            <p:cNvPr id="9" name="TextBox 9"/>
            <p:cNvSpPr txBox="1"/>
            <p:nvPr/>
          </p:nvSpPr>
          <p:spPr>
            <a:xfrm>
              <a:off x="870966" y="2134552"/>
              <a:ext cx="29154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each ingredient — and shows fine-tuning is</a:t>
              </a:r>
            </a:p>
          </p:txBody>
        </p:sp>
        <p:sp>
          <p:nvSpPr>
            <p:cNvPr id="10" name="TextBox 10"/>
            <p:cNvSpPr txBox="1"/>
            <p:nvPr/>
          </p:nvSpPr>
          <p:spPr>
            <a:xfrm>
              <a:off x="870966" y="2344102"/>
              <a:ext cx="27203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decisive one for the harder Maze2D</a:t>
              </a:r>
            </a:p>
          </p:txBody>
        </p:sp>
        <p:sp>
          <p:nvSpPr>
            <p:cNvPr id="11" name="TextBox 11"/>
            <p:cNvSpPr txBox="1"/>
            <p:nvPr/>
          </p:nvSpPr>
          <p:spPr>
            <a:xfrm>
              <a:off x="870966" y="2553652"/>
              <a:ext cx="93651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environment.</a:t>
              </a:r>
            </a:p>
          </p:txBody>
        </p:sp>
        <p:sp>
          <p:nvSpPr>
            <p:cNvPr id="12" name="Rectangle 12"/>
            <p:cNvSpPr/>
            <p:nvPr/>
          </p:nvSpPr>
          <p:spPr>
            <a:xfrm>
              <a:off x="876300" y="2590800"/>
              <a:ext cx="1714500" cy="266700"/>
            </a:xfrm>
            <a:prstGeom prst="roundRect">
              <a:avLst>
                <a:gd name="adj" fmla="val 28571"/>
              </a:avLst>
            </a:prstGeom>
            <a:solidFill>
              <a:schemeClr val="accent6"/>
            </a:solidFill>
            <a:ln w="14288">
              <a:solidFill>
                <a:srgbClr val="2B3D5A"/>
              </a:solidFill>
            </a:ln>
          </p:spPr>
        </p:sp>
        <p:sp>
          <p:nvSpPr>
            <p:cNvPr id="13" name="Ellipse 13"/>
            <p:cNvSpPr/>
            <p:nvPr/>
          </p:nvSpPr>
          <p:spPr>
            <a:xfrm>
              <a:off x="990600" y="2676525"/>
              <a:ext cx="95250" cy="95250"/>
            </a:xfrm>
            <a:prstGeom prst="ellipse">
              <a:avLst/>
            </a:prstGeom>
            <a:solidFill>
              <a:srgbClr val="45C88A"/>
            </a:solidFill>
            <a:ln>
              <a:noFill/>
            </a:ln>
          </p:spPr>
        </p:sp>
        <p:sp>
          <p:nvSpPr>
            <p:cNvPr id="14" name="TextBox 14"/>
            <p:cNvSpPr txBox="1"/>
            <p:nvPr/>
          </p:nvSpPr>
          <p:spPr>
            <a:xfrm>
              <a:off x="1176338" y="2670572"/>
              <a:ext cx="1305007"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fine-tune = decisive</a:t>
              </a:r>
            </a:p>
          </p:txBody>
        </p:sp>
      </p:grpSp>
      <p:grpSp>
        <p:nvGrpSpPr>
          <p:cNvPr id="29" name="Group 29"/>
          <p:cNvGrpSpPr/>
          <p:nvPr/>
        </p:nvGrpSpPr>
        <p:grpSpPr>
          <a:xfrm>
            <a:off x="6172200" y="1428750"/>
            <a:ext cx="5410200" cy="1428750"/>
            <a:chOff x="6172200" y="1428750"/>
            <a:chExt cx="5410200" cy="1428750"/>
          </a:xfrm>
        </p:grpSpPr>
        <p:sp>
          <p:nvSpPr>
            <p:cNvPr id="16" name="Rectangle 16"/>
            <p:cNvSpPr/>
            <p:nvPr/>
          </p:nvSpPr>
          <p:spPr>
            <a:xfrm>
              <a:off x="6172200" y="1428750"/>
              <a:ext cx="5410200" cy="1428750"/>
            </a:xfrm>
            <a:prstGeom prst="roundRect">
              <a:avLst>
                <a:gd name="adj" fmla="val 9333"/>
              </a:avLst>
            </a:prstGeom>
            <a:solidFill>
              <a:schemeClr val="accent5"/>
            </a:solidFill>
            <a:ln w="14288">
              <a:solidFill>
                <a:srgbClr val="2B3D5A"/>
              </a:solidFill>
            </a:ln>
          </p:spPr>
        </p:sp>
        <p:sp>
          <p:nvSpPr>
            <p:cNvPr id="17" name="Rectangle 17"/>
            <p:cNvSpPr/>
            <p:nvPr/>
          </p:nvSpPr>
          <p:spPr>
            <a:xfrm>
              <a:off x="6172200" y="1428750"/>
              <a:ext cx="57150" cy="1428750"/>
            </a:xfrm>
            <a:prstGeom prst="roundRect">
              <a:avLst>
                <a:gd name="adj" fmla="val 50000"/>
              </a:avLst>
            </a:prstGeom>
            <a:solidFill>
              <a:srgbClr val="F3C24B"/>
            </a:solidFill>
            <a:ln>
              <a:noFill/>
            </a:ln>
          </p:spPr>
        </p:sp>
        <p:sp>
          <p:nvSpPr>
            <p:cNvPr id="18" name="TextBox 18"/>
            <p:cNvSpPr txBox="1"/>
            <p:nvPr/>
          </p:nvSpPr>
          <p:spPr>
            <a:xfrm>
              <a:off x="6432614" y="1619012"/>
              <a:ext cx="2155930" cy="242030"/>
            </a:xfrm>
            <a:prstGeom prst="rect">
              <a:avLst/>
            </a:prstGeom>
            <a:noFill/>
            <a:ln>
              <a:noFill/>
            </a:ln>
          </p:spPr>
          <p:txBody>
            <a:bodyPr wrap="none" lIns="0" tIns="0" rIns="0" bIns="0" anchor="t" anchorCtr="0">
              <a:spAutoFit/>
            </a:bodyPr>
            <a:lstStyle/>
            <a:p>
              <a:pPr algn="l"/>
              <a:r>
                <a:rPr lang="en-US" sz="1240" b="1" dirty="0">
                  <a:solidFill>
                    <a:srgbClr val="F3C24B"/>
                  </a:solidFill>
                  <a:latin typeface="+mn-lt"/>
                  <a:ea typeface="+mn-ea"/>
                  <a:cs typeface="+mn-cs"/>
                </a:rPr>
                <a:t>2 · BERT vs GPT backbone</a:t>
              </a:r>
            </a:p>
          </p:txBody>
        </p:sp>
        <p:sp>
          <p:nvSpPr>
            <p:cNvPr id="19" name="TextBox 19"/>
            <p:cNvSpPr txBox="1"/>
            <p:nvPr/>
          </p:nvSpPr>
          <p:spPr>
            <a:xfrm>
              <a:off x="6433566" y="1925002"/>
              <a:ext cx="30773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Single-task Uni[MASK] vs Decision-GPT holds</a:t>
              </a:r>
            </a:p>
          </p:txBody>
        </p:sp>
        <p:sp>
          <p:nvSpPr>
            <p:cNvPr id="20" name="TextBox 20"/>
            <p:cNvSpPr txBox="1"/>
            <p:nvPr/>
          </p:nvSpPr>
          <p:spPr>
            <a:xfrm>
              <a:off x="6433566" y="2134552"/>
              <a:ext cx="26751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everything fixed except the backbone:</a:t>
              </a:r>
            </a:p>
          </p:txBody>
        </p:sp>
        <p:sp>
          <p:nvSpPr>
            <p:cNvPr id="21" name="TextBox 21"/>
            <p:cNvSpPr txBox="1"/>
            <p:nvPr/>
          </p:nvSpPr>
          <p:spPr>
            <a:xfrm>
              <a:off x="6433566" y="2344102"/>
              <a:ext cx="29753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bidirectional BERT-style vs autoregressive</a:t>
              </a:r>
            </a:p>
          </p:txBody>
        </p:sp>
        <p:sp>
          <p:nvSpPr>
            <p:cNvPr id="22" name="TextBox 22"/>
            <p:cNvSpPr txBox="1"/>
            <p:nvPr/>
          </p:nvSpPr>
          <p:spPr>
            <a:xfrm>
              <a:off x="6433566" y="2553652"/>
              <a:ext cx="7685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GPT-style.</a:t>
              </a:r>
            </a:p>
          </p:txBody>
        </p:sp>
        <p:sp>
          <p:nvSpPr>
            <p:cNvPr id="23" name="Rectangle 23"/>
            <p:cNvSpPr/>
            <p:nvPr/>
          </p:nvSpPr>
          <p:spPr>
            <a:xfrm>
              <a:off x="6438900" y="2590800"/>
              <a:ext cx="1428750" cy="266700"/>
            </a:xfrm>
            <a:prstGeom prst="roundRect">
              <a:avLst>
                <a:gd name="adj" fmla="val 28571"/>
              </a:avLst>
            </a:prstGeom>
            <a:solidFill>
              <a:schemeClr val="accent6"/>
            </a:solidFill>
            <a:ln w="14288">
              <a:solidFill>
                <a:srgbClr val="2B3D5A"/>
              </a:solidFill>
            </a:ln>
          </p:spPr>
        </p:sp>
        <p:sp>
          <p:nvSpPr>
            <p:cNvPr id="24" name="Ellipse 24"/>
            <p:cNvSpPr/>
            <p:nvPr/>
          </p:nvSpPr>
          <p:spPr>
            <a:xfrm>
              <a:off x="6553200" y="2676525"/>
              <a:ext cx="95250" cy="95250"/>
            </a:xfrm>
            <a:prstGeom prst="ellipse">
              <a:avLst/>
            </a:prstGeom>
            <a:solidFill>
              <a:srgbClr val="35D0C4"/>
            </a:solidFill>
            <a:ln>
              <a:noFill/>
            </a:ln>
          </p:spPr>
        </p:sp>
        <p:sp>
          <p:nvSpPr>
            <p:cNvPr id="25" name="TextBox 25"/>
            <p:cNvSpPr txBox="1"/>
            <p:nvPr/>
          </p:nvSpPr>
          <p:spPr>
            <a:xfrm>
              <a:off x="6738938" y="2670572"/>
              <a:ext cx="724641"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BERT-style</a:t>
              </a:r>
            </a:p>
          </p:txBody>
        </p:sp>
        <p:sp>
          <p:nvSpPr>
            <p:cNvPr id="26" name="Rectangle 26"/>
            <p:cNvSpPr/>
            <p:nvPr/>
          </p:nvSpPr>
          <p:spPr>
            <a:xfrm>
              <a:off x="7981950" y="2590800"/>
              <a:ext cx="1428750" cy="266700"/>
            </a:xfrm>
            <a:prstGeom prst="roundRect">
              <a:avLst>
                <a:gd name="adj" fmla="val 28571"/>
              </a:avLst>
            </a:prstGeom>
            <a:solidFill>
              <a:schemeClr val="accent6"/>
            </a:solidFill>
            <a:ln w="14288">
              <a:solidFill>
                <a:srgbClr val="2B3D5A"/>
              </a:solidFill>
            </a:ln>
          </p:spPr>
        </p:sp>
        <p:sp>
          <p:nvSpPr>
            <p:cNvPr id="27" name="Ellipse 27"/>
            <p:cNvSpPr/>
            <p:nvPr/>
          </p:nvSpPr>
          <p:spPr>
            <a:xfrm>
              <a:off x="8096250" y="2676525"/>
              <a:ext cx="95250" cy="95250"/>
            </a:xfrm>
            <a:prstGeom prst="ellipse">
              <a:avLst/>
            </a:prstGeom>
            <a:solidFill>
              <a:srgbClr val="A487F0"/>
            </a:solidFill>
            <a:ln>
              <a:noFill/>
            </a:ln>
          </p:spPr>
        </p:sp>
        <p:sp>
          <p:nvSpPr>
            <p:cNvPr id="28" name="TextBox 28"/>
            <p:cNvSpPr txBox="1"/>
            <p:nvPr/>
          </p:nvSpPr>
          <p:spPr>
            <a:xfrm>
              <a:off x="8281988" y="2670572"/>
              <a:ext cx="647269"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GPT-style</a:t>
              </a:r>
            </a:p>
          </p:txBody>
        </p:sp>
      </p:grpSp>
      <p:grpSp>
        <p:nvGrpSpPr>
          <p:cNvPr id="39" name="Group 39"/>
          <p:cNvGrpSpPr/>
          <p:nvPr/>
        </p:nvGrpSpPr>
        <p:grpSpPr>
          <a:xfrm>
            <a:off x="609600" y="3028950"/>
            <a:ext cx="10972800" cy="1428750"/>
            <a:chOff x="609600" y="3028950"/>
            <a:chExt cx="10972800" cy="1428750"/>
          </a:xfrm>
        </p:grpSpPr>
        <p:sp>
          <p:nvSpPr>
            <p:cNvPr id="30" name="Rectangle 30"/>
            <p:cNvSpPr/>
            <p:nvPr/>
          </p:nvSpPr>
          <p:spPr>
            <a:xfrm>
              <a:off x="609600" y="3028950"/>
              <a:ext cx="10972800" cy="1428750"/>
            </a:xfrm>
            <a:prstGeom prst="roundRect">
              <a:avLst>
                <a:gd name="adj" fmla="val 9333"/>
              </a:avLst>
            </a:prstGeom>
            <a:solidFill>
              <a:schemeClr val="accent6"/>
            </a:solidFill>
            <a:ln w="14288">
              <a:solidFill>
                <a:srgbClr val="2B3D5A"/>
              </a:solidFill>
            </a:ln>
          </p:spPr>
        </p:sp>
        <p:sp>
          <p:nvSpPr>
            <p:cNvPr id="31" name="Rectangle 31"/>
            <p:cNvSpPr/>
            <p:nvPr/>
          </p:nvSpPr>
          <p:spPr>
            <a:xfrm>
              <a:off x="609600" y="3028950"/>
              <a:ext cx="57150" cy="1428750"/>
            </a:xfrm>
            <a:prstGeom prst="roundRect">
              <a:avLst>
                <a:gd name="adj" fmla="val 50000"/>
              </a:avLst>
            </a:prstGeom>
            <a:solidFill>
              <a:srgbClr val="A487F0"/>
            </a:solidFill>
            <a:ln>
              <a:noFill/>
            </a:ln>
          </p:spPr>
        </p:sp>
        <p:sp>
          <p:nvSpPr>
            <p:cNvPr id="32" name="TextBox 32"/>
            <p:cNvSpPr txBox="1"/>
            <p:nvPr/>
          </p:nvSpPr>
          <p:spPr>
            <a:xfrm>
              <a:off x="870014" y="3219212"/>
              <a:ext cx="3760583" cy="242030"/>
            </a:xfrm>
            <a:prstGeom prst="rect">
              <a:avLst/>
            </a:prstGeom>
            <a:noFill/>
            <a:ln>
              <a:noFill/>
            </a:ln>
          </p:spPr>
          <p:txBody>
            <a:bodyPr wrap="none" lIns="0" tIns="0" rIns="0" bIns="0" anchor="t" anchorCtr="0">
              <a:spAutoFit/>
            </a:bodyPr>
            <a:lstStyle/>
            <a:p>
              <a:pPr algn="l"/>
              <a:r>
                <a:rPr lang="en-US" sz="1240" b="1" dirty="0">
                  <a:solidFill>
                    <a:srgbClr val="A487F0"/>
                  </a:solidFill>
                  <a:latin typeface="+mn-lt"/>
                  <a:ea typeface="+mn-ea"/>
                  <a:cs typeface="+mn-cs"/>
                </a:rPr>
                <a:t>The nuance: context length flips the winner</a:t>
              </a:r>
            </a:p>
          </p:txBody>
        </p:sp>
        <p:sp>
          <p:nvSpPr>
            <p:cNvPr id="33" name="Rectangle 33"/>
            <p:cNvSpPr/>
            <p:nvPr/>
          </p:nvSpPr>
          <p:spPr>
            <a:xfrm>
              <a:off x="914400" y="3505200"/>
              <a:ext cx="4953000" cy="800100"/>
            </a:xfrm>
            <a:prstGeom prst="roundRect">
              <a:avLst>
                <a:gd name="adj" fmla="val 11905"/>
              </a:avLst>
            </a:prstGeom>
            <a:solidFill>
              <a:srgbClr val="0F2A28"/>
            </a:solidFill>
            <a:ln w="12382">
              <a:solidFill>
                <a:srgbClr val="35D0C4"/>
              </a:solidFill>
            </a:ln>
          </p:spPr>
        </p:sp>
        <p:sp>
          <p:nvSpPr>
            <p:cNvPr id="34" name="TextBox 34"/>
            <p:cNvSpPr txBox="1"/>
            <p:nvPr/>
          </p:nvSpPr>
          <p:spPr>
            <a:xfrm>
              <a:off x="2785580" y="3639502"/>
              <a:ext cx="1210640" cy="205359"/>
            </a:xfrm>
            <a:prstGeom prst="rect">
              <a:avLst/>
            </a:prstGeom>
            <a:noFill/>
            <a:ln>
              <a:noFill/>
            </a:ln>
          </p:spPr>
          <p:txBody>
            <a:bodyPr wrap="none" lIns="0" tIns="0" rIns="0" bIns="0" anchor="t" anchorCtr="0">
              <a:spAutoFit/>
            </a:bodyPr>
            <a:lstStyle/>
            <a:p>
              <a:pPr algn="ctr"/>
              <a:r>
                <a:rPr lang="en-US" sz="1050" b="1" dirty="0">
                  <a:solidFill>
                    <a:srgbClr val="35D0C4"/>
                  </a:solidFill>
                  <a:latin typeface="+mn-lt"/>
                  <a:ea typeface="+mn-ea"/>
                  <a:cs typeface="+mn-cs"/>
                </a:rPr>
                <a:t>Context length 5</a:t>
              </a:r>
            </a:p>
          </p:txBody>
        </p:sp>
        <p:sp>
          <p:nvSpPr>
            <p:cNvPr id="35" name="TextBox 35"/>
            <p:cNvSpPr txBox="1"/>
            <p:nvPr/>
          </p:nvSpPr>
          <p:spPr>
            <a:xfrm>
              <a:off x="2135539" y="3959304"/>
              <a:ext cx="2510723"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BERT-style Uni[MASK] works well</a:t>
              </a:r>
            </a:p>
          </p:txBody>
        </p:sp>
        <p:sp>
          <p:nvSpPr>
            <p:cNvPr id="36" name="Rectangle 36"/>
            <p:cNvSpPr/>
            <p:nvPr/>
          </p:nvSpPr>
          <p:spPr>
            <a:xfrm>
              <a:off x="6324600" y="3505200"/>
              <a:ext cx="4953000" cy="800100"/>
            </a:xfrm>
            <a:prstGeom prst="roundRect">
              <a:avLst>
                <a:gd name="adj" fmla="val 11905"/>
              </a:avLst>
            </a:prstGeom>
            <a:solidFill>
              <a:srgbClr val="241A34"/>
            </a:solidFill>
            <a:ln w="12382">
              <a:solidFill>
                <a:srgbClr val="A487F0"/>
              </a:solidFill>
            </a:ln>
          </p:spPr>
        </p:sp>
        <p:sp>
          <p:nvSpPr>
            <p:cNvPr id="37" name="TextBox 37"/>
            <p:cNvSpPr txBox="1"/>
            <p:nvPr/>
          </p:nvSpPr>
          <p:spPr>
            <a:xfrm>
              <a:off x="8154787" y="3639502"/>
              <a:ext cx="1292625" cy="205359"/>
            </a:xfrm>
            <a:prstGeom prst="rect">
              <a:avLst/>
            </a:prstGeom>
            <a:noFill/>
            <a:ln>
              <a:noFill/>
            </a:ln>
          </p:spPr>
          <p:txBody>
            <a:bodyPr wrap="none" lIns="0" tIns="0" rIns="0" bIns="0" anchor="t" anchorCtr="0">
              <a:spAutoFit/>
            </a:bodyPr>
            <a:lstStyle/>
            <a:p>
              <a:pPr algn="ctr"/>
              <a:r>
                <a:rPr lang="en-US" sz="1050" b="1" dirty="0">
                  <a:solidFill>
                    <a:srgbClr val="A487F0"/>
                  </a:solidFill>
                  <a:latin typeface="+mn-lt"/>
                  <a:ea typeface="+mn-ea"/>
                  <a:cs typeface="+mn-cs"/>
                </a:rPr>
                <a:t>Context length 10</a:t>
              </a:r>
            </a:p>
          </p:txBody>
        </p:sp>
        <p:sp>
          <p:nvSpPr>
            <p:cNvPr id="38" name="TextBox 38"/>
            <p:cNvSpPr txBox="1"/>
            <p:nvPr/>
          </p:nvSpPr>
          <p:spPr>
            <a:xfrm>
              <a:off x="7495326" y="3959304"/>
              <a:ext cx="2611549"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BERT degrades → Decision-GPT wins</a:t>
              </a:r>
            </a:p>
          </p:txBody>
        </p:sp>
      </p:grpSp>
      <p:sp>
        <p:nvSpPr>
          <p:cNvPr id="40" name="TextBox 40"/>
          <p:cNvSpPr txBox="1"/>
          <p:nvPr/>
        </p:nvSpPr>
        <p:spPr>
          <a:xfrm>
            <a:off x="604266" y="4668202"/>
            <a:ext cx="556449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Takeaway: BERT-style backbones struggle with longer-sequence generation.</a:t>
            </a:r>
          </a:p>
        </p:txBody>
      </p:sp>
      <p:sp>
        <p:nvSpPr>
          <p:cNvPr id="41" name="cue_s08_c1_training_regime_comparison_isolates" title="cue_s08_c1_training_regime_comparison_isolates" descr="cue_s08_c1_training_regime_comparison_isolates The training-regime comparison isolates the effect of each ingredient and shows fine-tuning is the decisive one for good performance in the more complex Maze2D environment."/>
          <p:cNvSpPr/>
          <p:nvPr/>
        </p:nvSpPr>
        <p:spPr>
          <a:xfrm>
            <a:off x="609600" y="142852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2_second_controlled_comparison_pits_si" title="cue_s08_c2_second_controlled_comparison_pits_si" descr="cue_s08_c2_second_controlled_comparison_pits_si A second, controlled comparison pits single-task Uni-MASK against the Decision-GPT baseline, where the only real difference is a BERT-style versus a GPT-style backbone."/>
          <p:cNvSpPr/>
          <p:nvPr/>
        </p:nvSpPr>
        <p:spPr>
          <a:xfrm>
            <a:off x="6171590" y="1428521"/>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8_c3_picture_nuanced_bert_works_well" title="cue_s08_c3_picture_nuanced_bert_works_well" descr="cue_s08_c3_picture_nuanced_bert_works_well Here the picture is nuanced: BERT works well at a short context length of five, but at length ten the BERT-style Uni-MASK models degrade and are outbeaten by the GPT-based Decision-GPT, revealing a known difficulty of BERT-like architectures with longer-sequen"/>
          <p:cNvSpPr/>
          <p:nvPr/>
        </p:nvSpPr>
        <p:spPr>
          <a:xfrm>
            <a:off x="609600" y="3029178"/>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rgbClr val="F3C24B"/>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2317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four numbers</a:t>
            </a:r>
          </a:p>
        </p:txBody>
      </p:sp>
      <p:grpSp>
        <p:nvGrpSpPr>
          <p:cNvPr id="8" name="Group 8"/>
          <p:cNvGrpSpPr/>
          <p:nvPr/>
        </p:nvGrpSpPr>
        <p:grpSpPr>
          <a:xfrm>
            <a:off x="609600" y="1428750"/>
            <a:ext cx="10972800" cy="514350"/>
            <a:chOff x="609600" y="1428750"/>
            <a:chExt cx="10972800" cy="514350"/>
          </a:xfrm>
        </p:grpSpPr>
        <p:sp>
          <p:nvSpPr>
            <p:cNvPr id="5" name="Rectangle 5"/>
            <p:cNvSpPr/>
            <p:nvPr/>
          </p:nvSpPr>
          <p:spPr>
            <a:xfrm>
              <a:off x="609600" y="1428750"/>
              <a:ext cx="10972800" cy="514350"/>
            </a:xfrm>
            <a:prstGeom prst="roundRect">
              <a:avLst>
                <a:gd name="adj" fmla="val 22222"/>
              </a:avLst>
            </a:prstGeom>
            <a:solidFill>
              <a:schemeClr val="accent6"/>
            </a:solidFill>
            <a:ln w="14288">
              <a:solidFill>
                <a:srgbClr val="2B3D5A"/>
              </a:solidFill>
            </a:ln>
          </p:spPr>
        </p:sp>
        <p:sp>
          <p:nvSpPr>
            <p:cNvPr id="6" name="Rectangle 6"/>
            <p:cNvSpPr/>
            <p:nvPr/>
          </p:nvSpPr>
          <p:spPr>
            <a:xfrm>
              <a:off x="609600" y="1428750"/>
              <a:ext cx="57150" cy="514350"/>
            </a:xfrm>
            <a:prstGeom prst="roundRect">
              <a:avLst>
                <a:gd name="adj" fmla="val 50000"/>
              </a:avLst>
            </a:prstGeom>
            <a:solidFill>
              <a:srgbClr val="F3C24B"/>
            </a:solidFill>
            <a:ln>
              <a:noFill/>
            </a:ln>
          </p:spPr>
        </p:sp>
        <p:sp>
          <p:nvSpPr>
            <p:cNvPr id="7" name="TextBox 7"/>
            <p:cNvSpPr txBox="1"/>
            <p:nvPr/>
          </p:nvSpPr>
          <p:spPr>
            <a:xfrm>
              <a:off x="870204" y="1623060"/>
              <a:ext cx="2850805" cy="234696"/>
            </a:xfrm>
            <a:prstGeom prst="rect">
              <a:avLst/>
            </a:prstGeom>
            <a:noFill/>
            <a:ln>
              <a:noFill/>
            </a:ln>
          </p:spPr>
          <p:txBody>
            <a:bodyPr wrap="none" lIns="0" tIns="0" rIns="0" bIns="0" anchor="t" anchorCtr="0">
              <a:spAutoFit/>
            </a:bodyPr>
            <a:lstStyle/>
            <a:p>
              <a:pPr algn="l"/>
              <a:r>
                <a:rPr lang="en-US" sz="1200" b="1" dirty="0">
                  <a:solidFill>
                    <a:srgbClr val="F3C24B"/>
                  </a:solidFill>
                  <a:latin typeface="+mn-lt"/>
                  <a:ea typeface="+mn-ea"/>
                  <a:cs typeface="+mn-cs"/>
                </a:rPr>
                <a:t>A few numbers capture the impact</a:t>
              </a:r>
            </a:p>
          </p:txBody>
        </p:sp>
      </p:grpSp>
      <p:grpSp>
        <p:nvGrpSpPr>
          <p:cNvPr id="26" name="Group 26"/>
          <p:cNvGrpSpPr/>
          <p:nvPr/>
        </p:nvGrpSpPr>
        <p:grpSpPr>
          <a:xfrm>
            <a:off x="604076" y="2225754"/>
            <a:ext cx="10959274" cy="1336596"/>
            <a:chOff x="604076" y="2225754"/>
            <a:chExt cx="10959274" cy="1336596"/>
          </a:xfrm>
        </p:grpSpPr>
        <p:sp>
          <p:nvSpPr>
            <p:cNvPr id="9" name="TextBox 9"/>
            <p:cNvSpPr txBox="1"/>
            <p:nvPr/>
          </p:nvSpPr>
          <p:spPr>
            <a:xfrm>
              <a:off x="604076" y="2225754"/>
              <a:ext cx="264942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Maze2D reward at context length 5</a:t>
              </a:r>
            </a:p>
          </p:txBody>
        </p:sp>
        <p:sp>
          <p:nvSpPr>
            <p:cNvPr id="10" name="Rectangle 10"/>
            <p:cNvSpPr/>
            <p:nvPr/>
          </p:nvSpPr>
          <p:spPr>
            <a:xfrm>
              <a:off x="609600" y="2495550"/>
              <a:ext cx="2609850" cy="1066800"/>
            </a:xfrm>
            <a:prstGeom prst="roundRect">
              <a:avLst>
                <a:gd name="adj" fmla="val 10714"/>
              </a:avLst>
            </a:prstGeom>
            <a:solidFill>
              <a:schemeClr val="accent6"/>
            </a:solidFill>
            <a:ln w="14288">
              <a:solidFill>
                <a:srgbClr val="2B3D5A"/>
              </a:solidFill>
            </a:ln>
          </p:spPr>
        </p:sp>
        <p:sp>
          <p:nvSpPr>
            <p:cNvPr id="11" name="Rectangle 11"/>
            <p:cNvSpPr/>
            <p:nvPr/>
          </p:nvSpPr>
          <p:spPr>
            <a:xfrm>
              <a:off x="609600" y="2495550"/>
              <a:ext cx="2609850" cy="47625"/>
            </a:xfrm>
            <a:prstGeom prst="roundRect">
              <a:avLst>
                <a:gd name="adj" fmla="val 50000"/>
              </a:avLst>
            </a:prstGeom>
            <a:solidFill>
              <a:srgbClr val="45C88A"/>
            </a:solidFill>
            <a:ln>
              <a:noFill/>
            </a:ln>
          </p:spPr>
        </p:sp>
        <p:sp>
          <p:nvSpPr>
            <p:cNvPr id="12" name="TextBox 12"/>
            <p:cNvSpPr txBox="1"/>
            <p:nvPr/>
          </p:nvSpPr>
          <p:spPr>
            <a:xfrm>
              <a:off x="1480997" y="2737485"/>
              <a:ext cx="867057" cy="528066"/>
            </a:xfrm>
            <a:prstGeom prst="rect">
              <a:avLst/>
            </a:prstGeom>
            <a:noFill/>
            <a:ln>
              <a:noFill/>
            </a:ln>
          </p:spPr>
          <p:txBody>
            <a:bodyPr wrap="none" lIns="0" tIns="0" rIns="0" bIns="0" anchor="t" anchorCtr="0">
              <a:spAutoFit/>
            </a:bodyPr>
            <a:lstStyle/>
            <a:p>
              <a:pPr algn="ctr"/>
              <a:r>
                <a:rPr lang="en-US" sz="2700" b="1" dirty="0">
                  <a:solidFill>
                    <a:srgbClr val="45C88A"/>
                  </a:solidFill>
                  <a:latin typeface="+mn-lt"/>
                  <a:ea typeface="+mn-ea"/>
                  <a:cs typeface="+mn-cs"/>
                </a:rPr>
                <a:t>2.73</a:t>
              </a:r>
            </a:p>
          </p:txBody>
        </p:sp>
        <p:sp>
          <p:nvSpPr>
            <p:cNvPr id="13" name="TextBox 13"/>
            <p:cNvSpPr txBox="1"/>
            <p:nvPr/>
          </p:nvSpPr>
          <p:spPr>
            <a:xfrm>
              <a:off x="1121155" y="3247787"/>
              <a:ext cx="158674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Uni[MASK] finetune · BC</a:t>
              </a:r>
            </a:p>
          </p:txBody>
        </p:sp>
        <p:sp>
          <p:nvSpPr>
            <p:cNvPr id="14" name="Rectangle 14"/>
            <p:cNvSpPr/>
            <p:nvPr/>
          </p:nvSpPr>
          <p:spPr>
            <a:xfrm>
              <a:off x="3390900" y="2495550"/>
              <a:ext cx="2609850" cy="1066800"/>
            </a:xfrm>
            <a:prstGeom prst="roundRect">
              <a:avLst>
                <a:gd name="adj" fmla="val 10714"/>
              </a:avLst>
            </a:prstGeom>
            <a:solidFill>
              <a:schemeClr val="accent6"/>
            </a:solidFill>
            <a:ln w="14288">
              <a:solidFill>
                <a:srgbClr val="2B3D5A"/>
              </a:solidFill>
            </a:ln>
          </p:spPr>
        </p:sp>
        <p:sp>
          <p:nvSpPr>
            <p:cNvPr id="15" name="Rectangle 15"/>
            <p:cNvSpPr/>
            <p:nvPr/>
          </p:nvSpPr>
          <p:spPr>
            <a:xfrm>
              <a:off x="3390900" y="2495550"/>
              <a:ext cx="2609850" cy="47625"/>
            </a:xfrm>
            <a:prstGeom prst="roundRect">
              <a:avLst>
                <a:gd name="adj" fmla="val 50000"/>
              </a:avLst>
            </a:prstGeom>
            <a:solidFill>
              <a:srgbClr val="F0655C"/>
            </a:solidFill>
            <a:ln>
              <a:noFill/>
            </a:ln>
          </p:spPr>
        </p:sp>
        <p:sp>
          <p:nvSpPr>
            <p:cNvPr id="16" name="TextBox 16"/>
            <p:cNvSpPr txBox="1"/>
            <p:nvPr/>
          </p:nvSpPr>
          <p:spPr>
            <a:xfrm>
              <a:off x="4262297" y="2737485"/>
              <a:ext cx="867057" cy="528066"/>
            </a:xfrm>
            <a:prstGeom prst="rect">
              <a:avLst/>
            </a:prstGeom>
            <a:noFill/>
            <a:ln>
              <a:noFill/>
            </a:ln>
          </p:spPr>
          <p:txBody>
            <a:bodyPr wrap="none" lIns="0" tIns="0" rIns="0" bIns="0" anchor="t" anchorCtr="0">
              <a:spAutoFit/>
            </a:bodyPr>
            <a:lstStyle/>
            <a:p>
              <a:pPr algn="ctr"/>
              <a:r>
                <a:rPr lang="en-US" sz="2700" b="1" dirty="0">
                  <a:solidFill>
                    <a:srgbClr val="F0655C"/>
                  </a:solidFill>
                  <a:latin typeface="+mn-lt"/>
                  <a:ea typeface="+mn-ea"/>
                  <a:cs typeface="+mn-cs"/>
                </a:rPr>
                <a:t>1.13</a:t>
              </a:r>
            </a:p>
          </p:txBody>
        </p:sp>
        <p:sp>
          <p:nvSpPr>
            <p:cNvPr id="17" name="TextBox 17"/>
            <p:cNvSpPr txBox="1"/>
            <p:nvPr/>
          </p:nvSpPr>
          <p:spPr>
            <a:xfrm>
              <a:off x="3838242" y="3247787"/>
              <a:ext cx="17151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Decision Transformer · BC</a:t>
              </a:r>
            </a:p>
          </p:txBody>
        </p:sp>
        <p:sp>
          <p:nvSpPr>
            <p:cNvPr id="18" name="Rectangle 18"/>
            <p:cNvSpPr/>
            <p:nvPr/>
          </p:nvSpPr>
          <p:spPr>
            <a:xfrm>
              <a:off x="6172200" y="2495550"/>
              <a:ext cx="2609850" cy="1066800"/>
            </a:xfrm>
            <a:prstGeom prst="roundRect">
              <a:avLst>
                <a:gd name="adj" fmla="val 10714"/>
              </a:avLst>
            </a:prstGeom>
            <a:solidFill>
              <a:schemeClr val="accent6"/>
            </a:solidFill>
            <a:ln w="14288">
              <a:solidFill>
                <a:srgbClr val="2B3D5A"/>
              </a:solidFill>
            </a:ln>
          </p:spPr>
        </p:sp>
        <p:sp>
          <p:nvSpPr>
            <p:cNvPr id="19" name="Rectangle 19"/>
            <p:cNvSpPr/>
            <p:nvPr/>
          </p:nvSpPr>
          <p:spPr>
            <a:xfrm>
              <a:off x="6172200" y="2495550"/>
              <a:ext cx="2609850" cy="47625"/>
            </a:xfrm>
            <a:prstGeom prst="roundRect">
              <a:avLst>
                <a:gd name="adj" fmla="val 50000"/>
              </a:avLst>
            </a:prstGeom>
            <a:solidFill>
              <a:srgbClr val="45C88A"/>
            </a:solidFill>
            <a:ln>
              <a:noFill/>
            </a:ln>
          </p:spPr>
        </p:sp>
        <p:sp>
          <p:nvSpPr>
            <p:cNvPr id="20" name="TextBox 20"/>
            <p:cNvSpPr txBox="1"/>
            <p:nvPr/>
          </p:nvSpPr>
          <p:spPr>
            <a:xfrm>
              <a:off x="7043597" y="2737485"/>
              <a:ext cx="867057" cy="528066"/>
            </a:xfrm>
            <a:prstGeom prst="rect">
              <a:avLst/>
            </a:prstGeom>
            <a:noFill/>
            <a:ln>
              <a:noFill/>
            </a:ln>
          </p:spPr>
          <p:txBody>
            <a:bodyPr wrap="none" lIns="0" tIns="0" rIns="0" bIns="0" anchor="t" anchorCtr="0">
              <a:spAutoFit/>
            </a:bodyPr>
            <a:lstStyle/>
            <a:p>
              <a:pPr algn="ctr"/>
              <a:r>
                <a:rPr lang="en-US" sz="2700" b="1" dirty="0">
                  <a:solidFill>
                    <a:srgbClr val="45C88A"/>
                  </a:solidFill>
                  <a:latin typeface="+mn-lt"/>
                  <a:ea typeface="+mn-ea"/>
                  <a:cs typeface="+mn-cs"/>
                </a:rPr>
                <a:t>2.73</a:t>
              </a:r>
            </a:p>
          </p:txBody>
        </p:sp>
        <p:sp>
          <p:nvSpPr>
            <p:cNvPr id="21" name="TextBox 21"/>
            <p:cNvSpPr txBox="1"/>
            <p:nvPr/>
          </p:nvSpPr>
          <p:spPr>
            <a:xfrm>
              <a:off x="6683755" y="3247787"/>
              <a:ext cx="158674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Uni[MASK] finetune · RC</a:t>
              </a:r>
            </a:p>
          </p:txBody>
        </p:sp>
        <p:sp>
          <p:nvSpPr>
            <p:cNvPr id="22" name="Rectangle 22"/>
            <p:cNvSpPr/>
            <p:nvPr/>
          </p:nvSpPr>
          <p:spPr>
            <a:xfrm>
              <a:off x="8953500" y="2495550"/>
              <a:ext cx="2609850" cy="1066800"/>
            </a:xfrm>
            <a:prstGeom prst="roundRect">
              <a:avLst>
                <a:gd name="adj" fmla="val 10714"/>
              </a:avLst>
            </a:prstGeom>
            <a:solidFill>
              <a:schemeClr val="accent6"/>
            </a:solidFill>
            <a:ln w="14288">
              <a:solidFill>
                <a:srgbClr val="2B3D5A"/>
              </a:solidFill>
            </a:ln>
          </p:spPr>
        </p:sp>
        <p:sp>
          <p:nvSpPr>
            <p:cNvPr id="23" name="Rectangle 23"/>
            <p:cNvSpPr/>
            <p:nvPr/>
          </p:nvSpPr>
          <p:spPr>
            <a:xfrm>
              <a:off x="8953500" y="2495550"/>
              <a:ext cx="2609850" cy="47625"/>
            </a:xfrm>
            <a:prstGeom prst="roundRect">
              <a:avLst>
                <a:gd name="adj" fmla="val 50000"/>
              </a:avLst>
            </a:prstGeom>
            <a:solidFill>
              <a:srgbClr val="F0655C"/>
            </a:solidFill>
            <a:ln>
              <a:noFill/>
            </a:ln>
          </p:spPr>
        </p:sp>
        <p:sp>
          <p:nvSpPr>
            <p:cNvPr id="24" name="TextBox 24"/>
            <p:cNvSpPr txBox="1"/>
            <p:nvPr/>
          </p:nvSpPr>
          <p:spPr>
            <a:xfrm>
              <a:off x="9824897" y="2737485"/>
              <a:ext cx="867057" cy="528066"/>
            </a:xfrm>
            <a:prstGeom prst="rect">
              <a:avLst/>
            </a:prstGeom>
            <a:noFill/>
            <a:ln>
              <a:noFill/>
            </a:ln>
          </p:spPr>
          <p:txBody>
            <a:bodyPr wrap="none" lIns="0" tIns="0" rIns="0" bIns="0" anchor="t" anchorCtr="0">
              <a:spAutoFit/>
            </a:bodyPr>
            <a:lstStyle/>
            <a:p>
              <a:pPr algn="ctr"/>
              <a:r>
                <a:rPr lang="en-US" sz="2700" b="1" dirty="0">
                  <a:solidFill>
                    <a:srgbClr val="F0655C"/>
                  </a:solidFill>
                  <a:latin typeface="+mn-lt"/>
                  <a:ea typeface="+mn-ea"/>
                  <a:cs typeface="+mn-cs"/>
                </a:rPr>
                <a:t>1.49</a:t>
              </a:r>
            </a:p>
          </p:txBody>
        </p:sp>
        <p:sp>
          <p:nvSpPr>
            <p:cNvPr id="25" name="TextBox 25"/>
            <p:cNvSpPr txBox="1"/>
            <p:nvPr/>
          </p:nvSpPr>
          <p:spPr>
            <a:xfrm>
              <a:off x="9400842" y="3247787"/>
              <a:ext cx="17151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Decision Transformer · RC</a:t>
              </a:r>
            </a:p>
          </p:txBody>
        </p:sp>
      </p:grpSp>
      <p:grpSp>
        <p:nvGrpSpPr>
          <p:cNvPr id="34" name="Group 34"/>
          <p:cNvGrpSpPr/>
          <p:nvPr/>
        </p:nvGrpSpPr>
        <p:grpSpPr>
          <a:xfrm>
            <a:off x="609600" y="3790950"/>
            <a:ext cx="5334000" cy="1104900"/>
            <a:chOff x="609600" y="3790950"/>
            <a:chExt cx="5334000" cy="1104900"/>
          </a:xfrm>
        </p:grpSpPr>
        <p:sp>
          <p:nvSpPr>
            <p:cNvPr id="27" name="Rectangle 27"/>
            <p:cNvSpPr/>
            <p:nvPr/>
          </p:nvSpPr>
          <p:spPr>
            <a:xfrm>
              <a:off x="609600" y="3790950"/>
              <a:ext cx="5334000" cy="1104900"/>
            </a:xfrm>
            <a:prstGeom prst="roundRect">
              <a:avLst>
                <a:gd name="adj" fmla="val 12069"/>
              </a:avLst>
            </a:prstGeom>
            <a:solidFill>
              <a:schemeClr val="accent5"/>
            </a:solidFill>
            <a:ln w="14288">
              <a:solidFill>
                <a:srgbClr val="2B3D5A"/>
              </a:solidFill>
            </a:ln>
          </p:spPr>
        </p:sp>
        <p:sp>
          <p:nvSpPr>
            <p:cNvPr id="28" name="Rectangle 28"/>
            <p:cNvSpPr/>
            <p:nvPr/>
          </p:nvSpPr>
          <p:spPr>
            <a:xfrm>
              <a:off x="609600" y="3790950"/>
              <a:ext cx="57150" cy="1104900"/>
            </a:xfrm>
            <a:prstGeom prst="roundRect">
              <a:avLst>
                <a:gd name="adj" fmla="val 50000"/>
              </a:avLst>
            </a:prstGeom>
            <a:solidFill>
              <a:schemeClr val="accent2"/>
            </a:solidFill>
            <a:ln>
              <a:noFill/>
            </a:ln>
          </p:spPr>
        </p:sp>
        <p:sp>
          <p:nvSpPr>
            <p:cNvPr id="29" name="TextBox 29"/>
            <p:cNvSpPr txBox="1"/>
            <p:nvPr/>
          </p:nvSpPr>
          <p:spPr>
            <a:xfrm>
              <a:off x="870204" y="3985260"/>
              <a:ext cx="195935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Averaged for reliability</a:t>
              </a:r>
            </a:p>
          </p:txBody>
        </p:sp>
        <p:sp>
          <p:nvSpPr>
            <p:cNvPr id="30" name="TextBox 30"/>
            <p:cNvSpPr txBox="1"/>
            <p:nvPr/>
          </p:nvSpPr>
          <p:spPr>
            <a:xfrm>
              <a:off x="867918" y="4298632"/>
              <a:ext cx="856389" cy="322707"/>
            </a:xfrm>
            <a:prstGeom prst="rect">
              <a:avLst/>
            </a:prstGeom>
            <a:noFill/>
            <a:ln>
              <a:noFill/>
            </a:ln>
          </p:spPr>
          <p:txBody>
            <a:bodyPr wrap="none" lIns="0" tIns="0" rIns="0" bIns="0" anchor="t" anchorCtr="0">
              <a:spAutoFit/>
            </a:bodyPr>
            <a:lstStyle/>
            <a:p>
              <a:pPr algn="l"/>
              <a:r>
                <a:rPr lang="en-US" sz="1650" b="1" dirty="0">
                  <a:solidFill>
                    <a:srgbClr val="35D0C4"/>
                  </a:solidFill>
                  <a:latin typeface="+mn-lt"/>
                  <a:ea typeface="+mn-ea"/>
                  <a:cs typeface="+mn-cs"/>
                </a:rPr>
                <a:t>5 seeds</a:t>
              </a:r>
            </a:p>
          </p:txBody>
        </p:sp>
        <p:sp>
          <p:nvSpPr>
            <p:cNvPr id="31" name="TextBox 31"/>
            <p:cNvSpPr txBox="1"/>
            <p:nvPr/>
          </p:nvSpPr>
          <p:spPr>
            <a:xfrm>
              <a:off x="1858518" y="4298632"/>
              <a:ext cx="145040" cy="322707"/>
            </a:xfrm>
            <a:prstGeom prst="rect">
              <a:avLst/>
            </a:prstGeom>
            <a:noFill/>
            <a:ln>
              <a:noFill/>
            </a:ln>
          </p:spPr>
          <p:txBody>
            <a:bodyPr wrap="none" lIns="0" tIns="0" rIns="0" bIns="0" anchor="t" anchorCtr="0">
              <a:spAutoFit/>
            </a:bodyPr>
            <a:lstStyle/>
            <a:p>
              <a:pPr algn="l"/>
              <a:r>
                <a:rPr lang="en-US" sz="1650" b="1" dirty="0">
                  <a:solidFill>
                    <a:schemeClr val="dk2"/>
                  </a:solidFill>
                  <a:latin typeface="+mn-lt"/>
                  <a:ea typeface="+mn-ea"/>
                  <a:cs typeface="+mn-cs"/>
                </a:rPr>
                <a:t>·</a:t>
              </a:r>
            </a:p>
          </p:txBody>
        </p:sp>
        <p:sp>
          <p:nvSpPr>
            <p:cNvPr id="32" name="TextBox 32"/>
            <p:cNvSpPr txBox="1"/>
            <p:nvPr/>
          </p:nvSpPr>
          <p:spPr>
            <a:xfrm>
              <a:off x="2049018" y="4298632"/>
              <a:ext cx="1509431" cy="322707"/>
            </a:xfrm>
            <a:prstGeom prst="rect">
              <a:avLst/>
            </a:prstGeom>
            <a:noFill/>
            <a:ln>
              <a:noFill/>
            </a:ln>
          </p:spPr>
          <p:txBody>
            <a:bodyPr wrap="none" lIns="0" tIns="0" rIns="0" bIns="0" anchor="t" anchorCtr="0">
              <a:spAutoFit/>
            </a:bodyPr>
            <a:lstStyle/>
            <a:p>
              <a:pPr algn="l"/>
              <a:r>
                <a:rPr lang="en-US" sz="1650" b="1" dirty="0">
                  <a:solidFill>
                    <a:srgbClr val="35D0C4"/>
                  </a:solidFill>
                  <a:latin typeface="+mn-lt"/>
                  <a:ea typeface="+mn-ea"/>
                  <a:cs typeface="+mn-cs"/>
                </a:rPr>
                <a:t>1000 rollouts</a:t>
              </a:r>
            </a:p>
          </p:txBody>
        </p:sp>
        <p:sp>
          <p:nvSpPr>
            <p:cNvPr id="33" name="TextBox 33"/>
            <p:cNvSpPr txBox="1"/>
            <p:nvPr/>
          </p:nvSpPr>
          <p:spPr>
            <a:xfrm>
              <a:off x="871347" y="4638199"/>
              <a:ext cx="1736863"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per Maze2D configuration</a:t>
              </a:r>
            </a:p>
          </p:txBody>
        </p:sp>
      </p:grpSp>
      <p:grpSp>
        <p:nvGrpSpPr>
          <p:cNvPr id="53" name="Group 53"/>
          <p:cNvGrpSpPr/>
          <p:nvPr/>
        </p:nvGrpSpPr>
        <p:grpSpPr>
          <a:xfrm>
            <a:off x="6172200" y="3790950"/>
            <a:ext cx="5410200" cy="1104900"/>
            <a:chOff x="6172200" y="3790950"/>
            <a:chExt cx="5410200" cy="1104900"/>
          </a:xfrm>
        </p:grpSpPr>
        <p:sp>
          <p:nvSpPr>
            <p:cNvPr id="35" name="Rectangle 35"/>
            <p:cNvSpPr/>
            <p:nvPr/>
          </p:nvSpPr>
          <p:spPr>
            <a:xfrm>
              <a:off x="6172200" y="3790950"/>
              <a:ext cx="5410200" cy="1104900"/>
            </a:xfrm>
            <a:prstGeom prst="roundRect">
              <a:avLst>
                <a:gd name="adj" fmla="val 12069"/>
              </a:avLst>
            </a:prstGeom>
            <a:solidFill>
              <a:schemeClr val="accent5"/>
            </a:solidFill>
            <a:ln w="14288">
              <a:solidFill>
                <a:srgbClr val="45C88A"/>
              </a:solidFill>
            </a:ln>
          </p:spPr>
        </p:sp>
        <p:sp>
          <p:nvSpPr>
            <p:cNvPr id="36" name="Rectangle 36"/>
            <p:cNvSpPr/>
            <p:nvPr/>
          </p:nvSpPr>
          <p:spPr>
            <a:xfrm>
              <a:off x="6172200" y="3790950"/>
              <a:ext cx="57150" cy="1104900"/>
            </a:xfrm>
            <a:prstGeom prst="roundRect">
              <a:avLst>
                <a:gd name="adj" fmla="val 50000"/>
              </a:avLst>
            </a:prstGeom>
            <a:solidFill>
              <a:srgbClr val="45C88A"/>
            </a:solidFill>
            <a:ln>
              <a:noFill/>
            </a:ln>
          </p:spPr>
        </p:sp>
        <p:sp>
          <p:nvSpPr>
            <p:cNvPr id="37" name="TextBox 37"/>
            <p:cNvSpPr txBox="1"/>
            <p:nvPr/>
          </p:nvSpPr>
          <p:spPr>
            <a:xfrm>
              <a:off x="6432804" y="3966210"/>
              <a:ext cx="2681042" cy="234696"/>
            </a:xfrm>
            <a:prstGeom prst="rect">
              <a:avLst/>
            </a:prstGeom>
            <a:noFill/>
            <a:ln>
              <a:noFill/>
            </a:ln>
          </p:spPr>
          <p:txBody>
            <a:bodyPr wrap="none" lIns="0" tIns="0" rIns="0" bIns="0" anchor="t" anchorCtr="0">
              <a:spAutoFit/>
            </a:bodyPr>
            <a:lstStyle/>
            <a:p>
              <a:pPr algn="l"/>
              <a:r>
                <a:rPr lang="en-US" sz="1200" b="1" dirty="0">
                  <a:solidFill>
                    <a:srgbClr val="45C88A"/>
                  </a:solidFill>
                  <a:latin typeface="+mn-lt"/>
                  <a:ea typeface="+mn-ea"/>
                  <a:cs typeface="+mn-cs"/>
                </a:rPr>
                <a:t>One model, five inference tasks</a:t>
              </a:r>
            </a:p>
          </p:txBody>
        </p:sp>
        <p:sp>
          <p:nvSpPr>
            <p:cNvPr id="38" name="Rectangle 38"/>
            <p:cNvSpPr/>
            <p:nvPr/>
          </p:nvSpPr>
          <p:spPr>
            <a:xfrm>
              <a:off x="6438900" y="4248150"/>
              <a:ext cx="1600200" cy="266700"/>
            </a:xfrm>
            <a:prstGeom prst="roundRect">
              <a:avLst>
                <a:gd name="adj" fmla="val 28571"/>
              </a:avLst>
            </a:prstGeom>
            <a:solidFill>
              <a:schemeClr val="accent6"/>
            </a:solidFill>
            <a:ln w="14288">
              <a:solidFill>
                <a:srgbClr val="2B3D5A"/>
              </a:solidFill>
            </a:ln>
          </p:spPr>
        </p:sp>
        <p:sp>
          <p:nvSpPr>
            <p:cNvPr id="39" name="Ellipse 39"/>
            <p:cNvSpPr/>
            <p:nvPr/>
          </p:nvSpPr>
          <p:spPr>
            <a:xfrm>
              <a:off x="6553200" y="4333875"/>
              <a:ext cx="95250" cy="95250"/>
            </a:xfrm>
            <a:prstGeom prst="ellipse">
              <a:avLst/>
            </a:prstGeom>
            <a:solidFill>
              <a:srgbClr val="35D0C4"/>
            </a:solidFill>
            <a:ln>
              <a:noFill/>
            </a:ln>
          </p:spPr>
        </p:sp>
        <p:sp>
          <p:nvSpPr>
            <p:cNvPr id="40" name="TextBox 40"/>
            <p:cNvSpPr txBox="1"/>
            <p:nvPr/>
          </p:nvSpPr>
          <p:spPr>
            <a:xfrm>
              <a:off x="6738938" y="4331970"/>
              <a:ext cx="1001809" cy="176212"/>
            </a:xfrm>
            <a:prstGeom prst="rect">
              <a:avLst/>
            </a:prstGeom>
            <a:noFill/>
            <a:ln>
              <a:noFill/>
            </a:ln>
          </p:spPr>
          <p:txBody>
            <a:bodyPr wrap="none" lIns="0" tIns="0" rIns="0" bIns="0" anchor="t" anchorCtr="0">
              <a:spAutoFit/>
            </a:bodyPr>
            <a:lstStyle/>
            <a:p>
              <a:pPr algn="l"/>
              <a:r>
                <a:rPr lang="en-US" sz="900" b="1" dirty="0">
                  <a:solidFill>
                    <a:schemeClr val="dk1"/>
                  </a:solidFill>
                  <a:latin typeface="+mn-lt"/>
                  <a:ea typeface="+mn-ea"/>
                  <a:cs typeface="+mn-cs"/>
                </a:rPr>
                <a:t>behavior cloning</a:t>
              </a:r>
            </a:p>
          </p:txBody>
        </p:sp>
        <p:sp>
          <p:nvSpPr>
            <p:cNvPr id="41" name="Rectangle 41"/>
            <p:cNvSpPr/>
            <p:nvPr/>
          </p:nvSpPr>
          <p:spPr>
            <a:xfrm>
              <a:off x="8115300" y="4248150"/>
              <a:ext cx="1428750" cy="266700"/>
            </a:xfrm>
            <a:prstGeom prst="roundRect">
              <a:avLst>
                <a:gd name="adj" fmla="val 28571"/>
              </a:avLst>
            </a:prstGeom>
            <a:solidFill>
              <a:schemeClr val="accent6"/>
            </a:solidFill>
            <a:ln w="14288">
              <a:solidFill>
                <a:srgbClr val="2B3D5A"/>
              </a:solidFill>
            </a:ln>
          </p:spPr>
        </p:sp>
        <p:sp>
          <p:nvSpPr>
            <p:cNvPr id="42" name="Ellipse 42"/>
            <p:cNvSpPr/>
            <p:nvPr/>
          </p:nvSpPr>
          <p:spPr>
            <a:xfrm>
              <a:off x="8229600" y="4333875"/>
              <a:ext cx="95250" cy="95250"/>
            </a:xfrm>
            <a:prstGeom prst="ellipse">
              <a:avLst/>
            </a:prstGeom>
            <a:solidFill>
              <a:srgbClr val="F3C24B"/>
            </a:solidFill>
            <a:ln>
              <a:noFill/>
            </a:ln>
          </p:spPr>
        </p:sp>
        <p:sp>
          <p:nvSpPr>
            <p:cNvPr id="43" name="TextBox 43"/>
            <p:cNvSpPr txBox="1"/>
            <p:nvPr/>
          </p:nvSpPr>
          <p:spPr>
            <a:xfrm>
              <a:off x="8415338" y="4331970"/>
              <a:ext cx="842789" cy="176212"/>
            </a:xfrm>
            <a:prstGeom prst="rect">
              <a:avLst/>
            </a:prstGeom>
            <a:noFill/>
            <a:ln>
              <a:noFill/>
            </a:ln>
          </p:spPr>
          <p:txBody>
            <a:bodyPr wrap="none" lIns="0" tIns="0" rIns="0" bIns="0" anchor="t" anchorCtr="0">
              <a:spAutoFit/>
            </a:bodyPr>
            <a:lstStyle/>
            <a:p>
              <a:pPr algn="l"/>
              <a:r>
                <a:rPr lang="en-US" sz="900" b="1" dirty="0">
                  <a:solidFill>
                    <a:schemeClr val="dk1"/>
                  </a:solidFill>
                  <a:latin typeface="+mn-lt"/>
                  <a:ea typeface="+mn-ea"/>
                  <a:cs typeface="+mn-cs"/>
                </a:rPr>
                <a:t>reward cond.</a:t>
              </a:r>
            </a:p>
          </p:txBody>
        </p:sp>
        <p:sp>
          <p:nvSpPr>
            <p:cNvPr id="44" name="Rectangle 44"/>
            <p:cNvSpPr/>
            <p:nvPr/>
          </p:nvSpPr>
          <p:spPr>
            <a:xfrm>
              <a:off x="9620250" y="4248150"/>
              <a:ext cx="1619250" cy="266700"/>
            </a:xfrm>
            <a:prstGeom prst="roundRect">
              <a:avLst>
                <a:gd name="adj" fmla="val 28571"/>
              </a:avLst>
            </a:prstGeom>
            <a:solidFill>
              <a:schemeClr val="accent6"/>
            </a:solidFill>
            <a:ln w="14288">
              <a:solidFill>
                <a:srgbClr val="2B3D5A"/>
              </a:solidFill>
            </a:ln>
          </p:spPr>
        </p:sp>
        <p:sp>
          <p:nvSpPr>
            <p:cNvPr id="45" name="Ellipse 45"/>
            <p:cNvSpPr/>
            <p:nvPr/>
          </p:nvSpPr>
          <p:spPr>
            <a:xfrm>
              <a:off x="9734550" y="4333875"/>
              <a:ext cx="95250" cy="95250"/>
            </a:xfrm>
            <a:prstGeom prst="ellipse">
              <a:avLst/>
            </a:prstGeom>
            <a:solidFill>
              <a:schemeClr val="accent2"/>
            </a:solidFill>
            <a:ln>
              <a:noFill/>
            </a:ln>
          </p:spPr>
        </p:sp>
        <p:sp>
          <p:nvSpPr>
            <p:cNvPr id="46" name="TextBox 46"/>
            <p:cNvSpPr txBox="1"/>
            <p:nvPr/>
          </p:nvSpPr>
          <p:spPr>
            <a:xfrm>
              <a:off x="9920288" y="4331970"/>
              <a:ext cx="562914" cy="176212"/>
            </a:xfrm>
            <a:prstGeom prst="rect">
              <a:avLst/>
            </a:prstGeom>
            <a:noFill/>
            <a:ln>
              <a:noFill/>
            </a:ln>
          </p:spPr>
          <p:txBody>
            <a:bodyPr wrap="none" lIns="0" tIns="0" rIns="0" bIns="0" anchor="t" anchorCtr="0">
              <a:spAutoFit/>
            </a:bodyPr>
            <a:lstStyle/>
            <a:p>
              <a:pPr algn="l"/>
              <a:r>
                <a:rPr lang="en-US" sz="900" b="1" dirty="0">
                  <a:solidFill>
                    <a:schemeClr val="dk1"/>
                  </a:solidFill>
                  <a:latin typeface="+mn-lt"/>
                  <a:ea typeface="+mn-ea"/>
                  <a:cs typeface="+mn-cs"/>
                </a:rPr>
                <a:t>dynamics</a:t>
              </a:r>
            </a:p>
          </p:txBody>
        </p:sp>
        <p:sp>
          <p:nvSpPr>
            <p:cNvPr id="47" name="Rectangle 47"/>
            <p:cNvSpPr/>
            <p:nvPr/>
          </p:nvSpPr>
          <p:spPr>
            <a:xfrm>
              <a:off x="6438900" y="4572000"/>
              <a:ext cx="1600200" cy="266700"/>
            </a:xfrm>
            <a:prstGeom prst="roundRect">
              <a:avLst>
                <a:gd name="adj" fmla="val 28571"/>
              </a:avLst>
            </a:prstGeom>
            <a:solidFill>
              <a:schemeClr val="accent6"/>
            </a:solidFill>
            <a:ln w="14288">
              <a:solidFill>
                <a:srgbClr val="2B3D5A"/>
              </a:solidFill>
            </a:ln>
          </p:spPr>
        </p:sp>
        <p:sp>
          <p:nvSpPr>
            <p:cNvPr id="48" name="Ellipse 48"/>
            <p:cNvSpPr/>
            <p:nvPr/>
          </p:nvSpPr>
          <p:spPr>
            <a:xfrm>
              <a:off x="6553200" y="4657725"/>
              <a:ext cx="95250" cy="95250"/>
            </a:xfrm>
            <a:prstGeom prst="ellipse">
              <a:avLst/>
            </a:prstGeom>
            <a:solidFill>
              <a:srgbClr val="A487F0"/>
            </a:solidFill>
            <a:ln>
              <a:noFill/>
            </a:ln>
          </p:spPr>
        </p:sp>
        <p:sp>
          <p:nvSpPr>
            <p:cNvPr id="49" name="TextBox 49"/>
            <p:cNvSpPr txBox="1"/>
            <p:nvPr/>
          </p:nvSpPr>
          <p:spPr>
            <a:xfrm>
              <a:off x="6738938" y="4655820"/>
              <a:ext cx="1039974" cy="176212"/>
            </a:xfrm>
            <a:prstGeom prst="rect">
              <a:avLst/>
            </a:prstGeom>
            <a:noFill/>
            <a:ln>
              <a:noFill/>
            </a:ln>
          </p:spPr>
          <p:txBody>
            <a:bodyPr wrap="none" lIns="0" tIns="0" rIns="0" bIns="0" anchor="t" anchorCtr="0">
              <a:spAutoFit/>
            </a:bodyPr>
            <a:lstStyle/>
            <a:p>
              <a:pPr algn="l"/>
              <a:r>
                <a:rPr lang="en-US" sz="900" b="1" dirty="0">
                  <a:solidFill>
                    <a:schemeClr val="dk1"/>
                  </a:solidFill>
                  <a:latin typeface="+mn-lt"/>
                  <a:ea typeface="+mn-ea"/>
                  <a:cs typeface="+mn-cs"/>
                </a:rPr>
                <a:t>goal conditioning</a:t>
              </a:r>
            </a:p>
          </p:txBody>
        </p:sp>
        <p:sp>
          <p:nvSpPr>
            <p:cNvPr id="50" name="Rectangle 50"/>
            <p:cNvSpPr/>
            <p:nvPr/>
          </p:nvSpPr>
          <p:spPr>
            <a:xfrm>
              <a:off x="8115300" y="4572000"/>
              <a:ext cx="1866900" cy="266700"/>
            </a:xfrm>
            <a:prstGeom prst="roundRect">
              <a:avLst>
                <a:gd name="adj" fmla="val 28571"/>
              </a:avLst>
            </a:prstGeom>
            <a:solidFill>
              <a:schemeClr val="accent6"/>
            </a:solidFill>
            <a:ln w="14288">
              <a:solidFill>
                <a:srgbClr val="2B3D5A"/>
              </a:solidFill>
            </a:ln>
          </p:spPr>
        </p:sp>
        <p:sp>
          <p:nvSpPr>
            <p:cNvPr id="51" name="Ellipse 51"/>
            <p:cNvSpPr/>
            <p:nvPr/>
          </p:nvSpPr>
          <p:spPr>
            <a:xfrm>
              <a:off x="8229600" y="4657725"/>
              <a:ext cx="95250" cy="95250"/>
            </a:xfrm>
            <a:prstGeom prst="ellipse">
              <a:avLst/>
            </a:prstGeom>
            <a:solidFill>
              <a:srgbClr val="45C88A"/>
            </a:solidFill>
            <a:ln>
              <a:noFill/>
            </a:ln>
          </p:spPr>
        </p:sp>
        <p:sp>
          <p:nvSpPr>
            <p:cNvPr id="52" name="TextBox 52"/>
            <p:cNvSpPr txBox="1"/>
            <p:nvPr/>
          </p:nvSpPr>
          <p:spPr>
            <a:xfrm>
              <a:off x="8415338" y="4655820"/>
              <a:ext cx="1345292" cy="176212"/>
            </a:xfrm>
            <a:prstGeom prst="rect">
              <a:avLst/>
            </a:prstGeom>
            <a:noFill/>
            <a:ln>
              <a:noFill/>
            </a:ln>
          </p:spPr>
          <p:txBody>
            <a:bodyPr wrap="none" lIns="0" tIns="0" rIns="0" bIns="0" anchor="t" anchorCtr="0">
              <a:spAutoFit/>
            </a:bodyPr>
            <a:lstStyle/>
            <a:p>
              <a:pPr algn="l"/>
              <a:r>
                <a:rPr lang="en-US" sz="900" b="1" dirty="0">
                  <a:solidFill>
                    <a:schemeClr val="dk1"/>
                  </a:solidFill>
                  <a:latin typeface="+mn-lt"/>
                  <a:ea typeface="+mn-ea"/>
                  <a:cs typeface="+mn-cs"/>
                </a:rPr>
                <a:t>waypoint conditioning</a:t>
              </a:r>
            </a:p>
          </p:txBody>
        </p:sp>
      </p:grpSp>
      <p:sp>
        <p:nvSpPr>
          <p:cNvPr id="54" name="TextBox 54"/>
          <p:cNvSpPr txBox="1"/>
          <p:nvPr/>
        </p:nvSpPr>
        <p:spPr>
          <a:xfrm>
            <a:off x="604266" y="5106352"/>
            <a:ext cx="667235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Fine-tuned Uni[MASK] roughly doubles the Decision Transformer's reward, from one model.</a:t>
            </a:r>
          </a:p>
        </p:txBody>
      </p:sp>
      <p:sp>
        <p:nvSpPr>
          <p:cNvPr id="55" name="cue_s09_c1_few_numbers_capture_impact" title="cue_s09_c1_few_numbers_capture_impact" descr="cue_s09_c1_few_numbers_capture_impact A few numbers capture the impact."/>
          <p:cNvSpPr/>
          <p:nvPr/>
        </p:nvSpPr>
        <p:spPr>
          <a:xfrm>
            <a:off x="609600" y="1428521"/>
            <a:ext cx="10972800" cy="5143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9_c2_maze2d_context_length_five_fine_tune" title="cue_s09_c2_maze2d_context_length_five_fine_tune" descr="cue_s09_c2_maze2d_context_length_five_fine_tune In Maze2D at context length five, the fine-tuned Uni-MASK models reach reward around two point seven three on both behavior cloning and reward conditioning, compared to just one point one three and one point four nine for the Decision Transformer, and around o"/>
          <p:cNvSpPr/>
          <p:nvPr/>
        </p:nvSpPr>
        <p:spPr>
          <a:xfrm>
            <a:off x="603504" y="2225421"/>
            <a:ext cx="10959388" cy="133662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9_c3_these_results_averaged_over_five" title="cue_s09_c3_these_results_averaged_over_five" descr="cue_s09_c3_these_results_averaged_over_five These results are averaged over five seeds and one thousand rollouts."/>
          <p:cNvSpPr/>
          <p:nvPr/>
        </p:nvSpPr>
        <p:spPr>
          <a:xfrm>
            <a:off x="609600" y="3791102"/>
            <a:ext cx="53340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9_c4_critically_single_uni_mask_handles_b" title="cue_s09_c4_critically_single_uni_mask_handles_b" descr="cue_s09_c4_critically_single_uni_mask_handles_b And critically, a single Uni-MASK model handles behavior cloning, reward conditioning, dynamics modeling, and goal and waypoint conditioning all at once."/>
          <p:cNvSpPr/>
          <p:nvPr/>
        </p:nvSpPr>
        <p:spPr>
          <a:xfrm>
            <a:off x="6171590" y="3791102"/>
            <a:ext cx="540959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rgbClr val="35D0C4"/>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472549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Many tasks, one masked model</a:t>
            </a:r>
          </a:p>
        </p:txBody>
      </p:sp>
      <p:grpSp>
        <p:nvGrpSpPr>
          <p:cNvPr id="11" name="Group 11"/>
          <p:cNvGrpSpPr/>
          <p:nvPr/>
        </p:nvGrpSpPr>
        <p:grpSpPr>
          <a:xfrm>
            <a:off x="609600" y="1524000"/>
            <a:ext cx="10972800" cy="1123950"/>
            <a:chOff x="609600" y="1524000"/>
            <a:chExt cx="10972800" cy="1123950"/>
          </a:xfrm>
        </p:grpSpPr>
        <p:sp>
          <p:nvSpPr>
            <p:cNvPr id="5" name="Rectangle 5"/>
            <p:cNvSpPr/>
            <p:nvPr/>
          </p:nvSpPr>
          <p:spPr>
            <a:xfrm>
              <a:off x="609600" y="1524000"/>
              <a:ext cx="10972800" cy="1123950"/>
            </a:xfrm>
            <a:prstGeom prst="roundRect">
              <a:avLst>
                <a:gd name="adj" fmla="val 11864"/>
              </a:avLst>
            </a:prstGeom>
            <a:solidFill>
              <a:schemeClr val="accent5"/>
            </a:solidFill>
            <a:ln w="14288">
              <a:solidFill>
                <a:srgbClr val="2B3D5A"/>
              </a:solidFill>
            </a:ln>
          </p:spPr>
        </p:sp>
        <p:sp>
          <p:nvSpPr>
            <p:cNvPr id="6" name="Rectangle 6"/>
            <p:cNvSpPr/>
            <p:nvPr/>
          </p:nvSpPr>
          <p:spPr>
            <a:xfrm>
              <a:off x="609600" y="1524000"/>
              <a:ext cx="57150" cy="1123950"/>
            </a:xfrm>
            <a:prstGeom prst="roundRect">
              <a:avLst>
                <a:gd name="adj" fmla="val 50000"/>
              </a:avLst>
            </a:prstGeom>
            <a:solidFill>
              <a:srgbClr val="35D0C4"/>
            </a:solidFill>
            <a:ln>
              <a:noFill/>
            </a:ln>
          </p:spPr>
        </p:sp>
        <p:sp>
          <p:nvSpPr>
            <p:cNvPr id="7" name="Ellipse 7"/>
            <p:cNvSpPr/>
            <p:nvPr/>
          </p:nvSpPr>
          <p:spPr>
            <a:xfrm>
              <a:off x="971550" y="1990725"/>
              <a:ext cx="190500" cy="190500"/>
            </a:xfrm>
            <a:prstGeom prst="ellipse">
              <a:avLst/>
            </a:prstGeom>
            <a:solidFill>
              <a:srgbClr val="35D0C4"/>
            </a:solidFill>
            <a:ln>
              <a:noFill/>
            </a:ln>
          </p:spPr>
        </p:sp>
        <p:sp>
          <p:nvSpPr>
            <p:cNvPr id="8" name="TextBox 8"/>
            <p:cNvSpPr txBox="1"/>
            <p:nvPr/>
          </p:nvSpPr>
          <p:spPr>
            <a:xfrm>
              <a:off x="1421702" y="1793319"/>
              <a:ext cx="1857664"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Tasks are maskings</a:t>
              </a:r>
            </a:p>
          </p:txBody>
        </p:sp>
        <p:sp>
          <p:nvSpPr>
            <p:cNvPr id="9" name="TextBox 9"/>
            <p:cNvSpPr txBox="1"/>
            <p:nvPr/>
          </p:nvSpPr>
          <p:spPr>
            <a:xfrm>
              <a:off x="1423035" y="2126456"/>
              <a:ext cx="66881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Many seemingly distinct sequential-decision tasks are just different maskings of the same</a:t>
              </a:r>
            </a:p>
          </p:txBody>
        </p:sp>
        <p:sp>
          <p:nvSpPr>
            <p:cNvPr id="10" name="TextBox 10"/>
            <p:cNvSpPr txBox="1"/>
            <p:nvPr/>
          </p:nvSpPr>
          <p:spPr>
            <a:xfrm>
              <a:off x="1423035" y="2345531"/>
              <a:ext cx="61177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trajectory — so one masked-prediction model can replace a zoo of specialized ones.</a:t>
              </a:r>
            </a:p>
          </p:txBody>
        </p:sp>
      </p:grpSp>
      <p:grpSp>
        <p:nvGrpSpPr>
          <p:cNvPr id="18" name="Group 18"/>
          <p:cNvGrpSpPr/>
          <p:nvPr/>
        </p:nvGrpSpPr>
        <p:grpSpPr>
          <a:xfrm>
            <a:off x="609600" y="2781300"/>
            <a:ext cx="10972800" cy="1123950"/>
            <a:chOff x="609600" y="2781300"/>
            <a:chExt cx="10972800" cy="1123950"/>
          </a:xfrm>
        </p:grpSpPr>
        <p:sp>
          <p:nvSpPr>
            <p:cNvPr id="12" name="Rectangle 12"/>
            <p:cNvSpPr/>
            <p:nvPr/>
          </p:nvSpPr>
          <p:spPr>
            <a:xfrm>
              <a:off x="609600" y="2781300"/>
              <a:ext cx="10972800" cy="1123950"/>
            </a:xfrm>
            <a:prstGeom prst="roundRect">
              <a:avLst>
                <a:gd name="adj" fmla="val 11864"/>
              </a:avLst>
            </a:prstGeom>
            <a:solidFill>
              <a:schemeClr val="accent5"/>
            </a:solidFill>
            <a:ln w="14288">
              <a:solidFill>
                <a:srgbClr val="2B3D5A"/>
              </a:solidFill>
            </a:ln>
          </p:spPr>
        </p:sp>
        <p:sp>
          <p:nvSpPr>
            <p:cNvPr id="13" name="Rectangle 13"/>
            <p:cNvSpPr/>
            <p:nvPr/>
          </p:nvSpPr>
          <p:spPr>
            <a:xfrm>
              <a:off x="609600" y="2781300"/>
              <a:ext cx="57150" cy="1123950"/>
            </a:xfrm>
            <a:prstGeom prst="roundRect">
              <a:avLst>
                <a:gd name="adj" fmla="val 50000"/>
              </a:avLst>
            </a:prstGeom>
            <a:solidFill>
              <a:srgbClr val="45C88A"/>
            </a:solidFill>
            <a:ln>
              <a:noFill/>
            </a:ln>
          </p:spPr>
        </p:sp>
        <p:sp>
          <p:nvSpPr>
            <p:cNvPr id="14" name="Ellipse 14"/>
            <p:cNvSpPr/>
            <p:nvPr/>
          </p:nvSpPr>
          <p:spPr>
            <a:xfrm>
              <a:off x="971550" y="3248025"/>
              <a:ext cx="190500" cy="190500"/>
            </a:xfrm>
            <a:prstGeom prst="ellipse">
              <a:avLst/>
            </a:prstGeom>
            <a:solidFill>
              <a:srgbClr val="45C88A"/>
            </a:solidFill>
            <a:ln>
              <a:noFill/>
            </a:ln>
          </p:spPr>
        </p:sp>
        <p:sp>
          <p:nvSpPr>
            <p:cNvPr id="15" name="TextBox 15"/>
            <p:cNvSpPr txBox="1"/>
            <p:nvPr/>
          </p:nvSpPr>
          <p:spPr>
            <a:xfrm>
              <a:off x="1421702" y="3050619"/>
              <a:ext cx="3223659"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Pretrain on many, then fine-tune</a:t>
              </a:r>
            </a:p>
          </p:txBody>
        </p:sp>
        <p:sp>
          <p:nvSpPr>
            <p:cNvPr id="16" name="TextBox 16"/>
            <p:cNvSpPr txBox="1"/>
            <p:nvPr/>
          </p:nvSpPr>
          <p:spPr>
            <a:xfrm>
              <a:off x="1423035" y="3383756"/>
              <a:ext cx="683137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Training on many masking schemes and then fine-tuning generally beats training on any single</a:t>
              </a:r>
            </a:p>
          </p:txBody>
        </p:sp>
        <p:sp>
          <p:nvSpPr>
            <p:cNvPr id="17" name="TextBox 17"/>
            <p:cNvSpPr txBox="1"/>
            <p:nvPr/>
          </p:nvSpPr>
          <p:spPr>
            <a:xfrm>
              <a:off x="1423035" y="3602831"/>
              <a:ext cx="42783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task alone — even when you only care about that one task.</a:t>
              </a:r>
            </a:p>
          </p:txBody>
        </p:sp>
      </p:grpSp>
      <p:grpSp>
        <p:nvGrpSpPr>
          <p:cNvPr id="25" name="Group 25"/>
          <p:cNvGrpSpPr/>
          <p:nvPr/>
        </p:nvGrpSpPr>
        <p:grpSpPr>
          <a:xfrm>
            <a:off x="609600" y="4038600"/>
            <a:ext cx="10972800" cy="1123950"/>
            <a:chOff x="609600" y="4038600"/>
            <a:chExt cx="10972800" cy="1123950"/>
          </a:xfrm>
        </p:grpSpPr>
        <p:sp>
          <p:nvSpPr>
            <p:cNvPr id="19" name="Rectangle 19"/>
            <p:cNvSpPr/>
            <p:nvPr/>
          </p:nvSpPr>
          <p:spPr>
            <a:xfrm>
              <a:off x="609600" y="4038600"/>
              <a:ext cx="10972800" cy="1123950"/>
            </a:xfrm>
            <a:prstGeom prst="roundRect">
              <a:avLst>
                <a:gd name="adj" fmla="val 11864"/>
              </a:avLst>
            </a:prstGeom>
            <a:solidFill>
              <a:schemeClr val="accent5"/>
            </a:solidFill>
            <a:ln w="14288">
              <a:solidFill>
                <a:srgbClr val="2B3D5A"/>
              </a:solidFill>
            </a:ln>
          </p:spPr>
        </p:sp>
        <p:sp>
          <p:nvSpPr>
            <p:cNvPr id="20" name="Rectangle 20"/>
            <p:cNvSpPr/>
            <p:nvPr/>
          </p:nvSpPr>
          <p:spPr>
            <a:xfrm>
              <a:off x="609600" y="4038600"/>
              <a:ext cx="57150" cy="1123950"/>
            </a:xfrm>
            <a:prstGeom prst="roundRect">
              <a:avLst>
                <a:gd name="adj" fmla="val 50000"/>
              </a:avLst>
            </a:prstGeom>
            <a:solidFill>
              <a:srgbClr val="F3C24B"/>
            </a:solidFill>
            <a:ln>
              <a:noFill/>
            </a:ln>
          </p:spPr>
        </p:sp>
        <p:sp>
          <p:nvSpPr>
            <p:cNvPr id="21" name="Ellipse 21"/>
            <p:cNvSpPr/>
            <p:nvPr/>
          </p:nvSpPr>
          <p:spPr>
            <a:xfrm>
              <a:off x="971550" y="4505325"/>
              <a:ext cx="190500" cy="190500"/>
            </a:xfrm>
            <a:prstGeom prst="ellipse">
              <a:avLst/>
            </a:prstGeom>
            <a:solidFill>
              <a:srgbClr val="F3C24B"/>
            </a:solidFill>
            <a:ln>
              <a:noFill/>
            </a:ln>
          </p:spPr>
        </p:sp>
        <p:sp>
          <p:nvSpPr>
            <p:cNvPr id="22" name="TextBox 22"/>
            <p:cNvSpPr txBox="1"/>
            <p:nvPr/>
          </p:nvSpPr>
          <p:spPr>
            <a:xfrm>
              <a:off x="1421702" y="4307919"/>
              <a:ext cx="264326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The caveat is architectural</a:t>
              </a:r>
            </a:p>
          </p:txBody>
        </p:sp>
        <p:sp>
          <p:nvSpPr>
            <p:cNvPr id="23" name="TextBox 23"/>
            <p:cNvSpPr txBox="1"/>
            <p:nvPr/>
          </p:nvSpPr>
          <p:spPr>
            <a:xfrm>
              <a:off x="1423035" y="4641056"/>
              <a:ext cx="70579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BERT-style backbones shine at short contexts but struggle to generate over longer sequences;</a:t>
              </a:r>
            </a:p>
          </p:txBody>
        </p:sp>
        <p:sp>
          <p:nvSpPr>
            <p:cNvPr id="24" name="TextBox 24"/>
            <p:cNvSpPr txBox="1"/>
            <p:nvPr/>
          </p:nvSpPr>
          <p:spPr>
            <a:xfrm>
              <a:off x="1423035" y="4860131"/>
              <a:ext cx="571850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combining GPT-style backbones with random masking is a promising next step.</a:t>
              </a:r>
            </a:p>
          </p:txBody>
        </p:sp>
      </p:grpSp>
      <p:sp>
        <p:nvSpPr>
          <p:cNvPr id="26" name="Line 26"/>
          <p:cNvSpPr/>
          <p:nvPr/>
        </p:nvSpPr>
        <p:spPr>
          <a:xfrm>
            <a:off x="609600" y="5372100"/>
            <a:ext cx="10972800" cy="9525"/>
          </a:xfrm>
          <a:custGeom>
            <a:avLst/>
            <a:gdLst/>
            <a:ahLst/>
            <a:cxnLst/>
            <a:rect l="l" t="t" r="r" b="b"/>
            <a:pathLst>
              <a:path w="10972800" h="9525">
                <a:moveTo>
                  <a:pt x="0" y="0"/>
                </a:moveTo>
                <a:lnTo>
                  <a:pt x="10972800" y="0"/>
                </a:lnTo>
              </a:path>
            </a:pathLst>
          </a:custGeom>
          <a:noFill/>
          <a:ln w="9525" cap="rnd">
            <a:solidFill>
              <a:srgbClr val="2B3D5A"/>
            </a:solidFill>
          </a:ln>
        </p:spPr>
        <p:txBody>
          <a:bodyPr/>
          <a:p/>
        </p:txBody>
      </p:sp>
      <p:sp>
        <p:nvSpPr>
          <p:cNvPr id="27" name="TextBox 27"/>
          <p:cNvSpPr txBox="1"/>
          <p:nvPr/>
        </p:nvSpPr>
        <p:spPr>
          <a:xfrm>
            <a:off x="603694" y="5551408"/>
            <a:ext cx="493568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Uni[MASK] · Unified Inference in Sequential Decision Problems</a:t>
            </a:r>
          </a:p>
        </p:txBody>
      </p:sp>
      <p:sp>
        <p:nvSpPr>
          <p:cNvPr id="28" name="TextBox 28"/>
          <p:cNvSpPr txBox="1"/>
          <p:nvPr/>
        </p:nvSpPr>
        <p:spPr>
          <a:xfrm>
            <a:off x="9268377" y="5567601"/>
            <a:ext cx="2319166"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NeurIPS 2022 · arXiv:2211.10869</a:t>
            </a:r>
          </a:p>
        </p:txBody>
      </p:sp>
      <p:sp>
        <p:nvSpPr>
          <p:cNvPr id="29" name="cue_s10_c1_lasting_takeaway_simple_powerful_man" title="cue_s10_c1_lasting_takeaway_simple_powerful_man" descr="cue_s10_c1_lasting_takeaway_simple_powerful_man The lasting takeaway is simple and powerful: many seemingly distinct sequential-decision tasks are just different maskings of the same trajectory, so a single masked-prediction model can replace a zoo of specialized ones."/>
          <p:cNvSpPr/>
          <p:nvPr/>
        </p:nvSpPr>
        <p:spPr>
          <a:xfrm>
            <a:off x="609600" y="1523847"/>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many_masking_schemes_fine_tuning_gen" title="cue_s10_c2_many_masking_schemes_fine_tuning_gen" descr="cue_s10_c2_many_masking_schemes_fine_tuning_gen And training on many masking schemes, then fine-tuning, generally does better than training on any single task alone, even when you only care about that one task."/>
          <p:cNvSpPr/>
          <p:nvPr/>
        </p:nvSpPr>
        <p:spPr>
          <a:xfrm>
            <a:off x="609600" y="2781604"/>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main_caveat_architectural_bert_style" title="cue_s10_c3_main_caveat_architectural_bert_style" descr="cue_s10_c3_main_caveat_architectural_bert_style The main caveat is architectural, BERT-style models shine at short contexts but struggle to generate over longer sequences, suggesting that combining GPT-style backbones with random masking is a promising next step."/>
          <p:cNvSpPr/>
          <p:nvPr/>
        </p:nvSpPr>
        <p:spPr>
          <a:xfrm>
            <a:off x="609600" y="4038676"/>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1FB"/>
      </a:dk1>
      <a:lt1>
        <a:srgbClr val="0B1220"/>
      </a:lt1>
      <a:dk2>
        <a:srgbClr val="A0B4CE"/>
      </a:dk2>
      <a:lt2>
        <a:srgbClr val="0B1220"/>
      </a:lt2>
      <a:accent1>
        <a:srgbClr val="5B9BF0"/>
      </a:accent1>
      <a:accent2>
        <a:srgbClr val="5B9BF0"/>
      </a:accent2>
      <a:accent3>
        <a:srgbClr val="5B9BF0"/>
      </a:accent3>
      <a:accent4>
        <a:srgbClr val="8064A2"/>
      </a:accent4>
      <a:accent5>
        <a:srgbClr val="141F33"/>
      </a:accent5>
      <a:accent6>
        <a:srgbClr val="1A2942"/>
      </a:accent6>
      <a:hlink>
        <a:srgbClr val="5B9BF0"/>
      </a:hlink>
      <a:folHlink>
        <a:srgbClr val="5B9BF0"/>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2026-07-16T07:06:47Z</dcterms:created>
  <dcterms:modified xsi:type="dcterms:W3CDTF">2026-07-16T07:06:47Z</dcterms:modified>
  <cp:category/>
  <cp:contentStatus/>
</cp:coreProperties>
</file>
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0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9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8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000" kern="1200">
          <a:solidFill>
            <a:schemeClr val="tx1"/>
          </a:solidFill>
          <a:latin typeface="+mn-lt"/>
          <a:ea typeface="+mn-ea"/>
          <a:cs typeface="+mn-cs"/>
        </a:defRPr>
      </a:lvl2pPr>
      <a:lvl3pPr marL="914400" algn="l" defTabSz="457200" rtl="0" eaLnBrk="1" latinLnBrk="0" hangingPunct="1">
        <a:defRPr sz="900" kern="1200">
          <a:solidFill>
            <a:schemeClr val="tx1"/>
          </a:solidFill>
          <a:latin typeface="+mn-lt"/>
          <a:ea typeface="+mn-ea"/>
          <a:cs typeface="+mn-cs"/>
        </a:defRPr>
      </a:lvl3pPr>
      <a:lvl4pPr marL="1371600" algn="l" defTabSz="457200" rtl="0" eaLnBrk="1" latinLnBrk="0" hangingPunct="1">
        <a:defRPr sz="850" kern="1200">
          <a:solidFill>
            <a:schemeClr val="tx1"/>
          </a:solidFill>
          <a:latin typeface="+mn-lt"/>
          <a:ea typeface="+mn-ea"/>
          <a:cs typeface="+mn-cs"/>
        </a:defRPr>
      </a:lvl4pPr>
      <a:lvl5pPr marL="1828800" algn="l" defTabSz="457200" rtl="0" eaLnBrk="1" latinLnBrk="0" hangingPunct="1">
        <a:defRPr sz="8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1174612" cy="205359"/>
          </a:xfrm>
          <a:prstGeom prst="rect">
            <a:avLst/>
          </a:prstGeom>
          <a:noFill/>
          <a:ln>
            <a:noFill/>
          </a:ln>
        </p:spPr>
        <p:txBody>
          <a:bodyPr wrap="none" lIns="0" tIns="0" rIns="0" bIns="0" anchor="t" anchorCtr="0">
            <a:spAutoFit/>
          </a:bodyPr>
          <a:lstStyle/>
          <a:p>
            <a:pPr algn="l"/>
            <a:r>
              <a:rPr lang="en-US" sz="1050" b="1" spc="150" dirty="0">
                <a:solidFill>
                  <a:schemeClr val="accent2"/>
                </a:solidFill>
                <a:latin typeface="+mn-lt"/>
                <a:ea typeface="+mn-ea"/>
                <a:cs typeface="+mn-cs"/>
              </a:rPr>
              <a:t>NeurIPS 2023</a:t>
            </a:r>
          </a:p>
        </p:txBody>
      </p:sp>
      <p:sp>
        <p:nvSpPr>
          <p:cNvPr id="3" name="TextBox 3"/>
          <p:cNvSpPr txBox="1"/>
          <p:nvPr/>
        </p:nvSpPr>
        <p:spPr>
          <a:xfrm>
            <a:off x="7705456" y="576501"/>
            <a:ext cx="3882087"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Knowledge-Grounded RL · Attention-Based Policy Fusion</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chemeClr val="accent4"/>
            </a:solidFill>
          </a:ln>
        </p:spPr>
        <p:txBody>
          <a:bodyPr/>
          <a:p/>
        </p:txBody>
      </p:sp>
      <p:sp>
        <p:nvSpPr>
          <p:cNvPr id="5" name="TextBox 5"/>
          <p:cNvSpPr txBox="1"/>
          <p:nvPr/>
        </p:nvSpPr>
        <p:spPr>
          <a:xfrm>
            <a:off x="592836" y="1072515"/>
            <a:ext cx="994608" cy="645414"/>
          </a:xfrm>
          <a:prstGeom prst="rect">
            <a:avLst/>
          </a:prstGeom>
          <a:noFill/>
          <a:ln>
            <a:noFill/>
          </a:ln>
        </p:spPr>
        <p:txBody>
          <a:bodyPr wrap="none" lIns="0" tIns="0" rIns="0" bIns="0" anchor="t" anchorCtr="0">
            <a:spAutoFit/>
          </a:bodyPr>
          <a:lstStyle/>
          <a:p>
            <a:pPr algn="l"/>
            <a:r>
              <a:rPr lang="en-US" sz="3300" b="1" dirty="0">
                <a:solidFill>
                  <a:srgbClr val="FFFFFF"/>
                </a:solidFill>
                <a:latin typeface="+mn-lt"/>
                <a:ea typeface="+mn-ea"/>
                <a:cs typeface="+mn-cs"/>
              </a:rPr>
              <a:t>KIAN</a:t>
            </a:r>
          </a:p>
        </p:txBody>
      </p:sp>
      <p:sp>
        <p:nvSpPr>
          <p:cNvPr id="6" name="TextBox 6"/>
          <p:cNvSpPr txBox="1"/>
          <p:nvPr/>
        </p:nvSpPr>
        <p:spPr>
          <a:xfrm>
            <a:off x="600837" y="1680686"/>
            <a:ext cx="5265681"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Flexible Attention-Based Multi-Policy Fusion</a:t>
            </a:r>
          </a:p>
        </p:txBody>
      </p:sp>
      <p:sp>
        <p:nvSpPr>
          <p:cNvPr id="7" name="TextBox 7"/>
          <p:cNvSpPr txBox="1"/>
          <p:nvPr/>
        </p:nvSpPr>
        <p:spPr>
          <a:xfrm>
            <a:off x="600837" y="1947386"/>
            <a:ext cx="5093214"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for Efficient Deep Reinforcement Learning</a:t>
            </a:r>
          </a:p>
        </p:txBody>
      </p:sp>
      <p:sp>
        <p:nvSpPr>
          <p:cNvPr id="8" name="Line 8"/>
          <p:cNvSpPr/>
          <p:nvPr/>
        </p:nvSpPr>
        <p:spPr>
          <a:xfrm>
            <a:off x="10020300" y="1247775"/>
            <a:ext cx="571500" cy="485775"/>
          </a:xfrm>
          <a:custGeom>
            <a:avLst/>
            <a:gdLst/>
            <a:ahLst/>
            <a:cxnLst/>
            <a:rect l="l" t="t" r="r" b="b"/>
            <a:pathLst>
              <a:path w="571500" h="485775">
                <a:moveTo>
                  <a:pt x="571500" y="485775"/>
                </a:moveTo>
                <a:lnTo>
                  <a:pt x="0" y="0"/>
                </a:lnTo>
              </a:path>
            </a:pathLst>
          </a:custGeom>
          <a:noFill/>
          <a:ln w="15240" cap="rnd">
            <a:solidFill>
              <a:schemeClr val="accent4"/>
            </a:solidFill>
          </a:ln>
        </p:spPr>
        <p:txBody>
          <a:bodyPr/>
          <a:p/>
        </p:txBody>
      </p:sp>
      <p:sp>
        <p:nvSpPr>
          <p:cNvPr id="9" name="Line 9"/>
          <p:cNvSpPr/>
          <p:nvPr/>
        </p:nvSpPr>
        <p:spPr>
          <a:xfrm>
            <a:off x="10020300" y="1733550"/>
            <a:ext cx="571500" cy="542925"/>
          </a:xfrm>
          <a:custGeom>
            <a:avLst/>
            <a:gdLst/>
            <a:ahLst/>
            <a:cxnLst/>
            <a:rect l="l" t="t" r="r" b="b"/>
            <a:pathLst>
              <a:path w="571500" h="542925">
                <a:moveTo>
                  <a:pt x="571500" y="0"/>
                </a:moveTo>
                <a:lnTo>
                  <a:pt x="0" y="542925"/>
                </a:lnTo>
              </a:path>
            </a:pathLst>
          </a:custGeom>
          <a:noFill/>
          <a:ln w="15240" cap="rnd">
            <a:solidFill>
              <a:schemeClr val="accent4"/>
            </a:solidFill>
          </a:ln>
        </p:spPr>
        <p:txBody>
          <a:bodyPr/>
          <a:p/>
        </p:txBody>
      </p:sp>
      <p:sp>
        <p:nvSpPr>
          <p:cNvPr id="10" name="Line 10"/>
          <p:cNvSpPr/>
          <p:nvPr/>
        </p:nvSpPr>
        <p:spPr>
          <a:xfrm>
            <a:off x="10591800" y="1247775"/>
            <a:ext cx="571500" cy="485775"/>
          </a:xfrm>
          <a:custGeom>
            <a:avLst/>
            <a:gdLst/>
            <a:ahLst/>
            <a:cxnLst/>
            <a:rect l="l" t="t" r="r" b="b"/>
            <a:pathLst>
              <a:path w="571500" h="485775">
                <a:moveTo>
                  <a:pt x="0" y="485775"/>
                </a:moveTo>
                <a:lnTo>
                  <a:pt x="571500" y="0"/>
                </a:lnTo>
              </a:path>
            </a:pathLst>
          </a:custGeom>
          <a:noFill/>
          <a:ln w="15240" cap="rnd">
            <a:solidFill>
              <a:schemeClr val="accent4"/>
            </a:solidFill>
          </a:ln>
        </p:spPr>
        <p:txBody>
          <a:bodyPr/>
          <a:p/>
        </p:txBody>
      </p:sp>
      <p:sp>
        <p:nvSpPr>
          <p:cNvPr id="11" name="Line 11"/>
          <p:cNvSpPr/>
          <p:nvPr/>
        </p:nvSpPr>
        <p:spPr>
          <a:xfrm>
            <a:off x="10591800" y="1733550"/>
            <a:ext cx="571500" cy="542925"/>
          </a:xfrm>
          <a:custGeom>
            <a:avLst/>
            <a:gdLst/>
            <a:ahLst/>
            <a:cxnLst/>
            <a:rect l="l" t="t" r="r" b="b"/>
            <a:pathLst>
              <a:path w="571500" h="542925">
                <a:moveTo>
                  <a:pt x="0" y="0"/>
                </a:moveTo>
                <a:lnTo>
                  <a:pt x="571500" y="542925"/>
                </a:lnTo>
              </a:path>
            </a:pathLst>
          </a:custGeom>
          <a:noFill/>
          <a:ln w="15240" cap="rnd">
            <a:solidFill>
              <a:schemeClr val="accent4"/>
            </a:solidFill>
          </a:ln>
        </p:spPr>
        <p:txBody>
          <a:bodyPr/>
          <a:p/>
        </p:txBody>
      </p:sp>
      <p:sp>
        <p:nvSpPr>
          <p:cNvPr id="12" name="Ellipse 12"/>
          <p:cNvSpPr/>
          <p:nvPr/>
        </p:nvSpPr>
        <p:spPr>
          <a:xfrm>
            <a:off x="9934575" y="1162050"/>
            <a:ext cx="171450" cy="171450"/>
          </a:xfrm>
          <a:prstGeom prst="ellipse">
            <a:avLst/>
          </a:prstGeom>
          <a:solidFill>
            <a:srgbClr val="33D6C0"/>
          </a:solidFill>
          <a:ln>
            <a:noFill/>
          </a:ln>
        </p:spPr>
        <p:txBody>
          <a:bodyPr/>
          <a:p/>
        </p:txBody>
      </p:sp>
      <p:sp>
        <p:nvSpPr>
          <p:cNvPr id="13" name="Ellipse 13"/>
          <p:cNvSpPr/>
          <p:nvPr/>
        </p:nvSpPr>
        <p:spPr>
          <a:xfrm>
            <a:off x="9934575" y="2190750"/>
            <a:ext cx="171450" cy="171450"/>
          </a:xfrm>
          <a:prstGeom prst="ellipse">
            <a:avLst/>
          </a:prstGeom>
          <a:solidFill>
            <a:schemeClr val="accent2"/>
          </a:solidFill>
          <a:ln>
            <a:noFill/>
          </a:ln>
        </p:spPr>
        <p:txBody>
          <a:bodyPr/>
          <a:p/>
        </p:txBody>
      </p:sp>
      <p:sp>
        <p:nvSpPr>
          <p:cNvPr id="14" name="Ellipse 14"/>
          <p:cNvSpPr/>
          <p:nvPr/>
        </p:nvSpPr>
        <p:spPr>
          <a:xfrm>
            <a:off x="11077575" y="1162050"/>
            <a:ext cx="171450" cy="171450"/>
          </a:xfrm>
          <a:prstGeom prst="ellipse">
            <a:avLst/>
          </a:prstGeom>
          <a:solidFill>
            <a:srgbClr val="F4C24C"/>
          </a:solidFill>
          <a:ln>
            <a:noFill/>
          </a:ln>
        </p:spPr>
        <p:txBody>
          <a:bodyPr/>
          <a:p/>
        </p:txBody>
      </p:sp>
      <p:sp>
        <p:nvSpPr>
          <p:cNvPr id="15" name="Ellipse 15"/>
          <p:cNvSpPr/>
          <p:nvPr/>
        </p:nvSpPr>
        <p:spPr>
          <a:xfrm>
            <a:off x="11077575" y="2190750"/>
            <a:ext cx="171450" cy="171450"/>
          </a:xfrm>
          <a:prstGeom prst="ellipse">
            <a:avLst/>
          </a:prstGeom>
          <a:solidFill>
            <a:srgbClr val="F2685C"/>
          </a:solidFill>
          <a:ln>
            <a:noFill/>
          </a:ln>
        </p:spPr>
        <p:txBody>
          <a:bodyPr/>
          <a:p/>
        </p:txBody>
      </p:sp>
      <p:sp>
        <p:nvSpPr>
          <p:cNvPr id="16" name="Ellipse 16"/>
          <p:cNvSpPr/>
          <p:nvPr/>
        </p:nvSpPr>
        <p:spPr>
          <a:xfrm>
            <a:off x="10420350" y="1562100"/>
            <a:ext cx="342900" cy="342900"/>
          </a:xfrm>
          <a:prstGeom prst="ellipse">
            <a:avLst/>
          </a:prstGeom>
          <a:noFill/>
          <a:ln w="22860">
            <a:solidFill>
              <a:srgbClr val="FFFFFF"/>
            </a:solidFill>
          </a:ln>
        </p:spPr>
        <p:txBody>
          <a:bodyPr/>
          <a:p/>
        </p:txBody>
      </p:sp>
      <p:sp>
        <p:nvSpPr>
          <p:cNvPr id="17" name="Ellipse 17"/>
          <p:cNvSpPr/>
          <p:nvPr/>
        </p:nvSpPr>
        <p:spPr>
          <a:xfrm>
            <a:off x="10525125" y="1666875"/>
            <a:ext cx="133350" cy="133350"/>
          </a:xfrm>
          <a:prstGeom prst="ellipse">
            <a:avLst/>
          </a:prstGeom>
          <a:solidFill>
            <a:srgbClr val="FFFFFF"/>
          </a:solidFill>
          <a:ln>
            <a:noFill/>
          </a:ln>
        </p:spPr>
        <p:txBody>
          <a:bodyPr/>
          <a:p/>
        </p:txBody>
      </p:sp>
      <p:sp>
        <p:nvSpPr>
          <p:cNvPr id="18" name="TextBox 18"/>
          <p:cNvSpPr txBox="1"/>
          <p:nvPr/>
        </p:nvSpPr>
        <p:spPr>
          <a:xfrm>
            <a:off x="10181360" y="939641"/>
            <a:ext cx="820880" cy="161925"/>
          </a:xfrm>
          <a:prstGeom prst="rect">
            <a:avLst/>
          </a:prstGeom>
          <a:noFill/>
          <a:ln>
            <a:noFill/>
          </a:ln>
        </p:spPr>
        <p:txBody>
          <a:bodyPr wrap="none" lIns="0" tIns="0" rIns="0" bIns="0" anchor="t" anchorCtr="0">
            <a:spAutoFit/>
          </a:bodyPr>
          <a:lstStyle/>
          <a:p>
            <a:pPr algn="ctr"/>
            <a:r>
              <a:rPr lang="en-US" sz="820" b="1" dirty="0">
                <a:solidFill>
                  <a:srgbClr val="33D6C0"/>
                </a:solidFill>
                <a:latin typeface="+mn-lt"/>
                <a:ea typeface="+mn-ea"/>
                <a:cs typeface="+mn-cs"/>
              </a:rPr>
              <a:t>keys = policies</a:t>
            </a:r>
          </a:p>
        </p:txBody>
      </p:sp>
      <p:sp>
        <p:nvSpPr>
          <p:cNvPr id="19" name="TextBox 19"/>
          <p:cNvSpPr txBox="1"/>
          <p:nvPr/>
        </p:nvSpPr>
        <p:spPr>
          <a:xfrm>
            <a:off x="10097751" y="2440543"/>
            <a:ext cx="988098"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attention fusion</a:t>
            </a:r>
          </a:p>
        </p:txBody>
      </p:sp>
      <p:sp>
        <p:nvSpPr>
          <p:cNvPr id="20" name="TextBox 20"/>
          <p:cNvSpPr txBox="1"/>
          <p:nvPr/>
        </p:nvSpPr>
        <p:spPr>
          <a:xfrm>
            <a:off x="604456" y="2348151"/>
            <a:ext cx="41094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Zih-Yun Chiu · Yi-Lin Tuan · William Yang Wang · Michael C. Yip</a:t>
            </a:r>
          </a:p>
        </p:txBody>
      </p:sp>
      <p:sp>
        <p:nvSpPr>
          <p:cNvPr id="21" name="TextBox 21"/>
          <p:cNvSpPr txBox="1"/>
          <p:nvPr/>
        </p:nvSpPr>
        <p:spPr>
          <a:xfrm>
            <a:off x="604838" y="2565797"/>
            <a:ext cx="2080792"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UC San Diego · UC Santa Barbara</a:t>
            </a:r>
          </a:p>
        </p:txBody>
      </p:sp>
      <p:grpSp>
        <p:nvGrpSpPr>
          <p:cNvPr id="30" name="Group 30"/>
          <p:cNvGrpSpPr/>
          <p:nvPr/>
        </p:nvGrpSpPr>
        <p:grpSpPr>
          <a:xfrm>
            <a:off x="609600" y="2914650"/>
            <a:ext cx="3505200" cy="2133600"/>
            <a:chOff x="609600" y="2914650"/>
            <a:chExt cx="3505200" cy="2133600"/>
          </a:xfrm>
        </p:grpSpPr>
        <p:sp>
          <p:nvSpPr>
            <p:cNvPr id="22" name="Rectangle 22"/>
            <p:cNvSpPr/>
            <p:nvPr/>
          </p:nvSpPr>
          <p:spPr>
            <a:xfrm>
              <a:off x="609600" y="2914650"/>
              <a:ext cx="3505200" cy="2133600"/>
            </a:xfrm>
            <a:prstGeom prst="roundRect">
              <a:avLst>
                <a:gd name="adj" fmla="val 6250"/>
              </a:avLst>
            </a:prstGeom>
            <a:solidFill>
              <a:schemeClr val="accent5"/>
            </a:solidFill>
            <a:ln w="14288">
              <a:solidFill>
                <a:schemeClr val="accent4"/>
              </a:solidFill>
            </a:ln>
          </p:spPr>
        </p:sp>
        <p:sp>
          <p:nvSpPr>
            <p:cNvPr id="23" name="Rectangle 23"/>
            <p:cNvSpPr/>
            <p:nvPr/>
          </p:nvSpPr>
          <p:spPr>
            <a:xfrm>
              <a:off x="609600" y="2914650"/>
              <a:ext cx="3505200" cy="57150"/>
            </a:xfrm>
            <a:prstGeom prst="roundRect">
              <a:avLst>
                <a:gd name="adj" fmla="val 50000"/>
              </a:avLst>
            </a:prstGeom>
            <a:solidFill>
              <a:schemeClr val="accent2"/>
            </a:solidFill>
            <a:ln>
              <a:noFill/>
            </a:ln>
          </p:spPr>
        </p:sp>
        <p:sp>
          <p:nvSpPr>
            <p:cNvPr id="24" name="Ellipse 24"/>
            <p:cNvSpPr/>
            <p:nvPr/>
          </p:nvSpPr>
          <p:spPr>
            <a:xfrm>
              <a:off x="809625" y="3267075"/>
              <a:ext cx="133350" cy="133350"/>
            </a:xfrm>
            <a:prstGeom prst="ellipse">
              <a:avLst/>
            </a:prstGeom>
            <a:solidFill>
              <a:schemeClr val="accent2"/>
            </a:solidFill>
            <a:ln>
              <a:noFill/>
            </a:ln>
          </p:spPr>
        </p:sp>
        <p:sp>
          <p:nvSpPr>
            <p:cNvPr id="25" name="TextBox 25"/>
            <p:cNvSpPr txBox="1"/>
            <p:nvPr/>
          </p:nvSpPr>
          <p:spPr>
            <a:xfrm>
              <a:off x="1041082" y="3249216"/>
              <a:ext cx="225992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Humans reuse strategies</a:t>
              </a:r>
            </a:p>
          </p:txBody>
        </p:sp>
        <p:sp>
          <p:nvSpPr>
            <p:cNvPr id="26" name="TextBox 26"/>
            <p:cNvSpPr txBox="1"/>
            <p:nvPr/>
          </p:nvSpPr>
          <p:spPr>
            <a:xfrm>
              <a:off x="852106" y="3757851"/>
              <a:ext cx="273377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Reinforcement learning agents still learn</a:t>
              </a:r>
            </a:p>
          </p:txBody>
        </p:sp>
        <p:sp>
          <p:nvSpPr>
            <p:cNvPr id="27" name="TextBox 27"/>
            <p:cNvSpPr txBox="1"/>
            <p:nvPr/>
          </p:nvSpPr>
          <p:spPr>
            <a:xfrm>
              <a:off x="852106" y="3948351"/>
              <a:ext cx="252566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far less efficiently than humans, who</a:t>
              </a:r>
            </a:p>
          </p:txBody>
        </p:sp>
        <p:sp>
          <p:nvSpPr>
            <p:cNvPr id="28" name="TextBox 28"/>
            <p:cNvSpPr txBox="1"/>
            <p:nvPr/>
          </p:nvSpPr>
          <p:spPr>
            <a:xfrm>
              <a:off x="852106" y="4138851"/>
              <a:ext cx="299474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freely borrow strategies from many sources</a:t>
              </a:r>
            </a:p>
          </p:txBody>
        </p:sp>
        <p:sp>
          <p:nvSpPr>
            <p:cNvPr id="29" name="TextBox 29"/>
            <p:cNvSpPr txBox="1"/>
            <p:nvPr/>
          </p:nvSpPr>
          <p:spPr>
            <a:xfrm>
              <a:off x="852106" y="4329351"/>
              <a:ext cx="18458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and rearrange them at will.</a:t>
              </a:r>
            </a:p>
          </p:txBody>
        </p:sp>
      </p:grpSp>
      <p:grpSp>
        <p:nvGrpSpPr>
          <p:cNvPr id="40" name="Group 40"/>
          <p:cNvGrpSpPr/>
          <p:nvPr/>
        </p:nvGrpSpPr>
        <p:grpSpPr>
          <a:xfrm>
            <a:off x="4343400" y="2914650"/>
            <a:ext cx="3505200" cy="2133600"/>
            <a:chOff x="4343400" y="2914650"/>
            <a:chExt cx="3505200" cy="2133600"/>
          </a:xfrm>
        </p:grpSpPr>
        <p:sp>
          <p:nvSpPr>
            <p:cNvPr id="31" name="Rectangle 31"/>
            <p:cNvSpPr/>
            <p:nvPr/>
          </p:nvSpPr>
          <p:spPr>
            <a:xfrm>
              <a:off x="4343400" y="2914650"/>
              <a:ext cx="3505200" cy="2133600"/>
            </a:xfrm>
            <a:prstGeom prst="roundRect">
              <a:avLst>
                <a:gd name="adj" fmla="val 6250"/>
              </a:avLst>
            </a:prstGeom>
            <a:solidFill>
              <a:schemeClr val="accent5"/>
            </a:solidFill>
            <a:ln w="14288">
              <a:solidFill>
                <a:schemeClr val="accent4"/>
              </a:solidFill>
            </a:ln>
          </p:spPr>
        </p:sp>
        <p:sp>
          <p:nvSpPr>
            <p:cNvPr id="32" name="Rectangle 32"/>
            <p:cNvSpPr/>
            <p:nvPr/>
          </p:nvSpPr>
          <p:spPr>
            <a:xfrm>
              <a:off x="4343400" y="2914650"/>
              <a:ext cx="3505200" cy="57150"/>
            </a:xfrm>
            <a:prstGeom prst="roundRect">
              <a:avLst>
                <a:gd name="adj" fmla="val 50000"/>
              </a:avLst>
            </a:prstGeom>
            <a:solidFill>
              <a:srgbClr val="33D6C0"/>
            </a:solidFill>
            <a:ln>
              <a:noFill/>
            </a:ln>
          </p:spPr>
        </p:sp>
        <p:sp>
          <p:nvSpPr>
            <p:cNvPr id="33" name="Ellipse 33"/>
            <p:cNvSpPr/>
            <p:nvPr/>
          </p:nvSpPr>
          <p:spPr>
            <a:xfrm>
              <a:off x="4543425" y="3267075"/>
              <a:ext cx="133350" cy="133350"/>
            </a:xfrm>
            <a:prstGeom prst="ellipse">
              <a:avLst/>
            </a:prstGeom>
            <a:solidFill>
              <a:srgbClr val="33D6C0"/>
            </a:solidFill>
            <a:ln>
              <a:noFill/>
            </a:ln>
          </p:spPr>
        </p:sp>
        <p:sp>
          <p:nvSpPr>
            <p:cNvPr id="34" name="TextBox 34"/>
            <p:cNvSpPr txBox="1"/>
            <p:nvPr/>
          </p:nvSpPr>
          <p:spPr>
            <a:xfrm>
              <a:off x="4774882" y="3249216"/>
              <a:ext cx="197456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KGRL + the KIAN actor</a:t>
              </a:r>
            </a:p>
          </p:txBody>
        </p:sp>
        <p:sp>
          <p:nvSpPr>
            <p:cNvPr id="35" name="TextBox 35"/>
            <p:cNvSpPr txBox="1"/>
            <p:nvPr/>
          </p:nvSpPr>
          <p:spPr>
            <a:xfrm>
              <a:off x="4585906" y="3757851"/>
              <a:ext cx="251868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Presented at NeurIPS 2023, this work</a:t>
              </a:r>
            </a:p>
          </p:txBody>
        </p:sp>
        <p:sp>
          <p:nvSpPr>
            <p:cNvPr id="36" name="TextBox 36"/>
            <p:cNvSpPr txBox="1"/>
            <p:nvPr/>
          </p:nvSpPr>
          <p:spPr>
            <a:xfrm>
              <a:off x="4585906" y="3948351"/>
              <a:ext cx="28429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introduces Knowledge-Grounded RL, fusing</a:t>
              </a:r>
            </a:p>
          </p:txBody>
        </p:sp>
        <p:sp>
          <p:nvSpPr>
            <p:cNvPr id="37" name="TextBox 37"/>
            <p:cNvSpPr txBox="1"/>
            <p:nvPr/>
          </p:nvSpPr>
          <p:spPr>
            <a:xfrm>
              <a:off x="4585906" y="4138851"/>
              <a:ext cx="264123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many external knowledge policies, and a</a:t>
              </a:r>
            </a:p>
          </p:txBody>
        </p:sp>
        <p:sp>
          <p:nvSpPr>
            <p:cNvPr id="38" name="TextBox 38"/>
            <p:cNvSpPr txBox="1"/>
            <p:nvPr/>
          </p:nvSpPr>
          <p:spPr>
            <a:xfrm>
              <a:off x="4585906" y="4329351"/>
              <a:ext cx="237850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new actor, the Knowledge-Inclusive</a:t>
              </a:r>
            </a:p>
          </p:txBody>
        </p:sp>
        <p:sp>
          <p:nvSpPr>
            <p:cNvPr id="39" name="TextBox 39"/>
            <p:cNvSpPr txBox="1"/>
            <p:nvPr/>
          </p:nvSpPr>
          <p:spPr>
            <a:xfrm>
              <a:off x="4585906" y="4519851"/>
              <a:ext cx="132479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Attention Network.</a:t>
              </a:r>
            </a:p>
          </p:txBody>
        </p:sp>
      </p:grpSp>
      <p:grpSp>
        <p:nvGrpSpPr>
          <p:cNvPr id="50" name="Group 50"/>
          <p:cNvGrpSpPr/>
          <p:nvPr/>
        </p:nvGrpSpPr>
        <p:grpSpPr>
          <a:xfrm>
            <a:off x="8077200" y="2914650"/>
            <a:ext cx="3505200" cy="2133600"/>
            <a:chOff x="8077200" y="2914650"/>
            <a:chExt cx="3505200" cy="2133600"/>
          </a:xfrm>
        </p:grpSpPr>
        <p:sp>
          <p:nvSpPr>
            <p:cNvPr id="41" name="Rectangle 41"/>
            <p:cNvSpPr/>
            <p:nvPr/>
          </p:nvSpPr>
          <p:spPr>
            <a:xfrm>
              <a:off x="8077200" y="2914650"/>
              <a:ext cx="3505200" cy="2133600"/>
            </a:xfrm>
            <a:prstGeom prst="roundRect">
              <a:avLst>
                <a:gd name="adj" fmla="val 6250"/>
              </a:avLst>
            </a:prstGeom>
            <a:solidFill>
              <a:schemeClr val="accent5"/>
            </a:solidFill>
            <a:ln w="14288">
              <a:solidFill>
                <a:schemeClr val="accent4"/>
              </a:solidFill>
            </a:ln>
          </p:spPr>
        </p:sp>
        <p:sp>
          <p:nvSpPr>
            <p:cNvPr id="42" name="Rectangle 42"/>
            <p:cNvSpPr/>
            <p:nvPr/>
          </p:nvSpPr>
          <p:spPr>
            <a:xfrm>
              <a:off x="8077200" y="2914650"/>
              <a:ext cx="3505200" cy="57150"/>
            </a:xfrm>
            <a:prstGeom prst="roundRect">
              <a:avLst>
                <a:gd name="adj" fmla="val 50000"/>
              </a:avLst>
            </a:prstGeom>
            <a:solidFill>
              <a:srgbClr val="46C98B"/>
            </a:solidFill>
            <a:ln>
              <a:noFill/>
            </a:ln>
          </p:spPr>
        </p:sp>
        <p:sp>
          <p:nvSpPr>
            <p:cNvPr id="43" name="Ellipse 43"/>
            <p:cNvSpPr/>
            <p:nvPr/>
          </p:nvSpPr>
          <p:spPr>
            <a:xfrm>
              <a:off x="8277225" y="3267075"/>
              <a:ext cx="133350" cy="133350"/>
            </a:xfrm>
            <a:prstGeom prst="ellipse">
              <a:avLst/>
            </a:prstGeom>
            <a:solidFill>
              <a:srgbClr val="46C98B"/>
            </a:solidFill>
            <a:ln>
              <a:noFill/>
            </a:ln>
          </p:spPr>
        </p:sp>
        <p:sp>
          <p:nvSpPr>
            <p:cNvPr id="44" name="TextBox 44"/>
            <p:cNvSpPr txBox="1"/>
            <p:nvPr/>
          </p:nvSpPr>
          <p:spPr>
            <a:xfrm>
              <a:off x="8508682" y="3249216"/>
              <a:ext cx="1955205"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Add, drop, recombine</a:t>
              </a:r>
            </a:p>
          </p:txBody>
        </p:sp>
        <p:sp>
          <p:nvSpPr>
            <p:cNvPr id="45" name="TextBox 45"/>
            <p:cNvSpPr txBox="1"/>
            <p:nvPr/>
          </p:nvSpPr>
          <p:spPr>
            <a:xfrm>
              <a:off x="8319706" y="3757851"/>
              <a:ext cx="240279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KIAN lets an agent add, remove, and</a:t>
              </a:r>
            </a:p>
          </p:txBody>
        </p:sp>
        <p:sp>
          <p:nvSpPr>
            <p:cNvPr id="46" name="TextBox 46"/>
            <p:cNvSpPr txBox="1"/>
            <p:nvPr/>
          </p:nvSpPr>
          <p:spPr>
            <a:xfrm>
              <a:off x="8319706" y="3948351"/>
              <a:ext cx="247807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recombine knowledge policies without</a:t>
              </a:r>
            </a:p>
          </p:txBody>
        </p:sp>
        <p:sp>
          <p:nvSpPr>
            <p:cNvPr id="47" name="TextBox 47"/>
            <p:cNvSpPr txBox="1"/>
            <p:nvPr/>
          </p:nvSpPr>
          <p:spPr>
            <a:xfrm>
              <a:off x="8319706" y="4138851"/>
              <a:ext cx="281119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retraining, fixes an exploration pathology</a:t>
              </a:r>
            </a:p>
          </p:txBody>
        </p:sp>
        <p:sp>
          <p:nvSpPr>
            <p:cNvPr id="48" name="TextBox 48"/>
            <p:cNvSpPr txBox="1"/>
            <p:nvPr/>
          </p:nvSpPr>
          <p:spPr>
            <a:xfrm>
              <a:off x="8319706" y="4329351"/>
              <a:ext cx="279079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called entropy imbalance, and learns more</a:t>
              </a:r>
            </a:p>
          </p:txBody>
        </p:sp>
        <p:sp>
          <p:nvSpPr>
            <p:cNvPr id="49" name="TextBox 49"/>
            <p:cNvSpPr txBox="1"/>
            <p:nvPr/>
          </p:nvSpPr>
          <p:spPr>
            <a:xfrm>
              <a:off x="8319706" y="4519851"/>
              <a:ext cx="80568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efficiently.</a:t>
              </a:r>
            </a:p>
          </p:txBody>
        </p:sp>
      </p:grpSp>
      <p:sp>
        <p:nvSpPr>
          <p:cNvPr id="51" name="Line 51"/>
          <p:cNvSpPr/>
          <p:nvPr/>
        </p:nvSpPr>
        <p:spPr>
          <a:xfrm>
            <a:off x="609600" y="5295900"/>
            <a:ext cx="10972800" cy="9525"/>
          </a:xfrm>
          <a:custGeom>
            <a:avLst/>
            <a:gdLst/>
            <a:ahLst/>
            <a:cxnLst/>
            <a:rect l="l" t="t" r="r" b="b"/>
            <a:pathLst>
              <a:path w="10972800" h="9525">
                <a:moveTo>
                  <a:pt x="0" y="0"/>
                </a:moveTo>
                <a:lnTo>
                  <a:pt x="10972800" y="0"/>
                </a:lnTo>
              </a:path>
            </a:pathLst>
          </a:custGeom>
          <a:noFill/>
          <a:ln w="9525" cap="rnd">
            <a:solidFill>
              <a:schemeClr val="accent4"/>
            </a:solidFill>
          </a:ln>
        </p:spPr>
        <p:txBody>
          <a:bodyPr/>
          <a:p/>
        </p:txBody>
      </p:sp>
      <p:sp>
        <p:nvSpPr>
          <p:cNvPr id="52" name="TextBox 52"/>
          <p:cNvSpPr txBox="1"/>
          <p:nvPr/>
        </p:nvSpPr>
        <p:spPr>
          <a:xfrm>
            <a:off x="604266" y="55254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arXiv:2210.03729</a:t>
            </a:r>
          </a:p>
        </p:txBody>
      </p:sp>
      <p:sp>
        <p:nvSpPr>
          <p:cNvPr id="53" name="TextBox 53"/>
          <p:cNvSpPr txBox="1"/>
          <p:nvPr/>
        </p:nvSpPr>
        <p:spPr>
          <a:xfrm>
            <a:off x="2947606" y="5529501"/>
            <a:ext cx="1955172"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github.com/Pascalson/KGRL</a:t>
            </a:r>
          </a:p>
        </p:txBody>
      </p:sp>
      <p:sp>
        <p:nvSpPr>
          <p:cNvPr id="54" name="TextBox 54"/>
          <p:cNvSpPr txBox="1"/>
          <p:nvPr/>
        </p:nvSpPr>
        <p:spPr>
          <a:xfrm>
            <a:off x="8378471" y="5525452"/>
            <a:ext cx="320926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Modular knowledge for sample-efficient RL.</a:t>
            </a:r>
          </a:p>
        </p:txBody>
      </p:sp>
      <p:sp>
        <p:nvSpPr>
          <p:cNvPr id="55" name="cue_s01_c1_reinforcement_learning_agents_still" title="cue_s01_c1_reinforcement_learning_agents_still" descr="cue_s01_c1_reinforcement_learning_agents_still Reinforcement learning agents still learn far less efficiently than humans, who freely borrow strategies from many sources and rearrange them at will."/>
          <p:cNvSpPr/>
          <p:nvPr/>
        </p:nvSpPr>
        <p:spPr>
          <a:xfrm>
            <a:off x="609600" y="291465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1_c2_work_presented_neurips_2023_introduc" title="cue_s01_c2_work_presented_neurips_2023_introduc" descr="cue_s01_c2_work_presented_neurips_2023_introduc This work, presented at NeurIPS 2023, introduces Knowledge-Grounded Reinforcement Learning, a paradigm that fuses multiple external knowledge policies, and a new actor architecture called the Knowledge-Inclusive Attention Network, or KIAN."/>
          <p:cNvSpPr/>
          <p:nvPr/>
        </p:nvSpPr>
        <p:spPr>
          <a:xfrm>
            <a:off x="4344009" y="291465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1_c3_kian_lets_agent_add_remove" title="cue_s01_c3_kian_lets_agent_add_remove" descr="cue_s01_c3_kian_lets_agent_add_remove KIAN lets an agent add, remove, and recombine knowledge policies without retraining, and fixes an exploration pathology called entropy imbalance, delivering more sample-efficient and flexible learning across grid-world and robotics tasks."/>
          <p:cNvSpPr/>
          <p:nvPr/>
        </p:nvSpPr>
        <p:spPr>
          <a:xfrm>
            <a:off x="8077200" y="291465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60164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Agents can't freely reuse what they know</a:t>
            </a:r>
          </a:p>
        </p:txBody>
      </p:sp>
      <p:grpSp>
        <p:nvGrpSpPr>
          <p:cNvPr id="17" name="Group 17"/>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chemeClr val="accent4"/>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632" y="1782366"/>
              <a:ext cx="181286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RL is sample-hungry</a:t>
              </a:r>
            </a:p>
          </p:txBody>
        </p:sp>
        <p:sp>
          <p:nvSpPr>
            <p:cNvPr id="8" name="TextBox 8"/>
            <p:cNvSpPr txBox="1"/>
            <p:nvPr/>
          </p:nvSpPr>
          <p:spPr>
            <a:xfrm>
              <a:off x="870966" y="2153602"/>
              <a:ext cx="26301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Reinforcement learning has succeeded</a:t>
              </a:r>
            </a:p>
          </p:txBody>
        </p:sp>
        <p:sp>
          <p:nvSpPr>
            <p:cNvPr id="9" name="TextBox 9"/>
            <p:cNvSpPr txBox="1"/>
            <p:nvPr/>
          </p:nvSpPr>
          <p:spPr>
            <a:xfrm>
              <a:off x="870966" y="2363152"/>
              <a:ext cx="27952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across physics and robotics, yet agents</a:t>
              </a:r>
            </a:p>
          </p:txBody>
        </p:sp>
        <p:sp>
          <p:nvSpPr>
            <p:cNvPr id="10" name="TextBox 10"/>
            <p:cNvSpPr txBox="1"/>
            <p:nvPr/>
          </p:nvSpPr>
          <p:spPr>
            <a:xfrm>
              <a:off x="870966" y="2572702"/>
              <a:ext cx="29295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still need enormous numbers of samples to</a:t>
              </a:r>
            </a:p>
          </p:txBody>
        </p:sp>
        <p:sp>
          <p:nvSpPr>
            <p:cNvPr id="11" name="TextBox 11"/>
            <p:cNvSpPr txBox="1"/>
            <p:nvPr/>
          </p:nvSpPr>
          <p:spPr>
            <a:xfrm>
              <a:off x="870966" y="2782252"/>
              <a:ext cx="28164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solve tasks that humans master quickly.</a:t>
              </a:r>
            </a:p>
          </p:txBody>
        </p:sp>
        <p:sp>
          <p:nvSpPr>
            <p:cNvPr id="12" name="Rectangle 12"/>
            <p:cNvSpPr/>
            <p:nvPr/>
          </p:nvSpPr>
          <p:spPr>
            <a:xfrm>
              <a:off x="876300" y="3429000"/>
              <a:ext cx="3276600" cy="1314450"/>
            </a:xfrm>
            <a:prstGeom prst="roundRect">
              <a:avLst>
                <a:gd name="adj" fmla="val 7246"/>
              </a:avLst>
            </a:prstGeom>
            <a:solidFill>
              <a:schemeClr val="accent6"/>
            </a:solidFill>
            <a:ln w="14288">
              <a:solidFill>
                <a:schemeClr val="accent4"/>
              </a:solidFill>
            </a:ln>
          </p:spPr>
        </p:sp>
        <p:sp>
          <p:nvSpPr>
            <p:cNvPr id="13" name="TextBox 13"/>
            <p:cNvSpPr txBox="1"/>
            <p:nvPr/>
          </p:nvSpPr>
          <p:spPr>
            <a:xfrm>
              <a:off x="1062038" y="3613547"/>
              <a:ext cx="1192067"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the efficiency gap</a:t>
              </a:r>
            </a:p>
          </p:txBody>
        </p:sp>
        <p:sp>
          <p:nvSpPr>
            <p:cNvPr id="14" name="Rectangle 14"/>
            <p:cNvSpPr/>
            <p:nvPr/>
          </p:nvSpPr>
          <p:spPr>
            <a:xfrm>
              <a:off x="1066800" y="3867150"/>
              <a:ext cx="2895600" cy="381000"/>
            </a:xfrm>
            <a:prstGeom prst="roundRect">
              <a:avLst>
                <a:gd name="adj" fmla="val 20000"/>
              </a:avLst>
            </a:prstGeom>
            <a:solidFill>
              <a:schemeClr val="accent6"/>
            </a:solidFill>
            <a:ln w="14288">
              <a:solidFill>
                <a:schemeClr val="accent4"/>
              </a:solidFill>
            </a:ln>
          </p:spPr>
        </p:sp>
        <p:sp>
          <p:nvSpPr>
            <p:cNvPr id="15" name="TextBox 15"/>
            <p:cNvSpPr txBox="1"/>
            <p:nvPr/>
          </p:nvSpPr>
          <p:spPr>
            <a:xfrm>
              <a:off x="1473452" y="4013597"/>
              <a:ext cx="2082296" cy="183356"/>
            </a:xfrm>
            <a:prstGeom prst="rect">
              <a:avLst/>
            </a:prstGeom>
            <a:noFill/>
            <a:ln>
              <a:noFill/>
            </a:ln>
          </p:spPr>
          <p:txBody>
            <a:bodyPr wrap="none" lIns="0" tIns="0" rIns="0" bIns="0" anchor="t" anchorCtr="0">
              <a:spAutoFit/>
            </a:bodyPr>
            <a:lstStyle/>
            <a:p>
              <a:pPr algn="ctr"/>
              <a:r>
                <a:rPr lang="en-US" sz="940" b="1" dirty="0">
                  <a:solidFill>
                    <a:srgbClr val="F2685C"/>
                  </a:solidFill>
                  <a:latin typeface="Consolas"/>
                  <a:ea typeface="Consolas"/>
                  <a:cs typeface="Consolas"/>
                </a:rPr>
                <a:t>agent samples &gt;&gt; human samples</a:t>
              </a:r>
            </a:p>
          </p:txBody>
        </p:sp>
        <p:sp>
          <p:nvSpPr>
            <p:cNvPr id="16" name="TextBox 16"/>
            <p:cNvSpPr txBox="1"/>
            <p:nvPr/>
          </p:nvSpPr>
          <p:spPr>
            <a:xfrm>
              <a:off x="1062038" y="4531995"/>
              <a:ext cx="1790548"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tasks humans master quickly</a:t>
              </a:r>
            </a:p>
          </p:txBody>
        </p:sp>
      </p:grpSp>
      <p:grpSp>
        <p:nvGrpSpPr>
          <p:cNvPr id="34" name="Group 34"/>
          <p:cNvGrpSpPr/>
          <p:nvPr/>
        </p:nvGrpSpPr>
        <p:grpSpPr>
          <a:xfrm>
            <a:off x="4762500" y="1504950"/>
            <a:ext cx="6819900" cy="1428750"/>
            <a:chOff x="4762500" y="1504950"/>
            <a:chExt cx="6819900" cy="1428750"/>
          </a:xfrm>
        </p:grpSpPr>
        <p:sp>
          <p:nvSpPr>
            <p:cNvPr id="18" name="Rectangle 18"/>
            <p:cNvSpPr/>
            <p:nvPr/>
          </p:nvSpPr>
          <p:spPr>
            <a:xfrm>
              <a:off x="4762500" y="1504950"/>
              <a:ext cx="6819900" cy="1428750"/>
            </a:xfrm>
            <a:prstGeom prst="roundRect">
              <a:avLst>
                <a:gd name="adj" fmla="val 9333"/>
              </a:avLst>
            </a:prstGeom>
            <a:solidFill>
              <a:schemeClr val="accent5"/>
            </a:solidFill>
            <a:ln w="14288">
              <a:solidFill>
                <a:schemeClr val="accent4"/>
              </a:solidFill>
            </a:ln>
          </p:spPr>
        </p:sp>
        <p:sp>
          <p:nvSpPr>
            <p:cNvPr id="19" name="Rectangle 19"/>
            <p:cNvSpPr/>
            <p:nvPr/>
          </p:nvSpPr>
          <p:spPr>
            <a:xfrm>
              <a:off x="4762500" y="1504950"/>
              <a:ext cx="57150" cy="1428750"/>
            </a:xfrm>
            <a:prstGeom prst="roundRect">
              <a:avLst>
                <a:gd name="adj" fmla="val 50000"/>
              </a:avLst>
            </a:prstGeom>
            <a:solidFill>
              <a:srgbClr val="33D6C0"/>
            </a:solidFill>
            <a:ln>
              <a:noFill/>
            </a:ln>
          </p:spPr>
        </p:sp>
        <p:sp>
          <p:nvSpPr>
            <p:cNvPr id="20" name="TextBox 20"/>
            <p:cNvSpPr txBox="1"/>
            <p:nvPr/>
          </p:nvSpPr>
          <p:spPr>
            <a:xfrm>
              <a:off x="5022914" y="1733312"/>
              <a:ext cx="2893595" cy="242030"/>
            </a:xfrm>
            <a:prstGeom prst="rect">
              <a:avLst/>
            </a:prstGeom>
            <a:noFill/>
            <a:ln>
              <a:noFill/>
            </a:ln>
          </p:spPr>
          <p:txBody>
            <a:bodyPr wrap="none" lIns="0" tIns="0" rIns="0" bIns="0" anchor="t" anchorCtr="0">
              <a:spAutoFit/>
            </a:bodyPr>
            <a:lstStyle/>
            <a:p>
              <a:pPr algn="l"/>
              <a:r>
                <a:rPr lang="en-US" sz="1240" b="1" dirty="0">
                  <a:solidFill>
                    <a:srgbClr val="33D6C0"/>
                  </a:solidFill>
                  <a:latin typeface="+mn-lt"/>
                  <a:ea typeface="+mn-ea"/>
                  <a:cs typeface="+mn-cs"/>
                </a:rPr>
                <a:t>Humans reuse, combine, and swap</a:t>
              </a:r>
            </a:p>
          </p:txBody>
        </p:sp>
        <p:sp>
          <p:nvSpPr>
            <p:cNvPr id="21" name="TextBox 21"/>
            <p:cNvSpPr txBox="1"/>
            <p:nvPr/>
          </p:nvSpPr>
          <p:spPr>
            <a:xfrm>
              <a:off x="5023866" y="2039302"/>
              <a:ext cx="342912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Part of the gap is that humans learn by observing</a:t>
              </a:r>
            </a:p>
          </p:txBody>
        </p:sp>
        <p:sp>
          <p:nvSpPr>
            <p:cNvPr id="22" name="TextBox 22"/>
            <p:cNvSpPr txBox="1"/>
            <p:nvPr/>
          </p:nvSpPr>
          <p:spPr>
            <a:xfrm>
              <a:off x="5023866" y="2239328"/>
              <a:ext cx="33253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others and freely reuse, combine, and swap the</a:t>
              </a:r>
            </a:p>
          </p:txBody>
        </p:sp>
        <p:sp>
          <p:nvSpPr>
            <p:cNvPr id="23" name="TextBox 23"/>
            <p:cNvSpPr txBox="1"/>
            <p:nvPr/>
          </p:nvSpPr>
          <p:spPr>
            <a:xfrm>
              <a:off x="5023866" y="2439352"/>
              <a:ext cx="211679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strategies they already know.</a:t>
              </a:r>
            </a:p>
          </p:txBody>
        </p:sp>
        <p:sp>
          <p:nvSpPr>
            <p:cNvPr id="24" name="Rectangle 24"/>
            <p:cNvSpPr/>
            <p:nvPr/>
          </p:nvSpPr>
          <p:spPr>
            <a:xfrm>
              <a:off x="8610600" y="2038350"/>
              <a:ext cx="2762250" cy="800100"/>
            </a:xfrm>
            <a:prstGeom prst="roundRect">
              <a:avLst>
                <a:gd name="adj" fmla="val 9524"/>
              </a:avLst>
            </a:prstGeom>
            <a:solidFill>
              <a:srgbClr val="0E223A"/>
            </a:solidFill>
            <a:ln w="14288">
              <a:solidFill>
                <a:schemeClr val="accent4"/>
              </a:solidFill>
            </a:ln>
          </p:spPr>
        </p:sp>
        <p:sp>
          <p:nvSpPr>
            <p:cNvPr id="25" name="TextBox 25"/>
            <p:cNvSpPr txBox="1"/>
            <p:nvPr/>
          </p:nvSpPr>
          <p:spPr>
            <a:xfrm>
              <a:off x="8739188" y="2128838"/>
              <a:ext cx="1090860" cy="147638"/>
            </a:xfrm>
            <a:prstGeom prst="rect">
              <a:avLst/>
            </a:prstGeom>
            <a:noFill/>
            <a:ln>
              <a:noFill/>
            </a:ln>
          </p:spPr>
          <p:txBody>
            <a:bodyPr wrap="none" lIns="0" tIns="0" rIns="0" bIns="0" anchor="t" anchorCtr="0">
              <a:spAutoFit/>
            </a:bodyPr>
            <a:lstStyle/>
            <a:p>
              <a:pPr algn="l"/>
              <a:r>
                <a:rPr lang="en-US" sz="750" b="1" dirty="0">
                  <a:solidFill>
                    <a:schemeClr val="dk2"/>
                  </a:solidFill>
                  <a:latin typeface="+mn-lt"/>
                  <a:ea typeface="+mn-ea"/>
                  <a:cs typeface="+mn-cs"/>
                </a:rPr>
                <a:t>add · swap · reorder</a:t>
              </a:r>
            </a:p>
          </p:txBody>
        </p:sp>
        <p:sp>
          <p:nvSpPr>
            <p:cNvPr id="26" name="Rectangle 26"/>
            <p:cNvSpPr/>
            <p:nvPr/>
          </p:nvSpPr>
          <p:spPr>
            <a:xfrm>
              <a:off x="8743950" y="2381250"/>
              <a:ext cx="566738" cy="285750"/>
            </a:xfrm>
            <a:prstGeom prst="roundRect">
              <a:avLst>
                <a:gd name="adj" fmla="val 23333"/>
              </a:avLst>
            </a:prstGeom>
            <a:solidFill>
              <a:schemeClr val="accent6"/>
            </a:solidFill>
            <a:ln w="13335">
              <a:solidFill>
                <a:srgbClr val="33D6C0"/>
              </a:solidFill>
            </a:ln>
          </p:spPr>
        </p:sp>
        <p:sp>
          <p:nvSpPr>
            <p:cNvPr id="27" name="TextBox 27"/>
            <p:cNvSpPr txBox="1"/>
            <p:nvPr/>
          </p:nvSpPr>
          <p:spPr>
            <a:xfrm>
              <a:off x="8913681" y="2477214"/>
              <a:ext cx="227276" cy="154781"/>
            </a:xfrm>
            <a:prstGeom prst="rect">
              <a:avLst/>
            </a:prstGeom>
            <a:noFill/>
            <a:ln>
              <a:noFill/>
            </a:ln>
          </p:spPr>
          <p:txBody>
            <a:bodyPr wrap="none" lIns="0" tIns="0" rIns="0" bIns="0" anchor="t" anchorCtr="0">
              <a:spAutoFit/>
            </a:bodyPr>
            <a:lstStyle/>
            <a:p>
              <a:pPr algn="ctr"/>
              <a:r>
                <a:rPr lang="en-US" sz="790" b="1" dirty="0">
                  <a:solidFill>
                    <a:srgbClr val="33D6C0"/>
                  </a:solidFill>
                  <a:latin typeface="Consolas"/>
                  <a:ea typeface="Consolas"/>
                  <a:cs typeface="Consolas"/>
                </a:rPr>
                <a:t>k_in</a:t>
              </a:r>
            </a:p>
          </p:txBody>
        </p:sp>
        <p:sp>
          <p:nvSpPr>
            <p:cNvPr id="28" name="Rectangle 28"/>
            <p:cNvSpPr/>
            <p:nvPr/>
          </p:nvSpPr>
          <p:spPr>
            <a:xfrm>
              <a:off x="9386888" y="2381250"/>
              <a:ext cx="566738" cy="285750"/>
            </a:xfrm>
            <a:prstGeom prst="roundRect">
              <a:avLst>
                <a:gd name="adj" fmla="val 23333"/>
              </a:avLst>
            </a:prstGeom>
            <a:solidFill>
              <a:schemeClr val="accent6"/>
            </a:solidFill>
            <a:ln w="13335">
              <a:solidFill>
                <a:srgbClr val="F4C24C"/>
              </a:solidFill>
            </a:ln>
          </p:spPr>
        </p:sp>
        <p:sp>
          <p:nvSpPr>
            <p:cNvPr id="29" name="TextBox 29"/>
            <p:cNvSpPr txBox="1"/>
            <p:nvPr/>
          </p:nvSpPr>
          <p:spPr>
            <a:xfrm>
              <a:off x="9542660" y="2477214"/>
              <a:ext cx="255193" cy="154781"/>
            </a:xfrm>
            <a:prstGeom prst="rect">
              <a:avLst/>
            </a:prstGeom>
            <a:noFill/>
            <a:ln>
              <a:noFill/>
            </a:ln>
          </p:spPr>
          <p:txBody>
            <a:bodyPr wrap="none" lIns="0" tIns="0" rIns="0" bIns="0" anchor="t" anchorCtr="0">
              <a:spAutoFit/>
            </a:bodyPr>
            <a:lstStyle/>
            <a:p>
              <a:pPr algn="ctr"/>
              <a:r>
                <a:rPr lang="en-US" sz="790" b="1" dirty="0">
                  <a:solidFill>
                    <a:srgbClr val="F4C24C"/>
                  </a:solidFill>
                  <a:latin typeface="Consolas"/>
                  <a:ea typeface="Consolas"/>
                  <a:cs typeface="Consolas"/>
                </a:rPr>
                <a:t>k_g1</a:t>
              </a:r>
            </a:p>
          </p:txBody>
        </p:sp>
        <p:sp>
          <p:nvSpPr>
            <p:cNvPr id="30" name="Rectangle 30"/>
            <p:cNvSpPr/>
            <p:nvPr/>
          </p:nvSpPr>
          <p:spPr>
            <a:xfrm>
              <a:off x="10029825" y="2381250"/>
              <a:ext cx="566738" cy="285750"/>
            </a:xfrm>
            <a:prstGeom prst="roundRect">
              <a:avLst>
                <a:gd name="adj" fmla="val 23333"/>
              </a:avLst>
            </a:prstGeom>
            <a:solidFill>
              <a:schemeClr val="accent6"/>
            </a:solidFill>
            <a:ln w="13335">
              <a:solidFill>
                <a:srgbClr val="F2685C"/>
              </a:solidFill>
            </a:ln>
          </p:spPr>
        </p:sp>
        <p:sp>
          <p:nvSpPr>
            <p:cNvPr id="31" name="TextBox 31"/>
            <p:cNvSpPr txBox="1"/>
            <p:nvPr/>
          </p:nvSpPr>
          <p:spPr>
            <a:xfrm>
              <a:off x="10185597" y="2477214"/>
              <a:ext cx="255193" cy="154781"/>
            </a:xfrm>
            <a:prstGeom prst="rect">
              <a:avLst/>
            </a:prstGeom>
            <a:noFill/>
            <a:ln>
              <a:noFill/>
            </a:ln>
          </p:spPr>
          <p:txBody>
            <a:bodyPr wrap="none" lIns="0" tIns="0" rIns="0" bIns="0" anchor="t" anchorCtr="0">
              <a:spAutoFit/>
            </a:bodyPr>
            <a:lstStyle/>
            <a:p>
              <a:pPr algn="ctr"/>
              <a:r>
                <a:rPr lang="en-US" sz="790" b="1" dirty="0">
                  <a:solidFill>
                    <a:srgbClr val="F2685C"/>
                  </a:solidFill>
                  <a:latin typeface="Consolas"/>
                  <a:ea typeface="Consolas"/>
                  <a:cs typeface="Consolas"/>
                </a:rPr>
                <a:t>k_g2</a:t>
              </a:r>
            </a:p>
          </p:txBody>
        </p:sp>
        <p:sp>
          <p:nvSpPr>
            <p:cNvPr id="32" name="Rectangle 32"/>
            <p:cNvSpPr/>
            <p:nvPr/>
          </p:nvSpPr>
          <p:spPr>
            <a:xfrm>
              <a:off x="10672762" y="2381250"/>
              <a:ext cx="566738" cy="285750"/>
            </a:xfrm>
            <a:prstGeom prst="roundRect">
              <a:avLst>
                <a:gd name="adj" fmla="val 23333"/>
              </a:avLst>
            </a:prstGeom>
            <a:noFill/>
            <a:ln w="13335">
              <a:solidFill>
                <a:srgbClr val="46C98B"/>
              </a:solidFill>
            </a:ln>
          </p:spPr>
        </p:sp>
        <p:sp>
          <p:nvSpPr>
            <p:cNvPr id="33" name="TextBox 33"/>
            <p:cNvSpPr txBox="1"/>
            <p:nvPr/>
          </p:nvSpPr>
          <p:spPr>
            <a:xfrm>
              <a:off x="10800618" y="2477214"/>
              <a:ext cx="311027" cy="154781"/>
            </a:xfrm>
            <a:prstGeom prst="rect">
              <a:avLst/>
            </a:prstGeom>
            <a:noFill/>
            <a:ln>
              <a:noFill/>
            </a:ln>
          </p:spPr>
          <p:txBody>
            <a:bodyPr wrap="none" lIns="0" tIns="0" rIns="0" bIns="0" anchor="t" anchorCtr="0">
              <a:spAutoFit/>
            </a:bodyPr>
            <a:lstStyle/>
            <a:p>
              <a:pPr algn="ctr"/>
              <a:r>
                <a:rPr lang="en-US" sz="790" b="1" dirty="0">
                  <a:solidFill>
                    <a:srgbClr val="46C98B"/>
                  </a:solidFill>
                  <a:latin typeface="Consolas"/>
                  <a:ea typeface="Consolas"/>
                  <a:cs typeface="Consolas"/>
                </a:rPr>
                <a:t>+ new</a:t>
              </a:r>
            </a:p>
          </p:txBody>
        </p:sp>
      </p:grpSp>
      <p:grpSp>
        <p:nvGrpSpPr>
          <p:cNvPr id="40" name="Group 40"/>
          <p:cNvGrpSpPr/>
          <p:nvPr/>
        </p:nvGrpSpPr>
        <p:grpSpPr>
          <a:xfrm>
            <a:off x="4762500" y="3086100"/>
            <a:ext cx="6819900" cy="990600"/>
            <a:chOff x="4762500" y="3086100"/>
            <a:chExt cx="6819900" cy="990600"/>
          </a:xfrm>
        </p:grpSpPr>
        <p:sp>
          <p:nvSpPr>
            <p:cNvPr id="35" name="Rectangle 35"/>
            <p:cNvSpPr/>
            <p:nvPr/>
          </p:nvSpPr>
          <p:spPr>
            <a:xfrm>
              <a:off x="4762500" y="3086100"/>
              <a:ext cx="6819900" cy="990600"/>
            </a:xfrm>
            <a:prstGeom prst="roundRect">
              <a:avLst>
                <a:gd name="adj" fmla="val 13462"/>
              </a:avLst>
            </a:prstGeom>
            <a:solidFill>
              <a:srgbClr val="2A2417"/>
            </a:solidFill>
            <a:ln w="14288">
              <a:solidFill>
                <a:srgbClr val="F4C24C"/>
              </a:solidFill>
            </a:ln>
          </p:spPr>
        </p:sp>
        <p:sp>
          <p:nvSpPr>
            <p:cNvPr id="36" name="Rectangle 36"/>
            <p:cNvSpPr/>
            <p:nvPr/>
          </p:nvSpPr>
          <p:spPr>
            <a:xfrm>
              <a:off x="4762500" y="3086100"/>
              <a:ext cx="57150" cy="990600"/>
            </a:xfrm>
            <a:prstGeom prst="roundRect">
              <a:avLst>
                <a:gd name="adj" fmla="val 50000"/>
              </a:avLst>
            </a:prstGeom>
            <a:solidFill>
              <a:srgbClr val="F4C24C"/>
            </a:solidFill>
            <a:ln>
              <a:noFill/>
            </a:ln>
          </p:spPr>
        </p:sp>
        <p:sp>
          <p:nvSpPr>
            <p:cNvPr id="37" name="TextBox 37"/>
            <p:cNvSpPr txBox="1"/>
            <p:nvPr/>
          </p:nvSpPr>
          <p:spPr>
            <a:xfrm>
              <a:off x="5023104" y="3318510"/>
              <a:ext cx="2980307"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Prior knowledge-guided RL was rigid</a:t>
              </a:r>
            </a:p>
          </p:txBody>
        </p:sp>
        <p:sp>
          <p:nvSpPr>
            <p:cNvPr id="38" name="TextBox 38"/>
            <p:cNvSpPr txBox="1"/>
            <p:nvPr/>
          </p:nvSpPr>
          <p:spPr>
            <a:xfrm>
              <a:off x="5023676" y="3616404"/>
              <a:ext cx="616398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Earlier methods did inject external knowledge policies to improve efficiency, but they</a:t>
              </a:r>
            </a:p>
          </p:txBody>
        </p:sp>
        <p:sp>
          <p:nvSpPr>
            <p:cNvPr id="39" name="TextBox 39"/>
            <p:cNvSpPr txBox="1"/>
            <p:nvPr/>
          </p:nvSpPr>
          <p:spPr>
            <a:xfrm>
              <a:off x="5023676" y="3845004"/>
              <a:ext cx="503675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made arbitrary combinations and replacements of those policies hard.</a:t>
              </a:r>
            </a:p>
          </p:txBody>
        </p:sp>
      </p:grpSp>
      <p:grpSp>
        <p:nvGrpSpPr>
          <p:cNvPr id="46" name="Group 46"/>
          <p:cNvGrpSpPr/>
          <p:nvPr/>
        </p:nvGrpSpPr>
        <p:grpSpPr>
          <a:xfrm>
            <a:off x="4762500" y="4229100"/>
            <a:ext cx="6819900" cy="1009650"/>
            <a:chOff x="4762500" y="4229100"/>
            <a:chExt cx="6819900" cy="1009650"/>
          </a:xfrm>
        </p:grpSpPr>
        <p:sp>
          <p:nvSpPr>
            <p:cNvPr id="41" name="Rectangle 41"/>
            <p:cNvSpPr/>
            <p:nvPr/>
          </p:nvSpPr>
          <p:spPr>
            <a:xfrm>
              <a:off x="4762500" y="4229100"/>
              <a:ext cx="6819900" cy="1009650"/>
            </a:xfrm>
            <a:prstGeom prst="roundRect">
              <a:avLst>
                <a:gd name="adj" fmla="val 13208"/>
              </a:avLst>
            </a:prstGeom>
            <a:solidFill>
              <a:srgbClr val="0F2E2B"/>
            </a:solidFill>
            <a:ln w="14288">
              <a:solidFill>
                <a:srgbClr val="46C98B"/>
              </a:solidFill>
            </a:ln>
          </p:spPr>
        </p:sp>
        <p:sp>
          <p:nvSpPr>
            <p:cNvPr id="42" name="Rectangle 42"/>
            <p:cNvSpPr/>
            <p:nvPr/>
          </p:nvSpPr>
          <p:spPr>
            <a:xfrm>
              <a:off x="4762500" y="4229100"/>
              <a:ext cx="57150" cy="1009650"/>
            </a:xfrm>
            <a:prstGeom prst="roundRect">
              <a:avLst>
                <a:gd name="adj" fmla="val 50000"/>
              </a:avLst>
            </a:prstGeom>
            <a:solidFill>
              <a:srgbClr val="46C98B"/>
            </a:solidFill>
            <a:ln>
              <a:noFill/>
            </a:ln>
          </p:spPr>
        </p:sp>
        <p:sp>
          <p:nvSpPr>
            <p:cNvPr id="43" name="TextBox 43"/>
            <p:cNvSpPr txBox="1"/>
            <p:nvPr/>
          </p:nvSpPr>
          <p:spPr>
            <a:xfrm>
              <a:off x="5023104" y="4461510"/>
              <a:ext cx="2434556" cy="234696"/>
            </a:xfrm>
            <a:prstGeom prst="rect">
              <a:avLst/>
            </a:prstGeom>
            <a:noFill/>
            <a:ln>
              <a:noFill/>
            </a:ln>
          </p:spPr>
          <p:txBody>
            <a:bodyPr wrap="none" lIns="0" tIns="0" rIns="0" bIns="0" anchor="t" anchorCtr="0">
              <a:spAutoFit/>
            </a:bodyPr>
            <a:lstStyle/>
            <a:p>
              <a:pPr algn="l"/>
              <a:r>
                <a:rPr lang="en-US" sz="1200" b="1" dirty="0">
                  <a:solidFill>
                    <a:srgbClr val="46C98B"/>
                  </a:solidFill>
                  <a:latin typeface="+mn-lt"/>
                  <a:ea typeface="+mn-ea"/>
                  <a:cs typeface="+mn-cs"/>
                </a:rPr>
                <a:t>This paper fixes that rigidity</a:t>
              </a:r>
            </a:p>
          </p:txBody>
        </p:sp>
        <p:sp>
          <p:nvSpPr>
            <p:cNvPr id="44" name="TextBox 44"/>
            <p:cNvSpPr txBox="1"/>
            <p:nvPr/>
          </p:nvSpPr>
          <p:spPr>
            <a:xfrm>
              <a:off x="5023676" y="4759404"/>
              <a:ext cx="58781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goal is an actor whose knowledge policies can be freely rearranged, added, or</a:t>
              </a:r>
            </a:p>
          </p:txBody>
        </p:sp>
        <p:sp>
          <p:nvSpPr>
            <p:cNvPr id="45" name="TextBox 45"/>
            <p:cNvSpPr txBox="1"/>
            <p:nvPr/>
          </p:nvSpPr>
          <p:spPr>
            <a:xfrm>
              <a:off x="5023676" y="4988004"/>
              <a:ext cx="462356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replaced. That rigidity is exactly what this work set out to fix.</a:t>
              </a:r>
            </a:p>
          </p:txBody>
        </p:sp>
      </p:grpSp>
      <p:sp>
        <p:nvSpPr>
          <p:cNvPr id="47" name="cue_s02_c1_reinforcement_learning_succeeded_acr" title="cue_s02_c1_reinforcement_learning_succeeded_acr" descr="cue_s02_c1_reinforcement_learning_succeeded_acr Reinforcement learning has succeeded across physics and robotics, yet agents still need enormous numbers of samples to solve tasks that humans master quickly."/>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2_c2_part_gap_humans_learn_observing" title="cue_s02_c2_part_gap_humans_learn_observing" descr="cue_s02_c2_part_gap_humans_learn_observing Part of the gap is that humans learn by observing others and freely reuse, combine, and swap the strategies they already know."/>
          <p:cNvSpPr/>
          <p:nvPr/>
        </p:nvSpPr>
        <p:spPr>
          <a:xfrm>
            <a:off x="4762195" y="1504645"/>
            <a:ext cx="68202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3_earlier_reinforcement_learning_metho" title="cue_s02_c3_earlier_reinforcement_learning_metho" descr="cue_s02_c3_earlier_reinforcement_learning_metho Earlier reinforcement learning methods did incorporate external knowledge policies to improve efficiency, but they made it hard to perform arbitrary combinations and replacements of those policies."/>
          <p:cNvSpPr/>
          <p:nvPr/>
        </p:nvSpPr>
        <p:spPr>
          <a:xfrm>
            <a:off x="4762195" y="3086100"/>
            <a:ext cx="68202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4_rigidity_exactly_property_set_out" title="cue_s02_c4_rigidity_exactly_property_set_out" descr="cue_s02_c4_rigidity_exactly_property_set_out That rigidity is exactly the property this paper set out to fix."/>
          <p:cNvSpPr/>
          <p:nvPr/>
        </p:nvSpPr>
        <p:spPr>
          <a:xfrm>
            <a:off x="4762195" y="4229328"/>
            <a:ext cx="6820204"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545503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Five properties of flexible learning</a:t>
            </a:r>
          </a:p>
        </p:txBody>
      </p:sp>
      <p:grpSp>
        <p:nvGrpSpPr>
          <p:cNvPr id="26" name="Group 26"/>
          <p:cNvGrpSpPr/>
          <p:nvPr/>
        </p:nvGrpSpPr>
        <p:grpSpPr>
          <a:xfrm>
            <a:off x="609600" y="1504950"/>
            <a:ext cx="5334000" cy="1943100"/>
            <a:chOff x="609600" y="1504950"/>
            <a:chExt cx="5334000" cy="1943100"/>
          </a:xfrm>
        </p:grpSpPr>
        <p:sp>
          <p:nvSpPr>
            <p:cNvPr id="5" name="Rectangle 5"/>
            <p:cNvSpPr/>
            <p:nvPr/>
          </p:nvSpPr>
          <p:spPr>
            <a:xfrm>
              <a:off x="609600" y="1504950"/>
              <a:ext cx="5334000" cy="1943100"/>
            </a:xfrm>
            <a:prstGeom prst="roundRect">
              <a:avLst>
                <a:gd name="adj" fmla="val 6863"/>
              </a:avLst>
            </a:prstGeom>
            <a:solidFill>
              <a:schemeClr val="accent5"/>
            </a:solidFill>
            <a:ln w="14288">
              <a:solidFill>
                <a:schemeClr val="accent4"/>
              </a:solidFill>
            </a:ln>
          </p:spPr>
        </p:sp>
        <p:sp>
          <p:nvSpPr>
            <p:cNvPr id="6" name="Rectangle 6"/>
            <p:cNvSpPr/>
            <p:nvPr/>
          </p:nvSpPr>
          <p:spPr>
            <a:xfrm>
              <a:off x="609600" y="1504950"/>
              <a:ext cx="57150" cy="1943100"/>
            </a:xfrm>
            <a:prstGeom prst="roundRect">
              <a:avLst>
                <a:gd name="adj" fmla="val 50000"/>
              </a:avLst>
            </a:prstGeom>
            <a:solidFill>
              <a:schemeClr val="accent2"/>
            </a:solidFill>
            <a:ln>
              <a:noFill/>
            </a:ln>
          </p:spPr>
        </p:sp>
        <p:sp>
          <p:nvSpPr>
            <p:cNvPr id="7" name="TextBox 7"/>
            <p:cNvSpPr txBox="1"/>
            <p:nvPr/>
          </p:nvSpPr>
          <p:spPr>
            <a:xfrm>
              <a:off x="870204" y="1737360"/>
              <a:ext cx="3011473"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What efficient human learning needs</a:t>
              </a:r>
            </a:p>
          </p:txBody>
        </p:sp>
        <p:sp>
          <p:nvSpPr>
            <p:cNvPr id="8" name="TextBox 8"/>
            <p:cNvSpPr txBox="1"/>
            <p:nvPr/>
          </p:nvSpPr>
          <p:spPr>
            <a:xfrm>
              <a:off x="871156" y="2024301"/>
              <a:ext cx="37399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authors distill five properties of efficient, flexible</a:t>
              </a:r>
            </a:p>
          </p:txBody>
        </p:sp>
        <p:sp>
          <p:nvSpPr>
            <p:cNvPr id="9" name="TextBox 9"/>
            <p:cNvSpPr txBox="1"/>
            <p:nvPr/>
          </p:nvSpPr>
          <p:spPr>
            <a:xfrm>
              <a:off x="871156" y="2214801"/>
              <a:ext cx="10572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human learning.</a:t>
              </a:r>
            </a:p>
          </p:txBody>
        </p:sp>
        <p:sp>
          <p:nvSpPr>
            <p:cNvPr id="10" name="Rectangle 10"/>
            <p:cNvSpPr/>
            <p:nvPr/>
          </p:nvSpPr>
          <p:spPr>
            <a:xfrm>
              <a:off x="876300" y="2514600"/>
              <a:ext cx="883920" cy="495300"/>
            </a:xfrm>
            <a:prstGeom prst="roundRect">
              <a:avLst>
                <a:gd name="adj" fmla="val 17308"/>
              </a:avLst>
            </a:prstGeom>
            <a:solidFill>
              <a:schemeClr val="accent6"/>
            </a:solidFill>
            <a:ln w="14288">
              <a:solidFill>
                <a:schemeClr val="accent2"/>
              </a:solidFill>
            </a:ln>
          </p:spPr>
        </p:sp>
        <p:sp>
          <p:nvSpPr>
            <p:cNvPr id="11" name="Ellipse 11"/>
            <p:cNvSpPr/>
            <p:nvPr/>
          </p:nvSpPr>
          <p:spPr>
            <a:xfrm>
              <a:off x="1251585" y="2619375"/>
              <a:ext cx="133350" cy="133350"/>
            </a:xfrm>
            <a:prstGeom prst="ellipse">
              <a:avLst/>
            </a:prstGeom>
            <a:solidFill>
              <a:schemeClr val="accent2"/>
            </a:solidFill>
            <a:ln>
              <a:noFill/>
            </a:ln>
          </p:spPr>
        </p:sp>
        <p:sp>
          <p:nvSpPr>
            <p:cNvPr id="12" name="TextBox 12"/>
            <p:cNvSpPr txBox="1"/>
            <p:nvPr/>
          </p:nvSpPr>
          <p:spPr>
            <a:xfrm>
              <a:off x="1034329" y="2791539"/>
              <a:ext cx="567861" cy="154781"/>
            </a:xfrm>
            <a:prstGeom prst="rect">
              <a:avLst/>
            </a:prstGeom>
            <a:noFill/>
            <a:ln>
              <a:noFill/>
            </a:ln>
          </p:spPr>
          <p:txBody>
            <a:bodyPr wrap="none" lIns="0" tIns="0" rIns="0" bIns="0" anchor="t" anchorCtr="0">
              <a:spAutoFit/>
            </a:bodyPr>
            <a:lstStyle/>
            <a:p>
              <a:pPr algn="ctr"/>
              <a:r>
                <a:rPr lang="en-US" sz="790" b="1" dirty="0">
                  <a:solidFill>
                    <a:schemeClr val="dk1"/>
                  </a:solidFill>
                  <a:latin typeface="+mn-lt"/>
                  <a:ea typeface="+mn-ea"/>
                  <a:cs typeface="+mn-cs"/>
                </a:rPr>
                <a:t>acquirable</a:t>
              </a:r>
            </a:p>
          </p:txBody>
        </p:sp>
        <p:sp>
          <p:nvSpPr>
            <p:cNvPr id="13" name="Rectangle 13"/>
            <p:cNvSpPr/>
            <p:nvPr/>
          </p:nvSpPr>
          <p:spPr>
            <a:xfrm>
              <a:off x="1855470" y="2514600"/>
              <a:ext cx="883920" cy="495300"/>
            </a:xfrm>
            <a:prstGeom prst="roundRect">
              <a:avLst>
                <a:gd name="adj" fmla="val 17308"/>
              </a:avLst>
            </a:prstGeom>
            <a:solidFill>
              <a:schemeClr val="accent6"/>
            </a:solidFill>
            <a:ln w="14288">
              <a:solidFill>
                <a:srgbClr val="33D6C0"/>
              </a:solidFill>
            </a:ln>
          </p:spPr>
        </p:sp>
        <p:sp>
          <p:nvSpPr>
            <p:cNvPr id="14" name="Ellipse 14"/>
            <p:cNvSpPr/>
            <p:nvPr/>
          </p:nvSpPr>
          <p:spPr>
            <a:xfrm>
              <a:off x="2230755" y="2619375"/>
              <a:ext cx="133350" cy="133350"/>
            </a:xfrm>
            <a:prstGeom prst="ellipse">
              <a:avLst/>
            </a:prstGeom>
            <a:solidFill>
              <a:srgbClr val="33D6C0"/>
            </a:solidFill>
            <a:ln>
              <a:noFill/>
            </a:ln>
          </p:spPr>
        </p:sp>
        <p:sp>
          <p:nvSpPr>
            <p:cNvPr id="15" name="TextBox 15"/>
            <p:cNvSpPr txBox="1"/>
            <p:nvPr/>
          </p:nvSpPr>
          <p:spPr>
            <a:xfrm>
              <a:off x="2044208" y="2791539"/>
              <a:ext cx="506444" cy="154781"/>
            </a:xfrm>
            <a:prstGeom prst="rect">
              <a:avLst/>
            </a:prstGeom>
            <a:noFill/>
            <a:ln>
              <a:noFill/>
            </a:ln>
          </p:spPr>
          <p:txBody>
            <a:bodyPr wrap="none" lIns="0" tIns="0" rIns="0" bIns="0" anchor="t" anchorCtr="0">
              <a:spAutoFit/>
            </a:bodyPr>
            <a:lstStyle/>
            <a:p>
              <a:pPr algn="ctr"/>
              <a:r>
                <a:rPr lang="en-US" sz="790" b="1" dirty="0">
                  <a:solidFill>
                    <a:schemeClr val="dk1"/>
                  </a:solidFill>
                  <a:latin typeface="+mn-lt"/>
                  <a:ea typeface="+mn-ea"/>
                  <a:cs typeface="+mn-cs"/>
                </a:rPr>
                <a:t>efficient</a:t>
              </a:r>
            </a:p>
          </p:txBody>
        </p:sp>
        <p:sp>
          <p:nvSpPr>
            <p:cNvPr id="16" name="Rectangle 16"/>
            <p:cNvSpPr/>
            <p:nvPr/>
          </p:nvSpPr>
          <p:spPr>
            <a:xfrm>
              <a:off x="2834640" y="2514600"/>
              <a:ext cx="883920" cy="495300"/>
            </a:xfrm>
            <a:prstGeom prst="roundRect">
              <a:avLst>
                <a:gd name="adj" fmla="val 17308"/>
              </a:avLst>
            </a:prstGeom>
            <a:solidFill>
              <a:schemeClr val="accent6"/>
            </a:solidFill>
            <a:ln w="14288">
              <a:solidFill>
                <a:srgbClr val="46C98B"/>
              </a:solidFill>
            </a:ln>
          </p:spPr>
        </p:sp>
        <p:sp>
          <p:nvSpPr>
            <p:cNvPr id="17" name="Ellipse 17"/>
            <p:cNvSpPr/>
            <p:nvPr/>
          </p:nvSpPr>
          <p:spPr>
            <a:xfrm>
              <a:off x="3209925" y="2619375"/>
              <a:ext cx="133350" cy="133350"/>
            </a:xfrm>
            <a:prstGeom prst="ellipse">
              <a:avLst/>
            </a:prstGeom>
            <a:solidFill>
              <a:srgbClr val="46C98B"/>
            </a:solidFill>
            <a:ln>
              <a:noFill/>
            </a:ln>
          </p:spPr>
        </p:sp>
        <p:sp>
          <p:nvSpPr>
            <p:cNvPr id="18" name="TextBox 18"/>
            <p:cNvSpPr txBox="1"/>
            <p:nvPr/>
          </p:nvSpPr>
          <p:spPr>
            <a:xfrm>
              <a:off x="2914502" y="2915364"/>
              <a:ext cx="724196" cy="154781"/>
            </a:xfrm>
            <a:prstGeom prst="rect">
              <a:avLst/>
            </a:prstGeom>
            <a:noFill/>
            <a:ln>
              <a:noFill/>
            </a:ln>
          </p:spPr>
          <p:txBody>
            <a:bodyPr wrap="none" lIns="0" tIns="0" rIns="0" bIns="0" anchor="t" anchorCtr="0">
              <a:spAutoFit/>
            </a:bodyPr>
            <a:lstStyle/>
            <a:p>
              <a:pPr algn="ctr"/>
              <a:r>
                <a:rPr lang="en-US" sz="790" b="1" dirty="0">
                  <a:solidFill>
                    <a:schemeClr val="dk1"/>
                  </a:solidFill>
                  <a:latin typeface="+mn-lt"/>
                  <a:ea typeface="+mn-ea"/>
                  <a:cs typeface="+mn-cs"/>
                </a:rPr>
                <a:t>generalizable</a:t>
              </a:r>
            </a:p>
          </p:txBody>
        </p:sp>
        <p:sp>
          <p:nvSpPr>
            <p:cNvPr id="19" name="Rectangle 19"/>
            <p:cNvSpPr/>
            <p:nvPr/>
          </p:nvSpPr>
          <p:spPr>
            <a:xfrm>
              <a:off x="3813810" y="2514600"/>
              <a:ext cx="883920" cy="495300"/>
            </a:xfrm>
            <a:prstGeom prst="roundRect">
              <a:avLst>
                <a:gd name="adj" fmla="val 17308"/>
              </a:avLst>
            </a:prstGeom>
            <a:solidFill>
              <a:schemeClr val="accent6"/>
            </a:solidFill>
            <a:ln w="14288">
              <a:solidFill>
                <a:srgbClr val="F4C24C"/>
              </a:solidFill>
            </a:ln>
          </p:spPr>
        </p:sp>
        <p:sp>
          <p:nvSpPr>
            <p:cNvPr id="20" name="Ellipse 20"/>
            <p:cNvSpPr/>
            <p:nvPr/>
          </p:nvSpPr>
          <p:spPr>
            <a:xfrm>
              <a:off x="4189095" y="2619375"/>
              <a:ext cx="133350" cy="133350"/>
            </a:xfrm>
            <a:prstGeom prst="ellipse">
              <a:avLst/>
            </a:prstGeom>
            <a:solidFill>
              <a:srgbClr val="F4C24C"/>
            </a:solidFill>
            <a:ln>
              <a:noFill/>
            </a:ln>
          </p:spPr>
        </p:sp>
        <p:sp>
          <p:nvSpPr>
            <p:cNvPr id="21" name="TextBox 21"/>
            <p:cNvSpPr txBox="1"/>
            <p:nvPr/>
          </p:nvSpPr>
          <p:spPr>
            <a:xfrm>
              <a:off x="3882505" y="2915364"/>
              <a:ext cx="746529" cy="154781"/>
            </a:xfrm>
            <a:prstGeom prst="rect">
              <a:avLst/>
            </a:prstGeom>
            <a:noFill/>
            <a:ln>
              <a:noFill/>
            </a:ln>
          </p:spPr>
          <p:txBody>
            <a:bodyPr wrap="none" lIns="0" tIns="0" rIns="0" bIns="0" anchor="t" anchorCtr="0">
              <a:spAutoFit/>
            </a:bodyPr>
            <a:lstStyle/>
            <a:p>
              <a:pPr algn="ctr"/>
              <a:r>
                <a:rPr lang="en-US" sz="790" b="1" dirty="0">
                  <a:solidFill>
                    <a:schemeClr val="dk1"/>
                  </a:solidFill>
                  <a:latin typeface="+mn-lt"/>
                  <a:ea typeface="+mn-ea"/>
                  <a:cs typeface="+mn-cs"/>
                </a:rPr>
                <a:t>compositional</a:t>
              </a:r>
            </a:p>
          </p:txBody>
        </p:sp>
        <p:sp>
          <p:nvSpPr>
            <p:cNvPr id="22" name="Rectangle 22"/>
            <p:cNvSpPr/>
            <p:nvPr/>
          </p:nvSpPr>
          <p:spPr>
            <a:xfrm>
              <a:off x="4792980" y="2514600"/>
              <a:ext cx="883920" cy="495300"/>
            </a:xfrm>
            <a:prstGeom prst="roundRect">
              <a:avLst>
                <a:gd name="adj" fmla="val 17308"/>
              </a:avLst>
            </a:prstGeom>
            <a:solidFill>
              <a:schemeClr val="accent6"/>
            </a:solidFill>
            <a:ln w="14288">
              <a:solidFill>
                <a:srgbClr val="9C86F0"/>
              </a:solidFill>
            </a:ln>
          </p:spPr>
        </p:sp>
        <p:sp>
          <p:nvSpPr>
            <p:cNvPr id="23" name="Ellipse 23"/>
            <p:cNvSpPr/>
            <p:nvPr/>
          </p:nvSpPr>
          <p:spPr>
            <a:xfrm>
              <a:off x="5168265" y="2619375"/>
              <a:ext cx="133350" cy="133350"/>
            </a:xfrm>
            <a:prstGeom prst="ellipse">
              <a:avLst/>
            </a:prstGeom>
            <a:solidFill>
              <a:srgbClr val="9C86F0"/>
            </a:solidFill>
            <a:ln>
              <a:noFill/>
            </a:ln>
          </p:spPr>
        </p:sp>
        <p:sp>
          <p:nvSpPr>
            <p:cNvPr id="24" name="TextBox 24"/>
            <p:cNvSpPr txBox="1"/>
            <p:nvPr/>
          </p:nvSpPr>
          <p:spPr>
            <a:xfrm>
              <a:off x="4909134" y="2791539"/>
              <a:ext cx="651612" cy="154781"/>
            </a:xfrm>
            <a:prstGeom prst="rect">
              <a:avLst/>
            </a:prstGeom>
            <a:noFill/>
            <a:ln>
              <a:noFill/>
            </a:ln>
          </p:spPr>
          <p:txBody>
            <a:bodyPr wrap="none" lIns="0" tIns="0" rIns="0" bIns="0" anchor="t" anchorCtr="0">
              <a:spAutoFit/>
            </a:bodyPr>
            <a:lstStyle/>
            <a:p>
              <a:pPr algn="ctr"/>
              <a:r>
                <a:rPr lang="en-US" sz="790" b="1" dirty="0">
                  <a:solidFill>
                    <a:schemeClr val="dk1"/>
                  </a:solidFill>
                  <a:latin typeface="+mn-lt"/>
                  <a:ea typeface="+mn-ea"/>
                  <a:cs typeface="+mn-cs"/>
                </a:rPr>
                <a:t>incremental</a:t>
              </a:r>
            </a:p>
          </p:txBody>
        </p:sp>
        <p:sp>
          <p:nvSpPr>
            <p:cNvPr id="25" name="TextBox 25"/>
            <p:cNvSpPr txBox="1"/>
            <p:nvPr/>
          </p:nvSpPr>
          <p:spPr>
            <a:xfrm>
              <a:off x="871538" y="3179445"/>
              <a:ext cx="3565209"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existing methods satisfy some, but stumble on flexibility</a:t>
              </a:r>
            </a:p>
          </p:txBody>
        </p:sp>
      </p:grpSp>
      <p:grpSp>
        <p:nvGrpSpPr>
          <p:cNvPr id="33" name="Group 33"/>
          <p:cNvGrpSpPr/>
          <p:nvPr/>
        </p:nvGrpSpPr>
        <p:grpSpPr>
          <a:xfrm>
            <a:off x="609600" y="3600450"/>
            <a:ext cx="5334000" cy="1638300"/>
            <a:chOff x="609600" y="3600450"/>
            <a:chExt cx="5334000" cy="1638300"/>
          </a:xfrm>
        </p:grpSpPr>
        <p:sp>
          <p:nvSpPr>
            <p:cNvPr id="27" name="Rectangle 27"/>
            <p:cNvSpPr/>
            <p:nvPr/>
          </p:nvSpPr>
          <p:spPr>
            <a:xfrm>
              <a:off x="609600" y="3600450"/>
              <a:ext cx="5334000" cy="1638300"/>
            </a:xfrm>
            <a:prstGeom prst="roundRect">
              <a:avLst>
                <a:gd name="adj" fmla="val 8140"/>
              </a:avLst>
            </a:prstGeom>
            <a:solidFill>
              <a:srgbClr val="2A2417"/>
            </a:solidFill>
            <a:ln w="14288">
              <a:solidFill>
                <a:srgbClr val="F4C24C"/>
              </a:solidFill>
            </a:ln>
          </p:spPr>
        </p:sp>
        <p:sp>
          <p:nvSpPr>
            <p:cNvPr id="28" name="Rectangle 28"/>
            <p:cNvSpPr/>
            <p:nvPr/>
          </p:nvSpPr>
          <p:spPr>
            <a:xfrm>
              <a:off x="609600" y="3600450"/>
              <a:ext cx="57150" cy="1638300"/>
            </a:xfrm>
            <a:prstGeom prst="roundRect">
              <a:avLst>
                <a:gd name="adj" fmla="val 50000"/>
              </a:avLst>
            </a:prstGeom>
            <a:solidFill>
              <a:srgbClr val="F4C24C"/>
            </a:solidFill>
            <a:ln>
              <a:noFill/>
            </a:ln>
          </p:spPr>
        </p:sp>
        <p:sp>
          <p:nvSpPr>
            <p:cNvPr id="29" name="TextBox 29"/>
            <p:cNvSpPr txBox="1"/>
            <p:nvPr/>
          </p:nvSpPr>
          <p:spPr>
            <a:xfrm>
              <a:off x="870585" y="3821906"/>
              <a:ext cx="2518223" cy="220028"/>
            </a:xfrm>
            <a:prstGeom prst="rect">
              <a:avLst/>
            </a:prstGeom>
            <a:noFill/>
            <a:ln>
              <a:noFill/>
            </a:ln>
          </p:spPr>
          <p:txBody>
            <a:bodyPr wrap="none" lIns="0" tIns="0" rIns="0" bIns="0" anchor="t" anchorCtr="0">
              <a:spAutoFit/>
            </a:bodyPr>
            <a:lstStyle/>
            <a:p>
              <a:pPr algn="l"/>
              <a:r>
                <a:rPr lang="en-US" sz="1120" b="1" dirty="0">
                  <a:solidFill>
                    <a:srgbClr val="F4C24C"/>
                  </a:solidFill>
                  <a:latin typeface="+mn-lt"/>
                  <a:ea typeface="+mn-ea"/>
                  <a:cs typeface="+mn-cs"/>
                </a:rPr>
                <a:t>Fusion tied to number &amp; ordering</a:t>
              </a:r>
            </a:p>
          </p:txBody>
        </p:sp>
        <p:sp>
          <p:nvSpPr>
            <p:cNvPr id="30" name="TextBox 30"/>
            <p:cNvSpPr txBox="1"/>
            <p:nvPr/>
          </p:nvSpPr>
          <p:spPr>
            <a:xfrm>
              <a:off x="871156" y="4100751"/>
              <a:ext cx="382192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When fusion depends on the count or ordering of external</a:t>
              </a:r>
            </a:p>
          </p:txBody>
        </p:sp>
        <p:sp>
          <p:nvSpPr>
            <p:cNvPr id="31" name="TextBox 31"/>
            <p:cNvSpPr txBox="1"/>
            <p:nvPr/>
          </p:nvSpPr>
          <p:spPr>
            <a:xfrm>
              <a:off x="871156" y="4291251"/>
              <a:ext cx="374255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policies, rearranging the set or swapping a policy means</a:t>
              </a:r>
            </a:p>
          </p:txBody>
        </p:sp>
        <p:sp>
          <p:nvSpPr>
            <p:cNvPr id="32" name="TextBox 32"/>
            <p:cNvSpPr txBox="1"/>
            <p:nvPr/>
          </p:nvSpPr>
          <p:spPr>
            <a:xfrm>
              <a:off x="871156" y="4481751"/>
              <a:ext cx="330066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rebuilding or retraining large parts of the model.</a:t>
              </a:r>
            </a:p>
          </p:txBody>
        </p:sp>
      </p:grpSp>
      <p:grpSp>
        <p:nvGrpSpPr>
          <p:cNvPr id="42" name="Group 42"/>
          <p:cNvGrpSpPr/>
          <p:nvPr/>
        </p:nvGrpSpPr>
        <p:grpSpPr>
          <a:xfrm>
            <a:off x="6172200" y="1504950"/>
            <a:ext cx="5410200" cy="1943100"/>
            <a:chOff x="6172200" y="1504950"/>
            <a:chExt cx="5410200" cy="1943100"/>
          </a:xfrm>
        </p:grpSpPr>
        <p:sp>
          <p:nvSpPr>
            <p:cNvPr id="34" name="Rectangle 34"/>
            <p:cNvSpPr/>
            <p:nvPr/>
          </p:nvSpPr>
          <p:spPr>
            <a:xfrm>
              <a:off x="6172200" y="1504950"/>
              <a:ext cx="5410200" cy="1943100"/>
            </a:xfrm>
            <a:prstGeom prst="roundRect">
              <a:avLst>
                <a:gd name="adj" fmla="val 6863"/>
              </a:avLst>
            </a:prstGeom>
            <a:solidFill>
              <a:schemeClr val="accent5"/>
            </a:solidFill>
            <a:ln w="14288">
              <a:solidFill>
                <a:schemeClr val="accent4"/>
              </a:solidFill>
            </a:ln>
          </p:spPr>
        </p:sp>
        <p:sp>
          <p:nvSpPr>
            <p:cNvPr id="35" name="Rectangle 35"/>
            <p:cNvSpPr/>
            <p:nvPr/>
          </p:nvSpPr>
          <p:spPr>
            <a:xfrm>
              <a:off x="6172200" y="1504950"/>
              <a:ext cx="57150" cy="1943100"/>
            </a:xfrm>
            <a:prstGeom prst="roundRect">
              <a:avLst>
                <a:gd name="adj" fmla="val 50000"/>
              </a:avLst>
            </a:prstGeom>
            <a:solidFill>
              <a:srgbClr val="F2685C"/>
            </a:solidFill>
            <a:ln>
              <a:noFill/>
            </a:ln>
          </p:spPr>
        </p:sp>
        <p:sp>
          <p:nvSpPr>
            <p:cNvPr id="36" name="TextBox 36"/>
            <p:cNvSpPr txBox="1"/>
            <p:nvPr/>
          </p:nvSpPr>
          <p:spPr>
            <a:xfrm>
              <a:off x="6432804" y="1737360"/>
              <a:ext cx="2875888"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Swapping a policy breaks the model</a:t>
              </a:r>
            </a:p>
          </p:txBody>
        </p:sp>
        <p:sp>
          <p:nvSpPr>
            <p:cNvPr id="37" name="TextBox 37"/>
            <p:cNvSpPr txBox="1"/>
            <p:nvPr/>
          </p:nvSpPr>
          <p:spPr>
            <a:xfrm>
              <a:off x="6433756" y="2043351"/>
              <a:ext cx="398120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Prior actors such as KoGuN and A2T tie fusion to fixed input</a:t>
              </a:r>
            </a:p>
          </p:txBody>
        </p:sp>
        <p:sp>
          <p:nvSpPr>
            <p:cNvPr id="38" name="TextBox 38"/>
            <p:cNvSpPr txBox="1"/>
            <p:nvPr/>
          </p:nvSpPr>
          <p:spPr>
            <a:xfrm>
              <a:off x="6433756" y="2233851"/>
              <a:ext cx="391931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orderings or per-policy parameters, so adding or removing</a:t>
              </a:r>
            </a:p>
          </p:txBody>
        </p:sp>
        <p:sp>
          <p:nvSpPr>
            <p:cNvPr id="39" name="TextBox 39"/>
            <p:cNvSpPr txBox="1"/>
            <p:nvPr/>
          </p:nvSpPr>
          <p:spPr>
            <a:xfrm>
              <a:off x="6433756" y="2424351"/>
              <a:ext cx="272961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one policy forces architectural changes.</a:t>
              </a:r>
            </a:p>
          </p:txBody>
        </p:sp>
        <p:sp>
          <p:nvSpPr>
            <p:cNvPr id="40" name="Rectangle 40"/>
            <p:cNvSpPr/>
            <p:nvPr/>
          </p:nvSpPr>
          <p:spPr>
            <a:xfrm>
              <a:off x="6438900" y="2971800"/>
              <a:ext cx="4876800" cy="381000"/>
            </a:xfrm>
            <a:prstGeom prst="roundRect">
              <a:avLst>
                <a:gd name="adj" fmla="val 20000"/>
              </a:avLst>
            </a:prstGeom>
            <a:solidFill>
              <a:schemeClr val="accent6"/>
            </a:solidFill>
            <a:ln w="14288">
              <a:solidFill>
                <a:schemeClr val="accent4"/>
              </a:solidFill>
            </a:ln>
          </p:spPr>
        </p:sp>
        <p:sp>
          <p:nvSpPr>
            <p:cNvPr id="41" name="TextBox 41"/>
            <p:cNvSpPr txBox="1"/>
            <p:nvPr/>
          </p:nvSpPr>
          <p:spPr>
            <a:xfrm>
              <a:off x="7822837" y="3110151"/>
              <a:ext cx="2108925" cy="198025"/>
            </a:xfrm>
            <a:prstGeom prst="rect">
              <a:avLst/>
            </a:prstGeom>
            <a:noFill/>
            <a:ln>
              <a:noFill/>
            </a:ln>
          </p:spPr>
          <p:txBody>
            <a:bodyPr wrap="none" lIns="0" tIns="0" rIns="0" bIns="0" anchor="t" anchorCtr="0">
              <a:spAutoFit/>
            </a:bodyPr>
            <a:lstStyle/>
            <a:p>
              <a:pPr algn="ctr"/>
              <a:r>
                <a:rPr lang="en-US" sz="1010" b="1" dirty="0">
                  <a:solidFill>
                    <a:srgbClr val="F2685C"/>
                  </a:solidFill>
                  <a:latin typeface="Consolas"/>
                  <a:ea typeface="Consolas"/>
                  <a:cs typeface="Consolas"/>
                </a:rPr>
                <a:t>add / remove policy =&gt; retrain</a:t>
              </a:r>
            </a:p>
          </p:txBody>
        </p:sp>
      </p:grpSp>
      <p:grpSp>
        <p:nvGrpSpPr>
          <p:cNvPr id="50" name="Group 50"/>
          <p:cNvGrpSpPr/>
          <p:nvPr/>
        </p:nvGrpSpPr>
        <p:grpSpPr>
          <a:xfrm>
            <a:off x="6172200" y="3600450"/>
            <a:ext cx="5410200" cy="1638300"/>
            <a:chOff x="6172200" y="3600450"/>
            <a:chExt cx="5410200" cy="1638300"/>
          </a:xfrm>
        </p:grpSpPr>
        <p:sp>
          <p:nvSpPr>
            <p:cNvPr id="43" name="Rectangle 43"/>
            <p:cNvSpPr/>
            <p:nvPr/>
          </p:nvSpPr>
          <p:spPr>
            <a:xfrm>
              <a:off x="6172200" y="3600450"/>
              <a:ext cx="5410200" cy="1638300"/>
            </a:xfrm>
            <a:prstGeom prst="roundRect">
              <a:avLst>
                <a:gd name="adj" fmla="val 8140"/>
              </a:avLst>
            </a:prstGeom>
            <a:solidFill>
              <a:srgbClr val="0F2E2B"/>
            </a:solidFill>
            <a:ln w="14288">
              <a:solidFill>
                <a:srgbClr val="46C98B"/>
              </a:solidFill>
            </a:ln>
          </p:spPr>
        </p:sp>
        <p:sp>
          <p:nvSpPr>
            <p:cNvPr id="44" name="Rectangle 44"/>
            <p:cNvSpPr/>
            <p:nvPr/>
          </p:nvSpPr>
          <p:spPr>
            <a:xfrm>
              <a:off x="6172200" y="3600450"/>
              <a:ext cx="57150" cy="1638300"/>
            </a:xfrm>
            <a:prstGeom prst="roundRect">
              <a:avLst>
                <a:gd name="adj" fmla="val 50000"/>
              </a:avLst>
            </a:prstGeom>
            <a:solidFill>
              <a:srgbClr val="46C98B"/>
            </a:solidFill>
            <a:ln>
              <a:noFill/>
            </a:ln>
          </p:spPr>
        </p:sp>
        <p:sp>
          <p:nvSpPr>
            <p:cNvPr id="45" name="TextBox 45"/>
            <p:cNvSpPr txBox="1"/>
            <p:nvPr/>
          </p:nvSpPr>
          <p:spPr>
            <a:xfrm>
              <a:off x="6432994" y="3817858"/>
              <a:ext cx="2616139"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Design goal: a reorderable actor</a:t>
              </a:r>
            </a:p>
          </p:txBody>
        </p:sp>
        <p:sp>
          <p:nvSpPr>
            <p:cNvPr id="46" name="TextBox 46"/>
            <p:cNvSpPr txBox="1"/>
            <p:nvPr/>
          </p:nvSpPr>
          <p:spPr>
            <a:xfrm>
              <a:off x="6433756" y="4100751"/>
              <a:ext cx="393054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Design an actor whose structure lets knowledge policies be</a:t>
              </a:r>
            </a:p>
          </p:txBody>
        </p:sp>
        <p:sp>
          <p:nvSpPr>
            <p:cNvPr id="47" name="TextBox 47"/>
            <p:cNvSpPr txBox="1"/>
            <p:nvPr/>
          </p:nvSpPr>
          <p:spPr>
            <a:xfrm>
              <a:off x="6433756" y="4291251"/>
              <a:ext cx="404848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freely rearranged, added, or replaced, so one trained agent</a:t>
              </a:r>
            </a:p>
          </p:txBody>
        </p:sp>
        <p:sp>
          <p:nvSpPr>
            <p:cNvPr id="48" name="TextBox 48"/>
            <p:cNvSpPr txBox="1"/>
            <p:nvPr/>
          </p:nvSpPr>
          <p:spPr>
            <a:xfrm>
              <a:off x="6433756" y="4481751"/>
              <a:ext cx="235570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can carry its skills into new tasks.</a:t>
              </a:r>
            </a:p>
          </p:txBody>
        </p:sp>
        <p:sp>
          <p:nvSpPr>
            <p:cNvPr id="49" name="TextBox 49"/>
            <p:cNvSpPr txBox="1"/>
            <p:nvPr/>
          </p:nvSpPr>
          <p:spPr>
            <a:xfrm>
              <a:off x="6433947" y="4885849"/>
              <a:ext cx="2489485" cy="190690"/>
            </a:xfrm>
            <a:prstGeom prst="rect">
              <a:avLst/>
            </a:prstGeom>
            <a:noFill/>
            <a:ln>
              <a:noFill/>
            </a:ln>
          </p:spPr>
          <p:txBody>
            <a:bodyPr wrap="none" lIns="0" tIns="0" rIns="0" bIns="0" anchor="t" anchorCtr="0">
              <a:spAutoFit/>
            </a:bodyPr>
            <a:lstStyle/>
            <a:p>
              <a:pPr algn="l"/>
              <a:r>
                <a:rPr lang="en-US" sz="980" b="1" dirty="0">
                  <a:solidFill>
                    <a:srgbClr val="46C98B"/>
                  </a:solidFill>
                  <a:latin typeface="Consolas"/>
                  <a:ea typeface="Consolas"/>
                  <a:cs typeface="Consolas"/>
                </a:rPr>
                <a:t>one trained agent -&gt; many new tasks</a:t>
              </a:r>
            </a:p>
          </p:txBody>
        </p:sp>
      </p:grpSp>
      <p:sp>
        <p:nvSpPr>
          <p:cNvPr id="51" name="cue_s03_c1_authors_summarize_five_properties_ef" title="cue_s03_c1_authors_summarize_five_properties_ef" descr="cue_s03_c1_authors_summarize_five_properties_ef The authors summarize five properties of efficient, flexible human learning: being knowledge-acquirable, sample-efficient, generalizable, compositional, and incremental."/>
          <p:cNvSpPr/>
          <p:nvPr/>
        </p:nvSpPr>
        <p:spPr>
          <a:xfrm>
            <a:off x="609600"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2_existing_knowledge_guided_reinforcem" title="cue_s03_c2_existing_knowledge_guided_reinforcem" descr="cue_s03_c2_existing_knowledge_guided_reinforcem Existing knowledge-guided reinforcement learning methods satisfy some of these but stumble on flexibility."/>
          <p:cNvSpPr/>
          <p:nvPr/>
        </p:nvSpPr>
        <p:spPr>
          <a:xfrm>
            <a:off x="609600"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3_c3_when_their_fusion_mechanism_depends" title="cue_s03_c3_when_their_fusion_mechanism_depends" descr="cue_s03_c3_when_their_fusion_mechanism_depends When their fusion mechanism depends on the number or ordering of external policies, rearranging the knowledge set or swapping one policy for another means rebuilding or retraining large parts of the model."/>
          <p:cNvSpPr/>
          <p:nvPr/>
        </p:nvSpPr>
        <p:spPr>
          <a:xfrm>
            <a:off x="6171590" y="1504645"/>
            <a:ext cx="540959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3_c4_motivation_design_actor_whose_struct" title="cue_s03_c4_motivation_design_actor_whose_struct" descr="cue_s03_c4_motivation_design_actor_whose_struct The motivation here is to design an actor whose structure lets knowledge policies be freely rearranged, added, or replaced, so a single trained agent can carry its skills into new tasks."/>
          <p:cNvSpPr/>
          <p:nvPr/>
        </p:nvSpPr>
        <p:spPr>
          <a:xfrm>
            <a:off x="6171590" y="3600450"/>
            <a:ext cx="540959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20270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paradigm, one actor, one fix</a:t>
            </a:r>
          </a:p>
        </p:txBody>
      </p:sp>
      <p:grpSp>
        <p:nvGrpSpPr>
          <p:cNvPr id="15" name="Group 15"/>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chemeClr val="accent4"/>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1000145" y="2218372"/>
              <a:ext cx="171411"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1</a:t>
              </a:r>
            </a:p>
          </p:txBody>
        </p:sp>
        <p:sp>
          <p:nvSpPr>
            <p:cNvPr id="9" name="TextBox 9"/>
            <p:cNvSpPr txBox="1"/>
            <p:nvPr/>
          </p:nvSpPr>
          <p:spPr>
            <a:xfrm>
              <a:off x="831532" y="2849166"/>
              <a:ext cx="44376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KGRL</a:t>
              </a:r>
            </a:p>
          </p:txBody>
        </p:sp>
        <p:sp>
          <p:nvSpPr>
            <p:cNvPr id="10" name="TextBox 10"/>
            <p:cNvSpPr txBox="1"/>
            <p:nvPr/>
          </p:nvSpPr>
          <p:spPr>
            <a:xfrm>
              <a:off x="833056" y="3243501"/>
              <a:ext cx="17497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Knowledge-Grounded RL: a</a:t>
              </a:r>
            </a:p>
          </p:txBody>
        </p:sp>
        <p:sp>
          <p:nvSpPr>
            <p:cNvPr id="11" name="TextBox 11"/>
            <p:cNvSpPr txBox="1"/>
            <p:nvPr/>
          </p:nvSpPr>
          <p:spPr>
            <a:xfrm>
              <a:off x="833056" y="3443526"/>
              <a:ext cx="200219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paradigm that fuses an inner,</a:t>
              </a:r>
            </a:p>
          </p:txBody>
        </p:sp>
        <p:sp>
          <p:nvSpPr>
            <p:cNvPr id="12" name="TextBox 12"/>
            <p:cNvSpPr txBox="1"/>
            <p:nvPr/>
          </p:nvSpPr>
          <p:spPr>
            <a:xfrm>
              <a:off x="833056" y="3643551"/>
              <a:ext cx="159429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self-learned policy with</a:t>
              </a:r>
            </a:p>
          </p:txBody>
        </p:sp>
        <p:sp>
          <p:nvSpPr>
            <p:cNvPr id="13" name="TextBox 13"/>
            <p:cNvSpPr txBox="1"/>
            <p:nvPr/>
          </p:nvSpPr>
          <p:spPr>
            <a:xfrm>
              <a:off x="833056" y="3843576"/>
              <a:ext cx="18458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multiple external knowledge</a:t>
              </a:r>
            </a:p>
          </p:txBody>
        </p:sp>
        <p:sp>
          <p:nvSpPr>
            <p:cNvPr id="14" name="TextBox 14"/>
            <p:cNvSpPr txBox="1"/>
            <p:nvPr/>
          </p:nvSpPr>
          <p:spPr>
            <a:xfrm>
              <a:off x="833056" y="4043601"/>
              <a:ext cx="58134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policies.</a:t>
              </a:r>
            </a:p>
          </p:txBody>
        </p:sp>
      </p:grpSp>
      <p:grpSp>
        <p:nvGrpSpPr>
          <p:cNvPr id="28" name="Group 28"/>
          <p:cNvGrpSpPr/>
          <p:nvPr/>
        </p:nvGrpSpPr>
        <p:grpSpPr>
          <a:xfrm>
            <a:off x="3429000" y="1714500"/>
            <a:ext cx="2590800" cy="3543300"/>
            <a:chOff x="3429000" y="1714500"/>
            <a:chExt cx="2590800" cy="3543300"/>
          </a:xfrm>
        </p:grpSpPr>
        <p:sp>
          <p:nvSpPr>
            <p:cNvPr id="16" name="Rectangle 16"/>
            <p:cNvSpPr/>
            <p:nvPr/>
          </p:nvSpPr>
          <p:spPr>
            <a:xfrm>
              <a:off x="3429000" y="1714500"/>
              <a:ext cx="2590800" cy="3543300"/>
            </a:xfrm>
            <a:prstGeom prst="roundRect">
              <a:avLst>
                <a:gd name="adj" fmla="val 5147"/>
              </a:avLst>
            </a:prstGeom>
            <a:solidFill>
              <a:schemeClr val="accent5"/>
            </a:solidFill>
            <a:ln w="14288">
              <a:solidFill>
                <a:schemeClr val="accent4"/>
              </a:solidFill>
            </a:ln>
          </p:spPr>
        </p:sp>
        <p:sp>
          <p:nvSpPr>
            <p:cNvPr id="17" name="Rectangle 17"/>
            <p:cNvSpPr/>
            <p:nvPr/>
          </p:nvSpPr>
          <p:spPr>
            <a:xfrm>
              <a:off x="3429000" y="1714500"/>
              <a:ext cx="2590800" cy="57150"/>
            </a:xfrm>
            <a:prstGeom prst="roundRect">
              <a:avLst>
                <a:gd name="adj" fmla="val 50000"/>
              </a:avLst>
            </a:prstGeom>
            <a:solidFill>
              <a:srgbClr val="33D6C0"/>
            </a:solidFill>
            <a:ln>
              <a:noFill/>
            </a:ln>
          </p:spPr>
        </p:sp>
        <p:sp>
          <p:nvSpPr>
            <p:cNvPr id="18" name="Ellipse 18"/>
            <p:cNvSpPr/>
            <p:nvPr/>
          </p:nvSpPr>
          <p:spPr>
            <a:xfrm>
              <a:off x="3657600" y="2095500"/>
              <a:ext cx="495300" cy="495300"/>
            </a:xfrm>
            <a:prstGeom prst="ellipse">
              <a:avLst/>
            </a:prstGeom>
            <a:noFill/>
            <a:ln w="23812">
              <a:solidFill>
                <a:srgbClr val="33D6C0"/>
              </a:solidFill>
            </a:ln>
          </p:spPr>
        </p:sp>
        <p:sp>
          <p:nvSpPr>
            <p:cNvPr id="19" name="TextBox 19"/>
            <p:cNvSpPr txBox="1"/>
            <p:nvPr/>
          </p:nvSpPr>
          <p:spPr>
            <a:xfrm>
              <a:off x="3819545" y="2218372"/>
              <a:ext cx="171411" cy="381381"/>
            </a:xfrm>
            <a:prstGeom prst="rect">
              <a:avLst/>
            </a:prstGeom>
            <a:noFill/>
            <a:ln>
              <a:noFill/>
            </a:ln>
          </p:spPr>
          <p:txBody>
            <a:bodyPr wrap="none" lIns="0" tIns="0" rIns="0" bIns="0" anchor="t" anchorCtr="0">
              <a:spAutoFit/>
            </a:bodyPr>
            <a:lstStyle/>
            <a:p>
              <a:pPr algn="ctr"/>
              <a:r>
                <a:rPr lang="en-US" sz="1950" b="1" dirty="0">
                  <a:solidFill>
                    <a:srgbClr val="33D6C0"/>
                  </a:solidFill>
                  <a:latin typeface="+mn-lt"/>
                  <a:ea typeface="+mn-ea"/>
                  <a:cs typeface="+mn-cs"/>
                </a:rPr>
                <a:t>2</a:t>
              </a:r>
            </a:p>
          </p:txBody>
        </p:sp>
        <p:sp>
          <p:nvSpPr>
            <p:cNvPr id="20" name="TextBox 20"/>
            <p:cNvSpPr txBox="1"/>
            <p:nvPr/>
          </p:nvSpPr>
          <p:spPr>
            <a:xfrm>
              <a:off x="3650932" y="2849166"/>
              <a:ext cx="394855"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KIAN</a:t>
              </a:r>
            </a:p>
          </p:txBody>
        </p:sp>
        <p:sp>
          <p:nvSpPr>
            <p:cNvPr id="21" name="TextBox 21"/>
            <p:cNvSpPr txBox="1"/>
            <p:nvPr/>
          </p:nvSpPr>
          <p:spPr>
            <a:xfrm>
              <a:off x="3652456" y="3243501"/>
              <a:ext cx="160024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Knowledge-Inclusive</a:t>
              </a:r>
            </a:p>
          </p:txBody>
        </p:sp>
        <p:sp>
          <p:nvSpPr>
            <p:cNvPr id="22" name="TextBox 22"/>
            <p:cNvSpPr txBox="1"/>
            <p:nvPr/>
          </p:nvSpPr>
          <p:spPr>
            <a:xfrm>
              <a:off x="3652456" y="3443526"/>
              <a:ext cx="176687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Attention Network, whose</a:t>
              </a:r>
            </a:p>
          </p:txBody>
        </p:sp>
        <p:sp>
          <p:nvSpPr>
            <p:cNvPr id="23" name="TextBox 23"/>
            <p:cNvSpPr txBox="1"/>
            <p:nvPr/>
          </p:nvSpPr>
          <p:spPr>
            <a:xfrm>
              <a:off x="3652456" y="3643551"/>
              <a:ext cx="180504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embedding-based attention</a:t>
              </a:r>
            </a:p>
          </p:txBody>
        </p:sp>
        <p:sp>
          <p:nvSpPr>
            <p:cNvPr id="24" name="TextBox 24"/>
            <p:cNvSpPr txBox="1"/>
            <p:nvPr/>
          </p:nvSpPr>
          <p:spPr>
            <a:xfrm>
              <a:off x="3652456" y="3843576"/>
              <a:ext cx="14583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lets policies be freely</a:t>
              </a:r>
            </a:p>
          </p:txBody>
        </p:sp>
        <p:sp>
          <p:nvSpPr>
            <p:cNvPr id="25" name="TextBox 25"/>
            <p:cNvSpPr txBox="1"/>
            <p:nvPr/>
          </p:nvSpPr>
          <p:spPr>
            <a:xfrm>
              <a:off x="3652456" y="4043601"/>
              <a:ext cx="151271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rearranged, added, or</a:t>
              </a:r>
            </a:p>
          </p:txBody>
        </p:sp>
        <p:sp>
          <p:nvSpPr>
            <p:cNvPr id="26" name="TextBox 26"/>
            <p:cNvSpPr txBox="1"/>
            <p:nvPr/>
          </p:nvSpPr>
          <p:spPr>
            <a:xfrm>
              <a:off x="3652456" y="4243626"/>
              <a:ext cx="200219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replaced without touching the</a:t>
              </a:r>
            </a:p>
          </p:txBody>
        </p:sp>
        <p:sp>
          <p:nvSpPr>
            <p:cNvPr id="27" name="TextBox 27"/>
            <p:cNvSpPr txBox="1"/>
            <p:nvPr/>
          </p:nvSpPr>
          <p:spPr>
            <a:xfrm>
              <a:off x="3652456" y="4443651"/>
              <a:ext cx="143113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rest of the network.</a:t>
              </a:r>
            </a:p>
          </p:txBody>
        </p:sp>
      </p:grpSp>
      <p:grpSp>
        <p:nvGrpSpPr>
          <p:cNvPr id="40" name="Group 40"/>
          <p:cNvGrpSpPr/>
          <p:nvPr/>
        </p:nvGrpSpPr>
        <p:grpSpPr>
          <a:xfrm>
            <a:off x="6248400" y="1714500"/>
            <a:ext cx="2590800" cy="3543300"/>
            <a:chOff x="6248400" y="1714500"/>
            <a:chExt cx="2590800" cy="3543300"/>
          </a:xfrm>
        </p:grpSpPr>
        <p:sp>
          <p:nvSpPr>
            <p:cNvPr id="29" name="Rectangle 29"/>
            <p:cNvSpPr/>
            <p:nvPr/>
          </p:nvSpPr>
          <p:spPr>
            <a:xfrm>
              <a:off x="6248400" y="1714500"/>
              <a:ext cx="2590800" cy="3543300"/>
            </a:xfrm>
            <a:prstGeom prst="roundRect">
              <a:avLst>
                <a:gd name="adj" fmla="val 5147"/>
              </a:avLst>
            </a:prstGeom>
            <a:solidFill>
              <a:schemeClr val="accent5"/>
            </a:solidFill>
            <a:ln w="14288">
              <a:solidFill>
                <a:schemeClr val="accent4"/>
              </a:solidFill>
            </a:ln>
          </p:spPr>
        </p:sp>
        <p:sp>
          <p:nvSpPr>
            <p:cNvPr id="30" name="Rectangle 30"/>
            <p:cNvSpPr/>
            <p:nvPr/>
          </p:nvSpPr>
          <p:spPr>
            <a:xfrm>
              <a:off x="6248400" y="1714500"/>
              <a:ext cx="2590800" cy="57150"/>
            </a:xfrm>
            <a:prstGeom prst="roundRect">
              <a:avLst>
                <a:gd name="adj" fmla="val 50000"/>
              </a:avLst>
            </a:prstGeom>
            <a:solidFill>
              <a:srgbClr val="F4C24C"/>
            </a:solidFill>
            <a:ln>
              <a:noFill/>
            </a:ln>
          </p:spPr>
        </p:sp>
        <p:sp>
          <p:nvSpPr>
            <p:cNvPr id="31" name="Ellipse 31"/>
            <p:cNvSpPr/>
            <p:nvPr/>
          </p:nvSpPr>
          <p:spPr>
            <a:xfrm>
              <a:off x="6477000" y="2095500"/>
              <a:ext cx="495300" cy="495300"/>
            </a:xfrm>
            <a:prstGeom prst="ellipse">
              <a:avLst/>
            </a:prstGeom>
            <a:noFill/>
            <a:ln w="23812">
              <a:solidFill>
                <a:srgbClr val="F4C24C"/>
              </a:solidFill>
            </a:ln>
          </p:spPr>
        </p:sp>
        <p:sp>
          <p:nvSpPr>
            <p:cNvPr id="32" name="TextBox 32"/>
            <p:cNvSpPr txBox="1"/>
            <p:nvPr/>
          </p:nvSpPr>
          <p:spPr>
            <a:xfrm>
              <a:off x="6638945" y="2218372"/>
              <a:ext cx="171411" cy="381381"/>
            </a:xfrm>
            <a:prstGeom prst="rect">
              <a:avLst/>
            </a:prstGeom>
            <a:noFill/>
            <a:ln>
              <a:noFill/>
            </a:ln>
          </p:spPr>
          <p:txBody>
            <a:bodyPr wrap="none" lIns="0" tIns="0" rIns="0" bIns="0" anchor="t" anchorCtr="0">
              <a:spAutoFit/>
            </a:bodyPr>
            <a:lstStyle/>
            <a:p>
              <a:pPr algn="ctr"/>
              <a:r>
                <a:rPr lang="en-US" sz="1950" b="1" dirty="0">
                  <a:solidFill>
                    <a:srgbClr val="F4C24C"/>
                  </a:solidFill>
                  <a:latin typeface="+mn-lt"/>
                  <a:ea typeface="+mn-ea"/>
                  <a:cs typeface="+mn-cs"/>
                </a:rPr>
                <a:t>3</a:t>
              </a:r>
            </a:p>
          </p:txBody>
        </p:sp>
        <p:sp>
          <p:nvSpPr>
            <p:cNvPr id="33" name="TextBox 33"/>
            <p:cNvSpPr txBox="1"/>
            <p:nvPr/>
          </p:nvSpPr>
          <p:spPr>
            <a:xfrm>
              <a:off x="6470332" y="2849166"/>
              <a:ext cx="164859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Entropy imbalance</a:t>
              </a:r>
            </a:p>
          </p:txBody>
        </p:sp>
        <p:sp>
          <p:nvSpPr>
            <p:cNvPr id="34" name="TextBox 34"/>
            <p:cNvSpPr txBox="1"/>
            <p:nvPr/>
          </p:nvSpPr>
          <p:spPr>
            <a:xfrm>
              <a:off x="6471856" y="3243501"/>
              <a:ext cx="176876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newly uncovered problem</a:t>
              </a:r>
            </a:p>
          </p:txBody>
        </p:sp>
        <p:sp>
          <p:nvSpPr>
            <p:cNvPr id="35" name="TextBox 35"/>
            <p:cNvSpPr txBox="1"/>
            <p:nvPr/>
          </p:nvSpPr>
          <p:spPr>
            <a:xfrm>
              <a:off x="6471856" y="3443526"/>
              <a:ext cx="190701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when maximizing entropy for</a:t>
              </a:r>
            </a:p>
          </p:txBody>
        </p:sp>
        <p:sp>
          <p:nvSpPr>
            <p:cNvPr id="36" name="TextBox 36"/>
            <p:cNvSpPr txBox="1"/>
            <p:nvPr/>
          </p:nvSpPr>
          <p:spPr>
            <a:xfrm>
              <a:off x="6471856" y="3643551"/>
              <a:ext cx="200899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exploration; the paper proves</a:t>
              </a:r>
            </a:p>
          </p:txBody>
        </p:sp>
        <p:sp>
          <p:nvSpPr>
            <p:cNvPr id="37" name="TextBox 37"/>
            <p:cNvSpPr txBox="1"/>
            <p:nvPr/>
          </p:nvSpPr>
          <p:spPr>
            <a:xfrm>
              <a:off x="6471856" y="3843576"/>
              <a:ext cx="196140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when it happens and proposes</a:t>
              </a:r>
            </a:p>
          </p:txBody>
        </p:sp>
        <p:sp>
          <p:nvSpPr>
            <p:cNvPr id="38" name="TextBox 38"/>
            <p:cNvSpPr txBox="1"/>
            <p:nvPr/>
          </p:nvSpPr>
          <p:spPr>
            <a:xfrm>
              <a:off x="6471856" y="4043601"/>
              <a:ext cx="190021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modified policy distributions</a:t>
              </a:r>
            </a:p>
          </p:txBody>
        </p:sp>
        <p:sp>
          <p:nvSpPr>
            <p:cNvPr id="39" name="TextBox 39"/>
            <p:cNvSpPr txBox="1"/>
            <p:nvPr/>
          </p:nvSpPr>
          <p:spPr>
            <a:xfrm>
              <a:off x="6471856" y="4243626"/>
              <a:ext cx="77169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that fix it.</a:t>
              </a:r>
            </a:p>
          </p:txBody>
        </p:sp>
      </p:grpSp>
      <p:grpSp>
        <p:nvGrpSpPr>
          <p:cNvPr id="52" name="Group 52"/>
          <p:cNvGrpSpPr/>
          <p:nvPr/>
        </p:nvGrpSpPr>
        <p:grpSpPr>
          <a:xfrm>
            <a:off x="9067800" y="1714500"/>
            <a:ext cx="2590800" cy="3543300"/>
            <a:chOff x="9067800" y="1714500"/>
            <a:chExt cx="2590800" cy="3543300"/>
          </a:xfrm>
        </p:grpSpPr>
        <p:sp>
          <p:nvSpPr>
            <p:cNvPr id="41" name="Rectangle 41"/>
            <p:cNvSpPr/>
            <p:nvPr/>
          </p:nvSpPr>
          <p:spPr>
            <a:xfrm>
              <a:off x="9067800" y="1714500"/>
              <a:ext cx="2590800" cy="3543300"/>
            </a:xfrm>
            <a:prstGeom prst="roundRect">
              <a:avLst>
                <a:gd name="adj" fmla="val 5147"/>
              </a:avLst>
            </a:prstGeom>
            <a:solidFill>
              <a:schemeClr val="accent5"/>
            </a:solidFill>
            <a:ln w="14288">
              <a:solidFill>
                <a:schemeClr val="accent4"/>
              </a:solidFill>
            </a:ln>
          </p:spPr>
        </p:sp>
        <p:sp>
          <p:nvSpPr>
            <p:cNvPr id="42" name="Rectangle 42"/>
            <p:cNvSpPr/>
            <p:nvPr/>
          </p:nvSpPr>
          <p:spPr>
            <a:xfrm>
              <a:off x="9067800" y="1714500"/>
              <a:ext cx="2590800" cy="57150"/>
            </a:xfrm>
            <a:prstGeom prst="roundRect">
              <a:avLst>
                <a:gd name="adj" fmla="val 50000"/>
              </a:avLst>
            </a:prstGeom>
            <a:solidFill>
              <a:srgbClr val="46C98B"/>
            </a:solidFill>
            <a:ln>
              <a:noFill/>
            </a:ln>
          </p:spPr>
        </p:sp>
        <p:sp>
          <p:nvSpPr>
            <p:cNvPr id="43" name="Ellipse 43"/>
            <p:cNvSpPr/>
            <p:nvPr/>
          </p:nvSpPr>
          <p:spPr>
            <a:xfrm>
              <a:off x="9296400" y="2095500"/>
              <a:ext cx="495300" cy="495300"/>
            </a:xfrm>
            <a:prstGeom prst="ellipse">
              <a:avLst/>
            </a:prstGeom>
            <a:noFill/>
            <a:ln w="23812">
              <a:solidFill>
                <a:srgbClr val="46C98B"/>
              </a:solidFill>
            </a:ln>
          </p:spPr>
        </p:sp>
        <p:sp>
          <p:nvSpPr>
            <p:cNvPr id="44" name="TextBox 44"/>
            <p:cNvSpPr txBox="1"/>
            <p:nvPr/>
          </p:nvSpPr>
          <p:spPr>
            <a:xfrm>
              <a:off x="9458345" y="2218372"/>
              <a:ext cx="171411" cy="381381"/>
            </a:xfrm>
            <a:prstGeom prst="rect">
              <a:avLst/>
            </a:prstGeom>
            <a:noFill/>
            <a:ln>
              <a:noFill/>
            </a:ln>
          </p:spPr>
          <p:txBody>
            <a:bodyPr wrap="none" lIns="0" tIns="0" rIns="0" bIns="0" anchor="t" anchorCtr="0">
              <a:spAutoFit/>
            </a:bodyPr>
            <a:lstStyle/>
            <a:p>
              <a:pPr algn="ctr"/>
              <a:r>
                <a:rPr lang="en-US" sz="1950" b="1" dirty="0">
                  <a:solidFill>
                    <a:srgbClr val="46C98B"/>
                  </a:solidFill>
                  <a:latin typeface="+mn-lt"/>
                  <a:ea typeface="+mn-ea"/>
                  <a:cs typeface="+mn-cs"/>
                </a:rPr>
                <a:t>+</a:t>
              </a:r>
            </a:p>
          </p:txBody>
        </p:sp>
        <p:sp>
          <p:nvSpPr>
            <p:cNvPr id="45" name="TextBox 45"/>
            <p:cNvSpPr txBox="1"/>
            <p:nvPr/>
          </p:nvSpPr>
          <p:spPr>
            <a:xfrm>
              <a:off x="9289732" y="2849166"/>
              <a:ext cx="100090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Efficient &amp;</a:t>
              </a:r>
            </a:p>
          </p:txBody>
        </p:sp>
        <p:sp>
          <p:nvSpPr>
            <p:cNvPr id="46" name="TextBox 46"/>
            <p:cNvSpPr txBox="1"/>
            <p:nvPr/>
          </p:nvSpPr>
          <p:spPr>
            <a:xfrm>
              <a:off x="9289732" y="3096816"/>
              <a:ext cx="71698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modular</a:t>
              </a:r>
            </a:p>
          </p:txBody>
        </p:sp>
        <p:sp>
          <p:nvSpPr>
            <p:cNvPr id="47" name="TextBox 47"/>
            <p:cNvSpPr txBox="1"/>
            <p:nvPr/>
          </p:nvSpPr>
          <p:spPr>
            <a:xfrm>
              <a:off x="9291256" y="3491151"/>
              <a:ext cx="19387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Together these give an agent</a:t>
              </a:r>
            </a:p>
          </p:txBody>
        </p:sp>
        <p:sp>
          <p:nvSpPr>
            <p:cNvPr id="48" name="TextBox 48"/>
            <p:cNvSpPr txBox="1"/>
            <p:nvPr/>
          </p:nvSpPr>
          <p:spPr>
            <a:xfrm>
              <a:off x="9291256" y="3691176"/>
              <a:ext cx="118639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that is efficient,</a:t>
              </a:r>
            </a:p>
          </p:txBody>
        </p:sp>
        <p:sp>
          <p:nvSpPr>
            <p:cNvPr id="49" name="TextBox 49"/>
            <p:cNvSpPr txBox="1"/>
            <p:nvPr/>
          </p:nvSpPr>
          <p:spPr>
            <a:xfrm>
              <a:off x="9291256" y="3891201"/>
              <a:ext cx="160109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generalizable, and truly</a:t>
              </a:r>
            </a:p>
          </p:txBody>
        </p:sp>
        <p:sp>
          <p:nvSpPr>
            <p:cNvPr id="50" name="TextBox 50"/>
            <p:cNvSpPr txBox="1"/>
            <p:nvPr/>
          </p:nvSpPr>
          <p:spPr>
            <a:xfrm>
              <a:off x="9291256" y="4091226"/>
              <a:ext cx="136994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modular in its use of</a:t>
              </a:r>
            </a:p>
          </p:txBody>
        </p:sp>
        <p:sp>
          <p:nvSpPr>
            <p:cNvPr id="51" name="TextBox 51"/>
            <p:cNvSpPr txBox="1"/>
            <p:nvPr/>
          </p:nvSpPr>
          <p:spPr>
            <a:xfrm>
              <a:off x="9291256" y="4291251"/>
              <a:ext cx="135635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external knowledge.</a:t>
              </a:r>
            </a:p>
          </p:txBody>
        </p:sp>
      </p:grpSp>
      <p:sp>
        <p:nvSpPr>
          <p:cNvPr id="53" name="TextBox 53"/>
          <p:cNvSpPr txBox="1"/>
          <p:nvPr/>
        </p:nvSpPr>
        <p:spPr>
          <a:xfrm>
            <a:off x="603694" y="5456158"/>
            <a:ext cx="6608860" cy="227362"/>
          </a:xfrm>
          <a:prstGeom prst="rect">
            <a:avLst/>
          </a:prstGeom>
          <a:noFill/>
          <a:ln>
            <a:noFill/>
          </a:ln>
        </p:spPr>
        <p:txBody>
          <a:bodyPr wrap="none" lIns="0" tIns="0" rIns="0" bIns="0" anchor="t" anchorCtr="0">
            <a:spAutoFit/>
          </a:bodyPr>
          <a:lstStyle/>
          <a:p>
            <a:pPr algn="l"/>
            <a:r>
              <a:rPr lang="en-US" sz="1160" b="1" dirty="0">
                <a:solidFill>
                  <a:srgbClr val="33D6C0"/>
                </a:solidFill>
                <a:latin typeface="+mn-lt"/>
                <a:ea typeface="+mn-ea"/>
                <a:cs typeface="+mn-cs"/>
              </a:rPr>
              <a:t>An agent that is efficient, generalizable, and modular in how it reuses knowledge.</a:t>
            </a:r>
          </a:p>
        </p:txBody>
      </p:sp>
      <p:sp>
        <p:nvSpPr>
          <p:cNvPr id="54" name="cue_s04_c1_makes_three_main_contributions_first" title="cue_s04_c1_makes_three_main_contributions_first" descr="cue_s04_c1_makes_three_main_contributions_first The paper makes three main contributions. First, it defines Knowledge-Grounded Reinforcement Learning, a paradigm that fuses an inner, self-learned policy with multiple external knowledge policie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4_c2_second_introduces_knowledge_inclusiv" title="cue_s04_c2_second_introduces_knowledge_inclusiv" descr="cue_s04_c2_second_introduces_knowledge_inclusiv Second, it introduces the Knowledge-Inclusive Attention Network, KIAN, whose embedding-based attention lets knowledge policies be freely rearranged, added, or replaced without touching the rest of the network."/>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4_c3_third_uncovers_problem_called_entrop" title="cue_s04_c3_third_uncovers_problem_called_entrop" descr="cue_s04_c3_third_uncovers_problem_called_entrop Third, it uncovers a problem called entropy imbalance that arises when maximizing entropy for exploration, proves when it happens, and proposes modified policy distributions that fix it."/>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4_c4_together_these_give_agent_efficient" title="cue_s04_c4_together_these_give_agent_efficient" descr="cue_s04_c4_together_these_give_agent_efficient Together these give an agent that is efficient, generalizable, and truly modular in its use of knowledge."/>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531262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Query-key attention over policies</a:t>
            </a:r>
          </a:p>
        </p:txBody>
      </p:sp>
      <p:grpSp>
        <p:nvGrpSpPr>
          <p:cNvPr id="43" name="Group 43"/>
          <p:cNvGrpSpPr/>
          <p:nvPr/>
        </p:nvGrpSpPr>
        <p:grpSpPr>
          <a:xfrm>
            <a:off x="609600" y="1504950"/>
            <a:ext cx="10972800" cy="1733550"/>
            <a:chOff x="609600" y="1504950"/>
            <a:chExt cx="10972800" cy="1733550"/>
          </a:xfrm>
        </p:grpSpPr>
        <p:sp>
          <p:nvSpPr>
            <p:cNvPr id="5" name="Rectangle 5"/>
            <p:cNvSpPr/>
            <p:nvPr/>
          </p:nvSpPr>
          <p:spPr>
            <a:xfrm>
              <a:off x="609600" y="1504950"/>
              <a:ext cx="10972800" cy="1733550"/>
            </a:xfrm>
            <a:prstGeom prst="roundRect">
              <a:avLst>
                <a:gd name="adj" fmla="val 7692"/>
              </a:avLst>
            </a:prstGeom>
            <a:solidFill>
              <a:schemeClr val="accent5"/>
            </a:solidFill>
            <a:ln w="14288">
              <a:solidFill>
                <a:schemeClr val="accent4"/>
              </a:solidFill>
            </a:ln>
          </p:spPr>
        </p:sp>
        <p:sp>
          <p:nvSpPr>
            <p:cNvPr id="6" name="Rectangle 6"/>
            <p:cNvSpPr/>
            <p:nvPr/>
          </p:nvSpPr>
          <p:spPr>
            <a:xfrm>
              <a:off x="609600" y="1504950"/>
              <a:ext cx="57150" cy="1733550"/>
            </a:xfrm>
            <a:prstGeom prst="roundRect">
              <a:avLst>
                <a:gd name="adj" fmla="val 50000"/>
              </a:avLst>
            </a:prstGeom>
            <a:solidFill>
              <a:schemeClr val="accent2"/>
            </a:solidFill>
            <a:ln>
              <a:noFill/>
            </a:ln>
          </p:spPr>
        </p:sp>
        <p:sp>
          <p:nvSpPr>
            <p:cNvPr id="7" name="TextBox 7"/>
            <p:cNvSpPr txBox="1"/>
            <p:nvPr/>
          </p:nvSpPr>
          <p:spPr>
            <a:xfrm>
              <a:off x="870014" y="1695212"/>
              <a:ext cx="282688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KIAN = inner actor + keys + query</a:t>
              </a:r>
            </a:p>
          </p:txBody>
        </p:sp>
        <p:sp>
          <p:nvSpPr>
            <p:cNvPr id="8" name="TextBox 8"/>
            <p:cNvSpPr txBox="1"/>
            <p:nvPr/>
          </p:nvSpPr>
          <p:spPr>
            <a:xfrm>
              <a:off x="871347" y="1990249"/>
              <a:ext cx="337848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An inner learnable actor lets the agent form its own</a:t>
              </a:r>
            </a:p>
          </p:txBody>
        </p:sp>
        <p:sp>
          <p:nvSpPr>
            <p:cNvPr id="9" name="TextBox 9"/>
            <p:cNvSpPr txBox="1"/>
            <p:nvPr/>
          </p:nvSpPr>
          <p:spPr>
            <a:xfrm>
              <a:off x="871347" y="2171224"/>
              <a:ext cx="354556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strategy, so even if every external policy is useless it</a:t>
              </a:r>
            </a:p>
          </p:txBody>
        </p:sp>
        <p:sp>
          <p:nvSpPr>
            <p:cNvPr id="10" name="TextBox 10"/>
            <p:cNvSpPr txBox="1"/>
            <p:nvPr/>
          </p:nvSpPr>
          <p:spPr>
            <a:xfrm>
              <a:off x="871347" y="2352199"/>
              <a:ext cx="156005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can still solve the task.</a:t>
              </a:r>
            </a:p>
          </p:txBody>
        </p:sp>
        <p:sp>
          <p:nvSpPr>
            <p:cNvPr id="11" name="Rectangle 11"/>
            <p:cNvSpPr/>
            <p:nvPr/>
          </p:nvSpPr>
          <p:spPr>
            <a:xfrm>
              <a:off x="876300" y="2724150"/>
              <a:ext cx="5105400" cy="381000"/>
            </a:xfrm>
            <a:prstGeom prst="roundRect">
              <a:avLst>
                <a:gd name="adj" fmla="val 20000"/>
              </a:avLst>
            </a:prstGeom>
            <a:solidFill>
              <a:schemeClr val="accent6"/>
            </a:solidFill>
            <a:ln w="14288">
              <a:solidFill>
                <a:schemeClr val="accent4"/>
              </a:solidFill>
            </a:ln>
          </p:spPr>
        </p:sp>
        <p:sp>
          <p:nvSpPr>
            <p:cNvPr id="12" name="TextBox 12"/>
            <p:cNvSpPr txBox="1"/>
            <p:nvPr/>
          </p:nvSpPr>
          <p:spPr>
            <a:xfrm>
              <a:off x="1690108" y="2870597"/>
              <a:ext cx="3477784"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Consolas"/>
                  <a:ea typeface="Consolas"/>
                  <a:cs typeface="Consolas"/>
                </a:rPr>
                <a:t>w_i = Phi(s).k_i / c_i ; pi = sum_i softmax(w)_i * pi_i</a:t>
              </a:r>
            </a:p>
          </p:txBody>
        </p:sp>
        <p:sp>
          <p:nvSpPr>
            <p:cNvPr id="13" name="Rectangle 13"/>
            <p:cNvSpPr/>
            <p:nvPr/>
          </p:nvSpPr>
          <p:spPr>
            <a:xfrm>
              <a:off x="6210300" y="1866900"/>
              <a:ext cx="5372100" cy="1219200"/>
            </a:xfrm>
            <a:prstGeom prst="roundRect">
              <a:avLst>
                <a:gd name="adj" fmla="val 6250"/>
              </a:avLst>
            </a:prstGeom>
            <a:solidFill>
              <a:srgbClr val="0E223A"/>
            </a:solidFill>
            <a:ln w="14288">
              <a:solidFill>
                <a:schemeClr val="accent4"/>
              </a:solidFill>
            </a:ln>
          </p:spPr>
        </p:sp>
        <p:sp>
          <p:nvSpPr>
            <p:cNvPr id="14" name="Ellipse 14"/>
            <p:cNvSpPr/>
            <p:nvPr/>
          </p:nvSpPr>
          <p:spPr>
            <a:xfrm>
              <a:off x="6391275" y="2333625"/>
              <a:ext cx="285750" cy="285750"/>
            </a:xfrm>
            <a:prstGeom prst="ellipse">
              <a:avLst/>
            </a:prstGeom>
            <a:solidFill>
              <a:schemeClr val="accent2"/>
            </a:solidFill>
            <a:ln>
              <a:noFill/>
            </a:ln>
          </p:spPr>
        </p:sp>
        <p:sp>
          <p:nvSpPr>
            <p:cNvPr id="15" name="TextBox 15"/>
            <p:cNvSpPr txBox="1"/>
            <p:nvPr/>
          </p:nvSpPr>
          <p:spPr>
            <a:xfrm>
              <a:off x="6491103" y="2418874"/>
              <a:ext cx="86094" cy="190690"/>
            </a:xfrm>
            <a:prstGeom prst="rect">
              <a:avLst/>
            </a:prstGeom>
            <a:noFill/>
            <a:ln>
              <a:noFill/>
            </a:ln>
          </p:spPr>
          <p:txBody>
            <a:bodyPr wrap="none" lIns="0" tIns="0" rIns="0" bIns="0" anchor="t" anchorCtr="0">
              <a:spAutoFit/>
            </a:bodyPr>
            <a:lstStyle/>
            <a:p>
              <a:pPr algn="ctr"/>
              <a:r>
                <a:rPr lang="en-US" sz="980" b="1" dirty="0">
                  <a:solidFill>
                    <a:srgbClr val="0B1A2B"/>
                  </a:solidFill>
                  <a:latin typeface="Consolas"/>
                  <a:ea typeface="Consolas"/>
                  <a:cs typeface="Consolas"/>
                </a:rPr>
                <a:t>q</a:t>
              </a:r>
            </a:p>
          </p:txBody>
        </p:sp>
        <p:sp>
          <p:nvSpPr>
            <p:cNvPr id="16" name="TextBox 16"/>
            <p:cNvSpPr txBox="1"/>
            <p:nvPr/>
          </p:nvSpPr>
          <p:spPr>
            <a:xfrm>
              <a:off x="6391394" y="2170986"/>
              <a:ext cx="285513" cy="140494"/>
            </a:xfrm>
            <a:prstGeom prst="rect">
              <a:avLst/>
            </a:prstGeom>
            <a:noFill/>
            <a:ln>
              <a:noFill/>
            </a:ln>
          </p:spPr>
          <p:txBody>
            <a:bodyPr wrap="none" lIns="0" tIns="0" rIns="0" bIns="0" anchor="t" anchorCtr="0">
              <a:spAutoFit/>
            </a:bodyPr>
            <a:lstStyle/>
            <a:p>
              <a:pPr algn="ctr"/>
              <a:r>
                <a:rPr lang="en-US" sz="710" b="1" dirty="0">
                  <a:solidFill>
                    <a:schemeClr val="dk2"/>
                  </a:solidFill>
                  <a:latin typeface="+mn-lt"/>
                  <a:ea typeface="+mn-ea"/>
                  <a:cs typeface="+mn-cs"/>
                </a:rPr>
                <a:t>query</a:t>
              </a:r>
            </a:p>
          </p:txBody>
        </p:sp>
        <p:sp>
          <p:nvSpPr>
            <p:cNvPr id="17" name="TextBox 17"/>
            <p:cNvSpPr txBox="1"/>
            <p:nvPr/>
          </p:nvSpPr>
          <p:spPr>
            <a:xfrm>
              <a:off x="6374174" y="2685336"/>
              <a:ext cx="319952" cy="140494"/>
            </a:xfrm>
            <a:prstGeom prst="rect">
              <a:avLst/>
            </a:prstGeom>
            <a:noFill/>
            <a:ln>
              <a:noFill/>
            </a:ln>
          </p:spPr>
          <p:txBody>
            <a:bodyPr wrap="none" lIns="0" tIns="0" rIns="0" bIns="0" anchor="t" anchorCtr="0">
              <a:spAutoFit/>
            </a:bodyPr>
            <a:lstStyle/>
            <a:p>
              <a:pPr algn="ctr"/>
              <a:r>
                <a:rPr lang="en-US" sz="710" b="1" dirty="0">
                  <a:solidFill>
                    <a:schemeClr val="dk2"/>
                  </a:solidFill>
                  <a:latin typeface="+mn-lt"/>
                  <a:ea typeface="+mn-ea"/>
                  <a:cs typeface="+mn-cs"/>
                </a:rPr>
                <a:t>Phi(s)</a:t>
              </a:r>
            </a:p>
          </p:txBody>
        </p:sp>
        <p:sp>
          <p:nvSpPr>
            <p:cNvPr id="18" name="Line 18"/>
            <p:cNvSpPr/>
            <p:nvPr/>
          </p:nvSpPr>
          <p:spPr>
            <a:xfrm>
              <a:off x="6686550" y="2171700"/>
              <a:ext cx="1239393" cy="304800"/>
            </a:xfrm>
            <a:custGeom>
              <a:avLst/>
              <a:gdLst/>
              <a:ahLst/>
              <a:cxnLst/>
              <a:rect l="l" t="t" r="r" b="b"/>
              <a:pathLst>
                <a:path w="1239393" h="304800">
                  <a:moveTo>
                    <a:pt x="0" y="304800"/>
                  </a:moveTo>
                  <a:lnTo>
                    <a:pt x="1239393" y="0"/>
                  </a:lnTo>
                </a:path>
              </a:pathLst>
            </a:custGeom>
            <a:noFill/>
            <a:ln w="11430" cap="rnd">
              <a:solidFill>
                <a:schemeClr val="accent4"/>
              </a:solidFill>
            </a:ln>
          </p:spPr>
        </p:sp>
        <p:sp>
          <p:nvSpPr>
            <p:cNvPr id="19" name="TextBox 19"/>
            <p:cNvSpPr txBox="1"/>
            <p:nvPr/>
          </p:nvSpPr>
          <p:spPr>
            <a:xfrm>
              <a:off x="7781442" y="2097881"/>
              <a:ext cx="98502"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a:t>
              </a:r>
            </a:p>
          </p:txBody>
        </p:sp>
        <p:sp>
          <p:nvSpPr>
            <p:cNvPr id="20" name="Rectangle 20"/>
            <p:cNvSpPr/>
            <p:nvPr/>
          </p:nvSpPr>
          <p:spPr>
            <a:xfrm>
              <a:off x="7983093" y="2076450"/>
              <a:ext cx="552450" cy="190500"/>
            </a:xfrm>
            <a:prstGeom prst="roundRect">
              <a:avLst>
                <a:gd name="adj" fmla="val 25000"/>
              </a:avLst>
            </a:prstGeom>
            <a:solidFill>
              <a:schemeClr val="accent6"/>
            </a:solidFill>
            <a:ln w="12382">
              <a:solidFill>
                <a:srgbClr val="33D6C0"/>
              </a:solidFill>
            </a:ln>
          </p:spPr>
        </p:sp>
        <p:sp>
          <p:nvSpPr>
            <p:cNvPr id="21" name="TextBox 21"/>
            <p:cNvSpPr txBox="1"/>
            <p:nvPr/>
          </p:nvSpPr>
          <p:spPr>
            <a:xfrm>
              <a:off x="8145680" y="2124789"/>
              <a:ext cx="227276" cy="154781"/>
            </a:xfrm>
            <a:prstGeom prst="rect">
              <a:avLst/>
            </a:prstGeom>
            <a:noFill/>
            <a:ln>
              <a:noFill/>
            </a:ln>
          </p:spPr>
          <p:txBody>
            <a:bodyPr wrap="none" lIns="0" tIns="0" rIns="0" bIns="0" anchor="t" anchorCtr="0">
              <a:spAutoFit/>
            </a:bodyPr>
            <a:lstStyle/>
            <a:p>
              <a:pPr algn="ctr"/>
              <a:r>
                <a:rPr lang="en-US" sz="790" b="1" dirty="0">
                  <a:solidFill>
                    <a:srgbClr val="33D6C0"/>
                  </a:solidFill>
                  <a:latin typeface="Consolas"/>
                  <a:ea typeface="Consolas"/>
                  <a:cs typeface="Consolas"/>
                </a:rPr>
                <a:t>k_in</a:t>
              </a:r>
            </a:p>
          </p:txBody>
        </p:sp>
        <p:sp>
          <p:nvSpPr>
            <p:cNvPr id="22" name="Line 22"/>
            <p:cNvSpPr/>
            <p:nvPr/>
          </p:nvSpPr>
          <p:spPr>
            <a:xfrm>
              <a:off x="6686550" y="2476500"/>
              <a:ext cx="1239393" cy="95250"/>
            </a:xfrm>
            <a:custGeom>
              <a:avLst/>
              <a:gdLst/>
              <a:ahLst/>
              <a:cxnLst/>
              <a:rect l="l" t="t" r="r" b="b"/>
              <a:pathLst>
                <a:path w="1239393" h="95250">
                  <a:moveTo>
                    <a:pt x="0" y="0"/>
                  </a:moveTo>
                  <a:lnTo>
                    <a:pt x="1239393" y="95250"/>
                  </a:lnTo>
                </a:path>
              </a:pathLst>
            </a:custGeom>
            <a:noFill/>
            <a:ln w="11430" cap="rnd">
              <a:solidFill>
                <a:schemeClr val="accent4"/>
              </a:solidFill>
            </a:ln>
          </p:spPr>
        </p:sp>
        <p:sp>
          <p:nvSpPr>
            <p:cNvPr id="23" name="TextBox 23"/>
            <p:cNvSpPr txBox="1"/>
            <p:nvPr/>
          </p:nvSpPr>
          <p:spPr>
            <a:xfrm>
              <a:off x="7781442" y="2497931"/>
              <a:ext cx="98502"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a:t>
              </a:r>
            </a:p>
          </p:txBody>
        </p:sp>
        <p:sp>
          <p:nvSpPr>
            <p:cNvPr id="24" name="Rectangle 24"/>
            <p:cNvSpPr/>
            <p:nvPr/>
          </p:nvSpPr>
          <p:spPr>
            <a:xfrm>
              <a:off x="7983093" y="2476500"/>
              <a:ext cx="552450" cy="190500"/>
            </a:xfrm>
            <a:prstGeom prst="roundRect">
              <a:avLst>
                <a:gd name="adj" fmla="val 25000"/>
              </a:avLst>
            </a:prstGeom>
            <a:solidFill>
              <a:schemeClr val="accent6"/>
            </a:solidFill>
            <a:ln w="12382">
              <a:solidFill>
                <a:srgbClr val="F4C24C"/>
              </a:solidFill>
            </a:ln>
          </p:spPr>
        </p:sp>
        <p:sp>
          <p:nvSpPr>
            <p:cNvPr id="25" name="TextBox 25"/>
            <p:cNvSpPr txBox="1"/>
            <p:nvPr/>
          </p:nvSpPr>
          <p:spPr>
            <a:xfrm>
              <a:off x="8131721" y="2524839"/>
              <a:ext cx="255193" cy="154781"/>
            </a:xfrm>
            <a:prstGeom prst="rect">
              <a:avLst/>
            </a:prstGeom>
            <a:noFill/>
            <a:ln>
              <a:noFill/>
            </a:ln>
          </p:spPr>
          <p:txBody>
            <a:bodyPr wrap="none" lIns="0" tIns="0" rIns="0" bIns="0" anchor="t" anchorCtr="0">
              <a:spAutoFit/>
            </a:bodyPr>
            <a:lstStyle/>
            <a:p>
              <a:pPr algn="ctr"/>
              <a:r>
                <a:rPr lang="en-US" sz="790" b="1" dirty="0">
                  <a:solidFill>
                    <a:srgbClr val="F4C24C"/>
                  </a:solidFill>
                  <a:latin typeface="Consolas"/>
                  <a:ea typeface="Consolas"/>
                  <a:cs typeface="Consolas"/>
                </a:rPr>
                <a:t>k_g1</a:t>
              </a:r>
            </a:p>
          </p:txBody>
        </p:sp>
        <p:sp>
          <p:nvSpPr>
            <p:cNvPr id="26" name="Line 26"/>
            <p:cNvSpPr/>
            <p:nvPr/>
          </p:nvSpPr>
          <p:spPr>
            <a:xfrm>
              <a:off x="6686550" y="2476500"/>
              <a:ext cx="1239393" cy="495300"/>
            </a:xfrm>
            <a:custGeom>
              <a:avLst/>
              <a:gdLst/>
              <a:ahLst/>
              <a:cxnLst/>
              <a:rect l="l" t="t" r="r" b="b"/>
              <a:pathLst>
                <a:path w="1239393" h="495300">
                  <a:moveTo>
                    <a:pt x="0" y="0"/>
                  </a:moveTo>
                  <a:lnTo>
                    <a:pt x="1239393" y="495300"/>
                  </a:lnTo>
                </a:path>
              </a:pathLst>
            </a:custGeom>
            <a:noFill/>
            <a:ln w="11430" cap="rnd">
              <a:solidFill>
                <a:schemeClr val="accent4"/>
              </a:solidFill>
            </a:ln>
          </p:spPr>
        </p:sp>
        <p:sp>
          <p:nvSpPr>
            <p:cNvPr id="27" name="TextBox 27"/>
            <p:cNvSpPr txBox="1"/>
            <p:nvPr/>
          </p:nvSpPr>
          <p:spPr>
            <a:xfrm>
              <a:off x="7781442" y="2897981"/>
              <a:ext cx="98502"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a:t>
              </a:r>
            </a:p>
          </p:txBody>
        </p:sp>
        <p:sp>
          <p:nvSpPr>
            <p:cNvPr id="28" name="Rectangle 28"/>
            <p:cNvSpPr/>
            <p:nvPr/>
          </p:nvSpPr>
          <p:spPr>
            <a:xfrm>
              <a:off x="7983093" y="2876550"/>
              <a:ext cx="552450" cy="190500"/>
            </a:xfrm>
            <a:prstGeom prst="roundRect">
              <a:avLst>
                <a:gd name="adj" fmla="val 25000"/>
              </a:avLst>
            </a:prstGeom>
            <a:solidFill>
              <a:schemeClr val="accent6"/>
            </a:solidFill>
            <a:ln w="12382">
              <a:solidFill>
                <a:srgbClr val="F2685C"/>
              </a:solidFill>
            </a:ln>
          </p:spPr>
        </p:sp>
        <p:sp>
          <p:nvSpPr>
            <p:cNvPr id="29" name="TextBox 29"/>
            <p:cNvSpPr txBox="1"/>
            <p:nvPr/>
          </p:nvSpPr>
          <p:spPr>
            <a:xfrm>
              <a:off x="8131721" y="2924889"/>
              <a:ext cx="255193" cy="154781"/>
            </a:xfrm>
            <a:prstGeom prst="rect">
              <a:avLst/>
            </a:prstGeom>
            <a:noFill/>
            <a:ln>
              <a:noFill/>
            </a:ln>
          </p:spPr>
          <p:txBody>
            <a:bodyPr wrap="none" lIns="0" tIns="0" rIns="0" bIns="0" anchor="t" anchorCtr="0">
              <a:spAutoFit/>
            </a:bodyPr>
            <a:lstStyle/>
            <a:p>
              <a:pPr algn="ctr"/>
              <a:r>
                <a:rPr lang="en-US" sz="790" b="1" dirty="0">
                  <a:solidFill>
                    <a:srgbClr val="F2685C"/>
                  </a:solidFill>
                  <a:latin typeface="Consolas"/>
                  <a:ea typeface="Consolas"/>
                  <a:cs typeface="Consolas"/>
                </a:rPr>
                <a:t>k_g2</a:t>
              </a:r>
            </a:p>
          </p:txBody>
        </p:sp>
        <p:sp>
          <p:nvSpPr>
            <p:cNvPr id="30" name="TextBox 30"/>
            <p:cNvSpPr txBox="1"/>
            <p:nvPr/>
          </p:nvSpPr>
          <p:spPr>
            <a:xfrm>
              <a:off x="9467829" y="1928812"/>
              <a:ext cx="608500" cy="147638"/>
            </a:xfrm>
            <a:prstGeom prst="rect">
              <a:avLst/>
            </a:prstGeom>
            <a:noFill/>
            <a:ln>
              <a:noFill/>
            </a:ln>
          </p:spPr>
          <p:txBody>
            <a:bodyPr wrap="none" lIns="0" tIns="0" rIns="0" bIns="0" anchor="t" anchorCtr="0">
              <a:spAutoFit/>
            </a:bodyPr>
            <a:lstStyle/>
            <a:p>
              <a:pPr algn="ctr"/>
              <a:r>
                <a:rPr lang="en-US" sz="750" b="1" dirty="0">
                  <a:solidFill>
                    <a:schemeClr val="accent2"/>
                  </a:solidFill>
                  <a:latin typeface="+mn-lt"/>
                  <a:ea typeface="+mn-ea"/>
                  <a:cs typeface="+mn-cs"/>
                </a:rPr>
                <a:t>softmax w^</a:t>
              </a:r>
            </a:p>
          </p:txBody>
        </p:sp>
        <p:sp>
          <p:nvSpPr>
            <p:cNvPr id="31" name="Line 31"/>
            <p:cNvSpPr/>
            <p:nvPr/>
          </p:nvSpPr>
          <p:spPr>
            <a:xfrm>
              <a:off x="8535543" y="2171700"/>
              <a:ext cx="779336" cy="9525"/>
            </a:xfrm>
            <a:custGeom>
              <a:avLst/>
              <a:gdLst/>
              <a:ahLst/>
              <a:cxnLst/>
              <a:rect l="l" t="t" r="r" b="b"/>
              <a:pathLst>
                <a:path w="779336" h="9525">
                  <a:moveTo>
                    <a:pt x="0" y="0"/>
                  </a:moveTo>
                  <a:lnTo>
                    <a:pt x="779336" y="0"/>
                  </a:lnTo>
                </a:path>
              </a:pathLst>
            </a:custGeom>
            <a:noFill/>
            <a:ln w="9525" cap="rnd">
              <a:solidFill>
                <a:schemeClr val="accent4"/>
              </a:solidFill>
            </a:ln>
          </p:spPr>
        </p:sp>
        <p:sp>
          <p:nvSpPr>
            <p:cNvPr id="32" name="Rectangle 32"/>
            <p:cNvSpPr/>
            <p:nvPr/>
          </p:nvSpPr>
          <p:spPr>
            <a:xfrm>
              <a:off x="9352978" y="2095500"/>
              <a:ext cx="542925" cy="152400"/>
            </a:xfrm>
            <a:prstGeom prst="roundRect">
              <a:avLst>
                <a:gd name="adj" fmla="val 25000"/>
              </a:avLst>
            </a:prstGeom>
            <a:solidFill>
              <a:srgbClr val="33D6C0"/>
            </a:solidFill>
            <a:ln>
              <a:noFill/>
            </a:ln>
          </p:spPr>
        </p:sp>
        <p:sp>
          <p:nvSpPr>
            <p:cNvPr id="33" name="Line 33"/>
            <p:cNvSpPr/>
            <p:nvPr/>
          </p:nvSpPr>
          <p:spPr>
            <a:xfrm>
              <a:off x="8535543" y="2562225"/>
              <a:ext cx="779336" cy="9525"/>
            </a:xfrm>
            <a:custGeom>
              <a:avLst/>
              <a:gdLst/>
              <a:ahLst/>
              <a:cxnLst/>
              <a:rect l="l" t="t" r="r" b="b"/>
              <a:pathLst>
                <a:path w="779336" h="9525">
                  <a:moveTo>
                    <a:pt x="0" y="9525"/>
                  </a:moveTo>
                  <a:lnTo>
                    <a:pt x="779336" y="0"/>
                  </a:lnTo>
                </a:path>
              </a:pathLst>
            </a:custGeom>
            <a:noFill/>
            <a:ln w="9525" cap="rnd">
              <a:solidFill>
                <a:schemeClr val="accent4"/>
              </a:solidFill>
            </a:ln>
          </p:spPr>
        </p:sp>
        <p:sp>
          <p:nvSpPr>
            <p:cNvPr id="34" name="Rectangle 34"/>
            <p:cNvSpPr/>
            <p:nvPr/>
          </p:nvSpPr>
          <p:spPr>
            <a:xfrm>
              <a:off x="9352978" y="2486025"/>
              <a:ext cx="342900" cy="152400"/>
            </a:xfrm>
            <a:prstGeom prst="roundRect">
              <a:avLst>
                <a:gd name="adj" fmla="val 25000"/>
              </a:avLst>
            </a:prstGeom>
            <a:solidFill>
              <a:srgbClr val="F4C24C"/>
            </a:solidFill>
            <a:ln>
              <a:noFill/>
            </a:ln>
          </p:spPr>
        </p:sp>
        <p:sp>
          <p:nvSpPr>
            <p:cNvPr id="35" name="Line 35"/>
            <p:cNvSpPr/>
            <p:nvPr/>
          </p:nvSpPr>
          <p:spPr>
            <a:xfrm>
              <a:off x="8535543" y="2952750"/>
              <a:ext cx="779336" cy="19050"/>
            </a:xfrm>
            <a:custGeom>
              <a:avLst/>
              <a:gdLst/>
              <a:ahLst/>
              <a:cxnLst/>
              <a:rect l="l" t="t" r="r" b="b"/>
              <a:pathLst>
                <a:path w="779336" h="19050">
                  <a:moveTo>
                    <a:pt x="0" y="19050"/>
                  </a:moveTo>
                  <a:lnTo>
                    <a:pt x="779336" y="0"/>
                  </a:lnTo>
                </a:path>
              </a:pathLst>
            </a:custGeom>
            <a:noFill/>
            <a:ln w="9525" cap="rnd">
              <a:solidFill>
                <a:schemeClr val="accent4"/>
              </a:solidFill>
            </a:ln>
          </p:spPr>
        </p:sp>
        <p:sp>
          <p:nvSpPr>
            <p:cNvPr id="36" name="Rectangle 36"/>
            <p:cNvSpPr/>
            <p:nvPr/>
          </p:nvSpPr>
          <p:spPr>
            <a:xfrm>
              <a:off x="9352978" y="2876550"/>
              <a:ext cx="238125" cy="152400"/>
            </a:xfrm>
            <a:prstGeom prst="roundRect">
              <a:avLst>
                <a:gd name="adj" fmla="val 25000"/>
              </a:avLst>
            </a:prstGeom>
            <a:solidFill>
              <a:srgbClr val="F2685C"/>
            </a:solidFill>
            <a:ln>
              <a:noFill/>
            </a:ln>
          </p:spPr>
        </p:sp>
        <p:sp>
          <p:nvSpPr>
            <p:cNvPr id="37" name="Line 37"/>
            <p:cNvSpPr/>
            <p:nvPr/>
          </p:nvSpPr>
          <p:spPr>
            <a:xfrm>
              <a:off x="10419778" y="2476500"/>
              <a:ext cx="533971" cy="9525"/>
            </a:xfrm>
            <a:custGeom>
              <a:avLst/>
              <a:gdLst/>
              <a:ahLst/>
              <a:cxnLst/>
              <a:rect l="l" t="t" r="r" b="b"/>
              <a:pathLst>
                <a:path w="533971" h="9525">
                  <a:moveTo>
                    <a:pt x="0" y="0"/>
                  </a:moveTo>
                  <a:lnTo>
                    <a:pt x="533971" y="0"/>
                  </a:lnTo>
                </a:path>
              </a:pathLst>
            </a:custGeom>
            <a:noFill/>
            <a:ln w="13335" cap="rnd">
              <a:solidFill>
                <a:schemeClr val="accent4"/>
              </a:solidFill>
            </a:ln>
          </p:spPr>
        </p:sp>
        <p:sp>
          <p:nvSpPr>
            <p:cNvPr id="38" name="Polygon 38"/>
            <p:cNvSpPr/>
            <p:nvPr/>
          </p:nvSpPr>
          <p:spPr>
            <a:xfrm>
              <a:off x="10828562" y="2444534"/>
              <a:ext cx="125188" cy="63931"/>
            </a:xfrm>
            <a:custGeom>
              <a:avLst/>
              <a:gdLst/>
              <a:ahLst/>
              <a:cxnLst/>
              <a:rect l="l" t="t" r="r" b="b"/>
              <a:pathLst>
                <a:path w="125188" h="63931">
                  <a:moveTo>
                    <a:pt x="125188" y="31966"/>
                  </a:moveTo>
                  <a:lnTo>
                    <a:pt x="0" y="63931"/>
                  </a:lnTo>
                  <a:lnTo>
                    <a:pt x="0" y="0"/>
                  </a:lnTo>
                  <a:close/>
                </a:path>
              </a:pathLst>
            </a:custGeom>
            <a:solidFill>
              <a:schemeClr val="accent4"/>
            </a:solidFill>
            <a:ln>
              <a:noFill/>
            </a:ln>
          </p:spPr>
        </p:sp>
        <p:sp>
          <p:nvSpPr>
            <p:cNvPr id="39" name="Ellipse 39"/>
            <p:cNvSpPr/>
            <p:nvPr/>
          </p:nvSpPr>
          <p:spPr>
            <a:xfrm>
              <a:off x="10953750" y="2286000"/>
              <a:ext cx="381000" cy="381000"/>
            </a:xfrm>
            <a:prstGeom prst="ellipse">
              <a:avLst/>
            </a:prstGeom>
            <a:noFill/>
            <a:ln w="22860">
              <a:solidFill>
                <a:srgbClr val="46C98B"/>
              </a:solidFill>
            </a:ln>
          </p:spPr>
        </p:sp>
        <p:sp>
          <p:nvSpPr>
            <p:cNvPr id="40" name="TextBox 40"/>
            <p:cNvSpPr txBox="1"/>
            <p:nvPr/>
          </p:nvSpPr>
          <p:spPr>
            <a:xfrm>
              <a:off x="11071252" y="2412206"/>
              <a:ext cx="145996" cy="220028"/>
            </a:xfrm>
            <a:prstGeom prst="rect">
              <a:avLst/>
            </a:prstGeom>
            <a:noFill/>
            <a:ln>
              <a:noFill/>
            </a:ln>
          </p:spPr>
          <p:txBody>
            <a:bodyPr wrap="none" lIns="0" tIns="0" rIns="0" bIns="0" anchor="t" anchorCtr="0">
              <a:spAutoFit/>
            </a:bodyPr>
            <a:lstStyle/>
            <a:p>
              <a:pPr algn="ctr"/>
              <a:r>
                <a:rPr lang="en-US" sz="1120" b="1" dirty="0">
                  <a:solidFill>
                    <a:srgbClr val="46C98B"/>
                  </a:solidFill>
                  <a:latin typeface="Consolas"/>
                  <a:ea typeface="Consolas"/>
                  <a:cs typeface="Consolas"/>
                </a:rPr>
                <a:t>pi</a:t>
              </a:r>
            </a:p>
          </p:txBody>
        </p:sp>
        <p:sp>
          <p:nvSpPr>
            <p:cNvPr id="41" name="TextBox 41"/>
            <p:cNvSpPr txBox="1"/>
            <p:nvPr/>
          </p:nvSpPr>
          <p:spPr>
            <a:xfrm>
              <a:off x="11001494" y="2132886"/>
              <a:ext cx="285513" cy="140494"/>
            </a:xfrm>
            <a:prstGeom prst="rect">
              <a:avLst/>
            </a:prstGeom>
            <a:noFill/>
            <a:ln>
              <a:noFill/>
            </a:ln>
          </p:spPr>
          <p:txBody>
            <a:bodyPr wrap="none" lIns="0" tIns="0" rIns="0" bIns="0" anchor="t" anchorCtr="0">
              <a:spAutoFit/>
            </a:bodyPr>
            <a:lstStyle/>
            <a:p>
              <a:pPr algn="ctr"/>
              <a:r>
                <a:rPr lang="en-US" sz="710" b="1" dirty="0">
                  <a:solidFill>
                    <a:srgbClr val="46C98B"/>
                  </a:solidFill>
                  <a:latin typeface="+mn-lt"/>
                  <a:ea typeface="+mn-ea"/>
                  <a:cs typeface="+mn-cs"/>
                </a:rPr>
                <a:t>fused</a:t>
              </a:r>
            </a:p>
          </p:txBody>
        </p:sp>
        <p:sp>
          <p:nvSpPr>
            <p:cNvPr id="42" name="TextBox 42"/>
            <p:cNvSpPr txBox="1"/>
            <p:nvPr/>
          </p:nvSpPr>
          <p:spPr>
            <a:xfrm>
              <a:off x="10942444" y="2746534"/>
              <a:ext cx="403612"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sample a</a:t>
              </a:r>
            </a:p>
          </p:txBody>
        </p:sp>
      </p:grpSp>
      <p:grpSp>
        <p:nvGrpSpPr>
          <p:cNvPr id="52" name="Group 52"/>
          <p:cNvGrpSpPr/>
          <p:nvPr/>
        </p:nvGrpSpPr>
        <p:grpSpPr>
          <a:xfrm>
            <a:off x="609600" y="3390900"/>
            <a:ext cx="5334000" cy="1847850"/>
            <a:chOff x="609600" y="3390900"/>
            <a:chExt cx="5334000" cy="1847850"/>
          </a:xfrm>
        </p:grpSpPr>
        <p:sp>
          <p:nvSpPr>
            <p:cNvPr id="44" name="Rectangle 44"/>
            <p:cNvSpPr/>
            <p:nvPr/>
          </p:nvSpPr>
          <p:spPr>
            <a:xfrm>
              <a:off x="609600" y="3390900"/>
              <a:ext cx="5334000" cy="1847850"/>
            </a:xfrm>
            <a:prstGeom prst="roundRect">
              <a:avLst>
                <a:gd name="adj" fmla="val 7216"/>
              </a:avLst>
            </a:prstGeom>
            <a:solidFill>
              <a:schemeClr val="accent5"/>
            </a:solidFill>
            <a:ln w="14288">
              <a:solidFill>
                <a:schemeClr val="accent4"/>
              </a:solidFill>
            </a:ln>
          </p:spPr>
        </p:sp>
        <p:sp>
          <p:nvSpPr>
            <p:cNvPr id="45" name="Rectangle 45"/>
            <p:cNvSpPr/>
            <p:nvPr/>
          </p:nvSpPr>
          <p:spPr>
            <a:xfrm>
              <a:off x="609600" y="3390900"/>
              <a:ext cx="57150" cy="1847850"/>
            </a:xfrm>
            <a:prstGeom prst="roundRect">
              <a:avLst>
                <a:gd name="adj" fmla="val 50000"/>
              </a:avLst>
            </a:prstGeom>
            <a:solidFill>
              <a:srgbClr val="33D6C0"/>
            </a:solidFill>
            <a:ln>
              <a:noFill/>
            </a:ln>
          </p:spPr>
        </p:sp>
        <p:sp>
          <p:nvSpPr>
            <p:cNvPr id="46" name="TextBox 46"/>
            <p:cNvSpPr txBox="1"/>
            <p:nvPr/>
          </p:nvSpPr>
          <p:spPr>
            <a:xfrm>
              <a:off x="870014" y="3619262"/>
              <a:ext cx="2805083" cy="242030"/>
            </a:xfrm>
            <a:prstGeom prst="rect">
              <a:avLst/>
            </a:prstGeom>
            <a:noFill/>
            <a:ln>
              <a:noFill/>
            </a:ln>
          </p:spPr>
          <p:txBody>
            <a:bodyPr wrap="none" lIns="0" tIns="0" rIns="0" bIns="0" anchor="t" anchorCtr="0">
              <a:spAutoFit/>
            </a:bodyPr>
            <a:lstStyle/>
            <a:p>
              <a:pPr algn="l"/>
              <a:r>
                <a:rPr lang="en-US" sz="1240" b="1" dirty="0">
                  <a:solidFill>
                    <a:srgbClr val="33D6C0"/>
                  </a:solidFill>
                  <a:latin typeface="+mn-lt"/>
                  <a:ea typeface="+mn-ea"/>
                  <a:cs typeface="+mn-cs"/>
                </a:rPr>
                <a:t>Every policy gets a learnable key</a:t>
              </a:r>
            </a:p>
          </p:txBody>
        </p:sp>
        <p:sp>
          <p:nvSpPr>
            <p:cNvPr id="47" name="TextBox 47"/>
            <p:cNvSpPr txBox="1"/>
            <p:nvPr/>
          </p:nvSpPr>
          <p:spPr>
            <a:xfrm>
              <a:off x="871156" y="3929301"/>
              <a:ext cx="376747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Each knowledge policy, including the inner one, is given a</a:t>
              </a:r>
            </a:p>
          </p:txBody>
        </p:sp>
        <p:sp>
          <p:nvSpPr>
            <p:cNvPr id="48" name="TextBox 48"/>
            <p:cNvSpPr txBox="1"/>
            <p:nvPr/>
          </p:nvSpPr>
          <p:spPr>
            <a:xfrm>
              <a:off x="871156" y="4119801"/>
              <a:ext cx="391931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learnable embedding vector, its key, which represents the</a:t>
              </a:r>
            </a:p>
          </p:txBody>
        </p:sp>
        <p:sp>
          <p:nvSpPr>
            <p:cNvPr id="49" name="TextBox 49"/>
            <p:cNvSpPr txBox="1"/>
            <p:nvPr/>
          </p:nvSpPr>
          <p:spPr>
            <a:xfrm>
              <a:off x="871156" y="4310301"/>
              <a:ext cx="321908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whole policy independent of any state or action.</a:t>
              </a:r>
            </a:p>
          </p:txBody>
        </p:sp>
        <p:sp>
          <p:nvSpPr>
            <p:cNvPr id="50" name="Rectangle 50"/>
            <p:cNvSpPr/>
            <p:nvPr/>
          </p:nvSpPr>
          <p:spPr>
            <a:xfrm>
              <a:off x="876300" y="4838700"/>
              <a:ext cx="4800600" cy="285750"/>
            </a:xfrm>
            <a:prstGeom prst="roundRect">
              <a:avLst>
                <a:gd name="adj" fmla="val 26667"/>
              </a:avLst>
            </a:prstGeom>
            <a:solidFill>
              <a:schemeClr val="accent6"/>
            </a:solidFill>
            <a:ln w="14288">
              <a:solidFill>
                <a:schemeClr val="accent4"/>
              </a:solidFill>
            </a:ln>
          </p:spPr>
        </p:sp>
        <p:sp>
          <p:nvSpPr>
            <p:cNvPr id="51" name="TextBox 51"/>
            <p:cNvSpPr txBox="1"/>
            <p:nvPr/>
          </p:nvSpPr>
          <p:spPr>
            <a:xfrm>
              <a:off x="2246570" y="4933474"/>
              <a:ext cx="2060061"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key k_i : one vector per policy</a:t>
              </a:r>
            </a:p>
          </p:txBody>
        </p:sp>
      </p:grpSp>
      <p:grpSp>
        <p:nvGrpSpPr>
          <p:cNvPr id="58" name="Group 58"/>
          <p:cNvGrpSpPr/>
          <p:nvPr/>
        </p:nvGrpSpPr>
        <p:grpSpPr>
          <a:xfrm>
            <a:off x="6248400" y="3390900"/>
            <a:ext cx="5552823" cy="857250"/>
            <a:chOff x="6248400" y="3390900"/>
            <a:chExt cx="5552823" cy="857250"/>
          </a:xfrm>
        </p:grpSpPr>
        <p:sp>
          <p:nvSpPr>
            <p:cNvPr id="53" name="Rectangle 53"/>
            <p:cNvSpPr/>
            <p:nvPr/>
          </p:nvSpPr>
          <p:spPr>
            <a:xfrm>
              <a:off x="6248400" y="3390900"/>
              <a:ext cx="5334000" cy="857250"/>
            </a:xfrm>
            <a:prstGeom prst="roundRect">
              <a:avLst>
                <a:gd name="adj" fmla="val 15556"/>
              </a:avLst>
            </a:prstGeom>
            <a:solidFill>
              <a:srgbClr val="2A2417"/>
            </a:solidFill>
            <a:ln w="14288">
              <a:solidFill>
                <a:srgbClr val="F4C24C"/>
              </a:solidFill>
            </a:ln>
          </p:spPr>
        </p:sp>
        <p:sp>
          <p:nvSpPr>
            <p:cNvPr id="54" name="Rectangle 54"/>
            <p:cNvSpPr/>
            <p:nvPr/>
          </p:nvSpPr>
          <p:spPr>
            <a:xfrm>
              <a:off x="6248400" y="3390900"/>
              <a:ext cx="57150" cy="857250"/>
            </a:xfrm>
            <a:prstGeom prst="roundRect">
              <a:avLst>
                <a:gd name="adj" fmla="val 50000"/>
              </a:avLst>
            </a:prstGeom>
            <a:solidFill>
              <a:srgbClr val="F4C24C"/>
            </a:solidFill>
            <a:ln>
              <a:noFill/>
            </a:ln>
          </p:spPr>
        </p:sp>
        <p:sp>
          <p:nvSpPr>
            <p:cNvPr id="55" name="TextBox 55"/>
            <p:cNvSpPr txBox="1"/>
            <p:nvPr/>
          </p:nvSpPr>
          <p:spPr>
            <a:xfrm>
              <a:off x="6509194" y="3570208"/>
              <a:ext cx="2936780"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Query, dot-product, softmax, fuse</a:t>
              </a:r>
            </a:p>
          </p:txBody>
        </p:sp>
        <p:sp>
          <p:nvSpPr>
            <p:cNvPr id="56" name="TextBox 56"/>
            <p:cNvSpPr txBox="1"/>
            <p:nvPr/>
          </p:nvSpPr>
          <p:spPr>
            <a:xfrm>
              <a:off x="6510338" y="3842147"/>
              <a:ext cx="5290885"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A state-dependent query meets each key by a dot product; softmax turns the scores</a:t>
              </a:r>
            </a:p>
          </p:txBody>
        </p:sp>
        <p:sp>
          <p:nvSpPr>
            <p:cNvPr id="57" name="TextBox 57"/>
            <p:cNvSpPr txBox="1"/>
            <p:nvPr/>
          </p:nvSpPr>
          <p:spPr>
            <a:xfrm>
              <a:off x="6510338" y="4013597"/>
              <a:ext cx="2331585"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into fusion weights over the policies.</a:t>
              </a:r>
            </a:p>
          </p:txBody>
        </p:sp>
      </p:grpSp>
      <p:grpSp>
        <p:nvGrpSpPr>
          <p:cNvPr id="64" name="Group 64"/>
          <p:cNvGrpSpPr/>
          <p:nvPr/>
        </p:nvGrpSpPr>
        <p:grpSpPr>
          <a:xfrm>
            <a:off x="6248400" y="4400550"/>
            <a:ext cx="5334000" cy="838200"/>
            <a:chOff x="6248400" y="4400550"/>
            <a:chExt cx="5334000" cy="838200"/>
          </a:xfrm>
        </p:grpSpPr>
        <p:sp>
          <p:nvSpPr>
            <p:cNvPr id="59" name="Rectangle 59"/>
            <p:cNvSpPr/>
            <p:nvPr/>
          </p:nvSpPr>
          <p:spPr>
            <a:xfrm>
              <a:off x="6248400" y="4400550"/>
              <a:ext cx="5334000" cy="838200"/>
            </a:xfrm>
            <a:prstGeom prst="roundRect">
              <a:avLst>
                <a:gd name="adj" fmla="val 15909"/>
              </a:avLst>
            </a:prstGeom>
            <a:solidFill>
              <a:srgbClr val="0F2E2B"/>
            </a:solidFill>
            <a:ln w="14288">
              <a:solidFill>
                <a:srgbClr val="46C98B"/>
              </a:solidFill>
            </a:ln>
          </p:spPr>
        </p:sp>
        <p:sp>
          <p:nvSpPr>
            <p:cNvPr id="60" name="Rectangle 60"/>
            <p:cNvSpPr/>
            <p:nvPr/>
          </p:nvSpPr>
          <p:spPr>
            <a:xfrm>
              <a:off x="6248400" y="4400550"/>
              <a:ext cx="57150" cy="838200"/>
            </a:xfrm>
            <a:prstGeom prst="roundRect">
              <a:avLst>
                <a:gd name="adj" fmla="val 50000"/>
              </a:avLst>
            </a:prstGeom>
            <a:solidFill>
              <a:srgbClr val="46C98B"/>
            </a:solidFill>
            <a:ln>
              <a:noFill/>
            </a:ln>
          </p:spPr>
        </p:sp>
        <p:sp>
          <p:nvSpPr>
            <p:cNvPr id="61" name="TextBox 61"/>
            <p:cNvSpPr txBox="1"/>
            <p:nvPr/>
          </p:nvSpPr>
          <p:spPr>
            <a:xfrm>
              <a:off x="6509194" y="4579858"/>
              <a:ext cx="2460684"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Independent keys =&gt; swappable</a:t>
              </a:r>
            </a:p>
          </p:txBody>
        </p:sp>
        <p:sp>
          <p:nvSpPr>
            <p:cNvPr id="62" name="TextBox 62"/>
            <p:cNvSpPr txBox="1"/>
            <p:nvPr/>
          </p:nvSpPr>
          <p:spPr>
            <a:xfrm>
              <a:off x="6510338" y="4851797"/>
              <a:ext cx="5012252"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Each key is independent, so policies are unordered and any one is swapped just by</a:t>
              </a:r>
            </a:p>
          </p:txBody>
        </p:sp>
        <p:sp>
          <p:nvSpPr>
            <p:cNvPr id="63" name="TextBox 63"/>
            <p:cNvSpPr txBox="1"/>
            <p:nvPr/>
          </p:nvSpPr>
          <p:spPr>
            <a:xfrm>
              <a:off x="6510338" y="5023247"/>
              <a:ext cx="2477110"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replacing its key, no retraining needed.</a:t>
              </a:r>
            </a:p>
          </p:txBody>
        </p:sp>
      </p:grpSp>
      <p:sp>
        <p:nvSpPr>
          <p:cNvPr id="65" name="cue_s05_c1_kian_knowledge_inclusive_attention_n" title="cue_s05_c1_kian_knowledge_inclusive_attention_n" descr="cue_s05_c1_kian_knowledge_inclusive_attention_n KIAN, the Knowledge-Inclusive Attention Network, is built from three components. The inner actor is a normal learnable policy that lets the agent develop its own strategy, so even if every external policy is useless for a task the agent can still find a soluti"/>
          <p:cNvSpPr/>
          <p:nvPr/>
        </p:nvSpPr>
        <p:spPr>
          <a:xfrm>
            <a:off x="609600" y="1504645"/>
            <a:ext cx="10972800" cy="17337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5_c2_knowledge_policy_including_inner_one" title="cue_s05_c2_knowledge_policy_including_inner_one" descr="cue_s05_c2_knowledge_policy_including_inner_one Each knowledge policy, including the inner one, is given a learnable embedding vector called its key, which represents the whole policy independent of any state or action."/>
          <p:cNvSpPr/>
          <p:nvPr/>
        </p:nvSpPr>
        <p:spPr>
          <a:xfrm>
            <a:off x="609600" y="3390595"/>
            <a:ext cx="5334000" cy="18475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5_c3_state_dependent_query_produces_vecto" title="cue_s05_c3_state_dependent_query_produces_vecto" descr="cue_s05_c3_state_dependent_query_produces_vecto A state-dependent query then produces a vector that is compared to every key by a dot product, and a softmax turns those scores into attention weights. The agent fuses all policies as a weighted sum and samples the final action."/>
          <p:cNvSpPr/>
          <p:nvPr/>
        </p:nvSpPr>
        <p:spPr>
          <a:xfrm>
            <a:off x="6248399" y="3390595"/>
            <a:ext cx="5552236"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5_c4_because_key_independent_policies_uno" title="cue_s05_c4_because_key_independent_policies_uno" descr="cue_s05_c4_because_key_independent_policies_uno Because each key is independent, the policies are unordered, can be rearranged, and any one can be replaced just by replacing its key, without retraining the rest of KIAN."/>
          <p:cNvSpPr/>
          <p:nvPr/>
        </p:nvSpPr>
        <p:spPr>
          <a:xfrm>
            <a:off x="6248399" y="4400778"/>
            <a:ext cx="53340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496281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Grid-worlds and robotic control</a:t>
            </a:r>
          </a:p>
        </p:txBody>
      </p:sp>
      <p:grpSp>
        <p:nvGrpSpPr>
          <p:cNvPr id="42" name="Group 42"/>
          <p:cNvGrpSpPr/>
          <p:nvPr/>
        </p:nvGrpSpPr>
        <p:grpSpPr>
          <a:xfrm>
            <a:off x="609600" y="1504950"/>
            <a:ext cx="10972800" cy="1524000"/>
            <a:chOff x="609600" y="1504950"/>
            <a:chExt cx="10972800" cy="1524000"/>
          </a:xfrm>
        </p:grpSpPr>
        <p:sp>
          <p:nvSpPr>
            <p:cNvPr id="5" name="Rectangle 5"/>
            <p:cNvSpPr/>
            <p:nvPr/>
          </p:nvSpPr>
          <p:spPr>
            <a:xfrm>
              <a:off x="609600" y="1504950"/>
              <a:ext cx="10972800" cy="1524000"/>
            </a:xfrm>
            <a:prstGeom prst="roundRect">
              <a:avLst>
                <a:gd name="adj" fmla="val 8750"/>
              </a:avLst>
            </a:prstGeom>
            <a:solidFill>
              <a:schemeClr val="accent5"/>
            </a:solidFill>
            <a:ln w="14288">
              <a:solidFill>
                <a:schemeClr val="accent4"/>
              </a:solidFill>
            </a:ln>
          </p:spPr>
        </p:sp>
        <p:sp>
          <p:nvSpPr>
            <p:cNvPr id="6" name="Rectangle 6"/>
            <p:cNvSpPr/>
            <p:nvPr/>
          </p:nvSpPr>
          <p:spPr>
            <a:xfrm>
              <a:off x="609600" y="1504950"/>
              <a:ext cx="57150" cy="1524000"/>
            </a:xfrm>
            <a:prstGeom prst="roundRect">
              <a:avLst>
                <a:gd name="adj" fmla="val 50000"/>
              </a:avLst>
            </a:prstGeom>
            <a:solidFill>
              <a:schemeClr val="accent2"/>
            </a:solidFill>
            <a:ln>
              <a:noFill/>
            </a:ln>
          </p:spPr>
        </p:sp>
        <p:sp>
          <p:nvSpPr>
            <p:cNvPr id="7" name="TextBox 7"/>
            <p:cNvSpPr txBox="1"/>
            <p:nvPr/>
          </p:nvSpPr>
          <p:spPr>
            <a:xfrm>
              <a:off x="870204" y="1699260"/>
              <a:ext cx="243476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Two families of environments</a:t>
              </a:r>
            </a:p>
          </p:txBody>
        </p:sp>
        <p:sp>
          <p:nvSpPr>
            <p:cNvPr id="8" name="TextBox 8"/>
            <p:cNvSpPr txBox="1"/>
            <p:nvPr/>
          </p:nvSpPr>
          <p:spPr>
            <a:xfrm>
              <a:off x="909638" y="2032397"/>
              <a:ext cx="1233887" cy="183356"/>
            </a:xfrm>
            <a:prstGeom prst="rect">
              <a:avLst/>
            </a:prstGeom>
            <a:noFill/>
            <a:ln>
              <a:noFill/>
            </a:ln>
          </p:spPr>
          <p:txBody>
            <a:bodyPr wrap="none" lIns="0" tIns="0" rIns="0" bIns="0" anchor="t" anchorCtr="0">
              <a:spAutoFit/>
            </a:bodyPr>
            <a:lstStyle/>
            <a:p>
              <a:pPr algn="l"/>
              <a:r>
                <a:rPr lang="en-US" sz="940" b="1" dirty="0">
                  <a:solidFill>
                    <a:schemeClr val="accent2"/>
                  </a:solidFill>
                  <a:latin typeface="+mn-lt"/>
                  <a:ea typeface="+mn-ea"/>
                  <a:cs typeface="+mn-cs"/>
                </a:rPr>
                <a:t>MiniGrid · discrete</a:t>
              </a:r>
            </a:p>
          </p:txBody>
        </p:sp>
        <p:sp>
          <p:nvSpPr>
            <p:cNvPr id="9" name="Rectangle 9"/>
            <p:cNvSpPr/>
            <p:nvPr/>
          </p:nvSpPr>
          <p:spPr>
            <a:xfrm>
              <a:off x="914400" y="2228850"/>
              <a:ext cx="1185862" cy="571500"/>
            </a:xfrm>
            <a:prstGeom prst="roundRect">
              <a:avLst>
                <a:gd name="adj" fmla="val 16667"/>
              </a:avLst>
            </a:prstGeom>
            <a:solidFill>
              <a:schemeClr val="accent6"/>
            </a:solidFill>
            <a:ln w="14288">
              <a:solidFill>
                <a:schemeClr val="accent2"/>
              </a:solidFill>
            </a:ln>
          </p:spPr>
        </p:sp>
        <p:sp>
          <p:nvSpPr>
            <p:cNvPr id="10" name="Rectangle 10"/>
            <p:cNvSpPr/>
            <p:nvPr/>
          </p:nvSpPr>
          <p:spPr>
            <a:xfrm>
              <a:off x="914400" y="2228850"/>
              <a:ext cx="1185862" cy="47625"/>
            </a:xfrm>
            <a:prstGeom prst="roundRect">
              <a:avLst>
                <a:gd name="adj" fmla="val 50000"/>
              </a:avLst>
            </a:prstGeom>
            <a:solidFill>
              <a:schemeClr val="accent2"/>
            </a:solidFill>
            <a:ln>
              <a:noFill/>
            </a:ln>
          </p:spPr>
        </p:sp>
        <p:sp>
          <p:nvSpPr>
            <p:cNvPr id="11" name="TextBox 11"/>
            <p:cNvSpPr txBox="1"/>
            <p:nvPr/>
          </p:nvSpPr>
          <p:spPr>
            <a:xfrm>
              <a:off x="1271977" y="2416254"/>
              <a:ext cx="470709"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Empty</a:t>
              </a:r>
            </a:p>
          </p:txBody>
        </p:sp>
        <p:sp>
          <p:nvSpPr>
            <p:cNvPr id="12" name="TextBox 12"/>
            <p:cNvSpPr txBox="1"/>
            <p:nvPr/>
          </p:nvSpPr>
          <p:spPr>
            <a:xfrm>
              <a:off x="1331605" y="2616041"/>
              <a:ext cx="35145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rooms</a:t>
              </a:r>
            </a:p>
          </p:txBody>
        </p:sp>
        <p:sp>
          <p:nvSpPr>
            <p:cNvPr id="13" name="Rectangle 13"/>
            <p:cNvSpPr/>
            <p:nvPr/>
          </p:nvSpPr>
          <p:spPr>
            <a:xfrm>
              <a:off x="2233612" y="2228850"/>
              <a:ext cx="1185862" cy="571500"/>
            </a:xfrm>
            <a:prstGeom prst="roundRect">
              <a:avLst>
                <a:gd name="adj" fmla="val 16667"/>
              </a:avLst>
            </a:prstGeom>
            <a:solidFill>
              <a:schemeClr val="accent6"/>
            </a:solidFill>
            <a:ln w="14288">
              <a:solidFill>
                <a:srgbClr val="33D6C0"/>
              </a:solidFill>
            </a:ln>
          </p:spPr>
        </p:sp>
        <p:sp>
          <p:nvSpPr>
            <p:cNvPr id="14" name="Rectangle 14"/>
            <p:cNvSpPr/>
            <p:nvPr/>
          </p:nvSpPr>
          <p:spPr>
            <a:xfrm>
              <a:off x="2233612" y="2228850"/>
              <a:ext cx="1185862" cy="47625"/>
            </a:xfrm>
            <a:prstGeom prst="roundRect">
              <a:avLst>
                <a:gd name="adj" fmla="val 50000"/>
              </a:avLst>
            </a:prstGeom>
            <a:solidFill>
              <a:srgbClr val="33D6C0"/>
            </a:solidFill>
            <a:ln>
              <a:noFill/>
            </a:ln>
          </p:spPr>
        </p:sp>
        <p:sp>
          <p:nvSpPr>
            <p:cNvPr id="15" name="TextBox 15"/>
            <p:cNvSpPr txBox="1"/>
            <p:nvPr/>
          </p:nvSpPr>
          <p:spPr>
            <a:xfrm>
              <a:off x="2519633" y="2416254"/>
              <a:ext cx="613822"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DoorKey</a:t>
              </a:r>
            </a:p>
          </p:txBody>
        </p:sp>
        <p:sp>
          <p:nvSpPr>
            <p:cNvPr id="16" name="TextBox 16"/>
            <p:cNvSpPr txBox="1"/>
            <p:nvPr/>
          </p:nvSpPr>
          <p:spPr>
            <a:xfrm>
              <a:off x="2645022" y="2616041"/>
              <a:ext cx="36304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puzzle</a:t>
              </a:r>
            </a:p>
          </p:txBody>
        </p:sp>
        <p:sp>
          <p:nvSpPr>
            <p:cNvPr id="17" name="Rectangle 17"/>
            <p:cNvSpPr/>
            <p:nvPr/>
          </p:nvSpPr>
          <p:spPr>
            <a:xfrm>
              <a:off x="3552825" y="2228850"/>
              <a:ext cx="1185862" cy="571500"/>
            </a:xfrm>
            <a:prstGeom prst="roundRect">
              <a:avLst>
                <a:gd name="adj" fmla="val 16667"/>
              </a:avLst>
            </a:prstGeom>
            <a:solidFill>
              <a:schemeClr val="accent6"/>
            </a:solidFill>
            <a:ln w="14288">
              <a:solidFill>
                <a:srgbClr val="F4C24C"/>
              </a:solidFill>
            </a:ln>
          </p:spPr>
        </p:sp>
        <p:sp>
          <p:nvSpPr>
            <p:cNvPr id="18" name="Rectangle 18"/>
            <p:cNvSpPr/>
            <p:nvPr/>
          </p:nvSpPr>
          <p:spPr>
            <a:xfrm>
              <a:off x="3552825" y="2228850"/>
              <a:ext cx="1185862" cy="47625"/>
            </a:xfrm>
            <a:prstGeom prst="roundRect">
              <a:avLst>
                <a:gd name="adj" fmla="val 50000"/>
              </a:avLst>
            </a:prstGeom>
            <a:solidFill>
              <a:srgbClr val="F4C24C"/>
            </a:solidFill>
            <a:ln>
              <a:noFill/>
            </a:ln>
          </p:spPr>
        </p:sp>
        <p:sp>
          <p:nvSpPr>
            <p:cNvPr id="19" name="TextBox 19"/>
            <p:cNvSpPr txBox="1"/>
            <p:nvPr/>
          </p:nvSpPr>
          <p:spPr>
            <a:xfrm>
              <a:off x="3780134" y="2416254"/>
              <a:ext cx="731245"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Dyn-Obst</a:t>
              </a:r>
            </a:p>
          </p:txBody>
        </p:sp>
        <p:sp>
          <p:nvSpPr>
            <p:cNvPr id="20" name="TextBox 20"/>
            <p:cNvSpPr txBox="1"/>
            <p:nvPr/>
          </p:nvSpPr>
          <p:spPr>
            <a:xfrm>
              <a:off x="3952644" y="2616041"/>
              <a:ext cx="386225"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moving</a:t>
              </a:r>
            </a:p>
          </p:txBody>
        </p:sp>
        <p:sp>
          <p:nvSpPr>
            <p:cNvPr id="21" name="Rectangle 21"/>
            <p:cNvSpPr/>
            <p:nvPr/>
          </p:nvSpPr>
          <p:spPr>
            <a:xfrm>
              <a:off x="4872038" y="2228850"/>
              <a:ext cx="1185862" cy="571500"/>
            </a:xfrm>
            <a:prstGeom prst="roundRect">
              <a:avLst>
                <a:gd name="adj" fmla="val 16667"/>
              </a:avLst>
            </a:prstGeom>
            <a:solidFill>
              <a:schemeClr val="accent6"/>
            </a:solidFill>
            <a:ln w="14288">
              <a:solidFill>
                <a:srgbClr val="F2685C"/>
              </a:solidFill>
            </a:ln>
          </p:spPr>
        </p:sp>
        <p:sp>
          <p:nvSpPr>
            <p:cNvPr id="22" name="Rectangle 22"/>
            <p:cNvSpPr/>
            <p:nvPr/>
          </p:nvSpPr>
          <p:spPr>
            <a:xfrm>
              <a:off x="4872038" y="2228850"/>
              <a:ext cx="1185862" cy="47625"/>
            </a:xfrm>
            <a:prstGeom prst="roundRect">
              <a:avLst>
                <a:gd name="adj" fmla="val 50000"/>
              </a:avLst>
            </a:prstGeom>
            <a:solidFill>
              <a:srgbClr val="F2685C"/>
            </a:solidFill>
            <a:ln>
              <a:noFill/>
            </a:ln>
          </p:spPr>
        </p:sp>
        <p:sp>
          <p:nvSpPr>
            <p:cNvPr id="23" name="TextBox 23"/>
            <p:cNvSpPr txBox="1"/>
            <p:nvPr/>
          </p:nvSpPr>
          <p:spPr>
            <a:xfrm>
              <a:off x="5081119" y="2416254"/>
              <a:ext cx="767700"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MultiRoom</a:t>
              </a:r>
            </a:p>
          </p:txBody>
        </p:sp>
        <p:sp>
          <p:nvSpPr>
            <p:cNvPr id="24" name="TextBox 24"/>
            <p:cNvSpPr txBox="1"/>
            <p:nvPr/>
          </p:nvSpPr>
          <p:spPr>
            <a:xfrm>
              <a:off x="5321117" y="2616041"/>
              <a:ext cx="28770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maze</a:t>
              </a:r>
            </a:p>
          </p:txBody>
        </p:sp>
        <p:sp>
          <p:nvSpPr>
            <p:cNvPr id="25" name="TextBox 25"/>
            <p:cNvSpPr txBox="1"/>
            <p:nvPr/>
          </p:nvSpPr>
          <p:spPr>
            <a:xfrm>
              <a:off x="6281738" y="2032397"/>
              <a:ext cx="1934196" cy="183356"/>
            </a:xfrm>
            <a:prstGeom prst="rect">
              <a:avLst/>
            </a:prstGeom>
            <a:noFill/>
            <a:ln>
              <a:noFill/>
            </a:ln>
          </p:spPr>
          <p:txBody>
            <a:bodyPr wrap="none" lIns="0" tIns="0" rIns="0" bIns="0" anchor="t" anchorCtr="0">
              <a:spAutoFit/>
            </a:bodyPr>
            <a:lstStyle/>
            <a:p>
              <a:pPr algn="l"/>
              <a:r>
                <a:rPr lang="en-US" sz="940" b="1" dirty="0">
                  <a:solidFill>
                    <a:srgbClr val="33D6C0"/>
                  </a:solidFill>
                  <a:latin typeface="+mn-lt"/>
                  <a:ea typeface="+mn-ea"/>
                  <a:cs typeface="+mn-cs"/>
                </a:rPr>
                <a:t>OpenAI-Robotics · continuous</a:t>
              </a:r>
            </a:p>
          </p:txBody>
        </p:sp>
        <p:sp>
          <p:nvSpPr>
            <p:cNvPr id="26" name="Rectangle 26"/>
            <p:cNvSpPr/>
            <p:nvPr/>
          </p:nvSpPr>
          <p:spPr>
            <a:xfrm>
              <a:off x="6286500" y="2228850"/>
              <a:ext cx="1223962" cy="571500"/>
            </a:xfrm>
            <a:prstGeom prst="roundRect">
              <a:avLst>
                <a:gd name="adj" fmla="val 16667"/>
              </a:avLst>
            </a:prstGeom>
            <a:solidFill>
              <a:schemeClr val="accent6"/>
            </a:solidFill>
            <a:ln w="14288">
              <a:solidFill>
                <a:schemeClr val="accent2"/>
              </a:solidFill>
            </a:ln>
          </p:spPr>
        </p:sp>
        <p:sp>
          <p:nvSpPr>
            <p:cNvPr id="27" name="Rectangle 27"/>
            <p:cNvSpPr/>
            <p:nvPr/>
          </p:nvSpPr>
          <p:spPr>
            <a:xfrm>
              <a:off x="6286500" y="2228850"/>
              <a:ext cx="1223962" cy="47625"/>
            </a:xfrm>
            <a:prstGeom prst="roundRect">
              <a:avLst>
                <a:gd name="adj" fmla="val 50000"/>
              </a:avLst>
            </a:prstGeom>
            <a:solidFill>
              <a:schemeClr val="accent2"/>
            </a:solidFill>
            <a:ln>
              <a:noFill/>
            </a:ln>
          </p:spPr>
        </p:sp>
        <p:sp>
          <p:nvSpPr>
            <p:cNvPr id="28" name="TextBox 28"/>
            <p:cNvSpPr txBox="1"/>
            <p:nvPr/>
          </p:nvSpPr>
          <p:spPr>
            <a:xfrm>
              <a:off x="6721079" y="2416254"/>
              <a:ext cx="354805"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Push</a:t>
              </a:r>
            </a:p>
          </p:txBody>
        </p:sp>
        <p:sp>
          <p:nvSpPr>
            <p:cNvPr id="29" name="TextBox 29"/>
            <p:cNvSpPr txBox="1"/>
            <p:nvPr/>
          </p:nvSpPr>
          <p:spPr>
            <a:xfrm>
              <a:off x="6737243" y="2616041"/>
              <a:ext cx="322476"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manip</a:t>
              </a:r>
            </a:p>
          </p:txBody>
        </p:sp>
        <p:sp>
          <p:nvSpPr>
            <p:cNvPr id="30" name="Rectangle 30"/>
            <p:cNvSpPr/>
            <p:nvPr/>
          </p:nvSpPr>
          <p:spPr>
            <a:xfrm>
              <a:off x="7643812" y="2228850"/>
              <a:ext cx="1223962" cy="571500"/>
            </a:xfrm>
            <a:prstGeom prst="roundRect">
              <a:avLst>
                <a:gd name="adj" fmla="val 16667"/>
              </a:avLst>
            </a:prstGeom>
            <a:solidFill>
              <a:schemeClr val="accent6"/>
            </a:solidFill>
            <a:ln w="14288">
              <a:solidFill>
                <a:srgbClr val="33D6C0"/>
              </a:solidFill>
            </a:ln>
          </p:spPr>
        </p:sp>
        <p:sp>
          <p:nvSpPr>
            <p:cNvPr id="31" name="Rectangle 31"/>
            <p:cNvSpPr/>
            <p:nvPr/>
          </p:nvSpPr>
          <p:spPr>
            <a:xfrm>
              <a:off x="7643812" y="2228850"/>
              <a:ext cx="1223962" cy="47625"/>
            </a:xfrm>
            <a:prstGeom prst="roundRect">
              <a:avLst>
                <a:gd name="adj" fmla="val 50000"/>
              </a:avLst>
            </a:prstGeom>
            <a:solidFill>
              <a:srgbClr val="33D6C0"/>
            </a:solidFill>
            <a:ln>
              <a:noFill/>
            </a:ln>
          </p:spPr>
        </p:sp>
        <p:sp>
          <p:nvSpPr>
            <p:cNvPr id="32" name="TextBox 32"/>
            <p:cNvSpPr txBox="1"/>
            <p:nvPr/>
          </p:nvSpPr>
          <p:spPr>
            <a:xfrm>
              <a:off x="8074975" y="2416254"/>
              <a:ext cx="361637"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Slide</a:t>
              </a:r>
            </a:p>
          </p:txBody>
        </p:sp>
        <p:sp>
          <p:nvSpPr>
            <p:cNvPr id="33" name="TextBox 33"/>
            <p:cNvSpPr txBox="1"/>
            <p:nvPr/>
          </p:nvSpPr>
          <p:spPr>
            <a:xfrm>
              <a:off x="8094556" y="2616041"/>
              <a:ext cx="322476"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manip</a:t>
              </a:r>
            </a:p>
          </p:txBody>
        </p:sp>
        <p:sp>
          <p:nvSpPr>
            <p:cNvPr id="34" name="Rectangle 34"/>
            <p:cNvSpPr/>
            <p:nvPr/>
          </p:nvSpPr>
          <p:spPr>
            <a:xfrm>
              <a:off x="9001125" y="2228850"/>
              <a:ext cx="1223962" cy="571500"/>
            </a:xfrm>
            <a:prstGeom prst="roundRect">
              <a:avLst>
                <a:gd name="adj" fmla="val 16667"/>
              </a:avLst>
            </a:prstGeom>
            <a:solidFill>
              <a:schemeClr val="accent6"/>
            </a:solidFill>
            <a:ln w="14288">
              <a:solidFill>
                <a:srgbClr val="F4C24C"/>
              </a:solidFill>
            </a:ln>
          </p:spPr>
        </p:sp>
        <p:sp>
          <p:nvSpPr>
            <p:cNvPr id="35" name="Rectangle 35"/>
            <p:cNvSpPr/>
            <p:nvPr/>
          </p:nvSpPr>
          <p:spPr>
            <a:xfrm>
              <a:off x="9001125" y="2228850"/>
              <a:ext cx="1223962" cy="47625"/>
            </a:xfrm>
            <a:prstGeom prst="roundRect">
              <a:avLst>
                <a:gd name="adj" fmla="val 50000"/>
              </a:avLst>
            </a:prstGeom>
            <a:solidFill>
              <a:srgbClr val="F4C24C"/>
            </a:solidFill>
            <a:ln>
              <a:noFill/>
            </a:ln>
          </p:spPr>
        </p:sp>
        <p:sp>
          <p:nvSpPr>
            <p:cNvPr id="36" name="TextBox 36"/>
            <p:cNvSpPr txBox="1"/>
            <p:nvPr/>
          </p:nvSpPr>
          <p:spPr>
            <a:xfrm>
              <a:off x="9217555" y="2416254"/>
              <a:ext cx="791102"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Pick&amp;Place</a:t>
              </a:r>
            </a:p>
          </p:txBody>
        </p:sp>
        <p:sp>
          <p:nvSpPr>
            <p:cNvPr id="37" name="TextBox 37"/>
            <p:cNvSpPr txBox="1"/>
            <p:nvPr/>
          </p:nvSpPr>
          <p:spPr>
            <a:xfrm>
              <a:off x="9451868" y="2616041"/>
              <a:ext cx="322476"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manip</a:t>
              </a:r>
            </a:p>
          </p:txBody>
        </p:sp>
        <p:sp>
          <p:nvSpPr>
            <p:cNvPr id="38" name="Rectangle 38"/>
            <p:cNvSpPr/>
            <p:nvPr/>
          </p:nvSpPr>
          <p:spPr>
            <a:xfrm>
              <a:off x="10358438" y="2228850"/>
              <a:ext cx="1223962" cy="571500"/>
            </a:xfrm>
            <a:prstGeom prst="roundRect">
              <a:avLst>
                <a:gd name="adj" fmla="val 16667"/>
              </a:avLst>
            </a:prstGeom>
            <a:solidFill>
              <a:schemeClr val="accent6"/>
            </a:solidFill>
            <a:ln w="14288">
              <a:solidFill>
                <a:srgbClr val="46C98B"/>
              </a:solidFill>
            </a:ln>
          </p:spPr>
        </p:sp>
        <p:sp>
          <p:nvSpPr>
            <p:cNvPr id="39" name="Rectangle 39"/>
            <p:cNvSpPr/>
            <p:nvPr/>
          </p:nvSpPr>
          <p:spPr>
            <a:xfrm>
              <a:off x="10358438" y="2228850"/>
              <a:ext cx="1223962" cy="47625"/>
            </a:xfrm>
            <a:prstGeom prst="roundRect">
              <a:avLst>
                <a:gd name="adj" fmla="val 50000"/>
              </a:avLst>
            </a:prstGeom>
            <a:solidFill>
              <a:srgbClr val="46C98B"/>
            </a:solidFill>
            <a:ln>
              <a:noFill/>
            </a:ln>
          </p:spPr>
        </p:sp>
        <p:sp>
          <p:nvSpPr>
            <p:cNvPr id="40" name="TextBox 40"/>
            <p:cNvSpPr txBox="1"/>
            <p:nvPr/>
          </p:nvSpPr>
          <p:spPr>
            <a:xfrm>
              <a:off x="10750646" y="2416254"/>
              <a:ext cx="439545"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Reach</a:t>
              </a:r>
            </a:p>
          </p:txBody>
        </p:sp>
        <p:sp>
          <p:nvSpPr>
            <p:cNvPr id="41" name="TextBox 41"/>
            <p:cNvSpPr txBox="1"/>
            <p:nvPr/>
          </p:nvSpPr>
          <p:spPr>
            <a:xfrm>
              <a:off x="10809181" y="2616041"/>
              <a:ext cx="322476"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manip</a:t>
              </a:r>
            </a:p>
          </p:txBody>
        </p:sp>
      </p:grpSp>
      <p:grpSp>
        <p:nvGrpSpPr>
          <p:cNvPr id="68" name="Group 68"/>
          <p:cNvGrpSpPr/>
          <p:nvPr/>
        </p:nvGrpSpPr>
        <p:grpSpPr>
          <a:xfrm>
            <a:off x="609600" y="3181350"/>
            <a:ext cx="5334000" cy="1181100"/>
            <a:chOff x="609600" y="3181350"/>
            <a:chExt cx="5334000" cy="1181100"/>
          </a:xfrm>
        </p:grpSpPr>
        <p:sp>
          <p:nvSpPr>
            <p:cNvPr id="43" name="Rectangle 43"/>
            <p:cNvSpPr/>
            <p:nvPr/>
          </p:nvSpPr>
          <p:spPr>
            <a:xfrm>
              <a:off x="609600" y="3181350"/>
              <a:ext cx="5334000" cy="1181100"/>
            </a:xfrm>
            <a:prstGeom prst="roundRect">
              <a:avLst>
                <a:gd name="adj" fmla="val 11290"/>
              </a:avLst>
            </a:prstGeom>
            <a:solidFill>
              <a:schemeClr val="accent5"/>
            </a:solidFill>
            <a:ln w="14288">
              <a:solidFill>
                <a:schemeClr val="accent4"/>
              </a:solidFill>
            </a:ln>
          </p:spPr>
        </p:sp>
        <p:sp>
          <p:nvSpPr>
            <p:cNvPr id="44" name="Rectangle 44"/>
            <p:cNvSpPr/>
            <p:nvPr/>
          </p:nvSpPr>
          <p:spPr>
            <a:xfrm>
              <a:off x="609600" y="3181350"/>
              <a:ext cx="57150" cy="1181100"/>
            </a:xfrm>
            <a:prstGeom prst="roundRect">
              <a:avLst>
                <a:gd name="adj" fmla="val 50000"/>
              </a:avLst>
            </a:prstGeom>
            <a:solidFill>
              <a:srgbClr val="33D6C0"/>
            </a:solidFill>
            <a:ln>
              <a:noFill/>
            </a:ln>
          </p:spPr>
        </p:sp>
        <p:sp>
          <p:nvSpPr>
            <p:cNvPr id="45" name="TextBox 45"/>
            <p:cNvSpPr txBox="1"/>
            <p:nvPr/>
          </p:nvSpPr>
          <p:spPr>
            <a:xfrm>
              <a:off x="870585" y="3402806"/>
              <a:ext cx="2478004" cy="220028"/>
            </a:xfrm>
            <a:prstGeom prst="rect">
              <a:avLst/>
            </a:prstGeom>
            <a:noFill/>
            <a:ln>
              <a:noFill/>
            </a:ln>
          </p:spPr>
          <p:txBody>
            <a:bodyPr wrap="none" lIns="0" tIns="0" rIns="0" bIns="0" anchor="t" anchorCtr="0">
              <a:spAutoFit/>
            </a:bodyPr>
            <a:lstStyle/>
            <a:p>
              <a:pPr algn="l"/>
              <a:r>
                <a:rPr lang="en-US" sz="1120" b="1" dirty="0">
                  <a:solidFill>
                    <a:srgbClr val="33D6C0"/>
                  </a:solidFill>
                  <a:latin typeface="+mn-lt"/>
                  <a:ea typeface="+mn-ea"/>
                  <a:cs typeface="+mn-cs"/>
                </a:rPr>
                <a:t>Increasing grid-world difficulty</a:t>
              </a:r>
            </a:p>
          </p:txBody>
        </p:sp>
        <p:sp>
          <p:nvSpPr>
            <p:cNvPr id="46" name="TextBox 46"/>
            <p:cNvSpPr txBox="1"/>
            <p:nvPr/>
          </p:nvSpPr>
          <p:spPr>
            <a:xfrm>
              <a:off x="871156" y="3681651"/>
              <a:ext cx="26598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From empty rooms to door-key puzzles,</a:t>
              </a:r>
            </a:p>
          </p:txBody>
        </p:sp>
        <p:sp>
          <p:nvSpPr>
            <p:cNvPr id="47" name="TextBox 47"/>
            <p:cNvSpPr txBox="1"/>
            <p:nvPr/>
          </p:nvSpPr>
          <p:spPr>
            <a:xfrm>
              <a:off x="871156" y="3872151"/>
              <a:ext cx="234210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dynamic obstacles, lava crossings,</a:t>
              </a:r>
            </a:p>
          </p:txBody>
        </p:sp>
        <p:sp>
          <p:nvSpPr>
            <p:cNvPr id="48" name="TextBox 48"/>
            <p:cNvSpPr txBox="1"/>
            <p:nvPr/>
          </p:nvSpPr>
          <p:spPr>
            <a:xfrm>
              <a:off x="871156" y="4062651"/>
              <a:ext cx="254605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multi-room mazes, and key corridors.</a:t>
              </a:r>
            </a:p>
          </p:txBody>
        </p:sp>
        <p:sp>
          <p:nvSpPr>
            <p:cNvPr id="49" name="Rectangle 49"/>
            <p:cNvSpPr/>
            <p:nvPr/>
          </p:nvSpPr>
          <p:spPr>
            <a:xfrm>
              <a:off x="4476750" y="3314700"/>
              <a:ext cx="1028700" cy="1028700"/>
            </a:xfrm>
            <a:prstGeom prst="roundRect">
              <a:avLst>
                <a:gd name="adj" fmla="val 5556"/>
              </a:avLst>
            </a:prstGeom>
            <a:solidFill>
              <a:srgbClr val="0E223A"/>
            </a:solidFill>
            <a:ln w="14288">
              <a:solidFill>
                <a:schemeClr val="accent4"/>
              </a:solidFill>
            </a:ln>
          </p:spPr>
        </p:sp>
        <p:sp>
          <p:nvSpPr>
            <p:cNvPr id="50" name="Line 50"/>
            <p:cNvSpPr/>
            <p:nvPr/>
          </p:nvSpPr>
          <p:spPr>
            <a:xfrm>
              <a:off x="4514850" y="3352800"/>
              <a:ext cx="952500" cy="9525"/>
            </a:xfrm>
            <a:custGeom>
              <a:avLst/>
              <a:gdLst/>
              <a:ahLst/>
              <a:cxnLst/>
              <a:rect l="l" t="t" r="r" b="b"/>
              <a:pathLst>
                <a:path w="952500" h="9525">
                  <a:moveTo>
                    <a:pt x="0" y="0"/>
                  </a:moveTo>
                  <a:lnTo>
                    <a:pt x="952500" y="0"/>
                  </a:lnTo>
                </a:path>
              </a:pathLst>
            </a:custGeom>
            <a:noFill/>
            <a:ln w="6668" cap="rnd">
              <a:solidFill>
                <a:schemeClr val="accent4"/>
              </a:solidFill>
            </a:ln>
          </p:spPr>
        </p:sp>
        <p:sp>
          <p:nvSpPr>
            <p:cNvPr id="51" name="Line 51"/>
            <p:cNvSpPr/>
            <p:nvPr/>
          </p:nvSpPr>
          <p:spPr>
            <a:xfrm>
              <a:off x="4514850" y="3352800"/>
              <a:ext cx="9525" cy="952500"/>
            </a:xfrm>
            <a:custGeom>
              <a:avLst/>
              <a:gdLst/>
              <a:ahLst/>
              <a:cxnLst/>
              <a:rect l="l" t="t" r="r" b="b"/>
              <a:pathLst>
                <a:path w="9525" h="952500">
                  <a:moveTo>
                    <a:pt x="0" y="0"/>
                  </a:moveTo>
                  <a:lnTo>
                    <a:pt x="0" y="952500"/>
                  </a:lnTo>
                </a:path>
              </a:pathLst>
            </a:custGeom>
            <a:noFill/>
            <a:ln w="6668" cap="rnd">
              <a:solidFill>
                <a:schemeClr val="accent4"/>
              </a:solidFill>
            </a:ln>
          </p:spPr>
        </p:sp>
        <p:sp>
          <p:nvSpPr>
            <p:cNvPr id="52" name="Line 52"/>
            <p:cNvSpPr/>
            <p:nvPr/>
          </p:nvSpPr>
          <p:spPr>
            <a:xfrm>
              <a:off x="4514850" y="3543300"/>
              <a:ext cx="952500" cy="9525"/>
            </a:xfrm>
            <a:custGeom>
              <a:avLst/>
              <a:gdLst/>
              <a:ahLst/>
              <a:cxnLst/>
              <a:rect l="l" t="t" r="r" b="b"/>
              <a:pathLst>
                <a:path w="952500" h="9525">
                  <a:moveTo>
                    <a:pt x="0" y="0"/>
                  </a:moveTo>
                  <a:lnTo>
                    <a:pt x="952500" y="0"/>
                  </a:lnTo>
                </a:path>
              </a:pathLst>
            </a:custGeom>
            <a:noFill/>
            <a:ln w="6668" cap="rnd">
              <a:solidFill>
                <a:schemeClr val="accent4"/>
              </a:solidFill>
            </a:ln>
          </p:spPr>
        </p:sp>
        <p:sp>
          <p:nvSpPr>
            <p:cNvPr id="53" name="Line 53"/>
            <p:cNvSpPr/>
            <p:nvPr/>
          </p:nvSpPr>
          <p:spPr>
            <a:xfrm>
              <a:off x="4705350" y="3352800"/>
              <a:ext cx="9525" cy="952500"/>
            </a:xfrm>
            <a:custGeom>
              <a:avLst/>
              <a:gdLst/>
              <a:ahLst/>
              <a:cxnLst/>
              <a:rect l="l" t="t" r="r" b="b"/>
              <a:pathLst>
                <a:path w="9525" h="952500">
                  <a:moveTo>
                    <a:pt x="0" y="0"/>
                  </a:moveTo>
                  <a:lnTo>
                    <a:pt x="0" y="952500"/>
                  </a:lnTo>
                </a:path>
              </a:pathLst>
            </a:custGeom>
            <a:noFill/>
            <a:ln w="6668" cap="rnd">
              <a:solidFill>
                <a:schemeClr val="accent4"/>
              </a:solidFill>
            </a:ln>
          </p:spPr>
        </p:sp>
        <p:sp>
          <p:nvSpPr>
            <p:cNvPr id="54" name="Line 54"/>
            <p:cNvSpPr/>
            <p:nvPr/>
          </p:nvSpPr>
          <p:spPr>
            <a:xfrm>
              <a:off x="4514850" y="3733800"/>
              <a:ext cx="952500" cy="9525"/>
            </a:xfrm>
            <a:custGeom>
              <a:avLst/>
              <a:gdLst/>
              <a:ahLst/>
              <a:cxnLst/>
              <a:rect l="l" t="t" r="r" b="b"/>
              <a:pathLst>
                <a:path w="952500" h="9525">
                  <a:moveTo>
                    <a:pt x="0" y="0"/>
                  </a:moveTo>
                  <a:lnTo>
                    <a:pt x="952500" y="0"/>
                  </a:lnTo>
                </a:path>
              </a:pathLst>
            </a:custGeom>
            <a:noFill/>
            <a:ln w="6668" cap="rnd">
              <a:solidFill>
                <a:schemeClr val="accent4"/>
              </a:solidFill>
            </a:ln>
          </p:spPr>
        </p:sp>
        <p:sp>
          <p:nvSpPr>
            <p:cNvPr id="55" name="Line 55"/>
            <p:cNvSpPr/>
            <p:nvPr/>
          </p:nvSpPr>
          <p:spPr>
            <a:xfrm>
              <a:off x="4895850" y="3352800"/>
              <a:ext cx="9525" cy="952500"/>
            </a:xfrm>
            <a:custGeom>
              <a:avLst/>
              <a:gdLst/>
              <a:ahLst/>
              <a:cxnLst/>
              <a:rect l="l" t="t" r="r" b="b"/>
              <a:pathLst>
                <a:path w="9525" h="952500">
                  <a:moveTo>
                    <a:pt x="0" y="0"/>
                  </a:moveTo>
                  <a:lnTo>
                    <a:pt x="0" y="952500"/>
                  </a:lnTo>
                </a:path>
              </a:pathLst>
            </a:custGeom>
            <a:noFill/>
            <a:ln w="6668" cap="rnd">
              <a:solidFill>
                <a:schemeClr val="accent4"/>
              </a:solidFill>
            </a:ln>
          </p:spPr>
        </p:sp>
        <p:sp>
          <p:nvSpPr>
            <p:cNvPr id="56" name="Line 56"/>
            <p:cNvSpPr/>
            <p:nvPr/>
          </p:nvSpPr>
          <p:spPr>
            <a:xfrm>
              <a:off x="4514850" y="3924300"/>
              <a:ext cx="952500" cy="9525"/>
            </a:xfrm>
            <a:custGeom>
              <a:avLst/>
              <a:gdLst/>
              <a:ahLst/>
              <a:cxnLst/>
              <a:rect l="l" t="t" r="r" b="b"/>
              <a:pathLst>
                <a:path w="952500" h="9525">
                  <a:moveTo>
                    <a:pt x="0" y="0"/>
                  </a:moveTo>
                  <a:lnTo>
                    <a:pt x="952500" y="0"/>
                  </a:lnTo>
                </a:path>
              </a:pathLst>
            </a:custGeom>
            <a:noFill/>
            <a:ln w="6668" cap="rnd">
              <a:solidFill>
                <a:schemeClr val="accent4"/>
              </a:solidFill>
            </a:ln>
          </p:spPr>
        </p:sp>
        <p:sp>
          <p:nvSpPr>
            <p:cNvPr id="57" name="Line 57"/>
            <p:cNvSpPr/>
            <p:nvPr/>
          </p:nvSpPr>
          <p:spPr>
            <a:xfrm>
              <a:off x="5086350" y="3352800"/>
              <a:ext cx="9525" cy="952500"/>
            </a:xfrm>
            <a:custGeom>
              <a:avLst/>
              <a:gdLst/>
              <a:ahLst/>
              <a:cxnLst/>
              <a:rect l="l" t="t" r="r" b="b"/>
              <a:pathLst>
                <a:path w="9525" h="952500">
                  <a:moveTo>
                    <a:pt x="0" y="0"/>
                  </a:moveTo>
                  <a:lnTo>
                    <a:pt x="0" y="952500"/>
                  </a:lnTo>
                </a:path>
              </a:pathLst>
            </a:custGeom>
            <a:noFill/>
            <a:ln w="6668" cap="rnd">
              <a:solidFill>
                <a:schemeClr val="accent4"/>
              </a:solidFill>
            </a:ln>
          </p:spPr>
        </p:sp>
        <p:sp>
          <p:nvSpPr>
            <p:cNvPr id="58" name="Line 58"/>
            <p:cNvSpPr/>
            <p:nvPr/>
          </p:nvSpPr>
          <p:spPr>
            <a:xfrm>
              <a:off x="4514850" y="4114800"/>
              <a:ext cx="952500" cy="9525"/>
            </a:xfrm>
            <a:custGeom>
              <a:avLst/>
              <a:gdLst/>
              <a:ahLst/>
              <a:cxnLst/>
              <a:rect l="l" t="t" r="r" b="b"/>
              <a:pathLst>
                <a:path w="952500" h="9525">
                  <a:moveTo>
                    <a:pt x="0" y="0"/>
                  </a:moveTo>
                  <a:lnTo>
                    <a:pt x="952500" y="0"/>
                  </a:lnTo>
                </a:path>
              </a:pathLst>
            </a:custGeom>
            <a:noFill/>
            <a:ln w="6668" cap="rnd">
              <a:solidFill>
                <a:schemeClr val="accent4"/>
              </a:solidFill>
            </a:ln>
          </p:spPr>
        </p:sp>
        <p:sp>
          <p:nvSpPr>
            <p:cNvPr id="59" name="Line 59"/>
            <p:cNvSpPr/>
            <p:nvPr/>
          </p:nvSpPr>
          <p:spPr>
            <a:xfrm>
              <a:off x="5276850" y="3352800"/>
              <a:ext cx="9525" cy="952500"/>
            </a:xfrm>
            <a:custGeom>
              <a:avLst/>
              <a:gdLst/>
              <a:ahLst/>
              <a:cxnLst/>
              <a:rect l="l" t="t" r="r" b="b"/>
              <a:pathLst>
                <a:path w="9525" h="952500">
                  <a:moveTo>
                    <a:pt x="0" y="0"/>
                  </a:moveTo>
                  <a:lnTo>
                    <a:pt x="0" y="952500"/>
                  </a:lnTo>
                </a:path>
              </a:pathLst>
            </a:custGeom>
            <a:noFill/>
            <a:ln w="6668" cap="rnd">
              <a:solidFill>
                <a:schemeClr val="accent4"/>
              </a:solidFill>
            </a:ln>
          </p:spPr>
        </p:sp>
        <p:sp>
          <p:nvSpPr>
            <p:cNvPr id="60" name="Line 60"/>
            <p:cNvSpPr/>
            <p:nvPr/>
          </p:nvSpPr>
          <p:spPr>
            <a:xfrm>
              <a:off x="4514850" y="4305300"/>
              <a:ext cx="952500" cy="9525"/>
            </a:xfrm>
            <a:custGeom>
              <a:avLst/>
              <a:gdLst/>
              <a:ahLst/>
              <a:cxnLst/>
              <a:rect l="l" t="t" r="r" b="b"/>
              <a:pathLst>
                <a:path w="952500" h="9525">
                  <a:moveTo>
                    <a:pt x="0" y="0"/>
                  </a:moveTo>
                  <a:lnTo>
                    <a:pt x="952500" y="0"/>
                  </a:lnTo>
                </a:path>
              </a:pathLst>
            </a:custGeom>
            <a:noFill/>
            <a:ln w="6668" cap="rnd">
              <a:solidFill>
                <a:schemeClr val="accent4"/>
              </a:solidFill>
            </a:ln>
          </p:spPr>
        </p:sp>
        <p:sp>
          <p:nvSpPr>
            <p:cNvPr id="61" name="Line 61"/>
            <p:cNvSpPr/>
            <p:nvPr/>
          </p:nvSpPr>
          <p:spPr>
            <a:xfrm>
              <a:off x="5467350" y="3352800"/>
              <a:ext cx="9525" cy="952500"/>
            </a:xfrm>
            <a:custGeom>
              <a:avLst/>
              <a:gdLst/>
              <a:ahLst/>
              <a:cxnLst/>
              <a:rect l="l" t="t" r="r" b="b"/>
              <a:pathLst>
                <a:path w="9525" h="952500">
                  <a:moveTo>
                    <a:pt x="0" y="0"/>
                  </a:moveTo>
                  <a:lnTo>
                    <a:pt x="0" y="952500"/>
                  </a:lnTo>
                </a:path>
              </a:pathLst>
            </a:custGeom>
            <a:noFill/>
            <a:ln w="6668" cap="rnd">
              <a:solidFill>
                <a:schemeClr val="accent4"/>
              </a:solidFill>
            </a:ln>
          </p:spPr>
        </p:sp>
        <p:sp>
          <p:nvSpPr>
            <p:cNvPr id="62" name="Polygon 62"/>
            <p:cNvSpPr/>
            <p:nvPr/>
          </p:nvSpPr>
          <p:spPr>
            <a:xfrm>
              <a:off x="4552950" y="4152900"/>
              <a:ext cx="114300" cy="104775"/>
            </a:xfrm>
            <a:custGeom>
              <a:avLst/>
              <a:gdLst/>
              <a:ahLst/>
              <a:cxnLst/>
              <a:rect l="l" t="t" r="r" b="b"/>
              <a:pathLst>
                <a:path w="114300" h="104775">
                  <a:moveTo>
                    <a:pt x="0" y="104775"/>
                  </a:moveTo>
                  <a:lnTo>
                    <a:pt x="114300" y="104775"/>
                  </a:lnTo>
                  <a:lnTo>
                    <a:pt x="57150" y="0"/>
                  </a:lnTo>
                  <a:close/>
                </a:path>
              </a:pathLst>
            </a:custGeom>
            <a:solidFill>
              <a:schemeClr val="accent2"/>
            </a:solidFill>
            <a:ln>
              <a:noFill/>
            </a:ln>
          </p:spPr>
        </p:sp>
        <p:sp>
          <p:nvSpPr>
            <p:cNvPr id="63" name="Ellipse 63"/>
            <p:cNvSpPr/>
            <p:nvPr/>
          </p:nvSpPr>
          <p:spPr>
            <a:xfrm>
              <a:off x="4953000" y="3952875"/>
              <a:ext cx="76200" cy="76200"/>
            </a:xfrm>
            <a:prstGeom prst="ellipse">
              <a:avLst/>
            </a:prstGeom>
            <a:noFill/>
            <a:ln w="15240">
              <a:solidFill>
                <a:srgbClr val="F4C24C"/>
              </a:solidFill>
            </a:ln>
          </p:spPr>
        </p:sp>
        <p:sp>
          <p:nvSpPr>
            <p:cNvPr id="64" name="Line 64"/>
            <p:cNvSpPr/>
            <p:nvPr/>
          </p:nvSpPr>
          <p:spPr>
            <a:xfrm>
              <a:off x="4991100" y="4019550"/>
              <a:ext cx="9525" cy="57150"/>
            </a:xfrm>
            <a:custGeom>
              <a:avLst/>
              <a:gdLst/>
              <a:ahLst/>
              <a:cxnLst/>
              <a:rect l="l" t="t" r="r" b="b"/>
              <a:pathLst>
                <a:path w="9525" h="57150">
                  <a:moveTo>
                    <a:pt x="0" y="0"/>
                  </a:moveTo>
                  <a:lnTo>
                    <a:pt x="0" y="57150"/>
                  </a:lnTo>
                </a:path>
              </a:pathLst>
            </a:custGeom>
            <a:noFill/>
            <a:ln w="15240" cap="rnd">
              <a:solidFill>
                <a:srgbClr val="F4C24C"/>
              </a:solidFill>
            </a:ln>
          </p:spPr>
        </p:sp>
        <p:sp>
          <p:nvSpPr>
            <p:cNvPr id="65" name="Rectangle 65"/>
            <p:cNvSpPr/>
            <p:nvPr/>
          </p:nvSpPr>
          <p:spPr>
            <a:xfrm>
              <a:off x="5086350" y="3352800"/>
              <a:ext cx="53340" cy="952500"/>
            </a:xfrm>
            <a:prstGeom prst="rect">
              <a:avLst/>
            </a:prstGeom>
            <a:solidFill>
              <a:schemeClr val="accent4"/>
            </a:solidFill>
            <a:ln>
              <a:noFill/>
            </a:ln>
          </p:spPr>
        </p:sp>
        <p:sp>
          <p:nvSpPr>
            <p:cNvPr id="66" name="Rectangle 66"/>
            <p:cNvSpPr/>
            <p:nvPr/>
          </p:nvSpPr>
          <p:spPr>
            <a:xfrm>
              <a:off x="5076825" y="3733800"/>
              <a:ext cx="95250" cy="190500"/>
            </a:xfrm>
            <a:prstGeom prst="roundRect">
              <a:avLst>
                <a:gd name="adj" fmla="val 20000"/>
              </a:avLst>
            </a:prstGeom>
            <a:solidFill>
              <a:srgbClr val="F2685C"/>
            </a:solidFill>
            <a:ln>
              <a:noFill/>
            </a:ln>
          </p:spPr>
        </p:sp>
        <p:sp>
          <p:nvSpPr>
            <p:cNvPr id="67" name="Rectangle 67"/>
            <p:cNvSpPr/>
            <p:nvPr/>
          </p:nvSpPr>
          <p:spPr>
            <a:xfrm>
              <a:off x="5314950" y="3390900"/>
              <a:ext cx="114300" cy="114300"/>
            </a:xfrm>
            <a:prstGeom prst="roundRect">
              <a:avLst>
                <a:gd name="adj" fmla="val 16667"/>
              </a:avLst>
            </a:prstGeom>
            <a:solidFill>
              <a:srgbClr val="46C98B"/>
            </a:solidFill>
            <a:ln>
              <a:noFill/>
            </a:ln>
          </p:spPr>
        </p:sp>
      </p:grpSp>
      <p:grpSp>
        <p:nvGrpSpPr>
          <p:cNvPr id="75" name="Group 75"/>
          <p:cNvGrpSpPr/>
          <p:nvPr/>
        </p:nvGrpSpPr>
        <p:grpSpPr>
          <a:xfrm>
            <a:off x="6248400" y="3181350"/>
            <a:ext cx="5334000" cy="1181100"/>
            <a:chOff x="6248400" y="3181350"/>
            <a:chExt cx="5334000" cy="1181100"/>
          </a:xfrm>
        </p:grpSpPr>
        <p:sp>
          <p:nvSpPr>
            <p:cNvPr id="69" name="Rectangle 69"/>
            <p:cNvSpPr/>
            <p:nvPr/>
          </p:nvSpPr>
          <p:spPr>
            <a:xfrm>
              <a:off x="6248400" y="3181350"/>
              <a:ext cx="5334000" cy="1181100"/>
            </a:xfrm>
            <a:prstGeom prst="roundRect">
              <a:avLst>
                <a:gd name="adj" fmla="val 11290"/>
              </a:avLst>
            </a:prstGeom>
            <a:solidFill>
              <a:srgbClr val="2A2417"/>
            </a:solidFill>
            <a:ln w="14288">
              <a:solidFill>
                <a:srgbClr val="F4C24C"/>
              </a:solidFill>
            </a:ln>
          </p:spPr>
        </p:sp>
        <p:sp>
          <p:nvSpPr>
            <p:cNvPr id="70" name="Rectangle 70"/>
            <p:cNvSpPr/>
            <p:nvPr/>
          </p:nvSpPr>
          <p:spPr>
            <a:xfrm>
              <a:off x="6248400" y="3181350"/>
              <a:ext cx="57150" cy="1181100"/>
            </a:xfrm>
            <a:prstGeom prst="roundRect">
              <a:avLst>
                <a:gd name="adj" fmla="val 50000"/>
              </a:avLst>
            </a:prstGeom>
            <a:solidFill>
              <a:srgbClr val="F4C24C"/>
            </a:solidFill>
            <a:ln>
              <a:noFill/>
            </a:ln>
          </p:spPr>
        </p:sp>
        <p:sp>
          <p:nvSpPr>
            <p:cNvPr id="71" name="TextBox 71"/>
            <p:cNvSpPr txBox="1"/>
            <p:nvPr/>
          </p:nvSpPr>
          <p:spPr>
            <a:xfrm>
              <a:off x="6509194" y="3398758"/>
              <a:ext cx="2575267"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Same sub-optimal knowledge set</a:t>
              </a:r>
            </a:p>
          </p:txBody>
        </p:sp>
        <p:sp>
          <p:nvSpPr>
            <p:cNvPr id="72" name="TextBox 72"/>
            <p:cNvSpPr txBox="1"/>
            <p:nvPr/>
          </p:nvSpPr>
          <p:spPr>
            <a:xfrm>
              <a:off x="6509956" y="3681651"/>
              <a:ext cx="363186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Every method starts from the same if-else programs,</a:t>
              </a:r>
            </a:p>
          </p:txBody>
        </p:sp>
        <p:sp>
          <p:nvSpPr>
            <p:cNvPr id="73" name="TextBox 73"/>
            <p:cNvSpPr txBox="1"/>
            <p:nvPr/>
          </p:nvSpPr>
          <p:spPr>
            <a:xfrm>
              <a:off x="6509956" y="3872151"/>
              <a:ext cx="396690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deliberately sub-optimal and unable to complete any task on</a:t>
              </a:r>
            </a:p>
          </p:txBody>
        </p:sp>
        <p:sp>
          <p:nvSpPr>
            <p:cNvPr id="74" name="TextBox 74"/>
            <p:cNvSpPr txBox="1"/>
            <p:nvPr/>
          </p:nvSpPr>
          <p:spPr>
            <a:xfrm>
              <a:off x="6509956" y="4062651"/>
              <a:ext cx="71731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their own.</a:t>
              </a:r>
            </a:p>
          </p:txBody>
        </p:sp>
      </p:grpSp>
      <p:grpSp>
        <p:nvGrpSpPr>
          <p:cNvPr id="89" name="Group 89"/>
          <p:cNvGrpSpPr/>
          <p:nvPr/>
        </p:nvGrpSpPr>
        <p:grpSpPr>
          <a:xfrm>
            <a:off x="609600" y="4514850"/>
            <a:ext cx="10972800" cy="723900"/>
            <a:chOff x="609600" y="4514850"/>
            <a:chExt cx="10972800" cy="723900"/>
          </a:xfrm>
        </p:grpSpPr>
        <p:sp>
          <p:nvSpPr>
            <p:cNvPr id="76" name="Rectangle 76"/>
            <p:cNvSpPr/>
            <p:nvPr/>
          </p:nvSpPr>
          <p:spPr>
            <a:xfrm>
              <a:off x="609600" y="4514850"/>
              <a:ext cx="10972800" cy="723900"/>
            </a:xfrm>
            <a:prstGeom prst="roundRect">
              <a:avLst>
                <a:gd name="adj" fmla="val 18421"/>
              </a:avLst>
            </a:prstGeom>
            <a:solidFill>
              <a:srgbClr val="0F2E2B"/>
            </a:solidFill>
            <a:ln w="14288">
              <a:solidFill>
                <a:srgbClr val="46C98B"/>
              </a:solidFill>
            </a:ln>
          </p:spPr>
        </p:sp>
        <p:sp>
          <p:nvSpPr>
            <p:cNvPr id="77" name="Rectangle 77"/>
            <p:cNvSpPr/>
            <p:nvPr/>
          </p:nvSpPr>
          <p:spPr>
            <a:xfrm>
              <a:off x="609600" y="4514850"/>
              <a:ext cx="57150" cy="723900"/>
            </a:xfrm>
            <a:prstGeom prst="roundRect">
              <a:avLst>
                <a:gd name="adj" fmla="val 50000"/>
              </a:avLst>
            </a:prstGeom>
            <a:solidFill>
              <a:srgbClr val="46C98B"/>
            </a:solidFill>
            <a:ln>
              <a:noFill/>
            </a:ln>
          </p:spPr>
        </p:sp>
        <p:sp>
          <p:nvSpPr>
            <p:cNvPr id="78" name="TextBox 78"/>
            <p:cNvSpPr txBox="1"/>
            <p:nvPr/>
          </p:nvSpPr>
          <p:spPr>
            <a:xfrm>
              <a:off x="870394" y="4694158"/>
              <a:ext cx="1566460"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A rigorous protocol</a:t>
              </a:r>
            </a:p>
          </p:txBody>
        </p:sp>
        <p:sp>
          <p:nvSpPr>
            <p:cNvPr id="79" name="Rectangle 79"/>
            <p:cNvSpPr/>
            <p:nvPr/>
          </p:nvSpPr>
          <p:spPr>
            <a:xfrm>
              <a:off x="5334000" y="4591050"/>
              <a:ext cx="1600200" cy="571500"/>
            </a:xfrm>
            <a:prstGeom prst="roundRect">
              <a:avLst>
                <a:gd name="adj" fmla="val 20000"/>
              </a:avLst>
            </a:prstGeom>
            <a:solidFill>
              <a:schemeClr val="accent6"/>
            </a:solidFill>
            <a:ln w="14288">
              <a:solidFill>
                <a:schemeClr val="accent4"/>
              </a:solidFill>
            </a:ln>
          </p:spPr>
        </p:sp>
        <p:sp>
          <p:nvSpPr>
            <p:cNvPr id="80" name="TextBox 80"/>
            <p:cNvSpPr txBox="1"/>
            <p:nvPr/>
          </p:nvSpPr>
          <p:spPr>
            <a:xfrm>
              <a:off x="6066854" y="4723067"/>
              <a:ext cx="134492" cy="299237"/>
            </a:xfrm>
            <a:prstGeom prst="rect">
              <a:avLst/>
            </a:prstGeom>
            <a:noFill/>
            <a:ln>
              <a:noFill/>
            </a:ln>
          </p:spPr>
          <p:txBody>
            <a:bodyPr wrap="none" lIns="0" tIns="0" rIns="0" bIns="0" anchor="t" anchorCtr="0">
              <a:spAutoFit/>
            </a:bodyPr>
            <a:lstStyle/>
            <a:p>
              <a:pPr algn="ctr"/>
              <a:r>
                <a:rPr lang="en-US" sz="1530" b="1" dirty="0">
                  <a:solidFill>
                    <a:schemeClr val="accent2"/>
                  </a:solidFill>
                  <a:latin typeface="+mn-lt"/>
                  <a:ea typeface="+mn-ea"/>
                  <a:cs typeface="+mn-cs"/>
                </a:rPr>
                <a:t>2</a:t>
              </a:r>
            </a:p>
          </p:txBody>
        </p:sp>
        <p:sp>
          <p:nvSpPr>
            <p:cNvPr id="81" name="TextBox 81"/>
            <p:cNvSpPr txBox="1"/>
            <p:nvPr/>
          </p:nvSpPr>
          <p:spPr>
            <a:xfrm>
              <a:off x="5564640" y="4947047"/>
              <a:ext cx="113891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benchmark suites</a:t>
              </a:r>
            </a:p>
          </p:txBody>
        </p:sp>
        <p:sp>
          <p:nvSpPr>
            <p:cNvPr id="82" name="Rectangle 82"/>
            <p:cNvSpPr/>
            <p:nvPr/>
          </p:nvSpPr>
          <p:spPr>
            <a:xfrm>
              <a:off x="7067550" y="4591050"/>
              <a:ext cx="1600200" cy="571500"/>
            </a:xfrm>
            <a:prstGeom prst="roundRect">
              <a:avLst>
                <a:gd name="adj" fmla="val 20000"/>
              </a:avLst>
            </a:prstGeom>
            <a:solidFill>
              <a:schemeClr val="accent6"/>
            </a:solidFill>
            <a:ln w="14288">
              <a:solidFill>
                <a:schemeClr val="accent4"/>
              </a:solidFill>
            </a:ln>
          </p:spPr>
        </p:sp>
        <p:sp>
          <p:nvSpPr>
            <p:cNvPr id="83" name="TextBox 83"/>
            <p:cNvSpPr txBox="1"/>
            <p:nvPr/>
          </p:nvSpPr>
          <p:spPr>
            <a:xfrm>
              <a:off x="7740931" y="4723067"/>
              <a:ext cx="253439" cy="299237"/>
            </a:xfrm>
            <a:prstGeom prst="rect">
              <a:avLst/>
            </a:prstGeom>
            <a:noFill/>
            <a:ln>
              <a:noFill/>
            </a:ln>
          </p:spPr>
          <p:txBody>
            <a:bodyPr wrap="none" lIns="0" tIns="0" rIns="0" bIns="0" anchor="t" anchorCtr="0">
              <a:spAutoFit/>
            </a:bodyPr>
            <a:lstStyle/>
            <a:p>
              <a:pPr algn="ctr"/>
              <a:r>
                <a:rPr lang="en-US" sz="1530" b="1" dirty="0">
                  <a:solidFill>
                    <a:srgbClr val="33D6C0"/>
                  </a:solidFill>
                  <a:latin typeface="+mn-lt"/>
                  <a:ea typeface="+mn-ea"/>
                  <a:cs typeface="+mn-cs"/>
                </a:rPr>
                <a:t>10</a:t>
              </a:r>
            </a:p>
          </p:txBody>
        </p:sp>
        <p:sp>
          <p:nvSpPr>
            <p:cNvPr id="84" name="TextBox 84"/>
            <p:cNvSpPr txBox="1"/>
            <p:nvPr/>
          </p:nvSpPr>
          <p:spPr>
            <a:xfrm>
              <a:off x="7427738" y="4947047"/>
              <a:ext cx="87982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random seeds</a:t>
              </a:r>
            </a:p>
          </p:txBody>
        </p:sp>
        <p:sp>
          <p:nvSpPr>
            <p:cNvPr id="85" name="Rectangle 85"/>
            <p:cNvSpPr/>
            <p:nvPr/>
          </p:nvSpPr>
          <p:spPr>
            <a:xfrm>
              <a:off x="8801100" y="4591050"/>
              <a:ext cx="1600200" cy="571500"/>
            </a:xfrm>
            <a:prstGeom prst="roundRect">
              <a:avLst>
                <a:gd name="adj" fmla="val 20000"/>
              </a:avLst>
            </a:prstGeom>
            <a:solidFill>
              <a:schemeClr val="accent6"/>
            </a:solidFill>
            <a:ln w="14288">
              <a:solidFill>
                <a:schemeClr val="accent4"/>
              </a:solidFill>
            </a:ln>
          </p:spPr>
        </p:sp>
        <p:sp>
          <p:nvSpPr>
            <p:cNvPr id="86" name="TextBox 86"/>
            <p:cNvSpPr txBox="1"/>
            <p:nvPr/>
          </p:nvSpPr>
          <p:spPr>
            <a:xfrm>
              <a:off x="9393381" y="4723067"/>
              <a:ext cx="415639" cy="299237"/>
            </a:xfrm>
            <a:prstGeom prst="rect">
              <a:avLst/>
            </a:prstGeom>
            <a:noFill/>
            <a:ln>
              <a:noFill/>
            </a:ln>
          </p:spPr>
          <p:txBody>
            <a:bodyPr wrap="none" lIns="0" tIns="0" rIns="0" bIns="0" anchor="t" anchorCtr="0">
              <a:spAutoFit/>
            </a:bodyPr>
            <a:lstStyle/>
            <a:p>
              <a:pPr algn="ctr"/>
              <a:r>
                <a:rPr lang="en-US" sz="1530" b="1" dirty="0">
                  <a:solidFill>
                    <a:srgbClr val="F4C24C"/>
                  </a:solidFill>
                  <a:latin typeface="+mn-lt"/>
                  <a:ea typeface="+mn-ea"/>
                  <a:cs typeface="+mn-cs"/>
                </a:rPr>
                <a:t>95%</a:t>
              </a:r>
            </a:p>
          </p:txBody>
        </p:sp>
        <p:sp>
          <p:nvSpPr>
            <p:cNvPr id="87" name="TextBox 87"/>
            <p:cNvSpPr txBox="1"/>
            <p:nvPr/>
          </p:nvSpPr>
          <p:spPr>
            <a:xfrm>
              <a:off x="9098175" y="4947047"/>
              <a:ext cx="100605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conf. intervals</a:t>
              </a:r>
            </a:p>
          </p:txBody>
        </p:sp>
        <p:sp>
          <p:nvSpPr>
            <p:cNvPr id="88" name="TextBox 88"/>
            <p:cNvSpPr txBox="1"/>
            <p:nvPr/>
          </p:nvSpPr>
          <p:spPr>
            <a:xfrm>
              <a:off x="871538" y="4966097"/>
              <a:ext cx="2766576"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learning curves averaged with error bands</a:t>
              </a:r>
            </a:p>
          </p:txBody>
        </p:sp>
      </p:grpSp>
      <p:sp>
        <p:nvSpPr>
          <p:cNvPr id="90" name="cue_s06_c1_experiments_span_two_families_enviro" title="cue_s06_c1_experiments_span_two_families_enviro" descr="cue_s06_c1_experiments_span_two_families_enviro The experiments span two families of environments. MiniGrid provides discrete-action grid-world tasks of increasing difficulty, from empty rooms to door-key puzzles, dynamic obstacles, lava crossings, multi-room mazes, and key corridors."/>
          <p:cNvSpPr/>
          <p:nvPr/>
        </p:nvSpPr>
        <p:spPr>
          <a:xfrm>
            <a:off x="609600" y="1504645"/>
            <a:ext cx="10972800"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ue_s06_c2_openai_robotics_provides_continuous" title="cue_s06_c2_openai_robotics_provides_continuous" descr="cue_s06_c2_openai_robotics_provides_continuous OpenAI-Robotics provides continuous-control manipulation tasks such as Push, Slide, Pick-and-Place, and Reach."/>
          <p:cNvSpPr/>
          <p:nvPr/>
        </p:nvSpPr>
        <p:spPr>
          <a:xfrm>
            <a:off x="609600" y="3181426"/>
            <a:ext cx="53340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ue_s06_c3_crucially_every_method_starts_same" title="cue_s06_c3_crucially_every_method_starts_same" descr="cue_s06_c3_crucially_every_method_starts_same Crucially, every method starts from the same initial knowledge set built from simple if-else programs that are deliberately sub-optimal and cannot complete any task on their own."/>
          <p:cNvSpPr/>
          <p:nvPr/>
        </p:nvSpPr>
        <p:spPr>
          <a:xfrm>
            <a:off x="6248399" y="3181426"/>
            <a:ext cx="53340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ue_s06_c4_experiment_repeated_ten_random_seeds" title="cue_s06_c4_experiment_repeated_ten_random_seeds" descr="cue_s06_c4_experiment_repeated_ten_random_seeds Each experiment is repeated with ten random seeds, and the reported learning curves show ninety-five percent confidence intervals."/>
          <p:cNvSpPr/>
          <p:nvPr/>
        </p:nvSpPr>
        <p:spPr>
          <a:xfrm>
            <a:off x="609600" y="4514621"/>
            <a:ext cx="10972800"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21967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only method that works everywhere</a:t>
            </a:r>
          </a:p>
        </p:txBody>
      </p:sp>
      <p:grpSp>
        <p:nvGrpSpPr>
          <p:cNvPr id="21" name="Group 21"/>
          <p:cNvGrpSpPr/>
          <p:nvPr/>
        </p:nvGrpSpPr>
        <p:grpSpPr>
          <a:xfrm>
            <a:off x="609600" y="1504950"/>
            <a:ext cx="10972800" cy="1543050"/>
            <a:chOff x="609600" y="1504950"/>
            <a:chExt cx="10972800" cy="1543050"/>
          </a:xfrm>
        </p:grpSpPr>
        <p:sp>
          <p:nvSpPr>
            <p:cNvPr id="5" name="Rectangle 5"/>
            <p:cNvSpPr/>
            <p:nvPr/>
          </p:nvSpPr>
          <p:spPr>
            <a:xfrm>
              <a:off x="609600" y="1504950"/>
              <a:ext cx="10972800" cy="1543050"/>
            </a:xfrm>
            <a:prstGeom prst="roundRect">
              <a:avLst>
                <a:gd name="adj" fmla="val 8642"/>
              </a:avLst>
            </a:prstGeom>
            <a:solidFill>
              <a:srgbClr val="0F2E2B"/>
            </a:solidFill>
            <a:ln w="14288">
              <a:solidFill>
                <a:srgbClr val="46C98B"/>
              </a:solidFill>
            </a:ln>
          </p:spPr>
        </p:sp>
        <p:sp>
          <p:nvSpPr>
            <p:cNvPr id="6" name="Rectangle 6"/>
            <p:cNvSpPr/>
            <p:nvPr/>
          </p:nvSpPr>
          <p:spPr>
            <a:xfrm>
              <a:off x="609600" y="1504950"/>
              <a:ext cx="57150" cy="1543050"/>
            </a:xfrm>
            <a:prstGeom prst="roundRect">
              <a:avLst>
                <a:gd name="adj" fmla="val 50000"/>
              </a:avLst>
            </a:prstGeom>
            <a:solidFill>
              <a:srgbClr val="46C98B"/>
            </a:solidFill>
            <a:ln>
              <a:noFill/>
            </a:ln>
          </p:spPr>
        </p:sp>
        <p:sp>
          <p:nvSpPr>
            <p:cNvPr id="7" name="TextBox 7"/>
            <p:cNvSpPr txBox="1"/>
            <p:nvPr/>
          </p:nvSpPr>
          <p:spPr>
            <a:xfrm>
              <a:off x="870014" y="1733312"/>
              <a:ext cx="3041230" cy="242030"/>
            </a:xfrm>
            <a:prstGeom prst="rect">
              <a:avLst/>
            </a:prstGeom>
            <a:noFill/>
            <a:ln>
              <a:noFill/>
            </a:ln>
          </p:spPr>
          <p:txBody>
            <a:bodyPr wrap="none" lIns="0" tIns="0" rIns="0" bIns="0" anchor="t" anchorCtr="0">
              <a:spAutoFit/>
            </a:bodyPr>
            <a:lstStyle/>
            <a:p>
              <a:pPr algn="l"/>
              <a:r>
                <a:rPr lang="en-US" sz="1240" b="1" dirty="0">
                  <a:solidFill>
                    <a:srgbClr val="46C98B"/>
                  </a:solidFill>
                  <a:latin typeface="+mn-lt"/>
                  <a:ea typeface="+mn-ea"/>
                  <a:cs typeface="+mn-cs"/>
                </a:rPr>
                <a:t>KIAN succeeds in every environment</a:t>
              </a:r>
            </a:p>
          </p:txBody>
        </p:sp>
        <p:sp>
          <p:nvSpPr>
            <p:cNvPr id="8" name="Rectangle 8"/>
            <p:cNvSpPr/>
            <p:nvPr/>
          </p:nvSpPr>
          <p:spPr>
            <a:xfrm>
              <a:off x="876300" y="2038350"/>
              <a:ext cx="4476750" cy="838200"/>
            </a:xfrm>
            <a:prstGeom prst="roundRect">
              <a:avLst>
                <a:gd name="adj" fmla="val 13636"/>
              </a:avLst>
            </a:prstGeom>
            <a:solidFill>
              <a:schemeClr val="accent6"/>
            </a:solidFill>
            <a:ln w="14288">
              <a:solidFill>
                <a:schemeClr val="accent4"/>
              </a:solidFill>
            </a:ln>
          </p:spPr>
        </p:sp>
        <p:sp>
          <p:nvSpPr>
            <p:cNvPr id="9" name="TextBox 9"/>
            <p:cNvSpPr txBox="1"/>
            <p:nvPr/>
          </p:nvSpPr>
          <p:spPr>
            <a:xfrm>
              <a:off x="1061847" y="2218849"/>
              <a:ext cx="341001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From sub-optimal knowledge, KIAN is the only method</a:t>
              </a:r>
            </a:p>
          </p:txBody>
        </p:sp>
        <p:sp>
          <p:nvSpPr>
            <p:cNvPr id="10" name="TextBox 10"/>
            <p:cNvSpPr txBox="1"/>
            <p:nvPr/>
          </p:nvSpPr>
          <p:spPr>
            <a:xfrm>
              <a:off x="1061847" y="2409349"/>
              <a:ext cx="232523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to succeed across all tasks, and its</a:t>
              </a:r>
            </a:p>
          </p:txBody>
        </p:sp>
        <p:sp>
          <p:nvSpPr>
            <p:cNvPr id="11" name="TextBox 11"/>
            <p:cNvSpPr txBox="1"/>
            <p:nvPr/>
          </p:nvSpPr>
          <p:spPr>
            <a:xfrm>
              <a:off x="1061847" y="2599849"/>
              <a:ext cx="328830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sample-efficiency lead grows as tasks get harder.</a:t>
              </a:r>
            </a:p>
          </p:txBody>
        </p:sp>
        <p:sp>
          <p:nvSpPr>
            <p:cNvPr id="12" name="Rectangle 12"/>
            <p:cNvSpPr/>
            <p:nvPr/>
          </p:nvSpPr>
          <p:spPr>
            <a:xfrm>
              <a:off x="5562600" y="2038350"/>
              <a:ext cx="6019800" cy="857250"/>
            </a:xfrm>
            <a:prstGeom prst="roundRect">
              <a:avLst>
                <a:gd name="adj" fmla="val 8889"/>
              </a:avLst>
            </a:prstGeom>
            <a:solidFill>
              <a:srgbClr val="0E223A"/>
            </a:solidFill>
            <a:ln w="14288">
              <a:solidFill>
                <a:schemeClr val="accent4"/>
              </a:solidFill>
            </a:ln>
          </p:spPr>
        </p:sp>
        <p:sp>
          <p:nvSpPr>
            <p:cNvPr id="13" name="Line 13"/>
            <p:cNvSpPr/>
            <p:nvPr/>
          </p:nvSpPr>
          <p:spPr>
            <a:xfrm>
              <a:off x="5886450" y="2667000"/>
              <a:ext cx="5562600" cy="9525"/>
            </a:xfrm>
            <a:custGeom>
              <a:avLst/>
              <a:gdLst/>
              <a:ahLst/>
              <a:cxnLst/>
              <a:rect l="l" t="t" r="r" b="b"/>
              <a:pathLst>
                <a:path w="5562600" h="9525">
                  <a:moveTo>
                    <a:pt x="0" y="0"/>
                  </a:moveTo>
                  <a:lnTo>
                    <a:pt x="5562600" y="0"/>
                  </a:lnTo>
                </a:path>
              </a:pathLst>
            </a:custGeom>
            <a:noFill/>
            <a:ln w="11430" cap="rnd">
              <a:solidFill>
                <a:schemeClr val="accent4"/>
              </a:solidFill>
            </a:ln>
          </p:spPr>
        </p:sp>
        <p:sp>
          <p:nvSpPr>
            <p:cNvPr id="14" name="Line 14"/>
            <p:cNvSpPr/>
            <p:nvPr/>
          </p:nvSpPr>
          <p:spPr>
            <a:xfrm>
              <a:off x="5886450" y="2190750"/>
              <a:ext cx="9525" cy="476250"/>
            </a:xfrm>
            <a:custGeom>
              <a:avLst/>
              <a:gdLst/>
              <a:ahLst/>
              <a:cxnLst/>
              <a:rect l="l" t="t" r="r" b="b"/>
              <a:pathLst>
                <a:path w="9525" h="476250">
                  <a:moveTo>
                    <a:pt x="0" y="476250"/>
                  </a:moveTo>
                  <a:lnTo>
                    <a:pt x="0" y="0"/>
                  </a:lnTo>
                </a:path>
              </a:pathLst>
            </a:custGeom>
            <a:noFill/>
            <a:ln w="11430" cap="rnd">
              <a:solidFill>
                <a:schemeClr val="accent4"/>
              </a:solidFill>
            </a:ln>
          </p:spPr>
        </p:sp>
        <p:sp>
          <p:nvSpPr>
            <p:cNvPr id="15" name="Polyline 15"/>
            <p:cNvSpPr/>
            <p:nvPr/>
          </p:nvSpPr>
          <p:spPr>
            <a:xfrm>
              <a:off x="5886450" y="2442556"/>
              <a:ext cx="5562600" cy="224444"/>
            </a:xfrm>
            <a:custGeom>
              <a:avLst/>
              <a:gdLst/>
              <a:ahLst/>
              <a:cxnLst/>
              <a:rect l="l" t="t" r="r" b="b"/>
              <a:pathLst>
                <a:path w="5562600" h="224444">
                  <a:moveTo>
                    <a:pt x="0" y="224444"/>
                  </a:moveTo>
                  <a:lnTo>
                    <a:pt x="278130" y="198152"/>
                  </a:lnTo>
                  <a:lnTo>
                    <a:pt x="556260" y="174598"/>
                  </a:lnTo>
                  <a:lnTo>
                    <a:pt x="834390" y="153497"/>
                  </a:lnTo>
                  <a:lnTo>
                    <a:pt x="1112520" y="134595"/>
                  </a:lnTo>
                  <a:lnTo>
                    <a:pt x="1390650" y="117661"/>
                  </a:lnTo>
                  <a:lnTo>
                    <a:pt x="1668780" y="102492"/>
                  </a:lnTo>
                  <a:lnTo>
                    <a:pt x="1946910" y="88902"/>
                  </a:lnTo>
                  <a:lnTo>
                    <a:pt x="2225040" y="76728"/>
                  </a:lnTo>
                  <a:lnTo>
                    <a:pt x="2503170" y="65822"/>
                  </a:lnTo>
                  <a:lnTo>
                    <a:pt x="2781300" y="56053"/>
                  </a:lnTo>
                  <a:lnTo>
                    <a:pt x="3059430" y="47301"/>
                  </a:lnTo>
                  <a:lnTo>
                    <a:pt x="3337560" y="39460"/>
                  </a:lnTo>
                  <a:lnTo>
                    <a:pt x="3615690" y="32436"/>
                  </a:lnTo>
                  <a:lnTo>
                    <a:pt x="3893820" y="26144"/>
                  </a:lnTo>
                  <a:lnTo>
                    <a:pt x="4171950" y="20508"/>
                  </a:lnTo>
                  <a:lnTo>
                    <a:pt x="4450080" y="15458"/>
                  </a:lnTo>
                  <a:lnTo>
                    <a:pt x="4728210" y="10935"/>
                  </a:lnTo>
                  <a:lnTo>
                    <a:pt x="5006340" y="6882"/>
                  </a:lnTo>
                  <a:lnTo>
                    <a:pt x="5284470" y="3252"/>
                  </a:lnTo>
                  <a:lnTo>
                    <a:pt x="5562600" y="0"/>
                  </a:lnTo>
                </a:path>
              </a:pathLst>
            </a:custGeom>
            <a:noFill/>
            <a:ln w="22860" cap="rnd">
              <a:solidFill>
                <a:schemeClr val="dk2"/>
              </a:solidFill>
              <a:custDash>
                <a:ds d="250000" sp="208333"/>
              </a:custDash>
              <a:round/>
            </a:ln>
          </p:spPr>
        </p:sp>
        <p:sp>
          <p:nvSpPr>
            <p:cNvPr id="16" name="Polyline 16"/>
            <p:cNvSpPr/>
            <p:nvPr/>
          </p:nvSpPr>
          <p:spPr>
            <a:xfrm>
              <a:off x="5886450" y="2229008"/>
              <a:ext cx="5562600" cy="437992"/>
            </a:xfrm>
            <a:custGeom>
              <a:avLst/>
              <a:gdLst/>
              <a:ahLst/>
              <a:cxnLst/>
              <a:rect l="l" t="t" r="r" b="b"/>
              <a:pathLst>
                <a:path w="5562600" h="437992">
                  <a:moveTo>
                    <a:pt x="0" y="437992"/>
                  </a:moveTo>
                  <a:lnTo>
                    <a:pt x="278130" y="348753"/>
                  </a:lnTo>
                  <a:lnTo>
                    <a:pt x="556260" y="277493"/>
                  </a:lnTo>
                  <a:lnTo>
                    <a:pt x="834390" y="220591"/>
                  </a:lnTo>
                  <a:lnTo>
                    <a:pt x="1112520" y="175154"/>
                  </a:lnTo>
                  <a:lnTo>
                    <a:pt x="1390650" y="138872"/>
                  </a:lnTo>
                  <a:lnTo>
                    <a:pt x="1668780" y="109900"/>
                  </a:lnTo>
                  <a:lnTo>
                    <a:pt x="1946910" y="86766"/>
                  </a:lnTo>
                  <a:lnTo>
                    <a:pt x="2225040" y="68293"/>
                  </a:lnTo>
                  <a:lnTo>
                    <a:pt x="2503170" y="53541"/>
                  </a:lnTo>
                  <a:lnTo>
                    <a:pt x="2781300" y="41762"/>
                  </a:lnTo>
                  <a:lnTo>
                    <a:pt x="3059430" y="32357"/>
                  </a:lnTo>
                  <a:lnTo>
                    <a:pt x="3337560" y="24846"/>
                  </a:lnTo>
                  <a:lnTo>
                    <a:pt x="3615690" y="18848"/>
                  </a:lnTo>
                  <a:lnTo>
                    <a:pt x="3893820" y="14059"/>
                  </a:lnTo>
                  <a:lnTo>
                    <a:pt x="4171950" y="10235"/>
                  </a:lnTo>
                  <a:lnTo>
                    <a:pt x="4450080" y="7182"/>
                  </a:lnTo>
                  <a:lnTo>
                    <a:pt x="4728210" y="4743"/>
                  </a:lnTo>
                  <a:lnTo>
                    <a:pt x="5006340" y="2796"/>
                  </a:lnTo>
                  <a:lnTo>
                    <a:pt x="5284470" y="1242"/>
                  </a:lnTo>
                  <a:lnTo>
                    <a:pt x="5562600" y="0"/>
                  </a:lnTo>
                </a:path>
              </a:pathLst>
            </a:custGeom>
            <a:noFill/>
            <a:ln w="26670" cap="rnd">
              <a:solidFill>
                <a:srgbClr val="33D6C0"/>
              </a:solidFill>
              <a:round/>
            </a:ln>
          </p:spPr>
        </p:sp>
        <p:sp>
          <p:nvSpPr>
            <p:cNvPr id="17" name="TextBox 17"/>
            <p:cNvSpPr txBox="1"/>
            <p:nvPr/>
          </p:nvSpPr>
          <p:spPr>
            <a:xfrm>
              <a:off x="10919241" y="2081927"/>
              <a:ext cx="534572" cy="154781"/>
            </a:xfrm>
            <a:prstGeom prst="rect">
              <a:avLst/>
            </a:prstGeom>
            <a:noFill/>
            <a:ln>
              <a:noFill/>
            </a:ln>
          </p:spPr>
          <p:txBody>
            <a:bodyPr wrap="none" lIns="0" tIns="0" rIns="0" bIns="0" anchor="t" anchorCtr="0">
              <a:spAutoFit/>
            </a:bodyPr>
            <a:lstStyle/>
            <a:p>
              <a:pPr algn="r"/>
              <a:r>
                <a:rPr lang="en-US" sz="790" b="1" dirty="0">
                  <a:solidFill>
                    <a:srgbClr val="33D6C0"/>
                  </a:solidFill>
                  <a:latin typeface="+mn-lt"/>
                  <a:ea typeface="+mn-ea"/>
                  <a:cs typeface="+mn-cs"/>
                </a:rPr>
                <a:t>KIAN 0.93</a:t>
              </a:r>
            </a:p>
          </p:txBody>
        </p:sp>
        <p:sp>
          <p:nvSpPr>
            <p:cNvPr id="18" name="TextBox 18"/>
            <p:cNvSpPr txBox="1"/>
            <p:nvPr/>
          </p:nvSpPr>
          <p:spPr>
            <a:xfrm>
              <a:off x="10500770" y="2486025"/>
              <a:ext cx="953043" cy="147638"/>
            </a:xfrm>
            <a:prstGeom prst="rect">
              <a:avLst/>
            </a:prstGeom>
            <a:noFill/>
            <a:ln>
              <a:noFill/>
            </a:ln>
          </p:spPr>
          <p:txBody>
            <a:bodyPr wrap="none" lIns="0" tIns="0" rIns="0" bIns="0" anchor="t" anchorCtr="0">
              <a:spAutoFit/>
            </a:bodyPr>
            <a:lstStyle/>
            <a:p>
              <a:pPr algn="r"/>
              <a:r>
                <a:rPr lang="en-US" sz="750" b="1" dirty="0">
                  <a:solidFill>
                    <a:schemeClr val="dk2"/>
                  </a:solidFill>
                  <a:latin typeface="+mn-lt"/>
                  <a:ea typeface="+mn-ea"/>
                  <a:cs typeface="+mn-cs"/>
                </a:rPr>
                <a:t>best baseline 0.53</a:t>
              </a:r>
            </a:p>
          </p:txBody>
        </p:sp>
        <p:sp>
          <p:nvSpPr>
            <p:cNvPr id="19" name="TextBox 19"/>
            <p:cNvSpPr txBox="1"/>
            <p:nvPr/>
          </p:nvSpPr>
          <p:spPr>
            <a:xfrm>
              <a:off x="5492330" y="2132886"/>
              <a:ext cx="360782"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reward</a:t>
              </a:r>
            </a:p>
          </p:txBody>
        </p:sp>
        <p:sp>
          <p:nvSpPr>
            <p:cNvPr id="20" name="TextBox 20"/>
            <p:cNvSpPr txBox="1"/>
            <p:nvPr/>
          </p:nvSpPr>
          <p:spPr>
            <a:xfrm>
              <a:off x="10922420" y="2732961"/>
              <a:ext cx="531393"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samples -&gt;</a:t>
              </a:r>
            </a:p>
          </p:txBody>
        </p:sp>
      </p:grpSp>
      <p:grpSp>
        <p:nvGrpSpPr>
          <p:cNvPr id="31" name="Group 31"/>
          <p:cNvGrpSpPr/>
          <p:nvPr/>
        </p:nvGrpSpPr>
        <p:grpSpPr>
          <a:xfrm>
            <a:off x="609600" y="3200400"/>
            <a:ext cx="3505200" cy="2038350"/>
            <a:chOff x="609600" y="3200400"/>
            <a:chExt cx="3505200" cy="2038350"/>
          </a:xfrm>
        </p:grpSpPr>
        <p:sp>
          <p:nvSpPr>
            <p:cNvPr id="22" name="Rectangle 22"/>
            <p:cNvSpPr/>
            <p:nvPr/>
          </p:nvSpPr>
          <p:spPr>
            <a:xfrm>
              <a:off x="609600" y="3200400"/>
              <a:ext cx="3505200" cy="2038350"/>
            </a:xfrm>
            <a:prstGeom prst="roundRect">
              <a:avLst>
                <a:gd name="adj" fmla="val 6542"/>
              </a:avLst>
            </a:prstGeom>
            <a:solidFill>
              <a:schemeClr val="accent5"/>
            </a:solidFill>
            <a:ln w="14288">
              <a:solidFill>
                <a:schemeClr val="accent4"/>
              </a:solidFill>
            </a:ln>
          </p:spPr>
        </p:sp>
        <p:sp>
          <p:nvSpPr>
            <p:cNvPr id="23" name="Rectangle 23"/>
            <p:cNvSpPr/>
            <p:nvPr/>
          </p:nvSpPr>
          <p:spPr>
            <a:xfrm>
              <a:off x="609600" y="3200400"/>
              <a:ext cx="57150" cy="2038350"/>
            </a:xfrm>
            <a:prstGeom prst="roundRect">
              <a:avLst>
                <a:gd name="adj" fmla="val 50000"/>
              </a:avLst>
            </a:prstGeom>
            <a:solidFill>
              <a:srgbClr val="33D6C0"/>
            </a:solidFill>
            <a:ln>
              <a:noFill/>
            </a:ln>
          </p:spPr>
        </p:sp>
        <p:sp>
          <p:nvSpPr>
            <p:cNvPr id="24" name="TextBox 24"/>
            <p:cNvSpPr txBox="1"/>
            <p:nvPr/>
          </p:nvSpPr>
          <p:spPr>
            <a:xfrm>
              <a:off x="870204" y="3413760"/>
              <a:ext cx="2078922" cy="234696"/>
            </a:xfrm>
            <a:prstGeom prst="rect">
              <a:avLst/>
            </a:prstGeom>
            <a:noFill/>
            <a:ln>
              <a:noFill/>
            </a:ln>
          </p:spPr>
          <p:txBody>
            <a:bodyPr wrap="none" lIns="0" tIns="0" rIns="0" bIns="0" anchor="t" anchorCtr="0">
              <a:spAutoFit/>
            </a:bodyPr>
            <a:lstStyle/>
            <a:p>
              <a:pPr algn="l"/>
              <a:r>
                <a:rPr lang="en-US" sz="1200" b="1" dirty="0">
                  <a:solidFill>
                    <a:srgbClr val="33D6C0"/>
                  </a:solidFill>
                  <a:latin typeface="+mn-lt"/>
                  <a:ea typeface="+mn-ea"/>
                  <a:cs typeface="+mn-cs"/>
                </a:rPr>
                <a:t>Best zero-shot transfer</a:t>
              </a:r>
            </a:p>
          </p:txBody>
        </p:sp>
        <p:sp>
          <p:nvSpPr>
            <p:cNvPr id="25" name="TextBox 25"/>
            <p:cNvSpPr txBox="1"/>
            <p:nvPr/>
          </p:nvSpPr>
          <p:spPr>
            <a:xfrm>
              <a:off x="871156" y="3700701"/>
              <a:ext cx="27201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Train on one task, test on another: KIAN</a:t>
              </a:r>
            </a:p>
          </p:txBody>
        </p:sp>
        <p:sp>
          <p:nvSpPr>
            <p:cNvPr id="26" name="TextBox 26"/>
            <p:cNvSpPr txBox="1"/>
            <p:nvPr/>
          </p:nvSpPr>
          <p:spPr>
            <a:xfrm>
              <a:off x="871156" y="3891201"/>
              <a:ext cx="253925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beats all baselines in most transfers,</a:t>
              </a:r>
            </a:p>
          </p:txBody>
        </p:sp>
        <p:sp>
          <p:nvSpPr>
            <p:cNvPr id="27" name="TextBox 27"/>
            <p:cNvSpPr txBox="1"/>
            <p:nvPr/>
          </p:nvSpPr>
          <p:spPr>
            <a:xfrm>
              <a:off x="871156" y="4081701"/>
              <a:ext cx="22265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with noticeably smaller variance.</a:t>
              </a:r>
            </a:p>
          </p:txBody>
        </p:sp>
        <p:sp>
          <p:nvSpPr>
            <p:cNvPr id="28" name="Rectangle 28"/>
            <p:cNvSpPr/>
            <p:nvPr/>
          </p:nvSpPr>
          <p:spPr>
            <a:xfrm>
              <a:off x="876300" y="4781550"/>
              <a:ext cx="2971800" cy="304800"/>
            </a:xfrm>
            <a:prstGeom prst="roundRect">
              <a:avLst>
                <a:gd name="adj" fmla="val 25000"/>
              </a:avLst>
            </a:prstGeom>
            <a:solidFill>
              <a:schemeClr val="accent6"/>
            </a:solidFill>
            <a:ln w="14288">
              <a:solidFill>
                <a:schemeClr val="accent4"/>
              </a:solidFill>
            </a:ln>
          </p:spPr>
        </p:sp>
        <p:sp>
          <p:nvSpPr>
            <p:cNvPr id="29" name="Ellipse 29"/>
            <p:cNvSpPr/>
            <p:nvPr/>
          </p:nvSpPr>
          <p:spPr>
            <a:xfrm>
              <a:off x="1000125" y="4886325"/>
              <a:ext cx="95250" cy="95250"/>
            </a:xfrm>
            <a:prstGeom prst="ellipse">
              <a:avLst/>
            </a:prstGeom>
            <a:solidFill>
              <a:srgbClr val="33D6C0"/>
            </a:solidFill>
            <a:ln>
              <a:noFill/>
            </a:ln>
          </p:spPr>
        </p:sp>
        <p:sp>
          <p:nvSpPr>
            <p:cNvPr id="30" name="TextBox 30"/>
            <p:cNvSpPr txBox="1"/>
            <p:nvPr/>
          </p:nvSpPr>
          <p:spPr>
            <a:xfrm>
              <a:off x="1194626" y="4873704"/>
              <a:ext cx="247621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outperforms all · lower variance</a:t>
              </a:r>
            </a:p>
          </p:txBody>
        </p:sp>
      </p:grpSp>
      <p:grpSp>
        <p:nvGrpSpPr>
          <p:cNvPr id="45" name="Group 45"/>
          <p:cNvGrpSpPr/>
          <p:nvPr/>
        </p:nvGrpSpPr>
        <p:grpSpPr>
          <a:xfrm>
            <a:off x="4343400" y="3200400"/>
            <a:ext cx="3505200" cy="2038350"/>
            <a:chOff x="4343400" y="3200400"/>
            <a:chExt cx="3505200" cy="2038350"/>
          </a:xfrm>
        </p:grpSpPr>
        <p:sp>
          <p:nvSpPr>
            <p:cNvPr id="32" name="Rectangle 32"/>
            <p:cNvSpPr/>
            <p:nvPr/>
          </p:nvSpPr>
          <p:spPr>
            <a:xfrm>
              <a:off x="4343400" y="3200400"/>
              <a:ext cx="3505200" cy="2038350"/>
            </a:xfrm>
            <a:prstGeom prst="roundRect">
              <a:avLst>
                <a:gd name="adj" fmla="val 6542"/>
              </a:avLst>
            </a:prstGeom>
            <a:solidFill>
              <a:schemeClr val="accent5"/>
            </a:solidFill>
            <a:ln w="14288">
              <a:solidFill>
                <a:schemeClr val="accent4"/>
              </a:solidFill>
            </a:ln>
          </p:spPr>
        </p:sp>
        <p:sp>
          <p:nvSpPr>
            <p:cNvPr id="33" name="Rectangle 33"/>
            <p:cNvSpPr/>
            <p:nvPr/>
          </p:nvSpPr>
          <p:spPr>
            <a:xfrm>
              <a:off x="4343400" y="3200400"/>
              <a:ext cx="57150" cy="2038350"/>
            </a:xfrm>
            <a:prstGeom prst="roundRect">
              <a:avLst>
                <a:gd name="adj" fmla="val 50000"/>
              </a:avLst>
            </a:prstGeom>
            <a:solidFill>
              <a:schemeClr val="accent2"/>
            </a:solidFill>
            <a:ln>
              <a:noFill/>
            </a:ln>
          </p:spPr>
        </p:sp>
        <p:sp>
          <p:nvSpPr>
            <p:cNvPr id="34" name="TextBox 34"/>
            <p:cNvSpPr txBox="1"/>
            <p:nvPr/>
          </p:nvSpPr>
          <p:spPr>
            <a:xfrm>
              <a:off x="4604385" y="3421856"/>
              <a:ext cx="2454760"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Hardest simple-to-complex grid</a:t>
              </a:r>
            </a:p>
          </p:txBody>
        </p:sp>
        <p:sp>
          <p:nvSpPr>
            <p:cNvPr id="35" name="TextBox 35"/>
            <p:cNvSpPr txBox="1"/>
            <p:nvPr/>
          </p:nvSpPr>
          <p:spPr>
            <a:xfrm>
              <a:off x="4604956" y="3700701"/>
              <a:ext cx="281464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 the toughest transfer, KIAN reaches a</a:t>
              </a:r>
            </a:p>
          </p:txBody>
        </p:sp>
        <p:sp>
          <p:nvSpPr>
            <p:cNvPr id="36" name="TextBox 36"/>
            <p:cNvSpPr txBox="1"/>
            <p:nvPr/>
          </p:nvSpPr>
          <p:spPr>
            <a:xfrm>
              <a:off x="4604956" y="3891201"/>
              <a:ext cx="251886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reward near 0.93 while the strongest</a:t>
              </a:r>
            </a:p>
          </p:txBody>
        </p:sp>
        <p:sp>
          <p:nvSpPr>
            <p:cNvPr id="37" name="TextBox 37"/>
            <p:cNvSpPr txBox="1"/>
            <p:nvPr/>
          </p:nvSpPr>
          <p:spPr>
            <a:xfrm>
              <a:off x="4604956" y="4081701"/>
              <a:ext cx="18662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baseline stalls around 0.53.</a:t>
              </a:r>
            </a:p>
          </p:txBody>
        </p:sp>
        <p:sp>
          <p:nvSpPr>
            <p:cNvPr id="38" name="Rectangle 38"/>
            <p:cNvSpPr/>
            <p:nvPr/>
          </p:nvSpPr>
          <p:spPr>
            <a:xfrm>
              <a:off x="4610100" y="4305300"/>
              <a:ext cx="2971800" cy="800100"/>
            </a:xfrm>
            <a:prstGeom prst="roundRect">
              <a:avLst>
                <a:gd name="adj" fmla="val 11905"/>
              </a:avLst>
            </a:prstGeom>
            <a:solidFill>
              <a:schemeClr val="accent6"/>
            </a:solidFill>
            <a:ln w="14288">
              <a:solidFill>
                <a:schemeClr val="accent4"/>
              </a:solidFill>
            </a:ln>
          </p:spPr>
        </p:sp>
        <p:sp>
          <p:nvSpPr>
            <p:cNvPr id="39" name="Rectangle 39"/>
            <p:cNvSpPr/>
            <p:nvPr/>
          </p:nvSpPr>
          <p:spPr>
            <a:xfrm>
              <a:off x="5105400" y="4611052"/>
              <a:ext cx="685800" cy="265748"/>
            </a:xfrm>
            <a:prstGeom prst="roundRect">
              <a:avLst>
                <a:gd name="adj" fmla="val 17921"/>
              </a:avLst>
            </a:prstGeom>
            <a:solidFill>
              <a:srgbClr val="46C98B"/>
            </a:solidFill>
            <a:ln>
              <a:noFill/>
            </a:ln>
          </p:spPr>
        </p:sp>
        <p:sp>
          <p:nvSpPr>
            <p:cNvPr id="40" name="TextBox 40"/>
            <p:cNvSpPr txBox="1"/>
            <p:nvPr/>
          </p:nvSpPr>
          <p:spPr>
            <a:xfrm>
              <a:off x="5279706" y="4421505"/>
              <a:ext cx="337189" cy="205359"/>
            </a:xfrm>
            <a:prstGeom prst="rect">
              <a:avLst/>
            </a:prstGeom>
            <a:noFill/>
            <a:ln>
              <a:noFill/>
            </a:ln>
          </p:spPr>
          <p:txBody>
            <a:bodyPr wrap="none" lIns="0" tIns="0" rIns="0" bIns="0" anchor="t" anchorCtr="0">
              <a:spAutoFit/>
            </a:bodyPr>
            <a:lstStyle/>
            <a:p>
              <a:pPr algn="ctr"/>
              <a:r>
                <a:rPr lang="en-US" sz="1050" b="1" dirty="0">
                  <a:solidFill>
                    <a:srgbClr val="46C98B"/>
                  </a:solidFill>
                  <a:latin typeface="+mn-lt"/>
                  <a:ea typeface="+mn-ea"/>
                  <a:cs typeface="+mn-cs"/>
                </a:rPr>
                <a:t>0.93</a:t>
              </a:r>
            </a:p>
          </p:txBody>
        </p:sp>
        <p:sp>
          <p:nvSpPr>
            <p:cNvPr id="41" name="TextBox 41"/>
            <p:cNvSpPr txBox="1"/>
            <p:nvPr/>
          </p:nvSpPr>
          <p:spPr>
            <a:xfrm>
              <a:off x="5324131" y="4940141"/>
              <a:ext cx="248339"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KIAN</a:t>
              </a:r>
            </a:p>
          </p:txBody>
        </p:sp>
        <p:sp>
          <p:nvSpPr>
            <p:cNvPr id="42" name="Rectangle 42"/>
            <p:cNvSpPr/>
            <p:nvPr/>
          </p:nvSpPr>
          <p:spPr>
            <a:xfrm>
              <a:off x="6400800" y="4725352"/>
              <a:ext cx="685800" cy="151448"/>
            </a:xfrm>
            <a:prstGeom prst="roundRect">
              <a:avLst>
                <a:gd name="adj" fmla="val 31447"/>
              </a:avLst>
            </a:prstGeom>
            <a:solidFill>
              <a:schemeClr val="dk2"/>
            </a:solidFill>
            <a:ln>
              <a:noFill/>
            </a:ln>
          </p:spPr>
        </p:sp>
        <p:sp>
          <p:nvSpPr>
            <p:cNvPr id="43" name="TextBox 43"/>
            <p:cNvSpPr txBox="1"/>
            <p:nvPr/>
          </p:nvSpPr>
          <p:spPr>
            <a:xfrm>
              <a:off x="6575106" y="4535805"/>
              <a:ext cx="337189"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0.53</a:t>
              </a:r>
            </a:p>
          </p:txBody>
        </p:sp>
        <p:sp>
          <p:nvSpPr>
            <p:cNvPr id="44" name="TextBox 44"/>
            <p:cNvSpPr txBox="1"/>
            <p:nvPr/>
          </p:nvSpPr>
          <p:spPr>
            <a:xfrm>
              <a:off x="6512917" y="4940141"/>
              <a:ext cx="461565"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baseline</a:t>
              </a:r>
            </a:p>
          </p:txBody>
        </p:sp>
      </p:grpSp>
      <p:grpSp>
        <p:nvGrpSpPr>
          <p:cNvPr id="56" name="Group 56"/>
          <p:cNvGrpSpPr/>
          <p:nvPr/>
        </p:nvGrpSpPr>
        <p:grpSpPr>
          <a:xfrm>
            <a:off x="8077200" y="3200400"/>
            <a:ext cx="3542948" cy="2038350"/>
            <a:chOff x="8077200" y="3200400"/>
            <a:chExt cx="3542948" cy="2038350"/>
          </a:xfrm>
        </p:grpSpPr>
        <p:sp>
          <p:nvSpPr>
            <p:cNvPr id="46" name="Rectangle 46"/>
            <p:cNvSpPr/>
            <p:nvPr/>
          </p:nvSpPr>
          <p:spPr>
            <a:xfrm>
              <a:off x="8077200" y="3200400"/>
              <a:ext cx="3505200" cy="2038350"/>
            </a:xfrm>
            <a:prstGeom prst="roundRect">
              <a:avLst>
                <a:gd name="adj" fmla="val 6542"/>
              </a:avLst>
            </a:prstGeom>
            <a:solidFill>
              <a:srgbClr val="2A2417"/>
            </a:solidFill>
            <a:ln w="14288">
              <a:solidFill>
                <a:srgbClr val="F4C24C"/>
              </a:solidFill>
            </a:ln>
          </p:spPr>
        </p:sp>
        <p:sp>
          <p:nvSpPr>
            <p:cNvPr id="47" name="Rectangle 47"/>
            <p:cNvSpPr/>
            <p:nvPr/>
          </p:nvSpPr>
          <p:spPr>
            <a:xfrm>
              <a:off x="8077200" y="3200400"/>
              <a:ext cx="57150" cy="2038350"/>
            </a:xfrm>
            <a:prstGeom prst="roundRect">
              <a:avLst>
                <a:gd name="adj" fmla="val 50000"/>
              </a:avLst>
            </a:prstGeom>
            <a:solidFill>
              <a:srgbClr val="F4C24C"/>
            </a:solidFill>
            <a:ln>
              <a:noFill/>
            </a:ln>
          </p:spPr>
        </p:sp>
        <p:sp>
          <p:nvSpPr>
            <p:cNvPr id="48" name="TextBox 48"/>
            <p:cNvSpPr txBox="1"/>
            <p:nvPr/>
          </p:nvSpPr>
          <p:spPr>
            <a:xfrm>
              <a:off x="8337994" y="3417808"/>
              <a:ext cx="2205935"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Continuous control holds up</a:t>
              </a:r>
            </a:p>
          </p:txBody>
        </p:sp>
        <p:sp>
          <p:nvSpPr>
            <p:cNvPr id="49" name="TextBox 49"/>
            <p:cNvSpPr txBox="1"/>
            <p:nvPr/>
          </p:nvSpPr>
          <p:spPr>
            <a:xfrm>
              <a:off x="8338756" y="3719751"/>
              <a:ext cx="278848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In continuous control, competing methods</a:t>
              </a:r>
            </a:p>
          </p:txBody>
        </p:sp>
        <p:sp>
          <p:nvSpPr>
            <p:cNvPr id="50" name="TextBox 50"/>
            <p:cNvSpPr txBox="1"/>
            <p:nvPr/>
          </p:nvSpPr>
          <p:spPr>
            <a:xfrm>
              <a:off x="8338756" y="3910251"/>
              <a:ext cx="220614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that ignore the exploration issue</a:t>
              </a:r>
            </a:p>
          </p:txBody>
        </p:sp>
        <p:sp>
          <p:nvSpPr>
            <p:cNvPr id="51" name="TextBox 51"/>
            <p:cNvSpPr txBox="1"/>
            <p:nvPr/>
          </p:nvSpPr>
          <p:spPr>
            <a:xfrm>
              <a:off x="8338756" y="4100751"/>
              <a:ext cx="251607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collapse, whereas KIAN keeps learning</a:t>
              </a:r>
            </a:p>
          </p:txBody>
        </p:sp>
        <p:sp>
          <p:nvSpPr>
            <p:cNvPr id="52" name="TextBox 52"/>
            <p:cNvSpPr txBox="1"/>
            <p:nvPr/>
          </p:nvSpPr>
          <p:spPr>
            <a:xfrm>
              <a:off x="8338756" y="4291251"/>
              <a:ext cx="80568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efficiently.</a:t>
              </a:r>
            </a:p>
          </p:txBody>
        </p:sp>
        <p:sp>
          <p:nvSpPr>
            <p:cNvPr id="53" name="Rectangle 53"/>
            <p:cNvSpPr/>
            <p:nvPr/>
          </p:nvSpPr>
          <p:spPr>
            <a:xfrm>
              <a:off x="8343900" y="4800600"/>
              <a:ext cx="3009900" cy="304800"/>
            </a:xfrm>
            <a:prstGeom prst="roundRect">
              <a:avLst>
                <a:gd name="adj" fmla="val 25000"/>
              </a:avLst>
            </a:prstGeom>
            <a:solidFill>
              <a:schemeClr val="accent6"/>
            </a:solidFill>
            <a:ln w="14288">
              <a:solidFill>
                <a:schemeClr val="accent4"/>
              </a:solidFill>
            </a:ln>
          </p:spPr>
        </p:sp>
        <p:sp>
          <p:nvSpPr>
            <p:cNvPr id="54" name="Ellipse 54"/>
            <p:cNvSpPr/>
            <p:nvPr/>
          </p:nvSpPr>
          <p:spPr>
            <a:xfrm>
              <a:off x="8467725" y="4905375"/>
              <a:ext cx="95250" cy="95250"/>
            </a:xfrm>
            <a:prstGeom prst="ellipse">
              <a:avLst/>
            </a:prstGeom>
            <a:solidFill>
              <a:srgbClr val="F4C24C"/>
            </a:solidFill>
            <a:ln>
              <a:noFill/>
            </a:ln>
          </p:spPr>
        </p:sp>
        <p:sp>
          <p:nvSpPr>
            <p:cNvPr id="55" name="TextBox 55"/>
            <p:cNvSpPr txBox="1"/>
            <p:nvPr/>
          </p:nvSpPr>
          <p:spPr>
            <a:xfrm>
              <a:off x="8662226" y="4892754"/>
              <a:ext cx="295792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baselines collapse · KIAN keeps learning</a:t>
              </a:r>
            </a:p>
          </p:txBody>
        </p:sp>
      </p:grpSp>
      <p:sp>
        <p:nvSpPr>
          <p:cNvPr id="57" name="cue_s07_c1_across_both_benchmark_suites_kian" title="cue_s07_c1_across_both_benchmark_suites_kian" descr="cue_s07_c1_across_both_benchmark_suites_kian Across both benchmark suites, KIAN was the only method to succeed in every environment when starting from sub-optimal external knowledge, and its sample-efficiency advantage grew as tasks became more complex."/>
          <p:cNvSpPr/>
          <p:nvPr/>
        </p:nvSpPr>
        <p:spPr>
          <a:xfrm>
            <a:off x="609600" y="1504645"/>
            <a:ext cx="10972800"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7_c2_zero_shot_generalization_where_polic" title="cue_s07_c2_zero_shot_generalization_where_polic" descr="cue_s07_c2_zero_shot_generalization_where_polic In zero-shot generalization, where a policy trained on one task is tested on a different one, KIAN outperformed all baselines in most transfers and did so with noticeably smaller variance."/>
          <p:cNvSpPr/>
          <p:nvPr/>
        </p:nvSpPr>
        <p:spPr>
          <a:xfrm>
            <a:off x="609600" y="3200628"/>
            <a:ext cx="3505199"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7_c3_hardest_simple_to_complex_grid_task" title="cue_s07_c3_hardest_simple_to_complex_grid_task" descr="cue_s07_c3_hardest_simple_to_complex_grid_task On the hardest simple-to-complex grid task, KIAN reached a reward of about 0.93 while the strongest baseline stalled near 0.53."/>
          <p:cNvSpPr/>
          <p:nvPr/>
        </p:nvSpPr>
        <p:spPr>
          <a:xfrm>
            <a:off x="4344009" y="3200628"/>
            <a:ext cx="3505199"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7_c4_continuous_control_competing_methods" title="cue_s07_c4_continuous_control_competing_methods" descr="cue_s07_c4_continuous_control_competing_methods In continuous control, competing methods that ignore the exploration issue collapse, whereas KIAN keeps learning efficiently."/>
          <p:cNvSpPr/>
          <p:nvPr/>
        </p:nvSpPr>
        <p:spPr>
          <a:xfrm>
            <a:off x="8077200" y="3200628"/>
            <a:ext cx="3542995"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45602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entropy-imbalance fix matters</a:t>
            </a:r>
          </a:p>
        </p:txBody>
      </p:sp>
      <p:grpSp>
        <p:nvGrpSpPr>
          <p:cNvPr id="25" name="Group 25"/>
          <p:cNvGrpSpPr/>
          <p:nvPr/>
        </p:nvGrpSpPr>
        <p:grpSpPr>
          <a:xfrm>
            <a:off x="609600" y="1504950"/>
            <a:ext cx="5334000" cy="1943100"/>
            <a:chOff x="609600" y="1504950"/>
            <a:chExt cx="5334000" cy="1943100"/>
          </a:xfrm>
        </p:grpSpPr>
        <p:sp>
          <p:nvSpPr>
            <p:cNvPr id="5" name="Rectangle 5"/>
            <p:cNvSpPr/>
            <p:nvPr/>
          </p:nvSpPr>
          <p:spPr>
            <a:xfrm>
              <a:off x="609600" y="1504950"/>
              <a:ext cx="5334000" cy="1943100"/>
            </a:xfrm>
            <a:prstGeom prst="roundRect">
              <a:avLst>
                <a:gd name="adj" fmla="val 6863"/>
              </a:avLst>
            </a:prstGeom>
            <a:solidFill>
              <a:schemeClr val="accent5"/>
            </a:solidFill>
            <a:ln w="14288">
              <a:solidFill>
                <a:schemeClr val="accent4"/>
              </a:solidFill>
            </a:ln>
          </p:spPr>
        </p:sp>
        <p:sp>
          <p:nvSpPr>
            <p:cNvPr id="6" name="Rectangle 6"/>
            <p:cNvSpPr/>
            <p:nvPr/>
          </p:nvSpPr>
          <p:spPr>
            <a:xfrm>
              <a:off x="609600" y="1504950"/>
              <a:ext cx="57150" cy="1943100"/>
            </a:xfrm>
            <a:prstGeom prst="roundRect">
              <a:avLst>
                <a:gd name="adj" fmla="val 50000"/>
              </a:avLst>
            </a:prstGeom>
            <a:solidFill>
              <a:srgbClr val="F2685C"/>
            </a:solidFill>
            <a:ln>
              <a:noFill/>
            </a:ln>
          </p:spPr>
        </p:sp>
        <p:sp>
          <p:nvSpPr>
            <p:cNvPr id="7" name="TextBox 7"/>
            <p:cNvSpPr txBox="1"/>
            <p:nvPr/>
          </p:nvSpPr>
          <p:spPr>
            <a:xfrm>
              <a:off x="870204" y="1737360"/>
              <a:ext cx="2044154"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Original fusion collapses</a:t>
              </a:r>
            </a:p>
          </p:txBody>
        </p:sp>
        <p:sp>
          <p:nvSpPr>
            <p:cNvPr id="8" name="TextBox 8"/>
            <p:cNvSpPr txBox="1"/>
            <p:nvPr/>
          </p:nvSpPr>
          <p:spPr>
            <a:xfrm>
              <a:off x="871156" y="2024301"/>
              <a:ext cx="266604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With the original policy fusion, an agent</a:t>
              </a:r>
            </a:p>
          </p:txBody>
        </p:sp>
        <p:sp>
          <p:nvSpPr>
            <p:cNvPr id="9" name="TextBox 9"/>
            <p:cNvSpPr txBox="1"/>
            <p:nvPr/>
          </p:nvSpPr>
          <p:spPr>
            <a:xfrm>
              <a:off x="871156" y="2214801"/>
              <a:ext cx="29811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maximizing entropy for exploration collapses</a:t>
              </a:r>
            </a:p>
          </p:txBody>
        </p:sp>
        <p:sp>
          <p:nvSpPr>
            <p:cNvPr id="10" name="TextBox 10"/>
            <p:cNvSpPr txBox="1"/>
            <p:nvPr/>
          </p:nvSpPr>
          <p:spPr>
            <a:xfrm>
              <a:off x="871156" y="2405301"/>
              <a:ext cx="228772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onto a single policy and struggles.</a:t>
              </a:r>
            </a:p>
          </p:txBody>
        </p:sp>
        <p:sp>
          <p:nvSpPr>
            <p:cNvPr id="11" name="Rectangle 11"/>
            <p:cNvSpPr/>
            <p:nvPr/>
          </p:nvSpPr>
          <p:spPr>
            <a:xfrm>
              <a:off x="3429000" y="1962150"/>
              <a:ext cx="2324100" cy="1333500"/>
            </a:xfrm>
            <a:prstGeom prst="roundRect">
              <a:avLst>
                <a:gd name="adj" fmla="val 5714"/>
              </a:avLst>
            </a:prstGeom>
            <a:solidFill>
              <a:srgbClr val="0E223A"/>
            </a:solidFill>
            <a:ln w="14288">
              <a:solidFill>
                <a:schemeClr val="accent4"/>
              </a:solidFill>
            </a:ln>
          </p:spPr>
        </p:sp>
        <p:sp>
          <p:nvSpPr>
            <p:cNvPr id="12" name="TextBox 12"/>
            <p:cNvSpPr txBox="1"/>
            <p:nvPr/>
          </p:nvSpPr>
          <p:spPr>
            <a:xfrm>
              <a:off x="3557588" y="2059543"/>
              <a:ext cx="982020" cy="169069"/>
            </a:xfrm>
            <a:prstGeom prst="rect">
              <a:avLst/>
            </a:prstGeom>
            <a:noFill/>
            <a:ln>
              <a:noFill/>
            </a:ln>
          </p:spPr>
          <p:txBody>
            <a:bodyPr wrap="none" lIns="0" tIns="0" rIns="0" bIns="0" anchor="t" anchorCtr="0">
              <a:spAutoFit/>
            </a:bodyPr>
            <a:lstStyle/>
            <a:p>
              <a:pPr algn="l"/>
              <a:r>
                <a:rPr lang="en-US" sz="860" b="1" dirty="0">
                  <a:solidFill>
                    <a:srgbClr val="F2685C"/>
                  </a:solidFill>
                  <a:latin typeface="+mn-lt"/>
                  <a:ea typeface="+mn-ea"/>
                  <a:cs typeface="+mn-cs"/>
                </a:rPr>
                <a:t>weights collapse</a:t>
              </a:r>
            </a:p>
          </p:txBody>
        </p:sp>
        <p:sp>
          <p:nvSpPr>
            <p:cNvPr id="13" name="TextBox 13"/>
            <p:cNvSpPr txBox="1"/>
            <p:nvPr/>
          </p:nvSpPr>
          <p:spPr>
            <a:xfrm>
              <a:off x="3642908" y="2309812"/>
              <a:ext cx="248055" cy="147638"/>
            </a:xfrm>
            <a:prstGeom prst="rect">
              <a:avLst/>
            </a:prstGeom>
            <a:noFill/>
            <a:ln>
              <a:noFill/>
            </a:ln>
          </p:spPr>
          <p:txBody>
            <a:bodyPr wrap="none" lIns="0" tIns="0" rIns="0" bIns="0" anchor="t" anchorCtr="0">
              <a:spAutoFit/>
            </a:bodyPr>
            <a:lstStyle/>
            <a:p>
              <a:pPr algn="r"/>
              <a:r>
                <a:rPr lang="en-US" sz="750" b="1" dirty="0">
                  <a:solidFill>
                    <a:srgbClr val="33D6C0"/>
                  </a:solidFill>
                  <a:latin typeface="Consolas"/>
                  <a:ea typeface="Consolas"/>
                  <a:cs typeface="Consolas"/>
                </a:rPr>
                <a:t>pi_in</a:t>
              </a:r>
            </a:p>
          </p:txBody>
        </p:sp>
        <p:sp>
          <p:nvSpPr>
            <p:cNvPr id="14" name="Rectangle 14"/>
            <p:cNvSpPr/>
            <p:nvPr/>
          </p:nvSpPr>
          <p:spPr>
            <a:xfrm>
              <a:off x="3981450" y="2286000"/>
              <a:ext cx="1524000" cy="133350"/>
            </a:xfrm>
            <a:prstGeom prst="roundRect">
              <a:avLst>
                <a:gd name="adj" fmla="val 28571"/>
              </a:avLst>
            </a:prstGeom>
            <a:solidFill>
              <a:srgbClr val="0A1A2C"/>
            </a:solidFill>
            <a:ln w="7620">
              <a:solidFill>
                <a:schemeClr val="accent4"/>
              </a:solidFill>
            </a:ln>
          </p:spPr>
        </p:sp>
        <p:sp>
          <p:nvSpPr>
            <p:cNvPr id="15" name="Rectangle 15"/>
            <p:cNvSpPr/>
            <p:nvPr/>
          </p:nvSpPr>
          <p:spPr>
            <a:xfrm>
              <a:off x="3981450" y="2286000"/>
              <a:ext cx="1333500" cy="133350"/>
            </a:xfrm>
            <a:prstGeom prst="roundRect">
              <a:avLst>
                <a:gd name="adj" fmla="val 28571"/>
              </a:avLst>
            </a:prstGeom>
            <a:solidFill>
              <a:srgbClr val="33D6C0"/>
            </a:solidFill>
            <a:ln>
              <a:noFill/>
            </a:ln>
          </p:spPr>
        </p:sp>
        <p:sp>
          <p:nvSpPr>
            <p:cNvPr id="16" name="TextBox 16"/>
            <p:cNvSpPr txBox="1"/>
            <p:nvPr/>
          </p:nvSpPr>
          <p:spPr>
            <a:xfrm>
              <a:off x="5386388" y="2313861"/>
              <a:ext cx="230315" cy="140494"/>
            </a:xfrm>
            <a:prstGeom prst="rect">
              <a:avLst/>
            </a:prstGeom>
            <a:noFill/>
            <a:ln>
              <a:noFill/>
            </a:ln>
          </p:spPr>
          <p:txBody>
            <a:bodyPr wrap="none" lIns="0" tIns="0" rIns="0" bIns="0" anchor="t" anchorCtr="0">
              <a:spAutoFit/>
            </a:bodyPr>
            <a:lstStyle/>
            <a:p>
              <a:pPr algn="l"/>
              <a:r>
                <a:rPr lang="en-US" sz="710" b="1" dirty="0">
                  <a:solidFill>
                    <a:srgbClr val="33D6C0"/>
                  </a:solidFill>
                  <a:latin typeface="+mn-lt"/>
                  <a:ea typeface="+mn-ea"/>
                  <a:cs typeface="+mn-cs"/>
                </a:rPr>
                <a:t>0.88</a:t>
              </a:r>
            </a:p>
          </p:txBody>
        </p:sp>
        <p:sp>
          <p:nvSpPr>
            <p:cNvPr id="17" name="TextBox 17"/>
            <p:cNvSpPr txBox="1"/>
            <p:nvPr/>
          </p:nvSpPr>
          <p:spPr>
            <a:xfrm>
              <a:off x="3616404" y="2608262"/>
              <a:ext cx="274558" cy="147638"/>
            </a:xfrm>
            <a:prstGeom prst="rect">
              <a:avLst/>
            </a:prstGeom>
            <a:noFill/>
            <a:ln>
              <a:noFill/>
            </a:ln>
          </p:spPr>
          <p:txBody>
            <a:bodyPr wrap="none" lIns="0" tIns="0" rIns="0" bIns="0" anchor="t" anchorCtr="0">
              <a:spAutoFit/>
            </a:bodyPr>
            <a:lstStyle/>
            <a:p>
              <a:pPr algn="r"/>
              <a:r>
                <a:rPr lang="en-US" sz="750" b="1" dirty="0">
                  <a:solidFill>
                    <a:srgbClr val="F4C24C"/>
                  </a:solidFill>
                  <a:latin typeface="Consolas"/>
                  <a:ea typeface="Consolas"/>
                  <a:cs typeface="Consolas"/>
                </a:rPr>
                <a:t>pi_g1</a:t>
              </a:r>
            </a:p>
          </p:txBody>
        </p:sp>
        <p:sp>
          <p:nvSpPr>
            <p:cNvPr id="18" name="Rectangle 18"/>
            <p:cNvSpPr/>
            <p:nvPr/>
          </p:nvSpPr>
          <p:spPr>
            <a:xfrm>
              <a:off x="3981450" y="2584450"/>
              <a:ext cx="1524000" cy="133350"/>
            </a:xfrm>
            <a:prstGeom prst="roundRect">
              <a:avLst>
                <a:gd name="adj" fmla="val 28571"/>
              </a:avLst>
            </a:prstGeom>
            <a:solidFill>
              <a:srgbClr val="0A1A2C"/>
            </a:solidFill>
            <a:ln w="7620">
              <a:solidFill>
                <a:schemeClr val="accent4"/>
              </a:solidFill>
            </a:ln>
          </p:spPr>
        </p:sp>
        <p:sp>
          <p:nvSpPr>
            <p:cNvPr id="19" name="Rectangle 19"/>
            <p:cNvSpPr/>
            <p:nvPr/>
          </p:nvSpPr>
          <p:spPr>
            <a:xfrm>
              <a:off x="3981450" y="2584450"/>
              <a:ext cx="104775" cy="133350"/>
            </a:xfrm>
            <a:prstGeom prst="roundRect">
              <a:avLst>
                <a:gd name="adj" fmla="val 36364"/>
              </a:avLst>
            </a:prstGeom>
            <a:solidFill>
              <a:srgbClr val="F4C24C"/>
            </a:solidFill>
            <a:ln>
              <a:noFill/>
            </a:ln>
          </p:spPr>
        </p:sp>
        <p:sp>
          <p:nvSpPr>
            <p:cNvPr id="20" name="TextBox 20"/>
            <p:cNvSpPr txBox="1"/>
            <p:nvPr/>
          </p:nvSpPr>
          <p:spPr>
            <a:xfrm>
              <a:off x="4157662" y="2612311"/>
              <a:ext cx="230315" cy="140494"/>
            </a:xfrm>
            <a:prstGeom prst="rect">
              <a:avLst/>
            </a:prstGeom>
            <a:noFill/>
            <a:ln>
              <a:noFill/>
            </a:ln>
          </p:spPr>
          <p:txBody>
            <a:bodyPr wrap="none" lIns="0" tIns="0" rIns="0" bIns="0" anchor="t" anchorCtr="0">
              <a:spAutoFit/>
            </a:bodyPr>
            <a:lstStyle/>
            <a:p>
              <a:pPr algn="l"/>
              <a:r>
                <a:rPr lang="en-US" sz="710" b="1" dirty="0">
                  <a:solidFill>
                    <a:srgbClr val="F4C24C"/>
                  </a:solidFill>
                  <a:latin typeface="+mn-lt"/>
                  <a:ea typeface="+mn-ea"/>
                  <a:cs typeface="+mn-cs"/>
                </a:rPr>
                <a:t>0.07</a:t>
              </a:r>
            </a:p>
          </p:txBody>
        </p:sp>
        <p:sp>
          <p:nvSpPr>
            <p:cNvPr id="21" name="TextBox 21"/>
            <p:cNvSpPr txBox="1"/>
            <p:nvPr/>
          </p:nvSpPr>
          <p:spPr>
            <a:xfrm>
              <a:off x="3616404" y="2906712"/>
              <a:ext cx="274558" cy="147638"/>
            </a:xfrm>
            <a:prstGeom prst="rect">
              <a:avLst/>
            </a:prstGeom>
            <a:noFill/>
            <a:ln>
              <a:noFill/>
            </a:ln>
          </p:spPr>
          <p:txBody>
            <a:bodyPr wrap="none" lIns="0" tIns="0" rIns="0" bIns="0" anchor="t" anchorCtr="0">
              <a:spAutoFit/>
            </a:bodyPr>
            <a:lstStyle/>
            <a:p>
              <a:pPr algn="r"/>
              <a:r>
                <a:rPr lang="en-US" sz="750" b="1" dirty="0">
                  <a:solidFill>
                    <a:srgbClr val="F2685C"/>
                  </a:solidFill>
                  <a:latin typeface="Consolas"/>
                  <a:ea typeface="Consolas"/>
                  <a:cs typeface="Consolas"/>
                </a:rPr>
                <a:t>pi_g2</a:t>
              </a:r>
            </a:p>
          </p:txBody>
        </p:sp>
        <p:sp>
          <p:nvSpPr>
            <p:cNvPr id="22" name="Rectangle 22"/>
            <p:cNvSpPr/>
            <p:nvPr/>
          </p:nvSpPr>
          <p:spPr>
            <a:xfrm>
              <a:off x="3981450" y="2882900"/>
              <a:ext cx="1524000" cy="133350"/>
            </a:xfrm>
            <a:prstGeom prst="roundRect">
              <a:avLst>
                <a:gd name="adj" fmla="val 28571"/>
              </a:avLst>
            </a:prstGeom>
            <a:solidFill>
              <a:srgbClr val="0A1A2C"/>
            </a:solidFill>
            <a:ln w="7620">
              <a:solidFill>
                <a:schemeClr val="accent4"/>
              </a:solidFill>
            </a:ln>
          </p:spPr>
        </p:sp>
        <p:sp>
          <p:nvSpPr>
            <p:cNvPr id="23" name="Rectangle 23"/>
            <p:cNvSpPr/>
            <p:nvPr/>
          </p:nvSpPr>
          <p:spPr>
            <a:xfrm>
              <a:off x="3981450" y="2882900"/>
              <a:ext cx="76200" cy="133350"/>
            </a:xfrm>
            <a:prstGeom prst="roundRect">
              <a:avLst>
                <a:gd name="adj" fmla="val 50000"/>
              </a:avLst>
            </a:prstGeom>
            <a:solidFill>
              <a:srgbClr val="F2685C"/>
            </a:solidFill>
            <a:ln>
              <a:noFill/>
            </a:ln>
          </p:spPr>
        </p:sp>
        <p:sp>
          <p:nvSpPr>
            <p:cNvPr id="24" name="TextBox 24"/>
            <p:cNvSpPr txBox="1"/>
            <p:nvPr/>
          </p:nvSpPr>
          <p:spPr>
            <a:xfrm>
              <a:off x="4129088" y="2910761"/>
              <a:ext cx="230315" cy="140494"/>
            </a:xfrm>
            <a:prstGeom prst="rect">
              <a:avLst/>
            </a:prstGeom>
            <a:noFill/>
            <a:ln>
              <a:noFill/>
            </a:ln>
          </p:spPr>
          <p:txBody>
            <a:bodyPr wrap="none" lIns="0" tIns="0" rIns="0" bIns="0" anchor="t" anchorCtr="0">
              <a:spAutoFit/>
            </a:bodyPr>
            <a:lstStyle/>
            <a:p>
              <a:pPr algn="l"/>
              <a:r>
                <a:rPr lang="en-US" sz="710" b="1" dirty="0">
                  <a:solidFill>
                    <a:srgbClr val="F2685C"/>
                  </a:solidFill>
                  <a:latin typeface="+mn-lt"/>
                  <a:ea typeface="+mn-ea"/>
                  <a:cs typeface="+mn-cs"/>
                </a:rPr>
                <a:t>0.05</a:t>
              </a:r>
            </a:p>
          </p:txBody>
        </p:sp>
      </p:grpSp>
      <p:grpSp>
        <p:nvGrpSpPr>
          <p:cNvPr id="32" name="Group 32"/>
          <p:cNvGrpSpPr/>
          <p:nvPr/>
        </p:nvGrpSpPr>
        <p:grpSpPr>
          <a:xfrm>
            <a:off x="609600" y="3600450"/>
            <a:ext cx="5334000" cy="1638300"/>
            <a:chOff x="609600" y="3600450"/>
            <a:chExt cx="5334000" cy="1638300"/>
          </a:xfrm>
        </p:grpSpPr>
        <p:sp>
          <p:nvSpPr>
            <p:cNvPr id="26" name="Rectangle 26"/>
            <p:cNvSpPr/>
            <p:nvPr/>
          </p:nvSpPr>
          <p:spPr>
            <a:xfrm>
              <a:off x="609600" y="3600450"/>
              <a:ext cx="5334000" cy="1638300"/>
            </a:xfrm>
            <a:prstGeom prst="roundRect">
              <a:avLst>
                <a:gd name="adj" fmla="val 8140"/>
              </a:avLst>
            </a:prstGeom>
            <a:solidFill>
              <a:srgbClr val="2A2417"/>
            </a:solidFill>
            <a:ln w="14288">
              <a:solidFill>
                <a:srgbClr val="F4C24C"/>
              </a:solidFill>
            </a:ln>
          </p:spPr>
        </p:sp>
        <p:sp>
          <p:nvSpPr>
            <p:cNvPr id="27" name="Rectangle 27"/>
            <p:cNvSpPr/>
            <p:nvPr/>
          </p:nvSpPr>
          <p:spPr>
            <a:xfrm>
              <a:off x="609600" y="3600450"/>
              <a:ext cx="57150" cy="1638300"/>
            </a:xfrm>
            <a:prstGeom prst="roundRect">
              <a:avLst>
                <a:gd name="adj" fmla="val 50000"/>
              </a:avLst>
            </a:prstGeom>
            <a:solidFill>
              <a:srgbClr val="F4C24C"/>
            </a:solidFill>
            <a:ln>
              <a:noFill/>
            </a:ln>
          </p:spPr>
        </p:sp>
        <p:sp>
          <p:nvSpPr>
            <p:cNvPr id="28" name="TextBox 28"/>
            <p:cNvSpPr txBox="1"/>
            <p:nvPr/>
          </p:nvSpPr>
          <p:spPr>
            <a:xfrm>
              <a:off x="870585" y="3821906"/>
              <a:ext cx="2320319" cy="220028"/>
            </a:xfrm>
            <a:prstGeom prst="rect">
              <a:avLst/>
            </a:prstGeom>
            <a:noFill/>
            <a:ln>
              <a:noFill/>
            </a:ln>
          </p:spPr>
          <p:txBody>
            <a:bodyPr wrap="none" lIns="0" tIns="0" rIns="0" bIns="0" anchor="t" anchorCtr="0">
              <a:spAutoFit/>
            </a:bodyPr>
            <a:lstStyle/>
            <a:p>
              <a:pPr algn="l"/>
              <a:r>
                <a:rPr lang="en-US" sz="1120" b="1" dirty="0">
                  <a:solidFill>
                    <a:srgbClr val="F4C24C"/>
                  </a:solidFill>
                  <a:latin typeface="+mn-lt"/>
                  <a:ea typeface="+mn-ea"/>
                  <a:cs typeface="+mn-cs"/>
                </a:rPr>
                <a:t>Worst on the demanding tasks</a:t>
              </a:r>
            </a:p>
          </p:txBody>
        </p:sp>
        <p:sp>
          <p:nvSpPr>
            <p:cNvPr id="29" name="TextBox 29"/>
            <p:cNvSpPr txBox="1"/>
            <p:nvPr/>
          </p:nvSpPr>
          <p:spPr>
            <a:xfrm>
              <a:off x="871156" y="4100751"/>
              <a:ext cx="325755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The collapse bites hardest on dynamic obstacles,</a:t>
              </a:r>
            </a:p>
          </p:txBody>
        </p:sp>
        <p:sp>
          <p:nvSpPr>
            <p:cNvPr id="30" name="TextBox 30"/>
            <p:cNvSpPr txBox="1"/>
            <p:nvPr/>
          </p:nvSpPr>
          <p:spPr>
            <a:xfrm>
              <a:off x="871156" y="4291251"/>
              <a:ext cx="387172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multi-room mazes, and the robotic manipulation tasks like</a:t>
              </a:r>
            </a:p>
          </p:txBody>
        </p:sp>
        <p:sp>
          <p:nvSpPr>
            <p:cNvPr id="31" name="TextBox 31"/>
            <p:cNvSpPr txBox="1"/>
            <p:nvPr/>
          </p:nvSpPr>
          <p:spPr>
            <a:xfrm>
              <a:off x="871156" y="4481751"/>
              <a:ext cx="218568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Push, Slide, and Pick-and-Place.</a:t>
              </a:r>
            </a:p>
          </p:txBody>
        </p:sp>
      </p:grpSp>
      <p:grpSp>
        <p:nvGrpSpPr>
          <p:cNvPr id="54" name="Group 54"/>
          <p:cNvGrpSpPr/>
          <p:nvPr/>
        </p:nvGrpSpPr>
        <p:grpSpPr>
          <a:xfrm>
            <a:off x="6248400" y="1504950"/>
            <a:ext cx="5334000" cy="1943100"/>
            <a:chOff x="6248400" y="1504950"/>
            <a:chExt cx="5334000" cy="1943100"/>
          </a:xfrm>
        </p:grpSpPr>
        <p:sp>
          <p:nvSpPr>
            <p:cNvPr id="33" name="Rectangle 33"/>
            <p:cNvSpPr/>
            <p:nvPr/>
          </p:nvSpPr>
          <p:spPr>
            <a:xfrm>
              <a:off x="6248400" y="1504950"/>
              <a:ext cx="5334000" cy="1943100"/>
            </a:xfrm>
            <a:prstGeom prst="roundRect">
              <a:avLst>
                <a:gd name="adj" fmla="val 6863"/>
              </a:avLst>
            </a:prstGeom>
            <a:solidFill>
              <a:srgbClr val="0F2E2B"/>
            </a:solidFill>
            <a:ln w="14288">
              <a:solidFill>
                <a:srgbClr val="46C98B"/>
              </a:solidFill>
            </a:ln>
          </p:spPr>
        </p:sp>
        <p:sp>
          <p:nvSpPr>
            <p:cNvPr id="34" name="Rectangle 34"/>
            <p:cNvSpPr/>
            <p:nvPr/>
          </p:nvSpPr>
          <p:spPr>
            <a:xfrm>
              <a:off x="6248400" y="1504950"/>
              <a:ext cx="57150" cy="1943100"/>
            </a:xfrm>
            <a:prstGeom prst="roundRect">
              <a:avLst>
                <a:gd name="adj" fmla="val 50000"/>
              </a:avLst>
            </a:prstGeom>
            <a:solidFill>
              <a:srgbClr val="46C98B"/>
            </a:solidFill>
            <a:ln>
              <a:noFill/>
            </a:ln>
          </p:spPr>
        </p:sp>
        <p:sp>
          <p:nvSpPr>
            <p:cNvPr id="35" name="TextBox 35"/>
            <p:cNvSpPr txBox="1"/>
            <p:nvPr/>
          </p:nvSpPr>
          <p:spPr>
            <a:xfrm>
              <a:off x="6509004" y="1737360"/>
              <a:ext cx="2332562" cy="234696"/>
            </a:xfrm>
            <a:prstGeom prst="rect">
              <a:avLst/>
            </a:prstGeom>
            <a:noFill/>
            <a:ln>
              <a:noFill/>
            </a:ln>
          </p:spPr>
          <p:txBody>
            <a:bodyPr wrap="none" lIns="0" tIns="0" rIns="0" bIns="0" anchor="t" anchorCtr="0">
              <a:spAutoFit/>
            </a:bodyPr>
            <a:lstStyle/>
            <a:p>
              <a:pPr algn="l"/>
              <a:r>
                <a:rPr lang="en-US" sz="1200" b="1" dirty="0">
                  <a:solidFill>
                    <a:srgbClr val="46C98B"/>
                  </a:solidFill>
                  <a:latin typeface="+mn-lt"/>
                  <a:ea typeface="+mn-ea"/>
                  <a:cs typeface="+mn-cs"/>
                </a:rPr>
                <a:t>Modified distributions fix it</a:t>
              </a:r>
            </a:p>
          </p:txBody>
        </p:sp>
        <p:sp>
          <p:nvSpPr>
            <p:cNvPr id="36" name="TextBox 36"/>
            <p:cNvSpPr txBox="1"/>
            <p:nvPr/>
          </p:nvSpPr>
          <p:spPr>
            <a:xfrm>
              <a:off x="6509956" y="2024301"/>
              <a:ext cx="212202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Switching on the modified policy</a:t>
              </a:r>
            </a:p>
          </p:txBody>
        </p:sp>
        <p:sp>
          <p:nvSpPr>
            <p:cNvPr id="37" name="TextBox 37"/>
            <p:cNvSpPr txBox="1"/>
            <p:nvPr/>
          </p:nvSpPr>
          <p:spPr>
            <a:xfrm>
              <a:off x="6509956" y="2214801"/>
              <a:ext cx="216535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distributions restores efficient</a:t>
              </a:r>
            </a:p>
          </p:txBody>
        </p:sp>
        <p:sp>
          <p:nvSpPr>
            <p:cNvPr id="38" name="TextBox 38"/>
            <p:cNvSpPr txBox="1"/>
            <p:nvPr/>
          </p:nvSpPr>
          <p:spPr>
            <a:xfrm>
              <a:off x="6509956" y="2405301"/>
              <a:ext cx="215855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exploration and recovers strong</a:t>
              </a:r>
            </a:p>
          </p:txBody>
        </p:sp>
        <p:sp>
          <p:nvSpPr>
            <p:cNvPr id="39" name="TextBox 39"/>
            <p:cNvSpPr txBox="1"/>
            <p:nvPr/>
          </p:nvSpPr>
          <p:spPr>
            <a:xfrm>
              <a:off x="6509956" y="2595801"/>
              <a:ext cx="93485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performance.</a:t>
              </a:r>
            </a:p>
          </p:txBody>
        </p:sp>
        <p:sp>
          <p:nvSpPr>
            <p:cNvPr id="40" name="Rectangle 40"/>
            <p:cNvSpPr/>
            <p:nvPr/>
          </p:nvSpPr>
          <p:spPr>
            <a:xfrm>
              <a:off x="9258300" y="1962150"/>
              <a:ext cx="2209800" cy="1333500"/>
            </a:xfrm>
            <a:prstGeom prst="roundRect">
              <a:avLst>
                <a:gd name="adj" fmla="val 5714"/>
              </a:avLst>
            </a:prstGeom>
            <a:solidFill>
              <a:srgbClr val="0E223A"/>
            </a:solidFill>
            <a:ln w="14288">
              <a:solidFill>
                <a:schemeClr val="accent4"/>
              </a:solidFill>
            </a:ln>
          </p:spPr>
        </p:sp>
        <p:sp>
          <p:nvSpPr>
            <p:cNvPr id="41" name="TextBox 41"/>
            <p:cNvSpPr txBox="1"/>
            <p:nvPr/>
          </p:nvSpPr>
          <p:spPr>
            <a:xfrm>
              <a:off x="9386888" y="2059543"/>
              <a:ext cx="1012410" cy="169069"/>
            </a:xfrm>
            <a:prstGeom prst="rect">
              <a:avLst/>
            </a:prstGeom>
            <a:noFill/>
            <a:ln>
              <a:noFill/>
            </a:ln>
          </p:spPr>
          <p:txBody>
            <a:bodyPr wrap="none" lIns="0" tIns="0" rIns="0" bIns="0" anchor="t" anchorCtr="0">
              <a:spAutoFit/>
            </a:bodyPr>
            <a:lstStyle/>
            <a:p>
              <a:pPr algn="l"/>
              <a:r>
                <a:rPr lang="en-US" sz="860" b="1" dirty="0">
                  <a:solidFill>
                    <a:srgbClr val="46C98B"/>
                  </a:solidFill>
                  <a:latin typeface="+mn-lt"/>
                  <a:ea typeface="+mn-ea"/>
                  <a:cs typeface="+mn-cs"/>
                </a:rPr>
                <a:t>weights balanced</a:t>
              </a:r>
            </a:p>
          </p:txBody>
        </p:sp>
        <p:sp>
          <p:nvSpPr>
            <p:cNvPr id="42" name="TextBox 42"/>
            <p:cNvSpPr txBox="1"/>
            <p:nvPr/>
          </p:nvSpPr>
          <p:spPr>
            <a:xfrm>
              <a:off x="9472208" y="2309812"/>
              <a:ext cx="248055" cy="147638"/>
            </a:xfrm>
            <a:prstGeom prst="rect">
              <a:avLst/>
            </a:prstGeom>
            <a:noFill/>
            <a:ln>
              <a:noFill/>
            </a:ln>
          </p:spPr>
          <p:txBody>
            <a:bodyPr wrap="none" lIns="0" tIns="0" rIns="0" bIns="0" anchor="t" anchorCtr="0">
              <a:spAutoFit/>
            </a:bodyPr>
            <a:lstStyle/>
            <a:p>
              <a:pPr algn="r"/>
              <a:r>
                <a:rPr lang="en-US" sz="750" b="1" dirty="0">
                  <a:solidFill>
                    <a:srgbClr val="33D6C0"/>
                  </a:solidFill>
                  <a:latin typeface="Consolas"/>
                  <a:ea typeface="Consolas"/>
                  <a:cs typeface="Consolas"/>
                </a:rPr>
                <a:t>pi_in</a:t>
              </a:r>
            </a:p>
          </p:txBody>
        </p:sp>
        <p:sp>
          <p:nvSpPr>
            <p:cNvPr id="43" name="Rectangle 43"/>
            <p:cNvSpPr/>
            <p:nvPr/>
          </p:nvSpPr>
          <p:spPr>
            <a:xfrm>
              <a:off x="9810750" y="2286000"/>
              <a:ext cx="1409700" cy="133350"/>
            </a:xfrm>
            <a:prstGeom prst="roundRect">
              <a:avLst>
                <a:gd name="adj" fmla="val 28571"/>
              </a:avLst>
            </a:prstGeom>
            <a:solidFill>
              <a:srgbClr val="0A1A2C"/>
            </a:solidFill>
            <a:ln w="7620">
              <a:solidFill>
                <a:schemeClr val="accent4"/>
              </a:solidFill>
            </a:ln>
          </p:spPr>
        </p:sp>
        <p:sp>
          <p:nvSpPr>
            <p:cNvPr id="44" name="Rectangle 44"/>
            <p:cNvSpPr/>
            <p:nvPr/>
          </p:nvSpPr>
          <p:spPr>
            <a:xfrm>
              <a:off x="9810750" y="2286000"/>
              <a:ext cx="561975" cy="133350"/>
            </a:xfrm>
            <a:prstGeom prst="roundRect">
              <a:avLst>
                <a:gd name="adj" fmla="val 28571"/>
              </a:avLst>
            </a:prstGeom>
            <a:solidFill>
              <a:srgbClr val="33D6C0"/>
            </a:solidFill>
            <a:ln>
              <a:noFill/>
            </a:ln>
          </p:spPr>
        </p:sp>
        <p:sp>
          <p:nvSpPr>
            <p:cNvPr id="45" name="TextBox 45"/>
            <p:cNvSpPr txBox="1"/>
            <p:nvPr/>
          </p:nvSpPr>
          <p:spPr>
            <a:xfrm>
              <a:off x="10444162" y="2313861"/>
              <a:ext cx="230315" cy="140494"/>
            </a:xfrm>
            <a:prstGeom prst="rect">
              <a:avLst/>
            </a:prstGeom>
            <a:noFill/>
            <a:ln>
              <a:noFill/>
            </a:ln>
          </p:spPr>
          <p:txBody>
            <a:bodyPr wrap="none" lIns="0" tIns="0" rIns="0" bIns="0" anchor="t" anchorCtr="0">
              <a:spAutoFit/>
            </a:bodyPr>
            <a:lstStyle/>
            <a:p>
              <a:pPr algn="l"/>
              <a:r>
                <a:rPr lang="en-US" sz="710" b="1" dirty="0">
                  <a:solidFill>
                    <a:srgbClr val="33D6C0"/>
                  </a:solidFill>
                  <a:latin typeface="+mn-lt"/>
                  <a:ea typeface="+mn-ea"/>
                  <a:cs typeface="+mn-cs"/>
                </a:rPr>
                <a:t>0.40</a:t>
              </a:r>
            </a:p>
          </p:txBody>
        </p:sp>
        <p:sp>
          <p:nvSpPr>
            <p:cNvPr id="46" name="TextBox 46"/>
            <p:cNvSpPr txBox="1"/>
            <p:nvPr/>
          </p:nvSpPr>
          <p:spPr>
            <a:xfrm>
              <a:off x="9445704" y="2608262"/>
              <a:ext cx="274558" cy="147638"/>
            </a:xfrm>
            <a:prstGeom prst="rect">
              <a:avLst/>
            </a:prstGeom>
            <a:noFill/>
            <a:ln>
              <a:noFill/>
            </a:ln>
          </p:spPr>
          <p:txBody>
            <a:bodyPr wrap="none" lIns="0" tIns="0" rIns="0" bIns="0" anchor="t" anchorCtr="0">
              <a:spAutoFit/>
            </a:bodyPr>
            <a:lstStyle/>
            <a:p>
              <a:pPr algn="r"/>
              <a:r>
                <a:rPr lang="en-US" sz="750" b="1" dirty="0">
                  <a:solidFill>
                    <a:srgbClr val="F4C24C"/>
                  </a:solidFill>
                  <a:latin typeface="Consolas"/>
                  <a:ea typeface="Consolas"/>
                  <a:cs typeface="Consolas"/>
                </a:rPr>
                <a:t>pi_g1</a:t>
              </a:r>
            </a:p>
          </p:txBody>
        </p:sp>
        <p:sp>
          <p:nvSpPr>
            <p:cNvPr id="47" name="Rectangle 47"/>
            <p:cNvSpPr/>
            <p:nvPr/>
          </p:nvSpPr>
          <p:spPr>
            <a:xfrm>
              <a:off x="9810750" y="2584450"/>
              <a:ext cx="1409700" cy="133350"/>
            </a:xfrm>
            <a:prstGeom prst="roundRect">
              <a:avLst>
                <a:gd name="adj" fmla="val 28571"/>
              </a:avLst>
            </a:prstGeom>
            <a:solidFill>
              <a:srgbClr val="0A1A2C"/>
            </a:solidFill>
            <a:ln w="7620">
              <a:solidFill>
                <a:schemeClr val="accent4"/>
              </a:solidFill>
            </a:ln>
          </p:spPr>
        </p:sp>
        <p:sp>
          <p:nvSpPr>
            <p:cNvPr id="48" name="Rectangle 48"/>
            <p:cNvSpPr/>
            <p:nvPr/>
          </p:nvSpPr>
          <p:spPr>
            <a:xfrm>
              <a:off x="9810750" y="2584450"/>
              <a:ext cx="476250" cy="133350"/>
            </a:xfrm>
            <a:prstGeom prst="roundRect">
              <a:avLst>
                <a:gd name="adj" fmla="val 28571"/>
              </a:avLst>
            </a:prstGeom>
            <a:solidFill>
              <a:srgbClr val="F4C24C"/>
            </a:solidFill>
            <a:ln>
              <a:noFill/>
            </a:ln>
          </p:spPr>
        </p:sp>
        <p:sp>
          <p:nvSpPr>
            <p:cNvPr id="49" name="TextBox 49"/>
            <p:cNvSpPr txBox="1"/>
            <p:nvPr/>
          </p:nvSpPr>
          <p:spPr>
            <a:xfrm>
              <a:off x="10358438" y="2612311"/>
              <a:ext cx="230315" cy="140494"/>
            </a:xfrm>
            <a:prstGeom prst="rect">
              <a:avLst/>
            </a:prstGeom>
            <a:noFill/>
            <a:ln>
              <a:noFill/>
            </a:ln>
          </p:spPr>
          <p:txBody>
            <a:bodyPr wrap="none" lIns="0" tIns="0" rIns="0" bIns="0" anchor="t" anchorCtr="0">
              <a:spAutoFit/>
            </a:bodyPr>
            <a:lstStyle/>
            <a:p>
              <a:pPr algn="l"/>
              <a:r>
                <a:rPr lang="en-US" sz="710" b="1" dirty="0">
                  <a:solidFill>
                    <a:srgbClr val="F4C24C"/>
                  </a:solidFill>
                  <a:latin typeface="+mn-lt"/>
                  <a:ea typeface="+mn-ea"/>
                  <a:cs typeface="+mn-cs"/>
                </a:rPr>
                <a:t>0.34</a:t>
              </a:r>
            </a:p>
          </p:txBody>
        </p:sp>
        <p:sp>
          <p:nvSpPr>
            <p:cNvPr id="50" name="TextBox 50"/>
            <p:cNvSpPr txBox="1"/>
            <p:nvPr/>
          </p:nvSpPr>
          <p:spPr>
            <a:xfrm>
              <a:off x="9445704" y="2906712"/>
              <a:ext cx="274558" cy="147638"/>
            </a:xfrm>
            <a:prstGeom prst="rect">
              <a:avLst/>
            </a:prstGeom>
            <a:noFill/>
            <a:ln>
              <a:noFill/>
            </a:ln>
          </p:spPr>
          <p:txBody>
            <a:bodyPr wrap="none" lIns="0" tIns="0" rIns="0" bIns="0" anchor="t" anchorCtr="0">
              <a:spAutoFit/>
            </a:bodyPr>
            <a:lstStyle/>
            <a:p>
              <a:pPr algn="r"/>
              <a:r>
                <a:rPr lang="en-US" sz="750" b="1" dirty="0">
                  <a:solidFill>
                    <a:srgbClr val="F2685C"/>
                  </a:solidFill>
                  <a:latin typeface="Consolas"/>
                  <a:ea typeface="Consolas"/>
                  <a:cs typeface="Consolas"/>
                </a:rPr>
                <a:t>pi_g2</a:t>
              </a:r>
            </a:p>
          </p:txBody>
        </p:sp>
        <p:sp>
          <p:nvSpPr>
            <p:cNvPr id="51" name="Rectangle 51"/>
            <p:cNvSpPr/>
            <p:nvPr/>
          </p:nvSpPr>
          <p:spPr>
            <a:xfrm>
              <a:off x="9810750" y="2882900"/>
              <a:ext cx="1409700" cy="133350"/>
            </a:xfrm>
            <a:prstGeom prst="roundRect">
              <a:avLst>
                <a:gd name="adj" fmla="val 28571"/>
              </a:avLst>
            </a:prstGeom>
            <a:solidFill>
              <a:srgbClr val="0A1A2C"/>
            </a:solidFill>
            <a:ln w="7620">
              <a:solidFill>
                <a:schemeClr val="accent4"/>
              </a:solidFill>
            </a:ln>
          </p:spPr>
        </p:sp>
        <p:sp>
          <p:nvSpPr>
            <p:cNvPr id="52" name="Rectangle 52"/>
            <p:cNvSpPr/>
            <p:nvPr/>
          </p:nvSpPr>
          <p:spPr>
            <a:xfrm>
              <a:off x="9810750" y="2882900"/>
              <a:ext cx="361950" cy="133350"/>
            </a:xfrm>
            <a:prstGeom prst="roundRect">
              <a:avLst>
                <a:gd name="adj" fmla="val 28571"/>
              </a:avLst>
            </a:prstGeom>
            <a:solidFill>
              <a:srgbClr val="F2685C"/>
            </a:solidFill>
            <a:ln>
              <a:noFill/>
            </a:ln>
          </p:spPr>
        </p:sp>
        <p:sp>
          <p:nvSpPr>
            <p:cNvPr id="53" name="TextBox 53"/>
            <p:cNvSpPr txBox="1"/>
            <p:nvPr/>
          </p:nvSpPr>
          <p:spPr>
            <a:xfrm>
              <a:off x="10244138" y="2910761"/>
              <a:ext cx="230315" cy="140494"/>
            </a:xfrm>
            <a:prstGeom prst="rect">
              <a:avLst/>
            </a:prstGeom>
            <a:noFill/>
            <a:ln>
              <a:noFill/>
            </a:ln>
          </p:spPr>
          <p:txBody>
            <a:bodyPr wrap="none" lIns="0" tIns="0" rIns="0" bIns="0" anchor="t" anchorCtr="0">
              <a:spAutoFit/>
            </a:bodyPr>
            <a:lstStyle/>
            <a:p>
              <a:pPr algn="l"/>
              <a:r>
                <a:rPr lang="en-US" sz="710" b="1" dirty="0">
                  <a:solidFill>
                    <a:srgbClr val="F2685C"/>
                  </a:solidFill>
                  <a:latin typeface="+mn-lt"/>
                  <a:ea typeface="+mn-ea"/>
                  <a:cs typeface="+mn-cs"/>
                </a:rPr>
                <a:t>0.26</a:t>
              </a:r>
            </a:p>
          </p:txBody>
        </p:sp>
      </p:grpSp>
      <p:grpSp>
        <p:nvGrpSpPr>
          <p:cNvPr id="62" name="Group 62"/>
          <p:cNvGrpSpPr/>
          <p:nvPr/>
        </p:nvGrpSpPr>
        <p:grpSpPr>
          <a:xfrm>
            <a:off x="6248400" y="3600450"/>
            <a:ext cx="5334000" cy="1638300"/>
            <a:chOff x="6248400" y="3600450"/>
            <a:chExt cx="5334000" cy="1638300"/>
          </a:xfrm>
        </p:grpSpPr>
        <p:sp>
          <p:nvSpPr>
            <p:cNvPr id="55" name="Rectangle 55"/>
            <p:cNvSpPr/>
            <p:nvPr/>
          </p:nvSpPr>
          <p:spPr>
            <a:xfrm>
              <a:off x="6248400" y="3600450"/>
              <a:ext cx="5334000" cy="1638300"/>
            </a:xfrm>
            <a:prstGeom prst="roundRect">
              <a:avLst>
                <a:gd name="adj" fmla="val 8140"/>
              </a:avLst>
            </a:prstGeom>
            <a:solidFill>
              <a:schemeClr val="accent5"/>
            </a:solidFill>
            <a:ln w="14288">
              <a:solidFill>
                <a:schemeClr val="accent4"/>
              </a:solidFill>
            </a:ln>
          </p:spPr>
        </p:sp>
        <p:sp>
          <p:nvSpPr>
            <p:cNvPr id="56" name="Rectangle 56"/>
            <p:cNvSpPr/>
            <p:nvPr/>
          </p:nvSpPr>
          <p:spPr>
            <a:xfrm>
              <a:off x="6248400" y="3600450"/>
              <a:ext cx="57150" cy="1638300"/>
            </a:xfrm>
            <a:prstGeom prst="roundRect">
              <a:avLst>
                <a:gd name="adj" fmla="val 50000"/>
              </a:avLst>
            </a:prstGeom>
            <a:solidFill>
              <a:srgbClr val="33D6C0"/>
            </a:solidFill>
            <a:ln>
              <a:noFill/>
            </a:ln>
          </p:spPr>
        </p:sp>
        <p:sp>
          <p:nvSpPr>
            <p:cNvPr id="57" name="TextBox 57"/>
            <p:cNvSpPr txBox="1"/>
            <p:nvPr/>
          </p:nvSpPr>
          <p:spPr>
            <a:xfrm>
              <a:off x="6509194" y="3817858"/>
              <a:ext cx="1870160" cy="227362"/>
            </a:xfrm>
            <a:prstGeom prst="rect">
              <a:avLst/>
            </a:prstGeom>
            <a:noFill/>
            <a:ln>
              <a:noFill/>
            </a:ln>
          </p:spPr>
          <p:txBody>
            <a:bodyPr wrap="none" lIns="0" tIns="0" rIns="0" bIns="0" anchor="t" anchorCtr="0">
              <a:spAutoFit/>
            </a:bodyPr>
            <a:lstStyle/>
            <a:p>
              <a:pPr algn="l"/>
              <a:r>
                <a:rPr lang="en-US" sz="1160" b="1" dirty="0">
                  <a:solidFill>
                    <a:srgbClr val="33D6C0"/>
                  </a:solidFill>
                  <a:latin typeface="+mn-lt"/>
                  <a:ea typeface="+mn-ea"/>
                  <a:cs typeface="+mn-cs"/>
                </a:rPr>
                <a:t>Modular reuse pays off</a:t>
              </a:r>
            </a:p>
          </p:txBody>
        </p:sp>
        <p:sp>
          <p:nvSpPr>
            <p:cNvPr id="58" name="TextBox 58"/>
            <p:cNvSpPr txBox="1"/>
            <p:nvPr/>
          </p:nvSpPr>
          <p:spPr>
            <a:xfrm>
              <a:off x="6509956" y="4100751"/>
              <a:ext cx="37367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Compositional and incremental experiments confirm KIAN</a:t>
              </a:r>
            </a:p>
          </p:txBody>
        </p:sp>
        <p:sp>
          <p:nvSpPr>
            <p:cNvPr id="59" name="TextBox 59"/>
            <p:cNvSpPr txBox="1"/>
            <p:nvPr/>
          </p:nvSpPr>
          <p:spPr>
            <a:xfrm>
              <a:off x="6509956" y="4291251"/>
              <a:ext cx="352501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reuses its keys and inner policy to acquire new tasks</a:t>
              </a:r>
            </a:p>
          </p:txBody>
        </p:sp>
        <p:sp>
          <p:nvSpPr>
            <p:cNvPr id="60" name="TextBox 60"/>
            <p:cNvSpPr txBox="1"/>
            <p:nvPr/>
          </p:nvSpPr>
          <p:spPr>
            <a:xfrm>
              <a:off x="6509956" y="4481751"/>
              <a:ext cx="341624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sequentially with fewer samples than training from</a:t>
              </a:r>
            </a:p>
          </p:txBody>
        </p:sp>
        <p:sp>
          <p:nvSpPr>
            <p:cNvPr id="61" name="TextBox 61"/>
            <p:cNvSpPr txBox="1"/>
            <p:nvPr/>
          </p:nvSpPr>
          <p:spPr>
            <a:xfrm>
              <a:off x="6509956" y="4672251"/>
              <a:ext cx="6085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scratch.</a:t>
              </a:r>
            </a:p>
          </p:txBody>
        </p:sp>
      </p:grpSp>
      <p:sp>
        <p:nvSpPr>
          <p:cNvPr id="63" name="cue_s08_c1_key_ablation_isolates_fix_entropy" title="cue_s08_c1_key_ablation_isolates_fix_entropy" descr="cue_s08_c1_key_ablation_isolates_fix_entropy A key ablation isolates the paper's fix for entropy imbalance."/>
          <p:cNvSpPr/>
          <p:nvPr/>
        </p:nvSpPr>
        <p:spPr>
          <a:xfrm>
            <a:off x="609600"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8_c2_when_kian_runs_original_policy" title="cue_s08_c2_when_kian_runs_original_policy" descr="cue_s08_c2_when_kian_runs_original_policy When KIAN runs with the original policy fusion, an agent maximizing entropy for exploration collapses onto a single policy and struggles, especially on demanding tasks like dynamic obstacles, multi-room mazes, and the robotic manipulation tasks."/>
          <p:cNvSpPr/>
          <p:nvPr/>
        </p:nvSpPr>
        <p:spPr>
          <a:xfrm>
            <a:off x="609600"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8_c3_switching_modified_policy_distributi" title="cue_s08_c3_switching_modified_policy_distributi" descr="cue_s08_c3_switching_modified_policy_distributi Switching on the modified policy distributions restores efficient exploration and recovers strong performance."/>
          <p:cNvSpPr/>
          <p:nvPr/>
        </p:nvSpPr>
        <p:spPr>
          <a:xfrm>
            <a:off x="6248399"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8_c4_separate_compositional_incremental_e" title="cue_s08_c4_separate_compositional_incremental_e" descr="cue_s08_c4_separate_compositional_incremental_e Separate compositional and incremental experiments confirm the modular design pays off: KIAN reuses its learned keys and inner policy to acquire new tasks sequentially with fewer samples than training each task from scratch."/>
          <p:cNvSpPr/>
          <p:nvPr/>
        </p:nvSpPr>
        <p:spPr>
          <a:xfrm>
            <a:off x="6248399"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45403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gains in three transfers</a:t>
            </a:r>
          </a:p>
        </p:txBody>
      </p:sp>
      <p:grpSp>
        <p:nvGrpSpPr>
          <p:cNvPr id="14" name="Group 14"/>
          <p:cNvGrpSpPr/>
          <p:nvPr/>
        </p:nvGrpSpPr>
        <p:grpSpPr>
          <a:xfrm>
            <a:off x="609600" y="1581150"/>
            <a:ext cx="10972800" cy="1143000"/>
            <a:chOff x="609600" y="1581150"/>
            <a:chExt cx="10972800" cy="1143000"/>
          </a:xfrm>
        </p:grpSpPr>
        <p:sp>
          <p:nvSpPr>
            <p:cNvPr id="5" name="Rectangle 5"/>
            <p:cNvSpPr/>
            <p:nvPr/>
          </p:nvSpPr>
          <p:spPr>
            <a:xfrm>
              <a:off x="609600" y="1581150"/>
              <a:ext cx="10972800" cy="1143000"/>
            </a:xfrm>
            <a:prstGeom prst="roundRect">
              <a:avLst>
                <a:gd name="adj" fmla="val 11667"/>
              </a:avLst>
            </a:prstGeom>
            <a:solidFill>
              <a:srgbClr val="0F2E2B"/>
            </a:solidFill>
            <a:ln w="14288">
              <a:solidFill>
                <a:srgbClr val="46C98B"/>
              </a:solidFill>
            </a:ln>
          </p:spPr>
        </p:sp>
        <p:sp>
          <p:nvSpPr>
            <p:cNvPr id="6" name="Rectangle 6"/>
            <p:cNvSpPr/>
            <p:nvPr/>
          </p:nvSpPr>
          <p:spPr>
            <a:xfrm>
              <a:off x="609600" y="1581150"/>
              <a:ext cx="57150" cy="1143000"/>
            </a:xfrm>
            <a:prstGeom prst="roundRect">
              <a:avLst>
                <a:gd name="adj" fmla="val 50000"/>
              </a:avLst>
            </a:prstGeom>
            <a:solidFill>
              <a:srgbClr val="46C98B"/>
            </a:solidFill>
            <a:ln>
              <a:noFill/>
            </a:ln>
          </p:spPr>
        </p:sp>
        <p:sp>
          <p:nvSpPr>
            <p:cNvPr id="7" name="TextBox 7"/>
            <p:cNvSpPr txBox="1"/>
            <p:nvPr/>
          </p:nvSpPr>
          <p:spPr>
            <a:xfrm>
              <a:off x="870014" y="1790462"/>
              <a:ext cx="4295282" cy="242030"/>
            </a:xfrm>
            <a:prstGeom prst="rect">
              <a:avLst/>
            </a:prstGeom>
            <a:noFill/>
            <a:ln>
              <a:noFill/>
            </a:ln>
          </p:spPr>
          <p:txBody>
            <a:bodyPr wrap="none" lIns="0" tIns="0" rIns="0" bIns="0" anchor="t" anchorCtr="0">
              <a:spAutoFit/>
            </a:bodyPr>
            <a:lstStyle/>
            <a:p>
              <a:pPr algn="l"/>
              <a:r>
                <a:rPr lang="en-US" sz="1240" b="1" dirty="0">
                  <a:solidFill>
                    <a:srgbClr val="46C98B"/>
                  </a:solidFill>
                  <a:latin typeface="+mn-lt"/>
                  <a:ea typeface="+mn-ea"/>
                  <a:cs typeface="+mn-cs"/>
                </a:rPr>
                <a:t>KIAN is the only method that succeeds everywhere</a:t>
              </a:r>
            </a:p>
          </p:txBody>
        </p:sp>
        <p:sp>
          <p:nvSpPr>
            <p:cNvPr id="8" name="Rectangle 8"/>
            <p:cNvSpPr/>
            <p:nvPr/>
          </p:nvSpPr>
          <p:spPr>
            <a:xfrm>
              <a:off x="876300" y="2038350"/>
              <a:ext cx="2857500" cy="571500"/>
            </a:xfrm>
            <a:prstGeom prst="roundRect">
              <a:avLst>
                <a:gd name="adj" fmla="val 20000"/>
              </a:avLst>
            </a:prstGeom>
            <a:solidFill>
              <a:schemeClr val="accent6"/>
            </a:solidFill>
            <a:ln w="14288">
              <a:solidFill>
                <a:schemeClr val="accent4"/>
              </a:solidFill>
            </a:ln>
          </p:spPr>
        </p:sp>
        <p:sp>
          <p:nvSpPr>
            <p:cNvPr id="9" name="TextBox 9"/>
            <p:cNvSpPr txBox="1"/>
            <p:nvPr/>
          </p:nvSpPr>
          <p:spPr>
            <a:xfrm>
              <a:off x="1675510" y="2170366"/>
              <a:ext cx="1259080" cy="299237"/>
            </a:xfrm>
            <a:prstGeom prst="rect">
              <a:avLst/>
            </a:prstGeom>
            <a:noFill/>
            <a:ln>
              <a:noFill/>
            </a:ln>
          </p:spPr>
          <p:txBody>
            <a:bodyPr wrap="none" lIns="0" tIns="0" rIns="0" bIns="0" anchor="t" anchorCtr="0">
              <a:spAutoFit/>
            </a:bodyPr>
            <a:lstStyle/>
            <a:p>
              <a:pPr algn="ctr"/>
              <a:r>
                <a:rPr lang="en-US" sz="1530" b="1" dirty="0">
                  <a:solidFill>
                    <a:srgbClr val="46C98B"/>
                  </a:solidFill>
                  <a:latin typeface="+mn-lt"/>
                  <a:ea typeface="+mn-ea"/>
                  <a:cs typeface="+mn-cs"/>
                </a:rPr>
                <a:t>only method</a:t>
              </a:r>
            </a:p>
          </p:txBody>
        </p:sp>
        <p:sp>
          <p:nvSpPr>
            <p:cNvPr id="10" name="TextBox 10"/>
            <p:cNvSpPr txBox="1"/>
            <p:nvPr/>
          </p:nvSpPr>
          <p:spPr>
            <a:xfrm>
              <a:off x="1669155" y="2394347"/>
              <a:ext cx="127178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succeeds in all envs</a:t>
              </a:r>
            </a:p>
          </p:txBody>
        </p:sp>
        <p:sp>
          <p:nvSpPr>
            <p:cNvPr id="11" name="Rectangle 11"/>
            <p:cNvSpPr/>
            <p:nvPr/>
          </p:nvSpPr>
          <p:spPr>
            <a:xfrm>
              <a:off x="3905250" y="2038350"/>
              <a:ext cx="7677150" cy="571500"/>
            </a:xfrm>
            <a:prstGeom prst="roundRect">
              <a:avLst>
                <a:gd name="adj" fmla="val 20000"/>
              </a:avLst>
            </a:prstGeom>
            <a:solidFill>
              <a:schemeClr val="accent6"/>
            </a:solidFill>
            <a:ln w="14288">
              <a:solidFill>
                <a:schemeClr val="accent4"/>
              </a:solidFill>
            </a:ln>
          </p:spPr>
        </p:sp>
        <p:sp>
          <p:nvSpPr>
            <p:cNvPr id="12" name="TextBox 12"/>
            <p:cNvSpPr txBox="1"/>
            <p:nvPr/>
          </p:nvSpPr>
          <p:spPr>
            <a:xfrm>
              <a:off x="4090606" y="2176701"/>
              <a:ext cx="641213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few numbers capture the gains from a sub-optimal initial knowledge set across two benchmark</a:t>
              </a:r>
            </a:p>
          </p:txBody>
        </p:sp>
        <p:sp>
          <p:nvSpPr>
            <p:cNvPr id="13" name="TextBox 13"/>
            <p:cNvSpPr txBox="1"/>
            <p:nvPr/>
          </p:nvSpPr>
          <p:spPr>
            <a:xfrm>
              <a:off x="4090606" y="2367201"/>
              <a:ext cx="49976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suites.</a:t>
              </a:r>
            </a:p>
          </p:txBody>
        </p:sp>
      </p:grpSp>
      <p:grpSp>
        <p:nvGrpSpPr>
          <p:cNvPr id="26" name="Group 26"/>
          <p:cNvGrpSpPr/>
          <p:nvPr/>
        </p:nvGrpSpPr>
        <p:grpSpPr>
          <a:xfrm>
            <a:off x="609600" y="2876550"/>
            <a:ext cx="3505200" cy="1543050"/>
            <a:chOff x="609600" y="2876550"/>
            <a:chExt cx="3505200" cy="1543050"/>
          </a:xfrm>
        </p:grpSpPr>
        <p:sp>
          <p:nvSpPr>
            <p:cNvPr id="15" name="Rectangle 15"/>
            <p:cNvSpPr/>
            <p:nvPr/>
          </p:nvSpPr>
          <p:spPr>
            <a:xfrm>
              <a:off x="609600" y="2876550"/>
              <a:ext cx="3505200" cy="1543050"/>
            </a:xfrm>
            <a:prstGeom prst="roundRect">
              <a:avLst>
                <a:gd name="adj" fmla="val 8642"/>
              </a:avLst>
            </a:prstGeom>
            <a:solidFill>
              <a:schemeClr val="accent5"/>
            </a:solidFill>
            <a:ln w="14288">
              <a:solidFill>
                <a:schemeClr val="accent4"/>
              </a:solidFill>
            </a:ln>
          </p:spPr>
        </p:sp>
        <p:sp>
          <p:nvSpPr>
            <p:cNvPr id="16" name="Rectangle 16"/>
            <p:cNvSpPr/>
            <p:nvPr/>
          </p:nvSpPr>
          <p:spPr>
            <a:xfrm>
              <a:off x="609600" y="2876550"/>
              <a:ext cx="57150" cy="1543050"/>
            </a:xfrm>
            <a:prstGeom prst="roundRect">
              <a:avLst>
                <a:gd name="adj" fmla="val 50000"/>
              </a:avLst>
            </a:prstGeom>
            <a:solidFill>
              <a:schemeClr val="accent2"/>
            </a:solidFill>
            <a:ln>
              <a:noFill/>
            </a:ln>
          </p:spPr>
        </p:sp>
        <p:sp>
          <p:nvSpPr>
            <p:cNvPr id="17" name="TextBox 17"/>
            <p:cNvSpPr txBox="1"/>
            <p:nvPr/>
          </p:nvSpPr>
          <p:spPr>
            <a:xfrm>
              <a:off x="870776" y="3063954"/>
              <a:ext cx="1574086" cy="212693"/>
            </a:xfrm>
            <a:prstGeom prst="rect">
              <a:avLst/>
            </a:prstGeom>
            <a:noFill/>
            <a:ln>
              <a:noFill/>
            </a:ln>
          </p:spPr>
          <p:txBody>
            <a:bodyPr wrap="none" lIns="0" tIns="0" rIns="0" bIns="0" anchor="t" anchorCtr="0">
              <a:spAutoFit/>
            </a:bodyPr>
            <a:lstStyle/>
            <a:p>
              <a:pPr algn="l"/>
              <a:r>
                <a:rPr lang="en-US" sz="1090" b="1" dirty="0">
                  <a:solidFill>
                    <a:schemeClr val="accent2"/>
                  </a:solidFill>
                  <a:latin typeface="+mn-lt"/>
                  <a:ea typeface="+mn-ea"/>
                  <a:cs typeface="+mn-cs"/>
                </a:rPr>
                <a:t>Empty-Random 16x16</a:t>
              </a:r>
            </a:p>
          </p:txBody>
        </p:sp>
        <p:sp>
          <p:nvSpPr>
            <p:cNvPr id="18" name="TextBox 18"/>
            <p:cNvSpPr txBox="1"/>
            <p:nvPr/>
          </p:nvSpPr>
          <p:spPr>
            <a:xfrm>
              <a:off x="871538" y="3297793"/>
              <a:ext cx="1741782"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zero-shot simple-to-complex</a:t>
              </a:r>
            </a:p>
          </p:txBody>
        </p:sp>
        <p:sp>
          <p:nvSpPr>
            <p:cNvPr id="19" name="Rectangle 19"/>
            <p:cNvSpPr/>
            <p:nvPr/>
          </p:nvSpPr>
          <p:spPr>
            <a:xfrm>
              <a:off x="876300" y="3486150"/>
              <a:ext cx="2971800" cy="857250"/>
            </a:xfrm>
            <a:prstGeom prst="roundRect">
              <a:avLst>
                <a:gd name="adj" fmla="val 11111"/>
              </a:avLst>
            </a:prstGeom>
            <a:solidFill>
              <a:schemeClr val="accent6"/>
            </a:solidFill>
            <a:ln w="14288">
              <a:solidFill>
                <a:schemeClr val="accent4"/>
              </a:solidFill>
            </a:ln>
          </p:spPr>
        </p:sp>
        <p:sp>
          <p:nvSpPr>
            <p:cNvPr id="20" name="Rectangle 20"/>
            <p:cNvSpPr/>
            <p:nvPr/>
          </p:nvSpPr>
          <p:spPr>
            <a:xfrm>
              <a:off x="1371600" y="3795903"/>
              <a:ext cx="685800" cy="318897"/>
            </a:xfrm>
            <a:prstGeom prst="roundRect">
              <a:avLst>
                <a:gd name="adj" fmla="val 14934"/>
              </a:avLst>
            </a:prstGeom>
            <a:solidFill>
              <a:srgbClr val="46C98B"/>
            </a:solidFill>
            <a:ln>
              <a:noFill/>
            </a:ln>
          </p:spPr>
        </p:sp>
        <p:sp>
          <p:nvSpPr>
            <p:cNvPr id="21" name="TextBox 21"/>
            <p:cNvSpPr txBox="1"/>
            <p:nvPr/>
          </p:nvSpPr>
          <p:spPr>
            <a:xfrm>
              <a:off x="1545906" y="3606356"/>
              <a:ext cx="337189" cy="205359"/>
            </a:xfrm>
            <a:prstGeom prst="rect">
              <a:avLst/>
            </a:prstGeom>
            <a:noFill/>
            <a:ln>
              <a:noFill/>
            </a:ln>
          </p:spPr>
          <p:txBody>
            <a:bodyPr wrap="none" lIns="0" tIns="0" rIns="0" bIns="0" anchor="t" anchorCtr="0">
              <a:spAutoFit/>
            </a:bodyPr>
            <a:lstStyle/>
            <a:p>
              <a:pPr algn="ctr"/>
              <a:r>
                <a:rPr lang="en-US" sz="1050" b="1" dirty="0">
                  <a:solidFill>
                    <a:srgbClr val="46C98B"/>
                  </a:solidFill>
                  <a:latin typeface="+mn-lt"/>
                  <a:ea typeface="+mn-ea"/>
                  <a:cs typeface="+mn-cs"/>
                </a:rPr>
                <a:t>0.93</a:t>
              </a:r>
            </a:p>
          </p:txBody>
        </p:sp>
        <p:sp>
          <p:nvSpPr>
            <p:cNvPr id="22" name="TextBox 22"/>
            <p:cNvSpPr txBox="1"/>
            <p:nvPr/>
          </p:nvSpPr>
          <p:spPr>
            <a:xfrm>
              <a:off x="1590331" y="4178141"/>
              <a:ext cx="248339"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KIAN</a:t>
              </a:r>
            </a:p>
          </p:txBody>
        </p:sp>
        <p:sp>
          <p:nvSpPr>
            <p:cNvPr id="23" name="Rectangle 23"/>
            <p:cNvSpPr/>
            <p:nvPr/>
          </p:nvSpPr>
          <p:spPr>
            <a:xfrm>
              <a:off x="2667000" y="3933063"/>
              <a:ext cx="685800" cy="181737"/>
            </a:xfrm>
            <a:prstGeom prst="roundRect">
              <a:avLst>
                <a:gd name="adj" fmla="val 26205"/>
              </a:avLst>
            </a:prstGeom>
            <a:solidFill>
              <a:schemeClr val="dk2"/>
            </a:solidFill>
            <a:ln>
              <a:noFill/>
            </a:ln>
          </p:spPr>
        </p:sp>
        <p:sp>
          <p:nvSpPr>
            <p:cNvPr id="24" name="TextBox 24"/>
            <p:cNvSpPr txBox="1"/>
            <p:nvPr/>
          </p:nvSpPr>
          <p:spPr>
            <a:xfrm>
              <a:off x="2841306" y="3743516"/>
              <a:ext cx="337189"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0.53</a:t>
              </a:r>
            </a:p>
          </p:txBody>
        </p:sp>
        <p:sp>
          <p:nvSpPr>
            <p:cNvPr id="25" name="TextBox 25"/>
            <p:cNvSpPr txBox="1"/>
            <p:nvPr/>
          </p:nvSpPr>
          <p:spPr>
            <a:xfrm>
              <a:off x="2840352" y="4178141"/>
              <a:ext cx="339097"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KoGuN</a:t>
              </a:r>
            </a:p>
          </p:txBody>
        </p:sp>
      </p:grpSp>
      <p:grpSp>
        <p:nvGrpSpPr>
          <p:cNvPr id="38" name="Group 38"/>
          <p:cNvGrpSpPr/>
          <p:nvPr/>
        </p:nvGrpSpPr>
        <p:grpSpPr>
          <a:xfrm>
            <a:off x="4343400" y="2876550"/>
            <a:ext cx="3505200" cy="1543050"/>
            <a:chOff x="4343400" y="2876550"/>
            <a:chExt cx="3505200" cy="1543050"/>
          </a:xfrm>
        </p:grpSpPr>
        <p:sp>
          <p:nvSpPr>
            <p:cNvPr id="27" name="Rectangle 27"/>
            <p:cNvSpPr/>
            <p:nvPr/>
          </p:nvSpPr>
          <p:spPr>
            <a:xfrm>
              <a:off x="4343400" y="2876550"/>
              <a:ext cx="3505200" cy="1543050"/>
            </a:xfrm>
            <a:prstGeom prst="roundRect">
              <a:avLst>
                <a:gd name="adj" fmla="val 8642"/>
              </a:avLst>
            </a:prstGeom>
            <a:solidFill>
              <a:schemeClr val="accent5"/>
            </a:solidFill>
            <a:ln w="14288">
              <a:solidFill>
                <a:schemeClr val="accent4"/>
              </a:solidFill>
            </a:ln>
          </p:spPr>
        </p:sp>
        <p:sp>
          <p:nvSpPr>
            <p:cNvPr id="28" name="Rectangle 28"/>
            <p:cNvSpPr/>
            <p:nvPr/>
          </p:nvSpPr>
          <p:spPr>
            <a:xfrm>
              <a:off x="4343400" y="2876550"/>
              <a:ext cx="57150" cy="1543050"/>
            </a:xfrm>
            <a:prstGeom prst="roundRect">
              <a:avLst>
                <a:gd name="adj" fmla="val 50000"/>
              </a:avLst>
            </a:prstGeom>
            <a:solidFill>
              <a:srgbClr val="F4C24C"/>
            </a:solidFill>
            <a:ln>
              <a:noFill/>
            </a:ln>
          </p:spPr>
        </p:sp>
        <p:sp>
          <p:nvSpPr>
            <p:cNvPr id="29" name="TextBox 29"/>
            <p:cNvSpPr txBox="1"/>
            <p:nvPr/>
          </p:nvSpPr>
          <p:spPr>
            <a:xfrm>
              <a:off x="4604576" y="3063954"/>
              <a:ext cx="1902557" cy="212693"/>
            </a:xfrm>
            <a:prstGeom prst="rect">
              <a:avLst/>
            </a:prstGeom>
            <a:noFill/>
            <a:ln>
              <a:noFill/>
            </a:ln>
          </p:spPr>
          <p:txBody>
            <a:bodyPr wrap="none" lIns="0" tIns="0" rIns="0" bIns="0" anchor="t" anchorCtr="0">
              <a:spAutoFit/>
            </a:bodyPr>
            <a:lstStyle/>
            <a:p>
              <a:pPr algn="l"/>
              <a:r>
                <a:rPr lang="en-US" sz="1090" b="1" dirty="0">
                  <a:solidFill>
                    <a:srgbClr val="F4C24C"/>
                  </a:solidFill>
                  <a:latin typeface="+mn-lt"/>
                  <a:ea typeface="+mn-ea"/>
                  <a:cs typeface="+mn-cs"/>
                </a:rPr>
                <a:t>Pick-and-Place 10x range</a:t>
              </a:r>
            </a:p>
          </p:txBody>
        </p:sp>
        <p:sp>
          <p:nvSpPr>
            <p:cNvPr id="30" name="TextBox 30"/>
            <p:cNvSpPr txBox="1"/>
            <p:nvPr/>
          </p:nvSpPr>
          <p:spPr>
            <a:xfrm>
              <a:off x="4605338" y="3297793"/>
              <a:ext cx="1729625"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zero-shot, larger goal range</a:t>
              </a:r>
            </a:p>
          </p:txBody>
        </p:sp>
        <p:sp>
          <p:nvSpPr>
            <p:cNvPr id="31" name="Rectangle 31"/>
            <p:cNvSpPr/>
            <p:nvPr/>
          </p:nvSpPr>
          <p:spPr>
            <a:xfrm>
              <a:off x="4610100" y="3486150"/>
              <a:ext cx="2971800" cy="857250"/>
            </a:xfrm>
            <a:prstGeom prst="roundRect">
              <a:avLst>
                <a:gd name="adj" fmla="val 11111"/>
              </a:avLst>
            </a:prstGeom>
            <a:solidFill>
              <a:schemeClr val="accent6"/>
            </a:solidFill>
            <a:ln w="14288">
              <a:solidFill>
                <a:schemeClr val="accent4"/>
              </a:solidFill>
            </a:ln>
          </p:spPr>
        </p:sp>
        <p:sp>
          <p:nvSpPr>
            <p:cNvPr id="32" name="Rectangle 32"/>
            <p:cNvSpPr/>
            <p:nvPr/>
          </p:nvSpPr>
          <p:spPr>
            <a:xfrm>
              <a:off x="5105400" y="3867912"/>
              <a:ext cx="685800" cy="246888"/>
            </a:xfrm>
            <a:prstGeom prst="roundRect">
              <a:avLst>
                <a:gd name="adj" fmla="val 19290"/>
              </a:avLst>
            </a:prstGeom>
            <a:solidFill>
              <a:srgbClr val="46C98B"/>
            </a:solidFill>
            <a:ln>
              <a:noFill/>
            </a:ln>
          </p:spPr>
        </p:sp>
        <p:sp>
          <p:nvSpPr>
            <p:cNvPr id="33" name="TextBox 33"/>
            <p:cNvSpPr txBox="1"/>
            <p:nvPr/>
          </p:nvSpPr>
          <p:spPr>
            <a:xfrm>
              <a:off x="5279706" y="3678364"/>
              <a:ext cx="337189" cy="205359"/>
            </a:xfrm>
            <a:prstGeom prst="rect">
              <a:avLst/>
            </a:prstGeom>
            <a:noFill/>
            <a:ln>
              <a:noFill/>
            </a:ln>
          </p:spPr>
          <p:txBody>
            <a:bodyPr wrap="none" lIns="0" tIns="0" rIns="0" bIns="0" anchor="t" anchorCtr="0">
              <a:spAutoFit/>
            </a:bodyPr>
            <a:lstStyle/>
            <a:p>
              <a:pPr algn="ctr"/>
              <a:r>
                <a:rPr lang="en-US" sz="1050" b="1" dirty="0">
                  <a:solidFill>
                    <a:srgbClr val="46C98B"/>
                  </a:solidFill>
                  <a:latin typeface="+mn-lt"/>
                  <a:ea typeface="+mn-ea"/>
                  <a:cs typeface="+mn-cs"/>
                </a:rPr>
                <a:t>0.72</a:t>
              </a:r>
            </a:p>
          </p:txBody>
        </p:sp>
        <p:sp>
          <p:nvSpPr>
            <p:cNvPr id="34" name="TextBox 34"/>
            <p:cNvSpPr txBox="1"/>
            <p:nvPr/>
          </p:nvSpPr>
          <p:spPr>
            <a:xfrm>
              <a:off x="5324131" y="4178141"/>
              <a:ext cx="248339"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KIAN</a:t>
              </a:r>
            </a:p>
          </p:txBody>
        </p:sp>
        <p:sp>
          <p:nvSpPr>
            <p:cNvPr id="35" name="Rectangle 35"/>
            <p:cNvSpPr/>
            <p:nvPr/>
          </p:nvSpPr>
          <p:spPr>
            <a:xfrm>
              <a:off x="6400800" y="4011930"/>
              <a:ext cx="685800" cy="102870"/>
            </a:xfrm>
            <a:prstGeom prst="roundRect">
              <a:avLst>
                <a:gd name="adj" fmla="val 46296"/>
              </a:avLst>
            </a:prstGeom>
            <a:solidFill>
              <a:schemeClr val="dk2"/>
            </a:solidFill>
            <a:ln>
              <a:noFill/>
            </a:ln>
          </p:spPr>
        </p:sp>
        <p:sp>
          <p:nvSpPr>
            <p:cNvPr id="36" name="TextBox 36"/>
            <p:cNvSpPr txBox="1"/>
            <p:nvPr/>
          </p:nvSpPr>
          <p:spPr>
            <a:xfrm>
              <a:off x="6575106" y="3822382"/>
              <a:ext cx="337189"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0.30</a:t>
              </a:r>
            </a:p>
          </p:txBody>
        </p:sp>
        <p:sp>
          <p:nvSpPr>
            <p:cNvPr id="37" name="TextBox 37"/>
            <p:cNvSpPr txBox="1"/>
            <p:nvPr/>
          </p:nvSpPr>
          <p:spPr>
            <a:xfrm>
              <a:off x="6570543" y="4178141"/>
              <a:ext cx="34631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RL+BC</a:t>
              </a:r>
            </a:p>
          </p:txBody>
        </p:sp>
      </p:grpSp>
      <p:grpSp>
        <p:nvGrpSpPr>
          <p:cNvPr id="50" name="Group 50"/>
          <p:cNvGrpSpPr/>
          <p:nvPr/>
        </p:nvGrpSpPr>
        <p:grpSpPr>
          <a:xfrm>
            <a:off x="8077200" y="2876550"/>
            <a:ext cx="3505200" cy="1543050"/>
            <a:chOff x="8077200" y="2876550"/>
            <a:chExt cx="3505200" cy="1543050"/>
          </a:xfrm>
        </p:grpSpPr>
        <p:sp>
          <p:nvSpPr>
            <p:cNvPr id="39" name="Rectangle 39"/>
            <p:cNvSpPr/>
            <p:nvPr/>
          </p:nvSpPr>
          <p:spPr>
            <a:xfrm>
              <a:off x="8077200" y="2876550"/>
              <a:ext cx="3505200" cy="1543050"/>
            </a:xfrm>
            <a:prstGeom prst="roundRect">
              <a:avLst>
                <a:gd name="adj" fmla="val 8642"/>
              </a:avLst>
            </a:prstGeom>
            <a:solidFill>
              <a:schemeClr val="accent5"/>
            </a:solidFill>
            <a:ln w="14288">
              <a:solidFill>
                <a:schemeClr val="accent4"/>
              </a:solidFill>
            </a:ln>
          </p:spPr>
        </p:sp>
        <p:sp>
          <p:nvSpPr>
            <p:cNvPr id="40" name="Rectangle 40"/>
            <p:cNvSpPr/>
            <p:nvPr/>
          </p:nvSpPr>
          <p:spPr>
            <a:xfrm>
              <a:off x="8077200" y="2876550"/>
              <a:ext cx="57150" cy="1543050"/>
            </a:xfrm>
            <a:prstGeom prst="roundRect">
              <a:avLst>
                <a:gd name="adj" fmla="val 50000"/>
              </a:avLst>
            </a:prstGeom>
            <a:solidFill>
              <a:srgbClr val="33D6C0"/>
            </a:solidFill>
            <a:ln>
              <a:noFill/>
            </a:ln>
          </p:spPr>
        </p:sp>
        <p:sp>
          <p:nvSpPr>
            <p:cNvPr id="41" name="TextBox 41"/>
            <p:cNvSpPr txBox="1"/>
            <p:nvPr/>
          </p:nvSpPr>
          <p:spPr>
            <a:xfrm>
              <a:off x="8338376" y="3063954"/>
              <a:ext cx="1649943" cy="212693"/>
            </a:xfrm>
            <a:prstGeom prst="rect">
              <a:avLst/>
            </a:prstGeom>
            <a:noFill/>
            <a:ln>
              <a:noFill/>
            </a:ln>
          </p:spPr>
          <p:txBody>
            <a:bodyPr wrap="none" lIns="0" tIns="0" rIns="0" bIns="0" anchor="t" anchorCtr="0">
              <a:spAutoFit/>
            </a:bodyPr>
            <a:lstStyle/>
            <a:p>
              <a:pPr algn="l"/>
              <a:r>
                <a:rPr lang="en-US" sz="1090" b="1" dirty="0">
                  <a:solidFill>
                    <a:srgbClr val="33D6C0"/>
                  </a:solidFill>
                  <a:latin typeface="+mn-lt"/>
                  <a:ea typeface="+mn-ea"/>
                  <a:cs typeface="+mn-cs"/>
                </a:rPr>
                <a:t>DoorKey-8x8 -&gt; Reach</a:t>
              </a:r>
            </a:p>
          </p:txBody>
        </p:sp>
        <p:sp>
          <p:nvSpPr>
            <p:cNvPr id="42" name="TextBox 42"/>
            <p:cNvSpPr txBox="1"/>
            <p:nvPr/>
          </p:nvSpPr>
          <p:spPr>
            <a:xfrm>
              <a:off x="8339138" y="3297793"/>
              <a:ext cx="1674922"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complex-to-simple transfer</a:t>
              </a:r>
            </a:p>
          </p:txBody>
        </p:sp>
        <p:sp>
          <p:nvSpPr>
            <p:cNvPr id="43" name="Rectangle 43"/>
            <p:cNvSpPr/>
            <p:nvPr/>
          </p:nvSpPr>
          <p:spPr>
            <a:xfrm>
              <a:off x="8343900" y="3486150"/>
              <a:ext cx="2971800" cy="857250"/>
            </a:xfrm>
            <a:prstGeom prst="roundRect">
              <a:avLst>
                <a:gd name="adj" fmla="val 11111"/>
              </a:avLst>
            </a:prstGeom>
            <a:solidFill>
              <a:schemeClr val="accent6"/>
            </a:solidFill>
            <a:ln w="14288">
              <a:solidFill>
                <a:schemeClr val="accent4"/>
              </a:solidFill>
            </a:ln>
          </p:spPr>
        </p:sp>
        <p:sp>
          <p:nvSpPr>
            <p:cNvPr id="44" name="Rectangle 44"/>
            <p:cNvSpPr/>
            <p:nvPr/>
          </p:nvSpPr>
          <p:spPr>
            <a:xfrm>
              <a:off x="8839200" y="3771900"/>
              <a:ext cx="685800" cy="342900"/>
            </a:xfrm>
            <a:prstGeom prst="roundRect">
              <a:avLst>
                <a:gd name="adj" fmla="val 13889"/>
              </a:avLst>
            </a:prstGeom>
            <a:solidFill>
              <a:srgbClr val="46C98B"/>
            </a:solidFill>
            <a:ln>
              <a:noFill/>
            </a:ln>
          </p:spPr>
        </p:sp>
        <p:sp>
          <p:nvSpPr>
            <p:cNvPr id="45" name="TextBox 45"/>
            <p:cNvSpPr txBox="1"/>
            <p:nvPr/>
          </p:nvSpPr>
          <p:spPr>
            <a:xfrm>
              <a:off x="9013506" y="3582352"/>
              <a:ext cx="337189" cy="205359"/>
            </a:xfrm>
            <a:prstGeom prst="rect">
              <a:avLst/>
            </a:prstGeom>
            <a:noFill/>
            <a:ln>
              <a:noFill/>
            </a:ln>
          </p:spPr>
          <p:txBody>
            <a:bodyPr wrap="none" lIns="0" tIns="0" rIns="0" bIns="0" anchor="t" anchorCtr="0">
              <a:spAutoFit/>
            </a:bodyPr>
            <a:lstStyle/>
            <a:p>
              <a:pPr algn="ctr"/>
              <a:r>
                <a:rPr lang="en-US" sz="1050" b="1" dirty="0">
                  <a:solidFill>
                    <a:srgbClr val="46C98B"/>
                  </a:solidFill>
                  <a:latin typeface="+mn-lt"/>
                  <a:ea typeface="+mn-ea"/>
                  <a:cs typeface="+mn-cs"/>
                </a:rPr>
                <a:t>1.00</a:t>
              </a:r>
            </a:p>
          </p:txBody>
        </p:sp>
        <p:sp>
          <p:nvSpPr>
            <p:cNvPr id="46" name="TextBox 46"/>
            <p:cNvSpPr txBox="1"/>
            <p:nvPr/>
          </p:nvSpPr>
          <p:spPr>
            <a:xfrm>
              <a:off x="9057931" y="4178141"/>
              <a:ext cx="248339"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KIAN</a:t>
              </a:r>
            </a:p>
          </p:txBody>
        </p:sp>
        <p:sp>
          <p:nvSpPr>
            <p:cNvPr id="47" name="Rectangle 47"/>
            <p:cNvSpPr/>
            <p:nvPr/>
          </p:nvSpPr>
          <p:spPr>
            <a:xfrm>
              <a:off x="10134600" y="3840480"/>
              <a:ext cx="685800" cy="274320"/>
            </a:xfrm>
            <a:prstGeom prst="roundRect">
              <a:avLst>
                <a:gd name="adj" fmla="val 17361"/>
              </a:avLst>
            </a:prstGeom>
            <a:solidFill>
              <a:schemeClr val="dk2"/>
            </a:solidFill>
            <a:ln>
              <a:noFill/>
            </a:ln>
          </p:spPr>
        </p:sp>
        <p:sp>
          <p:nvSpPr>
            <p:cNvPr id="48" name="TextBox 48"/>
            <p:cNvSpPr txBox="1"/>
            <p:nvPr/>
          </p:nvSpPr>
          <p:spPr>
            <a:xfrm>
              <a:off x="10308906" y="3650932"/>
              <a:ext cx="337189"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0.80</a:t>
              </a:r>
            </a:p>
          </p:txBody>
        </p:sp>
        <p:sp>
          <p:nvSpPr>
            <p:cNvPr id="49" name="TextBox 49"/>
            <p:cNvSpPr txBox="1"/>
            <p:nvPr/>
          </p:nvSpPr>
          <p:spPr>
            <a:xfrm>
              <a:off x="10166566" y="4178141"/>
              <a:ext cx="621868"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RL / RL+BC</a:t>
              </a:r>
            </a:p>
          </p:txBody>
        </p:sp>
      </p:grpSp>
      <p:sp>
        <p:nvSpPr>
          <p:cNvPr id="51" name="Rectangle 51"/>
          <p:cNvSpPr/>
          <p:nvPr/>
        </p:nvSpPr>
        <p:spPr>
          <a:xfrm>
            <a:off x="609600" y="4572000"/>
            <a:ext cx="10972800" cy="666750"/>
          </a:xfrm>
          <a:prstGeom prst="roundRect">
            <a:avLst>
              <a:gd name="adj" fmla="val 17143"/>
            </a:avLst>
          </a:prstGeom>
          <a:solidFill>
            <a:schemeClr val="accent6"/>
          </a:solidFill>
          <a:ln w="14288">
            <a:solidFill>
              <a:schemeClr val="accent4"/>
            </a:solidFill>
          </a:ln>
        </p:spPr>
        <p:txBody>
          <a:bodyPr/>
          <a:p/>
        </p:txBody>
      </p:sp>
      <p:sp>
        <p:nvSpPr>
          <p:cNvPr id="52" name="TextBox 52"/>
          <p:cNvSpPr txBox="1"/>
          <p:nvPr/>
        </p:nvSpPr>
        <p:spPr>
          <a:xfrm>
            <a:off x="871156" y="4748451"/>
            <a:ext cx="118568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Measured across</a:t>
            </a:r>
          </a:p>
        </p:txBody>
      </p:sp>
      <p:sp>
        <p:nvSpPr>
          <p:cNvPr id="53" name="TextBox 53"/>
          <p:cNvSpPr txBox="1"/>
          <p:nvPr/>
        </p:nvSpPr>
        <p:spPr>
          <a:xfrm>
            <a:off x="2185416" y="4744402"/>
            <a:ext cx="2964477"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Consolas"/>
                <a:ea typeface="Consolas"/>
                <a:cs typeface="Consolas"/>
              </a:rPr>
              <a:t>2 suites · 5 baselines · 10 seeds · 95% CI</a:t>
            </a:r>
          </a:p>
        </p:txBody>
      </p:sp>
      <p:sp>
        <p:nvSpPr>
          <p:cNvPr id="54" name="TextBox 54"/>
          <p:cNvSpPr txBox="1"/>
          <p:nvPr/>
        </p:nvSpPr>
        <p:spPr>
          <a:xfrm>
            <a:off x="9074062" y="4748451"/>
            <a:ext cx="2284882" cy="198025"/>
          </a:xfrm>
          <a:prstGeom prst="rect">
            <a:avLst/>
          </a:prstGeom>
          <a:noFill/>
          <a:ln>
            <a:noFill/>
          </a:ln>
        </p:spPr>
        <p:txBody>
          <a:bodyPr wrap="none" lIns="0" tIns="0" rIns="0" bIns="0" anchor="t" anchorCtr="0">
            <a:spAutoFit/>
          </a:bodyPr>
          <a:lstStyle/>
          <a:p>
            <a:pPr algn="r"/>
            <a:r>
              <a:rPr lang="en-US" sz="1010" b="1" dirty="0">
                <a:solidFill>
                  <a:srgbClr val="46C98B"/>
                </a:solidFill>
                <a:latin typeface="+mn-lt"/>
                <a:ea typeface="+mn-ea"/>
                <a:cs typeface="+mn-cs"/>
              </a:rPr>
              <a:t>KIAN wins or ties every transfer</a:t>
            </a:r>
          </a:p>
        </p:txBody>
      </p:sp>
      <p:sp>
        <p:nvSpPr>
          <p:cNvPr id="55" name="TextBox 55"/>
          <p:cNvSpPr txBox="1"/>
          <p:nvPr/>
        </p:nvSpPr>
        <p:spPr>
          <a:xfrm>
            <a:off x="9237254" y="4989195"/>
            <a:ext cx="2121309" cy="176212"/>
          </a:xfrm>
          <a:prstGeom prst="rect">
            <a:avLst/>
          </a:prstGeom>
          <a:noFill/>
          <a:ln>
            <a:noFill/>
          </a:ln>
        </p:spPr>
        <p:txBody>
          <a:bodyPr wrap="none" lIns="0" tIns="0" rIns="0" bIns="0" anchor="t" anchorCtr="0">
            <a:spAutoFit/>
          </a:bodyPr>
          <a:lstStyle/>
          <a:p>
            <a:pPr algn="r"/>
            <a:r>
              <a:rPr lang="en-US" sz="900" b="1" dirty="0">
                <a:solidFill>
                  <a:srgbClr val="6E869C"/>
                </a:solidFill>
                <a:latin typeface="+mn-lt"/>
                <a:ea typeface="+mn-ea"/>
                <a:cs typeface="+mn-cs"/>
              </a:rPr>
              <a:t>higher reward / success is better</a:t>
            </a:r>
          </a:p>
        </p:txBody>
      </p:sp>
      <p:sp>
        <p:nvSpPr>
          <p:cNvPr id="56" name="cue_s09_c1_few_numbers_capture_gains_zero_shot" title="cue_s09_c1_few_numbers_capture_gains_zero_shot" descr="cue_s09_c1_few_numbers_capture_gains_zero_shot A few numbers capture the gains. In zero-shot simple-to-complex transfer on the Empty-Random grid, KIAN scored about 0.93 at the sixteen-by-sixteen size while the best competing method reached only 0.53."/>
          <p:cNvSpPr/>
          <p:nvPr/>
        </p:nvSpPr>
        <p:spPr>
          <a:xfrm>
            <a:off x="609600" y="1581454"/>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9_c2_pick_and_place_task_tested_ten_times" title="cue_s09_c2_pick_and_place_task_tested_ten_times" descr="cue_s09_c2_pick_and_place_task_tested_ten_times On the Pick-and-Place task tested at a ten-times-larger goal range, KIAN reached 0.72 against 0.30 for the strongest baseline."/>
          <p:cNvSpPr/>
          <p:nvPr/>
        </p:nvSpPr>
        <p:spPr>
          <a:xfrm>
            <a:off x="609600" y="2876245"/>
            <a:ext cx="3505199"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9_c3_complex_to_simple_transfer_doorkey_e" title="cue_s09_c3_complex_to_simple_transfer_doorkey_e" descr="cue_s09_c3_complex_to_simple_transfer_doorkey_e In complex-to-simple transfer from DoorKey eight-by-eight to Reach, KIAN achieved a perfect 1.0 versus 0.80 for the reinforcement-learning baselines."/>
          <p:cNvSpPr/>
          <p:nvPr/>
        </p:nvSpPr>
        <p:spPr>
          <a:xfrm>
            <a:off x="4344009" y="2876245"/>
            <a:ext cx="3505199"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9_c4_all_measured_across_two_benchmark" title="cue_s09_c4_all_measured_across_two_benchmark" descr="cue_s09_c4_all_measured_across_two_benchmark All of this is measured across two benchmark suites, five baselines, and ten random seeds with ninety-five percent confidence intervals, and KIAN is the only method that succeeds everywhere."/>
          <p:cNvSpPr/>
          <p:nvPr/>
        </p:nvSpPr>
        <p:spPr>
          <a:xfrm>
            <a:off x="8077200" y="2876245"/>
            <a:ext cx="3505199"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6621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Knowledge as modular building blocks</a:t>
            </a:r>
          </a:p>
        </p:txBody>
      </p:sp>
      <p:grpSp>
        <p:nvGrpSpPr>
          <p:cNvPr id="14" name="Group 14"/>
          <p:cNvGrpSpPr/>
          <p:nvPr/>
        </p:nvGrpSpPr>
        <p:grpSpPr>
          <a:xfrm>
            <a:off x="609600" y="1676400"/>
            <a:ext cx="3505200" cy="3429000"/>
            <a:chOff x="609600" y="1676400"/>
            <a:chExt cx="3505200" cy="3429000"/>
          </a:xfrm>
        </p:grpSpPr>
        <p:sp>
          <p:nvSpPr>
            <p:cNvPr id="5" name="Rectangle 5"/>
            <p:cNvSpPr/>
            <p:nvPr/>
          </p:nvSpPr>
          <p:spPr>
            <a:xfrm>
              <a:off x="609600" y="1676400"/>
              <a:ext cx="3505200" cy="3429000"/>
            </a:xfrm>
            <a:prstGeom prst="roundRect">
              <a:avLst>
                <a:gd name="adj" fmla="val 3889"/>
              </a:avLst>
            </a:prstGeom>
            <a:solidFill>
              <a:schemeClr val="accent5"/>
            </a:solidFill>
            <a:ln w="14288">
              <a:solidFill>
                <a:schemeClr val="accent4"/>
              </a:solidFill>
            </a:ln>
          </p:spPr>
        </p:sp>
        <p:sp>
          <p:nvSpPr>
            <p:cNvPr id="6" name="Rectangle 6"/>
            <p:cNvSpPr/>
            <p:nvPr/>
          </p:nvSpPr>
          <p:spPr>
            <a:xfrm>
              <a:off x="609600" y="1676400"/>
              <a:ext cx="3505200" cy="57150"/>
            </a:xfrm>
            <a:prstGeom prst="roundRect">
              <a:avLst>
                <a:gd name="adj" fmla="val 50000"/>
              </a:avLst>
            </a:prstGeom>
            <a:solidFill>
              <a:schemeClr val="accent2"/>
            </a:solidFill>
            <a:ln>
              <a:noFill/>
            </a:ln>
          </p:spPr>
        </p:sp>
        <p:sp>
          <p:nvSpPr>
            <p:cNvPr id="7" name="Ellipse 7"/>
            <p:cNvSpPr/>
            <p:nvPr/>
          </p:nvSpPr>
          <p:spPr>
            <a:xfrm>
              <a:off x="828675" y="2085975"/>
              <a:ext cx="209550" cy="209550"/>
            </a:xfrm>
            <a:prstGeom prst="ellipse">
              <a:avLst/>
            </a:prstGeom>
            <a:solidFill>
              <a:schemeClr val="accent2"/>
            </a:solidFill>
            <a:ln>
              <a:noFill/>
            </a:ln>
          </p:spPr>
        </p:sp>
        <p:sp>
          <p:nvSpPr>
            <p:cNvPr id="8" name="TextBox 8"/>
            <p:cNvSpPr txBox="1"/>
            <p:nvPr/>
          </p:nvSpPr>
          <p:spPr>
            <a:xfrm>
              <a:off x="869061" y="2475071"/>
              <a:ext cx="187769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Each policy is a key</a:t>
              </a:r>
            </a:p>
          </p:txBody>
        </p:sp>
        <p:sp>
          <p:nvSpPr>
            <p:cNvPr id="9" name="TextBox 9"/>
            <p:cNvSpPr txBox="1"/>
            <p:nvPr/>
          </p:nvSpPr>
          <p:spPr>
            <a:xfrm>
              <a:off x="870966" y="2915602"/>
              <a:ext cx="21282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Treating each knowledge policy</a:t>
              </a:r>
            </a:p>
          </p:txBody>
        </p:sp>
        <p:sp>
          <p:nvSpPr>
            <p:cNvPr id="10" name="TextBox 10"/>
            <p:cNvSpPr txBox="1"/>
            <p:nvPr/>
          </p:nvSpPr>
          <p:spPr>
            <a:xfrm>
              <a:off x="870966" y="3125152"/>
              <a:ext cx="13040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as an independent,</a:t>
              </a:r>
            </a:p>
          </p:txBody>
        </p:sp>
        <p:sp>
          <p:nvSpPr>
            <p:cNvPr id="11" name="TextBox 11"/>
            <p:cNvSpPr txBox="1"/>
            <p:nvPr/>
          </p:nvSpPr>
          <p:spPr>
            <a:xfrm>
              <a:off x="870966" y="3334702"/>
              <a:ext cx="22793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attention-addressable key turns</a:t>
              </a:r>
            </a:p>
          </p:txBody>
        </p:sp>
        <p:sp>
          <p:nvSpPr>
            <p:cNvPr id="12" name="TextBox 12"/>
            <p:cNvSpPr txBox="1"/>
            <p:nvPr/>
          </p:nvSpPr>
          <p:spPr>
            <a:xfrm>
              <a:off x="870966" y="3544252"/>
              <a:ext cx="20461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external knowledge into truly</a:t>
              </a:r>
            </a:p>
          </p:txBody>
        </p:sp>
        <p:sp>
          <p:nvSpPr>
            <p:cNvPr id="13" name="TextBox 13"/>
            <p:cNvSpPr txBox="1"/>
            <p:nvPr/>
          </p:nvSpPr>
          <p:spPr>
            <a:xfrm>
              <a:off x="870966" y="3753802"/>
              <a:ext cx="16574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modular building blocks.</a:t>
              </a:r>
            </a:p>
          </p:txBody>
        </p:sp>
      </p:grpSp>
      <p:grpSp>
        <p:nvGrpSpPr>
          <p:cNvPr id="26" name="Group 26"/>
          <p:cNvGrpSpPr/>
          <p:nvPr/>
        </p:nvGrpSpPr>
        <p:grpSpPr>
          <a:xfrm>
            <a:off x="4343400" y="1676400"/>
            <a:ext cx="3505200" cy="3429000"/>
            <a:chOff x="4343400" y="1676400"/>
            <a:chExt cx="3505200" cy="3429000"/>
          </a:xfrm>
        </p:grpSpPr>
        <p:sp>
          <p:nvSpPr>
            <p:cNvPr id="15" name="Rectangle 15"/>
            <p:cNvSpPr/>
            <p:nvPr/>
          </p:nvSpPr>
          <p:spPr>
            <a:xfrm>
              <a:off x="4343400" y="1676400"/>
              <a:ext cx="3505200" cy="3429000"/>
            </a:xfrm>
            <a:prstGeom prst="roundRect">
              <a:avLst>
                <a:gd name="adj" fmla="val 3889"/>
              </a:avLst>
            </a:prstGeom>
            <a:solidFill>
              <a:schemeClr val="accent5"/>
            </a:solidFill>
            <a:ln w="14288">
              <a:solidFill>
                <a:schemeClr val="accent4"/>
              </a:solidFill>
            </a:ln>
          </p:spPr>
        </p:sp>
        <p:sp>
          <p:nvSpPr>
            <p:cNvPr id="16" name="Rectangle 16"/>
            <p:cNvSpPr/>
            <p:nvPr/>
          </p:nvSpPr>
          <p:spPr>
            <a:xfrm>
              <a:off x="4343400" y="1676400"/>
              <a:ext cx="3505200" cy="57150"/>
            </a:xfrm>
            <a:prstGeom prst="roundRect">
              <a:avLst>
                <a:gd name="adj" fmla="val 50000"/>
              </a:avLst>
            </a:prstGeom>
            <a:solidFill>
              <a:srgbClr val="33D6C0"/>
            </a:solidFill>
            <a:ln>
              <a:noFill/>
            </a:ln>
          </p:spPr>
        </p:sp>
        <p:sp>
          <p:nvSpPr>
            <p:cNvPr id="17" name="Ellipse 17"/>
            <p:cNvSpPr/>
            <p:nvPr/>
          </p:nvSpPr>
          <p:spPr>
            <a:xfrm>
              <a:off x="4562475" y="2085975"/>
              <a:ext cx="209550" cy="209550"/>
            </a:xfrm>
            <a:prstGeom prst="ellipse">
              <a:avLst/>
            </a:prstGeom>
            <a:solidFill>
              <a:srgbClr val="33D6C0"/>
            </a:solidFill>
            <a:ln>
              <a:noFill/>
            </a:ln>
          </p:spPr>
        </p:sp>
        <p:sp>
          <p:nvSpPr>
            <p:cNvPr id="18" name="TextBox 18"/>
            <p:cNvSpPr txBox="1"/>
            <p:nvPr/>
          </p:nvSpPr>
          <p:spPr>
            <a:xfrm>
              <a:off x="4602861" y="2475071"/>
              <a:ext cx="190886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Add, drop, reorder</a:t>
              </a:r>
            </a:p>
          </p:txBody>
        </p:sp>
        <p:sp>
          <p:nvSpPr>
            <p:cNvPr id="19" name="TextBox 19"/>
            <p:cNvSpPr txBox="1"/>
            <p:nvPr/>
          </p:nvSpPr>
          <p:spPr>
            <a:xfrm>
              <a:off x="4602861" y="2722721"/>
              <a:ext cx="62666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freely</a:t>
              </a:r>
            </a:p>
          </p:txBody>
        </p:sp>
        <p:sp>
          <p:nvSpPr>
            <p:cNvPr id="20" name="TextBox 20"/>
            <p:cNvSpPr txBox="1"/>
            <p:nvPr/>
          </p:nvSpPr>
          <p:spPr>
            <a:xfrm>
              <a:off x="4604766" y="3163252"/>
              <a:ext cx="186079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 agent can add, drop, or</a:t>
              </a:r>
            </a:p>
          </p:txBody>
        </p:sp>
        <p:sp>
          <p:nvSpPr>
            <p:cNvPr id="21" name="TextBox 21"/>
            <p:cNvSpPr txBox="1"/>
            <p:nvPr/>
          </p:nvSpPr>
          <p:spPr>
            <a:xfrm>
              <a:off x="4604766" y="3372802"/>
              <a:ext cx="21733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reorder its policies at any time</a:t>
              </a:r>
            </a:p>
          </p:txBody>
        </p:sp>
        <p:sp>
          <p:nvSpPr>
            <p:cNvPr id="22" name="TextBox 22"/>
            <p:cNvSpPr txBox="1"/>
            <p:nvPr/>
          </p:nvSpPr>
          <p:spPr>
            <a:xfrm>
              <a:off x="4604766" y="3582352"/>
              <a:ext cx="226521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without retraining the network,</a:t>
              </a:r>
            </a:p>
          </p:txBody>
        </p:sp>
        <p:sp>
          <p:nvSpPr>
            <p:cNvPr id="23" name="TextBox 23"/>
            <p:cNvSpPr txBox="1"/>
            <p:nvPr/>
          </p:nvSpPr>
          <p:spPr>
            <a:xfrm>
              <a:off x="4604766" y="3791902"/>
              <a:ext cx="20814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the entropy-imbalance fix</a:t>
              </a:r>
            </a:p>
          </p:txBody>
        </p:sp>
        <p:sp>
          <p:nvSpPr>
            <p:cNvPr id="24" name="TextBox 24"/>
            <p:cNvSpPr txBox="1"/>
            <p:nvPr/>
          </p:nvSpPr>
          <p:spPr>
            <a:xfrm>
              <a:off x="4604766" y="4001452"/>
              <a:ext cx="22793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keeps exploration efficient when</a:t>
              </a:r>
            </a:p>
          </p:txBody>
        </p:sp>
        <p:sp>
          <p:nvSpPr>
            <p:cNvPr id="25" name="TextBox 25"/>
            <p:cNvSpPr txBox="1"/>
            <p:nvPr/>
          </p:nvSpPr>
          <p:spPr>
            <a:xfrm>
              <a:off x="4604766" y="4211002"/>
              <a:ext cx="11344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many are fused.</a:t>
              </a:r>
            </a:p>
          </p:txBody>
        </p:sp>
      </p:grpSp>
      <p:grpSp>
        <p:nvGrpSpPr>
          <p:cNvPr id="38" name="Group 38"/>
          <p:cNvGrpSpPr/>
          <p:nvPr/>
        </p:nvGrpSpPr>
        <p:grpSpPr>
          <a:xfrm>
            <a:off x="8077200" y="1676400"/>
            <a:ext cx="3505200" cy="3429000"/>
            <a:chOff x="8077200" y="1676400"/>
            <a:chExt cx="3505200" cy="3429000"/>
          </a:xfrm>
        </p:grpSpPr>
        <p:sp>
          <p:nvSpPr>
            <p:cNvPr id="27" name="Rectangle 27"/>
            <p:cNvSpPr/>
            <p:nvPr/>
          </p:nvSpPr>
          <p:spPr>
            <a:xfrm>
              <a:off x="8077200" y="1676400"/>
              <a:ext cx="3505200" cy="3429000"/>
            </a:xfrm>
            <a:prstGeom prst="roundRect">
              <a:avLst>
                <a:gd name="adj" fmla="val 3889"/>
              </a:avLst>
            </a:prstGeom>
            <a:solidFill>
              <a:schemeClr val="accent5"/>
            </a:solidFill>
            <a:ln w="14288">
              <a:solidFill>
                <a:schemeClr val="accent4"/>
              </a:solidFill>
            </a:ln>
          </p:spPr>
        </p:sp>
        <p:sp>
          <p:nvSpPr>
            <p:cNvPr id="28" name="Rectangle 28"/>
            <p:cNvSpPr/>
            <p:nvPr/>
          </p:nvSpPr>
          <p:spPr>
            <a:xfrm>
              <a:off x="8077200" y="1676400"/>
              <a:ext cx="3505200" cy="57150"/>
            </a:xfrm>
            <a:prstGeom prst="roundRect">
              <a:avLst>
                <a:gd name="adj" fmla="val 50000"/>
              </a:avLst>
            </a:prstGeom>
            <a:solidFill>
              <a:srgbClr val="46C98B"/>
            </a:solidFill>
            <a:ln>
              <a:noFill/>
            </a:ln>
          </p:spPr>
        </p:sp>
        <p:sp>
          <p:nvSpPr>
            <p:cNvPr id="29" name="Ellipse 29"/>
            <p:cNvSpPr/>
            <p:nvPr/>
          </p:nvSpPr>
          <p:spPr>
            <a:xfrm>
              <a:off x="8296275" y="2085975"/>
              <a:ext cx="209550" cy="209550"/>
            </a:xfrm>
            <a:prstGeom prst="ellipse">
              <a:avLst/>
            </a:prstGeom>
            <a:solidFill>
              <a:srgbClr val="46C98B"/>
            </a:solidFill>
            <a:ln>
              <a:noFill/>
            </a:ln>
          </p:spPr>
        </p:sp>
        <p:sp>
          <p:nvSpPr>
            <p:cNvPr id="30" name="TextBox 30"/>
            <p:cNvSpPr txBox="1"/>
            <p:nvPr/>
          </p:nvSpPr>
          <p:spPr>
            <a:xfrm>
              <a:off x="8336661" y="2475071"/>
              <a:ext cx="133662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Faster, more</a:t>
              </a:r>
            </a:p>
          </p:txBody>
        </p:sp>
        <p:sp>
          <p:nvSpPr>
            <p:cNvPr id="31" name="TextBox 31"/>
            <p:cNvSpPr txBox="1"/>
            <p:nvPr/>
          </p:nvSpPr>
          <p:spPr>
            <a:xfrm>
              <a:off x="8336661" y="2722721"/>
              <a:ext cx="103958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flexible RL</a:t>
              </a:r>
            </a:p>
          </p:txBody>
        </p:sp>
        <p:sp>
          <p:nvSpPr>
            <p:cNvPr id="32" name="TextBox 32"/>
            <p:cNvSpPr txBox="1"/>
            <p:nvPr/>
          </p:nvSpPr>
          <p:spPr>
            <a:xfrm>
              <a:off x="8338566" y="3163252"/>
              <a:ext cx="20747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result is an RL actor that</a:t>
              </a:r>
            </a:p>
          </p:txBody>
        </p:sp>
        <p:sp>
          <p:nvSpPr>
            <p:cNvPr id="33" name="TextBox 33"/>
            <p:cNvSpPr txBox="1"/>
            <p:nvPr/>
          </p:nvSpPr>
          <p:spPr>
            <a:xfrm>
              <a:off x="8338566" y="3372802"/>
              <a:ext cx="18552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learns faster, generalizes</a:t>
              </a:r>
            </a:p>
          </p:txBody>
        </p:sp>
        <p:sp>
          <p:nvSpPr>
            <p:cNvPr id="34" name="TextBox 34"/>
            <p:cNvSpPr txBox="1"/>
            <p:nvPr/>
          </p:nvSpPr>
          <p:spPr>
            <a:xfrm>
              <a:off x="8338566" y="3582352"/>
              <a:ext cx="18977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better, and stays flexible,</a:t>
              </a:r>
            </a:p>
          </p:txBody>
        </p:sp>
        <p:sp>
          <p:nvSpPr>
            <p:cNvPr id="35" name="TextBox 35"/>
            <p:cNvSpPr txBox="1"/>
            <p:nvPr/>
          </p:nvSpPr>
          <p:spPr>
            <a:xfrm>
              <a:off x="8338566" y="3791902"/>
              <a:ext cx="19259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moving agents closer to the</a:t>
              </a:r>
            </a:p>
          </p:txBody>
        </p:sp>
        <p:sp>
          <p:nvSpPr>
            <p:cNvPr id="36" name="TextBox 36"/>
            <p:cNvSpPr txBox="1"/>
            <p:nvPr/>
          </p:nvSpPr>
          <p:spPr>
            <a:xfrm>
              <a:off x="8338566" y="4001452"/>
              <a:ext cx="206025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efficiency and adaptability of</a:t>
              </a:r>
            </a:p>
          </p:txBody>
        </p:sp>
        <p:sp>
          <p:nvSpPr>
            <p:cNvPr id="37" name="TextBox 37"/>
            <p:cNvSpPr txBox="1"/>
            <p:nvPr/>
          </p:nvSpPr>
          <p:spPr>
            <a:xfrm>
              <a:off x="8338566" y="4211002"/>
              <a:ext cx="10990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human learning.</a:t>
              </a:r>
            </a:p>
          </p:txBody>
        </p:sp>
      </p:grpSp>
      <p:sp>
        <p:nvSpPr>
          <p:cNvPr id="39" name="Line 39"/>
          <p:cNvSpPr/>
          <p:nvPr/>
        </p:nvSpPr>
        <p:spPr>
          <a:xfrm>
            <a:off x="609600" y="5391150"/>
            <a:ext cx="10972800" cy="9525"/>
          </a:xfrm>
          <a:custGeom>
            <a:avLst/>
            <a:gdLst/>
            <a:ahLst/>
            <a:cxnLst/>
            <a:rect l="l" t="t" r="r" b="b"/>
            <a:pathLst>
              <a:path w="10972800" h="9525">
                <a:moveTo>
                  <a:pt x="0" y="0"/>
                </a:moveTo>
                <a:lnTo>
                  <a:pt x="10972800" y="0"/>
                </a:lnTo>
              </a:path>
            </a:pathLst>
          </a:custGeom>
          <a:noFill/>
          <a:ln w="9525" cap="rnd">
            <a:solidFill>
              <a:schemeClr val="accent4"/>
            </a:solidFill>
          </a:ln>
        </p:spPr>
        <p:txBody>
          <a:bodyPr/>
          <a:p/>
        </p:txBody>
      </p:sp>
      <p:sp>
        <p:nvSpPr>
          <p:cNvPr id="40" name="Line 40"/>
          <p:cNvSpPr/>
          <p:nvPr/>
        </p:nvSpPr>
        <p:spPr>
          <a:xfrm>
            <a:off x="904875" y="5741194"/>
            <a:ext cx="238125" cy="202406"/>
          </a:xfrm>
          <a:custGeom>
            <a:avLst/>
            <a:gdLst/>
            <a:ahLst/>
            <a:cxnLst/>
            <a:rect l="l" t="t" r="r" b="b"/>
            <a:pathLst>
              <a:path w="238125" h="202406">
                <a:moveTo>
                  <a:pt x="238125" y="202406"/>
                </a:moveTo>
                <a:lnTo>
                  <a:pt x="0" y="0"/>
                </a:lnTo>
              </a:path>
            </a:pathLst>
          </a:custGeom>
          <a:noFill/>
          <a:ln w="15240" cap="rnd">
            <a:solidFill>
              <a:schemeClr val="accent4"/>
            </a:solidFill>
          </a:ln>
        </p:spPr>
        <p:txBody>
          <a:bodyPr/>
          <a:p/>
        </p:txBody>
      </p:sp>
      <p:sp>
        <p:nvSpPr>
          <p:cNvPr id="41" name="Line 41"/>
          <p:cNvSpPr/>
          <p:nvPr/>
        </p:nvSpPr>
        <p:spPr>
          <a:xfrm>
            <a:off x="904875" y="5943600"/>
            <a:ext cx="238125" cy="226219"/>
          </a:xfrm>
          <a:custGeom>
            <a:avLst/>
            <a:gdLst/>
            <a:ahLst/>
            <a:cxnLst/>
            <a:rect l="l" t="t" r="r" b="b"/>
            <a:pathLst>
              <a:path w="238125" h="226219">
                <a:moveTo>
                  <a:pt x="238125" y="0"/>
                </a:moveTo>
                <a:lnTo>
                  <a:pt x="0" y="226219"/>
                </a:lnTo>
              </a:path>
            </a:pathLst>
          </a:custGeom>
          <a:noFill/>
          <a:ln w="15240" cap="rnd">
            <a:solidFill>
              <a:schemeClr val="accent4"/>
            </a:solidFill>
          </a:ln>
        </p:spPr>
        <p:txBody>
          <a:bodyPr/>
          <a:p/>
        </p:txBody>
      </p:sp>
      <p:sp>
        <p:nvSpPr>
          <p:cNvPr id="42" name="Line 42"/>
          <p:cNvSpPr/>
          <p:nvPr/>
        </p:nvSpPr>
        <p:spPr>
          <a:xfrm>
            <a:off x="1143000" y="5741194"/>
            <a:ext cx="238125" cy="202406"/>
          </a:xfrm>
          <a:custGeom>
            <a:avLst/>
            <a:gdLst/>
            <a:ahLst/>
            <a:cxnLst/>
            <a:rect l="l" t="t" r="r" b="b"/>
            <a:pathLst>
              <a:path w="238125" h="202406">
                <a:moveTo>
                  <a:pt x="0" y="202406"/>
                </a:moveTo>
                <a:lnTo>
                  <a:pt x="238125" y="0"/>
                </a:lnTo>
              </a:path>
            </a:pathLst>
          </a:custGeom>
          <a:noFill/>
          <a:ln w="15240" cap="rnd">
            <a:solidFill>
              <a:schemeClr val="accent4"/>
            </a:solidFill>
          </a:ln>
        </p:spPr>
        <p:txBody>
          <a:bodyPr/>
          <a:p/>
        </p:txBody>
      </p:sp>
      <p:sp>
        <p:nvSpPr>
          <p:cNvPr id="43" name="Line 43"/>
          <p:cNvSpPr/>
          <p:nvPr/>
        </p:nvSpPr>
        <p:spPr>
          <a:xfrm>
            <a:off x="1143000" y="5943600"/>
            <a:ext cx="238125" cy="226219"/>
          </a:xfrm>
          <a:custGeom>
            <a:avLst/>
            <a:gdLst/>
            <a:ahLst/>
            <a:cxnLst/>
            <a:rect l="l" t="t" r="r" b="b"/>
            <a:pathLst>
              <a:path w="238125" h="226219">
                <a:moveTo>
                  <a:pt x="0" y="0"/>
                </a:moveTo>
                <a:lnTo>
                  <a:pt x="238125" y="226219"/>
                </a:lnTo>
              </a:path>
            </a:pathLst>
          </a:custGeom>
          <a:noFill/>
          <a:ln w="15240" cap="rnd">
            <a:solidFill>
              <a:schemeClr val="accent4"/>
            </a:solidFill>
          </a:ln>
        </p:spPr>
        <p:txBody>
          <a:bodyPr/>
          <a:p/>
        </p:txBody>
      </p:sp>
      <p:sp>
        <p:nvSpPr>
          <p:cNvPr id="44" name="Ellipse 44"/>
          <p:cNvSpPr/>
          <p:nvPr/>
        </p:nvSpPr>
        <p:spPr>
          <a:xfrm>
            <a:off x="819150" y="5655469"/>
            <a:ext cx="171450" cy="171450"/>
          </a:xfrm>
          <a:prstGeom prst="ellipse">
            <a:avLst/>
          </a:prstGeom>
          <a:solidFill>
            <a:srgbClr val="33D6C0"/>
          </a:solidFill>
          <a:ln>
            <a:noFill/>
          </a:ln>
        </p:spPr>
        <p:txBody>
          <a:bodyPr/>
          <a:p/>
        </p:txBody>
      </p:sp>
      <p:sp>
        <p:nvSpPr>
          <p:cNvPr id="45" name="Ellipse 45"/>
          <p:cNvSpPr/>
          <p:nvPr/>
        </p:nvSpPr>
        <p:spPr>
          <a:xfrm>
            <a:off x="819150" y="6084094"/>
            <a:ext cx="171450" cy="171450"/>
          </a:xfrm>
          <a:prstGeom prst="ellipse">
            <a:avLst/>
          </a:prstGeom>
          <a:solidFill>
            <a:schemeClr val="accent2"/>
          </a:solidFill>
          <a:ln>
            <a:noFill/>
          </a:ln>
        </p:spPr>
        <p:txBody>
          <a:bodyPr/>
          <a:p/>
        </p:txBody>
      </p:sp>
      <p:sp>
        <p:nvSpPr>
          <p:cNvPr id="46" name="Ellipse 46"/>
          <p:cNvSpPr/>
          <p:nvPr/>
        </p:nvSpPr>
        <p:spPr>
          <a:xfrm>
            <a:off x="1295400" y="5655469"/>
            <a:ext cx="171450" cy="171450"/>
          </a:xfrm>
          <a:prstGeom prst="ellipse">
            <a:avLst/>
          </a:prstGeom>
          <a:solidFill>
            <a:srgbClr val="F4C24C"/>
          </a:solidFill>
          <a:ln>
            <a:noFill/>
          </a:ln>
        </p:spPr>
        <p:txBody>
          <a:bodyPr/>
          <a:p/>
        </p:txBody>
      </p:sp>
      <p:sp>
        <p:nvSpPr>
          <p:cNvPr id="47" name="Ellipse 47"/>
          <p:cNvSpPr/>
          <p:nvPr/>
        </p:nvSpPr>
        <p:spPr>
          <a:xfrm>
            <a:off x="1295400" y="6084094"/>
            <a:ext cx="171450" cy="171450"/>
          </a:xfrm>
          <a:prstGeom prst="ellipse">
            <a:avLst/>
          </a:prstGeom>
          <a:solidFill>
            <a:srgbClr val="F2685C"/>
          </a:solidFill>
          <a:ln>
            <a:noFill/>
          </a:ln>
        </p:spPr>
        <p:txBody>
          <a:bodyPr/>
          <a:p/>
        </p:txBody>
      </p:sp>
      <p:sp>
        <p:nvSpPr>
          <p:cNvPr id="48" name="Ellipse 48"/>
          <p:cNvSpPr/>
          <p:nvPr/>
        </p:nvSpPr>
        <p:spPr>
          <a:xfrm>
            <a:off x="971550" y="5772150"/>
            <a:ext cx="342900" cy="342900"/>
          </a:xfrm>
          <a:prstGeom prst="ellipse">
            <a:avLst/>
          </a:prstGeom>
          <a:noFill/>
          <a:ln w="22860">
            <a:solidFill>
              <a:srgbClr val="FFFFFF"/>
            </a:solidFill>
          </a:ln>
        </p:spPr>
        <p:txBody>
          <a:bodyPr/>
          <a:p/>
        </p:txBody>
      </p:sp>
      <p:sp>
        <p:nvSpPr>
          <p:cNvPr id="49" name="Ellipse 49"/>
          <p:cNvSpPr/>
          <p:nvPr/>
        </p:nvSpPr>
        <p:spPr>
          <a:xfrm>
            <a:off x="1076325" y="5876925"/>
            <a:ext cx="133350" cy="133350"/>
          </a:xfrm>
          <a:prstGeom prst="ellipse">
            <a:avLst/>
          </a:prstGeom>
          <a:solidFill>
            <a:srgbClr val="FFFFFF"/>
          </a:solidFill>
          <a:ln>
            <a:noFill/>
          </a:ln>
        </p:spPr>
        <p:txBody>
          <a:bodyPr/>
          <a:p/>
        </p:txBody>
      </p:sp>
      <p:sp>
        <p:nvSpPr>
          <p:cNvPr id="50" name="TextBox 50"/>
          <p:cNvSpPr txBox="1"/>
          <p:nvPr/>
        </p:nvSpPr>
        <p:spPr>
          <a:xfrm>
            <a:off x="732560" y="5483066"/>
            <a:ext cx="820880" cy="161925"/>
          </a:xfrm>
          <a:prstGeom prst="rect">
            <a:avLst/>
          </a:prstGeom>
          <a:noFill/>
          <a:ln>
            <a:noFill/>
          </a:ln>
        </p:spPr>
        <p:txBody>
          <a:bodyPr wrap="none" lIns="0" tIns="0" rIns="0" bIns="0" anchor="t" anchorCtr="0">
            <a:spAutoFit/>
          </a:bodyPr>
          <a:lstStyle/>
          <a:p>
            <a:pPr algn="ctr"/>
            <a:r>
              <a:rPr lang="en-US" sz="820" b="1" dirty="0">
                <a:solidFill>
                  <a:srgbClr val="33D6C0"/>
                </a:solidFill>
                <a:latin typeface="+mn-lt"/>
                <a:ea typeface="+mn-ea"/>
                <a:cs typeface="+mn-cs"/>
              </a:rPr>
              <a:t>keys = policies</a:t>
            </a:r>
          </a:p>
        </p:txBody>
      </p:sp>
      <p:sp>
        <p:nvSpPr>
          <p:cNvPr id="51" name="TextBox 51"/>
          <p:cNvSpPr txBox="1"/>
          <p:nvPr/>
        </p:nvSpPr>
        <p:spPr>
          <a:xfrm>
            <a:off x="648951" y="6317218"/>
            <a:ext cx="988098"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attention fusion</a:t>
            </a:r>
          </a:p>
        </p:txBody>
      </p:sp>
      <p:sp>
        <p:nvSpPr>
          <p:cNvPr id="52" name="TextBox 52"/>
          <p:cNvSpPr txBox="1"/>
          <p:nvPr/>
        </p:nvSpPr>
        <p:spPr>
          <a:xfrm>
            <a:off x="7378741" y="5830252"/>
            <a:ext cx="420899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KIAN · Attention-Based Multi-Policy Fusion · NeurIPS 2023</a:t>
            </a:r>
          </a:p>
        </p:txBody>
      </p:sp>
      <p:sp>
        <p:nvSpPr>
          <p:cNvPr id="53" name="cue_s10_c1_lasting_message_treating_knowledge_p" title="cue_s10_c1_lasting_message_treating_knowledge_p" descr="cue_s10_c1_lasting_message_treating_knowledge_p The lasting message is that treating each knowledge policy as an independent, attention-addressable key turns external knowledge into truly modular building blocks."/>
          <p:cNvSpPr/>
          <p:nvPr/>
        </p:nvSpPr>
        <p:spPr>
          <a:xfrm>
            <a:off x="609600" y="1676095"/>
            <a:ext cx="3505199"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10_c2_agent_add_drop_reorder_its" title="cue_s10_c2_agent_add_drop_reorder_its" descr="cue_s10_c2_agent_add_drop_reorder_its An agent can add, drop, or reorder its policies at any time without retraining the network, and the paper's fix for entropy imbalance keeps exploration efficient when many policies are fused."/>
          <p:cNvSpPr/>
          <p:nvPr/>
        </p:nvSpPr>
        <p:spPr>
          <a:xfrm>
            <a:off x="4344009" y="1676095"/>
            <a:ext cx="3505199"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10_c3_result_reinforcement_learning_actor" title="cue_s10_c3_result_reinforcement_learning_actor" descr="cue_s10_c3_result_reinforcement_learning_actor The result is a reinforcement learning actor that learns faster, generalizes better, and stays flexible, moving agents a step closer to the efficiency and adaptability of human learning."/>
          <p:cNvSpPr/>
          <p:nvPr/>
        </p:nvSpPr>
        <p:spPr>
          <a:xfrm>
            <a:off x="8077200" y="1676095"/>
            <a:ext cx="3505199"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A2B"/>
      </a:lt1>
      <a:dk2>
        <a:srgbClr val="9DB3C8"/>
      </a:dk2>
      <a:lt2>
        <a:srgbClr val="0B1A2B"/>
      </a:lt2>
      <a:accent1>
        <a:srgbClr val="3E9BFF"/>
      </a:accent1>
      <a:accent2>
        <a:srgbClr val="3E9BFF"/>
      </a:accent2>
      <a:accent3>
        <a:srgbClr val="3E9BFF"/>
      </a:accent3>
      <a:accent4>
        <a:srgbClr val="2A4D6E"/>
      </a:accent4>
      <a:accent5>
        <a:srgbClr val="122A42"/>
      </a:accent5>
      <a:accent6>
        <a:srgbClr val="173453"/>
      </a:accent6>
      <a:hlink>
        <a:srgbClr val="3E9BFF"/>
      </a:hlink>
      <a:folHlink>
        <a:srgbClr val="3E9BFF"/>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2026-07-16T17:35:42Z</dcterms:created>
  <dcterms:modified xsi:type="dcterms:W3CDTF">2026-07-16T17:35:42Z</dcterms:modified>
  <cp:category/>
  <cp:contentStatus/>
</cp:coreProperties>
</file>
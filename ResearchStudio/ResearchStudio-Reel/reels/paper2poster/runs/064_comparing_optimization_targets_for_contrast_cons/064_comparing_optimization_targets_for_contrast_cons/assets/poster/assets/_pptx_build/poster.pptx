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F6ECE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76783"/>
            <a:ext cx="10804961" cy="8949868"/>
          </a:xfrm>
          <a:prstGeom prst="roundRect">
            <a:avLst>
              <a:gd name="adj" fmla="val 595"/>
            </a:avLst>
          </a:prstGeom>
          <a:solidFill>
            <a:srgbClr val="FAFAF7"/>
          </a:solidFill>
          <a:ln w="8890">
            <a:solidFill>
              <a:srgbClr val="CEC0B3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5376783"/>
            <a:ext cx="13506133" cy="24695169"/>
          </a:xfrm>
          <a:prstGeom prst="roundRect">
            <a:avLst>
              <a:gd name="adj" fmla="val 394"/>
            </a:avLst>
          </a:prstGeom>
          <a:solidFill>
            <a:srgbClr val="FAFAF7"/>
          </a:solidFill>
          <a:ln w="8890">
            <a:solidFill>
              <a:srgbClr val="CEC0B3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6421" y="5376783"/>
            <a:ext cx="13506271" cy="24695169"/>
          </a:xfrm>
          <a:prstGeom prst="roundRect">
            <a:avLst>
              <a:gd name="adj" fmla="val 394"/>
            </a:avLst>
          </a:prstGeom>
          <a:solidFill>
            <a:srgbClr val="FAFAF7"/>
          </a:solidFill>
          <a:ln w="8890">
            <a:solidFill>
              <a:srgbClr val="CEC0B3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5376783"/>
            <a:ext cx="10804962" cy="6907113"/>
          </a:xfrm>
          <a:prstGeom prst="roundRect">
            <a:avLst>
              <a:gd name="adj" fmla="val 772"/>
            </a:avLst>
          </a:prstGeom>
          <a:solidFill>
            <a:srgbClr val="FAFAF7"/>
          </a:solidFill>
          <a:ln w="8890">
            <a:solidFill>
              <a:srgbClr val="CEC0B3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12615743"/>
            <a:ext cx="10804962" cy="11127502"/>
          </a:xfrm>
          <a:prstGeom prst="roundRect">
            <a:avLst>
              <a:gd name="adj" fmla="val 493"/>
            </a:avLst>
          </a:prstGeom>
          <a:solidFill>
            <a:srgbClr val="F7F0E8"/>
          </a:solidFill>
          <a:ln w="8890">
            <a:solidFill>
              <a:srgbClr val="CEC0B3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12615743"/>
            <a:ext cx="53340" cy="11127502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887" y="14658498"/>
            <a:ext cx="10804961" cy="15413454"/>
          </a:xfrm>
          <a:prstGeom prst="roundRect">
            <a:avLst>
              <a:gd name="adj" fmla="val 493"/>
            </a:avLst>
          </a:prstGeom>
          <a:solidFill>
            <a:srgbClr val="FAFAF7"/>
          </a:solidFill>
          <a:ln w="8890">
            <a:solidFill>
              <a:srgbClr val="CEC0B3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49412" y="24075092"/>
            <a:ext cx="10804962" cy="5996860"/>
          </a:xfrm>
          <a:prstGeom prst="roundRect">
            <a:avLst>
              <a:gd name="adj" fmla="val 889"/>
            </a:avLst>
          </a:prstGeom>
          <a:solidFill>
            <a:srgbClr val="FAFAF7"/>
          </a:solidFill>
          <a:ln w="8890">
            <a:solidFill>
              <a:srgbClr val="CEC0B3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xford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3832" y="1620073"/>
            <a:ext cx="7706241" cy="2266930"/>
          </a:xfrm>
          <a:prstGeom prst="rect">
            <a:avLst/>
          </a:prstGeom>
        </p:spPr>
      </p:pic>
      <p:pic>
        <p:nvPicPr>
          <p:cNvPr id="12" name="Picture 11" descr="king-s-college-lond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7047" y="1620068"/>
            <a:ext cx="3388479" cy="2266940"/>
          </a:xfrm>
          <a:prstGeom prst="rect">
            <a:avLst/>
          </a:prstGeom>
        </p:spPr>
      </p:pic>
      <p:pic>
        <p:nvPicPr>
          <p:cNvPr id="13" name="Picture 12" descr="_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087" y="1805367"/>
            <a:ext cx="4344988" cy="189648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39991" y="5764887"/>
            <a:ext cx="1002875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991" y="6725007"/>
            <a:ext cx="10028753" cy="17780"/>
          </a:xfrm>
          <a:prstGeom prst="rect">
            <a:avLst/>
          </a:prstGeom>
          <a:solidFill>
            <a:srgbClr val="E3CB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271672" y="5764887"/>
            <a:ext cx="12729925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271672" y="6725007"/>
            <a:ext cx="12729925" cy="17780"/>
          </a:xfrm>
          <a:prstGeom prst="rect">
            <a:avLst/>
          </a:prstGeom>
          <a:solidFill>
            <a:srgbClr val="E3CB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204525" y="5764887"/>
            <a:ext cx="1273006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204525" y="6725007"/>
            <a:ext cx="12730063" cy="17780"/>
          </a:xfrm>
          <a:prstGeom prst="rect">
            <a:avLst/>
          </a:prstGeom>
          <a:solidFill>
            <a:srgbClr val="E3CB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37516" y="5764887"/>
            <a:ext cx="1002875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137516" y="6725007"/>
            <a:ext cx="10028754" cy="17780"/>
          </a:xfrm>
          <a:prstGeom prst="rect">
            <a:avLst/>
          </a:prstGeom>
          <a:solidFill>
            <a:srgbClr val="E3CB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137516" y="7062827"/>
            <a:ext cx="10028754" cy="4842827"/>
          </a:xfrm>
          <a:prstGeom prst="roundRect">
            <a:avLst>
              <a:gd name="adj" fmla="val 1468"/>
            </a:avLst>
          </a:prstGeom>
          <a:gradFill rotWithShape="1" flip="none">
            <a:gsLst>
              <a:gs pos="0">
                <a:srgbClr val="F4EAE4"/>
              </a:gs>
              <a:gs pos="100000">
                <a:srgbClr val="F9F5F1"/>
              </a:gs>
            </a:gsLst>
            <a:lin ang="5400000" scaled="0"/>
          </a:gradFill>
          <a:ln w="8890">
            <a:solidFill>
              <a:srgbClr val="E8D4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1104582"/>
            <a:ext cx="10028753" cy="28370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9991" y="11104582"/>
            <a:ext cx="124460" cy="2837021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181966" y="13003847"/>
            <a:ext cx="998430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181966" y="13963967"/>
            <a:ext cx="9984304" cy="17780"/>
          </a:xfrm>
          <a:prstGeom prst="rect">
            <a:avLst/>
          </a:prstGeom>
          <a:solidFill>
            <a:srgbClr val="E3CB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6204525" y="13439318"/>
            <a:ext cx="12730063" cy="1942187"/>
          </a:xfrm>
          <a:prstGeom prst="roundRect">
            <a:avLst>
              <a:gd name="adj" fmla="val 50000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9991" y="15046602"/>
            <a:ext cx="1002875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9991" y="16006722"/>
            <a:ext cx="10028753" cy="17780"/>
          </a:xfrm>
          <a:prstGeom prst="rect">
            <a:avLst/>
          </a:prstGeom>
          <a:solidFill>
            <a:srgbClr val="E3CB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204525" y="15991998"/>
            <a:ext cx="12730063" cy="29111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204525" y="15991998"/>
            <a:ext cx="12730063" cy="11557"/>
          </a:xfrm>
          <a:prstGeom prst="rect">
            <a:avLst/>
          </a:prstGeom>
          <a:solidFill>
            <a:srgbClr val="DFC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2271672" y="16038115"/>
            <a:ext cx="12729925" cy="1479907"/>
          </a:xfrm>
          <a:prstGeom prst="roundRect">
            <a:avLst>
              <a:gd name="adj" fmla="val 15224"/>
            </a:avLst>
          </a:prstGeom>
          <a:solidFill>
            <a:srgbClr val="F9F5F1"/>
          </a:solidFill>
          <a:ln w="8890">
            <a:solidFill>
              <a:srgbClr val="E1C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0181966" y="20346848"/>
            <a:ext cx="9984304" cy="3024823"/>
          </a:xfrm>
          <a:prstGeom prst="roundRect">
            <a:avLst>
              <a:gd name="adj" fmla="val 6896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9991" y="27363420"/>
            <a:ext cx="10028753" cy="2325985"/>
          </a:xfrm>
          <a:prstGeom prst="roundRect">
            <a:avLst>
              <a:gd name="adj" fmla="val 8969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4187" y="7285077"/>
            <a:ext cx="4196218" cy="44458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4187" y="7285077"/>
            <a:ext cx="11557" cy="4445833"/>
          </a:xfrm>
          <a:prstGeom prst="rect">
            <a:avLst/>
          </a:prstGeom>
          <a:solidFill>
            <a:srgbClr val="E8D4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2404605" y="17919461"/>
            <a:ext cx="12463919" cy="9929019"/>
          </a:xfrm>
          <a:prstGeom prst="roundRect">
            <a:avLst>
              <a:gd name="adj" fmla="val 35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age7_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4611" y="17919461"/>
            <a:ext cx="12463908" cy="9929019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26204525" y="19472572"/>
            <a:ext cx="2986901" cy="1994833"/>
          </a:xfrm>
          <a:prstGeom prst="roundRect">
            <a:avLst>
              <a:gd name="adj" fmla="val 13072"/>
            </a:avLst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9452153" y="19472572"/>
            <a:ext cx="2987040" cy="1994833"/>
          </a:xfrm>
          <a:prstGeom prst="roundRect">
            <a:avLst>
              <a:gd name="adj" fmla="val 13072"/>
            </a:avLst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699920" y="19472572"/>
            <a:ext cx="2986901" cy="1994833"/>
          </a:xfrm>
          <a:prstGeom prst="roundRect">
            <a:avLst>
              <a:gd name="adj" fmla="val 13072"/>
            </a:avLst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947548" y="19472572"/>
            <a:ext cx="2987040" cy="1994833"/>
          </a:xfrm>
          <a:prstGeom prst="roundRect">
            <a:avLst>
              <a:gd name="adj" fmla="val 13072"/>
            </a:avLst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6204525" y="22057617"/>
            <a:ext cx="12730063" cy="5128975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page8_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04545" y="22057617"/>
            <a:ext cx="12730022" cy="5128975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43650177" y="24273589"/>
            <a:ext cx="3003431" cy="515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650177" y="24771290"/>
            <a:ext cx="3003431" cy="17780"/>
          </a:xfrm>
          <a:prstGeom prst="rect">
            <a:avLst/>
          </a:prstGeom>
          <a:solidFill>
            <a:srgbClr val="E3CB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0500061" y="25002430"/>
            <a:ext cx="9303663" cy="4871025"/>
          </a:xfrm>
          <a:prstGeom prst="roundRect">
            <a:avLst>
              <a:gd name="adj" fmla="val 4380"/>
            </a:avLst>
          </a:prstGeom>
          <a:solidFill>
            <a:srgbClr val="F6ECE1"/>
          </a:solidFill>
          <a:ln w="17780">
            <a:solidFill>
              <a:srgbClr val="A25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204525" y="10934144"/>
            <a:ext cx="12730063" cy="945118"/>
          </a:xfrm>
          <a:prstGeom prst="rect">
            <a:avLst/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204525" y="7392312"/>
            <a:ext cx="6342181" cy="706478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204525" y="8089900"/>
            <a:ext cx="634218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546706" y="7392312"/>
            <a:ext cx="3542526" cy="706478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546706" y="8089900"/>
            <a:ext cx="354252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089232" y="7392312"/>
            <a:ext cx="2845356" cy="706478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089232" y="8089900"/>
            <a:ext cx="284535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6204525" y="8098790"/>
            <a:ext cx="634218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204525" y="9035018"/>
            <a:ext cx="634218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546706" y="8098790"/>
            <a:ext cx="35425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546706" y="9035018"/>
            <a:ext cx="354252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089232" y="8098790"/>
            <a:ext cx="284535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089232" y="9035018"/>
            <a:ext cx="284535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6204525" y="9043908"/>
            <a:ext cx="634218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204525" y="9980136"/>
            <a:ext cx="634218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2546706" y="9043908"/>
            <a:ext cx="35425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546706" y="9980136"/>
            <a:ext cx="354252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089232" y="9043908"/>
            <a:ext cx="284535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089232" y="9980136"/>
            <a:ext cx="284535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204525" y="9989026"/>
            <a:ext cx="634218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204525" y="10925254"/>
            <a:ext cx="634218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546706" y="9989026"/>
            <a:ext cx="35425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546706" y="10925254"/>
            <a:ext cx="354252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089232" y="9989026"/>
            <a:ext cx="284535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089232" y="10925254"/>
            <a:ext cx="284535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6204525" y="10934144"/>
            <a:ext cx="634218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6204525" y="11870372"/>
            <a:ext cx="634218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2546706" y="10934144"/>
            <a:ext cx="35425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546706" y="11870372"/>
            <a:ext cx="354252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089232" y="10934144"/>
            <a:ext cx="284535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6089232" y="11870372"/>
            <a:ext cx="284535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6204525" y="11879262"/>
            <a:ext cx="634218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6204525" y="12815490"/>
            <a:ext cx="634218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2546706" y="11879262"/>
            <a:ext cx="35425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2546706" y="12815490"/>
            <a:ext cx="354252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6089232" y="11879262"/>
            <a:ext cx="284535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6089232" y="12815490"/>
            <a:ext cx="2845356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1823282" y="25300245"/>
            <a:ext cx="1425317" cy="488117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6310788" y="25300245"/>
            <a:ext cx="1339195" cy="488117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0995123" y="25930602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pap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13656" y="26049135"/>
            <a:ext cx="2844708" cy="2844708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45439568" y="25930602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58101" y="26049135"/>
            <a:ext cx="2844708" cy="2844708"/>
          </a:xfrm>
          <a:prstGeom prst="rect">
            <a:avLst/>
          </a:prstGeom>
        </p:spPr>
      </p:pic>
      <p:sp>
        <p:nvSpPr>
          <p:cNvPr id="91" name="Rounded Rectangle 90"/>
          <p:cNvSpPr/>
          <p:nvPr/>
        </p:nvSpPr>
        <p:spPr>
          <a:xfrm>
            <a:off x="40968175" y="29154616"/>
            <a:ext cx="3135670" cy="421163"/>
          </a:xfrm>
          <a:prstGeom prst="roundRect">
            <a:avLst>
              <a:gd name="adj" fmla="val 50000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73" b="1">
                <a:solidFill>
                  <a:srgbClr val="A2521C"/>
                </a:solidFill>
                <a:latin typeface="Arial"/>
              </a:rPr>
              <a:t>arxiv.org/abs/2311.00488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4625299" y="29154616"/>
            <a:ext cx="4710311" cy="421163"/>
          </a:xfrm>
          <a:prstGeom prst="roundRect">
            <a:avLst>
              <a:gd name="adj" fmla="val 50000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73" b="1">
                <a:solidFill>
                  <a:srgbClr val="A2521C"/>
                </a:solidFill>
                <a:latin typeface="Arial"/>
              </a:rPr>
              <a:t>github.com/ash-ai-safety-hub/g3-nandi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A2521C"/>
                </a:solidFill>
                <a:latin typeface="Arial"/>
              </a:rPr>
              <a:t>Comparing Optimization Targets for Contrast-</a:t>
            </a:r>
          </a:p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A2521C"/>
                </a:solidFill>
                <a:latin typeface="Arial"/>
              </a:rPr>
              <a:t>Consistent Search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Hugo Fry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Seamus Fallows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Ian Fan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Jamie Wright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Nandi Schoots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Independent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Oxford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King's College London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9991" y="5764887"/>
            <a:ext cx="10329615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Problem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271672" y="5764887"/>
            <a:ext cx="13111822" cy="1124585"/>
          </a:xfrm>
          <a:prstGeom prst="rect">
            <a:avLst/>
          </a:prstGeom>
          <a:noFill/>
        </p:spPr>
        <p:txBody>
          <a:bodyPr wrap="non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Method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204525" y="5764887"/>
            <a:ext cx="13111964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Key Results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137516" y="5764887"/>
            <a:ext cx="10329616" cy="1124585"/>
          </a:xfrm>
          <a:prstGeom prst="rect">
            <a:avLst/>
          </a:prstGeom>
          <a:noFill/>
        </p:spPr>
        <p:txBody>
          <a:bodyPr wrap="square" lIns="0" rIns="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Headline Numbers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9991" y="7062827"/>
            <a:ext cx="10329615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Contrast-Consistent Search (CCS) recovers a language model’s internal “truth” direction without labels, using only the constraint that a statement and its negation disagree.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9991" y="11104582"/>
            <a:ext cx="10329615" cy="3262574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CCS works well — yet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what its loss optimizes for, and whether that target is optimal, is poorly understood.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181966" y="13003847"/>
            <a:ext cx="10283833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Takeaway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04525" y="13439318"/>
            <a:ext cx="13111964" cy="2233515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A2521C"/>
                </a:solidFill>
                <a:latin typeface="Arial"/>
              </a:rPr>
              <a:t>+4% avg accuracy over CCS · wins on 3 of 4 models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181966" y="14547234"/>
            <a:ext cx="10283833" cy="6087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CCS works because of the </a:t>
            </a:r>
            <a:r>
              <a:rPr sz="4106" b="1">
                <a:solidFill>
                  <a:srgbClr val="111111"/>
                </a:solidFill>
                <a:latin typeface="Arial"/>
              </a:rPr>
              <a:t>displacement information</a:t>
            </a:r>
            <a:r>
              <a:rPr sz="4106" b="0">
                <a:solidFill>
                  <a:srgbClr val="1C1C1C"/>
                </a:solidFill>
                <a:latin typeface="Arial"/>
              </a:rPr>
              <a:t> in its contrast-pair training data — the gap between a statement and its negation — not the shape of its loss function. A simple Midpoint-Displacement loss reproduces CCS closely and, retuned, outperforms it.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9991" y="15046602"/>
            <a:ext cx="10329615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Motivation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204525" y="15991998"/>
            <a:ext cx="13111964" cy="3347876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MD-CCS’s 0.63 similarity (vs 0.14–0.17 for every other accurate loss) is specific to MD — it faithfully recovers CCS’s target, not a generic byproduct of high accuracy.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8457862" y="17068383"/>
            <a:ext cx="362547" cy="357822"/>
          </a:xfrm>
          <a:prstGeom prst="rect">
            <a:avLst/>
          </a:prstGeom>
          <a:noFill/>
        </p:spPr>
        <p:txBody>
          <a:bodyPr wrap="non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 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 · 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                                                             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181966" y="20346848"/>
            <a:ext cx="10283833" cy="3478546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The exact loss is interchangeable among accurate probes; the real lever is the </a:t>
            </a:r>
            <a:r>
              <a:rPr sz="4106" b="1">
                <a:solidFill>
                  <a:srgbClr val="111111"/>
                </a:solidFill>
                <a:latin typeface="Arial"/>
              </a:rPr>
              <a:t>displacement–midpoint trade-off</a:t>
            </a:r>
            <a:r>
              <a:rPr sz="4106" b="1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39991" y="27363420"/>
            <a:ext cx="10329615" cy="2674882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A2521C"/>
                </a:solidFill>
                <a:latin typeface="Arial"/>
              </a:rPr>
              <a:t>A cleaner account of CCS’s </a:t>
            </a:r>
            <a:r>
              <a:rPr sz="4106" b="1">
                <a:solidFill>
                  <a:srgbClr val="111111"/>
                </a:solidFill>
                <a:latin typeface="Arial"/>
              </a:rPr>
              <a:t>true optimization target</a:t>
            </a:r>
            <a:r>
              <a:rPr sz="4106" b="0">
                <a:solidFill>
                  <a:srgbClr val="A2521C"/>
                </a:solidFill>
                <a:latin typeface="Arial"/>
              </a:rPr>
              <a:t> is needed before the probe can be trusted or improved.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271654" y="7062827"/>
            <a:ext cx="13111841" cy="39215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Decompose CCS along a unit direction </a:t>
            </a:r>
            <a:r>
              <a:rPr sz="4353" b="1">
                <a:solidFill>
                  <a:srgbClr val="111111"/>
                </a:solidFill>
                <a:latin typeface="Arial"/>
              </a:rPr>
              <a:t>θ̂</a:t>
            </a:r>
            <a:r>
              <a:rPr sz="4106" b="0">
                <a:solidFill>
                  <a:srgbClr val="1C1C1C"/>
                </a:solidFill>
                <a:latin typeface="Arial"/>
              </a:rPr>
              <a:t> into </a:t>
            </a:r>
            <a:r>
              <a:rPr sz="4106" b="1">
                <a:solidFill>
                  <a:srgbClr val="111111"/>
                </a:solidFill>
                <a:latin typeface="Arial"/>
              </a:rPr>
              <a:t>displacement variance</a:t>
            </a:r>
            <a:r>
              <a:rPr sz="4106" b="0">
                <a:solidFill>
                  <a:srgbClr val="1C1C1C"/>
                </a:solidFill>
                <a:latin typeface="Arial"/>
              </a:rPr>
              <a:t> σ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d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2</a:t>
            </a:r>
            <a:r>
              <a:rPr sz="4106" b="0">
                <a:solidFill>
                  <a:srgbClr val="1C1C1C"/>
                </a:solidFill>
                <a:latin typeface="Arial"/>
              </a:rPr>
              <a:t> (how far a statement and its negation separate) and </a:t>
            </a:r>
            <a:r>
              <a:rPr sz="4106" b="1">
                <a:solidFill>
                  <a:srgbClr val="111111"/>
                </a:solidFill>
                <a:latin typeface="Arial"/>
              </a:rPr>
              <a:t>midpoint variance</a:t>
            </a:r>
            <a:r>
              <a:rPr sz="4106" b="0">
                <a:solidFill>
                  <a:srgbClr val="1C1C1C"/>
                </a:solidFill>
                <a:latin typeface="Arial"/>
              </a:rPr>
              <a:t> σ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m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2</a:t>
            </a:r>
            <a:r>
              <a:rPr sz="4106" b="0">
                <a:solidFill>
                  <a:srgbClr val="1C1C1C"/>
                </a:solidFill>
                <a:latin typeface="Arial"/>
              </a:rPr>
              <a:t> (how far their midpoint sits from origin).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271654" y="10655359"/>
            <a:ext cx="13111841" cy="2999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CCS’s double-saturating sigmoid forces a </a:t>
            </a:r>
            <a:r>
              <a:rPr sz="4106" b="1">
                <a:solidFill>
                  <a:srgbClr val="111111"/>
                </a:solidFill>
                <a:latin typeface="Arial"/>
              </a:rPr>
              <a:t>trade-off</a:t>
            </a:r>
            <a:r>
              <a:rPr sz="4106" b="0">
                <a:solidFill>
                  <a:srgbClr val="1C1C1C"/>
                </a:solidFill>
                <a:latin typeface="Arial"/>
              </a:rPr>
              <a:t>: maximize the displacement variance σ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d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2</a:t>
            </a:r>
            <a:r>
              <a:rPr sz="4106" b="0">
                <a:solidFill>
                  <a:srgbClr val="1C1C1C"/>
                </a:solidFill>
                <a:latin typeface="Arial"/>
              </a:rPr>
              <a:t> while driving the midpoint variance σ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m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2</a:t>
            </a:r>
            <a:r>
              <a:rPr sz="4106" b="0">
                <a:solidFill>
                  <a:srgbClr val="1C1C1C"/>
                </a:solidFill>
                <a:latin typeface="Arial"/>
              </a:rPr>
              <a:t> toward zero.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271654" y="13446263"/>
            <a:ext cx="13111841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new </a:t>
            </a:r>
            <a:r>
              <a:rPr sz="4106" b="1">
                <a:solidFill>
                  <a:srgbClr val="111111"/>
                </a:solidFill>
                <a:latin typeface="Arial"/>
              </a:rPr>
              <a:t>Midpoint-Displacement (MD)</a:t>
            </a:r>
            <a:r>
              <a:rPr sz="4106" b="0">
                <a:solidFill>
                  <a:srgbClr val="1C1C1C"/>
                </a:solidFill>
                <a:latin typeface="Arial"/>
              </a:rPr>
              <a:t> loss makes this explicit via one knob λ: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MD-CCS</a:t>
            </a:r>
            <a:r>
              <a:rPr sz="4106" b="0">
                <a:solidFill>
                  <a:srgbClr val="1C1C1C"/>
                </a:solidFill>
                <a:latin typeface="Arial"/>
              </a:rPr>
              <a:t> mimics CCS,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MD-Acc</a:t>
            </a:r>
            <a:r>
              <a:rPr sz="4106" b="0">
                <a:solidFill>
                  <a:srgbClr val="1C1C1C"/>
                </a:solidFill>
                <a:latin typeface="Arial"/>
              </a:rPr>
              <a:t> is tuned for accuracy.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39972" y="16664860"/>
            <a:ext cx="10329635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Safely deploying LLMs means reliably reading their </a:t>
            </a:r>
            <a:r>
              <a:rPr sz="4106" b="1">
                <a:solidFill>
                  <a:srgbClr val="111111"/>
                </a:solidFill>
                <a:latin typeface="Arial"/>
              </a:rPr>
              <a:t>latent knowledge of truth</a:t>
            </a:r>
            <a:r>
              <a:rPr sz="4106" b="0">
                <a:solidFill>
                  <a:srgbClr val="1C1C1C"/>
                </a:solidFill>
                <a:latin typeface="Arial"/>
              </a:rPr>
              <a:t>; understanding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why</a:t>
            </a:r>
            <a:r>
              <a:rPr sz="4106" b="0">
                <a:solidFill>
                  <a:srgbClr val="1C1C1C"/>
                </a:solidFill>
                <a:latin typeface="Arial"/>
              </a:rPr>
              <a:t> a probe like CCS works is a prerequisite for trusting and improving it.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39972" y="20628411"/>
            <a:ext cx="10329635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work framed CCS around </a:t>
            </a:r>
            <a:r>
              <a:rPr sz="4106" b="1">
                <a:solidFill>
                  <a:srgbClr val="111111"/>
                </a:solidFill>
                <a:latin typeface="Arial"/>
              </a:rPr>
              <a:t>clustering activations</a:t>
            </a:r>
            <a:r>
              <a:rPr sz="4106" b="0">
                <a:solidFill>
                  <a:srgbClr val="1C1C1C"/>
                </a:solidFill>
                <a:latin typeface="Arial"/>
              </a:rPr>
              <a:t> and learning </a:t>
            </a:r>
            <a:r>
              <a:rPr sz="4106" b="1">
                <a:solidFill>
                  <a:srgbClr val="111111"/>
                </a:solidFill>
                <a:latin typeface="Arial"/>
              </a:rPr>
              <a:t>calibrated probabilities</a:t>
            </a:r>
            <a:r>
              <a:rPr sz="4106" b="0">
                <a:solidFill>
                  <a:srgbClr val="1C1C1C"/>
                </a:solidFill>
                <a:latin typeface="Arial"/>
              </a:rPr>
              <a:t>. The authors show both pictures are misleading.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39972" y="23835756"/>
            <a:ext cx="10329635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CCS needs </a:t>
            </a:r>
            <a:r>
              <a:rPr sz="4106" b="1">
                <a:solidFill>
                  <a:srgbClr val="111111"/>
                </a:solidFill>
                <a:latin typeface="Arial"/>
              </a:rPr>
              <a:t>no linearly-separable clusters</a:t>
            </a:r>
            <a:r>
              <a:rPr sz="4106" b="0">
                <a:solidFill>
                  <a:srgbClr val="1C1C1C"/>
                </a:solidFill>
                <a:latin typeface="Arial"/>
              </a:rPr>
              <a:t> — it classifies by displacement alone — and can succeed even when its “probabilities” pile up near 0.5.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3650177" y="24273589"/>
            <a:ext cx="3093533" cy="5928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A2521C"/>
                </a:solidFill>
                <a:latin typeface="Arial"/>
              </a:rPr>
              <a:t>Scan to Read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6713755" y="27336194"/>
            <a:ext cx="12062951" cy="2557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CCS prober outputs on UnifiedQA T5-Large: the encoder (a) is highly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confident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yet only 52.3% accurate, while the decoder (b) piles near 0.5 yet reaches 97.8% — confident “probabilities” can mislead.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903140" y="27998082"/>
            <a:ext cx="11810712" cy="19178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Activations projected onto PC 1 (x) and the CCS direction θ̂ (y), coloured by ground-truth label. CCS classifies by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displacement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along θ̂, not a separating hyperplane.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383380" y="8094622"/>
            <a:ext cx="49101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A2521C"/>
                </a:solidFill>
                <a:latin typeface="Arial"/>
              </a:rPr>
              <a:t>0.63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0383380" y="9469516"/>
            <a:ext cx="4910137" cy="1199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MD-CCS ↔ CCS cosine similarity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0383380" y="10512425"/>
            <a:ext cx="4910137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 0.78 CCS self-similarity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6413023" y="19628981"/>
            <a:ext cx="2647001" cy="959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A2521C"/>
                </a:solidFill>
                <a:latin typeface="Arial"/>
              </a:rPr>
              <a:t>0.63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6156046" y="19628981"/>
            <a:ext cx="2647145" cy="959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A2521C"/>
                </a:solidFill>
                <a:latin typeface="Arial"/>
              </a:rPr>
              <a:t>4×5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9660651" y="20018890"/>
            <a:ext cx="2647145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A2521C"/>
                </a:solidFill>
                <a:latin typeface="Arial"/>
              </a:rPr>
              <a:t>0.78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908418" y="20018890"/>
            <a:ext cx="2647002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A2521C"/>
                </a:solidFill>
                <a:latin typeface="Arial"/>
              </a:rPr>
              <a:t>~0.15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6413023" y="20531177"/>
            <a:ext cx="2647001" cy="896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MD-CCS ↔ CCS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6156046" y="20531177"/>
            <a:ext cx="2647145" cy="896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models × datasets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9660651" y="20921087"/>
            <a:ext cx="2647145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CCS self-sim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908418" y="20921087"/>
            <a:ext cx="2647002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MA / SMR / PCA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6202441" y="7285077"/>
            <a:ext cx="168397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0.7557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6204525" y="7392312"/>
            <a:ext cx="6532446" cy="81244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LOSS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546706" y="7392312"/>
            <a:ext cx="3648801" cy="81244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COS ↔ CCS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089232" y="7392312"/>
            <a:ext cx="2930716" cy="81244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AVG ACC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019890" y="7418427"/>
            <a:ext cx="1957530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MD-Acc test acc (CCS 0.71)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6204525" y="8098790"/>
            <a:ext cx="653244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CCS (self)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2546706" y="8098790"/>
            <a:ext cx="364880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0.78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6089232" y="8098790"/>
            <a:ext cx="293071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0.7105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6202441" y="8959314"/>
            <a:ext cx="1645201" cy="7541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</a:t>
            </a:r>
            <a:r>
              <a:rPr sz="6010" b="1" spc="-42" baseline="30000">
                <a:solidFill>
                  <a:srgbClr val="AE2622"/>
                </a:solidFill>
                <a:latin typeface="Arial"/>
              </a:rPr>
              <a:t>−237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6204525" y="9043908"/>
            <a:ext cx="653244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MD-CCS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546706" y="9043908"/>
            <a:ext cx="364880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0.63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6089232" y="9043908"/>
            <a:ext cx="293071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0.7178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7982247" y="9203233"/>
            <a:ext cx="1996302" cy="1472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odds of 0.63 by chance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6204525" y="9989026"/>
            <a:ext cx="653244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MA / SMR / PCA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2546706" y="9989026"/>
            <a:ext cx="3648801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0.14–0.17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6089232" y="9989026"/>
            <a:ext cx="293071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6202441" y="10744120"/>
            <a:ext cx="93584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4×5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7293549" y="10877470"/>
            <a:ext cx="2705661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models × datasets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6204525" y="10934144"/>
            <a:ext cx="653244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MD-Acc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2546706" y="10934144"/>
            <a:ext cx="364880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0.38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6089232" y="10934144"/>
            <a:ext cx="293071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0.7557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6204525" y="11879262"/>
            <a:ext cx="653244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Supervised (ceiling)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2546706" y="11879262"/>
            <a:ext cx="364880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6089232" y="11879262"/>
            <a:ext cx="293071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0.8674</a:t>
            </a:r>
          </a:p>
        </p:txBody>
      </p:sp>
      <p:pic>
        <p:nvPicPr>
          <p:cNvPr id="154" name="Picture 153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76924" y="16123404"/>
            <a:ext cx="10919282" cy="800100"/>
          </a:xfrm>
          <a:prstGeom prst="rect">
            <a:avLst/>
          </a:prstGeom>
        </p:spPr>
      </p:pic>
      <p:pic>
        <p:nvPicPr>
          <p:cNvPr id="155" name="Picture 154" descr="eq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14062" y="17006153"/>
            <a:ext cx="4843800" cy="400050"/>
          </a:xfrm>
          <a:prstGeom prst="rect">
            <a:avLst/>
          </a:prstGeom>
        </p:spPr>
      </p:pic>
      <p:pic>
        <p:nvPicPr>
          <p:cNvPr id="156" name="Picture 155" descr="eq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809850" y="17006153"/>
            <a:ext cx="4849357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
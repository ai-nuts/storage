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DeepJoint is a robust survival model for clinical data. In medicine, when and which tests get ordered is itself informative — a phenomenon the authors call clinical presence. When these patterns shift, standard prediction models degrade. DeepJoint is a multi-task recurrent network that models three clinical-presence processes jointly with survival.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Observational medical data arise from the interaction between patients and the healthcare system. A test's timing and its existence carry information about the patient. Most models ignore this, assuming sampling is non-informative — which yields sub-optimal, non-transportable models.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same patient population appears differently under different observation processes, and that process shifts across countries, over time, and between weekdays and weekends. ML has studied covariate and label shift, but shift in the observation process itself is under-explored.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contributes a deep joint model that treats clinical presence as multi-task learning. A shared recurrent embedding feeds four heads — longitudinal, inter-observation timing, missingness, and survival — trained together with dynamic weighting. The result encodes the observation process, giving a predictive edge and robustness.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 LSTM encodes each patient's irregular lab-test sequence into an embedding h. Three clinical-presence heads model next values (Gaussian), which tests appear (Bernoulli), and inter-observation timing. A DeepSurv head models survival under Cox proportional hazards. The four losses are combined by dynamic weighting, balanced by alpha, optimised end-to-end.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use MIMIC-III, an intensive-care database of anonymised lab tests for over 38,000 patients. Restricting to those surviving the first 24 hours leaves 30,834 patients. Models predict in-hospital survival from the embedding at the last day-1 observation, scored by time-dependent C-index and Brier at 1 / 7 / 14 days.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a random population split, the three proposed methods deliver competitive-to-best discrimination against same-input models. DeepJoint, seeing only lab values, already outperforms Ignore-LSTM and GRU-D. Modelling the observation process — even without feeding it in — yields a more predictive embedding. Fine-tuning reaches a 1-day C-index of 0.878.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approach decomposes into three variants against six baselines. DeepJointFeature improves over plain DeepJoint and matches a strong feature baseline. The fine-tuned variant reaches the highest discrimination but overfits under shift. Across the robustness experiment, DeepJointFeature sits closest to the diagonal, transferring most reliably.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numbers: a concordance index of 0.878 at the one-day horizon, on a cohort of 30,834 MIMIC-III patients. DeepJoint jointly captures three dimensions of clinical presence — longitudinal, timing, and missingness — alongside survival, across horizons of one, seven, and fourteen days.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the way clinical data are sampled is itself informative, and jointly modelling that observation process with survival produces predictions that are both more accurate and markedly more robust when clinical practice changes. Clinical presence is signal, not noise.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epjoint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epjoint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b9c9b1981152c0c.png"/>
  <Relationship Id="rId3" Type="http://schemas.openxmlformats.org/officeDocument/2006/relationships/image" Target="../media/image_29e3002d41973180.png"/>
  <Relationship Id="rId4" Type="http://schemas.openxmlformats.org/officeDocument/2006/relationships/image" Target="../media/image_3663aeda63de9482.png"/>
  <Relationship Id="rId5" Type="http://schemas.openxmlformats.org/officeDocument/2006/relationships/image" Target="../media/image_8401c49807f9188a.jp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708775f8bf3b127.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b9c9b1981152c0c.png"/>
  <Relationship Id="rId3" Type="http://schemas.openxmlformats.org/officeDocument/2006/relationships/image" Target="../media/image_29e3002d41973180.png"/>
  <Relationship Id="rId4"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71500" y="945356"/>
            <a:ext cx="5272202" cy="2645283"/>
            <a:chOff x="571500" y="945356"/>
            <a:chExt cx="5272202" cy="2645283"/>
          </a:xfrm>
        </p:grpSpPr>
        <p:sp>
          <p:nvSpPr>
            <p:cNvPr id="2" name="TextBox 2"/>
            <p:cNvSpPr txBox="1"/>
            <p:nvPr/>
          </p:nvSpPr>
          <p:spPr>
            <a:xfrm>
              <a:off x="603885" y="945356"/>
              <a:ext cx="335400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NEURIPS 2022 · arXiv 2205.13481</a:t>
              </a:r>
            </a:p>
          </p:txBody>
        </p:sp>
        <p:sp>
          <p:nvSpPr>
            <p:cNvPr id="3" name="TextBox 3"/>
            <p:cNvSpPr txBox="1"/>
            <p:nvPr/>
          </p:nvSpPr>
          <p:spPr>
            <a:xfrm>
              <a:off x="571500" y="1263015"/>
              <a:ext cx="4154013" cy="1219200"/>
            </a:xfrm>
            <a:prstGeom prst="rect">
              <a:avLst/>
            </a:prstGeom>
            <a:noFill/>
            <a:ln>
              <a:noFill/>
            </a:ln>
          </p:spPr>
          <p:txBody>
            <a:bodyPr wrap="none" lIns="0" tIns="0" rIns="0" bIns="0" anchor="t" anchorCtr="0">
              <a:spAutoFit/>
            </a:bodyPr>
            <a:lstStyle/>
            <a:p>
              <a:pPr algn="l"/>
              <a:r>
                <a:rPr lang="en-US" sz="6300" b="1" spc="-112" dirty="0">
                  <a:solidFill>
                    <a:schemeClr val="accent5"/>
                  </a:solidFill>
                  <a:latin typeface="+mn-lt"/>
                  <a:ea typeface="+mn-ea"/>
                  <a:cs typeface="+mn-cs"/>
                </a:rPr>
                <a:t>DeepJoint</a:t>
              </a:r>
            </a:p>
          </p:txBody>
        </p:sp>
        <p:sp>
          <p:nvSpPr>
            <p:cNvPr id="4" name="TextBox 4"/>
            <p:cNvSpPr txBox="1"/>
            <p:nvPr/>
          </p:nvSpPr>
          <p:spPr>
            <a:xfrm>
              <a:off x="599694" y="2151698"/>
              <a:ext cx="425722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Robust Survival Modelling Under</a:t>
              </a:r>
            </a:p>
          </p:txBody>
        </p:sp>
        <p:sp>
          <p:nvSpPr>
            <p:cNvPr id="5" name="TextBox 5"/>
            <p:cNvSpPr txBox="1"/>
            <p:nvPr/>
          </p:nvSpPr>
          <p:spPr>
            <a:xfrm>
              <a:off x="599694" y="2475548"/>
              <a:ext cx="304852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Clinical Presence Shift</a:t>
              </a:r>
            </a:p>
          </p:txBody>
        </p:sp>
        <p:sp>
          <p:nvSpPr>
            <p:cNvPr id="6" name="Rectangle 6"/>
            <p:cNvSpPr/>
            <p:nvPr/>
          </p:nvSpPr>
          <p:spPr>
            <a:xfrm>
              <a:off x="609600" y="2914650"/>
              <a:ext cx="1143000" cy="28575"/>
            </a:xfrm>
            <a:prstGeom prst="rect">
              <a:avLst/>
            </a:prstGeom>
            <a:solidFill>
              <a:schemeClr val="accent1"/>
            </a:solidFill>
            <a:ln>
              <a:noFill/>
            </a:ln>
          </p:spPr>
        </p:sp>
        <p:sp>
          <p:nvSpPr>
            <p:cNvPr id="7" name="TextBox 7"/>
            <p:cNvSpPr txBox="1"/>
            <p:nvPr/>
          </p:nvSpPr>
          <p:spPr>
            <a:xfrm>
              <a:off x="603885" y="3155156"/>
              <a:ext cx="523981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V. Jeanselme, G. Martin, N. Peek, M. Sperrin, B. Tom, J. Barrett</a:t>
              </a:r>
            </a:p>
          </p:txBody>
        </p:sp>
        <p:sp>
          <p:nvSpPr>
            <p:cNvPr id="8" name="TextBox 8"/>
            <p:cNvSpPr txBox="1"/>
            <p:nvPr/>
          </p:nvSpPr>
          <p:spPr>
            <a:xfrm>
              <a:off x="604647" y="3399949"/>
              <a:ext cx="49041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University of Cambridge, MRC Biostatistics Unit · University of Manchester</a:t>
              </a:r>
            </a:p>
          </p:txBody>
        </p:sp>
      </p:grpSp>
      <p:grpSp>
        <p:nvGrpSpPr>
          <p:cNvPr id="14" name="Group 14"/>
          <p:cNvGrpSpPr/>
          <p:nvPr/>
        </p:nvGrpSpPr>
        <p:grpSpPr>
          <a:xfrm>
            <a:off x="609600" y="3981450"/>
            <a:ext cx="6112383" cy="1066800"/>
            <a:chOff x="609600" y="3981450"/>
            <a:chExt cx="6112383" cy="1066800"/>
          </a:xfrm>
        </p:grpSpPr>
        <p:sp>
          <p:nvSpPr>
            <p:cNvPr id="10" name="Rectangle 10"/>
            <p:cNvSpPr/>
            <p:nvPr/>
          </p:nvSpPr>
          <p:spPr>
            <a:xfrm>
              <a:off x="609600" y="3981450"/>
              <a:ext cx="38100" cy="1066800"/>
            </a:xfrm>
            <a:prstGeom prst="rect">
              <a:avLst/>
            </a:prstGeom>
            <a:solidFill>
              <a:schemeClr val="accent3"/>
            </a:solidFill>
            <a:ln>
              <a:noFill/>
            </a:ln>
          </p:spPr>
        </p:sp>
        <p:sp>
          <p:nvSpPr>
            <p:cNvPr id="11" name="TextBox 11"/>
            <p:cNvSpPr txBox="1"/>
            <p:nvPr/>
          </p:nvSpPr>
          <p:spPr>
            <a:xfrm>
              <a:off x="830580" y="4086225"/>
              <a:ext cx="506984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How clinical data are observed is itself informative</a:t>
              </a:r>
            </a:p>
          </p:txBody>
        </p:sp>
        <p:sp>
          <p:nvSpPr>
            <p:cNvPr id="12" name="TextBox 12"/>
            <p:cNvSpPr txBox="1"/>
            <p:nvPr/>
          </p:nvSpPr>
          <p:spPr>
            <a:xfrm>
              <a:off x="830580" y="4371975"/>
              <a:ext cx="589140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model it, and survival predictions get both more accurate</a:t>
              </a:r>
            </a:p>
          </p:txBody>
        </p:sp>
        <p:sp>
          <p:nvSpPr>
            <p:cNvPr id="13" name="TextBox 13"/>
            <p:cNvSpPr txBox="1"/>
            <p:nvPr/>
          </p:nvSpPr>
          <p:spPr>
            <a:xfrm>
              <a:off x="830580" y="4657725"/>
              <a:ext cx="245859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more transportable.</a:t>
              </a:r>
            </a:p>
          </p:txBody>
        </p:sp>
      </p:grpSp>
      <p:grpSp>
        <p:nvGrpSpPr>
          <p:cNvPr id="22" name="Group 22"/>
          <p:cNvGrpSpPr/>
          <p:nvPr/>
        </p:nvGrpSpPr>
        <p:grpSpPr>
          <a:xfrm>
            <a:off x="604647" y="5600700"/>
            <a:ext cx="3804512" cy="914400"/>
            <a:chOff x="604647" y="5600700"/>
            <a:chExt cx="3804512" cy="914400"/>
          </a:xfrm>
        </p:grpSpPr>
        <p:pic>
          <p:nvPicPr>
            <p:cNvPr id="15" name="Image 15"/>
            <p:cNvPicPr>
              <a:picLocks noChangeAspect="1"/>
            </p:cNvPicPr>
            <p:nvPr/>
          </p:nvPicPr>
          <p:blipFill>
            <a:blip r:embed="rId2"/>
            <a:stretch>
              <a:fillRect/>
            </a:stretch>
          </p:blipFill>
          <p:spPr>
            <a:xfrm>
              <a:off x="609600" y="5619750"/>
              <a:ext cx="571500" cy="571500"/>
            </a:xfrm>
            <a:prstGeom prst="rect">
              <a:avLst/>
            </a:prstGeom>
          </p:spPr>
        </p:pic>
        <p:sp>
          <p:nvSpPr>
            <p:cNvPr id="16" name="TextBox 16"/>
            <p:cNvSpPr txBox="1"/>
            <p:nvPr/>
          </p:nvSpPr>
          <p:spPr>
            <a:xfrm>
              <a:off x="604647" y="6257449"/>
              <a:ext cx="37681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Paper</a:t>
              </a:r>
            </a:p>
          </p:txBody>
        </p:sp>
        <p:pic>
          <p:nvPicPr>
            <p:cNvPr id="17" name="Image 17"/>
            <p:cNvPicPr>
              <a:picLocks noChangeAspect="1"/>
            </p:cNvPicPr>
            <p:nvPr/>
          </p:nvPicPr>
          <p:blipFill>
            <a:blip r:embed="rId3"/>
            <a:stretch>
              <a:fillRect/>
            </a:stretch>
          </p:blipFill>
          <p:spPr>
            <a:xfrm>
              <a:off x="1333500" y="5619750"/>
              <a:ext cx="571500" cy="571500"/>
            </a:xfrm>
            <a:prstGeom prst="rect">
              <a:avLst/>
            </a:prstGeom>
          </p:spPr>
        </p:pic>
        <p:sp>
          <p:nvSpPr>
            <p:cNvPr id="18" name="TextBox 18"/>
            <p:cNvSpPr txBox="1"/>
            <p:nvPr/>
          </p:nvSpPr>
          <p:spPr>
            <a:xfrm>
              <a:off x="1328547" y="6257449"/>
              <a:ext cx="30425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Code</a:t>
              </a:r>
            </a:p>
          </p:txBody>
        </p:sp>
        <p:sp>
          <p:nvSpPr>
            <p:cNvPr id="19" name="Line 19"/>
            <p:cNvSpPr/>
            <p:nvPr/>
          </p:nvSpPr>
          <p:spPr>
            <a:xfrm>
              <a:off x="2171700" y="5600700"/>
              <a:ext cx="9525" cy="647700"/>
            </a:xfrm>
            <a:custGeom>
              <a:avLst/>
              <a:gdLst/>
              <a:ahLst/>
              <a:cxnLst/>
              <a:rect l="l" t="t" r="r" b="b"/>
              <a:pathLst>
                <a:path w="9525" h="647700">
                  <a:moveTo>
                    <a:pt x="0" y="0"/>
                  </a:moveTo>
                  <a:lnTo>
                    <a:pt x="0" y="647700"/>
                  </a:lnTo>
                </a:path>
              </a:pathLst>
            </a:custGeom>
            <a:noFill/>
            <a:ln w="9525">
              <a:solidFill>
                <a:schemeClr val="accent4"/>
              </a:solidFill>
            </a:ln>
          </p:spPr>
        </p:sp>
        <p:pic>
          <p:nvPicPr>
            <p:cNvPr id="20" name="Image 20"/>
            <p:cNvPicPr>
              <a:picLocks noChangeAspect="1"/>
            </p:cNvPicPr>
            <p:nvPr/>
          </p:nvPicPr>
          <p:blipFill>
            <a:blip r:embed="rId4"/>
            <a:stretch>
              <a:fillRect/>
            </a:stretch>
          </p:blipFill>
          <p:spPr>
            <a:xfrm>
              <a:off x="2438400" y="5638800"/>
              <a:ext cx="1970759" cy="400050"/>
            </a:xfrm>
            <a:prstGeom prst="rect">
              <a:avLst/>
            </a:prstGeom>
          </p:spPr>
        </p:pic>
        <p:pic>
          <p:nvPicPr>
            <p:cNvPr id="21" name="Image 21"/>
            <p:cNvPicPr>
              <a:picLocks noChangeAspect="1"/>
            </p:cNvPicPr>
            <p:nvPr/>
          </p:nvPicPr>
          <p:blipFill>
            <a:blip r:embed="rId5"/>
            <a:stretch>
              <a:fillRect/>
            </a:stretch>
          </p:blipFill>
          <p:spPr>
            <a:xfrm>
              <a:off x="2438400" y="6134100"/>
              <a:ext cx="1224160" cy="381000"/>
            </a:xfrm>
            <a:prstGeom prst="rect">
              <a:avLst/>
            </a:prstGeom>
          </p:spPr>
        </p:pic>
      </p:grpSp>
      <p:grpSp>
        <p:nvGrpSpPr>
          <p:cNvPr id="29" name="Group 29"/>
          <p:cNvGrpSpPr/>
          <p:nvPr/>
        </p:nvGrpSpPr>
        <p:grpSpPr>
          <a:xfrm>
            <a:off x="7239000" y="914400"/>
            <a:ext cx="4343400" cy="1428750"/>
            <a:chOff x="7239000" y="914400"/>
            <a:chExt cx="4343400" cy="1428750"/>
          </a:xfrm>
        </p:grpSpPr>
        <p:sp>
          <p:nvSpPr>
            <p:cNvPr id="23" name="Rectangle 23"/>
            <p:cNvSpPr/>
            <p:nvPr/>
          </p:nvSpPr>
          <p:spPr>
            <a:xfrm>
              <a:off x="7239000" y="914400"/>
              <a:ext cx="4343400" cy="1428750"/>
            </a:xfrm>
            <a:prstGeom prst="roundRect">
              <a:avLst>
                <a:gd name="adj" fmla="val 2667"/>
              </a:avLst>
            </a:prstGeom>
            <a:solidFill>
              <a:schemeClr val="lt2"/>
            </a:solidFill>
            <a:ln w="9525">
              <a:solidFill>
                <a:schemeClr val="accent4"/>
              </a:solidFill>
            </a:ln>
          </p:spPr>
        </p:sp>
        <p:sp>
          <p:nvSpPr>
            <p:cNvPr id="24" name="Rectangle 24"/>
            <p:cNvSpPr/>
            <p:nvPr/>
          </p:nvSpPr>
          <p:spPr>
            <a:xfrm>
              <a:off x="7239000" y="914400"/>
              <a:ext cx="38100" cy="1428750"/>
            </a:xfrm>
            <a:prstGeom prst="rect">
              <a:avLst/>
            </a:prstGeom>
            <a:solidFill>
              <a:schemeClr val="accent2"/>
            </a:solidFill>
            <a:ln>
              <a:noFill/>
            </a:ln>
          </p:spPr>
        </p:sp>
        <p:sp>
          <p:nvSpPr>
            <p:cNvPr id="25" name="TextBox 25"/>
            <p:cNvSpPr txBox="1"/>
            <p:nvPr/>
          </p:nvSpPr>
          <p:spPr>
            <a:xfrm>
              <a:off x="7500747" y="1132999"/>
              <a:ext cx="161002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CLINICAL PRESENCE</a:t>
              </a:r>
            </a:p>
          </p:txBody>
        </p:sp>
        <p:sp>
          <p:nvSpPr>
            <p:cNvPr id="26" name="TextBox 26"/>
            <p:cNvSpPr txBox="1"/>
            <p:nvPr/>
          </p:nvSpPr>
          <p:spPr>
            <a:xfrm>
              <a:off x="7498080" y="1400175"/>
              <a:ext cx="352101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When and which tests get ordered</a:t>
              </a:r>
            </a:p>
          </p:txBody>
        </p:sp>
        <p:sp>
          <p:nvSpPr>
            <p:cNvPr id="27" name="TextBox 27"/>
            <p:cNvSpPr txBox="1"/>
            <p:nvPr/>
          </p:nvSpPr>
          <p:spPr>
            <a:xfrm>
              <a:off x="7498080" y="1666875"/>
              <a:ext cx="333698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is itself informative — it reflects</a:t>
              </a:r>
            </a:p>
          </p:txBody>
        </p:sp>
        <p:sp>
          <p:nvSpPr>
            <p:cNvPr id="28" name="TextBox 28"/>
            <p:cNvSpPr txBox="1"/>
            <p:nvPr/>
          </p:nvSpPr>
          <p:spPr>
            <a:xfrm>
              <a:off x="7498080" y="1933575"/>
              <a:ext cx="337737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how clinicians treat each patient.</a:t>
              </a:r>
            </a:p>
          </p:txBody>
        </p:sp>
      </p:grpSp>
      <p:grpSp>
        <p:nvGrpSpPr>
          <p:cNvPr id="34" name="Group 34"/>
          <p:cNvGrpSpPr/>
          <p:nvPr/>
        </p:nvGrpSpPr>
        <p:grpSpPr>
          <a:xfrm>
            <a:off x="7239000" y="2533650"/>
            <a:ext cx="4464368" cy="990600"/>
            <a:chOff x="7239000" y="2533650"/>
            <a:chExt cx="4464368" cy="990600"/>
          </a:xfrm>
        </p:grpSpPr>
        <p:sp>
          <p:nvSpPr>
            <p:cNvPr id="30" name="Rectangle 30"/>
            <p:cNvSpPr/>
            <p:nvPr/>
          </p:nvSpPr>
          <p:spPr>
            <a:xfrm>
              <a:off x="7239000" y="2533650"/>
              <a:ext cx="4343400" cy="990600"/>
            </a:xfrm>
            <a:prstGeom prst="roundRect">
              <a:avLst>
                <a:gd name="adj" fmla="val 3846"/>
              </a:avLst>
            </a:prstGeom>
            <a:solidFill>
              <a:schemeClr val="lt2"/>
            </a:solidFill>
            <a:ln w="9525">
              <a:solidFill>
                <a:schemeClr val="accent4"/>
              </a:solidFill>
            </a:ln>
          </p:spPr>
        </p:sp>
        <p:sp>
          <p:nvSpPr>
            <p:cNvPr id="31" name="Rectangle 31"/>
            <p:cNvSpPr/>
            <p:nvPr/>
          </p:nvSpPr>
          <p:spPr>
            <a:xfrm>
              <a:off x="7239000" y="2533650"/>
              <a:ext cx="38100" cy="990600"/>
            </a:xfrm>
            <a:prstGeom prst="rect">
              <a:avLst/>
            </a:prstGeom>
            <a:solidFill>
              <a:schemeClr val="accent3"/>
            </a:solidFill>
            <a:ln>
              <a:noFill/>
            </a:ln>
          </p:spPr>
        </p:sp>
        <p:sp>
          <p:nvSpPr>
            <p:cNvPr id="32" name="TextBox 32"/>
            <p:cNvSpPr txBox="1"/>
            <p:nvPr/>
          </p:nvSpPr>
          <p:spPr>
            <a:xfrm>
              <a:off x="7498080" y="2733675"/>
              <a:ext cx="3255423"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Patterns shift across settings</a:t>
              </a:r>
            </a:p>
          </p:txBody>
        </p:sp>
        <p:sp>
          <p:nvSpPr>
            <p:cNvPr id="33" name="TextBox 33"/>
            <p:cNvSpPr txBox="1"/>
            <p:nvPr/>
          </p:nvSpPr>
          <p:spPr>
            <a:xfrm>
              <a:off x="7498080" y="3076575"/>
              <a:ext cx="420528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and standard prediction models degrade.</a:t>
              </a:r>
            </a:p>
          </p:txBody>
        </p:sp>
      </p:grpSp>
      <p:grpSp>
        <p:nvGrpSpPr>
          <p:cNvPr id="53" name="Group 53"/>
          <p:cNvGrpSpPr/>
          <p:nvPr/>
        </p:nvGrpSpPr>
        <p:grpSpPr>
          <a:xfrm>
            <a:off x="7239000" y="3714750"/>
            <a:ext cx="4343400" cy="2800350"/>
            <a:chOff x="7239000" y="3714750"/>
            <a:chExt cx="4343400" cy="2800350"/>
          </a:xfrm>
        </p:grpSpPr>
        <p:sp>
          <p:nvSpPr>
            <p:cNvPr id="35" name="Rectangle 35"/>
            <p:cNvSpPr/>
            <p:nvPr/>
          </p:nvSpPr>
          <p:spPr>
            <a:xfrm>
              <a:off x="7239000" y="3714750"/>
              <a:ext cx="4343400" cy="2800350"/>
            </a:xfrm>
            <a:prstGeom prst="roundRect">
              <a:avLst>
                <a:gd name="adj" fmla="val 1361"/>
              </a:avLst>
            </a:prstGeom>
            <a:solidFill>
              <a:schemeClr val="lt2"/>
            </a:solidFill>
            <a:ln w="9525">
              <a:solidFill>
                <a:schemeClr val="accent4"/>
              </a:solidFill>
            </a:ln>
          </p:spPr>
        </p:sp>
        <p:sp>
          <p:nvSpPr>
            <p:cNvPr id="36" name="TextBox 36"/>
            <p:cNvSpPr txBox="1"/>
            <p:nvPr/>
          </p:nvSpPr>
          <p:spPr>
            <a:xfrm>
              <a:off x="7500747" y="3971449"/>
              <a:ext cx="247594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ONE EMBEDDING, FOUR HEADS</a:t>
              </a:r>
            </a:p>
          </p:txBody>
        </p:sp>
        <p:sp>
          <p:nvSpPr>
            <p:cNvPr id="37" name="Rectangle 37"/>
            <p:cNvSpPr/>
            <p:nvPr/>
          </p:nvSpPr>
          <p:spPr>
            <a:xfrm>
              <a:off x="7505700" y="4476750"/>
              <a:ext cx="990600" cy="1428750"/>
            </a:xfrm>
            <a:prstGeom prst="roundRect">
              <a:avLst>
                <a:gd name="adj" fmla="val 3846"/>
              </a:avLst>
            </a:prstGeom>
            <a:solidFill>
              <a:schemeClr val="lt1"/>
            </a:solidFill>
            <a:ln w="14288">
              <a:solidFill>
                <a:schemeClr val="accent1"/>
              </a:solidFill>
            </a:ln>
          </p:spPr>
        </p:sp>
        <p:sp>
          <p:nvSpPr>
            <p:cNvPr id="38" name="TextBox 38"/>
            <p:cNvSpPr txBox="1"/>
            <p:nvPr/>
          </p:nvSpPr>
          <p:spPr>
            <a:xfrm>
              <a:off x="7902109" y="4881562"/>
              <a:ext cx="197782" cy="440055"/>
            </a:xfrm>
            <a:prstGeom prst="rect">
              <a:avLst/>
            </a:prstGeom>
            <a:noFill/>
            <a:ln>
              <a:noFill/>
            </a:ln>
          </p:spPr>
          <p:txBody>
            <a:bodyPr wrap="none" lIns="0" tIns="0" rIns="0" bIns="0" anchor="t" anchorCtr="0">
              <a:spAutoFit/>
            </a:bodyPr>
            <a:lstStyle/>
            <a:p>
              <a:pPr algn="ctr"/>
              <a:r>
                <a:rPr lang="en-US" sz="2250" b="1" dirty="0">
                  <a:solidFill>
                    <a:schemeClr val="accent5"/>
                  </a:solidFill>
                  <a:latin typeface="+mn-lt"/>
                  <a:ea typeface="+mn-ea"/>
                  <a:cs typeface="+mn-cs"/>
                </a:rPr>
                <a:t>h</a:t>
              </a:r>
            </a:p>
          </p:txBody>
        </p:sp>
        <p:sp>
          <p:nvSpPr>
            <p:cNvPr id="39" name="TextBox 39"/>
            <p:cNvSpPr txBox="1"/>
            <p:nvPr/>
          </p:nvSpPr>
          <p:spPr>
            <a:xfrm>
              <a:off x="7672824" y="5285899"/>
              <a:ext cx="656351"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embedding</a:t>
              </a:r>
            </a:p>
          </p:txBody>
        </p:sp>
        <p:sp>
          <p:nvSpPr>
            <p:cNvPr id="40" name="TextBox 40"/>
            <p:cNvSpPr txBox="1"/>
            <p:nvPr/>
          </p:nvSpPr>
          <p:spPr>
            <a:xfrm>
              <a:off x="7518867" y="5476399"/>
              <a:ext cx="964265"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LSTM sequence</a:t>
              </a:r>
            </a:p>
          </p:txBody>
        </p:sp>
        <p:sp>
          <p:nvSpPr>
            <p:cNvPr id="41" name="Line 41"/>
            <p:cNvSpPr/>
            <p:nvPr/>
          </p:nvSpPr>
          <p:spPr>
            <a:xfrm>
              <a:off x="8496300" y="4676775"/>
              <a:ext cx="1181100" cy="85725"/>
            </a:xfrm>
            <a:custGeom>
              <a:avLst/>
              <a:gdLst/>
              <a:ahLst/>
              <a:cxnLst/>
              <a:rect l="l" t="t" r="r" b="b"/>
              <a:pathLst>
                <a:path w="1181100" h="85725">
                  <a:moveTo>
                    <a:pt x="0" y="85725"/>
                  </a:moveTo>
                  <a:lnTo>
                    <a:pt x="1181100" y="0"/>
                  </a:lnTo>
                </a:path>
              </a:pathLst>
            </a:custGeom>
            <a:noFill/>
            <a:ln w="14288">
              <a:solidFill>
                <a:schemeClr val="accent2"/>
              </a:solidFill>
            </a:ln>
          </p:spPr>
        </p:sp>
        <p:sp>
          <p:nvSpPr>
            <p:cNvPr id="42" name="Line 42"/>
            <p:cNvSpPr/>
            <p:nvPr/>
          </p:nvSpPr>
          <p:spPr>
            <a:xfrm>
              <a:off x="8496300" y="5114925"/>
              <a:ext cx="1181100" cy="9525"/>
            </a:xfrm>
            <a:custGeom>
              <a:avLst/>
              <a:gdLst/>
              <a:ahLst/>
              <a:cxnLst/>
              <a:rect l="l" t="t" r="r" b="b"/>
              <a:pathLst>
                <a:path w="1181100" h="9525">
                  <a:moveTo>
                    <a:pt x="0" y="0"/>
                  </a:moveTo>
                  <a:lnTo>
                    <a:pt x="1181100" y="0"/>
                  </a:lnTo>
                </a:path>
              </a:pathLst>
            </a:custGeom>
            <a:noFill/>
            <a:ln w="14288">
              <a:solidFill>
                <a:schemeClr val="accent2"/>
              </a:solidFill>
            </a:ln>
          </p:spPr>
        </p:sp>
        <p:sp>
          <p:nvSpPr>
            <p:cNvPr id="43" name="Line 43"/>
            <p:cNvSpPr/>
            <p:nvPr/>
          </p:nvSpPr>
          <p:spPr>
            <a:xfrm>
              <a:off x="8496300" y="5467350"/>
              <a:ext cx="1181100" cy="85725"/>
            </a:xfrm>
            <a:custGeom>
              <a:avLst/>
              <a:gdLst/>
              <a:ahLst/>
              <a:cxnLst/>
              <a:rect l="l" t="t" r="r" b="b"/>
              <a:pathLst>
                <a:path w="1181100" h="85725">
                  <a:moveTo>
                    <a:pt x="0" y="0"/>
                  </a:moveTo>
                  <a:lnTo>
                    <a:pt x="1181100" y="85725"/>
                  </a:lnTo>
                </a:path>
              </a:pathLst>
            </a:custGeom>
            <a:noFill/>
            <a:ln w="14288">
              <a:solidFill>
                <a:schemeClr val="accent2"/>
              </a:solidFill>
            </a:ln>
          </p:spPr>
        </p:sp>
        <p:sp>
          <p:nvSpPr>
            <p:cNvPr id="44" name="Line 44"/>
            <p:cNvSpPr/>
            <p:nvPr/>
          </p:nvSpPr>
          <p:spPr>
            <a:xfrm>
              <a:off x="8496300" y="5353050"/>
              <a:ext cx="1181100" cy="638175"/>
            </a:xfrm>
            <a:custGeom>
              <a:avLst/>
              <a:gdLst/>
              <a:ahLst/>
              <a:cxnLst/>
              <a:rect l="l" t="t" r="r" b="b"/>
              <a:pathLst>
                <a:path w="1181100" h="638175">
                  <a:moveTo>
                    <a:pt x="0" y="0"/>
                  </a:moveTo>
                  <a:lnTo>
                    <a:pt x="1181100" y="638175"/>
                  </a:lnTo>
                </a:path>
              </a:pathLst>
            </a:custGeom>
            <a:noFill/>
            <a:ln w="14288">
              <a:solidFill>
                <a:schemeClr val="accent1"/>
              </a:solidFill>
            </a:ln>
          </p:spPr>
        </p:sp>
        <p:sp>
          <p:nvSpPr>
            <p:cNvPr id="45" name="Rectangle 45"/>
            <p:cNvSpPr/>
            <p:nvPr/>
          </p:nvSpPr>
          <p:spPr>
            <a:xfrm>
              <a:off x="9677400" y="4495800"/>
              <a:ext cx="1752600" cy="361950"/>
            </a:xfrm>
            <a:prstGeom prst="roundRect">
              <a:avLst>
                <a:gd name="adj" fmla="val 10526"/>
              </a:avLst>
            </a:prstGeom>
            <a:solidFill>
              <a:schemeClr val="accent6"/>
            </a:solidFill>
            <a:ln>
              <a:noFill/>
            </a:ln>
          </p:spPr>
        </p:sp>
        <p:sp>
          <p:nvSpPr>
            <p:cNvPr id="46" name="TextBox 46"/>
            <p:cNvSpPr txBox="1"/>
            <p:nvPr/>
          </p:nvSpPr>
          <p:spPr>
            <a:xfrm>
              <a:off x="9824085" y="4602956"/>
              <a:ext cx="1165106"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L · next values</a:t>
              </a:r>
            </a:p>
          </p:txBody>
        </p:sp>
        <p:sp>
          <p:nvSpPr>
            <p:cNvPr id="47" name="Rectangle 47"/>
            <p:cNvSpPr/>
            <p:nvPr/>
          </p:nvSpPr>
          <p:spPr>
            <a:xfrm>
              <a:off x="9677400" y="4933950"/>
              <a:ext cx="1752600" cy="361950"/>
            </a:xfrm>
            <a:prstGeom prst="roundRect">
              <a:avLst>
                <a:gd name="adj" fmla="val 10526"/>
              </a:avLst>
            </a:prstGeom>
            <a:solidFill>
              <a:schemeClr val="accent6"/>
            </a:solidFill>
            <a:ln>
              <a:noFill/>
            </a:ln>
          </p:spPr>
        </p:sp>
        <p:sp>
          <p:nvSpPr>
            <p:cNvPr id="48" name="TextBox 48"/>
            <p:cNvSpPr txBox="1"/>
            <p:nvPr/>
          </p:nvSpPr>
          <p:spPr>
            <a:xfrm>
              <a:off x="9824085" y="5041106"/>
              <a:ext cx="721620"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I · timing</a:t>
              </a:r>
            </a:p>
          </p:txBody>
        </p:sp>
        <p:sp>
          <p:nvSpPr>
            <p:cNvPr id="49" name="Rectangle 49"/>
            <p:cNvSpPr/>
            <p:nvPr/>
          </p:nvSpPr>
          <p:spPr>
            <a:xfrm>
              <a:off x="9677400" y="5372100"/>
              <a:ext cx="1752600" cy="361950"/>
            </a:xfrm>
            <a:prstGeom prst="roundRect">
              <a:avLst>
                <a:gd name="adj" fmla="val 10526"/>
              </a:avLst>
            </a:prstGeom>
            <a:solidFill>
              <a:schemeClr val="accent6"/>
            </a:solidFill>
            <a:ln>
              <a:noFill/>
            </a:ln>
          </p:spPr>
        </p:sp>
        <p:sp>
          <p:nvSpPr>
            <p:cNvPr id="50" name="TextBox 50"/>
            <p:cNvSpPr txBox="1"/>
            <p:nvPr/>
          </p:nvSpPr>
          <p:spPr>
            <a:xfrm>
              <a:off x="9824085" y="5479256"/>
              <a:ext cx="1228238"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M · missingness</a:t>
              </a:r>
            </a:p>
          </p:txBody>
        </p:sp>
        <p:sp>
          <p:nvSpPr>
            <p:cNvPr id="51" name="Rectangle 51"/>
            <p:cNvSpPr/>
            <p:nvPr/>
          </p:nvSpPr>
          <p:spPr>
            <a:xfrm>
              <a:off x="9677400" y="5810250"/>
              <a:ext cx="1752600" cy="361950"/>
            </a:xfrm>
            <a:prstGeom prst="roundRect">
              <a:avLst>
                <a:gd name="adj" fmla="val 10526"/>
              </a:avLst>
            </a:prstGeom>
            <a:solidFill>
              <a:srgbClr val="E4EDFD"/>
            </a:solidFill>
            <a:ln>
              <a:noFill/>
            </a:ln>
          </p:spPr>
        </p:sp>
        <p:sp>
          <p:nvSpPr>
            <p:cNvPr id="52" name="TextBox 52"/>
            <p:cNvSpPr txBox="1"/>
            <p:nvPr/>
          </p:nvSpPr>
          <p:spPr>
            <a:xfrm>
              <a:off x="9824085" y="5917406"/>
              <a:ext cx="903559"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 · survival</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143376" cy="803434"/>
            <a:chOff x="594360" y="602456"/>
            <a:chExt cx="8143376" cy="803434"/>
          </a:xfrm>
        </p:grpSpPr>
        <p:sp>
          <p:nvSpPr>
            <p:cNvPr id="2" name="TextBox 2"/>
            <p:cNvSpPr txBox="1"/>
            <p:nvPr/>
          </p:nvSpPr>
          <p:spPr>
            <a:xfrm>
              <a:off x="603885" y="602456"/>
              <a:ext cx="1315941"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THE PROBLEM</a:t>
              </a:r>
            </a:p>
          </p:txBody>
        </p:sp>
        <p:sp>
          <p:nvSpPr>
            <p:cNvPr id="3" name="TextBox 3"/>
            <p:cNvSpPr txBox="1"/>
            <p:nvPr/>
          </p:nvSpPr>
          <p:spPr>
            <a:xfrm>
              <a:off x="594360" y="819150"/>
              <a:ext cx="8143376"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The observation process is informative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4" name="Group 14"/>
          <p:cNvGrpSpPr/>
          <p:nvPr/>
        </p:nvGrpSpPr>
        <p:grpSpPr>
          <a:xfrm>
            <a:off x="609600" y="1733550"/>
            <a:ext cx="3505200" cy="2743200"/>
            <a:chOff x="609600" y="1733550"/>
            <a:chExt cx="3505200" cy="2743200"/>
          </a:xfrm>
        </p:grpSpPr>
        <p:sp>
          <p:nvSpPr>
            <p:cNvPr id="6" name="Rectangle 6"/>
            <p:cNvSpPr/>
            <p:nvPr/>
          </p:nvSpPr>
          <p:spPr>
            <a:xfrm>
              <a:off x="609600" y="1733550"/>
              <a:ext cx="3505200" cy="2743200"/>
            </a:xfrm>
            <a:prstGeom prst="roundRect">
              <a:avLst>
                <a:gd name="adj" fmla="val 1389"/>
              </a:avLst>
            </a:prstGeom>
            <a:solidFill>
              <a:schemeClr val="lt2"/>
            </a:solidFill>
            <a:ln w="9525">
              <a:solidFill>
                <a:schemeClr val="accent4"/>
              </a:solidFill>
            </a:ln>
          </p:spPr>
        </p:sp>
        <p:sp>
          <p:nvSpPr>
            <p:cNvPr id="7" name="Rectangle 7"/>
            <p:cNvSpPr/>
            <p:nvPr/>
          </p:nvSpPr>
          <p:spPr>
            <a:xfrm>
              <a:off x="609600" y="1733550"/>
              <a:ext cx="38100" cy="2743200"/>
            </a:xfrm>
            <a:prstGeom prst="rect">
              <a:avLst/>
            </a:prstGeom>
            <a:solidFill>
              <a:schemeClr val="accent2"/>
            </a:solidFill>
            <a:ln>
              <a:noFill/>
            </a:ln>
          </p:spPr>
        </p:sp>
        <p:sp>
          <p:nvSpPr>
            <p:cNvPr id="8" name="TextBox 8"/>
            <p:cNvSpPr txBox="1"/>
            <p:nvPr/>
          </p:nvSpPr>
          <p:spPr>
            <a:xfrm>
              <a:off x="8229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01</a:t>
              </a:r>
            </a:p>
          </p:txBody>
        </p:sp>
        <p:sp>
          <p:nvSpPr>
            <p:cNvPr id="9" name="TextBox 9"/>
            <p:cNvSpPr txBox="1"/>
            <p:nvPr/>
          </p:nvSpPr>
          <p:spPr>
            <a:xfrm>
              <a:off x="829056" y="2548890"/>
              <a:ext cx="2126490"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Patient × system</a:t>
              </a:r>
            </a:p>
          </p:txBody>
        </p:sp>
        <p:sp>
          <p:nvSpPr>
            <p:cNvPr id="10" name="TextBox 10"/>
            <p:cNvSpPr txBox="1"/>
            <p:nvPr/>
          </p:nvSpPr>
          <p:spPr>
            <a:xfrm>
              <a:off x="830580" y="2962275"/>
              <a:ext cx="268700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Observational medical data</a:t>
              </a:r>
            </a:p>
          </p:txBody>
        </p:sp>
        <p:sp>
          <p:nvSpPr>
            <p:cNvPr id="11" name="TextBox 11"/>
            <p:cNvSpPr txBox="1"/>
            <p:nvPr/>
          </p:nvSpPr>
          <p:spPr>
            <a:xfrm>
              <a:off x="830580" y="3228975"/>
              <a:ext cx="26403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arise from the interaction</a:t>
              </a:r>
            </a:p>
          </p:txBody>
        </p:sp>
        <p:sp>
          <p:nvSpPr>
            <p:cNvPr id="12" name="TextBox 12"/>
            <p:cNvSpPr txBox="1"/>
            <p:nvPr/>
          </p:nvSpPr>
          <p:spPr>
            <a:xfrm>
              <a:off x="830580" y="3495675"/>
              <a:ext cx="251917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between patients and the</a:t>
              </a:r>
            </a:p>
          </p:txBody>
        </p:sp>
        <p:sp>
          <p:nvSpPr>
            <p:cNvPr id="13" name="TextBox 13"/>
            <p:cNvSpPr txBox="1"/>
            <p:nvPr/>
          </p:nvSpPr>
          <p:spPr>
            <a:xfrm>
              <a:off x="830580" y="3762375"/>
              <a:ext cx="195376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healthcare system.</a:t>
              </a:r>
            </a:p>
          </p:txBody>
        </p:sp>
      </p:grpSp>
      <p:grpSp>
        <p:nvGrpSpPr>
          <p:cNvPr id="23" name="Group 23"/>
          <p:cNvGrpSpPr/>
          <p:nvPr/>
        </p:nvGrpSpPr>
        <p:grpSpPr>
          <a:xfrm>
            <a:off x="4343400" y="1733550"/>
            <a:ext cx="3505200" cy="2743200"/>
            <a:chOff x="4343400" y="1733550"/>
            <a:chExt cx="3505200" cy="2743200"/>
          </a:xfrm>
        </p:grpSpPr>
        <p:sp>
          <p:nvSpPr>
            <p:cNvPr id="15" name="Rectangle 15"/>
            <p:cNvSpPr/>
            <p:nvPr/>
          </p:nvSpPr>
          <p:spPr>
            <a:xfrm>
              <a:off x="4343400" y="1733550"/>
              <a:ext cx="3505200" cy="2743200"/>
            </a:xfrm>
            <a:prstGeom prst="roundRect">
              <a:avLst>
                <a:gd name="adj" fmla="val 1389"/>
              </a:avLst>
            </a:prstGeom>
            <a:solidFill>
              <a:schemeClr val="lt2"/>
            </a:solidFill>
            <a:ln w="9525">
              <a:solidFill>
                <a:schemeClr val="accent4"/>
              </a:solidFill>
            </a:ln>
          </p:spPr>
        </p:sp>
        <p:sp>
          <p:nvSpPr>
            <p:cNvPr id="16" name="Rectangle 16"/>
            <p:cNvSpPr/>
            <p:nvPr/>
          </p:nvSpPr>
          <p:spPr>
            <a:xfrm>
              <a:off x="4343400" y="1733550"/>
              <a:ext cx="38100" cy="2743200"/>
            </a:xfrm>
            <a:prstGeom prst="rect">
              <a:avLst/>
            </a:prstGeom>
            <a:solidFill>
              <a:schemeClr val="accent2"/>
            </a:solidFill>
            <a:ln>
              <a:noFill/>
            </a:ln>
          </p:spPr>
        </p:sp>
        <p:sp>
          <p:nvSpPr>
            <p:cNvPr id="17" name="TextBox 17"/>
            <p:cNvSpPr txBox="1"/>
            <p:nvPr/>
          </p:nvSpPr>
          <p:spPr>
            <a:xfrm>
              <a:off x="45567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02</a:t>
              </a:r>
            </a:p>
          </p:txBody>
        </p:sp>
        <p:sp>
          <p:nvSpPr>
            <p:cNvPr id="18" name="TextBox 18"/>
            <p:cNvSpPr txBox="1"/>
            <p:nvPr/>
          </p:nvSpPr>
          <p:spPr>
            <a:xfrm>
              <a:off x="4562856" y="2548890"/>
              <a:ext cx="257018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Timing carries signal</a:t>
              </a:r>
            </a:p>
          </p:txBody>
        </p:sp>
        <p:sp>
          <p:nvSpPr>
            <p:cNvPr id="19" name="TextBox 19"/>
            <p:cNvSpPr txBox="1"/>
            <p:nvPr/>
          </p:nvSpPr>
          <p:spPr>
            <a:xfrm>
              <a:off x="4564380" y="2962275"/>
              <a:ext cx="243480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When a clinician orders a</a:t>
              </a:r>
            </a:p>
          </p:txBody>
        </p:sp>
        <p:sp>
          <p:nvSpPr>
            <p:cNvPr id="20" name="TextBox 20"/>
            <p:cNvSpPr txBox="1"/>
            <p:nvPr/>
          </p:nvSpPr>
          <p:spPr>
            <a:xfrm>
              <a:off x="4564380" y="3228975"/>
              <a:ext cx="23172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test, its timing and its</a:t>
              </a:r>
            </a:p>
          </p:txBody>
        </p:sp>
        <p:sp>
          <p:nvSpPr>
            <p:cNvPr id="21" name="TextBox 21"/>
            <p:cNvSpPr txBox="1"/>
            <p:nvPr/>
          </p:nvSpPr>
          <p:spPr>
            <a:xfrm>
              <a:off x="4564380" y="3495675"/>
              <a:ext cx="280187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existence carry information</a:t>
              </a:r>
            </a:p>
          </p:txBody>
        </p:sp>
        <p:sp>
          <p:nvSpPr>
            <p:cNvPr id="22" name="TextBox 22"/>
            <p:cNvSpPr txBox="1"/>
            <p:nvPr/>
          </p:nvSpPr>
          <p:spPr>
            <a:xfrm>
              <a:off x="4564380" y="3762375"/>
              <a:ext cx="186290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about the patient.</a:t>
              </a:r>
            </a:p>
          </p:txBody>
        </p:sp>
      </p:grpSp>
      <p:grpSp>
        <p:nvGrpSpPr>
          <p:cNvPr id="31" name="Group 31"/>
          <p:cNvGrpSpPr/>
          <p:nvPr/>
        </p:nvGrpSpPr>
        <p:grpSpPr>
          <a:xfrm>
            <a:off x="8077200" y="1733550"/>
            <a:ext cx="3505200" cy="2743200"/>
            <a:chOff x="8077200" y="1733550"/>
            <a:chExt cx="3505200" cy="2743200"/>
          </a:xfrm>
        </p:grpSpPr>
        <p:sp>
          <p:nvSpPr>
            <p:cNvPr id="24" name="Rectangle 24"/>
            <p:cNvSpPr/>
            <p:nvPr/>
          </p:nvSpPr>
          <p:spPr>
            <a:xfrm>
              <a:off x="8077200" y="1733550"/>
              <a:ext cx="3505200" cy="2743200"/>
            </a:xfrm>
            <a:prstGeom prst="roundRect">
              <a:avLst>
                <a:gd name="adj" fmla="val 1389"/>
              </a:avLst>
            </a:prstGeom>
            <a:solidFill>
              <a:schemeClr val="lt2"/>
            </a:solidFill>
            <a:ln w="9525">
              <a:solidFill>
                <a:schemeClr val="accent4"/>
              </a:solidFill>
            </a:ln>
          </p:spPr>
        </p:sp>
        <p:sp>
          <p:nvSpPr>
            <p:cNvPr id="25" name="Rectangle 25"/>
            <p:cNvSpPr/>
            <p:nvPr/>
          </p:nvSpPr>
          <p:spPr>
            <a:xfrm>
              <a:off x="8077200" y="1733550"/>
              <a:ext cx="38100" cy="2743200"/>
            </a:xfrm>
            <a:prstGeom prst="rect">
              <a:avLst/>
            </a:prstGeom>
            <a:solidFill>
              <a:schemeClr val="accent3"/>
            </a:solidFill>
            <a:ln>
              <a:noFill/>
            </a:ln>
          </p:spPr>
        </p:sp>
        <p:sp>
          <p:nvSpPr>
            <p:cNvPr id="26" name="TextBox 26"/>
            <p:cNvSpPr txBox="1"/>
            <p:nvPr/>
          </p:nvSpPr>
          <p:spPr>
            <a:xfrm>
              <a:off x="82905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03</a:t>
              </a:r>
            </a:p>
          </p:txBody>
        </p:sp>
        <p:sp>
          <p:nvSpPr>
            <p:cNvPr id="27" name="TextBox 27"/>
            <p:cNvSpPr txBox="1"/>
            <p:nvPr/>
          </p:nvSpPr>
          <p:spPr>
            <a:xfrm>
              <a:off x="8296656" y="2548890"/>
              <a:ext cx="2749269"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The common blind spot</a:t>
              </a:r>
            </a:p>
          </p:txBody>
        </p:sp>
        <p:sp>
          <p:nvSpPr>
            <p:cNvPr id="28" name="TextBox 28"/>
            <p:cNvSpPr txBox="1"/>
            <p:nvPr/>
          </p:nvSpPr>
          <p:spPr>
            <a:xfrm>
              <a:off x="8298180" y="2962275"/>
              <a:ext cx="252625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Most models ignore this —</a:t>
              </a:r>
            </a:p>
          </p:txBody>
        </p:sp>
        <p:sp>
          <p:nvSpPr>
            <p:cNvPr id="29" name="TextBox 29"/>
            <p:cNvSpPr txBox="1"/>
            <p:nvPr/>
          </p:nvSpPr>
          <p:spPr>
            <a:xfrm>
              <a:off x="8298180" y="3228975"/>
              <a:ext cx="25090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they assume the sampling</a:t>
              </a:r>
            </a:p>
          </p:txBody>
        </p:sp>
        <p:sp>
          <p:nvSpPr>
            <p:cNvPr id="30" name="TextBox 30"/>
            <p:cNvSpPr txBox="1"/>
            <p:nvPr/>
          </p:nvSpPr>
          <p:spPr>
            <a:xfrm>
              <a:off x="8298180" y="3495675"/>
              <a:ext cx="280187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is non-informative.</a:t>
              </a:r>
            </a:p>
          </p:txBody>
        </p:sp>
      </p:grpSp>
      <p:grpSp>
        <p:nvGrpSpPr>
          <p:cNvPr id="36" name="Group 36"/>
          <p:cNvGrpSpPr/>
          <p:nvPr/>
        </p:nvGrpSpPr>
        <p:grpSpPr>
          <a:xfrm>
            <a:off x="609600" y="4762500"/>
            <a:ext cx="10972800" cy="1428750"/>
            <a:chOff x="609600" y="4762500"/>
            <a:chExt cx="10972800" cy="1428750"/>
          </a:xfrm>
        </p:grpSpPr>
        <p:sp>
          <p:nvSpPr>
            <p:cNvPr id="32" name="Rectangle 32"/>
            <p:cNvSpPr/>
            <p:nvPr/>
          </p:nvSpPr>
          <p:spPr>
            <a:xfrm>
              <a:off x="609600" y="4762500"/>
              <a:ext cx="10972800" cy="1428750"/>
            </a:xfrm>
            <a:prstGeom prst="roundRect">
              <a:avLst>
                <a:gd name="adj" fmla="val 2667"/>
              </a:avLst>
            </a:prstGeom>
            <a:solidFill>
              <a:schemeClr val="accent1"/>
            </a:solidFill>
            <a:ln>
              <a:noFill/>
            </a:ln>
          </p:spPr>
        </p:sp>
        <p:sp>
          <p:nvSpPr>
            <p:cNvPr id="33" name="TextBox 33"/>
            <p:cNvSpPr txBox="1"/>
            <p:nvPr/>
          </p:nvSpPr>
          <p:spPr>
            <a:xfrm>
              <a:off x="942594" y="5171122"/>
              <a:ext cx="9813768"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Ignoring clinical presence yields sub-optimal, non-transportable models.</a:t>
              </a:r>
            </a:p>
          </p:txBody>
        </p:sp>
        <p:sp>
          <p:nvSpPr>
            <p:cNvPr id="34" name="TextBox 34"/>
            <p:cNvSpPr txBox="1"/>
            <p:nvPr/>
          </p:nvSpPr>
          <p:spPr>
            <a:xfrm>
              <a:off x="942594" y="5552122"/>
              <a:ext cx="4149248"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Modelling it explicitly is the fix.</a:t>
              </a:r>
            </a:p>
          </p:txBody>
        </p:sp>
        <p:sp>
          <p:nvSpPr>
            <p:cNvPr id="35" name="TextBox 35"/>
            <p:cNvSpPr txBox="1"/>
            <p:nvPr/>
          </p:nvSpPr>
          <p:spPr>
            <a:xfrm>
              <a:off x="10809183" y="5082540"/>
              <a:ext cx="411267" cy="933450"/>
            </a:xfrm>
            <a:prstGeom prst="rect">
              <a:avLst/>
            </a:prstGeom>
            <a:noFill/>
            <a:ln>
              <a:noFill/>
            </a:ln>
          </p:spPr>
          <p:txBody>
            <a:bodyPr wrap="none" lIns="0" tIns="0" rIns="0" bIns="0" anchor="t" anchorCtr="0">
              <a:spAutoFit/>
            </a:bodyPr>
            <a:lstStyle/>
            <a:p>
              <a:pPr algn="r"/>
              <a:r>
                <a:rPr lang="en-US" sz="4800" b="1" dirty="0">
                  <a:solidFill>
                    <a:srgbClr val="4A83EE"/>
                  </a:solidFill>
                  <a:latin typeface="+mn-lt"/>
                  <a:ea typeface="+mn-ea"/>
                  <a:cs typeface="+mn-cs"/>
                </a:rPr>
                <a:t>→</a:t>
              </a:r>
            </a:p>
          </p:txBody>
        </p:sp>
      </p:grpSp>
      <p:grpSp>
        <p:nvGrpSpPr>
          <p:cNvPr id="39" name="Group 39"/>
          <p:cNvGrpSpPr/>
          <p:nvPr/>
        </p:nvGrpSpPr>
        <p:grpSpPr>
          <a:xfrm>
            <a:off x="604647" y="6562249"/>
            <a:ext cx="10982706" cy="190690"/>
            <a:chOff x="604647" y="6562249"/>
            <a:chExt cx="10982706" cy="190690"/>
          </a:xfrm>
        </p:grpSpPr>
        <p:sp>
          <p:nvSpPr>
            <p:cNvPr id="37" name="TextBox 37"/>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02 / 10</a:t>
              </a:r>
            </a:p>
          </p:txBody>
        </p:sp>
        <p:sp>
          <p:nvSpPr>
            <p:cNvPr id="38" name="TextBox 38"/>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885887" cy="803434"/>
            <a:chOff x="594360" y="602456"/>
            <a:chExt cx="8885887" cy="803434"/>
          </a:xfrm>
        </p:grpSpPr>
        <p:sp>
          <p:nvSpPr>
            <p:cNvPr id="2" name="TextBox 2"/>
            <p:cNvSpPr txBox="1"/>
            <p:nvPr/>
          </p:nvSpPr>
          <p:spPr>
            <a:xfrm>
              <a:off x="603885" y="602456"/>
              <a:ext cx="1188836"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MOTIVATION</a:t>
              </a:r>
            </a:p>
          </p:txBody>
        </p:sp>
        <p:sp>
          <p:nvSpPr>
            <p:cNvPr id="3" name="TextBox 3"/>
            <p:cNvSpPr txBox="1"/>
            <p:nvPr/>
          </p:nvSpPr>
          <p:spPr>
            <a:xfrm>
              <a:off x="594360" y="819150"/>
              <a:ext cx="8885887"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Clinical presence shifts — and models break</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28" name="Group 28"/>
          <p:cNvGrpSpPr/>
          <p:nvPr/>
        </p:nvGrpSpPr>
        <p:grpSpPr>
          <a:xfrm>
            <a:off x="609600" y="1733550"/>
            <a:ext cx="5334000" cy="3238500"/>
            <a:chOff x="609600" y="1733550"/>
            <a:chExt cx="5334000" cy="3238500"/>
          </a:xfrm>
        </p:grpSpPr>
        <p:sp>
          <p:nvSpPr>
            <p:cNvPr id="6" name="Rectangle 6"/>
            <p:cNvSpPr/>
            <p:nvPr/>
          </p:nvSpPr>
          <p:spPr>
            <a:xfrm>
              <a:off x="609600" y="1733550"/>
              <a:ext cx="5334000" cy="3238500"/>
            </a:xfrm>
            <a:prstGeom prst="roundRect">
              <a:avLst>
                <a:gd name="adj" fmla="val 1176"/>
              </a:avLst>
            </a:prstGeom>
            <a:solidFill>
              <a:schemeClr val="lt2"/>
            </a:solidFill>
            <a:ln w="9525">
              <a:solidFill>
                <a:schemeClr val="accent4"/>
              </a:solidFill>
            </a:ln>
          </p:spPr>
        </p:sp>
        <p:sp>
          <p:nvSpPr>
            <p:cNvPr id="7" name="Rectangle 7"/>
            <p:cNvSpPr/>
            <p:nvPr/>
          </p:nvSpPr>
          <p:spPr>
            <a:xfrm>
              <a:off x="609600" y="1733550"/>
              <a:ext cx="38100" cy="3238500"/>
            </a:xfrm>
            <a:prstGeom prst="rect">
              <a:avLst/>
            </a:prstGeom>
            <a:solidFill>
              <a:schemeClr val="accent2"/>
            </a:solidFill>
            <a:ln>
              <a:noFill/>
            </a:ln>
          </p:spPr>
        </p:sp>
        <p:sp>
          <p:nvSpPr>
            <p:cNvPr id="8" name="TextBox 8"/>
            <p:cNvSpPr txBox="1"/>
            <p:nvPr/>
          </p:nvSpPr>
          <p:spPr>
            <a:xfrm>
              <a:off x="829056" y="1977390"/>
              <a:ext cx="427531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Heterogeneity is the key challenge</a:t>
              </a:r>
            </a:p>
          </p:txBody>
        </p:sp>
        <p:sp>
          <p:nvSpPr>
            <p:cNvPr id="9" name="TextBox 9"/>
            <p:cNvSpPr txBox="1"/>
            <p:nvPr/>
          </p:nvSpPr>
          <p:spPr>
            <a:xfrm>
              <a:off x="830580" y="2390775"/>
              <a:ext cx="36060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 same patient population can look</a:t>
              </a:r>
            </a:p>
          </p:txBody>
        </p:sp>
        <p:sp>
          <p:nvSpPr>
            <p:cNvPr id="10" name="TextBox 10"/>
            <p:cNvSpPr txBox="1"/>
            <p:nvPr/>
          </p:nvSpPr>
          <p:spPr>
            <a:xfrm>
              <a:off x="830580" y="2657475"/>
              <a:ext cx="438702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very different depending on the observation</a:t>
              </a:r>
            </a:p>
          </p:txBody>
        </p:sp>
        <p:sp>
          <p:nvSpPr>
            <p:cNvPr id="11" name="TextBox 11"/>
            <p:cNvSpPr txBox="1"/>
            <p:nvPr/>
          </p:nvSpPr>
          <p:spPr>
            <a:xfrm>
              <a:off x="830580" y="2924175"/>
              <a:ext cx="422548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 it shifts across countries, over</a:t>
              </a:r>
            </a:p>
          </p:txBody>
        </p:sp>
        <p:sp>
          <p:nvSpPr>
            <p:cNvPr id="12" name="TextBox 12"/>
            <p:cNvSpPr txBox="1"/>
            <p:nvPr/>
          </p:nvSpPr>
          <p:spPr>
            <a:xfrm>
              <a:off x="830580" y="3190875"/>
              <a:ext cx="431634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time, and between weekdays and weekends.</a:t>
              </a:r>
            </a:p>
          </p:txBody>
        </p:sp>
        <p:sp>
          <p:nvSpPr>
            <p:cNvPr id="13" name="TextBox 13"/>
            <p:cNvSpPr txBox="1"/>
            <p:nvPr/>
          </p:nvSpPr>
          <p:spPr>
            <a:xfrm>
              <a:off x="833247" y="3685699"/>
              <a:ext cx="304319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OBSERVATION DENSITY, SAME COHORT</a:t>
              </a:r>
            </a:p>
          </p:txBody>
        </p:sp>
        <p:sp>
          <p:nvSpPr>
            <p:cNvPr id="14" name="Rectangle 14"/>
            <p:cNvSpPr/>
            <p:nvPr/>
          </p:nvSpPr>
          <p:spPr>
            <a:xfrm>
              <a:off x="952500" y="4248150"/>
              <a:ext cx="171450" cy="400050"/>
            </a:xfrm>
            <a:prstGeom prst="rect">
              <a:avLst/>
            </a:prstGeom>
            <a:solidFill>
              <a:schemeClr val="accent2"/>
            </a:solidFill>
            <a:ln>
              <a:noFill/>
            </a:ln>
          </p:spPr>
        </p:sp>
        <p:sp>
          <p:nvSpPr>
            <p:cNvPr id="15" name="Rectangle 15"/>
            <p:cNvSpPr/>
            <p:nvPr/>
          </p:nvSpPr>
          <p:spPr>
            <a:xfrm>
              <a:off x="1181100" y="4114800"/>
              <a:ext cx="171450" cy="533400"/>
            </a:xfrm>
            <a:prstGeom prst="rect">
              <a:avLst/>
            </a:prstGeom>
            <a:solidFill>
              <a:schemeClr val="accent2"/>
            </a:solidFill>
            <a:ln>
              <a:noFill/>
            </a:ln>
          </p:spPr>
        </p:sp>
        <p:sp>
          <p:nvSpPr>
            <p:cNvPr id="16" name="Rectangle 16"/>
            <p:cNvSpPr/>
            <p:nvPr/>
          </p:nvSpPr>
          <p:spPr>
            <a:xfrm>
              <a:off x="1409700" y="4305300"/>
              <a:ext cx="171450" cy="342900"/>
            </a:xfrm>
            <a:prstGeom prst="rect">
              <a:avLst/>
            </a:prstGeom>
            <a:solidFill>
              <a:schemeClr val="accent2"/>
            </a:solidFill>
            <a:ln>
              <a:noFill/>
            </a:ln>
          </p:spPr>
        </p:sp>
        <p:sp>
          <p:nvSpPr>
            <p:cNvPr id="17" name="Rectangle 17"/>
            <p:cNvSpPr/>
            <p:nvPr/>
          </p:nvSpPr>
          <p:spPr>
            <a:xfrm>
              <a:off x="1638300" y="4038600"/>
              <a:ext cx="171450" cy="609600"/>
            </a:xfrm>
            <a:prstGeom prst="rect">
              <a:avLst/>
            </a:prstGeom>
            <a:solidFill>
              <a:schemeClr val="accent2"/>
            </a:solidFill>
            <a:ln>
              <a:noFill/>
            </a:ln>
          </p:spPr>
        </p:sp>
        <p:sp>
          <p:nvSpPr>
            <p:cNvPr id="18" name="Rectangle 18"/>
            <p:cNvSpPr/>
            <p:nvPr/>
          </p:nvSpPr>
          <p:spPr>
            <a:xfrm>
              <a:off x="1866900" y="4191000"/>
              <a:ext cx="171450" cy="457200"/>
            </a:xfrm>
            <a:prstGeom prst="rect">
              <a:avLst/>
            </a:prstGeom>
            <a:solidFill>
              <a:schemeClr val="accent2"/>
            </a:solidFill>
            <a:ln>
              <a:noFill/>
            </a:ln>
          </p:spPr>
        </p:sp>
        <p:sp>
          <p:nvSpPr>
            <p:cNvPr id="19" name="Rectangle 19"/>
            <p:cNvSpPr/>
            <p:nvPr/>
          </p:nvSpPr>
          <p:spPr>
            <a:xfrm>
              <a:off x="2095500" y="4343400"/>
              <a:ext cx="171450" cy="304800"/>
            </a:xfrm>
            <a:prstGeom prst="rect">
              <a:avLst/>
            </a:prstGeom>
            <a:solidFill>
              <a:schemeClr val="accent2"/>
            </a:solidFill>
            <a:ln>
              <a:noFill/>
            </a:ln>
          </p:spPr>
        </p:sp>
        <p:sp>
          <p:nvSpPr>
            <p:cNvPr id="20" name="TextBox 20"/>
            <p:cNvSpPr txBox="1"/>
            <p:nvPr/>
          </p:nvSpPr>
          <p:spPr>
            <a:xfrm>
              <a:off x="947547" y="4733449"/>
              <a:ext cx="5485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Weekday</a:t>
              </a:r>
            </a:p>
          </p:txBody>
        </p:sp>
        <p:sp>
          <p:nvSpPr>
            <p:cNvPr id="21" name="Rectangle 21"/>
            <p:cNvSpPr/>
            <p:nvPr/>
          </p:nvSpPr>
          <p:spPr>
            <a:xfrm>
              <a:off x="3543300" y="4495800"/>
              <a:ext cx="171450" cy="152400"/>
            </a:xfrm>
            <a:prstGeom prst="rect">
              <a:avLst/>
            </a:prstGeom>
            <a:solidFill>
              <a:srgbClr val="B7C0CC"/>
            </a:solidFill>
            <a:ln>
              <a:noFill/>
            </a:ln>
          </p:spPr>
        </p:sp>
        <p:sp>
          <p:nvSpPr>
            <p:cNvPr id="22" name="Rectangle 22"/>
            <p:cNvSpPr/>
            <p:nvPr/>
          </p:nvSpPr>
          <p:spPr>
            <a:xfrm>
              <a:off x="3771900" y="4438650"/>
              <a:ext cx="171450" cy="209550"/>
            </a:xfrm>
            <a:prstGeom prst="rect">
              <a:avLst/>
            </a:prstGeom>
            <a:solidFill>
              <a:srgbClr val="B7C0CC"/>
            </a:solidFill>
            <a:ln>
              <a:noFill/>
            </a:ln>
          </p:spPr>
        </p:sp>
        <p:sp>
          <p:nvSpPr>
            <p:cNvPr id="23" name="Rectangle 23"/>
            <p:cNvSpPr/>
            <p:nvPr/>
          </p:nvSpPr>
          <p:spPr>
            <a:xfrm>
              <a:off x="4000500" y="4533900"/>
              <a:ext cx="171450" cy="114300"/>
            </a:xfrm>
            <a:prstGeom prst="rect">
              <a:avLst/>
            </a:prstGeom>
            <a:solidFill>
              <a:srgbClr val="B7C0CC"/>
            </a:solidFill>
            <a:ln>
              <a:noFill/>
            </a:ln>
          </p:spPr>
        </p:sp>
        <p:sp>
          <p:nvSpPr>
            <p:cNvPr id="24" name="Rectangle 24"/>
            <p:cNvSpPr/>
            <p:nvPr/>
          </p:nvSpPr>
          <p:spPr>
            <a:xfrm>
              <a:off x="4229100" y="4476750"/>
              <a:ext cx="171450" cy="171450"/>
            </a:xfrm>
            <a:prstGeom prst="rect">
              <a:avLst/>
            </a:prstGeom>
            <a:solidFill>
              <a:srgbClr val="B7C0CC"/>
            </a:solidFill>
            <a:ln>
              <a:noFill/>
            </a:ln>
          </p:spPr>
        </p:sp>
        <p:sp>
          <p:nvSpPr>
            <p:cNvPr id="25" name="Rectangle 25"/>
            <p:cNvSpPr/>
            <p:nvPr/>
          </p:nvSpPr>
          <p:spPr>
            <a:xfrm>
              <a:off x="4457700" y="4552950"/>
              <a:ext cx="171450" cy="95250"/>
            </a:xfrm>
            <a:prstGeom prst="rect">
              <a:avLst/>
            </a:prstGeom>
            <a:solidFill>
              <a:srgbClr val="B7C0CC"/>
            </a:solidFill>
            <a:ln>
              <a:noFill/>
            </a:ln>
          </p:spPr>
        </p:sp>
        <p:sp>
          <p:nvSpPr>
            <p:cNvPr id="26" name="Rectangle 26"/>
            <p:cNvSpPr/>
            <p:nvPr/>
          </p:nvSpPr>
          <p:spPr>
            <a:xfrm>
              <a:off x="4686300" y="4514850"/>
              <a:ext cx="171450" cy="133350"/>
            </a:xfrm>
            <a:prstGeom prst="rect">
              <a:avLst/>
            </a:prstGeom>
            <a:solidFill>
              <a:srgbClr val="B7C0CC"/>
            </a:solidFill>
            <a:ln>
              <a:noFill/>
            </a:ln>
          </p:spPr>
        </p:sp>
        <p:sp>
          <p:nvSpPr>
            <p:cNvPr id="27" name="TextBox 27"/>
            <p:cNvSpPr txBox="1"/>
            <p:nvPr/>
          </p:nvSpPr>
          <p:spPr>
            <a:xfrm>
              <a:off x="3538347" y="4733449"/>
              <a:ext cx="5485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Weekend</a:t>
              </a:r>
            </a:p>
          </p:txBody>
        </p:sp>
      </p:grpSp>
      <p:grpSp>
        <p:nvGrpSpPr>
          <p:cNvPr id="35" name="Group 35"/>
          <p:cNvGrpSpPr/>
          <p:nvPr/>
        </p:nvGrpSpPr>
        <p:grpSpPr>
          <a:xfrm>
            <a:off x="6172200" y="1733550"/>
            <a:ext cx="5410200" cy="1504950"/>
            <a:chOff x="6172200" y="1733550"/>
            <a:chExt cx="5410200" cy="1504950"/>
          </a:xfrm>
        </p:grpSpPr>
        <p:sp>
          <p:nvSpPr>
            <p:cNvPr id="29" name="Rectangle 29"/>
            <p:cNvSpPr/>
            <p:nvPr/>
          </p:nvSpPr>
          <p:spPr>
            <a:xfrm>
              <a:off x="6172200" y="1733550"/>
              <a:ext cx="5410200" cy="1504950"/>
            </a:xfrm>
            <a:prstGeom prst="roundRect">
              <a:avLst>
                <a:gd name="adj" fmla="val 2532"/>
              </a:avLst>
            </a:prstGeom>
            <a:solidFill>
              <a:schemeClr val="lt2"/>
            </a:solidFill>
            <a:ln w="9525">
              <a:solidFill>
                <a:schemeClr val="accent4"/>
              </a:solidFill>
            </a:ln>
          </p:spPr>
        </p:sp>
        <p:sp>
          <p:nvSpPr>
            <p:cNvPr id="30" name="Rectangle 30"/>
            <p:cNvSpPr/>
            <p:nvPr/>
          </p:nvSpPr>
          <p:spPr>
            <a:xfrm>
              <a:off x="6172200" y="1733550"/>
              <a:ext cx="38100" cy="1504950"/>
            </a:xfrm>
            <a:prstGeom prst="rect">
              <a:avLst/>
            </a:prstGeom>
            <a:solidFill>
              <a:schemeClr val="accent2"/>
            </a:solidFill>
            <a:ln>
              <a:noFill/>
            </a:ln>
          </p:spPr>
        </p:sp>
        <p:sp>
          <p:nvSpPr>
            <p:cNvPr id="31" name="TextBox 31"/>
            <p:cNvSpPr txBox="1"/>
            <p:nvPr/>
          </p:nvSpPr>
          <p:spPr>
            <a:xfrm>
              <a:off x="6391656" y="1958340"/>
              <a:ext cx="2799857"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A gap in the literature</a:t>
              </a:r>
            </a:p>
          </p:txBody>
        </p:sp>
        <p:sp>
          <p:nvSpPr>
            <p:cNvPr id="32" name="TextBox 32"/>
            <p:cNvSpPr txBox="1"/>
            <p:nvPr/>
          </p:nvSpPr>
          <p:spPr>
            <a:xfrm>
              <a:off x="6393180" y="2371725"/>
              <a:ext cx="40672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ML has studied covariate and label shift.</a:t>
              </a:r>
            </a:p>
          </p:txBody>
        </p:sp>
        <p:sp>
          <p:nvSpPr>
            <p:cNvPr id="33" name="TextBox 33"/>
            <p:cNvSpPr txBox="1"/>
            <p:nvPr/>
          </p:nvSpPr>
          <p:spPr>
            <a:xfrm>
              <a:off x="6393180" y="2638425"/>
              <a:ext cx="384818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Shift in the observation process itself</a:t>
              </a:r>
            </a:p>
          </p:txBody>
        </p:sp>
        <p:sp>
          <p:nvSpPr>
            <p:cNvPr id="34" name="TextBox 34"/>
            <p:cNvSpPr txBox="1"/>
            <p:nvPr/>
          </p:nvSpPr>
          <p:spPr>
            <a:xfrm>
              <a:off x="6393180" y="2905125"/>
              <a:ext cx="245859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remains under-explored.</a:t>
              </a:r>
            </a:p>
          </p:txBody>
        </p:sp>
      </p:grpSp>
      <p:grpSp>
        <p:nvGrpSpPr>
          <p:cNvPr id="41" name="Group 41"/>
          <p:cNvGrpSpPr/>
          <p:nvPr/>
        </p:nvGrpSpPr>
        <p:grpSpPr>
          <a:xfrm>
            <a:off x="6172200" y="3467100"/>
            <a:ext cx="5410200" cy="1504950"/>
            <a:chOff x="6172200" y="3467100"/>
            <a:chExt cx="5410200" cy="1504950"/>
          </a:xfrm>
        </p:grpSpPr>
        <p:sp>
          <p:nvSpPr>
            <p:cNvPr id="36" name="Rectangle 36"/>
            <p:cNvSpPr/>
            <p:nvPr/>
          </p:nvSpPr>
          <p:spPr>
            <a:xfrm>
              <a:off x="6172200" y="3467100"/>
              <a:ext cx="5410200" cy="1504950"/>
            </a:xfrm>
            <a:prstGeom prst="roundRect">
              <a:avLst>
                <a:gd name="adj" fmla="val 2532"/>
              </a:avLst>
            </a:prstGeom>
            <a:solidFill>
              <a:schemeClr val="accent1"/>
            </a:solidFill>
            <a:ln>
              <a:noFill/>
            </a:ln>
          </p:spPr>
        </p:sp>
        <p:sp>
          <p:nvSpPr>
            <p:cNvPr id="37" name="TextBox 37"/>
            <p:cNvSpPr txBox="1"/>
            <p:nvPr/>
          </p:nvSpPr>
          <p:spPr>
            <a:xfrm>
              <a:off x="6395847" y="3742849"/>
              <a:ext cx="2003350" cy="190690"/>
            </a:xfrm>
            <a:prstGeom prst="rect">
              <a:avLst/>
            </a:prstGeom>
            <a:noFill/>
            <a:ln>
              <a:noFill/>
            </a:ln>
          </p:spPr>
          <p:txBody>
            <a:bodyPr wrap="none" lIns="0" tIns="0" rIns="0" bIns="0" anchor="t" anchorCtr="0">
              <a:spAutoFit/>
            </a:bodyPr>
            <a:lstStyle/>
            <a:p>
              <a:pPr algn="l"/>
              <a:r>
                <a:rPr lang="en-US" sz="980" b="1" spc="150" dirty="0">
                  <a:solidFill>
                    <a:srgbClr val="CFE0FC"/>
                  </a:solidFill>
                  <a:latin typeface="+mn-lt"/>
                  <a:ea typeface="+mn-ea"/>
                  <a:cs typeface="+mn-cs"/>
                </a:rPr>
                <a:t>DEEPJOINT'S QUESTION</a:t>
              </a:r>
            </a:p>
          </p:txBody>
        </p:sp>
        <p:sp>
          <p:nvSpPr>
            <p:cNvPr id="38" name="TextBox 38"/>
            <p:cNvSpPr txBox="1"/>
            <p:nvPr/>
          </p:nvSpPr>
          <p:spPr>
            <a:xfrm>
              <a:off x="6391656" y="3996690"/>
              <a:ext cx="30024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Does explicitly modelling</a:t>
              </a:r>
            </a:p>
          </p:txBody>
        </p:sp>
        <p:sp>
          <p:nvSpPr>
            <p:cNvPr id="39" name="TextBox 39"/>
            <p:cNvSpPr txBox="1"/>
            <p:nvPr/>
          </p:nvSpPr>
          <p:spPr>
            <a:xfrm>
              <a:off x="6391656" y="4282440"/>
              <a:ext cx="383476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clinical presence make survival</a:t>
              </a:r>
            </a:p>
          </p:txBody>
        </p:sp>
        <p:sp>
          <p:nvSpPr>
            <p:cNvPr id="40" name="TextBox 40"/>
            <p:cNvSpPr txBox="1"/>
            <p:nvPr/>
          </p:nvSpPr>
          <p:spPr>
            <a:xfrm>
              <a:off x="6391656" y="4568190"/>
              <a:ext cx="3542168"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models robust to this shift?</a:t>
              </a:r>
            </a:p>
          </p:txBody>
        </p:sp>
      </p:grpSp>
      <p:grpSp>
        <p:nvGrpSpPr>
          <p:cNvPr id="44" name="Group 44"/>
          <p:cNvGrpSpPr/>
          <p:nvPr/>
        </p:nvGrpSpPr>
        <p:grpSpPr>
          <a:xfrm>
            <a:off x="604647" y="6562249"/>
            <a:ext cx="10982706" cy="190690"/>
            <a:chOff x="604647" y="6562249"/>
            <a:chExt cx="10982706" cy="190690"/>
          </a:xfrm>
        </p:grpSpPr>
        <p:sp>
          <p:nvSpPr>
            <p:cNvPr id="42" name="TextBox 42"/>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03 / 10</a:t>
              </a:r>
            </a:p>
          </p:txBody>
        </p:sp>
        <p:sp>
          <p:nvSpPr>
            <p:cNvPr id="43" name="TextBox 43"/>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927981" cy="803434"/>
            <a:chOff x="594360" y="602456"/>
            <a:chExt cx="8927981" cy="803434"/>
          </a:xfrm>
        </p:grpSpPr>
        <p:sp>
          <p:nvSpPr>
            <p:cNvPr id="2" name="TextBox 2"/>
            <p:cNvSpPr txBox="1"/>
            <p:nvPr/>
          </p:nvSpPr>
          <p:spPr>
            <a:xfrm>
              <a:off x="603885" y="602456"/>
              <a:ext cx="1392865"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CONTRIBUTION</a:t>
              </a:r>
            </a:p>
          </p:txBody>
        </p:sp>
        <p:sp>
          <p:nvSpPr>
            <p:cNvPr id="3" name="TextBox 3"/>
            <p:cNvSpPr txBox="1"/>
            <p:nvPr/>
          </p:nvSpPr>
          <p:spPr>
            <a:xfrm>
              <a:off x="594360" y="819150"/>
              <a:ext cx="8927981"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A joint model of clinical presence + survival</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3" name="Group 13"/>
          <p:cNvGrpSpPr/>
          <p:nvPr/>
        </p:nvGrpSpPr>
        <p:grpSpPr>
          <a:xfrm>
            <a:off x="609600" y="1733550"/>
            <a:ext cx="3366135" cy="2381250"/>
            <a:chOff x="609600" y="1733550"/>
            <a:chExt cx="3366135" cy="2381250"/>
          </a:xfrm>
        </p:grpSpPr>
        <p:sp>
          <p:nvSpPr>
            <p:cNvPr id="6" name="Rectangle 6"/>
            <p:cNvSpPr/>
            <p:nvPr/>
          </p:nvSpPr>
          <p:spPr>
            <a:xfrm>
              <a:off x="609600" y="1733550"/>
              <a:ext cx="3352800" cy="2381250"/>
            </a:xfrm>
            <a:prstGeom prst="roundRect">
              <a:avLst>
                <a:gd name="adj" fmla="val 1600"/>
              </a:avLst>
            </a:prstGeom>
            <a:solidFill>
              <a:schemeClr val="lt2"/>
            </a:solidFill>
            <a:ln w="9525">
              <a:solidFill>
                <a:schemeClr val="accent4"/>
              </a:solidFill>
            </a:ln>
          </p:spPr>
        </p:sp>
        <p:sp>
          <p:nvSpPr>
            <p:cNvPr id="7" name="Rectangle 7"/>
            <p:cNvSpPr/>
            <p:nvPr/>
          </p:nvSpPr>
          <p:spPr>
            <a:xfrm>
              <a:off x="609600" y="1733550"/>
              <a:ext cx="38100" cy="2381250"/>
            </a:xfrm>
            <a:prstGeom prst="rect">
              <a:avLst/>
            </a:prstGeom>
            <a:solidFill>
              <a:schemeClr val="accent2"/>
            </a:solidFill>
            <a:ln>
              <a:noFill/>
            </a:ln>
          </p:spPr>
        </p:sp>
        <p:sp>
          <p:nvSpPr>
            <p:cNvPr id="8" name="TextBox 8"/>
            <p:cNvSpPr txBox="1"/>
            <p:nvPr/>
          </p:nvSpPr>
          <p:spPr>
            <a:xfrm>
              <a:off x="829056" y="1977390"/>
              <a:ext cx="2417910"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Multi-task learning</a:t>
              </a:r>
            </a:p>
          </p:txBody>
        </p:sp>
        <p:sp>
          <p:nvSpPr>
            <p:cNvPr id="9" name="TextBox 9"/>
            <p:cNvSpPr txBox="1"/>
            <p:nvPr/>
          </p:nvSpPr>
          <p:spPr>
            <a:xfrm>
              <a:off x="830580" y="2428875"/>
              <a:ext cx="255569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Treat clinical presence as</a:t>
              </a:r>
            </a:p>
          </p:txBody>
        </p:sp>
        <p:sp>
          <p:nvSpPr>
            <p:cNvPr id="10" name="TextBox 10"/>
            <p:cNvSpPr txBox="1"/>
            <p:nvPr/>
          </p:nvSpPr>
          <p:spPr>
            <a:xfrm>
              <a:off x="830580" y="2695575"/>
              <a:ext cx="247878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multi-task learning — the</a:t>
              </a:r>
            </a:p>
          </p:txBody>
        </p:sp>
        <p:sp>
          <p:nvSpPr>
            <p:cNvPr id="11" name="TextBox 11"/>
            <p:cNvSpPr txBox="1"/>
            <p:nvPr/>
          </p:nvSpPr>
          <p:spPr>
            <a:xfrm>
              <a:off x="830580" y="2962275"/>
              <a:ext cx="26403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 processes are</a:t>
              </a:r>
            </a:p>
          </p:txBody>
        </p:sp>
        <p:sp>
          <p:nvSpPr>
            <p:cNvPr id="12" name="TextBox 12"/>
            <p:cNvSpPr txBox="1"/>
            <p:nvPr/>
          </p:nvSpPr>
          <p:spPr>
            <a:xfrm>
              <a:off x="830580" y="3228975"/>
              <a:ext cx="314515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learned together with survival.</a:t>
              </a:r>
            </a:p>
          </p:txBody>
        </p:sp>
      </p:grpSp>
      <p:grpSp>
        <p:nvGrpSpPr>
          <p:cNvPr id="33" name="Group 33"/>
          <p:cNvGrpSpPr/>
          <p:nvPr/>
        </p:nvGrpSpPr>
        <p:grpSpPr>
          <a:xfrm>
            <a:off x="4191000" y="1733550"/>
            <a:ext cx="7391400" cy="2381250"/>
            <a:chOff x="4191000" y="1733550"/>
            <a:chExt cx="7391400" cy="2381250"/>
          </a:xfrm>
        </p:grpSpPr>
        <p:sp>
          <p:nvSpPr>
            <p:cNvPr id="14" name="Rectangle 14"/>
            <p:cNvSpPr/>
            <p:nvPr/>
          </p:nvSpPr>
          <p:spPr>
            <a:xfrm>
              <a:off x="4191000" y="1733550"/>
              <a:ext cx="7391400" cy="2381250"/>
            </a:xfrm>
            <a:prstGeom prst="roundRect">
              <a:avLst>
                <a:gd name="adj" fmla="val 1600"/>
              </a:avLst>
            </a:prstGeom>
            <a:solidFill>
              <a:schemeClr val="lt2"/>
            </a:solidFill>
            <a:ln w="9525">
              <a:solidFill>
                <a:schemeClr val="accent4"/>
              </a:solidFill>
            </a:ln>
          </p:spPr>
        </p:sp>
        <p:sp>
          <p:nvSpPr>
            <p:cNvPr id="15" name="TextBox 15"/>
            <p:cNvSpPr txBox="1"/>
            <p:nvPr/>
          </p:nvSpPr>
          <p:spPr>
            <a:xfrm>
              <a:off x="4410456" y="1920240"/>
              <a:ext cx="4365445"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One shared embedding → four heads</a:t>
              </a:r>
            </a:p>
          </p:txBody>
        </p:sp>
        <p:sp>
          <p:nvSpPr>
            <p:cNvPr id="16" name="Rectangle 16"/>
            <p:cNvSpPr/>
            <p:nvPr/>
          </p:nvSpPr>
          <p:spPr>
            <a:xfrm>
              <a:off x="4419600" y="2438400"/>
              <a:ext cx="1428750" cy="762000"/>
            </a:xfrm>
            <a:prstGeom prst="roundRect">
              <a:avLst>
                <a:gd name="adj" fmla="val 5000"/>
              </a:avLst>
            </a:prstGeom>
            <a:solidFill>
              <a:schemeClr val="lt1"/>
            </a:solidFill>
            <a:ln w="14288">
              <a:solidFill>
                <a:schemeClr val="accent1"/>
              </a:solidFill>
            </a:ln>
          </p:spPr>
        </p:sp>
        <p:sp>
          <p:nvSpPr>
            <p:cNvPr id="17" name="TextBox 17"/>
            <p:cNvSpPr txBox="1"/>
            <p:nvPr/>
          </p:nvSpPr>
          <p:spPr>
            <a:xfrm>
              <a:off x="5054862" y="2586990"/>
              <a:ext cx="158225"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mn-lt"/>
                  <a:ea typeface="+mn-ea"/>
                  <a:cs typeface="+mn-cs"/>
                </a:rPr>
                <a:t>h</a:t>
              </a:r>
            </a:p>
          </p:txBody>
        </p:sp>
        <p:sp>
          <p:nvSpPr>
            <p:cNvPr id="18" name="TextBox 18"/>
            <p:cNvSpPr txBox="1"/>
            <p:nvPr/>
          </p:nvSpPr>
          <p:spPr>
            <a:xfrm>
              <a:off x="4565032" y="2904649"/>
              <a:ext cx="113788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shared recurrent</a:t>
              </a:r>
            </a:p>
          </p:txBody>
        </p:sp>
        <p:sp>
          <p:nvSpPr>
            <p:cNvPr id="19" name="TextBox 19"/>
            <p:cNvSpPr txBox="1"/>
            <p:nvPr/>
          </p:nvSpPr>
          <p:spPr>
            <a:xfrm>
              <a:off x="5959009" y="2652712"/>
              <a:ext cx="197782" cy="440055"/>
            </a:xfrm>
            <a:prstGeom prst="rect">
              <a:avLst/>
            </a:prstGeom>
            <a:noFill/>
            <a:ln>
              <a:noFill/>
            </a:ln>
          </p:spPr>
          <p:txBody>
            <a:bodyPr wrap="none" lIns="0" tIns="0" rIns="0" bIns="0" anchor="t" anchorCtr="0">
              <a:spAutoFit/>
            </a:bodyPr>
            <a:lstStyle/>
            <a:p>
              <a:pPr algn="ctr"/>
              <a:r>
                <a:rPr lang="en-US" sz="2250" b="1" dirty="0">
                  <a:solidFill>
                    <a:srgbClr val="B7C0CC"/>
                  </a:solidFill>
                  <a:latin typeface="+mn-lt"/>
                  <a:ea typeface="+mn-ea"/>
                  <a:cs typeface="+mn-cs"/>
                </a:rPr>
                <a:t>→</a:t>
              </a:r>
            </a:p>
          </p:txBody>
        </p:sp>
        <p:sp>
          <p:nvSpPr>
            <p:cNvPr id="20" name="Rectangle 20"/>
            <p:cNvSpPr/>
            <p:nvPr/>
          </p:nvSpPr>
          <p:spPr>
            <a:xfrm>
              <a:off x="6324600" y="2438400"/>
              <a:ext cx="1143000" cy="762000"/>
            </a:xfrm>
            <a:prstGeom prst="roundRect">
              <a:avLst>
                <a:gd name="adj" fmla="val 5000"/>
              </a:avLst>
            </a:prstGeom>
            <a:solidFill>
              <a:schemeClr val="accent6"/>
            </a:solidFill>
            <a:ln>
              <a:noFill/>
            </a:ln>
          </p:spPr>
        </p:sp>
        <p:sp>
          <p:nvSpPr>
            <p:cNvPr id="21" name="TextBox 21"/>
            <p:cNvSpPr txBox="1"/>
            <p:nvPr/>
          </p:nvSpPr>
          <p:spPr>
            <a:xfrm>
              <a:off x="6819950" y="2622232"/>
              <a:ext cx="152301"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L</a:t>
              </a:r>
            </a:p>
          </p:txBody>
        </p:sp>
        <p:sp>
          <p:nvSpPr>
            <p:cNvPr id="22" name="TextBox 22"/>
            <p:cNvSpPr txBox="1"/>
            <p:nvPr/>
          </p:nvSpPr>
          <p:spPr>
            <a:xfrm>
              <a:off x="6521750" y="2923699"/>
              <a:ext cx="748701"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longitudinal</a:t>
              </a:r>
            </a:p>
          </p:txBody>
        </p:sp>
        <p:sp>
          <p:nvSpPr>
            <p:cNvPr id="23" name="Rectangle 23"/>
            <p:cNvSpPr/>
            <p:nvPr/>
          </p:nvSpPr>
          <p:spPr>
            <a:xfrm>
              <a:off x="7581900" y="2438400"/>
              <a:ext cx="1143000" cy="762000"/>
            </a:xfrm>
            <a:prstGeom prst="roundRect">
              <a:avLst>
                <a:gd name="adj" fmla="val 5000"/>
              </a:avLst>
            </a:prstGeom>
            <a:solidFill>
              <a:schemeClr val="accent6"/>
            </a:solidFill>
            <a:ln>
              <a:noFill/>
            </a:ln>
          </p:spPr>
        </p:sp>
        <p:sp>
          <p:nvSpPr>
            <p:cNvPr id="24" name="TextBox 24"/>
            <p:cNvSpPr txBox="1"/>
            <p:nvPr/>
          </p:nvSpPr>
          <p:spPr>
            <a:xfrm>
              <a:off x="8108053" y="2622232"/>
              <a:ext cx="90693"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I</a:t>
              </a:r>
            </a:p>
          </p:txBody>
        </p:sp>
        <p:sp>
          <p:nvSpPr>
            <p:cNvPr id="25" name="TextBox 25"/>
            <p:cNvSpPr txBox="1"/>
            <p:nvPr/>
          </p:nvSpPr>
          <p:spPr>
            <a:xfrm>
              <a:off x="7950556" y="2923699"/>
              <a:ext cx="405689"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timing</a:t>
              </a:r>
            </a:p>
          </p:txBody>
        </p:sp>
        <p:sp>
          <p:nvSpPr>
            <p:cNvPr id="26" name="Rectangle 26"/>
            <p:cNvSpPr/>
            <p:nvPr/>
          </p:nvSpPr>
          <p:spPr>
            <a:xfrm>
              <a:off x="8839200" y="2438400"/>
              <a:ext cx="1143000" cy="762000"/>
            </a:xfrm>
            <a:prstGeom prst="roundRect">
              <a:avLst>
                <a:gd name="adj" fmla="val 5000"/>
              </a:avLst>
            </a:prstGeom>
            <a:solidFill>
              <a:schemeClr val="accent6"/>
            </a:solidFill>
            <a:ln>
              <a:noFill/>
            </a:ln>
          </p:spPr>
        </p:sp>
        <p:sp>
          <p:nvSpPr>
            <p:cNvPr id="27" name="TextBox 27"/>
            <p:cNvSpPr txBox="1"/>
            <p:nvPr/>
          </p:nvSpPr>
          <p:spPr>
            <a:xfrm>
              <a:off x="9309906" y="2622232"/>
              <a:ext cx="201587"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M</a:t>
              </a:r>
            </a:p>
          </p:txBody>
        </p:sp>
        <p:sp>
          <p:nvSpPr>
            <p:cNvPr id="28" name="TextBox 28"/>
            <p:cNvSpPr txBox="1"/>
            <p:nvPr/>
          </p:nvSpPr>
          <p:spPr>
            <a:xfrm>
              <a:off x="9026455" y="2923699"/>
              <a:ext cx="768490"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missingness</a:t>
              </a:r>
            </a:p>
          </p:txBody>
        </p:sp>
        <p:sp>
          <p:nvSpPr>
            <p:cNvPr id="29" name="Rectangle 29"/>
            <p:cNvSpPr/>
            <p:nvPr/>
          </p:nvSpPr>
          <p:spPr>
            <a:xfrm>
              <a:off x="10096500" y="2438400"/>
              <a:ext cx="1143000" cy="762000"/>
            </a:xfrm>
            <a:prstGeom prst="roundRect">
              <a:avLst>
                <a:gd name="adj" fmla="val 5000"/>
              </a:avLst>
            </a:prstGeom>
            <a:solidFill>
              <a:srgbClr val="E4EDFD"/>
            </a:solidFill>
            <a:ln>
              <a:noFill/>
            </a:ln>
          </p:spPr>
        </p:sp>
        <p:sp>
          <p:nvSpPr>
            <p:cNvPr id="30" name="TextBox 30"/>
            <p:cNvSpPr txBox="1"/>
            <p:nvPr/>
          </p:nvSpPr>
          <p:spPr>
            <a:xfrm>
              <a:off x="10591850" y="2622232"/>
              <a:ext cx="15230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a:t>
              </a:r>
            </a:p>
          </p:txBody>
        </p:sp>
        <p:sp>
          <p:nvSpPr>
            <p:cNvPr id="31" name="TextBox 31"/>
            <p:cNvSpPr txBox="1"/>
            <p:nvPr/>
          </p:nvSpPr>
          <p:spPr>
            <a:xfrm>
              <a:off x="10405788" y="2923699"/>
              <a:ext cx="524424"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survival</a:t>
              </a:r>
            </a:p>
          </p:txBody>
        </p:sp>
        <p:sp>
          <p:nvSpPr>
            <p:cNvPr id="32" name="TextBox 32"/>
            <p:cNvSpPr txBox="1"/>
            <p:nvPr/>
          </p:nvSpPr>
          <p:spPr>
            <a:xfrm>
              <a:off x="4413885" y="3555206"/>
              <a:ext cx="46377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Combined likelihood · dynamic weighting · optimised end-to-end</a:t>
              </a:r>
            </a:p>
          </p:txBody>
        </p:sp>
      </p:grpSp>
      <p:grpSp>
        <p:nvGrpSpPr>
          <p:cNvPr id="38" name="Group 38"/>
          <p:cNvGrpSpPr/>
          <p:nvPr/>
        </p:nvGrpSpPr>
        <p:grpSpPr>
          <a:xfrm>
            <a:off x="609600" y="4572000"/>
            <a:ext cx="10972800" cy="1428750"/>
            <a:chOff x="609600" y="4572000"/>
            <a:chExt cx="10972800" cy="1428750"/>
          </a:xfrm>
        </p:grpSpPr>
        <p:sp>
          <p:nvSpPr>
            <p:cNvPr id="34" name="Rectangle 34"/>
            <p:cNvSpPr/>
            <p:nvPr/>
          </p:nvSpPr>
          <p:spPr>
            <a:xfrm>
              <a:off x="609600" y="4572000"/>
              <a:ext cx="10972800" cy="1428750"/>
            </a:xfrm>
            <a:prstGeom prst="roundRect">
              <a:avLst>
                <a:gd name="adj" fmla="val 2667"/>
              </a:avLst>
            </a:prstGeom>
            <a:solidFill>
              <a:schemeClr val="accent1"/>
            </a:solidFill>
            <a:ln>
              <a:noFill/>
            </a:ln>
          </p:spPr>
        </p:sp>
        <p:sp>
          <p:nvSpPr>
            <p:cNvPr id="35" name="TextBox 35"/>
            <p:cNvSpPr txBox="1"/>
            <p:nvPr/>
          </p:nvSpPr>
          <p:spPr>
            <a:xfrm>
              <a:off x="947547" y="4809649"/>
              <a:ext cx="970346" cy="190690"/>
            </a:xfrm>
            <a:prstGeom prst="rect">
              <a:avLst/>
            </a:prstGeom>
            <a:noFill/>
            <a:ln>
              <a:noFill/>
            </a:ln>
          </p:spPr>
          <p:txBody>
            <a:bodyPr wrap="none" lIns="0" tIns="0" rIns="0" bIns="0" anchor="t" anchorCtr="0">
              <a:spAutoFit/>
            </a:bodyPr>
            <a:lstStyle/>
            <a:p>
              <a:pPr algn="l"/>
              <a:r>
                <a:rPr lang="en-US" sz="980" b="1" spc="150" dirty="0">
                  <a:solidFill>
                    <a:srgbClr val="CFE0FC"/>
                  </a:solidFill>
                  <a:latin typeface="+mn-lt"/>
                  <a:ea typeface="+mn-ea"/>
                  <a:cs typeface="+mn-cs"/>
                </a:rPr>
                <a:t>THE RESULT</a:t>
              </a:r>
            </a:p>
          </p:txBody>
        </p:sp>
        <p:sp>
          <p:nvSpPr>
            <p:cNvPr id="36" name="TextBox 36"/>
            <p:cNvSpPr txBox="1"/>
            <p:nvPr/>
          </p:nvSpPr>
          <p:spPr>
            <a:xfrm>
              <a:off x="942594" y="5066348"/>
              <a:ext cx="774687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A representation that encodes the observation process —</a:t>
              </a:r>
            </a:p>
          </p:txBody>
        </p:sp>
        <p:sp>
          <p:nvSpPr>
            <p:cNvPr id="37" name="TextBox 37"/>
            <p:cNvSpPr txBox="1"/>
            <p:nvPr/>
          </p:nvSpPr>
          <p:spPr>
            <a:xfrm>
              <a:off x="942594" y="5428298"/>
              <a:ext cx="7356939"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a predictive edge and robustness when practice changes.</a:t>
              </a:r>
            </a:p>
          </p:txBody>
        </p:sp>
      </p:grpSp>
      <p:grpSp>
        <p:nvGrpSpPr>
          <p:cNvPr id="41" name="Group 41"/>
          <p:cNvGrpSpPr/>
          <p:nvPr/>
        </p:nvGrpSpPr>
        <p:grpSpPr>
          <a:xfrm>
            <a:off x="604647" y="6562249"/>
            <a:ext cx="10982706" cy="190690"/>
            <a:chOff x="604647" y="6562249"/>
            <a:chExt cx="10982706" cy="190690"/>
          </a:xfrm>
        </p:grpSpPr>
        <p:sp>
          <p:nvSpPr>
            <p:cNvPr id="39" name="TextBox 39"/>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04 / 10</a:t>
              </a:r>
            </a:p>
          </p:txBody>
        </p:sp>
        <p:sp>
          <p:nvSpPr>
            <p:cNvPr id="40" name="TextBox 40"/>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589804" cy="803434"/>
            <a:chOff x="594360" y="602456"/>
            <a:chExt cx="8589804" cy="803434"/>
          </a:xfrm>
        </p:grpSpPr>
        <p:sp>
          <p:nvSpPr>
            <p:cNvPr id="2" name="TextBox 2"/>
            <p:cNvSpPr txBox="1"/>
            <p:nvPr/>
          </p:nvSpPr>
          <p:spPr>
            <a:xfrm>
              <a:off x="603885" y="602456"/>
              <a:ext cx="76405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METHOD</a:t>
              </a:r>
            </a:p>
          </p:txBody>
        </p:sp>
        <p:sp>
          <p:nvSpPr>
            <p:cNvPr id="3" name="TextBox 3"/>
            <p:cNvSpPr txBox="1"/>
            <p:nvPr/>
          </p:nvSpPr>
          <p:spPr>
            <a:xfrm>
              <a:off x="594360" y="819150"/>
              <a:ext cx="8589804"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Architecture: one embedding, four heads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9" name="Group 9"/>
          <p:cNvGrpSpPr/>
          <p:nvPr/>
        </p:nvGrpSpPr>
        <p:grpSpPr>
          <a:xfrm>
            <a:off x="609600" y="1638300"/>
            <a:ext cx="6858000" cy="3495389"/>
            <a:chOff x="609600" y="1638300"/>
            <a:chExt cx="6858000" cy="3495389"/>
          </a:xfrm>
        </p:grpSpPr>
        <p:sp>
          <p:nvSpPr>
            <p:cNvPr id="6" name="Rectangle 6"/>
            <p:cNvSpPr/>
            <p:nvPr/>
          </p:nvSpPr>
          <p:spPr>
            <a:xfrm>
              <a:off x="609600" y="1638300"/>
              <a:ext cx="6858000" cy="3486150"/>
            </a:xfrm>
            <a:prstGeom prst="roundRect">
              <a:avLst>
                <a:gd name="adj" fmla="val 1093"/>
              </a:avLst>
            </a:prstGeom>
            <a:solidFill>
              <a:schemeClr val="lt2"/>
            </a:solidFill>
            <a:ln w="9525">
              <a:solidFill>
                <a:schemeClr val="accent4"/>
              </a:solidFill>
            </a:ln>
          </p:spPr>
        </p:sp>
        <p:pic>
          <p:nvPicPr>
            <p:cNvPr id="7" name="Image 7"/>
            <p:cNvPicPr>
              <a:picLocks noChangeAspect="1"/>
            </p:cNvPicPr>
            <p:nvPr/>
          </p:nvPicPr>
          <p:blipFill>
            <a:blip r:embed="rId2"/>
            <a:stretch>
              <a:fillRect/>
            </a:stretch>
          </p:blipFill>
          <p:spPr>
            <a:xfrm>
              <a:off x="692033" y="1733550"/>
              <a:ext cx="6693134" cy="3257550"/>
            </a:xfrm>
            <a:prstGeom prst="rect">
              <a:avLst/>
            </a:prstGeom>
          </p:spPr>
        </p:pic>
        <p:sp>
          <p:nvSpPr>
            <p:cNvPr id="8" name="TextBox 8"/>
            <p:cNvSpPr txBox="1"/>
            <p:nvPr/>
          </p:nvSpPr>
          <p:spPr>
            <a:xfrm>
              <a:off x="718947" y="4942999"/>
              <a:ext cx="611337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Fig 1 · DeepJoint — LSTM embedding h feeding heads L, I, M (clinical presence) and S (survival)</a:t>
              </a:r>
            </a:p>
          </p:txBody>
        </p:sp>
      </p:grpSp>
      <p:grpSp>
        <p:nvGrpSpPr>
          <p:cNvPr id="15" name="Group 15"/>
          <p:cNvGrpSpPr/>
          <p:nvPr/>
        </p:nvGrpSpPr>
        <p:grpSpPr>
          <a:xfrm>
            <a:off x="7696200" y="1638300"/>
            <a:ext cx="3886200" cy="952500"/>
            <a:chOff x="7696200" y="1638300"/>
            <a:chExt cx="3886200" cy="952500"/>
          </a:xfrm>
        </p:grpSpPr>
        <p:sp>
          <p:nvSpPr>
            <p:cNvPr id="10" name="Rectangle 10"/>
            <p:cNvSpPr/>
            <p:nvPr/>
          </p:nvSpPr>
          <p:spPr>
            <a:xfrm>
              <a:off x="7696200" y="1638300"/>
              <a:ext cx="3886200" cy="952500"/>
            </a:xfrm>
            <a:prstGeom prst="roundRect">
              <a:avLst>
                <a:gd name="adj" fmla="val 4000"/>
              </a:avLst>
            </a:prstGeom>
            <a:solidFill>
              <a:schemeClr val="lt2"/>
            </a:solidFill>
            <a:ln w="9525">
              <a:solidFill>
                <a:schemeClr val="accent4"/>
              </a:solidFill>
            </a:ln>
          </p:spPr>
        </p:sp>
        <p:sp>
          <p:nvSpPr>
            <p:cNvPr id="11" name="Rectangle 11"/>
            <p:cNvSpPr/>
            <p:nvPr/>
          </p:nvSpPr>
          <p:spPr>
            <a:xfrm>
              <a:off x="7696200" y="1638300"/>
              <a:ext cx="38100" cy="952500"/>
            </a:xfrm>
            <a:prstGeom prst="rect">
              <a:avLst/>
            </a:prstGeom>
            <a:solidFill>
              <a:schemeClr val="accent1"/>
            </a:solidFill>
            <a:ln>
              <a:noFill/>
            </a:ln>
          </p:spPr>
        </p:sp>
        <p:sp>
          <p:nvSpPr>
            <p:cNvPr id="12" name="TextBox 12"/>
            <p:cNvSpPr txBox="1"/>
            <p:nvPr/>
          </p:nvSpPr>
          <p:spPr>
            <a:xfrm>
              <a:off x="7917180" y="1781175"/>
              <a:ext cx="1432599"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LSTM encoder</a:t>
              </a:r>
            </a:p>
          </p:txBody>
        </p:sp>
        <p:sp>
          <p:nvSpPr>
            <p:cNvPr id="13" name="TextBox 13"/>
            <p:cNvSpPr txBox="1"/>
            <p:nvPr/>
          </p:nvSpPr>
          <p:spPr>
            <a:xfrm>
              <a:off x="7919085" y="2088356"/>
              <a:ext cx="311485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Encodes each patient's irregular lab-test</a:t>
              </a:r>
            </a:p>
          </p:txBody>
        </p:sp>
        <p:sp>
          <p:nvSpPr>
            <p:cNvPr id="14" name="TextBox 14"/>
            <p:cNvSpPr txBox="1"/>
            <p:nvPr/>
          </p:nvSpPr>
          <p:spPr>
            <a:xfrm>
              <a:off x="7919085" y="2297906"/>
              <a:ext cx="260475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sequence into a single embedding h.</a:t>
              </a:r>
            </a:p>
          </p:txBody>
        </p:sp>
      </p:grpSp>
      <p:grpSp>
        <p:nvGrpSpPr>
          <p:cNvPr id="22" name="Group 22"/>
          <p:cNvGrpSpPr/>
          <p:nvPr/>
        </p:nvGrpSpPr>
        <p:grpSpPr>
          <a:xfrm>
            <a:off x="7696200" y="2743200"/>
            <a:ext cx="3886200" cy="1428750"/>
            <a:chOff x="7696200" y="2743200"/>
            <a:chExt cx="3886200" cy="1428750"/>
          </a:xfrm>
        </p:grpSpPr>
        <p:sp>
          <p:nvSpPr>
            <p:cNvPr id="16" name="Rectangle 16"/>
            <p:cNvSpPr/>
            <p:nvPr/>
          </p:nvSpPr>
          <p:spPr>
            <a:xfrm>
              <a:off x="7696200" y="2743200"/>
              <a:ext cx="3886200" cy="1428750"/>
            </a:xfrm>
            <a:prstGeom prst="roundRect">
              <a:avLst>
                <a:gd name="adj" fmla="val 2667"/>
              </a:avLst>
            </a:prstGeom>
            <a:solidFill>
              <a:schemeClr val="lt2"/>
            </a:solidFill>
            <a:ln w="9525">
              <a:solidFill>
                <a:schemeClr val="accent4"/>
              </a:solidFill>
            </a:ln>
          </p:spPr>
        </p:sp>
        <p:sp>
          <p:nvSpPr>
            <p:cNvPr id="17" name="Rectangle 17"/>
            <p:cNvSpPr/>
            <p:nvPr/>
          </p:nvSpPr>
          <p:spPr>
            <a:xfrm>
              <a:off x="7696200" y="2743200"/>
              <a:ext cx="38100" cy="1428750"/>
            </a:xfrm>
            <a:prstGeom prst="rect">
              <a:avLst/>
            </a:prstGeom>
            <a:solidFill>
              <a:schemeClr val="accent2"/>
            </a:solidFill>
            <a:ln>
              <a:noFill/>
            </a:ln>
          </p:spPr>
        </p:sp>
        <p:sp>
          <p:nvSpPr>
            <p:cNvPr id="18" name="TextBox 18"/>
            <p:cNvSpPr txBox="1"/>
            <p:nvPr/>
          </p:nvSpPr>
          <p:spPr>
            <a:xfrm>
              <a:off x="7917180" y="2886075"/>
              <a:ext cx="3085693"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Three clinical-presence heads</a:t>
              </a:r>
            </a:p>
          </p:txBody>
        </p:sp>
        <p:sp>
          <p:nvSpPr>
            <p:cNvPr id="19" name="TextBox 19"/>
            <p:cNvSpPr txBox="1"/>
            <p:nvPr/>
          </p:nvSpPr>
          <p:spPr>
            <a:xfrm>
              <a:off x="7919085" y="3231356"/>
              <a:ext cx="232963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L — next test values (Gaussian)</a:t>
              </a:r>
            </a:p>
          </p:txBody>
        </p:sp>
        <p:sp>
          <p:nvSpPr>
            <p:cNvPr id="20" name="TextBox 20"/>
            <p:cNvSpPr txBox="1"/>
            <p:nvPr/>
          </p:nvSpPr>
          <p:spPr>
            <a:xfrm>
              <a:off x="7919085" y="3479006"/>
              <a:ext cx="256304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 — which tests appear (Bernoulli)</a:t>
              </a:r>
            </a:p>
          </p:txBody>
        </p:sp>
        <p:sp>
          <p:nvSpPr>
            <p:cNvPr id="21" name="TextBox 21"/>
            <p:cNvSpPr txBox="1"/>
            <p:nvPr/>
          </p:nvSpPr>
          <p:spPr>
            <a:xfrm>
              <a:off x="7919085" y="3726656"/>
              <a:ext cx="294917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 — inter-observation intensity (timing)</a:t>
              </a:r>
            </a:p>
          </p:txBody>
        </p:sp>
      </p:grpSp>
      <p:grpSp>
        <p:nvGrpSpPr>
          <p:cNvPr id="27" name="Group 27"/>
          <p:cNvGrpSpPr/>
          <p:nvPr/>
        </p:nvGrpSpPr>
        <p:grpSpPr>
          <a:xfrm>
            <a:off x="7696200" y="4324350"/>
            <a:ext cx="3886200" cy="800100"/>
            <a:chOff x="7696200" y="4324350"/>
            <a:chExt cx="3886200" cy="800100"/>
          </a:xfrm>
        </p:grpSpPr>
        <p:sp>
          <p:nvSpPr>
            <p:cNvPr id="23" name="Rectangle 23"/>
            <p:cNvSpPr/>
            <p:nvPr/>
          </p:nvSpPr>
          <p:spPr>
            <a:xfrm>
              <a:off x="7696200" y="4324350"/>
              <a:ext cx="3886200" cy="800100"/>
            </a:xfrm>
            <a:prstGeom prst="roundRect">
              <a:avLst>
                <a:gd name="adj" fmla="val 4762"/>
              </a:avLst>
            </a:prstGeom>
            <a:solidFill>
              <a:schemeClr val="lt2"/>
            </a:solidFill>
            <a:ln w="9525">
              <a:solidFill>
                <a:schemeClr val="accent4"/>
              </a:solidFill>
            </a:ln>
          </p:spPr>
        </p:sp>
        <p:sp>
          <p:nvSpPr>
            <p:cNvPr id="24" name="Rectangle 24"/>
            <p:cNvSpPr/>
            <p:nvPr/>
          </p:nvSpPr>
          <p:spPr>
            <a:xfrm>
              <a:off x="7696200" y="4324350"/>
              <a:ext cx="38100" cy="800100"/>
            </a:xfrm>
            <a:prstGeom prst="rect">
              <a:avLst/>
            </a:prstGeom>
            <a:solidFill>
              <a:schemeClr val="accent3"/>
            </a:solidFill>
            <a:ln>
              <a:noFill/>
            </a:ln>
          </p:spPr>
        </p:sp>
        <p:sp>
          <p:nvSpPr>
            <p:cNvPr id="25" name="TextBox 25"/>
            <p:cNvSpPr txBox="1"/>
            <p:nvPr/>
          </p:nvSpPr>
          <p:spPr>
            <a:xfrm>
              <a:off x="7917180" y="4467225"/>
              <a:ext cx="1916185"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DeepSurv head (S)</a:t>
              </a:r>
            </a:p>
          </p:txBody>
        </p:sp>
        <p:sp>
          <p:nvSpPr>
            <p:cNvPr id="26" name="TextBox 26"/>
            <p:cNvSpPr txBox="1"/>
            <p:nvPr/>
          </p:nvSpPr>
          <p:spPr>
            <a:xfrm>
              <a:off x="7919085" y="4793456"/>
              <a:ext cx="357197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Models survival under Cox proportional hazards.</a:t>
              </a:r>
            </a:p>
          </p:txBody>
        </p:sp>
      </p:grpSp>
      <p:grpSp>
        <p:nvGrpSpPr>
          <p:cNvPr id="33" name="Group 33"/>
          <p:cNvGrpSpPr/>
          <p:nvPr/>
        </p:nvGrpSpPr>
        <p:grpSpPr>
          <a:xfrm>
            <a:off x="609600" y="5257800"/>
            <a:ext cx="10972800" cy="1104900"/>
            <a:chOff x="609600" y="5257800"/>
            <a:chExt cx="10972800" cy="1104900"/>
          </a:xfrm>
        </p:grpSpPr>
        <p:sp>
          <p:nvSpPr>
            <p:cNvPr id="28" name="Rectangle 28"/>
            <p:cNvSpPr/>
            <p:nvPr/>
          </p:nvSpPr>
          <p:spPr>
            <a:xfrm>
              <a:off x="609600" y="5257800"/>
              <a:ext cx="10972800" cy="1104900"/>
            </a:xfrm>
            <a:prstGeom prst="roundRect">
              <a:avLst>
                <a:gd name="adj" fmla="val 3448"/>
              </a:avLst>
            </a:prstGeom>
            <a:solidFill>
              <a:schemeClr val="lt2"/>
            </a:solidFill>
            <a:ln w="9525">
              <a:solidFill>
                <a:schemeClr val="accent4"/>
              </a:solidFill>
            </a:ln>
          </p:spPr>
        </p:sp>
        <p:sp>
          <p:nvSpPr>
            <p:cNvPr id="29" name="Rectangle 29"/>
            <p:cNvSpPr/>
            <p:nvPr/>
          </p:nvSpPr>
          <p:spPr>
            <a:xfrm>
              <a:off x="609600" y="5257800"/>
              <a:ext cx="38100" cy="1104900"/>
            </a:xfrm>
            <a:prstGeom prst="rect">
              <a:avLst/>
            </a:prstGeom>
            <a:solidFill>
              <a:schemeClr val="accent1"/>
            </a:solidFill>
            <a:ln>
              <a:noFill/>
            </a:ln>
          </p:spPr>
        </p:sp>
        <p:sp>
          <p:nvSpPr>
            <p:cNvPr id="30" name="TextBox 30"/>
            <p:cNvSpPr txBox="1"/>
            <p:nvPr/>
          </p:nvSpPr>
          <p:spPr>
            <a:xfrm>
              <a:off x="947547" y="5457349"/>
              <a:ext cx="358027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TRAINING OBJECTIVE — DYNAMIC WEIGHTING</a:t>
              </a:r>
            </a:p>
          </p:txBody>
        </p:sp>
        <p:sp>
          <p:nvSpPr>
            <p:cNvPr id="31" name="TextBox 31"/>
            <p:cNvSpPr txBox="1"/>
            <p:nvPr/>
          </p:nvSpPr>
          <p:spPr>
            <a:xfrm>
              <a:off x="943356" y="5730240"/>
              <a:ext cx="7990465"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ℓ(e) = (1 − α) · ℓ_S + α · Σ w_task(e) · ℓ_task(e) task ∈ {L, I, M}</a:t>
              </a:r>
            </a:p>
          </p:txBody>
        </p:sp>
        <p:sp>
          <p:nvSpPr>
            <p:cNvPr id="32" name="TextBox 32"/>
            <p:cNvSpPr txBox="1"/>
            <p:nvPr/>
          </p:nvSpPr>
          <p:spPr>
            <a:xfrm>
              <a:off x="946785" y="6088856"/>
              <a:ext cx="62588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Four losses combined, balanced by the hyperparameter α, and optimised end-to-end.</a:t>
              </a:r>
            </a:p>
          </p:txBody>
        </p:sp>
      </p:grpSp>
      <p:grpSp>
        <p:nvGrpSpPr>
          <p:cNvPr id="36" name="Group 36"/>
          <p:cNvGrpSpPr/>
          <p:nvPr/>
        </p:nvGrpSpPr>
        <p:grpSpPr>
          <a:xfrm>
            <a:off x="604647" y="6562249"/>
            <a:ext cx="10982706" cy="190690"/>
            <a:chOff x="604647" y="6562249"/>
            <a:chExt cx="10982706" cy="190690"/>
          </a:xfrm>
        </p:grpSpPr>
        <p:sp>
          <p:nvSpPr>
            <p:cNvPr id="34" name="TextBox 3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05 / 10</a:t>
              </a:r>
            </a:p>
          </p:txBody>
        </p:sp>
        <p:sp>
          <p:nvSpPr>
            <p:cNvPr id="35" name="TextBox 3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6283077" cy="803434"/>
            <a:chOff x="594360" y="602456"/>
            <a:chExt cx="6283077" cy="803434"/>
          </a:xfrm>
        </p:grpSpPr>
        <p:sp>
          <p:nvSpPr>
            <p:cNvPr id="2" name="TextBox 2"/>
            <p:cNvSpPr txBox="1"/>
            <p:nvPr/>
          </p:nvSpPr>
          <p:spPr>
            <a:xfrm>
              <a:off x="603885" y="602456"/>
              <a:ext cx="219060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DATASET / BENCHMARK</a:t>
              </a:r>
            </a:p>
          </p:txBody>
        </p:sp>
        <p:sp>
          <p:nvSpPr>
            <p:cNvPr id="3" name="TextBox 3"/>
            <p:cNvSpPr txBox="1"/>
            <p:nvPr/>
          </p:nvSpPr>
          <p:spPr>
            <a:xfrm>
              <a:off x="594360" y="819150"/>
              <a:ext cx="6283077"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MIMIC-III ICU laboratory tests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4" name="Group 14"/>
          <p:cNvGrpSpPr/>
          <p:nvPr/>
        </p:nvGrpSpPr>
        <p:grpSpPr>
          <a:xfrm>
            <a:off x="609600" y="1733550"/>
            <a:ext cx="3505200" cy="4095750"/>
            <a:chOff x="609600" y="1733550"/>
            <a:chExt cx="3505200" cy="4095750"/>
          </a:xfrm>
        </p:grpSpPr>
        <p:sp>
          <p:nvSpPr>
            <p:cNvPr id="6" name="Rectangle 6"/>
            <p:cNvSpPr/>
            <p:nvPr/>
          </p:nvSpPr>
          <p:spPr>
            <a:xfrm>
              <a:off x="609600" y="1733550"/>
              <a:ext cx="3505200" cy="4095750"/>
            </a:xfrm>
            <a:prstGeom prst="roundRect">
              <a:avLst>
                <a:gd name="adj" fmla="val 1087"/>
              </a:avLst>
            </a:prstGeom>
            <a:solidFill>
              <a:schemeClr val="lt2"/>
            </a:solidFill>
            <a:ln w="9525">
              <a:solidFill>
                <a:schemeClr val="accent4"/>
              </a:solidFill>
            </a:ln>
          </p:spPr>
        </p:sp>
        <p:sp>
          <p:nvSpPr>
            <p:cNvPr id="7" name="Rectangle 7"/>
            <p:cNvSpPr/>
            <p:nvPr/>
          </p:nvSpPr>
          <p:spPr>
            <a:xfrm>
              <a:off x="609600" y="1733550"/>
              <a:ext cx="38100" cy="4095750"/>
            </a:xfrm>
            <a:prstGeom prst="rect">
              <a:avLst/>
            </a:prstGeom>
            <a:solidFill>
              <a:schemeClr val="accent2"/>
            </a:solidFill>
            <a:ln>
              <a:noFill/>
            </a:ln>
          </p:spPr>
        </p:sp>
        <p:sp>
          <p:nvSpPr>
            <p:cNvPr id="8" name="TextBox 8"/>
            <p:cNvSpPr txBox="1"/>
            <p:nvPr/>
          </p:nvSpPr>
          <p:spPr>
            <a:xfrm>
              <a:off x="829056" y="2015490"/>
              <a:ext cx="112050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MIMIC-III</a:t>
              </a:r>
            </a:p>
          </p:txBody>
        </p:sp>
        <p:sp>
          <p:nvSpPr>
            <p:cNvPr id="9" name="TextBox 9"/>
            <p:cNvSpPr txBox="1"/>
            <p:nvPr/>
          </p:nvSpPr>
          <p:spPr>
            <a:xfrm>
              <a:off x="830580" y="2505075"/>
              <a:ext cx="27075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 intensive-care database</a:t>
              </a:r>
            </a:p>
          </p:txBody>
        </p:sp>
        <p:sp>
          <p:nvSpPr>
            <p:cNvPr id="10" name="TextBox 10"/>
            <p:cNvSpPr txBox="1"/>
            <p:nvPr/>
          </p:nvSpPr>
          <p:spPr>
            <a:xfrm>
              <a:off x="830580" y="2771775"/>
              <a:ext cx="28224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from Beth Israel Deaconess,</a:t>
              </a:r>
            </a:p>
          </p:txBody>
        </p:sp>
        <p:sp>
          <p:nvSpPr>
            <p:cNvPr id="11" name="TextBox 11"/>
            <p:cNvSpPr txBox="1"/>
            <p:nvPr/>
          </p:nvSpPr>
          <p:spPr>
            <a:xfrm>
              <a:off x="830580" y="3038475"/>
              <a:ext cx="278168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2001–2012, with anonymised</a:t>
              </a:r>
            </a:p>
          </p:txBody>
        </p:sp>
        <p:sp>
          <p:nvSpPr>
            <p:cNvPr id="12" name="TextBox 12"/>
            <p:cNvSpPr txBox="1"/>
            <p:nvPr/>
          </p:nvSpPr>
          <p:spPr>
            <a:xfrm>
              <a:off x="830580" y="3305175"/>
              <a:ext cx="25898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laboratory tests for over</a:t>
              </a:r>
            </a:p>
          </p:txBody>
        </p:sp>
        <p:sp>
          <p:nvSpPr>
            <p:cNvPr id="13" name="TextBox 13"/>
            <p:cNvSpPr txBox="1"/>
            <p:nvPr/>
          </p:nvSpPr>
          <p:spPr>
            <a:xfrm>
              <a:off x="830580" y="3571875"/>
              <a:ext cx="169125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38,000 patients.</a:t>
              </a:r>
            </a:p>
          </p:txBody>
        </p:sp>
      </p:grpSp>
      <p:grpSp>
        <p:nvGrpSpPr>
          <p:cNvPr id="23" name="Group 23"/>
          <p:cNvGrpSpPr/>
          <p:nvPr/>
        </p:nvGrpSpPr>
        <p:grpSpPr>
          <a:xfrm>
            <a:off x="4343400" y="1733550"/>
            <a:ext cx="3505200" cy="4095750"/>
            <a:chOff x="4343400" y="1733550"/>
            <a:chExt cx="3505200" cy="4095750"/>
          </a:xfrm>
        </p:grpSpPr>
        <p:sp>
          <p:nvSpPr>
            <p:cNvPr id="15" name="Rectangle 15"/>
            <p:cNvSpPr/>
            <p:nvPr/>
          </p:nvSpPr>
          <p:spPr>
            <a:xfrm>
              <a:off x="4343400" y="1733550"/>
              <a:ext cx="3505200" cy="4095750"/>
            </a:xfrm>
            <a:prstGeom prst="roundRect">
              <a:avLst>
                <a:gd name="adj" fmla="val 1087"/>
              </a:avLst>
            </a:prstGeom>
            <a:solidFill>
              <a:schemeClr val="lt2"/>
            </a:solidFill>
            <a:ln w="9525">
              <a:solidFill>
                <a:schemeClr val="accent4"/>
              </a:solidFill>
            </a:ln>
          </p:spPr>
        </p:sp>
        <p:sp>
          <p:nvSpPr>
            <p:cNvPr id="16" name="Rectangle 16"/>
            <p:cNvSpPr/>
            <p:nvPr/>
          </p:nvSpPr>
          <p:spPr>
            <a:xfrm>
              <a:off x="4343400" y="1733550"/>
              <a:ext cx="38100" cy="4095750"/>
            </a:xfrm>
            <a:prstGeom prst="rect">
              <a:avLst/>
            </a:prstGeom>
            <a:solidFill>
              <a:schemeClr val="accent1"/>
            </a:solidFill>
            <a:ln>
              <a:noFill/>
            </a:ln>
          </p:spPr>
        </p:sp>
        <p:sp>
          <p:nvSpPr>
            <p:cNvPr id="17" name="TextBox 17"/>
            <p:cNvSpPr txBox="1"/>
            <p:nvPr/>
          </p:nvSpPr>
          <p:spPr>
            <a:xfrm>
              <a:off x="4567047" y="2066449"/>
              <a:ext cx="123256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STUDY COHORT</a:t>
              </a:r>
            </a:p>
          </p:txBody>
        </p:sp>
        <p:sp>
          <p:nvSpPr>
            <p:cNvPr id="18" name="TextBox 18"/>
            <p:cNvSpPr txBox="1"/>
            <p:nvPr/>
          </p:nvSpPr>
          <p:spPr>
            <a:xfrm>
              <a:off x="4552950" y="2529840"/>
              <a:ext cx="2277100"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30,834</a:t>
              </a:r>
            </a:p>
          </p:txBody>
        </p:sp>
        <p:sp>
          <p:nvSpPr>
            <p:cNvPr id="19" name="TextBox 19"/>
            <p:cNvSpPr txBox="1"/>
            <p:nvPr/>
          </p:nvSpPr>
          <p:spPr>
            <a:xfrm>
              <a:off x="4566285" y="32313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patients · survived the first 24 hours</a:t>
              </a:r>
            </a:p>
          </p:txBody>
        </p:sp>
        <p:sp>
          <p:nvSpPr>
            <p:cNvPr id="20" name="Line 20"/>
            <p:cNvSpPr/>
            <p:nvPr/>
          </p:nvSpPr>
          <p:spPr>
            <a:xfrm>
              <a:off x="4572000" y="3733800"/>
              <a:ext cx="3048000" cy="9525"/>
            </a:xfrm>
            <a:custGeom>
              <a:avLst/>
              <a:gdLst/>
              <a:ahLst/>
              <a:cxnLst/>
              <a:rect l="l" t="t" r="r" b="b"/>
              <a:pathLst>
                <a:path w="3048000" h="9525">
                  <a:moveTo>
                    <a:pt x="0" y="0"/>
                  </a:moveTo>
                  <a:lnTo>
                    <a:pt x="3048000" y="0"/>
                  </a:lnTo>
                </a:path>
              </a:pathLst>
            </a:custGeom>
            <a:noFill/>
            <a:ln w="9525">
              <a:solidFill>
                <a:schemeClr val="accent4"/>
              </a:solidFill>
            </a:ln>
          </p:spPr>
        </p:sp>
        <p:sp>
          <p:nvSpPr>
            <p:cNvPr id="21" name="TextBox 21"/>
            <p:cNvSpPr txBox="1"/>
            <p:nvPr/>
          </p:nvSpPr>
          <p:spPr>
            <a:xfrm>
              <a:off x="4552950" y="3977640"/>
              <a:ext cx="78443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17</a:t>
              </a:r>
            </a:p>
          </p:txBody>
        </p:sp>
        <p:sp>
          <p:nvSpPr>
            <p:cNvPr id="22" name="TextBox 22"/>
            <p:cNvSpPr txBox="1"/>
            <p:nvPr/>
          </p:nvSpPr>
          <p:spPr>
            <a:xfrm>
              <a:off x="4566285" y="4679156"/>
              <a:ext cx="12628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laboratory tests</a:t>
              </a:r>
            </a:p>
          </p:txBody>
        </p:sp>
      </p:grpSp>
      <p:grpSp>
        <p:nvGrpSpPr>
          <p:cNvPr id="33" name="Group 33"/>
          <p:cNvGrpSpPr/>
          <p:nvPr/>
        </p:nvGrpSpPr>
        <p:grpSpPr>
          <a:xfrm>
            <a:off x="8077200" y="1733550"/>
            <a:ext cx="3505200" cy="4095750"/>
            <a:chOff x="8077200" y="1733550"/>
            <a:chExt cx="3505200" cy="4095750"/>
          </a:xfrm>
        </p:grpSpPr>
        <p:sp>
          <p:nvSpPr>
            <p:cNvPr id="24" name="Rectangle 24"/>
            <p:cNvSpPr/>
            <p:nvPr/>
          </p:nvSpPr>
          <p:spPr>
            <a:xfrm>
              <a:off x="8077200" y="1733550"/>
              <a:ext cx="3505200" cy="4095750"/>
            </a:xfrm>
            <a:prstGeom prst="roundRect">
              <a:avLst>
                <a:gd name="adj" fmla="val 1087"/>
              </a:avLst>
            </a:prstGeom>
            <a:solidFill>
              <a:schemeClr val="lt2"/>
            </a:solidFill>
            <a:ln w="9525">
              <a:solidFill>
                <a:schemeClr val="accent4"/>
              </a:solidFill>
            </a:ln>
          </p:spPr>
        </p:sp>
        <p:sp>
          <p:nvSpPr>
            <p:cNvPr id="25" name="Rectangle 25"/>
            <p:cNvSpPr/>
            <p:nvPr/>
          </p:nvSpPr>
          <p:spPr>
            <a:xfrm>
              <a:off x="8077200" y="1733550"/>
              <a:ext cx="38100" cy="4095750"/>
            </a:xfrm>
            <a:prstGeom prst="rect">
              <a:avLst/>
            </a:prstGeom>
            <a:solidFill>
              <a:schemeClr val="accent3"/>
            </a:solidFill>
            <a:ln>
              <a:noFill/>
            </a:ln>
          </p:spPr>
        </p:sp>
        <p:sp>
          <p:nvSpPr>
            <p:cNvPr id="26" name="TextBox 26"/>
            <p:cNvSpPr txBox="1"/>
            <p:nvPr/>
          </p:nvSpPr>
          <p:spPr>
            <a:xfrm>
              <a:off x="8296656" y="2015490"/>
              <a:ext cx="2430229"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Evaluation protocol</a:t>
              </a:r>
            </a:p>
          </p:txBody>
        </p:sp>
        <p:sp>
          <p:nvSpPr>
            <p:cNvPr id="27" name="TextBox 27"/>
            <p:cNvSpPr txBox="1"/>
            <p:nvPr/>
          </p:nvSpPr>
          <p:spPr>
            <a:xfrm>
              <a:off x="8298180" y="2505075"/>
              <a:ext cx="272722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Predict in-hospital survival</a:t>
              </a:r>
            </a:p>
          </p:txBody>
        </p:sp>
        <p:sp>
          <p:nvSpPr>
            <p:cNvPr id="28" name="TextBox 28"/>
            <p:cNvSpPr txBox="1"/>
            <p:nvPr/>
          </p:nvSpPr>
          <p:spPr>
            <a:xfrm>
              <a:off x="8298180" y="2771775"/>
              <a:ext cx="307448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from the embedding at the last</a:t>
              </a:r>
            </a:p>
          </p:txBody>
        </p:sp>
        <p:sp>
          <p:nvSpPr>
            <p:cNvPr id="29" name="TextBox 29"/>
            <p:cNvSpPr txBox="1"/>
            <p:nvPr/>
          </p:nvSpPr>
          <p:spPr>
            <a:xfrm>
              <a:off x="8298180" y="3038475"/>
              <a:ext cx="20951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 in day 1.</a:t>
              </a:r>
            </a:p>
          </p:txBody>
        </p:sp>
        <p:sp>
          <p:nvSpPr>
            <p:cNvPr id="30" name="TextBox 30"/>
            <p:cNvSpPr txBox="1"/>
            <p:nvPr/>
          </p:nvSpPr>
          <p:spPr>
            <a:xfrm>
              <a:off x="8298180" y="3514725"/>
              <a:ext cx="275532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Time-dependent C-index and</a:t>
              </a:r>
            </a:p>
          </p:txBody>
        </p:sp>
        <p:sp>
          <p:nvSpPr>
            <p:cNvPr id="31" name="TextBox 31"/>
            <p:cNvSpPr txBox="1"/>
            <p:nvPr/>
          </p:nvSpPr>
          <p:spPr>
            <a:xfrm>
              <a:off x="8298180" y="3781425"/>
              <a:ext cx="301437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Brier score at 1 / 7 / 14 days.</a:t>
              </a:r>
            </a:p>
          </p:txBody>
        </p:sp>
        <p:sp>
          <p:nvSpPr>
            <p:cNvPr id="32" name="TextBox 32"/>
            <p:cNvSpPr txBox="1"/>
            <p:nvPr/>
          </p:nvSpPr>
          <p:spPr>
            <a:xfrm>
              <a:off x="8298180" y="4257675"/>
              <a:ext cx="21052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90 / 10 patient split.</a:t>
              </a:r>
            </a:p>
          </p:txBody>
        </p:sp>
      </p:grpSp>
      <p:grpSp>
        <p:nvGrpSpPr>
          <p:cNvPr id="36" name="Group 36"/>
          <p:cNvGrpSpPr/>
          <p:nvPr/>
        </p:nvGrpSpPr>
        <p:grpSpPr>
          <a:xfrm>
            <a:off x="604647" y="6562249"/>
            <a:ext cx="10982706" cy="190690"/>
            <a:chOff x="604647" y="6562249"/>
            <a:chExt cx="10982706" cy="190690"/>
          </a:xfrm>
        </p:grpSpPr>
        <p:sp>
          <p:nvSpPr>
            <p:cNvPr id="34" name="TextBox 3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06 / 10</a:t>
              </a:r>
            </a:p>
          </p:txBody>
        </p:sp>
        <p:sp>
          <p:nvSpPr>
            <p:cNvPr id="35" name="TextBox 3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9097152" cy="803434"/>
            <a:chOff x="594360" y="602456"/>
            <a:chExt cx="9097152" cy="803434"/>
          </a:xfrm>
        </p:grpSpPr>
        <p:sp>
          <p:nvSpPr>
            <p:cNvPr id="2" name="TextBox 2"/>
            <p:cNvSpPr txBox="1"/>
            <p:nvPr/>
          </p:nvSpPr>
          <p:spPr>
            <a:xfrm>
              <a:off x="603885" y="602456"/>
              <a:ext cx="113029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KEY RESULT</a:t>
              </a:r>
            </a:p>
          </p:txBody>
        </p:sp>
        <p:sp>
          <p:nvSpPr>
            <p:cNvPr id="3" name="TextBox 3"/>
            <p:cNvSpPr txBox="1"/>
            <p:nvPr/>
          </p:nvSpPr>
          <p:spPr>
            <a:xfrm>
              <a:off x="594360" y="819150"/>
              <a:ext cx="9097152"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Presence lifts short-horizon discrimination</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7" name="Group 7"/>
          <p:cNvGrpSpPr/>
          <p:nvPr/>
        </p:nvGrpSpPr>
        <p:grpSpPr>
          <a:xfrm>
            <a:off x="609600" y="1638300"/>
            <a:ext cx="7048500" cy="4438650"/>
            <a:chOff x="609600" y="1638300"/>
            <a:chExt cx="7048500" cy="4438650"/>
          </a:xfrm>
        </p:grpSpPr>
        <p:sp>
          <p:nvSpPr>
            <p:cNvPr id="6" name="Rectangle 6"/>
            <p:cNvSpPr/>
            <p:nvPr/>
          </p:nvSpPr>
          <p:spPr>
            <a:xfrm>
              <a:off x="609600" y="1638300"/>
              <a:ext cx="7048500" cy="4438650"/>
            </a:xfrm>
            <a:prstGeom prst="roundRect">
              <a:avLst>
                <a:gd name="adj" fmla="val 858"/>
              </a:avLst>
            </a:prstGeom>
            <a:solidFill>
              <a:schemeClr val="lt2"/>
            </a:solidFill>
            <a:ln w="9525">
              <a:solidFill>
                <a:schemeClr val="accent4"/>
              </a:solidFill>
            </a:ln>
          </p:spPr>
        </p:sp>
      </p:grpSp>
      <p:grpSp>
        <p:nvGrpSpPr>
          <p:cNvPr id="10" name="Group 10"/>
          <p:cNvGrpSpPr/>
          <p:nvPr/>
        </p:nvGrpSpPr>
        <p:grpSpPr>
          <a:xfrm>
            <a:off x="830580" y="1857375"/>
            <a:ext cx="5634893" cy="527209"/>
            <a:chOff x="830580" y="1857375"/>
            <a:chExt cx="5634893" cy="527209"/>
          </a:xfrm>
        </p:grpSpPr>
        <p:sp>
          <p:nvSpPr>
            <p:cNvPr id="8" name="TextBox 8"/>
            <p:cNvSpPr txBox="1"/>
            <p:nvPr/>
          </p:nvSpPr>
          <p:spPr>
            <a:xfrm>
              <a:off x="830580" y="1857375"/>
              <a:ext cx="358568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1-day C-index · same-input models</a:t>
              </a:r>
            </a:p>
          </p:txBody>
        </p:sp>
        <p:sp>
          <p:nvSpPr>
            <p:cNvPr id="9" name="TextBox 9"/>
            <p:cNvSpPr txBox="1"/>
            <p:nvPr/>
          </p:nvSpPr>
          <p:spPr>
            <a:xfrm>
              <a:off x="832485" y="2164556"/>
              <a:ext cx="56329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Random population split — three proposed methods are competitive-to-best.</a:t>
              </a:r>
            </a:p>
          </p:txBody>
        </p:sp>
      </p:grpSp>
      <p:grpSp>
        <p:nvGrpSpPr>
          <p:cNvPr id="18" name="Group 18"/>
          <p:cNvGrpSpPr/>
          <p:nvPr/>
        </p:nvGrpSpPr>
        <p:grpSpPr>
          <a:xfrm>
            <a:off x="832485" y="2571750"/>
            <a:ext cx="4368308" cy="2762250"/>
            <a:chOff x="832485" y="2571750"/>
            <a:chExt cx="4368308" cy="2762250"/>
          </a:xfrm>
        </p:grpSpPr>
        <p:sp>
          <p:nvSpPr>
            <p:cNvPr id="11" name="Line 11"/>
            <p:cNvSpPr/>
            <p:nvPr/>
          </p:nvSpPr>
          <p:spPr>
            <a:xfrm>
              <a:off x="2857500" y="2571750"/>
              <a:ext cx="9525" cy="2762250"/>
            </a:xfrm>
            <a:custGeom>
              <a:avLst/>
              <a:gdLst/>
              <a:ahLst/>
              <a:cxnLst/>
              <a:rect l="l" t="t" r="r" b="b"/>
              <a:pathLst>
                <a:path w="9525" h="2762250">
                  <a:moveTo>
                    <a:pt x="0" y="0"/>
                  </a:moveTo>
                  <a:lnTo>
                    <a:pt x="0" y="2762250"/>
                  </a:lnTo>
                </a:path>
              </a:pathLst>
            </a:custGeom>
            <a:noFill/>
            <a:ln w="9525">
              <a:solidFill>
                <a:schemeClr val="accent4"/>
              </a:solidFill>
            </a:ln>
          </p:spPr>
        </p:sp>
        <p:sp>
          <p:nvSpPr>
            <p:cNvPr id="12" name="Rectangle 12"/>
            <p:cNvSpPr/>
            <p:nvPr/>
          </p:nvSpPr>
          <p:spPr>
            <a:xfrm>
              <a:off x="2857500" y="2743200"/>
              <a:ext cx="1457325" cy="342900"/>
            </a:xfrm>
            <a:prstGeom prst="roundRect">
              <a:avLst>
                <a:gd name="adj" fmla="val 5556"/>
              </a:avLst>
            </a:prstGeom>
            <a:solidFill>
              <a:srgbClr val="B7C0CC"/>
            </a:solidFill>
            <a:ln>
              <a:noFill/>
            </a:ln>
          </p:spPr>
        </p:sp>
        <p:sp>
          <p:nvSpPr>
            <p:cNvPr id="13" name="TextBox 13"/>
            <p:cNvSpPr txBox="1"/>
            <p:nvPr/>
          </p:nvSpPr>
          <p:spPr>
            <a:xfrm>
              <a:off x="832485" y="2840831"/>
              <a:ext cx="94168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Ignore-LSTM</a:t>
              </a:r>
            </a:p>
          </p:txBody>
        </p:sp>
        <p:sp>
          <p:nvSpPr>
            <p:cNvPr id="14" name="TextBox 14"/>
            <p:cNvSpPr txBox="1"/>
            <p:nvPr/>
          </p:nvSpPr>
          <p:spPr>
            <a:xfrm>
              <a:off x="4383405" y="2800350"/>
              <a:ext cx="598313" cy="293370"/>
            </a:xfrm>
            <a:prstGeom prst="rect">
              <a:avLst/>
            </a:prstGeom>
            <a:noFill/>
            <a:ln>
              <a:noFill/>
            </a:ln>
          </p:spPr>
          <p:txBody>
            <a:bodyPr wrap="none" lIns="0" tIns="0" rIns="0" bIns="0" anchor="t" anchorCtr="0">
              <a:spAutoFit/>
            </a:bodyPr>
            <a:lstStyle/>
            <a:p>
              <a:pPr algn="l"/>
              <a:r>
                <a:rPr lang="en-US" sz="1500" b="1" dirty="0">
                  <a:solidFill>
                    <a:schemeClr val="dk2"/>
                  </a:solidFill>
                  <a:latin typeface="+mn-lt"/>
                  <a:ea typeface="+mn-ea"/>
                  <a:cs typeface="+mn-cs"/>
                </a:rPr>
                <a:t>0.853</a:t>
              </a:r>
            </a:p>
          </p:txBody>
        </p:sp>
        <p:sp>
          <p:nvSpPr>
            <p:cNvPr id="15" name="Rectangle 15"/>
            <p:cNvSpPr/>
            <p:nvPr/>
          </p:nvSpPr>
          <p:spPr>
            <a:xfrm>
              <a:off x="2857500" y="3333750"/>
              <a:ext cx="1676400" cy="342900"/>
            </a:xfrm>
            <a:prstGeom prst="roundRect">
              <a:avLst>
                <a:gd name="adj" fmla="val 5556"/>
              </a:avLst>
            </a:prstGeom>
            <a:solidFill>
              <a:srgbClr val="B7C0CC"/>
            </a:solidFill>
            <a:ln>
              <a:noFill/>
            </a:ln>
          </p:spPr>
        </p:sp>
        <p:sp>
          <p:nvSpPr>
            <p:cNvPr id="16" name="TextBox 16"/>
            <p:cNvSpPr txBox="1"/>
            <p:nvPr/>
          </p:nvSpPr>
          <p:spPr>
            <a:xfrm>
              <a:off x="832485" y="3431381"/>
              <a:ext cx="44952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GRU-D</a:t>
              </a:r>
            </a:p>
          </p:txBody>
        </p:sp>
        <p:sp>
          <p:nvSpPr>
            <p:cNvPr id="17" name="TextBox 17"/>
            <p:cNvSpPr txBox="1"/>
            <p:nvPr/>
          </p:nvSpPr>
          <p:spPr>
            <a:xfrm>
              <a:off x="4602480" y="3390900"/>
              <a:ext cx="598313" cy="293370"/>
            </a:xfrm>
            <a:prstGeom prst="rect">
              <a:avLst/>
            </a:prstGeom>
            <a:noFill/>
            <a:ln>
              <a:noFill/>
            </a:ln>
          </p:spPr>
          <p:txBody>
            <a:bodyPr wrap="none" lIns="0" tIns="0" rIns="0" bIns="0" anchor="t" anchorCtr="0">
              <a:spAutoFit/>
            </a:bodyPr>
            <a:lstStyle/>
            <a:p>
              <a:pPr algn="l"/>
              <a:r>
                <a:rPr lang="en-US" sz="1500" b="1" dirty="0">
                  <a:solidFill>
                    <a:schemeClr val="dk2"/>
                  </a:solidFill>
                  <a:latin typeface="+mn-lt"/>
                  <a:ea typeface="+mn-ea"/>
                  <a:cs typeface="+mn-cs"/>
                </a:rPr>
                <a:t>0.855</a:t>
              </a:r>
            </a:p>
          </p:txBody>
        </p:sp>
      </p:grpSp>
      <p:grpSp>
        <p:nvGrpSpPr>
          <p:cNvPr id="23" name="Group 23"/>
          <p:cNvGrpSpPr/>
          <p:nvPr/>
        </p:nvGrpSpPr>
        <p:grpSpPr>
          <a:xfrm>
            <a:off x="832485" y="3924300"/>
            <a:ext cx="5158883" cy="504539"/>
            <a:chOff x="832485" y="3924300"/>
            <a:chExt cx="5158883" cy="504539"/>
          </a:xfrm>
        </p:grpSpPr>
        <p:sp>
          <p:nvSpPr>
            <p:cNvPr id="19" name="Rectangle 19"/>
            <p:cNvSpPr/>
            <p:nvPr/>
          </p:nvSpPr>
          <p:spPr>
            <a:xfrm>
              <a:off x="2857500" y="3924300"/>
              <a:ext cx="2466975" cy="342900"/>
            </a:xfrm>
            <a:prstGeom prst="roundRect">
              <a:avLst>
                <a:gd name="adj" fmla="val 5556"/>
              </a:avLst>
            </a:prstGeom>
            <a:solidFill>
              <a:schemeClr val="accent1"/>
            </a:solidFill>
            <a:ln>
              <a:noFill/>
            </a:ln>
          </p:spPr>
        </p:sp>
        <p:sp>
          <p:nvSpPr>
            <p:cNvPr id="20" name="TextBox 20"/>
            <p:cNvSpPr txBox="1"/>
            <p:nvPr/>
          </p:nvSpPr>
          <p:spPr>
            <a:xfrm>
              <a:off x="832485" y="4021931"/>
              <a:ext cx="764861"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a:t>
              </a:r>
            </a:p>
          </p:txBody>
        </p:sp>
        <p:sp>
          <p:nvSpPr>
            <p:cNvPr id="21" name="TextBox 21"/>
            <p:cNvSpPr txBox="1"/>
            <p:nvPr/>
          </p:nvSpPr>
          <p:spPr>
            <a:xfrm>
              <a:off x="833247" y="4238149"/>
              <a:ext cx="56400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labs only</a:t>
              </a:r>
            </a:p>
          </p:txBody>
        </p:sp>
        <p:sp>
          <p:nvSpPr>
            <p:cNvPr id="22" name="TextBox 22"/>
            <p:cNvSpPr txBox="1"/>
            <p:nvPr/>
          </p:nvSpPr>
          <p:spPr>
            <a:xfrm>
              <a:off x="5393055" y="3981450"/>
              <a:ext cx="59831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0.862</a:t>
              </a:r>
            </a:p>
          </p:txBody>
        </p:sp>
      </p:grpSp>
      <p:grpSp>
        <p:nvGrpSpPr>
          <p:cNvPr id="29" name="Group 29"/>
          <p:cNvGrpSpPr/>
          <p:nvPr/>
        </p:nvGrpSpPr>
        <p:grpSpPr>
          <a:xfrm>
            <a:off x="832485" y="4514850"/>
            <a:ext cx="6949583" cy="561689"/>
            <a:chOff x="832485" y="4514850"/>
            <a:chExt cx="6949583" cy="561689"/>
          </a:xfrm>
        </p:grpSpPr>
        <p:sp>
          <p:nvSpPr>
            <p:cNvPr id="24" name="Rectangle 24"/>
            <p:cNvSpPr/>
            <p:nvPr/>
          </p:nvSpPr>
          <p:spPr>
            <a:xfrm>
              <a:off x="2857500" y="4514850"/>
              <a:ext cx="4257675" cy="342900"/>
            </a:xfrm>
            <a:prstGeom prst="roundRect">
              <a:avLst>
                <a:gd name="adj" fmla="val 5556"/>
              </a:avLst>
            </a:prstGeom>
            <a:solidFill>
              <a:schemeClr val="accent3"/>
            </a:solidFill>
            <a:ln>
              <a:noFill/>
            </a:ln>
          </p:spPr>
        </p:sp>
        <p:sp>
          <p:nvSpPr>
            <p:cNvPr id="25" name="TextBox 25"/>
            <p:cNvSpPr txBox="1"/>
            <p:nvPr/>
          </p:nvSpPr>
          <p:spPr>
            <a:xfrm>
              <a:off x="832485" y="4612481"/>
              <a:ext cx="1431161"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DeepJointFineTune</a:t>
              </a:r>
            </a:p>
          </p:txBody>
        </p:sp>
        <p:sp>
          <p:nvSpPr>
            <p:cNvPr id="26" name="TextBox 26"/>
            <p:cNvSpPr txBox="1"/>
            <p:nvPr/>
          </p:nvSpPr>
          <p:spPr>
            <a:xfrm>
              <a:off x="7183755" y="4572000"/>
              <a:ext cx="598313"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0.878</a:t>
              </a:r>
            </a:p>
          </p:txBody>
        </p:sp>
        <p:sp>
          <p:nvSpPr>
            <p:cNvPr id="27" name="Rectangle 27"/>
            <p:cNvSpPr/>
            <p:nvPr/>
          </p:nvSpPr>
          <p:spPr>
            <a:xfrm>
              <a:off x="838200" y="4857750"/>
              <a:ext cx="495300" cy="190500"/>
            </a:xfrm>
            <a:prstGeom prst="roundRect">
              <a:avLst>
                <a:gd name="adj" fmla="val 15000"/>
              </a:avLst>
            </a:prstGeom>
            <a:solidFill>
              <a:srgbClr val="FBE9E3"/>
            </a:solidFill>
            <a:ln>
              <a:noFill/>
            </a:ln>
          </p:spPr>
        </p:sp>
        <p:sp>
          <p:nvSpPr>
            <p:cNvPr id="28" name="TextBox 28"/>
            <p:cNvSpPr txBox="1"/>
            <p:nvPr/>
          </p:nvSpPr>
          <p:spPr>
            <a:xfrm>
              <a:off x="903894" y="4885849"/>
              <a:ext cx="363913"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BEST</a:t>
              </a:r>
            </a:p>
          </p:txBody>
        </p:sp>
      </p:grpSp>
      <p:grpSp>
        <p:nvGrpSpPr>
          <p:cNvPr id="33" name="Group 33"/>
          <p:cNvGrpSpPr/>
          <p:nvPr/>
        </p:nvGrpSpPr>
        <p:grpSpPr>
          <a:xfrm>
            <a:off x="833247" y="5495449"/>
            <a:ext cx="6505956" cy="457390"/>
            <a:chOff x="833247" y="5495449"/>
            <a:chExt cx="6505956" cy="457390"/>
          </a:xfrm>
        </p:grpSpPr>
        <p:sp>
          <p:nvSpPr>
            <p:cNvPr id="30" name="TextBox 30"/>
            <p:cNvSpPr txBox="1"/>
            <p:nvPr/>
          </p:nvSpPr>
          <p:spPr>
            <a:xfrm>
              <a:off x="2707427" y="5495449"/>
              <a:ext cx="30014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0.84</a:t>
              </a:r>
            </a:p>
          </p:txBody>
        </p:sp>
        <p:sp>
          <p:nvSpPr>
            <p:cNvPr id="31" name="TextBox 31"/>
            <p:cNvSpPr txBox="1"/>
            <p:nvPr/>
          </p:nvSpPr>
          <p:spPr>
            <a:xfrm>
              <a:off x="7039056" y="5495449"/>
              <a:ext cx="300147"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0.88</a:t>
              </a:r>
            </a:p>
          </p:txBody>
        </p:sp>
        <p:sp>
          <p:nvSpPr>
            <p:cNvPr id="32" name="TextBox 32"/>
            <p:cNvSpPr txBox="1"/>
            <p:nvPr/>
          </p:nvSpPr>
          <p:spPr>
            <a:xfrm>
              <a:off x="833247" y="5762149"/>
              <a:ext cx="45535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1-day time-dependent C-index — higher is better (axis starts at 0.84)</a:t>
              </a:r>
            </a:p>
          </p:txBody>
        </p:sp>
      </p:grpSp>
      <p:grpSp>
        <p:nvGrpSpPr>
          <p:cNvPr id="46" name="Group 46"/>
          <p:cNvGrpSpPr/>
          <p:nvPr/>
        </p:nvGrpSpPr>
        <p:grpSpPr>
          <a:xfrm>
            <a:off x="7886700" y="1638300"/>
            <a:ext cx="3695700" cy="4438650"/>
            <a:chOff x="7886700" y="1638300"/>
            <a:chExt cx="3695700" cy="4438650"/>
          </a:xfrm>
        </p:grpSpPr>
        <p:sp>
          <p:nvSpPr>
            <p:cNvPr id="34" name="Rectangle 34"/>
            <p:cNvSpPr/>
            <p:nvPr/>
          </p:nvSpPr>
          <p:spPr>
            <a:xfrm>
              <a:off x="7886700" y="1638300"/>
              <a:ext cx="3695700" cy="4438650"/>
            </a:xfrm>
            <a:prstGeom prst="roundRect">
              <a:avLst>
                <a:gd name="adj" fmla="val 1031"/>
              </a:avLst>
            </a:prstGeom>
            <a:solidFill>
              <a:schemeClr val="lt2"/>
            </a:solidFill>
            <a:ln w="9525">
              <a:solidFill>
                <a:schemeClr val="accent4"/>
              </a:solidFill>
            </a:ln>
          </p:spPr>
        </p:sp>
        <p:sp>
          <p:nvSpPr>
            <p:cNvPr id="35" name="Rectangle 35"/>
            <p:cNvSpPr/>
            <p:nvPr/>
          </p:nvSpPr>
          <p:spPr>
            <a:xfrm>
              <a:off x="7886700" y="1638300"/>
              <a:ext cx="38100" cy="4438650"/>
            </a:xfrm>
            <a:prstGeom prst="rect">
              <a:avLst/>
            </a:prstGeom>
            <a:solidFill>
              <a:schemeClr val="accent2"/>
            </a:solidFill>
            <a:ln>
              <a:noFill/>
            </a:ln>
          </p:spPr>
        </p:sp>
        <p:sp>
          <p:nvSpPr>
            <p:cNvPr id="36" name="TextBox 36"/>
            <p:cNvSpPr txBox="1"/>
            <p:nvPr/>
          </p:nvSpPr>
          <p:spPr>
            <a:xfrm>
              <a:off x="8106156" y="1920240"/>
              <a:ext cx="1897183"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Why it matters</a:t>
              </a:r>
            </a:p>
          </p:txBody>
        </p:sp>
        <p:sp>
          <p:nvSpPr>
            <p:cNvPr id="37" name="TextBox 37"/>
            <p:cNvSpPr txBox="1"/>
            <p:nvPr/>
          </p:nvSpPr>
          <p:spPr>
            <a:xfrm>
              <a:off x="8107680" y="2428875"/>
              <a:ext cx="227950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DeepJoint sees only lab</a:t>
              </a:r>
            </a:p>
          </p:txBody>
        </p:sp>
        <p:sp>
          <p:nvSpPr>
            <p:cNvPr id="38" name="TextBox 38"/>
            <p:cNvSpPr txBox="1"/>
            <p:nvPr/>
          </p:nvSpPr>
          <p:spPr>
            <a:xfrm>
              <a:off x="8107680" y="2695575"/>
              <a:ext cx="30594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values, yet beats Ignore-LSTM</a:t>
              </a:r>
            </a:p>
          </p:txBody>
        </p:sp>
        <p:sp>
          <p:nvSpPr>
            <p:cNvPr id="39" name="TextBox 39"/>
            <p:cNvSpPr txBox="1"/>
            <p:nvPr/>
          </p:nvSpPr>
          <p:spPr>
            <a:xfrm>
              <a:off x="8107680" y="2962275"/>
              <a:ext cx="238882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GRU-D — which takes</a:t>
              </a:r>
            </a:p>
          </p:txBody>
        </p:sp>
        <p:sp>
          <p:nvSpPr>
            <p:cNvPr id="40" name="TextBox 40"/>
            <p:cNvSpPr txBox="1"/>
            <p:nvPr/>
          </p:nvSpPr>
          <p:spPr>
            <a:xfrm>
              <a:off x="8107680" y="3228975"/>
              <a:ext cx="24182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missingness as an input.</a:t>
              </a:r>
            </a:p>
          </p:txBody>
        </p:sp>
        <p:sp>
          <p:nvSpPr>
            <p:cNvPr id="41" name="Line 41"/>
            <p:cNvSpPr/>
            <p:nvPr/>
          </p:nvSpPr>
          <p:spPr>
            <a:xfrm>
              <a:off x="8115300" y="3771900"/>
              <a:ext cx="3238500" cy="9525"/>
            </a:xfrm>
            <a:custGeom>
              <a:avLst/>
              <a:gdLst/>
              <a:ahLst/>
              <a:cxnLst/>
              <a:rect l="l" t="t" r="r" b="b"/>
              <a:pathLst>
                <a:path w="3238500" h="9525">
                  <a:moveTo>
                    <a:pt x="0" y="0"/>
                  </a:moveTo>
                  <a:lnTo>
                    <a:pt x="3238500" y="0"/>
                  </a:lnTo>
                </a:path>
              </a:pathLst>
            </a:custGeom>
            <a:noFill/>
            <a:ln w="9525">
              <a:solidFill>
                <a:schemeClr val="accent4"/>
              </a:solidFill>
            </a:ln>
          </p:spPr>
        </p:sp>
        <p:sp>
          <p:nvSpPr>
            <p:cNvPr id="42" name="TextBox 42"/>
            <p:cNvSpPr txBox="1"/>
            <p:nvPr/>
          </p:nvSpPr>
          <p:spPr>
            <a:xfrm>
              <a:off x="8107680" y="4086225"/>
              <a:ext cx="25354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Modelling the observation</a:t>
              </a:r>
            </a:p>
          </p:txBody>
        </p:sp>
        <p:sp>
          <p:nvSpPr>
            <p:cNvPr id="43" name="TextBox 43"/>
            <p:cNvSpPr txBox="1"/>
            <p:nvPr/>
          </p:nvSpPr>
          <p:spPr>
            <a:xfrm>
              <a:off x="8107680" y="4352925"/>
              <a:ext cx="229704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 even without</a:t>
              </a:r>
            </a:p>
          </p:txBody>
        </p:sp>
        <p:sp>
          <p:nvSpPr>
            <p:cNvPr id="44" name="TextBox 44"/>
            <p:cNvSpPr txBox="1"/>
            <p:nvPr/>
          </p:nvSpPr>
          <p:spPr>
            <a:xfrm>
              <a:off x="8107680" y="4619625"/>
              <a:ext cx="217589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feeding it in — yields a</a:t>
              </a:r>
            </a:p>
          </p:txBody>
        </p:sp>
        <p:sp>
          <p:nvSpPr>
            <p:cNvPr id="45" name="TextBox 45"/>
            <p:cNvSpPr txBox="1"/>
            <p:nvPr/>
          </p:nvSpPr>
          <p:spPr>
            <a:xfrm>
              <a:off x="8107680" y="4886325"/>
              <a:ext cx="286699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more predictive embedding.</a:t>
              </a:r>
            </a:p>
          </p:txBody>
        </p:sp>
      </p:grpSp>
      <p:grpSp>
        <p:nvGrpSpPr>
          <p:cNvPr id="49" name="Group 49"/>
          <p:cNvGrpSpPr/>
          <p:nvPr/>
        </p:nvGrpSpPr>
        <p:grpSpPr>
          <a:xfrm>
            <a:off x="604647" y="6562249"/>
            <a:ext cx="10982706" cy="190690"/>
            <a:chOff x="604647" y="6562249"/>
            <a:chExt cx="10982706" cy="190690"/>
          </a:xfrm>
        </p:grpSpPr>
        <p:sp>
          <p:nvSpPr>
            <p:cNvPr id="47" name="TextBox 47"/>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07 / 10</a:t>
              </a:r>
            </a:p>
          </p:txBody>
        </p:sp>
        <p:sp>
          <p:nvSpPr>
            <p:cNvPr id="48" name="TextBox 48"/>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10751593" cy="803434"/>
            <a:chOff x="594360" y="602456"/>
            <a:chExt cx="10751593" cy="803434"/>
          </a:xfrm>
        </p:grpSpPr>
        <p:sp>
          <p:nvSpPr>
            <p:cNvPr id="2" name="TextBox 2"/>
            <p:cNvSpPr txBox="1"/>
            <p:nvPr/>
          </p:nvSpPr>
          <p:spPr>
            <a:xfrm>
              <a:off x="603885" y="602456"/>
              <a:ext cx="159689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ABLATION STUDY</a:t>
              </a:r>
            </a:p>
          </p:txBody>
        </p:sp>
        <p:sp>
          <p:nvSpPr>
            <p:cNvPr id="3" name="TextBox 3"/>
            <p:cNvSpPr txBox="1"/>
            <p:nvPr/>
          </p:nvSpPr>
          <p:spPr>
            <a:xfrm>
              <a:off x="594360" y="819150"/>
              <a:ext cx="10751593"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Variants × baselines: discrimination and robustness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2" name="Group 12"/>
          <p:cNvGrpSpPr/>
          <p:nvPr/>
        </p:nvGrpSpPr>
        <p:grpSpPr>
          <a:xfrm>
            <a:off x="609600" y="1733550"/>
            <a:ext cx="5105400" cy="1260634"/>
            <a:chOff x="609600" y="1733550"/>
            <a:chExt cx="5105400" cy="1260634"/>
          </a:xfrm>
        </p:grpSpPr>
        <p:sp>
          <p:nvSpPr>
            <p:cNvPr id="6" name="Rectangle 6"/>
            <p:cNvSpPr/>
            <p:nvPr/>
          </p:nvSpPr>
          <p:spPr>
            <a:xfrm>
              <a:off x="609600" y="1733550"/>
              <a:ext cx="5105400" cy="1257300"/>
            </a:xfrm>
            <a:prstGeom prst="roundRect">
              <a:avLst>
                <a:gd name="adj" fmla="val 3030"/>
              </a:avLst>
            </a:prstGeom>
            <a:solidFill>
              <a:schemeClr val="lt2"/>
            </a:solidFill>
            <a:ln w="9525">
              <a:solidFill>
                <a:schemeClr val="accent4"/>
              </a:solidFill>
            </a:ln>
          </p:spPr>
        </p:sp>
        <p:sp>
          <p:nvSpPr>
            <p:cNvPr id="7" name="Rectangle 7"/>
            <p:cNvSpPr/>
            <p:nvPr/>
          </p:nvSpPr>
          <p:spPr>
            <a:xfrm>
              <a:off x="609600" y="1733550"/>
              <a:ext cx="38100" cy="1257300"/>
            </a:xfrm>
            <a:prstGeom prst="rect">
              <a:avLst/>
            </a:prstGeom>
            <a:solidFill>
              <a:schemeClr val="accent2"/>
            </a:solidFill>
            <a:ln>
              <a:noFill/>
            </a:ln>
          </p:spPr>
        </p:sp>
        <p:sp>
          <p:nvSpPr>
            <p:cNvPr id="8" name="TextBox 8"/>
            <p:cNvSpPr txBox="1"/>
            <p:nvPr/>
          </p:nvSpPr>
          <p:spPr>
            <a:xfrm>
              <a:off x="830580" y="1933575"/>
              <a:ext cx="2559558"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3 variants vs 6 baselines</a:t>
              </a:r>
            </a:p>
          </p:txBody>
        </p:sp>
        <p:sp>
          <p:nvSpPr>
            <p:cNvPr id="9" name="TextBox 9"/>
            <p:cNvSpPr txBox="1"/>
            <p:nvPr/>
          </p:nvSpPr>
          <p:spPr>
            <a:xfrm>
              <a:off x="832485" y="2278856"/>
              <a:ext cx="449438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Variants: DeepJoint · DeepJointFeature · DeepJointFineTune</a:t>
              </a:r>
            </a:p>
          </p:txBody>
        </p:sp>
        <p:sp>
          <p:nvSpPr>
            <p:cNvPr id="10" name="TextBox 10"/>
            <p:cNvSpPr txBox="1"/>
            <p:nvPr/>
          </p:nvSpPr>
          <p:spPr>
            <a:xfrm>
              <a:off x="832485" y="2526506"/>
              <a:ext cx="459420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Baselines: Last · Count · Ignore · Resample · Feature · GRU-D</a:t>
              </a:r>
            </a:p>
          </p:txBody>
        </p:sp>
        <p:sp>
          <p:nvSpPr>
            <p:cNvPr id="11" name="TextBox 11"/>
            <p:cNvSpPr txBox="1"/>
            <p:nvPr/>
          </p:nvSpPr>
          <p:spPr>
            <a:xfrm>
              <a:off x="832485" y="2774156"/>
              <a:ext cx="40874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Same inputs, compared on discrimination and transfer.</a:t>
              </a:r>
            </a:p>
          </p:txBody>
        </p:sp>
      </p:grpSp>
      <p:grpSp>
        <p:nvGrpSpPr>
          <p:cNvPr id="19" name="Group 19"/>
          <p:cNvGrpSpPr/>
          <p:nvPr/>
        </p:nvGrpSpPr>
        <p:grpSpPr>
          <a:xfrm>
            <a:off x="609600" y="3143250"/>
            <a:ext cx="5105400" cy="1260634"/>
            <a:chOff x="609600" y="3143250"/>
            <a:chExt cx="5105400" cy="1260634"/>
          </a:xfrm>
        </p:grpSpPr>
        <p:sp>
          <p:nvSpPr>
            <p:cNvPr id="13" name="Rectangle 13"/>
            <p:cNvSpPr/>
            <p:nvPr/>
          </p:nvSpPr>
          <p:spPr>
            <a:xfrm>
              <a:off x="609600" y="3143250"/>
              <a:ext cx="5105400" cy="1257300"/>
            </a:xfrm>
            <a:prstGeom prst="roundRect">
              <a:avLst>
                <a:gd name="adj" fmla="val 3030"/>
              </a:avLst>
            </a:prstGeom>
            <a:solidFill>
              <a:schemeClr val="lt2"/>
            </a:solidFill>
            <a:ln w="9525">
              <a:solidFill>
                <a:schemeClr val="accent4"/>
              </a:solidFill>
            </a:ln>
          </p:spPr>
        </p:sp>
        <p:sp>
          <p:nvSpPr>
            <p:cNvPr id="14" name="Rectangle 14"/>
            <p:cNvSpPr/>
            <p:nvPr/>
          </p:nvSpPr>
          <p:spPr>
            <a:xfrm>
              <a:off x="609600" y="3143250"/>
              <a:ext cx="38100" cy="1257300"/>
            </a:xfrm>
            <a:prstGeom prst="rect">
              <a:avLst/>
            </a:prstGeom>
            <a:solidFill>
              <a:schemeClr val="accent1"/>
            </a:solidFill>
            <a:ln>
              <a:noFill/>
            </a:ln>
          </p:spPr>
        </p:sp>
        <p:sp>
          <p:nvSpPr>
            <p:cNvPr id="15" name="TextBox 15"/>
            <p:cNvSpPr txBox="1"/>
            <p:nvPr/>
          </p:nvSpPr>
          <p:spPr>
            <a:xfrm>
              <a:off x="830580" y="3343275"/>
              <a:ext cx="283379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DeepJointFeature improves</a:t>
              </a:r>
            </a:p>
          </p:txBody>
        </p:sp>
        <p:sp>
          <p:nvSpPr>
            <p:cNvPr id="16" name="TextBox 16"/>
            <p:cNvSpPr txBox="1"/>
            <p:nvPr/>
          </p:nvSpPr>
          <p:spPr>
            <a:xfrm>
              <a:off x="832485" y="3688556"/>
              <a:ext cx="383082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Adding clinical-presence features to the joint model</a:t>
              </a:r>
            </a:p>
          </p:txBody>
        </p:sp>
        <p:sp>
          <p:nvSpPr>
            <p:cNvPr id="17" name="TextBox 17"/>
            <p:cNvSpPr txBox="1"/>
            <p:nvPr/>
          </p:nvSpPr>
          <p:spPr>
            <a:xfrm>
              <a:off x="832485" y="3936206"/>
              <a:ext cx="336103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beats plain DeepJoint and matches the strong</a:t>
              </a:r>
            </a:p>
          </p:txBody>
        </p:sp>
        <p:sp>
          <p:nvSpPr>
            <p:cNvPr id="18" name="TextBox 18"/>
            <p:cNvSpPr txBox="1"/>
            <p:nvPr/>
          </p:nvSpPr>
          <p:spPr>
            <a:xfrm>
              <a:off x="832485" y="4183856"/>
              <a:ext cx="131298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Feature baseline.</a:t>
              </a:r>
            </a:p>
          </p:txBody>
        </p:sp>
      </p:grpSp>
      <p:grpSp>
        <p:nvGrpSpPr>
          <p:cNvPr id="26" name="Group 26"/>
          <p:cNvGrpSpPr/>
          <p:nvPr/>
        </p:nvGrpSpPr>
        <p:grpSpPr>
          <a:xfrm>
            <a:off x="609600" y="4552950"/>
            <a:ext cx="5105400" cy="1276350"/>
            <a:chOff x="609600" y="4552950"/>
            <a:chExt cx="5105400" cy="1276350"/>
          </a:xfrm>
        </p:grpSpPr>
        <p:sp>
          <p:nvSpPr>
            <p:cNvPr id="20" name="Rectangle 20"/>
            <p:cNvSpPr/>
            <p:nvPr/>
          </p:nvSpPr>
          <p:spPr>
            <a:xfrm>
              <a:off x="609600" y="4552950"/>
              <a:ext cx="5105400" cy="1276350"/>
            </a:xfrm>
            <a:prstGeom prst="roundRect">
              <a:avLst>
                <a:gd name="adj" fmla="val 2985"/>
              </a:avLst>
            </a:prstGeom>
            <a:solidFill>
              <a:schemeClr val="lt2"/>
            </a:solidFill>
            <a:ln w="9525">
              <a:solidFill>
                <a:schemeClr val="accent4"/>
              </a:solidFill>
            </a:ln>
          </p:spPr>
        </p:sp>
        <p:sp>
          <p:nvSpPr>
            <p:cNvPr id="21" name="Rectangle 21"/>
            <p:cNvSpPr/>
            <p:nvPr/>
          </p:nvSpPr>
          <p:spPr>
            <a:xfrm>
              <a:off x="609600" y="4552950"/>
              <a:ext cx="38100" cy="1276350"/>
            </a:xfrm>
            <a:prstGeom prst="rect">
              <a:avLst/>
            </a:prstGeom>
            <a:solidFill>
              <a:schemeClr val="accent3"/>
            </a:solidFill>
            <a:ln>
              <a:noFill/>
            </a:ln>
          </p:spPr>
        </p:sp>
        <p:sp>
          <p:nvSpPr>
            <p:cNvPr id="22" name="TextBox 22"/>
            <p:cNvSpPr txBox="1"/>
            <p:nvPr/>
          </p:nvSpPr>
          <p:spPr>
            <a:xfrm>
              <a:off x="830580" y="4752975"/>
              <a:ext cx="286073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DeepJointFineTune overfits</a:t>
              </a:r>
            </a:p>
          </p:txBody>
        </p:sp>
        <p:sp>
          <p:nvSpPr>
            <p:cNvPr id="23" name="TextBox 23"/>
            <p:cNvSpPr txBox="1"/>
            <p:nvPr/>
          </p:nvSpPr>
          <p:spPr>
            <a:xfrm>
              <a:off x="832485" y="5098256"/>
              <a:ext cx="370994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Highest population-level discrimination internally,</a:t>
              </a:r>
            </a:p>
          </p:txBody>
        </p:sp>
        <p:sp>
          <p:nvSpPr>
            <p:cNvPr id="24" name="TextBox 24"/>
            <p:cNvSpPr txBox="1"/>
            <p:nvPr/>
          </p:nvSpPr>
          <p:spPr>
            <a:xfrm>
              <a:off x="832485" y="5345906"/>
              <a:ext cx="38486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but degrades when the observation process shifts —</a:t>
              </a:r>
            </a:p>
          </p:txBody>
        </p:sp>
        <p:sp>
          <p:nvSpPr>
            <p:cNvPr id="25" name="TextBox 25"/>
            <p:cNvSpPr txBox="1"/>
            <p:nvPr/>
          </p:nvSpPr>
          <p:spPr>
            <a:xfrm>
              <a:off x="832485" y="5593556"/>
              <a:ext cx="38486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strong discrimination does not guarantee transfer.</a:t>
              </a:r>
            </a:p>
          </p:txBody>
        </p:sp>
      </p:grpSp>
      <p:grpSp>
        <p:nvGrpSpPr>
          <p:cNvPr id="43" name="Group 43"/>
          <p:cNvGrpSpPr/>
          <p:nvPr/>
        </p:nvGrpSpPr>
        <p:grpSpPr>
          <a:xfrm>
            <a:off x="5943600" y="1733550"/>
            <a:ext cx="5804954" cy="4095750"/>
            <a:chOff x="5943600" y="1733550"/>
            <a:chExt cx="5804954" cy="4095750"/>
          </a:xfrm>
        </p:grpSpPr>
        <p:sp>
          <p:nvSpPr>
            <p:cNvPr id="27" name="Rectangle 27"/>
            <p:cNvSpPr/>
            <p:nvPr/>
          </p:nvSpPr>
          <p:spPr>
            <a:xfrm>
              <a:off x="5943600" y="1733550"/>
              <a:ext cx="5638800" cy="4095750"/>
            </a:xfrm>
            <a:prstGeom prst="roundRect">
              <a:avLst>
                <a:gd name="adj" fmla="val 930"/>
              </a:avLst>
            </a:prstGeom>
            <a:solidFill>
              <a:schemeClr val="lt2"/>
            </a:solidFill>
            <a:ln w="9525">
              <a:solidFill>
                <a:schemeClr val="accent4"/>
              </a:solidFill>
            </a:ln>
          </p:spPr>
        </p:sp>
        <p:sp>
          <p:nvSpPr>
            <p:cNvPr id="28" name="TextBox 28"/>
            <p:cNvSpPr txBox="1"/>
            <p:nvPr/>
          </p:nvSpPr>
          <p:spPr>
            <a:xfrm>
              <a:off x="6164580" y="1933575"/>
              <a:ext cx="4029629"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Robustness — closeness to the diagonal</a:t>
              </a:r>
            </a:p>
          </p:txBody>
        </p:sp>
        <p:sp>
          <p:nvSpPr>
            <p:cNvPr id="29" name="TextBox 29"/>
            <p:cNvSpPr txBox="1"/>
            <p:nvPr/>
          </p:nvSpPr>
          <p:spPr>
            <a:xfrm>
              <a:off x="6167247" y="2237899"/>
              <a:ext cx="470297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Transferred vs internal (oracle) C-index · y = x means perfect transfer</a:t>
              </a:r>
            </a:p>
          </p:txBody>
        </p:sp>
        <p:sp>
          <p:nvSpPr>
            <p:cNvPr id="30" name="Line 30"/>
            <p:cNvSpPr/>
            <p:nvPr/>
          </p:nvSpPr>
          <p:spPr>
            <a:xfrm>
              <a:off x="6781800" y="2762250"/>
              <a:ext cx="9525" cy="2571750"/>
            </a:xfrm>
            <a:custGeom>
              <a:avLst/>
              <a:gdLst/>
              <a:ahLst/>
              <a:cxnLst/>
              <a:rect l="l" t="t" r="r" b="b"/>
              <a:pathLst>
                <a:path w="9525" h="2571750">
                  <a:moveTo>
                    <a:pt x="0" y="0"/>
                  </a:moveTo>
                  <a:lnTo>
                    <a:pt x="0" y="2571750"/>
                  </a:lnTo>
                </a:path>
              </a:pathLst>
            </a:custGeom>
            <a:noFill/>
            <a:ln w="14288">
              <a:solidFill>
                <a:srgbClr val="B7C0CC"/>
              </a:solidFill>
            </a:ln>
          </p:spPr>
        </p:sp>
        <p:sp>
          <p:nvSpPr>
            <p:cNvPr id="31" name="Line 31"/>
            <p:cNvSpPr/>
            <p:nvPr/>
          </p:nvSpPr>
          <p:spPr>
            <a:xfrm>
              <a:off x="6781800" y="5334000"/>
              <a:ext cx="4267200" cy="9525"/>
            </a:xfrm>
            <a:custGeom>
              <a:avLst/>
              <a:gdLst/>
              <a:ahLst/>
              <a:cxnLst/>
              <a:rect l="l" t="t" r="r" b="b"/>
              <a:pathLst>
                <a:path w="4267200" h="9525">
                  <a:moveTo>
                    <a:pt x="0" y="0"/>
                  </a:moveTo>
                  <a:lnTo>
                    <a:pt x="4267200" y="0"/>
                  </a:lnTo>
                </a:path>
              </a:pathLst>
            </a:custGeom>
            <a:noFill/>
            <a:ln w="14288">
              <a:solidFill>
                <a:srgbClr val="B7C0CC"/>
              </a:solidFill>
            </a:ln>
          </p:spPr>
        </p:sp>
        <p:sp>
          <p:nvSpPr>
            <p:cNvPr id="32" name="Line 32"/>
            <p:cNvSpPr/>
            <p:nvPr/>
          </p:nvSpPr>
          <p:spPr>
            <a:xfrm>
              <a:off x="6781800" y="2857500"/>
              <a:ext cx="4267200" cy="2476500"/>
            </a:xfrm>
            <a:custGeom>
              <a:avLst/>
              <a:gdLst/>
              <a:ahLst/>
              <a:cxnLst/>
              <a:rect l="l" t="t" r="r" b="b"/>
              <a:pathLst>
                <a:path w="4267200" h="2476500">
                  <a:moveTo>
                    <a:pt x="0" y="2476500"/>
                  </a:moveTo>
                  <a:lnTo>
                    <a:pt x="4267200" y="0"/>
                  </a:lnTo>
                </a:path>
              </a:pathLst>
            </a:custGeom>
            <a:noFill/>
            <a:ln w="14288">
              <a:solidFill>
                <a:schemeClr val="accent1"/>
              </a:solidFill>
              <a:custDash>
                <a:ds d="400000" sp="333333"/>
              </a:custDash>
            </a:ln>
          </p:spPr>
        </p:sp>
        <p:sp>
          <p:nvSpPr>
            <p:cNvPr id="33" name="TextBox 33"/>
            <p:cNvSpPr txBox="1"/>
            <p:nvPr/>
          </p:nvSpPr>
          <p:spPr>
            <a:xfrm>
              <a:off x="10637118" y="2961799"/>
              <a:ext cx="321585" cy="190690"/>
            </a:xfrm>
            <a:prstGeom prst="rect">
              <a:avLst/>
            </a:prstGeom>
            <a:noFill/>
            <a:ln>
              <a:noFill/>
            </a:ln>
          </p:spPr>
          <p:txBody>
            <a:bodyPr wrap="none" lIns="0" tIns="0" rIns="0" bIns="0" anchor="t" anchorCtr="0">
              <a:spAutoFit/>
            </a:bodyPr>
            <a:lstStyle/>
            <a:p>
              <a:pPr algn="r"/>
              <a:r>
                <a:rPr lang="en-US" sz="980" b="1" dirty="0">
                  <a:solidFill>
                    <a:schemeClr val="accent1"/>
                  </a:solidFill>
                  <a:latin typeface="+mn-lt"/>
                  <a:ea typeface="+mn-ea"/>
                  <a:cs typeface="+mn-cs"/>
                </a:rPr>
                <a:t>y = x</a:t>
              </a:r>
            </a:p>
          </p:txBody>
        </p:sp>
        <p:sp>
          <p:nvSpPr>
            <p:cNvPr id="34" name="Ellipse 34"/>
            <p:cNvSpPr/>
            <p:nvPr/>
          </p:nvSpPr>
          <p:spPr>
            <a:xfrm>
              <a:off x="9267825" y="3667125"/>
              <a:ext cx="133350" cy="133350"/>
            </a:xfrm>
            <a:prstGeom prst="ellipse">
              <a:avLst/>
            </a:prstGeom>
            <a:solidFill>
              <a:schemeClr val="accent3"/>
            </a:solidFill>
            <a:ln>
              <a:noFill/>
            </a:ln>
          </p:spPr>
        </p:sp>
        <p:sp>
          <p:nvSpPr>
            <p:cNvPr id="35" name="TextBox 35"/>
            <p:cNvSpPr txBox="1"/>
            <p:nvPr/>
          </p:nvSpPr>
          <p:spPr>
            <a:xfrm>
              <a:off x="9462135" y="3574256"/>
              <a:ext cx="1379373"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DeepJointFeature</a:t>
              </a:r>
            </a:p>
          </p:txBody>
        </p:sp>
        <p:sp>
          <p:nvSpPr>
            <p:cNvPr id="36" name="TextBox 36"/>
            <p:cNvSpPr txBox="1"/>
            <p:nvPr/>
          </p:nvSpPr>
          <p:spPr>
            <a:xfrm>
              <a:off x="9462897" y="3780949"/>
              <a:ext cx="228565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closest to diagonal → best transfer</a:t>
              </a:r>
            </a:p>
          </p:txBody>
        </p:sp>
        <p:sp>
          <p:nvSpPr>
            <p:cNvPr id="37" name="Ellipse 37"/>
            <p:cNvSpPr/>
            <p:nvPr/>
          </p:nvSpPr>
          <p:spPr>
            <a:xfrm>
              <a:off x="8515350" y="4419600"/>
              <a:ext cx="114300" cy="114300"/>
            </a:xfrm>
            <a:prstGeom prst="ellipse">
              <a:avLst/>
            </a:prstGeom>
            <a:solidFill>
              <a:srgbClr val="B7C0CC"/>
            </a:solidFill>
            <a:ln>
              <a:noFill/>
            </a:ln>
          </p:spPr>
        </p:sp>
        <p:sp>
          <p:nvSpPr>
            <p:cNvPr id="38" name="TextBox 38"/>
            <p:cNvSpPr txBox="1"/>
            <p:nvPr/>
          </p:nvSpPr>
          <p:spPr>
            <a:xfrm>
              <a:off x="8681847" y="4409599"/>
              <a:ext cx="119301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DeepJointFineTune</a:t>
              </a:r>
            </a:p>
          </p:txBody>
        </p:sp>
        <p:sp>
          <p:nvSpPr>
            <p:cNvPr id="39" name="Ellipse 39"/>
            <p:cNvSpPr/>
            <p:nvPr/>
          </p:nvSpPr>
          <p:spPr>
            <a:xfrm>
              <a:off x="7753350" y="4819650"/>
              <a:ext cx="114300" cy="114300"/>
            </a:xfrm>
            <a:prstGeom prst="ellipse">
              <a:avLst/>
            </a:prstGeom>
            <a:solidFill>
              <a:srgbClr val="B7C0CC"/>
            </a:solidFill>
            <a:ln>
              <a:noFill/>
            </a:ln>
          </p:spPr>
        </p:sp>
        <p:sp>
          <p:nvSpPr>
            <p:cNvPr id="40" name="TextBox 40"/>
            <p:cNvSpPr txBox="1"/>
            <p:nvPr/>
          </p:nvSpPr>
          <p:spPr>
            <a:xfrm>
              <a:off x="7919847" y="4809649"/>
              <a:ext cx="59698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baselines</a:t>
              </a:r>
            </a:p>
          </p:txBody>
        </p:sp>
        <p:sp>
          <p:nvSpPr>
            <p:cNvPr id="41" name="TextBox 41"/>
            <p:cNvSpPr txBox="1"/>
            <p:nvPr/>
          </p:nvSpPr>
          <p:spPr>
            <a:xfrm>
              <a:off x="6776847" y="5533549"/>
              <a:ext cx="174304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internal (oracle) C-index →</a:t>
              </a:r>
            </a:p>
          </p:txBody>
        </p:sp>
        <p:sp>
          <p:nvSpPr>
            <p:cNvPr id="42" name="TextBox 42"/>
            <p:cNvSpPr txBox="1"/>
            <p:nvPr/>
          </p:nvSpPr>
          <p:spPr>
            <a:xfrm>
              <a:off x="6167247" y="2752249"/>
              <a:ext cx="92020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transferred ↑</a:t>
              </a:r>
            </a:p>
          </p:txBody>
        </p:sp>
      </p:grpSp>
      <p:grpSp>
        <p:nvGrpSpPr>
          <p:cNvPr id="46" name="Group 46"/>
          <p:cNvGrpSpPr/>
          <p:nvPr/>
        </p:nvGrpSpPr>
        <p:grpSpPr>
          <a:xfrm>
            <a:off x="604647" y="6562249"/>
            <a:ext cx="10982706" cy="190690"/>
            <a:chOff x="604647" y="6562249"/>
            <a:chExt cx="10982706" cy="190690"/>
          </a:xfrm>
        </p:grpSpPr>
        <p:sp>
          <p:nvSpPr>
            <p:cNvPr id="44" name="TextBox 4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08 / 10</a:t>
              </a:r>
            </a:p>
          </p:txBody>
        </p:sp>
        <p:sp>
          <p:nvSpPr>
            <p:cNvPr id="45" name="TextBox 4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4425696" cy="803434"/>
            <a:chOff x="594360" y="602456"/>
            <a:chExt cx="4425696" cy="803434"/>
          </a:xfrm>
        </p:grpSpPr>
        <p:sp>
          <p:nvSpPr>
            <p:cNvPr id="2" name="TextBox 2"/>
            <p:cNvSpPr txBox="1"/>
            <p:nvPr/>
          </p:nvSpPr>
          <p:spPr>
            <a:xfrm>
              <a:off x="603885" y="602456"/>
              <a:ext cx="183437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HEADLINE NUMBERS</a:t>
              </a:r>
            </a:p>
          </p:txBody>
        </p:sp>
        <p:sp>
          <p:nvSpPr>
            <p:cNvPr id="3" name="TextBox 3"/>
            <p:cNvSpPr txBox="1"/>
            <p:nvPr/>
          </p:nvSpPr>
          <p:spPr>
            <a:xfrm>
              <a:off x="594360" y="819150"/>
              <a:ext cx="4425696"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DeepJoint at a glance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6" name="Group 16"/>
          <p:cNvGrpSpPr/>
          <p:nvPr/>
        </p:nvGrpSpPr>
        <p:grpSpPr>
          <a:xfrm>
            <a:off x="609600" y="1733550"/>
            <a:ext cx="10972800" cy="1905000"/>
            <a:chOff x="609600" y="1733550"/>
            <a:chExt cx="10972800" cy="1905000"/>
          </a:xfrm>
        </p:grpSpPr>
        <p:sp>
          <p:nvSpPr>
            <p:cNvPr id="6" name="Rectangle 6"/>
            <p:cNvSpPr/>
            <p:nvPr/>
          </p:nvSpPr>
          <p:spPr>
            <a:xfrm>
              <a:off x="609600" y="1733550"/>
              <a:ext cx="5334000" cy="1905000"/>
            </a:xfrm>
            <a:prstGeom prst="roundRect">
              <a:avLst>
                <a:gd name="adj" fmla="val 2000"/>
              </a:avLst>
            </a:prstGeom>
            <a:solidFill>
              <a:schemeClr val="lt2"/>
            </a:solidFill>
            <a:ln w="9525">
              <a:solidFill>
                <a:schemeClr val="accent4"/>
              </a:solidFill>
            </a:ln>
          </p:spPr>
        </p:sp>
        <p:sp>
          <p:nvSpPr>
            <p:cNvPr id="7" name="Rectangle 7"/>
            <p:cNvSpPr/>
            <p:nvPr/>
          </p:nvSpPr>
          <p:spPr>
            <a:xfrm>
              <a:off x="609600" y="1733550"/>
              <a:ext cx="38100" cy="1905000"/>
            </a:xfrm>
            <a:prstGeom prst="rect">
              <a:avLst/>
            </a:prstGeom>
            <a:solidFill>
              <a:schemeClr val="accent3"/>
            </a:solidFill>
            <a:ln>
              <a:noFill/>
            </a:ln>
          </p:spPr>
        </p:sp>
        <p:sp>
          <p:nvSpPr>
            <p:cNvPr id="8" name="TextBox 8"/>
            <p:cNvSpPr txBox="1"/>
            <p:nvPr/>
          </p:nvSpPr>
          <p:spPr>
            <a:xfrm>
              <a:off x="909447" y="2009299"/>
              <a:ext cx="17118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BEST 1-DAY C-INDEX</a:t>
              </a:r>
            </a:p>
          </p:txBody>
        </p:sp>
        <p:sp>
          <p:nvSpPr>
            <p:cNvPr id="9" name="TextBox 9"/>
            <p:cNvSpPr txBox="1"/>
            <p:nvPr/>
          </p:nvSpPr>
          <p:spPr>
            <a:xfrm>
              <a:off x="895350" y="2386965"/>
              <a:ext cx="2487006" cy="1219200"/>
            </a:xfrm>
            <a:prstGeom prst="rect">
              <a:avLst/>
            </a:prstGeom>
            <a:noFill/>
            <a:ln>
              <a:noFill/>
            </a:ln>
          </p:spPr>
          <p:txBody>
            <a:bodyPr wrap="none" lIns="0" tIns="0" rIns="0" bIns="0" anchor="t" anchorCtr="0">
              <a:spAutoFit/>
            </a:bodyPr>
            <a:lstStyle/>
            <a:p>
              <a:pPr algn="l"/>
              <a:r>
                <a:rPr lang="en-US" sz="6300" b="1" dirty="0">
                  <a:solidFill>
                    <a:schemeClr val="accent5"/>
                  </a:solidFill>
                  <a:latin typeface="+mn-lt"/>
                  <a:ea typeface="+mn-ea"/>
                  <a:cs typeface="+mn-cs"/>
                </a:rPr>
                <a:t>0.878</a:t>
              </a:r>
            </a:p>
          </p:txBody>
        </p:sp>
        <p:sp>
          <p:nvSpPr>
            <p:cNvPr id="10" name="TextBox 10"/>
            <p:cNvSpPr txBox="1"/>
            <p:nvPr/>
          </p:nvSpPr>
          <p:spPr>
            <a:xfrm>
              <a:off x="908685" y="3307556"/>
              <a:ext cx="4263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time-dependent concordance index at the one-day horizon</a:t>
              </a:r>
            </a:p>
          </p:txBody>
        </p:sp>
        <p:sp>
          <p:nvSpPr>
            <p:cNvPr id="11" name="Rectangle 11"/>
            <p:cNvSpPr/>
            <p:nvPr/>
          </p:nvSpPr>
          <p:spPr>
            <a:xfrm>
              <a:off x="6248400" y="1733550"/>
              <a:ext cx="5334000" cy="1905000"/>
            </a:xfrm>
            <a:prstGeom prst="roundRect">
              <a:avLst>
                <a:gd name="adj" fmla="val 2000"/>
              </a:avLst>
            </a:prstGeom>
            <a:solidFill>
              <a:schemeClr val="lt2"/>
            </a:solidFill>
            <a:ln w="9525">
              <a:solidFill>
                <a:schemeClr val="accent4"/>
              </a:solidFill>
            </a:ln>
          </p:spPr>
        </p:sp>
        <p:sp>
          <p:nvSpPr>
            <p:cNvPr id="12" name="Rectangle 12"/>
            <p:cNvSpPr/>
            <p:nvPr/>
          </p:nvSpPr>
          <p:spPr>
            <a:xfrm>
              <a:off x="6248400" y="1733550"/>
              <a:ext cx="38100" cy="1905000"/>
            </a:xfrm>
            <a:prstGeom prst="rect">
              <a:avLst/>
            </a:prstGeom>
            <a:solidFill>
              <a:schemeClr val="accent1"/>
            </a:solidFill>
            <a:ln>
              <a:noFill/>
            </a:ln>
          </p:spPr>
        </p:sp>
        <p:sp>
          <p:nvSpPr>
            <p:cNvPr id="13" name="TextBox 13"/>
            <p:cNvSpPr txBox="1"/>
            <p:nvPr/>
          </p:nvSpPr>
          <p:spPr>
            <a:xfrm>
              <a:off x="6548247" y="2009299"/>
              <a:ext cx="123256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STUDY COHORT</a:t>
              </a:r>
            </a:p>
          </p:txBody>
        </p:sp>
        <p:sp>
          <p:nvSpPr>
            <p:cNvPr id="14" name="TextBox 14"/>
            <p:cNvSpPr txBox="1"/>
            <p:nvPr/>
          </p:nvSpPr>
          <p:spPr>
            <a:xfrm>
              <a:off x="6534150" y="2386965"/>
              <a:ext cx="2976787" cy="1219200"/>
            </a:xfrm>
            <a:prstGeom prst="rect">
              <a:avLst/>
            </a:prstGeom>
            <a:noFill/>
            <a:ln>
              <a:noFill/>
            </a:ln>
          </p:spPr>
          <p:txBody>
            <a:bodyPr wrap="none" lIns="0" tIns="0" rIns="0" bIns="0" anchor="t" anchorCtr="0">
              <a:spAutoFit/>
            </a:bodyPr>
            <a:lstStyle/>
            <a:p>
              <a:pPr algn="l"/>
              <a:r>
                <a:rPr lang="en-US" sz="6300" b="1" dirty="0">
                  <a:solidFill>
                    <a:schemeClr val="accent1"/>
                  </a:solidFill>
                  <a:latin typeface="+mn-lt"/>
                  <a:ea typeface="+mn-ea"/>
                  <a:cs typeface="+mn-cs"/>
                </a:rPr>
                <a:t>30,834</a:t>
              </a:r>
            </a:p>
          </p:txBody>
        </p:sp>
        <p:sp>
          <p:nvSpPr>
            <p:cNvPr id="15" name="TextBox 15"/>
            <p:cNvSpPr txBox="1"/>
            <p:nvPr/>
          </p:nvSpPr>
          <p:spPr>
            <a:xfrm>
              <a:off x="6547485" y="3307556"/>
              <a:ext cx="34442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MIMIC-III patients surviving the first 24 hours</a:t>
              </a:r>
            </a:p>
          </p:txBody>
        </p:sp>
      </p:grpSp>
      <p:grpSp>
        <p:nvGrpSpPr>
          <p:cNvPr id="27" name="Group 27"/>
          <p:cNvGrpSpPr/>
          <p:nvPr/>
        </p:nvGrpSpPr>
        <p:grpSpPr>
          <a:xfrm>
            <a:off x="609600" y="3943350"/>
            <a:ext cx="10972800" cy="1905000"/>
            <a:chOff x="609600" y="3943350"/>
            <a:chExt cx="10972800" cy="1905000"/>
          </a:xfrm>
        </p:grpSpPr>
        <p:sp>
          <p:nvSpPr>
            <p:cNvPr id="17" name="Rectangle 17"/>
            <p:cNvSpPr/>
            <p:nvPr/>
          </p:nvSpPr>
          <p:spPr>
            <a:xfrm>
              <a:off x="609600" y="3943350"/>
              <a:ext cx="5334000" cy="1905000"/>
            </a:xfrm>
            <a:prstGeom prst="roundRect">
              <a:avLst>
                <a:gd name="adj" fmla="val 2000"/>
              </a:avLst>
            </a:prstGeom>
            <a:solidFill>
              <a:schemeClr val="lt2"/>
            </a:solidFill>
            <a:ln w="9525">
              <a:solidFill>
                <a:schemeClr val="accent4"/>
              </a:solidFill>
            </a:ln>
          </p:spPr>
        </p:sp>
        <p:sp>
          <p:nvSpPr>
            <p:cNvPr id="18" name="Rectangle 18"/>
            <p:cNvSpPr/>
            <p:nvPr/>
          </p:nvSpPr>
          <p:spPr>
            <a:xfrm>
              <a:off x="609600" y="3943350"/>
              <a:ext cx="38100" cy="1905000"/>
            </a:xfrm>
            <a:prstGeom prst="rect">
              <a:avLst/>
            </a:prstGeom>
            <a:solidFill>
              <a:schemeClr val="accent2"/>
            </a:solidFill>
            <a:ln>
              <a:noFill/>
            </a:ln>
          </p:spPr>
        </p:sp>
        <p:sp>
          <p:nvSpPr>
            <p:cNvPr id="19" name="TextBox 19"/>
            <p:cNvSpPr txBox="1"/>
            <p:nvPr/>
          </p:nvSpPr>
          <p:spPr>
            <a:xfrm>
              <a:off x="909447" y="4219099"/>
              <a:ext cx="2715588"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CLINICAL-PRESENCE DIMENSIONS</a:t>
              </a:r>
            </a:p>
          </p:txBody>
        </p:sp>
        <p:sp>
          <p:nvSpPr>
            <p:cNvPr id="20" name="TextBox 20"/>
            <p:cNvSpPr txBox="1"/>
            <p:nvPr/>
          </p:nvSpPr>
          <p:spPr>
            <a:xfrm>
              <a:off x="895350" y="4596765"/>
              <a:ext cx="527881" cy="1219200"/>
            </a:xfrm>
            <a:prstGeom prst="rect">
              <a:avLst/>
            </a:prstGeom>
            <a:noFill/>
            <a:ln>
              <a:noFill/>
            </a:ln>
          </p:spPr>
          <p:txBody>
            <a:bodyPr wrap="none" lIns="0" tIns="0" rIns="0" bIns="0" anchor="t" anchorCtr="0">
              <a:spAutoFit/>
            </a:bodyPr>
            <a:lstStyle/>
            <a:p>
              <a:pPr algn="l"/>
              <a:r>
                <a:rPr lang="en-US" sz="6300" b="1" dirty="0">
                  <a:solidFill>
                    <a:schemeClr val="accent2"/>
                  </a:solidFill>
                  <a:latin typeface="+mn-lt"/>
                  <a:ea typeface="+mn-ea"/>
                  <a:cs typeface="+mn-cs"/>
                </a:rPr>
                <a:t>3</a:t>
              </a:r>
            </a:p>
          </p:txBody>
        </p:sp>
        <p:sp>
          <p:nvSpPr>
            <p:cNvPr id="21" name="TextBox 21"/>
            <p:cNvSpPr txBox="1"/>
            <p:nvPr/>
          </p:nvSpPr>
          <p:spPr>
            <a:xfrm>
              <a:off x="908685" y="5517356"/>
              <a:ext cx="48286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longitudinal · timing · missingness — modelled jointly with survival</a:t>
              </a:r>
            </a:p>
          </p:txBody>
        </p:sp>
        <p:sp>
          <p:nvSpPr>
            <p:cNvPr id="22" name="Rectangle 22"/>
            <p:cNvSpPr/>
            <p:nvPr/>
          </p:nvSpPr>
          <p:spPr>
            <a:xfrm>
              <a:off x="6248400" y="3943350"/>
              <a:ext cx="5334000" cy="1905000"/>
            </a:xfrm>
            <a:prstGeom prst="roundRect">
              <a:avLst>
                <a:gd name="adj" fmla="val 2000"/>
              </a:avLst>
            </a:prstGeom>
            <a:solidFill>
              <a:schemeClr val="lt2"/>
            </a:solidFill>
            <a:ln w="9525">
              <a:solidFill>
                <a:schemeClr val="accent4"/>
              </a:solidFill>
            </a:ln>
          </p:spPr>
        </p:sp>
        <p:sp>
          <p:nvSpPr>
            <p:cNvPr id="23" name="Rectangle 23"/>
            <p:cNvSpPr/>
            <p:nvPr/>
          </p:nvSpPr>
          <p:spPr>
            <a:xfrm>
              <a:off x="6248400" y="3943350"/>
              <a:ext cx="38100" cy="1905000"/>
            </a:xfrm>
            <a:prstGeom prst="rect">
              <a:avLst/>
            </a:prstGeom>
            <a:solidFill>
              <a:schemeClr val="accent1"/>
            </a:solidFill>
            <a:ln>
              <a:noFill/>
            </a:ln>
          </p:spPr>
        </p:sp>
        <p:sp>
          <p:nvSpPr>
            <p:cNvPr id="24" name="TextBox 24"/>
            <p:cNvSpPr txBox="1"/>
            <p:nvPr/>
          </p:nvSpPr>
          <p:spPr>
            <a:xfrm>
              <a:off x="6548247" y="4219099"/>
              <a:ext cx="186492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PREDICTION HORIZONS</a:t>
              </a:r>
            </a:p>
          </p:txBody>
        </p:sp>
        <p:sp>
          <p:nvSpPr>
            <p:cNvPr id="25" name="TextBox 25"/>
            <p:cNvSpPr txBox="1"/>
            <p:nvPr/>
          </p:nvSpPr>
          <p:spPr>
            <a:xfrm>
              <a:off x="6534150" y="4596765"/>
              <a:ext cx="4045401" cy="1219200"/>
            </a:xfrm>
            <a:prstGeom prst="rect">
              <a:avLst/>
            </a:prstGeom>
            <a:noFill/>
            <a:ln>
              <a:noFill/>
            </a:ln>
          </p:spPr>
          <p:txBody>
            <a:bodyPr wrap="none" lIns="0" tIns="0" rIns="0" bIns="0" anchor="t" anchorCtr="0">
              <a:spAutoFit/>
            </a:bodyPr>
            <a:lstStyle/>
            <a:p>
              <a:pPr algn="l"/>
              <a:r>
                <a:rPr lang="en-US" sz="6300" b="1" dirty="0">
                  <a:solidFill>
                    <a:schemeClr val="accent5"/>
                  </a:solidFill>
                  <a:latin typeface="+mn-lt"/>
                  <a:ea typeface="+mn-ea"/>
                  <a:cs typeface="+mn-cs"/>
                </a:rPr>
                <a:t>1 / 7 / 14</a:t>
              </a:r>
            </a:p>
          </p:txBody>
        </p:sp>
        <p:sp>
          <p:nvSpPr>
            <p:cNvPr id="26" name="TextBox 26"/>
            <p:cNvSpPr txBox="1"/>
            <p:nvPr/>
          </p:nvSpPr>
          <p:spPr>
            <a:xfrm>
              <a:off x="6547485" y="5517356"/>
              <a:ext cx="32109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days — evaluated by C-index and Brier score</a:t>
              </a:r>
            </a:p>
          </p:txBody>
        </p:sp>
      </p:grpSp>
      <p:grpSp>
        <p:nvGrpSpPr>
          <p:cNvPr id="30" name="Group 30"/>
          <p:cNvGrpSpPr/>
          <p:nvPr/>
        </p:nvGrpSpPr>
        <p:grpSpPr>
          <a:xfrm>
            <a:off x="604647" y="6562249"/>
            <a:ext cx="10982706" cy="190690"/>
            <a:chOff x="604647" y="6562249"/>
            <a:chExt cx="10982706" cy="190690"/>
          </a:xfrm>
        </p:grpSpPr>
        <p:sp>
          <p:nvSpPr>
            <p:cNvPr id="28" name="TextBox 28"/>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09 / 10</a:t>
              </a:r>
            </a:p>
          </p:txBody>
        </p:sp>
        <p:sp>
          <p:nvSpPr>
            <p:cNvPr id="29" name="TextBox 29"/>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7528255" cy="803434"/>
            <a:chOff x="594360" y="602456"/>
            <a:chExt cx="7528255" cy="803434"/>
          </a:xfrm>
        </p:grpSpPr>
        <p:sp>
          <p:nvSpPr>
            <p:cNvPr id="2" name="TextBox 2"/>
            <p:cNvSpPr txBox="1"/>
            <p:nvPr/>
          </p:nvSpPr>
          <p:spPr>
            <a:xfrm>
              <a:off x="603885" y="602456"/>
              <a:ext cx="968079"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TAKEAWAY</a:t>
              </a:r>
            </a:p>
          </p:txBody>
        </p:sp>
        <p:sp>
          <p:nvSpPr>
            <p:cNvPr id="3" name="TextBox 3"/>
            <p:cNvSpPr txBox="1"/>
            <p:nvPr/>
          </p:nvSpPr>
          <p:spPr>
            <a:xfrm>
              <a:off x="594360" y="819150"/>
              <a:ext cx="7528255"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Clinical presence is signal, not noise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2" name="Group 12"/>
          <p:cNvGrpSpPr/>
          <p:nvPr/>
        </p:nvGrpSpPr>
        <p:grpSpPr>
          <a:xfrm>
            <a:off x="609600" y="1733550"/>
            <a:ext cx="10972800" cy="2000250"/>
            <a:chOff x="609600" y="1733550"/>
            <a:chExt cx="10972800" cy="2000250"/>
          </a:xfrm>
        </p:grpSpPr>
        <p:sp>
          <p:nvSpPr>
            <p:cNvPr id="6" name="Rectangle 6"/>
            <p:cNvSpPr/>
            <p:nvPr/>
          </p:nvSpPr>
          <p:spPr>
            <a:xfrm>
              <a:off x="609600" y="1733550"/>
              <a:ext cx="10972800" cy="2000250"/>
            </a:xfrm>
            <a:prstGeom prst="roundRect">
              <a:avLst>
                <a:gd name="adj" fmla="val 1905"/>
              </a:avLst>
            </a:prstGeom>
            <a:solidFill>
              <a:schemeClr val="lt2"/>
            </a:solidFill>
            <a:ln w="9525">
              <a:solidFill>
                <a:schemeClr val="accent4"/>
              </a:solidFill>
            </a:ln>
          </p:spPr>
        </p:sp>
        <p:sp>
          <p:nvSpPr>
            <p:cNvPr id="7" name="Rectangle 7"/>
            <p:cNvSpPr/>
            <p:nvPr/>
          </p:nvSpPr>
          <p:spPr>
            <a:xfrm>
              <a:off x="609600" y="1733550"/>
              <a:ext cx="38100" cy="2000250"/>
            </a:xfrm>
            <a:prstGeom prst="rect">
              <a:avLst/>
            </a:prstGeom>
            <a:solidFill>
              <a:schemeClr val="accent2"/>
            </a:solidFill>
            <a:ln>
              <a:noFill/>
            </a:ln>
          </p:spPr>
        </p:sp>
        <p:sp>
          <p:nvSpPr>
            <p:cNvPr id="8" name="TextBox 8"/>
            <p:cNvSpPr txBox="1"/>
            <p:nvPr/>
          </p:nvSpPr>
          <p:spPr>
            <a:xfrm>
              <a:off x="947547" y="2066449"/>
              <a:ext cx="12032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TAKEAWAY</a:t>
              </a:r>
            </a:p>
          </p:txBody>
        </p:sp>
        <p:sp>
          <p:nvSpPr>
            <p:cNvPr id="9" name="TextBox 9"/>
            <p:cNvSpPr txBox="1"/>
            <p:nvPr/>
          </p:nvSpPr>
          <p:spPr>
            <a:xfrm>
              <a:off x="942594" y="2418398"/>
              <a:ext cx="9801897"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The way clinical data are sampled is itself informative. Jointly modelling the</a:t>
              </a:r>
            </a:p>
          </p:txBody>
        </p:sp>
        <p:sp>
          <p:nvSpPr>
            <p:cNvPr id="10" name="TextBox 10"/>
            <p:cNvSpPr txBox="1"/>
            <p:nvPr/>
          </p:nvSpPr>
          <p:spPr>
            <a:xfrm>
              <a:off x="942594" y="2780348"/>
              <a:ext cx="10415168"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observation process with survival gives predictions that are both more accurate</a:t>
              </a:r>
            </a:p>
          </p:txBody>
        </p:sp>
        <p:sp>
          <p:nvSpPr>
            <p:cNvPr id="11" name="TextBox 11"/>
            <p:cNvSpPr txBox="1"/>
            <p:nvPr/>
          </p:nvSpPr>
          <p:spPr>
            <a:xfrm>
              <a:off x="942594" y="3142298"/>
              <a:ext cx="7409440"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and markedly more robust when clinical practice changes.</a:t>
              </a:r>
            </a:p>
          </p:txBody>
        </p:sp>
      </p:grpSp>
      <p:grpSp>
        <p:nvGrpSpPr>
          <p:cNvPr id="17" name="Group 17"/>
          <p:cNvGrpSpPr/>
          <p:nvPr/>
        </p:nvGrpSpPr>
        <p:grpSpPr>
          <a:xfrm>
            <a:off x="609600" y="3962400"/>
            <a:ext cx="10972800" cy="1028700"/>
            <a:chOff x="609600" y="3962400"/>
            <a:chExt cx="10972800" cy="1028700"/>
          </a:xfrm>
        </p:grpSpPr>
        <p:sp>
          <p:nvSpPr>
            <p:cNvPr id="13" name="Rectangle 13"/>
            <p:cNvSpPr/>
            <p:nvPr/>
          </p:nvSpPr>
          <p:spPr>
            <a:xfrm>
              <a:off x="609600" y="3962400"/>
              <a:ext cx="10972800" cy="1028700"/>
            </a:xfrm>
            <a:prstGeom prst="roundRect">
              <a:avLst>
                <a:gd name="adj" fmla="val 3704"/>
              </a:avLst>
            </a:prstGeom>
            <a:solidFill>
              <a:schemeClr val="accent1"/>
            </a:solidFill>
            <a:ln>
              <a:noFill/>
            </a:ln>
          </p:spPr>
        </p:sp>
        <p:sp>
          <p:nvSpPr>
            <p:cNvPr id="14" name="TextBox 14"/>
            <p:cNvSpPr txBox="1"/>
            <p:nvPr/>
          </p:nvSpPr>
          <p:spPr>
            <a:xfrm>
              <a:off x="942594" y="4228148"/>
              <a:ext cx="332252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Model clinical presence →</a:t>
              </a:r>
            </a:p>
          </p:txBody>
        </p:sp>
        <p:sp>
          <p:nvSpPr>
            <p:cNvPr id="15" name="TextBox 15"/>
            <p:cNvSpPr txBox="1"/>
            <p:nvPr/>
          </p:nvSpPr>
          <p:spPr>
            <a:xfrm>
              <a:off x="4028694" y="4228148"/>
              <a:ext cx="4521841"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transportable medical predictions.</a:t>
              </a:r>
            </a:p>
          </p:txBody>
        </p:sp>
        <p:sp>
          <p:nvSpPr>
            <p:cNvPr id="16" name="TextBox 16"/>
            <p:cNvSpPr txBox="1"/>
            <p:nvPr/>
          </p:nvSpPr>
          <p:spPr>
            <a:xfrm>
              <a:off x="946785" y="4641056"/>
              <a:ext cx="5791118" cy="220028"/>
            </a:xfrm>
            <a:prstGeom prst="rect">
              <a:avLst/>
            </a:prstGeom>
            <a:noFill/>
            <a:ln>
              <a:noFill/>
            </a:ln>
          </p:spPr>
          <p:txBody>
            <a:bodyPr wrap="none" lIns="0" tIns="0" rIns="0" bIns="0" anchor="t" anchorCtr="0">
              <a:spAutoFit/>
            </a:bodyPr>
            <a:lstStyle/>
            <a:p>
              <a:pPr algn="l"/>
              <a:r>
                <a:rPr lang="en-US" sz="1120" dirty="0">
                  <a:solidFill>
                    <a:srgbClr val="CFE0FC"/>
                  </a:solidFill>
                  <a:latin typeface="+mn-lt"/>
                  <a:ea typeface="+mn-ea"/>
                  <a:cs typeface="+mn-cs"/>
                </a:rPr>
                <a:t>Signal, not noise: it improves both discrimination and robustness under shift.</a:t>
              </a:r>
            </a:p>
          </p:txBody>
        </p:sp>
      </p:grpSp>
      <p:grpSp>
        <p:nvGrpSpPr>
          <p:cNvPr id="21" name="Group 21"/>
          <p:cNvGrpSpPr/>
          <p:nvPr/>
        </p:nvGrpSpPr>
        <p:grpSpPr>
          <a:xfrm>
            <a:off x="602742" y="5381149"/>
            <a:ext cx="3529626" cy="795052"/>
            <a:chOff x="602742" y="5381149"/>
            <a:chExt cx="3529626" cy="795052"/>
          </a:xfrm>
        </p:grpSpPr>
        <p:sp>
          <p:nvSpPr>
            <p:cNvPr id="18" name="TextBox 18"/>
            <p:cNvSpPr txBox="1"/>
            <p:nvPr/>
          </p:nvSpPr>
          <p:spPr>
            <a:xfrm>
              <a:off x="604647" y="5381149"/>
              <a:ext cx="1166701"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PAPER · CODE</a:t>
              </a:r>
            </a:p>
          </p:txBody>
        </p:sp>
        <p:sp>
          <p:nvSpPr>
            <p:cNvPr id="19" name="TextBox 19"/>
            <p:cNvSpPr txBox="1"/>
            <p:nvPr/>
          </p:nvSpPr>
          <p:spPr>
            <a:xfrm>
              <a:off x="602742" y="5645468"/>
              <a:ext cx="15392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arXiv 2205.13481</a:t>
              </a:r>
            </a:p>
          </p:txBody>
        </p:sp>
        <p:sp>
          <p:nvSpPr>
            <p:cNvPr id="20" name="TextBox 20"/>
            <p:cNvSpPr txBox="1"/>
            <p:nvPr/>
          </p:nvSpPr>
          <p:spPr>
            <a:xfrm>
              <a:off x="602742" y="5912168"/>
              <a:ext cx="35296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github.com/Jeanselme/ClinicalPresence</a:t>
              </a:r>
            </a:p>
          </p:txBody>
        </p:sp>
      </p:grpSp>
      <p:grpSp>
        <p:nvGrpSpPr>
          <p:cNvPr id="28" name="Group 28"/>
          <p:cNvGrpSpPr/>
          <p:nvPr/>
        </p:nvGrpSpPr>
        <p:grpSpPr>
          <a:xfrm>
            <a:off x="9410700" y="5295900"/>
            <a:ext cx="2019300" cy="1152239"/>
            <a:chOff x="9410700" y="5295900"/>
            <a:chExt cx="2019300" cy="1152239"/>
          </a:xfrm>
        </p:grpSpPr>
        <p:sp>
          <p:nvSpPr>
            <p:cNvPr id="22" name="Rectangle 22"/>
            <p:cNvSpPr/>
            <p:nvPr/>
          </p:nvSpPr>
          <p:spPr>
            <a:xfrm>
              <a:off x="9410700" y="5295900"/>
              <a:ext cx="914400" cy="914400"/>
            </a:xfrm>
            <a:prstGeom prst="roundRect">
              <a:avLst>
                <a:gd name="adj" fmla="val 4167"/>
              </a:avLst>
            </a:prstGeom>
            <a:solidFill>
              <a:schemeClr val="lt2"/>
            </a:solidFill>
            <a:ln w="9525">
              <a:solidFill>
                <a:schemeClr val="accent4"/>
              </a:solidFill>
            </a:ln>
          </p:spPr>
        </p:sp>
        <p:pic>
          <p:nvPicPr>
            <p:cNvPr id="23" name="Image 23"/>
            <p:cNvPicPr>
              <a:picLocks noChangeAspect="1"/>
            </p:cNvPicPr>
            <p:nvPr/>
          </p:nvPicPr>
          <p:blipFill>
            <a:blip r:embed="rId2"/>
            <a:stretch>
              <a:fillRect/>
            </a:stretch>
          </p:blipFill>
          <p:spPr>
            <a:xfrm>
              <a:off x="9467850" y="5353050"/>
              <a:ext cx="800100" cy="800100"/>
            </a:xfrm>
            <a:prstGeom prst="rect">
              <a:avLst/>
            </a:prstGeom>
          </p:spPr>
        </p:pic>
        <p:sp>
          <p:nvSpPr>
            <p:cNvPr id="24" name="TextBox 24"/>
            <p:cNvSpPr txBox="1"/>
            <p:nvPr/>
          </p:nvSpPr>
          <p:spPr>
            <a:xfrm>
              <a:off x="9679493" y="6257449"/>
              <a:ext cx="37681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Paper</a:t>
              </a:r>
            </a:p>
          </p:txBody>
        </p:sp>
        <p:sp>
          <p:nvSpPr>
            <p:cNvPr id="25" name="Rectangle 25"/>
            <p:cNvSpPr/>
            <p:nvPr/>
          </p:nvSpPr>
          <p:spPr>
            <a:xfrm>
              <a:off x="10515600" y="5295900"/>
              <a:ext cx="914400" cy="914400"/>
            </a:xfrm>
            <a:prstGeom prst="roundRect">
              <a:avLst>
                <a:gd name="adj" fmla="val 4167"/>
              </a:avLst>
            </a:prstGeom>
            <a:solidFill>
              <a:schemeClr val="lt2"/>
            </a:solidFill>
            <a:ln w="9525">
              <a:solidFill>
                <a:schemeClr val="accent4"/>
              </a:solidFill>
            </a:ln>
          </p:spPr>
        </p:sp>
        <p:pic>
          <p:nvPicPr>
            <p:cNvPr id="26" name="Image 26"/>
            <p:cNvPicPr>
              <a:picLocks noChangeAspect="1"/>
            </p:cNvPicPr>
            <p:nvPr/>
          </p:nvPicPr>
          <p:blipFill>
            <a:blip r:embed="rId3"/>
            <a:stretch>
              <a:fillRect/>
            </a:stretch>
          </p:blipFill>
          <p:spPr>
            <a:xfrm>
              <a:off x="10572750" y="5353050"/>
              <a:ext cx="800100" cy="800100"/>
            </a:xfrm>
            <a:prstGeom prst="rect">
              <a:avLst/>
            </a:prstGeom>
          </p:spPr>
        </p:pic>
        <p:sp>
          <p:nvSpPr>
            <p:cNvPr id="27" name="TextBox 27"/>
            <p:cNvSpPr txBox="1"/>
            <p:nvPr/>
          </p:nvSpPr>
          <p:spPr>
            <a:xfrm>
              <a:off x="10820673" y="625744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Code</a:t>
              </a:r>
            </a:p>
          </p:txBody>
        </p:sp>
      </p:grpSp>
      <p:grpSp>
        <p:nvGrpSpPr>
          <p:cNvPr id="31" name="Group 31"/>
          <p:cNvGrpSpPr/>
          <p:nvPr/>
        </p:nvGrpSpPr>
        <p:grpSpPr>
          <a:xfrm>
            <a:off x="604647" y="6562249"/>
            <a:ext cx="10982706" cy="190690"/>
            <a:chOff x="604647" y="6562249"/>
            <a:chExt cx="10982706" cy="190690"/>
          </a:xfrm>
        </p:grpSpPr>
        <p:sp>
          <p:nvSpPr>
            <p:cNvPr id="29" name="TextBox 29"/>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10 / 10</a:t>
              </a:r>
            </a:p>
          </p:txBody>
        </p:sp>
        <p:sp>
          <p:nvSpPr>
            <p:cNvPr id="30" name="TextBox 30"/>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epjoint_deck">
  <a:themeElements>
    <a:clrScheme name="deepjoint_deck">
      <a:dk1>
        <a:srgbClr val="3A4658"/>
      </a:dk1>
      <a:lt1>
        <a:srgbClr val="F4F6F9"/>
      </a:lt1>
      <a:dk2>
        <a:srgbClr val="6B7787"/>
      </a:dk2>
      <a:lt2>
        <a:srgbClr val="FFFFFF"/>
      </a:lt2>
      <a:accent1>
        <a:srgbClr val="1E63E9"/>
      </a:accent1>
      <a:accent2>
        <a:srgbClr val="0FA3A3"/>
      </a:accent2>
      <a:accent3>
        <a:srgbClr val="E4572E"/>
      </a:accent3>
      <a:accent4>
        <a:srgbClr val="DCE2EA"/>
      </a:accent4>
      <a:accent5>
        <a:srgbClr val="0E1B2B"/>
      </a:accent5>
      <a:accent6>
        <a:srgbClr val="E7F4F4"/>
      </a:accent6>
      <a:hlink>
        <a:srgbClr val="0FA3A3"/>
      </a:hlink>
      <a:folHlink>
        <a:srgbClr val="E4572E"/>
      </a:folHlink>
    </a:clrScheme>
    <a:fontScheme name="deepjoint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joint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epjoint_deck">
  <a:themeElements>
    <a:clrScheme name="deepjoint_deck">
      <a:dk1>
        <a:srgbClr val="3A4658"/>
      </a:dk1>
      <a:lt1>
        <a:srgbClr val="F4F6F9"/>
      </a:lt1>
      <a:dk2>
        <a:srgbClr val="6B7787"/>
      </a:dk2>
      <a:lt2>
        <a:srgbClr val="FFFFFF"/>
      </a:lt2>
      <a:accent1>
        <a:srgbClr val="1E63E9"/>
      </a:accent1>
      <a:accent2>
        <a:srgbClr val="0FA3A3"/>
      </a:accent2>
      <a:accent3>
        <a:srgbClr val="E4572E"/>
      </a:accent3>
      <a:accent4>
        <a:srgbClr val="DCE2EA"/>
      </a:accent4>
      <a:accent5>
        <a:srgbClr val="0E1B2B"/>
      </a:accent5>
      <a:accent6>
        <a:srgbClr val="E7F4F4"/>
      </a:accent6>
      <a:hlink>
        <a:srgbClr val="0FA3A3"/>
      </a:hlink>
      <a:folHlink>
        <a:srgbClr val="E4572E"/>
      </a:folHlink>
    </a:clrScheme>
    <a:fontScheme name="deepjoint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joint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2026-07-15T03:05:10Z</dcterms:created>
  <dcterms:modified xsi:type="dcterms:W3CDTF">2026-07-15T03:05:10Z</dcterms:modified>
  <cp:category/>
  <cp:contentStatus/>
</cp:coreProperties>
</file>
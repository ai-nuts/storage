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74562"/>
          </a:xfrm>
          <a:prstGeom prst="roundRect">
            <a:avLst>
              <a:gd name="adj" fmla="val 3882"/>
            </a:avLst>
          </a:prstGeom>
          <a:solidFill>
            <a:srgbClr val="FFFFFF"/>
          </a:solidFill>
          <a:ln w="35560">
            <a:solidFill>
              <a:srgbClr val="1D3A8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66416" y="1675070"/>
            <a:ext cx="4913948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5447903"/>
            <a:ext cx="10804961" cy="8854440"/>
          </a:xfrm>
          <a:prstGeom prst="roundRect">
            <a:avLst>
              <a:gd name="adj" fmla="val 187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3568" y="5447903"/>
            <a:ext cx="27439124" cy="15510966"/>
          </a:xfrm>
          <a:prstGeom prst="roundRect">
            <a:avLst>
              <a:gd name="adj" fmla="val 106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5447903"/>
            <a:ext cx="10804962" cy="7768193"/>
          </a:xfrm>
          <a:prstGeom prst="roundRect">
            <a:avLst>
              <a:gd name="adj" fmla="val 2136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3547943"/>
            <a:ext cx="10804962" cy="11215013"/>
          </a:xfrm>
          <a:prstGeom prst="roundRect">
            <a:avLst>
              <a:gd name="adj" fmla="val 1535"/>
            </a:avLst>
          </a:prstGeom>
          <a:solidFill>
            <a:srgbClr val="EDF1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3547943"/>
            <a:ext cx="53340" cy="11215013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4634190"/>
            <a:ext cx="10804961" cy="15437762"/>
          </a:xfrm>
          <a:prstGeom prst="roundRect">
            <a:avLst>
              <a:gd name="adj" fmla="val 153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5094803"/>
            <a:ext cx="10804962" cy="4977149"/>
          </a:xfrm>
          <a:prstGeom prst="roundRect">
            <a:avLst>
              <a:gd name="adj" fmla="val 333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he-university-of-tok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0635" y="1424490"/>
            <a:ext cx="11324471" cy="2729216"/>
          </a:xfrm>
          <a:prstGeom prst="rect">
            <a:avLst/>
          </a:prstGeom>
        </p:spPr>
      </p:pic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896" y="1840927"/>
            <a:ext cx="4344988" cy="189648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0777" y="5456793"/>
            <a:ext cx="10787181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92458" y="5456793"/>
            <a:ext cx="27421344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58302" y="5456793"/>
            <a:ext cx="10787182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137516" y="7081440"/>
            <a:ext cx="10028754" cy="3878818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37516" y="11084440"/>
            <a:ext cx="1002875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37516" y="11084440"/>
            <a:ext cx="10028754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1755219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1755219"/>
            <a:ext cx="124460" cy="215902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802752" y="13556833"/>
            <a:ext cx="10742732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0777" y="14643080"/>
            <a:ext cx="10787181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3568" y="21290716"/>
            <a:ext cx="13553639" cy="8781236"/>
          </a:xfrm>
          <a:prstGeom prst="roundRect">
            <a:avLst>
              <a:gd name="adj" fmla="val 188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769054" y="21290716"/>
            <a:ext cx="13553638" cy="8781236"/>
          </a:xfrm>
          <a:prstGeom prst="roundRect">
            <a:avLst>
              <a:gd name="adj" fmla="val 188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81966" y="22123876"/>
            <a:ext cx="9984304" cy="2346821"/>
          </a:xfrm>
          <a:prstGeom prst="roundRect">
            <a:avLst>
              <a:gd name="adj" fmla="val 8889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4187" y="7303690"/>
            <a:ext cx="4196218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4187" y="7303690"/>
            <a:ext cx="11557" cy="3481824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271672" y="11447264"/>
            <a:ext cx="26662916" cy="1466572"/>
          </a:xfrm>
          <a:prstGeom prst="roundRect">
            <a:avLst>
              <a:gd name="adj" fmla="val 15362"/>
            </a:avLst>
          </a:prstGeom>
          <a:solidFill>
            <a:srgbClr val="F1F3F8"/>
          </a:solidFill>
          <a:ln w="8890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892458" y="21299606"/>
            <a:ext cx="13535859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777944" y="21299606"/>
            <a:ext cx="13535858" cy="1180425"/>
          </a:xfrm>
          <a:prstGeom prst="roundRect">
            <a:avLst>
              <a:gd name="adj" fmla="val 14058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6382" y="24593629"/>
            <a:ext cx="9995832" cy="2698948"/>
          </a:xfrm>
          <a:prstGeom prst="roundRect">
            <a:avLst>
              <a:gd name="adj" fmla="val 351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ge8_fig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36" y="24593629"/>
            <a:ext cx="9995524" cy="269894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6157158" y="25731549"/>
            <a:ext cx="12777430" cy="1252101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157158" y="27264657"/>
            <a:ext cx="12777430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157158" y="27264657"/>
            <a:ext cx="12777430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271672" y="27702351"/>
            <a:ext cx="1277743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271672" y="27702351"/>
            <a:ext cx="12777430" cy="11557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3253184" y="13315275"/>
            <a:ext cx="24699892" cy="6077287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age2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3365" y="13315275"/>
            <a:ext cx="24699530" cy="607728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1987192" y="26170215"/>
            <a:ext cx="2868414" cy="2868414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05725" y="26288748"/>
            <a:ext cx="2631348" cy="263134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5448180" y="26170215"/>
            <a:ext cx="2868414" cy="2868414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6713" y="26288748"/>
            <a:ext cx="2631348" cy="263134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2776318" y="29180869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1D3A87"/>
                </a:solidFill>
                <a:latin typeface="Arial"/>
              </a:rPr>
              <a:t>Paper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283423" y="29180869"/>
            <a:ext cx="1197789" cy="541595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1D3A87"/>
                </a:solidFill>
                <a:latin typeface="Arial"/>
              </a:rPr>
              <a:t>Code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157158" y="22993985"/>
            <a:ext cx="3391812" cy="814407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157158" y="23799502"/>
            <a:ext cx="339181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548970" y="22993985"/>
            <a:ext cx="2136517" cy="814407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548970" y="23799502"/>
            <a:ext cx="213651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685487" y="22993985"/>
            <a:ext cx="1928019" cy="814407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5487" y="23799502"/>
            <a:ext cx="192801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613506" y="22993985"/>
            <a:ext cx="2974122" cy="814407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613506" y="23799502"/>
            <a:ext cx="29741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87628" y="22993985"/>
            <a:ext cx="2346960" cy="814407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87628" y="23799502"/>
            <a:ext cx="23469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157158" y="23808392"/>
            <a:ext cx="339181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157158" y="24618354"/>
            <a:ext cx="339181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548970" y="23808392"/>
            <a:ext cx="213651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548970" y="24618354"/>
            <a:ext cx="213651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685487" y="23808392"/>
            <a:ext cx="192801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685487" y="24618354"/>
            <a:ext cx="192801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613506" y="23808392"/>
            <a:ext cx="297412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613506" y="24618354"/>
            <a:ext cx="29741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87628" y="23808392"/>
            <a:ext cx="234696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87628" y="24618354"/>
            <a:ext cx="23469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157158" y="24627244"/>
            <a:ext cx="3391812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157158" y="25437207"/>
            <a:ext cx="339181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548970" y="24627244"/>
            <a:ext cx="2136517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548970" y="25437207"/>
            <a:ext cx="213651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685487" y="24627244"/>
            <a:ext cx="1928019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685487" y="25437207"/>
            <a:ext cx="192801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613506" y="24627244"/>
            <a:ext cx="2974122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613506" y="25437207"/>
            <a:ext cx="29741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587628" y="24627244"/>
            <a:ext cx="2346960" cy="818853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587628" y="25437207"/>
            <a:ext cx="234696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464460" y="1019294"/>
            <a:ext cx="24704060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018"/>
              </a:lnSpc>
              <a:spcBef>
                <a:spcPts val="0"/>
              </a:spcBef>
              <a:spcAft>
                <a:spcPts val="0"/>
              </a:spcAft>
            </a:pPr>
            <a:r>
              <a:rPr sz="7289" b="1" spc="-78">
                <a:solidFill>
                  <a:srgbClr val="1D3A87"/>
                </a:solidFill>
                <a:latin typeface="Arial"/>
              </a:rPr>
              <a:t>Langevin Autoencoders for Learning Deep Latent</a:t>
            </a:r>
          </a:p>
          <a:p>
            <a:pPr algn="ctr">
              <a:lnSpc>
                <a:spcPts val="8018"/>
              </a:lnSpc>
              <a:spcBef>
                <a:spcPts val="0"/>
              </a:spcBef>
              <a:spcAft>
                <a:spcPts val="0"/>
              </a:spcAft>
            </a:pPr>
            <a:r>
              <a:rPr sz="7289" b="1" spc="-78">
                <a:solidFill>
                  <a:srgbClr val="1D3A87"/>
                </a:solidFill>
                <a:latin typeface="Arial"/>
              </a:rPr>
              <a:t>Variable Models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464460" y="3408620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Shohei Taniguchi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Yusuke Iwasawa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Wataru Kumagai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Yutaka Matsuo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464460" y="4077870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The University of Tokyo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0777" y="5456793"/>
            <a:ext cx="11110796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892458" y="5456793"/>
            <a:ext cx="27848064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58302" y="5456793"/>
            <a:ext cx="11110797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91" y="6957258"/>
            <a:ext cx="10329615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Langevin-dynamics MCMC can approximate the intractable posteriors of deep latent variable models, but its costly per-datapoint sampling iterations and slow convergence make it impractical for training.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137516" y="11084440"/>
            <a:ext cx="10329616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Averaged over 3 seeds; only T = 2 ALD steps.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11755219"/>
            <a:ext cx="10329615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MCMC runs a fresh sampling chain per datapoint — accurate, but too slow to train deep models.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802752" y="13556833"/>
            <a:ext cx="1106501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777" y="14643080"/>
            <a:ext cx="11110796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181966" y="15057298"/>
            <a:ext cx="10283833" cy="7826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Replacing per-datapoint MCMC with a Langevin update of a shared encoder’s parameters gives efficient yet flexible posterior sampling — turning a plain autoencoder into a provably valid MCMC-based generative model that outperforms VAEs on test likelihood. It reframes the autoencoder as a bias-corrected alternative to variational inference.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181966" y="22123876"/>
            <a:ext cx="10283833" cy="2698844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one-line change to the autoencoder — provably valid MCMC that still beats the VAE on likelihood.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996679" y="12464196"/>
            <a:ext cx="13609289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Langevin dynamics on the encoder parameters φ; the encoder output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is taken directly as a posterior sample.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9972" y="16652775"/>
            <a:ext cx="10329635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Amortized VI (the VAE) is efficient — one encoder predicts latents for all data — but its accuracy is capped by the tractable variational family (e.g. Gaussians).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72" y="20616326"/>
            <a:ext cx="1032963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MCMC is flexible yet was never truly amortized: prior hybrids (Hoffman 2017) only warm-start per-datapoint Langevin chains with an encoder.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892458" y="21299606"/>
            <a:ext cx="13941934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 Study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777944" y="21299606"/>
            <a:ext cx="1394193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650177" y="25482907"/>
            <a:ext cx="3093533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D3A87"/>
                </a:solidFill>
                <a:latin typeface="Arial"/>
              </a:rPr>
              <a:t>Scan to Read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157158" y="25731549"/>
            <a:ext cx="13160752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Lowest −ELBO/dim on all four image datasets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157158" y="27264657"/>
            <a:ext cx="13160752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More accurate posterior sampling translates directly into better-trained deep generative models — LAE also beats VAE-flow and Hoffman (2017).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56154" y="27442179"/>
            <a:ext cx="9472033" cy="2557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Ground-truth posterior vs. mean-field VI, full VI, and ALD (ours): the Gaussian family misses the multimodal, correlated posterior that ALD reproduces.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271672" y="27702351"/>
            <a:ext cx="13160752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With d &lt; n, some samples collapse — confirming the rank condition of Theorem 1.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271654" y="6957258"/>
            <a:ext cx="27089654" cy="15594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Move the noise from the latent space to the encoder’s parameters φ — run a Langevin SDE on φ, not a per-datapoint chain on each z.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383380" y="7426761"/>
            <a:ext cx="4910137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1D3A87"/>
                </a:solidFill>
                <a:latin typeface="Arial"/>
              </a:rPr>
              <a:t>4 / 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271654" y="8407022"/>
            <a:ext cx="27089654" cy="15594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With encoder f(x;Φ)=Φ g(x), its outputs are posterior samples; Theorem 1 guarantees convergence when width d ≥ batch size 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383380" y="8801655"/>
            <a:ext cx="4910137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datasets — LAE beats the VAE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383380" y="9844563"/>
            <a:ext cx="4910137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lowest −ELBO per dim on every benchmark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271654" y="9856787"/>
            <a:ext cx="27089654" cy="15594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Langevin Autoencoder runs T ALD steps on the encoder’s last layer before each decoder update, with optional Metropolis–Hastings correction.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241224" y="19542164"/>
            <a:ext cx="23150532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(a) VI uses tractable Gaussians; (b) LD runs per-datapoint MCMC; (c) Hoffman [2017] warm-starts LD with an encoder; (d) ALD (ours) updates the encoder itself, treating its output as a posterior sample.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71654" y="22800071"/>
            <a:ext cx="1316077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Encoder capacity confirms Theorem 1: d ≥ n makes samples match the true posterior; d &lt; n makes some collapse.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271654" y="25251211"/>
            <a:ext cx="1316077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Metropolis–Hastings rejection step stabilizes training, while the number of ALD iterations T barely matters once T ≥ 2.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202441" y="7303690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1.177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722075" y="7437040"/>
            <a:ext cx="2264279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MNIST −ELBO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202441" y="8551207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4.412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722075" y="8684557"/>
            <a:ext cx="2264279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SVHN −ELBO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6202441" y="9798724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2.24×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737355" y="9932074"/>
            <a:ext cx="2248541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train time vs VAE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157158" y="22993985"/>
            <a:ext cx="3493566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Method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548970" y="22993985"/>
            <a:ext cx="2200612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MNIST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1685487" y="22993985"/>
            <a:ext cx="1985859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SVHN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613506" y="22993985"/>
            <a:ext cx="3063345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CIFAR-10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87628" y="22993985"/>
            <a:ext cx="2417368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CelebA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6157158" y="23808392"/>
            <a:ext cx="349356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VAE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548970" y="23808392"/>
            <a:ext cx="220061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1.189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1685487" y="23808392"/>
            <a:ext cx="198585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4.442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613506" y="23808392"/>
            <a:ext cx="3063345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4.820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87628" y="23808392"/>
            <a:ext cx="241736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4.671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157158" y="24627244"/>
            <a:ext cx="3493566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LAE (ours)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548970" y="24627244"/>
            <a:ext cx="220061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1.177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1685487" y="24627244"/>
            <a:ext cx="198585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4.412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613506" y="24627244"/>
            <a:ext cx="3063345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4.773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87628" y="24627244"/>
            <a:ext cx="241736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D3A87"/>
                </a:solidFill>
                <a:latin typeface="Arial"/>
              </a:rPr>
              <a:t>4.636</a:t>
            </a:r>
          </a:p>
        </p:txBody>
      </p:sp>
      <p:pic>
        <p:nvPicPr>
          <p:cNvPr id="129" name="Picture 128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47548" y="11532552"/>
            <a:ext cx="19311164" cy="800100"/>
          </a:xfrm>
          <a:prstGeom prst="rect">
            <a:avLst/>
          </a:prstGeom>
        </p:spPr>
      </p:pic>
      <p:pic>
        <p:nvPicPr>
          <p:cNvPr id="130" name="Picture 129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46827" y="12401966"/>
            <a:ext cx="931228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
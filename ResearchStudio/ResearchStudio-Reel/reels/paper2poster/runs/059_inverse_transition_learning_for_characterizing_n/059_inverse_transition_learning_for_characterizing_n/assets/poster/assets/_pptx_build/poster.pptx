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1887" y="651887"/>
            <a:ext cx="49902625" cy="471531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5322748"/>
            <a:ext cx="49902625" cy="44450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15581" y="2048589"/>
            <a:ext cx="3094136" cy="18774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91937" y="2048589"/>
            <a:ext cx="17780" cy="1877457"/>
          </a:xfrm>
          <a:prstGeom prst="rect">
            <a:avLst/>
          </a:prstGeom>
          <a:solidFill>
            <a:srgbClr val="C8CC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1887" y="5888652"/>
            <a:ext cx="10804961" cy="85392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1887" y="5888652"/>
            <a:ext cx="1080496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3568" y="5888652"/>
            <a:ext cx="13506133" cy="2418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3568" y="5888652"/>
            <a:ext cx="13506133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816421" y="5888652"/>
            <a:ext cx="13506271" cy="2418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816421" y="5888652"/>
            <a:ext cx="1350627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49412" y="5888652"/>
            <a:ext cx="10804962" cy="8218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5888652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49412" y="14438749"/>
            <a:ext cx="10804962" cy="53426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49412" y="14438749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887" y="14759761"/>
            <a:ext cx="10804961" cy="153121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887" y="14759761"/>
            <a:ext cx="1080496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49412" y="20113208"/>
            <a:ext cx="10804962" cy="9958744"/>
          </a:xfrm>
          <a:prstGeom prst="rect">
            <a:avLst/>
          </a:prstGeom>
          <a:solidFill>
            <a:srgbClr val="F0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49412" y="20113208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49412" y="20113208"/>
            <a:ext cx="53340" cy="9958744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986386" y="7281326"/>
            <a:ext cx="10331014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986386" y="7281326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8861" y="12079287"/>
            <a:ext cx="1033101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861" y="12079287"/>
            <a:ext cx="124460" cy="2159020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986386" y="15831423"/>
            <a:ext cx="10331014" cy="3760331"/>
          </a:xfrm>
          <a:prstGeom prst="roundRect">
            <a:avLst>
              <a:gd name="adj" fmla="val 1891"/>
            </a:avLst>
          </a:prstGeom>
          <a:gradFill rotWithShape="1" flip="none">
            <a:gsLst>
              <a:gs pos="0">
                <a:srgbClr val="E7E9EB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DD1D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039726" y="21921350"/>
            <a:ext cx="10277674" cy="3024823"/>
          </a:xfrm>
          <a:prstGeom prst="roundRect">
            <a:avLst>
              <a:gd name="adj" fmla="val 6896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2120542" y="22413356"/>
            <a:ext cx="13032185" cy="1437541"/>
          </a:xfrm>
          <a:prstGeom prst="roundRect">
            <a:avLst>
              <a:gd name="adj" fmla="val 15673"/>
            </a:avLst>
          </a:prstGeom>
          <a:solidFill>
            <a:srgbClr val="F3F4F5"/>
          </a:solidFill>
          <a:ln w="8890">
            <a:solidFill>
              <a:srgbClr val="BF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2120542" y="24184967"/>
            <a:ext cx="13032185" cy="2883416"/>
          </a:xfrm>
          <a:prstGeom prst="roundRect">
            <a:avLst>
              <a:gd name="adj" fmla="val 7813"/>
            </a:avLst>
          </a:prstGeom>
          <a:solidFill>
            <a:srgbClr val="F3F4F5"/>
          </a:solidFill>
          <a:ln w="8890">
            <a:solidFill>
              <a:srgbClr val="BF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120542" y="27261740"/>
            <a:ext cx="13032185" cy="2325985"/>
          </a:xfrm>
          <a:prstGeom prst="roundRect">
            <a:avLst>
              <a:gd name="adj" fmla="val 8969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053395" y="27638176"/>
            <a:ext cx="13032323" cy="2027059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8861" y="28117819"/>
            <a:ext cx="10331013" cy="1647984"/>
          </a:xfrm>
          <a:prstGeom prst="roundRect">
            <a:avLst>
              <a:gd name="adj" fmla="val 12659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harvard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3753" y="1031103"/>
            <a:ext cx="1922741" cy="488945"/>
          </a:xfrm>
          <a:prstGeom prst="rect">
            <a:avLst/>
          </a:prstGeom>
        </p:spPr>
      </p:pic>
      <p:pic>
        <p:nvPicPr>
          <p:cNvPr id="33" name="Picture 32" descr="imperial-college-lond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9568" y="1685906"/>
            <a:ext cx="4451250" cy="488947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46657637" y="2388215"/>
            <a:ext cx="2014974" cy="2014974"/>
          </a:xfrm>
          <a:prstGeom prst="roundRect">
            <a:avLst>
              <a:gd name="adj" fmla="val 5294"/>
            </a:avLst>
          </a:prstGeom>
          <a:noFill/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4317" y="2494895"/>
            <a:ext cx="1801614" cy="1801614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40475892" y="7437735"/>
            <a:ext cx="1778000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WARNS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053395" y="11517689"/>
            <a:ext cx="13032323" cy="13787696"/>
          </a:xfrm>
          <a:prstGeom prst="roundRect">
            <a:avLst>
              <a:gd name="adj" fmla="val 27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53402" y="11517689"/>
            <a:ext cx="13032309" cy="13787696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45742383" y="15994360"/>
            <a:ext cx="4329152" cy="3481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42383" y="15994360"/>
            <a:ext cx="11557" cy="3481824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88861" y="22852995"/>
            <a:ext cx="4646691" cy="5121890"/>
          </a:xfrm>
          <a:prstGeom prst="roundRect">
            <a:avLst>
              <a:gd name="adj" fmla="val 4489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73043" y="22852995"/>
            <a:ext cx="4646831" cy="4365684"/>
          </a:xfrm>
          <a:prstGeom prst="roundRect">
            <a:avLst>
              <a:gd name="adj" fmla="val 4778"/>
            </a:avLst>
          </a:prstGeom>
          <a:solidFill>
            <a:srgbClr val="F3F4F5"/>
          </a:solidFill>
          <a:ln w="8890">
            <a:solidFill>
              <a:srgbClr val="38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053395" y="10086538"/>
            <a:ext cx="13032323" cy="1022072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2120542" y="15496242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120542" y="16687641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120542" y="18609270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120542" y="20530899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053395" y="7425233"/>
            <a:ext cx="5258296" cy="771069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053395" y="8187412"/>
            <a:ext cx="5258296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311691" y="7425233"/>
            <a:ext cx="3581559" cy="771069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311691" y="8187412"/>
            <a:ext cx="3581559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893250" y="7425233"/>
            <a:ext cx="4192468" cy="771069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893250" y="8187412"/>
            <a:ext cx="4192468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6053395" y="8196302"/>
            <a:ext cx="525829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6053395" y="9132530"/>
            <a:ext cx="5258296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311691" y="8196302"/>
            <a:ext cx="358155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311691" y="9132530"/>
            <a:ext cx="3581559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893250" y="8196302"/>
            <a:ext cx="419246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893250" y="9132530"/>
            <a:ext cx="4192468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053395" y="9141420"/>
            <a:ext cx="525829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6053395" y="10077648"/>
            <a:ext cx="5258296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311691" y="9141420"/>
            <a:ext cx="358155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1311691" y="10077648"/>
            <a:ext cx="3581559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4893250" y="9141420"/>
            <a:ext cx="419246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4893250" y="10077648"/>
            <a:ext cx="4192468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053395" y="10086538"/>
            <a:ext cx="5258296" cy="1022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053395" y="11099720"/>
            <a:ext cx="5258296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1311691" y="10086538"/>
            <a:ext cx="3581559" cy="1022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1311691" y="11099720"/>
            <a:ext cx="3581559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4893250" y="10086538"/>
            <a:ext cx="4192468" cy="10220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4893250" y="11099720"/>
            <a:ext cx="4192468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78677" y="1576030"/>
            <a:ext cx="40318651" cy="14046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617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111111"/>
                </a:solidFill>
                <a:latin typeface="Arial"/>
              </a:rPr>
              <a:t>Bayesian Inverse Transition Learning for Offline Settings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78677" y="3069967"/>
            <a:ext cx="40318651" cy="869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Leo Benac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4106" b="0">
                <a:solidFill>
                  <a:srgbClr val="1C1C1C"/>
                </a:solidFill>
                <a:latin typeface="Arial"/>
              </a:rPr>
              <a:t>, Sonali Parbhoo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2</a:t>
            </a:r>
            <a:r>
              <a:rPr sz="4106" b="0">
                <a:solidFill>
                  <a:srgbClr val="1C1C1C"/>
                </a:solidFill>
                <a:latin typeface="Arial"/>
              </a:rPr>
              <a:t>, Finale Doshi-Velez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78677" y="3882985"/>
            <a:ext cx="40318651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547" b="0" spc="56" baseline="30000">
                <a:solidFill>
                  <a:srgbClr val="5A5A5A"/>
                </a:solidFill>
                <a:latin typeface="Arial"/>
              </a:rPr>
              <a:t>1</a:t>
            </a:r>
            <a:r>
              <a:rPr sz="2800" b="0" spc="56">
                <a:solidFill>
                  <a:srgbClr val="5A5A5A"/>
                </a:solidFill>
                <a:latin typeface="Arial"/>
              </a:rPr>
              <a:t> Harvard University    </a:t>
            </a:r>
            <a:r>
              <a:rPr sz="3920" b="0" spc="56" baseline="30000">
                <a:solidFill>
                  <a:srgbClr val="5A5A5A"/>
                </a:solidFill>
                <a:latin typeface="Arial"/>
              </a:rPr>
              <a:t>2</a:t>
            </a:r>
            <a:r>
              <a:rPr sz="2800" b="0" spc="56">
                <a:solidFill>
                  <a:srgbClr val="5A5A5A"/>
                </a:solidFill>
                <a:latin typeface="Arial"/>
              </a:rPr>
              <a:t> Imperial College London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15581" y="2048589"/>
            <a:ext cx="2582617" cy="1199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213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111111"/>
                </a:solidFill>
                <a:latin typeface="Arial"/>
              </a:rPr>
              <a:t>ICML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05793" y="3169840"/>
            <a:ext cx="1366781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 spc="328">
                <a:solidFill>
                  <a:srgbClr val="1C1C1C"/>
                </a:solidFill>
                <a:latin typeface="Arial"/>
              </a:rPr>
              <a:t>2023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861" y="6214526"/>
            <a:ext cx="106409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20542" y="6214526"/>
            <a:ext cx="13423150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53395" y="6214526"/>
            <a:ext cx="13423292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986386" y="6214526"/>
            <a:ext cx="10640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Ablation Study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8861" y="7281326"/>
            <a:ext cx="10640943" cy="521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 offline RL for </a:t>
            </a:r>
            <a:r>
              <a:rPr sz="4106" b="1">
                <a:solidFill>
                  <a:srgbClr val="111111"/>
                </a:solidFill>
                <a:latin typeface="Arial"/>
              </a:rPr>
              <a:t>healthcare and education</a:t>
            </a:r>
            <a:r>
              <a:rPr sz="4106" b="0">
                <a:solidFill>
                  <a:srgbClr val="1C1C1C"/>
                </a:solidFill>
                <a:latin typeface="Arial"/>
              </a:rPr>
              <a:t>, the transition dynamics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T</a:t>
            </a:r>
            <a:r>
              <a:rPr sz="4106" b="0">
                <a:solidFill>
                  <a:srgbClr val="1C1C1C"/>
                </a:solidFill>
                <a:latin typeface="Arial"/>
              </a:rPr>
              <a:t> must be estimated from a fixed batch of data. Standard </a:t>
            </a:r>
            <a:r>
              <a:rPr sz="4106" b="1">
                <a:solidFill>
                  <a:srgbClr val="111111"/>
                </a:solidFill>
                <a:latin typeface="Arial"/>
              </a:rPr>
              <a:t>MLE</a:t>
            </a:r>
            <a:r>
              <a:rPr sz="4106" b="0">
                <a:solidFill>
                  <a:srgbClr val="1C1C1C"/>
                </a:solidFill>
                <a:latin typeface="Arial"/>
              </a:rPr>
              <a:t> of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T</a:t>
            </a:r>
            <a:r>
              <a:rPr sz="4106" b="0">
                <a:solidFill>
                  <a:srgbClr val="1C1C1C"/>
                </a:solidFill>
                <a:latin typeface="Arial"/>
              </a:rPr>
              <a:t> yields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high-variance</a:t>
            </a:r>
            <a:r>
              <a:rPr sz="4106" b="0">
                <a:solidFill>
                  <a:srgbClr val="1C1C1C"/>
                </a:solidFill>
                <a:latin typeface="Arial"/>
              </a:rPr>
              <a:t> policies that take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unsafe actions</a:t>
            </a:r>
            <a:r>
              <a:rPr sz="4106" b="0">
                <a:solidFill>
                  <a:srgbClr val="1C1C1C"/>
                </a:solidFill>
                <a:latin typeface="Arial"/>
              </a:rPr>
              <a:t> wherever the data gives poor state–action coverage.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8861" y="12079287"/>
            <a:ext cx="10640943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Expert-only data leaves much of the state–action space unseen — no amount of it fills the gap.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986386" y="14764623"/>
            <a:ext cx="10640944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8861" y="15085635"/>
            <a:ext cx="106409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039726" y="20439082"/>
            <a:ext cx="1058600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039726" y="21921350"/>
            <a:ext cx="10586004" cy="3478546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Constraints + uncertainty also rank actions in uncertain states — better policies for high-stakes clinical planning.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641691" y="23410564"/>
            <a:ext cx="8229583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Closed-form policy value — the algebra the constraints are written on.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039726" y="25361642"/>
            <a:ext cx="10586004" cy="521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Clipping a Bayesian posterior over transition dynamics with </a:t>
            </a:r>
            <a:r>
              <a:rPr sz="4106" b="1">
                <a:solidFill>
                  <a:srgbClr val="111111"/>
                </a:solidFill>
                <a:latin typeface="Arial"/>
              </a:rPr>
              <a:t>expert-derived constraints</a:t>
            </a:r>
            <a:r>
              <a:rPr sz="4106" b="0">
                <a:solidFill>
                  <a:srgbClr val="1C1C1C"/>
                </a:solidFill>
                <a:latin typeface="Arial"/>
              </a:rPr>
              <a:t> gives gradient-free offline policies that are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provably safe</a:t>
            </a:r>
            <a:r>
              <a:rPr sz="4106" b="0">
                <a:solidFill>
                  <a:srgbClr val="1C1C1C"/>
                </a:solidFill>
                <a:latin typeface="Arial"/>
              </a:rPr>
              <a:t>, can </a:t>
            </a:r>
            <a:r>
              <a:rPr sz="4106" b="1">
                <a:solidFill>
                  <a:srgbClr val="111111"/>
                </a:solidFill>
                <a:latin typeface="Arial"/>
              </a:rPr>
              <a:t>outperform the very expert</a:t>
            </a:r>
            <a:r>
              <a:rPr sz="4106" b="0">
                <a:solidFill>
                  <a:srgbClr val="1C1C1C"/>
                </a:solidFill>
                <a:latin typeface="Arial"/>
              </a:rPr>
              <a:t> that generated the data, and carry far lower variance than MLE.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706449" y="26178132"/>
            <a:ext cx="12216182" cy="875228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The constraint pins each transition row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T</a:t>
            </a:r>
            <a:r>
              <a:rPr sz="3104" b="0" i="1" baseline="-25000">
                <a:solidFill>
                  <a:srgbClr val="555555"/>
                </a:solidFill>
                <a:latin typeface="Cambria Math"/>
              </a:rPr>
              <a:t>a*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so every expert action dominates the actions the expert never took.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120542" y="27261740"/>
            <a:ext cx="13423150" cy="2674882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Output is a </a:t>
            </a:r>
            <a:r>
              <a:rPr sz="4106" b="1">
                <a:solidFill>
                  <a:srgbClr val="111111"/>
                </a:solidFill>
                <a:latin typeface="Arial"/>
              </a:rPr>
              <a:t>distribution over dynamics</a:t>
            </a:r>
            <a:r>
              <a:rPr sz="4106" b="0">
                <a:solidFill>
                  <a:srgbClr val="38465C"/>
                </a:solidFill>
                <a:latin typeface="Arial"/>
              </a:rPr>
              <a:t>, every sample of which yields a safe, high-performing policy — not a single point estimate.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053395" y="27638176"/>
            <a:ext cx="13423292" cy="2331117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111111"/>
                </a:solidFill>
                <a:latin typeface="Arial"/>
              </a:rPr>
              <a:t>0 ± 0</a:t>
            </a:r>
            <a:r>
              <a:rPr sz="4024" b="1">
                <a:solidFill>
                  <a:srgbClr val="38465C"/>
                </a:solidFill>
                <a:latin typeface="Arial"/>
              </a:rPr>
              <a:t> Q*</a:t>
            </a:r>
            <a:r>
              <a:rPr sz="5634" b="1" baseline="-25000">
                <a:solidFill>
                  <a:srgbClr val="38465C"/>
                </a:solidFill>
                <a:latin typeface="Arial"/>
              </a:rPr>
              <a:t>metric</a:t>
            </a:r>
            <a:r>
              <a:rPr sz="4024" b="1">
                <a:solidFill>
                  <a:srgbClr val="38465C"/>
                </a:solidFill>
                <a:latin typeface="Arial"/>
              </a:rPr>
              <a:t> — dominates both baselines, never a bad mistake.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8861" y="28117819"/>
            <a:ext cx="10640943" cy="1895181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Exploit the expert signal directly — and without gradients.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241321" y="4573766"/>
            <a:ext cx="873034" cy="4252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1C1C1C"/>
                </a:solidFill>
                <a:latin typeface="Arial"/>
              </a:rPr>
              <a:t>Paper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120524" y="7333972"/>
            <a:ext cx="13423169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Key idea:</a:t>
            </a:r>
            <a:r>
              <a:rPr sz="4106" b="0">
                <a:solidFill>
                  <a:srgbClr val="1C1C1C"/>
                </a:solidFill>
                <a:latin typeface="Arial"/>
              </a:rPr>
              <a:t> a near-optimal expert's choices are informative </a:t>
            </a:r>
            <a:r>
              <a:rPr sz="4106" b="1">
                <a:solidFill>
                  <a:srgbClr val="111111"/>
                </a:solidFill>
                <a:latin typeface="Arial"/>
              </a:rPr>
              <a:t>constraints on the dynamics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T</a:t>
            </a:r>
            <a:r>
              <a:rPr sz="4106" b="0">
                <a:solidFill>
                  <a:srgbClr val="1C1C1C"/>
                </a:solidFill>
                <a:latin typeface="Arial"/>
              </a:rPr>
              <a:t> — recover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T</a:t>
            </a:r>
            <a:r>
              <a:rPr sz="4106" b="0">
                <a:solidFill>
                  <a:srgbClr val="1C1C1C"/>
                </a:solidFill>
                <a:latin typeface="Arial"/>
              </a:rPr>
              <a:t> without gradients.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475892" y="8284924"/>
            <a:ext cx="9760755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More data does </a:t>
            </a:r>
            <a:r>
              <a:rPr sz="4106" b="1">
                <a:solidFill>
                  <a:srgbClr val="111111"/>
                </a:solidFill>
                <a:latin typeface="Arial"/>
              </a:rPr>
              <a:t>not</a:t>
            </a:r>
            <a:r>
              <a:rPr sz="4106" b="0">
                <a:solidFill>
                  <a:srgbClr val="1C1C1C"/>
                </a:solidFill>
                <a:latin typeface="Arial"/>
              </a:rPr>
              <a:t> rescue MLE — even at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K</a:t>
            </a:r>
            <a:r>
              <a:rPr sz="4106" b="0">
                <a:solidFill>
                  <a:srgbClr val="1C1C1C"/>
                </a:solidFill>
                <a:latin typeface="Arial"/>
              </a:rPr>
              <a:t>=300 episodes it keeps making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bad mistakes</a:t>
            </a:r>
            <a:r>
              <a:rPr sz="4106" b="0">
                <a:solidFill>
                  <a:srgbClr val="1C1C1C"/>
                </a:solidFill>
                <a:latin typeface="Arial"/>
              </a:rPr>
              <a:t> (actions outside the ε-ball).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120524" y="9785111"/>
            <a:ext cx="13423169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Separate constraint sets handle a fully-optimal vs. a sub-optimal (stochastic) expert; a per-(s,a) slack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δ</a:t>
            </a:r>
            <a:r>
              <a:rPr sz="4106" b="0">
                <a:solidFill>
                  <a:srgbClr val="1C1C1C"/>
                </a:solidFill>
                <a:latin typeface="Arial"/>
              </a:rPr>
              <a:t> enforces the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ε-ball</a:t>
            </a:r>
            <a:r>
              <a:rPr sz="4106" b="0">
                <a:solidFill>
                  <a:srgbClr val="1C1C1C"/>
                </a:solidFill>
                <a:latin typeface="Arial"/>
              </a:rPr>
              <a:t> property (Algorithm 1).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986368" y="10709949"/>
            <a:ext cx="10640962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Sweeping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ε</a:t>
            </a:r>
            <a:r>
              <a:rPr sz="4106" b="0">
                <a:solidFill>
                  <a:srgbClr val="1C1C1C"/>
                </a:solidFill>
                <a:latin typeface="Arial"/>
              </a:rPr>
              <a:t>=0/3/4 confirms the method holds across expert optimality — recovering policies that can </a:t>
            </a:r>
            <a:r>
              <a:rPr sz="4106" b="1">
                <a:solidFill>
                  <a:srgbClr val="111111"/>
                </a:solidFill>
                <a:latin typeface="Arial"/>
              </a:rPr>
              <a:t>beat the expert</a:t>
            </a:r>
            <a:r>
              <a:rPr sz="4106" b="0">
                <a:solidFill>
                  <a:srgbClr val="1C1C1C"/>
                </a:solidFill>
                <a:latin typeface="Arial"/>
              </a:rPr>
              <a:t> at near-zero variance.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120524" y="12236251"/>
            <a:ext cx="13423169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Because no sampled policy ever proposes an action outside the expert's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ε</a:t>
            </a:r>
            <a:r>
              <a:rPr sz="4106" b="0">
                <a:solidFill>
                  <a:srgbClr val="1C1C1C"/>
                </a:solidFill>
                <a:latin typeface="Arial"/>
              </a:rPr>
              <a:t>-ball, every one is </a:t>
            </a:r>
            <a:r>
              <a:rPr sz="4106" b="1">
                <a:solidFill>
                  <a:srgbClr val="111111"/>
                </a:solidFill>
                <a:latin typeface="Arial"/>
              </a:rPr>
              <a:t>provably safe</a:t>
            </a:r>
            <a:r>
              <a:rPr sz="4106" b="0">
                <a:solidFill>
                  <a:srgbClr val="1C1C1C"/>
                </a:solidFill>
                <a:latin typeface="Arial"/>
              </a:rPr>
              <a:t>, and the whole method runs </a:t>
            </a:r>
            <a:r>
              <a:rPr sz="4106" b="1">
                <a:solidFill>
                  <a:srgbClr val="111111"/>
                </a:solidFill>
                <a:latin typeface="Arial"/>
              </a:rPr>
              <a:t>gradient-free</a:t>
            </a:r>
            <a:r>
              <a:rPr sz="4106" b="0">
                <a:solidFill>
                  <a:srgbClr val="1C1C1C"/>
                </a:solidFill>
                <a:latin typeface="Arial"/>
              </a:rPr>
              <a:t> from start to finish.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082685" y="15496242"/>
            <a:ext cx="12432143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Take</a:t>
            </a:r>
            <a:r>
              <a:rPr sz="4106" b="0">
                <a:solidFill>
                  <a:srgbClr val="1C1C1C"/>
                </a:solidFill>
                <a:latin typeface="Arial"/>
              </a:rPr>
              <a:t> an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ε</a:t>
            </a:r>
            <a:r>
              <a:rPr sz="4106" b="0">
                <a:solidFill>
                  <a:srgbClr val="1C1C1C"/>
                </a:solidFill>
                <a:latin typeface="Arial"/>
              </a:rPr>
              <a:t>-optimal expert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π</a:t>
            </a:r>
            <a:r>
              <a:rPr sz="5749" b="0" i="1" baseline="-25000">
                <a:solidFill>
                  <a:srgbClr val="1C1C1C"/>
                </a:solidFill>
                <a:latin typeface="Arial"/>
              </a:rPr>
              <a:t>ε</a:t>
            </a:r>
            <a:r>
              <a:rPr sz="4106" b="0">
                <a:solidFill>
                  <a:srgbClr val="1C1C1C"/>
                </a:solidFill>
                <a:latin typeface="Arial"/>
              </a:rPr>
              <a:t> and batch data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D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8842" y="16295370"/>
            <a:ext cx="10640962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users who generate offline trajectories — </a:t>
            </a:r>
            <a:r>
              <a:rPr sz="4106" b="1">
                <a:solidFill>
                  <a:srgbClr val="111111"/>
                </a:solidFill>
                <a:latin typeface="Arial"/>
              </a:rPr>
              <a:t>clinicians, teachers</a:t>
            </a:r>
            <a:r>
              <a:rPr sz="4106" b="0">
                <a:solidFill>
                  <a:srgbClr val="1C1C1C"/>
                </a:solidFill>
                <a:latin typeface="Arial"/>
              </a:rPr>
              <a:t> — are usually </a:t>
            </a:r>
            <a:r>
              <a:rPr sz="4106" b="1">
                <a:solidFill>
                  <a:srgbClr val="111111"/>
                </a:solidFill>
                <a:latin typeface="Arial"/>
              </a:rPr>
              <a:t>near-optimal</a:t>
            </a:r>
            <a:r>
              <a:rPr sz="4106" b="0">
                <a:solidFill>
                  <a:srgbClr val="1C1C1C"/>
                </a:solidFill>
                <a:latin typeface="Arial"/>
              </a:rPr>
              <a:t>, so their choices encode which actions are good.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082685" y="16687641"/>
            <a:ext cx="12432143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Constrain:</a:t>
            </a:r>
            <a:r>
              <a:rPr sz="4106" b="0">
                <a:solidFill>
                  <a:srgbClr val="1C1C1C"/>
                </a:solidFill>
                <a:latin typeface="Arial"/>
              </a:rPr>
              <a:t> closed-form Bellman ⇒ expert actions out-value the actions never taken.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082685" y="18609270"/>
            <a:ext cx="12432143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Model:</a:t>
            </a:r>
            <a:r>
              <a:rPr sz="4106" b="0">
                <a:solidFill>
                  <a:srgbClr val="1C1C1C"/>
                </a:solidFill>
                <a:latin typeface="Arial"/>
              </a:rPr>
              <a:t> place a </a:t>
            </a:r>
            <a:r>
              <a:rPr sz="4106" b="1">
                <a:solidFill>
                  <a:srgbClr val="111111"/>
                </a:solidFill>
                <a:latin typeface="Arial"/>
              </a:rPr>
              <a:t>Dirichlet–Multinomial</a:t>
            </a:r>
            <a:r>
              <a:rPr sz="4106" b="0">
                <a:solidFill>
                  <a:srgbClr val="1C1C1C"/>
                </a:solidFill>
                <a:latin typeface="Arial"/>
              </a:rPr>
              <a:t> posterior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P(T | D)</a:t>
            </a:r>
            <a:r>
              <a:rPr sz="4106" b="0">
                <a:solidFill>
                  <a:srgbClr val="1C1C1C"/>
                </a:solidFill>
                <a:latin typeface="Arial"/>
              </a:rPr>
              <a:t> over the dynamics.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8842" y="19502715"/>
            <a:ext cx="10640962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plain MLE of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T</a:t>
            </a:r>
            <a:r>
              <a:rPr sz="4106" b="0">
                <a:solidFill>
                  <a:srgbClr val="1C1C1C"/>
                </a:solidFill>
                <a:latin typeface="Arial"/>
              </a:rPr>
              <a:t> throws that signal away; prior gradient-based inverse RL recovers an expert's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belief</a:t>
            </a:r>
            <a:r>
              <a:rPr sz="4106" b="0">
                <a:solidFill>
                  <a:srgbClr val="1C1C1C"/>
                </a:solidFill>
                <a:latin typeface="Arial"/>
              </a:rPr>
              <a:t> of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T</a:t>
            </a:r>
            <a:r>
              <a:rPr sz="4106" b="0">
                <a:solidFill>
                  <a:srgbClr val="1C1C1C"/>
                </a:solidFill>
                <a:latin typeface="Arial"/>
              </a:rPr>
              <a:t>, yet never relates that estimate back to the true dynamics.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082685" y="20530899"/>
            <a:ext cx="12432143" cy="1942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Clip:</a:t>
            </a:r>
            <a:r>
              <a:rPr sz="4106" b="0">
                <a:solidFill>
                  <a:srgbClr val="1C1C1C"/>
                </a:solidFill>
                <a:latin typeface="Arial"/>
              </a:rPr>
              <a:t> rejection-sample, keep only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T</a:t>
            </a:r>
            <a:r>
              <a:rPr sz="4106" b="0">
                <a:solidFill>
                  <a:srgbClr val="1C1C1C"/>
                </a:solidFill>
                <a:latin typeface="Arial"/>
              </a:rPr>
              <a:t> meeting the constraints →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P(T | D, π</a:t>
            </a:r>
            <a:r>
              <a:rPr sz="5749" b="0" i="1" baseline="-25000">
                <a:solidFill>
                  <a:srgbClr val="1C1C1C"/>
                </a:solidFill>
                <a:latin typeface="Arial"/>
              </a:rPr>
              <a:t>ε</a:t>
            </a:r>
            <a:r>
              <a:rPr sz="4106" b="0" i="1">
                <a:solidFill>
                  <a:srgbClr val="1C1C1C"/>
                </a:solidFill>
                <a:latin typeface="Arial"/>
              </a:rPr>
              <a:t>)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5847" y="22852995"/>
            <a:ext cx="800209" cy="869635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38465C"/>
                </a:solidFill>
                <a:latin typeface="Arial"/>
              </a:rPr>
              <a:t>vs.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574710" y="25454987"/>
            <a:ext cx="12349383" cy="20015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Q*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metric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across 1000 datasets (ε∈{0,3,4} × low/high data). Ours </a:t>
            </a:r>
            <a:r>
              <a:rPr sz="3367" b="1" i="1">
                <a:solidFill>
                  <a:srgbClr val="111111"/>
                </a:solidFill>
                <a:latin typeface="Arial"/>
              </a:rPr>
              <a:t>(red)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hugs zero; MLE (blue) and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P(T|D)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(orange) stay high and noisy.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232250" y="16278006"/>
            <a:ext cx="5084543" cy="1553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8465C"/>
                </a:solidFill>
                <a:latin typeface="Arial"/>
              </a:rPr>
              <a:t>0 ± 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232250" y="17652900"/>
            <a:ext cx="5084543" cy="13003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Q*</a:t>
            </a:r>
            <a:r>
              <a:rPr sz="5226" b="1" baseline="-25000">
                <a:solidFill>
                  <a:srgbClr val="1C1C1C"/>
                </a:solidFill>
                <a:latin typeface="Arial"/>
              </a:rPr>
              <a:t>metric</a:t>
            </a:r>
            <a:r>
              <a:rPr sz="3733" b="1">
                <a:solidFill>
                  <a:srgbClr val="1C1C1C"/>
                </a:solidFill>
                <a:latin typeface="Arial"/>
              </a:rPr>
              <a:t> at ε=0 (low &amp; high)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232250" y="18783597"/>
            <a:ext cx="5084543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 MLE 59.75 · P(T|D) 142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32363" y="23070383"/>
            <a:ext cx="4284477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PLAIN MLE OF 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16546" y="23070383"/>
            <a:ext cx="4284619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ITL (OURS)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32363" y="23715741"/>
            <a:ext cx="4284477" cy="43481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Ignores the expert; high variance; unsafe where data is thin.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16546" y="23715741"/>
            <a:ext cx="4284619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Turns the near-optimal expert into gradient-free constraints on T.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053395" y="7425233"/>
            <a:ext cx="5416044" cy="88672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METHOD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1311691" y="7425233"/>
            <a:ext cx="3689005" cy="88672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Q*</a:t>
            </a:r>
            <a:r>
              <a:rPr sz="4096" b="1" spc="146" baseline="-25000">
                <a:solidFill>
                  <a:srgbClr val="555555"/>
                </a:solidFill>
                <a:latin typeface="Arial"/>
              </a:rPr>
              <a:t>METRIC</a:t>
            </a:r>
            <a:r>
              <a:rPr sz="2926" b="1" spc="146">
                <a:solidFill>
                  <a:srgbClr val="555555"/>
                </a:solidFill>
                <a:latin typeface="Arial"/>
              </a:rPr>
              <a:t> Ε=0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893250" y="7425233"/>
            <a:ext cx="4318242" cy="88672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DET-STATE ACC.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6053395" y="8196302"/>
            <a:ext cx="541604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MLE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1311691" y="8196302"/>
            <a:ext cx="3689005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59.75 ±52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893250" y="8196302"/>
            <a:ext cx="431824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67–92%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6053395" y="9141420"/>
            <a:ext cx="5416044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 i="1">
                <a:solidFill>
                  <a:srgbClr val="1C1C1C"/>
                </a:solidFill>
                <a:latin typeface="Arial"/>
              </a:rPr>
              <a:t>P(T | D)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1311691" y="9141420"/>
            <a:ext cx="3689005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142.17 ±8.7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4893250" y="9141420"/>
            <a:ext cx="431824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6053395" y="10086538"/>
            <a:ext cx="5416044" cy="117538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 i="1">
                <a:solidFill>
                  <a:srgbClr val="1C1C1C"/>
                </a:solidFill>
                <a:latin typeface="Arial"/>
              </a:rPr>
              <a:t>P(T | D, π</a:t>
            </a:r>
            <a:r>
              <a:rPr sz="5461" b="1" i="1" baseline="-25000">
                <a:solidFill>
                  <a:srgbClr val="1C1C1C"/>
                </a:solidFill>
                <a:latin typeface="Arial"/>
              </a:rPr>
              <a:t>ε</a:t>
            </a:r>
            <a:r>
              <a:rPr sz="3901" b="1" i="1">
                <a:solidFill>
                  <a:srgbClr val="1C1C1C"/>
                </a:solidFill>
                <a:latin typeface="Arial"/>
              </a:rPr>
              <a:t>)</a:t>
            </a:r>
            <a:r>
              <a:rPr sz="3901" b="1">
                <a:solidFill>
                  <a:srgbClr val="1C1C1C"/>
                </a:solidFill>
                <a:latin typeface="Arial"/>
              </a:rPr>
              <a:t> (Ours)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1311691" y="10086538"/>
            <a:ext cx="3689005" cy="1175382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0 ±0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4893250" y="10086538"/>
            <a:ext cx="4318242" cy="1175382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100%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6220637" y="15994360"/>
            <a:ext cx="141385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100%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7775832" y="16127710"/>
            <a:ext cx="2364574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det-state accuracy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220637" y="17241877"/>
            <a:ext cx="107061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8.79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7442596" y="17375227"/>
            <a:ext cx="2707807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Q* ε=4 high data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220637" y="18489394"/>
            <a:ext cx="609350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±0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6994762" y="18622744"/>
            <a:ext cx="3169076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policy std (MLE ±52)</a:t>
            </a:r>
          </a:p>
        </p:txBody>
      </p:sp>
      <p:pic>
        <p:nvPicPr>
          <p:cNvPr id="132" name="Picture 131" descr="eq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22624" y="22498645"/>
            <a:ext cx="10827881" cy="800100"/>
          </a:xfrm>
          <a:prstGeom prst="rect">
            <a:avLst/>
          </a:prstGeom>
        </p:spPr>
      </p:pic>
      <p:pic>
        <p:nvPicPr>
          <p:cNvPr id="133" name="Picture 132" descr="eq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10955" y="24293175"/>
            <a:ext cx="8651220" cy="17731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
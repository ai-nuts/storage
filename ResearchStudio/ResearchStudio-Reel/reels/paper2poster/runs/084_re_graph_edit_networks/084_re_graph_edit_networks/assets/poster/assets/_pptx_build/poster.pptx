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352641"/>
          </a:xfrm>
          <a:prstGeom prst="roundRect">
            <a:avLst>
              <a:gd name="adj" fmla="val 4242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525982"/>
            <a:ext cx="16349682" cy="7995583"/>
          </a:xfrm>
          <a:prstGeom prst="roundRect">
            <a:avLst>
              <a:gd name="adj" fmla="val 103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4525982"/>
            <a:ext cx="16349682" cy="16449556"/>
          </a:xfrm>
          <a:prstGeom prst="roundRect">
            <a:avLst>
              <a:gd name="adj" fmla="val 50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4525982"/>
            <a:ext cx="16349821" cy="17221041"/>
          </a:xfrm>
          <a:prstGeom prst="roundRect">
            <a:avLst>
              <a:gd name="adj" fmla="val 50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2853412"/>
            <a:ext cx="16349682" cy="5653484"/>
          </a:xfrm>
          <a:prstGeom prst="roundRect">
            <a:avLst>
              <a:gd name="adj" fmla="val 146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8838743"/>
            <a:ext cx="16349682" cy="11233209"/>
          </a:xfrm>
          <a:prstGeom prst="roundRect">
            <a:avLst>
              <a:gd name="adj" fmla="val 738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428289" y="21307385"/>
            <a:ext cx="16349682" cy="8764567"/>
          </a:xfrm>
          <a:prstGeom prst="roundRect">
            <a:avLst>
              <a:gd name="adj" fmla="val 946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04691" y="22078870"/>
            <a:ext cx="16349821" cy="7993082"/>
          </a:xfrm>
          <a:prstGeom prst="roundRect">
            <a:avLst>
              <a:gd name="adj" fmla="val 1038"/>
            </a:avLst>
          </a:prstGeom>
          <a:solidFill>
            <a:srgbClr val="F6ECF1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04691" y="22078870"/>
            <a:ext cx="53340" cy="7993082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9991" y="4914086"/>
            <a:ext cx="3442791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816393" y="4914086"/>
            <a:ext cx="3125391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92795" y="4914086"/>
            <a:ext cx="4668639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991" y="9713714"/>
            <a:ext cx="15573474" cy="2159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991" y="9713714"/>
            <a:ext cx="124460" cy="2159019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9991" y="13241516"/>
            <a:ext cx="6841827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816393" y="13613229"/>
            <a:ext cx="15573474" cy="1464627"/>
          </a:xfrm>
          <a:prstGeom prst="roundRect">
            <a:avLst>
              <a:gd name="adj" fmla="val 15383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9991" y="14486116"/>
            <a:ext cx="15573474" cy="3632676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39991" y="19226847"/>
            <a:ext cx="4153019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816393" y="21695489"/>
            <a:ext cx="7633315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637245" y="22466974"/>
            <a:ext cx="3905350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637245" y="27264102"/>
            <a:ext cx="15529163" cy="2159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637245" y="27264102"/>
            <a:ext cx="124460" cy="2159019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university-of-ljublj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2268" y="2573245"/>
            <a:ext cx="2848550" cy="107567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4592795" y="8800822"/>
            <a:ext cx="3697824" cy="1994832"/>
          </a:xfrm>
          <a:prstGeom prst="roundRect">
            <a:avLst>
              <a:gd name="adj" fmla="val 13072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551346" y="8800822"/>
            <a:ext cx="3697962" cy="1994832"/>
          </a:xfrm>
          <a:prstGeom prst="roundRect">
            <a:avLst>
              <a:gd name="adj" fmla="val 13072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510035" y="8800822"/>
            <a:ext cx="3697823" cy="1994832"/>
          </a:xfrm>
          <a:prstGeom prst="roundRect">
            <a:avLst>
              <a:gd name="adj" fmla="val 13072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468585" y="8800822"/>
            <a:ext cx="3697823" cy="1994832"/>
          </a:xfrm>
          <a:prstGeom prst="roundRect">
            <a:avLst>
              <a:gd name="adj" fmla="val 13072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851300" y="11490880"/>
            <a:ext cx="15056465" cy="8032671"/>
          </a:xfrm>
          <a:prstGeom prst="roundRect">
            <a:avLst>
              <a:gd name="adj" fmla="val 44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age8_figur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1393" y="11490880"/>
            <a:ext cx="15056279" cy="8032671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0714533" y="14708366"/>
            <a:ext cx="5653068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14533" y="14708366"/>
            <a:ext cx="11557" cy="3235682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816393" y="15906154"/>
            <a:ext cx="15573474" cy="3401675"/>
          </a:xfrm>
          <a:prstGeom prst="roundRect">
            <a:avLst>
              <a:gd name="adj" fmla="val 104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age5_figur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6417" y="15906154"/>
            <a:ext cx="15573426" cy="3401675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058187" y="24539317"/>
            <a:ext cx="15536942" cy="3865066"/>
          </a:xfrm>
          <a:prstGeom prst="roundRect">
            <a:avLst>
              <a:gd name="adj" fmla="val 92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age4_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383" y="24539317"/>
            <a:ext cx="15536550" cy="3865066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7816393" y="27887791"/>
            <a:ext cx="2877304" cy="819824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Edit Cycles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850105" y="27887791"/>
            <a:ext cx="3320693" cy="819824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Degree Rules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327207" y="27887791"/>
            <a:ext cx="3172202" cy="819824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Game of Life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655817" y="27887791"/>
            <a:ext cx="4354433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Boolean Formulae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816393" y="28864024"/>
            <a:ext cx="3721576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Peano Addition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694378" y="28864024"/>
            <a:ext cx="3295550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arXiv HEP-Th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15581" y="1007487"/>
            <a:ext cx="41821338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7D2860"/>
                </a:solidFill>
                <a:latin typeface="Arial"/>
              </a:rPr>
              <a:t>[Re] Graph Edit Networks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15581" y="2363350"/>
            <a:ext cx="41821338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Vid Stropnik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Maruša Oražem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15581" y="3063577"/>
            <a:ext cx="41821338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Faculty of Computer &amp; Information Science, University of Ljubljana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611006" y="1149727"/>
            <a:ext cx="6175191" cy="11463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849"/>
              </a:lnSpc>
              <a:spcBef>
                <a:spcPts val="0"/>
              </a:spcBef>
              <a:spcAft>
                <a:spcPts val="0"/>
              </a:spcAft>
            </a:pPr>
            <a:r>
              <a:rPr sz="5413" b="1" spc="54">
                <a:solidFill>
                  <a:srgbClr val="7D2860"/>
                </a:solidFill>
                <a:latin typeface="Arial"/>
              </a:rPr>
              <a:t>ReScience C 2022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9991" y="4914086"/>
            <a:ext cx="354607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816393" y="4914086"/>
            <a:ext cx="3219152" cy="1063244"/>
          </a:xfrm>
          <a:prstGeom prst="rect">
            <a:avLst/>
          </a:prstGeom>
          <a:noFill/>
        </p:spPr>
        <p:txBody>
          <a:bodyPr wrap="non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92795" y="4914086"/>
            <a:ext cx="480869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9991" y="6293425"/>
            <a:ext cx="1600019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Predicting how a graph </a:t>
            </a:r>
            <a:r>
              <a:rPr sz="4106" b="1">
                <a:solidFill>
                  <a:srgbClr val="111111"/>
                </a:solidFill>
                <a:latin typeface="Arial"/>
              </a:rPr>
              <a:t>evolves over time</a:t>
            </a:r>
            <a:r>
              <a:rPr sz="4106" b="0">
                <a:solidFill>
                  <a:srgbClr val="1C1C1C"/>
                </a:solidFill>
                <a:latin typeface="Arial"/>
              </a:rPr>
              <a:t> is hard: most graph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neural networks output node or edge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scores</a:t>
            </a:r>
            <a:r>
              <a:rPr sz="4106" b="0">
                <a:solidFill>
                  <a:srgbClr val="1C1C1C"/>
                </a:solidFill>
                <a:latin typeface="Arial"/>
              </a:rPr>
              <a:t>, not the explicit,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interpretable</a:t>
            </a:r>
            <a:r>
              <a:rPr sz="4106" b="0">
                <a:solidFill>
                  <a:srgbClr val="1C1C1C"/>
                </a:solidFill>
                <a:latin typeface="Arial"/>
              </a:rPr>
              <a:t> sequence of structural changes needed to turn one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graph into the next.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592795" y="6593185"/>
            <a:ext cx="1600033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Re-running GEN against a modified VGAE re-checks the paper’s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four original claims</a:t>
            </a:r>
            <a:r>
              <a:rPr sz="4106" b="0">
                <a:solidFill>
                  <a:srgbClr val="1C1C1C"/>
                </a:solidFill>
                <a:latin typeface="Arial"/>
              </a:rPr>
              <a:t>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9991" y="9713714"/>
            <a:ext cx="16000194" cy="24828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Graph Edit Networks (GEN) emit an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edit script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instead — but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the original claims rest on lightly-described synthetic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benchmarks and untested scaling arguments.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9991" y="13241516"/>
            <a:ext cx="7047081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611617" y="14628217"/>
            <a:ext cx="12342516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each edit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is one insert / delete / relabel op; the ordered script is applied under a Markovian assumption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9991" y="19226847"/>
            <a:ext cx="42776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816393" y="21695489"/>
            <a:ext cx="786231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637245" y="22466974"/>
            <a:ext cx="4022510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637245" y="23845063"/>
            <a:ext cx="15955883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Graph Edit Networks are </a:t>
            </a:r>
            <a:r>
              <a:rPr sz="4106" b="1">
                <a:solidFill>
                  <a:srgbClr val="111111"/>
                </a:solidFill>
                <a:latin typeface="Arial"/>
              </a:rPr>
              <a:t>reproducible, elegant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interpretable</a:t>
            </a:r>
            <a:r>
              <a:rPr sz="4106" b="0">
                <a:solidFill>
                  <a:srgbClr val="1C1C1C"/>
                </a:solidFill>
                <a:latin typeface="Arial"/>
              </a:rPr>
              <a:t>, and most original claims hold — but backward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passes scale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super-linearly</a:t>
            </a:r>
            <a:r>
              <a:rPr sz="4106" b="0">
                <a:solidFill>
                  <a:srgbClr val="1C1C1C"/>
                </a:solidFill>
                <a:latin typeface="Arial"/>
              </a:rPr>
              <a:t>, not linearly, and several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benchmarks reward memorisation over true expressive power.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637245" y="27264102"/>
            <a:ext cx="15955883" cy="24828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Beyond the verdict, the reproduction’s careful documentation of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the five data generators is a lasting contribution for anyone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reusing these tasks.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816375" y="6674445"/>
            <a:ext cx="15925897" cy="33041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GEN is an </a:t>
            </a:r>
            <a:r>
              <a:rPr sz="4106" b="1">
                <a:solidFill>
                  <a:srgbClr val="111111"/>
                </a:solidFill>
                <a:latin typeface="Arial"/>
              </a:rPr>
              <a:t>output layer</a:t>
            </a:r>
            <a:r>
              <a:rPr sz="4106" b="0">
                <a:solidFill>
                  <a:srgbClr val="1C1C1C"/>
                </a:solidFill>
                <a:latin typeface="Arial"/>
              </a:rPr>
              <a:t> for GNNs: given the current graph and a teaching signal from a reference mapping, it predicts an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edit script</a:t>
            </a:r>
            <a:r>
              <a:rPr sz="4106" b="0">
                <a:solidFill>
                  <a:srgbClr val="1C1C1C"/>
                </a:solidFill>
                <a:latin typeface="Arial"/>
              </a:rPr>
              <a:t> — node insertions, deletions and replacements plus edge insertions/deletions — that transforms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into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816375" y="9838312"/>
            <a:ext cx="16000212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Reference pair mappings come from </a:t>
            </a:r>
            <a:r>
              <a:rPr sz="4106" b="1">
                <a:solidFill>
                  <a:srgbClr val="111111"/>
                </a:solidFill>
                <a:latin typeface="Arial"/>
              </a:rPr>
              <a:t>graph-edit-distance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approximators</a:t>
            </a:r>
            <a:r>
              <a:rPr sz="4106" b="0">
                <a:solidFill>
                  <a:srgbClr val="1C1C1C"/>
                </a:solidFill>
                <a:latin typeface="Arial"/>
              </a:rPr>
              <a:t> (exact distance is NP-hard); the reproduction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trains adapted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hinge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cross-entropy</a:t>
            </a:r>
            <a:r>
              <a:rPr sz="4106" b="0">
                <a:solidFill>
                  <a:srgbClr val="1C1C1C"/>
                </a:solidFill>
                <a:latin typeface="Arial"/>
              </a:rPr>
              <a:t> loss variants with flexible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/ fixed edge filtering, against a modified VGAE baseline.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439387" y="19457431"/>
            <a:ext cx="14754206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Boolean Formulae DGP: each step applies a δ edit script that logically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simplifies the graph — the interpretable output GEN predicts.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453597" y="19673153"/>
            <a:ext cx="14267426" cy="191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Runtime vs graph node count (log-log). Forward passes scale sub-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quadratically; constant-filtering backward passes are clearly super-linear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— refuting the linear-scaling claim (iv).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9972" y="20680084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original GEN paper reports </a:t>
            </a:r>
            <a:r>
              <a:rPr sz="4106" b="1">
                <a:solidFill>
                  <a:srgbClr val="111111"/>
                </a:solidFill>
                <a:latin typeface="Arial"/>
              </a:rPr>
              <a:t>wins over every baseline</a:t>
            </a:r>
            <a:r>
              <a:rPr sz="4106" b="0">
                <a:solidFill>
                  <a:srgbClr val="1C1C1C"/>
                </a:solidFill>
                <a:latin typeface="Arial"/>
              </a:rPr>
              <a:t>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perfect tree-task accuracy, and favourable scaling.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9972" y="22375018"/>
            <a:ext cx="16000213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But its synthetic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data generators</a:t>
            </a:r>
            <a:r>
              <a:rPr sz="4106" b="0">
                <a:solidFill>
                  <a:srgbClr val="1C1C1C"/>
                </a:solidFill>
                <a:latin typeface="Arial"/>
              </a:rPr>
              <a:t> and runtime claims were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never described in enough detail to verify independently.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816375" y="22940089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Five synthetic DGPs</a:t>
            </a:r>
            <a:r>
              <a:rPr sz="4106" b="0">
                <a:solidFill>
                  <a:srgbClr val="1C1C1C"/>
                </a:solidFill>
                <a:latin typeface="Arial"/>
              </a:rPr>
              <a:t>, exhaustively documented for the first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time: three dynamical graph systems + two tree dynamical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systems.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816375" y="25480129"/>
            <a:ext cx="14651294" cy="24560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Scaling stress-tested on the </a:t>
            </a:r>
            <a:r>
              <a:rPr sz="4106" b="1">
                <a:solidFill>
                  <a:srgbClr val="111111"/>
                </a:solidFill>
                <a:latin typeface="Arial"/>
              </a:rPr>
              <a:t>arXiv HEP-Th</a:t>
            </a:r>
            <a:r>
              <a:rPr sz="4106" b="0">
                <a:solidFill>
                  <a:srgbClr val="1C1C1C"/>
                </a:solidFill>
                <a:latin typeface="Arial"/>
              </a:rPr>
              <a:t> citation network (</a:t>
            </a:r>
            <a:r>
              <a:rPr sz="4353" b="1">
                <a:solidFill>
                  <a:srgbClr val="111111"/>
                </a:solidFill>
                <a:latin typeface="Arial"/>
              </a:rPr>
              <a:t>27,700</a:t>
            </a:r>
            <a:r>
              <a:rPr sz="4106" b="0">
                <a:solidFill>
                  <a:srgbClr val="1C1C1C"/>
                </a:solidFill>
                <a:latin typeface="Arial"/>
              </a:rPr>
              <a:t> papers → 1,554 rolling sub-graphs,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79654" y="28553985"/>
            <a:ext cx="14720590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Edit Cycles DGP: three cyclical graph time series, each transition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annotated with its edit script δ̄.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801294" y="8957230"/>
            <a:ext cx="3379250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759844" y="8957230"/>
            <a:ext cx="3379394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718533" y="8957230"/>
            <a:ext cx="337925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7D2860"/>
                </a:solidFill>
                <a:latin typeface="Arial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677083" y="8957230"/>
            <a:ext cx="337925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AE2622"/>
                </a:solidFill>
                <a:latin typeface="Arial"/>
              </a:rPr>
              <a:t>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801294" y="9859426"/>
            <a:ext cx="3379250" cy="896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(i) beats VGAE on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dynamical DGPs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759844" y="9859426"/>
            <a:ext cx="3379394" cy="896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(ii) near-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perfect on trees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718533" y="9859426"/>
            <a:ext cx="3379251" cy="896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(iii) forward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sub-quadratic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677083" y="9859426"/>
            <a:ext cx="3379251" cy="896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(iv) backward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 i="1">
                <a:solidFill>
                  <a:srgbClr val="555555"/>
                </a:solidFill>
                <a:latin typeface="Arial"/>
              </a:rPr>
              <a:t>linear</a:t>
            </a:r>
            <a:r>
              <a:rPr sz="2669" b="0">
                <a:solidFill>
                  <a:srgbClr val="555555"/>
                </a:solidFill>
                <a:latin typeface="Arial"/>
              </a:rPr>
              <a:t> — refuted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85855" y="14708366"/>
            <a:ext cx="9120644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1.69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85855" y="16083260"/>
            <a:ext cx="9120644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Backward-pass log-log slope (constant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filtering)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85855" y="17126168"/>
            <a:ext cx="9120644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Super-linear — refutes the ‘linear backward pass’ claim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(iv); forward passes stay sub-quadratic.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92787" y="14708366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1.38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414746" y="14841716"/>
            <a:ext cx="380646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Forward slope (flexible)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192787" y="15582364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1.30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414746" y="15715714"/>
            <a:ext cx="407144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Backward slope (flexible)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192787" y="16456501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0.98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414746" y="16589851"/>
            <a:ext cx="211777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Boolean acc.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192787" y="17330638"/>
            <a:ext cx="76386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1.0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16931" y="17463988"/>
            <a:ext cx="183262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Peano acc.</a:t>
            </a:r>
          </a:p>
        </p:txBody>
      </p:sp>
      <p:pic>
        <p:nvPicPr>
          <p:cNvPr id="88" name="Picture 87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92601" y="8863052"/>
            <a:ext cx="689392" cy="737870"/>
          </a:xfrm>
          <a:prstGeom prst="rect">
            <a:avLst/>
          </a:prstGeom>
        </p:spPr>
      </p:pic>
      <p:pic>
        <p:nvPicPr>
          <p:cNvPr id="89" name="Picture 88" descr="eq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12551" y="8863052"/>
            <a:ext cx="1258351" cy="737870"/>
          </a:xfrm>
          <a:prstGeom prst="rect">
            <a:avLst/>
          </a:prstGeom>
        </p:spPr>
      </p:pic>
      <p:pic>
        <p:nvPicPr>
          <p:cNvPr id="90" name="Picture 89" descr="eq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49222" y="13698517"/>
            <a:ext cx="10307816" cy="800100"/>
          </a:xfrm>
          <a:prstGeom prst="rect">
            <a:avLst/>
          </a:prstGeom>
        </p:spPr>
      </p:pic>
      <p:pic>
        <p:nvPicPr>
          <p:cNvPr id="91" name="Picture 90" descr="eq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06199" y="14565987"/>
            <a:ext cx="260866" cy="400050"/>
          </a:xfrm>
          <a:prstGeom prst="rect">
            <a:avLst/>
          </a:prstGeom>
        </p:spPr>
      </p:pic>
      <p:pic>
        <p:nvPicPr>
          <p:cNvPr id="92" name="Picture 91" descr="eq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89419" y="26156324"/>
            <a:ext cx="4637385" cy="7378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
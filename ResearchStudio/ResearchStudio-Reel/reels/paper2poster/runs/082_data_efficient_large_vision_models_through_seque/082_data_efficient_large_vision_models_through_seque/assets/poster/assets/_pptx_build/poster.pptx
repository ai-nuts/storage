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104957"/>
          </a:xfrm>
          <a:prstGeom prst="roundRect">
            <a:avLst>
              <a:gd name="adj" fmla="val 3465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1781194"/>
            <a:ext cx="3094136" cy="18462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91937" y="1781194"/>
            <a:ext cx="17780" cy="1846203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5278298"/>
            <a:ext cx="10804961" cy="7642761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3568" y="5278298"/>
            <a:ext cx="27439124" cy="14870748"/>
          </a:xfrm>
          <a:prstGeom prst="roundRect">
            <a:avLst>
              <a:gd name="adj" fmla="val 797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5278298"/>
            <a:ext cx="10804962" cy="8244781"/>
          </a:xfrm>
          <a:prstGeom prst="roundRect">
            <a:avLst>
              <a:gd name="adj" fmla="val 1437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3252906"/>
            <a:ext cx="10804961" cy="8607742"/>
          </a:xfrm>
          <a:prstGeom prst="roundRect">
            <a:avLst>
              <a:gd name="adj" fmla="val 1377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3854926"/>
            <a:ext cx="10804962" cy="7101721"/>
          </a:xfrm>
          <a:prstGeom prst="roundRect">
            <a:avLst>
              <a:gd name="adj" fmla="val 1669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1288494"/>
            <a:ext cx="10804962" cy="8783458"/>
          </a:xfrm>
          <a:prstGeom prst="roundRect">
            <a:avLst>
              <a:gd name="adj" fmla="val 1349"/>
            </a:avLst>
          </a:prstGeom>
          <a:solidFill>
            <a:srgbClr val="F7E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21288494"/>
            <a:ext cx="10804962" cy="3556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18814" y="21288494"/>
            <a:ext cx="35560" cy="878345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30036392"/>
            <a:ext cx="10804962" cy="3556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21288494"/>
            <a:ext cx="53340" cy="878345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887" y="22192495"/>
            <a:ext cx="10804961" cy="7879457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31898" y="4943534"/>
            <a:ext cx="284493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12830" y="4943534"/>
            <a:ext cx="258046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24519" y="4943534"/>
            <a:ext cx="4654748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6661" y="5787945"/>
            <a:ext cx="997541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6661" y="5787945"/>
            <a:ext cx="124460" cy="2837021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164186" y="5787945"/>
            <a:ext cx="9975414" cy="3312914"/>
          </a:xfrm>
          <a:prstGeom prst="roundRect">
            <a:avLst>
              <a:gd name="adj" fmla="val 5509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64186" y="5787945"/>
            <a:ext cx="124460" cy="3312914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6097" y="12918142"/>
            <a:ext cx="343654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313413" y="13520162"/>
            <a:ext cx="5676960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6661" y="13762553"/>
            <a:ext cx="9975413" cy="1647984"/>
          </a:xfrm>
          <a:prstGeom prst="roundRect">
            <a:avLst>
              <a:gd name="adj" fmla="val 12659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164186" y="14364573"/>
            <a:ext cx="9975414" cy="4063980"/>
          </a:xfrm>
          <a:prstGeom prst="roundRect">
            <a:avLst>
              <a:gd name="adj" fmla="val 1750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64186" y="18734008"/>
            <a:ext cx="9975414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64186" y="18734008"/>
            <a:ext cx="9975414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883568" y="20480893"/>
            <a:ext cx="13553639" cy="9591059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769054" y="20480893"/>
            <a:ext cx="13553638" cy="9591059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3556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545650" y="20953730"/>
            <a:ext cx="3230265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181966" y="21798141"/>
            <a:ext cx="9957634" cy="4380825"/>
          </a:xfrm>
          <a:prstGeom prst="roundRect">
            <a:avLst>
              <a:gd name="adj" fmla="val 4762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40227" y="21857731"/>
            <a:ext cx="4028281" cy="7406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university-of-syd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4198" y="1031117"/>
            <a:ext cx="1671320" cy="577817"/>
          </a:xfrm>
          <a:prstGeom prst="rect">
            <a:avLst/>
          </a:prstGeom>
        </p:spPr>
      </p:pic>
      <p:pic>
        <p:nvPicPr>
          <p:cNvPr id="35" name="Picture 34" descr="beijing-institute-of-techn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2492" y="1031101"/>
            <a:ext cx="577850" cy="577850"/>
          </a:xfrm>
          <a:prstGeom prst="rect">
            <a:avLst/>
          </a:prstGeom>
        </p:spPr>
      </p:pic>
      <p:pic>
        <p:nvPicPr>
          <p:cNvPr id="36" name="Picture 35" descr="huawei-noah-s-ark-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7316" y="1031104"/>
            <a:ext cx="3573502" cy="577843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597101" y="182231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3781" y="1928991"/>
            <a:ext cx="1801614" cy="180161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6872802" y="1822311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9482" y="1928991"/>
            <a:ext cx="1801614" cy="1801614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40653692" y="5944354"/>
            <a:ext cx="1778000" cy="616743"/>
          </a:xfrm>
          <a:prstGeom prst="roundRect">
            <a:avLst>
              <a:gd name="adj" fmla="val 14798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WARNS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298342" y="8243947"/>
            <a:ext cx="26609576" cy="1420594"/>
          </a:xfrm>
          <a:prstGeom prst="roundRect">
            <a:avLst>
              <a:gd name="adj" fmla="val 15860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992" y="14586823"/>
            <a:ext cx="4172743" cy="36669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992" y="14586823"/>
            <a:ext cx="11557" cy="3666986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822324" y="20146129"/>
            <a:ext cx="567612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612715" y="20146129"/>
            <a:ext cx="386631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6183828" y="23637676"/>
            <a:ext cx="12724090" cy="1252101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183828" y="26622355"/>
            <a:ext cx="12724090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183828" y="26622355"/>
            <a:ext cx="12724090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2865913" y="10065980"/>
            <a:ext cx="25474434" cy="7916545"/>
          </a:xfrm>
          <a:prstGeom prst="roundRect">
            <a:avLst>
              <a:gd name="adj" fmla="val 44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65913" y="10065985"/>
            <a:ext cx="25474434" cy="791653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2298342" y="21251267"/>
            <a:ext cx="12724090" cy="5240099"/>
          </a:xfrm>
          <a:prstGeom prst="roundRect">
            <a:avLst>
              <a:gd name="adj" fmla="val 67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figure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8352" y="21251267"/>
            <a:ext cx="12724070" cy="5240099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26183828" y="25017432"/>
            <a:ext cx="2985373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9429928" y="25017432"/>
            <a:ext cx="2985512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676167" y="25017432"/>
            <a:ext cx="2985512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5922406" y="25017432"/>
            <a:ext cx="2985512" cy="1604923"/>
          </a:xfrm>
          <a:prstGeom prst="roundRect">
            <a:avLst>
              <a:gd name="adj" fmla="val 16248"/>
            </a:avLst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183828" y="22590184"/>
            <a:ext cx="12724090" cy="915392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183828" y="20990540"/>
            <a:ext cx="3770193" cy="684252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183828" y="21665902"/>
            <a:ext cx="377019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9954021" y="20990540"/>
            <a:ext cx="2299315" cy="684252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954021" y="21665902"/>
            <a:ext cx="229931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253336" y="20990540"/>
            <a:ext cx="3032324" cy="684252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253336" y="21665902"/>
            <a:ext cx="303232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285660" y="20990540"/>
            <a:ext cx="3622258" cy="684252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285660" y="21665902"/>
            <a:ext cx="362225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183828" y="21674792"/>
            <a:ext cx="3770193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183828" y="22581294"/>
            <a:ext cx="377019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954021" y="21674792"/>
            <a:ext cx="2299315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954021" y="22581294"/>
            <a:ext cx="229931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253336" y="21674792"/>
            <a:ext cx="3032324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253336" y="22581294"/>
            <a:ext cx="303232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285660" y="21674792"/>
            <a:ext cx="3622258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285660" y="22581294"/>
            <a:ext cx="362225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6183828" y="22590184"/>
            <a:ext cx="3770193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6183828" y="23496686"/>
            <a:ext cx="377019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9954021" y="22590184"/>
            <a:ext cx="2299315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954021" y="23496686"/>
            <a:ext cx="2299315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253336" y="22590184"/>
            <a:ext cx="3032324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253336" y="23496686"/>
            <a:ext cx="303232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285660" y="22590184"/>
            <a:ext cx="3622258" cy="9153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285660" y="23496686"/>
            <a:ext cx="3622258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78677" y="1319331"/>
            <a:ext cx="38473281" cy="1404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8F2437"/>
                </a:solidFill>
                <a:latin typeface="Arial"/>
              </a:rPr>
              <a:t>Data-efficient Large Vision Models through Sequential Autoregression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78677" y="2813268"/>
            <a:ext cx="38473281" cy="8336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70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Jianyuan Guo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Zhiwei Hao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Chengcheng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Yehui Tang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Han Wu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Han Hu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Kai Han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Chang Xu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78677" y="3595032"/>
            <a:ext cx="38473281" cy="5683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92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Sydney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Beijing Institute of Technology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Huawei Noah's Ark Lab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15581" y="1781194"/>
            <a:ext cx="2582617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8F2437"/>
                </a:solidFill>
                <a:latin typeface="Arial"/>
              </a:rPr>
              <a:t>ICML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05793" y="2902446"/>
            <a:ext cx="1366781" cy="8336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708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B2331"/>
                </a:solidFill>
                <a:latin typeface="Arial"/>
              </a:rPr>
              <a:t>2024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31898" y="4943534"/>
            <a:ext cx="293028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312830" y="4943534"/>
            <a:ext cx="2657874" cy="851745"/>
          </a:xfrm>
          <a:prstGeom prst="rect">
            <a:avLst/>
          </a:prstGeom>
          <a:noFill/>
        </p:spPr>
        <p:txBody>
          <a:bodyPr wrap="non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824519" y="4943534"/>
            <a:ext cx="4794390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6661" y="5787945"/>
            <a:ext cx="10274675" cy="3262574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Vision is long-tailed: data-rich segmentation swamps data-poor keypoint tasks, which the model then never learns.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6661" y="8734008"/>
            <a:ext cx="10274675" cy="41684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0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Autoregressive large vision models (LVMs) generalize across tasks, but rely on huge models (</a:t>
            </a:r>
            <a:r>
              <a:rPr sz="4106" b="1">
                <a:solidFill>
                  <a:srgbClr val="111111"/>
                </a:solidFill>
                <a:latin typeface="Arial"/>
              </a:rPr>
              <a:t>3B+ params</a:t>
            </a:r>
            <a:r>
              <a:rPr sz="4106" b="0">
                <a:solidFill>
                  <a:srgbClr val="1C1C1C"/>
                </a:solidFill>
                <a:latin typeface="Arial"/>
              </a:rPr>
              <a:t>) and </a:t>
            </a:r>
            <a:r>
              <a:rPr sz="4106" b="1">
                <a:solidFill>
                  <a:srgbClr val="111111"/>
                </a:solidFill>
                <a:latin typeface="Arial"/>
              </a:rPr>
              <a:t>~400B tokens</a:t>
            </a:r>
            <a:r>
              <a:rPr sz="4106" b="0">
                <a:solidFill>
                  <a:srgbClr val="1C1C1C"/>
                </a:solidFill>
                <a:latin typeface="Arial"/>
              </a:rPr>
              <a:t> from 1.64B images — costly and hard to deploy.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36097" y="12918142"/>
            <a:ext cx="35396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313413" y="13520162"/>
            <a:ext cx="5847268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6661" y="13762553"/>
            <a:ext cx="10274675" cy="189518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8F2437"/>
                </a:solidFill>
                <a:latin typeface="Arial"/>
              </a:rPr>
              <a:t>Rebalance and compress instead of scaling up.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64186" y="18734008"/>
            <a:ext cx="10274676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Roughly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37× smaller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than the 3B-parameter LVM baseline.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545650" y="20953730"/>
            <a:ext cx="3327172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81966" y="21798141"/>
            <a:ext cx="10256363" cy="5037948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Classical augmentation and distillation make autoregressive LVMs data- and parameter-efficient — strong multi-task performance from compact models on limited data.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40227" y="21857731"/>
            <a:ext cx="4149129" cy="851746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Contribution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181966" y="26485810"/>
            <a:ext cx="10256363" cy="33347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0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tiny 80M model reaching 83% ImageNet accuracy points toward unified, deployable generalist vision models that jointly learn generation and understanding.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180785" y="4007862"/>
            <a:ext cx="87303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501909" y="4007862"/>
            <a:ext cx="779463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653692" y="6769596"/>
            <a:ext cx="9394487" cy="2501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0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Without task shuffling the model catastrophically forgets: earlier-task perplexity explodes past </a:t>
            </a:r>
            <a:r>
              <a:rPr sz="4106" b="1">
                <a:solidFill>
                  <a:srgbClr val="111111"/>
                </a:solidFill>
                <a:latin typeface="Arial"/>
              </a:rPr>
              <a:t>1000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164168" y="9118500"/>
            <a:ext cx="10274694" cy="2501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Prompt background matters:</a:t>
            </a:r>
            <a:r>
              <a:rPr sz="4106" b="0">
                <a:solidFill>
                  <a:srgbClr val="1C1C1C"/>
                </a:solidFill>
                <a:latin typeface="Arial"/>
              </a:rPr>
              <a:t> black backgrounds make grayscale-threshold post-processing reliable.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473614" y="9232265"/>
            <a:ext cx="2326802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082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next-token objective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164168" y="11475878"/>
            <a:ext cx="10274694" cy="1667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KD scales down:</a:t>
            </a:r>
            <a:r>
              <a:rPr sz="4106" b="0">
                <a:solidFill>
                  <a:srgbClr val="1C1C1C"/>
                </a:solidFill>
                <a:latin typeface="Arial"/>
              </a:rPr>
              <a:t> it still helps the 80M student on all three tasks.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6642" y="15410537"/>
            <a:ext cx="10274694" cy="33347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Vision lacks NLP's uniform corpora, so the </a:t>
            </a:r>
            <a:r>
              <a:rPr sz="4106" b="1">
                <a:solidFill>
                  <a:srgbClr val="111111"/>
                </a:solidFill>
                <a:latin typeface="Arial"/>
              </a:rPr>
              <a:t>one-epoch, data-abundant</a:t>
            </a:r>
            <a:r>
              <a:rPr sz="4106" b="0">
                <a:solidFill>
                  <a:srgbClr val="1C1C1C"/>
                </a:solidFill>
                <a:latin typeface="Arial"/>
              </a:rPr>
              <a:t> LLM training recipe cannot transfer to data-limited vision tasks.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66642" y="18492866"/>
            <a:ext cx="10274694" cy="33347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LVMs chase ever-larger models; classical remedies — </a:t>
            </a:r>
            <a:r>
              <a:rPr sz="4106" b="1">
                <a:solidFill>
                  <a:srgbClr val="111111"/>
                </a:solidFill>
                <a:latin typeface="Arial"/>
              </a:rPr>
              <a:t>augmentation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distillation</a:t>
            </a:r>
            <a:r>
              <a:rPr sz="4106" b="0">
                <a:solidFill>
                  <a:srgbClr val="1C1C1C"/>
                </a:solidFill>
                <a:latin typeface="Arial"/>
              </a:rPr>
              <a:t> — stay unexplored here.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822324" y="20146129"/>
            <a:ext cx="5846409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Distillation Quality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612715" y="20146129"/>
            <a:ext cx="3982305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66642" y="22702142"/>
            <a:ext cx="10274694" cy="2501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Augmentation as data.</a:t>
            </a:r>
            <a:r>
              <a:rPr sz="4106" b="0">
                <a:solidFill>
                  <a:srgbClr val="1C1C1C"/>
                </a:solidFill>
                <a:latin typeface="Arial"/>
              </a:rPr>
              <a:t> Crop/flip rebalances long-tailed multi-task data as well as new real samples.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183828" y="23637676"/>
            <a:ext cx="13105812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8F2437"/>
                </a:solidFill>
                <a:latin typeface="Arial"/>
              </a:rPr>
              <a:t>−0.19 val loss · −22.4 perplexity (1%→10%)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66642" y="25059520"/>
            <a:ext cx="10274694" cy="2501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Distillation for LVMs.</a:t>
            </a:r>
            <a:r>
              <a:rPr sz="4106" b="0">
                <a:solidFill>
                  <a:srgbClr val="1C1C1C"/>
                </a:solidFill>
                <a:latin typeface="Arial"/>
              </a:rPr>
              <a:t> First to distill an autoregressive LVM: a 1B teacher lifts a compact 300M student.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183828" y="26622355"/>
            <a:ext cx="13105812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Augmentation reproduces the scaling gain with zero new data; the distilled 300M student wins on Pascal-5i (mIoU above).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66642" y="27416898"/>
            <a:ext cx="10274694" cy="25010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70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Practical 80M model.</a:t>
            </a:r>
            <a:r>
              <a:rPr sz="4106" b="0">
                <a:solidFill>
                  <a:srgbClr val="1C1C1C"/>
                </a:solidFill>
                <a:latin typeface="Arial"/>
              </a:rPr>
              <a:t> Augmentation + KD reaches </a:t>
            </a:r>
            <a:r>
              <a:rPr sz="4106" b="1">
                <a:solidFill>
                  <a:srgbClr val="111111"/>
                </a:solidFill>
                <a:latin typeface="Arial"/>
              </a:rPr>
              <a:t>83% ImageNet</a:t>
            </a:r>
            <a:r>
              <a:rPr sz="4106" b="0">
                <a:solidFill>
                  <a:srgbClr val="1C1C1C"/>
                </a:solidFill>
                <a:latin typeface="Arial"/>
              </a:rPr>
              <a:t> top-1, unifying generation and understanding.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298324" y="5787945"/>
            <a:ext cx="27036314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Tokenize.</a:t>
            </a:r>
            <a:r>
              <a:rPr sz="4106" b="0">
                <a:solidFill>
                  <a:srgbClr val="1C1C1C"/>
                </a:solidFill>
                <a:latin typeface="Arial"/>
              </a:rPr>
              <a:t> A frozen VQGAN maps each image to </a:t>
            </a:r>
            <a:r>
              <a:rPr sz="4106" b="1">
                <a:solidFill>
                  <a:srgbClr val="111111"/>
                </a:solidFill>
                <a:latin typeface="Arial"/>
              </a:rPr>
              <a:t>256 tokens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"visual sentence".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298324" y="6559708"/>
            <a:ext cx="27036314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Train.</a:t>
            </a:r>
            <a:r>
              <a:rPr sz="4106" b="0">
                <a:solidFill>
                  <a:srgbClr val="1C1C1C"/>
                </a:solidFill>
                <a:latin typeface="Arial"/>
              </a:rPr>
              <a:t> A causal LLaMA does next-token prediction; crop/flip augmentation rebalances scarce tasks.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298324" y="7331471"/>
            <a:ext cx="27036314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Distill.</a:t>
            </a:r>
            <a:r>
              <a:rPr sz="4106" b="0">
                <a:solidFill>
                  <a:srgbClr val="1C1C1C"/>
                </a:solidFill>
                <a:latin typeface="Arial"/>
              </a:rPr>
              <a:t> A 1B teacher guides a compact </a:t>
            </a:r>
            <a:r>
              <a:rPr sz="4106" b="1">
                <a:solidFill>
                  <a:srgbClr val="111111"/>
                </a:solidFill>
                <a:latin typeface="Arial"/>
              </a:rPr>
              <a:t>300M / 80M</a:t>
            </a:r>
            <a:r>
              <a:rPr sz="4106" b="0">
                <a:solidFill>
                  <a:srgbClr val="1C1C1C"/>
                </a:solidFill>
                <a:latin typeface="Arial"/>
              </a:rPr>
              <a:t> student, single- &amp; multi-task.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410050" y="14586823"/>
            <a:ext cx="4879376" cy="14502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9930"/>
              </a:lnSpc>
              <a:spcBef>
                <a:spcPts val="0"/>
              </a:spcBef>
              <a:spcAft>
                <a:spcPts val="0"/>
              </a:spcAft>
            </a:pPr>
            <a:r>
              <a:rPr sz="10453" b="1" spc="-209">
                <a:solidFill>
                  <a:srgbClr val="8F2437"/>
                </a:solidFill>
                <a:latin typeface="Arial"/>
              </a:rPr>
              <a:t>83.04%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410050" y="15871567"/>
            <a:ext cx="4879376" cy="1799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ImageNet-1K top-1 · practical LLaMA-80M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410050" y="17435929"/>
            <a:ext cx="4879376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with augmentation + knowledge distillation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884929" y="18132127"/>
            <a:ext cx="23863122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1 — DeLVM overview: (a) training &amp; (b) inference over visual sentences, (c) augmentation, (d) distillation into a compact student.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807295" y="26640968"/>
            <a:ext cx="12057227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Fig. 4 — Single-task outputs: the LLaMA-1B teacher is best, and the 300M student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with KD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tracks the teacher far more closely than the same model trained from scratch, in both single- and multi-task training.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199246" y="14586823"/>
            <a:ext cx="10756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80M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426066" y="14720173"/>
            <a:ext cx="254169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params (from 3B)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199246" y="15896014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−22.4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734160" y="16029364"/>
            <a:ext cx="185251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perplexity 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199246" y="17205344"/>
            <a:ext cx="92010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256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275075" y="17338694"/>
            <a:ext cx="2697219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visual tokens / image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392326" y="25173840"/>
            <a:ext cx="2645427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18.58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9638426" y="25173840"/>
            <a:ext cx="26455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21.32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884665" y="25173840"/>
            <a:ext cx="26455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19.90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130904" y="25173840"/>
            <a:ext cx="2645571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8F2437"/>
                </a:solidFill>
                <a:latin typeface="Arial"/>
              </a:rPr>
              <a:t>21.08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392326" y="26076036"/>
            <a:ext cx="2645427" cy="4483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Pascal-5i s0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9638426" y="26076036"/>
            <a:ext cx="2645571" cy="448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2884665" y="26076036"/>
            <a:ext cx="2645571" cy="448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130904" y="26076036"/>
            <a:ext cx="2645571" cy="448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183828" y="20990540"/>
            <a:ext cx="3883298" cy="78688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067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SA-1B SUBSET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954021" y="20990540"/>
            <a:ext cx="2368294" cy="78688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067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TOKENS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253336" y="20990540"/>
            <a:ext cx="3123293" cy="78688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067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VAL LOSS 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285660" y="20990540"/>
            <a:ext cx="3730925" cy="78688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067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PERPLEXITY ↓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6183828" y="21674792"/>
            <a:ext cx="3883298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9954021" y="21674792"/>
            <a:ext cx="2368294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0.34B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2253336" y="21674792"/>
            <a:ext cx="3123293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4.83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285660" y="21674792"/>
            <a:ext cx="3730925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125.6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6183828" y="22590184"/>
            <a:ext cx="3883298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9954021" y="22590184"/>
            <a:ext cx="2368294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3.43B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253336" y="22590184"/>
            <a:ext cx="3123293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4.64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285660" y="22590184"/>
            <a:ext cx="3730925" cy="1052700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422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103.2</a:t>
            </a:r>
          </a:p>
        </p:txBody>
      </p:sp>
      <p:pic>
        <p:nvPicPr>
          <p:cNvPr id="150" name="Picture 149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89945" y="8329235"/>
            <a:ext cx="7626231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
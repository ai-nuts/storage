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_projec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_projec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609600" y="571500"/>
            <a:ext cx="57150" cy="1143000"/>
          </a:xfrm>
          <a:prstGeom prst="roundRect">
            <a:avLst>
              <a:gd name="adj" fmla="val 50000"/>
            </a:avLst>
          </a:prstGeom>
          <a:solidFill>
            <a:srgbClr val="4F7CFF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831723" y="776764"/>
            <a:ext cx="115792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b="1" spc="225" dirty="0">
                <a:solidFill>
                  <a:srgbClr val="33D6C6"/>
                </a:solidFill>
                <a:latin typeface="+mn-lt"/>
                <a:ea typeface="+mn-ea"/>
                <a:cs typeface="+mn-cs"/>
              </a:rPr>
              <a:t>ICML 2024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3910" y="1104900"/>
            <a:ext cx="536686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EAF1FB"/>
                </a:solidFill>
                <a:latin typeface="+mn-lt"/>
                <a:ea typeface="+mn-ea"/>
                <a:cs typeface="+mn-cs"/>
              </a:rPr>
              <a:t>A Rate-Distortion View of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03910" y="1562100"/>
            <a:ext cx="567462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EAF1FB"/>
                </a:solidFill>
                <a:latin typeface="+mn-lt"/>
                <a:ea typeface="+mn-ea"/>
                <a:cs typeface="+mn-cs"/>
              </a:rPr>
              <a:t>Uncertainty Quantification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9056" y="2129790"/>
            <a:ext cx="414237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4F7CFF"/>
                </a:solidFill>
                <a:latin typeface="+mn-lt"/>
                <a:ea typeface="+mn-ea"/>
                <a:cs typeface="+mn-cs"/>
              </a:rPr>
              <a:t>Distance Aware Bottleneck (DAB)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0961" y="2570321"/>
            <a:ext cx="387296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9DB0CC"/>
                </a:solidFill>
                <a:latin typeface="+mn-lt"/>
                <a:ea typeface="+mn-ea"/>
                <a:cs typeface="+mn-cs"/>
              </a:rPr>
              <a:t>Giving deep networks a sense of "knowing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0961" y="2817971"/>
            <a:ext cx="226061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9DB0CC"/>
                </a:solidFill>
                <a:latin typeface="+mn-lt"/>
                <a:ea typeface="+mn-ea"/>
                <a:cs typeface="+mn-cs"/>
              </a:rPr>
              <a:t>what they don't know."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896100" y="1143000"/>
            <a:ext cx="4686300" cy="4476750"/>
            <a:chOff x="6896100" y="1143000"/>
            <a:chExt cx="4686300" cy="4476750"/>
          </a:xfrm>
        </p:grpSpPr>
        <p:sp>
          <p:nvSpPr>
            <p:cNvPr id="10" name="Rectangle 10"/>
            <p:cNvSpPr/>
            <p:nvPr/>
          </p:nvSpPr>
          <p:spPr>
            <a:xfrm>
              <a:off x="6896100" y="1143000"/>
              <a:ext cx="4686300" cy="4476750"/>
            </a:xfrm>
            <a:prstGeom prst="roundRect">
              <a:avLst>
                <a:gd name="adj" fmla="val 3830"/>
              </a:avLst>
            </a:prstGeom>
            <a:solidFill>
              <a:schemeClr val="accent6"/>
            </a:solidFill>
            <a:ln w="11430">
              <a:solidFill>
                <a:srgbClr val="2F416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118223" y="1291114"/>
              <a:ext cx="1647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33D6C6"/>
                  </a:solidFill>
                  <a:latin typeface="+mn-lt"/>
                  <a:ea typeface="+mn-ea"/>
                  <a:cs typeface="+mn-cs"/>
                </a:rPr>
                <a:t>The idea in one line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124700" y="2000250"/>
              <a:ext cx="1428750" cy="704850"/>
            </a:xfrm>
            <a:prstGeom prst="roundRect">
              <a:avLst>
                <a:gd name="adj" fmla="val 16216"/>
              </a:avLst>
            </a:prstGeom>
            <a:solidFill>
              <a:srgbClr val="212F45"/>
            </a:solidFill>
            <a:ln w="9525">
              <a:solidFill>
                <a:srgbClr val="2F416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287631" y="2175510"/>
              <a:ext cx="1102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EAF1FB"/>
                  </a:solidFill>
                  <a:latin typeface="+mn-lt"/>
                  <a:ea typeface="+mn-ea"/>
                  <a:cs typeface="+mn-cs"/>
                </a:rPr>
                <a:t>Training data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30689" y="2418874"/>
              <a:ext cx="6167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compress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724900" y="2000250"/>
              <a:ext cx="1428750" cy="704850"/>
            </a:xfrm>
            <a:prstGeom prst="roundRect">
              <a:avLst>
                <a:gd name="adj" fmla="val 16216"/>
              </a:avLst>
            </a:prstGeom>
            <a:solidFill>
              <a:srgbClr val="212F45"/>
            </a:solidFill>
            <a:ln w="9525">
              <a:solidFill>
                <a:srgbClr val="2F416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057372" y="2175510"/>
              <a:ext cx="7638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EAF1FB"/>
                  </a:solidFill>
                  <a:latin typeface="+mn-lt"/>
                  <a:ea typeface="+mn-ea"/>
                  <a:cs typeface="+mn-cs"/>
                </a:rPr>
                <a:t>Codebook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830753" y="2418874"/>
              <a:ext cx="12170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10 prototype dists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557079" y="2142172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6F819C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124700" y="3143250"/>
              <a:ext cx="4457700" cy="666750"/>
            </a:xfrm>
            <a:prstGeom prst="roundRect">
              <a:avLst>
                <a:gd name="adj" fmla="val 17143"/>
              </a:avLst>
            </a:prstGeom>
            <a:solidFill>
              <a:srgbClr val="212F45"/>
            </a:solidFill>
            <a:ln w="9525">
              <a:solidFill>
                <a:srgbClr val="2F416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328535" y="3307556"/>
              <a:ext cx="29364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distance of a new input to the codebook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27773" y="3519964"/>
              <a:ext cx="26816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EAF1FB"/>
                  </a:solidFill>
                  <a:latin typeface="+mn-lt"/>
                  <a:ea typeface="+mn-ea"/>
                  <a:cs typeface="+mn-cs"/>
                </a:rPr>
                <a:t>= principled uncertainty score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124700" y="4019550"/>
              <a:ext cx="4457700" cy="609600"/>
            </a:xfrm>
            <a:prstGeom prst="roundRect">
              <a:avLst>
                <a:gd name="adj" fmla="val 18750"/>
              </a:avLst>
            </a:prstGeom>
            <a:solidFill>
              <a:srgbClr val="152034"/>
            </a:solidFill>
            <a:ln w="11430">
              <a:solidFill>
                <a:srgbClr val="33D6C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346823" y="4148614"/>
              <a:ext cx="30073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33D6C6"/>
                  </a:solidFill>
                  <a:latin typeface="+mn-lt"/>
                  <a:ea typeface="+mn-ea"/>
                  <a:cs typeface="+mn-cs"/>
                </a:rPr>
                <a:t>computed in a single forward pass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11172825" y="4257675"/>
              <a:ext cx="133350" cy="133350"/>
            </a:xfrm>
            <a:prstGeom prst="ellipse">
              <a:avLst/>
            </a:prstGeom>
            <a:solidFill>
              <a:srgbClr val="46D19E"/>
            </a:solidFill>
            <a:ln>
              <a:noFill/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832104" y="5204460"/>
            <a:ext cx="533226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F819C"/>
                </a:solidFill>
                <a:latin typeface="+mn-lt"/>
                <a:ea typeface="+mn-ea"/>
                <a:cs typeface="+mn-cs"/>
              </a:rPr>
              <a:t>Reframes uncertainty quantification as a rate–distortion problem.</a:t>
            </a:r>
          </a:p>
        </p:txBody>
      </p:sp>
      <p:sp>
        <p:nvSpPr>
          <p:cNvPr id="27" name="cue_s01_c1_presented_icml_2024_introduces_dista" title="cue_s01_c1_presented_icml_2024_introduces_dista" descr="cue_s01_c1_presented_icml_2024_introduces_dista This paper, presented at ICML 2024, introduces the Distance Aware Bottleneck, a new way to give deep neural networks the sense of &quot;knowing what they don't know.&quot; The authors reframe uncertainty quantification as a rate-distortion problem: the network learns a"/>
          <p:cNvSpPr/>
          <p:nvPr/>
        </p:nvSpPr>
        <p:spPr>
          <a:xfrm>
            <a:off x="6895795" y="1143228"/>
            <a:ext cx="4686604" cy="447690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609600" y="41910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33D6C6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94385" y="431006"/>
            <a:ext cx="88279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rgbClr val="33D6C6"/>
                </a:solidFill>
                <a:latin typeface="+mn-lt"/>
                <a:ea typeface="+mn-ea"/>
                <a:cs typeface="+mn-cs"/>
              </a:rPr>
              <a:t>PROBLEM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7621" y="581978"/>
            <a:ext cx="7085475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EAF1FB"/>
                </a:solidFill>
                <a:latin typeface="+mn-lt"/>
                <a:ea typeface="+mn-ea"/>
                <a:cs typeface="+mn-cs"/>
              </a:rPr>
              <a:t>Confident, even when far from the data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09600" y="1428750"/>
            <a:ext cx="3517582" cy="4095750"/>
            <a:chOff x="609600" y="1428750"/>
            <a:chExt cx="3517582" cy="409575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3517582" cy="4095750"/>
            </a:xfrm>
            <a:prstGeom prst="roundRect">
              <a:avLst>
                <a:gd name="adj" fmla="val 4333"/>
              </a:avLst>
            </a:prstGeom>
            <a:solidFill>
              <a:schemeClr val="accent6"/>
            </a:solidFill>
            <a:ln w="11430">
              <a:solidFill>
                <a:srgbClr val="2F4160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581150"/>
              <a:ext cx="42862" cy="3790950"/>
            </a:xfrm>
            <a:prstGeom prst="roundRect">
              <a:avLst>
                <a:gd name="adj" fmla="val 48889"/>
              </a:avLst>
            </a:prstGeom>
            <a:solidFill>
              <a:srgbClr val="33D6C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1149" y="1582579"/>
              <a:ext cx="17986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EAF1FB"/>
                  </a:solidFill>
                  <a:latin typeface="+mn-lt"/>
                  <a:ea typeface="+mn-ea"/>
                  <a:cs typeface="+mn-cs"/>
                </a:rPr>
                <a:t>Know your limits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2673" y="1900714"/>
              <a:ext cx="17591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A trustworthy model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2673" y="2138839"/>
              <a:ext cx="18653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should know when it is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2673" y="2376964"/>
              <a:ext cx="20893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operating far from what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2673" y="2615089"/>
              <a:ext cx="1020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it has seen.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2673" y="3091339"/>
              <a:ext cx="18962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Reliable uncertainty is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2673" y="3329464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the missing signal.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336732" y="1428750"/>
            <a:ext cx="3517582" cy="4095750"/>
            <a:chOff x="4336732" y="1428750"/>
            <a:chExt cx="3517582" cy="4095750"/>
          </a:xfrm>
        </p:grpSpPr>
        <p:sp>
          <p:nvSpPr>
            <p:cNvPr id="16" name="Rectangle 16"/>
            <p:cNvSpPr/>
            <p:nvPr/>
          </p:nvSpPr>
          <p:spPr>
            <a:xfrm>
              <a:off x="4336732" y="1428750"/>
              <a:ext cx="3517582" cy="4095750"/>
            </a:xfrm>
            <a:prstGeom prst="roundRect">
              <a:avLst>
                <a:gd name="adj" fmla="val 4333"/>
              </a:avLst>
            </a:prstGeom>
            <a:solidFill>
              <a:schemeClr val="accent6"/>
            </a:solidFill>
            <a:ln w="11430">
              <a:solidFill>
                <a:srgbClr val="2F4160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336732" y="1581150"/>
              <a:ext cx="42862" cy="3790950"/>
            </a:xfrm>
            <a:prstGeom prst="roundRect">
              <a:avLst>
                <a:gd name="adj" fmla="val 48889"/>
              </a:avLst>
            </a:prstGeom>
            <a:solidFill>
              <a:srgbClr val="FF6B6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538282" y="1582579"/>
              <a:ext cx="219052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EAF1FB"/>
                  </a:solidFill>
                  <a:latin typeface="+mn-lt"/>
                  <a:ea typeface="+mn-ea"/>
                  <a:cs typeface="+mn-cs"/>
                </a:rPr>
                <a:t>But deep nets don't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39806" y="1900714"/>
              <a:ext cx="18192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Deep neural networks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39806" y="2138839"/>
              <a:ext cx="14862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often make highly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39806" y="2376964"/>
              <a:ext cx="18308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confident predictions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39806" y="261508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even on inputs wildly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39806" y="2853214"/>
              <a:ext cx="17705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different from their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39806" y="3091339"/>
              <a:ext cx="12105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training data.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39806" y="3567589"/>
              <a:ext cx="19662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Overconfidence = risk.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064818" y="1428750"/>
            <a:ext cx="3517582" cy="4095750"/>
            <a:chOff x="8064818" y="1428750"/>
            <a:chExt cx="3517582" cy="4095750"/>
          </a:xfrm>
        </p:grpSpPr>
        <p:sp>
          <p:nvSpPr>
            <p:cNvPr id="27" name="Rectangle 27"/>
            <p:cNvSpPr/>
            <p:nvPr/>
          </p:nvSpPr>
          <p:spPr>
            <a:xfrm>
              <a:off x="8064818" y="1428750"/>
              <a:ext cx="3517582" cy="4095750"/>
            </a:xfrm>
            <a:prstGeom prst="roundRect">
              <a:avLst>
                <a:gd name="adj" fmla="val 4333"/>
              </a:avLst>
            </a:prstGeom>
            <a:solidFill>
              <a:schemeClr val="accent6"/>
            </a:solidFill>
            <a:ln w="11430">
              <a:solidFill>
                <a:srgbClr val="2F416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8064818" y="1581150"/>
              <a:ext cx="42862" cy="3790950"/>
            </a:xfrm>
            <a:prstGeom prst="roundRect">
              <a:avLst>
                <a:gd name="adj" fmla="val 48889"/>
              </a:avLst>
            </a:prstGeom>
            <a:solidFill>
              <a:srgbClr val="4F7C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266366" y="1582579"/>
              <a:ext cx="182950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EAF1FB"/>
                  </a:solidFill>
                  <a:latin typeface="+mn-lt"/>
                  <a:ea typeface="+mn-ea"/>
                  <a:cs typeface="+mn-cs"/>
                </a:rPr>
                <a:t>GPs vs deep nets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67891" y="1900714"/>
              <a:ext cx="2074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Gaussian Processes have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67891" y="2138839"/>
              <a:ext cx="1555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a built-in sense of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67891" y="2376964"/>
              <a:ext cx="15293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distance from the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67891" y="2615089"/>
              <a:ext cx="11157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training set.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67891" y="3091339"/>
              <a:ext cx="20520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Standard deep networks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67891" y="3329464"/>
              <a:ext cx="17916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do not — efficient UQ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67891" y="3567589"/>
              <a:ext cx="1960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stays an open problem.</a:t>
              </a:r>
            </a:p>
          </p:txBody>
        </p:sp>
      </p:grpSp>
      <p:sp>
        <p:nvSpPr>
          <p:cNvPr id="38" name="cue_s02_c1_trustworthy_should_know_when_operati" title="cue_s02_c1_trustworthy_should_know_when_operati" descr="cue_s02_c1_trustworthy_should_know_when_operati A trustworthy model should know when it is operating far from what it has seen."/>
          <p:cNvSpPr/>
          <p:nvPr/>
        </p:nvSpPr>
        <p:spPr>
          <a:xfrm>
            <a:off x="609600" y="1428521"/>
            <a:ext cx="3517391" cy="40955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ue_s02_c2_deep_neural_networks_however_often" title="cue_s02_c2_deep_neural_networks_however_often" descr="cue_s02_c2_deep_neural_networks_however_often Deep neural networks, however, often make confident predictions even on inputs that are wildly different from their training data."/>
          <p:cNvSpPr/>
          <p:nvPr/>
        </p:nvSpPr>
        <p:spPr>
          <a:xfrm>
            <a:off x="4336694" y="1428521"/>
            <a:ext cx="3517391" cy="40955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ue_s02_c3_classical_probabilistic_models_such" title="cue_s02_c3_classical_probabilistic_models_such" descr="cue_s02_c3_classical_probabilistic_models_such Classical probabilistic models such as Gaussian Processes have a built-in sense of distance from the training set, but standard deep networks do not, and reliable, efficient uncertainty estimation for real deployments remains an open problem."/>
          <p:cNvSpPr/>
          <p:nvPr/>
        </p:nvSpPr>
        <p:spPr>
          <a:xfrm>
            <a:off x="8065008" y="1428521"/>
            <a:ext cx="3517391" cy="40955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609600" y="41910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33D6C6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94385" y="431006"/>
            <a:ext cx="118883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rgbClr val="33D6C6"/>
                </a:solidFill>
                <a:latin typeface="+mn-lt"/>
                <a:ea typeface="+mn-ea"/>
                <a:cs typeface="+mn-cs"/>
              </a:rPr>
              <a:t>MOTIVATION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7621" y="581978"/>
            <a:ext cx="7086363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EAF1FB"/>
                </a:solidFill>
                <a:latin typeface="+mn-lt"/>
                <a:ea typeface="+mn-ea"/>
                <a:cs typeface="+mn-cs"/>
              </a:rPr>
              <a:t>Fast or distance-aware — why not both?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09600" y="1428750"/>
            <a:ext cx="5381625" cy="1905000"/>
            <a:chOff x="609600" y="1428750"/>
            <a:chExt cx="5381625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5381625" cy="1905000"/>
            </a:xfrm>
            <a:prstGeom prst="roundRect">
              <a:avLst>
                <a:gd name="adj" fmla="val 8000"/>
              </a:avLst>
            </a:prstGeom>
            <a:solidFill>
              <a:schemeClr val="accent6"/>
            </a:solidFill>
            <a:ln w="11430">
              <a:solidFill>
                <a:srgbClr val="2F4160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581150"/>
              <a:ext cx="42862" cy="1600200"/>
            </a:xfrm>
            <a:prstGeom prst="roundRect">
              <a:avLst>
                <a:gd name="adj" fmla="val 48889"/>
              </a:avLst>
            </a:prstGeom>
            <a:solidFill>
              <a:srgbClr val="4F7C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0768" y="1574482"/>
              <a:ext cx="20998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AF1FB"/>
                  </a:solidFill>
                  <a:latin typeface="+mn-lt"/>
                  <a:ea typeface="+mn-ea"/>
                  <a:cs typeface="+mn-cs"/>
                </a:rPr>
                <a:t>Single-pass tricks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3054" y="1908810"/>
              <a:ext cx="4290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Fast one-forward-pass methods lean on architectural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3054" y="2137410"/>
              <a:ext cx="39619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tricks — e.g. spectral normalization — to stop the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3054" y="2366010"/>
              <a:ext cx="29442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network's features from collapsing.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200775" y="1428750"/>
            <a:ext cx="5381625" cy="1905000"/>
            <a:chOff x="6200775" y="1428750"/>
            <a:chExt cx="5381625" cy="1905000"/>
          </a:xfrm>
        </p:grpSpPr>
        <p:sp>
          <p:nvSpPr>
            <p:cNvPr id="13" name="Rectangle 13"/>
            <p:cNvSpPr/>
            <p:nvPr/>
          </p:nvSpPr>
          <p:spPr>
            <a:xfrm>
              <a:off x="6200775" y="1428750"/>
              <a:ext cx="5381625" cy="1905000"/>
            </a:xfrm>
            <a:prstGeom prst="roundRect">
              <a:avLst>
                <a:gd name="adj" fmla="val 8000"/>
              </a:avLst>
            </a:prstGeom>
            <a:solidFill>
              <a:schemeClr val="accent6"/>
            </a:solidFill>
            <a:ln w="11430">
              <a:solidFill>
                <a:srgbClr val="2F4160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200775" y="1581150"/>
              <a:ext cx="42862" cy="1600200"/>
            </a:xfrm>
            <a:prstGeom prst="roundRect">
              <a:avLst>
                <a:gd name="adj" fmla="val 48889"/>
              </a:avLst>
            </a:prstGeom>
            <a:solidFill>
              <a:srgbClr val="F4B45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01943" y="1574482"/>
              <a:ext cx="14467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AF1FB"/>
                  </a:solidFill>
                  <a:latin typeface="+mn-lt"/>
                  <a:ea typeface="+mn-ea"/>
                  <a:cs typeface="+mn-cs"/>
                </a:rPr>
                <a:t>Hidden costs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04229" y="1908810"/>
              <a:ext cx="41851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Those constraints can quietly damage calibration and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04229" y="2137410"/>
              <a:ext cx="41073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are awkward to bolt onto large pre-trained models.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9600" y="3505200"/>
            <a:ext cx="5381625" cy="1905000"/>
            <a:chOff x="609600" y="3505200"/>
            <a:chExt cx="5381625" cy="1905000"/>
          </a:xfrm>
        </p:grpSpPr>
        <p:sp>
          <p:nvSpPr>
            <p:cNvPr id="19" name="Rectangle 19"/>
            <p:cNvSpPr/>
            <p:nvPr/>
          </p:nvSpPr>
          <p:spPr>
            <a:xfrm>
              <a:off x="609600" y="3505200"/>
              <a:ext cx="5381625" cy="1905000"/>
            </a:xfrm>
            <a:prstGeom prst="roundRect">
              <a:avLst>
                <a:gd name="adj" fmla="val 8000"/>
              </a:avLst>
            </a:prstGeom>
            <a:solidFill>
              <a:schemeClr val="accent6"/>
            </a:solidFill>
            <a:ln w="11430">
              <a:solidFill>
                <a:srgbClr val="2F416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09600" y="3657600"/>
              <a:ext cx="42862" cy="1600200"/>
            </a:xfrm>
            <a:prstGeom prst="roundRect">
              <a:avLst>
                <a:gd name="adj" fmla="val 48889"/>
              </a:avLst>
            </a:prstGeom>
            <a:solidFill>
              <a:srgbClr val="FF6B6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0768" y="3650932"/>
              <a:ext cx="24031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AF1FB"/>
                  </a:solidFill>
                  <a:latin typeface="+mn-lt"/>
                  <a:ea typeface="+mn-ea"/>
                  <a:cs typeface="+mn-cs"/>
                </a:rPr>
                <a:t>Ensembles are pricey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3054" y="3985260"/>
              <a:ext cx="37382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Deep ensembles and Bayesian nets are naturally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3054" y="4213860"/>
              <a:ext cx="39134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distance-aware — but need many forward passes,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3054" y="4442460"/>
              <a:ext cx="22091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which is expensive at scale.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200775" y="3505200"/>
            <a:ext cx="5381625" cy="1905000"/>
            <a:chOff x="6200775" y="3505200"/>
            <a:chExt cx="5381625" cy="1905000"/>
          </a:xfrm>
        </p:grpSpPr>
        <p:sp>
          <p:nvSpPr>
            <p:cNvPr id="26" name="Rectangle 26"/>
            <p:cNvSpPr/>
            <p:nvPr/>
          </p:nvSpPr>
          <p:spPr>
            <a:xfrm>
              <a:off x="6200775" y="3505200"/>
              <a:ext cx="5381625" cy="1905000"/>
            </a:xfrm>
            <a:prstGeom prst="roundRect">
              <a:avLst>
                <a:gd name="adj" fmla="val 8000"/>
              </a:avLst>
            </a:prstGeom>
            <a:solidFill>
              <a:srgbClr val="152239"/>
            </a:solidFill>
            <a:ln w="15240">
              <a:solidFill>
                <a:srgbClr val="33D6C6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00775" y="3657600"/>
              <a:ext cx="42862" cy="1600200"/>
            </a:xfrm>
            <a:prstGeom prst="roundRect">
              <a:avLst>
                <a:gd name="adj" fmla="val 48889"/>
              </a:avLst>
            </a:prstGeom>
            <a:solidFill>
              <a:srgbClr val="33D6C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03848" y="3748564"/>
              <a:ext cx="11223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33D6C6"/>
                  </a:solidFill>
                  <a:latin typeface="+mn-lt"/>
                  <a:ea typeface="+mn-ea"/>
                  <a:cs typeface="+mn-cs"/>
                </a:rPr>
                <a:t>The question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02705" y="4162425"/>
              <a:ext cx="26720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EAF1FB"/>
                  </a:solidFill>
                  <a:latin typeface="+mn-lt"/>
                  <a:ea typeface="+mn-ea"/>
                  <a:cs typeface="+mn-cs"/>
                </a:rPr>
                <a:t>Can a single deterministic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02705" y="4448175"/>
              <a:ext cx="25701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EAF1FB"/>
                  </a:solidFill>
                  <a:latin typeface="+mn-lt"/>
                  <a:ea typeface="+mn-ea"/>
                  <a:cs typeface="+mn-cs"/>
                </a:rPr>
                <a:t>model be distance-aware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03467" y="4750118"/>
              <a:ext cx="29578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without any of these drawbacks?</a:t>
              </a:r>
            </a:p>
          </p:txBody>
        </p:sp>
      </p:grpSp>
      <p:sp>
        <p:nvSpPr>
          <p:cNvPr id="33" name="cue_s03_c1_today_fast_single_forward_pass_uncer" title="cue_s03_c1_today_fast_single_forward_pass_uncer" descr="cue_s03_c1_today_fast_single_forward_pass_uncer Today's fast, single-forward-pass uncertainty methods usually depend on special architectural tricks, like spectral normalization, to stop the network's features from collapsing."/>
          <p:cNvSpPr/>
          <p:nvPr/>
        </p:nvSpPr>
        <p:spPr>
          <a:xfrm>
            <a:off x="609600" y="1428521"/>
            <a:ext cx="5381548" cy="19051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ue_s03_c2_those_constraints_quietly_damage_cal" title="cue_s03_c2_those_constraints_quietly_damage_cal" descr="cue_s03_c2_those_constraints_quietly_damage_cal Those constraints can quietly damage calibration and are awkward to bolt onto large pre-trained models."/>
          <p:cNvSpPr/>
          <p:nvPr/>
        </p:nvSpPr>
        <p:spPr>
          <a:xfrm>
            <a:off x="6200851" y="1428521"/>
            <a:ext cx="5381548" cy="19051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ue_s03_c3_alternative_deep_ensembles_bayesian" title="cue_s03_c3_alternative_deep_ensembles_bayesian" descr="cue_s03_c3_alternative_deep_ensembles_bayesian The alternative, deep ensembles and Bayesian networks, are naturally distance-aware but require many forward passes, which is expensive at scale."/>
          <p:cNvSpPr/>
          <p:nvPr/>
        </p:nvSpPr>
        <p:spPr>
          <a:xfrm>
            <a:off x="609600" y="3505123"/>
            <a:ext cx="5381548" cy="19051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ue_s03_c4_authors_ask_whether_single_determini" title="cue_s03_c4_authors_ask_whether_single_determini" descr="cue_s03_c4_authors_ask_whether_single_determini The authors ask whether a single deterministic model can be distance-aware without these drawbacks."/>
          <p:cNvSpPr/>
          <p:nvPr/>
        </p:nvSpPr>
        <p:spPr>
          <a:xfrm>
            <a:off x="6200851" y="3505123"/>
            <a:ext cx="5381548" cy="19051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609600" y="41910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33D6C6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94385" y="431006"/>
            <a:ext cx="139286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rgbClr val="33D6C6"/>
                </a:solidFill>
                <a:latin typeface="+mn-lt"/>
                <a:ea typeface="+mn-ea"/>
                <a:cs typeface="+mn-cs"/>
              </a:rPr>
              <a:t>CONTRIBUTION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7621" y="581978"/>
            <a:ext cx="4903393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EAF1FB"/>
                </a:solidFill>
                <a:latin typeface="+mn-lt"/>
                <a:ea typeface="+mn-ea"/>
                <a:cs typeface="+mn-cs"/>
              </a:rPr>
              <a:t>Uncertainty as compression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09600" y="1428750"/>
            <a:ext cx="5381625" cy="1905000"/>
            <a:chOff x="609600" y="1428750"/>
            <a:chExt cx="5381625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5381625" cy="1905000"/>
            </a:xfrm>
            <a:prstGeom prst="roundRect">
              <a:avLst>
                <a:gd name="adj" fmla="val 8000"/>
              </a:avLst>
            </a:prstGeom>
            <a:solidFill>
              <a:schemeClr val="accent6"/>
            </a:solidFill>
            <a:ln w="11430">
              <a:solidFill>
                <a:srgbClr val="2F4160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581150"/>
              <a:ext cx="42862" cy="1600200"/>
            </a:xfrm>
            <a:prstGeom prst="roundRect">
              <a:avLst>
                <a:gd name="adj" fmla="val 48889"/>
              </a:avLst>
            </a:prstGeom>
            <a:solidFill>
              <a:srgbClr val="4F7C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0768" y="1574482"/>
              <a:ext cx="25552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AF1FB"/>
                  </a:solidFill>
                  <a:latin typeface="+mn-lt"/>
                  <a:ea typeface="+mn-ea"/>
                  <a:cs typeface="+mn-cs"/>
                </a:rPr>
                <a:t>1 Rate–distortion lens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3054" y="1908810"/>
              <a:ext cx="40963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View uncertainty quantification through the lens of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3054" y="2137410"/>
              <a:ext cx="42688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rate–distortion theory — a fresh, principled framing.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200775" y="1428750"/>
            <a:ext cx="5381625" cy="1905000"/>
            <a:chOff x="6200775" y="1428750"/>
            <a:chExt cx="5381625" cy="1905000"/>
          </a:xfrm>
        </p:grpSpPr>
        <p:sp>
          <p:nvSpPr>
            <p:cNvPr id="12" name="Rectangle 12"/>
            <p:cNvSpPr/>
            <p:nvPr/>
          </p:nvSpPr>
          <p:spPr>
            <a:xfrm>
              <a:off x="6200775" y="1428750"/>
              <a:ext cx="5381625" cy="1905000"/>
            </a:xfrm>
            <a:prstGeom prst="roundRect">
              <a:avLst>
                <a:gd name="adj" fmla="val 8000"/>
              </a:avLst>
            </a:prstGeom>
            <a:solidFill>
              <a:schemeClr val="accent6"/>
            </a:solidFill>
            <a:ln w="11430">
              <a:solidFill>
                <a:srgbClr val="2F4160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200775" y="1581150"/>
              <a:ext cx="42862" cy="1600200"/>
            </a:xfrm>
            <a:prstGeom prst="roundRect">
              <a:avLst>
                <a:gd name="adj" fmla="val 48889"/>
              </a:avLst>
            </a:prstGeom>
            <a:solidFill>
              <a:srgbClr val="33D6C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01943" y="1574482"/>
              <a:ext cx="25100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AF1FB"/>
                  </a:solidFill>
                  <a:latin typeface="+mn-lt"/>
                  <a:ea typeface="+mn-ea"/>
                  <a:cs typeface="+mn-cs"/>
                </a:rPr>
                <a:t>2 Compress → measure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04229" y="1908810"/>
              <a:ext cx="43145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Compress the entire training set into a small codebook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04229" y="2137410"/>
              <a:ext cx="44627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of prototype distributions, then measure how far a new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04229" y="2366010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input is from that codebook.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9600" y="3505200"/>
            <a:ext cx="5381625" cy="1905000"/>
            <a:chOff x="609600" y="3505200"/>
            <a:chExt cx="5381625" cy="1905000"/>
          </a:xfrm>
        </p:grpSpPr>
        <p:sp>
          <p:nvSpPr>
            <p:cNvPr id="19" name="Rectangle 19"/>
            <p:cNvSpPr/>
            <p:nvPr/>
          </p:nvSpPr>
          <p:spPr>
            <a:xfrm>
              <a:off x="609600" y="3505200"/>
              <a:ext cx="5381625" cy="1905000"/>
            </a:xfrm>
            <a:prstGeom prst="roundRect">
              <a:avLst>
                <a:gd name="adj" fmla="val 8000"/>
              </a:avLst>
            </a:prstGeom>
            <a:solidFill>
              <a:schemeClr val="accent6"/>
            </a:solidFill>
            <a:ln w="11430">
              <a:solidFill>
                <a:srgbClr val="2F416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09600" y="3657600"/>
              <a:ext cx="42862" cy="1600200"/>
            </a:xfrm>
            <a:prstGeom prst="roundRect">
              <a:avLst>
                <a:gd name="adj" fmla="val 48889"/>
              </a:avLst>
            </a:prstGeom>
            <a:solidFill>
              <a:srgbClr val="46D19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0768" y="3650932"/>
              <a:ext cx="17900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AF1FB"/>
                  </a:solidFill>
                  <a:latin typeface="+mn-lt"/>
                  <a:ea typeface="+mn-ea"/>
                  <a:cs typeface="+mn-cs"/>
                </a:rPr>
                <a:t>3 The DAB model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3054" y="3985260"/>
              <a:ext cx="44693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The Distance Aware Bottleneck (DAB): one deterministic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3054" y="4213860"/>
              <a:ext cx="46161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model that produces uncertainty in a single forward pass.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200775" y="3505200"/>
            <a:ext cx="5381625" cy="1905000"/>
            <a:chOff x="6200775" y="3505200"/>
            <a:chExt cx="5381625" cy="1905000"/>
          </a:xfrm>
        </p:grpSpPr>
        <p:sp>
          <p:nvSpPr>
            <p:cNvPr id="25" name="Rectangle 25"/>
            <p:cNvSpPr/>
            <p:nvPr/>
          </p:nvSpPr>
          <p:spPr>
            <a:xfrm>
              <a:off x="6200775" y="3505200"/>
              <a:ext cx="5381625" cy="1905000"/>
            </a:xfrm>
            <a:prstGeom prst="roundRect">
              <a:avLst>
                <a:gd name="adj" fmla="val 8000"/>
              </a:avLst>
            </a:prstGeom>
            <a:solidFill>
              <a:schemeClr val="accent6"/>
            </a:solidFill>
            <a:ln w="11430">
              <a:solidFill>
                <a:srgbClr val="2F416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00775" y="3657600"/>
              <a:ext cx="42862" cy="1600200"/>
            </a:xfrm>
            <a:prstGeom prst="roundRect">
              <a:avLst>
                <a:gd name="adj" fmla="val 48889"/>
              </a:avLst>
            </a:prstGeom>
            <a:solidFill>
              <a:srgbClr val="F4B45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01943" y="3650932"/>
              <a:ext cx="21115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AF1FB"/>
                  </a:solidFill>
                  <a:latin typeface="+mn-lt"/>
                  <a:ea typeface="+mn-ea"/>
                  <a:cs typeface="+mn-cs"/>
                </a:rPr>
                <a:t>4 Practical toolkit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04229" y="3985260"/>
              <a:ext cx="39024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An alternating-minimization training algorithm, a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04229" y="4213860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meta-probabilistic distortion over distributions of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04229" y="4442460"/>
              <a:ext cx="46161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embeddings, and a post-hoc variant for pre-trained nets.</a:t>
              </a:r>
            </a:p>
          </p:txBody>
        </p:sp>
      </p:grpSp>
      <p:sp>
        <p:nvSpPr>
          <p:cNvPr id="32" name="cue_s04_c1_their_key_idea_view_uncertainty" title="cue_s04_c1_their_key_idea_view_uncertainty" descr="cue_s04_c1_their_key_idea_view_uncertainty Their key idea is to view uncertainty quantification through the lens of rate-distortion theory."/>
          <p:cNvSpPr/>
          <p:nvPr/>
        </p:nvSpPr>
        <p:spPr>
          <a:xfrm>
            <a:off x="609600" y="1428521"/>
            <a:ext cx="5381548" cy="19051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ue_s04_c2_they_compress_entire_set_small" title="cue_s04_c2_they_compress_entire_set_small" descr="cue_s04_c2_they_compress_entire_set_small They compress the entire training set into a small codebook of prototype distributions, and measure how far a new input is from that codebook."/>
          <p:cNvSpPr/>
          <p:nvPr/>
        </p:nvSpPr>
        <p:spPr>
          <a:xfrm>
            <a:off x="6200851" y="1428521"/>
            <a:ext cx="5381548" cy="19051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ue_s04_c3_gives_distance_aware_bottleneck_dab" title="cue_s04_c3_gives_distance_aware_bottleneck_dab" descr="cue_s04_c3_gives_distance_aware_bottleneck_dab This gives the Distance Aware Bottleneck, or DAB: a single deterministic model that produces uncertainty in one forward pass."/>
          <p:cNvSpPr/>
          <p:nvPr/>
        </p:nvSpPr>
        <p:spPr>
          <a:xfrm>
            <a:off x="609600" y="3505123"/>
            <a:ext cx="5381548" cy="19051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ue_s04_c4_along_way_they_contribute_practical" title="cue_s04_c4_along_way_they_contribute_practical" descr="cue_s04_c4_along_way_they_contribute_practical Along the way they contribute a practical alternating-minimization training algorithm, a meta-probabilistic distortion that operates over distributions of embeddings, and a post-hoc variant that adds distance awareness to large pre-trained feature extractors."/>
          <p:cNvSpPr/>
          <p:nvPr/>
        </p:nvSpPr>
        <p:spPr>
          <a:xfrm>
            <a:off x="6200851" y="3505123"/>
            <a:ext cx="5381548" cy="19051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609600" y="41910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33D6C6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94385" y="431006"/>
            <a:ext cx="7640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rgbClr val="33D6C6"/>
                </a:solidFill>
                <a:latin typeface="+mn-lt"/>
                <a:ea typeface="+mn-ea"/>
                <a:cs typeface="+mn-cs"/>
              </a:rPr>
              <a:t>METHOD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7621" y="581978"/>
            <a:ext cx="4814541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EAF1FB"/>
                </a:solidFill>
                <a:latin typeface="+mn-lt"/>
                <a:ea typeface="+mn-ea"/>
                <a:cs typeface="+mn-cs"/>
              </a:rPr>
              <a:t>How DAB measures distance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09600" y="1428750"/>
            <a:ext cx="5391150" cy="1257300"/>
            <a:chOff x="609600" y="1428750"/>
            <a:chExt cx="5391150" cy="125730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5391150" cy="1257300"/>
            </a:xfrm>
            <a:prstGeom prst="roundRect">
              <a:avLst>
                <a:gd name="adj" fmla="val 12121"/>
              </a:avLst>
            </a:prstGeom>
            <a:solidFill>
              <a:schemeClr val="accent6"/>
            </a:solidFill>
            <a:ln w="11430">
              <a:solidFill>
                <a:srgbClr val="2F4160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581150"/>
              <a:ext cx="42862" cy="952500"/>
            </a:xfrm>
            <a:prstGeom prst="roundRect">
              <a:avLst>
                <a:gd name="adj" fmla="val 48889"/>
              </a:avLst>
            </a:prstGeom>
            <a:solidFill>
              <a:srgbClr val="4F7C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0768" y="1574482"/>
              <a:ext cx="25786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AF1FB"/>
                  </a:solidFill>
                  <a:latin typeface="+mn-lt"/>
                  <a:ea typeface="+mn-ea"/>
                  <a:cs typeface="+mn-cs"/>
                </a:rPr>
                <a:t>Rate term, reimagined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3435" y="1916906"/>
              <a:ext cx="40065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Builds on the Information Bottleneck, but replaces its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3435" y="2135981"/>
              <a:ext cx="41275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rate term with an achievable rate from rate–distortion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3435" y="235505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theory with finite cardinality.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191250" y="1428750"/>
            <a:ext cx="5391150" cy="1257300"/>
            <a:chOff x="6191250" y="1428750"/>
            <a:chExt cx="5391150" cy="1257300"/>
          </a:xfrm>
        </p:grpSpPr>
        <p:sp>
          <p:nvSpPr>
            <p:cNvPr id="13" name="Rectangle 13"/>
            <p:cNvSpPr/>
            <p:nvPr/>
          </p:nvSpPr>
          <p:spPr>
            <a:xfrm>
              <a:off x="6191250" y="1428750"/>
              <a:ext cx="5391150" cy="1257300"/>
            </a:xfrm>
            <a:prstGeom prst="roundRect">
              <a:avLst>
                <a:gd name="adj" fmla="val 12121"/>
              </a:avLst>
            </a:prstGeom>
            <a:solidFill>
              <a:schemeClr val="accent6"/>
            </a:solidFill>
            <a:ln w="11430">
              <a:solidFill>
                <a:srgbClr val="2F4160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191250" y="1581150"/>
              <a:ext cx="42862" cy="952500"/>
            </a:xfrm>
            <a:prstGeom prst="roundRect">
              <a:avLst>
                <a:gd name="adj" fmla="val 48889"/>
              </a:avLst>
            </a:prstGeom>
            <a:solidFill>
              <a:srgbClr val="33D6C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392418" y="1574482"/>
              <a:ext cx="32698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AF1FB"/>
                  </a:solidFill>
                  <a:latin typeface="+mn-lt"/>
                  <a:ea typeface="+mn-ea"/>
                  <a:cs typeface="+mn-cs"/>
                </a:rPr>
                <a:t>A Gaussian-Process analogue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95085" y="1916906"/>
              <a:ext cx="39769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Closely analogous to a GP: the codebook plays the role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95085" y="2135981"/>
              <a:ext cx="38787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of inducing points, and statistical distance replaces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95085" y="2355056"/>
              <a:ext cx="14409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Euclidean distance.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09600" y="2857500"/>
            <a:ext cx="5391150" cy="2209800"/>
            <a:chOff x="609600" y="2857500"/>
            <a:chExt cx="5391150" cy="2209800"/>
          </a:xfrm>
        </p:grpSpPr>
        <p:sp>
          <p:nvSpPr>
            <p:cNvPr id="20" name="Rectangle 20"/>
            <p:cNvSpPr/>
            <p:nvPr/>
          </p:nvSpPr>
          <p:spPr>
            <a:xfrm>
              <a:off x="609600" y="2857500"/>
              <a:ext cx="5391150" cy="2209800"/>
            </a:xfrm>
            <a:prstGeom prst="roundRect">
              <a:avLst>
                <a:gd name="adj" fmla="val 6897"/>
              </a:avLst>
            </a:prstGeom>
            <a:solidFill>
              <a:schemeClr val="accent6"/>
            </a:solidFill>
            <a:ln w="11430">
              <a:solidFill>
                <a:srgbClr val="2F4160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09600" y="3009900"/>
              <a:ext cx="42862" cy="1905000"/>
            </a:xfrm>
            <a:prstGeom prst="roundRect">
              <a:avLst>
                <a:gd name="adj" fmla="val 48889"/>
              </a:avLst>
            </a:prstGeom>
            <a:solidFill>
              <a:srgbClr val="46D19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12292" y="3035618"/>
              <a:ext cx="3254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AF1FB"/>
                  </a:solidFill>
                  <a:latin typeface="+mn-lt"/>
                  <a:ea typeface="+mn-ea"/>
                  <a:cs typeface="+mn-cs"/>
                </a:rPr>
                <a:t>Codebook of centroid distributions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857250" y="3714750"/>
              <a:ext cx="571500" cy="571500"/>
            </a:xfrm>
            <a:prstGeom prst="ellipse">
              <a:avLst/>
            </a:prstGeom>
            <a:solidFill>
              <a:srgbClr val="152034"/>
            </a:solidFill>
            <a:ln w="19050">
              <a:solidFill>
                <a:srgbClr val="4F7CF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96851" y="39347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EAF1FB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6545" y="4360545"/>
              <a:ext cx="5729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new input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62519" y="384429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6F819C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1809750" y="3676650"/>
              <a:ext cx="647700" cy="647700"/>
            </a:xfrm>
            <a:prstGeom prst="ellipse">
              <a:avLst/>
            </a:prstGeom>
            <a:solidFill>
              <a:srgbClr val="152034"/>
            </a:solidFill>
            <a:ln w="19050">
              <a:solidFill>
                <a:srgbClr val="33D6C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005821" y="393477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EAF1FB"/>
                  </a:solidFill>
                  <a:latin typeface="+mn-lt"/>
                  <a:ea typeface="+mn-ea"/>
                  <a:cs typeface="+mn-cs"/>
                </a:rPr>
                <a:t>enc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80508" y="4398645"/>
              <a:ext cx="7061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embed dist.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3686175" y="3629025"/>
              <a:ext cx="171450" cy="171450"/>
            </a:xfrm>
            <a:prstGeom prst="ellipse">
              <a:avLst/>
            </a:prstGeom>
            <a:solidFill>
              <a:srgbClr val="33D6C6">
                <a:alpha val="85000"/>
              </a:srgbClr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4067175" y="3533775"/>
              <a:ext cx="171450" cy="171450"/>
            </a:xfrm>
            <a:prstGeom prst="ellipse">
              <a:avLst/>
            </a:prstGeom>
            <a:solidFill>
              <a:srgbClr val="33D6C6">
                <a:alpha val="85000"/>
              </a:srgbClr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4391025" y="3781425"/>
              <a:ext cx="171450" cy="171450"/>
            </a:xfrm>
            <a:prstGeom prst="ellipse">
              <a:avLst/>
            </a:prstGeom>
            <a:solidFill>
              <a:srgbClr val="33D6C6">
                <a:alpha val="85000"/>
              </a:srgbClr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4276725" y="4162425"/>
              <a:ext cx="171450" cy="171450"/>
            </a:xfrm>
            <a:prstGeom prst="ellipse">
              <a:avLst/>
            </a:prstGeom>
            <a:solidFill>
              <a:srgbClr val="33D6C6">
                <a:alpha val="85000"/>
              </a:srgbClr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3857625" y="4238625"/>
              <a:ext cx="171450" cy="171450"/>
            </a:xfrm>
            <a:prstGeom prst="ellipse">
              <a:avLst/>
            </a:prstGeom>
            <a:solidFill>
              <a:srgbClr val="33D6C6">
                <a:alpha val="85000"/>
              </a:srgbClr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3590925" y="3971925"/>
              <a:ext cx="171450" cy="171450"/>
            </a:xfrm>
            <a:prstGeom prst="ellipse">
              <a:avLst/>
            </a:prstGeom>
            <a:solidFill>
              <a:srgbClr val="33D6C6">
                <a:alpha val="85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507276" y="4712970"/>
              <a:ext cx="12150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codebook (10 codes)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2495550" y="4000500"/>
              <a:ext cx="1104900" cy="9525"/>
            </a:xfrm>
            <a:custGeom>
              <a:avLst/>
              <a:gdLst/>
              <a:ahLst/>
              <a:cxnLst/>
              <a:rect l="l" t="t" r="r" b="b"/>
              <a:pathLst>
                <a:path w="1104900" h="9525">
                  <a:moveTo>
                    <a:pt x="0" y="0"/>
                  </a:moveTo>
                  <a:lnTo>
                    <a:pt x="1104900" y="0"/>
                  </a:lnTo>
                </a:path>
              </a:pathLst>
            </a:custGeom>
            <a:noFill/>
            <a:ln w="19050">
              <a:solidFill>
                <a:srgbClr val="6F819C"/>
              </a:solidFill>
              <a:custDash>
                <a:ds d="250000" sp="250000"/>
              </a:custDash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654291" y="3780949"/>
              <a:ext cx="7874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D19E"/>
                  </a:solidFill>
                  <a:latin typeface="+mn-lt"/>
                  <a:ea typeface="+mn-ea"/>
                  <a:cs typeface="+mn-cs"/>
                </a:rPr>
                <a:t>KL distance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191250" y="2857500"/>
            <a:ext cx="5391150" cy="2209800"/>
            <a:chOff x="6191250" y="2857500"/>
            <a:chExt cx="5391150" cy="2209800"/>
          </a:xfrm>
        </p:grpSpPr>
        <p:sp>
          <p:nvSpPr>
            <p:cNvPr id="40" name="Rectangle 40"/>
            <p:cNvSpPr/>
            <p:nvPr/>
          </p:nvSpPr>
          <p:spPr>
            <a:xfrm>
              <a:off x="6191250" y="2857500"/>
              <a:ext cx="5391150" cy="2209800"/>
            </a:xfrm>
            <a:prstGeom prst="roundRect">
              <a:avLst>
                <a:gd name="adj" fmla="val 6897"/>
              </a:avLst>
            </a:prstGeom>
            <a:solidFill>
              <a:schemeClr val="accent6"/>
            </a:solidFill>
            <a:ln w="11430">
              <a:solidFill>
                <a:srgbClr val="2F4160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191250" y="3009900"/>
              <a:ext cx="42862" cy="1905000"/>
            </a:xfrm>
            <a:prstGeom prst="roundRect">
              <a:avLst>
                <a:gd name="adj" fmla="val 48889"/>
              </a:avLst>
            </a:prstGeom>
            <a:solidFill>
              <a:srgbClr val="F4B45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92418" y="3003232"/>
              <a:ext cx="27990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AF1FB"/>
                  </a:solidFill>
                  <a:latin typeface="+mn-lt"/>
                  <a:ea typeface="+mn-ea"/>
                  <a:cs typeface="+mn-cs"/>
                </a:rPr>
                <a:t>Alternating optimization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94704" y="3337560"/>
              <a:ext cx="44117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Gradient updates of the encoder &amp; decoder, alternating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94704" y="3566160"/>
              <a:ext cx="41638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with cheap analytic updates of the soft assignments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94704" y="379476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and centroids — echoing the classic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94704" y="4023360"/>
              <a:ext cx="21068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Blahut–Arimoto algorithm.</a:t>
              </a:r>
            </a:p>
          </p:txBody>
        </p:sp>
      </p:grpSp>
      <p:sp>
        <p:nvSpPr>
          <p:cNvPr id="48" name="cue_s05_c1_dab_builds_information_bottleneck_fr" title="cue_s05_c1_dab_builds_information_bottleneck_fr" descr="cue_s05_c1_dab_builds_information_bottleneck_fr DAB builds on the Information Bottleneck framework but replaces its rate term with an achievable rate borrowed from rate-distortion theory with finite cardinality."/>
          <p:cNvSpPr/>
          <p:nvPr/>
        </p:nvSpPr>
        <p:spPr>
          <a:xfrm>
            <a:off x="609600" y="1428521"/>
            <a:ext cx="5391302" cy="12570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ue_s05_c2_concretely_learns_codebook_centroid" title="cue_s05_c2_concretely_learns_codebook_centroid" descr="cue_s05_c2_concretely_learns_codebook_centroid Concretely, the model learns a codebook of centroid distributions that quantize the encoders of all training points. The uncertainty of a new example is simply its expected statistical distance, here the Kullback-Leibler divergence, from that codebook."/>
          <p:cNvSpPr/>
          <p:nvPr/>
        </p:nvSpPr>
        <p:spPr>
          <a:xfrm>
            <a:off x="609600" y="2857728"/>
            <a:ext cx="5391302" cy="22096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ue_s05_c3_alternates_between_gradient_updates" title="cue_s05_c3_alternates_between_gradient_updates" descr="cue_s05_c3_alternates_between_gradient_updates Training alternates between gradient updates of the encoder and decoder and cheap analytic updates of the soft assignments and centroids, echoing the classic Blahut-Arimoto algorithm."/>
          <p:cNvSpPr/>
          <p:nvPr/>
        </p:nvSpPr>
        <p:spPr>
          <a:xfrm>
            <a:off x="6191097" y="2857728"/>
            <a:ext cx="5391302" cy="22096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ue_s05_c4_result_closely_analogous_gaussian_pr" title="cue_s05_c4_result_closely_analogous_gaussian_pr" descr="cue_s05_c4_result_closely_analogous_gaussian_pr The result is closely analogous to a Gaussian Process, where the codebook plays the role of inducing points and statistical distance replaces Euclidean distance."/>
          <p:cNvSpPr/>
          <p:nvPr/>
        </p:nvSpPr>
        <p:spPr>
          <a:xfrm>
            <a:off x="6191097" y="1428521"/>
            <a:ext cx="5391302" cy="12570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609600" y="41910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33D6C6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94385" y="431006"/>
            <a:ext cx="219060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rgbClr val="33D6C6"/>
                </a:solidFill>
                <a:latin typeface="+mn-lt"/>
                <a:ea typeface="+mn-ea"/>
                <a:cs typeface="+mn-cs"/>
              </a:rPr>
              <a:t>DATASET / BENCHMARK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7621" y="581978"/>
            <a:ext cx="333564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EAF1FB"/>
                </a:solidFill>
                <a:latin typeface="+mn-lt"/>
                <a:ea typeface="+mn-ea"/>
                <a:cs typeface="+mn-cs"/>
              </a:rPr>
              <a:t>How it is evaluated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09600" y="1428750"/>
            <a:ext cx="5381625" cy="1905000"/>
            <a:chOff x="609600" y="1428750"/>
            <a:chExt cx="5381625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5381625" cy="1905000"/>
            </a:xfrm>
            <a:prstGeom prst="roundRect">
              <a:avLst>
                <a:gd name="adj" fmla="val 8000"/>
              </a:avLst>
            </a:prstGeom>
            <a:solidFill>
              <a:schemeClr val="accent6"/>
            </a:solidFill>
            <a:ln w="11430">
              <a:solidFill>
                <a:srgbClr val="2F4160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581150"/>
              <a:ext cx="42862" cy="1600200"/>
            </a:xfrm>
            <a:prstGeom prst="roundRect">
              <a:avLst>
                <a:gd name="adj" fmla="val 48889"/>
              </a:avLst>
            </a:prstGeom>
            <a:solidFill>
              <a:srgbClr val="4F7C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0768" y="1574482"/>
              <a:ext cx="19013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AF1FB"/>
                  </a:solidFill>
                  <a:latin typeface="+mn-lt"/>
                  <a:ea typeface="+mn-ea"/>
                  <a:cs typeface="+mn-cs"/>
                </a:rPr>
                <a:t>Several settings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3054" y="1908810"/>
              <a:ext cx="4282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Tested across several complementary settings — from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3054" y="2137410"/>
              <a:ext cx="41267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small-scale OOD detection to large-scale ImageNet.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200775" y="1428750"/>
            <a:ext cx="5381625" cy="1905000"/>
            <a:chOff x="6200775" y="1428750"/>
            <a:chExt cx="5381625" cy="1905000"/>
          </a:xfrm>
        </p:grpSpPr>
        <p:sp>
          <p:nvSpPr>
            <p:cNvPr id="12" name="Rectangle 12"/>
            <p:cNvSpPr/>
            <p:nvPr/>
          </p:nvSpPr>
          <p:spPr>
            <a:xfrm>
              <a:off x="6200775" y="1428750"/>
              <a:ext cx="5381625" cy="1905000"/>
            </a:xfrm>
            <a:prstGeom prst="roundRect">
              <a:avLst>
                <a:gd name="adj" fmla="val 8000"/>
              </a:avLst>
            </a:prstGeom>
            <a:solidFill>
              <a:schemeClr val="accent6"/>
            </a:solidFill>
            <a:ln w="11430">
              <a:solidFill>
                <a:srgbClr val="2F4160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200775" y="1581150"/>
              <a:ext cx="42862" cy="1600200"/>
            </a:xfrm>
            <a:prstGeom prst="roundRect">
              <a:avLst>
                <a:gd name="adj" fmla="val 48889"/>
              </a:avLst>
            </a:prstGeom>
            <a:solidFill>
              <a:srgbClr val="33D6C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03467" y="1606868"/>
              <a:ext cx="18826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AF1FB"/>
                  </a:solidFill>
                  <a:latin typeface="+mn-lt"/>
                  <a:ea typeface="+mn-ea"/>
                  <a:cs typeface="+mn-cs"/>
                </a:rPr>
                <a:t>CIFAR-10 benchmark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410325" y="2095500"/>
              <a:ext cx="1428750" cy="552450"/>
            </a:xfrm>
            <a:prstGeom prst="roundRect">
              <a:avLst>
                <a:gd name="adj" fmla="val 17241"/>
              </a:avLst>
            </a:prstGeom>
            <a:solidFill>
              <a:srgbClr val="152034"/>
            </a:solidFill>
            <a:ln w="13335">
              <a:solidFill>
                <a:srgbClr val="46D19E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746718" y="2213610"/>
              <a:ext cx="755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EAF1FB"/>
                  </a:solidFill>
                  <a:latin typeface="+mn-lt"/>
                  <a:ea typeface="+mn-ea"/>
                  <a:cs typeface="+mn-cs"/>
                </a:rPr>
                <a:t>CIFAR-10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80740" y="2436495"/>
              <a:ext cx="8879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in-distribution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067675" y="2095500"/>
              <a:ext cx="1428750" cy="552450"/>
            </a:xfrm>
            <a:prstGeom prst="roundRect">
              <a:avLst>
                <a:gd name="adj" fmla="val 17241"/>
              </a:avLst>
            </a:prstGeom>
            <a:solidFill>
              <a:srgbClr val="152034"/>
            </a:solidFill>
            <a:ln w="13335">
              <a:solidFill>
                <a:srgbClr val="4F7CF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78809" y="2213610"/>
              <a:ext cx="40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EAF1FB"/>
                  </a:solidFill>
                  <a:latin typeface="+mn-lt"/>
                  <a:ea typeface="+mn-ea"/>
                  <a:cs typeface="+mn-cs"/>
                </a:rPr>
                <a:t>SVHN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28114" y="2436495"/>
              <a:ext cx="5078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far OOD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725025" y="2095500"/>
              <a:ext cx="1428750" cy="552450"/>
            </a:xfrm>
            <a:prstGeom prst="roundRect">
              <a:avLst>
                <a:gd name="adj" fmla="val 17241"/>
              </a:avLst>
            </a:prstGeom>
            <a:solidFill>
              <a:srgbClr val="152034"/>
            </a:solidFill>
            <a:ln w="13335">
              <a:solidFill>
                <a:srgbClr val="F4B45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012131" y="2213610"/>
              <a:ext cx="8545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EAF1FB"/>
                  </a:solidFill>
                  <a:latin typeface="+mn-lt"/>
                  <a:ea typeface="+mn-ea"/>
                  <a:cs typeface="+mn-cs"/>
                </a:rPr>
                <a:t>CIFAR-100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933297" y="2436495"/>
              <a:ext cx="10122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near OOD (hard)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04991" y="2915602"/>
              <a:ext cx="32264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far vs. near out-of-distribution stress tests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9600" y="3505200"/>
            <a:ext cx="5381625" cy="1905000"/>
            <a:chOff x="609600" y="3505200"/>
            <a:chExt cx="5381625" cy="1905000"/>
          </a:xfrm>
        </p:grpSpPr>
        <p:sp>
          <p:nvSpPr>
            <p:cNvPr id="26" name="Rectangle 26"/>
            <p:cNvSpPr/>
            <p:nvPr/>
          </p:nvSpPr>
          <p:spPr>
            <a:xfrm>
              <a:off x="609600" y="3505200"/>
              <a:ext cx="5381625" cy="1905000"/>
            </a:xfrm>
            <a:prstGeom prst="roundRect">
              <a:avLst>
                <a:gd name="adj" fmla="val 8000"/>
              </a:avLst>
            </a:prstGeom>
            <a:solidFill>
              <a:schemeClr val="accent6"/>
            </a:solidFill>
            <a:ln w="11430">
              <a:solidFill>
                <a:srgbClr val="2F416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09600" y="3657600"/>
              <a:ext cx="42862" cy="1600200"/>
            </a:xfrm>
            <a:prstGeom prst="roundRect">
              <a:avLst>
                <a:gd name="adj" fmla="val 48889"/>
              </a:avLst>
            </a:prstGeom>
            <a:solidFill>
              <a:srgbClr val="46D19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10768" y="3650932"/>
              <a:ext cx="13888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AF1FB"/>
                  </a:solidFill>
                  <a:latin typeface="+mn-lt"/>
                  <a:ea typeface="+mn-ea"/>
                  <a:cs typeface="+mn-cs"/>
                </a:rPr>
                <a:t>And at scale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3054" y="3985260"/>
              <a:ext cx="41323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Also: misclassification prediction on CIFAR-10, then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3054" y="4213860"/>
              <a:ext cx="39564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scaling up to ImageNet-1K with ImageNet-O as the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3054" y="4442460"/>
              <a:ext cx="19830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out-of-distribution set.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200775" y="3505200"/>
            <a:ext cx="5381625" cy="1905000"/>
            <a:chOff x="6200775" y="3505200"/>
            <a:chExt cx="5381625" cy="1905000"/>
          </a:xfrm>
        </p:grpSpPr>
        <p:sp>
          <p:nvSpPr>
            <p:cNvPr id="33" name="Rectangle 33"/>
            <p:cNvSpPr/>
            <p:nvPr/>
          </p:nvSpPr>
          <p:spPr>
            <a:xfrm>
              <a:off x="6200775" y="3505200"/>
              <a:ext cx="5381625" cy="1905000"/>
            </a:xfrm>
            <a:prstGeom prst="roundRect">
              <a:avLst>
                <a:gd name="adj" fmla="val 8000"/>
              </a:avLst>
            </a:prstGeom>
            <a:solidFill>
              <a:schemeClr val="accent6"/>
            </a:solidFill>
            <a:ln w="11430">
              <a:solidFill>
                <a:srgbClr val="2F416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00775" y="3657600"/>
              <a:ext cx="42862" cy="1600200"/>
            </a:xfrm>
            <a:prstGeom prst="roundRect">
              <a:avLst>
                <a:gd name="adj" fmla="val 48889"/>
              </a:avLst>
            </a:prstGeom>
            <a:solidFill>
              <a:srgbClr val="4F7C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01943" y="3650932"/>
              <a:ext cx="33361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AF1FB"/>
                  </a:solidFill>
                  <a:latin typeface="+mn-lt"/>
                  <a:ea typeface="+mn-ea"/>
                  <a:cs typeface="+mn-cs"/>
                </a:rPr>
                <a:t>Tiny bottleneck, strong field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04229" y="3985260"/>
              <a:ext cx="41937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Just an 8-dim latent bottleneck and 10 distributional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04229" y="4213860"/>
              <a:ext cx="41815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codes. Compared against deep ensembles, DDU, DUQ,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04229" y="4442460"/>
              <a:ext cx="32683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DUE, SNGP, and the vanilla variational IB.</a:t>
              </a:r>
            </a:p>
          </p:txBody>
        </p:sp>
      </p:grpSp>
      <p:sp>
        <p:nvSpPr>
          <p:cNvPr id="40" name="cue_s06_c1_method_tested_across_several_setting" title="cue_s06_c1_method_tested_across_several_setting" descr="cue_s06_c1_method_tested_across_several_setting The method is tested across several settings."/>
          <p:cNvSpPr/>
          <p:nvPr/>
        </p:nvSpPr>
        <p:spPr>
          <a:xfrm>
            <a:off x="609600" y="1428521"/>
            <a:ext cx="5381548" cy="19051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ue_s06_c2_cifar_10_in_distribution_svhn_serves" title="cue_s06_c2_cifar_10_in_distribution_svhn_serves" descr="cue_s06_c2_cifar_10_in_distribution_svhn_serves On CIFAR-10 as the in-distribution data, SVHN serves as a far out-of-distribution set and CIFAR-100 as a harder near out-of-distribution set."/>
          <p:cNvSpPr/>
          <p:nvPr/>
        </p:nvSpPr>
        <p:spPr>
          <a:xfrm>
            <a:off x="6200851" y="1428521"/>
            <a:ext cx="5381548" cy="19051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ue_s06_c3_authors_also_study_misclassification" title="cue_s06_c3_authors_also_study_misclassification" descr="cue_s06_c3_authors_also_study_misclassification The authors also study misclassification prediction on CIFAR-10 and scale up to ImageNet-1K with ImageNet-O as the out-of-distribution set."/>
          <p:cNvSpPr/>
          <p:nvPr/>
        </p:nvSpPr>
        <p:spPr>
          <a:xfrm>
            <a:off x="609600" y="3505123"/>
            <a:ext cx="5381548" cy="19051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ue_s06_c4_notably_dab_works_very_narrow" title="cue_s06_c4_notably_dab_works_very_narrow" descr="cue_s06_c4_notably_dab_works_very_narrow Notably, DAB works with a very narrow eight-dimensional latent bottleneck and just ten distributional codes, and is compared against strong baselines including deep ensembles, DDU, DUQ, DUE, SNGP, and the vanilla variational Information Bottleneck."/>
          <p:cNvSpPr/>
          <p:nvPr/>
        </p:nvSpPr>
        <p:spPr>
          <a:xfrm>
            <a:off x="6200851" y="3505123"/>
            <a:ext cx="5381548" cy="19051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609600" y="41910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33D6C6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94385" y="431006"/>
            <a:ext cx="11302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rgbClr val="33D6C6"/>
                </a:solidFill>
                <a:latin typeface="+mn-lt"/>
                <a:ea typeface="+mn-ea"/>
                <a:cs typeface="+mn-cs"/>
              </a:rPr>
              <a:t>KEY RESULT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7621" y="581978"/>
            <a:ext cx="5121814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EAF1FB"/>
                </a:solidFill>
                <a:latin typeface="+mn-lt"/>
                <a:ea typeface="+mn-ea"/>
                <a:cs typeface="+mn-cs"/>
              </a:rPr>
              <a:t>Best-in-class OOD detection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09600" y="1428750"/>
            <a:ext cx="10972800" cy="723900"/>
            <a:chOff x="609600" y="1428750"/>
            <a:chExt cx="10972800" cy="72390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10972800" cy="723900"/>
            </a:xfrm>
            <a:prstGeom prst="roundRect">
              <a:avLst>
                <a:gd name="adj" fmla="val 18421"/>
              </a:avLst>
            </a:prstGeom>
            <a:solidFill>
              <a:srgbClr val="152239"/>
            </a:solidFill>
            <a:ln w="14288">
              <a:solidFill>
                <a:srgbClr val="33D6C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562100"/>
              <a:ext cx="42862" cy="457200"/>
            </a:xfrm>
            <a:prstGeom prst="roundRect">
              <a:avLst>
                <a:gd name="adj" fmla="val 48889"/>
              </a:avLst>
            </a:prstGeom>
            <a:solidFill>
              <a:srgbClr val="33D6C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0199" y="1696879"/>
              <a:ext cx="739759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EAF1FB"/>
                  </a:solidFill>
                  <a:latin typeface="+mn-lt"/>
                  <a:ea typeface="+mn-ea"/>
                  <a:cs typeface="+mn-cs"/>
                </a:rPr>
                <a:t>DAB outperforms every baseline on both out-of-distribution tasks.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2343150"/>
            <a:ext cx="6667500" cy="3276600"/>
            <a:chOff x="609600" y="2343150"/>
            <a:chExt cx="6667500" cy="3276600"/>
          </a:xfrm>
        </p:grpSpPr>
        <p:sp>
          <p:nvSpPr>
            <p:cNvPr id="10" name="Rectangle 10"/>
            <p:cNvSpPr/>
            <p:nvPr/>
          </p:nvSpPr>
          <p:spPr>
            <a:xfrm>
              <a:off x="609600" y="2343150"/>
              <a:ext cx="6667500" cy="3276600"/>
            </a:xfrm>
            <a:prstGeom prst="roundRect">
              <a:avLst>
                <a:gd name="adj" fmla="val 4651"/>
              </a:avLst>
            </a:prstGeom>
            <a:solidFill>
              <a:schemeClr val="accent6"/>
            </a:solidFill>
            <a:ln w="11430">
              <a:solidFill>
                <a:srgbClr val="2F4160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2495550"/>
              <a:ext cx="42862" cy="2971800"/>
            </a:xfrm>
            <a:prstGeom prst="roundRect">
              <a:avLst>
                <a:gd name="adj" fmla="val 48889"/>
              </a:avLst>
            </a:prstGeom>
            <a:solidFill>
              <a:srgbClr val="4F7C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12673" y="2567464"/>
              <a:ext cx="38807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EAF1FB"/>
                  </a:solidFill>
                  <a:latin typeface="+mn-lt"/>
                  <a:ea typeface="+mn-ea"/>
                  <a:cs typeface="+mn-cs"/>
                </a:rPr>
                <a:t>CIFAR-10 → OOD detection (AUROC / AUPRC)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333500" y="3455670"/>
              <a:ext cx="571500" cy="1554480"/>
            </a:xfrm>
            <a:prstGeom prst="roundRect">
              <a:avLst>
                <a:gd name="adj" fmla="val 10000"/>
              </a:avLst>
            </a:prstGeom>
            <a:solidFill>
              <a:srgbClr val="4F7C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95854" y="3238976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EAF1FB"/>
                  </a:solidFill>
                  <a:latin typeface="Consolas"/>
                  <a:ea typeface="Consolas"/>
                  <a:cs typeface="Consolas"/>
                </a:rPr>
                <a:t>0.986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25664" y="5122545"/>
              <a:ext cx="38717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AUROC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133600" y="3364230"/>
              <a:ext cx="571500" cy="1645920"/>
            </a:xfrm>
            <a:prstGeom prst="roundRect">
              <a:avLst>
                <a:gd name="adj" fmla="val 10000"/>
              </a:avLst>
            </a:prstGeom>
            <a:solidFill>
              <a:srgbClr val="33D6C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195954" y="3147536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EAF1FB"/>
                  </a:solidFill>
                  <a:latin typeface="Consolas"/>
                  <a:ea typeface="Consolas"/>
                  <a:cs typeface="Consolas"/>
                </a:rPr>
                <a:t>0.994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38566" y="5122545"/>
              <a:ext cx="3615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AUPRC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36731" y="5315902"/>
              <a:ext cx="5651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EAF1FB"/>
                  </a:solidFill>
                  <a:latin typeface="+mn-lt"/>
                  <a:ea typeface="+mn-ea"/>
                  <a:cs typeface="+mn-cs"/>
                </a:rPr>
                <a:t>vs SVHN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191000" y="4187190"/>
              <a:ext cx="571500" cy="822960"/>
            </a:xfrm>
            <a:prstGeom prst="roundRect">
              <a:avLst>
                <a:gd name="adj" fmla="val 10000"/>
              </a:avLst>
            </a:prstGeom>
            <a:solidFill>
              <a:srgbClr val="4F7C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253354" y="3970496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EAF1FB"/>
                  </a:solidFill>
                  <a:latin typeface="Consolas"/>
                  <a:ea typeface="Consolas"/>
                  <a:cs typeface="Consolas"/>
                </a:rPr>
                <a:t>0.922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83164" y="5122545"/>
              <a:ext cx="38717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AUROC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991100" y="4267200"/>
              <a:ext cx="571500" cy="742950"/>
            </a:xfrm>
            <a:prstGeom prst="roundRect">
              <a:avLst>
                <a:gd name="adj" fmla="val 10000"/>
              </a:avLst>
            </a:prstGeom>
            <a:solidFill>
              <a:srgbClr val="33D6C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053454" y="4050506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EAF1FB"/>
                  </a:solidFill>
                  <a:latin typeface="Consolas"/>
                  <a:ea typeface="Consolas"/>
                  <a:cs typeface="Consolas"/>
                </a:rPr>
                <a:t>0.915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96066" y="5122545"/>
              <a:ext cx="3615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AUPRC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00487" y="5315902"/>
              <a:ext cx="9526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EAF1FB"/>
                  </a:solidFill>
                  <a:latin typeface="+mn-lt"/>
                  <a:ea typeface="+mn-ea"/>
                  <a:cs typeface="+mn-cs"/>
                </a:rPr>
                <a:t>vs CIFAR-100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762539" y="2904649"/>
              <a:ext cx="8146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beats even 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28789" y="3078956"/>
              <a:ext cx="13491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b="1" dirty="0">
                  <a:solidFill>
                    <a:srgbClr val="46D19E"/>
                  </a:solidFill>
                  <a:latin typeface="+mn-lt"/>
                  <a:ea typeface="+mn-ea"/>
                  <a:cs typeface="+mn-cs"/>
                </a:rPr>
                <a:t>5-model ensemble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486650" y="2343150"/>
            <a:ext cx="4095750" cy="3276600"/>
            <a:chOff x="7486650" y="2343150"/>
            <a:chExt cx="4095750" cy="3276600"/>
          </a:xfrm>
        </p:grpSpPr>
        <p:sp>
          <p:nvSpPr>
            <p:cNvPr id="30" name="Rectangle 30"/>
            <p:cNvSpPr/>
            <p:nvPr/>
          </p:nvSpPr>
          <p:spPr>
            <a:xfrm>
              <a:off x="7486650" y="2343150"/>
              <a:ext cx="4095750" cy="3276600"/>
            </a:xfrm>
            <a:prstGeom prst="roundRect">
              <a:avLst>
                <a:gd name="adj" fmla="val 4651"/>
              </a:avLst>
            </a:prstGeom>
            <a:solidFill>
              <a:schemeClr val="accent6"/>
            </a:solidFill>
            <a:ln w="11430">
              <a:solidFill>
                <a:srgbClr val="2F4160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7486650" y="2495550"/>
              <a:ext cx="42862" cy="2971800"/>
            </a:xfrm>
            <a:prstGeom prst="roundRect">
              <a:avLst>
                <a:gd name="adj" fmla="val 48889"/>
              </a:avLst>
            </a:prstGeom>
            <a:solidFill>
              <a:srgbClr val="46D19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89723" y="2567464"/>
              <a:ext cx="24193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EAF1FB"/>
                  </a:solidFill>
                  <a:latin typeface="+mn-lt"/>
                  <a:ea typeface="+mn-ea"/>
                  <a:cs typeface="+mn-cs"/>
                </a:rPr>
                <a:t>...in a single forward pass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90866" y="3068002"/>
              <a:ext cx="12767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DAB (single model)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696200" y="3257550"/>
              <a:ext cx="3143250" cy="247650"/>
            </a:xfrm>
            <a:prstGeom prst="roundRect">
              <a:avLst>
                <a:gd name="adj" fmla="val 23077"/>
              </a:avLst>
            </a:prstGeom>
            <a:solidFill>
              <a:srgbClr val="152034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696200" y="3257550"/>
              <a:ext cx="630555" cy="247650"/>
            </a:xfrm>
            <a:prstGeom prst="roundRect">
              <a:avLst>
                <a:gd name="adj" fmla="val 23077"/>
              </a:avLst>
            </a:prstGeom>
            <a:solidFill>
              <a:srgbClr val="46D19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398002" y="3323749"/>
              <a:ext cx="4416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9DB0CC"/>
                  </a:solidFill>
                  <a:latin typeface="Consolas"/>
                  <a:ea typeface="Consolas"/>
                  <a:cs typeface="Consolas"/>
                </a:rPr>
                <a:t>36.5M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90866" y="3734752"/>
              <a:ext cx="13385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Deep ensemble (×5)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696200" y="3924300"/>
              <a:ext cx="3143250" cy="247650"/>
            </a:xfrm>
            <a:prstGeom prst="roundRect">
              <a:avLst>
                <a:gd name="adj" fmla="val 23077"/>
              </a:avLst>
            </a:prstGeom>
            <a:solidFill>
              <a:srgbClr val="152034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696200" y="3924300"/>
              <a:ext cx="3143250" cy="247650"/>
            </a:xfrm>
            <a:prstGeom prst="roundRect">
              <a:avLst>
                <a:gd name="adj" fmla="val 23077"/>
              </a:avLst>
            </a:prstGeom>
            <a:solidFill>
              <a:srgbClr val="FF6B6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407021" y="3990499"/>
              <a:ext cx="361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b="1" dirty="0">
                  <a:solidFill>
                    <a:srgbClr val="EAF1FB"/>
                  </a:solidFill>
                  <a:latin typeface="Consolas"/>
                  <a:ea typeface="Consolas"/>
                  <a:cs typeface="Consolas"/>
                </a:rPr>
                <a:t>182M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7696200" y="4629150"/>
              <a:ext cx="3695700" cy="9525"/>
            </a:xfrm>
            <a:custGeom>
              <a:avLst/>
              <a:gdLst/>
              <a:ahLst/>
              <a:cxnLst/>
              <a:rect l="l" t="t" r="r" b="b"/>
              <a:pathLst>
                <a:path w="3695700" h="9525">
                  <a:moveTo>
                    <a:pt x="0" y="0"/>
                  </a:moveTo>
                  <a:lnTo>
                    <a:pt x="3695700" y="0"/>
                  </a:lnTo>
                </a:path>
              </a:pathLst>
            </a:custGeom>
            <a:noFill/>
            <a:ln w="9525">
              <a:solidFill>
                <a:srgbClr val="2F4160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90866" y="4820602"/>
              <a:ext cx="14288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Accuracy held on par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823768" y="4755832"/>
              <a:ext cx="5765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650" b="1" dirty="0">
                  <a:solidFill>
                    <a:srgbClr val="33D6C6"/>
                  </a:solidFill>
                  <a:latin typeface="Consolas"/>
                  <a:ea typeface="Consolas"/>
                  <a:cs typeface="Consolas"/>
                </a:rPr>
                <a:t>~96%</a:t>
              </a:r>
            </a:p>
          </p:txBody>
        </p:sp>
      </p:grpSp>
      <p:sp>
        <p:nvSpPr>
          <p:cNvPr id="45" name="cue_s07_c1_headline_result_dab_outperforms_ever" title="cue_s07_c1_headline_result_dab_outperforms_ever" descr="cue_s07_c1_headline_result_dab_outperforms_ever The headline result is that DAB outperforms every baseline on both out-of-distribution tasks."/>
          <p:cNvSpPr/>
          <p:nvPr/>
        </p:nvSpPr>
        <p:spPr>
          <a:xfrm>
            <a:off x="609600" y="1428521"/>
            <a:ext cx="10972800" cy="72420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ue_s07_c2_trained_cifar_10_reaches_auroc_0_986" title="cue_s07_c2_trained_cifar_10_reaches_auroc_0_986" descr="cue_s07_c2_trained_cifar_10_reaches_auroc_0_986 Trained on CIFAR-10, it reaches an AUROC of 0.986 and AUPRC of 0.994 against SVHN, and an AUROC of 0.922 and AUPRC of 0.915 against the harder CIFAR-100, beating even a five-model deep ensemble."/>
          <p:cNvSpPr/>
          <p:nvPr/>
        </p:nvSpPr>
        <p:spPr>
          <a:xfrm>
            <a:off x="609600" y="2343378"/>
            <a:ext cx="6667804" cy="32767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ue_s07_c3_crucially_does_single_forward_pass" title="cue_s07_c3_crucially_does_single_forward_pass" descr="cue_s07_c3_crucially_does_single_forward_pass Crucially, it does this in a single forward pass with about thirty-six and a half million parameters, versus the ensemble's roughly one hundred and eighty-two million, while keeping accuracy on par at about ninety-six percent."/>
          <p:cNvSpPr/>
          <p:nvPr/>
        </p:nvSpPr>
        <p:spPr>
          <a:xfrm>
            <a:off x="7487107" y="2343378"/>
            <a:ext cx="4095292" cy="32767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609600" y="41910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33D6C6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94385" y="431006"/>
            <a:ext cx="159689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rgbClr val="33D6C6"/>
                </a:solidFill>
                <a:latin typeface="+mn-lt"/>
                <a:ea typeface="+mn-ea"/>
                <a:cs typeface="+mn-cs"/>
              </a:rPr>
              <a:t>ABLATION STUDY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7621" y="581978"/>
            <a:ext cx="4903393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EAF1FB"/>
                </a:solidFill>
                <a:latin typeface="+mn-lt"/>
                <a:ea typeface="+mn-ea"/>
                <a:cs typeface="+mn-cs"/>
              </a:rPr>
              <a:t>Predicting its own mistakes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09600" y="1428750"/>
            <a:ext cx="2857500" cy="3276600"/>
            <a:chOff x="609600" y="1428750"/>
            <a:chExt cx="2857500" cy="327660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2857500" cy="3276600"/>
            </a:xfrm>
            <a:prstGeom prst="roundRect">
              <a:avLst>
                <a:gd name="adj" fmla="val 5333"/>
              </a:avLst>
            </a:prstGeom>
            <a:solidFill>
              <a:schemeClr val="accent6"/>
            </a:solidFill>
            <a:ln w="11430">
              <a:solidFill>
                <a:srgbClr val="2F4160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581150"/>
              <a:ext cx="42862" cy="2971800"/>
            </a:xfrm>
            <a:prstGeom prst="roundRect">
              <a:avLst>
                <a:gd name="adj" fmla="val 48889"/>
              </a:avLst>
            </a:prstGeom>
            <a:solidFill>
              <a:srgbClr val="4F7C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3435" y="1688306"/>
              <a:ext cx="20558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EAF1FB"/>
                  </a:solidFill>
                  <a:latin typeface="+mn-lt"/>
                  <a:ea typeface="+mn-ea"/>
                  <a:cs typeface="+mn-cs"/>
                </a:rPr>
                <a:t>CIFAR-10 misclassification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3816" y="1944052"/>
              <a:ext cx="12405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calibration AUROC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86383" y="2625090"/>
              <a:ext cx="19039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800" b="1" dirty="0">
                  <a:solidFill>
                    <a:srgbClr val="33D6C6"/>
                  </a:solidFill>
                  <a:latin typeface="Consolas"/>
                  <a:ea typeface="Consolas"/>
                  <a:cs typeface="Consolas"/>
                </a:rPr>
                <a:t>0.930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65151" y="3416618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EAF1FB"/>
                  </a:solidFill>
                  <a:latin typeface="+mn-lt"/>
                  <a:ea typeface="+mn-ea"/>
                  <a:cs typeface="+mn-cs"/>
                </a:rPr>
                <a:t>DAB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71515" y="40285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near the deep-ensemble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35370" y="4238149"/>
              <a:ext cx="10059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ceiling of 0.951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676650" y="1428750"/>
            <a:ext cx="4523554" cy="3276600"/>
            <a:chOff x="3676650" y="1428750"/>
            <a:chExt cx="4523554" cy="3276600"/>
          </a:xfrm>
        </p:grpSpPr>
        <p:sp>
          <p:nvSpPr>
            <p:cNvPr id="15" name="Rectangle 15"/>
            <p:cNvSpPr/>
            <p:nvPr/>
          </p:nvSpPr>
          <p:spPr>
            <a:xfrm>
              <a:off x="3676650" y="1428750"/>
              <a:ext cx="4476750" cy="3276600"/>
            </a:xfrm>
            <a:prstGeom prst="roundRect">
              <a:avLst>
                <a:gd name="adj" fmla="val 4651"/>
              </a:avLst>
            </a:prstGeom>
            <a:solidFill>
              <a:schemeClr val="accent6"/>
            </a:solidFill>
            <a:ln w="11430">
              <a:solidFill>
                <a:srgbClr val="2F416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676650" y="1581150"/>
              <a:ext cx="42862" cy="2971800"/>
            </a:xfrm>
            <a:prstGeom prst="roundRect">
              <a:avLst>
                <a:gd name="adj" fmla="val 48889"/>
              </a:avLst>
            </a:prstGeom>
            <a:solidFill>
              <a:srgbClr val="46D19E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880104" y="1661160"/>
              <a:ext cx="35574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EAF1FB"/>
                  </a:solidFill>
                  <a:latin typeface="+mn-lt"/>
                  <a:ea typeface="+mn-ea"/>
                  <a:cs typeface="+mn-cs"/>
                </a:rPr>
                <a:t>Calibration AUROC vs. single-pass methods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80866" y="2191702"/>
              <a:ext cx="8291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Ensemble ×5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010150" y="2133600"/>
              <a:ext cx="2857500" cy="209550"/>
            </a:xfrm>
            <a:prstGeom prst="roundRect">
              <a:avLst>
                <a:gd name="adj" fmla="val 22727"/>
              </a:avLst>
            </a:prstGeom>
            <a:solidFill>
              <a:srgbClr val="152034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010150" y="2133600"/>
              <a:ext cx="2727960" cy="209550"/>
            </a:xfrm>
            <a:prstGeom prst="roundRect">
              <a:avLst>
                <a:gd name="adj" fmla="val 22727"/>
              </a:avLst>
            </a:prstGeom>
            <a:solidFill>
              <a:srgbClr val="FF6B6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809357" y="2190274"/>
              <a:ext cx="3908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EAF1FB"/>
                  </a:solidFill>
                  <a:latin typeface="Consolas"/>
                  <a:ea typeface="Consolas"/>
                  <a:cs typeface="Consolas"/>
                </a:rPr>
                <a:t>0.951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80866" y="2572702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EAF1FB"/>
                  </a:solidFill>
                  <a:latin typeface="+mn-lt"/>
                  <a:ea typeface="+mn-ea"/>
                  <a:cs typeface="+mn-cs"/>
                </a:rPr>
                <a:t>DAB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010150" y="2514600"/>
              <a:ext cx="2857500" cy="209550"/>
            </a:xfrm>
            <a:prstGeom prst="roundRect">
              <a:avLst>
                <a:gd name="adj" fmla="val 22727"/>
              </a:avLst>
            </a:prstGeom>
            <a:solidFill>
              <a:srgbClr val="152034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010150" y="2514600"/>
              <a:ext cx="2585085" cy="209550"/>
            </a:xfrm>
            <a:prstGeom prst="roundRect">
              <a:avLst>
                <a:gd name="adj" fmla="val 22727"/>
              </a:avLst>
            </a:prstGeom>
            <a:solidFill>
              <a:srgbClr val="33D6C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66482" y="2571274"/>
              <a:ext cx="3908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EAF1FB"/>
                  </a:solidFill>
                  <a:latin typeface="Consolas"/>
                  <a:ea typeface="Consolas"/>
                  <a:cs typeface="Consolas"/>
                </a:rPr>
                <a:t>0.930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880866" y="2953702"/>
              <a:ext cx="3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SNGP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010150" y="2895600"/>
              <a:ext cx="2857500" cy="209550"/>
            </a:xfrm>
            <a:prstGeom prst="roundRect">
              <a:avLst>
                <a:gd name="adj" fmla="val 22727"/>
              </a:avLst>
            </a:prstGeom>
            <a:solidFill>
              <a:srgbClr val="152034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010150" y="2895600"/>
              <a:ext cx="2361248" cy="209550"/>
            </a:xfrm>
            <a:prstGeom prst="roundRect">
              <a:avLst>
                <a:gd name="adj" fmla="val 22727"/>
              </a:avLst>
            </a:prstGeom>
            <a:solidFill>
              <a:srgbClr val="4F7C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442644" y="2952274"/>
              <a:ext cx="3908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EAF1FB"/>
                  </a:solidFill>
                  <a:latin typeface="Consolas"/>
                  <a:ea typeface="Consolas"/>
                  <a:cs typeface="Consolas"/>
                </a:rPr>
                <a:t>0.897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880866" y="3334702"/>
              <a:ext cx="2869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DUQ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010150" y="3276600"/>
              <a:ext cx="2857500" cy="209550"/>
            </a:xfrm>
            <a:prstGeom prst="roundRect">
              <a:avLst>
                <a:gd name="adj" fmla="val 22727"/>
              </a:avLst>
            </a:prstGeom>
            <a:solidFill>
              <a:srgbClr val="152034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010150" y="3276600"/>
              <a:ext cx="2306002" cy="209550"/>
            </a:xfrm>
            <a:prstGeom prst="roundRect">
              <a:avLst>
                <a:gd name="adj" fmla="val 22727"/>
              </a:avLst>
            </a:prstGeom>
            <a:solidFill>
              <a:srgbClr val="4F7C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387400" y="3333274"/>
              <a:ext cx="3908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EAF1FB"/>
                  </a:solidFill>
                  <a:latin typeface="Consolas"/>
                  <a:ea typeface="Consolas"/>
                  <a:cs typeface="Consolas"/>
                </a:rPr>
                <a:t>0.889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880866" y="371570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DUE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010150" y="3657600"/>
              <a:ext cx="2857500" cy="209550"/>
            </a:xfrm>
            <a:prstGeom prst="roundRect">
              <a:avLst>
                <a:gd name="adj" fmla="val 22727"/>
              </a:avLst>
            </a:prstGeom>
            <a:solidFill>
              <a:srgbClr val="152034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010150" y="3657600"/>
              <a:ext cx="2082165" cy="209550"/>
            </a:xfrm>
            <a:prstGeom prst="roundRect">
              <a:avLst>
                <a:gd name="adj" fmla="val 22727"/>
              </a:avLst>
            </a:prstGeom>
            <a:solidFill>
              <a:srgbClr val="4F7C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163562" y="3714274"/>
              <a:ext cx="3908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EAF1FB"/>
                  </a:solidFill>
                  <a:latin typeface="Consolas"/>
                  <a:ea typeface="Consolas"/>
                  <a:cs typeface="Consolas"/>
                </a:rPr>
                <a:t>0.856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880866" y="409670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DDU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010150" y="4038600"/>
              <a:ext cx="2857500" cy="209550"/>
            </a:xfrm>
            <a:prstGeom prst="roundRect">
              <a:avLst>
                <a:gd name="adj" fmla="val 22727"/>
              </a:avLst>
            </a:prstGeom>
            <a:solidFill>
              <a:srgbClr val="152034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010150" y="4038600"/>
              <a:ext cx="558165" cy="209550"/>
            </a:xfrm>
            <a:prstGeom prst="roundRect">
              <a:avLst>
                <a:gd name="adj" fmla="val 22727"/>
              </a:avLst>
            </a:prstGeom>
            <a:solidFill>
              <a:srgbClr val="6F819C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639562" y="4095274"/>
              <a:ext cx="3908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EAF1FB"/>
                  </a:solidFill>
                  <a:latin typeface="Consolas"/>
                  <a:ea typeface="Consolas"/>
                  <a:cs typeface="Consolas"/>
                </a:rPr>
                <a:t>0.632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8362950" y="1428750"/>
            <a:ext cx="3219450" cy="3276600"/>
            <a:chOff x="8362950" y="1428750"/>
            <a:chExt cx="3219450" cy="3276600"/>
          </a:xfrm>
        </p:grpSpPr>
        <p:sp>
          <p:nvSpPr>
            <p:cNvPr id="43" name="Rectangle 43"/>
            <p:cNvSpPr/>
            <p:nvPr/>
          </p:nvSpPr>
          <p:spPr>
            <a:xfrm>
              <a:off x="8362950" y="1428750"/>
              <a:ext cx="3219450" cy="3276600"/>
            </a:xfrm>
            <a:prstGeom prst="roundRect">
              <a:avLst>
                <a:gd name="adj" fmla="val 4734"/>
              </a:avLst>
            </a:prstGeom>
            <a:solidFill>
              <a:schemeClr val="accent6"/>
            </a:solidFill>
            <a:ln w="11430">
              <a:solidFill>
                <a:srgbClr val="2F4160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362950" y="1581150"/>
              <a:ext cx="42862" cy="2971800"/>
            </a:xfrm>
            <a:prstGeom prst="roundRect">
              <a:avLst>
                <a:gd name="adj" fmla="val 48889"/>
              </a:avLst>
            </a:prstGeom>
            <a:solidFill>
              <a:srgbClr val="F4B45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566404" y="1661160"/>
              <a:ext cx="14679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EAF1FB"/>
                  </a:solidFill>
                  <a:latin typeface="+mn-lt"/>
                  <a:ea typeface="+mn-ea"/>
                  <a:cs typeface="+mn-cs"/>
                </a:rPr>
                <a:t>Learned codebook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9321165" y="2539365"/>
              <a:ext cx="64770" cy="64770"/>
            </a:xfrm>
            <a:prstGeom prst="ellipse">
              <a:avLst/>
            </a:prstGeom>
            <a:solidFill>
              <a:srgbClr val="4F7CFF">
                <a:alpha val="80000"/>
              </a:srgbClr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9287828" y="2712720"/>
              <a:ext cx="64770" cy="64770"/>
            </a:xfrm>
            <a:prstGeom prst="ellipse">
              <a:avLst/>
            </a:prstGeom>
            <a:solidFill>
              <a:srgbClr val="4F7CFF">
                <a:alpha val="80000"/>
              </a:srgbClr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9054465" y="2770823"/>
              <a:ext cx="64770" cy="64770"/>
            </a:xfrm>
            <a:prstGeom prst="ellipse">
              <a:avLst/>
            </a:prstGeom>
            <a:solidFill>
              <a:srgbClr val="4F7CFF">
                <a:alpha val="80000"/>
              </a:srgbClr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9054465" y="2539365"/>
              <a:ext cx="64770" cy="64770"/>
            </a:xfrm>
            <a:prstGeom prst="ellipse">
              <a:avLst/>
            </a:prstGeom>
            <a:solidFill>
              <a:srgbClr val="4F7CFF">
                <a:alpha val="80000"/>
              </a:srgbClr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9087802" y="2366010"/>
              <a:ext cx="64770" cy="64770"/>
            </a:xfrm>
            <a:prstGeom prst="ellipse">
              <a:avLst/>
            </a:prstGeom>
            <a:solidFill>
              <a:srgbClr val="4F7CFF">
                <a:alpha val="80000"/>
              </a:srgbClr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9321165" y="2307908"/>
              <a:ext cx="64770" cy="64770"/>
            </a:xfrm>
            <a:prstGeom prst="ellipse">
              <a:avLst/>
            </a:prstGeom>
            <a:solidFill>
              <a:srgbClr val="4F7CFF">
                <a:alpha val="80000"/>
              </a:srgbClr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9163050" y="2514600"/>
              <a:ext cx="114300" cy="114300"/>
            </a:xfrm>
            <a:prstGeom prst="ellipse">
              <a:avLst/>
            </a:prstGeom>
            <a:solidFill>
              <a:schemeClr val="lt1"/>
            </a:solidFill>
            <a:ln w="22860">
              <a:solidFill>
                <a:srgbClr val="4F7CFF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10593705" y="2556510"/>
              <a:ext cx="64770" cy="64770"/>
            </a:xfrm>
            <a:prstGeom prst="ellipse">
              <a:avLst/>
            </a:prstGeom>
            <a:solidFill>
              <a:srgbClr val="33D6C6">
                <a:alpha val="80000"/>
              </a:srgbClr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10429875" y="2622232"/>
              <a:ext cx="64770" cy="64770"/>
            </a:xfrm>
            <a:prstGeom prst="ellipse">
              <a:avLst/>
            </a:prstGeom>
            <a:solidFill>
              <a:srgbClr val="33D6C6">
                <a:alpha val="80000"/>
              </a:srgbClr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10254615" y="2456498"/>
              <a:ext cx="64770" cy="64770"/>
            </a:xfrm>
            <a:prstGeom prst="ellipse">
              <a:avLst/>
            </a:prstGeom>
            <a:solidFill>
              <a:srgbClr val="33D6C6">
                <a:alpha val="80000"/>
              </a:srgbClr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10448925" y="2331720"/>
              <a:ext cx="64770" cy="64770"/>
            </a:xfrm>
            <a:prstGeom prst="ellipse">
              <a:avLst/>
            </a:prstGeom>
            <a:solidFill>
              <a:srgbClr val="33D6C6">
                <a:alpha val="80000"/>
              </a:srgbClr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10612755" y="2265998"/>
              <a:ext cx="64770" cy="64770"/>
            </a:xfrm>
            <a:prstGeom prst="ellipse">
              <a:avLst/>
            </a:prstGeom>
            <a:solidFill>
              <a:srgbClr val="33D6C6">
                <a:alpha val="80000"/>
              </a:srgbClr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10788015" y="2431732"/>
              <a:ext cx="64770" cy="64770"/>
            </a:xfrm>
            <a:prstGeom prst="ellipse">
              <a:avLst/>
            </a:prstGeom>
            <a:solidFill>
              <a:srgbClr val="33D6C6">
                <a:alpha val="80000"/>
              </a:srgbClr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10496550" y="2419350"/>
              <a:ext cx="114300" cy="114300"/>
            </a:xfrm>
            <a:prstGeom prst="ellipse">
              <a:avLst/>
            </a:prstGeom>
            <a:solidFill>
              <a:schemeClr val="lt1"/>
            </a:solidFill>
            <a:ln w="22860">
              <a:solidFill>
                <a:srgbClr val="33D6C6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9704070" y="3422332"/>
              <a:ext cx="64770" cy="64770"/>
            </a:xfrm>
            <a:prstGeom prst="ellipse">
              <a:avLst/>
            </a:prstGeom>
            <a:solidFill>
              <a:srgbClr val="46D19E">
                <a:alpha val="80000"/>
              </a:srgbClr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9560242" y="3320415"/>
              <a:ext cx="64770" cy="64770"/>
            </a:xfrm>
            <a:prstGeom prst="ellipse">
              <a:avLst/>
            </a:prstGeom>
            <a:solidFill>
              <a:srgbClr val="46D19E">
                <a:alpha val="80000"/>
              </a:srgbClr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9605010" y="3084195"/>
              <a:ext cx="64770" cy="64770"/>
            </a:xfrm>
            <a:prstGeom prst="ellipse">
              <a:avLst/>
            </a:prstGeom>
            <a:solidFill>
              <a:srgbClr val="46D19E">
                <a:alpha val="80000"/>
              </a:srgbClr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9814560" y="3180398"/>
              <a:ext cx="64770" cy="64770"/>
            </a:xfrm>
            <a:prstGeom prst="ellipse">
              <a:avLst/>
            </a:prstGeom>
            <a:solidFill>
              <a:srgbClr val="46D19E">
                <a:alpha val="80000"/>
              </a:srgbClr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9958388" y="3282315"/>
              <a:ext cx="64770" cy="64770"/>
            </a:xfrm>
            <a:prstGeom prst="ellipse">
              <a:avLst/>
            </a:prstGeom>
            <a:solidFill>
              <a:srgbClr val="46D19E">
                <a:alpha val="80000"/>
              </a:srgbClr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9913620" y="3518535"/>
              <a:ext cx="64770" cy="64770"/>
            </a:xfrm>
            <a:prstGeom prst="ellipse">
              <a:avLst/>
            </a:prstGeom>
            <a:solidFill>
              <a:srgbClr val="46D19E">
                <a:alpha val="80000"/>
              </a:srgbClr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9734550" y="3276600"/>
              <a:ext cx="114300" cy="114300"/>
            </a:xfrm>
            <a:prstGeom prst="ellipse">
              <a:avLst/>
            </a:prstGeom>
            <a:solidFill>
              <a:schemeClr val="lt1"/>
            </a:solidFill>
            <a:ln w="22860">
              <a:solidFill>
                <a:srgbClr val="46D19E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10674667" y="3415665"/>
              <a:ext cx="64770" cy="64770"/>
            </a:xfrm>
            <a:prstGeom prst="ellipse">
              <a:avLst/>
            </a:prstGeom>
            <a:solidFill>
              <a:srgbClr val="F4B451">
                <a:alpha val="80000"/>
              </a:srgbClr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10683240" y="3239452"/>
              <a:ext cx="64770" cy="64770"/>
            </a:xfrm>
            <a:prstGeom prst="ellipse">
              <a:avLst/>
            </a:prstGeom>
            <a:solidFill>
              <a:srgbClr val="F4B451">
                <a:alpha val="80000"/>
              </a:srgbClr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10906125" y="3148965"/>
              <a:ext cx="64770" cy="64770"/>
            </a:xfrm>
            <a:prstGeom prst="ellipse">
              <a:avLst/>
            </a:prstGeom>
            <a:solidFill>
              <a:srgbClr val="F4B451">
                <a:alpha val="80000"/>
              </a:srgbClr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10939462" y="3377565"/>
              <a:ext cx="64770" cy="64770"/>
            </a:xfrm>
            <a:prstGeom prst="ellipse">
              <a:avLst/>
            </a:prstGeom>
            <a:solidFill>
              <a:srgbClr val="F4B451">
                <a:alpha val="80000"/>
              </a:srgbClr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10930890" y="3553778"/>
              <a:ext cx="64770" cy="64770"/>
            </a:xfrm>
            <a:prstGeom prst="ellipse">
              <a:avLst/>
            </a:prstGeom>
            <a:solidFill>
              <a:srgbClr val="F4B451">
                <a:alpha val="80000"/>
              </a:srgbClr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10708005" y="3644265"/>
              <a:ext cx="64770" cy="64770"/>
            </a:xfrm>
            <a:prstGeom prst="ellipse">
              <a:avLst/>
            </a:prstGeom>
            <a:solidFill>
              <a:srgbClr val="F4B451">
                <a:alpha val="80000"/>
              </a:srgbClr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10782300" y="3371850"/>
              <a:ext cx="114300" cy="114300"/>
            </a:xfrm>
            <a:prstGeom prst="ellipse">
              <a:avLst/>
            </a:prstGeom>
            <a:solidFill>
              <a:schemeClr val="lt1"/>
            </a:solidFill>
            <a:ln w="22860">
              <a:solidFill>
                <a:srgbClr val="F4B451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9147810" y="3867150"/>
              <a:ext cx="64770" cy="64770"/>
            </a:xfrm>
            <a:prstGeom prst="ellipse">
              <a:avLst/>
            </a:prstGeom>
            <a:solidFill>
              <a:srgbClr val="FF6B6B">
                <a:alpha val="80000"/>
              </a:srgbClr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9301162" y="3779520"/>
              <a:ext cx="64770" cy="64770"/>
            </a:xfrm>
            <a:prstGeom prst="ellipse">
              <a:avLst/>
            </a:prstGeom>
            <a:solidFill>
              <a:srgbClr val="FF6B6B">
                <a:alpha val="80000"/>
              </a:srgbClr>
            </a:solidFill>
            <a:ln>
              <a:noFill/>
            </a:ln>
          </p:spPr>
        </p:sp>
        <p:sp>
          <p:nvSpPr>
            <p:cNvPr id="76" name="Ellipse 76"/>
            <p:cNvSpPr/>
            <p:nvPr/>
          </p:nvSpPr>
          <p:spPr>
            <a:xfrm>
              <a:off x="9497378" y="3917632"/>
              <a:ext cx="64770" cy="64770"/>
            </a:xfrm>
            <a:prstGeom prst="ellipse">
              <a:avLst/>
            </a:prstGeom>
            <a:solidFill>
              <a:srgbClr val="FF6B6B">
                <a:alpha val="80000"/>
              </a:srgbClr>
            </a:solidFill>
            <a:ln>
              <a:noFill/>
            </a:ln>
          </p:spPr>
        </p:sp>
        <p:sp>
          <p:nvSpPr>
            <p:cNvPr id="77" name="Ellipse 77"/>
            <p:cNvSpPr/>
            <p:nvPr/>
          </p:nvSpPr>
          <p:spPr>
            <a:xfrm>
              <a:off x="9323070" y="4069080"/>
              <a:ext cx="64770" cy="64770"/>
            </a:xfrm>
            <a:prstGeom prst="ellipse">
              <a:avLst/>
            </a:prstGeom>
            <a:solidFill>
              <a:srgbClr val="FF6B6B">
                <a:alpha val="80000"/>
              </a:srgbClr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9169718" y="4156710"/>
              <a:ext cx="64770" cy="64770"/>
            </a:xfrm>
            <a:prstGeom prst="ellipse">
              <a:avLst/>
            </a:prstGeom>
            <a:solidFill>
              <a:srgbClr val="FF6B6B">
                <a:alpha val="80000"/>
              </a:srgbClr>
            </a:solidFill>
            <a:ln>
              <a:noFill/>
            </a:ln>
          </p:spPr>
        </p:sp>
        <p:sp>
          <p:nvSpPr>
            <p:cNvPr id="79" name="Ellipse 79"/>
            <p:cNvSpPr/>
            <p:nvPr/>
          </p:nvSpPr>
          <p:spPr>
            <a:xfrm>
              <a:off x="8973502" y="4018598"/>
              <a:ext cx="64770" cy="64770"/>
            </a:xfrm>
            <a:prstGeom prst="ellipse">
              <a:avLst/>
            </a:prstGeom>
            <a:solidFill>
              <a:srgbClr val="FF6B6B">
                <a:alpha val="80000"/>
              </a:srgbClr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>
              <a:off x="9210675" y="3943350"/>
              <a:ext cx="114300" cy="114300"/>
            </a:xfrm>
            <a:prstGeom prst="ellipse">
              <a:avLst/>
            </a:prstGeom>
            <a:solidFill>
              <a:schemeClr val="lt1"/>
            </a:solidFill>
            <a:ln w="22860">
              <a:solidFill>
                <a:srgbClr val="FF6B6B"/>
              </a:solidFill>
            </a:ln>
          </p:spPr>
        </p:sp>
        <p:sp>
          <p:nvSpPr>
            <p:cNvPr id="81" name="Ellipse 81"/>
            <p:cNvSpPr/>
            <p:nvPr/>
          </p:nvSpPr>
          <p:spPr>
            <a:xfrm>
              <a:off x="10607040" y="3983355"/>
              <a:ext cx="64770" cy="64770"/>
            </a:xfrm>
            <a:prstGeom prst="ellipse">
              <a:avLst/>
            </a:prstGeom>
            <a:solidFill>
              <a:srgbClr val="B98BFF">
                <a:alpha val="80000"/>
              </a:srgbClr>
            </a:solidFill>
            <a:ln>
              <a:noFill/>
            </a:ln>
          </p:spPr>
        </p:sp>
        <p:sp>
          <p:nvSpPr>
            <p:cNvPr id="82" name="Ellipse 82"/>
            <p:cNvSpPr/>
            <p:nvPr/>
          </p:nvSpPr>
          <p:spPr>
            <a:xfrm>
              <a:off x="10763250" y="4064318"/>
              <a:ext cx="64770" cy="64770"/>
            </a:xfrm>
            <a:prstGeom prst="ellipse">
              <a:avLst/>
            </a:prstGeom>
            <a:solidFill>
              <a:srgbClr val="B98BFF">
                <a:alpha val="80000"/>
              </a:srgbClr>
            </a:solidFill>
            <a:ln>
              <a:noFill/>
            </a:ln>
          </p:spPr>
        </p:sp>
        <p:sp>
          <p:nvSpPr>
            <p:cNvPr id="83" name="Ellipse 83"/>
            <p:cNvSpPr/>
            <p:nvPr/>
          </p:nvSpPr>
          <p:spPr>
            <a:xfrm>
              <a:off x="10752772" y="4304348"/>
              <a:ext cx="64770" cy="64770"/>
            </a:xfrm>
            <a:prstGeom prst="ellipse">
              <a:avLst/>
            </a:prstGeom>
            <a:solidFill>
              <a:srgbClr val="B98BFF">
                <a:alpha val="80000"/>
              </a:srgbClr>
            </a:solidFill>
            <a:ln>
              <a:noFill/>
            </a:ln>
          </p:spPr>
        </p:sp>
        <p:sp>
          <p:nvSpPr>
            <p:cNvPr id="84" name="Ellipse 84"/>
            <p:cNvSpPr/>
            <p:nvPr/>
          </p:nvSpPr>
          <p:spPr>
            <a:xfrm>
              <a:off x="10530840" y="4238625"/>
              <a:ext cx="64770" cy="64770"/>
            </a:xfrm>
            <a:prstGeom prst="ellipse">
              <a:avLst/>
            </a:prstGeom>
            <a:solidFill>
              <a:srgbClr val="B98BFF">
                <a:alpha val="80000"/>
              </a:srgbClr>
            </a:solidFill>
            <a:ln>
              <a:noFill/>
            </a:ln>
          </p:spPr>
        </p:sp>
        <p:sp>
          <p:nvSpPr>
            <p:cNvPr id="85" name="Ellipse 85"/>
            <p:cNvSpPr/>
            <p:nvPr/>
          </p:nvSpPr>
          <p:spPr>
            <a:xfrm>
              <a:off x="10374630" y="4157662"/>
              <a:ext cx="64770" cy="64770"/>
            </a:xfrm>
            <a:prstGeom prst="ellipse">
              <a:avLst/>
            </a:prstGeom>
            <a:solidFill>
              <a:srgbClr val="B98BFF">
                <a:alpha val="80000"/>
              </a:srgbClr>
            </a:solidFill>
            <a:ln>
              <a:noFill/>
            </a:ln>
          </p:spPr>
        </p:sp>
        <p:sp>
          <p:nvSpPr>
            <p:cNvPr id="86" name="Ellipse 86"/>
            <p:cNvSpPr/>
            <p:nvPr/>
          </p:nvSpPr>
          <p:spPr>
            <a:xfrm>
              <a:off x="10385108" y="3917632"/>
              <a:ext cx="64770" cy="64770"/>
            </a:xfrm>
            <a:prstGeom prst="ellipse">
              <a:avLst/>
            </a:prstGeom>
            <a:solidFill>
              <a:srgbClr val="B98BFF">
                <a:alpha val="80000"/>
              </a:srgbClr>
            </a:solidFill>
            <a:ln>
              <a:noFill/>
            </a:ln>
          </p:spPr>
        </p:sp>
        <p:sp>
          <p:nvSpPr>
            <p:cNvPr id="87" name="Ellipse 87"/>
            <p:cNvSpPr/>
            <p:nvPr/>
          </p:nvSpPr>
          <p:spPr>
            <a:xfrm>
              <a:off x="10544175" y="4086225"/>
              <a:ext cx="114300" cy="114300"/>
            </a:xfrm>
            <a:prstGeom prst="ellipse">
              <a:avLst/>
            </a:prstGeom>
            <a:solidFill>
              <a:schemeClr val="lt1"/>
            </a:solidFill>
            <a:ln w="22860">
              <a:solidFill>
                <a:srgbClr val="B98BFF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8567738" y="4356497"/>
              <a:ext cx="222402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10 centroids attract one class each</a:t>
              </a:r>
            </a:p>
          </p:txBody>
        </p:sp>
      </p:grpSp>
      <p:sp>
        <p:nvSpPr>
          <p:cNvPr id="90" name="cue_s08_c1_task_predicting_its_own_mistakes" title="cue_s08_c1_task_predicting_its_own_mistakes" descr="cue_s08_c1_task_predicting_its_own_mistakes On the task of predicting its own mistakes on CIFAR-10, DAB reaches a calibration AUROC of 0.930."/>
          <p:cNvSpPr/>
          <p:nvPr/>
        </p:nvSpPr>
        <p:spPr>
          <a:xfrm>
            <a:off x="609600" y="1428521"/>
            <a:ext cx="2857804" cy="32767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cue_s08_c2_nearly_closes_gap_deep_ensemble" title="cue_s08_c2_nearly_closes_gap_deep_ensemble" descr="cue_s08_c2_nearly_closes_gap_deep_ensemble That nearly closes the gap to a deep ensemble at 0.951, while dramatically outperforming other single-pass deterministic methods such as DDU at 0.632, DUE at 0.856, DUQ at 0.889, and SNGP at 0.897."/>
          <p:cNvSpPr/>
          <p:nvPr/>
        </p:nvSpPr>
        <p:spPr>
          <a:xfrm>
            <a:off x="3677107" y="1428521"/>
            <a:ext cx="4523232" cy="32767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cue_s08_c3_visualization_learned_codebook_furth" title="cue_s08_c3_visualization_learned_codebook_furth" descr="cue_s08_c3_visualization_learned_codebook_furth A visualization of the learned codebook further shows each of the ten centroids progressively attracting test points of a single class as training proceeds, confirming that the codes capture meaningful structure in the data."/>
          <p:cNvSpPr/>
          <p:nvPr/>
        </p:nvSpPr>
        <p:spPr>
          <a:xfrm>
            <a:off x="8362492" y="1428521"/>
            <a:ext cx="3219907" cy="32767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609600" y="41910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33D6C6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94385" y="431006"/>
            <a:ext cx="183437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rgbClr val="33D6C6"/>
                </a:solidFill>
                <a:latin typeface="+mn-lt"/>
                <a:ea typeface="+mn-ea"/>
                <a:cs typeface="+mn-cs"/>
              </a:rPr>
              <a:t>HEADLINE NUMBERS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7621" y="581978"/>
            <a:ext cx="4219527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EAF1FB"/>
                </a:solidFill>
                <a:latin typeface="+mn-lt"/>
                <a:ea typeface="+mn-ea"/>
                <a:cs typeface="+mn-cs"/>
              </a:rPr>
              <a:t>The numbers at a glance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09600" y="1428750"/>
            <a:ext cx="5372100" cy="4095750"/>
            <a:chOff x="609600" y="1428750"/>
            <a:chExt cx="5372100" cy="409575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5372100" cy="4095750"/>
            </a:xfrm>
            <a:prstGeom prst="roundRect">
              <a:avLst>
                <a:gd name="adj" fmla="val 4186"/>
              </a:avLst>
            </a:prstGeom>
            <a:solidFill>
              <a:schemeClr val="accent6"/>
            </a:solidFill>
            <a:ln w="11430">
              <a:solidFill>
                <a:srgbClr val="2F4160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581150"/>
              <a:ext cx="42862" cy="3790950"/>
            </a:xfrm>
            <a:prstGeom prst="roundRect">
              <a:avLst>
                <a:gd name="adj" fmla="val 48889"/>
              </a:avLst>
            </a:prstGeom>
            <a:solidFill>
              <a:srgbClr val="4F7C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50011" y="1694021"/>
              <a:ext cx="22231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EAF1FB"/>
                  </a:solidFill>
                  <a:latin typeface="+mn-lt"/>
                  <a:ea typeface="+mn-ea"/>
                  <a:cs typeface="+mn-cs"/>
                </a:rPr>
                <a:t>CIFAR-10 (small scale)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2010" y="2343150"/>
              <a:ext cx="11966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4F7CFF"/>
                  </a:solidFill>
                  <a:latin typeface="Consolas"/>
                  <a:ea typeface="Consolas"/>
                  <a:cs typeface="Consolas"/>
                </a:rPr>
                <a:t>0.986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52106" y="2805351"/>
              <a:ext cx="234959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OOD AUROC vs SVHN (best in class)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2010" y="3295650"/>
              <a:ext cx="11966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33D6C6"/>
                  </a:solidFill>
                  <a:latin typeface="Consolas"/>
                  <a:ea typeface="Consolas"/>
                  <a:cs typeface="Consolas"/>
                </a:rPr>
                <a:t>0.922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52106" y="3757851"/>
              <a:ext cx="258509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OOD AUROC vs CIFAR-100 (hard, near)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2010" y="4248150"/>
              <a:ext cx="11966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46D19E"/>
                  </a:solidFill>
                  <a:latin typeface="Consolas"/>
                  <a:ea typeface="Consolas"/>
                  <a:cs typeface="Consolas"/>
                </a:rPr>
                <a:t>0.930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2106" y="4710351"/>
              <a:ext cx="236210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misclassification calibration AUROC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210300" y="1428750"/>
            <a:ext cx="5372100" cy="4095750"/>
            <a:chOff x="6210300" y="1428750"/>
            <a:chExt cx="5372100" cy="4095750"/>
          </a:xfrm>
        </p:grpSpPr>
        <p:sp>
          <p:nvSpPr>
            <p:cNvPr id="16" name="Rectangle 16"/>
            <p:cNvSpPr/>
            <p:nvPr/>
          </p:nvSpPr>
          <p:spPr>
            <a:xfrm>
              <a:off x="6210300" y="1428750"/>
              <a:ext cx="5372100" cy="4095750"/>
            </a:xfrm>
            <a:prstGeom prst="roundRect">
              <a:avLst>
                <a:gd name="adj" fmla="val 4186"/>
              </a:avLst>
            </a:prstGeom>
            <a:solidFill>
              <a:schemeClr val="accent6"/>
            </a:solidFill>
            <a:ln w="11430">
              <a:solidFill>
                <a:srgbClr val="2F4160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210300" y="1581150"/>
              <a:ext cx="42862" cy="3790950"/>
            </a:xfrm>
            <a:prstGeom prst="roundRect">
              <a:avLst>
                <a:gd name="adj" fmla="val 48889"/>
              </a:avLst>
            </a:prstGeom>
            <a:solidFill>
              <a:srgbClr val="33D6C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50711" y="1694021"/>
              <a:ext cx="386908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EAF1FB"/>
                  </a:solidFill>
                  <a:latin typeface="+mn-lt"/>
                  <a:ea typeface="+mn-ea"/>
                  <a:cs typeface="+mn-cs"/>
                </a:rPr>
                <a:t>ImageNet scale (fine-tuned ResNet-50)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52616" y="2229802"/>
              <a:ext cx="30693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Misclassification (DAB vs 5-model ensemble)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44996" y="2448878"/>
              <a:ext cx="10171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EAF1FB"/>
                  </a:solidFill>
                  <a:latin typeface="Consolas"/>
                  <a:ea typeface="Consolas"/>
                  <a:cs typeface="Consolas"/>
                </a:rPr>
                <a:t>0.868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78318" y="2546032"/>
              <a:ext cx="9385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6F819C"/>
                  </a:solidFill>
                  <a:latin typeface="Consolas"/>
                  <a:ea typeface="Consolas"/>
                  <a:cs typeface="Consolas"/>
                </a:rPr>
                <a:t>vs 0.861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10116" y="2610802"/>
              <a:ext cx="1108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46D19E"/>
                  </a:solidFill>
                  <a:latin typeface="+mn-lt"/>
                  <a:ea typeface="+mn-ea"/>
                  <a:cs typeface="+mn-cs"/>
                </a:rPr>
                <a:t>beats ensemble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2616" y="3182302"/>
              <a:ext cx="13716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OOD vs ImageNet-O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44996" y="3401378"/>
              <a:ext cx="10171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EAF1FB"/>
                  </a:solidFill>
                  <a:latin typeface="Consolas"/>
                  <a:ea typeface="Consolas"/>
                  <a:cs typeface="Consolas"/>
                </a:rPr>
                <a:t>0.743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78318" y="3498532"/>
              <a:ext cx="9385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6F819C"/>
                  </a:solidFill>
                  <a:latin typeface="Consolas"/>
                  <a:ea typeface="Consolas"/>
                  <a:cs typeface="Consolas"/>
                </a:rPr>
                <a:t>vs 0.642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310116" y="3563302"/>
              <a:ext cx="10378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46D19E"/>
                  </a:solidFill>
                  <a:latin typeface="+mn-lt"/>
                  <a:ea typeface="+mn-ea"/>
                  <a:cs typeface="+mn-cs"/>
                </a:rPr>
                <a:t>+0.101 AUROC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457950" y="43815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2F416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52616" y="4611052"/>
              <a:ext cx="11812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Trainable params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46520" y="4843462"/>
              <a:ext cx="82936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46D19E"/>
                  </a:solidFill>
                  <a:latin typeface="Consolas"/>
                  <a:ea typeface="Consolas"/>
                  <a:cs typeface="Consolas"/>
                </a:rPr>
                <a:t>~36M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25156" y="4892040"/>
              <a:ext cx="10922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6F819C"/>
                  </a:solidFill>
                  <a:latin typeface="Consolas"/>
                  <a:ea typeface="Consolas"/>
                  <a:cs typeface="Consolas"/>
                </a:rPr>
                <a:t>vs ~118M</a:t>
              </a:r>
            </a:p>
          </p:txBody>
        </p:sp>
      </p:grpSp>
      <p:sp>
        <p:nvSpPr>
          <p:cNvPr id="32" name="cue_s09_c1_summarize_numbers_cifar_10_dab_achie" title="cue_s09_c1_summarize_numbers_cifar_10_dab_achie" descr="cue_s09_c1_summarize_numbers_cifar_10_dab_achie To summarize the numbers: on CIFAR-10, DAB achieves a best-in-class OOD AUROC of 0.986 against SVHN and 0.922 against CIFAR-100, and a misclassification calibration AUROC of 0.930."/>
          <p:cNvSpPr/>
          <p:nvPr/>
        </p:nvSpPr>
        <p:spPr>
          <a:xfrm>
            <a:off x="609600" y="1428521"/>
            <a:ext cx="5371795" cy="40955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ue_s09_c2_imagenet_scale_dab_built_fine_tuned" title="cue_s09_c2_imagenet_scale_dab_built_fine_tuned" descr="cue_s09_c2_imagenet_scale_dab_built_fine_tuned At ImageNet scale, DAB built on a fine-tuned ResNet-50 beats a five-model ensemble on misclassification, 0.868 versus 0.861, and on out-of-distribution detection against ImageNet-O, 0.743 versus 0.642, all while using far fewer trainable parameters, roughly th"/>
          <p:cNvSpPr/>
          <p:nvPr/>
        </p:nvSpPr>
        <p:spPr>
          <a:xfrm>
            <a:off x="6210604" y="1428521"/>
            <a:ext cx="5371795" cy="40955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609600" y="41910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33D6C6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94385" y="431006"/>
            <a:ext cx="96807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rgbClr val="33D6C6"/>
                </a:solidFill>
                <a:latin typeface="+mn-lt"/>
                <a:ea typeface="+mn-ea"/>
                <a:cs typeface="+mn-cs"/>
              </a:rPr>
              <a:t>TAKEAWAY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7621" y="581978"/>
            <a:ext cx="5499014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EAF1FB"/>
                </a:solidFill>
                <a:latin typeface="+mn-lt"/>
                <a:ea typeface="+mn-ea"/>
                <a:cs typeface="+mn-cs"/>
              </a:rPr>
              <a:t>A unified, distance-aware view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09600" y="1428750"/>
            <a:ext cx="5372100" cy="2857500"/>
            <a:chOff x="609600" y="1428750"/>
            <a:chExt cx="5372100" cy="285750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5372100" cy="2857500"/>
            </a:xfrm>
            <a:prstGeom prst="roundRect">
              <a:avLst>
                <a:gd name="adj" fmla="val 5333"/>
              </a:avLst>
            </a:prstGeom>
            <a:solidFill>
              <a:schemeClr val="accent6"/>
            </a:solidFill>
            <a:ln w="11430">
              <a:solidFill>
                <a:srgbClr val="2F4160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581150"/>
              <a:ext cx="42862" cy="2552700"/>
            </a:xfrm>
            <a:prstGeom prst="roundRect">
              <a:avLst>
                <a:gd name="adj" fmla="val 48889"/>
              </a:avLst>
            </a:prstGeom>
            <a:solidFill>
              <a:srgbClr val="4F7C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0768" y="1574482"/>
              <a:ext cx="30445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AF1FB"/>
                  </a:solidFill>
                  <a:latin typeface="+mn-lt"/>
                  <a:ea typeface="+mn-ea"/>
                  <a:cs typeface="+mn-cs"/>
                </a:rPr>
                <a:t>Compression buys distance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2673" y="1900714"/>
              <a:ext cx="45072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Recast uncertainty as compressing training data into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2673" y="2138839"/>
              <a:ext cx="46395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a learned codebook, and a single deterministic network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2673" y="2376964"/>
              <a:ext cx="48377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gains a genuine sense of distance from what it has seen —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2673" y="2615089"/>
              <a:ext cx="45878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matching or beating expensive ensembles at a fraction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2673" y="2853214"/>
              <a:ext cx="106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of the cost.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10300" y="1428750"/>
            <a:ext cx="5372100" cy="2857500"/>
            <a:chOff x="6210300" y="1428750"/>
            <a:chExt cx="5372100" cy="2857500"/>
          </a:xfrm>
        </p:grpSpPr>
        <p:sp>
          <p:nvSpPr>
            <p:cNvPr id="15" name="Rectangle 15"/>
            <p:cNvSpPr/>
            <p:nvPr/>
          </p:nvSpPr>
          <p:spPr>
            <a:xfrm>
              <a:off x="6210300" y="1428750"/>
              <a:ext cx="5372100" cy="2857500"/>
            </a:xfrm>
            <a:prstGeom prst="roundRect">
              <a:avLst>
                <a:gd name="adj" fmla="val 5333"/>
              </a:avLst>
            </a:prstGeom>
            <a:solidFill>
              <a:schemeClr val="accent6"/>
            </a:solidFill>
            <a:ln w="11430">
              <a:solidFill>
                <a:srgbClr val="2F416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210300" y="1581150"/>
              <a:ext cx="42862" cy="2552700"/>
            </a:xfrm>
            <a:prstGeom prst="roundRect">
              <a:avLst>
                <a:gd name="adj" fmla="val 48889"/>
              </a:avLst>
            </a:prstGeom>
            <a:solidFill>
              <a:srgbClr val="33D6C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1468" y="1574482"/>
              <a:ext cx="30562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AF1FB"/>
                  </a:solidFill>
                  <a:latin typeface="+mn-lt"/>
                  <a:ea typeface="+mn-ea"/>
                  <a:cs typeface="+mn-cs"/>
                </a:rPr>
                <a:t>Statistical, not geometric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13373" y="1900714"/>
              <a:ext cx="46537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Because distance is statistical rather than geometric,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13373" y="2138839"/>
              <a:ext cx="42551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DAB gives a unified, Gaussian-Process-like view of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13373" y="2376964"/>
              <a:ext cx="45706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uncertainty — for both classification and regression —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13373" y="2615089"/>
              <a:ext cx="41312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and can even be attached after the fact to large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13373" y="2853214"/>
              <a:ext cx="17188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9DB0CC"/>
                  </a:solidFill>
                  <a:latin typeface="+mn-lt"/>
                  <a:ea typeface="+mn-ea"/>
                  <a:cs typeface="+mn-cs"/>
                </a:rPr>
                <a:t>pre-trained models.</a:t>
              </a:r>
            </a:p>
          </p:txBody>
        </p:sp>
      </p:grpSp>
      <p:sp>
        <p:nvSpPr>
          <p:cNvPr id="24" name="Rectangle 24"/>
          <p:cNvSpPr/>
          <p:nvPr/>
        </p:nvSpPr>
        <p:spPr>
          <a:xfrm>
            <a:off x="609600" y="4572000"/>
            <a:ext cx="10972800" cy="666750"/>
          </a:xfrm>
          <a:prstGeom prst="roundRect">
            <a:avLst>
              <a:gd name="adj" fmla="val 20000"/>
            </a:avLst>
          </a:prstGeom>
          <a:solidFill>
            <a:srgbClr val="152239"/>
          </a:solidFill>
          <a:ln w="9525">
            <a:solidFill>
              <a:srgbClr val="2F4160"/>
            </a:solidFill>
          </a:ln>
        </p:spPr>
        <p:txBody>
          <a:bodyPr/>
          <a:p/>
        </p:txBody>
      </p:sp>
      <p:sp>
        <p:nvSpPr>
          <p:cNvPr id="25" name="TextBox 25"/>
          <p:cNvSpPr txBox="1"/>
          <p:nvPr/>
        </p:nvSpPr>
        <p:spPr>
          <a:xfrm>
            <a:off x="850011" y="4837271"/>
            <a:ext cx="715008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EAF1FB"/>
                </a:solidFill>
                <a:latin typeface="+mn-lt"/>
                <a:ea typeface="+mn-ea"/>
                <a:cs typeface="+mn-cs"/>
              </a:rPr>
              <a:t>Distance Aware Bottleneck — principled uncertainty in one forward pass.</a:t>
            </a:r>
          </a:p>
        </p:txBody>
      </p:sp>
      <p:sp>
        <p:nvSpPr>
          <p:cNvPr id="26" name="Ellipse 26"/>
          <p:cNvSpPr/>
          <p:nvPr/>
        </p:nvSpPr>
        <p:spPr>
          <a:xfrm>
            <a:off x="11125200" y="4829175"/>
            <a:ext cx="152400" cy="152400"/>
          </a:xfrm>
          <a:prstGeom prst="ellipse">
            <a:avLst/>
          </a:prstGeom>
          <a:solidFill>
            <a:srgbClr val="33D6C6"/>
          </a:solidFill>
          <a:ln>
            <a:noFill/>
          </a:ln>
        </p:spPr>
        <p:txBody>
          <a:bodyPr/>
          <a:p/>
        </p:txBody>
      </p:sp>
      <p:sp>
        <p:nvSpPr>
          <p:cNvPr id="27" name="cue_s10_c1_takeaway_recasting_uncertainty_probl" title="cue_s10_c1_takeaway_recasting_uncertainty_probl" descr="cue_s10_c1_takeaway_recasting_uncertainty_probl The takeaway is that recasting uncertainty as the problem of compressing training data into a learned codebook gives a single deterministic network a genuine sense of distance from what it has seen, letting it match or beat expensive ensembles at a fraction of"/>
          <p:cNvSpPr/>
          <p:nvPr/>
        </p:nvSpPr>
        <p:spPr>
          <a:xfrm>
            <a:off x="609600" y="1428521"/>
            <a:ext cx="5371795" cy="28577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ue_s10_c2_because_notion_distance_statistical" title="cue_s10_c2_because_notion_distance_statistical" descr="cue_s10_c2_because_notion_distance_statistical Because the notion of distance is statistical rather than geometric, DAB offers a unified, Gaussian-Process-like view of uncertainty that works for both classification and regression, and can even be attached after the fact to large pre-trained models."/>
          <p:cNvSpPr/>
          <p:nvPr/>
        </p:nvSpPr>
        <p:spPr>
          <a:xfrm>
            <a:off x="6210604" y="1428521"/>
            <a:ext cx="5371795" cy="28577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pt_project">
  <a:themeElements>
    <a:clrScheme name="ppt_project">
      <a:dk1>
        <a:srgbClr val="000000"/>
      </a:dk1>
      <a:lt1>
        <a:srgbClr val="0E131F"/>
      </a:lt1>
      <a:dk2>
        <a:srgbClr val="1F497D"/>
      </a:dk2>
      <a:lt2>
        <a:srgbClr val="0E131F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0B0F18"/>
      </a:accent5>
      <a:accent6>
        <a:srgbClr val="1A2536"/>
      </a:accent6>
      <a:hlink>
        <a:srgbClr val="0000FF"/>
      </a:hlink>
      <a:folHlink>
        <a:srgbClr val="800080"/>
      </a:folHlink>
    </a:clrScheme>
    <a:fontScheme name="ppt_projec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_projec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2026-07-15T20:03:30Z</dcterms:created>
  <dcterms:modified xsi:type="dcterms:W3CDTF">2026-07-15T20:03:30Z</dcterms:modified>
  <cp:category/>
  <cp:contentStatus/>
</cp:coreProperties>
</file>
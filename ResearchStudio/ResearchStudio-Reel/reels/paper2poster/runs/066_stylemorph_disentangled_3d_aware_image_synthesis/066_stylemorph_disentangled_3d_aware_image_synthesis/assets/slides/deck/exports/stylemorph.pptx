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0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9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8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100" kern="1200">
          <a:solidFill>
            <a:schemeClr val="tx1"/>
          </a:solidFill>
          <a:latin typeface="+mn-lt"/>
          <a:ea typeface="+mn-ea"/>
          <a:cs typeface="+mn-cs"/>
        </a:defRPr>
      </a:lvl1pPr>
      <a:lvl2pPr marL="457200" algn="l" defTabSz="457200" rtl="0" eaLnBrk="1" latinLnBrk="0" hangingPunct="1">
        <a:defRPr sz="1050" kern="1200">
          <a:solidFill>
            <a:schemeClr val="tx1"/>
          </a:solidFill>
          <a:latin typeface="+mn-lt"/>
          <a:ea typeface="+mn-ea"/>
          <a:cs typeface="+mn-cs"/>
        </a:defRPr>
      </a:lvl2pPr>
      <a:lvl3pPr marL="914400" algn="l" defTabSz="457200" rtl="0" eaLnBrk="1" latinLnBrk="0" hangingPunct="1">
        <a:defRPr sz="1000" kern="1200">
          <a:solidFill>
            <a:schemeClr val="tx1"/>
          </a:solidFill>
          <a:latin typeface="+mn-lt"/>
          <a:ea typeface="+mn-ea"/>
          <a:cs typeface="+mn-cs"/>
        </a:defRPr>
      </a:lvl3pPr>
      <a:lvl4pPr marL="1371600" algn="l" defTabSz="457200" rtl="0" eaLnBrk="1" latinLnBrk="0" hangingPunct="1">
        <a:defRPr sz="900" kern="1200">
          <a:solidFill>
            <a:schemeClr val="tx1"/>
          </a:solidFill>
          <a:latin typeface="+mn-lt"/>
          <a:ea typeface="+mn-ea"/>
          <a:cs typeface="+mn-cs"/>
        </a:defRPr>
      </a:lvl4pPr>
      <a:lvl5pPr marL="1828800" algn="l" defTabSz="457200" rtl="0" eaLnBrk="1" latinLnBrk="0" hangingPunct="1">
        <a:defRPr sz="85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762000" y="666750"/>
            <a:ext cx="66675" cy="1219200"/>
          </a:xfrm>
          <a:prstGeom prst="roundRect">
            <a:avLst>
              <a:gd name="adj" fmla="val 42857"/>
            </a:avLst>
          </a:prstGeom>
          <a:solidFill>
            <a:schemeClr val="accent2"/>
          </a:solidFill>
          <a:ln>
            <a:noFill/>
          </a:ln>
        </p:spPr>
        <p:txBody>
          <a:bodyPr/>
          <a:p/>
        </p:txBody>
      </p:sp>
      <p:sp>
        <p:nvSpPr>
          <p:cNvPr id="3" name="TextBox 3"/>
          <p:cNvSpPr txBox="1"/>
          <p:nvPr/>
        </p:nvSpPr>
        <p:spPr>
          <a:xfrm>
            <a:off x="984504" y="784860"/>
            <a:ext cx="3830909" cy="234696"/>
          </a:xfrm>
          <a:prstGeom prst="rect">
            <a:avLst/>
          </a:prstGeom>
          <a:noFill/>
          <a:ln>
            <a:noFill/>
          </a:ln>
        </p:spPr>
        <p:txBody>
          <a:bodyPr wrap="none" lIns="0" tIns="0" rIns="0" bIns="0" anchor="t" anchorCtr="0">
            <a:spAutoFit/>
          </a:bodyPr>
          <a:lstStyle/>
          <a:p>
            <a:pPr algn="l"/>
            <a:r>
              <a:rPr lang="en-US" sz="1200" b="1" spc="225" dirty="0">
                <a:solidFill>
                  <a:srgbClr val="33D6C0"/>
                </a:solidFill>
                <a:latin typeface="+mn-lt"/>
                <a:ea typeface="+mn-ea"/>
                <a:cs typeface="+mn-cs"/>
              </a:rPr>
              <a:t>ICLR 2023 · 3D-AWARE GENERATION</a:t>
            </a:r>
          </a:p>
        </p:txBody>
      </p:sp>
      <p:sp>
        <p:nvSpPr>
          <p:cNvPr id="4" name="TextBox 4"/>
          <p:cNvSpPr txBox="1"/>
          <p:nvPr/>
        </p:nvSpPr>
        <p:spPr>
          <a:xfrm>
            <a:off x="971550" y="1007745"/>
            <a:ext cx="3076528" cy="762000"/>
          </a:xfrm>
          <a:prstGeom prst="rect">
            <a:avLst/>
          </a:prstGeom>
          <a:noFill/>
          <a:ln>
            <a:noFill/>
          </a:ln>
        </p:spPr>
        <p:txBody>
          <a:bodyPr wrap="none" lIns="0" tIns="0" rIns="0" bIns="0" anchor="t" anchorCtr="0">
            <a:spAutoFit/>
          </a:bodyPr>
          <a:lstStyle/>
          <a:p>
            <a:pPr algn="l"/>
            <a:r>
              <a:rPr lang="en-US" sz="3900" b="1" dirty="0">
                <a:solidFill>
                  <a:schemeClr val="dk1"/>
                </a:solidFill>
                <a:latin typeface="+mn-lt"/>
                <a:ea typeface="+mn-ea"/>
                <a:cs typeface="+mn-cs"/>
              </a:rPr>
              <a:t>StyleMorph</a:t>
            </a:r>
          </a:p>
        </p:txBody>
      </p:sp>
      <p:sp>
        <p:nvSpPr>
          <p:cNvPr id="5" name="TextBox 5"/>
          <p:cNvSpPr txBox="1"/>
          <p:nvPr/>
        </p:nvSpPr>
        <p:spPr>
          <a:xfrm>
            <a:off x="981456" y="1596390"/>
            <a:ext cx="4895248" cy="352044"/>
          </a:xfrm>
          <a:prstGeom prst="rect">
            <a:avLst/>
          </a:prstGeom>
          <a:noFill/>
          <a:ln>
            <a:noFill/>
          </a:ln>
        </p:spPr>
        <p:txBody>
          <a:bodyPr wrap="none" lIns="0" tIns="0" rIns="0" bIns="0" anchor="t" anchorCtr="0">
            <a:spAutoFit/>
          </a:bodyPr>
          <a:lstStyle/>
          <a:p>
            <a:pPr algn="l"/>
            <a:r>
              <a:rPr lang="en-US" sz="1800" b="1" dirty="0">
                <a:solidFill>
                  <a:srgbClr val="9DB0D0"/>
                </a:solidFill>
                <a:latin typeface="+mn-lt"/>
                <a:ea typeface="+mn-ea"/>
                <a:cs typeface="+mn-cs"/>
              </a:rPr>
              <a:t>Disentangled 3D-Aware Image Synthesis</a:t>
            </a:r>
          </a:p>
        </p:txBody>
      </p:sp>
      <p:sp>
        <p:nvSpPr>
          <p:cNvPr id="6" name="TextBox 6"/>
          <p:cNvSpPr txBox="1"/>
          <p:nvPr/>
        </p:nvSpPr>
        <p:spPr>
          <a:xfrm>
            <a:off x="981456" y="1863090"/>
            <a:ext cx="3645841" cy="352044"/>
          </a:xfrm>
          <a:prstGeom prst="rect">
            <a:avLst/>
          </a:prstGeom>
          <a:noFill/>
          <a:ln>
            <a:noFill/>
          </a:ln>
        </p:spPr>
        <p:txBody>
          <a:bodyPr wrap="none" lIns="0" tIns="0" rIns="0" bIns="0" anchor="t" anchorCtr="0">
            <a:spAutoFit/>
          </a:bodyPr>
          <a:lstStyle/>
          <a:p>
            <a:pPr algn="l"/>
            <a:r>
              <a:rPr lang="en-US" sz="1800" b="1" dirty="0">
                <a:solidFill>
                  <a:srgbClr val="9DB0D0"/>
                </a:solidFill>
                <a:latin typeface="+mn-lt"/>
                <a:ea typeface="+mn-ea"/>
                <a:cs typeface="+mn-cs"/>
              </a:rPr>
              <a:t>with a 3D Morphable StyleGAN</a:t>
            </a:r>
          </a:p>
        </p:txBody>
      </p:sp>
      <p:sp>
        <p:nvSpPr>
          <p:cNvPr id="7" name="TextBox 7"/>
          <p:cNvSpPr txBox="1"/>
          <p:nvPr/>
        </p:nvSpPr>
        <p:spPr>
          <a:xfrm>
            <a:off x="984885" y="2278856"/>
            <a:ext cx="5765337"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Eric-Tuan Le, Edward Bartrum, Iasonas Kokkinos · UCL &amp; Alan Turing Institute</a:t>
            </a:r>
          </a:p>
        </p:txBody>
      </p:sp>
      <p:grpSp>
        <p:nvGrpSpPr>
          <p:cNvPr id="14" name="Group 14"/>
          <p:cNvGrpSpPr/>
          <p:nvPr/>
        </p:nvGrpSpPr>
        <p:grpSpPr>
          <a:xfrm>
            <a:off x="762000" y="2857500"/>
            <a:ext cx="5219700" cy="1714500"/>
            <a:chOff x="762000" y="2857500"/>
            <a:chExt cx="5219700" cy="1714500"/>
          </a:xfrm>
        </p:grpSpPr>
        <p:sp>
          <p:nvSpPr>
            <p:cNvPr id="8" name="Rectangle 8"/>
            <p:cNvSpPr/>
            <p:nvPr/>
          </p:nvSpPr>
          <p:spPr>
            <a:xfrm>
              <a:off x="762000" y="2857500"/>
              <a:ext cx="5219700" cy="1714500"/>
            </a:xfrm>
            <a:prstGeom prst="roundRect">
              <a:avLst>
                <a:gd name="adj" fmla="val 7778"/>
              </a:avLst>
            </a:prstGeom>
            <a:solidFill>
              <a:schemeClr val="accent5"/>
            </a:solidFill>
            <a:ln w="14288">
              <a:solidFill>
                <a:srgbClr val="2E3D5E"/>
              </a:solidFill>
            </a:ln>
          </p:spPr>
        </p:sp>
        <p:sp>
          <p:nvSpPr>
            <p:cNvPr id="9" name="Rectangle 9"/>
            <p:cNvSpPr/>
            <p:nvPr/>
          </p:nvSpPr>
          <p:spPr>
            <a:xfrm>
              <a:off x="933450" y="3067050"/>
              <a:ext cx="47625" cy="228600"/>
            </a:xfrm>
            <a:prstGeom prst="roundRect">
              <a:avLst>
                <a:gd name="adj" fmla="val 50000"/>
              </a:avLst>
            </a:prstGeom>
            <a:solidFill>
              <a:schemeClr val="accent2"/>
            </a:solidFill>
            <a:ln>
              <a:noFill/>
            </a:ln>
          </p:spPr>
        </p:sp>
        <p:sp>
          <p:nvSpPr>
            <p:cNvPr id="10" name="TextBox 10"/>
            <p:cNvSpPr txBox="1"/>
            <p:nvPr/>
          </p:nvSpPr>
          <p:spPr>
            <a:xfrm>
              <a:off x="1098042" y="3092768"/>
              <a:ext cx="213817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Disentangles 4 factors</a:t>
              </a:r>
            </a:p>
          </p:txBody>
        </p:sp>
        <p:sp>
          <p:nvSpPr>
            <p:cNvPr id="11" name="TextBox 11"/>
            <p:cNvSpPr txBox="1"/>
            <p:nvPr/>
          </p:nvSpPr>
          <p:spPr>
            <a:xfrm>
              <a:off x="966216" y="3429952"/>
              <a:ext cx="2451735" cy="205359"/>
            </a:xfrm>
            <a:prstGeom prst="rect">
              <a:avLst/>
            </a:prstGeom>
            <a:noFill/>
            <a:ln>
              <a:noFill/>
            </a:ln>
          </p:spPr>
          <p:txBody>
            <a:bodyPr wrap="none" lIns="0" tIns="0" rIns="0" bIns="0" anchor="t" anchorCtr="0">
              <a:spAutoFit/>
            </a:bodyPr>
            <a:lstStyle/>
            <a:p>
              <a:pPr algn="l"/>
              <a:r>
                <a:rPr lang="en-US" sz="1050" dirty="0">
                  <a:solidFill>
                    <a:srgbClr val="9DB0D0"/>
                  </a:solidFill>
                  <a:latin typeface="+mn-lt"/>
                  <a:ea typeface="+mn-ea"/>
                  <a:cs typeface="+mn-cs"/>
                </a:rPr>
                <a:t>Independent control over 3D shape,</a:t>
              </a:r>
            </a:p>
          </p:txBody>
        </p:sp>
        <p:sp>
          <p:nvSpPr>
            <p:cNvPr id="12" name="TextBox 12"/>
            <p:cNvSpPr txBox="1"/>
            <p:nvPr/>
          </p:nvSpPr>
          <p:spPr>
            <a:xfrm>
              <a:off x="966216" y="3620452"/>
              <a:ext cx="2307622" cy="205359"/>
            </a:xfrm>
            <a:prstGeom prst="rect">
              <a:avLst/>
            </a:prstGeom>
            <a:noFill/>
            <a:ln>
              <a:noFill/>
            </a:ln>
          </p:spPr>
          <p:txBody>
            <a:bodyPr wrap="none" lIns="0" tIns="0" rIns="0" bIns="0" anchor="t" anchorCtr="0">
              <a:spAutoFit/>
            </a:bodyPr>
            <a:lstStyle/>
            <a:p>
              <a:pPr algn="l"/>
              <a:r>
                <a:rPr lang="en-US" sz="1050" dirty="0">
                  <a:solidFill>
                    <a:srgbClr val="9DB0D0"/>
                  </a:solidFill>
                  <a:latin typeface="+mn-lt"/>
                  <a:ea typeface="+mn-ea"/>
                  <a:cs typeface="+mn-cs"/>
                </a:rPr>
                <a:t>camera pose, object appearance,</a:t>
              </a:r>
            </a:p>
          </p:txBody>
        </p:sp>
        <p:sp>
          <p:nvSpPr>
            <p:cNvPr id="13" name="TextBox 13"/>
            <p:cNvSpPr txBox="1"/>
            <p:nvPr/>
          </p:nvSpPr>
          <p:spPr>
            <a:xfrm>
              <a:off x="966216" y="3810952"/>
              <a:ext cx="1692745" cy="205359"/>
            </a:xfrm>
            <a:prstGeom prst="rect">
              <a:avLst/>
            </a:prstGeom>
            <a:noFill/>
            <a:ln>
              <a:noFill/>
            </a:ln>
          </p:spPr>
          <p:txBody>
            <a:bodyPr wrap="none" lIns="0" tIns="0" rIns="0" bIns="0" anchor="t" anchorCtr="0">
              <a:spAutoFit/>
            </a:bodyPr>
            <a:lstStyle/>
            <a:p>
              <a:pPr algn="l"/>
              <a:r>
                <a:rPr lang="en-US" sz="1050" dirty="0">
                  <a:solidFill>
                    <a:srgbClr val="9DB0D0"/>
                  </a:solidFill>
                  <a:latin typeface="+mn-lt"/>
                  <a:ea typeface="+mn-ea"/>
                  <a:cs typeface="+mn-cs"/>
                </a:rPr>
                <a:t>and the scene backdrop.</a:t>
              </a:r>
            </a:p>
          </p:txBody>
        </p:sp>
      </p:grpSp>
      <p:grpSp>
        <p:nvGrpSpPr>
          <p:cNvPr id="21" name="Group 21"/>
          <p:cNvGrpSpPr/>
          <p:nvPr/>
        </p:nvGrpSpPr>
        <p:grpSpPr>
          <a:xfrm>
            <a:off x="6210300" y="2857500"/>
            <a:ext cx="5219700" cy="1714500"/>
            <a:chOff x="6210300" y="2857500"/>
            <a:chExt cx="5219700" cy="1714500"/>
          </a:xfrm>
        </p:grpSpPr>
        <p:sp>
          <p:nvSpPr>
            <p:cNvPr id="15" name="Rectangle 15"/>
            <p:cNvSpPr/>
            <p:nvPr/>
          </p:nvSpPr>
          <p:spPr>
            <a:xfrm>
              <a:off x="6210300" y="2857500"/>
              <a:ext cx="5219700" cy="1714500"/>
            </a:xfrm>
            <a:prstGeom prst="roundRect">
              <a:avLst>
                <a:gd name="adj" fmla="val 7778"/>
              </a:avLst>
            </a:prstGeom>
            <a:solidFill>
              <a:schemeClr val="accent5"/>
            </a:solidFill>
            <a:ln w="14288">
              <a:solidFill>
                <a:srgbClr val="2E3D5E"/>
              </a:solidFill>
            </a:ln>
          </p:spPr>
        </p:sp>
        <p:sp>
          <p:nvSpPr>
            <p:cNvPr id="16" name="Rectangle 16"/>
            <p:cNvSpPr/>
            <p:nvPr/>
          </p:nvSpPr>
          <p:spPr>
            <a:xfrm>
              <a:off x="6381750" y="3067050"/>
              <a:ext cx="47625" cy="228600"/>
            </a:xfrm>
            <a:prstGeom prst="roundRect">
              <a:avLst>
                <a:gd name="adj" fmla="val 50000"/>
              </a:avLst>
            </a:prstGeom>
            <a:solidFill>
              <a:srgbClr val="33D6C0"/>
            </a:solidFill>
            <a:ln>
              <a:noFill/>
            </a:ln>
          </p:spPr>
        </p:sp>
        <p:sp>
          <p:nvSpPr>
            <p:cNvPr id="17" name="TextBox 17"/>
            <p:cNvSpPr txBox="1"/>
            <p:nvPr/>
          </p:nvSpPr>
          <p:spPr>
            <a:xfrm>
              <a:off x="6546342" y="3092768"/>
              <a:ext cx="2555762"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Learns from 2D photos only</a:t>
              </a:r>
            </a:p>
          </p:txBody>
        </p:sp>
        <p:sp>
          <p:nvSpPr>
            <p:cNvPr id="18" name="TextBox 18"/>
            <p:cNvSpPr txBox="1"/>
            <p:nvPr/>
          </p:nvSpPr>
          <p:spPr>
            <a:xfrm>
              <a:off x="6414516" y="3429952"/>
              <a:ext cx="2239541" cy="205359"/>
            </a:xfrm>
            <a:prstGeom prst="rect">
              <a:avLst/>
            </a:prstGeom>
            <a:noFill/>
            <a:ln>
              <a:noFill/>
            </a:ln>
          </p:spPr>
          <p:txBody>
            <a:bodyPr wrap="none" lIns="0" tIns="0" rIns="0" bIns="0" anchor="t" anchorCtr="0">
              <a:spAutoFit/>
            </a:bodyPr>
            <a:lstStyle/>
            <a:p>
              <a:pPr algn="l"/>
              <a:r>
                <a:rPr lang="en-US" sz="1050" dirty="0">
                  <a:solidFill>
                    <a:srgbClr val="9DB0D0"/>
                  </a:solidFill>
                  <a:latin typeface="+mn-lt"/>
                  <a:ea typeface="+mn-ea"/>
                  <a:cs typeface="+mn-cs"/>
                </a:rPr>
                <a:t>Builds a 3D morphable model with</a:t>
              </a:r>
            </a:p>
          </p:txBody>
        </p:sp>
        <p:sp>
          <p:nvSpPr>
            <p:cNvPr id="19" name="TextBox 19"/>
            <p:cNvSpPr txBox="1"/>
            <p:nvPr/>
          </p:nvSpPr>
          <p:spPr>
            <a:xfrm>
              <a:off x="6414516" y="3620452"/>
              <a:ext cx="2221170" cy="205359"/>
            </a:xfrm>
            <a:prstGeom prst="rect">
              <a:avLst/>
            </a:prstGeom>
            <a:noFill/>
            <a:ln>
              <a:noFill/>
            </a:ln>
          </p:spPr>
          <p:txBody>
            <a:bodyPr wrap="none" lIns="0" tIns="0" rIns="0" bIns="0" anchor="t" anchorCtr="0">
              <a:spAutoFit/>
            </a:bodyPr>
            <a:lstStyle/>
            <a:p>
              <a:pPr algn="l"/>
              <a:r>
                <a:rPr lang="en-US" sz="1050" dirty="0">
                  <a:solidFill>
                    <a:srgbClr val="9DB0D0"/>
                  </a:solidFill>
                  <a:latin typeface="+mn-lt"/>
                  <a:ea typeface="+mn-ea"/>
                  <a:cs typeface="+mn-cs"/>
                </a:rPr>
                <a:t>no 3D scans, no pose labels, and</a:t>
              </a:r>
            </a:p>
          </p:txBody>
        </p:sp>
        <p:sp>
          <p:nvSpPr>
            <p:cNvPr id="20" name="TextBox 20"/>
            <p:cNvSpPr txBox="1"/>
            <p:nvPr/>
          </p:nvSpPr>
          <p:spPr>
            <a:xfrm>
              <a:off x="6414516" y="3810952"/>
              <a:ext cx="1883569" cy="205359"/>
            </a:xfrm>
            <a:prstGeom prst="rect">
              <a:avLst/>
            </a:prstGeom>
            <a:noFill/>
            <a:ln>
              <a:noFill/>
            </a:ln>
          </p:spPr>
          <p:txBody>
            <a:bodyPr wrap="none" lIns="0" tIns="0" rIns="0" bIns="0" anchor="t" anchorCtr="0">
              <a:spAutoFit/>
            </a:bodyPr>
            <a:lstStyle/>
            <a:p>
              <a:pPr algn="l"/>
              <a:r>
                <a:rPr lang="en-US" sz="1050" dirty="0">
                  <a:solidFill>
                    <a:srgbClr val="9DB0D0"/>
                  </a:solidFill>
                  <a:latin typeface="+mn-lt"/>
                  <a:ea typeface="+mn-ea"/>
                  <a:cs typeface="+mn-cs"/>
                </a:rPr>
                <a:t>no hand-supplied template.</a:t>
              </a:r>
            </a:p>
          </p:txBody>
        </p:sp>
      </p:grpSp>
      <p:grpSp>
        <p:nvGrpSpPr>
          <p:cNvPr id="28" name="Group 28"/>
          <p:cNvGrpSpPr/>
          <p:nvPr/>
        </p:nvGrpSpPr>
        <p:grpSpPr>
          <a:xfrm>
            <a:off x="762000" y="4800600"/>
            <a:ext cx="5219700" cy="1714500"/>
            <a:chOff x="762000" y="4800600"/>
            <a:chExt cx="5219700" cy="1714500"/>
          </a:xfrm>
        </p:grpSpPr>
        <p:sp>
          <p:nvSpPr>
            <p:cNvPr id="22" name="Rectangle 22"/>
            <p:cNvSpPr/>
            <p:nvPr/>
          </p:nvSpPr>
          <p:spPr>
            <a:xfrm>
              <a:off x="762000" y="4800600"/>
              <a:ext cx="5219700" cy="1714500"/>
            </a:xfrm>
            <a:prstGeom prst="roundRect">
              <a:avLst>
                <a:gd name="adj" fmla="val 7778"/>
              </a:avLst>
            </a:prstGeom>
            <a:solidFill>
              <a:schemeClr val="accent5"/>
            </a:solidFill>
            <a:ln w="14288">
              <a:solidFill>
                <a:srgbClr val="2E3D5E"/>
              </a:solidFill>
            </a:ln>
          </p:spPr>
        </p:sp>
        <p:sp>
          <p:nvSpPr>
            <p:cNvPr id="23" name="Rectangle 23"/>
            <p:cNvSpPr/>
            <p:nvPr/>
          </p:nvSpPr>
          <p:spPr>
            <a:xfrm>
              <a:off x="933450" y="5010150"/>
              <a:ext cx="47625" cy="228600"/>
            </a:xfrm>
            <a:prstGeom prst="roundRect">
              <a:avLst>
                <a:gd name="adj" fmla="val 50000"/>
              </a:avLst>
            </a:prstGeom>
            <a:solidFill>
              <a:srgbClr val="FFCF5C"/>
            </a:solidFill>
            <a:ln>
              <a:noFill/>
            </a:ln>
          </p:spPr>
        </p:sp>
        <p:sp>
          <p:nvSpPr>
            <p:cNvPr id="24" name="TextBox 24"/>
            <p:cNvSpPr txBox="1"/>
            <p:nvPr/>
          </p:nvSpPr>
          <p:spPr>
            <a:xfrm>
              <a:off x="1098042" y="5035868"/>
              <a:ext cx="1346198"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The core trick</a:t>
              </a:r>
            </a:p>
          </p:txBody>
        </p:sp>
        <p:sp>
          <p:nvSpPr>
            <p:cNvPr id="25" name="TextBox 25"/>
            <p:cNvSpPr txBox="1"/>
            <p:nvPr/>
          </p:nvSpPr>
          <p:spPr>
            <a:xfrm>
              <a:off x="966216" y="5373052"/>
              <a:ext cx="2557493" cy="205359"/>
            </a:xfrm>
            <a:prstGeom prst="rect">
              <a:avLst/>
            </a:prstGeom>
            <a:noFill/>
            <a:ln>
              <a:noFill/>
            </a:ln>
          </p:spPr>
          <p:txBody>
            <a:bodyPr wrap="none" lIns="0" tIns="0" rIns="0" bIns="0" anchor="t" anchorCtr="0">
              <a:spAutoFit/>
            </a:bodyPr>
            <a:lstStyle/>
            <a:p>
              <a:pPr algn="l"/>
              <a:r>
                <a:rPr lang="en-US" sz="1050" dirty="0">
                  <a:solidFill>
                    <a:srgbClr val="9DB0D0"/>
                  </a:solidFill>
                  <a:latin typeface="+mn-lt"/>
                  <a:ea typeface="+mn-ea"/>
                  <a:cs typeface="+mn-cs"/>
                </a:rPr>
                <a:t>Morph one canonical 3D template into</a:t>
              </a:r>
            </a:p>
          </p:txBody>
        </p:sp>
        <p:sp>
          <p:nvSpPr>
            <p:cNvPr id="26" name="TextBox 26"/>
            <p:cNvSpPr txBox="1"/>
            <p:nvPr/>
          </p:nvSpPr>
          <p:spPr>
            <a:xfrm>
              <a:off x="966216" y="5563552"/>
              <a:ext cx="2441972" cy="205359"/>
            </a:xfrm>
            <a:prstGeom prst="rect">
              <a:avLst/>
            </a:prstGeom>
            <a:noFill/>
            <a:ln>
              <a:noFill/>
            </a:ln>
          </p:spPr>
          <p:txBody>
            <a:bodyPr wrap="none" lIns="0" tIns="0" rIns="0" bIns="0" anchor="t" anchorCtr="0">
              <a:spAutoFit/>
            </a:bodyPr>
            <a:lstStyle/>
            <a:p>
              <a:pPr algn="l"/>
              <a:r>
                <a:rPr lang="en-US" sz="1050" dirty="0">
                  <a:solidFill>
                    <a:srgbClr val="9DB0D0"/>
                  </a:solidFill>
                  <a:latin typeface="+mn-lt"/>
                  <a:ea typeface="+mn-ea"/>
                  <a:cs typeface="+mn-cs"/>
                </a:rPr>
                <a:t>a purely geometric 2D map (TOCS),</a:t>
              </a:r>
            </a:p>
          </p:txBody>
        </p:sp>
        <p:sp>
          <p:nvSpPr>
            <p:cNvPr id="27" name="TextBox 27"/>
            <p:cNvSpPr txBox="1"/>
            <p:nvPr/>
          </p:nvSpPr>
          <p:spPr>
            <a:xfrm>
              <a:off x="966216" y="5754052"/>
              <a:ext cx="2502980" cy="205359"/>
            </a:xfrm>
            <a:prstGeom prst="rect">
              <a:avLst/>
            </a:prstGeom>
            <a:noFill/>
            <a:ln>
              <a:noFill/>
            </a:ln>
          </p:spPr>
          <p:txBody>
            <a:bodyPr wrap="none" lIns="0" tIns="0" rIns="0" bIns="0" anchor="t" anchorCtr="0">
              <a:spAutoFit/>
            </a:bodyPr>
            <a:lstStyle/>
            <a:p>
              <a:pPr algn="l"/>
              <a:r>
                <a:rPr lang="en-US" sz="1050" dirty="0">
                  <a:solidFill>
                    <a:srgbClr val="9DB0D0"/>
                  </a:solidFill>
                  <a:latin typeface="+mn-lt"/>
                  <a:ea typeface="+mn-ea"/>
                  <a:cs typeface="+mn-cs"/>
                </a:rPr>
                <a:t>then condition a StyleGAN renderer.</a:t>
              </a:r>
            </a:p>
          </p:txBody>
        </p:sp>
      </p:grpSp>
      <p:grpSp>
        <p:nvGrpSpPr>
          <p:cNvPr id="35" name="Group 35"/>
          <p:cNvGrpSpPr/>
          <p:nvPr/>
        </p:nvGrpSpPr>
        <p:grpSpPr>
          <a:xfrm>
            <a:off x="6210300" y="4800600"/>
            <a:ext cx="5219700" cy="1714500"/>
            <a:chOff x="6210300" y="4800600"/>
            <a:chExt cx="5219700" cy="1714500"/>
          </a:xfrm>
        </p:grpSpPr>
        <p:sp>
          <p:nvSpPr>
            <p:cNvPr id="29" name="Rectangle 29"/>
            <p:cNvSpPr/>
            <p:nvPr/>
          </p:nvSpPr>
          <p:spPr>
            <a:xfrm>
              <a:off x="6210300" y="4800600"/>
              <a:ext cx="5219700" cy="1714500"/>
            </a:xfrm>
            <a:prstGeom prst="roundRect">
              <a:avLst>
                <a:gd name="adj" fmla="val 7778"/>
              </a:avLst>
            </a:prstGeom>
            <a:solidFill>
              <a:schemeClr val="accent5"/>
            </a:solidFill>
            <a:ln w="14288">
              <a:solidFill>
                <a:srgbClr val="2E3D5E"/>
              </a:solidFill>
            </a:ln>
          </p:spPr>
        </p:sp>
        <p:sp>
          <p:nvSpPr>
            <p:cNvPr id="30" name="Rectangle 30"/>
            <p:cNvSpPr/>
            <p:nvPr/>
          </p:nvSpPr>
          <p:spPr>
            <a:xfrm>
              <a:off x="6381750" y="5010150"/>
              <a:ext cx="47625" cy="228600"/>
            </a:xfrm>
            <a:prstGeom prst="roundRect">
              <a:avLst>
                <a:gd name="adj" fmla="val 50000"/>
              </a:avLst>
            </a:prstGeom>
            <a:solidFill>
              <a:srgbClr val="48D982"/>
            </a:solidFill>
            <a:ln>
              <a:noFill/>
            </a:ln>
          </p:spPr>
        </p:sp>
        <p:sp>
          <p:nvSpPr>
            <p:cNvPr id="31" name="TextBox 31"/>
            <p:cNvSpPr txBox="1"/>
            <p:nvPr/>
          </p:nvSpPr>
          <p:spPr>
            <a:xfrm>
              <a:off x="6546342" y="5035868"/>
              <a:ext cx="2328908"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Works across categories</a:t>
              </a:r>
            </a:p>
          </p:txBody>
        </p:sp>
        <p:sp>
          <p:nvSpPr>
            <p:cNvPr id="32" name="TextBox 32"/>
            <p:cNvSpPr txBox="1"/>
            <p:nvPr/>
          </p:nvSpPr>
          <p:spPr>
            <a:xfrm>
              <a:off x="6414516" y="5373052"/>
              <a:ext cx="2475332" cy="205359"/>
            </a:xfrm>
            <a:prstGeom prst="rect">
              <a:avLst/>
            </a:prstGeom>
            <a:noFill/>
            <a:ln>
              <a:noFill/>
            </a:ln>
          </p:spPr>
          <p:txBody>
            <a:bodyPr wrap="none" lIns="0" tIns="0" rIns="0" bIns="0" anchor="t" anchorCtr="0">
              <a:spAutoFit/>
            </a:bodyPr>
            <a:lstStyle/>
            <a:p>
              <a:pPr algn="l"/>
              <a:r>
                <a:rPr lang="en-US" sz="1050" dirty="0">
                  <a:solidFill>
                    <a:srgbClr val="9DB0D0"/>
                  </a:solidFill>
                  <a:latin typeface="+mn-lt"/>
                  <a:ea typeface="+mn-ea"/>
                  <a:cs typeface="+mn-cs"/>
                </a:rPr>
                <a:t>Faces, cats, dogs, and wild animals</a:t>
              </a:r>
            </a:p>
          </p:txBody>
        </p:sp>
        <p:sp>
          <p:nvSpPr>
            <p:cNvPr id="33" name="TextBox 33"/>
            <p:cNvSpPr txBox="1"/>
            <p:nvPr/>
          </p:nvSpPr>
          <p:spPr>
            <a:xfrm>
              <a:off x="6414516" y="5563552"/>
              <a:ext cx="2136667" cy="205359"/>
            </a:xfrm>
            <a:prstGeom prst="rect">
              <a:avLst/>
            </a:prstGeom>
            <a:noFill/>
            <a:ln>
              <a:noFill/>
            </a:ln>
          </p:spPr>
          <p:txBody>
            <a:bodyPr wrap="none" lIns="0" tIns="0" rIns="0" bIns="0" anchor="t" anchorCtr="0">
              <a:spAutoFit/>
            </a:bodyPr>
            <a:lstStyle/>
            <a:p>
              <a:pPr algn="l"/>
              <a:r>
                <a:rPr lang="en-US" sz="1050" dirty="0">
                  <a:solidFill>
                    <a:srgbClr val="9DB0D0"/>
                  </a:solidFill>
                  <a:latin typeface="+mn-lt"/>
                  <a:ea typeface="+mn-ea"/>
                  <a:cs typeface="+mn-cs"/>
                </a:rPr>
                <a:t>— SOTA image quality with full,</a:t>
              </a:r>
            </a:p>
          </p:txBody>
        </p:sp>
        <p:sp>
          <p:nvSpPr>
            <p:cNvPr id="34" name="TextBox 34"/>
            <p:cNvSpPr txBox="1"/>
            <p:nvPr/>
          </p:nvSpPr>
          <p:spPr>
            <a:xfrm>
              <a:off x="6414516" y="5754052"/>
              <a:ext cx="2010785" cy="205359"/>
            </a:xfrm>
            <a:prstGeom prst="rect">
              <a:avLst/>
            </a:prstGeom>
            <a:noFill/>
            <a:ln>
              <a:noFill/>
            </a:ln>
          </p:spPr>
          <p:txBody>
            <a:bodyPr wrap="none" lIns="0" tIns="0" rIns="0" bIns="0" anchor="t" anchorCtr="0">
              <a:spAutoFit/>
            </a:bodyPr>
            <a:lstStyle/>
            <a:p>
              <a:pPr algn="l"/>
              <a:r>
                <a:rPr lang="en-US" sz="1050" dirty="0">
                  <a:solidFill>
                    <a:srgbClr val="9DB0D0"/>
                  </a:solidFill>
                  <a:latin typeface="+mn-lt"/>
                  <a:ea typeface="+mn-ea"/>
                  <a:cs typeface="+mn-cs"/>
                </a:rPr>
                <a:t>fine-grained factor control.</a:t>
              </a:r>
            </a:p>
          </p:txBody>
        </p:sp>
      </p:grpSp>
      <p:sp>
        <p:nvSpPr>
          <p:cNvPr id="36" name="cue_s01_c1_stylemorph_3_d_aware_generative_pull" title="cue_s01_c1_stylemorph_3_d_aware_generative_pull" descr="cue_s01_c1_stylemorph_3_d_aware_generative_pull StyleMorph is a 3D-aware generative model that pulls apart the four things that make an image what it is: the object's 3D shape, the camera pose, the object's appearance, and the background."/>
          <p:cNvSpPr/>
          <p:nvPr/>
        </p:nvSpPr>
        <p:spPr>
          <a:xfrm>
            <a:off x="762000" y="2857728"/>
            <a:ext cx="5219395"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1_c2_does_learning_3_morphable_nothing" title="cue_s01_c2_does_learning_3_morphable_nothing" descr="cue_s01_c2_does_learning_3_morphable_nothing It does this by learning a 3D morphable model from nothing but ordinary 2D photos, with no 3D scans, no pose labels, and no template supplied by hand."/>
          <p:cNvSpPr/>
          <p:nvPr/>
        </p:nvSpPr>
        <p:spPr>
          <a:xfrm>
            <a:off x="6210604" y="2857728"/>
            <a:ext cx="5219395"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1_c3_trick_morph_single_canonical_3" title="cue_s01_c3_trick_morph_single_canonical_3" descr="cue_s01_c3_trick_morph_single_canonical_3 The trick is to morph a single canonical 3D template and render its coordinates into a purely geometric 2D map, which then conditions a StyleGAN renderer for photorealistic synthesis."/>
          <p:cNvSpPr/>
          <p:nvPr/>
        </p:nvSpPr>
        <p:spPr>
          <a:xfrm>
            <a:off x="762000" y="4800600"/>
            <a:ext cx="5219395"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1_c4_faces_cats_dogs_wild_animals" title="cue_s01_c4_faces_cats_dogs_wild_animals" descr="cue_s01_c4_faces_cats_dogs_wild_animals On faces, cats, dogs, and wild animals, StyleMorph matches state-of-the-art image quality while giving you independent, fine-grained control over every factor of variation."/>
          <p:cNvSpPr/>
          <p:nvPr/>
        </p:nvSpPr>
        <p:spPr>
          <a:xfrm>
            <a:off x="6210604" y="4800600"/>
            <a:ext cx="5219395"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38150"/>
            <a:ext cx="57150" cy="323850"/>
          </a:xfrm>
          <a:prstGeom prst="roundRect">
            <a:avLst>
              <a:gd name="adj" fmla="val 50000"/>
            </a:avLst>
          </a:prstGeom>
          <a:solidFill>
            <a:schemeClr val="accent2"/>
          </a:solidFill>
          <a:ln>
            <a:noFill/>
          </a:ln>
        </p:spPr>
        <p:txBody>
          <a:bodyPr/>
          <a:p/>
        </p:txBody>
      </p:sp>
      <p:sp>
        <p:nvSpPr>
          <p:cNvPr id="3" name="TextBox 3"/>
          <p:cNvSpPr txBox="1"/>
          <p:nvPr/>
        </p:nvSpPr>
        <p:spPr>
          <a:xfrm>
            <a:off x="794385" y="450056"/>
            <a:ext cx="850362" cy="220028"/>
          </a:xfrm>
          <a:prstGeom prst="rect">
            <a:avLst/>
          </a:prstGeom>
          <a:noFill/>
          <a:ln>
            <a:noFill/>
          </a:ln>
        </p:spPr>
        <p:txBody>
          <a:bodyPr wrap="none" lIns="0" tIns="0" rIns="0" bIns="0" anchor="t" anchorCtr="0">
            <a:spAutoFit/>
          </a:bodyPr>
          <a:lstStyle/>
          <a:p>
            <a:pPr algn="l"/>
            <a:r>
              <a:rPr lang="en-US" sz="1120" b="1" spc="150" dirty="0">
                <a:solidFill>
                  <a:srgbClr val="33D6C0"/>
                </a:solidFill>
                <a:latin typeface="+mn-lt"/>
                <a:ea typeface="+mn-ea"/>
                <a:cs typeface="+mn-cs"/>
              </a:rPr>
              <a:t>PROBLEM</a:t>
            </a:r>
          </a:p>
        </p:txBody>
      </p:sp>
      <p:sp>
        <p:nvSpPr>
          <p:cNvPr id="4" name="TextBox 4"/>
          <p:cNvSpPr txBox="1"/>
          <p:nvPr/>
        </p:nvSpPr>
        <p:spPr>
          <a:xfrm>
            <a:off x="788670" y="595312"/>
            <a:ext cx="427870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Control is the missing piece</a:t>
            </a:r>
          </a:p>
        </p:txBody>
      </p:sp>
      <p:grpSp>
        <p:nvGrpSpPr>
          <p:cNvPr id="11" name="Group 11"/>
          <p:cNvGrpSpPr/>
          <p:nvPr/>
        </p:nvGrpSpPr>
        <p:grpSpPr>
          <a:xfrm>
            <a:off x="571500" y="1219200"/>
            <a:ext cx="5410200" cy="2514600"/>
            <a:chOff x="571500" y="1219200"/>
            <a:chExt cx="5410200" cy="2514600"/>
          </a:xfrm>
        </p:grpSpPr>
        <p:sp>
          <p:nvSpPr>
            <p:cNvPr id="5" name="Rectangle 5"/>
            <p:cNvSpPr/>
            <p:nvPr/>
          </p:nvSpPr>
          <p:spPr>
            <a:xfrm>
              <a:off x="571500" y="1219200"/>
              <a:ext cx="5410200" cy="2514600"/>
            </a:xfrm>
            <a:prstGeom prst="roundRect">
              <a:avLst>
                <a:gd name="adj" fmla="val 5303"/>
              </a:avLst>
            </a:prstGeom>
            <a:solidFill>
              <a:schemeClr val="accent5"/>
            </a:solidFill>
            <a:ln w="14288">
              <a:solidFill>
                <a:srgbClr val="2E3D5E"/>
              </a:solidFill>
            </a:ln>
          </p:spPr>
        </p:sp>
        <p:sp>
          <p:nvSpPr>
            <p:cNvPr id="6" name="Rectangle 6"/>
            <p:cNvSpPr/>
            <p:nvPr/>
          </p:nvSpPr>
          <p:spPr>
            <a:xfrm>
              <a:off x="742950" y="1428750"/>
              <a:ext cx="47625" cy="247650"/>
            </a:xfrm>
            <a:prstGeom prst="roundRect">
              <a:avLst>
                <a:gd name="adj" fmla="val 50000"/>
              </a:avLst>
            </a:prstGeom>
            <a:solidFill>
              <a:schemeClr val="accent2"/>
            </a:solidFill>
            <a:ln>
              <a:noFill/>
            </a:ln>
          </p:spPr>
        </p:sp>
        <p:sp>
          <p:nvSpPr>
            <p:cNvPr id="7" name="TextBox 7"/>
            <p:cNvSpPr txBox="1"/>
            <p:nvPr/>
          </p:nvSpPr>
          <p:spPr>
            <a:xfrm>
              <a:off x="906780" y="1457325"/>
              <a:ext cx="329818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The dream: steerable synthesis</a:t>
              </a:r>
            </a:p>
          </p:txBody>
        </p:sp>
        <p:sp>
          <p:nvSpPr>
            <p:cNvPr id="8" name="TextBox 8"/>
            <p:cNvSpPr txBox="1"/>
            <p:nvPr/>
          </p:nvSpPr>
          <p:spPr>
            <a:xfrm>
              <a:off x="775335" y="1859756"/>
              <a:ext cx="2896161"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Change pose without touching identity;</a:t>
              </a:r>
            </a:p>
          </p:txBody>
        </p:sp>
        <p:sp>
          <p:nvSpPr>
            <p:cNvPr id="9" name="TextBox 9"/>
            <p:cNvSpPr txBox="1"/>
            <p:nvPr/>
          </p:nvSpPr>
          <p:spPr>
            <a:xfrm>
              <a:off x="775335" y="2078831"/>
              <a:ext cx="2793218"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swap the backdrop without disturbing</a:t>
              </a:r>
            </a:p>
          </p:txBody>
        </p:sp>
        <p:sp>
          <p:nvSpPr>
            <p:cNvPr id="10" name="TextBox 10"/>
            <p:cNvSpPr txBox="1"/>
            <p:nvPr/>
          </p:nvSpPr>
          <p:spPr>
            <a:xfrm>
              <a:off x="775335" y="2297906"/>
              <a:ext cx="2061962"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the object being generated.</a:t>
              </a:r>
            </a:p>
          </p:txBody>
        </p:sp>
      </p:grpSp>
      <p:grpSp>
        <p:nvGrpSpPr>
          <p:cNvPr id="18" name="Group 18"/>
          <p:cNvGrpSpPr/>
          <p:nvPr/>
        </p:nvGrpSpPr>
        <p:grpSpPr>
          <a:xfrm>
            <a:off x="6210300" y="1219200"/>
            <a:ext cx="5410200" cy="2514600"/>
            <a:chOff x="6210300" y="1219200"/>
            <a:chExt cx="5410200" cy="2514600"/>
          </a:xfrm>
        </p:grpSpPr>
        <p:sp>
          <p:nvSpPr>
            <p:cNvPr id="12" name="Rectangle 12"/>
            <p:cNvSpPr/>
            <p:nvPr/>
          </p:nvSpPr>
          <p:spPr>
            <a:xfrm>
              <a:off x="6210300" y="1219200"/>
              <a:ext cx="5410200" cy="2514600"/>
            </a:xfrm>
            <a:prstGeom prst="roundRect">
              <a:avLst>
                <a:gd name="adj" fmla="val 5303"/>
              </a:avLst>
            </a:prstGeom>
            <a:solidFill>
              <a:schemeClr val="accent5"/>
            </a:solidFill>
            <a:ln w="14288">
              <a:solidFill>
                <a:srgbClr val="2E3D5E"/>
              </a:solidFill>
            </a:ln>
          </p:spPr>
        </p:sp>
        <p:sp>
          <p:nvSpPr>
            <p:cNvPr id="13" name="Rectangle 13"/>
            <p:cNvSpPr/>
            <p:nvPr/>
          </p:nvSpPr>
          <p:spPr>
            <a:xfrm>
              <a:off x="6381750" y="1428750"/>
              <a:ext cx="47625" cy="247650"/>
            </a:xfrm>
            <a:prstGeom prst="roundRect">
              <a:avLst>
                <a:gd name="adj" fmla="val 50000"/>
              </a:avLst>
            </a:prstGeom>
            <a:solidFill>
              <a:srgbClr val="33D6C0"/>
            </a:solidFill>
            <a:ln>
              <a:noFill/>
            </a:ln>
          </p:spPr>
        </p:sp>
        <p:sp>
          <p:nvSpPr>
            <p:cNvPr id="14" name="TextBox 14"/>
            <p:cNvSpPr txBox="1"/>
            <p:nvPr/>
          </p:nvSpPr>
          <p:spPr>
            <a:xfrm>
              <a:off x="6545580" y="1457325"/>
              <a:ext cx="338331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Today's 3D-aware GANs entangle</a:t>
              </a:r>
            </a:p>
          </p:txBody>
        </p:sp>
        <p:sp>
          <p:nvSpPr>
            <p:cNvPr id="15" name="TextBox 15"/>
            <p:cNvSpPr txBox="1"/>
            <p:nvPr/>
          </p:nvSpPr>
          <p:spPr>
            <a:xfrm>
              <a:off x="6414135" y="1859756"/>
              <a:ext cx="2632472"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Beautiful images, but geometry and</a:t>
              </a:r>
            </a:p>
          </p:txBody>
        </p:sp>
        <p:sp>
          <p:nvSpPr>
            <p:cNvPr id="16" name="TextBox 16"/>
            <p:cNvSpPr txBox="1"/>
            <p:nvPr/>
          </p:nvSpPr>
          <p:spPr>
            <a:xfrm>
              <a:off x="6414135" y="2078831"/>
              <a:ext cx="2732908"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appearance are fused, so editing one</a:t>
              </a:r>
            </a:p>
          </p:txBody>
        </p:sp>
        <p:sp>
          <p:nvSpPr>
            <p:cNvPr id="17" name="TextBox 17"/>
            <p:cNvSpPr txBox="1"/>
            <p:nvPr/>
          </p:nvSpPr>
          <p:spPr>
            <a:xfrm>
              <a:off x="6414135" y="2297906"/>
              <a:ext cx="2273046"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factor bleeds into the others.</a:t>
              </a:r>
            </a:p>
          </p:txBody>
        </p:sp>
      </p:grpSp>
      <p:grpSp>
        <p:nvGrpSpPr>
          <p:cNvPr id="25" name="Group 25"/>
          <p:cNvGrpSpPr/>
          <p:nvPr/>
        </p:nvGrpSpPr>
        <p:grpSpPr>
          <a:xfrm>
            <a:off x="571500" y="3962400"/>
            <a:ext cx="5410200" cy="2514600"/>
            <a:chOff x="571500" y="3962400"/>
            <a:chExt cx="5410200" cy="2514600"/>
          </a:xfrm>
        </p:grpSpPr>
        <p:sp>
          <p:nvSpPr>
            <p:cNvPr id="19" name="Rectangle 19"/>
            <p:cNvSpPr/>
            <p:nvPr/>
          </p:nvSpPr>
          <p:spPr>
            <a:xfrm>
              <a:off x="571500" y="3962400"/>
              <a:ext cx="5410200" cy="2514600"/>
            </a:xfrm>
            <a:prstGeom prst="roundRect">
              <a:avLst>
                <a:gd name="adj" fmla="val 5303"/>
              </a:avLst>
            </a:prstGeom>
            <a:solidFill>
              <a:schemeClr val="accent5"/>
            </a:solidFill>
            <a:ln w="14288">
              <a:solidFill>
                <a:srgbClr val="2E3D5E"/>
              </a:solidFill>
            </a:ln>
          </p:spPr>
        </p:sp>
        <p:sp>
          <p:nvSpPr>
            <p:cNvPr id="20" name="Rectangle 20"/>
            <p:cNvSpPr/>
            <p:nvPr/>
          </p:nvSpPr>
          <p:spPr>
            <a:xfrm>
              <a:off x="742950" y="4171950"/>
              <a:ext cx="47625" cy="247650"/>
            </a:xfrm>
            <a:prstGeom prst="roundRect">
              <a:avLst>
                <a:gd name="adj" fmla="val 50000"/>
              </a:avLst>
            </a:prstGeom>
            <a:solidFill>
              <a:srgbClr val="FFCF5C"/>
            </a:solidFill>
            <a:ln>
              <a:noFill/>
            </a:ln>
          </p:spPr>
        </p:sp>
        <p:sp>
          <p:nvSpPr>
            <p:cNvPr id="21" name="TextBox 21"/>
            <p:cNvSpPr txBox="1"/>
            <p:nvPr/>
          </p:nvSpPr>
          <p:spPr>
            <a:xfrm>
              <a:off x="906780" y="4200525"/>
              <a:ext cx="2479423"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3DMMs solve control...</a:t>
              </a:r>
            </a:p>
          </p:txBody>
        </p:sp>
        <p:sp>
          <p:nvSpPr>
            <p:cNvPr id="22" name="TextBox 22"/>
            <p:cNvSpPr txBox="1"/>
            <p:nvPr/>
          </p:nvSpPr>
          <p:spPr>
            <a:xfrm>
              <a:off x="775335" y="4602956"/>
              <a:ext cx="2730024"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Classical morphable models give clean</a:t>
              </a:r>
            </a:p>
          </p:txBody>
        </p:sp>
        <p:sp>
          <p:nvSpPr>
            <p:cNvPr id="23" name="TextBox 23"/>
            <p:cNvSpPr txBox="1"/>
            <p:nvPr/>
          </p:nvSpPr>
          <p:spPr>
            <a:xfrm>
              <a:off x="775335" y="4822031"/>
              <a:ext cx="2700453"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separate dials, but need 3D scanning</a:t>
              </a:r>
            </a:p>
          </p:txBody>
        </p:sp>
        <p:sp>
          <p:nvSpPr>
            <p:cNvPr id="24" name="TextBox 24"/>
            <p:cNvSpPr txBox="1"/>
            <p:nvPr/>
          </p:nvSpPr>
          <p:spPr>
            <a:xfrm>
              <a:off x="775335" y="5041106"/>
              <a:ext cx="2506746"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and painstaking manual alignment.</a:t>
              </a:r>
            </a:p>
          </p:txBody>
        </p:sp>
      </p:grpSp>
      <p:grpSp>
        <p:nvGrpSpPr>
          <p:cNvPr id="32" name="Group 32"/>
          <p:cNvGrpSpPr/>
          <p:nvPr/>
        </p:nvGrpSpPr>
        <p:grpSpPr>
          <a:xfrm>
            <a:off x="6210300" y="3962400"/>
            <a:ext cx="5410200" cy="2514600"/>
            <a:chOff x="6210300" y="3962400"/>
            <a:chExt cx="5410200" cy="2514600"/>
          </a:xfrm>
        </p:grpSpPr>
        <p:sp>
          <p:nvSpPr>
            <p:cNvPr id="26" name="Rectangle 26"/>
            <p:cNvSpPr/>
            <p:nvPr/>
          </p:nvSpPr>
          <p:spPr>
            <a:xfrm>
              <a:off x="6210300" y="3962400"/>
              <a:ext cx="5410200" cy="2514600"/>
            </a:xfrm>
            <a:prstGeom prst="roundRect">
              <a:avLst>
                <a:gd name="adj" fmla="val 5303"/>
              </a:avLst>
            </a:prstGeom>
            <a:solidFill>
              <a:schemeClr val="accent5"/>
            </a:solidFill>
            <a:ln w="14288">
              <a:solidFill>
                <a:srgbClr val="2E3D5E"/>
              </a:solidFill>
            </a:ln>
          </p:spPr>
        </p:sp>
        <p:sp>
          <p:nvSpPr>
            <p:cNvPr id="27" name="Rectangle 27"/>
            <p:cNvSpPr/>
            <p:nvPr/>
          </p:nvSpPr>
          <p:spPr>
            <a:xfrm>
              <a:off x="6381750" y="4171950"/>
              <a:ext cx="47625" cy="247650"/>
            </a:xfrm>
            <a:prstGeom prst="roundRect">
              <a:avLst>
                <a:gd name="adj" fmla="val 50000"/>
              </a:avLst>
            </a:prstGeom>
            <a:solidFill>
              <a:srgbClr val="48D982"/>
            </a:solidFill>
            <a:ln>
              <a:noFill/>
            </a:ln>
          </p:spPr>
        </p:sp>
        <p:sp>
          <p:nvSpPr>
            <p:cNvPr id="28" name="TextBox 28"/>
            <p:cNvSpPr txBox="1"/>
            <p:nvPr/>
          </p:nvSpPr>
          <p:spPr>
            <a:xfrm>
              <a:off x="6545580" y="4200525"/>
              <a:ext cx="225212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...but only for faces</a:t>
              </a:r>
            </a:p>
          </p:txBody>
        </p:sp>
        <p:sp>
          <p:nvSpPr>
            <p:cNvPr id="29" name="TextBox 29"/>
            <p:cNvSpPr txBox="1"/>
            <p:nvPr/>
          </p:nvSpPr>
          <p:spPr>
            <a:xfrm>
              <a:off x="6414135" y="4602956"/>
              <a:ext cx="3047756"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StyleMorph asks: can we get 3DMM-style</a:t>
              </a:r>
            </a:p>
          </p:txBody>
        </p:sp>
        <p:sp>
          <p:nvSpPr>
            <p:cNvPr id="30" name="TextBox 30"/>
            <p:cNvSpPr txBox="1"/>
            <p:nvPr/>
          </p:nvSpPr>
          <p:spPr>
            <a:xfrm>
              <a:off x="6414135" y="4822031"/>
              <a:ext cx="2521824"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control for arbitrary categories,</a:t>
              </a:r>
            </a:p>
          </p:txBody>
        </p:sp>
        <p:sp>
          <p:nvSpPr>
            <p:cNvPr id="31" name="TextBox 31"/>
            <p:cNvSpPr txBox="1"/>
            <p:nvPr/>
          </p:nvSpPr>
          <p:spPr>
            <a:xfrm>
              <a:off x="6414135" y="5041106"/>
              <a:ext cx="2218154"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learned from 2D images alone?</a:t>
              </a:r>
            </a:p>
          </p:txBody>
        </p:sp>
      </p:grpSp>
      <p:sp>
        <p:nvSpPr>
          <p:cNvPr id="33" name="cue_s02_c1_dream_3_d_aware_image_generation" title="cue_s02_c1_dream_3_d_aware_image_generation" descr="cue_s02_c1_dream_3_d_aware_image_generation The dream in 3D-aware image generation is a model you can steer, one where you change the pose without touching identity, or swap the background without disturbing the object."/>
          <p:cNvSpPr/>
          <p:nvPr/>
        </p:nvSpPr>
        <p:spPr>
          <a:xfrm>
            <a:off x="571804" y="12193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2_c2_today_best_3_d_aware_gans" title="cue_s02_c2_today_best_3_d_aware_gans" descr="cue_s02_c2_today_best_3_d_aware_gans Today's best 3D-aware GANs make beautiful images, but their hybrid design fuses geometry and appearance together, so editing one factor bleeds into the others."/>
          <p:cNvSpPr/>
          <p:nvPr/>
        </p:nvSpPr>
        <p:spPr>
          <a:xfrm>
            <a:off x="6210604" y="12193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2_c3_classical_3_morphable_models_solve" title="cue_s02_c3_classical_3_morphable_models_solve" descr="cue_s02_c3_classical_3_morphable_models_solve Classical 3D morphable models solve the control problem elegantly, yet they require expensive 3D scanning and painstaking manual alignment, which is why they mainly exist for human faces."/>
          <p:cNvSpPr/>
          <p:nvPr/>
        </p:nvSpPr>
        <p:spPr>
          <a:xfrm>
            <a:off x="571804" y="39625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2_c4_stylemorph_asks_whether_get_morphabl" title="cue_s02_c4_stylemorph_asks_whether_get_morphabl" descr="cue_s02_c4_stylemorph_asks_whether_get_morphabl StyleMorph asks whether we can get morphable-model control for arbitrary object categories, learning everything from unstructured 2D images alone."/>
          <p:cNvSpPr/>
          <p:nvPr/>
        </p:nvSpPr>
        <p:spPr>
          <a:xfrm>
            <a:off x="6210604" y="39625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38150"/>
            <a:ext cx="57150" cy="323850"/>
          </a:xfrm>
          <a:prstGeom prst="roundRect">
            <a:avLst>
              <a:gd name="adj" fmla="val 50000"/>
            </a:avLst>
          </a:prstGeom>
          <a:solidFill>
            <a:schemeClr val="accent2"/>
          </a:solidFill>
          <a:ln>
            <a:noFill/>
          </a:ln>
        </p:spPr>
        <p:txBody>
          <a:bodyPr/>
          <a:p/>
        </p:txBody>
      </p:sp>
      <p:sp>
        <p:nvSpPr>
          <p:cNvPr id="3" name="TextBox 3"/>
          <p:cNvSpPr txBox="1"/>
          <p:nvPr/>
        </p:nvSpPr>
        <p:spPr>
          <a:xfrm>
            <a:off x="794385" y="450056"/>
            <a:ext cx="1140190" cy="220028"/>
          </a:xfrm>
          <a:prstGeom prst="rect">
            <a:avLst/>
          </a:prstGeom>
          <a:noFill/>
          <a:ln>
            <a:noFill/>
          </a:ln>
        </p:spPr>
        <p:txBody>
          <a:bodyPr wrap="none" lIns="0" tIns="0" rIns="0" bIns="0" anchor="t" anchorCtr="0">
            <a:spAutoFit/>
          </a:bodyPr>
          <a:lstStyle/>
          <a:p>
            <a:pPr algn="l"/>
            <a:r>
              <a:rPr lang="en-US" sz="1120" b="1" spc="150" dirty="0">
                <a:solidFill>
                  <a:srgbClr val="33D6C0"/>
                </a:solidFill>
                <a:latin typeface="+mn-lt"/>
                <a:ea typeface="+mn-ea"/>
                <a:cs typeface="+mn-cs"/>
              </a:rPr>
              <a:t>MOTIVATION</a:t>
            </a:r>
          </a:p>
        </p:txBody>
      </p:sp>
      <p:sp>
        <p:nvSpPr>
          <p:cNvPr id="4" name="TextBox 4"/>
          <p:cNvSpPr txBox="1"/>
          <p:nvPr/>
        </p:nvSpPr>
        <p:spPr>
          <a:xfrm>
            <a:off x="788670" y="595312"/>
            <a:ext cx="430019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Bring 3DMM control to GANs</a:t>
            </a:r>
          </a:p>
        </p:txBody>
      </p:sp>
      <p:grpSp>
        <p:nvGrpSpPr>
          <p:cNvPr id="11" name="Group 11"/>
          <p:cNvGrpSpPr/>
          <p:nvPr/>
        </p:nvGrpSpPr>
        <p:grpSpPr>
          <a:xfrm>
            <a:off x="571500" y="1219200"/>
            <a:ext cx="5410200" cy="2514600"/>
            <a:chOff x="571500" y="1219200"/>
            <a:chExt cx="5410200" cy="2514600"/>
          </a:xfrm>
        </p:grpSpPr>
        <p:sp>
          <p:nvSpPr>
            <p:cNvPr id="5" name="Rectangle 5"/>
            <p:cNvSpPr/>
            <p:nvPr/>
          </p:nvSpPr>
          <p:spPr>
            <a:xfrm>
              <a:off x="571500" y="1219200"/>
              <a:ext cx="5410200" cy="2514600"/>
            </a:xfrm>
            <a:prstGeom prst="roundRect">
              <a:avLst>
                <a:gd name="adj" fmla="val 5303"/>
              </a:avLst>
            </a:prstGeom>
            <a:solidFill>
              <a:schemeClr val="accent5"/>
            </a:solidFill>
            <a:ln w="14288">
              <a:solidFill>
                <a:srgbClr val="2E3D5E"/>
              </a:solidFill>
            </a:ln>
          </p:spPr>
        </p:sp>
        <p:sp>
          <p:nvSpPr>
            <p:cNvPr id="6" name="Rectangle 6"/>
            <p:cNvSpPr/>
            <p:nvPr/>
          </p:nvSpPr>
          <p:spPr>
            <a:xfrm>
              <a:off x="742950" y="1428750"/>
              <a:ext cx="47625" cy="247650"/>
            </a:xfrm>
            <a:prstGeom prst="roundRect">
              <a:avLst>
                <a:gd name="adj" fmla="val 50000"/>
              </a:avLst>
            </a:prstGeom>
            <a:solidFill>
              <a:schemeClr val="accent2"/>
            </a:solidFill>
            <a:ln>
              <a:noFill/>
            </a:ln>
          </p:spPr>
        </p:sp>
        <p:sp>
          <p:nvSpPr>
            <p:cNvPr id="7" name="TextBox 7"/>
            <p:cNvSpPr txBox="1"/>
            <p:nvPr/>
          </p:nvSpPr>
          <p:spPr>
            <a:xfrm>
              <a:off x="906780" y="1457325"/>
              <a:ext cx="3266308"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Why morphable control matters</a:t>
              </a:r>
            </a:p>
          </p:txBody>
        </p:sp>
        <p:sp>
          <p:nvSpPr>
            <p:cNvPr id="8" name="TextBox 8"/>
            <p:cNvSpPr txBox="1"/>
            <p:nvPr/>
          </p:nvSpPr>
          <p:spPr>
            <a:xfrm>
              <a:off x="775335" y="1859756"/>
              <a:ext cx="3035722"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3DMMs are the workhorse of VFX and AR,</a:t>
              </a:r>
            </a:p>
          </p:txBody>
        </p:sp>
        <p:sp>
          <p:nvSpPr>
            <p:cNvPr id="9" name="TextBox 9"/>
            <p:cNvSpPr txBox="1"/>
            <p:nvPr/>
          </p:nvSpPr>
          <p:spPr>
            <a:xfrm>
              <a:off x="775335" y="2078831"/>
              <a:ext cx="2778140"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handing creators clean separate dials</a:t>
              </a:r>
            </a:p>
          </p:txBody>
        </p:sp>
        <p:sp>
          <p:nvSpPr>
            <p:cNvPr id="10" name="TextBox 10"/>
            <p:cNvSpPr txBox="1"/>
            <p:nvPr/>
          </p:nvSpPr>
          <p:spPr>
            <a:xfrm>
              <a:off x="775335" y="2297906"/>
              <a:ext cx="2597211"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for pose, expression, appearance.</a:t>
              </a:r>
            </a:p>
          </p:txBody>
        </p:sp>
      </p:grpSp>
      <p:grpSp>
        <p:nvGrpSpPr>
          <p:cNvPr id="18" name="Group 18"/>
          <p:cNvGrpSpPr/>
          <p:nvPr/>
        </p:nvGrpSpPr>
        <p:grpSpPr>
          <a:xfrm>
            <a:off x="6210300" y="1219200"/>
            <a:ext cx="5410200" cy="2514600"/>
            <a:chOff x="6210300" y="1219200"/>
            <a:chExt cx="5410200" cy="2514600"/>
          </a:xfrm>
        </p:grpSpPr>
        <p:sp>
          <p:nvSpPr>
            <p:cNvPr id="12" name="Rectangle 12"/>
            <p:cNvSpPr/>
            <p:nvPr/>
          </p:nvSpPr>
          <p:spPr>
            <a:xfrm>
              <a:off x="6210300" y="1219200"/>
              <a:ext cx="5410200" cy="2514600"/>
            </a:xfrm>
            <a:prstGeom prst="roundRect">
              <a:avLst>
                <a:gd name="adj" fmla="val 5303"/>
              </a:avLst>
            </a:prstGeom>
            <a:solidFill>
              <a:schemeClr val="accent5"/>
            </a:solidFill>
            <a:ln w="14288">
              <a:solidFill>
                <a:srgbClr val="2E3D5E"/>
              </a:solidFill>
            </a:ln>
          </p:spPr>
        </p:sp>
        <p:sp>
          <p:nvSpPr>
            <p:cNvPr id="13" name="Rectangle 13"/>
            <p:cNvSpPr/>
            <p:nvPr/>
          </p:nvSpPr>
          <p:spPr>
            <a:xfrm>
              <a:off x="6381750" y="1428750"/>
              <a:ext cx="47625" cy="247650"/>
            </a:xfrm>
            <a:prstGeom prst="roundRect">
              <a:avLst>
                <a:gd name="adj" fmla="val 50000"/>
              </a:avLst>
            </a:prstGeom>
            <a:solidFill>
              <a:srgbClr val="33D6C0"/>
            </a:solidFill>
            <a:ln>
              <a:noFill/>
            </a:ln>
          </p:spPr>
        </p:sp>
        <p:sp>
          <p:nvSpPr>
            <p:cNvPr id="14" name="TextBox 14"/>
            <p:cNvSpPr txBox="1"/>
            <p:nvPr/>
          </p:nvSpPr>
          <p:spPr>
            <a:xfrm>
              <a:off x="6545580" y="1457325"/>
              <a:ext cx="2088999"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The driving question</a:t>
              </a:r>
            </a:p>
          </p:txBody>
        </p:sp>
        <p:sp>
          <p:nvSpPr>
            <p:cNvPr id="15" name="TextBox 15"/>
            <p:cNvSpPr txBox="1"/>
            <p:nvPr/>
          </p:nvSpPr>
          <p:spPr>
            <a:xfrm>
              <a:off x="6414135" y="1859756"/>
              <a:ext cx="2768255"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Can we get that same control inside a</a:t>
              </a:r>
            </a:p>
          </p:txBody>
        </p:sp>
        <p:sp>
          <p:nvSpPr>
            <p:cNvPr id="16" name="TextBox 16"/>
            <p:cNvSpPr txBox="1"/>
            <p:nvPr/>
          </p:nvSpPr>
          <p:spPr>
            <a:xfrm>
              <a:off x="6414135" y="2078831"/>
              <a:ext cx="2846953"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modern 3D-aware GAN — without any of</a:t>
              </a:r>
            </a:p>
          </p:txBody>
        </p:sp>
        <p:sp>
          <p:nvSpPr>
            <p:cNvPr id="17" name="TextBox 17"/>
            <p:cNvSpPr txBox="1"/>
            <p:nvPr/>
          </p:nvSpPr>
          <p:spPr>
            <a:xfrm>
              <a:off x="6414135" y="2297906"/>
              <a:ext cx="2566498"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the 3D supervision 3DMMs require?</a:t>
              </a:r>
            </a:p>
          </p:txBody>
        </p:sp>
      </p:grpSp>
      <p:grpSp>
        <p:nvGrpSpPr>
          <p:cNvPr id="25" name="Group 25"/>
          <p:cNvGrpSpPr/>
          <p:nvPr/>
        </p:nvGrpSpPr>
        <p:grpSpPr>
          <a:xfrm>
            <a:off x="571500" y="3962400"/>
            <a:ext cx="5410200" cy="2514600"/>
            <a:chOff x="571500" y="3962400"/>
            <a:chExt cx="5410200" cy="2514600"/>
          </a:xfrm>
        </p:grpSpPr>
        <p:sp>
          <p:nvSpPr>
            <p:cNvPr id="19" name="Rectangle 19"/>
            <p:cNvSpPr/>
            <p:nvPr/>
          </p:nvSpPr>
          <p:spPr>
            <a:xfrm>
              <a:off x="571500" y="3962400"/>
              <a:ext cx="5410200" cy="2514600"/>
            </a:xfrm>
            <a:prstGeom prst="roundRect">
              <a:avLst>
                <a:gd name="adj" fmla="val 5303"/>
              </a:avLst>
            </a:prstGeom>
            <a:solidFill>
              <a:schemeClr val="accent5"/>
            </a:solidFill>
            <a:ln w="14288">
              <a:solidFill>
                <a:srgbClr val="2E3D5E"/>
              </a:solidFill>
            </a:ln>
          </p:spPr>
        </p:sp>
        <p:sp>
          <p:nvSpPr>
            <p:cNvPr id="20" name="Rectangle 20"/>
            <p:cNvSpPr/>
            <p:nvPr/>
          </p:nvSpPr>
          <p:spPr>
            <a:xfrm>
              <a:off x="742950" y="4171950"/>
              <a:ext cx="47625" cy="247650"/>
            </a:xfrm>
            <a:prstGeom prst="roundRect">
              <a:avLst>
                <a:gd name="adj" fmla="val 50000"/>
              </a:avLst>
            </a:prstGeom>
            <a:solidFill>
              <a:srgbClr val="FFCF5C"/>
            </a:solidFill>
            <a:ln>
              <a:noFill/>
            </a:ln>
          </p:spPr>
        </p:sp>
        <p:sp>
          <p:nvSpPr>
            <p:cNvPr id="21" name="TextBox 21"/>
            <p:cNvSpPr txBox="1"/>
            <p:nvPr/>
          </p:nvSpPr>
          <p:spPr>
            <a:xfrm>
              <a:off x="906780" y="4200525"/>
              <a:ext cx="3457013"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Limits of prior deformation work</a:t>
              </a:r>
            </a:p>
          </p:txBody>
        </p:sp>
        <p:sp>
          <p:nvSpPr>
            <p:cNvPr id="22" name="TextBox 22"/>
            <p:cNvSpPr txBox="1"/>
            <p:nvPr/>
          </p:nvSpPr>
          <p:spPr>
            <a:xfrm>
              <a:off x="775335" y="4602956"/>
              <a:ext cx="2526724"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Earlier methods stayed on a single</a:t>
              </a:r>
            </a:p>
          </p:txBody>
        </p:sp>
        <p:sp>
          <p:nvSpPr>
            <p:cNvPr id="23" name="TextBox 23"/>
            <p:cNvSpPr txBox="1"/>
            <p:nvPr/>
          </p:nvSpPr>
          <p:spPr>
            <a:xfrm>
              <a:off x="775335" y="4822031"/>
              <a:ext cx="2883682"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dynamic scene, or leaned on a template</a:t>
              </a:r>
            </a:p>
          </p:txBody>
        </p:sp>
        <p:sp>
          <p:nvSpPr>
            <p:cNvPr id="24" name="TextBox 24"/>
            <p:cNvSpPr txBox="1"/>
            <p:nvPr/>
          </p:nvSpPr>
          <p:spPr>
            <a:xfrm>
              <a:off x="775335" y="5041106"/>
              <a:ext cx="2898760"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that already existed for the category.</a:t>
              </a:r>
            </a:p>
          </p:txBody>
        </p:sp>
      </p:grpSp>
      <p:grpSp>
        <p:nvGrpSpPr>
          <p:cNvPr id="32" name="Group 32"/>
          <p:cNvGrpSpPr/>
          <p:nvPr/>
        </p:nvGrpSpPr>
        <p:grpSpPr>
          <a:xfrm>
            <a:off x="6210300" y="3962400"/>
            <a:ext cx="5410200" cy="2514600"/>
            <a:chOff x="6210300" y="3962400"/>
            <a:chExt cx="5410200" cy="2514600"/>
          </a:xfrm>
        </p:grpSpPr>
        <p:sp>
          <p:nvSpPr>
            <p:cNvPr id="26" name="Rectangle 26"/>
            <p:cNvSpPr/>
            <p:nvPr/>
          </p:nvSpPr>
          <p:spPr>
            <a:xfrm>
              <a:off x="6210300" y="3962400"/>
              <a:ext cx="5410200" cy="2514600"/>
            </a:xfrm>
            <a:prstGeom prst="roundRect">
              <a:avLst>
                <a:gd name="adj" fmla="val 5303"/>
              </a:avLst>
            </a:prstGeom>
            <a:solidFill>
              <a:schemeClr val="accent5"/>
            </a:solidFill>
            <a:ln w="14288">
              <a:solidFill>
                <a:srgbClr val="2E3D5E"/>
              </a:solidFill>
            </a:ln>
          </p:spPr>
        </p:sp>
        <p:sp>
          <p:nvSpPr>
            <p:cNvPr id="27" name="Rectangle 27"/>
            <p:cNvSpPr/>
            <p:nvPr/>
          </p:nvSpPr>
          <p:spPr>
            <a:xfrm>
              <a:off x="6381750" y="4171950"/>
              <a:ext cx="47625" cy="247650"/>
            </a:xfrm>
            <a:prstGeom prst="roundRect">
              <a:avLst>
                <a:gd name="adj" fmla="val 50000"/>
              </a:avLst>
            </a:prstGeom>
            <a:solidFill>
              <a:srgbClr val="48D982"/>
            </a:solidFill>
            <a:ln>
              <a:noFill/>
            </a:ln>
          </p:spPr>
        </p:sp>
        <p:sp>
          <p:nvSpPr>
            <p:cNvPr id="28" name="TextBox 28"/>
            <p:cNvSpPr txBox="1"/>
            <p:nvPr/>
          </p:nvSpPr>
          <p:spPr>
            <a:xfrm>
              <a:off x="6545580" y="4200525"/>
              <a:ext cx="2011715"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StyleMorph's shift</a:t>
              </a:r>
            </a:p>
          </p:txBody>
        </p:sp>
        <p:sp>
          <p:nvSpPr>
            <p:cNvPr id="29" name="TextBox 29"/>
            <p:cNvSpPr txBox="1"/>
            <p:nvPr/>
          </p:nvSpPr>
          <p:spPr>
            <a:xfrm>
              <a:off x="6414135" y="4602956"/>
              <a:ext cx="2941323"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It turns the morphable model itself into</a:t>
              </a:r>
            </a:p>
          </p:txBody>
        </p:sp>
        <p:sp>
          <p:nvSpPr>
            <p:cNvPr id="30" name="TextBox 30"/>
            <p:cNvSpPr txBox="1"/>
            <p:nvPr/>
          </p:nvSpPr>
          <p:spPr>
            <a:xfrm>
              <a:off x="6414135" y="4822031"/>
              <a:ext cx="2861066"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something the network discovers from</a:t>
              </a:r>
            </a:p>
          </p:txBody>
        </p:sp>
        <p:sp>
          <p:nvSpPr>
            <p:cNvPr id="31" name="TextBox 31"/>
            <p:cNvSpPr txBox="1"/>
            <p:nvPr/>
          </p:nvSpPr>
          <p:spPr>
            <a:xfrm>
              <a:off x="6414135" y="5041106"/>
              <a:ext cx="2527289"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unlabeled 2D images — first-class.</a:t>
              </a:r>
            </a:p>
          </p:txBody>
        </p:sp>
      </p:grpSp>
      <p:sp>
        <p:nvSpPr>
          <p:cNvPr id="33" name="cue_s03_c1_morphable_models_workhorse_visual_ef" title="cue_s03_c1_morphable_models_workhorse_visual_ef" descr="cue_s03_c1_morphable_models_workhorse_visual_ef Morphable models are the workhorse of visual effects and augmented reality because they hand creators clean, separate dials for pose, expression, and appearance."/>
          <p:cNvSpPr/>
          <p:nvPr/>
        </p:nvSpPr>
        <p:spPr>
          <a:xfrm>
            <a:off x="571804" y="12193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3_c2_question_motivates_work_simple_get" title="cue_s03_c2_question_motivates_work_simple_get" descr="cue_s03_c2_question_motivates_work_simple_get The question that motivates this work is simple: can we get that same level of control inside a modern 3D-aware GAN, but without any of the 3D supervision that morphable models normally need?"/>
          <p:cNvSpPr/>
          <p:nvPr/>
        </p:nvSpPr>
        <p:spPr>
          <a:xfrm>
            <a:off x="6210604" y="12193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3_c3_prior_work_added_3_deformations" title="cue_s03_c3_prior_work_added_3_deformations" descr="cue_s03_c3_prior_work_added_3_deformations Prior work that added 3D deformations to synthesis either stayed limited to a single dynamic scene, or leaned on a deformable template that already existed for the category."/>
          <p:cNvSpPr/>
          <p:nvPr/>
        </p:nvSpPr>
        <p:spPr>
          <a:xfrm>
            <a:off x="571804" y="39625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3_c4_stylemorph_instead_turns_morphable_i" title="cue_s03_c4_stylemorph_instead_turns_morphable_i" descr="cue_s03_c4_stylemorph_instead_turns_morphable_i StyleMorph instead turns the morphable model itself into something the network discovers from unlabeled 2D images, making it a first-class citizen of generative modelling."/>
          <p:cNvSpPr/>
          <p:nvPr/>
        </p:nvSpPr>
        <p:spPr>
          <a:xfrm>
            <a:off x="6210604" y="39625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38150"/>
            <a:ext cx="57150" cy="323850"/>
          </a:xfrm>
          <a:prstGeom prst="roundRect">
            <a:avLst>
              <a:gd name="adj" fmla="val 50000"/>
            </a:avLst>
          </a:prstGeom>
          <a:solidFill>
            <a:schemeClr val="accent2"/>
          </a:solidFill>
          <a:ln>
            <a:noFill/>
          </a:ln>
        </p:spPr>
        <p:txBody>
          <a:bodyPr/>
          <a:p/>
        </p:txBody>
      </p:sp>
      <p:sp>
        <p:nvSpPr>
          <p:cNvPr id="3" name="TextBox 3"/>
          <p:cNvSpPr txBox="1"/>
          <p:nvPr/>
        </p:nvSpPr>
        <p:spPr>
          <a:xfrm>
            <a:off x="794385" y="450056"/>
            <a:ext cx="1446745" cy="220028"/>
          </a:xfrm>
          <a:prstGeom prst="rect">
            <a:avLst/>
          </a:prstGeom>
          <a:noFill/>
          <a:ln>
            <a:noFill/>
          </a:ln>
        </p:spPr>
        <p:txBody>
          <a:bodyPr wrap="none" lIns="0" tIns="0" rIns="0" bIns="0" anchor="t" anchorCtr="0">
            <a:spAutoFit/>
          </a:bodyPr>
          <a:lstStyle/>
          <a:p>
            <a:pPr algn="l"/>
            <a:r>
              <a:rPr lang="en-US" sz="1120" b="1" spc="150" dirty="0">
                <a:solidFill>
                  <a:srgbClr val="33D6C0"/>
                </a:solidFill>
                <a:latin typeface="+mn-lt"/>
                <a:ea typeface="+mn-ea"/>
                <a:cs typeface="+mn-cs"/>
              </a:rPr>
              <a:t>CONTRIBUTIONS</a:t>
            </a:r>
          </a:p>
        </p:txBody>
      </p:sp>
      <p:sp>
        <p:nvSpPr>
          <p:cNvPr id="4" name="TextBox 4"/>
          <p:cNvSpPr txBox="1"/>
          <p:nvPr/>
        </p:nvSpPr>
        <p:spPr>
          <a:xfrm>
            <a:off x="788670" y="595312"/>
            <a:ext cx="410337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Three linked contributions</a:t>
            </a:r>
          </a:p>
        </p:txBody>
      </p:sp>
      <p:grpSp>
        <p:nvGrpSpPr>
          <p:cNvPr id="11" name="Group 11"/>
          <p:cNvGrpSpPr/>
          <p:nvPr/>
        </p:nvGrpSpPr>
        <p:grpSpPr>
          <a:xfrm>
            <a:off x="571500" y="1219200"/>
            <a:ext cx="5410200" cy="2514600"/>
            <a:chOff x="571500" y="1219200"/>
            <a:chExt cx="5410200" cy="2514600"/>
          </a:xfrm>
        </p:grpSpPr>
        <p:sp>
          <p:nvSpPr>
            <p:cNvPr id="5" name="Rectangle 5"/>
            <p:cNvSpPr/>
            <p:nvPr/>
          </p:nvSpPr>
          <p:spPr>
            <a:xfrm>
              <a:off x="571500" y="1219200"/>
              <a:ext cx="5410200" cy="2514600"/>
            </a:xfrm>
            <a:prstGeom prst="roundRect">
              <a:avLst>
                <a:gd name="adj" fmla="val 5303"/>
              </a:avLst>
            </a:prstGeom>
            <a:solidFill>
              <a:schemeClr val="accent5"/>
            </a:solidFill>
            <a:ln w="14288">
              <a:solidFill>
                <a:srgbClr val="2E3D5E"/>
              </a:solidFill>
            </a:ln>
          </p:spPr>
        </p:sp>
        <p:sp>
          <p:nvSpPr>
            <p:cNvPr id="6" name="Rectangle 6"/>
            <p:cNvSpPr/>
            <p:nvPr/>
          </p:nvSpPr>
          <p:spPr>
            <a:xfrm>
              <a:off x="742950" y="1428750"/>
              <a:ext cx="47625" cy="247650"/>
            </a:xfrm>
            <a:prstGeom prst="roundRect">
              <a:avLst>
                <a:gd name="adj" fmla="val 50000"/>
              </a:avLst>
            </a:prstGeom>
            <a:solidFill>
              <a:schemeClr val="accent2"/>
            </a:solidFill>
            <a:ln>
              <a:noFill/>
            </a:ln>
          </p:spPr>
        </p:sp>
        <p:sp>
          <p:nvSpPr>
            <p:cNvPr id="7" name="TextBox 7"/>
            <p:cNvSpPr txBox="1"/>
            <p:nvPr/>
          </p:nvSpPr>
          <p:spPr>
            <a:xfrm>
              <a:off x="906780" y="1457325"/>
              <a:ext cx="324397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1 · Learned 3D morphable model</a:t>
              </a:r>
            </a:p>
          </p:txBody>
        </p:sp>
        <p:sp>
          <p:nvSpPr>
            <p:cNvPr id="8" name="TextBox 8"/>
            <p:cNvSpPr txBox="1"/>
            <p:nvPr/>
          </p:nvSpPr>
          <p:spPr>
            <a:xfrm>
              <a:off x="775335" y="1859756"/>
              <a:ext cx="2828347"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Learns non-rigid shape variation for a</a:t>
              </a:r>
            </a:p>
          </p:txBody>
        </p:sp>
        <p:sp>
          <p:nvSpPr>
            <p:cNvPr id="9" name="TextBox 9"/>
            <p:cNvSpPr txBox="1"/>
            <p:nvPr/>
          </p:nvSpPr>
          <p:spPr>
            <a:xfrm>
              <a:off x="775335" y="2078831"/>
              <a:ext cx="2956899"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category from 2D images only, morphing</a:t>
              </a:r>
            </a:p>
          </p:txBody>
        </p:sp>
        <p:sp>
          <p:nvSpPr>
            <p:cNvPr id="10" name="TextBox 10"/>
            <p:cNvSpPr txBox="1"/>
            <p:nvPr/>
          </p:nvSpPr>
          <p:spPr>
            <a:xfrm>
              <a:off x="775335" y="2297906"/>
              <a:ext cx="2514285"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a canonical template by backprop.</a:t>
              </a:r>
            </a:p>
          </p:txBody>
        </p:sp>
      </p:grpSp>
      <p:grpSp>
        <p:nvGrpSpPr>
          <p:cNvPr id="18" name="Group 18"/>
          <p:cNvGrpSpPr/>
          <p:nvPr/>
        </p:nvGrpSpPr>
        <p:grpSpPr>
          <a:xfrm>
            <a:off x="6210300" y="1219200"/>
            <a:ext cx="5410200" cy="2514600"/>
            <a:chOff x="6210300" y="1219200"/>
            <a:chExt cx="5410200" cy="2514600"/>
          </a:xfrm>
        </p:grpSpPr>
        <p:sp>
          <p:nvSpPr>
            <p:cNvPr id="12" name="Rectangle 12"/>
            <p:cNvSpPr/>
            <p:nvPr/>
          </p:nvSpPr>
          <p:spPr>
            <a:xfrm>
              <a:off x="6210300" y="1219200"/>
              <a:ext cx="5410200" cy="2514600"/>
            </a:xfrm>
            <a:prstGeom prst="roundRect">
              <a:avLst>
                <a:gd name="adj" fmla="val 5303"/>
              </a:avLst>
            </a:prstGeom>
            <a:solidFill>
              <a:schemeClr val="accent5"/>
            </a:solidFill>
            <a:ln w="14288">
              <a:solidFill>
                <a:srgbClr val="2E3D5E"/>
              </a:solidFill>
            </a:ln>
          </p:spPr>
        </p:sp>
        <p:sp>
          <p:nvSpPr>
            <p:cNvPr id="13" name="Rectangle 13"/>
            <p:cNvSpPr/>
            <p:nvPr/>
          </p:nvSpPr>
          <p:spPr>
            <a:xfrm>
              <a:off x="6381750" y="1428750"/>
              <a:ext cx="47625" cy="247650"/>
            </a:xfrm>
            <a:prstGeom prst="roundRect">
              <a:avLst>
                <a:gd name="adj" fmla="val 50000"/>
              </a:avLst>
            </a:prstGeom>
            <a:solidFill>
              <a:srgbClr val="33D6C0"/>
            </a:solidFill>
            <a:ln>
              <a:noFill/>
            </a:ln>
          </p:spPr>
        </p:sp>
        <p:sp>
          <p:nvSpPr>
            <p:cNvPr id="14" name="TextBox 14"/>
            <p:cNvSpPr txBox="1"/>
            <p:nvPr/>
          </p:nvSpPr>
          <p:spPr>
            <a:xfrm>
              <a:off x="6545580" y="1457325"/>
              <a:ext cx="336666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2 · Template Object Coordinates</a:t>
              </a:r>
            </a:p>
          </p:txBody>
        </p:sp>
        <p:sp>
          <p:nvSpPr>
            <p:cNvPr id="15" name="TextBox 15"/>
            <p:cNvSpPr txBox="1"/>
            <p:nvPr/>
          </p:nvSpPr>
          <p:spPr>
            <a:xfrm>
              <a:off x="6414135" y="1859756"/>
              <a:ext cx="3022366"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TOCS: a deformable cousin of Normalized</a:t>
              </a:r>
            </a:p>
          </p:txBody>
        </p:sp>
        <p:sp>
          <p:nvSpPr>
            <p:cNvPr id="16" name="TextBox 16"/>
            <p:cNvSpPr txBox="1"/>
            <p:nvPr/>
          </p:nvSpPr>
          <p:spPr>
            <a:xfrm>
              <a:off x="6414135" y="2078831"/>
              <a:ext cx="2900810"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Object Coordinates giving each surface</a:t>
              </a:r>
            </a:p>
          </p:txBody>
        </p:sp>
        <p:sp>
          <p:nvSpPr>
            <p:cNvPr id="17" name="TextBox 17"/>
            <p:cNvSpPr txBox="1"/>
            <p:nvPr/>
          </p:nvSpPr>
          <p:spPr>
            <a:xfrm>
              <a:off x="6414135" y="2297906"/>
              <a:ext cx="2438898"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point a stable template identity.</a:t>
              </a:r>
            </a:p>
          </p:txBody>
        </p:sp>
      </p:grpSp>
      <p:grpSp>
        <p:nvGrpSpPr>
          <p:cNvPr id="25" name="Group 25"/>
          <p:cNvGrpSpPr/>
          <p:nvPr/>
        </p:nvGrpSpPr>
        <p:grpSpPr>
          <a:xfrm>
            <a:off x="571500" y="3962400"/>
            <a:ext cx="5410200" cy="2514600"/>
            <a:chOff x="571500" y="3962400"/>
            <a:chExt cx="5410200" cy="2514600"/>
          </a:xfrm>
        </p:grpSpPr>
        <p:sp>
          <p:nvSpPr>
            <p:cNvPr id="19" name="Rectangle 19"/>
            <p:cNvSpPr/>
            <p:nvPr/>
          </p:nvSpPr>
          <p:spPr>
            <a:xfrm>
              <a:off x="571500" y="3962400"/>
              <a:ext cx="5410200" cy="2514600"/>
            </a:xfrm>
            <a:prstGeom prst="roundRect">
              <a:avLst>
                <a:gd name="adj" fmla="val 5303"/>
              </a:avLst>
            </a:prstGeom>
            <a:solidFill>
              <a:schemeClr val="accent5"/>
            </a:solidFill>
            <a:ln w="14288">
              <a:solidFill>
                <a:srgbClr val="2E3D5E"/>
              </a:solidFill>
            </a:ln>
          </p:spPr>
        </p:sp>
        <p:sp>
          <p:nvSpPr>
            <p:cNvPr id="20" name="Rectangle 20"/>
            <p:cNvSpPr/>
            <p:nvPr/>
          </p:nvSpPr>
          <p:spPr>
            <a:xfrm>
              <a:off x="742950" y="4171950"/>
              <a:ext cx="47625" cy="247650"/>
            </a:xfrm>
            <a:prstGeom prst="roundRect">
              <a:avLst>
                <a:gd name="adj" fmla="val 50000"/>
              </a:avLst>
            </a:prstGeom>
            <a:solidFill>
              <a:srgbClr val="FFCF5C"/>
            </a:solidFill>
            <a:ln>
              <a:noFill/>
            </a:ln>
          </p:spPr>
        </p:sp>
        <p:sp>
          <p:nvSpPr>
            <p:cNvPr id="21" name="TextBox 21"/>
            <p:cNvSpPr txBox="1"/>
            <p:nvPr/>
          </p:nvSpPr>
          <p:spPr>
            <a:xfrm>
              <a:off x="906780" y="4200525"/>
              <a:ext cx="3648494"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3 · Geometry-conditioned renderer</a:t>
              </a:r>
            </a:p>
          </p:txBody>
        </p:sp>
        <p:sp>
          <p:nvSpPr>
            <p:cNvPr id="22" name="TextBox 22"/>
            <p:cNvSpPr txBox="1"/>
            <p:nvPr/>
          </p:nvSpPr>
          <p:spPr>
            <a:xfrm>
              <a:off x="775335" y="4602956"/>
              <a:ext cx="3112253"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Feeds 2D TOCS maps as a purely geometric</a:t>
              </a:r>
            </a:p>
          </p:txBody>
        </p:sp>
        <p:sp>
          <p:nvSpPr>
            <p:cNvPr id="23" name="TextBox 23"/>
            <p:cNvSpPr txBox="1"/>
            <p:nvPr/>
          </p:nvSpPr>
          <p:spPr>
            <a:xfrm>
              <a:off x="775335" y="4822031"/>
              <a:ext cx="2804713"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signal into a StyleGAN deferred neural</a:t>
              </a:r>
            </a:p>
          </p:txBody>
        </p:sp>
        <p:sp>
          <p:nvSpPr>
            <p:cNvPr id="24" name="TextBox 24"/>
            <p:cNvSpPr txBox="1"/>
            <p:nvPr/>
          </p:nvSpPr>
          <p:spPr>
            <a:xfrm>
              <a:off x="775335" y="5041106"/>
              <a:ext cx="2883682"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renderer, separating shape from look.</a:t>
              </a:r>
            </a:p>
          </p:txBody>
        </p:sp>
      </p:grpSp>
      <p:grpSp>
        <p:nvGrpSpPr>
          <p:cNvPr id="32" name="Group 32"/>
          <p:cNvGrpSpPr/>
          <p:nvPr/>
        </p:nvGrpSpPr>
        <p:grpSpPr>
          <a:xfrm>
            <a:off x="6210300" y="3962400"/>
            <a:ext cx="5410200" cy="2514600"/>
            <a:chOff x="6210300" y="3962400"/>
            <a:chExt cx="5410200" cy="2514600"/>
          </a:xfrm>
        </p:grpSpPr>
        <p:sp>
          <p:nvSpPr>
            <p:cNvPr id="26" name="Rectangle 26"/>
            <p:cNvSpPr/>
            <p:nvPr/>
          </p:nvSpPr>
          <p:spPr>
            <a:xfrm>
              <a:off x="6210300" y="3962400"/>
              <a:ext cx="5410200" cy="2514600"/>
            </a:xfrm>
            <a:prstGeom prst="roundRect">
              <a:avLst>
                <a:gd name="adj" fmla="val 5303"/>
              </a:avLst>
            </a:prstGeom>
            <a:solidFill>
              <a:schemeClr val="accent5"/>
            </a:solidFill>
            <a:ln w="14288">
              <a:solidFill>
                <a:srgbClr val="2E3D5E"/>
              </a:solidFill>
            </a:ln>
          </p:spPr>
        </p:sp>
        <p:sp>
          <p:nvSpPr>
            <p:cNvPr id="27" name="Rectangle 27"/>
            <p:cNvSpPr/>
            <p:nvPr/>
          </p:nvSpPr>
          <p:spPr>
            <a:xfrm>
              <a:off x="6381750" y="4171950"/>
              <a:ext cx="47625" cy="247650"/>
            </a:xfrm>
            <a:prstGeom prst="roundRect">
              <a:avLst>
                <a:gd name="adj" fmla="val 50000"/>
              </a:avLst>
            </a:prstGeom>
            <a:solidFill>
              <a:srgbClr val="48D982"/>
            </a:solidFill>
            <a:ln>
              <a:noFill/>
            </a:ln>
          </p:spPr>
        </p:sp>
        <p:sp>
          <p:nvSpPr>
            <p:cNvPr id="28" name="TextBox 28"/>
            <p:cNvSpPr txBox="1"/>
            <p:nvPr/>
          </p:nvSpPr>
          <p:spPr>
            <a:xfrm>
              <a:off x="6545580" y="4200525"/>
              <a:ext cx="3361408"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Together: joint disentanglement</a:t>
              </a:r>
            </a:p>
          </p:txBody>
        </p:sp>
        <p:sp>
          <p:nvSpPr>
            <p:cNvPr id="29" name="TextBox 29"/>
            <p:cNvSpPr txBox="1"/>
            <p:nvPr/>
          </p:nvSpPr>
          <p:spPr>
            <a:xfrm>
              <a:off x="6414135" y="4602956"/>
              <a:ext cx="2738043"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Disentangled control of pose, shape,</a:t>
              </a:r>
            </a:p>
          </p:txBody>
        </p:sp>
        <p:sp>
          <p:nvSpPr>
            <p:cNvPr id="30" name="TextBox 30"/>
            <p:cNvSpPr txBox="1"/>
            <p:nvPr/>
          </p:nvSpPr>
          <p:spPr>
            <a:xfrm>
              <a:off x="6414135" y="4822031"/>
              <a:ext cx="3057073"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object appearance, and scene appearance</a:t>
              </a:r>
            </a:p>
          </p:txBody>
        </p:sp>
        <p:sp>
          <p:nvSpPr>
            <p:cNvPr id="31" name="TextBox 31"/>
            <p:cNvSpPr txBox="1"/>
            <p:nvPr/>
          </p:nvSpPr>
          <p:spPr>
            <a:xfrm>
              <a:off x="6414135" y="5041106"/>
              <a:ext cx="1745336"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 all at high resolution.</a:t>
              </a:r>
            </a:p>
          </p:txBody>
        </p:sp>
      </p:grpSp>
      <p:sp>
        <p:nvSpPr>
          <p:cNvPr id="33" name="cue_s04_c1_stylemorph_makes_three_linked_contri" title="cue_s04_c1_stylemorph_makes_three_linked_contri" descr="cue_s04_c1_stylemorph_makes_three_linked_contri StyleMorph makes three linked contributions. First, it learns a 3D morphable model of an object category's non-rigid shape variation using nothing but 2D images, by morphing a canonical template through backpropagation."/>
          <p:cNvSpPr/>
          <p:nvPr/>
        </p:nvSpPr>
        <p:spPr>
          <a:xfrm>
            <a:off x="571804" y="12193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4_c2_second_introduces_template_object_co" title="cue_s04_c2_second_introduces_template_object_co" descr="cue_s04_c2_second_introduces_template_object_co Second, it introduces Template Object Coordinates, or TOCS: a deformable cousin of Normalized Object Coordinates that gives every surface point a stable template identity and acts as a powerful, deformation-equivariant descriptor of shape."/>
          <p:cNvSpPr/>
          <p:nvPr/>
        </p:nvSpPr>
        <p:spPr>
          <a:xfrm>
            <a:off x="6210604" y="12193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4_c3_third_feeds_2_tocs_maps" title="cue_s04_c3_third_feeds_2_tocs_maps" descr="cue_s04_c3_third_feeds_2_tocs_maps Third, it feeds 2D TOCS maps as a purely geometric conditioning signal into a StyleGAN-based deferred neural renderer, cleanly separating shape from appearance."/>
          <p:cNvSpPr/>
          <p:nvPr/>
        </p:nvSpPr>
        <p:spPr>
          <a:xfrm>
            <a:off x="571804" y="39625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4_c4_together_these_deliver_disentangled" title="cue_s04_c4_together_these_deliver_disentangled" descr="cue_s04_c4_together_these_deliver_disentangled Together these deliver disentangled control over pose, shape, object appearance, and background, all at high resolution."/>
          <p:cNvSpPr/>
          <p:nvPr/>
        </p:nvSpPr>
        <p:spPr>
          <a:xfrm>
            <a:off x="6210604" y="39625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38150"/>
            <a:ext cx="57150" cy="323850"/>
          </a:xfrm>
          <a:prstGeom prst="roundRect">
            <a:avLst>
              <a:gd name="adj" fmla="val 50000"/>
            </a:avLst>
          </a:prstGeom>
          <a:solidFill>
            <a:schemeClr val="accent2"/>
          </a:solidFill>
          <a:ln>
            <a:noFill/>
          </a:ln>
        </p:spPr>
        <p:txBody>
          <a:bodyPr/>
          <a:p/>
        </p:txBody>
      </p:sp>
      <p:sp>
        <p:nvSpPr>
          <p:cNvPr id="3" name="TextBox 3"/>
          <p:cNvSpPr txBox="1"/>
          <p:nvPr/>
        </p:nvSpPr>
        <p:spPr>
          <a:xfrm>
            <a:off x="794385" y="450056"/>
            <a:ext cx="737025" cy="220028"/>
          </a:xfrm>
          <a:prstGeom prst="rect">
            <a:avLst/>
          </a:prstGeom>
          <a:noFill/>
          <a:ln>
            <a:noFill/>
          </a:ln>
        </p:spPr>
        <p:txBody>
          <a:bodyPr wrap="none" lIns="0" tIns="0" rIns="0" bIns="0" anchor="t" anchorCtr="0">
            <a:spAutoFit/>
          </a:bodyPr>
          <a:lstStyle/>
          <a:p>
            <a:pPr algn="l"/>
            <a:r>
              <a:rPr lang="en-US" sz="1120" b="1" spc="150" dirty="0">
                <a:solidFill>
                  <a:srgbClr val="33D6C0"/>
                </a:solidFill>
                <a:latin typeface="+mn-lt"/>
                <a:ea typeface="+mn-ea"/>
                <a:cs typeface="+mn-cs"/>
              </a:rPr>
              <a:t>METHOD</a:t>
            </a:r>
          </a:p>
        </p:txBody>
      </p:sp>
      <p:sp>
        <p:nvSpPr>
          <p:cNvPr id="4" name="TextBox 4"/>
          <p:cNvSpPr txBox="1"/>
          <p:nvPr/>
        </p:nvSpPr>
        <p:spPr>
          <a:xfrm>
            <a:off x="788670" y="595312"/>
            <a:ext cx="512216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Geometry bottleneck, then style</a:t>
            </a:r>
          </a:p>
        </p:txBody>
      </p:sp>
      <p:grpSp>
        <p:nvGrpSpPr>
          <p:cNvPr id="11" name="Group 11"/>
          <p:cNvGrpSpPr/>
          <p:nvPr/>
        </p:nvGrpSpPr>
        <p:grpSpPr>
          <a:xfrm>
            <a:off x="571500" y="1219200"/>
            <a:ext cx="5410200" cy="2514600"/>
            <a:chOff x="571500" y="1219200"/>
            <a:chExt cx="5410200" cy="2514600"/>
          </a:xfrm>
        </p:grpSpPr>
        <p:sp>
          <p:nvSpPr>
            <p:cNvPr id="5" name="Rectangle 5"/>
            <p:cNvSpPr/>
            <p:nvPr/>
          </p:nvSpPr>
          <p:spPr>
            <a:xfrm>
              <a:off x="571500" y="1219200"/>
              <a:ext cx="5410200" cy="2514600"/>
            </a:xfrm>
            <a:prstGeom prst="roundRect">
              <a:avLst>
                <a:gd name="adj" fmla="val 5303"/>
              </a:avLst>
            </a:prstGeom>
            <a:solidFill>
              <a:schemeClr val="accent5"/>
            </a:solidFill>
            <a:ln w="14288">
              <a:solidFill>
                <a:srgbClr val="2E3D5E"/>
              </a:solidFill>
            </a:ln>
          </p:spPr>
        </p:sp>
        <p:sp>
          <p:nvSpPr>
            <p:cNvPr id="6" name="Rectangle 6"/>
            <p:cNvSpPr/>
            <p:nvPr/>
          </p:nvSpPr>
          <p:spPr>
            <a:xfrm>
              <a:off x="742950" y="1428750"/>
              <a:ext cx="47625" cy="247650"/>
            </a:xfrm>
            <a:prstGeom prst="roundRect">
              <a:avLst>
                <a:gd name="adj" fmla="val 50000"/>
              </a:avLst>
            </a:prstGeom>
            <a:solidFill>
              <a:schemeClr val="accent2"/>
            </a:solidFill>
            <a:ln>
              <a:noFill/>
            </a:ln>
          </p:spPr>
        </p:sp>
        <p:sp>
          <p:nvSpPr>
            <p:cNvPr id="7" name="TextBox 7"/>
            <p:cNvSpPr txBox="1"/>
            <p:nvPr/>
          </p:nvSpPr>
          <p:spPr>
            <a:xfrm>
              <a:off x="906780" y="1457325"/>
              <a:ext cx="3227914"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Geometry: Morphable Renderer</a:t>
              </a:r>
            </a:p>
          </p:txBody>
        </p:sp>
        <p:sp>
          <p:nvSpPr>
            <p:cNvPr id="8" name="TextBox 8"/>
            <p:cNvSpPr txBox="1"/>
            <p:nvPr/>
          </p:nvSpPr>
          <p:spPr>
            <a:xfrm>
              <a:off x="775335" y="1859756"/>
              <a:ext cx="2808451"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A SIREN deformation field, driven by a</a:t>
              </a:r>
            </a:p>
          </p:txBody>
        </p:sp>
        <p:sp>
          <p:nvSpPr>
            <p:cNvPr id="9" name="TextBox 9"/>
            <p:cNvSpPr txBox="1"/>
            <p:nvPr/>
          </p:nvSpPr>
          <p:spPr>
            <a:xfrm>
              <a:off x="775335" y="2078831"/>
              <a:ext cx="3026918"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shape code, warps each camera ray from</a:t>
              </a:r>
            </a:p>
          </p:txBody>
        </p:sp>
        <p:sp>
          <p:nvSpPr>
            <p:cNvPr id="10" name="TextBox 10"/>
            <p:cNvSpPr txBox="1"/>
            <p:nvPr/>
          </p:nvSpPr>
          <p:spPr>
            <a:xfrm>
              <a:off x="775335" y="2297906"/>
              <a:ext cx="3177692"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world space into canonical template space.</a:t>
              </a:r>
            </a:p>
          </p:txBody>
        </p:sp>
      </p:grpSp>
      <p:grpSp>
        <p:nvGrpSpPr>
          <p:cNvPr id="18" name="Group 18"/>
          <p:cNvGrpSpPr/>
          <p:nvPr/>
        </p:nvGrpSpPr>
        <p:grpSpPr>
          <a:xfrm>
            <a:off x="6210300" y="1219200"/>
            <a:ext cx="5410200" cy="2514600"/>
            <a:chOff x="6210300" y="1219200"/>
            <a:chExt cx="5410200" cy="2514600"/>
          </a:xfrm>
        </p:grpSpPr>
        <p:sp>
          <p:nvSpPr>
            <p:cNvPr id="12" name="Rectangle 12"/>
            <p:cNvSpPr/>
            <p:nvPr/>
          </p:nvSpPr>
          <p:spPr>
            <a:xfrm>
              <a:off x="6210300" y="1219200"/>
              <a:ext cx="5410200" cy="2514600"/>
            </a:xfrm>
            <a:prstGeom prst="roundRect">
              <a:avLst>
                <a:gd name="adj" fmla="val 5303"/>
              </a:avLst>
            </a:prstGeom>
            <a:solidFill>
              <a:schemeClr val="accent5"/>
            </a:solidFill>
            <a:ln w="14288">
              <a:solidFill>
                <a:srgbClr val="2E3D5E"/>
              </a:solidFill>
            </a:ln>
          </p:spPr>
        </p:sp>
        <p:sp>
          <p:nvSpPr>
            <p:cNvPr id="13" name="Rectangle 13"/>
            <p:cNvSpPr/>
            <p:nvPr/>
          </p:nvSpPr>
          <p:spPr>
            <a:xfrm>
              <a:off x="6381750" y="1428750"/>
              <a:ext cx="47625" cy="247650"/>
            </a:xfrm>
            <a:prstGeom prst="roundRect">
              <a:avLst>
                <a:gd name="adj" fmla="val 50000"/>
              </a:avLst>
            </a:prstGeom>
            <a:solidFill>
              <a:srgbClr val="33D6C0"/>
            </a:solidFill>
            <a:ln>
              <a:noFill/>
            </a:ln>
          </p:spPr>
        </p:sp>
        <p:sp>
          <p:nvSpPr>
            <p:cNvPr id="14" name="TextBox 14"/>
            <p:cNvSpPr txBox="1"/>
            <p:nvPr/>
          </p:nvSpPr>
          <p:spPr>
            <a:xfrm>
              <a:off x="6545580" y="1457325"/>
              <a:ext cx="2724579"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Bottleneck: the TOCS map</a:t>
              </a:r>
            </a:p>
          </p:txBody>
        </p:sp>
        <p:sp>
          <p:nvSpPr>
            <p:cNvPr id="15" name="TextBox 15"/>
            <p:cNvSpPr txBox="1"/>
            <p:nvPr/>
          </p:nvSpPr>
          <p:spPr>
            <a:xfrm>
              <a:off x="6414135" y="1859756"/>
              <a:ext cx="2895878"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Integrating template coordinates along</a:t>
              </a:r>
            </a:p>
          </p:txBody>
        </p:sp>
        <p:sp>
          <p:nvSpPr>
            <p:cNvPr id="16" name="TextBox 16"/>
            <p:cNvSpPr txBox="1"/>
            <p:nvPr/>
          </p:nvSpPr>
          <p:spPr>
            <a:xfrm>
              <a:off x="6414135" y="2078831"/>
              <a:ext cx="2957387"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each ray yields a 2D TOCS map — encodes</a:t>
              </a:r>
            </a:p>
          </p:txBody>
        </p:sp>
        <p:sp>
          <p:nvSpPr>
            <p:cNvPr id="17" name="TextBox 17"/>
            <p:cNvSpPr txBox="1"/>
            <p:nvPr/>
          </p:nvSpPr>
          <p:spPr>
            <a:xfrm>
              <a:off x="6414135" y="2297906"/>
              <a:ext cx="3102305"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shape, pose, projection; not appearance.</a:t>
              </a:r>
            </a:p>
          </p:txBody>
        </p:sp>
      </p:grpSp>
      <p:grpSp>
        <p:nvGrpSpPr>
          <p:cNvPr id="25" name="Group 25"/>
          <p:cNvGrpSpPr/>
          <p:nvPr/>
        </p:nvGrpSpPr>
        <p:grpSpPr>
          <a:xfrm>
            <a:off x="571500" y="3962400"/>
            <a:ext cx="5410200" cy="2514600"/>
            <a:chOff x="571500" y="3962400"/>
            <a:chExt cx="5410200" cy="2514600"/>
          </a:xfrm>
        </p:grpSpPr>
        <p:sp>
          <p:nvSpPr>
            <p:cNvPr id="19" name="Rectangle 19"/>
            <p:cNvSpPr/>
            <p:nvPr/>
          </p:nvSpPr>
          <p:spPr>
            <a:xfrm>
              <a:off x="571500" y="3962400"/>
              <a:ext cx="5410200" cy="2514600"/>
            </a:xfrm>
            <a:prstGeom prst="roundRect">
              <a:avLst>
                <a:gd name="adj" fmla="val 5303"/>
              </a:avLst>
            </a:prstGeom>
            <a:solidFill>
              <a:schemeClr val="accent5"/>
            </a:solidFill>
            <a:ln w="14288">
              <a:solidFill>
                <a:srgbClr val="2E3D5E"/>
              </a:solidFill>
            </a:ln>
          </p:spPr>
        </p:sp>
        <p:sp>
          <p:nvSpPr>
            <p:cNvPr id="20" name="Rectangle 20"/>
            <p:cNvSpPr/>
            <p:nvPr/>
          </p:nvSpPr>
          <p:spPr>
            <a:xfrm>
              <a:off x="742950" y="4171950"/>
              <a:ext cx="47625" cy="247650"/>
            </a:xfrm>
            <a:prstGeom prst="roundRect">
              <a:avLst>
                <a:gd name="adj" fmla="val 50000"/>
              </a:avLst>
            </a:prstGeom>
            <a:solidFill>
              <a:srgbClr val="FFCF5C"/>
            </a:solidFill>
            <a:ln>
              <a:noFill/>
            </a:ln>
          </p:spPr>
        </p:sp>
        <p:sp>
          <p:nvSpPr>
            <p:cNvPr id="21" name="TextBox 21"/>
            <p:cNvSpPr txBox="1"/>
            <p:nvPr/>
          </p:nvSpPr>
          <p:spPr>
            <a:xfrm>
              <a:off x="906780" y="4200525"/>
              <a:ext cx="266053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Synthesis: StyleGAN2 DNR</a:t>
              </a:r>
            </a:p>
          </p:txBody>
        </p:sp>
        <p:sp>
          <p:nvSpPr>
            <p:cNvPr id="22" name="TextBox 22"/>
            <p:cNvSpPr txBox="1"/>
            <p:nvPr/>
          </p:nvSpPr>
          <p:spPr>
            <a:xfrm>
              <a:off x="775335" y="4602956"/>
              <a:ext cx="3038377"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A deferred neural renderer takes TOCS +</a:t>
              </a:r>
            </a:p>
          </p:txBody>
        </p:sp>
        <p:sp>
          <p:nvSpPr>
            <p:cNvPr id="23" name="TextBox 23"/>
            <p:cNvSpPr txBox="1"/>
            <p:nvPr/>
          </p:nvSpPr>
          <p:spPr>
            <a:xfrm>
              <a:off x="775335" y="4822031"/>
              <a:ext cx="3132460"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two appearance codes (object, scene) and</a:t>
              </a:r>
            </a:p>
          </p:txBody>
        </p:sp>
        <p:sp>
          <p:nvSpPr>
            <p:cNvPr id="24" name="TextBox 24"/>
            <p:cNvSpPr txBox="1"/>
            <p:nvPr/>
          </p:nvSpPr>
          <p:spPr>
            <a:xfrm>
              <a:off x="775335" y="5041106"/>
              <a:ext cx="2627366"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alpha-composites a high-res image.</a:t>
              </a:r>
            </a:p>
          </p:txBody>
        </p:sp>
      </p:grpSp>
      <p:grpSp>
        <p:nvGrpSpPr>
          <p:cNvPr id="32" name="Group 32"/>
          <p:cNvGrpSpPr/>
          <p:nvPr/>
        </p:nvGrpSpPr>
        <p:grpSpPr>
          <a:xfrm>
            <a:off x="6210300" y="3962400"/>
            <a:ext cx="5410200" cy="2514600"/>
            <a:chOff x="6210300" y="3962400"/>
            <a:chExt cx="5410200" cy="2514600"/>
          </a:xfrm>
        </p:grpSpPr>
        <p:sp>
          <p:nvSpPr>
            <p:cNvPr id="26" name="Rectangle 26"/>
            <p:cNvSpPr/>
            <p:nvPr/>
          </p:nvSpPr>
          <p:spPr>
            <a:xfrm>
              <a:off x="6210300" y="3962400"/>
              <a:ext cx="5410200" cy="2514600"/>
            </a:xfrm>
            <a:prstGeom prst="roundRect">
              <a:avLst>
                <a:gd name="adj" fmla="val 5303"/>
              </a:avLst>
            </a:prstGeom>
            <a:solidFill>
              <a:schemeClr val="accent5"/>
            </a:solidFill>
            <a:ln w="14288">
              <a:solidFill>
                <a:srgbClr val="2E3D5E"/>
              </a:solidFill>
            </a:ln>
          </p:spPr>
        </p:sp>
        <p:sp>
          <p:nvSpPr>
            <p:cNvPr id="27" name="Rectangle 27"/>
            <p:cNvSpPr/>
            <p:nvPr/>
          </p:nvSpPr>
          <p:spPr>
            <a:xfrm>
              <a:off x="6381750" y="4171950"/>
              <a:ext cx="47625" cy="247650"/>
            </a:xfrm>
            <a:prstGeom prst="roundRect">
              <a:avLst>
                <a:gd name="adj" fmla="val 50000"/>
              </a:avLst>
            </a:prstGeom>
            <a:solidFill>
              <a:srgbClr val="48D982"/>
            </a:solidFill>
            <a:ln>
              <a:noFill/>
            </a:ln>
          </p:spPr>
        </p:sp>
        <p:sp>
          <p:nvSpPr>
            <p:cNvPr id="28" name="TextBox 28"/>
            <p:cNvSpPr txBox="1"/>
            <p:nvPr/>
          </p:nvSpPr>
          <p:spPr>
            <a:xfrm>
              <a:off x="6545580" y="4200525"/>
              <a:ext cx="200470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Two-stage training</a:t>
              </a:r>
            </a:p>
          </p:txBody>
        </p:sp>
        <p:sp>
          <p:nvSpPr>
            <p:cNvPr id="29" name="TextBox 29"/>
            <p:cNvSpPr txBox="1"/>
            <p:nvPr/>
          </p:nvSpPr>
          <p:spPr>
            <a:xfrm>
              <a:off x="6414135" y="4602956"/>
              <a:ext cx="2964452"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Stage 1: deformable volume renderer at</a:t>
              </a:r>
            </a:p>
          </p:txBody>
        </p:sp>
        <p:sp>
          <p:nvSpPr>
            <p:cNvPr id="30" name="TextBox 30"/>
            <p:cNvSpPr txBox="1"/>
            <p:nvPr/>
          </p:nvSpPr>
          <p:spPr>
            <a:xfrm>
              <a:off x="6414135" y="4822031"/>
              <a:ext cx="2800756"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64² with weak silhouette supervision.</a:t>
              </a:r>
            </a:p>
          </p:txBody>
        </p:sp>
        <p:sp>
          <p:nvSpPr>
            <p:cNvPr id="31" name="TextBox 31"/>
            <p:cNvSpPr txBox="1"/>
            <p:nvPr/>
          </p:nvSpPr>
          <p:spPr>
            <a:xfrm>
              <a:off x="6414135" y="5041106"/>
              <a:ext cx="3185630"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Stage 2: freeze it, train the DNR full-res.</a:t>
              </a:r>
            </a:p>
          </p:txBody>
        </p:sp>
      </p:grpSp>
      <p:sp>
        <p:nvSpPr>
          <p:cNvPr id="33" name="cue_s05_c1_method_two_halves_geometry_side" title="cue_s05_c1_method_two_halves_geometry_side" descr="cue_s05_c1_method_two_halves_geometry_side The method has two halves. On the geometry side, a Morphable Renderer learns a deformation-free object in canonical template coordinates as a constant implicit function. A SIREN-based deformation field, driven by a shape code, warps each camera ray from world"/>
          <p:cNvSpPr/>
          <p:nvPr/>
        </p:nvSpPr>
        <p:spPr>
          <a:xfrm>
            <a:off x="571804" y="12193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5_c2_integrating_template_coordinates_alo" title="cue_s05_c2_integrating_template_coordinates_alo" descr="cue_s05_c2_integrating_template_coordinates_alo Integrating the template coordinates along each ray produces a 2D map called a TOCS map, which encodes the compounded effects of shape deformation, camera pose, and perspective, and nothing about appearance."/>
          <p:cNvSpPr/>
          <p:nvPr/>
        </p:nvSpPr>
        <p:spPr>
          <a:xfrm>
            <a:off x="6210604" y="12193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5_c3_synthesis_side_stylegan2_based_defer" title="cue_s05_c3_synthesis_side_stylegan2_based_defer" descr="cue_s05_c3_synthesis_side_stylegan2_based_defer On the synthesis side, a StyleGAN2-based deferred neural renderer takes this geometric TOCS map together with two independent appearance codes, one for the foreground object and one for the background scene, and generates a high-resolution image. The foregroun"/>
          <p:cNvSpPr/>
          <p:nvPr/>
        </p:nvSpPr>
        <p:spPr>
          <a:xfrm>
            <a:off x="571804" y="39625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5_c4_proceeds_two_stages_first_deformable" title="cue_s05_c4_proceeds_two_stages_first_deformable" descr="cue_s05_c4_proceeds_two_stages_first_deformable Training proceeds in two stages: first the deformable volume renderer learns realistic shape at low resolution with weak silhouette supervision, then it is frozen and used only to supply TOCS maps while the 2D renderer is trained for photorealistic full-resolu"/>
          <p:cNvSpPr/>
          <p:nvPr/>
        </p:nvSpPr>
        <p:spPr>
          <a:xfrm>
            <a:off x="6210604" y="39625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38150"/>
            <a:ext cx="57150" cy="323850"/>
          </a:xfrm>
          <a:prstGeom prst="roundRect">
            <a:avLst>
              <a:gd name="adj" fmla="val 50000"/>
            </a:avLst>
          </a:prstGeom>
          <a:solidFill>
            <a:schemeClr val="accent2"/>
          </a:solidFill>
          <a:ln>
            <a:noFill/>
          </a:ln>
        </p:spPr>
        <p:txBody>
          <a:bodyPr/>
          <a:p/>
        </p:txBody>
      </p:sp>
      <p:sp>
        <p:nvSpPr>
          <p:cNvPr id="3" name="TextBox 3"/>
          <p:cNvSpPr txBox="1"/>
          <p:nvPr/>
        </p:nvSpPr>
        <p:spPr>
          <a:xfrm>
            <a:off x="794385" y="450056"/>
            <a:ext cx="2206648" cy="220028"/>
          </a:xfrm>
          <a:prstGeom prst="rect">
            <a:avLst/>
          </a:prstGeom>
          <a:noFill/>
          <a:ln>
            <a:noFill/>
          </a:ln>
        </p:spPr>
        <p:txBody>
          <a:bodyPr wrap="none" lIns="0" tIns="0" rIns="0" bIns="0" anchor="t" anchorCtr="0">
            <a:spAutoFit/>
          </a:bodyPr>
          <a:lstStyle/>
          <a:p>
            <a:pPr algn="l"/>
            <a:r>
              <a:rPr lang="en-US" sz="1120" b="1" spc="150" dirty="0">
                <a:solidFill>
                  <a:srgbClr val="33D6C0"/>
                </a:solidFill>
                <a:latin typeface="+mn-lt"/>
                <a:ea typeface="+mn-ea"/>
                <a:cs typeface="+mn-cs"/>
              </a:rPr>
              <a:t>DATASETS &amp; BENCHMARK</a:t>
            </a:r>
          </a:p>
        </p:txBody>
      </p:sp>
      <p:sp>
        <p:nvSpPr>
          <p:cNvPr id="4" name="TextBox 4"/>
          <p:cNvSpPr txBox="1"/>
          <p:nvPr/>
        </p:nvSpPr>
        <p:spPr>
          <a:xfrm>
            <a:off x="788670" y="595312"/>
            <a:ext cx="475097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Faces and animals, FID at 256²</a:t>
            </a:r>
          </a:p>
        </p:txBody>
      </p:sp>
      <p:grpSp>
        <p:nvGrpSpPr>
          <p:cNvPr id="11" name="Group 11"/>
          <p:cNvGrpSpPr/>
          <p:nvPr/>
        </p:nvGrpSpPr>
        <p:grpSpPr>
          <a:xfrm>
            <a:off x="571500" y="1219200"/>
            <a:ext cx="5410200" cy="2514600"/>
            <a:chOff x="571500" y="1219200"/>
            <a:chExt cx="5410200" cy="2514600"/>
          </a:xfrm>
        </p:grpSpPr>
        <p:sp>
          <p:nvSpPr>
            <p:cNvPr id="5" name="Rectangle 5"/>
            <p:cNvSpPr/>
            <p:nvPr/>
          </p:nvSpPr>
          <p:spPr>
            <a:xfrm>
              <a:off x="571500" y="1219200"/>
              <a:ext cx="5410200" cy="2514600"/>
            </a:xfrm>
            <a:prstGeom prst="roundRect">
              <a:avLst>
                <a:gd name="adj" fmla="val 5303"/>
              </a:avLst>
            </a:prstGeom>
            <a:solidFill>
              <a:schemeClr val="accent5"/>
            </a:solidFill>
            <a:ln w="14288">
              <a:solidFill>
                <a:srgbClr val="2E3D5E"/>
              </a:solidFill>
            </a:ln>
          </p:spPr>
        </p:sp>
        <p:sp>
          <p:nvSpPr>
            <p:cNvPr id="6" name="Rectangle 6"/>
            <p:cNvSpPr/>
            <p:nvPr/>
          </p:nvSpPr>
          <p:spPr>
            <a:xfrm>
              <a:off x="742950" y="1428750"/>
              <a:ext cx="47625" cy="247650"/>
            </a:xfrm>
            <a:prstGeom prst="roundRect">
              <a:avLst>
                <a:gd name="adj" fmla="val 50000"/>
              </a:avLst>
            </a:prstGeom>
            <a:solidFill>
              <a:schemeClr val="accent2"/>
            </a:solidFill>
            <a:ln>
              <a:noFill/>
            </a:ln>
          </p:spPr>
        </p:sp>
        <p:sp>
          <p:nvSpPr>
            <p:cNvPr id="7" name="TextBox 7"/>
            <p:cNvSpPr txBox="1"/>
            <p:nvPr/>
          </p:nvSpPr>
          <p:spPr>
            <a:xfrm>
              <a:off x="906780" y="1457325"/>
              <a:ext cx="2481708"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Four standard datasets</a:t>
              </a:r>
            </a:p>
          </p:txBody>
        </p:sp>
        <p:sp>
          <p:nvSpPr>
            <p:cNvPr id="8" name="TextBox 8"/>
            <p:cNvSpPr txBox="1"/>
            <p:nvPr/>
          </p:nvSpPr>
          <p:spPr>
            <a:xfrm>
              <a:off x="775335" y="1859756"/>
              <a:ext cx="2916691"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Evaluated on FFHQ faces plus the three</a:t>
              </a:r>
            </a:p>
          </p:txBody>
        </p:sp>
        <p:sp>
          <p:nvSpPr>
            <p:cNvPr id="9" name="TextBox 9"/>
            <p:cNvSpPr txBox="1"/>
            <p:nvPr/>
          </p:nvSpPr>
          <p:spPr>
            <a:xfrm>
              <a:off x="775335" y="2078831"/>
              <a:ext cx="2866045"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AFHQ animal splits, spanning faces and</a:t>
              </a:r>
            </a:p>
          </p:txBody>
        </p:sp>
        <p:sp>
          <p:nvSpPr>
            <p:cNvPr id="10" name="TextBox 10"/>
            <p:cNvSpPr txBox="1"/>
            <p:nvPr/>
          </p:nvSpPr>
          <p:spPr>
            <a:xfrm>
              <a:off x="775335" y="2297906"/>
              <a:ext cx="2476591"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varied animal shape and topology.</a:t>
              </a:r>
            </a:p>
          </p:txBody>
        </p:sp>
      </p:grpSp>
      <p:grpSp>
        <p:nvGrpSpPr>
          <p:cNvPr id="18" name="Group 18"/>
          <p:cNvGrpSpPr/>
          <p:nvPr/>
        </p:nvGrpSpPr>
        <p:grpSpPr>
          <a:xfrm>
            <a:off x="6210300" y="1219200"/>
            <a:ext cx="5410200" cy="2514600"/>
            <a:chOff x="6210300" y="1219200"/>
            <a:chExt cx="5410200" cy="2514600"/>
          </a:xfrm>
        </p:grpSpPr>
        <p:sp>
          <p:nvSpPr>
            <p:cNvPr id="12" name="Rectangle 12"/>
            <p:cNvSpPr/>
            <p:nvPr/>
          </p:nvSpPr>
          <p:spPr>
            <a:xfrm>
              <a:off x="6210300" y="1219200"/>
              <a:ext cx="5410200" cy="2514600"/>
            </a:xfrm>
            <a:prstGeom prst="roundRect">
              <a:avLst>
                <a:gd name="adj" fmla="val 5303"/>
              </a:avLst>
            </a:prstGeom>
            <a:solidFill>
              <a:schemeClr val="accent5"/>
            </a:solidFill>
            <a:ln w="14288">
              <a:solidFill>
                <a:srgbClr val="2E3D5E"/>
              </a:solidFill>
            </a:ln>
          </p:spPr>
        </p:sp>
        <p:sp>
          <p:nvSpPr>
            <p:cNvPr id="13" name="Rectangle 13"/>
            <p:cNvSpPr/>
            <p:nvPr/>
          </p:nvSpPr>
          <p:spPr>
            <a:xfrm>
              <a:off x="6381750" y="1428750"/>
              <a:ext cx="47625" cy="247650"/>
            </a:xfrm>
            <a:prstGeom prst="roundRect">
              <a:avLst>
                <a:gd name="adj" fmla="val 50000"/>
              </a:avLst>
            </a:prstGeom>
            <a:solidFill>
              <a:srgbClr val="33D6C0"/>
            </a:solidFill>
            <a:ln>
              <a:noFill/>
            </a:ln>
          </p:spPr>
        </p:sp>
        <p:sp>
          <p:nvSpPr>
            <p:cNvPr id="14" name="TextBox 14"/>
            <p:cNvSpPr txBox="1"/>
            <p:nvPr/>
          </p:nvSpPr>
          <p:spPr>
            <a:xfrm>
              <a:off x="6545580" y="1457325"/>
              <a:ext cx="1804064"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FFHQ · 70k faces</a:t>
              </a:r>
            </a:p>
          </p:txBody>
        </p:sp>
        <p:sp>
          <p:nvSpPr>
            <p:cNvPr id="15" name="TextBox 15"/>
            <p:cNvSpPr txBox="1"/>
            <p:nvPr/>
          </p:nvSpPr>
          <p:spPr>
            <a:xfrm>
              <a:off x="6414135" y="1859756"/>
              <a:ext cx="2881211"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Seventy thousand centered human face</a:t>
              </a:r>
            </a:p>
          </p:txBody>
        </p:sp>
        <p:sp>
          <p:nvSpPr>
            <p:cNvPr id="16" name="TextBox 16"/>
            <p:cNvSpPr txBox="1"/>
            <p:nvPr/>
          </p:nvSpPr>
          <p:spPr>
            <a:xfrm>
              <a:off x="6414135" y="2078831"/>
              <a:ext cx="2808295"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photos with challenging backdrops and</a:t>
              </a:r>
            </a:p>
          </p:txBody>
        </p:sp>
        <p:sp>
          <p:nvSpPr>
            <p:cNvPr id="17" name="TextBox 17"/>
            <p:cNvSpPr txBox="1"/>
            <p:nvPr/>
          </p:nvSpPr>
          <p:spPr>
            <a:xfrm>
              <a:off x="6414135" y="2297906"/>
              <a:ext cx="2054423"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a wide range of head poses.</a:t>
              </a:r>
            </a:p>
          </p:txBody>
        </p:sp>
      </p:grpSp>
      <p:grpSp>
        <p:nvGrpSpPr>
          <p:cNvPr id="25" name="Group 25"/>
          <p:cNvGrpSpPr/>
          <p:nvPr/>
        </p:nvGrpSpPr>
        <p:grpSpPr>
          <a:xfrm>
            <a:off x="571500" y="3962400"/>
            <a:ext cx="5410200" cy="2514600"/>
            <a:chOff x="571500" y="3962400"/>
            <a:chExt cx="5410200" cy="2514600"/>
          </a:xfrm>
        </p:grpSpPr>
        <p:sp>
          <p:nvSpPr>
            <p:cNvPr id="19" name="Rectangle 19"/>
            <p:cNvSpPr/>
            <p:nvPr/>
          </p:nvSpPr>
          <p:spPr>
            <a:xfrm>
              <a:off x="571500" y="3962400"/>
              <a:ext cx="5410200" cy="2514600"/>
            </a:xfrm>
            <a:prstGeom prst="roundRect">
              <a:avLst>
                <a:gd name="adj" fmla="val 5303"/>
              </a:avLst>
            </a:prstGeom>
            <a:solidFill>
              <a:schemeClr val="accent5"/>
            </a:solidFill>
            <a:ln w="14288">
              <a:solidFill>
                <a:srgbClr val="2E3D5E"/>
              </a:solidFill>
            </a:ln>
          </p:spPr>
        </p:sp>
        <p:sp>
          <p:nvSpPr>
            <p:cNvPr id="20" name="Rectangle 20"/>
            <p:cNvSpPr/>
            <p:nvPr/>
          </p:nvSpPr>
          <p:spPr>
            <a:xfrm>
              <a:off x="742950" y="4171950"/>
              <a:ext cx="47625" cy="247650"/>
            </a:xfrm>
            <a:prstGeom prst="roundRect">
              <a:avLst>
                <a:gd name="adj" fmla="val 50000"/>
              </a:avLst>
            </a:prstGeom>
            <a:solidFill>
              <a:srgbClr val="FFCF5C"/>
            </a:solidFill>
            <a:ln>
              <a:noFill/>
            </a:ln>
          </p:spPr>
        </p:sp>
        <p:sp>
          <p:nvSpPr>
            <p:cNvPr id="21" name="TextBox 21"/>
            <p:cNvSpPr txBox="1"/>
            <p:nvPr/>
          </p:nvSpPr>
          <p:spPr>
            <a:xfrm>
              <a:off x="906780" y="4200525"/>
              <a:ext cx="2081418"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AFHQ · animal faces</a:t>
              </a:r>
            </a:p>
          </p:txBody>
        </p:sp>
        <p:sp>
          <p:nvSpPr>
            <p:cNvPr id="22" name="TextBox 22"/>
            <p:cNvSpPr txBox="1"/>
            <p:nvPr/>
          </p:nvSpPr>
          <p:spPr>
            <a:xfrm>
              <a:off x="775335" y="4602956"/>
              <a:ext cx="2990535"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Three splits: ~5,653 cats, ~5,239 dogs,</a:t>
              </a:r>
            </a:p>
          </p:txBody>
        </p:sp>
        <p:sp>
          <p:nvSpPr>
            <p:cNvPr id="23" name="TextBox 23"/>
            <p:cNvSpPr txBox="1"/>
            <p:nvPr/>
          </p:nvSpPr>
          <p:spPr>
            <a:xfrm>
              <a:off x="775335" y="4822031"/>
              <a:ext cx="2717830"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and ~5,238 wild animals — well beyond</a:t>
              </a:r>
            </a:p>
          </p:txBody>
        </p:sp>
        <p:sp>
          <p:nvSpPr>
            <p:cNvPr id="24" name="TextBox 24"/>
            <p:cNvSpPr txBox="1"/>
            <p:nvPr/>
          </p:nvSpPr>
          <p:spPr>
            <a:xfrm>
              <a:off x="775335" y="5041106"/>
              <a:ext cx="2853936"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the categories classical 3DMMs cover.</a:t>
              </a:r>
            </a:p>
          </p:txBody>
        </p:sp>
      </p:grpSp>
      <p:grpSp>
        <p:nvGrpSpPr>
          <p:cNvPr id="32" name="Group 32"/>
          <p:cNvGrpSpPr/>
          <p:nvPr/>
        </p:nvGrpSpPr>
        <p:grpSpPr>
          <a:xfrm>
            <a:off x="6210300" y="3962400"/>
            <a:ext cx="5410200" cy="2514600"/>
            <a:chOff x="6210300" y="3962400"/>
            <a:chExt cx="5410200" cy="2514600"/>
          </a:xfrm>
        </p:grpSpPr>
        <p:sp>
          <p:nvSpPr>
            <p:cNvPr id="26" name="Rectangle 26"/>
            <p:cNvSpPr/>
            <p:nvPr/>
          </p:nvSpPr>
          <p:spPr>
            <a:xfrm>
              <a:off x="6210300" y="3962400"/>
              <a:ext cx="5410200" cy="2514600"/>
            </a:xfrm>
            <a:prstGeom prst="roundRect">
              <a:avLst>
                <a:gd name="adj" fmla="val 5303"/>
              </a:avLst>
            </a:prstGeom>
            <a:solidFill>
              <a:schemeClr val="accent5"/>
            </a:solidFill>
            <a:ln w="14288">
              <a:solidFill>
                <a:srgbClr val="2E3D5E"/>
              </a:solidFill>
            </a:ln>
          </p:spPr>
        </p:sp>
        <p:sp>
          <p:nvSpPr>
            <p:cNvPr id="27" name="Rectangle 27"/>
            <p:cNvSpPr/>
            <p:nvPr/>
          </p:nvSpPr>
          <p:spPr>
            <a:xfrm>
              <a:off x="6381750" y="4171950"/>
              <a:ext cx="47625" cy="247650"/>
            </a:xfrm>
            <a:prstGeom prst="roundRect">
              <a:avLst>
                <a:gd name="adj" fmla="val 50000"/>
              </a:avLst>
            </a:prstGeom>
            <a:solidFill>
              <a:srgbClr val="48D982"/>
            </a:solidFill>
            <a:ln>
              <a:noFill/>
            </a:ln>
          </p:spPr>
        </p:sp>
        <p:sp>
          <p:nvSpPr>
            <p:cNvPr id="28" name="TextBox 28"/>
            <p:cNvSpPr txBox="1"/>
            <p:nvPr/>
          </p:nvSpPr>
          <p:spPr>
            <a:xfrm>
              <a:off x="6545580" y="4200525"/>
              <a:ext cx="2004089"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Metric · FID @ 256²</a:t>
              </a:r>
            </a:p>
          </p:txBody>
        </p:sp>
        <p:sp>
          <p:nvSpPr>
            <p:cNvPr id="29" name="TextBox 29"/>
            <p:cNvSpPr txBox="1"/>
            <p:nvPr/>
          </p:nvSpPr>
          <p:spPr>
            <a:xfrm>
              <a:off x="6414135" y="4602956"/>
              <a:ext cx="2500280"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Frechet Inception Distance at 256</a:t>
              </a:r>
            </a:p>
          </p:txBody>
        </p:sp>
        <p:sp>
          <p:nvSpPr>
            <p:cNvPr id="30" name="TextBox 30"/>
            <p:cNvSpPr txBox="1"/>
            <p:nvPr/>
          </p:nvSpPr>
          <p:spPr>
            <a:xfrm>
              <a:off x="6414135" y="4822031"/>
              <a:ext cx="2680137"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resolution, compared against eleven</a:t>
              </a:r>
            </a:p>
          </p:txBody>
        </p:sp>
        <p:sp>
          <p:nvSpPr>
            <p:cNvPr id="31" name="TextBox 31"/>
            <p:cNvSpPr txBox="1"/>
            <p:nvPr/>
          </p:nvSpPr>
          <p:spPr>
            <a:xfrm>
              <a:off x="6414135" y="5041106"/>
              <a:ext cx="3193224"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state-of-the-art 3D-aware GAN baselines.</a:t>
              </a:r>
            </a:p>
          </p:txBody>
        </p:sp>
      </p:grpSp>
      <p:sp>
        <p:nvSpPr>
          <p:cNvPr id="33" name="cue_s06_c1_stylemorph_evaluated_four_widely_use" title="cue_s06_c1_stylemorph_evaluated_four_widely_use" descr="cue_s06_c1_stylemorph_evaluated_four_widely_use StyleMorph is evaluated on four widely used image datasets."/>
          <p:cNvSpPr/>
          <p:nvPr/>
        </p:nvSpPr>
        <p:spPr>
          <a:xfrm>
            <a:off x="571804" y="12193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6_c2_ffhq_contributes_seventy_thousand_ce" title="cue_s06_c2_ffhq_contributes_seventy_thousand_ce" descr="cue_s06_c2_ffhq_contributes_seventy_thousand_ce FFHQ contributes seventy thousand centered human face photos with a range of challenging backgrounds and poses."/>
          <p:cNvSpPr/>
          <p:nvPr/>
        </p:nvSpPr>
        <p:spPr>
          <a:xfrm>
            <a:off x="6210604" y="12193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6_c3_afhq_collection_adds_animal_faces" title="cue_s06_c3_afhq_collection_adds_animal_faces" descr="cue_s06_c3_afhq_collection_adds_animal_faces The AFHQ collection adds animal faces in three splits: roughly fifty-six hundred cats, fifty-two hundred dogs, and fifty-two hundred wild animals."/>
          <p:cNvSpPr/>
          <p:nvPr/>
        </p:nvSpPr>
        <p:spPr>
          <a:xfrm>
            <a:off x="571804" y="39625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6_c4_authors_report_frechet_inception_dis" title="cue_s06_c4_authors_report_frechet_inception_dis" descr="cue_s06_c4_authors_report_frechet_inception_dis The authors report Frechet Inception Distance at two-fifty-six resolution, comparing against eleven state-of-the-art 3D-aware GAN baselines, so the results test both photorealism on faces and the ability to generalize to animal categories that classical morpha"/>
          <p:cNvSpPr/>
          <p:nvPr/>
        </p:nvSpPr>
        <p:spPr>
          <a:xfrm>
            <a:off x="6210604" y="39625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38150"/>
            <a:ext cx="57150" cy="323850"/>
          </a:xfrm>
          <a:prstGeom prst="roundRect">
            <a:avLst>
              <a:gd name="adj" fmla="val 50000"/>
            </a:avLst>
          </a:prstGeom>
          <a:solidFill>
            <a:schemeClr val="accent2"/>
          </a:solidFill>
          <a:ln>
            <a:noFill/>
          </a:ln>
        </p:spPr>
        <p:txBody>
          <a:bodyPr/>
          <a:p/>
        </p:txBody>
      </p:sp>
      <p:sp>
        <p:nvSpPr>
          <p:cNvPr id="3" name="TextBox 3"/>
          <p:cNvSpPr txBox="1"/>
          <p:nvPr/>
        </p:nvSpPr>
        <p:spPr>
          <a:xfrm>
            <a:off x="794385" y="450056"/>
            <a:ext cx="1081644" cy="220028"/>
          </a:xfrm>
          <a:prstGeom prst="rect">
            <a:avLst/>
          </a:prstGeom>
          <a:noFill/>
          <a:ln>
            <a:noFill/>
          </a:ln>
        </p:spPr>
        <p:txBody>
          <a:bodyPr wrap="none" lIns="0" tIns="0" rIns="0" bIns="0" anchor="t" anchorCtr="0">
            <a:spAutoFit/>
          </a:bodyPr>
          <a:lstStyle/>
          <a:p>
            <a:pPr algn="l"/>
            <a:r>
              <a:rPr lang="en-US" sz="1120" b="1" spc="150" dirty="0">
                <a:solidFill>
                  <a:srgbClr val="33D6C0"/>
                </a:solidFill>
                <a:latin typeface="+mn-lt"/>
                <a:ea typeface="+mn-ea"/>
                <a:cs typeface="+mn-cs"/>
              </a:rPr>
              <a:t>KEY RESULT</a:t>
            </a:r>
          </a:p>
        </p:txBody>
      </p:sp>
      <p:sp>
        <p:nvSpPr>
          <p:cNvPr id="4" name="TextBox 4"/>
          <p:cNvSpPr txBox="1"/>
          <p:nvPr/>
        </p:nvSpPr>
        <p:spPr>
          <a:xfrm>
            <a:off x="788670" y="595312"/>
            <a:ext cx="591668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Disentanglement without a quality tax</a:t>
            </a:r>
          </a:p>
        </p:txBody>
      </p:sp>
      <p:grpSp>
        <p:nvGrpSpPr>
          <p:cNvPr id="11" name="Group 11"/>
          <p:cNvGrpSpPr/>
          <p:nvPr/>
        </p:nvGrpSpPr>
        <p:grpSpPr>
          <a:xfrm>
            <a:off x="571500" y="1219200"/>
            <a:ext cx="5334000" cy="2381250"/>
            <a:chOff x="571500" y="1219200"/>
            <a:chExt cx="5334000" cy="2381250"/>
          </a:xfrm>
        </p:grpSpPr>
        <p:sp>
          <p:nvSpPr>
            <p:cNvPr id="5" name="Rectangle 5"/>
            <p:cNvSpPr/>
            <p:nvPr/>
          </p:nvSpPr>
          <p:spPr>
            <a:xfrm>
              <a:off x="571500" y="1219200"/>
              <a:ext cx="5334000" cy="2381250"/>
            </a:xfrm>
            <a:prstGeom prst="roundRect">
              <a:avLst>
                <a:gd name="adj" fmla="val 5600"/>
              </a:avLst>
            </a:prstGeom>
            <a:solidFill>
              <a:schemeClr val="accent5"/>
            </a:solidFill>
            <a:ln w="14288">
              <a:solidFill>
                <a:srgbClr val="2E3D5E"/>
              </a:solidFill>
            </a:ln>
          </p:spPr>
        </p:sp>
        <p:sp>
          <p:nvSpPr>
            <p:cNvPr id="6" name="Rectangle 6"/>
            <p:cNvSpPr/>
            <p:nvPr/>
          </p:nvSpPr>
          <p:spPr>
            <a:xfrm>
              <a:off x="742950" y="1428750"/>
              <a:ext cx="47625" cy="247650"/>
            </a:xfrm>
            <a:prstGeom prst="roundRect">
              <a:avLst>
                <a:gd name="adj" fmla="val 50000"/>
              </a:avLst>
            </a:prstGeom>
            <a:solidFill>
              <a:schemeClr val="accent2"/>
            </a:solidFill>
            <a:ln>
              <a:noFill/>
            </a:ln>
          </p:spPr>
        </p:sp>
        <p:sp>
          <p:nvSpPr>
            <p:cNvPr id="7" name="TextBox 7"/>
            <p:cNvSpPr txBox="1"/>
            <p:nvPr/>
          </p:nvSpPr>
          <p:spPr>
            <a:xfrm>
              <a:off x="906780" y="1457325"/>
              <a:ext cx="342540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Disentanglement is (nearly) free</a:t>
              </a:r>
            </a:p>
          </p:txBody>
        </p:sp>
        <p:sp>
          <p:nvSpPr>
            <p:cNvPr id="8" name="TextBox 8"/>
            <p:cNvSpPr txBox="1"/>
            <p:nvPr/>
          </p:nvSpPr>
          <p:spPr>
            <a:xfrm>
              <a:off x="775335" y="1859756"/>
              <a:ext cx="2526899"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The headline: adding full four-way</a:t>
              </a:r>
            </a:p>
          </p:txBody>
        </p:sp>
        <p:sp>
          <p:nvSpPr>
            <p:cNvPr id="9" name="TextBox 9"/>
            <p:cNvSpPr txBox="1"/>
            <p:nvPr/>
          </p:nvSpPr>
          <p:spPr>
            <a:xfrm>
              <a:off x="775335" y="2078831"/>
              <a:ext cx="2642443"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control does not have to cost image</a:t>
              </a:r>
            </a:p>
          </p:txBody>
        </p:sp>
        <p:sp>
          <p:nvSpPr>
            <p:cNvPr id="10" name="TextBox 10"/>
            <p:cNvSpPr txBox="1"/>
            <p:nvPr/>
          </p:nvSpPr>
          <p:spPr>
            <a:xfrm>
              <a:off x="775335" y="2297906"/>
              <a:ext cx="2542875"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quality versus entangled 3D-GANs.</a:t>
              </a:r>
            </a:p>
          </p:txBody>
        </p:sp>
      </p:grpSp>
      <p:grpSp>
        <p:nvGrpSpPr>
          <p:cNvPr id="33" name="Group 33"/>
          <p:cNvGrpSpPr/>
          <p:nvPr/>
        </p:nvGrpSpPr>
        <p:grpSpPr>
          <a:xfrm>
            <a:off x="6134100" y="3829050"/>
            <a:ext cx="5486400" cy="2647950"/>
            <a:chOff x="6134100" y="3829050"/>
            <a:chExt cx="5486400" cy="2647950"/>
          </a:xfrm>
        </p:grpSpPr>
        <p:sp>
          <p:nvSpPr>
            <p:cNvPr id="12" name="Rectangle 12"/>
            <p:cNvSpPr/>
            <p:nvPr/>
          </p:nvSpPr>
          <p:spPr>
            <a:xfrm>
              <a:off x="6134100" y="3829050"/>
              <a:ext cx="5486400" cy="2647950"/>
            </a:xfrm>
            <a:prstGeom prst="roundRect">
              <a:avLst>
                <a:gd name="adj" fmla="val 5036"/>
              </a:avLst>
            </a:prstGeom>
            <a:solidFill>
              <a:schemeClr val="accent5"/>
            </a:solidFill>
            <a:ln w="14288">
              <a:solidFill>
                <a:srgbClr val="2E3D5E"/>
              </a:solidFill>
            </a:ln>
          </p:spPr>
        </p:sp>
        <p:sp>
          <p:nvSpPr>
            <p:cNvPr id="13" name="Rectangle 13"/>
            <p:cNvSpPr/>
            <p:nvPr/>
          </p:nvSpPr>
          <p:spPr>
            <a:xfrm>
              <a:off x="6305550" y="4038600"/>
              <a:ext cx="47625" cy="247650"/>
            </a:xfrm>
            <a:prstGeom prst="roundRect">
              <a:avLst>
                <a:gd name="adj" fmla="val 50000"/>
              </a:avLst>
            </a:prstGeom>
            <a:solidFill>
              <a:srgbClr val="48D982"/>
            </a:solidFill>
            <a:ln>
              <a:noFill/>
            </a:ln>
          </p:spPr>
        </p:sp>
        <p:sp>
          <p:nvSpPr>
            <p:cNvPr id="14" name="TextBox 14"/>
            <p:cNvSpPr txBox="1"/>
            <p:nvPr/>
          </p:nvSpPr>
          <p:spPr>
            <a:xfrm>
              <a:off x="6469380" y="4067175"/>
              <a:ext cx="2268855"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SOTA-competitive FID</a:t>
              </a:r>
            </a:p>
          </p:txBody>
        </p:sp>
        <p:sp>
          <p:nvSpPr>
            <p:cNvPr id="15" name="TextBox 15"/>
            <p:cNvSpPr txBox="1"/>
            <p:nvPr/>
          </p:nvSpPr>
          <p:spPr>
            <a:xfrm>
              <a:off x="6337935" y="4469606"/>
              <a:ext cx="2969684"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FFHQ 7.91; AFHQ Cats 4.29, Wild 3.49,</a:t>
              </a:r>
            </a:p>
          </p:txBody>
        </p:sp>
        <p:sp>
          <p:nvSpPr>
            <p:cNvPr id="16" name="TextBox 16"/>
            <p:cNvSpPr txBox="1"/>
            <p:nvPr/>
          </p:nvSpPr>
          <p:spPr>
            <a:xfrm>
              <a:off x="6337935" y="4688681"/>
              <a:ext cx="2544425"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Dogs 13.95 — all at 256 resolution.</a:t>
              </a:r>
            </a:p>
          </p:txBody>
        </p:sp>
        <p:sp>
          <p:nvSpPr>
            <p:cNvPr id="17" name="TextBox 17"/>
            <p:cNvSpPr txBox="1"/>
            <p:nvPr/>
          </p:nvSpPr>
          <p:spPr>
            <a:xfrm>
              <a:off x="6376988" y="5255895"/>
              <a:ext cx="1638029" cy="176212"/>
            </a:xfrm>
            <a:prstGeom prst="rect">
              <a:avLst/>
            </a:prstGeom>
            <a:noFill/>
            <a:ln>
              <a:noFill/>
            </a:ln>
          </p:spPr>
          <p:txBody>
            <a:bodyPr wrap="none" lIns="0" tIns="0" rIns="0" bIns="0" anchor="t" anchorCtr="0">
              <a:spAutoFit/>
            </a:bodyPr>
            <a:lstStyle/>
            <a:p>
              <a:pPr algn="l"/>
              <a:r>
                <a:rPr lang="en-US" sz="900" dirty="0">
                  <a:solidFill>
                    <a:srgbClr val="9DB0D0"/>
                  </a:solidFill>
                  <a:latin typeface="+mn-lt"/>
                  <a:ea typeface="+mn-ea"/>
                  <a:cs typeface="+mn-cs"/>
                </a:rPr>
                <a:t>FID @256² (lower is better)</a:t>
              </a:r>
            </a:p>
          </p:txBody>
        </p:sp>
        <p:sp>
          <p:nvSpPr>
            <p:cNvPr id="18" name="Rectangle 18"/>
            <p:cNvSpPr/>
            <p:nvPr/>
          </p:nvSpPr>
          <p:spPr>
            <a:xfrm>
              <a:off x="6381750" y="5836037"/>
              <a:ext cx="400050" cy="145663"/>
            </a:xfrm>
            <a:prstGeom prst="roundRect">
              <a:avLst>
                <a:gd name="adj" fmla="val 26156"/>
              </a:avLst>
            </a:prstGeom>
            <a:solidFill>
              <a:srgbClr val="48D982"/>
            </a:solidFill>
            <a:ln>
              <a:noFill/>
            </a:ln>
          </p:spPr>
        </p:sp>
        <p:sp>
          <p:nvSpPr>
            <p:cNvPr id="19" name="TextBox 19"/>
            <p:cNvSpPr txBox="1"/>
            <p:nvPr/>
          </p:nvSpPr>
          <p:spPr>
            <a:xfrm>
              <a:off x="6430856" y="5677684"/>
              <a:ext cx="301839" cy="183356"/>
            </a:xfrm>
            <a:prstGeom prst="rect">
              <a:avLst/>
            </a:prstGeom>
            <a:noFill/>
            <a:ln>
              <a:noFill/>
            </a:ln>
          </p:spPr>
          <p:txBody>
            <a:bodyPr wrap="none" lIns="0" tIns="0" rIns="0" bIns="0" anchor="t" anchorCtr="0">
              <a:spAutoFit/>
            </a:bodyPr>
            <a:lstStyle/>
            <a:p>
              <a:pPr algn="ctr"/>
              <a:r>
                <a:rPr lang="en-US" sz="940" b="1" dirty="0">
                  <a:solidFill>
                    <a:schemeClr val="dk1"/>
                  </a:solidFill>
                  <a:latin typeface="+mn-lt"/>
                  <a:ea typeface="+mn-ea"/>
                  <a:cs typeface="+mn-cs"/>
                </a:rPr>
                <a:t>7.91</a:t>
              </a:r>
            </a:p>
          </p:txBody>
        </p:sp>
        <p:sp>
          <p:nvSpPr>
            <p:cNvPr id="20" name="TextBox 20"/>
            <p:cNvSpPr txBox="1"/>
            <p:nvPr/>
          </p:nvSpPr>
          <p:spPr>
            <a:xfrm>
              <a:off x="6370587" y="6040993"/>
              <a:ext cx="422377" cy="169069"/>
            </a:xfrm>
            <a:prstGeom prst="rect">
              <a:avLst/>
            </a:prstGeom>
            <a:noFill/>
            <a:ln>
              <a:noFill/>
            </a:ln>
          </p:spPr>
          <p:txBody>
            <a:bodyPr wrap="none" lIns="0" tIns="0" rIns="0" bIns="0" anchor="t" anchorCtr="0">
              <a:spAutoFit/>
            </a:bodyPr>
            <a:lstStyle/>
            <a:p>
              <a:pPr algn="ctr"/>
              <a:r>
                <a:rPr lang="en-US" sz="860" dirty="0">
                  <a:solidFill>
                    <a:srgbClr val="9DB0D0"/>
                  </a:solidFill>
                  <a:latin typeface="+mn-lt"/>
                  <a:ea typeface="+mn-ea"/>
                  <a:cs typeface="+mn-cs"/>
                </a:rPr>
                <a:t>SMorph</a:t>
              </a:r>
            </a:p>
          </p:txBody>
        </p:sp>
        <p:sp>
          <p:nvSpPr>
            <p:cNvPr id="21" name="Rectangle 21"/>
            <p:cNvSpPr/>
            <p:nvPr/>
          </p:nvSpPr>
          <p:spPr>
            <a:xfrm>
              <a:off x="6972300" y="5462765"/>
              <a:ext cx="400050" cy="518935"/>
            </a:xfrm>
            <a:prstGeom prst="roundRect">
              <a:avLst>
                <a:gd name="adj" fmla="val 9524"/>
              </a:avLst>
            </a:prstGeom>
            <a:solidFill>
              <a:srgbClr val="FF6B6B"/>
            </a:solidFill>
            <a:ln>
              <a:noFill/>
            </a:ln>
          </p:spPr>
        </p:sp>
        <p:sp>
          <p:nvSpPr>
            <p:cNvPr id="22" name="TextBox 22"/>
            <p:cNvSpPr txBox="1"/>
            <p:nvPr/>
          </p:nvSpPr>
          <p:spPr>
            <a:xfrm>
              <a:off x="6984866" y="5304412"/>
              <a:ext cx="374917" cy="183356"/>
            </a:xfrm>
            <a:prstGeom prst="rect">
              <a:avLst/>
            </a:prstGeom>
            <a:noFill/>
            <a:ln>
              <a:noFill/>
            </a:ln>
          </p:spPr>
          <p:txBody>
            <a:bodyPr wrap="none" lIns="0" tIns="0" rIns="0" bIns="0" anchor="t" anchorCtr="0">
              <a:spAutoFit/>
            </a:bodyPr>
            <a:lstStyle/>
            <a:p>
              <a:pPr algn="ctr"/>
              <a:r>
                <a:rPr lang="en-US" sz="940" b="1" dirty="0">
                  <a:solidFill>
                    <a:schemeClr val="dk1"/>
                  </a:solidFill>
                  <a:latin typeface="+mn-lt"/>
                  <a:ea typeface="+mn-ea"/>
                  <a:cs typeface="+mn-cs"/>
                </a:rPr>
                <a:t>28.18</a:t>
              </a:r>
            </a:p>
          </p:txBody>
        </p:sp>
        <p:sp>
          <p:nvSpPr>
            <p:cNvPr id="23" name="TextBox 23"/>
            <p:cNvSpPr txBox="1"/>
            <p:nvPr/>
          </p:nvSpPr>
          <p:spPr>
            <a:xfrm>
              <a:off x="7066643" y="6040993"/>
              <a:ext cx="211364" cy="169069"/>
            </a:xfrm>
            <a:prstGeom prst="rect">
              <a:avLst/>
            </a:prstGeom>
            <a:noFill/>
            <a:ln>
              <a:noFill/>
            </a:ln>
          </p:spPr>
          <p:txBody>
            <a:bodyPr wrap="none" lIns="0" tIns="0" rIns="0" bIns="0" anchor="t" anchorCtr="0">
              <a:spAutoFit/>
            </a:bodyPr>
            <a:lstStyle/>
            <a:p>
              <a:pPr algn="ctr"/>
              <a:r>
                <a:rPr lang="en-US" sz="860" dirty="0">
                  <a:solidFill>
                    <a:srgbClr val="9DB0D0"/>
                  </a:solidFill>
                  <a:latin typeface="+mn-lt"/>
                  <a:ea typeface="+mn-ea"/>
                  <a:cs typeface="+mn-cs"/>
                </a:rPr>
                <a:t>D3D</a:t>
              </a:r>
            </a:p>
          </p:txBody>
        </p:sp>
        <p:sp>
          <p:nvSpPr>
            <p:cNvPr id="24" name="Rectangle 24"/>
            <p:cNvSpPr/>
            <p:nvPr/>
          </p:nvSpPr>
          <p:spPr>
            <a:xfrm>
              <a:off x="7562850" y="5902700"/>
              <a:ext cx="400050" cy="79000"/>
            </a:xfrm>
            <a:prstGeom prst="roundRect">
              <a:avLst>
                <a:gd name="adj" fmla="val 48228"/>
              </a:avLst>
            </a:prstGeom>
            <a:solidFill>
              <a:srgbClr val="33D6C0"/>
            </a:solidFill>
            <a:ln>
              <a:noFill/>
            </a:ln>
          </p:spPr>
        </p:sp>
        <p:sp>
          <p:nvSpPr>
            <p:cNvPr id="25" name="TextBox 25"/>
            <p:cNvSpPr txBox="1"/>
            <p:nvPr/>
          </p:nvSpPr>
          <p:spPr>
            <a:xfrm>
              <a:off x="7611956" y="5744347"/>
              <a:ext cx="301839" cy="183356"/>
            </a:xfrm>
            <a:prstGeom prst="rect">
              <a:avLst/>
            </a:prstGeom>
            <a:noFill/>
            <a:ln>
              <a:noFill/>
            </a:ln>
          </p:spPr>
          <p:txBody>
            <a:bodyPr wrap="none" lIns="0" tIns="0" rIns="0" bIns="0" anchor="t" anchorCtr="0">
              <a:spAutoFit/>
            </a:bodyPr>
            <a:lstStyle/>
            <a:p>
              <a:pPr algn="ctr"/>
              <a:r>
                <a:rPr lang="en-US" sz="940" b="1" dirty="0">
                  <a:solidFill>
                    <a:schemeClr val="dk1"/>
                  </a:solidFill>
                  <a:latin typeface="+mn-lt"/>
                  <a:ea typeface="+mn-ea"/>
                  <a:cs typeface="+mn-cs"/>
                </a:rPr>
                <a:t>4.29</a:t>
              </a:r>
            </a:p>
          </p:txBody>
        </p:sp>
        <p:sp>
          <p:nvSpPr>
            <p:cNvPr id="26" name="TextBox 26"/>
            <p:cNvSpPr txBox="1"/>
            <p:nvPr/>
          </p:nvSpPr>
          <p:spPr>
            <a:xfrm>
              <a:off x="7628960" y="6040993"/>
              <a:ext cx="267830" cy="169069"/>
            </a:xfrm>
            <a:prstGeom prst="rect">
              <a:avLst/>
            </a:prstGeom>
            <a:noFill/>
            <a:ln>
              <a:noFill/>
            </a:ln>
          </p:spPr>
          <p:txBody>
            <a:bodyPr wrap="none" lIns="0" tIns="0" rIns="0" bIns="0" anchor="t" anchorCtr="0">
              <a:spAutoFit/>
            </a:bodyPr>
            <a:lstStyle/>
            <a:p>
              <a:pPr algn="ctr"/>
              <a:r>
                <a:rPr lang="en-US" sz="860" dirty="0">
                  <a:solidFill>
                    <a:srgbClr val="9DB0D0"/>
                  </a:solidFill>
                  <a:latin typeface="+mn-lt"/>
                  <a:ea typeface="+mn-ea"/>
                  <a:cs typeface="+mn-cs"/>
                </a:rPr>
                <a:t>Cats</a:t>
              </a:r>
            </a:p>
          </p:txBody>
        </p:sp>
        <p:sp>
          <p:nvSpPr>
            <p:cNvPr id="27" name="Rectangle 27"/>
            <p:cNvSpPr/>
            <p:nvPr/>
          </p:nvSpPr>
          <p:spPr>
            <a:xfrm>
              <a:off x="8153400" y="5917432"/>
              <a:ext cx="400050" cy="64268"/>
            </a:xfrm>
            <a:prstGeom prst="roundRect">
              <a:avLst>
                <a:gd name="adj" fmla="val 50000"/>
              </a:avLst>
            </a:prstGeom>
            <a:solidFill>
              <a:srgbClr val="33D6C0"/>
            </a:solidFill>
            <a:ln>
              <a:noFill/>
            </a:ln>
          </p:spPr>
        </p:sp>
        <p:sp>
          <p:nvSpPr>
            <p:cNvPr id="28" name="TextBox 28"/>
            <p:cNvSpPr txBox="1"/>
            <p:nvPr/>
          </p:nvSpPr>
          <p:spPr>
            <a:xfrm>
              <a:off x="8202506" y="5759079"/>
              <a:ext cx="301839" cy="183356"/>
            </a:xfrm>
            <a:prstGeom prst="rect">
              <a:avLst/>
            </a:prstGeom>
            <a:noFill/>
            <a:ln>
              <a:noFill/>
            </a:ln>
          </p:spPr>
          <p:txBody>
            <a:bodyPr wrap="none" lIns="0" tIns="0" rIns="0" bIns="0" anchor="t" anchorCtr="0">
              <a:spAutoFit/>
            </a:bodyPr>
            <a:lstStyle/>
            <a:p>
              <a:pPr algn="ctr"/>
              <a:r>
                <a:rPr lang="en-US" sz="940" b="1" dirty="0">
                  <a:solidFill>
                    <a:schemeClr val="dk1"/>
                  </a:solidFill>
                  <a:latin typeface="+mn-lt"/>
                  <a:ea typeface="+mn-ea"/>
                  <a:cs typeface="+mn-cs"/>
                </a:rPr>
                <a:t>3.49</a:t>
              </a:r>
            </a:p>
          </p:txBody>
        </p:sp>
        <p:sp>
          <p:nvSpPr>
            <p:cNvPr id="29" name="TextBox 29"/>
            <p:cNvSpPr txBox="1"/>
            <p:nvPr/>
          </p:nvSpPr>
          <p:spPr>
            <a:xfrm>
              <a:off x="8237122" y="6040993"/>
              <a:ext cx="232607" cy="169069"/>
            </a:xfrm>
            <a:prstGeom prst="rect">
              <a:avLst/>
            </a:prstGeom>
            <a:noFill/>
            <a:ln>
              <a:noFill/>
            </a:ln>
          </p:spPr>
          <p:txBody>
            <a:bodyPr wrap="none" lIns="0" tIns="0" rIns="0" bIns="0" anchor="t" anchorCtr="0">
              <a:spAutoFit/>
            </a:bodyPr>
            <a:lstStyle/>
            <a:p>
              <a:pPr algn="ctr"/>
              <a:r>
                <a:rPr lang="en-US" sz="860" dirty="0">
                  <a:solidFill>
                    <a:srgbClr val="9DB0D0"/>
                  </a:solidFill>
                  <a:latin typeface="+mn-lt"/>
                  <a:ea typeface="+mn-ea"/>
                  <a:cs typeface="+mn-cs"/>
                </a:rPr>
                <a:t>Wild</a:t>
              </a:r>
            </a:p>
          </p:txBody>
        </p:sp>
        <p:sp>
          <p:nvSpPr>
            <p:cNvPr id="30" name="Rectangle 30"/>
            <p:cNvSpPr/>
            <p:nvPr/>
          </p:nvSpPr>
          <p:spPr>
            <a:xfrm>
              <a:off x="8743950" y="5724811"/>
              <a:ext cx="400050" cy="256889"/>
            </a:xfrm>
            <a:prstGeom prst="roundRect">
              <a:avLst>
                <a:gd name="adj" fmla="val 14831"/>
              </a:avLst>
            </a:prstGeom>
            <a:solidFill>
              <a:srgbClr val="FFCF5C"/>
            </a:solidFill>
            <a:ln>
              <a:noFill/>
            </a:ln>
          </p:spPr>
        </p:sp>
        <p:sp>
          <p:nvSpPr>
            <p:cNvPr id="31" name="TextBox 31"/>
            <p:cNvSpPr txBox="1"/>
            <p:nvPr/>
          </p:nvSpPr>
          <p:spPr>
            <a:xfrm>
              <a:off x="8756516" y="5566458"/>
              <a:ext cx="374917" cy="183356"/>
            </a:xfrm>
            <a:prstGeom prst="rect">
              <a:avLst/>
            </a:prstGeom>
            <a:noFill/>
            <a:ln>
              <a:noFill/>
            </a:ln>
          </p:spPr>
          <p:txBody>
            <a:bodyPr wrap="none" lIns="0" tIns="0" rIns="0" bIns="0" anchor="t" anchorCtr="0">
              <a:spAutoFit/>
            </a:bodyPr>
            <a:lstStyle/>
            <a:p>
              <a:pPr algn="ctr"/>
              <a:r>
                <a:rPr lang="en-US" sz="940" b="1" dirty="0">
                  <a:solidFill>
                    <a:schemeClr val="dk1"/>
                  </a:solidFill>
                  <a:latin typeface="+mn-lt"/>
                  <a:ea typeface="+mn-ea"/>
                  <a:cs typeface="+mn-cs"/>
                </a:rPr>
                <a:t>13.95</a:t>
              </a:r>
            </a:p>
          </p:txBody>
        </p:sp>
        <p:sp>
          <p:nvSpPr>
            <p:cNvPr id="32" name="TextBox 32"/>
            <p:cNvSpPr txBox="1"/>
            <p:nvPr/>
          </p:nvSpPr>
          <p:spPr>
            <a:xfrm>
              <a:off x="8810060" y="6040993"/>
              <a:ext cx="267830" cy="169069"/>
            </a:xfrm>
            <a:prstGeom prst="rect">
              <a:avLst/>
            </a:prstGeom>
            <a:noFill/>
            <a:ln>
              <a:noFill/>
            </a:ln>
          </p:spPr>
          <p:txBody>
            <a:bodyPr wrap="none" lIns="0" tIns="0" rIns="0" bIns="0" anchor="t" anchorCtr="0">
              <a:spAutoFit/>
            </a:bodyPr>
            <a:lstStyle/>
            <a:p>
              <a:pPr algn="ctr"/>
              <a:r>
                <a:rPr lang="en-US" sz="860" dirty="0">
                  <a:solidFill>
                    <a:srgbClr val="9DB0D0"/>
                  </a:solidFill>
                  <a:latin typeface="+mn-lt"/>
                  <a:ea typeface="+mn-ea"/>
                  <a:cs typeface="+mn-cs"/>
                </a:rPr>
                <a:t>Dogs</a:t>
              </a:r>
            </a:p>
          </p:txBody>
        </p:sp>
      </p:grpSp>
      <p:grpSp>
        <p:nvGrpSpPr>
          <p:cNvPr id="40" name="Group 40"/>
          <p:cNvGrpSpPr/>
          <p:nvPr/>
        </p:nvGrpSpPr>
        <p:grpSpPr>
          <a:xfrm>
            <a:off x="6134100" y="1219200"/>
            <a:ext cx="5486400" cy="2381250"/>
            <a:chOff x="6134100" y="1219200"/>
            <a:chExt cx="5486400" cy="2381250"/>
          </a:xfrm>
        </p:grpSpPr>
        <p:sp>
          <p:nvSpPr>
            <p:cNvPr id="34" name="Rectangle 34"/>
            <p:cNvSpPr/>
            <p:nvPr/>
          </p:nvSpPr>
          <p:spPr>
            <a:xfrm>
              <a:off x="6134100" y="1219200"/>
              <a:ext cx="5486400" cy="2381250"/>
            </a:xfrm>
            <a:prstGeom prst="roundRect">
              <a:avLst>
                <a:gd name="adj" fmla="val 5600"/>
              </a:avLst>
            </a:prstGeom>
            <a:solidFill>
              <a:schemeClr val="accent5"/>
            </a:solidFill>
            <a:ln w="14288">
              <a:solidFill>
                <a:srgbClr val="2E3D5E"/>
              </a:solidFill>
            </a:ln>
          </p:spPr>
        </p:sp>
        <p:sp>
          <p:nvSpPr>
            <p:cNvPr id="35" name="Rectangle 35"/>
            <p:cNvSpPr/>
            <p:nvPr/>
          </p:nvSpPr>
          <p:spPr>
            <a:xfrm>
              <a:off x="6305550" y="1428750"/>
              <a:ext cx="47625" cy="247650"/>
            </a:xfrm>
            <a:prstGeom prst="roundRect">
              <a:avLst>
                <a:gd name="adj" fmla="val 50000"/>
              </a:avLst>
            </a:prstGeom>
            <a:solidFill>
              <a:srgbClr val="33D6C0"/>
            </a:solidFill>
            <a:ln>
              <a:noFill/>
            </a:ln>
          </p:spPr>
        </p:sp>
        <p:sp>
          <p:nvSpPr>
            <p:cNvPr id="36" name="TextBox 36"/>
            <p:cNvSpPr txBox="1"/>
            <p:nvPr/>
          </p:nvSpPr>
          <p:spPr>
            <a:xfrm>
              <a:off x="6469380" y="1457325"/>
              <a:ext cx="3042586"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Alongside the strongest GANs</a:t>
              </a:r>
            </a:p>
          </p:txBody>
        </p:sp>
        <p:sp>
          <p:nvSpPr>
            <p:cNvPr id="37" name="TextBox 37"/>
            <p:cNvSpPr txBox="1"/>
            <p:nvPr/>
          </p:nvSpPr>
          <p:spPr>
            <a:xfrm>
              <a:off x="6337935" y="1859756"/>
              <a:ext cx="2828347"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These scores sit right beside the best</a:t>
              </a:r>
            </a:p>
          </p:txBody>
        </p:sp>
        <p:sp>
          <p:nvSpPr>
            <p:cNvPr id="38" name="TextBox 38"/>
            <p:cNvSpPr txBox="1"/>
            <p:nvPr/>
          </p:nvSpPr>
          <p:spPr>
            <a:xfrm>
              <a:off x="6337935" y="2078831"/>
              <a:ext cx="2529345"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3D-aware GANs that offer none of</a:t>
              </a:r>
            </a:p>
          </p:txBody>
        </p:sp>
        <p:sp>
          <p:nvSpPr>
            <p:cNvPr id="39" name="TextBox 39"/>
            <p:cNvSpPr txBox="1"/>
            <p:nvPr/>
          </p:nvSpPr>
          <p:spPr>
            <a:xfrm>
              <a:off x="6337935" y="2297906"/>
              <a:ext cx="2230277"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StyleMorph's editing control.</a:t>
              </a:r>
            </a:p>
          </p:txBody>
        </p:sp>
      </p:grpSp>
      <p:grpSp>
        <p:nvGrpSpPr>
          <p:cNvPr id="47" name="Group 47"/>
          <p:cNvGrpSpPr/>
          <p:nvPr/>
        </p:nvGrpSpPr>
        <p:grpSpPr>
          <a:xfrm>
            <a:off x="571500" y="3829050"/>
            <a:ext cx="5334000" cy="2647950"/>
            <a:chOff x="571500" y="3829050"/>
            <a:chExt cx="5334000" cy="2647950"/>
          </a:xfrm>
        </p:grpSpPr>
        <p:sp>
          <p:nvSpPr>
            <p:cNvPr id="41" name="Rectangle 41"/>
            <p:cNvSpPr/>
            <p:nvPr/>
          </p:nvSpPr>
          <p:spPr>
            <a:xfrm>
              <a:off x="571500" y="3829050"/>
              <a:ext cx="5334000" cy="2647950"/>
            </a:xfrm>
            <a:prstGeom prst="roundRect">
              <a:avLst>
                <a:gd name="adj" fmla="val 5036"/>
              </a:avLst>
            </a:prstGeom>
            <a:solidFill>
              <a:schemeClr val="accent5"/>
            </a:solidFill>
            <a:ln w="14288">
              <a:solidFill>
                <a:srgbClr val="2E3D5E"/>
              </a:solidFill>
            </a:ln>
          </p:spPr>
        </p:sp>
        <p:sp>
          <p:nvSpPr>
            <p:cNvPr id="42" name="Rectangle 42"/>
            <p:cNvSpPr/>
            <p:nvPr/>
          </p:nvSpPr>
          <p:spPr>
            <a:xfrm>
              <a:off x="742950" y="4038600"/>
              <a:ext cx="47625" cy="247650"/>
            </a:xfrm>
            <a:prstGeom prst="roundRect">
              <a:avLst>
                <a:gd name="adj" fmla="val 50000"/>
              </a:avLst>
            </a:prstGeom>
            <a:solidFill>
              <a:srgbClr val="FFCF5C"/>
            </a:solidFill>
            <a:ln>
              <a:noFill/>
            </a:ln>
          </p:spPr>
        </p:sp>
        <p:sp>
          <p:nvSpPr>
            <p:cNvPr id="43" name="TextBox 43"/>
            <p:cNvSpPr txBox="1"/>
            <p:nvPr/>
          </p:nvSpPr>
          <p:spPr>
            <a:xfrm>
              <a:off x="906780" y="4067175"/>
              <a:ext cx="185243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vs Disentangled3D</a:t>
              </a:r>
            </a:p>
          </p:txBody>
        </p:sp>
        <p:sp>
          <p:nvSpPr>
            <p:cNvPr id="44" name="TextBox 44"/>
            <p:cNvSpPr txBox="1"/>
            <p:nvPr/>
          </p:nvSpPr>
          <p:spPr>
            <a:xfrm>
              <a:off x="775335" y="4469606"/>
              <a:ext cx="2919137"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The only other template-based method:</a:t>
              </a:r>
            </a:p>
          </p:txBody>
        </p:sp>
        <p:sp>
          <p:nvSpPr>
            <p:cNvPr id="45" name="TextBox 45"/>
            <p:cNvSpPr txBox="1"/>
            <p:nvPr/>
          </p:nvSpPr>
          <p:spPr>
            <a:xfrm>
              <a:off x="775335" y="4688681"/>
              <a:ext cx="2966298"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StyleMorph 7.91 FFHQ vs its 28.18, and</a:t>
              </a:r>
            </a:p>
          </p:txBody>
        </p:sp>
        <p:sp>
          <p:nvSpPr>
            <p:cNvPr id="46" name="TextBox 46"/>
            <p:cNvSpPr txBox="1"/>
            <p:nvPr/>
          </p:nvSpPr>
          <p:spPr>
            <a:xfrm>
              <a:off x="775335" y="4907756"/>
              <a:ext cx="2725369"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it also separates object from scene.</a:t>
              </a:r>
            </a:p>
          </p:txBody>
        </p:sp>
      </p:grpSp>
      <p:sp>
        <p:nvSpPr>
          <p:cNvPr id="48" name="cue_s07_c1_headline_finding_disentanglement_doe" title="cue_s07_c1_headline_finding_disentanglement_doe" descr="cue_s07_c1_headline_finding_disentanglement_doe The headline finding is that disentanglement does not have to cost image quality."/>
          <p:cNvSpPr/>
          <p:nvPr/>
        </p:nvSpPr>
        <p:spPr>
          <a:xfrm>
            <a:off x="571804" y="1219352"/>
            <a:ext cx="5334000"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7_c2_stylemorph_reaches_frechet_inception" title="cue_s07_c2_stylemorph_reaches_frechet_inception" descr="cue_s07_c2_stylemorph_reaches_frechet_inception StyleMorph reaches a Frechet Inception Distance of seven point nine one on FFHQ faces, and four point two nine on cats, three point four nine on wild animals, and thirteen point nine five on dogs, all at two-fifty-six resolution."/>
          <p:cNvSpPr/>
          <p:nvPr/>
        </p:nvSpPr>
        <p:spPr>
          <a:xfrm>
            <a:off x="6133795" y="3828821"/>
            <a:ext cx="5486400" cy="26478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7_c3_these_numbers_sit_right_alongside" title="cue_s07_c3_these_numbers_sit_right_alongside" descr="cue_s07_c3_these_numbers_sit_right_alongside These numbers sit right alongside the strongest 3D-aware GANs that offer none of StyleMorph's control."/>
          <p:cNvSpPr/>
          <p:nvPr/>
        </p:nvSpPr>
        <p:spPr>
          <a:xfrm>
            <a:off x="6133795" y="1219352"/>
            <a:ext cx="5486400"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7_c4_comparison_matters_most_against_dise" title="cue_s07_c4_comparison_matters_most_against_dise" descr="cue_s07_c4_comparison_matters_most_against_dise The comparison that matters most is against Disentangled3D, the only prior method that also represents shape with a deformable template: StyleMorph's FFHQ score of seven point nine one is far ahead of its twenty-eight point one eight, and StyleMorph additional"/>
          <p:cNvSpPr/>
          <p:nvPr/>
        </p:nvSpPr>
        <p:spPr>
          <a:xfrm>
            <a:off x="571804" y="3828821"/>
            <a:ext cx="5334000" cy="26478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38150"/>
            <a:ext cx="57150" cy="323850"/>
          </a:xfrm>
          <a:prstGeom prst="roundRect">
            <a:avLst>
              <a:gd name="adj" fmla="val 50000"/>
            </a:avLst>
          </a:prstGeom>
          <a:solidFill>
            <a:schemeClr val="accent2"/>
          </a:solidFill>
          <a:ln>
            <a:noFill/>
          </a:ln>
        </p:spPr>
        <p:txBody>
          <a:bodyPr/>
          <a:p/>
        </p:txBody>
      </p:sp>
      <p:sp>
        <p:nvSpPr>
          <p:cNvPr id="3" name="TextBox 3"/>
          <p:cNvSpPr txBox="1"/>
          <p:nvPr/>
        </p:nvSpPr>
        <p:spPr>
          <a:xfrm>
            <a:off x="794385" y="450056"/>
            <a:ext cx="1001762" cy="220028"/>
          </a:xfrm>
          <a:prstGeom prst="rect">
            <a:avLst/>
          </a:prstGeom>
          <a:noFill/>
          <a:ln>
            <a:noFill/>
          </a:ln>
        </p:spPr>
        <p:txBody>
          <a:bodyPr wrap="none" lIns="0" tIns="0" rIns="0" bIns="0" anchor="t" anchorCtr="0">
            <a:spAutoFit/>
          </a:bodyPr>
          <a:lstStyle/>
          <a:p>
            <a:pPr algn="l"/>
            <a:r>
              <a:rPr lang="en-US" sz="1120" b="1" spc="150" dirty="0">
                <a:solidFill>
                  <a:srgbClr val="33D6C0"/>
                </a:solidFill>
                <a:latin typeface="+mn-lt"/>
                <a:ea typeface="+mn-ea"/>
                <a:cs typeface="+mn-cs"/>
              </a:rPr>
              <a:t>ABLATIONS</a:t>
            </a:r>
          </a:p>
        </p:txBody>
      </p:sp>
      <p:sp>
        <p:nvSpPr>
          <p:cNvPr id="4" name="TextBox 4"/>
          <p:cNvSpPr txBox="1"/>
          <p:nvPr/>
        </p:nvSpPr>
        <p:spPr>
          <a:xfrm>
            <a:off x="788670" y="595312"/>
            <a:ext cx="451779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What each design choice buys</a:t>
            </a:r>
          </a:p>
        </p:txBody>
      </p:sp>
      <p:grpSp>
        <p:nvGrpSpPr>
          <p:cNvPr id="11" name="Group 11"/>
          <p:cNvGrpSpPr/>
          <p:nvPr/>
        </p:nvGrpSpPr>
        <p:grpSpPr>
          <a:xfrm>
            <a:off x="571500" y="1219200"/>
            <a:ext cx="5410200" cy="2514600"/>
            <a:chOff x="571500" y="1219200"/>
            <a:chExt cx="5410200" cy="2514600"/>
          </a:xfrm>
        </p:grpSpPr>
        <p:sp>
          <p:nvSpPr>
            <p:cNvPr id="5" name="Rectangle 5"/>
            <p:cNvSpPr/>
            <p:nvPr/>
          </p:nvSpPr>
          <p:spPr>
            <a:xfrm>
              <a:off x="571500" y="1219200"/>
              <a:ext cx="5410200" cy="2514600"/>
            </a:xfrm>
            <a:prstGeom prst="roundRect">
              <a:avLst>
                <a:gd name="adj" fmla="val 5303"/>
              </a:avLst>
            </a:prstGeom>
            <a:solidFill>
              <a:schemeClr val="accent5"/>
            </a:solidFill>
            <a:ln w="14288">
              <a:solidFill>
                <a:srgbClr val="2E3D5E"/>
              </a:solidFill>
            </a:ln>
          </p:spPr>
        </p:sp>
        <p:sp>
          <p:nvSpPr>
            <p:cNvPr id="6" name="Rectangle 6"/>
            <p:cNvSpPr/>
            <p:nvPr/>
          </p:nvSpPr>
          <p:spPr>
            <a:xfrm>
              <a:off x="742950" y="1428750"/>
              <a:ext cx="47625" cy="247650"/>
            </a:xfrm>
            <a:prstGeom prst="roundRect">
              <a:avLst>
                <a:gd name="adj" fmla="val 50000"/>
              </a:avLst>
            </a:prstGeom>
            <a:solidFill>
              <a:schemeClr val="accent2"/>
            </a:solidFill>
            <a:ln>
              <a:noFill/>
            </a:ln>
          </p:spPr>
        </p:sp>
        <p:sp>
          <p:nvSpPr>
            <p:cNvPr id="7" name="TextBox 7"/>
            <p:cNvSpPr txBox="1"/>
            <p:nvPr/>
          </p:nvSpPr>
          <p:spPr>
            <a:xfrm>
              <a:off x="906780" y="1457325"/>
              <a:ext cx="287765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TOCS vs NOCS (96h budget)</a:t>
              </a:r>
            </a:p>
          </p:txBody>
        </p:sp>
        <p:sp>
          <p:nvSpPr>
            <p:cNvPr id="8" name="TextBox 8"/>
            <p:cNvSpPr txBox="1"/>
            <p:nvPr/>
          </p:nvSpPr>
          <p:spPr>
            <a:xfrm>
              <a:off x="775335" y="1859756"/>
              <a:ext cx="2981272"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Swapping TOCS for plain NOCS raises FID</a:t>
              </a:r>
            </a:p>
          </p:txBody>
        </p:sp>
        <p:sp>
          <p:nvSpPr>
            <p:cNvPr id="9" name="TextBox 9"/>
            <p:cNvSpPr txBox="1"/>
            <p:nvPr/>
          </p:nvSpPr>
          <p:spPr>
            <a:xfrm>
              <a:off x="775335" y="2078831"/>
              <a:ext cx="2619827"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8.31 → 8.90 and blurs conditioning —</a:t>
              </a:r>
            </a:p>
          </p:txBody>
        </p:sp>
        <p:sp>
          <p:nvSpPr>
            <p:cNvPr id="10" name="TextBox 10"/>
            <p:cNvSpPr txBox="1"/>
            <p:nvPr/>
          </p:nvSpPr>
          <p:spPr>
            <a:xfrm>
              <a:off x="775335" y="2297906"/>
              <a:ext cx="2740447"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template-space coordinates matter.</a:t>
              </a:r>
            </a:p>
          </p:txBody>
        </p:sp>
      </p:grpSp>
      <p:grpSp>
        <p:nvGrpSpPr>
          <p:cNvPr id="18" name="Group 18"/>
          <p:cNvGrpSpPr/>
          <p:nvPr/>
        </p:nvGrpSpPr>
        <p:grpSpPr>
          <a:xfrm>
            <a:off x="6210300" y="1219200"/>
            <a:ext cx="5410200" cy="2514600"/>
            <a:chOff x="6210300" y="1219200"/>
            <a:chExt cx="5410200" cy="2514600"/>
          </a:xfrm>
        </p:grpSpPr>
        <p:sp>
          <p:nvSpPr>
            <p:cNvPr id="12" name="Rectangle 12"/>
            <p:cNvSpPr/>
            <p:nvPr/>
          </p:nvSpPr>
          <p:spPr>
            <a:xfrm>
              <a:off x="6210300" y="1219200"/>
              <a:ext cx="5410200" cy="2514600"/>
            </a:xfrm>
            <a:prstGeom prst="roundRect">
              <a:avLst>
                <a:gd name="adj" fmla="val 5303"/>
              </a:avLst>
            </a:prstGeom>
            <a:solidFill>
              <a:schemeClr val="accent5"/>
            </a:solidFill>
            <a:ln w="14288">
              <a:solidFill>
                <a:srgbClr val="2E3D5E"/>
              </a:solidFill>
            </a:ln>
          </p:spPr>
        </p:sp>
        <p:sp>
          <p:nvSpPr>
            <p:cNvPr id="13" name="Rectangle 13"/>
            <p:cNvSpPr/>
            <p:nvPr/>
          </p:nvSpPr>
          <p:spPr>
            <a:xfrm>
              <a:off x="6381750" y="1428750"/>
              <a:ext cx="47625" cy="247650"/>
            </a:xfrm>
            <a:prstGeom prst="roundRect">
              <a:avLst>
                <a:gd name="adj" fmla="val 50000"/>
              </a:avLst>
            </a:prstGeom>
            <a:solidFill>
              <a:srgbClr val="33D6C0"/>
            </a:solidFill>
            <a:ln>
              <a:noFill/>
            </a:ln>
          </p:spPr>
        </p:sp>
        <p:sp>
          <p:nvSpPr>
            <p:cNvPr id="14" name="TextBox 14"/>
            <p:cNvSpPr txBox="1"/>
            <p:nvPr/>
          </p:nvSpPr>
          <p:spPr>
            <a:xfrm>
              <a:off x="6545580" y="1457325"/>
              <a:ext cx="3149712"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Remove the deformable module</a:t>
              </a:r>
            </a:p>
          </p:txBody>
        </p:sp>
        <p:sp>
          <p:nvSpPr>
            <p:cNvPr id="15" name="TextBox 15"/>
            <p:cNvSpPr txBox="1"/>
            <p:nvPr/>
          </p:nvSpPr>
          <p:spPr>
            <a:xfrm>
              <a:off x="6414135" y="1859756"/>
              <a:ext cx="2783160"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A direct occupancy network keeps FID</a:t>
              </a:r>
            </a:p>
          </p:txBody>
        </p:sp>
        <p:sp>
          <p:nvSpPr>
            <p:cNvPr id="16" name="TextBox 16"/>
            <p:cNvSpPr txBox="1"/>
            <p:nvPr/>
          </p:nvSpPr>
          <p:spPr>
            <a:xfrm>
              <a:off x="6414135" y="2078831"/>
              <a:ext cx="2891221"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similar but drastically worsens shape /</a:t>
              </a:r>
            </a:p>
          </p:txBody>
        </p:sp>
        <p:sp>
          <p:nvSpPr>
            <p:cNvPr id="17" name="TextBox 17"/>
            <p:cNvSpPr txBox="1"/>
            <p:nvPr/>
          </p:nvSpPr>
          <p:spPr>
            <a:xfrm>
              <a:off x="6414135" y="2297906"/>
              <a:ext cx="2386127"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appearance consistency scores.</a:t>
              </a:r>
            </a:p>
          </p:txBody>
        </p:sp>
      </p:grpSp>
      <p:grpSp>
        <p:nvGrpSpPr>
          <p:cNvPr id="25" name="Group 25"/>
          <p:cNvGrpSpPr/>
          <p:nvPr/>
        </p:nvGrpSpPr>
        <p:grpSpPr>
          <a:xfrm>
            <a:off x="571500" y="3962400"/>
            <a:ext cx="5410200" cy="2514600"/>
            <a:chOff x="571500" y="3962400"/>
            <a:chExt cx="5410200" cy="2514600"/>
          </a:xfrm>
        </p:grpSpPr>
        <p:sp>
          <p:nvSpPr>
            <p:cNvPr id="19" name="Rectangle 19"/>
            <p:cNvSpPr/>
            <p:nvPr/>
          </p:nvSpPr>
          <p:spPr>
            <a:xfrm>
              <a:off x="571500" y="3962400"/>
              <a:ext cx="5410200" cy="2514600"/>
            </a:xfrm>
            <a:prstGeom prst="roundRect">
              <a:avLst>
                <a:gd name="adj" fmla="val 5303"/>
              </a:avLst>
            </a:prstGeom>
            <a:solidFill>
              <a:schemeClr val="accent5"/>
            </a:solidFill>
            <a:ln w="14288">
              <a:solidFill>
                <a:srgbClr val="2E3D5E"/>
              </a:solidFill>
            </a:ln>
          </p:spPr>
        </p:sp>
        <p:sp>
          <p:nvSpPr>
            <p:cNvPr id="20" name="Rectangle 20"/>
            <p:cNvSpPr/>
            <p:nvPr/>
          </p:nvSpPr>
          <p:spPr>
            <a:xfrm>
              <a:off x="742950" y="4171950"/>
              <a:ext cx="47625" cy="247650"/>
            </a:xfrm>
            <a:prstGeom prst="roundRect">
              <a:avLst>
                <a:gd name="adj" fmla="val 50000"/>
              </a:avLst>
            </a:prstGeom>
            <a:solidFill>
              <a:srgbClr val="FFCF5C"/>
            </a:solidFill>
            <a:ln>
              <a:noFill/>
            </a:ln>
          </p:spPr>
        </p:sp>
        <p:sp>
          <p:nvSpPr>
            <p:cNvPr id="21" name="TextBox 21"/>
            <p:cNvSpPr txBox="1"/>
            <p:nvPr/>
          </p:nvSpPr>
          <p:spPr>
            <a:xfrm>
              <a:off x="906780" y="4200525"/>
              <a:ext cx="2089382"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Late vs early fusion</a:t>
              </a:r>
            </a:p>
          </p:txBody>
        </p:sp>
        <p:sp>
          <p:nvSpPr>
            <p:cNvPr id="22" name="TextBox 22"/>
            <p:cNvSpPr txBox="1"/>
            <p:nvPr/>
          </p:nvSpPr>
          <p:spPr>
            <a:xfrm>
              <a:off x="775335" y="4602956"/>
              <a:ext cx="2714203"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Early fusion nudges FID down slightly</a:t>
              </a:r>
            </a:p>
          </p:txBody>
        </p:sp>
        <p:sp>
          <p:nvSpPr>
            <p:cNvPr id="23" name="TextBox 23"/>
            <p:cNvSpPr txBox="1"/>
            <p:nvPr/>
          </p:nvSpPr>
          <p:spPr>
            <a:xfrm>
              <a:off x="775335" y="4822031"/>
              <a:ext cx="2763063"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but wrecks alpha consistency 88.65 →</a:t>
              </a:r>
            </a:p>
          </p:txBody>
        </p:sp>
        <p:sp>
          <p:nvSpPr>
            <p:cNvPr id="24" name="TextBox 24"/>
            <p:cNvSpPr txBox="1"/>
            <p:nvPr/>
          </p:nvSpPr>
          <p:spPr>
            <a:xfrm>
              <a:off x="775335" y="5041106"/>
              <a:ext cx="2642443"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85.87%, bleeding object into scene.</a:t>
              </a:r>
            </a:p>
          </p:txBody>
        </p:sp>
      </p:grpSp>
      <p:grpSp>
        <p:nvGrpSpPr>
          <p:cNvPr id="32" name="Group 32"/>
          <p:cNvGrpSpPr/>
          <p:nvPr/>
        </p:nvGrpSpPr>
        <p:grpSpPr>
          <a:xfrm>
            <a:off x="6210300" y="3962400"/>
            <a:ext cx="5410200" cy="2514600"/>
            <a:chOff x="6210300" y="3962400"/>
            <a:chExt cx="5410200" cy="2514600"/>
          </a:xfrm>
        </p:grpSpPr>
        <p:sp>
          <p:nvSpPr>
            <p:cNvPr id="26" name="Rectangle 26"/>
            <p:cNvSpPr/>
            <p:nvPr/>
          </p:nvSpPr>
          <p:spPr>
            <a:xfrm>
              <a:off x="6210300" y="3962400"/>
              <a:ext cx="5410200" cy="2514600"/>
            </a:xfrm>
            <a:prstGeom prst="roundRect">
              <a:avLst>
                <a:gd name="adj" fmla="val 5303"/>
              </a:avLst>
            </a:prstGeom>
            <a:solidFill>
              <a:schemeClr val="accent5"/>
            </a:solidFill>
            <a:ln w="14288">
              <a:solidFill>
                <a:srgbClr val="2E3D5E"/>
              </a:solidFill>
            </a:ln>
          </p:spPr>
        </p:sp>
        <p:sp>
          <p:nvSpPr>
            <p:cNvPr id="27" name="Rectangle 27"/>
            <p:cNvSpPr/>
            <p:nvPr/>
          </p:nvSpPr>
          <p:spPr>
            <a:xfrm>
              <a:off x="6381750" y="4171950"/>
              <a:ext cx="47625" cy="247650"/>
            </a:xfrm>
            <a:prstGeom prst="roundRect">
              <a:avLst>
                <a:gd name="adj" fmla="val 50000"/>
              </a:avLst>
            </a:prstGeom>
            <a:solidFill>
              <a:srgbClr val="48D982"/>
            </a:solidFill>
            <a:ln>
              <a:noFill/>
            </a:ln>
          </p:spPr>
        </p:sp>
        <p:sp>
          <p:nvSpPr>
            <p:cNvPr id="28" name="TextBox 28"/>
            <p:cNvSpPr txBox="1"/>
            <p:nvPr/>
          </p:nvSpPr>
          <p:spPr>
            <a:xfrm>
              <a:off x="6545580" y="4200525"/>
              <a:ext cx="2937779"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View-consistency trade-off</a:t>
              </a:r>
            </a:p>
          </p:txBody>
        </p:sp>
        <p:sp>
          <p:nvSpPr>
            <p:cNvPr id="29" name="TextBox 29"/>
            <p:cNvSpPr txBox="1"/>
            <p:nvPr/>
          </p:nvSpPr>
          <p:spPr>
            <a:xfrm>
              <a:off x="6414135" y="4602956"/>
              <a:ext cx="2714921"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Optimizing view consistency directly</a:t>
              </a:r>
            </a:p>
          </p:txBody>
        </p:sp>
        <p:sp>
          <p:nvSpPr>
            <p:cNvPr id="30" name="TextBox 30"/>
            <p:cNvSpPr txBox="1"/>
            <p:nvPr/>
          </p:nvSpPr>
          <p:spPr>
            <a:xfrm>
              <a:off x="6414135" y="4822031"/>
              <a:ext cx="2725369"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improves it 15.84 → 8.12, but trades</a:t>
              </a:r>
            </a:p>
          </p:txBody>
        </p:sp>
        <p:sp>
          <p:nvSpPr>
            <p:cNvPr id="31" name="TextBox 31"/>
            <p:cNvSpPr txBox="1"/>
            <p:nvPr/>
          </p:nvSpPr>
          <p:spPr>
            <a:xfrm>
              <a:off x="6414135" y="5041106"/>
              <a:ext cx="2623896" cy="220028"/>
            </a:xfrm>
            <a:prstGeom prst="rect">
              <a:avLst/>
            </a:prstGeom>
            <a:noFill/>
            <a:ln>
              <a:noFill/>
            </a:ln>
          </p:spPr>
          <p:txBody>
            <a:bodyPr wrap="none" lIns="0" tIns="0" rIns="0" bIns="0" anchor="t" anchorCtr="0">
              <a:spAutoFit/>
            </a:bodyPr>
            <a:lstStyle/>
            <a:p>
              <a:pPr algn="l"/>
              <a:r>
                <a:rPr lang="en-US" sz="1120" dirty="0">
                  <a:solidFill>
                    <a:srgbClr val="9DB0D0"/>
                  </a:solidFill>
                  <a:latin typeface="+mn-lt"/>
                  <a:ea typeface="+mn-ea"/>
                  <a:cs typeface="+mn-cs"/>
                </a:rPr>
                <a:t>away quality, pushing FID to 12.31.</a:t>
              </a:r>
            </a:p>
          </p:txBody>
        </p:sp>
      </p:grpSp>
      <p:sp>
        <p:nvSpPr>
          <p:cNvPr id="33" name="cue_s08_c1_ablations_all_run_under_fair" title="cue_s08_c1_ablations_all_run_under_fair" descr="cue_s08_c1_ablations_all_run_under_fair The ablations, all run under a fair ninety-six-hour training budget, isolate each design choice. Swapping TOCS for plain NOCS raises FID from about eight point three to eight point nine and blurs the conditioning signal, showing template-space coordinates matt"/>
          <p:cNvSpPr/>
          <p:nvPr/>
        </p:nvSpPr>
        <p:spPr>
          <a:xfrm>
            <a:off x="571804" y="12193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8_c2_removing_deformable_module_direct_oc" title="cue_s08_c2_removing_deformable_module_direct_oc" descr="cue_s08_c2_removing_deformable_module_direct_oc Removing the deformable module and using a direct occupancy network instead keeps FID similar but drastically worsens the consistency scores, proving the value of modelling shape through deformation."/>
          <p:cNvSpPr/>
          <p:nvPr/>
        </p:nvSpPr>
        <p:spPr>
          <a:xfrm>
            <a:off x="6210604" y="12193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8_c3_switching_late_fusion_early_fusion" title="cue_s08_c3_switching_late_fusion_early_fusion" descr="cue_s08_c3_switching_late_fusion_early_fusion Switching from late fusion to early fusion nudges FID down slightly but badly hurts alpha consistency, letting foreground and background bleed together."/>
          <p:cNvSpPr/>
          <p:nvPr/>
        </p:nvSpPr>
        <p:spPr>
          <a:xfrm>
            <a:off x="571804" y="39625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8_c4_finally_directly_optimizing_view_con" title="cue_s08_c4_finally_directly_optimizing_view_con" descr="cue_s08_c4_finally_directly_optimizing_view_con Finally, directly optimizing view consistency as a differentiable loss does improve that metric, from nearly sixteen down to eight, but it trades away image quality, pushing FID up to twelve point three."/>
          <p:cNvSpPr/>
          <p:nvPr/>
        </p:nvSpPr>
        <p:spPr>
          <a:xfrm>
            <a:off x="6210604" y="39625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38150"/>
            <a:ext cx="57150" cy="323850"/>
          </a:xfrm>
          <a:prstGeom prst="roundRect">
            <a:avLst>
              <a:gd name="adj" fmla="val 50000"/>
            </a:avLst>
          </a:prstGeom>
          <a:solidFill>
            <a:schemeClr val="accent2"/>
          </a:solidFill>
          <a:ln>
            <a:noFill/>
          </a:ln>
        </p:spPr>
        <p:txBody>
          <a:bodyPr/>
          <a:p/>
        </p:txBody>
      </p:sp>
      <p:sp>
        <p:nvSpPr>
          <p:cNvPr id="3" name="TextBox 3"/>
          <p:cNvSpPr txBox="1"/>
          <p:nvPr/>
        </p:nvSpPr>
        <p:spPr>
          <a:xfrm>
            <a:off x="794385" y="450056"/>
            <a:ext cx="1753301" cy="220028"/>
          </a:xfrm>
          <a:prstGeom prst="rect">
            <a:avLst/>
          </a:prstGeom>
          <a:noFill/>
          <a:ln>
            <a:noFill/>
          </a:ln>
        </p:spPr>
        <p:txBody>
          <a:bodyPr wrap="none" lIns="0" tIns="0" rIns="0" bIns="0" anchor="t" anchorCtr="0">
            <a:spAutoFit/>
          </a:bodyPr>
          <a:lstStyle/>
          <a:p>
            <a:pPr algn="l"/>
            <a:r>
              <a:rPr lang="en-US" sz="1120" b="1" spc="150" dirty="0">
                <a:solidFill>
                  <a:srgbClr val="33D6C0"/>
                </a:solidFill>
                <a:latin typeface="+mn-lt"/>
                <a:ea typeface="+mn-ea"/>
                <a:cs typeface="+mn-cs"/>
              </a:rPr>
              <a:t>HEADLINE NUMBERS</a:t>
            </a:r>
          </a:p>
        </p:txBody>
      </p:sp>
      <p:sp>
        <p:nvSpPr>
          <p:cNvPr id="4" name="TextBox 4"/>
          <p:cNvSpPr txBox="1"/>
          <p:nvPr/>
        </p:nvSpPr>
        <p:spPr>
          <a:xfrm>
            <a:off x="788670" y="595312"/>
            <a:ext cx="423178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impact in four numbers</a:t>
            </a:r>
          </a:p>
        </p:txBody>
      </p:sp>
      <p:grpSp>
        <p:nvGrpSpPr>
          <p:cNvPr id="11" name="Group 11"/>
          <p:cNvGrpSpPr/>
          <p:nvPr/>
        </p:nvGrpSpPr>
        <p:grpSpPr>
          <a:xfrm>
            <a:off x="571500" y="1219200"/>
            <a:ext cx="5410200" cy="2514600"/>
            <a:chOff x="571500" y="1219200"/>
            <a:chExt cx="5410200" cy="2514600"/>
          </a:xfrm>
        </p:grpSpPr>
        <p:sp>
          <p:nvSpPr>
            <p:cNvPr id="5" name="Rectangle 5"/>
            <p:cNvSpPr/>
            <p:nvPr/>
          </p:nvSpPr>
          <p:spPr>
            <a:xfrm>
              <a:off x="571500" y="1219200"/>
              <a:ext cx="5410200" cy="2514600"/>
            </a:xfrm>
            <a:prstGeom prst="roundRect">
              <a:avLst>
                <a:gd name="adj" fmla="val 5303"/>
              </a:avLst>
            </a:prstGeom>
            <a:solidFill>
              <a:schemeClr val="accent5"/>
            </a:solidFill>
            <a:ln w="14288">
              <a:solidFill>
                <a:srgbClr val="2E3D5E"/>
              </a:solidFill>
            </a:ln>
          </p:spPr>
        </p:sp>
        <p:sp>
          <p:nvSpPr>
            <p:cNvPr id="6" name="Rectangle 6"/>
            <p:cNvSpPr/>
            <p:nvPr/>
          </p:nvSpPr>
          <p:spPr>
            <a:xfrm>
              <a:off x="742950" y="1428750"/>
              <a:ext cx="47625" cy="247650"/>
            </a:xfrm>
            <a:prstGeom prst="roundRect">
              <a:avLst>
                <a:gd name="adj" fmla="val 50000"/>
              </a:avLst>
            </a:prstGeom>
            <a:solidFill>
              <a:srgbClr val="48D982"/>
            </a:solidFill>
            <a:ln>
              <a:noFill/>
            </a:ln>
          </p:spPr>
        </p:sp>
        <p:sp>
          <p:nvSpPr>
            <p:cNvPr id="7" name="TextBox 7"/>
            <p:cNvSpPr txBox="1"/>
            <p:nvPr/>
          </p:nvSpPr>
          <p:spPr>
            <a:xfrm>
              <a:off x="895350" y="1658302"/>
              <a:ext cx="1297537" cy="790575"/>
            </a:xfrm>
            <a:prstGeom prst="rect">
              <a:avLst/>
            </a:prstGeom>
            <a:noFill/>
            <a:ln>
              <a:noFill/>
            </a:ln>
          </p:spPr>
          <p:txBody>
            <a:bodyPr wrap="none" lIns="0" tIns="0" rIns="0" bIns="0" anchor="t" anchorCtr="0">
              <a:spAutoFit/>
            </a:bodyPr>
            <a:lstStyle/>
            <a:p>
              <a:pPr algn="l"/>
              <a:r>
                <a:rPr lang="en-US" sz="4050" b="1" dirty="0">
                  <a:solidFill>
                    <a:srgbClr val="48D982"/>
                  </a:solidFill>
                  <a:latin typeface="+mn-lt"/>
                  <a:ea typeface="+mn-ea"/>
                  <a:cs typeface="+mn-cs"/>
                </a:rPr>
                <a:t>7.91</a:t>
              </a:r>
            </a:p>
          </p:txBody>
        </p:sp>
        <p:sp>
          <p:nvSpPr>
            <p:cNvPr id="8" name="TextBox 8"/>
            <p:cNvSpPr txBox="1"/>
            <p:nvPr/>
          </p:nvSpPr>
          <p:spPr>
            <a:xfrm>
              <a:off x="927735" y="2240756"/>
              <a:ext cx="697254" cy="220028"/>
            </a:xfrm>
            <a:prstGeom prst="rect">
              <a:avLst/>
            </a:prstGeom>
            <a:noFill/>
            <a:ln>
              <a:noFill/>
            </a:ln>
          </p:spPr>
          <p:txBody>
            <a:bodyPr wrap="none" lIns="0" tIns="0" rIns="0" bIns="0" anchor="t" anchorCtr="0">
              <a:spAutoFit/>
            </a:bodyPr>
            <a:lstStyle/>
            <a:p>
              <a:pPr algn="l"/>
              <a:r>
                <a:rPr lang="en-US" sz="1120" b="1" dirty="0">
                  <a:solidFill>
                    <a:srgbClr val="9DB0D0"/>
                  </a:solidFill>
                  <a:latin typeface="+mn-lt"/>
                  <a:ea typeface="+mn-ea"/>
                  <a:cs typeface="+mn-cs"/>
                </a:rPr>
                <a:t>FFHQ FID</a:t>
              </a:r>
            </a:p>
          </p:txBody>
        </p:sp>
        <p:sp>
          <p:nvSpPr>
            <p:cNvPr id="9" name="TextBox 9"/>
            <p:cNvSpPr txBox="1"/>
            <p:nvPr/>
          </p:nvSpPr>
          <p:spPr>
            <a:xfrm>
              <a:off x="775526" y="2587704"/>
              <a:ext cx="2715844" cy="212693"/>
            </a:xfrm>
            <a:prstGeom prst="rect">
              <a:avLst/>
            </a:prstGeom>
            <a:noFill/>
            <a:ln>
              <a:noFill/>
            </a:ln>
          </p:spPr>
          <p:txBody>
            <a:bodyPr wrap="none" lIns="0" tIns="0" rIns="0" bIns="0" anchor="t" anchorCtr="0">
              <a:spAutoFit/>
            </a:bodyPr>
            <a:lstStyle/>
            <a:p>
              <a:pPr algn="l"/>
              <a:r>
                <a:rPr lang="en-US" sz="1090" dirty="0">
                  <a:solidFill>
                    <a:srgbClr val="9DB0D0"/>
                  </a:solidFill>
                  <a:latin typeface="+mn-lt"/>
                  <a:ea typeface="+mn-ea"/>
                  <a:cs typeface="+mn-cs"/>
                </a:rPr>
                <a:t>vs 28.18 for Disentangled3D, the only</a:t>
              </a:r>
            </a:p>
          </p:txBody>
        </p:sp>
        <p:sp>
          <p:nvSpPr>
            <p:cNvPr id="10" name="TextBox 10"/>
            <p:cNvSpPr txBox="1"/>
            <p:nvPr/>
          </p:nvSpPr>
          <p:spPr>
            <a:xfrm>
              <a:off x="775526" y="2797254"/>
              <a:ext cx="2505558" cy="212693"/>
            </a:xfrm>
            <a:prstGeom prst="rect">
              <a:avLst/>
            </a:prstGeom>
            <a:noFill/>
            <a:ln>
              <a:noFill/>
            </a:ln>
          </p:spPr>
          <p:txBody>
            <a:bodyPr wrap="none" lIns="0" tIns="0" rIns="0" bIns="0" anchor="t" anchorCtr="0">
              <a:spAutoFit/>
            </a:bodyPr>
            <a:lstStyle/>
            <a:p>
              <a:pPr algn="l"/>
              <a:r>
                <a:rPr lang="en-US" sz="1090" dirty="0">
                  <a:solidFill>
                    <a:srgbClr val="9DB0D0"/>
                  </a:solidFill>
                  <a:latin typeface="+mn-lt"/>
                  <a:ea typeface="+mn-ea"/>
                  <a:cs typeface="+mn-cs"/>
                </a:rPr>
                <a:t>other template-based competitor.</a:t>
              </a:r>
            </a:p>
          </p:txBody>
        </p:sp>
      </p:grpSp>
      <p:grpSp>
        <p:nvGrpSpPr>
          <p:cNvPr id="18" name="Group 18"/>
          <p:cNvGrpSpPr/>
          <p:nvPr/>
        </p:nvGrpSpPr>
        <p:grpSpPr>
          <a:xfrm>
            <a:off x="6210300" y="1219200"/>
            <a:ext cx="5410200" cy="2514600"/>
            <a:chOff x="6210300" y="1219200"/>
            <a:chExt cx="5410200" cy="2514600"/>
          </a:xfrm>
        </p:grpSpPr>
        <p:sp>
          <p:nvSpPr>
            <p:cNvPr id="12" name="Rectangle 12"/>
            <p:cNvSpPr/>
            <p:nvPr/>
          </p:nvSpPr>
          <p:spPr>
            <a:xfrm>
              <a:off x="6210300" y="1219200"/>
              <a:ext cx="5410200" cy="2514600"/>
            </a:xfrm>
            <a:prstGeom prst="roundRect">
              <a:avLst>
                <a:gd name="adj" fmla="val 5303"/>
              </a:avLst>
            </a:prstGeom>
            <a:solidFill>
              <a:schemeClr val="accent5"/>
            </a:solidFill>
            <a:ln w="14288">
              <a:solidFill>
                <a:srgbClr val="2E3D5E"/>
              </a:solidFill>
            </a:ln>
          </p:spPr>
        </p:sp>
        <p:sp>
          <p:nvSpPr>
            <p:cNvPr id="13" name="Rectangle 13"/>
            <p:cNvSpPr/>
            <p:nvPr/>
          </p:nvSpPr>
          <p:spPr>
            <a:xfrm>
              <a:off x="6381750" y="1428750"/>
              <a:ext cx="47625" cy="247650"/>
            </a:xfrm>
            <a:prstGeom prst="roundRect">
              <a:avLst>
                <a:gd name="adj" fmla="val 50000"/>
              </a:avLst>
            </a:prstGeom>
            <a:solidFill>
              <a:srgbClr val="33D6C0"/>
            </a:solidFill>
            <a:ln>
              <a:noFill/>
            </a:ln>
          </p:spPr>
        </p:sp>
        <p:sp>
          <p:nvSpPr>
            <p:cNvPr id="14" name="TextBox 14"/>
            <p:cNvSpPr txBox="1"/>
            <p:nvPr/>
          </p:nvSpPr>
          <p:spPr>
            <a:xfrm>
              <a:off x="6540246" y="1820228"/>
              <a:ext cx="3432114" cy="498729"/>
            </a:xfrm>
            <a:prstGeom prst="rect">
              <a:avLst/>
            </a:prstGeom>
            <a:noFill/>
            <a:ln>
              <a:noFill/>
            </a:ln>
          </p:spPr>
          <p:txBody>
            <a:bodyPr wrap="none" lIns="0" tIns="0" rIns="0" bIns="0" anchor="t" anchorCtr="0">
              <a:spAutoFit/>
            </a:bodyPr>
            <a:lstStyle/>
            <a:p>
              <a:pPr algn="l"/>
              <a:r>
                <a:rPr lang="en-US" sz="2550" b="1" dirty="0">
                  <a:solidFill>
                    <a:srgbClr val="33D6C0"/>
                  </a:solidFill>
                  <a:latin typeface="+mn-lt"/>
                  <a:ea typeface="+mn-ea"/>
                  <a:cs typeface="+mn-cs"/>
                </a:rPr>
                <a:t>4.29 / 3.49 / 13.95</a:t>
              </a:r>
            </a:p>
          </p:txBody>
        </p:sp>
        <p:sp>
          <p:nvSpPr>
            <p:cNvPr id="15" name="TextBox 15"/>
            <p:cNvSpPr txBox="1"/>
            <p:nvPr/>
          </p:nvSpPr>
          <p:spPr>
            <a:xfrm>
              <a:off x="6566535" y="2240756"/>
              <a:ext cx="1844670" cy="220028"/>
            </a:xfrm>
            <a:prstGeom prst="rect">
              <a:avLst/>
            </a:prstGeom>
            <a:noFill/>
            <a:ln>
              <a:noFill/>
            </a:ln>
          </p:spPr>
          <p:txBody>
            <a:bodyPr wrap="none" lIns="0" tIns="0" rIns="0" bIns="0" anchor="t" anchorCtr="0">
              <a:spAutoFit/>
            </a:bodyPr>
            <a:lstStyle/>
            <a:p>
              <a:pPr algn="l"/>
              <a:r>
                <a:rPr lang="en-US" sz="1120" b="1" dirty="0">
                  <a:solidFill>
                    <a:srgbClr val="9DB0D0"/>
                  </a:solidFill>
                  <a:latin typeface="+mn-lt"/>
                  <a:ea typeface="+mn-ea"/>
                  <a:cs typeface="+mn-cs"/>
                </a:rPr>
                <a:t>AFHQ Cats / Wild / Dogs</a:t>
              </a:r>
            </a:p>
          </p:txBody>
        </p:sp>
        <p:sp>
          <p:nvSpPr>
            <p:cNvPr id="16" name="TextBox 16"/>
            <p:cNvSpPr txBox="1"/>
            <p:nvPr/>
          </p:nvSpPr>
          <p:spPr>
            <a:xfrm>
              <a:off x="6414326" y="2587704"/>
              <a:ext cx="2488773" cy="212693"/>
            </a:xfrm>
            <a:prstGeom prst="rect">
              <a:avLst/>
            </a:prstGeom>
            <a:noFill/>
            <a:ln>
              <a:noFill/>
            </a:ln>
          </p:spPr>
          <p:txBody>
            <a:bodyPr wrap="none" lIns="0" tIns="0" rIns="0" bIns="0" anchor="t" anchorCtr="0">
              <a:spAutoFit/>
            </a:bodyPr>
            <a:lstStyle/>
            <a:p>
              <a:pPr algn="l"/>
              <a:r>
                <a:rPr lang="en-US" sz="1090" dirty="0">
                  <a:solidFill>
                    <a:srgbClr val="9DB0D0"/>
                  </a:solidFill>
                  <a:latin typeface="+mn-lt"/>
                  <a:ea typeface="+mn-ea"/>
                  <a:cs typeface="+mn-cs"/>
                </a:rPr>
                <a:t>Cats 4.29 · Wild 3.49 · Dogs 13.95</a:t>
              </a:r>
            </a:p>
          </p:txBody>
        </p:sp>
        <p:sp>
          <p:nvSpPr>
            <p:cNvPr id="17" name="TextBox 17"/>
            <p:cNvSpPr txBox="1"/>
            <p:nvPr/>
          </p:nvSpPr>
          <p:spPr>
            <a:xfrm>
              <a:off x="6414326" y="2797254"/>
              <a:ext cx="2439526" cy="212693"/>
            </a:xfrm>
            <a:prstGeom prst="rect">
              <a:avLst/>
            </a:prstGeom>
            <a:noFill/>
            <a:ln>
              <a:noFill/>
            </a:ln>
          </p:spPr>
          <p:txBody>
            <a:bodyPr wrap="none" lIns="0" tIns="0" rIns="0" bIns="0" anchor="t" anchorCtr="0">
              <a:spAutoFit/>
            </a:bodyPr>
            <a:lstStyle/>
            <a:p>
              <a:pPr algn="l"/>
              <a:r>
                <a:rPr lang="en-US" sz="1090" dirty="0">
                  <a:solidFill>
                    <a:srgbClr val="9DB0D0"/>
                  </a:solidFill>
                  <a:latin typeface="+mn-lt"/>
                  <a:ea typeface="+mn-ea"/>
                  <a:cs typeface="+mn-cs"/>
                </a:rPr>
                <a:t>— photorealism well beyond faces.</a:t>
              </a:r>
            </a:p>
          </p:txBody>
        </p:sp>
      </p:grpSp>
      <p:grpSp>
        <p:nvGrpSpPr>
          <p:cNvPr id="25" name="Group 25"/>
          <p:cNvGrpSpPr/>
          <p:nvPr/>
        </p:nvGrpSpPr>
        <p:grpSpPr>
          <a:xfrm>
            <a:off x="571500" y="3962400"/>
            <a:ext cx="5410200" cy="2514600"/>
            <a:chOff x="571500" y="3962400"/>
            <a:chExt cx="5410200" cy="2514600"/>
          </a:xfrm>
        </p:grpSpPr>
        <p:sp>
          <p:nvSpPr>
            <p:cNvPr id="19" name="Rectangle 19"/>
            <p:cNvSpPr/>
            <p:nvPr/>
          </p:nvSpPr>
          <p:spPr>
            <a:xfrm>
              <a:off x="571500" y="3962400"/>
              <a:ext cx="5410200" cy="2514600"/>
            </a:xfrm>
            <a:prstGeom prst="roundRect">
              <a:avLst>
                <a:gd name="adj" fmla="val 5303"/>
              </a:avLst>
            </a:prstGeom>
            <a:solidFill>
              <a:schemeClr val="accent5"/>
            </a:solidFill>
            <a:ln w="14288">
              <a:solidFill>
                <a:srgbClr val="2E3D5E"/>
              </a:solidFill>
            </a:ln>
          </p:spPr>
        </p:sp>
        <p:sp>
          <p:nvSpPr>
            <p:cNvPr id="20" name="Rectangle 20"/>
            <p:cNvSpPr/>
            <p:nvPr/>
          </p:nvSpPr>
          <p:spPr>
            <a:xfrm>
              <a:off x="742950" y="4171950"/>
              <a:ext cx="47625" cy="247650"/>
            </a:xfrm>
            <a:prstGeom prst="roundRect">
              <a:avLst>
                <a:gd name="adj" fmla="val 50000"/>
              </a:avLst>
            </a:prstGeom>
            <a:solidFill>
              <a:srgbClr val="FFCF5C"/>
            </a:solidFill>
            <a:ln>
              <a:noFill/>
            </a:ln>
          </p:spPr>
        </p:sp>
        <p:sp>
          <p:nvSpPr>
            <p:cNvPr id="21" name="TextBox 21"/>
            <p:cNvSpPr txBox="1"/>
            <p:nvPr/>
          </p:nvSpPr>
          <p:spPr>
            <a:xfrm>
              <a:off x="895350" y="4401502"/>
              <a:ext cx="1297537" cy="790575"/>
            </a:xfrm>
            <a:prstGeom prst="rect">
              <a:avLst/>
            </a:prstGeom>
            <a:noFill/>
            <a:ln>
              <a:noFill/>
            </a:ln>
          </p:spPr>
          <p:txBody>
            <a:bodyPr wrap="none" lIns="0" tIns="0" rIns="0" bIns="0" anchor="t" anchorCtr="0">
              <a:spAutoFit/>
            </a:bodyPr>
            <a:lstStyle/>
            <a:p>
              <a:pPr algn="l"/>
              <a:r>
                <a:rPr lang="en-US" sz="4050" b="1" dirty="0">
                  <a:solidFill>
                    <a:srgbClr val="FFCF5C"/>
                  </a:solidFill>
                  <a:latin typeface="+mn-lt"/>
                  <a:ea typeface="+mn-ea"/>
                  <a:cs typeface="+mn-cs"/>
                </a:rPr>
                <a:t>8.31</a:t>
              </a:r>
            </a:p>
          </p:txBody>
        </p:sp>
        <p:sp>
          <p:nvSpPr>
            <p:cNvPr id="22" name="TextBox 22"/>
            <p:cNvSpPr txBox="1"/>
            <p:nvPr/>
          </p:nvSpPr>
          <p:spPr>
            <a:xfrm>
              <a:off x="927735" y="4983956"/>
              <a:ext cx="1751082" cy="220028"/>
            </a:xfrm>
            <a:prstGeom prst="rect">
              <a:avLst/>
            </a:prstGeom>
            <a:noFill/>
            <a:ln>
              <a:noFill/>
            </a:ln>
          </p:spPr>
          <p:txBody>
            <a:bodyPr wrap="none" lIns="0" tIns="0" rIns="0" bIns="0" anchor="t" anchorCtr="0">
              <a:spAutoFit/>
            </a:bodyPr>
            <a:lstStyle/>
            <a:p>
              <a:pPr algn="l"/>
              <a:r>
                <a:rPr lang="en-US" sz="1120" b="1" dirty="0">
                  <a:solidFill>
                    <a:srgbClr val="9DB0D0"/>
                  </a:solidFill>
                  <a:latin typeface="+mn-lt"/>
                  <a:ea typeface="+mn-ea"/>
                  <a:cs typeface="+mn-cs"/>
                </a:rPr>
                <a:t>TOCS FID (NOCS 8.90)</a:t>
              </a:r>
            </a:p>
          </p:txBody>
        </p:sp>
        <p:sp>
          <p:nvSpPr>
            <p:cNvPr id="23" name="TextBox 23"/>
            <p:cNvSpPr txBox="1"/>
            <p:nvPr/>
          </p:nvSpPr>
          <p:spPr>
            <a:xfrm>
              <a:off x="775526" y="5330904"/>
              <a:ext cx="2700536" cy="212693"/>
            </a:xfrm>
            <a:prstGeom prst="rect">
              <a:avLst/>
            </a:prstGeom>
            <a:noFill/>
            <a:ln>
              <a:noFill/>
            </a:ln>
          </p:spPr>
          <p:txBody>
            <a:bodyPr wrap="none" lIns="0" tIns="0" rIns="0" bIns="0" anchor="t" anchorCtr="0">
              <a:spAutoFit/>
            </a:bodyPr>
            <a:lstStyle/>
            <a:p>
              <a:pPr algn="l"/>
              <a:r>
                <a:rPr lang="en-US" sz="1090" dirty="0">
                  <a:solidFill>
                    <a:srgbClr val="9DB0D0"/>
                  </a:solidFill>
                  <a:latin typeface="+mn-lt"/>
                  <a:ea typeface="+mn-ea"/>
                  <a:cs typeface="+mn-cs"/>
                </a:rPr>
                <a:t>Template coordinates improve FID and</a:t>
              </a:r>
            </a:p>
          </p:txBody>
        </p:sp>
        <p:sp>
          <p:nvSpPr>
            <p:cNvPr id="24" name="TextBox 24"/>
            <p:cNvSpPr txBox="1"/>
            <p:nvPr/>
          </p:nvSpPr>
          <p:spPr>
            <a:xfrm>
              <a:off x="775526" y="5540454"/>
              <a:ext cx="2556915" cy="212693"/>
            </a:xfrm>
            <a:prstGeom prst="rect">
              <a:avLst/>
            </a:prstGeom>
            <a:noFill/>
            <a:ln>
              <a:noFill/>
            </a:ln>
          </p:spPr>
          <p:txBody>
            <a:bodyPr wrap="none" lIns="0" tIns="0" rIns="0" bIns="0" anchor="t" anchorCtr="0">
              <a:spAutoFit/>
            </a:bodyPr>
            <a:lstStyle/>
            <a:p>
              <a:pPr algn="l"/>
              <a:r>
                <a:rPr lang="en-US" sz="1090" dirty="0">
                  <a:solidFill>
                    <a:srgbClr val="9DB0D0"/>
                  </a:solidFill>
                  <a:latin typeface="+mn-lt"/>
                  <a:ea typeface="+mn-ea"/>
                  <a:cs typeface="+mn-cs"/>
                </a:rPr>
                <a:t>sharpen disentanglement together.</a:t>
              </a:r>
            </a:p>
          </p:txBody>
        </p:sp>
      </p:grpSp>
      <p:grpSp>
        <p:nvGrpSpPr>
          <p:cNvPr id="32" name="Group 32"/>
          <p:cNvGrpSpPr/>
          <p:nvPr/>
        </p:nvGrpSpPr>
        <p:grpSpPr>
          <a:xfrm>
            <a:off x="6210300" y="3962400"/>
            <a:ext cx="5410200" cy="2514600"/>
            <a:chOff x="6210300" y="3962400"/>
            <a:chExt cx="5410200" cy="2514600"/>
          </a:xfrm>
        </p:grpSpPr>
        <p:sp>
          <p:nvSpPr>
            <p:cNvPr id="26" name="Rectangle 26"/>
            <p:cNvSpPr/>
            <p:nvPr/>
          </p:nvSpPr>
          <p:spPr>
            <a:xfrm>
              <a:off x="6210300" y="3962400"/>
              <a:ext cx="5410200" cy="2514600"/>
            </a:xfrm>
            <a:prstGeom prst="roundRect">
              <a:avLst>
                <a:gd name="adj" fmla="val 5303"/>
              </a:avLst>
            </a:prstGeom>
            <a:solidFill>
              <a:schemeClr val="accent5"/>
            </a:solidFill>
            <a:ln w="14288">
              <a:solidFill>
                <a:srgbClr val="2E3D5E"/>
              </a:solidFill>
            </a:ln>
          </p:spPr>
        </p:sp>
        <p:sp>
          <p:nvSpPr>
            <p:cNvPr id="27" name="Rectangle 27"/>
            <p:cNvSpPr/>
            <p:nvPr/>
          </p:nvSpPr>
          <p:spPr>
            <a:xfrm>
              <a:off x="6381750" y="4171950"/>
              <a:ext cx="47625" cy="247650"/>
            </a:xfrm>
            <a:prstGeom prst="roundRect">
              <a:avLst>
                <a:gd name="adj" fmla="val 50000"/>
              </a:avLst>
            </a:prstGeom>
            <a:solidFill>
              <a:schemeClr val="accent2"/>
            </a:solidFill>
            <a:ln>
              <a:noFill/>
            </a:ln>
          </p:spPr>
        </p:sp>
        <p:sp>
          <p:nvSpPr>
            <p:cNvPr id="28" name="TextBox 28"/>
            <p:cNvSpPr txBox="1"/>
            <p:nvPr/>
          </p:nvSpPr>
          <p:spPr>
            <a:xfrm>
              <a:off x="6534150" y="4401502"/>
              <a:ext cx="1326161" cy="790575"/>
            </a:xfrm>
            <a:prstGeom prst="rect">
              <a:avLst/>
            </a:prstGeom>
            <a:noFill/>
            <a:ln>
              <a:noFill/>
            </a:ln>
          </p:spPr>
          <p:txBody>
            <a:bodyPr wrap="none" lIns="0" tIns="0" rIns="0" bIns="0" anchor="t" anchorCtr="0">
              <a:spAutoFit/>
            </a:bodyPr>
            <a:lstStyle/>
            <a:p>
              <a:pPr algn="l"/>
              <a:r>
                <a:rPr lang="en-US" sz="4050" b="1" dirty="0">
                  <a:solidFill>
                    <a:schemeClr val="accent2"/>
                  </a:solidFill>
                  <a:latin typeface="+mn-lt"/>
                  <a:ea typeface="+mn-ea"/>
                  <a:cs typeface="+mn-cs"/>
                </a:rPr>
                <a:t>4 / 0</a:t>
              </a:r>
            </a:p>
          </p:txBody>
        </p:sp>
        <p:sp>
          <p:nvSpPr>
            <p:cNvPr id="29" name="TextBox 29"/>
            <p:cNvSpPr txBox="1"/>
            <p:nvPr/>
          </p:nvSpPr>
          <p:spPr>
            <a:xfrm>
              <a:off x="6566535" y="4983956"/>
              <a:ext cx="1473799" cy="220028"/>
            </a:xfrm>
            <a:prstGeom prst="rect">
              <a:avLst/>
            </a:prstGeom>
            <a:noFill/>
            <a:ln>
              <a:noFill/>
            </a:ln>
          </p:spPr>
          <p:txBody>
            <a:bodyPr wrap="none" lIns="0" tIns="0" rIns="0" bIns="0" anchor="t" anchorCtr="0">
              <a:spAutoFit/>
            </a:bodyPr>
            <a:lstStyle/>
            <a:p>
              <a:pPr algn="l"/>
              <a:r>
                <a:rPr lang="en-US" sz="1120" b="1" dirty="0">
                  <a:solidFill>
                    <a:srgbClr val="9DB0D0"/>
                  </a:solidFill>
                  <a:latin typeface="+mn-lt"/>
                  <a:ea typeface="+mn-ea"/>
                  <a:cs typeface="+mn-cs"/>
                </a:rPr>
                <a:t>factors / 3D labels</a:t>
              </a:r>
            </a:p>
          </p:txBody>
        </p:sp>
        <p:sp>
          <p:nvSpPr>
            <p:cNvPr id="30" name="TextBox 30"/>
            <p:cNvSpPr txBox="1"/>
            <p:nvPr/>
          </p:nvSpPr>
          <p:spPr>
            <a:xfrm>
              <a:off x="6414326" y="5330904"/>
              <a:ext cx="2863095" cy="212693"/>
            </a:xfrm>
            <a:prstGeom prst="rect">
              <a:avLst/>
            </a:prstGeom>
            <a:noFill/>
            <a:ln>
              <a:noFill/>
            </a:ln>
          </p:spPr>
          <p:txBody>
            <a:bodyPr wrap="none" lIns="0" tIns="0" rIns="0" bIns="0" anchor="t" anchorCtr="0">
              <a:spAutoFit/>
            </a:bodyPr>
            <a:lstStyle/>
            <a:p>
              <a:pPr algn="l"/>
              <a:r>
                <a:rPr lang="en-US" sz="1090" dirty="0">
                  <a:solidFill>
                    <a:srgbClr val="9DB0D0"/>
                  </a:solidFill>
                  <a:latin typeface="+mn-lt"/>
                  <a:ea typeface="+mn-ea"/>
                  <a:cs typeface="+mn-cs"/>
                </a:rPr>
                <a:t>Shape, pose, object &amp; scene appearance</a:t>
              </a:r>
            </a:p>
          </p:txBody>
        </p:sp>
        <p:sp>
          <p:nvSpPr>
            <p:cNvPr id="31" name="TextBox 31"/>
            <p:cNvSpPr txBox="1"/>
            <p:nvPr/>
          </p:nvSpPr>
          <p:spPr>
            <a:xfrm>
              <a:off x="6414326" y="5540454"/>
              <a:ext cx="2496283" cy="212693"/>
            </a:xfrm>
            <a:prstGeom prst="rect">
              <a:avLst/>
            </a:prstGeom>
            <a:noFill/>
            <a:ln>
              <a:noFill/>
            </a:ln>
          </p:spPr>
          <p:txBody>
            <a:bodyPr wrap="none" lIns="0" tIns="0" rIns="0" bIns="0" anchor="t" anchorCtr="0">
              <a:spAutoFit/>
            </a:bodyPr>
            <a:lstStyle/>
            <a:p>
              <a:pPr algn="l"/>
              <a:r>
                <a:rPr lang="en-US" sz="1090" dirty="0">
                  <a:solidFill>
                    <a:srgbClr val="9DB0D0"/>
                  </a:solidFill>
                  <a:latin typeface="+mn-lt"/>
                  <a:ea typeface="+mn-ea"/>
                  <a:cs typeface="+mn-cs"/>
                </a:rPr>
                <a:t>— all learned from 2D images alone.</a:t>
              </a:r>
            </a:p>
          </p:txBody>
        </p:sp>
      </p:grpSp>
      <p:sp>
        <p:nvSpPr>
          <p:cNvPr id="33" name="cue_s09_c1_few_numbers_capture_impact_ffhq" title="cue_s09_c1_few_numbers_capture_impact_ffhq" descr="cue_s09_c1_few_numbers_capture_impact_ffhq A few numbers capture the impact. On FFHQ faces StyleMorph scores a seven point nine one FID, versus twenty-eight point one eight for the only competing template-based method."/>
          <p:cNvSpPr/>
          <p:nvPr/>
        </p:nvSpPr>
        <p:spPr>
          <a:xfrm>
            <a:off x="571804" y="12193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9_c2_animals_reaches_four_point_two" title="cue_s09_c2_animals_reaches_four_point_two" descr="cue_s09_c2_animals_reaches_four_point_two On animals it reaches four point two nine on cats, three point four nine on wild, and thirteen point nine five on dogs. It disentangles four independent factors: shape, camera pose, foreground appearance, and background appearance."/>
          <p:cNvSpPr/>
          <p:nvPr/>
        </p:nvSpPr>
        <p:spPr>
          <a:xfrm>
            <a:off x="6210604" y="12193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9_c3_core_tocs_versus_nocs_ablation_shows" title="cue_s09_c3_core_tocs_versus_nocs_ablation_shows" descr="cue_s09_c3_core_tocs_versus_nocs_ablation_shows And the core TOCS-versus-NOCS ablation shows template coordinates improving FID from eight point nine to eight point three while also sharpening disentanglement."/>
          <p:cNvSpPr/>
          <p:nvPr/>
        </p:nvSpPr>
        <p:spPr>
          <a:xfrm>
            <a:off x="571804" y="39625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9_c4_all_learned_unstructured_2_images" title="cue_s09_c4_all_learned_unstructured_2_images" descr="cue_s09_c4_all_learned_unstructured_2_images All of this is learned from unstructured 2D images, with no 3D supervision at all."/>
          <p:cNvSpPr/>
          <p:nvPr/>
        </p:nvSpPr>
        <p:spPr>
          <a:xfrm>
            <a:off x="6210604" y="3962552"/>
            <a:ext cx="54095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38150"/>
            <a:ext cx="57150" cy="323850"/>
          </a:xfrm>
          <a:prstGeom prst="roundRect">
            <a:avLst>
              <a:gd name="adj" fmla="val 50000"/>
            </a:avLst>
          </a:prstGeom>
          <a:solidFill>
            <a:schemeClr val="accent2"/>
          </a:solidFill>
          <a:ln>
            <a:noFill/>
          </a:ln>
        </p:spPr>
        <p:txBody>
          <a:bodyPr/>
          <a:p/>
        </p:txBody>
      </p:sp>
      <p:sp>
        <p:nvSpPr>
          <p:cNvPr id="3" name="TextBox 3"/>
          <p:cNvSpPr txBox="1"/>
          <p:nvPr/>
        </p:nvSpPr>
        <p:spPr>
          <a:xfrm>
            <a:off x="794385" y="450056"/>
            <a:ext cx="930244" cy="220028"/>
          </a:xfrm>
          <a:prstGeom prst="rect">
            <a:avLst/>
          </a:prstGeom>
          <a:noFill/>
          <a:ln>
            <a:noFill/>
          </a:ln>
        </p:spPr>
        <p:txBody>
          <a:bodyPr wrap="none" lIns="0" tIns="0" rIns="0" bIns="0" anchor="t" anchorCtr="0">
            <a:spAutoFit/>
          </a:bodyPr>
          <a:lstStyle/>
          <a:p>
            <a:pPr algn="l"/>
            <a:r>
              <a:rPr lang="en-US" sz="1120" b="1" spc="150" dirty="0">
                <a:solidFill>
                  <a:srgbClr val="33D6C0"/>
                </a:solidFill>
                <a:latin typeface="+mn-lt"/>
                <a:ea typeface="+mn-ea"/>
                <a:cs typeface="+mn-cs"/>
              </a:rPr>
              <a:t>TAKEAWAY</a:t>
            </a:r>
          </a:p>
        </p:txBody>
      </p:sp>
      <p:sp>
        <p:nvSpPr>
          <p:cNvPr id="4" name="TextBox 4"/>
          <p:cNvSpPr txBox="1"/>
          <p:nvPr/>
        </p:nvSpPr>
        <p:spPr>
          <a:xfrm>
            <a:off x="788670" y="595312"/>
            <a:ext cx="596479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Morphable control, meet photorealism</a:t>
            </a:r>
          </a:p>
        </p:txBody>
      </p:sp>
      <p:grpSp>
        <p:nvGrpSpPr>
          <p:cNvPr id="11" name="Group 11"/>
          <p:cNvGrpSpPr/>
          <p:nvPr/>
        </p:nvGrpSpPr>
        <p:grpSpPr>
          <a:xfrm>
            <a:off x="571500" y="1219200"/>
            <a:ext cx="11049000" cy="1619250"/>
            <a:chOff x="571500" y="1219200"/>
            <a:chExt cx="11049000" cy="1619250"/>
          </a:xfrm>
        </p:grpSpPr>
        <p:sp>
          <p:nvSpPr>
            <p:cNvPr id="5" name="Rectangle 5"/>
            <p:cNvSpPr/>
            <p:nvPr/>
          </p:nvSpPr>
          <p:spPr>
            <a:xfrm>
              <a:off x="571500" y="1219200"/>
              <a:ext cx="11049000" cy="1619250"/>
            </a:xfrm>
            <a:prstGeom prst="roundRect">
              <a:avLst>
                <a:gd name="adj" fmla="val 8235"/>
              </a:avLst>
            </a:prstGeom>
            <a:solidFill>
              <a:schemeClr val="accent5"/>
            </a:solidFill>
            <a:ln w="14288">
              <a:solidFill>
                <a:srgbClr val="2E3D5E"/>
              </a:solidFill>
            </a:ln>
          </p:spPr>
        </p:sp>
        <p:sp>
          <p:nvSpPr>
            <p:cNvPr id="6" name="Rectangle 6"/>
            <p:cNvSpPr/>
            <p:nvPr/>
          </p:nvSpPr>
          <p:spPr>
            <a:xfrm>
              <a:off x="742950" y="1447800"/>
              <a:ext cx="47625" cy="266700"/>
            </a:xfrm>
            <a:prstGeom prst="roundRect">
              <a:avLst>
                <a:gd name="adj" fmla="val 50000"/>
              </a:avLst>
            </a:prstGeom>
            <a:solidFill>
              <a:schemeClr val="accent2"/>
            </a:solidFill>
            <a:ln>
              <a:noFill/>
            </a:ln>
          </p:spPr>
        </p:sp>
        <p:sp>
          <p:nvSpPr>
            <p:cNvPr id="7" name="TextBox 7"/>
            <p:cNvSpPr txBox="1"/>
            <p:nvPr/>
          </p:nvSpPr>
          <p:spPr>
            <a:xfrm>
              <a:off x="906399" y="1468279"/>
              <a:ext cx="2424399"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The one-line takeaway</a:t>
              </a:r>
            </a:p>
          </p:txBody>
        </p:sp>
        <p:sp>
          <p:nvSpPr>
            <p:cNvPr id="8" name="TextBox 8"/>
            <p:cNvSpPr txBox="1"/>
            <p:nvPr/>
          </p:nvSpPr>
          <p:spPr>
            <a:xfrm>
              <a:off x="927354" y="1832610"/>
              <a:ext cx="2946483" cy="234696"/>
            </a:xfrm>
            <a:prstGeom prst="rect">
              <a:avLst/>
            </a:prstGeom>
            <a:noFill/>
            <a:ln>
              <a:noFill/>
            </a:ln>
          </p:spPr>
          <p:txBody>
            <a:bodyPr wrap="none" lIns="0" tIns="0" rIns="0" bIns="0" anchor="t" anchorCtr="0">
              <a:spAutoFit/>
            </a:bodyPr>
            <a:lstStyle/>
            <a:p>
              <a:pPr algn="l"/>
              <a:r>
                <a:rPr lang="en-US" sz="1200" dirty="0">
                  <a:solidFill>
                    <a:srgbClr val="9DB0D0"/>
                  </a:solidFill>
                  <a:latin typeface="+mn-lt"/>
                  <a:ea typeface="+mn-ea"/>
                  <a:cs typeface="+mn-cs"/>
                </a:rPr>
                <a:t>StyleMorph delivers morphable-model</a:t>
              </a:r>
            </a:p>
          </p:txBody>
        </p:sp>
        <p:sp>
          <p:nvSpPr>
            <p:cNvPr id="9" name="TextBox 9"/>
            <p:cNvSpPr txBox="1"/>
            <p:nvPr/>
          </p:nvSpPr>
          <p:spPr>
            <a:xfrm>
              <a:off x="927354" y="2061210"/>
              <a:ext cx="3186532" cy="234696"/>
            </a:xfrm>
            <a:prstGeom prst="rect">
              <a:avLst/>
            </a:prstGeom>
            <a:noFill/>
            <a:ln>
              <a:noFill/>
            </a:ln>
          </p:spPr>
          <p:txBody>
            <a:bodyPr wrap="none" lIns="0" tIns="0" rIns="0" bIns="0" anchor="t" anchorCtr="0">
              <a:spAutoFit/>
            </a:bodyPr>
            <a:lstStyle/>
            <a:p>
              <a:pPr algn="l"/>
              <a:r>
                <a:rPr lang="en-US" sz="1200" dirty="0">
                  <a:solidFill>
                    <a:srgbClr val="9DB0D0"/>
                  </a:solidFill>
                  <a:latin typeface="+mn-lt"/>
                  <a:ea typeface="+mn-ea"/>
                  <a:cs typeface="+mn-cs"/>
                </a:rPr>
                <a:t>control inside a state-of-the-art image</a:t>
              </a:r>
            </a:p>
          </p:txBody>
        </p:sp>
        <p:sp>
          <p:nvSpPr>
            <p:cNvPr id="10" name="TextBox 10"/>
            <p:cNvSpPr txBox="1"/>
            <p:nvPr/>
          </p:nvSpPr>
          <p:spPr>
            <a:xfrm>
              <a:off x="927354" y="2289810"/>
              <a:ext cx="2869421" cy="234696"/>
            </a:xfrm>
            <a:prstGeom prst="rect">
              <a:avLst/>
            </a:prstGeom>
            <a:noFill/>
            <a:ln>
              <a:noFill/>
            </a:ln>
          </p:spPr>
          <p:txBody>
            <a:bodyPr wrap="none" lIns="0" tIns="0" rIns="0" bIns="0" anchor="t" anchorCtr="0">
              <a:spAutoFit/>
            </a:bodyPr>
            <a:lstStyle/>
            <a:p>
              <a:pPr algn="l"/>
              <a:r>
                <a:rPr lang="en-US" sz="1200" dirty="0">
                  <a:solidFill>
                    <a:srgbClr val="9DB0D0"/>
                  </a:solidFill>
                  <a:latin typeface="+mn-lt"/>
                  <a:ea typeface="+mn-ea"/>
                  <a:cs typeface="+mn-cs"/>
                </a:rPr>
                <a:t>generator, learned from 2D photos.</a:t>
              </a:r>
            </a:p>
          </p:txBody>
        </p:sp>
      </p:grpSp>
      <p:grpSp>
        <p:nvGrpSpPr>
          <p:cNvPr id="18" name="Group 18"/>
          <p:cNvGrpSpPr/>
          <p:nvPr/>
        </p:nvGrpSpPr>
        <p:grpSpPr>
          <a:xfrm>
            <a:off x="571500" y="3028950"/>
            <a:ext cx="11049000" cy="1619250"/>
            <a:chOff x="571500" y="3028950"/>
            <a:chExt cx="11049000" cy="1619250"/>
          </a:xfrm>
        </p:grpSpPr>
        <p:sp>
          <p:nvSpPr>
            <p:cNvPr id="12" name="Rectangle 12"/>
            <p:cNvSpPr/>
            <p:nvPr/>
          </p:nvSpPr>
          <p:spPr>
            <a:xfrm>
              <a:off x="571500" y="3028950"/>
              <a:ext cx="11049000" cy="1619250"/>
            </a:xfrm>
            <a:prstGeom prst="roundRect">
              <a:avLst>
                <a:gd name="adj" fmla="val 8235"/>
              </a:avLst>
            </a:prstGeom>
            <a:solidFill>
              <a:schemeClr val="accent5"/>
            </a:solidFill>
            <a:ln w="14288">
              <a:solidFill>
                <a:srgbClr val="2E3D5E"/>
              </a:solidFill>
            </a:ln>
          </p:spPr>
        </p:sp>
        <p:sp>
          <p:nvSpPr>
            <p:cNvPr id="13" name="Rectangle 13"/>
            <p:cNvSpPr/>
            <p:nvPr/>
          </p:nvSpPr>
          <p:spPr>
            <a:xfrm>
              <a:off x="742950" y="3257550"/>
              <a:ext cx="47625" cy="266700"/>
            </a:xfrm>
            <a:prstGeom prst="roundRect">
              <a:avLst>
                <a:gd name="adj" fmla="val 50000"/>
              </a:avLst>
            </a:prstGeom>
            <a:solidFill>
              <a:srgbClr val="33D6C0"/>
            </a:solidFill>
            <a:ln>
              <a:noFill/>
            </a:ln>
          </p:spPr>
        </p:sp>
        <p:sp>
          <p:nvSpPr>
            <p:cNvPr id="14" name="TextBox 14"/>
            <p:cNvSpPr txBox="1"/>
            <p:nvPr/>
          </p:nvSpPr>
          <p:spPr>
            <a:xfrm>
              <a:off x="906399" y="3278029"/>
              <a:ext cx="1419744"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How it works</a:t>
              </a:r>
            </a:p>
          </p:txBody>
        </p:sp>
        <p:sp>
          <p:nvSpPr>
            <p:cNvPr id="15" name="TextBox 15"/>
            <p:cNvSpPr txBox="1"/>
            <p:nvPr/>
          </p:nvSpPr>
          <p:spPr>
            <a:xfrm>
              <a:off x="927354" y="3642360"/>
              <a:ext cx="3143272" cy="234696"/>
            </a:xfrm>
            <a:prstGeom prst="rect">
              <a:avLst/>
            </a:prstGeom>
            <a:noFill/>
            <a:ln>
              <a:noFill/>
            </a:ln>
          </p:spPr>
          <p:txBody>
            <a:bodyPr wrap="none" lIns="0" tIns="0" rIns="0" bIns="0" anchor="t" anchorCtr="0">
              <a:spAutoFit/>
            </a:bodyPr>
            <a:lstStyle/>
            <a:p>
              <a:pPr algn="l"/>
              <a:r>
                <a:rPr lang="en-US" sz="1200" dirty="0">
                  <a:solidFill>
                    <a:srgbClr val="9DB0D0"/>
                  </a:solidFill>
                  <a:latin typeface="+mn-lt"/>
                  <a:ea typeface="+mn-ea"/>
                  <a:cs typeface="+mn-cs"/>
                </a:rPr>
                <a:t>Morph a learned canonical template into</a:t>
              </a:r>
            </a:p>
          </p:txBody>
        </p:sp>
        <p:sp>
          <p:nvSpPr>
            <p:cNvPr id="16" name="TextBox 16"/>
            <p:cNvSpPr txBox="1"/>
            <p:nvPr/>
          </p:nvSpPr>
          <p:spPr>
            <a:xfrm>
              <a:off x="927354" y="3870960"/>
              <a:ext cx="3143917" cy="234696"/>
            </a:xfrm>
            <a:prstGeom prst="rect">
              <a:avLst/>
            </a:prstGeom>
            <a:noFill/>
            <a:ln>
              <a:noFill/>
            </a:ln>
          </p:spPr>
          <p:txBody>
            <a:bodyPr wrap="none" lIns="0" tIns="0" rIns="0" bIns="0" anchor="t" anchorCtr="0">
              <a:spAutoFit/>
            </a:bodyPr>
            <a:lstStyle/>
            <a:p>
              <a:pPr algn="l"/>
              <a:r>
                <a:rPr lang="en-US" sz="1200" dirty="0">
                  <a:solidFill>
                    <a:srgbClr val="9DB0D0"/>
                  </a:solidFill>
                  <a:latin typeface="+mn-lt"/>
                  <a:ea typeface="+mn-ea"/>
                  <a:cs typeface="+mn-cs"/>
                </a:rPr>
                <a:t>a purely geometric TOCS map that gives</a:t>
              </a:r>
            </a:p>
          </p:txBody>
        </p:sp>
        <p:sp>
          <p:nvSpPr>
            <p:cNvPr id="17" name="TextBox 17"/>
            <p:cNvSpPr txBox="1"/>
            <p:nvPr/>
          </p:nvSpPr>
          <p:spPr>
            <a:xfrm>
              <a:off x="927354" y="4099560"/>
              <a:ext cx="3102587" cy="234696"/>
            </a:xfrm>
            <a:prstGeom prst="rect">
              <a:avLst/>
            </a:prstGeom>
            <a:noFill/>
            <a:ln>
              <a:noFill/>
            </a:ln>
          </p:spPr>
          <p:txBody>
            <a:bodyPr wrap="none" lIns="0" tIns="0" rIns="0" bIns="0" anchor="t" anchorCtr="0">
              <a:spAutoFit/>
            </a:bodyPr>
            <a:lstStyle/>
            <a:p>
              <a:pPr algn="l"/>
              <a:r>
                <a:rPr lang="en-US" sz="1200" dirty="0">
                  <a:solidFill>
                    <a:srgbClr val="9DB0D0"/>
                  </a:solidFill>
                  <a:latin typeface="+mn-lt"/>
                  <a:ea typeface="+mn-ea"/>
                  <a:cs typeface="+mn-cs"/>
                </a:rPr>
                <a:t>StyleGAN a clean signal to condition on.</a:t>
              </a:r>
            </a:p>
          </p:txBody>
        </p:sp>
      </p:grpSp>
      <p:grpSp>
        <p:nvGrpSpPr>
          <p:cNvPr id="25" name="Group 25"/>
          <p:cNvGrpSpPr/>
          <p:nvPr/>
        </p:nvGrpSpPr>
        <p:grpSpPr>
          <a:xfrm>
            <a:off x="571500" y="4838700"/>
            <a:ext cx="11049000" cy="1619250"/>
            <a:chOff x="571500" y="4838700"/>
            <a:chExt cx="11049000" cy="1619250"/>
          </a:xfrm>
        </p:grpSpPr>
        <p:sp>
          <p:nvSpPr>
            <p:cNvPr id="19" name="Rectangle 19"/>
            <p:cNvSpPr/>
            <p:nvPr/>
          </p:nvSpPr>
          <p:spPr>
            <a:xfrm>
              <a:off x="571500" y="4838700"/>
              <a:ext cx="11049000" cy="1619250"/>
            </a:xfrm>
            <a:prstGeom prst="roundRect">
              <a:avLst>
                <a:gd name="adj" fmla="val 8235"/>
              </a:avLst>
            </a:prstGeom>
            <a:solidFill>
              <a:schemeClr val="accent5"/>
            </a:solidFill>
            <a:ln w="14288">
              <a:solidFill>
                <a:srgbClr val="2E3D5E"/>
              </a:solidFill>
            </a:ln>
          </p:spPr>
        </p:sp>
        <p:sp>
          <p:nvSpPr>
            <p:cNvPr id="20" name="Rectangle 20"/>
            <p:cNvSpPr/>
            <p:nvPr/>
          </p:nvSpPr>
          <p:spPr>
            <a:xfrm>
              <a:off x="742950" y="5067300"/>
              <a:ext cx="47625" cy="266700"/>
            </a:xfrm>
            <a:prstGeom prst="roundRect">
              <a:avLst>
                <a:gd name="adj" fmla="val 50000"/>
              </a:avLst>
            </a:prstGeom>
            <a:solidFill>
              <a:srgbClr val="FFCF5C"/>
            </a:solidFill>
            <a:ln>
              <a:noFill/>
            </a:ln>
          </p:spPr>
        </p:sp>
        <p:sp>
          <p:nvSpPr>
            <p:cNvPr id="21" name="TextBox 21"/>
            <p:cNvSpPr txBox="1"/>
            <p:nvPr/>
          </p:nvSpPr>
          <p:spPr>
            <a:xfrm>
              <a:off x="906399" y="5087779"/>
              <a:ext cx="2010712"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The bigger picture</a:t>
              </a:r>
            </a:p>
          </p:txBody>
        </p:sp>
        <p:sp>
          <p:nvSpPr>
            <p:cNvPr id="22" name="TextBox 22"/>
            <p:cNvSpPr txBox="1"/>
            <p:nvPr/>
          </p:nvSpPr>
          <p:spPr>
            <a:xfrm>
              <a:off x="927354" y="5452110"/>
              <a:ext cx="3108598" cy="234696"/>
            </a:xfrm>
            <a:prstGeom prst="rect">
              <a:avLst/>
            </a:prstGeom>
            <a:noFill/>
            <a:ln>
              <a:noFill/>
            </a:ln>
          </p:spPr>
          <p:txBody>
            <a:bodyPr wrap="none" lIns="0" tIns="0" rIns="0" bIns="0" anchor="t" anchorCtr="0">
              <a:spAutoFit/>
            </a:bodyPr>
            <a:lstStyle/>
            <a:p>
              <a:pPr algn="l"/>
              <a:r>
                <a:rPr lang="en-US" sz="1200" dirty="0">
                  <a:solidFill>
                    <a:srgbClr val="9DB0D0"/>
                  </a:solidFill>
                  <a:latin typeface="+mn-lt"/>
                  <a:ea typeface="+mn-ea"/>
                  <a:cs typeface="+mn-cs"/>
                </a:rPr>
                <a:t>In effect an unsupervised 3D morphable</a:t>
              </a:r>
            </a:p>
          </p:txBody>
        </p:sp>
        <p:sp>
          <p:nvSpPr>
            <p:cNvPr id="23" name="TextBox 23"/>
            <p:cNvSpPr txBox="1"/>
            <p:nvPr/>
          </p:nvSpPr>
          <p:spPr>
            <a:xfrm>
              <a:off x="927354" y="5680710"/>
              <a:ext cx="2968447" cy="234696"/>
            </a:xfrm>
            <a:prstGeom prst="rect">
              <a:avLst/>
            </a:prstGeom>
            <a:noFill/>
            <a:ln>
              <a:noFill/>
            </a:ln>
          </p:spPr>
          <p:txBody>
            <a:bodyPr wrap="none" lIns="0" tIns="0" rIns="0" bIns="0" anchor="t" anchorCtr="0">
              <a:spAutoFit/>
            </a:bodyPr>
            <a:lstStyle/>
            <a:p>
              <a:pPr algn="l"/>
              <a:r>
                <a:rPr lang="en-US" sz="1200" dirty="0">
                  <a:solidFill>
                    <a:srgbClr val="9DB0D0"/>
                  </a:solidFill>
                  <a:latin typeface="+mn-lt"/>
                  <a:ea typeface="+mn-ea"/>
                  <a:cs typeface="+mn-cs"/>
                </a:rPr>
                <a:t>model for general object categories —</a:t>
              </a:r>
            </a:p>
          </p:txBody>
        </p:sp>
        <p:sp>
          <p:nvSpPr>
            <p:cNvPr id="24" name="TextBox 24"/>
            <p:cNvSpPr txBox="1"/>
            <p:nvPr/>
          </p:nvSpPr>
          <p:spPr>
            <a:xfrm>
              <a:off x="927354" y="5909310"/>
              <a:ext cx="3146536" cy="234696"/>
            </a:xfrm>
            <a:prstGeom prst="rect">
              <a:avLst/>
            </a:prstGeom>
            <a:noFill/>
            <a:ln>
              <a:noFill/>
            </a:ln>
          </p:spPr>
          <p:txBody>
            <a:bodyPr wrap="none" lIns="0" tIns="0" rIns="0" bIns="0" anchor="t" anchorCtr="0">
              <a:spAutoFit/>
            </a:bodyPr>
            <a:lstStyle/>
            <a:p>
              <a:pPr algn="l"/>
              <a:r>
                <a:rPr lang="en-US" sz="1200" dirty="0">
                  <a:solidFill>
                    <a:srgbClr val="9DB0D0"/>
                  </a:solidFill>
                  <a:latin typeface="+mn-lt"/>
                  <a:ea typeface="+mn-ea"/>
                  <a:cs typeface="+mn-cs"/>
                </a:rPr>
                <a:t>VFX control from faces to wild animals.</a:t>
              </a:r>
            </a:p>
          </p:txBody>
        </p:sp>
      </p:grpSp>
      <p:sp>
        <p:nvSpPr>
          <p:cNvPr id="26" name="cue_s10_c1_one_line_takeaway_stylemorph_deliver" title="cue_s10_c1_one_line_takeaway_stylemorph_deliver" descr="cue_s10_c1_one_line_takeaway_stylemorph_deliver The one-line takeaway is that StyleMorph delivers morphable-model control inside a state-of-the-art image generator, learned entirely from ordinary 2D photos."/>
          <p:cNvSpPr/>
          <p:nvPr/>
        </p:nvSpPr>
        <p:spPr>
          <a:xfrm>
            <a:off x="571804" y="1219352"/>
            <a:ext cx="11048390" cy="16191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ue_s10_c2_morphing_learned_canonical_template" title="cue_s10_c2_morphing_learned_canonical_template" descr="cue_s10_c2_morphing_learned_canonical_template By morphing a learned canonical template and rendering it into a purely geometric TOCS map, it hands a StyleGAN renderer a clean geometric signal, so shape, pose, object appearance, and background can each be edited independently without sacrificing photoreali"/>
          <p:cNvSpPr/>
          <p:nvPr/>
        </p:nvSpPr>
        <p:spPr>
          <a:xfrm>
            <a:off x="571804" y="3029178"/>
            <a:ext cx="11048390" cy="16191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ue_s10_c3_effect_builds_unsupervised_3_morphab" title="cue_s10_c3_effect_builds_unsupervised_3_morphab" descr="cue_s10_c3_effect_builds_unsupervised_3_morphab In effect it builds an unsupervised 3D morphable model for general object categories, extending the fine-grained controllability that visual-effects artists rely on from faces to cats, dogs, and wild animals."/>
          <p:cNvSpPr/>
          <p:nvPr/>
        </p:nvSpPr>
        <p:spPr>
          <a:xfrm>
            <a:off x="571804" y="4839004"/>
            <a:ext cx="11048390" cy="16191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EAF0FB"/>
      </a:dk1>
      <a:lt1>
        <a:srgbClr val="0E1320"/>
      </a:lt1>
      <a:dk2>
        <a:srgbClr val="EAF0FB"/>
      </a:dk2>
      <a:lt2>
        <a:srgbClr val="0E1320"/>
      </a:lt2>
      <a:accent1>
        <a:srgbClr val="5B8CFF"/>
      </a:accent1>
      <a:accent2>
        <a:srgbClr val="5B8CFF"/>
      </a:accent2>
      <a:accent3>
        <a:srgbClr val="5B8CFF"/>
      </a:accent3>
      <a:accent4>
        <a:srgbClr val="8064A2"/>
      </a:accent4>
      <a:accent5>
        <a:srgbClr val="1A2236"/>
      </a:accent5>
      <a:accent6>
        <a:srgbClr val="212C45"/>
      </a:accent6>
      <a:hlink>
        <a:srgbClr val="5B8CFF"/>
      </a:hlink>
      <a:folHlink>
        <a:srgbClr val="5B8CFF"/>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2026-07-17T15:09:40Z</dcterms:created>
  <dcterms:modified xsi:type="dcterms:W3CDTF">2026-07-17T15:09:40Z</dcterms:modified>
  <cp:category/>
  <cp:contentStatus/>
</cp:coreProperties>
</file>
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30881"/>
          </a:xfrm>
          <a:prstGeom prst="roundRect">
            <a:avLst>
              <a:gd name="adj" fmla="val 1104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1858426"/>
            <a:ext cx="3443069" cy="2417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40870" y="1858426"/>
            <a:ext cx="17780" cy="24178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6004222"/>
            <a:ext cx="10804961" cy="7990582"/>
          </a:xfrm>
          <a:prstGeom prst="roundRect">
            <a:avLst>
              <a:gd name="adj" fmla="val 667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6004222"/>
            <a:ext cx="13506133" cy="24067730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16421" y="6004222"/>
            <a:ext cx="13506271" cy="24067730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6004222"/>
            <a:ext cx="10804962" cy="6583601"/>
          </a:xfrm>
          <a:prstGeom prst="roundRect">
            <a:avLst>
              <a:gd name="adj" fmla="val 810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2919670"/>
            <a:ext cx="10804962" cy="7524829"/>
          </a:xfrm>
          <a:prstGeom prst="roundRect">
            <a:avLst>
              <a:gd name="adj" fmla="val 708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4326651"/>
            <a:ext cx="10804961" cy="15745301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0776346"/>
            <a:ext cx="10804962" cy="9295606"/>
          </a:xfrm>
          <a:prstGeom prst="roundRect">
            <a:avLst>
              <a:gd name="adj" fmla="val 573"/>
            </a:avLst>
          </a:prstGeom>
          <a:solidFill>
            <a:srgbClr val="EDF1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20776346"/>
            <a:ext cx="10804962" cy="8890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45484" y="20776346"/>
            <a:ext cx="8890" cy="9295606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30063062"/>
            <a:ext cx="10804962" cy="8890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20776346"/>
            <a:ext cx="53340" cy="9295606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20244" y="1031101"/>
            <a:ext cx="2370574" cy="130377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icrosoft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191" y="1391974"/>
            <a:ext cx="2038680" cy="58202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39991" y="6297592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7257712"/>
            <a:ext cx="10028753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6392326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271672" y="7352446"/>
            <a:ext cx="12729925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204525" y="6392326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04525" y="7352446"/>
            <a:ext cx="12730063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6392326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7352446"/>
            <a:ext cx="1002875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1637287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1637287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37516" y="13307774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37516" y="14267894"/>
            <a:ext cx="1002875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04525" y="13407786"/>
            <a:ext cx="12730063" cy="1942188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4714755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9991" y="15674875"/>
            <a:ext cx="10028753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271672" y="15982414"/>
            <a:ext cx="12729925" cy="248336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271672" y="15982414"/>
            <a:ext cx="160020" cy="2483366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81966" y="21164450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181966" y="22124570"/>
            <a:ext cx="998430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04525" y="23626286"/>
            <a:ext cx="12730063" cy="55976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3626286"/>
            <a:ext cx="12730063" cy="8890"/>
          </a:xfrm>
          <a:prstGeom prst="rect">
            <a:avLst/>
          </a:prstGeom>
          <a:solidFill>
            <a:srgbClr val="B0B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181966" y="25747940"/>
            <a:ext cx="9984304" cy="1668820"/>
          </a:xfrm>
          <a:prstGeom prst="roundRect">
            <a:avLst>
              <a:gd name="adj" fmla="val 125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698044" y="2548235"/>
            <a:ext cx="2014974" cy="20149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4724" y="2654915"/>
            <a:ext cx="1801614" cy="180161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26204525" y="15891708"/>
            <a:ext cx="12730063" cy="3904516"/>
          </a:xfrm>
          <a:prstGeom prst="roundRect">
            <a:avLst>
              <a:gd name="adj" fmla="val 91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ge5_figur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4695" y="15891708"/>
            <a:ext cx="12729723" cy="3904516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2271672" y="18726507"/>
            <a:ext cx="12729925" cy="7122973"/>
          </a:xfrm>
          <a:prstGeom prst="roundRect">
            <a:avLst>
              <a:gd name="adj" fmla="val 49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ge2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1760" y="18726507"/>
            <a:ext cx="12729749" cy="7122973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6204525" y="21631453"/>
            <a:ext cx="4069536" cy="1994833"/>
          </a:xfrm>
          <a:prstGeom prst="roundRect">
            <a:avLst>
              <a:gd name="adj" fmla="val 13072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0534788" y="21631453"/>
            <a:ext cx="4069537" cy="1994833"/>
          </a:xfrm>
          <a:prstGeom prst="roundRect">
            <a:avLst>
              <a:gd name="adj" fmla="val 13072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865052" y="21631453"/>
            <a:ext cx="4069536" cy="1994833"/>
          </a:xfrm>
          <a:prstGeom prst="roundRect">
            <a:avLst>
              <a:gd name="adj" fmla="val 13072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9991" y="24383047"/>
            <a:ext cx="10028753" cy="3314581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ge1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001" y="24383047"/>
            <a:ext cx="10028732" cy="3314581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2271672" y="27128807"/>
            <a:ext cx="3197761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2-layer block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625841" y="27128807"/>
            <a:ext cx="4256782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3-layer bottleneck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039032" y="27128807"/>
            <a:ext cx="395980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Identity shortcut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271672" y="28105040"/>
            <a:ext cx="350516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1×1 projection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933241" y="28105040"/>
            <a:ext cx="1127780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BN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7217429" y="28105040"/>
            <a:ext cx="184203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He init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215873" y="28105040"/>
            <a:ext cx="2310845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SGD 256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204525" y="12177216"/>
            <a:ext cx="12730063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204525" y="7690266"/>
            <a:ext cx="7813615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204525" y="8387853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018140" y="7690266"/>
            <a:ext cx="2458085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018140" y="8387853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76225" y="7690266"/>
            <a:ext cx="2458363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476225" y="8387853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204525" y="8396743"/>
            <a:ext cx="781361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204525" y="9332972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018140" y="8396743"/>
            <a:ext cx="245808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18140" y="9332972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476225" y="8396743"/>
            <a:ext cx="245836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476225" y="9332972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204525" y="9341862"/>
            <a:ext cx="781361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204525" y="10278090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018140" y="9341862"/>
            <a:ext cx="24580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018140" y="10278090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476225" y="9341862"/>
            <a:ext cx="24583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476225" y="10278090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204525" y="10286980"/>
            <a:ext cx="781361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204525" y="11223208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018140" y="10286980"/>
            <a:ext cx="24580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018140" y="11223208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476225" y="10286980"/>
            <a:ext cx="24583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476225" y="11223208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204525" y="11232098"/>
            <a:ext cx="781361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204525" y="12168326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018140" y="11232098"/>
            <a:ext cx="24580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018140" y="12168326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476225" y="11232098"/>
            <a:ext cx="24583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476225" y="12168326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204525" y="12177216"/>
            <a:ext cx="781361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6204525" y="13113444"/>
            <a:ext cx="781361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018140" y="12177216"/>
            <a:ext cx="245808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018140" y="13113444"/>
            <a:ext cx="2458085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476225" y="12177216"/>
            <a:ext cx="24583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476225" y="13113444"/>
            <a:ext cx="2458363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27610" y="1656040"/>
            <a:ext cx="42050394" cy="1404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FFFFFF"/>
                </a:solidFill>
                <a:latin typeface="Arial"/>
              </a:rPr>
              <a:t>Deep Residual Learning for Image Recognition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27610" y="3149977"/>
            <a:ext cx="42050394" cy="869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FFFFFF"/>
                </a:solidFill>
                <a:latin typeface="Arial"/>
              </a:rPr>
              <a:t>Kaiming He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Xiangyu Zhang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Shaoqing Ren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Jian Sun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27610" y="3962995"/>
            <a:ext cx="42050394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2800" b="0" spc="56">
                <a:solidFill>
                  <a:srgbClr val="FFFFFF"/>
                </a:solidFill>
                <a:latin typeface="Arial"/>
              </a:rPr>
              <a:t> Microsoft Research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5581" y="1858426"/>
            <a:ext cx="2942018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FFFFFF"/>
                </a:solidFill>
                <a:latin typeface="Arial"/>
              </a:rPr>
              <a:t>CVPR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80260" y="2979677"/>
            <a:ext cx="136678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FFFFFF"/>
                </a:solidFill>
                <a:latin typeface="Arial"/>
              </a:rPr>
              <a:t>2016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89226" y="3863816"/>
            <a:ext cx="2378167" cy="474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403">
                <a:solidFill>
                  <a:srgbClr val="FFFFFF"/>
                </a:solidFill>
                <a:latin typeface="Arial"/>
              </a:rPr>
              <a:t>BEST PAPER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6297592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Problem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271672" y="6392326"/>
            <a:ext cx="13111822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Method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04525" y="6392326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Key Results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37516" y="6392326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Headline Numbers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91" y="7595532"/>
            <a:ext cx="1032961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Plain deep networks suffer a </a:t>
            </a:r>
            <a:r>
              <a:rPr sz="4106" b="1">
                <a:solidFill>
                  <a:srgbClr val="111111"/>
                </a:solidFill>
                <a:latin typeface="Arial"/>
              </a:rPr>
              <a:t>degradation problem</a:t>
            </a:r>
            <a:r>
              <a:rPr sz="4106" b="0">
                <a:solidFill>
                  <a:srgbClr val="1C1C1C"/>
                </a:solidFill>
                <a:latin typeface="Arial"/>
              </a:rPr>
              <a:t>: past a depth threshold, training accuracy </a:t>
            </a:r>
            <a:r>
              <a:rPr sz="4106" b="1">
                <a:solidFill>
                  <a:srgbClr val="111111"/>
                </a:solidFill>
                <a:latin typeface="Arial"/>
              </a:rPr>
              <a:t>saturates and gets worse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optimization failure on very deep stacks, not overfitting from added capacity.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9991" y="11637287"/>
            <a:ext cx="1032961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 56-layer plain net has higher training error than a 20-layer one — depth itself starts to hurt.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137516" y="13307774"/>
            <a:ext cx="10329616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Ablation Study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204525" y="13407786"/>
            <a:ext cx="13111964" cy="22335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−3.51 pts top-1: Plain-34 → ResNet-34 — degradation cleared.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9991" y="14714755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Motivation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374588" y="17283965"/>
            <a:ext cx="11004636" cy="1057812"/>
          </a:xfrm>
          <a:prstGeom prst="rect">
            <a:avLst/>
          </a:prstGeom>
          <a:noFill/>
        </p:spPr>
        <p:txBody>
          <a:bodyPr wrap="square" lIns="586740" rIns="586740" tIns="195580" bIns="195580">
            <a:spAutoFit/>
          </a:bodyPr>
          <a:lstStyle/>
          <a:p>
            <a:pPr algn="ctr">
              <a:lnSpc>
                <a:spcPts val="4093"/>
              </a:lnSpc>
              <a:spcBef>
                <a:spcPts val="0"/>
              </a:spcBef>
              <a:spcAft>
                <a:spcPts val="0"/>
              </a:spcAft>
            </a:pPr>
            <a:r>
              <a:rPr sz="2823" b="0" i="1">
                <a:solidFill>
                  <a:srgbClr val="555555"/>
                </a:solidFill>
                <a:latin typeface="Cambria Math"/>
              </a:rPr>
              <a:t>F is a stack of 2–3 weight layers; the + is element-wise addition through a parameter-free shortcut.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181966" y="21164450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Takeaway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181966" y="22462390"/>
            <a:ext cx="10283833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Residual learning with identity shortcuts </a:t>
            </a:r>
            <a:r>
              <a:rPr sz="4106" b="1">
                <a:solidFill>
                  <a:srgbClr val="111111"/>
                </a:solidFill>
                <a:latin typeface="Arial"/>
              </a:rPr>
              <a:t>removes the degradation barrier</a:t>
            </a:r>
            <a:r>
              <a:rPr sz="4106" b="0">
                <a:solidFill>
                  <a:srgbClr val="1C1C1C"/>
                </a:solidFill>
                <a:latin typeface="Arial"/>
              </a:rPr>
              <a:t> — accuracy keeps improving as depth grows into the hundreds.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204525" y="23626286"/>
            <a:ext cx="13111964" cy="643729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single 152-layer ResNet beats every prior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ensemble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on ImageNet, and the 6-model ResNet ensemble wins ILSVRC 2015 at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3.57%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top-5. The same ResNet-101 backbone, dropped into Faster R-CNN with no architectural changes, also powers the COCO and ImageNet detection / localization winners — a backbone-level win, not a task-specific trick. ResNet became the default vision backbone for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181966" y="25747940"/>
            <a:ext cx="10283833" cy="1919142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Depth + the right structural prior is a clear win.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181966" y="27416760"/>
            <a:ext cx="10283833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residual connection became a building block reused across deep learning — </a:t>
            </a:r>
            <a:r>
              <a:rPr sz="4106" b="1">
                <a:solidFill>
                  <a:srgbClr val="111111"/>
                </a:solidFill>
                <a:latin typeface="Arial"/>
              </a:rPr>
              <a:t>Transformers</a:t>
            </a:r>
            <a:r>
              <a:rPr sz="4106" b="0">
                <a:solidFill>
                  <a:srgbClr val="1C1C1C"/>
                </a:solidFill>
                <a:latin typeface="Arial"/>
              </a:rPr>
              <a:t>, diffusion, and beyond.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1728" y="4733786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271654" y="7690266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block learns a </a:t>
            </a:r>
            <a:r>
              <a:rPr sz="4106" b="1">
                <a:solidFill>
                  <a:srgbClr val="111111"/>
                </a:solidFill>
                <a:latin typeface="Arial"/>
              </a:rPr>
              <a:t>residual</a:t>
            </a:r>
            <a:r>
              <a:rPr sz="4106" b="0">
                <a:solidFill>
                  <a:srgbClr val="1C1C1C"/>
                </a:solidFill>
                <a:latin typeface="Arial"/>
              </a:rPr>
              <a:t>; the input is added back through a </a:t>
            </a:r>
            <a:r>
              <a:rPr sz="4106" b="1">
                <a:solidFill>
                  <a:srgbClr val="111111"/>
                </a:solidFill>
                <a:latin typeface="Arial"/>
              </a:rPr>
              <a:t>parameter-free identity shortcut</a:t>
            </a:r>
            <a:r>
              <a:rPr sz="4106" b="0">
                <a:solidFill>
                  <a:srgbClr val="1C1C1C"/>
                </a:solidFill>
                <a:latin typeface="Arial"/>
              </a:rPr>
              <a:t>, adding no extra parameters and almost no compute.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752565" y="7879873"/>
            <a:ext cx="4942614" cy="19164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3122"/>
              </a:lnSpc>
              <a:spcBef>
                <a:spcPts val="0"/>
              </a:spcBef>
              <a:spcAft>
                <a:spcPts val="0"/>
              </a:spcAft>
            </a:pPr>
            <a:r>
              <a:rPr sz="13813" b="1" spc="-276">
                <a:solidFill>
                  <a:srgbClr val="1D3A87"/>
                </a:solidFill>
                <a:latin typeface="Arial"/>
              </a:rPr>
              <a:t>3.57%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69084" y="9644677"/>
            <a:ext cx="7380443" cy="5097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90"/>
              </a:lnSpc>
              <a:spcBef>
                <a:spcPts val="0"/>
              </a:spcBef>
              <a:spcAft>
                <a:spcPts val="0"/>
              </a:spcAft>
            </a:pPr>
            <a:r>
              <a:rPr sz="3173" b="1">
                <a:solidFill>
                  <a:srgbClr val="1C1C1C"/>
                </a:solidFill>
                <a:latin typeface="Arial"/>
              </a:rPr>
              <a:t>ImageNet top-5 · ILSVRC 2015 winner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271654" y="10141406"/>
            <a:ext cx="13111841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When dimensions change, choose </a:t>
            </a:r>
            <a:r>
              <a:rPr sz="4106" b="1">
                <a:solidFill>
                  <a:srgbClr val="111111"/>
                </a:solidFill>
                <a:latin typeface="Arial"/>
              </a:rPr>
              <a:t>zero-padding</a:t>
            </a:r>
            <a:r>
              <a:rPr sz="4106" b="0">
                <a:solidFill>
                  <a:srgbClr val="1C1C1C"/>
                </a:solidFill>
                <a:latin typeface="Arial"/>
              </a:rPr>
              <a:t> (Option A) or a </a:t>
            </a:r>
            <a:r>
              <a:rPr sz="4106" b="1">
                <a:solidFill>
                  <a:srgbClr val="111111"/>
                </a:solidFill>
                <a:latin typeface="Arial"/>
              </a:rPr>
              <a:t>1×1 projection</a:t>
            </a:r>
            <a:r>
              <a:rPr sz="4106" b="0">
                <a:solidFill>
                  <a:srgbClr val="1C1C1C"/>
                </a:solidFill>
                <a:latin typeface="Arial"/>
              </a:rPr>
              <a:t> (Option B).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386130" y="10166131"/>
            <a:ext cx="5697327" cy="407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sz="2426" b="0" i="1">
                <a:solidFill>
                  <a:srgbClr val="555555"/>
                </a:solidFill>
                <a:latin typeface="Arial"/>
              </a:rPr>
              <a:t>152-layer ResNet ensemble — 1st place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271654" y="11836340"/>
            <a:ext cx="13111841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Bottleneck</a:t>
            </a:r>
            <a:r>
              <a:rPr sz="4106" b="0">
                <a:solidFill>
                  <a:srgbClr val="1C1C1C"/>
                </a:solidFill>
                <a:latin typeface="Arial"/>
              </a:rPr>
              <a:t> blocks (1×1 → 3×3 → 1×1) make 50/101/152-layer nets cheaper than VGG.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271654" y="13531274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Trained with </a:t>
            </a:r>
            <a:r>
              <a:rPr sz="4106" b="1">
                <a:solidFill>
                  <a:srgbClr val="111111"/>
                </a:solidFill>
                <a:latin typeface="Arial"/>
              </a:rPr>
              <a:t>SGD</a:t>
            </a:r>
            <a:r>
              <a:rPr sz="4106" b="0">
                <a:solidFill>
                  <a:srgbClr val="1C1C1C"/>
                </a:solidFill>
                <a:latin typeface="Arial"/>
              </a:rPr>
              <a:t> (batch 256, lr 0.1 with step decay), </a:t>
            </a:r>
            <a:r>
              <a:rPr sz="4106" b="1">
                <a:solidFill>
                  <a:srgbClr val="111111"/>
                </a:solidFill>
                <a:latin typeface="Arial"/>
              </a:rPr>
              <a:t>BN</a:t>
            </a:r>
            <a:r>
              <a:rPr sz="4106" b="0">
                <a:solidFill>
                  <a:srgbClr val="1C1C1C"/>
                </a:solidFill>
                <a:latin typeface="Arial"/>
              </a:rPr>
              <a:t> after each conv, </a:t>
            </a:r>
            <a:r>
              <a:rPr sz="4106" b="1">
                <a:solidFill>
                  <a:srgbClr val="111111"/>
                </a:solidFill>
                <a:latin typeface="Arial"/>
              </a:rPr>
              <a:t>He init</a:t>
            </a:r>
            <a:r>
              <a:rPr sz="4106" b="0">
                <a:solidFill>
                  <a:srgbClr val="1C1C1C"/>
                </a:solidFill>
                <a:latin typeface="Arial"/>
              </a:rPr>
              <a:t>, weight decay 1e-4 — no dropout anywhere.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137498" y="14605714"/>
            <a:ext cx="1032963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Shortcut type</a:t>
            </a:r>
            <a:r>
              <a:rPr sz="4106" b="0">
                <a:solidFill>
                  <a:srgbClr val="1C1C1C"/>
                </a:solidFill>
                <a:latin typeface="Arial"/>
              </a:rPr>
              <a:t> (ResNet-34 top-1): A 25.03 → B 24.52 → C 24.19. Identity shortcuts are enough; projections everywhere add little.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39972" y="16012695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Depth matters, but </a:t>
            </a:r>
            <a:r>
              <a:rPr sz="4106" b="1">
                <a:solidFill>
                  <a:srgbClr val="111111"/>
                </a:solidFill>
                <a:latin typeface="Arial"/>
              </a:rPr>
              <a:t>vanishing/exploding gradients</a:t>
            </a:r>
            <a:r>
              <a:rPr sz="4106" b="0">
                <a:solidFill>
                  <a:srgbClr val="1C1C1C"/>
                </a:solidFill>
                <a:latin typeface="Arial"/>
              </a:rPr>
              <a:t> alone — already mitigated by BN and He init — don't explain the new degradation.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137498" y="17813059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1202-layer</a:t>
            </a:r>
            <a:r>
              <a:rPr sz="4106" b="0">
                <a:solidFill>
                  <a:srgbClr val="1C1C1C"/>
                </a:solidFill>
                <a:latin typeface="Arial"/>
              </a:rPr>
              <a:t> CIFAR-10 ResNet trains to &lt;0.1% error — no optimization difficulty at 10³ layers.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39972" y="19220041"/>
            <a:ext cx="10329635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deeper net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could</a:t>
            </a:r>
            <a:r>
              <a:rPr sz="4106" b="0">
                <a:solidFill>
                  <a:srgbClr val="1C1C1C"/>
                </a:solidFill>
                <a:latin typeface="Arial"/>
              </a:rPr>
              <a:t> match a shallower one by identity-padding the extras — yet plain stacks fail.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713755" y="19945826"/>
            <a:ext cx="12062951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4. ImageNet training curves. Thin = train, bold = val.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Left: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plain — deeper is worse.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Right: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ResNet — deeper is better.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9972" y="21671180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Normalized init + BN + warm-up can't push past the </a:t>
            </a:r>
            <a:r>
              <a:rPr sz="4106" b="1">
                <a:solidFill>
                  <a:srgbClr val="111111"/>
                </a:solidFill>
                <a:latin typeface="Arial"/>
              </a:rPr>
              <a:t>~30-layer wall</a:t>
            </a:r>
            <a:r>
              <a:rPr sz="4106" b="0">
                <a:solidFill>
                  <a:srgbClr val="1C1C1C"/>
                </a:solidFill>
                <a:latin typeface="Arial"/>
              </a:rPr>
              <a:t>; a structural reformulation is needed.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780902" y="25999082"/>
            <a:ext cx="12062807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2. Residual learning: a building block — the residual F(x) is added to an identity shortcut x.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41152" y="27847230"/>
            <a:ext cx="9503223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1. CIFAR-10 error: 56-layer plain net is worse than the 20-layer one — degradation, not overfitting.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073550" y="21787862"/>
            <a:ext cx="3762116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5×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413023" y="22177771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+6.0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743286" y="22177771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+28%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5073550" y="22690058"/>
            <a:ext cx="3762116" cy="896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ILSVRC + COCO 2015 wins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413023" y="23079967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COCO mAP@[.5,.95]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743286" y="23079967"/>
            <a:ext cx="376211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relative gain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204525" y="7690266"/>
            <a:ext cx="804802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IMAGENET VAL (10-CROP)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018140" y="7690266"/>
            <a:ext cx="253182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TOP-1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476225" y="7690266"/>
            <a:ext cx="2532113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TOP-5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204525" y="8396743"/>
            <a:ext cx="8048023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Plain-34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018140" y="8396743"/>
            <a:ext cx="2531827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28.54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476225" y="8396743"/>
            <a:ext cx="253211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10.02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204525" y="9341862"/>
            <a:ext cx="804802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ResNet-34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018140" y="9341862"/>
            <a:ext cx="25318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25.03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476225" y="9341862"/>
            <a:ext cx="253211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7.76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204525" y="10286980"/>
            <a:ext cx="804802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ResNet-50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4018140" y="10286980"/>
            <a:ext cx="25318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22.85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476225" y="10286980"/>
            <a:ext cx="253211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6.71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819824" y="11067911"/>
            <a:ext cx="1972409" cy="790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13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-54">
                <a:solidFill>
                  <a:srgbClr val="AE2622"/>
                </a:solidFill>
                <a:latin typeface="Arial"/>
              </a:rPr>
              <a:t>4.49%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276922" y="11067911"/>
            <a:ext cx="1802439" cy="790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13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-54">
                <a:solidFill>
                  <a:srgbClr val="AE2622"/>
                </a:solidFill>
                <a:latin typeface="Arial"/>
              </a:rPr>
              <a:t>+28%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963216" y="11067911"/>
            <a:ext cx="1160182" cy="790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13"/>
              </a:lnSpc>
              <a:spcBef>
                <a:spcPts val="0"/>
              </a:spcBef>
              <a:spcAft>
                <a:spcPts val="0"/>
              </a:spcAft>
            </a:pPr>
            <a:r>
              <a:rPr sz="5413" b="1" spc="-54">
                <a:solidFill>
                  <a:srgbClr val="AE2622"/>
                </a:solidFill>
                <a:latin typeface="Arial"/>
              </a:rPr>
              <a:t>152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204525" y="11232098"/>
            <a:ext cx="804802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ResNet-101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018140" y="11232098"/>
            <a:ext cx="25318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21.75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6476225" y="11232098"/>
            <a:ext cx="253211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6.05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0510063" y="11842869"/>
            <a:ext cx="2610660" cy="4252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single-model top-5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981747" y="11842869"/>
            <a:ext cx="2410357" cy="4252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COCO mAP gain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409258" y="11842869"/>
            <a:ext cx="2301336" cy="4252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layers (8× VGG)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204525" y="12177216"/>
            <a:ext cx="804802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ResNet-152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4018140" y="12177216"/>
            <a:ext cx="25318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21.43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6476225" y="12177216"/>
            <a:ext cx="253211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5.71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799196" y="16284674"/>
            <a:ext cx="5834896" cy="720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box>
                  <m:e>
                    <m:r>
                      <m:rPr>
                        <a:rPr sz="5133"/>
                        <m:sty m:val="i"/>
                      </m:rPr>
                      <m:t>𝐲</m:t>
                    </m:r>
                    <m:r>
                      <m:rPr>
                        <a:rPr sz="5133"/>
                        <m:sty m:val="p"/>
                      </m:rPr>
                      <m:t>=</m:t>
                    </m:r>
                    <m:r>
                      <m:rPr>
                        <a:rPr sz="5133"/>
                        <m:sty m:val="i"/>
                      </m:rPr>
                      <m:t>F</m:t>
                    </m:r>
                    <m:r>
                      <m:rPr>
                        <a:rPr sz="5133"/>
                        <m:sty m:val="p"/>
                      </m:rPr>
                      <m:t>(</m:t>
                    </m:r>
                    <m:r>
                      <m:rPr>
                        <a:rPr sz="5133"/>
                        <m:sty m:val="i"/>
                      </m:rPr>
                      <m:t>𝐱</m:t>
                    </m:r>
                    <m:r>
                      <m:rPr>
                        <a:rPr sz="5133"/>
                        <m:sty m:val="p"/>
                      </m:rPr>
                      <m:t>,</m:t>
                    </m:r>
                    <m:r>
                      <m:rPr>
                        <a:rPr sz="5133"/>
                        <m:sty m:val="p"/>
                      </m:rPr>
                      <m:t>{</m:t>
                    </m:r>
                    <m:sSub>
                      <m:e>
                        <m:r>
                          <m:rPr>
                            <a:rPr sz="5133"/>
                            <m:sty m:val="i"/>
                          </m:rPr>
                          <m:t>W</m:t>
                        </m:r>
                      </m:e>
                      <m:sub>
                        <m:r>
                          <m:rPr>
                            <a:rPr sz="5133"/>
                            <m:sty m:val="i"/>
                          </m:rPr>
                          <m:t>i</m:t>
                        </m:r>
                      </m:sub>
                    </m:sSub>
                    <m:r>
                      <m:rPr>
                        <a:rPr sz="5133"/>
                        <m:sty m:val="p"/>
                      </m:rPr>
                      <m:t>}</m:t>
                    </m:r>
                    <m:r>
                      <m:rPr>
                        <a:rPr sz="5133"/>
                        <m:sty m:val="p"/>
                      </m:rPr>
                      <m:t>)</m:t>
                    </m:r>
                    <m:r>
                      <m:rPr>
                        <a:rPr sz="5133"/>
                        <m:sty m:val="p"/>
                      </m:rPr>
                      <m:t>+</m:t>
                    </m:r>
                    <m:r>
                      <m:rPr>
                        <a:rPr sz="5133"/>
                        <m:sty m:val="i"/>
                      </m:rPr>
                      <m:t>𝐱</m:t>
                    </m:r>
                  </m:e>
                </m:box>
              </m:oMath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